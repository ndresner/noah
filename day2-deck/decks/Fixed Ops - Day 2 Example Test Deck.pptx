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69" r:id="rId20"/>
    <p:sldId id="270" r:id="rId21"/>
    <p:sldId id="271" r:id="rId22"/>
    <p:sldId id="272" r:id="rId23"/>
    <p:sldId id="273" r:id="rId24"/>
    <p:sldId id="274" r:id="rId25"/>
    <p:sldId id="258" r:id="rId4"/>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59" r:id="rId5"/>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260" r:id="rId6"/>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261" r:id="rId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262" r:id="rId8"/>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263" r:id="rId9"/>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264" r:id="rId10"/>
    <p:sldId id="404" r:id="rId155"/>
    <p:sldId id="405" r:id="rId156"/>
    <p:sldId id="406" r:id="rId157"/>
    <p:sldId id="407" r:id="rId158"/>
    <p:sldId id="408" r:id="rId159"/>
    <p:sldId id="409" r:id="rId160"/>
    <p:sldId id="410" r:id="rId161"/>
    <p:sldId id="411" r:id="rId162"/>
    <p:sldId id="265" r:id="rId11"/>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266" r:id="rId12"/>
    <p:sldId id="452" r:id="rId203"/>
    <p:sldId id="453" r:id="rId204"/>
    <p:sldId id="454" r:id="rId205"/>
    <p:sldId id="455" r:id="rId206"/>
    <p:sldId id="456" r:id="rId207"/>
    <p:sldId id="457" r:id="rId208"/>
    <p:sldId id="458" r:id="rId209"/>
    <p:sldId id="459" r:id="rId210"/>
    <p:sldId id="460" r:id="rId211"/>
    <p:sldId id="461" r:id="rId212"/>
    <p:sldId id="462" r:id="rId213"/>
    <p:sldId id="463" r:id="rId214"/>
    <p:sldId id="464" r:id="rId215"/>
    <p:sldId id="465" r:id="rId216"/>
    <p:sldId id="466" r:id="rId217"/>
    <p:sldId id="467" r:id="rId218"/>
    <p:sldId id="468" r:id="rId219"/>
    <p:sldId id="469" r:id="rId220"/>
    <p:sldId id="470" r:id="rId221"/>
    <p:sldId id="471" r:id="rId222"/>
    <p:sldId id="472" r:id="rId223"/>
    <p:sldId id="473" r:id="rId224"/>
    <p:sldId id="474" r:id="rId225"/>
    <p:sldId id="475" r:id="rId226"/>
    <p:sldId id="476" r:id="rId227"/>
    <p:sldId id="477" r:id="rId228"/>
    <p:sldId id="478" r:id="rId229"/>
    <p:sldId id="479" r:id="rId230"/>
    <p:sldId id="480" r:id="rId231"/>
    <p:sldId id="481" r:id="rId232"/>
    <p:sldId id="482" r:id="rId233"/>
    <p:sldId id="483" r:id="rId234"/>
    <p:sldId id="484" r:id="rId235"/>
    <p:sldId id="485" r:id="rId236"/>
    <p:sldId id="486" r:id="rId237"/>
    <p:sldId id="487" r:id="rId238"/>
    <p:sldId id="488" r:id="rId239"/>
    <p:sldId id="489" r:id="rId240"/>
    <p:sldId id="490" r:id="rId241"/>
    <p:sldId id="491" r:id="rId242"/>
    <p:sldId id="492" r:id="rId243"/>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 Id="rId234" Type="http://schemas.openxmlformats.org/officeDocument/2006/relationships/slide" Target="slides/slide228.xml"/><Relationship Id="rId235" Type="http://schemas.openxmlformats.org/officeDocument/2006/relationships/slide" Target="slides/slide229.xml"/><Relationship Id="rId236" Type="http://schemas.openxmlformats.org/officeDocument/2006/relationships/slide" Target="slides/slide230.xml"/><Relationship Id="rId237" Type="http://schemas.openxmlformats.org/officeDocument/2006/relationships/slide" Target="slides/slide231.xml"/><Relationship Id="rId238" Type="http://schemas.openxmlformats.org/officeDocument/2006/relationships/slide" Target="slides/slide232.xml"/><Relationship Id="rId239" Type="http://schemas.openxmlformats.org/officeDocument/2006/relationships/slide" Target="slides/slide233.xml"/><Relationship Id="rId240" Type="http://schemas.openxmlformats.org/officeDocument/2006/relationships/slide" Target="slides/slide234.xml"/><Relationship Id="rId241" Type="http://schemas.openxmlformats.org/officeDocument/2006/relationships/slide" Target="slides/slide235.xml"/><Relationship Id="rId242" Type="http://schemas.openxmlformats.org/officeDocument/2006/relationships/slide" Target="slides/slide236.xml"/><Relationship Id="rId243" Type="http://schemas.openxmlformats.org/officeDocument/2006/relationships/slide" Target="slides/slide237.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1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
          <c:min val="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3"/>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2026 vs 2025, all stores (INEOS included, to match the group P&amp;L).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Subaru Prescott and GMC Prescott turned a 2025 loss into a profit (green rows); VW St George went from a profit to a loss (red row). 24 of 33 stores grew fixed ops net profit, January through September year to date.Source: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Audi Henderson and Cadillac what changed. Ask Chevy LV, VW Henderson and Toyota Spokane what got in the way. Ask Honda Henderson, Toyota Henderson and Chevy LV what they started this year.Source: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stores set 98 all-time monthly records in 2026. Honda Spokane and Nissan lead with 9 each.Source: Qlik - Fixed Ops Accounting TB, fixed gross (service and parts), monthly by store, January 2021 - September 2026. A record = the store's highest month on file; months before a store opened are ignored. GMC Prescott service on the TB includes body shop gross. Records = each month a store beat its best-ever service, parts or combined month; one month can count up to three.Records by store (month: service / parts / combined, with the record it beat):</a:t>
            </a:r>
          </a:p>
          <a:p>
            <a:r>
              <a:t>Toyota Henderson: service Apr 2026 $1.86M (beat $1.78M, Apr 2025); service Jul 2026 $1.98M (beat $1.86M, Apr 2026); parts Jun 2026 $747K (beat $734K, Dec 2024); parts Aug 2026 $748K (beat $747K, Jun 2026); parts Sep 2026 $803K (beat $748K, Aug 2026); combined Apr 2026 $2.52M (beat $2.45M, Apr 2025); combined Jun 2026 $2.55M (beat $2.52M, Apr 2026); combined Jul 2026 $2.72M (beat $2.55M, Jun 2026)</a:t>
            </a:r>
          </a:p>
          <a:p>
            <a:r>
              <a:t>Honda Spokane: service Mar 2026 $309K (beat $290K, May 2025); service Apr 2026 $316K (beat $309K, Mar 2026); service Jun 2026 $343K (beat $316K, Apr 2026); service Jul 2026 $360K (beat $343K, Jun 2026); parts Jul 2026 $182K (beat $168K, Aug 2025); combined Mar 2026 $457K (beat $448K, May 2025); combined Apr 2026 $473K (beat $457K, Mar 2026); combined Jun 2026 $503K (beat $473K, Apr 2026); combined Jul 2026 $542K (beat $503K, Jun 2026)</a:t>
            </a:r>
          </a:p>
          <a:p>
            <a:r>
              <a:t>Nissan: service Mar 2026 $374K (beat $374K, May 2025); service Jun 2026 $379K (beat $374K, Mar 2026); service Sep 2026 $393K (beat $379K, Jun 2026); parts Jun 2026 $191K (beat $187K, Aug 2024); parts Jul 2026 $210K (beat $191K, Jun 2026); combined Mar 2026 $546K (beat $535K, May 2025); combined Jun 2026 $570K (beat $546K, Mar 2026); combined Jul 2026 $580K (beat $570K, Jun 2026); combined Sep 2026 $593K (beat $580K, Jul 2026)</a:t>
            </a:r>
          </a:p>
          <a:p>
            <a:r>
              <a:t>Subaru St George: service Jan 2026 $256K (beat $246K, Apr 2025); service Mar 2026 $270K (beat $256K, Jan 2026); parts Mar 2026 $146K (beat $144K, Apr 2025); parts Apr 2026 $156K (beat $146K, Mar 2026); parts Jun 2026 $174K (beat $156K, Apr 2026); combined Mar 2026 $416K (beat $391K, Apr 2025); combined Jun 2026 $438K (beat $416K, Mar 2026)</a:t>
            </a:r>
          </a:p>
          <a:p>
            <a:r>
              <a:t>Hyundai St George: service Jan 2026 $155K (beat $152K, Dec 2025); service Mar 2026 $170K (beat $155K, Jan 2026); service Jul 2026 $173K (beat $170K, Mar 2026); service Sep 2026 $179K (beat $173K, Jul 2026)</a:t>
            </a:r>
          </a:p>
          <a:p>
            <a:r>
              <a:t>Honda Henderson: service Mar 2026 $1.26M (beat $1.23M, Mar 2025); service Jun 2026 $1.29M (beat $1.26M, Mar 2026); service Jul 2026 $1.30M (beat $1.29M, Jun 2026); parts Jul 2026 $495K (beat $475K, Apr 2024); combined Mar 2026 $1.72M (beat $1.67M, Apr 2024); combined Jun 2026 $1.75M (beat $1.72M, Mar 2026); combined Jul 2026 $1.79M (beat $1.75M, Jun 2026)</a:t>
            </a:r>
          </a:p>
          <a:p>
            <a:r>
              <a:t>Hyundai Prescott: service Mar 2026 $125K (beat $96K, Jul 2025); service Jul 2026 $142K (beat $125K, Mar 2026); parts Feb 2026 $78K (beat $72K, Jul 2025); combined Feb 2026 $170K (beat $168K, Jul 2025); combined Mar 2026 $182K (beat $170K, Feb 2026); combined Jul 2026 $206K (beat $182K, Mar 2026)</a:t>
            </a:r>
          </a:p>
          <a:p>
            <a:r>
              <a:t>Lincoln: service Aug 2026 $247K (beat $243K, Dec 2025); service Sep 2026 $262K (beat $247K, Aug 2026); parts Mar 2026 $116K (beat $105K, Dec 2025); combined Mar 2026 $358K (beat $349K, Dec 2025); combined Aug 2026 $359K (beat $358K, Mar 2026); combined Sep 2026 $369K (beat $359K, Aug 2026)</a:t>
            </a:r>
          </a:p>
          <a:p>
            <a:r>
              <a:t>LR Henderson: service Aug 2026 $276K (beat $270K, Dec 2024); service Sep 2026 $281K (beat $276K, Aug 2026); parts Jul 2026 $173K (beat $168K, Feb 2025); combined Jul 2026 $434K (beat $420K, Feb 2025)</a:t>
            </a:r>
          </a:p>
          <a:p>
            <a:r>
              <a:t>Toyota Flagstaff: service Mar 2026 $374K (beat $358K, Oct 2024); service Apr 2026 $377K (beat $374K, Mar 2026); service May 2026 $382K (beat $377K, Apr 2026); combined Mar 2026 $532K (beat $497K, Jan 2025)</a:t>
            </a:r>
          </a:p>
          <a:p>
            <a:r>
              <a:t>Audi Henderson: parts Jul 2026 $591K (beat $524K, Dec 2024); combined Apr 2026 $1.45M (beat $1.39M, Dec 2025); combined Jul 2026 $1.60M (beat $1.45M, Apr 2026)</a:t>
            </a:r>
          </a:p>
          <a:p>
            <a:r>
              <a:t>Mazda: service Aug 2026 $285K (beat $256K, Mar 2025); service Sep 2026 $302K (beat $285K, Aug 2026); parts Sep 2026 $200K (beat $172K, Jun 2025); combined Aug 2026 $417K (beat $412K, Jun 2025); combined Sep 2026 $503K (beat $417K, Aug 2026)</a:t>
            </a:r>
          </a:p>
          <a:p>
            <a:r>
              <a:t>Kia St George: service Apr 2026 $158K (beat $153K, Sep 2025); service Jul 2026 $187K (beat $158K, Apr 2026); parts Jul 2026 $134K (beat $120K, Oct 2025); combined Jul 2026 $321K (beat $270K, Sep 2025)</a:t>
            </a:r>
          </a:p>
          <a:p>
            <a:r>
              <a:t>Lexus: service Mar 2026 $341K (beat $341K, Oct 2025); service May 2026 $342K (beat $341K, Mar 2026); parts May 2026 $154K (beat $149K, Oct 2025); combined May 2026 $497K (beat $490K, Oct 2025)</a:t>
            </a:r>
          </a:p>
          <a:p>
            <a:r>
              <a:t>Toyota Prescott: service Mar 2026 $397K (beat $377K, Dec 2025); service Apr 2026 $463K (beat $397K, Mar 2026); parts Apr 2026 $204K (beat $203K, Apr 2025); combined Apr 2026 $667K (beat $563K, Aug 2023)</a:t>
            </a:r>
          </a:p>
          <a:p>
            <a:r>
              <a:t>Volvo: service Apr 2026 $294K (beat $288K, Aug 2024); service Jun 2026 $305K (beat $294K, Apr 2026)</a:t>
            </a:r>
          </a:p>
          <a:p>
            <a:r>
              <a:t>CDJR Post Falls: service Jul 2026 $312K (beat $305K, Apr 2025); combined Jul 2026 $481K (beat $468K, Aug 2024)</a:t>
            </a:r>
          </a:p>
          <a:p>
            <a:r>
              <a:t>GMC Prescott: parts Apr 2026 $148K (beat $123K, Oct 2024); combined Apr 2026 $314K (beat $304K, Oct 2024)</a:t>
            </a:r>
          </a:p>
          <a:p>
            <a:r>
              <a:t>LR LV: service Jul 2026 $544K (beat $509K, May 2024); combined Jul 2026 $845K (beat $817K, May 2024)</a:t>
            </a:r>
          </a:p>
          <a:p>
            <a:r>
              <a:t>LR Reno: service Aug 2026 $204K (beat $190K, Jan 2025); combined Aug 2026 $312K (beat $294K, Aug 2024)</a:t>
            </a:r>
          </a:p>
          <a:p>
            <a:r>
              <a:t>Subaru Prescott: combined Apr 2026 $354K (beat $349K, Apr 2025)</a:t>
            </a:r>
          </a:p>
          <a:p>
            <a:r>
              <a:t>Toyota Spokane: service Jul 2026 $470K (beat $450K, Oct 2025); combined Jul 2026 $777K (beat $760K, Oct 2025)</a:t>
            </a:r>
          </a:p>
          <a:p>
            <a:r>
              <a:t>Kia LV: service Sep 2026 $492K (beat $472K, Oct 2024)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a:p>
            <a:r>
              <a:t>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$22.59M of the group's $188.80M; VW St George is smallest at $968,018.Source: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grew. Toyota Henderson added the most at +$1.77M (+8.5%); Honda North fell most at −$840K (−8.9%).Source: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LR Henderson what they started this year.Source: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$16.38M of the group's $126.87M; VW St George is smallest at $588,480.Source: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grew. Toyota Henderson added the most at +$1.50M (+10.1%); Honda North fell most at −$695K (−10.5%).Source: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Lexus what changed. Ask Acura, VW St George and VW Henderson what got in the way. Ask Mazda, Kia St George and Hyundai Prescott what they started this year.Source: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is $6.21M of the group's $61.93M; VW St George is smallest at $379,537.Source: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grew. Cadillac added the most at +$688K (+28.4%); Audi Reno fell most at −$328K (−18.8%).Source: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Subaru St George what changed. Ask Hyundai St George, Audi Reno and VW Henderson what got in the way. Ask Audi Henderson, Mazda and Honda Flagstaff what they started this year.Source: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2026).PLACE: Profitability, in front of Fixed Ops Absorption %; the next slide breaks down the fixed expenses. The denominator is the P&amp;L's Fixed Expenses line on the GM statement: the whole store's expenses (new, used, service, parts, body shop)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78.1% group, led by Audi Henderson at 106.6%. Hyundai Prescott is lowest at 46.2%.Source: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raised absorption, led by Lincoln at +16.1 pts to 59.9%. 10 declined; VW St George fell most at −17.4 pts.Source: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Cadillac and LR Reno what changed. Ask VW St George, Kia St George and VW Henderson what got in the way. Ask LR Henderson, LR Reno and Kia St George what they started this year.Source: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of 33 stores at or above the 21.8% group, led by Honda Henderson at 43.0%. GMC Prescott is lowest at -38.1%.Source: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24 of 33 stores raised service net to gross, led by Hyundai Prescott at +33.5 pts to -19.2%. 9 declined; VW St George fell most at −26.8 pts.Source: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Lincoln and LR Reno what changed. Ask VW St George, Kia St George and Mazda what got in the way. Ask Hyundai Prescott, LR Henderson and LR Reno what they started this year.Source: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at or above the 36.7% group, led by Subaru St George at 58.7%. Hyundai Prescott is lowest at 10.0%.Source: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15 of 33 stores raised parts net to gross, led by Lincoln at +14.2 pts to 17.9%. 18 declined; Hyundai Prescott fell most at −12.5 pts.Source: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Lincoln, Acura and Nissan what changed. Ask Hyundai Prescott, Hyundai St George and VW St George what got in the way. Ask LR Reno, VW St George and Mazda what they started this year.Source: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Chevy GMC Bullhead picks up 77.1% of transfers; Kia St George picks up 21.9%. Nissan and Prescott Hyundai hold 272 of the group's 484 open callbacks.Source: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a:t>
            </a:r>
          </a:p>
          <a:p/>
          <a:p>
            <a:r>
              <a:t>Definitions to confirm against Flai: pickup rate is read as the share of transferred calls a person picked up; resolution as the share of callback requests closed. Resolve time in the export runs to weeks at some locations and is not shown.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53,084; LR Reno is smallest at 1,421.Source: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grew CP RO count, led by Kia LV at +13.7% to 8,133. 13 declined; VW St George fell most at −14.7%.Source: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Kia LV, Hyundai Prescott and GMC Prescott what changed. Ask VW St George, Hyundai St George and Audi Reno what got in the way. Ask Lexus, CDJR Post Falls and LR LV what they started this year.Source: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Henderson leads at 78,123; VW St George is smallest at 3,276.Source: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23 of 33 stores sold more CP hours, led by Subaru St George at +44.6% to 12,766. 10 declined; VW St George fell most at −25.4%.Source: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Kia LV and Kia St George what changed. Ask VW St George, Audi Reno and Volvo what got in the way. Ask Mazda, CDJR Post Falls and Lexus what they started this year.Source: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(27,976 hours) x $162.42 CP ELR (on the Hours per RO data slide). Slide rounds to $162 and $4.5M so the room can follow it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sold more hours per RO, led by Hyundai St George at +39.2% (+0.40) to 1.43. 7 declined; LR Reno fell most at −13.7%.Source: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0.1 hour more on every CP RO is worth $6,602,564 a year in added gross. Toyota Henderson leads at $1,164,334.Source: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Subaru St George and Kia St George what changed. Ask LR Reno, VW St George and Volvo what got in the way. Ask Mazda, Hyundai Prescott and Hyundai St George what they started this year.Source: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Customer pay is 52.5% of labor sale (52.8% in 2025), warranty 23.8%, internal 23.7%. Honda Spokane is most customer-pay at 70.3%.Source: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CP ELR, led by Honda Spokane at +22.9% (+$27) to $144. 14 declined; Kia LV fell most at −19.1%.Source: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Cadillac is lowest at 61.5%.Source: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Spokane, Volvo and Lincoln what changed. Ask Kia LV, Subaru St George and Acura what got in the way. Ask VW St George, Audi Reno and Honda Spokane what they started this year.Source: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of 33 stores grew CP labor per RO, led by Hyundai St George at +38.4% (+$66) to $238. 7 declined; VW St George fell most at −13.8%.Source: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Lincoln and Subaru Prescott what changed. Ask VW St George, LR Reno and Kia LV what got in the way. Ask Mazda, Kia St George and Hyundai Prescott what they started this year.Source: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80.8% group, led by Volvo at 88.6%. Hyundai Prescott is lowest at 67.7%.Source: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improved labor margin, led by Toyota Prescott at +4.6 pts to 78.5%. 13 declined; Hyundai Prescott fell most at −5.2 pts.Source: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Prescott, Honda Spokane and VW St George what changed. Ask Hyundai Prescott, GMC Prescott and Audi Reno what got in the way. Ask Kia St George, Acura and Cadillac what they started this year.Source: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a:p>
            <a:r>
              <a:t>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a:t>
            </a:r>
          </a:p>
          <a:p>
            <a:r>
              <a:t>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a:t>
            </a:r>
          </a:p>
          <a:p>
            <a:r>
              <a:t>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at or above the 40.7% group, led by Lexus at 49.0%. Audi Henderson is lowest at 33.6%.Source: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improved parts margin, led by Acura at +6.1 pts to 44.9%. 5 declined; Audi Henderson fell most at −2.1 pts.Source: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Nissan and Subaru Prescott what changed. Ask Audi Henderson, Toyota Spokane and Hyundai Prescott what got in the way. Ask Acura, VW St George and GMC Prescott what they started this year.Source: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a:t>
            </a:r>
          </a:p>
          <a:p>
            <a:r>
              <a:t>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a:t>
            </a:r>
          </a:p>
          <a:p>
            <a:r>
              <a:t>The 52.5% customer-pay share of labor sale tile was dropped with the rewrite.</a:t>
            </a:r>
          </a:p>
          <a:p>
            <a:r>
              <a:t>Said: Jan GM slide 8 / May GM slide 7 (Express Service), reworded.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Basic Maintenance Service and ahead of MPI, Video and Photo Completion % (Noah, Oct 27: sets up the three inspection slides).</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the 90.0% benchmark; the group is at 81.3%. LR Reno and VW Henderson lead at 99.0%; Cadillac is lowest at 40.5%.Source: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at or above the 57.8% group. VW Henderson leads at 96.0%; Kia St George is lowest at 5.2%.Source: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11 of 28 stores at or above the 45.3% group. Hyundai Prescott leads at 91.2%; Kia St George is lowest at 11.8%.Source: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8 of 33 stores at or above 15%, led by Audi Henderson at 27.5%. The group sits at 13.2%.Source: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stores under 15% have left $771,957 so far this year; 8 are at or above it. Toyota Spokane is furthest below at −$169K.Source: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every store, gross Jan-Sep 2026 above (+) or below (-) the benchmark at the store's own gross per service; group gross per service $129.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−1,867 opcodes, −$169K Jan-Sep at $90/service</a:t>
            </a:r>
          </a:p>
          <a:p>
            <a:r>
              <a:t>TOYOTA FLAGSTAFF: 9.7%, −799 opcodes, −$67K Jan-Sep at $84/service</a:t>
            </a:r>
          </a:p>
          <a:p>
            <a:r>
              <a:t>NISSAN: 7.4%, −525 opcodes, −$62K Jan-Sep at $119/service</a:t>
            </a:r>
          </a:p>
          <a:p>
            <a:r>
              <a:t>KIA LV: 9.7%, −426 opcodes, −$58K Jan-Sep at $135/service</a:t>
            </a:r>
          </a:p>
          <a:p>
            <a:r>
              <a:t>CHEVY LV: 12.8%, −417 opcodes, −$57K Jan-Sep at $136/service</a:t>
            </a:r>
          </a:p>
          <a:p>
            <a:r>
              <a:t>CDJR POST FALLS: 4.2%, −578 opcodes, −$43K Jan-Sep at $74/service</a:t>
            </a:r>
          </a:p>
          <a:p>
            <a:r>
              <a:t>TOYOTA PRESCOTT: 12.3%, −359 opcodes, −$37K Jan-Sep at $103/service</a:t>
            </a:r>
          </a:p>
          <a:p>
            <a:r>
              <a:t>KIA ST GEORGE: 8.0%, −274 opcodes, −$29K Jan-Sep at $105/service</a:t>
            </a:r>
          </a:p>
          <a:p>
            <a:r>
              <a:t>HONDA SPOKANE: 12.5%, −221 opcodes, −$27K Jan-Sep at $124/service</a:t>
            </a:r>
          </a:p>
          <a:p>
            <a:r>
              <a:t>AUDI RENO: 11.8%, −112 opcodes, −$26K Jan-Sep at $230/service</a:t>
            </a:r>
          </a:p>
          <a:p>
            <a:r>
              <a:t>TOYOTA HENDERSON: 14.5%, −245 opcodes, −$25K Jan-Sep at $102/service</a:t>
            </a:r>
          </a:p>
          <a:p>
            <a:r>
              <a:t>LEXUS: 11.3%, −166 opcodes, −$24K Jan-Sep at $147/service</a:t>
            </a:r>
          </a:p>
          <a:p>
            <a:r>
              <a:t>LINCOLN: 8.4%, −173 opcodes, −$20K Jan-Sep at $114/service</a:t>
            </a:r>
          </a:p>
          <a:p>
            <a:r>
              <a:t>CHEVY GMC BULLHEAD: 11.1%, −243 opcodes, −$19K Jan-Sep at $78/service</a:t>
            </a:r>
          </a:p>
          <a:p>
            <a:r>
              <a:t>VW HENDERSON: 13.6%, −72 opcodes, −$18K Jan-Sep at $245/service</a:t>
            </a:r>
          </a:p>
          <a:p>
            <a:r>
              <a:t>SUBARU ST GEORGE: 11.0%, −218 opcodes, −$17K Jan-Sep at $78/service</a:t>
            </a:r>
          </a:p>
          <a:p>
            <a:r>
              <a:t>HONDA FLAGSTAFF: 11.0%, −158 opcodes, −$16K Jan-Sep at $100/service</a:t>
            </a:r>
          </a:p>
          <a:p>
            <a:r>
              <a:t>VW ST GEORGE: 5.6%, −180 opcodes, −$13K Jan-Sep at $74/service</a:t>
            </a:r>
          </a:p>
          <a:p>
            <a:r>
              <a:t>SUBARU PRESCOTT: 12.5%, −124 opcodes, −$9K Jan-Sep at $73/service</a:t>
            </a:r>
          </a:p>
          <a:p>
            <a:r>
              <a:t>GMC PRESCOTT: 11.7%, −101 opcodes, −$9K Jan-Sep at $85/service</a:t>
            </a:r>
          </a:p>
          <a:p>
            <a:r>
              <a:t>LR RENO: 12.8%, −30 opcodes, −$8K Jan-Sep at $259/service (capped; raw $715/service)</a:t>
            </a:r>
          </a:p>
          <a:p>
            <a:r>
              <a:t>SUBARU LV: 14.5%, −63 opcodes, −$7K Jan-Sep at $117/service</a:t>
            </a:r>
          </a:p>
          <a:p>
            <a:r>
              <a:t>CADILLAC: 13.8%, −60 opcodes, −$7K Jan-Sep at $115/service</a:t>
            </a:r>
          </a:p>
          <a:p>
            <a:r>
              <a:t>VOLVO: 13.8%, −38 opcodes, −$5K Jan-Sep at $142/service</a:t>
            </a:r>
          </a:p>
          <a:p>
            <a:r>
              <a:t>HYUNDAI ST GEORGE: 14.8%, −5 opcodes, −$649 Jan-Sep at $121/service</a:t>
            </a:r>
          </a:p>
          <a:p>
            <a:r>
              <a:t>ACURA: 17.5%, +92 opcodes, +$11K Jan-Sep at $117/service</a:t>
            </a:r>
          </a:p>
          <a:p>
            <a:r>
              <a:t>MAZDA: 16.6%, +97 opcodes, +$13K Jan-Sep at $132/service</a:t>
            </a:r>
          </a:p>
          <a:p>
            <a:r>
              <a:t>LR LV: 17.3%, +84 opcodes, +$18K Jan-Sep at $210/service</a:t>
            </a:r>
          </a:p>
          <a:p>
            <a:r>
              <a:t>HONDA NORTH: 16.1%, +179 opcodes, +$20K Jan-Sep at $112/service</a:t>
            </a:r>
          </a:p>
          <a:p>
            <a:r>
              <a:t>LR HENDERSON: 24.4%, +147 opcodes, +$31K Jan-Sep at $209/service</a:t>
            </a:r>
          </a:p>
          <a:p>
            <a:r>
              <a:t>HYUNDAI PRESCOTT: 21.7%, +137 opcodes, +$31K Jan-Sep at $228/service</a:t>
            </a:r>
          </a:p>
          <a:p>
            <a:r>
              <a:t>AUDI HENDERSON: 27.5%, +473 opcodes, +$123K Jan-Sep at $259/service (capped; raw $390/service)</a:t>
            </a:r>
          </a:p>
          <a:p>
            <a:r>
              <a:t>HONDA HENDERSON: 21.3%, +1,422 opcodes, +$171K Jan-Sep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Hyundai Prescott and GMC Prescott what changed. Ask LR Reno, Kia LV and Subaru LV what got in the way. Ask Audi Henderson, Mazda and Kia St George what they started this year.Source: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4 of 33 stores at or above 15%, led by LR Henderson at 27.0%. The group sits at 8.3%.Source: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29 stores under 15% have left $1,248,289 so far this year; 4 are at or above it. Toyota Spokane is furthest below at −$135K.Source: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Tire Balance: every store, gross Jan-Sep 2026 above (+) or below (-) the benchmark at the store's own gross per service; group gross per service $75. Rate = Jan-Sep closing %; green / red bar = top / bottom three by rate. Gray bar = the manufacturer doesn't call for tire balance at that store (AUDI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−2,520 opcodes, −$135K Jan-Sep at $53/service</a:t>
            </a:r>
          </a:p>
          <a:p>
            <a:r>
              <a:t>TOYOTA HENDERSON: 11.2%, −2,004 opcodes, −$111K Jan-Sep at $55/service</a:t>
            </a:r>
          </a:p>
          <a:p>
            <a:r>
              <a:t>TOYOTA PRESCOTT: 6.1%, −1,193 opcodes, −$99K Jan-Sep at $83/service</a:t>
            </a:r>
          </a:p>
          <a:p>
            <a:r>
              <a:t>SUBARU ST GEORGE: 3.6%, −628 opcodes, −$94K Jan-Sep at $149/service (capped; raw $247/service)</a:t>
            </a:r>
          </a:p>
          <a:p>
            <a:r>
              <a:t>TOYOTA FLAGSTAFF: 4.9%, −1,523 opcodes, −$82K Jan-Sep at $54/service</a:t>
            </a:r>
          </a:p>
          <a:p>
            <a:r>
              <a:t>CHEVY LV: 7.3%, −1,501 opcodes, −$80K Jan-Sep at $53/service</a:t>
            </a:r>
          </a:p>
          <a:p>
            <a:r>
              <a:t>HONDA SPOKANE: 2.1%, −1,145 opcodes, −$60K Jan-Sep at $52/service</a:t>
            </a:r>
          </a:p>
          <a:p>
            <a:r>
              <a:t>NISSAN: 1.0%, −972 opcodes, −$58K Jan-Sep at $59/service</a:t>
            </a:r>
          </a:p>
          <a:p>
            <a:r>
              <a:t>CDJR POST FALLS: 1.2%, −736 opcodes, −$55K Jan-Sep at $75/service</a:t>
            </a:r>
          </a:p>
          <a:p>
            <a:r>
              <a:t>KIA LV: 5.2%, −794 opcodes, −$54K Jan-Sep at $68/service</a:t>
            </a:r>
          </a:p>
          <a:p>
            <a:r>
              <a:t>LEXUS: 0.0%, −682 opcodes, −$51K Jan-Sep at $75/service (group avg)</a:t>
            </a:r>
          </a:p>
          <a:p>
            <a:r>
              <a:t>SUBARU LV: 10.2%, −682 opcodes, −$51K Jan-Sep at $75/service</a:t>
            </a:r>
          </a:p>
          <a:p>
            <a:r>
              <a:t>AUDI HENDERSON: 0.0%, −566 opcodes, −$42K Jan-Sep at $75/service (group avg)</a:t>
            </a:r>
          </a:p>
          <a:p>
            <a:r>
              <a:t>AUDI RENO: 0.1%, −522 opcodes, −$39K Jan-Sep at $75/service (group avg)</a:t>
            </a:r>
          </a:p>
          <a:p>
            <a:r>
              <a:t>HONDA FLAGSTAFF: 1.3%, −552 opcodes, −$39K Jan-Sep at $70/service</a:t>
            </a:r>
          </a:p>
          <a:p>
            <a:r>
              <a:t>HONDA NORTH: 12.0%, −450 opcodes, −$29K Jan-Sep at $64/service</a:t>
            </a:r>
          </a:p>
          <a:p>
            <a:r>
              <a:t>HYUNDAI ST GEORGE: 1.2%, −461 opcodes, −$27K Jan-Sep at $58/service</a:t>
            </a:r>
          </a:p>
          <a:p>
            <a:r>
              <a:t>LINCOLN: 1.6%, −351 opcodes, −$23K Jan-Sep at $66/service</a:t>
            </a:r>
          </a:p>
          <a:p>
            <a:r>
              <a:t>VW ST GEORGE: 0.4%, −280 opcodes, −$21K Jan-Sep at $75/service (group avg)</a:t>
            </a:r>
          </a:p>
          <a:p>
            <a:r>
              <a:t>VW HENDERSON: 8.2%, −345 opcodes, −$21K Jan-Sep at $60/service</a:t>
            </a:r>
          </a:p>
          <a:p>
            <a:r>
              <a:t>GMC PRESCOTT: 7.7%, −225 opcodes, −$20K Jan-Sep at $90/service</a:t>
            </a:r>
          </a:p>
          <a:p>
            <a:r>
              <a:t>CHEVY GMC BULLHEAD: 9.0%, −372 opcodes, −$16K Jan-Sep at $42/service</a:t>
            </a:r>
          </a:p>
          <a:p>
            <a:r>
              <a:t>KIA ST GEORGE: 7.7%, −285 opcodes, −$14K Jan-Sep at $48/service</a:t>
            </a:r>
          </a:p>
          <a:p>
            <a:r>
              <a:t>CADILLAC: 5.9%, −483 opcodes, −$11K Jan-Sep at $22/service</a:t>
            </a:r>
          </a:p>
          <a:p>
            <a:r>
              <a:t>MAZDA: 13.1%, −103 opcodes, −$8K Jan-Sep at $79/service</a:t>
            </a:r>
          </a:p>
          <a:p>
            <a:r>
              <a:t>VOLVO: 11.7%, −111 opcodes, −$6K Jan-Sep at $51/service</a:t>
            </a:r>
          </a:p>
          <a:p>
            <a:r>
              <a:t>HYUNDAI PRESCOTT: 13.5%, −29 opcodes, −$4K Jan-Sep at $149/service (capped; raw $311/service)</a:t>
            </a:r>
          </a:p>
          <a:p>
            <a:r>
              <a:t>ACURA: 14.1%, −33 opcodes, −$2K Jan-Sep at $64/service</a:t>
            </a:r>
          </a:p>
          <a:p>
            <a:r>
              <a:t>SUBARU PRESCOTT: 14.9%, −1 opcodes, −$26 Jan-Sep at $34/service</a:t>
            </a:r>
          </a:p>
          <a:p>
            <a:r>
              <a:t>LR RENO: 16.9%, +28 opcodes, +$4K Jan-Sep at $149/service (capped; raw $647/service)</a:t>
            </a:r>
          </a:p>
          <a:p>
            <a:r>
              <a:t>LR LV: 16.9%, +70 opcodes, +$10K Jan-Sep at $149/service</a:t>
            </a:r>
          </a:p>
          <a:p>
            <a:r>
              <a:t>LR HENDERSON: 27.0%, +187 opcodes, +$23K Jan-Sep at $122/service</a:t>
            </a:r>
          </a:p>
          <a:p>
            <a:r>
              <a:t>HONDA HENDERSON: 18.4%, +769 opcodes, +$52K Jan-Sep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Prescott, LR LV and Mazda what changed. Ask Subaru St George, Nissan and Kia LV what got in the way. Ask Mazda, Hyundai Prescott and Honda Spokane what they started this year.Source: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12 of 33 stores at or above 10%, led by LR LV at 20.6%. The group sits at 9.2%.Source: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stores under 10% have left $633,493 so far this year; 12 are at or above it. Chevy LV is furthest below at −$113K.Source: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Brake Fluid: every store, gross Jan-Sep 2026 above (+) or below (-) the benchmark at the store's own gross per service; group gross per service $189. Rate = Jan-Sep closing %; green / red bar = top / bottom three by rate.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−820 opcodes, −$113K Jan-Sep at $138/service</a:t>
            </a:r>
          </a:p>
          <a:p>
            <a:r>
              <a:t>TOYOTA SPOKANE: 7.0%, −513 opcodes, −$60K Jan-Sep at $117/service</a:t>
            </a:r>
          </a:p>
          <a:p>
            <a:r>
              <a:t>AUDI RENO: 1.9%, −283 opcodes, −$58K Jan-Sep at $206/service</a:t>
            </a:r>
          </a:p>
          <a:p>
            <a:r>
              <a:t>AUDI HENDERSON: 2.4%, −285 opcodes, −$56K Jan-Sep at $196/service</a:t>
            </a:r>
          </a:p>
          <a:p>
            <a:r>
              <a:t>HONDA FLAGSTAFF: 3.1%, −275 opcodes, −$51K Jan-Sep at $184/service</a:t>
            </a:r>
          </a:p>
          <a:p>
            <a:r>
              <a:t>CADILLAC: 4.6%, −284 opcodes, −$43K Jan-Sep at $150/service</a:t>
            </a:r>
          </a:p>
          <a:p>
            <a:r>
              <a:t>CDJR POST FALLS: 4.2%, −309 opcodes, −$39K Jan-Sep at $128/service</a:t>
            </a:r>
          </a:p>
          <a:p>
            <a:r>
              <a:t>TOYOTA FLAGSTAFF: 8.0%, −292 opcodes, −$36K Jan-Sep at $123/service</a:t>
            </a:r>
          </a:p>
          <a:p>
            <a:r>
              <a:t>TOYOTA PRESCOTT: 8.4%, −215 opcodes, −$24K Jan-Sep at $112/service</a:t>
            </a:r>
          </a:p>
          <a:p>
            <a:r>
              <a:t>HYUNDAI ST GEORGE: 4.7%, −176 opcodes, −$24K Jan-Sep at $134/service</a:t>
            </a:r>
          </a:p>
          <a:p>
            <a:r>
              <a:t>KIA ST GEORGE: 5.9%, −158 opcodes, −$19K Jan-Sep at $119/service</a:t>
            </a:r>
          </a:p>
          <a:p>
            <a:r>
              <a:t>KIA LV: 8.2%, −140 opcodes, −$17K Jan-Sep at $120/service</a:t>
            </a:r>
          </a:p>
          <a:p>
            <a:r>
              <a:t>CHEVY GMC BULLHEAD: 7.0%, −184 opcodes, −$16K Jan-Sep at $87/service</a:t>
            </a:r>
          </a:p>
          <a:p>
            <a:r>
              <a:t>GMC PRESCOTT: 6.0%, −122 opcodes, −$15K Jan-Sep at $127/service</a:t>
            </a:r>
          </a:p>
          <a:p>
            <a:r>
              <a:t>LR RENO: 7.2%, −39 opcodes, −$15K Jan-Sep at $377/service (capped; raw $1,380/service)</a:t>
            </a:r>
          </a:p>
          <a:p>
            <a:r>
              <a:t>MAZDA: 8.4%, −86 opcodes, −$13K Jan-Sep at $154/service</a:t>
            </a:r>
          </a:p>
          <a:p>
            <a:r>
              <a:t>LEXUS: 8.3%, −74 opcodes, −$11K Jan-Sep at $154/service</a:t>
            </a:r>
          </a:p>
          <a:p>
            <a:r>
              <a:t>VW ST GEORGE: 5.4%, −88 opcodes, −$10K Jan-Sep at $111/service</a:t>
            </a:r>
          </a:p>
          <a:p>
            <a:r>
              <a:t>LINCOLN: 7.5%, −65 opcodes, −$8K Jan-Sep at $126/service</a:t>
            </a:r>
          </a:p>
          <a:p>
            <a:r>
              <a:t>VW HENDERSON: 9.5%, −25 opcodes, −$3K Jan-Sep at $134/service</a:t>
            </a:r>
          </a:p>
          <a:p>
            <a:r>
              <a:t>HYUNDAI PRESCOTT: 9.6%, −7 opcodes, −$2K Jan-Sep at $354/service</a:t>
            </a:r>
          </a:p>
          <a:p>
            <a:r>
              <a:t>HONDA SPOKANE: 10.3%, +30 opcodes, +$4K Jan-Sep at $126/service</a:t>
            </a:r>
          </a:p>
          <a:p>
            <a:r>
              <a:t>TOYOTA HENDERSON: 10.0%, +36 opcodes, +$5K Jan-Sep at $141/service</a:t>
            </a:r>
          </a:p>
          <a:p>
            <a:r>
              <a:t>SUBARU LV: 10.1%, +20 opcodes, +$7K Jan-Sep at $333/service</a:t>
            </a:r>
          </a:p>
          <a:p>
            <a:r>
              <a:t>SUBARU PRESCOTT: 10.6%, +32 opcodes, +$12K Jan-Sep at $377/service (capped; raw $380/service)</a:t>
            </a:r>
          </a:p>
          <a:p>
            <a:r>
              <a:t>ACURA: 12.7%, +100 opcodes, +$15K Jan-Sep at $147/service</a:t>
            </a:r>
          </a:p>
          <a:p>
            <a:r>
              <a:t>SUBARU ST GEORGE: 10.7%, +42 opcodes, +$16K Jan-Sep at $377/service (capped; raw $489/service)</a:t>
            </a:r>
          </a:p>
          <a:p>
            <a:r>
              <a:t>NISSAN: 11.6%, +115 opcodes, +$18K Jan-Sep at $155/service</a:t>
            </a:r>
          </a:p>
          <a:p>
            <a:r>
              <a:t>VOLVO: 11.9%, +65 opcodes, +$24K Jan-Sep at $377/service (capped; raw $538/service)</a:t>
            </a:r>
          </a:p>
          <a:p>
            <a:r>
              <a:t>LR HENDERSON: 14.3%, +67 opcodes, +$25K Jan-Sep at $377/service (capped; raw $709/service)</a:t>
            </a:r>
          </a:p>
          <a:p>
            <a:r>
              <a:t>HONDA NORTH: 12.1%, +316 opcodes, +$51K Jan-Sep at $160/service</a:t>
            </a:r>
          </a:p>
          <a:p>
            <a:r>
              <a:t>LR LV: 20.6%, +372 opcodes, +$141K Jan-Sep at $377/service (capped; raw $424/service)</a:t>
            </a:r>
          </a:p>
          <a:p>
            <a:r>
              <a:t>HONDA HENDERSON: 15.5%, +1,260 opcodes, +$195K Jan-Sep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Nissan, LR LV and LR Henderson what changed. Ask CDJR Post Falls, Honda North and Subaru St George what got in the way. Ask Mazda, Audi Reno and Kia St George what they started this year.Source: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7 of 33 stores at or above 7.5%, led by Subaru St George at 13.8%. The group sits at 5.8%.Source: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26 stores under 7.5% have left $1,017,661 so far this year; 7 are at or above it. Chevy LV is furthest below at −$107K.Source: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Fuel System Service: every store, gross Jan-Sep 2026 above (+) or below (-) the benchmark at the store's own gross per service; group gross per service $165. Rate = Jan-Sep closing %; green / red bar = top / bottom three by rate. Gray bar = the manufacturer doesn't call for fuel system service at that store (VOLVO, AUDI HENDERSON, VW HENDERSON, AUDI RENO); red = the three lowest after them. Opcodes = opcodes Jan-Sep above (+) or below (-) the benchmark (benchmark x CP ROs vs services sold).Near-zero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−439 opcodes, −$107K Jan-Sep at $243/service</a:t>
            </a:r>
          </a:p>
          <a:p>
            <a:r>
              <a:t>TOYOTA HENDERSON: 6.0%, −792 opcodes, −$96K Jan-Sep at $122/service</a:t>
            </a:r>
          </a:p>
          <a:p>
            <a:r>
              <a:t>TOYOTA FLAGSTAFF: 1.6%, −880 opcodes, −$82K Jan-Sep at $93/service</a:t>
            </a:r>
          </a:p>
          <a:p>
            <a:r>
              <a:t>VW HENDERSON: 0.0%, −386 opcodes, −$63K Jan-Sep at $165/service (group avg)</a:t>
            </a:r>
          </a:p>
          <a:p>
            <a:r>
              <a:t>KIA LV: 3.2%, −348 opcodes, −$57K Jan-Sep at $163/service</a:t>
            </a:r>
          </a:p>
          <a:p>
            <a:r>
              <a:t>HONDA SPOKANE: 3.2%, −382 opcodes, −$56K Jan-Sep at $147/service</a:t>
            </a:r>
          </a:p>
          <a:p>
            <a:r>
              <a:t>CHEVY GMC BULLHEAD: 2.7%, −300 opcodes, −$49K Jan-Sep at $163/service</a:t>
            </a:r>
          </a:p>
          <a:p>
            <a:r>
              <a:t>NISSAN: 4.1%, −231 opcodes, −$48K Jan-Sep at $206/service</a:t>
            </a:r>
          </a:p>
          <a:p>
            <a:r>
              <a:t>AUDI HENDERSON: 0.0%, −283 opcodes, −$47K Jan-Sep at $165/service (group avg)</a:t>
            </a:r>
          </a:p>
          <a:p>
            <a:r>
              <a:t>CDJR POST FALLS: 3.0%, −241 opcodes, −$46K Jan-Sep at $192/service</a:t>
            </a:r>
          </a:p>
          <a:p>
            <a:r>
              <a:t>HONDA FLAGSTAFF: 0.7%, −273 opcodes, −$45K Jan-Sep at $165/service (group avg)</a:t>
            </a:r>
          </a:p>
          <a:p>
            <a:r>
              <a:t>TOYOTA SPOKANE: 5.8%, −290 opcodes, −$42K Jan-Sep at $145/service</a:t>
            </a:r>
          </a:p>
          <a:p>
            <a:r>
              <a:t>VOLVO: 0.0%, −255 opcodes, −$42K Jan-Sep at $165/service (group avg)</a:t>
            </a:r>
          </a:p>
          <a:p>
            <a:r>
              <a:t>AUDI RENO: 0.8%, −234 opcodes, −$39K Jan-Sep at $165/service (group avg)</a:t>
            </a:r>
          </a:p>
          <a:p>
            <a:r>
              <a:t>CADILLAC: 5.1%, −128 opcodes, −$34K Jan-Sep at $269/service</a:t>
            </a:r>
          </a:p>
          <a:p>
            <a:r>
              <a:t>LR HENDERSON: 2.5%, −77 opcodes, −$25K Jan-Sep at $329/service (capped; raw $774/service)</a:t>
            </a:r>
          </a:p>
          <a:p>
            <a:r>
              <a:t>VW ST GEORGE: 2.7%, −92 opcodes, −$22K Jan-Sep at $236/service</a:t>
            </a:r>
          </a:p>
          <a:p>
            <a:r>
              <a:t>MAZDA: 5.2%, −131 opcodes, −$20K Jan-Sep at $150/service</a:t>
            </a:r>
          </a:p>
          <a:p>
            <a:r>
              <a:t>LEXUS: 4.2%, −147 opcodes, −$19K Jan-Sep at $128/service</a:t>
            </a:r>
          </a:p>
          <a:p>
            <a:r>
              <a:t>LR LV: 5.5%, −69 opcodes, −$18K Jan-Sep at $258/service</a:t>
            </a:r>
          </a:p>
          <a:p>
            <a:r>
              <a:t>GMC PRESCOTT: 3.6%, −120 opcodes, −$16K Jan-Sep at $133/service</a:t>
            </a:r>
          </a:p>
          <a:p>
            <a:r>
              <a:t>TOYOTA PRESCOTT: 6.4%, −140 opcodes, −$14K Jan-Sep at $101/service</a:t>
            </a:r>
          </a:p>
          <a:p>
            <a:r>
              <a:t>LR RENO: 4.5%, −42 opcodes, −$14K Jan-Sep at $329/service (capped; raw $1,631/service)</a:t>
            </a:r>
          </a:p>
          <a:p>
            <a:r>
              <a:t>HYUNDAI ST GEORGE: 5.8%, −54 opcodes, −$10K Jan-Sep at $176/service</a:t>
            </a:r>
          </a:p>
          <a:p>
            <a:r>
              <a:t>SUBARU LV: 7.0%, −59 opcodes, −$8K Jan-Sep at $130/service</a:t>
            </a:r>
          </a:p>
          <a:p>
            <a:r>
              <a:t>HYUNDAI PRESCOTT: 7.3%, −3 opcodes, −$905 Jan-Sep at $329/service (capped; raw $459/service)</a:t>
            </a:r>
          </a:p>
          <a:p>
            <a:r>
              <a:t>HONDA NORTH: 7.6%, +25 opcodes, +$3K Jan-Sep at $118/service</a:t>
            </a:r>
          </a:p>
          <a:p>
            <a:r>
              <a:t>LINCOLN: 8.2%, +19 opcodes, +$3K Jan-Sep at $175/service</a:t>
            </a:r>
          </a:p>
          <a:p>
            <a:r>
              <a:t>KIA ST GEORGE: 8.9%, +57 opcodes, +$9K Jan-Sep at $154/service</a:t>
            </a:r>
          </a:p>
          <a:p>
            <a:r>
              <a:t>ACURA: 9.3%, +69 opcodes, +$10K Jan-Sep at $145/service</a:t>
            </a:r>
          </a:p>
          <a:p>
            <a:r>
              <a:t>SUBARU PRESCOTT: 9.7%, +117 opcodes, +$39K Jan-Sep at $329/service (capped; raw $406/service)</a:t>
            </a:r>
          </a:p>
          <a:p>
            <a:r>
              <a:t>SUBARU ST GEORGE: 13.8%, +353 opcodes, +$54K Jan-Sep at $153/service</a:t>
            </a:r>
          </a:p>
          <a:p>
            <a:r>
              <a:t>HONDA HENDERSON: 12.0%, +1,024 opcodes, +$138K Jan-Sep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Lincoln and LR LV what changed. Ask Subaru LV, CDJR Post Falls and Toyota Spokane what got in the way. Ask Mazda, Hyundai St George and Honda Spokane what they started this year.Source: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Toyota Spokane is furthest below at −$406K so far this year; 7 of 33 stores are ahead of benchmark across the four services. 15 stores are under all four.Source: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Alignment, tire balance, brake fluid and fuel system service added together, every store: gross Jan-Sep 2026 above (+) or below (-) the four benchmarks, at the store's own gross per service. Opcodes = the four services' opcodes above (+) or below (-) their benchmarks, added together; green / red bar = top / bottom three by opcodes. Below-benchmark services count against above-benchmark ones here.TOYOTA SPOKANE: −$406K, −5,191 opcodes Jan-Sep against the four benchmarks; under 4 of 4</a:t>
            </a:r>
          </a:p>
          <a:p>
            <a:r>
              <a:t>CHEVY LV: −$356K, −3,177 opcodes Jan-Sep against the four benchmarks; under 4 of 4</a:t>
            </a:r>
          </a:p>
          <a:p>
            <a:r>
              <a:t>TOYOTA FLAGSTAFF: −$267K, −3,494 opcodes Jan-Sep against the four benchmarks; under 4 of 4</a:t>
            </a:r>
          </a:p>
          <a:p>
            <a:r>
              <a:t>TOYOTA HENDERSON: −$227K, −3,005 opcodes Jan-Sep against the four benchmarks; under 3 of 4</a:t>
            </a:r>
          </a:p>
          <a:p>
            <a:r>
              <a:t>KIA LV: −$185K, −1,708 opcodes Jan-Sep against the four benchmarks; under 4 of 4</a:t>
            </a:r>
          </a:p>
          <a:p>
            <a:r>
              <a:t>CDJR POST FALLS: −$184K, −1,863 opcodes Jan-Sep against the four benchmarks; under 4 of 4</a:t>
            </a:r>
          </a:p>
          <a:p>
            <a:r>
              <a:t>TOYOTA PRESCOTT: −$175K, −1,906 opcodes Jan-Sep against the four benchmarks; under 4 of 4</a:t>
            </a:r>
          </a:p>
          <a:p>
            <a:r>
              <a:t>AUDI RENO: −$162K, −1,152 opcodes Jan-Sep against the four benchmarks; under 4 of 4</a:t>
            </a:r>
          </a:p>
          <a:p>
            <a:r>
              <a:t>HONDA FLAGSTAFF: −$150K, −1,257 opcodes Jan-Sep against the four benchmarks; under 4 of 4</a:t>
            </a:r>
          </a:p>
          <a:p>
            <a:r>
              <a:t>NISSAN: −$150K, −1,613 opcodes Jan-Sep against the four benchmarks; under 3 of 4</a:t>
            </a:r>
          </a:p>
          <a:p>
            <a:r>
              <a:t>HONDA SPOKANE: −$140K, −1,717 opcodes Jan-Sep against the four benchmarks; under 3 of 4</a:t>
            </a:r>
          </a:p>
          <a:p>
            <a:r>
              <a:t>LEXUS: −$105K, −1,068 opcodes Jan-Sep against the four benchmarks; under 4 of 4</a:t>
            </a:r>
          </a:p>
          <a:p>
            <a:r>
              <a:t>VW HENDERSON: −$105K, −827 opcodes Jan-Sep against the four benchmarks; under 4 of 4</a:t>
            </a:r>
          </a:p>
          <a:p>
            <a:r>
              <a:t>CHEVY GMC BULLHEAD: −$100K, −1,100 opcodes Jan-Sep against the four benchmarks; under 4 of 4</a:t>
            </a:r>
          </a:p>
          <a:p>
            <a:r>
              <a:t>CADILLAC: −$94K, −954 opcodes Jan-Sep against the four benchmarks; under 4 of 4</a:t>
            </a:r>
          </a:p>
          <a:p>
            <a:r>
              <a:t>VW ST GEORGE: −$66K, −640 opcodes Jan-Sep against the four benchmarks; under 4 of 4</a:t>
            </a:r>
          </a:p>
          <a:p>
            <a:r>
              <a:t>HYUNDAI ST GEORGE: −$61K, −697 opcodes Jan-Sep against the four benchmarks; under 4 of 4</a:t>
            </a:r>
          </a:p>
          <a:p>
            <a:r>
              <a:t>GMC PRESCOTT: −$60K, −568 opcodes Jan-Sep against the four benchmarks; under 4 of 4</a:t>
            </a:r>
          </a:p>
          <a:p>
            <a:r>
              <a:t>SUBARU LV: −$59K, −783 opcodes Jan-Sep against the four benchmarks; under 3 of 4</a:t>
            </a:r>
          </a:p>
          <a:p>
            <a:r>
              <a:t>KIA ST GEORGE: −$53K, −660 opcodes Jan-Sep against the four benchmarks; under 3 of 4</a:t>
            </a:r>
          </a:p>
          <a:p>
            <a:r>
              <a:t>LINCOLN: −$48K, −569 opcodes Jan-Sep against the four benchmarks; under 3 of 4</a:t>
            </a:r>
          </a:p>
          <a:p>
            <a:r>
              <a:t>SUBARU ST GEORGE: −$41K, −452 opcodes Jan-Sep against the four benchmarks; under 2 of 4</a:t>
            </a:r>
          </a:p>
          <a:p>
            <a:r>
              <a:t>LR RENO: −$32K, −83 opcodes Jan-Sep against the four benchmarks; under 3 of 4</a:t>
            </a:r>
          </a:p>
          <a:p>
            <a:r>
              <a:t>VOLVO: −$29K, −340 opcodes Jan-Sep against the four benchmarks; under 3 of 4</a:t>
            </a:r>
          </a:p>
          <a:p>
            <a:r>
              <a:t>MAZDA: −$28K, −223 opcodes Jan-Sep against the four benchmarks; under 3 of 4</a:t>
            </a:r>
          </a:p>
          <a:p>
            <a:r>
              <a:t>AUDI HENDERSON: −$22K, −661 opcodes Jan-Sep against the four benchmarks; under 3 of 4</a:t>
            </a:r>
          </a:p>
          <a:p>
            <a:r>
              <a:t>HYUNDAI PRESCOTT: +$23K, +97 opcodes Jan-Sep against the four benchmarks; under 3 of 4</a:t>
            </a:r>
          </a:p>
          <a:p>
            <a:r>
              <a:t>ACURA: +$33K, +228 opcodes Jan-Sep against the four benchmarks; under 1 of 4</a:t>
            </a:r>
          </a:p>
          <a:p>
            <a:r>
              <a:t>SUBARU PRESCOTT: +$41K, +24 opcodes Jan-Sep against the four benchmarks; under 2 of 4</a:t>
            </a:r>
          </a:p>
          <a:p>
            <a:r>
              <a:t>HONDA NORTH: +$45K, +70 opcodes Jan-Sep against the four benchmarks; under 1 of 4</a:t>
            </a:r>
          </a:p>
          <a:p>
            <a:r>
              <a:t>LR HENDERSON: +$54K, +324 opcodes Jan-Sep against the four benchmarks; under 1 of 4</a:t>
            </a:r>
          </a:p>
          <a:p>
            <a:r>
              <a:t>LR LV: +$151K, +456 opcodes Jan-Sep against the four benchmarks; under 1 of 4</a:t>
            </a:r>
          </a:p>
          <a:p>
            <a:r>
              <a:t>HONDA HENDERSON: +$557K, +4,476 opcodes Jan-Sep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a:t>
            </a:r>
          </a:p>
          <a:p>
            <a:r>
              <a:t>Talk track: a lot of stores see internal as service making money off sales. It isn't: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a:t>
            </a:r>
          </a:p>
          <a:p>
            <a:r>
              <a:t>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at or above the $130 group, led by LR Reno at $207. Nissan is lowest at $87.Source: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raised internal ELR, led by Hyundai St George at +29.5% (+$47) to $205. 13 declined; Nissan fell most at −27.2%.Source: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St George, LR Reno and Lincoln what changed. Ask Nissan, Kia LV and Mazda what got in the way. Ask Acura, Hyundai St George and Toyota Henderson what they started this year.Source: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25 of 33 stores collect less labor margin on internal work than on customer pay; the group is −2.7 pts. Widest: Audi Reno (−20.0 pts), LR LV (−13.9 pts) and LR Henderson (−12.2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(−2.7 pts). At or above customer pay: Cadillac, Chevy GMC Bullhead, GMC Prescott, Hyundai Prescott, Hyundai St George, Kia LV, Kia St George and VW St George.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19 of 33 stores raised internal labor GP%, led by Acura at +5.6 pts to 77.2%. 14 declined; Nissan fell most at −8.8 pts.Source: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Honda Spokane and LR Reno what changed. Ask Nissan, LR LV and Mazda what got in the way. Ask LR Henderson, Kia St George and Hyundai St George what they started this year.Source: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28 of 33 stores collect less parts margin on internal work than on customer pay; the group is −4.2 pts. Widest: LR LV (−17.6 pts), Honda Flagstaff (−15.4 pts) and Audi Reno (−14.7 pts).Source: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(−4.2 pts). At or above customer pay: Chevy LV, Honda Henderson, Subaru Prescott, Toyota Henderson and Volvo.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21 of 33 stores raised internal parts GP%, led by Acura at +6.2 pts to 34.0%. 12 declined; VW St George fell most at −4.8 pts.Source: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Acura, Hyundai Prescott and Honda Flagstaff what changed. Ask VW St George, Kia LV and LR LV what got in the way. Ask LR Reno, CDJR Post Falls and LR Henderson what they started this year.Source: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Bay tile (Oct 26): counted technicians (proficiency basis, Dec 25 2025 - Oct 9 2026, 9.49 months) flagged 841,721 sold hours, 583 techs = 152 sold hours per tech a month; labor gross $132.13 + parts gross $55.85 = $187.98 per sold hour, all pay types (Qlik Closed ROs) = $28,584 a month per tech. One tech per bay assumed (1:1 tech to stall). The -2.3% CP &amp; W RO tile was dropped for it.</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10 stores added fixed staff, led by Mazda (+5); 23 reduced, led by Chevy LV (−21).Source: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13 of 33 stores at or above the $13,617 group, led by Audi Henderson at $23,461. Honda Flagstaff is lowest at $9,149.Source: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27 of 33 stores raised gross per employee, led by Subaru St George at +$4,158 to $15,556. 6 declined; VW St George fell most at −$1,319.Source: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Subaru St George, Hyundai Prescott and Lincoln what changed. Ask VW St George, Kia St George and Cadillac what got in the way. Ask LR Henderson, Subaru St George and LR Reno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Standard service-department definitions. On the store slides, proficiency = Qlik hours flagged (sold hours) ÷ ADP regular + overtime hours, = clocked hours (vacation, PTO and holiday pay excluded). Efficiency and productivity need DMS time clocked to repair orders, which this data does not include, so they are defined here but not measured. The example is illustrative, not a store or technician.PLACE: right after the Technician Proficiency explainer, before How We Measured It (Noah, Oct 27).</a:t>
            </a:r>
          </a:p>
          <a:p>
            <a:r>
              <a:t>Talk track: walk the example left to right. The tech was on repair orders 6 of 8 hours (75% productive) and flagged 7.5 hours in those 6 (125% efficient), so 7.5 flagged hours for 8 clocked (93.75% proficient). Proficiency is the one we measure: 85% target, group 94.7%. 'Productivity' here is the technician measure, not the Fixed Ops Productivity section (gross and ROs per employee).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'Technician Proficiency' (explainer).</a:t>
            </a:r>
          </a:p>
          <a:p>
            <a:r>
              <a:t>Period: pay periods Dec 25, 2025 to Oct 9, 2026, matched by tech number, all pay types; labelled Jan-Sep 2026 YTD on the slide (Noah, Oct 26: closest the pay periods allow).</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20 of 33 stores at or above the 85% target and 12 above 100%. Group 94.7%, led by Honda Henderson at 118.5%; Acura lowest at 67.4%.Source: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Six stores hold $647K a month, led by Cadillac at $158K. 6 stores at or above 85% still leave $537K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Group-wide the gap is 8.1% of RO gross. 5 stores are missing a fifth or more, led by Hyundai St George at 32% ($88K of $277K a month).Source: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One minute a day per tech: Toyota Henderson $43,256 a year. Volvo techs are worth the most per minute at $4.99.Source: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Rate increases: YTD RWR Financials 2026 (warranty rate submission vendor), "YTD revenue secured" = added gross profit from approved increases (labor $1,661,368, parts $2,126,832); 14 stores have no approval yet. Rates: Qlik - Closed Repair Orders, warranty pay type by close month; ELR = warranty labor sale / hours sold; parts margin = warranty parts gross / parts sale. 2025 January-December, 2026 January-September. Same-store.Talk track (Noah, Oct 24-25): rate increases are new money on every warranty claim, and they show up as a higher warranty ELR and parts margin. The factory notices higher rates too: more money in means more scrutiny, so documentation and process on every claim is how we keep what we are owed.</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 vs Jan-Sep 2025; 2025 shown January-December. Store rows reconcile to the group to the cent,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Cadillac leads at $6.13M of the group's $47.07M; Honda Flagstaff is smallest at $135,184.Source: Qlik - Profit &amp; Loss, Gross Profit - Fixed Ops Warranty (service + parts warranty gross). Same-store, INEOS excluded (opened 2026); no body shop.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18 of 33 stores grew warranty gross. Cadillac added the most at +$2.03M (+49.5%); VW Henderson fell most at −$822K (−35.0%).Source: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Cadillac, Lexus and Audi Henderson what changed. Ask Acura, Honda Flagstaff and VW Henderson what got in the way. Ask Honda North, LR LV and Nissan what they started this year.Source: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GP %: top ACURA 38.7% → 44.9%; NISSAN 38.2% → 42.7%; SUBARU PRESCOTT 31.0% → 34.8%. Bottom HYUNDAI PRESCOTT 39.9% → 39.4%; TOYOTA SPOKANE 45.3% → 44.5%; AUDI HENDERSON 35.8% → 33.6%.Takeaway with the store call-outs (off the slide): Most top-three finishes: Lincoln, Subaru Prescott and Subaru St George (2 of 5). Most bottom-three: VW St George (3 of 5).Source: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GP %: top ACURA 39.4% → 46.6%; VW ST GEORGE 39.1% → 43.8%; GMC PRESCOTT 35.3% → 39.2%. Bottom CHEVY LV 38.2% → 35.0%; LINCOLN 39.9% → 36.0%; HONDA HENDERSON 44.3% → 40.0%.Takeaway with the store call-outs (off the slide): Most top-three finishes: Mazda, CDJR Post Falls and VW St George (2 of 5). Most bottom-three: Honda Henderson and Cadillac (3 of 5).Source: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Last year: Subaru Prescott leads. Moving now: Three stores tie. Eight stores make both views.Source: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are reviewed at the next meeting (Noah, Oct 27): keep a list of what each store names.</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$911K a year. Store proficiency 67%. Each tech under 85% raised to 85% of their own clocked hours, valued at the store's labor + parts gross per flagged hour: $76K a month x 12.</a:t>
            </a:r>
          </a:p>
          <a:p/>
          <a:p>
            <a:r>
              <a:t>2. Service gross - $584K a year. Service gross $1,887,657 vs $2,325,579 Jan–Sep 2025, x 12/9. Overlaps the CP lines.</a:t>
            </a:r>
          </a:p>
          <a:p/>
          <a:p>
            <a:r>
              <a:t>3. CP hours per RO - $292K a year. 1.42 vs the non-luxury 1.75: gap x 3,671 CP ROs x $183 an hour x 12/9.</a:t>
            </a:r>
          </a:p>
          <a:p/>
          <a:p>
            <a:r>
              <a:t>4. CP RO count - $109K a year. 239 fewer CP ROs than Jan–Sep 2025 x $342 a RO x 12/9.</a:t>
            </a:r>
          </a:p>
          <a:p/>
          <a:p>
            <a:r>
              <a:t>5. Parts gross - $105K a year. Parts gross $1,005,492 vs $1,084,358 Jan–Sep 2025, x 12/9. Overlaps CP parts GP.</a:t>
            </a:r>
          </a:p>
          <a:p/>
          <a:p>
            <a:r>
              <a:t>6. MPI completion - not priced. 83.4% of 1,611 CP &amp; W ROs Jul–Sep vs 90%: 425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$1.22M a year. Store proficiency 91%. Each tech under 85% raised to 85% of their own clocked hours, valued at the store's labor + parts gross per flagged hour: $102K a month x 12.</a:t>
            </a:r>
          </a:p>
          <a:p/>
          <a:p>
            <a:r>
              <a:t>2. CP parts GP % - $284K a year. 33.6% vs the luxury 41.3% x $2.78M CP parts sale x 12/9.</a:t>
            </a:r>
          </a:p>
          <a:p/>
          <a:p>
            <a:r>
              <a:t>3. Brake fluid - $74K a year. Brake fluid 2.5% vs 10%: 380 more a year (Jan–Sep x 12/9) x $196 gross a service.</a:t>
            </a:r>
          </a:p>
          <a:p/>
          <a:p>
            <a:r>
              <a:t>4. MPI completion - not priced. 79.0% of 2,891 CP &amp; W ROs Jul–Sep vs 90%: 1,272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Parts gross - $437K a year. Parts gross $1,419,540 vs $1,747,458 Jan–Sep 2025, x 12/9. Overlaps CP parts GP.</a:t>
            </a:r>
          </a:p>
          <a:p/>
          <a:p>
            <a:r>
              <a:t>2. Service gross - $256K a year. Service gross $3,040,297 vs $3,232,223 Jan–Sep 2025, x 12/9. Overlaps the CP lines.</a:t>
            </a:r>
          </a:p>
          <a:p/>
          <a:p>
            <a:r>
              <a:t>3. Techs under 85% - $241K a year. Store proficiency 117%. Each tech under 85% raised to 85% of their own clocked hours, valued at the store's labor + parts gross per flagged hour: $20K a month x 12.</a:t>
            </a:r>
          </a:p>
          <a:p/>
          <a:p>
            <a:r>
              <a:t>4. CP RO count - $211K a year. 462 fewer CP ROs than Jan–Sep 2025 x $342 a RO x 12/9.</a:t>
            </a:r>
          </a:p>
          <a:p/>
          <a:p>
            <a:r>
              <a:t>5. CP hours per RO - $165K a year. 2.73 vs the luxury 2.90: gap x 3,917 CP ROs x $183 an hour x 12/9.</a:t>
            </a:r>
          </a:p>
          <a:p/>
          <a:p>
            <a:r>
              <a:t>6. Brake fluid - $78K a year. Brake fluid 1.9% vs 10%: 378 more a year (Jan–Sep x 12/9) x $206 gross a service.</a:t>
            </a:r>
          </a:p>
          <a:p/>
          <a:p>
            <a:r>
              <a:t>7. Alignment - $34K a year. Alignment 11.8% vs 15%: 149 more a year (Jan–Sep x 12/9) x $230 gross a service.</a:t>
            </a:r>
          </a:p>
          <a:p/>
          <a:p>
            <a:r>
              <a:t>8. Fixed gross/head - not priced. $14,916 a month (Jan–Sep gross ÷ 299 head-months, ADP) vs the luxury $16,998: 4.1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$1.89M a year. Store proficiency 87%. Each tech under 85% raised to 85% of their own clocked hours, valued at the store's labor + parts gross per flagged hour: $158K a month x 12.</a:t>
            </a:r>
          </a:p>
          <a:p/>
          <a:p>
            <a:r>
              <a:t>2. CP labor $ per RO - $939K a year. $464 vs the luxury $632: gap x 5,344 CP ROs x the store's 78.7% labor GP x 12/9. Overlaps hours per RO and ELR.</a:t>
            </a:r>
          </a:p>
          <a:p/>
          <a:p>
            <a:r>
              <a:t>3. CP ELR - $411K a year. Jul–Sep CP ELR $175 vs 70% of the $285 door rate = $200; gap x 4,275 CP hours x 4.</a:t>
            </a:r>
          </a:p>
          <a:p/>
          <a:p>
            <a:r>
              <a:t>4. CP hours per RO - $222K a year. 2.73 vs the luxury 2.90: gap x 5,344 CP ROs x $183 an hour x 12/9.</a:t>
            </a:r>
          </a:p>
          <a:p/>
          <a:p>
            <a:r>
              <a:t>5. Brake fluid - $57K a year. Brake fluid 4.7% vs 10%: 379 more a year (Jan–Sep x 12/9) x $150 gross a service.</a:t>
            </a:r>
          </a:p>
          <a:p/>
          <a:p>
            <a:r>
              <a:t>6. Fuel service - $46K a year. Fuel service 5.1% vs 7.5%: 170 more a year (Jan–Sep x 12/9) x $269 gross a service.</a:t>
            </a:r>
          </a:p>
          <a:p/>
          <a:p>
            <a:r>
              <a:t>7. Service gross - $32K a year. Service gross $6,489,716 vs $6,513,640 Jan–Sep 2025, x 12/9. Overlaps the CP lines.</a:t>
            </a:r>
          </a:p>
          <a:p/>
          <a:p>
            <a:r>
              <a:t>8. Tire balance - $14K a year. Tire balance 6.0% vs 15%: 643 more a year (Jan–Sep x 12/9) x $22 gross a service.</a:t>
            </a:r>
          </a:p>
          <a:p/>
          <a:p>
            <a:r>
              <a:t>9. MPI completion - not priced. 40.5% of 3,311 CP &amp; W ROs Jul–Sep vs 90%: 6,556 more a year (x 4). Not priced.</a:t>
            </a:r>
          </a:p>
          <a:p/>
          <a:p>
            <a:r>
              <a:t>10. Video completion - not priced. 42.7% vs the group's 57.8% on 3,311 CP &amp; W ROs Jul–Sep: 2,005 more a year (x 4). Not priced.</a:t>
            </a:r>
          </a:p>
          <a:p/>
          <a:p>
            <a:r>
              <a:t>11. Fixed gross/head - not priced. $14,260 a month (Jan–Sep gross ÷ 673 head-months, ADP) vs the luxury $16,998: 12.0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$1.20M a year. Store proficiency 71%. Each tech under 85% raised to 85% of their own clocked hours, valued at the store's labor + parts gross per flagged hour: $100K a month x 12.</a:t>
            </a:r>
          </a:p>
          <a:p/>
          <a:p>
            <a:r>
              <a:t>2. Parts gross - $195K a year. Parts gross $1,257,877 vs $1,403,787 Jan–Sep 2025, x 12/9. Overlaps CP parts GP.</a:t>
            </a:r>
          </a:p>
          <a:p/>
          <a:p>
            <a:r>
              <a:t>3. CP RO count - $126K a year. 277 fewer CP ROs than Jan–Sep 2025 x $342 a RO x 12/9.</a:t>
            </a:r>
          </a:p>
          <a:p/>
          <a:p>
            <a:r>
              <a:t>4. CP parts GP % - $114K a year. 35.6% vs the non-luxury 40.5% x $1.78M CP parts sale x 12/9.</a:t>
            </a:r>
          </a:p>
          <a:p/>
          <a:p>
            <a:r>
              <a:t>5. Service gross - $77K a year. Service gross $2,295,272 vs $2,353,006 Jan–Sep 2025, x 12/9. Overlaps the CP lines.</a:t>
            </a:r>
          </a:p>
          <a:p/>
          <a:p>
            <a:r>
              <a:t>6. Tire balance - $73K a year. Tire balance 1.3% vs 15%: 981 more a year (Jan–Sep x 12/9) x $75 gross a service.</a:t>
            </a:r>
          </a:p>
          <a:p/>
          <a:p>
            <a:r>
              <a:t>7. Fuel service - $62K a year. Fuel service 3.0% vs 7.5%: 321 more a year (Jan–Sep x 12/9) x $192 gross a service.</a:t>
            </a:r>
          </a:p>
          <a:p/>
          <a:p>
            <a:r>
              <a:t>8. Alignment - $57K a year. Alignment 4.2% vs 15%: 770 more a year (Jan–Sep x 12/9) x $74 gross a service.</a:t>
            </a:r>
          </a:p>
          <a:p/>
          <a:p>
            <a:r>
              <a:t>9. Brake fluid - $53K a year. Brake fluid 4.2% vs 10%: 412 more a year (Jan–Sep x 12/9) x $128 gross a service.</a:t>
            </a:r>
          </a:p>
          <a:p/>
          <a:p>
            <a:r>
              <a:t>10. Video completion - not priced. 16.0% vs the group's 57.8% on 3,168 CP &amp; W ROs Jul–Sep: 5,302 more a year (x 4). Not priced.</a:t>
            </a:r>
          </a:p>
          <a:p/>
          <a:p>
            <a:r>
              <a:t>11. Fixed gross/head - not priced. $9,953 a month (Jan–Sep gross ÷ 357 head-months, ADP) vs the non-luxury $12,714: 8.6 heads over. Counted, not priced: no store personnel cost in the data.</a:t>
            </a:r>
          </a:p>
          <a:p/>
          <a:p>
            <a:r>
              <a:t>12. MPI completion - not priced. 81.7% of 3,168 CP &amp; W ROs Jul–Sep vs 90%: 1,052 more a year (x 4). Not priced.</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$1.35M a year. Store proficiency 68%. Each tech under 85% raised to 85% of their own clocked hours, valued at the store's labor + parts gross per flagged hour: $112K a month x 12.</a:t>
            </a:r>
          </a:p>
          <a:p/>
          <a:p>
            <a:r>
              <a:t>2. CP parts GP % - $77K a year. 37.2% vs the non-luxury 40.5% x $1.74M CP parts sale x 12/9.</a:t>
            </a:r>
          </a:p>
          <a:p/>
          <a:p>
            <a:r>
              <a:t>3. Fuel service - $65K a year. Fuel service 2.7% vs 7.5%: 400 more a year (Jan–Sep x 12/9) x $163 gross a service.</a:t>
            </a:r>
          </a:p>
          <a:p/>
          <a:p>
            <a:r>
              <a:t>4. Alignment - $25K a year. Alignment 11.1% vs 15%: 324 more a year (Jan–Sep x 12/9) x $78 gross a service.</a:t>
            </a:r>
          </a:p>
          <a:p/>
          <a:p>
            <a:r>
              <a:t>5. Brake fluid - $21K a year. Brake fluid 7.1% vs 10%: 245 more a year (Jan–Sep x 12/9) x $87 gross a service.</a:t>
            </a:r>
          </a:p>
          <a:p/>
          <a:p>
            <a:r>
              <a:t>6. Tire balance - $21K a year. Tire balance 9.1% vs 15%: 496 more a year (Jan–Sep x 12/9) x $42 gross a service.</a:t>
            </a:r>
          </a:p>
          <a:p/>
          <a:p>
            <a:r>
              <a:t>7. CP labor GP % - $17K a year. 77.3% vs 78% (bottom of the 78-80% range) x $1.73M CP labor sale x 12/9.</a:t>
            </a:r>
          </a:p>
          <a:p/>
          <a:p>
            <a:r>
              <a:t>8. Video completion - not priced. 21.8% vs the group's 57.8% on 2,779 CP &amp; W ROs Jul–Sep: 4,006 more a year (x 4). Not priced.</a:t>
            </a:r>
          </a:p>
          <a:p/>
          <a:p>
            <a:r>
              <a:t>9. Fixed gross/head - not priced. $10,391 a month (Jan–Sep gross ÷ 436 head-months, ADP) vs the non-luxury $12,714: 8.9 heads over. Counted, not priced: no store personnel cost in the data.</a:t>
            </a:r>
          </a:p>
          <a:p/>
          <a:p>
            <a:r>
              <a:t>10. MPI completion - not priced. 87.6% of 2,779 CP &amp; W ROs Jul–Sep vs 90%: 267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$1.05M a year. Store proficiency 103%. Each tech under 85% raised to 85% of their own clocked hours, valued at the store's labor + parts gross per flagged hour: $87K a month x 12.</a:t>
            </a:r>
          </a:p>
          <a:p/>
          <a:p>
            <a:r>
              <a:t>2. CP ELR - $671K a year. Jul–Sep CP ELR $146 vs 70% of the $225 door rate = $157; gap x 15,019 CP hours x 4.</a:t>
            </a:r>
          </a:p>
          <a:p/>
          <a:p>
            <a:r>
              <a:t>3. Service gross - $526K a year. Service gross $10,497,259 vs $10,892,101 Jan–Sep 2025, x 12/9. Overlaps the CP lines.</a:t>
            </a:r>
          </a:p>
          <a:p/>
          <a:p>
            <a:r>
              <a:t>4. CP RO count - $434K a year. 952 fewer CP ROs than Jan–Sep 2025 x $342 a RO x 12/9.</a:t>
            </a:r>
          </a:p>
          <a:p/>
          <a:p>
            <a:r>
              <a:t>5. CP parts GP % - $314K a year. 36.2% vs the non-luxury 40.5% x $5.47M CP parts sale x 12/9.</a:t>
            </a:r>
          </a:p>
          <a:p/>
          <a:p>
            <a:r>
              <a:t>6. Brake fluid - $151K a year. Brake fluid 5.8% vs 10%: 1,093 more a year (Jan–Sep x 12/9) x $138 gross a service.</a:t>
            </a:r>
          </a:p>
          <a:p/>
          <a:p>
            <a:r>
              <a:t>7. Fuel service - $142K a year. Fuel service 5.3% vs 7.5%: 585 more a year (Jan–Sep x 12/9) x $243 gross a service.</a:t>
            </a:r>
          </a:p>
          <a:p/>
          <a:p>
            <a:r>
              <a:t>8. Tire balance - $106K a year. Tire balance 7.3% vs 15%: 2,001 more a year (Jan–Sep x 12/9) x $53 gross a service.</a:t>
            </a:r>
          </a:p>
          <a:p/>
          <a:p>
            <a:r>
              <a:t>9. Alignment - $75K a year. Alignment 12.9% vs 15%: 556 more a year (Jan–Sep x 12/9) x $136 gross a service.</a:t>
            </a:r>
          </a:p>
          <a:p/>
          <a:p>
            <a:r>
              <a:t>10. Parts gross - $56K a year. Parts gross $6,047,818 vs $6,089,964 Jan–Sep 2025, x 12/9. Overlaps CP parts GP.</a:t>
            </a:r>
          </a:p>
          <a:p/>
          <a:p>
            <a:r>
              <a:t>11. Video completion - not priced. 40.2% vs the group's 57.8% on 9,387 CP &amp; W ROs Jul–Sep: 6,624 more a year (x 4). Not priced.</a:t>
            </a:r>
          </a:p>
          <a:p/>
          <a:p>
            <a:r>
              <a:t>12. MPI completion - not priced. 84.5% of 9,387 CP &amp; W ROs Jul–Sep vs 90%: 2,065 more a year (x 4). Not priced.</a:t>
            </a:r>
          </a:p>
          <a:p/>
          <a:p>
            <a:r>
              <a:t>13. Fixed gross/head - not priced. $12,042 a month (Jan–Sep gross ÷ 1,374 head-months, ADP) vs the non-luxury $12,714: 8.1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$574K a year. Store proficiency 73%. Each tech under 85% raised to 85% of their own clocked hours, valued at the store's labor + parts gross per flagged hour: $48K a month x 12.</a:t>
            </a:r>
          </a:p>
          <a:p/>
          <a:p>
            <a:r>
              <a:t>2. CP labor GP % - $67K a year. 72.2% vs 78% (bottom of the 78-80% range) x $870K CP labor sale x 12/9.</a:t>
            </a:r>
          </a:p>
          <a:p/>
          <a:p>
            <a:r>
              <a:t>3. CP ELR - $63K a year. Jul–Sep CP ELR $147 vs 70% of the $220 door rate = $154; gap x 2,219 CP hours x 4.</a:t>
            </a:r>
          </a:p>
          <a:p/>
          <a:p>
            <a:r>
              <a:t>4. CP parts GP % - $42K a year. 37.0% vs the non-luxury 40.5% x $902K CP parts sale x 12/9.</a:t>
            </a:r>
          </a:p>
          <a:p/>
          <a:p>
            <a:r>
              <a:t>5. Tire balance - $27K a year. Tire balance 7.8% vs 15%: 300 more a year (Jan–Sep x 12/9) x $90 gross a service.</a:t>
            </a:r>
          </a:p>
          <a:p/>
          <a:p>
            <a:r>
              <a:t>6. Fuel service - $21K a year. Fuel service 3.6% vs 7.5%: 160 more a year (Jan–Sep x 12/9) x $133 gross a service.</a:t>
            </a:r>
          </a:p>
          <a:p/>
          <a:p>
            <a:r>
              <a:t>7. Brake fluid - $21K a year. Brake fluid 6.1% vs 10%: 162 more a year (Jan–Sep x 12/9) x $127 gross a service.</a:t>
            </a:r>
          </a:p>
          <a:p/>
          <a:p>
            <a:r>
              <a:t>8. Alignment - $11K a year. Alignment 11.7% vs 15%: 135 more a year (Jan–Sep x 12/9) x $85 gross a service.</a:t>
            </a:r>
          </a:p>
          <a:p/>
          <a:p>
            <a:r>
              <a:t>9. Video completion - not priced. 35.1% vs the group's 57.8% on 1,656 CP &amp; W ROs Jul–Sep: 1,506 more a year (x 4). Not priced.</a:t>
            </a:r>
          </a:p>
          <a:p/>
          <a:p>
            <a:r>
              <a:t>10. Fixed gross/head - not priced. $9,498 a month (Jan–Sep gross ÷ 239 head-months, ADP) vs the non-luxury $12,714: 6.7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$473K a year. Store proficiency 78%. Each tech under 85% raised to 85% of their own clocked hours, valued at the store's labor + parts gross per flagged hour: $39K a month x 12.</a:t>
            </a:r>
          </a:p>
          <a:p/>
          <a:p>
            <a:r>
              <a:t>2. CP hours per RO - $79K a year. 1.67 vs the non-luxury 1.75: gap x 4,030 CP ROs x $183 an hour x 12/9.</a:t>
            </a:r>
          </a:p>
          <a:p/>
          <a:p>
            <a:r>
              <a:t>3. Brake fluid - $67K a year. Brake fluid 3.2% vs 10%: 367 more a year (Jan–Sep x 12/9) x $184 gross a service.</a:t>
            </a:r>
          </a:p>
          <a:p/>
          <a:p>
            <a:r>
              <a:t>4. Fuel service - $60K a year. Fuel service 0.7% vs 7.5%: 364 more a year (Jan–Sep x 12/9) x $165 gross a service.</a:t>
            </a:r>
          </a:p>
          <a:p/>
          <a:p>
            <a:r>
              <a:t>5. Tire balance - $52K a year. Tire balance 1.3% vs 15%: 735 more a year (Jan–Sep x 12/9) x $70 gross a service.</a:t>
            </a:r>
          </a:p>
          <a:p/>
          <a:p>
            <a:r>
              <a:t>6. Service gross - $37K a year. Service gross $1,044,098 vs $1,071,808 Jan–Sep 2025, x 12/9. Overlaps the CP lines.</a:t>
            </a:r>
          </a:p>
          <a:p/>
          <a:p>
            <a:r>
              <a:t>7. Alignment - $21K a year. Alignment 11.1% vs 15%: 210 more a year (Jan–Sep x 12/9) x $100 gross a service.</a:t>
            </a:r>
          </a:p>
          <a:p/>
          <a:p>
            <a:r>
              <a:t>8. CP RO count - $14K a year. 30 fewer CP ROs than Jan–Sep 2025 x $342 a RO x 12/9.</a:t>
            </a:r>
          </a:p>
          <a:p/>
          <a:p>
            <a:r>
              <a:t>9. Fixed gross/head - not priced. $9,149 a month (Jan–Sep gross ÷ 174 head-months, ADP) vs the non-luxury $12,714: 5.4 heads over. Counted, not priced: no store personnel cost in the data.</a:t>
            </a:r>
          </a:p>
          <a:p/>
          <a:p>
            <a:r>
              <a:t>10. MPI completion - not priced. 86.3% of 1,655 CP &amp; W ROs Jul–Sep vs 90%: 245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$155K a year. Store proficiency 118%. Each tech under 85% raised to 85% of their own clocked hours, valued at the store's labor + parts gross per flagged hour: $13K a month x 12.</a:t>
            </a:r>
          </a:p>
          <a:p/>
          <a:p>
            <a:r>
              <a:t>2. CP RO count - $87K a year. 190 fewer CP ROs than Jan–Sep 2025 x $342 a RO x 12/9.</a:t>
            </a:r>
          </a:p>
          <a:p/>
          <a:p>
            <a:r>
              <a:t>3. MPI completion - not priced. 82.5% of 9,816 CP &amp; W ROs Jul–Sep vs 90%: 2,945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$926K a year. Service gross $5,919,248 vs $6,613,864 Jan–Sep 2025, x 12/9. Overlaps the CP lines.</a:t>
            </a:r>
          </a:p>
          <a:p/>
          <a:p>
            <a:r>
              <a:t>2. Parts gross - $194K a year. Parts gross $2,697,134 vs $2,842,409 Jan–Sep 2025, x 12/9. Overlaps CP parts GP.</a:t>
            </a:r>
          </a:p>
          <a:p/>
          <a:p>
            <a:r>
              <a:t>3. Techs under 85% - $155K a year. Store proficiency 109%. Each tech under 85% raised to 85% of their own clocked hours, valued at the store's labor + parts gross per flagged hour: $13K a month x 12.</a:t>
            </a:r>
          </a:p>
          <a:p/>
          <a:p>
            <a:r>
              <a:t>4. Tire balance - $38K a year. Tire balance 12.0% vs 15%: 600 more a year (Jan–Sep x 12/9) x $64 gross a service.</a:t>
            </a:r>
          </a:p>
          <a:p/>
          <a:p>
            <a:r>
              <a:t>5. MPI completion - not priced. 81.4% of 7,325 CP &amp; W ROs Jul–Sep vs 90%: 2,520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RO count - $456K a year. 999 fewer CP ROs than Jan–Sep 2025 x $342 a RO x 12/9.</a:t>
            </a:r>
          </a:p>
          <a:p/>
          <a:p>
            <a:r>
              <a:t>2. Tire balance - $80K a year. Tire balance 2.2% vs 15%: 1,526 more a year (Jan–Sep x 12/9) x $52 gross a service.</a:t>
            </a:r>
          </a:p>
          <a:p/>
          <a:p>
            <a:r>
              <a:t>3. Fuel service - $75K a year. Fuel service 3.2% vs 7.5%: 509 more a year (Jan–Sep x 12/9) x $147 gross a service.</a:t>
            </a:r>
          </a:p>
          <a:p/>
          <a:p>
            <a:r>
              <a:t>4. Alignment - $36K a year. Alignment 12.5% vs 15%: 294 more a year (Jan–Sep x 12/9) x $124 gross a service.</a:t>
            </a:r>
          </a:p>
          <a:p/>
          <a:p>
            <a:r>
              <a:t>5. Parts gross - $15K a year. Parts gross $1,394,258 vs $1,405,777 Jan–Sep 2025, x 12/9. Overlaps CP parts GP.</a:t>
            </a:r>
          </a:p>
          <a:p/>
          <a:p>
            <a:r>
              <a:t>6. Techs under 85% - $12K a year. Store proficiency 109%. Each tech under 85% raised to 85% of their own clocked hours, valued at the store's labor + parts gross per flagged hour: $1K a month x 12.</a:t>
            </a:r>
          </a:p>
          <a:p/>
          <a:p>
            <a:r>
              <a:t>7. MPI completion - not priced. 49.6% of 3,553 CP &amp; W ROs Jul–Sep vs 90%: 5,742 more a year (x 4). Not priced.</a:t>
            </a:r>
          </a:p>
          <a:p/>
          <a:p>
            <a:r>
              <a:t>8. Video completion - not priced. 49.6% vs the group's 57.8% on 3,553 CP &amp; W ROs Jul–Sep: 1,171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$412K a year. Store proficiency 78%. Each tech under 85% raised to 85% of their own clocked hours, valued at the store's labor + parts gross per flagged hour: $34K a month x 12.</a:t>
            </a:r>
          </a:p>
          <a:p/>
          <a:p>
            <a:r>
              <a:t>2. CP labor $ per RO - $92K a year. $213 vs the non-luxury $264: gap x 2,010 CP ROs x the store's 67.7% labor GP x 12/9. Overlaps hours per RO and ELR.</a:t>
            </a:r>
          </a:p>
          <a:p/>
          <a:p>
            <a:r>
              <a:t>3. CP labor GP % - $59K a year. 67.7% vs 78% (bottom of the 78-80% range) x $429K CP labor sale x 12/9.</a:t>
            </a:r>
          </a:p>
          <a:p/>
          <a:p>
            <a:r>
              <a:t>4. CP hours per RO - $54K a year. 1.64 vs the non-luxury 1.75: gap x 2,010 CP ROs x $183 an hour x 12/9.</a:t>
            </a:r>
          </a:p>
          <a:p/>
          <a:p>
            <a:r>
              <a:t>5. CP ELR - $51K a year. Jul–Sep CP ELR $136 vs 70% of the $210 door rate = $147; gap x 1,173 CP hours x 4.</a:t>
            </a:r>
          </a:p>
          <a:p/>
          <a:p>
            <a:r>
              <a:t>6. Fixed gross/head - not priced. $11,631 a month (Jan–Sep gross ÷ 132 head-months, ADP) vs the non-luxury $12,714: 1.2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$1.06M a year. Store proficiency 69%. Each tech under 85% raised to 85% of their own clocked hours, valued at the store's labor + parts gross per flagged hour: $88K a month x 12.</a:t>
            </a:r>
          </a:p>
          <a:p/>
          <a:p>
            <a:r>
              <a:t>2. Parts gross - $302K a year. Parts gross $826,662 vs $1,053,439 Jan–Sep 2025, x 12/9. Overlaps CP parts GP.</a:t>
            </a:r>
          </a:p>
          <a:p/>
          <a:p>
            <a:r>
              <a:t>3. CP hours per RO - $259K a year. 1.43 vs the non-luxury 1.75: gap x 3,349 CP ROs x $183 an hour x 12/9.</a:t>
            </a:r>
          </a:p>
          <a:p/>
          <a:p>
            <a:r>
              <a:t>4. CP RO count - $198K a year. 435 fewer CP ROs than Jan–Sep 2025 x $342 a RO x 12/9.</a:t>
            </a:r>
          </a:p>
          <a:p/>
          <a:p>
            <a:r>
              <a:t>5. CP labor $ per RO - $98K a year. $238 vs the non-luxury $264: gap x 3,349 CP ROs x the store's 82.9% labor GP x 12/9. Overlaps hours per RO and ELR.</a:t>
            </a:r>
          </a:p>
          <a:p/>
          <a:p>
            <a:r>
              <a:t>6. Tire balance - $36K a year. Tire balance 1.2% vs 15%: 615 more a year (Jan–Sep x 12/9) x $58 gross a service.</a:t>
            </a:r>
          </a:p>
          <a:p/>
          <a:p>
            <a:r>
              <a:t>7. Brake fluid - $32K a year. Brake fluid 4.7% vs 10%: 235 more a year (Jan–Sep x 12/9) x $134 gross a service.</a:t>
            </a:r>
          </a:p>
          <a:p/>
          <a:p>
            <a:r>
              <a:t>8. Fuel service - $13K a year. Fuel service 5.9% vs 7.5%: 72 more a year (Jan–Sep x 12/9) x $176 gross a service.</a:t>
            </a:r>
          </a:p>
          <a:p/>
          <a:p>
            <a:r>
              <a:t>9. CP parts GP % - $10K a year. 39.4% vs the non-luxury 40.5% x $732K CP parts sale x 12/9.</a:t>
            </a:r>
          </a:p>
          <a:p/>
          <a:p>
            <a:r>
              <a:t>10. MPI completion - not priced. 62.7% of 2,058 CP &amp; W ROs Jul–Sep vs 90%: 2,247 more a year (x 4). Not priced.</a:t>
            </a:r>
          </a:p>
          <a:p/>
          <a:p>
            <a:r>
              <a:t>11. Fixed gross/head - not priced. $11,541 a month (Jan–Sep gross ÷ 198 head-months, ADP) vs the non-luxury $12,714: 2.0 heads over. Counted, not priced: no store personnel cost in the data.</a:t>
            </a:r>
          </a:p>
          <a:p/>
          <a:p>
            <a:r>
              <a:t>12. Video completion - not priced. 53.1% vs the group's 57.8% on 2,058 CP &amp; W ROs Jul–Sep: 390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$891K a year. Store proficiency 76%. Each tech under 85% raised to 85% of their own clocked hours, valued at the store's labor + parts gross per flagged hour: $74K a month x 12.</a:t>
            </a:r>
          </a:p>
          <a:p/>
          <a:p>
            <a:r>
              <a:t>2. CP hours per RO - $351K a year. 1.57 vs the non-luxury 1.75: gap x 8,133 CP ROs x $183 an hour x 12/9.</a:t>
            </a:r>
          </a:p>
          <a:p/>
          <a:p>
            <a:r>
              <a:t>3. CP labor $ per RO - $259K a year. $234 vs the non-luxury $264: gap x 8,133 CP ROs x the store's 79.5% labor GP x 12/9. Overlaps hours per RO and ELR.</a:t>
            </a:r>
          </a:p>
          <a:p/>
          <a:p>
            <a:r>
              <a:t>4. Parts gross - $223K a year. Parts gross $2,101,307 vs $2,268,483 Jan–Sep 2025, x 12/9. Overlaps CP parts GP.</a:t>
            </a:r>
          </a:p>
          <a:p/>
          <a:p>
            <a:r>
              <a:t>5. Alignment - $77K a year. Alignment 9.8% vs 15%: 568 more a year (Jan–Sep x 12/9) x $135 gross a service.</a:t>
            </a:r>
          </a:p>
          <a:p/>
          <a:p>
            <a:r>
              <a:t>6. Fuel service - $76K a year. Fuel service 3.2% vs 7.5%: 464 more a year (Jan–Sep x 12/9) x $163 gross a service.</a:t>
            </a:r>
          </a:p>
          <a:p/>
          <a:p>
            <a:r>
              <a:t>7. Tire balance - $72K a year. Tire balance 5.2% vs 15%: 1,059 more a year (Jan–Sep x 12/9) x $68 gross a service.</a:t>
            </a:r>
          </a:p>
          <a:p/>
          <a:p>
            <a:r>
              <a:t>8. CP ELR - $55K a year. Jul–Sep CP ELR $151 vs 70% of the $220 door rate = $154; gap x 4,292 CP hours x 4.</a:t>
            </a:r>
          </a:p>
          <a:p/>
          <a:p>
            <a:r>
              <a:t>9. Brake fluid - $22K a year. Brake fluid 8.3% vs 10%: 187 more a year (Jan–Sep x 12/9) x $120 gross a service.</a:t>
            </a:r>
          </a:p>
          <a:p/>
          <a:p>
            <a:r>
              <a:t>10. Video completion - not priced. 31.5% vs the group's 57.8% on 4,474 CP &amp; W ROs Jul–Sep: 4,714 more a year (x 4). Not priced.</a:t>
            </a:r>
          </a:p>
          <a:p/>
          <a:p>
            <a:r>
              <a:t>11. MPI completion - not priced. 71.2% of 4,474 CP &amp; W ROs Jul–Sep vs 90%: 3,364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$919K a year. Store proficiency 67%. Each tech under 85% raised to 85% of their own clocked hours, valued at the store's labor + parts gross per flagged hour: $77K a month x 12.</a:t>
            </a:r>
          </a:p>
          <a:p/>
          <a:p>
            <a:r>
              <a:t>2. CP hours per RO - $435K a year. 1.29 vs the non-luxury 1.75: gap x 3,912 CP ROs x $183 an hour x 12/9.</a:t>
            </a:r>
          </a:p>
          <a:p/>
          <a:p>
            <a:r>
              <a:t>3. CP labor $ per RO - $340K a year. $182 vs the non-luxury $264: gap x 3,912 CP ROs x the store's 79.4% labor GP x 12/9. Overlaps hours per RO and ELR.</a:t>
            </a:r>
          </a:p>
          <a:p/>
          <a:p>
            <a:r>
              <a:t>4. Alignment - $38K a year. Alignment 8.0% vs 15%: 365 more a year (Jan–Sep x 12/9) x $105 gross a service.</a:t>
            </a:r>
          </a:p>
          <a:p/>
          <a:p>
            <a:r>
              <a:t>5. Brake fluid - $25K a year. Brake fluid 6.0% vs 10%: 211 more a year (Jan–Sep x 12/9) x $119 gross a service.</a:t>
            </a:r>
          </a:p>
          <a:p/>
          <a:p>
            <a:r>
              <a:t>6. Tire balance - $18K a year. Tire balance 7.7% vs 15%: 380 more a year (Jan–Sep x 12/9) x $48 gross a service.</a:t>
            </a:r>
          </a:p>
          <a:p/>
          <a:p>
            <a:r>
              <a:t>7. Video completion - not priced. 5.2% vs the group's 57.8% on 2,672 CP &amp; W ROs Jul–Sep: 5,626 more a year (x 4). Not priced.</a:t>
            </a:r>
          </a:p>
          <a:p/>
          <a:p>
            <a:r>
              <a:t>8. MPI completion - not priced. 60.9% of 2,672 CP &amp; W ROs Jul–Sep vs 90%: 3,110 more a year (x 4). Not priced.</a:t>
            </a:r>
          </a:p>
          <a:p/>
          <a:p>
            <a:r>
              <a:t>9. Fixed gross/head - not priced. $12,103 a month (Jan–Sep gross ÷ 193 head-months, ADP) vs the non-luxury $12,714: 1.0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$1.18M a year. $403 vs the luxury $632: gap x 4,567 CP ROs x the store's 85.0% labor GP x 12/9. Overlaps hours per RO and ELR.</a:t>
            </a:r>
          </a:p>
          <a:p/>
          <a:p>
            <a:r>
              <a:t>2. CP hours per RO - $911K a year. 2.08 vs the luxury 2.90: gap x 4,567 CP ROs x $183 an hour x 12/9.</a:t>
            </a:r>
          </a:p>
          <a:p/>
          <a:p>
            <a:r>
              <a:t>3. Techs under 85% - $379K a year. Store proficiency 104%. Each tech under 85% raised to 85% of their own clocked hours, valued at the store's labor + parts gross per flagged hour: $32K a month x 12.</a:t>
            </a:r>
          </a:p>
          <a:p/>
          <a:p>
            <a:r>
              <a:t>4. Tire balance - $68K a year. Tire balance 0.1% vs 15%: 909 more a year (Jan–Sep x 12/9) x $75 gross a service.</a:t>
            </a:r>
          </a:p>
          <a:p/>
          <a:p>
            <a:r>
              <a:t>5. Alignment - $33K a year. Alignment 11.4% vs 15%: 221 more a year (Jan–Sep x 12/9) x $147 gross a service.</a:t>
            </a:r>
          </a:p>
          <a:p/>
          <a:p>
            <a:r>
              <a:t>6. Fuel service - $25K a year. Fuel service 4.3% vs 7.5%: 195 more a year (Jan–Sep x 12/9) x $128 gross a service.</a:t>
            </a:r>
          </a:p>
          <a:p/>
          <a:p>
            <a:r>
              <a:t>7. Brake fluid - $15K a year. Brake fluid 8.4% vs 10%: 98 more a year (Jan–Sep x 12/9) x $154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$628K a year. $416 vs the luxury $632: gap x 2,630 CP ROs x the store's 83.2% labor GP x 12/9. Overlaps hours per RO and ELR.</a:t>
            </a:r>
          </a:p>
          <a:p/>
          <a:p>
            <a:r>
              <a:t>2. Techs under 85% - $284K a year. Store proficiency 94%. Each tech under 85% raised to 85% of their own clocked hours, valued at the store's labor + parts gross per flagged hour: $24K a month x 12.</a:t>
            </a:r>
          </a:p>
          <a:p/>
          <a:p>
            <a:r>
              <a:t>3. CP hours per RO - $267K a year. 2.48 vs the luxury 2.90: gap x 2,630 CP ROs x $183 an hour x 12/9.</a:t>
            </a:r>
          </a:p>
          <a:p/>
          <a:p>
            <a:r>
              <a:t>4. CP parts GP % - $55K a year. 37.0% vs the luxury 41.3% x $954K CP parts sale x 12/9.</a:t>
            </a:r>
          </a:p>
          <a:p/>
          <a:p>
            <a:r>
              <a:t>5. CP ELR - $36K a year. Jul–Sep CP ELR $167 vs 70% of the $245 door rate = $171; gap x 2,154 CP hours x 4.</a:t>
            </a:r>
          </a:p>
          <a:p/>
          <a:p>
            <a:r>
              <a:t>6. Tire balance - $31K a year. Tire balance 1.7% vs 15%: 467 more a year (Jan–Sep x 12/9) x $66 gross a service.</a:t>
            </a:r>
          </a:p>
          <a:p/>
          <a:p>
            <a:r>
              <a:t>7. Alignment - $26K a year. Alignment 8.4% vs 15%: 230 more a year (Jan–Sep x 12/9) x $114 gross a service.</a:t>
            </a:r>
          </a:p>
          <a:p/>
          <a:p>
            <a:r>
              <a:t>8. Brake fluid - $11K a year. Brake fluid 7.5% vs 10%: 87 more a year (Jan–Sep x 12/9) x $126 gross a service.</a:t>
            </a:r>
          </a:p>
          <a:p/>
          <a:p>
            <a:r>
              <a:t>9. Fixed gross/head - not priced. $10,963 a month (Jan–Sep gross ÷ 272 head-months, ADP) vs the luxury $16,998: 10.7 heads over. Counted, not priced: no store personnel cost in the data.</a:t>
            </a:r>
          </a:p>
          <a:p/>
          <a:p>
            <a:r>
              <a:t>10. Video completion - not priced. 42.7% vs the group's 57.8% on 1,829 CP &amp; W ROs Jul–Sep: 1,108 more a year (x 4). Not priced.</a:t>
            </a:r>
          </a:p>
          <a:p/>
          <a:p>
            <a:r>
              <a:t>11. MPI completion - not priced. 68.5% of 1,829 CP &amp; W ROs Jul–Sep vs 90%: 1,573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$179K a year. Store proficiency 106%. Each tech under 85% raised to 85% of their own clocked hours, valued at the store's labor + parts gross per flagged hour: $15K a month x 12.</a:t>
            </a:r>
          </a:p>
          <a:p/>
          <a:p>
            <a:r>
              <a:t>2. Fuel service - $34K a year. Fuel service 2.6% vs 7.5%: 103 more a year (Jan–Sep x 12/9) x $329 gross a service.</a:t>
            </a:r>
          </a:p>
          <a:p/>
          <a:p>
            <a:r>
              <a:t>3. MPI completion - not priced. 73.0% of 953 CP &amp; W ROs Jul–Sep vs 90%: 648 more a year (x 4). Not priced.</a:t>
            </a:r>
          </a:p>
          <a:p/>
          <a:p>
            <a:r>
              <a:t>4. Video completion - not priced. 50.0% vs the group's 57.8% on 953 CP &amp; W ROs Jul–Sep: 299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$758K a year. Store proficiency 91%. Each tech under 85% raised to 85% of their own clocked hours, valued at the store's labor + parts gross per flagged hour: $63K a month x 12.</a:t>
            </a:r>
          </a:p>
          <a:p/>
          <a:p>
            <a:r>
              <a:t>2. Parts gross - $81K a year. Parts gross $2,524,684 vs $2,585,236 Jan–Sep 2025, x 12/9. Overlaps CP parts GP.</a:t>
            </a:r>
          </a:p>
          <a:p/>
          <a:p>
            <a:r>
              <a:t>3. Fuel service - $24K a year. Fuel service 5.5% vs 7.5%: 92 more a year (Jan–Sep x 12/9) x $258 gross a service.</a:t>
            </a:r>
          </a:p>
          <a:p/>
          <a:p>
            <a:r>
              <a:t>4. MPI completion - not priced. 71.1% of 2,073 CP &amp; W ROs Jul–Sep vs 90%: 1,567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$247K a year. Store proficiency 81%. Each tech under 85% raised to 85% of their own clocked hours, valued at the store's labor + parts gross per flagged hour: $21K a month x 12.</a:t>
            </a:r>
          </a:p>
          <a:p/>
          <a:p>
            <a:r>
              <a:t>2. Brake fluid - $20K a year. Brake fluid 7.2% vs 10%: 52 more a year (Jan–Sep x 12/9) x $377 gross a service.</a:t>
            </a:r>
          </a:p>
          <a:p/>
          <a:p>
            <a:r>
              <a:t>3. Fuel service - $18K a year. Fuel service 4.6% vs 7.5%: 55 more a year (Jan–Sep x 12/9) x $329 gross a service.</a:t>
            </a:r>
          </a:p>
          <a:p/>
          <a:p>
            <a:r>
              <a:t>4. Alignment - $10K a year. Alignment 12.9% vs 15%: 40 more a year (Jan–Sep x 12/9) x $259 gross a service.</a:t>
            </a:r>
          </a:p>
          <a:p/>
          <a:p>
            <a:r>
              <a:t>5. Fixed gross/head - not priced. $15,226 a month (Jan–Sep gross ÷ 145 head-months, ADP) vs the luxury $16,998: 1.7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$403K a year. 1.46 vs the non-luxury 1.75: gap x 5,701 CP ROs x $183 an hour x 12/9.</a:t>
            </a:r>
          </a:p>
          <a:p/>
          <a:p>
            <a:r>
              <a:t>2. CP labor $ per RO - $167K a year. $238 vs the non-luxury $264: gap x 5,701 CP ROs x the store's 84.4% labor GP x 12/9. Overlaps hours per RO and ELR.</a:t>
            </a:r>
          </a:p>
          <a:p/>
          <a:p>
            <a:r>
              <a:t>3. Techs under 85% - $103K a year. Store proficiency 101%. Each tech under 85% raised to 85% of their own clocked hours, valued at the store's labor + parts gross per flagged hour: $9K a month x 12.</a:t>
            </a:r>
          </a:p>
          <a:p/>
          <a:p>
            <a:r>
              <a:t>4. Fuel service - $26K a year. Fuel service 5.2% vs 7.5%: 174 more a year (Jan–Sep x 12/9) x $150 gross a service.</a:t>
            </a:r>
          </a:p>
          <a:p/>
          <a:p>
            <a:r>
              <a:t>5. Brake fluid - $18K a year. Brake fluid 8.5% vs 10%: 115 more a year (Jan–Sep x 12/9) x $154 gross a service.</a:t>
            </a:r>
          </a:p>
          <a:p/>
          <a:p>
            <a:r>
              <a:t>6. Tire balance - $11K a year. Tire balance 13.2% vs 15%: 138 more a year (Jan–Sep x 12/9) x $79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$509K a year. Store proficiency 91%. Each tech under 85% raised to 85% of their own clocked hours, valued at the store's labor + parts gross per flagged hour: $42K a month x 12.</a:t>
            </a:r>
          </a:p>
          <a:p/>
          <a:p>
            <a:r>
              <a:t>2. CP RO count - $196K a year. 430 fewer CP ROs than Jan–Sep 2025 x $342 a RO x 12/9.</a:t>
            </a:r>
          </a:p>
          <a:p/>
          <a:p>
            <a:r>
              <a:t>3. Alignment - $83K a year. Alignment 7.5% vs 15%: 700 more a year (Jan–Sep x 12/9) x $119 gross a service.</a:t>
            </a:r>
          </a:p>
          <a:p/>
          <a:p>
            <a:r>
              <a:t>4. Tire balance - $77K a year. Tire balance 1.1% vs 15%: 1,296 more a year (Jan–Sep x 12/9) x $59 gross a service.</a:t>
            </a:r>
          </a:p>
          <a:p/>
          <a:p>
            <a:r>
              <a:t>5. Fuel service - $64K a year. Fuel service 4.2% vs 7.5%: 308 more a year (Jan–Sep x 12/9) x $206 gross a service.</a:t>
            </a:r>
          </a:p>
          <a:p/>
          <a:p>
            <a:r>
              <a:t>6. Video completion - not priced. 41.9% vs the group's 57.8% on 3,129 CP &amp; W ROs Jul–Sep: 1,995 more a year (x 4). Not priced.</a:t>
            </a:r>
          </a:p>
          <a:p/>
          <a:p>
            <a:r>
              <a:t>7. Fixed gross/head - not priced. $11,957 a month (Jan–Sep gross ÷ 400 head-months, ADP) vs the non-luxury $12,714: 2.6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$524K a year. Store proficiency 96%. Each tech under 85% raised to 85% of their own clocked hours, valued at the store's labor + parts gross per flagged hour: $44K a month x 12.</a:t>
            </a:r>
          </a:p>
          <a:p/>
          <a:p>
            <a:r>
              <a:t>2. Parts gross - $383K a year. Parts gross $3,825,122 vs $4,112,388 Jan–Sep 2025, x 12/9. Overlaps CP parts GP.</a:t>
            </a:r>
          </a:p>
          <a:p/>
          <a:p>
            <a:r>
              <a:t>3. Service gross - $282K a year. Service gross $6,255,269 vs $6,466,581 Jan–Sep 2025, x 12/9. Overlaps the CP lines.</a:t>
            </a:r>
          </a:p>
          <a:p/>
          <a:p>
            <a:r>
              <a:t>4. CP RO count - $262K a year. 574 fewer CP ROs than Jan–Sep 2025 x $342 a RO x 12/9.</a:t>
            </a:r>
          </a:p>
          <a:p/>
          <a:p>
            <a:r>
              <a:t>5. Tire balance - $68K a year. Tire balance 10.2% vs 15%: 909 more a year (Jan–Sep x 12/9) x $75 gross a service.</a:t>
            </a:r>
          </a:p>
          <a:p/>
          <a:p>
            <a:r>
              <a:t>6. CP parts GP % - $13K a year. 40.2% vs the non-luxury 40.5% x $3.09M CP parts sale x 12/9.</a:t>
            </a:r>
          </a:p>
          <a:p/>
          <a:p>
            <a:r>
              <a:t>7. Fuel service - $10K a year. Fuel service 7.1% vs 7.5%: 78 more a year (Jan–Sep x 12/9) x $130 gross a service.</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$691K a year. Store proficiency 98%. Each tech under 85% raised to 85% of their own clocked hours, valued at the store's labor + parts gross per flagged hour: $58K a month x 12.</a:t>
            </a:r>
          </a:p>
          <a:p/>
          <a:p>
            <a:r>
              <a:t>2. CP labor $ per RO - $212K a year. $222 vs the non-luxury $264: gap x 5,105 CP ROs x the store's 74.1% labor GP x 12/9. Overlaps hours per RO and ELR.</a:t>
            </a:r>
          </a:p>
          <a:p/>
          <a:p>
            <a:r>
              <a:t>3. CP hours per RO - $185K a year. 1.60 vs the non-luxury 1.75: gap x 5,105 CP ROs x $183 an hour x 12/9.</a:t>
            </a:r>
          </a:p>
          <a:p/>
          <a:p>
            <a:r>
              <a:t>4. CP parts GP % - $81K a year. 34.8% vs the non-luxury 40.5% x $1.06M CP parts sale x 12/9.</a:t>
            </a:r>
          </a:p>
          <a:p/>
          <a:p>
            <a:r>
              <a:t>5. CP ELR - $78K a year. Jul–Sep CP ELR $140 vs 70% of the $210 door rate = $147; gap x 2,722 CP hours x 4.</a:t>
            </a:r>
          </a:p>
          <a:p/>
          <a:p>
            <a:r>
              <a:t>6. CP labor GP % - $58K a year. 74.1% vs 78% (bottom of the 78-80% range) x $1.13M CP labor sale x 12/9.</a:t>
            </a:r>
          </a:p>
          <a:p/>
          <a:p>
            <a:r>
              <a:t>7. Alignment - $12K a year. Alignment 12.6% vs 15%: 165 more a year (Jan–Sep x 12/9) x $73 gross a service.</a:t>
            </a:r>
          </a:p>
          <a:p/>
          <a:p>
            <a:r>
              <a:t>8. Video completion - not priced. 54.2% vs the group's 57.8% on 2,709 CP &amp; W ROs Jul–Sep: 395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$265K a year. Store proficiency 109%. Each tech under 85% raised to 85% of their own clocked hours, valued at the store's labor + parts gross per flagged hour: $22K a month x 12.</a:t>
            </a:r>
          </a:p>
          <a:p/>
          <a:p>
            <a:r>
              <a:t>2. Tire balance - $125K a year. Tire balance 3.7% vs 15%: 837 more a year (Jan–Sep x 12/9) x $149 gross a service.</a:t>
            </a:r>
          </a:p>
          <a:p/>
          <a:p>
            <a:r>
              <a:t>3. CP labor GP % - $98K a year. 73.9% vs 78% (bottom of the 78-80% range) x $1.77M CP labor sale x 12/9.</a:t>
            </a:r>
          </a:p>
          <a:p/>
          <a:p>
            <a:r>
              <a:t>4. Alignment - $23K a year. Alignment 11.1% vs 15%: 291 more a year (Jan–Sep x 12/9) x $78 gross a service.</a:t>
            </a:r>
          </a:p>
          <a:p/>
          <a:p>
            <a:r>
              <a:t>5. MPI completion - not priced. 89.0% of 2,659 CP &amp; W ROs Jul–Sep vs 90%: 106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$1.26M a year. 1.41 vs the non-luxury 1.75: gap x 15,141 CP ROs x $183 an hour x 12/9.</a:t>
            </a:r>
          </a:p>
          <a:p/>
          <a:p>
            <a:r>
              <a:t>2. CP labor $ per RO - $1.01M a year. $201 vs the non-luxury $264: gap x 15,141 CP ROs x the store's 79.1% labor GP x 12/9. Overlaps hours per RO and ELR.</a:t>
            </a:r>
          </a:p>
          <a:p/>
          <a:p>
            <a:r>
              <a:t>3. Techs under 85% - $126K a year. Store proficiency 102%. Each tech under 85% raised to 85% of their own clocked hours, valued at the store's labor + parts gross per flagged hour: $10K a month x 12.</a:t>
            </a:r>
          </a:p>
          <a:p/>
          <a:p>
            <a:r>
              <a:t>4. Tire balance - $109K a year. Tire balance 4.9% vs 15%: 2,031 more a year (Jan–Sep x 12/9) x $54 gross a service.</a:t>
            </a:r>
          </a:p>
          <a:p/>
          <a:p>
            <a:r>
              <a:t>5. Fuel service - $109K a year. Fuel service 1.7% vs 7.5%: 1,173 more a year (Jan–Sep x 12/9) x $93 gross a service.</a:t>
            </a:r>
          </a:p>
          <a:p/>
          <a:p>
            <a:r>
              <a:t>6. CP parts GP % - $108K a year. 36.9% vs the non-luxury 40.5% x $2.25M CP parts sale x 12/9.</a:t>
            </a:r>
          </a:p>
          <a:p/>
          <a:p>
            <a:r>
              <a:t>7. Alignment - $90K a year. Alignment 9.7% vs 15%: 1,066 more a year (Jan–Sep x 12/9) x $84 gross a service.</a:t>
            </a:r>
          </a:p>
          <a:p/>
          <a:p>
            <a:r>
              <a:t>8. Brake fluid - $48K a year. Brake fluid 8.1% vs 10%: 389 more a year (Jan–Sep x 12/9) x $123 gross a service.</a:t>
            </a:r>
          </a:p>
          <a:p/>
          <a:p>
            <a:r>
              <a:t>9. Fixed gross/head - not priced. $10,794 a month (Jan–Sep gross ÷ 414 head-months, ADP) vs the non-luxury $12,714: 6.9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$3.55M a year. 1.47 vs the non-luxury 1.75: gap x 53,084 CP ROs x $183 an hour x 12/9.</a:t>
            </a:r>
          </a:p>
          <a:p/>
          <a:p>
            <a:r>
              <a:t>2. CP labor $ per RO - $2.07M a year. $227 vs the non-luxury $264: gap x 53,084 CP ROs x the store's 79.4% labor GP x 12/9. Overlaps hours per RO and ELR.</a:t>
            </a:r>
          </a:p>
          <a:p/>
          <a:p>
            <a:r>
              <a:t>3. Techs under 85% - $842K a year. Store proficiency 104%. Each tech under 85% raised to 85% of their own clocked hours, valued at the store's labor + parts gross per flagged hour: $70K a month x 12.</a:t>
            </a:r>
          </a:p>
          <a:p/>
          <a:p>
            <a:r>
              <a:t>4. Tire balance - $147K a year. Tire balance 11.2% vs 15%: 2,671 more a year (Jan–Sep x 12/9) x $55 gross a service.</a:t>
            </a:r>
          </a:p>
          <a:p/>
          <a:p>
            <a:r>
              <a:t>5. Fuel service - $129K a year. Fuel service 6.0% vs 7.5%: 1,056 more a year (Jan–Sep x 12/9) x $122 gross a service.</a:t>
            </a:r>
          </a:p>
          <a:p/>
          <a:p>
            <a:r>
              <a:t>6. Alignment - $33K a year. Alignment 14.5% vs 15%: 326 more a year (Jan–Sep x 12/9) x $102 gross a service.</a:t>
            </a:r>
          </a:p>
          <a:p/>
          <a:p>
            <a:r>
              <a:t>7. CP parts GP % - $27K a year. 40.2% vs the non-luxury 40.5% x $8.12M CP parts sale x 12/9.</a:t>
            </a:r>
          </a:p>
          <a:p/>
          <a:p>
            <a:r>
              <a:t>8. Video completion - not priced. 31.7% vs the group's 57.8% on 20,413 CP &amp; W ROs Jul–Sep: 21,344 more a year (x 4). Not priced.</a:t>
            </a:r>
          </a:p>
          <a:p/>
          <a:p>
            <a:r>
              <a:t>9. MPI completion - not priced. 76.1% of 20,413 CP &amp; W ROs Jul–Sep vs 90%: 11,350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hours per RO - $1.19M a year. 1.38 vs the non-luxury 1.75: gap x 13,490 CP ROs x $183 an hour x 12/9.</a:t>
            </a:r>
          </a:p>
          <a:p/>
          <a:p>
            <a:r>
              <a:t>2. Techs under 85% - $927K a year. Store proficiency 83%. Each tech under 85% raised to 85% of their own clocked hours, valued at the store's labor + parts gross per flagged hour: $77K a month x 12.</a:t>
            </a:r>
          </a:p>
          <a:p/>
          <a:p>
            <a:r>
              <a:t>3. CP labor $ per RO - $617K a year. $220 vs the non-luxury $264: gap x 13,490 CP ROs x the store's 78.5% labor GP x 12/9. Overlaps hours per RO and ELR.</a:t>
            </a:r>
          </a:p>
          <a:p/>
          <a:p>
            <a:r>
              <a:t>4. Tire balance - $132K a year. Tire balance 6.2% vs 15%: 1,590 more a year (Jan–Sep x 12/9) x $83 gross a service.</a:t>
            </a:r>
          </a:p>
          <a:p/>
          <a:p>
            <a:r>
              <a:t>5. Alignment - $49K a year. Alignment 12.3% vs 15%: 478 more a year (Jan–Sep x 12/9) x $103 gross a service.</a:t>
            </a:r>
          </a:p>
          <a:p/>
          <a:p>
            <a:r>
              <a:t>6. Parts gross - $44K a year. Parts gross $1,447,980 vs $1,481,187 Jan–Sep 2025, x 12/9. Overlaps CP parts GP.</a:t>
            </a:r>
          </a:p>
          <a:p/>
          <a:p>
            <a:r>
              <a:t>7. CP RO count - $36K a year. 80 fewer CP ROs than Jan–Sep 2025 x $342 a RO x 12/9.</a:t>
            </a:r>
          </a:p>
          <a:p/>
          <a:p>
            <a:r>
              <a:t>8. Brake fluid - $32K a year. Brake fluid 8.4% vs 10%: 287 more a year (Jan–Sep x 12/9) x $112 gross a service.</a:t>
            </a:r>
          </a:p>
          <a:p/>
          <a:p>
            <a:r>
              <a:t>9. Fuel service - $19K a year. Fuel service 6.5% vs 7.5%: 186 more a year (Jan–Sep x 12/9) x $101 gross a service.</a:t>
            </a:r>
          </a:p>
          <a:p/>
          <a:p>
            <a:r>
              <a:t>10. Fixed gross/head - not priced. $11,044 a month (Jan–Sep gross ÷ 460 head-months, ADP) vs the non-luxury $12,714: 6.7 heads over. Counted, not priced: no store personnel cost in the data.</a:t>
            </a:r>
          </a:p>
          <a:p/>
          <a:p>
            <a:r>
              <a:t>11. MPI completion - not priced. 81.5% of 5,128 CP &amp; W ROs Jul–Sep vs 90%: 1,744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CP labor $ per RO - $1.35M a year. $187 vs the non-luxury $264: gap x 17,376 CP ROs x the store's 75.7% labor GP x 12/9. Overlaps hours per RO and ELR.</a:t>
            </a:r>
          </a:p>
          <a:p/>
          <a:p>
            <a:r>
              <a:t>2. CP hours per RO - $1.12M a year. 1.48 vs the non-luxury 1.75: gap x 17,376 CP ROs x $183 an hour x 12/9.</a:t>
            </a:r>
          </a:p>
          <a:p/>
          <a:p>
            <a:r>
              <a:t>3. Alignment - $225K a year. Alignment 4.3% vs 15%: 2,490 more a year (Jan–Sep x 12/9) x $90 gross a service.</a:t>
            </a:r>
          </a:p>
          <a:p/>
          <a:p>
            <a:r>
              <a:t>4. Tire balance - $180K a year. Tire balance 0.5% vs 15%: 3,361 more a year (Jan–Sep x 12/9) x $53 gross a service.</a:t>
            </a:r>
          </a:p>
          <a:p/>
          <a:p>
            <a:r>
              <a:t>5. CP ELR - $157K a year. Jul–Sep CP ELR $125 vs 70% of the $185 door rate = $130; gap x 8,601 CP hours x 4.</a:t>
            </a:r>
          </a:p>
          <a:p/>
          <a:p>
            <a:r>
              <a:t>6. Techs under 85% - $136K a year. Store proficiency 108%. Each tech under 85% raised to 85% of their own clocked hours, valued at the store's labor + parts gross per flagged hour: $11K a month x 12.</a:t>
            </a:r>
          </a:p>
          <a:p/>
          <a:p>
            <a:r>
              <a:t>7. CP labor GP % - $102K a year. 75.7% vs 78% (bottom of the 78-80% range) x $3.25M CP labor sale x 12/9.</a:t>
            </a:r>
          </a:p>
          <a:p/>
          <a:p>
            <a:r>
              <a:t>8. Brake fluid - $80K a year. Brake fluid 7.0% vs 10%: 683 more a year (Jan–Sep x 12/9) x $117 gross a service.</a:t>
            </a:r>
          </a:p>
          <a:p/>
          <a:p>
            <a:r>
              <a:t>9. Parts gross - $76K a year. Parts gross $2,250,197 vs $2,307,440 Jan–Sep 2025, x 12/9. Overlaps CP parts GP.</a:t>
            </a:r>
          </a:p>
          <a:p/>
          <a:p>
            <a:r>
              <a:t>10. Fuel service - $56K a year. Fuel service 5.8% vs 7.5%: 387 more a year (Jan–Sep x 12/9) x $145 gross a service.</a:t>
            </a:r>
          </a:p>
          <a:p/>
          <a:p>
            <a:r>
              <a:t>11. Fixed gross/head - not priced. $11,128 a month (Jan–Sep gross ÷ 533 head-months, ADP) vs the non-luxury $12,714: 7.4 heads over. Counted, not priced: no store personnel cost in the data.</a:t>
            </a:r>
          </a:p>
          <a:p/>
          <a:p>
            <a:r>
              <a:t>12. MPI completion - not priced. 81.3% of 6,415 CP &amp; W ROs Jul–Sep vs 90%: 2,232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$743K a year. Store proficiency 72%. Each tech under 85% raised to 85% of their own clocked hours, valued at the store's labor + parts gross per flagged hour: $62K a month x 12.</a:t>
            </a:r>
          </a:p>
          <a:p/>
          <a:p>
            <a:r>
              <a:t>2. CP hours per RO - $517K a year. 2.28 vs the luxury 2.90: gap x 3,402 CP ROs x $183 an hour x 12/9.</a:t>
            </a:r>
          </a:p>
          <a:p/>
          <a:p>
            <a:r>
              <a:t>3. CP labor $ per RO - $505K a year. $506 vs the luxury $632: gap x 3,402 CP ROs x the store's 88.6% labor GP x 12/9. Overlaps hours per RO and ELR.</a:t>
            </a:r>
          </a:p>
          <a:p/>
          <a:p>
            <a:r>
              <a:t>4. Parts gross - $67K a year. Parts gross $1,492,527 vs $1,542,570 Jan–Sep 2025, x 12/9. Overlaps CP parts GP.</a:t>
            </a:r>
          </a:p>
          <a:p/>
          <a:p>
            <a:r>
              <a:t>5. Video completion - not priced. 52.5% vs the group's 57.8% on 1,711 CP &amp; W ROs Jul–Sep: 366 more a year (x 4). Not priced.</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Service gross - $730K a year. Service gross $3,502,514 vs $4,049,724 Jan–Sep 2025, x 12/9. Overlaps the CP lines.</a:t>
            </a:r>
          </a:p>
          <a:p/>
          <a:p>
            <a:r>
              <a:t>2. Techs under 85% - $295K a year. Store proficiency 92%. Each tech under 85% raised to 85% of their own clocked hours, valued at the store's labor + parts gross per flagged hour: $25K a month x 12.</a:t>
            </a:r>
          </a:p>
          <a:p/>
          <a:p>
            <a:r>
              <a:t>3. Parts gross - $285K a year. Parts gross $1,287,787 vs $1,501,770 Jan–Sep 2025, x 12/9. Overlaps CP parts GP.</a:t>
            </a:r>
          </a:p>
          <a:p/>
          <a:p>
            <a:r>
              <a:t>4. CP parts GP % - $69K a year. 36.9% vs the non-luxury 40.5% x $1.45M CP parts sale x 12/9.</a:t>
            </a:r>
          </a:p>
          <a:p/>
          <a:p>
            <a:r>
              <a:t>5. Tire balance - $27K a year. Tire balance 8.3% vs 15%: 460 more a year (Jan–Sep x 12/9) x $60 gross a service.</a:t>
            </a:r>
          </a:p>
          <a:p/>
          <a:p>
            <a:r>
              <a:t>6. Alignment - $23K a year. Alignment 13.6% vs 15%: 96 more a year (Jan–Sep x 12/9) x $245 gross a service.</a:t>
            </a:r>
          </a:p>
          <a:p/>
          <a:p>
            <a:r>
              <a:t>7. Fixed gross/head - not priced. $12,006 a month (Jan–Sep gross ÷ 399 head-months, ADP) vs the non-luxury $12,714: 2.5 heads over. Counted, not priced: no store personnel cost in the data.</a:t>
            </a:r>
          </a:p>
          <a:p/>
          <a:p>
            <a:r>
              <a:t>Where you lead: the store's best places among the 33 on the day's measures, levels and changes on 2025 - top three, else top five, else top ten. A change counts only when it went the right way.</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opcodes), Profit &amp; Loss (gross, net profit, absorption), Jan-Sep 2026 vs 2025, same-store, INEOS and GMC Prescott body shop out; CP ELR and door rate Jul-Sep; MPI and video store-reported Jul-Sep; proficiency Qlik hours flagged / ADP clocked hours; headcount ADP. The numbers on the Day 2 slides.</a:t>
            </a:r>
          </a:p>
          <a:p/>
          <a:p>
            <a:r>
              <a:t>Every priced gap worth $10K a year or more, largest first; then the lines counted, not priced. Lines overlap and are never added. Method: the header of store-rx.mjs.</a:t>
            </a:r>
          </a:p>
          <a:p/>
          <a:p>
            <a:r>
              <a:t>1. Techs under 85% - $248K a year. Store proficiency 70%. Each tech under 85% raised to 85% of their own clocked hours, valued at the store's labor + parts gross per flagged hour: $21K a month x 12.</a:t>
            </a:r>
          </a:p>
          <a:p/>
          <a:p>
            <a:r>
              <a:t>2. Service gross - $180K a year. Service gross $588,480 vs $723,516 Jan–Sep 2025, x 12/9. Overlaps the CP lines.</a:t>
            </a:r>
          </a:p>
          <a:p/>
          <a:p>
            <a:r>
              <a:t>3. CP RO count - $151K a year. 332 fewer CP ROs than Jan–Sep 2025 x $342 a RO x 12/9.</a:t>
            </a:r>
          </a:p>
          <a:p/>
          <a:p>
            <a:r>
              <a:t>4. CP labor $ per RO - $68K a year. $231 vs the non-luxury $264: gap x 1,919 CP ROs x the store's 79.4% labor GP x 12/9. Overlaps hours per RO and ELR.</a:t>
            </a:r>
          </a:p>
          <a:p/>
          <a:p>
            <a:r>
              <a:t>5. Parts gross - $37K a year. Parts gross $379,537 vs $407,348 Jan–Sep 2025, x 12/9. Overlaps CP parts GP.</a:t>
            </a:r>
          </a:p>
          <a:p/>
          <a:p>
            <a:r>
              <a:t>6. Fuel service - $29K a year. Fuel service 2.7% vs 7.5%: 123 more a year (Jan–Sep x 12/9) x $236 gross a service.</a:t>
            </a:r>
          </a:p>
          <a:p/>
          <a:p>
            <a:r>
              <a:t>7. Tire balance - $28K a year. Tire balance 0.4% vs 15%: 373 more a year (Jan–Sep x 12/9) x $75 gross a service.</a:t>
            </a:r>
          </a:p>
          <a:p/>
          <a:p>
            <a:r>
              <a:t>8. CP hours per RO - $18K a year. 1.71 vs the non-luxury 1.75: gap x 1,919 CP ROs x $183 an hour x 12/9.</a:t>
            </a:r>
          </a:p>
          <a:p/>
          <a:p>
            <a:r>
              <a:t>9. Alignment - $18K a year. Alignment 5.6% vs 15%: 240 more a year (Jan–Sep x 12/9) x $74 gross a service.</a:t>
            </a:r>
          </a:p>
          <a:p/>
          <a:p>
            <a:r>
              <a:t>10. Brake fluid - $13K a year. Brake fluid 5.4% vs 10%: 117 more a year (Jan–Sep x 12/9) x $111 gross a service.</a:t>
            </a:r>
          </a:p>
          <a:p/>
          <a:p>
            <a:r>
              <a:t>11. MPI completion - not priced. 45.7% of 978 CP &amp; W ROs Jul–Sep vs 90%: 1,733 more a year (x 4). Not priced.</a:t>
            </a:r>
          </a:p>
          <a:p/>
          <a:p>
            <a:r>
              <a:t>12. Fixed gross/head - not priced. $9,878 a month (Jan–Sep gross ÷ 98 head-months, ADP) vs the non-luxury $12,714: 2.4 heads over. Counted, not priced: no store personnel cost in the data.</a:t>
            </a:r>
          </a:p>
          <a:p/>
          <a:p>
            <a:r>
              <a:t>13. Video completion - not priced. 48.5% vs the group's 57.8% on 978 CP &amp; W ROs Jul–Sep: 365 more a year (x 4). Not priced.</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$265 (Diesel/Corvette)</a:t>
            </a:r>
          </a:p>
          <a:p>
            <a:r>
              <a:t>AUDI HENDERSON: premium $399 (Lambo Non-Grid)</a:t>
            </a:r>
          </a:p>
          <a:p>
            <a:r>
              <a:t>VW HENDERSON: premium $210 (EV)</a:t>
            </a:r>
          </a:p>
          <a:p>
            <a:r>
              <a:t>CHEVY GMC BULLHEAD: premium $200 (Non-Standard Grid)</a:t>
            </a:r>
          </a:p>
          <a:p>
            <a:r>
              <a:t>SUBARU ST GEORGE: premium $210 (EV)</a:t>
            </a:r>
          </a:p>
          <a:p>
            <a:r>
              <a:t>HONDA FLAGSTAFF: premium $215 (EV)</a:t>
            </a:r>
          </a:p>
          <a:p>
            <a:r>
              <a:t>GMC PRESCOTT: premium $230 (EV)</a:t>
            </a:r>
          </a:p>
          <a:p>
            <a:r>
              <a:t>KIA ST GEORGE: premium $195 (EV)</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Jul–Sep: 25 of 33 stores realize at least 70% of door rate; the group is at 74.7%. Audi Reno leads at 103.4%; Cadillac is lowest at 61.5%.Source: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 / door $236 = 103.4%</a:t>
            </a:r>
          </a:p>
          <a:p>
            <a:r>
              <a:t>VOLVO: ELR $225 / door $250 = 90.2%</a:t>
            </a:r>
          </a:p>
          <a:p>
            <a:r>
              <a:t>CHEVY GMC BULLHEAD: ELR $162 / door $180 = 89.9%</a:t>
            </a:r>
          </a:p>
          <a:p>
            <a:r>
              <a:t>HYUNDAI ST GEORGE: ELR $166 / door $185 = 89.7%</a:t>
            </a:r>
          </a:p>
          <a:p>
            <a:r>
              <a:t>ACURA: ELR $199 / door $225 = 88.5%</a:t>
            </a:r>
          </a:p>
          <a:p>
            <a:r>
              <a:t>LR RENO: ELR $239 / door $275 = 86.7%</a:t>
            </a:r>
          </a:p>
          <a:p>
            <a:r>
              <a:t>HONDA FLAGSTAFF: ELR $160 / door $185 = 86.3%</a:t>
            </a:r>
          </a:p>
          <a:p>
            <a:r>
              <a:t>HONDA SPOKANE: ELR $148 / door $179 = 82.6%</a:t>
            </a:r>
          </a:p>
          <a:p>
            <a:r>
              <a:t>LEXUS: ELR $187 / door $230 = 81.5%</a:t>
            </a:r>
          </a:p>
          <a:p>
            <a:r>
              <a:t>CDJR POST FALLS: ELR $162 / door $200 = 80.9%</a:t>
            </a:r>
          </a:p>
          <a:p>
            <a:r>
              <a:t>TOYOTA PRESCOTT: ELR $156 / door $195 = 79.8%</a:t>
            </a:r>
          </a:p>
          <a:p>
            <a:r>
              <a:t>LR HENDERSON: ELR $234 / door $295 = 79.5%</a:t>
            </a:r>
          </a:p>
          <a:p>
            <a:r>
              <a:t>KIA ST GEORGE: ELR $146 / door $185 = 78.9%</a:t>
            </a:r>
          </a:p>
          <a:p>
            <a:r>
              <a:t>MAZDA: ELR $166 / door $210 = 78.9%</a:t>
            </a:r>
          </a:p>
          <a:p>
            <a:r>
              <a:t>VW HENDERSON: ELR $161 / door $205 = 78.5%</a:t>
            </a:r>
          </a:p>
          <a:p>
            <a:r>
              <a:t>VW ST GEORGE: ELR $142 / door $185 = 76.7%</a:t>
            </a:r>
          </a:p>
          <a:p>
            <a:r>
              <a:t>AUDI HENDERSON: ELR $267 / door $349 = 76.4%</a:t>
            </a:r>
          </a:p>
          <a:p>
            <a:r>
              <a:t>LR LV: ELR $234 / door $310 = 75.4%</a:t>
            </a:r>
          </a:p>
          <a:p>
            <a:r>
              <a:t>SUBARU LV: ELR $162 / door $215 = 75.2%</a:t>
            </a:r>
          </a:p>
          <a:p>
            <a:r>
              <a:t>NISSAN: ELR $180 / door $240 = 75.1%</a:t>
            </a:r>
          </a:p>
          <a:p>
            <a:r>
              <a:t>TOYOTA FLAGSTAFF: ELR $143 / door $190 = 75.0%</a:t>
            </a:r>
          </a:p>
          <a:p>
            <a:r>
              <a:t>SUBARU ST GEORGE: ELR $137 / door $185 = 73.8%</a:t>
            </a:r>
          </a:p>
          <a:p>
            <a:r>
              <a:t>TOYOTA HENDERSON: ELR $155 / door $211 = 73.1%</a:t>
            </a:r>
          </a:p>
          <a:p>
            <a:r>
              <a:t>HONDA HENDERSON: ELR $153 / door $212 = 72.4%</a:t>
            </a:r>
          </a:p>
          <a:p>
            <a:r>
              <a:t>HONDA NORTH: ELR $150 / door $212 = 70.6%</a:t>
            </a:r>
          </a:p>
          <a:p>
            <a:r>
              <a:t>KIA LV: ELR $151 / door $220 = 68.5%</a:t>
            </a:r>
          </a:p>
          <a:p>
            <a:r>
              <a:t>LINCOLN: ELR $167 / door $245 = 68.2%</a:t>
            </a:r>
          </a:p>
          <a:p>
            <a:r>
              <a:t>TOYOTA SPOKANE: ELR $125 / door $185 = 67.5%</a:t>
            </a:r>
          </a:p>
          <a:p>
            <a:r>
              <a:t>GMC PRESCOTT: ELR $147 / door $220 = 66.7%</a:t>
            </a:r>
          </a:p>
          <a:p>
            <a:r>
              <a:t>SUBARU PRESCOTT: ELR $140 / door $210 = 66.5%</a:t>
            </a:r>
          </a:p>
          <a:p>
            <a:r>
              <a:t>CHEVY LV: ELR $146 / door $225 = 65.0%</a:t>
            </a:r>
          </a:p>
          <a:p>
            <a:r>
              <a:t>HYUNDAI PRESCOTT: ELR $136 / door $210 = 64.8%</a:t>
            </a:r>
          </a:p>
          <a:p>
            <a:r>
              <a:t>CADILLAC: ELR $175 / door $285 = 61.5%</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17 of 33 stores raised ROs per advisor, led by Honda Flagstaff at +40 to 175. 16 declined; Toyota Spokane fell most at −59.Source: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Honda Flagstaff, Hyundai Prescott and Toyota Flagstaff what changed. Ask Toyota Spokane, VW St George and Nissan what got in the way. Ask Mazda, Honda North and Honda Spokane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manager, led by Toyota Henderson at +182 to 1,022. 11 declined; Mazda fell most at −281.Source: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Toyota Henderson, Toyota Spokane and Toyota Prescott what changed. Ask Mazda, Subaru St George and Honda Spokane what got in the way. Ask Toyota Prescott, Toyota Henderson and VW St George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22 of 33 stores raised ROs per fixed employee, led by Hyundai Prescott at +6.9 to 31.4. 11 declined; Kia St George fell most at −6.6.Source: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Ask Hyundai Prescott, Kia LV and Hyundai St George what changed. Ask Kia St George, Mazda and VW St George what got in the way. Ask Subaru St George, CDJR Post Falls and Hyundai Prescott what they started this year.Source: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$224 to $298,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Lexus went 425 to 570,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1.35 to 1.65,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VW St George went $128.27 to $141.89, stepping up in June.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went 39.4% to 46.6%, stepping up in April.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$155K to $209K,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Audi Henderson went 21.1% to 31.7%, stepping up in May.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10.1% to 19.3%,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5.2% to 14.1%,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Mazda went 2.5% to 10.7%, stepping up in August. Ask what changed that month.Source: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makes three of six lists; three stores make two.Source: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and Kia St George each make three of six lists.Source: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has 6 top-3 finishes of 12. 8 stores make a top-3 list in both periods.Source: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Kia LV leads Jan–Sep; LR Reno leads the last 90 days.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Hyundai St George leads both periods. Hyundai St George and Kia St George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Honda Spokane leads Jan–Sep; Lincoln leads the last 90 days. Five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Lincoln leads both periods. Three stores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Takeaway with the store call-outs (off the slide): Acura leads both periods. Acura and Subaru Prescott are top five in both.Source: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chart" Target="../charts/chart12.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xml"/><Relationship Id="rId3" Type="http://schemas.openxmlformats.org/officeDocument/2006/relationships/chart" Target="../charts/chart14.xml"/><Relationship Id="rId4" Type="http://schemas.openxmlformats.org/officeDocument/2006/relationships/chart" Target="../charts/chart15.xml"/><Relationship Id="rId5" Type="http://schemas.openxmlformats.org/officeDocument/2006/relationships/chart" Target="../charts/chart16.xml"/><Relationship Id="rId6" Type="http://schemas.openxmlformats.org/officeDocument/2006/relationships/chart" Target="../charts/chart17.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xml"/><Relationship Id="rId3" Type="http://schemas.openxmlformats.org/officeDocument/2006/relationships/chart" Target="../charts/chart19.xml"/><Relationship Id="rId4" Type="http://schemas.openxmlformats.org/officeDocument/2006/relationships/chart" Target="../charts/chart20.xml"/><Relationship Id="rId5" Type="http://schemas.openxmlformats.org/officeDocument/2006/relationships/chart" Target="../charts/chart21.xml"/><Relationship Id="rId6" Type="http://schemas.openxmlformats.org/officeDocument/2006/relationships/chart" Target="../charts/chart22.xml"/><Relationship Id="rId7" Type="http://schemas.openxmlformats.org/officeDocument/2006/relationships/chart" Target="../charts/chart23.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xml"/><Relationship Id="rId3" Type="http://schemas.openxmlformats.org/officeDocument/2006/relationships/chart" Target="../charts/chart25.xml"/><Relationship Id="rId4" Type="http://schemas.openxmlformats.org/officeDocument/2006/relationships/chart" Target="../charts/chart26.xml"/><Relationship Id="rId5" Type="http://schemas.openxmlformats.org/officeDocument/2006/relationships/chart" Target="../charts/chart27.xml"/><Relationship Id="rId6" Type="http://schemas.openxmlformats.org/officeDocument/2006/relationships/chart" Target="../charts/chart28.xml"/><Relationship Id="rId7" Type="http://schemas.openxmlformats.org/officeDocument/2006/relationships/chart" Target="../charts/chart29.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xml"/><Relationship Id="rId3" Type="http://schemas.openxmlformats.org/officeDocument/2006/relationships/chart" Target="../charts/chart31.xml"/><Relationship Id="rId4" Type="http://schemas.openxmlformats.org/officeDocument/2006/relationships/chart" Target="../charts/chart32.xml"/><Relationship Id="rId5" Type="http://schemas.openxmlformats.org/officeDocument/2006/relationships/chart" Target="../charts/chart33.xml"/><Relationship Id="rId6" Type="http://schemas.openxmlformats.org/officeDocument/2006/relationships/chart" Target="../charts/chart34.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xml"/><Relationship Id="rId3" Type="http://schemas.openxmlformats.org/officeDocument/2006/relationships/chart" Target="../charts/chart36.xml"/><Relationship Id="rId4" Type="http://schemas.openxmlformats.org/officeDocument/2006/relationships/chart" Target="../charts/chart37.xml"/><Relationship Id="rId5" Type="http://schemas.openxmlformats.org/officeDocument/2006/relationships/chart" Target="../charts/chart38.xml"/><Relationship Id="rId6" Type="http://schemas.openxmlformats.org/officeDocument/2006/relationships/chart" Target="../charts/chart39.xml"/><Relationship Id="rId7" Type="http://schemas.openxmlformats.org/officeDocument/2006/relationships/chart" Target="../charts/chart40.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xml"/><Relationship Id="rId3" Type="http://schemas.openxmlformats.org/officeDocument/2006/relationships/chart" Target="../charts/chart42.xml"/><Relationship Id="rId4" Type="http://schemas.openxmlformats.org/officeDocument/2006/relationships/chart" Target="../charts/chart43.xml"/><Relationship Id="rId5" Type="http://schemas.openxmlformats.org/officeDocument/2006/relationships/chart" Target="../charts/chart44.xml"/><Relationship Id="rId6" Type="http://schemas.openxmlformats.org/officeDocument/2006/relationships/chart" Target="../charts/chart45.xml"/><Relationship Id="rId7" Type="http://schemas.openxmlformats.org/officeDocument/2006/relationships/chart" Target="../charts/chart46.xml"/><Relationship Id="rId8"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xml"/><Relationship Id="rId3" Type="http://schemas.openxmlformats.org/officeDocument/2006/relationships/chart" Target="../charts/chart48.xml"/><Relationship Id="rId4" Type="http://schemas.openxmlformats.org/officeDocument/2006/relationships/chart" Target="../charts/chart49.xml"/><Relationship Id="rId5" Type="http://schemas.openxmlformats.org/officeDocument/2006/relationships/chart" Target="../charts/chart50.xml"/><Relationship Id="rId6" Type="http://schemas.openxmlformats.org/officeDocument/2006/relationships/chart" Target="../charts/chart51.xml"/><Relationship Id="rId7" Type="http://schemas.openxmlformats.org/officeDocument/2006/relationships/chart" Target="../charts/chart52.xml"/><Relationship Id="rId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chart" Target="../charts/chart57.xml"/><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chart" Target="../charts/chart72.xml"/><Relationship Id="rId7" Type="http://schemas.openxmlformats.org/officeDocument/2006/relationships/chart" Target="../charts/chart73.xml"/><Relationship Id="rId8" Type="http://schemas.openxmlformats.org/officeDocument/2006/relationships/chart" Target="../charts/chart74.xml"/><Relationship Id="rId9" Type="http://schemas.openxmlformats.org/officeDocument/2006/relationships/chart" Target="../charts/chart75.xml"/><Relationship Id="rId10"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chart" Target="../charts/chart91.xml"/><Relationship Id="rId7" Type="http://schemas.openxmlformats.org/officeDocument/2006/relationships/chart" Target="../charts/chart92.xml"/><Relationship Id="rId8"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3.xml"/><Relationship Id="rId3" Type="http://schemas.openxmlformats.org/officeDocument/2006/relationships/chart" Target="../charts/chart94.xml"/><Relationship Id="rId4" Type="http://schemas.openxmlformats.org/officeDocument/2006/relationships/chart" Target="../charts/chart95.xml"/><Relationship Id="rId5" Type="http://schemas.openxmlformats.org/officeDocument/2006/relationships/chart" Target="../charts/chart96.xml"/><Relationship Id="rId6" Type="http://schemas.openxmlformats.org/officeDocument/2006/relationships/chart" Target="../charts/chart97.xml"/><Relationship Id="rId7" Type="http://schemas.openxmlformats.org/officeDocument/2006/relationships/chart" Target="../charts/chart98.xml"/><Relationship Id="rId8"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9.xml"/><Relationship Id="rId3" Type="http://schemas.openxmlformats.org/officeDocument/2006/relationships/chart" Target="../charts/chart100.xml"/><Relationship Id="rId4" Type="http://schemas.openxmlformats.org/officeDocument/2006/relationships/chart" Target="../charts/chart101.xml"/><Relationship Id="rId5" Type="http://schemas.openxmlformats.org/officeDocument/2006/relationships/chart" Target="../charts/chart102.xml"/><Relationship Id="rId6" Type="http://schemas.openxmlformats.org/officeDocument/2006/relationships/chart" Target="../charts/chart103.xml"/><Relationship Id="rId7" Type="http://schemas.openxmlformats.org/officeDocument/2006/relationships/chart" Target="../charts/chart104.xml"/><Relationship Id="rId8"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5.xml"/><Relationship Id="rId3" Type="http://schemas.openxmlformats.org/officeDocument/2006/relationships/chart" Target="../charts/chart106.xml"/><Relationship Id="rId4" Type="http://schemas.openxmlformats.org/officeDocument/2006/relationships/chart" Target="../charts/chart107.xml"/><Relationship Id="rId5" Type="http://schemas.openxmlformats.org/officeDocument/2006/relationships/chart" Target="../charts/chart108.xml"/><Relationship Id="rId6" Type="http://schemas.openxmlformats.org/officeDocument/2006/relationships/chart" Target="../charts/chart109.xml"/><Relationship Id="rId7" Type="http://schemas.openxmlformats.org/officeDocument/2006/relationships/chart" Target="../charts/chart110.xml"/><Relationship Id="rId8"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chart" Target="../charts/chart122.xml"/><Relationship Id="rId8"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chart" Target="../charts/chart127.xml"/><Relationship Id="rId7"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8.xml"/><Relationship Id="rId3" Type="http://schemas.openxmlformats.org/officeDocument/2006/relationships/chart" Target="../charts/chart129.xml"/><Relationship Id="rId4" Type="http://schemas.openxmlformats.org/officeDocument/2006/relationships/chart" Target="../charts/chart130.xml"/><Relationship Id="rId5" Type="http://schemas.openxmlformats.org/officeDocument/2006/relationships/chart" Target="../charts/chart131.xml"/><Relationship Id="rId6" Type="http://schemas.openxmlformats.org/officeDocument/2006/relationships/chart" Target="../charts/chart132.xml"/><Relationship Id="rId7"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3.xml"/><Relationship Id="rId3" Type="http://schemas.openxmlformats.org/officeDocument/2006/relationships/chart" Target="../charts/chart134.xml"/><Relationship Id="rId4"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notesSlide" Target="../notesSlides/notesSlide205.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6.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3.xml"/><Relationship Id="rId3" Type="http://schemas.openxmlformats.org/officeDocument/2006/relationships/chart" Target="../charts/chart154.xml"/><Relationship Id="rId4" Type="http://schemas.openxmlformats.org/officeDocument/2006/relationships/chart" Target="../charts/chart155.xml"/><Relationship Id="rId5" Type="http://schemas.openxmlformats.org/officeDocument/2006/relationships/chart" Target="../charts/chart156.xml"/><Relationship Id="rId6" Type="http://schemas.openxmlformats.org/officeDocument/2006/relationships/chart" Target="../charts/chart157.xml"/><Relationship Id="rId7" Type="http://schemas.openxmlformats.org/officeDocument/2006/relationships/chart" Target="../charts/chart158.xml"/><Relationship Id="rId8" Type="http://schemas.openxmlformats.org/officeDocument/2006/relationships/notesSlide" Target="../notesSlides/notesSlide209.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2.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3.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9.xml"/><Relationship Id="rId3" Type="http://schemas.openxmlformats.org/officeDocument/2006/relationships/chart" Target="../charts/chart160.xml"/><Relationship Id="rId4" Type="http://schemas.openxmlformats.org/officeDocument/2006/relationships/chart" Target="../charts/chart161.xml"/><Relationship Id="rId5" Type="http://schemas.openxmlformats.org/officeDocument/2006/relationships/chart" Target="../charts/chart162.xml"/><Relationship Id="rId6" Type="http://schemas.openxmlformats.org/officeDocument/2006/relationships/chart" Target="../charts/chart163.xml"/><Relationship Id="rId7" Type="http://schemas.openxmlformats.org/officeDocument/2006/relationships/chart" Target="../charts/chart164.xml"/><Relationship Id="rId8" Type="http://schemas.openxmlformats.org/officeDocument/2006/relationships/chart" Target="../charts/chart165.xml"/><Relationship Id="rId9" Type="http://schemas.openxmlformats.org/officeDocument/2006/relationships/chart" Target="../charts/chart166.xml"/><Relationship Id="rId10" Type="http://schemas.openxmlformats.org/officeDocument/2006/relationships/chart" Target="../charts/chart167.xml"/><Relationship Id="rId11" Type="http://schemas.openxmlformats.org/officeDocument/2006/relationships/chart" Target="../charts/chart168.xml"/><Relationship Id="rId1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chart" Target="../charts/chart175.xml"/><Relationship Id="rId9" Type="http://schemas.openxmlformats.org/officeDocument/2006/relationships/chart" Target="../charts/chart176.xml"/><Relationship Id="rId10" Type="http://schemas.openxmlformats.org/officeDocument/2006/relationships/chart" Target="../charts/chart177.xml"/><Relationship Id="rId11" Type="http://schemas.openxmlformats.org/officeDocument/2006/relationships/chart" Target="../charts/chart178.xml"/><Relationship Id="rId12" Type="http://schemas.openxmlformats.org/officeDocument/2006/relationships/notesSlide" Target="../notesSlides/notesSlide215.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chart" Target="../charts/chart185.xml"/><Relationship Id="rId9" Type="http://schemas.openxmlformats.org/officeDocument/2006/relationships/chart" Target="../charts/chart186.xml"/><Relationship Id="rId10" Type="http://schemas.openxmlformats.org/officeDocument/2006/relationships/chart" Target="../charts/chart187.xml"/><Relationship Id="rId11" Type="http://schemas.openxmlformats.org/officeDocument/2006/relationships/chart" Target="../charts/chart188.xml"/><Relationship Id="rId12" Type="http://schemas.openxmlformats.org/officeDocument/2006/relationships/notesSlide" Target="../notesSlides/notesSlide216.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9.xml"/><Relationship Id="rId3" Type="http://schemas.openxmlformats.org/officeDocument/2006/relationships/chart" Target="../charts/chart190.xml"/><Relationship Id="rId4" Type="http://schemas.openxmlformats.org/officeDocument/2006/relationships/chart" Target="../charts/chart191.xml"/><Relationship Id="rId5" Type="http://schemas.openxmlformats.org/officeDocument/2006/relationships/chart" Target="../charts/chart192.xml"/><Relationship Id="rId6" Type="http://schemas.openxmlformats.org/officeDocument/2006/relationships/chart" Target="../charts/chart193.xml"/><Relationship Id="rId7" Type="http://schemas.openxmlformats.org/officeDocument/2006/relationships/chart" Target="../charts/chart194.xml"/><Relationship Id="rId8" Type="http://schemas.openxmlformats.org/officeDocument/2006/relationships/chart" Target="../charts/chart195.xml"/><Relationship Id="rId9" Type="http://schemas.openxmlformats.org/officeDocument/2006/relationships/chart" Target="../charts/chart196.xml"/><Relationship Id="rId10" Type="http://schemas.openxmlformats.org/officeDocument/2006/relationships/chart" Target="../charts/chart197.xml"/><Relationship Id="rId11" Type="http://schemas.openxmlformats.org/officeDocument/2006/relationships/chart" Target="../charts/chart198.xml"/><Relationship Id="rId12" Type="http://schemas.openxmlformats.org/officeDocument/2006/relationships/notesSlide" Target="../notesSlides/notesSlide217.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9.xml"/><Relationship Id="rId3" Type="http://schemas.openxmlformats.org/officeDocument/2006/relationships/chart" Target="../charts/chart200.xml"/><Relationship Id="rId4" Type="http://schemas.openxmlformats.org/officeDocument/2006/relationships/chart" Target="../charts/chart201.xml"/><Relationship Id="rId5" Type="http://schemas.openxmlformats.org/officeDocument/2006/relationships/chart" Target="../charts/chart202.xml"/><Relationship Id="rId6" Type="http://schemas.openxmlformats.org/officeDocument/2006/relationships/chart" Target="../charts/chart203.xml"/><Relationship Id="rId7" Type="http://schemas.openxmlformats.org/officeDocument/2006/relationships/chart" Target="../charts/chart204.xml"/><Relationship Id="rId8" Type="http://schemas.openxmlformats.org/officeDocument/2006/relationships/chart" Target="../charts/chart205.xml"/><Relationship Id="rId9" Type="http://schemas.openxmlformats.org/officeDocument/2006/relationships/chart" Target="../charts/chart206.xml"/><Relationship Id="rId10" Type="http://schemas.openxmlformats.org/officeDocument/2006/relationships/chart" Target="../charts/chart207.xml"/><Relationship Id="rId11" Type="http://schemas.openxmlformats.org/officeDocument/2006/relationships/chart" Target="../charts/chart208.xml"/><Relationship Id="rId12" Type="http://schemas.openxmlformats.org/officeDocument/2006/relationships/notesSlide" Target="../notesSlides/notesSlide218.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9.xml"/><Relationship Id="rId3" Type="http://schemas.openxmlformats.org/officeDocument/2006/relationships/chart" Target="../charts/chart210.xml"/><Relationship Id="rId4" Type="http://schemas.openxmlformats.org/officeDocument/2006/relationships/chart" Target="../charts/chart211.xml"/><Relationship Id="rId5" Type="http://schemas.openxmlformats.org/officeDocument/2006/relationships/chart" Target="../charts/chart212.xml"/><Relationship Id="rId6" Type="http://schemas.openxmlformats.org/officeDocument/2006/relationships/chart" Target="../charts/chart213.xml"/><Relationship Id="rId7" Type="http://schemas.openxmlformats.org/officeDocument/2006/relationships/chart" Target="../charts/chart214.xml"/><Relationship Id="rId8" Type="http://schemas.openxmlformats.org/officeDocument/2006/relationships/chart" Target="../charts/chart215.xml"/><Relationship Id="rId9" Type="http://schemas.openxmlformats.org/officeDocument/2006/relationships/chart" Target="../charts/chart216.xml"/><Relationship Id="rId10" Type="http://schemas.openxmlformats.org/officeDocument/2006/relationships/chart" Target="../charts/chart217.xml"/><Relationship Id="rId11" Type="http://schemas.openxmlformats.org/officeDocument/2006/relationships/chart" Target="../charts/chart218.xml"/><Relationship Id="rId12" Type="http://schemas.openxmlformats.org/officeDocument/2006/relationships/notesSlide" Target="../notesSlides/notesSlide219.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9.xml"/><Relationship Id="rId3" Type="http://schemas.openxmlformats.org/officeDocument/2006/relationships/chart" Target="../charts/chart220.xml"/><Relationship Id="rId4" Type="http://schemas.openxmlformats.org/officeDocument/2006/relationships/chart" Target="../charts/chart221.xml"/><Relationship Id="rId5" Type="http://schemas.openxmlformats.org/officeDocument/2006/relationships/chart" Target="../charts/chart222.xml"/><Relationship Id="rId6" Type="http://schemas.openxmlformats.org/officeDocument/2006/relationships/chart" Target="../charts/chart223.xml"/><Relationship Id="rId7" Type="http://schemas.openxmlformats.org/officeDocument/2006/relationships/notesSlide" Target="../notesSlides/notesSlide220.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4.xml"/><Relationship Id="rId3" Type="http://schemas.openxmlformats.org/officeDocument/2006/relationships/chart" Target="../charts/chart225.xml"/><Relationship Id="rId4" Type="http://schemas.openxmlformats.org/officeDocument/2006/relationships/chart" Target="../charts/chart226.xml"/><Relationship Id="rId5" Type="http://schemas.openxmlformats.org/officeDocument/2006/relationships/chart" Target="../charts/chart227.xml"/><Relationship Id="rId6" Type="http://schemas.openxmlformats.org/officeDocument/2006/relationships/chart" Target="../charts/chart228.xml"/><Relationship Id="rId7" Type="http://schemas.openxmlformats.org/officeDocument/2006/relationships/notesSlide" Target="../notesSlides/notesSlide22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9.xml"/><Relationship Id="rId3" Type="http://schemas.openxmlformats.org/officeDocument/2006/relationships/chart" Target="../charts/chart230.xml"/><Relationship Id="rId4" Type="http://schemas.openxmlformats.org/officeDocument/2006/relationships/chart" Target="../charts/chart231.xml"/><Relationship Id="rId5" Type="http://schemas.openxmlformats.org/officeDocument/2006/relationships/chart" Target="../charts/chart232.xml"/><Relationship Id="rId6" Type="http://schemas.openxmlformats.org/officeDocument/2006/relationships/chart" Target="../charts/chart233.xml"/><Relationship Id="rId7"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4.xml"/><Relationship Id="rId3" Type="http://schemas.openxmlformats.org/officeDocument/2006/relationships/chart" Target="../charts/chart235.xml"/><Relationship Id="rId4" Type="http://schemas.openxmlformats.org/officeDocument/2006/relationships/chart" Target="../charts/chart236.xml"/><Relationship Id="rId5" Type="http://schemas.openxmlformats.org/officeDocument/2006/relationships/chart" Target="../charts/chart237.xml"/><Relationship Id="rId6" Type="http://schemas.openxmlformats.org/officeDocument/2006/relationships/chart" Target="../charts/chart238.xml"/><Relationship Id="rId7" Type="http://schemas.openxmlformats.org/officeDocument/2006/relationships/notesSlide" Target="../notesSlides/notesSlide223.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9.xml"/><Relationship Id="rId3" Type="http://schemas.openxmlformats.org/officeDocument/2006/relationships/chart" Target="../charts/chart240.xml"/><Relationship Id="rId4" Type="http://schemas.openxmlformats.org/officeDocument/2006/relationships/chart" Target="../charts/chart241.xml"/><Relationship Id="rId5" Type="http://schemas.openxmlformats.org/officeDocument/2006/relationships/chart" Target="../charts/chart242.xml"/><Relationship Id="rId6" Type="http://schemas.openxmlformats.org/officeDocument/2006/relationships/chart" Target="../charts/chart243.xml"/><Relationship Id="rId7" Type="http://schemas.openxmlformats.org/officeDocument/2006/relationships/notesSlide" Target="../notesSlides/notesSlide224.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4.xml"/><Relationship Id="rId3" Type="http://schemas.openxmlformats.org/officeDocument/2006/relationships/chart" Target="../charts/chart245.xml"/><Relationship Id="rId4" Type="http://schemas.openxmlformats.org/officeDocument/2006/relationships/chart" Target="../charts/chart246.xml"/><Relationship Id="rId5" Type="http://schemas.openxmlformats.org/officeDocument/2006/relationships/chart" Target="../charts/chart247.xml"/><Relationship Id="rId6" Type="http://schemas.openxmlformats.org/officeDocument/2006/relationships/chart" Target="../charts/chart248.xml"/><Relationship Id="rId7" Type="http://schemas.openxmlformats.org/officeDocument/2006/relationships/notesSlide" Target="../notesSlides/notesSlide225.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9.xml"/><Relationship Id="rId3" Type="http://schemas.openxmlformats.org/officeDocument/2006/relationships/chart" Target="../charts/chart250.xml"/><Relationship Id="rId4" Type="http://schemas.openxmlformats.org/officeDocument/2006/relationships/chart" Target="../charts/chart251.xml"/><Relationship Id="rId5" Type="http://schemas.openxmlformats.org/officeDocument/2006/relationships/chart" Target="../charts/chart252.xml"/><Relationship Id="rId6" Type="http://schemas.openxmlformats.org/officeDocument/2006/relationships/chart" Target="../charts/chart253.xml"/><Relationship Id="rId7"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4.xml"/><Relationship Id="rId3" Type="http://schemas.openxmlformats.org/officeDocument/2006/relationships/chart" Target="../charts/chart255.xml"/><Relationship Id="rId4" Type="http://schemas.openxmlformats.org/officeDocument/2006/relationships/chart" Target="../charts/chart256.xml"/><Relationship Id="rId5" Type="http://schemas.openxmlformats.org/officeDocument/2006/relationships/chart" Target="../charts/chart257.xml"/><Relationship Id="rId6" Type="http://schemas.openxmlformats.org/officeDocument/2006/relationships/chart" Target="../charts/chart258.xml"/><Relationship Id="rId7" Type="http://schemas.openxmlformats.org/officeDocument/2006/relationships/notesSlide" Target="../notesSlides/notesSlide227.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9.xml"/><Relationship Id="rId3" Type="http://schemas.openxmlformats.org/officeDocument/2006/relationships/chart" Target="../charts/chart260.xml"/><Relationship Id="rId4" Type="http://schemas.openxmlformats.org/officeDocument/2006/relationships/chart" Target="../charts/chart261.xml"/><Relationship Id="rId5" Type="http://schemas.openxmlformats.org/officeDocument/2006/relationships/chart" Target="../charts/chart262.xml"/><Relationship Id="rId6" Type="http://schemas.openxmlformats.org/officeDocument/2006/relationships/chart" Target="../charts/chart263.xml"/><Relationship Id="rId7" Type="http://schemas.openxmlformats.org/officeDocument/2006/relationships/notesSlide" Target="../notesSlides/notesSlide228.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9.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0.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1.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2.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3.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5.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6.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Warranty rates, margins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what we commit to.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Productivity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parts and service generate after their allocated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best September at +$1.61M.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41969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154907"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7588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86722"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60690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486134"/>
            <a:ext cx="529462"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77227"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4008956"/>
            <a:ext cx="424033"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421495"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531777"/>
            <a:ext cx="31069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793188"/>
            <a:ext cx="308094"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5054599"/>
            <a:ext cx="27993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273031"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577420"/>
            <a:ext cx="272418"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838831"/>
            <a:ext cx="261785"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25469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7669"/>
            <a:ext cx="230085"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79080"/>
            <a:ext cx="210561"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186954"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701901"/>
            <a:ext cx="16468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963312"/>
            <a:ext cx="163331"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224723"/>
            <a:ext cx="158180"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486134"/>
            <a:ext cx="1172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11120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4008956"/>
            <a:ext cx="99951"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270366"/>
            <a:ext cx="3002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2519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22055"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5054599"/>
            <a:ext cx="1856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316010"/>
            <a:ext cx="18288"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18288" cy="120249"/>
          </a:xfrm>
          <a:prstGeom prst="rect">
            <a:avLst/>
          </a:prstGeom>
          <a:solidFill>
            <a:srgbClr val="C2352F"/>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838831"/>
            <a:ext cx="31883" cy="120249"/>
          </a:xfrm>
          <a:prstGeom prst="rect">
            <a:avLst/>
          </a:prstGeom>
          <a:solidFill>
            <a:srgbClr val="C2352F"/>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4" name="Shape 191"/>
          <p:cNvSpPr/>
          <p:nvPr/>
        </p:nvSpPr>
        <p:spPr>
          <a:xfrm>
            <a:off x="457200" y="6126480"/>
            <a:ext cx="11274552" cy="371856"/>
          </a:xfrm>
          <a:prstGeom prst="rect">
            <a:avLst/>
          </a:prstGeom>
          <a:solidFill>
            <a:srgbClr val="EDF4FA"/>
          </a:solidFill>
          <a:ln/>
        </p:spPr>
      </p:sp>
      <p:sp>
        <p:nvSpPr>
          <p:cNvPr id="195" name="Text 19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 of 33 stores grew fixed ops net profit, January through September year to date.</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Shape 31"/>
          <p:cNvSpPr/>
          <p:nvPr/>
        </p:nvSpPr>
        <p:spPr>
          <a:xfrm>
            <a:off x="7775448" y="2139696"/>
            <a:ext cx="64008" cy="755294"/>
          </a:xfrm>
          <a:prstGeom prst="rect">
            <a:avLst/>
          </a:prstGeom>
          <a:solidFill>
            <a:srgbClr val="2587C5"/>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59" name="Shape 57"/>
          <p:cNvSpPr/>
          <p:nvPr/>
        </p:nvSpPr>
        <p:spPr>
          <a:xfrm>
            <a:off x="11466576" y="2968142"/>
            <a:ext cx="64008" cy="755294"/>
          </a:xfrm>
          <a:prstGeom prst="rect">
            <a:avLst/>
          </a:prstGeom>
          <a:solidFill>
            <a:srgbClr val="12A566"/>
          </a:solidFill>
          <a:ln/>
        </p:spPr>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Shape 62"/>
          <p:cNvSpPr/>
          <p:nvPr/>
        </p:nvSpPr>
        <p:spPr>
          <a:xfrm>
            <a:off x="11466576" y="3796589"/>
            <a:ext cx="64008" cy="755294"/>
          </a:xfrm>
          <a:prstGeom prst="rect">
            <a:avLst/>
          </a:prstGeom>
          <a:solidFill>
            <a:srgbClr val="2587C5"/>
          </a:solidFill>
          <a:ln/>
        </p:spPr>
      </p:sp>
      <p:sp>
        <p:nvSpPr>
          <p:cNvPr id="65" name="Text 63"/>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6" name="Text 64"/>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67" name="Text 65"/>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68" name="Text 66"/>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9" name="Text 67"/>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70" name="Text 68"/>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71" name="Shape 69"/>
          <p:cNvSpPr/>
          <p:nvPr/>
        </p:nvSpPr>
        <p:spPr>
          <a:xfrm>
            <a:off x="8040624" y="5416906"/>
            <a:ext cx="3489960" cy="828446"/>
          </a:xfrm>
          <a:prstGeom prst="rect">
            <a:avLst/>
          </a:prstGeom>
          <a:solidFill>
            <a:srgbClr val="F7F7F7"/>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 Record Year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WITH ALL-TIME RECORD MONTHS</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23</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33 set their best month ever in service, parts or combined during 2026.</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 RECORDS SET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98</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all-time monthly records across those stores: service, parts and combined counted separately.</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JANUARY–SEPTEMBER EVER</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had their best January–September ever in combined fixed gross.</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WHO SET A RECORD AND THEN RESET IT</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set a record and then topped it again later in the year.</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Most records set this year: Honda Spokane 9, Nissan 9, Toyota Henderson 8, Honda Henderson 7 and Subaru St George 7.</a:t>
            </a:r>
            <a:endParaRPr lang="en-US" sz="1700" dirty="0"/>
          </a:p>
        </p:txBody>
      </p:sp>
      <p:sp>
        <p:nvSpPr>
          <p:cNvPr id="27" name="Shape 25"/>
          <p:cNvSpPr/>
          <p:nvPr/>
        </p:nvSpPr>
        <p:spPr>
          <a:xfrm>
            <a:off x="457200" y="6126480"/>
            <a:ext cx="11274552" cy="371856"/>
          </a:xfrm>
          <a:prstGeom prst="rect">
            <a:avLst/>
          </a:prstGeom>
          <a:solidFill>
            <a:srgbClr val="E6F6EE"/>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Jul alone brought 11 combined store records.</a:t>
            </a:r>
            <a:endParaRPr lang="en-US" sz="160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0266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7" name="Text 5"/>
          <p:cNvSpPr txBox="1"/>
          <p:nvPr/>
        </p:nvSpPr>
        <p:spPr>
          <a:xfrm>
            <a:off x="381304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8" name="Text 6"/>
          <p:cNvSpPr txBox="1"/>
          <p:nvPr/>
        </p:nvSpPr>
        <p:spPr>
          <a:xfrm>
            <a:off x="4471416"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0" name="Text 8"/>
          <p:cNvSpPr txBox="1"/>
          <p:nvPr/>
        </p:nvSpPr>
        <p:spPr>
          <a:xfrm>
            <a:off x="85770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11" name="Text 9"/>
          <p:cNvSpPr txBox="1"/>
          <p:nvPr/>
        </p:nvSpPr>
        <p:spPr>
          <a:xfrm>
            <a:off x="9363456"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10021824"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3" name="Text 11"/>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4" name="Text 12"/>
          <p:cNvSpPr txBox="1"/>
          <p:nvPr/>
        </p:nvSpPr>
        <p:spPr>
          <a:xfrm>
            <a:off x="658368"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 name="Shape 14"/>
          <p:cNvSpPr/>
          <p:nvPr/>
        </p:nvSpPr>
        <p:spPr>
          <a:xfrm>
            <a:off x="2871216" y="1779994"/>
            <a:ext cx="100584" cy="193624"/>
          </a:xfrm>
          <a:prstGeom prst="rect">
            <a:avLst/>
          </a:prstGeom>
          <a:solidFill>
            <a:srgbClr val="12A566"/>
          </a:solidFill>
          <a:ln/>
        </p:spPr>
      </p:sp>
      <p:sp>
        <p:nvSpPr>
          <p:cNvPr id="17" name="Text 15"/>
          <p:cNvSpPr txBox="1"/>
          <p:nvPr/>
        </p:nvSpPr>
        <p:spPr>
          <a:xfrm>
            <a:off x="3026664"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18" name="Text 16"/>
          <p:cNvSpPr txBox="1"/>
          <p:nvPr/>
        </p:nvSpPr>
        <p:spPr>
          <a:xfrm>
            <a:off x="3813048"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9" name="Text 17"/>
          <p:cNvSpPr txBox="1"/>
          <p:nvPr/>
        </p:nvSpPr>
        <p:spPr>
          <a:xfrm>
            <a:off x="4471416"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20" name="Text 18"/>
          <p:cNvSpPr txBox="1"/>
          <p:nvPr/>
        </p:nvSpPr>
        <p:spPr>
          <a:xfrm>
            <a:off x="5184648"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1" name="Text 19"/>
          <p:cNvSpPr txBox="1"/>
          <p:nvPr/>
        </p:nvSpPr>
        <p:spPr>
          <a:xfrm>
            <a:off x="658368"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3" name="Shape 21"/>
          <p:cNvSpPr/>
          <p:nvPr/>
        </p:nvSpPr>
        <p:spPr>
          <a:xfrm>
            <a:off x="2871216" y="2132038"/>
            <a:ext cx="100584" cy="193624"/>
          </a:xfrm>
          <a:prstGeom prst="rect">
            <a:avLst/>
          </a:prstGeom>
          <a:solidFill>
            <a:srgbClr val="12A566"/>
          </a:solidFill>
          <a:ln/>
        </p:spPr>
      </p:sp>
      <p:sp>
        <p:nvSpPr>
          <p:cNvPr id="24" name="Text 22"/>
          <p:cNvSpPr txBox="1"/>
          <p:nvPr/>
        </p:nvSpPr>
        <p:spPr>
          <a:xfrm>
            <a:off x="3026664"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25" name="Text 23"/>
          <p:cNvSpPr txBox="1"/>
          <p:nvPr/>
        </p:nvSpPr>
        <p:spPr>
          <a:xfrm>
            <a:off x="3813048"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26" name="Text 24"/>
          <p:cNvSpPr txBox="1"/>
          <p:nvPr/>
        </p:nvSpPr>
        <p:spPr>
          <a:xfrm>
            <a:off x="4471416"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27" name="Text 25"/>
          <p:cNvSpPr txBox="1"/>
          <p:nvPr/>
        </p:nvSpPr>
        <p:spPr>
          <a:xfrm>
            <a:off x="5184648"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8" name="Text 26"/>
          <p:cNvSpPr txBox="1"/>
          <p:nvPr/>
        </p:nvSpPr>
        <p:spPr>
          <a:xfrm>
            <a:off x="658368"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0" name="Shape 28"/>
          <p:cNvSpPr/>
          <p:nvPr/>
        </p:nvSpPr>
        <p:spPr>
          <a:xfrm>
            <a:off x="2871216" y="2484082"/>
            <a:ext cx="89408" cy="193624"/>
          </a:xfrm>
          <a:prstGeom prst="rect">
            <a:avLst/>
          </a:prstGeom>
          <a:solidFill>
            <a:srgbClr val="12A566"/>
          </a:solidFill>
          <a:ln/>
        </p:spPr>
      </p:sp>
      <p:sp>
        <p:nvSpPr>
          <p:cNvPr id="31" name="Text 29"/>
          <p:cNvSpPr txBox="1"/>
          <p:nvPr/>
        </p:nvSpPr>
        <p:spPr>
          <a:xfrm>
            <a:off x="3026664"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a:t>
            </a:r>
            <a:endParaRPr lang="en-US" sz="1300" dirty="0"/>
          </a:p>
        </p:txBody>
      </p:sp>
      <p:sp>
        <p:nvSpPr>
          <p:cNvPr id="32" name="Text 30"/>
          <p:cNvSpPr txBox="1"/>
          <p:nvPr/>
        </p:nvSpPr>
        <p:spPr>
          <a:xfrm>
            <a:off x="3813048"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33" name="Text 31"/>
          <p:cNvSpPr txBox="1"/>
          <p:nvPr/>
        </p:nvSpPr>
        <p:spPr>
          <a:xfrm>
            <a:off x="4471416"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4" name="Text 32"/>
          <p:cNvSpPr txBox="1"/>
          <p:nvPr/>
        </p:nvSpPr>
        <p:spPr>
          <a:xfrm>
            <a:off x="5184648"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5" name="Text 33"/>
          <p:cNvSpPr txBox="1"/>
          <p:nvPr/>
        </p:nvSpPr>
        <p:spPr>
          <a:xfrm>
            <a:off x="658368"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7" name="Shape 35"/>
          <p:cNvSpPr/>
          <p:nvPr/>
        </p:nvSpPr>
        <p:spPr>
          <a:xfrm>
            <a:off x="2871216" y="2836126"/>
            <a:ext cx="78232" cy="193624"/>
          </a:xfrm>
          <a:prstGeom prst="rect">
            <a:avLst/>
          </a:prstGeom>
          <a:solidFill>
            <a:srgbClr val="12A566"/>
          </a:solidFill>
          <a:ln/>
        </p:spPr>
      </p:sp>
      <p:sp>
        <p:nvSpPr>
          <p:cNvPr id="38" name="Text 36"/>
          <p:cNvSpPr txBox="1"/>
          <p:nvPr/>
        </p:nvSpPr>
        <p:spPr>
          <a:xfrm>
            <a:off x="3026664"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39" name="Text 37"/>
          <p:cNvSpPr txBox="1"/>
          <p:nvPr/>
        </p:nvSpPr>
        <p:spPr>
          <a:xfrm>
            <a:off x="3813048"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0" name="Text 38"/>
          <p:cNvSpPr txBox="1"/>
          <p:nvPr/>
        </p:nvSpPr>
        <p:spPr>
          <a:xfrm>
            <a:off x="4471416"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1" name="Text 39"/>
          <p:cNvSpPr txBox="1"/>
          <p:nvPr/>
        </p:nvSpPr>
        <p:spPr>
          <a:xfrm>
            <a:off x="5184648"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2" name="Text 40"/>
          <p:cNvSpPr txBox="1"/>
          <p:nvPr/>
        </p:nvSpPr>
        <p:spPr>
          <a:xfrm>
            <a:off x="658368"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3" name="Text 41"/>
          <p:cNvSpPr txBox="1"/>
          <p:nvPr/>
        </p:nvSpPr>
        <p:spPr>
          <a:xfrm>
            <a:off x="1014984"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4" name="Shape 42"/>
          <p:cNvSpPr/>
          <p:nvPr/>
        </p:nvSpPr>
        <p:spPr>
          <a:xfrm>
            <a:off x="2871216" y="3188170"/>
            <a:ext cx="78232" cy="193624"/>
          </a:xfrm>
          <a:prstGeom prst="rect">
            <a:avLst/>
          </a:prstGeom>
          <a:solidFill>
            <a:srgbClr val="12A566"/>
          </a:solidFill>
          <a:ln/>
        </p:spPr>
      </p:sp>
      <p:sp>
        <p:nvSpPr>
          <p:cNvPr id="45" name="Text 43"/>
          <p:cNvSpPr txBox="1"/>
          <p:nvPr/>
        </p:nvSpPr>
        <p:spPr>
          <a:xfrm>
            <a:off x="3026664"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46" name="Text 44"/>
          <p:cNvSpPr txBox="1"/>
          <p:nvPr/>
        </p:nvSpPr>
        <p:spPr>
          <a:xfrm>
            <a:off x="3813048"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71416"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5184648"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9" name="Text 47"/>
          <p:cNvSpPr txBox="1"/>
          <p:nvPr/>
        </p:nvSpPr>
        <p:spPr>
          <a:xfrm>
            <a:off x="658368"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50" name="Text 48"/>
          <p:cNvSpPr txBox="1"/>
          <p:nvPr/>
        </p:nvSpPr>
        <p:spPr>
          <a:xfrm>
            <a:off x="1014984"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1" name="Shape 49"/>
          <p:cNvSpPr/>
          <p:nvPr/>
        </p:nvSpPr>
        <p:spPr>
          <a:xfrm>
            <a:off x="2871216" y="3540214"/>
            <a:ext cx="67056" cy="193624"/>
          </a:xfrm>
          <a:prstGeom prst="rect">
            <a:avLst/>
          </a:prstGeom>
          <a:solidFill>
            <a:srgbClr val="12A566"/>
          </a:solidFill>
          <a:ln/>
        </p:spPr>
      </p:sp>
      <p:sp>
        <p:nvSpPr>
          <p:cNvPr id="52" name="Text 50"/>
          <p:cNvSpPr txBox="1"/>
          <p:nvPr/>
        </p:nvSpPr>
        <p:spPr>
          <a:xfrm>
            <a:off x="3026664"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53" name="Text 51"/>
          <p:cNvSpPr txBox="1"/>
          <p:nvPr/>
        </p:nvSpPr>
        <p:spPr>
          <a:xfrm>
            <a:off x="3813048"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54" name="Text 52"/>
          <p:cNvSpPr txBox="1"/>
          <p:nvPr/>
        </p:nvSpPr>
        <p:spPr>
          <a:xfrm>
            <a:off x="4471416"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55" name="Text 53"/>
          <p:cNvSpPr txBox="1"/>
          <p:nvPr/>
        </p:nvSpPr>
        <p:spPr>
          <a:xfrm>
            <a:off x="5184648"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56" name="Text 54"/>
          <p:cNvSpPr txBox="1"/>
          <p:nvPr/>
        </p:nvSpPr>
        <p:spPr>
          <a:xfrm>
            <a:off x="658368"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7" name="Text 55"/>
          <p:cNvSpPr txBox="1"/>
          <p:nvPr/>
        </p:nvSpPr>
        <p:spPr>
          <a:xfrm>
            <a:off x="1014984"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8" name="Shape 56"/>
          <p:cNvSpPr/>
          <p:nvPr/>
        </p:nvSpPr>
        <p:spPr>
          <a:xfrm>
            <a:off x="2871216" y="3892258"/>
            <a:ext cx="67056" cy="193624"/>
          </a:xfrm>
          <a:prstGeom prst="rect">
            <a:avLst/>
          </a:prstGeom>
          <a:solidFill>
            <a:srgbClr val="12A566"/>
          </a:solidFill>
          <a:ln/>
        </p:spPr>
      </p:sp>
      <p:sp>
        <p:nvSpPr>
          <p:cNvPr id="59" name="Text 57"/>
          <p:cNvSpPr txBox="1"/>
          <p:nvPr/>
        </p:nvSpPr>
        <p:spPr>
          <a:xfrm>
            <a:off x="3026664"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60" name="Text 58"/>
          <p:cNvSpPr txBox="1"/>
          <p:nvPr/>
        </p:nvSpPr>
        <p:spPr>
          <a:xfrm>
            <a:off x="3813048"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1" name="Text 59"/>
          <p:cNvSpPr txBox="1"/>
          <p:nvPr/>
        </p:nvSpPr>
        <p:spPr>
          <a:xfrm>
            <a:off x="4471416"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2" name="Text 60"/>
          <p:cNvSpPr txBox="1"/>
          <p:nvPr/>
        </p:nvSpPr>
        <p:spPr>
          <a:xfrm>
            <a:off x="5184648"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3" name="Text 61"/>
          <p:cNvSpPr txBox="1"/>
          <p:nvPr/>
        </p:nvSpPr>
        <p:spPr>
          <a:xfrm>
            <a:off x="658368"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4" name="Text 62"/>
          <p:cNvSpPr txBox="1"/>
          <p:nvPr/>
        </p:nvSpPr>
        <p:spPr>
          <a:xfrm>
            <a:off x="1014984"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2871216" y="4244302"/>
            <a:ext cx="55880" cy="193624"/>
          </a:xfrm>
          <a:prstGeom prst="rect">
            <a:avLst/>
          </a:prstGeom>
          <a:solidFill>
            <a:srgbClr val="12A566"/>
          </a:solidFill>
          <a:ln/>
        </p:spPr>
      </p:sp>
      <p:sp>
        <p:nvSpPr>
          <p:cNvPr id="66" name="Text 64"/>
          <p:cNvSpPr txBox="1"/>
          <p:nvPr/>
        </p:nvSpPr>
        <p:spPr>
          <a:xfrm>
            <a:off x="3026664"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a:t>
            </a:r>
            <a:endParaRPr lang="en-US" sz="1300" dirty="0"/>
          </a:p>
        </p:txBody>
      </p:sp>
      <p:sp>
        <p:nvSpPr>
          <p:cNvPr id="67" name="Text 65"/>
          <p:cNvSpPr txBox="1"/>
          <p:nvPr/>
        </p:nvSpPr>
        <p:spPr>
          <a:xfrm>
            <a:off x="3813048"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4471416"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9" name="Text 67"/>
          <p:cNvSpPr txBox="1"/>
          <p:nvPr/>
        </p:nvSpPr>
        <p:spPr>
          <a:xfrm>
            <a:off x="5184648"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0" name="Text 68"/>
          <p:cNvSpPr txBox="1"/>
          <p:nvPr/>
        </p:nvSpPr>
        <p:spPr>
          <a:xfrm>
            <a:off x="658368"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71" name="Text 69"/>
          <p:cNvSpPr txBox="1"/>
          <p:nvPr/>
        </p:nvSpPr>
        <p:spPr>
          <a:xfrm>
            <a:off x="1014984"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2" name="Shape 70"/>
          <p:cNvSpPr/>
          <p:nvPr/>
        </p:nvSpPr>
        <p:spPr>
          <a:xfrm>
            <a:off x="2871216" y="4596346"/>
            <a:ext cx="44704" cy="193624"/>
          </a:xfrm>
          <a:prstGeom prst="rect">
            <a:avLst/>
          </a:prstGeom>
          <a:solidFill>
            <a:srgbClr val="12A566"/>
          </a:solidFill>
          <a:ln/>
        </p:spPr>
      </p:sp>
      <p:sp>
        <p:nvSpPr>
          <p:cNvPr id="73" name="Text 71"/>
          <p:cNvSpPr txBox="1"/>
          <p:nvPr/>
        </p:nvSpPr>
        <p:spPr>
          <a:xfrm>
            <a:off x="3026664"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74" name="Text 72"/>
          <p:cNvSpPr txBox="1"/>
          <p:nvPr/>
        </p:nvSpPr>
        <p:spPr>
          <a:xfrm>
            <a:off x="3813048"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5" name="Text 73"/>
          <p:cNvSpPr txBox="1"/>
          <p:nvPr/>
        </p:nvSpPr>
        <p:spPr>
          <a:xfrm>
            <a:off x="4471416"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6" name="Text 74"/>
          <p:cNvSpPr txBox="1"/>
          <p:nvPr/>
        </p:nvSpPr>
        <p:spPr>
          <a:xfrm>
            <a:off x="5184648"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7" name="Text 75"/>
          <p:cNvSpPr txBox="1"/>
          <p:nvPr/>
        </p:nvSpPr>
        <p:spPr>
          <a:xfrm>
            <a:off x="658368"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8" name="Text 76"/>
          <p:cNvSpPr txBox="1"/>
          <p:nvPr/>
        </p:nvSpPr>
        <p:spPr>
          <a:xfrm>
            <a:off x="1014984"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9" name="Shape 77"/>
          <p:cNvSpPr/>
          <p:nvPr/>
        </p:nvSpPr>
        <p:spPr>
          <a:xfrm>
            <a:off x="2871216" y="4948390"/>
            <a:ext cx="44704" cy="193624"/>
          </a:xfrm>
          <a:prstGeom prst="rect">
            <a:avLst/>
          </a:prstGeom>
          <a:solidFill>
            <a:srgbClr val="12A566"/>
          </a:solidFill>
          <a:ln/>
        </p:spPr>
      </p:sp>
      <p:sp>
        <p:nvSpPr>
          <p:cNvPr id="80" name="Text 78"/>
          <p:cNvSpPr txBox="1"/>
          <p:nvPr/>
        </p:nvSpPr>
        <p:spPr>
          <a:xfrm>
            <a:off x="3026664"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1" name="Text 79"/>
          <p:cNvSpPr txBox="1"/>
          <p:nvPr/>
        </p:nvSpPr>
        <p:spPr>
          <a:xfrm>
            <a:off x="3813048"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2" name="Text 80"/>
          <p:cNvSpPr txBox="1"/>
          <p:nvPr/>
        </p:nvSpPr>
        <p:spPr>
          <a:xfrm>
            <a:off x="4471416"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3" name="Text 81"/>
          <p:cNvSpPr txBox="1"/>
          <p:nvPr/>
        </p:nvSpPr>
        <p:spPr>
          <a:xfrm>
            <a:off x="5184648"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4" name="Text 82"/>
          <p:cNvSpPr txBox="1"/>
          <p:nvPr/>
        </p:nvSpPr>
        <p:spPr>
          <a:xfrm>
            <a:off x="658368"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85" name="Text 83"/>
          <p:cNvSpPr txBox="1"/>
          <p:nvPr/>
        </p:nvSpPr>
        <p:spPr>
          <a:xfrm>
            <a:off x="1014984"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6" name="Shape 84"/>
          <p:cNvSpPr/>
          <p:nvPr/>
        </p:nvSpPr>
        <p:spPr>
          <a:xfrm>
            <a:off x="2871216" y="5300434"/>
            <a:ext cx="44704" cy="193624"/>
          </a:xfrm>
          <a:prstGeom prst="rect">
            <a:avLst/>
          </a:prstGeom>
          <a:solidFill>
            <a:srgbClr val="12A566"/>
          </a:solidFill>
          <a:ln/>
        </p:spPr>
      </p:sp>
      <p:sp>
        <p:nvSpPr>
          <p:cNvPr id="87" name="Text 85"/>
          <p:cNvSpPr txBox="1"/>
          <p:nvPr/>
        </p:nvSpPr>
        <p:spPr>
          <a:xfrm>
            <a:off x="3026664"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8" name="Text 86"/>
          <p:cNvSpPr txBox="1"/>
          <p:nvPr/>
        </p:nvSpPr>
        <p:spPr>
          <a:xfrm>
            <a:off x="3813048"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4471416"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0" name="Text 88"/>
          <p:cNvSpPr txBox="1"/>
          <p:nvPr/>
        </p:nvSpPr>
        <p:spPr>
          <a:xfrm>
            <a:off x="5184648"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1" name="Text 89"/>
          <p:cNvSpPr txBox="1"/>
          <p:nvPr/>
        </p:nvSpPr>
        <p:spPr>
          <a:xfrm>
            <a:off x="658368" y="557326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2" name="Text 90"/>
          <p:cNvSpPr txBox="1"/>
          <p:nvPr/>
        </p:nvSpPr>
        <p:spPr>
          <a:xfrm>
            <a:off x="1014984" y="557326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2871216" y="5652478"/>
            <a:ext cx="44704" cy="193624"/>
          </a:xfrm>
          <a:prstGeom prst="rect">
            <a:avLst/>
          </a:prstGeom>
          <a:solidFill>
            <a:srgbClr val="12A566"/>
          </a:solidFill>
          <a:ln/>
        </p:spPr>
      </p:sp>
      <p:sp>
        <p:nvSpPr>
          <p:cNvPr id="94" name="Text 92"/>
          <p:cNvSpPr txBox="1"/>
          <p:nvPr/>
        </p:nvSpPr>
        <p:spPr>
          <a:xfrm>
            <a:off x="3026664" y="557326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95" name="Text 93"/>
          <p:cNvSpPr txBox="1"/>
          <p:nvPr/>
        </p:nvSpPr>
        <p:spPr>
          <a:xfrm>
            <a:off x="3813048" y="557326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96" name="Text 94"/>
          <p:cNvSpPr txBox="1"/>
          <p:nvPr/>
        </p:nvSpPr>
        <p:spPr>
          <a:xfrm>
            <a:off x="4471416" y="557326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5184648" y="557326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8" name="Text 96"/>
          <p:cNvSpPr txBox="1"/>
          <p:nvPr/>
        </p:nvSpPr>
        <p:spPr>
          <a:xfrm>
            <a:off x="6208776"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6565392"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0" name="Shape 98"/>
          <p:cNvSpPr/>
          <p:nvPr/>
        </p:nvSpPr>
        <p:spPr>
          <a:xfrm>
            <a:off x="8421624" y="1779994"/>
            <a:ext cx="44704" cy="193624"/>
          </a:xfrm>
          <a:prstGeom prst="rect">
            <a:avLst/>
          </a:prstGeom>
          <a:solidFill>
            <a:srgbClr val="12A566"/>
          </a:solidFill>
          <a:ln/>
        </p:spPr>
      </p:sp>
      <p:sp>
        <p:nvSpPr>
          <p:cNvPr id="101" name="Text 99"/>
          <p:cNvSpPr txBox="1"/>
          <p:nvPr/>
        </p:nvSpPr>
        <p:spPr>
          <a:xfrm>
            <a:off x="8577072"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2" name="Text 100"/>
          <p:cNvSpPr txBox="1"/>
          <p:nvPr/>
        </p:nvSpPr>
        <p:spPr>
          <a:xfrm>
            <a:off x="9363456"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10021824"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10735056"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6208776"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6" name="Text 104"/>
          <p:cNvSpPr txBox="1"/>
          <p:nvPr/>
        </p:nvSpPr>
        <p:spPr>
          <a:xfrm>
            <a:off x="6565392"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7" name="Shape 105"/>
          <p:cNvSpPr/>
          <p:nvPr/>
        </p:nvSpPr>
        <p:spPr>
          <a:xfrm>
            <a:off x="8421624" y="2132038"/>
            <a:ext cx="44704" cy="193624"/>
          </a:xfrm>
          <a:prstGeom prst="rect">
            <a:avLst/>
          </a:prstGeom>
          <a:solidFill>
            <a:srgbClr val="12A566"/>
          </a:solidFill>
          <a:ln/>
        </p:spPr>
      </p:sp>
      <p:sp>
        <p:nvSpPr>
          <p:cNvPr id="108" name="Text 106"/>
          <p:cNvSpPr txBox="1"/>
          <p:nvPr/>
        </p:nvSpPr>
        <p:spPr>
          <a:xfrm>
            <a:off x="8577072"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9" name="Text 107"/>
          <p:cNvSpPr txBox="1"/>
          <p:nvPr/>
        </p:nvSpPr>
        <p:spPr>
          <a:xfrm>
            <a:off x="9363456"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10" name="Text 108"/>
          <p:cNvSpPr txBox="1"/>
          <p:nvPr/>
        </p:nvSpPr>
        <p:spPr>
          <a:xfrm>
            <a:off x="10021824"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1" name="Text 109"/>
          <p:cNvSpPr txBox="1"/>
          <p:nvPr/>
        </p:nvSpPr>
        <p:spPr>
          <a:xfrm>
            <a:off x="10735056"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2" name="Text 110"/>
          <p:cNvSpPr txBox="1"/>
          <p:nvPr/>
        </p:nvSpPr>
        <p:spPr>
          <a:xfrm>
            <a:off x="6208776"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3" name="Text 111"/>
          <p:cNvSpPr txBox="1"/>
          <p:nvPr/>
        </p:nvSpPr>
        <p:spPr>
          <a:xfrm>
            <a:off x="6565392"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4" name="Shape 112"/>
          <p:cNvSpPr/>
          <p:nvPr/>
        </p:nvSpPr>
        <p:spPr>
          <a:xfrm>
            <a:off x="8421624" y="2484082"/>
            <a:ext cx="33528" cy="193624"/>
          </a:xfrm>
          <a:prstGeom prst="rect">
            <a:avLst/>
          </a:prstGeom>
          <a:solidFill>
            <a:srgbClr val="12A566"/>
          </a:solidFill>
          <a:ln/>
        </p:spPr>
      </p:sp>
      <p:sp>
        <p:nvSpPr>
          <p:cNvPr id="115" name="Text 113"/>
          <p:cNvSpPr txBox="1"/>
          <p:nvPr/>
        </p:nvSpPr>
        <p:spPr>
          <a:xfrm>
            <a:off x="8577072"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a:t>
            </a:r>
            <a:endParaRPr lang="en-US" sz="1300" dirty="0"/>
          </a:p>
        </p:txBody>
      </p:sp>
      <p:sp>
        <p:nvSpPr>
          <p:cNvPr id="116" name="Text 114"/>
          <p:cNvSpPr txBox="1"/>
          <p:nvPr/>
        </p:nvSpPr>
        <p:spPr>
          <a:xfrm>
            <a:off x="9363456"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7" name="Text 115"/>
          <p:cNvSpPr txBox="1"/>
          <p:nvPr/>
        </p:nvSpPr>
        <p:spPr>
          <a:xfrm>
            <a:off x="10021824"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18" name="Text 116"/>
          <p:cNvSpPr txBox="1"/>
          <p:nvPr/>
        </p:nvSpPr>
        <p:spPr>
          <a:xfrm>
            <a:off x="10735056"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19" name="Text 117"/>
          <p:cNvSpPr txBox="1"/>
          <p:nvPr/>
        </p:nvSpPr>
        <p:spPr>
          <a:xfrm>
            <a:off x="6208776"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20" name="Text 118"/>
          <p:cNvSpPr txBox="1"/>
          <p:nvPr/>
        </p:nvSpPr>
        <p:spPr>
          <a:xfrm>
            <a:off x="6565392"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421624" y="2836126"/>
            <a:ext cx="22352" cy="193624"/>
          </a:xfrm>
          <a:prstGeom prst="rect">
            <a:avLst/>
          </a:prstGeom>
          <a:solidFill>
            <a:srgbClr val="12A566"/>
          </a:solidFill>
          <a:ln/>
        </p:spPr>
      </p:sp>
      <p:sp>
        <p:nvSpPr>
          <p:cNvPr id="122" name="Text 120"/>
          <p:cNvSpPr txBox="1"/>
          <p:nvPr/>
        </p:nvSpPr>
        <p:spPr>
          <a:xfrm>
            <a:off x="8577072"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23" name="Text 121"/>
          <p:cNvSpPr txBox="1"/>
          <p:nvPr/>
        </p:nvSpPr>
        <p:spPr>
          <a:xfrm>
            <a:off x="9363456"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4" name="Text 122"/>
          <p:cNvSpPr txBox="1"/>
          <p:nvPr/>
        </p:nvSpPr>
        <p:spPr>
          <a:xfrm>
            <a:off x="10021824"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25" name="Text 123"/>
          <p:cNvSpPr txBox="1"/>
          <p:nvPr/>
        </p:nvSpPr>
        <p:spPr>
          <a:xfrm>
            <a:off x="10735056"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6" name="Text 124"/>
          <p:cNvSpPr txBox="1"/>
          <p:nvPr/>
        </p:nvSpPr>
        <p:spPr>
          <a:xfrm>
            <a:off x="6208776"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27" name="Text 125"/>
          <p:cNvSpPr txBox="1"/>
          <p:nvPr/>
        </p:nvSpPr>
        <p:spPr>
          <a:xfrm>
            <a:off x="6565392"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8" name="Shape 126"/>
          <p:cNvSpPr/>
          <p:nvPr/>
        </p:nvSpPr>
        <p:spPr>
          <a:xfrm>
            <a:off x="8421624" y="3188170"/>
            <a:ext cx="22352" cy="193624"/>
          </a:xfrm>
          <a:prstGeom prst="rect">
            <a:avLst/>
          </a:prstGeom>
          <a:solidFill>
            <a:srgbClr val="12A566"/>
          </a:solidFill>
          <a:ln/>
        </p:spPr>
      </p:sp>
      <p:sp>
        <p:nvSpPr>
          <p:cNvPr id="129" name="Text 127"/>
          <p:cNvSpPr txBox="1"/>
          <p:nvPr/>
        </p:nvSpPr>
        <p:spPr>
          <a:xfrm>
            <a:off x="8577072"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0" name="Text 128"/>
          <p:cNvSpPr txBox="1"/>
          <p:nvPr/>
        </p:nvSpPr>
        <p:spPr>
          <a:xfrm>
            <a:off x="9363456"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1" name="Text 129"/>
          <p:cNvSpPr txBox="1"/>
          <p:nvPr/>
        </p:nvSpPr>
        <p:spPr>
          <a:xfrm>
            <a:off x="10021824"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2" name="Text 130"/>
          <p:cNvSpPr txBox="1"/>
          <p:nvPr/>
        </p:nvSpPr>
        <p:spPr>
          <a:xfrm>
            <a:off x="10735056"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3" name="Text 131"/>
          <p:cNvSpPr txBox="1"/>
          <p:nvPr/>
        </p:nvSpPr>
        <p:spPr>
          <a:xfrm>
            <a:off x="6208776"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34" name="Text 132"/>
          <p:cNvSpPr txBox="1"/>
          <p:nvPr/>
        </p:nvSpPr>
        <p:spPr>
          <a:xfrm>
            <a:off x="6565392"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5" name="Shape 133"/>
          <p:cNvSpPr/>
          <p:nvPr/>
        </p:nvSpPr>
        <p:spPr>
          <a:xfrm>
            <a:off x="8421624" y="3540214"/>
            <a:ext cx="22352" cy="193624"/>
          </a:xfrm>
          <a:prstGeom prst="rect">
            <a:avLst/>
          </a:prstGeom>
          <a:solidFill>
            <a:srgbClr val="12A566"/>
          </a:solidFill>
          <a:ln/>
        </p:spPr>
      </p:sp>
      <p:sp>
        <p:nvSpPr>
          <p:cNvPr id="136" name="Text 134"/>
          <p:cNvSpPr txBox="1"/>
          <p:nvPr/>
        </p:nvSpPr>
        <p:spPr>
          <a:xfrm>
            <a:off x="8577072"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7" name="Text 135"/>
          <p:cNvSpPr txBox="1"/>
          <p:nvPr/>
        </p:nvSpPr>
        <p:spPr>
          <a:xfrm>
            <a:off x="9363456"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8" name="Text 136"/>
          <p:cNvSpPr txBox="1"/>
          <p:nvPr/>
        </p:nvSpPr>
        <p:spPr>
          <a:xfrm>
            <a:off x="10021824"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735056"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6208776"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41" name="Text 139"/>
          <p:cNvSpPr txBox="1"/>
          <p:nvPr/>
        </p:nvSpPr>
        <p:spPr>
          <a:xfrm>
            <a:off x="6565392"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2" name="Shape 140"/>
          <p:cNvSpPr/>
          <p:nvPr/>
        </p:nvSpPr>
        <p:spPr>
          <a:xfrm>
            <a:off x="8421624" y="3892258"/>
            <a:ext cx="22352" cy="193624"/>
          </a:xfrm>
          <a:prstGeom prst="rect">
            <a:avLst/>
          </a:prstGeom>
          <a:solidFill>
            <a:srgbClr val="12A566"/>
          </a:solidFill>
          <a:ln/>
        </p:spPr>
      </p:sp>
      <p:sp>
        <p:nvSpPr>
          <p:cNvPr id="143" name="Text 141"/>
          <p:cNvSpPr txBox="1"/>
          <p:nvPr/>
        </p:nvSpPr>
        <p:spPr>
          <a:xfrm>
            <a:off x="8577072"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44" name="Text 142"/>
          <p:cNvSpPr txBox="1"/>
          <p:nvPr/>
        </p:nvSpPr>
        <p:spPr>
          <a:xfrm>
            <a:off x="9363456"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5" name="Text 143"/>
          <p:cNvSpPr txBox="1"/>
          <p:nvPr/>
        </p:nvSpPr>
        <p:spPr>
          <a:xfrm>
            <a:off x="10021824"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735056"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6208776"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48" name="Text 146"/>
          <p:cNvSpPr txBox="1"/>
          <p:nvPr/>
        </p:nvSpPr>
        <p:spPr>
          <a:xfrm>
            <a:off x="6565392"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9" name="Shape 147"/>
          <p:cNvSpPr/>
          <p:nvPr/>
        </p:nvSpPr>
        <p:spPr>
          <a:xfrm>
            <a:off x="8421624" y="4244302"/>
            <a:ext cx="22352" cy="193624"/>
          </a:xfrm>
          <a:prstGeom prst="rect">
            <a:avLst/>
          </a:prstGeom>
          <a:solidFill>
            <a:srgbClr val="12A566"/>
          </a:solidFill>
          <a:ln/>
        </p:spPr>
      </p:sp>
      <p:sp>
        <p:nvSpPr>
          <p:cNvPr id="150" name="Text 148"/>
          <p:cNvSpPr txBox="1"/>
          <p:nvPr/>
        </p:nvSpPr>
        <p:spPr>
          <a:xfrm>
            <a:off x="8577072"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1" name="Text 149"/>
          <p:cNvSpPr txBox="1"/>
          <p:nvPr/>
        </p:nvSpPr>
        <p:spPr>
          <a:xfrm>
            <a:off x="9363456"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2" name="Text 150"/>
          <p:cNvSpPr txBox="1"/>
          <p:nvPr/>
        </p:nvSpPr>
        <p:spPr>
          <a:xfrm>
            <a:off x="10021824"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53" name="Text 151"/>
          <p:cNvSpPr txBox="1"/>
          <p:nvPr/>
        </p:nvSpPr>
        <p:spPr>
          <a:xfrm>
            <a:off x="10735056"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4" name="Text 152"/>
          <p:cNvSpPr txBox="1"/>
          <p:nvPr/>
        </p:nvSpPr>
        <p:spPr>
          <a:xfrm>
            <a:off x="6208776"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55" name="Text 153"/>
          <p:cNvSpPr txBox="1"/>
          <p:nvPr/>
        </p:nvSpPr>
        <p:spPr>
          <a:xfrm>
            <a:off x="6565392"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6" name="Shape 154"/>
          <p:cNvSpPr/>
          <p:nvPr/>
        </p:nvSpPr>
        <p:spPr>
          <a:xfrm>
            <a:off x="8421624" y="4596346"/>
            <a:ext cx="22352" cy="193624"/>
          </a:xfrm>
          <a:prstGeom prst="rect">
            <a:avLst/>
          </a:prstGeom>
          <a:solidFill>
            <a:srgbClr val="12A566"/>
          </a:solidFill>
          <a:ln/>
        </p:spPr>
      </p:sp>
      <p:sp>
        <p:nvSpPr>
          <p:cNvPr id="157" name="Text 155"/>
          <p:cNvSpPr txBox="1"/>
          <p:nvPr/>
        </p:nvSpPr>
        <p:spPr>
          <a:xfrm>
            <a:off x="8577072"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8" name="Text 156"/>
          <p:cNvSpPr txBox="1"/>
          <p:nvPr/>
        </p:nvSpPr>
        <p:spPr>
          <a:xfrm>
            <a:off x="9363456"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59" name="Text 157"/>
          <p:cNvSpPr txBox="1"/>
          <p:nvPr/>
        </p:nvSpPr>
        <p:spPr>
          <a:xfrm>
            <a:off x="10021824"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0" name="Text 158"/>
          <p:cNvSpPr txBox="1"/>
          <p:nvPr/>
        </p:nvSpPr>
        <p:spPr>
          <a:xfrm>
            <a:off x="10735056"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6208776"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62" name="Text 160"/>
          <p:cNvSpPr txBox="1"/>
          <p:nvPr/>
        </p:nvSpPr>
        <p:spPr>
          <a:xfrm>
            <a:off x="6565392"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421624" y="4948390"/>
            <a:ext cx="18288" cy="193624"/>
          </a:xfrm>
          <a:prstGeom prst="rect">
            <a:avLst/>
          </a:prstGeom>
          <a:solidFill>
            <a:srgbClr val="12A566"/>
          </a:solidFill>
          <a:ln/>
        </p:spPr>
      </p:sp>
      <p:sp>
        <p:nvSpPr>
          <p:cNvPr id="164" name="Text 162"/>
          <p:cNvSpPr txBox="1"/>
          <p:nvPr/>
        </p:nvSpPr>
        <p:spPr>
          <a:xfrm>
            <a:off x="8577072"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65" name="Text 163"/>
          <p:cNvSpPr txBox="1"/>
          <p:nvPr/>
        </p:nvSpPr>
        <p:spPr>
          <a:xfrm>
            <a:off x="9363456"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6" name="Text 164"/>
          <p:cNvSpPr txBox="1"/>
          <p:nvPr/>
        </p:nvSpPr>
        <p:spPr>
          <a:xfrm>
            <a:off x="10021824"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7" name="Text 165"/>
          <p:cNvSpPr txBox="1"/>
          <p:nvPr/>
        </p:nvSpPr>
        <p:spPr>
          <a:xfrm>
            <a:off x="10735056"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68" name="Text 166"/>
          <p:cNvSpPr txBox="1"/>
          <p:nvPr/>
        </p:nvSpPr>
        <p:spPr>
          <a:xfrm>
            <a:off x="6208776"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69" name="Text 167"/>
          <p:cNvSpPr txBox="1"/>
          <p:nvPr/>
        </p:nvSpPr>
        <p:spPr>
          <a:xfrm>
            <a:off x="6565392"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0" name="Shape 168"/>
          <p:cNvSpPr/>
          <p:nvPr/>
        </p:nvSpPr>
        <p:spPr>
          <a:xfrm>
            <a:off x="8421624" y="5300434"/>
            <a:ext cx="18288" cy="193624"/>
          </a:xfrm>
          <a:prstGeom prst="rect">
            <a:avLst/>
          </a:prstGeom>
          <a:solidFill>
            <a:srgbClr val="12A566"/>
          </a:solidFill>
          <a:ln/>
        </p:spPr>
      </p:sp>
      <p:sp>
        <p:nvSpPr>
          <p:cNvPr id="171" name="Text 169"/>
          <p:cNvSpPr txBox="1"/>
          <p:nvPr/>
        </p:nvSpPr>
        <p:spPr>
          <a:xfrm>
            <a:off x="8577072"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72" name="Text 170"/>
          <p:cNvSpPr txBox="1"/>
          <p:nvPr/>
        </p:nvSpPr>
        <p:spPr>
          <a:xfrm>
            <a:off x="9363456"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73" name="Text 171"/>
          <p:cNvSpPr txBox="1"/>
          <p:nvPr/>
        </p:nvSpPr>
        <p:spPr>
          <a:xfrm>
            <a:off x="10021824"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4" name="Text 172"/>
          <p:cNvSpPr txBox="1"/>
          <p:nvPr/>
        </p:nvSpPr>
        <p:spPr>
          <a:xfrm>
            <a:off x="10735056"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5" name="Shape 173"/>
          <p:cNvSpPr/>
          <p:nvPr/>
        </p:nvSpPr>
        <p:spPr>
          <a:xfrm>
            <a:off x="6085332" y="1700784"/>
            <a:ext cx="10973" cy="4224528"/>
          </a:xfrm>
          <a:prstGeom prst="rect">
            <a:avLst/>
          </a:prstGeom>
          <a:solidFill>
            <a:srgbClr val="D9D9D9"/>
          </a:solidFill>
          <a:ln/>
        </p:spPr>
      </p:sp>
      <p:sp>
        <p:nvSpPr>
          <p:cNvPr id="177" name="Shape 174"/>
          <p:cNvSpPr/>
          <p:nvPr/>
        </p:nvSpPr>
        <p:spPr>
          <a:xfrm>
            <a:off x="457200" y="6126480"/>
            <a:ext cx="11274552" cy="371856"/>
          </a:xfrm>
          <a:prstGeom prst="rect">
            <a:avLst/>
          </a:prstGeom>
          <a:solidFill>
            <a:srgbClr val="E6F6EE"/>
          </a:solidFill>
          <a:ln/>
        </p:spPr>
      </p:sp>
      <p:sp>
        <p:nvSpPr>
          <p:cNvPr id="178" name="Text 17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stores set 98 all-time monthly records in 2026.</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339226"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67458"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98871"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815948"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77681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97445"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534720"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9804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80108"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1121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8774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87152"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316010"/>
            <a:ext cx="36671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577420"/>
            <a:ext cx="36170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60997"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6100242"/>
            <a:ext cx="338585"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7669"/>
            <a:ext cx="335529"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3167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8760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84566"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7651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67522"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4137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3418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218568"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18908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184970"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793188"/>
            <a:ext cx="1837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7870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2886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24271"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83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3" name="Text 61"/>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5" name="Text 63"/>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6" name="Shape 64"/>
          <p:cNvSpPr/>
          <p:nvPr/>
        </p:nvSpPr>
        <p:spPr>
          <a:xfrm>
            <a:off x="8040624" y="5416906"/>
            <a:ext cx="3489960" cy="828446"/>
          </a:xfrm>
          <a:prstGeom prst="rect">
            <a:avLst/>
          </a:prstGeom>
          <a:solidFill>
            <a:srgbClr val="F7F7F7"/>
          </a:solidFill>
          <a:ln/>
        </p:spPr>
      </p:sp>
      <p:sp>
        <p:nvSpPr>
          <p:cNvPr id="67" name="Shape 65"/>
          <p:cNvSpPr/>
          <p:nvPr/>
        </p:nvSpPr>
        <p:spPr>
          <a:xfrm>
            <a:off x="11466576" y="5453482"/>
            <a:ext cx="64008" cy="755294"/>
          </a:xfrm>
          <a:prstGeom prst="rect">
            <a:avLst/>
          </a:prstGeom>
          <a:solidFill>
            <a:srgbClr val="12A566"/>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178132"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1171781"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701901"/>
            <a:ext cx="98240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963312"/>
            <a:ext cx="724430"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224723"/>
            <a:ext cx="698259"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660750"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55591"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4008956"/>
            <a:ext cx="452277"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270366"/>
            <a:ext cx="410917"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531777"/>
            <a:ext cx="405463"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793188"/>
            <a:ext cx="390976"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5612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316010"/>
            <a:ext cx="352683"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577420"/>
            <a:ext cx="340845"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838831"/>
            <a:ext cx="339380"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6100242"/>
            <a:ext cx="329329"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7669"/>
            <a:ext cx="311294"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79080"/>
            <a:ext cx="27027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25621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701901"/>
            <a:ext cx="245763"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963312"/>
            <a:ext cx="238967"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235763"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486134"/>
            <a:ext cx="232807"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210714"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4008956"/>
            <a:ext cx="17875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62808"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531777"/>
            <a:ext cx="16055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55672"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5054599"/>
            <a:ext cx="131649"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16550"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1079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65691"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Shape 58"/>
          <p:cNvSpPr/>
          <p:nvPr/>
        </p:nvSpPr>
        <p:spPr>
          <a:xfrm>
            <a:off x="11466576" y="3796589"/>
            <a:ext cx="64008" cy="755294"/>
          </a:xfrm>
          <a:prstGeom prst="rect">
            <a:avLst/>
          </a:prstGeom>
          <a:solidFill>
            <a:srgbClr val="12A566"/>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78095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139299"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701901"/>
            <a:ext cx="1126417"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963312"/>
            <a:ext cx="10423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91502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486134"/>
            <a:ext cx="79424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743466"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4008956"/>
            <a:ext cx="662635"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6187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46900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793188"/>
            <a:ext cx="439517"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5054599"/>
            <a:ext cx="43497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316010"/>
            <a:ext cx="426399"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577420"/>
            <a:ext cx="41802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838831"/>
            <a:ext cx="410579"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6100242"/>
            <a:ext cx="386930"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7669"/>
            <a:ext cx="385510"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79080"/>
            <a:ext cx="379226"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440491"/>
            <a:ext cx="375575"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701901"/>
            <a:ext cx="370418"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963312"/>
            <a:ext cx="351886"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224723"/>
            <a:ext cx="351305"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486134"/>
            <a:ext cx="323594"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747545"/>
            <a:ext cx="32117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296096"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270366"/>
            <a:ext cx="27721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531777"/>
            <a:ext cx="26398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793188"/>
            <a:ext cx="243434"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226608"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316010"/>
            <a:ext cx="1613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159817"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111766"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17 of 33 stores grew.</a:t>
            </a:r>
            <a:endParaRPr lang="en-US" sz="16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dealership's fixed expenses are covered by parts and service gross profit.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10 declined.</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5" name="Shape 33"/>
          <p:cNvSpPr/>
          <p:nvPr/>
        </p:nvSpPr>
        <p:spPr>
          <a:xfrm>
            <a:off x="7775448" y="2968142"/>
            <a:ext cx="64008" cy="755294"/>
          </a:xfrm>
          <a:prstGeom prst="rect">
            <a:avLst/>
          </a:prstGeom>
          <a:solidFill>
            <a:srgbClr val="2587C5"/>
          </a:solidFill>
          <a:ln/>
        </p:spPr>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Shape 60"/>
          <p:cNvSpPr/>
          <p:nvPr/>
        </p:nvSpPr>
        <p:spPr>
          <a:xfrm>
            <a:off x="11466576" y="3796589"/>
            <a:ext cx="64008" cy="755294"/>
          </a:xfrm>
          <a:prstGeom prst="rect">
            <a:avLst/>
          </a:prstGeom>
          <a:solidFill>
            <a:srgbClr val="2587C5"/>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9" name="Shape 146"/>
          <p:cNvSpPr/>
          <p:nvPr/>
        </p:nvSpPr>
        <p:spPr>
          <a:xfrm>
            <a:off x="457200" y="6126480"/>
            <a:ext cx="11274552" cy="371856"/>
          </a:xfrm>
          <a:prstGeom prst="rect">
            <a:avLst/>
          </a:prstGeom>
          <a:solidFill>
            <a:srgbClr val="EDF4FA"/>
          </a:solidFill>
          <a:ln/>
        </p:spPr>
      </p:sp>
      <p:sp>
        <p:nvSpPr>
          <p:cNvPr id="150" name="Text 14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of 33 stores at or above the 21.8% group.</a:t>
            </a:r>
            <a:endParaRPr lang="en-US" sz="16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9 declined.</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Shape 17"/>
          <p:cNvSpPr/>
          <p:nvPr/>
        </p:nvSpPr>
        <p:spPr>
          <a:xfrm>
            <a:off x="4084320" y="3796589"/>
            <a:ext cx="64008" cy="755294"/>
          </a:xfrm>
          <a:prstGeom prst="rect">
            <a:avLst/>
          </a:prstGeom>
          <a:solidFill>
            <a:srgbClr val="12A566"/>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2" name="Text 20"/>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Shape 39"/>
          <p:cNvSpPr/>
          <p:nvPr/>
        </p:nvSpPr>
        <p:spPr>
          <a:xfrm>
            <a:off x="7775448" y="3796589"/>
            <a:ext cx="64008" cy="755294"/>
          </a:xfrm>
          <a:prstGeom prst="rect">
            <a:avLst/>
          </a:prstGeom>
          <a:solidFill>
            <a:srgbClr val="2587C5"/>
          </a:solidFill>
          <a:ln/>
        </p:spPr>
      </p:sp>
      <p:sp>
        <p:nvSpPr>
          <p:cNvPr id="42" name="Text 40"/>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3" name="Text 41"/>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4" name="Text 42"/>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5" name="Text 43"/>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6" name="Text 44"/>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7" name="Text 45"/>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8" name="Shape 46"/>
          <p:cNvSpPr/>
          <p:nvPr/>
        </p:nvSpPr>
        <p:spPr>
          <a:xfrm>
            <a:off x="4349496" y="5416906"/>
            <a:ext cx="3489960" cy="828446"/>
          </a:xfrm>
          <a:prstGeom prst="rect">
            <a:avLst/>
          </a:prstGeom>
          <a:solidFill>
            <a:srgbClr val="F7F7F7"/>
          </a:solidFill>
          <a:ln/>
        </p:spPr>
      </p:sp>
      <p:sp>
        <p:nvSpPr>
          <p:cNvPr id="49" name="Text 47"/>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0" name="Text 48"/>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51" name="Text 49"/>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52" name="Shape 50"/>
          <p:cNvSpPr/>
          <p:nvPr/>
        </p:nvSpPr>
        <p:spPr>
          <a:xfrm>
            <a:off x="8040624" y="1371600"/>
            <a:ext cx="3489960" cy="45720"/>
          </a:xfrm>
          <a:prstGeom prst="rect">
            <a:avLst/>
          </a:prstGeom>
          <a:solidFill>
            <a:srgbClr val="2587C5"/>
          </a:solidFill>
          <a:ln/>
        </p:spPr>
      </p:sp>
      <p:sp>
        <p:nvSpPr>
          <p:cNvPr id="53" name="Text 51"/>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4" name="Text 52"/>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5" name="Shape 53"/>
          <p:cNvSpPr/>
          <p:nvPr/>
        </p:nvSpPr>
        <p:spPr>
          <a:xfrm>
            <a:off x="8040624" y="2103120"/>
            <a:ext cx="3489960" cy="828446"/>
          </a:xfrm>
          <a:prstGeom prst="rect">
            <a:avLst/>
          </a:prstGeom>
          <a:solidFill>
            <a:srgbClr val="F7F7F7"/>
          </a:solidFill>
          <a:ln/>
        </p:spPr>
      </p:sp>
      <p:sp>
        <p:nvSpPr>
          <p:cNvPr id="56" name="Shape 54"/>
          <p:cNvSpPr/>
          <p:nvPr/>
        </p:nvSpPr>
        <p:spPr>
          <a:xfrm>
            <a:off x="11466576" y="2139696"/>
            <a:ext cx="64008" cy="755294"/>
          </a:xfrm>
          <a:prstGeom prst="rect">
            <a:avLst/>
          </a:prstGeom>
          <a:solidFill>
            <a:srgbClr val="12A566"/>
          </a:solidFill>
          <a:ln/>
        </p:spPr>
      </p:sp>
      <p:sp>
        <p:nvSpPr>
          <p:cNvPr id="57" name="Text 55"/>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8" name="Text 56"/>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9" name="Text 57"/>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Shape 62"/>
          <p:cNvSpPr/>
          <p:nvPr/>
        </p:nvSpPr>
        <p:spPr>
          <a:xfrm>
            <a:off x="11466576" y="3796589"/>
            <a:ext cx="64008" cy="755294"/>
          </a:xfrm>
          <a:prstGeom prst="rect">
            <a:avLst/>
          </a:prstGeom>
          <a:solidFill>
            <a:srgbClr val="12A566"/>
          </a:solidFill>
          <a:ln/>
        </p:spPr>
      </p:sp>
      <p:sp>
        <p:nvSpPr>
          <p:cNvPr id="65" name="Text 63"/>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6" name="Text 64"/>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7" name="Text 65"/>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8" name="Shape 66"/>
          <p:cNvSpPr/>
          <p:nvPr/>
        </p:nvSpPr>
        <p:spPr>
          <a:xfrm>
            <a:off x="11466576" y="4625035"/>
            <a:ext cx="64008" cy="755294"/>
          </a:xfrm>
          <a:prstGeom prst="rect">
            <a:avLst/>
          </a:prstGeom>
          <a:solidFill>
            <a:srgbClr val="2587C5"/>
          </a:solidFill>
          <a:ln/>
        </p:spPr>
      </p:sp>
      <p:sp>
        <p:nvSpPr>
          <p:cNvPr id="69" name="Text 6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0" name="Text 6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71" name="Text 69"/>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72" name="Shape 70"/>
          <p:cNvSpPr/>
          <p:nvPr/>
        </p:nvSpPr>
        <p:spPr>
          <a:xfrm>
            <a:off x="8040624" y="5416906"/>
            <a:ext cx="3489960" cy="828446"/>
          </a:xfrm>
          <a:prstGeom prst="rect">
            <a:avLst/>
          </a:prstGeom>
          <a:solidFill>
            <a:srgbClr val="F7F7F7"/>
          </a:solidFill>
          <a:ln/>
        </p:spPr>
      </p:sp>
      <p:sp>
        <p:nvSpPr>
          <p:cNvPr id="73" name="Shape 71"/>
          <p:cNvSpPr/>
          <p:nvPr/>
        </p:nvSpPr>
        <p:spPr>
          <a:xfrm>
            <a:off x="11466576" y="5453482"/>
            <a:ext cx="64008" cy="755294"/>
          </a:xfrm>
          <a:prstGeom prst="rect">
            <a:avLst/>
          </a:prstGeom>
          <a:solidFill>
            <a:srgbClr val="12A566"/>
          </a:solidFill>
          <a:ln/>
        </p:spPr>
      </p:sp>
      <p:sp>
        <p:nvSpPr>
          <p:cNvPr id="74" name="Text 7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5" name="Text 7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76" name="Text 74"/>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18 declined.</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Shape 37"/>
          <p:cNvSpPr/>
          <p:nvPr/>
        </p:nvSpPr>
        <p:spPr>
          <a:xfrm>
            <a:off x="7775448" y="3796589"/>
            <a:ext cx="64008" cy="755294"/>
          </a:xfrm>
          <a:prstGeom prst="rect">
            <a:avLst/>
          </a:prstGeom>
          <a:solidFill>
            <a:srgbClr val="2587C5"/>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Shape 45"/>
          <p:cNvSpPr/>
          <p:nvPr/>
        </p:nvSpPr>
        <p:spPr>
          <a:xfrm>
            <a:off x="7775448" y="5453482"/>
            <a:ext cx="64008" cy="755294"/>
          </a:xfrm>
          <a:prstGeom prst="rect">
            <a:avLst/>
          </a:prstGeom>
          <a:solidFill>
            <a:srgbClr val="2587C5"/>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8" name="Shape 56"/>
          <p:cNvSpPr/>
          <p:nvPr/>
        </p:nvSpPr>
        <p:spPr>
          <a:xfrm>
            <a:off x="11466576" y="2968142"/>
            <a:ext cx="64008" cy="755294"/>
          </a:xfrm>
          <a:prstGeom prst="rect">
            <a:avLst/>
          </a:prstGeom>
          <a:solidFill>
            <a:srgbClr val="2587C5"/>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6" name="Shape 64"/>
          <p:cNvSpPr/>
          <p:nvPr/>
        </p:nvSpPr>
        <p:spPr>
          <a:xfrm>
            <a:off x="11466576" y="4625035"/>
            <a:ext cx="64008" cy="755294"/>
          </a:xfrm>
          <a:prstGeom prst="rect">
            <a:avLst/>
          </a:prstGeom>
          <a:solidFill>
            <a:srgbClr val="12A566"/>
          </a:solidFill>
          <a:ln/>
        </p:spPr>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2587C5"/>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514807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309067"/>
          </a:xfrm>
          <a:prstGeom prst="rect">
            <a:avLst/>
          </a:prstGeom>
          <a:solidFill>
            <a:srgbClr val="12A566"/>
          </a:solidFill>
          <a:ln/>
        </p:spPr>
      </p:sp>
      <p:sp>
        <p:nvSpPr>
          <p:cNvPr id="16" name="Text 14"/>
          <p:cNvSpPr txBox="1"/>
          <p:nvPr/>
        </p:nvSpPr>
        <p:spPr>
          <a:xfrm>
            <a:off x="62179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968142"/>
            <a:ext cx="54864" cy="309067"/>
          </a:xfrm>
          <a:prstGeom prst="rect">
            <a:avLst/>
          </a:prstGeom>
          <a:solidFill>
            <a:srgbClr val="12A566"/>
          </a:solidFill>
          <a:ln/>
        </p:spPr>
      </p:sp>
      <p:sp>
        <p:nvSpPr>
          <p:cNvPr id="23" name="Text 21"/>
          <p:cNvSpPr txBox="1"/>
          <p:nvPr/>
        </p:nvSpPr>
        <p:spPr>
          <a:xfrm>
            <a:off x="62179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350362"/>
            <a:ext cx="54864" cy="309067"/>
          </a:xfrm>
          <a:prstGeom prst="rect">
            <a:avLst/>
          </a:prstGeom>
          <a:solidFill>
            <a:srgbClr val="12A566"/>
          </a:solidFill>
          <a:ln/>
        </p:spPr>
      </p:sp>
      <p:sp>
        <p:nvSpPr>
          <p:cNvPr id="27" name="Text 25"/>
          <p:cNvSpPr txBox="1"/>
          <p:nvPr/>
        </p:nvSpPr>
        <p:spPr>
          <a:xfrm>
            <a:off x="62179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732581"/>
            <a:ext cx="54864" cy="309067"/>
          </a:xfrm>
          <a:prstGeom prst="rect">
            <a:avLst/>
          </a:prstGeom>
          <a:solidFill>
            <a:srgbClr val="12A566"/>
          </a:solidFill>
          <a:ln/>
        </p:spPr>
      </p:sp>
      <p:sp>
        <p:nvSpPr>
          <p:cNvPr id="31" name="Shape 29"/>
          <p:cNvSpPr/>
          <p:nvPr/>
        </p:nvSpPr>
        <p:spPr>
          <a:xfrm>
            <a:off x="621792" y="4096512"/>
            <a:ext cx="3355848" cy="22860"/>
          </a:xfrm>
          <a:prstGeom prst="rect">
            <a:avLst/>
          </a:prstGeom>
          <a:solidFill>
            <a:srgbClr val="C2352F"/>
          </a:solidFill>
          <a:ln/>
        </p:spPr>
      </p:sp>
      <p:sp>
        <p:nvSpPr>
          <p:cNvPr id="32" name="Text 30"/>
          <p:cNvSpPr txBox="1"/>
          <p:nvPr/>
        </p:nvSpPr>
        <p:spPr>
          <a:xfrm>
            <a:off x="62179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389120"/>
            <a:ext cx="54864" cy="309067"/>
          </a:xfrm>
          <a:prstGeom prst="rect">
            <a:avLst/>
          </a:prstGeom>
          <a:solidFill>
            <a:srgbClr val="C2352F"/>
          </a:solidFill>
          <a:ln/>
        </p:spPr>
      </p:sp>
      <p:sp>
        <p:nvSpPr>
          <p:cNvPr id="39" name="Text 37"/>
          <p:cNvSpPr txBox="1"/>
          <p:nvPr/>
        </p:nvSpPr>
        <p:spPr>
          <a:xfrm>
            <a:off x="62179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771339"/>
            <a:ext cx="54864" cy="309067"/>
          </a:xfrm>
          <a:prstGeom prst="rect">
            <a:avLst/>
          </a:prstGeom>
          <a:solidFill>
            <a:srgbClr val="C2352F"/>
          </a:solidFill>
          <a:ln/>
        </p:spPr>
      </p:sp>
      <p:sp>
        <p:nvSpPr>
          <p:cNvPr id="43" name="Text 41"/>
          <p:cNvSpPr txBox="1"/>
          <p:nvPr/>
        </p:nvSpPr>
        <p:spPr>
          <a:xfrm>
            <a:off x="62179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535778"/>
            <a:ext cx="54864" cy="309067"/>
          </a:xfrm>
          <a:prstGeom prst="rect">
            <a:avLst/>
          </a:prstGeom>
          <a:solidFill>
            <a:srgbClr val="C2352F"/>
          </a:solidFill>
          <a:ln/>
        </p:spPr>
      </p:sp>
      <p:sp>
        <p:nvSpPr>
          <p:cNvPr id="50" name="Text 48"/>
          <p:cNvSpPr txBox="1"/>
          <p:nvPr/>
        </p:nvSpPr>
        <p:spPr>
          <a:xfrm>
            <a:off x="62179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917997"/>
            <a:ext cx="54864" cy="309067"/>
          </a:xfrm>
          <a:prstGeom prst="rect">
            <a:avLst/>
          </a:prstGeom>
          <a:solidFill>
            <a:srgbClr val="C2352F"/>
          </a:solidFill>
          <a:ln/>
        </p:spPr>
      </p:sp>
      <p:sp>
        <p:nvSpPr>
          <p:cNvPr id="54" name="Shape 52"/>
          <p:cNvSpPr/>
          <p:nvPr/>
        </p:nvSpPr>
        <p:spPr>
          <a:xfrm>
            <a:off x="4251960" y="1207008"/>
            <a:ext cx="3685032" cy="514807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309067"/>
          </a:xfrm>
          <a:prstGeom prst="rect">
            <a:avLst/>
          </a:prstGeom>
          <a:solidFill>
            <a:srgbClr val="12A566"/>
          </a:solidFill>
          <a:ln/>
        </p:spPr>
      </p:sp>
      <p:sp>
        <p:nvSpPr>
          <p:cNvPr id="65" name="Text 63"/>
          <p:cNvSpPr txBox="1"/>
          <p:nvPr/>
        </p:nvSpPr>
        <p:spPr>
          <a:xfrm>
            <a:off x="441655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85923"/>
            <a:ext cx="54864" cy="309067"/>
          </a:xfrm>
          <a:prstGeom prst="rect">
            <a:avLst/>
          </a:prstGeom>
          <a:solidFill>
            <a:srgbClr val="12A566"/>
          </a:solidFill>
          <a:ln/>
        </p:spPr>
      </p:sp>
      <p:sp>
        <p:nvSpPr>
          <p:cNvPr id="69" name="Text 67"/>
          <p:cNvSpPr txBox="1"/>
          <p:nvPr/>
        </p:nvSpPr>
        <p:spPr>
          <a:xfrm>
            <a:off x="441655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968142"/>
            <a:ext cx="54864" cy="309067"/>
          </a:xfrm>
          <a:prstGeom prst="rect">
            <a:avLst/>
          </a:prstGeom>
          <a:solidFill>
            <a:srgbClr val="12A566"/>
          </a:solidFill>
          <a:ln/>
        </p:spPr>
      </p:sp>
      <p:sp>
        <p:nvSpPr>
          <p:cNvPr id="73" name="Text 71"/>
          <p:cNvSpPr txBox="1"/>
          <p:nvPr/>
        </p:nvSpPr>
        <p:spPr>
          <a:xfrm>
            <a:off x="441655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350362"/>
            <a:ext cx="54864" cy="309067"/>
          </a:xfrm>
          <a:prstGeom prst="rect">
            <a:avLst/>
          </a:prstGeom>
          <a:solidFill>
            <a:srgbClr val="12A566"/>
          </a:solidFill>
          <a:ln/>
        </p:spPr>
      </p:sp>
      <p:sp>
        <p:nvSpPr>
          <p:cNvPr id="77" name="Text 75"/>
          <p:cNvSpPr txBox="1"/>
          <p:nvPr/>
        </p:nvSpPr>
        <p:spPr>
          <a:xfrm>
            <a:off x="441655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4096512"/>
            <a:ext cx="3355848" cy="22860"/>
          </a:xfrm>
          <a:prstGeom prst="rect">
            <a:avLst/>
          </a:prstGeom>
          <a:solidFill>
            <a:srgbClr val="C2352F"/>
          </a:solidFill>
          <a:ln/>
        </p:spPr>
      </p:sp>
      <p:sp>
        <p:nvSpPr>
          <p:cNvPr id="81" name="Text 79"/>
          <p:cNvSpPr txBox="1"/>
          <p:nvPr/>
        </p:nvSpPr>
        <p:spPr>
          <a:xfrm>
            <a:off x="441655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389120"/>
            <a:ext cx="54864" cy="309067"/>
          </a:xfrm>
          <a:prstGeom prst="rect">
            <a:avLst/>
          </a:prstGeom>
          <a:solidFill>
            <a:srgbClr val="C2352F"/>
          </a:solidFill>
          <a:ln/>
        </p:spPr>
      </p:sp>
      <p:sp>
        <p:nvSpPr>
          <p:cNvPr id="88" name="Text 86"/>
          <p:cNvSpPr txBox="1"/>
          <p:nvPr/>
        </p:nvSpPr>
        <p:spPr>
          <a:xfrm>
            <a:off x="441655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535778"/>
            <a:ext cx="54864" cy="309067"/>
          </a:xfrm>
          <a:prstGeom prst="rect">
            <a:avLst/>
          </a:prstGeom>
          <a:solidFill>
            <a:srgbClr val="C2352F"/>
          </a:solidFill>
          <a:ln/>
        </p:spPr>
      </p:sp>
      <p:sp>
        <p:nvSpPr>
          <p:cNvPr id="98" name="Text 96"/>
          <p:cNvSpPr txBox="1"/>
          <p:nvPr/>
        </p:nvSpPr>
        <p:spPr>
          <a:xfrm>
            <a:off x="441655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917997"/>
            <a:ext cx="54864" cy="309067"/>
          </a:xfrm>
          <a:prstGeom prst="rect">
            <a:avLst/>
          </a:prstGeom>
          <a:solidFill>
            <a:srgbClr val="C2352F"/>
          </a:solidFill>
          <a:ln/>
        </p:spPr>
      </p:sp>
      <p:sp>
        <p:nvSpPr>
          <p:cNvPr id="102" name="Shape 100"/>
          <p:cNvSpPr/>
          <p:nvPr/>
        </p:nvSpPr>
        <p:spPr>
          <a:xfrm>
            <a:off x="8046720" y="1207008"/>
            <a:ext cx="3685032" cy="514807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 · 6 stores at 100%</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09" name="Text 107"/>
          <p:cNvSpPr txBox="1"/>
          <p:nvPr/>
        </p:nvSpPr>
        <p:spPr>
          <a:xfrm>
            <a:off x="8211312" y="2167128"/>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1,570</a:t>
            </a:r>
            <a:endParaRPr lang="en-US" sz="1200" dirty="0"/>
          </a:p>
        </p:txBody>
      </p:sp>
      <p:sp>
        <p:nvSpPr>
          <p:cNvPr id="112" name="Text 110"/>
          <p:cNvSpPr txBox="1"/>
          <p:nvPr/>
        </p:nvSpPr>
        <p:spPr>
          <a:xfrm>
            <a:off x="8211312" y="2549347"/>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Text 111"/>
          <p:cNvSpPr txBox="1"/>
          <p:nvPr/>
        </p:nvSpPr>
        <p:spPr>
          <a:xfrm>
            <a:off x="9902952" y="2549347"/>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549347"/>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1,565</a:t>
            </a:r>
            <a:endParaRPr lang="en-US" sz="1200" dirty="0"/>
          </a:p>
        </p:txBody>
      </p:sp>
      <p:sp>
        <p:nvSpPr>
          <p:cNvPr id="115" name="Text 113"/>
          <p:cNvSpPr txBox="1"/>
          <p:nvPr/>
        </p:nvSpPr>
        <p:spPr>
          <a:xfrm>
            <a:off x="8211312" y="293156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Text 114"/>
          <p:cNvSpPr txBox="1"/>
          <p:nvPr/>
        </p:nvSpPr>
        <p:spPr>
          <a:xfrm>
            <a:off x="9902952" y="293156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93156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1,458</a:t>
            </a:r>
            <a:endParaRPr lang="en-US" sz="1200" dirty="0"/>
          </a:p>
        </p:txBody>
      </p:sp>
      <p:sp>
        <p:nvSpPr>
          <p:cNvPr id="118" name="Text 116"/>
          <p:cNvSpPr txBox="1"/>
          <p:nvPr/>
        </p:nvSpPr>
        <p:spPr>
          <a:xfrm>
            <a:off x="8211312" y="3313786"/>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19" name="Text 117"/>
          <p:cNvSpPr txBox="1"/>
          <p:nvPr/>
        </p:nvSpPr>
        <p:spPr>
          <a:xfrm>
            <a:off x="9902952" y="3313786"/>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313786"/>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121" name="Text 119"/>
          <p:cNvSpPr txBox="1"/>
          <p:nvPr/>
        </p:nvSpPr>
        <p:spPr>
          <a:xfrm>
            <a:off x="8211312" y="3696005"/>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22" name="Text 120"/>
          <p:cNvSpPr txBox="1"/>
          <p:nvPr/>
        </p:nvSpPr>
        <p:spPr>
          <a:xfrm>
            <a:off x="9902952" y="3696005"/>
            <a:ext cx="731520" cy="382219"/>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696005"/>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911</a:t>
            </a:r>
            <a:endParaRPr lang="en-US" sz="1200" dirty="0"/>
          </a:p>
        </p:txBody>
      </p:sp>
      <p:sp>
        <p:nvSpPr>
          <p:cNvPr id="124" name="Shape 122"/>
          <p:cNvSpPr/>
          <p:nvPr/>
        </p:nvSpPr>
        <p:spPr>
          <a:xfrm>
            <a:off x="8211312" y="4096512"/>
            <a:ext cx="3355848" cy="22860"/>
          </a:xfrm>
          <a:prstGeom prst="rect">
            <a:avLst/>
          </a:prstGeom>
          <a:solidFill>
            <a:srgbClr val="C2352F"/>
          </a:solidFill>
          <a:ln/>
        </p:spPr>
      </p:sp>
      <p:sp>
        <p:nvSpPr>
          <p:cNvPr id="125" name="Text 123"/>
          <p:cNvSpPr txBox="1"/>
          <p:nvPr/>
        </p:nvSpPr>
        <p:spPr>
          <a:xfrm>
            <a:off x="8211312" y="412394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6" name="Text 124"/>
          <p:cNvSpPr txBox="1"/>
          <p:nvPr/>
        </p:nvSpPr>
        <p:spPr>
          <a:xfrm>
            <a:off x="9902952" y="412394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27" name="Text 125"/>
          <p:cNvSpPr txBox="1"/>
          <p:nvPr/>
        </p:nvSpPr>
        <p:spPr>
          <a:xfrm>
            <a:off x="10652760" y="412394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28" name="Text 126"/>
          <p:cNvSpPr txBox="1"/>
          <p:nvPr/>
        </p:nvSpPr>
        <p:spPr>
          <a:xfrm>
            <a:off x="8211312" y="4352544"/>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9" name="Text 127"/>
          <p:cNvSpPr txBox="1"/>
          <p:nvPr/>
        </p:nvSpPr>
        <p:spPr>
          <a:xfrm>
            <a:off x="9902952" y="4352544"/>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0" name="Text 128"/>
          <p:cNvSpPr txBox="1"/>
          <p:nvPr/>
        </p:nvSpPr>
        <p:spPr>
          <a:xfrm>
            <a:off x="10652760" y="4352544"/>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1" name="Text 129"/>
          <p:cNvSpPr txBox="1"/>
          <p:nvPr/>
        </p:nvSpPr>
        <p:spPr>
          <a:xfrm>
            <a:off x="8211312" y="4734763"/>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2" name="Text 130"/>
          <p:cNvSpPr txBox="1"/>
          <p:nvPr/>
        </p:nvSpPr>
        <p:spPr>
          <a:xfrm>
            <a:off x="9902952" y="4734763"/>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3" name="Text 131"/>
          <p:cNvSpPr txBox="1"/>
          <p:nvPr/>
        </p:nvSpPr>
        <p:spPr>
          <a:xfrm>
            <a:off x="10652760" y="4734763"/>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4" name="Text 132"/>
          <p:cNvSpPr txBox="1"/>
          <p:nvPr/>
        </p:nvSpPr>
        <p:spPr>
          <a:xfrm>
            <a:off x="8211312" y="511698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5" name="Text 133"/>
          <p:cNvSpPr txBox="1"/>
          <p:nvPr/>
        </p:nvSpPr>
        <p:spPr>
          <a:xfrm>
            <a:off x="9902952" y="511698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6" name="Text 134"/>
          <p:cNvSpPr txBox="1"/>
          <p:nvPr/>
        </p:nvSpPr>
        <p:spPr>
          <a:xfrm>
            <a:off x="10652760" y="511698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37" name="Shape 135"/>
          <p:cNvSpPr/>
          <p:nvPr/>
        </p:nvSpPr>
        <p:spPr>
          <a:xfrm>
            <a:off x="11612880" y="5153558"/>
            <a:ext cx="54864" cy="309067"/>
          </a:xfrm>
          <a:prstGeom prst="rect">
            <a:avLst/>
          </a:prstGeom>
          <a:solidFill>
            <a:srgbClr val="C2352F"/>
          </a:solidFill>
          <a:ln/>
        </p:spPr>
      </p:sp>
      <p:sp>
        <p:nvSpPr>
          <p:cNvPr id="138" name="Text 136"/>
          <p:cNvSpPr txBox="1"/>
          <p:nvPr/>
        </p:nvSpPr>
        <p:spPr>
          <a:xfrm>
            <a:off x="8211312" y="5499202"/>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39" name="Text 137"/>
          <p:cNvSpPr txBox="1"/>
          <p:nvPr/>
        </p:nvSpPr>
        <p:spPr>
          <a:xfrm>
            <a:off x="9902952" y="5499202"/>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0" name="Text 138"/>
          <p:cNvSpPr txBox="1"/>
          <p:nvPr/>
        </p:nvSpPr>
        <p:spPr>
          <a:xfrm>
            <a:off x="10652760" y="5499202"/>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1" name="Shape 139"/>
          <p:cNvSpPr/>
          <p:nvPr/>
        </p:nvSpPr>
        <p:spPr>
          <a:xfrm>
            <a:off x="11612880" y="5535778"/>
            <a:ext cx="54864" cy="309067"/>
          </a:xfrm>
          <a:prstGeom prst="rect">
            <a:avLst/>
          </a:prstGeom>
          <a:solidFill>
            <a:srgbClr val="C2352F"/>
          </a:solidFill>
          <a:ln/>
        </p:spPr>
      </p:sp>
      <p:sp>
        <p:nvSpPr>
          <p:cNvPr id="142" name="Text 140"/>
          <p:cNvSpPr txBox="1"/>
          <p:nvPr/>
        </p:nvSpPr>
        <p:spPr>
          <a:xfrm>
            <a:off x="8211312" y="5881421"/>
            <a:ext cx="1673352" cy="382219"/>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3" name="Text 141"/>
          <p:cNvSpPr txBox="1"/>
          <p:nvPr/>
        </p:nvSpPr>
        <p:spPr>
          <a:xfrm>
            <a:off x="9902952" y="5881421"/>
            <a:ext cx="731520" cy="382219"/>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4" name="Text 142"/>
          <p:cNvSpPr txBox="1"/>
          <p:nvPr/>
        </p:nvSpPr>
        <p:spPr>
          <a:xfrm>
            <a:off x="10652760" y="5881421"/>
            <a:ext cx="914400" cy="38221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911125"/>
          </a:xfrm>
          <a:prstGeom prst="rect">
            <a:avLst/>
          </a:prstGeom>
          <a:solidFill>
            <a:srgbClr val="2587C5"/>
          </a:solidFill>
          <a:ln/>
        </p:spPr>
      </p:sp>
      <p:sp>
        <p:nvSpPr>
          <p:cNvPr id="14" name="Text 12"/>
          <p:cNvSpPr txBox="1"/>
          <p:nvPr/>
        </p:nvSpPr>
        <p:spPr>
          <a:xfrm>
            <a:off x="5266944"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911125"/>
          </a:xfrm>
          <a:prstGeom prst="rect">
            <a:avLst/>
          </a:prstGeom>
          <a:solidFill>
            <a:srgbClr val="2587C5"/>
          </a:solidFill>
          <a:ln/>
        </p:spPr>
      </p:sp>
      <p:sp>
        <p:nvSpPr>
          <p:cNvPr id="16" name="Text 14"/>
          <p:cNvSpPr txBox="1"/>
          <p:nvPr/>
        </p:nvSpPr>
        <p:spPr>
          <a:xfrm>
            <a:off x="8522208" y="2843784"/>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864637"/>
            <a:ext cx="45720" cy="1268423"/>
          </a:xfrm>
          <a:prstGeom prst="rect">
            <a:avLst/>
          </a:prstGeom>
          <a:solidFill>
            <a:srgbClr val="2587C5"/>
          </a:solidFill>
          <a:ln/>
        </p:spPr>
      </p:sp>
      <p:sp>
        <p:nvSpPr>
          <p:cNvPr id="18" name="Text 16"/>
          <p:cNvSpPr txBox="1"/>
          <p:nvPr/>
        </p:nvSpPr>
        <p:spPr>
          <a:xfrm>
            <a:off x="5266944"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864637"/>
            <a:ext cx="45720" cy="1268423"/>
          </a:xfrm>
          <a:prstGeom prst="rect">
            <a:avLst/>
          </a:prstGeom>
          <a:solidFill>
            <a:srgbClr val="2587C5"/>
          </a:solidFill>
          <a:ln/>
        </p:spPr>
      </p:sp>
      <p:sp>
        <p:nvSpPr>
          <p:cNvPr id="20" name="Text 18"/>
          <p:cNvSpPr txBox="1"/>
          <p:nvPr/>
        </p:nvSpPr>
        <p:spPr>
          <a:xfrm>
            <a:off x="8522208" y="3864637"/>
            <a:ext cx="2962656" cy="126842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5242787"/>
            <a:ext cx="45720" cy="911125"/>
          </a:xfrm>
          <a:prstGeom prst="rect">
            <a:avLst/>
          </a:prstGeom>
          <a:solidFill>
            <a:srgbClr val="2587C5"/>
          </a:solidFill>
          <a:ln/>
        </p:spPr>
      </p:sp>
      <p:sp>
        <p:nvSpPr>
          <p:cNvPr id="22" name="Text 20"/>
          <p:cNvSpPr txBox="1"/>
          <p:nvPr/>
        </p:nvSpPr>
        <p:spPr>
          <a:xfrm>
            <a:off x="5266944"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5242787"/>
            <a:ext cx="45720" cy="911125"/>
          </a:xfrm>
          <a:prstGeom prst="rect">
            <a:avLst/>
          </a:prstGeom>
          <a:solidFill>
            <a:srgbClr val="2587C5"/>
          </a:solidFill>
          <a:ln/>
        </p:spPr>
      </p:sp>
      <p:sp>
        <p:nvSpPr>
          <p:cNvPr id="24" name="Text 22"/>
          <p:cNvSpPr txBox="1"/>
          <p:nvPr/>
        </p:nvSpPr>
        <p:spPr>
          <a:xfrm>
            <a:off x="8522208" y="5242787"/>
            <a:ext cx="2962656" cy="91112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7760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67248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701901"/>
            <a:ext cx="59862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963312"/>
            <a:ext cx="521623"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224723"/>
            <a:ext cx="51842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486134"/>
            <a:ext cx="49092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6474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30764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2801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240227"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793188"/>
            <a:ext cx="217352"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5054599"/>
            <a:ext cx="196405"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19130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184589"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838831"/>
            <a:ext cx="18410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177251"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7669"/>
            <a:ext cx="17587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79080"/>
            <a:ext cx="157338"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440491"/>
            <a:ext cx="138838"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701901"/>
            <a:ext cx="13494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963312"/>
            <a:ext cx="134773"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224723"/>
            <a:ext cx="130191"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486134"/>
            <a:ext cx="1264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747545"/>
            <a:ext cx="12044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4008956"/>
            <a:ext cx="11720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1537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07039"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90606"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924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316010"/>
            <a:ext cx="6611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577420"/>
            <a:ext cx="5370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838831"/>
            <a:ext cx="489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13 declined.</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050673"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440491"/>
            <a:ext cx="1038014"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1166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49509"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224723"/>
            <a:ext cx="602764"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486134"/>
            <a:ext cx="498059"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36748"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419629"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270366"/>
            <a:ext cx="344483"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531777"/>
            <a:ext cx="341580"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793188"/>
            <a:ext cx="326318"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5054599"/>
            <a:ext cx="308206"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316010"/>
            <a:ext cx="299995"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577420"/>
            <a:ext cx="298846"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838831"/>
            <a:ext cx="298644"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6100242"/>
            <a:ext cx="27610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7669"/>
            <a:ext cx="25733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79080"/>
            <a:ext cx="250095"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440491"/>
            <a:ext cx="222717"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701901"/>
            <a:ext cx="194260"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963312"/>
            <a:ext cx="190890"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224723"/>
            <a:ext cx="181408"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486134"/>
            <a:ext cx="157098"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747545"/>
            <a:ext cx="15295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4008956"/>
            <a:ext cx="14564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270366"/>
            <a:ext cx="142349"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531777"/>
            <a:ext cx="122032"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793188"/>
            <a:ext cx="11809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5054599"/>
            <a:ext cx="11585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316010"/>
            <a:ext cx="11199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577420"/>
            <a:ext cx="76952"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838831"/>
            <a:ext cx="76698"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10 declined.</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3" name="Text 61"/>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5" name="Text 63"/>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6" name="Shape 64"/>
          <p:cNvSpPr/>
          <p:nvPr/>
        </p:nvSpPr>
        <p:spPr>
          <a:xfrm>
            <a:off x="8040624" y="5416906"/>
            <a:ext cx="3489960" cy="828446"/>
          </a:xfrm>
          <a:prstGeom prst="rect">
            <a:avLst/>
          </a:prstGeom>
          <a:solidFill>
            <a:srgbClr val="F7F7F7"/>
          </a:solidFill>
          <a:ln/>
        </p:spPr>
      </p:sp>
      <p:sp>
        <p:nvSpPr>
          <p:cNvPr id="67" name="Shape 65"/>
          <p:cNvSpPr/>
          <p:nvPr/>
        </p:nvSpPr>
        <p:spPr>
          <a:xfrm>
            <a:off x="11466576" y="5453482"/>
            <a:ext cx="64008" cy="755294"/>
          </a:xfrm>
          <a:prstGeom prst="rect">
            <a:avLst/>
          </a:prstGeom>
          <a:solidFill>
            <a:srgbClr val="12A566"/>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447288"/>
          </a:xfrm>
          <a:prstGeom prst="rect">
            <a:avLst/>
          </a:prstGeom>
          <a:solidFill>
            <a:srgbClr val="FFFFFF"/>
          </a:solidFill>
          <a:ln/>
        </p:spPr>
      </p:sp>
      <p:sp>
        <p:nvSpPr>
          <p:cNvPr id="14" name="Shape 12"/>
          <p:cNvSpPr/>
          <p:nvPr/>
        </p:nvSpPr>
        <p:spPr>
          <a:xfrm>
            <a:off x="4937760" y="2907792"/>
            <a:ext cx="6793992" cy="344728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807208"/>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cannot be manipulated: it is the work we sell.</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Selling more hours also sells parts.</a:t>
            </a:r>
            <a:endParaRPr lang="en-US" sz="1600" dirty="0"/>
          </a:p>
        </p:txBody>
      </p:sp>
      <p:sp>
        <p:nvSpPr>
          <p:cNvPr id="18" name="Shape 16"/>
          <p:cNvSpPr/>
          <p:nvPr/>
        </p:nvSpPr>
        <p:spPr>
          <a:xfrm>
            <a:off x="5138928" y="3410712"/>
            <a:ext cx="45720" cy="841248"/>
          </a:xfrm>
          <a:prstGeom prst="rect">
            <a:avLst/>
          </a:prstGeom>
          <a:solidFill>
            <a:srgbClr val="2587C5"/>
          </a:solidFill>
          <a:ln/>
        </p:spPr>
      </p:sp>
      <p:sp>
        <p:nvSpPr>
          <p:cNvPr id="19" name="Text 17"/>
          <p:cNvSpPr txBox="1"/>
          <p:nvPr/>
        </p:nvSpPr>
        <p:spPr>
          <a:xfrm>
            <a:off x="5266944"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8394192" y="3410712"/>
            <a:ext cx="45720" cy="841248"/>
          </a:xfrm>
          <a:prstGeom prst="rect">
            <a:avLst/>
          </a:prstGeom>
          <a:solidFill>
            <a:srgbClr val="2587C5"/>
          </a:solidFill>
          <a:ln/>
        </p:spPr>
      </p:sp>
      <p:sp>
        <p:nvSpPr>
          <p:cNvPr id="21" name="Text 19"/>
          <p:cNvSpPr txBox="1"/>
          <p:nvPr/>
        </p:nvSpPr>
        <p:spPr>
          <a:xfrm>
            <a:off x="8522208" y="3410712"/>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5138928" y="4361688"/>
            <a:ext cx="45720" cy="841248"/>
          </a:xfrm>
          <a:prstGeom prst="rect">
            <a:avLst/>
          </a:prstGeom>
          <a:solidFill>
            <a:srgbClr val="2587C5"/>
          </a:solidFill>
          <a:ln/>
        </p:spPr>
      </p:sp>
      <p:sp>
        <p:nvSpPr>
          <p:cNvPr id="23" name="Text 21"/>
          <p:cNvSpPr txBox="1"/>
          <p:nvPr/>
        </p:nvSpPr>
        <p:spPr>
          <a:xfrm>
            <a:off x="5266944"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8394192" y="4361688"/>
            <a:ext cx="45720" cy="841248"/>
          </a:xfrm>
          <a:prstGeom prst="rect">
            <a:avLst/>
          </a:prstGeom>
          <a:solidFill>
            <a:srgbClr val="2587C5"/>
          </a:solidFill>
          <a:ln/>
        </p:spPr>
      </p:sp>
      <p:sp>
        <p:nvSpPr>
          <p:cNvPr id="25" name="Text 23"/>
          <p:cNvSpPr txBox="1"/>
          <p:nvPr/>
        </p:nvSpPr>
        <p:spPr>
          <a:xfrm>
            <a:off x="8522208" y="4361688"/>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5138928" y="5312664"/>
            <a:ext cx="45720" cy="841248"/>
          </a:xfrm>
          <a:prstGeom prst="rect">
            <a:avLst/>
          </a:prstGeom>
          <a:solidFill>
            <a:srgbClr val="2587C5"/>
          </a:solidFill>
          <a:ln/>
        </p:spPr>
      </p:sp>
      <p:sp>
        <p:nvSpPr>
          <p:cNvPr id="27" name="Text 25"/>
          <p:cNvSpPr txBox="1"/>
          <p:nvPr/>
        </p:nvSpPr>
        <p:spPr>
          <a:xfrm>
            <a:off x="5266944"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8394192" y="5312664"/>
            <a:ext cx="45720" cy="841248"/>
          </a:xfrm>
          <a:prstGeom prst="rect">
            <a:avLst/>
          </a:prstGeom>
          <a:solidFill>
            <a:srgbClr val="2587C5"/>
          </a:solidFill>
          <a:ln/>
        </p:spPr>
      </p:sp>
      <p:sp>
        <p:nvSpPr>
          <p:cNvPr id="29" name="Text 27"/>
          <p:cNvSpPr txBox="1"/>
          <p:nvPr/>
        </p:nvSpPr>
        <p:spPr>
          <a:xfrm>
            <a:off x="8522208" y="5312664"/>
            <a:ext cx="2962656" cy="841248"/>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7 declined.</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2" name="Shape 139"/>
          <p:cNvSpPr/>
          <p:nvPr/>
        </p:nvSpPr>
        <p:spPr>
          <a:xfrm>
            <a:off x="457200" y="6126480"/>
            <a:ext cx="11274552" cy="371856"/>
          </a:xfrm>
          <a:prstGeom prst="rect">
            <a:avLst/>
          </a:prstGeom>
          <a:solidFill>
            <a:srgbClr val="E6F6EE"/>
          </a:solidFill>
          <a:ln/>
        </p:spPr>
      </p:sp>
      <p:sp>
        <p:nvSpPr>
          <p:cNvPr id="143" name="Text 14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0.1 hour more on every CP RO is worth $6,602,564 a year in added gross.</a:t>
            </a:r>
            <a:endParaRPr lang="en-US" sz="160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Shape 18"/>
          <p:cNvSpPr/>
          <p:nvPr/>
        </p:nvSpPr>
        <p:spPr>
          <a:xfrm>
            <a:off x="4084320" y="3796589"/>
            <a:ext cx="64008" cy="755294"/>
          </a:xfrm>
          <a:prstGeom prst="rect">
            <a:avLst/>
          </a:prstGeom>
          <a:solidFill>
            <a:srgbClr val="12A566"/>
          </a:solidFill>
          <a:ln/>
        </p:spPr>
      </p:sp>
      <p:sp>
        <p:nvSpPr>
          <p:cNvPr id="21" name="Text 19"/>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3" name="Text 21"/>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4" name="Text 22"/>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5" name="Text 23"/>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7" name="Text 25"/>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8" name="Text 26"/>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9" name="Shape 27"/>
          <p:cNvSpPr/>
          <p:nvPr/>
        </p:nvSpPr>
        <p:spPr>
          <a:xfrm>
            <a:off x="658368" y="5416906"/>
            <a:ext cx="3489960" cy="828446"/>
          </a:xfrm>
          <a:prstGeom prst="rect">
            <a:avLst/>
          </a:prstGeom>
          <a:solidFill>
            <a:srgbClr val="F7F7F7"/>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Shape 71"/>
          <p:cNvSpPr/>
          <p:nvPr/>
        </p:nvSpPr>
        <p:spPr>
          <a:xfrm>
            <a:off x="11466576" y="3796589"/>
            <a:ext cx="64008" cy="755294"/>
          </a:xfrm>
          <a:prstGeom prst="rect">
            <a:avLst/>
          </a:prstGeom>
          <a:solidFill>
            <a:srgbClr val="12A566"/>
          </a:solidFill>
          <a:ln/>
        </p:spPr>
      </p:sp>
      <p:sp>
        <p:nvSpPr>
          <p:cNvPr id="74" name="Text 7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6" name="Text 74"/>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7" name="Text 75"/>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8" name="Shape 76"/>
          <p:cNvSpPr/>
          <p:nvPr/>
        </p:nvSpPr>
        <p:spPr>
          <a:xfrm>
            <a:off x="11466576" y="4625035"/>
            <a:ext cx="64008" cy="755294"/>
          </a:xfrm>
          <a:prstGeom prst="rect">
            <a:avLst/>
          </a:prstGeom>
          <a:solidFill>
            <a:srgbClr val="12A566"/>
          </a:solidFill>
          <a:ln/>
        </p:spPr>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4014216"/>
          </a:xfrm>
          <a:prstGeom prst="rect">
            <a:avLst/>
          </a:prstGeom>
          <a:solidFill>
            <a:srgbClr val="FFFFFF"/>
          </a:solidFill>
          <a:ln/>
        </p:spPr>
      </p:sp>
      <p:sp>
        <p:nvSpPr>
          <p:cNvPr id="9" name="Shape 7"/>
          <p:cNvSpPr/>
          <p:nvPr/>
        </p:nvSpPr>
        <p:spPr>
          <a:xfrm>
            <a:off x="4937760" y="2340864"/>
            <a:ext cx="6793992" cy="401421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37413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205601"/>
          </a:xfrm>
          <a:prstGeom prst="rect">
            <a:avLst/>
          </a:prstGeom>
          <a:solidFill>
            <a:srgbClr val="2587C5"/>
          </a:solidFill>
          <a:ln/>
        </p:spPr>
      </p:sp>
      <p:sp>
        <p:nvSpPr>
          <p:cNvPr id="14" name="Text 12"/>
          <p:cNvSpPr txBox="1"/>
          <p:nvPr/>
        </p:nvSpPr>
        <p:spPr>
          <a:xfrm>
            <a:off x="5266944"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205601"/>
          </a:xfrm>
          <a:prstGeom prst="rect">
            <a:avLst/>
          </a:prstGeom>
          <a:solidFill>
            <a:srgbClr val="2587C5"/>
          </a:solidFill>
          <a:ln/>
        </p:spPr>
      </p:sp>
      <p:sp>
        <p:nvSpPr>
          <p:cNvPr id="16" name="Text 14"/>
          <p:cNvSpPr txBox="1"/>
          <p:nvPr/>
        </p:nvSpPr>
        <p:spPr>
          <a:xfrm>
            <a:off x="8522208" y="2843784"/>
            <a:ext cx="2962656" cy="120560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159113"/>
            <a:ext cx="45720" cy="942535"/>
          </a:xfrm>
          <a:prstGeom prst="rect">
            <a:avLst/>
          </a:prstGeom>
          <a:solidFill>
            <a:srgbClr val="2587C5"/>
          </a:solidFill>
          <a:ln/>
        </p:spPr>
      </p:sp>
      <p:sp>
        <p:nvSpPr>
          <p:cNvPr id="18" name="Text 16"/>
          <p:cNvSpPr txBox="1"/>
          <p:nvPr/>
        </p:nvSpPr>
        <p:spPr>
          <a:xfrm>
            <a:off x="5266944"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159113"/>
            <a:ext cx="45720" cy="942535"/>
          </a:xfrm>
          <a:prstGeom prst="rect">
            <a:avLst/>
          </a:prstGeom>
          <a:solidFill>
            <a:srgbClr val="2587C5"/>
          </a:solidFill>
          <a:ln/>
        </p:spPr>
      </p:sp>
      <p:sp>
        <p:nvSpPr>
          <p:cNvPr id="20" name="Text 18"/>
          <p:cNvSpPr txBox="1"/>
          <p:nvPr/>
        </p:nvSpPr>
        <p:spPr>
          <a:xfrm>
            <a:off x="8522208" y="4159113"/>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5211377"/>
            <a:ext cx="45720" cy="942535"/>
          </a:xfrm>
          <a:prstGeom prst="rect">
            <a:avLst/>
          </a:prstGeom>
          <a:solidFill>
            <a:srgbClr val="2587C5"/>
          </a:solidFill>
          <a:ln/>
        </p:spPr>
      </p:sp>
      <p:sp>
        <p:nvSpPr>
          <p:cNvPr id="22" name="Text 20"/>
          <p:cNvSpPr txBox="1"/>
          <p:nvPr/>
        </p:nvSpPr>
        <p:spPr>
          <a:xfrm>
            <a:off x="5266944"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5211377"/>
            <a:ext cx="45720" cy="942535"/>
          </a:xfrm>
          <a:prstGeom prst="rect">
            <a:avLst/>
          </a:prstGeom>
          <a:solidFill>
            <a:srgbClr val="2587C5"/>
          </a:solidFill>
          <a:ln/>
        </p:spPr>
      </p:sp>
      <p:sp>
        <p:nvSpPr>
          <p:cNvPr id="24" name="Text 22"/>
          <p:cNvSpPr txBox="1"/>
          <p:nvPr/>
        </p:nvSpPr>
        <p:spPr>
          <a:xfrm>
            <a:off x="8522208" y="5211377"/>
            <a:ext cx="2962656" cy="942535"/>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2" name="Shape 249"/>
          <p:cNvSpPr/>
          <p:nvPr/>
        </p:nvSpPr>
        <p:spPr>
          <a:xfrm>
            <a:off x="457200" y="6126480"/>
            <a:ext cx="11274552" cy="371856"/>
          </a:xfrm>
          <a:prstGeom prst="rect">
            <a:avLst/>
          </a:prstGeom>
          <a:solidFill>
            <a:srgbClr val="EDF4FA"/>
          </a:solidFill>
          <a:ln/>
        </p:spPr>
      </p:sp>
      <p:sp>
        <p:nvSpPr>
          <p:cNvPr id="253" name="Text 25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403250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304495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304495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304495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304495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304495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14 declined.</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9" name="Shape 216"/>
          <p:cNvSpPr/>
          <p:nvPr/>
        </p:nvSpPr>
        <p:spPr>
          <a:xfrm>
            <a:off x="457200" y="6126480"/>
            <a:ext cx="11274552" cy="371856"/>
          </a:xfrm>
          <a:prstGeom prst="rect">
            <a:avLst/>
          </a:prstGeom>
          <a:solidFill>
            <a:srgbClr val="EDF4FA"/>
          </a:solidFill>
          <a:ln/>
        </p:spPr>
      </p:sp>
      <p:sp>
        <p:nvSpPr>
          <p:cNvPr id="220" name="Text 21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Shape 35"/>
          <p:cNvSpPr/>
          <p:nvPr/>
        </p:nvSpPr>
        <p:spPr>
          <a:xfrm>
            <a:off x="7775448" y="2139696"/>
            <a:ext cx="64008" cy="755294"/>
          </a:xfrm>
          <a:prstGeom prst="rect">
            <a:avLst/>
          </a:prstGeom>
          <a:solidFill>
            <a:srgbClr val="2587C5"/>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Shape 71"/>
          <p:cNvSpPr/>
          <p:nvPr/>
        </p:nvSpPr>
        <p:spPr>
          <a:xfrm>
            <a:off x="11466576" y="3796589"/>
            <a:ext cx="64008" cy="755294"/>
          </a:xfrm>
          <a:prstGeom prst="rect">
            <a:avLst/>
          </a:prstGeom>
          <a:solidFill>
            <a:srgbClr val="12A566"/>
          </a:solidFill>
          <a:ln/>
        </p:spPr>
      </p:sp>
      <p:sp>
        <p:nvSpPr>
          <p:cNvPr id="74" name="Text 7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6" name="Text 74"/>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7" name="Text 75"/>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8" name="Shape 76"/>
          <p:cNvSpPr/>
          <p:nvPr/>
        </p:nvSpPr>
        <p:spPr>
          <a:xfrm>
            <a:off x="11466576" y="4625035"/>
            <a:ext cx="64008" cy="755294"/>
          </a:xfrm>
          <a:prstGeom prst="rect">
            <a:avLst/>
          </a:prstGeom>
          <a:solidFill>
            <a:srgbClr val="2587C5"/>
          </a:solidFill>
          <a:ln/>
        </p:spPr>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7 declined.</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Shape 21"/>
          <p:cNvSpPr/>
          <p:nvPr/>
        </p:nvSpPr>
        <p:spPr>
          <a:xfrm>
            <a:off x="4084320" y="4625035"/>
            <a:ext cx="64008" cy="755294"/>
          </a:xfrm>
          <a:prstGeom prst="rect">
            <a:avLst/>
          </a:prstGeom>
          <a:solidFill>
            <a:srgbClr val="12A566"/>
          </a:solidFill>
          <a:ln/>
        </p:spPr>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Text 35"/>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9" name="Text 37"/>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0" name="Text 38"/>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1" name="Text 39"/>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3" name="Text 41"/>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4" name="Text 42"/>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5" name="Shape 43"/>
          <p:cNvSpPr/>
          <p:nvPr/>
        </p:nvSpPr>
        <p:spPr>
          <a:xfrm>
            <a:off x="4349496" y="3760013"/>
            <a:ext cx="3489960" cy="828446"/>
          </a:xfrm>
          <a:prstGeom prst="rect">
            <a:avLst/>
          </a:prstGeom>
          <a:solidFill>
            <a:srgbClr val="F7F7F7"/>
          </a:solidFill>
          <a:ln/>
        </p:spPr>
      </p:sp>
      <p:sp>
        <p:nvSpPr>
          <p:cNvPr id="46" name="Text 44"/>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8" name="Text 46"/>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9" name="Text 47"/>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0" name="Text 48"/>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2" name="Text 50"/>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3" name="Text 51"/>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4" name="Shape 52"/>
          <p:cNvSpPr/>
          <p:nvPr/>
        </p:nvSpPr>
        <p:spPr>
          <a:xfrm>
            <a:off x="4349496" y="5416906"/>
            <a:ext cx="3489960" cy="828446"/>
          </a:xfrm>
          <a:prstGeom prst="rect">
            <a:avLst/>
          </a:prstGeom>
          <a:solidFill>
            <a:srgbClr val="F7F7F7"/>
          </a:solidFill>
          <a:ln/>
        </p:spPr>
      </p:sp>
      <p:sp>
        <p:nvSpPr>
          <p:cNvPr id="55" name="Text 5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7" name="Text 55"/>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8" name="Text 56"/>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2" name="Shape 60"/>
          <p:cNvSpPr/>
          <p:nvPr/>
        </p:nvSpPr>
        <p:spPr>
          <a:xfrm>
            <a:off x="8040624" y="2103120"/>
            <a:ext cx="3489960" cy="828446"/>
          </a:xfrm>
          <a:prstGeom prst="rect">
            <a:avLst/>
          </a:prstGeom>
          <a:solidFill>
            <a:srgbClr val="F7F7F7"/>
          </a:solidFill>
          <a:ln/>
        </p:spPr>
      </p:sp>
      <p:sp>
        <p:nvSpPr>
          <p:cNvPr id="63" name="Text 6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5" name="Text 63"/>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6" name="Text 64"/>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7" name="Shape 65"/>
          <p:cNvSpPr/>
          <p:nvPr/>
        </p:nvSpPr>
        <p:spPr>
          <a:xfrm>
            <a:off x="11466576" y="2968142"/>
            <a:ext cx="64008" cy="755294"/>
          </a:xfrm>
          <a:prstGeom prst="rect">
            <a:avLst/>
          </a:prstGeom>
          <a:solidFill>
            <a:srgbClr val="12A566"/>
          </a:solidFill>
          <a:ln/>
        </p:spPr>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Text 7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5" name="Text 73"/>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6" name="Text 74"/>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7" name="Text 7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9" name="Text 77"/>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80" name="Text 78"/>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81" name="Shape 79"/>
          <p:cNvSpPr/>
          <p:nvPr/>
        </p:nvSpPr>
        <p:spPr>
          <a:xfrm>
            <a:off x="8040624" y="5416906"/>
            <a:ext cx="3489960" cy="828446"/>
          </a:xfrm>
          <a:prstGeom prst="rect">
            <a:avLst/>
          </a:prstGeom>
          <a:solidFill>
            <a:srgbClr val="F7F7F7"/>
          </a:solidFill>
          <a:ln/>
        </p:spPr>
      </p:sp>
      <p:sp>
        <p:nvSpPr>
          <p:cNvPr id="82" name="Text 8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4" name="Text 82"/>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5" name="Text 83"/>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80.8% group.</a:t>
            </a:r>
            <a:endParaRPr lang="en-US" sz="16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13 declined.</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Shape 23"/>
          <p:cNvSpPr/>
          <p:nvPr/>
        </p:nvSpPr>
        <p:spPr>
          <a:xfrm>
            <a:off x="4084320" y="5453482"/>
            <a:ext cx="64008" cy="755294"/>
          </a:xfrm>
          <a:prstGeom prst="rect">
            <a:avLst/>
          </a:prstGeom>
          <a:solidFill>
            <a:srgbClr val="12A566"/>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less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19 of 33 stores at or above the 40.7% group.</a:t>
            </a:r>
            <a:endParaRPr lang="en-US" sz="160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5 declined.</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Shape 51"/>
          <p:cNvSpPr/>
          <p:nvPr/>
        </p:nvSpPr>
        <p:spPr>
          <a:xfrm>
            <a:off x="11466576" y="2139696"/>
            <a:ext cx="64008" cy="755294"/>
          </a:xfrm>
          <a:prstGeom prst="rect">
            <a:avLst/>
          </a:prstGeom>
          <a:solidFill>
            <a:srgbClr val="12A566"/>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Every service or repair not recommended is hours a technician never gets the chance to earn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 A car we can't book is work we never see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what it finds is worth far more than the maintenance the car is due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An oil change that misses worn brakes or a leaking water pump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but first make the most of every car already in the shop</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7269480" y="3931920"/>
            <a:ext cx="54864" cy="1783080"/>
          </a:xfrm>
          <a:prstGeom prst="rect">
            <a:avLst/>
          </a:prstGeom>
          <a:solidFill>
            <a:srgbClr val="C2352F"/>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 every car skipped is unknown work left in the car.</a:t>
            </a:r>
            <a:endParaRPr lang="en-US" sz="1400" dirty="0"/>
          </a:p>
        </p:txBody>
      </p:sp>
      <p:sp>
        <p:nvSpPr>
          <p:cNvPr id="16" name="Shape 14"/>
          <p:cNvSpPr/>
          <p:nvPr/>
        </p:nvSpPr>
        <p:spPr>
          <a:xfrm>
            <a:off x="457200" y="6126480"/>
            <a:ext cx="11274552" cy="615696"/>
          </a:xfrm>
          <a:prstGeom prst="rect">
            <a:avLst/>
          </a:prstGeom>
          <a:solidFill>
            <a:srgbClr val="EDF4FA"/>
          </a:solidFill>
          <a:ln/>
        </p:spPr>
      </p:sp>
      <p:sp>
        <p:nvSpPr>
          <p:cNvPr id="17" name="Text 1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 and the Fixed Ops DOC</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111252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57.8%</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Video completion, July to September (store-reported). 17 of 33 stores at or above the group.</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Photo completion, July to September. 11 of the 28 stores that report it at or above the group.</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a:t>
            </a:r>
            <a:endParaRPr lang="en-US" sz="16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DF4FA"/>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17 of 33 stores at or above the 57.8% group.</a:t>
            </a:r>
            <a:endParaRPr lang="en-US" sz="16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9" name="Shape 156"/>
          <p:cNvSpPr/>
          <p:nvPr/>
        </p:nvSpPr>
        <p:spPr>
          <a:xfrm>
            <a:off x="457200" y="6126480"/>
            <a:ext cx="11274552" cy="371856"/>
          </a:xfrm>
          <a:prstGeom prst="rect">
            <a:avLst/>
          </a:prstGeom>
          <a:solidFill>
            <a:srgbClr val="EDF4FA"/>
          </a:solidFill>
          <a:ln/>
        </p:spPr>
      </p:sp>
      <p:sp>
        <p:nvSpPr>
          <p:cNvPr id="160" name="Text 15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11 of 28 stores at or above the 45.3% group.</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The group sits at 13.2%.</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101770"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52178"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107256" y="1756697"/>
            <a:ext cx="23944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+$171K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+1,422</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20" name="Text 18"/>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107256" y="2005199"/>
            <a:ext cx="171145" cy="136676"/>
          </a:xfrm>
          <a:prstGeom prst="rect">
            <a:avLst/>
          </a:prstGeom>
          <a:solidFill>
            <a:srgbClr val="12A566"/>
          </a:solidFill>
          <a:ln/>
        </p:spPr>
      </p:sp>
      <p:sp>
        <p:nvSpPr>
          <p:cNvPr id="23" name="Text 21"/>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+$123K</a:t>
            </a:r>
            <a:endParaRPr lang="en-US" sz="1300" dirty="0"/>
          </a:p>
        </p:txBody>
      </p:sp>
      <p:sp>
        <p:nvSpPr>
          <p:cNvPr id="24" name="Text 22"/>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+473</a:t>
            </a:r>
            <a:endParaRPr lang="en-US" sz="1300" dirty="0"/>
          </a:p>
        </p:txBody>
      </p:sp>
      <p:sp>
        <p:nvSpPr>
          <p:cNvPr id="25" name="Text 23"/>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6" name="Shape 24"/>
          <p:cNvSpPr/>
          <p:nvPr/>
        </p:nvSpPr>
        <p:spPr>
          <a:xfrm>
            <a:off x="5971032" y="1995006"/>
            <a:ext cx="54864" cy="157062"/>
          </a:xfrm>
          <a:prstGeom prst="rect">
            <a:avLst/>
          </a:prstGeom>
          <a:solidFill>
            <a:srgbClr val="12A566"/>
          </a:solidFill>
          <a:ln/>
        </p:spPr>
      </p:sp>
      <p:sp>
        <p:nvSpPr>
          <p:cNvPr id="27" name="Text 25"/>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107256" y="2253700"/>
            <a:ext cx="43486" cy="136676"/>
          </a:xfrm>
          <a:prstGeom prst="rect">
            <a:avLst/>
          </a:prstGeom>
          <a:solidFill>
            <a:srgbClr val="12A566"/>
          </a:solidFill>
          <a:ln/>
        </p:spPr>
      </p:sp>
      <p:sp>
        <p:nvSpPr>
          <p:cNvPr id="30" name="Text 28"/>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1" name="Text 29"/>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32" name="Text 30"/>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33" name="Shape 31"/>
          <p:cNvSpPr/>
          <p:nvPr/>
        </p:nvSpPr>
        <p:spPr>
          <a:xfrm>
            <a:off x="5971032" y="2243507"/>
            <a:ext cx="54864" cy="157062"/>
          </a:xfrm>
          <a:prstGeom prst="rect">
            <a:avLst/>
          </a:prstGeom>
          <a:solidFill>
            <a:srgbClr val="12A566"/>
          </a:solidFill>
          <a:ln/>
        </p:spPr>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107256" y="2502202"/>
            <a:ext cx="42955"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3" name="Shape 41"/>
          <p:cNvSpPr/>
          <p:nvPr/>
        </p:nvSpPr>
        <p:spPr>
          <a:xfrm>
            <a:off x="3107256" y="2750703"/>
            <a:ext cx="28061"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9" name="Shape 47"/>
          <p:cNvSpPr/>
          <p:nvPr/>
        </p:nvSpPr>
        <p:spPr>
          <a:xfrm>
            <a:off x="3107256" y="2999205"/>
            <a:ext cx="24562"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5" name="Shape 53"/>
          <p:cNvSpPr/>
          <p:nvPr/>
        </p:nvSpPr>
        <p:spPr>
          <a:xfrm>
            <a:off x="3107256"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107256" y="3496208"/>
            <a:ext cx="18288"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7" name="Shape 65"/>
          <p:cNvSpPr/>
          <p:nvPr/>
        </p:nvSpPr>
        <p:spPr>
          <a:xfrm>
            <a:off x="3106350"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−$649</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099652" y="3993212"/>
            <a:ext cx="18288"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9" name="Shape 77"/>
          <p:cNvSpPr/>
          <p:nvPr/>
        </p:nvSpPr>
        <p:spPr>
          <a:xfrm>
            <a:off x="3097689" y="4241713"/>
            <a:ext cx="1828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3097021" y="4490215"/>
            <a:ext cx="18288"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1" name="Shape 89"/>
          <p:cNvSpPr/>
          <p:nvPr/>
        </p:nvSpPr>
        <p:spPr>
          <a:xfrm>
            <a:off x="3096351"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7" name="Shape 95"/>
          <p:cNvSpPr/>
          <p:nvPr/>
        </p:nvSpPr>
        <p:spPr>
          <a:xfrm>
            <a:off x="3095214"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3" name="Shape 101"/>
          <p:cNvSpPr/>
          <p:nvPr/>
        </p:nvSpPr>
        <p:spPr>
          <a:xfrm>
            <a:off x="3094596"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88641" y="5484222"/>
            <a:ext cx="186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113" name="Shape 111"/>
          <p:cNvSpPr/>
          <p:nvPr/>
        </p:nvSpPr>
        <p:spPr>
          <a:xfrm>
            <a:off x="5971032" y="5474029"/>
            <a:ext cx="54864" cy="157062"/>
          </a:xfrm>
          <a:prstGeom prst="rect">
            <a:avLst/>
          </a:prstGeom>
          <a:solidFill>
            <a:srgbClr val="C2352F"/>
          </a:solidFill>
          <a:ln/>
        </p:spPr>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3085312" y="5732723"/>
            <a:ext cx="2194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2" name="Shape 120"/>
          <p:cNvSpPr/>
          <p:nvPr/>
        </p:nvSpPr>
        <p:spPr>
          <a:xfrm>
            <a:off x="8633950" y="1756697"/>
            <a:ext cx="23714"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−218</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8" name="Shape 126"/>
          <p:cNvSpPr/>
          <p:nvPr/>
        </p:nvSpPr>
        <p:spPr>
          <a:xfrm>
            <a:off x="8633099" y="2005199"/>
            <a:ext cx="24565"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4" name="Shape 132"/>
          <p:cNvSpPr/>
          <p:nvPr/>
        </p:nvSpPr>
        <p:spPr>
          <a:xfrm>
            <a:off x="8631100" y="2253700"/>
            <a:ext cx="26564"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−243</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38" name="Text 13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9" name="Text 137"/>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630107" y="2502202"/>
            <a:ext cx="27557" cy="136676"/>
          </a:xfrm>
          <a:prstGeom prst="rect">
            <a:avLst/>
          </a:prstGeom>
          <a:solidFill>
            <a:srgbClr val="C2352F"/>
          </a:solidFill>
          <a:ln/>
        </p:spPr>
      </p:sp>
      <p:sp>
        <p:nvSpPr>
          <p:cNvPr id="141" name="Text 139"/>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42" name="Text 140"/>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143" name="Text 141"/>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44" name="Text 14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5" name="Text 143"/>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46" name="Shape 144"/>
          <p:cNvSpPr/>
          <p:nvPr/>
        </p:nvSpPr>
        <p:spPr>
          <a:xfrm>
            <a:off x="8623463" y="2750703"/>
            <a:ext cx="34202" cy="136676"/>
          </a:xfrm>
          <a:prstGeom prst="rect">
            <a:avLst/>
          </a:prstGeom>
          <a:solidFill>
            <a:srgbClr val="C2352F"/>
          </a:solidFill>
          <a:ln/>
        </p:spPr>
      </p:sp>
      <p:sp>
        <p:nvSpPr>
          <p:cNvPr id="147" name="Text 145"/>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8" name="Text 146"/>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149" name="Text 147"/>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50" name="Text 148"/>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1" name="Text 149"/>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2" name="Shape 150"/>
          <p:cNvSpPr/>
          <p:nvPr/>
        </p:nvSpPr>
        <p:spPr>
          <a:xfrm>
            <a:off x="8622934" y="2999205"/>
            <a:ext cx="34730" cy="136676"/>
          </a:xfrm>
          <a:prstGeom prst="rect">
            <a:avLst/>
          </a:prstGeom>
          <a:solidFill>
            <a:srgbClr val="C2352F"/>
          </a:solidFill>
          <a:ln/>
        </p:spPr>
      </p:sp>
      <p:sp>
        <p:nvSpPr>
          <p:cNvPr id="153" name="Text 151"/>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54" name="Text 152"/>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55" name="Text 153"/>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56" name="Text 154"/>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7" name="Text 155"/>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8" name="Shape 156"/>
          <p:cNvSpPr/>
          <p:nvPr/>
        </p:nvSpPr>
        <p:spPr>
          <a:xfrm>
            <a:off x="8621687" y="3247707"/>
            <a:ext cx="35977" cy="136676"/>
          </a:xfrm>
          <a:prstGeom prst="rect">
            <a:avLst/>
          </a:prstGeom>
          <a:solidFill>
            <a:srgbClr val="C2352F"/>
          </a:solidFill>
          <a:ln/>
        </p:spPr>
      </p:sp>
      <p:sp>
        <p:nvSpPr>
          <p:cNvPr id="159" name="Text 157"/>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60" name="Text 158"/>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61" name="Text 15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62" name="Text 16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3" name="Text 161"/>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4" name="Shape 162"/>
          <p:cNvSpPr/>
          <p:nvPr/>
        </p:nvSpPr>
        <p:spPr>
          <a:xfrm>
            <a:off x="8619605" y="3496208"/>
            <a:ext cx="38059" cy="136676"/>
          </a:xfrm>
          <a:prstGeom prst="rect">
            <a:avLst/>
          </a:prstGeom>
          <a:solidFill>
            <a:srgbClr val="C2352F"/>
          </a:solidFill>
          <a:ln/>
        </p:spPr>
      </p:sp>
      <p:sp>
        <p:nvSpPr>
          <p:cNvPr id="165" name="Text 163"/>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66" name="Text 164"/>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−221</a:t>
            </a:r>
            <a:endParaRPr lang="en-US" sz="1300" dirty="0"/>
          </a:p>
        </p:txBody>
      </p:sp>
      <p:sp>
        <p:nvSpPr>
          <p:cNvPr id="167" name="Text 165"/>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68" name="Text 16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9" name="Text 167"/>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617628" y="3744710"/>
            <a:ext cx="40036" cy="136676"/>
          </a:xfrm>
          <a:prstGeom prst="rect">
            <a:avLst/>
          </a:prstGeom>
          <a:solidFill>
            <a:srgbClr val="C2352F"/>
          </a:solidFill>
          <a:ln/>
        </p:spPr>
      </p:sp>
      <p:sp>
        <p:nvSpPr>
          <p:cNvPr id="171" name="Text 169"/>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72" name="Text 170"/>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73" name="Text 171"/>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4" name="Text 17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5" name="Text 173"/>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76" name="Shape 174"/>
          <p:cNvSpPr/>
          <p:nvPr/>
        </p:nvSpPr>
        <p:spPr>
          <a:xfrm>
            <a:off x="8605923" y="3993212"/>
            <a:ext cx="51741" cy="136676"/>
          </a:xfrm>
          <a:prstGeom prst="rect">
            <a:avLst/>
          </a:prstGeom>
          <a:solidFill>
            <a:srgbClr val="C2352F"/>
          </a:solidFill>
          <a:ln/>
        </p:spPr>
      </p:sp>
      <p:sp>
        <p:nvSpPr>
          <p:cNvPr id="177" name="Text 175"/>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−$37K</a:t>
            </a:r>
            <a:endParaRPr lang="en-US" sz="1300" dirty="0"/>
          </a:p>
        </p:txBody>
      </p:sp>
      <p:sp>
        <p:nvSpPr>
          <p:cNvPr id="178" name="Text 176"/>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−359</a:t>
            </a:r>
            <a:endParaRPr lang="en-US" sz="1300" dirty="0"/>
          </a:p>
        </p:txBody>
      </p:sp>
      <p:sp>
        <p:nvSpPr>
          <p:cNvPr id="179" name="Text 177"/>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80" name="Text 17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1" name="Text 179"/>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82" name="Shape 180"/>
          <p:cNvSpPr/>
          <p:nvPr/>
        </p:nvSpPr>
        <p:spPr>
          <a:xfrm>
            <a:off x="8597779" y="4241713"/>
            <a:ext cx="59885" cy="136676"/>
          </a:xfrm>
          <a:prstGeom prst="rect">
            <a:avLst/>
          </a:prstGeom>
          <a:solidFill>
            <a:srgbClr val="C2352F"/>
          </a:solidFill>
          <a:ln/>
        </p:spPr>
      </p:sp>
      <p:sp>
        <p:nvSpPr>
          <p:cNvPr id="183" name="Text 181"/>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4" name="Text 182"/>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−578</a:t>
            </a:r>
            <a:endParaRPr lang="en-US" sz="1300" dirty="0"/>
          </a:p>
        </p:txBody>
      </p:sp>
      <p:sp>
        <p:nvSpPr>
          <p:cNvPr id="185" name="Text 183"/>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86" name="Shape 184"/>
          <p:cNvSpPr/>
          <p:nvPr/>
        </p:nvSpPr>
        <p:spPr>
          <a:xfrm>
            <a:off x="11521440" y="4231520"/>
            <a:ext cx="54864" cy="157062"/>
          </a:xfrm>
          <a:prstGeom prst="rect">
            <a:avLst/>
          </a:prstGeom>
          <a:solidFill>
            <a:srgbClr val="C2352F"/>
          </a:solidFill>
          <a:ln/>
        </p:spPr>
      </p:sp>
      <p:sp>
        <p:nvSpPr>
          <p:cNvPr id="187" name="Text 185"/>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8" name="Text 186"/>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9" name="Shape 187"/>
          <p:cNvSpPr/>
          <p:nvPr/>
        </p:nvSpPr>
        <p:spPr>
          <a:xfrm>
            <a:off x="8578602" y="4490215"/>
            <a:ext cx="79062" cy="136676"/>
          </a:xfrm>
          <a:prstGeom prst="rect">
            <a:avLst/>
          </a:prstGeom>
          <a:solidFill>
            <a:srgbClr val="C2352F"/>
          </a:solidFill>
          <a:ln/>
        </p:spPr>
      </p:sp>
      <p:sp>
        <p:nvSpPr>
          <p:cNvPr id="190" name="Text 188"/>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1" name="Text 189"/>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92" name="Text 190"/>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93" name="Text 191"/>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4" name="Text 192"/>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5" name="Shape 193"/>
          <p:cNvSpPr/>
          <p:nvPr/>
        </p:nvSpPr>
        <p:spPr>
          <a:xfrm>
            <a:off x="8577212" y="4738717"/>
            <a:ext cx="80452" cy="136676"/>
          </a:xfrm>
          <a:prstGeom prst="rect">
            <a:avLst/>
          </a:prstGeom>
          <a:solidFill>
            <a:srgbClr val="C2352F"/>
          </a:solidFill>
          <a:ln/>
        </p:spPr>
      </p:sp>
      <p:sp>
        <p:nvSpPr>
          <p:cNvPr id="196" name="Text 194"/>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97" name="Text 195"/>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−426</a:t>
            </a:r>
            <a:endParaRPr lang="en-US" sz="1300" dirty="0"/>
          </a:p>
        </p:txBody>
      </p:sp>
      <p:sp>
        <p:nvSpPr>
          <p:cNvPr id="198" name="Text 196"/>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01" name="Shape 199"/>
          <p:cNvSpPr/>
          <p:nvPr/>
        </p:nvSpPr>
        <p:spPr>
          <a:xfrm>
            <a:off x="8570575" y="4987218"/>
            <a:ext cx="87089"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−525</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205" name="Text 203"/>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6" name="Text 204"/>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7" name="Shape 205"/>
          <p:cNvSpPr/>
          <p:nvPr/>
        </p:nvSpPr>
        <p:spPr>
          <a:xfrm>
            <a:off x="8563419" y="5235720"/>
            <a:ext cx="94245" cy="136676"/>
          </a:xfrm>
          <a:prstGeom prst="rect">
            <a:avLst/>
          </a:prstGeom>
          <a:solidFill>
            <a:srgbClr val="C2352F"/>
          </a:solidFill>
          <a:ln/>
        </p:spPr>
      </p:sp>
      <p:sp>
        <p:nvSpPr>
          <p:cNvPr id="208" name="Text 206"/>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209" name="Text 207"/>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−799</a:t>
            </a:r>
            <a:endParaRPr lang="en-US" sz="1300" dirty="0"/>
          </a:p>
        </p:txBody>
      </p:sp>
      <p:sp>
        <p:nvSpPr>
          <p:cNvPr id="210" name="Text 208"/>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11" name="Text 209"/>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2" name="Text 210"/>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3" name="Shape 211"/>
          <p:cNvSpPr/>
          <p:nvPr/>
        </p:nvSpPr>
        <p:spPr>
          <a:xfrm>
            <a:off x="8421624" y="5484222"/>
            <a:ext cx="236040" cy="136676"/>
          </a:xfrm>
          <a:prstGeom prst="rect">
            <a:avLst/>
          </a:prstGeom>
          <a:solidFill>
            <a:srgbClr val="C2352F"/>
          </a:solidFill>
          <a:ln/>
        </p:spPr>
      </p:sp>
      <p:sp>
        <p:nvSpPr>
          <p:cNvPr id="214" name="Text 212"/>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−$169K</a:t>
            </a:r>
            <a:endParaRPr lang="en-US" sz="1300" dirty="0"/>
          </a:p>
        </p:txBody>
      </p:sp>
      <p:sp>
        <p:nvSpPr>
          <p:cNvPr id="215" name="Text 213"/>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−1,867</a:t>
            </a:r>
            <a:endParaRPr lang="en-US" sz="1300" dirty="0"/>
          </a:p>
        </p:txBody>
      </p:sp>
      <p:sp>
        <p:nvSpPr>
          <p:cNvPr id="216" name="Text 21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217" name="Shape 215"/>
          <p:cNvSpPr/>
          <p:nvPr/>
        </p:nvSpPr>
        <p:spPr>
          <a:xfrm>
            <a:off x="11521440" y="5474029"/>
            <a:ext cx="54864" cy="157062"/>
          </a:xfrm>
          <a:prstGeom prst="rect">
            <a:avLst/>
          </a:prstGeom>
          <a:solidFill>
            <a:srgbClr val="C2352F"/>
          </a:solidFill>
          <a:ln/>
        </p:spPr>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25 stores under 15% have left $771,957 so far this year; 8 are at or above it.</a:t>
            </a:r>
            <a:endParaRPr lang="en-US" sz="16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4" name="Shape 12"/>
          <p:cNvSpPr/>
          <p:nvPr/>
        </p:nvSpPr>
        <p:spPr>
          <a:xfrm>
            <a:off x="4084320" y="2968142"/>
            <a:ext cx="64008" cy="755294"/>
          </a:xfrm>
          <a:prstGeom prst="rect">
            <a:avLst/>
          </a:prstGeom>
          <a:solidFill>
            <a:srgbClr val="12A566"/>
          </a:solidFill>
          <a:ln/>
        </p:spPr>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7" name="Text 15"/>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21" name="Text 19"/>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2" name="Shape 20"/>
          <p:cNvSpPr/>
          <p:nvPr/>
        </p:nvSpPr>
        <p:spPr>
          <a:xfrm>
            <a:off x="4084320" y="4625035"/>
            <a:ext cx="64008" cy="755294"/>
          </a:xfrm>
          <a:prstGeom prst="rect">
            <a:avLst/>
          </a:prstGeom>
          <a:solidFill>
            <a:srgbClr val="12A566"/>
          </a:solidFill>
          <a:ln/>
        </p:spPr>
      </p:sp>
      <p:sp>
        <p:nvSpPr>
          <p:cNvPr id="23" name="Text 21"/>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5" name="Text 23"/>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6" name="Shape 24"/>
          <p:cNvSpPr/>
          <p:nvPr/>
        </p:nvSpPr>
        <p:spPr>
          <a:xfrm>
            <a:off x="658368" y="5416906"/>
            <a:ext cx="3489960" cy="828446"/>
          </a:xfrm>
          <a:prstGeom prst="rect">
            <a:avLst/>
          </a:prstGeom>
          <a:solidFill>
            <a:srgbClr val="F7F7F7"/>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8" name="Shape 56"/>
          <p:cNvSpPr/>
          <p:nvPr/>
        </p:nvSpPr>
        <p:spPr>
          <a:xfrm>
            <a:off x="11466576" y="2968142"/>
            <a:ext cx="64008" cy="755294"/>
          </a:xfrm>
          <a:prstGeom prst="rect">
            <a:avLst/>
          </a:prstGeom>
          <a:solidFill>
            <a:srgbClr val="12A566"/>
          </a:solidFill>
          <a:ln/>
        </p:spPr>
      </p:sp>
      <p:sp>
        <p:nvSpPr>
          <p:cNvPr id="59" name="Text 57"/>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61" name="Text 59"/>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62" name="Shape 60"/>
          <p:cNvSpPr/>
          <p:nvPr/>
        </p:nvSpPr>
        <p:spPr>
          <a:xfrm>
            <a:off x="8040624" y="3760013"/>
            <a:ext cx="3489960" cy="828446"/>
          </a:xfrm>
          <a:prstGeom prst="rect">
            <a:avLst/>
          </a:prstGeom>
          <a:solidFill>
            <a:srgbClr val="F7F7F7"/>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6" name="Shape 64"/>
          <p:cNvSpPr/>
          <p:nvPr/>
        </p:nvSpPr>
        <p:spPr>
          <a:xfrm>
            <a:off x="11466576" y="4625035"/>
            <a:ext cx="64008" cy="755294"/>
          </a:xfrm>
          <a:prstGeom prst="rect">
            <a:avLst/>
          </a:prstGeom>
          <a:solidFill>
            <a:srgbClr val="12A566"/>
          </a:solidFill>
          <a:ln/>
        </p:spPr>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The group sits at 8.3%.</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208196"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758604"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213682" y="1756697"/>
            <a:ext cx="133022"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+$52K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+769</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3" name="Shape 21"/>
          <p:cNvSpPr/>
          <p:nvPr/>
        </p:nvSpPr>
        <p:spPr>
          <a:xfrm>
            <a:off x="3213682" y="2005199"/>
            <a:ext cx="58221"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0" name="Shape 28"/>
          <p:cNvSpPr/>
          <p:nvPr/>
        </p:nvSpPr>
        <p:spPr>
          <a:xfrm>
            <a:off x="3213682" y="2253700"/>
            <a:ext cx="26369"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213682" y="2502202"/>
            <a:ext cx="18288"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3" name="Shape 41"/>
          <p:cNvSpPr/>
          <p:nvPr/>
        </p:nvSpPr>
        <p:spPr>
          <a:xfrm>
            <a:off x="3213617" y="2750703"/>
            <a:ext cx="18288" cy="136676"/>
          </a:xfrm>
          <a:prstGeom prst="rect">
            <a:avLst/>
          </a:prstGeom>
          <a:solidFill>
            <a:srgbClr val="C2352F"/>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208413" y="2999205"/>
            <a:ext cx="18288" cy="136676"/>
          </a:xfrm>
          <a:prstGeom prst="rect">
            <a:avLst/>
          </a:prstGeom>
          <a:solidFill>
            <a:srgbClr val="C2352F"/>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5" name="Shape 53"/>
          <p:cNvSpPr/>
          <p:nvPr/>
        </p:nvSpPr>
        <p:spPr>
          <a:xfrm>
            <a:off x="3202500" y="3247707"/>
            <a:ext cx="18288" cy="136676"/>
          </a:xfrm>
          <a:prstGeom prst="rect">
            <a:avLst/>
          </a:prstGeom>
          <a:solidFill>
            <a:srgbClr val="C2352F"/>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199367"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7" name="Shape 65"/>
          <p:cNvSpPr/>
          <p:nvPr/>
        </p:nvSpPr>
        <p:spPr>
          <a:xfrm>
            <a:off x="3192966" y="3744710"/>
            <a:ext cx="20716"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186478" y="3993212"/>
            <a:ext cx="27204"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9" name="Shape 77"/>
          <p:cNvSpPr/>
          <p:nvPr/>
        </p:nvSpPr>
        <p:spPr>
          <a:xfrm>
            <a:off x="3178674" y="4241713"/>
            <a:ext cx="35008"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3173922" y="4490215"/>
            <a:ext cx="39760"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162501" y="4738717"/>
            <a:ext cx="51181"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161512" y="4987218"/>
            <a:ext cx="52170"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160641" y="5235720"/>
            <a:ext cx="53041"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07" name="Shape 105"/>
          <p:cNvSpPr/>
          <p:nvPr/>
        </p:nvSpPr>
        <p:spPr>
          <a:xfrm>
            <a:off x="5971032" y="5225527"/>
            <a:ext cx="54864" cy="157062"/>
          </a:xfrm>
          <a:prstGeom prst="rect">
            <a:avLst/>
          </a:prstGeom>
          <a:solidFill>
            <a:srgbClr val="C2352F"/>
          </a:solidFill>
          <a:ln/>
        </p:spPr>
      </p:sp>
      <p:sp>
        <p:nvSpPr>
          <p:cNvPr id="108" name="Text 10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9" name="Text 107"/>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0" name="Shape 108"/>
          <p:cNvSpPr/>
          <p:nvPr/>
        </p:nvSpPr>
        <p:spPr>
          <a:xfrm>
            <a:off x="3154916" y="5484222"/>
            <a:ext cx="58766" cy="136676"/>
          </a:xfrm>
          <a:prstGeom prst="rect">
            <a:avLst/>
          </a:prstGeom>
          <a:solidFill>
            <a:srgbClr val="C2352F"/>
          </a:solidFill>
          <a:ln/>
        </p:spPr>
      </p:sp>
      <p:sp>
        <p:nvSpPr>
          <p:cNvPr id="111" name="Text 109"/>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12" name="Text 110"/>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−351</a:t>
            </a:r>
            <a:endParaRPr lang="en-US" sz="1300" dirty="0"/>
          </a:p>
        </p:txBody>
      </p:sp>
      <p:sp>
        <p:nvSpPr>
          <p:cNvPr id="113" name="Text 111"/>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14" name="Text 11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5" name="Text 113"/>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6" name="Shape 114"/>
          <p:cNvSpPr/>
          <p:nvPr/>
        </p:nvSpPr>
        <p:spPr>
          <a:xfrm>
            <a:off x="3145678" y="5732723"/>
            <a:ext cx="68004" cy="136676"/>
          </a:xfrm>
          <a:prstGeom prst="rect">
            <a:avLst/>
          </a:prstGeom>
          <a:solidFill>
            <a:srgbClr val="C2352F"/>
          </a:solidFill>
          <a:ln/>
        </p:spPr>
      </p:sp>
      <p:sp>
        <p:nvSpPr>
          <p:cNvPr id="117" name="Text 115"/>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118" name="Text 116"/>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−461</a:t>
            </a:r>
            <a:endParaRPr lang="en-US" sz="1300" dirty="0"/>
          </a:p>
        </p:txBody>
      </p:sp>
      <p:sp>
        <p:nvSpPr>
          <p:cNvPr id="119" name="Text 117"/>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0" name="Text 11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1" name="Text 119"/>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2" name="Shape 120"/>
          <p:cNvSpPr/>
          <p:nvPr/>
        </p:nvSpPr>
        <p:spPr>
          <a:xfrm>
            <a:off x="8691164" y="1756697"/>
            <a:ext cx="72926" cy="136676"/>
          </a:xfrm>
          <a:prstGeom prst="rect">
            <a:avLst/>
          </a:prstGeom>
          <a:solidFill>
            <a:srgbClr val="C2352F"/>
          </a:solidFill>
          <a:ln/>
        </p:spPr>
      </p:sp>
      <p:sp>
        <p:nvSpPr>
          <p:cNvPr id="123" name="Text 121"/>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124" name="Text 122"/>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−450</a:t>
            </a:r>
            <a:endParaRPr lang="en-US" sz="1300" dirty="0"/>
          </a:p>
        </p:txBody>
      </p:sp>
      <p:sp>
        <p:nvSpPr>
          <p:cNvPr id="125" name="Text 123"/>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8" name="Shape 126"/>
          <p:cNvSpPr/>
          <p:nvPr/>
        </p:nvSpPr>
        <p:spPr>
          <a:xfrm>
            <a:off x="8665461" y="2005199"/>
            <a:ext cx="9862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−552</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665163" y="2253700"/>
            <a:ext cx="98927"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−522</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656843" y="2502202"/>
            <a:ext cx="107247"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−566</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48" name="Shape 146"/>
          <p:cNvSpPr/>
          <p:nvPr/>
        </p:nvSpPr>
        <p:spPr>
          <a:xfrm>
            <a:off x="8634865" y="2750703"/>
            <a:ext cx="129225"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54" name="Shape 152"/>
          <p:cNvSpPr/>
          <p:nvPr/>
        </p:nvSpPr>
        <p:spPr>
          <a:xfrm>
            <a:off x="8634819" y="2999205"/>
            <a:ext cx="129271"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−682</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1" name="Shape 159"/>
          <p:cNvSpPr/>
          <p:nvPr/>
        </p:nvSpPr>
        <p:spPr>
          <a:xfrm>
            <a:off x="8627320" y="3247707"/>
            <a:ext cx="136770"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−794</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7" name="Shape 165"/>
          <p:cNvSpPr/>
          <p:nvPr/>
        </p:nvSpPr>
        <p:spPr>
          <a:xfrm>
            <a:off x="8624415" y="3496208"/>
            <a:ext cx="139675"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71" name="Text 169"/>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2" name="Text 170"/>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3" name="Shape 171"/>
          <p:cNvSpPr/>
          <p:nvPr/>
        </p:nvSpPr>
        <p:spPr>
          <a:xfrm>
            <a:off x="8617980" y="3744710"/>
            <a:ext cx="146110" cy="136676"/>
          </a:xfrm>
          <a:prstGeom prst="rect">
            <a:avLst/>
          </a:prstGeom>
          <a:solidFill>
            <a:srgbClr val="C2352F"/>
          </a:solidFill>
          <a:ln/>
        </p:spPr>
      </p:sp>
      <p:sp>
        <p:nvSpPr>
          <p:cNvPr id="174" name="Text 172"/>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175" name="Text 173"/>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−972</a:t>
            </a:r>
            <a:endParaRPr lang="en-US" sz="1300" dirty="0"/>
          </a:p>
        </p:txBody>
      </p:sp>
      <p:sp>
        <p:nvSpPr>
          <p:cNvPr id="176" name="Text 174"/>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77" name="Text 175"/>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8" name="Text 176"/>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9" name="Shape 177"/>
          <p:cNvSpPr/>
          <p:nvPr/>
        </p:nvSpPr>
        <p:spPr>
          <a:xfrm>
            <a:off x="8611516" y="3993212"/>
            <a:ext cx="152574" cy="136676"/>
          </a:xfrm>
          <a:prstGeom prst="rect">
            <a:avLst/>
          </a:prstGeom>
          <a:solidFill>
            <a:srgbClr val="C2352F"/>
          </a:solidFill>
          <a:ln/>
        </p:spPr>
      </p:sp>
      <p:sp>
        <p:nvSpPr>
          <p:cNvPr id="180" name="Text 178"/>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81" name="Text 179"/>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−1,145</a:t>
            </a:r>
            <a:endParaRPr lang="en-US" sz="1300" dirty="0"/>
          </a:p>
        </p:txBody>
      </p:sp>
      <p:sp>
        <p:nvSpPr>
          <p:cNvPr id="182" name="Text 180"/>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83" name="Text 181"/>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4" name="Text 182"/>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5" name="Shape 183"/>
          <p:cNvSpPr/>
          <p:nvPr/>
        </p:nvSpPr>
        <p:spPr>
          <a:xfrm>
            <a:off x="8561522" y="4241713"/>
            <a:ext cx="202569" cy="136676"/>
          </a:xfrm>
          <a:prstGeom prst="rect">
            <a:avLst/>
          </a:prstGeom>
          <a:solidFill>
            <a:srgbClr val="C2352F"/>
          </a:solidFill>
          <a:ln/>
        </p:spPr>
      </p:sp>
      <p:sp>
        <p:nvSpPr>
          <p:cNvPr id="186" name="Text 184"/>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87" name="Text 185"/>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−1,501</a:t>
            </a:r>
            <a:endParaRPr lang="en-US" sz="1300" dirty="0"/>
          </a:p>
        </p:txBody>
      </p:sp>
      <p:sp>
        <p:nvSpPr>
          <p:cNvPr id="188" name="Text 186"/>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89" name="Text 187"/>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0" name="Text 188"/>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1" name="Shape 189"/>
          <p:cNvSpPr/>
          <p:nvPr/>
        </p:nvSpPr>
        <p:spPr>
          <a:xfrm>
            <a:off x="8556261" y="4490215"/>
            <a:ext cx="207830" cy="136676"/>
          </a:xfrm>
          <a:prstGeom prst="rect">
            <a:avLst/>
          </a:prstGeom>
          <a:solidFill>
            <a:srgbClr val="C2352F"/>
          </a:solidFill>
          <a:ln/>
        </p:spPr>
      </p:sp>
      <p:sp>
        <p:nvSpPr>
          <p:cNvPr id="192" name="Text 190"/>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193" name="Text 191"/>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−1,523</a:t>
            </a:r>
            <a:endParaRPr lang="en-US" sz="1300" dirty="0"/>
          </a:p>
        </p:txBody>
      </p:sp>
      <p:sp>
        <p:nvSpPr>
          <p:cNvPr id="194" name="Text 192"/>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95" name="Text 193"/>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6" name="Text 194"/>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97" name="Shape 195"/>
          <p:cNvSpPr/>
          <p:nvPr/>
        </p:nvSpPr>
        <p:spPr>
          <a:xfrm>
            <a:off x="8526056" y="4738717"/>
            <a:ext cx="238034" cy="136676"/>
          </a:xfrm>
          <a:prstGeom prst="rect">
            <a:avLst/>
          </a:prstGeom>
          <a:solidFill>
            <a:srgbClr val="C2352F"/>
          </a:solidFill>
          <a:ln/>
        </p:spPr>
      </p:sp>
      <p:sp>
        <p:nvSpPr>
          <p:cNvPr id="198" name="Text 196"/>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99" name="Text 197"/>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−628</a:t>
            </a:r>
            <a:endParaRPr lang="en-US" sz="1300" dirty="0"/>
          </a:p>
        </p:txBody>
      </p:sp>
      <p:sp>
        <p:nvSpPr>
          <p:cNvPr id="200" name="Text 198"/>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201" name="Text 199"/>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2" name="Text 200"/>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03" name="Shape 201"/>
          <p:cNvSpPr/>
          <p:nvPr/>
        </p:nvSpPr>
        <p:spPr>
          <a:xfrm>
            <a:off x="8511929" y="4987218"/>
            <a:ext cx="252161" cy="136676"/>
          </a:xfrm>
          <a:prstGeom prst="rect">
            <a:avLst/>
          </a:prstGeom>
          <a:solidFill>
            <a:srgbClr val="C2352F"/>
          </a:solidFill>
          <a:ln/>
        </p:spPr>
      </p:sp>
      <p:sp>
        <p:nvSpPr>
          <p:cNvPr id="204" name="Text 202"/>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−$99K</a:t>
            </a:r>
            <a:endParaRPr lang="en-US" sz="1300" dirty="0"/>
          </a:p>
        </p:txBody>
      </p:sp>
      <p:sp>
        <p:nvSpPr>
          <p:cNvPr id="205" name="Text 203"/>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−1,193</a:t>
            </a:r>
            <a:endParaRPr lang="en-US" sz="1300" dirty="0"/>
          </a:p>
        </p:txBody>
      </p:sp>
      <p:sp>
        <p:nvSpPr>
          <p:cNvPr id="206" name="Text 20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207" name="Text 20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8" name="Text 206"/>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09" name="Shape 207"/>
          <p:cNvSpPr/>
          <p:nvPr/>
        </p:nvSpPr>
        <p:spPr>
          <a:xfrm>
            <a:off x="8483276" y="5235720"/>
            <a:ext cx="280814" cy="136676"/>
          </a:xfrm>
          <a:prstGeom prst="rect">
            <a:avLst/>
          </a:prstGeom>
          <a:solidFill>
            <a:srgbClr val="C2352F"/>
          </a:solidFill>
          <a:ln/>
        </p:spPr>
      </p:sp>
      <p:sp>
        <p:nvSpPr>
          <p:cNvPr id="210" name="Text 208"/>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−$111K</a:t>
            </a:r>
            <a:endParaRPr lang="en-US" sz="1300" dirty="0"/>
          </a:p>
        </p:txBody>
      </p:sp>
      <p:sp>
        <p:nvSpPr>
          <p:cNvPr id="211" name="Text 209"/>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−2,004</a:t>
            </a:r>
            <a:endParaRPr lang="en-US" sz="1300" dirty="0"/>
          </a:p>
        </p:txBody>
      </p:sp>
      <p:sp>
        <p:nvSpPr>
          <p:cNvPr id="212" name="Text 210"/>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213" name="Text 211"/>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4" name="Text 212"/>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5" name="Shape 213"/>
          <p:cNvSpPr/>
          <p:nvPr/>
        </p:nvSpPr>
        <p:spPr>
          <a:xfrm>
            <a:off x="8421624" y="5484222"/>
            <a:ext cx="342466" cy="136676"/>
          </a:xfrm>
          <a:prstGeom prst="rect">
            <a:avLst/>
          </a:prstGeom>
          <a:solidFill>
            <a:srgbClr val="C2352F"/>
          </a:solidFill>
          <a:ln/>
        </p:spPr>
      </p:sp>
      <p:sp>
        <p:nvSpPr>
          <p:cNvPr id="216" name="Text 214"/>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−$135K</a:t>
            </a:r>
            <a:endParaRPr lang="en-US" sz="1300" dirty="0"/>
          </a:p>
        </p:txBody>
      </p:sp>
      <p:sp>
        <p:nvSpPr>
          <p:cNvPr id="217" name="Text 215"/>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−2,520</a:t>
            </a:r>
            <a:endParaRPr lang="en-US" sz="1300" dirty="0"/>
          </a:p>
        </p:txBody>
      </p:sp>
      <p:sp>
        <p:nvSpPr>
          <p:cNvPr id="218" name="Text 216"/>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219" name="Shape 217"/>
          <p:cNvSpPr/>
          <p:nvPr/>
        </p:nvSpPr>
        <p:spPr>
          <a:xfrm>
            <a:off x="11521440" y="5474029"/>
            <a:ext cx="54864" cy="157062"/>
          </a:xfrm>
          <a:prstGeom prst="rect">
            <a:avLst/>
          </a:prstGeom>
          <a:solidFill>
            <a:srgbClr val="C2352F"/>
          </a:solidFill>
          <a:ln/>
        </p:spPr>
      </p:sp>
      <p:sp>
        <p:nvSpPr>
          <p:cNvPr id="220" name="Shape 218"/>
          <p:cNvSpPr/>
          <p:nvPr/>
        </p:nvSpPr>
        <p:spPr>
          <a:xfrm>
            <a:off x="6085332" y="1700784"/>
            <a:ext cx="10973" cy="4224528"/>
          </a:xfrm>
          <a:prstGeom prst="rect">
            <a:avLst/>
          </a:prstGeom>
          <a:solidFill>
            <a:srgbClr val="D9D9D9"/>
          </a:solidFill>
          <a:ln/>
        </p:spPr>
      </p:sp>
      <p:sp>
        <p:nvSpPr>
          <p:cNvPr id="222" name="Shape 219"/>
          <p:cNvSpPr/>
          <p:nvPr/>
        </p:nvSpPr>
        <p:spPr>
          <a:xfrm>
            <a:off x="457200" y="6126480"/>
            <a:ext cx="11274552" cy="371856"/>
          </a:xfrm>
          <a:prstGeom prst="rect">
            <a:avLst/>
          </a:prstGeom>
          <a:solidFill>
            <a:srgbClr val="FBEBEA"/>
          </a:solidFill>
          <a:ln/>
        </p:spPr>
      </p:sp>
      <p:sp>
        <p:nvSpPr>
          <p:cNvPr id="223" name="Text 2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29 stores under 15% have left $1,248,289 so far this year; 4 are at or above it.</a:t>
            </a:r>
            <a:endParaRPr lang="en-US" sz="16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The group sits at 9.2%.</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40259"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590667"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45746" y="1756697"/>
            <a:ext cx="300958"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+$195K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+1,260</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3" name="Shape 21"/>
          <p:cNvSpPr/>
          <p:nvPr/>
        </p:nvSpPr>
        <p:spPr>
          <a:xfrm>
            <a:off x="3045746" y="2005199"/>
            <a:ext cx="216846"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+$141K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0" name="Shape 28"/>
          <p:cNvSpPr/>
          <p:nvPr/>
        </p:nvSpPr>
        <p:spPr>
          <a:xfrm>
            <a:off x="3045746" y="2253700"/>
            <a:ext cx="78044"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+316</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34" name="Text 32"/>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5" name="Text 33"/>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6" name="Shape 34"/>
          <p:cNvSpPr/>
          <p:nvPr/>
        </p:nvSpPr>
        <p:spPr>
          <a:xfrm>
            <a:off x="3045746" y="2502202"/>
            <a:ext cx="39072" cy="136676"/>
          </a:xfrm>
          <a:prstGeom prst="rect">
            <a:avLst/>
          </a:prstGeom>
          <a:solidFill>
            <a:srgbClr val="12A566"/>
          </a:solidFill>
          <a:ln/>
        </p:spPr>
      </p:sp>
      <p:sp>
        <p:nvSpPr>
          <p:cNvPr id="37" name="Text 35"/>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+$25K</a:t>
            </a:r>
            <a:endParaRPr lang="en-US" sz="1300" dirty="0"/>
          </a:p>
        </p:txBody>
      </p:sp>
      <p:sp>
        <p:nvSpPr>
          <p:cNvPr id="38" name="Text 36"/>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39" name="Text 37"/>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40" name="Shape 38"/>
          <p:cNvSpPr/>
          <p:nvPr/>
        </p:nvSpPr>
        <p:spPr>
          <a:xfrm>
            <a:off x="5971032" y="2492009"/>
            <a:ext cx="54864" cy="157062"/>
          </a:xfrm>
          <a:prstGeom prst="rect">
            <a:avLst/>
          </a:prstGeom>
          <a:solidFill>
            <a:srgbClr val="12A566"/>
          </a:solidFill>
          <a:ln/>
        </p:spPr>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45746" y="2750703"/>
            <a:ext cx="37733"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3045746" y="2999205"/>
            <a:ext cx="27359"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5" name="Shape 53"/>
          <p:cNvSpPr/>
          <p:nvPr/>
        </p:nvSpPr>
        <p:spPr>
          <a:xfrm>
            <a:off x="3045746" y="3247707"/>
            <a:ext cx="24282"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1" name="Shape 59"/>
          <p:cNvSpPr/>
          <p:nvPr/>
        </p:nvSpPr>
        <p:spPr>
          <a:xfrm>
            <a:off x="3045746" y="3496208"/>
            <a:ext cx="22695" cy="136676"/>
          </a:xfrm>
          <a:prstGeom prst="rect">
            <a:avLst/>
          </a:prstGeom>
          <a:solidFill>
            <a:srgbClr val="12A566"/>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+$15K</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7" name="Shape 65"/>
          <p:cNvSpPr/>
          <p:nvPr/>
        </p:nvSpPr>
        <p:spPr>
          <a:xfrm>
            <a:off x="3045746" y="3744710"/>
            <a:ext cx="18342" cy="136676"/>
          </a:xfrm>
          <a:prstGeom prst="rect">
            <a:avLst/>
          </a:prstGeom>
          <a:solidFill>
            <a:srgbClr val="12A566"/>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45746" y="3993212"/>
            <a:ext cx="18288" cy="136676"/>
          </a:xfrm>
          <a:prstGeom prst="rect">
            <a:avLst/>
          </a:prstGeom>
          <a:solidFill>
            <a:srgbClr val="12A566"/>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9" name="Shape 77"/>
          <p:cNvSpPr/>
          <p:nvPr/>
        </p:nvSpPr>
        <p:spPr>
          <a:xfrm>
            <a:off x="3045746" y="4241713"/>
            <a:ext cx="18288" cy="136676"/>
          </a:xfrm>
          <a:prstGeom prst="rect">
            <a:avLst/>
          </a:prstGeom>
          <a:solidFill>
            <a:srgbClr val="12A566"/>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5" name="Shape 83"/>
          <p:cNvSpPr/>
          <p:nvPr/>
        </p:nvSpPr>
        <p:spPr>
          <a:xfrm>
            <a:off x="3045746" y="4490215"/>
            <a:ext cx="18288" cy="136676"/>
          </a:xfrm>
          <a:prstGeom prst="rect">
            <a:avLst/>
          </a:prstGeom>
          <a:solidFill>
            <a:srgbClr val="12A566"/>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1" name="Shape 89"/>
          <p:cNvSpPr/>
          <p:nvPr/>
        </p:nvSpPr>
        <p:spPr>
          <a:xfrm>
            <a:off x="3041920" y="4738717"/>
            <a:ext cx="18288"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40676" y="4987218"/>
            <a:ext cx="18288"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3" name="Shape 101"/>
          <p:cNvSpPr/>
          <p:nvPr/>
        </p:nvSpPr>
        <p:spPr>
          <a:xfrm>
            <a:off x="3033120" y="5235720"/>
            <a:ext cx="18288"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3030647" y="5484222"/>
            <a:ext cx="18288"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5" name="Shape 113"/>
          <p:cNvSpPr/>
          <p:nvPr/>
        </p:nvSpPr>
        <p:spPr>
          <a:xfrm>
            <a:off x="3028256" y="5732723"/>
            <a:ext cx="18288"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1" name="Shape 119"/>
          <p:cNvSpPr/>
          <p:nvPr/>
        </p:nvSpPr>
        <p:spPr>
          <a:xfrm>
            <a:off x="8575690" y="1756697"/>
            <a:ext cx="20464"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−86</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25" name="Text 12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6" name="Text 124"/>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7" name="Shape 125"/>
          <p:cNvSpPr/>
          <p:nvPr/>
        </p:nvSpPr>
        <p:spPr>
          <a:xfrm>
            <a:off x="8573386" y="2005199"/>
            <a:ext cx="22768" cy="136676"/>
          </a:xfrm>
          <a:prstGeom prst="rect">
            <a:avLst/>
          </a:prstGeom>
          <a:solidFill>
            <a:srgbClr val="C2352F"/>
          </a:solidFill>
          <a:ln/>
        </p:spPr>
      </p:sp>
      <p:sp>
        <p:nvSpPr>
          <p:cNvPr id="128" name="Text 126"/>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29" name="Text 127"/>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30" name="Text 128"/>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31" name="Text 129"/>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2" name="Text 130"/>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72297" y="2253700"/>
            <a:ext cx="23856" cy="136676"/>
          </a:xfrm>
          <a:prstGeom prst="rect">
            <a:avLst/>
          </a:prstGeom>
          <a:solidFill>
            <a:srgbClr val="C2352F"/>
          </a:solidFill>
          <a:ln/>
        </p:spPr>
      </p:sp>
      <p:sp>
        <p:nvSpPr>
          <p:cNvPr id="134" name="Text 132"/>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35" name="Text 133"/>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a:t>
            </a:r>
            <a:endParaRPr lang="en-US" sz="1300" dirty="0"/>
          </a:p>
        </p:txBody>
      </p:sp>
      <p:sp>
        <p:nvSpPr>
          <p:cNvPr id="136" name="Text 134"/>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37" name="Text 135"/>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8" name="Text 136"/>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9" name="Shape 137"/>
          <p:cNvSpPr/>
          <p:nvPr/>
        </p:nvSpPr>
        <p:spPr>
          <a:xfrm>
            <a:off x="8571491" y="2502202"/>
            <a:ext cx="24663" cy="136676"/>
          </a:xfrm>
          <a:prstGeom prst="rect">
            <a:avLst/>
          </a:prstGeom>
          <a:solidFill>
            <a:srgbClr val="C2352F"/>
          </a:solidFill>
          <a:ln/>
        </p:spPr>
      </p:sp>
      <p:sp>
        <p:nvSpPr>
          <p:cNvPr id="140" name="Text 138"/>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141" name="Text 139"/>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42" name="Text 140"/>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43" name="Text 141"/>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4" name="Text 142"/>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45" name="Shape 143"/>
          <p:cNvSpPr/>
          <p:nvPr/>
        </p:nvSpPr>
        <p:spPr>
          <a:xfrm>
            <a:off x="8570224" y="2750703"/>
            <a:ext cx="25930" cy="136676"/>
          </a:xfrm>
          <a:prstGeom prst="rect">
            <a:avLst/>
          </a:prstGeom>
          <a:solidFill>
            <a:srgbClr val="C2352F"/>
          </a:solidFill>
          <a:ln/>
        </p:spPr>
      </p:sp>
      <p:sp>
        <p:nvSpPr>
          <p:cNvPr id="146" name="Text 144"/>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−$17K</a:t>
            </a:r>
            <a:endParaRPr lang="en-US" sz="1300" dirty="0"/>
          </a:p>
        </p:txBody>
      </p:sp>
      <p:sp>
        <p:nvSpPr>
          <p:cNvPr id="147" name="Text 145"/>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48" name="Text 146"/>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49" name="Text 147"/>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0" name="Text 148"/>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1" name="Shape 149"/>
          <p:cNvSpPr/>
          <p:nvPr/>
        </p:nvSpPr>
        <p:spPr>
          <a:xfrm>
            <a:off x="8567184" y="2999205"/>
            <a:ext cx="28970" cy="136676"/>
          </a:xfrm>
          <a:prstGeom prst="rect">
            <a:avLst/>
          </a:prstGeom>
          <a:solidFill>
            <a:srgbClr val="C2352F"/>
          </a:solidFill>
          <a:ln/>
        </p:spPr>
      </p:sp>
      <p:sp>
        <p:nvSpPr>
          <p:cNvPr id="152" name="Text 150"/>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53" name="Text 151"/>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a:t>
            </a:r>
            <a:endParaRPr lang="en-US" sz="1300" dirty="0"/>
          </a:p>
        </p:txBody>
      </p:sp>
      <p:sp>
        <p:nvSpPr>
          <p:cNvPr id="154" name="Text 152"/>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55" name="Text 153"/>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6" name="Text 154"/>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7" name="Shape 155"/>
          <p:cNvSpPr/>
          <p:nvPr/>
        </p:nvSpPr>
        <p:spPr>
          <a:xfrm>
            <a:off x="8559684" y="3247707"/>
            <a:ext cx="36470" cy="136676"/>
          </a:xfrm>
          <a:prstGeom prst="rect">
            <a:avLst/>
          </a:prstGeom>
          <a:solidFill>
            <a:srgbClr val="C2352F"/>
          </a:solidFill>
          <a:ln/>
        </p:spPr>
      </p:sp>
      <p:sp>
        <p:nvSpPr>
          <p:cNvPr id="158" name="Text 156"/>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59" name="Text 157"/>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−176</a:t>
            </a:r>
            <a:endParaRPr lang="en-US" sz="1300" dirty="0"/>
          </a:p>
        </p:txBody>
      </p:sp>
      <p:sp>
        <p:nvSpPr>
          <p:cNvPr id="160" name="Text 158"/>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61" name="Text 159"/>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2" name="Text 160"/>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63" name="Shape 161"/>
          <p:cNvSpPr/>
          <p:nvPr/>
        </p:nvSpPr>
        <p:spPr>
          <a:xfrm>
            <a:off x="8558971" y="3496208"/>
            <a:ext cx="37183" cy="136676"/>
          </a:xfrm>
          <a:prstGeom prst="rect">
            <a:avLst/>
          </a:prstGeom>
          <a:solidFill>
            <a:srgbClr val="C2352F"/>
          </a:solidFill>
          <a:ln/>
        </p:spPr>
      </p:sp>
      <p:sp>
        <p:nvSpPr>
          <p:cNvPr id="164" name="Text 162"/>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65" name="Text 163"/>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66" name="Text 16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67" name="Text 16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8" name="Text 166"/>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69" name="Shape 167"/>
          <p:cNvSpPr/>
          <p:nvPr/>
        </p:nvSpPr>
        <p:spPr>
          <a:xfrm>
            <a:off x="8540881" y="3744710"/>
            <a:ext cx="55273" cy="136676"/>
          </a:xfrm>
          <a:prstGeom prst="rect">
            <a:avLst/>
          </a:prstGeom>
          <a:solidFill>
            <a:srgbClr val="C2352F"/>
          </a:solidFill>
          <a:ln/>
        </p:spPr>
      </p:sp>
      <p:sp>
        <p:nvSpPr>
          <p:cNvPr id="170" name="Text 168"/>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71" name="Text 169"/>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72" name="Text 170"/>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73" name="Text 171"/>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4" name="Text 172"/>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75" name="Shape 173"/>
          <p:cNvSpPr/>
          <p:nvPr/>
        </p:nvSpPr>
        <p:spPr>
          <a:xfrm>
            <a:off x="8535378" y="3993212"/>
            <a:ext cx="60776" cy="136676"/>
          </a:xfrm>
          <a:prstGeom prst="rect">
            <a:avLst/>
          </a:prstGeom>
          <a:solidFill>
            <a:srgbClr val="C2352F"/>
          </a:solidFill>
          <a:ln/>
        </p:spPr>
      </p:sp>
      <p:sp>
        <p:nvSpPr>
          <p:cNvPr id="176" name="Text 174"/>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77" name="Text 175"/>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−309</a:t>
            </a:r>
            <a:endParaRPr lang="en-US" sz="1300" dirty="0"/>
          </a:p>
        </p:txBody>
      </p:sp>
      <p:sp>
        <p:nvSpPr>
          <p:cNvPr id="178" name="Text 176"/>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9" name="Text 177"/>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0" name="Text 178"/>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81" name="Shape 179"/>
          <p:cNvSpPr/>
          <p:nvPr/>
        </p:nvSpPr>
        <p:spPr>
          <a:xfrm>
            <a:off x="8530529" y="4241713"/>
            <a:ext cx="65625" cy="136676"/>
          </a:xfrm>
          <a:prstGeom prst="rect">
            <a:avLst/>
          </a:prstGeom>
          <a:solidFill>
            <a:srgbClr val="C2352F"/>
          </a:solidFill>
          <a:ln/>
        </p:spPr>
      </p:sp>
      <p:sp>
        <p:nvSpPr>
          <p:cNvPr id="182" name="Text 180"/>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183" name="Text 181"/>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−284</a:t>
            </a:r>
            <a:endParaRPr lang="en-US" sz="1300" dirty="0"/>
          </a:p>
        </p:txBody>
      </p:sp>
      <p:sp>
        <p:nvSpPr>
          <p:cNvPr id="184" name="Text 182"/>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85" name="Text 18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6" name="Text 184"/>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87" name="Shape 185"/>
          <p:cNvSpPr/>
          <p:nvPr/>
        </p:nvSpPr>
        <p:spPr>
          <a:xfrm>
            <a:off x="8518235" y="4490215"/>
            <a:ext cx="77919" cy="136676"/>
          </a:xfrm>
          <a:prstGeom prst="rect">
            <a:avLst/>
          </a:prstGeom>
          <a:solidFill>
            <a:srgbClr val="C2352F"/>
          </a:solidFill>
          <a:ln/>
        </p:spPr>
      </p:sp>
      <p:sp>
        <p:nvSpPr>
          <p:cNvPr id="188" name="Text 186"/>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89" name="Text 187"/>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90" name="Text 188"/>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91" name="Shape 189"/>
          <p:cNvSpPr/>
          <p:nvPr/>
        </p:nvSpPr>
        <p:spPr>
          <a:xfrm>
            <a:off x="11521440" y="4480022"/>
            <a:ext cx="54864" cy="157062"/>
          </a:xfrm>
          <a:prstGeom prst="rect">
            <a:avLst/>
          </a:prstGeom>
          <a:solidFill>
            <a:srgbClr val="C2352F"/>
          </a:solidFill>
          <a:ln/>
        </p:spPr>
      </p:sp>
      <p:sp>
        <p:nvSpPr>
          <p:cNvPr id="192" name="Text 190"/>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3" name="Text 191"/>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94" name="Shape 192"/>
          <p:cNvSpPr/>
          <p:nvPr/>
        </p:nvSpPr>
        <p:spPr>
          <a:xfrm>
            <a:off x="8510027" y="4738717"/>
            <a:ext cx="86127" cy="136676"/>
          </a:xfrm>
          <a:prstGeom prst="rect">
            <a:avLst/>
          </a:prstGeom>
          <a:solidFill>
            <a:srgbClr val="C2352F"/>
          </a:solidFill>
          <a:ln/>
        </p:spPr>
      </p:sp>
      <p:sp>
        <p:nvSpPr>
          <p:cNvPr id="195" name="Text 193"/>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96" name="Text 194"/>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97" name="Text 195"/>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98" name="Shape 196"/>
          <p:cNvSpPr/>
          <p:nvPr/>
        </p:nvSpPr>
        <p:spPr>
          <a:xfrm>
            <a:off x="11521440" y="4728524"/>
            <a:ext cx="54864" cy="157062"/>
          </a:xfrm>
          <a:prstGeom prst="rect">
            <a:avLst/>
          </a:prstGeom>
          <a:solidFill>
            <a:srgbClr val="C2352F"/>
          </a:solidFill>
          <a:ln/>
        </p:spPr>
      </p:sp>
      <p:sp>
        <p:nvSpPr>
          <p:cNvPr id="199" name="Text 197"/>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0" name="Text 198"/>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01" name="Shape 199"/>
          <p:cNvSpPr/>
          <p:nvPr/>
        </p:nvSpPr>
        <p:spPr>
          <a:xfrm>
            <a:off x="8506004" y="4987218"/>
            <a:ext cx="90150" cy="136676"/>
          </a:xfrm>
          <a:prstGeom prst="rect">
            <a:avLst/>
          </a:prstGeom>
          <a:solidFill>
            <a:srgbClr val="C2352F"/>
          </a:solidFill>
          <a:ln/>
        </p:spPr>
      </p:sp>
      <p:sp>
        <p:nvSpPr>
          <p:cNvPr id="202" name="Text 200"/>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203" name="Text 201"/>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204" name="Text 202"/>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205" name="Shape 203"/>
          <p:cNvSpPr/>
          <p:nvPr/>
        </p:nvSpPr>
        <p:spPr>
          <a:xfrm>
            <a:off x="11521440" y="4977025"/>
            <a:ext cx="54864" cy="157062"/>
          </a:xfrm>
          <a:prstGeom prst="rect">
            <a:avLst/>
          </a:prstGeom>
          <a:solidFill>
            <a:srgbClr val="C2352F"/>
          </a:solidFill>
          <a:ln/>
        </p:spPr>
      </p:sp>
      <p:sp>
        <p:nvSpPr>
          <p:cNvPr id="206" name="Text 204"/>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07" name="Text 205"/>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8" name="Shape 206"/>
          <p:cNvSpPr/>
          <p:nvPr/>
        </p:nvSpPr>
        <p:spPr>
          <a:xfrm>
            <a:off x="8503628" y="5235720"/>
            <a:ext cx="92525" cy="136676"/>
          </a:xfrm>
          <a:prstGeom prst="rect">
            <a:avLst/>
          </a:prstGeom>
          <a:solidFill>
            <a:srgbClr val="C2352F"/>
          </a:solidFill>
          <a:ln/>
        </p:spPr>
      </p:sp>
      <p:sp>
        <p:nvSpPr>
          <p:cNvPr id="209" name="Text 207"/>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210" name="Text 208"/>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−513</a:t>
            </a:r>
            <a:endParaRPr lang="en-US" sz="1300" dirty="0"/>
          </a:p>
        </p:txBody>
      </p:sp>
      <p:sp>
        <p:nvSpPr>
          <p:cNvPr id="211" name="Text 20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212" name="Text 21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3" name="Text 211"/>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4" name="Shape 212"/>
          <p:cNvSpPr/>
          <p:nvPr/>
        </p:nvSpPr>
        <p:spPr>
          <a:xfrm>
            <a:off x="8421624" y="5484222"/>
            <a:ext cx="174530" cy="136676"/>
          </a:xfrm>
          <a:prstGeom prst="rect">
            <a:avLst/>
          </a:prstGeom>
          <a:solidFill>
            <a:srgbClr val="C2352F"/>
          </a:solidFill>
          <a:ln/>
        </p:spPr>
      </p:sp>
      <p:sp>
        <p:nvSpPr>
          <p:cNvPr id="215" name="Text 213"/>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−$113K</a:t>
            </a:r>
            <a:endParaRPr lang="en-US" sz="1300" dirty="0"/>
          </a:p>
        </p:txBody>
      </p:sp>
      <p:sp>
        <p:nvSpPr>
          <p:cNvPr id="216" name="Text 214"/>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−820</a:t>
            </a:r>
            <a:endParaRPr lang="en-US" sz="1300" dirty="0"/>
          </a:p>
        </p:txBody>
      </p:sp>
      <p:sp>
        <p:nvSpPr>
          <p:cNvPr id="217" name="Text 215"/>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218" name="Shape 216"/>
          <p:cNvSpPr/>
          <p:nvPr/>
        </p:nvSpPr>
        <p:spPr>
          <a:xfrm>
            <a:off x="6085332" y="1700784"/>
            <a:ext cx="10973" cy="4224528"/>
          </a:xfrm>
          <a:prstGeom prst="rect">
            <a:avLst/>
          </a:prstGeom>
          <a:solidFill>
            <a:srgbClr val="D9D9D9"/>
          </a:solidFill>
          <a:ln/>
        </p:spPr>
      </p:sp>
      <p:sp>
        <p:nvSpPr>
          <p:cNvPr id="220" name="Shape 217"/>
          <p:cNvSpPr/>
          <p:nvPr/>
        </p:nvSpPr>
        <p:spPr>
          <a:xfrm>
            <a:off x="457200" y="6126480"/>
            <a:ext cx="11274552" cy="371856"/>
          </a:xfrm>
          <a:prstGeom prst="rect">
            <a:avLst/>
          </a:prstGeom>
          <a:solidFill>
            <a:srgbClr val="FBEBEA"/>
          </a:solidFill>
          <a:ln/>
        </p:spPr>
      </p:sp>
      <p:sp>
        <p:nvSpPr>
          <p:cNvPr id="221" name="Text 2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stores under 10% have left $633,493 so far this year; 12 are at or above it.</a:t>
            </a:r>
            <a:endParaRPr lang="en-US" sz="16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The group sits at 5.8%.</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401568"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44074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Text 6"/>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9" name="Shape 7"/>
          <p:cNvSpPr/>
          <p:nvPr/>
        </p:nvSpPr>
        <p:spPr>
          <a:xfrm>
            <a:off x="3072677" y="1700784"/>
            <a:ext cx="10973" cy="4224528"/>
          </a:xfrm>
          <a:prstGeom prst="rect">
            <a:avLst/>
          </a:prstGeom>
          <a:solidFill>
            <a:srgbClr val="9AA3AD"/>
          </a:solidFill>
          <a:ln/>
        </p:spPr>
      </p:sp>
      <p:sp>
        <p:nvSpPr>
          <p:cNvPr id="10" name="Text 8"/>
          <p:cNvSpPr txBox="1"/>
          <p:nvPr/>
        </p:nvSpPr>
        <p:spPr>
          <a:xfrm>
            <a:off x="8951976" y="1316736"/>
            <a:ext cx="100584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99578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2" name="Text 10"/>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3" name="Shape 11"/>
          <p:cNvSpPr/>
          <p:nvPr/>
        </p:nvSpPr>
        <p:spPr>
          <a:xfrm>
            <a:off x="8623085" y="1700784"/>
            <a:ext cx="10973" cy="3976026"/>
          </a:xfrm>
          <a:prstGeom prst="rect">
            <a:avLst/>
          </a:prstGeom>
          <a:solidFill>
            <a:srgbClr val="9AA3AD"/>
          </a:solidFill>
          <a:ln/>
        </p:spPr>
      </p:sp>
      <p:sp>
        <p:nvSpPr>
          <p:cNvPr id="14" name="Text 12"/>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6" name="Shape 14"/>
          <p:cNvSpPr/>
          <p:nvPr/>
        </p:nvSpPr>
        <p:spPr>
          <a:xfrm>
            <a:off x="3078163" y="1756697"/>
            <a:ext cx="268541" cy="136676"/>
          </a:xfrm>
          <a:prstGeom prst="rect">
            <a:avLst/>
          </a:prstGeom>
          <a:solidFill>
            <a:srgbClr val="12A566"/>
          </a:solidFill>
          <a:ln/>
        </p:spPr>
      </p:sp>
      <p:sp>
        <p:nvSpPr>
          <p:cNvPr id="17" name="Text 15"/>
          <p:cNvSpPr txBox="1"/>
          <p:nvPr/>
        </p:nvSpPr>
        <p:spPr>
          <a:xfrm>
            <a:off x="3401568" y="170078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+$138K</a:t>
            </a:r>
            <a:endParaRPr lang="en-US" sz="1300" dirty="0"/>
          </a:p>
        </p:txBody>
      </p:sp>
      <p:sp>
        <p:nvSpPr>
          <p:cNvPr id="18" name="Text 16"/>
          <p:cNvSpPr txBox="1"/>
          <p:nvPr/>
        </p:nvSpPr>
        <p:spPr>
          <a:xfrm>
            <a:off x="44074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 name="Text 17"/>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20" name="Shape 18"/>
          <p:cNvSpPr/>
          <p:nvPr/>
        </p:nvSpPr>
        <p:spPr>
          <a:xfrm>
            <a:off x="5971032" y="1746504"/>
            <a:ext cx="54864" cy="157062"/>
          </a:xfrm>
          <a:prstGeom prst="rect">
            <a:avLst/>
          </a:prstGeom>
          <a:solidFill>
            <a:srgbClr val="12A566"/>
          </a:solidFill>
          <a:ln/>
        </p:spPr>
      </p:sp>
      <p:sp>
        <p:nvSpPr>
          <p:cNvPr id="21" name="Text 19"/>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3" name="Shape 21"/>
          <p:cNvSpPr/>
          <p:nvPr/>
        </p:nvSpPr>
        <p:spPr>
          <a:xfrm>
            <a:off x="3078163" y="2005199"/>
            <a:ext cx="104320" cy="136676"/>
          </a:xfrm>
          <a:prstGeom prst="rect">
            <a:avLst/>
          </a:prstGeom>
          <a:solidFill>
            <a:srgbClr val="12A566"/>
          </a:solidFill>
          <a:ln/>
        </p:spPr>
      </p:sp>
      <p:sp>
        <p:nvSpPr>
          <p:cNvPr id="24" name="Text 22"/>
          <p:cNvSpPr txBox="1"/>
          <p:nvPr/>
        </p:nvSpPr>
        <p:spPr>
          <a:xfrm>
            <a:off x="3401568" y="1949286"/>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5" name="Text 23"/>
          <p:cNvSpPr txBox="1"/>
          <p:nvPr/>
        </p:nvSpPr>
        <p:spPr>
          <a:xfrm>
            <a:off x="44074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26" name="Text 24"/>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7" name="Shape 25"/>
          <p:cNvSpPr/>
          <p:nvPr/>
        </p:nvSpPr>
        <p:spPr>
          <a:xfrm>
            <a:off x="5971032" y="1995006"/>
            <a:ext cx="54864" cy="157062"/>
          </a:xfrm>
          <a:prstGeom prst="rect">
            <a:avLst/>
          </a:prstGeom>
          <a:solidFill>
            <a:srgbClr val="12A566"/>
          </a:solidFill>
          <a:ln/>
        </p:spPr>
      </p:sp>
      <p:sp>
        <p:nvSpPr>
          <p:cNvPr id="28" name="Text 2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0" name="Shape 28"/>
          <p:cNvSpPr/>
          <p:nvPr/>
        </p:nvSpPr>
        <p:spPr>
          <a:xfrm>
            <a:off x="3078163" y="2253700"/>
            <a:ext cx="74727" cy="136676"/>
          </a:xfrm>
          <a:prstGeom prst="rect">
            <a:avLst/>
          </a:prstGeom>
          <a:solidFill>
            <a:srgbClr val="12A566"/>
          </a:solidFill>
          <a:ln/>
        </p:spPr>
      </p:sp>
      <p:sp>
        <p:nvSpPr>
          <p:cNvPr id="31" name="Text 29"/>
          <p:cNvSpPr txBox="1"/>
          <p:nvPr/>
        </p:nvSpPr>
        <p:spPr>
          <a:xfrm>
            <a:off x="3401568" y="2197787"/>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+$39K</a:t>
            </a:r>
            <a:endParaRPr lang="en-US" sz="1300" dirty="0"/>
          </a:p>
        </p:txBody>
      </p:sp>
      <p:sp>
        <p:nvSpPr>
          <p:cNvPr id="32" name="Text 30"/>
          <p:cNvSpPr txBox="1"/>
          <p:nvPr/>
        </p:nvSpPr>
        <p:spPr>
          <a:xfrm>
            <a:off x="44074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33" name="Text 31"/>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34" name="Shape 32"/>
          <p:cNvSpPr/>
          <p:nvPr/>
        </p:nvSpPr>
        <p:spPr>
          <a:xfrm>
            <a:off x="5971032" y="2243507"/>
            <a:ext cx="54864" cy="157062"/>
          </a:xfrm>
          <a:prstGeom prst="rect">
            <a:avLst/>
          </a:prstGeom>
          <a:solidFill>
            <a:srgbClr val="12A566"/>
          </a:solidFill>
          <a:ln/>
        </p:spPr>
      </p:sp>
      <p:sp>
        <p:nvSpPr>
          <p:cNvPr id="35" name="Text 33"/>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78163" y="2502202"/>
            <a:ext cx="19359" cy="136676"/>
          </a:xfrm>
          <a:prstGeom prst="rect">
            <a:avLst/>
          </a:prstGeom>
          <a:solidFill>
            <a:srgbClr val="12A566"/>
          </a:solidFill>
          <a:ln/>
        </p:spPr>
      </p:sp>
      <p:sp>
        <p:nvSpPr>
          <p:cNvPr id="38" name="Text 36"/>
          <p:cNvSpPr txBox="1"/>
          <p:nvPr/>
        </p:nvSpPr>
        <p:spPr>
          <a:xfrm>
            <a:off x="3401568" y="2446289"/>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+$10K</a:t>
            </a:r>
            <a:endParaRPr lang="en-US" sz="1300" dirty="0"/>
          </a:p>
        </p:txBody>
      </p:sp>
      <p:sp>
        <p:nvSpPr>
          <p:cNvPr id="39" name="Text 37"/>
          <p:cNvSpPr txBox="1"/>
          <p:nvPr/>
        </p:nvSpPr>
        <p:spPr>
          <a:xfrm>
            <a:off x="44074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0" name="Text 38"/>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41" name="Text 39"/>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2" name="Text 40"/>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3" name="Shape 41"/>
          <p:cNvSpPr/>
          <p:nvPr/>
        </p:nvSpPr>
        <p:spPr>
          <a:xfrm>
            <a:off x="3078163" y="2750703"/>
            <a:ext cx="18288" cy="136676"/>
          </a:xfrm>
          <a:prstGeom prst="rect">
            <a:avLst/>
          </a:prstGeom>
          <a:solidFill>
            <a:srgbClr val="12A566"/>
          </a:solidFill>
          <a:ln/>
        </p:spPr>
      </p:sp>
      <p:sp>
        <p:nvSpPr>
          <p:cNvPr id="44" name="Text 42"/>
          <p:cNvSpPr txBox="1"/>
          <p:nvPr/>
        </p:nvSpPr>
        <p:spPr>
          <a:xfrm>
            <a:off x="3401568" y="2694791"/>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45" name="Text 43"/>
          <p:cNvSpPr txBox="1"/>
          <p:nvPr/>
        </p:nvSpPr>
        <p:spPr>
          <a:xfrm>
            <a:off x="44074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46" name="Text 4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47" name="Text 4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8" name="Text 46"/>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78163" y="2999205"/>
            <a:ext cx="18288" cy="136676"/>
          </a:xfrm>
          <a:prstGeom prst="rect">
            <a:avLst/>
          </a:prstGeom>
          <a:solidFill>
            <a:srgbClr val="12A566"/>
          </a:solidFill>
          <a:ln/>
        </p:spPr>
      </p:sp>
      <p:sp>
        <p:nvSpPr>
          <p:cNvPr id="50" name="Text 48"/>
          <p:cNvSpPr txBox="1"/>
          <p:nvPr/>
        </p:nvSpPr>
        <p:spPr>
          <a:xfrm>
            <a:off x="3401568" y="2943292"/>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1" name="Text 49"/>
          <p:cNvSpPr txBox="1"/>
          <p:nvPr/>
        </p:nvSpPr>
        <p:spPr>
          <a:xfrm>
            <a:off x="44074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52" name="Text 50"/>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53" name="Text 51"/>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4" name="Text 52"/>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5" name="Shape 53"/>
          <p:cNvSpPr/>
          <p:nvPr/>
        </p:nvSpPr>
        <p:spPr>
          <a:xfrm>
            <a:off x="3078163" y="3247707"/>
            <a:ext cx="18288" cy="136676"/>
          </a:xfrm>
          <a:prstGeom prst="rect">
            <a:avLst/>
          </a:prstGeom>
          <a:solidFill>
            <a:srgbClr val="12A566"/>
          </a:solidFill>
          <a:ln/>
        </p:spPr>
      </p:sp>
      <p:sp>
        <p:nvSpPr>
          <p:cNvPr id="56" name="Text 54"/>
          <p:cNvSpPr txBox="1"/>
          <p:nvPr/>
        </p:nvSpPr>
        <p:spPr>
          <a:xfrm>
            <a:off x="3401568" y="3191794"/>
            <a:ext cx="100584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+$3K</a:t>
            </a:r>
            <a:endParaRPr lang="en-US" sz="1300" dirty="0"/>
          </a:p>
        </p:txBody>
      </p:sp>
      <p:sp>
        <p:nvSpPr>
          <p:cNvPr id="57" name="Text 55"/>
          <p:cNvSpPr txBox="1"/>
          <p:nvPr/>
        </p:nvSpPr>
        <p:spPr>
          <a:xfrm>
            <a:off x="44074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58" name="Text 56"/>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59" name="Text 57"/>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0" name="Text 58"/>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76409" y="3496208"/>
            <a:ext cx="18288" cy="136676"/>
          </a:xfrm>
          <a:prstGeom prst="rect">
            <a:avLst/>
          </a:prstGeom>
          <a:solidFill>
            <a:srgbClr val="C2352F"/>
          </a:solidFill>
          <a:ln/>
        </p:spPr>
      </p:sp>
      <p:sp>
        <p:nvSpPr>
          <p:cNvPr id="62" name="Text 60"/>
          <p:cNvSpPr txBox="1"/>
          <p:nvPr/>
        </p:nvSpPr>
        <p:spPr>
          <a:xfrm>
            <a:off x="3401568"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−$905</a:t>
            </a:r>
            <a:endParaRPr lang="en-US" sz="1300" dirty="0"/>
          </a:p>
        </p:txBody>
      </p:sp>
      <p:sp>
        <p:nvSpPr>
          <p:cNvPr id="63" name="Text 61"/>
          <p:cNvSpPr txBox="1"/>
          <p:nvPr/>
        </p:nvSpPr>
        <p:spPr>
          <a:xfrm>
            <a:off x="44074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4" name="Text 62"/>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65" name="Text 6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6" name="Text 64"/>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7" name="Shape 65"/>
          <p:cNvSpPr/>
          <p:nvPr/>
        </p:nvSpPr>
        <p:spPr>
          <a:xfrm>
            <a:off x="3063321" y="3744710"/>
            <a:ext cx="18288" cy="136676"/>
          </a:xfrm>
          <a:prstGeom prst="rect">
            <a:avLst/>
          </a:prstGeom>
          <a:solidFill>
            <a:srgbClr val="C2352F"/>
          </a:solidFill>
          <a:ln/>
        </p:spPr>
      </p:sp>
      <p:sp>
        <p:nvSpPr>
          <p:cNvPr id="68" name="Text 66"/>
          <p:cNvSpPr txBox="1"/>
          <p:nvPr/>
        </p:nvSpPr>
        <p:spPr>
          <a:xfrm>
            <a:off x="3401568"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69" name="Text 67"/>
          <p:cNvSpPr txBox="1"/>
          <p:nvPr/>
        </p:nvSpPr>
        <p:spPr>
          <a:xfrm>
            <a:off x="44074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70" name="Text 68"/>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71" name="Text 69"/>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2" name="Text 70"/>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3" name="Shape 71"/>
          <p:cNvSpPr/>
          <p:nvPr/>
        </p:nvSpPr>
        <p:spPr>
          <a:xfrm>
            <a:off x="3059655" y="3993212"/>
            <a:ext cx="18509" cy="136676"/>
          </a:xfrm>
          <a:prstGeom prst="rect">
            <a:avLst/>
          </a:prstGeom>
          <a:solidFill>
            <a:srgbClr val="C2352F"/>
          </a:solidFill>
          <a:ln/>
        </p:spPr>
      </p:sp>
      <p:sp>
        <p:nvSpPr>
          <p:cNvPr id="74" name="Text 72"/>
          <p:cNvSpPr txBox="1"/>
          <p:nvPr/>
        </p:nvSpPr>
        <p:spPr>
          <a:xfrm>
            <a:off x="3401568"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5" name="Text 73"/>
          <p:cNvSpPr txBox="1"/>
          <p:nvPr/>
        </p:nvSpPr>
        <p:spPr>
          <a:xfrm>
            <a:off x="44074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76" name="Text 74"/>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77" name="Text 75"/>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8" name="Text 76"/>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9" name="Shape 77"/>
          <p:cNvSpPr/>
          <p:nvPr/>
        </p:nvSpPr>
        <p:spPr>
          <a:xfrm>
            <a:off x="3051638" y="4241713"/>
            <a:ext cx="26525" cy="136676"/>
          </a:xfrm>
          <a:prstGeom prst="rect">
            <a:avLst/>
          </a:prstGeom>
          <a:solidFill>
            <a:srgbClr val="C2352F"/>
          </a:solidFill>
          <a:ln/>
        </p:spPr>
      </p:sp>
      <p:sp>
        <p:nvSpPr>
          <p:cNvPr id="80" name="Text 78"/>
          <p:cNvSpPr txBox="1"/>
          <p:nvPr/>
        </p:nvSpPr>
        <p:spPr>
          <a:xfrm>
            <a:off x="3401568"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1" name="Text 79"/>
          <p:cNvSpPr txBox="1"/>
          <p:nvPr/>
        </p:nvSpPr>
        <p:spPr>
          <a:xfrm>
            <a:off x="44074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2" name="Text 80"/>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83" name="Text 81"/>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84" name="Text 82"/>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3050701" y="4490215"/>
            <a:ext cx="27462" cy="136676"/>
          </a:xfrm>
          <a:prstGeom prst="rect">
            <a:avLst/>
          </a:prstGeom>
          <a:solidFill>
            <a:srgbClr val="C2352F"/>
          </a:solidFill>
          <a:ln/>
        </p:spPr>
      </p:sp>
      <p:sp>
        <p:nvSpPr>
          <p:cNvPr id="86" name="Text 84"/>
          <p:cNvSpPr txBox="1"/>
          <p:nvPr/>
        </p:nvSpPr>
        <p:spPr>
          <a:xfrm>
            <a:off x="3401568"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87" name="Text 85"/>
          <p:cNvSpPr txBox="1"/>
          <p:nvPr/>
        </p:nvSpPr>
        <p:spPr>
          <a:xfrm>
            <a:off x="44074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88" name="Text 86"/>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89" name="Text 87"/>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0" name="Text 88"/>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1" name="Shape 89"/>
          <p:cNvSpPr/>
          <p:nvPr/>
        </p:nvSpPr>
        <p:spPr>
          <a:xfrm>
            <a:off x="3047298" y="4738717"/>
            <a:ext cx="30866" cy="136676"/>
          </a:xfrm>
          <a:prstGeom prst="rect">
            <a:avLst/>
          </a:prstGeom>
          <a:solidFill>
            <a:srgbClr val="C2352F"/>
          </a:solidFill>
          <a:ln/>
        </p:spPr>
      </p:sp>
      <p:sp>
        <p:nvSpPr>
          <p:cNvPr id="92" name="Text 90"/>
          <p:cNvSpPr txBox="1"/>
          <p:nvPr/>
        </p:nvSpPr>
        <p:spPr>
          <a:xfrm>
            <a:off x="3401568"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−$16K</a:t>
            </a:r>
            <a:endParaRPr lang="en-US" sz="1300" dirty="0"/>
          </a:p>
        </p:txBody>
      </p:sp>
      <p:sp>
        <p:nvSpPr>
          <p:cNvPr id="93" name="Text 91"/>
          <p:cNvSpPr txBox="1"/>
          <p:nvPr/>
        </p:nvSpPr>
        <p:spPr>
          <a:xfrm>
            <a:off x="44074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94" name="Text 92"/>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95" name="Text 93"/>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6" name="Text 94"/>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3043502" y="4987218"/>
            <a:ext cx="34662" cy="136676"/>
          </a:xfrm>
          <a:prstGeom prst="rect">
            <a:avLst/>
          </a:prstGeom>
          <a:solidFill>
            <a:srgbClr val="C2352F"/>
          </a:solidFill>
          <a:ln/>
        </p:spPr>
      </p:sp>
      <p:sp>
        <p:nvSpPr>
          <p:cNvPr id="98" name="Text 96"/>
          <p:cNvSpPr txBox="1"/>
          <p:nvPr/>
        </p:nvSpPr>
        <p:spPr>
          <a:xfrm>
            <a:off x="3401568"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9" name="Text 97"/>
          <p:cNvSpPr txBox="1"/>
          <p:nvPr/>
        </p:nvSpPr>
        <p:spPr>
          <a:xfrm>
            <a:off x="44074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100" name="Text 98"/>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101" name="Text 99"/>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02" name="Text 100"/>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3" name="Shape 101"/>
          <p:cNvSpPr/>
          <p:nvPr/>
        </p:nvSpPr>
        <p:spPr>
          <a:xfrm>
            <a:off x="3041920" y="5235720"/>
            <a:ext cx="36243" cy="136676"/>
          </a:xfrm>
          <a:prstGeom prst="rect">
            <a:avLst/>
          </a:prstGeom>
          <a:solidFill>
            <a:srgbClr val="C2352F"/>
          </a:solidFill>
          <a:ln/>
        </p:spPr>
      </p:sp>
      <p:sp>
        <p:nvSpPr>
          <p:cNvPr id="104" name="Text 102"/>
          <p:cNvSpPr txBox="1"/>
          <p:nvPr/>
        </p:nvSpPr>
        <p:spPr>
          <a:xfrm>
            <a:off x="3401568"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105" name="Text 103"/>
          <p:cNvSpPr txBox="1"/>
          <p:nvPr/>
        </p:nvSpPr>
        <p:spPr>
          <a:xfrm>
            <a:off x="44074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06" name="Text 10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07" name="Text 10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8" name="Text 106"/>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9" name="Shape 107"/>
          <p:cNvSpPr/>
          <p:nvPr/>
        </p:nvSpPr>
        <p:spPr>
          <a:xfrm>
            <a:off x="3040249" y="5484222"/>
            <a:ext cx="37915" cy="136676"/>
          </a:xfrm>
          <a:prstGeom prst="rect">
            <a:avLst/>
          </a:prstGeom>
          <a:solidFill>
            <a:srgbClr val="C2352F"/>
          </a:solidFill>
          <a:ln/>
        </p:spPr>
      </p:sp>
      <p:sp>
        <p:nvSpPr>
          <p:cNvPr id="110" name="Text 108"/>
          <p:cNvSpPr txBox="1"/>
          <p:nvPr/>
        </p:nvSpPr>
        <p:spPr>
          <a:xfrm>
            <a:off x="3401568"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11" name="Text 109"/>
          <p:cNvSpPr txBox="1"/>
          <p:nvPr/>
        </p:nvSpPr>
        <p:spPr>
          <a:xfrm>
            <a:off x="44074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112" name="Text 110"/>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13" name="Text 111"/>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4" name="Text 112"/>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3036175" y="5732723"/>
            <a:ext cx="41989" cy="136676"/>
          </a:xfrm>
          <a:prstGeom prst="rect">
            <a:avLst/>
          </a:prstGeom>
          <a:solidFill>
            <a:srgbClr val="C2352F"/>
          </a:solidFill>
          <a:ln/>
        </p:spPr>
      </p:sp>
      <p:sp>
        <p:nvSpPr>
          <p:cNvPr id="116" name="Text 114"/>
          <p:cNvSpPr txBox="1"/>
          <p:nvPr/>
        </p:nvSpPr>
        <p:spPr>
          <a:xfrm>
            <a:off x="3401568" y="567681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17" name="Text 115"/>
          <p:cNvSpPr txBox="1"/>
          <p:nvPr/>
        </p:nvSpPr>
        <p:spPr>
          <a:xfrm>
            <a:off x="44074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18" name="Text 116"/>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19" name="Text 117"/>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0" name="Text 118"/>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8579493" y="1756697"/>
            <a:ext cx="49079" cy="136676"/>
          </a:xfrm>
          <a:prstGeom prst="rect">
            <a:avLst/>
          </a:prstGeom>
          <a:solidFill>
            <a:srgbClr val="C2352F"/>
          </a:solidFill>
          <a:ln/>
        </p:spPr>
      </p:sp>
      <p:sp>
        <p:nvSpPr>
          <p:cNvPr id="122" name="Text 120"/>
          <p:cNvSpPr txBox="1"/>
          <p:nvPr/>
        </p:nvSpPr>
        <p:spPr>
          <a:xfrm>
            <a:off x="8951976" y="170078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3" name="Text 121"/>
          <p:cNvSpPr txBox="1"/>
          <p:nvPr/>
        </p:nvSpPr>
        <p:spPr>
          <a:xfrm>
            <a:off x="99578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124" name="Text 122"/>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25" name="Shape 123"/>
          <p:cNvSpPr/>
          <p:nvPr/>
        </p:nvSpPr>
        <p:spPr>
          <a:xfrm>
            <a:off x="11521440" y="1746504"/>
            <a:ext cx="54864" cy="157062"/>
          </a:xfrm>
          <a:prstGeom prst="rect">
            <a:avLst/>
          </a:prstGeom>
          <a:solidFill>
            <a:srgbClr val="C2352F"/>
          </a:solidFill>
          <a:ln/>
        </p:spPr>
      </p:sp>
      <p:sp>
        <p:nvSpPr>
          <p:cNvPr id="126" name="Text 124"/>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61923" y="2005199"/>
            <a:ext cx="66649" cy="136676"/>
          </a:xfrm>
          <a:prstGeom prst="rect">
            <a:avLst/>
          </a:prstGeom>
          <a:solidFill>
            <a:srgbClr val="C2352F"/>
          </a:solidFill>
          <a:ln/>
        </p:spPr>
      </p:sp>
      <p:sp>
        <p:nvSpPr>
          <p:cNvPr id="129" name="Text 127"/>
          <p:cNvSpPr txBox="1"/>
          <p:nvPr/>
        </p:nvSpPr>
        <p:spPr>
          <a:xfrm>
            <a:off x="8951976" y="194928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0" name="Text 128"/>
          <p:cNvSpPr txBox="1"/>
          <p:nvPr/>
        </p:nvSpPr>
        <p:spPr>
          <a:xfrm>
            <a:off x="99578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31" name="Text 129"/>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32" name="Text 130"/>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3" name="Text 131"/>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4" name="Shape 132"/>
          <p:cNvSpPr/>
          <p:nvPr/>
        </p:nvSpPr>
        <p:spPr>
          <a:xfrm>
            <a:off x="8553773" y="2253700"/>
            <a:ext cx="74798" cy="136676"/>
          </a:xfrm>
          <a:prstGeom prst="rect">
            <a:avLst/>
          </a:prstGeom>
          <a:solidFill>
            <a:srgbClr val="C2352F"/>
          </a:solidFill>
          <a:ln/>
        </p:spPr>
      </p:sp>
      <p:sp>
        <p:nvSpPr>
          <p:cNvPr id="135" name="Text 133"/>
          <p:cNvSpPr txBox="1"/>
          <p:nvPr/>
        </p:nvSpPr>
        <p:spPr>
          <a:xfrm>
            <a:off x="8951976" y="219778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36" name="Text 134"/>
          <p:cNvSpPr txBox="1"/>
          <p:nvPr/>
        </p:nvSpPr>
        <p:spPr>
          <a:xfrm>
            <a:off x="99578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137" name="Text 135"/>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38" name="Shape 136"/>
          <p:cNvSpPr/>
          <p:nvPr/>
        </p:nvSpPr>
        <p:spPr>
          <a:xfrm>
            <a:off x="11521440" y="2243507"/>
            <a:ext cx="54864" cy="157062"/>
          </a:xfrm>
          <a:prstGeom prst="rect">
            <a:avLst/>
          </a:prstGeom>
          <a:solidFill>
            <a:srgbClr val="9AA3AD"/>
          </a:solidFill>
          <a:ln/>
        </p:spPr>
      </p:sp>
      <p:sp>
        <p:nvSpPr>
          <p:cNvPr id="139" name="Text 137"/>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40" name="Text 138"/>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47178" y="2502202"/>
            <a:ext cx="81394" cy="136676"/>
          </a:xfrm>
          <a:prstGeom prst="rect">
            <a:avLst/>
          </a:prstGeom>
          <a:solidFill>
            <a:srgbClr val="C2352F"/>
          </a:solidFill>
          <a:ln/>
        </p:spPr>
      </p:sp>
      <p:sp>
        <p:nvSpPr>
          <p:cNvPr id="142" name="Text 140"/>
          <p:cNvSpPr txBox="1"/>
          <p:nvPr/>
        </p:nvSpPr>
        <p:spPr>
          <a:xfrm>
            <a:off x="8951976" y="244628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43" name="Text 141"/>
          <p:cNvSpPr txBox="1"/>
          <p:nvPr/>
        </p:nvSpPr>
        <p:spPr>
          <a:xfrm>
            <a:off x="99578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−255</a:t>
            </a:r>
            <a:endParaRPr lang="en-US" sz="1300" dirty="0"/>
          </a:p>
        </p:txBody>
      </p:sp>
      <p:sp>
        <p:nvSpPr>
          <p:cNvPr id="144" name="Text 142"/>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45" name="Shape 143"/>
          <p:cNvSpPr/>
          <p:nvPr/>
        </p:nvSpPr>
        <p:spPr>
          <a:xfrm>
            <a:off x="11521440" y="2492009"/>
            <a:ext cx="54864" cy="157062"/>
          </a:xfrm>
          <a:prstGeom prst="rect">
            <a:avLst/>
          </a:prstGeom>
          <a:solidFill>
            <a:srgbClr val="9AA3AD"/>
          </a:solidFill>
          <a:ln/>
        </p:spPr>
      </p:sp>
      <p:sp>
        <p:nvSpPr>
          <p:cNvPr id="146" name="Text 144"/>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47" name="Text 145"/>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47001" y="2750703"/>
            <a:ext cx="81571" cy="136676"/>
          </a:xfrm>
          <a:prstGeom prst="rect">
            <a:avLst/>
          </a:prstGeom>
          <a:solidFill>
            <a:srgbClr val="C2352F"/>
          </a:solidFill>
          <a:ln/>
        </p:spPr>
      </p:sp>
      <p:sp>
        <p:nvSpPr>
          <p:cNvPr id="149" name="Text 147"/>
          <p:cNvSpPr txBox="1"/>
          <p:nvPr/>
        </p:nvSpPr>
        <p:spPr>
          <a:xfrm>
            <a:off x="8951976" y="2694791"/>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50" name="Text 148"/>
          <p:cNvSpPr txBox="1"/>
          <p:nvPr/>
        </p:nvSpPr>
        <p:spPr>
          <a:xfrm>
            <a:off x="99578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51" name="Text 14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52" name="Text 15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53" name="Text 151"/>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4" name="Shape 152"/>
          <p:cNvSpPr/>
          <p:nvPr/>
        </p:nvSpPr>
        <p:spPr>
          <a:xfrm>
            <a:off x="8541404" y="2999205"/>
            <a:ext cx="87168" cy="136676"/>
          </a:xfrm>
          <a:prstGeom prst="rect">
            <a:avLst/>
          </a:prstGeom>
          <a:solidFill>
            <a:srgbClr val="C2352F"/>
          </a:solidFill>
          <a:ln/>
        </p:spPr>
      </p:sp>
      <p:sp>
        <p:nvSpPr>
          <p:cNvPr id="155" name="Text 153"/>
          <p:cNvSpPr txBox="1"/>
          <p:nvPr/>
        </p:nvSpPr>
        <p:spPr>
          <a:xfrm>
            <a:off x="8951976" y="294329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−$45K</a:t>
            </a:r>
            <a:endParaRPr lang="en-US" sz="1300" dirty="0"/>
          </a:p>
        </p:txBody>
      </p:sp>
      <p:sp>
        <p:nvSpPr>
          <p:cNvPr id="156" name="Text 154"/>
          <p:cNvSpPr txBox="1"/>
          <p:nvPr/>
        </p:nvSpPr>
        <p:spPr>
          <a:xfrm>
            <a:off x="99578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−273</a:t>
            </a:r>
            <a:endParaRPr lang="en-US" sz="1300" dirty="0"/>
          </a:p>
        </p:txBody>
      </p:sp>
      <p:sp>
        <p:nvSpPr>
          <p:cNvPr id="157" name="Text 155"/>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58" name="Shape 156"/>
          <p:cNvSpPr/>
          <p:nvPr/>
        </p:nvSpPr>
        <p:spPr>
          <a:xfrm>
            <a:off x="11521440" y="2989012"/>
            <a:ext cx="54864" cy="157062"/>
          </a:xfrm>
          <a:prstGeom prst="rect">
            <a:avLst/>
          </a:prstGeom>
          <a:solidFill>
            <a:srgbClr val="C2352F"/>
          </a:solidFill>
          <a:ln/>
        </p:spPr>
      </p:sp>
      <p:sp>
        <p:nvSpPr>
          <p:cNvPr id="159" name="Text 157"/>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60" name="Text 158"/>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8538750" y="3247707"/>
            <a:ext cx="89822" cy="136676"/>
          </a:xfrm>
          <a:prstGeom prst="rect">
            <a:avLst/>
          </a:prstGeom>
          <a:solidFill>
            <a:srgbClr val="C2352F"/>
          </a:solidFill>
          <a:ln/>
        </p:spPr>
      </p:sp>
      <p:sp>
        <p:nvSpPr>
          <p:cNvPr id="162" name="Text 160"/>
          <p:cNvSpPr txBox="1"/>
          <p:nvPr/>
        </p:nvSpPr>
        <p:spPr>
          <a:xfrm>
            <a:off x="8951976" y="319179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63" name="Text 161"/>
          <p:cNvSpPr txBox="1"/>
          <p:nvPr/>
        </p:nvSpPr>
        <p:spPr>
          <a:xfrm>
            <a:off x="99578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164" name="Text 162"/>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65" name="Text 16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66" name="Text 164"/>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67" name="Shape 165"/>
          <p:cNvSpPr/>
          <p:nvPr/>
        </p:nvSpPr>
        <p:spPr>
          <a:xfrm>
            <a:off x="8538158" y="3496208"/>
            <a:ext cx="90414" cy="136676"/>
          </a:xfrm>
          <a:prstGeom prst="rect">
            <a:avLst/>
          </a:prstGeom>
          <a:solidFill>
            <a:srgbClr val="C2352F"/>
          </a:solidFill>
          <a:ln/>
        </p:spPr>
      </p:sp>
      <p:sp>
        <p:nvSpPr>
          <p:cNvPr id="168" name="Text 166"/>
          <p:cNvSpPr txBox="1"/>
          <p:nvPr/>
        </p:nvSpPr>
        <p:spPr>
          <a:xfrm>
            <a:off x="8951976" y="3440296"/>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−$47K</a:t>
            </a:r>
            <a:endParaRPr lang="en-US" sz="1300" dirty="0"/>
          </a:p>
        </p:txBody>
      </p:sp>
      <p:sp>
        <p:nvSpPr>
          <p:cNvPr id="169" name="Text 167"/>
          <p:cNvSpPr txBox="1"/>
          <p:nvPr/>
        </p:nvSpPr>
        <p:spPr>
          <a:xfrm>
            <a:off x="99578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0" name="Text 168"/>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71" name="Shape 169"/>
          <p:cNvSpPr/>
          <p:nvPr/>
        </p:nvSpPr>
        <p:spPr>
          <a:xfrm>
            <a:off x="11521440" y="3486016"/>
            <a:ext cx="54864" cy="157062"/>
          </a:xfrm>
          <a:prstGeom prst="rect">
            <a:avLst/>
          </a:prstGeom>
          <a:solidFill>
            <a:srgbClr val="9AA3AD"/>
          </a:solidFill>
          <a:ln/>
        </p:spPr>
      </p:sp>
      <p:sp>
        <p:nvSpPr>
          <p:cNvPr id="172" name="Text 17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73" name="Text 17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4" name="Shape 172"/>
          <p:cNvSpPr/>
          <p:nvPr/>
        </p:nvSpPr>
        <p:spPr>
          <a:xfrm>
            <a:off x="8536111" y="3744710"/>
            <a:ext cx="92460" cy="136676"/>
          </a:xfrm>
          <a:prstGeom prst="rect">
            <a:avLst/>
          </a:prstGeom>
          <a:solidFill>
            <a:srgbClr val="C2352F"/>
          </a:solidFill>
          <a:ln/>
        </p:spPr>
      </p:sp>
      <p:sp>
        <p:nvSpPr>
          <p:cNvPr id="175" name="Text 173"/>
          <p:cNvSpPr txBox="1"/>
          <p:nvPr/>
        </p:nvSpPr>
        <p:spPr>
          <a:xfrm>
            <a:off x="8951976" y="368879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76" name="Text 174"/>
          <p:cNvSpPr txBox="1"/>
          <p:nvPr/>
        </p:nvSpPr>
        <p:spPr>
          <a:xfrm>
            <a:off x="99578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7" name="Text 175"/>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78" name="Text 17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79" name="Text 17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80" name="Shape 178"/>
          <p:cNvSpPr/>
          <p:nvPr/>
        </p:nvSpPr>
        <p:spPr>
          <a:xfrm>
            <a:off x="8533760" y="3993212"/>
            <a:ext cx="94812" cy="136676"/>
          </a:xfrm>
          <a:prstGeom prst="rect">
            <a:avLst/>
          </a:prstGeom>
          <a:solidFill>
            <a:srgbClr val="C2352F"/>
          </a:solidFill>
          <a:ln/>
        </p:spPr>
      </p:sp>
      <p:sp>
        <p:nvSpPr>
          <p:cNvPr id="181" name="Text 179"/>
          <p:cNvSpPr txBox="1"/>
          <p:nvPr/>
        </p:nvSpPr>
        <p:spPr>
          <a:xfrm>
            <a:off x="8951976" y="393729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82" name="Text 180"/>
          <p:cNvSpPr txBox="1"/>
          <p:nvPr/>
        </p:nvSpPr>
        <p:spPr>
          <a:xfrm>
            <a:off x="99578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a:t>
            </a:r>
            <a:endParaRPr lang="en-US" sz="1300" dirty="0"/>
          </a:p>
        </p:txBody>
      </p:sp>
      <p:sp>
        <p:nvSpPr>
          <p:cNvPr id="183" name="Text 181"/>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84" name="Text 18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85" name="Text 18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86" name="Shape 184"/>
          <p:cNvSpPr/>
          <p:nvPr/>
        </p:nvSpPr>
        <p:spPr>
          <a:xfrm>
            <a:off x="8519388" y="4241713"/>
            <a:ext cx="109184" cy="136676"/>
          </a:xfrm>
          <a:prstGeom prst="rect">
            <a:avLst/>
          </a:prstGeom>
          <a:solidFill>
            <a:srgbClr val="C2352F"/>
          </a:solidFill>
          <a:ln/>
        </p:spPr>
      </p:sp>
      <p:sp>
        <p:nvSpPr>
          <p:cNvPr id="187" name="Text 185"/>
          <p:cNvSpPr txBox="1"/>
          <p:nvPr/>
        </p:nvSpPr>
        <p:spPr>
          <a:xfrm>
            <a:off x="8951976" y="4185800"/>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88" name="Text 186"/>
          <p:cNvSpPr txBox="1"/>
          <p:nvPr/>
        </p:nvSpPr>
        <p:spPr>
          <a:xfrm>
            <a:off x="99578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a:t>
            </a:r>
            <a:endParaRPr lang="en-US" sz="1300" dirty="0"/>
          </a:p>
        </p:txBody>
      </p:sp>
      <p:sp>
        <p:nvSpPr>
          <p:cNvPr id="189" name="Text 187"/>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0" name="Text 18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91" name="Text 18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92" name="Shape 190"/>
          <p:cNvSpPr/>
          <p:nvPr/>
        </p:nvSpPr>
        <p:spPr>
          <a:xfrm>
            <a:off x="8518626" y="4490215"/>
            <a:ext cx="109946" cy="136676"/>
          </a:xfrm>
          <a:prstGeom prst="rect">
            <a:avLst/>
          </a:prstGeom>
          <a:solidFill>
            <a:srgbClr val="C2352F"/>
          </a:solidFill>
          <a:ln/>
        </p:spPr>
      </p:sp>
      <p:sp>
        <p:nvSpPr>
          <p:cNvPr id="193" name="Text 191"/>
          <p:cNvSpPr txBox="1"/>
          <p:nvPr/>
        </p:nvSpPr>
        <p:spPr>
          <a:xfrm>
            <a:off x="8951976" y="4434302"/>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94" name="Text 192"/>
          <p:cNvSpPr txBox="1"/>
          <p:nvPr/>
        </p:nvSpPr>
        <p:spPr>
          <a:xfrm>
            <a:off x="99578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−348</a:t>
            </a:r>
            <a:endParaRPr lang="en-US" sz="1300" dirty="0"/>
          </a:p>
        </p:txBody>
      </p:sp>
      <p:sp>
        <p:nvSpPr>
          <p:cNvPr id="195" name="Text 193"/>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96" name="Text 19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97" name="Text 19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98" name="Shape 196"/>
          <p:cNvSpPr/>
          <p:nvPr/>
        </p:nvSpPr>
        <p:spPr>
          <a:xfrm>
            <a:off x="8505476" y="4738717"/>
            <a:ext cx="123095" cy="136676"/>
          </a:xfrm>
          <a:prstGeom prst="rect">
            <a:avLst/>
          </a:prstGeom>
          <a:solidFill>
            <a:srgbClr val="C2352F"/>
          </a:solidFill>
          <a:ln/>
        </p:spPr>
      </p:sp>
      <p:sp>
        <p:nvSpPr>
          <p:cNvPr id="199" name="Text 197"/>
          <p:cNvSpPr txBox="1"/>
          <p:nvPr/>
        </p:nvSpPr>
        <p:spPr>
          <a:xfrm>
            <a:off x="8951976" y="4682804"/>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200" name="Text 198"/>
          <p:cNvSpPr txBox="1"/>
          <p:nvPr/>
        </p:nvSpPr>
        <p:spPr>
          <a:xfrm>
            <a:off x="99578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−386</a:t>
            </a:r>
            <a:endParaRPr lang="en-US" sz="1300" dirty="0"/>
          </a:p>
        </p:txBody>
      </p:sp>
      <p:sp>
        <p:nvSpPr>
          <p:cNvPr id="201" name="Text 19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202" name="Shape 200"/>
          <p:cNvSpPr/>
          <p:nvPr/>
        </p:nvSpPr>
        <p:spPr>
          <a:xfrm>
            <a:off x="11521440" y="4728524"/>
            <a:ext cx="54864" cy="157062"/>
          </a:xfrm>
          <a:prstGeom prst="rect">
            <a:avLst/>
          </a:prstGeom>
          <a:solidFill>
            <a:srgbClr val="9AA3AD"/>
          </a:solidFill>
          <a:ln/>
        </p:spPr>
      </p:sp>
      <p:sp>
        <p:nvSpPr>
          <p:cNvPr id="203" name="Text 201"/>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204" name="Text 202"/>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5" name="Shape 203"/>
          <p:cNvSpPr/>
          <p:nvPr/>
        </p:nvSpPr>
        <p:spPr>
          <a:xfrm>
            <a:off x="8470218" y="4987218"/>
            <a:ext cx="158353" cy="136676"/>
          </a:xfrm>
          <a:prstGeom prst="rect">
            <a:avLst/>
          </a:prstGeom>
          <a:solidFill>
            <a:srgbClr val="C2352F"/>
          </a:solidFill>
          <a:ln/>
        </p:spPr>
      </p:sp>
      <p:sp>
        <p:nvSpPr>
          <p:cNvPr id="206" name="Text 204"/>
          <p:cNvSpPr txBox="1"/>
          <p:nvPr/>
        </p:nvSpPr>
        <p:spPr>
          <a:xfrm>
            <a:off x="8951976" y="4931305"/>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−$82K</a:t>
            </a:r>
            <a:endParaRPr lang="en-US" sz="1300" dirty="0"/>
          </a:p>
        </p:txBody>
      </p:sp>
      <p:sp>
        <p:nvSpPr>
          <p:cNvPr id="207" name="Text 205"/>
          <p:cNvSpPr txBox="1"/>
          <p:nvPr/>
        </p:nvSpPr>
        <p:spPr>
          <a:xfrm>
            <a:off x="99578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−880</a:t>
            </a:r>
            <a:endParaRPr lang="en-US" sz="1300" dirty="0"/>
          </a:p>
        </p:txBody>
      </p:sp>
      <p:sp>
        <p:nvSpPr>
          <p:cNvPr id="208" name="Text 206"/>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209" name="Shape 207"/>
          <p:cNvSpPr/>
          <p:nvPr/>
        </p:nvSpPr>
        <p:spPr>
          <a:xfrm>
            <a:off x="11521440" y="4977025"/>
            <a:ext cx="54864" cy="157062"/>
          </a:xfrm>
          <a:prstGeom prst="rect">
            <a:avLst/>
          </a:prstGeom>
          <a:solidFill>
            <a:srgbClr val="C2352F"/>
          </a:solidFill>
          <a:ln/>
        </p:spPr>
      </p:sp>
      <p:sp>
        <p:nvSpPr>
          <p:cNvPr id="210" name="Text 208"/>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211" name="Text 209"/>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12" name="Shape 210"/>
          <p:cNvSpPr/>
          <p:nvPr/>
        </p:nvSpPr>
        <p:spPr>
          <a:xfrm>
            <a:off x="8441579" y="5235720"/>
            <a:ext cx="186992" cy="136676"/>
          </a:xfrm>
          <a:prstGeom prst="rect">
            <a:avLst/>
          </a:prstGeom>
          <a:solidFill>
            <a:srgbClr val="C2352F"/>
          </a:solidFill>
          <a:ln/>
        </p:spPr>
      </p:sp>
      <p:sp>
        <p:nvSpPr>
          <p:cNvPr id="213" name="Text 211"/>
          <p:cNvSpPr txBox="1"/>
          <p:nvPr/>
        </p:nvSpPr>
        <p:spPr>
          <a:xfrm>
            <a:off x="8951976" y="5179807"/>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−$96K</a:t>
            </a:r>
            <a:endParaRPr lang="en-US" sz="1300" dirty="0"/>
          </a:p>
        </p:txBody>
      </p:sp>
      <p:sp>
        <p:nvSpPr>
          <p:cNvPr id="214" name="Text 212"/>
          <p:cNvSpPr txBox="1"/>
          <p:nvPr/>
        </p:nvSpPr>
        <p:spPr>
          <a:xfrm>
            <a:off x="99578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−792</a:t>
            </a:r>
            <a:endParaRPr lang="en-US" sz="1300" dirty="0"/>
          </a:p>
        </p:txBody>
      </p:sp>
      <p:sp>
        <p:nvSpPr>
          <p:cNvPr id="215" name="Text 213"/>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216" name="Text 21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17" name="Text 215"/>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8" name="Shape 216"/>
          <p:cNvSpPr/>
          <p:nvPr/>
        </p:nvSpPr>
        <p:spPr>
          <a:xfrm>
            <a:off x="8421624" y="5484222"/>
            <a:ext cx="206947" cy="136676"/>
          </a:xfrm>
          <a:prstGeom prst="rect">
            <a:avLst/>
          </a:prstGeom>
          <a:solidFill>
            <a:srgbClr val="C2352F"/>
          </a:solidFill>
          <a:ln/>
        </p:spPr>
      </p:sp>
      <p:sp>
        <p:nvSpPr>
          <p:cNvPr id="219" name="Text 217"/>
          <p:cNvSpPr txBox="1"/>
          <p:nvPr/>
        </p:nvSpPr>
        <p:spPr>
          <a:xfrm>
            <a:off x="8951976" y="5428309"/>
            <a:ext cx="100584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−$107K</a:t>
            </a:r>
            <a:endParaRPr lang="en-US" sz="1300" dirty="0"/>
          </a:p>
        </p:txBody>
      </p:sp>
      <p:sp>
        <p:nvSpPr>
          <p:cNvPr id="220" name="Text 218"/>
          <p:cNvSpPr txBox="1"/>
          <p:nvPr/>
        </p:nvSpPr>
        <p:spPr>
          <a:xfrm>
            <a:off x="99578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−439</a:t>
            </a:r>
            <a:endParaRPr lang="en-US" sz="1300" dirty="0"/>
          </a:p>
        </p:txBody>
      </p:sp>
      <p:sp>
        <p:nvSpPr>
          <p:cNvPr id="221" name="Text 219"/>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222" name="Shape 220"/>
          <p:cNvSpPr/>
          <p:nvPr/>
        </p:nvSpPr>
        <p:spPr>
          <a:xfrm>
            <a:off x="6085332" y="1700784"/>
            <a:ext cx="10973" cy="4224528"/>
          </a:xfrm>
          <a:prstGeom prst="rect">
            <a:avLst/>
          </a:prstGeom>
          <a:solidFill>
            <a:srgbClr val="D9D9D9"/>
          </a:solidFill>
          <a:ln/>
        </p:spPr>
      </p:sp>
      <p:sp>
        <p:nvSpPr>
          <p:cNvPr id="224" name="Shape 221"/>
          <p:cNvSpPr/>
          <p:nvPr/>
        </p:nvSpPr>
        <p:spPr>
          <a:xfrm>
            <a:off x="457200" y="6126480"/>
            <a:ext cx="11274552" cy="371856"/>
          </a:xfrm>
          <a:prstGeom prst="rect">
            <a:avLst/>
          </a:prstGeom>
          <a:solidFill>
            <a:srgbClr val="FBEBEA"/>
          </a:solidFill>
          <a:ln/>
        </p:spPr>
      </p:sp>
      <p:sp>
        <p:nvSpPr>
          <p:cNvPr id="225" name="Text 2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26 stores under 7.5% have left $1,017,661 so far this year; 7 are at or above it.</a:t>
            </a:r>
            <a:endParaRPr lang="en-US" sz="16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Shape 11"/>
          <p:cNvSpPr/>
          <p:nvPr/>
        </p:nvSpPr>
        <p:spPr>
          <a:xfrm>
            <a:off x="4084320" y="2968142"/>
            <a:ext cx="64008" cy="755294"/>
          </a:xfrm>
          <a:prstGeom prst="rect">
            <a:avLst/>
          </a:prstGeom>
          <a:solidFill>
            <a:srgbClr val="12A566"/>
          </a:solidFill>
          <a:ln/>
        </p:spPr>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3" name="Shape 61"/>
          <p:cNvSpPr/>
          <p:nvPr/>
        </p:nvSpPr>
        <p:spPr>
          <a:xfrm>
            <a:off x="11466576" y="4625035"/>
            <a:ext cx="64008" cy="755294"/>
          </a:xfrm>
          <a:prstGeom prst="rect">
            <a:avLst/>
          </a:prstGeom>
          <a:solidFill>
            <a:srgbClr val="12A566"/>
          </a:solidFill>
          <a:ln/>
        </p:spPr>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 · JAN–SEP 2026 YTD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9502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8" name="Shape 6"/>
          <p:cNvSpPr/>
          <p:nvPr/>
        </p:nvSpPr>
        <p:spPr>
          <a:xfrm>
            <a:off x="3429510" y="1700784"/>
            <a:ext cx="10973" cy="4224528"/>
          </a:xfrm>
          <a:prstGeom prst="rect">
            <a:avLst/>
          </a:prstGeom>
          <a:solidFill>
            <a:srgbClr val="9AA3AD"/>
          </a:solidFill>
          <a:ln/>
        </p:spPr>
      </p:sp>
      <p:sp>
        <p:nvSpPr>
          <p:cNvPr id="9" name="Text 7"/>
          <p:cNvSpPr txBox="1"/>
          <p:nvPr/>
        </p:nvSpPr>
        <p:spPr>
          <a:xfrm>
            <a:off x="95006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Opcodes</a:t>
            </a:r>
            <a:endParaRPr lang="en-US" sz="1400" dirty="0"/>
          </a:p>
        </p:txBody>
      </p:sp>
      <p:sp>
        <p:nvSpPr>
          <p:cNvPr id="11" name="Shape 9"/>
          <p:cNvSpPr/>
          <p:nvPr/>
        </p:nvSpPr>
        <p:spPr>
          <a:xfrm>
            <a:off x="8979918"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434996" y="1756697"/>
            <a:ext cx="460348" cy="136676"/>
          </a:xfrm>
          <a:prstGeom prst="rect">
            <a:avLst/>
          </a:prstGeom>
          <a:solidFill>
            <a:srgbClr val="12A566"/>
          </a:solidFill>
          <a:ln/>
        </p:spPr>
      </p:sp>
      <p:sp>
        <p:nvSpPr>
          <p:cNvPr id="15" name="Text 13"/>
          <p:cNvSpPr txBox="1"/>
          <p:nvPr/>
        </p:nvSpPr>
        <p:spPr>
          <a:xfrm>
            <a:off x="39502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+$557K</a:t>
            </a:r>
            <a:endParaRPr lang="en-US" sz="1300" dirty="0"/>
          </a:p>
        </p:txBody>
      </p:sp>
      <p:sp>
        <p:nvSpPr>
          <p:cNvPr id="16" name="Text 14"/>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+4,476</a:t>
            </a:r>
            <a:endParaRPr lang="en-US" sz="1300" dirty="0"/>
          </a:p>
        </p:txBody>
      </p:sp>
      <p:sp>
        <p:nvSpPr>
          <p:cNvPr id="17" name="Shape 15"/>
          <p:cNvSpPr/>
          <p:nvPr/>
        </p:nvSpPr>
        <p:spPr>
          <a:xfrm>
            <a:off x="5971032" y="1746504"/>
            <a:ext cx="54864" cy="157062"/>
          </a:xfrm>
          <a:prstGeom prst="rect">
            <a:avLst/>
          </a:prstGeom>
          <a:solidFill>
            <a:srgbClr val="12A566"/>
          </a:solidFill>
          <a:ln/>
        </p:spPr>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0" name="Shape 18"/>
          <p:cNvSpPr/>
          <p:nvPr/>
        </p:nvSpPr>
        <p:spPr>
          <a:xfrm>
            <a:off x="3434996" y="2005199"/>
            <a:ext cx="124432" cy="136676"/>
          </a:xfrm>
          <a:prstGeom prst="rect">
            <a:avLst/>
          </a:prstGeom>
          <a:solidFill>
            <a:srgbClr val="12A566"/>
          </a:solidFill>
          <a:ln/>
        </p:spPr>
      </p:sp>
      <p:sp>
        <p:nvSpPr>
          <p:cNvPr id="21" name="Text 19"/>
          <p:cNvSpPr txBox="1"/>
          <p:nvPr/>
        </p:nvSpPr>
        <p:spPr>
          <a:xfrm>
            <a:off x="39502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+$151K</a:t>
            </a:r>
            <a:endParaRPr lang="en-US" sz="1300" dirty="0"/>
          </a:p>
        </p:txBody>
      </p:sp>
      <p:sp>
        <p:nvSpPr>
          <p:cNvPr id="22" name="Text 20"/>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+456</a:t>
            </a:r>
            <a:endParaRPr lang="en-US" sz="1300" dirty="0"/>
          </a:p>
        </p:txBody>
      </p:sp>
      <p:sp>
        <p:nvSpPr>
          <p:cNvPr id="23" name="Shape 21"/>
          <p:cNvSpPr/>
          <p:nvPr/>
        </p:nvSpPr>
        <p:spPr>
          <a:xfrm>
            <a:off x="5971032" y="1995006"/>
            <a:ext cx="54864" cy="157062"/>
          </a:xfrm>
          <a:prstGeom prst="rect">
            <a:avLst/>
          </a:prstGeom>
          <a:solidFill>
            <a:srgbClr val="12A566"/>
          </a:solidFill>
          <a:ln/>
        </p:spPr>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6" name="Shape 24"/>
          <p:cNvSpPr/>
          <p:nvPr/>
        </p:nvSpPr>
        <p:spPr>
          <a:xfrm>
            <a:off x="3434996" y="2253700"/>
            <a:ext cx="44339" cy="136676"/>
          </a:xfrm>
          <a:prstGeom prst="rect">
            <a:avLst/>
          </a:prstGeom>
          <a:solidFill>
            <a:srgbClr val="12A566"/>
          </a:solidFill>
          <a:ln/>
        </p:spPr>
      </p:sp>
      <p:sp>
        <p:nvSpPr>
          <p:cNvPr id="27" name="Text 25"/>
          <p:cNvSpPr txBox="1"/>
          <p:nvPr/>
        </p:nvSpPr>
        <p:spPr>
          <a:xfrm>
            <a:off x="39502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+$54K</a:t>
            </a:r>
            <a:endParaRPr lang="en-US" sz="1300" dirty="0"/>
          </a:p>
        </p:txBody>
      </p:sp>
      <p:sp>
        <p:nvSpPr>
          <p:cNvPr id="28" name="Text 26"/>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+324</a:t>
            </a:r>
            <a:endParaRPr lang="en-US" sz="1300" dirty="0"/>
          </a:p>
        </p:txBody>
      </p:sp>
      <p:sp>
        <p:nvSpPr>
          <p:cNvPr id="29" name="Shape 27"/>
          <p:cNvSpPr/>
          <p:nvPr/>
        </p:nvSpPr>
        <p:spPr>
          <a:xfrm>
            <a:off x="5971032" y="2243507"/>
            <a:ext cx="54864" cy="157062"/>
          </a:xfrm>
          <a:prstGeom prst="rect">
            <a:avLst/>
          </a:prstGeom>
          <a:solidFill>
            <a:srgbClr val="12A566"/>
          </a:solidFill>
          <a:ln/>
        </p:spPr>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2" name="Shape 30"/>
          <p:cNvSpPr/>
          <p:nvPr/>
        </p:nvSpPr>
        <p:spPr>
          <a:xfrm>
            <a:off x="3434996" y="2502202"/>
            <a:ext cx="37145" cy="136676"/>
          </a:xfrm>
          <a:prstGeom prst="rect">
            <a:avLst/>
          </a:prstGeom>
          <a:solidFill>
            <a:srgbClr val="12A566"/>
          </a:solidFill>
          <a:ln/>
        </p:spPr>
      </p:sp>
      <p:sp>
        <p:nvSpPr>
          <p:cNvPr id="33" name="Text 31"/>
          <p:cNvSpPr txBox="1"/>
          <p:nvPr/>
        </p:nvSpPr>
        <p:spPr>
          <a:xfrm>
            <a:off x="39502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4" name="Text 32"/>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35" name="Text 33"/>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7" name="Shape 35"/>
          <p:cNvSpPr/>
          <p:nvPr/>
        </p:nvSpPr>
        <p:spPr>
          <a:xfrm>
            <a:off x="3434996" y="2750703"/>
            <a:ext cx="34144" cy="136676"/>
          </a:xfrm>
          <a:prstGeom prst="rect">
            <a:avLst/>
          </a:prstGeom>
          <a:solidFill>
            <a:srgbClr val="12A566"/>
          </a:solidFill>
          <a:ln/>
        </p:spPr>
      </p:sp>
      <p:sp>
        <p:nvSpPr>
          <p:cNvPr id="38" name="Text 36"/>
          <p:cNvSpPr txBox="1"/>
          <p:nvPr/>
        </p:nvSpPr>
        <p:spPr>
          <a:xfrm>
            <a:off x="39502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39" name="Text 37"/>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40" name="Text 38"/>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2" name="Shape 40"/>
          <p:cNvSpPr/>
          <p:nvPr/>
        </p:nvSpPr>
        <p:spPr>
          <a:xfrm>
            <a:off x="3434996" y="2999205"/>
            <a:ext cx="27581" cy="136676"/>
          </a:xfrm>
          <a:prstGeom prst="rect">
            <a:avLst/>
          </a:prstGeom>
          <a:solidFill>
            <a:srgbClr val="12A566"/>
          </a:solidFill>
          <a:ln/>
        </p:spPr>
      </p:sp>
      <p:sp>
        <p:nvSpPr>
          <p:cNvPr id="43" name="Text 41"/>
          <p:cNvSpPr txBox="1"/>
          <p:nvPr/>
        </p:nvSpPr>
        <p:spPr>
          <a:xfrm>
            <a:off x="39502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44" name="Text 42"/>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+228</a:t>
            </a:r>
            <a:endParaRPr lang="en-US" sz="1300" dirty="0"/>
          </a:p>
        </p:txBody>
      </p:sp>
      <p:sp>
        <p:nvSpPr>
          <p:cNvPr id="45" name="Text 43"/>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7" name="Shape 45"/>
          <p:cNvSpPr/>
          <p:nvPr/>
        </p:nvSpPr>
        <p:spPr>
          <a:xfrm>
            <a:off x="3434996" y="3247707"/>
            <a:ext cx="19282" cy="136676"/>
          </a:xfrm>
          <a:prstGeom prst="rect">
            <a:avLst/>
          </a:prstGeom>
          <a:solidFill>
            <a:srgbClr val="12A566"/>
          </a:solidFill>
          <a:ln/>
        </p:spPr>
      </p:sp>
      <p:sp>
        <p:nvSpPr>
          <p:cNvPr id="48" name="Text 46"/>
          <p:cNvSpPr txBox="1"/>
          <p:nvPr/>
        </p:nvSpPr>
        <p:spPr>
          <a:xfrm>
            <a:off x="39502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49" name="Text 47"/>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50" name="Text 48"/>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2" name="Shape 50"/>
          <p:cNvSpPr/>
          <p:nvPr/>
        </p:nvSpPr>
        <p:spPr>
          <a:xfrm>
            <a:off x="3416704" y="3496208"/>
            <a:ext cx="18292" cy="136676"/>
          </a:xfrm>
          <a:prstGeom prst="rect">
            <a:avLst/>
          </a:prstGeom>
          <a:solidFill>
            <a:srgbClr val="C2352F"/>
          </a:solidFill>
          <a:ln/>
        </p:spPr>
      </p:sp>
      <p:sp>
        <p:nvSpPr>
          <p:cNvPr id="53" name="Text 51"/>
          <p:cNvSpPr txBox="1"/>
          <p:nvPr/>
        </p:nvSpPr>
        <p:spPr>
          <a:xfrm>
            <a:off x="39502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54" name="Text 52"/>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−661</a:t>
            </a:r>
            <a:endParaRPr lang="en-US" sz="1300" dirty="0"/>
          </a:p>
        </p:txBody>
      </p:sp>
      <p:sp>
        <p:nvSpPr>
          <p:cNvPr id="55" name="Text 53"/>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7" name="Shape 55"/>
          <p:cNvSpPr/>
          <p:nvPr/>
        </p:nvSpPr>
        <p:spPr>
          <a:xfrm>
            <a:off x="3411703" y="3744710"/>
            <a:ext cx="23293" cy="136676"/>
          </a:xfrm>
          <a:prstGeom prst="rect">
            <a:avLst/>
          </a:prstGeom>
          <a:solidFill>
            <a:srgbClr val="C2352F"/>
          </a:solidFill>
          <a:ln/>
        </p:spPr>
      </p:sp>
      <p:sp>
        <p:nvSpPr>
          <p:cNvPr id="58" name="Text 56"/>
          <p:cNvSpPr txBox="1"/>
          <p:nvPr/>
        </p:nvSpPr>
        <p:spPr>
          <a:xfrm>
            <a:off x="39502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59" name="Text 57"/>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−223</a:t>
            </a:r>
            <a:endParaRPr lang="en-US" sz="1300" dirty="0"/>
          </a:p>
        </p:txBody>
      </p:sp>
      <p:sp>
        <p:nvSpPr>
          <p:cNvPr id="60" name="Text 58"/>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2" name="Shape 60"/>
          <p:cNvSpPr/>
          <p:nvPr/>
        </p:nvSpPr>
        <p:spPr>
          <a:xfrm>
            <a:off x="3411379" y="3993212"/>
            <a:ext cx="23618" cy="136676"/>
          </a:xfrm>
          <a:prstGeom prst="rect">
            <a:avLst/>
          </a:prstGeom>
          <a:solidFill>
            <a:srgbClr val="C2352F"/>
          </a:solidFill>
          <a:ln/>
        </p:spPr>
      </p:sp>
      <p:sp>
        <p:nvSpPr>
          <p:cNvPr id="63" name="Text 61"/>
          <p:cNvSpPr txBox="1"/>
          <p:nvPr/>
        </p:nvSpPr>
        <p:spPr>
          <a:xfrm>
            <a:off x="39502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64" name="Text 62"/>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−340</a:t>
            </a:r>
            <a:endParaRPr lang="en-US" sz="1300" dirty="0"/>
          </a:p>
        </p:txBody>
      </p:sp>
      <p:sp>
        <p:nvSpPr>
          <p:cNvPr id="65" name="Text 63"/>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7" name="Shape 65"/>
          <p:cNvSpPr/>
          <p:nvPr/>
        </p:nvSpPr>
        <p:spPr>
          <a:xfrm>
            <a:off x="3408491" y="4241713"/>
            <a:ext cx="26505" cy="136676"/>
          </a:xfrm>
          <a:prstGeom prst="rect">
            <a:avLst/>
          </a:prstGeom>
          <a:solidFill>
            <a:srgbClr val="C2352F"/>
          </a:solidFill>
          <a:ln/>
        </p:spPr>
      </p:sp>
      <p:sp>
        <p:nvSpPr>
          <p:cNvPr id="68" name="Text 66"/>
          <p:cNvSpPr txBox="1"/>
          <p:nvPr/>
        </p:nvSpPr>
        <p:spPr>
          <a:xfrm>
            <a:off x="39502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69" name="Text 67"/>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70" name="Text 68"/>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2" name="Shape 70"/>
          <p:cNvSpPr/>
          <p:nvPr/>
        </p:nvSpPr>
        <p:spPr>
          <a:xfrm>
            <a:off x="3401031" y="4490215"/>
            <a:ext cx="33965" cy="136676"/>
          </a:xfrm>
          <a:prstGeom prst="rect">
            <a:avLst/>
          </a:prstGeom>
          <a:solidFill>
            <a:srgbClr val="C2352F"/>
          </a:solidFill>
          <a:ln/>
        </p:spPr>
      </p:sp>
      <p:sp>
        <p:nvSpPr>
          <p:cNvPr id="73" name="Text 71"/>
          <p:cNvSpPr txBox="1"/>
          <p:nvPr/>
        </p:nvSpPr>
        <p:spPr>
          <a:xfrm>
            <a:off x="39502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−$41K</a:t>
            </a:r>
            <a:endParaRPr lang="en-US" sz="1300" dirty="0"/>
          </a:p>
        </p:txBody>
      </p:sp>
      <p:sp>
        <p:nvSpPr>
          <p:cNvPr id="74" name="Text 72"/>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−452</a:t>
            </a:r>
            <a:endParaRPr lang="en-US" sz="1300" dirty="0"/>
          </a:p>
        </p:txBody>
      </p:sp>
      <p:sp>
        <p:nvSpPr>
          <p:cNvPr id="75" name="Text 73"/>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395551" y="4738717"/>
            <a:ext cx="39445" cy="136676"/>
          </a:xfrm>
          <a:prstGeom prst="rect">
            <a:avLst/>
          </a:prstGeom>
          <a:solidFill>
            <a:srgbClr val="C2352F"/>
          </a:solidFill>
          <a:ln/>
        </p:spPr>
      </p:sp>
      <p:sp>
        <p:nvSpPr>
          <p:cNvPr id="78" name="Text 76"/>
          <p:cNvSpPr txBox="1"/>
          <p:nvPr/>
        </p:nvSpPr>
        <p:spPr>
          <a:xfrm>
            <a:off x="39502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79" name="Text 7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−569</a:t>
            </a:r>
            <a:endParaRPr lang="en-US" sz="1300" dirty="0"/>
          </a:p>
        </p:txBody>
      </p:sp>
      <p:sp>
        <p:nvSpPr>
          <p:cNvPr id="80" name="Text 7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2" name="Shape 80"/>
          <p:cNvSpPr/>
          <p:nvPr/>
        </p:nvSpPr>
        <p:spPr>
          <a:xfrm>
            <a:off x="3391623" y="4987218"/>
            <a:ext cx="43373" cy="136676"/>
          </a:xfrm>
          <a:prstGeom prst="rect">
            <a:avLst/>
          </a:prstGeom>
          <a:solidFill>
            <a:srgbClr val="C2352F"/>
          </a:solidFill>
          <a:ln/>
        </p:spPr>
      </p:sp>
      <p:sp>
        <p:nvSpPr>
          <p:cNvPr id="83" name="Text 81"/>
          <p:cNvSpPr txBox="1"/>
          <p:nvPr/>
        </p:nvSpPr>
        <p:spPr>
          <a:xfrm>
            <a:off x="39502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84" name="Text 82"/>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−660</a:t>
            </a:r>
            <a:endParaRPr lang="en-US" sz="1300" dirty="0"/>
          </a:p>
        </p:txBody>
      </p:sp>
      <p:sp>
        <p:nvSpPr>
          <p:cNvPr id="85" name="Text 83"/>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7" name="Shape 85"/>
          <p:cNvSpPr/>
          <p:nvPr/>
        </p:nvSpPr>
        <p:spPr>
          <a:xfrm>
            <a:off x="3386113" y="5235720"/>
            <a:ext cx="48884" cy="136676"/>
          </a:xfrm>
          <a:prstGeom prst="rect">
            <a:avLst/>
          </a:prstGeom>
          <a:solidFill>
            <a:srgbClr val="C2352F"/>
          </a:solidFill>
          <a:ln/>
        </p:spPr>
      </p:sp>
      <p:sp>
        <p:nvSpPr>
          <p:cNvPr id="88" name="Text 86"/>
          <p:cNvSpPr txBox="1"/>
          <p:nvPr/>
        </p:nvSpPr>
        <p:spPr>
          <a:xfrm>
            <a:off x="39502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−$59K</a:t>
            </a:r>
            <a:endParaRPr lang="en-US" sz="1300" dirty="0"/>
          </a:p>
        </p:txBody>
      </p:sp>
      <p:sp>
        <p:nvSpPr>
          <p:cNvPr id="89" name="Text 87"/>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−783</a:t>
            </a:r>
            <a:endParaRPr lang="en-US" sz="1300" dirty="0"/>
          </a:p>
        </p:txBody>
      </p:sp>
      <p:sp>
        <p:nvSpPr>
          <p:cNvPr id="90" name="Text 88"/>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92" name="Shape 90"/>
          <p:cNvSpPr/>
          <p:nvPr/>
        </p:nvSpPr>
        <p:spPr>
          <a:xfrm>
            <a:off x="3385317" y="5484222"/>
            <a:ext cx="49679" cy="136676"/>
          </a:xfrm>
          <a:prstGeom prst="rect">
            <a:avLst/>
          </a:prstGeom>
          <a:solidFill>
            <a:srgbClr val="C2352F"/>
          </a:solidFill>
          <a:ln/>
        </p:spPr>
      </p:sp>
      <p:sp>
        <p:nvSpPr>
          <p:cNvPr id="93" name="Text 91"/>
          <p:cNvSpPr txBox="1"/>
          <p:nvPr/>
        </p:nvSpPr>
        <p:spPr>
          <a:xfrm>
            <a:off x="39502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94" name="Text 92"/>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−568</a:t>
            </a:r>
            <a:endParaRPr lang="en-US" sz="1300" dirty="0"/>
          </a:p>
        </p:txBody>
      </p:sp>
      <p:sp>
        <p:nvSpPr>
          <p:cNvPr id="95" name="Text 93"/>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7" name="Shape 95"/>
          <p:cNvSpPr/>
          <p:nvPr/>
        </p:nvSpPr>
        <p:spPr>
          <a:xfrm>
            <a:off x="3384944" y="5732723"/>
            <a:ext cx="50052" cy="136676"/>
          </a:xfrm>
          <a:prstGeom prst="rect">
            <a:avLst/>
          </a:prstGeom>
          <a:solidFill>
            <a:srgbClr val="C2352F"/>
          </a:solidFill>
          <a:ln/>
        </p:spPr>
      </p:sp>
      <p:sp>
        <p:nvSpPr>
          <p:cNvPr id="98" name="Text 96"/>
          <p:cNvSpPr txBox="1"/>
          <p:nvPr/>
        </p:nvSpPr>
        <p:spPr>
          <a:xfrm>
            <a:off x="39502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−$61K</a:t>
            </a:r>
            <a:endParaRPr lang="en-US" sz="1300" dirty="0"/>
          </a:p>
        </p:txBody>
      </p:sp>
      <p:sp>
        <p:nvSpPr>
          <p:cNvPr id="99" name="Text 97"/>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−697</a:t>
            </a:r>
            <a:endParaRPr lang="en-US" sz="1300" dirty="0"/>
          </a:p>
        </p:txBody>
      </p:sp>
      <p:sp>
        <p:nvSpPr>
          <p:cNvPr id="100" name="Text 98"/>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02" name="Shape 100"/>
          <p:cNvSpPr/>
          <p:nvPr/>
        </p:nvSpPr>
        <p:spPr>
          <a:xfrm>
            <a:off x="8931186" y="1756697"/>
            <a:ext cx="54219" cy="136676"/>
          </a:xfrm>
          <a:prstGeom prst="rect">
            <a:avLst/>
          </a:prstGeom>
          <a:solidFill>
            <a:srgbClr val="C2352F"/>
          </a:solidFill>
          <a:ln/>
        </p:spPr>
      </p:sp>
      <p:sp>
        <p:nvSpPr>
          <p:cNvPr id="103" name="Text 101"/>
          <p:cNvSpPr txBox="1"/>
          <p:nvPr/>
        </p:nvSpPr>
        <p:spPr>
          <a:xfrm>
            <a:off x="95006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−$66K</a:t>
            </a:r>
            <a:endParaRPr lang="en-US" sz="1300" dirty="0"/>
          </a:p>
        </p:txBody>
      </p:sp>
      <p:sp>
        <p:nvSpPr>
          <p:cNvPr id="104" name="Text 102"/>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−640</a:t>
            </a:r>
            <a:endParaRPr lang="en-US" sz="1300" dirty="0"/>
          </a:p>
        </p:txBody>
      </p:sp>
      <p:sp>
        <p:nvSpPr>
          <p:cNvPr id="105" name="Text 103"/>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7" name="Shape 105"/>
          <p:cNvSpPr/>
          <p:nvPr/>
        </p:nvSpPr>
        <p:spPr>
          <a:xfrm>
            <a:off x="8907378" y="2005199"/>
            <a:ext cx="78026" cy="136676"/>
          </a:xfrm>
          <a:prstGeom prst="rect">
            <a:avLst/>
          </a:prstGeom>
          <a:solidFill>
            <a:srgbClr val="C2352F"/>
          </a:solidFill>
          <a:ln/>
        </p:spPr>
      </p:sp>
      <p:sp>
        <p:nvSpPr>
          <p:cNvPr id="108" name="Text 106"/>
          <p:cNvSpPr txBox="1"/>
          <p:nvPr/>
        </p:nvSpPr>
        <p:spPr>
          <a:xfrm>
            <a:off x="95006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−$94K</a:t>
            </a:r>
            <a:endParaRPr lang="en-US" sz="1300" dirty="0"/>
          </a:p>
        </p:txBody>
      </p:sp>
      <p:sp>
        <p:nvSpPr>
          <p:cNvPr id="109" name="Text 107"/>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−954</a:t>
            </a:r>
            <a:endParaRPr lang="en-US" sz="1300" dirty="0"/>
          </a:p>
        </p:txBody>
      </p:sp>
      <p:sp>
        <p:nvSpPr>
          <p:cNvPr id="110" name="Text 108"/>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2" name="Shape 110"/>
          <p:cNvSpPr/>
          <p:nvPr/>
        </p:nvSpPr>
        <p:spPr>
          <a:xfrm>
            <a:off x="8903182" y="2253700"/>
            <a:ext cx="82223" cy="136676"/>
          </a:xfrm>
          <a:prstGeom prst="rect">
            <a:avLst/>
          </a:prstGeom>
          <a:solidFill>
            <a:srgbClr val="C2352F"/>
          </a:solidFill>
          <a:ln/>
        </p:spPr>
      </p:sp>
      <p:sp>
        <p:nvSpPr>
          <p:cNvPr id="113" name="Text 111"/>
          <p:cNvSpPr txBox="1"/>
          <p:nvPr/>
        </p:nvSpPr>
        <p:spPr>
          <a:xfrm>
            <a:off x="95006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114" name="Text 112"/>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−1,100</a:t>
            </a:r>
            <a:endParaRPr lang="en-US" sz="1300" dirty="0"/>
          </a:p>
        </p:txBody>
      </p:sp>
      <p:sp>
        <p:nvSpPr>
          <p:cNvPr id="115" name="Text 113"/>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7" name="Shape 115"/>
          <p:cNvSpPr/>
          <p:nvPr/>
        </p:nvSpPr>
        <p:spPr>
          <a:xfrm>
            <a:off x="8898772" y="2502202"/>
            <a:ext cx="86632" cy="136676"/>
          </a:xfrm>
          <a:prstGeom prst="rect">
            <a:avLst/>
          </a:prstGeom>
          <a:solidFill>
            <a:srgbClr val="C2352F"/>
          </a:solidFill>
          <a:ln/>
        </p:spPr>
      </p:sp>
      <p:sp>
        <p:nvSpPr>
          <p:cNvPr id="118" name="Text 116"/>
          <p:cNvSpPr txBox="1"/>
          <p:nvPr/>
        </p:nvSpPr>
        <p:spPr>
          <a:xfrm>
            <a:off x="95006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19" name="Text 117"/>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−827</a:t>
            </a:r>
            <a:endParaRPr lang="en-US" sz="1300" dirty="0"/>
          </a:p>
        </p:txBody>
      </p:sp>
      <p:sp>
        <p:nvSpPr>
          <p:cNvPr id="120" name="Text 118"/>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2" name="Shape 120"/>
          <p:cNvSpPr/>
          <p:nvPr/>
        </p:nvSpPr>
        <p:spPr>
          <a:xfrm>
            <a:off x="8898356" y="2750703"/>
            <a:ext cx="87048" cy="136676"/>
          </a:xfrm>
          <a:prstGeom prst="rect">
            <a:avLst/>
          </a:prstGeom>
          <a:solidFill>
            <a:srgbClr val="C2352F"/>
          </a:solidFill>
          <a:ln/>
        </p:spPr>
      </p:sp>
      <p:sp>
        <p:nvSpPr>
          <p:cNvPr id="123" name="Text 121"/>
          <p:cNvSpPr txBox="1"/>
          <p:nvPr/>
        </p:nvSpPr>
        <p:spPr>
          <a:xfrm>
            <a:off x="95006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−$105K</a:t>
            </a:r>
            <a:endParaRPr lang="en-US" sz="1300" dirty="0"/>
          </a:p>
        </p:txBody>
      </p:sp>
      <p:sp>
        <p:nvSpPr>
          <p:cNvPr id="124" name="Text 122"/>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−1,068</a:t>
            </a:r>
            <a:endParaRPr lang="en-US" sz="1300" dirty="0"/>
          </a:p>
        </p:txBody>
      </p:sp>
      <p:sp>
        <p:nvSpPr>
          <p:cNvPr id="125" name="Text 123"/>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7" name="Shape 125"/>
          <p:cNvSpPr/>
          <p:nvPr/>
        </p:nvSpPr>
        <p:spPr>
          <a:xfrm>
            <a:off x="8869908" y="2999205"/>
            <a:ext cx="115496" cy="136676"/>
          </a:xfrm>
          <a:prstGeom prst="rect">
            <a:avLst/>
          </a:prstGeom>
          <a:solidFill>
            <a:srgbClr val="C2352F"/>
          </a:solidFill>
          <a:ln/>
        </p:spPr>
      </p:sp>
      <p:sp>
        <p:nvSpPr>
          <p:cNvPr id="128" name="Text 126"/>
          <p:cNvSpPr txBox="1"/>
          <p:nvPr/>
        </p:nvSpPr>
        <p:spPr>
          <a:xfrm>
            <a:off x="95006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129" name="Text 12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−1,717</a:t>
            </a:r>
            <a:endParaRPr lang="en-US" sz="1300" dirty="0"/>
          </a:p>
        </p:txBody>
      </p:sp>
      <p:sp>
        <p:nvSpPr>
          <p:cNvPr id="130" name="Text 12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2" name="Shape 130"/>
          <p:cNvSpPr/>
          <p:nvPr/>
        </p:nvSpPr>
        <p:spPr>
          <a:xfrm>
            <a:off x="8861676" y="3247707"/>
            <a:ext cx="123728" cy="136676"/>
          </a:xfrm>
          <a:prstGeom prst="rect">
            <a:avLst/>
          </a:prstGeom>
          <a:solidFill>
            <a:srgbClr val="C2352F"/>
          </a:solidFill>
          <a:ln/>
        </p:spPr>
      </p:sp>
      <p:sp>
        <p:nvSpPr>
          <p:cNvPr id="133" name="Text 131"/>
          <p:cNvSpPr txBox="1"/>
          <p:nvPr/>
        </p:nvSpPr>
        <p:spPr>
          <a:xfrm>
            <a:off x="95006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4" name="Text 132"/>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−1,613</a:t>
            </a:r>
            <a:endParaRPr lang="en-US" sz="1300" dirty="0"/>
          </a:p>
        </p:txBody>
      </p:sp>
      <p:sp>
        <p:nvSpPr>
          <p:cNvPr id="135" name="Text 133"/>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37" name="Shape 135"/>
          <p:cNvSpPr/>
          <p:nvPr/>
        </p:nvSpPr>
        <p:spPr>
          <a:xfrm>
            <a:off x="8861519" y="3496208"/>
            <a:ext cx="123885" cy="136676"/>
          </a:xfrm>
          <a:prstGeom prst="rect">
            <a:avLst/>
          </a:prstGeom>
          <a:solidFill>
            <a:srgbClr val="C2352F"/>
          </a:solidFill>
          <a:ln/>
        </p:spPr>
      </p:sp>
      <p:sp>
        <p:nvSpPr>
          <p:cNvPr id="138" name="Text 136"/>
          <p:cNvSpPr txBox="1"/>
          <p:nvPr/>
        </p:nvSpPr>
        <p:spPr>
          <a:xfrm>
            <a:off x="95006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−$150K</a:t>
            </a:r>
            <a:endParaRPr lang="en-US" sz="1300" dirty="0"/>
          </a:p>
        </p:txBody>
      </p:sp>
      <p:sp>
        <p:nvSpPr>
          <p:cNvPr id="139" name="Text 137"/>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−1,257</a:t>
            </a:r>
            <a:endParaRPr lang="en-US" sz="1300" dirty="0"/>
          </a:p>
        </p:txBody>
      </p:sp>
      <p:sp>
        <p:nvSpPr>
          <p:cNvPr id="140" name="Text 138"/>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42" name="Shape 140"/>
          <p:cNvSpPr/>
          <p:nvPr/>
        </p:nvSpPr>
        <p:spPr>
          <a:xfrm>
            <a:off x="8851844" y="3744710"/>
            <a:ext cx="133560" cy="136676"/>
          </a:xfrm>
          <a:prstGeom prst="rect">
            <a:avLst/>
          </a:prstGeom>
          <a:solidFill>
            <a:srgbClr val="C2352F"/>
          </a:solidFill>
          <a:ln/>
        </p:spPr>
      </p:sp>
      <p:sp>
        <p:nvSpPr>
          <p:cNvPr id="143" name="Text 141"/>
          <p:cNvSpPr txBox="1"/>
          <p:nvPr/>
        </p:nvSpPr>
        <p:spPr>
          <a:xfrm>
            <a:off x="95006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−$162K</a:t>
            </a:r>
            <a:endParaRPr lang="en-US" sz="1300" dirty="0"/>
          </a:p>
        </p:txBody>
      </p:sp>
      <p:sp>
        <p:nvSpPr>
          <p:cNvPr id="144" name="Text 142"/>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−1,152</a:t>
            </a:r>
            <a:endParaRPr lang="en-US" sz="1300" dirty="0"/>
          </a:p>
        </p:txBody>
      </p:sp>
      <p:sp>
        <p:nvSpPr>
          <p:cNvPr id="145" name="Text 143"/>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7" name="Shape 145"/>
          <p:cNvSpPr/>
          <p:nvPr/>
        </p:nvSpPr>
        <p:spPr>
          <a:xfrm>
            <a:off x="8841233" y="3993212"/>
            <a:ext cx="144171" cy="136676"/>
          </a:xfrm>
          <a:prstGeom prst="rect">
            <a:avLst/>
          </a:prstGeom>
          <a:solidFill>
            <a:srgbClr val="C2352F"/>
          </a:solidFill>
          <a:ln/>
        </p:spPr>
      </p:sp>
      <p:sp>
        <p:nvSpPr>
          <p:cNvPr id="148" name="Text 146"/>
          <p:cNvSpPr txBox="1"/>
          <p:nvPr/>
        </p:nvSpPr>
        <p:spPr>
          <a:xfrm>
            <a:off x="95006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−$175K</a:t>
            </a:r>
            <a:endParaRPr lang="en-US" sz="1300" dirty="0"/>
          </a:p>
        </p:txBody>
      </p:sp>
      <p:sp>
        <p:nvSpPr>
          <p:cNvPr id="149" name="Text 147"/>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−1,906</a:t>
            </a:r>
            <a:endParaRPr lang="en-US" sz="1300" dirty="0"/>
          </a:p>
        </p:txBody>
      </p:sp>
      <p:sp>
        <p:nvSpPr>
          <p:cNvPr id="150" name="Text 148"/>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833790" y="4241713"/>
            <a:ext cx="151614" cy="136676"/>
          </a:xfrm>
          <a:prstGeom prst="rect">
            <a:avLst/>
          </a:prstGeom>
          <a:solidFill>
            <a:srgbClr val="C2352F"/>
          </a:solidFill>
          <a:ln/>
        </p:spPr>
      </p:sp>
      <p:sp>
        <p:nvSpPr>
          <p:cNvPr id="153" name="Text 151"/>
          <p:cNvSpPr txBox="1"/>
          <p:nvPr/>
        </p:nvSpPr>
        <p:spPr>
          <a:xfrm>
            <a:off x="95006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−$184K</a:t>
            </a:r>
            <a:endParaRPr lang="en-US" sz="1300" dirty="0"/>
          </a:p>
        </p:txBody>
      </p:sp>
      <p:sp>
        <p:nvSpPr>
          <p:cNvPr id="154" name="Text 152"/>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−1,863</a:t>
            </a:r>
            <a:endParaRPr lang="en-US" sz="1300" dirty="0"/>
          </a:p>
        </p:txBody>
      </p:sp>
      <p:sp>
        <p:nvSpPr>
          <p:cNvPr id="155" name="Text 153"/>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7" name="Shape 155"/>
          <p:cNvSpPr/>
          <p:nvPr/>
        </p:nvSpPr>
        <p:spPr>
          <a:xfrm>
            <a:off x="8832658" y="4490215"/>
            <a:ext cx="152747" cy="136676"/>
          </a:xfrm>
          <a:prstGeom prst="rect">
            <a:avLst/>
          </a:prstGeom>
          <a:solidFill>
            <a:srgbClr val="C2352F"/>
          </a:solidFill>
          <a:ln/>
        </p:spPr>
      </p:sp>
      <p:sp>
        <p:nvSpPr>
          <p:cNvPr id="158" name="Text 156"/>
          <p:cNvSpPr txBox="1"/>
          <p:nvPr/>
        </p:nvSpPr>
        <p:spPr>
          <a:xfrm>
            <a:off x="95006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−$185K</a:t>
            </a:r>
            <a:endParaRPr lang="en-US" sz="1300" dirty="0"/>
          </a:p>
        </p:txBody>
      </p:sp>
      <p:sp>
        <p:nvSpPr>
          <p:cNvPr id="159" name="Text 157"/>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−1,708</a:t>
            </a:r>
            <a:endParaRPr lang="en-US" sz="1300" dirty="0"/>
          </a:p>
        </p:txBody>
      </p:sp>
      <p:sp>
        <p:nvSpPr>
          <p:cNvPr id="160" name="Text 158"/>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2" name="Shape 160"/>
          <p:cNvSpPr/>
          <p:nvPr/>
        </p:nvSpPr>
        <p:spPr>
          <a:xfrm>
            <a:off x="8798077" y="4738717"/>
            <a:ext cx="187327" cy="136676"/>
          </a:xfrm>
          <a:prstGeom prst="rect">
            <a:avLst/>
          </a:prstGeom>
          <a:solidFill>
            <a:srgbClr val="C2352F"/>
          </a:solidFill>
          <a:ln/>
        </p:spPr>
      </p:sp>
      <p:sp>
        <p:nvSpPr>
          <p:cNvPr id="163" name="Text 161"/>
          <p:cNvSpPr txBox="1"/>
          <p:nvPr/>
        </p:nvSpPr>
        <p:spPr>
          <a:xfrm>
            <a:off x="95006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−$227K</a:t>
            </a:r>
            <a:endParaRPr lang="en-US" sz="1300" dirty="0"/>
          </a:p>
        </p:txBody>
      </p:sp>
      <p:sp>
        <p:nvSpPr>
          <p:cNvPr id="164" name="Text 162"/>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−3,005</a:t>
            </a:r>
            <a:endParaRPr lang="en-US" sz="1300" dirty="0"/>
          </a:p>
        </p:txBody>
      </p:sp>
      <p:sp>
        <p:nvSpPr>
          <p:cNvPr id="165" name="Text 163"/>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7" name="Shape 165"/>
          <p:cNvSpPr/>
          <p:nvPr/>
        </p:nvSpPr>
        <p:spPr>
          <a:xfrm>
            <a:off x="8765072" y="4987218"/>
            <a:ext cx="220332" cy="136676"/>
          </a:xfrm>
          <a:prstGeom prst="rect">
            <a:avLst/>
          </a:prstGeom>
          <a:solidFill>
            <a:srgbClr val="C2352F"/>
          </a:solidFill>
          <a:ln/>
        </p:spPr>
      </p:sp>
      <p:sp>
        <p:nvSpPr>
          <p:cNvPr id="168" name="Text 166"/>
          <p:cNvSpPr txBox="1"/>
          <p:nvPr/>
        </p:nvSpPr>
        <p:spPr>
          <a:xfrm>
            <a:off x="95006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−$267K</a:t>
            </a:r>
            <a:endParaRPr lang="en-US" sz="1300" dirty="0"/>
          </a:p>
        </p:txBody>
      </p:sp>
      <p:sp>
        <p:nvSpPr>
          <p:cNvPr id="169" name="Text 167"/>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−3,494</a:t>
            </a:r>
            <a:endParaRPr lang="en-US" sz="1300" dirty="0"/>
          </a:p>
        </p:txBody>
      </p:sp>
      <p:sp>
        <p:nvSpPr>
          <p:cNvPr id="170" name="Shape 168"/>
          <p:cNvSpPr/>
          <p:nvPr/>
        </p:nvSpPr>
        <p:spPr>
          <a:xfrm>
            <a:off x="11521440" y="4977025"/>
            <a:ext cx="54864" cy="157062"/>
          </a:xfrm>
          <a:prstGeom prst="rect">
            <a:avLst/>
          </a:prstGeom>
          <a:solidFill>
            <a:srgbClr val="C2352F"/>
          </a:solidFill>
          <a:ln/>
        </p:spPr>
      </p:sp>
      <p:sp>
        <p:nvSpPr>
          <p:cNvPr id="171" name="Text 169"/>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2" name="Text 170"/>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3" name="Shape 171"/>
          <p:cNvSpPr/>
          <p:nvPr/>
        </p:nvSpPr>
        <p:spPr>
          <a:xfrm>
            <a:off x="8691210" y="5235720"/>
            <a:ext cx="294194" cy="136676"/>
          </a:xfrm>
          <a:prstGeom prst="rect">
            <a:avLst/>
          </a:prstGeom>
          <a:solidFill>
            <a:srgbClr val="C2352F"/>
          </a:solidFill>
          <a:ln/>
        </p:spPr>
      </p:sp>
      <p:sp>
        <p:nvSpPr>
          <p:cNvPr id="174" name="Text 172"/>
          <p:cNvSpPr txBox="1"/>
          <p:nvPr/>
        </p:nvSpPr>
        <p:spPr>
          <a:xfrm>
            <a:off x="95006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175" name="Text 173"/>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−3,177</a:t>
            </a:r>
            <a:endParaRPr lang="en-US" sz="1300" dirty="0"/>
          </a:p>
        </p:txBody>
      </p:sp>
      <p:sp>
        <p:nvSpPr>
          <p:cNvPr id="176" name="Shape 174"/>
          <p:cNvSpPr/>
          <p:nvPr/>
        </p:nvSpPr>
        <p:spPr>
          <a:xfrm>
            <a:off x="11521440" y="5225527"/>
            <a:ext cx="54864" cy="157062"/>
          </a:xfrm>
          <a:prstGeom prst="rect">
            <a:avLst/>
          </a:prstGeom>
          <a:solidFill>
            <a:srgbClr val="C2352F"/>
          </a:solidFill>
          <a:ln/>
        </p:spPr>
      </p:sp>
      <p:sp>
        <p:nvSpPr>
          <p:cNvPr id="177" name="Text 175"/>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8" name="Text 176"/>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9" name="Shape 177"/>
          <p:cNvSpPr/>
          <p:nvPr/>
        </p:nvSpPr>
        <p:spPr>
          <a:xfrm>
            <a:off x="8650224" y="5484222"/>
            <a:ext cx="335180" cy="136676"/>
          </a:xfrm>
          <a:prstGeom prst="rect">
            <a:avLst/>
          </a:prstGeom>
          <a:solidFill>
            <a:srgbClr val="C2352F"/>
          </a:solidFill>
          <a:ln/>
        </p:spPr>
      </p:sp>
      <p:sp>
        <p:nvSpPr>
          <p:cNvPr id="180" name="Text 178"/>
          <p:cNvSpPr txBox="1"/>
          <p:nvPr/>
        </p:nvSpPr>
        <p:spPr>
          <a:xfrm>
            <a:off x="95006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−$406K</a:t>
            </a:r>
            <a:endParaRPr lang="en-US" sz="1300" dirty="0"/>
          </a:p>
        </p:txBody>
      </p:sp>
      <p:sp>
        <p:nvSpPr>
          <p:cNvPr id="181" name="Text 179"/>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−5,191</a:t>
            </a:r>
            <a:endParaRPr lang="en-US" sz="1300" dirty="0"/>
          </a:p>
        </p:txBody>
      </p:sp>
      <p:sp>
        <p:nvSpPr>
          <p:cNvPr id="182" name="Shape 180"/>
          <p:cNvSpPr/>
          <p:nvPr/>
        </p:nvSpPr>
        <p:spPr>
          <a:xfrm>
            <a:off x="11521440" y="5474029"/>
            <a:ext cx="54864" cy="157062"/>
          </a:xfrm>
          <a:prstGeom prst="rect">
            <a:avLst/>
          </a:prstGeom>
          <a:solidFill>
            <a:srgbClr val="C2352F"/>
          </a:solidFill>
          <a:ln/>
        </p:spPr>
      </p:sp>
      <p:sp>
        <p:nvSpPr>
          <p:cNvPr id="183" name="Shape 181"/>
          <p:cNvSpPr/>
          <p:nvPr/>
        </p:nvSpPr>
        <p:spPr>
          <a:xfrm>
            <a:off x="6085332" y="1700784"/>
            <a:ext cx="10973" cy="4224528"/>
          </a:xfrm>
          <a:prstGeom prst="rect">
            <a:avLst/>
          </a:prstGeom>
          <a:solidFill>
            <a:srgbClr val="D9D9D9"/>
          </a:solidFill>
          <a:ln/>
        </p:spPr>
      </p:sp>
      <p:sp>
        <p:nvSpPr>
          <p:cNvPr id="185" name="Shape 182"/>
          <p:cNvSpPr/>
          <p:nvPr/>
        </p:nvSpPr>
        <p:spPr>
          <a:xfrm>
            <a:off x="457200" y="6126480"/>
            <a:ext cx="11274552" cy="371856"/>
          </a:xfrm>
          <a:prstGeom prst="rect">
            <a:avLst/>
          </a:prstGeom>
          <a:solidFill>
            <a:srgbClr val="FBEBEA"/>
          </a:solidFill>
          <a:ln/>
        </p:spPr>
      </p:sp>
      <p:sp>
        <p:nvSpPr>
          <p:cNvPr id="186" name="Text 18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7 of 33 stores are ahead of benchmark across the four services. 15 stores are under all four.</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isn't service making money off sales: it is gross the store earns on its own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4" name="Shape 181"/>
          <p:cNvSpPr/>
          <p:nvPr/>
        </p:nvSpPr>
        <p:spPr>
          <a:xfrm>
            <a:off x="457200" y="6126480"/>
            <a:ext cx="11274552" cy="371856"/>
          </a:xfrm>
          <a:prstGeom prst="rect">
            <a:avLst/>
          </a:prstGeom>
          <a:solidFill>
            <a:srgbClr val="E6F6EE"/>
          </a:solidFill>
          <a:ln/>
        </p:spPr>
      </p:sp>
      <p:sp>
        <p:nvSpPr>
          <p:cNvPr id="185" name="Text 18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13 declined.</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Shape 27"/>
          <p:cNvSpPr/>
          <p:nvPr/>
        </p:nvSpPr>
        <p:spPr>
          <a:xfrm>
            <a:off x="4084320" y="5453482"/>
            <a:ext cx="64008" cy="755294"/>
          </a:xfrm>
          <a:prstGeom prst="rect">
            <a:avLst/>
          </a:prstGeom>
          <a:solidFill>
            <a:srgbClr val="12A566"/>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Shape 49"/>
          <p:cNvSpPr/>
          <p:nvPr/>
        </p:nvSpPr>
        <p:spPr>
          <a:xfrm>
            <a:off x="7775448" y="4625035"/>
            <a:ext cx="64008" cy="755294"/>
          </a:xfrm>
          <a:prstGeom prst="rect">
            <a:avLst/>
          </a:prstGeom>
          <a:solidFill>
            <a:srgbClr val="2587C5"/>
          </a:solidFill>
          <a:ln/>
        </p:spPr>
      </p:sp>
      <p:sp>
        <p:nvSpPr>
          <p:cNvPr id="52" name="Text 5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3" name="Text 5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sp>
        <p:nvSpPr>
          <p:cNvPr id="54" name="Text 52"/>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55" name="Text 53"/>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56" name="Shape 54"/>
          <p:cNvSpPr/>
          <p:nvPr/>
        </p:nvSpPr>
        <p:spPr>
          <a:xfrm>
            <a:off x="4349496" y="5416906"/>
            <a:ext cx="3489960" cy="828446"/>
          </a:xfrm>
          <a:prstGeom prst="rect">
            <a:avLst/>
          </a:prstGeom>
          <a:solidFill>
            <a:srgbClr val="F7F7F7"/>
          </a:solidFill>
          <a:ln/>
        </p:spPr>
      </p:sp>
      <p:sp>
        <p:nvSpPr>
          <p:cNvPr id="57" name="Text 5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8" name="Text 5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59" name="Text 57"/>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60" name="Text 58"/>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61" name="Shape 59"/>
          <p:cNvSpPr/>
          <p:nvPr/>
        </p:nvSpPr>
        <p:spPr>
          <a:xfrm>
            <a:off x="8040624" y="1371600"/>
            <a:ext cx="3489960" cy="45720"/>
          </a:xfrm>
          <a:prstGeom prst="rect">
            <a:avLst/>
          </a:prstGeom>
          <a:solidFill>
            <a:srgbClr val="2587C5"/>
          </a:solidFill>
          <a:ln/>
        </p:spPr>
      </p:sp>
      <p:sp>
        <p:nvSpPr>
          <p:cNvPr id="62" name="Text 6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3" name="Text 6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4" name="Shape 62"/>
          <p:cNvSpPr/>
          <p:nvPr/>
        </p:nvSpPr>
        <p:spPr>
          <a:xfrm>
            <a:off x="8040624" y="2103120"/>
            <a:ext cx="3489960" cy="828446"/>
          </a:xfrm>
          <a:prstGeom prst="rect">
            <a:avLst/>
          </a:prstGeom>
          <a:solidFill>
            <a:srgbClr val="F7F7F7"/>
          </a:solidFill>
          <a:ln/>
        </p:spPr>
      </p:sp>
      <p:sp>
        <p:nvSpPr>
          <p:cNvPr id="65" name="Shape 63"/>
          <p:cNvSpPr/>
          <p:nvPr/>
        </p:nvSpPr>
        <p:spPr>
          <a:xfrm>
            <a:off x="11466576" y="2139696"/>
            <a:ext cx="64008" cy="755294"/>
          </a:xfrm>
          <a:prstGeom prst="rect">
            <a:avLst/>
          </a:prstGeom>
          <a:solidFill>
            <a:srgbClr val="2587C5"/>
          </a:solidFill>
          <a:ln/>
        </p:spPr>
      </p:sp>
      <p:sp>
        <p:nvSpPr>
          <p:cNvPr id="66" name="Text 6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7" name="Text 6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sp>
        <p:nvSpPr>
          <p:cNvPr id="68" name="Text 66"/>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69" name="Text 67"/>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70" name="Shape 68"/>
          <p:cNvSpPr/>
          <p:nvPr/>
        </p:nvSpPr>
        <p:spPr>
          <a:xfrm>
            <a:off x="11466576" y="2968142"/>
            <a:ext cx="64008" cy="755294"/>
          </a:xfrm>
          <a:prstGeom prst="rect">
            <a:avLst/>
          </a:prstGeom>
          <a:solidFill>
            <a:srgbClr val="12A566"/>
          </a:solidFill>
          <a:ln/>
        </p:spPr>
      </p:sp>
      <p:sp>
        <p:nvSpPr>
          <p:cNvPr id="71" name="Text 69"/>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2" name="Text 70"/>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sp>
        <p:nvSpPr>
          <p:cNvPr id="73" name="Text 71"/>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74" name="Text 72"/>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75" name="Shape 73"/>
          <p:cNvSpPr/>
          <p:nvPr/>
        </p:nvSpPr>
        <p:spPr>
          <a:xfrm>
            <a:off x="8040624" y="3760013"/>
            <a:ext cx="3489960" cy="828446"/>
          </a:xfrm>
          <a:prstGeom prst="rect">
            <a:avLst/>
          </a:prstGeom>
          <a:solidFill>
            <a:srgbClr val="F7F7F7"/>
          </a:solidFill>
          <a:ln/>
        </p:spPr>
      </p:sp>
      <p:sp>
        <p:nvSpPr>
          <p:cNvPr id="76" name="Shape 74"/>
          <p:cNvSpPr/>
          <p:nvPr/>
        </p:nvSpPr>
        <p:spPr>
          <a:xfrm>
            <a:off x="11466576" y="3796589"/>
            <a:ext cx="64008" cy="755294"/>
          </a:xfrm>
          <a:prstGeom prst="rect">
            <a:avLst/>
          </a:prstGeom>
          <a:solidFill>
            <a:srgbClr val="12A566"/>
          </a:solidFill>
          <a:ln/>
        </p:spPr>
      </p:sp>
      <p:sp>
        <p:nvSpPr>
          <p:cNvPr id="77" name="Text 75"/>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8" name="Text 76"/>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79" name="Text 77"/>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80" name="Text 78"/>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81" name="Text 79"/>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2" name="Text 80"/>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sp>
        <p:nvSpPr>
          <p:cNvPr id="83" name="Text 81"/>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84" name="Text 82"/>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5" name="Shape 83"/>
          <p:cNvSpPr/>
          <p:nvPr/>
        </p:nvSpPr>
        <p:spPr>
          <a:xfrm>
            <a:off x="8040624" y="5416906"/>
            <a:ext cx="3489960" cy="828446"/>
          </a:xfrm>
          <a:prstGeom prst="rect">
            <a:avLst/>
          </a:prstGeom>
          <a:solidFill>
            <a:srgbClr val="F7F7F7"/>
          </a:solidFill>
          <a:ln/>
        </p:spPr>
      </p:sp>
      <p:sp>
        <p:nvSpPr>
          <p:cNvPr id="86" name="Text 8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7" name="Text 8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88" name="Text 86"/>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89" name="Text 87"/>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25 of 33 stores collect less labor margin on internal work than on customer pay; the group is −2.7 pts.</a:t>
            </a:r>
            <a:endParaRPr lang="en-US" sz="15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14 declined.</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Shape 18"/>
          <p:cNvSpPr/>
          <p:nvPr/>
        </p:nvSpPr>
        <p:spPr>
          <a:xfrm>
            <a:off x="4084320" y="4625035"/>
            <a:ext cx="64008" cy="755294"/>
          </a:xfrm>
          <a:prstGeom prst="rect">
            <a:avLst/>
          </a:prstGeom>
          <a:solidFill>
            <a:srgbClr val="12A566"/>
          </a:solidFill>
          <a:ln/>
        </p:spPr>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Shape 58"/>
          <p:cNvSpPr/>
          <p:nvPr/>
        </p:nvSpPr>
        <p:spPr>
          <a:xfrm>
            <a:off x="11466576" y="3796589"/>
            <a:ext cx="64008" cy="755294"/>
          </a:xfrm>
          <a:prstGeom prst="rect">
            <a:avLst/>
          </a:prstGeom>
          <a:solidFill>
            <a:srgbClr val="12A566"/>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C2352F"/>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C2352F"/>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C2352F"/>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3" name="Shape 200"/>
          <p:cNvSpPr/>
          <p:nvPr/>
        </p:nvSpPr>
        <p:spPr>
          <a:xfrm>
            <a:off x="457200" y="6126480"/>
            <a:ext cx="11274552" cy="356616"/>
          </a:xfrm>
          <a:prstGeom prst="rect">
            <a:avLst/>
          </a:prstGeom>
          <a:solidFill>
            <a:srgbClr val="EDF4FA"/>
          </a:solidFill>
          <a:ln/>
        </p:spPr>
      </p:sp>
      <p:sp>
        <p:nvSpPr>
          <p:cNvPr id="204" name="Text 201"/>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28 of 33 stores collect less parts margin on internal work than on customer pay; the group is −4.2 pts.</a:t>
            </a:r>
            <a:endParaRPr lang="en-US" sz="15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12 declined.</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6" name="Text 54"/>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8" name="Text 56"/>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9" name="Shape 57"/>
          <p:cNvSpPr/>
          <p:nvPr/>
        </p:nvSpPr>
        <p:spPr>
          <a:xfrm>
            <a:off x="8040624" y="3760013"/>
            <a:ext cx="3489960" cy="828446"/>
          </a:xfrm>
          <a:prstGeom prst="rect">
            <a:avLst/>
          </a:prstGeom>
          <a:solidFill>
            <a:srgbClr val="F7F7F7"/>
          </a:solidFill>
          <a:ln/>
        </p:spPr>
      </p:sp>
      <p:sp>
        <p:nvSpPr>
          <p:cNvPr id="60" name="Text 58"/>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2" name="Text 60"/>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3" name="Shape 61"/>
          <p:cNvSpPr/>
          <p:nvPr/>
        </p:nvSpPr>
        <p:spPr>
          <a:xfrm>
            <a:off x="11466576" y="4625035"/>
            <a:ext cx="64008" cy="755294"/>
          </a:xfrm>
          <a:prstGeom prst="rect">
            <a:avLst/>
          </a:prstGeom>
          <a:solidFill>
            <a:srgbClr val="12A566"/>
          </a:solidFill>
          <a:ln/>
        </p:spPr>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techs, advisors and managers: apprentice programs, develop your bench, train your replacement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Always be teaching, training and educating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Being short-handed limits scheduling, loses opportunities and leads to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$28,600</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an average tech's bay produces a month: 152 sold hours at $188 each. An empty or idle bay misses all of it.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hours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Incentivize improvement in the metrics that make the biggest difference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Move technicians to flat rate and away from hourly: it rewards productivity and makes proficiency easy to track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Advisor pay: target a 50/50 split of base commission and performance bonus, with about half of earning potential tied to measurable metrics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DF4FA"/>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23 reduced.</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6 declined.</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Shape 44"/>
          <p:cNvSpPr/>
          <p:nvPr/>
        </p:nvSpPr>
        <p:spPr>
          <a:xfrm>
            <a:off x="7775448" y="5453482"/>
            <a:ext cx="64008" cy="755294"/>
          </a:xfrm>
          <a:prstGeom prst="rect">
            <a:avLst/>
          </a:prstGeom>
          <a:solidFill>
            <a:srgbClr val="2587C5"/>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5" name="Text 63"/>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6" name="Text 64"/>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7" name="Text 65"/>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8" name="Shape 66"/>
          <p:cNvSpPr/>
          <p:nvPr/>
        </p:nvSpPr>
        <p:spPr>
          <a:xfrm>
            <a:off x="8040624" y="5416906"/>
            <a:ext cx="3489960" cy="828446"/>
          </a:xfrm>
          <a:prstGeom prst="rect">
            <a:avLst/>
          </a:prstGeom>
          <a:solidFill>
            <a:srgbClr val="F7F7F7"/>
          </a:solidFill>
          <a:ln/>
        </p:spPr>
      </p:sp>
      <p:sp>
        <p:nvSpPr>
          <p:cNvPr id="69" name="Shape 67"/>
          <p:cNvSpPr/>
          <p:nvPr/>
        </p:nvSpPr>
        <p:spPr>
          <a:xfrm>
            <a:off x="11466576" y="5453482"/>
            <a:ext cx="64008" cy="755294"/>
          </a:xfrm>
          <a:prstGeom prst="rect">
            <a:avLst/>
          </a:prstGeom>
          <a:solidFill>
            <a:srgbClr val="2587C5"/>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communicate to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(hours flagged / clocked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clocked hours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Clocks 40 hours  </a:t>
            </a:r>
            <a:pPr algn="ctr" indent="0" marL="0">
              <a:buNone/>
            </a:pPr>
            <a:r>
              <a:rPr lang="en-US" sz="1400" b="1" dirty="0">
                <a:solidFill>
                  <a:srgbClr val="0B2C4A"/>
                </a:solidFill>
                <a:latin typeface="Inter" pitchFamily="34" charset="0"/>
                <a:ea typeface="Inter" pitchFamily="34" charset="-122"/>
                <a:cs typeface="Inter" pitchFamily="34" charset="-120"/>
              </a:rPr>
              <a:t>flags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Flags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to ROs, not all clocked hours</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Efficiency and Productivity</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713232" y="1463040"/>
            <a:ext cx="3453384" cy="3063240"/>
          </a:xfrm>
          <a:prstGeom prst="rect">
            <a:avLst/>
          </a:prstGeom>
          <a:solidFill>
            <a:srgbClr val="F7F7F7"/>
          </a:solidFill>
          <a:ln/>
        </p:spPr>
      </p:sp>
      <p:sp>
        <p:nvSpPr>
          <p:cNvPr id="7" name="Shape 5"/>
          <p:cNvSpPr/>
          <p:nvPr/>
        </p:nvSpPr>
        <p:spPr>
          <a:xfrm>
            <a:off x="713232" y="1463040"/>
            <a:ext cx="3453384" cy="64008"/>
          </a:xfrm>
          <a:prstGeom prst="rect">
            <a:avLst/>
          </a:prstGeom>
          <a:solidFill>
            <a:srgbClr val="2587C5"/>
          </a:solidFill>
          <a:ln/>
        </p:spPr>
      </p:sp>
      <p:sp>
        <p:nvSpPr>
          <p:cNvPr id="8" name="Text 6"/>
          <p:cNvSpPr txBox="1"/>
          <p:nvPr/>
        </p:nvSpPr>
        <p:spPr>
          <a:xfrm>
            <a:off x="896112"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PRODUCTIVITY</a:t>
            </a:r>
            <a:endParaRPr lang="en-US" sz="1400" dirty="0"/>
          </a:p>
        </p:txBody>
      </p:sp>
      <p:sp>
        <p:nvSpPr>
          <p:cNvPr id="9" name="Text 7"/>
          <p:cNvSpPr txBox="1"/>
          <p:nvPr/>
        </p:nvSpPr>
        <p:spPr>
          <a:xfrm>
            <a:off x="896112"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clocked to repair orders ÷ clocked hours</a:t>
            </a:r>
            <a:endParaRPr lang="en-US" sz="2000" dirty="0"/>
          </a:p>
        </p:txBody>
      </p:sp>
      <p:sp>
        <p:nvSpPr>
          <p:cNvPr id="10" name="Text 8"/>
          <p:cNvSpPr txBox="1"/>
          <p:nvPr/>
        </p:nvSpPr>
        <p:spPr>
          <a:xfrm>
            <a:off x="896112"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much of the technician's clocked time was spent on repair orders?</a:t>
            </a:r>
            <a:endParaRPr lang="en-US" sz="1600" dirty="0"/>
          </a:p>
        </p:txBody>
      </p:sp>
      <p:sp>
        <p:nvSpPr>
          <p:cNvPr id="11" name="Shape 9"/>
          <p:cNvSpPr/>
          <p:nvPr/>
        </p:nvSpPr>
        <p:spPr>
          <a:xfrm>
            <a:off x="896112" y="3858768"/>
            <a:ext cx="3087624" cy="10973"/>
          </a:xfrm>
          <a:prstGeom prst="rect">
            <a:avLst/>
          </a:prstGeom>
          <a:solidFill>
            <a:srgbClr val="D9D9D9"/>
          </a:solidFill>
          <a:ln/>
        </p:spPr>
      </p:sp>
      <p:sp>
        <p:nvSpPr>
          <p:cNvPr id="12" name="Text 10"/>
          <p:cNvSpPr txBox="1"/>
          <p:nvPr/>
        </p:nvSpPr>
        <p:spPr>
          <a:xfrm>
            <a:off x="896112"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6 ÷ 8 = 75%</a:t>
            </a:r>
            <a:endParaRPr lang="en-US" sz="1800" dirty="0"/>
          </a:p>
        </p:txBody>
      </p:sp>
      <p:sp>
        <p:nvSpPr>
          <p:cNvPr id="13" name="Shape 11"/>
          <p:cNvSpPr/>
          <p:nvPr/>
        </p:nvSpPr>
        <p:spPr>
          <a:xfrm>
            <a:off x="4367784" y="1463040"/>
            <a:ext cx="3453384" cy="3063240"/>
          </a:xfrm>
          <a:prstGeom prst="rect">
            <a:avLst/>
          </a:prstGeom>
          <a:solidFill>
            <a:srgbClr val="F7F7F7"/>
          </a:solidFill>
          <a:ln/>
        </p:spPr>
      </p:sp>
      <p:sp>
        <p:nvSpPr>
          <p:cNvPr id="14" name="Shape 12"/>
          <p:cNvSpPr/>
          <p:nvPr/>
        </p:nvSpPr>
        <p:spPr>
          <a:xfrm>
            <a:off x="4367784" y="1463040"/>
            <a:ext cx="3453384" cy="64008"/>
          </a:xfrm>
          <a:prstGeom prst="rect">
            <a:avLst/>
          </a:prstGeom>
          <a:solidFill>
            <a:srgbClr val="2587C5"/>
          </a:solidFill>
          <a:ln/>
        </p:spPr>
      </p:sp>
      <p:sp>
        <p:nvSpPr>
          <p:cNvPr id="15" name="Text 13"/>
          <p:cNvSpPr txBox="1"/>
          <p:nvPr/>
        </p:nvSpPr>
        <p:spPr>
          <a:xfrm>
            <a:off x="4550664"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EFFICIENCY</a:t>
            </a:r>
            <a:endParaRPr lang="en-US" sz="1400" dirty="0"/>
          </a:p>
        </p:txBody>
      </p:sp>
      <p:sp>
        <p:nvSpPr>
          <p:cNvPr id="16" name="Text 14"/>
          <p:cNvSpPr txBox="1"/>
          <p:nvPr/>
        </p:nvSpPr>
        <p:spPr>
          <a:xfrm>
            <a:off x="4550664"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hours clocked to repair orders</a:t>
            </a:r>
            <a:endParaRPr lang="en-US" sz="2000" dirty="0"/>
          </a:p>
        </p:txBody>
      </p:sp>
      <p:sp>
        <p:nvSpPr>
          <p:cNvPr id="17" name="Text 15"/>
          <p:cNvSpPr txBox="1"/>
          <p:nvPr/>
        </p:nvSpPr>
        <p:spPr>
          <a:xfrm>
            <a:off x="4550664"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for each hour clocked to repair orders?</a:t>
            </a:r>
            <a:endParaRPr lang="en-US" sz="1600" dirty="0"/>
          </a:p>
        </p:txBody>
      </p:sp>
      <p:sp>
        <p:nvSpPr>
          <p:cNvPr id="18" name="Shape 16"/>
          <p:cNvSpPr/>
          <p:nvPr/>
        </p:nvSpPr>
        <p:spPr>
          <a:xfrm>
            <a:off x="4550664" y="3858768"/>
            <a:ext cx="3087624" cy="10973"/>
          </a:xfrm>
          <a:prstGeom prst="rect">
            <a:avLst/>
          </a:prstGeom>
          <a:solidFill>
            <a:srgbClr val="D9D9D9"/>
          </a:solidFill>
          <a:ln/>
        </p:spPr>
      </p:sp>
      <p:sp>
        <p:nvSpPr>
          <p:cNvPr id="19" name="Text 17"/>
          <p:cNvSpPr txBox="1"/>
          <p:nvPr/>
        </p:nvSpPr>
        <p:spPr>
          <a:xfrm>
            <a:off x="4550664"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6 = 125%</a:t>
            </a:r>
            <a:endParaRPr lang="en-US" sz="1800" dirty="0"/>
          </a:p>
        </p:txBody>
      </p:sp>
      <p:sp>
        <p:nvSpPr>
          <p:cNvPr id="20" name="Shape 18"/>
          <p:cNvSpPr/>
          <p:nvPr/>
        </p:nvSpPr>
        <p:spPr>
          <a:xfrm>
            <a:off x="8022336" y="1463040"/>
            <a:ext cx="3453384" cy="3063240"/>
          </a:xfrm>
          <a:prstGeom prst="rect">
            <a:avLst/>
          </a:prstGeom>
          <a:solidFill>
            <a:srgbClr val="F7F7F7"/>
          </a:solidFill>
          <a:ln/>
        </p:spPr>
      </p:sp>
      <p:sp>
        <p:nvSpPr>
          <p:cNvPr id="21" name="Shape 19"/>
          <p:cNvSpPr/>
          <p:nvPr/>
        </p:nvSpPr>
        <p:spPr>
          <a:xfrm>
            <a:off x="8022336" y="1463040"/>
            <a:ext cx="3453384" cy="64008"/>
          </a:xfrm>
          <a:prstGeom prst="rect">
            <a:avLst/>
          </a:prstGeom>
          <a:solidFill>
            <a:srgbClr val="2587C5"/>
          </a:solidFill>
          <a:ln/>
        </p:spPr>
      </p:sp>
      <p:sp>
        <p:nvSpPr>
          <p:cNvPr id="22" name="Text 20"/>
          <p:cNvSpPr txBox="1"/>
          <p:nvPr/>
        </p:nvSpPr>
        <p:spPr>
          <a:xfrm>
            <a:off x="8205216" y="1645920"/>
            <a:ext cx="3087624" cy="27432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PROFICIENCY</a:t>
            </a:r>
            <a:endParaRPr lang="en-US" sz="1400" dirty="0"/>
          </a:p>
        </p:txBody>
      </p:sp>
      <p:sp>
        <p:nvSpPr>
          <p:cNvPr id="23" name="Text 21"/>
          <p:cNvSpPr txBox="1"/>
          <p:nvPr/>
        </p:nvSpPr>
        <p:spPr>
          <a:xfrm>
            <a:off x="8205216" y="1965960"/>
            <a:ext cx="3087624" cy="749808"/>
          </a:xfrm>
          <a:prstGeom prst="rect">
            <a:avLst/>
          </a:prstGeom>
          <a:noFill/>
          <a:ln/>
        </p:spPr>
        <p:txBody>
          <a:bodyPr wrap="square" lIns="0" tIns="0" rIns="0" bIns="0" rtlCol="0" anchor="t"/>
          <a:lstStyle/>
          <a:p>
            <a:pPr indent="0" marL="0">
              <a:buNone/>
            </a:pPr>
            <a:r>
              <a:rPr lang="en-US" sz="2000" b="1" dirty="0">
                <a:solidFill>
                  <a:srgbClr val="0B2C4A"/>
                </a:solidFill>
                <a:latin typeface="Inter" pitchFamily="34" charset="0"/>
                <a:ea typeface="Inter" pitchFamily="34" charset="-122"/>
                <a:cs typeface="Inter" pitchFamily="34" charset="-120"/>
              </a:rPr>
              <a:t>Hours flagged ÷ clocked hours</a:t>
            </a:r>
            <a:endParaRPr lang="en-US" sz="2000" dirty="0"/>
          </a:p>
        </p:txBody>
      </p:sp>
      <p:sp>
        <p:nvSpPr>
          <p:cNvPr id="24" name="Text 22"/>
          <p:cNvSpPr txBox="1"/>
          <p:nvPr/>
        </p:nvSpPr>
        <p:spPr>
          <a:xfrm>
            <a:off x="8205216" y="2807208"/>
            <a:ext cx="3087624" cy="96012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How many labor hours did the technician produce compared with their total clocked time?</a:t>
            </a:r>
            <a:endParaRPr lang="en-US" sz="1600" dirty="0"/>
          </a:p>
        </p:txBody>
      </p:sp>
      <p:sp>
        <p:nvSpPr>
          <p:cNvPr id="25" name="Shape 23"/>
          <p:cNvSpPr/>
          <p:nvPr/>
        </p:nvSpPr>
        <p:spPr>
          <a:xfrm>
            <a:off x="8205216" y="3858768"/>
            <a:ext cx="3087624" cy="10973"/>
          </a:xfrm>
          <a:prstGeom prst="rect">
            <a:avLst/>
          </a:prstGeom>
          <a:solidFill>
            <a:srgbClr val="D9D9D9"/>
          </a:solidFill>
          <a:ln/>
        </p:spPr>
      </p:sp>
      <p:sp>
        <p:nvSpPr>
          <p:cNvPr id="26" name="Text 24"/>
          <p:cNvSpPr txBox="1"/>
          <p:nvPr/>
        </p:nvSpPr>
        <p:spPr>
          <a:xfrm>
            <a:off x="8205216" y="3950208"/>
            <a:ext cx="3087624" cy="411480"/>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Example: 7.5 ÷ 8 = 93.75%</a:t>
            </a:r>
            <a:endParaRPr lang="en-US" sz="1800" dirty="0"/>
          </a:p>
        </p:txBody>
      </p:sp>
      <p:sp>
        <p:nvSpPr>
          <p:cNvPr id="27" name="Shape 25"/>
          <p:cNvSpPr/>
          <p:nvPr/>
        </p:nvSpPr>
        <p:spPr>
          <a:xfrm>
            <a:off x="713232" y="4709160"/>
            <a:ext cx="10762488" cy="1572768"/>
          </a:xfrm>
          <a:prstGeom prst="rect">
            <a:avLst/>
          </a:prstGeom>
          <a:solidFill>
            <a:srgbClr val="EDF4FA"/>
          </a:solidFill>
          <a:ln/>
        </p:spPr>
      </p:sp>
      <p:sp>
        <p:nvSpPr>
          <p:cNvPr id="28" name="Text 26"/>
          <p:cNvSpPr txBox="1"/>
          <p:nvPr/>
        </p:nvSpPr>
        <p:spPr>
          <a:xfrm>
            <a:off x="896112" y="4855464"/>
            <a:ext cx="10396728" cy="256032"/>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PUTTING IT TOGETHER: ONE TECHNICIAN, ONE DAY</a:t>
            </a:r>
            <a:endParaRPr lang="en-US" sz="1400" dirty="0"/>
          </a:p>
        </p:txBody>
      </p:sp>
      <p:sp>
        <p:nvSpPr>
          <p:cNvPr id="29" name="Text 27"/>
          <p:cNvSpPr txBox="1"/>
          <p:nvPr/>
        </p:nvSpPr>
        <p:spPr>
          <a:xfrm>
            <a:off x="896112" y="5166360"/>
            <a:ext cx="10396728" cy="329184"/>
          </a:xfrm>
          <a:prstGeom prst="rect">
            <a:avLst/>
          </a:prstGeom>
          <a:noFill/>
          <a:ln/>
        </p:spPr>
        <p:txBody>
          <a:bodyPr wrap="square" lIns="0" tIns="0" rIns="0" bIns="0" rtlCol="0" anchor="ctr"/>
          <a:lstStyle/>
          <a:p>
            <a:pPr indent="0" marL="0">
              <a:buNone/>
            </a:pPr>
            <a:r>
              <a:rPr lang="en-US" sz="1800" dirty="0">
                <a:solidFill>
                  <a:srgbClr val="1A1A1A"/>
                </a:solidFill>
                <a:latin typeface="Inter" pitchFamily="34" charset="0"/>
                <a:ea typeface="Inter" pitchFamily="34" charset="-122"/>
                <a:cs typeface="Inter" pitchFamily="34" charset="-120"/>
              </a:rPr>
              <a:t>A technician clocks in for 8 hours, clocks 6 of them to repair orders and flags 7.5 hours.</a:t>
            </a:r>
            <a:endParaRPr lang="en-US" sz="1800" dirty="0"/>
          </a:p>
        </p:txBody>
      </p:sp>
      <p:sp>
        <p:nvSpPr>
          <p:cNvPr id="30" name="Text 28"/>
          <p:cNvSpPr txBox="1"/>
          <p:nvPr/>
        </p:nvSpPr>
        <p:spPr>
          <a:xfrm>
            <a:off x="896112" y="5532120"/>
            <a:ext cx="10396728" cy="329184"/>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Productivity × efficiency = proficiency:  75% × 125% = 93.75%</a:t>
            </a:r>
            <a:endParaRPr lang="en-US" sz="1800" dirty="0"/>
          </a:p>
        </p:txBody>
      </p:sp>
      <p:sp>
        <p:nvSpPr>
          <p:cNvPr id="31" name="Text 29"/>
          <p:cNvSpPr txBox="1"/>
          <p:nvPr/>
        </p:nvSpPr>
        <p:spPr>
          <a:xfrm>
            <a:off x="896112" y="5897880"/>
            <a:ext cx="10396728" cy="292608"/>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Clocked hours exclude vacation, paid time off and holiday pay.</a:t>
            </a:r>
            <a:endParaRPr lang="en-US" sz="15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Hours flagged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clocked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January through September 2026, year to date. Vacation, paid time off and holiday pay are excluded from clocked hours. Store = total hours flagged ÷ total clocked hours.</a:t>
            </a:r>
            <a:endParaRPr lang="en-US" sz="14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technicians and express technicians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team leaders and shop foremen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Everyone whose job is to produce flagged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Not counted: body shop, detail and tint</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Clocked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clocked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stores hold $647K a month. 6 stores at or above 85% still leave $537K a month.</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 · JAN–SEP 2026, MONTHLY AVERAGE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2" name="Shape 209"/>
          <p:cNvSpPr/>
          <p:nvPr/>
        </p:nvSpPr>
        <p:spPr>
          <a:xfrm>
            <a:off x="457200" y="6126480"/>
            <a:ext cx="11274552" cy="371856"/>
          </a:xfrm>
          <a:prstGeom prst="rect">
            <a:avLst/>
          </a:prstGeom>
          <a:solidFill>
            <a:srgbClr val="FBEBEA"/>
          </a:solidFill>
          <a:ln/>
        </p:spPr>
      </p:sp>
      <p:sp>
        <p:nvSpPr>
          <p:cNvPr id="213" name="Text 21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a:t>
            </a:r>
            <a:endParaRPr lang="en-US" sz="160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Text 4"/>
          <p:cNvSpPr txBox="1"/>
          <p:nvPr/>
        </p:nvSpPr>
        <p:spPr>
          <a:xfrm>
            <a:off x="3474720"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7" name="Text 5"/>
          <p:cNvSpPr txBox="1"/>
          <p:nvPr/>
        </p:nvSpPr>
        <p:spPr>
          <a:xfrm>
            <a:off x="4434840"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025128" y="1316736"/>
            <a:ext cx="9601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 year</a:t>
            </a:r>
            <a:endParaRPr lang="en-US" sz="1400" dirty="0"/>
          </a:p>
        </p:txBody>
      </p:sp>
      <p:sp>
        <p:nvSpPr>
          <p:cNvPr id="10" name="Text 8"/>
          <p:cNvSpPr txBox="1"/>
          <p:nvPr/>
        </p:nvSpPr>
        <p:spPr>
          <a:xfrm>
            <a:off x="99852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61538"/>
            <a:ext cx="548640" cy="148509"/>
          </a:xfrm>
          <a:prstGeom prst="rect">
            <a:avLst/>
          </a:prstGeom>
          <a:solidFill>
            <a:srgbClr val="2587C5"/>
          </a:solidFill>
          <a:ln/>
        </p:spPr>
      </p:sp>
      <p:sp>
        <p:nvSpPr>
          <p:cNvPr id="15" name="Text 13"/>
          <p:cNvSpPr txBox="1"/>
          <p:nvPr/>
        </p:nvSpPr>
        <p:spPr>
          <a:xfrm>
            <a:off x="3474720"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$43,256</a:t>
            </a:r>
            <a:endParaRPr lang="en-US" sz="1300" dirty="0"/>
          </a:p>
        </p:txBody>
      </p:sp>
      <p:sp>
        <p:nvSpPr>
          <p:cNvPr id="16" name="Text 14"/>
          <p:cNvSpPr txBox="1"/>
          <p:nvPr/>
        </p:nvSpPr>
        <p:spPr>
          <a:xfrm>
            <a:off x="4434840"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31555"/>
            <a:ext cx="428287" cy="148509"/>
          </a:xfrm>
          <a:prstGeom prst="rect">
            <a:avLst/>
          </a:prstGeom>
          <a:solidFill>
            <a:srgbClr val="2587C5"/>
          </a:solidFill>
          <a:ln/>
        </p:spPr>
      </p:sp>
      <p:sp>
        <p:nvSpPr>
          <p:cNvPr id="21" name="Text 19"/>
          <p:cNvSpPr txBox="1"/>
          <p:nvPr/>
        </p:nvSpPr>
        <p:spPr>
          <a:xfrm>
            <a:off x="3474720"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$33,767</a:t>
            </a:r>
            <a:endParaRPr lang="en-US" sz="1300" dirty="0"/>
          </a:p>
        </p:txBody>
      </p:sp>
      <p:sp>
        <p:nvSpPr>
          <p:cNvPr id="22" name="Text 20"/>
          <p:cNvSpPr txBox="1"/>
          <p:nvPr/>
        </p:nvSpPr>
        <p:spPr>
          <a:xfrm>
            <a:off x="4434840"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6" name="Shape 24"/>
          <p:cNvSpPr/>
          <p:nvPr/>
        </p:nvSpPr>
        <p:spPr>
          <a:xfrm>
            <a:off x="2871216" y="2301572"/>
            <a:ext cx="359802" cy="148509"/>
          </a:xfrm>
          <a:prstGeom prst="rect">
            <a:avLst/>
          </a:prstGeom>
          <a:solidFill>
            <a:srgbClr val="2587C5"/>
          </a:solidFill>
          <a:ln/>
        </p:spPr>
      </p:sp>
      <p:sp>
        <p:nvSpPr>
          <p:cNvPr id="27" name="Text 25"/>
          <p:cNvSpPr txBox="1"/>
          <p:nvPr/>
        </p:nvSpPr>
        <p:spPr>
          <a:xfrm>
            <a:off x="3474720"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$28,367</a:t>
            </a:r>
            <a:endParaRPr lang="en-US" sz="1300" dirty="0"/>
          </a:p>
        </p:txBody>
      </p:sp>
      <p:sp>
        <p:nvSpPr>
          <p:cNvPr id="28" name="Text 26"/>
          <p:cNvSpPr txBox="1"/>
          <p:nvPr/>
        </p:nvSpPr>
        <p:spPr>
          <a:xfrm>
            <a:off x="4434840"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71589"/>
            <a:ext cx="345673" cy="148509"/>
          </a:xfrm>
          <a:prstGeom prst="rect">
            <a:avLst/>
          </a:prstGeom>
          <a:solidFill>
            <a:srgbClr val="2587C5"/>
          </a:solidFill>
          <a:ln/>
        </p:spPr>
      </p:sp>
      <p:sp>
        <p:nvSpPr>
          <p:cNvPr id="33" name="Text 31"/>
          <p:cNvSpPr txBox="1"/>
          <p:nvPr/>
        </p:nvSpPr>
        <p:spPr>
          <a:xfrm>
            <a:off x="3474720"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$27,253</a:t>
            </a:r>
            <a:endParaRPr lang="en-US" sz="1300" dirty="0"/>
          </a:p>
        </p:txBody>
      </p:sp>
      <p:sp>
        <p:nvSpPr>
          <p:cNvPr id="34" name="Text 32"/>
          <p:cNvSpPr txBox="1"/>
          <p:nvPr/>
        </p:nvSpPr>
        <p:spPr>
          <a:xfrm>
            <a:off x="4434840"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2871216" y="2841606"/>
            <a:ext cx="316030" cy="148509"/>
          </a:xfrm>
          <a:prstGeom prst="rect">
            <a:avLst/>
          </a:prstGeom>
          <a:solidFill>
            <a:srgbClr val="2587C5"/>
          </a:solidFill>
          <a:ln/>
        </p:spPr>
      </p:sp>
      <p:sp>
        <p:nvSpPr>
          <p:cNvPr id="39" name="Text 37"/>
          <p:cNvSpPr txBox="1"/>
          <p:nvPr/>
        </p:nvSpPr>
        <p:spPr>
          <a:xfrm>
            <a:off x="3474720"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$24,916</a:t>
            </a:r>
            <a:endParaRPr lang="en-US" sz="1300" dirty="0"/>
          </a:p>
        </p:txBody>
      </p:sp>
      <p:sp>
        <p:nvSpPr>
          <p:cNvPr id="40" name="Text 38"/>
          <p:cNvSpPr txBox="1"/>
          <p:nvPr/>
        </p:nvSpPr>
        <p:spPr>
          <a:xfrm>
            <a:off x="4434840"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4" name="Shape 42"/>
          <p:cNvSpPr/>
          <p:nvPr/>
        </p:nvSpPr>
        <p:spPr>
          <a:xfrm>
            <a:off x="2871216" y="3111623"/>
            <a:ext cx="288890" cy="148509"/>
          </a:xfrm>
          <a:prstGeom prst="rect">
            <a:avLst/>
          </a:prstGeom>
          <a:solidFill>
            <a:srgbClr val="2587C5"/>
          </a:solidFill>
          <a:ln/>
        </p:spPr>
      </p:sp>
      <p:sp>
        <p:nvSpPr>
          <p:cNvPr id="45" name="Text 43"/>
          <p:cNvSpPr txBox="1"/>
          <p:nvPr/>
        </p:nvSpPr>
        <p:spPr>
          <a:xfrm>
            <a:off x="3474720"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$22,777</a:t>
            </a:r>
            <a:endParaRPr lang="en-US" sz="1300" dirty="0"/>
          </a:p>
        </p:txBody>
      </p:sp>
      <p:sp>
        <p:nvSpPr>
          <p:cNvPr id="46" name="Text 44"/>
          <p:cNvSpPr txBox="1"/>
          <p:nvPr/>
        </p:nvSpPr>
        <p:spPr>
          <a:xfrm>
            <a:off x="4434840"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0" name="Shape 48"/>
          <p:cNvSpPr/>
          <p:nvPr/>
        </p:nvSpPr>
        <p:spPr>
          <a:xfrm>
            <a:off x="2871216" y="3381639"/>
            <a:ext cx="206935" cy="148509"/>
          </a:xfrm>
          <a:prstGeom prst="rect">
            <a:avLst/>
          </a:prstGeom>
          <a:solidFill>
            <a:srgbClr val="2587C5"/>
          </a:solidFill>
          <a:ln/>
        </p:spPr>
      </p:sp>
      <p:sp>
        <p:nvSpPr>
          <p:cNvPr id="51" name="Text 49"/>
          <p:cNvSpPr txBox="1"/>
          <p:nvPr/>
        </p:nvSpPr>
        <p:spPr>
          <a:xfrm>
            <a:off x="3474720"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$16,315</a:t>
            </a:r>
            <a:endParaRPr lang="en-US" sz="1300" dirty="0"/>
          </a:p>
        </p:txBody>
      </p:sp>
      <p:sp>
        <p:nvSpPr>
          <p:cNvPr id="52" name="Text 50"/>
          <p:cNvSpPr txBox="1"/>
          <p:nvPr/>
        </p:nvSpPr>
        <p:spPr>
          <a:xfrm>
            <a:off x="4434840"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6" name="Shape 54"/>
          <p:cNvSpPr/>
          <p:nvPr/>
        </p:nvSpPr>
        <p:spPr>
          <a:xfrm>
            <a:off x="2871216" y="3651656"/>
            <a:ext cx="205982" cy="148509"/>
          </a:xfrm>
          <a:prstGeom prst="rect">
            <a:avLst/>
          </a:prstGeom>
          <a:solidFill>
            <a:srgbClr val="2587C5"/>
          </a:solidFill>
          <a:ln/>
        </p:spPr>
      </p:sp>
      <p:sp>
        <p:nvSpPr>
          <p:cNvPr id="57" name="Text 55"/>
          <p:cNvSpPr txBox="1"/>
          <p:nvPr/>
        </p:nvSpPr>
        <p:spPr>
          <a:xfrm>
            <a:off x="3474720"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$16,240</a:t>
            </a:r>
            <a:endParaRPr lang="en-US" sz="1300" dirty="0"/>
          </a:p>
        </p:txBody>
      </p:sp>
      <p:sp>
        <p:nvSpPr>
          <p:cNvPr id="58" name="Text 56"/>
          <p:cNvSpPr txBox="1"/>
          <p:nvPr/>
        </p:nvSpPr>
        <p:spPr>
          <a:xfrm>
            <a:off x="4434840"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2" name="Shape 60"/>
          <p:cNvSpPr/>
          <p:nvPr/>
        </p:nvSpPr>
        <p:spPr>
          <a:xfrm>
            <a:off x="2871216" y="3921673"/>
            <a:ext cx="193357" cy="148509"/>
          </a:xfrm>
          <a:prstGeom prst="rect">
            <a:avLst/>
          </a:prstGeom>
          <a:solidFill>
            <a:srgbClr val="2587C5"/>
          </a:solidFill>
          <a:ln/>
        </p:spPr>
      </p:sp>
      <p:sp>
        <p:nvSpPr>
          <p:cNvPr id="63" name="Text 61"/>
          <p:cNvSpPr txBox="1"/>
          <p:nvPr/>
        </p:nvSpPr>
        <p:spPr>
          <a:xfrm>
            <a:off x="3474720"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$15,245</a:t>
            </a:r>
            <a:endParaRPr lang="en-US" sz="1300" dirty="0"/>
          </a:p>
        </p:txBody>
      </p:sp>
      <p:sp>
        <p:nvSpPr>
          <p:cNvPr id="64" name="Text 62"/>
          <p:cNvSpPr txBox="1"/>
          <p:nvPr/>
        </p:nvSpPr>
        <p:spPr>
          <a:xfrm>
            <a:off x="4434840"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4191690"/>
            <a:ext cx="186973" cy="148509"/>
          </a:xfrm>
          <a:prstGeom prst="rect">
            <a:avLst/>
          </a:prstGeom>
          <a:solidFill>
            <a:srgbClr val="2587C5"/>
          </a:solidFill>
          <a:ln/>
        </p:spPr>
      </p:sp>
      <p:sp>
        <p:nvSpPr>
          <p:cNvPr id="69" name="Text 67"/>
          <p:cNvSpPr txBox="1"/>
          <p:nvPr/>
        </p:nvSpPr>
        <p:spPr>
          <a:xfrm>
            <a:off x="3474720"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$14,741</a:t>
            </a:r>
            <a:endParaRPr lang="en-US" sz="1300" dirty="0"/>
          </a:p>
        </p:txBody>
      </p:sp>
      <p:sp>
        <p:nvSpPr>
          <p:cNvPr id="70" name="Text 68"/>
          <p:cNvSpPr txBox="1"/>
          <p:nvPr/>
        </p:nvSpPr>
        <p:spPr>
          <a:xfrm>
            <a:off x="4434840"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2871216" y="4461707"/>
            <a:ext cx="178245" cy="148509"/>
          </a:xfrm>
          <a:prstGeom prst="rect">
            <a:avLst/>
          </a:prstGeom>
          <a:solidFill>
            <a:srgbClr val="2587C5"/>
          </a:solidFill>
          <a:ln/>
        </p:spPr>
      </p:sp>
      <p:sp>
        <p:nvSpPr>
          <p:cNvPr id="75" name="Text 73"/>
          <p:cNvSpPr txBox="1"/>
          <p:nvPr/>
        </p:nvSpPr>
        <p:spPr>
          <a:xfrm>
            <a:off x="3474720"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$14,053</a:t>
            </a:r>
            <a:endParaRPr lang="en-US" sz="1300" dirty="0"/>
          </a:p>
        </p:txBody>
      </p:sp>
      <p:sp>
        <p:nvSpPr>
          <p:cNvPr id="76" name="Text 74"/>
          <p:cNvSpPr txBox="1"/>
          <p:nvPr/>
        </p:nvSpPr>
        <p:spPr>
          <a:xfrm>
            <a:off x="4434840"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0" name="Shape 78"/>
          <p:cNvSpPr/>
          <p:nvPr/>
        </p:nvSpPr>
        <p:spPr>
          <a:xfrm>
            <a:off x="2871216" y="4731724"/>
            <a:ext cx="160884" cy="148509"/>
          </a:xfrm>
          <a:prstGeom prst="rect">
            <a:avLst/>
          </a:prstGeom>
          <a:solidFill>
            <a:srgbClr val="2587C5"/>
          </a:solidFill>
          <a:ln/>
        </p:spPr>
      </p:sp>
      <p:sp>
        <p:nvSpPr>
          <p:cNvPr id="81" name="Text 79"/>
          <p:cNvSpPr txBox="1"/>
          <p:nvPr/>
        </p:nvSpPr>
        <p:spPr>
          <a:xfrm>
            <a:off x="3474720"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$12,684</a:t>
            </a:r>
            <a:endParaRPr lang="en-US" sz="1300" dirty="0"/>
          </a:p>
        </p:txBody>
      </p:sp>
      <p:sp>
        <p:nvSpPr>
          <p:cNvPr id="82" name="Text 80"/>
          <p:cNvSpPr txBox="1"/>
          <p:nvPr/>
        </p:nvSpPr>
        <p:spPr>
          <a:xfrm>
            <a:off x="4434840"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5001741"/>
            <a:ext cx="159478" cy="148509"/>
          </a:xfrm>
          <a:prstGeom prst="rect">
            <a:avLst/>
          </a:prstGeom>
          <a:solidFill>
            <a:srgbClr val="2587C5"/>
          </a:solidFill>
          <a:ln/>
        </p:spPr>
      </p:sp>
      <p:sp>
        <p:nvSpPr>
          <p:cNvPr id="87" name="Text 85"/>
          <p:cNvSpPr txBox="1"/>
          <p:nvPr/>
        </p:nvSpPr>
        <p:spPr>
          <a:xfrm>
            <a:off x="3474720"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$12,574</a:t>
            </a:r>
            <a:endParaRPr lang="en-US" sz="1300" dirty="0"/>
          </a:p>
        </p:txBody>
      </p:sp>
      <p:sp>
        <p:nvSpPr>
          <p:cNvPr id="88" name="Text 86"/>
          <p:cNvSpPr txBox="1"/>
          <p:nvPr/>
        </p:nvSpPr>
        <p:spPr>
          <a:xfrm>
            <a:off x="4434840"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2" name="Shape 90"/>
          <p:cNvSpPr/>
          <p:nvPr/>
        </p:nvSpPr>
        <p:spPr>
          <a:xfrm>
            <a:off x="2871216" y="5271758"/>
            <a:ext cx="156386" cy="148509"/>
          </a:xfrm>
          <a:prstGeom prst="rect">
            <a:avLst/>
          </a:prstGeom>
          <a:solidFill>
            <a:srgbClr val="2587C5"/>
          </a:solidFill>
          <a:ln/>
        </p:spPr>
      </p:sp>
      <p:sp>
        <p:nvSpPr>
          <p:cNvPr id="93" name="Text 91"/>
          <p:cNvSpPr txBox="1"/>
          <p:nvPr/>
        </p:nvSpPr>
        <p:spPr>
          <a:xfrm>
            <a:off x="3474720"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$12,330</a:t>
            </a:r>
            <a:endParaRPr lang="en-US" sz="1300" dirty="0"/>
          </a:p>
        </p:txBody>
      </p:sp>
      <p:sp>
        <p:nvSpPr>
          <p:cNvPr id="94" name="Text 92"/>
          <p:cNvSpPr txBox="1"/>
          <p:nvPr/>
        </p:nvSpPr>
        <p:spPr>
          <a:xfrm>
            <a:off x="4434840"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8" name="Shape 96"/>
          <p:cNvSpPr/>
          <p:nvPr/>
        </p:nvSpPr>
        <p:spPr>
          <a:xfrm>
            <a:off x="2871216" y="5541775"/>
            <a:ext cx="151472" cy="148509"/>
          </a:xfrm>
          <a:prstGeom prst="rect">
            <a:avLst/>
          </a:prstGeom>
          <a:solidFill>
            <a:srgbClr val="2587C5"/>
          </a:solidFill>
          <a:ln/>
        </p:spPr>
      </p:sp>
      <p:sp>
        <p:nvSpPr>
          <p:cNvPr id="99" name="Text 97"/>
          <p:cNvSpPr txBox="1"/>
          <p:nvPr/>
        </p:nvSpPr>
        <p:spPr>
          <a:xfrm>
            <a:off x="3474720"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$11,942</a:t>
            </a:r>
            <a:endParaRPr lang="en-US" sz="1300" dirty="0"/>
          </a:p>
        </p:txBody>
      </p:sp>
      <p:sp>
        <p:nvSpPr>
          <p:cNvPr id="100" name="Text 98"/>
          <p:cNvSpPr txBox="1"/>
          <p:nvPr/>
        </p:nvSpPr>
        <p:spPr>
          <a:xfrm>
            <a:off x="4434840"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4" name="Shape 102"/>
          <p:cNvSpPr/>
          <p:nvPr/>
        </p:nvSpPr>
        <p:spPr>
          <a:xfrm>
            <a:off x="2871216" y="5811792"/>
            <a:ext cx="144704" cy="148509"/>
          </a:xfrm>
          <a:prstGeom prst="rect">
            <a:avLst/>
          </a:prstGeom>
          <a:solidFill>
            <a:srgbClr val="2587C5"/>
          </a:solidFill>
          <a:ln/>
        </p:spPr>
      </p:sp>
      <p:sp>
        <p:nvSpPr>
          <p:cNvPr id="105" name="Text 103"/>
          <p:cNvSpPr txBox="1"/>
          <p:nvPr/>
        </p:nvSpPr>
        <p:spPr>
          <a:xfrm>
            <a:off x="3474720"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$11,409</a:t>
            </a:r>
            <a:endParaRPr lang="en-US" sz="1300" dirty="0"/>
          </a:p>
        </p:txBody>
      </p:sp>
      <p:sp>
        <p:nvSpPr>
          <p:cNvPr id="106" name="Text 104"/>
          <p:cNvSpPr txBox="1"/>
          <p:nvPr/>
        </p:nvSpPr>
        <p:spPr>
          <a:xfrm>
            <a:off x="4434840"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602105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602105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0" name="Shape 108"/>
          <p:cNvSpPr/>
          <p:nvPr/>
        </p:nvSpPr>
        <p:spPr>
          <a:xfrm>
            <a:off x="2871216" y="6081809"/>
            <a:ext cx="136953" cy="148509"/>
          </a:xfrm>
          <a:prstGeom prst="rect">
            <a:avLst/>
          </a:prstGeom>
          <a:solidFill>
            <a:srgbClr val="2587C5"/>
          </a:solidFill>
          <a:ln/>
        </p:spPr>
      </p:sp>
      <p:sp>
        <p:nvSpPr>
          <p:cNvPr id="111" name="Text 109"/>
          <p:cNvSpPr txBox="1"/>
          <p:nvPr/>
        </p:nvSpPr>
        <p:spPr>
          <a:xfrm>
            <a:off x="3474720" y="602105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$10,798</a:t>
            </a:r>
            <a:endParaRPr lang="en-US" sz="1300" dirty="0"/>
          </a:p>
        </p:txBody>
      </p:sp>
      <p:sp>
        <p:nvSpPr>
          <p:cNvPr id="112" name="Text 110"/>
          <p:cNvSpPr txBox="1"/>
          <p:nvPr/>
        </p:nvSpPr>
        <p:spPr>
          <a:xfrm>
            <a:off x="4434840" y="602105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602105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421624" y="1761538"/>
            <a:ext cx="129525" cy="148509"/>
          </a:xfrm>
          <a:prstGeom prst="rect">
            <a:avLst/>
          </a:prstGeom>
          <a:solidFill>
            <a:srgbClr val="2587C5"/>
          </a:solidFill>
          <a:ln/>
        </p:spPr>
      </p:sp>
      <p:sp>
        <p:nvSpPr>
          <p:cNvPr id="117" name="Text 115"/>
          <p:cNvSpPr txBox="1"/>
          <p:nvPr/>
        </p:nvSpPr>
        <p:spPr>
          <a:xfrm>
            <a:off x="9025128" y="170078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$10,212</a:t>
            </a:r>
            <a:endParaRPr lang="en-US" sz="1300" dirty="0"/>
          </a:p>
        </p:txBody>
      </p:sp>
      <p:sp>
        <p:nvSpPr>
          <p:cNvPr id="118" name="Text 116"/>
          <p:cNvSpPr txBox="1"/>
          <p:nvPr/>
        </p:nvSpPr>
        <p:spPr>
          <a:xfrm>
            <a:off x="9985248" y="170078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7080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7080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2" name="Shape 120"/>
          <p:cNvSpPr/>
          <p:nvPr/>
        </p:nvSpPr>
        <p:spPr>
          <a:xfrm>
            <a:off x="8421624" y="2031555"/>
            <a:ext cx="116104" cy="148509"/>
          </a:xfrm>
          <a:prstGeom prst="rect">
            <a:avLst/>
          </a:prstGeom>
          <a:solidFill>
            <a:srgbClr val="2587C5"/>
          </a:solidFill>
          <a:ln/>
        </p:spPr>
      </p:sp>
      <p:sp>
        <p:nvSpPr>
          <p:cNvPr id="123" name="Text 121"/>
          <p:cNvSpPr txBox="1"/>
          <p:nvPr/>
        </p:nvSpPr>
        <p:spPr>
          <a:xfrm>
            <a:off x="9025128" y="197080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$9,154</a:t>
            </a:r>
            <a:endParaRPr lang="en-US" sz="1300" dirty="0"/>
          </a:p>
        </p:txBody>
      </p:sp>
      <p:sp>
        <p:nvSpPr>
          <p:cNvPr id="124" name="Text 122"/>
          <p:cNvSpPr txBox="1"/>
          <p:nvPr/>
        </p:nvSpPr>
        <p:spPr>
          <a:xfrm>
            <a:off x="9985248" y="197080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7080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24081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24081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301572"/>
            <a:ext cx="111671" cy="148509"/>
          </a:xfrm>
          <a:prstGeom prst="rect">
            <a:avLst/>
          </a:prstGeom>
          <a:solidFill>
            <a:srgbClr val="2587C5"/>
          </a:solidFill>
          <a:ln/>
        </p:spPr>
      </p:sp>
      <p:sp>
        <p:nvSpPr>
          <p:cNvPr id="129" name="Text 127"/>
          <p:cNvSpPr txBox="1"/>
          <p:nvPr/>
        </p:nvSpPr>
        <p:spPr>
          <a:xfrm>
            <a:off x="9025128" y="224081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$8,804</a:t>
            </a:r>
            <a:endParaRPr lang="en-US" sz="1300" dirty="0"/>
          </a:p>
        </p:txBody>
      </p:sp>
      <p:sp>
        <p:nvSpPr>
          <p:cNvPr id="130" name="Text 128"/>
          <p:cNvSpPr txBox="1"/>
          <p:nvPr/>
        </p:nvSpPr>
        <p:spPr>
          <a:xfrm>
            <a:off x="9985248" y="224081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24081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510835"/>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510835"/>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71589"/>
            <a:ext cx="107204" cy="148509"/>
          </a:xfrm>
          <a:prstGeom prst="rect">
            <a:avLst/>
          </a:prstGeom>
          <a:solidFill>
            <a:srgbClr val="2587C5"/>
          </a:solidFill>
          <a:ln/>
        </p:spPr>
      </p:sp>
      <p:sp>
        <p:nvSpPr>
          <p:cNvPr id="135" name="Text 133"/>
          <p:cNvSpPr txBox="1"/>
          <p:nvPr/>
        </p:nvSpPr>
        <p:spPr>
          <a:xfrm>
            <a:off x="9025128" y="2510835"/>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$8,452</a:t>
            </a:r>
            <a:endParaRPr lang="en-US" sz="1300" dirty="0"/>
          </a:p>
        </p:txBody>
      </p:sp>
      <p:sp>
        <p:nvSpPr>
          <p:cNvPr id="136" name="Text 134"/>
          <p:cNvSpPr txBox="1"/>
          <p:nvPr/>
        </p:nvSpPr>
        <p:spPr>
          <a:xfrm>
            <a:off x="9985248" y="2510835"/>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510835"/>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780852"/>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780852"/>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0" name="Shape 138"/>
          <p:cNvSpPr/>
          <p:nvPr/>
        </p:nvSpPr>
        <p:spPr>
          <a:xfrm>
            <a:off x="8421624" y="2841606"/>
            <a:ext cx="105090" cy="148509"/>
          </a:xfrm>
          <a:prstGeom prst="rect">
            <a:avLst/>
          </a:prstGeom>
          <a:solidFill>
            <a:srgbClr val="2587C5"/>
          </a:solidFill>
          <a:ln/>
        </p:spPr>
      </p:sp>
      <p:sp>
        <p:nvSpPr>
          <p:cNvPr id="141" name="Text 139"/>
          <p:cNvSpPr txBox="1"/>
          <p:nvPr/>
        </p:nvSpPr>
        <p:spPr>
          <a:xfrm>
            <a:off x="9025128" y="2780852"/>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$8,285</a:t>
            </a:r>
            <a:endParaRPr lang="en-US" sz="1300" dirty="0"/>
          </a:p>
        </p:txBody>
      </p:sp>
      <p:sp>
        <p:nvSpPr>
          <p:cNvPr id="142" name="Text 140"/>
          <p:cNvSpPr txBox="1"/>
          <p:nvPr/>
        </p:nvSpPr>
        <p:spPr>
          <a:xfrm>
            <a:off x="9985248" y="2780852"/>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780852"/>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3050869"/>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3050869"/>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6" name="Shape 144"/>
          <p:cNvSpPr/>
          <p:nvPr/>
        </p:nvSpPr>
        <p:spPr>
          <a:xfrm>
            <a:off x="8421624" y="3111623"/>
            <a:ext cx="102344" cy="148509"/>
          </a:xfrm>
          <a:prstGeom prst="rect">
            <a:avLst/>
          </a:prstGeom>
          <a:solidFill>
            <a:srgbClr val="2587C5"/>
          </a:solidFill>
          <a:ln/>
        </p:spPr>
      </p:sp>
      <p:sp>
        <p:nvSpPr>
          <p:cNvPr id="147" name="Text 145"/>
          <p:cNvSpPr txBox="1"/>
          <p:nvPr/>
        </p:nvSpPr>
        <p:spPr>
          <a:xfrm>
            <a:off x="9025128" y="3050869"/>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$8,069</a:t>
            </a:r>
            <a:endParaRPr lang="en-US" sz="1300" dirty="0"/>
          </a:p>
        </p:txBody>
      </p:sp>
      <p:sp>
        <p:nvSpPr>
          <p:cNvPr id="148" name="Text 146"/>
          <p:cNvSpPr txBox="1"/>
          <p:nvPr/>
        </p:nvSpPr>
        <p:spPr>
          <a:xfrm>
            <a:off x="9985248" y="3050869"/>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3050869"/>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32088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32088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381639"/>
            <a:ext cx="95727" cy="148509"/>
          </a:xfrm>
          <a:prstGeom prst="rect">
            <a:avLst/>
          </a:prstGeom>
          <a:solidFill>
            <a:srgbClr val="2587C5"/>
          </a:solidFill>
          <a:ln/>
        </p:spPr>
      </p:sp>
      <p:sp>
        <p:nvSpPr>
          <p:cNvPr id="153" name="Text 151"/>
          <p:cNvSpPr txBox="1"/>
          <p:nvPr/>
        </p:nvSpPr>
        <p:spPr>
          <a:xfrm>
            <a:off x="9025128" y="332088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$7,547</a:t>
            </a:r>
            <a:endParaRPr lang="en-US" sz="1300" dirty="0"/>
          </a:p>
        </p:txBody>
      </p:sp>
      <p:sp>
        <p:nvSpPr>
          <p:cNvPr id="154" name="Text 152"/>
          <p:cNvSpPr txBox="1"/>
          <p:nvPr/>
        </p:nvSpPr>
        <p:spPr>
          <a:xfrm>
            <a:off x="9985248" y="332088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32088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59090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59090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651656"/>
            <a:ext cx="93782" cy="148509"/>
          </a:xfrm>
          <a:prstGeom prst="rect">
            <a:avLst/>
          </a:prstGeom>
          <a:solidFill>
            <a:srgbClr val="2587C5"/>
          </a:solidFill>
          <a:ln/>
        </p:spPr>
      </p:sp>
      <p:sp>
        <p:nvSpPr>
          <p:cNvPr id="159" name="Text 157"/>
          <p:cNvSpPr txBox="1"/>
          <p:nvPr/>
        </p:nvSpPr>
        <p:spPr>
          <a:xfrm>
            <a:off x="9025128" y="359090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$7,394</a:t>
            </a:r>
            <a:endParaRPr lang="en-US" sz="1300" dirty="0"/>
          </a:p>
        </p:txBody>
      </p:sp>
      <p:sp>
        <p:nvSpPr>
          <p:cNvPr id="160" name="Text 158"/>
          <p:cNvSpPr txBox="1"/>
          <p:nvPr/>
        </p:nvSpPr>
        <p:spPr>
          <a:xfrm>
            <a:off x="9985248" y="359090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59090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86092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86092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921673"/>
            <a:ext cx="91945" cy="148509"/>
          </a:xfrm>
          <a:prstGeom prst="rect">
            <a:avLst/>
          </a:prstGeom>
          <a:solidFill>
            <a:srgbClr val="2587C5"/>
          </a:solidFill>
          <a:ln/>
        </p:spPr>
      </p:sp>
      <p:sp>
        <p:nvSpPr>
          <p:cNvPr id="165" name="Text 163"/>
          <p:cNvSpPr txBox="1"/>
          <p:nvPr/>
        </p:nvSpPr>
        <p:spPr>
          <a:xfrm>
            <a:off x="9025128" y="386092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$7,249</a:t>
            </a:r>
            <a:endParaRPr lang="en-US" sz="1300" dirty="0"/>
          </a:p>
        </p:txBody>
      </p:sp>
      <p:sp>
        <p:nvSpPr>
          <p:cNvPr id="166" name="Text 164"/>
          <p:cNvSpPr txBox="1"/>
          <p:nvPr/>
        </p:nvSpPr>
        <p:spPr>
          <a:xfrm>
            <a:off x="9985248" y="386092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86092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4130936"/>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4130936"/>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0" name="Shape 168"/>
          <p:cNvSpPr/>
          <p:nvPr/>
        </p:nvSpPr>
        <p:spPr>
          <a:xfrm>
            <a:off x="8421624" y="4191690"/>
            <a:ext cx="91642" cy="148509"/>
          </a:xfrm>
          <a:prstGeom prst="rect">
            <a:avLst/>
          </a:prstGeom>
          <a:solidFill>
            <a:srgbClr val="2587C5"/>
          </a:solidFill>
          <a:ln/>
        </p:spPr>
      </p:sp>
      <p:sp>
        <p:nvSpPr>
          <p:cNvPr id="171" name="Text 169"/>
          <p:cNvSpPr txBox="1"/>
          <p:nvPr/>
        </p:nvSpPr>
        <p:spPr>
          <a:xfrm>
            <a:off x="9025128" y="4130936"/>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$7,225</a:t>
            </a:r>
            <a:endParaRPr lang="en-US" sz="1300" dirty="0"/>
          </a:p>
        </p:txBody>
      </p:sp>
      <p:sp>
        <p:nvSpPr>
          <p:cNvPr id="172" name="Text 170"/>
          <p:cNvSpPr txBox="1"/>
          <p:nvPr/>
        </p:nvSpPr>
        <p:spPr>
          <a:xfrm>
            <a:off x="9985248" y="4130936"/>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4130936"/>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400953"/>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400953"/>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6" name="Shape 174"/>
          <p:cNvSpPr/>
          <p:nvPr/>
        </p:nvSpPr>
        <p:spPr>
          <a:xfrm>
            <a:off x="8421624" y="4461707"/>
            <a:ext cx="90578" cy="148509"/>
          </a:xfrm>
          <a:prstGeom prst="rect">
            <a:avLst/>
          </a:prstGeom>
          <a:solidFill>
            <a:srgbClr val="2587C5"/>
          </a:solidFill>
          <a:ln/>
        </p:spPr>
      </p:sp>
      <p:sp>
        <p:nvSpPr>
          <p:cNvPr id="177" name="Text 175"/>
          <p:cNvSpPr txBox="1"/>
          <p:nvPr/>
        </p:nvSpPr>
        <p:spPr>
          <a:xfrm>
            <a:off x="9025128" y="4400953"/>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$7,141</a:t>
            </a:r>
            <a:endParaRPr lang="en-US" sz="1300" dirty="0"/>
          </a:p>
        </p:txBody>
      </p:sp>
      <p:sp>
        <p:nvSpPr>
          <p:cNvPr id="178" name="Text 176"/>
          <p:cNvSpPr txBox="1"/>
          <p:nvPr/>
        </p:nvSpPr>
        <p:spPr>
          <a:xfrm>
            <a:off x="9985248" y="4400953"/>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400953"/>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670970"/>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670970"/>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2" name="Shape 180"/>
          <p:cNvSpPr/>
          <p:nvPr/>
        </p:nvSpPr>
        <p:spPr>
          <a:xfrm>
            <a:off x="8421624" y="4731724"/>
            <a:ext cx="83490" cy="148509"/>
          </a:xfrm>
          <a:prstGeom prst="rect">
            <a:avLst/>
          </a:prstGeom>
          <a:solidFill>
            <a:srgbClr val="2587C5"/>
          </a:solidFill>
          <a:ln/>
        </p:spPr>
      </p:sp>
      <p:sp>
        <p:nvSpPr>
          <p:cNvPr id="183" name="Text 181"/>
          <p:cNvSpPr txBox="1"/>
          <p:nvPr/>
        </p:nvSpPr>
        <p:spPr>
          <a:xfrm>
            <a:off x="9025128" y="4670970"/>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$6,583</a:t>
            </a:r>
            <a:endParaRPr lang="en-US" sz="1300" dirty="0"/>
          </a:p>
        </p:txBody>
      </p:sp>
      <p:sp>
        <p:nvSpPr>
          <p:cNvPr id="184" name="Text 182"/>
          <p:cNvSpPr txBox="1"/>
          <p:nvPr/>
        </p:nvSpPr>
        <p:spPr>
          <a:xfrm>
            <a:off x="9985248" y="4670970"/>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670970"/>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940987"/>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940987"/>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8" name="Shape 186"/>
          <p:cNvSpPr/>
          <p:nvPr/>
        </p:nvSpPr>
        <p:spPr>
          <a:xfrm>
            <a:off x="8421624" y="5001741"/>
            <a:ext cx="82594" cy="148509"/>
          </a:xfrm>
          <a:prstGeom prst="rect">
            <a:avLst/>
          </a:prstGeom>
          <a:solidFill>
            <a:srgbClr val="2587C5"/>
          </a:solidFill>
          <a:ln/>
        </p:spPr>
      </p:sp>
      <p:sp>
        <p:nvSpPr>
          <p:cNvPr id="189" name="Text 187"/>
          <p:cNvSpPr txBox="1"/>
          <p:nvPr/>
        </p:nvSpPr>
        <p:spPr>
          <a:xfrm>
            <a:off x="9025128" y="4940987"/>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$6,512</a:t>
            </a:r>
            <a:endParaRPr lang="en-US" sz="1300" dirty="0"/>
          </a:p>
        </p:txBody>
      </p:sp>
      <p:sp>
        <p:nvSpPr>
          <p:cNvPr id="190" name="Text 188"/>
          <p:cNvSpPr txBox="1"/>
          <p:nvPr/>
        </p:nvSpPr>
        <p:spPr>
          <a:xfrm>
            <a:off x="9985248" y="4940987"/>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940987"/>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5211004"/>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5211004"/>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4" name="Shape 192"/>
          <p:cNvSpPr/>
          <p:nvPr/>
        </p:nvSpPr>
        <p:spPr>
          <a:xfrm>
            <a:off x="8421624" y="5271758"/>
            <a:ext cx="67141" cy="148509"/>
          </a:xfrm>
          <a:prstGeom prst="rect">
            <a:avLst/>
          </a:prstGeom>
          <a:solidFill>
            <a:srgbClr val="2587C5"/>
          </a:solidFill>
          <a:ln/>
        </p:spPr>
      </p:sp>
      <p:sp>
        <p:nvSpPr>
          <p:cNvPr id="195" name="Text 193"/>
          <p:cNvSpPr txBox="1"/>
          <p:nvPr/>
        </p:nvSpPr>
        <p:spPr>
          <a:xfrm>
            <a:off x="9025128" y="5211004"/>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$5,294</a:t>
            </a:r>
            <a:endParaRPr lang="en-US" sz="1300" dirty="0"/>
          </a:p>
        </p:txBody>
      </p:sp>
      <p:sp>
        <p:nvSpPr>
          <p:cNvPr id="196" name="Text 194"/>
          <p:cNvSpPr txBox="1"/>
          <p:nvPr/>
        </p:nvSpPr>
        <p:spPr>
          <a:xfrm>
            <a:off x="9985248" y="5211004"/>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5211004"/>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481021"/>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481021"/>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00" name="Shape 198"/>
          <p:cNvSpPr/>
          <p:nvPr/>
        </p:nvSpPr>
        <p:spPr>
          <a:xfrm>
            <a:off x="8421624" y="5541775"/>
            <a:ext cx="54968" cy="148509"/>
          </a:xfrm>
          <a:prstGeom prst="rect">
            <a:avLst/>
          </a:prstGeom>
          <a:solidFill>
            <a:srgbClr val="2587C5"/>
          </a:solidFill>
          <a:ln/>
        </p:spPr>
      </p:sp>
      <p:sp>
        <p:nvSpPr>
          <p:cNvPr id="201" name="Text 199"/>
          <p:cNvSpPr txBox="1"/>
          <p:nvPr/>
        </p:nvSpPr>
        <p:spPr>
          <a:xfrm>
            <a:off x="9025128" y="5481021"/>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$4,334</a:t>
            </a:r>
            <a:endParaRPr lang="en-US" sz="1300" dirty="0"/>
          </a:p>
        </p:txBody>
      </p:sp>
      <p:sp>
        <p:nvSpPr>
          <p:cNvPr id="202" name="Text 200"/>
          <p:cNvSpPr txBox="1"/>
          <p:nvPr/>
        </p:nvSpPr>
        <p:spPr>
          <a:xfrm>
            <a:off x="9985248" y="5481021"/>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481021"/>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751038"/>
            <a:ext cx="310896" cy="27001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751038"/>
            <a:ext cx="1783080" cy="27001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811792"/>
            <a:ext cx="43862" cy="148509"/>
          </a:xfrm>
          <a:prstGeom prst="rect">
            <a:avLst/>
          </a:prstGeom>
          <a:solidFill>
            <a:srgbClr val="2587C5"/>
          </a:solidFill>
          <a:ln/>
        </p:spPr>
      </p:sp>
      <p:sp>
        <p:nvSpPr>
          <p:cNvPr id="207" name="Text 205"/>
          <p:cNvSpPr txBox="1"/>
          <p:nvPr/>
        </p:nvSpPr>
        <p:spPr>
          <a:xfrm>
            <a:off x="9025128" y="5751038"/>
            <a:ext cx="960120" cy="270017"/>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$3,458</a:t>
            </a:r>
            <a:endParaRPr lang="en-US" sz="1300" dirty="0"/>
          </a:p>
        </p:txBody>
      </p:sp>
      <p:sp>
        <p:nvSpPr>
          <p:cNvPr id="208" name="Text 206"/>
          <p:cNvSpPr txBox="1"/>
          <p:nvPr/>
        </p:nvSpPr>
        <p:spPr>
          <a:xfrm>
            <a:off x="9985248" y="5751038"/>
            <a:ext cx="731520"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751038"/>
            <a:ext cx="749808" cy="270017"/>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590288"/>
          </a:xfrm>
          <a:prstGeom prst="rect">
            <a:avLst/>
          </a:prstGeom>
          <a:solidFill>
            <a:srgbClr val="D9D9D9"/>
          </a:solidFill>
          <a:ln/>
        </p:spPr>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257800" cy="4782312"/>
          </a:xfrm>
          <a:prstGeom prst="rect">
            <a:avLst/>
          </a:prstGeom>
          <a:solidFill>
            <a:srgbClr val="FFFFFF"/>
          </a:solidFill>
          <a:ln/>
        </p:spPr>
      </p:sp>
      <p:sp>
        <p:nvSpPr>
          <p:cNvPr id="6" name="Text 4"/>
          <p:cNvSpPr txBox="1"/>
          <p:nvPr/>
        </p:nvSpPr>
        <p:spPr>
          <a:xfrm>
            <a:off x="658368" y="1316736"/>
            <a:ext cx="329184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RATE INCREASES IN 2026</a:t>
            </a:r>
            <a:endParaRPr lang="en-US" sz="1400" dirty="0"/>
          </a:p>
        </p:txBody>
      </p:sp>
      <p:sp>
        <p:nvSpPr>
          <p:cNvPr id="7" name="Text 5"/>
          <p:cNvSpPr txBox="1"/>
          <p:nvPr/>
        </p:nvSpPr>
        <p:spPr>
          <a:xfrm>
            <a:off x="3886200" y="1280160"/>
            <a:ext cx="1627632" cy="365760"/>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$3.79M GP</a:t>
            </a:r>
            <a:endParaRPr lang="en-US" sz="2000" dirty="0"/>
          </a:p>
        </p:txBody>
      </p:sp>
      <p:sp>
        <p:nvSpPr>
          <p:cNvPr id="8" name="Text 6"/>
          <p:cNvSpPr txBox="1"/>
          <p:nvPr/>
        </p:nvSpPr>
        <p:spPr>
          <a:xfrm>
            <a:off x="658368" y="173736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 name="Shape 7"/>
          <p:cNvSpPr/>
          <p:nvPr/>
        </p:nvSpPr>
        <p:spPr>
          <a:xfrm>
            <a:off x="2697480" y="1785323"/>
            <a:ext cx="1965960" cy="122087"/>
          </a:xfrm>
          <a:prstGeom prst="rect">
            <a:avLst/>
          </a:prstGeom>
          <a:solidFill>
            <a:srgbClr val="2587C5"/>
          </a:solidFill>
          <a:ln/>
        </p:spPr>
      </p:sp>
      <p:sp>
        <p:nvSpPr>
          <p:cNvPr id="10" name="Text 8"/>
          <p:cNvSpPr txBox="1"/>
          <p:nvPr/>
        </p:nvSpPr>
        <p:spPr>
          <a:xfrm>
            <a:off x="4709160" y="173736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$798K</a:t>
            </a:r>
            <a:endParaRPr lang="en-US" sz="1200" dirty="0"/>
          </a:p>
        </p:txBody>
      </p:sp>
      <p:sp>
        <p:nvSpPr>
          <p:cNvPr id="11" name="Text 9"/>
          <p:cNvSpPr txBox="1"/>
          <p:nvPr/>
        </p:nvSpPr>
        <p:spPr>
          <a:xfrm>
            <a:off x="658368" y="195537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 name="Shape 10"/>
          <p:cNvSpPr/>
          <p:nvPr/>
        </p:nvSpPr>
        <p:spPr>
          <a:xfrm>
            <a:off x="2697480" y="2003335"/>
            <a:ext cx="1141730" cy="122087"/>
          </a:xfrm>
          <a:prstGeom prst="rect">
            <a:avLst/>
          </a:prstGeom>
          <a:solidFill>
            <a:srgbClr val="2587C5"/>
          </a:solidFill>
          <a:ln/>
        </p:spPr>
      </p:sp>
      <p:sp>
        <p:nvSpPr>
          <p:cNvPr id="13" name="Text 11"/>
          <p:cNvSpPr txBox="1"/>
          <p:nvPr/>
        </p:nvSpPr>
        <p:spPr>
          <a:xfrm>
            <a:off x="4709160" y="195537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$463K</a:t>
            </a:r>
            <a:endParaRPr lang="en-US" sz="1200" dirty="0"/>
          </a:p>
        </p:txBody>
      </p:sp>
      <p:sp>
        <p:nvSpPr>
          <p:cNvPr id="14" name="Text 12"/>
          <p:cNvSpPr txBox="1"/>
          <p:nvPr/>
        </p:nvSpPr>
        <p:spPr>
          <a:xfrm>
            <a:off x="658368" y="217338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5" name="Shape 13"/>
          <p:cNvSpPr/>
          <p:nvPr/>
        </p:nvSpPr>
        <p:spPr>
          <a:xfrm>
            <a:off x="2697480" y="2221347"/>
            <a:ext cx="847479" cy="122087"/>
          </a:xfrm>
          <a:prstGeom prst="rect">
            <a:avLst/>
          </a:prstGeom>
          <a:solidFill>
            <a:srgbClr val="2587C5"/>
          </a:solidFill>
          <a:ln/>
        </p:spPr>
      </p:sp>
      <p:sp>
        <p:nvSpPr>
          <p:cNvPr id="16" name="Text 14"/>
          <p:cNvSpPr txBox="1"/>
          <p:nvPr/>
        </p:nvSpPr>
        <p:spPr>
          <a:xfrm>
            <a:off x="4709160" y="217338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$344K</a:t>
            </a:r>
            <a:endParaRPr lang="en-US" sz="1200" dirty="0"/>
          </a:p>
        </p:txBody>
      </p:sp>
      <p:sp>
        <p:nvSpPr>
          <p:cNvPr id="17" name="Text 15"/>
          <p:cNvSpPr txBox="1"/>
          <p:nvPr/>
        </p:nvSpPr>
        <p:spPr>
          <a:xfrm>
            <a:off x="658368" y="239139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8" name="Shape 16"/>
          <p:cNvSpPr/>
          <p:nvPr/>
        </p:nvSpPr>
        <p:spPr>
          <a:xfrm>
            <a:off x="2697480" y="2439359"/>
            <a:ext cx="802598" cy="122087"/>
          </a:xfrm>
          <a:prstGeom prst="rect">
            <a:avLst/>
          </a:prstGeom>
          <a:solidFill>
            <a:srgbClr val="2587C5"/>
          </a:solidFill>
          <a:ln/>
        </p:spPr>
      </p:sp>
      <p:sp>
        <p:nvSpPr>
          <p:cNvPr id="19" name="Text 17"/>
          <p:cNvSpPr txBox="1"/>
          <p:nvPr/>
        </p:nvSpPr>
        <p:spPr>
          <a:xfrm>
            <a:off x="4709160" y="239139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$326K</a:t>
            </a:r>
            <a:endParaRPr lang="en-US" sz="1200" dirty="0"/>
          </a:p>
        </p:txBody>
      </p:sp>
      <p:sp>
        <p:nvSpPr>
          <p:cNvPr id="20" name="Text 18"/>
          <p:cNvSpPr txBox="1"/>
          <p:nvPr/>
        </p:nvSpPr>
        <p:spPr>
          <a:xfrm>
            <a:off x="658368" y="260940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2697480" y="2657372"/>
            <a:ext cx="719577" cy="122087"/>
          </a:xfrm>
          <a:prstGeom prst="rect">
            <a:avLst/>
          </a:prstGeom>
          <a:solidFill>
            <a:srgbClr val="2587C5"/>
          </a:solidFill>
          <a:ln/>
        </p:spPr>
      </p:sp>
      <p:sp>
        <p:nvSpPr>
          <p:cNvPr id="22" name="Text 20"/>
          <p:cNvSpPr txBox="1"/>
          <p:nvPr/>
        </p:nvSpPr>
        <p:spPr>
          <a:xfrm>
            <a:off x="4709160" y="260940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$292K</a:t>
            </a:r>
            <a:endParaRPr lang="en-US" sz="1200" dirty="0"/>
          </a:p>
        </p:txBody>
      </p:sp>
      <p:sp>
        <p:nvSpPr>
          <p:cNvPr id="23" name="Text 21"/>
          <p:cNvSpPr txBox="1"/>
          <p:nvPr/>
        </p:nvSpPr>
        <p:spPr>
          <a:xfrm>
            <a:off x="658368" y="282742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2697480" y="2875384"/>
            <a:ext cx="698703" cy="122087"/>
          </a:xfrm>
          <a:prstGeom prst="rect">
            <a:avLst/>
          </a:prstGeom>
          <a:solidFill>
            <a:srgbClr val="2587C5"/>
          </a:solidFill>
          <a:ln/>
        </p:spPr>
      </p:sp>
      <p:sp>
        <p:nvSpPr>
          <p:cNvPr id="25" name="Text 23"/>
          <p:cNvSpPr txBox="1"/>
          <p:nvPr/>
        </p:nvSpPr>
        <p:spPr>
          <a:xfrm>
            <a:off x="4709160" y="282742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$284K</a:t>
            </a:r>
            <a:endParaRPr lang="en-US" sz="1200" dirty="0"/>
          </a:p>
        </p:txBody>
      </p:sp>
      <p:sp>
        <p:nvSpPr>
          <p:cNvPr id="26" name="Text 24"/>
          <p:cNvSpPr txBox="1"/>
          <p:nvPr/>
        </p:nvSpPr>
        <p:spPr>
          <a:xfrm>
            <a:off x="658368" y="304543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2697480" y="3093396"/>
            <a:ext cx="555249" cy="122087"/>
          </a:xfrm>
          <a:prstGeom prst="rect">
            <a:avLst/>
          </a:prstGeom>
          <a:solidFill>
            <a:srgbClr val="2587C5"/>
          </a:solidFill>
          <a:ln/>
        </p:spPr>
      </p:sp>
      <p:sp>
        <p:nvSpPr>
          <p:cNvPr id="28" name="Text 26"/>
          <p:cNvSpPr txBox="1"/>
          <p:nvPr/>
        </p:nvSpPr>
        <p:spPr>
          <a:xfrm>
            <a:off x="4709160" y="304543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$225K</a:t>
            </a:r>
            <a:endParaRPr lang="en-US" sz="1200" dirty="0"/>
          </a:p>
        </p:txBody>
      </p:sp>
      <p:sp>
        <p:nvSpPr>
          <p:cNvPr id="29" name="Text 27"/>
          <p:cNvSpPr txBox="1"/>
          <p:nvPr/>
        </p:nvSpPr>
        <p:spPr>
          <a:xfrm>
            <a:off x="658368" y="326344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0" name="Shape 28"/>
          <p:cNvSpPr/>
          <p:nvPr/>
        </p:nvSpPr>
        <p:spPr>
          <a:xfrm>
            <a:off x="2697480" y="3311408"/>
            <a:ext cx="515601" cy="122087"/>
          </a:xfrm>
          <a:prstGeom prst="rect">
            <a:avLst/>
          </a:prstGeom>
          <a:solidFill>
            <a:srgbClr val="2587C5"/>
          </a:solidFill>
          <a:ln/>
        </p:spPr>
      </p:sp>
      <p:sp>
        <p:nvSpPr>
          <p:cNvPr id="31" name="Text 29"/>
          <p:cNvSpPr txBox="1"/>
          <p:nvPr/>
        </p:nvSpPr>
        <p:spPr>
          <a:xfrm>
            <a:off x="4709160" y="326344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$209K</a:t>
            </a:r>
            <a:endParaRPr lang="en-US" sz="1200" dirty="0"/>
          </a:p>
        </p:txBody>
      </p:sp>
      <p:sp>
        <p:nvSpPr>
          <p:cNvPr id="32" name="Text 30"/>
          <p:cNvSpPr txBox="1"/>
          <p:nvPr/>
        </p:nvSpPr>
        <p:spPr>
          <a:xfrm>
            <a:off x="658368" y="348145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2697480" y="3529420"/>
            <a:ext cx="359936" cy="122087"/>
          </a:xfrm>
          <a:prstGeom prst="rect">
            <a:avLst/>
          </a:prstGeom>
          <a:solidFill>
            <a:srgbClr val="2587C5"/>
          </a:solidFill>
          <a:ln/>
        </p:spPr>
      </p:sp>
      <p:sp>
        <p:nvSpPr>
          <p:cNvPr id="34" name="Text 32"/>
          <p:cNvSpPr txBox="1"/>
          <p:nvPr/>
        </p:nvSpPr>
        <p:spPr>
          <a:xfrm>
            <a:off x="4709160" y="348145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$146K</a:t>
            </a:r>
            <a:endParaRPr lang="en-US" sz="1200" dirty="0"/>
          </a:p>
        </p:txBody>
      </p:sp>
      <p:sp>
        <p:nvSpPr>
          <p:cNvPr id="35" name="Text 33"/>
          <p:cNvSpPr txBox="1"/>
          <p:nvPr/>
        </p:nvSpPr>
        <p:spPr>
          <a:xfrm>
            <a:off x="658368" y="369947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6" name="Shape 34"/>
          <p:cNvSpPr/>
          <p:nvPr/>
        </p:nvSpPr>
        <p:spPr>
          <a:xfrm>
            <a:off x="2697480" y="3747433"/>
            <a:ext cx="329395" cy="122087"/>
          </a:xfrm>
          <a:prstGeom prst="rect">
            <a:avLst/>
          </a:prstGeom>
          <a:solidFill>
            <a:srgbClr val="2587C5"/>
          </a:solidFill>
          <a:ln/>
        </p:spPr>
      </p:sp>
      <p:sp>
        <p:nvSpPr>
          <p:cNvPr id="37" name="Text 35"/>
          <p:cNvSpPr txBox="1"/>
          <p:nvPr/>
        </p:nvSpPr>
        <p:spPr>
          <a:xfrm>
            <a:off x="4709160" y="369947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$134K</a:t>
            </a:r>
            <a:endParaRPr lang="en-US" sz="1200" dirty="0"/>
          </a:p>
        </p:txBody>
      </p:sp>
      <p:sp>
        <p:nvSpPr>
          <p:cNvPr id="38" name="Text 36"/>
          <p:cNvSpPr txBox="1"/>
          <p:nvPr/>
        </p:nvSpPr>
        <p:spPr>
          <a:xfrm>
            <a:off x="658368" y="391748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9" name="Shape 37"/>
          <p:cNvSpPr/>
          <p:nvPr/>
        </p:nvSpPr>
        <p:spPr>
          <a:xfrm>
            <a:off x="2697480" y="3965445"/>
            <a:ext cx="237178" cy="122087"/>
          </a:xfrm>
          <a:prstGeom prst="rect">
            <a:avLst/>
          </a:prstGeom>
          <a:solidFill>
            <a:srgbClr val="2587C5"/>
          </a:solidFill>
          <a:ln/>
        </p:spPr>
      </p:sp>
      <p:sp>
        <p:nvSpPr>
          <p:cNvPr id="40" name="Text 38"/>
          <p:cNvSpPr txBox="1"/>
          <p:nvPr/>
        </p:nvSpPr>
        <p:spPr>
          <a:xfrm>
            <a:off x="4709160" y="391748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$96K</a:t>
            </a:r>
            <a:endParaRPr lang="en-US" sz="1200" dirty="0"/>
          </a:p>
        </p:txBody>
      </p:sp>
      <p:sp>
        <p:nvSpPr>
          <p:cNvPr id="41" name="Text 39"/>
          <p:cNvSpPr txBox="1"/>
          <p:nvPr/>
        </p:nvSpPr>
        <p:spPr>
          <a:xfrm>
            <a:off x="658368" y="413549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2697480" y="4183457"/>
            <a:ext cx="233128" cy="122087"/>
          </a:xfrm>
          <a:prstGeom prst="rect">
            <a:avLst/>
          </a:prstGeom>
          <a:solidFill>
            <a:srgbClr val="2587C5"/>
          </a:solidFill>
          <a:ln/>
        </p:spPr>
      </p:sp>
      <p:sp>
        <p:nvSpPr>
          <p:cNvPr id="43" name="Text 41"/>
          <p:cNvSpPr txBox="1"/>
          <p:nvPr/>
        </p:nvSpPr>
        <p:spPr>
          <a:xfrm>
            <a:off x="4709160" y="413549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$95K</a:t>
            </a:r>
            <a:endParaRPr lang="en-US" sz="1200" dirty="0"/>
          </a:p>
        </p:txBody>
      </p:sp>
      <p:sp>
        <p:nvSpPr>
          <p:cNvPr id="44" name="Text 42"/>
          <p:cNvSpPr txBox="1"/>
          <p:nvPr/>
        </p:nvSpPr>
        <p:spPr>
          <a:xfrm>
            <a:off x="658368" y="435350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2697480" y="4401469"/>
            <a:ext cx="229669" cy="122087"/>
          </a:xfrm>
          <a:prstGeom prst="rect">
            <a:avLst/>
          </a:prstGeom>
          <a:solidFill>
            <a:srgbClr val="2587C5"/>
          </a:solidFill>
          <a:ln/>
        </p:spPr>
      </p:sp>
      <p:sp>
        <p:nvSpPr>
          <p:cNvPr id="46" name="Text 44"/>
          <p:cNvSpPr txBox="1"/>
          <p:nvPr/>
        </p:nvSpPr>
        <p:spPr>
          <a:xfrm>
            <a:off x="4709160" y="435350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$93K</a:t>
            </a:r>
            <a:endParaRPr lang="en-US" sz="1200" dirty="0"/>
          </a:p>
        </p:txBody>
      </p:sp>
      <p:sp>
        <p:nvSpPr>
          <p:cNvPr id="47" name="Text 45"/>
          <p:cNvSpPr txBox="1"/>
          <p:nvPr/>
        </p:nvSpPr>
        <p:spPr>
          <a:xfrm>
            <a:off x="658368" y="457151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2697480" y="4619481"/>
            <a:ext cx="223401" cy="122087"/>
          </a:xfrm>
          <a:prstGeom prst="rect">
            <a:avLst/>
          </a:prstGeom>
          <a:solidFill>
            <a:srgbClr val="2587C5"/>
          </a:solidFill>
          <a:ln/>
        </p:spPr>
      </p:sp>
      <p:sp>
        <p:nvSpPr>
          <p:cNvPr id="49" name="Text 47"/>
          <p:cNvSpPr txBox="1"/>
          <p:nvPr/>
        </p:nvSpPr>
        <p:spPr>
          <a:xfrm>
            <a:off x="4709160" y="457151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$91K</a:t>
            </a:r>
            <a:endParaRPr lang="en-US" sz="1200" dirty="0"/>
          </a:p>
        </p:txBody>
      </p:sp>
      <p:sp>
        <p:nvSpPr>
          <p:cNvPr id="50" name="Text 48"/>
          <p:cNvSpPr txBox="1"/>
          <p:nvPr/>
        </p:nvSpPr>
        <p:spPr>
          <a:xfrm>
            <a:off x="658368" y="478953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1" name="Shape 49"/>
          <p:cNvSpPr/>
          <p:nvPr/>
        </p:nvSpPr>
        <p:spPr>
          <a:xfrm>
            <a:off x="2697480" y="4837494"/>
            <a:ext cx="184669" cy="122087"/>
          </a:xfrm>
          <a:prstGeom prst="rect">
            <a:avLst/>
          </a:prstGeom>
          <a:solidFill>
            <a:srgbClr val="2587C5"/>
          </a:solidFill>
          <a:ln/>
        </p:spPr>
      </p:sp>
      <p:sp>
        <p:nvSpPr>
          <p:cNvPr id="52" name="Text 50"/>
          <p:cNvSpPr txBox="1"/>
          <p:nvPr/>
        </p:nvSpPr>
        <p:spPr>
          <a:xfrm>
            <a:off x="4709160" y="478953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$75K</a:t>
            </a:r>
            <a:endParaRPr lang="en-US" sz="1200" dirty="0"/>
          </a:p>
        </p:txBody>
      </p:sp>
      <p:sp>
        <p:nvSpPr>
          <p:cNvPr id="53" name="Text 51"/>
          <p:cNvSpPr txBox="1"/>
          <p:nvPr/>
        </p:nvSpPr>
        <p:spPr>
          <a:xfrm>
            <a:off x="658368" y="500754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2697480" y="5055506"/>
            <a:ext cx="151614" cy="122087"/>
          </a:xfrm>
          <a:prstGeom prst="rect">
            <a:avLst/>
          </a:prstGeom>
          <a:solidFill>
            <a:srgbClr val="2587C5"/>
          </a:solidFill>
          <a:ln/>
        </p:spPr>
      </p:sp>
      <p:sp>
        <p:nvSpPr>
          <p:cNvPr id="55" name="Text 53"/>
          <p:cNvSpPr txBox="1"/>
          <p:nvPr/>
        </p:nvSpPr>
        <p:spPr>
          <a:xfrm>
            <a:off x="4709160" y="500754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$62K</a:t>
            </a:r>
            <a:endParaRPr lang="en-US" sz="1200" dirty="0"/>
          </a:p>
        </p:txBody>
      </p:sp>
      <p:sp>
        <p:nvSpPr>
          <p:cNvPr id="56" name="Text 54"/>
          <p:cNvSpPr txBox="1"/>
          <p:nvPr/>
        </p:nvSpPr>
        <p:spPr>
          <a:xfrm>
            <a:off x="658368" y="522555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2697480" y="5273518"/>
            <a:ext cx="86983" cy="122087"/>
          </a:xfrm>
          <a:prstGeom prst="rect">
            <a:avLst/>
          </a:prstGeom>
          <a:solidFill>
            <a:srgbClr val="2587C5"/>
          </a:solidFill>
          <a:ln/>
        </p:spPr>
      </p:sp>
      <p:sp>
        <p:nvSpPr>
          <p:cNvPr id="58" name="Text 56"/>
          <p:cNvSpPr txBox="1"/>
          <p:nvPr/>
        </p:nvSpPr>
        <p:spPr>
          <a:xfrm>
            <a:off x="4709160" y="522555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$35K</a:t>
            </a:r>
            <a:endParaRPr lang="en-US" sz="1200" dirty="0"/>
          </a:p>
        </p:txBody>
      </p:sp>
      <p:sp>
        <p:nvSpPr>
          <p:cNvPr id="59" name="Text 57"/>
          <p:cNvSpPr txBox="1"/>
          <p:nvPr/>
        </p:nvSpPr>
        <p:spPr>
          <a:xfrm>
            <a:off x="658368" y="544356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0" name="Shape 58"/>
          <p:cNvSpPr/>
          <p:nvPr/>
        </p:nvSpPr>
        <p:spPr>
          <a:xfrm>
            <a:off x="2697480" y="5491530"/>
            <a:ext cx="37460" cy="122087"/>
          </a:xfrm>
          <a:prstGeom prst="rect">
            <a:avLst/>
          </a:prstGeom>
          <a:solidFill>
            <a:srgbClr val="2587C5"/>
          </a:solidFill>
          <a:ln/>
        </p:spPr>
      </p:sp>
      <p:sp>
        <p:nvSpPr>
          <p:cNvPr id="61" name="Text 59"/>
          <p:cNvSpPr txBox="1"/>
          <p:nvPr/>
        </p:nvSpPr>
        <p:spPr>
          <a:xfrm>
            <a:off x="4709160" y="544356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$15K</a:t>
            </a:r>
            <a:endParaRPr lang="en-US" sz="1200" dirty="0"/>
          </a:p>
        </p:txBody>
      </p:sp>
      <p:sp>
        <p:nvSpPr>
          <p:cNvPr id="62" name="Text 60"/>
          <p:cNvSpPr txBox="1"/>
          <p:nvPr/>
        </p:nvSpPr>
        <p:spPr>
          <a:xfrm>
            <a:off x="658368" y="566158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3" name="Shape 61"/>
          <p:cNvSpPr/>
          <p:nvPr/>
        </p:nvSpPr>
        <p:spPr>
          <a:xfrm>
            <a:off x="2697480" y="5709542"/>
            <a:ext cx="18288" cy="122087"/>
          </a:xfrm>
          <a:prstGeom prst="rect">
            <a:avLst/>
          </a:prstGeom>
          <a:solidFill>
            <a:srgbClr val="2587C5"/>
          </a:solidFill>
          <a:ln/>
        </p:spPr>
      </p:sp>
      <p:sp>
        <p:nvSpPr>
          <p:cNvPr id="64" name="Text 62"/>
          <p:cNvSpPr txBox="1"/>
          <p:nvPr/>
        </p:nvSpPr>
        <p:spPr>
          <a:xfrm>
            <a:off x="4709160" y="566158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$5K</a:t>
            </a:r>
            <a:endParaRPr lang="en-US" sz="1200" dirty="0"/>
          </a:p>
        </p:txBody>
      </p:sp>
      <p:sp>
        <p:nvSpPr>
          <p:cNvPr id="65" name="Shape 63"/>
          <p:cNvSpPr/>
          <p:nvPr/>
        </p:nvSpPr>
        <p:spPr>
          <a:xfrm>
            <a:off x="5870448" y="1207008"/>
            <a:ext cx="5861304" cy="2336292"/>
          </a:xfrm>
          <a:prstGeom prst="rect">
            <a:avLst/>
          </a:prstGeom>
          <a:solidFill>
            <a:srgbClr val="FFFFFF"/>
          </a:solidFill>
          <a:ln/>
        </p:spPr>
      </p:sp>
      <p:sp>
        <p:nvSpPr>
          <p:cNvPr id="66" name="Text 64"/>
          <p:cNvSpPr txBox="1"/>
          <p:nvPr/>
        </p:nvSpPr>
        <p:spPr>
          <a:xfrm>
            <a:off x="6053328" y="128016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ELR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$180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$197</a:t>
            </a:r>
            <a:endParaRPr lang="en-US" sz="1400" dirty="0"/>
          </a:p>
        </p:txBody>
      </p:sp>
      <p:graphicFrame>
        <p:nvGraphicFramePr>
          <p:cNvPr id="67" name="Chart 0" descr=""/>
          <p:cNvGraphicFramePr/>
          <p:nvPr/>
        </p:nvGraphicFramePr>
        <p:xfrm>
          <a:off x="5916168" y="1591056"/>
          <a:ext cx="5769864" cy="1897380"/>
        </p:xfrm>
        <a:graphic>
          <a:graphicData uri="http://schemas.openxmlformats.org/drawingml/2006/chart">
            <c:chart xmlns:c="http://schemas.openxmlformats.org/drawingml/2006/chart" r:id="rId2"/>
          </a:graphicData>
        </a:graphic>
      </p:graphicFrame>
      <p:sp>
        <p:nvSpPr>
          <p:cNvPr id="68" name="Shape 65"/>
          <p:cNvSpPr/>
          <p:nvPr/>
        </p:nvSpPr>
        <p:spPr>
          <a:xfrm>
            <a:off x="5870448" y="3653028"/>
            <a:ext cx="5861304" cy="2336292"/>
          </a:xfrm>
          <a:prstGeom prst="rect">
            <a:avLst/>
          </a:prstGeom>
          <a:solidFill>
            <a:srgbClr val="FFFFFF"/>
          </a:solidFill>
          <a:ln/>
        </p:spPr>
      </p:sp>
      <p:sp>
        <p:nvSpPr>
          <p:cNvPr id="69" name="Text 66"/>
          <p:cNvSpPr txBox="1"/>
          <p:nvPr/>
        </p:nvSpPr>
        <p:spPr>
          <a:xfrm>
            <a:off x="6053328" y="372618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PARTS GP %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42.6%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44.7%</a:t>
            </a:r>
            <a:endParaRPr lang="en-US" sz="1400" dirty="0"/>
          </a:p>
        </p:txBody>
      </p:sp>
      <p:graphicFrame>
        <p:nvGraphicFramePr>
          <p:cNvPr id="70" name="Chart 1" descr=""/>
          <p:cNvGraphicFramePr/>
          <p:nvPr/>
        </p:nvGraphicFramePr>
        <p:xfrm>
          <a:off x="5916168" y="4037076"/>
          <a:ext cx="5769864" cy="1897380"/>
        </p:xfrm>
        <a:graphic>
          <a:graphicData uri="http://schemas.openxmlformats.org/drawingml/2006/chart">
            <c:chart xmlns:c="http://schemas.openxmlformats.org/drawingml/2006/chart" r:id="rId3"/>
          </a:graphicData>
        </a:graphic>
      </p:graphicFrame>
      <p:sp>
        <p:nvSpPr>
          <p:cNvPr id="71" name="Shape 67"/>
          <p:cNvSpPr/>
          <p:nvPr/>
        </p:nvSpPr>
        <p:spPr>
          <a:xfrm>
            <a:off x="457200" y="6126480"/>
            <a:ext cx="11274552" cy="615696"/>
          </a:xfrm>
          <a:prstGeom prst="rect">
            <a:avLst/>
          </a:prstGeom>
          <a:solidFill>
            <a:srgbClr val="EDF4FA"/>
          </a:solidFill>
          <a:ln/>
        </p:spPr>
      </p:sp>
      <p:sp>
        <p:nvSpPr>
          <p:cNvPr id="72"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$3,788,200 in gross profit added by rate increases approved at 19 stores this year. Warranty ELR is up $17 and parts margin 2.1 pts: higher rates draw more audits, so every claim has to hold up.</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best September at +$877K. This is money the manufacturer owes us: process keeps it.</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79080"/>
            <a:ext cx="1575158"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26014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701901"/>
            <a:ext cx="1234738"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916344"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224723"/>
            <a:ext cx="60866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486134"/>
            <a:ext cx="539977"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747545"/>
            <a:ext cx="45448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4008956"/>
            <a:ext cx="447286"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270366"/>
            <a:ext cx="326866"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531777"/>
            <a:ext cx="311228"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793188"/>
            <a:ext cx="305091"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5054599"/>
            <a:ext cx="301867"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316010"/>
            <a:ext cx="29832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577420"/>
            <a:ext cx="286844"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838831"/>
            <a:ext cx="27451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6100242"/>
            <a:ext cx="268967"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7669"/>
            <a:ext cx="260447"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79080"/>
            <a:ext cx="257699"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440491"/>
            <a:ext cx="249576"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701901"/>
            <a:ext cx="242561"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963312"/>
            <a:ext cx="224764"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224723"/>
            <a:ext cx="209887"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486134"/>
            <a:ext cx="197473"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747545"/>
            <a:ext cx="172153"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4008956"/>
            <a:ext cx="170825"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270366"/>
            <a:ext cx="170412"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52644"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793188"/>
            <a:ext cx="144143"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5054599"/>
            <a:ext cx="12012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316010"/>
            <a:ext cx="113234"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6513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838831"/>
            <a:ext cx="40300"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90" name="Shape 187"/>
          <p:cNvSpPr/>
          <p:nvPr/>
        </p:nvSpPr>
        <p:spPr>
          <a:xfrm>
            <a:off x="457200" y="6126480"/>
            <a:ext cx="11274552" cy="371856"/>
          </a:xfrm>
          <a:prstGeom prst="rect">
            <a:avLst/>
          </a:prstGeom>
          <a:solidFill>
            <a:srgbClr val="E6F6EE"/>
          </a:solidFill>
          <a:ln/>
        </p:spPr>
      </p:sp>
      <p:sp>
        <p:nvSpPr>
          <p:cNvPr id="191" name="Text 18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41" name="Shape 39"/>
          <p:cNvSpPr/>
          <p:nvPr/>
        </p:nvSpPr>
        <p:spPr>
          <a:xfrm>
            <a:off x="7775448" y="4625035"/>
            <a:ext cx="64008" cy="755294"/>
          </a:xfrm>
          <a:prstGeom prst="rect">
            <a:avLst/>
          </a:prstGeom>
          <a:solidFill>
            <a:srgbClr val="2587C5"/>
          </a:solidFill>
          <a:ln/>
        </p:spPr>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Shape 51"/>
          <p:cNvSpPr/>
          <p:nvPr/>
        </p:nvSpPr>
        <p:spPr>
          <a:xfrm>
            <a:off x="11466576" y="2139696"/>
            <a:ext cx="64008" cy="755294"/>
          </a:xfrm>
          <a:prstGeom prst="rect">
            <a:avLst/>
          </a:prstGeom>
          <a:solidFill>
            <a:srgbClr val="2587C5"/>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7" name="Shape 45"/>
          <p:cNvSpPr/>
          <p:nvPr/>
        </p:nvSpPr>
        <p:spPr>
          <a:xfrm>
            <a:off x="10058400" y="2937053"/>
            <a:ext cx="96012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2" name="Shape 50"/>
          <p:cNvSpPr/>
          <p:nvPr/>
        </p:nvSpPr>
        <p:spPr>
          <a:xfrm>
            <a:off x="10058400" y="3522269"/>
            <a:ext cx="96012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64008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64008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5" name="Shape 63"/>
          <p:cNvSpPr/>
          <p:nvPr/>
        </p:nvSpPr>
        <p:spPr>
          <a:xfrm>
            <a:off x="10058400" y="5277917"/>
            <a:ext cx="64008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8" name="Shape 65"/>
          <p:cNvSpPr/>
          <p:nvPr/>
        </p:nvSpPr>
        <p:spPr>
          <a:xfrm>
            <a:off x="457200" y="6126480"/>
            <a:ext cx="11274552" cy="371856"/>
          </a:xfrm>
          <a:prstGeom prst="rect">
            <a:avLst/>
          </a:prstGeom>
          <a:solidFill>
            <a:srgbClr val="E6F6EE"/>
          </a:solidFill>
          <a:ln/>
        </p:spPr>
      </p:sp>
      <p:sp>
        <p:nvSpPr>
          <p:cNvPr id="69"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Moving now: Three stores tie. Eight stores make both views.</a:t>
            </a:r>
            <a:endParaRPr lang="en-US" sz="160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44" name="Shape 42"/>
          <p:cNvSpPr/>
          <p:nvPr/>
        </p:nvSpPr>
        <p:spPr>
          <a:xfrm>
            <a:off x="457200" y="6126480"/>
            <a:ext cx="11274552" cy="364236"/>
          </a:xfrm>
          <a:prstGeom prst="rect">
            <a:avLst/>
          </a:prstGeom>
          <a:solidFill>
            <a:srgbClr val="EDF4FA"/>
          </a:solidFill>
          <a:ln/>
        </p:spPr>
      </p:sp>
      <p:sp>
        <p:nvSpPr>
          <p:cNvPr id="45" name="Text 4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Pick the one number you will check every day, and name who owns it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Call a store that leads where you trail: ask what they do differently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We will review your commitments at the next meeting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$4.9M a year</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Every store at all four opcode benchmarks: $4,895,199 in labor and parts gross.</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to Read Your Prescription</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536192"/>
            <a:ext cx="50292" cy="590702"/>
          </a:xfrm>
          <a:prstGeom prst="rect">
            <a:avLst/>
          </a:prstGeom>
          <a:solidFill>
            <a:srgbClr val="2587C5"/>
          </a:solidFill>
          <a:ln/>
        </p:spPr>
      </p:sp>
      <p:sp>
        <p:nvSpPr>
          <p:cNvPr id="7" name="Text 5"/>
          <p:cNvSpPr txBox="1"/>
          <p:nvPr/>
        </p:nvSpPr>
        <p:spPr>
          <a:xfrm>
            <a:off x="914400" y="148132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Your vitals</a:t>
            </a:r>
            <a:endParaRPr lang="en-US" sz="1800" dirty="0"/>
          </a:p>
        </p:txBody>
      </p:sp>
      <p:sp>
        <p:nvSpPr>
          <p:cNvPr id="8" name="Text 6"/>
          <p:cNvSpPr txBox="1"/>
          <p:nvPr/>
        </p:nvSpPr>
        <p:spPr>
          <a:xfrm>
            <a:off x="3200400" y="148132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2026 year to date, with the change on 2025. Absorption reads against the group.</a:t>
            </a:r>
            <a:endParaRPr lang="en-US" sz="1700" dirty="0"/>
          </a:p>
        </p:txBody>
      </p:sp>
      <p:sp>
        <p:nvSpPr>
          <p:cNvPr id="9" name="Shape 7"/>
          <p:cNvSpPr/>
          <p:nvPr/>
        </p:nvSpPr>
        <p:spPr>
          <a:xfrm>
            <a:off x="713232" y="2401214"/>
            <a:ext cx="50292" cy="590702"/>
          </a:xfrm>
          <a:prstGeom prst="rect">
            <a:avLst/>
          </a:prstGeom>
          <a:solidFill>
            <a:srgbClr val="2587C5"/>
          </a:solidFill>
          <a:ln/>
        </p:spPr>
      </p:sp>
      <p:sp>
        <p:nvSpPr>
          <p:cNvPr id="10" name="Text 8"/>
          <p:cNvSpPr txBox="1"/>
          <p:nvPr/>
        </p:nvSpPr>
        <p:spPr>
          <a:xfrm>
            <a:off x="914400" y="2346350"/>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The bar</a:t>
            </a:r>
            <a:endParaRPr lang="en-US" sz="1800" dirty="0"/>
          </a:p>
        </p:txBody>
      </p:sp>
      <p:sp>
        <p:nvSpPr>
          <p:cNvPr id="11" name="Text 9"/>
          <p:cNvSpPr txBox="1"/>
          <p:nvPr/>
        </p:nvSpPr>
        <p:spPr>
          <a:xfrm>
            <a:off x="3200400" y="2346350"/>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Our benchmarks; else your peers' average (luxury or non-luxury), the group, or your 2025.</a:t>
            </a:r>
            <a:endParaRPr lang="en-US" sz="1700" dirty="0"/>
          </a:p>
        </p:txBody>
      </p:sp>
      <p:sp>
        <p:nvSpPr>
          <p:cNvPr id="12" name="Shape 10"/>
          <p:cNvSpPr/>
          <p:nvPr/>
        </p:nvSpPr>
        <p:spPr>
          <a:xfrm>
            <a:off x="713232" y="3266237"/>
            <a:ext cx="50292" cy="590702"/>
          </a:xfrm>
          <a:prstGeom prst="rect">
            <a:avLst/>
          </a:prstGeom>
          <a:solidFill>
            <a:srgbClr val="2587C5"/>
          </a:solidFill>
          <a:ln/>
        </p:spPr>
      </p:sp>
      <p:sp>
        <p:nvSpPr>
          <p:cNvPr id="13" name="Text 11"/>
          <p:cNvSpPr txBox="1"/>
          <p:nvPr/>
        </p:nvSpPr>
        <p:spPr>
          <a:xfrm>
            <a:off x="914400" y="3211373"/>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A year</a:t>
            </a:r>
            <a:endParaRPr lang="en-US" sz="1800" dirty="0"/>
          </a:p>
        </p:txBody>
      </p:sp>
      <p:sp>
        <p:nvSpPr>
          <p:cNvPr id="14" name="Text 12"/>
          <p:cNvSpPr txBox="1"/>
          <p:nvPr/>
        </p:nvSpPr>
        <p:spPr>
          <a:xfrm>
            <a:off x="3200400" y="3211373"/>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Jan–Sep gaps x 12/9; ELR, MPI and video Jul–Sep x 4. A CP RO is worth $342, an hour $183.</a:t>
            </a:r>
            <a:endParaRPr lang="en-US" sz="1700" dirty="0"/>
          </a:p>
        </p:txBody>
      </p:sp>
      <p:sp>
        <p:nvSpPr>
          <p:cNvPr id="15" name="Shape 13"/>
          <p:cNvSpPr/>
          <p:nvPr/>
        </p:nvSpPr>
        <p:spPr>
          <a:xfrm>
            <a:off x="713232" y="4131259"/>
            <a:ext cx="50292" cy="590702"/>
          </a:xfrm>
          <a:prstGeom prst="rect">
            <a:avLst/>
          </a:prstGeom>
          <a:solidFill>
            <a:srgbClr val="2587C5"/>
          </a:solidFill>
          <a:ln/>
        </p:spPr>
      </p:sp>
      <p:sp>
        <p:nvSpPr>
          <p:cNvPr id="16" name="Text 14"/>
          <p:cNvSpPr txBox="1"/>
          <p:nvPr/>
        </p:nvSpPr>
        <p:spPr>
          <a:xfrm>
            <a:off x="914400" y="4076395"/>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Opcodes</a:t>
            </a:r>
            <a:endParaRPr lang="en-US" sz="1800" dirty="0"/>
          </a:p>
        </p:txBody>
      </p:sp>
      <p:sp>
        <p:nvSpPr>
          <p:cNvPr id="17" name="Text 15"/>
          <p:cNvSpPr txBox="1"/>
          <p:nvPr/>
        </p:nvSpPr>
        <p:spPr>
          <a:xfrm>
            <a:off x="3200400" y="4076395"/>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Valued at your own gross per service, as the benchmark slides show them.</a:t>
            </a:r>
            <a:endParaRPr lang="en-US" sz="1700" dirty="0"/>
          </a:p>
        </p:txBody>
      </p:sp>
      <p:sp>
        <p:nvSpPr>
          <p:cNvPr id="18" name="Shape 16"/>
          <p:cNvSpPr/>
          <p:nvPr/>
        </p:nvSpPr>
        <p:spPr>
          <a:xfrm>
            <a:off x="713232" y="4996282"/>
            <a:ext cx="50292" cy="590702"/>
          </a:xfrm>
          <a:prstGeom prst="rect">
            <a:avLst/>
          </a:prstGeom>
          <a:solidFill>
            <a:srgbClr val="2587C5"/>
          </a:solidFill>
          <a:ln/>
        </p:spPr>
      </p:sp>
      <p:sp>
        <p:nvSpPr>
          <p:cNvPr id="19" name="Text 17"/>
          <p:cNvSpPr txBox="1"/>
          <p:nvPr/>
        </p:nvSpPr>
        <p:spPr>
          <a:xfrm>
            <a:off x="914400" y="4941418"/>
            <a:ext cx="2194560" cy="682142"/>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Ranked</a:t>
            </a:r>
            <a:endParaRPr lang="en-US" sz="1800" dirty="0"/>
          </a:p>
        </p:txBody>
      </p:sp>
      <p:sp>
        <p:nvSpPr>
          <p:cNvPr id="20" name="Text 18"/>
          <p:cNvSpPr txBox="1"/>
          <p:nvPr/>
        </p:nvSpPr>
        <p:spPr>
          <a:xfrm>
            <a:off x="3200400" y="4941418"/>
            <a:ext cx="8321040" cy="682142"/>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Biggest first, down to $10K a year. Lines overlap: rank them, don't add them. A dash means counted, not priced.</a:t>
            </a:r>
            <a:endParaRPr lang="en-US" sz="17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Pick the two lines you will own by the next meeting.</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Acura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$2.89M</a:t>
            </a:r>
            <a:pPr indent="0" marL="0">
              <a:buNone/>
            </a:pPr>
            <a:r>
              <a:rPr lang="en-US" sz="1400" b="1" dirty="0">
                <a:solidFill>
                  <a:srgbClr val="A82B26"/>
                </a:solidFill>
                <a:latin typeface="Inter" pitchFamily="34" charset="0"/>
                <a:ea typeface="Inter" pitchFamily="34" charset="-122"/>
                <a:cs typeface="Inter" pitchFamily="34" charset="-120"/>
              </a:rPr>
              <a:t>  −$517K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$476,154</a:t>
            </a:r>
            <a:pPr indent="0" marL="0">
              <a:buNone/>
            </a:pPr>
            <a:r>
              <a:rPr lang="en-US" sz="1400" b="1" dirty="0">
                <a:solidFill>
                  <a:srgbClr val="0B7A4A"/>
                </a:solidFill>
                <a:latin typeface="Inter" pitchFamily="34" charset="0"/>
                <a:ea typeface="Inter" pitchFamily="34" charset="-122"/>
                <a:cs typeface="Inter" pitchFamily="34" charset="-120"/>
              </a:rPr>
              <a:t>  +$217K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63.1%</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3,671</a:t>
            </a:r>
            <a:pPr indent="0" marL="0">
              <a:buNone/>
            </a:pPr>
            <a:r>
              <a:rPr lang="en-US" sz="1400" b="1" dirty="0">
                <a:solidFill>
                  <a:srgbClr val="A82B26"/>
                </a:solidFill>
                <a:latin typeface="Inter" pitchFamily="34" charset="0"/>
                <a:ea typeface="Inter" pitchFamily="34" charset="-122"/>
                <a:cs typeface="Inter" pitchFamily="34" charset="-120"/>
              </a:rPr>
              <a:t>  −239</a:t>
            </a:r>
            <a:endParaRPr lang="en-US" sz="2200" dirty="0"/>
          </a:p>
        </p:txBody>
      </p:sp>
      <p:sp>
        <p:nvSpPr>
          <p:cNvPr id="17" name="Shape 15"/>
          <p:cNvSpPr/>
          <p:nvPr/>
        </p:nvSpPr>
        <p:spPr>
          <a:xfrm>
            <a:off x="3845560" y="658368"/>
            <a:ext cx="7886192" cy="475488"/>
          </a:xfrm>
          <a:prstGeom prst="rect">
            <a:avLst/>
          </a:prstGeom>
          <a:solidFill>
            <a:srgbClr val="EDF4FA"/>
          </a:solidFill>
          <a:ln/>
        </p:spPr>
      </p:sp>
      <p:sp>
        <p:nvSpPr>
          <p:cNvPr id="18" name="Text 16"/>
          <p:cNvSpPr txBox="1"/>
          <p:nvPr/>
        </p:nvSpPr>
        <p:spPr>
          <a:xfrm>
            <a:off x="3973576" y="658368"/>
            <a:ext cx="763016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Parts GP 44.9%   ·   4th · Brake fluid 12.7%   ·   4th · Fuel service 9.4%</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11 of 11</a:t>
            </a:r>
            <a:endParaRPr lang="en-US" sz="15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$911K</a:t>
            </a:r>
            <a:endParaRPr lang="en-US" sz="15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Service gross</a:t>
            </a:r>
            <a:endParaRPr lang="en-US" sz="15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$1.89M</a:t>
            </a:r>
            <a:endParaRPr lang="en-US" sz="15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$2.33M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$584K</a:t>
            </a:r>
            <a:endParaRPr lang="en-US" sz="15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Sell the MPI; price menus to market.</a:t>
            </a:r>
            <a:endParaRPr lang="en-US" sz="15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hours per RO</a:t>
            </a:r>
            <a:endParaRPr lang="en-US" sz="15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1.42</a:t>
            </a:r>
            <a:endParaRPr lang="en-US" sz="15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1.75</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$292K</a:t>
            </a:r>
            <a:endParaRPr lang="en-US" sz="15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Present every MPI finding: +0.33 hr per RO.</a:t>
            </a:r>
            <a:endParaRPr lang="en-US" sz="15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CP RO count</a:t>
            </a:r>
            <a:endParaRPr lang="en-US" sz="15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3,671</a:t>
            </a:r>
            <a:endParaRPr lang="en-US" sz="15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3,910</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$109K</a:t>
            </a:r>
            <a:endParaRPr lang="en-US" sz="15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Win back lapsed customers: 319 more ROs.</a:t>
            </a:r>
            <a:endParaRPr lang="en-US" sz="15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$1.01M</a:t>
            </a:r>
            <a:endParaRPr lang="en-US" sz="15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$1.08M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$105K</a:t>
            </a:r>
            <a:endParaRPr lang="en-US" sz="15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59" name="Shape 57"/>
          <p:cNvSpPr/>
          <p:nvPr/>
        </p:nvSpPr>
        <p:spPr>
          <a:xfrm>
            <a:off x="658368" y="4054450"/>
            <a:ext cx="10872216" cy="10973"/>
          </a:xfrm>
          <a:prstGeom prst="rect">
            <a:avLst/>
          </a:prstGeom>
          <a:solidFill>
            <a:srgbClr val="9AA3AD"/>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6</a:t>
            </a:r>
            <a:endParaRPr lang="en-US" sz="15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83.4%</a:t>
            </a:r>
            <a:endParaRPr lang="en-US" sz="15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425 more a year.</a:t>
            </a:r>
            <a:endParaRPr lang="en-US" sz="15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$12.34M</a:t>
            </a:r>
            <a:pPr indent="0" marL="0">
              <a:buNone/>
            </a:pPr>
            <a:r>
              <a:rPr lang="en-US" sz="1400" b="1" dirty="0">
                <a:solidFill>
                  <a:srgbClr val="0B7A4A"/>
                </a:solidFill>
                <a:latin typeface="Inter" pitchFamily="34" charset="0"/>
                <a:ea typeface="Inter" pitchFamily="34" charset="-122"/>
                <a:cs typeface="Inter" pitchFamily="34" charset="-120"/>
              </a:rPr>
              <a:t>  +$1.70M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$4.94M</a:t>
            </a:r>
            <a:pPr indent="0" marL="0">
              <a:buNone/>
            </a:pPr>
            <a:r>
              <a:rPr lang="en-US" sz="1400" b="1" dirty="0">
                <a:solidFill>
                  <a:srgbClr val="0B7A4A"/>
                </a:solidFill>
                <a:latin typeface="Inter" pitchFamily="34" charset="0"/>
                <a:ea typeface="Inter" pitchFamily="34" charset="-122"/>
                <a:cs typeface="Inter" pitchFamily="34" charset="-120"/>
              </a:rPr>
              <a:t>  +$838K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106.6%</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3,779</a:t>
            </a:r>
            <a:pPr indent="0" marL="0">
              <a:buNone/>
            </a:pPr>
            <a:r>
              <a:rPr lang="en-US" sz="1400" b="1" dirty="0">
                <a:solidFill>
                  <a:srgbClr val="0B7A4A"/>
                </a:solidFill>
                <a:latin typeface="Inter" pitchFamily="34" charset="0"/>
                <a:ea typeface="Inter" pitchFamily="34" charset="-122"/>
                <a:cs typeface="Inter" pitchFamily="34" charset="-120"/>
              </a:rPr>
              <a:t>  +126</a:t>
            </a:r>
            <a:endParaRPr lang="en-US" sz="2200" dirty="0"/>
          </a:p>
        </p:txBody>
      </p:sp>
      <p:sp>
        <p:nvSpPr>
          <p:cNvPr id="17" name="Shape 15"/>
          <p:cNvSpPr/>
          <p:nvPr/>
        </p:nvSpPr>
        <p:spPr>
          <a:xfrm>
            <a:off x="4034028" y="658368"/>
            <a:ext cx="7697724" cy="475488"/>
          </a:xfrm>
          <a:prstGeom prst="rect">
            <a:avLst/>
          </a:prstGeom>
          <a:solidFill>
            <a:srgbClr val="EDF4FA"/>
          </a:solidFill>
          <a:ln/>
        </p:spPr>
      </p:sp>
      <p:sp>
        <p:nvSpPr>
          <p:cNvPr id="18" name="Text 16"/>
          <p:cNvSpPr txBox="1"/>
          <p:nvPr/>
        </p:nvSpPr>
        <p:spPr>
          <a:xfrm>
            <a:off x="4162044" y="658368"/>
            <a:ext cx="744169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Absorption 106.6%   ·   1st · CP ELR $266   ·   1st · Gross/head $23,461</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 of 23</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$1.22M</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13 under 85%: dispatch, parts.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33.6%</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2.5%</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46" name="Shape 44"/>
          <p:cNvSpPr/>
          <p:nvPr/>
        </p:nvSpPr>
        <p:spPr>
          <a:xfrm>
            <a:off x="658368" y="3396082"/>
            <a:ext cx="10872216" cy="10973"/>
          </a:xfrm>
          <a:prstGeom prst="rect">
            <a:avLst/>
          </a:prstGeom>
          <a:solidFill>
            <a:srgbClr val="9AA3AD"/>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79.0%</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1,272 more a year.</a:t>
            </a:r>
            <a:endParaRPr lang="en-US" sz="14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Audi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$4.46M</a:t>
            </a:r>
            <a:pPr indent="0" marL="0">
              <a:buNone/>
            </a:pPr>
            <a:r>
              <a:rPr lang="en-US" sz="1400" b="1" dirty="0">
                <a:solidFill>
                  <a:srgbClr val="A82B26"/>
                </a:solidFill>
                <a:latin typeface="Inter" pitchFamily="34" charset="0"/>
                <a:ea typeface="Inter" pitchFamily="34" charset="-122"/>
                <a:cs typeface="Inter" pitchFamily="34" charset="-120"/>
              </a:rPr>
              <a:t>  −$520K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$1.82M</a:t>
            </a:r>
            <a:pPr indent="0" marL="0">
              <a:buNone/>
            </a:pPr>
            <a:r>
              <a:rPr lang="en-US" sz="1400" b="1" dirty="0">
                <a:solidFill>
                  <a:srgbClr val="A82B26"/>
                </a:solidFill>
                <a:latin typeface="Inter" pitchFamily="34" charset="0"/>
                <a:ea typeface="Inter" pitchFamily="34" charset="-122"/>
                <a:cs typeface="Inter" pitchFamily="34" charset="-120"/>
              </a:rPr>
              <a:t>  −$178K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103.6%</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3,917</a:t>
            </a:r>
            <a:pPr indent="0" marL="0">
              <a:buNone/>
            </a:pPr>
            <a:r>
              <a:rPr lang="en-US" sz="1400" b="1" dirty="0">
                <a:solidFill>
                  <a:srgbClr val="A82B26"/>
                </a:solidFill>
                <a:latin typeface="Inter" pitchFamily="34" charset="0"/>
                <a:ea typeface="Inter" pitchFamily="34" charset="-122"/>
                <a:cs typeface="Inter" pitchFamily="34" charset="-120"/>
              </a:rPr>
              <a:t>  −462</a:t>
            </a:r>
            <a:endParaRPr lang="en-US" sz="2200" dirty="0"/>
          </a:p>
        </p:txBody>
      </p:sp>
      <p:sp>
        <p:nvSpPr>
          <p:cNvPr id="17" name="Shape 15"/>
          <p:cNvSpPr/>
          <p:nvPr/>
        </p:nvSpPr>
        <p:spPr>
          <a:xfrm>
            <a:off x="4222496" y="658368"/>
            <a:ext cx="7509256" cy="475488"/>
          </a:xfrm>
          <a:prstGeom prst="rect">
            <a:avLst/>
          </a:prstGeom>
          <a:solidFill>
            <a:srgbClr val="EDF4FA"/>
          </a:solidFill>
          <a:ln/>
        </p:spPr>
      </p:sp>
      <p:sp>
        <p:nvSpPr>
          <p:cNvPr id="18" name="Text 16"/>
          <p:cNvSpPr txBox="1"/>
          <p:nvPr/>
        </p:nvSpPr>
        <p:spPr>
          <a:xfrm>
            <a:off x="4350512" y="658368"/>
            <a:ext cx="72532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Absorption 103.6%   ·   2nd · CP ELR $235   ·   2nd · Proficiency 117%</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$1.42M</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$437K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$3.04M</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$3.23M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$256K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10</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$241K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3,917</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4,379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$211K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616 more ROs.</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$165K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378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11.8%</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149 more a year.</a:t>
            </a:r>
            <a:endParaRPr lang="en-US" sz="1400" dirty="0"/>
          </a:p>
        </p:txBody>
      </p:sp>
      <p:sp>
        <p:nvSpPr>
          <p:cNvPr id="72" name="Shape 70"/>
          <p:cNvSpPr/>
          <p:nvPr/>
        </p:nvSpPr>
        <p:spPr>
          <a:xfrm>
            <a:off x="658368" y="4712818"/>
            <a:ext cx="10872216" cy="10973"/>
          </a:xfrm>
          <a:prstGeom prst="rect">
            <a:avLst/>
          </a:prstGeom>
          <a:solidFill>
            <a:srgbClr val="9AA3AD"/>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$14,916</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4.1 heads over peer avg.</a:t>
            </a:r>
            <a:endParaRPr lang="en-US" sz="14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Cadillac</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$9.60M</a:t>
            </a:r>
            <a:pPr indent="0" marL="0">
              <a:buNone/>
            </a:pPr>
            <a:r>
              <a:rPr lang="en-US" sz="1400" b="1" dirty="0">
                <a:solidFill>
                  <a:srgbClr val="0B7A4A"/>
                </a:solidFill>
                <a:latin typeface="Inter" pitchFamily="34" charset="0"/>
                <a:ea typeface="Inter" pitchFamily="34" charset="-122"/>
                <a:cs typeface="Inter" pitchFamily="34" charset="-120"/>
              </a:rPr>
              <a:t>  +$664K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$2.60M</a:t>
            </a:r>
            <a:pPr indent="0" marL="0">
              <a:buNone/>
            </a:pPr>
            <a:r>
              <a:rPr lang="en-US" sz="1400" b="1" dirty="0">
                <a:solidFill>
                  <a:srgbClr val="0B7A4A"/>
                </a:solidFill>
                <a:latin typeface="Inter" pitchFamily="34" charset="0"/>
                <a:ea typeface="Inter" pitchFamily="34" charset="-122"/>
                <a:cs typeface="Inter" pitchFamily="34" charset="-120"/>
              </a:rPr>
              <a:t>  +$766K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86.1%</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5,344</a:t>
            </a:r>
            <a:pPr indent="0" marL="0">
              <a:buNone/>
            </a:pPr>
            <a:r>
              <a:rPr lang="en-US" sz="1400" b="1" dirty="0">
                <a:solidFill>
                  <a:srgbClr val="0B7A4A"/>
                </a:solidFill>
                <a:latin typeface="Inter" pitchFamily="34" charset="0"/>
                <a:ea typeface="Inter" pitchFamily="34" charset="-122"/>
                <a:cs typeface="Inter" pitchFamily="34" charset="-120"/>
              </a:rPr>
              <a:t>  +137</a:t>
            </a:r>
            <a:endParaRPr lang="en-US" sz="2200" dirty="0"/>
          </a:p>
        </p:txBody>
      </p:sp>
      <p:sp>
        <p:nvSpPr>
          <p:cNvPr id="17" name="Shape 15"/>
          <p:cNvSpPr/>
          <p:nvPr/>
        </p:nvSpPr>
        <p:spPr>
          <a:xfrm>
            <a:off x="9216898" y="658368"/>
            <a:ext cx="2514854" cy="475488"/>
          </a:xfrm>
          <a:prstGeom prst="rect">
            <a:avLst/>
          </a:prstGeom>
          <a:solidFill>
            <a:srgbClr val="EDF4FA"/>
          </a:solidFill>
          <a:ln/>
        </p:spPr>
      </p:sp>
      <p:sp>
        <p:nvSpPr>
          <p:cNvPr id="18" name="Text 16"/>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Net profit +$766K</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29</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$1.89M</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$464</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$939K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$175</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$411K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2.73</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$222K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+0.17 hr per RO.</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4.7%</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379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5.1%</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$46K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170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$6.49M</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$6.51M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72" name="Shape 70"/>
          <p:cNvSpPr/>
          <p:nvPr/>
        </p:nvSpPr>
        <p:spPr>
          <a:xfrm>
            <a:off x="658368" y="4718304"/>
            <a:ext cx="10872216" cy="329184"/>
          </a:xfrm>
          <a:prstGeom prst="rect">
            <a:avLst/>
          </a:prstGeom>
          <a:solidFill>
            <a:srgbClr val="F7F7F7"/>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643 more a year.</a:t>
            </a:r>
            <a:endParaRPr lang="en-US" sz="1400" dirty="0"/>
          </a:p>
        </p:txBody>
      </p:sp>
      <p:sp>
        <p:nvSpPr>
          <p:cNvPr id="79" name="Shape 77"/>
          <p:cNvSpPr/>
          <p:nvPr/>
        </p:nvSpPr>
        <p:spPr>
          <a:xfrm>
            <a:off x="658368" y="5042002"/>
            <a:ext cx="10872216" cy="10973"/>
          </a:xfrm>
          <a:prstGeom prst="rect">
            <a:avLst/>
          </a:prstGeom>
          <a:solidFill>
            <a:srgbClr val="9AA3AD"/>
          </a:solidFill>
          <a:ln/>
        </p:spPr>
      </p:sp>
      <p:sp>
        <p:nvSpPr>
          <p:cNvPr id="80" name="Text 78"/>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1" name="Text 79"/>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2" name="Text 80"/>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40.5%</a:t>
            </a:r>
            <a:endParaRPr lang="en-US" sz="1400" dirty="0"/>
          </a:p>
        </p:txBody>
      </p:sp>
      <p:sp>
        <p:nvSpPr>
          <p:cNvPr id="83" name="Text 81"/>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4" name="Text 82"/>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5" name="Text 83"/>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6,556 more a year.</a:t>
            </a:r>
            <a:endParaRPr lang="en-US" sz="1400" dirty="0"/>
          </a:p>
        </p:txBody>
      </p:sp>
      <p:sp>
        <p:nvSpPr>
          <p:cNvPr id="86" name="Shape 84"/>
          <p:cNvSpPr/>
          <p:nvPr/>
        </p:nvSpPr>
        <p:spPr>
          <a:xfrm>
            <a:off x="658368" y="5376672"/>
            <a:ext cx="10872216" cy="329184"/>
          </a:xfrm>
          <a:prstGeom prst="rect">
            <a:avLst/>
          </a:prstGeom>
          <a:solidFill>
            <a:srgbClr val="F7F7F7"/>
          </a:solidFill>
          <a:ln/>
        </p:spPr>
      </p:sp>
      <p:sp>
        <p:nvSpPr>
          <p:cNvPr id="87" name="Text 85"/>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8" name="Text 86"/>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9" name="Text 87"/>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0" name="Text 88"/>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1" name="Text 89"/>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2" name="Text 90"/>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2,005 more a year.</a:t>
            </a:r>
            <a:endParaRPr lang="en-US" sz="1400" dirty="0"/>
          </a:p>
        </p:txBody>
      </p:sp>
      <p:sp>
        <p:nvSpPr>
          <p:cNvPr id="93" name="Text 91"/>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4" name="Text 92"/>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5" name="Text 93"/>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$14,260</a:t>
            </a:r>
            <a:endParaRPr lang="en-US" sz="1400" dirty="0"/>
          </a:p>
        </p:txBody>
      </p:sp>
      <p:sp>
        <p:nvSpPr>
          <p:cNvPr id="96" name="Text 94"/>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7" name="Text 95"/>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8" name="Text 96"/>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12.0 heads over peer avg.</a:t>
            </a:r>
            <a:endParaRPr lang="en-US" sz="1400" dirty="0"/>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CDJR Post Falls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$3.55M</a:t>
            </a:r>
            <a:pPr indent="0" marL="0">
              <a:buNone/>
            </a:pPr>
            <a:r>
              <a:rPr lang="en-US" sz="1400" b="1" dirty="0">
                <a:solidFill>
                  <a:srgbClr val="A82B26"/>
                </a:solidFill>
                <a:latin typeface="Inter" pitchFamily="34" charset="0"/>
                <a:ea typeface="Inter" pitchFamily="34" charset="-122"/>
                <a:cs typeface="Inter" pitchFamily="34" charset="-120"/>
              </a:rPr>
              <a:t>  −$204K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$800,469</a:t>
            </a:r>
            <a:pPr indent="0" marL="0">
              <a:buNone/>
            </a:pPr>
            <a:r>
              <a:rPr lang="en-US" sz="1400" b="1" dirty="0">
                <a:solidFill>
                  <a:srgbClr val="0B7A4A"/>
                </a:solidFill>
                <a:latin typeface="Inter" pitchFamily="34" charset="0"/>
                <a:ea typeface="Inter" pitchFamily="34" charset="-122"/>
                <a:cs typeface="Inter" pitchFamily="34" charset="-120"/>
              </a:rPr>
              <a:t>  +$54K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81.5%</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5,358</a:t>
            </a:r>
            <a:pPr indent="0" marL="0">
              <a:buNone/>
            </a:pPr>
            <a:r>
              <a:rPr lang="en-US" sz="1400" b="1" dirty="0">
                <a:solidFill>
                  <a:srgbClr val="A82B26"/>
                </a:solidFill>
                <a:latin typeface="Inter" pitchFamily="34" charset="0"/>
                <a:ea typeface="Inter" pitchFamily="34" charset="-122"/>
                <a:cs typeface="Inter" pitchFamily="34" charset="-120"/>
              </a:rPr>
              <a:t>  −277</a:t>
            </a:r>
            <a:endParaRPr lang="en-US" sz="2200" dirty="0"/>
          </a:p>
        </p:txBody>
      </p:sp>
      <p:sp>
        <p:nvSpPr>
          <p:cNvPr id="17" name="Shape 15"/>
          <p:cNvSpPr/>
          <p:nvPr/>
        </p:nvSpPr>
        <p:spPr>
          <a:xfrm>
            <a:off x="457200" y="2011680"/>
            <a:ext cx="11274552" cy="4343400"/>
          </a:xfrm>
          <a:prstGeom prst="rect">
            <a:avLst/>
          </a:prstGeom>
          <a:solidFill>
            <a:srgbClr val="FFFFFF"/>
          </a:solidFill>
          <a:ln/>
        </p:spPr>
      </p:sp>
      <p:sp>
        <p:nvSpPr>
          <p:cNvPr id="18" name="Text 16"/>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19" name="Text 17"/>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0" name="Text 18"/>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1" name="Text 19"/>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2" name="Text 20"/>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3" name="Text 21"/>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4" name="Shape 22"/>
          <p:cNvSpPr/>
          <p:nvPr/>
        </p:nvSpPr>
        <p:spPr>
          <a:xfrm>
            <a:off x="658368" y="2368296"/>
            <a:ext cx="10872216" cy="10973"/>
          </a:xfrm>
          <a:prstGeom prst="rect">
            <a:avLst/>
          </a:prstGeom>
          <a:solidFill>
            <a:srgbClr val="1A1A1A"/>
          </a:solidFill>
          <a:ln/>
        </p:spPr>
      </p:sp>
      <p:sp>
        <p:nvSpPr>
          <p:cNvPr id="25" name="Text 23"/>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6" name="Text 24"/>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7" name="Text 25"/>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14</a:t>
            </a:r>
            <a:endParaRPr lang="en-US" sz="1400" dirty="0"/>
          </a:p>
        </p:txBody>
      </p:sp>
      <p:sp>
        <p:nvSpPr>
          <p:cNvPr id="28" name="Text 26"/>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29" name="Text 27"/>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$1.20M</a:t>
            </a:r>
            <a:endParaRPr lang="en-US" sz="1400" dirty="0"/>
          </a:p>
        </p:txBody>
      </p:sp>
      <p:sp>
        <p:nvSpPr>
          <p:cNvPr id="30" name="Text 28"/>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1" name="Shape 29"/>
          <p:cNvSpPr/>
          <p:nvPr/>
        </p:nvSpPr>
        <p:spPr>
          <a:xfrm>
            <a:off x="658368" y="2737866"/>
            <a:ext cx="10872216" cy="323850"/>
          </a:xfrm>
          <a:prstGeom prst="rect">
            <a:avLst/>
          </a:prstGeom>
          <a:solidFill>
            <a:srgbClr val="F7F7F7"/>
          </a:solidFill>
          <a:ln/>
        </p:spPr>
      </p:sp>
      <p:sp>
        <p:nvSpPr>
          <p:cNvPr id="32" name="Text 30"/>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3" name="Text 31"/>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4" name="Text 32"/>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$1.26M</a:t>
            </a:r>
            <a:endParaRPr lang="en-US" sz="1400" dirty="0"/>
          </a:p>
        </p:txBody>
      </p:sp>
      <p:sp>
        <p:nvSpPr>
          <p:cNvPr id="35" name="Text 33"/>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6" name="Text 34"/>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$195K</a:t>
            </a:r>
            <a:endParaRPr lang="en-US" sz="1400" dirty="0"/>
          </a:p>
        </p:txBody>
      </p:sp>
      <p:sp>
        <p:nvSpPr>
          <p:cNvPr id="37" name="Text 35"/>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38" name="Text 36"/>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39" name="Text 37"/>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0" name="Text 38"/>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5,358</a:t>
            </a:r>
            <a:endParaRPr lang="en-US" sz="1400" dirty="0"/>
          </a:p>
        </p:txBody>
      </p:sp>
      <p:sp>
        <p:nvSpPr>
          <p:cNvPr id="41" name="Text 39"/>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5,635</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2" name="Text 40"/>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3" name="Text 41"/>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369 more ROs.</a:t>
            </a:r>
            <a:endParaRPr lang="en-US" sz="1400" dirty="0"/>
          </a:p>
        </p:txBody>
      </p:sp>
      <p:sp>
        <p:nvSpPr>
          <p:cNvPr id="44" name="Shape 42"/>
          <p:cNvSpPr/>
          <p:nvPr/>
        </p:nvSpPr>
        <p:spPr>
          <a:xfrm>
            <a:off x="658368" y="3385566"/>
            <a:ext cx="10872216" cy="323850"/>
          </a:xfrm>
          <a:prstGeom prst="rect">
            <a:avLst/>
          </a:prstGeom>
          <a:solidFill>
            <a:srgbClr val="F7F7F7"/>
          </a:solidFill>
          <a:ln/>
        </p:spPr>
      </p:sp>
      <p:sp>
        <p:nvSpPr>
          <p:cNvPr id="45" name="Text 43"/>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6" name="Text 44"/>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47" name="Text 45"/>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35.6%</a:t>
            </a:r>
            <a:endParaRPr lang="en-US" sz="1400" dirty="0"/>
          </a:p>
        </p:txBody>
      </p:sp>
      <p:sp>
        <p:nvSpPr>
          <p:cNvPr id="48" name="Text 46"/>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9" name="Text 47"/>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$114K</a:t>
            </a:r>
            <a:endParaRPr lang="en-US" sz="1400" dirty="0"/>
          </a:p>
        </p:txBody>
      </p:sp>
      <p:sp>
        <p:nvSpPr>
          <p:cNvPr id="50" name="Text 48"/>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1" name="Text 49"/>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2" name="Text 50"/>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53" name="Text 51"/>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$2.30M</a:t>
            </a:r>
            <a:endParaRPr lang="en-US" sz="1400" dirty="0"/>
          </a:p>
        </p:txBody>
      </p:sp>
      <p:sp>
        <p:nvSpPr>
          <p:cNvPr id="54" name="Text 52"/>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5" name="Text 53"/>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6" name="Text 54"/>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57" name="Shape 55"/>
          <p:cNvSpPr/>
          <p:nvPr/>
        </p:nvSpPr>
        <p:spPr>
          <a:xfrm>
            <a:off x="658368" y="4033266"/>
            <a:ext cx="10872216" cy="323850"/>
          </a:xfrm>
          <a:prstGeom prst="rect">
            <a:avLst/>
          </a:prstGeom>
          <a:solidFill>
            <a:srgbClr val="F7F7F7"/>
          </a:solidFill>
          <a:ln/>
        </p:spPr>
      </p:sp>
      <p:sp>
        <p:nvSpPr>
          <p:cNvPr id="58" name="Text 56"/>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59" name="Text 57"/>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0" name="Text 58"/>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a:t>
            </a:r>
            <a:endParaRPr lang="en-US" sz="1400" dirty="0"/>
          </a:p>
        </p:txBody>
      </p:sp>
      <p:sp>
        <p:nvSpPr>
          <p:cNvPr id="61" name="Text 59"/>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2" name="Text 60"/>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$73K</a:t>
            </a:r>
            <a:endParaRPr lang="en-US" sz="1400" dirty="0"/>
          </a:p>
        </p:txBody>
      </p:sp>
      <p:sp>
        <p:nvSpPr>
          <p:cNvPr id="63" name="Text 61"/>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981 more a year.</a:t>
            </a:r>
            <a:endParaRPr lang="en-US" sz="1400" dirty="0"/>
          </a:p>
        </p:txBody>
      </p:sp>
      <p:sp>
        <p:nvSpPr>
          <p:cNvPr id="64" name="Text 62"/>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5" name="Text 63"/>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6" name="Text 64"/>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3.0%</a:t>
            </a:r>
            <a:endParaRPr lang="en-US" sz="1400" dirty="0"/>
          </a:p>
        </p:txBody>
      </p:sp>
      <p:sp>
        <p:nvSpPr>
          <p:cNvPr id="67" name="Text 65"/>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8" name="Text 66"/>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$62K</a:t>
            </a:r>
            <a:endParaRPr lang="en-US" sz="1400" dirty="0"/>
          </a:p>
        </p:txBody>
      </p:sp>
      <p:sp>
        <p:nvSpPr>
          <p:cNvPr id="69" name="Text 67"/>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321 more a year.</a:t>
            </a:r>
            <a:endParaRPr lang="en-US" sz="1400" dirty="0"/>
          </a:p>
        </p:txBody>
      </p:sp>
      <p:sp>
        <p:nvSpPr>
          <p:cNvPr id="70" name="Shape 68"/>
          <p:cNvSpPr/>
          <p:nvPr/>
        </p:nvSpPr>
        <p:spPr>
          <a:xfrm>
            <a:off x="658368" y="4680966"/>
            <a:ext cx="10872216" cy="323850"/>
          </a:xfrm>
          <a:prstGeom prst="rect">
            <a:avLst/>
          </a:prstGeom>
          <a:solidFill>
            <a:srgbClr val="F7F7F7"/>
          </a:solidFill>
          <a:ln/>
        </p:spPr>
      </p:sp>
      <p:sp>
        <p:nvSpPr>
          <p:cNvPr id="71" name="Text 69"/>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2" name="Text 70"/>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3" name="Text 71"/>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74" name="Text 72"/>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5" name="Text 73"/>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$57K</a:t>
            </a:r>
            <a:endParaRPr lang="en-US" sz="1400" dirty="0"/>
          </a:p>
        </p:txBody>
      </p:sp>
      <p:sp>
        <p:nvSpPr>
          <p:cNvPr id="76" name="Text 74"/>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770 more a year.</a:t>
            </a:r>
            <a:endParaRPr lang="en-US" sz="1400" dirty="0"/>
          </a:p>
        </p:txBody>
      </p:sp>
      <p:sp>
        <p:nvSpPr>
          <p:cNvPr id="77" name="Text 75"/>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78" name="Text 76"/>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9" name="Text 77"/>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80" name="Text 78"/>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1" name="Text 79"/>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$53K</a:t>
            </a:r>
            <a:endParaRPr lang="en-US" sz="1400" dirty="0"/>
          </a:p>
        </p:txBody>
      </p:sp>
      <p:sp>
        <p:nvSpPr>
          <p:cNvPr id="82" name="Text 80"/>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412 more a year.</a:t>
            </a:r>
            <a:endParaRPr lang="en-US" sz="1400" dirty="0"/>
          </a:p>
        </p:txBody>
      </p:sp>
      <p:sp>
        <p:nvSpPr>
          <p:cNvPr id="83" name="Shape 81"/>
          <p:cNvSpPr/>
          <p:nvPr/>
        </p:nvSpPr>
        <p:spPr>
          <a:xfrm>
            <a:off x="658368" y="5323180"/>
            <a:ext cx="10872216" cy="10973"/>
          </a:xfrm>
          <a:prstGeom prst="rect">
            <a:avLst/>
          </a:prstGeom>
          <a:solidFill>
            <a:srgbClr val="9AA3AD"/>
          </a:solidFill>
          <a:ln/>
        </p:spPr>
      </p:sp>
      <p:sp>
        <p:nvSpPr>
          <p:cNvPr id="84" name="Text 82"/>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5" name="Text 83"/>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6" name="Text 84"/>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87" name="Text 85"/>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8" name="Text 86"/>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9" name="Text 87"/>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5,302 more a year.</a:t>
            </a:r>
            <a:endParaRPr lang="en-US" sz="1400" dirty="0"/>
          </a:p>
        </p:txBody>
      </p:sp>
      <p:sp>
        <p:nvSpPr>
          <p:cNvPr id="90" name="Text 88"/>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1" name="Text 89"/>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2" name="Text 90"/>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$9,953</a:t>
            </a:r>
            <a:endParaRPr lang="en-US" sz="1400" dirty="0"/>
          </a:p>
        </p:txBody>
      </p:sp>
      <p:sp>
        <p:nvSpPr>
          <p:cNvPr id="93" name="Text 91"/>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4" name="Text 92"/>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5" name="Text 93"/>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8.6 heads over peer avg.</a:t>
            </a:r>
            <a:endParaRPr lang="en-US" sz="1400" dirty="0"/>
          </a:p>
        </p:txBody>
      </p:sp>
      <p:sp>
        <p:nvSpPr>
          <p:cNvPr id="96" name="Shape 94"/>
          <p:cNvSpPr/>
          <p:nvPr/>
        </p:nvSpPr>
        <p:spPr>
          <a:xfrm>
            <a:off x="658368" y="5976366"/>
            <a:ext cx="10872216" cy="323850"/>
          </a:xfrm>
          <a:prstGeom prst="rect">
            <a:avLst/>
          </a:prstGeom>
          <a:solidFill>
            <a:srgbClr val="F7F7F7"/>
          </a:solidFill>
          <a:ln/>
        </p:spPr>
      </p:sp>
      <p:sp>
        <p:nvSpPr>
          <p:cNvPr id="97" name="Text 95"/>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98" name="Text 96"/>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9" name="Text 97"/>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81.7%</a:t>
            </a:r>
            <a:endParaRPr lang="en-US" sz="1400" dirty="0"/>
          </a:p>
        </p:txBody>
      </p:sp>
      <p:sp>
        <p:nvSpPr>
          <p:cNvPr id="100" name="Text 98"/>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1" name="Text 99"/>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2" name="Text 100"/>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1,052 more a year.</a:t>
            </a:r>
            <a:endParaRPr lang="en-US" sz="14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GMC Bullhead</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$4.53M</a:t>
            </a:r>
            <a:pPr indent="0" marL="0">
              <a:buNone/>
            </a:pPr>
            <a:r>
              <a:rPr lang="en-US" sz="1400" b="1" dirty="0">
                <a:solidFill>
                  <a:srgbClr val="0B7A4A"/>
                </a:solidFill>
                <a:latin typeface="Inter" pitchFamily="34" charset="0"/>
                <a:ea typeface="Inter" pitchFamily="34" charset="-122"/>
                <a:cs typeface="Inter" pitchFamily="34" charset="-120"/>
              </a:rPr>
              <a:t>  +$39K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$1.12M</a:t>
            </a:r>
            <a:pPr indent="0" marL="0">
              <a:buNone/>
            </a:pPr>
            <a:r>
              <a:rPr lang="en-US" sz="1400" b="1" dirty="0">
                <a:solidFill>
                  <a:srgbClr val="0B7A4A"/>
                </a:solidFill>
                <a:latin typeface="Inter" pitchFamily="34" charset="0"/>
                <a:ea typeface="Inter" pitchFamily="34" charset="-122"/>
                <a:cs typeface="Inter" pitchFamily="34" charset="-120"/>
              </a:rPr>
              <a:t>  +$337K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65.1%</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6,309</a:t>
            </a:r>
            <a:pPr indent="0" marL="0">
              <a:buNone/>
            </a:pPr>
            <a:r>
              <a:rPr lang="en-US" sz="1400" b="1" dirty="0">
                <a:solidFill>
                  <a:srgbClr val="0B7A4A"/>
                </a:solidFill>
                <a:latin typeface="Inter" pitchFamily="34" charset="0"/>
                <a:ea typeface="Inter" pitchFamily="34" charset="-122"/>
                <a:cs typeface="Inter" pitchFamily="34" charset="-120"/>
              </a:rPr>
              <a:t>  +212</a:t>
            </a:r>
            <a:endParaRPr lang="en-US" sz="2200" dirty="0"/>
          </a:p>
        </p:txBody>
      </p:sp>
      <p:sp>
        <p:nvSpPr>
          <p:cNvPr id="17" name="Shape 15"/>
          <p:cNvSpPr/>
          <p:nvPr/>
        </p:nvSpPr>
        <p:spPr>
          <a:xfrm>
            <a:off x="6955282" y="658368"/>
            <a:ext cx="4776470" cy="475488"/>
          </a:xfrm>
          <a:prstGeom prst="rect">
            <a:avLst/>
          </a:prstGeom>
          <a:solidFill>
            <a:srgbClr val="EDF4FA"/>
          </a:solidFill>
          <a:ln/>
        </p:spPr>
      </p:sp>
      <p:sp>
        <p:nvSpPr>
          <p:cNvPr id="18" name="Text 16"/>
          <p:cNvSpPr txBox="1"/>
          <p:nvPr/>
        </p:nvSpPr>
        <p:spPr>
          <a:xfrm>
            <a:off x="7083298" y="658368"/>
            <a:ext cx="4520438"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Net profit +$337K   ·   8th · CP ROs +212</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37.2%</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$65K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400 more a year.</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324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7.1%</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245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9.1%</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496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77.3%</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2" name="Shape 70"/>
          <p:cNvSpPr/>
          <p:nvPr/>
        </p:nvSpPr>
        <p:spPr>
          <a:xfrm>
            <a:off x="658368" y="4712818"/>
            <a:ext cx="10872216" cy="10973"/>
          </a:xfrm>
          <a:prstGeom prst="rect">
            <a:avLst/>
          </a:prstGeom>
          <a:solidFill>
            <a:srgbClr val="9AA3AD"/>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21.8%</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4,006 more a year.</a:t>
            </a:r>
            <a:endParaRPr lang="en-US" sz="1400" dirty="0"/>
          </a:p>
        </p:txBody>
      </p:sp>
      <p:sp>
        <p:nvSpPr>
          <p:cNvPr id="79" name="Text 77"/>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1" name="Text 79"/>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$10,391</a:t>
            </a:r>
            <a:endParaRPr lang="en-US" sz="1400" dirty="0"/>
          </a:p>
        </p:txBody>
      </p:sp>
      <p:sp>
        <p:nvSpPr>
          <p:cNvPr id="82" name="Text 80"/>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3" name="Text 81"/>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4" name="Text 82"/>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8.9 heads over peer avg.</a:t>
            </a:r>
            <a:endParaRPr lang="en-US" sz="1400" dirty="0"/>
          </a:p>
        </p:txBody>
      </p:sp>
      <p:sp>
        <p:nvSpPr>
          <p:cNvPr id="85" name="Shape 83"/>
          <p:cNvSpPr/>
          <p:nvPr/>
        </p:nvSpPr>
        <p:spPr>
          <a:xfrm>
            <a:off x="658368" y="5376672"/>
            <a:ext cx="10872216" cy="329184"/>
          </a:xfrm>
          <a:prstGeom prst="rect">
            <a:avLst/>
          </a:prstGeom>
          <a:solidFill>
            <a:srgbClr val="F7F7F7"/>
          </a:solidFill>
          <a:ln/>
        </p:spPr>
      </p:sp>
      <p:sp>
        <p:nvSpPr>
          <p:cNvPr id="86" name="Text 84"/>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8" name="Text 86"/>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87.6%</a:t>
            </a:r>
            <a:endParaRPr lang="en-US" sz="1400" dirty="0"/>
          </a:p>
        </p:txBody>
      </p:sp>
      <p:sp>
        <p:nvSpPr>
          <p:cNvPr id="89" name="Text 87"/>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0" name="Text 88"/>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1" name="Text 89"/>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267 more a year.</a:t>
            </a:r>
            <a:endParaRPr lang="en-US" sz="14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Chevy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$16.55M</a:t>
            </a:r>
            <a:pPr indent="0" marL="0">
              <a:buNone/>
            </a:pPr>
            <a:r>
              <a:rPr lang="en-US" sz="1400" b="1" dirty="0">
                <a:solidFill>
                  <a:srgbClr val="A82B26"/>
                </a:solidFill>
                <a:latin typeface="Inter" pitchFamily="34" charset="0"/>
                <a:ea typeface="Inter" pitchFamily="34" charset="-122"/>
                <a:cs typeface="Inter" pitchFamily="34" charset="-120"/>
              </a:rPr>
              <a:t>  −$437K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A82B26"/>
                </a:solidFill>
                <a:latin typeface="Inter" pitchFamily="34" charset="0"/>
                <a:ea typeface="Inter" pitchFamily="34" charset="-122"/>
                <a:cs typeface="Inter" pitchFamily="34" charset="-120"/>
              </a:rPr>
              <a:t>  −$643K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68.9%</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19,520</a:t>
            </a:r>
            <a:pPr indent="0" marL="0">
              <a:buNone/>
            </a:pPr>
            <a:r>
              <a:rPr lang="en-US" sz="1400" b="1" dirty="0">
                <a:solidFill>
                  <a:srgbClr val="A82B26"/>
                </a:solidFill>
                <a:latin typeface="Inter" pitchFamily="34" charset="0"/>
                <a:ea typeface="Inter" pitchFamily="34" charset="-122"/>
                <a:cs typeface="Inter" pitchFamily="34" charset="-120"/>
              </a:rPr>
              <a:t>  −952</a:t>
            </a:r>
            <a:endParaRPr lang="en-US" sz="2200" dirty="0"/>
          </a:p>
        </p:txBody>
      </p:sp>
      <p:sp>
        <p:nvSpPr>
          <p:cNvPr id="17" name="Shape 15"/>
          <p:cNvSpPr/>
          <p:nvPr/>
        </p:nvSpPr>
        <p:spPr>
          <a:xfrm>
            <a:off x="6389878" y="658368"/>
            <a:ext cx="5341874" cy="475488"/>
          </a:xfrm>
          <a:prstGeom prst="rect">
            <a:avLst/>
          </a:prstGeom>
          <a:solidFill>
            <a:srgbClr val="EDF4FA"/>
          </a:solidFill>
          <a:ln/>
        </p:spPr>
      </p:sp>
      <p:sp>
        <p:nvSpPr>
          <p:cNvPr id="18" name="Text 16"/>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9th · Hours per RO 2.30   ·   10th · Proficiency 103%</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51</a:t>
            </a:r>
            <a:endParaRPr lang="en-US" sz="1400" dirty="0"/>
          </a:p>
        </p:txBody>
      </p:sp>
      <p:sp>
        <p:nvSpPr>
          <p:cNvPr id="30" name="Text 28"/>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$1.05M</a:t>
            </a:r>
            <a:endParaRPr lang="en-US" sz="1400" dirty="0"/>
          </a:p>
        </p:txBody>
      </p:sp>
      <p:sp>
        <p:nvSpPr>
          <p:cNvPr id="32" name="Text 30"/>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16 under 85%: dispatch, parts.</a:t>
            </a:r>
            <a:endParaRPr lang="en-US" sz="1400" dirty="0"/>
          </a:p>
        </p:txBody>
      </p:sp>
      <p:sp>
        <p:nvSpPr>
          <p:cNvPr id="33" name="Shape 31"/>
          <p:cNvSpPr/>
          <p:nvPr/>
        </p:nvSpPr>
        <p:spPr>
          <a:xfrm>
            <a:off x="658368" y="2712954"/>
            <a:ext cx="10872216" cy="298938"/>
          </a:xfrm>
          <a:prstGeom prst="rect">
            <a:avLst/>
          </a:prstGeom>
          <a:solidFill>
            <a:srgbClr val="F7F7F7"/>
          </a:solidFill>
          <a:ln/>
        </p:spPr>
      </p:sp>
      <p:sp>
        <p:nvSpPr>
          <p:cNvPr id="34" name="Text 32"/>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36" name="Text 34"/>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7" name="Text 35"/>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38" name="Text 36"/>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$671K</a:t>
            </a:r>
            <a:endParaRPr lang="en-US" sz="1400" dirty="0"/>
          </a:p>
        </p:txBody>
      </p:sp>
      <p:sp>
        <p:nvSpPr>
          <p:cNvPr id="39" name="Text 37"/>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0" name="Text 38"/>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2" name="Text 40"/>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$10.50M</a:t>
            </a:r>
            <a:endParaRPr lang="en-US" sz="1400" dirty="0"/>
          </a:p>
        </p:txBody>
      </p:sp>
      <p:sp>
        <p:nvSpPr>
          <p:cNvPr id="43" name="Text 41"/>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$10.89M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$526K</a:t>
            </a:r>
            <a:endParaRPr lang="en-US" sz="1400" dirty="0"/>
          </a:p>
        </p:txBody>
      </p:sp>
      <p:sp>
        <p:nvSpPr>
          <p:cNvPr id="45" name="Text 43"/>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6" name="Shape 44"/>
          <p:cNvSpPr/>
          <p:nvPr/>
        </p:nvSpPr>
        <p:spPr>
          <a:xfrm>
            <a:off x="658368" y="3310831"/>
            <a:ext cx="10872216" cy="298938"/>
          </a:xfrm>
          <a:prstGeom prst="rect">
            <a:avLst/>
          </a:prstGeom>
          <a:solidFill>
            <a:srgbClr val="F7F7F7"/>
          </a:solidFill>
          <a:ln/>
        </p:spPr>
      </p:sp>
      <p:sp>
        <p:nvSpPr>
          <p:cNvPr id="47" name="Text 45"/>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9" name="Text 47"/>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19,520</a:t>
            </a:r>
            <a:endParaRPr lang="en-US" sz="1400" dirty="0"/>
          </a:p>
        </p:txBody>
      </p:sp>
      <p:sp>
        <p:nvSpPr>
          <p:cNvPr id="50" name="Text 48"/>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20,472</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1" name="Text 49"/>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$434K</a:t>
            </a:r>
            <a:endParaRPr lang="en-US" sz="1400" dirty="0"/>
          </a:p>
        </p:txBody>
      </p:sp>
      <p:sp>
        <p:nvSpPr>
          <p:cNvPr id="52" name="Text 50"/>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1,269 more ROs.</a:t>
            </a:r>
            <a:endParaRPr lang="en-US" sz="1400" dirty="0"/>
          </a:p>
        </p:txBody>
      </p:sp>
      <p:sp>
        <p:nvSpPr>
          <p:cNvPr id="53" name="Text 51"/>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55" name="Text 53"/>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36.2%</a:t>
            </a:r>
            <a:endParaRPr lang="en-US" sz="1400" dirty="0"/>
          </a:p>
        </p:txBody>
      </p:sp>
      <p:sp>
        <p:nvSpPr>
          <p:cNvPr id="56" name="Text 54"/>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7" name="Text 55"/>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$314K</a:t>
            </a:r>
            <a:endParaRPr lang="en-US" sz="1400" dirty="0"/>
          </a:p>
        </p:txBody>
      </p:sp>
      <p:sp>
        <p:nvSpPr>
          <p:cNvPr id="58" name="Text 56"/>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9" name="Shape 57"/>
          <p:cNvSpPr/>
          <p:nvPr/>
        </p:nvSpPr>
        <p:spPr>
          <a:xfrm>
            <a:off x="658368" y="3908708"/>
            <a:ext cx="10872216" cy="298938"/>
          </a:xfrm>
          <a:prstGeom prst="rect">
            <a:avLst/>
          </a:prstGeom>
          <a:solidFill>
            <a:srgbClr val="F7F7F7"/>
          </a:solidFill>
          <a:ln/>
        </p:spPr>
      </p:sp>
      <p:sp>
        <p:nvSpPr>
          <p:cNvPr id="60" name="Text 58"/>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2" name="Text 60"/>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63" name="Text 61"/>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65" name="Text 63"/>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1,093 more a year.</a:t>
            </a:r>
            <a:endParaRPr lang="en-US" sz="1400" dirty="0"/>
          </a:p>
        </p:txBody>
      </p:sp>
      <p:sp>
        <p:nvSpPr>
          <p:cNvPr id="66" name="Text 64"/>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8" name="Text 66"/>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a:t>
            </a:r>
            <a:endParaRPr lang="en-US" sz="1400" dirty="0"/>
          </a:p>
        </p:txBody>
      </p:sp>
      <p:sp>
        <p:nvSpPr>
          <p:cNvPr id="69" name="Text 67"/>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$142K</a:t>
            </a:r>
            <a:endParaRPr lang="en-US" sz="1400" dirty="0"/>
          </a:p>
        </p:txBody>
      </p:sp>
      <p:sp>
        <p:nvSpPr>
          <p:cNvPr id="71" name="Text 69"/>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585 more a year.</a:t>
            </a:r>
            <a:endParaRPr lang="en-US" sz="1400" dirty="0"/>
          </a:p>
        </p:txBody>
      </p:sp>
      <p:sp>
        <p:nvSpPr>
          <p:cNvPr id="72" name="Shape 70"/>
          <p:cNvSpPr/>
          <p:nvPr/>
        </p:nvSpPr>
        <p:spPr>
          <a:xfrm>
            <a:off x="658368" y="4506585"/>
            <a:ext cx="10872216" cy="298938"/>
          </a:xfrm>
          <a:prstGeom prst="rect">
            <a:avLst/>
          </a:prstGeom>
          <a:solidFill>
            <a:srgbClr val="F7F7F7"/>
          </a:solidFill>
          <a:ln/>
        </p:spPr>
      </p:sp>
      <p:sp>
        <p:nvSpPr>
          <p:cNvPr id="73" name="Text 71"/>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75" name="Text 73"/>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a:t>
            </a:r>
            <a:endParaRPr lang="en-US" sz="1400" dirty="0"/>
          </a:p>
        </p:txBody>
      </p:sp>
      <p:sp>
        <p:nvSpPr>
          <p:cNvPr id="76" name="Text 74"/>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$106K</a:t>
            </a:r>
            <a:endParaRPr lang="en-US" sz="1400" dirty="0"/>
          </a:p>
        </p:txBody>
      </p:sp>
      <p:sp>
        <p:nvSpPr>
          <p:cNvPr id="78" name="Text 76"/>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2,001 more a year.</a:t>
            </a:r>
            <a:endParaRPr lang="en-US" sz="1400" dirty="0"/>
          </a:p>
        </p:txBody>
      </p:sp>
      <p:sp>
        <p:nvSpPr>
          <p:cNvPr id="79" name="Text 77"/>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81" name="Text 79"/>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a:t>
            </a:r>
            <a:endParaRPr lang="en-US" sz="1400" dirty="0"/>
          </a:p>
        </p:txBody>
      </p:sp>
      <p:sp>
        <p:nvSpPr>
          <p:cNvPr id="82" name="Text 80"/>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84" name="Text 82"/>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556 more a year.</a:t>
            </a:r>
            <a:endParaRPr lang="en-US" sz="1400" dirty="0"/>
          </a:p>
        </p:txBody>
      </p:sp>
      <p:sp>
        <p:nvSpPr>
          <p:cNvPr id="85" name="Shape 83"/>
          <p:cNvSpPr/>
          <p:nvPr/>
        </p:nvSpPr>
        <p:spPr>
          <a:xfrm>
            <a:off x="658368" y="5104462"/>
            <a:ext cx="10872216" cy="298938"/>
          </a:xfrm>
          <a:prstGeom prst="rect">
            <a:avLst/>
          </a:prstGeom>
          <a:solidFill>
            <a:srgbClr val="F7F7F7"/>
          </a:solidFill>
          <a:ln/>
        </p:spPr>
      </p:sp>
      <p:sp>
        <p:nvSpPr>
          <p:cNvPr id="86" name="Text 84"/>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88" name="Text 86"/>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$6.05M</a:t>
            </a:r>
            <a:endParaRPr lang="en-US" sz="1400" dirty="0"/>
          </a:p>
        </p:txBody>
      </p:sp>
      <p:sp>
        <p:nvSpPr>
          <p:cNvPr id="89" name="Text 87"/>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$6.09M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90" name="Text 88"/>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1" name="Text 89"/>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92" name="Shape 90"/>
          <p:cNvSpPr/>
          <p:nvPr/>
        </p:nvSpPr>
        <p:spPr>
          <a:xfrm>
            <a:off x="658368" y="5397914"/>
            <a:ext cx="10872216" cy="10973"/>
          </a:xfrm>
          <a:prstGeom prst="rect">
            <a:avLst/>
          </a:prstGeom>
          <a:solidFill>
            <a:srgbClr val="9AA3AD"/>
          </a:solidFill>
          <a:ln/>
        </p:spPr>
      </p:sp>
      <p:sp>
        <p:nvSpPr>
          <p:cNvPr id="93" name="Text 91"/>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4" name="Text 92"/>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95" name="Text 93"/>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96" name="Text 94"/>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7" name="Text 95"/>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8" name="Text 96"/>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6,624 more a year.</a:t>
            </a:r>
            <a:endParaRPr lang="en-US" sz="1400" dirty="0"/>
          </a:p>
        </p:txBody>
      </p:sp>
      <p:sp>
        <p:nvSpPr>
          <p:cNvPr id="99" name="Shape 97"/>
          <p:cNvSpPr/>
          <p:nvPr/>
        </p:nvSpPr>
        <p:spPr>
          <a:xfrm>
            <a:off x="658368" y="5702339"/>
            <a:ext cx="10872216" cy="298938"/>
          </a:xfrm>
          <a:prstGeom prst="rect">
            <a:avLst/>
          </a:prstGeom>
          <a:solidFill>
            <a:srgbClr val="F7F7F7"/>
          </a:solidFill>
          <a:ln/>
        </p:spPr>
      </p:sp>
      <p:sp>
        <p:nvSpPr>
          <p:cNvPr id="100" name="Text 98"/>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1" name="Text 99"/>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2" name="Text 100"/>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84.5%</a:t>
            </a:r>
            <a:endParaRPr lang="en-US" sz="1400" dirty="0"/>
          </a:p>
        </p:txBody>
      </p:sp>
      <p:sp>
        <p:nvSpPr>
          <p:cNvPr id="103" name="Text 101"/>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4" name="Text 102"/>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5" name="Text 103"/>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2,065 more a year.</a:t>
            </a:r>
            <a:endParaRPr lang="en-US" sz="1400" dirty="0"/>
          </a:p>
        </p:txBody>
      </p:sp>
      <p:sp>
        <p:nvSpPr>
          <p:cNvPr id="106" name="Text 104"/>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7" name="Text 105"/>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08" name="Text 106"/>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$12,042</a:t>
            </a:r>
            <a:endParaRPr lang="en-US" sz="1400" dirty="0"/>
          </a:p>
        </p:txBody>
      </p:sp>
      <p:sp>
        <p:nvSpPr>
          <p:cNvPr id="109" name="Text 107"/>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10" name="Text 108"/>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11" name="Text 109"/>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8.1 heads over peer avg.</a:t>
            </a:r>
            <a:endParaRPr lang="en-US" sz="14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GMC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$2.27M</a:t>
            </a:r>
            <a:pPr indent="0" marL="0">
              <a:buNone/>
            </a:pPr>
            <a:r>
              <a:rPr lang="en-US" sz="1400" b="1" dirty="0">
                <a:solidFill>
                  <a:srgbClr val="0B7A4A"/>
                </a:solidFill>
                <a:latin typeface="Inter" pitchFamily="34" charset="0"/>
                <a:ea typeface="Inter" pitchFamily="34" charset="-122"/>
                <a:cs typeface="Inter" pitchFamily="34" charset="-120"/>
              </a:rPr>
              <a:t>  +$178K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$19,561</a:t>
            </a:r>
            <a:pPr indent="0" marL="0">
              <a:buNone/>
            </a:pPr>
            <a:r>
              <a:rPr lang="en-US" sz="1400" b="1" dirty="0">
                <a:solidFill>
                  <a:srgbClr val="0B7A4A"/>
                </a:solidFill>
                <a:latin typeface="Inter" pitchFamily="34" charset="0"/>
                <a:ea typeface="Inter" pitchFamily="34" charset="-122"/>
                <a:cs typeface="Inter" pitchFamily="34" charset="-120"/>
              </a:rPr>
              <a:t>  +$144K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75.6%</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3,107</a:t>
            </a:r>
            <a:pPr indent="0" marL="0">
              <a:buNone/>
            </a:pPr>
            <a:r>
              <a:rPr lang="en-US" sz="1400" b="1" dirty="0">
                <a:solidFill>
                  <a:srgbClr val="0B7A4A"/>
                </a:solidFill>
                <a:latin typeface="Inter" pitchFamily="34" charset="0"/>
                <a:ea typeface="Inter" pitchFamily="34" charset="-122"/>
                <a:cs typeface="Inter" pitchFamily="34" charset="-120"/>
              </a:rPr>
              <a:t>  +297</a:t>
            </a:r>
            <a:endParaRPr lang="en-US" sz="2200" dirty="0"/>
          </a:p>
        </p:txBody>
      </p:sp>
      <p:sp>
        <p:nvSpPr>
          <p:cNvPr id="17" name="Shape 15"/>
          <p:cNvSpPr/>
          <p:nvPr/>
        </p:nvSpPr>
        <p:spPr>
          <a:xfrm>
            <a:off x="4693666" y="658368"/>
            <a:ext cx="7038086" cy="475488"/>
          </a:xfrm>
          <a:prstGeom prst="rect">
            <a:avLst/>
          </a:prstGeom>
          <a:solidFill>
            <a:srgbClr val="EDF4FA"/>
          </a:solidFill>
          <a:ln/>
        </p:spPr>
      </p:sp>
      <p:sp>
        <p:nvSpPr>
          <p:cNvPr id="18" name="Text 16"/>
          <p:cNvSpPr txBox="1"/>
          <p:nvPr/>
        </p:nvSpPr>
        <p:spPr>
          <a:xfrm>
            <a:off x="4821682" y="658368"/>
            <a:ext cx="678205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6th · CP ROs +297   ·   8th · Hours per RO +0.26   ·   10th · MPI 93.2%</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 of 12</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$574K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72.2%</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$63K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$42K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7.8%</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300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160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6.1%</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162 more a year.</a:t>
            </a:r>
            <a:endParaRPr lang="en-US" sz="1400" dirty="0"/>
          </a:p>
        </p:txBody>
      </p:sp>
      <p:sp>
        <p:nvSpPr>
          <p:cNvPr id="72" name="Shape 70"/>
          <p:cNvSpPr/>
          <p:nvPr/>
        </p:nvSpPr>
        <p:spPr>
          <a:xfrm>
            <a:off x="658368" y="4718304"/>
            <a:ext cx="10872216" cy="329184"/>
          </a:xfrm>
          <a:prstGeom prst="rect">
            <a:avLst/>
          </a:prstGeom>
          <a:solidFill>
            <a:srgbClr val="F7F7F7"/>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11.7%</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135 more a year.</a:t>
            </a:r>
            <a:endParaRPr lang="en-US" sz="1400" dirty="0"/>
          </a:p>
        </p:txBody>
      </p:sp>
      <p:sp>
        <p:nvSpPr>
          <p:cNvPr id="79" name="Shape 77"/>
          <p:cNvSpPr/>
          <p:nvPr/>
        </p:nvSpPr>
        <p:spPr>
          <a:xfrm>
            <a:off x="658368" y="5042002"/>
            <a:ext cx="10872216" cy="10973"/>
          </a:xfrm>
          <a:prstGeom prst="rect">
            <a:avLst/>
          </a:prstGeom>
          <a:solidFill>
            <a:srgbClr val="9AA3AD"/>
          </a:solidFill>
          <a:ln/>
        </p:spPr>
      </p:sp>
      <p:sp>
        <p:nvSpPr>
          <p:cNvPr id="80" name="Text 78"/>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1" name="Text 79"/>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2" name="Text 80"/>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35.1%</a:t>
            </a:r>
            <a:endParaRPr lang="en-US" sz="1400" dirty="0"/>
          </a:p>
        </p:txBody>
      </p:sp>
      <p:sp>
        <p:nvSpPr>
          <p:cNvPr id="83" name="Text 81"/>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84" name="Text 82"/>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5" name="Text 83"/>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1,506 more a year.</a:t>
            </a:r>
            <a:endParaRPr lang="en-US" sz="1400" dirty="0"/>
          </a:p>
        </p:txBody>
      </p:sp>
      <p:sp>
        <p:nvSpPr>
          <p:cNvPr id="86" name="Shape 84"/>
          <p:cNvSpPr/>
          <p:nvPr/>
        </p:nvSpPr>
        <p:spPr>
          <a:xfrm>
            <a:off x="658368" y="5376672"/>
            <a:ext cx="10872216" cy="329184"/>
          </a:xfrm>
          <a:prstGeom prst="rect">
            <a:avLst/>
          </a:prstGeom>
          <a:solidFill>
            <a:srgbClr val="F7F7F7"/>
          </a:solidFill>
          <a:ln/>
        </p:spPr>
      </p:sp>
      <p:sp>
        <p:nvSpPr>
          <p:cNvPr id="87" name="Text 85"/>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8" name="Text 86"/>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9" name="Text 87"/>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$9,498</a:t>
            </a:r>
            <a:endParaRPr lang="en-US" sz="1400" dirty="0"/>
          </a:p>
        </p:txBody>
      </p:sp>
      <p:sp>
        <p:nvSpPr>
          <p:cNvPr id="90" name="Text 88"/>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1" name="Text 89"/>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2" name="Text 90"/>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$1.59M</a:t>
            </a:r>
            <a:pPr indent="0" marL="0">
              <a:buNone/>
            </a:pPr>
            <a:r>
              <a:rPr lang="en-US" sz="1400" b="1" dirty="0">
                <a:solidFill>
                  <a:srgbClr val="0B7A4A"/>
                </a:solidFill>
                <a:latin typeface="Inter" pitchFamily="34" charset="0"/>
                <a:ea typeface="Inter" pitchFamily="34" charset="-122"/>
                <a:cs typeface="Inter" pitchFamily="34" charset="-120"/>
              </a:rPr>
              <a:t>  +$23K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$79,496</a:t>
            </a:r>
            <a:pPr indent="0" marL="0">
              <a:buNone/>
            </a:pPr>
            <a:r>
              <a:rPr lang="en-US" sz="1400" b="1" dirty="0">
                <a:solidFill>
                  <a:srgbClr val="0B7A4A"/>
                </a:solidFill>
                <a:latin typeface="Inter" pitchFamily="34" charset="0"/>
                <a:ea typeface="Inter" pitchFamily="34" charset="-122"/>
                <a:cs typeface="Inter" pitchFamily="34" charset="-120"/>
              </a:rPr>
              <a:t>  +$53K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63.7%</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4,030</a:t>
            </a:r>
            <a:pPr indent="0" marL="0">
              <a:buNone/>
            </a:pPr>
            <a:r>
              <a:rPr lang="en-US" sz="1400" b="1" dirty="0">
                <a:solidFill>
                  <a:srgbClr val="A82B26"/>
                </a:solidFill>
                <a:latin typeface="Inter" pitchFamily="34" charset="0"/>
                <a:ea typeface="Inter" pitchFamily="34" charset="-122"/>
                <a:cs typeface="Inter" pitchFamily="34" charset="-120"/>
              </a:rPr>
              <a:t>  −30</a:t>
            </a:r>
            <a:endParaRPr lang="en-US" sz="2200" dirty="0"/>
          </a:p>
        </p:txBody>
      </p:sp>
      <p:sp>
        <p:nvSpPr>
          <p:cNvPr id="17" name="Shape 15"/>
          <p:cNvSpPr/>
          <p:nvPr/>
        </p:nvSpPr>
        <p:spPr>
          <a:xfrm>
            <a:off x="9404096" y="658368"/>
            <a:ext cx="2327656" cy="475488"/>
          </a:xfrm>
          <a:prstGeom prst="rect">
            <a:avLst/>
          </a:prstGeom>
          <a:solidFill>
            <a:srgbClr val="EDF4FA"/>
          </a:solidFill>
          <a:ln/>
        </p:spPr>
      </p:sp>
      <p:sp>
        <p:nvSpPr>
          <p:cNvPr id="18" name="Text 16"/>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Parts GP 45.1%</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6</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$473K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$79K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+0.08 hr per RO.</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367 more a year.</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0.7%</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$60K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364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735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$1.04M</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210 more a year.</a:t>
            </a:r>
            <a:endParaRPr lang="en-US" sz="1400" dirty="0"/>
          </a:p>
        </p:txBody>
      </p:sp>
      <p:sp>
        <p:nvSpPr>
          <p:cNvPr id="72" name="Shape 70"/>
          <p:cNvSpPr/>
          <p:nvPr/>
        </p:nvSpPr>
        <p:spPr>
          <a:xfrm>
            <a:off x="658368" y="4718304"/>
            <a:ext cx="10872216" cy="329184"/>
          </a:xfrm>
          <a:prstGeom prst="rect">
            <a:avLst/>
          </a:prstGeom>
          <a:solidFill>
            <a:srgbClr val="F7F7F7"/>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4,030</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4,060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$14K</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40 more ROs.</a:t>
            </a:r>
            <a:endParaRPr lang="en-US" sz="1400" dirty="0"/>
          </a:p>
        </p:txBody>
      </p:sp>
      <p:sp>
        <p:nvSpPr>
          <p:cNvPr id="79" name="Shape 77"/>
          <p:cNvSpPr/>
          <p:nvPr/>
        </p:nvSpPr>
        <p:spPr>
          <a:xfrm>
            <a:off x="658368" y="5042002"/>
            <a:ext cx="10872216" cy="10973"/>
          </a:xfrm>
          <a:prstGeom prst="rect">
            <a:avLst/>
          </a:prstGeom>
          <a:solidFill>
            <a:srgbClr val="9AA3AD"/>
          </a:solidFill>
          <a:ln/>
        </p:spPr>
      </p:sp>
      <p:sp>
        <p:nvSpPr>
          <p:cNvPr id="80" name="Text 78"/>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1" name="Text 79"/>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2" name="Text 80"/>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$9,149</a:t>
            </a:r>
            <a:endParaRPr lang="en-US" sz="1400" dirty="0"/>
          </a:p>
        </p:txBody>
      </p:sp>
      <p:sp>
        <p:nvSpPr>
          <p:cNvPr id="83" name="Text 81"/>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4" name="Text 82"/>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5" name="Text 83"/>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5.4 heads over peer avg.</a:t>
            </a:r>
            <a:endParaRPr lang="en-US" sz="1400" dirty="0"/>
          </a:p>
        </p:txBody>
      </p:sp>
      <p:sp>
        <p:nvSpPr>
          <p:cNvPr id="86" name="Shape 84"/>
          <p:cNvSpPr/>
          <p:nvPr/>
        </p:nvSpPr>
        <p:spPr>
          <a:xfrm>
            <a:off x="658368" y="5376672"/>
            <a:ext cx="10872216" cy="329184"/>
          </a:xfrm>
          <a:prstGeom prst="rect">
            <a:avLst/>
          </a:prstGeom>
          <a:solidFill>
            <a:srgbClr val="F7F7F7"/>
          </a:solidFill>
          <a:ln/>
        </p:spPr>
      </p:sp>
      <p:sp>
        <p:nvSpPr>
          <p:cNvPr id="87" name="Text 85"/>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8" name="Text 86"/>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9" name="Text 87"/>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86.3%</a:t>
            </a:r>
            <a:endParaRPr lang="en-US" sz="1400" dirty="0"/>
          </a:p>
        </p:txBody>
      </p:sp>
      <p:sp>
        <p:nvSpPr>
          <p:cNvPr id="90" name="Text 88"/>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1" name="Text 89"/>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2" name="Text 90"/>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245 more a year.</a:t>
            </a:r>
            <a:endParaRPr lang="en-US" sz="14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$14.42M</a:t>
            </a:r>
            <a:pPr indent="0" marL="0">
              <a:buNone/>
            </a:pPr>
            <a:r>
              <a:rPr lang="en-US" sz="1400" b="1" dirty="0">
                <a:solidFill>
                  <a:srgbClr val="0B7A4A"/>
                </a:solidFill>
                <a:latin typeface="Inter" pitchFamily="34" charset="0"/>
                <a:ea typeface="Inter" pitchFamily="34" charset="-122"/>
                <a:cs typeface="Inter" pitchFamily="34" charset="-120"/>
              </a:rPr>
              <a:t>  +$932K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$6.08M</a:t>
            </a:r>
            <a:pPr indent="0" marL="0">
              <a:buNone/>
            </a:pPr>
            <a:r>
              <a:rPr lang="en-US" sz="1400" b="1" dirty="0">
                <a:solidFill>
                  <a:srgbClr val="0B7A4A"/>
                </a:solidFill>
                <a:latin typeface="Inter" pitchFamily="34" charset="0"/>
                <a:ea typeface="Inter" pitchFamily="34" charset="-122"/>
                <a:cs typeface="Inter" pitchFamily="34" charset="-120"/>
              </a:rPr>
              <a:t>  +$692K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86.3%</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22,527</a:t>
            </a:r>
            <a:pPr indent="0" marL="0">
              <a:buNone/>
            </a:pPr>
            <a:r>
              <a:rPr lang="en-US" sz="1400" b="1" dirty="0">
                <a:solidFill>
                  <a:srgbClr val="A82B26"/>
                </a:solidFill>
                <a:latin typeface="Inter" pitchFamily="34" charset="0"/>
                <a:ea typeface="Inter" pitchFamily="34" charset="-122"/>
                <a:cs typeface="Inter" pitchFamily="34" charset="-120"/>
              </a:rPr>
              <a:t>  −190</a:t>
            </a:r>
            <a:endParaRPr lang="en-US" sz="2200" dirty="0"/>
          </a:p>
        </p:txBody>
      </p:sp>
      <p:sp>
        <p:nvSpPr>
          <p:cNvPr id="17" name="Shape 15"/>
          <p:cNvSpPr/>
          <p:nvPr/>
        </p:nvSpPr>
        <p:spPr>
          <a:xfrm>
            <a:off x="6389878" y="658368"/>
            <a:ext cx="5341874" cy="475488"/>
          </a:xfrm>
          <a:prstGeom prst="rect">
            <a:avLst/>
          </a:prstGeom>
          <a:solidFill>
            <a:srgbClr val="EDF4FA"/>
          </a:solidFill>
          <a:ln/>
        </p:spPr>
      </p:sp>
      <p:sp>
        <p:nvSpPr>
          <p:cNvPr id="18" name="Text 16"/>
          <p:cNvSpPr txBox="1"/>
          <p:nvPr/>
        </p:nvSpPr>
        <p:spPr>
          <a:xfrm>
            <a:off x="6517894" y="658368"/>
            <a:ext cx="508584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Proficiency 118%   ·   2nd · Tire balance 18.4%</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1</a:t>
            </a:r>
            <a:endParaRPr lang="en-US" sz="16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Techs under 85%</a:t>
            </a:r>
            <a:endParaRPr lang="en-US" sz="16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5 of 28</a:t>
            </a:r>
            <a:endParaRPr lang="en-US" sz="16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85%</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$155K</a:t>
            </a:r>
            <a:endParaRPr lang="en-US" sz="16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Lift the 5 under 85%: dispatch, parts.</a:t>
            </a:r>
            <a:endParaRPr lang="en-US" sz="16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CP RO count</a:t>
            </a:r>
            <a:endParaRPr lang="en-US" sz="16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22,527</a:t>
            </a:r>
            <a:endParaRPr lang="en-US" sz="16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22,717</a:t>
            </a:r>
            <a:pPr indent="0" marL="0">
              <a:buNone/>
            </a:pPr>
            <a:r>
              <a:rPr lang="en-US" sz="1600" dirty="0">
                <a:solidFill>
                  <a:srgbClr val="595959"/>
                </a:solidFill>
                <a:latin typeface="Inter" pitchFamily="34" charset="0"/>
                <a:ea typeface="Inter" pitchFamily="34" charset="-122"/>
                <a:cs typeface="Inter" pitchFamily="34" charset="-120"/>
              </a:rPr>
              <a:t> in 2025</a:t>
            </a:r>
            <a:endParaRPr lang="en-US" sz="16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600" b="1" dirty="0">
                <a:solidFill>
                  <a:srgbClr val="0B2C4A"/>
                </a:solidFill>
                <a:latin typeface="Inter" pitchFamily="34" charset="0"/>
                <a:ea typeface="Inter" pitchFamily="34" charset="-122"/>
                <a:cs typeface="Inter" pitchFamily="34" charset="-120"/>
              </a:rPr>
              <a:t>$87K</a:t>
            </a:r>
            <a:endParaRPr lang="en-US" sz="16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Win back lapsed customers: 253 more ROs.</a:t>
            </a:r>
            <a:endParaRPr lang="en-US" sz="1600" dirty="0"/>
          </a:p>
        </p:txBody>
      </p:sp>
      <p:sp>
        <p:nvSpPr>
          <p:cNvPr id="40" name="Shape 38"/>
          <p:cNvSpPr/>
          <p:nvPr/>
        </p:nvSpPr>
        <p:spPr>
          <a:xfrm>
            <a:off x="658368" y="3066898"/>
            <a:ext cx="10872216" cy="10973"/>
          </a:xfrm>
          <a:prstGeom prst="rect">
            <a:avLst/>
          </a:prstGeom>
          <a:solidFill>
            <a:srgbClr val="9AA3AD"/>
          </a:solidFill>
          <a:ln/>
        </p:spPr>
      </p:sp>
      <p:sp>
        <p:nvSpPr>
          <p:cNvPr id="41" name="Text 39"/>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600" b="1" dirty="0">
                <a:solidFill>
                  <a:srgbClr val="5B9BD5"/>
                </a:solidFill>
                <a:latin typeface="Inter" pitchFamily="34" charset="0"/>
                <a:ea typeface="Inter" pitchFamily="34" charset="-122"/>
                <a:cs typeface="Inter" pitchFamily="34" charset="-120"/>
              </a:rPr>
              <a:t>3</a:t>
            </a:r>
            <a:endParaRPr lang="en-US" sz="1600" dirty="0"/>
          </a:p>
        </p:txBody>
      </p:sp>
      <p:sp>
        <p:nvSpPr>
          <p:cNvPr id="42" name="Text 40"/>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MPI completion</a:t>
            </a:r>
            <a:endParaRPr lang="en-US" sz="1600" dirty="0"/>
          </a:p>
        </p:txBody>
      </p:sp>
      <p:sp>
        <p:nvSpPr>
          <p:cNvPr id="43" name="Text 41"/>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600" b="1" dirty="0">
                <a:solidFill>
                  <a:srgbClr val="1A1A1A"/>
                </a:solidFill>
                <a:latin typeface="Inter" pitchFamily="34" charset="0"/>
                <a:ea typeface="Inter" pitchFamily="34" charset="-122"/>
                <a:cs typeface="Inter" pitchFamily="34" charset="-120"/>
              </a:rPr>
              <a:t>82.5%</a:t>
            </a:r>
            <a:endParaRPr lang="en-US" sz="1600" dirty="0"/>
          </a:p>
        </p:txBody>
      </p:sp>
      <p:sp>
        <p:nvSpPr>
          <p:cNvPr id="44" name="Text 42"/>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600" b="1" dirty="0">
                <a:solidFill>
                  <a:srgbClr val="595959"/>
                </a:solidFill>
                <a:latin typeface="Inter" pitchFamily="34" charset="0"/>
                <a:ea typeface="Inter" pitchFamily="34" charset="-122"/>
                <a:cs typeface="Inter" pitchFamily="34" charset="-120"/>
              </a:rPr>
              <a:t>90%</a:t>
            </a:r>
            <a:pPr indent="0" marL="0">
              <a:buNone/>
            </a:pPr>
            <a:r>
              <a:rPr lang="en-US" sz="1600" dirty="0">
                <a:solidFill>
                  <a:srgbClr val="595959"/>
                </a:solidFill>
                <a:latin typeface="Inter" pitchFamily="34" charset="0"/>
                <a:ea typeface="Inter" pitchFamily="34" charset="-122"/>
                <a:cs typeface="Inter" pitchFamily="34" charset="-120"/>
              </a:rPr>
              <a:t> benchmark</a:t>
            </a:r>
            <a:endParaRPr lang="en-US" sz="1600" dirty="0"/>
          </a:p>
        </p:txBody>
      </p:sp>
      <p:sp>
        <p:nvSpPr>
          <p:cNvPr id="45" name="Text 43"/>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600" dirty="0">
                <a:solidFill>
                  <a:srgbClr val="9AA3AD"/>
                </a:solidFill>
                <a:latin typeface="Inter" pitchFamily="34" charset="0"/>
                <a:ea typeface="Inter" pitchFamily="34" charset="-122"/>
                <a:cs typeface="Inter" pitchFamily="34" charset="-120"/>
              </a:rPr>
              <a:t>—</a:t>
            </a:r>
            <a:endParaRPr lang="en-US" sz="1600" dirty="0"/>
          </a:p>
        </p:txBody>
      </p:sp>
      <p:sp>
        <p:nvSpPr>
          <p:cNvPr id="46" name="Text 44"/>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600" dirty="0">
                <a:solidFill>
                  <a:srgbClr val="1A1A1A"/>
                </a:solidFill>
                <a:latin typeface="Inter" pitchFamily="34" charset="0"/>
                <a:ea typeface="Inter" pitchFamily="34" charset="-122"/>
                <a:cs typeface="Inter" pitchFamily="34" charset="-120"/>
              </a:rPr>
              <a:t>MPI every car: 2,945 more a year.</a:t>
            </a:r>
            <a:endParaRPr lang="en-US" sz="16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North</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$8.62M</a:t>
            </a:r>
            <a:pPr indent="0" marL="0">
              <a:buNone/>
            </a:pPr>
            <a:r>
              <a:rPr lang="en-US" sz="1400" b="1" dirty="0">
                <a:solidFill>
                  <a:srgbClr val="A82B26"/>
                </a:solidFill>
                <a:latin typeface="Inter" pitchFamily="34" charset="0"/>
                <a:ea typeface="Inter" pitchFamily="34" charset="-122"/>
                <a:cs typeface="Inter" pitchFamily="34" charset="-120"/>
              </a:rPr>
              <a:t>  −$840K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$3.32M</a:t>
            </a:r>
            <a:pPr indent="0" marL="0">
              <a:buNone/>
            </a:pPr>
            <a:r>
              <a:rPr lang="en-US" sz="1400" b="1" dirty="0">
                <a:solidFill>
                  <a:srgbClr val="A82B26"/>
                </a:solidFill>
                <a:latin typeface="Inter" pitchFamily="34" charset="0"/>
                <a:ea typeface="Inter" pitchFamily="34" charset="-122"/>
                <a:cs typeface="Inter" pitchFamily="34" charset="-120"/>
              </a:rPr>
              <a:t>  −$76K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89.9%</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15,048</a:t>
            </a:r>
            <a:pPr indent="0" marL="0">
              <a:buNone/>
            </a:pPr>
            <a:r>
              <a:rPr lang="en-US" sz="1400" b="1" dirty="0">
                <a:solidFill>
                  <a:srgbClr val="0B7A4A"/>
                </a:solidFill>
                <a:latin typeface="Inter" pitchFamily="34" charset="0"/>
                <a:ea typeface="Inter" pitchFamily="34" charset="-122"/>
                <a:cs typeface="Inter" pitchFamily="34" charset="-120"/>
              </a:rPr>
              <a:t>  +28</a:t>
            </a:r>
            <a:endParaRPr lang="en-US" sz="2200" dirty="0"/>
          </a:p>
        </p:txBody>
      </p:sp>
      <p:sp>
        <p:nvSpPr>
          <p:cNvPr id="17" name="Shape 15"/>
          <p:cNvSpPr/>
          <p:nvPr/>
        </p:nvSpPr>
        <p:spPr>
          <a:xfrm>
            <a:off x="3751326" y="658368"/>
            <a:ext cx="7980426" cy="475488"/>
          </a:xfrm>
          <a:prstGeom prst="rect">
            <a:avLst/>
          </a:prstGeom>
          <a:solidFill>
            <a:srgbClr val="EDF4FA"/>
          </a:solidFill>
          <a:ln/>
        </p:spPr>
      </p:sp>
      <p:sp>
        <p:nvSpPr>
          <p:cNvPr id="18" name="Text 16"/>
          <p:cNvSpPr txBox="1"/>
          <p:nvPr/>
        </p:nvSpPr>
        <p:spPr>
          <a:xfrm>
            <a:off x="3879342" y="658368"/>
            <a:ext cx="772439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Absorption 89.9%   ·   4th · Proficiency 109%   ·   5th · Brake fluid 12.1%</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$5.92M</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$6.61M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$926K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$2.70M</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$2.84M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$194K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22</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$155K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600 more a year.</a:t>
            </a:r>
            <a:endParaRPr lang="en-US" sz="1400" dirty="0"/>
          </a:p>
        </p:txBody>
      </p:sp>
      <p:sp>
        <p:nvSpPr>
          <p:cNvPr id="53" name="Shape 51"/>
          <p:cNvSpPr/>
          <p:nvPr/>
        </p:nvSpPr>
        <p:spPr>
          <a:xfrm>
            <a:off x="658368" y="3725266"/>
            <a:ext cx="10872216" cy="10973"/>
          </a:xfrm>
          <a:prstGeom prst="rect">
            <a:avLst/>
          </a:prstGeom>
          <a:solidFill>
            <a:srgbClr val="9AA3AD"/>
          </a:solidFill>
          <a:ln/>
        </p:spPr>
      </p:sp>
      <p:sp>
        <p:nvSpPr>
          <p:cNvPr id="54" name="Text 52"/>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5" name="Text 53"/>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6" name="Text 54"/>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81.4%</a:t>
            </a:r>
            <a:endParaRPr lang="en-US" sz="1400" dirty="0"/>
          </a:p>
        </p:txBody>
      </p:sp>
      <p:sp>
        <p:nvSpPr>
          <p:cNvPr id="57" name="Text 55"/>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8" name="Text 56"/>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9" name="Text 57"/>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2,520 more a year.</a:t>
            </a:r>
            <a:endParaRPr lang="en-US" sz="14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Honda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$4.18M</a:t>
            </a:r>
            <a:pPr indent="0" marL="0">
              <a:buNone/>
            </a:pPr>
            <a:r>
              <a:rPr lang="en-US" sz="1400" b="1" dirty="0">
                <a:solidFill>
                  <a:srgbClr val="0B7A4A"/>
                </a:solidFill>
                <a:latin typeface="Inter" pitchFamily="34" charset="0"/>
                <a:ea typeface="Inter" pitchFamily="34" charset="-122"/>
                <a:cs typeface="Inter" pitchFamily="34" charset="-120"/>
              </a:rPr>
              <a:t>  +$373K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$1.32M</a:t>
            </a:r>
            <a:pPr indent="0" marL="0">
              <a:buNone/>
            </a:pPr>
            <a:r>
              <a:rPr lang="en-US" sz="1400" b="1" dirty="0">
                <a:solidFill>
                  <a:srgbClr val="0B7A4A"/>
                </a:solidFill>
                <a:latin typeface="Inter" pitchFamily="34" charset="0"/>
                <a:ea typeface="Inter" pitchFamily="34" charset="-122"/>
                <a:cs typeface="Inter" pitchFamily="34" charset="-120"/>
              </a:rPr>
              <a:t>  +$3K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87.6%</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8,930</a:t>
            </a:r>
            <a:pPr indent="0" marL="0">
              <a:buNone/>
            </a:pPr>
            <a:r>
              <a:rPr lang="en-US" sz="1400" b="1" dirty="0">
                <a:solidFill>
                  <a:srgbClr val="A82B26"/>
                </a:solidFill>
                <a:latin typeface="Inter" pitchFamily="34" charset="0"/>
                <a:ea typeface="Inter" pitchFamily="34" charset="-122"/>
                <a:cs typeface="Inter" pitchFamily="34" charset="-120"/>
              </a:rPr>
              <a:t>  −999</a:t>
            </a:r>
            <a:endParaRPr lang="en-US" sz="2200" dirty="0"/>
          </a:p>
        </p:txBody>
      </p:sp>
      <p:sp>
        <p:nvSpPr>
          <p:cNvPr id="17" name="Shape 15"/>
          <p:cNvSpPr/>
          <p:nvPr/>
        </p:nvSpPr>
        <p:spPr>
          <a:xfrm>
            <a:off x="7237984" y="658368"/>
            <a:ext cx="4493768" cy="475488"/>
          </a:xfrm>
          <a:prstGeom prst="rect">
            <a:avLst/>
          </a:prstGeom>
          <a:solidFill>
            <a:srgbClr val="EDF4FA"/>
          </a:solidFill>
          <a:ln/>
        </p:spPr>
      </p:sp>
      <p:sp>
        <p:nvSpPr>
          <p:cNvPr id="18" name="Text 16"/>
          <p:cNvSpPr txBox="1"/>
          <p:nvPr/>
        </p:nvSpPr>
        <p:spPr>
          <a:xfrm>
            <a:off x="7366000" y="658368"/>
            <a:ext cx="423773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Parts GP 47.0%   ·   3rd · CP ELR +$27</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8,930</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9,929</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$456K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1,332 more ROs.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1,526 more a year.</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$75K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509 more a year.</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294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$1.39M</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 of 15</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 under 85%: dispatch, parts.</a:t>
            </a:r>
            <a:endParaRPr lang="en-US" sz="1400" dirty="0"/>
          </a:p>
        </p:txBody>
      </p:sp>
      <p:sp>
        <p:nvSpPr>
          <p:cNvPr id="66" name="Shape 64"/>
          <p:cNvSpPr/>
          <p:nvPr/>
        </p:nvSpPr>
        <p:spPr>
          <a:xfrm>
            <a:off x="658368" y="4383634"/>
            <a:ext cx="10872216" cy="10973"/>
          </a:xfrm>
          <a:prstGeom prst="rect">
            <a:avLst/>
          </a:prstGeom>
          <a:solidFill>
            <a:srgbClr val="9AA3AD"/>
          </a:solidFill>
          <a:ln/>
        </p:spPr>
      </p:sp>
      <p:sp>
        <p:nvSpPr>
          <p:cNvPr id="67" name="Text 65"/>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8" name="Text 66"/>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69" name="Text 67"/>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0" name="Text 68"/>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1" name="Text 69"/>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2" name="Text 70"/>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5,742 more a year.</a:t>
            </a:r>
            <a:endParaRPr lang="en-US" sz="1400" dirty="0"/>
          </a:p>
        </p:txBody>
      </p:sp>
      <p:sp>
        <p:nvSpPr>
          <p:cNvPr id="73" name="Shape 71"/>
          <p:cNvSpPr/>
          <p:nvPr/>
        </p:nvSpPr>
        <p:spPr>
          <a:xfrm>
            <a:off x="658368" y="4718304"/>
            <a:ext cx="10872216" cy="329184"/>
          </a:xfrm>
          <a:prstGeom prst="rect">
            <a:avLst/>
          </a:prstGeom>
          <a:solidFill>
            <a:srgbClr val="F7F7F7"/>
          </a:solidFill>
          <a:ln/>
        </p:spPr>
      </p:sp>
      <p:sp>
        <p:nvSpPr>
          <p:cNvPr id="74" name="Text 72"/>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5" name="Text 73"/>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6" name="Text 74"/>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49.6%</a:t>
            </a:r>
            <a:endParaRPr lang="en-US" sz="1400" dirty="0"/>
          </a:p>
        </p:txBody>
      </p:sp>
      <p:sp>
        <p:nvSpPr>
          <p:cNvPr id="77" name="Text 75"/>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8" name="Text 76"/>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9" name="Text 77"/>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1,171 more a year.</a:t>
            </a:r>
            <a:endParaRPr lang="en-US" sz="1400" dirty="0"/>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$1.54M</a:t>
            </a:r>
            <a:pPr indent="0" marL="0">
              <a:buNone/>
            </a:pPr>
            <a:r>
              <a:rPr lang="en-US" sz="1400" b="1" dirty="0">
                <a:solidFill>
                  <a:srgbClr val="0B7A4A"/>
                </a:solidFill>
                <a:latin typeface="Inter" pitchFamily="34" charset="0"/>
                <a:ea typeface="Inter" pitchFamily="34" charset="-122"/>
                <a:cs typeface="Inter" pitchFamily="34" charset="-120"/>
              </a:rPr>
              <a:t>  +$404K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−$136,511</a:t>
            </a:r>
            <a:pPr indent="0" marL="0">
              <a:buNone/>
            </a:pPr>
            <a:r>
              <a:rPr lang="en-US" sz="1400" b="1" dirty="0">
                <a:solidFill>
                  <a:srgbClr val="0B7A4A"/>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46.2%</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2,010</a:t>
            </a:r>
            <a:pPr indent="0" marL="0">
              <a:buNone/>
            </a:pPr>
            <a:r>
              <a:rPr lang="en-US" sz="1400" b="1" dirty="0">
                <a:solidFill>
                  <a:srgbClr val="0B7A4A"/>
                </a:solidFill>
                <a:latin typeface="Inter" pitchFamily="34" charset="0"/>
                <a:ea typeface="Inter" pitchFamily="34" charset="-122"/>
                <a:cs typeface="Inter" pitchFamily="34" charset="-120"/>
              </a:rPr>
              <a:t>  +226</a:t>
            </a:r>
            <a:endParaRPr lang="en-US" sz="2200" dirty="0"/>
          </a:p>
        </p:txBody>
      </p:sp>
      <p:sp>
        <p:nvSpPr>
          <p:cNvPr id="17" name="Shape 15"/>
          <p:cNvSpPr/>
          <p:nvPr/>
        </p:nvSpPr>
        <p:spPr>
          <a:xfrm>
            <a:off x="7143750" y="658368"/>
            <a:ext cx="4588002" cy="475488"/>
          </a:xfrm>
          <a:prstGeom prst="rect">
            <a:avLst/>
          </a:prstGeom>
          <a:solidFill>
            <a:srgbClr val="EDF4FA"/>
          </a:solidFill>
          <a:ln/>
        </p:spPr>
      </p:sp>
      <p:sp>
        <p:nvSpPr>
          <p:cNvPr id="18" name="Text 16"/>
          <p:cNvSpPr txBox="1"/>
          <p:nvPr/>
        </p:nvSpPr>
        <p:spPr>
          <a:xfrm>
            <a:off x="7271766" y="658368"/>
            <a:ext cx="433197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Video 91.2%   ·   3rd · Alignment 21.8%</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9</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$412K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$213</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67.7%</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$59K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1.64</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$54K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+0.11 hr per RO.</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59" name="Shape 57"/>
          <p:cNvSpPr/>
          <p:nvPr/>
        </p:nvSpPr>
        <p:spPr>
          <a:xfrm>
            <a:off x="658368" y="4054450"/>
            <a:ext cx="10872216" cy="10973"/>
          </a:xfrm>
          <a:prstGeom prst="rect">
            <a:avLst/>
          </a:prstGeom>
          <a:solidFill>
            <a:srgbClr val="9AA3AD"/>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$11,631</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1.2 heads over peer avg.</a:t>
            </a:r>
            <a:endParaRPr lang="en-US" sz="14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Hyundai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$2.29M</a:t>
            </a:r>
            <a:pPr indent="0" marL="0">
              <a:buNone/>
            </a:pPr>
            <a:r>
              <a:rPr lang="en-US" sz="1400" b="1" dirty="0">
                <a:solidFill>
                  <a:srgbClr val="0B7A4A"/>
                </a:solidFill>
                <a:latin typeface="Inter" pitchFamily="34" charset="0"/>
                <a:ea typeface="Inter" pitchFamily="34" charset="-122"/>
                <a:cs typeface="Inter" pitchFamily="34" charset="-120"/>
              </a:rPr>
              <a:t>  +$88K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$107,886</a:t>
            </a:r>
            <a:pPr indent="0" marL="0">
              <a:buNone/>
            </a:pPr>
            <a:r>
              <a:rPr lang="en-US" sz="1400" b="1" dirty="0">
                <a:solidFill>
                  <a:srgbClr val="A82B26"/>
                </a:solidFill>
                <a:latin typeface="Inter" pitchFamily="34" charset="0"/>
                <a:ea typeface="Inter" pitchFamily="34" charset="-122"/>
                <a:cs typeface="Inter" pitchFamily="34" charset="-120"/>
              </a:rPr>
              <a:t>  −$96K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57.2%</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3,349</a:t>
            </a:r>
            <a:pPr indent="0" marL="0">
              <a:buNone/>
            </a:pPr>
            <a:r>
              <a:rPr lang="en-US" sz="1400" b="1" dirty="0">
                <a:solidFill>
                  <a:srgbClr val="A82B26"/>
                </a:solidFill>
                <a:latin typeface="Inter" pitchFamily="34" charset="0"/>
                <a:ea typeface="Inter" pitchFamily="34" charset="-122"/>
                <a:cs typeface="Inter" pitchFamily="34" charset="-120"/>
              </a:rPr>
              <a:t>  −435</a:t>
            </a:r>
            <a:endParaRPr lang="en-US" sz="2200" dirty="0"/>
          </a:p>
        </p:txBody>
      </p:sp>
      <p:sp>
        <p:nvSpPr>
          <p:cNvPr id="17" name="Shape 15"/>
          <p:cNvSpPr/>
          <p:nvPr/>
        </p:nvSpPr>
        <p:spPr>
          <a:xfrm>
            <a:off x="9122664" y="658368"/>
            <a:ext cx="2609088" cy="475488"/>
          </a:xfrm>
          <a:prstGeom prst="rect">
            <a:avLst/>
          </a:prstGeom>
          <a:solidFill>
            <a:srgbClr val="EDF4FA"/>
          </a:solidFill>
          <a:ln/>
        </p:spPr>
      </p:sp>
      <p:sp>
        <p:nvSpPr>
          <p:cNvPr id="18" name="Text 16"/>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Hours per RO +0.40</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11</a:t>
            </a:r>
            <a:endParaRPr lang="en-US" sz="1400" dirty="0"/>
          </a:p>
        </p:txBody>
      </p:sp>
      <p:sp>
        <p:nvSpPr>
          <p:cNvPr id="30" name="Text 28"/>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$1.06M</a:t>
            </a:r>
            <a:endParaRPr lang="en-US" sz="1400" dirty="0"/>
          </a:p>
        </p:txBody>
      </p:sp>
      <p:sp>
        <p:nvSpPr>
          <p:cNvPr id="32" name="Text 30"/>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37866"/>
            <a:ext cx="10872216" cy="323850"/>
          </a:xfrm>
          <a:prstGeom prst="rect">
            <a:avLst/>
          </a:prstGeom>
          <a:solidFill>
            <a:srgbClr val="F7F7F7"/>
          </a:solidFill>
          <a:ln/>
        </p:spPr>
      </p:sp>
      <p:sp>
        <p:nvSpPr>
          <p:cNvPr id="34" name="Text 32"/>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6" name="Text 34"/>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$827K</a:t>
            </a:r>
            <a:endParaRPr lang="en-US" sz="1400" dirty="0"/>
          </a:p>
        </p:txBody>
      </p:sp>
      <p:sp>
        <p:nvSpPr>
          <p:cNvPr id="37" name="Text 35"/>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$302K</a:t>
            </a:r>
            <a:endParaRPr lang="en-US" sz="1400" dirty="0"/>
          </a:p>
        </p:txBody>
      </p:sp>
      <p:sp>
        <p:nvSpPr>
          <p:cNvPr id="39" name="Text 37"/>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0" name="Text 38"/>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1.43</a:t>
            </a:r>
            <a:endParaRPr lang="en-US" sz="1400" dirty="0"/>
          </a:p>
        </p:txBody>
      </p:sp>
      <p:sp>
        <p:nvSpPr>
          <p:cNvPr id="43" name="Text 41"/>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4" name="Text 42"/>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5" name="Text 43"/>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+0.32 hr per RO.</a:t>
            </a:r>
            <a:endParaRPr lang="en-US" sz="1400" dirty="0"/>
          </a:p>
        </p:txBody>
      </p:sp>
      <p:sp>
        <p:nvSpPr>
          <p:cNvPr id="46" name="Shape 44"/>
          <p:cNvSpPr/>
          <p:nvPr/>
        </p:nvSpPr>
        <p:spPr>
          <a:xfrm>
            <a:off x="658368" y="3385566"/>
            <a:ext cx="10872216" cy="323850"/>
          </a:xfrm>
          <a:prstGeom prst="rect">
            <a:avLst/>
          </a:prstGeom>
          <a:solidFill>
            <a:srgbClr val="F7F7F7"/>
          </a:solidFill>
          <a:ln/>
        </p:spPr>
      </p:sp>
      <p:sp>
        <p:nvSpPr>
          <p:cNvPr id="47" name="Text 45"/>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9" name="Text 47"/>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3,349</a:t>
            </a:r>
            <a:endParaRPr lang="en-US" sz="1400" dirty="0"/>
          </a:p>
        </p:txBody>
      </p:sp>
      <p:sp>
        <p:nvSpPr>
          <p:cNvPr id="50" name="Text 48"/>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3,784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1" name="Text 49"/>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$198K</a:t>
            </a:r>
            <a:endParaRPr lang="en-US" sz="1400" dirty="0"/>
          </a:p>
        </p:txBody>
      </p:sp>
      <p:sp>
        <p:nvSpPr>
          <p:cNvPr id="52" name="Text 50"/>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580 more ROs.</a:t>
            </a:r>
            <a:endParaRPr lang="en-US" sz="1400" dirty="0"/>
          </a:p>
        </p:txBody>
      </p:sp>
      <p:sp>
        <p:nvSpPr>
          <p:cNvPr id="53" name="Text 51"/>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55" name="Text 53"/>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56" name="Text 54"/>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7" name="Text 55"/>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58" name="Text 56"/>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59" name="Shape 57"/>
          <p:cNvSpPr/>
          <p:nvPr/>
        </p:nvSpPr>
        <p:spPr>
          <a:xfrm>
            <a:off x="658368" y="4033266"/>
            <a:ext cx="10872216" cy="323850"/>
          </a:xfrm>
          <a:prstGeom prst="rect">
            <a:avLst/>
          </a:prstGeom>
          <a:solidFill>
            <a:srgbClr val="F7F7F7"/>
          </a:solidFill>
          <a:ln/>
        </p:spPr>
      </p:sp>
      <p:sp>
        <p:nvSpPr>
          <p:cNvPr id="60" name="Text 58"/>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2" name="Text 60"/>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a:t>
            </a:r>
            <a:endParaRPr lang="en-US" sz="1400" dirty="0"/>
          </a:p>
        </p:txBody>
      </p:sp>
      <p:sp>
        <p:nvSpPr>
          <p:cNvPr id="63" name="Text 61"/>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65" name="Text 63"/>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615 more a year.</a:t>
            </a:r>
            <a:endParaRPr lang="en-US" sz="1400" dirty="0"/>
          </a:p>
        </p:txBody>
      </p:sp>
      <p:sp>
        <p:nvSpPr>
          <p:cNvPr id="66" name="Text 64"/>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8" name="Text 66"/>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4.7%</a:t>
            </a:r>
            <a:endParaRPr lang="en-US" sz="1400" dirty="0"/>
          </a:p>
        </p:txBody>
      </p:sp>
      <p:sp>
        <p:nvSpPr>
          <p:cNvPr id="69" name="Text 67"/>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1" name="Text 69"/>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235 more a year.</a:t>
            </a:r>
            <a:endParaRPr lang="en-US" sz="1400" dirty="0"/>
          </a:p>
        </p:txBody>
      </p:sp>
      <p:sp>
        <p:nvSpPr>
          <p:cNvPr id="72" name="Shape 70"/>
          <p:cNvSpPr/>
          <p:nvPr/>
        </p:nvSpPr>
        <p:spPr>
          <a:xfrm>
            <a:off x="658368" y="4680966"/>
            <a:ext cx="10872216" cy="323850"/>
          </a:xfrm>
          <a:prstGeom prst="rect">
            <a:avLst/>
          </a:prstGeom>
          <a:solidFill>
            <a:srgbClr val="F7F7F7"/>
          </a:solidFill>
          <a:ln/>
        </p:spPr>
      </p:sp>
      <p:sp>
        <p:nvSpPr>
          <p:cNvPr id="73" name="Text 71"/>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75" name="Text 73"/>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5.9%</a:t>
            </a:r>
            <a:endParaRPr lang="en-US" sz="1400" dirty="0"/>
          </a:p>
        </p:txBody>
      </p:sp>
      <p:sp>
        <p:nvSpPr>
          <p:cNvPr id="76" name="Text 74"/>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78" name="Text 76"/>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72 more a year.</a:t>
            </a:r>
            <a:endParaRPr lang="en-US" sz="1400" dirty="0"/>
          </a:p>
        </p:txBody>
      </p:sp>
      <p:sp>
        <p:nvSpPr>
          <p:cNvPr id="79" name="Text 77"/>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81" name="Text 79"/>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39.4%</a:t>
            </a:r>
            <a:endParaRPr lang="en-US" sz="1400" dirty="0"/>
          </a:p>
        </p:txBody>
      </p:sp>
      <p:sp>
        <p:nvSpPr>
          <p:cNvPr id="82" name="Text 80"/>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3" name="Text 81"/>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84" name="Text 82"/>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85" name="Shape 83"/>
          <p:cNvSpPr/>
          <p:nvPr/>
        </p:nvSpPr>
        <p:spPr>
          <a:xfrm>
            <a:off x="658368" y="5323180"/>
            <a:ext cx="10872216" cy="10973"/>
          </a:xfrm>
          <a:prstGeom prst="rect">
            <a:avLst/>
          </a:prstGeom>
          <a:solidFill>
            <a:srgbClr val="9AA3AD"/>
          </a:solidFill>
          <a:ln/>
        </p:spPr>
      </p:sp>
      <p:sp>
        <p:nvSpPr>
          <p:cNvPr id="86" name="Text 84"/>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8" name="Text 86"/>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62.7%</a:t>
            </a:r>
            <a:endParaRPr lang="en-US" sz="1400" dirty="0"/>
          </a:p>
        </p:txBody>
      </p:sp>
      <p:sp>
        <p:nvSpPr>
          <p:cNvPr id="89" name="Text 87"/>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0" name="Text 88"/>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1" name="Text 89"/>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2,247 more a year.</a:t>
            </a:r>
            <a:endParaRPr lang="en-US" sz="1400" dirty="0"/>
          </a:p>
        </p:txBody>
      </p:sp>
      <p:sp>
        <p:nvSpPr>
          <p:cNvPr id="92" name="Text 90"/>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3" name="Text 91"/>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4" name="Text 92"/>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$11,541</a:t>
            </a:r>
            <a:endParaRPr lang="en-US" sz="1400" dirty="0"/>
          </a:p>
        </p:txBody>
      </p:sp>
      <p:sp>
        <p:nvSpPr>
          <p:cNvPr id="95" name="Text 93"/>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6" name="Text 94"/>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7" name="Text 95"/>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2.0 heads over peer avg.</a:t>
            </a:r>
            <a:endParaRPr lang="en-US" sz="1400" dirty="0"/>
          </a:p>
        </p:txBody>
      </p:sp>
      <p:sp>
        <p:nvSpPr>
          <p:cNvPr id="98" name="Shape 96"/>
          <p:cNvSpPr/>
          <p:nvPr/>
        </p:nvSpPr>
        <p:spPr>
          <a:xfrm>
            <a:off x="658368" y="5976366"/>
            <a:ext cx="10872216" cy="323850"/>
          </a:xfrm>
          <a:prstGeom prst="rect">
            <a:avLst/>
          </a:prstGeom>
          <a:solidFill>
            <a:srgbClr val="F7F7F7"/>
          </a:solidFill>
          <a:ln/>
        </p:spPr>
      </p:sp>
      <p:sp>
        <p:nvSpPr>
          <p:cNvPr id="99" name="Text 97"/>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0" name="Text 98"/>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1" name="Text 99"/>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53.1%</a:t>
            </a:r>
            <a:endParaRPr lang="en-US" sz="1400" dirty="0"/>
          </a:p>
        </p:txBody>
      </p:sp>
      <p:sp>
        <p:nvSpPr>
          <p:cNvPr id="102" name="Text 100"/>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03" name="Text 101"/>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390 more a year.</a:t>
            </a:r>
            <a:endParaRPr lang="en-US" sz="140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$6.15M</a:t>
            </a:r>
            <a:pPr indent="0" marL="0">
              <a:buNone/>
            </a:pPr>
            <a:r>
              <a:rPr lang="en-US" sz="1400" b="1" dirty="0">
                <a:solidFill>
                  <a:srgbClr val="0B7A4A"/>
                </a:solidFill>
                <a:latin typeface="Inter" pitchFamily="34" charset="0"/>
                <a:ea typeface="Inter" pitchFamily="34" charset="-122"/>
                <a:cs typeface="Inter" pitchFamily="34" charset="-120"/>
              </a:rPr>
              <a:t>  +$125K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$1.80M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78.6%</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8,133</a:t>
            </a:r>
            <a:pPr indent="0" marL="0">
              <a:buNone/>
            </a:pPr>
            <a:r>
              <a:rPr lang="en-US" sz="1400" b="1" dirty="0">
                <a:solidFill>
                  <a:srgbClr val="0B7A4A"/>
                </a:solidFill>
                <a:latin typeface="Inter" pitchFamily="34" charset="0"/>
                <a:ea typeface="Inter" pitchFamily="34" charset="-122"/>
                <a:cs typeface="Inter" pitchFamily="34" charset="-120"/>
              </a:rPr>
              <a:t>  +977</a:t>
            </a:r>
            <a:endParaRPr lang="en-US" sz="2200" dirty="0"/>
          </a:p>
        </p:txBody>
      </p:sp>
      <p:sp>
        <p:nvSpPr>
          <p:cNvPr id="17" name="Shape 15"/>
          <p:cNvSpPr/>
          <p:nvPr/>
        </p:nvSpPr>
        <p:spPr>
          <a:xfrm>
            <a:off x="9404096" y="658368"/>
            <a:ext cx="2327656" cy="475488"/>
          </a:xfrm>
          <a:prstGeom prst="rect">
            <a:avLst/>
          </a:prstGeom>
          <a:solidFill>
            <a:srgbClr val="EDF4FA"/>
          </a:solidFill>
          <a:ln/>
        </p:spPr>
      </p:sp>
      <p:sp>
        <p:nvSpPr>
          <p:cNvPr id="18" name="Text 16"/>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ROs +977</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 of 20</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$891K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1.57</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$351K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+0.18 hr per RO.</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$234</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$259K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$2.10M</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$223K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9.8%</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568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3.2%</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464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$72K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1,059 more a year.</a:t>
            </a:r>
            <a:endParaRPr lang="en-US" sz="1400" dirty="0"/>
          </a:p>
        </p:txBody>
      </p:sp>
      <p:sp>
        <p:nvSpPr>
          <p:cNvPr id="72" name="Shape 70"/>
          <p:cNvSpPr/>
          <p:nvPr/>
        </p:nvSpPr>
        <p:spPr>
          <a:xfrm>
            <a:off x="658368" y="4718304"/>
            <a:ext cx="10872216" cy="329184"/>
          </a:xfrm>
          <a:prstGeom prst="rect">
            <a:avLst/>
          </a:prstGeom>
          <a:solidFill>
            <a:srgbClr val="F7F7F7"/>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$151</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79" name="Text 77"/>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1" name="Text 79"/>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8.3%</a:t>
            </a:r>
            <a:endParaRPr lang="en-US" sz="1400" dirty="0"/>
          </a:p>
        </p:txBody>
      </p:sp>
      <p:sp>
        <p:nvSpPr>
          <p:cNvPr id="82" name="Text 80"/>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$22K</a:t>
            </a:r>
            <a:endParaRPr lang="en-US" sz="1400" dirty="0"/>
          </a:p>
        </p:txBody>
      </p:sp>
      <p:sp>
        <p:nvSpPr>
          <p:cNvPr id="84" name="Text 82"/>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187 more a year.</a:t>
            </a:r>
            <a:endParaRPr lang="en-US" sz="1400" dirty="0"/>
          </a:p>
        </p:txBody>
      </p:sp>
      <p:sp>
        <p:nvSpPr>
          <p:cNvPr id="85" name="Shape 83"/>
          <p:cNvSpPr/>
          <p:nvPr/>
        </p:nvSpPr>
        <p:spPr>
          <a:xfrm>
            <a:off x="658368" y="5371186"/>
            <a:ext cx="10872216" cy="10973"/>
          </a:xfrm>
          <a:prstGeom prst="rect">
            <a:avLst/>
          </a:prstGeom>
          <a:solidFill>
            <a:srgbClr val="9AA3AD"/>
          </a:solidFill>
          <a:ln/>
        </p:spPr>
      </p:sp>
      <p:sp>
        <p:nvSpPr>
          <p:cNvPr id="86" name="Text 84"/>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8" name="Text 86"/>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31.5%</a:t>
            </a:r>
            <a:endParaRPr lang="en-US" sz="1400" dirty="0"/>
          </a:p>
        </p:txBody>
      </p:sp>
      <p:sp>
        <p:nvSpPr>
          <p:cNvPr id="89" name="Text 87"/>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0" name="Text 88"/>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1" name="Text 89"/>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4,714 more a year.</a:t>
            </a:r>
            <a:endParaRPr lang="en-US" sz="1400" dirty="0"/>
          </a:p>
        </p:txBody>
      </p:sp>
      <p:sp>
        <p:nvSpPr>
          <p:cNvPr id="92" name="Text 90"/>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3" name="Text 91"/>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4" name="Text 92"/>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71.2%</a:t>
            </a:r>
            <a:endParaRPr lang="en-US" sz="1400" dirty="0"/>
          </a:p>
        </p:txBody>
      </p:sp>
      <p:sp>
        <p:nvSpPr>
          <p:cNvPr id="95" name="Text 93"/>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6" name="Text 94"/>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7" name="Text 95"/>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3,364 more a year.</a:t>
            </a:r>
            <a:endParaRPr lang="en-US" sz="14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Kia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$2.34M</a:t>
            </a:r>
            <a:pPr indent="0" marL="0">
              <a:buNone/>
            </a:pPr>
            <a:r>
              <a:rPr lang="en-US" sz="1400" b="1" dirty="0">
                <a:solidFill>
                  <a:srgbClr val="0B7A4A"/>
                </a:solidFill>
                <a:latin typeface="Inter" pitchFamily="34" charset="0"/>
                <a:ea typeface="Inter" pitchFamily="34" charset="-122"/>
                <a:cs typeface="Inter" pitchFamily="34" charset="-120"/>
              </a:rPr>
              <a:t>  +$216K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$502,109</a:t>
            </a:r>
            <a:pPr indent="0" marL="0">
              <a:buNone/>
            </a:pPr>
            <a:r>
              <a:rPr lang="en-US" sz="1400" b="1" dirty="0">
                <a:solidFill>
                  <a:srgbClr val="A82B26"/>
                </a:solidFill>
                <a:latin typeface="Inter" pitchFamily="34" charset="0"/>
                <a:ea typeface="Inter" pitchFamily="34" charset="-122"/>
                <a:cs typeface="Inter" pitchFamily="34" charset="-120"/>
              </a:rPr>
              <a:t>  −$147K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65.8%</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3,912</a:t>
            </a:r>
            <a:pPr indent="0" marL="0">
              <a:buNone/>
            </a:pPr>
            <a:r>
              <a:rPr lang="en-US" sz="1400" b="1" dirty="0">
                <a:solidFill>
                  <a:srgbClr val="0B7A4A"/>
                </a:solidFill>
                <a:latin typeface="Inter" pitchFamily="34" charset="0"/>
                <a:ea typeface="Inter" pitchFamily="34" charset="-122"/>
                <a:cs typeface="Inter" pitchFamily="34" charset="-120"/>
              </a:rPr>
              <a:t>  +91</a:t>
            </a:r>
            <a:endParaRPr lang="en-US" sz="2200" dirty="0"/>
          </a:p>
        </p:txBody>
      </p:sp>
      <p:sp>
        <p:nvSpPr>
          <p:cNvPr id="17" name="Shape 15"/>
          <p:cNvSpPr/>
          <p:nvPr/>
        </p:nvSpPr>
        <p:spPr>
          <a:xfrm>
            <a:off x="9122664" y="658368"/>
            <a:ext cx="2609088" cy="475488"/>
          </a:xfrm>
          <a:prstGeom prst="rect">
            <a:avLst/>
          </a:prstGeom>
          <a:solidFill>
            <a:srgbClr val="EDF4FA"/>
          </a:solidFill>
          <a:ln/>
        </p:spPr>
      </p:sp>
      <p:sp>
        <p:nvSpPr>
          <p:cNvPr id="18" name="Text 16"/>
          <p:cNvSpPr txBox="1"/>
          <p:nvPr/>
        </p:nvSpPr>
        <p:spPr>
          <a:xfrm>
            <a:off x="9250680" y="658368"/>
            <a:ext cx="235305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Hours per RO +0.30</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 of 12</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$919K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$435K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+0.46 hr per RO.</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$182</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$340K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8.0%</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365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211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7.7%</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380 more a year.</a:t>
            </a:r>
            <a:endParaRPr lang="en-US" sz="1400" dirty="0"/>
          </a:p>
        </p:txBody>
      </p:sp>
      <p:sp>
        <p:nvSpPr>
          <p:cNvPr id="66" name="Shape 64"/>
          <p:cNvSpPr/>
          <p:nvPr/>
        </p:nvSpPr>
        <p:spPr>
          <a:xfrm>
            <a:off x="658368" y="4383634"/>
            <a:ext cx="10872216" cy="10973"/>
          </a:xfrm>
          <a:prstGeom prst="rect">
            <a:avLst/>
          </a:prstGeom>
          <a:solidFill>
            <a:srgbClr val="9AA3AD"/>
          </a:solidFill>
          <a:ln/>
        </p:spPr>
      </p:sp>
      <p:sp>
        <p:nvSpPr>
          <p:cNvPr id="67" name="Text 65"/>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8" name="Text 66"/>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69" name="Text 67"/>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70" name="Text 68"/>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1" name="Text 69"/>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2" name="Text 70"/>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5,626 more a year.</a:t>
            </a:r>
            <a:endParaRPr lang="en-US" sz="1400" dirty="0"/>
          </a:p>
        </p:txBody>
      </p:sp>
      <p:sp>
        <p:nvSpPr>
          <p:cNvPr id="73" name="Shape 71"/>
          <p:cNvSpPr/>
          <p:nvPr/>
        </p:nvSpPr>
        <p:spPr>
          <a:xfrm>
            <a:off x="658368" y="4718304"/>
            <a:ext cx="10872216" cy="329184"/>
          </a:xfrm>
          <a:prstGeom prst="rect">
            <a:avLst/>
          </a:prstGeom>
          <a:solidFill>
            <a:srgbClr val="F7F7F7"/>
          </a:solidFill>
          <a:ln/>
        </p:spPr>
      </p:sp>
      <p:sp>
        <p:nvSpPr>
          <p:cNvPr id="74" name="Text 72"/>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5" name="Text 73"/>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76" name="Text 74"/>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60.9%</a:t>
            </a:r>
            <a:endParaRPr lang="en-US" sz="1400" dirty="0"/>
          </a:p>
        </p:txBody>
      </p:sp>
      <p:sp>
        <p:nvSpPr>
          <p:cNvPr id="77" name="Text 75"/>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8" name="Text 76"/>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9" name="Text 77"/>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3,110 more a year.</a:t>
            </a:r>
            <a:endParaRPr lang="en-US" sz="1400" dirty="0"/>
          </a:p>
        </p:txBody>
      </p:sp>
      <p:sp>
        <p:nvSpPr>
          <p:cNvPr id="80" name="Text 78"/>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1" name="Text 79"/>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2" name="Text 80"/>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$12,103</a:t>
            </a:r>
            <a:endParaRPr lang="en-US" sz="1400" dirty="0"/>
          </a:p>
        </p:txBody>
      </p:sp>
      <p:sp>
        <p:nvSpPr>
          <p:cNvPr id="83" name="Text 81"/>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4" name="Text 82"/>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5" name="Text 83"/>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 heads over peer avg.</a:t>
            </a:r>
            <a:endParaRPr lang="en-US" sz="14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Lexus</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$4.15M</a:t>
            </a:r>
            <a:pPr indent="0" marL="0">
              <a:buNone/>
            </a:pPr>
            <a:r>
              <a:rPr lang="en-US" sz="1400" b="1" dirty="0">
                <a:solidFill>
                  <a:srgbClr val="0B7A4A"/>
                </a:solidFill>
                <a:latin typeface="Inter" pitchFamily="34" charset="0"/>
                <a:ea typeface="Inter" pitchFamily="34" charset="-122"/>
                <a:cs typeface="Inter" pitchFamily="34" charset="-120"/>
              </a:rPr>
              <a:t>  +$764K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$1.20M</a:t>
            </a:r>
            <a:pPr indent="0" marL="0">
              <a:buNone/>
            </a:pPr>
            <a:r>
              <a:rPr lang="en-US" sz="1400" b="1" dirty="0">
                <a:solidFill>
                  <a:srgbClr val="0B7A4A"/>
                </a:solidFill>
                <a:latin typeface="Inter" pitchFamily="34" charset="0"/>
                <a:ea typeface="Inter" pitchFamily="34" charset="-122"/>
                <a:cs typeface="Inter" pitchFamily="34" charset="-120"/>
              </a:rPr>
              <a:t>  +$206K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75.6%</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4,567</a:t>
            </a:r>
            <a:pPr indent="0" marL="0">
              <a:buNone/>
            </a:pPr>
            <a:r>
              <a:rPr lang="en-US" sz="1400" b="1" dirty="0">
                <a:solidFill>
                  <a:srgbClr val="0B7A4A"/>
                </a:solidFill>
                <a:latin typeface="Inter" pitchFamily="34" charset="0"/>
                <a:ea typeface="Inter" pitchFamily="34" charset="-122"/>
                <a:cs typeface="Inter" pitchFamily="34" charset="-120"/>
              </a:rPr>
              <a:t>  +66</a:t>
            </a:r>
            <a:endParaRPr lang="en-US" sz="2200" dirty="0"/>
          </a:p>
        </p:txBody>
      </p:sp>
      <p:sp>
        <p:nvSpPr>
          <p:cNvPr id="17" name="Shape 15"/>
          <p:cNvSpPr/>
          <p:nvPr/>
        </p:nvSpPr>
        <p:spPr>
          <a:xfrm>
            <a:off x="9404096" y="658368"/>
            <a:ext cx="2327656" cy="475488"/>
          </a:xfrm>
          <a:prstGeom prst="rect">
            <a:avLst/>
          </a:prstGeom>
          <a:solidFill>
            <a:srgbClr val="EDF4FA"/>
          </a:solidFill>
          <a:ln/>
        </p:spPr>
      </p:sp>
      <p:sp>
        <p:nvSpPr>
          <p:cNvPr id="18" name="Text 16"/>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Parts GP 49.0%</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$403</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$1.18M</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2.08</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$911K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+0.82 hr per RO.</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11</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$379K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0.1%</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11.4%</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221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4.3%</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$25K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195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98 more a year.</a:t>
            </a:r>
            <a:endParaRPr lang="en-US" sz="14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Lincoln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$2.98M</a:t>
            </a:r>
            <a:pPr indent="0" marL="0">
              <a:buNone/>
            </a:pPr>
            <a:r>
              <a:rPr lang="en-US" sz="1400" b="1" dirty="0">
                <a:solidFill>
                  <a:srgbClr val="0B7A4A"/>
                </a:solidFill>
                <a:latin typeface="Inter" pitchFamily="34" charset="0"/>
                <a:ea typeface="Inter" pitchFamily="34" charset="-122"/>
                <a:cs typeface="Inter" pitchFamily="34" charset="-120"/>
              </a:rPr>
              <a:t>  +$717K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$94,430</a:t>
            </a:r>
            <a:pPr indent="0" marL="0">
              <a:buNone/>
            </a:pPr>
            <a:r>
              <a:rPr lang="en-US" sz="1400" b="1" dirty="0">
                <a:solidFill>
                  <a:srgbClr val="0B7A4A"/>
                </a:solidFill>
                <a:latin typeface="Inter" pitchFamily="34" charset="0"/>
                <a:ea typeface="Inter" pitchFamily="34" charset="-122"/>
                <a:cs typeface="Inter" pitchFamily="34" charset="-120"/>
              </a:rPr>
              <a:t>  +$484K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59.9%</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2,630</a:t>
            </a:r>
            <a:pPr indent="0" marL="0">
              <a:buNone/>
            </a:pPr>
            <a:r>
              <a:rPr lang="en-US" sz="1400" b="1" dirty="0">
                <a:solidFill>
                  <a:srgbClr val="0B7A4A"/>
                </a:solidFill>
                <a:latin typeface="Inter" pitchFamily="34" charset="0"/>
                <a:ea typeface="Inter" pitchFamily="34" charset="-122"/>
                <a:cs typeface="Inter" pitchFamily="34" charset="-120"/>
              </a:rPr>
              <a:t>  +93</a:t>
            </a:r>
            <a:endParaRPr lang="en-US" sz="2200" dirty="0"/>
          </a:p>
        </p:txBody>
      </p:sp>
      <p:sp>
        <p:nvSpPr>
          <p:cNvPr id="17" name="Shape 15"/>
          <p:cNvSpPr/>
          <p:nvPr/>
        </p:nvSpPr>
        <p:spPr>
          <a:xfrm>
            <a:off x="9404096" y="658368"/>
            <a:ext cx="2327656" cy="475488"/>
          </a:xfrm>
          <a:prstGeom prst="rect">
            <a:avLst/>
          </a:prstGeom>
          <a:solidFill>
            <a:srgbClr val="EDF4FA"/>
          </a:solidFill>
          <a:ln/>
        </p:spPr>
      </p:sp>
      <p:sp>
        <p:nvSpPr>
          <p:cNvPr id="18" name="Text 16"/>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CP ELR +$28</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$416</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$628K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11</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$284K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5 under 85%: dispatch, parts.</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2.48</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$267K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+0.42 hr per RO.</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37.0%</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41.3%</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$55K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$167</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$171</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$31K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467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230 more a year.</a:t>
            </a:r>
            <a:endParaRPr lang="en-US" sz="1400" dirty="0"/>
          </a:p>
        </p:txBody>
      </p:sp>
      <p:sp>
        <p:nvSpPr>
          <p:cNvPr id="72" name="Shape 70"/>
          <p:cNvSpPr/>
          <p:nvPr/>
        </p:nvSpPr>
        <p:spPr>
          <a:xfrm>
            <a:off x="658368" y="4718304"/>
            <a:ext cx="10872216" cy="329184"/>
          </a:xfrm>
          <a:prstGeom prst="rect">
            <a:avLst/>
          </a:prstGeom>
          <a:solidFill>
            <a:srgbClr val="F7F7F7"/>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87 more a year.</a:t>
            </a:r>
            <a:endParaRPr lang="en-US" sz="1400" dirty="0"/>
          </a:p>
        </p:txBody>
      </p:sp>
      <p:sp>
        <p:nvSpPr>
          <p:cNvPr id="79" name="Shape 77"/>
          <p:cNvSpPr/>
          <p:nvPr/>
        </p:nvSpPr>
        <p:spPr>
          <a:xfrm>
            <a:off x="658368" y="5042002"/>
            <a:ext cx="10872216" cy="10973"/>
          </a:xfrm>
          <a:prstGeom prst="rect">
            <a:avLst/>
          </a:prstGeom>
          <a:solidFill>
            <a:srgbClr val="9AA3AD"/>
          </a:solidFill>
          <a:ln/>
        </p:spPr>
      </p:sp>
      <p:sp>
        <p:nvSpPr>
          <p:cNvPr id="80" name="Text 78"/>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1" name="Text 79"/>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2" name="Text 80"/>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$10,963</a:t>
            </a:r>
            <a:endParaRPr lang="en-US" sz="1400" dirty="0"/>
          </a:p>
        </p:txBody>
      </p:sp>
      <p:sp>
        <p:nvSpPr>
          <p:cNvPr id="83" name="Text 81"/>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$16,998</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4" name="Text 82"/>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5" name="Text 83"/>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10.7 heads over peer avg.</a:t>
            </a:r>
            <a:endParaRPr lang="en-US" sz="1400" dirty="0"/>
          </a:p>
        </p:txBody>
      </p:sp>
      <p:sp>
        <p:nvSpPr>
          <p:cNvPr id="86" name="Shape 84"/>
          <p:cNvSpPr/>
          <p:nvPr/>
        </p:nvSpPr>
        <p:spPr>
          <a:xfrm>
            <a:off x="658368" y="5376672"/>
            <a:ext cx="10872216" cy="329184"/>
          </a:xfrm>
          <a:prstGeom prst="rect">
            <a:avLst/>
          </a:prstGeom>
          <a:solidFill>
            <a:srgbClr val="F7F7F7"/>
          </a:solidFill>
          <a:ln/>
        </p:spPr>
      </p:sp>
      <p:sp>
        <p:nvSpPr>
          <p:cNvPr id="87" name="Text 85"/>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8" name="Text 86"/>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89" name="Text 87"/>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42.7%</a:t>
            </a:r>
            <a:endParaRPr lang="en-US" sz="1400" dirty="0"/>
          </a:p>
        </p:txBody>
      </p:sp>
      <p:sp>
        <p:nvSpPr>
          <p:cNvPr id="90" name="Text 88"/>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91" name="Text 89"/>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2" name="Text 90"/>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1,108 more a year.</a:t>
            </a:r>
            <a:endParaRPr lang="en-US" sz="1400" dirty="0"/>
          </a:p>
        </p:txBody>
      </p:sp>
      <p:sp>
        <p:nvSpPr>
          <p:cNvPr id="93" name="Text 91"/>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4" name="Text 92"/>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5" name="Text 93"/>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68.5%</a:t>
            </a:r>
            <a:endParaRPr lang="en-US" sz="1400" dirty="0"/>
          </a:p>
        </p:txBody>
      </p:sp>
      <p:sp>
        <p:nvSpPr>
          <p:cNvPr id="96" name="Text 94"/>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7" name="Text 95"/>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8" name="Text 96"/>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1,573 more a year.</a:t>
            </a:r>
            <a:endParaRPr lang="en-US" sz="14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$3.42M</a:t>
            </a:r>
            <a:pPr indent="0" marL="0">
              <a:buNone/>
            </a:pPr>
            <a:r>
              <a:rPr lang="en-US" sz="1400" b="1" dirty="0">
                <a:solidFill>
                  <a:srgbClr val="0B7A4A"/>
                </a:solidFill>
                <a:latin typeface="Inter" pitchFamily="34" charset="0"/>
                <a:ea typeface="Inter" pitchFamily="34" charset="-122"/>
                <a:cs typeface="Inter" pitchFamily="34" charset="-120"/>
              </a:rPr>
              <a:t>  +$95K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$705,121</a:t>
            </a:r>
            <a:pPr indent="0" marL="0">
              <a:buNone/>
            </a:pPr>
            <a:r>
              <a:rPr lang="en-US" sz="1400" b="1" dirty="0">
                <a:solidFill>
                  <a:srgbClr val="0B7A4A"/>
                </a:solidFill>
                <a:latin typeface="Inter" pitchFamily="34" charset="0"/>
                <a:ea typeface="Inter" pitchFamily="34" charset="-122"/>
                <a:cs typeface="Inter" pitchFamily="34" charset="-120"/>
              </a:rPr>
              <a:t>  +$98K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74.4%</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1,559</a:t>
            </a:r>
            <a:pPr indent="0" marL="0">
              <a:buNone/>
            </a:pPr>
            <a:r>
              <a:rPr lang="en-US" sz="1400" b="1" dirty="0">
                <a:solidFill>
                  <a:srgbClr val="0B7A4A"/>
                </a:solidFill>
                <a:latin typeface="Inter" pitchFamily="34" charset="0"/>
                <a:ea typeface="Inter" pitchFamily="34" charset="-122"/>
                <a:cs typeface="Inter" pitchFamily="34" charset="-120"/>
              </a:rPr>
              <a:t>  +26</a:t>
            </a:r>
            <a:endParaRPr lang="en-US" sz="2200" dirty="0"/>
          </a:p>
        </p:txBody>
      </p:sp>
      <p:sp>
        <p:nvSpPr>
          <p:cNvPr id="17" name="Shape 15"/>
          <p:cNvSpPr/>
          <p:nvPr/>
        </p:nvSpPr>
        <p:spPr>
          <a:xfrm>
            <a:off x="3374390" y="658368"/>
            <a:ext cx="8357362" cy="475488"/>
          </a:xfrm>
          <a:prstGeom prst="rect">
            <a:avLst/>
          </a:prstGeom>
          <a:solidFill>
            <a:srgbClr val="EDF4FA"/>
          </a:solidFill>
          <a:ln/>
        </p:spPr>
      </p:sp>
      <p:sp>
        <p:nvSpPr>
          <p:cNvPr id="18" name="Text 16"/>
          <p:cNvSpPr txBox="1"/>
          <p:nvPr/>
        </p:nvSpPr>
        <p:spPr>
          <a:xfrm>
            <a:off x="3502406" y="658368"/>
            <a:ext cx="810133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Hours per RO 3.99   ·   1st · CP labor $/RO $933   ·   1st · Tire balance 27.0%</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7</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$179K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2.6%</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$34K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103 more a year.</a:t>
            </a:r>
            <a:endParaRPr lang="en-US" sz="1400" dirty="0"/>
          </a:p>
        </p:txBody>
      </p:sp>
      <p:sp>
        <p:nvSpPr>
          <p:cNvPr id="40" name="Shape 38"/>
          <p:cNvSpPr/>
          <p:nvPr/>
        </p:nvSpPr>
        <p:spPr>
          <a:xfrm>
            <a:off x="658368" y="3066898"/>
            <a:ext cx="10872216" cy="10973"/>
          </a:xfrm>
          <a:prstGeom prst="rect">
            <a:avLst/>
          </a:prstGeom>
          <a:solidFill>
            <a:srgbClr val="9AA3AD"/>
          </a:solidFill>
          <a:ln/>
        </p:spPr>
      </p:sp>
      <p:sp>
        <p:nvSpPr>
          <p:cNvPr id="41" name="Text 39"/>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2" name="Text 40"/>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43" name="Text 41"/>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73.0%</a:t>
            </a:r>
            <a:endParaRPr lang="en-US" sz="1400" dirty="0"/>
          </a:p>
        </p:txBody>
      </p:sp>
      <p:sp>
        <p:nvSpPr>
          <p:cNvPr id="44" name="Text 42"/>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5" name="Text 43"/>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46" name="Text 44"/>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648 more a year.</a:t>
            </a:r>
            <a:endParaRPr lang="en-US" sz="1400" dirty="0"/>
          </a:p>
        </p:txBody>
      </p:sp>
      <p:sp>
        <p:nvSpPr>
          <p:cNvPr id="47" name="Shape 45"/>
          <p:cNvSpPr/>
          <p:nvPr/>
        </p:nvSpPr>
        <p:spPr>
          <a:xfrm>
            <a:off x="658368" y="3401568"/>
            <a:ext cx="10872216" cy="329184"/>
          </a:xfrm>
          <a:prstGeom prst="rect">
            <a:avLst/>
          </a:prstGeom>
          <a:solidFill>
            <a:srgbClr val="F7F7F7"/>
          </a:solidFill>
          <a:ln/>
        </p:spPr>
      </p:sp>
      <p:sp>
        <p:nvSpPr>
          <p:cNvPr id="48" name="Text 46"/>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9" name="Text 47"/>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0" name="Text 48"/>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50.0%</a:t>
            </a:r>
            <a:endParaRPr lang="en-US" sz="1400" dirty="0"/>
          </a:p>
        </p:txBody>
      </p:sp>
      <p:sp>
        <p:nvSpPr>
          <p:cNvPr id="51" name="Text 49"/>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52" name="Text 50"/>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3" name="Text 51"/>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299 more a year.</a:t>
            </a:r>
            <a:endParaRPr lang="en-US" sz="14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$6.61M</a:t>
            </a:r>
            <a:pPr indent="0" marL="0">
              <a:buNone/>
            </a:pPr>
            <a:r>
              <a:rPr lang="en-US" sz="1400" b="1" dirty="0">
                <a:solidFill>
                  <a:srgbClr val="0B7A4A"/>
                </a:solidFill>
                <a:latin typeface="Inter" pitchFamily="34" charset="0"/>
                <a:ea typeface="Inter" pitchFamily="34" charset="-122"/>
                <a:cs typeface="Inter" pitchFamily="34" charset="-120"/>
              </a:rPr>
              <a:t>  +$135K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$2.04M</a:t>
            </a:r>
            <a:pPr indent="0" marL="0">
              <a:buNone/>
            </a:pPr>
            <a:r>
              <a:rPr lang="en-US" sz="1400" b="1" dirty="0">
                <a:solidFill>
                  <a:srgbClr val="0B7A4A"/>
                </a:solidFill>
                <a:latin typeface="Inter" pitchFamily="34" charset="0"/>
                <a:ea typeface="Inter" pitchFamily="34" charset="-122"/>
                <a:cs typeface="Inter" pitchFamily="34" charset="-120"/>
              </a:rPr>
              <a:t>  +$152K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93.7%</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3,496</a:t>
            </a:r>
            <a:pPr indent="0" marL="0">
              <a:buNone/>
            </a:pPr>
            <a:r>
              <a:rPr lang="en-US" sz="1400" b="1" dirty="0">
                <a:solidFill>
                  <a:srgbClr val="0B7A4A"/>
                </a:solidFill>
                <a:latin typeface="Inter" pitchFamily="34" charset="0"/>
                <a:ea typeface="Inter" pitchFamily="34" charset="-122"/>
                <a:cs typeface="Inter" pitchFamily="34" charset="-120"/>
              </a:rPr>
              <a:t>  +88</a:t>
            </a:r>
            <a:endParaRPr lang="en-US" sz="2200" dirty="0"/>
          </a:p>
        </p:txBody>
      </p:sp>
      <p:sp>
        <p:nvSpPr>
          <p:cNvPr id="17" name="Shape 15"/>
          <p:cNvSpPr/>
          <p:nvPr/>
        </p:nvSpPr>
        <p:spPr>
          <a:xfrm>
            <a:off x="3468624" y="658368"/>
            <a:ext cx="8263128" cy="475488"/>
          </a:xfrm>
          <a:prstGeom prst="rect">
            <a:avLst/>
          </a:prstGeom>
          <a:solidFill>
            <a:srgbClr val="EDF4FA"/>
          </a:solidFill>
          <a:ln/>
        </p:spPr>
      </p:sp>
      <p:sp>
        <p:nvSpPr>
          <p:cNvPr id="18" name="Text 16"/>
          <p:cNvSpPr txBox="1"/>
          <p:nvPr/>
        </p:nvSpPr>
        <p:spPr>
          <a:xfrm>
            <a:off x="3596640" y="658368"/>
            <a:ext cx="800709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Brake fluid 20.7%   ·   2nd · Hours per RO 3.99   ·   2nd · CP labor $/RO $931</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8 of 16</a:t>
            </a:r>
            <a:endParaRPr lang="en-US" sz="15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$758K</a:t>
            </a:r>
            <a:endParaRPr lang="en-US" sz="15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Lift the 8 under 85%: dispatch, parts.</a:t>
            </a:r>
            <a:endParaRPr lang="en-US" sz="15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Parts gross</a:t>
            </a:r>
            <a:endParaRPr lang="en-US" sz="15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$2.52M</a:t>
            </a:r>
            <a:endParaRPr lang="en-US" sz="15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$2.59M</a:t>
            </a:r>
            <a:pPr indent="0" marL="0">
              <a:buNone/>
            </a:pPr>
            <a:r>
              <a:rPr lang="en-US" sz="1500" dirty="0">
                <a:solidFill>
                  <a:srgbClr val="595959"/>
                </a:solidFill>
                <a:latin typeface="Inter" pitchFamily="34" charset="0"/>
                <a:ea typeface="Inter" pitchFamily="34" charset="-122"/>
                <a:cs typeface="Inter" pitchFamily="34" charset="-120"/>
              </a:rPr>
              <a:t> in 2025</a:t>
            </a:r>
            <a:endParaRPr lang="en-US" sz="15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$81K</a:t>
            </a:r>
            <a:endParaRPr lang="en-US" sz="15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on every RO; wholesale that pays.</a:t>
            </a:r>
            <a:endParaRPr lang="en-US" sz="15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5.5%</a:t>
            </a:r>
            <a:endParaRPr lang="en-US" sz="15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$24K</a:t>
            </a:r>
            <a:endParaRPr lang="en-US" sz="15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92 more a year.</a:t>
            </a:r>
            <a:endParaRPr lang="en-US" sz="1500" dirty="0"/>
          </a:p>
        </p:txBody>
      </p:sp>
      <p:sp>
        <p:nvSpPr>
          <p:cNvPr id="46" name="Shape 44"/>
          <p:cNvSpPr/>
          <p:nvPr/>
        </p:nvSpPr>
        <p:spPr>
          <a:xfrm>
            <a:off x="658368" y="3396082"/>
            <a:ext cx="10872216" cy="10973"/>
          </a:xfrm>
          <a:prstGeom prst="rect">
            <a:avLst/>
          </a:prstGeom>
          <a:solidFill>
            <a:srgbClr val="9AA3AD"/>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MPI completion</a:t>
            </a:r>
            <a:endParaRPr lang="en-US" sz="15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71.1%</a:t>
            </a:r>
            <a:endParaRPr lang="en-US" sz="15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90%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MPI every car: 1,567 more a year.</a:t>
            </a:r>
            <a:endParaRPr lang="en-US" sz="15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LR Reno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$2.21M</a:t>
            </a:r>
            <a:pPr indent="0" marL="0">
              <a:buNone/>
            </a:pPr>
            <a:r>
              <a:rPr lang="en-US" sz="1400" b="1" dirty="0">
                <a:solidFill>
                  <a:srgbClr val="0B7A4A"/>
                </a:solidFill>
                <a:latin typeface="Inter" pitchFamily="34" charset="0"/>
                <a:ea typeface="Inter" pitchFamily="34" charset="-122"/>
                <a:cs typeface="Inter" pitchFamily="34" charset="-120"/>
              </a:rPr>
              <a:t>  +$157K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$427,953</a:t>
            </a:r>
            <a:pPr indent="0" marL="0">
              <a:buNone/>
            </a:pPr>
            <a:r>
              <a:rPr lang="en-US" sz="1400" b="1" dirty="0">
                <a:solidFill>
                  <a:srgbClr val="0B7A4A"/>
                </a:solidFill>
                <a:latin typeface="Inter" pitchFamily="34" charset="0"/>
                <a:ea typeface="Inter" pitchFamily="34" charset="-122"/>
                <a:cs typeface="Inter" pitchFamily="34" charset="-120"/>
              </a:rPr>
              <a:t>  +$292K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77.3%</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1,421</a:t>
            </a:r>
            <a:pPr indent="0" marL="0">
              <a:buNone/>
            </a:pPr>
            <a:r>
              <a:rPr lang="en-US" sz="1400" b="1" dirty="0">
                <a:solidFill>
                  <a:srgbClr val="0B7A4A"/>
                </a:solidFill>
                <a:latin typeface="Inter" pitchFamily="34" charset="0"/>
                <a:ea typeface="Inter" pitchFamily="34" charset="-122"/>
                <a:cs typeface="Inter" pitchFamily="34" charset="-120"/>
              </a:rPr>
              <a:t>  +118</a:t>
            </a:r>
            <a:endParaRPr lang="en-US" sz="2200" dirty="0"/>
          </a:p>
        </p:txBody>
      </p:sp>
      <p:sp>
        <p:nvSpPr>
          <p:cNvPr id="17" name="Shape 15"/>
          <p:cNvSpPr/>
          <p:nvPr/>
        </p:nvSpPr>
        <p:spPr>
          <a:xfrm>
            <a:off x="7709154" y="658368"/>
            <a:ext cx="4022598" cy="475488"/>
          </a:xfrm>
          <a:prstGeom prst="rect">
            <a:avLst/>
          </a:prstGeom>
          <a:solidFill>
            <a:srgbClr val="EDF4FA"/>
          </a:solidFill>
          <a:ln/>
        </p:spPr>
      </p:sp>
      <p:sp>
        <p:nvSpPr>
          <p:cNvPr id="18" name="Text 16"/>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3rd · CP ELR $235</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1</a:t>
            </a:r>
            <a:endParaRPr lang="en-US" sz="15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Techs under 85%</a:t>
            </a:r>
            <a:endParaRPr lang="en-US" sz="15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2 of 6</a:t>
            </a:r>
            <a:endParaRPr lang="en-US" sz="15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85%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$247K</a:t>
            </a:r>
            <a:endParaRPr lang="en-US" sz="15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Dispatch, staging and approvals: flag 85%.</a:t>
            </a:r>
            <a:endParaRPr lang="en-US" sz="15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2</a:t>
            </a:r>
            <a:endParaRPr lang="en-US" sz="15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Brake fluid</a:t>
            </a:r>
            <a:endParaRPr lang="en-US" sz="15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7.2%</a:t>
            </a:r>
            <a:endParaRPr lang="en-US" sz="15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10%</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$20K</a:t>
            </a:r>
            <a:endParaRPr lang="en-US" sz="15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52 more a year.</a:t>
            </a:r>
            <a:endParaRPr lang="en-US" sz="15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3</a:t>
            </a:r>
            <a:endParaRPr lang="en-US" sz="15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Fuel service</a:t>
            </a:r>
            <a:endParaRPr lang="en-US" sz="15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4.6%</a:t>
            </a:r>
            <a:endParaRPr lang="en-US" sz="15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7.5%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$18K</a:t>
            </a:r>
            <a:endParaRPr lang="en-US" sz="15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55 more a year.</a:t>
            </a:r>
            <a:endParaRPr lang="en-US" sz="15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4</a:t>
            </a:r>
            <a:endParaRPr lang="en-US" sz="15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Alignment</a:t>
            </a:r>
            <a:endParaRPr lang="en-US" sz="15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12.9%</a:t>
            </a:r>
            <a:endParaRPr lang="en-US" sz="15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15%</a:t>
            </a:r>
            <a:pPr indent="0" marL="0">
              <a:buNone/>
            </a:pPr>
            <a:r>
              <a:rPr lang="en-US" sz="1500" dirty="0">
                <a:solidFill>
                  <a:srgbClr val="595959"/>
                </a:solidFill>
                <a:latin typeface="Inter" pitchFamily="34" charset="0"/>
                <a:ea typeface="Inter" pitchFamily="34" charset="-122"/>
                <a:cs typeface="Inter" pitchFamily="34" charset="-120"/>
              </a:rPr>
              <a:t> benchmark</a:t>
            </a:r>
            <a:endParaRPr lang="en-US" sz="15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500" b="1" dirty="0">
                <a:solidFill>
                  <a:srgbClr val="0B2C4A"/>
                </a:solidFill>
                <a:latin typeface="Inter" pitchFamily="34" charset="0"/>
                <a:ea typeface="Inter" pitchFamily="34" charset="-122"/>
                <a:cs typeface="Inter" pitchFamily="34" charset="-120"/>
              </a:rPr>
              <a:t>$10K</a:t>
            </a:r>
            <a:endParaRPr lang="en-US" sz="15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Recommend it on every visit: 40 more a year.</a:t>
            </a:r>
            <a:endParaRPr lang="en-US" sz="1500" dirty="0"/>
          </a:p>
        </p:txBody>
      </p:sp>
      <p:sp>
        <p:nvSpPr>
          <p:cNvPr id="53" name="Shape 51"/>
          <p:cNvSpPr/>
          <p:nvPr/>
        </p:nvSpPr>
        <p:spPr>
          <a:xfrm>
            <a:off x="658368" y="3725266"/>
            <a:ext cx="10872216" cy="10973"/>
          </a:xfrm>
          <a:prstGeom prst="rect">
            <a:avLst/>
          </a:prstGeom>
          <a:solidFill>
            <a:srgbClr val="9AA3AD"/>
          </a:solidFill>
          <a:ln/>
        </p:spPr>
      </p:sp>
      <p:sp>
        <p:nvSpPr>
          <p:cNvPr id="54" name="Text 52"/>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500" b="1" dirty="0">
                <a:solidFill>
                  <a:srgbClr val="5B9BD5"/>
                </a:solidFill>
                <a:latin typeface="Inter" pitchFamily="34" charset="0"/>
                <a:ea typeface="Inter" pitchFamily="34" charset="-122"/>
                <a:cs typeface="Inter" pitchFamily="34" charset="-120"/>
              </a:rPr>
              <a:t>5</a:t>
            </a:r>
            <a:endParaRPr lang="en-US" sz="1500" dirty="0"/>
          </a:p>
        </p:txBody>
      </p:sp>
      <p:sp>
        <p:nvSpPr>
          <p:cNvPr id="55" name="Text 53"/>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Fixed gross/head</a:t>
            </a:r>
            <a:endParaRPr lang="en-US" sz="1500" dirty="0"/>
          </a:p>
        </p:txBody>
      </p:sp>
      <p:sp>
        <p:nvSpPr>
          <p:cNvPr id="56" name="Text 54"/>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$15,226</a:t>
            </a:r>
            <a:endParaRPr lang="en-US" sz="1500" dirty="0"/>
          </a:p>
        </p:txBody>
      </p:sp>
      <p:sp>
        <p:nvSpPr>
          <p:cNvPr id="57" name="Text 55"/>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500" b="1" dirty="0">
                <a:solidFill>
                  <a:srgbClr val="595959"/>
                </a:solidFill>
                <a:latin typeface="Inter" pitchFamily="34" charset="0"/>
                <a:ea typeface="Inter" pitchFamily="34" charset="-122"/>
                <a:cs typeface="Inter" pitchFamily="34" charset="-120"/>
              </a:rPr>
              <a:t>$16,998</a:t>
            </a:r>
            <a:pPr indent="0" marL="0">
              <a:buNone/>
            </a:pPr>
            <a:r>
              <a:rPr lang="en-US" sz="1500" dirty="0">
                <a:solidFill>
                  <a:srgbClr val="595959"/>
                </a:solidFill>
                <a:latin typeface="Inter" pitchFamily="34" charset="0"/>
                <a:ea typeface="Inter" pitchFamily="34" charset="-122"/>
                <a:cs typeface="Inter" pitchFamily="34" charset="-120"/>
              </a:rPr>
              <a:t> peer avg</a:t>
            </a:r>
            <a:endParaRPr lang="en-US" sz="1500" dirty="0"/>
          </a:p>
        </p:txBody>
      </p:sp>
      <p:sp>
        <p:nvSpPr>
          <p:cNvPr id="58" name="Text 56"/>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500" dirty="0">
                <a:solidFill>
                  <a:srgbClr val="9AA3AD"/>
                </a:solidFill>
                <a:latin typeface="Inter" pitchFamily="34" charset="0"/>
                <a:ea typeface="Inter" pitchFamily="34" charset="-122"/>
                <a:cs typeface="Inter" pitchFamily="34" charset="-120"/>
              </a:rPr>
              <a:t>—</a:t>
            </a:r>
            <a:endParaRPr lang="en-US" sz="1500" dirty="0"/>
          </a:p>
        </p:txBody>
      </p:sp>
      <p:sp>
        <p:nvSpPr>
          <p:cNvPr id="59" name="Text 57"/>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Staff to gross: 1.7 heads over peer avg.</a:t>
            </a:r>
            <a:endParaRPr lang="en-US" sz="15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Mazda</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$3.31M</a:t>
            </a:r>
            <a:pPr indent="0" marL="0">
              <a:buNone/>
            </a:pPr>
            <a:r>
              <a:rPr lang="en-US" sz="1400" b="1" dirty="0">
                <a:solidFill>
                  <a:srgbClr val="0B7A4A"/>
                </a:solidFill>
                <a:latin typeface="Inter" pitchFamily="34" charset="0"/>
                <a:ea typeface="Inter" pitchFamily="34" charset="-122"/>
                <a:cs typeface="Inter" pitchFamily="34" charset="-120"/>
              </a:rPr>
              <a:t>  +$120K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$985,141</a:t>
            </a:r>
            <a:pPr indent="0" marL="0">
              <a:buNone/>
            </a:pPr>
            <a:r>
              <a:rPr lang="en-US" sz="1400" b="1" dirty="0">
                <a:solidFill>
                  <a:srgbClr val="A82B26"/>
                </a:solidFill>
                <a:latin typeface="Inter" pitchFamily="34" charset="0"/>
                <a:ea typeface="Inter" pitchFamily="34" charset="-122"/>
                <a:cs typeface="Inter" pitchFamily="34" charset="-120"/>
              </a:rPr>
              <a:t>  −$87K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78.4%</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5,701</a:t>
            </a:r>
            <a:pPr indent="0" marL="0">
              <a:buNone/>
            </a:pPr>
            <a:r>
              <a:rPr lang="en-US" sz="1400" b="1" dirty="0">
                <a:solidFill>
                  <a:srgbClr val="0B7A4A"/>
                </a:solidFill>
                <a:latin typeface="Inter" pitchFamily="34" charset="0"/>
                <a:ea typeface="Inter" pitchFamily="34" charset="-122"/>
                <a:cs typeface="Inter" pitchFamily="34" charset="-120"/>
              </a:rPr>
              <a:t>  +180</a:t>
            </a:r>
            <a:endParaRPr lang="en-US" sz="2200" dirty="0"/>
          </a:p>
        </p:txBody>
      </p:sp>
      <p:sp>
        <p:nvSpPr>
          <p:cNvPr id="17" name="Shape 15"/>
          <p:cNvSpPr/>
          <p:nvPr/>
        </p:nvSpPr>
        <p:spPr>
          <a:xfrm>
            <a:off x="7709154" y="658368"/>
            <a:ext cx="4022598" cy="475488"/>
          </a:xfrm>
          <a:prstGeom prst="rect">
            <a:avLst/>
          </a:prstGeom>
          <a:solidFill>
            <a:srgbClr val="EDF4FA"/>
          </a:solidFill>
          <a:ln/>
        </p:spPr>
      </p:sp>
      <p:sp>
        <p:nvSpPr>
          <p:cNvPr id="18" name="Text 16"/>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Video 89.0%   ·   5th · MPI 97.0%</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1.46</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$403K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+0.29 hr per RO.</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$238</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$167K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11</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$103K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174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8.5%</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115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13.2%</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138 more a year.</a:t>
            </a:r>
            <a:endParaRPr lang="en-US" sz="14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Nissan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$4.78M</a:t>
            </a:r>
            <a:pPr indent="0" marL="0">
              <a:buNone/>
            </a:pPr>
            <a:r>
              <a:rPr lang="en-US" sz="1400" b="1" dirty="0">
                <a:solidFill>
                  <a:srgbClr val="0B7A4A"/>
                </a:solidFill>
                <a:latin typeface="Inter" pitchFamily="34" charset="0"/>
                <a:ea typeface="Inter" pitchFamily="34" charset="-122"/>
                <a:cs typeface="Inter" pitchFamily="34" charset="-120"/>
              </a:rPr>
              <a:t>  +$445K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$677,269</a:t>
            </a:r>
            <a:pPr indent="0" marL="0">
              <a:buNone/>
            </a:pPr>
            <a:r>
              <a:rPr lang="en-US" sz="1400" b="1" dirty="0">
                <a:solidFill>
                  <a:srgbClr val="0B7A4A"/>
                </a:solidFill>
                <a:latin typeface="Inter" pitchFamily="34" charset="0"/>
                <a:ea typeface="Inter" pitchFamily="34" charset="-122"/>
                <a:cs typeface="Inter" pitchFamily="34" charset="-120"/>
              </a:rPr>
              <a:t>  +$134K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70.6%</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6,973</a:t>
            </a:r>
            <a:pPr indent="0" marL="0">
              <a:buNone/>
            </a:pPr>
            <a:r>
              <a:rPr lang="en-US" sz="1400" b="1" dirty="0">
                <a:solidFill>
                  <a:srgbClr val="A82B26"/>
                </a:solidFill>
                <a:latin typeface="Inter" pitchFamily="34" charset="0"/>
                <a:ea typeface="Inter" pitchFamily="34" charset="-122"/>
                <a:cs typeface="Inter" pitchFamily="34" charset="-120"/>
              </a:rPr>
              <a:t>  −430</a:t>
            </a:r>
            <a:endParaRPr lang="en-US" sz="2200" dirty="0"/>
          </a:p>
        </p:txBody>
      </p:sp>
      <p:sp>
        <p:nvSpPr>
          <p:cNvPr id="17" name="Shape 15"/>
          <p:cNvSpPr/>
          <p:nvPr/>
        </p:nvSpPr>
        <p:spPr>
          <a:xfrm>
            <a:off x="7709154" y="658368"/>
            <a:ext cx="4022598" cy="475488"/>
          </a:xfrm>
          <a:prstGeom prst="rect">
            <a:avLst/>
          </a:prstGeom>
          <a:solidFill>
            <a:srgbClr val="EDF4FA"/>
          </a:solidFill>
          <a:ln/>
        </p:spPr>
      </p:sp>
      <p:sp>
        <p:nvSpPr>
          <p:cNvPr id="18" name="Text 16"/>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4th · CP ELR +$22   ·   5th · MPI 97.0%</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17</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$509K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8 under 85%: dispatch, parts.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6,973</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7,403</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$196K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573 more ROs.</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$83K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700 more a year.</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$77K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1,296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4.2%</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$64K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308 more a year.</a:t>
            </a:r>
            <a:endParaRPr lang="en-US" sz="1400" dirty="0"/>
          </a:p>
        </p:txBody>
      </p:sp>
      <p:sp>
        <p:nvSpPr>
          <p:cNvPr id="59" name="Shape 57"/>
          <p:cNvSpPr/>
          <p:nvPr/>
        </p:nvSpPr>
        <p:spPr>
          <a:xfrm>
            <a:off x="658368" y="4054450"/>
            <a:ext cx="10872216" cy="10973"/>
          </a:xfrm>
          <a:prstGeom prst="rect">
            <a:avLst/>
          </a:prstGeom>
          <a:solidFill>
            <a:srgbClr val="9AA3AD"/>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41.9%</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1,995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$11,957</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2.6 heads over peer avg.</a:t>
            </a:r>
            <a:endParaRPr lang="en-US" sz="14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LV</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$10.08M</a:t>
            </a:r>
            <a:pPr indent="0" marL="0">
              <a:buNone/>
            </a:pPr>
            <a:r>
              <a:rPr lang="en-US" sz="1400" b="1" dirty="0">
                <a:solidFill>
                  <a:srgbClr val="A82B26"/>
                </a:solidFill>
                <a:latin typeface="Inter" pitchFamily="34" charset="0"/>
                <a:ea typeface="Inter" pitchFamily="34" charset="-122"/>
                <a:cs typeface="Inter" pitchFamily="34" charset="-120"/>
              </a:rPr>
              <a:t>  −$499K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$2.94M</a:t>
            </a:r>
            <a:pPr indent="0" marL="0">
              <a:buNone/>
            </a:pPr>
            <a:r>
              <a:rPr lang="en-US" sz="1400" b="1" dirty="0">
                <a:solidFill>
                  <a:srgbClr val="0B7A4A"/>
                </a:solidFill>
                <a:latin typeface="Inter" pitchFamily="34" charset="0"/>
                <a:ea typeface="Inter" pitchFamily="34" charset="-122"/>
                <a:cs typeface="Inter" pitchFamily="34" charset="-120"/>
              </a:rPr>
              <a:t>  +$6K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86.0%</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14,250</a:t>
            </a:r>
            <a:pPr indent="0" marL="0">
              <a:buNone/>
            </a:pPr>
            <a:r>
              <a:rPr lang="en-US" sz="1400" b="1" dirty="0">
                <a:solidFill>
                  <a:srgbClr val="A82B26"/>
                </a:solidFill>
                <a:latin typeface="Inter" pitchFamily="34" charset="0"/>
                <a:ea typeface="Inter" pitchFamily="34" charset="-122"/>
                <a:cs typeface="Inter" pitchFamily="34" charset="-120"/>
              </a:rPr>
              <a:t>  −574</a:t>
            </a:r>
            <a:endParaRPr lang="en-US" sz="2200" dirty="0"/>
          </a:p>
        </p:txBody>
      </p:sp>
      <p:sp>
        <p:nvSpPr>
          <p:cNvPr id="17" name="Shape 15"/>
          <p:cNvSpPr/>
          <p:nvPr/>
        </p:nvSpPr>
        <p:spPr>
          <a:xfrm>
            <a:off x="9404096" y="658368"/>
            <a:ext cx="2327656" cy="475488"/>
          </a:xfrm>
          <a:prstGeom prst="rect">
            <a:avLst/>
          </a:prstGeom>
          <a:solidFill>
            <a:srgbClr val="EDF4FA"/>
          </a:solidFill>
          <a:ln/>
        </p:spPr>
      </p:sp>
      <p:sp>
        <p:nvSpPr>
          <p:cNvPr id="18" name="Text 16"/>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2nd · Video 92.0%</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27</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$524K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11 under 85%: dispatch, parts.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$3.83M</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$4.11M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$383K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$6.26M</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$6.47M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$282K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14,250</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14,824</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$262K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765 more ROs.</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10.2%</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909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7.1%</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78 more a year.</a:t>
            </a:r>
            <a:endParaRPr lang="en-US" sz="14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$2.70M</a:t>
            </a:r>
            <a:pPr indent="0" marL="0">
              <a:buNone/>
            </a:pPr>
            <a:r>
              <a:rPr lang="en-US" sz="1400" b="1" dirty="0">
                <a:solidFill>
                  <a:srgbClr val="0B7A4A"/>
                </a:solidFill>
                <a:latin typeface="Inter" pitchFamily="34" charset="0"/>
                <a:ea typeface="Inter" pitchFamily="34" charset="-122"/>
                <a:cs typeface="Inter" pitchFamily="34" charset="-120"/>
              </a:rPr>
              <a:t>  +$368K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$128,541</a:t>
            </a:r>
            <a:pPr indent="0" marL="0">
              <a:buNone/>
            </a:pPr>
            <a:r>
              <a:rPr lang="en-US" sz="1400" b="1" dirty="0">
                <a:solidFill>
                  <a:srgbClr val="0B7A4A"/>
                </a:solidFill>
                <a:latin typeface="Inter" pitchFamily="34" charset="0"/>
                <a:ea typeface="Inter" pitchFamily="34" charset="-122"/>
                <a:cs typeface="Inter" pitchFamily="34" charset="-120"/>
              </a:rPr>
              <a:t>  +$183K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5,105</a:t>
            </a:r>
            <a:pPr indent="0" marL="0">
              <a:buNone/>
            </a:pPr>
            <a:r>
              <a:rPr lang="en-US" sz="1400" b="1" dirty="0">
                <a:solidFill>
                  <a:srgbClr val="0B7A4A"/>
                </a:solidFill>
                <a:latin typeface="Inter" pitchFamily="34" charset="0"/>
                <a:ea typeface="Inter" pitchFamily="34" charset="-122"/>
                <a:cs typeface="Inter" pitchFamily="34" charset="-120"/>
              </a:rPr>
              <a:t>  +367</a:t>
            </a:r>
            <a:endParaRPr lang="en-US" sz="2200" dirty="0"/>
          </a:p>
        </p:txBody>
      </p:sp>
      <p:sp>
        <p:nvSpPr>
          <p:cNvPr id="17" name="Shape 15"/>
          <p:cNvSpPr/>
          <p:nvPr/>
        </p:nvSpPr>
        <p:spPr>
          <a:xfrm>
            <a:off x="9216898" y="658368"/>
            <a:ext cx="2514854" cy="475488"/>
          </a:xfrm>
          <a:prstGeom prst="rect">
            <a:avLst/>
          </a:prstGeom>
          <a:solidFill>
            <a:srgbClr val="EDF4FA"/>
          </a:solidFill>
          <a:ln/>
        </p:spPr>
      </p:sp>
      <p:sp>
        <p:nvSpPr>
          <p:cNvPr id="18" name="Text 16"/>
          <p:cNvSpPr txBox="1"/>
          <p:nvPr/>
        </p:nvSpPr>
        <p:spPr>
          <a:xfrm>
            <a:off x="9344914" y="658368"/>
            <a:ext cx="2258822"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Fuel service 9.8%</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12</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$691K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$222</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$212K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1.60</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$185K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+0.15 hr per RO.</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34.8%</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$81K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$140</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$147</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$78K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74.1%</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$58K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12.6%</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165 more a year.</a:t>
            </a:r>
            <a:endParaRPr lang="en-US" sz="1400" dirty="0"/>
          </a:p>
        </p:txBody>
      </p:sp>
      <p:sp>
        <p:nvSpPr>
          <p:cNvPr id="72" name="Shape 70"/>
          <p:cNvSpPr/>
          <p:nvPr/>
        </p:nvSpPr>
        <p:spPr>
          <a:xfrm>
            <a:off x="658368" y="4712818"/>
            <a:ext cx="10872216" cy="10973"/>
          </a:xfrm>
          <a:prstGeom prst="rect">
            <a:avLst/>
          </a:prstGeom>
          <a:solidFill>
            <a:srgbClr val="9AA3AD"/>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54.2%</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395 more a year.</a:t>
            </a:r>
            <a:endParaRPr lang="en-US" sz="14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Subaru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$3.52M</a:t>
            </a:r>
            <a:pPr indent="0" marL="0">
              <a:buNone/>
            </a:pPr>
            <a:r>
              <a:rPr lang="en-US" sz="1400" b="1" dirty="0">
                <a:solidFill>
                  <a:srgbClr val="0B7A4A"/>
                </a:solidFill>
                <a:latin typeface="Inter" pitchFamily="34" charset="0"/>
                <a:ea typeface="Inter" pitchFamily="34" charset="-122"/>
                <a:cs typeface="Inter" pitchFamily="34" charset="-120"/>
              </a:rPr>
              <a:t>  +$472K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+$113K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84.5%</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5,553</a:t>
            </a:r>
            <a:pPr indent="0" marL="0">
              <a:buNone/>
            </a:pPr>
            <a:r>
              <a:rPr lang="en-US" sz="1400" b="1" dirty="0">
                <a:solidFill>
                  <a:srgbClr val="0B7A4A"/>
                </a:solidFill>
                <a:latin typeface="Inter" pitchFamily="34" charset="0"/>
                <a:ea typeface="Inter" pitchFamily="34" charset="-122"/>
                <a:cs typeface="Inter" pitchFamily="34" charset="-120"/>
              </a:rPr>
              <a:t>  +511</a:t>
            </a:r>
            <a:endParaRPr lang="en-US" sz="2200" dirty="0"/>
          </a:p>
        </p:txBody>
      </p:sp>
      <p:sp>
        <p:nvSpPr>
          <p:cNvPr id="17" name="Shape 15"/>
          <p:cNvSpPr/>
          <p:nvPr/>
        </p:nvSpPr>
        <p:spPr>
          <a:xfrm>
            <a:off x="6201410" y="658368"/>
            <a:ext cx="5530342" cy="475488"/>
          </a:xfrm>
          <a:prstGeom prst="rect">
            <a:avLst/>
          </a:prstGeom>
          <a:solidFill>
            <a:srgbClr val="EDF4FA"/>
          </a:solidFill>
          <a:ln/>
        </p:spPr>
      </p:sp>
      <p:sp>
        <p:nvSpPr>
          <p:cNvPr id="18" name="Text 16"/>
          <p:cNvSpPr txBox="1"/>
          <p:nvPr/>
        </p:nvSpPr>
        <p:spPr>
          <a:xfrm>
            <a:off x="6329426" y="658368"/>
            <a:ext cx="527431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Fuel service 13.8%   ·   1st · Hours per RO +0.55</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 of 12</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$265K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3 under 85%: dispatch, parts.</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3.7%</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$125K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837 more a year.</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73.9%</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$98K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291 more a year.</a:t>
            </a:r>
            <a:endParaRPr lang="en-US" sz="1400" dirty="0"/>
          </a:p>
        </p:txBody>
      </p:sp>
      <p:sp>
        <p:nvSpPr>
          <p:cNvPr id="53" name="Shape 51"/>
          <p:cNvSpPr/>
          <p:nvPr/>
        </p:nvSpPr>
        <p:spPr>
          <a:xfrm>
            <a:off x="658368" y="3725266"/>
            <a:ext cx="10872216" cy="10973"/>
          </a:xfrm>
          <a:prstGeom prst="rect">
            <a:avLst/>
          </a:prstGeom>
          <a:solidFill>
            <a:srgbClr val="9AA3AD"/>
          </a:solidFill>
          <a:ln/>
        </p:spPr>
      </p:sp>
      <p:sp>
        <p:nvSpPr>
          <p:cNvPr id="54" name="Text 52"/>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5" name="Text 53"/>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56" name="Text 54"/>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89.0%</a:t>
            </a:r>
            <a:endParaRPr lang="en-US" sz="1400" dirty="0"/>
          </a:p>
        </p:txBody>
      </p:sp>
      <p:sp>
        <p:nvSpPr>
          <p:cNvPr id="57" name="Text 55"/>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8" name="Text 56"/>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9" name="Text 57"/>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106 more a year.</a:t>
            </a:r>
            <a:endParaRPr lang="en-US" sz="14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Flagstaff</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$4.47M</a:t>
            </a:r>
            <a:pPr indent="0" marL="0">
              <a:buNone/>
            </a:pPr>
            <a:r>
              <a:rPr lang="en-US" sz="1400" b="1" dirty="0">
                <a:solidFill>
                  <a:srgbClr val="0B7A4A"/>
                </a:solidFill>
                <a:latin typeface="Inter" pitchFamily="34" charset="0"/>
                <a:ea typeface="Inter" pitchFamily="34" charset="-122"/>
                <a:cs typeface="Inter" pitchFamily="34" charset="-120"/>
              </a:rPr>
              <a:t>  +$422K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$901,549</a:t>
            </a:r>
            <a:pPr indent="0" marL="0">
              <a:buNone/>
            </a:pPr>
            <a:r>
              <a:rPr lang="en-US" sz="1400" b="1" dirty="0">
                <a:solidFill>
                  <a:srgbClr val="0B7A4A"/>
                </a:solidFill>
                <a:latin typeface="Inter" pitchFamily="34" charset="0"/>
                <a:ea typeface="Inter" pitchFamily="34" charset="-122"/>
                <a:cs typeface="Inter" pitchFamily="34" charset="-120"/>
              </a:rPr>
              <a:t>  +$131K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70.0%</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15,141</a:t>
            </a:r>
            <a:pPr indent="0" marL="0">
              <a:buNone/>
            </a:pPr>
            <a:r>
              <a:rPr lang="en-US" sz="1400" b="1" dirty="0">
                <a:solidFill>
                  <a:srgbClr val="0B7A4A"/>
                </a:solidFill>
                <a:latin typeface="Inter" pitchFamily="34" charset="0"/>
                <a:ea typeface="Inter" pitchFamily="34" charset="-122"/>
                <a:cs typeface="Inter" pitchFamily="34" charset="-120"/>
              </a:rPr>
              <a:t>  +798</a:t>
            </a:r>
            <a:endParaRPr lang="en-US" sz="2200" dirty="0"/>
          </a:p>
        </p:txBody>
      </p:sp>
      <p:sp>
        <p:nvSpPr>
          <p:cNvPr id="17" name="Shape 15"/>
          <p:cNvSpPr/>
          <p:nvPr/>
        </p:nvSpPr>
        <p:spPr>
          <a:xfrm>
            <a:off x="9404096" y="658368"/>
            <a:ext cx="2327656" cy="475488"/>
          </a:xfrm>
          <a:prstGeom prst="rect">
            <a:avLst/>
          </a:prstGeom>
          <a:solidFill>
            <a:srgbClr val="EDF4FA"/>
          </a:solidFill>
          <a:ln/>
        </p:spPr>
      </p:sp>
      <p:sp>
        <p:nvSpPr>
          <p:cNvPr id="18" name="Text 16"/>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3rd · CP ROs +798</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1.41</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$1.26M</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+0.34 hr per RO.</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$201</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$1.01M</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18</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$126K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4.9%</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2,031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$109K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1,173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$108K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9.7%</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$90K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1,066 more a year.</a:t>
            </a:r>
            <a:endParaRPr lang="en-US" sz="1400" dirty="0"/>
          </a:p>
        </p:txBody>
      </p:sp>
      <p:sp>
        <p:nvSpPr>
          <p:cNvPr id="72" name="Shape 70"/>
          <p:cNvSpPr/>
          <p:nvPr/>
        </p:nvSpPr>
        <p:spPr>
          <a:xfrm>
            <a:off x="658368" y="4718304"/>
            <a:ext cx="10872216" cy="329184"/>
          </a:xfrm>
          <a:prstGeom prst="rect">
            <a:avLst/>
          </a:prstGeom>
          <a:solidFill>
            <a:srgbClr val="F7F7F7"/>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$48K</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389 more a year.</a:t>
            </a:r>
            <a:endParaRPr lang="en-US" sz="1400" dirty="0"/>
          </a:p>
        </p:txBody>
      </p:sp>
      <p:sp>
        <p:nvSpPr>
          <p:cNvPr id="79" name="Shape 77"/>
          <p:cNvSpPr/>
          <p:nvPr/>
        </p:nvSpPr>
        <p:spPr>
          <a:xfrm>
            <a:off x="658368" y="5042002"/>
            <a:ext cx="10872216" cy="10973"/>
          </a:xfrm>
          <a:prstGeom prst="rect">
            <a:avLst/>
          </a:prstGeom>
          <a:solidFill>
            <a:srgbClr val="9AA3AD"/>
          </a:solidFill>
          <a:ln/>
        </p:spPr>
      </p:sp>
      <p:sp>
        <p:nvSpPr>
          <p:cNvPr id="80" name="Text 78"/>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1" name="Text 79"/>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2" name="Text 80"/>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$10,794</a:t>
            </a:r>
            <a:endParaRPr lang="en-US" sz="1400" dirty="0"/>
          </a:p>
        </p:txBody>
      </p:sp>
      <p:sp>
        <p:nvSpPr>
          <p:cNvPr id="83" name="Text 81"/>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84" name="Text 82"/>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5" name="Text 83"/>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6.9 heads over peer avg.</a:t>
            </a:r>
            <a:endParaRPr lang="en-US" sz="14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$22.59M</a:t>
            </a:r>
            <a:pPr indent="0" marL="0">
              <a:buNone/>
            </a:pPr>
            <a:r>
              <a:rPr lang="en-US" sz="1400" b="1" dirty="0">
                <a:solidFill>
                  <a:srgbClr val="0B7A4A"/>
                </a:solidFill>
                <a:latin typeface="Inter" pitchFamily="34" charset="0"/>
                <a:ea typeface="Inter" pitchFamily="34" charset="-122"/>
                <a:cs typeface="Inter" pitchFamily="34" charset="-120"/>
              </a:rPr>
              <a:t>  +$1.77M</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$7.83M</a:t>
            </a:r>
            <a:pPr indent="0" marL="0">
              <a:buNone/>
            </a:pPr>
            <a:r>
              <a:rPr lang="en-US" sz="1400" b="1" dirty="0">
                <a:solidFill>
                  <a:srgbClr val="0B7A4A"/>
                </a:solidFill>
                <a:latin typeface="Inter" pitchFamily="34" charset="0"/>
                <a:ea typeface="Inter" pitchFamily="34" charset="-122"/>
                <a:cs typeface="Inter" pitchFamily="34" charset="-120"/>
              </a:rPr>
              <a:t>  +$1.42M</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79.6%</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53,084</a:t>
            </a:r>
            <a:pPr indent="0" marL="0">
              <a:buNone/>
            </a:pPr>
            <a:r>
              <a:rPr lang="en-US" sz="1400" b="1" dirty="0">
                <a:solidFill>
                  <a:srgbClr val="0B7A4A"/>
                </a:solidFill>
                <a:latin typeface="Inter" pitchFamily="34" charset="0"/>
                <a:ea typeface="Inter" pitchFamily="34" charset="-122"/>
                <a:cs typeface="Inter" pitchFamily="34" charset="-120"/>
              </a:rPr>
              <a:t>  +65</a:t>
            </a:r>
            <a:endParaRPr lang="en-US" sz="2200" dirty="0"/>
          </a:p>
        </p:txBody>
      </p:sp>
      <p:sp>
        <p:nvSpPr>
          <p:cNvPr id="17" name="Shape 15"/>
          <p:cNvSpPr/>
          <p:nvPr/>
        </p:nvSpPr>
        <p:spPr>
          <a:xfrm>
            <a:off x="6107176" y="658368"/>
            <a:ext cx="5624576" cy="475488"/>
          </a:xfrm>
          <a:prstGeom prst="rect">
            <a:avLst/>
          </a:prstGeom>
          <a:solidFill>
            <a:srgbClr val="EDF4FA"/>
          </a:solidFill>
          <a:ln/>
        </p:spPr>
      </p:sp>
      <p:sp>
        <p:nvSpPr>
          <p:cNvPr id="18" name="Text 16"/>
          <p:cNvSpPr txBox="1"/>
          <p:nvPr/>
        </p:nvSpPr>
        <p:spPr>
          <a:xfrm>
            <a:off x="6235192" y="658368"/>
            <a:ext cx="536854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Fixed gross +$1.77M   ·   1st · Net profit +$1.42M</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1.47</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$3.55M</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+0.27 hr per RO.</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$227</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$2.07M</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20 of 59</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$842K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20 under 85%: dispatch, parts.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11.2%</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$147K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2,671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6.0%</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$129K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1,056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$33K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326 more a year.</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40.2%</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72" name="Shape 70"/>
          <p:cNvSpPr/>
          <p:nvPr/>
        </p:nvSpPr>
        <p:spPr>
          <a:xfrm>
            <a:off x="658368" y="4712818"/>
            <a:ext cx="10872216" cy="10973"/>
          </a:xfrm>
          <a:prstGeom prst="rect">
            <a:avLst/>
          </a:prstGeom>
          <a:solidFill>
            <a:srgbClr val="9AA3AD"/>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31.7%</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21,344 more a year.</a:t>
            </a:r>
            <a:endParaRPr lang="en-US" sz="1400" dirty="0"/>
          </a:p>
        </p:txBody>
      </p:sp>
      <p:sp>
        <p:nvSpPr>
          <p:cNvPr id="79" name="Text 77"/>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81" name="Text 79"/>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76.1%</a:t>
            </a:r>
            <a:endParaRPr lang="en-US" sz="1400" dirty="0"/>
          </a:p>
        </p:txBody>
      </p:sp>
      <p:sp>
        <p:nvSpPr>
          <p:cNvPr id="82" name="Text 80"/>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84" name="Text 82"/>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11,350 more a year.</a:t>
            </a:r>
            <a:endParaRPr lang="en-US" sz="14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Prescott</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$5.08M</a:t>
            </a:r>
            <a:pPr indent="0" marL="0">
              <a:buNone/>
            </a:pPr>
            <a:r>
              <a:rPr lang="en-US" sz="1400" b="1" dirty="0">
                <a:solidFill>
                  <a:srgbClr val="0B7A4A"/>
                </a:solidFill>
                <a:latin typeface="Inter" pitchFamily="34" charset="0"/>
                <a:ea typeface="Inter" pitchFamily="34" charset="-122"/>
                <a:cs typeface="Inter" pitchFamily="34" charset="-120"/>
              </a:rPr>
              <a:t>  +$586K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$1.17M</a:t>
            </a:r>
            <a:pPr indent="0" marL="0">
              <a:buNone/>
            </a:pPr>
            <a:r>
              <a:rPr lang="en-US" sz="1400" b="1" dirty="0">
                <a:solidFill>
                  <a:srgbClr val="0B7A4A"/>
                </a:solidFill>
                <a:latin typeface="Inter" pitchFamily="34" charset="0"/>
                <a:ea typeface="Inter" pitchFamily="34" charset="-122"/>
                <a:cs typeface="Inter" pitchFamily="34" charset="-120"/>
              </a:rPr>
              <a:t>  +$285K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70.3%</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13,490</a:t>
            </a:r>
            <a:pPr indent="0" marL="0">
              <a:buNone/>
            </a:pPr>
            <a:r>
              <a:rPr lang="en-US" sz="1400" b="1" dirty="0">
                <a:solidFill>
                  <a:srgbClr val="A82B26"/>
                </a:solidFill>
                <a:latin typeface="Inter" pitchFamily="34" charset="0"/>
                <a:ea typeface="Inter" pitchFamily="34" charset="-122"/>
                <a:cs typeface="Inter" pitchFamily="34" charset="-120"/>
              </a:rPr>
              <a:t>  −80</a:t>
            </a:r>
            <a:endParaRPr lang="en-US" sz="2200" dirty="0"/>
          </a:p>
        </p:txBody>
      </p:sp>
      <p:sp>
        <p:nvSpPr>
          <p:cNvPr id="17" name="Shape 15"/>
          <p:cNvSpPr/>
          <p:nvPr/>
        </p:nvSpPr>
        <p:spPr>
          <a:xfrm>
            <a:off x="6295644" y="658368"/>
            <a:ext cx="5436108" cy="475488"/>
          </a:xfrm>
          <a:prstGeom prst="rect">
            <a:avLst/>
          </a:prstGeom>
          <a:solidFill>
            <a:srgbClr val="EDF4FA"/>
          </a:solidFill>
          <a:ln/>
        </p:spPr>
      </p:sp>
      <p:sp>
        <p:nvSpPr>
          <p:cNvPr id="18" name="Text 16"/>
          <p:cNvSpPr txBox="1"/>
          <p:nvPr/>
        </p:nvSpPr>
        <p:spPr>
          <a:xfrm>
            <a:off x="6423660" y="658368"/>
            <a:ext cx="518007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YOUR BEST PLACES</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7th · Fixed gross +$586K   ·   9th · Net profit +$285K</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1.38</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$1.19M</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+0.36 hr per RO.</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 of 22</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$927K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$220</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$617K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6.2%</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$132K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1,590 more a year.</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12.3%</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$49K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478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$1.45M</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$1.48M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$44K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66" name="Text 64"/>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68" name="Text 66"/>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13,490</a:t>
            </a:r>
            <a:endParaRPr lang="en-US" sz="1400" dirty="0"/>
          </a:p>
        </p:txBody>
      </p:sp>
      <p:sp>
        <p:nvSpPr>
          <p:cNvPr id="69" name="Text 67"/>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13,570</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70" name="Text 68"/>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$36K</a:t>
            </a:r>
            <a:endParaRPr lang="en-US" sz="1400" dirty="0"/>
          </a:p>
        </p:txBody>
      </p:sp>
      <p:sp>
        <p:nvSpPr>
          <p:cNvPr id="71" name="Text 69"/>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107 more ROs.</a:t>
            </a:r>
            <a:endParaRPr lang="en-US" sz="1400" dirty="0"/>
          </a:p>
        </p:txBody>
      </p:sp>
      <p:sp>
        <p:nvSpPr>
          <p:cNvPr id="72" name="Shape 70"/>
          <p:cNvSpPr/>
          <p:nvPr/>
        </p:nvSpPr>
        <p:spPr>
          <a:xfrm>
            <a:off x="658368" y="4718304"/>
            <a:ext cx="10872216" cy="329184"/>
          </a:xfrm>
          <a:prstGeom prst="rect">
            <a:avLst/>
          </a:prstGeom>
          <a:solidFill>
            <a:srgbClr val="F7F7F7"/>
          </a:solidFill>
          <a:ln/>
        </p:spPr>
      </p:sp>
      <p:sp>
        <p:nvSpPr>
          <p:cNvPr id="73" name="Text 71"/>
          <p:cNvSpPr txBox="1"/>
          <p:nvPr/>
        </p:nvSpPr>
        <p:spPr>
          <a:xfrm>
            <a:off x="658368" y="471830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71830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5" name="Text 73"/>
          <p:cNvSpPr txBox="1"/>
          <p:nvPr/>
        </p:nvSpPr>
        <p:spPr>
          <a:xfrm>
            <a:off x="2990088" y="471830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8.4%</a:t>
            </a:r>
            <a:endParaRPr lang="en-US" sz="1400" dirty="0"/>
          </a:p>
        </p:txBody>
      </p:sp>
      <p:sp>
        <p:nvSpPr>
          <p:cNvPr id="76" name="Text 74"/>
          <p:cNvSpPr txBox="1"/>
          <p:nvPr/>
        </p:nvSpPr>
        <p:spPr>
          <a:xfrm>
            <a:off x="4087368" y="471830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71830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$32K</a:t>
            </a:r>
            <a:endParaRPr lang="en-US" sz="1400" dirty="0"/>
          </a:p>
        </p:txBody>
      </p:sp>
      <p:sp>
        <p:nvSpPr>
          <p:cNvPr id="78" name="Text 76"/>
          <p:cNvSpPr txBox="1"/>
          <p:nvPr/>
        </p:nvSpPr>
        <p:spPr>
          <a:xfrm>
            <a:off x="7059168" y="471830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287 more a year.</a:t>
            </a:r>
            <a:endParaRPr lang="en-US" sz="1400" dirty="0"/>
          </a:p>
        </p:txBody>
      </p:sp>
      <p:sp>
        <p:nvSpPr>
          <p:cNvPr id="79" name="Text 77"/>
          <p:cNvSpPr txBox="1"/>
          <p:nvPr/>
        </p:nvSpPr>
        <p:spPr>
          <a:xfrm>
            <a:off x="658368" y="504748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4748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81" name="Text 79"/>
          <p:cNvSpPr txBox="1"/>
          <p:nvPr/>
        </p:nvSpPr>
        <p:spPr>
          <a:xfrm>
            <a:off x="2990088" y="504748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6.5%</a:t>
            </a:r>
            <a:endParaRPr lang="en-US" sz="1400" dirty="0"/>
          </a:p>
        </p:txBody>
      </p:sp>
      <p:sp>
        <p:nvSpPr>
          <p:cNvPr id="82" name="Text 80"/>
          <p:cNvSpPr txBox="1"/>
          <p:nvPr/>
        </p:nvSpPr>
        <p:spPr>
          <a:xfrm>
            <a:off x="4087368" y="504748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3" name="Text 81"/>
          <p:cNvSpPr txBox="1"/>
          <p:nvPr/>
        </p:nvSpPr>
        <p:spPr>
          <a:xfrm>
            <a:off x="5989320" y="504748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$19K</a:t>
            </a:r>
            <a:endParaRPr lang="en-US" sz="1400" dirty="0"/>
          </a:p>
        </p:txBody>
      </p:sp>
      <p:sp>
        <p:nvSpPr>
          <p:cNvPr id="84" name="Text 82"/>
          <p:cNvSpPr txBox="1"/>
          <p:nvPr/>
        </p:nvSpPr>
        <p:spPr>
          <a:xfrm>
            <a:off x="7059168" y="504748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186 more a year.</a:t>
            </a:r>
            <a:endParaRPr lang="en-US" sz="1400" dirty="0"/>
          </a:p>
        </p:txBody>
      </p:sp>
      <p:sp>
        <p:nvSpPr>
          <p:cNvPr id="85" name="Shape 83"/>
          <p:cNvSpPr/>
          <p:nvPr/>
        </p:nvSpPr>
        <p:spPr>
          <a:xfrm>
            <a:off x="658368" y="5371186"/>
            <a:ext cx="10872216" cy="10973"/>
          </a:xfrm>
          <a:prstGeom prst="rect">
            <a:avLst/>
          </a:prstGeom>
          <a:solidFill>
            <a:srgbClr val="9AA3AD"/>
          </a:solidFill>
          <a:ln/>
        </p:spPr>
      </p:sp>
      <p:sp>
        <p:nvSpPr>
          <p:cNvPr id="86" name="Text 84"/>
          <p:cNvSpPr txBox="1"/>
          <p:nvPr/>
        </p:nvSpPr>
        <p:spPr>
          <a:xfrm>
            <a:off x="658368" y="537667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37667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88" name="Text 86"/>
          <p:cNvSpPr txBox="1"/>
          <p:nvPr/>
        </p:nvSpPr>
        <p:spPr>
          <a:xfrm>
            <a:off x="2990088" y="537667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$11,044</a:t>
            </a:r>
            <a:endParaRPr lang="en-US" sz="1400" dirty="0"/>
          </a:p>
        </p:txBody>
      </p:sp>
      <p:sp>
        <p:nvSpPr>
          <p:cNvPr id="89" name="Text 87"/>
          <p:cNvSpPr txBox="1"/>
          <p:nvPr/>
        </p:nvSpPr>
        <p:spPr>
          <a:xfrm>
            <a:off x="4087368" y="537667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0" name="Text 88"/>
          <p:cNvSpPr txBox="1"/>
          <p:nvPr/>
        </p:nvSpPr>
        <p:spPr>
          <a:xfrm>
            <a:off x="5989320" y="537667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1" name="Text 89"/>
          <p:cNvSpPr txBox="1"/>
          <p:nvPr/>
        </p:nvSpPr>
        <p:spPr>
          <a:xfrm>
            <a:off x="7059168" y="537667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6.7 heads over peer avg.</a:t>
            </a:r>
            <a:endParaRPr lang="en-US" sz="1400" dirty="0"/>
          </a:p>
        </p:txBody>
      </p:sp>
      <p:sp>
        <p:nvSpPr>
          <p:cNvPr id="92" name="Text 90"/>
          <p:cNvSpPr txBox="1"/>
          <p:nvPr/>
        </p:nvSpPr>
        <p:spPr>
          <a:xfrm>
            <a:off x="658368" y="570585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3" name="Text 91"/>
          <p:cNvSpPr txBox="1"/>
          <p:nvPr/>
        </p:nvSpPr>
        <p:spPr>
          <a:xfrm>
            <a:off x="1024128" y="570585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4" name="Text 92"/>
          <p:cNvSpPr txBox="1"/>
          <p:nvPr/>
        </p:nvSpPr>
        <p:spPr>
          <a:xfrm>
            <a:off x="2990088" y="570585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81.5%</a:t>
            </a:r>
            <a:endParaRPr lang="en-US" sz="1400" dirty="0"/>
          </a:p>
        </p:txBody>
      </p:sp>
      <p:sp>
        <p:nvSpPr>
          <p:cNvPr id="95" name="Text 93"/>
          <p:cNvSpPr txBox="1"/>
          <p:nvPr/>
        </p:nvSpPr>
        <p:spPr>
          <a:xfrm>
            <a:off x="4087368" y="570585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6" name="Text 94"/>
          <p:cNvSpPr txBox="1"/>
          <p:nvPr/>
        </p:nvSpPr>
        <p:spPr>
          <a:xfrm>
            <a:off x="5989320" y="5705856"/>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7" name="Text 95"/>
          <p:cNvSpPr txBox="1"/>
          <p:nvPr/>
        </p:nvSpPr>
        <p:spPr>
          <a:xfrm>
            <a:off x="7059168" y="570585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1,744 more a year.</a:t>
            </a:r>
            <a:endParaRPr lang="en-US" sz="14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Toyota Spokane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$5.93M</a:t>
            </a:r>
            <a:pPr indent="0" marL="0">
              <a:buNone/>
            </a:pPr>
            <a:r>
              <a:rPr lang="en-US" sz="1400" b="1" dirty="0">
                <a:solidFill>
                  <a:srgbClr val="0B7A4A"/>
                </a:solidFill>
                <a:latin typeface="Inter" pitchFamily="34" charset="0"/>
                <a:ea typeface="Inter" pitchFamily="34" charset="-122"/>
                <a:cs typeface="Inter" pitchFamily="34" charset="-120"/>
              </a:rPr>
              <a:t>  +$545K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$699,325</a:t>
            </a:r>
            <a:pPr indent="0" marL="0">
              <a:buNone/>
            </a:pPr>
            <a:r>
              <a:rPr lang="en-US" sz="1400" b="1" dirty="0">
                <a:solidFill>
                  <a:srgbClr val="A82B26"/>
                </a:solidFill>
                <a:latin typeface="Inter" pitchFamily="34" charset="0"/>
                <a:ea typeface="Inter" pitchFamily="34" charset="-122"/>
                <a:cs typeface="Inter" pitchFamily="34" charset="-120"/>
              </a:rPr>
              <a:t>  −$268K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73.3%</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17,376</a:t>
            </a:r>
            <a:pPr indent="0" marL="0">
              <a:buNone/>
            </a:pPr>
            <a:r>
              <a:rPr lang="en-US" sz="1400" b="1" dirty="0">
                <a:solidFill>
                  <a:srgbClr val="0B7A4A"/>
                </a:solidFill>
                <a:latin typeface="Inter" pitchFamily="34" charset="0"/>
                <a:ea typeface="Inter" pitchFamily="34" charset="-122"/>
                <a:cs typeface="Inter" pitchFamily="34" charset="-120"/>
              </a:rPr>
              <a:t>  +1,008</a:t>
            </a:r>
            <a:endParaRPr lang="en-US" sz="2200" dirty="0"/>
          </a:p>
        </p:txBody>
      </p:sp>
      <p:sp>
        <p:nvSpPr>
          <p:cNvPr id="17" name="Shape 15"/>
          <p:cNvSpPr/>
          <p:nvPr/>
        </p:nvSpPr>
        <p:spPr>
          <a:xfrm>
            <a:off x="9404096" y="658368"/>
            <a:ext cx="2327656" cy="475488"/>
          </a:xfrm>
          <a:prstGeom prst="rect">
            <a:avLst/>
          </a:prstGeom>
          <a:solidFill>
            <a:srgbClr val="EDF4FA"/>
          </a:solidFill>
          <a:ln/>
        </p:spPr>
      </p:sp>
      <p:sp>
        <p:nvSpPr>
          <p:cNvPr id="18" name="Text 16"/>
          <p:cNvSpPr txBox="1"/>
          <p:nvPr/>
        </p:nvSpPr>
        <p:spPr>
          <a:xfrm>
            <a:off x="9532112" y="658368"/>
            <a:ext cx="2071624"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ROs +1,008</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29" name="Text 27"/>
          <p:cNvSpPr txBox="1"/>
          <p:nvPr/>
        </p:nvSpPr>
        <p:spPr>
          <a:xfrm>
            <a:off x="2990088" y="24140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$187</a:t>
            </a:r>
            <a:endParaRPr lang="en-US" sz="1400" dirty="0"/>
          </a:p>
        </p:txBody>
      </p:sp>
      <p:sp>
        <p:nvSpPr>
          <p:cNvPr id="30" name="Text 28"/>
          <p:cNvSpPr txBox="1"/>
          <p:nvPr/>
        </p:nvSpPr>
        <p:spPr>
          <a:xfrm>
            <a:off x="4087368" y="24140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1" name="Text 29"/>
          <p:cNvSpPr txBox="1"/>
          <p:nvPr/>
        </p:nvSpPr>
        <p:spPr>
          <a:xfrm>
            <a:off x="5989320" y="24140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$1.35M</a:t>
            </a:r>
            <a:endParaRPr lang="en-US" sz="1400" dirty="0"/>
          </a:p>
        </p:txBody>
      </p:sp>
      <p:sp>
        <p:nvSpPr>
          <p:cNvPr id="32" name="Text 30"/>
          <p:cNvSpPr txBox="1"/>
          <p:nvPr/>
        </p:nvSpPr>
        <p:spPr>
          <a:xfrm>
            <a:off x="7059168" y="24140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33" name="Shape 31"/>
          <p:cNvSpPr/>
          <p:nvPr/>
        </p:nvSpPr>
        <p:spPr>
          <a:xfrm>
            <a:off x="658368" y="2737866"/>
            <a:ext cx="10872216" cy="323850"/>
          </a:xfrm>
          <a:prstGeom prst="rect">
            <a:avLst/>
          </a:prstGeom>
          <a:solidFill>
            <a:srgbClr val="F7F7F7"/>
          </a:solidFill>
          <a:ln/>
        </p:spPr>
      </p:sp>
      <p:sp>
        <p:nvSpPr>
          <p:cNvPr id="34" name="Text 32"/>
          <p:cNvSpPr txBox="1"/>
          <p:nvPr/>
        </p:nvSpPr>
        <p:spPr>
          <a:xfrm>
            <a:off x="658368" y="27378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378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6" name="Text 34"/>
          <p:cNvSpPr txBox="1"/>
          <p:nvPr/>
        </p:nvSpPr>
        <p:spPr>
          <a:xfrm>
            <a:off x="2990088" y="27378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1.48</a:t>
            </a:r>
            <a:endParaRPr lang="en-US" sz="1400" dirty="0"/>
          </a:p>
        </p:txBody>
      </p:sp>
      <p:sp>
        <p:nvSpPr>
          <p:cNvPr id="37" name="Text 35"/>
          <p:cNvSpPr txBox="1"/>
          <p:nvPr/>
        </p:nvSpPr>
        <p:spPr>
          <a:xfrm>
            <a:off x="4087368" y="27378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378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$1.12M</a:t>
            </a:r>
            <a:endParaRPr lang="en-US" sz="1400" dirty="0"/>
          </a:p>
        </p:txBody>
      </p:sp>
      <p:sp>
        <p:nvSpPr>
          <p:cNvPr id="39" name="Text 37"/>
          <p:cNvSpPr txBox="1"/>
          <p:nvPr/>
        </p:nvSpPr>
        <p:spPr>
          <a:xfrm>
            <a:off x="7059168" y="27378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+0.26 hr per RO.</a:t>
            </a:r>
            <a:endParaRPr lang="en-US" sz="1400" dirty="0"/>
          </a:p>
        </p:txBody>
      </p:sp>
      <p:sp>
        <p:nvSpPr>
          <p:cNvPr id="40" name="Text 38"/>
          <p:cNvSpPr txBox="1"/>
          <p:nvPr/>
        </p:nvSpPr>
        <p:spPr>
          <a:xfrm>
            <a:off x="658368" y="30617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617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42" name="Text 40"/>
          <p:cNvSpPr txBox="1"/>
          <p:nvPr/>
        </p:nvSpPr>
        <p:spPr>
          <a:xfrm>
            <a:off x="2990088" y="30617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4.3%</a:t>
            </a:r>
            <a:endParaRPr lang="en-US" sz="1400" dirty="0"/>
          </a:p>
        </p:txBody>
      </p:sp>
      <p:sp>
        <p:nvSpPr>
          <p:cNvPr id="43" name="Text 41"/>
          <p:cNvSpPr txBox="1"/>
          <p:nvPr/>
        </p:nvSpPr>
        <p:spPr>
          <a:xfrm>
            <a:off x="4087368" y="30617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44" name="Text 42"/>
          <p:cNvSpPr txBox="1"/>
          <p:nvPr/>
        </p:nvSpPr>
        <p:spPr>
          <a:xfrm>
            <a:off x="5989320" y="30617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$225K</a:t>
            </a:r>
            <a:endParaRPr lang="en-US" sz="1400" dirty="0"/>
          </a:p>
        </p:txBody>
      </p:sp>
      <p:sp>
        <p:nvSpPr>
          <p:cNvPr id="45" name="Text 43"/>
          <p:cNvSpPr txBox="1"/>
          <p:nvPr/>
        </p:nvSpPr>
        <p:spPr>
          <a:xfrm>
            <a:off x="7059168" y="30617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2,490 more a year.</a:t>
            </a:r>
            <a:endParaRPr lang="en-US" sz="1400" dirty="0"/>
          </a:p>
        </p:txBody>
      </p:sp>
      <p:sp>
        <p:nvSpPr>
          <p:cNvPr id="46" name="Shape 44"/>
          <p:cNvSpPr/>
          <p:nvPr/>
        </p:nvSpPr>
        <p:spPr>
          <a:xfrm>
            <a:off x="658368" y="3385566"/>
            <a:ext cx="10872216" cy="323850"/>
          </a:xfrm>
          <a:prstGeom prst="rect">
            <a:avLst/>
          </a:prstGeom>
          <a:solidFill>
            <a:srgbClr val="F7F7F7"/>
          </a:solidFill>
          <a:ln/>
        </p:spPr>
      </p:sp>
      <p:sp>
        <p:nvSpPr>
          <p:cNvPr id="47" name="Text 45"/>
          <p:cNvSpPr txBox="1"/>
          <p:nvPr/>
        </p:nvSpPr>
        <p:spPr>
          <a:xfrm>
            <a:off x="658368" y="33855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3855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49" name="Text 47"/>
          <p:cNvSpPr txBox="1"/>
          <p:nvPr/>
        </p:nvSpPr>
        <p:spPr>
          <a:xfrm>
            <a:off x="2990088" y="33855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0.5%</a:t>
            </a:r>
            <a:endParaRPr lang="en-US" sz="1400" dirty="0"/>
          </a:p>
        </p:txBody>
      </p:sp>
      <p:sp>
        <p:nvSpPr>
          <p:cNvPr id="50" name="Text 48"/>
          <p:cNvSpPr txBox="1"/>
          <p:nvPr/>
        </p:nvSpPr>
        <p:spPr>
          <a:xfrm>
            <a:off x="4087368" y="33855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1" name="Text 49"/>
          <p:cNvSpPr txBox="1"/>
          <p:nvPr/>
        </p:nvSpPr>
        <p:spPr>
          <a:xfrm>
            <a:off x="5989320" y="33855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52" name="Text 50"/>
          <p:cNvSpPr txBox="1"/>
          <p:nvPr/>
        </p:nvSpPr>
        <p:spPr>
          <a:xfrm>
            <a:off x="7059168" y="33855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3,361 more a year.</a:t>
            </a:r>
            <a:endParaRPr lang="en-US" sz="1400" dirty="0"/>
          </a:p>
        </p:txBody>
      </p:sp>
      <p:sp>
        <p:nvSpPr>
          <p:cNvPr id="53" name="Text 51"/>
          <p:cNvSpPr txBox="1"/>
          <p:nvPr/>
        </p:nvSpPr>
        <p:spPr>
          <a:xfrm>
            <a:off x="658368" y="37094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094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ELR</a:t>
            </a:r>
            <a:endParaRPr lang="en-US" sz="1400" dirty="0"/>
          </a:p>
        </p:txBody>
      </p:sp>
      <p:sp>
        <p:nvSpPr>
          <p:cNvPr id="55" name="Text 53"/>
          <p:cNvSpPr txBox="1"/>
          <p:nvPr/>
        </p:nvSpPr>
        <p:spPr>
          <a:xfrm>
            <a:off x="2990088" y="37094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$125</a:t>
            </a:r>
            <a:endParaRPr lang="en-US" sz="1400" dirty="0"/>
          </a:p>
        </p:txBody>
      </p:sp>
      <p:sp>
        <p:nvSpPr>
          <p:cNvPr id="56" name="Text 54"/>
          <p:cNvSpPr txBox="1"/>
          <p:nvPr/>
        </p:nvSpPr>
        <p:spPr>
          <a:xfrm>
            <a:off x="4087368" y="37094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$130</a:t>
            </a:r>
            <a:pPr indent="0" marL="0">
              <a:buNone/>
            </a:pPr>
            <a:r>
              <a:rPr lang="en-US" sz="1400" dirty="0">
                <a:solidFill>
                  <a:srgbClr val="595959"/>
                </a:solidFill>
                <a:latin typeface="Inter" pitchFamily="34" charset="0"/>
                <a:ea typeface="Inter" pitchFamily="34" charset="-122"/>
                <a:cs typeface="Inter" pitchFamily="34" charset="-120"/>
              </a:rPr>
              <a:t> 70% of door</a:t>
            </a:r>
            <a:endParaRPr lang="en-US" sz="1400" dirty="0"/>
          </a:p>
        </p:txBody>
      </p:sp>
      <p:sp>
        <p:nvSpPr>
          <p:cNvPr id="57" name="Text 55"/>
          <p:cNvSpPr txBox="1"/>
          <p:nvPr/>
        </p:nvSpPr>
        <p:spPr>
          <a:xfrm>
            <a:off x="5989320" y="37094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$157K</a:t>
            </a:r>
            <a:endParaRPr lang="en-US" sz="1400" dirty="0"/>
          </a:p>
        </p:txBody>
      </p:sp>
      <p:sp>
        <p:nvSpPr>
          <p:cNvPr id="58" name="Text 56"/>
          <p:cNvSpPr txBox="1"/>
          <p:nvPr/>
        </p:nvSpPr>
        <p:spPr>
          <a:xfrm>
            <a:off x="7059168" y="37094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Charge the posted rate; control discounts.</a:t>
            </a:r>
            <a:endParaRPr lang="en-US" sz="1400" dirty="0"/>
          </a:p>
        </p:txBody>
      </p:sp>
      <p:sp>
        <p:nvSpPr>
          <p:cNvPr id="59" name="Shape 57"/>
          <p:cNvSpPr/>
          <p:nvPr/>
        </p:nvSpPr>
        <p:spPr>
          <a:xfrm>
            <a:off x="658368" y="4033266"/>
            <a:ext cx="10872216" cy="323850"/>
          </a:xfrm>
          <a:prstGeom prst="rect">
            <a:avLst/>
          </a:prstGeom>
          <a:solidFill>
            <a:srgbClr val="F7F7F7"/>
          </a:solidFill>
          <a:ln/>
        </p:spPr>
      </p:sp>
      <p:sp>
        <p:nvSpPr>
          <p:cNvPr id="60" name="Text 58"/>
          <p:cNvSpPr txBox="1"/>
          <p:nvPr/>
        </p:nvSpPr>
        <p:spPr>
          <a:xfrm>
            <a:off x="658368" y="40332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332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62" name="Text 60"/>
          <p:cNvSpPr txBox="1"/>
          <p:nvPr/>
        </p:nvSpPr>
        <p:spPr>
          <a:xfrm>
            <a:off x="2990088" y="40332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 of 28</a:t>
            </a:r>
            <a:endParaRPr lang="en-US" sz="1400" dirty="0"/>
          </a:p>
        </p:txBody>
      </p:sp>
      <p:sp>
        <p:nvSpPr>
          <p:cNvPr id="63" name="Text 61"/>
          <p:cNvSpPr txBox="1"/>
          <p:nvPr/>
        </p:nvSpPr>
        <p:spPr>
          <a:xfrm>
            <a:off x="4087368" y="40332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332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$136K</a:t>
            </a:r>
            <a:endParaRPr lang="en-US" sz="1400" dirty="0"/>
          </a:p>
        </p:txBody>
      </p:sp>
      <p:sp>
        <p:nvSpPr>
          <p:cNvPr id="65" name="Text 63"/>
          <p:cNvSpPr txBox="1"/>
          <p:nvPr/>
        </p:nvSpPr>
        <p:spPr>
          <a:xfrm>
            <a:off x="7059168" y="40332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4 under 85%: dispatch, parts.</a:t>
            </a:r>
            <a:endParaRPr lang="en-US" sz="1400" dirty="0"/>
          </a:p>
        </p:txBody>
      </p:sp>
      <p:sp>
        <p:nvSpPr>
          <p:cNvPr id="66" name="Text 64"/>
          <p:cNvSpPr txBox="1"/>
          <p:nvPr/>
        </p:nvSpPr>
        <p:spPr>
          <a:xfrm>
            <a:off x="658368" y="43571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7" name="Text 65"/>
          <p:cNvSpPr txBox="1"/>
          <p:nvPr/>
        </p:nvSpPr>
        <p:spPr>
          <a:xfrm>
            <a:off x="1024128" y="43571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GP %</a:t>
            </a:r>
            <a:endParaRPr lang="en-US" sz="1400" dirty="0"/>
          </a:p>
        </p:txBody>
      </p:sp>
      <p:sp>
        <p:nvSpPr>
          <p:cNvPr id="68" name="Text 66"/>
          <p:cNvSpPr txBox="1"/>
          <p:nvPr/>
        </p:nvSpPr>
        <p:spPr>
          <a:xfrm>
            <a:off x="2990088" y="43571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75.7%</a:t>
            </a:r>
            <a:endParaRPr lang="en-US" sz="1400" dirty="0"/>
          </a:p>
        </p:txBody>
      </p:sp>
      <p:sp>
        <p:nvSpPr>
          <p:cNvPr id="69" name="Text 67"/>
          <p:cNvSpPr txBox="1"/>
          <p:nvPr/>
        </p:nvSpPr>
        <p:spPr>
          <a:xfrm>
            <a:off x="4087368" y="43571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78%</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0" name="Text 68"/>
          <p:cNvSpPr txBox="1"/>
          <p:nvPr/>
        </p:nvSpPr>
        <p:spPr>
          <a:xfrm>
            <a:off x="5989320" y="43571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$102K</a:t>
            </a:r>
            <a:endParaRPr lang="en-US" sz="1400" dirty="0"/>
          </a:p>
        </p:txBody>
      </p:sp>
      <p:sp>
        <p:nvSpPr>
          <p:cNvPr id="71" name="Text 69"/>
          <p:cNvSpPr txBox="1"/>
          <p:nvPr/>
        </p:nvSpPr>
        <p:spPr>
          <a:xfrm>
            <a:off x="7059168" y="43571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Right tech, right work; review discounts.</a:t>
            </a:r>
            <a:endParaRPr lang="en-US" sz="1400" dirty="0"/>
          </a:p>
        </p:txBody>
      </p:sp>
      <p:sp>
        <p:nvSpPr>
          <p:cNvPr id="72" name="Shape 70"/>
          <p:cNvSpPr/>
          <p:nvPr/>
        </p:nvSpPr>
        <p:spPr>
          <a:xfrm>
            <a:off x="658368" y="4680966"/>
            <a:ext cx="10872216" cy="323850"/>
          </a:xfrm>
          <a:prstGeom prst="rect">
            <a:avLst/>
          </a:prstGeom>
          <a:solidFill>
            <a:srgbClr val="F7F7F7"/>
          </a:solidFill>
          <a:ln/>
        </p:spPr>
      </p:sp>
      <p:sp>
        <p:nvSpPr>
          <p:cNvPr id="73" name="Text 71"/>
          <p:cNvSpPr txBox="1"/>
          <p:nvPr/>
        </p:nvSpPr>
        <p:spPr>
          <a:xfrm>
            <a:off x="658368" y="46809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4" name="Text 72"/>
          <p:cNvSpPr txBox="1"/>
          <p:nvPr/>
        </p:nvSpPr>
        <p:spPr>
          <a:xfrm>
            <a:off x="1024128" y="46809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75" name="Text 73"/>
          <p:cNvSpPr txBox="1"/>
          <p:nvPr/>
        </p:nvSpPr>
        <p:spPr>
          <a:xfrm>
            <a:off x="2990088" y="46809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7.0%</a:t>
            </a:r>
            <a:endParaRPr lang="en-US" sz="1400" dirty="0"/>
          </a:p>
        </p:txBody>
      </p:sp>
      <p:sp>
        <p:nvSpPr>
          <p:cNvPr id="76" name="Text 74"/>
          <p:cNvSpPr txBox="1"/>
          <p:nvPr/>
        </p:nvSpPr>
        <p:spPr>
          <a:xfrm>
            <a:off x="4087368" y="46809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77" name="Text 75"/>
          <p:cNvSpPr txBox="1"/>
          <p:nvPr/>
        </p:nvSpPr>
        <p:spPr>
          <a:xfrm>
            <a:off x="5989320" y="46809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$80K</a:t>
            </a:r>
            <a:endParaRPr lang="en-US" sz="1400" dirty="0"/>
          </a:p>
        </p:txBody>
      </p:sp>
      <p:sp>
        <p:nvSpPr>
          <p:cNvPr id="78" name="Text 76"/>
          <p:cNvSpPr txBox="1"/>
          <p:nvPr/>
        </p:nvSpPr>
        <p:spPr>
          <a:xfrm>
            <a:off x="7059168" y="46809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683 more a year.</a:t>
            </a:r>
            <a:endParaRPr lang="en-US" sz="1400" dirty="0"/>
          </a:p>
        </p:txBody>
      </p:sp>
      <p:sp>
        <p:nvSpPr>
          <p:cNvPr id="79" name="Text 77"/>
          <p:cNvSpPr txBox="1"/>
          <p:nvPr/>
        </p:nvSpPr>
        <p:spPr>
          <a:xfrm>
            <a:off x="658368" y="50048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80" name="Text 78"/>
          <p:cNvSpPr txBox="1"/>
          <p:nvPr/>
        </p:nvSpPr>
        <p:spPr>
          <a:xfrm>
            <a:off x="1024128" y="50048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81" name="Text 79"/>
          <p:cNvSpPr txBox="1"/>
          <p:nvPr/>
        </p:nvSpPr>
        <p:spPr>
          <a:xfrm>
            <a:off x="2990088" y="50048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$2.25M</a:t>
            </a:r>
            <a:endParaRPr lang="en-US" sz="1400" dirty="0"/>
          </a:p>
        </p:txBody>
      </p:sp>
      <p:sp>
        <p:nvSpPr>
          <p:cNvPr id="82" name="Text 80"/>
          <p:cNvSpPr txBox="1"/>
          <p:nvPr/>
        </p:nvSpPr>
        <p:spPr>
          <a:xfrm>
            <a:off x="4087368" y="50048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$2.31M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83" name="Text 81"/>
          <p:cNvSpPr txBox="1"/>
          <p:nvPr/>
        </p:nvSpPr>
        <p:spPr>
          <a:xfrm>
            <a:off x="5989320" y="500481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$76K</a:t>
            </a:r>
            <a:endParaRPr lang="en-US" sz="1400" dirty="0"/>
          </a:p>
        </p:txBody>
      </p:sp>
      <p:sp>
        <p:nvSpPr>
          <p:cNvPr id="84" name="Text 82"/>
          <p:cNvSpPr txBox="1"/>
          <p:nvPr/>
        </p:nvSpPr>
        <p:spPr>
          <a:xfrm>
            <a:off x="7059168" y="50048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85" name="Shape 83"/>
          <p:cNvSpPr/>
          <p:nvPr/>
        </p:nvSpPr>
        <p:spPr>
          <a:xfrm>
            <a:off x="658368" y="5328666"/>
            <a:ext cx="10872216" cy="323850"/>
          </a:xfrm>
          <a:prstGeom prst="rect">
            <a:avLst/>
          </a:prstGeom>
          <a:solidFill>
            <a:srgbClr val="F7F7F7"/>
          </a:solidFill>
          <a:ln/>
        </p:spPr>
      </p:sp>
      <p:sp>
        <p:nvSpPr>
          <p:cNvPr id="86" name="Text 84"/>
          <p:cNvSpPr txBox="1"/>
          <p:nvPr/>
        </p:nvSpPr>
        <p:spPr>
          <a:xfrm>
            <a:off x="658368" y="53286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7" name="Text 85"/>
          <p:cNvSpPr txBox="1"/>
          <p:nvPr/>
        </p:nvSpPr>
        <p:spPr>
          <a:xfrm>
            <a:off x="1024128" y="53286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88" name="Text 86"/>
          <p:cNvSpPr txBox="1"/>
          <p:nvPr/>
        </p:nvSpPr>
        <p:spPr>
          <a:xfrm>
            <a:off x="2990088" y="53286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a:t>
            </a:r>
            <a:endParaRPr lang="en-US" sz="1400" dirty="0"/>
          </a:p>
        </p:txBody>
      </p:sp>
      <p:sp>
        <p:nvSpPr>
          <p:cNvPr id="89" name="Text 87"/>
          <p:cNvSpPr txBox="1"/>
          <p:nvPr/>
        </p:nvSpPr>
        <p:spPr>
          <a:xfrm>
            <a:off x="4087368" y="53286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0" name="Text 88"/>
          <p:cNvSpPr txBox="1"/>
          <p:nvPr/>
        </p:nvSpPr>
        <p:spPr>
          <a:xfrm>
            <a:off x="5989320" y="5328666"/>
            <a:ext cx="868680" cy="323850"/>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$56K</a:t>
            </a:r>
            <a:endParaRPr lang="en-US" sz="1400" dirty="0"/>
          </a:p>
        </p:txBody>
      </p:sp>
      <p:sp>
        <p:nvSpPr>
          <p:cNvPr id="91" name="Text 89"/>
          <p:cNvSpPr txBox="1"/>
          <p:nvPr/>
        </p:nvSpPr>
        <p:spPr>
          <a:xfrm>
            <a:off x="7059168" y="53286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387 more a year.</a:t>
            </a:r>
            <a:endParaRPr lang="en-US" sz="1400" dirty="0"/>
          </a:p>
        </p:txBody>
      </p:sp>
      <p:sp>
        <p:nvSpPr>
          <p:cNvPr id="92" name="Shape 90"/>
          <p:cNvSpPr/>
          <p:nvPr/>
        </p:nvSpPr>
        <p:spPr>
          <a:xfrm>
            <a:off x="658368" y="5647030"/>
            <a:ext cx="10872216" cy="10973"/>
          </a:xfrm>
          <a:prstGeom prst="rect">
            <a:avLst/>
          </a:prstGeom>
          <a:solidFill>
            <a:srgbClr val="9AA3AD"/>
          </a:solidFill>
          <a:ln/>
        </p:spPr>
      </p:sp>
      <p:sp>
        <p:nvSpPr>
          <p:cNvPr id="93" name="Text 91"/>
          <p:cNvSpPr txBox="1"/>
          <p:nvPr/>
        </p:nvSpPr>
        <p:spPr>
          <a:xfrm>
            <a:off x="658368" y="565251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4" name="Text 92"/>
          <p:cNvSpPr txBox="1"/>
          <p:nvPr/>
        </p:nvSpPr>
        <p:spPr>
          <a:xfrm>
            <a:off x="1024128" y="565251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95" name="Text 93"/>
          <p:cNvSpPr txBox="1"/>
          <p:nvPr/>
        </p:nvSpPr>
        <p:spPr>
          <a:xfrm>
            <a:off x="2990088" y="565251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$11,128</a:t>
            </a:r>
            <a:endParaRPr lang="en-US" sz="1400" dirty="0"/>
          </a:p>
        </p:txBody>
      </p:sp>
      <p:sp>
        <p:nvSpPr>
          <p:cNvPr id="96" name="Text 94"/>
          <p:cNvSpPr txBox="1"/>
          <p:nvPr/>
        </p:nvSpPr>
        <p:spPr>
          <a:xfrm>
            <a:off x="4087368" y="565251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97" name="Text 95"/>
          <p:cNvSpPr txBox="1"/>
          <p:nvPr/>
        </p:nvSpPr>
        <p:spPr>
          <a:xfrm>
            <a:off x="5989320" y="565251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8" name="Text 96"/>
          <p:cNvSpPr txBox="1"/>
          <p:nvPr/>
        </p:nvSpPr>
        <p:spPr>
          <a:xfrm>
            <a:off x="7059168" y="565251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7.4 heads over peer avg.</a:t>
            </a:r>
            <a:endParaRPr lang="en-US" sz="1400" dirty="0"/>
          </a:p>
        </p:txBody>
      </p:sp>
      <p:sp>
        <p:nvSpPr>
          <p:cNvPr id="99" name="Shape 97"/>
          <p:cNvSpPr/>
          <p:nvPr/>
        </p:nvSpPr>
        <p:spPr>
          <a:xfrm>
            <a:off x="658368" y="5976366"/>
            <a:ext cx="10872216" cy="323850"/>
          </a:xfrm>
          <a:prstGeom prst="rect">
            <a:avLst/>
          </a:prstGeom>
          <a:solidFill>
            <a:srgbClr val="F7F7F7"/>
          </a:solidFill>
          <a:ln/>
        </p:spPr>
      </p:sp>
      <p:sp>
        <p:nvSpPr>
          <p:cNvPr id="100" name="Text 98"/>
          <p:cNvSpPr txBox="1"/>
          <p:nvPr/>
        </p:nvSpPr>
        <p:spPr>
          <a:xfrm>
            <a:off x="658368" y="5976366"/>
            <a:ext cx="310896" cy="323850"/>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101" name="Text 99"/>
          <p:cNvSpPr txBox="1"/>
          <p:nvPr/>
        </p:nvSpPr>
        <p:spPr>
          <a:xfrm>
            <a:off x="1024128" y="5976366"/>
            <a:ext cx="187452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102" name="Text 100"/>
          <p:cNvSpPr txBox="1"/>
          <p:nvPr/>
        </p:nvSpPr>
        <p:spPr>
          <a:xfrm>
            <a:off x="2990088" y="5976366"/>
            <a:ext cx="1005840" cy="32385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81.3%</a:t>
            </a:r>
            <a:endParaRPr lang="en-US" sz="1400" dirty="0"/>
          </a:p>
        </p:txBody>
      </p:sp>
      <p:sp>
        <p:nvSpPr>
          <p:cNvPr id="103" name="Text 101"/>
          <p:cNvSpPr txBox="1"/>
          <p:nvPr/>
        </p:nvSpPr>
        <p:spPr>
          <a:xfrm>
            <a:off x="4087368" y="5976366"/>
            <a:ext cx="1828800" cy="323850"/>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104" name="Text 102"/>
          <p:cNvSpPr txBox="1"/>
          <p:nvPr/>
        </p:nvSpPr>
        <p:spPr>
          <a:xfrm>
            <a:off x="5989320" y="5976366"/>
            <a:ext cx="868680" cy="323850"/>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5" name="Text 103"/>
          <p:cNvSpPr txBox="1"/>
          <p:nvPr/>
        </p:nvSpPr>
        <p:spPr>
          <a:xfrm>
            <a:off x="7059168" y="5976366"/>
            <a:ext cx="4471416" cy="323850"/>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2,232 more a year.</a:t>
            </a:r>
            <a:endParaRPr lang="en-US" sz="14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Volvo</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$3.91M</a:t>
            </a:r>
            <a:pPr indent="0" marL="0">
              <a:buNone/>
            </a:pPr>
            <a:r>
              <a:rPr lang="en-US" sz="1400" b="1" dirty="0">
                <a:solidFill>
                  <a:srgbClr val="0B7A4A"/>
                </a:solidFill>
                <a:latin typeface="Inter" pitchFamily="34" charset="0"/>
                <a:ea typeface="Inter" pitchFamily="34" charset="-122"/>
                <a:cs typeface="Inter" pitchFamily="34" charset="-120"/>
              </a:rPr>
              <a:t>  +$63K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$1.33M</a:t>
            </a:r>
            <a:pPr indent="0" marL="0">
              <a:buNone/>
            </a:pPr>
            <a:r>
              <a:rPr lang="en-US" sz="1400" b="1" dirty="0">
                <a:solidFill>
                  <a:srgbClr val="0B7A4A"/>
                </a:solidFill>
                <a:latin typeface="Inter" pitchFamily="34" charset="0"/>
                <a:ea typeface="Inter" pitchFamily="34" charset="-122"/>
                <a:cs typeface="Inter" pitchFamily="34" charset="-120"/>
              </a:rPr>
              <a:t>  +$155K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81.8%</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3,402</a:t>
            </a:r>
            <a:pPr indent="0" marL="0">
              <a:buNone/>
            </a:pPr>
            <a:r>
              <a:rPr lang="en-US" sz="1400" b="1" dirty="0">
                <a:solidFill>
                  <a:srgbClr val="0B7A4A"/>
                </a:solidFill>
                <a:latin typeface="Inter" pitchFamily="34" charset="0"/>
                <a:ea typeface="Inter" pitchFamily="34" charset="-122"/>
                <a:cs typeface="Inter" pitchFamily="34" charset="-120"/>
              </a:rPr>
              <a:t>  +46</a:t>
            </a:r>
            <a:endParaRPr lang="en-US" sz="2200" dirty="0"/>
          </a:p>
        </p:txBody>
      </p:sp>
      <p:sp>
        <p:nvSpPr>
          <p:cNvPr id="17" name="Shape 15"/>
          <p:cNvSpPr/>
          <p:nvPr/>
        </p:nvSpPr>
        <p:spPr>
          <a:xfrm>
            <a:off x="4787900" y="658368"/>
            <a:ext cx="6943852" cy="475488"/>
          </a:xfrm>
          <a:prstGeom prst="rect">
            <a:avLst/>
          </a:prstGeom>
          <a:solidFill>
            <a:srgbClr val="EDF4FA"/>
          </a:solidFill>
          <a:ln/>
        </p:spPr>
      </p:sp>
      <p:sp>
        <p:nvSpPr>
          <p:cNvPr id="18" name="Text 16"/>
          <p:cNvSpPr txBox="1"/>
          <p:nvPr/>
        </p:nvSpPr>
        <p:spPr>
          <a:xfrm>
            <a:off x="4915916" y="658368"/>
            <a:ext cx="6687820"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CP ELR +$41   ·   2nd · Gross/head $18,549   ·   3rd · MPI 98.2%</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 of 9</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$743K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2.28</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2.90</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$517K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+0.62 hr per RO.</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$506</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$632</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$505K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$1.49M</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$1.54M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$67K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3" name="Shape 51"/>
          <p:cNvSpPr/>
          <p:nvPr/>
        </p:nvSpPr>
        <p:spPr>
          <a:xfrm>
            <a:off x="658368" y="3725266"/>
            <a:ext cx="10872216" cy="10973"/>
          </a:xfrm>
          <a:prstGeom prst="rect">
            <a:avLst/>
          </a:prstGeom>
          <a:solidFill>
            <a:srgbClr val="9AA3AD"/>
          </a:solidFill>
          <a:ln/>
        </p:spPr>
      </p:sp>
      <p:sp>
        <p:nvSpPr>
          <p:cNvPr id="54" name="Text 52"/>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5" name="Text 53"/>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56" name="Text 54"/>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52.5%</a:t>
            </a:r>
            <a:endParaRPr lang="en-US" sz="1400" dirty="0"/>
          </a:p>
        </p:txBody>
      </p:sp>
      <p:sp>
        <p:nvSpPr>
          <p:cNvPr id="57" name="Text 55"/>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58" name="Text 56"/>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59" name="Text 57"/>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366 more a year.</a:t>
            </a:r>
            <a:endParaRPr lang="en-US" sz="14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Henderson</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$4.79M</a:t>
            </a:r>
            <a:pPr indent="0" marL="0">
              <a:buNone/>
            </a:pPr>
            <a:r>
              <a:rPr lang="en-US" sz="1400" b="1" dirty="0">
                <a:solidFill>
                  <a:srgbClr val="A82B26"/>
                </a:solidFill>
                <a:latin typeface="Inter" pitchFamily="34" charset="0"/>
                <a:ea typeface="Inter" pitchFamily="34" charset="-122"/>
                <a:cs typeface="Inter" pitchFamily="34" charset="-120"/>
              </a:rPr>
              <a:t>  −$761K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$1.09M</a:t>
            </a:r>
            <a:pPr indent="0" marL="0">
              <a:buNone/>
            </a:pPr>
            <a:r>
              <a:rPr lang="en-US" sz="1400" b="1" dirty="0">
                <a:solidFill>
                  <a:srgbClr val="A82B26"/>
                </a:solidFill>
                <a:latin typeface="Inter" pitchFamily="34" charset="0"/>
                <a:ea typeface="Inter" pitchFamily="34" charset="-122"/>
                <a:cs typeface="Inter" pitchFamily="34" charset="-120"/>
              </a:rPr>
              <a:t>  −$457K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83.8%</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5,145</a:t>
            </a:r>
            <a:pPr indent="0" marL="0">
              <a:buNone/>
            </a:pPr>
            <a:r>
              <a:rPr lang="en-US" sz="1400" b="1" dirty="0">
                <a:solidFill>
                  <a:srgbClr val="A82B26"/>
                </a:solidFill>
                <a:latin typeface="Inter" pitchFamily="34" charset="0"/>
                <a:ea typeface="Inter" pitchFamily="34" charset="-122"/>
                <a:cs typeface="Inter" pitchFamily="34" charset="-120"/>
              </a:rPr>
              <a:t>  −4</a:t>
            </a:r>
            <a:endParaRPr lang="en-US" sz="2200" dirty="0"/>
          </a:p>
        </p:txBody>
      </p:sp>
      <p:sp>
        <p:nvSpPr>
          <p:cNvPr id="17" name="Shape 15"/>
          <p:cNvSpPr/>
          <p:nvPr/>
        </p:nvSpPr>
        <p:spPr>
          <a:xfrm>
            <a:off x="7709154" y="658368"/>
            <a:ext cx="4022598" cy="475488"/>
          </a:xfrm>
          <a:prstGeom prst="rect">
            <a:avLst/>
          </a:prstGeom>
          <a:solidFill>
            <a:srgbClr val="EDF4FA"/>
          </a:solidFill>
          <a:ln/>
        </p:spPr>
      </p:sp>
      <p:sp>
        <p:nvSpPr>
          <p:cNvPr id="18" name="Text 16"/>
          <p:cNvSpPr txBox="1"/>
          <p:nvPr/>
        </p:nvSpPr>
        <p:spPr>
          <a:xfrm>
            <a:off x="7837170" y="658368"/>
            <a:ext cx="3766566" cy="475488"/>
          </a:xfrm>
          <a:prstGeom prst="rect">
            <a:avLst/>
          </a:prstGeom>
          <a:noFill/>
          <a:ln/>
        </p:spPr>
        <p:txBody>
          <a:bodyPr wrap="square" lIns="0" tIns="0" rIns="0" bIns="0" rtlCol="0" anchor="ctr"/>
          <a:lstStyle/>
          <a:p>
            <a:pPr indent="0" marL="0">
              <a:lnSpc>
                <a:spcPct val="95000"/>
              </a:lnSpc>
              <a:buNone/>
            </a:pPr>
            <a:r>
              <a:rPr lang="en-US" sz="1400" b="1" spc="80" kern="0" dirty="0">
                <a:solidFill>
                  <a:srgbClr val="0B2C4A"/>
                </a:solidFill>
                <a:latin typeface="Inter" pitchFamily="34" charset="0"/>
                <a:ea typeface="Inter" pitchFamily="34" charset="-122"/>
                <a:cs typeface="Inter" pitchFamily="34" charset="-120"/>
              </a:rPr>
              <a:t>WHERE YOU LEAD</a:t>
            </a:r>
            <a:endParaRPr lang="en-US" sz="1400" dirty="0"/>
          </a:p>
          <a:p>
            <a:pPr indent="0" marL="0">
              <a:lnSpc>
                <a:spcPct val="95000"/>
              </a:lnSpc>
              <a:buNone/>
            </a:pPr>
            <a:r>
              <a:rPr lang="en-US" sz="1400" dirty="0">
                <a:solidFill>
                  <a:srgbClr val="1A1A1A"/>
                </a:solidFill>
                <a:latin typeface="Inter" pitchFamily="34" charset="0"/>
                <a:ea typeface="Inter" pitchFamily="34" charset="-122"/>
                <a:cs typeface="Inter" pitchFamily="34" charset="-120"/>
              </a:rPr>
              <a:t>1st · MPI 99.0%   ·   1st · Video 96.0%</a:t>
            </a:r>
            <a:endParaRPr lang="en-US" sz="1400" dirty="0"/>
          </a:p>
        </p:txBody>
      </p:sp>
      <p:sp>
        <p:nvSpPr>
          <p:cNvPr id="19" name="Shape 17"/>
          <p:cNvSpPr/>
          <p:nvPr/>
        </p:nvSpPr>
        <p:spPr>
          <a:xfrm>
            <a:off x="457200" y="2011680"/>
            <a:ext cx="11274552" cy="4343400"/>
          </a:xfrm>
          <a:prstGeom prst="rect">
            <a:avLst/>
          </a:prstGeom>
          <a:solidFill>
            <a:srgbClr val="FFFFFF"/>
          </a:solidFill>
          <a:ln/>
        </p:spPr>
      </p:sp>
      <p:sp>
        <p:nvSpPr>
          <p:cNvPr id="20" name="Text 18"/>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21" name="Text 19"/>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2" name="Text 20"/>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3" name="Text 21"/>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4" name="Text 22"/>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5" name="Text 23"/>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6" name="Shape 24"/>
          <p:cNvSpPr/>
          <p:nvPr/>
        </p:nvSpPr>
        <p:spPr>
          <a:xfrm>
            <a:off x="658368" y="2368296"/>
            <a:ext cx="10872216" cy="10973"/>
          </a:xfrm>
          <a:prstGeom prst="rect">
            <a:avLst/>
          </a:prstGeom>
          <a:solidFill>
            <a:srgbClr val="1A1A1A"/>
          </a:solidFill>
          <a:ln/>
        </p:spPr>
      </p:sp>
      <p:sp>
        <p:nvSpPr>
          <p:cNvPr id="27" name="Text 25"/>
          <p:cNvSpPr txBox="1"/>
          <p:nvPr/>
        </p:nvSpPr>
        <p:spPr>
          <a:xfrm>
            <a:off x="658368" y="241401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1024128" y="241401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29" name="Text 27"/>
          <p:cNvSpPr txBox="1"/>
          <p:nvPr/>
        </p:nvSpPr>
        <p:spPr>
          <a:xfrm>
            <a:off x="2990088" y="241401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$3.50M</a:t>
            </a:r>
            <a:endParaRPr lang="en-US" sz="1400" dirty="0"/>
          </a:p>
        </p:txBody>
      </p:sp>
      <p:sp>
        <p:nvSpPr>
          <p:cNvPr id="30" name="Text 28"/>
          <p:cNvSpPr txBox="1"/>
          <p:nvPr/>
        </p:nvSpPr>
        <p:spPr>
          <a:xfrm>
            <a:off x="4087368" y="241401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1" name="Text 29"/>
          <p:cNvSpPr txBox="1"/>
          <p:nvPr/>
        </p:nvSpPr>
        <p:spPr>
          <a:xfrm>
            <a:off x="5989320" y="241401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$730K</a:t>
            </a:r>
            <a:endParaRPr lang="en-US" sz="1400" dirty="0"/>
          </a:p>
        </p:txBody>
      </p:sp>
      <p:sp>
        <p:nvSpPr>
          <p:cNvPr id="32" name="Text 30"/>
          <p:cNvSpPr txBox="1"/>
          <p:nvPr/>
        </p:nvSpPr>
        <p:spPr>
          <a:xfrm>
            <a:off x="7059168" y="241401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3" name="Shape 31"/>
          <p:cNvSpPr/>
          <p:nvPr/>
        </p:nvSpPr>
        <p:spPr>
          <a:xfrm>
            <a:off x="658368" y="2743200"/>
            <a:ext cx="10872216" cy="329184"/>
          </a:xfrm>
          <a:prstGeom prst="rect">
            <a:avLst/>
          </a:prstGeom>
          <a:solidFill>
            <a:srgbClr val="F7F7F7"/>
          </a:solidFill>
          <a:ln/>
        </p:spPr>
      </p:sp>
      <p:sp>
        <p:nvSpPr>
          <p:cNvPr id="34" name="Text 32"/>
          <p:cNvSpPr txBox="1"/>
          <p:nvPr/>
        </p:nvSpPr>
        <p:spPr>
          <a:xfrm>
            <a:off x="658368" y="274320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5" name="Text 33"/>
          <p:cNvSpPr txBox="1"/>
          <p:nvPr/>
        </p:nvSpPr>
        <p:spPr>
          <a:xfrm>
            <a:off x="1024128" y="274320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36" name="Text 34"/>
          <p:cNvSpPr txBox="1"/>
          <p:nvPr/>
        </p:nvSpPr>
        <p:spPr>
          <a:xfrm>
            <a:off x="2990088" y="274320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6 of 19</a:t>
            </a:r>
            <a:endParaRPr lang="en-US" sz="1400" dirty="0"/>
          </a:p>
        </p:txBody>
      </p:sp>
      <p:sp>
        <p:nvSpPr>
          <p:cNvPr id="37" name="Text 35"/>
          <p:cNvSpPr txBox="1"/>
          <p:nvPr/>
        </p:nvSpPr>
        <p:spPr>
          <a:xfrm>
            <a:off x="4087368" y="274320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38" name="Text 36"/>
          <p:cNvSpPr txBox="1"/>
          <p:nvPr/>
        </p:nvSpPr>
        <p:spPr>
          <a:xfrm>
            <a:off x="5989320" y="2743200"/>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$295K</a:t>
            </a:r>
            <a:endParaRPr lang="en-US" sz="1400" dirty="0"/>
          </a:p>
        </p:txBody>
      </p:sp>
      <p:sp>
        <p:nvSpPr>
          <p:cNvPr id="39" name="Text 37"/>
          <p:cNvSpPr txBox="1"/>
          <p:nvPr/>
        </p:nvSpPr>
        <p:spPr>
          <a:xfrm>
            <a:off x="7059168" y="274320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Lift the 6 under 85%: dispatch, parts.</a:t>
            </a:r>
            <a:endParaRPr lang="en-US" sz="1400" dirty="0"/>
          </a:p>
        </p:txBody>
      </p:sp>
      <p:sp>
        <p:nvSpPr>
          <p:cNvPr id="40" name="Text 38"/>
          <p:cNvSpPr txBox="1"/>
          <p:nvPr/>
        </p:nvSpPr>
        <p:spPr>
          <a:xfrm>
            <a:off x="658368" y="3072384"/>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41" name="Text 39"/>
          <p:cNvSpPr txBox="1"/>
          <p:nvPr/>
        </p:nvSpPr>
        <p:spPr>
          <a:xfrm>
            <a:off x="1024128" y="3072384"/>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42" name="Text 40"/>
          <p:cNvSpPr txBox="1"/>
          <p:nvPr/>
        </p:nvSpPr>
        <p:spPr>
          <a:xfrm>
            <a:off x="2990088" y="3072384"/>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$1.29M</a:t>
            </a:r>
            <a:endParaRPr lang="en-US" sz="1400" dirty="0"/>
          </a:p>
        </p:txBody>
      </p:sp>
      <p:sp>
        <p:nvSpPr>
          <p:cNvPr id="43" name="Text 41"/>
          <p:cNvSpPr txBox="1"/>
          <p:nvPr/>
        </p:nvSpPr>
        <p:spPr>
          <a:xfrm>
            <a:off x="4087368" y="3072384"/>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$1.50M</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4" name="Text 42"/>
          <p:cNvSpPr txBox="1"/>
          <p:nvPr/>
        </p:nvSpPr>
        <p:spPr>
          <a:xfrm>
            <a:off x="5989320" y="3072384"/>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$285K</a:t>
            </a:r>
            <a:endParaRPr lang="en-US" sz="1400" dirty="0"/>
          </a:p>
        </p:txBody>
      </p:sp>
      <p:sp>
        <p:nvSpPr>
          <p:cNvPr id="45" name="Text 43"/>
          <p:cNvSpPr txBox="1"/>
          <p:nvPr/>
        </p:nvSpPr>
        <p:spPr>
          <a:xfrm>
            <a:off x="7059168" y="3072384"/>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46" name="Shape 44"/>
          <p:cNvSpPr/>
          <p:nvPr/>
        </p:nvSpPr>
        <p:spPr>
          <a:xfrm>
            <a:off x="658368" y="3401568"/>
            <a:ext cx="10872216" cy="329184"/>
          </a:xfrm>
          <a:prstGeom prst="rect">
            <a:avLst/>
          </a:prstGeom>
          <a:solidFill>
            <a:srgbClr val="F7F7F7"/>
          </a:solidFill>
          <a:ln/>
        </p:spPr>
      </p:sp>
      <p:sp>
        <p:nvSpPr>
          <p:cNvPr id="47" name="Text 45"/>
          <p:cNvSpPr txBox="1"/>
          <p:nvPr/>
        </p:nvSpPr>
        <p:spPr>
          <a:xfrm>
            <a:off x="658368" y="3401568"/>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8" name="Text 46"/>
          <p:cNvSpPr txBox="1"/>
          <p:nvPr/>
        </p:nvSpPr>
        <p:spPr>
          <a:xfrm>
            <a:off x="1024128" y="3401568"/>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parts GP %</a:t>
            </a:r>
            <a:endParaRPr lang="en-US" sz="1400" dirty="0"/>
          </a:p>
        </p:txBody>
      </p:sp>
      <p:sp>
        <p:nvSpPr>
          <p:cNvPr id="49" name="Text 47"/>
          <p:cNvSpPr txBox="1"/>
          <p:nvPr/>
        </p:nvSpPr>
        <p:spPr>
          <a:xfrm>
            <a:off x="2990088" y="3401568"/>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36.9%</a:t>
            </a:r>
            <a:endParaRPr lang="en-US" sz="1400" dirty="0"/>
          </a:p>
        </p:txBody>
      </p:sp>
      <p:sp>
        <p:nvSpPr>
          <p:cNvPr id="50" name="Text 48"/>
          <p:cNvSpPr txBox="1"/>
          <p:nvPr/>
        </p:nvSpPr>
        <p:spPr>
          <a:xfrm>
            <a:off x="4087368" y="3401568"/>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51" name="Text 49"/>
          <p:cNvSpPr txBox="1"/>
          <p:nvPr/>
        </p:nvSpPr>
        <p:spPr>
          <a:xfrm>
            <a:off x="5989320" y="3401568"/>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$69K</a:t>
            </a:r>
            <a:endParaRPr lang="en-US" sz="1400" dirty="0"/>
          </a:p>
        </p:txBody>
      </p:sp>
      <p:sp>
        <p:nvSpPr>
          <p:cNvPr id="52" name="Text 50"/>
          <p:cNvSpPr txBox="1"/>
          <p:nvPr/>
        </p:nvSpPr>
        <p:spPr>
          <a:xfrm>
            <a:off x="7059168" y="3401568"/>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Price to the matrix; watch overrides.</a:t>
            </a:r>
            <a:endParaRPr lang="en-US" sz="1400" dirty="0"/>
          </a:p>
        </p:txBody>
      </p:sp>
      <p:sp>
        <p:nvSpPr>
          <p:cNvPr id="53" name="Text 51"/>
          <p:cNvSpPr txBox="1"/>
          <p:nvPr/>
        </p:nvSpPr>
        <p:spPr>
          <a:xfrm>
            <a:off x="658368" y="3730752"/>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4" name="Text 52"/>
          <p:cNvSpPr txBox="1"/>
          <p:nvPr/>
        </p:nvSpPr>
        <p:spPr>
          <a:xfrm>
            <a:off x="1024128" y="3730752"/>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55" name="Text 53"/>
          <p:cNvSpPr txBox="1"/>
          <p:nvPr/>
        </p:nvSpPr>
        <p:spPr>
          <a:xfrm>
            <a:off x="2990088" y="3730752"/>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8.3%</a:t>
            </a:r>
            <a:endParaRPr lang="en-US" sz="1400" dirty="0"/>
          </a:p>
        </p:txBody>
      </p:sp>
      <p:sp>
        <p:nvSpPr>
          <p:cNvPr id="56" name="Text 54"/>
          <p:cNvSpPr txBox="1"/>
          <p:nvPr/>
        </p:nvSpPr>
        <p:spPr>
          <a:xfrm>
            <a:off x="4087368" y="3730752"/>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57" name="Text 55"/>
          <p:cNvSpPr txBox="1"/>
          <p:nvPr/>
        </p:nvSpPr>
        <p:spPr>
          <a:xfrm>
            <a:off x="5989320" y="3730752"/>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$27K</a:t>
            </a:r>
            <a:endParaRPr lang="en-US" sz="1400" dirty="0"/>
          </a:p>
        </p:txBody>
      </p:sp>
      <p:sp>
        <p:nvSpPr>
          <p:cNvPr id="58" name="Text 56"/>
          <p:cNvSpPr txBox="1"/>
          <p:nvPr/>
        </p:nvSpPr>
        <p:spPr>
          <a:xfrm>
            <a:off x="7059168" y="3730752"/>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460 more a year.</a:t>
            </a:r>
            <a:endParaRPr lang="en-US" sz="1400" dirty="0"/>
          </a:p>
        </p:txBody>
      </p:sp>
      <p:sp>
        <p:nvSpPr>
          <p:cNvPr id="59" name="Shape 57"/>
          <p:cNvSpPr/>
          <p:nvPr/>
        </p:nvSpPr>
        <p:spPr>
          <a:xfrm>
            <a:off x="658368" y="4059936"/>
            <a:ext cx="10872216" cy="329184"/>
          </a:xfrm>
          <a:prstGeom prst="rect">
            <a:avLst/>
          </a:prstGeom>
          <a:solidFill>
            <a:srgbClr val="F7F7F7"/>
          </a:solidFill>
          <a:ln/>
        </p:spPr>
      </p:sp>
      <p:sp>
        <p:nvSpPr>
          <p:cNvPr id="60" name="Text 58"/>
          <p:cNvSpPr txBox="1"/>
          <p:nvPr/>
        </p:nvSpPr>
        <p:spPr>
          <a:xfrm>
            <a:off x="658368" y="4059936"/>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61" name="Text 59"/>
          <p:cNvSpPr txBox="1"/>
          <p:nvPr/>
        </p:nvSpPr>
        <p:spPr>
          <a:xfrm>
            <a:off x="1024128" y="4059936"/>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62" name="Text 60"/>
          <p:cNvSpPr txBox="1"/>
          <p:nvPr/>
        </p:nvSpPr>
        <p:spPr>
          <a:xfrm>
            <a:off x="2990088" y="4059936"/>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13.6%</a:t>
            </a:r>
            <a:endParaRPr lang="en-US" sz="1400" dirty="0"/>
          </a:p>
        </p:txBody>
      </p:sp>
      <p:sp>
        <p:nvSpPr>
          <p:cNvPr id="63" name="Text 61"/>
          <p:cNvSpPr txBox="1"/>
          <p:nvPr/>
        </p:nvSpPr>
        <p:spPr>
          <a:xfrm>
            <a:off x="4087368" y="4059936"/>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4" name="Text 62"/>
          <p:cNvSpPr txBox="1"/>
          <p:nvPr/>
        </p:nvSpPr>
        <p:spPr>
          <a:xfrm>
            <a:off x="5989320" y="4059936"/>
            <a:ext cx="868680" cy="329184"/>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$23K</a:t>
            </a:r>
            <a:endParaRPr lang="en-US" sz="1400" dirty="0"/>
          </a:p>
        </p:txBody>
      </p:sp>
      <p:sp>
        <p:nvSpPr>
          <p:cNvPr id="65" name="Text 63"/>
          <p:cNvSpPr txBox="1"/>
          <p:nvPr/>
        </p:nvSpPr>
        <p:spPr>
          <a:xfrm>
            <a:off x="7059168" y="4059936"/>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96 more a year.</a:t>
            </a:r>
            <a:endParaRPr lang="en-US" sz="1400" dirty="0"/>
          </a:p>
        </p:txBody>
      </p:sp>
      <p:sp>
        <p:nvSpPr>
          <p:cNvPr id="66" name="Shape 64"/>
          <p:cNvSpPr/>
          <p:nvPr/>
        </p:nvSpPr>
        <p:spPr>
          <a:xfrm>
            <a:off x="658368" y="4383634"/>
            <a:ext cx="10872216" cy="10973"/>
          </a:xfrm>
          <a:prstGeom prst="rect">
            <a:avLst/>
          </a:prstGeom>
          <a:solidFill>
            <a:srgbClr val="9AA3AD"/>
          </a:solidFill>
          <a:ln/>
        </p:spPr>
      </p:sp>
      <p:sp>
        <p:nvSpPr>
          <p:cNvPr id="67" name="Text 65"/>
          <p:cNvSpPr txBox="1"/>
          <p:nvPr/>
        </p:nvSpPr>
        <p:spPr>
          <a:xfrm>
            <a:off x="658368" y="4389120"/>
            <a:ext cx="310896" cy="329184"/>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8" name="Text 66"/>
          <p:cNvSpPr txBox="1"/>
          <p:nvPr/>
        </p:nvSpPr>
        <p:spPr>
          <a:xfrm>
            <a:off x="1024128" y="4389120"/>
            <a:ext cx="187452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69" name="Text 67"/>
          <p:cNvSpPr txBox="1"/>
          <p:nvPr/>
        </p:nvSpPr>
        <p:spPr>
          <a:xfrm>
            <a:off x="2990088" y="4389120"/>
            <a:ext cx="1005840" cy="329184"/>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$12,006</a:t>
            </a:r>
            <a:endParaRPr lang="en-US" sz="1400" dirty="0"/>
          </a:p>
        </p:txBody>
      </p:sp>
      <p:sp>
        <p:nvSpPr>
          <p:cNvPr id="70" name="Text 68"/>
          <p:cNvSpPr txBox="1"/>
          <p:nvPr/>
        </p:nvSpPr>
        <p:spPr>
          <a:xfrm>
            <a:off x="4087368" y="4389120"/>
            <a:ext cx="1828800" cy="329184"/>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1" name="Text 69"/>
          <p:cNvSpPr txBox="1"/>
          <p:nvPr/>
        </p:nvSpPr>
        <p:spPr>
          <a:xfrm>
            <a:off x="5989320" y="4389120"/>
            <a:ext cx="868680" cy="329184"/>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72" name="Text 70"/>
          <p:cNvSpPr txBox="1"/>
          <p:nvPr/>
        </p:nvSpPr>
        <p:spPr>
          <a:xfrm>
            <a:off x="7059168" y="4389120"/>
            <a:ext cx="4471416"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2.5 heads over peer avg.</a:t>
            </a:r>
            <a:endParaRPr lang="en-US" sz="14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STORE PRESCRIPTIONS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VW St George</a:t>
            </a:r>
            <a:endParaRPr lang="en-US" sz="2800" dirty="0"/>
          </a:p>
        </p:txBody>
      </p:sp>
      <p:sp>
        <p:nvSpPr>
          <p:cNvPr id="5" name="Shape 3"/>
          <p:cNvSpPr/>
          <p:nvPr/>
        </p:nvSpPr>
        <p:spPr>
          <a:xfrm>
            <a:off x="457200" y="1207008"/>
            <a:ext cx="11274552" cy="713232"/>
          </a:xfrm>
          <a:prstGeom prst="rect">
            <a:avLst/>
          </a:prstGeom>
          <a:solidFill>
            <a:srgbClr val="FFFFFF"/>
          </a:solidFill>
          <a:ln/>
        </p:spPr>
      </p:sp>
      <p:sp>
        <p:nvSpPr>
          <p:cNvPr id="6" name="Text 4"/>
          <p:cNvSpPr txBox="1"/>
          <p:nvPr/>
        </p:nvSpPr>
        <p:spPr>
          <a:xfrm>
            <a:off x="685800"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7" name="Text 5"/>
          <p:cNvSpPr txBox="1"/>
          <p:nvPr/>
        </p:nvSpPr>
        <p:spPr>
          <a:xfrm>
            <a:off x="685800"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$968,018</a:t>
            </a:r>
            <a:pPr indent="0" marL="0">
              <a:buNone/>
            </a:pPr>
            <a:r>
              <a:rPr lang="en-US" sz="1400" b="1" dirty="0">
                <a:solidFill>
                  <a:srgbClr val="A82B26"/>
                </a:solidFill>
                <a:latin typeface="Inter" pitchFamily="34" charset="0"/>
                <a:ea typeface="Inter" pitchFamily="34" charset="-122"/>
                <a:cs typeface="Inter" pitchFamily="34" charset="-120"/>
              </a:rPr>
              <a:t>  −$163K</a:t>
            </a:r>
            <a:endParaRPr lang="en-US" sz="2200" dirty="0"/>
          </a:p>
        </p:txBody>
      </p:sp>
      <p:sp>
        <p:nvSpPr>
          <p:cNvPr id="8" name="Shape 6"/>
          <p:cNvSpPr/>
          <p:nvPr/>
        </p:nvSpPr>
        <p:spPr>
          <a:xfrm>
            <a:off x="3355848" y="1316736"/>
            <a:ext cx="10973" cy="493776"/>
          </a:xfrm>
          <a:prstGeom prst="rect">
            <a:avLst/>
          </a:prstGeom>
          <a:solidFill>
            <a:srgbClr val="D9D9D9"/>
          </a:solidFill>
          <a:ln/>
        </p:spPr>
      </p:sp>
      <p:sp>
        <p:nvSpPr>
          <p:cNvPr id="9" name="Text 7"/>
          <p:cNvSpPr txBox="1"/>
          <p:nvPr/>
        </p:nvSpPr>
        <p:spPr>
          <a:xfrm>
            <a:off x="3447288"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10" name="Text 8"/>
          <p:cNvSpPr txBox="1"/>
          <p:nvPr/>
        </p:nvSpPr>
        <p:spPr>
          <a:xfrm>
            <a:off x="3447288" y="1517904"/>
            <a:ext cx="2651760" cy="347472"/>
          </a:xfrm>
          <a:prstGeom prst="rect">
            <a:avLst/>
          </a:prstGeom>
          <a:noFill/>
          <a:ln/>
        </p:spPr>
        <p:txBody>
          <a:bodyPr wrap="square" lIns="0" tIns="0" rIns="0" bIns="0" rtlCol="0" anchor="ctr"/>
          <a:lstStyle/>
          <a:p>
            <a:pPr indent="0" marL="0">
              <a:buNone/>
            </a:pPr>
            <a:r>
              <a:rPr lang="en-US" sz="2200" b="1" dirty="0">
                <a:solidFill>
                  <a:srgbClr val="A82B26"/>
                </a:solidFill>
                <a:latin typeface="Inter" pitchFamily="34" charset="0"/>
                <a:ea typeface="Inter" pitchFamily="34" charset="-122"/>
                <a:cs typeface="Inter" pitchFamily="34" charset="-120"/>
              </a:rPr>
              <a:t>−$58,644</a:t>
            </a:r>
            <a:pPr indent="0" marL="0">
              <a:buNone/>
            </a:pPr>
            <a:r>
              <a:rPr lang="en-US" sz="1400" b="1" dirty="0">
                <a:solidFill>
                  <a:srgbClr val="A82B26"/>
                </a:solidFill>
                <a:latin typeface="Inter" pitchFamily="34" charset="0"/>
                <a:ea typeface="Inter" pitchFamily="34" charset="-122"/>
                <a:cs typeface="Inter" pitchFamily="34" charset="-120"/>
              </a:rPr>
              <a:t>  −$212K</a:t>
            </a:r>
            <a:endParaRPr lang="en-US" sz="2200" dirty="0"/>
          </a:p>
        </p:txBody>
      </p:sp>
      <p:sp>
        <p:nvSpPr>
          <p:cNvPr id="11" name="Shape 9"/>
          <p:cNvSpPr/>
          <p:nvPr/>
        </p:nvSpPr>
        <p:spPr>
          <a:xfrm>
            <a:off x="6117336" y="1316736"/>
            <a:ext cx="10973" cy="493776"/>
          </a:xfrm>
          <a:prstGeom prst="rect">
            <a:avLst/>
          </a:prstGeom>
          <a:solidFill>
            <a:srgbClr val="D9D9D9"/>
          </a:solidFill>
          <a:ln/>
        </p:spPr>
      </p:sp>
      <p:sp>
        <p:nvSpPr>
          <p:cNvPr id="12" name="Text 10"/>
          <p:cNvSpPr txBox="1"/>
          <p:nvPr/>
        </p:nvSpPr>
        <p:spPr>
          <a:xfrm>
            <a:off x="6208776"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ABSORPTION</a:t>
            </a:r>
            <a:endParaRPr lang="en-US" sz="1400" dirty="0"/>
          </a:p>
        </p:txBody>
      </p:sp>
      <p:sp>
        <p:nvSpPr>
          <p:cNvPr id="13" name="Text 11"/>
          <p:cNvSpPr txBox="1"/>
          <p:nvPr/>
        </p:nvSpPr>
        <p:spPr>
          <a:xfrm>
            <a:off x="6208776"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54.1%</a:t>
            </a:r>
            <a:pPr indent="0" marL="0">
              <a:buNone/>
            </a:pPr>
            <a:r>
              <a:rPr lang="en-US" sz="1400" dirty="0">
                <a:solidFill>
                  <a:srgbClr val="595959"/>
                </a:solidFill>
                <a:latin typeface="Inter" pitchFamily="34" charset="0"/>
                <a:ea typeface="Inter" pitchFamily="34" charset="-122"/>
                <a:cs typeface="Inter" pitchFamily="34" charset="-120"/>
              </a:rPr>
              <a:t>  group 78.1%</a:t>
            </a:r>
            <a:endParaRPr lang="en-US" sz="2200" dirty="0"/>
          </a:p>
        </p:txBody>
      </p:sp>
      <p:sp>
        <p:nvSpPr>
          <p:cNvPr id="14" name="Shape 12"/>
          <p:cNvSpPr/>
          <p:nvPr/>
        </p:nvSpPr>
        <p:spPr>
          <a:xfrm>
            <a:off x="8878824" y="1316736"/>
            <a:ext cx="10973" cy="493776"/>
          </a:xfrm>
          <a:prstGeom prst="rect">
            <a:avLst/>
          </a:prstGeom>
          <a:solidFill>
            <a:srgbClr val="D9D9D9"/>
          </a:solidFill>
          <a:ln/>
        </p:spPr>
      </p:sp>
      <p:sp>
        <p:nvSpPr>
          <p:cNvPr id="15" name="Text 13"/>
          <p:cNvSpPr txBox="1"/>
          <p:nvPr/>
        </p:nvSpPr>
        <p:spPr>
          <a:xfrm>
            <a:off x="8970264" y="1280160"/>
            <a:ext cx="2651760" cy="237744"/>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CP ROS</a:t>
            </a:r>
            <a:endParaRPr lang="en-US" sz="1400" dirty="0"/>
          </a:p>
        </p:txBody>
      </p:sp>
      <p:sp>
        <p:nvSpPr>
          <p:cNvPr id="16" name="Text 14"/>
          <p:cNvSpPr txBox="1"/>
          <p:nvPr/>
        </p:nvSpPr>
        <p:spPr>
          <a:xfrm>
            <a:off x="8970264" y="1517904"/>
            <a:ext cx="2651760" cy="347472"/>
          </a:xfrm>
          <a:prstGeom prst="rect">
            <a:avLst/>
          </a:prstGeom>
          <a:noFill/>
          <a:ln/>
        </p:spPr>
        <p:txBody>
          <a:bodyPr wrap="square" lIns="0" tIns="0" rIns="0" bIns="0" rtlCol="0" anchor="ctr"/>
          <a:lstStyle/>
          <a:p>
            <a:pPr indent="0" marL="0">
              <a:buNone/>
            </a:pPr>
            <a:r>
              <a:rPr lang="en-US" sz="2200" b="1" dirty="0">
                <a:solidFill>
                  <a:srgbClr val="0B2C4A"/>
                </a:solidFill>
                <a:latin typeface="Inter" pitchFamily="34" charset="0"/>
                <a:ea typeface="Inter" pitchFamily="34" charset="-122"/>
                <a:cs typeface="Inter" pitchFamily="34" charset="-120"/>
              </a:rPr>
              <a:t>1,919</a:t>
            </a:r>
            <a:pPr indent="0" marL="0">
              <a:buNone/>
            </a:pPr>
            <a:r>
              <a:rPr lang="en-US" sz="1400" b="1" dirty="0">
                <a:solidFill>
                  <a:srgbClr val="A82B26"/>
                </a:solidFill>
                <a:latin typeface="Inter" pitchFamily="34" charset="0"/>
                <a:ea typeface="Inter" pitchFamily="34" charset="-122"/>
                <a:cs typeface="Inter" pitchFamily="34" charset="-120"/>
              </a:rPr>
              <a:t>  −332</a:t>
            </a:r>
            <a:endParaRPr lang="en-US" sz="2200" dirty="0"/>
          </a:p>
        </p:txBody>
      </p:sp>
      <p:sp>
        <p:nvSpPr>
          <p:cNvPr id="17" name="Shape 15"/>
          <p:cNvSpPr/>
          <p:nvPr/>
        </p:nvSpPr>
        <p:spPr>
          <a:xfrm>
            <a:off x="457200" y="2011680"/>
            <a:ext cx="11274552" cy="4343400"/>
          </a:xfrm>
          <a:prstGeom prst="rect">
            <a:avLst/>
          </a:prstGeom>
          <a:solidFill>
            <a:srgbClr val="FFFFFF"/>
          </a:solidFill>
          <a:ln/>
        </p:spPr>
      </p:sp>
      <p:sp>
        <p:nvSpPr>
          <p:cNvPr id="18" name="Text 16"/>
          <p:cNvSpPr txBox="1"/>
          <p:nvPr/>
        </p:nvSpPr>
        <p:spPr>
          <a:xfrm>
            <a:off x="658368" y="2084832"/>
            <a:ext cx="310896" cy="256032"/>
          </a:xfrm>
          <a:prstGeom prst="rect">
            <a:avLst/>
          </a:prstGeom>
          <a:noFill/>
          <a:ln/>
        </p:spPr>
        <p:txBody>
          <a:bodyPr wrap="square" lIns="0" tIns="0" rIns="0" bIns="0" rtlCol="0" anchor="ctr"/>
          <a:lstStyle/>
          <a:p>
            <a:pPr algn="l" indent="0" marL="0">
              <a:buNone/>
            </a:pPr>
            <a:endParaRPr lang="en-US" sz="1400" dirty="0"/>
          </a:p>
        </p:txBody>
      </p:sp>
      <p:sp>
        <p:nvSpPr>
          <p:cNvPr id="19" name="Text 17"/>
          <p:cNvSpPr txBox="1"/>
          <p:nvPr/>
        </p:nvSpPr>
        <p:spPr>
          <a:xfrm>
            <a:off x="1024128" y="2084832"/>
            <a:ext cx="187452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AREA</a:t>
            </a:r>
            <a:endParaRPr lang="en-US" sz="1400" dirty="0"/>
          </a:p>
        </p:txBody>
      </p:sp>
      <p:sp>
        <p:nvSpPr>
          <p:cNvPr id="20" name="Text 18"/>
          <p:cNvSpPr txBox="1"/>
          <p:nvPr/>
        </p:nvSpPr>
        <p:spPr>
          <a:xfrm>
            <a:off x="2990088" y="2084832"/>
            <a:ext cx="100584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YOURS</a:t>
            </a:r>
            <a:endParaRPr lang="en-US" sz="1400" dirty="0"/>
          </a:p>
        </p:txBody>
      </p:sp>
      <p:sp>
        <p:nvSpPr>
          <p:cNvPr id="21" name="Text 19"/>
          <p:cNvSpPr txBox="1"/>
          <p:nvPr/>
        </p:nvSpPr>
        <p:spPr>
          <a:xfrm>
            <a:off x="4087368" y="2084832"/>
            <a:ext cx="1828800"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THE BAR</a:t>
            </a:r>
            <a:endParaRPr lang="en-US" sz="1400" dirty="0"/>
          </a:p>
        </p:txBody>
      </p:sp>
      <p:sp>
        <p:nvSpPr>
          <p:cNvPr id="22" name="Text 20"/>
          <p:cNvSpPr txBox="1"/>
          <p:nvPr/>
        </p:nvSpPr>
        <p:spPr>
          <a:xfrm>
            <a:off x="5989320" y="2084832"/>
            <a:ext cx="868680" cy="256032"/>
          </a:xfrm>
          <a:prstGeom prst="rect">
            <a:avLst/>
          </a:prstGeom>
          <a:noFill/>
          <a:ln/>
        </p:spPr>
        <p:txBody>
          <a:bodyPr wrap="square" lIns="0" tIns="0" rIns="0" bIns="0" rtlCol="0" anchor="ctr"/>
          <a:lstStyle/>
          <a:p>
            <a:pPr algn="r" indent="0" marL="0">
              <a:buNone/>
            </a:pPr>
            <a:r>
              <a:rPr lang="en-US" sz="1400" b="1" spc="80" kern="0" dirty="0">
                <a:solidFill>
                  <a:srgbClr val="595959"/>
                </a:solidFill>
                <a:latin typeface="Inter" pitchFamily="34" charset="0"/>
                <a:ea typeface="Inter" pitchFamily="34" charset="-122"/>
                <a:cs typeface="Inter" pitchFamily="34" charset="-120"/>
              </a:rPr>
              <a:t>A YEAR</a:t>
            </a:r>
            <a:endParaRPr lang="en-US" sz="1400" dirty="0"/>
          </a:p>
        </p:txBody>
      </p:sp>
      <p:sp>
        <p:nvSpPr>
          <p:cNvPr id="23" name="Text 21"/>
          <p:cNvSpPr txBox="1"/>
          <p:nvPr/>
        </p:nvSpPr>
        <p:spPr>
          <a:xfrm>
            <a:off x="7059168" y="2084832"/>
            <a:ext cx="4471416" cy="256032"/>
          </a:xfrm>
          <a:prstGeom prst="rect">
            <a:avLst/>
          </a:prstGeom>
          <a:noFill/>
          <a:ln/>
        </p:spPr>
        <p:txBody>
          <a:bodyPr wrap="square" lIns="0" tIns="0" rIns="0" bIns="0" rtlCol="0" anchor="ctr"/>
          <a:lstStyle/>
          <a:p>
            <a:pPr algn="l" indent="0" marL="0">
              <a:buNone/>
            </a:pPr>
            <a:r>
              <a:rPr lang="en-US" sz="1400" b="1" spc="80" kern="0" dirty="0">
                <a:solidFill>
                  <a:srgbClr val="595959"/>
                </a:solidFill>
                <a:latin typeface="Inter" pitchFamily="34" charset="0"/>
                <a:ea typeface="Inter" pitchFamily="34" charset="-122"/>
                <a:cs typeface="Inter" pitchFamily="34" charset="-120"/>
              </a:rPr>
              <a:t>PRESCRIPTION</a:t>
            </a:r>
            <a:endParaRPr lang="en-US" sz="1400" dirty="0"/>
          </a:p>
        </p:txBody>
      </p:sp>
      <p:sp>
        <p:nvSpPr>
          <p:cNvPr id="24" name="Shape 22"/>
          <p:cNvSpPr/>
          <p:nvPr/>
        </p:nvSpPr>
        <p:spPr>
          <a:xfrm>
            <a:off x="658368" y="2368296"/>
            <a:ext cx="10872216" cy="10973"/>
          </a:xfrm>
          <a:prstGeom prst="rect">
            <a:avLst/>
          </a:prstGeom>
          <a:solidFill>
            <a:srgbClr val="1A1A1A"/>
          </a:solidFill>
          <a:ln/>
        </p:spPr>
      </p:sp>
      <p:sp>
        <p:nvSpPr>
          <p:cNvPr id="25" name="Text 23"/>
          <p:cNvSpPr txBox="1"/>
          <p:nvPr/>
        </p:nvSpPr>
        <p:spPr>
          <a:xfrm>
            <a:off x="658368" y="2414016"/>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a:t>
            </a:r>
            <a:endParaRPr lang="en-US" sz="1400" dirty="0"/>
          </a:p>
        </p:txBody>
      </p:sp>
      <p:sp>
        <p:nvSpPr>
          <p:cNvPr id="26" name="Text 24"/>
          <p:cNvSpPr txBox="1"/>
          <p:nvPr/>
        </p:nvSpPr>
        <p:spPr>
          <a:xfrm>
            <a:off x="1024128" y="2414016"/>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Techs under 85%</a:t>
            </a:r>
            <a:endParaRPr lang="en-US" sz="1400" dirty="0"/>
          </a:p>
        </p:txBody>
      </p:sp>
      <p:sp>
        <p:nvSpPr>
          <p:cNvPr id="27" name="Text 25"/>
          <p:cNvSpPr txBox="1"/>
          <p:nvPr/>
        </p:nvSpPr>
        <p:spPr>
          <a:xfrm>
            <a:off x="2990088" y="2414016"/>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 of 5</a:t>
            </a:r>
            <a:endParaRPr lang="en-US" sz="1400" dirty="0"/>
          </a:p>
        </p:txBody>
      </p:sp>
      <p:sp>
        <p:nvSpPr>
          <p:cNvPr id="28" name="Text 26"/>
          <p:cNvSpPr txBox="1"/>
          <p:nvPr/>
        </p:nvSpPr>
        <p:spPr>
          <a:xfrm>
            <a:off x="4087368" y="2414016"/>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85%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29" name="Text 27"/>
          <p:cNvSpPr txBox="1"/>
          <p:nvPr/>
        </p:nvSpPr>
        <p:spPr>
          <a:xfrm>
            <a:off x="5989320" y="2414016"/>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$248K</a:t>
            </a:r>
            <a:endParaRPr lang="en-US" sz="1400" dirty="0"/>
          </a:p>
        </p:txBody>
      </p:sp>
      <p:sp>
        <p:nvSpPr>
          <p:cNvPr id="30" name="Text 28"/>
          <p:cNvSpPr txBox="1"/>
          <p:nvPr/>
        </p:nvSpPr>
        <p:spPr>
          <a:xfrm>
            <a:off x="7059168" y="2414016"/>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Dispatch, staging and approvals: flag 85%.</a:t>
            </a:r>
            <a:endParaRPr lang="en-US" sz="1400" dirty="0"/>
          </a:p>
        </p:txBody>
      </p:sp>
      <p:sp>
        <p:nvSpPr>
          <p:cNvPr id="31" name="Shape 29"/>
          <p:cNvSpPr/>
          <p:nvPr/>
        </p:nvSpPr>
        <p:spPr>
          <a:xfrm>
            <a:off x="658368" y="2712954"/>
            <a:ext cx="10872216" cy="298938"/>
          </a:xfrm>
          <a:prstGeom prst="rect">
            <a:avLst/>
          </a:prstGeom>
          <a:solidFill>
            <a:srgbClr val="F7F7F7"/>
          </a:solidFill>
          <a:ln/>
        </p:spPr>
      </p:sp>
      <p:sp>
        <p:nvSpPr>
          <p:cNvPr id="32" name="Text 30"/>
          <p:cNvSpPr txBox="1"/>
          <p:nvPr/>
        </p:nvSpPr>
        <p:spPr>
          <a:xfrm>
            <a:off x="658368" y="271295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2</a:t>
            </a:r>
            <a:endParaRPr lang="en-US" sz="1400" dirty="0"/>
          </a:p>
        </p:txBody>
      </p:sp>
      <p:sp>
        <p:nvSpPr>
          <p:cNvPr id="33" name="Text 31"/>
          <p:cNvSpPr txBox="1"/>
          <p:nvPr/>
        </p:nvSpPr>
        <p:spPr>
          <a:xfrm>
            <a:off x="1024128" y="271295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Service gross</a:t>
            </a:r>
            <a:endParaRPr lang="en-US" sz="1400" dirty="0"/>
          </a:p>
        </p:txBody>
      </p:sp>
      <p:sp>
        <p:nvSpPr>
          <p:cNvPr id="34" name="Text 32"/>
          <p:cNvSpPr txBox="1"/>
          <p:nvPr/>
        </p:nvSpPr>
        <p:spPr>
          <a:xfrm>
            <a:off x="2990088" y="271295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$588K</a:t>
            </a:r>
            <a:endParaRPr lang="en-US" sz="1400" dirty="0"/>
          </a:p>
        </p:txBody>
      </p:sp>
      <p:sp>
        <p:nvSpPr>
          <p:cNvPr id="35" name="Text 33"/>
          <p:cNvSpPr txBox="1"/>
          <p:nvPr/>
        </p:nvSpPr>
        <p:spPr>
          <a:xfrm>
            <a:off x="4087368" y="271295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$724K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36" name="Text 34"/>
          <p:cNvSpPr txBox="1"/>
          <p:nvPr/>
        </p:nvSpPr>
        <p:spPr>
          <a:xfrm>
            <a:off x="5989320" y="271295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$180K</a:t>
            </a:r>
            <a:endParaRPr lang="en-US" sz="1400" dirty="0"/>
          </a:p>
        </p:txBody>
      </p:sp>
      <p:sp>
        <p:nvSpPr>
          <p:cNvPr id="37" name="Text 35"/>
          <p:cNvSpPr txBox="1"/>
          <p:nvPr/>
        </p:nvSpPr>
        <p:spPr>
          <a:xfrm>
            <a:off x="7059168" y="271295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Sell the MPI; price menus to market.</a:t>
            </a:r>
            <a:endParaRPr lang="en-US" sz="1400" dirty="0"/>
          </a:p>
        </p:txBody>
      </p:sp>
      <p:sp>
        <p:nvSpPr>
          <p:cNvPr id="38" name="Text 36"/>
          <p:cNvSpPr txBox="1"/>
          <p:nvPr/>
        </p:nvSpPr>
        <p:spPr>
          <a:xfrm>
            <a:off x="658368" y="3011893"/>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3</a:t>
            </a:r>
            <a:endParaRPr lang="en-US" sz="1400" dirty="0"/>
          </a:p>
        </p:txBody>
      </p:sp>
      <p:sp>
        <p:nvSpPr>
          <p:cNvPr id="39" name="Text 37"/>
          <p:cNvSpPr txBox="1"/>
          <p:nvPr/>
        </p:nvSpPr>
        <p:spPr>
          <a:xfrm>
            <a:off x="1024128" y="3011893"/>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RO count</a:t>
            </a:r>
            <a:endParaRPr lang="en-US" sz="1400" dirty="0"/>
          </a:p>
        </p:txBody>
      </p:sp>
      <p:sp>
        <p:nvSpPr>
          <p:cNvPr id="40" name="Text 38"/>
          <p:cNvSpPr txBox="1"/>
          <p:nvPr/>
        </p:nvSpPr>
        <p:spPr>
          <a:xfrm>
            <a:off x="2990088" y="3011893"/>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1,919</a:t>
            </a:r>
            <a:endParaRPr lang="en-US" sz="1400" dirty="0"/>
          </a:p>
        </p:txBody>
      </p:sp>
      <p:sp>
        <p:nvSpPr>
          <p:cNvPr id="41" name="Text 39"/>
          <p:cNvSpPr txBox="1"/>
          <p:nvPr/>
        </p:nvSpPr>
        <p:spPr>
          <a:xfrm>
            <a:off x="4087368" y="3011893"/>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2,251</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42" name="Text 40"/>
          <p:cNvSpPr txBox="1"/>
          <p:nvPr/>
        </p:nvSpPr>
        <p:spPr>
          <a:xfrm>
            <a:off x="5989320" y="3011893"/>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$151K</a:t>
            </a:r>
            <a:endParaRPr lang="en-US" sz="1400" dirty="0"/>
          </a:p>
        </p:txBody>
      </p:sp>
      <p:sp>
        <p:nvSpPr>
          <p:cNvPr id="43" name="Text 41"/>
          <p:cNvSpPr txBox="1"/>
          <p:nvPr/>
        </p:nvSpPr>
        <p:spPr>
          <a:xfrm>
            <a:off x="7059168" y="3011893"/>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Win back lapsed customers: 443 more ROs.</a:t>
            </a:r>
            <a:endParaRPr lang="en-US" sz="1400" dirty="0"/>
          </a:p>
        </p:txBody>
      </p:sp>
      <p:sp>
        <p:nvSpPr>
          <p:cNvPr id="44" name="Shape 42"/>
          <p:cNvSpPr/>
          <p:nvPr/>
        </p:nvSpPr>
        <p:spPr>
          <a:xfrm>
            <a:off x="658368" y="3310831"/>
            <a:ext cx="10872216" cy="298938"/>
          </a:xfrm>
          <a:prstGeom prst="rect">
            <a:avLst/>
          </a:prstGeom>
          <a:solidFill>
            <a:srgbClr val="F7F7F7"/>
          </a:solidFill>
          <a:ln/>
        </p:spPr>
      </p:sp>
      <p:sp>
        <p:nvSpPr>
          <p:cNvPr id="45" name="Text 43"/>
          <p:cNvSpPr txBox="1"/>
          <p:nvPr/>
        </p:nvSpPr>
        <p:spPr>
          <a:xfrm>
            <a:off x="658368" y="331083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4</a:t>
            </a:r>
            <a:endParaRPr lang="en-US" sz="1400" dirty="0"/>
          </a:p>
        </p:txBody>
      </p:sp>
      <p:sp>
        <p:nvSpPr>
          <p:cNvPr id="46" name="Text 44"/>
          <p:cNvSpPr txBox="1"/>
          <p:nvPr/>
        </p:nvSpPr>
        <p:spPr>
          <a:xfrm>
            <a:off x="1024128" y="331083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labor $ per RO</a:t>
            </a:r>
            <a:endParaRPr lang="en-US" sz="1400" dirty="0"/>
          </a:p>
        </p:txBody>
      </p:sp>
      <p:sp>
        <p:nvSpPr>
          <p:cNvPr id="47" name="Text 45"/>
          <p:cNvSpPr txBox="1"/>
          <p:nvPr/>
        </p:nvSpPr>
        <p:spPr>
          <a:xfrm>
            <a:off x="2990088" y="331083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$231</a:t>
            </a:r>
            <a:endParaRPr lang="en-US" sz="1400" dirty="0"/>
          </a:p>
        </p:txBody>
      </p:sp>
      <p:sp>
        <p:nvSpPr>
          <p:cNvPr id="48" name="Text 46"/>
          <p:cNvSpPr txBox="1"/>
          <p:nvPr/>
        </p:nvSpPr>
        <p:spPr>
          <a:xfrm>
            <a:off x="4087368" y="331083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$264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49" name="Text 47"/>
          <p:cNvSpPr txBox="1"/>
          <p:nvPr/>
        </p:nvSpPr>
        <p:spPr>
          <a:xfrm>
            <a:off x="5989320" y="3310831"/>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$68K</a:t>
            </a:r>
            <a:endParaRPr lang="en-US" sz="1400" dirty="0"/>
          </a:p>
        </p:txBody>
      </p:sp>
      <p:sp>
        <p:nvSpPr>
          <p:cNvPr id="50" name="Text 48"/>
          <p:cNvSpPr txBox="1"/>
          <p:nvPr/>
        </p:nvSpPr>
        <p:spPr>
          <a:xfrm>
            <a:off x="7059168" y="331083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Menu and MPI on every RO; track it daily.</a:t>
            </a:r>
            <a:endParaRPr lang="en-US" sz="1400" dirty="0"/>
          </a:p>
        </p:txBody>
      </p:sp>
      <p:sp>
        <p:nvSpPr>
          <p:cNvPr id="51" name="Text 49"/>
          <p:cNvSpPr txBox="1"/>
          <p:nvPr/>
        </p:nvSpPr>
        <p:spPr>
          <a:xfrm>
            <a:off x="658368" y="3609770"/>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5</a:t>
            </a:r>
            <a:endParaRPr lang="en-US" sz="1400" dirty="0"/>
          </a:p>
        </p:txBody>
      </p:sp>
      <p:sp>
        <p:nvSpPr>
          <p:cNvPr id="52" name="Text 50"/>
          <p:cNvSpPr txBox="1"/>
          <p:nvPr/>
        </p:nvSpPr>
        <p:spPr>
          <a:xfrm>
            <a:off x="1024128" y="3609770"/>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Parts gross</a:t>
            </a:r>
            <a:endParaRPr lang="en-US" sz="1400" dirty="0"/>
          </a:p>
        </p:txBody>
      </p:sp>
      <p:sp>
        <p:nvSpPr>
          <p:cNvPr id="53" name="Text 51"/>
          <p:cNvSpPr txBox="1"/>
          <p:nvPr/>
        </p:nvSpPr>
        <p:spPr>
          <a:xfrm>
            <a:off x="2990088" y="3609770"/>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$380K</a:t>
            </a:r>
            <a:endParaRPr lang="en-US" sz="1400" dirty="0"/>
          </a:p>
        </p:txBody>
      </p:sp>
      <p:sp>
        <p:nvSpPr>
          <p:cNvPr id="54" name="Text 52"/>
          <p:cNvSpPr txBox="1"/>
          <p:nvPr/>
        </p:nvSpPr>
        <p:spPr>
          <a:xfrm>
            <a:off x="4087368" y="3609770"/>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$407K</a:t>
            </a:r>
            <a:pPr indent="0" marL="0">
              <a:buNone/>
            </a:pPr>
            <a:r>
              <a:rPr lang="en-US" sz="1400" dirty="0">
                <a:solidFill>
                  <a:srgbClr val="595959"/>
                </a:solidFill>
                <a:latin typeface="Inter" pitchFamily="34" charset="0"/>
                <a:ea typeface="Inter" pitchFamily="34" charset="-122"/>
                <a:cs typeface="Inter" pitchFamily="34" charset="-120"/>
              </a:rPr>
              <a:t> in 2025</a:t>
            </a:r>
            <a:endParaRPr lang="en-US" sz="1400" dirty="0"/>
          </a:p>
        </p:txBody>
      </p:sp>
      <p:sp>
        <p:nvSpPr>
          <p:cNvPr id="55" name="Text 53"/>
          <p:cNvSpPr txBox="1"/>
          <p:nvPr/>
        </p:nvSpPr>
        <p:spPr>
          <a:xfrm>
            <a:off x="5989320" y="3609770"/>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$37K</a:t>
            </a:r>
            <a:endParaRPr lang="en-US" sz="1400" dirty="0"/>
          </a:p>
        </p:txBody>
      </p:sp>
      <p:sp>
        <p:nvSpPr>
          <p:cNvPr id="56" name="Text 54"/>
          <p:cNvSpPr txBox="1"/>
          <p:nvPr/>
        </p:nvSpPr>
        <p:spPr>
          <a:xfrm>
            <a:off x="7059168" y="3609770"/>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Parts on every RO; wholesale that pays.</a:t>
            </a:r>
            <a:endParaRPr lang="en-US" sz="1400" dirty="0"/>
          </a:p>
        </p:txBody>
      </p:sp>
      <p:sp>
        <p:nvSpPr>
          <p:cNvPr id="57" name="Shape 55"/>
          <p:cNvSpPr/>
          <p:nvPr/>
        </p:nvSpPr>
        <p:spPr>
          <a:xfrm>
            <a:off x="658368" y="3908708"/>
            <a:ext cx="10872216" cy="298938"/>
          </a:xfrm>
          <a:prstGeom prst="rect">
            <a:avLst/>
          </a:prstGeom>
          <a:solidFill>
            <a:srgbClr val="F7F7F7"/>
          </a:solidFill>
          <a:ln/>
        </p:spPr>
      </p:sp>
      <p:sp>
        <p:nvSpPr>
          <p:cNvPr id="58" name="Text 56"/>
          <p:cNvSpPr txBox="1"/>
          <p:nvPr/>
        </p:nvSpPr>
        <p:spPr>
          <a:xfrm>
            <a:off x="658368" y="390870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6</a:t>
            </a:r>
            <a:endParaRPr lang="en-US" sz="1400" dirty="0"/>
          </a:p>
        </p:txBody>
      </p:sp>
      <p:sp>
        <p:nvSpPr>
          <p:cNvPr id="59" name="Text 57"/>
          <p:cNvSpPr txBox="1"/>
          <p:nvPr/>
        </p:nvSpPr>
        <p:spPr>
          <a:xfrm>
            <a:off x="1024128" y="390870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Fuel service</a:t>
            </a:r>
            <a:endParaRPr lang="en-US" sz="1400" dirty="0"/>
          </a:p>
        </p:txBody>
      </p:sp>
      <p:sp>
        <p:nvSpPr>
          <p:cNvPr id="60" name="Text 58"/>
          <p:cNvSpPr txBox="1"/>
          <p:nvPr/>
        </p:nvSpPr>
        <p:spPr>
          <a:xfrm>
            <a:off x="2990088" y="390870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2.7%</a:t>
            </a:r>
            <a:endParaRPr lang="en-US" sz="1400" dirty="0"/>
          </a:p>
        </p:txBody>
      </p:sp>
      <p:sp>
        <p:nvSpPr>
          <p:cNvPr id="61" name="Text 59"/>
          <p:cNvSpPr txBox="1"/>
          <p:nvPr/>
        </p:nvSpPr>
        <p:spPr>
          <a:xfrm>
            <a:off x="4087368" y="390870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7.5%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2" name="Text 60"/>
          <p:cNvSpPr txBox="1"/>
          <p:nvPr/>
        </p:nvSpPr>
        <p:spPr>
          <a:xfrm>
            <a:off x="5989320" y="3908708"/>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$29K</a:t>
            </a:r>
            <a:endParaRPr lang="en-US" sz="1400" dirty="0"/>
          </a:p>
        </p:txBody>
      </p:sp>
      <p:sp>
        <p:nvSpPr>
          <p:cNvPr id="63" name="Text 61"/>
          <p:cNvSpPr txBox="1"/>
          <p:nvPr/>
        </p:nvSpPr>
        <p:spPr>
          <a:xfrm>
            <a:off x="7059168" y="390870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123 more a year.</a:t>
            </a:r>
            <a:endParaRPr lang="en-US" sz="1400" dirty="0"/>
          </a:p>
        </p:txBody>
      </p:sp>
      <p:sp>
        <p:nvSpPr>
          <p:cNvPr id="64" name="Text 62"/>
          <p:cNvSpPr txBox="1"/>
          <p:nvPr/>
        </p:nvSpPr>
        <p:spPr>
          <a:xfrm>
            <a:off x="658368" y="4207647"/>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7</a:t>
            </a:r>
            <a:endParaRPr lang="en-US" sz="1400" dirty="0"/>
          </a:p>
        </p:txBody>
      </p:sp>
      <p:sp>
        <p:nvSpPr>
          <p:cNvPr id="65" name="Text 63"/>
          <p:cNvSpPr txBox="1"/>
          <p:nvPr/>
        </p:nvSpPr>
        <p:spPr>
          <a:xfrm>
            <a:off x="1024128" y="4207647"/>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Tire balance</a:t>
            </a:r>
            <a:endParaRPr lang="en-US" sz="1400" dirty="0"/>
          </a:p>
        </p:txBody>
      </p:sp>
      <p:sp>
        <p:nvSpPr>
          <p:cNvPr id="66" name="Text 64"/>
          <p:cNvSpPr txBox="1"/>
          <p:nvPr/>
        </p:nvSpPr>
        <p:spPr>
          <a:xfrm>
            <a:off x="2990088" y="4207647"/>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0.4%</a:t>
            </a:r>
            <a:endParaRPr lang="en-US" sz="1400" dirty="0"/>
          </a:p>
        </p:txBody>
      </p:sp>
      <p:sp>
        <p:nvSpPr>
          <p:cNvPr id="67" name="Text 65"/>
          <p:cNvSpPr txBox="1"/>
          <p:nvPr/>
        </p:nvSpPr>
        <p:spPr>
          <a:xfrm>
            <a:off x="4087368" y="4207647"/>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68" name="Text 66"/>
          <p:cNvSpPr txBox="1"/>
          <p:nvPr/>
        </p:nvSpPr>
        <p:spPr>
          <a:xfrm>
            <a:off x="5989320" y="4207647"/>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$28K</a:t>
            </a:r>
            <a:endParaRPr lang="en-US" sz="1400" dirty="0"/>
          </a:p>
        </p:txBody>
      </p:sp>
      <p:sp>
        <p:nvSpPr>
          <p:cNvPr id="69" name="Text 67"/>
          <p:cNvSpPr txBox="1"/>
          <p:nvPr/>
        </p:nvSpPr>
        <p:spPr>
          <a:xfrm>
            <a:off x="7059168" y="4207647"/>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373 more a year.</a:t>
            </a:r>
            <a:endParaRPr lang="en-US" sz="1400" dirty="0"/>
          </a:p>
        </p:txBody>
      </p:sp>
      <p:sp>
        <p:nvSpPr>
          <p:cNvPr id="70" name="Shape 68"/>
          <p:cNvSpPr/>
          <p:nvPr/>
        </p:nvSpPr>
        <p:spPr>
          <a:xfrm>
            <a:off x="658368" y="4506585"/>
            <a:ext cx="10872216" cy="298938"/>
          </a:xfrm>
          <a:prstGeom prst="rect">
            <a:avLst/>
          </a:prstGeom>
          <a:solidFill>
            <a:srgbClr val="F7F7F7"/>
          </a:solidFill>
          <a:ln/>
        </p:spPr>
      </p:sp>
      <p:sp>
        <p:nvSpPr>
          <p:cNvPr id="71" name="Text 69"/>
          <p:cNvSpPr txBox="1"/>
          <p:nvPr/>
        </p:nvSpPr>
        <p:spPr>
          <a:xfrm>
            <a:off x="658368" y="4506585"/>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8</a:t>
            </a:r>
            <a:endParaRPr lang="en-US" sz="1400" dirty="0"/>
          </a:p>
        </p:txBody>
      </p:sp>
      <p:sp>
        <p:nvSpPr>
          <p:cNvPr id="72" name="Text 70"/>
          <p:cNvSpPr txBox="1"/>
          <p:nvPr/>
        </p:nvSpPr>
        <p:spPr>
          <a:xfrm>
            <a:off x="1024128" y="4506585"/>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CP hours per RO</a:t>
            </a:r>
            <a:endParaRPr lang="en-US" sz="1400" dirty="0"/>
          </a:p>
        </p:txBody>
      </p:sp>
      <p:sp>
        <p:nvSpPr>
          <p:cNvPr id="73" name="Text 71"/>
          <p:cNvSpPr txBox="1"/>
          <p:nvPr/>
        </p:nvSpPr>
        <p:spPr>
          <a:xfrm>
            <a:off x="2990088" y="4506585"/>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1.71</a:t>
            </a:r>
            <a:endParaRPr lang="en-US" sz="1400" dirty="0"/>
          </a:p>
        </p:txBody>
      </p:sp>
      <p:sp>
        <p:nvSpPr>
          <p:cNvPr id="74" name="Text 72"/>
          <p:cNvSpPr txBox="1"/>
          <p:nvPr/>
        </p:nvSpPr>
        <p:spPr>
          <a:xfrm>
            <a:off x="4087368" y="4506585"/>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1.75</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75" name="Text 73"/>
          <p:cNvSpPr txBox="1"/>
          <p:nvPr/>
        </p:nvSpPr>
        <p:spPr>
          <a:xfrm>
            <a:off x="5989320" y="4506585"/>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76" name="Text 74"/>
          <p:cNvSpPr txBox="1"/>
          <p:nvPr/>
        </p:nvSpPr>
        <p:spPr>
          <a:xfrm>
            <a:off x="7059168" y="4506585"/>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Present every MPI finding: +0.04 hr per RO.</a:t>
            </a:r>
            <a:endParaRPr lang="en-US" sz="1400" dirty="0"/>
          </a:p>
        </p:txBody>
      </p:sp>
      <p:sp>
        <p:nvSpPr>
          <p:cNvPr id="77" name="Text 75"/>
          <p:cNvSpPr txBox="1"/>
          <p:nvPr/>
        </p:nvSpPr>
        <p:spPr>
          <a:xfrm>
            <a:off x="658368" y="4805524"/>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9</a:t>
            </a:r>
            <a:endParaRPr lang="en-US" sz="1400" dirty="0"/>
          </a:p>
        </p:txBody>
      </p:sp>
      <p:sp>
        <p:nvSpPr>
          <p:cNvPr id="78" name="Text 76"/>
          <p:cNvSpPr txBox="1"/>
          <p:nvPr/>
        </p:nvSpPr>
        <p:spPr>
          <a:xfrm>
            <a:off x="1024128" y="4805524"/>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Alignment</a:t>
            </a:r>
            <a:endParaRPr lang="en-US" sz="1400" dirty="0"/>
          </a:p>
        </p:txBody>
      </p:sp>
      <p:sp>
        <p:nvSpPr>
          <p:cNvPr id="79" name="Text 77"/>
          <p:cNvSpPr txBox="1"/>
          <p:nvPr/>
        </p:nvSpPr>
        <p:spPr>
          <a:xfrm>
            <a:off x="2990088" y="4805524"/>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5.6%</a:t>
            </a:r>
            <a:endParaRPr lang="en-US" sz="1400" dirty="0"/>
          </a:p>
        </p:txBody>
      </p:sp>
      <p:sp>
        <p:nvSpPr>
          <p:cNvPr id="80" name="Text 78"/>
          <p:cNvSpPr txBox="1"/>
          <p:nvPr/>
        </p:nvSpPr>
        <p:spPr>
          <a:xfrm>
            <a:off x="4087368" y="4805524"/>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15%</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1" name="Text 79"/>
          <p:cNvSpPr txBox="1"/>
          <p:nvPr/>
        </p:nvSpPr>
        <p:spPr>
          <a:xfrm>
            <a:off x="5989320" y="4805524"/>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$18K</a:t>
            </a:r>
            <a:endParaRPr lang="en-US" sz="1400" dirty="0"/>
          </a:p>
        </p:txBody>
      </p:sp>
      <p:sp>
        <p:nvSpPr>
          <p:cNvPr id="82" name="Text 80"/>
          <p:cNvSpPr txBox="1"/>
          <p:nvPr/>
        </p:nvSpPr>
        <p:spPr>
          <a:xfrm>
            <a:off x="7059168" y="4805524"/>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240 more a year.</a:t>
            </a:r>
            <a:endParaRPr lang="en-US" sz="1400" dirty="0"/>
          </a:p>
        </p:txBody>
      </p:sp>
      <p:sp>
        <p:nvSpPr>
          <p:cNvPr id="83" name="Shape 81"/>
          <p:cNvSpPr/>
          <p:nvPr/>
        </p:nvSpPr>
        <p:spPr>
          <a:xfrm>
            <a:off x="658368" y="5104462"/>
            <a:ext cx="10872216" cy="298938"/>
          </a:xfrm>
          <a:prstGeom prst="rect">
            <a:avLst/>
          </a:prstGeom>
          <a:solidFill>
            <a:srgbClr val="F7F7F7"/>
          </a:solidFill>
          <a:ln/>
        </p:spPr>
      </p:sp>
      <p:sp>
        <p:nvSpPr>
          <p:cNvPr id="84" name="Text 82"/>
          <p:cNvSpPr txBox="1"/>
          <p:nvPr/>
        </p:nvSpPr>
        <p:spPr>
          <a:xfrm>
            <a:off x="658368" y="5104462"/>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10</a:t>
            </a:r>
            <a:endParaRPr lang="en-US" sz="1400" dirty="0"/>
          </a:p>
        </p:txBody>
      </p:sp>
      <p:sp>
        <p:nvSpPr>
          <p:cNvPr id="85" name="Text 83"/>
          <p:cNvSpPr txBox="1"/>
          <p:nvPr/>
        </p:nvSpPr>
        <p:spPr>
          <a:xfrm>
            <a:off x="1024128" y="5104462"/>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Brake fluid</a:t>
            </a:r>
            <a:endParaRPr lang="en-US" sz="1400" dirty="0"/>
          </a:p>
        </p:txBody>
      </p:sp>
      <p:sp>
        <p:nvSpPr>
          <p:cNvPr id="86" name="Text 84"/>
          <p:cNvSpPr txBox="1"/>
          <p:nvPr/>
        </p:nvSpPr>
        <p:spPr>
          <a:xfrm>
            <a:off x="2990088" y="5104462"/>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5.4%</a:t>
            </a:r>
            <a:endParaRPr lang="en-US" sz="1400" dirty="0"/>
          </a:p>
        </p:txBody>
      </p:sp>
      <p:sp>
        <p:nvSpPr>
          <p:cNvPr id="87" name="Text 85"/>
          <p:cNvSpPr txBox="1"/>
          <p:nvPr/>
        </p:nvSpPr>
        <p:spPr>
          <a:xfrm>
            <a:off x="4087368" y="5104462"/>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88" name="Text 86"/>
          <p:cNvSpPr txBox="1"/>
          <p:nvPr/>
        </p:nvSpPr>
        <p:spPr>
          <a:xfrm>
            <a:off x="5989320" y="5104462"/>
            <a:ext cx="868680" cy="298938"/>
          </a:xfrm>
          <a:prstGeom prst="rect">
            <a:avLst/>
          </a:prstGeom>
          <a:noFill/>
          <a:ln/>
        </p:spPr>
        <p:txBody>
          <a:bodyPr wrap="square" lIns="0" tIns="0" rIns="0" bIns="0" rtlCol="0" anchor="ctr"/>
          <a:lstStyle/>
          <a:p>
            <a:pPr algn="r" indent="0" marL="0">
              <a:buNone/>
            </a:pPr>
            <a:r>
              <a:rPr lang="en-US" sz="1400" b="1" dirty="0">
                <a:solidFill>
                  <a:srgbClr val="0B2C4A"/>
                </a:solidFill>
                <a:latin typeface="Inter" pitchFamily="34" charset="0"/>
                <a:ea typeface="Inter" pitchFamily="34" charset="-122"/>
                <a:cs typeface="Inter" pitchFamily="34" charset="-120"/>
              </a:rPr>
              <a:t>$13K</a:t>
            </a:r>
            <a:endParaRPr lang="en-US" sz="1400" dirty="0"/>
          </a:p>
        </p:txBody>
      </p:sp>
      <p:sp>
        <p:nvSpPr>
          <p:cNvPr id="89" name="Text 87"/>
          <p:cNvSpPr txBox="1"/>
          <p:nvPr/>
        </p:nvSpPr>
        <p:spPr>
          <a:xfrm>
            <a:off x="7059168" y="5104462"/>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Recommend it on every visit: 117 more a year.</a:t>
            </a:r>
            <a:endParaRPr lang="en-US" sz="1400" dirty="0"/>
          </a:p>
        </p:txBody>
      </p:sp>
      <p:sp>
        <p:nvSpPr>
          <p:cNvPr id="90" name="Shape 88"/>
          <p:cNvSpPr/>
          <p:nvPr/>
        </p:nvSpPr>
        <p:spPr>
          <a:xfrm>
            <a:off x="658368" y="5397914"/>
            <a:ext cx="10872216" cy="10973"/>
          </a:xfrm>
          <a:prstGeom prst="rect">
            <a:avLst/>
          </a:prstGeom>
          <a:solidFill>
            <a:srgbClr val="9AA3AD"/>
          </a:solidFill>
          <a:ln/>
        </p:spPr>
      </p:sp>
      <p:sp>
        <p:nvSpPr>
          <p:cNvPr id="91" name="Text 89"/>
          <p:cNvSpPr txBox="1"/>
          <p:nvPr/>
        </p:nvSpPr>
        <p:spPr>
          <a:xfrm>
            <a:off x="658368" y="5403401"/>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11</a:t>
            </a:r>
            <a:endParaRPr lang="en-US" sz="1400" dirty="0"/>
          </a:p>
        </p:txBody>
      </p:sp>
      <p:sp>
        <p:nvSpPr>
          <p:cNvPr id="92" name="Text 90"/>
          <p:cNvSpPr txBox="1"/>
          <p:nvPr/>
        </p:nvSpPr>
        <p:spPr>
          <a:xfrm>
            <a:off x="1024128" y="5403401"/>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MPI completion</a:t>
            </a:r>
            <a:endParaRPr lang="en-US" sz="1400" dirty="0"/>
          </a:p>
        </p:txBody>
      </p:sp>
      <p:sp>
        <p:nvSpPr>
          <p:cNvPr id="93" name="Text 91"/>
          <p:cNvSpPr txBox="1"/>
          <p:nvPr/>
        </p:nvSpPr>
        <p:spPr>
          <a:xfrm>
            <a:off x="2990088" y="5403401"/>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45.7%</a:t>
            </a:r>
            <a:endParaRPr lang="en-US" sz="1400" dirty="0"/>
          </a:p>
        </p:txBody>
      </p:sp>
      <p:sp>
        <p:nvSpPr>
          <p:cNvPr id="94" name="Text 92"/>
          <p:cNvSpPr txBox="1"/>
          <p:nvPr/>
        </p:nvSpPr>
        <p:spPr>
          <a:xfrm>
            <a:off x="4087368" y="5403401"/>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90%</a:t>
            </a:r>
            <a:pPr indent="0" marL="0">
              <a:buNone/>
            </a:pPr>
            <a:r>
              <a:rPr lang="en-US" sz="1400" dirty="0">
                <a:solidFill>
                  <a:srgbClr val="595959"/>
                </a:solidFill>
                <a:latin typeface="Inter" pitchFamily="34" charset="0"/>
                <a:ea typeface="Inter" pitchFamily="34" charset="-122"/>
                <a:cs typeface="Inter" pitchFamily="34" charset="-120"/>
              </a:rPr>
              <a:t> benchmark</a:t>
            </a:r>
            <a:endParaRPr lang="en-US" sz="1400" dirty="0"/>
          </a:p>
        </p:txBody>
      </p:sp>
      <p:sp>
        <p:nvSpPr>
          <p:cNvPr id="95" name="Text 93"/>
          <p:cNvSpPr txBox="1"/>
          <p:nvPr/>
        </p:nvSpPr>
        <p:spPr>
          <a:xfrm>
            <a:off x="5989320" y="5403401"/>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96" name="Text 94"/>
          <p:cNvSpPr txBox="1"/>
          <p:nvPr/>
        </p:nvSpPr>
        <p:spPr>
          <a:xfrm>
            <a:off x="7059168" y="5403401"/>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MPI every car: 1,733 more a year.</a:t>
            </a:r>
            <a:endParaRPr lang="en-US" sz="1400" dirty="0"/>
          </a:p>
        </p:txBody>
      </p:sp>
      <p:sp>
        <p:nvSpPr>
          <p:cNvPr id="97" name="Shape 95"/>
          <p:cNvSpPr/>
          <p:nvPr/>
        </p:nvSpPr>
        <p:spPr>
          <a:xfrm>
            <a:off x="658368" y="5702339"/>
            <a:ext cx="10872216" cy="298938"/>
          </a:xfrm>
          <a:prstGeom prst="rect">
            <a:avLst/>
          </a:prstGeom>
          <a:solidFill>
            <a:srgbClr val="F7F7F7"/>
          </a:solidFill>
          <a:ln/>
        </p:spPr>
      </p:sp>
      <p:sp>
        <p:nvSpPr>
          <p:cNvPr id="98" name="Text 96"/>
          <p:cNvSpPr txBox="1"/>
          <p:nvPr/>
        </p:nvSpPr>
        <p:spPr>
          <a:xfrm>
            <a:off x="658368" y="5702339"/>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12</a:t>
            </a:r>
            <a:endParaRPr lang="en-US" sz="1400" dirty="0"/>
          </a:p>
        </p:txBody>
      </p:sp>
      <p:sp>
        <p:nvSpPr>
          <p:cNvPr id="99" name="Text 97"/>
          <p:cNvSpPr txBox="1"/>
          <p:nvPr/>
        </p:nvSpPr>
        <p:spPr>
          <a:xfrm>
            <a:off x="1024128" y="5702339"/>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Fixed gross/head</a:t>
            </a:r>
            <a:endParaRPr lang="en-US" sz="1400" dirty="0"/>
          </a:p>
        </p:txBody>
      </p:sp>
      <p:sp>
        <p:nvSpPr>
          <p:cNvPr id="100" name="Text 98"/>
          <p:cNvSpPr txBox="1"/>
          <p:nvPr/>
        </p:nvSpPr>
        <p:spPr>
          <a:xfrm>
            <a:off x="2990088" y="5702339"/>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$9,878</a:t>
            </a:r>
            <a:endParaRPr lang="en-US" sz="1400" dirty="0"/>
          </a:p>
        </p:txBody>
      </p:sp>
      <p:sp>
        <p:nvSpPr>
          <p:cNvPr id="101" name="Text 99"/>
          <p:cNvSpPr txBox="1"/>
          <p:nvPr/>
        </p:nvSpPr>
        <p:spPr>
          <a:xfrm>
            <a:off x="4087368" y="5702339"/>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$12,714</a:t>
            </a:r>
            <a:pPr indent="0" marL="0">
              <a:buNone/>
            </a:pPr>
            <a:r>
              <a:rPr lang="en-US" sz="1400" dirty="0">
                <a:solidFill>
                  <a:srgbClr val="595959"/>
                </a:solidFill>
                <a:latin typeface="Inter" pitchFamily="34" charset="0"/>
                <a:ea typeface="Inter" pitchFamily="34" charset="-122"/>
                <a:cs typeface="Inter" pitchFamily="34" charset="-120"/>
              </a:rPr>
              <a:t> peer avg</a:t>
            </a:r>
            <a:endParaRPr lang="en-US" sz="1400" dirty="0"/>
          </a:p>
        </p:txBody>
      </p:sp>
      <p:sp>
        <p:nvSpPr>
          <p:cNvPr id="102" name="Text 100"/>
          <p:cNvSpPr txBox="1"/>
          <p:nvPr/>
        </p:nvSpPr>
        <p:spPr>
          <a:xfrm>
            <a:off x="5989320" y="5702339"/>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3" name="Text 101"/>
          <p:cNvSpPr txBox="1"/>
          <p:nvPr/>
        </p:nvSpPr>
        <p:spPr>
          <a:xfrm>
            <a:off x="7059168" y="5702339"/>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Staff to gross: 2.4 heads over peer avg.</a:t>
            </a:r>
            <a:endParaRPr lang="en-US" sz="1400" dirty="0"/>
          </a:p>
        </p:txBody>
      </p:sp>
      <p:sp>
        <p:nvSpPr>
          <p:cNvPr id="104" name="Text 102"/>
          <p:cNvSpPr txBox="1"/>
          <p:nvPr/>
        </p:nvSpPr>
        <p:spPr>
          <a:xfrm>
            <a:off x="658368" y="6001278"/>
            <a:ext cx="310896" cy="298938"/>
          </a:xfrm>
          <a:prstGeom prst="rect">
            <a:avLst/>
          </a:prstGeom>
          <a:noFill/>
          <a:ln/>
        </p:spPr>
        <p:txBody>
          <a:bodyPr wrap="square" lIns="0" tIns="0" rIns="0" bIns="0" rtlCol="0" anchor="ctr"/>
          <a:lstStyle/>
          <a:p>
            <a:pPr indent="0" marL="0">
              <a:buNone/>
            </a:pPr>
            <a:r>
              <a:rPr lang="en-US" sz="1400" b="1" dirty="0">
                <a:solidFill>
                  <a:srgbClr val="5B9BD5"/>
                </a:solidFill>
                <a:latin typeface="Inter" pitchFamily="34" charset="0"/>
                <a:ea typeface="Inter" pitchFamily="34" charset="-122"/>
                <a:cs typeface="Inter" pitchFamily="34" charset="-120"/>
              </a:rPr>
              <a:t>13</a:t>
            </a:r>
            <a:endParaRPr lang="en-US" sz="1400" dirty="0"/>
          </a:p>
        </p:txBody>
      </p:sp>
      <p:sp>
        <p:nvSpPr>
          <p:cNvPr id="105" name="Text 103"/>
          <p:cNvSpPr txBox="1"/>
          <p:nvPr/>
        </p:nvSpPr>
        <p:spPr>
          <a:xfrm>
            <a:off x="1024128" y="6001278"/>
            <a:ext cx="187452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Video completion</a:t>
            </a:r>
            <a:endParaRPr lang="en-US" sz="1400" dirty="0"/>
          </a:p>
        </p:txBody>
      </p:sp>
      <p:sp>
        <p:nvSpPr>
          <p:cNvPr id="106" name="Text 104"/>
          <p:cNvSpPr txBox="1"/>
          <p:nvPr/>
        </p:nvSpPr>
        <p:spPr>
          <a:xfrm>
            <a:off x="2990088" y="6001278"/>
            <a:ext cx="1005840" cy="298938"/>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48.5%</a:t>
            </a:r>
            <a:endParaRPr lang="en-US" sz="1400" dirty="0"/>
          </a:p>
        </p:txBody>
      </p:sp>
      <p:sp>
        <p:nvSpPr>
          <p:cNvPr id="107" name="Text 105"/>
          <p:cNvSpPr txBox="1"/>
          <p:nvPr/>
        </p:nvSpPr>
        <p:spPr>
          <a:xfrm>
            <a:off x="4087368" y="6001278"/>
            <a:ext cx="1828800" cy="29893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57.8%</a:t>
            </a:r>
            <a:pPr indent="0" marL="0">
              <a:buNone/>
            </a:pPr>
            <a:r>
              <a:rPr lang="en-US" sz="1400" dirty="0">
                <a:solidFill>
                  <a:srgbClr val="595959"/>
                </a:solidFill>
                <a:latin typeface="Inter" pitchFamily="34" charset="0"/>
                <a:ea typeface="Inter" pitchFamily="34" charset="-122"/>
                <a:cs typeface="Inter" pitchFamily="34" charset="-120"/>
              </a:rPr>
              <a:t> group</a:t>
            </a:r>
            <a:endParaRPr lang="en-US" sz="1400" dirty="0"/>
          </a:p>
        </p:txBody>
      </p:sp>
      <p:sp>
        <p:nvSpPr>
          <p:cNvPr id="108" name="Text 106"/>
          <p:cNvSpPr txBox="1"/>
          <p:nvPr/>
        </p:nvSpPr>
        <p:spPr>
          <a:xfrm>
            <a:off x="5989320" y="6001278"/>
            <a:ext cx="868680" cy="298938"/>
          </a:xfrm>
          <a:prstGeom prst="rect">
            <a:avLst/>
          </a:prstGeom>
          <a:noFill/>
          <a:ln/>
        </p:spPr>
        <p:txBody>
          <a:bodyPr wrap="square" lIns="0" tIns="0" rIns="0" bIns="0" rtlCol="0" anchor="ctr"/>
          <a:lstStyle/>
          <a:p>
            <a:pPr algn="r" indent="0" marL="0">
              <a:buNone/>
            </a:pPr>
            <a:r>
              <a:rPr lang="en-US" sz="1400" dirty="0">
                <a:solidFill>
                  <a:srgbClr val="9AA3AD"/>
                </a:solidFill>
                <a:latin typeface="Inter" pitchFamily="34" charset="0"/>
                <a:ea typeface="Inter" pitchFamily="34" charset="-122"/>
                <a:cs typeface="Inter" pitchFamily="34" charset="-120"/>
              </a:rPr>
              <a:t>—</a:t>
            </a:r>
            <a:endParaRPr lang="en-US" sz="1400" dirty="0"/>
          </a:p>
        </p:txBody>
      </p:sp>
      <p:sp>
        <p:nvSpPr>
          <p:cNvPr id="109" name="Text 107"/>
          <p:cNvSpPr txBox="1"/>
          <p:nvPr/>
        </p:nvSpPr>
        <p:spPr>
          <a:xfrm>
            <a:off x="7059168" y="6001278"/>
            <a:ext cx="4471416" cy="29893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Video on every MPI: 365 more a year.</a:t>
            </a:r>
            <a:endParaRPr lang="en-US" sz="14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ELR % OF DOOR RATE, BARS ONLY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DF4F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5584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997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4807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90625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3038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9848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87195"/>
            <a:ext cx="429768" cy="211226"/>
          </a:xfrm>
          <a:prstGeom prst="rect">
            <a:avLst/>
          </a:prstGeom>
          <a:solidFill>
            <a:srgbClr val="C2352F"/>
          </a:solidFill>
          <a:ln/>
        </p:spPr>
      </p:sp>
      <p:sp>
        <p:nvSpPr>
          <p:cNvPr id="15" name="Text 13"/>
          <p:cNvSpPr txBox="1"/>
          <p:nvPr/>
        </p:nvSpPr>
        <p:spPr>
          <a:xfrm>
            <a:off x="335584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6" name="Text 14"/>
          <p:cNvSpPr txBox="1"/>
          <p:nvPr/>
        </p:nvSpPr>
        <p:spPr>
          <a:xfrm>
            <a:off x="437997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7" name="Text 15"/>
          <p:cNvSpPr txBox="1"/>
          <p:nvPr/>
        </p:nvSpPr>
        <p:spPr>
          <a:xfrm>
            <a:off x="514807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8" name="Text 16"/>
          <p:cNvSpPr txBox="1"/>
          <p:nvPr/>
        </p:nvSpPr>
        <p:spPr>
          <a:xfrm>
            <a:off x="658368"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2871216" y="2171243"/>
            <a:ext cx="382835" cy="211226"/>
          </a:xfrm>
          <a:prstGeom prst="rect">
            <a:avLst/>
          </a:prstGeom>
          <a:solidFill>
            <a:srgbClr val="C2352F"/>
          </a:solidFill>
          <a:ln/>
        </p:spPr>
      </p:sp>
      <p:sp>
        <p:nvSpPr>
          <p:cNvPr id="21" name="Text 19"/>
          <p:cNvSpPr txBox="1"/>
          <p:nvPr/>
        </p:nvSpPr>
        <p:spPr>
          <a:xfrm>
            <a:off x="335584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2" name="Text 20"/>
          <p:cNvSpPr txBox="1"/>
          <p:nvPr/>
        </p:nvSpPr>
        <p:spPr>
          <a:xfrm>
            <a:off x="437997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3" name="Text 21"/>
          <p:cNvSpPr txBox="1"/>
          <p:nvPr/>
        </p:nvSpPr>
        <p:spPr>
          <a:xfrm>
            <a:off x="514807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4" name="Text 22"/>
          <p:cNvSpPr txBox="1"/>
          <p:nvPr/>
        </p:nvSpPr>
        <p:spPr>
          <a:xfrm>
            <a:off x="658368"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6" name="Shape 24"/>
          <p:cNvSpPr/>
          <p:nvPr/>
        </p:nvSpPr>
        <p:spPr>
          <a:xfrm>
            <a:off x="2871216" y="2555291"/>
            <a:ext cx="236238" cy="211226"/>
          </a:xfrm>
          <a:prstGeom prst="rect">
            <a:avLst/>
          </a:prstGeom>
          <a:solidFill>
            <a:srgbClr val="C2352F"/>
          </a:solidFill>
          <a:ln/>
        </p:spPr>
      </p:sp>
      <p:sp>
        <p:nvSpPr>
          <p:cNvPr id="27" name="Text 25"/>
          <p:cNvSpPr txBox="1"/>
          <p:nvPr/>
        </p:nvSpPr>
        <p:spPr>
          <a:xfrm>
            <a:off x="335584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8" name="Text 26"/>
          <p:cNvSpPr txBox="1"/>
          <p:nvPr/>
        </p:nvSpPr>
        <p:spPr>
          <a:xfrm>
            <a:off x="437997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9" name="Text 27"/>
          <p:cNvSpPr txBox="1"/>
          <p:nvPr/>
        </p:nvSpPr>
        <p:spPr>
          <a:xfrm>
            <a:off x="514807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0" name="Text 28"/>
          <p:cNvSpPr txBox="1"/>
          <p:nvPr/>
        </p:nvSpPr>
        <p:spPr>
          <a:xfrm>
            <a:off x="658368"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939339"/>
            <a:ext cx="229928" cy="211226"/>
          </a:xfrm>
          <a:prstGeom prst="rect">
            <a:avLst/>
          </a:prstGeom>
          <a:solidFill>
            <a:srgbClr val="C2352F"/>
          </a:solidFill>
          <a:ln/>
        </p:spPr>
      </p:sp>
      <p:sp>
        <p:nvSpPr>
          <p:cNvPr id="33" name="Text 31"/>
          <p:cNvSpPr txBox="1"/>
          <p:nvPr/>
        </p:nvSpPr>
        <p:spPr>
          <a:xfrm>
            <a:off x="335584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4" name="Text 32"/>
          <p:cNvSpPr txBox="1"/>
          <p:nvPr/>
        </p:nvSpPr>
        <p:spPr>
          <a:xfrm>
            <a:off x="437997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5" name="Text 33"/>
          <p:cNvSpPr txBox="1"/>
          <p:nvPr/>
        </p:nvSpPr>
        <p:spPr>
          <a:xfrm>
            <a:off x="514807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6" name="Text 34"/>
          <p:cNvSpPr txBox="1"/>
          <p:nvPr/>
        </p:nvSpPr>
        <p:spPr>
          <a:xfrm>
            <a:off x="658368"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8" name="Shape 36"/>
          <p:cNvSpPr/>
          <p:nvPr/>
        </p:nvSpPr>
        <p:spPr>
          <a:xfrm>
            <a:off x="2871216" y="3323387"/>
            <a:ext cx="215568" cy="211226"/>
          </a:xfrm>
          <a:prstGeom prst="rect">
            <a:avLst/>
          </a:prstGeom>
          <a:solidFill>
            <a:srgbClr val="C2352F"/>
          </a:solidFill>
          <a:ln/>
        </p:spPr>
      </p:sp>
      <p:sp>
        <p:nvSpPr>
          <p:cNvPr id="39" name="Text 37"/>
          <p:cNvSpPr txBox="1"/>
          <p:nvPr/>
        </p:nvSpPr>
        <p:spPr>
          <a:xfrm>
            <a:off x="335584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40" name="Text 38"/>
          <p:cNvSpPr txBox="1"/>
          <p:nvPr/>
        </p:nvSpPr>
        <p:spPr>
          <a:xfrm>
            <a:off x="437997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41" name="Text 39"/>
          <p:cNvSpPr txBox="1"/>
          <p:nvPr/>
        </p:nvSpPr>
        <p:spPr>
          <a:xfrm>
            <a:off x="514807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2871216" y="3707435"/>
            <a:ext cx="197159" cy="211226"/>
          </a:xfrm>
          <a:prstGeom prst="rect">
            <a:avLst/>
          </a:prstGeom>
          <a:solidFill>
            <a:srgbClr val="C2352F"/>
          </a:solidFill>
          <a:ln/>
        </p:spPr>
      </p:sp>
      <p:sp>
        <p:nvSpPr>
          <p:cNvPr id="45" name="Text 43"/>
          <p:cNvSpPr txBox="1"/>
          <p:nvPr/>
        </p:nvSpPr>
        <p:spPr>
          <a:xfrm>
            <a:off x="335584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6" name="Text 44"/>
          <p:cNvSpPr txBox="1"/>
          <p:nvPr/>
        </p:nvSpPr>
        <p:spPr>
          <a:xfrm>
            <a:off x="437997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7" name="Text 45"/>
          <p:cNvSpPr txBox="1"/>
          <p:nvPr/>
        </p:nvSpPr>
        <p:spPr>
          <a:xfrm>
            <a:off x="514807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8" name="Text 46"/>
          <p:cNvSpPr txBox="1"/>
          <p:nvPr/>
        </p:nvSpPr>
        <p:spPr>
          <a:xfrm>
            <a:off x="658368"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0" name="Shape 48"/>
          <p:cNvSpPr/>
          <p:nvPr/>
        </p:nvSpPr>
        <p:spPr>
          <a:xfrm>
            <a:off x="2871216" y="4091483"/>
            <a:ext cx="185442" cy="211226"/>
          </a:xfrm>
          <a:prstGeom prst="rect">
            <a:avLst/>
          </a:prstGeom>
          <a:solidFill>
            <a:srgbClr val="C2352F"/>
          </a:solidFill>
          <a:ln/>
        </p:spPr>
      </p:sp>
      <p:sp>
        <p:nvSpPr>
          <p:cNvPr id="51" name="Text 49"/>
          <p:cNvSpPr txBox="1"/>
          <p:nvPr/>
        </p:nvSpPr>
        <p:spPr>
          <a:xfrm>
            <a:off x="335584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52" name="Text 50"/>
          <p:cNvSpPr txBox="1"/>
          <p:nvPr/>
        </p:nvSpPr>
        <p:spPr>
          <a:xfrm>
            <a:off x="437997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53" name="Text 51"/>
          <p:cNvSpPr txBox="1"/>
          <p:nvPr/>
        </p:nvSpPr>
        <p:spPr>
          <a:xfrm>
            <a:off x="514807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4" name="Text 52"/>
          <p:cNvSpPr txBox="1"/>
          <p:nvPr/>
        </p:nvSpPr>
        <p:spPr>
          <a:xfrm>
            <a:off x="658368"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6" name="Shape 54"/>
          <p:cNvSpPr/>
          <p:nvPr/>
        </p:nvSpPr>
        <p:spPr>
          <a:xfrm>
            <a:off x="2871216" y="4475531"/>
            <a:ext cx="179286" cy="211226"/>
          </a:xfrm>
          <a:prstGeom prst="rect">
            <a:avLst/>
          </a:prstGeom>
          <a:solidFill>
            <a:srgbClr val="C2352F"/>
          </a:solidFill>
          <a:ln/>
        </p:spPr>
      </p:sp>
      <p:sp>
        <p:nvSpPr>
          <p:cNvPr id="57" name="Text 55"/>
          <p:cNvSpPr txBox="1"/>
          <p:nvPr/>
        </p:nvSpPr>
        <p:spPr>
          <a:xfrm>
            <a:off x="335584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8" name="Text 56"/>
          <p:cNvSpPr txBox="1"/>
          <p:nvPr/>
        </p:nvSpPr>
        <p:spPr>
          <a:xfrm>
            <a:off x="437997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9" name="Text 57"/>
          <p:cNvSpPr txBox="1"/>
          <p:nvPr/>
        </p:nvSpPr>
        <p:spPr>
          <a:xfrm>
            <a:off x="514807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0" name="Text 58"/>
          <p:cNvSpPr txBox="1"/>
          <p:nvPr/>
        </p:nvSpPr>
        <p:spPr>
          <a:xfrm>
            <a:off x="658368"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2871216" y="4859579"/>
            <a:ext cx="179186" cy="211226"/>
          </a:xfrm>
          <a:prstGeom prst="rect">
            <a:avLst/>
          </a:prstGeom>
          <a:solidFill>
            <a:srgbClr val="C2352F"/>
          </a:solidFill>
          <a:ln/>
        </p:spPr>
      </p:sp>
      <p:sp>
        <p:nvSpPr>
          <p:cNvPr id="63" name="Text 61"/>
          <p:cNvSpPr txBox="1"/>
          <p:nvPr/>
        </p:nvSpPr>
        <p:spPr>
          <a:xfrm>
            <a:off x="335584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64" name="Text 62"/>
          <p:cNvSpPr txBox="1"/>
          <p:nvPr/>
        </p:nvSpPr>
        <p:spPr>
          <a:xfrm>
            <a:off x="437997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5" name="Text 63"/>
          <p:cNvSpPr txBox="1"/>
          <p:nvPr/>
        </p:nvSpPr>
        <p:spPr>
          <a:xfrm>
            <a:off x="514807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6" name="Text 64"/>
          <p:cNvSpPr txBox="1"/>
          <p:nvPr/>
        </p:nvSpPr>
        <p:spPr>
          <a:xfrm>
            <a:off x="658368"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8" name="Shape 66"/>
          <p:cNvSpPr/>
          <p:nvPr/>
        </p:nvSpPr>
        <p:spPr>
          <a:xfrm>
            <a:off x="2871216" y="5243627"/>
            <a:ext cx="145201" cy="211226"/>
          </a:xfrm>
          <a:prstGeom prst="rect">
            <a:avLst/>
          </a:prstGeom>
          <a:solidFill>
            <a:srgbClr val="C2352F"/>
          </a:solidFill>
          <a:ln/>
        </p:spPr>
      </p:sp>
      <p:sp>
        <p:nvSpPr>
          <p:cNvPr id="69" name="Text 67"/>
          <p:cNvSpPr txBox="1"/>
          <p:nvPr/>
        </p:nvSpPr>
        <p:spPr>
          <a:xfrm>
            <a:off x="335584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70" name="Text 68"/>
          <p:cNvSpPr txBox="1"/>
          <p:nvPr/>
        </p:nvSpPr>
        <p:spPr>
          <a:xfrm>
            <a:off x="437997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71" name="Text 69"/>
          <p:cNvSpPr txBox="1"/>
          <p:nvPr/>
        </p:nvSpPr>
        <p:spPr>
          <a:xfrm>
            <a:off x="514807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72" name="Text 70"/>
          <p:cNvSpPr txBox="1"/>
          <p:nvPr/>
        </p:nvSpPr>
        <p:spPr>
          <a:xfrm>
            <a:off x="658368" y="554126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554126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4" name="Shape 72"/>
          <p:cNvSpPr/>
          <p:nvPr/>
        </p:nvSpPr>
        <p:spPr>
          <a:xfrm>
            <a:off x="2871216" y="5627675"/>
            <a:ext cx="144678" cy="211226"/>
          </a:xfrm>
          <a:prstGeom prst="rect">
            <a:avLst/>
          </a:prstGeom>
          <a:solidFill>
            <a:srgbClr val="C2352F"/>
          </a:solidFill>
          <a:ln/>
        </p:spPr>
      </p:sp>
      <p:sp>
        <p:nvSpPr>
          <p:cNvPr id="75" name="Text 73"/>
          <p:cNvSpPr txBox="1"/>
          <p:nvPr/>
        </p:nvSpPr>
        <p:spPr>
          <a:xfrm>
            <a:off x="335584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76" name="Text 74"/>
          <p:cNvSpPr txBox="1"/>
          <p:nvPr/>
        </p:nvSpPr>
        <p:spPr>
          <a:xfrm>
            <a:off x="437997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77" name="Text 75"/>
          <p:cNvSpPr txBox="1"/>
          <p:nvPr/>
        </p:nvSpPr>
        <p:spPr>
          <a:xfrm>
            <a:off x="514807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8" name="Text 76"/>
          <p:cNvSpPr txBox="1"/>
          <p:nvPr/>
        </p:nvSpPr>
        <p:spPr>
          <a:xfrm>
            <a:off x="6208776"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8421624" y="1787195"/>
            <a:ext cx="70607" cy="211226"/>
          </a:xfrm>
          <a:prstGeom prst="rect">
            <a:avLst/>
          </a:prstGeom>
          <a:solidFill>
            <a:srgbClr val="C2352F"/>
          </a:solidFill>
          <a:ln/>
        </p:spPr>
      </p:sp>
      <p:sp>
        <p:nvSpPr>
          <p:cNvPr id="81" name="Text 79"/>
          <p:cNvSpPr txBox="1"/>
          <p:nvPr/>
        </p:nvSpPr>
        <p:spPr>
          <a:xfrm>
            <a:off x="890625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82" name="Text 80"/>
          <p:cNvSpPr txBox="1"/>
          <p:nvPr/>
        </p:nvSpPr>
        <p:spPr>
          <a:xfrm>
            <a:off x="993038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83" name="Text 81"/>
          <p:cNvSpPr txBox="1"/>
          <p:nvPr/>
        </p:nvSpPr>
        <p:spPr>
          <a:xfrm>
            <a:off x="1069848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4" name="Text 82"/>
          <p:cNvSpPr txBox="1"/>
          <p:nvPr/>
        </p:nvSpPr>
        <p:spPr>
          <a:xfrm>
            <a:off x="6208776"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6" name="Shape 84"/>
          <p:cNvSpPr/>
          <p:nvPr/>
        </p:nvSpPr>
        <p:spPr>
          <a:xfrm>
            <a:off x="8421624" y="2171243"/>
            <a:ext cx="65929" cy="211226"/>
          </a:xfrm>
          <a:prstGeom prst="rect">
            <a:avLst/>
          </a:prstGeom>
          <a:solidFill>
            <a:srgbClr val="C2352F"/>
          </a:solidFill>
          <a:ln/>
        </p:spPr>
      </p:sp>
      <p:sp>
        <p:nvSpPr>
          <p:cNvPr id="87" name="Text 85"/>
          <p:cNvSpPr txBox="1"/>
          <p:nvPr/>
        </p:nvSpPr>
        <p:spPr>
          <a:xfrm>
            <a:off x="890625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88" name="Text 86"/>
          <p:cNvSpPr txBox="1"/>
          <p:nvPr/>
        </p:nvSpPr>
        <p:spPr>
          <a:xfrm>
            <a:off x="993038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89" name="Text 87"/>
          <p:cNvSpPr txBox="1"/>
          <p:nvPr/>
        </p:nvSpPr>
        <p:spPr>
          <a:xfrm>
            <a:off x="1069848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0" name="Text 88"/>
          <p:cNvSpPr txBox="1"/>
          <p:nvPr/>
        </p:nvSpPr>
        <p:spPr>
          <a:xfrm>
            <a:off x="6208776"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2" name="Shape 90"/>
          <p:cNvSpPr/>
          <p:nvPr/>
        </p:nvSpPr>
        <p:spPr>
          <a:xfrm>
            <a:off x="8421624" y="2555291"/>
            <a:ext cx="64833" cy="211226"/>
          </a:xfrm>
          <a:prstGeom prst="rect">
            <a:avLst/>
          </a:prstGeom>
          <a:solidFill>
            <a:srgbClr val="C2352F"/>
          </a:solidFill>
          <a:ln/>
        </p:spPr>
      </p:sp>
      <p:sp>
        <p:nvSpPr>
          <p:cNvPr id="93" name="Text 91"/>
          <p:cNvSpPr txBox="1"/>
          <p:nvPr/>
        </p:nvSpPr>
        <p:spPr>
          <a:xfrm>
            <a:off x="890625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94" name="Text 92"/>
          <p:cNvSpPr txBox="1"/>
          <p:nvPr/>
        </p:nvSpPr>
        <p:spPr>
          <a:xfrm>
            <a:off x="993038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95" name="Text 93"/>
          <p:cNvSpPr txBox="1"/>
          <p:nvPr/>
        </p:nvSpPr>
        <p:spPr>
          <a:xfrm>
            <a:off x="1069848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6" name="Text 94"/>
          <p:cNvSpPr txBox="1"/>
          <p:nvPr/>
        </p:nvSpPr>
        <p:spPr>
          <a:xfrm>
            <a:off x="6208776"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8" name="Shape 96"/>
          <p:cNvSpPr/>
          <p:nvPr/>
        </p:nvSpPr>
        <p:spPr>
          <a:xfrm>
            <a:off x="8421624" y="2939339"/>
            <a:ext cx="59917" cy="211226"/>
          </a:xfrm>
          <a:prstGeom prst="rect">
            <a:avLst/>
          </a:prstGeom>
          <a:solidFill>
            <a:srgbClr val="C2352F"/>
          </a:solidFill>
          <a:ln/>
        </p:spPr>
      </p:sp>
      <p:sp>
        <p:nvSpPr>
          <p:cNvPr id="99" name="Text 97"/>
          <p:cNvSpPr txBox="1"/>
          <p:nvPr/>
        </p:nvSpPr>
        <p:spPr>
          <a:xfrm>
            <a:off x="890625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100" name="Text 98"/>
          <p:cNvSpPr txBox="1"/>
          <p:nvPr/>
        </p:nvSpPr>
        <p:spPr>
          <a:xfrm>
            <a:off x="993038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01" name="Text 99"/>
          <p:cNvSpPr txBox="1"/>
          <p:nvPr/>
        </p:nvSpPr>
        <p:spPr>
          <a:xfrm>
            <a:off x="1069848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02" name="Text 100"/>
          <p:cNvSpPr txBox="1"/>
          <p:nvPr/>
        </p:nvSpPr>
        <p:spPr>
          <a:xfrm>
            <a:off x="6208776"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4" name="Shape 102"/>
          <p:cNvSpPr/>
          <p:nvPr/>
        </p:nvSpPr>
        <p:spPr>
          <a:xfrm>
            <a:off x="8421624" y="3323387"/>
            <a:ext cx="54171" cy="211226"/>
          </a:xfrm>
          <a:prstGeom prst="rect">
            <a:avLst/>
          </a:prstGeom>
          <a:solidFill>
            <a:srgbClr val="C2352F"/>
          </a:solidFill>
          <a:ln/>
        </p:spPr>
      </p:sp>
      <p:sp>
        <p:nvSpPr>
          <p:cNvPr id="105" name="Text 103"/>
          <p:cNvSpPr txBox="1"/>
          <p:nvPr/>
        </p:nvSpPr>
        <p:spPr>
          <a:xfrm>
            <a:off x="890625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106" name="Text 104"/>
          <p:cNvSpPr txBox="1"/>
          <p:nvPr/>
        </p:nvSpPr>
        <p:spPr>
          <a:xfrm>
            <a:off x="993038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07" name="Text 105"/>
          <p:cNvSpPr txBox="1"/>
          <p:nvPr/>
        </p:nvSpPr>
        <p:spPr>
          <a:xfrm>
            <a:off x="1069848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8" name="Text 106"/>
          <p:cNvSpPr txBox="1"/>
          <p:nvPr/>
        </p:nvSpPr>
        <p:spPr>
          <a:xfrm>
            <a:off x="6208776"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0" name="Shape 108"/>
          <p:cNvSpPr/>
          <p:nvPr/>
        </p:nvSpPr>
        <p:spPr>
          <a:xfrm>
            <a:off x="8421624" y="3707435"/>
            <a:ext cx="33354" cy="211226"/>
          </a:xfrm>
          <a:prstGeom prst="rect">
            <a:avLst/>
          </a:prstGeom>
          <a:solidFill>
            <a:srgbClr val="C2352F"/>
          </a:solidFill>
          <a:ln/>
        </p:spPr>
      </p:sp>
      <p:sp>
        <p:nvSpPr>
          <p:cNvPr id="111" name="Text 109"/>
          <p:cNvSpPr txBox="1"/>
          <p:nvPr/>
        </p:nvSpPr>
        <p:spPr>
          <a:xfrm>
            <a:off x="890625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112" name="Text 110"/>
          <p:cNvSpPr txBox="1"/>
          <p:nvPr/>
        </p:nvSpPr>
        <p:spPr>
          <a:xfrm>
            <a:off x="993038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13" name="Text 111"/>
          <p:cNvSpPr txBox="1"/>
          <p:nvPr/>
        </p:nvSpPr>
        <p:spPr>
          <a:xfrm>
            <a:off x="1069848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4" name="Text 112"/>
          <p:cNvSpPr txBox="1"/>
          <p:nvPr/>
        </p:nvSpPr>
        <p:spPr>
          <a:xfrm>
            <a:off x="6208776"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6" name="Shape 114"/>
          <p:cNvSpPr/>
          <p:nvPr/>
        </p:nvSpPr>
        <p:spPr>
          <a:xfrm>
            <a:off x="8421624" y="4091483"/>
            <a:ext cx="27497" cy="211226"/>
          </a:xfrm>
          <a:prstGeom prst="rect">
            <a:avLst/>
          </a:prstGeom>
          <a:solidFill>
            <a:srgbClr val="C2352F"/>
          </a:solidFill>
          <a:ln/>
        </p:spPr>
      </p:sp>
      <p:sp>
        <p:nvSpPr>
          <p:cNvPr id="117" name="Text 115"/>
          <p:cNvSpPr txBox="1"/>
          <p:nvPr/>
        </p:nvSpPr>
        <p:spPr>
          <a:xfrm>
            <a:off x="890625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18" name="Text 116"/>
          <p:cNvSpPr txBox="1"/>
          <p:nvPr/>
        </p:nvSpPr>
        <p:spPr>
          <a:xfrm>
            <a:off x="993038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19" name="Text 117"/>
          <p:cNvSpPr txBox="1"/>
          <p:nvPr/>
        </p:nvSpPr>
        <p:spPr>
          <a:xfrm>
            <a:off x="1069848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0" name="Text 118"/>
          <p:cNvSpPr txBox="1"/>
          <p:nvPr/>
        </p:nvSpPr>
        <p:spPr>
          <a:xfrm>
            <a:off x="6208776"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421624" y="4475531"/>
            <a:ext cx="19120" cy="211226"/>
          </a:xfrm>
          <a:prstGeom prst="rect">
            <a:avLst/>
          </a:prstGeom>
          <a:solidFill>
            <a:srgbClr val="C2352F"/>
          </a:solidFill>
          <a:ln/>
        </p:spPr>
      </p:sp>
      <p:sp>
        <p:nvSpPr>
          <p:cNvPr id="123" name="Text 121"/>
          <p:cNvSpPr txBox="1"/>
          <p:nvPr/>
        </p:nvSpPr>
        <p:spPr>
          <a:xfrm>
            <a:off x="890625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24" name="Text 122"/>
          <p:cNvSpPr txBox="1"/>
          <p:nvPr/>
        </p:nvSpPr>
        <p:spPr>
          <a:xfrm>
            <a:off x="993038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25" name="Text 123"/>
          <p:cNvSpPr txBox="1"/>
          <p:nvPr/>
        </p:nvSpPr>
        <p:spPr>
          <a:xfrm>
            <a:off x="1069848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6" name="Text 124"/>
          <p:cNvSpPr txBox="1"/>
          <p:nvPr/>
        </p:nvSpPr>
        <p:spPr>
          <a:xfrm>
            <a:off x="6208776"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421624" y="4859579"/>
            <a:ext cx="18288" cy="211226"/>
          </a:xfrm>
          <a:prstGeom prst="rect">
            <a:avLst/>
          </a:prstGeom>
          <a:solidFill>
            <a:srgbClr val="C2352F"/>
          </a:solidFill>
          <a:ln/>
        </p:spPr>
      </p:sp>
      <p:sp>
        <p:nvSpPr>
          <p:cNvPr id="129" name="Text 127"/>
          <p:cNvSpPr txBox="1"/>
          <p:nvPr/>
        </p:nvSpPr>
        <p:spPr>
          <a:xfrm>
            <a:off x="890625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30" name="Text 128"/>
          <p:cNvSpPr txBox="1"/>
          <p:nvPr/>
        </p:nvSpPr>
        <p:spPr>
          <a:xfrm>
            <a:off x="993038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31" name="Text 129"/>
          <p:cNvSpPr txBox="1"/>
          <p:nvPr/>
        </p:nvSpPr>
        <p:spPr>
          <a:xfrm>
            <a:off x="1069848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32" name="Text 130"/>
          <p:cNvSpPr txBox="1"/>
          <p:nvPr/>
        </p:nvSpPr>
        <p:spPr>
          <a:xfrm>
            <a:off x="6208776"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4" name="Shape 132"/>
          <p:cNvSpPr/>
          <p:nvPr/>
        </p:nvSpPr>
        <p:spPr>
          <a:xfrm>
            <a:off x="8421624" y="5243627"/>
            <a:ext cx="18288" cy="211226"/>
          </a:xfrm>
          <a:prstGeom prst="rect">
            <a:avLst/>
          </a:prstGeom>
          <a:solidFill>
            <a:srgbClr val="C2352F"/>
          </a:solidFill>
          <a:ln/>
        </p:spPr>
      </p:sp>
      <p:sp>
        <p:nvSpPr>
          <p:cNvPr id="135" name="Text 133"/>
          <p:cNvSpPr txBox="1"/>
          <p:nvPr/>
        </p:nvSpPr>
        <p:spPr>
          <a:xfrm>
            <a:off x="890625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36" name="Text 134"/>
          <p:cNvSpPr txBox="1"/>
          <p:nvPr/>
        </p:nvSpPr>
        <p:spPr>
          <a:xfrm>
            <a:off x="993038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37" name="Text 135"/>
          <p:cNvSpPr txBox="1"/>
          <p:nvPr/>
        </p:nvSpPr>
        <p:spPr>
          <a:xfrm>
            <a:off x="1069848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38" name="Shape 136"/>
          <p:cNvSpPr/>
          <p:nvPr/>
        </p:nvSpPr>
        <p:spPr>
          <a:xfrm>
            <a:off x="6085332" y="1700784"/>
            <a:ext cx="10973" cy="4224528"/>
          </a:xfrm>
          <a:prstGeom prst="rect">
            <a:avLst/>
          </a:prstGeom>
          <a:solidFill>
            <a:srgbClr val="D9D9D9"/>
          </a:solidFill>
          <a:ln/>
        </p:spPr>
      </p:sp>
      <p:sp>
        <p:nvSpPr>
          <p:cNvPr id="139" name="Shape 137"/>
          <p:cNvSpPr/>
          <p:nvPr/>
        </p:nvSpPr>
        <p:spPr>
          <a:xfrm>
            <a:off x="457200" y="6126480"/>
            <a:ext cx="11274552" cy="615696"/>
          </a:xfrm>
          <a:prstGeom prst="rect">
            <a:avLst/>
          </a:prstGeom>
          <a:solidFill>
            <a:srgbClr val="FBEBEA"/>
          </a:solidFill>
          <a:ln/>
        </p:spPr>
      </p:sp>
      <p:sp>
        <p:nvSpPr>
          <p:cNvPr id="140" name="Text 13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021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16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525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669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76072" cy="136676"/>
          </a:xfrm>
          <a:prstGeom prst="rect">
            <a:avLst/>
          </a:prstGeom>
          <a:solidFill>
            <a:srgbClr val="2587C5"/>
          </a:solidFill>
          <a:ln/>
        </p:spPr>
      </p:sp>
      <p:sp>
        <p:nvSpPr>
          <p:cNvPr id="15" name="Text 13"/>
          <p:cNvSpPr txBox="1"/>
          <p:nvPr/>
        </p:nvSpPr>
        <p:spPr>
          <a:xfrm>
            <a:off x="350215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6" name="Text 14"/>
          <p:cNvSpPr txBox="1"/>
          <p:nvPr/>
        </p:nvSpPr>
        <p:spPr>
          <a:xfrm>
            <a:off x="441655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1856" cy="136676"/>
          </a:xfrm>
          <a:prstGeom prst="rect">
            <a:avLst/>
          </a:prstGeom>
          <a:solidFill>
            <a:srgbClr val="2587C5"/>
          </a:solidFill>
          <a:ln/>
        </p:spPr>
      </p:sp>
      <p:sp>
        <p:nvSpPr>
          <p:cNvPr id="21" name="Text 19"/>
          <p:cNvSpPr txBox="1"/>
          <p:nvPr/>
        </p:nvSpPr>
        <p:spPr>
          <a:xfrm>
            <a:off x="350215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2" name="Text 20"/>
          <p:cNvSpPr txBox="1"/>
          <p:nvPr/>
        </p:nvSpPr>
        <p:spPr>
          <a:xfrm>
            <a:off x="441655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6" name="Shape 24"/>
          <p:cNvSpPr/>
          <p:nvPr/>
        </p:nvSpPr>
        <p:spPr>
          <a:xfrm>
            <a:off x="2871216" y="2253700"/>
            <a:ext cx="367749" cy="136676"/>
          </a:xfrm>
          <a:prstGeom prst="rect">
            <a:avLst/>
          </a:prstGeom>
          <a:solidFill>
            <a:srgbClr val="2587C5"/>
          </a:solidFill>
          <a:ln/>
        </p:spPr>
      </p:sp>
      <p:sp>
        <p:nvSpPr>
          <p:cNvPr id="27" name="Text 25"/>
          <p:cNvSpPr txBox="1"/>
          <p:nvPr/>
        </p:nvSpPr>
        <p:spPr>
          <a:xfrm>
            <a:off x="350215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8" name="Text 26"/>
          <p:cNvSpPr txBox="1"/>
          <p:nvPr/>
        </p:nvSpPr>
        <p:spPr>
          <a:xfrm>
            <a:off x="441655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14644" cy="136676"/>
          </a:xfrm>
          <a:prstGeom prst="rect">
            <a:avLst/>
          </a:prstGeom>
          <a:solidFill>
            <a:srgbClr val="2587C5"/>
          </a:solidFill>
          <a:ln/>
        </p:spPr>
      </p:sp>
      <p:sp>
        <p:nvSpPr>
          <p:cNvPr id="33" name="Text 31"/>
          <p:cNvSpPr txBox="1"/>
          <p:nvPr/>
        </p:nvSpPr>
        <p:spPr>
          <a:xfrm>
            <a:off x="350215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4" name="Text 32"/>
          <p:cNvSpPr txBox="1"/>
          <p:nvPr/>
        </p:nvSpPr>
        <p:spPr>
          <a:xfrm>
            <a:off x="441655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8" name="Shape 36"/>
          <p:cNvSpPr/>
          <p:nvPr/>
        </p:nvSpPr>
        <p:spPr>
          <a:xfrm>
            <a:off x="2871216" y="2750703"/>
            <a:ext cx="257024" cy="136676"/>
          </a:xfrm>
          <a:prstGeom prst="rect">
            <a:avLst/>
          </a:prstGeom>
          <a:solidFill>
            <a:srgbClr val="2587C5"/>
          </a:solidFill>
          <a:ln/>
        </p:spPr>
      </p:sp>
      <p:sp>
        <p:nvSpPr>
          <p:cNvPr id="39" name="Text 37"/>
          <p:cNvSpPr txBox="1"/>
          <p:nvPr/>
        </p:nvSpPr>
        <p:spPr>
          <a:xfrm>
            <a:off x="350215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40" name="Text 38"/>
          <p:cNvSpPr txBox="1"/>
          <p:nvPr/>
        </p:nvSpPr>
        <p:spPr>
          <a:xfrm>
            <a:off x="441655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2871216" y="2999205"/>
            <a:ext cx="244698" cy="136676"/>
          </a:xfrm>
          <a:prstGeom prst="rect">
            <a:avLst/>
          </a:prstGeom>
          <a:solidFill>
            <a:srgbClr val="2587C5"/>
          </a:solidFill>
          <a:ln/>
        </p:spPr>
      </p:sp>
      <p:sp>
        <p:nvSpPr>
          <p:cNvPr id="45" name="Text 43"/>
          <p:cNvSpPr txBox="1"/>
          <p:nvPr/>
        </p:nvSpPr>
        <p:spPr>
          <a:xfrm>
            <a:off x="350215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6" name="Text 44"/>
          <p:cNvSpPr txBox="1"/>
          <p:nvPr/>
        </p:nvSpPr>
        <p:spPr>
          <a:xfrm>
            <a:off x="441655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0" name="Shape 48"/>
          <p:cNvSpPr/>
          <p:nvPr/>
        </p:nvSpPr>
        <p:spPr>
          <a:xfrm>
            <a:off x="2871216" y="3247707"/>
            <a:ext cx="219695" cy="136676"/>
          </a:xfrm>
          <a:prstGeom prst="rect">
            <a:avLst/>
          </a:prstGeom>
          <a:solidFill>
            <a:srgbClr val="2587C5"/>
          </a:solidFill>
          <a:ln/>
        </p:spPr>
      </p:sp>
      <p:sp>
        <p:nvSpPr>
          <p:cNvPr id="51" name="Text 49"/>
          <p:cNvSpPr txBox="1"/>
          <p:nvPr/>
        </p:nvSpPr>
        <p:spPr>
          <a:xfrm>
            <a:off x="350215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52" name="Text 50"/>
          <p:cNvSpPr txBox="1"/>
          <p:nvPr/>
        </p:nvSpPr>
        <p:spPr>
          <a:xfrm>
            <a:off x="441655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6" name="Shape 54"/>
          <p:cNvSpPr/>
          <p:nvPr/>
        </p:nvSpPr>
        <p:spPr>
          <a:xfrm>
            <a:off x="2871216" y="3496208"/>
            <a:ext cx="168437" cy="136676"/>
          </a:xfrm>
          <a:prstGeom prst="rect">
            <a:avLst/>
          </a:prstGeom>
          <a:solidFill>
            <a:srgbClr val="2587C5"/>
          </a:solidFill>
          <a:ln/>
        </p:spPr>
      </p:sp>
      <p:sp>
        <p:nvSpPr>
          <p:cNvPr id="57" name="Text 55"/>
          <p:cNvSpPr txBox="1"/>
          <p:nvPr/>
        </p:nvSpPr>
        <p:spPr>
          <a:xfrm>
            <a:off x="350215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8" name="Text 56"/>
          <p:cNvSpPr txBox="1"/>
          <p:nvPr/>
        </p:nvSpPr>
        <p:spPr>
          <a:xfrm>
            <a:off x="441655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2" name="Shape 60"/>
          <p:cNvSpPr/>
          <p:nvPr/>
        </p:nvSpPr>
        <p:spPr>
          <a:xfrm>
            <a:off x="2871216" y="3744710"/>
            <a:ext cx="156885" cy="136676"/>
          </a:xfrm>
          <a:prstGeom prst="rect">
            <a:avLst/>
          </a:prstGeom>
          <a:solidFill>
            <a:srgbClr val="2587C5"/>
          </a:solidFill>
          <a:ln/>
        </p:spPr>
      </p:sp>
      <p:sp>
        <p:nvSpPr>
          <p:cNvPr id="63" name="Text 61"/>
          <p:cNvSpPr txBox="1"/>
          <p:nvPr/>
        </p:nvSpPr>
        <p:spPr>
          <a:xfrm>
            <a:off x="350215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64" name="Text 62"/>
          <p:cNvSpPr txBox="1"/>
          <p:nvPr/>
        </p:nvSpPr>
        <p:spPr>
          <a:xfrm>
            <a:off x="441655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8" name="Shape 66"/>
          <p:cNvSpPr/>
          <p:nvPr/>
        </p:nvSpPr>
        <p:spPr>
          <a:xfrm>
            <a:off x="2871216" y="3993212"/>
            <a:ext cx="151234" cy="136676"/>
          </a:xfrm>
          <a:prstGeom prst="rect">
            <a:avLst/>
          </a:prstGeom>
          <a:solidFill>
            <a:srgbClr val="2587C5"/>
          </a:solidFill>
          <a:ln/>
        </p:spPr>
      </p:sp>
      <p:sp>
        <p:nvSpPr>
          <p:cNvPr id="69" name="Text 67"/>
          <p:cNvSpPr txBox="1"/>
          <p:nvPr/>
        </p:nvSpPr>
        <p:spPr>
          <a:xfrm>
            <a:off x="350215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70" name="Text 68"/>
          <p:cNvSpPr txBox="1"/>
          <p:nvPr/>
        </p:nvSpPr>
        <p:spPr>
          <a:xfrm>
            <a:off x="441655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4" name="Shape 72"/>
          <p:cNvSpPr/>
          <p:nvPr/>
        </p:nvSpPr>
        <p:spPr>
          <a:xfrm>
            <a:off x="2871216" y="4241713"/>
            <a:ext cx="129534" cy="136676"/>
          </a:xfrm>
          <a:prstGeom prst="rect">
            <a:avLst/>
          </a:prstGeom>
          <a:solidFill>
            <a:srgbClr val="2587C5"/>
          </a:solidFill>
          <a:ln/>
        </p:spPr>
      </p:sp>
      <p:sp>
        <p:nvSpPr>
          <p:cNvPr id="75" name="Text 73"/>
          <p:cNvSpPr txBox="1"/>
          <p:nvPr/>
        </p:nvSpPr>
        <p:spPr>
          <a:xfrm>
            <a:off x="350215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76" name="Text 74"/>
          <p:cNvSpPr txBox="1"/>
          <p:nvPr/>
        </p:nvSpPr>
        <p:spPr>
          <a:xfrm>
            <a:off x="441655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0" name="Shape 78"/>
          <p:cNvSpPr/>
          <p:nvPr/>
        </p:nvSpPr>
        <p:spPr>
          <a:xfrm>
            <a:off x="2871216" y="4490215"/>
            <a:ext cx="122140" cy="136676"/>
          </a:xfrm>
          <a:prstGeom prst="rect">
            <a:avLst/>
          </a:prstGeom>
          <a:solidFill>
            <a:srgbClr val="2587C5"/>
          </a:solidFill>
          <a:ln/>
        </p:spPr>
      </p:sp>
      <p:sp>
        <p:nvSpPr>
          <p:cNvPr id="81" name="Text 79"/>
          <p:cNvSpPr txBox="1"/>
          <p:nvPr/>
        </p:nvSpPr>
        <p:spPr>
          <a:xfrm>
            <a:off x="350215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2" name="Text 80"/>
          <p:cNvSpPr txBox="1"/>
          <p:nvPr/>
        </p:nvSpPr>
        <p:spPr>
          <a:xfrm>
            <a:off x="441655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21953" cy="136676"/>
          </a:xfrm>
          <a:prstGeom prst="rect">
            <a:avLst/>
          </a:prstGeom>
          <a:solidFill>
            <a:srgbClr val="2587C5"/>
          </a:solidFill>
          <a:ln/>
        </p:spPr>
      </p:sp>
      <p:sp>
        <p:nvSpPr>
          <p:cNvPr id="87" name="Text 85"/>
          <p:cNvSpPr txBox="1"/>
          <p:nvPr/>
        </p:nvSpPr>
        <p:spPr>
          <a:xfrm>
            <a:off x="350215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8" name="Text 86"/>
          <p:cNvSpPr txBox="1"/>
          <p:nvPr/>
        </p:nvSpPr>
        <p:spPr>
          <a:xfrm>
            <a:off x="441655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2871216" y="4987218"/>
            <a:ext cx="115516" cy="136676"/>
          </a:xfrm>
          <a:prstGeom prst="rect">
            <a:avLst/>
          </a:prstGeom>
          <a:solidFill>
            <a:srgbClr val="2587C5"/>
          </a:solidFill>
          <a:ln/>
        </p:spPr>
      </p:sp>
      <p:sp>
        <p:nvSpPr>
          <p:cNvPr id="93" name="Text 91"/>
          <p:cNvSpPr txBox="1"/>
          <p:nvPr/>
        </p:nvSpPr>
        <p:spPr>
          <a:xfrm>
            <a:off x="350215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94" name="Text 92"/>
          <p:cNvSpPr txBox="1"/>
          <p:nvPr/>
        </p:nvSpPr>
        <p:spPr>
          <a:xfrm>
            <a:off x="441655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8" name="Shape 96"/>
          <p:cNvSpPr/>
          <p:nvPr/>
        </p:nvSpPr>
        <p:spPr>
          <a:xfrm>
            <a:off x="2871216" y="5235720"/>
            <a:ext cx="113938" cy="136676"/>
          </a:xfrm>
          <a:prstGeom prst="rect">
            <a:avLst/>
          </a:prstGeom>
          <a:solidFill>
            <a:srgbClr val="2587C5"/>
          </a:solidFill>
          <a:ln/>
        </p:spPr>
      </p:sp>
      <p:sp>
        <p:nvSpPr>
          <p:cNvPr id="99" name="Text 97"/>
          <p:cNvSpPr txBox="1"/>
          <p:nvPr/>
        </p:nvSpPr>
        <p:spPr>
          <a:xfrm>
            <a:off x="350215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100" name="Text 98"/>
          <p:cNvSpPr txBox="1"/>
          <p:nvPr/>
        </p:nvSpPr>
        <p:spPr>
          <a:xfrm>
            <a:off x="441655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4" name="Shape 102"/>
          <p:cNvSpPr/>
          <p:nvPr/>
        </p:nvSpPr>
        <p:spPr>
          <a:xfrm>
            <a:off x="2871216" y="5484222"/>
            <a:ext cx="113714" cy="136676"/>
          </a:xfrm>
          <a:prstGeom prst="rect">
            <a:avLst/>
          </a:prstGeom>
          <a:solidFill>
            <a:srgbClr val="2587C5"/>
          </a:solidFill>
          <a:ln/>
        </p:spPr>
      </p:sp>
      <p:sp>
        <p:nvSpPr>
          <p:cNvPr id="105" name="Text 103"/>
          <p:cNvSpPr txBox="1"/>
          <p:nvPr/>
        </p:nvSpPr>
        <p:spPr>
          <a:xfrm>
            <a:off x="350215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106" name="Text 104"/>
          <p:cNvSpPr txBox="1"/>
          <p:nvPr/>
        </p:nvSpPr>
        <p:spPr>
          <a:xfrm>
            <a:off x="441655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2871216" y="5732723"/>
            <a:ext cx="106654" cy="136676"/>
          </a:xfrm>
          <a:prstGeom prst="rect">
            <a:avLst/>
          </a:prstGeom>
          <a:solidFill>
            <a:srgbClr val="2587C5"/>
          </a:solidFill>
          <a:ln/>
        </p:spPr>
      </p:sp>
      <p:sp>
        <p:nvSpPr>
          <p:cNvPr id="111" name="Text 109"/>
          <p:cNvSpPr txBox="1"/>
          <p:nvPr/>
        </p:nvSpPr>
        <p:spPr>
          <a:xfrm>
            <a:off x="350215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112" name="Text 110"/>
          <p:cNvSpPr txBox="1"/>
          <p:nvPr/>
        </p:nvSpPr>
        <p:spPr>
          <a:xfrm>
            <a:off x="441655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6" name="Shape 114"/>
          <p:cNvSpPr/>
          <p:nvPr/>
        </p:nvSpPr>
        <p:spPr>
          <a:xfrm>
            <a:off x="8421624" y="1756697"/>
            <a:ext cx="105692" cy="136676"/>
          </a:xfrm>
          <a:prstGeom prst="rect">
            <a:avLst/>
          </a:prstGeom>
          <a:solidFill>
            <a:srgbClr val="2587C5"/>
          </a:solidFill>
          <a:ln/>
        </p:spPr>
      </p:sp>
      <p:sp>
        <p:nvSpPr>
          <p:cNvPr id="117" name="Text 115"/>
          <p:cNvSpPr txBox="1"/>
          <p:nvPr/>
        </p:nvSpPr>
        <p:spPr>
          <a:xfrm>
            <a:off x="905256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18" name="Text 116"/>
          <p:cNvSpPr txBox="1"/>
          <p:nvPr/>
        </p:nvSpPr>
        <p:spPr>
          <a:xfrm>
            <a:off x="99669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2" name="Shape 120"/>
          <p:cNvSpPr/>
          <p:nvPr/>
        </p:nvSpPr>
        <p:spPr>
          <a:xfrm>
            <a:off x="8421624" y="2005199"/>
            <a:ext cx="99790" cy="136676"/>
          </a:xfrm>
          <a:prstGeom prst="rect">
            <a:avLst/>
          </a:prstGeom>
          <a:solidFill>
            <a:srgbClr val="2587C5"/>
          </a:solidFill>
          <a:ln/>
        </p:spPr>
      </p:sp>
      <p:sp>
        <p:nvSpPr>
          <p:cNvPr id="123" name="Text 121"/>
          <p:cNvSpPr txBox="1"/>
          <p:nvPr/>
        </p:nvSpPr>
        <p:spPr>
          <a:xfrm>
            <a:off x="905256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24" name="Text 122"/>
          <p:cNvSpPr txBox="1"/>
          <p:nvPr/>
        </p:nvSpPr>
        <p:spPr>
          <a:xfrm>
            <a:off x="99669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421624" y="2253700"/>
            <a:ext cx="90596" cy="136676"/>
          </a:xfrm>
          <a:prstGeom prst="rect">
            <a:avLst/>
          </a:prstGeom>
          <a:solidFill>
            <a:srgbClr val="2587C5"/>
          </a:solidFill>
          <a:ln/>
        </p:spPr>
      </p:sp>
      <p:sp>
        <p:nvSpPr>
          <p:cNvPr id="129" name="Text 127"/>
          <p:cNvSpPr txBox="1"/>
          <p:nvPr/>
        </p:nvSpPr>
        <p:spPr>
          <a:xfrm>
            <a:off x="905256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30" name="Text 128"/>
          <p:cNvSpPr txBox="1"/>
          <p:nvPr/>
        </p:nvSpPr>
        <p:spPr>
          <a:xfrm>
            <a:off x="99669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9638" cy="136676"/>
          </a:xfrm>
          <a:prstGeom prst="rect">
            <a:avLst/>
          </a:prstGeom>
          <a:solidFill>
            <a:srgbClr val="2587C5"/>
          </a:solidFill>
          <a:ln/>
        </p:spPr>
      </p:sp>
      <p:sp>
        <p:nvSpPr>
          <p:cNvPr id="135" name="Text 133"/>
          <p:cNvSpPr txBox="1"/>
          <p:nvPr/>
        </p:nvSpPr>
        <p:spPr>
          <a:xfrm>
            <a:off x="905256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36" name="Text 134"/>
          <p:cNvSpPr txBox="1"/>
          <p:nvPr/>
        </p:nvSpPr>
        <p:spPr>
          <a:xfrm>
            <a:off x="99669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0" name="Shape 138"/>
          <p:cNvSpPr/>
          <p:nvPr/>
        </p:nvSpPr>
        <p:spPr>
          <a:xfrm>
            <a:off x="8421624" y="2750703"/>
            <a:ext cx="87103" cy="136676"/>
          </a:xfrm>
          <a:prstGeom prst="rect">
            <a:avLst/>
          </a:prstGeom>
          <a:solidFill>
            <a:srgbClr val="2587C5"/>
          </a:solidFill>
          <a:ln/>
        </p:spPr>
      </p:sp>
      <p:sp>
        <p:nvSpPr>
          <p:cNvPr id="141" name="Text 139"/>
          <p:cNvSpPr txBox="1"/>
          <p:nvPr/>
        </p:nvSpPr>
        <p:spPr>
          <a:xfrm>
            <a:off x="905256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42" name="Text 140"/>
          <p:cNvSpPr txBox="1"/>
          <p:nvPr/>
        </p:nvSpPr>
        <p:spPr>
          <a:xfrm>
            <a:off x="99669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6" name="Shape 144"/>
          <p:cNvSpPr/>
          <p:nvPr/>
        </p:nvSpPr>
        <p:spPr>
          <a:xfrm>
            <a:off x="8421624" y="2999205"/>
            <a:ext cx="84269" cy="136676"/>
          </a:xfrm>
          <a:prstGeom prst="rect">
            <a:avLst/>
          </a:prstGeom>
          <a:solidFill>
            <a:srgbClr val="2587C5"/>
          </a:solidFill>
          <a:ln/>
        </p:spPr>
      </p:sp>
      <p:sp>
        <p:nvSpPr>
          <p:cNvPr id="147" name="Text 145"/>
          <p:cNvSpPr txBox="1"/>
          <p:nvPr/>
        </p:nvSpPr>
        <p:spPr>
          <a:xfrm>
            <a:off x="905256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48" name="Text 146"/>
          <p:cNvSpPr txBox="1"/>
          <p:nvPr/>
        </p:nvSpPr>
        <p:spPr>
          <a:xfrm>
            <a:off x="99669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52" name="Shape 150"/>
          <p:cNvSpPr/>
          <p:nvPr/>
        </p:nvSpPr>
        <p:spPr>
          <a:xfrm>
            <a:off x="8421624" y="3247707"/>
            <a:ext cx="76034" cy="136676"/>
          </a:xfrm>
          <a:prstGeom prst="rect">
            <a:avLst/>
          </a:prstGeom>
          <a:solidFill>
            <a:srgbClr val="2587C5"/>
          </a:solidFill>
          <a:ln/>
        </p:spPr>
      </p:sp>
      <p:sp>
        <p:nvSpPr>
          <p:cNvPr id="153" name="Text 151"/>
          <p:cNvSpPr txBox="1"/>
          <p:nvPr/>
        </p:nvSpPr>
        <p:spPr>
          <a:xfrm>
            <a:off x="905256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54" name="Text 152"/>
          <p:cNvSpPr txBox="1"/>
          <p:nvPr/>
        </p:nvSpPr>
        <p:spPr>
          <a:xfrm>
            <a:off x="99669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8" name="Shape 156"/>
          <p:cNvSpPr/>
          <p:nvPr/>
        </p:nvSpPr>
        <p:spPr>
          <a:xfrm>
            <a:off x="8421624" y="3496208"/>
            <a:ext cx="73768" cy="136676"/>
          </a:xfrm>
          <a:prstGeom prst="rect">
            <a:avLst/>
          </a:prstGeom>
          <a:solidFill>
            <a:srgbClr val="2587C5"/>
          </a:solidFill>
          <a:ln/>
        </p:spPr>
      </p:sp>
      <p:sp>
        <p:nvSpPr>
          <p:cNvPr id="159" name="Text 157"/>
          <p:cNvSpPr txBox="1"/>
          <p:nvPr/>
        </p:nvSpPr>
        <p:spPr>
          <a:xfrm>
            <a:off x="905256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60" name="Text 158"/>
          <p:cNvSpPr txBox="1"/>
          <p:nvPr/>
        </p:nvSpPr>
        <p:spPr>
          <a:xfrm>
            <a:off x="99669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68849" cy="136676"/>
          </a:xfrm>
          <a:prstGeom prst="rect">
            <a:avLst/>
          </a:prstGeom>
          <a:solidFill>
            <a:srgbClr val="2587C5"/>
          </a:solidFill>
          <a:ln/>
        </p:spPr>
      </p:sp>
      <p:sp>
        <p:nvSpPr>
          <p:cNvPr id="165" name="Text 163"/>
          <p:cNvSpPr txBox="1"/>
          <p:nvPr/>
        </p:nvSpPr>
        <p:spPr>
          <a:xfrm>
            <a:off x="905256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66" name="Text 164"/>
          <p:cNvSpPr txBox="1"/>
          <p:nvPr/>
        </p:nvSpPr>
        <p:spPr>
          <a:xfrm>
            <a:off x="99669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421624" y="3993212"/>
            <a:ext cx="59561" cy="136676"/>
          </a:xfrm>
          <a:prstGeom prst="rect">
            <a:avLst/>
          </a:prstGeom>
          <a:solidFill>
            <a:srgbClr val="2587C5"/>
          </a:solidFill>
          <a:ln/>
        </p:spPr>
      </p:sp>
      <p:sp>
        <p:nvSpPr>
          <p:cNvPr id="171" name="Text 169"/>
          <p:cNvSpPr txBox="1"/>
          <p:nvPr/>
        </p:nvSpPr>
        <p:spPr>
          <a:xfrm>
            <a:off x="905256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72" name="Text 170"/>
          <p:cNvSpPr txBox="1"/>
          <p:nvPr/>
        </p:nvSpPr>
        <p:spPr>
          <a:xfrm>
            <a:off x="99669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6" name="Shape 174"/>
          <p:cNvSpPr/>
          <p:nvPr/>
        </p:nvSpPr>
        <p:spPr>
          <a:xfrm>
            <a:off x="8421624" y="4241713"/>
            <a:ext cx="58266" cy="136676"/>
          </a:xfrm>
          <a:prstGeom prst="rect">
            <a:avLst/>
          </a:prstGeom>
          <a:solidFill>
            <a:srgbClr val="2587C5"/>
          </a:solidFill>
          <a:ln/>
        </p:spPr>
      </p:sp>
      <p:sp>
        <p:nvSpPr>
          <p:cNvPr id="177" name="Text 175"/>
          <p:cNvSpPr txBox="1"/>
          <p:nvPr/>
        </p:nvSpPr>
        <p:spPr>
          <a:xfrm>
            <a:off x="905256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78" name="Text 176"/>
          <p:cNvSpPr txBox="1"/>
          <p:nvPr/>
        </p:nvSpPr>
        <p:spPr>
          <a:xfrm>
            <a:off x="99669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2" name="Shape 180"/>
          <p:cNvSpPr/>
          <p:nvPr/>
        </p:nvSpPr>
        <p:spPr>
          <a:xfrm>
            <a:off x="8421624" y="4490215"/>
            <a:ext cx="57879" cy="136676"/>
          </a:xfrm>
          <a:prstGeom prst="rect">
            <a:avLst/>
          </a:prstGeom>
          <a:solidFill>
            <a:srgbClr val="2587C5"/>
          </a:solidFill>
          <a:ln/>
        </p:spPr>
      </p:sp>
      <p:sp>
        <p:nvSpPr>
          <p:cNvPr id="183" name="Text 181"/>
          <p:cNvSpPr txBox="1"/>
          <p:nvPr/>
        </p:nvSpPr>
        <p:spPr>
          <a:xfrm>
            <a:off x="905256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84" name="Text 182"/>
          <p:cNvSpPr txBox="1"/>
          <p:nvPr/>
        </p:nvSpPr>
        <p:spPr>
          <a:xfrm>
            <a:off x="99669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8" name="Shape 186"/>
          <p:cNvSpPr/>
          <p:nvPr/>
        </p:nvSpPr>
        <p:spPr>
          <a:xfrm>
            <a:off x="8421624" y="4738717"/>
            <a:ext cx="56293" cy="136676"/>
          </a:xfrm>
          <a:prstGeom prst="rect">
            <a:avLst/>
          </a:prstGeom>
          <a:solidFill>
            <a:srgbClr val="2587C5"/>
          </a:solidFill>
          <a:ln/>
        </p:spPr>
      </p:sp>
      <p:sp>
        <p:nvSpPr>
          <p:cNvPr id="189" name="Text 187"/>
          <p:cNvSpPr txBox="1"/>
          <p:nvPr/>
        </p:nvSpPr>
        <p:spPr>
          <a:xfrm>
            <a:off x="905256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90" name="Text 188"/>
          <p:cNvSpPr txBox="1"/>
          <p:nvPr/>
        </p:nvSpPr>
        <p:spPr>
          <a:xfrm>
            <a:off x="99669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94" name="Shape 192"/>
          <p:cNvSpPr/>
          <p:nvPr/>
        </p:nvSpPr>
        <p:spPr>
          <a:xfrm>
            <a:off x="8421624" y="4987218"/>
            <a:ext cx="40591" cy="136676"/>
          </a:xfrm>
          <a:prstGeom prst="rect">
            <a:avLst/>
          </a:prstGeom>
          <a:solidFill>
            <a:srgbClr val="2587C5"/>
          </a:solidFill>
          <a:ln/>
        </p:spPr>
      </p:sp>
      <p:sp>
        <p:nvSpPr>
          <p:cNvPr id="195" name="Text 193"/>
          <p:cNvSpPr txBox="1"/>
          <p:nvPr/>
        </p:nvSpPr>
        <p:spPr>
          <a:xfrm>
            <a:off x="905256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96" name="Text 194"/>
          <p:cNvSpPr txBox="1"/>
          <p:nvPr/>
        </p:nvSpPr>
        <p:spPr>
          <a:xfrm>
            <a:off x="99669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00" name="Shape 198"/>
          <p:cNvSpPr/>
          <p:nvPr/>
        </p:nvSpPr>
        <p:spPr>
          <a:xfrm>
            <a:off x="8421624" y="5235720"/>
            <a:ext cx="39145" cy="136676"/>
          </a:xfrm>
          <a:prstGeom prst="rect">
            <a:avLst/>
          </a:prstGeom>
          <a:solidFill>
            <a:srgbClr val="2587C5"/>
          </a:solidFill>
          <a:ln/>
        </p:spPr>
      </p:sp>
      <p:sp>
        <p:nvSpPr>
          <p:cNvPr id="201" name="Text 199"/>
          <p:cNvSpPr txBox="1"/>
          <p:nvPr/>
        </p:nvSpPr>
        <p:spPr>
          <a:xfrm>
            <a:off x="905256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202" name="Text 200"/>
          <p:cNvSpPr txBox="1"/>
          <p:nvPr/>
        </p:nvSpPr>
        <p:spPr>
          <a:xfrm>
            <a:off x="99669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24682" cy="136676"/>
          </a:xfrm>
          <a:prstGeom prst="rect">
            <a:avLst/>
          </a:prstGeom>
          <a:solidFill>
            <a:srgbClr val="2587C5"/>
          </a:solidFill>
          <a:ln/>
        </p:spPr>
      </p:sp>
      <p:sp>
        <p:nvSpPr>
          <p:cNvPr id="207" name="Text 205"/>
          <p:cNvSpPr txBox="1"/>
          <p:nvPr/>
        </p:nvSpPr>
        <p:spPr>
          <a:xfrm>
            <a:off x="905256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208" name="Text 206"/>
          <p:cNvSpPr txBox="1"/>
          <p:nvPr/>
        </p:nvSpPr>
        <p:spPr>
          <a:xfrm>
            <a:off x="99669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FBEBEA"/>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16 declined.</a:t>
            </a:r>
            <a:endParaRPr lang="en-US" sz="1600" dirty="0"/>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11 declined.</a:t>
            </a:r>
            <a:endParaRPr lang="en-US" sz="1600" dirty="0"/>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Shape 16"/>
          <p:cNvSpPr/>
          <p:nvPr/>
        </p:nvSpPr>
        <p:spPr>
          <a:xfrm>
            <a:off x="4084320" y="3796589"/>
            <a:ext cx="64008" cy="755294"/>
          </a:xfrm>
          <a:prstGeom prst="rect">
            <a:avLst/>
          </a:prstGeom>
          <a:solidFill>
            <a:srgbClr val="12A566"/>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21" name="Text 19"/>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Shape 24"/>
          <p:cNvSpPr/>
          <p:nvPr/>
        </p:nvSpPr>
        <p:spPr>
          <a:xfrm>
            <a:off x="4084320" y="5453482"/>
            <a:ext cx="64008" cy="755294"/>
          </a:xfrm>
          <a:prstGeom prst="rect">
            <a:avLst/>
          </a:prstGeom>
          <a:solidFill>
            <a:srgbClr val="12A566"/>
          </a:solidFill>
          <a:ln/>
        </p:spPr>
      </p:sp>
      <p:sp>
        <p:nvSpPr>
          <p:cNvPr id="27" name="Text 25"/>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9" name="Text 27"/>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828446"/>
          </a:xfrm>
          <a:prstGeom prst="rect">
            <a:avLst/>
          </a:prstGeom>
          <a:solidFill>
            <a:srgbClr val="F7F7F7"/>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9" name="Shape 57"/>
          <p:cNvSpPr/>
          <p:nvPr/>
        </p:nvSpPr>
        <p:spPr>
          <a:xfrm>
            <a:off x="11466576" y="2968142"/>
            <a:ext cx="64008" cy="755294"/>
          </a:xfrm>
          <a:prstGeom prst="rect">
            <a:avLst/>
          </a:prstGeom>
          <a:solidFill>
            <a:srgbClr val="12A566"/>
          </a:solidFill>
          <a:ln/>
        </p:spPr>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Text 6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6" name="Text 64"/>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7" name="Text 6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9" name="Text 67"/>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0" name="Shape 68"/>
          <p:cNvSpPr/>
          <p:nvPr/>
        </p:nvSpPr>
        <p:spPr>
          <a:xfrm>
            <a:off x="8040624" y="5416906"/>
            <a:ext cx="3489960" cy="828446"/>
          </a:xfrm>
          <a:prstGeom prst="rect">
            <a:avLst/>
          </a:prstGeom>
          <a:solidFill>
            <a:srgbClr val="F7F7F7"/>
          </a:solidFill>
          <a:ln/>
        </p:spPr>
      </p:sp>
      <p:sp>
        <p:nvSpPr>
          <p:cNvPr id="71" name="Shape 69"/>
          <p:cNvSpPr/>
          <p:nvPr/>
        </p:nvSpPr>
        <p:spPr>
          <a:xfrm>
            <a:off x="11466576" y="5453482"/>
            <a:ext cx="64008" cy="755294"/>
          </a:xfrm>
          <a:prstGeom prst="rect">
            <a:avLst/>
          </a:prstGeom>
          <a:solidFill>
            <a:srgbClr val="12A566"/>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7" name="Shape 144"/>
          <p:cNvSpPr/>
          <p:nvPr/>
        </p:nvSpPr>
        <p:spPr>
          <a:xfrm>
            <a:off x="457200" y="6126480"/>
            <a:ext cx="11274552" cy="371856"/>
          </a:xfrm>
          <a:prstGeom prst="rect">
            <a:avLst/>
          </a:prstGeom>
          <a:solidFill>
            <a:srgbClr val="E6F6EE"/>
          </a:solidFill>
          <a:ln/>
        </p:spPr>
      </p:sp>
      <p:sp>
        <p:nvSpPr>
          <p:cNvPr id="148"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11 declined.</a:t>
            </a:r>
            <a:endParaRPr lang="en-US" sz="1600" dirty="0"/>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Shape 52"/>
          <p:cNvSpPr/>
          <p:nvPr/>
        </p:nvSpPr>
        <p:spPr>
          <a:xfrm>
            <a:off x="11466576" y="2139696"/>
            <a:ext cx="64008" cy="755294"/>
          </a:xfrm>
          <a:prstGeom prst="rect">
            <a:avLst/>
          </a:prstGeom>
          <a:solidFill>
            <a:srgbClr val="12A566"/>
          </a:solidFill>
          <a:ln/>
        </p:spPr>
      </p:sp>
      <p:sp>
        <p:nvSpPr>
          <p:cNvPr id="55" name="Text 53"/>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7" name="Text 55"/>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Shape 60"/>
          <p:cNvSpPr/>
          <p:nvPr/>
        </p:nvSpPr>
        <p:spPr>
          <a:xfrm>
            <a:off x="11466576" y="3796589"/>
            <a:ext cx="64008" cy="755294"/>
          </a:xfrm>
          <a:prstGeom prst="rect">
            <a:avLst/>
          </a:prstGeom>
          <a:solidFill>
            <a:srgbClr val="12A566"/>
          </a:solidFill>
          <a:ln/>
        </p:spPr>
      </p:sp>
      <p:sp>
        <p:nvSpPr>
          <p:cNvPr id="63" name="Text 6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5" name="Text 63"/>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TECHNICIAN PROFICIENCY · YOUR BEST TECHS PROVE 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4" name="Shape 101"/>
          <p:cNvSpPr/>
          <p:nvPr/>
        </p:nvSpPr>
        <p:spPr>
          <a:xfrm>
            <a:off x="457200" y="6126480"/>
            <a:ext cx="11274552" cy="371856"/>
          </a:xfrm>
          <a:prstGeom prst="rect">
            <a:avLst/>
          </a:prstGeom>
          <a:solidFill>
            <a:srgbClr val="E6F6EE"/>
          </a:solidFill>
          <a:ln/>
        </p:spPr>
      </p:sp>
      <p:sp>
        <p:nvSpPr>
          <p:cNvPr id="105"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make two.</a:t>
            </a:r>
            <a:endParaRPr lang="en-US" sz="1600" dirty="0"/>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4" name="Shape 51"/>
          <p:cNvSpPr/>
          <p:nvPr/>
        </p:nvSpPr>
        <p:spPr>
          <a:xfrm>
            <a:off x="457200" y="6126480"/>
            <a:ext cx="11274552" cy="371856"/>
          </a:xfrm>
          <a:prstGeom prst="rect">
            <a:avLst/>
          </a:prstGeom>
          <a:solidFill>
            <a:srgbClr val="E6F6EE"/>
          </a:solidFill>
          <a:ln/>
        </p:spPr>
      </p:sp>
      <p:sp>
        <p:nvSpPr>
          <p:cNvPr id="55"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8 stores make a top-3 list in both periods.</a:t>
            </a:r>
            <a:endParaRPr lang="en-US" sz="1600" dirty="0"/>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Five stores are top five in both.</a:t>
            </a:r>
            <a:endParaRPr lang="en-US" sz="1600" dirty="0"/>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70" name="Shape 67"/>
          <p:cNvSpPr/>
          <p:nvPr/>
        </p:nvSpPr>
        <p:spPr>
          <a:xfrm>
            <a:off x="457200" y="6126480"/>
            <a:ext cx="11274552" cy="371856"/>
          </a:xfrm>
          <a:prstGeom prst="rect">
            <a:avLst/>
          </a:prstGeom>
          <a:solidFill>
            <a:srgbClr val="E6F6EE"/>
          </a:solidFill>
          <a:ln/>
        </p:spPr>
      </p:sp>
      <p:sp>
        <p:nvSpPr>
          <p:cNvPr id="71"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Three stores are top five in both.</a:t>
            </a:r>
            <a:endParaRPr lang="en-US" sz="1600" dirty="0"/>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2026-10-27T21:57:51Z</dcterms:created>
  <dcterms:modified xsi:type="dcterms:W3CDTF">2026-10-27T21:57:51Z</dcterms:modified>
</cp:coreProperties>
</file>