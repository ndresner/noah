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64.xml" ContentType="application/vnd.openxmlformats-officedocument.drawingml.chart+xml"/>
  <Override PartName="/ppt/charts/chart265.xml" ContentType="application/vnd.openxmlformats-officedocument.drawingml.chart+xml"/>
  <Override PartName="/ppt/charts/chart266.xml" ContentType="application/vnd.openxmlformats-officedocument.drawingml.chart+xml"/>
  <Override PartName="/ppt/charts/chart267.xml" ContentType="application/vnd.openxmlformats-officedocument.drawingml.chart+xml"/>
  <Override PartName="/ppt/charts/chart268.xml" ContentType="application/vnd.openxmlformats-officedocument.drawingml.chart+xml"/>
  <Override PartName="/ppt/charts/chart269.xml" ContentType="application/vnd.openxmlformats-officedocument.drawingml.chart+xml"/>
  <Override PartName="/ppt/charts/chart27.xml" ContentType="application/vnd.openxmlformats-officedocument.drawingml.chart+xml"/>
  <Override PartName="/ppt/charts/chart270.xml" ContentType="application/vnd.openxmlformats-officedocument.drawingml.chart+xml"/>
  <Override PartName="/ppt/charts/chart271.xml" ContentType="application/vnd.openxmlformats-officedocument.drawingml.chart+xml"/>
  <Override PartName="/ppt/charts/chart272.xml" ContentType="application/vnd.openxmlformats-officedocument.drawingml.chart+xml"/>
  <Override PartName="/ppt/charts/chart273.xml" ContentType="application/vnd.openxmlformats-officedocument.drawingml.chart+xml"/>
  <Override PartName="/ppt/charts/chart274.xml" ContentType="application/vnd.openxmlformats-officedocument.drawingml.chart+xml"/>
  <Override PartName="/ppt/charts/chart275.xml" ContentType="application/vnd.openxmlformats-officedocument.drawingml.chart+xml"/>
  <Override PartName="/ppt/charts/chart276.xml" ContentType="application/vnd.openxmlformats-officedocument.drawingml.chart+xml"/>
  <Override PartName="/ppt/charts/chart277.xml" ContentType="application/vnd.openxmlformats-officedocument.drawingml.chart+xml"/>
  <Override PartName="/ppt/charts/chart278.xml" ContentType="application/vnd.openxmlformats-officedocument.drawingml.chart+xml"/>
  <Override PartName="/ppt/charts/chart279.xml" ContentType="application/vnd.openxmlformats-officedocument.drawingml.chart+xml"/>
  <Override PartName="/ppt/charts/chart28.xml" ContentType="application/vnd.openxmlformats-officedocument.drawingml.chart+xml"/>
  <Override PartName="/ppt/charts/chart280.xml" ContentType="application/vnd.openxmlformats-officedocument.drawingml.chart+xml"/>
  <Override PartName="/ppt/charts/chart281.xml" ContentType="application/vnd.openxmlformats-officedocument.drawingml.chart+xml"/>
  <Override PartName="/ppt/charts/chart282.xml" ContentType="application/vnd.openxmlformats-officedocument.drawingml.chart+xml"/>
  <Override PartName="/ppt/charts/chart283.xml" ContentType="application/vnd.openxmlformats-officedocument.drawingml.chart+xml"/>
  <Override PartName="/ppt/charts/chart284.xml" ContentType="application/vnd.openxmlformats-officedocument.drawingml.chart+xml"/>
  <Override PartName="/ppt/charts/chart285.xml" ContentType="application/vnd.openxmlformats-officedocument.drawingml.chart+xml"/>
  <Override PartName="/ppt/charts/chart286.xml" ContentType="application/vnd.openxmlformats-officedocument.drawingml.chart+xml"/>
  <Override PartName="/ppt/charts/chart287.xml" ContentType="application/vnd.openxmlformats-officedocument.drawingml.chart+xml"/>
  <Override PartName="/ppt/charts/chart288.xml" ContentType="application/vnd.openxmlformats-officedocument.drawingml.chart+xml"/>
  <Override PartName="/ppt/charts/chart289.xml" ContentType="application/vnd.openxmlformats-officedocument.drawingml.chart+xml"/>
  <Override PartName="/ppt/charts/chart29.xml" ContentType="application/vnd.openxmlformats-officedocument.drawingml.chart+xml"/>
  <Override PartName="/ppt/charts/chart290.xml" ContentType="application/vnd.openxmlformats-officedocument.drawingml.chart+xml"/>
  <Override PartName="/ppt/charts/chart291.xml" ContentType="application/vnd.openxmlformats-officedocument.drawingml.chart+xml"/>
  <Override PartName="/ppt/charts/chart292.xml" ContentType="application/vnd.openxmlformats-officedocument.drawingml.chart+xml"/>
  <Override PartName="/ppt/charts/chart293.xml" ContentType="application/vnd.openxmlformats-officedocument.drawingml.chart+xml"/>
  <Override PartName="/ppt/charts/chart294.xml" ContentType="application/vnd.openxmlformats-officedocument.drawingml.chart+xml"/>
  <Override PartName="/ppt/charts/chart295.xml" ContentType="application/vnd.openxmlformats-officedocument.drawingml.chart+xml"/>
  <Override PartName="/ppt/charts/chart296.xml" ContentType="application/vnd.openxmlformats-officedocument.drawingml.chart+xml"/>
  <Override PartName="/ppt/charts/chart297.xml" ContentType="application/vnd.openxmlformats-officedocument.drawingml.chart+xml"/>
  <Override PartName="/ppt/charts/chart298.xml" ContentType="application/vnd.openxmlformats-officedocument.drawingml.chart+xml"/>
  <Override PartName="/ppt/charts/chart29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00.xml" ContentType="application/vnd.openxmlformats-officedocument.drawingml.chart+xml"/>
  <Override PartName="/ppt/charts/chart301.xml" ContentType="application/vnd.openxmlformats-officedocument.drawingml.chart+xml"/>
  <Override PartName="/ppt/charts/chart302.xml" ContentType="application/vnd.openxmlformats-officedocument.drawingml.chart+xml"/>
  <Override PartName="/ppt/charts/chart303.xml" ContentType="application/vnd.openxmlformats-officedocument.drawingml.chart+xml"/>
  <Override PartName="/ppt/charts/chart304.xml" ContentType="application/vnd.openxmlformats-officedocument.drawingml.chart+xml"/>
  <Override PartName="/ppt/charts/chart305.xml" ContentType="application/vnd.openxmlformats-officedocument.drawingml.chart+xml"/>
  <Override PartName="/ppt/charts/chart306.xml" ContentType="application/vnd.openxmlformats-officedocument.drawingml.chart+xml"/>
  <Override PartName="/ppt/charts/chart307.xml" ContentType="application/vnd.openxmlformats-officedocument.drawingml.chart+xml"/>
  <Override PartName="/ppt/charts/chart308.xml" ContentType="application/vnd.openxmlformats-officedocument.drawingml.chart+xml"/>
  <Override PartName="/ppt/charts/chart309.xml" ContentType="application/vnd.openxmlformats-officedocument.drawingml.chart+xml"/>
  <Override PartName="/ppt/charts/chart31.xml" ContentType="application/vnd.openxmlformats-officedocument.drawingml.chart+xml"/>
  <Override PartName="/ppt/charts/chart310.xml" ContentType="application/vnd.openxmlformats-officedocument.drawingml.chart+xml"/>
  <Override PartName="/ppt/charts/chart311.xml" ContentType="application/vnd.openxmlformats-officedocument.drawingml.chart+xml"/>
  <Override PartName="/ppt/charts/chart312.xml" ContentType="application/vnd.openxmlformats-officedocument.drawingml.chart+xml"/>
  <Override PartName="/ppt/charts/chart313.xml" ContentType="application/vnd.openxmlformats-officedocument.drawingml.chart+xml"/>
  <Override PartName="/ppt/charts/chart314.xml" ContentType="application/vnd.openxmlformats-officedocument.drawingml.chart+xml"/>
  <Override PartName="/ppt/charts/chart315.xml" ContentType="application/vnd.openxmlformats-officedocument.drawingml.chart+xml"/>
  <Override PartName="/ppt/charts/chart316.xml" ContentType="application/vnd.openxmlformats-officedocument.drawingml.chart+xml"/>
  <Override PartName="/ppt/charts/chart317.xml" ContentType="application/vnd.openxmlformats-officedocument.drawingml.chart+xml"/>
  <Override PartName="/ppt/charts/chart318.xml" ContentType="application/vnd.openxmlformats-officedocument.drawingml.chart+xml"/>
  <Override PartName="/ppt/charts/chart319.xml" ContentType="application/vnd.openxmlformats-officedocument.drawingml.chart+xml"/>
  <Override PartName="/ppt/charts/chart32.xml" ContentType="application/vnd.openxmlformats-officedocument.drawingml.chart+xml"/>
  <Override PartName="/ppt/charts/chart320.xml" ContentType="application/vnd.openxmlformats-officedocument.drawingml.chart+xml"/>
  <Override PartName="/ppt/charts/chart321.xml" ContentType="application/vnd.openxmlformats-officedocument.drawingml.chart+xml"/>
  <Override PartName="/ppt/charts/chart322.xml" ContentType="application/vnd.openxmlformats-officedocument.drawingml.chart+xml"/>
  <Override PartName="/ppt/charts/chart323.xml" ContentType="application/vnd.openxmlformats-officedocument.drawingml.chart+xml"/>
  <Override PartName="/ppt/charts/chart324.xml" ContentType="application/vnd.openxmlformats-officedocument.drawingml.chart+xml"/>
  <Override PartName="/ppt/charts/chart325.xml" ContentType="application/vnd.openxmlformats-officedocument.drawingml.chart+xml"/>
  <Override PartName="/ppt/charts/chart326.xml" ContentType="application/vnd.openxmlformats-officedocument.drawingml.chart+xml"/>
  <Override PartName="/ppt/charts/chart327.xml" ContentType="application/vnd.openxmlformats-officedocument.drawingml.chart+xml"/>
  <Override PartName="/ppt/charts/chart328.xml" ContentType="application/vnd.openxmlformats-officedocument.drawingml.chart+xml"/>
  <Override PartName="/ppt/charts/chart329.xml" ContentType="application/vnd.openxmlformats-officedocument.drawingml.chart+xml"/>
  <Override PartName="/ppt/charts/chart33.xml" ContentType="application/vnd.openxmlformats-officedocument.drawingml.chart+xml"/>
  <Override PartName="/ppt/charts/chart330.xml" ContentType="application/vnd.openxmlformats-officedocument.drawingml.chart+xml"/>
  <Override PartName="/ppt/charts/chart331.xml" ContentType="application/vnd.openxmlformats-officedocument.drawingml.chart+xml"/>
  <Override PartName="/ppt/charts/chart332.xml" ContentType="application/vnd.openxmlformats-officedocument.drawingml.chart+xml"/>
  <Override PartName="/ppt/charts/chart333.xml" ContentType="application/vnd.openxmlformats-officedocument.drawingml.chart+xml"/>
  <Override PartName="/ppt/charts/chart334.xml" ContentType="application/vnd.openxmlformats-officedocument.drawingml.chart+xml"/>
  <Override PartName="/ppt/charts/chart335.xml" ContentType="application/vnd.openxmlformats-officedocument.drawingml.chart+xml"/>
  <Override PartName="/ppt/charts/chart336.xml" ContentType="application/vnd.openxmlformats-officedocument.drawingml.chart+xml"/>
  <Override PartName="/ppt/charts/chart337.xml" ContentType="application/vnd.openxmlformats-officedocument.drawingml.chart+xml"/>
  <Override PartName="/ppt/charts/chart338.xml" ContentType="application/vnd.openxmlformats-officedocument.drawingml.chart+xml"/>
  <Override PartName="/ppt/charts/chart339.xml" ContentType="application/vnd.openxmlformats-officedocument.drawingml.chart+xml"/>
  <Override PartName="/ppt/charts/chart34.xml" ContentType="application/vnd.openxmlformats-officedocument.drawingml.chart+xml"/>
  <Override PartName="/ppt/charts/chart340.xml" ContentType="application/vnd.openxmlformats-officedocument.drawingml.chart+xml"/>
  <Override PartName="/ppt/charts/chart341.xml" ContentType="application/vnd.openxmlformats-officedocument.drawingml.chart+xml"/>
  <Override PartName="/ppt/charts/chart342.xml" ContentType="application/vnd.openxmlformats-officedocument.drawingml.chart+xml"/>
  <Override PartName="/ppt/charts/chart343.xml" ContentType="application/vnd.openxmlformats-officedocument.drawingml.chart+xml"/>
  <Override PartName="/ppt/charts/chart344.xml" ContentType="application/vnd.openxmlformats-officedocument.drawingml.chart+xml"/>
  <Override PartName="/ppt/charts/chart345.xml" ContentType="application/vnd.openxmlformats-officedocument.drawingml.chart+xml"/>
  <Override PartName="/ppt/charts/chart346.xml" ContentType="application/vnd.openxmlformats-officedocument.drawingml.chart+xml"/>
  <Override PartName="/ppt/charts/chart347.xml" ContentType="application/vnd.openxmlformats-officedocument.drawingml.chart+xml"/>
  <Override PartName="/ppt/charts/chart348.xml" ContentType="application/vnd.openxmlformats-officedocument.drawingml.chart+xml"/>
  <Override PartName="/ppt/charts/chart349.xml" ContentType="application/vnd.openxmlformats-officedocument.drawingml.chart+xml"/>
  <Override PartName="/ppt/charts/chart35.xml" ContentType="application/vnd.openxmlformats-officedocument.drawingml.chart+xml"/>
  <Override PartName="/ppt/charts/chart350.xml" ContentType="application/vnd.openxmlformats-officedocument.drawingml.chart+xml"/>
  <Override PartName="/ppt/charts/chart351.xml" ContentType="application/vnd.openxmlformats-officedocument.drawingml.chart+xml"/>
  <Override PartName="/ppt/charts/chart352.xml" ContentType="application/vnd.openxmlformats-officedocument.drawingml.chart+xml"/>
  <Override PartName="/ppt/charts/chart353.xml" ContentType="application/vnd.openxmlformats-officedocument.drawingml.chart+xml"/>
  <Override PartName="/ppt/charts/chart354.xml" ContentType="application/vnd.openxmlformats-officedocument.drawingml.chart+xml"/>
  <Override PartName="/ppt/charts/chart355.xml" ContentType="application/vnd.openxmlformats-officedocument.drawingml.chart+xml"/>
  <Override PartName="/ppt/charts/chart356.xml" ContentType="application/vnd.openxmlformats-officedocument.drawingml.chart+xml"/>
  <Override PartName="/ppt/charts/chart357.xml" ContentType="application/vnd.openxmlformats-officedocument.drawingml.chart+xml"/>
  <Override PartName="/ppt/charts/chart358.xml" ContentType="application/vnd.openxmlformats-officedocument.drawingml.chart+xml"/>
  <Override PartName="/ppt/charts/chart359.xml" ContentType="application/vnd.openxmlformats-officedocument.drawingml.chart+xml"/>
  <Override PartName="/ppt/charts/chart36.xml" ContentType="application/vnd.openxmlformats-officedocument.drawingml.chart+xml"/>
  <Override PartName="/ppt/charts/chart360.xml" ContentType="application/vnd.openxmlformats-officedocument.drawingml.chart+xml"/>
  <Override PartName="/ppt/charts/chart361.xml" ContentType="application/vnd.openxmlformats-officedocument.drawingml.chart+xml"/>
  <Override PartName="/ppt/charts/chart362.xml" ContentType="application/vnd.openxmlformats-officedocument.drawingml.chart+xml"/>
  <Override PartName="/ppt/charts/chart363.xml" ContentType="application/vnd.openxmlformats-officedocument.drawingml.chart+xml"/>
  <Override PartName="/ppt/charts/chart364.xml" ContentType="application/vnd.openxmlformats-officedocument.drawingml.chart+xml"/>
  <Override PartName="/ppt/charts/chart365.xml" ContentType="application/vnd.openxmlformats-officedocument.drawingml.chart+xml"/>
  <Override PartName="/ppt/charts/chart366.xml" ContentType="application/vnd.openxmlformats-officedocument.drawingml.chart+xml"/>
  <Override PartName="/ppt/charts/chart367.xml" ContentType="application/vnd.openxmlformats-officedocument.drawingml.chart+xml"/>
  <Override PartName="/ppt/charts/chart368.xml" ContentType="application/vnd.openxmlformats-officedocument.drawingml.chart+xml"/>
  <Override PartName="/ppt/charts/chart369.xml" ContentType="application/vnd.openxmlformats-officedocument.drawingml.chart+xml"/>
  <Override PartName="/ppt/charts/chart37.xml" ContentType="application/vnd.openxmlformats-officedocument.drawingml.chart+xml"/>
  <Override PartName="/ppt/charts/chart370.xml" ContentType="application/vnd.openxmlformats-officedocument.drawingml.chart+xml"/>
  <Override PartName="/ppt/charts/chart371.xml" ContentType="application/vnd.openxmlformats-officedocument.drawingml.chart+xml"/>
  <Override PartName="/ppt/charts/chart372.xml" ContentType="application/vnd.openxmlformats-officedocument.drawingml.chart+xml"/>
  <Override PartName="/ppt/charts/chart373.xml" ContentType="application/vnd.openxmlformats-officedocument.drawingml.chart+xml"/>
  <Override PartName="/ppt/charts/chart374.xml" ContentType="application/vnd.openxmlformats-officedocument.drawingml.chart+xml"/>
  <Override PartName="/ppt/charts/chart375.xml" ContentType="application/vnd.openxmlformats-officedocument.drawingml.chart+xml"/>
  <Override PartName="/ppt/charts/chart376.xml" ContentType="application/vnd.openxmlformats-officedocument.drawingml.chart+xml"/>
  <Override PartName="/ppt/charts/chart377.xml" ContentType="application/vnd.openxmlformats-officedocument.drawingml.chart+xml"/>
  <Override PartName="/ppt/charts/chart378.xml" ContentType="application/vnd.openxmlformats-officedocument.drawingml.chart+xml"/>
  <Override PartName="/ppt/charts/chart379.xml" ContentType="application/vnd.openxmlformats-officedocument.drawingml.chart+xml"/>
  <Override PartName="/ppt/charts/chart38.xml" ContentType="application/vnd.openxmlformats-officedocument.drawingml.chart+xml"/>
  <Override PartName="/ppt/charts/chart380.xml" ContentType="application/vnd.openxmlformats-officedocument.drawingml.chart+xml"/>
  <Override PartName="/ppt/charts/chart381.xml" ContentType="application/vnd.openxmlformats-officedocument.drawingml.chart+xml"/>
  <Override PartName="/ppt/charts/chart382.xml" ContentType="application/vnd.openxmlformats-officedocument.drawingml.chart+xml"/>
  <Override PartName="/ppt/charts/chart383.xml" ContentType="application/vnd.openxmlformats-officedocument.drawingml.chart+xml"/>
  <Override PartName="/ppt/charts/chart384.xml" ContentType="application/vnd.openxmlformats-officedocument.drawingml.chart+xml"/>
  <Override PartName="/ppt/charts/chart385.xml" ContentType="application/vnd.openxmlformats-officedocument.drawingml.chart+xml"/>
  <Override PartName="/ppt/charts/chart386.xml" ContentType="application/vnd.openxmlformats-officedocument.drawingml.chart+xml"/>
  <Override PartName="/ppt/charts/chart387.xml" ContentType="application/vnd.openxmlformats-officedocument.drawingml.chart+xml"/>
  <Override PartName="/ppt/charts/chart388.xml" ContentType="application/vnd.openxmlformats-officedocument.drawingml.chart+xml"/>
  <Override PartName="/ppt/charts/chart389.xml" ContentType="application/vnd.openxmlformats-officedocument.drawingml.chart+xml"/>
  <Override PartName="/ppt/charts/chart39.xml" ContentType="application/vnd.openxmlformats-officedocument.drawingml.chart+xml"/>
  <Override PartName="/ppt/charts/chart390.xml" ContentType="application/vnd.openxmlformats-officedocument.drawingml.chart+xml"/>
  <Override PartName="/ppt/charts/chart391.xml" ContentType="application/vnd.openxmlformats-officedocument.drawingml.chart+xml"/>
  <Override PartName="/ppt/charts/chart392.xml" ContentType="application/vnd.openxmlformats-officedocument.drawingml.chart+xml"/>
  <Override PartName="/ppt/charts/chart393.xml" ContentType="application/vnd.openxmlformats-officedocument.drawingml.chart+xml"/>
  <Override PartName="/ppt/charts/chart394.xml" ContentType="application/vnd.openxmlformats-officedocument.drawingml.chart+xml"/>
  <Override PartName="/ppt/charts/chart395.xml" ContentType="application/vnd.openxmlformats-officedocument.drawingml.chart+xml"/>
  <Override PartName="/ppt/charts/chart396.xml" ContentType="application/vnd.openxmlformats-officedocument.drawingml.chart+xml"/>
  <Override PartName="/ppt/charts/chart397.xml" ContentType="application/vnd.openxmlformats-officedocument.drawingml.chart+xml"/>
  <Override PartName="/ppt/charts/chart398.xml" ContentType="application/vnd.openxmlformats-officedocument.drawingml.chart+xml"/>
  <Override PartName="/ppt/charts/chart39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00.xml" ContentType="application/vnd.openxmlformats-officedocument.drawingml.chart+xml"/>
  <Override PartName="/ppt/charts/chart401.xml" ContentType="application/vnd.openxmlformats-officedocument.drawingml.chart+xml"/>
  <Override PartName="/ppt/charts/chart402.xml" ContentType="application/vnd.openxmlformats-officedocument.drawingml.chart+xml"/>
  <Override PartName="/ppt/charts/chart403.xml" ContentType="application/vnd.openxmlformats-officedocument.drawingml.chart+xml"/>
  <Override PartName="/ppt/charts/chart404.xml" ContentType="application/vnd.openxmlformats-officedocument.drawingml.chart+xml"/>
  <Override PartName="/ppt/charts/chart405.xml" ContentType="application/vnd.openxmlformats-officedocument.drawingml.chart+xml"/>
  <Override PartName="/ppt/charts/chart406.xml" ContentType="application/vnd.openxmlformats-officedocument.drawingml.chart+xml"/>
  <Override PartName="/ppt/charts/chart407.xml" ContentType="application/vnd.openxmlformats-officedocument.drawingml.chart+xml"/>
  <Override PartName="/ppt/charts/chart408.xml" ContentType="application/vnd.openxmlformats-officedocument.drawingml.chart+xml"/>
  <Override PartName="/ppt/charts/chart409.xml" ContentType="application/vnd.openxmlformats-officedocument.drawingml.chart+xml"/>
  <Override PartName="/ppt/charts/chart41.xml" ContentType="application/vnd.openxmlformats-officedocument.drawingml.chart+xml"/>
  <Override PartName="/ppt/charts/chart410.xml" ContentType="application/vnd.openxmlformats-officedocument.drawingml.chart+xml"/>
  <Override PartName="/ppt/charts/chart411.xml" ContentType="application/vnd.openxmlformats-officedocument.drawingml.chart+xml"/>
  <Override PartName="/ppt/charts/chart412.xml" ContentType="application/vnd.openxmlformats-officedocument.drawingml.chart+xml"/>
  <Override PartName="/ppt/charts/chart413.xml" ContentType="application/vnd.openxmlformats-officedocument.drawingml.chart+xml"/>
  <Override PartName="/ppt/charts/chart414.xml" ContentType="application/vnd.openxmlformats-officedocument.drawingml.chart+xml"/>
  <Override PartName="/ppt/charts/chart415.xml" ContentType="application/vnd.openxmlformats-officedocument.drawingml.chart+xml"/>
  <Override PartName="/ppt/charts/chart416.xml" ContentType="application/vnd.openxmlformats-officedocument.drawingml.chart+xml"/>
  <Override PartName="/ppt/charts/chart417.xml" ContentType="application/vnd.openxmlformats-officedocument.drawingml.chart+xml"/>
  <Override PartName="/ppt/charts/chart418.xml" ContentType="application/vnd.openxmlformats-officedocument.drawingml.chart+xml"/>
  <Override PartName="/ppt/charts/chart419.xml" ContentType="application/vnd.openxmlformats-officedocument.drawingml.chart+xml"/>
  <Override PartName="/ppt/charts/chart42.xml" ContentType="application/vnd.openxmlformats-officedocument.drawingml.chart+xml"/>
  <Override PartName="/ppt/charts/chart420.xml" ContentType="application/vnd.openxmlformats-officedocument.drawingml.chart+xml"/>
  <Override PartName="/ppt/charts/chart421.xml" ContentType="application/vnd.openxmlformats-officedocument.drawingml.chart+xml"/>
  <Override PartName="/ppt/charts/chart422.xml" ContentType="application/vnd.openxmlformats-officedocument.drawingml.chart+xml"/>
  <Override PartName="/ppt/charts/chart423.xml" ContentType="application/vnd.openxmlformats-officedocument.drawingml.chart+xml"/>
  <Override PartName="/ppt/charts/chart424.xml" ContentType="application/vnd.openxmlformats-officedocument.drawingml.chart+xml"/>
  <Override PartName="/ppt/charts/chart425.xml" ContentType="application/vnd.openxmlformats-officedocument.drawingml.chart+xml"/>
  <Override PartName="/ppt/charts/chart426.xml" ContentType="application/vnd.openxmlformats-officedocument.drawingml.chart+xml"/>
  <Override PartName="/ppt/charts/chart427.xml" ContentType="application/vnd.openxmlformats-officedocument.drawingml.chart+xml"/>
  <Override PartName="/ppt/charts/chart428.xml" ContentType="application/vnd.openxmlformats-officedocument.drawingml.chart+xml"/>
  <Override PartName="/ppt/charts/chart429.xml" ContentType="application/vnd.openxmlformats-officedocument.drawingml.chart+xml"/>
  <Override PartName="/ppt/charts/chart43.xml" ContentType="application/vnd.openxmlformats-officedocument.drawingml.chart+xml"/>
  <Override PartName="/ppt/charts/chart430.xml" ContentType="application/vnd.openxmlformats-officedocument.drawingml.chart+xml"/>
  <Override PartName="/ppt/charts/chart431.xml" ContentType="application/vnd.openxmlformats-officedocument.drawingml.chart+xml"/>
  <Override PartName="/ppt/charts/chart432.xml" ContentType="application/vnd.openxmlformats-officedocument.drawingml.chart+xml"/>
  <Override PartName="/ppt/charts/chart433.xml" ContentType="application/vnd.openxmlformats-officedocument.drawingml.chart+xml"/>
  <Override PartName="/ppt/charts/chart434.xml" ContentType="application/vnd.openxmlformats-officedocument.drawingml.chart+xml"/>
  <Override PartName="/ppt/charts/chart435.xml" ContentType="application/vnd.openxmlformats-officedocument.drawingml.chart+xml"/>
  <Override PartName="/ppt/charts/chart436.xml" ContentType="application/vnd.openxmlformats-officedocument.drawingml.chart+xml"/>
  <Override PartName="/ppt/charts/chart437.xml" ContentType="application/vnd.openxmlformats-officedocument.drawingml.chart+xml"/>
  <Override PartName="/ppt/charts/chart438.xml" ContentType="application/vnd.openxmlformats-officedocument.drawingml.chart+xml"/>
  <Override PartName="/ppt/charts/chart439.xml" ContentType="application/vnd.openxmlformats-officedocument.drawingml.chart+xml"/>
  <Override PartName="/ppt/charts/chart44.xml" ContentType="application/vnd.openxmlformats-officedocument.drawingml.chart+xml"/>
  <Override PartName="/ppt/charts/chart440.xml" ContentType="application/vnd.openxmlformats-officedocument.drawingml.chart+xml"/>
  <Override PartName="/ppt/charts/chart441.xml" ContentType="application/vnd.openxmlformats-officedocument.drawingml.chart+xml"/>
  <Override PartName="/ppt/charts/chart442.xml" ContentType="application/vnd.openxmlformats-officedocument.drawingml.chart+xml"/>
  <Override PartName="/ppt/charts/chart443.xml" ContentType="application/vnd.openxmlformats-officedocument.drawingml.chart+xml"/>
  <Override PartName="/ppt/charts/chart444.xml" ContentType="application/vnd.openxmlformats-officedocument.drawingml.chart+xml"/>
  <Override PartName="/ppt/charts/chart445.xml" ContentType="application/vnd.openxmlformats-officedocument.drawingml.chart+xml"/>
  <Override PartName="/ppt/charts/chart446.xml" ContentType="application/vnd.openxmlformats-officedocument.drawingml.chart+xml"/>
  <Override PartName="/ppt/charts/chart447.xml" ContentType="application/vnd.openxmlformats-officedocument.drawingml.chart+xml"/>
  <Override PartName="/ppt/charts/chart448.xml" ContentType="application/vnd.openxmlformats-officedocument.drawingml.chart+xml"/>
  <Override PartName="/ppt/charts/chart449.xml" ContentType="application/vnd.openxmlformats-officedocument.drawingml.chart+xml"/>
  <Override PartName="/ppt/charts/chart45.xml" ContentType="application/vnd.openxmlformats-officedocument.drawingml.chart+xml"/>
  <Override PartName="/ppt/charts/chart450.xml" ContentType="application/vnd.openxmlformats-officedocument.drawingml.chart+xml"/>
  <Override PartName="/ppt/charts/chart451.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58" r:id="rId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59" r:id="rId5"/>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260" r:id="rId6"/>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261" r:id="rId7"/>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262" r:id="rId8"/>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263" r:id="rId9"/>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264" r:id="rId10"/>
    <p:sldId id="413" r:id="rId164"/>
    <p:sldId id="414" r:id="rId165"/>
    <p:sldId id="415" r:id="rId166"/>
    <p:sldId id="416" r:id="rId167"/>
    <p:sldId id="417" r:id="rId168"/>
    <p:sldId id="418" r:id="rId169"/>
    <p:sldId id="419" r:id="rId170"/>
    <p:sldId id="420" r:id="rId171"/>
    <p:sldId id="265" r:id="rId1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20.xml"/><Relationship Id="rId5" Type="http://schemas.openxmlformats.org/officeDocument/2006/relationships/slide" Target="slides/slide35.xml"/><Relationship Id="rId6" Type="http://schemas.openxmlformats.org/officeDocument/2006/relationships/slide" Target="slides/slide50.xml"/><Relationship Id="rId7" Type="http://schemas.openxmlformats.org/officeDocument/2006/relationships/slide" Target="slides/slide95.xml"/><Relationship Id="rId8" Type="http://schemas.openxmlformats.org/officeDocument/2006/relationships/slide" Target="slides/slide121.xml"/><Relationship Id="rId9" Type="http://schemas.openxmlformats.org/officeDocument/2006/relationships/slide" Target="slides/slide135.xml"/><Relationship Id="rId10" Type="http://schemas.openxmlformats.org/officeDocument/2006/relationships/slide" Target="slides/slide155.xml"/><Relationship Id="rId11" Type="http://schemas.openxmlformats.org/officeDocument/2006/relationships/slide" Target="slides/slide164.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1.xml"/><Relationship Id="rId36" Type="http://schemas.openxmlformats.org/officeDocument/2006/relationships/slide" Target="slides/slide22.xml"/><Relationship Id="rId37" Type="http://schemas.openxmlformats.org/officeDocument/2006/relationships/slide" Target="slides/slide23.xml"/><Relationship Id="rId38" Type="http://schemas.openxmlformats.org/officeDocument/2006/relationships/slide" Target="slides/slide24.xml"/><Relationship Id="rId39" Type="http://schemas.openxmlformats.org/officeDocument/2006/relationships/slide" Target="slides/slide25.xml"/><Relationship Id="rId40" Type="http://schemas.openxmlformats.org/officeDocument/2006/relationships/slide" Target="slides/slide26.xml"/><Relationship Id="rId41" Type="http://schemas.openxmlformats.org/officeDocument/2006/relationships/slide" Target="slides/slide27.xml"/><Relationship Id="rId42" Type="http://schemas.openxmlformats.org/officeDocument/2006/relationships/slide" Target="slides/slide28.xml"/><Relationship Id="rId43" Type="http://schemas.openxmlformats.org/officeDocument/2006/relationships/slide" Target="slides/slide29.xml"/><Relationship Id="rId44" Type="http://schemas.openxmlformats.org/officeDocument/2006/relationships/slide" Target="slides/slide30.xml"/><Relationship Id="rId45" Type="http://schemas.openxmlformats.org/officeDocument/2006/relationships/slide" Target="slides/slide31.xml"/><Relationship Id="rId46" Type="http://schemas.openxmlformats.org/officeDocument/2006/relationships/slide" Target="slides/slide32.xml"/><Relationship Id="rId47" Type="http://schemas.openxmlformats.org/officeDocument/2006/relationships/slide" Target="slides/slide33.xml"/><Relationship Id="rId48" Type="http://schemas.openxmlformats.org/officeDocument/2006/relationships/slide" Target="slides/slide34.xml"/><Relationship Id="rId49" Type="http://schemas.openxmlformats.org/officeDocument/2006/relationships/slide" Target="slides/slide36.xml"/><Relationship Id="rId50" Type="http://schemas.openxmlformats.org/officeDocument/2006/relationships/slide" Target="slides/slide37.xml"/><Relationship Id="rId51" Type="http://schemas.openxmlformats.org/officeDocument/2006/relationships/slide" Target="slides/slide38.xml"/><Relationship Id="rId52" Type="http://schemas.openxmlformats.org/officeDocument/2006/relationships/slide" Target="slides/slide39.xml"/><Relationship Id="rId53" Type="http://schemas.openxmlformats.org/officeDocument/2006/relationships/slide" Target="slides/slide40.xml"/><Relationship Id="rId54" Type="http://schemas.openxmlformats.org/officeDocument/2006/relationships/slide" Target="slides/slide41.xml"/><Relationship Id="rId55" Type="http://schemas.openxmlformats.org/officeDocument/2006/relationships/slide" Target="slides/slide42.xml"/><Relationship Id="rId56" Type="http://schemas.openxmlformats.org/officeDocument/2006/relationships/slide" Target="slides/slide43.xml"/><Relationship Id="rId57" Type="http://schemas.openxmlformats.org/officeDocument/2006/relationships/slide" Target="slides/slide44.xml"/><Relationship Id="rId58" Type="http://schemas.openxmlformats.org/officeDocument/2006/relationships/slide" Target="slides/slide45.xml"/><Relationship Id="rId59" Type="http://schemas.openxmlformats.org/officeDocument/2006/relationships/slide" Target="slides/slide46.xml"/><Relationship Id="rId60" Type="http://schemas.openxmlformats.org/officeDocument/2006/relationships/slide" Target="slides/slide47.xml"/><Relationship Id="rId61" Type="http://schemas.openxmlformats.org/officeDocument/2006/relationships/slide" Target="slides/slide48.xml"/><Relationship Id="rId62" Type="http://schemas.openxmlformats.org/officeDocument/2006/relationships/slide" Target="slides/slide49.xml"/><Relationship Id="rId63" Type="http://schemas.openxmlformats.org/officeDocument/2006/relationships/slide" Target="slides/slide51.xml"/><Relationship Id="rId64" Type="http://schemas.openxmlformats.org/officeDocument/2006/relationships/slide" Target="slides/slide52.xml"/><Relationship Id="rId65" Type="http://schemas.openxmlformats.org/officeDocument/2006/relationships/slide" Target="slides/slide53.xml"/><Relationship Id="rId66" Type="http://schemas.openxmlformats.org/officeDocument/2006/relationships/slide" Target="slides/slide54.xml"/><Relationship Id="rId67" Type="http://schemas.openxmlformats.org/officeDocument/2006/relationships/slide" Target="slides/slide55.xml"/><Relationship Id="rId68" Type="http://schemas.openxmlformats.org/officeDocument/2006/relationships/slide" Target="slides/slide56.xml"/><Relationship Id="rId69" Type="http://schemas.openxmlformats.org/officeDocument/2006/relationships/slide" Target="slides/slide57.xml"/><Relationship Id="rId70" Type="http://schemas.openxmlformats.org/officeDocument/2006/relationships/slide" Target="slides/slide58.xml"/><Relationship Id="rId71" Type="http://schemas.openxmlformats.org/officeDocument/2006/relationships/slide" Target="slides/slide59.xml"/><Relationship Id="rId72" Type="http://schemas.openxmlformats.org/officeDocument/2006/relationships/slide" Target="slides/slide60.xml"/><Relationship Id="rId73" Type="http://schemas.openxmlformats.org/officeDocument/2006/relationships/slide" Target="slides/slide61.xml"/><Relationship Id="rId74" Type="http://schemas.openxmlformats.org/officeDocument/2006/relationships/slide" Target="slides/slide62.xml"/><Relationship Id="rId75" Type="http://schemas.openxmlformats.org/officeDocument/2006/relationships/slide" Target="slides/slide63.xml"/><Relationship Id="rId76" Type="http://schemas.openxmlformats.org/officeDocument/2006/relationships/slide" Target="slides/slide64.xml"/><Relationship Id="rId77" Type="http://schemas.openxmlformats.org/officeDocument/2006/relationships/slide" Target="slides/slide65.xml"/><Relationship Id="rId78" Type="http://schemas.openxmlformats.org/officeDocument/2006/relationships/slide" Target="slides/slide66.xml"/><Relationship Id="rId79" Type="http://schemas.openxmlformats.org/officeDocument/2006/relationships/slide" Target="slides/slide67.xml"/><Relationship Id="rId80" Type="http://schemas.openxmlformats.org/officeDocument/2006/relationships/slide" Target="slides/slide68.xml"/><Relationship Id="rId81" Type="http://schemas.openxmlformats.org/officeDocument/2006/relationships/slide" Target="slides/slide69.xml"/><Relationship Id="rId82" Type="http://schemas.openxmlformats.org/officeDocument/2006/relationships/slide" Target="slides/slide70.xml"/><Relationship Id="rId83" Type="http://schemas.openxmlformats.org/officeDocument/2006/relationships/slide" Target="slides/slide71.xml"/><Relationship Id="rId84" Type="http://schemas.openxmlformats.org/officeDocument/2006/relationships/slide" Target="slides/slide72.xml"/><Relationship Id="rId85" Type="http://schemas.openxmlformats.org/officeDocument/2006/relationships/slide" Target="slides/slide73.xml"/><Relationship Id="rId86" Type="http://schemas.openxmlformats.org/officeDocument/2006/relationships/slide" Target="slides/slide74.xml"/><Relationship Id="rId87" Type="http://schemas.openxmlformats.org/officeDocument/2006/relationships/slide" Target="slides/slide75.xml"/><Relationship Id="rId88" Type="http://schemas.openxmlformats.org/officeDocument/2006/relationships/slide" Target="slides/slide76.xml"/><Relationship Id="rId89" Type="http://schemas.openxmlformats.org/officeDocument/2006/relationships/slide" Target="slides/slide77.xml"/><Relationship Id="rId90" Type="http://schemas.openxmlformats.org/officeDocument/2006/relationships/slide" Target="slides/slide78.xml"/><Relationship Id="rId91" Type="http://schemas.openxmlformats.org/officeDocument/2006/relationships/slide" Target="slides/slide79.xml"/><Relationship Id="rId92" Type="http://schemas.openxmlformats.org/officeDocument/2006/relationships/slide" Target="slides/slide80.xml"/><Relationship Id="rId93" Type="http://schemas.openxmlformats.org/officeDocument/2006/relationships/slide" Target="slides/slide81.xml"/><Relationship Id="rId94" Type="http://schemas.openxmlformats.org/officeDocument/2006/relationships/slide" Target="slides/slide82.xml"/><Relationship Id="rId95" Type="http://schemas.openxmlformats.org/officeDocument/2006/relationships/slide" Target="slides/slide83.xml"/><Relationship Id="rId96" Type="http://schemas.openxmlformats.org/officeDocument/2006/relationships/slide" Target="slides/slide84.xml"/><Relationship Id="rId97" Type="http://schemas.openxmlformats.org/officeDocument/2006/relationships/slide" Target="slides/slide85.xml"/><Relationship Id="rId98" Type="http://schemas.openxmlformats.org/officeDocument/2006/relationships/slide" Target="slides/slide86.xml"/><Relationship Id="rId99" Type="http://schemas.openxmlformats.org/officeDocument/2006/relationships/slide" Target="slides/slide87.xml"/><Relationship Id="rId100" Type="http://schemas.openxmlformats.org/officeDocument/2006/relationships/slide" Target="slides/slide88.xml"/><Relationship Id="rId101" Type="http://schemas.openxmlformats.org/officeDocument/2006/relationships/slide" Target="slides/slide89.xml"/><Relationship Id="rId102" Type="http://schemas.openxmlformats.org/officeDocument/2006/relationships/slide" Target="slides/slide90.xml"/><Relationship Id="rId103" Type="http://schemas.openxmlformats.org/officeDocument/2006/relationships/slide" Target="slides/slide91.xml"/><Relationship Id="rId104" Type="http://schemas.openxmlformats.org/officeDocument/2006/relationships/slide" Target="slides/slide92.xml"/><Relationship Id="rId105" Type="http://schemas.openxmlformats.org/officeDocument/2006/relationships/slide" Target="slides/slide93.xml"/><Relationship Id="rId106" Type="http://schemas.openxmlformats.org/officeDocument/2006/relationships/slide" Target="slides/slide94.xml"/><Relationship Id="rId107" Type="http://schemas.openxmlformats.org/officeDocument/2006/relationships/slide" Target="slides/slide96.xml"/><Relationship Id="rId108" Type="http://schemas.openxmlformats.org/officeDocument/2006/relationships/slide" Target="slides/slide97.xml"/><Relationship Id="rId109" Type="http://schemas.openxmlformats.org/officeDocument/2006/relationships/slide" Target="slides/slide98.xml"/><Relationship Id="rId110" Type="http://schemas.openxmlformats.org/officeDocument/2006/relationships/slide" Target="slides/slide99.xml"/><Relationship Id="rId111" Type="http://schemas.openxmlformats.org/officeDocument/2006/relationships/slide" Target="slides/slide100.xml"/><Relationship Id="rId112" Type="http://schemas.openxmlformats.org/officeDocument/2006/relationships/slide" Target="slides/slide101.xml"/><Relationship Id="rId113" Type="http://schemas.openxmlformats.org/officeDocument/2006/relationships/slide" Target="slides/slide102.xml"/><Relationship Id="rId114" Type="http://schemas.openxmlformats.org/officeDocument/2006/relationships/slide" Target="slides/slide103.xml"/><Relationship Id="rId115" Type="http://schemas.openxmlformats.org/officeDocument/2006/relationships/slide" Target="slides/slide104.xml"/><Relationship Id="rId116" Type="http://schemas.openxmlformats.org/officeDocument/2006/relationships/slide" Target="slides/slide105.xml"/><Relationship Id="rId117" Type="http://schemas.openxmlformats.org/officeDocument/2006/relationships/slide" Target="slides/slide106.xml"/><Relationship Id="rId118" Type="http://schemas.openxmlformats.org/officeDocument/2006/relationships/slide" Target="slides/slide107.xml"/><Relationship Id="rId119" Type="http://schemas.openxmlformats.org/officeDocument/2006/relationships/slide" Target="slides/slide108.xml"/><Relationship Id="rId120" Type="http://schemas.openxmlformats.org/officeDocument/2006/relationships/slide" Target="slides/slide109.xml"/><Relationship Id="rId121" Type="http://schemas.openxmlformats.org/officeDocument/2006/relationships/slide" Target="slides/slide110.xml"/><Relationship Id="rId122" Type="http://schemas.openxmlformats.org/officeDocument/2006/relationships/slide" Target="slides/slide111.xml"/><Relationship Id="rId123" Type="http://schemas.openxmlformats.org/officeDocument/2006/relationships/slide" Target="slides/slide112.xml"/><Relationship Id="rId124" Type="http://schemas.openxmlformats.org/officeDocument/2006/relationships/slide" Target="slides/slide113.xml"/><Relationship Id="rId125" Type="http://schemas.openxmlformats.org/officeDocument/2006/relationships/slide" Target="slides/slide114.xml"/><Relationship Id="rId126" Type="http://schemas.openxmlformats.org/officeDocument/2006/relationships/slide" Target="slides/slide115.xml"/><Relationship Id="rId127" Type="http://schemas.openxmlformats.org/officeDocument/2006/relationships/slide" Target="slides/slide116.xml"/><Relationship Id="rId128" Type="http://schemas.openxmlformats.org/officeDocument/2006/relationships/slide" Target="slides/slide117.xml"/><Relationship Id="rId129" Type="http://schemas.openxmlformats.org/officeDocument/2006/relationships/slide" Target="slides/slide118.xml"/><Relationship Id="rId130" Type="http://schemas.openxmlformats.org/officeDocument/2006/relationships/slide" Target="slides/slide119.xml"/><Relationship Id="rId131" Type="http://schemas.openxmlformats.org/officeDocument/2006/relationships/slide" Target="slides/slide120.xml"/><Relationship Id="rId132" Type="http://schemas.openxmlformats.org/officeDocument/2006/relationships/slide" Target="slides/slide122.xml"/><Relationship Id="rId133" Type="http://schemas.openxmlformats.org/officeDocument/2006/relationships/slide" Target="slides/slide123.xml"/><Relationship Id="rId134" Type="http://schemas.openxmlformats.org/officeDocument/2006/relationships/slide" Target="slides/slide124.xml"/><Relationship Id="rId135" Type="http://schemas.openxmlformats.org/officeDocument/2006/relationships/slide" Target="slides/slide125.xml"/><Relationship Id="rId136" Type="http://schemas.openxmlformats.org/officeDocument/2006/relationships/slide" Target="slides/slide126.xml"/><Relationship Id="rId137" Type="http://schemas.openxmlformats.org/officeDocument/2006/relationships/slide" Target="slides/slide127.xml"/><Relationship Id="rId138" Type="http://schemas.openxmlformats.org/officeDocument/2006/relationships/slide" Target="slides/slide128.xml"/><Relationship Id="rId139" Type="http://schemas.openxmlformats.org/officeDocument/2006/relationships/slide" Target="slides/slide129.xml"/><Relationship Id="rId140" Type="http://schemas.openxmlformats.org/officeDocument/2006/relationships/slide" Target="slides/slide130.xml"/><Relationship Id="rId141" Type="http://schemas.openxmlformats.org/officeDocument/2006/relationships/slide" Target="slides/slide131.xml"/><Relationship Id="rId142" Type="http://schemas.openxmlformats.org/officeDocument/2006/relationships/slide" Target="slides/slide132.xml"/><Relationship Id="rId143" Type="http://schemas.openxmlformats.org/officeDocument/2006/relationships/slide" Target="slides/slide133.xml"/><Relationship Id="rId144" Type="http://schemas.openxmlformats.org/officeDocument/2006/relationships/slide" Target="slides/slide134.xml"/><Relationship Id="rId145" Type="http://schemas.openxmlformats.org/officeDocument/2006/relationships/slide" Target="slides/slide136.xml"/><Relationship Id="rId146" Type="http://schemas.openxmlformats.org/officeDocument/2006/relationships/slide" Target="slides/slide137.xml"/><Relationship Id="rId147" Type="http://schemas.openxmlformats.org/officeDocument/2006/relationships/slide" Target="slides/slide138.xml"/><Relationship Id="rId148" Type="http://schemas.openxmlformats.org/officeDocument/2006/relationships/slide" Target="slides/slide139.xml"/><Relationship Id="rId149" Type="http://schemas.openxmlformats.org/officeDocument/2006/relationships/slide" Target="slides/slide140.xml"/><Relationship Id="rId150" Type="http://schemas.openxmlformats.org/officeDocument/2006/relationships/slide" Target="slides/slide141.xml"/><Relationship Id="rId151" Type="http://schemas.openxmlformats.org/officeDocument/2006/relationships/slide" Target="slides/slide142.xml"/><Relationship Id="rId152" Type="http://schemas.openxmlformats.org/officeDocument/2006/relationships/slide" Target="slides/slide143.xml"/><Relationship Id="rId153" Type="http://schemas.openxmlformats.org/officeDocument/2006/relationships/slide" Target="slides/slide144.xml"/><Relationship Id="rId154" Type="http://schemas.openxmlformats.org/officeDocument/2006/relationships/slide" Target="slides/slide145.xml"/><Relationship Id="rId155" Type="http://schemas.openxmlformats.org/officeDocument/2006/relationships/slide" Target="slides/slide146.xml"/><Relationship Id="rId156" Type="http://schemas.openxmlformats.org/officeDocument/2006/relationships/slide" Target="slides/slide147.xml"/><Relationship Id="rId157" Type="http://schemas.openxmlformats.org/officeDocument/2006/relationships/slide" Target="slides/slide148.xml"/><Relationship Id="rId158" Type="http://schemas.openxmlformats.org/officeDocument/2006/relationships/slide" Target="slides/slide149.xml"/><Relationship Id="rId159" Type="http://schemas.openxmlformats.org/officeDocument/2006/relationships/slide" Target="slides/slide150.xml"/><Relationship Id="rId160" Type="http://schemas.openxmlformats.org/officeDocument/2006/relationships/slide" Target="slides/slide151.xml"/><Relationship Id="rId161" Type="http://schemas.openxmlformats.org/officeDocument/2006/relationships/slide" Target="slides/slide152.xml"/><Relationship Id="rId162" Type="http://schemas.openxmlformats.org/officeDocument/2006/relationships/slide" Target="slides/slide153.xml"/><Relationship Id="rId163" Type="http://schemas.openxmlformats.org/officeDocument/2006/relationships/slide" Target="slides/slide154.xml"/><Relationship Id="rId164" Type="http://schemas.openxmlformats.org/officeDocument/2006/relationships/slide" Target="slides/slide156.xml"/><Relationship Id="rId165" Type="http://schemas.openxmlformats.org/officeDocument/2006/relationships/slide" Target="slides/slide157.xml"/><Relationship Id="rId166" Type="http://schemas.openxmlformats.org/officeDocument/2006/relationships/slide" Target="slides/slide158.xml"/><Relationship Id="rId167" Type="http://schemas.openxmlformats.org/officeDocument/2006/relationships/slide" Target="slides/slide159.xml"/><Relationship Id="rId168" Type="http://schemas.openxmlformats.org/officeDocument/2006/relationships/slide" Target="slides/slide160.xml"/><Relationship Id="rId169" Type="http://schemas.openxmlformats.org/officeDocument/2006/relationships/slide" Target="slides/slide161.xml"/><Relationship Id="rId170" Type="http://schemas.openxmlformats.org/officeDocument/2006/relationships/slide" Target="slides/slide162.xml"/><Relationship Id="rId171" Type="http://schemas.openxmlformats.org/officeDocument/2006/relationships/slide" Target="slides/slide163.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_rels/chart264.xml.rels><?xml version='1.0' encoding='UTF-8' standalone='yes'?>
<Relationships xmlns="http://schemas.openxmlformats.org/package/2006/relationships"><Relationship Id="rId1" Type="http://schemas.openxmlformats.org/officeDocument/2006/relationships/package" Target="../embeddings/Microsoft_Excel_Worksheet264.xlsx"/></Relationships>
</file>

<file path=ppt/charts/_rels/chart265.xml.rels><?xml version='1.0' encoding='UTF-8' standalone='yes'?>
<Relationships xmlns="http://schemas.openxmlformats.org/package/2006/relationships"><Relationship Id="rId1" Type="http://schemas.openxmlformats.org/officeDocument/2006/relationships/package" Target="../embeddings/Microsoft_Excel_Worksheet265.xlsx"/></Relationships>
</file>

<file path=ppt/charts/_rels/chart266.xml.rels><?xml version='1.0' encoding='UTF-8' standalone='yes'?>
<Relationships xmlns="http://schemas.openxmlformats.org/package/2006/relationships"><Relationship Id="rId1" Type="http://schemas.openxmlformats.org/officeDocument/2006/relationships/package" Target="../embeddings/Microsoft_Excel_Worksheet266.xlsx"/></Relationships>
</file>

<file path=ppt/charts/_rels/chart267.xml.rels><?xml version='1.0' encoding='UTF-8' standalone='yes'?>
<Relationships xmlns="http://schemas.openxmlformats.org/package/2006/relationships"><Relationship Id="rId1" Type="http://schemas.openxmlformats.org/officeDocument/2006/relationships/package" Target="../embeddings/Microsoft_Excel_Worksheet267.xlsx"/></Relationships>
</file>

<file path=ppt/charts/_rels/chart268.xml.rels><?xml version='1.0' encoding='UTF-8' standalone='yes'?>
<Relationships xmlns="http://schemas.openxmlformats.org/package/2006/relationships"><Relationship Id="rId1" Type="http://schemas.openxmlformats.org/officeDocument/2006/relationships/package" Target="../embeddings/Microsoft_Excel_Worksheet268.xlsx"/></Relationships>
</file>

<file path=ppt/charts/_rels/chart269.xml.rels><?xml version='1.0' encoding='UTF-8' standalone='yes'?>
<Relationships xmlns="http://schemas.openxmlformats.org/package/2006/relationships"><Relationship Id="rId1" Type="http://schemas.openxmlformats.org/officeDocument/2006/relationships/package" Target="../embeddings/Microsoft_Excel_Worksheet269.xlsx"/></Relationships>
</file>

<file path=ppt/charts/_rels/chart270.xml.rels><?xml version='1.0' encoding='UTF-8' standalone='yes'?>
<Relationships xmlns="http://schemas.openxmlformats.org/package/2006/relationships"><Relationship Id="rId1" Type="http://schemas.openxmlformats.org/officeDocument/2006/relationships/package" Target="../embeddings/Microsoft_Excel_Worksheet270.xlsx"/></Relationships>
</file>

<file path=ppt/charts/_rels/chart271.xml.rels><?xml version='1.0' encoding='UTF-8' standalone='yes'?>
<Relationships xmlns="http://schemas.openxmlformats.org/package/2006/relationships"><Relationship Id="rId1" Type="http://schemas.openxmlformats.org/officeDocument/2006/relationships/package" Target="../embeddings/Microsoft_Excel_Worksheet271.xlsx"/></Relationships>
</file>

<file path=ppt/charts/_rels/chart272.xml.rels><?xml version='1.0' encoding='UTF-8' standalone='yes'?>
<Relationships xmlns="http://schemas.openxmlformats.org/package/2006/relationships"><Relationship Id="rId1" Type="http://schemas.openxmlformats.org/officeDocument/2006/relationships/package" Target="../embeddings/Microsoft_Excel_Worksheet272.xlsx"/></Relationships>
</file>

<file path=ppt/charts/_rels/chart273.xml.rels><?xml version='1.0' encoding='UTF-8' standalone='yes'?>
<Relationships xmlns="http://schemas.openxmlformats.org/package/2006/relationships"><Relationship Id="rId1" Type="http://schemas.openxmlformats.org/officeDocument/2006/relationships/package" Target="../embeddings/Microsoft_Excel_Worksheet273.xlsx"/></Relationships>
</file>

<file path=ppt/charts/_rels/chart274.xml.rels><?xml version='1.0' encoding='UTF-8' standalone='yes'?>
<Relationships xmlns="http://schemas.openxmlformats.org/package/2006/relationships"><Relationship Id="rId1" Type="http://schemas.openxmlformats.org/officeDocument/2006/relationships/package" Target="../embeddings/Microsoft_Excel_Worksheet274.xlsx"/></Relationships>
</file>

<file path=ppt/charts/_rels/chart275.xml.rels><?xml version='1.0' encoding='UTF-8' standalone='yes'?>
<Relationships xmlns="http://schemas.openxmlformats.org/package/2006/relationships"><Relationship Id="rId1" Type="http://schemas.openxmlformats.org/officeDocument/2006/relationships/package" Target="../embeddings/Microsoft_Excel_Worksheet275.xlsx"/></Relationships>
</file>

<file path=ppt/charts/_rels/chart276.xml.rels><?xml version='1.0' encoding='UTF-8' standalone='yes'?>
<Relationships xmlns="http://schemas.openxmlformats.org/package/2006/relationships"><Relationship Id="rId1" Type="http://schemas.openxmlformats.org/officeDocument/2006/relationships/package" Target="../embeddings/Microsoft_Excel_Worksheet276.xlsx"/></Relationships>
</file>

<file path=ppt/charts/_rels/chart277.xml.rels><?xml version='1.0' encoding='UTF-8' standalone='yes'?>
<Relationships xmlns="http://schemas.openxmlformats.org/package/2006/relationships"><Relationship Id="rId1" Type="http://schemas.openxmlformats.org/officeDocument/2006/relationships/package" Target="../embeddings/Microsoft_Excel_Worksheet277.xlsx"/></Relationships>
</file>

<file path=ppt/charts/_rels/chart278.xml.rels><?xml version='1.0' encoding='UTF-8' standalone='yes'?>
<Relationships xmlns="http://schemas.openxmlformats.org/package/2006/relationships"><Relationship Id="rId1" Type="http://schemas.openxmlformats.org/officeDocument/2006/relationships/package" Target="../embeddings/Microsoft_Excel_Worksheet278.xlsx"/></Relationships>
</file>

<file path=ppt/charts/_rels/chart279.xml.rels><?xml version='1.0' encoding='UTF-8' standalone='yes'?>
<Relationships xmlns="http://schemas.openxmlformats.org/package/2006/relationships"><Relationship Id="rId1" Type="http://schemas.openxmlformats.org/officeDocument/2006/relationships/package" Target="../embeddings/Microsoft_Excel_Worksheet279.xlsx"/></Relationships>
</file>

<file path=ppt/charts/_rels/chart280.xml.rels><?xml version='1.0' encoding='UTF-8' standalone='yes'?>
<Relationships xmlns="http://schemas.openxmlformats.org/package/2006/relationships"><Relationship Id="rId1" Type="http://schemas.openxmlformats.org/officeDocument/2006/relationships/package" Target="../embeddings/Microsoft_Excel_Worksheet280.xlsx"/></Relationships>
</file>

<file path=ppt/charts/_rels/chart281.xml.rels><?xml version='1.0' encoding='UTF-8' standalone='yes'?>
<Relationships xmlns="http://schemas.openxmlformats.org/package/2006/relationships"><Relationship Id="rId1" Type="http://schemas.openxmlformats.org/officeDocument/2006/relationships/package" Target="../embeddings/Microsoft_Excel_Worksheet281.xlsx"/></Relationships>
</file>

<file path=ppt/charts/_rels/chart282.xml.rels><?xml version='1.0' encoding='UTF-8' standalone='yes'?>
<Relationships xmlns="http://schemas.openxmlformats.org/package/2006/relationships"><Relationship Id="rId1" Type="http://schemas.openxmlformats.org/officeDocument/2006/relationships/package" Target="../embeddings/Microsoft_Excel_Worksheet282.xlsx"/></Relationships>
</file>

<file path=ppt/charts/_rels/chart283.xml.rels><?xml version='1.0' encoding='UTF-8' standalone='yes'?>
<Relationships xmlns="http://schemas.openxmlformats.org/package/2006/relationships"><Relationship Id="rId1" Type="http://schemas.openxmlformats.org/officeDocument/2006/relationships/package" Target="../embeddings/Microsoft_Excel_Worksheet283.xlsx"/></Relationships>
</file>

<file path=ppt/charts/_rels/chart284.xml.rels><?xml version='1.0' encoding='UTF-8' standalone='yes'?>
<Relationships xmlns="http://schemas.openxmlformats.org/package/2006/relationships"><Relationship Id="rId1" Type="http://schemas.openxmlformats.org/officeDocument/2006/relationships/package" Target="../embeddings/Microsoft_Excel_Worksheet284.xlsx"/></Relationships>
</file>

<file path=ppt/charts/_rels/chart285.xml.rels><?xml version='1.0' encoding='UTF-8' standalone='yes'?>
<Relationships xmlns="http://schemas.openxmlformats.org/package/2006/relationships"><Relationship Id="rId1" Type="http://schemas.openxmlformats.org/officeDocument/2006/relationships/package" Target="../embeddings/Microsoft_Excel_Worksheet285.xlsx"/></Relationships>
</file>

<file path=ppt/charts/_rels/chart286.xml.rels><?xml version='1.0' encoding='UTF-8' standalone='yes'?>
<Relationships xmlns="http://schemas.openxmlformats.org/package/2006/relationships"><Relationship Id="rId1" Type="http://schemas.openxmlformats.org/officeDocument/2006/relationships/package" Target="../embeddings/Microsoft_Excel_Worksheet286.xlsx"/></Relationships>
</file>

<file path=ppt/charts/_rels/chart287.xml.rels><?xml version='1.0' encoding='UTF-8' standalone='yes'?>
<Relationships xmlns="http://schemas.openxmlformats.org/package/2006/relationships"><Relationship Id="rId1" Type="http://schemas.openxmlformats.org/officeDocument/2006/relationships/package" Target="../embeddings/Microsoft_Excel_Worksheet287.xlsx"/></Relationships>
</file>

<file path=ppt/charts/_rels/chart288.xml.rels><?xml version='1.0' encoding='UTF-8' standalone='yes'?>
<Relationships xmlns="http://schemas.openxmlformats.org/package/2006/relationships"><Relationship Id="rId1" Type="http://schemas.openxmlformats.org/officeDocument/2006/relationships/package" Target="../embeddings/Microsoft_Excel_Worksheet288.xlsx"/></Relationships>
</file>

<file path=ppt/charts/_rels/chart289.xml.rels><?xml version='1.0' encoding='UTF-8' standalone='yes'?>
<Relationships xmlns="http://schemas.openxmlformats.org/package/2006/relationships"><Relationship Id="rId1" Type="http://schemas.openxmlformats.org/officeDocument/2006/relationships/package" Target="../embeddings/Microsoft_Excel_Worksheet289.xlsx"/></Relationships>
</file>

<file path=ppt/charts/_rels/chart290.xml.rels><?xml version='1.0' encoding='UTF-8' standalone='yes'?>
<Relationships xmlns="http://schemas.openxmlformats.org/package/2006/relationships"><Relationship Id="rId1" Type="http://schemas.openxmlformats.org/officeDocument/2006/relationships/package" Target="../embeddings/Microsoft_Excel_Worksheet290.xlsx"/></Relationships>
</file>

<file path=ppt/charts/_rels/chart291.xml.rels><?xml version='1.0' encoding='UTF-8' standalone='yes'?>
<Relationships xmlns="http://schemas.openxmlformats.org/package/2006/relationships"><Relationship Id="rId1" Type="http://schemas.openxmlformats.org/officeDocument/2006/relationships/package" Target="../embeddings/Microsoft_Excel_Worksheet291.xlsx"/></Relationships>
</file>

<file path=ppt/charts/_rels/chart292.xml.rels><?xml version='1.0' encoding='UTF-8' standalone='yes'?>
<Relationships xmlns="http://schemas.openxmlformats.org/package/2006/relationships"><Relationship Id="rId1" Type="http://schemas.openxmlformats.org/officeDocument/2006/relationships/package" Target="../embeddings/Microsoft_Excel_Worksheet292.xlsx"/></Relationships>
</file>

<file path=ppt/charts/_rels/chart293.xml.rels><?xml version='1.0' encoding='UTF-8' standalone='yes'?>
<Relationships xmlns="http://schemas.openxmlformats.org/package/2006/relationships"><Relationship Id="rId1" Type="http://schemas.openxmlformats.org/officeDocument/2006/relationships/package" Target="../embeddings/Microsoft_Excel_Worksheet293.xlsx"/></Relationships>
</file>

<file path=ppt/charts/_rels/chart294.xml.rels><?xml version='1.0' encoding='UTF-8' standalone='yes'?>
<Relationships xmlns="http://schemas.openxmlformats.org/package/2006/relationships"><Relationship Id="rId1" Type="http://schemas.openxmlformats.org/officeDocument/2006/relationships/package" Target="../embeddings/Microsoft_Excel_Worksheet294.xlsx"/></Relationships>
</file>

<file path=ppt/charts/_rels/chart295.xml.rels><?xml version='1.0' encoding='UTF-8' standalone='yes'?>
<Relationships xmlns="http://schemas.openxmlformats.org/package/2006/relationships"><Relationship Id="rId1" Type="http://schemas.openxmlformats.org/officeDocument/2006/relationships/package" Target="../embeddings/Microsoft_Excel_Worksheet295.xlsx"/></Relationships>
</file>

<file path=ppt/charts/_rels/chart296.xml.rels><?xml version='1.0' encoding='UTF-8' standalone='yes'?>
<Relationships xmlns="http://schemas.openxmlformats.org/package/2006/relationships"><Relationship Id="rId1" Type="http://schemas.openxmlformats.org/officeDocument/2006/relationships/package" Target="../embeddings/Microsoft_Excel_Worksheet296.xlsx"/></Relationships>
</file>

<file path=ppt/charts/_rels/chart297.xml.rels><?xml version='1.0' encoding='UTF-8' standalone='yes'?>
<Relationships xmlns="http://schemas.openxmlformats.org/package/2006/relationships"><Relationship Id="rId1" Type="http://schemas.openxmlformats.org/officeDocument/2006/relationships/package" Target="../embeddings/Microsoft_Excel_Worksheet297.xlsx"/></Relationships>
</file>

<file path=ppt/charts/_rels/chart298.xml.rels><?xml version='1.0' encoding='UTF-8' standalone='yes'?>
<Relationships xmlns="http://schemas.openxmlformats.org/package/2006/relationships"><Relationship Id="rId1" Type="http://schemas.openxmlformats.org/officeDocument/2006/relationships/package" Target="../embeddings/Microsoft_Excel_Worksheet298.xlsx"/></Relationships>
</file>

<file path=ppt/charts/_rels/chart299.xml.rels><?xml version='1.0' encoding='UTF-8' standalone='yes'?>
<Relationships xmlns="http://schemas.openxmlformats.org/package/2006/relationships"><Relationship Id="rId1" Type="http://schemas.openxmlformats.org/officeDocument/2006/relationships/package" Target="../embeddings/Microsoft_Excel_Worksheet299.xlsx"/></Relationships>
</file>

<file path=ppt/charts/_rels/chart300.xml.rels><?xml version='1.0' encoding='UTF-8' standalone='yes'?>
<Relationships xmlns="http://schemas.openxmlformats.org/package/2006/relationships"><Relationship Id="rId1" Type="http://schemas.openxmlformats.org/officeDocument/2006/relationships/package" Target="../embeddings/Microsoft_Excel_Worksheet300.xlsx"/></Relationships>
</file>

<file path=ppt/charts/_rels/chart301.xml.rels><?xml version='1.0' encoding='UTF-8' standalone='yes'?>
<Relationships xmlns="http://schemas.openxmlformats.org/package/2006/relationships"><Relationship Id="rId1" Type="http://schemas.openxmlformats.org/officeDocument/2006/relationships/package" Target="../embeddings/Microsoft_Excel_Worksheet301.xlsx"/></Relationships>
</file>

<file path=ppt/charts/_rels/chart302.xml.rels><?xml version='1.0' encoding='UTF-8' standalone='yes'?>
<Relationships xmlns="http://schemas.openxmlformats.org/package/2006/relationships"><Relationship Id="rId1" Type="http://schemas.openxmlformats.org/officeDocument/2006/relationships/package" Target="../embeddings/Microsoft_Excel_Worksheet302.xlsx"/></Relationships>
</file>

<file path=ppt/charts/_rels/chart303.xml.rels><?xml version='1.0' encoding='UTF-8' standalone='yes'?>
<Relationships xmlns="http://schemas.openxmlformats.org/package/2006/relationships"><Relationship Id="rId1" Type="http://schemas.openxmlformats.org/officeDocument/2006/relationships/package" Target="../embeddings/Microsoft_Excel_Worksheet303.xlsx"/></Relationships>
</file>

<file path=ppt/charts/_rels/chart304.xml.rels><?xml version='1.0' encoding='UTF-8' standalone='yes'?>
<Relationships xmlns="http://schemas.openxmlformats.org/package/2006/relationships"><Relationship Id="rId1" Type="http://schemas.openxmlformats.org/officeDocument/2006/relationships/package" Target="../embeddings/Microsoft_Excel_Worksheet304.xlsx"/></Relationships>
</file>

<file path=ppt/charts/_rels/chart305.xml.rels><?xml version='1.0' encoding='UTF-8' standalone='yes'?>
<Relationships xmlns="http://schemas.openxmlformats.org/package/2006/relationships"><Relationship Id="rId1" Type="http://schemas.openxmlformats.org/officeDocument/2006/relationships/package" Target="../embeddings/Microsoft_Excel_Worksheet305.xlsx"/></Relationships>
</file>

<file path=ppt/charts/_rels/chart306.xml.rels><?xml version='1.0' encoding='UTF-8' standalone='yes'?>
<Relationships xmlns="http://schemas.openxmlformats.org/package/2006/relationships"><Relationship Id="rId1" Type="http://schemas.openxmlformats.org/officeDocument/2006/relationships/package" Target="../embeddings/Microsoft_Excel_Worksheet306.xlsx"/></Relationships>
</file>

<file path=ppt/charts/_rels/chart307.xml.rels><?xml version='1.0' encoding='UTF-8' standalone='yes'?>
<Relationships xmlns="http://schemas.openxmlformats.org/package/2006/relationships"><Relationship Id="rId1" Type="http://schemas.openxmlformats.org/officeDocument/2006/relationships/package" Target="../embeddings/Microsoft_Excel_Worksheet307.xlsx"/></Relationships>
</file>

<file path=ppt/charts/_rels/chart308.xml.rels><?xml version='1.0' encoding='UTF-8' standalone='yes'?>
<Relationships xmlns="http://schemas.openxmlformats.org/package/2006/relationships"><Relationship Id="rId1" Type="http://schemas.openxmlformats.org/officeDocument/2006/relationships/package" Target="../embeddings/Microsoft_Excel_Worksheet308.xlsx"/></Relationships>
</file>

<file path=ppt/charts/_rels/chart309.xml.rels><?xml version='1.0' encoding='UTF-8' standalone='yes'?>
<Relationships xmlns="http://schemas.openxmlformats.org/package/2006/relationships"><Relationship Id="rId1" Type="http://schemas.openxmlformats.org/officeDocument/2006/relationships/package" Target="../embeddings/Microsoft_Excel_Worksheet309.xlsx"/></Relationships>
</file>

<file path=ppt/charts/_rels/chart310.xml.rels><?xml version='1.0' encoding='UTF-8' standalone='yes'?>
<Relationships xmlns="http://schemas.openxmlformats.org/package/2006/relationships"><Relationship Id="rId1" Type="http://schemas.openxmlformats.org/officeDocument/2006/relationships/package" Target="../embeddings/Microsoft_Excel_Worksheet310.xlsx"/></Relationships>
</file>

<file path=ppt/charts/_rels/chart311.xml.rels><?xml version='1.0' encoding='UTF-8' standalone='yes'?>
<Relationships xmlns="http://schemas.openxmlformats.org/package/2006/relationships"><Relationship Id="rId1" Type="http://schemas.openxmlformats.org/officeDocument/2006/relationships/package" Target="../embeddings/Microsoft_Excel_Worksheet311.xlsx"/></Relationships>
</file>

<file path=ppt/charts/_rels/chart312.xml.rels><?xml version='1.0' encoding='UTF-8' standalone='yes'?>
<Relationships xmlns="http://schemas.openxmlformats.org/package/2006/relationships"><Relationship Id="rId1" Type="http://schemas.openxmlformats.org/officeDocument/2006/relationships/package" Target="../embeddings/Microsoft_Excel_Worksheet312.xlsx"/></Relationships>
</file>

<file path=ppt/charts/_rels/chart313.xml.rels><?xml version='1.0' encoding='UTF-8' standalone='yes'?>
<Relationships xmlns="http://schemas.openxmlformats.org/package/2006/relationships"><Relationship Id="rId1" Type="http://schemas.openxmlformats.org/officeDocument/2006/relationships/package" Target="../embeddings/Microsoft_Excel_Worksheet313.xlsx"/></Relationships>
</file>

<file path=ppt/charts/_rels/chart314.xml.rels><?xml version='1.0' encoding='UTF-8' standalone='yes'?>
<Relationships xmlns="http://schemas.openxmlformats.org/package/2006/relationships"><Relationship Id="rId1" Type="http://schemas.openxmlformats.org/officeDocument/2006/relationships/package" Target="../embeddings/Microsoft_Excel_Worksheet314.xlsx"/></Relationships>
</file>

<file path=ppt/charts/_rels/chart315.xml.rels><?xml version='1.0' encoding='UTF-8' standalone='yes'?>
<Relationships xmlns="http://schemas.openxmlformats.org/package/2006/relationships"><Relationship Id="rId1" Type="http://schemas.openxmlformats.org/officeDocument/2006/relationships/package" Target="../embeddings/Microsoft_Excel_Worksheet315.xlsx"/></Relationships>
</file>

<file path=ppt/charts/_rels/chart316.xml.rels><?xml version='1.0' encoding='UTF-8' standalone='yes'?>
<Relationships xmlns="http://schemas.openxmlformats.org/package/2006/relationships"><Relationship Id="rId1" Type="http://schemas.openxmlformats.org/officeDocument/2006/relationships/package" Target="../embeddings/Microsoft_Excel_Worksheet316.xlsx"/></Relationships>
</file>

<file path=ppt/charts/_rels/chart317.xml.rels><?xml version='1.0' encoding='UTF-8' standalone='yes'?>
<Relationships xmlns="http://schemas.openxmlformats.org/package/2006/relationships"><Relationship Id="rId1" Type="http://schemas.openxmlformats.org/officeDocument/2006/relationships/package" Target="../embeddings/Microsoft_Excel_Worksheet317.xlsx"/></Relationships>
</file>

<file path=ppt/charts/_rels/chart318.xml.rels><?xml version='1.0' encoding='UTF-8' standalone='yes'?>
<Relationships xmlns="http://schemas.openxmlformats.org/package/2006/relationships"><Relationship Id="rId1" Type="http://schemas.openxmlformats.org/officeDocument/2006/relationships/package" Target="../embeddings/Microsoft_Excel_Worksheet318.xlsx"/></Relationships>
</file>

<file path=ppt/charts/_rels/chart319.xml.rels><?xml version='1.0' encoding='UTF-8' standalone='yes'?>
<Relationships xmlns="http://schemas.openxmlformats.org/package/2006/relationships"><Relationship Id="rId1" Type="http://schemas.openxmlformats.org/officeDocument/2006/relationships/package" Target="../embeddings/Microsoft_Excel_Worksheet319.xlsx"/></Relationships>
</file>

<file path=ppt/charts/_rels/chart320.xml.rels><?xml version='1.0' encoding='UTF-8' standalone='yes'?>
<Relationships xmlns="http://schemas.openxmlformats.org/package/2006/relationships"><Relationship Id="rId1" Type="http://schemas.openxmlformats.org/officeDocument/2006/relationships/package" Target="../embeddings/Microsoft_Excel_Worksheet320.xlsx"/></Relationships>
</file>

<file path=ppt/charts/_rels/chart321.xml.rels><?xml version='1.0' encoding='UTF-8' standalone='yes'?>
<Relationships xmlns="http://schemas.openxmlformats.org/package/2006/relationships"><Relationship Id="rId1" Type="http://schemas.openxmlformats.org/officeDocument/2006/relationships/package" Target="../embeddings/Microsoft_Excel_Worksheet321.xlsx"/></Relationships>
</file>

<file path=ppt/charts/_rels/chart322.xml.rels><?xml version='1.0' encoding='UTF-8' standalone='yes'?>
<Relationships xmlns="http://schemas.openxmlformats.org/package/2006/relationships"><Relationship Id="rId1" Type="http://schemas.openxmlformats.org/officeDocument/2006/relationships/package" Target="../embeddings/Microsoft_Excel_Worksheet322.xlsx"/></Relationships>
</file>

<file path=ppt/charts/_rels/chart323.xml.rels><?xml version='1.0' encoding='UTF-8' standalone='yes'?>
<Relationships xmlns="http://schemas.openxmlformats.org/package/2006/relationships"><Relationship Id="rId1" Type="http://schemas.openxmlformats.org/officeDocument/2006/relationships/package" Target="../embeddings/Microsoft_Excel_Worksheet323.xlsx"/></Relationships>
</file>

<file path=ppt/charts/_rels/chart324.xml.rels><?xml version='1.0' encoding='UTF-8' standalone='yes'?>
<Relationships xmlns="http://schemas.openxmlformats.org/package/2006/relationships"><Relationship Id="rId1" Type="http://schemas.openxmlformats.org/officeDocument/2006/relationships/package" Target="../embeddings/Microsoft_Excel_Worksheet324.xlsx"/></Relationships>
</file>

<file path=ppt/charts/_rels/chart325.xml.rels><?xml version='1.0' encoding='UTF-8' standalone='yes'?>
<Relationships xmlns="http://schemas.openxmlformats.org/package/2006/relationships"><Relationship Id="rId1" Type="http://schemas.openxmlformats.org/officeDocument/2006/relationships/package" Target="../embeddings/Microsoft_Excel_Worksheet325.xlsx"/></Relationships>
</file>

<file path=ppt/charts/_rels/chart326.xml.rels><?xml version='1.0' encoding='UTF-8' standalone='yes'?>
<Relationships xmlns="http://schemas.openxmlformats.org/package/2006/relationships"><Relationship Id="rId1" Type="http://schemas.openxmlformats.org/officeDocument/2006/relationships/package" Target="../embeddings/Microsoft_Excel_Worksheet326.xlsx"/></Relationships>
</file>

<file path=ppt/charts/_rels/chart327.xml.rels><?xml version='1.0' encoding='UTF-8' standalone='yes'?>
<Relationships xmlns="http://schemas.openxmlformats.org/package/2006/relationships"><Relationship Id="rId1" Type="http://schemas.openxmlformats.org/officeDocument/2006/relationships/package" Target="../embeddings/Microsoft_Excel_Worksheet327.xlsx"/></Relationships>
</file>

<file path=ppt/charts/_rels/chart328.xml.rels><?xml version='1.0' encoding='UTF-8' standalone='yes'?>
<Relationships xmlns="http://schemas.openxmlformats.org/package/2006/relationships"><Relationship Id="rId1" Type="http://schemas.openxmlformats.org/officeDocument/2006/relationships/package" Target="../embeddings/Microsoft_Excel_Worksheet328.xlsx"/></Relationships>
</file>

<file path=ppt/charts/_rels/chart329.xml.rels><?xml version='1.0' encoding='UTF-8' standalone='yes'?>
<Relationships xmlns="http://schemas.openxmlformats.org/package/2006/relationships"><Relationship Id="rId1" Type="http://schemas.openxmlformats.org/officeDocument/2006/relationships/package" Target="../embeddings/Microsoft_Excel_Worksheet329.xlsx"/></Relationships>
</file>

<file path=ppt/charts/_rels/chart330.xml.rels><?xml version='1.0' encoding='UTF-8' standalone='yes'?>
<Relationships xmlns="http://schemas.openxmlformats.org/package/2006/relationships"><Relationship Id="rId1" Type="http://schemas.openxmlformats.org/officeDocument/2006/relationships/package" Target="../embeddings/Microsoft_Excel_Worksheet330.xlsx"/></Relationships>
</file>

<file path=ppt/charts/_rels/chart331.xml.rels><?xml version='1.0' encoding='UTF-8' standalone='yes'?>
<Relationships xmlns="http://schemas.openxmlformats.org/package/2006/relationships"><Relationship Id="rId1" Type="http://schemas.openxmlformats.org/officeDocument/2006/relationships/package" Target="../embeddings/Microsoft_Excel_Worksheet331.xlsx"/></Relationships>
</file>

<file path=ppt/charts/_rels/chart332.xml.rels><?xml version='1.0' encoding='UTF-8' standalone='yes'?>
<Relationships xmlns="http://schemas.openxmlformats.org/package/2006/relationships"><Relationship Id="rId1" Type="http://schemas.openxmlformats.org/officeDocument/2006/relationships/package" Target="../embeddings/Microsoft_Excel_Worksheet332.xlsx"/></Relationships>
</file>

<file path=ppt/charts/_rels/chart333.xml.rels><?xml version='1.0' encoding='UTF-8' standalone='yes'?>
<Relationships xmlns="http://schemas.openxmlformats.org/package/2006/relationships"><Relationship Id="rId1" Type="http://schemas.openxmlformats.org/officeDocument/2006/relationships/package" Target="../embeddings/Microsoft_Excel_Worksheet333.xlsx"/></Relationships>
</file>

<file path=ppt/charts/_rels/chart334.xml.rels><?xml version='1.0' encoding='UTF-8' standalone='yes'?>
<Relationships xmlns="http://schemas.openxmlformats.org/package/2006/relationships"><Relationship Id="rId1" Type="http://schemas.openxmlformats.org/officeDocument/2006/relationships/package" Target="../embeddings/Microsoft_Excel_Worksheet334.xlsx"/></Relationships>
</file>

<file path=ppt/charts/_rels/chart335.xml.rels><?xml version='1.0' encoding='UTF-8' standalone='yes'?>
<Relationships xmlns="http://schemas.openxmlformats.org/package/2006/relationships"><Relationship Id="rId1" Type="http://schemas.openxmlformats.org/officeDocument/2006/relationships/package" Target="../embeddings/Microsoft_Excel_Worksheet335.xlsx"/></Relationships>
</file>

<file path=ppt/charts/_rels/chart336.xml.rels><?xml version='1.0' encoding='UTF-8' standalone='yes'?>
<Relationships xmlns="http://schemas.openxmlformats.org/package/2006/relationships"><Relationship Id="rId1" Type="http://schemas.openxmlformats.org/officeDocument/2006/relationships/package" Target="../embeddings/Microsoft_Excel_Worksheet336.xlsx"/></Relationships>
</file>

<file path=ppt/charts/_rels/chart337.xml.rels><?xml version='1.0' encoding='UTF-8' standalone='yes'?>
<Relationships xmlns="http://schemas.openxmlformats.org/package/2006/relationships"><Relationship Id="rId1" Type="http://schemas.openxmlformats.org/officeDocument/2006/relationships/package" Target="../embeddings/Microsoft_Excel_Worksheet337.xlsx"/></Relationships>
</file>

<file path=ppt/charts/_rels/chart338.xml.rels><?xml version='1.0' encoding='UTF-8' standalone='yes'?>
<Relationships xmlns="http://schemas.openxmlformats.org/package/2006/relationships"><Relationship Id="rId1" Type="http://schemas.openxmlformats.org/officeDocument/2006/relationships/package" Target="../embeddings/Microsoft_Excel_Worksheet338.xlsx"/></Relationships>
</file>

<file path=ppt/charts/_rels/chart339.xml.rels><?xml version='1.0' encoding='UTF-8' standalone='yes'?>
<Relationships xmlns="http://schemas.openxmlformats.org/package/2006/relationships"><Relationship Id="rId1" Type="http://schemas.openxmlformats.org/officeDocument/2006/relationships/package" Target="../embeddings/Microsoft_Excel_Worksheet339.xlsx"/></Relationships>
</file>

<file path=ppt/charts/_rels/chart340.xml.rels><?xml version='1.0' encoding='UTF-8' standalone='yes'?>
<Relationships xmlns="http://schemas.openxmlformats.org/package/2006/relationships"><Relationship Id="rId1" Type="http://schemas.openxmlformats.org/officeDocument/2006/relationships/package" Target="../embeddings/Microsoft_Excel_Worksheet340.xlsx"/></Relationships>
</file>

<file path=ppt/charts/_rels/chart341.xml.rels><?xml version='1.0' encoding='UTF-8' standalone='yes'?>
<Relationships xmlns="http://schemas.openxmlformats.org/package/2006/relationships"><Relationship Id="rId1" Type="http://schemas.openxmlformats.org/officeDocument/2006/relationships/package" Target="../embeddings/Microsoft_Excel_Worksheet341.xlsx"/></Relationships>
</file>

<file path=ppt/charts/_rels/chart342.xml.rels><?xml version='1.0' encoding='UTF-8' standalone='yes'?>
<Relationships xmlns="http://schemas.openxmlformats.org/package/2006/relationships"><Relationship Id="rId1" Type="http://schemas.openxmlformats.org/officeDocument/2006/relationships/package" Target="../embeddings/Microsoft_Excel_Worksheet342.xlsx"/></Relationships>
</file>

<file path=ppt/charts/_rels/chart343.xml.rels><?xml version='1.0' encoding='UTF-8' standalone='yes'?>
<Relationships xmlns="http://schemas.openxmlformats.org/package/2006/relationships"><Relationship Id="rId1" Type="http://schemas.openxmlformats.org/officeDocument/2006/relationships/package" Target="../embeddings/Microsoft_Excel_Worksheet343.xlsx"/></Relationships>
</file>

<file path=ppt/charts/_rels/chart344.xml.rels><?xml version='1.0' encoding='UTF-8' standalone='yes'?>
<Relationships xmlns="http://schemas.openxmlformats.org/package/2006/relationships"><Relationship Id="rId1" Type="http://schemas.openxmlformats.org/officeDocument/2006/relationships/package" Target="../embeddings/Microsoft_Excel_Worksheet344.xlsx"/></Relationships>
</file>

<file path=ppt/charts/_rels/chart345.xml.rels><?xml version='1.0' encoding='UTF-8' standalone='yes'?>
<Relationships xmlns="http://schemas.openxmlformats.org/package/2006/relationships"><Relationship Id="rId1" Type="http://schemas.openxmlformats.org/officeDocument/2006/relationships/package" Target="../embeddings/Microsoft_Excel_Worksheet345.xlsx"/></Relationships>
</file>

<file path=ppt/charts/_rels/chart346.xml.rels><?xml version='1.0' encoding='UTF-8' standalone='yes'?>
<Relationships xmlns="http://schemas.openxmlformats.org/package/2006/relationships"><Relationship Id="rId1" Type="http://schemas.openxmlformats.org/officeDocument/2006/relationships/package" Target="../embeddings/Microsoft_Excel_Worksheet346.xlsx"/></Relationships>
</file>

<file path=ppt/charts/_rels/chart347.xml.rels><?xml version='1.0' encoding='UTF-8' standalone='yes'?>
<Relationships xmlns="http://schemas.openxmlformats.org/package/2006/relationships"><Relationship Id="rId1" Type="http://schemas.openxmlformats.org/officeDocument/2006/relationships/package" Target="../embeddings/Microsoft_Excel_Worksheet347.xlsx"/></Relationships>
</file>

<file path=ppt/charts/_rels/chart348.xml.rels><?xml version='1.0' encoding='UTF-8' standalone='yes'?>
<Relationships xmlns="http://schemas.openxmlformats.org/package/2006/relationships"><Relationship Id="rId1" Type="http://schemas.openxmlformats.org/officeDocument/2006/relationships/package" Target="../embeddings/Microsoft_Excel_Worksheet348.xlsx"/></Relationships>
</file>

<file path=ppt/charts/_rels/chart349.xml.rels><?xml version='1.0' encoding='UTF-8' standalone='yes'?>
<Relationships xmlns="http://schemas.openxmlformats.org/package/2006/relationships"><Relationship Id="rId1" Type="http://schemas.openxmlformats.org/officeDocument/2006/relationships/package" Target="../embeddings/Microsoft_Excel_Worksheet349.xlsx"/></Relationships>
</file>

<file path=ppt/charts/_rels/chart350.xml.rels><?xml version='1.0' encoding='UTF-8' standalone='yes'?>
<Relationships xmlns="http://schemas.openxmlformats.org/package/2006/relationships"><Relationship Id="rId1" Type="http://schemas.openxmlformats.org/officeDocument/2006/relationships/package" Target="../embeddings/Microsoft_Excel_Worksheet350.xlsx"/></Relationships>
</file>

<file path=ppt/charts/_rels/chart351.xml.rels><?xml version='1.0' encoding='UTF-8' standalone='yes'?>
<Relationships xmlns="http://schemas.openxmlformats.org/package/2006/relationships"><Relationship Id="rId1" Type="http://schemas.openxmlformats.org/officeDocument/2006/relationships/package" Target="../embeddings/Microsoft_Excel_Worksheet351.xlsx"/></Relationships>
</file>

<file path=ppt/charts/_rels/chart352.xml.rels><?xml version='1.0' encoding='UTF-8' standalone='yes'?>
<Relationships xmlns="http://schemas.openxmlformats.org/package/2006/relationships"><Relationship Id="rId1" Type="http://schemas.openxmlformats.org/officeDocument/2006/relationships/package" Target="../embeddings/Microsoft_Excel_Worksheet352.xlsx"/></Relationships>
</file>

<file path=ppt/charts/_rels/chart353.xml.rels><?xml version='1.0' encoding='UTF-8' standalone='yes'?>
<Relationships xmlns="http://schemas.openxmlformats.org/package/2006/relationships"><Relationship Id="rId1" Type="http://schemas.openxmlformats.org/officeDocument/2006/relationships/package" Target="../embeddings/Microsoft_Excel_Worksheet353.xlsx"/></Relationships>
</file>

<file path=ppt/charts/_rels/chart354.xml.rels><?xml version='1.0' encoding='UTF-8' standalone='yes'?>
<Relationships xmlns="http://schemas.openxmlformats.org/package/2006/relationships"><Relationship Id="rId1" Type="http://schemas.openxmlformats.org/officeDocument/2006/relationships/package" Target="../embeddings/Microsoft_Excel_Worksheet354.xlsx"/></Relationships>
</file>

<file path=ppt/charts/_rels/chart355.xml.rels><?xml version='1.0' encoding='UTF-8' standalone='yes'?>
<Relationships xmlns="http://schemas.openxmlformats.org/package/2006/relationships"><Relationship Id="rId1" Type="http://schemas.openxmlformats.org/officeDocument/2006/relationships/package" Target="../embeddings/Microsoft_Excel_Worksheet355.xlsx"/></Relationships>
</file>

<file path=ppt/charts/_rels/chart356.xml.rels><?xml version='1.0' encoding='UTF-8' standalone='yes'?>
<Relationships xmlns="http://schemas.openxmlformats.org/package/2006/relationships"><Relationship Id="rId1" Type="http://schemas.openxmlformats.org/officeDocument/2006/relationships/package" Target="../embeddings/Microsoft_Excel_Worksheet356.xlsx"/></Relationships>
</file>

<file path=ppt/charts/_rels/chart357.xml.rels><?xml version='1.0' encoding='UTF-8' standalone='yes'?>
<Relationships xmlns="http://schemas.openxmlformats.org/package/2006/relationships"><Relationship Id="rId1" Type="http://schemas.openxmlformats.org/officeDocument/2006/relationships/package" Target="../embeddings/Microsoft_Excel_Worksheet357.xlsx"/></Relationships>
</file>

<file path=ppt/charts/_rels/chart358.xml.rels><?xml version='1.0' encoding='UTF-8' standalone='yes'?>
<Relationships xmlns="http://schemas.openxmlformats.org/package/2006/relationships"><Relationship Id="rId1" Type="http://schemas.openxmlformats.org/officeDocument/2006/relationships/package" Target="../embeddings/Microsoft_Excel_Worksheet358.xlsx"/></Relationships>
</file>

<file path=ppt/charts/_rels/chart359.xml.rels><?xml version='1.0' encoding='UTF-8' standalone='yes'?>
<Relationships xmlns="http://schemas.openxmlformats.org/package/2006/relationships"><Relationship Id="rId1" Type="http://schemas.openxmlformats.org/officeDocument/2006/relationships/package" Target="../embeddings/Microsoft_Excel_Worksheet359.xlsx"/></Relationships>
</file>

<file path=ppt/charts/_rels/chart360.xml.rels><?xml version='1.0' encoding='UTF-8' standalone='yes'?>
<Relationships xmlns="http://schemas.openxmlformats.org/package/2006/relationships"><Relationship Id="rId1" Type="http://schemas.openxmlformats.org/officeDocument/2006/relationships/package" Target="../embeddings/Microsoft_Excel_Worksheet360.xlsx"/></Relationships>
</file>

<file path=ppt/charts/_rels/chart361.xml.rels><?xml version='1.0' encoding='UTF-8' standalone='yes'?>
<Relationships xmlns="http://schemas.openxmlformats.org/package/2006/relationships"><Relationship Id="rId1" Type="http://schemas.openxmlformats.org/officeDocument/2006/relationships/package" Target="../embeddings/Microsoft_Excel_Worksheet361.xlsx"/></Relationships>
</file>

<file path=ppt/charts/_rels/chart362.xml.rels><?xml version='1.0' encoding='UTF-8' standalone='yes'?>
<Relationships xmlns="http://schemas.openxmlformats.org/package/2006/relationships"><Relationship Id="rId1" Type="http://schemas.openxmlformats.org/officeDocument/2006/relationships/package" Target="../embeddings/Microsoft_Excel_Worksheet362.xlsx"/></Relationships>
</file>

<file path=ppt/charts/_rels/chart363.xml.rels><?xml version='1.0' encoding='UTF-8' standalone='yes'?>
<Relationships xmlns="http://schemas.openxmlformats.org/package/2006/relationships"><Relationship Id="rId1" Type="http://schemas.openxmlformats.org/officeDocument/2006/relationships/package" Target="../embeddings/Microsoft_Excel_Worksheet363.xlsx"/></Relationships>
</file>

<file path=ppt/charts/_rels/chart364.xml.rels><?xml version='1.0' encoding='UTF-8' standalone='yes'?>
<Relationships xmlns="http://schemas.openxmlformats.org/package/2006/relationships"><Relationship Id="rId1" Type="http://schemas.openxmlformats.org/officeDocument/2006/relationships/package" Target="../embeddings/Microsoft_Excel_Worksheet364.xlsx"/></Relationships>
</file>

<file path=ppt/charts/_rels/chart365.xml.rels><?xml version='1.0' encoding='UTF-8' standalone='yes'?>
<Relationships xmlns="http://schemas.openxmlformats.org/package/2006/relationships"><Relationship Id="rId1" Type="http://schemas.openxmlformats.org/officeDocument/2006/relationships/package" Target="../embeddings/Microsoft_Excel_Worksheet365.xlsx"/></Relationships>
</file>

<file path=ppt/charts/_rels/chart366.xml.rels><?xml version='1.0' encoding='UTF-8' standalone='yes'?>
<Relationships xmlns="http://schemas.openxmlformats.org/package/2006/relationships"><Relationship Id="rId1" Type="http://schemas.openxmlformats.org/officeDocument/2006/relationships/package" Target="../embeddings/Microsoft_Excel_Worksheet366.xlsx"/></Relationships>
</file>

<file path=ppt/charts/_rels/chart367.xml.rels><?xml version='1.0' encoding='UTF-8' standalone='yes'?>
<Relationships xmlns="http://schemas.openxmlformats.org/package/2006/relationships"><Relationship Id="rId1" Type="http://schemas.openxmlformats.org/officeDocument/2006/relationships/package" Target="../embeddings/Microsoft_Excel_Worksheet367.xlsx"/></Relationships>
</file>

<file path=ppt/charts/_rels/chart368.xml.rels><?xml version='1.0' encoding='UTF-8' standalone='yes'?>
<Relationships xmlns="http://schemas.openxmlformats.org/package/2006/relationships"><Relationship Id="rId1" Type="http://schemas.openxmlformats.org/officeDocument/2006/relationships/package" Target="../embeddings/Microsoft_Excel_Worksheet368.xlsx"/></Relationships>
</file>

<file path=ppt/charts/_rels/chart369.xml.rels><?xml version='1.0' encoding='UTF-8' standalone='yes'?>
<Relationships xmlns="http://schemas.openxmlformats.org/package/2006/relationships"><Relationship Id="rId1" Type="http://schemas.openxmlformats.org/officeDocument/2006/relationships/package" Target="../embeddings/Microsoft_Excel_Worksheet369.xlsx"/></Relationships>
</file>

<file path=ppt/charts/_rels/chart370.xml.rels><?xml version='1.0' encoding='UTF-8' standalone='yes'?>
<Relationships xmlns="http://schemas.openxmlformats.org/package/2006/relationships"><Relationship Id="rId1" Type="http://schemas.openxmlformats.org/officeDocument/2006/relationships/package" Target="../embeddings/Microsoft_Excel_Worksheet370.xlsx"/></Relationships>
</file>

<file path=ppt/charts/_rels/chart371.xml.rels><?xml version='1.0' encoding='UTF-8' standalone='yes'?>
<Relationships xmlns="http://schemas.openxmlformats.org/package/2006/relationships"><Relationship Id="rId1" Type="http://schemas.openxmlformats.org/officeDocument/2006/relationships/package" Target="../embeddings/Microsoft_Excel_Worksheet371.xlsx"/></Relationships>
</file>

<file path=ppt/charts/_rels/chart372.xml.rels><?xml version='1.0' encoding='UTF-8' standalone='yes'?>
<Relationships xmlns="http://schemas.openxmlformats.org/package/2006/relationships"><Relationship Id="rId1" Type="http://schemas.openxmlformats.org/officeDocument/2006/relationships/package" Target="../embeddings/Microsoft_Excel_Worksheet372.xlsx"/></Relationships>
</file>

<file path=ppt/charts/_rels/chart373.xml.rels><?xml version='1.0' encoding='UTF-8' standalone='yes'?>
<Relationships xmlns="http://schemas.openxmlformats.org/package/2006/relationships"><Relationship Id="rId1" Type="http://schemas.openxmlformats.org/officeDocument/2006/relationships/package" Target="../embeddings/Microsoft_Excel_Worksheet373.xlsx"/></Relationships>
</file>

<file path=ppt/charts/_rels/chart374.xml.rels><?xml version='1.0' encoding='UTF-8' standalone='yes'?>
<Relationships xmlns="http://schemas.openxmlformats.org/package/2006/relationships"><Relationship Id="rId1" Type="http://schemas.openxmlformats.org/officeDocument/2006/relationships/package" Target="../embeddings/Microsoft_Excel_Worksheet374.xlsx"/></Relationships>
</file>

<file path=ppt/charts/_rels/chart375.xml.rels><?xml version='1.0' encoding='UTF-8' standalone='yes'?>
<Relationships xmlns="http://schemas.openxmlformats.org/package/2006/relationships"><Relationship Id="rId1" Type="http://schemas.openxmlformats.org/officeDocument/2006/relationships/package" Target="../embeddings/Microsoft_Excel_Worksheet375.xlsx"/></Relationships>
</file>

<file path=ppt/charts/_rels/chart376.xml.rels><?xml version='1.0' encoding='UTF-8' standalone='yes'?>
<Relationships xmlns="http://schemas.openxmlformats.org/package/2006/relationships"><Relationship Id="rId1" Type="http://schemas.openxmlformats.org/officeDocument/2006/relationships/package" Target="../embeddings/Microsoft_Excel_Worksheet376.xlsx"/></Relationships>
</file>

<file path=ppt/charts/_rels/chart377.xml.rels><?xml version='1.0' encoding='UTF-8' standalone='yes'?>
<Relationships xmlns="http://schemas.openxmlformats.org/package/2006/relationships"><Relationship Id="rId1" Type="http://schemas.openxmlformats.org/officeDocument/2006/relationships/package" Target="../embeddings/Microsoft_Excel_Worksheet377.xlsx"/></Relationships>
</file>

<file path=ppt/charts/_rels/chart378.xml.rels><?xml version='1.0' encoding='UTF-8' standalone='yes'?>
<Relationships xmlns="http://schemas.openxmlformats.org/package/2006/relationships"><Relationship Id="rId1" Type="http://schemas.openxmlformats.org/officeDocument/2006/relationships/package" Target="../embeddings/Microsoft_Excel_Worksheet378.xlsx"/></Relationships>
</file>

<file path=ppt/charts/_rels/chart379.xml.rels><?xml version='1.0' encoding='UTF-8' standalone='yes'?>
<Relationships xmlns="http://schemas.openxmlformats.org/package/2006/relationships"><Relationship Id="rId1" Type="http://schemas.openxmlformats.org/officeDocument/2006/relationships/package" Target="../embeddings/Microsoft_Excel_Worksheet379.xlsx"/></Relationships>
</file>

<file path=ppt/charts/_rels/chart380.xml.rels><?xml version='1.0' encoding='UTF-8' standalone='yes'?>
<Relationships xmlns="http://schemas.openxmlformats.org/package/2006/relationships"><Relationship Id="rId1" Type="http://schemas.openxmlformats.org/officeDocument/2006/relationships/package" Target="../embeddings/Microsoft_Excel_Worksheet380.xlsx"/></Relationships>
</file>

<file path=ppt/charts/_rels/chart381.xml.rels><?xml version='1.0' encoding='UTF-8' standalone='yes'?>
<Relationships xmlns="http://schemas.openxmlformats.org/package/2006/relationships"><Relationship Id="rId1" Type="http://schemas.openxmlformats.org/officeDocument/2006/relationships/package" Target="../embeddings/Microsoft_Excel_Worksheet381.xlsx"/></Relationships>
</file>

<file path=ppt/charts/_rels/chart382.xml.rels><?xml version='1.0' encoding='UTF-8' standalone='yes'?>
<Relationships xmlns="http://schemas.openxmlformats.org/package/2006/relationships"><Relationship Id="rId1" Type="http://schemas.openxmlformats.org/officeDocument/2006/relationships/package" Target="../embeddings/Microsoft_Excel_Worksheet382.xlsx"/></Relationships>
</file>

<file path=ppt/charts/_rels/chart383.xml.rels><?xml version='1.0' encoding='UTF-8' standalone='yes'?>
<Relationships xmlns="http://schemas.openxmlformats.org/package/2006/relationships"><Relationship Id="rId1" Type="http://schemas.openxmlformats.org/officeDocument/2006/relationships/package" Target="../embeddings/Microsoft_Excel_Worksheet383.xlsx"/></Relationships>
</file>

<file path=ppt/charts/_rels/chart384.xml.rels><?xml version='1.0' encoding='UTF-8' standalone='yes'?>
<Relationships xmlns="http://schemas.openxmlformats.org/package/2006/relationships"><Relationship Id="rId1" Type="http://schemas.openxmlformats.org/officeDocument/2006/relationships/package" Target="../embeddings/Microsoft_Excel_Worksheet384.xlsx"/></Relationships>
</file>

<file path=ppt/charts/_rels/chart385.xml.rels><?xml version='1.0' encoding='UTF-8' standalone='yes'?>
<Relationships xmlns="http://schemas.openxmlformats.org/package/2006/relationships"><Relationship Id="rId1" Type="http://schemas.openxmlformats.org/officeDocument/2006/relationships/package" Target="../embeddings/Microsoft_Excel_Worksheet385.xlsx"/></Relationships>
</file>

<file path=ppt/charts/_rels/chart386.xml.rels><?xml version='1.0' encoding='UTF-8' standalone='yes'?>
<Relationships xmlns="http://schemas.openxmlformats.org/package/2006/relationships"><Relationship Id="rId1" Type="http://schemas.openxmlformats.org/officeDocument/2006/relationships/package" Target="../embeddings/Microsoft_Excel_Worksheet386.xlsx"/></Relationships>
</file>

<file path=ppt/charts/_rels/chart387.xml.rels><?xml version='1.0' encoding='UTF-8' standalone='yes'?>
<Relationships xmlns="http://schemas.openxmlformats.org/package/2006/relationships"><Relationship Id="rId1" Type="http://schemas.openxmlformats.org/officeDocument/2006/relationships/package" Target="../embeddings/Microsoft_Excel_Worksheet387.xlsx"/></Relationships>
</file>

<file path=ppt/charts/_rels/chart388.xml.rels><?xml version='1.0' encoding='UTF-8' standalone='yes'?>
<Relationships xmlns="http://schemas.openxmlformats.org/package/2006/relationships"><Relationship Id="rId1" Type="http://schemas.openxmlformats.org/officeDocument/2006/relationships/package" Target="../embeddings/Microsoft_Excel_Worksheet388.xlsx"/></Relationships>
</file>

<file path=ppt/charts/_rels/chart389.xml.rels><?xml version='1.0' encoding='UTF-8' standalone='yes'?>
<Relationships xmlns="http://schemas.openxmlformats.org/package/2006/relationships"><Relationship Id="rId1" Type="http://schemas.openxmlformats.org/officeDocument/2006/relationships/package" Target="../embeddings/Microsoft_Excel_Worksheet389.xlsx"/></Relationships>
</file>

<file path=ppt/charts/_rels/chart390.xml.rels><?xml version='1.0' encoding='UTF-8' standalone='yes'?>
<Relationships xmlns="http://schemas.openxmlformats.org/package/2006/relationships"><Relationship Id="rId1" Type="http://schemas.openxmlformats.org/officeDocument/2006/relationships/package" Target="../embeddings/Microsoft_Excel_Worksheet390.xlsx"/></Relationships>
</file>

<file path=ppt/charts/_rels/chart391.xml.rels><?xml version='1.0' encoding='UTF-8' standalone='yes'?>
<Relationships xmlns="http://schemas.openxmlformats.org/package/2006/relationships"><Relationship Id="rId1" Type="http://schemas.openxmlformats.org/officeDocument/2006/relationships/package" Target="../embeddings/Microsoft_Excel_Worksheet391.xlsx"/></Relationships>
</file>

<file path=ppt/charts/_rels/chart392.xml.rels><?xml version='1.0' encoding='UTF-8' standalone='yes'?>
<Relationships xmlns="http://schemas.openxmlformats.org/package/2006/relationships"><Relationship Id="rId1" Type="http://schemas.openxmlformats.org/officeDocument/2006/relationships/package" Target="../embeddings/Microsoft_Excel_Worksheet392.xlsx"/></Relationships>
</file>

<file path=ppt/charts/_rels/chart393.xml.rels><?xml version='1.0' encoding='UTF-8' standalone='yes'?>
<Relationships xmlns="http://schemas.openxmlformats.org/package/2006/relationships"><Relationship Id="rId1" Type="http://schemas.openxmlformats.org/officeDocument/2006/relationships/package" Target="../embeddings/Microsoft_Excel_Worksheet393.xlsx"/></Relationships>
</file>

<file path=ppt/charts/_rels/chart394.xml.rels><?xml version='1.0' encoding='UTF-8' standalone='yes'?>
<Relationships xmlns="http://schemas.openxmlformats.org/package/2006/relationships"><Relationship Id="rId1" Type="http://schemas.openxmlformats.org/officeDocument/2006/relationships/package" Target="../embeddings/Microsoft_Excel_Worksheet394.xlsx"/></Relationships>
</file>

<file path=ppt/charts/_rels/chart395.xml.rels><?xml version='1.0' encoding='UTF-8' standalone='yes'?>
<Relationships xmlns="http://schemas.openxmlformats.org/package/2006/relationships"><Relationship Id="rId1" Type="http://schemas.openxmlformats.org/officeDocument/2006/relationships/package" Target="../embeddings/Microsoft_Excel_Worksheet395.xlsx"/></Relationships>
</file>

<file path=ppt/charts/_rels/chart396.xml.rels><?xml version='1.0' encoding='UTF-8' standalone='yes'?>
<Relationships xmlns="http://schemas.openxmlformats.org/package/2006/relationships"><Relationship Id="rId1" Type="http://schemas.openxmlformats.org/officeDocument/2006/relationships/package" Target="../embeddings/Microsoft_Excel_Worksheet396.xlsx"/></Relationships>
</file>

<file path=ppt/charts/_rels/chart397.xml.rels><?xml version='1.0' encoding='UTF-8' standalone='yes'?>
<Relationships xmlns="http://schemas.openxmlformats.org/package/2006/relationships"><Relationship Id="rId1" Type="http://schemas.openxmlformats.org/officeDocument/2006/relationships/package" Target="../embeddings/Microsoft_Excel_Worksheet397.xlsx"/></Relationships>
</file>

<file path=ppt/charts/_rels/chart398.xml.rels><?xml version='1.0' encoding='UTF-8' standalone='yes'?>
<Relationships xmlns="http://schemas.openxmlformats.org/package/2006/relationships"><Relationship Id="rId1" Type="http://schemas.openxmlformats.org/officeDocument/2006/relationships/package" Target="../embeddings/Microsoft_Excel_Worksheet398.xlsx"/></Relationships>
</file>

<file path=ppt/charts/_rels/chart399.xml.rels><?xml version='1.0' encoding='UTF-8' standalone='yes'?>
<Relationships xmlns="http://schemas.openxmlformats.org/package/2006/relationships"><Relationship Id="rId1" Type="http://schemas.openxmlformats.org/officeDocument/2006/relationships/package" Target="../embeddings/Microsoft_Excel_Worksheet399.xlsx"/></Relationships>
</file>

<file path=ppt/charts/_rels/chart400.xml.rels><?xml version='1.0' encoding='UTF-8' standalone='yes'?>
<Relationships xmlns="http://schemas.openxmlformats.org/package/2006/relationships"><Relationship Id="rId1" Type="http://schemas.openxmlformats.org/officeDocument/2006/relationships/package" Target="../embeddings/Microsoft_Excel_Worksheet400.xlsx"/></Relationships>
</file>

<file path=ppt/charts/_rels/chart401.xml.rels><?xml version='1.0' encoding='UTF-8' standalone='yes'?>
<Relationships xmlns="http://schemas.openxmlformats.org/package/2006/relationships"><Relationship Id="rId1" Type="http://schemas.openxmlformats.org/officeDocument/2006/relationships/package" Target="../embeddings/Microsoft_Excel_Worksheet401.xlsx"/></Relationships>
</file>

<file path=ppt/charts/_rels/chart402.xml.rels><?xml version='1.0' encoding='UTF-8' standalone='yes'?>
<Relationships xmlns="http://schemas.openxmlformats.org/package/2006/relationships"><Relationship Id="rId1" Type="http://schemas.openxmlformats.org/officeDocument/2006/relationships/package" Target="../embeddings/Microsoft_Excel_Worksheet402.xlsx"/></Relationships>
</file>

<file path=ppt/charts/_rels/chart403.xml.rels><?xml version='1.0' encoding='UTF-8' standalone='yes'?>
<Relationships xmlns="http://schemas.openxmlformats.org/package/2006/relationships"><Relationship Id="rId1" Type="http://schemas.openxmlformats.org/officeDocument/2006/relationships/package" Target="../embeddings/Microsoft_Excel_Worksheet403.xlsx"/></Relationships>
</file>

<file path=ppt/charts/_rels/chart404.xml.rels><?xml version='1.0' encoding='UTF-8' standalone='yes'?>
<Relationships xmlns="http://schemas.openxmlformats.org/package/2006/relationships"><Relationship Id="rId1" Type="http://schemas.openxmlformats.org/officeDocument/2006/relationships/package" Target="../embeddings/Microsoft_Excel_Worksheet404.xlsx"/></Relationships>
</file>

<file path=ppt/charts/_rels/chart405.xml.rels><?xml version='1.0' encoding='UTF-8' standalone='yes'?>
<Relationships xmlns="http://schemas.openxmlformats.org/package/2006/relationships"><Relationship Id="rId1" Type="http://schemas.openxmlformats.org/officeDocument/2006/relationships/package" Target="../embeddings/Microsoft_Excel_Worksheet405.xlsx"/></Relationships>
</file>

<file path=ppt/charts/_rels/chart406.xml.rels><?xml version='1.0' encoding='UTF-8' standalone='yes'?>
<Relationships xmlns="http://schemas.openxmlformats.org/package/2006/relationships"><Relationship Id="rId1" Type="http://schemas.openxmlformats.org/officeDocument/2006/relationships/package" Target="../embeddings/Microsoft_Excel_Worksheet406.xlsx"/></Relationships>
</file>

<file path=ppt/charts/_rels/chart407.xml.rels><?xml version='1.0' encoding='UTF-8' standalone='yes'?>
<Relationships xmlns="http://schemas.openxmlformats.org/package/2006/relationships"><Relationship Id="rId1" Type="http://schemas.openxmlformats.org/officeDocument/2006/relationships/package" Target="../embeddings/Microsoft_Excel_Worksheet407.xlsx"/></Relationships>
</file>

<file path=ppt/charts/_rels/chart408.xml.rels><?xml version='1.0' encoding='UTF-8' standalone='yes'?>
<Relationships xmlns="http://schemas.openxmlformats.org/package/2006/relationships"><Relationship Id="rId1" Type="http://schemas.openxmlformats.org/officeDocument/2006/relationships/package" Target="../embeddings/Microsoft_Excel_Worksheet408.xlsx"/></Relationships>
</file>

<file path=ppt/charts/_rels/chart409.xml.rels><?xml version='1.0' encoding='UTF-8' standalone='yes'?>
<Relationships xmlns="http://schemas.openxmlformats.org/package/2006/relationships"><Relationship Id="rId1" Type="http://schemas.openxmlformats.org/officeDocument/2006/relationships/package" Target="../embeddings/Microsoft_Excel_Worksheet409.xlsx"/></Relationships>
</file>

<file path=ppt/charts/_rels/chart410.xml.rels><?xml version='1.0' encoding='UTF-8' standalone='yes'?>
<Relationships xmlns="http://schemas.openxmlformats.org/package/2006/relationships"><Relationship Id="rId1" Type="http://schemas.openxmlformats.org/officeDocument/2006/relationships/package" Target="../embeddings/Microsoft_Excel_Worksheet410.xlsx"/></Relationships>
</file>

<file path=ppt/charts/_rels/chart411.xml.rels><?xml version='1.0' encoding='UTF-8' standalone='yes'?>
<Relationships xmlns="http://schemas.openxmlformats.org/package/2006/relationships"><Relationship Id="rId1" Type="http://schemas.openxmlformats.org/officeDocument/2006/relationships/package" Target="../embeddings/Microsoft_Excel_Worksheet411.xlsx"/></Relationships>
</file>

<file path=ppt/charts/_rels/chart412.xml.rels><?xml version='1.0' encoding='UTF-8' standalone='yes'?>
<Relationships xmlns="http://schemas.openxmlformats.org/package/2006/relationships"><Relationship Id="rId1" Type="http://schemas.openxmlformats.org/officeDocument/2006/relationships/package" Target="../embeddings/Microsoft_Excel_Worksheet412.xlsx"/></Relationships>
</file>

<file path=ppt/charts/_rels/chart413.xml.rels><?xml version='1.0' encoding='UTF-8' standalone='yes'?>
<Relationships xmlns="http://schemas.openxmlformats.org/package/2006/relationships"><Relationship Id="rId1" Type="http://schemas.openxmlformats.org/officeDocument/2006/relationships/package" Target="../embeddings/Microsoft_Excel_Worksheet413.xlsx"/></Relationships>
</file>

<file path=ppt/charts/_rels/chart414.xml.rels><?xml version='1.0' encoding='UTF-8' standalone='yes'?>
<Relationships xmlns="http://schemas.openxmlformats.org/package/2006/relationships"><Relationship Id="rId1" Type="http://schemas.openxmlformats.org/officeDocument/2006/relationships/package" Target="../embeddings/Microsoft_Excel_Worksheet414.xlsx"/></Relationships>
</file>

<file path=ppt/charts/_rels/chart415.xml.rels><?xml version='1.0' encoding='UTF-8' standalone='yes'?>
<Relationships xmlns="http://schemas.openxmlformats.org/package/2006/relationships"><Relationship Id="rId1" Type="http://schemas.openxmlformats.org/officeDocument/2006/relationships/package" Target="../embeddings/Microsoft_Excel_Worksheet415.xlsx"/></Relationships>
</file>

<file path=ppt/charts/_rels/chart416.xml.rels><?xml version='1.0' encoding='UTF-8' standalone='yes'?>
<Relationships xmlns="http://schemas.openxmlformats.org/package/2006/relationships"><Relationship Id="rId1" Type="http://schemas.openxmlformats.org/officeDocument/2006/relationships/package" Target="../embeddings/Microsoft_Excel_Worksheet416.xlsx"/></Relationships>
</file>

<file path=ppt/charts/_rels/chart417.xml.rels><?xml version='1.0' encoding='UTF-8' standalone='yes'?>
<Relationships xmlns="http://schemas.openxmlformats.org/package/2006/relationships"><Relationship Id="rId1" Type="http://schemas.openxmlformats.org/officeDocument/2006/relationships/package" Target="../embeddings/Microsoft_Excel_Worksheet417.xlsx"/></Relationships>
</file>

<file path=ppt/charts/_rels/chart418.xml.rels><?xml version='1.0' encoding='UTF-8' standalone='yes'?>
<Relationships xmlns="http://schemas.openxmlformats.org/package/2006/relationships"><Relationship Id="rId1" Type="http://schemas.openxmlformats.org/officeDocument/2006/relationships/package" Target="../embeddings/Microsoft_Excel_Worksheet418.xlsx"/></Relationships>
</file>

<file path=ppt/charts/_rels/chart419.xml.rels><?xml version='1.0' encoding='UTF-8' standalone='yes'?>
<Relationships xmlns="http://schemas.openxmlformats.org/package/2006/relationships"><Relationship Id="rId1" Type="http://schemas.openxmlformats.org/officeDocument/2006/relationships/package" Target="../embeddings/Microsoft_Excel_Worksheet419.xlsx"/></Relationships>
</file>

<file path=ppt/charts/_rels/chart420.xml.rels><?xml version='1.0' encoding='UTF-8' standalone='yes'?>
<Relationships xmlns="http://schemas.openxmlformats.org/package/2006/relationships"><Relationship Id="rId1" Type="http://schemas.openxmlformats.org/officeDocument/2006/relationships/package" Target="../embeddings/Microsoft_Excel_Worksheet420.xlsx"/></Relationships>
</file>

<file path=ppt/charts/_rels/chart421.xml.rels><?xml version='1.0' encoding='UTF-8' standalone='yes'?>
<Relationships xmlns="http://schemas.openxmlformats.org/package/2006/relationships"><Relationship Id="rId1" Type="http://schemas.openxmlformats.org/officeDocument/2006/relationships/package" Target="../embeddings/Microsoft_Excel_Worksheet421.xlsx"/></Relationships>
</file>

<file path=ppt/charts/_rels/chart422.xml.rels><?xml version='1.0' encoding='UTF-8' standalone='yes'?>
<Relationships xmlns="http://schemas.openxmlformats.org/package/2006/relationships"><Relationship Id="rId1" Type="http://schemas.openxmlformats.org/officeDocument/2006/relationships/package" Target="../embeddings/Microsoft_Excel_Worksheet422.xlsx"/></Relationships>
</file>

<file path=ppt/charts/_rels/chart423.xml.rels><?xml version='1.0' encoding='UTF-8' standalone='yes'?>
<Relationships xmlns="http://schemas.openxmlformats.org/package/2006/relationships"><Relationship Id="rId1" Type="http://schemas.openxmlformats.org/officeDocument/2006/relationships/package" Target="../embeddings/Microsoft_Excel_Worksheet423.xlsx"/></Relationships>
</file>

<file path=ppt/charts/_rels/chart424.xml.rels><?xml version='1.0' encoding='UTF-8' standalone='yes'?>
<Relationships xmlns="http://schemas.openxmlformats.org/package/2006/relationships"><Relationship Id="rId1" Type="http://schemas.openxmlformats.org/officeDocument/2006/relationships/package" Target="../embeddings/Microsoft_Excel_Worksheet424.xlsx"/></Relationships>
</file>

<file path=ppt/charts/_rels/chart425.xml.rels><?xml version='1.0' encoding='UTF-8' standalone='yes'?>
<Relationships xmlns="http://schemas.openxmlformats.org/package/2006/relationships"><Relationship Id="rId1" Type="http://schemas.openxmlformats.org/officeDocument/2006/relationships/package" Target="../embeddings/Microsoft_Excel_Worksheet425.xlsx"/></Relationships>
</file>

<file path=ppt/charts/_rels/chart426.xml.rels><?xml version='1.0' encoding='UTF-8' standalone='yes'?>
<Relationships xmlns="http://schemas.openxmlformats.org/package/2006/relationships"><Relationship Id="rId1" Type="http://schemas.openxmlformats.org/officeDocument/2006/relationships/package" Target="../embeddings/Microsoft_Excel_Worksheet426.xlsx"/></Relationships>
</file>

<file path=ppt/charts/_rels/chart427.xml.rels><?xml version='1.0' encoding='UTF-8' standalone='yes'?>
<Relationships xmlns="http://schemas.openxmlformats.org/package/2006/relationships"><Relationship Id="rId1" Type="http://schemas.openxmlformats.org/officeDocument/2006/relationships/package" Target="../embeddings/Microsoft_Excel_Worksheet427.xlsx"/></Relationships>
</file>

<file path=ppt/charts/_rels/chart428.xml.rels><?xml version='1.0' encoding='UTF-8' standalone='yes'?>
<Relationships xmlns="http://schemas.openxmlformats.org/package/2006/relationships"><Relationship Id="rId1" Type="http://schemas.openxmlformats.org/officeDocument/2006/relationships/package" Target="../embeddings/Microsoft_Excel_Worksheet428.xlsx"/></Relationships>
</file>

<file path=ppt/charts/_rels/chart429.xml.rels><?xml version='1.0' encoding='UTF-8' standalone='yes'?>
<Relationships xmlns="http://schemas.openxmlformats.org/package/2006/relationships"><Relationship Id="rId1" Type="http://schemas.openxmlformats.org/officeDocument/2006/relationships/package" Target="../embeddings/Microsoft_Excel_Worksheet429.xlsx"/></Relationships>
</file>

<file path=ppt/charts/_rels/chart430.xml.rels><?xml version='1.0' encoding='UTF-8' standalone='yes'?>
<Relationships xmlns="http://schemas.openxmlformats.org/package/2006/relationships"><Relationship Id="rId1" Type="http://schemas.openxmlformats.org/officeDocument/2006/relationships/package" Target="../embeddings/Microsoft_Excel_Worksheet430.xlsx"/></Relationships>
</file>

<file path=ppt/charts/_rels/chart431.xml.rels><?xml version='1.0' encoding='UTF-8' standalone='yes'?>
<Relationships xmlns="http://schemas.openxmlformats.org/package/2006/relationships"><Relationship Id="rId1" Type="http://schemas.openxmlformats.org/officeDocument/2006/relationships/package" Target="../embeddings/Microsoft_Excel_Worksheet431.xlsx"/></Relationships>
</file>

<file path=ppt/charts/_rels/chart432.xml.rels><?xml version='1.0' encoding='UTF-8' standalone='yes'?>
<Relationships xmlns="http://schemas.openxmlformats.org/package/2006/relationships"><Relationship Id="rId1" Type="http://schemas.openxmlformats.org/officeDocument/2006/relationships/package" Target="../embeddings/Microsoft_Excel_Worksheet432.xlsx"/></Relationships>
</file>

<file path=ppt/charts/_rels/chart433.xml.rels><?xml version='1.0' encoding='UTF-8' standalone='yes'?>
<Relationships xmlns="http://schemas.openxmlformats.org/package/2006/relationships"><Relationship Id="rId1" Type="http://schemas.openxmlformats.org/officeDocument/2006/relationships/package" Target="../embeddings/Microsoft_Excel_Worksheet433.xlsx"/></Relationships>
</file>

<file path=ppt/charts/_rels/chart434.xml.rels><?xml version='1.0' encoding='UTF-8' standalone='yes'?>
<Relationships xmlns="http://schemas.openxmlformats.org/package/2006/relationships"><Relationship Id="rId1" Type="http://schemas.openxmlformats.org/officeDocument/2006/relationships/package" Target="../embeddings/Microsoft_Excel_Worksheet434.xlsx"/></Relationships>
</file>

<file path=ppt/charts/_rels/chart435.xml.rels><?xml version='1.0' encoding='UTF-8' standalone='yes'?>
<Relationships xmlns="http://schemas.openxmlformats.org/package/2006/relationships"><Relationship Id="rId1" Type="http://schemas.openxmlformats.org/officeDocument/2006/relationships/package" Target="../embeddings/Microsoft_Excel_Worksheet435.xlsx"/></Relationships>
</file>

<file path=ppt/charts/_rels/chart436.xml.rels><?xml version='1.0' encoding='UTF-8' standalone='yes'?>
<Relationships xmlns="http://schemas.openxmlformats.org/package/2006/relationships"><Relationship Id="rId1" Type="http://schemas.openxmlformats.org/officeDocument/2006/relationships/package" Target="../embeddings/Microsoft_Excel_Worksheet436.xlsx"/></Relationships>
</file>

<file path=ppt/charts/_rels/chart437.xml.rels><?xml version='1.0' encoding='UTF-8' standalone='yes'?>
<Relationships xmlns="http://schemas.openxmlformats.org/package/2006/relationships"><Relationship Id="rId1" Type="http://schemas.openxmlformats.org/officeDocument/2006/relationships/package" Target="../embeddings/Microsoft_Excel_Worksheet437.xlsx"/></Relationships>
</file>

<file path=ppt/charts/_rels/chart438.xml.rels><?xml version='1.0' encoding='UTF-8' standalone='yes'?>
<Relationships xmlns="http://schemas.openxmlformats.org/package/2006/relationships"><Relationship Id="rId1" Type="http://schemas.openxmlformats.org/officeDocument/2006/relationships/package" Target="../embeddings/Microsoft_Excel_Worksheet438.xlsx"/></Relationships>
</file>

<file path=ppt/charts/_rels/chart439.xml.rels><?xml version='1.0' encoding='UTF-8' standalone='yes'?>
<Relationships xmlns="http://schemas.openxmlformats.org/package/2006/relationships"><Relationship Id="rId1" Type="http://schemas.openxmlformats.org/officeDocument/2006/relationships/package" Target="../embeddings/Microsoft_Excel_Worksheet439.xlsx"/></Relationships>
</file>

<file path=ppt/charts/_rels/chart440.xml.rels><?xml version='1.0' encoding='UTF-8' standalone='yes'?>
<Relationships xmlns="http://schemas.openxmlformats.org/package/2006/relationships"><Relationship Id="rId1" Type="http://schemas.openxmlformats.org/officeDocument/2006/relationships/package" Target="../embeddings/Microsoft_Excel_Worksheet440.xlsx"/></Relationships>
</file>

<file path=ppt/charts/_rels/chart441.xml.rels><?xml version='1.0' encoding='UTF-8' standalone='yes'?>
<Relationships xmlns="http://schemas.openxmlformats.org/package/2006/relationships"><Relationship Id="rId1" Type="http://schemas.openxmlformats.org/officeDocument/2006/relationships/package" Target="../embeddings/Microsoft_Excel_Worksheet441.xlsx"/></Relationships>
</file>

<file path=ppt/charts/_rels/chart442.xml.rels><?xml version='1.0' encoding='UTF-8' standalone='yes'?>
<Relationships xmlns="http://schemas.openxmlformats.org/package/2006/relationships"><Relationship Id="rId1" Type="http://schemas.openxmlformats.org/officeDocument/2006/relationships/package" Target="../embeddings/Microsoft_Excel_Worksheet442.xlsx"/></Relationships>
</file>

<file path=ppt/charts/_rels/chart443.xml.rels><?xml version='1.0' encoding='UTF-8' standalone='yes'?>
<Relationships xmlns="http://schemas.openxmlformats.org/package/2006/relationships"><Relationship Id="rId1" Type="http://schemas.openxmlformats.org/officeDocument/2006/relationships/package" Target="../embeddings/Microsoft_Excel_Worksheet443.xlsx"/></Relationships>
</file>

<file path=ppt/charts/_rels/chart444.xml.rels><?xml version='1.0' encoding='UTF-8' standalone='yes'?>
<Relationships xmlns="http://schemas.openxmlformats.org/package/2006/relationships"><Relationship Id="rId1" Type="http://schemas.openxmlformats.org/officeDocument/2006/relationships/package" Target="../embeddings/Microsoft_Excel_Worksheet444.xlsx"/></Relationships>
</file>

<file path=ppt/charts/_rels/chart445.xml.rels><?xml version='1.0' encoding='UTF-8' standalone='yes'?>
<Relationships xmlns="http://schemas.openxmlformats.org/package/2006/relationships"><Relationship Id="rId1" Type="http://schemas.openxmlformats.org/officeDocument/2006/relationships/package" Target="../embeddings/Microsoft_Excel_Worksheet445.xlsx"/></Relationships>
</file>

<file path=ppt/charts/_rels/chart446.xml.rels><?xml version='1.0' encoding='UTF-8' standalone='yes'?>
<Relationships xmlns="http://schemas.openxmlformats.org/package/2006/relationships"><Relationship Id="rId1" Type="http://schemas.openxmlformats.org/officeDocument/2006/relationships/package" Target="../embeddings/Microsoft_Excel_Worksheet446.xlsx"/></Relationships>
</file>

<file path=ppt/charts/_rels/chart447.xml.rels><?xml version='1.0' encoding='UTF-8' standalone='yes'?>
<Relationships xmlns="http://schemas.openxmlformats.org/package/2006/relationships"><Relationship Id="rId1" Type="http://schemas.openxmlformats.org/officeDocument/2006/relationships/package" Target="../embeddings/Microsoft_Excel_Worksheet447.xlsx"/></Relationships>
</file>

<file path=ppt/charts/_rels/chart448.xml.rels><?xml version='1.0' encoding='UTF-8' standalone='yes'?>
<Relationships xmlns="http://schemas.openxmlformats.org/package/2006/relationships"><Relationship Id="rId1" Type="http://schemas.openxmlformats.org/officeDocument/2006/relationships/package" Target="../embeddings/Microsoft_Excel_Worksheet448.xlsx"/></Relationships>
</file>

<file path=ppt/charts/_rels/chart449.xml.rels><?xml version='1.0' encoding='UTF-8' standalone='yes'?>
<Relationships xmlns="http://schemas.openxmlformats.org/package/2006/relationships"><Relationship Id="rId1" Type="http://schemas.openxmlformats.org/officeDocument/2006/relationships/package" Target="../embeddings/Microsoft_Excel_Worksheet449.xlsx"/></Relationships>
</file>

<file path=ppt/charts/_rels/chart450.xml.rels><?xml version='1.0' encoding='UTF-8' standalone='yes'?>
<Relationships xmlns="http://schemas.openxmlformats.org/package/2006/relationships"><Relationship Id="rId1" Type="http://schemas.openxmlformats.org/officeDocument/2006/relationships/package" Target="../embeddings/Microsoft_Excel_Worksheet450.xlsx"/></Relationships>
</file>

<file path=ppt/charts/_rels/chart451.xml.rels><?xml version='1.0' encoding='UTF-8' standalone='yes'?>
<Relationships xmlns="http://schemas.openxmlformats.org/package/2006/relationships"><Relationship Id="rId1" Type="http://schemas.openxmlformats.org/officeDocument/2006/relationships/package" Target="../embeddings/Microsoft_Excel_Worksheet45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673214.4099999999</c:v>
                </c:pt>
                <c:pt idx="1">
                  <c:v>667043.93</c:v>
                </c:pt>
                <c:pt idx="2">
                  <c:v>660698.5700000001</c:v>
                </c:pt>
                <c:pt idx="3">
                  <c:v>783779.69</c:v>
                </c:pt>
                <c:pt idx="4">
                  <c:v>686251.59</c:v>
                </c:pt>
                <c:pt idx="5">
                  <c:v>762803.78</c:v>
                </c:pt>
                <c:pt idx="6">
                  <c:v>862929.99</c:v>
                </c:pt>
                <c:pt idx="7">
                  <c:v>726104.11</c:v>
                </c:pt>
                <c:pt idx="8">
                  <c:v>591602.85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745844.09</c:v>
                </c:pt>
                <c:pt idx="1">
                  <c:v>786979.38</c:v>
                </c:pt>
                <c:pt idx="2">
                  <c:v>853584.5199999999</c:v>
                </c:pt>
                <c:pt idx="3">
                  <c:v>886019.2000000001</c:v>
                </c:pt>
                <c:pt idx="4">
                  <c:v>848389.89</c:v>
                </c:pt>
                <c:pt idx="5">
                  <c:v>907975.3200000001</c:v>
                </c:pt>
                <c:pt idx="6">
                  <c:v>953945.6100000001</c:v>
                </c:pt>
                <c:pt idx="7">
                  <c:v>919011.0900000001</c:v>
                </c:pt>
                <c:pt idx="8">
                  <c:v>928518.6799999999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82933.0308000001"/>
          <c:min val="562615.42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426367.52</c:v>
                </c:pt>
                <c:pt idx="1">
                  <c:v>359449.32999999996</c:v>
                </c:pt>
                <c:pt idx="2">
                  <c:v>344941.30000000005</c:v>
                </c:pt>
                <c:pt idx="3">
                  <c:v>467680.61</c:v>
                </c:pt>
                <c:pt idx="4">
                  <c:v>501380.55</c:v>
                </c:pt>
                <c:pt idx="5">
                  <c:v>528913.37</c:v>
                </c:pt>
                <c:pt idx="6">
                  <c:v>498520.88</c:v>
                </c:pt>
                <c:pt idx="7">
                  <c:v>533962.25</c:v>
                </c:pt>
                <c:pt idx="8">
                  <c:v>445357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631319.72</c:v>
                </c:pt>
                <c:pt idx="1">
                  <c:v>546833.85</c:v>
                </c:pt>
                <c:pt idx="2">
                  <c:v>542606.93</c:v>
                </c:pt>
                <c:pt idx="3">
                  <c:v>590782.32</c:v>
                </c:pt>
                <c:pt idx="4">
                  <c:v>414490.05</c:v>
                </c:pt>
                <c:pt idx="5">
                  <c:v>470078.17000000004</c:v>
                </c:pt>
                <c:pt idx="6">
                  <c:v>746155.96</c:v>
                </c:pt>
                <c:pt idx="7">
                  <c:v>500529.55</c:v>
                </c:pt>
                <c:pt idx="8">
                  <c:v>502102.01999999996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78253.1327999999"/>
          <c:min val="312844.1272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174589.61</c:v>
                </c:pt>
                <c:pt idx="1">
                  <c:v>95405.77</c:v>
                </c:pt>
                <c:pt idx="2">
                  <c:v>140625.01</c:v>
                </c:pt>
                <c:pt idx="3">
                  <c:v>203321.24</c:v>
                </c:pt>
                <c:pt idx="4">
                  <c:v>219850.85</c:v>
                </c:pt>
                <c:pt idx="5">
                  <c:v>252107.89</c:v>
                </c:pt>
                <c:pt idx="6">
                  <c:v>232479.66</c:v>
                </c:pt>
                <c:pt idx="7">
                  <c:v>295546.51</c:v>
                </c:pt>
                <c:pt idx="8">
                  <c:v>218835.64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249580.28</c:v>
                </c:pt>
                <c:pt idx="1">
                  <c:v>274924.13</c:v>
                </c:pt>
                <c:pt idx="2">
                  <c:v>284945.48</c:v>
                </c:pt>
                <c:pt idx="3">
                  <c:v>417111.44</c:v>
                </c:pt>
                <c:pt idx="4">
                  <c:v>224022.98</c:v>
                </c:pt>
                <c:pt idx="5">
                  <c:v>244327.32</c:v>
                </c:pt>
                <c:pt idx="6">
                  <c:v>316671.08999999997</c:v>
                </c:pt>
                <c:pt idx="7">
                  <c:v>338493.80000000005</c:v>
                </c:pt>
                <c:pt idx="8">
                  <c:v>248463.19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42847.8936"/>
          <c:min val="69669.3164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245650.74</c:v>
                </c:pt>
                <c:pt idx="1">
                  <c:v>205123.04</c:v>
                </c:pt>
                <c:pt idx="2">
                  <c:v>363576.81</c:v>
                </c:pt>
                <c:pt idx="3">
                  <c:v>412964.21</c:v>
                </c:pt>
                <c:pt idx="4">
                  <c:v>375704.95</c:v>
                </c:pt>
                <c:pt idx="5">
                  <c:v>294757.57</c:v>
                </c:pt>
                <c:pt idx="6">
                  <c:v>348013.7</c:v>
                </c:pt>
                <c:pt idx="7">
                  <c:v>340023.29000000004</c:v>
                </c:pt>
                <c:pt idx="8">
                  <c:v>324492.52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121855.7</c:v>
                </c:pt>
                <c:pt idx="1">
                  <c:v>156572.78</c:v>
                </c:pt>
                <c:pt idx="2">
                  <c:v>264672.1</c:v>
                </c:pt>
                <c:pt idx="3">
                  <c:v>340203.34</c:v>
                </c:pt>
                <c:pt idx="4">
                  <c:v>215194.3</c:v>
                </c:pt>
                <c:pt idx="5">
                  <c:v>286901.52</c:v>
                </c:pt>
                <c:pt idx="6">
                  <c:v>407732.62</c:v>
                </c:pt>
                <c:pt idx="7">
                  <c:v>244529.28999999998</c:v>
                </c:pt>
                <c:pt idx="8">
                  <c:v>229306.31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6252.89080000005"/>
          <c:min val="98567.01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120502.33</c:v>
                </c:pt>
                <c:pt idx="1">
                  <c:v>137723.4</c:v>
                </c:pt>
                <c:pt idx="2">
                  <c:v>146104.6</c:v>
                </c:pt>
                <c:pt idx="3">
                  <c:v>105201.39</c:v>
                </c:pt>
                <c:pt idx="4">
                  <c:v>223669.27000000002</c:v>
                </c:pt>
                <c:pt idx="5">
                  <c:v>209534.28999999998</c:v>
                </c:pt>
                <c:pt idx="6">
                  <c:v>220370.36000000002</c:v>
                </c:pt>
                <c:pt idx="7">
                  <c:v>220706.81</c:v>
                </c:pt>
                <c:pt idx="8">
                  <c:v>164187.72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140485.17</c:v>
                </c:pt>
                <c:pt idx="1">
                  <c:v>80036.92</c:v>
                </c:pt>
                <c:pt idx="2">
                  <c:v>90158.89</c:v>
                </c:pt>
                <c:pt idx="3">
                  <c:v>132751.79</c:v>
                </c:pt>
                <c:pt idx="4">
                  <c:v>138796.77</c:v>
                </c:pt>
                <c:pt idx="5">
                  <c:v>130956.01000000001</c:v>
                </c:pt>
                <c:pt idx="6">
                  <c:v>162421.52</c:v>
                </c:pt>
                <c:pt idx="7">
                  <c:v>120607.87</c:v>
                </c:pt>
                <c:pt idx="8">
                  <c:v>94286.11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5159.858"/>
          <c:min val="68546.3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170486.2</c:v>
                </c:pt>
                <c:pt idx="1">
                  <c:v>142584.58</c:v>
                </c:pt>
                <c:pt idx="2">
                  <c:v>169880.13</c:v>
                </c:pt>
                <c:pt idx="3">
                  <c:v>98520.33</c:v>
                </c:pt>
                <c:pt idx="4">
                  <c:v>128191.81</c:v>
                </c:pt>
                <c:pt idx="5">
                  <c:v>56035.07000000001</c:v>
                </c:pt>
                <c:pt idx="6">
                  <c:v>114671.90000000001</c:v>
                </c:pt>
                <c:pt idx="7">
                  <c:v>49038.1900000001</c:v>
                </c:pt>
                <c:pt idx="8">
                  <c:v>37765.13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48124.9100000001</c:v>
                </c:pt>
                <c:pt idx="1">
                  <c:v>67628.62</c:v>
                </c:pt>
                <c:pt idx="2">
                  <c:v>85568.91</c:v>
                </c:pt>
                <c:pt idx="3">
                  <c:v>74715.74</c:v>
                </c:pt>
                <c:pt idx="4">
                  <c:v>77653.98000000001</c:v>
                </c:pt>
                <c:pt idx="5">
                  <c:v>96905.8</c:v>
                </c:pt>
                <c:pt idx="6">
                  <c:v>150361.94</c:v>
                </c:pt>
                <c:pt idx="7">
                  <c:v>56361.46</c:v>
                </c:pt>
                <c:pt idx="8">
                  <c:v>42003.899999999994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1103.8856"/>
          <c:min val="27147.4443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585853.4766666667</c:v>
                </c:pt>
                <c:pt idx="1">
                  <c:v>585853.4766666667</c:v>
                </c:pt>
                <c:pt idx="2">
                  <c:v>585853.4766666667</c:v>
                </c:pt>
                <c:pt idx="3">
                  <c:v>585853.4766666667</c:v>
                </c:pt>
                <c:pt idx="4">
                  <c:v>585853.4766666667</c:v>
                </c:pt>
                <c:pt idx="5">
                  <c:v>585853.4766666667</c:v>
                </c:pt>
                <c:pt idx="6">
                  <c:v>585853.4766666667</c:v>
                </c:pt>
                <c:pt idx="7">
                  <c:v>585853.4766666667</c:v>
                </c:pt>
                <c:pt idx="8">
                  <c:v>585853.4766666667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56967.1068"/>
          <c:min val="398949.2731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573373.03</c:v>
                </c:pt>
                <c:pt idx="1">
                  <c:v>430536.70999999996</c:v>
                </c:pt>
                <c:pt idx="2">
                  <c:v>753650.69</c:v>
                </c:pt>
                <c:pt idx="3">
                  <c:v>652757.3</c:v>
                </c:pt>
                <c:pt idx="4">
                  <c:v>679631.37</c:v>
                </c:pt>
                <c:pt idx="5">
                  <c:v>813403.42</c:v>
                </c:pt>
                <c:pt idx="6">
                  <c:v>825379.6699999999</c:v>
                </c:pt>
                <c:pt idx="7">
                  <c:v>692141.1499999999</c:v>
                </c:pt>
                <c:pt idx="8">
                  <c:v>657769.0599999999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56967.1068"/>
          <c:min val="398949.2731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795469.33</c:v>
                </c:pt>
                <c:pt idx="1">
                  <c:v>795469.33</c:v>
                </c:pt>
                <c:pt idx="2">
                  <c:v>795469.33</c:v>
                </c:pt>
                <c:pt idx="3">
                  <c:v>795469.33</c:v>
                </c:pt>
                <c:pt idx="4">
                  <c:v>795469.33</c:v>
                </c:pt>
                <c:pt idx="5">
                  <c:v>795469.33</c:v>
                </c:pt>
                <c:pt idx="6">
                  <c:v>795469.33</c:v>
                </c:pt>
                <c:pt idx="7">
                  <c:v>795469.33</c:v>
                </c:pt>
                <c:pt idx="8">
                  <c:v>795469.33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70593.7316"/>
          <c:min val="729195.96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745844.09</c:v>
                </c:pt>
                <c:pt idx="1">
                  <c:v>786979.38</c:v>
                </c:pt>
                <c:pt idx="2">
                  <c:v>853584.5199999999</c:v>
                </c:pt>
                <c:pt idx="3">
                  <c:v>886019.2000000001</c:v>
                </c:pt>
                <c:pt idx="4">
                  <c:v>848389.89</c:v>
                </c:pt>
                <c:pt idx="5">
                  <c:v>907975.3200000001</c:v>
                </c:pt>
                <c:pt idx="6">
                  <c:v>953945.6100000001</c:v>
                </c:pt>
                <c:pt idx="7">
                  <c:v>919011.0900000001</c:v>
                </c:pt>
                <c:pt idx="8">
                  <c:v>928518.6799999999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70593.7316"/>
          <c:min val="729195.96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181033.52666666667</c:v>
                </c:pt>
                <c:pt idx="1">
                  <c:v>181033.52666666667</c:v>
                </c:pt>
                <c:pt idx="2">
                  <c:v>181033.52666666667</c:v>
                </c:pt>
                <c:pt idx="3">
                  <c:v>181033.52666666667</c:v>
                </c:pt>
                <c:pt idx="4">
                  <c:v>181033.52666666667</c:v>
                </c:pt>
                <c:pt idx="5">
                  <c:v>181033.52666666667</c:v>
                </c:pt>
                <c:pt idx="6">
                  <c:v>181033.52666666667</c:v>
                </c:pt>
                <c:pt idx="7">
                  <c:v>181033.52666666667</c:v>
                </c:pt>
                <c:pt idx="8">
                  <c:v>181033.52666666667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0602.7736"/>
          <c:min val="98985.5463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121855.7</c:v>
                </c:pt>
                <c:pt idx="1">
                  <c:v>156572.78</c:v>
                </c:pt>
                <c:pt idx="2">
                  <c:v>264672.1</c:v>
                </c:pt>
                <c:pt idx="3">
                  <c:v>340203.34</c:v>
                </c:pt>
                <c:pt idx="4">
                  <c:v>215194.3</c:v>
                </c:pt>
                <c:pt idx="5">
                  <c:v>286901.52</c:v>
                </c:pt>
                <c:pt idx="6">
                  <c:v>407732.62</c:v>
                </c:pt>
                <c:pt idx="7">
                  <c:v>244529.28999999998</c:v>
                </c:pt>
                <c:pt idx="8">
                  <c:v>229306.31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0602.7736"/>
          <c:min val="98985.5463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2.43</c:v>
                </c:pt>
                <c:pt idx="1">
                  <c:v>2.59</c:v>
                </c:pt>
                <c:pt idx="2">
                  <c:v>3.51</c:v>
                </c:pt>
                <c:pt idx="3">
                  <c:v>3.42</c:v>
                </c:pt>
                <c:pt idx="4">
                  <c:v>3</c:v>
                </c:pt>
                <c:pt idx="5">
                  <c:v>3.16</c:v>
                </c:pt>
                <c:pt idx="6">
                  <c:v>3.58</c:v>
                </c:pt>
                <c:pt idx="7">
                  <c:v>3.24</c:v>
                </c:pt>
                <c:pt idx="8">
                  <c:v>2.75</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majorGridlines>
          <c:spPr>
            <a:ln w="9525" cap="flat">
              <a:solidFill>
                <a:srgbClr val="D9D9D9"/>
              </a:solidFill>
              <a:prstDash val="solid"/>
              <a:round/>
            </a:ln>
          </c:spPr>
        </c:majorGridlines>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2.43</c:v>
                </c:pt>
                <c:pt idx="1">
                  <c:v>2.59</c:v>
                </c:pt>
                <c:pt idx="2">
                  <c:v>3.51</c:v>
                </c:pt>
                <c:pt idx="3">
                  <c:v>3.42</c:v>
                </c:pt>
                <c:pt idx="4">
                  <c:v>3</c:v>
                </c:pt>
                <c:pt idx="5">
                  <c:v>3.16</c:v>
                </c:pt>
                <c:pt idx="6">
                  <c:v>3.58</c:v>
                </c:pt>
                <c:pt idx="7">
                  <c:v>3.24</c:v>
                </c:pt>
                <c:pt idx="8">
                  <c:v>2.75</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2.9</c:v>
                </c:pt>
                <c:pt idx="10">
                  <c:v/>
                </c:pt>
                <c:pt idx="11">
                  <c:v>2.15</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2.26</c:v>
                </c:pt>
                <c:pt idx="1">
                  <c:v>2.03</c:v>
                </c:pt>
                <c:pt idx="2">
                  <c:v>2.88</c:v>
                </c:pt>
                <c:pt idx="3">
                  <c:v>2.98</c:v>
                </c:pt>
                <c:pt idx="4">
                  <c:v>2.92</c:v>
                </c:pt>
                <c:pt idx="5">
                  <c:v>2.63</c:v>
                </c:pt>
                <c:pt idx="6">
                  <c:v>2.79</c:v>
                </c:pt>
                <c:pt idx="7">
                  <c:v>2.65</c:v>
                </c:pt>
                <c:pt idx="8">
                  <c:v>1.64</c:v>
                </c:pt>
                <c:pt idx="9">
                  <c:v/>
                </c:pt>
                <c:pt idx="10">
                  <c:v>1.7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2.26</c:v>
                </c:pt>
                <c:pt idx="1">
                  <c:v>2.03</c:v>
                </c:pt>
                <c:pt idx="2">
                  <c:v>2.88</c:v>
                </c:pt>
                <c:pt idx="3">
                  <c:v>2.98</c:v>
                </c:pt>
                <c:pt idx="4">
                  <c:v>2.92</c:v>
                </c:pt>
                <c:pt idx="5">
                  <c:v>2.63</c:v>
                </c:pt>
                <c:pt idx="6">
                  <c:v>2.79</c:v>
                </c:pt>
                <c:pt idx="7">
                  <c:v>2.65</c:v>
                </c:pt>
                <c:pt idx="8">
                  <c:v>1.64</c:v>
                </c:pt>
                <c:pt idx="9">
                  <c:v>2.9</c:v>
                </c:pt>
                <c:pt idx="10">
                  <c:v>1.7</c:v>
                </c:pt>
                <c:pt idx="11">
                  <c:v>2.15</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420311.04</c:v>
                </c:pt>
                <c:pt idx="1">
                  <c:v>443850.03</c:v>
                </c:pt>
                <c:pt idx="2">
                  <c:v>481215.75</c:v>
                </c:pt>
                <c:pt idx="3">
                  <c:v>565861.32</c:v>
                </c:pt>
                <c:pt idx="4">
                  <c:v>490645.94</c:v>
                </c:pt>
                <c:pt idx="5">
                  <c:v>524829.12</c:v>
                </c:pt>
                <c:pt idx="6">
                  <c:v>566182.44</c:v>
                </c:pt>
                <c:pt idx="7">
                  <c:v>535834.87</c:v>
                </c:pt>
                <c:pt idx="8">
                  <c:v>437745.3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553633.61</c:v>
                </c:pt>
                <c:pt idx="1">
                  <c:v>608333.29</c:v>
                </c:pt>
                <c:pt idx="2">
                  <c:v>625121.69</c:v>
                </c:pt>
                <c:pt idx="3">
                  <c:v>667375.92</c:v>
                </c:pt>
                <c:pt idx="4">
                  <c:v>600165.72</c:v>
                </c:pt>
                <c:pt idx="5">
                  <c:v>599891.5</c:v>
                </c:pt>
                <c:pt idx="6">
                  <c:v>691962.43</c:v>
                </c:pt>
                <c:pt idx="7">
                  <c:v>639472.55</c:v>
                </c:pt>
                <c:pt idx="8">
                  <c:v>605568.27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13694.5412000001"/>
          <c:min val="398578.92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255579.1</c:v>
                </c:pt>
                <c:pt idx="1">
                  <c:v>228168.27</c:v>
                </c:pt>
                <c:pt idx="2">
                  <c:v>205339.01</c:v>
                </c:pt>
                <c:pt idx="3">
                  <c:v>258930.11</c:v>
                </c:pt>
                <c:pt idx="4">
                  <c:v>356753.68</c:v>
                </c:pt>
                <c:pt idx="5">
                  <c:v>297535.47</c:v>
                </c:pt>
                <c:pt idx="6">
                  <c:v>328532.84</c:v>
                </c:pt>
                <c:pt idx="7">
                  <c:v>355085.85</c:v>
                </c:pt>
                <c:pt idx="8">
                  <c:v>260044.02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498948.03</c:v>
                </c:pt>
                <c:pt idx="1">
                  <c:v>427496.06</c:v>
                </c:pt>
                <c:pt idx="2">
                  <c:v>390054.7</c:v>
                </c:pt>
                <c:pt idx="3">
                  <c:v>404876.48</c:v>
                </c:pt>
                <c:pt idx="4">
                  <c:v>355183.56</c:v>
                </c:pt>
                <c:pt idx="5">
                  <c:v>295898.63</c:v>
                </c:pt>
                <c:pt idx="6">
                  <c:v>412806.33</c:v>
                </c:pt>
                <c:pt idx="7">
                  <c:v>320824.74</c:v>
                </c:pt>
                <c:pt idx="8">
                  <c:v>289173.41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2436.7516"/>
          <c:min val="181850.2884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450275.31</c:v>
                </c:pt>
                <c:pt idx="1">
                  <c:v>421950.15</c:v>
                </c:pt>
                <c:pt idx="2">
                  <c:v>561761.94</c:v>
                </c:pt>
                <c:pt idx="3">
                  <c:v>443687.47</c:v>
                </c:pt>
                <c:pt idx="4">
                  <c:v>531557.8</c:v>
                </c:pt>
                <c:pt idx="5">
                  <c:v>468094.37</c:v>
                </c:pt>
                <c:pt idx="6">
                  <c:v>419038.53</c:v>
                </c:pt>
                <c:pt idx="7">
                  <c:v>442095.45</c:v>
                </c:pt>
                <c:pt idx="8">
                  <c:v>318567.12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416148.62</c:v>
                </c:pt>
                <c:pt idx="1">
                  <c:v>327970.12</c:v>
                </c:pt>
                <c:pt idx="2">
                  <c:v>568605.45</c:v>
                </c:pt>
                <c:pt idx="3">
                  <c:v>513625.8</c:v>
                </c:pt>
                <c:pt idx="4">
                  <c:v>529901.62</c:v>
                </c:pt>
                <c:pt idx="5">
                  <c:v>618599.04</c:v>
                </c:pt>
                <c:pt idx="6">
                  <c:v>599612.12</c:v>
                </c:pt>
                <c:pt idx="7">
                  <c:v>497375.1</c:v>
                </c:pt>
                <c:pt idx="8">
                  <c:v>471532.6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42601.5936"/>
          <c:min val="294564.56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77073.67</c:v>
                </c:pt>
                <c:pt idx="1">
                  <c:v>92099.54</c:v>
                </c:pt>
                <c:pt idx="2">
                  <c:v>101048.2</c:v>
                </c:pt>
                <c:pt idx="3">
                  <c:v>91691.08</c:v>
                </c:pt>
                <c:pt idx="4">
                  <c:v>160169.22</c:v>
                </c:pt>
                <c:pt idx="5">
                  <c:v>156997.96</c:v>
                </c:pt>
                <c:pt idx="6">
                  <c:v>195935.67</c:v>
                </c:pt>
                <c:pt idx="7">
                  <c:v>188134.48</c:v>
                </c:pt>
                <c:pt idx="8">
                  <c:v>122728.94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121150.3</c:v>
                </c:pt>
                <c:pt idx="1">
                  <c:v>72302.37</c:v>
                </c:pt>
                <c:pt idx="2">
                  <c:v>81362.06</c:v>
                </c:pt>
                <c:pt idx="3">
                  <c:v>116810.07</c:v>
                </c:pt>
                <c:pt idx="4">
                  <c:v>126484.37</c:v>
                </c:pt>
                <c:pt idx="5">
                  <c:v>105855.38</c:v>
                </c:pt>
                <c:pt idx="6">
                  <c:v>118014.29</c:v>
                </c:pt>
                <c:pt idx="7">
                  <c:v>82291.05</c:v>
                </c:pt>
                <c:pt idx="8">
                  <c:v>62780.89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588.05240000002"/>
          <c:min val="52128.50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55703.02</c:v>
                </c:pt>
                <c:pt idx="1">
                  <c:v>42892.19</c:v>
                </c:pt>
                <c:pt idx="2">
                  <c:v>185253.56</c:v>
                </c:pt>
                <c:pt idx="3">
                  <c:v>204317.42</c:v>
                </c:pt>
                <c:pt idx="4">
                  <c:v>118792.69</c:v>
                </c:pt>
                <c:pt idx="5">
                  <c:v>114030.87</c:v>
                </c:pt>
                <c:pt idx="6">
                  <c:v>146466.73</c:v>
                </c:pt>
                <c:pt idx="7">
                  <c:v>142291.26</c:v>
                </c:pt>
                <c:pt idx="8">
                  <c:v>93156.07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-21041.08</c:v>
                </c:pt>
                <c:pt idx="1">
                  <c:v>64465.27</c:v>
                </c:pt>
                <c:pt idx="2">
                  <c:v>136919.07</c:v>
                </c:pt>
                <c:pt idx="3">
                  <c:v>123213.89</c:v>
                </c:pt>
                <c:pt idx="4">
                  <c:v>73519.73</c:v>
                </c:pt>
                <c:pt idx="5">
                  <c:v>137496.64</c:v>
                </c:pt>
                <c:pt idx="6">
                  <c:v>181851.9</c:v>
                </c:pt>
                <c:pt idx="7">
                  <c:v>92517.45</c:v>
                </c:pt>
                <c:pt idx="8">
                  <c:v>34879.4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346.1"/>
          <c:min val="-39069.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80976.61</c:v>
                </c:pt>
                <c:pt idx="1">
                  <c:v>52092.09</c:v>
                </c:pt>
                <c:pt idx="2">
                  <c:v>113452.64</c:v>
                </c:pt>
                <c:pt idx="3">
                  <c:v>95194.01</c:v>
                </c:pt>
                <c:pt idx="4">
                  <c:v>78321.3</c:v>
                </c:pt>
                <c:pt idx="5">
                  <c:v>101763.43</c:v>
                </c:pt>
                <c:pt idx="6">
                  <c:v>85370.55</c:v>
                </c:pt>
                <c:pt idx="7">
                  <c:v>62712.59</c:v>
                </c:pt>
                <c:pt idx="8">
                  <c:v>70875.08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38432.31</c:v>
                </c:pt>
                <c:pt idx="1">
                  <c:v>17846.53</c:v>
                </c:pt>
                <c:pt idx="2">
                  <c:v>72981.94</c:v>
                </c:pt>
                <c:pt idx="3">
                  <c:v>61396.62</c:v>
                </c:pt>
                <c:pt idx="4">
                  <c:v>43998.15</c:v>
                </c:pt>
                <c:pt idx="5">
                  <c:v>56554.72</c:v>
                </c:pt>
                <c:pt idx="6">
                  <c:v>73289.44</c:v>
                </c:pt>
                <c:pt idx="7">
                  <c:v>109514.2</c:v>
                </c:pt>
                <c:pt idx="8">
                  <c:v>99458.85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1101.1288"/>
          <c:min val="10198.04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437574.73</c:v>
                </c:pt>
                <c:pt idx="1">
                  <c:v>437574.73</c:v>
                </c:pt>
                <c:pt idx="2">
                  <c:v>437574.73</c:v>
                </c:pt>
                <c:pt idx="3">
                  <c:v>437574.73</c:v>
                </c:pt>
                <c:pt idx="4">
                  <c:v>437574.73</c:v>
                </c:pt>
                <c:pt idx="5">
                  <c:v>437574.73</c:v>
                </c:pt>
                <c:pt idx="6">
                  <c:v>437574.73</c:v>
                </c:pt>
                <c:pt idx="7">
                  <c:v>437574.73</c:v>
                </c:pt>
                <c:pt idx="8">
                  <c:v>437574.73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41849.3536"/>
          <c:min val="304719.80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416148.62</c:v>
                </c:pt>
                <c:pt idx="1">
                  <c:v>327970.12</c:v>
                </c:pt>
                <c:pt idx="2">
                  <c:v>568605.45</c:v>
                </c:pt>
                <c:pt idx="3">
                  <c:v>513625.8</c:v>
                </c:pt>
                <c:pt idx="4">
                  <c:v>529901.62</c:v>
                </c:pt>
                <c:pt idx="5">
                  <c:v>618599.04</c:v>
                </c:pt>
                <c:pt idx="6">
                  <c:v>599612.12</c:v>
                </c:pt>
                <c:pt idx="7">
                  <c:v>497375.1</c:v>
                </c:pt>
                <c:pt idx="8">
                  <c:v>471532.6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41849.3536"/>
          <c:min val="304719.80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61295.403333333335</c:v>
                </c:pt>
                <c:pt idx="1">
                  <c:v>61295.403333333335</c:v>
                </c:pt>
                <c:pt idx="2">
                  <c:v>61295.403333333335</c:v>
                </c:pt>
                <c:pt idx="3">
                  <c:v>61295.403333333335</c:v>
                </c:pt>
                <c:pt idx="4">
                  <c:v>61295.403333333335</c:v>
                </c:pt>
                <c:pt idx="5">
                  <c:v>61295.403333333335</c:v>
                </c:pt>
                <c:pt idx="6">
                  <c:v>61295.403333333335</c:v>
                </c:pt>
                <c:pt idx="7">
                  <c:v>61295.403333333335</c:v>
                </c:pt>
                <c:pt idx="8">
                  <c:v>61295.403333333335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486.6276"/>
          <c:min val="35818.15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45312.53</c:v>
                </c:pt>
                <c:pt idx="1">
                  <c:v>62279.61</c:v>
                </c:pt>
                <c:pt idx="2">
                  <c:v>76294.07</c:v>
                </c:pt>
                <c:pt idx="3">
                  <c:v>101804.04</c:v>
                </c:pt>
                <c:pt idx="4">
                  <c:v>66569.66</c:v>
                </c:pt>
                <c:pt idx="5">
                  <c:v>73044.97</c:v>
                </c:pt>
                <c:pt idx="6">
                  <c:v>163992.25</c:v>
                </c:pt>
                <c:pt idx="7">
                  <c:v>135186.96</c:v>
                </c:pt>
                <c:pt idx="8">
                  <c:v>66862.41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486.6276"/>
          <c:min val="35818.15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217765.1433333333</c:v>
                </c:pt>
                <c:pt idx="1">
                  <c:v>217765.1433333333</c:v>
                </c:pt>
                <c:pt idx="2">
                  <c:v>217765.1433333333</c:v>
                </c:pt>
                <c:pt idx="3">
                  <c:v>217765.1433333333</c:v>
                </c:pt>
                <c:pt idx="4">
                  <c:v>217765.1433333333</c:v>
                </c:pt>
                <c:pt idx="5">
                  <c:v>217765.1433333333</c:v>
                </c:pt>
                <c:pt idx="6">
                  <c:v>217765.1433333333</c:v>
                </c:pt>
                <c:pt idx="7">
                  <c:v>217765.1433333333</c:v>
                </c:pt>
                <c:pt idx="8">
                  <c:v>217765.1433333333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9508.28479999996"/>
          <c:min val="171635.61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180454.42</c:v>
                </c:pt>
                <c:pt idx="1">
                  <c:v>215415.4</c:v>
                </c:pt>
                <c:pt idx="2">
                  <c:v>257425.61</c:v>
                </c:pt>
                <c:pt idx="3">
                  <c:v>227801.37</c:v>
                </c:pt>
                <c:pt idx="4">
                  <c:v>273946.79</c:v>
                </c:pt>
                <c:pt idx="5">
                  <c:v>290689.48</c:v>
                </c:pt>
                <c:pt idx="6">
                  <c:v>255919.96</c:v>
                </c:pt>
                <c:pt idx="7">
                  <c:v>288607.42</c:v>
                </c:pt>
                <c:pt idx="8">
                  <c:v>270576.38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9508.28479999996"/>
          <c:min val="171635.61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2.15</c:v>
                </c:pt>
                <c:pt idx="1">
                  <c:v>1.94</c:v>
                </c:pt>
                <c:pt idx="2">
                  <c:v>2.46</c:v>
                </c:pt>
                <c:pt idx="3">
                  <c:v>2.72</c:v>
                </c:pt>
                <c:pt idx="4">
                  <c:v>2.16</c:v>
                </c:pt>
                <c:pt idx="5">
                  <c:v>2.66</c:v>
                </c:pt>
                <c:pt idx="6">
                  <c:v>3.14</c:v>
                </c:pt>
                <c:pt idx="7">
                  <c:v>2.75</c:v>
                </c:pt>
                <c:pt idx="8">
                  <c:v>2.78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majorGridlines>
          <c:spPr>
            <a:ln w="9525" cap="flat">
              <a:solidFill>
                <a:srgbClr val="D9D9D9"/>
              </a:solidFill>
              <a:prstDash val="solid"/>
              <a:round/>
            </a:ln>
          </c:spPr>
        </c:majorGridlines>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2.46</c:v>
                </c:pt>
                <c:pt idx="3">
                  <c:v>2.72</c:v>
                </c:pt>
                <c:pt idx="4">
                  <c:v/>
                </c:pt>
                <c:pt idx="5">
                  <c:v>2.66</c:v>
                </c:pt>
                <c:pt idx="6">
                  <c:v>3.14</c:v>
                </c:pt>
                <c:pt idx="7">
                  <c:v>2.75</c:v>
                </c:pt>
                <c:pt idx="8">
                  <c:v>2.78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2.15</c:v>
                </c:pt>
                <c:pt idx="1">
                  <c:v>1.94</c:v>
                </c:pt>
                <c:pt idx="2">
                  <c:v/>
                </c:pt>
                <c:pt idx="3">
                  <c:v/>
                </c:pt>
                <c:pt idx="4">
                  <c:v>2.16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2.79</c:v>
                </c:pt>
                <c:pt idx="1">
                  <c:v>2.37</c:v>
                </c:pt>
                <c:pt idx="2">
                  <c:v/>
                </c:pt>
                <c:pt idx="3">
                  <c:v/>
                </c:pt>
                <c:pt idx="4">
                  <c:v>2.45</c:v>
                </c:pt>
                <c:pt idx="5">
                  <c:v/>
                </c:pt>
                <c:pt idx="6">
                  <c:v/>
                </c:pt>
                <c:pt idx="7">
                  <c:v/>
                </c:pt>
                <c:pt idx="8">
                  <c:v/>
                </c:pt>
                <c:pt idx="9">
                  <c:v>3.21</c:v>
                </c:pt>
                <c:pt idx="10">
                  <c:v/>
                </c:pt>
                <c:pt idx="11">
                  <c:v>2.16</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2.31</c:v>
                </c:pt>
                <c:pt idx="3">
                  <c:v>2.58</c:v>
                </c:pt>
                <c:pt idx="4">
                  <c:v/>
                </c:pt>
                <c:pt idx="5">
                  <c:v>2.59</c:v>
                </c:pt>
                <c:pt idx="6">
                  <c:v>2.77</c:v>
                </c:pt>
                <c:pt idx="7">
                  <c:v>2.43</c:v>
                </c:pt>
                <c:pt idx="8">
                  <c:v>2.28</c:v>
                </c:pt>
                <c:pt idx="9">
                  <c:v/>
                </c:pt>
                <c:pt idx="10">
                  <c:v>1.97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2.79</c:v>
                </c:pt>
                <c:pt idx="1">
                  <c:v>2.37</c:v>
                </c:pt>
                <c:pt idx="2">
                  <c:v>2.31</c:v>
                </c:pt>
                <c:pt idx="3">
                  <c:v>2.58</c:v>
                </c:pt>
                <c:pt idx="4">
                  <c:v>2.45</c:v>
                </c:pt>
                <c:pt idx="5">
                  <c:v>2.59</c:v>
                </c:pt>
                <c:pt idx="6">
                  <c:v>2.77</c:v>
                </c:pt>
                <c:pt idx="7">
                  <c:v>2.43</c:v>
                </c:pt>
                <c:pt idx="8">
                  <c:v>2.28</c:v>
                </c:pt>
                <c:pt idx="9">
                  <c:v>3.21</c:v>
                </c:pt>
                <c:pt idx="10">
                  <c:v>1.97</c:v>
                </c:pt>
                <c:pt idx="11">
                  <c:v>2.16</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123215.66</c:v>
                </c:pt>
                <c:pt idx="1">
                  <c:v>110010.36</c:v>
                </c:pt>
                <c:pt idx="2">
                  <c:v>96829.34</c:v>
                </c:pt>
                <c:pt idx="3">
                  <c:v>95331.84</c:v>
                </c:pt>
                <c:pt idx="4">
                  <c:v>110877.46</c:v>
                </c:pt>
                <c:pt idx="5">
                  <c:v>102619.21</c:v>
                </c:pt>
                <c:pt idx="6">
                  <c:v>90650.85</c:v>
                </c:pt>
                <c:pt idx="7">
                  <c:v>85532.76</c:v>
                </c:pt>
                <c:pt idx="8">
                  <c:v>100726.47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148016.81</c:v>
                </c:pt>
                <c:pt idx="1">
                  <c:v>159327.37</c:v>
                </c:pt>
                <c:pt idx="2">
                  <c:v>128970.55</c:v>
                </c:pt>
                <c:pt idx="3">
                  <c:v>179906.37</c:v>
                </c:pt>
                <c:pt idx="4">
                  <c:v>145330.98</c:v>
                </c:pt>
                <c:pt idx="5">
                  <c:v>138184.45</c:v>
                </c:pt>
                <c:pt idx="6">
                  <c:v>173029.51</c:v>
                </c:pt>
                <c:pt idx="7">
                  <c:v>147169.38</c:v>
                </c:pt>
                <c:pt idx="8">
                  <c:v>152825.04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456.2588"/>
          <c:min val="77982.87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252903.37</c:v>
                </c:pt>
                <c:pt idx="1">
                  <c:v>223193.9</c:v>
                </c:pt>
                <c:pt idx="2">
                  <c:v>179482.82</c:v>
                </c:pt>
                <c:pt idx="3">
                  <c:v>217918.37</c:v>
                </c:pt>
                <c:pt idx="4">
                  <c:v>195605.65</c:v>
                </c:pt>
                <c:pt idx="5">
                  <c:v>237974.66</c:v>
                </c:pt>
                <c:pt idx="6">
                  <c:v>296747.55</c:v>
                </c:pt>
                <c:pt idx="7">
                  <c:v>190269.24</c:v>
                </c:pt>
                <c:pt idx="8">
                  <c:v>153857.55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192210.48</c:v>
                </c:pt>
                <c:pt idx="1">
                  <c:v>178646.09</c:v>
                </c:pt>
                <c:pt idx="2">
                  <c:v>228462.83</c:v>
                </c:pt>
                <c:pt idx="3">
                  <c:v>218643.28</c:v>
                </c:pt>
                <c:pt idx="4">
                  <c:v>248224.17</c:v>
                </c:pt>
                <c:pt idx="5">
                  <c:v>308083.82</c:v>
                </c:pt>
                <c:pt idx="6">
                  <c:v>261983.18</c:v>
                </c:pt>
                <c:pt idx="7">
                  <c:v>279538.54</c:v>
                </c:pt>
                <c:pt idx="8">
                  <c:v>322950.41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6477.83879999997"/>
          <c:min val="140330.1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43201.78</c:v>
                </c:pt>
                <c:pt idx="1">
                  <c:v>44815.95</c:v>
                </c:pt>
                <c:pt idx="2">
                  <c:v>55934.55</c:v>
                </c:pt>
                <c:pt idx="3">
                  <c:v>29188.55</c:v>
                </c:pt>
                <c:pt idx="4">
                  <c:v>31503.8</c:v>
                </c:pt>
                <c:pt idx="5">
                  <c:v>20986.14</c:v>
                </c:pt>
                <c:pt idx="6">
                  <c:v>46723.29</c:v>
                </c:pt>
                <c:pt idx="7">
                  <c:v>20430.16</c:v>
                </c:pt>
                <c:pt idx="8">
                  <c:v>14569.03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30131.57</c:v>
                </c:pt>
                <c:pt idx="1">
                  <c:v>40975.9</c:v>
                </c:pt>
                <c:pt idx="2">
                  <c:v>54618.91</c:v>
                </c:pt>
                <c:pt idx="3">
                  <c:v>63568.61</c:v>
                </c:pt>
                <c:pt idx="4">
                  <c:v>51049.48</c:v>
                </c:pt>
                <c:pt idx="5">
                  <c:v>67600.24</c:v>
                </c:pt>
                <c:pt idx="6">
                  <c:v>88176.2</c:v>
                </c:pt>
                <c:pt idx="7">
                  <c:v>61545.37</c:v>
                </c:pt>
                <c:pt idx="8">
                  <c:v>65597.54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4064.7736"/>
          <c:min val="8680.4564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189947.72</c:v>
                </c:pt>
                <c:pt idx="1">
                  <c:v>162230.85</c:v>
                </c:pt>
                <c:pt idx="2">
                  <c:v>178323.25</c:v>
                </c:pt>
                <c:pt idx="3">
                  <c:v>208646.79</c:v>
                </c:pt>
                <c:pt idx="4">
                  <c:v>256912.26</c:v>
                </c:pt>
                <c:pt idx="5">
                  <c:v>180726.7</c:v>
                </c:pt>
                <c:pt idx="6">
                  <c:v>201546.97</c:v>
                </c:pt>
                <c:pt idx="7">
                  <c:v>197732.03</c:v>
                </c:pt>
                <c:pt idx="8">
                  <c:v>231336.45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142896.78</c:v>
                </c:pt>
                <c:pt idx="1">
                  <c:v>92107.51</c:v>
                </c:pt>
                <c:pt idx="2">
                  <c:v>127753.03</c:v>
                </c:pt>
                <c:pt idx="3">
                  <c:v>216989.45</c:v>
                </c:pt>
                <c:pt idx="4">
                  <c:v>141674.57</c:v>
                </c:pt>
                <c:pt idx="5">
                  <c:v>149404.88</c:v>
                </c:pt>
                <c:pt idx="6">
                  <c:v>225880.72</c:v>
                </c:pt>
                <c:pt idx="7">
                  <c:v>152011.84</c:v>
                </c:pt>
                <c:pt idx="8">
                  <c:v>194426.91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0096.64"/>
          <c:min val="78923.12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235100.17</c:v>
                </c:pt>
                <c:pt idx="1">
                  <c:v>223369.51</c:v>
                </c:pt>
                <c:pt idx="2">
                  <c:v>198683.97</c:v>
                </c:pt>
                <c:pt idx="3">
                  <c:v>203999.16</c:v>
                </c:pt>
                <c:pt idx="4">
                  <c:v>193727.9</c:v>
                </c:pt>
                <c:pt idx="5">
                  <c:v>214511.09</c:v>
                </c:pt>
                <c:pt idx="6">
                  <c:v>266254.12</c:v>
                </c:pt>
                <c:pt idx="7">
                  <c:v>224751.57</c:v>
                </c:pt>
                <c:pt idx="8">
                  <c:v>219517.46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154695.8</c:v>
                </c:pt>
                <c:pt idx="1">
                  <c:v>211049.3</c:v>
                </c:pt>
                <c:pt idx="2">
                  <c:v>233643.92</c:v>
                </c:pt>
                <c:pt idx="3">
                  <c:v>196463.73</c:v>
                </c:pt>
                <c:pt idx="4">
                  <c:v>176540.16</c:v>
                </c:pt>
                <c:pt idx="5">
                  <c:v>176088.02</c:v>
                </c:pt>
                <c:pt idx="6">
                  <c:v>194226.98</c:v>
                </c:pt>
                <c:pt idx="7">
                  <c:v>220020.33</c:v>
                </c:pt>
                <c:pt idx="8">
                  <c:v>171512.83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5178.7856"/>
          <c:min val="145771.1343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125680</c:v>
                </c:pt>
                <c:pt idx="1">
                  <c:v>107016.81</c:v>
                </c:pt>
                <c:pt idx="2">
                  <c:v>117943.74</c:v>
                </c:pt>
                <c:pt idx="3">
                  <c:v>96609.31</c:v>
                </c:pt>
                <c:pt idx="4">
                  <c:v>101029.54</c:v>
                </c:pt>
                <c:pt idx="5">
                  <c:v>58681.66</c:v>
                </c:pt>
                <c:pt idx="6">
                  <c:v>112248.66</c:v>
                </c:pt>
                <c:pt idx="7">
                  <c:v>43704.85</c:v>
                </c:pt>
                <c:pt idx="8">
                  <c:v>48775.59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56609.46</c:v>
                </c:pt>
                <c:pt idx="1">
                  <c:v>55714.53</c:v>
                </c:pt>
                <c:pt idx="2">
                  <c:v>60023.65</c:v>
                </c:pt>
                <c:pt idx="3">
                  <c:v>56589.33</c:v>
                </c:pt>
                <c:pt idx="4">
                  <c:v>48530.9</c:v>
                </c:pt>
                <c:pt idx="5">
                  <c:v>61490.04</c:v>
                </c:pt>
                <c:pt idx="6">
                  <c:v>101592.87</c:v>
                </c:pt>
                <c:pt idx="7">
                  <c:v>64314.52</c:v>
                </c:pt>
                <c:pt idx="8">
                  <c:v>63921.71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238.012"/>
          <c:min val="37146.8379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134753.90333333335</c:v>
                </c:pt>
                <c:pt idx="1">
                  <c:v>134753.90333333335</c:v>
                </c:pt>
                <c:pt idx="2">
                  <c:v>134753.90333333335</c:v>
                </c:pt>
                <c:pt idx="3">
                  <c:v>134753.90333333335</c:v>
                </c:pt>
                <c:pt idx="4">
                  <c:v>134753.90333333335</c:v>
                </c:pt>
                <c:pt idx="5">
                  <c:v>134753.90333333335</c:v>
                </c:pt>
                <c:pt idx="6">
                  <c:v>134753.90333333335</c:v>
                </c:pt>
                <c:pt idx="7">
                  <c:v>134753.90333333335</c:v>
                </c:pt>
                <c:pt idx="8">
                  <c:v>134753.90333333335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5273.0812"/>
          <c:min val="37383.0387999999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132371.69</c:v>
                </c:pt>
                <c:pt idx="1">
                  <c:v>119337.79</c:v>
                </c:pt>
                <c:pt idx="2">
                  <c:v>152552.23</c:v>
                </c:pt>
                <c:pt idx="3">
                  <c:v>185905.84</c:v>
                </c:pt>
                <c:pt idx="4">
                  <c:v>59306.49</c:v>
                </c:pt>
                <c:pt idx="5">
                  <c:v>174179.54</c:v>
                </c:pt>
                <c:pt idx="6">
                  <c:v>333349.63</c:v>
                </c:pt>
                <c:pt idx="7">
                  <c:v>179704.81</c:v>
                </c:pt>
                <c:pt idx="8">
                  <c:v>212928.61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5273.0812"/>
          <c:min val="37383.0387999999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199773.1333333333</c:v>
                </c:pt>
                <c:pt idx="1">
                  <c:v>199773.1333333333</c:v>
                </c:pt>
                <c:pt idx="2">
                  <c:v>199773.1333333333</c:v>
                </c:pt>
                <c:pt idx="3">
                  <c:v>199773.1333333333</c:v>
                </c:pt>
                <c:pt idx="4">
                  <c:v>199773.1333333333</c:v>
                </c:pt>
                <c:pt idx="5">
                  <c:v>199773.1333333333</c:v>
                </c:pt>
                <c:pt idx="6">
                  <c:v>199773.1333333333</c:v>
                </c:pt>
                <c:pt idx="7">
                  <c:v>199773.1333333333</c:v>
                </c:pt>
                <c:pt idx="8">
                  <c:v>199773.1333333333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494.7556"/>
          <c:min val="167101.74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192210.48</c:v>
                </c:pt>
                <c:pt idx="1">
                  <c:v>178646.09</c:v>
                </c:pt>
                <c:pt idx="2">
                  <c:v>228462.83</c:v>
                </c:pt>
                <c:pt idx="3">
                  <c:v>218643.28</c:v>
                </c:pt>
                <c:pt idx="4">
                  <c:v>248224.17</c:v>
                </c:pt>
                <c:pt idx="5">
                  <c:v>308083.82</c:v>
                </c:pt>
                <c:pt idx="6">
                  <c:v>261983.18</c:v>
                </c:pt>
                <c:pt idx="7">
                  <c:v>279538.54</c:v>
                </c:pt>
                <c:pt idx="8">
                  <c:v>322950.41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494.7556"/>
          <c:min val="167101.74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120919.10666666666</c:v>
                </c:pt>
                <c:pt idx="1">
                  <c:v>120919.10666666666</c:v>
                </c:pt>
                <c:pt idx="2">
                  <c:v>120919.10666666666</c:v>
                </c:pt>
                <c:pt idx="3">
                  <c:v>120919.10666666666</c:v>
                </c:pt>
                <c:pt idx="4">
                  <c:v>120919.10666666666</c:v>
                </c:pt>
                <c:pt idx="5">
                  <c:v>120919.10666666666</c:v>
                </c:pt>
                <c:pt idx="6">
                  <c:v>120919.10666666666</c:v>
                </c:pt>
                <c:pt idx="7">
                  <c:v>120919.10666666666</c:v>
                </c:pt>
                <c:pt idx="8">
                  <c:v>120919.10666666666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6582.5768"/>
          <c:min val="81405.65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142896.78</c:v>
                </c:pt>
                <c:pt idx="1">
                  <c:v>92107.51</c:v>
                </c:pt>
                <c:pt idx="2">
                  <c:v>127753.03</c:v>
                </c:pt>
                <c:pt idx="3">
                  <c:v>216989.45</c:v>
                </c:pt>
                <c:pt idx="4">
                  <c:v>141674.57</c:v>
                </c:pt>
                <c:pt idx="5">
                  <c:v>149404.88</c:v>
                </c:pt>
                <c:pt idx="6">
                  <c:v>225880.72</c:v>
                </c:pt>
                <c:pt idx="7">
                  <c:v>152011.84</c:v>
                </c:pt>
                <c:pt idx="8">
                  <c:v>194426.91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6582.5768"/>
          <c:min val="81405.65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136708.57</c:v>
                </c:pt>
                <c:pt idx="1">
                  <c:v>112824.28</c:v>
                </c:pt>
                <c:pt idx="2">
                  <c:v>111636.20999999999</c:v>
                </c:pt>
                <c:pt idx="3">
                  <c:v>138557</c:v>
                </c:pt>
                <c:pt idx="4">
                  <c:v>102306.09</c:v>
                </c:pt>
                <c:pt idx="5">
                  <c:v>110209.59</c:v>
                </c:pt>
                <c:pt idx="6">
                  <c:v>167539.66999999998</c:v>
                </c:pt>
                <c:pt idx="7">
                  <c:v>130883.47</c:v>
                </c:pt>
                <c:pt idx="8">
                  <c:v>120116.82999999999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122685.44</c:v>
                </c:pt>
                <c:pt idx="1">
                  <c:v>170274.09</c:v>
                </c:pt>
                <c:pt idx="2">
                  <c:v>181574.05</c:v>
                </c:pt>
                <c:pt idx="3">
                  <c:v>159002.65</c:v>
                </c:pt>
                <c:pt idx="4">
                  <c:v>158555.92</c:v>
                </c:pt>
                <c:pt idx="5">
                  <c:v>177958.81</c:v>
                </c:pt>
                <c:pt idx="6">
                  <c:v>206377.29</c:v>
                </c:pt>
                <c:pt idx="7">
                  <c:v>179348.7</c:v>
                </c:pt>
                <c:pt idx="8">
                  <c:v>179494.38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4702.986"/>
          <c:min val="93980.3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279158.61</c:v>
                </c:pt>
                <c:pt idx="1">
                  <c:v>246299.61</c:v>
                </c:pt>
                <c:pt idx="2">
                  <c:v>277949.06</c:v>
                </c:pt>
                <c:pt idx="3">
                  <c:v>257326.83000000002</c:v>
                </c:pt>
                <c:pt idx="4">
                  <c:v>261986.21</c:v>
                </c:pt>
                <c:pt idx="5">
                  <c:v>230101.88</c:v>
                </c:pt>
                <c:pt idx="6">
                  <c:v>240805.24</c:v>
                </c:pt>
                <c:pt idx="7">
                  <c:v>274478.65</c:v>
                </c:pt>
                <c:pt idx="8">
                  <c:v>196527.96000000002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318330.82</c:v>
                </c:pt>
                <c:pt idx="1">
                  <c:v>312431.39</c:v>
                </c:pt>
                <c:pt idx="2">
                  <c:v>357803.52999999997</c:v>
                </c:pt>
                <c:pt idx="3">
                  <c:v>316035.44</c:v>
                </c:pt>
                <c:pt idx="4">
                  <c:v>297229.79000000004</c:v>
                </c:pt>
                <c:pt idx="5">
                  <c:v>310532.31</c:v>
                </c:pt>
                <c:pt idx="6">
                  <c:v>341103.91000000003</c:v>
                </c:pt>
                <c:pt idx="7">
                  <c:v>359225.20999999996</c:v>
                </c:pt>
                <c:pt idx="8">
                  <c:v>369333.19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3157.6084"/>
          <c:min val="182703.5416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340480.1</c:v>
                </c:pt>
                <c:pt idx="1">
                  <c:v>275067.74</c:v>
                </c:pt>
                <c:pt idx="2">
                  <c:v>379293.83</c:v>
                </c:pt>
                <c:pt idx="3">
                  <c:v>394725.16000000003</c:v>
                </c:pt>
                <c:pt idx="4">
                  <c:v>367038.15</c:v>
                </c:pt>
                <c:pt idx="5">
                  <c:v>351035.32</c:v>
                </c:pt>
                <c:pt idx="6">
                  <c:v>419932</c:v>
                </c:pt>
                <c:pt idx="7">
                  <c:v>404285.91000000003</c:v>
                </c:pt>
                <c:pt idx="8">
                  <c:v>449602.85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439181.49</c:v>
                </c:pt>
                <c:pt idx="1">
                  <c:v>416904.62</c:v>
                </c:pt>
                <c:pt idx="2">
                  <c:v>459207.05</c:v>
                </c:pt>
                <c:pt idx="3">
                  <c:v>457504.79</c:v>
                </c:pt>
                <c:pt idx="4">
                  <c:v>496653.73</c:v>
                </c:pt>
                <c:pt idx="5">
                  <c:v>485200.04000000004</c:v>
                </c:pt>
                <c:pt idx="6">
                  <c:v>480320.26</c:v>
                </c:pt>
                <c:pt idx="7">
                  <c:v>447921.62</c:v>
                </c:pt>
                <c:pt idx="8">
                  <c:v>462303.26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4380.6092"/>
          <c:min val="257340.86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566830.23</c:v>
                </c:pt>
                <c:pt idx="1">
                  <c:v>504828.86</c:v>
                </c:pt>
                <c:pt idx="2">
                  <c:v>482747.35</c:v>
                </c:pt>
                <c:pt idx="3">
                  <c:v>372562.69999999995</c:v>
                </c:pt>
                <c:pt idx="4">
                  <c:v>307076.6</c:v>
                </c:pt>
                <c:pt idx="5">
                  <c:v>275196.9</c:v>
                </c:pt>
                <c:pt idx="6">
                  <c:v>261415.97000000003</c:v>
                </c:pt>
                <c:pt idx="7">
                  <c:v>340682.17</c:v>
                </c:pt>
                <c:pt idx="8">
                  <c:v>298596.23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292739.36</c:v>
                </c:pt>
                <c:pt idx="1">
                  <c:v>331018.14</c:v>
                </c:pt>
                <c:pt idx="2">
                  <c:v>334322.33</c:v>
                </c:pt>
                <c:pt idx="3">
                  <c:v>331403.36</c:v>
                </c:pt>
                <c:pt idx="4">
                  <c:v>350644.58</c:v>
                </c:pt>
                <c:pt idx="5">
                  <c:v>338879.20999999996</c:v>
                </c:pt>
                <c:pt idx="6">
                  <c:v>288153.72</c:v>
                </c:pt>
                <c:pt idx="7">
                  <c:v>329076.15</c:v>
                </c:pt>
                <c:pt idx="8">
                  <c:v>296912.56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91263.3708"/>
          <c:min val="236982.8292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159983.26</c:v>
                </c:pt>
                <c:pt idx="1">
                  <c:v>115519.44</c:v>
                </c:pt>
                <c:pt idx="2">
                  <c:v>118670.86</c:v>
                </c:pt>
                <c:pt idx="3">
                  <c:v>148822.94</c:v>
                </c:pt>
                <c:pt idx="4">
                  <c:v>126158.02</c:v>
                </c:pt>
                <c:pt idx="5">
                  <c:v>119292.35</c:v>
                </c:pt>
                <c:pt idx="6">
                  <c:v>122834.16999999998</c:v>
                </c:pt>
                <c:pt idx="7">
                  <c:v>123783.98999999999</c:v>
                </c:pt>
                <c:pt idx="8">
                  <c:v>95798.85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117493.94</c:v>
                </c:pt>
                <c:pt idx="1">
                  <c:v>82680.94</c:v>
                </c:pt>
                <c:pt idx="2">
                  <c:v>100488.31</c:v>
                </c:pt>
                <c:pt idx="3">
                  <c:v>115559.59</c:v>
                </c:pt>
                <c:pt idx="4">
                  <c:v>93798.13</c:v>
                </c:pt>
                <c:pt idx="5">
                  <c:v>131122.11</c:v>
                </c:pt>
                <c:pt idx="6">
                  <c:v>127210.19</c:v>
                </c:pt>
                <c:pt idx="7">
                  <c:v>99536.29</c:v>
                </c:pt>
                <c:pt idx="8">
                  <c:v>100128.37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167.4456"/>
          <c:min val="76496.75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548417.28</c:v>
                </c:pt>
                <c:pt idx="1">
                  <c:v>545274.66</c:v>
                </c:pt>
                <c:pt idx="2">
                  <c:v>605611.99</c:v>
                </c:pt>
                <c:pt idx="3">
                  <c:v>542256.23</c:v>
                </c:pt>
                <c:pt idx="4">
                  <c:v>678618.97</c:v>
                </c:pt>
                <c:pt idx="5">
                  <c:v>662986.98</c:v>
                </c:pt>
                <c:pt idx="6">
                  <c:v>675535.23</c:v>
                </c:pt>
                <c:pt idx="7">
                  <c:v>684367.38</c:v>
                </c:pt>
                <c:pt idx="8">
                  <c:v>608424.47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583117.07</c:v>
                </c:pt>
                <c:pt idx="1">
                  <c:v>477083.23</c:v>
                </c:pt>
                <c:pt idx="2">
                  <c:v>515173.79</c:v>
                </c:pt>
                <c:pt idx="3">
                  <c:v>519619.25</c:v>
                </c:pt>
                <c:pt idx="4">
                  <c:v>526372.95</c:v>
                </c:pt>
                <c:pt idx="5">
                  <c:v>562682.6900000001</c:v>
                </c:pt>
                <c:pt idx="6">
                  <c:v>573702.03</c:v>
                </c:pt>
                <c:pt idx="7">
                  <c:v>538592.21</c:v>
                </c:pt>
                <c:pt idx="8">
                  <c:v>493957.77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950.112"/>
          <c:min val="460500.497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313194.3666666667</c:v>
                </c:pt>
                <c:pt idx="1">
                  <c:v>313194.3666666667</c:v>
                </c:pt>
                <c:pt idx="2">
                  <c:v>313194.3666666667</c:v>
                </c:pt>
                <c:pt idx="3">
                  <c:v>313194.3666666667</c:v>
                </c:pt>
                <c:pt idx="4">
                  <c:v>313194.3666666667</c:v>
                </c:pt>
                <c:pt idx="5">
                  <c:v>313194.3666666667</c:v>
                </c:pt>
                <c:pt idx="6">
                  <c:v>313194.3666666667</c:v>
                </c:pt>
                <c:pt idx="7">
                  <c:v>313194.3666666667</c:v>
                </c:pt>
                <c:pt idx="8">
                  <c:v>313194.3666666667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3499.21200000006"/>
          <c:min val="223451.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312195.81</c:v>
                </c:pt>
                <c:pt idx="1">
                  <c:v>244144.63</c:v>
                </c:pt>
                <c:pt idx="2">
                  <c:v>383242.66000000003</c:v>
                </c:pt>
                <c:pt idx="3">
                  <c:v>370587.38</c:v>
                </c:pt>
                <c:pt idx="4">
                  <c:v>346514.70999999996</c:v>
                </c:pt>
                <c:pt idx="5">
                  <c:v>373696.75</c:v>
                </c:pt>
                <c:pt idx="6">
                  <c:v>354810.52</c:v>
                </c:pt>
                <c:pt idx="7">
                  <c:v>417024.20999999996</c:v>
                </c:pt>
                <c:pt idx="8">
                  <c:v>502806.28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3499.21200000006"/>
          <c:min val="223451.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227106.68333333335</c:v>
                </c:pt>
                <c:pt idx="1">
                  <c:v>227106.68333333335</c:v>
                </c:pt>
                <c:pt idx="2">
                  <c:v>227106.68333333335</c:v>
                </c:pt>
                <c:pt idx="3">
                  <c:v>227106.68333333335</c:v>
                </c:pt>
                <c:pt idx="4">
                  <c:v>227106.68333333335</c:v>
                </c:pt>
                <c:pt idx="5">
                  <c:v>227106.68333333335</c:v>
                </c:pt>
                <c:pt idx="6">
                  <c:v>227106.68333333335</c:v>
                </c:pt>
                <c:pt idx="7">
                  <c:v>227106.68333333335</c:v>
                </c:pt>
                <c:pt idx="8">
                  <c:v>227106.68333333335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9166.5412"/>
          <c:min val="212049.2988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220126.35</c:v>
                </c:pt>
                <c:pt idx="1">
                  <c:v>225929.27000000002</c:v>
                </c:pt>
                <c:pt idx="2">
                  <c:v>235264.43</c:v>
                </c:pt>
                <c:pt idx="3">
                  <c:v>268052.81</c:v>
                </c:pt>
                <c:pt idx="4">
                  <c:v>236399.33000000002</c:v>
                </c:pt>
                <c:pt idx="5">
                  <c:v>246286.1</c:v>
                </c:pt>
                <c:pt idx="6">
                  <c:v>321089.49</c:v>
                </c:pt>
                <c:pt idx="7">
                  <c:v>286186.58</c:v>
                </c:pt>
                <c:pt idx="8">
                  <c:v>296614.76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9166.5412"/>
          <c:min val="212049.2988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332331.74333333335</c:v>
                </c:pt>
                <c:pt idx="1">
                  <c:v>332331.74333333335</c:v>
                </c:pt>
                <c:pt idx="2">
                  <c:v>332331.74333333335</c:v>
                </c:pt>
                <c:pt idx="3">
                  <c:v>332331.74333333335</c:v>
                </c:pt>
                <c:pt idx="4">
                  <c:v>332331.74333333335</c:v>
                </c:pt>
                <c:pt idx="5">
                  <c:v>332331.74333333335</c:v>
                </c:pt>
                <c:pt idx="6">
                  <c:v>332331.74333333335</c:v>
                </c:pt>
                <c:pt idx="7">
                  <c:v>332331.74333333335</c:v>
                </c:pt>
                <c:pt idx="8">
                  <c:v>332331.74333333335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43070.14239999995"/>
          <c:min val="310778.48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319902.05</c:v>
                </c:pt>
                <c:pt idx="1">
                  <c:v>332719.38</c:v>
                </c:pt>
                <c:pt idx="2">
                  <c:v>344373.8</c:v>
                </c:pt>
                <c:pt idx="3">
                  <c:v>411838.2</c:v>
                </c:pt>
                <c:pt idx="4">
                  <c:v>359315.94</c:v>
                </c:pt>
                <c:pt idx="5">
                  <c:v>360807.55</c:v>
                </c:pt>
                <c:pt idx="6">
                  <c:v>433946.57999999996</c:v>
                </c:pt>
                <c:pt idx="7">
                  <c:v>424949.79000000004</c:v>
                </c:pt>
                <c:pt idx="8">
                  <c:v>428298.29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43070.14239999995"/>
          <c:min val="310778.48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69798.23</c:v>
                </c:pt>
                <c:pt idx="1">
                  <c:v>71904.48</c:v>
                </c:pt>
                <c:pt idx="2">
                  <c:v>59129.22</c:v>
                </c:pt>
                <c:pt idx="3">
                  <c:v>91421.93</c:v>
                </c:pt>
                <c:pt idx="4">
                  <c:v>64530.06</c:v>
                </c:pt>
                <c:pt idx="5">
                  <c:v>59551.19</c:v>
                </c:pt>
                <c:pt idx="6">
                  <c:v>95630.58</c:v>
                </c:pt>
                <c:pt idx="7">
                  <c:v>70250.86</c:v>
                </c:pt>
                <c:pt idx="8">
                  <c:v>65453.38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69682.41</c:v>
                </c:pt>
                <c:pt idx="1">
                  <c:v>92272.03</c:v>
                </c:pt>
                <c:pt idx="2">
                  <c:v>125178.68</c:v>
                </c:pt>
                <c:pt idx="3">
                  <c:v>95472.62</c:v>
                </c:pt>
                <c:pt idx="4">
                  <c:v>106105.6</c:v>
                </c:pt>
                <c:pt idx="5">
                  <c:v>118651.26</c:v>
                </c:pt>
                <c:pt idx="6">
                  <c:v>142107.98</c:v>
                </c:pt>
                <c:pt idx="7">
                  <c:v>123108.19</c:v>
                </c:pt>
                <c:pt idx="8">
                  <c:v>119981.01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746.2808"/>
          <c:min val="52490.9192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202262.9</c:v>
                </c:pt>
                <c:pt idx="1">
                  <c:v>182948.08</c:v>
                </c:pt>
                <c:pt idx="2">
                  <c:v>203100.59</c:v>
                </c:pt>
                <c:pt idx="3">
                  <c:v>183103.26</c:v>
                </c:pt>
                <c:pt idx="4">
                  <c:v>191403.86</c:v>
                </c:pt>
                <c:pt idx="5">
                  <c:v>164166.47</c:v>
                </c:pt>
                <c:pt idx="6">
                  <c:v>165192.98</c:v>
                </c:pt>
                <c:pt idx="7">
                  <c:v>178976.28</c:v>
                </c:pt>
                <c:pt idx="8">
                  <c:v>139572.17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220081.2</c:v>
                </c:pt>
                <c:pt idx="1">
                  <c:v>219688.36</c:v>
                </c:pt>
                <c:pt idx="2">
                  <c:v>242099.99</c:v>
                </c:pt>
                <c:pt idx="3">
                  <c:v>225354.2</c:v>
                </c:pt>
                <c:pt idx="4">
                  <c:v>211300.66</c:v>
                </c:pt>
                <c:pt idx="5">
                  <c:v>220497.88</c:v>
                </c:pt>
                <c:pt idx="6">
                  <c:v>237136.14</c:v>
                </c:pt>
                <c:pt idx="7">
                  <c:v>246949.08</c:v>
                </c:pt>
                <c:pt idx="8">
                  <c:v>262460.99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2292.0956"/>
          <c:min val="129741.0644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216918.34</c:v>
                </c:pt>
                <c:pt idx="1">
                  <c:v>168250.31</c:v>
                </c:pt>
                <c:pt idx="2">
                  <c:v>264333.21</c:v>
                </c:pt>
                <c:pt idx="3">
                  <c:v>282688.96</c:v>
                </c:pt>
                <c:pt idx="4">
                  <c:v>256619.26</c:v>
                </c:pt>
                <c:pt idx="5">
                  <c:v>238233.6</c:v>
                </c:pt>
                <c:pt idx="6">
                  <c:v>281263.05</c:v>
                </c:pt>
                <c:pt idx="7">
                  <c:v>276144.77</c:v>
                </c:pt>
                <c:pt idx="8">
                  <c:v>326475.32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328408.31</c:v>
                </c:pt>
                <c:pt idx="1">
                  <c:v>305255.29</c:v>
                </c:pt>
                <c:pt idx="2">
                  <c:v>340713.51</c:v>
                </c:pt>
                <c:pt idx="3">
                  <c:v>321010.17</c:v>
                </c:pt>
                <c:pt idx="4">
                  <c:v>342497.71</c:v>
                </c:pt>
                <c:pt idx="5">
                  <c:v>334870.15</c:v>
                </c:pt>
                <c:pt idx="6">
                  <c:v>330217.21</c:v>
                </c:pt>
                <c:pt idx="7">
                  <c:v>314456.25</c:v>
                </c:pt>
                <c:pt idx="8">
                  <c:v>332821.98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6437.50200000004"/>
          <c:min val="154310.5179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353275.54</c:v>
                </c:pt>
                <c:pt idx="1">
                  <c:v>314975.53</c:v>
                </c:pt>
                <c:pt idx="2">
                  <c:v>314604.76</c:v>
                </c:pt>
                <c:pt idx="3">
                  <c:v>270945.17</c:v>
                </c:pt>
                <c:pt idx="4">
                  <c:v>236041.07</c:v>
                </c:pt>
                <c:pt idx="5">
                  <c:v>209056.48</c:v>
                </c:pt>
                <c:pt idx="6">
                  <c:v>181741.73</c:v>
                </c:pt>
                <c:pt idx="7">
                  <c:v>237104.9</c:v>
                </c:pt>
                <c:pt idx="8">
                  <c:v>207834.25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194970.43</c:v>
                </c:pt>
                <c:pt idx="1">
                  <c:v>238617.46</c:v>
                </c:pt>
                <c:pt idx="2">
                  <c:v>233128.95</c:v>
                </c:pt>
                <c:pt idx="3">
                  <c:v>222241.48</c:v>
                </c:pt>
                <c:pt idx="4">
                  <c:v>228299.88</c:v>
                </c:pt>
                <c:pt idx="5">
                  <c:v>217804.65</c:v>
                </c:pt>
                <c:pt idx="6">
                  <c:v>180347.34</c:v>
                </c:pt>
                <c:pt idx="7">
                  <c:v>197623.48</c:v>
                </c:pt>
                <c:pt idx="8">
                  <c:v>174623.32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7567.7176"/>
          <c:min val="160331.14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102033.74</c:v>
                </c:pt>
                <c:pt idx="1">
                  <c:v>76401</c:v>
                </c:pt>
                <c:pt idx="2">
                  <c:v>76469</c:v>
                </c:pt>
                <c:pt idx="3">
                  <c:v>97849.57</c:v>
                </c:pt>
                <c:pt idx="4">
                  <c:v>76957.35</c:v>
                </c:pt>
                <c:pt idx="5">
                  <c:v>80529.47</c:v>
                </c:pt>
                <c:pt idx="6">
                  <c:v>75751.65</c:v>
                </c:pt>
                <c:pt idx="7">
                  <c:v>76285.47</c:v>
                </c:pt>
                <c:pt idx="8">
                  <c:v>61238.72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77148.21</c:v>
                </c:pt>
                <c:pt idx="1">
                  <c:v>50714.3</c:v>
                </c:pt>
                <c:pt idx="2">
                  <c:v>62970.27</c:v>
                </c:pt>
                <c:pt idx="3">
                  <c:v>69943.09</c:v>
                </c:pt>
                <c:pt idx="4">
                  <c:v>57099.67</c:v>
                </c:pt>
                <c:pt idx="5">
                  <c:v>81302.86</c:v>
                </c:pt>
                <c:pt idx="6">
                  <c:v>71072.87</c:v>
                </c:pt>
                <c:pt idx="7">
                  <c:v>57804.52</c:v>
                </c:pt>
                <c:pt idx="8">
                  <c:v>60424.61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6139.29520000001"/>
          <c:min val="46608.74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391793.32</c:v>
                </c:pt>
                <c:pt idx="1">
                  <c:v>381151.32</c:v>
                </c:pt>
                <c:pt idx="2">
                  <c:v>436075.66</c:v>
                </c:pt>
                <c:pt idx="3">
                  <c:v>404816.51</c:v>
                </c:pt>
                <c:pt idx="4">
                  <c:v>482371.2</c:v>
                </c:pt>
                <c:pt idx="5">
                  <c:v>481502.62</c:v>
                </c:pt>
                <c:pt idx="6">
                  <c:v>517873.69</c:v>
                </c:pt>
                <c:pt idx="7">
                  <c:v>518472.34</c:v>
                </c:pt>
                <c:pt idx="8">
                  <c:v>435666.96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440569.72</c:v>
                </c:pt>
                <c:pt idx="1">
                  <c:v>353021.73</c:v>
                </c:pt>
                <c:pt idx="2">
                  <c:v>386548.74</c:v>
                </c:pt>
                <c:pt idx="3">
                  <c:v>386837.05</c:v>
                </c:pt>
                <c:pt idx="4">
                  <c:v>393064.84</c:v>
                </c:pt>
                <c:pt idx="5">
                  <c:v>409975.28</c:v>
                </c:pt>
                <c:pt idx="6">
                  <c:v>412383.09</c:v>
                </c:pt>
                <c:pt idx="7">
                  <c:v>379293.05</c:v>
                </c:pt>
                <c:pt idx="8">
                  <c:v>340820.23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32684.5088000001"/>
          <c:min val="326608.0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199414.9533333333</c:v>
                </c:pt>
                <c:pt idx="1">
                  <c:v>199414.9533333333</c:v>
                </c:pt>
                <c:pt idx="2">
                  <c:v>199414.9533333333</c:v>
                </c:pt>
                <c:pt idx="3">
                  <c:v>199414.9533333333</c:v>
                </c:pt>
                <c:pt idx="4">
                  <c:v>199414.9533333333</c:v>
                </c:pt>
                <c:pt idx="5">
                  <c:v>199414.9533333333</c:v>
                </c:pt>
                <c:pt idx="6">
                  <c:v>199414.9533333333</c:v>
                </c:pt>
                <c:pt idx="7">
                  <c:v>199414.9533333333</c:v>
                </c:pt>
                <c:pt idx="8">
                  <c:v>199414.9533333333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3970.87"/>
          <c:min val="14703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200653.06</c:v>
                </c:pt>
                <c:pt idx="1">
                  <c:v>158543.21</c:v>
                </c:pt>
                <c:pt idx="2">
                  <c:v>239048.59</c:v>
                </c:pt>
                <c:pt idx="3">
                  <c:v>229696.39</c:v>
                </c:pt>
                <c:pt idx="4">
                  <c:v>230043.21</c:v>
                </c:pt>
                <c:pt idx="5">
                  <c:v>228281.59</c:v>
                </c:pt>
                <c:pt idx="6">
                  <c:v>237882.27</c:v>
                </c:pt>
                <c:pt idx="7">
                  <c:v>285444.13</c:v>
                </c:pt>
                <c:pt idx="8">
                  <c:v>302457.71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3970.87"/>
          <c:min val="14703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132477.43333333335</c:v>
                </c:pt>
                <c:pt idx="1">
                  <c:v>132477.43333333335</c:v>
                </c:pt>
                <c:pt idx="2">
                  <c:v>132477.43333333335</c:v>
                </c:pt>
                <c:pt idx="3">
                  <c:v>132477.43333333335</c:v>
                </c:pt>
                <c:pt idx="4">
                  <c:v>132477.43333333335</c:v>
                </c:pt>
                <c:pt idx="5">
                  <c:v>132477.43333333335</c:v>
                </c:pt>
                <c:pt idx="6">
                  <c:v>132477.43333333335</c:v>
                </c:pt>
                <c:pt idx="7">
                  <c:v>132477.43333333335</c:v>
                </c:pt>
                <c:pt idx="8">
                  <c:v>132477.43333333335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2198.226"/>
          <c:min val="120486.794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125432.41</c:v>
                </c:pt>
                <c:pt idx="1">
                  <c:v>134497.26</c:v>
                </c:pt>
                <c:pt idx="2">
                  <c:v>137502.63</c:v>
                </c:pt>
                <c:pt idx="3">
                  <c:v>157909.72</c:v>
                </c:pt>
                <c:pt idx="4">
                  <c:v>150491.06</c:v>
                </c:pt>
                <c:pt idx="5">
                  <c:v>154136.1</c:v>
                </c:pt>
                <c:pt idx="6">
                  <c:v>187252.61</c:v>
                </c:pt>
                <c:pt idx="7">
                  <c:v>171149.75</c:v>
                </c:pt>
                <c:pt idx="8">
                  <c:v>176195.28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2198.226"/>
          <c:min val="120486.794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95711.04000000001</c:v>
                </c:pt>
                <c:pt idx="1">
                  <c:v>95711.04000000001</c:v>
                </c:pt>
                <c:pt idx="2">
                  <c:v>95711.04000000001</c:v>
                </c:pt>
                <c:pt idx="3">
                  <c:v>95711.04000000001</c:v>
                </c:pt>
                <c:pt idx="4">
                  <c:v>95711.04000000001</c:v>
                </c:pt>
                <c:pt idx="5">
                  <c:v>95711.04000000001</c:v>
                </c:pt>
                <c:pt idx="6">
                  <c:v>95711.04000000001</c:v>
                </c:pt>
                <c:pt idx="7">
                  <c:v>95711.04000000001</c:v>
                </c:pt>
                <c:pt idx="8">
                  <c:v>95711.04000000001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902.02560000002"/>
          <c:min val="63888.3644000000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69682.41</c:v>
                </c:pt>
                <c:pt idx="1">
                  <c:v>92272.03</c:v>
                </c:pt>
                <c:pt idx="2">
                  <c:v>125178.68</c:v>
                </c:pt>
                <c:pt idx="3">
                  <c:v>95472.62</c:v>
                </c:pt>
                <c:pt idx="4">
                  <c:v>106105.6</c:v>
                </c:pt>
                <c:pt idx="5">
                  <c:v>118651.26</c:v>
                </c:pt>
                <c:pt idx="6">
                  <c:v>142107.98</c:v>
                </c:pt>
                <c:pt idx="7">
                  <c:v>123108.19</c:v>
                </c:pt>
                <c:pt idx="8">
                  <c:v>119981.01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902.02560000002"/>
          <c:min val="63888.3644000000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76895.71</c:v>
                </c:pt>
                <c:pt idx="1">
                  <c:v>63351.53</c:v>
                </c:pt>
                <c:pt idx="2">
                  <c:v>74848.47</c:v>
                </c:pt>
                <c:pt idx="3">
                  <c:v>74223.57</c:v>
                </c:pt>
                <c:pt idx="4">
                  <c:v>70582.35</c:v>
                </c:pt>
                <c:pt idx="5">
                  <c:v>65935.41</c:v>
                </c:pt>
                <c:pt idx="6">
                  <c:v>75612.26</c:v>
                </c:pt>
                <c:pt idx="7">
                  <c:v>95502.37</c:v>
                </c:pt>
                <c:pt idx="8">
                  <c:v>56955.79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98249.62</c:v>
                </c:pt>
                <c:pt idx="1">
                  <c:v>92743.03</c:v>
                </c:pt>
                <c:pt idx="2">
                  <c:v>115703.54</c:v>
                </c:pt>
                <c:pt idx="3">
                  <c:v>90681.24</c:v>
                </c:pt>
                <c:pt idx="4">
                  <c:v>85929.13</c:v>
                </c:pt>
                <c:pt idx="5">
                  <c:v>90034.43</c:v>
                </c:pt>
                <c:pt idx="6">
                  <c:v>103967.77</c:v>
                </c:pt>
                <c:pt idx="7">
                  <c:v>112276.13</c:v>
                </c:pt>
                <c:pt idx="8">
                  <c:v>106872.2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0403.35999999999"/>
          <c:min val="52255.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288780.22</c:v>
                </c:pt>
                <c:pt idx="1">
                  <c:v>287893.23</c:v>
                </c:pt>
                <c:pt idx="2">
                  <c:v>277157.05</c:v>
                </c:pt>
                <c:pt idx="3">
                  <c:v>249244.4</c:v>
                </c:pt>
                <c:pt idx="4">
                  <c:v>267904.23</c:v>
                </c:pt>
                <c:pt idx="5">
                  <c:v>262698.23</c:v>
                </c:pt>
                <c:pt idx="6">
                  <c:v>247923.28</c:v>
                </c:pt>
                <c:pt idx="7">
                  <c:v>263121.6</c:v>
                </c:pt>
                <c:pt idx="8">
                  <c:v>274470.91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329503.49</c:v>
                </c:pt>
                <c:pt idx="1">
                  <c:v>348356.24</c:v>
                </c:pt>
                <c:pt idx="2">
                  <c:v>317317.02</c:v>
                </c:pt>
                <c:pt idx="3">
                  <c:v>377563.15</c:v>
                </c:pt>
                <c:pt idx="4">
                  <c:v>339869.98</c:v>
                </c:pt>
                <c:pt idx="5">
                  <c:v>330694.3</c:v>
                </c:pt>
                <c:pt idx="6">
                  <c:v>375385.77</c:v>
                </c:pt>
                <c:pt idx="7">
                  <c:v>343496.27</c:v>
                </c:pt>
                <c:pt idx="8">
                  <c:v>345080.68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7934.3396"/>
          <c:min val="237552.09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106094.58</c:v>
                </c:pt>
                <c:pt idx="1">
                  <c:v>104588.12</c:v>
                </c:pt>
                <c:pt idx="2">
                  <c:v>102498.93</c:v>
                </c:pt>
                <c:pt idx="3">
                  <c:v>144262.77</c:v>
                </c:pt>
                <c:pt idx="4">
                  <c:v>109208.44</c:v>
                </c:pt>
                <c:pt idx="5">
                  <c:v>115148.29</c:v>
                </c:pt>
                <c:pt idx="6">
                  <c:v>123631.65</c:v>
                </c:pt>
                <c:pt idx="7">
                  <c:v>123522.18</c:v>
                </c:pt>
                <c:pt idx="8">
                  <c:v>114266.37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133304.69</c:v>
                </c:pt>
                <c:pt idx="1">
                  <c:v>132944.95</c:v>
                </c:pt>
                <c:pt idx="2">
                  <c:v>145709.43</c:v>
                </c:pt>
                <c:pt idx="3">
                  <c:v>156186.31</c:v>
                </c:pt>
                <c:pt idx="4">
                  <c:v>124661.75</c:v>
                </c:pt>
                <c:pt idx="5">
                  <c:v>174470.39</c:v>
                </c:pt>
                <c:pt idx="6">
                  <c:v>166389.2</c:v>
                </c:pt>
                <c:pt idx="7">
                  <c:v>137675.38</c:v>
                </c:pt>
                <c:pt idx="8">
                  <c:v>142608.93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0228.1068"/>
          <c:min val="96741.2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124816.87</c:v>
                </c:pt>
                <c:pt idx="1">
                  <c:v>93804.02</c:v>
                </c:pt>
                <c:pt idx="2">
                  <c:v>99730.27</c:v>
                </c:pt>
                <c:pt idx="3">
                  <c:v>108477.44</c:v>
                </c:pt>
                <c:pt idx="4">
                  <c:v>142761.56</c:v>
                </c:pt>
                <c:pt idx="5">
                  <c:v>109804.29</c:v>
                </c:pt>
                <c:pt idx="6">
                  <c:v>120024.28</c:v>
                </c:pt>
                <c:pt idx="7">
                  <c:v>128308.9</c:v>
                </c:pt>
                <c:pt idx="8">
                  <c:v>125710.97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96449.16</c:v>
                </c:pt>
                <c:pt idx="1">
                  <c:v>70961.75</c:v>
                </c:pt>
                <c:pt idx="2">
                  <c:v>91530.65</c:v>
                </c:pt>
                <c:pt idx="3">
                  <c:v>103342.66</c:v>
                </c:pt>
                <c:pt idx="4">
                  <c:v>94616.02</c:v>
                </c:pt>
                <c:pt idx="5">
                  <c:v>86731.08</c:v>
                </c:pt>
                <c:pt idx="6">
                  <c:v>76610.72</c:v>
                </c:pt>
                <c:pt idx="7">
                  <c:v>97999.31</c:v>
                </c:pt>
                <c:pt idx="8">
                  <c:v>108420.24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505.5448"/>
          <c:min val="65217.76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213739.3</c:v>
                </c:pt>
                <c:pt idx="1">
                  <c:v>187991.39</c:v>
                </c:pt>
                <c:pt idx="2">
                  <c:v>179701.02</c:v>
                </c:pt>
                <c:pt idx="3">
                  <c:v>206330.77</c:v>
                </c:pt>
                <c:pt idx="4">
                  <c:v>191908.07</c:v>
                </c:pt>
                <c:pt idx="5">
                  <c:v>211691.7</c:v>
                </c:pt>
                <c:pt idx="6">
                  <c:v>198386.86</c:v>
                </c:pt>
                <c:pt idx="7">
                  <c:v>164820.35</c:v>
                </c:pt>
                <c:pt idx="8">
                  <c:v>192888.73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152133.4</c:v>
                </c:pt>
                <c:pt idx="1">
                  <c:v>168187.91</c:v>
                </c:pt>
                <c:pt idx="2">
                  <c:v>163714.23</c:v>
                </c:pt>
                <c:pt idx="3">
                  <c:v>133897.79</c:v>
                </c:pt>
                <c:pt idx="4">
                  <c:v>149550.14</c:v>
                </c:pt>
                <c:pt idx="5">
                  <c:v>177382.93</c:v>
                </c:pt>
                <c:pt idx="6">
                  <c:v>156031.88</c:v>
                </c:pt>
                <c:pt idx="7">
                  <c:v>173510.39</c:v>
                </c:pt>
                <c:pt idx="8">
                  <c:v>145130.83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0126.62079999998"/>
          <c:min val="127510.46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156623.96</c:v>
                </c:pt>
                <c:pt idx="1">
                  <c:v>164123.34</c:v>
                </c:pt>
                <c:pt idx="2">
                  <c:v>169536.33</c:v>
                </c:pt>
                <c:pt idx="3">
                  <c:v>137439.72</c:v>
                </c:pt>
                <c:pt idx="4">
                  <c:v>196247.77</c:v>
                </c:pt>
                <c:pt idx="5">
                  <c:v>181484.36</c:v>
                </c:pt>
                <c:pt idx="6">
                  <c:v>157661.54</c:v>
                </c:pt>
                <c:pt idx="7">
                  <c:v>165895.04</c:v>
                </c:pt>
                <c:pt idx="8">
                  <c:v>172757.51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142547.35</c:v>
                </c:pt>
                <c:pt idx="1">
                  <c:v>124061.5</c:v>
                </c:pt>
                <c:pt idx="2">
                  <c:v>128625.05</c:v>
                </c:pt>
                <c:pt idx="3">
                  <c:v>132782.2</c:v>
                </c:pt>
                <c:pt idx="4">
                  <c:v>133308.11</c:v>
                </c:pt>
                <c:pt idx="5">
                  <c:v>152707.41</c:v>
                </c:pt>
                <c:pt idx="6">
                  <c:v>161318.94</c:v>
                </c:pt>
                <c:pt idx="7">
                  <c:v>159299.16</c:v>
                </c:pt>
                <c:pt idx="8">
                  <c:v>153137.54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2022.6716"/>
          <c:min val="118286.59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338994.64333333337</c:v>
                </c:pt>
                <c:pt idx="1">
                  <c:v>338994.64333333337</c:v>
                </c:pt>
                <c:pt idx="2">
                  <c:v>338994.64333333337</c:v>
                </c:pt>
                <c:pt idx="3">
                  <c:v>338994.64333333337</c:v>
                </c:pt>
                <c:pt idx="4">
                  <c:v>338994.64333333337</c:v>
                </c:pt>
                <c:pt idx="5">
                  <c:v>338994.64333333337</c:v>
                </c:pt>
                <c:pt idx="6">
                  <c:v>338994.64333333337</c:v>
                </c:pt>
                <c:pt idx="7">
                  <c:v>338994.64333333337</c:v>
                </c:pt>
                <c:pt idx="8">
                  <c:v>338994.64333333337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6656.1460000001"/>
          <c:min val="244660.734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330069.84</c:v>
                </c:pt>
                <c:pt idx="1">
                  <c:v>328865.04</c:v>
                </c:pt>
                <c:pt idx="2">
                  <c:v>358049.05</c:v>
                </c:pt>
                <c:pt idx="3">
                  <c:v>400948.54</c:v>
                </c:pt>
                <c:pt idx="4">
                  <c:v>270315.59</c:v>
                </c:pt>
                <c:pt idx="5">
                  <c:v>392703.12</c:v>
                </c:pt>
                <c:pt idx="6">
                  <c:v>591001.29</c:v>
                </c:pt>
                <c:pt idx="7">
                  <c:v>406582.71</c:v>
                </c:pt>
                <c:pt idx="8">
                  <c:v>460969.91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6656.1460000001"/>
          <c:min val="244660.734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113779.41333333333</c:v>
                </c:pt>
                <c:pt idx="1">
                  <c:v>113779.41333333333</c:v>
                </c:pt>
                <c:pt idx="2">
                  <c:v>113779.41333333333</c:v>
                </c:pt>
                <c:pt idx="3">
                  <c:v>113779.41333333333</c:v>
                </c:pt>
                <c:pt idx="4">
                  <c:v>113779.41333333333</c:v>
                </c:pt>
                <c:pt idx="5">
                  <c:v>113779.41333333333</c:v>
                </c:pt>
                <c:pt idx="6">
                  <c:v>113779.41333333333</c:v>
                </c:pt>
                <c:pt idx="7">
                  <c:v>113779.41333333333</c:v>
                </c:pt>
                <c:pt idx="8">
                  <c:v>113779.41333333333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9528.342"/>
          <c:min val="76421.6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111542.75</c:v>
                </c:pt>
                <c:pt idx="1">
                  <c:v>85601.42</c:v>
                </c:pt>
                <c:pt idx="2">
                  <c:v>144194.07</c:v>
                </c:pt>
                <c:pt idx="3">
                  <c:v>140890.99</c:v>
                </c:pt>
                <c:pt idx="4">
                  <c:v>116471.5</c:v>
                </c:pt>
                <c:pt idx="5">
                  <c:v>145415.16</c:v>
                </c:pt>
                <c:pt idx="6">
                  <c:v>116928.25</c:v>
                </c:pt>
                <c:pt idx="7">
                  <c:v>131580.08</c:v>
                </c:pt>
                <c:pt idx="8">
                  <c:v>200348.57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9528.342"/>
          <c:min val="76421.6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51867.87666666666</c:v>
                </c:pt>
                <c:pt idx="1">
                  <c:v>51867.87666666666</c:v>
                </c:pt>
                <c:pt idx="2">
                  <c:v>51867.87666666666</c:v>
                </c:pt>
                <c:pt idx="3">
                  <c:v>51867.87666666666</c:v>
                </c:pt>
                <c:pt idx="4">
                  <c:v>51867.87666666666</c:v>
                </c:pt>
                <c:pt idx="5">
                  <c:v>51867.87666666666</c:v>
                </c:pt>
                <c:pt idx="6">
                  <c:v>51867.87666666666</c:v>
                </c:pt>
                <c:pt idx="7">
                  <c:v>51867.87666666666</c:v>
                </c:pt>
                <c:pt idx="8">
                  <c:v>51867.87666666666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117.7384"/>
          <c:min val="44297.56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46596.07</c:v>
                </c:pt>
                <c:pt idx="1">
                  <c:v>46285.16</c:v>
                </c:pt>
                <c:pt idx="2">
                  <c:v>62722.4</c:v>
                </c:pt>
                <c:pt idx="3">
                  <c:v>61451.27</c:v>
                </c:pt>
                <c:pt idx="4">
                  <c:v>59931.85</c:v>
                </c:pt>
                <c:pt idx="5">
                  <c:v>66637.27</c:v>
                </c:pt>
                <c:pt idx="6">
                  <c:v>67929.32</c:v>
                </c:pt>
                <c:pt idx="7">
                  <c:v>65180.57</c:v>
                </c:pt>
                <c:pt idx="8">
                  <c:v>71130.14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117.7384"/>
          <c:min val="44297.56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0.5007084766066044</c:v>
                </c:pt>
                <c:pt idx="1">
                  <c:v>0.4658918838951703</c:v>
                </c:pt>
                <c:pt idx="2">
                  <c:v>0.5175516423135714</c:v>
                </c:pt>
                <c:pt idx="3">
                  <c:v>0.39273961070513336</c:v>
                </c:pt>
                <c:pt idx="4">
                  <c:v>0.3799231348939657</c:v>
                </c:pt>
                <c:pt idx="5">
                  <c:v>0.4223488830238979</c:v>
                </c:pt>
                <c:pt idx="6">
                  <c:v>0.4417183644449401</c:v>
                </c:pt>
                <c:pt idx="7">
                  <c:v>0.49519175604866505</c:v>
                </c:pt>
                <c:pt idx="8">
                  <c:v>0.35446641609125773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0.5599060855951783</c:v>
                </c:pt>
                <c:pt idx="1">
                  <c:v>0.5953764289456657</c:v>
                </c:pt>
                <c:pt idx="2">
                  <c:v>0.6207784036759297</c:v>
                </c:pt>
                <c:pt idx="3">
                  <c:v>0.5641788497037027</c:v>
                </c:pt>
                <c:pt idx="4">
                  <c:v>0.5359691971939233</c:v>
                </c:pt>
                <c:pt idx="5">
                  <c:v>0.5256899089127502</c:v>
                </c:pt>
                <c:pt idx="6">
                  <c:v>0.6374969342654748</c:v>
                </c:pt>
                <c:pt idx="7">
                  <c:v>0.6639569377993084</c:v>
                </c:pt>
                <c:pt idx="8">
                  <c:v>0.6993705794894085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269629125612606"/>
          <c:min val="0.32687408301940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0.7391248471009725</c:v>
                </c:pt>
                <c:pt idx="1">
                  <c:v>0.7409028682892094</c:v>
                </c:pt>
                <c:pt idx="2">
                  <c:v>0.7035773620438628</c:v>
                </c:pt>
                <c:pt idx="3">
                  <c:v>0.7356171923561571</c:v>
                </c:pt>
                <c:pt idx="4">
                  <c:v>0.754332313805736</c:v>
                </c:pt>
                <c:pt idx="5">
                  <c:v>0.8437802736400347</c:v>
                </c:pt>
                <c:pt idx="6">
                  <c:v>0.826037384399677</c:v>
                </c:pt>
                <c:pt idx="7">
                  <c:v>0.8069663483423346</c:v>
                </c:pt>
                <c:pt idx="8">
                  <c:v>0.7428055066420377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0.8612503909127255</c:v>
                </c:pt>
                <c:pt idx="1">
                  <c:v>0.8502138452203871</c:v>
                </c:pt>
                <c:pt idx="2">
                  <c:v>0.8613062091675363</c:v>
                </c:pt>
                <c:pt idx="3">
                  <c:v>0.9594634463474739</c:v>
                </c:pt>
                <c:pt idx="4">
                  <c:v>0.8094036988521878</c:v>
                </c:pt>
                <c:pt idx="5">
                  <c:v>0.8474203476103612</c:v>
                </c:pt>
                <c:pt idx="6">
                  <c:v>0.8973011578897543</c:v>
                </c:pt>
                <c:pt idx="7">
                  <c:v>0.8703770629958808</c:v>
                </c:pt>
                <c:pt idx="8">
                  <c:v>0.7888740877263815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799343330917628"/>
          <c:min val="0.68310647529957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0.7780011942718925</c:v>
                </c:pt>
                <c:pt idx="1">
                  <c:v>0.6249344609333205</c:v>
                </c:pt>
                <c:pt idx="2">
                  <c:v>0.6079602160245704</c:v>
                </c:pt>
                <c:pt idx="3">
                  <c:v>0.7126662465412464</c:v>
                </c:pt>
                <c:pt idx="4">
                  <c:v>0.7391488656869744</c:v>
                </c:pt>
                <c:pt idx="5">
                  <c:v>0.7520176048780929</c:v>
                </c:pt>
                <c:pt idx="6">
                  <c:v>0.824033006206738</c:v>
                </c:pt>
                <c:pt idx="7">
                  <c:v>0.41598321657633663</c:v>
                </c:pt>
                <c:pt idx="8">
                  <c:v>0.6166608020266906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0.7149519115439406</c:v>
                </c:pt>
                <c:pt idx="1">
                  <c:v>0.5658488336093703</c:v>
                </c:pt>
                <c:pt idx="2">
                  <c:v>0.8028068820195635</c:v>
                </c:pt>
                <c:pt idx="3">
                  <c:v>0.8955068367926623</c:v>
                </c:pt>
                <c:pt idx="4">
                  <c:v>0.6926436435486412</c:v>
                </c:pt>
                <c:pt idx="5">
                  <c:v>0.7527979568294318</c:v>
                </c:pt>
                <c:pt idx="6">
                  <c:v>0.8121987387827239</c:v>
                </c:pt>
                <c:pt idx="7">
                  <c:v>1.0061459927467944</c:v>
                </c:pt>
                <c:pt idx="8">
                  <c:v>0.728444370250533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53359014840431"/>
          <c:min val="0.36877019448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0.853378636833553</c:v>
                </c:pt>
                <c:pt idx="1">
                  <c:v>0.6247038023296071</c:v>
                </c:pt>
                <c:pt idx="2">
                  <c:v>0.6792670837409984</c:v>
                </c:pt>
                <c:pt idx="3">
                  <c:v>0.878644639780231</c:v>
                </c:pt>
                <c:pt idx="4">
                  <c:v>0.7451530183571232</c:v>
                </c:pt>
                <c:pt idx="5">
                  <c:v>0.6576100477351875</c:v>
                </c:pt>
                <c:pt idx="6">
                  <c:v>0.6750289266701013</c:v>
                </c:pt>
                <c:pt idx="7">
                  <c:v>0.7202130547063254</c:v>
                </c:pt>
                <c:pt idx="8">
                  <c:v>0.5956656780653243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0.6171481379522767</c:v>
                </c:pt>
                <c:pt idx="1">
                  <c:v>0.46277890535786437</c:v>
                </c:pt>
                <c:pt idx="2">
                  <c:v>0.5529485629230996</c:v>
                </c:pt>
                <c:pt idx="3">
                  <c:v>0.5744854953580403</c:v>
                </c:pt>
                <c:pt idx="4">
                  <c:v>0.4429815006198323</c:v>
                </c:pt>
                <c:pt idx="5">
                  <c:v>0.6297826593153499</c:v>
                </c:pt>
                <c:pt idx="6">
                  <c:v>0.6161366435109226</c:v>
                </c:pt>
                <c:pt idx="7">
                  <c:v>0.44810640749418146</c:v>
                </c:pt>
                <c:pt idx="8">
                  <c:v>0.5271088831058458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134976909130629"/>
          <c:min val="0.408128449487000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0.7599768626538274</c:v>
                </c:pt>
                <c:pt idx="1">
                  <c:v>0.7830798437816583</c:v>
                </c:pt>
                <c:pt idx="2">
                  <c:v>0.7626795993431513</c:v>
                </c:pt>
                <c:pt idx="3">
                  <c:v>0.7688698524518264</c:v>
                </c:pt>
                <c:pt idx="4">
                  <c:v>0.7495697281542794</c:v>
                </c:pt>
                <c:pt idx="5">
                  <c:v>0.7963416143072259</c:v>
                </c:pt>
                <c:pt idx="6">
                  <c:v>0.736251369774425</c:v>
                </c:pt>
                <c:pt idx="7">
                  <c:v>0.6800766854095037</c:v>
                </c:pt>
                <c:pt idx="8">
                  <c:v>0.8021539845867794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0.6241018800200733</c:v>
                </c:pt>
                <c:pt idx="1">
                  <c:v>0.6291925628435708</c:v>
                </c:pt>
                <c:pt idx="2">
                  <c:v>0.6072420314663973</c:v>
                </c:pt>
                <c:pt idx="3">
                  <c:v>0.6422654132499127</c:v>
                </c:pt>
                <c:pt idx="4">
                  <c:v>0.6114912306114826</c:v>
                </c:pt>
                <c:pt idx="5">
                  <c:v>0.60193276537458</c:v>
                </c:pt>
                <c:pt idx="6">
                  <c:v>0.7934726472426145</c:v>
                </c:pt>
                <c:pt idx="7">
                  <c:v>0.7122729918478748</c:v>
                </c:pt>
                <c:pt idx="8">
                  <c:v>0.6898987062321641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81716821237554"/>
          <c:min val="0.5859150678376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0.8085933842189513</c:v>
                </c:pt>
                <c:pt idx="1">
                  <c:v>0.8349538745023005</c:v>
                </c:pt>
                <c:pt idx="2">
                  <c:v>0.8737701164417023</c:v>
                </c:pt>
                <c:pt idx="3">
                  <c:v>0.8527346062964446</c:v>
                </c:pt>
                <c:pt idx="4">
                  <c:v>1.0582330985943935</c:v>
                </c:pt>
                <c:pt idx="5">
                  <c:v>1.028016161351654</c:v>
                </c:pt>
                <c:pt idx="6">
                  <c:v>1.0058575078440883</c:v>
                </c:pt>
                <c:pt idx="7">
                  <c:v>1.0234746382890063</c:v>
                </c:pt>
                <c:pt idx="8">
                  <c:v>0.9356321144067818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0.9009653319121848</c:v>
                </c:pt>
                <c:pt idx="1">
                  <c:v>0.8131285211419739</c:v>
                </c:pt>
                <c:pt idx="2">
                  <c:v>0.8066254594530933</c:v>
                </c:pt>
                <c:pt idx="3">
                  <c:v>0.8626575968564566</c:v>
                </c:pt>
                <c:pt idx="4">
                  <c:v>0.8454990906402006</c:v>
                </c:pt>
                <c:pt idx="5">
                  <c:v>0.8299379831261204</c:v>
                </c:pt>
                <c:pt idx="6">
                  <c:v>0.8713143037970473</c:v>
                </c:pt>
                <c:pt idx="7">
                  <c:v>0.8286440545521533</c:v>
                </c:pt>
                <c:pt idx="8">
                  <c:v>0.78232146024707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803060296621794"/>
          <c:min val="0.76024852917928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0.6667101490374474</c:v>
                </c:pt>
                <c:pt idx="1">
                  <c:v>0.6667101490374474</c:v>
                </c:pt>
                <c:pt idx="2">
                  <c:v>0.6667101490374474</c:v>
                </c:pt>
                <c:pt idx="3">
                  <c:v>0.6667101490374474</c:v>
                </c:pt>
                <c:pt idx="4">
                  <c:v>0.6667101490374474</c:v>
                </c:pt>
                <c:pt idx="5">
                  <c:v>0.6667101490374474</c:v>
                </c:pt>
                <c:pt idx="6">
                  <c:v>0.6667101490374474</c:v>
                </c:pt>
                <c:pt idx="7">
                  <c:v>0.6667101490374474</c:v>
                </c:pt>
                <c:pt idx="8">
                  <c:v>0.6667101490374474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17156298575043"/>
          <c:min val="0.62385024647826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0.6416340660216564</c:v>
                </c:pt>
                <c:pt idx="1">
                  <c:v>0.6879866984579203</c:v>
                </c:pt>
                <c:pt idx="2">
                  <c:v>0.6710215851370895</c:v>
                </c:pt>
                <c:pt idx="3">
                  <c:v>0.8146457262660504</c:v>
                </c:pt>
                <c:pt idx="4">
                  <c:v>0.6633982076488285</c:v>
                </c:pt>
                <c:pt idx="5">
                  <c:v>0.7216184194447294</c:v>
                </c:pt>
                <c:pt idx="6">
                  <c:v>0.7962932865515217</c:v>
                </c:pt>
                <c:pt idx="7">
                  <c:v>0.8310729032296043</c:v>
                </c:pt>
                <c:pt idx="8">
                  <c:v>0.8639318103141082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17156298575043"/>
          <c:min val="0.62385024647826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0.6953218301011714</c:v>
                </c:pt>
                <c:pt idx="1">
                  <c:v>0.6953218301011714</c:v>
                </c:pt>
                <c:pt idx="2">
                  <c:v>0.6953218301011714</c:v>
                </c:pt>
                <c:pt idx="3">
                  <c:v>0.6953218301011714</c:v>
                </c:pt>
                <c:pt idx="4">
                  <c:v>0.6953218301011714</c:v>
                </c:pt>
                <c:pt idx="5">
                  <c:v>0.6953218301011714</c:v>
                </c:pt>
                <c:pt idx="6">
                  <c:v>0.6953218301011714</c:v>
                </c:pt>
                <c:pt idx="7">
                  <c:v>0.6953218301011714</c:v>
                </c:pt>
                <c:pt idx="8">
                  <c:v>0.6953218301011714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413697654777883"/>
          <c:min val="0.5306250608783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0.7149519115439406</c:v>
                </c:pt>
                <c:pt idx="1">
                  <c:v>0.5658488336093703</c:v>
                </c:pt>
                <c:pt idx="2">
                  <c:v>0.8028068820195635</c:v>
                </c:pt>
                <c:pt idx="3">
                  <c:v>0.8955068367926623</c:v>
                </c:pt>
                <c:pt idx="4">
                  <c:v>0.6926436435486412</c:v>
                </c:pt>
                <c:pt idx="5">
                  <c:v>0.7527979568294318</c:v>
                </c:pt>
                <c:pt idx="6">
                  <c:v>0.8121987387827239</c:v>
                </c:pt>
                <c:pt idx="7">
                  <c:v>1.0061459927467944</c:v>
                </c:pt>
                <c:pt idx="8">
                  <c:v>0.728444370250533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413697654777883"/>
          <c:min val="0.5306250608783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0.6198224052282543</c:v>
                </c:pt>
                <c:pt idx="1">
                  <c:v>0.6198224052282543</c:v>
                </c:pt>
                <c:pt idx="2">
                  <c:v>0.6198224052282543</c:v>
                </c:pt>
                <c:pt idx="3">
                  <c:v>0.6198224052282543</c:v>
                </c:pt>
                <c:pt idx="4">
                  <c:v>0.6198224052282543</c:v>
                </c:pt>
                <c:pt idx="5">
                  <c:v>0.6198224052282543</c:v>
                </c:pt>
                <c:pt idx="6">
                  <c:v>0.6198224052282543</c:v>
                </c:pt>
                <c:pt idx="7">
                  <c:v>0.6198224052282543</c:v>
                </c:pt>
                <c:pt idx="8">
                  <c:v>0.6198224052282543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87958377920572"/>
          <c:min val="0.58660957482513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0.6241018800200733</c:v>
                </c:pt>
                <c:pt idx="1">
                  <c:v>0.6291925628435708</c:v>
                </c:pt>
                <c:pt idx="2">
                  <c:v>0.6072420314663973</c:v>
                </c:pt>
                <c:pt idx="3">
                  <c:v>0.6422654132499127</c:v>
                </c:pt>
                <c:pt idx="4">
                  <c:v>0.6114912306114826</c:v>
                </c:pt>
                <c:pt idx="5">
                  <c:v>0.60193276537458</c:v>
                </c:pt>
                <c:pt idx="6">
                  <c:v>0.7934726472426145</c:v>
                </c:pt>
                <c:pt idx="7">
                  <c:v>0.7122729918478748</c:v>
                </c:pt>
                <c:pt idx="8">
                  <c:v>0.6898987062321641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87958377920572"/>
          <c:min val="0.58660957482513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-0.5686827588607907</c:v>
                </c:pt>
                <c:pt idx="1">
                  <c:v>-0.21640515305861333</c:v>
                </c:pt>
                <c:pt idx="2">
                  <c:v>-0.5010258887230374</c:v>
                </c:pt>
                <c:pt idx="3">
                  <c:v>0.020036439834512355</c:v>
                </c:pt>
                <c:pt idx="4">
                  <c:v>-0.5551277962549547</c:v>
                </c:pt>
                <c:pt idx="5">
                  <c:v>-1.043289815031404</c:v>
                </c:pt>
                <c:pt idx="6">
                  <c:v>-0.43700864305120807</c:v>
                </c:pt>
                <c:pt idx="7">
                  <c:v>-0.8198436289605565</c:v>
                </c:pt>
                <c:pt idx="8">
                  <c:v>-0.9277138934612698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-0.688980188831012</c:v>
                </c:pt>
                <c:pt idx="1">
                  <c:v>-0.48762848286745186</c:v>
                </c:pt>
                <c:pt idx="2">
                  <c:v>0.009288642442946355</c:v>
                </c:pt>
                <c:pt idx="3">
                  <c:v>-0.44395618345867127</c:v>
                </c:pt>
                <c:pt idx="4">
                  <c:v>-0.15070373288497496</c:v>
                </c:pt>
                <c:pt idx="5">
                  <c:v>-0.06949989405927927</c:v>
                </c:pt>
                <c:pt idx="6">
                  <c:v>-0.02764679365648572</c:v>
                </c:pt>
                <c:pt idx="7">
                  <c:v>-0.013964302456237882</c:v>
                </c:pt>
                <c:pt idx="8">
                  <c:v>-0.22064758414685792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510254022378566"/>
          <c:min val="-1.12835591542067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-0.16088902116997236</c:v>
                </c:pt>
                <c:pt idx="1">
                  <c:v>-0.21520608469900315</c:v>
                </c:pt>
                <c:pt idx="2">
                  <c:v>-0.07862350375250017</c:v>
                </c:pt>
                <c:pt idx="3">
                  <c:v>-0.19928126894081516</c:v>
                </c:pt>
                <c:pt idx="4">
                  <c:v>-0.15813975747406558</c:v>
                </c:pt>
                <c:pt idx="5">
                  <c:v>-0.40171309037710323</c:v>
                </c:pt>
                <c:pt idx="6">
                  <c:v>-0.3785704453058477</c:v>
                </c:pt>
                <c:pt idx="7">
                  <c:v>-0.23715561637553315</c:v>
                </c:pt>
                <c:pt idx="8">
                  <c:v>-0.6283735504004846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-0.11420475715326887</c:v>
                </c:pt>
                <c:pt idx="1">
                  <c:v>-0.08616050481691429</c:v>
                </c:pt>
                <c:pt idx="2">
                  <c:v>-0.0074135897320772295</c:v>
                </c:pt>
                <c:pt idx="3">
                  <c:v>-0.05213712457988357</c:v>
                </c:pt>
                <c:pt idx="4">
                  <c:v>-0.11480290690999262</c:v>
                </c:pt>
                <c:pt idx="5">
                  <c:v>-0.11471039993672502</c:v>
                </c:pt>
                <c:pt idx="6">
                  <c:v>0.03697365572366996</c:v>
                </c:pt>
                <c:pt idx="7">
                  <c:v>0.05535724206787893</c:v>
                </c:pt>
                <c:pt idx="8">
                  <c:v>0.07097435698920437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692218958037949"/>
          <c:min val="-0.68432138299165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0.19073581415503624</c:v>
                </c:pt>
                <c:pt idx="1">
                  <c:v>-0.09482884404710147</c:v>
                </c:pt>
                <c:pt idx="2">
                  <c:v>-0.07923748967010867</c:v>
                </c:pt>
                <c:pt idx="3">
                  <c:v>0.03100531914859389</c:v>
                </c:pt>
                <c:pt idx="4">
                  <c:v>0.002445552508567806</c:v>
                </c:pt>
                <c:pt idx="5">
                  <c:v>0.033769739655606104</c:v>
                </c:pt>
                <c:pt idx="6">
                  <c:v>0.02122288658942832</c:v>
                </c:pt>
                <c:pt idx="7">
                  <c:v>-0.728898343026288</c:v>
                </c:pt>
                <c:pt idx="8">
                  <c:v>-0.1695181947766519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0.08765446120418573</c:v>
                </c:pt>
                <c:pt idx="1">
                  <c:v>-0.13907562970383783</c:v>
                </c:pt>
                <c:pt idx="2">
                  <c:v>0.15433312239519317</c:v>
                </c:pt>
                <c:pt idx="3">
                  <c:v>0.3269022584611513</c:v>
                </c:pt>
                <c:pt idx="4">
                  <c:v>0.15941971721152334</c:v>
                </c:pt>
                <c:pt idx="5">
                  <c:v>0.0879362065438371</c:v>
                </c:pt>
                <c:pt idx="6">
                  <c:v>0.15724543966181995</c:v>
                </c:pt>
                <c:pt idx="7">
                  <c:v>0.34214191912152975</c:v>
                </c:pt>
                <c:pt idx="8">
                  <c:v>0.10861721821029051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782514009335515"/>
          <c:min val="-0.81458156399811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0.11544436183560457</c:v>
                </c:pt>
                <c:pt idx="1">
                  <c:v>-0.06631758746613263</c:v>
                </c:pt>
                <c:pt idx="2">
                  <c:v>-0.0234549948345081</c:v>
                </c:pt>
                <c:pt idx="3">
                  <c:v>0.2017034924118726</c:v>
                </c:pt>
                <c:pt idx="4">
                  <c:v>0.016618815486759874</c:v>
                </c:pt>
                <c:pt idx="5">
                  <c:v>0.002315798179225444</c:v>
                </c:pt>
                <c:pt idx="6">
                  <c:v>-0.11689105121802629</c:v>
                </c:pt>
                <c:pt idx="7">
                  <c:v>0.04727296036846859</c:v>
                </c:pt>
                <c:pt idx="8">
                  <c:v>-0.14997668141985984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-0.04134314976329328</c:v>
                </c:pt>
                <c:pt idx="1">
                  <c:v>-0.43848086239975703</c:v>
                </c:pt>
                <c:pt idx="2">
                  <c:v>-0.06674784783358878</c:v>
                </c:pt>
                <c:pt idx="3">
                  <c:v>-0.11159858679392061</c:v>
                </c:pt>
                <c:pt idx="4">
                  <c:v>-0.6608435740521793</c:v>
                </c:pt>
                <c:pt idx="5">
                  <c:v>-0.03425020964822147</c:v>
                </c:pt>
                <c:pt idx="6">
                  <c:v>-0.15894095735827188</c:v>
                </c:pt>
                <c:pt idx="7">
                  <c:v>-0.7170716061650543</c:v>
                </c:pt>
                <c:pt idx="8">
                  <c:v>-0.29102711626934785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7520550029802676"/>
          <c:min val="-0.79057361405120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0.07743202013331102</c:v>
                </c:pt>
                <c:pt idx="1">
                  <c:v>0.19089457679130983</c:v>
                </c:pt>
                <c:pt idx="2">
                  <c:v>0.22723282113629445</c:v>
                </c:pt>
                <c:pt idx="3">
                  <c:v>0.1548873567041565</c:v>
                </c:pt>
                <c:pt idx="4">
                  <c:v>0.2209480307483303</c:v>
                </c:pt>
                <c:pt idx="5">
                  <c:v>0.1794010879752614</c:v>
                </c:pt>
                <c:pt idx="6">
                  <c:v>0.25050997066878383</c:v>
                </c:pt>
                <c:pt idx="7">
                  <c:v>0.11994303962108095</c:v>
                </c:pt>
                <c:pt idx="8">
                  <c:v>0.041419723019555044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-0.029915872620162525</c:v>
                </c:pt>
                <c:pt idx="1">
                  <c:v>-0.024313134706238623</c:v>
                </c:pt>
                <c:pt idx="2">
                  <c:v>-0.008477001494444142</c:v>
                </c:pt>
                <c:pt idx="3">
                  <c:v>0.09114549756658424</c:v>
                </c:pt>
                <c:pt idx="4">
                  <c:v>0.09633143656506905</c:v>
                </c:pt>
                <c:pt idx="5">
                  <c:v>0.07994039034333943</c:v>
                </c:pt>
                <c:pt idx="6">
                  <c:v>0.18092511500907785</c:v>
                </c:pt>
                <c:pt idx="7">
                  <c:v>0.02254651263002137</c:v>
                </c:pt>
                <c:pt idx="8">
                  <c:v>0.0060572564713424785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7294403813189955"/>
          <c:min val="-0.0523499400832782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0.3668387033117843</c:v>
                </c:pt>
                <c:pt idx="1">
                  <c:v>0.27817082121713677</c:v>
                </c:pt>
                <c:pt idx="2">
                  <c:v>0.4424800960742535</c:v>
                </c:pt>
                <c:pt idx="3">
                  <c:v>0.38996894963610984</c:v>
                </c:pt>
                <c:pt idx="4">
                  <c:v>0.35711022376104146</c:v>
                </c:pt>
                <c:pt idx="5">
                  <c:v>0.42349841765665863</c:v>
                </c:pt>
                <c:pt idx="6">
                  <c:v>0.33905831280872795</c:v>
                </c:pt>
                <c:pt idx="7">
                  <c:v>0.26759622110514336</c:v>
                </c:pt>
                <c:pt idx="8">
                  <c:v>0.31278561100432156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0.19153612708423184</c:v>
                </c:pt>
                <c:pt idx="1">
                  <c:v>0.1125657163116604</c:v>
                </c:pt>
                <c:pt idx="2">
                  <c:v>0.3053016961949033</c:v>
                </c:pt>
                <c:pt idx="3">
                  <c:v>0.26729466666846613</c:v>
                </c:pt>
                <c:pt idx="4">
                  <c:v>0.19126037234483037</c:v>
                </c:pt>
                <c:pt idx="5">
                  <c:v>0.24774104648561454</c:v>
                </c:pt>
                <c:pt idx="6">
                  <c:v>0.30809122512577336</c:v>
                </c:pt>
                <c:pt idx="7">
                  <c:v>0.38366247013031934</c:v>
                </c:pt>
                <c:pt idx="8">
                  <c:v>0.32883555853147206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688732464552609"/>
          <c:min val="0.086172565930652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-0.31985697087121123</c:v>
                </c:pt>
                <c:pt idx="1">
                  <c:v>-0.31985697087121123</c:v>
                </c:pt>
                <c:pt idx="2">
                  <c:v>-0.31985697087121123</c:v>
                </c:pt>
                <c:pt idx="3">
                  <c:v>-0.31985697087121123</c:v>
                </c:pt>
                <c:pt idx="4">
                  <c:v>-0.31985697087121123</c:v>
                </c:pt>
                <c:pt idx="5">
                  <c:v>-0.31985697087121123</c:v>
                </c:pt>
                <c:pt idx="6">
                  <c:v>-0.31985697087121123</c:v>
                </c:pt>
                <c:pt idx="7">
                  <c:v>-0.31985697087121123</c:v>
                </c:pt>
                <c:pt idx="8">
                  <c:v>-0.31985697087121123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515014894486303"/>
          <c:min val="-0.74484169533292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-0.688980188831012</c:v>
                </c:pt>
                <c:pt idx="1">
                  <c:v>-0.48762848286745186</c:v>
                </c:pt>
                <c:pt idx="2">
                  <c:v>0.009288642442946355</c:v>
                </c:pt>
                <c:pt idx="3">
                  <c:v>-0.44395618345867127</c:v>
                </c:pt>
                <c:pt idx="4">
                  <c:v>-0.15070373288497496</c:v>
                </c:pt>
                <c:pt idx="5">
                  <c:v>-0.06949989405927927</c:v>
                </c:pt>
                <c:pt idx="6">
                  <c:v>-0.02764679365648572</c:v>
                </c:pt>
                <c:pt idx="7">
                  <c:v>-0.013964302456237882</c:v>
                </c:pt>
                <c:pt idx="8">
                  <c:v>-0.22064758414685792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515014894486303"/>
          <c:min val="-0.74484169533292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-0.044793139836889664</c:v>
                </c:pt>
                <c:pt idx="1">
                  <c:v>-0.044793139836889664</c:v>
                </c:pt>
                <c:pt idx="2">
                  <c:v>-0.044793139836889664</c:v>
                </c:pt>
                <c:pt idx="3">
                  <c:v>-0.044793139836889664</c:v>
                </c:pt>
                <c:pt idx="4">
                  <c:v>-0.044793139836889664</c:v>
                </c:pt>
                <c:pt idx="5">
                  <c:v>-0.044793139836889664</c:v>
                </c:pt>
                <c:pt idx="6">
                  <c:v>-0.044793139836889664</c:v>
                </c:pt>
                <c:pt idx="7">
                  <c:v>-0.044793139836889664</c:v>
                </c:pt>
                <c:pt idx="8">
                  <c:v>-0.044793139836889664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356950741470751"/>
          <c:min val="-0.132867183276424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-0.05447804732239696</c:v>
                </c:pt>
                <c:pt idx="1">
                  <c:v>0.03264451964570743</c:v>
                </c:pt>
                <c:pt idx="2">
                  <c:v>-0.1074490965575623</c:v>
                </c:pt>
                <c:pt idx="3">
                  <c:v>0.07847639310634129</c:v>
                </c:pt>
                <c:pt idx="4">
                  <c:v>-0.025021254011407555</c:v>
                </c:pt>
                <c:pt idx="5">
                  <c:v>-0.056317572181302296</c:v>
                </c:pt>
                <c:pt idx="6">
                  <c:v>0.015325823041029368</c:v>
                </c:pt>
                <c:pt idx="7">
                  <c:v>0.15331788274455688</c:v>
                </c:pt>
                <c:pt idx="8">
                  <c:v>0.21027698742821307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356950741470751"/>
          <c:min val="-0.132867183276424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0.04796827900924639</c:v>
                </c:pt>
                <c:pt idx="1">
                  <c:v>0.04796827900924639</c:v>
                </c:pt>
                <c:pt idx="2">
                  <c:v>0.04796827900924639</c:v>
                </c:pt>
                <c:pt idx="3">
                  <c:v>0.04796827900924639</c:v>
                </c:pt>
                <c:pt idx="4">
                  <c:v>0.04796827900924639</c:v>
                </c:pt>
                <c:pt idx="5">
                  <c:v>0.04796827900924639</c:v>
                </c:pt>
                <c:pt idx="6">
                  <c:v>0.04796827900924639</c:v>
                </c:pt>
                <c:pt idx="7">
                  <c:v>0.04796827900924639</c:v>
                </c:pt>
                <c:pt idx="8">
                  <c:v>0.04796827900924639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063932302755915"/>
          <c:min val="-0.177573033609867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0.08765446120418573</c:v>
                </c:pt>
                <c:pt idx="1">
                  <c:v>-0.13907562970383783</c:v>
                </c:pt>
                <c:pt idx="2">
                  <c:v>0.15433312239519317</c:v>
                </c:pt>
                <c:pt idx="3">
                  <c:v>0.3269022584611513</c:v>
                </c:pt>
                <c:pt idx="4">
                  <c:v>0.15941971721152334</c:v>
                </c:pt>
                <c:pt idx="5">
                  <c:v>0.0879362065438371</c:v>
                </c:pt>
                <c:pt idx="6">
                  <c:v>0.15724543966181995</c:v>
                </c:pt>
                <c:pt idx="7">
                  <c:v>0.34214191912152975</c:v>
                </c:pt>
                <c:pt idx="8">
                  <c:v>0.10861721821029051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063932302755915"/>
          <c:min val="-0.177573033609867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0.07905057382264888</c:v>
                </c:pt>
                <c:pt idx="1">
                  <c:v>-0.0760049520508818</c:v>
                </c:pt>
                <c:pt idx="2">
                  <c:v>0.04567775400084998</c:v>
                </c:pt>
                <c:pt idx="3">
                  <c:v>0.06399112842456917</c:v>
                </c:pt>
                <c:pt idx="4">
                  <c:v>-0.01828219094433665</c:v>
                </c:pt>
                <c:pt idx="5">
                  <c:v>-0.045427487294004844</c:v>
                </c:pt>
                <c:pt idx="6">
                  <c:v>0.13815167011275684</c:v>
                </c:pt>
                <c:pt idx="7">
                  <c:v>0.1652464750351222</c:v>
                </c:pt>
                <c:pt idx="8">
                  <c:v>-0.13002049484345665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0.18996256677633971</c:v>
                </c:pt>
                <c:pt idx="1">
                  <c:v>0.13898877360379536</c:v>
                </c:pt>
                <c:pt idx="2">
                  <c:v>0.24801479712720978</c:v>
                </c:pt>
                <c:pt idx="3">
                  <c:v>0.1336779250041133</c:v>
                </c:pt>
                <c:pt idx="4">
                  <c:v>0.0016154009705438655</c:v>
                </c:pt>
                <c:pt idx="5">
                  <c:v>0.10975567902190309</c:v>
                </c:pt>
                <c:pt idx="6">
                  <c:v>0.24238636646722342</c:v>
                </c:pt>
                <c:pt idx="7">
                  <c:v>0.2570640794263215</c:v>
                </c:pt>
                <c:pt idx="8">
                  <c:v>0.225187934748232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803084536790374"/>
          <c:min val="-0.160987260785038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0.3572101834897656</c:v>
                </c:pt>
                <c:pt idx="1">
                  <c:v>0.3504575347717104</c:v>
                </c:pt>
                <c:pt idx="2">
                  <c:v>0.24726798843767067</c:v>
                </c:pt>
                <c:pt idx="3">
                  <c:v>-0.12478043896559973</c:v>
                </c:pt>
                <c:pt idx="4">
                  <c:v>-0.2547139438531676</c:v>
                </c:pt>
                <c:pt idx="5">
                  <c:v>-0.5118558364159164</c:v>
                </c:pt>
                <c:pt idx="6">
                  <c:v>-0.08870081471753104</c:v>
                </c:pt>
                <c:pt idx="7">
                  <c:v>0.12350605494815609</c:v>
                </c:pt>
                <c:pt idx="8">
                  <c:v>0.06740212146099062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0.18912828441509996</c:v>
                </c:pt>
                <c:pt idx="1">
                  <c:v>0.0789152201044408</c:v>
                </c:pt>
                <c:pt idx="2">
                  <c:v>0.19421912777298275</c:v>
                </c:pt>
                <c:pt idx="3">
                  <c:v>0.21755680646027714</c:v>
                </c:pt>
                <c:pt idx="4">
                  <c:v>0.1990275835406029</c:v>
                </c:pt>
                <c:pt idx="5">
                  <c:v>0.39519895839390207</c:v>
                </c:pt>
                <c:pt idx="6">
                  <c:v>0.14290647733464382</c:v>
                </c:pt>
                <c:pt idx="7">
                  <c:v>0.3485632509404335</c:v>
                </c:pt>
                <c:pt idx="8">
                  <c:v>0.4146013991091939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871797795120275"/>
          <c:min val="-0.58597241525792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0.26714885873391747</c:v>
                </c:pt>
                <c:pt idx="1">
                  <c:v>0.29218416907165573</c:v>
                </c:pt>
                <c:pt idx="2">
                  <c:v>0.3364487448529274</c:v>
                </c:pt>
                <c:pt idx="3">
                  <c:v>0.20117672519851593</c:v>
                </c:pt>
                <c:pt idx="4">
                  <c:v>0.19497353259576625</c:v>
                </c:pt>
                <c:pt idx="5">
                  <c:v>0.15207617816403263</c:v>
                </c:pt>
                <c:pt idx="6">
                  <c:v>0.2845824488215541</c:v>
                </c:pt>
                <c:pt idx="7">
                  <c:v>0.1405442203826185</c:v>
                </c:pt>
                <c:pt idx="8">
                  <c:v>0.09951158212297814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0.20967206575997677</c:v>
                </c:pt>
                <c:pt idx="1">
                  <c:v>0.27288855329754347</c:v>
                </c:pt>
                <c:pt idx="2">
                  <c:v>0.3181237036651762</c:v>
                </c:pt>
                <c:pt idx="3">
                  <c:v>0.35368249277889413</c:v>
                </c:pt>
                <c:pt idx="4">
                  <c:v>0.3140671139651349</c:v>
                </c:pt>
                <c:pt idx="5">
                  <c:v>0.3547191861889211</c:v>
                </c:pt>
                <c:pt idx="6">
                  <c:v>0.41948048970106755</c:v>
                </c:pt>
                <c:pt idx="7">
                  <c:v>0.33507334139420925</c:v>
                </c:pt>
                <c:pt idx="8">
                  <c:v>0.327364904637173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50780023073147"/>
          <c:min val="0.07391406951673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0.41247107696657953</c:v>
                </c:pt>
                <c:pt idx="1">
                  <c:v>0.13689265343427875</c:v>
                </c:pt>
                <c:pt idx="2">
                  <c:v>0.3398155178958078</c:v>
                </c:pt>
                <c:pt idx="3">
                  <c:v>0.32791677194920893</c:v>
                </c:pt>
                <c:pt idx="4">
                  <c:v>-0.0009045418483624139</c:v>
                </c:pt>
                <c:pt idx="5">
                  <c:v>0.08675737883549421</c:v>
                </c:pt>
                <c:pt idx="6">
                  <c:v>0.3228444415024582</c:v>
                </c:pt>
                <c:pt idx="7">
                  <c:v>0.14136468807791713</c:v>
                </c:pt>
                <c:pt idx="8">
                  <c:v>0.1097685930909959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-0.021637253568333733</c:v>
                </c:pt>
                <c:pt idx="1">
                  <c:v>0.28688062853724633</c:v>
                </c:pt>
                <c:pt idx="2">
                  <c:v>-0.013275557904842365</c:v>
                </c:pt>
                <c:pt idx="3">
                  <c:v>0.16249716866181238</c:v>
                </c:pt>
                <c:pt idx="4">
                  <c:v>-0.007031034319714161</c:v>
                </c:pt>
                <c:pt idx="5">
                  <c:v>0.14879454639417744</c:v>
                </c:pt>
                <c:pt idx="6">
                  <c:v>0.07839589377885028</c:v>
                </c:pt>
                <c:pt idx="7">
                  <c:v>0.051653514521827766</c:v>
                </c:pt>
                <c:pt idx="8">
                  <c:v>0.11543456537581386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71997434093726"/>
          <c:min val="-0.056365920011126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0.5389438142456224</c:v>
                </c:pt>
                <c:pt idx="1">
                  <c:v>0.4154070369265624</c:v>
                </c:pt>
                <c:pt idx="2">
                  <c:v>0.40898836431506697</c:v>
                </c:pt>
                <c:pt idx="3">
                  <c:v>0.44910711388469343</c:v>
                </c:pt>
                <c:pt idx="4">
                  <c:v>0.6092948269828378</c:v>
                </c:pt>
                <c:pt idx="5">
                  <c:v>0.4592973553219096</c:v>
                </c:pt>
                <c:pt idx="6">
                  <c:v>0.48364714206158954</c:v>
                </c:pt>
                <c:pt idx="7">
                  <c:v>0.4886442016103326</c:v>
                </c:pt>
                <c:pt idx="8">
                  <c:v>0.5183136364312517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0.4124586466071866</c:v>
                </c:pt>
                <c:pt idx="1">
                  <c:v>0.2940014867164353</c:v>
                </c:pt>
                <c:pt idx="2">
                  <c:v>0.375067368143895</c:v>
                </c:pt>
                <c:pt idx="3">
                  <c:v>0.4607117718858795</c:v>
                </c:pt>
                <c:pt idx="4">
                  <c:v>0.4209857907783481</c:v>
                </c:pt>
                <c:pt idx="5">
                  <c:v>0.26820915870066414</c:v>
                </c:pt>
                <c:pt idx="6">
                  <c:v>0.24501349158446756</c:v>
                </c:pt>
                <c:pt idx="7">
                  <c:v>0.4188294795136823</c:v>
                </c:pt>
                <c:pt idx="8">
                  <c:v>0.4079217127724491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6384373338147074"/>
          <c:min val="0.21587098475259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0.4475876590522234</c:v>
                </c:pt>
                <c:pt idx="1">
                  <c:v>0.24819369075044914</c:v>
                </c:pt>
                <c:pt idx="2">
                  <c:v>0.30457946640266564</c:v>
                </c:pt>
                <c:pt idx="3">
                  <c:v>0.4874227464262222</c:v>
                </c:pt>
                <c:pt idx="4">
                  <c:v>0.4085958585523327</c:v>
                </c:pt>
                <c:pt idx="5">
                  <c:v>0.26191913500751235</c:v>
                </c:pt>
                <c:pt idx="6">
                  <c:v>0.3680905355108436</c:v>
                </c:pt>
                <c:pt idx="7">
                  <c:v>0.2834789378700642</c:v>
                </c:pt>
                <c:pt idx="8">
                  <c:v>0.21331922073209797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0.2785898284651188</c:v>
                </c:pt>
                <c:pt idx="1">
                  <c:v>0.11119310631333164</c:v>
                </c:pt>
                <c:pt idx="2">
                  <c:v>0.11065903229486401</c:v>
                </c:pt>
                <c:pt idx="3">
                  <c:v>0.194890664562165</c:v>
                </c:pt>
                <c:pt idx="4">
                  <c:v>0.08323891520243629</c:v>
                </c:pt>
                <c:pt idx="5">
                  <c:v>0.23549832645011717</c:v>
                </c:pt>
                <c:pt idx="6">
                  <c:v>0.40146073948667305</c:v>
                </c:pt>
                <c:pt idx="7">
                  <c:v>0.27156672242754143</c:v>
                </c:pt>
                <c:pt idx="8">
                  <c:v>0.3311726647551768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9757452924125"/>
          <c:min val="0.050904208704533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0.15664789459525832</c:v>
                </c:pt>
                <c:pt idx="1">
                  <c:v>0.15664789459525832</c:v>
                </c:pt>
                <c:pt idx="2">
                  <c:v>0.15664789459525832</c:v>
                </c:pt>
                <c:pt idx="3">
                  <c:v>0.15664789459525832</c:v>
                </c:pt>
                <c:pt idx="4">
                  <c:v>0.15664789459525832</c:v>
                </c:pt>
                <c:pt idx="5">
                  <c:v>0.15664789459525832</c:v>
                </c:pt>
                <c:pt idx="6">
                  <c:v>0.15664789459525832</c:v>
                </c:pt>
                <c:pt idx="7">
                  <c:v>0.15664789459525832</c:v>
                </c:pt>
                <c:pt idx="8">
                  <c:v>0.15664789459525832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002439062028507"/>
          <c:min val="-0.185314038000039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0.14091781354071506</c:v>
                </c:pt>
                <c:pt idx="1">
                  <c:v>-0.13942862912967197</c:v>
                </c:pt>
                <c:pt idx="2">
                  <c:v>0.33670839550788934</c:v>
                </c:pt>
                <c:pt idx="3">
                  <c:v>0.2577790909118599</c:v>
                </c:pt>
                <c:pt idx="4">
                  <c:v>0.1695474739260496</c:v>
                </c:pt>
                <c:pt idx="5">
                  <c:v>0.2736052705665371</c:v>
                </c:pt>
                <c:pt idx="6">
                  <c:v>0.4040565582889985</c:v>
                </c:pt>
                <c:pt idx="7">
                  <c:v>0.4341389817499179</c:v>
                </c:pt>
                <c:pt idx="8">
                  <c:v>0.18281142983865897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002439062028507"/>
          <c:min val="-0.185314038000039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0.17250313460543393</c:v>
                </c:pt>
                <c:pt idx="1">
                  <c:v>0.17250313460543393</c:v>
                </c:pt>
                <c:pt idx="2">
                  <c:v>0.17250313460543393</c:v>
                </c:pt>
                <c:pt idx="3">
                  <c:v>0.17250313460543393</c:v>
                </c:pt>
                <c:pt idx="4">
                  <c:v>0.17250313460543393</c:v>
                </c:pt>
                <c:pt idx="5">
                  <c:v>0.17250313460543393</c:v>
                </c:pt>
                <c:pt idx="6">
                  <c:v>0.17250313460543393</c:v>
                </c:pt>
                <c:pt idx="7">
                  <c:v>0.17250313460543393</c:v>
                </c:pt>
                <c:pt idx="8">
                  <c:v>0.17250313460543393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691848542941196"/>
          <c:min val="0.057781169259697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0.2785898284651188</c:v>
                </c:pt>
                <c:pt idx="1">
                  <c:v>0.11119310631333164</c:v>
                </c:pt>
                <c:pt idx="2">
                  <c:v>0.11065903229486401</c:v>
                </c:pt>
                <c:pt idx="3">
                  <c:v>0.194890664562165</c:v>
                </c:pt>
                <c:pt idx="4">
                  <c:v>0.08323891520243629</c:v>
                </c:pt>
                <c:pt idx="5">
                  <c:v>0.23549832645011717</c:v>
                </c:pt>
                <c:pt idx="6">
                  <c:v>0.40146073948667305</c:v>
                </c:pt>
                <c:pt idx="7">
                  <c:v>0.27156672242754143</c:v>
                </c:pt>
                <c:pt idx="8">
                  <c:v>0.3311726647551768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691848542941196"/>
          <c:min val="0.057781169259697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0.24182631866854415</c:v>
                </c:pt>
                <c:pt idx="1">
                  <c:v>0.24182631866854415</c:v>
                </c:pt>
                <c:pt idx="2">
                  <c:v>0.24182631866854415</c:v>
                </c:pt>
                <c:pt idx="3">
                  <c:v>0.24182631866854415</c:v>
                </c:pt>
                <c:pt idx="4">
                  <c:v>0.24182631866854415</c:v>
                </c:pt>
                <c:pt idx="5">
                  <c:v>0.24182631866854415</c:v>
                </c:pt>
                <c:pt idx="6">
                  <c:v>0.24182631866854415</c:v>
                </c:pt>
                <c:pt idx="7">
                  <c:v>0.24182631866854415</c:v>
                </c:pt>
                <c:pt idx="8">
                  <c:v>0.24182631866854415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419383703063755"/>
          <c:min val="0.04366766128316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0.07803115845718345</c:v>
                </c:pt>
                <c:pt idx="1">
                  <c:v>0.1046142692492718</c:v>
                </c:pt>
                <c:pt idx="2">
                  <c:v>0.4499881999308293</c:v>
                </c:pt>
                <c:pt idx="3">
                  <c:v>0.3602813778226699</c:v>
                </c:pt>
                <c:pt idx="4">
                  <c:v>0.33477056619001216</c:v>
                </c:pt>
                <c:pt idx="5">
                  <c:v>0.39148428540738117</c:v>
                </c:pt>
                <c:pt idx="6">
                  <c:v>0.3325913968608955</c:v>
                </c:pt>
                <c:pt idx="7">
                  <c:v>0.318159177285802</c:v>
                </c:pt>
                <c:pt idx="8">
                  <c:v>0.5075748731323613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419383703063755"/>
          <c:min val="0.04366766128316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764</c:v>
                </c:pt>
                <c:pt idx="1">
                  <c:v>719</c:v>
                </c:pt>
                <c:pt idx="2">
                  <c:v>885</c:v>
                </c:pt>
                <c:pt idx="3">
                  <c:v>827</c:v>
                </c:pt>
                <c:pt idx="4">
                  <c:v>799</c:v>
                </c:pt>
                <c:pt idx="5">
                  <c:v>788</c:v>
                </c:pt>
                <c:pt idx="6">
                  <c:v>776</c:v>
                </c:pt>
                <c:pt idx="7">
                  <c:v>835</c:v>
                </c:pt>
                <c:pt idx="8">
                  <c:v>763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927</c:v>
                </c:pt>
                <c:pt idx="1">
                  <c:v>787</c:v>
                </c:pt>
                <c:pt idx="2">
                  <c:v>924</c:v>
                </c:pt>
                <c:pt idx="3">
                  <c:v>944</c:v>
                </c:pt>
                <c:pt idx="4">
                  <c:v>915</c:v>
                </c:pt>
                <c:pt idx="5">
                  <c:v>936</c:v>
                </c:pt>
                <c:pt idx="6">
                  <c:v>960</c:v>
                </c:pt>
                <c:pt idx="7">
                  <c:v>881</c:v>
                </c:pt>
                <c:pt idx="8">
                  <c:v>859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79.28"/>
          <c:min val="699.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178</c:v>
                </c:pt>
                <c:pt idx="1">
                  <c:v>152</c:v>
                </c:pt>
                <c:pt idx="2">
                  <c:v>182</c:v>
                </c:pt>
                <c:pt idx="3">
                  <c:v>193</c:v>
                </c:pt>
                <c:pt idx="4">
                  <c:v>190</c:v>
                </c:pt>
                <c:pt idx="5">
                  <c:v>175</c:v>
                </c:pt>
                <c:pt idx="6">
                  <c:v>236</c:v>
                </c:pt>
                <c:pt idx="7">
                  <c:v>254</c:v>
                </c:pt>
                <c:pt idx="8">
                  <c:v>224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212</c:v>
                </c:pt>
                <c:pt idx="1">
                  <c:v>194</c:v>
                </c:pt>
                <c:pt idx="2">
                  <c:v>221</c:v>
                </c:pt>
                <c:pt idx="3">
                  <c:v>236</c:v>
                </c:pt>
                <c:pt idx="4">
                  <c:v>230</c:v>
                </c:pt>
                <c:pt idx="5">
                  <c:v>252</c:v>
                </c:pt>
                <c:pt idx="6">
                  <c:v>232</c:v>
                </c:pt>
                <c:pt idx="7">
                  <c:v>202</c:v>
                </c:pt>
                <c:pt idx="8">
                  <c:v>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2.16"/>
          <c:min val="143.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323</c:v>
                </c:pt>
                <c:pt idx="1">
                  <c:v>298</c:v>
                </c:pt>
                <c:pt idx="2">
                  <c:v>294</c:v>
                </c:pt>
                <c:pt idx="3">
                  <c:v>334</c:v>
                </c:pt>
                <c:pt idx="4">
                  <c:v>327</c:v>
                </c:pt>
                <c:pt idx="5">
                  <c:v>304</c:v>
                </c:pt>
                <c:pt idx="6">
                  <c:v>295</c:v>
                </c:pt>
                <c:pt idx="7">
                  <c:v>311</c:v>
                </c:pt>
                <c:pt idx="8">
                  <c:v>324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04"/>
          <c:min val="286.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250</c:v>
                </c:pt>
                <c:pt idx="1">
                  <c:v>227</c:v>
                </c:pt>
                <c:pt idx="2">
                  <c:v>227</c:v>
                </c:pt>
                <c:pt idx="3">
                  <c:v>273</c:v>
                </c:pt>
                <c:pt idx="4">
                  <c:v>248</c:v>
                </c:pt>
                <c:pt idx="5">
                  <c:v>241</c:v>
                </c:pt>
                <c:pt idx="6">
                  <c:v>266</c:v>
                </c:pt>
                <c:pt idx="7">
                  <c:v>271</c:v>
                </c:pt>
                <c:pt idx="8">
                  <c:v>248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230</c:v>
                </c:pt>
                <c:pt idx="1">
                  <c:v>185</c:v>
                </c:pt>
                <c:pt idx="2">
                  <c:v>207</c:v>
                </c:pt>
                <c:pt idx="3">
                  <c:v>226</c:v>
                </c:pt>
                <c:pt idx="4">
                  <c:v>213</c:v>
                </c:pt>
                <c:pt idx="5">
                  <c:v>249</c:v>
                </c:pt>
                <c:pt idx="6">
                  <c:v>210</c:v>
                </c:pt>
                <c:pt idx="7">
                  <c:v>217</c:v>
                </c:pt>
                <c:pt idx="8">
                  <c:v>182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0.28"/>
          <c:min val="174.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407</c:v>
                </c:pt>
                <c:pt idx="1">
                  <c:v>370</c:v>
                </c:pt>
                <c:pt idx="2">
                  <c:v>420</c:v>
                </c:pt>
                <c:pt idx="3">
                  <c:v>449</c:v>
                </c:pt>
                <c:pt idx="4">
                  <c:v>427</c:v>
                </c:pt>
                <c:pt idx="5">
                  <c:v>458</c:v>
                </c:pt>
                <c:pt idx="6">
                  <c:v>438</c:v>
                </c:pt>
                <c:pt idx="7">
                  <c:v>419</c:v>
                </c:pt>
                <c:pt idx="8">
                  <c:v>396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412</c:v>
                </c:pt>
                <c:pt idx="1">
                  <c:v>346</c:v>
                </c:pt>
                <c:pt idx="2">
                  <c:v>372</c:v>
                </c:pt>
                <c:pt idx="3">
                  <c:v>394</c:v>
                </c:pt>
                <c:pt idx="4">
                  <c:v>326</c:v>
                </c:pt>
                <c:pt idx="5">
                  <c:v>404</c:v>
                </c:pt>
                <c:pt idx="6">
                  <c:v>377</c:v>
                </c:pt>
                <c:pt idx="7">
                  <c:v>344</c:v>
                </c:pt>
                <c:pt idx="8">
                  <c:v>374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8.56"/>
          <c:min val="315.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528</c:v>
                </c:pt>
                <c:pt idx="1">
                  <c:v>413</c:v>
                </c:pt>
                <c:pt idx="2">
                  <c:v>439</c:v>
                </c:pt>
                <c:pt idx="3">
                  <c:v>488</c:v>
                </c:pt>
                <c:pt idx="4">
                  <c:v>485</c:v>
                </c:pt>
                <c:pt idx="5">
                  <c:v>506</c:v>
                </c:pt>
                <c:pt idx="6">
                  <c:v>550</c:v>
                </c:pt>
                <c:pt idx="7">
                  <c:v>502</c:v>
                </c:pt>
                <c:pt idx="8">
                  <c:v>468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447</c:v>
                </c:pt>
                <c:pt idx="1">
                  <c:v>375</c:v>
                </c:pt>
                <c:pt idx="2">
                  <c:v>463</c:v>
                </c:pt>
                <c:pt idx="3">
                  <c:v>429</c:v>
                </c:pt>
                <c:pt idx="4">
                  <c:v>456</c:v>
                </c:pt>
                <c:pt idx="5">
                  <c:v>460</c:v>
                </c:pt>
                <c:pt idx="6">
                  <c:v>431</c:v>
                </c:pt>
                <c:pt idx="7">
                  <c:v>444</c:v>
                </c:pt>
                <c:pt idx="8">
                  <c:v>412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64"/>
          <c:min val="3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425.33333333333326</c:v>
                </c:pt>
                <c:pt idx="1">
                  <c:v>425.33333333333326</c:v>
                </c:pt>
                <c:pt idx="2">
                  <c:v>425.33333333333326</c:v>
                </c:pt>
                <c:pt idx="3">
                  <c:v>425.33333333333326</c:v>
                </c:pt>
                <c:pt idx="4">
                  <c:v>425.33333333333326</c:v>
                </c:pt>
                <c:pt idx="5">
                  <c:v>425.33333333333326</c:v>
                </c:pt>
                <c:pt idx="6">
                  <c:v>425.33333333333326</c:v>
                </c:pt>
                <c:pt idx="7">
                  <c:v>425.33333333333326</c:v>
                </c:pt>
                <c:pt idx="8">
                  <c:v>425.33333333333326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91.96"/>
          <c:min val="375.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91.96"/>
          <c:min val="375.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543.3333333333334</c:v>
                </c:pt>
                <c:pt idx="1">
                  <c:v>543.3333333333334</c:v>
                </c:pt>
                <c:pt idx="2">
                  <c:v>543.3333333333334</c:v>
                </c:pt>
                <c:pt idx="3">
                  <c:v>543.3333333333334</c:v>
                </c:pt>
                <c:pt idx="4">
                  <c:v>543.3333333333334</c:v>
                </c:pt>
                <c:pt idx="5">
                  <c:v>543.3333333333334</c:v>
                </c:pt>
                <c:pt idx="6">
                  <c:v>543.3333333333334</c:v>
                </c:pt>
                <c:pt idx="7">
                  <c:v>543.3333333333334</c:v>
                </c:pt>
                <c:pt idx="8">
                  <c:v>543.3333333333334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2.24"/>
          <c:min val="496.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2.24"/>
          <c:min val="496.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350</c:v>
                </c:pt>
                <c:pt idx="1">
                  <c:v>350</c:v>
                </c:pt>
                <c:pt idx="2">
                  <c:v>350</c:v>
                </c:pt>
                <c:pt idx="3">
                  <c:v>350</c:v>
                </c:pt>
                <c:pt idx="4">
                  <c:v>350</c:v>
                </c:pt>
                <c:pt idx="5">
                  <c:v>350</c:v>
                </c:pt>
                <c:pt idx="6">
                  <c:v>350</c:v>
                </c:pt>
                <c:pt idx="7">
                  <c:v>350</c:v>
                </c:pt>
                <c:pt idx="8">
                  <c:v>350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8.04"/>
          <c:min val="326.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8.04"/>
          <c:min val="326.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834.06</c:v>
                </c:pt>
                <c:pt idx="1">
                  <c:v>966.61</c:v>
                </c:pt>
                <c:pt idx="2">
                  <c:v>918.5</c:v>
                </c:pt>
                <c:pt idx="3">
                  <c:v>952.81</c:v>
                </c:pt>
                <c:pt idx="4">
                  <c:v>930.11</c:v>
                </c:pt>
                <c:pt idx="5">
                  <c:v>946.3</c:v>
                </c:pt>
                <c:pt idx="6">
                  <c:v>1110.1</c:v>
                </c:pt>
                <c:pt idx="7">
                  <c:v>1128.62</c:v>
                </c:pt>
                <c:pt idx="8">
                  <c:v>1039.8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1458.9</c:v>
                </c:pt>
                <c:pt idx="1">
                  <c:v>1286.83</c:v>
                </c:pt>
                <c:pt idx="2">
                  <c:v>1497.81</c:v>
                </c:pt>
                <c:pt idx="3">
                  <c:v>1454.95</c:v>
                </c:pt>
                <c:pt idx="4">
                  <c:v>1380.55</c:v>
                </c:pt>
                <c:pt idx="5">
                  <c:v>1459</c:v>
                </c:pt>
                <c:pt idx="6">
                  <c:v>1432.46</c:v>
                </c:pt>
                <c:pt idx="7">
                  <c:v>1480.1</c:v>
                </c:pt>
                <c:pt idx="8">
                  <c:v>1315.5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50.9099999999999"/>
          <c:min val="780.9599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1148.2</c:v>
                </c:pt>
                <c:pt idx="1">
                  <c:v>1014.02</c:v>
                </c:pt>
                <c:pt idx="2">
                  <c:v>1265.65</c:v>
                </c:pt>
                <c:pt idx="3">
                  <c:v>958.6</c:v>
                </c:pt>
                <c:pt idx="4">
                  <c:v>954.25</c:v>
                </c:pt>
                <c:pt idx="5">
                  <c:v>891.25</c:v>
                </c:pt>
                <c:pt idx="6">
                  <c:v>834.15</c:v>
                </c:pt>
                <c:pt idx="7">
                  <c:v>1116.05</c:v>
                </c:pt>
                <c:pt idx="8">
                  <c:v>1271.13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1489.2</c:v>
                </c:pt>
                <c:pt idx="1">
                  <c:v>1206.8</c:v>
                </c:pt>
                <c:pt idx="2">
                  <c:v>1350</c:v>
                </c:pt>
                <c:pt idx="3">
                  <c:v>1525.73</c:v>
                </c:pt>
                <c:pt idx="4">
                  <c:v>1346.7</c:v>
                </c:pt>
                <c:pt idx="5">
                  <c:v>1546.97</c:v>
                </c:pt>
                <c:pt idx="6">
                  <c:v>1632.9</c:v>
                </c:pt>
                <c:pt idx="7">
                  <c:v>1330.6</c:v>
                </c:pt>
                <c:pt idx="8">
                  <c:v>1328.59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96.8000000000002"/>
          <c:min val="770.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402.05</c:v>
                </c:pt>
                <c:pt idx="1">
                  <c:v>373.7</c:v>
                </c:pt>
                <c:pt idx="2">
                  <c:v>425.45</c:v>
                </c:pt>
                <c:pt idx="3">
                  <c:v>440.55</c:v>
                </c:pt>
                <c:pt idx="4">
                  <c:v>433</c:v>
                </c:pt>
                <c:pt idx="5">
                  <c:v>388.1</c:v>
                </c:pt>
                <c:pt idx="6">
                  <c:v>428.8</c:v>
                </c:pt>
                <c:pt idx="7">
                  <c:v>457.55</c:v>
                </c:pt>
                <c:pt idx="8">
                  <c:v>419.2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507.4</c:v>
                </c:pt>
                <c:pt idx="1">
                  <c:v>510.5</c:v>
                </c:pt>
                <c:pt idx="2">
                  <c:v>528.35</c:v>
                </c:pt>
                <c:pt idx="3">
                  <c:v>553</c:v>
                </c:pt>
                <c:pt idx="4">
                  <c:v>514.85</c:v>
                </c:pt>
                <c:pt idx="5">
                  <c:v>527.25</c:v>
                </c:pt>
                <c:pt idx="6">
                  <c:v>681.4</c:v>
                </c:pt>
                <c:pt idx="7">
                  <c:v>662.8</c:v>
                </c:pt>
                <c:pt idx="8">
                  <c:v>559.15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6.016"/>
          <c:min val="349.0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514.9</c:v>
                </c:pt>
                <c:pt idx="1">
                  <c:v>461.37</c:v>
                </c:pt>
                <c:pt idx="2">
                  <c:v>473.9</c:v>
                </c:pt>
                <c:pt idx="3">
                  <c:v>610.15</c:v>
                </c:pt>
                <c:pt idx="4">
                  <c:v>521.65</c:v>
                </c:pt>
                <c:pt idx="5">
                  <c:v>415.75</c:v>
                </c:pt>
                <c:pt idx="6">
                  <c:v>451.5</c:v>
                </c:pt>
                <c:pt idx="7">
                  <c:v>537.17</c:v>
                </c:pt>
                <c:pt idx="8">
                  <c:v>408.05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404.58</c:v>
                </c:pt>
                <c:pt idx="1">
                  <c:v>339</c:v>
                </c:pt>
                <c:pt idx="2">
                  <c:v>326.09</c:v>
                </c:pt>
                <c:pt idx="3">
                  <c:v>347.55</c:v>
                </c:pt>
                <c:pt idx="4">
                  <c:v>335.7</c:v>
                </c:pt>
                <c:pt idx="5">
                  <c:v>465.65</c:v>
                </c:pt>
                <c:pt idx="6">
                  <c:v>413.05</c:v>
                </c:pt>
                <c:pt idx="7">
                  <c:v>336.05</c:v>
                </c:pt>
                <c:pt idx="8">
                  <c:v>308.7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34.266"/>
          <c:min val="284.5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1486</c:v>
                </c:pt>
                <c:pt idx="1">
                  <c:v>1254.22</c:v>
                </c:pt>
                <c:pt idx="2">
                  <c:v>1465.55</c:v>
                </c:pt>
                <c:pt idx="3">
                  <c:v>1476.75</c:v>
                </c:pt>
                <c:pt idx="4">
                  <c:v>1319.27</c:v>
                </c:pt>
                <c:pt idx="5">
                  <c:v>1394.79</c:v>
                </c:pt>
                <c:pt idx="6">
                  <c:v>1544.84</c:v>
                </c:pt>
                <c:pt idx="7">
                  <c:v>1347.65</c:v>
                </c:pt>
                <c:pt idx="8">
                  <c:v>1321.81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1164.35</c:v>
                </c:pt>
                <c:pt idx="1">
                  <c:v>864.55</c:v>
                </c:pt>
                <c:pt idx="2">
                  <c:v>1311.7</c:v>
                </c:pt>
                <c:pt idx="3">
                  <c:v>1200.65</c:v>
                </c:pt>
                <c:pt idx="4">
                  <c:v>1174</c:v>
                </c:pt>
                <c:pt idx="5">
                  <c:v>1459.3</c:v>
                </c:pt>
                <c:pt idx="6">
                  <c:v>1164.64</c:v>
                </c:pt>
                <c:pt idx="7">
                  <c:v>1277.86</c:v>
                </c:pt>
                <c:pt idx="8">
                  <c:v>1066.5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99.2631999999999"/>
          <c:min val="810.12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903.15</c:v>
                </c:pt>
                <c:pt idx="1">
                  <c:v>797.1</c:v>
                </c:pt>
                <c:pt idx="2">
                  <c:v>1105.2</c:v>
                </c:pt>
                <c:pt idx="3">
                  <c:v>900.6</c:v>
                </c:pt>
                <c:pt idx="4">
                  <c:v>947</c:v>
                </c:pt>
                <c:pt idx="5">
                  <c:v>1066.7</c:v>
                </c:pt>
                <c:pt idx="6">
                  <c:v>951.2</c:v>
                </c:pt>
                <c:pt idx="7">
                  <c:v>1100.42</c:v>
                </c:pt>
                <c:pt idx="8">
                  <c:v>887.8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854.3</c:v>
                </c:pt>
                <c:pt idx="1">
                  <c:v>691.1</c:v>
                </c:pt>
                <c:pt idx="2">
                  <c:v>798</c:v>
                </c:pt>
                <c:pt idx="3">
                  <c:v>972.9</c:v>
                </c:pt>
                <c:pt idx="4">
                  <c:v>913.5</c:v>
                </c:pt>
                <c:pt idx="5">
                  <c:v>1044.22</c:v>
                </c:pt>
                <c:pt idx="6">
                  <c:v>782.45</c:v>
                </c:pt>
                <c:pt idx="7">
                  <c:v>919.6</c:v>
                </c:pt>
                <c:pt idx="8">
                  <c:v>773.3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38.328"/>
          <c:min val="657.9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779</c:v>
                </c:pt>
                <c:pt idx="1">
                  <c:v>779</c:v>
                </c:pt>
                <c:pt idx="2">
                  <c:v>779</c:v>
                </c:pt>
                <c:pt idx="3">
                  <c:v>779</c:v>
                </c:pt>
                <c:pt idx="4">
                  <c:v>779</c:v>
                </c:pt>
                <c:pt idx="5">
                  <c:v>779</c:v>
                </c:pt>
                <c:pt idx="6">
                  <c:v>779</c:v>
                </c:pt>
                <c:pt idx="7">
                  <c:v>779</c:v>
                </c:pt>
                <c:pt idx="8">
                  <c:v>779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808"/>
          <c:min val="630.6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691.4</c:v>
                </c:pt>
                <c:pt idx="1">
                  <c:v>674.7</c:v>
                </c:pt>
                <c:pt idx="2">
                  <c:v>970.9</c:v>
                </c:pt>
                <c:pt idx="3">
                  <c:v>902.3</c:v>
                </c:pt>
                <c:pt idx="4">
                  <c:v>935.1</c:v>
                </c:pt>
                <c:pt idx="5">
                  <c:v>817.5</c:v>
                </c:pt>
                <c:pt idx="6">
                  <c:v>890.1</c:v>
                </c:pt>
                <c:pt idx="7">
                  <c:v>1191.6</c:v>
                </c:pt>
                <c:pt idx="8">
                  <c:v>1224.8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808"/>
          <c:min val="630.6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1192.55</c:v>
                </c:pt>
                <c:pt idx="1">
                  <c:v>1192.55</c:v>
                </c:pt>
                <c:pt idx="2">
                  <c:v>1192.55</c:v>
                </c:pt>
                <c:pt idx="3">
                  <c:v>1192.55</c:v>
                </c:pt>
                <c:pt idx="4">
                  <c:v>1192.55</c:v>
                </c:pt>
                <c:pt idx="5">
                  <c:v>1192.55</c:v>
                </c:pt>
                <c:pt idx="6">
                  <c:v>1192.55</c:v>
                </c:pt>
                <c:pt idx="7">
                  <c:v>1192.55</c:v>
                </c:pt>
                <c:pt idx="8">
                  <c:v>1192.55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39.2152"/>
          <c:min val="1026.80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1259.71</c:v>
                </c:pt>
                <c:pt idx="1">
                  <c:v>1069.04</c:v>
                </c:pt>
                <c:pt idx="2">
                  <c:v>1248.9</c:v>
                </c:pt>
                <c:pt idx="3">
                  <c:v>1199.41</c:v>
                </c:pt>
                <c:pt idx="4">
                  <c:v>1159.59</c:v>
                </c:pt>
                <c:pt idx="5">
                  <c:v>1248.23</c:v>
                </c:pt>
                <c:pt idx="6">
                  <c:v>1596.98</c:v>
                </c:pt>
                <c:pt idx="7">
                  <c:v>1486.91</c:v>
                </c:pt>
                <c:pt idx="8">
                  <c:v>1525.73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39.2152"/>
          <c:min val="1026.80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922.0333333333333</c:v>
                </c:pt>
                <c:pt idx="1">
                  <c:v>922.0333333333333</c:v>
                </c:pt>
                <c:pt idx="2">
                  <c:v>922.0333333333333</c:v>
                </c:pt>
                <c:pt idx="3">
                  <c:v>922.0333333333333</c:v>
                </c:pt>
                <c:pt idx="4">
                  <c:v>922.0333333333333</c:v>
                </c:pt>
                <c:pt idx="5">
                  <c:v>922.0333333333333</c:v>
                </c:pt>
                <c:pt idx="6">
                  <c:v>922.0333333333333</c:v>
                </c:pt>
                <c:pt idx="7">
                  <c:v>922.0333333333333</c:v>
                </c:pt>
                <c:pt idx="8">
                  <c:v>922.0333333333333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7.1599999999999"/>
          <c:min val="797.9399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833</c:v>
                </c:pt>
                <c:pt idx="1">
                  <c:v>830.3</c:v>
                </c:pt>
                <c:pt idx="2">
                  <c:v>1102.8</c:v>
                </c:pt>
                <c:pt idx="3">
                  <c:v>1057</c:v>
                </c:pt>
                <c:pt idx="4">
                  <c:v>1118.6</c:v>
                </c:pt>
                <c:pt idx="5">
                  <c:v>1134.2</c:v>
                </c:pt>
                <c:pt idx="6">
                  <c:v>1065.6</c:v>
                </c:pt>
                <c:pt idx="7">
                  <c:v>1137.7</c:v>
                </c:pt>
                <c:pt idx="8">
                  <c:v>1234.8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7.1599999999999"/>
          <c:min val="797.9399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0.8095331695331696</c:v>
                </c:pt>
                <c:pt idx="1">
                  <c:v>1.0185135135135135</c:v>
                </c:pt>
                <c:pt idx="2">
                  <c:v>0.9882380952380952</c:v>
                </c:pt>
                <c:pt idx="3">
                  <c:v>1.0098218262806236</c:v>
                </c:pt>
                <c:pt idx="4">
                  <c:v>1.1224824355971896</c:v>
                </c:pt>
                <c:pt idx="5">
                  <c:v>1.0800655021834062</c:v>
                </c:pt>
                <c:pt idx="6">
                  <c:v>1.1494292237442922</c:v>
                </c:pt>
                <c:pt idx="7">
                  <c:v>0.916109785202864</c:v>
                </c:pt>
                <c:pt idx="8">
                  <c:v>1.132070707070707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24364090623393"/>
          <c:min val="0.74176791611907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1.547421150278293</c:v>
                </c:pt>
                <c:pt idx="1">
                  <c:v>1.844675572519084</c:v>
                </c:pt>
                <c:pt idx="2">
                  <c:v>1.716822429906542</c:v>
                </c:pt>
                <c:pt idx="3">
                  <c:v>1.7136870503597121</c:v>
                </c:pt>
                <c:pt idx="4">
                  <c:v>1.6204006968641116</c:v>
                </c:pt>
                <c:pt idx="5">
                  <c:v>1.6689594356261022</c:v>
                </c:pt>
                <c:pt idx="6">
                  <c:v>1.9205882352941175</c:v>
                </c:pt>
                <c:pt idx="7">
                  <c:v>1.9292649572649572</c:v>
                </c:pt>
                <c:pt idx="8">
                  <c:v>1.7804794520547944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2.37219512195122</c:v>
                </c:pt>
                <c:pt idx="1">
                  <c:v>2.4557824427480917</c:v>
                </c:pt>
                <c:pt idx="2">
                  <c:v>2.4675617792421747</c:v>
                </c:pt>
                <c:pt idx="3">
                  <c:v>2.3930098684210526</c:v>
                </c:pt>
                <c:pt idx="4">
                  <c:v>2.160485133020344</c:v>
                </c:pt>
                <c:pt idx="5">
                  <c:v>2.290423861852433</c:v>
                </c:pt>
                <c:pt idx="6">
                  <c:v>2.2665506329113922</c:v>
                </c:pt>
                <c:pt idx="7">
                  <c:v>2.3419303797468354</c:v>
                </c:pt>
                <c:pt idx="8">
                  <c:v>1.9962063732928679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411730295592854"/>
          <c:min val="1.4738098999611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0.9854166666666667</c:v>
                </c:pt>
                <c:pt idx="1">
                  <c:v>1.0497191011235956</c:v>
                </c:pt>
                <c:pt idx="2">
                  <c:v>0.9802995391705069</c:v>
                </c:pt>
                <c:pt idx="3">
                  <c:v>1.0718978102189782</c:v>
                </c:pt>
                <c:pt idx="4">
                  <c:v>0.9774266365688488</c:v>
                </c:pt>
                <c:pt idx="5">
                  <c:v>0.9004640371229699</c:v>
                </c:pt>
                <c:pt idx="6">
                  <c:v>0.9281385281385282</c:v>
                </c:pt>
                <c:pt idx="7">
                  <c:v>1.0842417061611376</c:v>
                </c:pt>
                <c:pt idx="8">
                  <c:v>0.9233480176211454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7474189247357"/>
          <c:min val="0.8525373591878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4.693251533742331</c:v>
                </c:pt>
                <c:pt idx="1">
                  <c:v>3.9916666666666667</c:v>
                </c:pt>
                <c:pt idx="2">
                  <c:v>3.7259541984732825</c:v>
                </c:pt>
                <c:pt idx="3">
                  <c:v>4.5065034965034965</c:v>
                </c:pt>
                <c:pt idx="4">
                  <c:v>3.981161290322581</c:v>
                </c:pt>
                <c:pt idx="5">
                  <c:v>4.063872832369942</c:v>
                </c:pt>
                <c:pt idx="6">
                  <c:v>3.8731707317073174</c:v>
                </c:pt>
                <c:pt idx="7">
                  <c:v>3.154736842105263</c:v>
                </c:pt>
                <c:pt idx="8">
                  <c:v>3.9435374149659865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8420998917358355"/>
          <c:min val="2.6837987008300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2.0596</c:v>
                </c:pt>
                <c:pt idx="1">
                  <c:v>2.032466960352423</c:v>
                </c:pt>
                <c:pt idx="2">
                  <c:v>2.0876651982378855</c:v>
                </c:pt>
                <c:pt idx="3">
                  <c:v>2.234981684981685</c:v>
                </c:pt>
                <c:pt idx="4">
                  <c:v>2.103427419354839</c:v>
                </c:pt>
                <c:pt idx="5">
                  <c:v>1.7251037344398341</c:v>
                </c:pt>
                <c:pt idx="6">
                  <c:v>1.6973684210526316</c:v>
                </c:pt>
                <c:pt idx="7">
                  <c:v>1.9821771217712176</c:v>
                </c:pt>
                <c:pt idx="8">
                  <c:v>1.6453629032258066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1.7590434782608695</c:v>
                </c:pt>
                <c:pt idx="1">
                  <c:v>1.8324324324324324</c:v>
                </c:pt>
                <c:pt idx="2">
                  <c:v>1.5753140096618357</c:v>
                </c:pt>
                <c:pt idx="3">
                  <c:v>1.5378318584070796</c:v>
                </c:pt>
                <c:pt idx="4">
                  <c:v>1.576056338028169</c:v>
                </c:pt>
                <c:pt idx="5">
                  <c:v>1.8700803212851405</c:v>
                </c:pt>
                <c:pt idx="6">
                  <c:v>1.966904761904762</c:v>
                </c:pt>
                <c:pt idx="7">
                  <c:v>1.5486175115207375</c:v>
                </c:pt>
                <c:pt idx="8">
                  <c:v>1.6961538461538461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907536711076535"/>
          <c:min val="1.48205987228111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2.4811813186813185</c:v>
                </c:pt>
                <c:pt idx="1">
                  <c:v>2.5224683544303796</c:v>
                </c:pt>
                <c:pt idx="2">
                  <c:v>2.8484536082474228</c:v>
                </c:pt>
                <c:pt idx="3">
                  <c:v>2.212776412776413</c:v>
                </c:pt>
                <c:pt idx="4">
                  <c:v>2.608815426997245</c:v>
                </c:pt>
                <c:pt idx="5">
                  <c:v>2.821957671957672</c:v>
                </c:pt>
                <c:pt idx="6">
                  <c:v>2.5031578947368422</c:v>
                </c:pt>
                <c:pt idx="7">
                  <c:v>2.6452403846153847</c:v>
                </c:pt>
                <c:pt idx="8">
                  <c:v>2.580813953488372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2.248157894736842</c:v>
                </c:pt>
                <c:pt idx="1">
                  <c:v>2.0753753753753754</c:v>
                </c:pt>
                <c:pt idx="2">
                  <c:v>2.241573033707865</c:v>
                </c:pt>
                <c:pt idx="3">
                  <c:v>2.333093525179856</c:v>
                </c:pt>
                <c:pt idx="4">
                  <c:v>2.475609756097561</c:v>
                </c:pt>
                <c:pt idx="5">
                  <c:v>2.4686052009456265</c:v>
                </c:pt>
                <c:pt idx="6">
                  <c:v>2.1033602150537636</c:v>
                </c:pt>
                <c:pt idx="7">
                  <c:v>2.4010443864229765</c:v>
                </c:pt>
                <c:pt idx="8">
                  <c:v>2.0956639566395663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102998668771867"/>
          <c:min val="2.01352911674561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1.3477508650519032</c:v>
                </c:pt>
                <c:pt idx="1">
                  <c:v>1.3477508650519032</c:v>
                </c:pt>
                <c:pt idx="2">
                  <c:v>1.3477508650519032</c:v>
                </c:pt>
                <c:pt idx="3">
                  <c:v>1.3477508650519032</c:v>
                </c:pt>
                <c:pt idx="4">
                  <c:v>1.3477508650519032</c:v>
                </c:pt>
                <c:pt idx="5">
                  <c:v>1.3477508650519032</c:v>
                </c:pt>
                <c:pt idx="6">
                  <c:v>1.3477508650519032</c:v>
                </c:pt>
                <c:pt idx="7">
                  <c:v>1.3477508650519032</c:v>
                </c:pt>
                <c:pt idx="8">
                  <c:v>1.3477508650519032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176743612835947"/>
          <c:min val="1.14275076498501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176743612835947"/>
          <c:min val="1.14275076498501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1.5588516746411485</c:v>
                </c:pt>
                <c:pt idx="1">
                  <c:v>1.5588516746411485</c:v>
                </c:pt>
                <c:pt idx="2">
                  <c:v>1.5588516746411485</c:v>
                </c:pt>
                <c:pt idx="3">
                  <c:v>1.5588516746411485</c:v>
                </c:pt>
                <c:pt idx="4">
                  <c:v>1.5588516746411485</c:v>
                </c:pt>
                <c:pt idx="5">
                  <c:v>1.5588516746411485</c:v>
                </c:pt>
                <c:pt idx="6">
                  <c:v>1.5588516746411485</c:v>
                </c:pt>
                <c:pt idx="7">
                  <c:v>1.5588516746411485</c:v>
                </c:pt>
                <c:pt idx="8">
                  <c:v>1.5588516746411485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9683523238381"/>
          <c:min val="1.41114743628185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9683523238381"/>
          <c:min val="1.41114743628185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1.374734513274336</c:v>
                </c:pt>
                <c:pt idx="1">
                  <c:v>1.374734513274336</c:v>
                </c:pt>
                <c:pt idx="2">
                  <c:v>1.374734513274336</c:v>
                </c:pt>
                <c:pt idx="3">
                  <c:v>1.374734513274336</c:v>
                </c:pt>
                <c:pt idx="4">
                  <c:v>1.374734513274336</c:v>
                </c:pt>
                <c:pt idx="5">
                  <c:v>1.374734513274336</c:v>
                </c:pt>
                <c:pt idx="6">
                  <c:v>1.374734513274336</c:v>
                </c:pt>
                <c:pt idx="7">
                  <c:v>1.374734513274336</c:v>
                </c:pt>
                <c:pt idx="8">
                  <c:v>1.374734513274336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872960693394208"/>
          <c:min val="1.24218620345270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872960693394208"/>
          <c:min val="1.24218620345270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115.0490765117863</c:v>
                </c:pt>
                <c:pt idx="1">
                  <c:v>115.42740201932472</c:v>
                </c:pt>
                <c:pt idx="2">
                  <c:v>113.74017173105446</c:v>
                </c:pt>
                <c:pt idx="3">
                  <c:v>112.06231482851163</c:v>
                </c:pt>
                <c:pt idx="4">
                  <c:v>116.89331309553924</c:v>
                </c:pt>
                <c:pt idx="5">
                  <c:v>120.40416426193119</c:v>
                </c:pt>
                <c:pt idx="6">
                  <c:v>124.99917591125198</c:v>
                </c:pt>
                <c:pt idx="7">
                  <c:v>117.80952859055269</c:v>
                </c:pt>
                <c:pt idx="8">
                  <c:v>116.92744389759336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92777533976658"/>
          <c:min val="109.109317753603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182.378309250955</c:v>
                </c:pt>
                <c:pt idx="1">
                  <c:v>185.81206874921588</c:v>
                </c:pt>
                <c:pt idx="2">
                  <c:v>185.37376040535648</c:v>
                </c:pt>
                <c:pt idx="3">
                  <c:v>172.41419053964023</c:v>
                </c:pt>
                <c:pt idx="4">
                  <c:v>177.73820485744454</c:v>
                </c:pt>
                <c:pt idx="5">
                  <c:v>178.48273178963157</c:v>
                </c:pt>
                <c:pt idx="6">
                  <c:v>172.32784903280066</c:v>
                </c:pt>
                <c:pt idx="7">
                  <c:v>184.52138274477016</c:v>
                </c:pt>
                <c:pt idx="8">
                  <c:v>195.6911579184501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3.1943474496042"/>
          <c:min val="167.819219520444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135.9761581587489</c:v>
                </c:pt>
                <c:pt idx="1">
                  <c:v>145.32653160453808</c:v>
                </c:pt>
                <c:pt idx="2">
                  <c:v>152.08800410617394</c:v>
                </c:pt>
                <c:pt idx="3">
                  <c:v>135.25783423218846</c:v>
                </c:pt>
                <c:pt idx="4">
                  <c:v>150.41921044451354</c:v>
                </c:pt>
                <c:pt idx="5">
                  <c:v>129.6778671403431</c:v>
                </c:pt>
                <c:pt idx="6">
                  <c:v>146.4719536903039</c:v>
                </c:pt>
                <c:pt idx="7">
                  <c:v>129.1160210605491</c:v>
                </c:pt>
                <c:pt idx="8">
                  <c:v>122.60498273310311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157.13454336399474</c:v>
                </c:pt>
                <c:pt idx="1">
                  <c:v>170.8547540513409</c:v>
                </c:pt>
                <c:pt idx="2">
                  <c:v>178.13305744286595</c:v>
                </c:pt>
                <c:pt idx="3">
                  <c:v>176.06865429917548</c:v>
                </c:pt>
                <c:pt idx="4">
                  <c:v>162.57445162926334</c:v>
                </c:pt>
                <c:pt idx="5">
                  <c:v>161.11247646541983</c:v>
                </c:pt>
                <c:pt idx="6">
                  <c:v>166.88648570603522</c:v>
                </c:pt>
                <c:pt idx="7">
                  <c:v>177.20261660978383</c:v>
                </c:pt>
                <c:pt idx="8">
                  <c:v>158.27184222676607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2.57530341964699"/>
          <c:min val="118.1627367563220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189.671764500958</c:v>
                </c:pt>
                <c:pt idx="1">
                  <c:v>190.39173783554565</c:v>
                </c:pt>
                <c:pt idx="2">
                  <c:v>186.32210326709594</c:v>
                </c:pt>
                <c:pt idx="3">
                  <c:v>189.28632380554976</c:v>
                </c:pt>
                <c:pt idx="4">
                  <c:v>187.42900707361804</c:v>
                </c:pt>
                <c:pt idx="5">
                  <c:v>190.19035063113603</c:v>
                </c:pt>
                <c:pt idx="6">
                  <c:v>188.12056584547142</c:v>
                </c:pt>
                <c:pt idx="7">
                  <c:v>185.7948927019399</c:v>
                </c:pt>
                <c:pt idx="8">
                  <c:v>158.9534508665518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4.47826347160375"/>
          <c:min val="135.223641748761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149.05162698127234</c:v>
                </c:pt>
                <c:pt idx="1">
                  <c:v>150.05470665521773</c:v>
                </c:pt>
                <c:pt idx="2">
                  <c:v>145.77087642896024</c:v>
                </c:pt>
                <c:pt idx="3">
                  <c:v>145.12440045759388</c:v>
                </c:pt>
                <c:pt idx="4">
                  <c:v>146.24468073668706</c:v>
                </c:pt>
                <c:pt idx="5">
                  <c:v>148.79892211772167</c:v>
                </c:pt>
                <c:pt idx="6">
                  <c:v>151.5719754977029</c:v>
                </c:pt>
                <c:pt idx="7">
                  <c:v>152.7365543761408</c:v>
                </c:pt>
                <c:pt idx="8">
                  <c:v>148.8406328140027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139.5087531701967</c:v>
                </c:pt>
                <c:pt idx="1">
                  <c:v>141.1091985732381</c:v>
                </c:pt>
                <c:pt idx="2">
                  <c:v>142.5638498875024</c:v>
                </c:pt>
                <c:pt idx="3">
                  <c:v>135.65051719990376</c:v>
                </c:pt>
                <c:pt idx="4">
                  <c:v>135.4198399188729</c:v>
                </c:pt>
                <c:pt idx="5">
                  <c:v>141.8193831391364</c:v>
                </c:pt>
                <c:pt idx="6">
                  <c:v>137.29292964550493</c:v>
                </c:pt>
                <c:pt idx="7">
                  <c:v>138.06952908587257</c:v>
                </c:pt>
                <c:pt idx="8">
                  <c:v>134.5364728240213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19256090031035"/>
          <c:min val="133.080466299851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210.02027815163748</c:v>
                </c:pt>
                <c:pt idx="1">
                  <c:v>222.79977355553197</c:v>
                </c:pt>
                <c:pt idx="2">
                  <c:v>225.26684543761638</c:v>
                </c:pt>
                <c:pt idx="3">
                  <c:v>227.9249692496925</c:v>
                </c:pt>
                <c:pt idx="4">
                  <c:v>223.36578823084912</c:v>
                </c:pt>
                <c:pt idx="5">
                  <c:v>218.08357952593607</c:v>
                </c:pt>
                <c:pt idx="6">
                  <c:v>218.64701325529353</c:v>
                </c:pt>
                <c:pt idx="7">
                  <c:v>231.49782975212543</c:v>
                </c:pt>
                <c:pt idx="8">
                  <c:v>221.1602813990173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233.40259197324417</c:v>
                </c:pt>
                <c:pt idx="1">
                  <c:v>234.50396825396825</c:v>
                </c:pt>
                <c:pt idx="2">
                  <c:v>228.27734493192133</c:v>
                </c:pt>
                <c:pt idx="3">
                  <c:v>220.45446566560454</c:v>
                </c:pt>
                <c:pt idx="4">
                  <c:v>197.96650892948708</c:v>
                </c:pt>
                <c:pt idx="5">
                  <c:v>195.17352900794802</c:v>
                </c:pt>
                <c:pt idx="6">
                  <c:v>195.53025739102716</c:v>
                </c:pt>
                <c:pt idx="7">
                  <c:v>200.40652989960716</c:v>
                </c:pt>
                <c:pt idx="8">
                  <c:v>201.48198896932092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7.65040339364987"/>
          <c:min val="192.02709386826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128.27146690100687</c:v>
                </c:pt>
                <c:pt idx="1">
                  <c:v>128.27146690100687</c:v>
                </c:pt>
                <c:pt idx="2">
                  <c:v>128.27146690100687</c:v>
                </c:pt>
                <c:pt idx="3">
                  <c:v>128.27146690100687</c:v>
                </c:pt>
                <c:pt idx="4">
                  <c:v>128.27146690100687</c:v>
                </c:pt>
                <c:pt idx="5">
                  <c:v>128.27146690100687</c:v>
                </c:pt>
                <c:pt idx="6">
                  <c:v>128.27146690100687</c:v>
                </c:pt>
                <c:pt idx="7">
                  <c:v>128.27146690100687</c:v>
                </c:pt>
                <c:pt idx="8">
                  <c:v>128.27146690100687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3.9701108146142"/>
          <c:min val="123.088977916277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3.9701108146142"/>
          <c:min val="123.088977916277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227.33972938993</c:v>
                </c:pt>
                <c:pt idx="1">
                  <c:v>227.33972938993</c:v>
                </c:pt>
                <c:pt idx="2">
                  <c:v>227.33972938993</c:v>
                </c:pt>
                <c:pt idx="3">
                  <c:v>227.33972938993</c:v>
                </c:pt>
                <c:pt idx="4">
                  <c:v>227.33972938993</c:v>
                </c:pt>
                <c:pt idx="5">
                  <c:v>227.33972938993</c:v>
                </c:pt>
                <c:pt idx="6">
                  <c:v>227.33972938993</c:v>
                </c:pt>
                <c:pt idx="7">
                  <c:v>227.33972938993</c:v>
                </c:pt>
                <c:pt idx="8">
                  <c:v>227.33972938993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0.10724380275198"/>
          <c:min val="218.166695060436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0.10724380275198"/>
          <c:min val="218.166695060436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139.3981819539261</c:v>
                </c:pt>
                <c:pt idx="1">
                  <c:v>139.3981819539261</c:v>
                </c:pt>
                <c:pt idx="2">
                  <c:v>139.3981819539261</c:v>
                </c:pt>
                <c:pt idx="3">
                  <c:v>139.3981819539261</c:v>
                </c:pt>
                <c:pt idx="4">
                  <c:v>139.3981819539261</c:v>
                </c:pt>
                <c:pt idx="5">
                  <c:v>139.3981819539261</c:v>
                </c:pt>
                <c:pt idx="6">
                  <c:v>139.3981819539261</c:v>
                </c:pt>
                <c:pt idx="7">
                  <c:v>139.3981819539261</c:v>
                </c:pt>
                <c:pt idx="8">
                  <c:v>139.3981819539261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0522654055815"/>
          <c:min val="134.428701865102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0522654055815"/>
          <c:min val="134.428701865102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129.88619164619163</c:v>
                </c:pt>
                <c:pt idx="1">
                  <c:v>169.77989189189188</c:v>
                </c:pt>
                <c:pt idx="2">
                  <c:v>165.71442857142856</c:v>
                </c:pt>
                <c:pt idx="3">
                  <c:v>168.16574610244987</c:v>
                </c:pt>
                <c:pt idx="4">
                  <c:v>186.088149882904</c:v>
                </c:pt>
                <c:pt idx="5">
                  <c:v>186.8659170305677</c:v>
                </c:pt>
                <c:pt idx="6">
                  <c:v>197.29289954337898</c:v>
                </c:pt>
                <c:pt idx="7">
                  <c:v>153.2679952267303</c:v>
                </c:pt>
                <c:pt idx="8">
                  <c:v>185.71292929292932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210.5308009708738</c:v>
                </c:pt>
                <c:pt idx="1">
                  <c:v>236.76679190751443</c:v>
                </c:pt>
                <c:pt idx="2">
                  <c:v>242.74465053763439</c:v>
                </c:pt>
                <c:pt idx="3">
                  <c:v>227.9738578680203</c:v>
                </c:pt>
                <c:pt idx="4">
                  <c:v>215.10911042944787</c:v>
                </c:pt>
                <c:pt idx="5">
                  <c:v>240.19306930693068</c:v>
                </c:pt>
                <c:pt idx="6">
                  <c:v>256.0121485411141</c:v>
                </c:pt>
                <c:pt idx="7">
                  <c:v>286.0521511627907</c:v>
                </c:pt>
                <c:pt idx="8">
                  <c:v>228.38080213903743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8.54542792411866"/>
          <c:min val="117.39291488486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292.58615873015873</c:v>
                </c:pt>
                <c:pt idx="1">
                  <c:v>337.091992481203</c:v>
                </c:pt>
                <c:pt idx="2">
                  <c:v>362.6182167832168</c:v>
                </c:pt>
                <c:pt idx="3">
                  <c:v>295.9710248447205</c:v>
                </c:pt>
                <c:pt idx="4">
                  <c:v>329.18272108843536</c:v>
                </c:pt>
                <c:pt idx="5">
                  <c:v>294.19940298507464</c:v>
                </c:pt>
                <c:pt idx="6">
                  <c:v>344.25891156462586</c:v>
                </c:pt>
                <c:pt idx="7">
                  <c:v>261.07946768060833</c:v>
                </c:pt>
                <c:pt idx="8">
                  <c:v>217.04829694323143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335.6614385964912</c:v>
                </c:pt>
                <c:pt idx="1">
                  <c:v>461.77139534883725</c:v>
                </c:pt>
                <c:pt idx="2">
                  <c:v>468.17762987012986</c:v>
                </c:pt>
                <c:pt idx="3">
                  <c:v>431.71779783393504</c:v>
                </c:pt>
                <c:pt idx="4">
                  <c:v>453.08293286219083</c:v>
                </c:pt>
                <c:pt idx="5">
                  <c:v>383.1591343283582</c:v>
                </c:pt>
                <c:pt idx="6">
                  <c:v>364.6232807570978</c:v>
                </c:pt>
                <c:pt idx="7">
                  <c:v>475.6064122137405</c:v>
                </c:pt>
                <c:pt idx="8">
                  <c:v>393.37039344262297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96.2910614353812"/>
          <c:min val="196.363647721590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162.29102333931777</c:v>
                </c:pt>
                <c:pt idx="1">
                  <c:v>155.0486128364389</c:v>
                </c:pt>
                <c:pt idx="2">
                  <c:v>147.5827470355731</c:v>
                </c:pt>
                <c:pt idx="3">
                  <c:v>165.31442273534637</c:v>
                </c:pt>
                <c:pt idx="4">
                  <c:v>149.77101243339254</c:v>
                </c:pt>
                <c:pt idx="5">
                  <c:v>159.39569811320754</c:v>
                </c:pt>
                <c:pt idx="6">
                  <c:v>173.36541509433962</c:v>
                </c:pt>
                <c:pt idx="7">
                  <c:v>189.70228174603173</c:v>
                </c:pt>
                <c:pt idx="8">
                  <c:v>167.92956175298804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211.2088788426763</c:v>
                </c:pt>
                <c:pt idx="1">
                  <c:v>240.61326171875</c:v>
                </c:pt>
                <c:pt idx="2">
                  <c:v>217.03684640522874</c:v>
                </c:pt>
                <c:pt idx="3">
                  <c:v>229.33828618968386</c:v>
                </c:pt>
                <c:pt idx="4">
                  <c:v>225.96749084249083</c:v>
                </c:pt>
                <c:pt idx="5">
                  <c:v>204.90637606837606</c:v>
                </c:pt>
                <c:pt idx="6">
                  <c:v>226.83740802675584</c:v>
                </c:pt>
                <c:pt idx="7">
                  <c:v>213.96110905730131</c:v>
                </c:pt>
                <c:pt idx="8">
                  <c:v>231.98551166965888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8.05570289340417"/>
          <c:min val="140.140305860918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290.62976000000003</c:v>
                </c:pt>
                <c:pt idx="1">
                  <c:v>285.3950220264317</c:v>
                </c:pt>
                <c:pt idx="2">
                  <c:v>280.42502202643175</c:v>
                </c:pt>
                <c:pt idx="3">
                  <c:v>321.4882417582417</c:v>
                </c:pt>
                <c:pt idx="4">
                  <c:v>292.63350806451615</c:v>
                </c:pt>
                <c:pt idx="5">
                  <c:v>220.18556016597512</c:v>
                </c:pt>
                <c:pt idx="6">
                  <c:v>226.89375939849623</c:v>
                </c:pt>
                <c:pt idx="7">
                  <c:v>267.67158671586714</c:v>
                </c:pt>
                <c:pt idx="8">
                  <c:v>223.76415322580647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234.84730434782608</c:v>
                </c:pt>
                <c:pt idx="1">
                  <c:v>228.19108108108108</c:v>
                </c:pt>
                <c:pt idx="2">
                  <c:v>197.96091787439616</c:v>
                </c:pt>
                <c:pt idx="3">
                  <c:v>202.15092920353982</c:v>
                </c:pt>
                <c:pt idx="4">
                  <c:v>209.12483568075115</c:v>
                </c:pt>
                <c:pt idx="5">
                  <c:v>262.1806425702811</c:v>
                </c:pt>
                <c:pt idx="6">
                  <c:v>280.343</c:v>
                </c:pt>
                <c:pt idx="7">
                  <c:v>219.08930875576036</c:v>
                </c:pt>
                <c:pt idx="8">
                  <c:v>240.00945054945055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1.37042766894933"/>
          <c:min val="188.07873196368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972.3704294478528</c:v>
                </c:pt>
                <c:pt idx="1">
                  <c:v>869.7270454545454</c:v>
                </c:pt>
                <c:pt idx="2">
                  <c:v>807.1629770992367</c:v>
                </c:pt>
                <c:pt idx="3">
                  <c:v>969.2566433566434</c:v>
                </c:pt>
                <c:pt idx="4">
                  <c:v>876.5754838709678</c:v>
                </c:pt>
                <c:pt idx="5">
                  <c:v>884.1474566473989</c:v>
                </c:pt>
                <c:pt idx="6">
                  <c:v>856.0540853658537</c:v>
                </c:pt>
                <c:pt idx="7">
                  <c:v>699.5857894736841</c:v>
                </c:pt>
                <c:pt idx="8">
                  <c:v>875.0613605442177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812.2049142857142</c:v>
                </c:pt>
                <c:pt idx="1">
                  <c:v>667.2275</c:v>
                </c:pt>
                <c:pt idx="2">
                  <c:v>778.788025477707</c:v>
                </c:pt>
                <c:pt idx="3">
                  <c:v>963.4282208588957</c:v>
                </c:pt>
                <c:pt idx="4">
                  <c:v>925.1539285714285</c:v>
                </c:pt>
                <c:pt idx="5">
                  <c:v>756.4858385093167</c:v>
                </c:pt>
                <c:pt idx="6">
                  <c:v>715.80774566474</c:v>
                </c:pt>
                <c:pt idx="7">
                  <c:v>914.5150531914893</c:v>
                </c:pt>
                <c:pt idx="8">
                  <c:v>793.52921875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96.781863803681"/>
          <c:min val="642.816065644171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285.0538219895288</c:v>
                </c:pt>
                <c:pt idx="1">
                  <c:v>268.5132545201669</c:v>
                </c:pt>
                <c:pt idx="2">
                  <c:v>266.46166101694917</c:v>
                </c:pt>
                <c:pt idx="3">
                  <c:v>219.40733978234582</c:v>
                </c:pt>
                <c:pt idx="4">
                  <c:v>223.84747183979977</c:v>
                </c:pt>
                <c:pt idx="5">
                  <c:v>215.1105964467005</c:v>
                </c:pt>
                <c:pt idx="6">
                  <c:v>202.21748711340206</c:v>
                </c:pt>
                <c:pt idx="7">
                  <c:v>248.33100598802397</c:v>
                </c:pt>
                <c:pt idx="8">
                  <c:v>264.8106159895151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234.72037756202806</c:v>
                </c:pt>
                <c:pt idx="1">
                  <c:v>213.6207242693774</c:v>
                </c:pt>
                <c:pt idx="2">
                  <c:v>206.78852813852814</c:v>
                </c:pt>
                <c:pt idx="3">
                  <c:v>240.97129237288135</c:v>
                </c:pt>
                <c:pt idx="4">
                  <c:v>232.34234972677595</c:v>
                </c:pt>
                <c:pt idx="5">
                  <c:v>256.4467948717949</c:v>
                </c:pt>
                <c:pt idx="6">
                  <c:v>248.00236458333333</c:v>
                </c:pt>
                <c:pt idx="7">
                  <c:v>223.34906923950058</c:v>
                </c:pt>
                <c:pt idx="8">
                  <c:v>246.87454016298022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1.6807287796189"/>
          <c:min val="195.59058032331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223.94994809688583</c:v>
                </c:pt>
                <c:pt idx="1">
                  <c:v>223.94994809688583</c:v>
                </c:pt>
                <c:pt idx="2">
                  <c:v>223.94994809688583</c:v>
                </c:pt>
                <c:pt idx="3">
                  <c:v>223.94994809688583</c:v>
                </c:pt>
                <c:pt idx="4">
                  <c:v>223.94994809688583</c:v>
                </c:pt>
                <c:pt idx="5">
                  <c:v>223.94994809688583</c:v>
                </c:pt>
                <c:pt idx="6">
                  <c:v>223.94994809688583</c:v>
                </c:pt>
                <c:pt idx="7">
                  <c:v>223.94994809688583</c:v>
                </c:pt>
                <c:pt idx="8">
                  <c:v>223.94994809688583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7.99051456579116"/>
          <c:min val="189.618106634270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204.29401384083044</c:v>
                </c:pt>
                <c:pt idx="1">
                  <c:v>212.2406936416185</c:v>
                </c:pt>
                <c:pt idx="2">
                  <c:v>251.32551020408164</c:v>
                </c:pt>
                <c:pt idx="3">
                  <c:v>223.57593457943926</c:v>
                </c:pt>
                <c:pt idx="4">
                  <c:v>223.97177978883863</c:v>
                </c:pt>
                <c:pt idx="5">
                  <c:v>198.471376146789</c:v>
                </c:pt>
                <c:pt idx="6">
                  <c:v>209.48700296735905</c:v>
                </c:pt>
                <c:pt idx="7">
                  <c:v>300.557976366322</c:v>
                </c:pt>
                <c:pt idx="8">
                  <c:v>309.13724505327247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7.99051456579116"/>
          <c:min val="189.618106634270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171.36392828685263</c:v>
                </c:pt>
                <c:pt idx="1">
                  <c:v>171.36392828685263</c:v>
                </c:pt>
                <c:pt idx="2">
                  <c:v>171.36392828685263</c:v>
                </c:pt>
                <c:pt idx="3">
                  <c:v>171.36392828685263</c:v>
                </c:pt>
                <c:pt idx="4">
                  <c:v>171.36392828685263</c:v>
                </c:pt>
                <c:pt idx="5">
                  <c:v>171.36392828685263</c:v>
                </c:pt>
                <c:pt idx="6">
                  <c:v>171.36392828685263</c:v>
                </c:pt>
                <c:pt idx="7">
                  <c:v>171.36392828685263</c:v>
                </c:pt>
                <c:pt idx="8">
                  <c:v>171.36392828685263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3624078709498"/>
          <c:min val="159.768523153942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170.70264285714285</c:v>
                </c:pt>
                <c:pt idx="1">
                  <c:v>177.0144226044226</c:v>
                </c:pt>
                <c:pt idx="2">
                  <c:v>166.6396028037383</c:v>
                </c:pt>
                <c:pt idx="3">
                  <c:v>170.2187899543379</c:v>
                </c:pt>
                <c:pt idx="4">
                  <c:v>164.08534278959812</c:v>
                </c:pt>
                <c:pt idx="5">
                  <c:v>180.7369082125604</c:v>
                </c:pt>
                <c:pt idx="6">
                  <c:v>201.44026476578412</c:v>
                </c:pt>
                <c:pt idx="7">
                  <c:v>218.0455882352941</c:v>
                </c:pt>
                <c:pt idx="8">
                  <c:v>184.16329621380848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3624078709498"/>
          <c:min val="159.768523153942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206.5082456140351</c:v>
                </c:pt>
                <c:pt idx="1">
                  <c:v>206.5082456140351</c:v>
                </c:pt>
                <c:pt idx="2">
                  <c:v>206.5082456140351</c:v>
                </c:pt>
                <c:pt idx="3">
                  <c:v>206.5082456140351</c:v>
                </c:pt>
                <c:pt idx="4">
                  <c:v>206.5082456140351</c:v>
                </c:pt>
                <c:pt idx="5">
                  <c:v>206.5082456140351</c:v>
                </c:pt>
                <c:pt idx="6">
                  <c:v>206.5082456140351</c:v>
                </c:pt>
                <c:pt idx="7">
                  <c:v>206.5082456140351</c:v>
                </c:pt>
                <c:pt idx="8">
                  <c:v>206.5082456140351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7.44730120364346"/>
          <c:min val="169.794558750813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175.8395754716981</c:v>
                </c:pt>
                <c:pt idx="1">
                  <c:v>205.67309278350515</c:v>
                </c:pt>
                <c:pt idx="2">
                  <c:v>236.66108597285069</c:v>
                </c:pt>
                <c:pt idx="3">
                  <c:v>196.78334745762712</c:v>
                </c:pt>
                <c:pt idx="4">
                  <c:v>191.7835652173913</c:v>
                </c:pt>
                <c:pt idx="5">
                  <c:v>194.92579365079365</c:v>
                </c:pt>
                <c:pt idx="6">
                  <c:v>251.40228448275863</c:v>
                </c:pt>
                <c:pt idx="7">
                  <c:v>239.65767326732671</c:v>
                </c:pt>
                <c:pt idx="8">
                  <c:v>229.23376623376623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7.44730120364346"/>
          <c:min val="169.794558750813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0.7623867954096765</c:v>
                </c:pt>
                <c:pt idx="1">
                  <c:v>0.7283105545936978</c:v>
                </c:pt>
                <c:pt idx="2">
                  <c:v>0.7275508965482076</c:v>
                </c:pt>
                <c:pt idx="3">
                  <c:v>0.7286792157632688</c:v>
                </c:pt>
                <c:pt idx="4">
                  <c:v>0.7300987979982152</c:v>
                </c:pt>
                <c:pt idx="5">
                  <c:v>0.7404397892279457</c:v>
                </c:pt>
                <c:pt idx="6">
                  <c:v>0.7202287044743452</c:v>
                </c:pt>
                <c:pt idx="7">
                  <c:v>0.7135118519284841</c:v>
                </c:pt>
                <c:pt idx="8">
                  <c:v>0.7973842466572788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0.7845832953998858</c:v>
                </c:pt>
                <c:pt idx="1">
                  <c:v>0.7839019320361219</c:v>
                </c:pt>
                <c:pt idx="2">
                  <c:v>0.7847969951286465</c:v>
                </c:pt>
                <c:pt idx="3">
                  <c:v>0.7835326313091308</c:v>
                </c:pt>
                <c:pt idx="4">
                  <c:v>0.7879104683381316</c:v>
                </c:pt>
                <c:pt idx="5">
                  <c:v>0.7856818427604036</c:v>
                </c:pt>
                <c:pt idx="6">
                  <c:v>0.7848019193580452</c:v>
                </c:pt>
                <c:pt idx="7">
                  <c:v>0.7815144356429409</c:v>
                </c:pt>
                <c:pt idx="8">
                  <c:v>0.7846073375768934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40940382355823"/>
          <c:min val="0.70680206035018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0.7553894030517089</c:v>
                </c:pt>
                <c:pt idx="1">
                  <c:v>0.7542145809008224</c:v>
                </c:pt>
                <c:pt idx="2">
                  <c:v>0.7509814449869179</c:v>
                </c:pt>
                <c:pt idx="3">
                  <c:v>0.7406926789956169</c:v>
                </c:pt>
                <c:pt idx="4">
                  <c:v>0.7526470566593986</c:v>
                </c:pt>
                <c:pt idx="5">
                  <c:v>0.7581010726801828</c:v>
                </c:pt>
                <c:pt idx="6">
                  <c:v>0.7659387783874183</c:v>
                </c:pt>
                <c:pt idx="7">
                  <c:v>0.7523318921469268</c:v>
                </c:pt>
                <c:pt idx="8">
                  <c:v>0.7483136436815667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0.791851624704491</c:v>
                </c:pt>
                <c:pt idx="1">
                  <c:v>0.7905926629474995</c:v>
                </c:pt>
                <c:pt idx="2">
                  <c:v>0.799717991772953</c:v>
                </c:pt>
                <c:pt idx="3">
                  <c:v>0.8003526290628066</c:v>
                </c:pt>
                <c:pt idx="4">
                  <c:v>0.7977448721810654</c:v>
                </c:pt>
                <c:pt idx="5">
                  <c:v>0.7977533817736701</c:v>
                </c:pt>
                <c:pt idx="6">
                  <c:v>0.8025133361607193</c:v>
                </c:pt>
                <c:pt idx="7">
                  <c:v>0.7996666748879707</c:v>
                </c:pt>
                <c:pt idx="8">
                  <c:v>0.7997363431961929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74589887339275"/>
          <c:min val="0.73574702642240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0.7524644413565905</c:v>
                </c:pt>
                <c:pt idx="1">
                  <c:v>0.7653892502655335</c:v>
                </c:pt>
                <c:pt idx="2">
                  <c:v>0.751502125156779</c:v>
                </c:pt>
                <c:pt idx="3">
                  <c:v>0.7697394979325205</c:v>
                </c:pt>
                <c:pt idx="4">
                  <c:v>0.7617088478087821</c:v>
                </c:pt>
                <c:pt idx="5">
                  <c:v>0.7471534759817822</c:v>
                </c:pt>
                <c:pt idx="6">
                  <c:v>0.7817972838137289</c:v>
                </c:pt>
                <c:pt idx="7">
                  <c:v>0.7737071092791464</c:v>
                </c:pt>
                <c:pt idx="8">
                  <c:v>0.7832301470928763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0.7859402816409109</c:v>
                </c:pt>
                <c:pt idx="1">
                  <c:v>0.7477931605446834</c:v>
                </c:pt>
                <c:pt idx="2">
                  <c:v>0.8005413160407644</c:v>
                </c:pt>
                <c:pt idx="3">
                  <c:v>0.79125821830749</c:v>
                </c:pt>
                <c:pt idx="4">
                  <c:v>0.8004224625810359</c:v>
                </c:pt>
                <c:pt idx="5">
                  <c:v>0.8212325785373156</c:v>
                </c:pt>
                <c:pt idx="6">
                  <c:v>0.7969298833418857</c:v>
                </c:pt>
                <c:pt idx="7">
                  <c:v>0.7970158414450433</c:v>
                </c:pt>
                <c:pt idx="8">
                  <c:v>0.795839083259542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1589067417583"/>
          <c:min val="0.74122714777733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0.7434848689227614</c:v>
                </c:pt>
                <c:pt idx="1">
                  <c:v>0.7580726110989965</c:v>
                </c:pt>
                <c:pt idx="2">
                  <c:v>0.7355831782631782</c:v>
                </c:pt>
                <c:pt idx="3">
                  <c:v>0.773266246206966</c:v>
                </c:pt>
                <c:pt idx="4">
                  <c:v>0.753970124990633</c:v>
                </c:pt>
                <c:pt idx="5">
                  <c:v>0.7395115681148063</c:v>
                </c:pt>
                <c:pt idx="6">
                  <c:v>0.7087019381041484</c:v>
                </c:pt>
                <c:pt idx="7">
                  <c:v>0.7138388001738364</c:v>
                </c:pt>
                <c:pt idx="8">
                  <c:v>0.6449339668868249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0.6588147590575565</c:v>
                </c:pt>
                <c:pt idx="1">
                  <c:v>0.7002123778651839</c:v>
                </c:pt>
                <c:pt idx="2">
                  <c:v>0.6849552886021785</c:v>
                </c:pt>
                <c:pt idx="3">
                  <c:v>0.611096863603115</c:v>
                </c:pt>
                <c:pt idx="4">
                  <c:v>0.6889859084810731</c:v>
                </c:pt>
                <c:pt idx="5">
                  <c:v>0.6679648136348183</c:v>
                </c:pt>
                <c:pt idx="6">
                  <c:v>0.6895302606946244</c:v>
                </c:pt>
                <c:pt idx="7">
                  <c:v>0.698565507525689</c:v>
                </c:pt>
                <c:pt idx="8">
                  <c:v>0.6892300719505977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862397968152741"/>
          <c:min val="0.59812331299480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0.7973937673454071</c:v>
                </c:pt>
                <c:pt idx="1">
                  <c:v>0.8040004351467674</c:v>
                </c:pt>
                <c:pt idx="2">
                  <c:v>0.8032328451524336</c:v>
                </c:pt>
                <c:pt idx="3">
                  <c:v>0.8078235455903459</c:v>
                </c:pt>
                <c:pt idx="4">
                  <c:v>0.7820698539556623</c:v>
                </c:pt>
                <c:pt idx="5">
                  <c:v>0.7787112435413373</c:v>
                </c:pt>
                <c:pt idx="6">
                  <c:v>0.7370465665152814</c:v>
                </c:pt>
                <c:pt idx="7">
                  <c:v>0.7024049253373219</c:v>
                </c:pt>
                <c:pt idx="8">
                  <c:v>0.7111389113674759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0.7240688483145926</c:v>
                </c:pt>
                <c:pt idx="1">
                  <c:v>0.7197196604671536</c:v>
                </c:pt>
                <c:pt idx="2">
                  <c:v>0.719781949445566</c:v>
                </c:pt>
                <c:pt idx="3">
                  <c:v>0.7221777470481148</c:v>
                </c:pt>
                <c:pt idx="4">
                  <c:v>0.7219424568942449</c:v>
                </c:pt>
                <c:pt idx="5">
                  <c:v>0.729639430104598</c:v>
                </c:pt>
                <c:pt idx="6">
                  <c:v>0.7086468860746036</c:v>
                </c:pt>
                <c:pt idx="7">
                  <c:v>0.7183993189212642</c:v>
                </c:pt>
                <c:pt idx="8">
                  <c:v>0.7346655496055636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62570352105878"/>
          <c:min val="0.693971435717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0.8117776789504294</c:v>
                </c:pt>
                <c:pt idx="1">
                  <c:v>0.8158996601757975</c:v>
                </c:pt>
                <c:pt idx="2">
                  <c:v>0.8190941354283671</c:v>
                </c:pt>
                <c:pt idx="3">
                  <c:v>0.8148733686895823</c:v>
                </c:pt>
                <c:pt idx="4">
                  <c:v>0.813879647264967</c:v>
                </c:pt>
                <c:pt idx="5">
                  <c:v>0.8090986397619949</c:v>
                </c:pt>
                <c:pt idx="6">
                  <c:v>0.8326149070983642</c:v>
                </c:pt>
                <c:pt idx="7">
                  <c:v>0.8194693445308031</c:v>
                </c:pt>
                <c:pt idx="8">
                  <c:v>0.8126594966723104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0.7881337072268148</c:v>
                </c:pt>
                <c:pt idx="1">
                  <c:v>0.7854703027053279</c:v>
                </c:pt>
                <c:pt idx="2">
                  <c:v>0.7843830149132022</c:v>
                </c:pt>
                <c:pt idx="3">
                  <c:v>0.7720839862543319</c:v>
                </c:pt>
                <c:pt idx="4">
                  <c:v>0.7813311564793425</c:v>
                </c:pt>
                <c:pt idx="5">
                  <c:v>0.7988869685611975</c:v>
                </c:pt>
                <c:pt idx="6">
                  <c:v>0.7973986974068216</c:v>
                </c:pt>
                <c:pt idx="7">
                  <c:v>0.7945466253135349</c:v>
                </c:pt>
                <c:pt idx="8">
                  <c:v>0.7809914161513463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374573807658867"/>
          <c:min val="0.76724151258680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0.769365288747561</c:v>
                </c:pt>
                <c:pt idx="1">
                  <c:v>0.769365288747561</c:v>
                </c:pt>
                <c:pt idx="2">
                  <c:v>0.769365288747561</c:v>
                </c:pt>
                <c:pt idx="3">
                  <c:v>0.769365288747561</c:v>
                </c:pt>
                <c:pt idx="4">
                  <c:v>0.769365288747561</c:v>
                </c:pt>
                <c:pt idx="5">
                  <c:v>0.769365288747561</c:v>
                </c:pt>
                <c:pt idx="6">
                  <c:v>0.769365288747561</c:v>
                </c:pt>
                <c:pt idx="7">
                  <c:v>0.769365288747561</c:v>
                </c:pt>
                <c:pt idx="8">
                  <c:v>0.769365288747561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99779043986936"/>
          <c:min val="0.764154404079449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0.7717557027250533</c:v>
                </c:pt>
                <c:pt idx="1">
                  <c:v>0.7680043006531901</c:v>
                </c:pt>
                <c:pt idx="2">
                  <c:v>0.7683371482051408</c:v>
                </c:pt>
                <c:pt idx="3">
                  <c:v>0.7853232939664141</c:v>
                </c:pt>
                <c:pt idx="4">
                  <c:v>0.794487963220431</c:v>
                </c:pt>
                <c:pt idx="5">
                  <c:v>0.8105775496665022</c:v>
                </c:pt>
                <c:pt idx="6">
                  <c:v>0.8093667021308971</c:v>
                </c:pt>
                <c:pt idx="7">
                  <c:v>0.8068183881593113</c:v>
                </c:pt>
                <c:pt idx="8">
                  <c:v>0.8161280078249525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99779043986936"/>
          <c:min val="0.764154404079449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0.7722319818788754</c:v>
                </c:pt>
                <c:pt idx="1">
                  <c:v>0.7722319818788754</c:v>
                </c:pt>
                <c:pt idx="2">
                  <c:v>0.7722319818788754</c:v>
                </c:pt>
                <c:pt idx="3">
                  <c:v>0.7722319818788754</c:v>
                </c:pt>
                <c:pt idx="4">
                  <c:v>0.7722319818788754</c:v>
                </c:pt>
                <c:pt idx="5">
                  <c:v>0.7722319818788754</c:v>
                </c:pt>
                <c:pt idx="6">
                  <c:v>0.7722319818788754</c:v>
                </c:pt>
                <c:pt idx="7">
                  <c:v>0.7722319818788754</c:v>
                </c:pt>
                <c:pt idx="8">
                  <c:v>0.7722319818788754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43395656393047"/>
          <c:min val="0.76627674551336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0.7725314244502147</c:v>
                </c:pt>
                <c:pt idx="1">
                  <c:v>0.769591422763434</c:v>
                </c:pt>
                <c:pt idx="2">
                  <c:v>0.7744341830121779</c:v>
                </c:pt>
                <c:pt idx="3">
                  <c:v>0.7827573931956922</c:v>
                </c:pt>
                <c:pt idx="4">
                  <c:v>0.8011860041738821</c:v>
                </c:pt>
                <c:pt idx="5">
                  <c:v>0.8081676153017628</c:v>
                </c:pt>
                <c:pt idx="6">
                  <c:v>0.8067207801152638</c:v>
                </c:pt>
                <c:pt idx="7">
                  <c:v>0.8110248883892401</c:v>
                </c:pt>
                <c:pt idx="8">
                  <c:v>0.8103440680206176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43395656393047"/>
          <c:min val="0.76627674551336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0.7779644896197645</c:v>
                </c:pt>
                <c:pt idx="1">
                  <c:v>0.7779644896197645</c:v>
                </c:pt>
                <c:pt idx="2">
                  <c:v>0.7779644896197645</c:v>
                </c:pt>
                <c:pt idx="3">
                  <c:v>0.7779644896197645</c:v>
                </c:pt>
                <c:pt idx="4">
                  <c:v>0.7779644896197645</c:v>
                </c:pt>
                <c:pt idx="5">
                  <c:v>0.7779644896197645</c:v>
                </c:pt>
                <c:pt idx="6">
                  <c:v>0.7779644896197645</c:v>
                </c:pt>
                <c:pt idx="7">
                  <c:v>0.7779644896197645</c:v>
                </c:pt>
                <c:pt idx="8">
                  <c:v>0.7779644896197645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17621088629585"/>
          <c:min val="0.76067734027058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0.7808908831590161</c:v>
                </c:pt>
                <c:pt idx="1">
                  <c:v>0.7798183229244784</c:v>
                </c:pt>
                <c:pt idx="2">
                  <c:v>0.7732970892962546</c:v>
                </c:pt>
                <c:pt idx="3">
                  <c:v>0.7976647011189412</c:v>
                </c:pt>
                <c:pt idx="4">
                  <c:v>0.7642004277597164</c:v>
                </c:pt>
                <c:pt idx="5">
                  <c:v>0.7712413192023965</c:v>
                </c:pt>
                <c:pt idx="6">
                  <c:v>0.8082390213738295</c:v>
                </c:pt>
                <c:pt idx="7">
                  <c:v>0.8065895099348631</c:v>
                </c:pt>
                <c:pt idx="8">
                  <c:v>0.7973717799981831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17621088629585"/>
          <c:min val="0.76067734027058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0.38598311904886695</c:v>
                </c:pt>
                <c:pt idx="1">
                  <c:v>0.39047524838116304</c:v>
                </c:pt>
                <c:pt idx="2">
                  <c:v>0.3904826897502513</c:v>
                </c:pt>
                <c:pt idx="3">
                  <c:v>0.3840915627162889</c:v>
                </c:pt>
                <c:pt idx="4">
                  <c:v>0.38143870903785965</c:v>
                </c:pt>
                <c:pt idx="5">
                  <c:v>0.38818740059658835</c:v>
                </c:pt>
                <c:pt idx="6">
                  <c:v>0.3940797315339646</c:v>
                </c:pt>
                <c:pt idx="7">
                  <c:v>0.379869697933222</c:v>
                </c:pt>
                <c:pt idx="8">
                  <c:v>0.3908087333712784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034277171664967"/>
          <c:min val="0.370717252064090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0.3783426164529417</c:v>
                </c:pt>
                <c:pt idx="1">
                  <c:v>0.353286305518064</c:v>
                </c:pt>
                <c:pt idx="2">
                  <c:v>0.38461412980780885</c:v>
                </c:pt>
                <c:pt idx="3">
                  <c:v>0.39021763707490936</c:v>
                </c:pt>
                <c:pt idx="4">
                  <c:v>0.37138689412260545</c:v>
                </c:pt>
                <c:pt idx="5">
                  <c:v>0.3936901947139535</c:v>
                </c:pt>
                <c:pt idx="6">
                  <c:v>0.37227942129576247</c:v>
                </c:pt>
                <c:pt idx="7">
                  <c:v>0.39091747680451056</c:v>
                </c:pt>
                <c:pt idx="8">
                  <c:v>0.4017764416963742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0.43991634620573283</c:v>
                </c:pt>
                <c:pt idx="1">
                  <c:v>0.41940433366580826</c:v>
                </c:pt>
                <c:pt idx="2">
                  <c:v>0.46993478895809015</c:v>
                </c:pt>
                <c:pt idx="3">
                  <c:v>0.3965659134580282</c:v>
                </c:pt>
                <c:pt idx="4">
                  <c:v>0.43081675540105374</c:v>
                </c:pt>
                <c:pt idx="5">
                  <c:v>0.44225263307265883</c:v>
                </c:pt>
                <c:pt idx="6">
                  <c:v>0.4305364772422386</c:v>
                </c:pt>
                <c:pt idx="7">
                  <c:v>0.40180744273547314</c:v>
                </c:pt>
                <c:pt idx="8">
                  <c:v>0.40612586262448785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926666763329223"/>
          <c:min val="0.34395442684286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0.30572379931499233</c:v>
                </c:pt>
                <c:pt idx="1">
                  <c:v>0.3069211093203133</c:v>
                </c:pt>
                <c:pt idx="2">
                  <c:v>0.30832588425810964</c:v>
                </c:pt>
                <c:pt idx="3">
                  <c:v>0.30307894275388275</c:v>
                </c:pt>
                <c:pt idx="4">
                  <c:v>0.3056908164087092</c:v>
                </c:pt>
                <c:pt idx="5">
                  <c:v>0.3269570579019263</c:v>
                </c:pt>
                <c:pt idx="6">
                  <c:v>0.3122645038412601</c:v>
                </c:pt>
                <c:pt idx="7">
                  <c:v>0.31297898396665813</c:v>
                </c:pt>
                <c:pt idx="8">
                  <c:v>0.30425150757924574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0.3480620576215342</c:v>
                </c:pt>
                <c:pt idx="1">
                  <c:v>0.3315448617572928</c:v>
                </c:pt>
                <c:pt idx="2">
                  <c:v>0.3680607954397946</c:v>
                </c:pt>
                <c:pt idx="3">
                  <c:v>0.35237770058422485</c:v>
                </c:pt>
                <c:pt idx="4">
                  <c:v>0.34150232163749217</c:v>
                </c:pt>
                <c:pt idx="5">
                  <c:v>0.3406943420615374</c:v>
                </c:pt>
                <c:pt idx="6">
                  <c:v>0.3542177192673228</c:v>
                </c:pt>
                <c:pt idx="7">
                  <c:v>0.344199988019082</c:v>
                </c:pt>
                <c:pt idx="8">
                  <c:v>0.34671938106160266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32593436546675"/>
          <c:min val="0.2978803945390098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0.35891582168831787</c:v>
                </c:pt>
                <c:pt idx="1">
                  <c:v>0.3877162161882417</c:v>
                </c:pt>
                <c:pt idx="2">
                  <c:v>0.3688960228207055</c:v>
                </c:pt>
                <c:pt idx="3">
                  <c:v>0.3664660094532402</c:v>
                </c:pt>
                <c:pt idx="4">
                  <c:v>0.3567442950806059</c:v>
                </c:pt>
                <c:pt idx="5">
                  <c:v>0.39011413937187595</c:v>
                </c:pt>
                <c:pt idx="6">
                  <c:v>0.34319556493387793</c:v>
                </c:pt>
                <c:pt idx="7">
                  <c:v>0.32585569070783</c:v>
                </c:pt>
                <c:pt idx="8">
                  <c:v>0.3216628322280271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0.3175921874084342</c:v>
                </c:pt>
                <c:pt idx="1">
                  <c:v>0.3373250226922007</c:v>
                </c:pt>
                <c:pt idx="2">
                  <c:v>0.3110132050701796</c:v>
                </c:pt>
                <c:pt idx="3">
                  <c:v>0.3689196586190935</c:v>
                </c:pt>
                <c:pt idx="4">
                  <c:v>0.3494274729186284</c:v>
                </c:pt>
                <c:pt idx="5">
                  <c:v>0.34200113696976503</c:v>
                </c:pt>
                <c:pt idx="6">
                  <c:v>0.32818155757111384</c:v>
                </c:pt>
                <c:pt idx="7">
                  <c:v>0.36072685718821257</c:v>
                </c:pt>
                <c:pt idx="8">
                  <c:v>0.31782468388300855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644221411601166"/>
          <c:min val="0.3046851303260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0.4511964303790522</c:v>
                </c:pt>
                <c:pt idx="1">
                  <c:v>0.45917908486545506</c:v>
                </c:pt>
                <c:pt idx="2">
                  <c:v>0.4333346409546394</c:v>
                </c:pt>
                <c:pt idx="3">
                  <c:v>0.4318358038132894</c:v>
                </c:pt>
                <c:pt idx="4">
                  <c:v>0.45094178147628905</c:v>
                </c:pt>
                <c:pt idx="5">
                  <c:v>0.4714642271434733</c:v>
                </c:pt>
                <c:pt idx="6">
                  <c:v>0.4775370414508386</c:v>
                </c:pt>
                <c:pt idx="7">
                  <c:v>0.4626710062466195</c:v>
                </c:pt>
                <c:pt idx="8">
                  <c:v>0.45093622282894874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0.4451627596167185</c:v>
                </c:pt>
                <c:pt idx="1">
                  <c:v>0.4535565283960975</c:v>
                </c:pt>
                <c:pt idx="2">
                  <c:v>0.46462367301298946</c:v>
                </c:pt>
                <c:pt idx="3">
                  <c:v>0.4004745250593397</c:v>
                </c:pt>
                <c:pt idx="4">
                  <c:v>0.43126958726457587</c:v>
                </c:pt>
                <c:pt idx="5">
                  <c:v>0.46510139556723706</c:v>
                </c:pt>
                <c:pt idx="6">
                  <c:v>0.44535624033322224</c:v>
                </c:pt>
                <c:pt idx="7">
                  <c:v>0.4509975715436039</c:v>
                </c:pt>
                <c:pt idx="8">
                  <c:v>0.4550153510800876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37020427621585"/>
          <c:min val="0.39430952374801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0.41095136837093743</c:v>
                </c:pt>
                <c:pt idx="1">
                  <c:v>0.4360727867074892</c:v>
                </c:pt>
                <c:pt idx="2">
                  <c:v>0.3891742480811233</c:v>
                </c:pt>
                <c:pt idx="3">
                  <c:v>0.39575949223677154</c:v>
                </c:pt>
                <c:pt idx="4">
                  <c:v>0.44235396407140803</c:v>
                </c:pt>
                <c:pt idx="5">
                  <c:v>0.4023732126598505</c:v>
                </c:pt>
                <c:pt idx="6">
                  <c:v>0.38370564500650006</c:v>
                </c:pt>
                <c:pt idx="7">
                  <c:v>0.3929434912018038</c:v>
                </c:pt>
                <c:pt idx="8">
                  <c:v>0.37130834362660076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0.3960316815661207</c:v>
                </c:pt>
                <c:pt idx="1">
                  <c:v>0.41640512700560156</c:v>
                </c:pt>
                <c:pt idx="2">
                  <c:v>0.40079876985314605</c:v>
                </c:pt>
                <c:pt idx="3">
                  <c:v>0.3583092085006641</c:v>
                </c:pt>
                <c:pt idx="4">
                  <c:v>0.3834062210436125</c:v>
                </c:pt>
                <c:pt idx="5">
                  <c:v>0.3758122273755331</c:v>
                </c:pt>
                <c:pt idx="6">
                  <c:v>0.3912563036795523</c:v>
                </c:pt>
                <c:pt idx="7">
                  <c:v>0.4044373851272572</c:v>
                </c:pt>
                <c:pt idx="8">
                  <c:v>0.42482025329747247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907754451706755"/>
          <c:min val="0.35158562805500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0.3936303485160775</c:v>
                </c:pt>
                <c:pt idx="1">
                  <c:v>0.3936303485160775</c:v>
                </c:pt>
                <c:pt idx="2">
                  <c:v>0.3936303485160775</c:v>
                </c:pt>
                <c:pt idx="3">
                  <c:v>0.3936303485160775</c:v>
                </c:pt>
                <c:pt idx="4">
                  <c:v>0.3936303485160775</c:v>
                </c:pt>
                <c:pt idx="5">
                  <c:v>0.3936303485160775</c:v>
                </c:pt>
                <c:pt idx="6">
                  <c:v>0.3936303485160775</c:v>
                </c:pt>
                <c:pt idx="7">
                  <c:v>0.3936303485160775</c:v>
                </c:pt>
                <c:pt idx="8">
                  <c:v>0.3936303485160775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031119312049639"/>
          <c:min val="0.374980362544784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031119312049639"/>
          <c:min val="0.374980362544784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0.3913678558815367</c:v>
                </c:pt>
                <c:pt idx="1">
                  <c:v>0.3913678558815367</c:v>
                </c:pt>
                <c:pt idx="2">
                  <c:v>0.3913678558815367</c:v>
                </c:pt>
                <c:pt idx="3">
                  <c:v>0.3913678558815367</c:v>
                </c:pt>
                <c:pt idx="4">
                  <c:v>0.3913678558815367</c:v>
                </c:pt>
                <c:pt idx="5">
                  <c:v>0.3913678558815367</c:v>
                </c:pt>
                <c:pt idx="6">
                  <c:v>0.3913678558815367</c:v>
                </c:pt>
                <c:pt idx="7">
                  <c:v>0.3913678558815367</c:v>
                </c:pt>
                <c:pt idx="8">
                  <c:v>0.3913678558815367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6679275696861905"/>
          <c:min val="0.365056985709397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6679275696861905"/>
          <c:min val="0.365056985709397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0.3526553480578478</c:v>
                </c:pt>
                <c:pt idx="1">
                  <c:v>0.3526553480578478</c:v>
                </c:pt>
                <c:pt idx="2">
                  <c:v>0.3526553480578478</c:v>
                </c:pt>
                <c:pt idx="3">
                  <c:v>0.3526553480578478</c:v>
                </c:pt>
                <c:pt idx="4">
                  <c:v>0.3526553480578478</c:v>
                </c:pt>
                <c:pt idx="5">
                  <c:v>0.3526553480578478</c:v>
                </c:pt>
                <c:pt idx="6">
                  <c:v>0.3526553480578478</c:v>
                </c:pt>
                <c:pt idx="7">
                  <c:v>0.3526553480578478</c:v>
                </c:pt>
                <c:pt idx="8">
                  <c:v>0.3526553480578478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64410424444459"/>
          <c:min val="0.33743681406171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64410424444459"/>
          <c:min val="0.33743681406171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0.04668304668304668</c:v>
                </c:pt>
                <c:pt idx="1">
                  <c:v>0.08648648648648649</c:v>
                </c:pt>
                <c:pt idx="2">
                  <c:v>0.05476190476190476</c:v>
                </c:pt>
                <c:pt idx="3">
                  <c:v>0.060133630289532294</c:v>
                </c:pt>
                <c:pt idx="4">
                  <c:v>0.05152224824355972</c:v>
                </c:pt>
                <c:pt idx="5">
                  <c:v>0.06331877729257641</c:v>
                </c:pt>
                <c:pt idx="6">
                  <c:v>0.02968036529680365</c:v>
                </c:pt>
                <c:pt idx="7">
                  <c:v>0.03818615751789976</c:v>
                </c:pt>
                <c:pt idx="8">
                  <c:v>0.03787878787878788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842770981368886"/>
          <c:min val="0.0164398212585158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0.0898876404494382</c:v>
                </c:pt>
                <c:pt idx="1">
                  <c:v>0.046052631578947366</c:v>
                </c:pt>
                <c:pt idx="2">
                  <c:v>0.09340659340659341</c:v>
                </c:pt>
                <c:pt idx="3">
                  <c:v>0.11917098445595854</c:v>
                </c:pt>
                <c:pt idx="4">
                  <c:v>0.14736842105263157</c:v>
                </c:pt>
                <c:pt idx="5">
                  <c:v>0.11428571428571428</c:v>
                </c:pt>
                <c:pt idx="6">
                  <c:v>0.19915254237288135</c:v>
                </c:pt>
                <c:pt idx="7">
                  <c:v>0.2440944881889764</c:v>
                </c:pt>
                <c:pt idx="8">
                  <c:v>0.20982142857142858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53656869446343"/>
          <c:min val="0.02757233994076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0.018575851393188854</c:v>
                </c:pt>
                <c:pt idx="1">
                  <c:v>0.03691275167785235</c:v>
                </c:pt>
                <c:pt idx="2">
                  <c:v>0.04778156996587031</c:v>
                </c:pt>
                <c:pt idx="3">
                  <c:v>0.03303303303303303</c:v>
                </c:pt>
                <c:pt idx="4">
                  <c:v>0.0581039755351682</c:v>
                </c:pt>
                <c:pt idx="5">
                  <c:v>0.1118421052631579</c:v>
                </c:pt>
                <c:pt idx="6">
                  <c:v>0.02040816326530612</c:v>
                </c:pt>
                <c:pt idx="7">
                  <c:v>0.0707395498392283</c:v>
                </c:pt>
                <c:pt idx="8">
                  <c:v>0.05263157894736842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0.05466237942122187</c:v>
                </c:pt>
                <c:pt idx="1">
                  <c:v>0.13149847094801223</c:v>
                </c:pt>
                <c:pt idx="2">
                  <c:v>0.12464589235127478</c:v>
                </c:pt>
                <c:pt idx="3">
                  <c:v>0.14244186046511628</c:v>
                </c:pt>
                <c:pt idx="4">
                  <c:v>0.14935064935064934</c:v>
                </c:pt>
                <c:pt idx="5">
                  <c:v>0.10704225352112676</c:v>
                </c:pt>
                <c:pt idx="6">
                  <c:v>0.10540540540540541</c:v>
                </c:pt>
                <c:pt idx="7">
                  <c:v>0.1256544502617801</c:v>
                </c:pt>
                <c:pt idx="8">
                  <c:v>0.11484593837535013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981263318724617"/>
          <c:min val="0.008113867556592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0.1656441717791411</c:v>
                </c:pt>
                <c:pt idx="1">
                  <c:v>0.16666666666666666</c:v>
                </c:pt>
                <c:pt idx="2">
                  <c:v>0.17557251908396945</c:v>
                </c:pt>
                <c:pt idx="3">
                  <c:v>0.23076923076923078</c:v>
                </c:pt>
                <c:pt idx="4">
                  <c:v>0.18064516129032257</c:v>
                </c:pt>
                <c:pt idx="5">
                  <c:v>0.15606936416184972</c:v>
                </c:pt>
                <c:pt idx="6">
                  <c:v>0.18902439024390244</c:v>
                </c:pt>
                <c:pt idx="7">
                  <c:v>0.14736842105263157</c:v>
                </c:pt>
                <c:pt idx="8">
                  <c:v>0.17687074829931973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0.14857142857142858</c:v>
                </c:pt>
                <c:pt idx="1">
                  <c:v>0.10294117647058823</c:v>
                </c:pt>
                <c:pt idx="2">
                  <c:v>0.1464968152866242</c:v>
                </c:pt>
                <c:pt idx="3">
                  <c:v>0.15337423312883436</c:v>
                </c:pt>
                <c:pt idx="4">
                  <c:v>0.14285714285714285</c:v>
                </c:pt>
                <c:pt idx="5">
                  <c:v>0.11801242236024845</c:v>
                </c:pt>
                <c:pt idx="6">
                  <c:v>0.09826589595375723</c:v>
                </c:pt>
                <c:pt idx="7">
                  <c:v>0.11702127659574468</c:v>
                </c:pt>
                <c:pt idx="8">
                  <c:v>0.1328125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4136949755446865"/>
          <c:min val="0.087665629168519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0.18586387434554974</c:v>
                </c:pt>
                <c:pt idx="1">
                  <c:v>0.2086230876216968</c:v>
                </c:pt>
                <c:pt idx="2">
                  <c:v>0.14350282485875707</c:v>
                </c:pt>
                <c:pt idx="3">
                  <c:v>0.10640870616686819</c:v>
                </c:pt>
                <c:pt idx="4">
                  <c:v>0.11264080100125157</c:v>
                </c:pt>
                <c:pt idx="5">
                  <c:v>0.08375634517766498</c:v>
                </c:pt>
                <c:pt idx="6">
                  <c:v>0.06572164948453608</c:v>
                </c:pt>
                <c:pt idx="7">
                  <c:v>0.11616766467065869</c:v>
                </c:pt>
                <c:pt idx="8">
                  <c:v>0.18479685452162517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0.07551240560949299</c:v>
                </c:pt>
                <c:pt idx="1">
                  <c:v>0.06607369758576874</c:v>
                </c:pt>
                <c:pt idx="2">
                  <c:v>0.06277056277056277</c:v>
                </c:pt>
                <c:pt idx="3">
                  <c:v>0.09216101694915255</c:v>
                </c:pt>
                <c:pt idx="4">
                  <c:v>0.06885245901639345</c:v>
                </c:pt>
                <c:pt idx="5">
                  <c:v>0.11217948717948718</c:v>
                </c:pt>
                <c:pt idx="6">
                  <c:v>0.16770833333333332</c:v>
                </c:pt>
                <c:pt idx="7">
                  <c:v>0.1271282633371169</c:v>
                </c:pt>
                <c:pt idx="8">
                  <c:v>0.10011641443538999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02912896097875"/>
          <c:min val="0.0511023607824720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0.18887530562347188</c:v>
                </c:pt>
                <c:pt idx="1">
                  <c:v>0.1809775429326288</c:v>
                </c:pt>
                <c:pt idx="2">
                  <c:v>0.16234567901234567</c:v>
                </c:pt>
                <c:pt idx="3">
                  <c:v>0.15448968209704406</c:v>
                </c:pt>
                <c:pt idx="4">
                  <c:v>0.15730337078651685</c:v>
                </c:pt>
                <c:pt idx="5">
                  <c:v>0.14933837429111532</c:v>
                </c:pt>
                <c:pt idx="6">
                  <c:v>0.1404526987811956</c:v>
                </c:pt>
                <c:pt idx="7">
                  <c:v>0.1642567958357432</c:v>
                </c:pt>
                <c:pt idx="8">
                  <c:v>0.15218811234487264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0.13295526149968495</c:v>
                </c:pt>
                <c:pt idx="1">
                  <c:v>0.16447823082239116</c:v>
                </c:pt>
                <c:pt idx="2">
                  <c:v>0.14106395696353854</c:v>
                </c:pt>
                <c:pt idx="3">
                  <c:v>0.1444141689373297</c:v>
                </c:pt>
                <c:pt idx="4">
                  <c:v>0.13690476190476192</c:v>
                </c:pt>
                <c:pt idx="5">
                  <c:v>0.13560334528076465</c:v>
                </c:pt>
                <c:pt idx="6">
                  <c:v>0.14783139890042762</c:v>
                </c:pt>
                <c:pt idx="7">
                  <c:v>0.15158636897767333</c:v>
                </c:pt>
                <c:pt idx="8">
                  <c:v>0.15741935483870967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9334890915337483"/>
          <c:min val="0.12848165796978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0.21052631578947367</c:v>
                </c:pt>
                <c:pt idx="1">
                  <c:v>0.21052631578947367</c:v>
                </c:pt>
                <c:pt idx="2">
                  <c:v>0.21052631578947367</c:v>
                </c:pt>
                <c:pt idx="3">
                  <c:v>0.21052631578947367</c:v>
                </c:pt>
                <c:pt idx="4">
                  <c:v>0.21052631578947367</c:v>
                </c:pt>
                <c:pt idx="5">
                  <c:v>0.21052631578947367</c:v>
                </c:pt>
                <c:pt idx="6">
                  <c:v>0.21052631578947367</c:v>
                </c:pt>
                <c:pt idx="7">
                  <c:v>0.21052631578947367</c:v>
                </c:pt>
                <c:pt idx="8">
                  <c:v>0.21052631578947367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66835699081533"/>
          <c:min val="0.1673863088448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66835699081533"/>
          <c:min val="0.1673863088448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0.12629757785467127</c:v>
                </c:pt>
                <c:pt idx="1">
                  <c:v>0.12629757785467127</c:v>
                </c:pt>
                <c:pt idx="2">
                  <c:v>0.12629757785467127</c:v>
                </c:pt>
                <c:pt idx="3">
                  <c:v>0.12629757785467127</c:v>
                </c:pt>
                <c:pt idx="4">
                  <c:v>0.12629757785467127</c:v>
                </c:pt>
                <c:pt idx="5">
                  <c:v>0.12629757785467127</c:v>
                </c:pt>
                <c:pt idx="6">
                  <c:v>0.12629757785467127</c:v>
                </c:pt>
                <c:pt idx="7">
                  <c:v>0.12629757785467127</c:v>
                </c:pt>
                <c:pt idx="8">
                  <c:v>0.12629757785467127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336351139972504"/>
          <c:min val="0.058915274946938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336351139972504"/>
          <c:min val="0.058915274946938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0.040637450199203194</c:v>
                </c:pt>
                <c:pt idx="1">
                  <c:v>0.040637450199203194</c:v>
                </c:pt>
                <c:pt idx="2">
                  <c:v>0.040637450199203194</c:v>
                </c:pt>
                <c:pt idx="3">
                  <c:v>0.040637450199203194</c:v>
                </c:pt>
                <c:pt idx="4">
                  <c:v>0.040637450199203194</c:v>
                </c:pt>
                <c:pt idx="5">
                  <c:v>0.040637450199203194</c:v>
                </c:pt>
                <c:pt idx="6">
                  <c:v>0.040637450199203194</c:v>
                </c:pt>
                <c:pt idx="7">
                  <c:v>0.040637450199203194</c:v>
                </c:pt>
                <c:pt idx="8">
                  <c:v>0.040637450199203194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855530809205643"/>
          <c:min val="0.0083786191536748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855530809205643"/>
          <c:min val="0.0083786191536748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c:v>
                </c:pt>
                <c:pt idx="2">
                  <c:v>0.001976284584980237</c:v>
                </c:pt>
                <c:pt idx="3">
                  <c:v>0</c:v>
                </c:pt>
                <c:pt idx="4">
                  <c:v>0.0017761989342806395</c:v>
                </c:pt>
                <c:pt idx="5">
                  <c:v>0.0018867924528301887</c:v>
                </c:pt>
                <c:pt idx="6">
                  <c:v>0.0037735849056603774</c:v>
                </c:pt>
                <c:pt idx="7">
                  <c:v>0</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0.003616636528028933</c:v>
                </c:pt>
                <c:pt idx="1">
                  <c:v>0.24609375</c:v>
                </c:pt>
                <c:pt idx="2">
                  <c:v>0.16339869281045752</c:v>
                </c:pt>
                <c:pt idx="3">
                  <c:v>0.16306156405990016</c:v>
                </c:pt>
                <c:pt idx="4">
                  <c:v>0.1684981684981685</c:v>
                </c:pt>
                <c:pt idx="5">
                  <c:v>0.14188034188034188</c:v>
                </c:pt>
                <c:pt idx="6">
                  <c:v>0.16387959866220736</c:v>
                </c:pt>
                <c:pt idx="7">
                  <c:v>0.13863216266173753</c:v>
                </c:pt>
                <c:pt idx="8">
                  <c:v>0.16337522441651706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578125"/>
          <c:min val="-0.01968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0.018779342723004695</c:v>
                </c:pt>
                <c:pt idx="1">
                  <c:v>0.034229828850855744</c:v>
                </c:pt>
                <c:pt idx="2">
                  <c:v>0.015503875968992248</c:v>
                </c:pt>
                <c:pt idx="3">
                  <c:v>0.07671957671957672</c:v>
                </c:pt>
                <c:pt idx="4">
                  <c:v>0.042328042328042326</c:v>
                </c:pt>
                <c:pt idx="5">
                  <c:v>0.03523035230352303</c:v>
                </c:pt>
                <c:pt idx="6">
                  <c:v>0.044444444444444446</c:v>
                </c:pt>
                <c:pt idx="7">
                  <c:v>0.011267605633802818</c:v>
                </c:pt>
                <c:pt idx="8">
                  <c:v>0.031791907514450865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0.1534090909090909</c:v>
                </c:pt>
                <c:pt idx="1">
                  <c:v>0.15469613259668508</c:v>
                </c:pt>
                <c:pt idx="2">
                  <c:v>0.15178571428571427</c:v>
                </c:pt>
                <c:pt idx="3">
                  <c:v>0.19900497512437812</c:v>
                </c:pt>
                <c:pt idx="4">
                  <c:v>0.23876404494382023</c:v>
                </c:pt>
                <c:pt idx="5">
                  <c:v>0.17194570135746606</c:v>
                </c:pt>
                <c:pt idx="6">
                  <c:v>0.16481069042316257</c:v>
                </c:pt>
                <c:pt idx="7">
                  <c:v>0.16161616161616163</c:v>
                </c:pt>
                <c:pt idx="8">
                  <c:v>0.13466334164588528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69637600886216"/>
          <c:min val="-0.0069321095109985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0.09627329192546584</c:v>
                </c:pt>
                <c:pt idx="1">
                  <c:v>0.0831758034026465</c:v>
                </c:pt>
                <c:pt idx="2">
                  <c:v>0.08681672025723473</c:v>
                </c:pt>
                <c:pt idx="3">
                  <c:v>0.054365733113673806</c:v>
                </c:pt>
                <c:pt idx="4">
                  <c:v>0.06598984771573604</c:v>
                </c:pt>
                <c:pt idx="5">
                  <c:v>0.0515625</c:v>
                </c:pt>
                <c:pt idx="6">
                  <c:v>0.06222222222222222</c:v>
                </c:pt>
                <c:pt idx="7">
                  <c:v>0.03273322422258593</c:v>
                </c:pt>
                <c:pt idx="8">
                  <c:v>0.053156146179401995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38196982265767"/>
          <c:min val="0.0163564483704384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0.03710575139146568</c:v>
                </c:pt>
                <c:pt idx="1">
                  <c:v>0.03435114503816794</c:v>
                </c:pt>
                <c:pt idx="2">
                  <c:v>0.0616822429906542</c:v>
                </c:pt>
                <c:pt idx="3">
                  <c:v>0.06654676258992806</c:v>
                </c:pt>
                <c:pt idx="4">
                  <c:v>0.05400696864111498</c:v>
                </c:pt>
                <c:pt idx="5">
                  <c:v>0.05291005291005291</c:v>
                </c:pt>
                <c:pt idx="6">
                  <c:v>0.06228373702422145</c:v>
                </c:pt>
                <c:pt idx="7">
                  <c:v>0.05982905982905983</c:v>
                </c:pt>
                <c:pt idx="8">
                  <c:v>0.04965753424657534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0.05203252032520325</c:v>
                </c:pt>
                <c:pt idx="1">
                  <c:v>0.04198473282442748</c:v>
                </c:pt>
                <c:pt idx="2">
                  <c:v>0.03130148270181219</c:v>
                </c:pt>
                <c:pt idx="3">
                  <c:v>0.03289473684210526</c:v>
                </c:pt>
                <c:pt idx="4">
                  <c:v>0.026604068857589983</c:v>
                </c:pt>
                <c:pt idx="5">
                  <c:v>0.03453689167974882</c:v>
                </c:pt>
                <c:pt idx="6">
                  <c:v>0.04113924050632911</c:v>
                </c:pt>
                <c:pt idx="7">
                  <c:v>0.0379746835443038</c:v>
                </c:pt>
                <c:pt idx="8">
                  <c:v>0.03490136570561457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97421780885151"/>
          <c:min val="0.0234086533590029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0.05275498241500586</c:v>
                </c:pt>
                <c:pt idx="1">
                  <c:v>0.03636363636363636</c:v>
                </c:pt>
                <c:pt idx="2">
                  <c:v>0.055288461538461536</c:v>
                </c:pt>
                <c:pt idx="3">
                  <c:v>0.04199772985244041</c:v>
                </c:pt>
                <c:pt idx="4">
                  <c:v>0.023837902264600714</c:v>
                </c:pt>
                <c:pt idx="5">
                  <c:v>0.005194805194805195</c:v>
                </c:pt>
                <c:pt idx="6">
                  <c:v>0.007380073800738007</c:v>
                </c:pt>
                <c:pt idx="7">
                  <c:v>0.0011641443538998836</c:v>
                </c:pt>
                <c:pt idx="8">
                  <c:v>0.007633587786259542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0.00902061855670103</c:v>
                </c:pt>
                <c:pt idx="1">
                  <c:v>0.007587253414264037</c:v>
                </c:pt>
                <c:pt idx="2">
                  <c:v>0.007228915662650603</c:v>
                </c:pt>
                <c:pt idx="3">
                  <c:v>0.011673151750972763</c:v>
                </c:pt>
                <c:pt idx="4">
                  <c:v>0.008674101610904586</c:v>
                </c:pt>
                <c:pt idx="5">
                  <c:v>0.02278481012658228</c:v>
                </c:pt>
                <c:pt idx="6">
                  <c:v>0.008674101610904586</c:v>
                </c:pt>
                <c:pt idx="7">
                  <c:v>0.013613861386138614</c:v>
                </c:pt>
                <c:pt idx="8">
                  <c:v>0.005517241379310344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9618406913226465"/>
          <c:min val="-0.00316580102086504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0.10340314136125654</c:v>
                </c:pt>
                <c:pt idx="1">
                  <c:v>0.06815020862308763</c:v>
                </c:pt>
                <c:pt idx="2">
                  <c:v>0.07457627118644068</c:v>
                </c:pt>
                <c:pt idx="3">
                  <c:v>0.06771463119709795</c:v>
                </c:pt>
                <c:pt idx="4">
                  <c:v>0.08135168961201501</c:v>
                </c:pt>
                <c:pt idx="5">
                  <c:v>0.06472081218274112</c:v>
                </c:pt>
                <c:pt idx="6">
                  <c:v>0.028350515463917526</c:v>
                </c:pt>
                <c:pt idx="7">
                  <c:v>0.0562874251497006</c:v>
                </c:pt>
                <c:pt idx="8">
                  <c:v>0.04849279161205767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0.06796116504854369</c:v>
                </c:pt>
                <c:pt idx="1">
                  <c:v>0.06734434561626429</c:v>
                </c:pt>
                <c:pt idx="2">
                  <c:v>0.06818181818181818</c:v>
                </c:pt>
                <c:pt idx="3">
                  <c:v>0.06885593220338983</c:v>
                </c:pt>
                <c:pt idx="4">
                  <c:v>0.02841530054644809</c:v>
                </c:pt>
                <c:pt idx="5">
                  <c:v>0.03739316239316239</c:v>
                </c:pt>
                <c:pt idx="6">
                  <c:v>0.058333333333333334</c:v>
                </c:pt>
                <c:pt idx="7">
                  <c:v>0.039727582292849034</c:v>
                </c:pt>
                <c:pt idx="8">
                  <c:v>0.034924330616996506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940735143304367"/>
          <c:min val="0.0223463053921304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0.10149942329873127</c:v>
                </c:pt>
                <c:pt idx="1">
                  <c:v>0.10149942329873127</c:v>
                </c:pt>
                <c:pt idx="2">
                  <c:v>0.10149942329873127</c:v>
                </c:pt>
                <c:pt idx="3">
                  <c:v>0.10149942329873127</c:v>
                </c:pt>
                <c:pt idx="4">
                  <c:v>0.10149942329873127</c:v>
                </c:pt>
                <c:pt idx="5">
                  <c:v>0.10149942329873127</c:v>
                </c:pt>
                <c:pt idx="6">
                  <c:v>0.10149942329873127</c:v>
                </c:pt>
                <c:pt idx="7">
                  <c:v>0.10149942329873127</c:v>
                </c:pt>
                <c:pt idx="8">
                  <c:v>0.10149942329873127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20092904204389"/>
          <c:min val="0.04079695375329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20092904204389"/>
          <c:min val="0.04079695375329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0.10845295055821372</c:v>
                </c:pt>
                <c:pt idx="1">
                  <c:v>0.10845295055821372</c:v>
                </c:pt>
                <c:pt idx="2">
                  <c:v>0.10845295055821372</c:v>
                </c:pt>
                <c:pt idx="3">
                  <c:v>0.10845295055821372</c:v>
                </c:pt>
                <c:pt idx="4">
                  <c:v>0.10845295055821372</c:v>
                </c:pt>
                <c:pt idx="5">
                  <c:v>0.10845295055821372</c:v>
                </c:pt>
                <c:pt idx="6">
                  <c:v>0.10845295055821372</c:v>
                </c:pt>
                <c:pt idx="7">
                  <c:v>0.10845295055821372</c:v>
                </c:pt>
                <c:pt idx="8">
                  <c:v>0.10845295055821372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154373927958834"/>
          <c:min val="0.084917095483133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154373927958834"/>
          <c:min val="0.084917095483133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0.007407407407407408</c:v>
                </c:pt>
                <c:pt idx="1">
                  <c:v>0.007407407407407408</c:v>
                </c:pt>
                <c:pt idx="2">
                  <c:v>0.007407407407407408</c:v>
                </c:pt>
                <c:pt idx="3">
                  <c:v>0.007407407407407408</c:v>
                </c:pt>
                <c:pt idx="4">
                  <c:v>0.007407407407407408</c:v>
                </c:pt>
                <c:pt idx="5">
                  <c:v>0.007407407407407408</c:v>
                </c:pt>
                <c:pt idx="6">
                  <c:v>0.007407407407407408</c:v>
                </c:pt>
                <c:pt idx="7">
                  <c:v>0.007407407407407408</c:v>
                </c:pt>
                <c:pt idx="8">
                  <c:v>0.007407407407407408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502648780376705"/>
          <c:min val="-0.0027819709841255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502648780376705"/>
          <c:min val="-0.0027819709841255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3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0.02813599062133646</c:v>
                </c:pt>
                <c:pt idx="1">
                  <c:v>0.02987012987012987</c:v>
                </c:pt>
                <c:pt idx="2">
                  <c:v>0.042067307692307696</c:v>
                </c:pt>
                <c:pt idx="3">
                  <c:v>0.032917139614074914</c:v>
                </c:pt>
                <c:pt idx="4">
                  <c:v>0.03456495828367104</c:v>
                </c:pt>
                <c:pt idx="5">
                  <c:v>0.02987012987012987</c:v>
                </c:pt>
                <c:pt idx="6">
                  <c:v>0.03198031980319803</c:v>
                </c:pt>
                <c:pt idx="7">
                  <c:v>0.051222351571594875</c:v>
                </c:pt>
                <c:pt idx="8">
                  <c:v>0.05979643765903308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0.10051546391752578</c:v>
                </c:pt>
                <c:pt idx="1">
                  <c:v>0.1411229135053111</c:v>
                </c:pt>
                <c:pt idx="2">
                  <c:v>0.12771084337349398</c:v>
                </c:pt>
                <c:pt idx="3">
                  <c:v>0.10635538261997406</c:v>
                </c:pt>
                <c:pt idx="4">
                  <c:v>0.12639405204460966</c:v>
                </c:pt>
                <c:pt idx="5">
                  <c:v>0.14556962025316456</c:v>
                </c:pt>
                <c:pt idx="6">
                  <c:v>0.10408921933085502</c:v>
                </c:pt>
                <c:pt idx="7">
                  <c:v>0.09158415841584158</c:v>
                </c:pt>
                <c:pt idx="8">
                  <c:v>0.10758620689655173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49643106237108"/>
          <c:min val="0.01874130025079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0.14788732394366197</c:v>
                </c:pt>
                <c:pt idx="1">
                  <c:v>0.17114914425427874</c:v>
                </c:pt>
                <c:pt idx="2">
                  <c:v>0.17571059431524547</c:v>
                </c:pt>
                <c:pt idx="3">
                  <c:v>0.12962962962962962</c:v>
                </c:pt>
                <c:pt idx="4">
                  <c:v>0.15079365079365079</c:v>
                </c:pt>
                <c:pt idx="5">
                  <c:v>0.16531165311653118</c:v>
                </c:pt>
                <c:pt idx="6">
                  <c:v>0.15</c:v>
                </c:pt>
                <c:pt idx="7">
                  <c:v>0.16338028169014085</c:v>
                </c:pt>
                <c:pt idx="8">
                  <c:v>0.1069364161849711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0.20454545454545456</c:v>
                </c:pt>
                <c:pt idx="1">
                  <c:v>0.1878453038674033</c:v>
                </c:pt>
                <c:pt idx="2">
                  <c:v>0.19642857142857142</c:v>
                </c:pt>
                <c:pt idx="3">
                  <c:v>0.2462686567164179</c:v>
                </c:pt>
                <c:pt idx="4">
                  <c:v>0.22752808988764045</c:v>
                </c:pt>
                <c:pt idx="5">
                  <c:v>0.2149321266968326</c:v>
                </c:pt>
                <c:pt idx="6">
                  <c:v>0.18485523385300667</c:v>
                </c:pt>
                <c:pt idx="7">
                  <c:v>0.20202020202020202</c:v>
                </c:pt>
                <c:pt idx="8">
                  <c:v>0.19451371571072318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74152359589336"/>
          <c:min val="0.095789836942455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0.1111111111111111</c:v>
                </c:pt>
                <c:pt idx="1">
                  <c:v>0.07386363636363637</c:v>
                </c:pt>
                <c:pt idx="2">
                  <c:v>0.09883720930232558</c:v>
                </c:pt>
                <c:pt idx="3">
                  <c:v>0.08620689655172414</c:v>
                </c:pt>
                <c:pt idx="4">
                  <c:v>0.09146341463414634</c:v>
                </c:pt>
                <c:pt idx="5">
                  <c:v>0.06493506493506493</c:v>
                </c:pt>
                <c:pt idx="6">
                  <c:v>0.04516129032258064</c:v>
                </c:pt>
                <c:pt idx="7">
                  <c:v>0.1111111111111111</c:v>
                </c:pt>
                <c:pt idx="8">
                  <c:v>0.11875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0.09815950920245399</c:v>
                </c:pt>
                <c:pt idx="1">
                  <c:v>0.13496932515337423</c:v>
                </c:pt>
                <c:pt idx="2">
                  <c:v>0.16770186335403728</c:v>
                </c:pt>
                <c:pt idx="3">
                  <c:v>0.12857142857142856</c:v>
                </c:pt>
                <c:pt idx="4">
                  <c:v>0.13333333333333333</c:v>
                </c:pt>
                <c:pt idx="5">
                  <c:v>0.16374269005847952</c:v>
                </c:pt>
                <c:pt idx="6">
                  <c:v>0.13333333333333333</c:v>
                </c:pt>
                <c:pt idx="7">
                  <c:v>0.18333333333333332</c:v>
                </c:pt>
                <c:pt idx="8">
                  <c:v>0.14457831325301204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9438709677419352"/>
          <c:min val="0.034107526881720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0.049069373942470386</c:v>
                </c:pt>
                <c:pt idx="1">
                  <c:v>0.05736137667304015</c:v>
                </c:pt>
                <c:pt idx="2">
                  <c:v>0.06491499227202473</c:v>
                </c:pt>
                <c:pt idx="3">
                  <c:v>0.07281553398058252</c:v>
                </c:pt>
                <c:pt idx="4">
                  <c:v>0.05143721633888049</c:v>
                </c:pt>
                <c:pt idx="5">
                  <c:v>0.06129032258064516</c:v>
                </c:pt>
                <c:pt idx="6">
                  <c:v>0.06921944035346098</c:v>
                </c:pt>
                <c:pt idx="7">
                  <c:v>0.05465288035450517</c:v>
                </c:pt>
                <c:pt idx="8">
                  <c:v>0.05815831987075929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0.04938271604938271</c:v>
                </c:pt>
                <c:pt idx="1">
                  <c:v>0.04678362573099415</c:v>
                </c:pt>
                <c:pt idx="2">
                  <c:v>0.04727272727272727</c:v>
                </c:pt>
                <c:pt idx="3">
                  <c:v>0.03339517625231911</c:v>
                </c:pt>
                <c:pt idx="4">
                  <c:v>0.04275092936802974</c:v>
                </c:pt>
                <c:pt idx="5">
                  <c:v>0.04160246533127889</c:v>
                </c:pt>
                <c:pt idx="6">
                  <c:v>0.030726256983240222</c:v>
                </c:pt>
                <c:pt idx="7">
                  <c:v>0.03619909502262444</c:v>
                </c:pt>
                <c:pt idx="8">
                  <c:v>0.056179775280898875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761826761403699"/>
          <c:min val="0.0273591148234528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0.11815754339118825</c:v>
                </c:pt>
                <c:pt idx="1">
                  <c:v>0.1358515573227303</c:v>
                </c:pt>
                <c:pt idx="2">
                  <c:v>0.1411901983663944</c:v>
                </c:pt>
                <c:pt idx="3">
                  <c:v>0.14045991298943444</c:v>
                </c:pt>
                <c:pt idx="4">
                  <c:v>0.12407932011331445</c:v>
                </c:pt>
                <c:pt idx="5">
                  <c:v>0.13613159387407828</c:v>
                </c:pt>
                <c:pt idx="6">
                  <c:v>0.13336904124263524</c:v>
                </c:pt>
                <c:pt idx="7">
                  <c:v>0.13967723984418476</c:v>
                </c:pt>
                <c:pt idx="8">
                  <c:v>0.10747663551401869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0.12626903553299493</c:v>
                </c:pt>
                <c:pt idx="1">
                  <c:v>0.10968178740690589</c:v>
                </c:pt>
                <c:pt idx="2">
                  <c:v>0.1213979153893317</c:v>
                </c:pt>
                <c:pt idx="3">
                  <c:v>0.1341614906832298</c:v>
                </c:pt>
                <c:pt idx="4">
                  <c:v>0.1276595744680851</c:v>
                </c:pt>
                <c:pt idx="5">
                  <c:v>0.12945914844649023</c:v>
                </c:pt>
                <c:pt idx="6">
                  <c:v>0.1073708647707487</c:v>
                </c:pt>
                <c:pt idx="7">
                  <c:v>0.11733333333333333</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389574505404606"/>
          <c:min val="0.104665318083097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0.12430426716141002</c:v>
                </c:pt>
                <c:pt idx="1">
                  <c:v>0.10877862595419847</c:v>
                </c:pt>
                <c:pt idx="2">
                  <c:v>0.10654205607476636</c:v>
                </c:pt>
                <c:pt idx="3">
                  <c:v>0.1079136690647482</c:v>
                </c:pt>
                <c:pt idx="4">
                  <c:v>0.12020905923344948</c:v>
                </c:pt>
                <c:pt idx="5">
                  <c:v>0.09700176366843033</c:v>
                </c:pt>
                <c:pt idx="6">
                  <c:v>0.10899653979238755</c:v>
                </c:pt>
                <c:pt idx="7">
                  <c:v>0.11282051282051282</c:v>
                </c:pt>
                <c:pt idx="8">
                  <c:v>0.10616438356164383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0.11544715447154472</c:v>
                </c:pt>
                <c:pt idx="1">
                  <c:v>0.10877862595419847</c:v>
                </c:pt>
                <c:pt idx="2">
                  <c:v>0.10543657331136738</c:v>
                </c:pt>
                <c:pt idx="3">
                  <c:v>0.1069078947368421</c:v>
                </c:pt>
                <c:pt idx="4">
                  <c:v>0.11424100156494522</c:v>
                </c:pt>
                <c:pt idx="5">
                  <c:v>0.11459968602825746</c:v>
                </c:pt>
                <c:pt idx="6">
                  <c:v>0.11234177215189874</c:v>
                </c:pt>
                <c:pt idx="7">
                  <c:v>0.09177215189873418</c:v>
                </c:pt>
                <c:pt idx="8">
                  <c:v>0.09863429438543247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69068363824241"/>
          <c:min val="0.089169582677720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0.05190311418685121</c:v>
                </c:pt>
                <c:pt idx="1">
                  <c:v>0.05190311418685121</c:v>
                </c:pt>
                <c:pt idx="2">
                  <c:v>0.05190311418685121</c:v>
                </c:pt>
                <c:pt idx="3">
                  <c:v>0.05190311418685121</c:v>
                </c:pt>
                <c:pt idx="4">
                  <c:v>0.05190311418685121</c:v>
                </c:pt>
                <c:pt idx="5">
                  <c:v>0.05190311418685121</c:v>
                </c:pt>
                <c:pt idx="6">
                  <c:v>0.05190311418685121</c:v>
                </c:pt>
                <c:pt idx="7">
                  <c:v>0.05190311418685121</c:v>
                </c:pt>
                <c:pt idx="8">
                  <c:v>0.05190311418685121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01924444233776"/>
          <c:min val="0.031492102615959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01924444233776"/>
          <c:min val="0.031492102615959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0.005249343832020997</c:v>
                </c:pt>
                <c:pt idx="1">
                  <c:v>0.005249343832020997</c:v>
                </c:pt>
                <c:pt idx="2">
                  <c:v>0.005249343832020997</c:v>
                </c:pt>
                <c:pt idx="3">
                  <c:v>0.005249343832020997</c:v>
                </c:pt>
                <c:pt idx="4">
                  <c:v>0.005249343832020997</c:v>
                </c:pt>
                <c:pt idx="5">
                  <c:v>0.005249343832020997</c:v>
                </c:pt>
                <c:pt idx="6">
                  <c:v>0.005249343832020997</c:v>
                </c:pt>
                <c:pt idx="7">
                  <c:v>0.005249343832020997</c:v>
                </c:pt>
                <c:pt idx="8">
                  <c:v>0.005249343832020997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1482758620689655"/>
          <c:min val="-0.00850574712643678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1482758620689655"/>
          <c:min val="-0.00850574712643678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0.03904382470119523</c:v>
                </c:pt>
                <c:pt idx="1">
                  <c:v>0.03904382470119523</c:v>
                </c:pt>
                <c:pt idx="2">
                  <c:v>0.03904382470119523</c:v>
                </c:pt>
                <c:pt idx="3">
                  <c:v>0.03904382470119523</c:v>
                </c:pt>
                <c:pt idx="4">
                  <c:v>0.03904382470119523</c:v>
                </c:pt>
                <c:pt idx="5">
                  <c:v>0.03904382470119523</c:v>
                </c:pt>
                <c:pt idx="6">
                  <c:v>0.03904382470119523</c:v>
                </c:pt>
                <c:pt idx="7">
                  <c:v>0.03904382470119523</c:v>
                </c:pt>
                <c:pt idx="8">
                  <c:v>0.03904382470119523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114179658500371"/>
          <c:min val="0.0290512249443207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114179658500371"/>
          <c:min val="0.0290512249443207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3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c:v>
                </c:pt>
                <c:pt idx="2">
                  <c:v>0</c:v>
                </c:pt>
                <c:pt idx="3">
                  <c:v>0</c:v>
                </c:pt>
                <c:pt idx="4">
                  <c:v>0</c:v>
                </c:pt>
                <c:pt idx="5">
                  <c:v>0</c:v>
                </c:pt>
                <c:pt idx="6">
                  <c:v>0</c:v>
                </c:pt>
                <c:pt idx="7">
                  <c:v>0</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0.1967479674796748</c:v>
                </c:pt>
                <c:pt idx="1">
                  <c:v>0.15839694656488548</c:v>
                </c:pt>
                <c:pt idx="2">
                  <c:v>0.17627677100494235</c:v>
                </c:pt>
                <c:pt idx="3">
                  <c:v>0.16282894736842105</c:v>
                </c:pt>
                <c:pt idx="4">
                  <c:v>0.1486697965571205</c:v>
                </c:pt>
                <c:pt idx="5">
                  <c:v>0.09733124018838304</c:v>
                </c:pt>
                <c:pt idx="6">
                  <c:v>0.12183544303797468</c:v>
                </c:pt>
                <c:pt idx="7">
                  <c:v>0.11075949367088607</c:v>
                </c:pt>
                <c:pt idx="8">
                  <c:v>0.0834597875569044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48780487804877"/>
          <c:min val="-0.01573983739837398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0.022222222222222223</c:v>
                </c:pt>
                <c:pt idx="1">
                  <c:v>0.03383458646616541</c:v>
                </c:pt>
                <c:pt idx="2">
                  <c:v>0.01048951048951049</c:v>
                </c:pt>
                <c:pt idx="3">
                  <c:v>0.003105590062111801</c:v>
                </c:pt>
                <c:pt idx="4">
                  <c:v>0.006802721088435374</c:v>
                </c:pt>
                <c:pt idx="5">
                  <c:v>0.041044776119402986</c:v>
                </c:pt>
                <c:pt idx="6">
                  <c:v>0.04421768707482993</c:v>
                </c:pt>
                <c:pt idx="7">
                  <c:v>0.026615969581749048</c:v>
                </c:pt>
                <c:pt idx="8">
                  <c:v>0.004366812227074236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2152751925074"/>
          <c:min val="-0.00623586809569528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0.0024449877750611247</c:v>
                </c:pt>
                <c:pt idx="2">
                  <c:v>0.002583979328165375</c:v>
                </c:pt>
                <c:pt idx="3">
                  <c:v>0.005291005291005291</c:v>
                </c:pt>
                <c:pt idx="4">
                  <c:v>0.0026455026455026454</c:v>
                </c:pt>
                <c:pt idx="5">
                  <c:v>0</c:v>
                </c:pt>
                <c:pt idx="6">
                  <c:v>0.002777777777777778</c:v>
                </c:pt>
                <c:pt idx="7">
                  <c:v>0.005633802816901409</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0.03125</c:v>
                </c:pt>
                <c:pt idx="1">
                  <c:v>0.03591160220994475</c:v>
                </c:pt>
                <c:pt idx="2">
                  <c:v>0.08333333333333333</c:v>
                </c:pt>
                <c:pt idx="3">
                  <c:v>0.05472636815920398</c:v>
                </c:pt>
                <c:pt idx="4">
                  <c:v>0.08146067415730338</c:v>
                </c:pt>
                <c:pt idx="5">
                  <c:v>0.04751131221719457</c:v>
                </c:pt>
                <c:pt idx="6">
                  <c:v>0.06904231625835189</c:v>
                </c:pt>
                <c:pt idx="7">
                  <c:v>0.06313131313131314</c:v>
                </c:pt>
                <c:pt idx="8">
                  <c:v>0.032418952618453865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
          <c:min val="-0.0066666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0.10574572127139364</c:v>
                </c:pt>
                <c:pt idx="1">
                  <c:v>0.09709379128137384</c:v>
                </c:pt>
                <c:pt idx="2">
                  <c:v>0.08765432098765433</c:v>
                </c:pt>
                <c:pt idx="3">
                  <c:v>0.08421639709983268</c:v>
                </c:pt>
                <c:pt idx="4">
                  <c:v>0.0833826138379657</c:v>
                </c:pt>
                <c:pt idx="5">
                  <c:v>0.08191556395715185</c:v>
                </c:pt>
                <c:pt idx="6">
                  <c:v>0.05861868833430064</c:v>
                </c:pt>
                <c:pt idx="7">
                  <c:v>0.07576633892423366</c:v>
                </c:pt>
                <c:pt idx="8">
                  <c:v>0.06792945787067277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0.06868304977945809</c:v>
                </c:pt>
                <c:pt idx="1">
                  <c:v>0.06565307532826538</c:v>
                </c:pt>
                <c:pt idx="2">
                  <c:v>0.06634787806335923</c:v>
                </c:pt>
                <c:pt idx="3">
                  <c:v>0.07220708446866485</c:v>
                </c:pt>
                <c:pt idx="4">
                  <c:v>0.06746031746031746</c:v>
                </c:pt>
                <c:pt idx="5">
                  <c:v>0.07108721624850657</c:v>
                </c:pt>
                <c:pt idx="6">
                  <c:v>0.07758094074526573</c:v>
                </c:pt>
                <c:pt idx="7">
                  <c:v>0.08049353701527615</c:v>
                </c:pt>
                <c:pt idx="8">
                  <c:v>0.06709677419354838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951588390636109"/>
          <c:min val="0.05484852569933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0.04060913705583756</c:v>
                </c:pt>
                <c:pt idx="1">
                  <c:v>0.04397705544933078</c:v>
                </c:pt>
                <c:pt idx="2">
                  <c:v>0.06027820710973725</c:v>
                </c:pt>
                <c:pt idx="3">
                  <c:v>0.05016181229773463</c:v>
                </c:pt>
                <c:pt idx="4">
                  <c:v>0.03479576399394856</c:v>
                </c:pt>
                <c:pt idx="5">
                  <c:v>0.041935483870967745</c:v>
                </c:pt>
                <c:pt idx="6">
                  <c:v>0.023564064801178203</c:v>
                </c:pt>
                <c:pt idx="7">
                  <c:v>0.028064992614475627</c:v>
                </c:pt>
                <c:pt idx="8">
                  <c:v>0.035541195476575124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0.02821869488536155</c:v>
                </c:pt>
                <c:pt idx="1">
                  <c:v>0.017543859649122806</c:v>
                </c:pt>
                <c:pt idx="2">
                  <c:v>0.03636363636363636</c:v>
                </c:pt>
                <c:pt idx="3">
                  <c:v>0.027829313543599257</c:v>
                </c:pt>
                <c:pt idx="4">
                  <c:v>0.02973977695167286</c:v>
                </c:pt>
                <c:pt idx="5">
                  <c:v>0.026194144838212634</c:v>
                </c:pt>
                <c:pt idx="6">
                  <c:v>0.030726256983240222</c:v>
                </c:pt>
                <c:pt idx="7">
                  <c:v>0.030165912518853696</c:v>
                </c:pt>
                <c:pt idx="8">
                  <c:v>0.04173354735152488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36969549065864"/>
          <c:min val="0.014125111852273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0.07032590051457976</c:v>
                </c:pt>
                <c:pt idx="1">
                  <c:v>0.0689869484151647</c:v>
                </c:pt>
                <c:pt idx="2">
                  <c:v>0.06353443673251469</c:v>
                </c:pt>
                <c:pt idx="3">
                  <c:v>0.054153522607781286</c:v>
                </c:pt>
                <c:pt idx="4">
                  <c:v>0.064259160913436</c:v>
                </c:pt>
                <c:pt idx="5">
                  <c:v>0.05628415300546448</c:v>
                </c:pt>
                <c:pt idx="6">
                  <c:v>0.05860612460401267</c:v>
                </c:pt>
                <c:pt idx="7">
                  <c:v>0.050112612612612614</c:v>
                </c:pt>
                <c:pt idx="8">
                  <c:v>0.05993520518358531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0.04591836734693878</c:v>
                </c:pt>
                <c:pt idx="1">
                  <c:v>0.06164789567279194</c:v>
                </c:pt>
                <c:pt idx="2">
                  <c:v>0.07105538140020899</c:v>
                </c:pt>
                <c:pt idx="3">
                  <c:v>0.056878949927078266</c:v>
                </c:pt>
                <c:pt idx="4">
                  <c:v>0.062402496099843996</c:v>
                </c:pt>
                <c:pt idx="5">
                  <c:v>0.06420233463035019</c:v>
                </c:pt>
                <c:pt idx="6">
                  <c:v>0.06300715990453461</c:v>
                </c:pt>
                <c:pt idx="7">
                  <c:v>0.044633368756641874</c:v>
                </c:pt>
                <c:pt idx="8">
                  <c:v>0.053553553553553554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7316914241169437"/>
          <c:min val="0.0425196077451565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0.025374855824682813</c:v>
                </c:pt>
                <c:pt idx="1">
                  <c:v>0.025374855824682813</c:v>
                </c:pt>
                <c:pt idx="2">
                  <c:v>0.025374855824682813</c:v>
                </c:pt>
                <c:pt idx="3">
                  <c:v>0.025374855824682813</c:v>
                </c:pt>
                <c:pt idx="4">
                  <c:v>0.025374855824682813</c:v>
                </c:pt>
                <c:pt idx="5">
                  <c:v>0.025374855824682813</c:v>
                </c:pt>
                <c:pt idx="6">
                  <c:v>0.025374855824682813</c:v>
                </c:pt>
                <c:pt idx="7">
                  <c:v>0.025374855824682813</c:v>
                </c:pt>
                <c:pt idx="8">
                  <c:v>0.025374855824682813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8570231661849"/>
          <c:min val="-0.001887925376677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8570231661849"/>
          <c:min val="-0.001887925376677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0.0415929203539823</c:v>
                </c:pt>
                <c:pt idx="1">
                  <c:v>0.0415929203539823</c:v>
                </c:pt>
                <c:pt idx="2">
                  <c:v>0.0415929203539823</c:v>
                </c:pt>
                <c:pt idx="3">
                  <c:v>0.0415929203539823</c:v>
                </c:pt>
                <c:pt idx="4">
                  <c:v>0.0415929203539823</c:v>
                </c:pt>
                <c:pt idx="5">
                  <c:v>0.0415929203539823</c:v>
                </c:pt>
                <c:pt idx="6">
                  <c:v>0.0415929203539823</c:v>
                </c:pt>
                <c:pt idx="7">
                  <c:v>0.0415929203539823</c:v>
                </c:pt>
                <c:pt idx="8">
                  <c:v>0.0415929203539823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434037692747002"/>
          <c:min val="0.0272872644203312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434037692747002"/>
          <c:min val="0.0272872644203312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0.01199294532627866</c:v>
                </c:pt>
                <c:pt idx="1">
                  <c:v>0.01199294532627866</c:v>
                </c:pt>
                <c:pt idx="2">
                  <c:v>0.01199294532627866</c:v>
                </c:pt>
                <c:pt idx="3">
                  <c:v>0.01199294532627866</c:v>
                </c:pt>
                <c:pt idx="4">
                  <c:v>0.01199294532627866</c:v>
                </c:pt>
                <c:pt idx="5">
                  <c:v>0.01199294532627866</c:v>
                </c:pt>
                <c:pt idx="6">
                  <c:v>0.01199294532627866</c:v>
                </c:pt>
                <c:pt idx="7">
                  <c:v>0.01199294532627866</c:v>
                </c:pt>
                <c:pt idx="8">
                  <c:v>0.01199294532627866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29244357212954"/>
          <c:min val="-0.0043179587831207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29244357212954"/>
          <c:min val="-0.0043179587831207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174.38803526448365</c:v>
                </c:pt>
                <c:pt idx="1">
                  <c:v>155.40462692788662</c:v>
                </c:pt>
                <c:pt idx="2">
                  <c:v>157.178566256336</c:v>
                </c:pt>
                <c:pt idx="3">
                  <c:v>167.77336193447738</c:v>
                </c:pt>
                <c:pt idx="4">
                  <c:v>155.3153262803108</c:v>
                </c:pt>
                <c:pt idx="5">
                  <c:v>157.53557336621455</c:v>
                </c:pt>
                <c:pt idx="6">
                  <c:v>150.69488745419648</c:v>
                </c:pt>
                <c:pt idx="7">
                  <c:v>159.21100507614213</c:v>
                </c:pt>
                <c:pt idx="8">
                  <c:v>150.49119190404798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178.05296922410056</c:v>
                </c:pt>
                <c:pt idx="1">
                  <c:v>160.21677304964538</c:v>
                </c:pt>
                <c:pt idx="2">
                  <c:v>191.89693103448275</c:v>
                </c:pt>
                <c:pt idx="3">
                  <c:v>209.60167838512137</c:v>
                </c:pt>
                <c:pt idx="4">
                  <c:v>197.62391593796107</c:v>
                </c:pt>
                <c:pt idx="5">
                  <c:v>205.25217777777777</c:v>
                </c:pt>
                <c:pt idx="6">
                  <c:v>218.43707991038087</c:v>
                </c:pt>
                <c:pt idx="7">
                  <c:v>219.43117424242425</c:v>
                </c:pt>
                <c:pt idx="8">
                  <c:v>256.0428263546798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4.4869571107303"/>
          <c:min val="142.047061147997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192.45955849889623</c:v>
                </c:pt>
                <c:pt idx="1">
                  <c:v>163.1255167498218</c:v>
                </c:pt>
                <c:pt idx="2">
                  <c:v>186.59958100558663</c:v>
                </c:pt>
                <c:pt idx="3">
                  <c:v>164.87568577801892</c:v>
                </c:pt>
                <c:pt idx="4">
                  <c:v>156.55868351454598</c:v>
                </c:pt>
                <c:pt idx="5">
                  <c:v>173.93430114787304</c:v>
                </c:pt>
                <c:pt idx="6">
                  <c:v>156.8232884097035</c:v>
                </c:pt>
                <c:pt idx="7">
                  <c:v>164.90077030812324</c:v>
                </c:pt>
                <c:pt idx="8">
                  <c:v>143.5186921296296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184.7164980500763</c:v>
                </c:pt>
                <c:pt idx="1">
                  <c:v>223.62025547445256</c:v>
                </c:pt>
                <c:pt idx="2">
                  <c:v>223.18226620884667</c:v>
                </c:pt>
                <c:pt idx="3">
                  <c:v>210.9834523036989</c:v>
                </c:pt>
                <c:pt idx="4">
                  <c:v>261.6163382072473</c:v>
                </c:pt>
                <c:pt idx="5">
                  <c:v>167.6960537021969</c:v>
                </c:pt>
                <c:pt idx="6">
                  <c:v>164.572911656245</c:v>
                </c:pt>
                <c:pt idx="7">
                  <c:v>183.99331470010577</c:v>
                </c:pt>
                <c:pt idx="8">
                  <c:v>288.0587732160313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9.6219797029434"/>
          <c:min val="131.9554856427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150.9563117453348</c:v>
                </c:pt>
                <c:pt idx="1">
                  <c:v>142.04798368826462</c:v>
                </c:pt>
                <c:pt idx="2">
                  <c:v>128.7344332855093</c:v>
                </c:pt>
                <c:pt idx="3">
                  <c:v>135.34032205060794</c:v>
                </c:pt>
                <c:pt idx="4">
                  <c:v>139.49756690997566</c:v>
                </c:pt>
                <c:pt idx="5">
                  <c:v>138.1369610935857</c:v>
                </c:pt>
                <c:pt idx="6">
                  <c:v>131.53535714285715</c:v>
                </c:pt>
                <c:pt idx="7">
                  <c:v>135.33781773093614</c:v>
                </c:pt>
                <c:pt idx="8">
                  <c:v>145.10995113282985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159.4314230521571</c:v>
                </c:pt>
                <c:pt idx="1">
                  <c:v>159.60374125874125</c:v>
                </c:pt>
                <c:pt idx="2">
                  <c:v>153.66641791044776</c:v>
                </c:pt>
                <c:pt idx="3">
                  <c:v>164.2155411655874</c:v>
                </c:pt>
                <c:pt idx="4">
                  <c:v>165.55831754452444</c:v>
                </c:pt>
                <c:pt idx="5">
                  <c:v>173.33435843054085</c:v>
                </c:pt>
                <c:pt idx="6">
                  <c:v>170.62600596125188</c:v>
                </c:pt>
                <c:pt idx="7">
                  <c:v>173.8277404036407</c:v>
                </c:pt>
                <c:pt idx="8">
                  <c:v>173.4787518142235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7.4352049730912"/>
          <c:min val="125.12696871605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143.41632193963633</c:v>
                </c:pt>
                <c:pt idx="1">
                  <c:v>137.3487265917603</c:v>
                </c:pt>
                <c:pt idx="2">
                  <c:v>155.6923861870637</c:v>
                </c:pt>
                <c:pt idx="3">
                  <c:v>130.1777800511509</c:v>
                </c:pt>
                <c:pt idx="4">
                  <c:v>107.49428444180522</c:v>
                </c:pt>
                <c:pt idx="5">
                  <c:v>99.00991464958972</c:v>
                </c:pt>
                <c:pt idx="6">
                  <c:v>109.15019552509574</c:v>
                </c:pt>
                <c:pt idx="7">
                  <c:v>101.812531179475</c:v>
                </c:pt>
                <c:pt idx="8">
                  <c:v>111.88819898004832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94.34418299222939</c:v>
                </c:pt>
                <c:pt idx="1">
                  <c:v>87.40689620956539</c:v>
                </c:pt>
                <c:pt idx="2">
                  <c:v>89.59074165840767</c:v>
                </c:pt>
                <c:pt idx="3">
                  <c:v>88.27070541943087</c:v>
                </c:pt>
                <c:pt idx="4">
                  <c:v>91.91285089463221</c:v>
                </c:pt>
                <c:pt idx="5">
                  <c:v>85.26126510912741</c:v>
                </c:pt>
                <c:pt idx="6">
                  <c:v>79.93511894859424</c:v>
                </c:pt>
                <c:pt idx="7">
                  <c:v>74.42129447804572</c:v>
                </c:pt>
                <c:pt idx="8">
                  <c:v>93.86721714465806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19407352378514"/>
          <c:min val="67.919607141324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247.51648005498126</c:v>
                </c:pt>
                <c:pt idx="1">
                  <c:v>242.9926990941687</c:v>
                </c:pt>
                <c:pt idx="2">
                  <c:v>229.56736699665265</c:v>
                </c:pt>
                <c:pt idx="3">
                  <c:v>235.1071239706882</c:v>
                </c:pt>
                <c:pt idx="4">
                  <c:v>215.03272381509655</c:v>
                </c:pt>
                <c:pt idx="5">
                  <c:v>226.64854946048976</c:v>
                </c:pt>
                <c:pt idx="6">
                  <c:v>230.3340022296544</c:v>
                </c:pt>
                <c:pt idx="7">
                  <c:v>235.68966622474105</c:v>
                </c:pt>
                <c:pt idx="8">
                  <c:v>186.11508221899877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169.52408694754814</c:v>
                </c:pt>
                <c:pt idx="1">
                  <c:v>167.78464393947337</c:v>
                </c:pt>
                <c:pt idx="2">
                  <c:v>174.54432014552071</c:v>
                </c:pt>
                <c:pt idx="3">
                  <c:v>168.43185776815127</c:v>
                </c:pt>
                <c:pt idx="4">
                  <c:v>164.9412937148447</c:v>
                </c:pt>
                <c:pt idx="5">
                  <c:v>161.08077401692384</c:v>
                </c:pt>
                <c:pt idx="6">
                  <c:v>156.68231533280056</c:v>
                </c:pt>
                <c:pt idx="7">
                  <c:v>174.21928828097833</c:v>
                </c:pt>
                <c:pt idx="8">
                  <c:v>162.21129385964915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4.7832132327557"/>
          <c:min val="149.41558215502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184.16574312289728</c:v>
                </c:pt>
                <c:pt idx="1">
                  <c:v>181.30166633993332</c:v>
                </c:pt>
                <c:pt idx="2">
                  <c:v>214.43773449144265</c:v>
                </c:pt>
                <c:pt idx="3">
                  <c:v>181.0650144442755</c:v>
                </c:pt>
                <c:pt idx="4">
                  <c:v>176.5007314015046</c:v>
                </c:pt>
                <c:pt idx="5">
                  <c:v>182.1384466884467</c:v>
                </c:pt>
                <c:pt idx="6">
                  <c:v>195.76362068619784</c:v>
                </c:pt>
                <c:pt idx="7">
                  <c:v>181.53635739080127</c:v>
                </c:pt>
                <c:pt idx="8">
                  <c:v>147.40153097982707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125.66385959129863</c:v>
                </c:pt>
                <c:pt idx="1">
                  <c:v>139.17604957667803</c:v>
                </c:pt>
                <c:pt idx="2">
                  <c:v>150.8165109604934</c:v>
                </c:pt>
                <c:pt idx="3">
                  <c:v>137.7541237449472</c:v>
                </c:pt>
                <c:pt idx="4">
                  <c:v>142.69115226337448</c:v>
                </c:pt>
                <c:pt idx="5">
                  <c:v>139.3973072939784</c:v>
                </c:pt>
                <c:pt idx="6">
                  <c:v>157.60556323958812</c:v>
                </c:pt>
                <c:pt idx="7">
                  <c:v>144.10511611664046</c:v>
                </c:pt>
                <c:pt idx="8">
                  <c:v>139.2658336811352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1.53964448345417"/>
          <c:min val="118.56194959928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134.35290516842034</c:v>
                </c:pt>
                <c:pt idx="1">
                  <c:v>134.35290516842034</c:v>
                </c:pt>
                <c:pt idx="2">
                  <c:v>134.35290516842034</c:v>
                </c:pt>
                <c:pt idx="3">
                  <c:v>134.35290516842034</c:v>
                </c:pt>
                <c:pt idx="4">
                  <c:v>134.35290516842034</c:v>
                </c:pt>
                <c:pt idx="5">
                  <c:v>134.35290516842034</c:v>
                </c:pt>
                <c:pt idx="6">
                  <c:v>134.35290516842034</c:v>
                </c:pt>
                <c:pt idx="7">
                  <c:v>134.35290516842034</c:v>
                </c:pt>
                <c:pt idx="8">
                  <c:v>134.35290516842034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9.3597633384275"/>
          <c:min val="125.767926255525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130.15357019227744</c:v>
                </c:pt>
                <c:pt idx="1">
                  <c:v>132.3568408957877</c:v>
                </c:pt>
                <c:pt idx="2">
                  <c:v>139.5993858179788</c:v>
                </c:pt>
                <c:pt idx="3">
                  <c:v>159.58102153810475</c:v>
                </c:pt>
                <c:pt idx="4">
                  <c:v>154.51384767556874</c:v>
                </c:pt>
                <c:pt idx="5">
                  <c:v>146.04025813798992</c:v>
                </c:pt>
                <c:pt idx="6">
                  <c:v>181.6469104300171</c:v>
                </c:pt>
                <c:pt idx="7">
                  <c:v>184.97411940167567</c:v>
                </c:pt>
                <c:pt idx="8">
                  <c:v>181.77506453278266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9.3597633384275"/>
          <c:min val="125.767926255525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176.78841410240437</c:v>
                </c:pt>
                <c:pt idx="1">
                  <c:v>176.78841410240437</c:v>
                </c:pt>
                <c:pt idx="2">
                  <c:v>176.78841410240437</c:v>
                </c:pt>
                <c:pt idx="3">
                  <c:v>176.78841410240437</c:v>
                </c:pt>
                <c:pt idx="4">
                  <c:v>176.78841410240437</c:v>
                </c:pt>
                <c:pt idx="5">
                  <c:v>176.78841410240437</c:v>
                </c:pt>
                <c:pt idx="6">
                  <c:v>176.78841410240437</c:v>
                </c:pt>
                <c:pt idx="7">
                  <c:v>176.78841410240437</c:v>
                </c:pt>
                <c:pt idx="8">
                  <c:v>176.78841410240437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3.70891061908253"/>
          <c:min val="152.550688785242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178.05296922410056</c:v>
                </c:pt>
                <c:pt idx="1">
                  <c:v>160.21677304964538</c:v>
                </c:pt>
                <c:pt idx="2">
                  <c:v>191.89693103448275</c:v>
                </c:pt>
                <c:pt idx="3">
                  <c:v>209.60167838512137</c:v>
                </c:pt>
                <c:pt idx="4">
                  <c:v>197.62391593796107</c:v>
                </c:pt>
                <c:pt idx="5">
                  <c:v>205.25217777777777</c:v>
                </c:pt>
                <c:pt idx="6">
                  <c:v>218.43707991038087</c:v>
                </c:pt>
                <c:pt idx="7">
                  <c:v>219.43117424242425</c:v>
                </c:pt>
                <c:pt idx="8">
                  <c:v>256.0428263546798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3.70891061908253"/>
          <c:min val="152.550688785242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102.7121623243627</c:v>
                </c:pt>
                <c:pt idx="1">
                  <c:v>102.7121623243627</c:v>
                </c:pt>
                <c:pt idx="2">
                  <c:v>102.7121623243627</c:v>
                </c:pt>
                <c:pt idx="3">
                  <c:v>102.7121623243627</c:v>
                </c:pt>
                <c:pt idx="4">
                  <c:v>102.7121623243627</c:v>
                </c:pt>
                <c:pt idx="5">
                  <c:v>102.7121623243627</c:v>
                </c:pt>
                <c:pt idx="6">
                  <c:v>102.7121623243627</c:v>
                </c:pt>
                <c:pt idx="7">
                  <c:v>102.7121623243627</c:v>
                </c:pt>
                <c:pt idx="8">
                  <c:v>102.7121623243627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1303771635083"/>
          <c:min val="97.83794202553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101.14933274595738</c:v>
                </c:pt>
                <c:pt idx="1">
                  <c:v>100.39484517662517</c:v>
                </c:pt>
                <c:pt idx="2">
                  <c:v>107.0513883482949</c:v>
                </c:pt>
                <c:pt idx="3">
                  <c:v>109.79377636145013</c:v>
                </c:pt>
                <c:pt idx="4">
                  <c:v>113.85863092924549</c:v>
                </c:pt>
                <c:pt idx="5">
                  <c:v>111.76761969209947</c:v>
                </c:pt>
                <c:pt idx="6">
                  <c:v>132.35613456526005</c:v>
                </c:pt>
                <c:pt idx="7">
                  <c:v>124.73996944571296</c:v>
                </c:pt>
                <c:pt idx="8">
                  <c:v>128.02506223859402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1303771635083"/>
          <c:min val="97.83794202553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0.7174160247123765</c:v>
                </c:pt>
                <c:pt idx="1">
                  <c:v>0.7175361327620391</c:v>
                </c:pt>
                <c:pt idx="2">
                  <c:v>0.711607661423203</c:v>
                </c:pt>
                <c:pt idx="3">
                  <c:v>0.7159331805150619</c:v>
                </c:pt>
                <c:pt idx="4">
                  <c:v>0.7135978821918489</c:v>
                </c:pt>
                <c:pt idx="5">
                  <c:v>0.7213545615772601</c:v>
                </c:pt>
                <c:pt idx="6">
                  <c:v>0.7064116474466818</c:v>
                </c:pt>
                <c:pt idx="7">
                  <c:v>0.711205043496377</c:v>
                </c:pt>
                <c:pt idx="8">
                  <c:v>0.7298815972600206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0.7651085981493705</c:v>
                </c:pt>
                <c:pt idx="1">
                  <c:v>0.7621976687505652</c:v>
                </c:pt>
                <c:pt idx="2">
                  <c:v>0.7548864768837471</c:v>
                </c:pt>
                <c:pt idx="3">
                  <c:v>0.7897413228341565</c:v>
                </c:pt>
                <c:pt idx="4">
                  <c:v>0.7796153341420556</c:v>
                </c:pt>
                <c:pt idx="5">
                  <c:v>0.7816763192620453</c:v>
                </c:pt>
                <c:pt idx="6">
                  <c:v>0.7817499585359114</c:v>
                </c:pt>
                <c:pt idx="7">
                  <c:v>0.7744891631322395</c:v>
                </c:pt>
                <c:pt idx="8">
                  <c:v>0.7683527583064161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964076968651546"/>
          <c:min val="0.69974527341568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0.7845953303510527</c:v>
                </c:pt>
                <c:pt idx="1">
                  <c:v>0.7729916321370631</c:v>
                </c:pt>
                <c:pt idx="2">
                  <c:v>0.7649357705842584</c:v>
                </c:pt>
                <c:pt idx="3">
                  <c:v>0.7601357028583657</c:v>
                </c:pt>
                <c:pt idx="4">
                  <c:v>0.7550778890530081</c:v>
                </c:pt>
                <c:pt idx="5">
                  <c:v>0.7621083162398041</c:v>
                </c:pt>
                <c:pt idx="6">
                  <c:v>0.7503007128512356</c:v>
                </c:pt>
                <c:pt idx="7">
                  <c:v>0.7454293133609077</c:v>
                </c:pt>
                <c:pt idx="8">
                  <c:v>0.7561357924156353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0.8019546067086512</c:v>
                </c:pt>
                <c:pt idx="1">
                  <c:v>0.8024559796478014</c:v>
                </c:pt>
                <c:pt idx="2">
                  <c:v>0.807102420759885</c:v>
                </c:pt>
                <c:pt idx="3">
                  <c:v>0.7897822971634221</c:v>
                </c:pt>
                <c:pt idx="4">
                  <c:v>0.7902116861910387</c:v>
                </c:pt>
                <c:pt idx="5">
                  <c:v>0.8082847682215061</c:v>
                </c:pt>
                <c:pt idx="6">
                  <c:v>0.7968095058907267</c:v>
                </c:pt>
                <c:pt idx="7">
                  <c:v>0.7882622808321431</c:v>
                </c:pt>
                <c:pt idx="8">
                  <c:v>0.7915471517301852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3313204610354"/>
          <c:min val="0.74040087697205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0.821004223472653</c:v>
                </c:pt>
                <c:pt idx="1">
                  <c:v>0.7908593315450893</c:v>
                </c:pt>
                <c:pt idx="2">
                  <c:v>0.8196927816486322</c:v>
                </c:pt>
                <c:pt idx="3">
                  <c:v>0.7940249956760895</c:v>
                </c:pt>
                <c:pt idx="4">
                  <c:v>0.7755463341349312</c:v>
                </c:pt>
                <c:pt idx="5">
                  <c:v>0.7943296633846629</c:v>
                </c:pt>
                <c:pt idx="6">
                  <c:v>0.7664066066429431</c:v>
                </c:pt>
                <c:pt idx="7">
                  <c:v>0.7784509230786871</c:v>
                </c:pt>
                <c:pt idx="8">
                  <c:v>0.7318632275848054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0.8108845602258622</c:v>
                </c:pt>
                <c:pt idx="1">
                  <c:v>0.840929658677421</c:v>
                </c:pt>
                <c:pt idx="2">
                  <c:v>0.8390248325890332</c:v>
                </c:pt>
                <c:pt idx="3">
                  <c:v>0.8291677257814949</c:v>
                </c:pt>
                <c:pt idx="4">
                  <c:v>0.8623185852535402</c:v>
                </c:pt>
                <c:pt idx="5">
                  <c:v>0.7837174418342302</c:v>
                </c:pt>
                <c:pt idx="6">
                  <c:v>0.7785272659297353</c:v>
                </c:pt>
                <c:pt idx="7">
                  <c:v>0.7950715265630648</c:v>
                </c:pt>
                <c:pt idx="8">
                  <c:v>0.8546545389915389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72755013867039"/>
          <c:min val="0.72142679897130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0.7851708215193521</c:v>
                </c:pt>
                <c:pt idx="1">
                  <c:v>0.7721620054041067</c:v>
                </c:pt>
                <c:pt idx="2">
                  <c:v>0.797979160770411</c:v>
                </c:pt>
                <c:pt idx="3">
                  <c:v>0.7797813857233051</c:v>
                </c:pt>
                <c:pt idx="4">
                  <c:v>0.7557826708733755</c:v>
                </c:pt>
                <c:pt idx="5">
                  <c:v>0.7179182662221913</c:v>
                </c:pt>
                <c:pt idx="6">
                  <c:v>0.7639490526693069</c:v>
                </c:pt>
                <c:pt idx="7">
                  <c:v>0.7365490934769798</c:v>
                </c:pt>
                <c:pt idx="8">
                  <c:v>0.7655757226439307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0.7102083610781524</c:v>
                </c:pt>
                <c:pt idx="1">
                  <c:v>0.6966919809323946</c:v>
                </c:pt>
                <c:pt idx="2">
                  <c:v>0.6958658407671268</c:v>
                </c:pt>
                <c:pt idx="3">
                  <c:v>0.6849311508867544</c:v>
                </c:pt>
                <c:pt idx="4">
                  <c:v>0.6739023507530385</c:v>
                </c:pt>
                <c:pt idx="5">
                  <c:v>0.6581074983978068</c:v>
                </c:pt>
                <c:pt idx="6">
                  <c:v>0.6465264625694603</c:v>
                </c:pt>
                <c:pt idx="7">
                  <c:v>0.6221645825802212</c:v>
                </c:pt>
                <c:pt idx="8">
                  <c:v>0.7013007088219111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20443270256261"/>
          <c:min val="0.60809941632500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0.7826781946836383</c:v>
                </c:pt>
                <c:pt idx="1">
                  <c:v>0.6756725243526519</c:v>
                </c:pt>
                <c:pt idx="2">
                  <c:v>0.8043451301826513</c:v>
                </c:pt>
                <c:pt idx="3">
                  <c:v>0.7753891560882413</c:v>
                </c:pt>
                <c:pt idx="4">
                  <c:v>0.7810957237541702</c:v>
                </c:pt>
                <c:pt idx="5">
                  <c:v>0.7684671695911997</c:v>
                </c:pt>
                <c:pt idx="6">
                  <c:v>0.7919514183196192</c:v>
                </c:pt>
                <c:pt idx="7">
                  <c:v>0.7230859717341547</c:v>
                </c:pt>
                <c:pt idx="8">
                  <c:v>0.6382272537951112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0.737567591014565</c:v>
                </c:pt>
                <c:pt idx="1">
                  <c:v>0.6955894617010289</c:v>
                </c:pt>
                <c:pt idx="2">
                  <c:v>0.7197958764337912</c:v>
                </c:pt>
                <c:pt idx="3">
                  <c:v>0.7282157853256137</c:v>
                </c:pt>
                <c:pt idx="4">
                  <c:v>0.6930970207779816</c:v>
                </c:pt>
                <c:pt idx="5">
                  <c:v>0.6577970227368963</c:v>
                </c:pt>
                <c:pt idx="6">
                  <c:v>0.6589295890361307</c:v>
                </c:pt>
                <c:pt idx="7">
                  <c:v>0.6996509645580978</c:v>
                </c:pt>
                <c:pt idx="8">
                  <c:v>0.6960205903902767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76345602936546"/>
          <c:min val="0.6249378236841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0.8608967756459749</c:v>
                </c:pt>
                <c:pt idx="1">
                  <c:v>0.8548106344608972</c:v>
                </c:pt>
                <c:pt idx="2">
                  <c:v>0.8824983252702636</c:v>
                </c:pt>
                <c:pt idx="3">
                  <c:v>0.8506551458494944</c:v>
                </c:pt>
                <c:pt idx="4">
                  <c:v>0.8435260135339797</c:v>
                </c:pt>
                <c:pt idx="5">
                  <c:v>0.8432810284509764</c:v>
                </c:pt>
                <c:pt idx="6">
                  <c:v>0.8495633716485143</c:v>
                </c:pt>
                <c:pt idx="7">
                  <c:v>0.8476101167407404</c:v>
                </c:pt>
                <c:pt idx="8">
                  <c:v>0.8135777401339951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0.7716386395101663</c:v>
                </c:pt>
                <c:pt idx="1">
                  <c:v>0.8037112061576798</c:v>
                </c:pt>
                <c:pt idx="2">
                  <c:v>0.8206182219519482</c:v>
                </c:pt>
                <c:pt idx="3">
                  <c:v>0.7921788001667398</c:v>
                </c:pt>
                <c:pt idx="4">
                  <c:v>0.8012819159890665</c:v>
                </c:pt>
                <c:pt idx="5">
                  <c:v>0.795421585367821</c:v>
                </c:pt>
                <c:pt idx="6">
                  <c:v>0.8189352842026352</c:v>
                </c:pt>
                <c:pt idx="7">
                  <c:v>0.8018684341261859</c:v>
                </c:pt>
                <c:pt idx="8">
                  <c:v>0.7764643245465588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913671001310715"/>
          <c:min val="0.76276986464935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0.6624963107595871</c:v>
                </c:pt>
                <c:pt idx="1">
                  <c:v>0.6624963107595871</c:v>
                </c:pt>
                <c:pt idx="2">
                  <c:v>0.6624963107595871</c:v>
                </c:pt>
                <c:pt idx="3">
                  <c:v>0.6624963107595871</c:v>
                </c:pt>
                <c:pt idx="4">
                  <c:v>0.6624963107595871</c:v>
                </c:pt>
                <c:pt idx="5">
                  <c:v>0.6624963107595871</c:v>
                </c:pt>
                <c:pt idx="6">
                  <c:v>0.6624963107595871</c:v>
                </c:pt>
                <c:pt idx="7">
                  <c:v>0.6624963107595871</c:v>
                </c:pt>
                <c:pt idx="8">
                  <c:v>0.6624963107595871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695391544189739"/>
          <c:min val="0.633357484418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0.642800376606284</c:v>
                </c:pt>
                <c:pt idx="1">
                  <c:v>0.6495211129548664</c:v>
                </c:pt>
                <c:pt idx="2">
                  <c:v>0.693388717640479</c:v>
                </c:pt>
                <c:pt idx="3">
                  <c:v>0.6427493237285349</c:v>
                </c:pt>
                <c:pt idx="4">
                  <c:v>0.7107516050107623</c:v>
                </c:pt>
                <c:pt idx="5">
                  <c:v>0.7117195471613551</c:v>
                </c:pt>
                <c:pt idx="6">
                  <c:v>0.7082060870882604</c:v>
                </c:pt>
                <c:pt idx="7">
                  <c:v>0.7009725449582771</c:v>
                </c:pt>
                <c:pt idx="8">
                  <c:v>0.760147315108571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695391544189739"/>
          <c:min val="0.633357484418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0.7679559576152816</c:v>
                </c:pt>
                <c:pt idx="1">
                  <c:v>0.7679559576152816</c:v>
                </c:pt>
                <c:pt idx="2">
                  <c:v>0.7679559576152816</c:v>
                </c:pt>
                <c:pt idx="3">
                  <c:v>0.7679559576152816</c:v>
                </c:pt>
                <c:pt idx="4">
                  <c:v>0.7679559576152816</c:v>
                </c:pt>
                <c:pt idx="5">
                  <c:v>0.7679559576152816</c:v>
                </c:pt>
                <c:pt idx="6">
                  <c:v>0.7679559576152816</c:v>
                </c:pt>
                <c:pt idx="7">
                  <c:v>0.7679559576152816</c:v>
                </c:pt>
                <c:pt idx="8">
                  <c:v>0.7679559576152816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0320577460591"/>
          <c:min val="0.75996514322861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0.7656368525806503</c:v>
                </c:pt>
                <c:pt idx="1">
                  <c:v>0.7655068973135796</c:v>
                </c:pt>
                <c:pt idx="2">
                  <c:v>0.771642287930605</c:v>
                </c:pt>
                <c:pt idx="3">
                  <c:v>0.8075138599252102</c:v>
                </c:pt>
                <c:pt idx="4">
                  <c:v>0.8239118476943292</c:v>
                </c:pt>
                <c:pt idx="5">
                  <c:v>0.8061349305933695</c:v>
                </c:pt>
                <c:pt idx="6">
                  <c:v>0.8347788233756271</c:v>
                </c:pt>
                <c:pt idx="7">
                  <c:v>0.8143547339526653</c:v>
                </c:pt>
                <c:pt idx="8">
                  <c:v>0.8056847024035625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0320577460591"/>
          <c:min val="0.75996514322861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0.8296151747828842</c:v>
                </c:pt>
                <c:pt idx="1">
                  <c:v>0.8296151747828842</c:v>
                </c:pt>
                <c:pt idx="2">
                  <c:v>0.8296151747828842</c:v>
                </c:pt>
                <c:pt idx="3">
                  <c:v>0.8296151747828842</c:v>
                </c:pt>
                <c:pt idx="4">
                  <c:v>0.8296151747828842</c:v>
                </c:pt>
                <c:pt idx="5">
                  <c:v>0.8296151747828842</c:v>
                </c:pt>
                <c:pt idx="6">
                  <c:v>0.8296151747828842</c:v>
                </c:pt>
                <c:pt idx="7">
                  <c:v>0.8296151747828842</c:v>
                </c:pt>
                <c:pt idx="8">
                  <c:v>0.8296151747828842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97499802925407"/>
          <c:min val="0.8027005808462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0.8269802774411457</c:v>
                </c:pt>
                <c:pt idx="1">
                  <c:v>0.8087039877046016</c:v>
                </c:pt>
                <c:pt idx="2">
                  <c:v>0.8485374063052166</c:v>
                </c:pt>
                <c:pt idx="3">
                  <c:v>0.8533177771443917</c:v>
                </c:pt>
                <c:pt idx="4">
                  <c:v>0.8471338298701822</c:v>
                </c:pt>
                <c:pt idx="5">
                  <c:v>0.8582047796380128</c:v>
                </c:pt>
                <c:pt idx="6">
                  <c:v>0.8612674569575255</c:v>
                </c:pt>
                <c:pt idx="7">
                  <c:v>0.8610986774861933</c:v>
                </c:pt>
                <c:pt idx="8">
                  <c:v>0.8837465734341748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97499802925407"/>
          <c:min val="0.8027005808462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3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0.31713747379427826</c:v>
                </c:pt>
                <c:pt idx="1">
                  <c:v>0.3109520570221026</c:v>
                </c:pt>
                <c:pt idx="2">
                  <c:v>0.26936792073970256</c:v>
                </c:pt>
                <c:pt idx="3">
                  <c:v>0.25923742865142274</c:v>
                </c:pt>
                <c:pt idx="4">
                  <c:v>0.28802663402755346</c:v>
                </c:pt>
                <c:pt idx="5">
                  <c:v>0.2522536048556422</c:v>
                </c:pt>
                <c:pt idx="6">
                  <c:v>0.2814382917298273</c:v>
                </c:pt>
                <c:pt idx="7">
                  <c:v>0.27420156969271625</c:v>
                </c:pt>
                <c:pt idx="8">
                  <c:v>0.2547096501720273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0.30326002083588016</c:v>
                </c:pt>
                <c:pt idx="1">
                  <c:v>0.29639654583038577</c:v>
                </c:pt>
                <c:pt idx="2">
                  <c:v>0.3390292942827001</c:v>
                </c:pt>
                <c:pt idx="3">
                  <c:v>0.37622564319803664</c:v>
                </c:pt>
                <c:pt idx="4">
                  <c:v>0.3528105644799664</c:v>
                </c:pt>
                <c:pt idx="5">
                  <c:v>0.3812702104766656</c:v>
                </c:pt>
                <c:pt idx="6">
                  <c:v>0.3534855433979211</c:v>
                </c:pt>
                <c:pt idx="7">
                  <c:v>0.34608379810752854</c:v>
                </c:pt>
                <c:pt idx="8">
                  <c:v>0.3375199157889664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159153892634746"/>
          <c:min val="0.241932276405960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0.2892566209123303</c:v>
                </c:pt>
                <c:pt idx="1">
                  <c:v>0.2850991531225518</c:v>
                </c:pt>
                <c:pt idx="2">
                  <c:v>0.22913601437013595</c:v>
                </c:pt>
                <c:pt idx="3">
                  <c:v>0.2665478695529784</c:v>
                </c:pt>
                <c:pt idx="4">
                  <c:v>0.26751597244136405</c:v>
                </c:pt>
                <c:pt idx="5">
                  <c:v>0.2496351181322522</c:v>
                </c:pt>
                <c:pt idx="6">
                  <c:v>0.2672908228086659</c:v>
                </c:pt>
                <c:pt idx="7">
                  <c:v>0.27640503035728414</c:v>
                </c:pt>
                <c:pt idx="8">
                  <c:v>0.31269382849605076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0.325288260133191</c:v>
                </c:pt>
                <c:pt idx="1">
                  <c:v>0.33788313605155557</c:v>
                </c:pt>
                <c:pt idx="2">
                  <c:v>0.31729316905619376</c:v>
                </c:pt>
                <c:pt idx="3">
                  <c:v>0.313489496687586</c:v>
                </c:pt>
                <c:pt idx="4">
                  <c:v>0.32593341694753003</c:v>
                </c:pt>
                <c:pt idx="5">
                  <c:v>0.3554438709034418</c:v>
                </c:pt>
                <c:pt idx="6">
                  <c:v>0.32865055012731287</c:v>
                </c:pt>
                <c:pt idx="7">
                  <c:v>0.3568807992495583</c:v>
                </c:pt>
                <c:pt idx="8">
                  <c:v>0.32920357460921906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671003820399121"/>
          <c:min val="0.218916431579782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0.22364391702792213</c:v>
                </c:pt>
                <c:pt idx="1">
                  <c:v>0.2643354607003325</c:v>
                </c:pt>
                <c:pt idx="2">
                  <c:v>0.2475521520939869</c:v>
                </c:pt>
                <c:pt idx="3">
                  <c:v>0.2683524602627978</c:v>
                </c:pt>
                <c:pt idx="4">
                  <c:v>0.26227699795569076</c:v>
                </c:pt>
                <c:pt idx="5">
                  <c:v>0.2571613807927676</c:v>
                </c:pt>
                <c:pt idx="6">
                  <c:v>0.2355633435427333</c:v>
                </c:pt>
                <c:pt idx="7">
                  <c:v>0.2566315288577019</c:v>
                </c:pt>
                <c:pt idx="8">
                  <c:v>0.2692494625236581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0.23966630972374162</c:v>
                </c:pt>
                <c:pt idx="1">
                  <c:v>0.2843156547560736</c:v>
                </c:pt>
                <c:pt idx="2">
                  <c:v>0.3142329704368368</c:v>
                </c:pt>
                <c:pt idx="3">
                  <c:v>0.33228610752593074</c:v>
                </c:pt>
                <c:pt idx="4">
                  <c:v>0.2792066246557539</c:v>
                </c:pt>
                <c:pt idx="5">
                  <c:v>0.30599143927233813</c:v>
                </c:pt>
                <c:pt idx="6">
                  <c:v>0.31943107572363444</c:v>
                </c:pt>
                <c:pt idx="7">
                  <c:v>0.3062255588287744</c:v>
                </c:pt>
                <c:pt idx="8">
                  <c:v>0.2987941196062456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4097748276577144"/>
          <c:min val="0.214952541788081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0.32967069782860353</c:v>
                </c:pt>
                <c:pt idx="1">
                  <c:v>0.3877667535449034</c:v>
                </c:pt>
                <c:pt idx="2">
                  <c:v>0.3583007531965636</c:v>
                </c:pt>
                <c:pt idx="3">
                  <c:v>0.36321453545863436</c:v>
                </c:pt>
                <c:pt idx="4">
                  <c:v>0.3370045632058841</c:v>
                </c:pt>
                <c:pt idx="5">
                  <c:v>0.3571323766763506</c:v>
                </c:pt>
                <c:pt idx="6">
                  <c:v>0.41716810037898605</c:v>
                </c:pt>
                <c:pt idx="7">
                  <c:v>0.40133761020915626</c:v>
                </c:pt>
                <c:pt idx="8">
                  <c:v>0.35709564195536037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0.35896239979595923</c:v>
                </c:pt>
                <c:pt idx="1">
                  <c:v>0.327552152214383</c:v>
                </c:pt>
                <c:pt idx="2">
                  <c:v>0.3179449644392812</c:v>
                </c:pt>
                <c:pt idx="3">
                  <c:v>0.2873628223633429</c:v>
                </c:pt>
                <c:pt idx="4">
                  <c:v>0.3446260421213702</c:v>
                </c:pt>
                <c:pt idx="5">
                  <c:v>0.32774365430591584</c:v>
                </c:pt>
                <c:pt idx="6">
                  <c:v>0.31818503279078325</c:v>
                </c:pt>
                <c:pt idx="7">
                  <c:v>0.2980302788299183</c:v>
                </c:pt>
                <c:pt idx="8">
                  <c:v>0.3041966381890325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75525226202375"/>
          <c:min val="0.27697840012209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0.3558251708981371</c:v>
                </c:pt>
                <c:pt idx="1">
                  <c:v>0.3798936492806437</c:v>
                </c:pt>
                <c:pt idx="2">
                  <c:v>0.385581165986674</c:v>
                </c:pt>
                <c:pt idx="3">
                  <c:v>0.3813749250230264</c:v>
                </c:pt>
                <c:pt idx="4">
                  <c:v>0.38073352192299237</c:v>
                </c:pt>
                <c:pt idx="5">
                  <c:v>0.38001033098419923</c:v>
                </c:pt>
                <c:pt idx="6">
                  <c:v>0.37505182327535785</c:v>
                </c:pt>
                <c:pt idx="7">
                  <c:v>0.35494258144348245</c:v>
                </c:pt>
                <c:pt idx="8">
                  <c:v>0.3532837948793073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0.3585870997353427</c:v>
                </c:pt>
                <c:pt idx="1">
                  <c:v>0.35458685469388723</c:v>
                </c:pt>
                <c:pt idx="2">
                  <c:v>0.36165650150556367</c:v>
                </c:pt>
                <c:pt idx="3">
                  <c:v>0.3348316445215471</c:v>
                </c:pt>
                <c:pt idx="4">
                  <c:v>0.3255468104831214</c:v>
                </c:pt>
                <c:pt idx="5">
                  <c:v>0.27358479914346445</c:v>
                </c:pt>
                <c:pt idx="6">
                  <c:v>0.26483191716612986</c:v>
                </c:pt>
                <c:pt idx="7">
                  <c:v>0.30559423249928913</c:v>
                </c:pt>
                <c:pt idx="8">
                  <c:v>0.290893432896218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524110589231753"/>
          <c:min val="0.255171977260486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0.3962371687493441</c:v>
                </c:pt>
                <c:pt idx="1">
                  <c:v>0.35130833182782695</c:v>
                </c:pt>
                <c:pt idx="2">
                  <c:v>0.3814945324099297</c:v>
                </c:pt>
                <c:pt idx="3">
                  <c:v>0.35157176905696197</c:v>
                </c:pt>
                <c:pt idx="4">
                  <c:v>0.3480661347504739</c:v>
                </c:pt>
                <c:pt idx="5">
                  <c:v>0.3465674421355034</c:v>
                </c:pt>
                <c:pt idx="6">
                  <c:v>0.31598036669914153</c:v>
                </c:pt>
                <c:pt idx="7">
                  <c:v>0.3241157561190985</c:v>
                </c:pt>
                <c:pt idx="8">
                  <c:v>0.3154842653325761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0.3422442683982557</c:v>
                </c:pt>
                <c:pt idx="1">
                  <c:v>0.30275857684083657</c:v>
                </c:pt>
                <c:pt idx="2">
                  <c:v>0.2992509347415161</c:v>
                </c:pt>
                <c:pt idx="3">
                  <c:v>0.31440067132491406</c:v>
                </c:pt>
                <c:pt idx="4">
                  <c:v>0.3144372348913849</c:v>
                </c:pt>
                <c:pt idx="5">
                  <c:v>0.2892952965502566</c:v>
                </c:pt>
                <c:pt idx="6">
                  <c:v>0.3092014595904435</c:v>
                </c:pt>
                <c:pt idx="7">
                  <c:v>0.3299441726866129</c:v>
                </c:pt>
                <c:pt idx="8">
                  <c:v>0.31142212525542723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47925185252711"/>
          <c:min val="0.28073994677432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0.2281900213400286</c:v>
                </c:pt>
                <c:pt idx="1">
                  <c:v>0.2281900213400286</c:v>
                </c:pt>
                <c:pt idx="2">
                  <c:v>0.2281900213400286</c:v>
                </c:pt>
                <c:pt idx="3">
                  <c:v>0.2281900213400286</c:v>
                </c:pt>
                <c:pt idx="4">
                  <c:v>0.2281900213400286</c:v>
                </c:pt>
                <c:pt idx="5">
                  <c:v>0.2281900213400286</c:v>
                </c:pt>
                <c:pt idx="6">
                  <c:v>0.2281900213400286</c:v>
                </c:pt>
                <c:pt idx="7">
                  <c:v>0.2281900213400286</c:v>
                </c:pt>
                <c:pt idx="8">
                  <c:v>0.2281900213400286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764779272240143"/>
          <c:min val="0.16041126453976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0.20187026928221874</c:v>
                </c:pt>
                <c:pt idx="1">
                  <c:v>0.17815171475925373</c:v>
                </c:pt>
                <c:pt idx="2">
                  <c:v>0.2802085955919637</c:v>
                </c:pt>
                <c:pt idx="3">
                  <c:v>0.2506739386596604</c:v>
                </c:pt>
                <c:pt idx="4">
                  <c:v>0.38181624128376623</c:v>
                </c:pt>
                <c:pt idx="5">
                  <c:v>0.3136515890604151</c:v>
                </c:pt>
                <c:pt idx="6">
                  <c:v>0.3417736814931177</c:v>
                </c:pt>
                <c:pt idx="7">
                  <c:v>0.3132255585304229</c:v>
                </c:pt>
                <c:pt idx="8">
                  <c:v>0.399907342502909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764779272240143"/>
          <c:min val="0.16041126453976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0.20214137796041168</c:v>
                </c:pt>
                <c:pt idx="1">
                  <c:v>0.20214137796041168</c:v>
                </c:pt>
                <c:pt idx="2">
                  <c:v>0.20214137796041168</c:v>
                </c:pt>
                <c:pt idx="3">
                  <c:v>0.20214137796041168</c:v>
                </c:pt>
                <c:pt idx="4">
                  <c:v>0.20214137796041168</c:v>
                </c:pt>
                <c:pt idx="5">
                  <c:v>0.20214137796041168</c:v>
                </c:pt>
                <c:pt idx="6">
                  <c:v>0.20214137796041168</c:v>
                </c:pt>
                <c:pt idx="7">
                  <c:v>0.20214137796041168</c:v>
                </c:pt>
                <c:pt idx="8">
                  <c:v>0.20214137796041168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359330658841876"/>
          <c:min val="0.18755650318612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0.2145583870490643</c:v>
                </c:pt>
                <c:pt idx="1">
                  <c:v>0.19486938617938487</c:v>
                </c:pt>
                <c:pt idx="2">
                  <c:v>0.19765828215672646</c:v>
                </c:pt>
                <c:pt idx="3">
                  <c:v>0.22710960621017634</c:v>
                </c:pt>
                <c:pt idx="4">
                  <c:v>0.2696239349543333</c:v>
                </c:pt>
                <c:pt idx="5">
                  <c:v>0.27913716212213147</c:v>
                </c:pt>
                <c:pt idx="6">
                  <c:v>0.286280423595157</c:v>
                </c:pt>
                <c:pt idx="7">
                  <c:v>0.26077429691960047</c:v>
                </c:pt>
                <c:pt idx="8">
                  <c:v>0.24883041450418045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359330658841876"/>
          <c:min val="0.18755650318612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0.3145558207676618</c:v>
                </c:pt>
                <c:pt idx="1">
                  <c:v>0.3145558207676618</c:v>
                </c:pt>
                <c:pt idx="2">
                  <c:v>0.3145558207676618</c:v>
                </c:pt>
                <c:pt idx="3">
                  <c:v>0.3145558207676618</c:v>
                </c:pt>
                <c:pt idx="4">
                  <c:v>0.3145558207676618</c:v>
                </c:pt>
                <c:pt idx="5">
                  <c:v>0.3145558207676618</c:v>
                </c:pt>
                <c:pt idx="6">
                  <c:v>0.3145558207676618</c:v>
                </c:pt>
                <c:pt idx="7">
                  <c:v>0.3145558207676618</c:v>
                </c:pt>
                <c:pt idx="8">
                  <c:v>0.3145558207676618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509558130123906"/>
          <c:min val="0.25511218139351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0.2647662089733541</c:v>
                </c:pt>
                <c:pt idx="1">
                  <c:v>0.32044347514010435</c:v>
                </c:pt>
                <c:pt idx="2">
                  <c:v>0.35506547577637093</c:v>
                </c:pt>
                <c:pt idx="3">
                  <c:v>0.3350133475187492</c:v>
                </c:pt>
                <c:pt idx="4">
                  <c:v>0.36402478493966556</c:v>
                </c:pt>
                <c:pt idx="5">
                  <c:v>0.3465888278894056</c:v>
                </c:pt>
                <c:pt idx="6">
                  <c:v>0.3369687231254787</c:v>
                </c:pt>
                <c:pt idx="7">
                  <c:v>0.35301769906443353</c:v>
                </c:pt>
                <c:pt idx="8">
                  <c:v>0.3854415537213957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509558130123906"/>
          <c:min val="0.25511218139351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4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4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10328.754193548388</c:v>
                </c:pt>
                <c:pt idx="1">
                  <c:v>11427.873333333333</c:v>
                </c:pt>
                <c:pt idx="2">
                  <c:v>10489.561935483871</c:v>
                </c:pt>
                <c:pt idx="3">
                  <c:v>13017.831333333334</c:v>
                </c:pt>
                <c:pt idx="4">
                  <c:v>10791.459677419354</c:v>
                </c:pt>
                <c:pt idx="5">
                  <c:v>12399.648888888889</c:v>
                </c:pt>
                <c:pt idx="6">
                  <c:v>12201.710000000001</c:v>
                </c:pt>
                <c:pt idx="7">
                  <c:v>11725.143793103447</c:v>
                </c:pt>
                <c:pt idx="8">
                  <c:v>10448.274333333333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12568.287096774195</c:v>
                </c:pt>
                <c:pt idx="1">
                  <c:v>11738.365483870968</c:v>
                </c:pt>
                <c:pt idx="2">
                  <c:v>12995.7303125</c:v>
                </c:pt>
                <c:pt idx="3">
                  <c:v>18676.97090909091</c:v>
                </c:pt>
                <c:pt idx="4">
                  <c:v>16177.240000000002</c:v>
                </c:pt>
                <c:pt idx="5">
                  <c:v>19904.307727272728</c:v>
                </c:pt>
                <c:pt idx="6">
                  <c:v>18240.234545454543</c:v>
                </c:pt>
                <c:pt idx="7">
                  <c:v>16730.18590909091</c:v>
                </c:pt>
                <c:pt idx="8">
                  <c:v>16917.185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70.352009970677"/>
          <c:min val="9562.709910850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9764.897857142858</c:v>
                </c:pt>
                <c:pt idx="1">
                  <c:v>8678.790769230769</c:v>
                </c:pt>
                <c:pt idx="2">
                  <c:v>9303.0175</c:v>
                </c:pt>
                <c:pt idx="3">
                  <c:v>10658.23076923077</c:v>
                </c:pt>
                <c:pt idx="4">
                  <c:v>7869.699230769231</c:v>
                </c:pt>
                <c:pt idx="5">
                  <c:v>7347.306</c:v>
                </c:pt>
                <c:pt idx="6">
                  <c:v>9855.274705882353</c:v>
                </c:pt>
                <c:pt idx="7">
                  <c:v>7699.027647058823</c:v>
                </c:pt>
                <c:pt idx="8">
                  <c:v>7507.301875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8179.029333333334</c:v>
                </c:pt>
                <c:pt idx="1">
                  <c:v>11351.606</c:v>
                </c:pt>
                <c:pt idx="2">
                  <c:v>11348.378125</c:v>
                </c:pt>
                <c:pt idx="3">
                  <c:v>10600.176666666666</c:v>
                </c:pt>
                <c:pt idx="4">
                  <c:v>11325.422857142858</c:v>
                </c:pt>
                <c:pt idx="5">
                  <c:v>12711.343571428572</c:v>
                </c:pt>
                <c:pt idx="6">
                  <c:v>14741.235</c:v>
                </c:pt>
                <c:pt idx="7">
                  <c:v>12810.621428571429</c:v>
                </c:pt>
                <c:pt idx="8">
                  <c:v>11966.292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332.74932"/>
          <c:min val="6755.79167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9005.116451612903</c:v>
                </c:pt>
                <c:pt idx="1">
                  <c:v>8209.987</c:v>
                </c:pt>
                <c:pt idx="2">
                  <c:v>9264.968666666666</c:v>
                </c:pt>
                <c:pt idx="3">
                  <c:v>9190.243928571428</c:v>
                </c:pt>
                <c:pt idx="4">
                  <c:v>8732.873666666666</c:v>
                </c:pt>
                <c:pt idx="5">
                  <c:v>7422.641290322581</c:v>
                </c:pt>
                <c:pt idx="6">
                  <c:v>8026.841333333333</c:v>
                </c:pt>
                <c:pt idx="7">
                  <c:v>9464.78103448276</c:v>
                </c:pt>
                <c:pt idx="8">
                  <c:v>6550.932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10611.027333333333</c:v>
                </c:pt>
                <c:pt idx="1">
                  <c:v>10414.379666666668</c:v>
                </c:pt>
                <c:pt idx="2">
                  <c:v>11926.784333333335</c:v>
                </c:pt>
                <c:pt idx="3">
                  <c:v>10534.514666666666</c:v>
                </c:pt>
                <c:pt idx="4">
                  <c:v>9907.659666666666</c:v>
                </c:pt>
                <c:pt idx="5">
                  <c:v>10351.077</c:v>
                </c:pt>
                <c:pt idx="6">
                  <c:v>11370.130333333333</c:v>
                </c:pt>
                <c:pt idx="7">
                  <c:v>11587.91</c:v>
                </c:pt>
                <c:pt idx="8">
                  <c:v>11913.973870967742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356.852520000002"/>
          <c:min val="6120.86381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14543.932727272728</c:v>
                </c:pt>
                <c:pt idx="1">
                  <c:v>9626.62</c:v>
                </c:pt>
                <c:pt idx="2">
                  <c:v>9889.238333333333</c:v>
                </c:pt>
                <c:pt idx="3">
                  <c:v>13529.358181818183</c:v>
                </c:pt>
                <c:pt idx="4">
                  <c:v>11468.91090909091</c:v>
                </c:pt>
                <c:pt idx="5">
                  <c:v>9941.029166666667</c:v>
                </c:pt>
                <c:pt idx="6">
                  <c:v>12283.417</c:v>
                </c:pt>
                <c:pt idx="7">
                  <c:v>11253.09</c:v>
                </c:pt>
                <c:pt idx="8">
                  <c:v>8708.986363636364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10681.267272727273</c:v>
                </c:pt>
                <c:pt idx="1">
                  <c:v>8268.094000000001</c:v>
                </c:pt>
                <c:pt idx="2">
                  <c:v>10048.831</c:v>
                </c:pt>
                <c:pt idx="3">
                  <c:v>9629.965833333334</c:v>
                </c:pt>
                <c:pt idx="4">
                  <c:v>7816.510833333334</c:v>
                </c:pt>
                <c:pt idx="5">
                  <c:v>10926.842499999999</c:v>
                </c:pt>
                <c:pt idx="6">
                  <c:v>11564.562727272727</c:v>
                </c:pt>
                <c:pt idx="7">
                  <c:v>9953.628999999999</c:v>
                </c:pt>
                <c:pt idx="8">
                  <c:v>10012.837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82.126478787879"/>
          <c:min val="7278.31708181818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14196.569411764705</c:v>
                </c:pt>
                <c:pt idx="1">
                  <c:v>14259.261176470589</c:v>
                </c:pt>
                <c:pt idx="2">
                  <c:v>13111.632352941177</c:v>
                </c:pt>
                <c:pt idx="3">
                  <c:v>12927.792222222222</c:v>
                </c:pt>
                <c:pt idx="4">
                  <c:v>11880.529444444444</c:v>
                </c:pt>
                <c:pt idx="5">
                  <c:v>13848.808823529413</c:v>
                </c:pt>
                <c:pt idx="6">
                  <c:v>13785.644705882352</c:v>
                </c:pt>
                <c:pt idx="7">
                  <c:v>12634.707222222223</c:v>
                </c:pt>
                <c:pt idx="8">
                  <c:v>13481.645999999999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11006.317500000001</c:v>
                </c:pt>
                <c:pt idx="1">
                  <c:v>10758.536666666667</c:v>
                </c:pt>
                <c:pt idx="2">
                  <c:v>10693.837727272727</c:v>
                </c:pt>
                <c:pt idx="3">
                  <c:v>12764.419523809524</c:v>
                </c:pt>
                <c:pt idx="4">
                  <c:v>11819.966499999999</c:v>
                </c:pt>
                <c:pt idx="5">
                  <c:v>12314.305</c:v>
                </c:pt>
                <c:pt idx="6">
                  <c:v>13960.412608695651</c:v>
                </c:pt>
                <c:pt idx="7">
                  <c:v>12442.894782608697</c:v>
                </c:pt>
                <c:pt idx="8">
                  <c:v>12896.293913043479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44.495052406417"/>
          <c:min val="10408.6038513368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15285.79923076923</c:v>
                </c:pt>
                <c:pt idx="1">
                  <c:v>14679.894696969697</c:v>
                </c:pt>
                <c:pt idx="2">
                  <c:v>14093.677164179104</c:v>
                </c:pt>
                <c:pt idx="3">
                  <c:v>14364.368939393938</c:v>
                </c:pt>
                <c:pt idx="4">
                  <c:v>14823.901538461538</c:v>
                </c:pt>
                <c:pt idx="5">
                  <c:v>16683.807076923076</c:v>
                </c:pt>
                <c:pt idx="6">
                  <c:v>14813.223823529412</c:v>
                </c:pt>
                <c:pt idx="7">
                  <c:v>14842.673661971832</c:v>
                </c:pt>
                <c:pt idx="8">
                  <c:v>13457.332361111112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14875.225342465752</c:v>
                </c:pt>
                <c:pt idx="1">
                  <c:v>13274.013552631579</c:v>
                </c:pt>
                <c:pt idx="2">
                  <c:v>13958.210789473684</c:v>
                </c:pt>
                <c:pt idx="3">
                  <c:v>16108.256666666666</c:v>
                </c:pt>
                <c:pt idx="4">
                  <c:v>12898.752236842105</c:v>
                </c:pt>
                <c:pt idx="5">
                  <c:v>13809.881066666667</c:v>
                </c:pt>
                <c:pt idx="6">
                  <c:v>14742.652567567568</c:v>
                </c:pt>
                <c:pt idx="7">
                  <c:v>15072.556986301368</c:v>
                </c:pt>
                <c:pt idx="8">
                  <c:v>13680.323733333335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986.611464129553"/>
          <c:min val="12595.9478496356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15825.321111111112</c:v>
                </c:pt>
                <c:pt idx="1">
                  <c:v>15825.321111111112</c:v>
                </c:pt>
                <c:pt idx="2">
                  <c:v>15825.321111111112</c:v>
                </c:pt>
                <c:pt idx="3">
                  <c:v>15825.321111111112</c:v>
                </c:pt>
                <c:pt idx="4">
                  <c:v>15825.321111111112</c:v>
                </c:pt>
                <c:pt idx="5">
                  <c:v>15825.321111111112</c:v>
                </c:pt>
                <c:pt idx="6">
                  <c:v>15825.321111111112</c:v>
                </c:pt>
                <c:pt idx="7">
                  <c:v>15825.321111111112</c:v>
                </c:pt>
                <c:pt idx="8">
                  <c:v>15825.321111111112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14.440843809527"/>
          <c:min val="14716.3191085714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15233.430952380952</c:v>
                </c:pt>
                <c:pt idx="1">
                  <c:v>15843.78</c:v>
                </c:pt>
                <c:pt idx="2">
                  <c:v>16398.75238095238</c:v>
                </c:pt>
                <c:pt idx="3">
                  <c:v>18719.918181818182</c:v>
                </c:pt>
                <c:pt idx="4">
                  <c:v>17110.282857142858</c:v>
                </c:pt>
                <c:pt idx="5">
                  <c:v>18989.871052631577</c:v>
                </c:pt>
                <c:pt idx="6">
                  <c:v>21697.329</c:v>
                </c:pt>
                <c:pt idx="7">
                  <c:v>20235.704285714284</c:v>
                </c:pt>
                <c:pt idx="8">
                  <c:v>20395.156666666666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14.440843809527"/>
          <c:min val="14716.3191085714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12440.102127659575</c:v>
                </c:pt>
                <c:pt idx="1">
                  <c:v>12440.102127659575</c:v>
                </c:pt>
                <c:pt idx="2">
                  <c:v>12440.102127659575</c:v>
                </c:pt>
                <c:pt idx="3">
                  <c:v>12440.102127659575</c:v>
                </c:pt>
                <c:pt idx="4">
                  <c:v>12440.102127659575</c:v>
                </c:pt>
                <c:pt idx="5">
                  <c:v>12440.102127659575</c:v>
                </c:pt>
                <c:pt idx="6">
                  <c:v>12440.102127659575</c:v>
                </c:pt>
                <c:pt idx="7">
                  <c:v>12440.102127659575</c:v>
                </c:pt>
                <c:pt idx="8">
                  <c:v>12440.102127659575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557.583106744867"/>
          <c:min val="11085.0901043988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12568.287096774195</c:v>
                </c:pt>
                <c:pt idx="1">
                  <c:v>11738.365483870968</c:v>
                </c:pt>
                <c:pt idx="2">
                  <c:v>12995.7303125</c:v>
                </c:pt>
                <c:pt idx="3">
                  <c:v>18676.97090909091</c:v>
                </c:pt>
                <c:pt idx="4">
                  <c:v>16177.240000000002</c:v>
                </c:pt>
                <c:pt idx="5">
                  <c:v>19904.307727272728</c:v>
                </c:pt>
                <c:pt idx="6">
                  <c:v>18240.234545454543</c:v>
                </c:pt>
                <c:pt idx="7">
                  <c:v>16730.18590909091</c:v>
                </c:pt>
                <c:pt idx="8">
                  <c:v>16917.185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557.583106744867"/>
          <c:min val="11085.0901043988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13709.45632653061</c:v>
                </c:pt>
                <c:pt idx="1">
                  <c:v>13709.45632653061</c:v>
                </c:pt>
                <c:pt idx="2">
                  <c:v>13709.45632653061</c:v>
                </c:pt>
                <c:pt idx="3">
                  <c:v>13709.45632653061</c:v>
                </c:pt>
                <c:pt idx="4">
                  <c:v>13709.45632653061</c:v>
                </c:pt>
                <c:pt idx="5">
                  <c:v>13709.45632653061</c:v>
                </c:pt>
                <c:pt idx="6">
                  <c:v>13709.45632653061</c:v>
                </c:pt>
                <c:pt idx="7">
                  <c:v>13709.45632653061</c:v>
                </c:pt>
                <c:pt idx="8">
                  <c:v>13709.45632653061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493.968693333336"/>
          <c:min val="11343.3593066666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13495.86882352941</c:v>
                </c:pt>
                <c:pt idx="1">
                  <c:v>12043.401333333333</c:v>
                </c:pt>
                <c:pt idx="2">
                  <c:v>15393.092352941178</c:v>
                </c:pt>
                <c:pt idx="3">
                  <c:v>15823.766470588236</c:v>
                </c:pt>
                <c:pt idx="4">
                  <c:v>13089.334705882353</c:v>
                </c:pt>
                <c:pt idx="5">
                  <c:v>15555.78875</c:v>
                </c:pt>
                <c:pt idx="6">
                  <c:v>16042.75</c:v>
                </c:pt>
                <c:pt idx="7">
                  <c:v>20793.92666666667</c:v>
                </c:pt>
                <c:pt idx="8">
                  <c:v>15135.897333333332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493.968693333336"/>
          <c:min val="11343.3593066666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4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4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4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452919.69</c:v>
                </c:pt>
                <c:pt idx="1">
                  <c:v>432969.39</c:v>
                </c:pt>
                <c:pt idx="2">
                  <c:v>437450.84</c:v>
                </c:pt>
                <c:pt idx="3">
                  <c:v>425210.83</c:v>
                </c:pt>
                <c:pt idx="4">
                  <c:v>459468.07</c:v>
                </c:pt>
                <c:pt idx="5">
                  <c:v>483658.92</c:v>
                </c:pt>
                <c:pt idx="6">
                  <c:v>477819.24</c:v>
                </c:pt>
                <c:pt idx="7">
                  <c:v>470350.34</c:v>
                </c:pt>
                <c:pt idx="8">
                  <c:v>464709.48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616051.6</c:v>
                </c:pt>
                <c:pt idx="1">
                  <c:v>667986.46</c:v>
                </c:pt>
                <c:pt idx="2">
                  <c:v>703590.2</c:v>
                </c:pt>
                <c:pt idx="3">
                  <c:v>772188.38</c:v>
                </c:pt>
                <c:pt idx="4">
                  <c:v>623982.82</c:v>
                </c:pt>
                <c:pt idx="5">
                  <c:v>661894.14</c:v>
                </c:pt>
                <c:pt idx="6">
                  <c:v>707590.25</c:v>
                </c:pt>
                <c:pt idx="7">
                  <c:v>688580.12</c:v>
                </c:pt>
                <c:pt idx="8">
                  <c:v>692772.96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99946.584"/>
          <c:min val="397452.626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50318.37</c:v>
                </c:pt>
                <c:pt idx="1">
                  <c:v>51851.88</c:v>
                </c:pt>
                <c:pt idx="2">
                  <c:v>61753.81</c:v>
                </c:pt>
                <c:pt idx="3">
                  <c:v>50702.4</c:v>
                </c:pt>
                <c:pt idx="4">
                  <c:v>50335.47</c:v>
                </c:pt>
                <c:pt idx="5">
                  <c:v>58435.26</c:v>
                </c:pt>
                <c:pt idx="6">
                  <c:v>82429.93</c:v>
                </c:pt>
                <c:pt idx="7">
                  <c:v>45408.39</c:v>
                </c:pt>
                <c:pt idx="8">
                  <c:v>58920.59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105977.1</c:v>
                </c:pt>
                <c:pt idx="1">
                  <c:v>89501.32</c:v>
                </c:pt>
                <c:pt idx="2">
                  <c:v>77366.64</c:v>
                </c:pt>
                <c:pt idx="3">
                  <c:v>72627.97</c:v>
                </c:pt>
                <c:pt idx="4">
                  <c:v>81856.55</c:v>
                </c:pt>
                <c:pt idx="5">
                  <c:v>72991.4</c:v>
                </c:pt>
                <c:pt idx="6">
                  <c:v>69030.23</c:v>
                </c:pt>
                <c:pt idx="7">
                  <c:v>63497.24</c:v>
                </c:pt>
                <c:pt idx="8">
                  <c:v>71210.75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822.5968"/>
          <c:min val="40562.89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384480.31</c:v>
                </c:pt>
                <c:pt idx="1">
                  <c:v>312154.68</c:v>
                </c:pt>
                <c:pt idx="2">
                  <c:v>291941.18</c:v>
                </c:pt>
                <c:pt idx="3">
                  <c:v>308802.28</c:v>
                </c:pt>
                <c:pt idx="4">
                  <c:v>349990.87</c:v>
                </c:pt>
                <c:pt idx="5">
                  <c:v>372203.93</c:v>
                </c:pt>
                <c:pt idx="6">
                  <c:v>450840.05</c:v>
                </c:pt>
                <c:pt idx="7">
                  <c:v>419529.07</c:v>
                </c:pt>
                <c:pt idx="8">
                  <c:v>352258.35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531697.42</c:v>
                </c:pt>
                <c:pt idx="1">
                  <c:v>493262.93</c:v>
                </c:pt>
                <c:pt idx="2">
                  <c:v>500602.81</c:v>
                </c:pt>
                <c:pt idx="3">
                  <c:v>575541.86</c:v>
                </c:pt>
                <c:pt idx="4">
                  <c:v>337412.57</c:v>
                </c:pt>
                <c:pt idx="5">
                  <c:v>356731.28</c:v>
                </c:pt>
                <c:pt idx="6">
                  <c:v>628477.94</c:v>
                </c:pt>
                <c:pt idx="7">
                  <c:v>391732.69</c:v>
                </c:pt>
                <c:pt idx="8">
                  <c:v>411646.47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5400.8807999999"/>
          <c:min val="265018.23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261581.23</c:v>
                </c:pt>
                <c:pt idx="1">
                  <c:v>225412.65</c:v>
                </c:pt>
                <c:pt idx="2">
                  <c:v>174964.82</c:v>
                </c:pt>
                <c:pt idx="3">
                  <c:v>58721.34</c:v>
                </c:pt>
                <c:pt idx="4">
                  <c:v>51570.82</c:v>
                </c:pt>
                <c:pt idx="5">
                  <c:v>45005.81</c:v>
                </c:pt>
                <c:pt idx="6">
                  <c:v>68955.71</c:v>
                </c:pt>
                <c:pt idx="7">
                  <c:v>46799.28</c:v>
                </c:pt>
                <c:pt idx="8">
                  <c:v>50432.07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50563.16</c:v>
                </c:pt>
                <c:pt idx="1">
                  <c:v>55828.53</c:v>
                </c:pt>
                <c:pt idx="2">
                  <c:v>59116.24</c:v>
                </c:pt>
                <c:pt idx="3">
                  <c:v>67950.46</c:v>
                </c:pt>
                <c:pt idx="4">
                  <c:v>83744.51</c:v>
                </c:pt>
                <c:pt idx="5">
                  <c:v>63003.73</c:v>
                </c:pt>
                <c:pt idx="6">
                  <c:v>50533.06</c:v>
                </c:pt>
                <c:pt idx="7">
                  <c:v>81518.71</c:v>
                </c:pt>
                <c:pt idx="8">
                  <c:v>60766.67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8907.2636"/>
          <c:min val="27679.7763999999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36681.54</c:v>
                </c:pt>
                <c:pt idx="1">
                  <c:v>34954.19</c:v>
                </c:pt>
                <c:pt idx="2">
                  <c:v>26356.06</c:v>
                </c:pt>
                <c:pt idx="3">
                  <c:v>19510.8</c:v>
                </c:pt>
                <c:pt idx="4">
                  <c:v>18852.9</c:v>
                </c:pt>
                <c:pt idx="5">
                  <c:v>20946.57</c:v>
                </c:pt>
                <c:pt idx="6">
                  <c:v>26837.53</c:v>
                </c:pt>
                <c:pt idx="7">
                  <c:v>20075.84</c:v>
                </c:pt>
                <c:pt idx="8">
                  <c:v>14078.2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10197.54</c:v>
                </c:pt>
                <c:pt idx="1">
                  <c:v>19604.99</c:v>
                </c:pt>
                <c:pt idx="2">
                  <c:v>15725.49</c:v>
                </c:pt>
                <c:pt idx="3">
                  <c:v>14016.06</c:v>
                </c:pt>
                <c:pt idx="4">
                  <c:v>14499.42</c:v>
                </c:pt>
                <c:pt idx="5">
                  <c:v>14960.78</c:v>
                </c:pt>
                <c:pt idx="6">
                  <c:v>12533.24</c:v>
                </c:pt>
                <c:pt idx="7">
                  <c:v>13470.82</c:v>
                </c:pt>
                <c:pt idx="8">
                  <c:v>20175.57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800.26"/>
          <c:min val="8078.8200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208631.91</c:v>
                </c:pt>
                <c:pt idx="1">
                  <c:v>212231.84</c:v>
                </c:pt>
                <c:pt idx="2">
                  <c:v>274527.47</c:v>
                </c:pt>
                <c:pt idx="3">
                  <c:v>217212.44</c:v>
                </c:pt>
                <c:pt idx="4">
                  <c:v>297116.43</c:v>
                </c:pt>
                <c:pt idx="5">
                  <c:v>275941.27</c:v>
                </c:pt>
                <c:pt idx="6">
                  <c:v>269753.87</c:v>
                </c:pt>
                <c:pt idx="7">
                  <c:v>330787.15</c:v>
                </c:pt>
                <c:pt idx="8">
                  <c:v>260451.94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179743.12</c:v>
                </c:pt>
                <c:pt idx="1">
                  <c:v>160312.85</c:v>
                </c:pt>
                <c:pt idx="2">
                  <c:v>165333.62</c:v>
                </c:pt>
                <c:pt idx="3">
                  <c:v>184318.74</c:v>
                </c:pt>
                <c:pt idx="4">
                  <c:v>154604.97</c:v>
                </c:pt>
                <c:pt idx="5">
                  <c:v>194764.22</c:v>
                </c:pt>
                <c:pt idx="6">
                  <c:v>173542.6</c:v>
                </c:pt>
                <c:pt idx="7">
                  <c:v>163960.76</c:v>
                </c:pt>
                <c:pt idx="8">
                  <c:v>147971.34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5412.4148"/>
          <c:min val="133346.07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99281.71666666666</c:v>
                </c:pt>
                <c:pt idx="1">
                  <c:v>99281.71666666666</c:v>
                </c:pt>
                <c:pt idx="2">
                  <c:v>99281.71666666666</c:v>
                </c:pt>
                <c:pt idx="3">
                  <c:v>99281.71666666666</c:v>
                </c:pt>
                <c:pt idx="4">
                  <c:v>99281.71666666666</c:v>
                </c:pt>
                <c:pt idx="5">
                  <c:v>99281.71666666666</c:v>
                </c:pt>
                <c:pt idx="6">
                  <c:v>99281.71666666666</c:v>
                </c:pt>
                <c:pt idx="7">
                  <c:v>99281.71666666666</c:v>
                </c:pt>
                <c:pt idx="8">
                  <c:v>99281.71666666666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0365.9288"/>
          <c:min val="82131.20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96360.88</c:v>
                </c:pt>
                <c:pt idx="1">
                  <c:v>106288.29</c:v>
                </c:pt>
                <c:pt idx="2">
                  <c:v>95195.98</c:v>
                </c:pt>
                <c:pt idx="3">
                  <c:v>112684.92</c:v>
                </c:pt>
                <c:pt idx="4">
                  <c:v>88906.01</c:v>
                </c:pt>
                <c:pt idx="5">
                  <c:v>129424.9</c:v>
                </c:pt>
                <c:pt idx="6">
                  <c:v>149636.51</c:v>
                </c:pt>
                <c:pt idx="7">
                  <c:v>144369.21</c:v>
                </c:pt>
                <c:pt idx="8">
                  <c:v>173591.12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0365.9288"/>
          <c:min val="82131.20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162898.57</c:v>
                </c:pt>
                <c:pt idx="1">
                  <c:v>162898.57</c:v>
                </c:pt>
                <c:pt idx="2">
                  <c:v>162898.57</c:v>
                </c:pt>
                <c:pt idx="3">
                  <c:v>162898.57</c:v>
                </c:pt>
                <c:pt idx="4">
                  <c:v>162898.57</c:v>
                </c:pt>
                <c:pt idx="5">
                  <c:v>162898.57</c:v>
                </c:pt>
                <c:pt idx="6">
                  <c:v>162898.57</c:v>
                </c:pt>
                <c:pt idx="7">
                  <c:v>162898.57</c:v>
                </c:pt>
                <c:pt idx="8">
                  <c:v>162898.57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2710.91799999995"/>
          <c:min val="136014.3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175233.67</c:v>
                </c:pt>
                <c:pt idx="1">
                  <c:v>146131.31</c:v>
                </c:pt>
                <c:pt idx="2">
                  <c:v>167330.73</c:v>
                </c:pt>
                <c:pt idx="3">
                  <c:v>214753.55</c:v>
                </c:pt>
                <c:pt idx="4">
                  <c:v>179390.92</c:v>
                </c:pt>
                <c:pt idx="5">
                  <c:v>197282.04</c:v>
                </c:pt>
                <c:pt idx="6">
                  <c:v>248020.37</c:v>
                </c:pt>
                <c:pt idx="7">
                  <c:v>272593.91</c:v>
                </c:pt>
                <c:pt idx="8">
                  <c:v>210593.74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2710.91799999995"/>
          <c:min val="136014.3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95077.78666666667</c:v>
                </c:pt>
                <c:pt idx="1">
                  <c:v>95077.78666666667</c:v>
                </c:pt>
                <c:pt idx="2">
                  <c:v>95077.78666666667</c:v>
                </c:pt>
                <c:pt idx="3">
                  <c:v>95077.78666666667</c:v>
                </c:pt>
                <c:pt idx="4">
                  <c:v>95077.78666666667</c:v>
                </c:pt>
                <c:pt idx="5">
                  <c:v>95077.78666666667</c:v>
                </c:pt>
                <c:pt idx="6">
                  <c:v>95077.78666666667</c:v>
                </c:pt>
                <c:pt idx="7">
                  <c:v>95077.78666666667</c:v>
                </c:pt>
                <c:pt idx="8">
                  <c:v>95077.78666666667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614.3552"/>
          <c:min val="64178.3148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70001.49</c:v>
                </c:pt>
                <c:pt idx="1">
                  <c:v>101598.14</c:v>
                </c:pt>
                <c:pt idx="2">
                  <c:v>113633.73</c:v>
                </c:pt>
                <c:pt idx="3">
                  <c:v>109492.02</c:v>
                </c:pt>
                <c:pt idx="4">
                  <c:v>91093.52</c:v>
                </c:pt>
                <c:pt idx="5">
                  <c:v>122837.85</c:v>
                </c:pt>
                <c:pt idx="6">
                  <c:v>142791.18</c:v>
                </c:pt>
                <c:pt idx="7">
                  <c:v>125431.12</c:v>
                </c:pt>
                <c:pt idx="8">
                  <c:v>135721.84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614.3552"/>
          <c:min val="64178.3148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2026 vs 2025, same-store (INEOS excluded, opened 2026), as on the Fixed Ops Net Profit slides.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$50,449,894 (2025 $45,336,135); group net profit $82,743,115 (2025 $95,664,709). On the P&amp;L, F&amp;I income, other income and store-level costs are not split by department, so 'the rest of the store' is the group net less fixed ops department profit. Group net = Net Profit Or Loss on the GM statement (P&amp;L summary), same-store: INEOS (opened 2026) is out of both lines, as on the Fixed Ops Net Profit slides (Noah, Oct 29; all stores in, it was $50.19M of $82.24M). Body shop (GMC Prescott) department profit is left out of fixed ops, as everywhere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Subaru Prescott and GMC Prescott turned a 2025 loss into a profit (green rows); VW St George went from a profit to a loss (red row). 24 of 33 stores grew fixed ops net profit, January through September year to date.Source: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Audi Henderson and Cadillac what changed. Ask Chevy LV, VW Henderson and Toyota Spokane what got in the way. Ask Honda Henderson, Toyota Henderson and Chevy LV what they started this year.Source: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three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three vs last year and the top three moving now. Blue bar: a turnaround, on the bottom three vs last year and the top three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Service net profit = Mechanical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Service net profit = Mechanical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LR Reno turned a 2025 loss into a profit (green rows); VW St George went from a profit to a loss (red rows). 24 of 33 stores grew service net profit, January through September year to date.Source: Qlik - Profit &amp; Loss, Detail statement. Same-store, INEOS excluded (opened 2026). Service net profit = Mechanical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positive.Toyota Henderson added the most at +$1.13M; VW Henderson fell most at −$299K. Green band: loss in 2025, profit in 2026 (LR Reno −$52K to $230K). Red band: profit in 2025, loss in 2026 (VW St George $12K to −$148K).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Audi Henderson and Honda Henderson what changed. Ask VW Henderson, Chevy LV and Mazda what got in the way. Ask Honda Henderson, LR LV and Honda North what they started this year.Source: Qlik - Profit &amp; Loss, Detail statement. Same-store, INEOS excluded (opened 2026). Service net profit = Mechanical department profit: department gross less the department's own expenses; GMC Prescott body shop is its own department and is not included. Top and bottom three stores by dollar change in service net profit, Jan-Sep 2026 vs 2025 (dollars, not percent: some stores lost money in 2025). Moving now: Jul-Sep 2026 vs Jan-Mar 2026, each store against itself (monthly averages); the group moved +$344K a month on the same basis, so part of every store's change is seasonal. Green bar at the right of a row: the store is on both the top three vs last year and the top three moving now. Blue bar: a turnaround, on the bottom three vs last year and the top three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Parts net profit = P&amp;A department profit: department gross less the department's own expenses; GMC Prescott body shop is its own department and is not included. Jan-Sep 2026 vs Jan-Sep 2025; 2025 shown January-December. Store rows reconcile to the group, both years. P&amp;A department expenses Jan-Sep, 2025 to 2026 (P&amp;L Detail): total total expenses $38,194,373 to $39,174,787; personnel total personnel expense $22,779,551 to $22,353,382; outside services outside services (other) $2,463,996 to $2,954,466; IT services info. technology services $1,758,912 to $2,238,264; advertising advertising $2,046,030 to $1,963,261; advertising rebates (a credit) -$680,064 to -$281,952; rent rent $3,837,561 to $3,938,417.</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Parts net profit =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Parts net profit =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positive.Cadillac added the most at +$457K; Chevy LV fell most at −$364K.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Cadillac, Toyota Henderson and Nissan what changed. Ask Chevy LV, Subaru LV and Toyota Spokane what got in the way. Ask Audi Henderson, Toyota Henderson and Chevy LV what they started this year.Source: Qlik - Profit &amp; Loss, Detail statement. Same-store, INEOS excluded (opened 2026). Parts net profit = P&amp;A department profit: department gross less the department's own expenses; GMC Prescott body shop is its own department and is not included. Top and bottom three stores by dollar change in parts net profit, Jan-Sep 2026 vs 2025 (dollars, not percent: some stores lost money in 2025). Moving now: Jul-Sep 2026 vs Jan-Mar 2026, each store against itself (monthly averages); the group moved +$707K a month on the same basis, so part of every store's change is seasonal. Green bar at the right of a row: the store is on both the top three vs last year and the top three moving now. Blue bar: a turnaround, on the bottom three vs last year and the top three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 Net: best January–September fixed ops net profit ever = service + parts department profit (Qlik - Profit &amp; Loss, Detail statement), Jan-Sep 2026 above every Jan-Sep 2021-2025 on file; Honda Spokane and Nissan from 2024.</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stores set 98 all-time monthly records in 2026. Honda Spokane and Nissan lead with 9 each.Source: Qlik - Fixed Ops Accounting TB, fixed gross (service and parts), monthly by store, January 2021 - September 2026. A record = the store's highest month on file; months before a store opened are ignored. GMC Prescott service on the TB includes body shop gross. Records = each month a store beat its best-ever service, parts or combined month; one month can count up to three.Records by store (month: service / parts / combined, with the record it beat):</a:t>
            </a:r>
          </a:p>
          <a:p>
            <a:r>
              <a:t>Toyota Henderson: service Apr 2026 $1.86M (beat $1.78M, Apr 2025); service Jul 2026 $1.98M (beat $1.86M, Apr 2026); parts Jun 2026 $747K (beat $734K, Dec 2024); parts Aug 2026 $748K (beat $747K, Jun 2026); parts Sep 2026 $803K (beat $748K, Aug 2026); combined Apr 2026 $2.52M (beat $2.45M, Apr 2025); combined Jun 2026 $2.55M (beat $2.52M, Apr 2026); combined Jul 2026 $2.72M (beat $2.55M, Jun 2026)</a:t>
            </a:r>
          </a:p>
          <a:p>
            <a:r>
              <a:t>Honda Spokane: service Mar 2026 $309K (beat $290K, May 2025); service Apr 2026 $316K (beat $309K, Mar 2026); service Jun 2026 $343K (beat $316K, Apr 2026); service Jul 2026 $360K (beat $343K, Jun 2026); parts Jul 2026 $182K (beat $168K, Aug 2025); combined Mar 2026 $457K (beat $448K, May 2025); combined Apr 2026 $473K (beat $457K, Mar 2026); combined Jun 2026 $503K (beat $473K, Apr 2026); combined Jul 2026 $542K (beat $503K, Jun 2026)</a:t>
            </a:r>
          </a:p>
          <a:p>
            <a:r>
              <a:t>Nissan: service Mar 2026 $374K (beat $374K, May 2025); service Jun 2026 $379K (beat $374K, Mar 2026); service Sep 2026 $393K (beat $379K, Jun 2026); parts Jun 2026 $191K (beat $187K, Aug 2024); parts Jul 2026 $210K (beat $191K, Jun 2026); combined Mar 2026 $546K (beat $535K, May 2025); combined Jun 2026 $570K (beat $546K, Mar 2026); combined Jul 2026 $580K (beat $570K, Jun 2026); combined Sep 2026 $593K (beat $580K, Jul 2026)</a:t>
            </a:r>
          </a:p>
          <a:p>
            <a:r>
              <a:t>Subaru St George: service Jan 2026 $256K (beat $246K, Apr 2025); service Mar 2026 $270K (beat $256K, Jan 2026); parts Mar 2026 $146K (beat $144K, Apr 2025); parts Apr 2026 $156K (beat $146K, Mar 2026); parts Jun 2026 $174K (beat $156K, Apr 2026); combined Mar 2026 $416K (beat $391K, Apr 2025); combined Jun 2026 $438K (beat $416K, Mar 2026)</a:t>
            </a:r>
          </a:p>
          <a:p>
            <a:r>
              <a:t>Hyundai St George: service Jan 2026 $155K (beat $152K, Dec 2025); service Mar 2026 $170K (beat $155K, Jan 2026); service Jul 2026 $173K (beat $170K, Mar 2026); service Sep 2026 $179K (beat $173K, Jul 2026)</a:t>
            </a:r>
          </a:p>
          <a:p>
            <a:r>
              <a:t>Honda Henderson: service Mar 2026 $1.26M (beat $1.23M, Mar 2025); service Jun 2026 $1.29M (beat $1.26M, Mar 2026); service Jul 2026 $1.30M (beat $1.29M, Jun 2026); parts Jul 2026 $495K (beat $475K, Apr 2024); combined Mar 2026 $1.72M (beat $1.67M, Apr 2024); combined Jun 2026 $1.75M (beat $1.72M, Mar 2026); combined Jul 2026 $1.79M (beat $1.75M, Jun 2026)</a:t>
            </a:r>
          </a:p>
          <a:p>
            <a:r>
              <a:t>Hyundai Prescott: service Mar 2026 $125K (beat $96K, Jul 2025); service Jul 2026 $142K (beat $125K, Mar 2026); parts Feb 2026 $78K (beat $72K, Jul 2025); combined Feb 2026 $170K (beat $168K, Jul 2025); combined Mar 2026 $182K (beat $170K, Feb 2026); combined Jul 2026 $206K (beat $182K, Mar 2026)</a:t>
            </a:r>
          </a:p>
          <a:p>
            <a:r>
              <a:t>Lincoln: service Aug 2026 $247K (beat $243K, Dec 2025); service Sep 2026 $262K (beat $247K, Aug 2026); parts Mar 2026 $116K (beat $105K, Dec 2025); combined Mar 2026 $358K (beat $349K, Dec 2025); combined Aug 2026 $359K (beat $358K, Mar 2026); combined Sep 2026 $369K (beat $359K, Aug 2026)</a:t>
            </a:r>
          </a:p>
          <a:p>
            <a:r>
              <a:t>LR Henderson: service Aug 2026 $276K (beat $270K, Dec 2024); service Sep 2026 $281K (beat $276K, Aug 2026); parts Jul 2026 $173K (beat $168K, Feb 2025); combined Jul 2026 $434K (beat $420K, Feb 2025)</a:t>
            </a:r>
          </a:p>
          <a:p>
            <a:r>
              <a:t>Toyota Flagstaff: service Mar 2026 $374K (beat $358K, Oct 2024); service Apr 2026 $377K (beat $374K, Mar 2026); service May 2026 $382K (beat $377K, Apr 2026); combined Mar 2026 $532K (beat $497K, Jan 2025)</a:t>
            </a:r>
          </a:p>
          <a:p>
            <a:r>
              <a:t>Audi Henderson: parts Jul 2026 $591K (beat $524K, Dec 2024); combined Apr 2026 $1.45M (beat $1.39M, Dec 2025); combined Jul 2026 $1.60M (beat $1.45M, Apr 2026)</a:t>
            </a:r>
          </a:p>
          <a:p>
            <a:r>
              <a:t>Mazda: service Aug 2026 $285K (beat $256K, Mar 2025); service Sep 2026 $302K (beat $285K, Aug 2026); parts Sep 2026 $200K (beat $172K, Jun 2025); combined Aug 2026 $417K (beat $412K, Jun 2025); combined Sep 2026 $503K (beat $417K, Aug 2026)</a:t>
            </a:r>
          </a:p>
          <a:p>
            <a:r>
              <a:t>Kia St George: service Apr 2026 $158K (beat $153K, Sep 2025); service Jul 2026 $187K (beat $158K, Apr 2026); parts Jul 2026 $134K (beat $120K, Oct 2025); combined Jul 2026 $321K (beat $270K, Sep 2025)</a:t>
            </a:r>
          </a:p>
          <a:p>
            <a:r>
              <a:t>Lexus: service Mar 2026 $341K (beat $341K, Oct 2025); service May 2026 $342K (beat $341K, Mar 2026); parts May 2026 $154K (beat $149K, Oct 2025); combined May 2026 $497K (beat $490K, Oct 2025)</a:t>
            </a:r>
          </a:p>
          <a:p>
            <a:r>
              <a:t>Toyota Prescott: service Mar 2026 $397K (beat $377K, Dec 2025); service Apr 2026 $463K (beat $397K, Mar 2026); parts Apr 2026 $204K (beat $203K, Apr 2025); combined Apr 2026 $667K (beat $563K, Aug 2023)</a:t>
            </a:r>
          </a:p>
          <a:p>
            <a:r>
              <a:t>Volvo: service Apr 2026 $294K (beat $288K, Aug 2024); service Jun 2026 $305K (beat $294K, Apr 2026)</a:t>
            </a:r>
          </a:p>
          <a:p>
            <a:r>
              <a:t>CDJR Post Falls: service Jul 2026 $312K (beat $305K, Apr 2025); combined Jul 2026 $481K (beat $468K, Aug 2024)</a:t>
            </a:r>
          </a:p>
          <a:p>
            <a:r>
              <a:t>GMC Prescott: parts Apr 2026 $148K (beat $123K, Oct 2024); combined Apr 2026 $314K (beat $304K, Oct 2024)</a:t>
            </a:r>
          </a:p>
          <a:p>
            <a:r>
              <a:t>LR LV: service Jul 2026 $544K (beat $509K, May 2024); combined Jul 2026 $845K (beat $817K, May 2024)</a:t>
            </a:r>
          </a:p>
          <a:p>
            <a:r>
              <a:t>LR Reno: service Aug 2026 $204K (beat $190K, Jan 2025); combined Aug 2026 $312K (beat $294K, Aug 2024)</a:t>
            </a:r>
          </a:p>
          <a:p>
            <a:r>
              <a:t>Subaru Prescott: combined Apr 2026 $354K (beat $349K, Apr 2025)</a:t>
            </a:r>
          </a:p>
          <a:p>
            <a:r>
              <a:t>Toyota Spokane: service Jul 2026 $470K (beat $450K, Oct 2025); combined Jul 2026 $777K (beat $760K, Oct 2025)</a:t>
            </a:r>
          </a:p>
          <a:p>
            <a:r>
              <a:t>Kia LV: service Sep 2026 $492K (beat $472K, Oct 2024)</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Fixed Ops Accounting TB, combined service + parts fixed gross, Jan-Sep 2026 above every Jan-Sep on file (2021-2025). Net: best January–September fixed ops net profit ever = service + parts department profit (Qlik - Profit &amp; Loss, Detail statement), Jan-Sep 2026 above every Jan-Sep 2021-2025 on file; Honda Spokane and Nissan from 2024.Net profit, Jan-Sep 2026 vs the best prior Jan-Sep:</a:t>
            </a:r>
          </a:p>
          <a:p>
            <a:r>
              <a:t>Acura: $476K vs $259K (2025)</a:t>
            </a:r>
          </a:p>
          <a:p>
            <a:r>
              <a:t>Audi Henderson: $4.94M vs $4.11M (2025)</a:t>
            </a:r>
          </a:p>
          <a:p>
            <a:r>
              <a:t>Cadillac: $2.60M vs $1.83M (2025)</a:t>
            </a:r>
          </a:p>
          <a:p>
            <a:r>
              <a:t>CDJR Post Falls: $800K vs $747K (2025)</a:t>
            </a:r>
          </a:p>
          <a:p>
            <a:r>
              <a:t>Chevy GMC Bullhead: $1.12M vs $784K (2025)</a:t>
            </a:r>
          </a:p>
          <a:p>
            <a:r>
              <a:t>Honda Henderson: $6.08M vs $5.84M (2024)</a:t>
            </a:r>
          </a:p>
          <a:p>
            <a:r>
              <a:t>Honda Spokane: $1.32M vs $1.32M (2025)</a:t>
            </a:r>
          </a:p>
          <a:p>
            <a:r>
              <a:t>Kia LV: $1.80M vs $1.38M (2025)</a:t>
            </a:r>
          </a:p>
          <a:p>
            <a:r>
              <a:t>Lexus: $1.20M vs $993K (2025)</a:t>
            </a:r>
          </a:p>
          <a:p>
            <a:r>
              <a:t>Lincoln: $94K vs −$61K (2023)</a:t>
            </a:r>
          </a:p>
          <a:p>
            <a:r>
              <a:t>LR Henderson: $705K vs $607K (2025)</a:t>
            </a:r>
          </a:p>
          <a:p>
            <a:r>
              <a:t>LR LV: $2.04M vs $1.89M (2025)</a:t>
            </a:r>
          </a:p>
          <a:p>
            <a:r>
              <a:t>LR Reno: $428K vs $244K (2023)</a:t>
            </a:r>
          </a:p>
          <a:p>
            <a:r>
              <a:t>Nissan: $677K vs $543K (2025)</a:t>
            </a:r>
          </a:p>
          <a:p>
            <a:r>
              <a:t>Subaru LV: $2.94M vs $2.93M (2025)</a:t>
            </a:r>
          </a:p>
          <a:p>
            <a:r>
              <a:t>Subaru Prescott: $129K vs $110K (2023)</a:t>
            </a:r>
          </a:p>
          <a:p>
            <a:r>
              <a:t>Subaru St George: $1.17M vs $1.06M (2025)</a:t>
            </a:r>
          </a:p>
          <a:p>
            <a:r>
              <a:t>Toyota Flagstaff: $902K vs $771K (2025)</a:t>
            </a:r>
          </a:p>
          <a:p>
            <a:r>
              <a:t>Toyota Henderson: $7.83M vs $6.41M (2025)</a:t>
            </a:r>
          </a:p>
          <a:p>
            <a:r>
              <a:t>Toyota Prescott: $1.17M vs $881K (2025)</a:t>
            </a:r>
          </a:p>
          <a:p>
            <a:r>
              <a:t>Volvo: $1.33M vs $1.18M (2025)</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a:p>
            <a:r>
              <a:t>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Profit &amp; Loss (GM and Detail statements), Jan-Sep 2026 vs 2025, same-store, 33 stores. Absorption includes the GMC Prescott body shop, as on the P&amp;L; gross and net to gross exclude it.PLACE: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$22.59M of the group's $188.80M; VW St George is smallest at $968,018.Source: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grew. Toyota Henderson added the most at +$1.77M (+8.5%); Honda North fell most at −$840K (−8.9%).Source: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LR Henderson what they started this year.Source: Qlik - Profit &amp; Loss. Same-store, INEOS excluded (opened 2026). Fixed ops = service + parts; GMC Prescott body shop gross excluded. Top and bottom three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three vs last year and the top three moving now. Blue bar: a turnaround, on the bottom three vs last year and the top three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$16.38M of the group's $126.87M; VW St George is smallest at $588,480.Source: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grew. Toyota Henderson added the most at +$1.50M (+10.1%); Honda North fell most at −$695K (−10.5%).Source: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Hyundai Prescott what they started this year.Source: Qlik - Profit &amp; Loss. Same-store, INEOS excluded (opened 2026). Fixed ops = service + parts; GMC Prescott body shop gross excluded. Top and bottom three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three vs last year and the top three moving now. Blue bar: a turnaround, on the bottom three vs last year and the top three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$6.21M of the group's $61.93M; VW St George is smallest at $379,537.Source: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grew. Cadillac added the most at +$688K (+28.4%); Audi Reno fell most at −$328K (−18.8%).Source: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Subaru St George what changed. Ask Hyundai St George, Audi Reno and VW Henderson what got in the way. Ask Audi Henderson, Mazda and Honda Flagstaff what they started this year.Source: Qlik - Profit &amp; Loss. Same-store, INEOS excluded (opened 2026). Fixed ops = service + parts; GMC Prescott body shop gross excluded. Top and bottom three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three vs last year and the top three moving now. Blue bar: a turnaround, on the bottom three vs last year and the top three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2026).PLACE: Profitability, in front of Fixed Ops Absorption % (the next slide, the trend). The breakdown of total store fixed expenses is on this slide. The denominator is the P&amp;L's Fixed Expenses line on the GM statement: the whole store's expenses (new, used, service, parts and the GMC Prescott body shop, as on the P&amp;L)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(Noah, Oct 28: kept in).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78.1% group, led by Audi Henderson at 106.6%. Hyundai Prescott is lowest at 46.2%.Source: Qlik - Profit &amp; Loss. Jan-Sep. Same-store, INEOS excluded (opened 2026). P&amp;L line Fixed Ops Absorption % = Total Gross Profit - Fixed Ops / Fixed Expenses. GMC Prescott includes its body shop, as on the P&amp;L (Noah, Oct 28: kept in).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raised absorption, led by Lincoln at +16.1 pts to 59.9%. 10 declined; VW St George fell most at −17.4 pts.Source: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LR Reno what changed. Ask VW St George, Kia St George and VW Henderson what got in the way. Ask LR Henderson, LR Reno and Kia St George what they started this year.Source: Qlik - Profit &amp; Loss. Jan-Sep. Same-store, INEOS excluded (opened 2026). P&amp;L line Fixed Ops Absorption % = Total Gross Profit - Fixed Ops / Fixed Expenses. GMC Prescott includes its body shop, as on the P&amp;L (Noah, Oct 28: kept in). Top and bottom three stores by change in Fixed Ops Absorption %, Jan-Sep 2026 vs 2025. Moving now: Jul-Sep 2026 vs Jan-Mar 2026, each store against itself; the group moved +4.2 pts on the same basis, so part of every store's change is seasonal. Green bar at the right of a row: the store is on both the top three vs last year and the top three moving now. Blue bar: a turnaround, on the bottom three vs last year and the top three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Profit &amp; Loss (GM and Detail statements), Jan-Sep 2026 vs 2025, same-store, 33 stores. Absorption includes the GMC Prescott body shop, as on the P&amp;L; gross and net to gross exclude it.PLACE: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of 33 stores at or above the 21.8% group, led by Honda Henderson at 43.0%. GMC Prescott is lowest at -38.1%.Source: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24 of 33 stores raised service net to gross, led by Hyundai Prescott at +33.5 pts to -19.2%. 9 declined; VW St George fell most at −26.8 pts.Source: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LR Reno what changed. Ask VW St George, Kia St George and Mazda what got in the way. Ask Hyundai Prescott, LR Henderson and LR Reno what they started this year.Source: Qlik - Profit &amp; Loss. Jan-Sep. Same-store, INEOS excluded (opened 2026). Mechanical department profit / mechanical department gross (P&amp;L Detail statement). Body shop is its own department and is not included. Top and bottom three stores by change in Service Net to Gross %, Jan-Sep 2026 vs 2025. Moving now: Jul-Sep 2026 vs Jan-Mar 2026, each store against itself; the group moved +1.0 pts on the same basis, so part of every store's change is seasonal. Green bar at the right of a row: the store is on both the top three vs last year and the top three moving now. Blue bar: a turnaround, on the bottom three vs last year and the top three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36.7% group, led by Subaru St George at 58.7%. Hyundai Prescott is lowest at 10.0%.Source: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raised parts net to gross, led by Lincoln at +14.2 pts to 17.9%. 18 declined; Hyundai Prescott fell most at −12.5 pts.Source: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Acura and Nissan what changed. Ask Hyundai Prescott, Hyundai St George and VW St George what got in the way. Ask LR Reno, VW St George and Mazda what they started this year.Source: Qlik - Profit &amp; Loss. Jan-Sep. Same-store, INEOS excluded (opened 2026). P&amp;A department profit / P&amp;A department gross (P&amp;L Detail statement). Top and bottom three stores by change in Parts Net to Gross %, Jan-Sep 2026 vs 2025. Moving now: Jul-Sep 2026 vs Jan-Mar 2026, each store against itself; the group moved +5.3 pts on the same basis, so part of every store's change is seasonal. Green bar at the right of a row: the store is on both the top three vs last year and the top three moving now. Blue bar: a turnaround, on the bottom three vs last year and the top three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The two Flai voice AI slides (Jul 26 - Oct 26, 2026) follow this one; keep Flai figures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Chevy GMC Bullhead picks up 77.1% of transfers; Kia St George picks up 21.9%. Nissan and Prescott Hyundai hold 272 of the group's 484 open callbacks.Source: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a:t>
            </a:r>
          </a:p>
          <a:p/>
          <a:p>
            <a:r>
              <a:t>Definitions to confirm against Flai: pickup rate is read as the share of transferred calls a person picked up; resolution as the share of callback requests closed. Resolve time in the export runs to weeks at some locations and is not shown.</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53,084; LR Reno is smallest at 1,421.Source: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grew CP RO count, led by Kia LV at +13.7% to 8,133. 13 declined; VW St George fell most at −14.7%.Source: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Kia LV, Hyundai Prescott and GMC Prescott what changed. Ask VW St George, Hyundai St George and Audi Reno what got in the way. Ask Lexus, CDJR Post Falls and LR LV what they started this year.Source: Qlik - Closed Repair Orders. Customer pay, Jan-Sep by close month. Same-store, INEOS excluded (opened 2026). GMC Prescott body shop labor types excluded. Distinct customer-pay ROs: every RO with a customer-pay line, whether or not labor was charged (governed RO Count). Top and bottom three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three vs last year and the top three moving now. Blue bar: a turnaround, on the bottom three vs last year and the top three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78,123; VW St George is smallest at 3,276.Source: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sold more CP hours, led by Subaru St George at +44.6% to 12,766. 10 declined; VW St George fell most at −25.4%.Source: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Kia LV and Kia St George what changed. Ask VW St George, Audi Reno and Volvo what got in the way. Ask Mazda, CDJR Post Falls and Lexus what they started this year.Source: Qlik - Closed Repair Orders. Customer pay, Jan-Sep by close date. Same-store, INEOS excluded (opened 2026). GMC Prescott body shop labor types excluded. Total customer-pay labor hours sold, all CP ROs. Top and bottom three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three vs last year and the top three moving now. Blue bar: a turnaround, on the bottom three vs last year and the top three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$6,602,564 a year = 0.1 x each store's CP RO count x its own CP labor + parts gross per sold hour, Jan-Sep x 12/9 (279,756 CP ROs: 27,976 hours Jan-Sep, 37,301 a year; about $177 an hour on that mix). Same figure as What 0.1 Hour per RO Is Worth and Where the Money Is (Oct 28 audit; was $4,543,691 Jan-Sep labor sale).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sold more hours per RO, led by Hyundai St George at +39.2% (+0.40) to 1.43. 7 declined; LR Reno fell most at −13.7%.Source: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0.1 hour more on every CP RO is worth $6,602,564 a year in added gross. Toyota Henderson leads at $1,164,334.Source: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Subaru St George and Kia St George what changed. Ask LR Reno, VW St George and Volvo what got in the way. Ask Mazda, Hyundai Prescott and Hyundai St George what they started this year.Source: Qlik - Closed Repair Orders. Customer pay, Jan-Sep by close month. Same-store, INEOS excluded (opened 2026). GMC Prescott body shop labor types excluded. Customer-pay sold hours / all customer-pay ROs. Top and bottom three stores by change in CP Hours per RO, Jan-Sep 2026 vs 2025. Moving now: Jul-Sep 2026 vs Jan-Mar 2026, each store against itself; the group moved −1.9% on the same basis, so part of every store's change is seasonal. Green bar at the right of a row: the store is on both the top three vs last year and the top three moving now. Blue bar: a turnaround, on the bottom three vs last year and the top three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Customer pay is 52.5% of labor sale (52.8% in 2025), warranty 23.8%, internal 23.7%. Honda Spokane is most customer-pay at 70.3%.Source: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CP ELR, led by Honda Spokane at +22.9% (+$27) to $144. 14 declined; Kia LV fell most at −19.1%.Source: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Cadillac is lowest at 61.5%.Source: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Spokane, Volvo and Lincoln what changed. Ask Kia LV, Subaru St George and Acura what got in the way. Ask VW St George, Audi Reno and Honda Spokane what they started this year.Source: Qlik - Closed Repair Orders. Customer pay, Jan-Sep by close month. Same-store, INEOS excluded (opened 2026). GMC Prescott body shop labor types excluded. Customer-pay labor sale / customer-pay sold hours. Top and bottom three stores by change in CP ELR, Jan-Sep 2026 vs 2025. Moving now: Jul-Sep 2026 vs Jan-Mar 2026, each store against itself; the group moved +1.1% on the same basis, so part of every store's change is seasonal. Green bar at the right of a row: the store is on both the top three vs last year and the top three moving now. Blue bar: a turnaround, on the bottom three vs last year and the top three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grew CP labor per RO, led by Hyundai St George at +38.4% (+$66) to $238. 7 declined; VW St George fell most at −13.8%.Source: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Lincoln and Subaru Prescott what changed. Ask VW St George, LR Reno and Kia LV what got in the way. Ask Mazda, Kia St George and Hyundai Prescott what they started this year.Source: Qlik - Closed Repair Orders. Customer pay, Jan-Sep by close month. Same-store, INEOS excluded (opened 2026). GMC Prescott body shop labor types excluded. Customer-pay labor sale / all customer-pay ROs (governed Labor Sale/RO). Top and bottom three stores by change in CP Labor $ per RO, Jan-Sep 2026 vs 2025. Moving now: Jul-Sep 2026 vs Jan-Mar 2026, each store against itself; the group moved −0.8% on the same basis, so part of every store's change is seasonal. Green bar at the right of a row: the store is on both the top three vs last year and the top three moving now. Blue bar: a turnaround, on the bottom three vs last year and the top three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80.8% group, led by Volvo at 88.6%. Hyundai Prescott is lowest at 67.7%.Source: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improved labor margin, led by Toyota Prescott at +4.6 pts to 78.5%. 13 declined; Hyundai Prescott fell most at −5.2 pts.Source: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Prescott, Honda Spokane and VW St George what changed. Ask Hyundai Prescott, GMC Prescott and Audi Reno what got in the way. Ask Kia St George, Acura and Cadillac what they started this year.Source: Qlik - Closed Repair Orders. Customer pay, Jan-Sep by close month. Same-store, INEOS excluded (opened 2026). GMC Prescott body shop labor types excluded. Customer-pay labor gross / customer-pay labor sale. Target range 78-80%. Top and bottom three stores by change in CP Labor Gross Profit %, Jan-Sep 2026 vs 2025. Moving now: Jul-Sep 2026 vs Jan-Mar 2026, each store against itself; the group moved +0.0 pts on the same basis, so part of every store's change is seasonal. Green bar at the right of a row: the store is on both the top three vs last year and the top three moving now. Blue bar: a turnaround, on the bottom three vs last year and the top three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a:p>
            <a:r>
              <a:t>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a:t>
            </a:r>
          </a:p>
          <a:p>
            <a:r>
              <a:t>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a:t>
            </a:r>
          </a:p>
          <a:p>
            <a:r>
              <a:t>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at or above the 40.7% group, led by Lexus at 49.0%. Audi Henderson is lowest at 33.6%.Source: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improved parts margin, led by Acura at +6.2 pts to 44.9%. 5 declined; Audi Henderson fell most at −2.2 pts.Source: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Nissan and Subaru Prescott what changed. Ask Audi Henderson, Toyota Spokane and Hyundai Prescott what got in the way. Ask Acura, VW St George and GMC Prescott what they started this year.Source: Qlik - Closed Repair Orders. Customer pay, Jan-Sep by close month. Same-store, INEOS excluded (opened 2026). GMC Prescott body shop labor types excluded. Customer-pay parts gross / customer-pay parts sale on repair orders (counter and wholesale not included). Top and bottom three stores by change in CP Parts Gross Profit %, Jan-Sep 2026 vs 2025. Moving now: Jul-Sep 2026 vs Jan-Mar 2026, each store against itself; the group moved 0.0 pts on the same basis, so part of every store's change is seasonal. Green bar at the right of a row: the store is on both the top three vs last year and the top three moving now. Blue bar: a turnaround, on the bottom three vs last year and the top three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a:t>
            </a:r>
          </a:p>
          <a:p>
            <a:r>
              <a:t>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a:t>
            </a:r>
          </a:p>
          <a:p>
            <a:r>
              <a:t>The 52.5% customer-pay share of labor sale tile was dropped with the rewrite.</a:t>
            </a:r>
          </a:p>
          <a:p>
            <a:r>
              <a:t>Said: Jan GM slide 8 / May GM slide 7 (Express Service), reworded.</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Basic Maintenance Service and ahead of MPI, Video and Photo Completion % (Noah, Oct 27: sets up the three inspection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the 90.0% benchmark; the group is at 81.3%. LR Reno and VW Henderson lead at 99.0%; Cadillac is lowest at 40.5%.Source: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at or above the 57.8% group. VW Henderson leads at 96.0%; Kia St George is lowest at 5.2%.Source: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11 of 28 stores at or above the 45.3% group. Hyundai Prescott leads at 91.2%; Kia St George is lowest at 11.8%.Source: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blank).Five stores do not report photo completion, so the group here is weighted on the 28 stores that do (109,881 CP + warranty ROs, not the 128,726 used for MPI and video).</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8 of 33 stores at or above 15%, led by Audi Henderson at 27.5%. The group sits at 13.2%.Source: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21.7% (2025 14.9%)</a:t>
            </a:r>
          </a:p>
          <a:p>
            <a:r>
              <a:t>HONDA HENDERSON: 21.3% (2025 20.7%)</a:t>
            </a:r>
          </a:p>
          <a:p>
            <a:r>
              <a:t>ACURA: 17.5% (2025 14.1%)</a:t>
            </a:r>
          </a:p>
          <a:p>
            <a:r>
              <a:t>LR LV: 17.3% (2025 11.4%)</a:t>
            </a:r>
          </a:p>
          <a:p>
            <a:r>
              <a:t>MAZDA: 16.6% (2025 9.9%)</a:t>
            </a:r>
          </a:p>
          <a:p>
            <a:r>
              <a:t>HONDA NORTH: 16.1% (2025 14.9%)</a:t>
            </a:r>
          </a:p>
          <a:p>
            <a:r>
              <a:t>HYUNDAI ST GEORGE: 14.8% (2025 5.1%)</a:t>
            </a:r>
          </a:p>
          <a:p>
            <a:r>
              <a:t>SUBARU LV: 14.5% (2025 16.0%)</a:t>
            </a:r>
          </a:p>
          <a:p>
            <a:r>
              <a:t>TOYOTA HENDERSON: 14.5% (2025 15.0%)</a:t>
            </a:r>
          </a:p>
          <a:p>
            <a:r>
              <a:t>CADILLAC: 13.8% (2025 9.7%)</a:t>
            </a:r>
          </a:p>
          <a:p>
            <a:r>
              <a:t>VOLVO: 13.8% (2025 13.4%)</a:t>
            </a:r>
          </a:p>
          <a:p>
            <a:r>
              <a:t>VW HENDERSON: 13.6% (2025 13.4%)</a:t>
            </a:r>
          </a:p>
          <a:p>
            <a:r>
              <a:t>LR RENO: 12.8% (2025 17.7%)</a:t>
            </a:r>
          </a:p>
          <a:p>
            <a:r>
              <a:t>CHEVY LV: 12.8% (2025 13.3%)</a:t>
            </a:r>
          </a:p>
          <a:p>
            <a:r>
              <a:t>SUBARU PRESCOTT: 12.5% (2025 7.0%)</a:t>
            </a:r>
          </a:p>
          <a:p>
            <a:r>
              <a:t>HONDA SPOKANE: 12.5% (2025 10.7%)</a:t>
            </a:r>
          </a:p>
          <a:p>
            <a:r>
              <a:t>TOYOTA PRESCOTT: 12.3% (2025 9.4%)</a:t>
            </a:r>
          </a:p>
          <a:p>
            <a:r>
              <a:t>AUDI RENO: 11.8% (2025 11.7%)</a:t>
            </a:r>
          </a:p>
          <a:p>
            <a:r>
              <a:t>GMC PRESCOTT: 11.7% (2025 4.9%)</a:t>
            </a:r>
          </a:p>
          <a:p>
            <a:r>
              <a:t>LEXUS: 11.3% (2025 8.2%)</a:t>
            </a:r>
          </a:p>
          <a:p>
            <a:r>
              <a:t>CHEVY GMC BULLHEAD: 11.1% (2025 11.1%)</a:t>
            </a:r>
          </a:p>
          <a:p>
            <a:r>
              <a:t>HONDA FLAGSTAFF: 11.0% (2025 5.5%)</a:t>
            </a:r>
          </a:p>
          <a:p>
            <a:r>
              <a:t>SUBARU ST GEORGE: 11.0% (2025 11.9%)</a:t>
            </a:r>
          </a:p>
          <a:p>
            <a:r>
              <a:t>KIA LV: 9.7% (2025 13.3%)</a:t>
            </a:r>
          </a:p>
          <a:p>
            <a:r>
              <a:t>TOYOTA FLAGSTAFF: 9.7% (2025 6.3%)</a:t>
            </a:r>
          </a:p>
          <a:p>
            <a:r>
              <a:t>LINCOLN: 8.4% (2025 2.7%)</a:t>
            </a:r>
          </a:p>
          <a:p>
            <a:r>
              <a:t>KIA ST GEORGE: 8.0% (2025 2.4%)</a:t>
            </a:r>
          </a:p>
          <a:p>
            <a:r>
              <a:t>NISSAN: 7.4% (2025 5.2%)</a:t>
            </a:r>
          </a:p>
          <a:p>
            <a:r>
              <a:t>VW ST GEORGE: 5.6% (2025 3.9%)</a:t>
            </a:r>
          </a:p>
          <a:p>
            <a:r>
              <a:t>TOYOTA SPOKANE: 4.2%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stores under 15% have left $771,957 so far this year; 8 are at or above it. Toyota Spokane is furthest below at −$169K.Source: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every store, gross Jan-Sep 2026 above (+) or below (-) the benchmark at the store's own gross per service; group gross per service $129.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−1,867 opcodes, −$169K Jan-Sep at $90/service</a:t>
            </a:r>
          </a:p>
          <a:p>
            <a:r>
              <a:t>TOYOTA FLAGSTAFF: 9.7%, −799 opcodes, −$67K Jan-Sep at $84/service</a:t>
            </a:r>
          </a:p>
          <a:p>
            <a:r>
              <a:t>NISSAN: 7.4%, −525 opcodes, −$62K Jan-Sep at $119/service</a:t>
            </a:r>
          </a:p>
          <a:p>
            <a:r>
              <a:t>KIA LV: 9.7%, −426 opcodes, −$58K Jan-Sep at $135/service</a:t>
            </a:r>
          </a:p>
          <a:p>
            <a:r>
              <a:t>CHEVY LV: 12.8%, −417 opcodes, −$57K Jan-Sep at $136/service</a:t>
            </a:r>
          </a:p>
          <a:p>
            <a:r>
              <a:t>CDJR POST FALLS: 4.2%, −578 opcodes, −$43K Jan-Sep at $74/service</a:t>
            </a:r>
          </a:p>
          <a:p>
            <a:r>
              <a:t>TOYOTA PRESCOTT: 12.3%, −359 opcodes, −$37K Jan-Sep at $103/service</a:t>
            </a:r>
          </a:p>
          <a:p>
            <a:r>
              <a:t>KIA ST GEORGE: 8.0%, −274 opcodes, −$29K Jan-Sep at $105/service</a:t>
            </a:r>
          </a:p>
          <a:p>
            <a:r>
              <a:t>HONDA SPOKANE: 12.5%, −221 opcodes, −$27K Jan-Sep at $124/service</a:t>
            </a:r>
          </a:p>
          <a:p>
            <a:r>
              <a:t>AUDI RENO: 11.8%, −112 opcodes, −$26K Jan-Sep at $230/service</a:t>
            </a:r>
          </a:p>
          <a:p>
            <a:r>
              <a:t>TOYOTA HENDERSON: 14.5%, −245 opcodes, −$25K Jan-Sep at $102/service</a:t>
            </a:r>
          </a:p>
          <a:p>
            <a:r>
              <a:t>LEXUS: 11.3%, −166 opcodes, −$24K Jan-Sep at $147/service</a:t>
            </a:r>
          </a:p>
          <a:p>
            <a:r>
              <a:t>LINCOLN: 8.4%, −173 opcodes, −$20K Jan-Sep at $114/service</a:t>
            </a:r>
          </a:p>
          <a:p>
            <a:r>
              <a:t>CHEVY GMC BULLHEAD: 11.1%, −243 opcodes, −$19K Jan-Sep at $78/service</a:t>
            </a:r>
          </a:p>
          <a:p>
            <a:r>
              <a:t>VW HENDERSON: 13.6%, −72 opcodes, −$18K Jan-Sep at $245/service</a:t>
            </a:r>
          </a:p>
          <a:p>
            <a:r>
              <a:t>SUBARU ST GEORGE: 11.0%, −218 opcodes, −$17K Jan-Sep at $78/service</a:t>
            </a:r>
          </a:p>
          <a:p>
            <a:r>
              <a:t>HONDA FLAGSTAFF: 11.0%, −158 opcodes, −$16K Jan-Sep at $100/service</a:t>
            </a:r>
          </a:p>
          <a:p>
            <a:r>
              <a:t>VW ST GEORGE: 5.6%, −180 opcodes, −$13K Jan-Sep at $74/service</a:t>
            </a:r>
          </a:p>
          <a:p>
            <a:r>
              <a:t>SUBARU PRESCOTT: 12.5%, −124 opcodes, −$9K Jan-Sep at $73/service</a:t>
            </a:r>
          </a:p>
          <a:p>
            <a:r>
              <a:t>GMC PRESCOTT: 11.7%, −101 opcodes, −$9K Jan-Sep at $85/service</a:t>
            </a:r>
          </a:p>
          <a:p>
            <a:r>
              <a:t>LR RENO: 12.8%, −30 opcodes, −$8K Jan-Sep at $259/service (capped; raw $715/service)</a:t>
            </a:r>
          </a:p>
          <a:p>
            <a:r>
              <a:t>SUBARU LV: 14.5%, −63 opcodes, −$7K Jan-Sep at $117/service</a:t>
            </a:r>
          </a:p>
          <a:p>
            <a:r>
              <a:t>CADILLAC: 13.8%, −60 opcodes, −$7K Jan-Sep at $115/service</a:t>
            </a:r>
          </a:p>
          <a:p>
            <a:r>
              <a:t>VOLVO: 13.8%, −38 opcodes, −$5K Jan-Sep at $142/service</a:t>
            </a:r>
          </a:p>
          <a:p>
            <a:r>
              <a:t>HYUNDAI ST GEORGE: 14.8%, −5 opcodes, −$649 Jan-Sep at $121/service</a:t>
            </a:r>
          </a:p>
          <a:p>
            <a:r>
              <a:t>ACURA: 17.5%, +92 opcodes, +$11K Jan-Sep at $117/service</a:t>
            </a:r>
          </a:p>
          <a:p>
            <a:r>
              <a:t>MAZDA: 16.6%, +97 opcodes, +$13K Jan-Sep at $132/service</a:t>
            </a:r>
          </a:p>
          <a:p>
            <a:r>
              <a:t>LR LV: 17.3%, +84 opcodes, +$18K Jan-Sep at $210/service</a:t>
            </a:r>
          </a:p>
          <a:p>
            <a:r>
              <a:t>HONDA NORTH: 16.1%, +179 opcodes, +$20K Jan-Sep at $112/service</a:t>
            </a:r>
          </a:p>
          <a:p>
            <a:r>
              <a:t>LR HENDERSON: 24.4%, +147 opcodes, +$31K Jan-Sep at $209/service</a:t>
            </a:r>
          </a:p>
          <a:p>
            <a:r>
              <a:t>HYUNDAI PRESCOTT: 21.7%, +137 opcodes, +$31K Jan-Sep at $228/service</a:t>
            </a:r>
          </a:p>
          <a:p>
            <a:r>
              <a:t>AUDI HENDERSON: 27.5%, +473 opcodes, +$123K Jan-Sep at $259/service (capped; raw $390/service)</a:t>
            </a:r>
          </a:p>
          <a:p>
            <a:r>
              <a:t>HONDA HENDERSON: 21.3%, +1,422 opcodes, +$171K Jan-Sep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Hyundai Prescott and GMC Prescott what changed. Ask LR Reno, Kia LV and Subaru LV what got in the way. Ask Audi Henderson, Mazda and Kia St George what they started this year.Source: Qlik - Closed Repair Orders. Customer pay, Jan-Sep by close month. Same-store, INEOS excluded (opened 2026). GMC Prescott body shop labor excluded. Top and bottom three stores by change in Alignment %, Jan-Sep 2026 vs 2025, in points. Moving now: Jul-Sep 2026 vs Jan-Mar 2026, each store against itself; the group moved +0.2 pts on the same basis, so part of every store's change is seasonal. Green bar at the right of a row: the store is on both the top three vs last year and the top three moving now. Blue bar: a turnaround, on the bottom three vs last year and the top three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4 of 33 stores at or above 15%, led by LR Henderson at 27.0%. The group sits at 8.3%.Source: Qlik - Closed Repair Orders. Customer pay, Jan-Sep by close month. Same-store, INEOS excluded (opened 2026). GMC Prescott body shop labor excluded. Jan-Sep 2026 YTD; green at or above the 15% benchmark, red below.</a:t>
            </a:r>
          </a:p>
          <a:p>
            <a:r>
              <a:t>LR HENDERSON: 27.0% (2025 22.8%)</a:t>
            </a:r>
          </a:p>
          <a:p>
            <a:r>
              <a:t>HONDA HENDERSON: 18.4% (2025 17.6%)</a:t>
            </a:r>
          </a:p>
          <a:p>
            <a:r>
              <a:t>LR LV: 16.9% (2025 3.4%)</a:t>
            </a:r>
          </a:p>
          <a:p>
            <a:r>
              <a:t>LR RENO: 16.9% (2025 16.3%)</a:t>
            </a:r>
          </a:p>
          <a:p>
            <a:r>
              <a:t>SUBARU PRESCOTT: 14.9% (2025 0.1%)</a:t>
            </a:r>
          </a:p>
          <a:p>
            <a:r>
              <a:t>ACURA: 14.1% (2025 10.2%)</a:t>
            </a:r>
          </a:p>
          <a:p>
            <a:r>
              <a:t>HYUNDAI PRESCOTT: 13.5% (2025 8.8%)</a:t>
            </a:r>
          </a:p>
          <a:p>
            <a:r>
              <a:t>MAZDA: 13.1% (2025 6.5%)</a:t>
            </a:r>
          </a:p>
          <a:p>
            <a:r>
              <a:t>HONDA NORTH: 12.0% (2025 11.3%)</a:t>
            </a:r>
          </a:p>
          <a:p>
            <a:r>
              <a:t>VOLVO: 11.7% (2025 10.9%)</a:t>
            </a:r>
          </a:p>
          <a:p>
            <a:r>
              <a:t>TOYOTA HENDERSON: 11.2% (2025 11.7%)</a:t>
            </a:r>
          </a:p>
          <a:p>
            <a:r>
              <a:t>SUBARU LV: 10.2% (2025 11.3%)</a:t>
            </a:r>
          </a:p>
          <a:p>
            <a:r>
              <a:t>CHEVY GMC BULLHEAD: 9.0% (2025 6.5%)</a:t>
            </a:r>
          </a:p>
          <a:p>
            <a:r>
              <a:t>VW HENDERSON: 8.2% (2025 7.0%)</a:t>
            </a:r>
          </a:p>
          <a:p>
            <a:r>
              <a:t>GMC PRESCOTT: 7.7% (2025 2.0%)</a:t>
            </a:r>
          </a:p>
          <a:p>
            <a:r>
              <a:t>KIA ST GEORGE: 7.7% (2025 1.1%)</a:t>
            </a:r>
          </a:p>
          <a:p>
            <a:r>
              <a:t>CHEVY LV: 7.3% (2025 4.2%)</a:t>
            </a:r>
          </a:p>
          <a:p>
            <a:r>
              <a:t>TOYOTA PRESCOTT: 6.1% (2025 3.3%)</a:t>
            </a:r>
          </a:p>
          <a:p>
            <a:r>
              <a:t>CADILLAC: 5.9% (2025 2.6%)</a:t>
            </a:r>
          </a:p>
          <a:p>
            <a:r>
              <a:t>KIA LV: 5.2% (2025 6.5%)</a:t>
            </a:r>
          </a:p>
          <a:p>
            <a:r>
              <a:t>TOYOTA FLAGSTAFF: 4.9% (2025 3.6%)</a:t>
            </a:r>
          </a:p>
          <a:p>
            <a:r>
              <a:t>SUBARU ST GEORGE: 3.6% (2025 5.3%)</a:t>
            </a:r>
          </a:p>
          <a:p>
            <a:r>
              <a:t>HONDA SPOKANE: 2.1% (2025 0.1%)</a:t>
            </a:r>
          </a:p>
          <a:p>
            <a:r>
              <a:t>LINCOLN: 1.6% (2025 0.0%)</a:t>
            </a:r>
          </a:p>
          <a:p>
            <a:r>
              <a:t>HONDA FLAGSTAFF: 1.3% (2025 0.1%)</a:t>
            </a:r>
          </a:p>
          <a:p>
            <a:r>
              <a:t>CDJR POST FALLS: 1.2% (2025 0.2%)</a:t>
            </a:r>
          </a:p>
          <a:p>
            <a:r>
              <a:t>HYUNDAI ST GEORGE: 1.2% (2025 0.4%)</a:t>
            </a:r>
          </a:p>
          <a:p>
            <a:r>
              <a:t>NISSAN: 1.0% (2025 2.6%)</a:t>
            </a:r>
          </a:p>
          <a:p>
            <a:r>
              <a:t>TOYOTA SPOKANE: 0.4% (2025 0.2%)</a:t>
            </a:r>
          </a:p>
          <a:p>
            <a:r>
              <a:t>VW ST GEORGE: 0.4% (2025 0.7%)</a:t>
            </a:r>
          </a:p>
          <a:p>
            <a:r>
              <a:t>AUDI RENO: 0.1% (2025 0.1%)</a:t>
            </a:r>
          </a:p>
          <a:p>
            <a:r>
              <a:t>LEXUS: 0.0% (2025 0.0%)</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29 stores under 15% have left $1,248,289 so far this year; 4 are at or above it. Toyota Spokane is furthest below at −$135K.Source: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Tire Balance: every store, gross Jan-Sep 2026 above (+) or below (-) the benchmark at the store's own gross per service; group gross per service $75. Rate = Jan-Sep closing %; green / red bar = top / bottom three by rate. Gray bar = the manufacturer doesn't call for tire balance at that store (AUDI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−2,520 opcodes, −$135K Jan-Sep at $53/service</a:t>
            </a:r>
          </a:p>
          <a:p>
            <a:r>
              <a:t>TOYOTA HENDERSON: 11.2%, −2,004 opcodes, −$111K Jan-Sep at $55/service</a:t>
            </a:r>
          </a:p>
          <a:p>
            <a:r>
              <a:t>TOYOTA PRESCOTT: 6.1%, −1,193 opcodes, −$99K Jan-Sep at $83/service</a:t>
            </a:r>
          </a:p>
          <a:p>
            <a:r>
              <a:t>SUBARU ST GEORGE: 3.6%, −628 opcodes, −$94K Jan-Sep at $149/service (capped; raw $247/service)</a:t>
            </a:r>
          </a:p>
          <a:p>
            <a:r>
              <a:t>TOYOTA FLAGSTAFF: 4.9%, −1,523 opcodes, −$82K Jan-Sep at $54/service</a:t>
            </a:r>
          </a:p>
          <a:p>
            <a:r>
              <a:t>CHEVY LV: 7.3%, −1,501 opcodes, −$80K Jan-Sep at $53/service</a:t>
            </a:r>
          </a:p>
          <a:p>
            <a:r>
              <a:t>HONDA SPOKANE: 2.1%, −1,145 opcodes, −$60K Jan-Sep at $52/service</a:t>
            </a:r>
          </a:p>
          <a:p>
            <a:r>
              <a:t>NISSAN: 1.0%, −972 opcodes, −$58K Jan-Sep at $59/service</a:t>
            </a:r>
          </a:p>
          <a:p>
            <a:r>
              <a:t>CDJR POST FALLS: 1.2%, −736 opcodes, −$55K Jan-Sep at $75/service</a:t>
            </a:r>
          </a:p>
          <a:p>
            <a:r>
              <a:t>KIA LV: 5.2%, −794 opcodes, −$54K Jan-Sep at $68/service</a:t>
            </a:r>
          </a:p>
          <a:p>
            <a:r>
              <a:t>LEXUS: 0.0%, −682 opcodes, −$51K Jan-Sep at $75/service (group avg)</a:t>
            </a:r>
          </a:p>
          <a:p>
            <a:r>
              <a:t>SUBARU LV: 10.2%, −682 opcodes, −$51K Jan-Sep at $75/service</a:t>
            </a:r>
          </a:p>
          <a:p>
            <a:r>
              <a:t>AUDI HENDERSON: 0.0%, −566 opcodes, −$42K Jan-Sep at $75/service (group avg)</a:t>
            </a:r>
          </a:p>
          <a:p>
            <a:r>
              <a:t>AUDI RENO: 0.1%, −522 opcodes, −$39K Jan-Sep at $75/service (group avg)</a:t>
            </a:r>
          </a:p>
          <a:p>
            <a:r>
              <a:t>HONDA FLAGSTAFF: 1.3%, −552 opcodes, −$39K Jan-Sep at $70/service</a:t>
            </a:r>
          </a:p>
          <a:p>
            <a:r>
              <a:t>HONDA NORTH: 12.0%, −450 opcodes, −$29K Jan-Sep at $64/service</a:t>
            </a:r>
          </a:p>
          <a:p>
            <a:r>
              <a:t>HYUNDAI ST GEORGE: 1.2%, −461 opcodes, −$27K Jan-Sep at $58/service</a:t>
            </a:r>
          </a:p>
          <a:p>
            <a:r>
              <a:t>LINCOLN: 1.6%, −351 opcodes, −$23K Jan-Sep at $66/service</a:t>
            </a:r>
          </a:p>
          <a:p>
            <a:r>
              <a:t>VW ST GEORGE: 0.4%, −280 opcodes, −$21K Jan-Sep at $75/service (group avg)</a:t>
            </a:r>
          </a:p>
          <a:p>
            <a:r>
              <a:t>VW HENDERSON: 8.2%, −345 opcodes, −$21K Jan-Sep at $60/service</a:t>
            </a:r>
          </a:p>
          <a:p>
            <a:r>
              <a:t>GMC PRESCOTT: 7.7%, −225 opcodes, −$20K Jan-Sep at $90/service</a:t>
            </a:r>
          </a:p>
          <a:p>
            <a:r>
              <a:t>CHEVY GMC BULLHEAD: 9.0%, −372 opcodes, −$16K Jan-Sep at $42/service</a:t>
            </a:r>
          </a:p>
          <a:p>
            <a:r>
              <a:t>KIA ST GEORGE: 7.7%, −285 opcodes, −$14K Jan-Sep at $48/service</a:t>
            </a:r>
          </a:p>
          <a:p>
            <a:r>
              <a:t>CADILLAC: 5.9%, −483 opcodes, −$11K Jan-Sep at $22/service</a:t>
            </a:r>
          </a:p>
          <a:p>
            <a:r>
              <a:t>MAZDA: 13.1%, −103 opcodes, −$8K Jan-Sep at $79/service</a:t>
            </a:r>
          </a:p>
          <a:p>
            <a:r>
              <a:t>VOLVO: 11.7%, −111 opcodes, −$6K Jan-Sep at $51/service</a:t>
            </a:r>
          </a:p>
          <a:p>
            <a:r>
              <a:t>HYUNDAI PRESCOTT: 13.5%, −29 opcodes, −$4K Jan-Sep at $149/service (capped; raw $311/service)</a:t>
            </a:r>
          </a:p>
          <a:p>
            <a:r>
              <a:t>ACURA: 14.1%, −33 opcodes, −$2K Jan-Sep at $64/service</a:t>
            </a:r>
          </a:p>
          <a:p>
            <a:r>
              <a:t>SUBARU PRESCOTT: 14.9%, −1 opcodes, −$26 Jan-Sep at $34/service</a:t>
            </a:r>
          </a:p>
          <a:p>
            <a:r>
              <a:t>LR RENO: 16.9%, +28 opcodes, +$4K Jan-Sep at $149/service (capped; raw $647/service)</a:t>
            </a:r>
          </a:p>
          <a:p>
            <a:r>
              <a:t>LR LV: 16.9%, +70 opcodes, +$10K Jan-Sep at $149/service</a:t>
            </a:r>
          </a:p>
          <a:p>
            <a:r>
              <a:t>LR HENDERSON: 27.0%, +187 opcodes, +$23K Jan-Sep at $122/service</a:t>
            </a:r>
          </a:p>
          <a:p>
            <a:r>
              <a:t>HONDA HENDERSON: 18.4%, +769 opcodes, +$52K Jan-Sep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Prescott, LR LV and Mazda what changed. Ask Subaru St George, Nissan and Kia LV what got in the way. Ask Mazda, Hyundai Prescott and Honda Spokane what they started this year.Source: Qlik - Closed Repair Orders. Customer pay, Jan-Sep by close month. Same-store, INEOS excluded (opened 2026). GMC Prescott body shop labor excluded. Top and bottom three stores by change in Balance %, Jan-Sep 2026 vs 2025, in points. Not ranked: Audi Henderson, Audi Reno (the manufacturer doesn't call for balance); ranks out of 31. Moving now: Jul-Sep 2026 vs Jan-Mar 2026, each store against itself; the group moved +0.1 pts on the same basis, so part of every store's change is seasonal. Green bar at the right of a row: the store is on both the top three vs last year and the top three moving now. Blue bar: a turnaround, on the bottom three vs last year and the top three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10%, led by LR LV at 20.6%. The group sits at 9.2%.Source: Qlik - Closed Repair Orders. Customer pay, Jan-Sep by close month. Same-store, INEOS excluded (opened 2026). GMC Prescott body shop labor excluded. Jan-Sep 2026 YTD; green at or above the 10% benchmark, red below.</a:t>
            </a:r>
          </a:p>
          <a:p>
            <a:r>
              <a:t>LR LV: 20.6% (2025 15.1%)</a:t>
            </a:r>
          </a:p>
          <a:p>
            <a:r>
              <a:t>HONDA HENDERSON: 15.5% (2025 12.9%)</a:t>
            </a:r>
          </a:p>
          <a:p>
            <a:r>
              <a:t>LR HENDERSON: 14.3% (2025 9.0%)</a:t>
            </a:r>
          </a:p>
          <a:p>
            <a:r>
              <a:t>ACURA: 12.7% (2025 8.5%)</a:t>
            </a:r>
          </a:p>
          <a:p>
            <a:r>
              <a:t>HONDA NORTH: 12.1% (2025 13.1%)</a:t>
            </a:r>
          </a:p>
          <a:p>
            <a:r>
              <a:t>VOLVO: 11.9% (2025 12.0%)</a:t>
            </a:r>
          </a:p>
          <a:p>
            <a:r>
              <a:t>NISSAN: 11.6% (2025 3.7%)</a:t>
            </a:r>
          </a:p>
          <a:p>
            <a:r>
              <a:t>SUBARU ST GEORGE: 10.7% (2025 11.0%)</a:t>
            </a:r>
          </a:p>
          <a:p>
            <a:r>
              <a:t>SUBARU PRESCOTT: 10.6% (2025 6.4%)</a:t>
            </a:r>
          </a:p>
          <a:p>
            <a:r>
              <a:t>HONDA SPOKANE: 10.3% (2025 9.7%)</a:t>
            </a:r>
          </a:p>
          <a:p>
            <a:r>
              <a:t>SUBARU LV: 10.1% (2025 9.2%)</a:t>
            </a:r>
          </a:p>
          <a:p>
            <a:r>
              <a:t>TOYOTA HENDERSON: 10.0% (2025 9.7%)</a:t>
            </a:r>
          </a:p>
          <a:p>
            <a:r>
              <a:t>HYUNDAI PRESCOTT: 9.6% (2025 8.1%)</a:t>
            </a:r>
          </a:p>
          <a:p>
            <a:r>
              <a:t>VW HENDERSON: 9.5% (2025 7.8%)</a:t>
            </a:r>
          </a:p>
          <a:p>
            <a:r>
              <a:t>MAZDA: 8.4% (2025 4.5%)</a:t>
            </a:r>
          </a:p>
          <a:p>
            <a:r>
              <a:t>TOYOTA PRESCOTT: 8.4% (2025 6.0%)</a:t>
            </a:r>
          </a:p>
          <a:p>
            <a:r>
              <a:t>LEXUS: 8.3% (2025 4.9%)</a:t>
            </a:r>
          </a:p>
          <a:p>
            <a:r>
              <a:t>KIA LV: 8.2% (2025 7.2%)</a:t>
            </a:r>
          </a:p>
          <a:p>
            <a:r>
              <a:t>TOYOTA FLAGSTAFF: 8.0% (2025 7.3%)</a:t>
            </a:r>
          </a:p>
          <a:p>
            <a:r>
              <a:t>LINCOLN: 7.5% (2025 2.4%)</a:t>
            </a:r>
          </a:p>
          <a:p>
            <a:r>
              <a:t>LR RENO: 7.2% (2025 2.4%)</a:t>
            </a:r>
          </a:p>
          <a:p>
            <a:r>
              <a:t>CHEVY GMC BULLHEAD: 7.0% (2025 3.7%)</a:t>
            </a:r>
          </a:p>
          <a:p>
            <a:r>
              <a:t>TOYOTA SPOKANE: 7.0% (2025 6.8%)</a:t>
            </a:r>
          </a:p>
          <a:p>
            <a:r>
              <a:t>GMC PRESCOTT: 6.0% (2025 4.5%)</a:t>
            </a:r>
          </a:p>
          <a:p>
            <a:r>
              <a:t>KIA ST GEORGE: 5.9% (2025 3.7%)</a:t>
            </a:r>
          </a:p>
          <a:p>
            <a:r>
              <a:t>CHEVY LV: 5.7% (2025 5.3%)</a:t>
            </a:r>
          </a:p>
          <a:p>
            <a:r>
              <a:t>VW ST GEORGE: 5.4% (2025 3.9%)</a:t>
            </a:r>
          </a:p>
          <a:p>
            <a:r>
              <a:t>HYUNDAI ST GEORGE: 4.7% (2025 1.6%)</a:t>
            </a:r>
          </a:p>
          <a:p>
            <a:r>
              <a:t>CADILLAC: 4.6% (2025 4.1%)</a:t>
            </a:r>
          </a:p>
          <a:p>
            <a:r>
              <a:t>CDJR POST FALLS: 4.2% (2025 5.9%)</a:t>
            </a:r>
          </a:p>
          <a:p>
            <a:r>
              <a:t>HONDA FLAGSTAFF: 3.1% (2025 2.3%)</a:t>
            </a:r>
          </a:p>
          <a:p>
            <a:r>
              <a:t>AUDI HENDERSON: 2.4% (2025 1.8%)</a:t>
            </a:r>
          </a:p>
          <a:p>
            <a:r>
              <a:t>AUDI RENO: 1.9% (2025 0.4%)</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stores under 10% have left $633,493 so far this year; 12 are at or above it. Chevy LV is furthest below at −$113K.Source: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Brake Fluid: every store, gross Jan-Sep 2026 above (+) or below (-) the benchmark at the store's own gross per service; group gross per service $189.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−820 opcodes, −$113K Jan-Sep at $138/service</a:t>
            </a:r>
          </a:p>
          <a:p>
            <a:r>
              <a:t>TOYOTA SPOKANE: 7.0%, −513 opcodes, −$60K Jan-Sep at $117/service</a:t>
            </a:r>
          </a:p>
          <a:p>
            <a:r>
              <a:t>AUDI RENO: 1.9%, −283 opcodes, −$58K Jan-Sep at $206/service</a:t>
            </a:r>
          </a:p>
          <a:p>
            <a:r>
              <a:t>AUDI HENDERSON: 2.4%, −285 opcodes, −$56K Jan-Sep at $196/service</a:t>
            </a:r>
          </a:p>
          <a:p>
            <a:r>
              <a:t>HONDA FLAGSTAFF: 3.1%, −275 opcodes, −$51K Jan-Sep at $184/service</a:t>
            </a:r>
          </a:p>
          <a:p>
            <a:r>
              <a:t>CADILLAC: 4.6%, −284 opcodes, −$43K Jan-Sep at $150/service</a:t>
            </a:r>
          </a:p>
          <a:p>
            <a:r>
              <a:t>CDJR POST FALLS: 4.2%, −309 opcodes, −$39K Jan-Sep at $128/service</a:t>
            </a:r>
          </a:p>
          <a:p>
            <a:r>
              <a:t>TOYOTA FLAGSTAFF: 8.0%, −292 opcodes, −$36K Jan-Sep at $123/service</a:t>
            </a:r>
          </a:p>
          <a:p>
            <a:r>
              <a:t>TOYOTA PRESCOTT: 8.4%, −215 opcodes, −$24K Jan-Sep at $112/service</a:t>
            </a:r>
          </a:p>
          <a:p>
            <a:r>
              <a:t>HYUNDAI ST GEORGE: 4.7%, −176 opcodes, −$24K Jan-Sep at $134/service</a:t>
            </a:r>
          </a:p>
          <a:p>
            <a:r>
              <a:t>KIA ST GEORGE: 5.9%, −158 opcodes, −$19K Jan-Sep at $119/service</a:t>
            </a:r>
          </a:p>
          <a:p>
            <a:r>
              <a:t>KIA LV: 8.2%, −140 opcodes, −$17K Jan-Sep at $120/service</a:t>
            </a:r>
          </a:p>
          <a:p>
            <a:r>
              <a:t>CHEVY GMC BULLHEAD: 7.0%, −184 opcodes, −$16K Jan-Sep at $87/service</a:t>
            </a:r>
          </a:p>
          <a:p>
            <a:r>
              <a:t>GMC PRESCOTT: 6.0%, −122 opcodes, −$15K Jan-Sep at $127/service</a:t>
            </a:r>
          </a:p>
          <a:p>
            <a:r>
              <a:t>LR RENO: 7.2%, −39 opcodes, −$15K Jan-Sep at $377/service (capped; raw $1,380/service)</a:t>
            </a:r>
          </a:p>
          <a:p>
            <a:r>
              <a:t>MAZDA: 8.4%, −86 opcodes, −$13K Jan-Sep at $154/service</a:t>
            </a:r>
          </a:p>
          <a:p>
            <a:r>
              <a:t>LEXUS: 8.3%, −74 opcodes, −$11K Jan-Sep at $154/service</a:t>
            </a:r>
          </a:p>
          <a:p>
            <a:r>
              <a:t>VW ST GEORGE: 5.4%, −88 opcodes, −$10K Jan-Sep at $111/service</a:t>
            </a:r>
          </a:p>
          <a:p>
            <a:r>
              <a:t>LINCOLN: 7.5%, −65 opcodes, −$8K Jan-Sep at $126/service</a:t>
            </a:r>
          </a:p>
          <a:p>
            <a:r>
              <a:t>VW HENDERSON: 9.5%, −25 opcodes, −$3K Jan-Sep at $134/service</a:t>
            </a:r>
          </a:p>
          <a:p>
            <a:r>
              <a:t>HYUNDAI PRESCOTT: 9.6%, −7 opcodes, −$2K Jan-Sep at $354/service</a:t>
            </a:r>
          </a:p>
          <a:p>
            <a:r>
              <a:t>HONDA SPOKANE: 10.3%, +30 opcodes, +$4K Jan-Sep at $126/service</a:t>
            </a:r>
          </a:p>
          <a:p>
            <a:r>
              <a:t>TOYOTA HENDERSON: 10.0%, +36 opcodes, +$5K Jan-Sep at $141/service</a:t>
            </a:r>
          </a:p>
          <a:p>
            <a:r>
              <a:t>SUBARU LV: 10.1%, +20 opcodes, +$7K Jan-Sep at $333/service</a:t>
            </a:r>
          </a:p>
          <a:p>
            <a:r>
              <a:t>SUBARU PRESCOTT: 10.6%, +32 opcodes, +$12K Jan-Sep at $377/service (capped; raw $380/service)</a:t>
            </a:r>
          </a:p>
          <a:p>
            <a:r>
              <a:t>ACURA: 12.7%, +100 opcodes, +$15K Jan-Sep at $147/service</a:t>
            </a:r>
          </a:p>
          <a:p>
            <a:r>
              <a:t>SUBARU ST GEORGE: 10.7%, +42 opcodes, +$16K Jan-Sep at $377/service (capped; raw $489/service)</a:t>
            </a:r>
          </a:p>
          <a:p>
            <a:r>
              <a:t>NISSAN: 11.6%, +115 opcodes, +$18K Jan-Sep at $155/service</a:t>
            </a:r>
          </a:p>
          <a:p>
            <a:r>
              <a:t>VOLVO: 11.9%, +65 opcodes, +$24K Jan-Sep at $377/service (capped; raw $538/service)</a:t>
            </a:r>
          </a:p>
          <a:p>
            <a:r>
              <a:t>LR HENDERSON: 14.3%, +67 opcodes, +$25K Jan-Sep at $377/service (capped; raw $709/service)</a:t>
            </a:r>
          </a:p>
          <a:p>
            <a:r>
              <a:t>HONDA NORTH: 12.1%, +316 opcodes, +$51K Jan-Sep at $160/service</a:t>
            </a:r>
          </a:p>
          <a:p>
            <a:r>
              <a:t>LR LV: 20.6%, +372 opcodes, +$141K Jan-Sep at $377/service (capped; raw $424/service)</a:t>
            </a:r>
          </a:p>
          <a:p>
            <a:r>
              <a:t>HONDA HENDERSON: 15.5%, +1,260 opcodes, +$195K Jan-Sep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Nissan, LR LV and LR Henderson what changed. Ask CDJR Post Falls, Honda North and Subaru St George what got in the way. Ask Mazda, Audi Reno and Kia St George what they started this year.Source: Qlik - Closed Repair Orders. Customer pay, Jan-Sep by close month. Same-store, INEOS excluded (opened 2026). GMC Prescott body shop labor excluded. Top and bottom three stores by change in Brake Fluid %, Jan-Sep 2026 vs 2025, in points. Moving now: Jul-Sep 2026 vs Jan-Mar 2026, each store against itself; the group moved +0.0 pts on the same basis, so part of every store's change is seasonal. Green bar at the right of a row: the store is on both the top three vs last year and the top three moving now. Blue bar: a turnaround, on the bottom three vs last year and the top three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7 of 33 stores at or above 7.5%, led by Subaru St George at 13.8%. The group sits at 5.8%.Source: Qlik - Closed Repair Orders. Customer pay, Jan-Sep by close month. Same-store, INEOS excluded (opened 2026). GMC Prescott body shop labor excluded. Jan-Sep 2026 YTD; green at or above the 7.5% benchmark, red below.</a:t>
            </a:r>
          </a:p>
          <a:p>
            <a:r>
              <a:t>SUBARU ST GEORGE: 13.8% (2025 0.0%)</a:t>
            </a:r>
          </a:p>
          <a:p>
            <a:r>
              <a:t>HONDA HENDERSON: 12.0% (2025 10.4%)</a:t>
            </a:r>
          </a:p>
          <a:p>
            <a:r>
              <a:t>SUBARU PRESCOTT: 9.7% (2025 5.9%)</a:t>
            </a:r>
          </a:p>
          <a:p>
            <a:r>
              <a:t>ACURA: 9.3% (2025 5.3%)</a:t>
            </a:r>
          </a:p>
          <a:p>
            <a:r>
              <a:t>KIA ST GEORGE: 8.9% (2025 5.6%)</a:t>
            </a:r>
          </a:p>
          <a:p>
            <a:r>
              <a:t>LINCOLN: 8.2% (2025 2.1%)</a:t>
            </a:r>
          </a:p>
          <a:p>
            <a:r>
              <a:t>HONDA NORTH: 7.6% (2025 5.3%)</a:t>
            </a:r>
          </a:p>
          <a:p>
            <a:r>
              <a:t>HYUNDAI PRESCOTT: 7.3% (2025 6.6%)</a:t>
            </a:r>
          </a:p>
          <a:p>
            <a:r>
              <a:t>SUBARU LV: 7.0% (2025 8.2%)</a:t>
            </a:r>
          </a:p>
          <a:p>
            <a:r>
              <a:t>TOYOTA PRESCOTT: 6.4% (2025 5.0%)</a:t>
            </a:r>
          </a:p>
          <a:p>
            <a:r>
              <a:t>TOYOTA HENDERSON: 6.0% (2025 6.0%)</a:t>
            </a:r>
          </a:p>
          <a:p>
            <a:r>
              <a:t>HYUNDAI ST GEORGE: 5.8% (2025 2.3%)</a:t>
            </a:r>
          </a:p>
          <a:p>
            <a:r>
              <a:t>TOYOTA SPOKANE: 5.8% (2025 6.0%)</a:t>
            </a:r>
          </a:p>
          <a:p>
            <a:r>
              <a:t>LR LV: 5.5% (2025 0.2%)</a:t>
            </a:r>
          </a:p>
          <a:p>
            <a:r>
              <a:t>CHEVY LV: 5.2% (2025 4.8%)</a:t>
            </a:r>
          </a:p>
          <a:p>
            <a:r>
              <a:t>MAZDA: 5.2% (2025 1.4%)</a:t>
            </a:r>
          </a:p>
          <a:p>
            <a:r>
              <a:t>CADILLAC: 5.1% (2025 4.3%)</a:t>
            </a:r>
          </a:p>
          <a:p>
            <a:r>
              <a:t>LR RENO: 4.5% (2025 0.0%)</a:t>
            </a:r>
          </a:p>
          <a:p>
            <a:r>
              <a:t>LEXUS: 4.2% (2025 1.9%)</a:t>
            </a:r>
          </a:p>
          <a:p>
            <a:r>
              <a:t>NISSAN: 4.1% (2025 0.8%)</a:t>
            </a:r>
          </a:p>
          <a:p>
            <a:r>
              <a:t>GMC PRESCOTT: 3.6% (2025 2.9%)</a:t>
            </a:r>
          </a:p>
          <a:p>
            <a:r>
              <a:t>HONDA SPOKANE: 3.2% (2025 0.0%)</a:t>
            </a:r>
          </a:p>
          <a:p>
            <a:r>
              <a:t>KIA LV: 3.2% (2025 2.9%)</a:t>
            </a:r>
          </a:p>
          <a:p>
            <a:r>
              <a:t>CDJR POST FALLS: 3.0% (2025 3.9%)</a:t>
            </a:r>
          </a:p>
          <a:p>
            <a:r>
              <a:t>CHEVY GMC BULLHEAD: 2.7% (2025 1.8%)</a:t>
            </a:r>
          </a:p>
          <a:p>
            <a:r>
              <a:t>VW ST GEORGE: 2.7% (2025 2.3%)</a:t>
            </a:r>
          </a:p>
          <a:p>
            <a:r>
              <a:t>LR HENDERSON: 2.5% (2025 2.4%)</a:t>
            </a:r>
          </a:p>
          <a:p>
            <a:r>
              <a:t>TOYOTA FLAGSTAFF: 1.6% (2025 1.6%)</a:t>
            </a:r>
          </a:p>
          <a:p>
            <a:r>
              <a:t>AUDI RENO: 0.8% (2025 0.0%)</a:t>
            </a:r>
          </a:p>
          <a:p>
            <a:r>
              <a:t>HONDA FLAGSTAFF: 0.7% (2025 0.6%)</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stores under 7.5% have left $1,017,661 so far this year; 7 are at or above it. Chevy LV is furthest below at −$107K.Source: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Fuel System Service: every store, gross Jan-Sep 2026 above (+) or below (-) the benchmark at the store's own gross per service; group gross per service $165. Rate = Jan-Sep closing %; green / red bar = top / bottom three by rate. Gray bar = the manufacturer doesn't call for fuel system service at that store (VOLVO, AUDI HENDERSON, VW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−439 opcodes, −$107K Jan-Sep at $243/service</a:t>
            </a:r>
          </a:p>
          <a:p>
            <a:r>
              <a:t>TOYOTA HENDERSON: 6.0%, −792 opcodes, −$96K Jan-Sep at $122/service</a:t>
            </a:r>
          </a:p>
          <a:p>
            <a:r>
              <a:t>TOYOTA FLAGSTAFF: 1.6%, −880 opcodes, −$82K Jan-Sep at $93/service</a:t>
            </a:r>
          </a:p>
          <a:p>
            <a:r>
              <a:t>VW HENDERSON: 0.0%, −386 opcodes, −$63K Jan-Sep at $165/service (group avg)</a:t>
            </a:r>
          </a:p>
          <a:p>
            <a:r>
              <a:t>KIA LV: 3.2%, −348 opcodes, −$57K Jan-Sep at $163/service</a:t>
            </a:r>
          </a:p>
          <a:p>
            <a:r>
              <a:t>HONDA SPOKANE: 3.2%, −382 opcodes, −$56K Jan-Sep at $147/service</a:t>
            </a:r>
          </a:p>
          <a:p>
            <a:r>
              <a:t>CHEVY GMC BULLHEAD: 2.7%, −300 opcodes, −$49K Jan-Sep at $163/service</a:t>
            </a:r>
          </a:p>
          <a:p>
            <a:r>
              <a:t>NISSAN: 4.1%, −231 opcodes, −$48K Jan-Sep at $206/service</a:t>
            </a:r>
          </a:p>
          <a:p>
            <a:r>
              <a:t>AUDI HENDERSON: 0.0%, −283 opcodes, −$47K Jan-Sep at $165/service (group avg)</a:t>
            </a:r>
          </a:p>
          <a:p>
            <a:r>
              <a:t>CDJR POST FALLS: 3.0%, −241 opcodes, −$46K Jan-Sep at $192/service</a:t>
            </a:r>
          </a:p>
          <a:p>
            <a:r>
              <a:t>HONDA FLAGSTAFF: 0.7%, −273 opcodes, −$45K Jan-Sep at $165/service (group avg)</a:t>
            </a:r>
          </a:p>
          <a:p>
            <a:r>
              <a:t>TOYOTA SPOKANE: 5.8%, −290 opcodes, −$42K Jan-Sep at $145/service</a:t>
            </a:r>
          </a:p>
          <a:p>
            <a:r>
              <a:t>VOLVO: 0.0%, −255 opcodes, −$42K Jan-Sep at $165/service (group avg)</a:t>
            </a:r>
          </a:p>
          <a:p>
            <a:r>
              <a:t>AUDI RENO: 0.8%, −234 opcodes, −$39K Jan-Sep at $165/service (group avg)</a:t>
            </a:r>
          </a:p>
          <a:p>
            <a:r>
              <a:t>CADILLAC: 5.1%, −128 opcodes, −$34K Jan-Sep at $269/service</a:t>
            </a:r>
          </a:p>
          <a:p>
            <a:r>
              <a:t>LR HENDERSON: 2.5%, −77 opcodes, −$25K Jan-Sep at $329/service (capped; raw $774/service)</a:t>
            </a:r>
          </a:p>
          <a:p>
            <a:r>
              <a:t>VW ST GEORGE: 2.7%, −92 opcodes, −$22K Jan-Sep at $236/service</a:t>
            </a:r>
          </a:p>
          <a:p>
            <a:r>
              <a:t>MAZDA: 5.2%, −131 opcodes, −$20K Jan-Sep at $150/service</a:t>
            </a:r>
          </a:p>
          <a:p>
            <a:r>
              <a:t>LEXUS: 4.2%, −147 opcodes, −$19K Jan-Sep at $128/service</a:t>
            </a:r>
          </a:p>
          <a:p>
            <a:r>
              <a:t>LR LV: 5.5%, −69 opcodes, −$18K Jan-Sep at $258/service</a:t>
            </a:r>
          </a:p>
          <a:p>
            <a:r>
              <a:t>GMC PRESCOTT: 3.6%, −120 opcodes, −$16K Jan-Sep at $133/service</a:t>
            </a:r>
          </a:p>
          <a:p>
            <a:r>
              <a:t>TOYOTA PRESCOTT: 6.4%, −140 opcodes, −$14K Jan-Sep at $101/service</a:t>
            </a:r>
          </a:p>
          <a:p>
            <a:r>
              <a:t>LR RENO: 4.5%, −42 opcodes, −$14K Jan-Sep at $329/service (capped; raw $1,631/service)</a:t>
            </a:r>
          </a:p>
          <a:p>
            <a:r>
              <a:t>HYUNDAI ST GEORGE: 5.8%, −54 opcodes, −$10K Jan-Sep at $176/service</a:t>
            </a:r>
          </a:p>
          <a:p>
            <a:r>
              <a:t>SUBARU LV: 7.0%, −59 opcodes, −$8K Jan-Sep at $130/service</a:t>
            </a:r>
          </a:p>
          <a:p>
            <a:r>
              <a:t>HYUNDAI PRESCOTT: 7.3%, −3 opcodes, −$905 Jan-Sep at $329/service (capped; raw $459/service)</a:t>
            </a:r>
          </a:p>
          <a:p>
            <a:r>
              <a:t>HONDA NORTH: 7.6%, +25 opcodes, +$3K Jan-Sep at $118/service</a:t>
            </a:r>
          </a:p>
          <a:p>
            <a:r>
              <a:t>LINCOLN: 8.2%, +19 opcodes, +$3K Jan-Sep at $175/service</a:t>
            </a:r>
          </a:p>
          <a:p>
            <a:r>
              <a:t>KIA ST GEORGE: 8.9%, +57 opcodes, +$9K Jan-Sep at $154/service</a:t>
            </a:r>
          </a:p>
          <a:p>
            <a:r>
              <a:t>ACURA: 9.3%, +69 opcodes, +$10K Jan-Sep at $145/service</a:t>
            </a:r>
          </a:p>
          <a:p>
            <a:r>
              <a:t>SUBARU PRESCOTT: 9.7%, +117 opcodes, +$39K Jan-Sep at $329/service (capped; raw $406/service)</a:t>
            </a:r>
          </a:p>
          <a:p>
            <a:r>
              <a:t>SUBARU ST GEORGE: 13.8%, +353 opcodes, +$54K Jan-Sep at $153/service</a:t>
            </a:r>
          </a:p>
          <a:p>
            <a:r>
              <a:t>HONDA HENDERSON: 12.0%, +1,024 opcodes, +$138K Jan-Sep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Lincoln and LR LV what changed. Ask Subaru LV, CDJR Post Falls and Toyota Spokane what got in the way. Ask Mazda, Hyundai St George and Honda Spokane what they started this year.Source: Qlik - Closed Repair Orders. Customer pay, Jan-Sep by close month. Same-store, INEOS excluded (opened 2026). GMC Prescott body shop labor excluded. Top and bottom three stores by change in Fuel Service %, Jan-Sep 2026 vs 2025, in points. Not ranked: Volvo, Audi Henderson, VW Henderson, Audi Reno (the manufacturer doesn't call for fuel service); ranks out of 29. Moving now: Jul-Sep 2026 vs Jan-Mar 2026, each store against itself; the group moved −0.3 pts on the same basis, so part of every store's change is seasonal. Green bar at the right of a row: the store is on both the top three vs last year and the top three moving now. Blue bar: a turnaround, on the bottom three vs last year and the top three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Spokane is furthest below at −$406K so far this year; 7 of 33 stores are ahead of benchmark on net across the four services. 15 stores miss every benchmark that applies to them; 1 store misses none.Source: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tire balance, brake fluid and fuel system service added together, every store: gross Jan-Sep 2026 above (+) or below (-) the four benchmarks, at the store's own gross per service. Opcodes = the four services' opcodes above (+) or below (-) their benchmarks, added together; green / red bar = top / bottom three by opcodes. Missed = services under benchmark out of those the manufacturer calls for at the store (tire balance at the Audi stores and fuel system service at Volvo, Audi Henderson, VW Henderson and Audi Reno are left out). Below-benchmark services count against above-benchmark ones here.TOYOTA SPOKANE: −$406K, −5,191 opcodes Jan-Sep against the four benchmarks; under 4 of 4</a:t>
            </a:r>
          </a:p>
          <a:p>
            <a:r>
              <a:t>CHEVY LV: −$356K, −3,177 opcodes Jan-Sep against the four benchmarks; under 4 of 4</a:t>
            </a:r>
          </a:p>
          <a:p>
            <a:r>
              <a:t>TOYOTA FLAGSTAFF: −$267K, −3,494 opcodes Jan-Sep against the four benchmarks; under 4 of 4</a:t>
            </a:r>
          </a:p>
          <a:p>
            <a:r>
              <a:t>TOYOTA HENDERSON: −$227K, −3,005 opcodes Jan-Sep against the four benchmarks; under 3 of 4</a:t>
            </a:r>
          </a:p>
          <a:p>
            <a:r>
              <a:t>KIA LV: −$185K, −1,708 opcodes Jan-Sep against the four benchmarks; under 4 of 4</a:t>
            </a:r>
          </a:p>
          <a:p>
            <a:r>
              <a:t>CDJR POST FALLS: −$184K, −1,863 opcodes Jan-Sep against the four benchmarks; under 4 of 4</a:t>
            </a:r>
          </a:p>
          <a:p>
            <a:r>
              <a:t>TOYOTA PRESCOTT: −$175K, −1,906 opcodes Jan-Sep against the four benchmarks; under 4 of 4</a:t>
            </a:r>
          </a:p>
          <a:p>
            <a:r>
              <a:t>AUDI RENO: −$162K, −1,152 opcodes Jan-Sep against the four benchmarks; under 2 of 2</a:t>
            </a:r>
          </a:p>
          <a:p>
            <a:r>
              <a:t>HONDA FLAGSTAFF: −$150K, −1,257 opcodes Jan-Sep against the four benchmarks; under 4 of 4</a:t>
            </a:r>
          </a:p>
          <a:p>
            <a:r>
              <a:t>NISSAN: −$150K, −1,613 opcodes Jan-Sep against the four benchmarks; under 3 of 4</a:t>
            </a:r>
          </a:p>
          <a:p>
            <a:r>
              <a:t>HONDA SPOKANE: −$140K, −1,717 opcodes Jan-Sep against the four benchmarks; under 3 of 4</a:t>
            </a:r>
          </a:p>
          <a:p>
            <a:r>
              <a:t>LEXUS: −$105K, −1,068 opcodes Jan-Sep against the four benchmarks; under 4 of 4</a:t>
            </a:r>
          </a:p>
          <a:p>
            <a:r>
              <a:t>VW HENDERSON: −$105K, −827 opcodes Jan-Sep against the four benchmarks; under 3 of 3</a:t>
            </a:r>
          </a:p>
          <a:p>
            <a:r>
              <a:t>CHEVY GMC BULLHEAD: −$100K, −1,100 opcodes Jan-Sep against the four benchmarks; under 4 of 4</a:t>
            </a:r>
          </a:p>
          <a:p>
            <a:r>
              <a:t>CADILLAC: −$94K, −954 opcodes Jan-Sep against the four benchmarks; under 4 of 4</a:t>
            </a:r>
          </a:p>
          <a:p>
            <a:r>
              <a:t>VW ST GEORGE: −$66K, −640 opcodes Jan-Sep against the four benchmarks; under 4 of 4</a:t>
            </a:r>
          </a:p>
          <a:p>
            <a:r>
              <a:t>HYUNDAI ST GEORGE: −$61K, −697 opcodes Jan-Sep against the four benchmarks; under 4 of 4</a:t>
            </a:r>
          </a:p>
          <a:p>
            <a:r>
              <a:t>GMC PRESCOTT: −$60K, −568 opcodes Jan-Sep against the four benchmarks; under 4 of 4</a:t>
            </a:r>
          </a:p>
          <a:p>
            <a:r>
              <a:t>SUBARU LV: −$59K, −783 opcodes Jan-Sep against the four benchmarks; under 3 of 4</a:t>
            </a:r>
          </a:p>
          <a:p>
            <a:r>
              <a:t>KIA ST GEORGE: −$53K, −660 opcodes Jan-Sep against the four benchmarks; under 3 of 4</a:t>
            </a:r>
          </a:p>
          <a:p>
            <a:r>
              <a:t>LINCOLN: −$48K, −569 opcodes Jan-Sep against the four benchmarks; under 3 of 4</a:t>
            </a:r>
          </a:p>
          <a:p>
            <a:r>
              <a:t>SUBARU ST GEORGE: −$41K, −452 opcodes Jan-Sep against the four benchmarks; under 2 of 4</a:t>
            </a:r>
          </a:p>
          <a:p>
            <a:r>
              <a:t>LR RENO: −$32K, −83 opcodes Jan-Sep against the four benchmarks; under 3 of 4</a:t>
            </a:r>
          </a:p>
          <a:p>
            <a:r>
              <a:t>VOLVO: −$29K, −340 opcodes Jan-Sep against the four benchmarks; under 2 of 3</a:t>
            </a:r>
          </a:p>
          <a:p>
            <a:r>
              <a:t>MAZDA: −$28K, −223 opcodes Jan-Sep against the four benchmarks; under 3 of 4</a:t>
            </a:r>
          </a:p>
          <a:p>
            <a:r>
              <a:t>AUDI HENDERSON: −$22K, −661 opcodes Jan-Sep against the four benchmarks; under 1 of 2</a:t>
            </a:r>
          </a:p>
          <a:p>
            <a:r>
              <a:t>HYUNDAI PRESCOTT: +$23K, +97 opcodes Jan-Sep against the four benchmarks; under 3 of 4</a:t>
            </a:r>
          </a:p>
          <a:p>
            <a:r>
              <a:t>ACURA: +$33K, +228 opcodes Jan-Sep against the four benchmarks; under 1 of 4</a:t>
            </a:r>
          </a:p>
          <a:p>
            <a:r>
              <a:t>SUBARU PRESCOTT: +$41K, +24 opcodes Jan-Sep against the four benchmarks; under 2 of 4</a:t>
            </a:r>
          </a:p>
          <a:p>
            <a:r>
              <a:t>HONDA NORTH: +$45K, +70 opcodes Jan-Sep against the four benchmarks; under 1 of 4</a:t>
            </a:r>
          </a:p>
          <a:p>
            <a:r>
              <a:t>LR HENDERSON: +$54K, +324 opcodes Jan-Sep against the four benchmarks; under 1 of 4</a:t>
            </a:r>
          </a:p>
          <a:p>
            <a:r>
              <a:t>LR LV: +$151K, +456 opcodes Jan-Sep against the four benchmarks; under 1 of 4</a:t>
            </a:r>
          </a:p>
          <a:p>
            <a:r>
              <a:t>HONDA HENDERSON: +$557K, +4,476 opcodes Jan-Sep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a:t>
            </a:r>
          </a:p>
          <a:p>
            <a:r>
              <a:t>Talk track: internal work is protected gross generated on our own vehicles.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a:t>
            </a:r>
          </a:p>
          <a:p>
            <a:r>
              <a:t>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at or above the $130 group, led by LR Reno at $207. Nissan is lowest at $87.Source: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raised internal ELR, led by Hyundai St George at +29.5% (+$47) to $205. 13 declined; Nissan fell most at −27.2%.Source: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LR Reno and Lincoln what changed. Ask Nissan, Kia LV and Mazda what got in the way. Ask Acura, Hyundai St George and Toyota Henderson what they started this year.Source: Qlik - Closed Repair Orders. Jan-Sep by close month. Same-store, INEOS excluded (opened 2026). GMC Prescott body shop labor types excluded. Internal labor sale / internal sold hours. A higher internal rate adds service gross but is a cost to used cars. Top and bottom three stores by change in Internal ELR, Jan-Sep 2026 vs 2025. Moving now: Jul-Sep 2026 vs Jan-Mar 2026, each store against itself; the group moved +4.1% on the same basis, so part of every store's change is seasonal. Green bar at the right of a row: the store is on both the top three vs last year and the top three moving now. Blue bar: a turnaround, on the bottom three vs last year and the top three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collect less labor margin on internal work than on customer pay; the group is −2.7 pts. Widest: Audi Reno (−20.0 pts), LR LV (−13.9 pts) and LR Henderson (−12.2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(−2.7 pts). At or above customer pay: Cadillac, Chevy GMC Bullhead, GMC Prescott, Hyundai Prescott, Hyundai St George, Kia LV, Kia St George and VW St George.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internal labor GP%, led by Acura at +5.6 pts to 77.2%. 14 declined; Nissan fell most at −8.8 pts.Source: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Honda Spokane and LR Reno what changed. Ask Nissan, LR LV and Mazda what got in the way. Ask LR Henderson, Kia St George and Hyundai St George what they started this year.Source: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three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three vs last year and the top three moving now. Blue bar: a turnaround, on the bottom three vs last year and the top three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collect less parts margin on internal work than on customer pay; the group is −4.2 pts. Widest: LR LV (−17.6 pts), Honda Flagstaff (−15.4 pts) and Audi Reno (−14.7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(−4.2 pts). At or above customer pay: Chevy LV, Honda Henderson, Subaru Prescott, Toyota Henderson and Volvo.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raised internal parts GP%, led by Acura at +6.2 pts to 34.0%. 12 declined; VW St George fell most at −4.8 pts.Source: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Hyundai Prescott and Honda Flagstaff what changed. Ask VW St George, Kia LV and GMC Prescott what got in the way. Ask LR Reno, CDJR Post Falls and LR Henderson what they started this year.Source: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three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three vs last year and the top three moving now. Blue bar: a turnaround, on the bottom three vs last year and the top three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stores added fixed staff, led by Mazda (+5); 23 reduced, led by Chevy LV (−21).Source: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$13,617 group, led by Audi Henderson at $23,461. Honda Flagstaff is lowest at $9,149.Source: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27 of 33 stores raised gross per employee, led by Subaru St George at +$4,158 to $15,556. 6 declined; VW St George fell most at −$1,319.Source: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Hyundai Prescott and Lincoln what changed. Ask VW St George, Kia St George and Cadillac what got in the way. Ask LR Henderson, Subaru St George and LR Reno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three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three vs last year and the top three moving now. Blue bar: a turnaround, on the bottom three vs last year and the top three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Standard service-department definitions. On the store slides, proficiency = Qlik hours flagged (sold hours) ÷ ADP regular + overtime hours, = clocked hours (vacation, PTO and holiday pay excluded). Efficiency and productivity need DMS time clocked to repair orders, which this data does not include, so they are defined here but not measured. The example is illustrative, not a store or technician.PLACE: right after the Technician Proficiency explainer, before How We Measured It (Noah, Oct 27).</a:t>
            </a:r>
          </a:p>
          <a:p>
            <a:r>
              <a:t>Talk track: walk the example left to right. The tech was on repair orders 6 of 8 hours (75% productive) and flagged 7.5 hours in those 6 (125% efficient), so 7.5 flagged hours for 8 clocked (93.75% proficient). Proficiency is the one we measure: 85% target, group 94.7%. 'Productivity' here is the technician measure, not the Fixed Ops Productivity section (gross and ROs per employee).</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'Technician Proficiency' (explainer).</a:t>
            </a:r>
          </a:p>
          <a:p>
            <a:r>
              <a:t>Period: pay periods Dec 25, 2025 to Oct 9, 2026, matched by tech number, all pay types; labelled Jan-Sep 2026 YTD on the slide (Noah, Oct 26: closest the pay periods allow).</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at or above the 85% target and 12 above 100%. Group 94.7%, led by Honda Henderson at 118.5%; Acura lowest at 67.4%.Source: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Six stores hold $647K a month, led by Cadillac at $158K. 20 stores at or above 85% still leave $818K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Group-wide the gap is 8.1% of RO gross. 7 stores show 20% or more, led by Hyundai St George at 32% ($88K of $277K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One minute a day per tech: Toyota Henderson $43,256 a year. Volvo techs are worth the most per minute at $4.99.Source: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Rates Are Rising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Rate increases: YTD RWR Financials 2026 (warranty rate submission vendor), "YTD revenue secured" = added gross profit from approved increases (labor $1,661,368, parts $2,126,832); 14 stores have no approval yet. Rates: Qlik - Closed Repair Orders, warranty pay type by close month; ELR = warranty labor sale / hours sold; parts margin = warranty parts gross / parts sale. 2025 January-December, 2026 January-September. Same-store.Talk track (Noah, Oct 24-25): rate increases are new money on every warranty claim, and they show up as a higher warranty ELR and parts margin. The factory notices higher rates too: more money in means more scrutiny, so documentation and process on every claim is how we keep what we are owed.</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 vs Jan-Sep 2025; 2025 shown January-December. Store rows reconcile to the group to the cent,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Cadillac leads at $6.13M of the group's $47.07M; Honda Flagstaff is smallest at $135,184.Source: Qlik - Profit &amp; Loss, Gross Profit - Fixed Ops Warranty (service + parts warranty gross). Same-store, INEOS excluded (opened 2026); no body shop.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18 of 33 stores grew warranty gross. Cadillac added the most at +$2.03M (+49.5%); VW Henderson fell most at −$822K (−35.0%).Source: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Cadillac, Lexus and Audi Henderson what changed. Ask Acura, Honda Flagstaff and VW Henderson what got in the way. Ask Honda North, LR LV and Nissan what they started this year.Source: Qlik - Profit &amp; Loss, Gross Profit - Fixed Ops Warranty (service + parts warranty gross). Same-store, INEOS excluded (opened 2026); no body shop. Top and bottom three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three vs last year and the top three moving now. Blue bar: a turnaround, on the bottom three vs last year and the top three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Labor $ per RO: top HYUNDAI ST GEORGE $172 → $238; LINCOLN $306 → $416; SUBARU PRESCOTT $163 → $222. Bottom KIA LV $244 → $234; LR RENO $876 → $817; VW ST GEORGE $268 → $231.Takeaway with the store call-outs (off the slide): Most top-three finishes: Lincoln, Subaru Prescott and Subaru St George (2 of 5). Most bottom-three: VW St George (4 of 5).Source: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 CP labor $ per RO = CP labor sale / CP ROs.</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Fixed Ops Net Profit: top TOYOTA HENDERSON $6.41M → $7.83M; AUDI HENDERSON $4.11M → $4.94M; CADILLAC $1.83M → $2.60M. Bottom TOYOTA SPOKANE $967K → $699K; VW HENDERSON $1.55M → $1.09M; CHEVY LV $2.91M → $2.27M.</a:t>
            </a:r>
          </a:p>
          <a:p>
            <a:r>
              <a:t>Fixed Absorption: top LINCOLN 43.8% → 59.9%; CADILLAC 76.5% → 86.1%; LR RENO 67.8% → 77.3%. Bottom VW HENDERSON 93.5% → 83.8%; KIA ST GEORGE 75.9% → 65.8%; VW ST GEORGE 71.5% → 54.1%.</a:t>
            </a:r>
          </a:p>
          <a:p>
            <a:r>
              <a:t>CP Parts GP %: top ACURA 38.7% → 44.9%; NISSAN 38.2% → 42.7%; SUBARU PRESCOTT 31.0% → 34.8%. Bottom HYUNDAI PRESCOTT 39.9% → 39.4%; TOYOTA SPOKANE 45.3% → 44.5%; AUDI HENDERSON 35.8% → 33.6%.</a:t>
            </a:r>
          </a:p>
          <a:p>
            <a:r>
              <a:t>Opcodes, Four Combined: top LR LV 30.2% → 60.5%; SUBARU PRESCOTT 19.5% → 47.9%; MAZDA 22.5% → 43.5%. Bottom TOYOTA HENDERSON 42.5% → 41.8%; SUBARU LV 44.9% → 42.0%; KIA LV 30.0% → 26.4%.Takeaway with the store call-outs (off the slide): Most top-three finishes: Lincoln, Subaru Prescott and Subaru St George (2 of 4). Most bottom-three: Toyota Spokane and VW Henderson (2 of 4).Source: Fixed ops net profit: Qlik - Profit &amp; Loss, service + parts department profit, change in dollars (several stores lost money in 2025, so a percent change misleads). Fixed absorption: P&amp;L, fixed ops gross / total store fixed expenses, GMC Prescott body shop in, as on the P&amp;L. CP parts GP %: Qlik - Closed Repair Orders. Opcodes: alignment + balance + brake fluid + fuel services / customer-pay ROs on the op-code report basis. Same-store, 33 stores. Points for absorption, parts GP % and opcodes.</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Labor $ per RO: top MAZDA $224 → $273; KIA ST GEORGE $171 → $201; HYUNDAI PRESCOTT $207 → $240. Bottom CADILLAC $483 → $430; LEXUS $427 → $377; SUBARU ST GEORGE $343 → $301.Takeaway with the store call-outs (off the slide): Most top-three finishes: Mazda, CDJR Post Falls and VW St George (2 of 5). Most bottom-three: Cadillac (4 of 5).Source: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CP labor $ per RO = CP labor sale / CP ROs.</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Fixed Ops Net Profit per Month: top HONDA HENDERSON $586K → $725K; TOYOTA HENDERSON $795K → $934K; CHEVY LV $181K → $294K. Bottom AUDI RENO $212K → $187K; ACURA $61K → $31K; KIA LV $240K → $179K.</a:t>
            </a:r>
          </a:p>
          <a:p>
            <a:r>
              <a:t>Fixed Absorption: top LR HENDERSON 66.7% → 82.9%; LR RENO 69.5% → 84.8%; KIA ST GEORGE 62.0% → 73.1%. Bottom AUDI RENO 106.5% → 100.4%; ACURA 64.6% → 58.0%; KIA LV 84.3% → 74.6%.</a:t>
            </a:r>
          </a:p>
          <a:p>
            <a:r>
              <a:t>CP Parts GP %: top ACURA 39.4% → 46.6%; VW ST GEORGE 39.1% → 43.8%; GMC PRESCOTT 35.3% → 39.2%. Bottom CHEVY LV 38.2% → 35.0%; LINCOLN 39.9% → 36.0%; HONDA HENDERSON 44.3% → 40.0%.</a:t>
            </a:r>
          </a:p>
          <a:p>
            <a:r>
              <a:t>Opcodes, Four Combined: top MAZDA 30.5% → 66.9%; HYUNDAI PRESCOTT 43.8% → 62.4%; KIA ST GEORGE 21.2% → 37.1%. Bottom CADILLAC 29.4% → 21.3%; SUBARU ST GEORGE 45.1% → 35.4%; HONDA HENDERSON 72.5% → 61.2%.Takeaway with the store call-outs (off the slide): Most top-three finishes: Mazda, CDJR Post Falls and VW St George (2 of 4). Most bottom-three: Audi Reno, Acura, Kia LV and Honda Henderson (2 of 4).Source: Q3 2026 (Jul-Sep) vs Q1 2026 (Jan-Mar), each store against itself. Gross, ROs and net profit per month. Fixed ops net profit: Qlik - Profit &amp; Loss, service + parts department profit, change in dollars per month. Fixed absorption: P&amp;L, fixed ops gross / total store fixed expenses, GMC Prescott body shop in, as on the P&amp;L. CP parts GP %: Qlik - Closed Repair Orders. Opcodes: alignment + balance + brake fluid + fuel services / customer-pay ROs on the op-code report basis. Same-store, 33 stores. The group's own move is the season.</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Last year: Two stores tie. Moving now: KIA ST GEORGE leads. One store is on both lists (green bar).Source: Qlik - Closed Repair Orders. Customer pay, by close date. Same-store, 33 stores (INEOS excluded, opened 2026). GMC Prescott body shop labor types excluded. CP gross = CP labor gross + CP parts gross. Left: Jan-Sep 2026 vs Jan-Sep 2025. Right: Q3 2026 vs Q1 2026. Top-5 finishes counted across eight measures (parts $ per RO dropped, Oct 23); CP labor $ per RO (percent), fixed absorption and the four opcodes combined (points) added Oct 29; fixed ops net profit left out (ranked in dollars, it favors larger stores);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the four opcodes included.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(ten minutes per tech per day). Jan-Sep 2026, same-store, 33 stores. The levers overlap - op code services are part of hours per RO, and selling more hours needs tech time - so they are not added together.Talk track: every line is the GM's and the service manager's together (Noah, Oct 27).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$911K a year. Store proficiency 67%. Each tech under 85% raised to 85% of their own clocked hours, valued at the store's labor + parts gross per flagged hour: $76K a month x 12.</a:t>
            </a:r>
          </a:p>
          <a:p/>
          <a:p>
            <a:r>
              <a:t>2. Service gross - $584K a year. Service gross $1,887,657 vs $2,325,579 Jan–Sep 2025, x 12/9. Overlaps the CP lines.</a:t>
            </a:r>
          </a:p>
          <a:p/>
          <a:p>
            <a:r>
              <a:t>3. CP hours per RO - $292K a year. 1.42 vs the non-luxury 1.75: gap x 3,671 CP ROs x $183 an hour x 12/9.</a:t>
            </a:r>
          </a:p>
          <a:p/>
          <a:p>
            <a:r>
              <a:t>4. CP RO count - $109K a year. 239 fewer CP ROs than Jan–Sep 2025 x $342 a RO x 12/9.</a:t>
            </a:r>
          </a:p>
          <a:p/>
          <a:p>
            <a:r>
              <a:t>5. Parts gross - $105K a year. Parts gross $1,005,492 vs $1,084,358 Jan–Sep 2025, x 12/9. Overlaps CP parts GP.</a:t>
            </a:r>
          </a:p>
          <a:p/>
          <a:p>
            <a:r>
              <a:t>6. MPI completion - not priced. 83.4% of 1,611 CP &amp; W ROs Jul–Sep vs 90%: 425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$1.22M a year. Store proficiency 91%. Each tech under 85% raised to 85% of their own clocked hours, valued at the store's labor + parts gross per flagged hour: $102K a month x 12.</a:t>
            </a:r>
          </a:p>
          <a:p/>
          <a:p>
            <a:r>
              <a:t>2. CP parts GP % - $284K a year. 33.6% vs the luxury 41.3% x $2.78M CP parts sale x 12/9.</a:t>
            </a:r>
          </a:p>
          <a:p/>
          <a:p>
            <a:r>
              <a:t>3. Brake fluid - $74K a year. Brake fluid 2.4% vs 10%: 380 more a year (Jan–Sep x 12/9) x $196 gross a service.</a:t>
            </a:r>
          </a:p>
          <a:p/>
          <a:p>
            <a:r>
              <a:t>4. MPI completion - not priced. 79.0% of 2,891 CP &amp; W ROs Jul–Sep vs 90%: 1,272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Parts gross - $437K a year. Parts gross $1,419,540 vs $1,747,458 Jan–Sep 2025, x 12/9. Overlaps CP parts GP.</a:t>
            </a:r>
          </a:p>
          <a:p/>
          <a:p>
            <a:r>
              <a:t>2. Service gross - $256K a year. Service gross $3,040,297 vs $3,232,223 Jan–Sep 2025, x 12/9. Overlaps the CP lines.</a:t>
            </a:r>
          </a:p>
          <a:p/>
          <a:p>
            <a:r>
              <a:t>3. Techs under 85% - $241K a year. Store proficiency 117%. Each tech under 85% raised to 85% of their own clocked hours, valued at the store's labor + parts gross per flagged hour: $20K a month x 12.</a:t>
            </a:r>
          </a:p>
          <a:p/>
          <a:p>
            <a:r>
              <a:t>4. CP RO count - $211K a year. 462 fewer CP ROs than Jan–Sep 2025 x $342 a RO x 12/9.</a:t>
            </a:r>
          </a:p>
          <a:p/>
          <a:p>
            <a:r>
              <a:t>5. CP hours per RO - $165K a year. 2.73 vs the luxury 2.90: gap x 3,917 CP ROs x $183 an hour x 12/9.</a:t>
            </a:r>
          </a:p>
          <a:p/>
          <a:p>
            <a:r>
              <a:t>6. Brake fluid - $78K a year. Brake fluid 1.9% vs 10%: 378 more a year (Jan–Sep x 12/9) x $206 gross a service.</a:t>
            </a:r>
          </a:p>
          <a:p/>
          <a:p>
            <a:r>
              <a:t>7. Alignment - $34K a year. Alignment 11.8% vs 15%: 149 more a year (Jan–Sep x 12/9) x $230 gross a service.</a:t>
            </a:r>
          </a:p>
          <a:p/>
          <a:p>
            <a:r>
              <a:t>8. Fixed gross/head - not priced. $14,916 a month (Jan–Sep gross ÷ 299 head-months, ADP) vs the luxury $16,998: 4.1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$1.89M a year. Store proficiency 87%. Each tech under 85% raised to 85% of their own clocked hours, valued at the store's labor + parts gross per flagged hour: $158K a month x 12.</a:t>
            </a:r>
          </a:p>
          <a:p/>
          <a:p>
            <a:r>
              <a:t>2. CP labor $ per RO - $939K a year. $464 vs the luxury $632: gap x 5,344 CP ROs x the store's 78.7% labor GP x 12/9. Overlaps hours per RO and ELR.</a:t>
            </a:r>
          </a:p>
          <a:p/>
          <a:p>
            <a:r>
              <a:t>3. CP ELR - $411K a year. Jul–Sep CP ELR $175 vs 70% of the $285 door rate = $200; gap x 4,275 CP hours x 4.</a:t>
            </a:r>
          </a:p>
          <a:p/>
          <a:p>
            <a:r>
              <a:t>4. CP hours per RO - $222K a year. 2.73 vs the luxury 2.90: gap x 5,344 CP ROs x $183 an hour x 12/9.</a:t>
            </a:r>
          </a:p>
          <a:p/>
          <a:p>
            <a:r>
              <a:t>5. Brake fluid - $57K a year. Brake fluid 4.6% vs 10%: 379 more a year (Jan–Sep x 12/9) x $150 gross a service.</a:t>
            </a:r>
          </a:p>
          <a:p/>
          <a:p>
            <a:r>
              <a:t>6. Fuel service - $46K a year. Fuel service 5.1% vs 7.5%: 170 more a year (Jan–Sep x 12/9) x $269 gross a service.</a:t>
            </a:r>
          </a:p>
          <a:p/>
          <a:p>
            <a:r>
              <a:t>7. Service gross - $32K a year. Service gross $6,489,716 vs $6,513,640 Jan–Sep 2025, x 12/9. Overlaps the CP lines.</a:t>
            </a:r>
          </a:p>
          <a:p/>
          <a:p>
            <a:r>
              <a:t>8. Tire balance - $14K a year. Tire balance 5.9% vs 15%: 643 more a year (Jan–Sep x 12/9) x $22 gross a service.</a:t>
            </a:r>
          </a:p>
          <a:p/>
          <a:p>
            <a:r>
              <a:t>9. MPI completion - not priced. 40.5% of 3,311 CP &amp; W ROs Jul–Sep vs 90%: 6,556 more a year (x 4). Not priced.</a:t>
            </a:r>
          </a:p>
          <a:p/>
          <a:p>
            <a:r>
              <a:t>10. Video completion - not priced. 42.7% vs the group's 57.8% on 3,311 CP &amp; W ROs Jul–Sep: 2,005 more a year (x 4). Not priced.</a:t>
            </a:r>
          </a:p>
          <a:p/>
          <a:p>
            <a:r>
              <a:t>11. Fixed gross/head - not priced. $14,260 a month (Jan–Sep gross ÷ 673 head-months, ADP) vs the luxury $16,998: 12.0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$1.20M a year. Store proficiency 71%. Each tech under 85% raised to 85% of their own clocked hours, valued at the store's labor + parts gross per flagged hour: $100K a month x 12.</a:t>
            </a:r>
          </a:p>
          <a:p/>
          <a:p>
            <a:r>
              <a:t>2. Parts gross - $195K a year. Parts gross $1,257,877 vs $1,403,787 Jan–Sep 2025, x 12/9. Overlaps CP parts GP.</a:t>
            </a:r>
          </a:p>
          <a:p/>
          <a:p>
            <a:r>
              <a:t>3. CP RO count - $126K a year. 277 fewer CP ROs than Jan–Sep 2025 x $342 a RO x 12/9.</a:t>
            </a:r>
          </a:p>
          <a:p/>
          <a:p>
            <a:r>
              <a:t>4. CP parts GP % - $114K a year. 35.6% vs the non-luxury 40.5% x $1.78M CP parts sale x 12/9.</a:t>
            </a:r>
          </a:p>
          <a:p/>
          <a:p>
            <a:r>
              <a:t>5. Service gross - $77K a year. Service gross $2,295,272 vs $2,353,006 Jan–Sep 2025, x 12/9. Overlaps the CP lines.</a:t>
            </a:r>
          </a:p>
          <a:p/>
          <a:p>
            <a:r>
              <a:t>6. Tire balance - $73K a year. Tire balance 1.2% vs 15%: 981 more a year (Jan–Sep x 12/9) x $75 gross a service.</a:t>
            </a:r>
          </a:p>
          <a:p/>
          <a:p>
            <a:r>
              <a:t>7. Fuel service - $62K a year. Fuel service 3.0% vs 7.5%: 321 more a year (Jan–Sep x 12/9) x $192 gross a service.</a:t>
            </a:r>
          </a:p>
          <a:p/>
          <a:p>
            <a:r>
              <a:t>8. Alignment - $57K a year. Alignment 4.2% vs 15%: 770 more a year (Jan–Sep x 12/9) x $74 gross a service.</a:t>
            </a:r>
          </a:p>
          <a:p/>
          <a:p>
            <a:r>
              <a:t>9. Brake fluid - $53K a year. Brake fluid 4.2% vs 10%: 412 more a year (Jan–Sep x 12/9) x $128 gross a service.</a:t>
            </a:r>
          </a:p>
          <a:p/>
          <a:p>
            <a:r>
              <a:t>10. Video completion - not priced. 16.0% vs the group's 57.8% on 3,168 CP &amp; W ROs Jul–Sep: 5,302 more a year (x 4). Not priced.</a:t>
            </a:r>
          </a:p>
          <a:p/>
          <a:p>
            <a:r>
              <a:t>11. Fixed gross/head - not priced. $9,953 a month (Jan–Sep gross ÷ 357 head-months, ADP) vs the non-luxury $12,714: 8.6 heads over. Counted, not priced: no store personnel cost in the data.</a:t>
            </a:r>
          </a:p>
          <a:p/>
          <a:p>
            <a:r>
              <a:t>12. MPI completion - not priced. 81.7% of 3,168 CP &amp; W ROs Jul–Sep vs 90%: 1,052 more a year (x 4). Not priced.</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$1.35M a year. Store proficiency 68%. Each tech under 85% raised to 85% of their own clocked hours, valued at the store's labor + parts gross per flagged hour: $112K a month x 12.</a:t>
            </a:r>
          </a:p>
          <a:p/>
          <a:p>
            <a:r>
              <a:t>2. CP parts GP % - $77K a year. 37.2% vs the non-luxury 40.5% x $1.74M CP parts sale x 12/9.</a:t>
            </a:r>
          </a:p>
          <a:p/>
          <a:p>
            <a:r>
              <a:t>3. Fuel service - $65K a year. Fuel service 2.7% vs 7.5%: 400 more a year (Jan–Sep x 12/9) x $163 gross a service.</a:t>
            </a:r>
          </a:p>
          <a:p/>
          <a:p>
            <a:r>
              <a:t>4. Alignment - $25K a year. Alignment 11.1% vs 15%: 324 more a year (Jan–Sep x 12/9) x $78 gross a service.</a:t>
            </a:r>
          </a:p>
          <a:p/>
          <a:p>
            <a:r>
              <a:t>5. Brake fluid - $21K a year. Brake fluid 7.0% vs 10%: 245 more a year (Jan–Sep x 12/9) x $87 gross a service.</a:t>
            </a:r>
          </a:p>
          <a:p/>
          <a:p>
            <a:r>
              <a:t>6. Tire balance - $21K a year. Tire balance 9.0% vs 15%: 496 more a year (Jan–Sep x 12/9) x $42 gross a service.</a:t>
            </a:r>
          </a:p>
          <a:p/>
          <a:p>
            <a:r>
              <a:t>7. CP labor GP % - $17K a year. 77.3% vs 78% (bottom of the 78-80% range) x $1.73M CP labor sale x 12/9.</a:t>
            </a:r>
          </a:p>
          <a:p/>
          <a:p>
            <a:r>
              <a:t>8. Video completion - not priced. 21.8% vs the group's 57.8% on 2,779 CP &amp; W ROs Jul–Sep: 4,006 more a year (x 4). Not priced.</a:t>
            </a:r>
          </a:p>
          <a:p/>
          <a:p>
            <a:r>
              <a:t>9. Fixed gross/head - not priced. $10,391 a month (Jan–Sep gross ÷ 436 head-months, ADP) vs the non-luxury $12,714: 8.9 heads over. Counted, not priced: no store personnel cost in the data.</a:t>
            </a:r>
          </a:p>
          <a:p/>
          <a:p>
            <a:r>
              <a:t>10. MPI completion - not priced. 87.6% of 2,779 CP &amp; W ROs Jul–Sep vs 90%: 267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$1.05M a year. Store proficiency 103%. Each tech under 85% raised to 85% of their own clocked hours, valued at the store's labor + parts gross per flagged hour: $87K a month x 12.</a:t>
            </a:r>
          </a:p>
          <a:p/>
          <a:p>
            <a:r>
              <a:t>2. CP ELR - $671K a year. Jul–Sep CP ELR $146 vs 70% of the $225 door rate = $157; gap x 15,019 CP hours x 4.</a:t>
            </a:r>
          </a:p>
          <a:p/>
          <a:p>
            <a:r>
              <a:t>3. Service gross - $526K a year. Service gross $10,497,259 vs $10,892,101 Jan–Sep 2025, x 12/9. Overlaps the CP lines.</a:t>
            </a:r>
          </a:p>
          <a:p/>
          <a:p>
            <a:r>
              <a:t>4. CP RO count - $434K a year. 952 fewer CP ROs than Jan–Sep 2025 x $342 a RO x 12/9.</a:t>
            </a:r>
          </a:p>
          <a:p/>
          <a:p>
            <a:r>
              <a:t>5. CP parts GP % - $314K a year. 36.2% vs the non-luxury 40.5% x $5.47M CP parts sale x 12/9.</a:t>
            </a:r>
          </a:p>
          <a:p/>
          <a:p>
            <a:r>
              <a:t>6. Brake fluid - $151K a year. Brake fluid 5.7% vs 10%: 1,093 more a year (Jan–Sep x 12/9) x $138 gross a service.</a:t>
            </a:r>
          </a:p>
          <a:p/>
          <a:p>
            <a:r>
              <a:t>7. Fuel service - $142K a year. Fuel service 5.2% vs 7.5%: 585 more a year (Jan–Sep x 12/9) x $243 gross a service.</a:t>
            </a:r>
          </a:p>
          <a:p/>
          <a:p>
            <a:r>
              <a:t>8. Tire balance - $106K a year. Tire balance 7.3% vs 15%: 2,001 more a year (Jan–Sep x 12/9) x $53 gross a service.</a:t>
            </a:r>
          </a:p>
          <a:p/>
          <a:p>
            <a:r>
              <a:t>9. Alignment - $75K a year. Alignment 12.8% vs 15%: 556 more a year (Jan–Sep x 12/9) x $136 gross a service.</a:t>
            </a:r>
          </a:p>
          <a:p/>
          <a:p>
            <a:r>
              <a:t>10. Parts gross - $56K a year. Parts gross $6,047,818 vs $6,089,964 Jan–Sep 2025, x 12/9. Overlaps CP parts GP.</a:t>
            </a:r>
          </a:p>
          <a:p/>
          <a:p>
            <a:r>
              <a:t>11. Video completion - not priced. 40.2% vs the group's 57.8% on 9,387 CP &amp; W ROs Jul–Sep: 6,624 more a year (x 4). Not priced.</a:t>
            </a:r>
          </a:p>
          <a:p/>
          <a:p>
            <a:r>
              <a:t>12. MPI completion - not priced. 84.5% of 9,387 CP &amp; W ROs Jul–Sep vs 90%: 2,065 more a year (x 4). Not priced.</a:t>
            </a:r>
          </a:p>
          <a:p/>
          <a:p>
            <a:r>
              <a:t>13. Fixed gross/head - not priced. $12,042 a month (Jan–Sep gross ÷ 1,374 head-months, ADP) vs the non-luxury $12,714: 8.1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$574K a year. Store proficiency 73%. Each tech under 85% raised to 85% of their own clocked hours, valued at the store's labor + parts gross per flagged hour: $48K a month x 12.</a:t>
            </a:r>
          </a:p>
          <a:p/>
          <a:p>
            <a:r>
              <a:t>2. CP labor GP % - $67K a year. 72.2% vs 78% (bottom of the 78-80% range) x $870K CP labor sale x 12/9.</a:t>
            </a:r>
          </a:p>
          <a:p/>
          <a:p>
            <a:r>
              <a:t>3. CP ELR - $63K a year. Jul–Sep CP ELR $147 vs 70% of the $220 door rate = $154; gap x 2,219 CP hours x 4.</a:t>
            </a:r>
          </a:p>
          <a:p/>
          <a:p>
            <a:r>
              <a:t>4. CP parts GP % - $42K a year. 37.0% vs the non-luxury 40.5% x $902K CP parts sale x 12/9.</a:t>
            </a:r>
          </a:p>
          <a:p/>
          <a:p>
            <a:r>
              <a:t>5. Tire balance - $27K a year. Tire balance 7.7% vs 15%: 300 more a year (Jan–Sep x 12/9) x $90 gross a service.</a:t>
            </a:r>
          </a:p>
          <a:p/>
          <a:p>
            <a:r>
              <a:t>6. Fuel service - $21K a year. Fuel service 3.6% vs 7.5%: 160 more a year (Jan–Sep x 12/9) x $133 gross a service.</a:t>
            </a:r>
          </a:p>
          <a:p/>
          <a:p>
            <a:r>
              <a:t>7. Brake fluid - $21K a year. Brake fluid 6.0% vs 10%: 162 more a year (Jan–Sep x 12/9) x $127 gross a service.</a:t>
            </a:r>
          </a:p>
          <a:p/>
          <a:p>
            <a:r>
              <a:t>8. Alignment - $11K a year. Alignment 11.7% vs 15%: 135 more a year (Jan–Sep x 12/9) x $85 gross a service.</a:t>
            </a:r>
          </a:p>
          <a:p/>
          <a:p>
            <a:r>
              <a:t>9. Video completion - not priced. 35.1% vs the group's 57.8% on 1,656 CP &amp; W ROs Jul–Sep: 1,506 more a year (x 4). Not priced.</a:t>
            </a:r>
          </a:p>
          <a:p/>
          <a:p>
            <a:r>
              <a:t>10. Fixed gross/head - not priced. $9,498 a month (Jan–Sep gross ÷ 239 head-months, ADP) vs the non-luxury $12,714: 6.7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$473K a year. Store proficiency 78%. Each tech under 85% raised to 85% of their own clocked hours, valued at the store's labor + parts gross per flagged hour: $39K a month x 12.</a:t>
            </a:r>
          </a:p>
          <a:p/>
          <a:p>
            <a:r>
              <a:t>2. CP hours per RO - $79K a year. 1.67 vs the non-luxury 1.75: gap x 4,030 CP ROs x $183 an hour x 12/9.</a:t>
            </a:r>
          </a:p>
          <a:p/>
          <a:p>
            <a:r>
              <a:t>3. Brake fluid - $67K a year. Brake fluid 3.1% vs 10%: 367 more a year (Jan–Sep x 12/9) x $184 gross a service.</a:t>
            </a:r>
          </a:p>
          <a:p/>
          <a:p>
            <a:r>
              <a:t>4. Fuel service - $60K a year. Fuel service 0.7% vs 7.5%: 364 more a year (Jan–Sep x 12/9) x $165 gross a service.</a:t>
            </a:r>
          </a:p>
          <a:p/>
          <a:p>
            <a:r>
              <a:t>5. Tire balance - $52K a year. Tire balance 1.3% vs 15%: 735 more a year (Jan–Sep x 12/9) x $70 gross a service.</a:t>
            </a:r>
          </a:p>
          <a:p/>
          <a:p>
            <a:r>
              <a:t>6. Service gross - $37K a year. Service gross $1,044,098 vs $1,071,808 Jan–Sep 2025, x 12/9. Overlaps the CP lines.</a:t>
            </a:r>
          </a:p>
          <a:p/>
          <a:p>
            <a:r>
              <a:t>7. Alignment - $21K a year. Alignment 11.0% vs 15%: 210 more a year (Jan–Sep x 12/9) x $100 gross a service.</a:t>
            </a:r>
          </a:p>
          <a:p/>
          <a:p>
            <a:r>
              <a:t>8. CP RO count - $14K a year. 30 fewer CP ROs than Jan–Sep 2025 x $342 a RO x 12/9.</a:t>
            </a:r>
          </a:p>
          <a:p/>
          <a:p>
            <a:r>
              <a:t>9. Fixed gross/head - not priced. $9,149 a month (Jan–Sep gross ÷ 174 head-months, ADP) vs the non-luxury $12,714: 5.4 heads over. Counted, not priced: no store personnel cost in the data.</a:t>
            </a:r>
          </a:p>
          <a:p/>
          <a:p>
            <a:r>
              <a:t>10. MPI completion - not priced. 86.3% of 1,655 CP &amp; W ROs Jul–Sep vs 90%: 245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$155K a year. Store proficiency 118%. Each tech under 85% raised to 85% of their own clocked hours, valued at the store's labor + parts gross per flagged hour: $13K a month x 12.</a:t>
            </a:r>
          </a:p>
          <a:p/>
          <a:p>
            <a:r>
              <a:t>2. CP RO count - $87K a year. 190 fewer CP ROs than Jan–Sep 2025 x $342 a RO x 12/9.</a:t>
            </a:r>
          </a:p>
          <a:p/>
          <a:p>
            <a:r>
              <a:t>3. MPI completion - not priced. 82.5% of 9,816 CP &amp; W ROs Jul–Sep vs 90%: 2,945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$926K a year. Service gross $5,919,248 vs $6,613,864 Jan–Sep 2025, x 12/9. Overlaps the CP lines.</a:t>
            </a:r>
          </a:p>
          <a:p/>
          <a:p>
            <a:r>
              <a:t>2. Parts gross - $194K a year. Parts gross $2,697,134 vs $2,842,409 Jan–Sep 2025, x 12/9. Overlaps CP parts GP.</a:t>
            </a:r>
          </a:p>
          <a:p/>
          <a:p>
            <a:r>
              <a:t>3. Techs under 85% - $155K a year. Store proficiency 109%. Each tech under 85% raised to 85% of their own clocked hours, valued at the store's labor + parts gross per flagged hour: $13K a month x 12.</a:t>
            </a:r>
          </a:p>
          <a:p/>
          <a:p>
            <a:r>
              <a:t>4. Tire balance - $38K a year. Tire balance 12.0% vs 15%: 600 more a year (Jan–Sep x 12/9) x $64 gross a service.</a:t>
            </a:r>
          </a:p>
          <a:p/>
          <a:p>
            <a:r>
              <a:t>5. MPI completion - not priced. 81.4% of 7,325 CP &amp; W ROs Jul–Sep vs 90%: 2,520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RO count - $456K a year. 999 fewer CP ROs than Jan–Sep 2025 x $342 a RO x 12/9.</a:t>
            </a:r>
          </a:p>
          <a:p/>
          <a:p>
            <a:r>
              <a:t>2. Tire balance - $80K a year. Tire balance 2.1% vs 15%: 1,526 more a year (Jan–Sep x 12/9) x $52 gross a service.</a:t>
            </a:r>
          </a:p>
          <a:p/>
          <a:p>
            <a:r>
              <a:t>3. Fuel service - $75K a year. Fuel service 3.2% vs 7.5%: 509 more a year (Jan–Sep x 12/9) x $147 gross a service.</a:t>
            </a:r>
          </a:p>
          <a:p/>
          <a:p>
            <a:r>
              <a:t>4. Alignment - $36K a year. Alignment 12.5% vs 15%: 294 more a year (Jan–Sep x 12/9) x $124 gross a service.</a:t>
            </a:r>
          </a:p>
          <a:p/>
          <a:p>
            <a:r>
              <a:t>5. Parts gross - $15K a year. Parts gross $1,394,258 vs $1,405,777 Jan–Sep 2025, x 12/9. Overlaps CP parts GP.</a:t>
            </a:r>
          </a:p>
          <a:p/>
          <a:p>
            <a:r>
              <a:t>6. Techs under 85% - $12K a year. Store proficiency 109%. Each tech under 85% raised to 85% of their own clocked hours, valued at the store's labor + parts gross per flagged hour: $1K a month x 12.</a:t>
            </a:r>
          </a:p>
          <a:p/>
          <a:p>
            <a:r>
              <a:t>7. MPI completion - not priced. 49.6% of 3,553 CP &amp; W ROs Jul–Sep vs 90%: 5,742 more a year (x 4). Not priced.</a:t>
            </a:r>
          </a:p>
          <a:p/>
          <a:p>
            <a:r>
              <a:t>8. Video completion - not priced. 49.6% vs the group's 57.8% on 3,553 CP &amp; W ROs Jul–Sep: 1,171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$412K a year. Store proficiency 78%. Each tech under 85% raised to 85% of their own clocked hours, valued at the store's labor + parts gross per flagged hour: $34K a month x 12.</a:t>
            </a:r>
          </a:p>
          <a:p/>
          <a:p>
            <a:r>
              <a:t>2. CP labor $ per RO - $92K a year. $213 vs the non-luxury $264: gap x 2,010 CP ROs x the store's 67.7% labor GP x 12/9. Overlaps hours per RO and ELR.</a:t>
            </a:r>
          </a:p>
          <a:p/>
          <a:p>
            <a:r>
              <a:t>3. CP labor GP % - $59K a year. 67.7% vs 78% (bottom of the 78-80% range) x $429K CP labor sale x 12/9.</a:t>
            </a:r>
          </a:p>
          <a:p/>
          <a:p>
            <a:r>
              <a:t>4. CP hours per RO - $54K a year. 1.64 vs the non-luxury 1.75: gap x 2,010 CP ROs x $183 an hour x 12/9.</a:t>
            </a:r>
          </a:p>
          <a:p/>
          <a:p>
            <a:r>
              <a:t>5. CP ELR - $51K a year. Jul–Sep CP ELR $136 vs 70% of the $210 door rate = $147; gap x 1,173 CP hours x 4.</a:t>
            </a:r>
          </a:p>
          <a:p/>
          <a:p>
            <a:r>
              <a:t>6. Fixed gross/head - not priced. $11,631 a month (Jan–Sep gross ÷ 132 head-months, ADP) vs the non-luxury $12,714: 1.2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$1.06M a year. Store proficiency 69%. Each tech under 85% raised to 85% of their own clocked hours, valued at the store's labor + parts gross per flagged hour: $88K a month x 12.</a:t>
            </a:r>
          </a:p>
          <a:p/>
          <a:p>
            <a:r>
              <a:t>2. Parts gross - $302K a year. Parts gross $826,662 vs $1,053,439 Jan–Sep 2025, x 12/9. Overlaps CP parts GP.</a:t>
            </a:r>
          </a:p>
          <a:p/>
          <a:p>
            <a:r>
              <a:t>3. CP hours per RO - $259K a year. 1.43 vs the non-luxury 1.75: gap x 3,349 CP ROs x $183 an hour x 12/9.</a:t>
            </a:r>
          </a:p>
          <a:p/>
          <a:p>
            <a:r>
              <a:t>4. CP RO count - $198K a year. 435 fewer CP ROs than Jan–Sep 2025 x $342 a RO x 12/9.</a:t>
            </a:r>
          </a:p>
          <a:p/>
          <a:p>
            <a:r>
              <a:t>5. CP labor $ per RO - $98K a year. $238 vs the non-luxury $264: gap x 3,349 CP ROs x the store's 82.9% labor GP x 12/9. Overlaps hours per RO and ELR.</a:t>
            </a:r>
          </a:p>
          <a:p/>
          <a:p>
            <a:r>
              <a:t>6. Tire balance - $36K a year. Tire balance 1.2% vs 15%: 615 more a year (Jan–Sep x 12/9) x $58 gross a service.</a:t>
            </a:r>
          </a:p>
          <a:p/>
          <a:p>
            <a:r>
              <a:t>7. Brake fluid - $32K a year. Brake fluid 4.7% vs 10%: 235 more a year (Jan–Sep x 12/9) x $134 gross a service.</a:t>
            </a:r>
          </a:p>
          <a:p/>
          <a:p>
            <a:r>
              <a:t>8. Fuel service - $13K a year. Fuel service 5.8% vs 7.5%: 72 more a year (Jan–Sep x 12/9) x $176 gross a service.</a:t>
            </a:r>
          </a:p>
          <a:p/>
          <a:p>
            <a:r>
              <a:t>9. CP parts GP % - $10K a year. 39.4% vs the non-luxury 40.5% x $732K CP parts sale x 12/9.</a:t>
            </a:r>
          </a:p>
          <a:p/>
          <a:p>
            <a:r>
              <a:t>10. MPI completion - not priced. 62.7% of 2,058 CP &amp; W ROs Jul–Sep vs 90%: 2,247 more a year (x 4). Not priced.</a:t>
            </a:r>
          </a:p>
          <a:p/>
          <a:p>
            <a:r>
              <a:t>11. Fixed gross/head - not priced. $11,541 a month (Jan–Sep gross ÷ 198 head-months, ADP) vs the non-luxury $12,714: 2.0 heads over. Counted, not priced: no store personnel cost in the data.</a:t>
            </a:r>
          </a:p>
          <a:p/>
          <a:p>
            <a:r>
              <a:t>12. Video completion - not priced. 53.1% vs the group's 57.8% on 2,058 CP &amp; W ROs Jul–Sep: 390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$891K a year. Store proficiency 76%. Each tech under 85% raised to 85% of their own clocked hours, valued at the store's labor + parts gross per flagged hour: $74K a month x 12.</a:t>
            </a:r>
          </a:p>
          <a:p/>
          <a:p>
            <a:r>
              <a:t>2. CP hours per RO - $351K a year. 1.57 vs the non-luxury 1.75: gap x 8,133 CP ROs x $183 an hour x 12/9.</a:t>
            </a:r>
          </a:p>
          <a:p/>
          <a:p>
            <a:r>
              <a:t>3. CP labor $ per RO - $259K a year. $234 vs the non-luxury $264: gap x 8,133 CP ROs x the store's 79.5% labor GP x 12/9. Overlaps hours per RO and ELR.</a:t>
            </a:r>
          </a:p>
          <a:p/>
          <a:p>
            <a:r>
              <a:t>4. Parts gross - $223K a year. Parts gross $2,101,307 vs $2,268,483 Jan–Sep 2025, x 12/9. Overlaps CP parts GP.</a:t>
            </a:r>
          </a:p>
          <a:p/>
          <a:p>
            <a:r>
              <a:t>5. Alignment - $77K a year. Alignment 9.7% vs 15%: 568 more a year (Jan–Sep x 12/9) x $135 gross a service.</a:t>
            </a:r>
          </a:p>
          <a:p/>
          <a:p>
            <a:r>
              <a:t>6. Fuel service - $76K a year. Fuel service 3.2% vs 7.5%: 464 more a year (Jan–Sep x 12/9) x $163 gross a service.</a:t>
            </a:r>
          </a:p>
          <a:p/>
          <a:p>
            <a:r>
              <a:t>7. Tire balance - $72K a year. Tire balance 5.2% vs 15%: 1,059 more a year (Jan–Sep x 12/9) x $68 gross a service.</a:t>
            </a:r>
          </a:p>
          <a:p/>
          <a:p>
            <a:r>
              <a:t>8. CP ELR - $55K a year. Jul–Sep CP ELR $151 vs 70% of the $220 door rate = $154; gap x 4,292 CP hours x 4.</a:t>
            </a:r>
          </a:p>
          <a:p/>
          <a:p>
            <a:r>
              <a:t>9. Brake fluid - $22K a year. Brake fluid 8.2% vs 10%: 187 more a year (Jan–Sep x 12/9) x $120 gross a service.</a:t>
            </a:r>
          </a:p>
          <a:p/>
          <a:p>
            <a:r>
              <a:t>10. Video completion - not priced. 31.5% vs the group's 57.8% on 4,474 CP &amp; W ROs Jul–Sep: 4,714 more a year (x 4). Not priced.</a:t>
            </a:r>
          </a:p>
          <a:p/>
          <a:p>
            <a:r>
              <a:t>11. MPI completion - not priced. 71.2% of 4,474 CP &amp; W ROs Jul–Sep vs 90%: 3,364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$919K a year. Store proficiency 67%. Each tech under 85% raised to 85% of their own clocked hours, valued at the store's labor + parts gross per flagged hour: $77K a month x 12.</a:t>
            </a:r>
          </a:p>
          <a:p/>
          <a:p>
            <a:r>
              <a:t>2. CP hours per RO - $435K a year. 1.29 vs the non-luxury 1.75: gap x 3,912 CP ROs x $183 an hour x 12/9.</a:t>
            </a:r>
          </a:p>
          <a:p/>
          <a:p>
            <a:r>
              <a:t>3. CP labor $ per RO - $340K a year. $182 vs the non-luxury $264: gap x 3,912 CP ROs x the store's 79.4% labor GP x 12/9. Overlaps hours per RO and ELR.</a:t>
            </a:r>
          </a:p>
          <a:p/>
          <a:p>
            <a:r>
              <a:t>4. Alignment - $38K a year. Alignment 8.0% vs 15%: 365 more a year (Jan–Sep x 12/9) x $105 gross a service.</a:t>
            </a:r>
          </a:p>
          <a:p/>
          <a:p>
            <a:r>
              <a:t>5. Brake fluid - $25K a year. Brake fluid 5.9% vs 10%: 211 more a year (Jan–Sep x 12/9) x $119 gross a service.</a:t>
            </a:r>
          </a:p>
          <a:p/>
          <a:p>
            <a:r>
              <a:t>6. Tire balance - $18K a year. Tire balance 7.7% vs 15%: 380 more a year (Jan–Sep x 12/9) x $48 gross a service.</a:t>
            </a:r>
          </a:p>
          <a:p/>
          <a:p>
            <a:r>
              <a:t>7. Video completion - not priced. 5.2% vs the group's 57.8% on 2,672 CP &amp; W ROs Jul–Sep: 5,626 more a year (x 4). Not priced.</a:t>
            </a:r>
          </a:p>
          <a:p/>
          <a:p>
            <a:r>
              <a:t>8. MPI completion - not priced. 60.9% of 2,672 CP &amp; W ROs Jul–Sep vs 90%: 3,110 more a year (x 4). Not priced.</a:t>
            </a:r>
          </a:p>
          <a:p/>
          <a:p>
            <a:r>
              <a:t>9. Fixed gross/head - not priced. $12,103 a month (Jan–Sep gross ÷ 193 head-months, ADP) vs the non-luxury $12,714: 1.0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$1.18M a year. $403 vs the luxury $632: gap x 4,567 CP ROs x the store's 85.0% labor GP x 12/9. Overlaps hours per RO and ELR.</a:t>
            </a:r>
          </a:p>
          <a:p/>
          <a:p>
            <a:r>
              <a:t>2. CP hours per RO - $911K a year. 2.08 vs the luxury 2.90: gap x 4,567 CP ROs x $183 an hour x 12/9.</a:t>
            </a:r>
          </a:p>
          <a:p/>
          <a:p>
            <a:r>
              <a:t>3. Techs under 85% - $379K a year. Store proficiency 104%. Each tech under 85% raised to 85% of their own clocked hours, valued at the store's labor + parts gross per flagged hour: $32K a month x 12.</a:t>
            </a:r>
          </a:p>
          <a:p/>
          <a:p>
            <a:r>
              <a:t>4. Tire balance - $68K a year. Tire balance 0.0% vs 15%: 909 more a year (Jan–Sep x 12/9) x $75 gross a service.</a:t>
            </a:r>
          </a:p>
          <a:p/>
          <a:p>
            <a:r>
              <a:t>5. Alignment - $33K a year. Alignment 11.3% vs 15%: 221 more a year (Jan–Sep x 12/9) x $147 gross a service.</a:t>
            </a:r>
          </a:p>
          <a:p/>
          <a:p>
            <a:r>
              <a:t>6. Fuel service - $25K a year. Fuel service 4.2% vs 7.5%: 195 more a year (Jan–Sep x 12/9) x $128 gross a service.</a:t>
            </a:r>
          </a:p>
          <a:p/>
          <a:p>
            <a:r>
              <a:t>7. Brake fluid - $15K a year. Brake fluid 8.3% vs 10%: 98 more a year (Jan–Sep x 12/9) x $154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$628K a year. $416 vs the luxury $632: gap x 2,630 CP ROs x the store's 83.2% labor GP x 12/9. Overlaps hours per RO and ELR.</a:t>
            </a:r>
          </a:p>
          <a:p/>
          <a:p>
            <a:r>
              <a:t>2. Techs under 85% - $284K a year. Store proficiency 94%. Each tech under 85% raised to 85% of their own clocked hours, valued at the store's labor + parts gross per flagged hour: $24K a month x 12.</a:t>
            </a:r>
          </a:p>
          <a:p/>
          <a:p>
            <a:r>
              <a:t>3. CP hours per RO - $267K a year. 2.48 vs the luxury 2.90: gap x 2,630 CP ROs x $183 an hour x 12/9.</a:t>
            </a:r>
          </a:p>
          <a:p/>
          <a:p>
            <a:r>
              <a:t>4. CP parts GP % - $55K a year. 37.0% vs the luxury 41.3% x $954K CP parts sale x 12/9.</a:t>
            </a:r>
          </a:p>
          <a:p/>
          <a:p>
            <a:r>
              <a:t>5. CP ELR - $36K a year. Jul–Sep CP ELR $167 vs 70% of the $245 door rate = $171; gap x 2,154 CP hours x 4.</a:t>
            </a:r>
          </a:p>
          <a:p/>
          <a:p>
            <a:r>
              <a:t>6. Tire balance - $31K a year. Tire balance 1.6% vs 15%: 467 more a year (Jan–Sep x 12/9) x $66 gross a service.</a:t>
            </a:r>
          </a:p>
          <a:p/>
          <a:p>
            <a:r>
              <a:t>7. Alignment - $26K a year. Alignment 8.4% vs 15%: 230 more a year (Jan–Sep x 12/9) x $114 gross a service.</a:t>
            </a:r>
          </a:p>
          <a:p/>
          <a:p>
            <a:r>
              <a:t>8. Brake fluid - $11K a year. Brake fluid 7.5% vs 10%: 87 more a year (Jan–Sep x 12/9) x $126 gross a service.</a:t>
            </a:r>
          </a:p>
          <a:p/>
          <a:p>
            <a:r>
              <a:t>9. Fixed gross/head - not priced. $10,963 a month (Jan–Sep gross ÷ 272 head-months, ADP) vs the luxury $16,998: 10.7 heads over. Counted, not priced: no store personnel cost in the data.</a:t>
            </a:r>
          </a:p>
          <a:p/>
          <a:p>
            <a:r>
              <a:t>10. Video completion - not priced. 42.7% vs the group's 57.8% on 1,829 CP &amp; W ROs Jul–Sep: 1,108 more a year (x 4). Not priced.</a:t>
            </a:r>
          </a:p>
          <a:p/>
          <a:p>
            <a:r>
              <a:t>11. MPI completion - not priced. 68.5% of 1,829 CP &amp; W ROs Jul–Sep vs 90%: 1,573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$179K a year. Store proficiency 106%. Each tech under 85% raised to 85% of their own clocked hours, valued at the store's labor + parts gross per flagged hour: $15K a month x 12.</a:t>
            </a:r>
          </a:p>
          <a:p/>
          <a:p>
            <a:r>
              <a:t>2. Fuel service - $34K a year. Fuel service 2.5% vs 7.5%: 103 more a year (Jan–Sep x 12/9) x $329 gross a service.</a:t>
            </a:r>
          </a:p>
          <a:p/>
          <a:p>
            <a:r>
              <a:t>3. MPI completion - not priced. 73.0% of 953 CP &amp; W ROs Jul–Sep vs 90%: 648 more a year (x 4). Not priced.</a:t>
            </a:r>
          </a:p>
          <a:p/>
          <a:p>
            <a:r>
              <a:t>4. Video completion - not priced. 50.0% vs the group's 57.8% on 953 CP &amp; W ROs Jul–Sep: 299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$758K a year. Store proficiency 91%. Each tech under 85% raised to 85% of their own clocked hours, valued at the store's labor + parts gross per flagged hour: $63K a month x 12.</a:t>
            </a:r>
          </a:p>
          <a:p/>
          <a:p>
            <a:r>
              <a:t>2. Parts gross - $81K a year. Parts gross $2,524,684 vs $2,585,236 Jan–Sep 2025, x 12/9. Overlaps CP parts GP.</a:t>
            </a:r>
          </a:p>
          <a:p/>
          <a:p>
            <a:r>
              <a:t>3. Fuel service - $24K a year. Fuel service 5.5% vs 7.5%: 92 more a year (Jan–Sep x 12/9) x $258 gross a service.</a:t>
            </a:r>
          </a:p>
          <a:p/>
          <a:p>
            <a:r>
              <a:t>4. MPI completion - not priced. 71.1% of 2,073 CP &amp; W ROs Jul–Sep vs 90%: 1,567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$247K a year. Store proficiency 81%. Each tech under 85% raised to 85% of their own clocked hours, valued at the store's labor + parts gross per flagged hour: $21K a month x 12.</a:t>
            </a:r>
          </a:p>
          <a:p/>
          <a:p>
            <a:r>
              <a:t>2. Brake fluid - $20K a year. Brake fluid 7.2% vs 10%: 52 more a year (Jan–Sep x 12/9) x $377 gross a service.</a:t>
            </a:r>
          </a:p>
          <a:p/>
          <a:p>
            <a:r>
              <a:t>3. Fuel service - $18K a year. Fuel service 4.5% vs 7.5%: 55 more a year (Jan–Sep x 12/9) x $329 gross a service.</a:t>
            </a:r>
          </a:p>
          <a:p/>
          <a:p>
            <a:r>
              <a:t>4. Alignment - $10K a year. Alignment 12.8% vs 15%: 40 more a year (Jan–Sep x 12/9) x $259 gross a service.</a:t>
            </a:r>
          </a:p>
          <a:p/>
          <a:p>
            <a:r>
              <a:t>5. Fixed gross/head - not priced. $15,226 a month (Jan–Sep gross ÷ 145 head-months, ADP) vs the luxury $16,998: 1.7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$403K a year. 1.46 vs the non-luxury 1.75: gap x 5,701 CP ROs x $183 an hour x 12/9.</a:t>
            </a:r>
          </a:p>
          <a:p/>
          <a:p>
            <a:r>
              <a:t>2. CP labor $ per RO - $167K a year. $238 vs the non-luxury $264: gap x 5,701 CP ROs x the store's 84.4% labor GP x 12/9. Overlaps hours per RO and ELR.</a:t>
            </a:r>
          </a:p>
          <a:p/>
          <a:p>
            <a:r>
              <a:t>3. Techs under 85% - $103K a year. Store proficiency 101%. Each tech under 85% raised to 85% of their own clocked hours, valued at the store's labor + parts gross per flagged hour: $9K a month x 12.</a:t>
            </a:r>
          </a:p>
          <a:p/>
          <a:p>
            <a:r>
              <a:t>4. Fuel service - $26K a year. Fuel service 5.2% vs 7.5%: 174 more a year (Jan–Sep x 12/9) x $150 gross a service.</a:t>
            </a:r>
          </a:p>
          <a:p/>
          <a:p>
            <a:r>
              <a:t>5. Brake fluid - $18K a year. Brake fluid 8.4% vs 10%: 115 more a year (Jan–Sep x 12/9) x $154 gross a service.</a:t>
            </a:r>
          </a:p>
          <a:p/>
          <a:p>
            <a:r>
              <a:t>6. Tire balance - $11K a year. Tire balance 13.1% vs 15%: 138 more a year (Jan–Sep x 12/9) x $79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$509K a year. Store proficiency 91%. Each tech under 85% raised to 85% of their own clocked hours, valued at the store's labor + parts gross per flagged hour: $42K a month x 12.</a:t>
            </a:r>
          </a:p>
          <a:p/>
          <a:p>
            <a:r>
              <a:t>2. CP RO count - $196K a year. 430 fewer CP ROs than Jan–Sep 2025 x $342 a RO x 12/9.</a:t>
            </a:r>
          </a:p>
          <a:p/>
          <a:p>
            <a:r>
              <a:t>3. Alignment - $83K a year. Alignment 7.4% vs 15%: 700 more a year (Jan–Sep x 12/9) x $119 gross a service.</a:t>
            </a:r>
          </a:p>
          <a:p/>
          <a:p>
            <a:r>
              <a:t>4. Tire balance - $77K a year. Tire balance 1.0% vs 15%: 1,296 more a year (Jan–Sep x 12/9) x $59 gross a service.</a:t>
            </a:r>
          </a:p>
          <a:p/>
          <a:p>
            <a:r>
              <a:t>5. Fuel service - $64K a year. Fuel service 4.1% vs 7.5%: 308 more a year (Jan–Sep x 12/9) x $206 gross a service.</a:t>
            </a:r>
          </a:p>
          <a:p/>
          <a:p>
            <a:r>
              <a:t>6. Video completion - not priced. 41.9% vs the group's 57.8% on 3,129 CP &amp; W ROs Jul–Sep: 1,995 more a year (x 4). Not priced.</a:t>
            </a:r>
          </a:p>
          <a:p/>
          <a:p>
            <a:r>
              <a:t>7. Fixed gross/head - not priced. $11,957 a month (Jan–Sep gross ÷ 400 head-months, ADP) vs the non-luxury $12,714: 2.6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$524K a year. Store proficiency 96%. Each tech under 85% raised to 85% of their own clocked hours, valued at the store's labor + parts gross per flagged hour: $44K a month x 12.</a:t>
            </a:r>
          </a:p>
          <a:p/>
          <a:p>
            <a:r>
              <a:t>2. Parts gross - $383K a year. Parts gross $3,825,122 vs $4,112,388 Jan–Sep 2025, x 12/9. Overlaps CP parts GP.</a:t>
            </a:r>
          </a:p>
          <a:p/>
          <a:p>
            <a:r>
              <a:t>3. Service gross - $282K a year. Service gross $6,255,269 vs $6,466,581 Jan–Sep 2025, x 12/9. Overlaps the CP lines.</a:t>
            </a:r>
          </a:p>
          <a:p/>
          <a:p>
            <a:r>
              <a:t>4. CP RO count - $262K a year. 574 fewer CP ROs than Jan–Sep 2025 x $342 a RO x 12/9.</a:t>
            </a:r>
          </a:p>
          <a:p/>
          <a:p>
            <a:r>
              <a:t>5. Tire balance - $68K a year. Tire balance 10.2% vs 15%: 909 more a year (Jan–Sep x 12/9) x $75 gross a service.</a:t>
            </a:r>
          </a:p>
          <a:p/>
          <a:p>
            <a:r>
              <a:t>6. CP parts GP % - $13K a year. 40.2% vs the non-luxury 40.5% x $3.09M CP parts sale x 12/9.</a:t>
            </a:r>
          </a:p>
          <a:p/>
          <a:p>
            <a:r>
              <a:t>7. Fuel service - $10K a year. Fuel service 7.0% vs 7.5%: 78 more a year (Jan–Sep x 12/9) x $130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$691K a year. Store proficiency 98%. Each tech under 85% raised to 85% of their own clocked hours, valued at the store's labor + parts gross per flagged hour: $58K a month x 12.</a:t>
            </a:r>
          </a:p>
          <a:p/>
          <a:p>
            <a:r>
              <a:t>2. CP labor $ per RO - $212K a year. $222 vs the non-luxury $264: gap x 5,105 CP ROs x the store's 74.1% labor GP x 12/9. Overlaps hours per RO and ELR.</a:t>
            </a:r>
          </a:p>
          <a:p/>
          <a:p>
            <a:r>
              <a:t>3. CP hours per RO - $185K a year. 1.60 vs the non-luxury 1.75: gap x 5,105 CP ROs x $183 an hour x 12/9.</a:t>
            </a:r>
          </a:p>
          <a:p/>
          <a:p>
            <a:r>
              <a:t>4. CP parts GP % - $81K a year. 34.8% vs the non-luxury 40.5% x $1.06M CP parts sale x 12/9.</a:t>
            </a:r>
          </a:p>
          <a:p/>
          <a:p>
            <a:r>
              <a:t>5. CP ELR - $78K a year. Jul–Sep CP ELR $140 vs 70% of the $210 door rate = $147; gap x 2,722 CP hours x 4.</a:t>
            </a:r>
          </a:p>
          <a:p/>
          <a:p>
            <a:r>
              <a:t>6. CP labor GP % - $58K a year. 74.1% vs 78% (bottom of the 78-80% range) x $1.13M CP labor sale x 12/9.</a:t>
            </a:r>
          </a:p>
          <a:p/>
          <a:p>
            <a:r>
              <a:t>7. Alignment - $12K a year. Alignment 12.5% vs 15%: 165 more a year (Jan–Sep x 12/9) x $73 gross a service.</a:t>
            </a:r>
          </a:p>
          <a:p/>
          <a:p>
            <a:r>
              <a:t>8. Video completion - not priced. 54.2% vs the group's 57.8% on 2,709 CP &amp; W ROs Jul–Sep: 395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$265K a year. Store proficiency 109%. Each tech under 85% raised to 85% of their own clocked hours, valued at the store's labor + parts gross per flagged hour: $22K a month x 12.</a:t>
            </a:r>
          </a:p>
          <a:p/>
          <a:p>
            <a:r>
              <a:t>2. Tire balance - $125K a year. Tire balance 3.6% vs 15%: 837 more a year (Jan–Sep x 12/9) x $149 gross a service.</a:t>
            </a:r>
          </a:p>
          <a:p/>
          <a:p>
            <a:r>
              <a:t>3. CP labor GP % - $98K a year. 73.9% vs 78% (bottom of the 78-80% range) x $1.77M CP labor sale x 12/9.</a:t>
            </a:r>
          </a:p>
          <a:p/>
          <a:p>
            <a:r>
              <a:t>4. Alignment - $23K a year. Alignment 11.0% vs 15%: 291 more a year (Jan–Sep x 12/9) x $78 gross a service.</a:t>
            </a:r>
          </a:p>
          <a:p/>
          <a:p>
            <a:r>
              <a:t>5. MPI completion - not priced. 89.0% of 2,659 CP &amp; W ROs Jul–Sep vs 90%: 106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$1.26M a year. 1.41 vs the non-luxury 1.75: gap x 15,141 CP ROs x $183 an hour x 12/9.</a:t>
            </a:r>
          </a:p>
          <a:p/>
          <a:p>
            <a:r>
              <a:t>2. CP labor $ per RO - $1.01M a year. $201 vs the non-luxury $264: gap x 15,141 CP ROs x the store's 79.1% labor GP x 12/9. Overlaps hours per RO and ELR.</a:t>
            </a:r>
          </a:p>
          <a:p/>
          <a:p>
            <a:r>
              <a:t>3. Techs under 85% - $126K a year. Store proficiency 102%. Each tech under 85% raised to 85% of their own clocked hours, valued at the store's labor + parts gross per flagged hour: $10K a month x 12.</a:t>
            </a:r>
          </a:p>
          <a:p/>
          <a:p>
            <a:r>
              <a:t>4. Tire balance - $109K a year. Tire balance 4.9% vs 15%: 2,031 more a year (Jan–Sep x 12/9) x $54 gross a service.</a:t>
            </a:r>
          </a:p>
          <a:p/>
          <a:p>
            <a:r>
              <a:t>5. Fuel service - $109K a year. Fuel service 1.6% vs 7.5%: 1,173 more a year (Jan–Sep x 12/9) x $93 gross a service.</a:t>
            </a:r>
          </a:p>
          <a:p/>
          <a:p>
            <a:r>
              <a:t>6. CP parts GP % - $108K a year. 36.9% vs the non-luxury 40.5% x $2.25M CP parts sale x 12/9.</a:t>
            </a:r>
          </a:p>
          <a:p/>
          <a:p>
            <a:r>
              <a:t>7. Alignment - $90K a year. Alignment 9.7% vs 15%: 1,066 more a year (Jan–Sep x 12/9) x $84 gross a service.</a:t>
            </a:r>
          </a:p>
          <a:p/>
          <a:p>
            <a:r>
              <a:t>8. Brake fluid - $48K a year. Brake fluid 8.0% vs 10%: 389 more a year (Jan–Sep x 12/9) x $123 gross a service.</a:t>
            </a:r>
          </a:p>
          <a:p/>
          <a:p>
            <a:r>
              <a:t>9. Fixed gross/head - not priced. $10,794 a month (Jan–Sep gross ÷ 414 head-months, ADP) vs the non-luxury $12,714: 6.9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$3.55M a year. 1.47 vs the non-luxury 1.75: gap x 53,084 CP ROs x $183 an hour x 12/9.</a:t>
            </a:r>
          </a:p>
          <a:p/>
          <a:p>
            <a:r>
              <a:t>2. CP labor $ per RO - $2.07M a year. $227 vs the non-luxury $264: gap x 53,084 CP ROs x the store's 79.4% labor GP x 12/9. Overlaps hours per RO and ELR.</a:t>
            </a:r>
          </a:p>
          <a:p/>
          <a:p>
            <a:r>
              <a:t>3. Techs under 85% - $842K a year. Store proficiency 104%. Each tech under 85% raised to 85% of their own clocked hours, valued at the store's labor + parts gross per flagged hour: $70K a month x 12.</a:t>
            </a:r>
          </a:p>
          <a:p/>
          <a:p>
            <a:r>
              <a:t>4. Tire balance - $147K a year. Tire balance 11.2% vs 15%: 2,671 more a year (Jan–Sep x 12/9) x $55 gross a service.</a:t>
            </a:r>
          </a:p>
          <a:p/>
          <a:p>
            <a:r>
              <a:t>5. Fuel service - $129K a year. Fuel service 6.0% vs 7.5%: 1,056 more a year (Jan–Sep x 12/9) x $122 gross a service.</a:t>
            </a:r>
          </a:p>
          <a:p/>
          <a:p>
            <a:r>
              <a:t>6. Alignment - $33K a year. Alignment 14.5% vs 15%: 326 more a year (Jan–Sep x 12/9) x $102 gross a service.</a:t>
            </a:r>
          </a:p>
          <a:p/>
          <a:p>
            <a:r>
              <a:t>7. CP parts GP % - $27K a year. 40.2% vs the non-luxury 40.5% x $8.12M CP parts sale x 12/9.</a:t>
            </a:r>
          </a:p>
          <a:p/>
          <a:p>
            <a:r>
              <a:t>8. Video completion - not priced. 31.7% vs the group's 57.8% on 20,413 CP &amp; W ROs Jul–Sep: 21,344 more a year (x 4). Not priced.</a:t>
            </a:r>
          </a:p>
          <a:p/>
          <a:p>
            <a:r>
              <a:t>9. MPI completion - not priced. 76.1% of 20,413 CP &amp; W ROs Jul–Sep vs 90%: 11,350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$1.19M a year. 1.38 vs the non-luxury 1.75: gap x 13,490 CP ROs x $183 an hour x 12/9.</a:t>
            </a:r>
          </a:p>
          <a:p/>
          <a:p>
            <a:r>
              <a:t>2. Techs under 85% - $927K a year. Store proficiency 83%. Each tech under 85% raised to 85% of their own clocked hours, valued at the store's labor + parts gross per flagged hour: $77K a month x 12.</a:t>
            </a:r>
          </a:p>
          <a:p/>
          <a:p>
            <a:r>
              <a:t>3. CP labor $ per RO - $617K a year. $220 vs the non-luxury $264: gap x 13,490 CP ROs x the store's 78.5% labor GP x 12/9. Overlaps hours per RO and ELR.</a:t>
            </a:r>
          </a:p>
          <a:p/>
          <a:p>
            <a:r>
              <a:t>4. Tire balance - $132K a year. Tire balance 6.1% vs 15%: 1,590 more a year (Jan–Sep x 12/9) x $83 gross a service.</a:t>
            </a:r>
          </a:p>
          <a:p/>
          <a:p>
            <a:r>
              <a:t>5. Alignment - $49K a year. Alignment 12.3% vs 15%: 478 more a year (Jan–Sep x 12/9) x $103 gross a service.</a:t>
            </a:r>
          </a:p>
          <a:p/>
          <a:p>
            <a:r>
              <a:t>6. Parts gross - $44K a year. Parts gross $1,447,980 vs $1,481,187 Jan–Sep 2025, x 12/9. Overlaps CP parts GP.</a:t>
            </a:r>
          </a:p>
          <a:p/>
          <a:p>
            <a:r>
              <a:t>7. CP RO count - $36K a year. 80 fewer CP ROs than Jan–Sep 2025 x $342 a RO x 12/9.</a:t>
            </a:r>
          </a:p>
          <a:p/>
          <a:p>
            <a:r>
              <a:t>8. Brake fluid - $32K a year. Brake fluid 8.4% vs 10%: 287 more a year (Jan–Sep x 12/9) x $112 gross a service.</a:t>
            </a:r>
          </a:p>
          <a:p/>
          <a:p>
            <a:r>
              <a:t>9. Fuel service - $19K a year. Fuel service 6.4% vs 7.5%: 186 more a year (Jan–Sep x 12/9) x $101 gross a service.</a:t>
            </a:r>
          </a:p>
          <a:p/>
          <a:p>
            <a:r>
              <a:t>10. Fixed gross/head - not priced. $11,044 a month (Jan–Sep gross ÷ 460 head-months, ADP) vs the non-luxury $12,714: 6.7 heads over. Counted, not priced: no store personnel cost in the data.</a:t>
            </a:r>
          </a:p>
          <a:p/>
          <a:p>
            <a:r>
              <a:t>11. MPI completion - not priced. 81.5% of 5,128 CP &amp; W ROs Jul–Sep vs 90%: 1,744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$1.35M a year. $187 vs the non-luxury $264: gap x 17,376 CP ROs x the store's 75.7% labor GP x 12/9. Overlaps hours per RO and ELR.</a:t>
            </a:r>
          </a:p>
          <a:p/>
          <a:p>
            <a:r>
              <a:t>2. CP hours per RO - $1.12M a year. 1.48 vs the non-luxury 1.75: gap x 17,376 CP ROs x $183 an hour x 12/9.</a:t>
            </a:r>
          </a:p>
          <a:p/>
          <a:p>
            <a:r>
              <a:t>3. Alignment - $225K a year. Alignment 4.2% vs 15%: 2,490 more a year (Jan–Sep x 12/9) x $90 gross a service.</a:t>
            </a:r>
          </a:p>
          <a:p/>
          <a:p>
            <a:r>
              <a:t>4. Tire balance - $180K a year. Tire balance 0.4% vs 15%: 3,361 more a year (Jan–Sep x 12/9) x $53 gross a service.</a:t>
            </a:r>
          </a:p>
          <a:p/>
          <a:p>
            <a:r>
              <a:t>5. CP ELR - $157K a year. Jul–Sep CP ELR $125 vs 70% of the $185 door rate = $130; gap x 8,601 CP hours x 4.</a:t>
            </a:r>
          </a:p>
          <a:p/>
          <a:p>
            <a:r>
              <a:t>6. Techs under 85% - $136K a year. Store proficiency 108%. Each tech under 85% raised to 85% of their own clocked hours, valued at the store's labor + parts gross per flagged hour: $11K a month x 12.</a:t>
            </a:r>
          </a:p>
          <a:p/>
          <a:p>
            <a:r>
              <a:t>7. CP labor GP % - $102K a year. 75.7% vs 78% (bottom of the 78-80% range) x $3.25M CP labor sale x 12/9.</a:t>
            </a:r>
          </a:p>
          <a:p/>
          <a:p>
            <a:r>
              <a:t>8. Brake fluid - $80K a year. Brake fluid 7.0% vs 10%: 683 more a year (Jan–Sep x 12/9) x $117 gross a service.</a:t>
            </a:r>
          </a:p>
          <a:p/>
          <a:p>
            <a:r>
              <a:t>9. Parts gross - $76K a year. Parts gross $2,250,197 vs $2,307,440 Jan–Sep 2025, x 12/9. Overlaps CP parts GP.</a:t>
            </a:r>
          </a:p>
          <a:p/>
          <a:p>
            <a:r>
              <a:t>10. Fuel service - $56K a year. Fuel service 5.8% vs 7.5%: 387 more a year (Jan–Sep x 12/9) x $145 gross a service.</a:t>
            </a:r>
          </a:p>
          <a:p/>
          <a:p>
            <a:r>
              <a:t>11. Fixed gross/head - not priced. $11,128 a month (Jan–Sep gross ÷ 533 head-months, ADP) vs the non-luxury $12,714: 7.4 heads over. Counted, not priced: no store personnel cost in the data.</a:t>
            </a:r>
          </a:p>
          <a:p/>
          <a:p>
            <a:r>
              <a:t>12. MPI completion - not priced. 81.3% of 6,415 CP &amp; W ROs Jul–Sep vs 90%: 2,232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$743K a year. Store proficiency 72%. Each tech under 85% raised to 85% of their own clocked hours, valued at the store's labor + parts gross per flagged hour: $62K a month x 12.</a:t>
            </a:r>
          </a:p>
          <a:p/>
          <a:p>
            <a:r>
              <a:t>2. CP hours per RO - $517K a year. 2.28 vs the luxury 2.90: gap x 3,402 CP ROs x $183 an hour x 12/9.</a:t>
            </a:r>
          </a:p>
          <a:p/>
          <a:p>
            <a:r>
              <a:t>3. CP labor $ per RO - $505K a year. $506 vs the luxury $632: gap x 3,402 CP ROs x the store's 88.6% labor GP x 12/9. Overlaps hours per RO and ELR.</a:t>
            </a:r>
          </a:p>
          <a:p/>
          <a:p>
            <a:r>
              <a:t>4. Parts gross - $67K a year. Parts gross $1,492,527 vs $1,542,570 Jan–Sep 2025, x 12/9. Overlaps CP parts GP.</a:t>
            </a:r>
          </a:p>
          <a:p/>
          <a:p>
            <a:r>
              <a:t>5. Video completion - not priced. 52.5% vs the group's 57.8% on 1,711 CP &amp; W ROs Jul–Sep: 366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$730K a year. Service gross $3,502,514 vs $4,049,724 Jan–Sep 2025, x 12/9. Overlaps the CP lines.</a:t>
            </a:r>
          </a:p>
          <a:p/>
          <a:p>
            <a:r>
              <a:t>2. Techs under 85% - $295K a year. Store proficiency 92%. Each tech under 85% raised to 85% of their own clocked hours, valued at the store's labor + parts gross per flagged hour: $25K a month x 12.</a:t>
            </a:r>
          </a:p>
          <a:p/>
          <a:p>
            <a:r>
              <a:t>3. Parts gross - $285K a year. Parts gross $1,287,787 vs $1,501,770 Jan–Sep 2025, x 12/9. Overlaps CP parts GP.</a:t>
            </a:r>
          </a:p>
          <a:p/>
          <a:p>
            <a:r>
              <a:t>4. CP parts GP % - $69K a year. 36.9% vs the non-luxury 40.5% x $1.45M CP parts sale x 12/9.</a:t>
            </a:r>
          </a:p>
          <a:p/>
          <a:p>
            <a:r>
              <a:t>5. Tire balance - $27K a year. Tire balance 8.2% vs 15%: 460 more a year (Jan–Sep x 12/9) x $60 gross a service.</a:t>
            </a:r>
          </a:p>
          <a:p/>
          <a:p>
            <a:r>
              <a:t>6. Alignment - $23K a year. Alignment 13.6% vs 15%: 96 more a year (Jan–Sep x 12/9) x $245 gross a service.</a:t>
            </a:r>
          </a:p>
          <a:p/>
          <a:p>
            <a:r>
              <a:t>7. Fixed gross/head - not priced. $12,006 a month (Jan–Sep gross ÷ 399 head-months, ADP) vs the non-luxury $12,714: 2.5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$248K a year. Store proficiency 70%. Each tech under 85% raised to 85% of their own clocked hours, valued at the store's labor + parts gross per flagged hour: $21K a month x 12.</a:t>
            </a:r>
          </a:p>
          <a:p/>
          <a:p>
            <a:r>
              <a:t>2. Service gross - $180K a year. Service gross $588,480 vs $723,516 Jan–Sep 2025, x 12/9. Overlaps the CP lines.</a:t>
            </a:r>
          </a:p>
          <a:p/>
          <a:p>
            <a:r>
              <a:t>3. CP RO count - $151K a year. 332 fewer CP ROs than Jan–Sep 2025 x $342 a RO x 12/9.</a:t>
            </a:r>
          </a:p>
          <a:p/>
          <a:p>
            <a:r>
              <a:t>4. CP labor $ per RO - $68K a year. $231 vs the non-luxury $264: gap x 1,919 CP ROs x the store's 79.4% labor GP x 12/9. Overlaps hours per RO and ELR.</a:t>
            </a:r>
          </a:p>
          <a:p/>
          <a:p>
            <a:r>
              <a:t>5. Parts gross - $37K a year. Parts gross $379,537 vs $407,348 Jan–Sep 2025, x 12/9. Overlaps CP parts GP.</a:t>
            </a:r>
          </a:p>
          <a:p/>
          <a:p>
            <a:r>
              <a:t>6. Fuel service - $29K a year. Fuel service 2.7% vs 7.5%: 123 more a year (Jan–Sep x 12/9) x $236 gross a service.</a:t>
            </a:r>
          </a:p>
          <a:p/>
          <a:p>
            <a:r>
              <a:t>7. Tire balance - $28K a year. Tire balance 0.4% vs 15%: 373 more a year (Jan–Sep x 12/9) x $75 gross a service.</a:t>
            </a:r>
          </a:p>
          <a:p/>
          <a:p>
            <a:r>
              <a:t>8. CP hours per RO - $18K a year. 1.71 vs the non-luxury 1.75: gap x 1,919 CP ROs x $183 an hour x 12/9.</a:t>
            </a:r>
          </a:p>
          <a:p/>
          <a:p>
            <a:r>
              <a:t>9. Alignment - $18K a year. Alignment 5.6% vs 15%: 240 more a year (Jan–Sep x 12/9) x $74 gross a service.</a:t>
            </a:r>
          </a:p>
          <a:p/>
          <a:p>
            <a:r>
              <a:t>10. Brake fluid - $13K a year. Brake fluid 5.4% vs 10%: 117 more a year (Jan–Sep x 12/9) x $111 gross a service.</a:t>
            </a:r>
          </a:p>
          <a:p/>
          <a:p>
            <a:r>
              <a:t>11. MPI completion - not priced. 45.7% of 978 CP &amp; W ROs Jul–Sep vs 90%: 1,733 more a year (x 4). Not priced.</a:t>
            </a:r>
          </a:p>
          <a:p/>
          <a:p>
            <a:r>
              <a:t>12. Fixed gross/head - not priced. $9,878 a month (Jan–Sep gross ÷ 98 head-months, ADP) vs the non-luxury $12,714: 2.4 heads over. Counted, not priced: no store personnel cost in the data.</a:t>
            </a:r>
          </a:p>
          <a:p/>
          <a:p>
            <a:r>
              <a:t>13. Video completion - not priced. 48.5% vs the group's 57.8% on 978 CP &amp; W ROs Jul–Sep: 365 more a year (x 4). Not priced.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chart" Target="../charts/chart12.xml"/><Relationship Id="rId8" Type="http://schemas.openxmlformats.org/officeDocument/2006/relationships/chart" Target="../charts/chart13.xml"/><Relationship Id="rId9" Type="http://schemas.openxmlformats.org/officeDocument/2006/relationships/chart" Target="../charts/chart14.xml"/><Relationship Id="rId10" Type="http://schemas.openxmlformats.org/officeDocument/2006/relationships/chart" Target="../charts/chart15.xml"/><Relationship Id="rId11" Type="http://schemas.openxmlformats.org/officeDocument/2006/relationships/chart" Target="../charts/chart16.xml"/><Relationship Id="rId12" Type="http://schemas.openxmlformats.org/officeDocument/2006/relationships/chart" Target="../charts/chart17.xml"/><Relationship Id="rId13" Type="http://schemas.openxmlformats.org/officeDocument/2006/relationships/chart" Target="../charts/chart18.xml"/><Relationship Id="rId14" Type="http://schemas.openxmlformats.org/officeDocument/2006/relationships/notesSlide" Target="../notesSlides/notesSlide1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xml"/><Relationship Id="rId3" Type="http://schemas.openxmlformats.org/officeDocument/2006/relationships/chart" Target="../charts/chart20.xml"/><Relationship Id="rId4" Type="http://schemas.openxmlformats.org/officeDocument/2006/relationships/chart" Target="../charts/chart21.xml"/><Relationship Id="rId5" Type="http://schemas.openxmlformats.org/officeDocument/2006/relationships/chart" Target="../charts/chart22.xml"/><Relationship Id="rId6" Type="http://schemas.openxmlformats.org/officeDocument/2006/relationships/chart" Target="../charts/chart23.xml"/><Relationship Id="rId7" Type="http://schemas.openxmlformats.org/officeDocument/2006/relationships/notesSlide" Target="../notesSlides/notesSlide1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xml"/><Relationship Id="rId3" Type="http://schemas.openxmlformats.org/officeDocument/2006/relationships/chart" Target="../charts/chart25.xml"/><Relationship Id="rId4" Type="http://schemas.openxmlformats.org/officeDocument/2006/relationships/chart" Target="../charts/chart26.xml"/><Relationship Id="rId5" Type="http://schemas.openxmlformats.org/officeDocument/2006/relationships/chart" Target="../charts/chart27.xml"/><Relationship Id="rId6" Type="http://schemas.openxmlformats.org/officeDocument/2006/relationships/chart" Target="../charts/chart28.xml"/><Relationship Id="rId7" Type="http://schemas.openxmlformats.org/officeDocument/2006/relationships/chart" Target="../charts/chart29.xml"/><Relationship Id="rId8" Type="http://schemas.openxmlformats.org/officeDocument/2006/relationships/chart" Target="../charts/chart30.xml"/><Relationship Id="rId9" Type="http://schemas.openxmlformats.org/officeDocument/2006/relationships/chart" Target="../charts/chart31.xml"/><Relationship Id="rId10" Type="http://schemas.openxmlformats.org/officeDocument/2006/relationships/chart" Target="../charts/chart32.xml"/><Relationship Id="rId11" Type="http://schemas.openxmlformats.org/officeDocument/2006/relationships/chart" Target="../charts/chart33.xml"/><Relationship Id="rId12" Type="http://schemas.openxmlformats.org/officeDocument/2006/relationships/chart" Target="../charts/chart34.xml"/><Relationship Id="rId13" Type="http://schemas.openxmlformats.org/officeDocument/2006/relationships/chart" Target="../charts/chart35.xml"/><Relationship Id="rId14" Type="http://schemas.openxmlformats.org/officeDocument/2006/relationships/notesSlide" Target="../notesSlides/notesSlide2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6.xml"/><Relationship Id="rId3" Type="http://schemas.openxmlformats.org/officeDocument/2006/relationships/chart" Target="../charts/chart37.xml"/><Relationship Id="rId4" Type="http://schemas.openxmlformats.org/officeDocument/2006/relationships/chart" Target="../charts/chart38.xml"/><Relationship Id="rId5" Type="http://schemas.openxmlformats.org/officeDocument/2006/relationships/chart" Target="../charts/chart39.xml"/><Relationship Id="rId6" Type="http://schemas.openxmlformats.org/officeDocument/2006/relationships/chart" Target="../charts/chart40.xml"/><Relationship Id="rId7" Type="http://schemas.openxmlformats.org/officeDocument/2006/relationships/chart" Target="../charts/chart41.xml"/><Relationship Id="rId8" Type="http://schemas.openxmlformats.org/officeDocument/2006/relationships/notesSlide" Target="../notesSlides/notesSlide2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2.xml"/><Relationship Id="rId3" Type="http://schemas.openxmlformats.org/officeDocument/2006/relationships/chart" Target="../charts/chart43.xml"/><Relationship Id="rId4" Type="http://schemas.openxmlformats.org/officeDocument/2006/relationships/chart" Target="../charts/chart44.xml"/><Relationship Id="rId5" Type="http://schemas.openxmlformats.org/officeDocument/2006/relationships/chart" Target="../charts/chart45.xml"/><Relationship Id="rId6" Type="http://schemas.openxmlformats.org/officeDocument/2006/relationships/chart" Target="../charts/chart46.xml"/><Relationship Id="rId7" Type="http://schemas.openxmlformats.org/officeDocument/2006/relationships/chart" Target="../charts/chart47.xml"/><Relationship Id="rId8" Type="http://schemas.openxmlformats.org/officeDocument/2006/relationships/chart" Target="../charts/chart48.xml"/><Relationship Id="rId9" Type="http://schemas.openxmlformats.org/officeDocument/2006/relationships/chart" Target="../charts/chart49.xml"/><Relationship Id="rId10" Type="http://schemas.openxmlformats.org/officeDocument/2006/relationships/chart" Target="../charts/chart50.xml"/><Relationship Id="rId11" Type="http://schemas.openxmlformats.org/officeDocument/2006/relationships/chart" Target="../charts/chart51.xml"/><Relationship Id="rId12" Type="http://schemas.openxmlformats.org/officeDocument/2006/relationships/chart" Target="../charts/chart52.xml"/><Relationship Id="rId13" Type="http://schemas.openxmlformats.org/officeDocument/2006/relationships/chart" Target="../charts/chart53.xml"/><Relationship Id="rId14" Type="http://schemas.openxmlformats.org/officeDocument/2006/relationships/notesSlide" Target="../notesSlides/notesSlide2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0.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4.xml"/><Relationship Id="rId3" Type="http://schemas.openxmlformats.org/officeDocument/2006/relationships/chart" Target="../charts/chart55.xml"/><Relationship Id="rId4" Type="http://schemas.openxmlformats.org/officeDocument/2006/relationships/chart" Target="../charts/chart56.xml"/><Relationship Id="rId5" Type="http://schemas.openxmlformats.org/officeDocument/2006/relationships/chart" Target="../charts/chart57.xml"/><Relationship Id="rId6" Type="http://schemas.openxmlformats.org/officeDocument/2006/relationships/chart" Target="../charts/chart58.xml"/><Relationship Id="rId7" Type="http://schemas.openxmlformats.org/officeDocument/2006/relationships/chart" Target="../charts/chart59.xml"/><Relationship Id="rId8" Type="http://schemas.openxmlformats.org/officeDocument/2006/relationships/notesSlide" Target="../notesSlides/notesSlide3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0.xml"/><Relationship Id="rId3" Type="http://schemas.openxmlformats.org/officeDocument/2006/relationships/chart" Target="../charts/chart61.xml"/><Relationship Id="rId4" Type="http://schemas.openxmlformats.org/officeDocument/2006/relationships/chart" Target="../charts/chart62.xml"/><Relationship Id="rId5" Type="http://schemas.openxmlformats.org/officeDocument/2006/relationships/chart" Target="../charts/chart63.xml"/><Relationship Id="rId6" Type="http://schemas.openxmlformats.org/officeDocument/2006/relationships/chart" Target="../charts/chart64.xml"/><Relationship Id="rId7" Type="http://schemas.openxmlformats.org/officeDocument/2006/relationships/chart" Target="../charts/chart65.xml"/><Relationship Id="rId8" Type="http://schemas.openxmlformats.org/officeDocument/2006/relationships/chart" Target="../charts/chart66.xml"/><Relationship Id="rId9" Type="http://schemas.openxmlformats.org/officeDocument/2006/relationships/chart" Target="../charts/chart67.xml"/><Relationship Id="rId10" Type="http://schemas.openxmlformats.org/officeDocument/2006/relationships/chart" Target="../charts/chart68.xml"/><Relationship Id="rId11" Type="http://schemas.openxmlformats.org/officeDocument/2006/relationships/chart" Target="../charts/chart69.xml"/><Relationship Id="rId12" Type="http://schemas.openxmlformats.org/officeDocument/2006/relationships/chart" Target="../charts/chart70.xml"/><Relationship Id="rId13" Type="http://schemas.openxmlformats.org/officeDocument/2006/relationships/chart" Target="../charts/chart71.xml"/><Relationship Id="rId14" Type="http://schemas.openxmlformats.org/officeDocument/2006/relationships/notesSlide" Target="../notesSlides/notesSlide3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2.xml"/><Relationship Id="rId3" Type="http://schemas.openxmlformats.org/officeDocument/2006/relationships/chart" Target="../charts/chart73.xml"/><Relationship Id="rId4" Type="http://schemas.openxmlformats.org/officeDocument/2006/relationships/chart" Target="../charts/chart74.xml"/><Relationship Id="rId5" Type="http://schemas.openxmlformats.org/officeDocument/2006/relationships/chart" Target="../charts/chart75.xml"/><Relationship Id="rId6" Type="http://schemas.openxmlformats.org/officeDocument/2006/relationships/chart" Target="../charts/chart76.xml"/><Relationship Id="rId7" Type="http://schemas.openxmlformats.org/officeDocument/2006/relationships/notesSlide" Target="../notesSlides/notesSlide3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7.xml"/><Relationship Id="rId3" Type="http://schemas.openxmlformats.org/officeDocument/2006/relationships/chart" Target="../charts/chart78.xml"/><Relationship Id="rId4" Type="http://schemas.openxmlformats.org/officeDocument/2006/relationships/chart" Target="../charts/chart79.xml"/><Relationship Id="rId5" Type="http://schemas.openxmlformats.org/officeDocument/2006/relationships/chart" Target="../charts/chart80.xml"/><Relationship Id="rId6" Type="http://schemas.openxmlformats.org/officeDocument/2006/relationships/chart" Target="../charts/chart81.xml"/><Relationship Id="rId7" Type="http://schemas.openxmlformats.org/officeDocument/2006/relationships/chart" Target="../charts/chart82.xml"/><Relationship Id="rId8" Type="http://schemas.openxmlformats.org/officeDocument/2006/relationships/chart" Target="../charts/chart83.xml"/><Relationship Id="rId9" Type="http://schemas.openxmlformats.org/officeDocument/2006/relationships/chart" Target="../charts/chart84.xml"/><Relationship Id="rId10" Type="http://schemas.openxmlformats.org/officeDocument/2006/relationships/chart" Target="../charts/chart85.xml"/><Relationship Id="rId11" Type="http://schemas.openxmlformats.org/officeDocument/2006/relationships/chart" Target="../charts/chart86.xml"/><Relationship Id="rId12" Type="http://schemas.openxmlformats.org/officeDocument/2006/relationships/chart" Target="../charts/chart87.xml"/><Relationship Id="rId13" Type="http://schemas.openxmlformats.org/officeDocument/2006/relationships/chart" Target="../charts/chart88.xml"/><Relationship Id="rId14" Type="http://schemas.openxmlformats.org/officeDocument/2006/relationships/notesSlide" Target="../notesSlides/notesSlide3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9.xml"/><Relationship Id="rId3" Type="http://schemas.openxmlformats.org/officeDocument/2006/relationships/chart" Target="../charts/chart90.xml"/><Relationship Id="rId4" Type="http://schemas.openxmlformats.org/officeDocument/2006/relationships/chart" Target="../charts/chart91.xml"/><Relationship Id="rId5" Type="http://schemas.openxmlformats.org/officeDocument/2006/relationships/chart" Target="../charts/chart92.xml"/><Relationship Id="rId6" Type="http://schemas.openxmlformats.org/officeDocument/2006/relationships/chart" Target="../charts/chart93.xml"/><Relationship Id="rId7" Type="http://schemas.openxmlformats.org/officeDocument/2006/relationships/chart" Target="../charts/chart94.xml"/><Relationship Id="rId8" Type="http://schemas.openxmlformats.org/officeDocument/2006/relationships/notesSlide" Target="../notesSlides/notesSlide3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5.xml"/><Relationship Id="rId3" Type="http://schemas.openxmlformats.org/officeDocument/2006/relationships/chart" Target="../charts/chart96.xml"/><Relationship Id="rId4" Type="http://schemas.openxmlformats.org/officeDocument/2006/relationships/chart" Target="../charts/chart97.xml"/><Relationship Id="rId5" Type="http://schemas.openxmlformats.org/officeDocument/2006/relationships/chart" Target="../charts/chart98.xml"/><Relationship Id="rId6" Type="http://schemas.openxmlformats.org/officeDocument/2006/relationships/chart" Target="../charts/chart99.xml"/><Relationship Id="rId7" Type="http://schemas.openxmlformats.org/officeDocument/2006/relationships/chart" Target="../charts/chart100.xml"/><Relationship Id="rId8" Type="http://schemas.openxmlformats.org/officeDocument/2006/relationships/chart" Target="../charts/chart101.xml"/><Relationship Id="rId9" Type="http://schemas.openxmlformats.org/officeDocument/2006/relationships/chart" Target="../charts/chart102.xml"/><Relationship Id="rId10" Type="http://schemas.openxmlformats.org/officeDocument/2006/relationships/chart" Target="../charts/chart103.xml"/><Relationship Id="rId11" Type="http://schemas.openxmlformats.org/officeDocument/2006/relationships/chart" Target="../charts/chart104.xml"/><Relationship Id="rId12" Type="http://schemas.openxmlformats.org/officeDocument/2006/relationships/chart" Target="../charts/chart105.xml"/><Relationship Id="rId13" Type="http://schemas.openxmlformats.org/officeDocument/2006/relationships/chart" Target="../charts/chart106.xml"/><Relationship Id="rId14" Type="http://schemas.openxmlformats.org/officeDocument/2006/relationships/notesSlide" Target="../notesSlides/notesSlide42.xml"/></Relationships>
</file>

<file path=ppt/slides/_rels/slide35.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7.xml"/><Relationship Id="rId3" Type="http://schemas.openxmlformats.org/officeDocument/2006/relationships/chart" Target="../charts/chart108.xml"/><Relationship Id="rId4" Type="http://schemas.openxmlformats.org/officeDocument/2006/relationships/chart" Target="../charts/chart109.xml"/><Relationship Id="rId5" Type="http://schemas.openxmlformats.org/officeDocument/2006/relationships/chart" Target="../charts/chart110.xml"/><Relationship Id="rId6" Type="http://schemas.openxmlformats.org/officeDocument/2006/relationships/chart" Target="../charts/chart111.xml"/><Relationship Id="rId7" Type="http://schemas.openxmlformats.org/officeDocument/2006/relationships/chart" Target="../charts/chart112.xml"/><Relationship Id="rId8" Type="http://schemas.openxmlformats.org/officeDocument/2006/relationships/notesSlide" Target="../notesSlides/notesSlide4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3.xml"/><Relationship Id="rId3" Type="http://schemas.openxmlformats.org/officeDocument/2006/relationships/chart" Target="../charts/chart114.xml"/><Relationship Id="rId4" Type="http://schemas.openxmlformats.org/officeDocument/2006/relationships/chart" Target="../charts/chart115.xml"/><Relationship Id="rId5" Type="http://schemas.openxmlformats.org/officeDocument/2006/relationships/chart" Target="../charts/chart116.xml"/><Relationship Id="rId6" Type="http://schemas.openxmlformats.org/officeDocument/2006/relationships/chart" Target="../charts/chart117.xml"/><Relationship Id="rId7" Type="http://schemas.openxmlformats.org/officeDocument/2006/relationships/chart" Target="../charts/chart118.xml"/><Relationship Id="rId8" Type="http://schemas.openxmlformats.org/officeDocument/2006/relationships/chart" Target="../charts/chart119.xml"/><Relationship Id="rId9" Type="http://schemas.openxmlformats.org/officeDocument/2006/relationships/chart" Target="../charts/chart120.xml"/><Relationship Id="rId10" Type="http://schemas.openxmlformats.org/officeDocument/2006/relationships/chart" Target="../charts/chart121.xml"/><Relationship Id="rId11" Type="http://schemas.openxmlformats.org/officeDocument/2006/relationships/chart" Target="../charts/chart122.xml"/><Relationship Id="rId12" Type="http://schemas.openxmlformats.org/officeDocument/2006/relationships/chart" Target="../charts/chart123.xml"/><Relationship Id="rId13" Type="http://schemas.openxmlformats.org/officeDocument/2006/relationships/chart" Target="../charts/chart124.xml"/><Relationship Id="rId14" Type="http://schemas.openxmlformats.org/officeDocument/2006/relationships/notesSlide" Target="../notesSlides/notesSlide4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5.xml"/><Relationship Id="rId3" Type="http://schemas.openxmlformats.org/officeDocument/2006/relationships/chart" Target="../charts/chart126.xml"/><Relationship Id="rId4" Type="http://schemas.openxmlformats.org/officeDocument/2006/relationships/chart" Target="../charts/chart127.xml"/><Relationship Id="rId5" Type="http://schemas.openxmlformats.org/officeDocument/2006/relationships/chart" Target="../charts/chart128.xml"/><Relationship Id="rId6" Type="http://schemas.openxmlformats.org/officeDocument/2006/relationships/chart" Target="../charts/chart129.xml"/><Relationship Id="rId7" Type="http://schemas.openxmlformats.org/officeDocument/2006/relationships/notesSlide" Target="../notesSlides/notesSlide4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0.xml"/><Relationship Id="rId3" Type="http://schemas.openxmlformats.org/officeDocument/2006/relationships/chart" Target="../charts/chart131.xml"/><Relationship Id="rId4" Type="http://schemas.openxmlformats.org/officeDocument/2006/relationships/chart" Target="../charts/chart132.xml"/><Relationship Id="rId5" Type="http://schemas.openxmlformats.org/officeDocument/2006/relationships/chart" Target="../charts/chart133.xml"/><Relationship Id="rId6" Type="http://schemas.openxmlformats.org/officeDocument/2006/relationships/chart" Target="../charts/chart134.xml"/><Relationship Id="rId7" Type="http://schemas.openxmlformats.org/officeDocument/2006/relationships/chart" Target="../charts/chart135.xml"/><Relationship Id="rId8" Type="http://schemas.openxmlformats.org/officeDocument/2006/relationships/chart" Target="../charts/chart136.xml"/><Relationship Id="rId9" Type="http://schemas.openxmlformats.org/officeDocument/2006/relationships/chart" Target="../charts/chart137.xml"/><Relationship Id="rId10" Type="http://schemas.openxmlformats.org/officeDocument/2006/relationships/chart" Target="../charts/chart138.xml"/><Relationship Id="rId11" Type="http://schemas.openxmlformats.org/officeDocument/2006/relationships/chart" Target="../charts/chart139.xml"/><Relationship Id="rId12" Type="http://schemas.openxmlformats.org/officeDocument/2006/relationships/chart" Target="../charts/chart140.xml"/><Relationship Id="rId13" Type="http://schemas.openxmlformats.org/officeDocument/2006/relationships/chart" Target="../charts/chart141.xml"/><Relationship Id="rId14" Type="http://schemas.openxmlformats.org/officeDocument/2006/relationships/notesSlide" Target="../notesSlides/notesSlide5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2.xml"/><Relationship Id="rId3" Type="http://schemas.openxmlformats.org/officeDocument/2006/relationships/chart" Target="../charts/chart143.xml"/><Relationship Id="rId4" Type="http://schemas.openxmlformats.org/officeDocument/2006/relationships/chart" Target="../charts/chart144.xml"/><Relationship Id="rId5" Type="http://schemas.openxmlformats.org/officeDocument/2006/relationships/chart" Target="../charts/chart145.xml"/><Relationship Id="rId6" Type="http://schemas.openxmlformats.org/officeDocument/2006/relationships/chart" Target="../charts/chart146.xml"/><Relationship Id="rId7" Type="http://schemas.openxmlformats.org/officeDocument/2006/relationships/chart" Target="../charts/chart147.xml"/><Relationship Id="rId8" Type="http://schemas.openxmlformats.org/officeDocument/2006/relationships/notesSlide" Target="../notesSlides/notesSlide5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8.xml"/><Relationship Id="rId3" Type="http://schemas.openxmlformats.org/officeDocument/2006/relationships/chart" Target="../charts/chart149.xml"/><Relationship Id="rId4" Type="http://schemas.openxmlformats.org/officeDocument/2006/relationships/chart" Target="../charts/chart150.xml"/><Relationship Id="rId5" Type="http://schemas.openxmlformats.org/officeDocument/2006/relationships/chart" Target="../charts/chart151.xml"/><Relationship Id="rId6" Type="http://schemas.openxmlformats.org/officeDocument/2006/relationships/chart" Target="../charts/chart152.xml"/><Relationship Id="rId7" Type="http://schemas.openxmlformats.org/officeDocument/2006/relationships/chart" Target="../charts/chart153.xml"/><Relationship Id="rId8" Type="http://schemas.openxmlformats.org/officeDocument/2006/relationships/chart" Target="../charts/chart154.xml"/><Relationship Id="rId9" Type="http://schemas.openxmlformats.org/officeDocument/2006/relationships/chart" Target="../charts/chart155.xml"/><Relationship Id="rId10" Type="http://schemas.openxmlformats.org/officeDocument/2006/relationships/chart" Target="../charts/chart156.xml"/><Relationship Id="rId11" Type="http://schemas.openxmlformats.org/officeDocument/2006/relationships/chart" Target="../charts/chart157.xml"/><Relationship Id="rId12" Type="http://schemas.openxmlformats.org/officeDocument/2006/relationships/chart" Target="../charts/chart158.xml"/><Relationship Id="rId13" Type="http://schemas.openxmlformats.org/officeDocument/2006/relationships/chart" Target="../charts/chart159.xml"/><Relationship Id="rId14" Type="http://schemas.openxmlformats.org/officeDocument/2006/relationships/notesSlide" Target="../notesSlides/notesSlide56.xml"/></Relationships>
</file>

<file path=ppt/slides/_rels/slide50.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0.xml"/><Relationship Id="rId3" Type="http://schemas.openxmlformats.org/officeDocument/2006/relationships/chart" Target="../charts/chart161.xml"/><Relationship Id="rId4" Type="http://schemas.openxmlformats.org/officeDocument/2006/relationships/chart" Target="../charts/chart162.xml"/><Relationship Id="rId5" Type="http://schemas.openxmlformats.org/officeDocument/2006/relationships/chart" Target="../charts/chart163.xml"/><Relationship Id="rId6" Type="http://schemas.openxmlformats.org/officeDocument/2006/relationships/chart" Target="../charts/chart164.xml"/><Relationship Id="rId7" Type="http://schemas.openxmlformats.org/officeDocument/2006/relationships/chart" Target="../charts/chart165.xml"/><Relationship Id="rId8" Type="http://schemas.openxmlformats.org/officeDocument/2006/relationships/notesSlide" Target="../notesSlides/notesSlide6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6.xml"/><Relationship Id="rId3" Type="http://schemas.openxmlformats.org/officeDocument/2006/relationships/chart" Target="../charts/chart167.xml"/><Relationship Id="rId4" Type="http://schemas.openxmlformats.org/officeDocument/2006/relationships/chart" Target="../charts/chart168.xml"/><Relationship Id="rId5" Type="http://schemas.openxmlformats.org/officeDocument/2006/relationships/chart" Target="../charts/chart169.xml"/><Relationship Id="rId6" Type="http://schemas.openxmlformats.org/officeDocument/2006/relationships/chart" Target="../charts/chart170.xml"/><Relationship Id="rId7" Type="http://schemas.openxmlformats.org/officeDocument/2006/relationships/chart" Target="../charts/chart171.xml"/><Relationship Id="rId8" Type="http://schemas.openxmlformats.org/officeDocument/2006/relationships/chart" Target="../charts/chart172.xml"/><Relationship Id="rId9" Type="http://schemas.openxmlformats.org/officeDocument/2006/relationships/chart" Target="../charts/chart173.xml"/><Relationship Id="rId10" Type="http://schemas.openxmlformats.org/officeDocument/2006/relationships/chart" Target="../charts/chart174.xml"/><Relationship Id="rId11" Type="http://schemas.openxmlformats.org/officeDocument/2006/relationships/chart" Target="../charts/chart175.xml"/><Relationship Id="rId12" Type="http://schemas.openxmlformats.org/officeDocument/2006/relationships/chart" Target="../charts/chart176.xml"/><Relationship Id="rId13" Type="http://schemas.openxmlformats.org/officeDocument/2006/relationships/chart" Target="../charts/chart177.xml"/><Relationship Id="rId14" Type="http://schemas.openxmlformats.org/officeDocument/2006/relationships/notesSlide" Target="../notesSlides/notesSlide66.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8.xml"/><Relationship Id="rId3" Type="http://schemas.openxmlformats.org/officeDocument/2006/relationships/chart" Target="../charts/chart179.xml"/><Relationship Id="rId4" Type="http://schemas.openxmlformats.org/officeDocument/2006/relationships/chart" Target="../charts/chart180.xml"/><Relationship Id="rId5" Type="http://schemas.openxmlformats.org/officeDocument/2006/relationships/chart" Target="../charts/chart181.xml"/><Relationship Id="rId6" Type="http://schemas.openxmlformats.org/officeDocument/2006/relationships/chart" Target="../charts/chart182.xml"/><Relationship Id="rId7" Type="http://schemas.openxmlformats.org/officeDocument/2006/relationships/chart" Target="../charts/chart183.xml"/><Relationship Id="rId8" Type="http://schemas.openxmlformats.org/officeDocument/2006/relationships/notesSlide" Target="../notesSlides/notesSlide6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4.xml"/><Relationship Id="rId3" Type="http://schemas.openxmlformats.org/officeDocument/2006/relationships/chart" Target="../charts/chart185.xml"/><Relationship Id="rId4" Type="http://schemas.openxmlformats.org/officeDocument/2006/relationships/chart" Target="../charts/chart186.xml"/><Relationship Id="rId5" Type="http://schemas.openxmlformats.org/officeDocument/2006/relationships/chart" Target="../charts/chart187.xml"/><Relationship Id="rId6" Type="http://schemas.openxmlformats.org/officeDocument/2006/relationships/chart" Target="../charts/chart188.xml"/><Relationship Id="rId7" Type="http://schemas.openxmlformats.org/officeDocument/2006/relationships/chart" Target="../charts/chart189.xml"/><Relationship Id="rId8" Type="http://schemas.openxmlformats.org/officeDocument/2006/relationships/chart" Target="../charts/chart190.xml"/><Relationship Id="rId9" Type="http://schemas.openxmlformats.org/officeDocument/2006/relationships/chart" Target="../charts/chart191.xml"/><Relationship Id="rId10" Type="http://schemas.openxmlformats.org/officeDocument/2006/relationships/chart" Target="../charts/chart192.xml"/><Relationship Id="rId11" Type="http://schemas.openxmlformats.org/officeDocument/2006/relationships/chart" Target="../charts/chart193.xml"/><Relationship Id="rId12" Type="http://schemas.openxmlformats.org/officeDocument/2006/relationships/chart" Target="../charts/chart194.xml"/><Relationship Id="rId13" Type="http://schemas.openxmlformats.org/officeDocument/2006/relationships/chart" Target="../charts/chart195.xml"/><Relationship Id="rId14" Type="http://schemas.openxmlformats.org/officeDocument/2006/relationships/notesSlide" Target="../notesSlides/notesSlide7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6.xml"/><Relationship Id="rId3" Type="http://schemas.openxmlformats.org/officeDocument/2006/relationships/chart" Target="../charts/chart197.xml"/><Relationship Id="rId4" Type="http://schemas.openxmlformats.org/officeDocument/2006/relationships/chart" Target="../charts/chart198.xml"/><Relationship Id="rId5" Type="http://schemas.openxmlformats.org/officeDocument/2006/relationships/chart" Target="../charts/chart199.xml"/><Relationship Id="rId6" Type="http://schemas.openxmlformats.org/officeDocument/2006/relationships/chart" Target="../charts/chart200.xml"/><Relationship Id="rId7" Type="http://schemas.openxmlformats.org/officeDocument/2006/relationships/notesSlide" Target="../notesSlides/notesSlide7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1.xml"/><Relationship Id="rId3" Type="http://schemas.openxmlformats.org/officeDocument/2006/relationships/chart" Target="../charts/chart202.xml"/><Relationship Id="rId4" Type="http://schemas.openxmlformats.org/officeDocument/2006/relationships/chart" Target="../charts/chart203.xml"/><Relationship Id="rId5" Type="http://schemas.openxmlformats.org/officeDocument/2006/relationships/chart" Target="../charts/chart204.xml"/><Relationship Id="rId6" Type="http://schemas.openxmlformats.org/officeDocument/2006/relationships/chart" Target="../charts/chart205.xml"/><Relationship Id="rId7" Type="http://schemas.openxmlformats.org/officeDocument/2006/relationships/chart" Target="../charts/chart206.xml"/><Relationship Id="rId8" Type="http://schemas.openxmlformats.org/officeDocument/2006/relationships/chart" Target="../charts/chart207.xml"/><Relationship Id="rId9" Type="http://schemas.openxmlformats.org/officeDocument/2006/relationships/chart" Target="../charts/chart208.xml"/><Relationship Id="rId10" Type="http://schemas.openxmlformats.org/officeDocument/2006/relationships/chart" Target="../charts/chart209.xml"/><Relationship Id="rId11" Type="http://schemas.openxmlformats.org/officeDocument/2006/relationships/chart" Target="../charts/chart210.xml"/><Relationship Id="rId12" Type="http://schemas.openxmlformats.org/officeDocument/2006/relationships/chart" Target="../charts/chart211.xml"/><Relationship Id="rId13" Type="http://schemas.openxmlformats.org/officeDocument/2006/relationships/chart" Target="../charts/chart212.xml"/><Relationship Id="rId14" Type="http://schemas.openxmlformats.org/officeDocument/2006/relationships/notesSlide" Target="../notesSlides/notesSlide7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3.xml"/><Relationship Id="rId3" Type="http://schemas.openxmlformats.org/officeDocument/2006/relationships/chart" Target="../charts/chart214.xml"/><Relationship Id="rId4" Type="http://schemas.openxmlformats.org/officeDocument/2006/relationships/chart" Target="../charts/chart215.xml"/><Relationship Id="rId5" Type="http://schemas.openxmlformats.org/officeDocument/2006/relationships/chart" Target="../charts/chart216.xml"/><Relationship Id="rId6" Type="http://schemas.openxmlformats.org/officeDocument/2006/relationships/chart" Target="../charts/chart217.xml"/><Relationship Id="rId7" Type="http://schemas.openxmlformats.org/officeDocument/2006/relationships/notesSlide" Target="../notesSlides/notesSlide8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8.xml"/><Relationship Id="rId3" Type="http://schemas.openxmlformats.org/officeDocument/2006/relationships/chart" Target="../charts/chart219.xml"/><Relationship Id="rId4" Type="http://schemas.openxmlformats.org/officeDocument/2006/relationships/chart" Target="../charts/chart220.xml"/><Relationship Id="rId5" Type="http://schemas.openxmlformats.org/officeDocument/2006/relationships/chart" Target="../charts/chart221.xml"/><Relationship Id="rId6" Type="http://schemas.openxmlformats.org/officeDocument/2006/relationships/chart" Target="../charts/chart222.xml"/><Relationship Id="rId7" Type="http://schemas.openxmlformats.org/officeDocument/2006/relationships/chart" Target="../charts/chart223.xml"/><Relationship Id="rId8" Type="http://schemas.openxmlformats.org/officeDocument/2006/relationships/chart" Target="../charts/chart224.xml"/><Relationship Id="rId9" Type="http://schemas.openxmlformats.org/officeDocument/2006/relationships/chart" Target="../charts/chart225.xml"/><Relationship Id="rId10" Type="http://schemas.openxmlformats.org/officeDocument/2006/relationships/chart" Target="../charts/chart226.xml"/><Relationship Id="rId11" Type="http://schemas.openxmlformats.org/officeDocument/2006/relationships/chart" Target="../charts/chart227.xml"/><Relationship Id="rId12" Type="http://schemas.openxmlformats.org/officeDocument/2006/relationships/chart" Target="../charts/chart228.xml"/><Relationship Id="rId13" Type="http://schemas.openxmlformats.org/officeDocument/2006/relationships/chart" Target="../charts/chart229.xml"/><Relationship Id="rId14" Type="http://schemas.openxmlformats.org/officeDocument/2006/relationships/notesSlide" Target="../notesSlides/notesSlide85.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0.xml"/><Relationship Id="rId3" Type="http://schemas.openxmlformats.org/officeDocument/2006/relationships/chart" Target="../charts/chart231.xml"/><Relationship Id="rId4" Type="http://schemas.openxmlformats.org/officeDocument/2006/relationships/chart" Target="../charts/chart232.xml"/><Relationship Id="rId5" Type="http://schemas.openxmlformats.org/officeDocument/2006/relationships/chart" Target="../charts/chart233.xml"/><Relationship Id="rId6" Type="http://schemas.openxmlformats.org/officeDocument/2006/relationships/chart" Target="../charts/chart234.xml"/><Relationship Id="rId7" Type="http://schemas.openxmlformats.org/officeDocument/2006/relationships/notesSlide" Target="../notesSlides/notesSlide8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5.xml"/><Relationship Id="rId3" Type="http://schemas.openxmlformats.org/officeDocument/2006/relationships/chart" Target="../charts/chart236.xml"/><Relationship Id="rId4" Type="http://schemas.openxmlformats.org/officeDocument/2006/relationships/chart" Target="../charts/chart237.xml"/><Relationship Id="rId5" Type="http://schemas.openxmlformats.org/officeDocument/2006/relationships/chart" Target="../charts/chart238.xml"/><Relationship Id="rId6" Type="http://schemas.openxmlformats.org/officeDocument/2006/relationships/chart" Target="../charts/chart239.xml"/><Relationship Id="rId7" Type="http://schemas.openxmlformats.org/officeDocument/2006/relationships/chart" Target="../charts/chart240.xml"/><Relationship Id="rId8" Type="http://schemas.openxmlformats.org/officeDocument/2006/relationships/chart" Target="../charts/chart241.xml"/><Relationship Id="rId9" Type="http://schemas.openxmlformats.org/officeDocument/2006/relationships/chart" Target="../charts/chart242.xml"/><Relationship Id="rId10" Type="http://schemas.openxmlformats.org/officeDocument/2006/relationships/chart" Target="../charts/chart243.xml"/><Relationship Id="rId11" Type="http://schemas.openxmlformats.org/officeDocument/2006/relationships/chart" Target="../charts/chart244.xml"/><Relationship Id="rId12" Type="http://schemas.openxmlformats.org/officeDocument/2006/relationships/chart" Target="../charts/chart245.xml"/><Relationship Id="rId13" Type="http://schemas.openxmlformats.org/officeDocument/2006/relationships/chart" Target="../charts/chart246.xml"/><Relationship Id="rId14" Type="http://schemas.openxmlformats.org/officeDocument/2006/relationships/notesSlide" Target="../notesSlides/notesSlide90.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7.xml"/><Relationship Id="rId3" Type="http://schemas.openxmlformats.org/officeDocument/2006/relationships/chart" Target="../charts/chart248.xml"/><Relationship Id="rId4" Type="http://schemas.openxmlformats.org/officeDocument/2006/relationships/chart" Target="../charts/chart249.xml"/><Relationship Id="rId5" Type="http://schemas.openxmlformats.org/officeDocument/2006/relationships/chart" Target="../charts/chart250.xml"/><Relationship Id="rId6" Type="http://schemas.openxmlformats.org/officeDocument/2006/relationships/chart" Target="../charts/chart251.xml"/><Relationship Id="rId7" Type="http://schemas.openxmlformats.org/officeDocument/2006/relationships/chart" Target="../charts/chart252.xml"/><Relationship Id="rId8" Type="http://schemas.openxmlformats.org/officeDocument/2006/relationships/chart" Target="../charts/chart253.xml"/><Relationship Id="rId9" Type="http://schemas.openxmlformats.org/officeDocument/2006/relationships/chart" Target="../charts/chart254.xml"/><Relationship Id="rId10" Type="http://schemas.openxmlformats.org/officeDocument/2006/relationships/notesSlide" Target="../notesSlides/notesSlide9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5.xml"/><Relationship Id="rId3" Type="http://schemas.openxmlformats.org/officeDocument/2006/relationships/chart" Target="../charts/chart256.xml"/><Relationship Id="rId4" Type="http://schemas.openxmlformats.org/officeDocument/2006/relationships/chart" Target="../charts/chart257.xml"/><Relationship Id="rId5" Type="http://schemas.openxmlformats.org/officeDocument/2006/relationships/chart" Target="../charts/chart258.xml"/><Relationship Id="rId6" Type="http://schemas.openxmlformats.org/officeDocument/2006/relationships/chart" Target="../charts/chart259.xml"/><Relationship Id="rId7" Type="http://schemas.openxmlformats.org/officeDocument/2006/relationships/chart" Target="../charts/chart260.xml"/><Relationship Id="rId8" Type="http://schemas.openxmlformats.org/officeDocument/2006/relationships/chart" Target="../charts/chart261.xml"/><Relationship Id="rId9" Type="http://schemas.openxmlformats.org/officeDocument/2006/relationships/chart" Target="../charts/chart262.xml"/><Relationship Id="rId10" Type="http://schemas.openxmlformats.org/officeDocument/2006/relationships/chart" Target="../charts/chart263.xml"/><Relationship Id="rId11" Type="http://schemas.openxmlformats.org/officeDocument/2006/relationships/chart" Target="../charts/chart264.xml"/><Relationship Id="rId12" Type="http://schemas.openxmlformats.org/officeDocument/2006/relationships/chart" Target="../charts/chart265.xml"/><Relationship Id="rId13" Type="http://schemas.openxmlformats.org/officeDocument/2006/relationships/chart" Target="../charts/chart266.xml"/><Relationship Id="rId14" Type="http://schemas.openxmlformats.org/officeDocument/2006/relationships/notesSlide" Target="../notesSlides/notesSlide95.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67.xml"/><Relationship Id="rId3" Type="http://schemas.openxmlformats.org/officeDocument/2006/relationships/chart" Target="../charts/chart268.xml"/><Relationship Id="rId4" Type="http://schemas.openxmlformats.org/officeDocument/2006/relationships/chart" Target="../charts/chart269.xml"/><Relationship Id="rId5" Type="http://schemas.openxmlformats.org/officeDocument/2006/relationships/chart" Target="../charts/chart270.xml"/><Relationship Id="rId6" Type="http://schemas.openxmlformats.org/officeDocument/2006/relationships/chart" Target="../charts/chart271.xml"/><Relationship Id="rId7" Type="http://schemas.openxmlformats.org/officeDocument/2006/relationships/notesSlide" Target="../notesSlides/notesSlide9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72.xml"/><Relationship Id="rId3" Type="http://schemas.openxmlformats.org/officeDocument/2006/relationships/chart" Target="../charts/chart273.xml"/><Relationship Id="rId4" Type="http://schemas.openxmlformats.org/officeDocument/2006/relationships/chart" Target="../charts/chart274.xml"/><Relationship Id="rId5" Type="http://schemas.openxmlformats.org/officeDocument/2006/relationships/chart" Target="../charts/chart275.xml"/><Relationship Id="rId6" Type="http://schemas.openxmlformats.org/officeDocument/2006/relationships/chart" Target="../charts/chart276.xml"/><Relationship Id="rId7" Type="http://schemas.openxmlformats.org/officeDocument/2006/relationships/chart" Target="../charts/chart277.xml"/><Relationship Id="rId8" Type="http://schemas.openxmlformats.org/officeDocument/2006/relationships/chart" Target="../charts/chart278.xml"/><Relationship Id="rId9" Type="http://schemas.openxmlformats.org/officeDocument/2006/relationships/chart" Target="../charts/chart279.xml"/><Relationship Id="rId10" Type="http://schemas.openxmlformats.org/officeDocument/2006/relationships/chart" Target="../charts/chart280.xml"/><Relationship Id="rId11" Type="http://schemas.openxmlformats.org/officeDocument/2006/relationships/chart" Target="../charts/chart281.xml"/><Relationship Id="rId12" Type="http://schemas.openxmlformats.org/officeDocument/2006/relationships/chart" Target="../charts/chart282.xml"/><Relationship Id="rId13" Type="http://schemas.openxmlformats.org/officeDocument/2006/relationships/chart" Target="../charts/chart283.xml"/><Relationship Id="rId14" Type="http://schemas.openxmlformats.org/officeDocument/2006/relationships/notesSlide" Target="../notesSlides/notesSlide100.xml"/></Relationships>
</file>

<file path=ppt/slides/_rels/slide95.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84.xml"/><Relationship Id="rId3" Type="http://schemas.openxmlformats.org/officeDocument/2006/relationships/chart" Target="../charts/chart285.xml"/><Relationship Id="rId4" Type="http://schemas.openxmlformats.org/officeDocument/2006/relationships/chart" Target="../charts/chart286.xml"/><Relationship Id="rId5" Type="http://schemas.openxmlformats.org/officeDocument/2006/relationships/chart" Target="../charts/chart287.xml"/><Relationship Id="rId6" Type="http://schemas.openxmlformats.org/officeDocument/2006/relationships/chart" Target="../charts/chart288.xml"/><Relationship Id="rId7" Type="http://schemas.openxmlformats.org/officeDocument/2006/relationships/chart" Target="../charts/chart289.xml"/><Relationship Id="rId8" Type="http://schemas.openxmlformats.org/officeDocument/2006/relationships/notesSlide" Target="../notesSlides/notesSlide108.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90.xml"/><Relationship Id="rId3" Type="http://schemas.openxmlformats.org/officeDocument/2006/relationships/chart" Target="../charts/chart291.xml"/><Relationship Id="rId4" Type="http://schemas.openxmlformats.org/officeDocument/2006/relationships/chart" Target="../charts/chart292.xml"/><Relationship Id="rId5" Type="http://schemas.openxmlformats.org/officeDocument/2006/relationships/chart" Target="../charts/chart293.xml"/><Relationship Id="rId6" Type="http://schemas.openxmlformats.org/officeDocument/2006/relationships/chart" Target="../charts/chart294.xml"/><Relationship Id="rId7" Type="http://schemas.openxmlformats.org/officeDocument/2006/relationships/chart" Target="../charts/chart295.xml"/><Relationship Id="rId8" Type="http://schemas.openxmlformats.org/officeDocument/2006/relationships/chart" Target="../charts/chart296.xml"/><Relationship Id="rId9" Type="http://schemas.openxmlformats.org/officeDocument/2006/relationships/chart" Target="../charts/chart297.xml"/><Relationship Id="rId10" Type="http://schemas.openxmlformats.org/officeDocument/2006/relationships/chart" Target="../charts/chart298.xml"/><Relationship Id="rId11" Type="http://schemas.openxmlformats.org/officeDocument/2006/relationships/chart" Target="../charts/chart299.xml"/><Relationship Id="rId12" Type="http://schemas.openxmlformats.org/officeDocument/2006/relationships/chart" Target="../charts/chart300.xml"/><Relationship Id="rId13" Type="http://schemas.openxmlformats.org/officeDocument/2006/relationships/chart" Target="../charts/chart301.xml"/><Relationship Id="rId14" Type="http://schemas.openxmlformats.org/officeDocument/2006/relationships/notesSlide" Target="../notesSlides/notesSlide11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2.xml"/><Relationship Id="rId3" Type="http://schemas.openxmlformats.org/officeDocument/2006/relationships/chart" Target="../charts/chart303.xml"/><Relationship Id="rId4" Type="http://schemas.openxmlformats.org/officeDocument/2006/relationships/chart" Target="../charts/chart304.xml"/><Relationship Id="rId5" Type="http://schemas.openxmlformats.org/officeDocument/2006/relationships/chart" Target="../charts/chart305.xml"/><Relationship Id="rId6" Type="http://schemas.openxmlformats.org/officeDocument/2006/relationships/chart" Target="../charts/chart306.xml"/><Relationship Id="rId7" Type="http://schemas.openxmlformats.org/officeDocument/2006/relationships/chart" Target="../charts/chart307.xml"/><Relationship Id="rId8" Type="http://schemas.openxmlformats.org/officeDocument/2006/relationships/notesSlide" Target="../notesSlides/notesSlide11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8.xml"/><Relationship Id="rId3" Type="http://schemas.openxmlformats.org/officeDocument/2006/relationships/chart" Target="../charts/chart309.xml"/><Relationship Id="rId4" Type="http://schemas.openxmlformats.org/officeDocument/2006/relationships/chart" Target="../charts/chart310.xml"/><Relationship Id="rId5" Type="http://schemas.openxmlformats.org/officeDocument/2006/relationships/chart" Target="../charts/chart311.xml"/><Relationship Id="rId6" Type="http://schemas.openxmlformats.org/officeDocument/2006/relationships/chart" Target="../charts/chart312.xml"/><Relationship Id="rId7" Type="http://schemas.openxmlformats.org/officeDocument/2006/relationships/chart" Target="../charts/chart313.xml"/><Relationship Id="rId8" Type="http://schemas.openxmlformats.org/officeDocument/2006/relationships/chart" Target="../charts/chart314.xml"/><Relationship Id="rId9" Type="http://schemas.openxmlformats.org/officeDocument/2006/relationships/chart" Target="../charts/chart315.xml"/><Relationship Id="rId10" Type="http://schemas.openxmlformats.org/officeDocument/2006/relationships/chart" Target="../charts/chart316.xml"/><Relationship Id="rId11" Type="http://schemas.openxmlformats.org/officeDocument/2006/relationships/chart" Target="../charts/chart317.xml"/><Relationship Id="rId12" Type="http://schemas.openxmlformats.org/officeDocument/2006/relationships/chart" Target="../charts/chart318.xml"/><Relationship Id="rId13" Type="http://schemas.openxmlformats.org/officeDocument/2006/relationships/chart" Target="../charts/chart319.xml"/><Relationship Id="rId14" Type="http://schemas.openxmlformats.org/officeDocument/2006/relationships/notesSlide" Target="../notesSlides/notesSlide115.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20.xml"/><Relationship Id="rId3" Type="http://schemas.openxmlformats.org/officeDocument/2006/relationships/chart" Target="../charts/chart321.xml"/><Relationship Id="rId4" Type="http://schemas.openxmlformats.org/officeDocument/2006/relationships/chart" Target="../charts/chart322.xml"/><Relationship Id="rId5" Type="http://schemas.openxmlformats.org/officeDocument/2006/relationships/chart" Target="../charts/chart323.xml"/><Relationship Id="rId6" Type="http://schemas.openxmlformats.org/officeDocument/2006/relationships/chart" Target="../charts/chart324.xml"/><Relationship Id="rId7" Type="http://schemas.openxmlformats.org/officeDocument/2006/relationships/chart" Target="../charts/chart325.xml"/><Relationship Id="rId8" Type="http://schemas.openxmlformats.org/officeDocument/2006/relationships/notesSlide" Target="../notesSlides/notesSlide11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26.xml"/><Relationship Id="rId3" Type="http://schemas.openxmlformats.org/officeDocument/2006/relationships/chart" Target="../charts/chart327.xml"/><Relationship Id="rId4" Type="http://schemas.openxmlformats.org/officeDocument/2006/relationships/chart" Target="../charts/chart328.xml"/><Relationship Id="rId5" Type="http://schemas.openxmlformats.org/officeDocument/2006/relationships/chart" Target="../charts/chart329.xml"/><Relationship Id="rId6" Type="http://schemas.openxmlformats.org/officeDocument/2006/relationships/chart" Target="../charts/chart330.xml"/><Relationship Id="rId7" Type="http://schemas.openxmlformats.org/officeDocument/2006/relationships/chart" Target="../charts/chart331.xml"/><Relationship Id="rId8" Type="http://schemas.openxmlformats.org/officeDocument/2006/relationships/chart" Target="../charts/chart332.xml"/><Relationship Id="rId9" Type="http://schemas.openxmlformats.org/officeDocument/2006/relationships/chart" Target="../charts/chart333.xml"/><Relationship Id="rId10" Type="http://schemas.openxmlformats.org/officeDocument/2006/relationships/chart" Target="../charts/chart334.xml"/><Relationship Id="rId11" Type="http://schemas.openxmlformats.org/officeDocument/2006/relationships/chart" Target="../charts/chart335.xml"/><Relationship Id="rId12" Type="http://schemas.openxmlformats.org/officeDocument/2006/relationships/chart" Target="../charts/chart336.xml"/><Relationship Id="rId13" Type="http://schemas.openxmlformats.org/officeDocument/2006/relationships/chart" Target="../charts/chart337.xml"/><Relationship Id="rId14" Type="http://schemas.openxmlformats.org/officeDocument/2006/relationships/notesSlide" Target="../notesSlides/notesSlide119.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8.xml"/><Relationship Id="rId3" Type="http://schemas.openxmlformats.org/officeDocument/2006/relationships/chart" Target="../charts/chart339.xml"/><Relationship Id="rId4" Type="http://schemas.openxmlformats.org/officeDocument/2006/relationships/chart" Target="../charts/chart340.xml"/><Relationship Id="rId5" Type="http://schemas.openxmlformats.org/officeDocument/2006/relationships/chart" Target="../charts/chart341.xml"/><Relationship Id="rId6" Type="http://schemas.openxmlformats.org/officeDocument/2006/relationships/chart" Target="../charts/chart342.xml"/><Relationship Id="rId7" Type="http://schemas.openxmlformats.org/officeDocument/2006/relationships/chart" Target="../charts/chart343.xml"/><Relationship Id="rId8" Type="http://schemas.openxmlformats.org/officeDocument/2006/relationships/notesSlide" Target="../notesSlides/notesSlide120.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44.xml"/><Relationship Id="rId3" Type="http://schemas.openxmlformats.org/officeDocument/2006/relationships/chart" Target="../charts/chart345.xml"/><Relationship Id="rId4" Type="http://schemas.openxmlformats.org/officeDocument/2006/relationships/chart" Target="../charts/chart346.xml"/><Relationship Id="rId5" Type="http://schemas.openxmlformats.org/officeDocument/2006/relationships/chart" Target="../charts/chart347.xml"/><Relationship Id="rId6" Type="http://schemas.openxmlformats.org/officeDocument/2006/relationships/chart" Target="../charts/chart348.xml"/><Relationship Id="rId7" Type="http://schemas.openxmlformats.org/officeDocument/2006/relationships/chart" Target="../charts/chart349.xml"/><Relationship Id="rId8" Type="http://schemas.openxmlformats.org/officeDocument/2006/relationships/chart" Target="../charts/chart350.xml"/><Relationship Id="rId9" Type="http://schemas.openxmlformats.org/officeDocument/2006/relationships/chart" Target="../charts/chart351.xml"/><Relationship Id="rId10" Type="http://schemas.openxmlformats.org/officeDocument/2006/relationships/chart" Target="../charts/chart352.xml"/><Relationship Id="rId11" Type="http://schemas.openxmlformats.org/officeDocument/2006/relationships/chart" Target="../charts/chart353.xml"/><Relationship Id="rId12" Type="http://schemas.openxmlformats.org/officeDocument/2006/relationships/chart" Target="../charts/chart354.xml"/><Relationship Id="rId13" Type="http://schemas.openxmlformats.org/officeDocument/2006/relationships/chart" Target="../charts/chart355.xml"/><Relationship Id="rId14" Type="http://schemas.openxmlformats.org/officeDocument/2006/relationships/notesSlide" Target="../notesSlides/notesSlide12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1.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6.xml"/><Relationship Id="rId3" Type="http://schemas.openxmlformats.org/officeDocument/2006/relationships/chart" Target="../charts/chart357.xml"/><Relationship Id="rId4" Type="http://schemas.openxmlformats.org/officeDocument/2006/relationships/chart" Target="../charts/chart358.xml"/><Relationship Id="rId5" Type="http://schemas.openxmlformats.org/officeDocument/2006/relationships/chart" Target="../charts/chart359.xml"/><Relationship Id="rId6" Type="http://schemas.openxmlformats.org/officeDocument/2006/relationships/chart" Target="../charts/chart360.xml"/><Relationship Id="rId7" Type="http://schemas.openxmlformats.org/officeDocument/2006/relationships/chart" Target="../charts/chart361.xml"/><Relationship Id="rId8" Type="http://schemas.openxmlformats.org/officeDocument/2006/relationships/notesSlide" Target="../notesSlides/notesSlide12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62.xml"/><Relationship Id="rId3" Type="http://schemas.openxmlformats.org/officeDocument/2006/relationships/chart" Target="../charts/chart363.xml"/><Relationship Id="rId4" Type="http://schemas.openxmlformats.org/officeDocument/2006/relationships/chart" Target="../charts/chart364.xml"/><Relationship Id="rId5" Type="http://schemas.openxmlformats.org/officeDocument/2006/relationships/chart" Target="../charts/chart365.xml"/><Relationship Id="rId6" Type="http://schemas.openxmlformats.org/officeDocument/2006/relationships/chart" Target="../charts/chart366.xml"/><Relationship Id="rId7" Type="http://schemas.openxmlformats.org/officeDocument/2006/relationships/chart" Target="../charts/chart367.xml"/><Relationship Id="rId8" Type="http://schemas.openxmlformats.org/officeDocument/2006/relationships/chart" Target="../charts/chart368.xml"/><Relationship Id="rId9" Type="http://schemas.openxmlformats.org/officeDocument/2006/relationships/chart" Target="../charts/chart369.xml"/><Relationship Id="rId10" Type="http://schemas.openxmlformats.org/officeDocument/2006/relationships/chart" Target="../charts/chart370.xml"/><Relationship Id="rId11" Type="http://schemas.openxmlformats.org/officeDocument/2006/relationships/chart" Target="../charts/chart371.xml"/><Relationship Id="rId12" Type="http://schemas.openxmlformats.org/officeDocument/2006/relationships/chart" Target="../charts/chart372.xml"/><Relationship Id="rId13" Type="http://schemas.openxmlformats.org/officeDocument/2006/relationships/chart" Target="../charts/chart373.xml"/><Relationship Id="rId14" Type="http://schemas.openxmlformats.org/officeDocument/2006/relationships/notesSlide" Target="../notesSlides/notesSlide130.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74.xml"/><Relationship Id="rId3" Type="http://schemas.openxmlformats.org/officeDocument/2006/relationships/chart" Target="../charts/chart375.xml"/><Relationship Id="rId4" Type="http://schemas.openxmlformats.org/officeDocument/2006/relationships/chart" Target="../charts/chart376.xml"/><Relationship Id="rId5" Type="http://schemas.openxmlformats.org/officeDocument/2006/relationships/chart" Target="../charts/chart377.xml"/><Relationship Id="rId6" Type="http://schemas.openxmlformats.org/officeDocument/2006/relationships/chart" Target="../charts/chart378.xml"/><Relationship Id="rId7" Type="http://schemas.openxmlformats.org/officeDocument/2006/relationships/chart" Target="../charts/chart379.xml"/><Relationship Id="rId8" Type="http://schemas.openxmlformats.org/officeDocument/2006/relationships/notesSlide" Target="../notesSlides/notesSlide131.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80.xml"/><Relationship Id="rId3" Type="http://schemas.openxmlformats.org/officeDocument/2006/relationships/chart" Target="../charts/chart381.xml"/><Relationship Id="rId4" Type="http://schemas.openxmlformats.org/officeDocument/2006/relationships/chart" Target="../charts/chart382.xml"/><Relationship Id="rId5" Type="http://schemas.openxmlformats.org/officeDocument/2006/relationships/chart" Target="../charts/chart383.xml"/><Relationship Id="rId6" Type="http://schemas.openxmlformats.org/officeDocument/2006/relationships/chart" Target="../charts/chart384.xml"/><Relationship Id="rId7" Type="http://schemas.openxmlformats.org/officeDocument/2006/relationships/chart" Target="../charts/chart385.xml"/><Relationship Id="rId8" Type="http://schemas.openxmlformats.org/officeDocument/2006/relationships/chart" Target="../charts/chart386.xml"/><Relationship Id="rId9" Type="http://schemas.openxmlformats.org/officeDocument/2006/relationships/chart" Target="../charts/chart387.xml"/><Relationship Id="rId10" Type="http://schemas.openxmlformats.org/officeDocument/2006/relationships/chart" Target="../charts/chart388.xml"/><Relationship Id="rId11" Type="http://schemas.openxmlformats.org/officeDocument/2006/relationships/chart" Target="../charts/chart389.xml"/><Relationship Id="rId12" Type="http://schemas.openxmlformats.org/officeDocument/2006/relationships/chart" Target="../charts/chart390.xml"/><Relationship Id="rId13" Type="http://schemas.openxmlformats.org/officeDocument/2006/relationships/chart" Target="../charts/chart391.xml"/><Relationship Id="rId14" Type="http://schemas.openxmlformats.org/officeDocument/2006/relationships/notesSlide" Target="../notesSlides/notesSlide134.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92.xml"/><Relationship Id="rId3" Type="http://schemas.openxmlformats.org/officeDocument/2006/relationships/chart" Target="../charts/chart393.xml"/><Relationship Id="rId4" Type="http://schemas.openxmlformats.org/officeDocument/2006/relationships/chart" Target="../charts/chart394.xml"/><Relationship Id="rId5" Type="http://schemas.openxmlformats.org/officeDocument/2006/relationships/chart" Target="../charts/chart395.xml"/><Relationship Id="rId6" Type="http://schemas.openxmlformats.org/officeDocument/2006/relationships/chart" Target="../charts/chart396.xml"/><Relationship Id="rId7" Type="http://schemas.openxmlformats.org/officeDocument/2006/relationships/chart" Target="../charts/chart397.xml"/><Relationship Id="rId8" Type="http://schemas.openxmlformats.org/officeDocument/2006/relationships/notesSlide" Target="../notesSlides/notesSlide135.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98.xml"/><Relationship Id="rId3" Type="http://schemas.openxmlformats.org/officeDocument/2006/relationships/chart" Target="../charts/chart399.xml"/><Relationship Id="rId4" Type="http://schemas.openxmlformats.org/officeDocument/2006/relationships/chart" Target="../charts/chart400.xml"/><Relationship Id="rId5" Type="http://schemas.openxmlformats.org/officeDocument/2006/relationships/chart" Target="../charts/chart401.xml"/><Relationship Id="rId6" Type="http://schemas.openxmlformats.org/officeDocument/2006/relationships/chart" Target="../charts/chart402.xml"/><Relationship Id="rId7" Type="http://schemas.openxmlformats.org/officeDocument/2006/relationships/chart" Target="../charts/chart403.xml"/><Relationship Id="rId8" Type="http://schemas.openxmlformats.org/officeDocument/2006/relationships/chart" Target="../charts/chart404.xml"/><Relationship Id="rId9" Type="http://schemas.openxmlformats.org/officeDocument/2006/relationships/chart" Target="../charts/chart405.xml"/><Relationship Id="rId10" Type="http://schemas.openxmlformats.org/officeDocument/2006/relationships/chart" Target="../charts/chart406.xml"/><Relationship Id="rId11" Type="http://schemas.openxmlformats.org/officeDocument/2006/relationships/chart" Target="../charts/chart407.xml"/><Relationship Id="rId12" Type="http://schemas.openxmlformats.org/officeDocument/2006/relationships/chart" Target="../charts/chart408.xml"/><Relationship Id="rId13" Type="http://schemas.openxmlformats.org/officeDocument/2006/relationships/chart" Target="../charts/chart409.xml"/><Relationship Id="rId14" Type="http://schemas.openxmlformats.org/officeDocument/2006/relationships/notesSlide" Target="../notesSlides/notesSlide138.xml"/></Relationships>
</file>

<file path=ppt/slides/_rels/slide135.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0.xml"/><Relationship Id="rId3" Type="http://schemas.openxmlformats.org/officeDocument/2006/relationships/chart" Target="../charts/chart411.xml"/><Relationship Id="rId4" Type="http://schemas.openxmlformats.org/officeDocument/2006/relationships/chart" Target="../charts/chart412.xml"/><Relationship Id="rId5" Type="http://schemas.openxmlformats.org/officeDocument/2006/relationships/chart" Target="../charts/chart413.xml"/><Relationship Id="rId6" Type="http://schemas.openxmlformats.org/officeDocument/2006/relationships/chart" Target="../charts/chart414.xml"/><Relationship Id="rId7" Type="http://schemas.openxmlformats.org/officeDocument/2006/relationships/notesSlide" Target="../notesSlides/notesSlide14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5.xml"/><Relationship Id="rId3" Type="http://schemas.openxmlformats.org/officeDocument/2006/relationships/chart" Target="../charts/chart416.xml"/><Relationship Id="rId4" Type="http://schemas.openxmlformats.org/officeDocument/2006/relationships/chart" Target="../charts/chart417.xml"/><Relationship Id="rId5" Type="http://schemas.openxmlformats.org/officeDocument/2006/relationships/chart" Target="../charts/chart418.xml"/><Relationship Id="rId6" Type="http://schemas.openxmlformats.org/officeDocument/2006/relationships/chart" Target="../charts/chart419.xml"/><Relationship Id="rId7" Type="http://schemas.openxmlformats.org/officeDocument/2006/relationships/notesSlide" Target="../notesSlides/notesSlide143.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20.xml"/><Relationship Id="rId3" Type="http://schemas.openxmlformats.org/officeDocument/2006/relationships/chart" Target="../charts/chart421.xml"/><Relationship Id="rId4" Type="http://schemas.openxmlformats.org/officeDocument/2006/relationships/chart" Target="../charts/chart422.xml"/><Relationship Id="rId5" Type="http://schemas.openxmlformats.org/officeDocument/2006/relationships/chart" Target="../charts/chart423.xml"/><Relationship Id="rId6" Type="http://schemas.openxmlformats.org/officeDocument/2006/relationships/chart" Target="../charts/chart424.xml"/><Relationship Id="rId7" Type="http://schemas.openxmlformats.org/officeDocument/2006/relationships/chart" Target="../charts/chart425.xml"/><Relationship Id="rId8" Type="http://schemas.openxmlformats.org/officeDocument/2006/relationships/chart" Target="../charts/chart426.xml"/><Relationship Id="rId9" Type="http://schemas.openxmlformats.org/officeDocument/2006/relationships/chart" Target="../charts/chart427.xml"/><Relationship Id="rId10" Type="http://schemas.openxmlformats.org/officeDocument/2006/relationships/chart" Target="../charts/chart428.xml"/><Relationship Id="rId11" Type="http://schemas.openxmlformats.org/officeDocument/2006/relationships/chart" Target="../charts/chart429.xml"/><Relationship Id="rId12" Type="http://schemas.openxmlformats.org/officeDocument/2006/relationships/chart" Target="../charts/chart430.xml"/><Relationship Id="rId13" Type="http://schemas.openxmlformats.org/officeDocument/2006/relationships/chart" Target="../charts/chart431.xml"/><Relationship Id="rId14" Type="http://schemas.openxmlformats.org/officeDocument/2006/relationships/notesSlide" Target="../notesSlides/notesSlide146.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5.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32.xml"/><Relationship Id="rId3" Type="http://schemas.openxmlformats.org/officeDocument/2006/relationships/chart" Target="../charts/chart433.xml"/><Relationship Id="rId4" Type="http://schemas.openxmlformats.org/officeDocument/2006/relationships/notesSlide" Target="../notesSlides/notesSlide159.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34.xml"/><Relationship Id="rId3" Type="http://schemas.openxmlformats.org/officeDocument/2006/relationships/chart" Target="../charts/chart435.xml"/><Relationship Id="rId4" Type="http://schemas.openxmlformats.org/officeDocument/2006/relationships/chart" Target="../charts/chart436.xml"/><Relationship Id="rId5" Type="http://schemas.openxmlformats.org/officeDocument/2006/relationships/chart" Target="../charts/chart437.xml"/><Relationship Id="rId6" Type="http://schemas.openxmlformats.org/officeDocument/2006/relationships/chart" Target="../charts/chart438.xml"/><Relationship Id="rId7" Type="http://schemas.openxmlformats.org/officeDocument/2006/relationships/chart" Target="../charts/chart439.xml"/><Relationship Id="rId8" Type="http://schemas.openxmlformats.org/officeDocument/2006/relationships/notesSlide" Target="../notesSlides/notesSlide16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40.xml"/><Relationship Id="rId3" Type="http://schemas.openxmlformats.org/officeDocument/2006/relationships/chart" Target="../charts/chart441.xml"/><Relationship Id="rId4" Type="http://schemas.openxmlformats.org/officeDocument/2006/relationships/chart" Target="../charts/chart442.xml"/><Relationship Id="rId5" Type="http://schemas.openxmlformats.org/officeDocument/2006/relationships/chart" Target="../charts/chart443.xml"/><Relationship Id="rId6" Type="http://schemas.openxmlformats.org/officeDocument/2006/relationships/chart" Target="../charts/chart444.xml"/><Relationship Id="rId7" Type="http://schemas.openxmlformats.org/officeDocument/2006/relationships/chart" Target="../charts/chart445.xml"/><Relationship Id="rId8" Type="http://schemas.openxmlformats.org/officeDocument/2006/relationships/chart" Target="../charts/chart446.xml"/><Relationship Id="rId9" Type="http://schemas.openxmlformats.org/officeDocument/2006/relationships/chart" Target="../charts/chart447.xml"/><Relationship Id="rId10" Type="http://schemas.openxmlformats.org/officeDocument/2006/relationships/chart" Target="../charts/chart448.xml"/><Relationship Id="rId11" Type="http://schemas.openxmlformats.org/officeDocument/2006/relationships/chart" Target="../charts/chart449.xml"/><Relationship Id="rId12" Type="http://schemas.openxmlformats.org/officeDocument/2006/relationships/chart" Target="../charts/chart450.xml"/><Relationship Id="rId13" Type="http://schemas.openxmlformats.org/officeDocument/2006/relationships/chart" Target="../charts/chart451.xml"/><Relationship Id="rId14" Type="http://schemas.openxmlformats.org/officeDocument/2006/relationships/notesSlide" Target="../notesSlides/notesSlide165.xml"/></Relationships>
</file>

<file path=ppt/slides/_rels/slide164.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store's expenses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Rates, margins, compliance, and protecting the money.</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prescriptions.</a:t>
            </a:r>
            <a:endParaRPr lang="en-US" sz="14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$50.45M of $82.74M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+$5,113,759</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$12.92M.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actionable items you will put in place at your store before year end, and hold your team to them.</a:t>
            </a:r>
            <a:endParaRPr lang="en-US" sz="160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parts and service generate after their allocated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largest gain in September, +$1.61M.</a:t>
            </a:r>
            <a:endParaRPr lang="en-US" sz="1600" dirty="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41969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154907"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7588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86722"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60690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486134"/>
            <a:ext cx="529462"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77227"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4008956"/>
            <a:ext cx="424033"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421495"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531777"/>
            <a:ext cx="31069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793188"/>
            <a:ext cx="308094"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5054599"/>
            <a:ext cx="27993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273031"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577420"/>
            <a:ext cx="272418"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838831"/>
            <a:ext cx="261785"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25469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7669"/>
            <a:ext cx="230085"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79080"/>
            <a:ext cx="210561"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186954"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701901"/>
            <a:ext cx="16468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963312"/>
            <a:ext cx="163331"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224723"/>
            <a:ext cx="158180"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486134"/>
            <a:ext cx="1172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11120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4008956"/>
            <a:ext cx="99951"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270366"/>
            <a:ext cx="3002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2519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22055"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5054599"/>
            <a:ext cx="1856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316010"/>
            <a:ext cx="18288"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18288" cy="120249"/>
          </a:xfrm>
          <a:prstGeom prst="rect">
            <a:avLst/>
          </a:prstGeom>
          <a:solidFill>
            <a:srgbClr val="C2352F"/>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838831"/>
            <a:ext cx="31883" cy="120249"/>
          </a:xfrm>
          <a:prstGeom prst="rect">
            <a:avLst/>
          </a:prstGeom>
          <a:solidFill>
            <a:srgbClr val="C2352F"/>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4" name="Shape 191"/>
          <p:cNvSpPr/>
          <p:nvPr/>
        </p:nvSpPr>
        <p:spPr>
          <a:xfrm>
            <a:off x="457200" y="6126480"/>
            <a:ext cx="11274552" cy="371856"/>
          </a:xfrm>
          <a:prstGeom prst="rect">
            <a:avLst/>
          </a:prstGeom>
          <a:solidFill>
            <a:srgbClr val="EDF4FA"/>
          </a:solidFill>
          <a:ln/>
        </p:spPr>
      </p:sp>
      <p:sp>
        <p:nvSpPr>
          <p:cNvPr id="195" name="Text 19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 of 33 stores grew fixed ops net profit, January through September year to date.</a:t>
            </a:r>
            <a:endParaRPr lang="en-US" sz="1600"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3 VS LAST YEAR</a:t>
            </a:r>
            <a:endParaRPr lang="en-US" sz="1500" dirty="0"/>
          </a:p>
        </p:txBody>
      </p:sp>
      <p:sp>
        <p:nvSpPr>
          <p:cNvPr id="9" name="Shape 7"/>
          <p:cNvSpPr/>
          <p:nvPr/>
        </p:nvSpPr>
        <p:spPr>
          <a:xfrm>
            <a:off x="658368" y="1810512"/>
            <a:ext cx="3489960" cy="1478280"/>
          </a:xfrm>
          <a:prstGeom prst="rect">
            <a:avLst/>
          </a:prstGeom>
          <a:solidFill>
            <a:srgbClr val="F7F7F7"/>
          </a:solidFill>
          <a:ln/>
        </p:spPr>
      </p:sp>
      <p:sp>
        <p:nvSpPr>
          <p:cNvPr id="10" name="Shape 8"/>
          <p:cNvSpPr/>
          <p:nvPr/>
        </p:nvSpPr>
        <p:spPr>
          <a:xfrm>
            <a:off x="4084320" y="1847088"/>
            <a:ext cx="64008" cy="1405128"/>
          </a:xfrm>
          <a:prstGeom prst="rect">
            <a:avLst/>
          </a:prstGeom>
          <a:solidFill>
            <a:srgbClr val="12A566"/>
          </a:solidFill>
          <a:ln/>
        </p:spPr>
      </p:sp>
      <p:sp>
        <p:nvSpPr>
          <p:cNvPr id="11" name="Text 9"/>
          <p:cNvSpPr txBox="1"/>
          <p:nvPr/>
        </p:nvSpPr>
        <p:spPr>
          <a:xfrm>
            <a:off x="749808"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12" name="Text 10"/>
          <p:cNvSpPr txBox="1"/>
          <p:nvPr/>
        </p:nvSpPr>
        <p:spPr>
          <a:xfrm>
            <a:off x="1097280"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graphicFrame>
        <p:nvGraphicFramePr>
          <p:cNvPr id="13" name="Chart 0" descr=""/>
          <p:cNvGraphicFramePr/>
          <p:nvPr/>
        </p:nvGraphicFramePr>
        <p:xfrm>
          <a:off x="1097280" y="2697480"/>
          <a:ext cx="1972056" cy="502615"/>
        </p:xfrm>
        <a:graphic>
          <a:graphicData uri="http://schemas.openxmlformats.org/drawingml/2006/chart">
            <c:chart xmlns:c="http://schemas.openxmlformats.org/drawingml/2006/chart" r:id="rId2"/>
          </a:graphicData>
        </a:graphic>
      </p:graphicFrame>
      <p:sp>
        <p:nvSpPr>
          <p:cNvPr id="14" name="Text 11"/>
          <p:cNvSpPr txBox="1"/>
          <p:nvPr/>
        </p:nvSpPr>
        <p:spPr>
          <a:xfrm>
            <a:off x="3160776" y="225399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5" name="Text 12"/>
          <p:cNvSpPr txBox="1"/>
          <p:nvPr/>
        </p:nvSpPr>
        <p:spPr>
          <a:xfrm>
            <a:off x="3160776"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 name="Text 13"/>
          <p:cNvSpPr txBox="1"/>
          <p:nvPr/>
        </p:nvSpPr>
        <p:spPr>
          <a:xfrm>
            <a:off x="749808"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17" name="Text 14"/>
          <p:cNvSpPr txBox="1"/>
          <p:nvPr/>
        </p:nvSpPr>
        <p:spPr>
          <a:xfrm>
            <a:off x="1097280"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graphicFrame>
        <p:nvGraphicFramePr>
          <p:cNvPr id="18" name="Chart 1" descr=""/>
          <p:cNvGraphicFramePr/>
          <p:nvPr/>
        </p:nvGraphicFramePr>
        <p:xfrm>
          <a:off x="1097280" y="4175760"/>
          <a:ext cx="1972056" cy="502615"/>
        </p:xfrm>
        <a:graphic>
          <a:graphicData uri="http://schemas.openxmlformats.org/drawingml/2006/chart">
            <c:chart xmlns:c="http://schemas.openxmlformats.org/drawingml/2006/chart" r:id="rId3"/>
          </a:graphicData>
        </a:graphic>
      </p:graphicFrame>
      <p:sp>
        <p:nvSpPr>
          <p:cNvPr id="19" name="Text 15"/>
          <p:cNvSpPr txBox="1"/>
          <p:nvPr/>
        </p:nvSpPr>
        <p:spPr>
          <a:xfrm>
            <a:off x="3160776" y="373227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20" name="Text 16"/>
          <p:cNvSpPr txBox="1"/>
          <p:nvPr/>
        </p:nvSpPr>
        <p:spPr>
          <a:xfrm>
            <a:off x="3160776"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+20.4%</a:t>
            </a:r>
            <a:endParaRPr lang="en-US" sz="1300" dirty="0"/>
          </a:p>
        </p:txBody>
      </p:sp>
      <p:sp>
        <p:nvSpPr>
          <p:cNvPr id="21" name="Shape 17"/>
          <p:cNvSpPr/>
          <p:nvPr/>
        </p:nvSpPr>
        <p:spPr>
          <a:xfrm>
            <a:off x="658368" y="4767072"/>
            <a:ext cx="3489960" cy="1478280"/>
          </a:xfrm>
          <a:prstGeom prst="rect">
            <a:avLst/>
          </a:prstGeom>
          <a:solidFill>
            <a:srgbClr val="F7F7F7"/>
          </a:solidFill>
          <a:ln/>
        </p:spPr>
      </p:sp>
      <p:sp>
        <p:nvSpPr>
          <p:cNvPr id="22" name="Text 18"/>
          <p:cNvSpPr txBox="1"/>
          <p:nvPr/>
        </p:nvSpPr>
        <p:spPr>
          <a:xfrm>
            <a:off x="749808"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23" name="Text 19"/>
          <p:cNvSpPr txBox="1"/>
          <p:nvPr/>
        </p:nvSpPr>
        <p:spPr>
          <a:xfrm>
            <a:off x="1097280"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graphicFrame>
        <p:nvGraphicFramePr>
          <p:cNvPr id="24" name="Chart 2" descr=""/>
          <p:cNvGraphicFramePr/>
          <p:nvPr/>
        </p:nvGraphicFramePr>
        <p:xfrm>
          <a:off x="1097280" y="5654040"/>
          <a:ext cx="1972056" cy="502615"/>
        </p:xfrm>
        <a:graphic>
          <a:graphicData uri="http://schemas.openxmlformats.org/drawingml/2006/chart">
            <c:chart xmlns:c="http://schemas.openxmlformats.org/drawingml/2006/chart" r:id="rId4"/>
          </a:graphicData>
        </a:graphic>
      </p:graphicFrame>
      <p:sp>
        <p:nvSpPr>
          <p:cNvPr id="25" name="Text 20"/>
          <p:cNvSpPr txBox="1"/>
          <p:nvPr/>
        </p:nvSpPr>
        <p:spPr>
          <a:xfrm>
            <a:off x="3160776" y="521055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6" name="Text 21"/>
          <p:cNvSpPr txBox="1"/>
          <p:nvPr/>
        </p:nvSpPr>
        <p:spPr>
          <a:xfrm>
            <a:off x="3160776"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+41.8%</a:t>
            </a:r>
            <a:endParaRPr lang="en-US" sz="1300" dirty="0"/>
          </a:p>
        </p:txBody>
      </p:sp>
      <p:sp>
        <p:nvSpPr>
          <p:cNvPr id="27" name="Shape 22"/>
          <p:cNvSpPr/>
          <p:nvPr/>
        </p:nvSpPr>
        <p:spPr>
          <a:xfrm>
            <a:off x="4349496" y="1371600"/>
            <a:ext cx="3489960" cy="45720"/>
          </a:xfrm>
          <a:prstGeom prst="rect">
            <a:avLst/>
          </a:prstGeom>
          <a:solidFill>
            <a:srgbClr val="C2352F"/>
          </a:solidFill>
          <a:ln/>
        </p:spPr>
      </p:sp>
      <p:sp>
        <p:nvSpPr>
          <p:cNvPr id="28" name="Text 2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3 VS LAST YEAR</a:t>
            </a:r>
            <a:endParaRPr lang="en-US" sz="1500" dirty="0"/>
          </a:p>
        </p:txBody>
      </p:sp>
      <p:sp>
        <p:nvSpPr>
          <p:cNvPr id="29" name="Shape 24"/>
          <p:cNvSpPr/>
          <p:nvPr/>
        </p:nvSpPr>
        <p:spPr>
          <a:xfrm>
            <a:off x="4349496" y="1810512"/>
            <a:ext cx="3489960" cy="1478280"/>
          </a:xfrm>
          <a:prstGeom prst="rect">
            <a:avLst/>
          </a:prstGeom>
          <a:solidFill>
            <a:srgbClr val="F7F7F7"/>
          </a:solidFill>
          <a:ln/>
        </p:spPr>
      </p:sp>
      <p:sp>
        <p:nvSpPr>
          <p:cNvPr id="30" name="Shape 25"/>
          <p:cNvSpPr/>
          <p:nvPr/>
        </p:nvSpPr>
        <p:spPr>
          <a:xfrm>
            <a:off x="7775448" y="1847088"/>
            <a:ext cx="64008" cy="1405128"/>
          </a:xfrm>
          <a:prstGeom prst="rect">
            <a:avLst/>
          </a:prstGeom>
          <a:solidFill>
            <a:srgbClr val="2587C5"/>
          </a:solidFill>
          <a:ln/>
        </p:spPr>
      </p:sp>
      <p:sp>
        <p:nvSpPr>
          <p:cNvPr id="31" name="Text 26"/>
          <p:cNvSpPr txBox="1"/>
          <p:nvPr/>
        </p:nvSpPr>
        <p:spPr>
          <a:xfrm>
            <a:off x="4440936"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33</a:t>
            </a:r>
            <a:endParaRPr lang="en-US" sz="2000" dirty="0"/>
          </a:p>
        </p:txBody>
      </p:sp>
      <p:sp>
        <p:nvSpPr>
          <p:cNvPr id="32" name="Text 27"/>
          <p:cNvSpPr txBox="1"/>
          <p:nvPr/>
        </p:nvSpPr>
        <p:spPr>
          <a:xfrm>
            <a:off x="4788408"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graphicFrame>
        <p:nvGraphicFramePr>
          <p:cNvPr id="33" name="Chart 3" descr=""/>
          <p:cNvGraphicFramePr/>
          <p:nvPr/>
        </p:nvGraphicFramePr>
        <p:xfrm>
          <a:off x="4788408" y="2697480"/>
          <a:ext cx="1972056" cy="502615"/>
        </p:xfrm>
        <a:graphic>
          <a:graphicData uri="http://schemas.openxmlformats.org/drawingml/2006/chart">
            <c:chart xmlns:c="http://schemas.openxmlformats.org/drawingml/2006/chart" r:id="rId5"/>
          </a:graphicData>
        </a:graphic>
      </p:graphicFrame>
      <p:sp>
        <p:nvSpPr>
          <p:cNvPr id="34" name="Text 28"/>
          <p:cNvSpPr txBox="1"/>
          <p:nvPr/>
        </p:nvSpPr>
        <p:spPr>
          <a:xfrm>
            <a:off x="6851904" y="225399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5" name="Text 29"/>
          <p:cNvSpPr txBox="1"/>
          <p:nvPr/>
        </p:nvSpPr>
        <p:spPr>
          <a:xfrm>
            <a:off x="6851904"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36" name="Text 30"/>
          <p:cNvSpPr txBox="1"/>
          <p:nvPr/>
        </p:nvSpPr>
        <p:spPr>
          <a:xfrm>
            <a:off x="4440936"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32</a:t>
            </a:r>
            <a:endParaRPr lang="en-US" sz="2000" dirty="0"/>
          </a:p>
        </p:txBody>
      </p:sp>
      <p:sp>
        <p:nvSpPr>
          <p:cNvPr id="37" name="Text 31"/>
          <p:cNvSpPr txBox="1"/>
          <p:nvPr/>
        </p:nvSpPr>
        <p:spPr>
          <a:xfrm>
            <a:off x="4788408"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graphicFrame>
        <p:nvGraphicFramePr>
          <p:cNvPr id="38" name="Chart 4" descr=""/>
          <p:cNvGraphicFramePr/>
          <p:nvPr/>
        </p:nvGraphicFramePr>
        <p:xfrm>
          <a:off x="4788408" y="4175760"/>
          <a:ext cx="1972056" cy="502615"/>
        </p:xfrm>
        <a:graphic>
          <a:graphicData uri="http://schemas.openxmlformats.org/drawingml/2006/chart">
            <c:chart xmlns:c="http://schemas.openxmlformats.org/drawingml/2006/chart" r:id="rId6"/>
          </a:graphicData>
        </a:graphic>
      </p:graphicFrame>
      <p:sp>
        <p:nvSpPr>
          <p:cNvPr id="39" name="Text 32"/>
          <p:cNvSpPr txBox="1"/>
          <p:nvPr/>
        </p:nvSpPr>
        <p:spPr>
          <a:xfrm>
            <a:off x="6851904" y="373227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40" name="Text 33"/>
          <p:cNvSpPr txBox="1"/>
          <p:nvPr/>
        </p:nvSpPr>
        <p:spPr>
          <a:xfrm>
            <a:off x="6851904"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−29.6%</a:t>
            </a:r>
            <a:endParaRPr lang="en-US" sz="1300" dirty="0"/>
          </a:p>
        </p:txBody>
      </p:sp>
      <p:sp>
        <p:nvSpPr>
          <p:cNvPr id="41" name="Shape 34"/>
          <p:cNvSpPr/>
          <p:nvPr/>
        </p:nvSpPr>
        <p:spPr>
          <a:xfrm>
            <a:off x="4349496" y="4767072"/>
            <a:ext cx="3489960" cy="1478280"/>
          </a:xfrm>
          <a:prstGeom prst="rect">
            <a:avLst/>
          </a:prstGeom>
          <a:solidFill>
            <a:srgbClr val="F7F7F7"/>
          </a:solidFill>
          <a:ln/>
        </p:spPr>
      </p:sp>
      <p:sp>
        <p:nvSpPr>
          <p:cNvPr id="42" name="Text 35"/>
          <p:cNvSpPr txBox="1"/>
          <p:nvPr/>
        </p:nvSpPr>
        <p:spPr>
          <a:xfrm>
            <a:off x="4440936"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31</a:t>
            </a:r>
            <a:endParaRPr lang="en-US" sz="2000" dirty="0"/>
          </a:p>
        </p:txBody>
      </p:sp>
      <p:sp>
        <p:nvSpPr>
          <p:cNvPr id="43" name="Text 36"/>
          <p:cNvSpPr txBox="1"/>
          <p:nvPr/>
        </p:nvSpPr>
        <p:spPr>
          <a:xfrm>
            <a:off x="4788408"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graphicFrame>
        <p:nvGraphicFramePr>
          <p:cNvPr id="44" name="Chart 5" descr=""/>
          <p:cNvGraphicFramePr/>
          <p:nvPr/>
        </p:nvGraphicFramePr>
        <p:xfrm>
          <a:off x="4788408" y="5654040"/>
          <a:ext cx="1972056" cy="502615"/>
        </p:xfrm>
        <a:graphic>
          <a:graphicData uri="http://schemas.openxmlformats.org/drawingml/2006/chart">
            <c:chart xmlns:c="http://schemas.openxmlformats.org/drawingml/2006/chart" r:id="rId7"/>
          </a:graphicData>
        </a:graphic>
      </p:graphicFrame>
      <p:sp>
        <p:nvSpPr>
          <p:cNvPr id="45" name="Text 37"/>
          <p:cNvSpPr txBox="1"/>
          <p:nvPr/>
        </p:nvSpPr>
        <p:spPr>
          <a:xfrm>
            <a:off x="6851904" y="521055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46" name="Text 38"/>
          <p:cNvSpPr txBox="1"/>
          <p:nvPr/>
        </p:nvSpPr>
        <p:spPr>
          <a:xfrm>
            <a:off x="6851904"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−27.7%</a:t>
            </a:r>
            <a:endParaRPr lang="en-US" sz="1300" dirty="0"/>
          </a:p>
        </p:txBody>
      </p:sp>
      <p:sp>
        <p:nvSpPr>
          <p:cNvPr id="47" name="Shape 39"/>
          <p:cNvSpPr/>
          <p:nvPr/>
        </p:nvSpPr>
        <p:spPr>
          <a:xfrm>
            <a:off x="8040624" y="1371600"/>
            <a:ext cx="3489960" cy="45720"/>
          </a:xfrm>
          <a:prstGeom prst="rect">
            <a:avLst/>
          </a:prstGeom>
          <a:solidFill>
            <a:srgbClr val="2587C5"/>
          </a:solidFill>
          <a:ln/>
        </p:spPr>
      </p:sp>
      <p:sp>
        <p:nvSpPr>
          <p:cNvPr id="48" name="Text 4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3 MOVING NOW</a:t>
            </a:r>
            <a:endParaRPr lang="en-US" sz="1500" dirty="0"/>
          </a:p>
        </p:txBody>
      </p:sp>
      <p:sp>
        <p:nvSpPr>
          <p:cNvPr id="49" name="Shape 41"/>
          <p:cNvSpPr/>
          <p:nvPr/>
        </p:nvSpPr>
        <p:spPr>
          <a:xfrm>
            <a:off x="8040624" y="1810512"/>
            <a:ext cx="3489960" cy="1478280"/>
          </a:xfrm>
          <a:prstGeom prst="rect">
            <a:avLst/>
          </a:prstGeom>
          <a:solidFill>
            <a:srgbClr val="F7F7F7"/>
          </a:solidFill>
          <a:ln/>
        </p:spPr>
      </p:sp>
      <p:sp>
        <p:nvSpPr>
          <p:cNvPr id="50" name="Text 42"/>
          <p:cNvSpPr txBox="1"/>
          <p:nvPr/>
        </p:nvSpPr>
        <p:spPr>
          <a:xfrm>
            <a:off x="8132064"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51" name="Text 43"/>
          <p:cNvSpPr txBox="1"/>
          <p:nvPr/>
        </p:nvSpPr>
        <p:spPr>
          <a:xfrm>
            <a:off x="8479536"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graphicFrame>
        <p:nvGraphicFramePr>
          <p:cNvPr id="52" name="Chart 6" descr=""/>
          <p:cNvGraphicFramePr/>
          <p:nvPr/>
        </p:nvGraphicFramePr>
        <p:xfrm>
          <a:off x="8479536" y="2697480"/>
          <a:ext cx="1972056" cy="502615"/>
        </p:xfrm>
        <a:graphic>
          <a:graphicData uri="http://schemas.openxmlformats.org/drawingml/2006/chart">
            <c:chart xmlns:c="http://schemas.openxmlformats.org/drawingml/2006/chart" r:id="rId8"/>
          </a:graphicData>
        </a:graphic>
      </p:graphicFrame>
      <p:graphicFrame>
        <p:nvGraphicFramePr>
          <p:cNvPr id="53" name="Chart 7" descr=""/>
          <p:cNvGraphicFramePr/>
          <p:nvPr/>
        </p:nvGraphicFramePr>
        <p:xfrm>
          <a:off x="8479536" y="2697480"/>
          <a:ext cx="1972056" cy="502615"/>
        </p:xfrm>
        <a:graphic>
          <a:graphicData uri="http://schemas.openxmlformats.org/drawingml/2006/chart">
            <c:chart xmlns:c="http://schemas.openxmlformats.org/drawingml/2006/chart" r:id="rId9"/>
          </a:graphicData>
        </a:graphic>
      </p:graphicFrame>
      <p:sp>
        <p:nvSpPr>
          <p:cNvPr id="54" name="Text 44"/>
          <p:cNvSpPr txBox="1"/>
          <p:nvPr/>
        </p:nvSpPr>
        <p:spPr>
          <a:xfrm>
            <a:off x="10543032" y="225399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55" name="Text 45"/>
          <p:cNvSpPr txBox="1"/>
          <p:nvPr/>
        </p:nvSpPr>
        <p:spPr>
          <a:xfrm>
            <a:off x="10543032"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+23.8%</a:t>
            </a:r>
            <a:endParaRPr lang="en-US" sz="1300" dirty="0"/>
          </a:p>
        </p:txBody>
      </p:sp>
      <p:sp>
        <p:nvSpPr>
          <p:cNvPr id="56" name="Shape 46"/>
          <p:cNvSpPr/>
          <p:nvPr/>
        </p:nvSpPr>
        <p:spPr>
          <a:xfrm>
            <a:off x="11466576" y="3325368"/>
            <a:ext cx="64008" cy="1405128"/>
          </a:xfrm>
          <a:prstGeom prst="rect">
            <a:avLst/>
          </a:prstGeom>
          <a:solidFill>
            <a:srgbClr val="12A566"/>
          </a:solidFill>
          <a:ln/>
        </p:spPr>
      </p:sp>
      <p:sp>
        <p:nvSpPr>
          <p:cNvPr id="57" name="Text 47"/>
          <p:cNvSpPr txBox="1"/>
          <p:nvPr/>
        </p:nvSpPr>
        <p:spPr>
          <a:xfrm>
            <a:off x="8132064"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58" name="Text 48"/>
          <p:cNvSpPr txBox="1"/>
          <p:nvPr/>
        </p:nvSpPr>
        <p:spPr>
          <a:xfrm>
            <a:off x="8479536"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graphicFrame>
        <p:nvGraphicFramePr>
          <p:cNvPr id="59" name="Chart 8" descr=""/>
          <p:cNvGraphicFramePr/>
          <p:nvPr/>
        </p:nvGraphicFramePr>
        <p:xfrm>
          <a:off x="8479536" y="4175760"/>
          <a:ext cx="1972056" cy="502615"/>
        </p:xfrm>
        <a:graphic>
          <a:graphicData uri="http://schemas.openxmlformats.org/drawingml/2006/chart">
            <c:chart xmlns:c="http://schemas.openxmlformats.org/drawingml/2006/chart" r:id="rId10"/>
          </a:graphicData>
        </a:graphic>
      </p:graphicFrame>
      <p:graphicFrame>
        <p:nvGraphicFramePr>
          <p:cNvPr id="60" name="Chart 9" descr=""/>
          <p:cNvGraphicFramePr/>
          <p:nvPr/>
        </p:nvGraphicFramePr>
        <p:xfrm>
          <a:off x="8479536" y="4175760"/>
          <a:ext cx="1972056" cy="502615"/>
        </p:xfrm>
        <a:graphic>
          <a:graphicData uri="http://schemas.openxmlformats.org/drawingml/2006/chart">
            <c:chart xmlns:c="http://schemas.openxmlformats.org/drawingml/2006/chart" r:id="rId11"/>
          </a:graphicData>
        </a:graphic>
      </p:graphicFrame>
      <p:sp>
        <p:nvSpPr>
          <p:cNvPr id="61" name="Text 49"/>
          <p:cNvSpPr txBox="1"/>
          <p:nvPr/>
        </p:nvSpPr>
        <p:spPr>
          <a:xfrm>
            <a:off x="10543032" y="373227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62" name="Text 50"/>
          <p:cNvSpPr txBox="1"/>
          <p:nvPr/>
        </p:nvSpPr>
        <p:spPr>
          <a:xfrm>
            <a:off x="10543032"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63" name="Shape 51"/>
          <p:cNvSpPr/>
          <p:nvPr/>
        </p:nvSpPr>
        <p:spPr>
          <a:xfrm>
            <a:off x="8040624" y="4767072"/>
            <a:ext cx="3489960" cy="1478280"/>
          </a:xfrm>
          <a:prstGeom prst="rect">
            <a:avLst/>
          </a:prstGeom>
          <a:solidFill>
            <a:srgbClr val="F7F7F7"/>
          </a:solidFill>
          <a:ln/>
        </p:spPr>
      </p:sp>
      <p:sp>
        <p:nvSpPr>
          <p:cNvPr id="64" name="Shape 52"/>
          <p:cNvSpPr/>
          <p:nvPr/>
        </p:nvSpPr>
        <p:spPr>
          <a:xfrm>
            <a:off x="11466576" y="4803648"/>
            <a:ext cx="64008" cy="1405128"/>
          </a:xfrm>
          <a:prstGeom prst="rect">
            <a:avLst/>
          </a:prstGeom>
          <a:solidFill>
            <a:srgbClr val="2587C5"/>
          </a:solidFill>
          <a:ln/>
        </p:spPr>
      </p:sp>
      <p:sp>
        <p:nvSpPr>
          <p:cNvPr id="65" name="Text 53"/>
          <p:cNvSpPr txBox="1"/>
          <p:nvPr/>
        </p:nvSpPr>
        <p:spPr>
          <a:xfrm>
            <a:off x="8132064"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66" name="Text 54"/>
          <p:cNvSpPr txBox="1"/>
          <p:nvPr/>
        </p:nvSpPr>
        <p:spPr>
          <a:xfrm>
            <a:off x="8479536"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graphicFrame>
        <p:nvGraphicFramePr>
          <p:cNvPr id="67" name="Chart 10" descr=""/>
          <p:cNvGraphicFramePr/>
          <p:nvPr/>
        </p:nvGraphicFramePr>
        <p:xfrm>
          <a:off x="8479536" y="5654040"/>
          <a:ext cx="1972056" cy="502615"/>
        </p:xfrm>
        <a:graphic>
          <a:graphicData uri="http://schemas.openxmlformats.org/drawingml/2006/chart">
            <c:chart xmlns:c="http://schemas.openxmlformats.org/drawingml/2006/chart" r:id="rId12"/>
          </a:graphicData>
        </a:graphic>
      </p:graphicFrame>
      <p:graphicFrame>
        <p:nvGraphicFramePr>
          <p:cNvPr id="68" name="Chart 11" descr=""/>
          <p:cNvGraphicFramePr/>
          <p:nvPr/>
        </p:nvGraphicFramePr>
        <p:xfrm>
          <a:off x="8479536" y="5654040"/>
          <a:ext cx="1972056" cy="502615"/>
        </p:xfrm>
        <a:graphic>
          <a:graphicData uri="http://schemas.openxmlformats.org/drawingml/2006/chart">
            <c:chart xmlns:c="http://schemas.openxmlformats.org/drawingml/2006/chart" r:id="rId13"/>
          </a:graphicData>
        </a:graphic>
      </p:graphicFrame>
      <p:sp>
        <p:nvSpPr>
          <p:cNvPr id="69" name="Text 55"/>
          <p:cNvSpPr txBox="1"/>
          <p:nvPr/>
        </p:nvSpPr>
        <p:spPr>
          <a:xfrm>
            <a:off x="10543032" y="521055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70" name="Text 56"/>
          <p:cNvSpPr txBox="1"/>
          <p:nvPr/>
        </p:nvSpPr>
        <p:spPr>
          <a:xfrm>
            <a:off x="10543032"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+62.3%</a:t>
            </a:r>
            <a:endParaRPr lang="en-US" sz="1300"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SERVICE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$22.77M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$27.70M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+$4.92M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+$4.92M (+21.6%) year to date; 9 of nine months ahead of 2025, largest gain in September, +$1.11M.</a:t>
            </a:r>
            <a:endParaRPr lang="en-US" sz="16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SERVICE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PROFIT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$27.70M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485984"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$4.54M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110476"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39444"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400911"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394461"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2980944" y="3486134"/>
            <a:ext cx="368551"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29012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$887,051</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28527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$872,234</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2980944" y="4270366"/>
            <a:ext cx="27079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$827,953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2980944" y="4531777"/>
            <a:ext cx="269445"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$823,822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793188"/>
            <a:ext cx="269119"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$822,828</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2980944" y="5054599"/>
            <a:ext cx="258823"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$791,347</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239618"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$732,628</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217870"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$666,135</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2980944" y="5838831"/>
            <a:ext cx="212774"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$650,554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2980944" y="6100242"/>
            <a:ext cx="187564"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$573,473</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1610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$492,399</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8531352" y="2179080"/>
            <a:ext cx="130133"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$397,878</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89109"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$272,449</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31352" y="2701901"/>
            <a:ext cx="75274"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$230,149</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8531352" y="2963312"/>
            <a:ext cx="7288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$222,843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224723"/>
            <a:ext cx="50370"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$154,005</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8531352" y="3486134"/>
            <a:ext cx="42695"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$130,538</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8531352" y="3747545"/>
            <a:ext cx="2626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$80,315</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3" name="Shape 111"/>
          <p:cNvSpPr/>
          <p:nvPr/>
        </p:nvSpPr>
        <p:spPr>
          <a:xfrm>
            <a:off x="8531352" y="4008956"/>
            <a:ext cx="2349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$71,828</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31352" y="4270366"/>
            <a:ext cx="21616" cy="120249"/>
          </a:xfrm>
          <a:prstGeom prst="rect">
            <a:avLst/>
          </a:prstGeom>
          <a:solidFill>
            <a:srgbClr val="C2352F"/>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−$66,092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31352" y="4531777"/>
            <a:ext cx="21721" cy="120249"/>
          </a:xfrm>
          <a:prstGeom prst="rect">
            <a:avLst/>
          </a:prstGeom>
          <a:solidFill>
            <a:srgbClr val="C2352F"/>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−$66,411</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31352" y="4793188"/>
            <a:ext cx="48499" cy="120249"/>
          </a:xfrm>
          <a:prstGeom prst="rect">
            <a:avLst/>
          </a:prstGeom>
          <a:solidFill>
            <a:srgbClr val="C2352F"/>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−$148,286</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2334" cy="120249"/>
          </a:xfrm>
          <a:prstGeom prst="rect">
            <a:avLst/>
          </a:prstGeom>
          <a:solidFill>
            <a:srgbClr val="C2352F"/>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−$190,585</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316010"/>
            <a:ext cx="66014" cy="120249"/>
          </a:xfrm>
          <a:prstGeom prst="rect">
            <a:avLst/>
          </a:prstGeom>
          <a:solidFill>
            <a:srgbClr val="C2352F"/>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−$201,836</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31352" y="5577420"/>
            <a:ext cx="75295" cy="120249"/>
          </a:xfrm>
          <a:prstGeom prst="rect">
            <a:avLst/>
          </a:prstGeom>
          <a:solidFill>
            <a:srgbClr val="C2352F"/>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−$230,214</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531352" y="5838831"/>
            <a:ext cx="147004" cy="120249"/>
          </a:xfrm>
          <a:prstGeom prst="rect">
            <a:avLst/>
          </a:prstGeom>
          <a:solidFill>
            <a:srgbClr val="C2352F"/>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−$449,461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SERVICE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PROFIT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+$4.92M  ·  +21.6%</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+25.2%</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431422"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+$849K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247051"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2" name="Shape 30"/>
          <p:cNvSpPr/>
          <p:nvPr/>
        </p:nvSpPr>
        <p:spPr>
          <a:xfrm>
            <a:off x="3579876" y="2853100"/>
            <a:ext cx="1913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+$377K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+105.8%</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7636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+84.0%</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979"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8" name="Shape 46"/>
          <p:cNvSpPr/>
          <p:nvPr/>
        </p:nvSpPr>
        <p:spPr>
          <a:xfrm>
            <a:off x="3579876" y="3524377"/>
            <a:ext cx="156869"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+$309K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+33.7%</a:t>
            </a:r>
            <a:endParaRPr lang="en-US" sz="1200" dirty="0"/>
          </a:p>
        </p:txBody>
      </p:sp>
      <p:sp>
        <p:nvSpPr>
          <p:cNvPr id="51" name="Shape 49"/>
          <p:cNvSpPr/>
          <p:nvPr/>
        </p:nvSpPr>
        <p:spPr>
          <a:xfrm>
            <a:off x="612648" y="3696865"/>
            <a:ext cx="5138928" cy="205471"/>
          </a:xfrm>
          <a:prstGeom prst="rect">
            <a:avLst/>
          </a:prstGeom>
          <a:solidFill>
            <a:srgbClr val="E6F6EE"/>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4" name="Shape 52"/>
          <p:cNvSpPr/>
          <p:nvPr/>
        </p:nvSpPr>
        <p:spPr>
          <a:xfrm>
            <a:off x="3579876" y="3748136"/>
            <a:ext cx="143264"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+$282K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+543.6%</a:t>
            </a:r>
            <a:endParaRPr lang="en-US" sz="1200" dirty="0"/>
          </a:p>
        </p:txBody>
      </p:sp>
      <p:sp>
        <p:nvSpPr>
          <p:cNvPr id="57" name="Shape 55"/>
          <p:cNvSpPr/>
          <p:nvPr/>
        </p:nvSpPr>
        <p:spPr>
          <a:xfrm>
            <a:off x="5907024" y="3733441"/>
            <a:ext cx="54864" cy="132319"/>
          </a:xfrm>
          <a:prstGeom prst="rect">
            <a:avLst/>
          </a:prstGeom>
          <a:solidFill>
            <a:srgbClr val="12A566"/>
          </a:solidFill>
          <a:ln/>
        </p:spPr>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0" name="Shape 58"/>
          <p:cNvSpPr/>
          <p:nvPr/>
        </p:nvSpPr>
        <p:spPr>
          <a:xfrm>
            <a:off x="3579876" y="3971895"/>
            <a:ext cx="127653"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579876" y="4195654"/>
            <a:ext cx="123945"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+57.8%</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0" name="Shape 68"/>
          <p:cNvSpPr/>
          <p:nvPr/>
        </p:nvSpPr>
        <p:spPr>
          <a:xfrm>
            <a:off x="3579876" y="4419414"/>
            <a:ext cx="10352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+$204K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5" name="Shape 73"/>
          <p:cNvSpPr/>
          <p:nvPr/>
        </p:nvSpPr>
        <p:spPr>
          <a:xfrm>
            <a:off x="3579876" y="4643173"/>
            <a:ext cx="98445"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+42.4%</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0" name="Shape 78"/>
          <p:cNvSpPr/>
          <p:nvPr/>
        </p:nvSpPr>
        <p:spPr>
          <a:xfrm>
            <a:off x="3579876" y="4866932"/>
            <a:ext cx="96549"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3579876" y="5090691"/>
            <a:ext cx="93280"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0" name="Shape 88"/>
          <p:cNvSpPr/>
          <p:nvPr/>
        </p:nvSpPr>
        <p:spPr>
          <a:xfrm>
            <a:off x="3579876" y="5314450"/>
            <a:ext cx="76461"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5" name="Shape 93"/>
          <p:cNvSpPr/>
          <p:nvPr/>
        </p:nvSpPr>
        <p:spPr>
          <a:xfrm>
            <a:off x="3579876" y="5538209"/>
            <a:ext cx="68215"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+97.2%</a:t>
            </a:r>
            <a:endParaRPr lang="en-US" sz="1200" dirty="0"/>
          </a:p>
        </p:txBody>
      </p:sp>
      <p:sp>
        <p:nvSpPr>
          <p:cNvPr id="98" name="Shape 96"/>
          <p:cNvSpPr/>
          <p:nvPr/>
        </p:nvSpPr>
        <p:spPr>
          <a:xfrm>
            <a:off x="5907024" y="5523514"/>
            <a:ext cx="54864" cy="132319"/>
          </a:xfrm>
          <a:prstGeom prst="rect">
            <a:avLst/>
          </a:prstGeom>
          <a:solidFill>
            <a:srgbClr val="12A566"/>
          </a:solidFill>
          <a:ln/>
        </p:spPr>
      </p:sp>
      <p:sp>
        <p:nvSpPr>
          <p:cNvPr id="99" name="Text 97"/>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0" name="Text 98"/>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1" name="Shape 99"/>
          <p:cNvSpPr/>
          <p:nvPr/>
        </p:nvSpPr>
        <p:spPr>
          <a:xfrm>
            <a:off x="3579876" y="5761968"/>
            <a:ext cx="68107" cy="102929"/>
          </a:xfrm>
          <a:prstGeom prst="rect">
            <a:avLst/>
          </a:prstGeom>
          <a:solidFill>
            <a:srgbClr val="12A566"/>
          </a:solidFill>
          <a:ln/>
        </p:spPr>
      </p:sp>
      <p:sp>
        <p:nvSpPr>
          <p:cNvPr id="102" name="Text 100"/>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103" name="Text 101"/>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104" name="Text 102"/>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5" name="Text 103"/>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6" name="Shape 104"/>
          <p:cNvSpPr/>
          <p:nvPr/>
        </p:nvSpPr>
        <p:spPr>
          <a:xfrm>
            <a:off x="9130284" y="2181823"/>
            <a:ext cx="57484" cy="102929"/>
          </a:xfrm>
          <a:prstGeom prst="rect">
            <a:avLst/>
          </a:prstGeom>
          <a:solidFill>
            <a:srgbClr val="12A566"/>
          </a:solidFill>
          <a:ln/>
        </p:spPr>
      </p:sp>
      <p:sp>
        <p:nvSpPr>
          <p:cNvPr id="107" name="Text 105"/>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8" name="Text 106"/>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109" name="Text 10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0" name="Text 10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1" name="Shape 109"/>
          <p:cNvSpPr/>
          <p:nvPr/>
        </p:nvSpPr>
        <p:spPr>
          <a:xfrm>
            <a:off x="9130284" y="2405582"/>
            <a:ext cx="52484" cy="102929"/>
          </a:xfrm>
          <a:prstGeom prst="rect">
            <a:avLst/>
          </a:prstGeom>
          <a:solidFill>
            <a:srgbClr val="12A566"/>
          </a:solidFill>
          <a:ln/>
        </p:spPr>
      </p:sp>
      <p:sp>
        <p:nvSpPr>
          <p:cNvPr id="112" name="Text 110"/>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+$103K</a:t>
            </a:r>
            <a:endParaRPr lang="en-US" sz="1200" dirty="0"/>
          </a:p>
        </p:txBody>
      </p:sp>
      <p:sp>
        <p:nvSpPr>
          <p:cNvPr id="113" name="Text 111"/>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5" name="Text 113"/>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6" name="Shape 114"/>
          <p:cNvSpPr/>
          <p:nvPr/>
        </p:nvSpPr>
        <p:spPr>
          <a:xfrm>
            <a:off x="9130284" y="2629341"/>
            <a:ext cx="48364" cy="102929"/>
          </a:xfrm>
          <a:prstGeom prst="rect">
            <a:avLst/>
          </a:prstGeom>
          <a:solidFill>
            <a:srgbClr val="12A566"/>
          </a:solidFill>
          <a:ln/>
        </p:spPr>
      </p:sp>
      <p:sp>
        <p:nvSpPr>
          <p:cNvPr id="117" name="Text 115"/>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18" name="Text 116"/>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+74.6%</a:t>
            </a:r>
            <a:endParaRPr lang="en-US" sz="1200" dirty="0"/>
          </a:p>
        </p:txBody>
      </p:sp>
      <p:sp>
        <p:nvSpPr>
          <p:cNvPr id="119" name="Text 117"/>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0" name="Text 118"/>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130284" y="2853100"/>
            <a:ext cx="32595" cy="102929"/>
          </a:xfrm>
          <a:prstGeom prst="rect">
            <a:avLst/>
          </a:prstGeom>
          <a:solidFill>
            <a:srgbClr val="12A566"/>
          </a:solidFill>
          <a:ln/>
        </p:spPr>
      </p:sp>
      <p:sp>
        <p:nvSpPr>
          <p:cNvPr id="122" name="Text 120"/>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+$64K</a:t>
            </a:r>
            <a:endParaRPr lang="en-US" sz="1200" dirty="0"/>
          </a:p>
        </p:txBody>
      </p:sp>
      <p:sp>
        <p:nvSpPr>
          <p:cNvPr id="123" name="Text 121"/>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+12.5%</a:t>
            </a:r>
            <a:endParaRPr lang="en-US" sz="1200" dirty="0"/>
          </a:p>
        </p:txBody>
      </p:sp>
      <p:sp>
        <p:nvSpPr>
          <p:cNvPr id="124" name="Text 122"/>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5" name="Text 123"/>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6" name="Shape 124"/>
          <p:cNvSpPr/>
          <p:nvPr/>
        </p:nvSpPr>
        <p:spPr>
          <a:xfrm>
            <a:off x="9130284" y="3076859"/>
            <a:ext cx="27658" cy="102929"/>
          </a:xfrm>
          <a:prstGeom prst="rect">
            <a:avLst/>
          </a:prstGeom>
          <a:solidFill>
            <a:srgbClr val="12A566"/>
          </a:solidFill>
          <a:ln/>
        </p:spPr>
      </p:sp>
      <p:sp>
        <p:nvSpPr>
          <p:cNvPr id="127" name="Text 125"/>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8" name="Text 126"/>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129" name="Text 127"/>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0" name="Text 128"/>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1" name="Shape 129"/>
          <p:cNvSpPr/>
          <p:nvPr/>
        </p:nvSpPr>
        <p:spPr>
          <a:xfrm>
            <a:off x="9130284" y="3300618"/>
            <a:ext cx="12802" cy="102929"/>
          </a:xfrm>
          <a:prstGeom prst="rect">
            <a:avLst/>
          </a:prstGeom>
          <a:solidFill>
            <a:srgbClr val="12A566"/>
          </a:solidFill>
          <a:ln/>
        </p:spPr>
      </p:sp>
      <p:sp>
        <p:nvSpPr>
          <p:cNvPr id="132" name="Text 130"/>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3" name="Text 131"/>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134" name="Text 132"/>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5" name="Text 133"/>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6" name="Shape 134"/>
          <p:cNvSpPr/>
          <p:nvPr/>
        </p:nvSpPr>
        <p:spPr>
          <a:xfrm>
            <a:off x="9130284" y="3524377"/>
            <a:ext cx="12802" cy="102929"/>
          </a:xfrm>
          <a:prstGeom prst="rect">
            <a:avLst/>
          </a:prstGeom>
          <a:solidFill>
            <a:srgbClr val="12A566"/>
          </a:solidFill>
          <a:ln/>
        </p:spPr>
      </p:sp>
      <p:sp>
        <p:nvSpPr>
          <p:cNvPr id="137" name="Text 135"/>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+$2K</a:t>
            </a:r>
            <a:endParaRPr lang="en-US" sz="1200" dirty="0"/>
          </a:p>
        </p:txBody>
      </p:sp>
      <p:sp>
        <p:nvSpPr>
          <p:cNvPr id="138" name="Text 136"/>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a:t>
            </a:r>
            <a:endParaRPr lang="en-US" sz="1200" dirty="0"/>
          </a:p>
        </p:txBody>
      </p:sp>
      <p:sp>
        <p:nvSpPr>
          <p:cNvPr id="139" name="Text 137"/>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0" name="Text 138"/>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9117613" y="3748136"/>
            <a:ext cx="12802" cy="102929"/>
          </a:xfrm>
          <a:prstGeom prst="rect">
            <a:avLst/>
          </a:prstGeom>
          <a:solidFill>
            <a:srgbClr val="C2352F"/>
          </a:solidFill>
          <a:ln/>
        </p:spPr>
      </p:sp>
      <p:sp>
        <p:nvSpPr>
          <p:cNvPr id="142" name="Text 140"/>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−$25K</a:t>
            </a:r>
            <a:endParaRPr lang="en-US" sz="1200" dirty="0"/>
          </a:p>
        </p:txBody>
      </p:sp>
      <p:sp>
        <p:nvSpPr>
          <p:cNvPr id="143" name="Text 141"/>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44" name="Text 142"/>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5" name="Text 143"/>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9096458" y="3971895"/>
            <a:ext cx="33826" cy="102929"/>
          </a:xfrm>
          <a:prstGeom prst="rect">
            <a:avLst/>
          </a:prstGeom>
          <a:solidFill>
            <a:srgbClr val="C2352F"/>
          </a:solidFill>
          <a:ln/>
        </p:spPr>
      </p:sp>
      <p:sp>
        <p:nvSpPr>
          <p:cNvPr id="147" name="Text 145"/>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−$67K</a:t>
            </a:r>
            <a:endParaRPr lang="en-US" sz="1200" dirty="0"/>
          </a:p>
        </p:txBody>
      </p:sp>
      <p:sp>
        <p:nvSpPr>
          <p:cNvPr id="148" name="Text 146"/>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1" name="Shape 149"/>
          <p:cNvSpPr/>
          <p:nvPr/>
        </p:nvSpPr>
        <p:spPr>
          <a:xfrm>
            <a:off x="9088857" y="4195654"/>
            <a:ext cx="41427"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154" name="Shape 152"/>
          <p:cNvSpPr/>
          <p:nvPr/>
        </p:nvSpPr>
        <p:spPr>
          <a:xfrm>
            <a:off x="11457432" y="4180960"/>
            <a:ext cx="54864" cy="132319"/>
          </a:xfrm>
          <a:prstGeom prst="rect">
            <a:avLst/>
          </a:prstGeom>
          <a:solidFill>
            <a:srgbClr val="C2352F"/>
          </a:solidFill>
          <a:ln/>
        </p:spPr>
      </p:sp>
      <p:sp>
        <p:nvSpPr>
          <p:cNvPr id="155" name="Text 153"/>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6" name="Text 154"/>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9075044" y="4419414"/>
            <a:ext cx="55240" cy="102929"/>
          </a:xfrm>
          <a:prstGeom prst="rect">
            <a:avLst/>
          </a:prstGeom>
          <a:solidFill>
            <a:srgbClr val="C2352F"/>
          </a:solidFill>
          <a:ln/>
        </p:spPr>
      </p:sp>
      <p:sp>
        <p:nvSpPr>
          <p:cNvPr id="158" name="Text 156"/>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−$109K</a:t>
            </a:r>
            <a:endParaRPr lang="en-US" sz="1200" dirty="0"/>
          </a:p>
        </p:txBody>
      </p:sp>
      <p:sp>
        <p:nvSpPr>
          <p:cNvPr id="159" name="Text 157"/>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60" name="Text 158"/>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1" name="Text 159"/>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62" name="Shape 160"/>
          <p:cNvSpPr/>
          <p:nvPr/>
        </p:nvSpPr>
        <p:spPr>
          <a:xfrm>
            <a:off x="9066549" y="4643173"/>
            <a:ext cx="63735" cy="102929"/>
          </a:xfrm>
          <a:prstGeom prst="rect">
            <a:avLst/>
          </a:prstGeom>
          <a:solidFill>
            <a:srgbClr val="C2352F"/>
          </a:solidFill>
          <a:ln/>
        </p:spPr>
      </p:sp>
      <p:sp>
        <p:nvSpPr>
          <p:cNvPr id="163" name="Text 161"/>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−$125K</a:t>
            </a:r>
            <a:endParaRPr lang="en-US" sz="1200" dirty="0"/>
          </a:p>
        </p:txBody>
      </p:sp>
      <p:sp>
        <p:nvSpPr>
          <p:cNvPr id="164" name="Text 162"/>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−63.6%</a:t>
            </a:r>
            <a:endParaRPr lang="en-US" sz="1200" dirty="0"/>
          </a:p>
        </p:txBody>
      </p:sp>
      <p:sp>
        <p:nvSpPr>
          <p:cNvPr id="165" name="Shape 163"/>
          <p:cNvSpPr/>
          <p:nvPr/>
        </p:nvSpPr>
        <p:spPr>
          <a:xfrm>
            <a:off x="11457432" y="4628478"/>
            <a:ext cx="54864" cy="132319"/>
          </a:xfrm>
          <a:prstGeom prst="rect">
            <a:avLst/>
          </a:prstGeom>
          <a:solidFill>
            <a:srgbClr val="C2352F"/>
          </a:solidFill>
          <a:ln/>
        </p:spPr>
      </p:sp>
      <p:sp>
        <p:nvSpPr>
          <p:cNvPr id="166" name="Shape 164"/>
          <p:cNvSpPr/>
          <p:nvPr/>
        </p:nvSpPr>
        <p:spPr>
          <a:xfrm>
            <a:off x="6163056" y="4815661"/>
            <a:ext cx="5138928" cy="205471"/>
          </a:xfrm>
          <a:prstGeom prst="rect">
            <a:avLst/>
          </a:prstGeom>
          <a:solidFill>
            <a:srgbClr val="FBEBEA"/>
          </a:solidFill>
          <a:ln/>
        </p:spPr>
      </p:sp>
      <p:sp>
        <p:nvSpPr>
          <p:cNvPr id="167" name="Text 165"/>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8" name="Text 166"/>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9" name="Shape 167"/>
          <p:cNvSpPr/>
          <p:nvPr/>
        </p:nvSpPr>
        <p:spPr>
          <a:xfrm>
            <a:off x="9049021" y="4866932"/>
            <a:ext cx="81263" cy="102929"/>
          </a:xfrm>
          <a:prstGeom prst="rect">
            <a:avLst/>
          </a:prstGeom>
          <a:solidFill>
            <a:srgbClr val="C2352F"/>
          </a:solidFill>
          <a:ln/>
        </p:spPr>
      </p:sp>
      <p:sp>
        <p:nvSpPr>
          <p:cNvPr id="170" name="Text 168"/>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−$160K</a:t>
            </a:r>
            <a:endParaRPr lang="en-US" sz="1200" dirty="0"/>
          </a:p>
        </p:txBody>
      </p:sp>
      <p:sp>
        <p:nvSpPr>
          <p:cNvPr id="171" name="Text 169"/>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−1368.7%</a:t>
            </a:r>
            <a:endParaRPr lang="en-US" sz="1200" dirty="0"/>
          </a:p>
        </p:txBody>
      </p:sp>
      <p:sp>
        <p:nvSpPr>
          <p:cNvPr id="172" name="Shape 170"/>
          <p:cNvSpPr/>
          <p:nvPr/>
        </p:nvSpPr>
        <p:spPr>
          <a:xfrm>
            <a:off x="11457432" y="4852237"/>
            <a:ext cx="54864" cy="132319"/>
          </a:xfrm>
          <a:prstGeom prst="rect">
            <a:avLst/>
          </a:prstGeom>
          <a:solidFill>
            <a:srgbClr val="C2352F"/>
          </a:solidFill>
          <a:ln/>
        </p:spPr>
      </p:sp>
      <p:sp>
        <p:nvSpPr>
          <p:cNvPr id="173" name="Text 171"/>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4" name="Text 172"/>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5" name="Shape 173"/>
          <p:cNvSpPr/>
          <p:nvPr/>
        </p:nvSpPr>
        <p:spPr>
          <a:xfrm>
            <a:off x="9045307" y="5090691"/>
            <a:ext cx="84977" cy="102929"/>
          </a:xfrm>
          <a:prstGeom prst="rect">
            <a:avLst/>
          </a:prstGeom>
          <a:solidFill>
            <a:srgbClr val="C2352F"/>
          </a:solidFill>
          <a:ln/>
        </p:spPr>
      </p:sp>
      <p:sp>
        <p:nvSpPr>
          <p:cNvPr id="176" name="Text 174"/>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77" name="Text 175"/>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78" name="Text 176"/>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9" name="Text 177"/>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0" name="Shape 178"/>
          <p:cNvSpPr/>
          <p:nvPr/>
        </p:nvSpPr>
        <p:spPr>
          <a:xfrm>
            <a:off x="8988517" y="5314450"/>
            <a:ext cx="141767" cy="102929"/>
          </a:xfrm>
          <a:prstGeom prst="rect">
            <a:avLst/>
          </a:prstGeom>
          <a:solidFill>
            <a:srgbClr val="C2352F"/>
          </a:solidFill>
          <a:ln/>
        </p:spPr>
      </p:sp>
      <p:sp>
        <p:nvSpPr>
          <p:cNvPr id="181" name="Text 179"/>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−$279K</a:t>
            </a:r>
            <a:endParaRPr lang="en-US" sz="1200" dirty="0"/>
          </a:p>
        </p:txBody>
      </p:sp>
      <p:sp>
        <p:nvSpPr>
          <p:cNvPr id="182" name="Text 180"/>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83" name="Text 18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4" name="Text 18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5" name="Shape 183"/>
          <p:cNvSpPr/>
          <p:nvPr/>
        </p:nvSpPr>
        <p:spPr>
          <a:xfrm>
            <a:off x="8978486" y="5538209"/>
            <a:ext cx="151798" cy="102929"/>
          </a:xfrm>
          <a:prstGeom prst="rect">
            <a:avLst/>
          </a:prstGeom>
          <a:solidFill>
            <a:srgbClr val="C2352F"/>
          </a:solidFill>
          <a:ln/>
        </p:spPr>
      </p:sp>
      <p:sp>
        <p:nvSpPr>
          <p:cNvPr id="186" name="Text 184"/>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−$299K</a:t>
            </a:r>
            <a:endParaRPr lang="en-US" sz="1200" dirty="0"/>
          </a:p>
        </p:txBody>
      </p:sp>
      <p:sp>
        <p:nvSpPr>
          <p:cNvPr id="187" name="Text 185"/>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88" name="Shape 186"/>
          <p:cNvSpPr/>
          <p:nvPr/>
        </p:nvSpPr>
        <p:spPr>
          <a:xfrm>
            <a:off x="3574390" y="2121408"/>
            <a:ext cx="10973" cy="3803904"/>
          </a:xfrm>
          <a:prstGeom prst="rect">
            <a:avLst/>
          </a:prstGeom>
          <a:solidFill>
            <a:srgbClr val="9AA3AD"/>
          </a:solidFill>
          <a:ln/>
        </p:spPr>
      </p:sp>
      <p:sp>
        <p:nvSpPr>
          <p:cNvPr id="189" name="Shape 187"/>
          <p:cNvSpPr/>
          <p:nvPr/>
        </p:nvSpPr>
        <p:spPr>
          <a:xfrm>
            <a:off x="9124798" y="2121408"/>
            <a:ext cx="10973" cy="3803904"/>
          </a:xfrm>
          <a:prstGeom prst="rect">
            <a:avLst/>
          </a:prstGeom>
          <a:solidFill>
            <a:srgbClr val="9AA3AD"/>
          </a:solidFill>
          <a:ln/>
        </p:spPr>
      </p:sp>
      <p:sp>
        <p:nvSpPr>
          <p:cNvPr id="190" name="Shape 188"/>
          <p:cNvSpPr/>
          <p:nvPr/>
        </p:nvSpPr>
        <p:spPr>
          <a:xfrm>
            <a:off x="6085332" y="2121408"/>
            <a:ext cx="10973" cy="3803904"/>
          </a:xfrm>
          <a:prstGeom prst="rect">
            <a:avLst/>
          </a:prstGeom>
          <a:solidFill>
            <a:srgbClr val="D9D9D9"/>
          </a:solidFill>
          <a:ln/>
        </p:spPr>
      </p:sp>
      <p:sp>
        <p:nvSpPr>
          <p:cNvPr id="192" name="Shape 189"/>
          <p:cNvSpPr/>
          <p:nvPr/>
        </p:nvSpPr>
        <p:spPr>
          <a:xfrm>
            <a:off x="457200" y="6126480"/>
            <a:ext cx="11274552" cy="371856"/>
          </a:xfrm>
          <a:prstGeom prst="rect">
            <a:avLst/>
          </a:prstGeom>
          <a:solidFill>
            <a:srgbClr val="EDF4FA"/>
          </a:solidFill>
          <a:ln/>
        </p:spPr>
      </p:sp>
      <p:sp>
        <p:nvSpPr>
          <p:cNvPr id="193" name="Text 19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 of 33 stores grew service net profit, January through September year to date.</a:t>
            </a:r>
            <a:endParaRPr lang="en-US" sz="16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SERVICE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3 VS LAST YEAR</a:t>
            </a:r>
            <a:endParaRPr lang="en-US" sz="1500" dirty="0"/>
          </a:p>
        </p:txBody>
      </p:sp>
      <p:sp>
        <p:nvSpPr>
          <p:cNvPr id="9" name="Shape 7"/>
          <p:cNvSpPr/>
          <p:nvPr/>
        </p:nvSpPr>
        <p:spPr>
          <a:xfrm>
            <a:off x="658368" y="1810512"/>
            <a:ext cx="3489960" cy="1478280"/>
          </a:xfrm>
          <a:prstGeom prst="rect">
            <a:avLst/>
          </a:prstGeom>
          <a:solidFill>
            <a:srgbClr val="F7F7F7"/>
          </a:solidFill>
          <a:ln/>
        </p:spPr>
      </p:sp>
      <p:sp>
        <p:nvSpPr>
          <p:cNvPr id="10" name="Text 8"/>
          <p:cNvSpPr txBox="1"/>
          <p:nvPr/>
        </p:nvSpPr>
        <p:spPr>
          <a:xfrm>
            <a:off x="749808"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11" name="Text 9"/>
          <p:cNvSpPr txBox="1"/>
          <p:nvPr/>
        </p:nvSpPr>
        <p:spPr>
          <a:xfrm>
            <a:off x="1097280"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$4.47M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$5.59M</a:t>
            </a:r>
            <a:endParaRPr lang="en-US" sz="1400" dirty="0"/>
          </a:p>
        </p:txBody>
      </p:sp>
      <p:graphicFrame>
        <p:nvGraphicFramePr>
          <p:cNvPr id="12" name="Chart 0" descr=""/>
          <p:cNvGraphicFramePr/>
          <p:nvPr/>
        </p:nvGraphicFramePr>
        <p:xfrm>
          <a:off x="1097280" y="2697480"/>
          <a:ext cx="1972056" cy="502615"/>
        </p:xfrm>
        <a:graphic>
          <a:graphicData uri="http://schemas.openxmlformats.org/drawingml/2006/chart">
            <c:chart xmlns:c="http://schemas.openxmlformats.org/drawingml/2006/chart" r:id="rId2"/>
          </a:graphicData>
        </a:graphic>
      </p:graphicFrame>
      <p:sp>
        <p:nvSpPr>
          <p:cNvPr id="13" name="Text 10"/>
          <p:cNvSpPr txBox="1"/>
          <p:nvPr/>
        </p:nvSpPr>
        <p:spPr>
          <a:xfrm>
            <a:off x="3160776" y="225399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+$1.13M</a:t>
            </a:r>
            <a:endParaRPr lang="en-US" sz="1600" dirty="0"/>
          </a:p>
        </p:txBody>
      </p:sp>
      <p:sp>
        <p:nvSpPr>
          <p:cNvPr id="14" name="Text 11"/>
          <p:cNvSpPr txBox="1"/>
          <p:nvPr/>
        </p:nvSpPr>
        <p:spPr>
          <a:xfrm>
            <a:off x="3160776"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+25.2%</a:t>
            </a:r>
            <a:endParaRPr lang="en-US" sz="1300" dirty="0"/>
          </a:p>
        </p:txBody>
      </p:sp>
      <p:sp>
        <p:nvSpPr>
          <p:cNvPr id="15" name="Text 12"/>
          <p:cNvSpPr txBox="1"/>
          <p:nvPr/>
        </p:nvSpPr>
        <p:spPr>
          <a:xfrm>
            <a:off x="749808"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16" name="Text 13"/>
          <p:cNvSpPr txBox="1"/>
          <p:nvPr/>
        </p:nvSpPr>
        <p:spPr>
          <a:xfrm>
            <a:off x="1097280"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$2.55M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$3.40M</a:t>
            </a:r>
            <a:endParaRPr lang="en-US" sz="1400" dirty="0"/>
          </a:p>
        </p:txBody>
      </p:sp>
      <p:graphicFrame>
        <p:nvGraphicFramePr>
          <p:cNvPr id="17" name="Chart 1" descr=""/>
          <p:cNvGraphicFramePr/>
          <p:nvPr/>
        </p:nvGraphicFramePr>
        <p:xfrm>
          <a:off x="1097280" y="4175760"/>
          <a:ext cx="1972056" cy="502615"/>
        </p:xfrm>
        <a:graphic>
          <a:graphicData uri="http://schemas.openxmlformats.org/drawingml/2006/chart">
            <c:chart xmlns:c="http://schemas.openxmlformats.org/drawingml/2006/chart" r:id="rId3"/>
          </a:graphicData>
        </a:graphic>
      </p:graphicFrame>
      <p:sp>
        <p:nvSpPr>
          <p:cNvPr id="18" name="Text 14"/>
          <p:cNvSpPr txBox="1"/>
          <p:nvPr/>
        </p:nvSpPr>
        <p:spPr>
          <a:xfrm>
            <a:off x="3160776" y="373227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+$849K</a:t>
            </a:r>
            <a:endParaRPr lang="en-US" sz="1600" dirty="0"/>
          </a:p>
        </p:txBody>
      </p:sp>
      <p:sp>
        <p:nvSpPr>
          <p:cNvPr id="19" name="Text 15"/>
          <p:cNvSpPr txBox="1"/>
          <p:nvPr/>
        </p:nvSpPr>
        <p:spPr>
          <a:xfrm>
            <a:off x="3160776"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+33.4%</a:t>
            </a:r>
            <a:endParaRPr lang="en-US" sz="1300" dirty="0"/>
          </a:p>
        </p:txBody>
      </p:sp>
      <p:sp>
        <p:nvSpPr>
          <p:cNvPr id="20" name="Shape 16"/>
          <p:cNvSpPr/>
          <p:nvPr/>
        </p:nvSpPr>
        <p:spPr>
          <a:xfrm>
            <a:off x="658368" y="4767072"/>
            <a:ext cx="3489960" cy="1478280"/>
          </a:xfrm>
          <a:prstGeom prst="rect">
            <a:avLst/>
          </a:prstGeom>
          <a:solidFill>
            <a:srgbClr val="F7F7F7"/>
          </a:solidFill>
          <a:ln/>
        </p:spPr>
      </p:sp>
      <p:sp>
        <p:nvSpPr>
          <p:cNvPr id="21" name="Shape 17"/>
          <p:cNvSpPr/>
          <p:nvPr/>
        </p:nvSpPr>
        <p:spPr>
          <a:xfrm>
            <a:off x="4084320" y="4803648"/>
            <a:ext cx="64008" cy="1405128"/>
          </a:xfrm>
          <a:prstGeom prst="rect">
            <a:avLst/>
          </a:prstGeom>
          <a:solidFill>
            <a:srgbClr val="12A566"/>
          </a:solidFill>
          <a:ln/>
        </p:spPr>
      </p:sp>
      <p:sp>
        <p:nvSpPr>
          <p:cNvPr id="22" name="Text 18"/>
          <p:cNvSpPr txBox="1"/>
          <p:nvPr/>
        </p:nvSpPr>
        <p:spPr>
          <a:xfrm>
            <a:off x="749808"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23" name="Text 19"/>
          <p:cNvSpPr txBox="1"/>
          <p:nvPr/>
        </p:nvSpPr>
        <p:spPr>
          <a:xfrm>
            <a:off x="1097280"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$4.54M</a:t>
            </a:r>
            <a:endParaRPr lang="en-US" sz="1400" dirty="0"/>
          </a:p>
        </p:txBody>
      </p:sp>
      <p:graphicFrame>
        <p:nvGraphicFramePr>
          <p:cNvPr id="24" name="Chart 2" descr=""/>
          <p:cNvGraphicFramePr/>
          <p:nvPr/>
        </p:nvGraphicFramePr>
        <p:xfrm>
          <a:off x="1097280" y="5654040"/>
          <a:ext cx="1972056" cy="502615"/>
        </p:xfrm>
        <a:graphic>
          <a:graphicData uri="http://schemas.openxmlformats.org/drawingml/2006/chart">
            <c:chart xmlns:c="http://schemas.openxmlformats.org/drawingml/2006/chart" r:id="rId4"/>
          </a:graphicData>
        </a:graphic>
      </p:graphicFrame>
      <p:sp>
        <p:nvSpPr>
          <p:cNvPr id="25" name="Text 20"/>
          <p:cNvSpPr txBox="1"/>
          <p:nvPr/>
        </p:nvSpPr>
        <p:spPr>
          <a:xfrm>
            <a:off x="3160776" y="521055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+$486K</a:t>
            </a:r>
            <a:endParaRPr lang="en-US" sz="1600" dirty="0"/>
          </a:p>
        </p:txBody>
      </p:sp>
      <p:sp>
        <p:nvSpPr>
          <p:cNvPr id="26" name="Text 21"/>
          <p:cNvSpPr txBox="1"/>
          <p:nvPr/>
        </p:nvSpPr>
        <p:spPr>
          <a:xfrm>
            <a:off x="3160776"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7" name="Shape 22"/>
          <p:cNvSpPr/>
          <p:nvPr/>
        </p:nvSpPr>
        <p:spPr>
          <a:xfrm>
            <a:off x="4349496" y="1371600"/>
            <a:ext cx="3489960" cy="45720"/>
          </a:xfrm>
          <a:prstGeom prst="rect">
            <a:avLst/>
          </a:prstGeom>
          <a:solidFill>
            <a:srgbClr val="C2352F"/>
          </a:solidFill>
          <a:ln/>
        </p:spPr>
      </p:sp>
      <p:sp>
        <p:nvSpPr>
          <p:cNvPr id="28" name="Text 2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3 VS LAST YEAR</a:t>
            </a:r>
            <a:endParaRPr lang="en-US" sz="1500" dirty="0"/>
          </a:p>
        </p:txBody>
      </p:sp>
      <p:sp>
        <p:nvSpPr>
          <p:cNvPr id="29" name="Shape 24"/>
          <p:cNvSpPr/>
          <p:nvPr/>
        </p:nvSpPr>
        <p:spPr>
          <a:xfrm>
            <a:off x="4349496" y="1810512"/>
            <a:ext cx="3489960" cy="1478280"/>
          </a:xfrm>
          <a:prstGeom prst="rect">
            <a:avLst/>
          </a:prstGeom>
          <a:solidFill>
            <a:srgbClr val="F7F7F7"/>
          </a:solidFill>
          <a:ln/>
        </p:spPr>
      </p:sp>
      <p:sp>
        <p:nvSpPr>
          <p:cNvPr id="30" name="Text 25"/>
          <p:cNvSpPr txBox="1"/>
          <p:nvPr/>
        </p:nvSpPr>
        <p:spPr>
          <a:xfrm>
            <a:off x="4440936"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33</a:t>
            </a:r>
            <a:endParaRPr lang="en-US" sz="2000" dirty="0"/>
          </a:p>
        </p:txBody>
      </p:sp>
      <p:sp>
        <p:nvSpPr>
          <p:cNvPr id="31" name="Text 26"/>
          <p:cNvSpPr txBox="1"/>
          <p:nvPr/>
        </p:nvSpPr>
        <p:spPr>
          <a:xfrm>
            <a:off x="4788408"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$887K</a:t>
            </a:r>
            <a:endParaRPr lang="en-US" sz="1400" dirty="0"/>
          </a:p>
        </p:txBody>
      </p:sp>
      <p:graphicFrame>
        <p:nvGraphicFramePr>
          <p:cNvPr id="32" name="Chart 3" descr=""/>
          <p:cNvGraphicFramePr/>
          <p:nvPr/>
        </p:nvGraphicFramePr>
        <p:xfrm>
          <a:off x="4788408" y="2697480"/>
          <a:ext cx="1972056" cy="502615"/>
        </p:xfrm>
        <a:graphic>
          <a:graphicData uri="http://schemas.openxmlformats.org/drawingml/2006/chart">
            <c:chart xmlns:c="http://schemas.openxmlformats.org/drawingml/2006/chart" r:id="rId5"/>
          </a:graphicData>
        </a:graphic>
      </p:graphicFrame>
      <p:sp>
        <p:nvSpPr>
          <p:cNvPr id="33" name="Text 27"/>
          <p:cNvSpPr txBox="1"/>
          <p:nvPr/>
        </p:nvSpPr>
        <p:spPr>
          <a:xfrm>
            <a:off x="6851904" y="225399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−$299K</a:t>
            </a:r>
            <a:endParaRPr lang="en-US" sz="1600" dirty="0"/>
          </a:p>
        </p:txBody>
      </p:sp>
      <p:sp>
        <p:nvSpPr>
          <p:cNvPr id="34" name="Text 28"/>
          <p:cNvSpPr txBox="1"/>
          <p:nvPr/>
        </p:nvSpPr>
        <p:spPr>
          <a:xfrm>
            <a:off x="6851904"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−25.2%</a:t>
            </a:r>
            <a:endParaRPr lang="en-US" sz="1300" dirty="0"/>
          </a:p>
        </p:txBody>
      </p:sp>
      <p:sp>
        <p:nvSpPr>
          <p:cNvPr id="35" name="Text 29"/>
          <p:cNvSpPr txBox="1"/>
          <p:nvPr/>
        </p:nvSpPr>
        <p:spPr>
          <a:xfrm>
            <a:off x="4440936"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32</a:t>
            </a:r>
            <a:endParaRPr lang="en-US" sz="2000" dirty="0"/>
          </a:p>
        </p:txBody>
      </p:sp>
      <p:sp>
        <p:nvSpPr>
          <p:cNvPr id="36" name="Text 30"/>
          <p:cNvSpPr txBox="1"/>
          <p:nvPr/>
        </p:nvSpPr>
        <p:spPr>
          <a:xfrm>
            <a:off x="4788408"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$824K</a:t>
            </a:r>
            <a:endParaRPr lang="en-US" sz="1400" dirty="0"/>
          </a:p>
        </p:txBody>
      </p:sp>
      <p:graphicFrame>
        <p:nvGraphicFramePr>
          <p:cNvPr id="37" name="Chart 4" descr=""/>
          <p:cNvGraphicFramePr/>
          <p:nvPr/>
        </p:nvGraphicFramePr>
        <p:xfrm>
          <a:off x="4788408" y="4175760"/>
          <a:ext cx="1972056" cy="502615"/>
        </p:xfrm>
        <a:graphic>
          <a:graphicData uri="http://schemas.openxmlformats.org/drawingml/2006/chart">
            <c:chart xmlns:c="http://schemas.openxmlformats.org/drawingml/2006/chart" r:id="rId6"/>
          </a:graphicData>
        </a:graphic>
      </p:graphicFrame>
      <p:sp>
        <p:nvSpPr>
          <p:cNvPr id="38" name="Text 31"/>
          <p:cNvSpPr txBox="1"/>
          <p:nvPr/>
        </p:nvSpPr>
        <p:spPr>
          <a:xfrm>
            <a:off x="6851904" y="373227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−$279K</a:t>
            </a:r>
            <a:endParaRPr lang="en-US" sz="1600" dirty="0"/>
          </a:p>
        </p:txBody>
      </p:sp>
      <p:sp>
        <p:nvSpPr>
          <p:cNvPr id="39" name="Text 32"/>
          <p:cNvSpPr txBox="1"/>
          <p:nvPr/>
        </p:nvSpPr>
        <p:spPr>
          <a:xfrm>
            <a:off x="6851904"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−25.3%</a:t>
            </a:r>
            <a:endParaRPr lang="en-US" sz="1300" dirty="0"/>
          </a:p>
        </p:txBody>
      </p:sp>
      <p:sp>
        <p:nvSpPr>
          <p:cNvPr id="40" name="Shape 33"/>
          <p:cNvSpPr/>
          <p:nvPr/>
        </p:nvSpPr>
        <p:spPr>
          <a:xfrm>
            <a:off x="4349496" y="4767072"/>
            <a:ext cx="3489960" cy="1478280"/>
          </a:xfrm>
          <a:prstGeom prst="rect">
            <a:avLst/>
          </a:prstGeom>
          <a:solidFill>
            <a:srgbClr val="F7F7F7"/>
          </a:solidFill>
          <a:ln/>
        </p:spPr>
      </p:sp>
      <p:sp>
        <p:nvSpPr>
          <p:cNvPr id="41" name="Text 34"/>
          <p:cNvSpPr txBox="1"/>
          <p:nvPr/>
        </p:nvSpPr>
        <p:spPr>
          <a:xfrm>
            <a:off x="4440936"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31</a:t>
            </a:r>
            <a:endParaRPr lang="en-US" sz="2000" dirty="0"/>
          </a:p>
        </p:txBody>
      </p:sp>
      <p:sp>
        <p:nvSpPr>
          <p:cNvPr id="42" name="Text 35"/>
          <p:cNvSpPr txBox="1"/>
          <p:nvPr/>
        </p:nvSpPr>
        <p:spPr>
          <a:xfrm>
            <a:off x="4788408"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$741K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graphicFrame>
        <p:nvGraphicFramePr>
          <p:cNvPr id="43" name="Chart 5" descr=""/>
          <p:cNvGraphicFramePr/>
          <p:nvPr/>
        </p:nvGraphicFramePr>
        <p:xfrm>
          <a:off x="4788408" y="5654040"/>
          <a:ext cx="1972056" cy="502615"/>
        </p:xfrm>
        <a:graphic>
          <a:graphicData uri="http://schemas.openxmlformats.org/drawingml/2006/chart">
            <c:chart xmlns:c="http://schemas.openxmlformats.org/drawingml/2006/chart" r:id="rId7"/>
          </a:graphicData>
        </a:graphic>
      </p:graphicFrame>
      <p:sp>
        <p:nvSpPr>
          <p:cNvPr id="44" name="Text 36"/>
          <p:cNvSpPr txBox="1"/>
          <p:nvPr/>
        </p:nvSpPr>
        <p:spPr>
          <a:xfrm>
            <a:off x="6851904" y="521055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−$167K</a:t>
            </a:r>
            <a:endParaRPr lang="en-US" sz="1600" dirty="0"/>
          </a:p>
        </p:txBody>
      </p:sp>
      <p:sp>
        <p:nvSpPr>
          <p:cNvPr id="45" name="Text 37"/>
          <p:cNvSpPr txBox="1"/>
          <p:nvPr/>
        </p:nvSpPr>
        <p:spPr>
          <a:xfrm>
            <a:off x="6851904"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−22.6%</a:t>
            </a:r>
            <a:endParaRPr lang="en-US" sz="1300" dirty="0"/>
          </a:p>
        </p:txBody>
      </p:sp>
      <p:sp>
        <p:nvSpPr>
          <p:cNvPr id="46" name="Shape 38"/>
          <p:cNvSpPr/>
          <p:nvPr/>
        </p:nvSpPr>
        <p:spPr>
          <a:xfrm>
            <a:off x="8040624" y="1371600"/>
            <a:ext cx="3489960" cy="45720"/>
          </a:xfrm>
          <a:prstGeom prst="rect">
            <a:avLst/>
          </a:prstGeom>
          <a:solidFill>
            <a:srgbClr val="2587C5"/>
          </a:solidFill>
          <a:ln/>
        </p:spPr>
      </p:sp>
      <p:sp>
        <p:nvSpPr>
          <p:cNvPr id="47" name="Text 3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3 MOVING NOW</a:t>
            </a:r>
            <a:endParaRPr lang="en-US" sz="1500" dirty="0"/>
          </a:p>
        </p:txBody>
      </p:sp>
      <p:sp>
        <p:nvSpPr>
          <p:cNvPr id="48" name="Shape 40"/>
          <p:cNvSpPr/>
          <p:nvPr/>
        </p:nvSpPr>
        <p:spPr>
          <a:xfrm>
            <a:off x="8040624" y="1810512"/>
            <a:ext cx="3489960" cy="1478280"/>
          </a:xfrm>
          <a:prstGeom prst="rect">
            <a:avLst/>
          </a:prstGeom>
          <a:solidFill>
            <a:srgbClr val="F7F7F7"/>
          </a:solidFill>
          <a:ln/>
        </p:spPr>
      </p:sp>
      <p:sp>
        <p:nvSpPr>
          <p:cNvPr id="49" name="Shape 41"/>
          <p:cNvSpPr/>
          <p:nvPr/>
        </p:nvSpPr>
        <p:spPr>
          <a:xfrm>
            <a:off x="11466576" y="1847088"/>
            <a:ext cx="64008" cy="1405128"/>
          </a:xfrm>
          <a:prstGeom prst="rect">
            <a:avLst/>
          </a:prstGeom>
          <a:solidFill>
            <a:srgbClr val="12A566"/>
          </a:solidFill>
          <a:ln/>
        </p:spPr>
      </p:sp>
      <p:sp>
        <p:nvSpPr>
          <p:cNvPr id="50" name="Text 42"/>
          <p:cNvSpPr txBox="1"/>
          <p:nvPr/>
        </p:nvSpPr>
        <p:spPr>
          <a:xfrm>
            <a:off x="8132064"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51" name="Text 43"/>
          <p:cNvSpPr txBox="1"/>
          <p:nvPr/>
        </p:nvSpPr>
        <p:spPr>
          <a:xfrm>
            <a:off x="8479536"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$523K</a:t>
            </a:r>
            <a:endParaRPr lang="en-US" sz="1400" dirty="0"/>
          </a:p>
        </p:txBody>
      </p:sp>
      <p:graphicFrame>
        <p:nvGraphicFramePr>
          <p:cNvPr id="52" name="Chart 6" descr=""/>
          <p:cNvGraphicFramePr/>
          <p:nvPr/>
        </p:nvGraphicFramePr>
        <p:xfrm>
          <a:off x="8479536" y="2697480"/>
          <a:ext cx="1972056" cy="502615"/>
        </p:xfrm>
        <a:graphic>
          <a:graphicData uri="http://schemas.openxmlformats.org/drawingml/2006/chart">
            <c:chart xmlns:c="http://schemas.openxmlformats.org/drawingml/2006/chart" r:id="rId8"/>
          </a:graphicData>
        </a:graphic>
      </p:graphicFrame>
      <p:graphicFrame>
        <p:nvGraphicFramePr>
          <p:cNvPr id="53" name="Chart 7" descr=""/>
          <p:cNvGraphicFramePr/>
          <p:nvPr/>
        </p:nvGraphicFramePr>
        <p:xfrm>
          <a:off x="8479536" y="2697480"/>
          <a:ext cx="1972056" cy="502615"/>
        </p:xfrm>
        <a:graphic>
          <a:graphicData uri="http://schemas.openxmlformats.org/drawingml/2006/chart">
            <c:chart xmlns:c="http://schemas.openxmlformats.org/drawingml/2006/chart" r:id="rId9"/>
          </a:graphicData>
        </a:graphic>
      </p:graphicFrame>
      <p:sp>
        <p:nvSpPr>
          <p:cNvPr id="54" name="Text 44"/>
          <p:cNvSpPr txBox="1"/>
          <p:nvPr/>
        </p:nvSpPr>
        <p:spPr>
          <a:xfrm>
            <a:off x="10543032" y="225399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+$85K</a:t>
            </a:r>
            <a:endParaRPr lang="en-US" sz="1600" dirty="0"/>
          </a:p>
        </p:txBody>
      </p:sp>
      <p:sp>
        <p:nvSpPr>
          <p:cNvPr id="55" name="Text 45"/>
          <p:cNvSpPr txBox="1"/>
          <p:nvPr/>
        </p:nvSpPr>
        <p:spPr>
          <a:xfrm>
            <a:off x="10543032"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56" name="Text 46"/>
          <p:cNvSpPr txBox="1"/>
          <p:nvPr/>
        </p:nvSpPr>
        <p:spPr>
          <a:xfrm>
            <a:off x="8132064"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57" name="Text 47"/>
          <p:cNvSpPr txBox="1"/>
          <p:nvPr/>
        </p:nvSpPr>
        <p:spPr>
          <a:xfrm>
            <a:off x="8479536"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$122K</a:t>
            </a:r>
            <a:endParaRPr lang="en-US" sz="1400" dirty="0"/>
          </a:p>
        </p:txBody>
      </p:sp>
      <p:graphicFrame>
        <p:nvGraphicFramePr>
          <p:cNvPr id="58" name="Chart 8" descr=""/>
          <p:cNvGraphicFramePr/>
          <p:nvPr/>
        </p:nvGraphicFramePr>
        <p:xfrm>
          <a:off x="8479536" y="4175760"/>
          <a:ext cx="1972056" cy="502615"/>
        </p:xfrm>
        <a:graphic>
          <a:graphicData uri="http://schemas.openxmlformats.org/drawingml/2006/chart">
            <c:chart xmlns:c="http://schemas.openxmlformats.org/drawingml/2006/chart" r:id="rId10"/>
          </a:graphicData>
        </a:graphic>
      </p:graphicFrame>
      <p:graphicFrame>
        <p:nvGraphicFramePr>
          <p:cNvPr id="59" name="Chart 9" descr=""/>
          <p:cNvGraphicFramePr/>
          <p:nvPr/>
        </p:nvGraphicFramePr>
        <p:xfrm>
          <a:off x="8479536" y="4175760"/>
          <a:ext cx="1972056" cy="502615"/>
        </p:xfrm>
        <a:graphic>
          <a:graphicData uri="http://schemas.openxmlformats.org/drawingml/2006/chart">
            <c:chart xmlns:c="http://schemas.openxmlformats.org/drawingml/2006/chart" r:id="rId11"/>
          </a:graphicData>
        </a:graphic>
      </p:graphicFrame>
      <p:sp>
        <p:nvSpPr>
          <p:cNvPr id="60" name="Text 48"/>
          <p:cNvSpPr txBox="1"/>
          <p:nvPr/>
        </p:nvSpPr>
        <p:spPr>
          <a:xfrm>
            <a:off x="10543032" y="373227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+$61K</a:t>
            </a:r>
            <a:endParaRPr lang="en-US" sz="1600" dirty="0"/>
          </a:p>
        </p:txBody>
      </p:sp>
      <p:sp>
        <p:nvSpPr>
          <p:cNvPr id="61" name="Text 49"/>
          <p:cNvSpPr txBox="1"/>
          <p:nvPr/>
        </p:nvSpPr>
        <p:spPr>
          <a:xfrm>
            <a:off x="10543032"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+99.1%</a:t>
            </a:r>
            <a:endParaRPr lang="en-US" sz="1300" dirty="0"/>
          </a:p>
        </p:txBody>
      </p:sp>
      <p:sp>
        <p:nvSpPr>
          <p:cNvPr id="62" name="Shape 50"/>
          <p:cNvSpPr/>
          <p:nvPr/>
        </p:nvSpPr>
        <p:spPr>
          <a:xfrm>
            <a:off x="8040624" y="4767072"/>
            <a:ext cx="3489960" cy="1478280"/>
          </a:xfrm>
          <a:prstGeom prst="rect">
            <a:avLst/>
          </a:prstGeom>
          <a:solidFill>
            <a:srgbClr val="F7F7F7"/>
          </a:solidFill>
          <a:ln/>
        </p:spPr>
      </p:sp>
      <p:sp>
        <p:nvSpPr>
          <p:cNvPr id="63" name="Text 51"/>
          <p:cNvSpPr txBox="1"/>
          <p:nvPr/>
        </p:nvSpPr>
        <p:spPr>
          <a:xfrm>
            <a:off x="8132064"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64" name="Text 52"/>
          <p:cNvSpPr txBox="1"/>
          <p:nvPr/>
        </p:nvSpPr>
        <p:spPr>
          <a:xfrm>
            <a:off x="8479536"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$272K</a:t>
            </a:r>
            <a:endParaRPr lang="en-US" sz="1400" dirty="0"/>
          </a:p>
        </p:txBody>
      </p:sp>
      <p:graphicFrame>
        <p:nvGraphicFramePr>
          <p:cNvPr id="65" name="Chart 10" descr=""/>
          <p:cNvGraphicFramePr/>
          <p:nvPr/>
        </p:nvGraphicFramePr>
        <p:xfrm>
          <a:off x="8479536" y="5654040"/>
          <a:ext cx="1972056" cy="502615"/>
        </p:xfrm>
        <a:graphic>
          <a:graphicData uri="http://schemas.openxmlformats.org/drawingml/2006/chart">
            <c:chart xmlns:c="http://schemas.openxmlformats.org/drawingml/2006/chart" r:id="rId12"/>
          </a:graphicData>
        </a:graphic>
      </p:graphicFrame>
      <p:graphicFrame>
        <p:nvGraphicFramePr>
          <p:cNvPr id="66" name="Chart 11" descr=""/>
          <p:cNvGraphicFramePr/>
          <p:nvPr/>
        </p:nvGraphicFramePr>
        <p:xfrm>
          <a:off x="8479536" y="5654040"/>
          <a:ext cx="1972056" cy="502615"/>
        </p:xfrm>
        <a:graphic>
          <a:graphicData uri="http://schemas.openxmlformats.org/drawingml/2006/chart">
            <c:chart xmlns:c="http://schemas.openxmlformats.org/drawingml/2006/chart" r:id="rId13"/>
          </a:graphicData>
        </a:graphic>
      </p:graphicFrame>
      <p:sp>
        <p:nvSpPr>
          <p:cNvPr id="67" name="Text 53"/>
          <p:cNvSpPr txBox="1"/>
          <p:nvPr/>
        </p:nvSpPr>
        <p:spPr>
          <a:xfrm>
            <a:off x="10543032" y="521055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+$54K</a:t>
            </a:r>
            <a:endParaRPr lang="en-US" sz="1600" dirty="0"/>
          </a:p>
        </p:txBody>
      </p:sp>
      <p:sp>
        <p:nvSpPr>
          <p:cNvPr id="68" name="Text 54"/>
          <p:cNvSpPr txBox="1"/>
          <p:nvPr/>
        </p:nvSpPr>
        <p:spPr>
          <a:xfrm>
            <a:off x="10543032"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+24.8%</a:t>
            </a:r>
            <a:endParaRPr lang="en-US" sz="13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PARTS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$22.56M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$22.75M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+$190,767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Gross grew 1.9%, expenses 2.6%. Personnel down $426K; outside services up $490K, IT up $479K, advertising rebates down $398K.</a:t>
            </a:r>
            <a:endParaRPr lang="en-US" sz="16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PARTS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PROFIT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$22.75M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$2.24M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 name="Shape 15"/>
          <p:cNvSpPr/>
          <p:nvPr/>
        </p:nvSpPr>
        <p:spPr>
          <a:xfrm>
            <a:off x="2980944" y="2179080"/>
            <a:ext cx="14166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587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701901"/>
            <a:ext cx="1254144"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9" name="Shape 27"/>
          <p:cNvSpPr/>
          <p:nvPr/>
        </p:nvSpPr>
        <p:spPr>
          <a:xfrm>
            <a:off x="2980944" y="2963312"/>
            <a:ext cx="1178887"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112139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$1.37M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102271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$1.25M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2980944" y="3747545"/>
            <a:ext cx="866902"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761713"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$932,459</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9" name="Shape 47"/>
          <p:cNvSpPr/>
          <p:nvPr/>
        </p:nvSpPr>
        <p:spPr>
          <a:xfrm>
            <a:off x="2980944" y="4270366"/>
            <a:ext cx="629935"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$771,141</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2980944" y="4531777"/>
            <a:ext cx="562605"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$688,718</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555269"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$679,737</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2980944" y="5054599"/>
            <a:ext cx="510396"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$624,806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2980944" y="5316010"/>
            <a:ext cx="464635"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$568,787</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431333"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$528,020</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3" name="Shape 71"/>
          <p:cNvSpPr/>
          <p:nvPr/>
        </p:nvSpPr>
        <p:spPr>
          <a:xfrm>
            <a:off x="2980944" y="5838831"/>
            <a:ext cx="42744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$523,264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40543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$496,319</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8531352" y="1917669"/>
            <a:ext cx="383138"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$469,022</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371467"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$454,734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9" name="Shape 87"/>
          <p:cNvSpPr/>
          <p:nvPr/>
        </p:nvSpPr>
        <p:spPr>
          <a:xfrm>
            <a:off x="8531352" y="2440491"/>
            <a:ext cx="354339"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$433,768</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3" name="Shape 91"/>
          <p:cNvSpPr/>
          <p:nvPr/>
        </p:nvSpPr>
        <p:spPr>
          <a:xfrm>
            <a:off x="8531352" y="2701901"/>
            <a:ext cx="35149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$430,281</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8531352" y="2963312"/>
            <a:ext cx="33628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$411,669</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31352" y="3224723"/>
            <a:ext cx="334229"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$409,150</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486134"/>
            <a:ext cx="302759"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$370,625</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293062"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$358,755</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31352" y="4008956"/>
            <a:ext cx="25300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$309,722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7" name="Shape 115"/>
          <p:cNvSpPr/>
          <p:nvPr/>
        </p:nvSpPr>
        <p:spPr>
          <a:xfrm>
            <a:off x="8531352" y="4270366"/>
            <a:ext cx="206926"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$253,311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31352" y="4531777"/>
            <a:ext cx="166196"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$203,450</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5" name="Shape 123"/>
          <p:cNvSpPr/>
          <p:nvPr/>
        </p:nvSpPr>
        <p:spPr>
          <a:xfrm>
            <a:off x="8531352" y="4793188"/>
            <a:ext cx="16158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$197,804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31352" y="5054599"/>
            <a:ext cx="13112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$160,522</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9189"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$145,907</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7322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838831"/>
            <a:ext cx="44173"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$54,074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PARTS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PROFIT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+$191K  ·  +0.8%</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+$457K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+49.9%</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2" name="Shape 20"/>
          <p:cNvSpPr/>
          <p:nvPr/>
        </p:nvSpPr>
        <p:spPr>
          <a:xfrm>
            <a:off x="3579876" y="2405582"/>
            <a:ext cx="36367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7" name="Shape 25"/>
          <p:cNvSpPr/>
          <p:nvPr/>
        </p:nvSpPr>
        <p:spPr>
          <a:xfrm>
            <a:off x="3579876" y="2629341"/>
            <a:ext cx="270026"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+70.2%</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579876" y="2853100"/>
            <a:ext cx="257512"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92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+$180K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579876" y="3300618"/>
            <a:ext cx="170779"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+569.7%</a:t>
            </a:r>
            <a:endParaRPr lang="en-US" sz="1200" dirty="0"/>
          </a:p>
        </p:txBody>
      </p:sp>
      <p:sp>
        <p:nvSpPr>
          <p:cNvPr id="46" name="Shape 44"/>
          <p:cNvSpPr/>
          <p:nvPr/>
        </p:nvSpPr>
        <p:spPr>
          <a:xfrm>
            <a:off x="5907024" y="3285923"/>
            <a:ext cx="54864" cy="132319"/>
          </a:xfrm>
          <a:prstGeom prst="rect">
            <a:avLst/>
          </a:prstGeom>
          <a:solidFill>
            <a:srgbClr val="12A566"/>
          </a:solidFill>
          <a:ln/>
        </p:spPr>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579876" y="3524377"/>
            <a:ext cx="152203"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+$122K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52" name="Shape 50"/>
          <p:cNvSpPr/>
          <p:nvPr/>
        </p:nvSpPr>
        <p:spPr>
          <a:xfrm>
            <a:off x="5907024" y="3509682"/>
            <a:ext cx="54864" cy="132319"/>
          </a:xfrm>
          <a:prstGeom prst="rect">
            <a:avLst/>
          </a:prstGeom>
          <a:solidFill>
            <a:srgbClr val="12A566"/>
          </a:solidFill>
          <a:ln/>
        </p:spPr>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5" name="Shape 53"/>
          <p:cNvSpPr/>
          <p:nvPr/>
        </p:nvSpPr>
        <p:spPr>
          <a:xfrm>
            <a:off x="3579876" y="3748136"/>
            <a:ext cx="11633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0" name="Shape 58"/>
          <p:cNvSpPr/>
          <p:nvPr/>
        </p:nvSpPr>
        <p:spPr>
          <a:xfrm>
            <a:off x="3579876" y="3971895"/>
            <a:ext cx="11500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579876" y="4195654"/>
            <a:ext cx="10700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+$86K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10100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+$81K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5" name="Shape 73"/>
          <p:cNvSpPr/>
          <p:nvPr/>
        </p:nvSpPr>
        <p:spPr>
          <a:xfrm>
            <a:off x="3579876" y="4643173"/>
            <a:ext cx="99955"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63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61401"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0" name="Shape 88"/>
          <p:cNvSpPr/>
          <p:nvPr/>
        </p:nvSpPr>
        <p:spPr>
          <a:xfrm>
            <a:off x="3579876" y="5314450"/>
            <a:ext cx="41056"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5" name="Shape 103"/>
          <p:cNvSpPr/>
          <p:nvPr/>
        </p:nvSpPr>
        <p:spPr>
          <a:xfrm>
            <a:off x="9116567" y="2181823"/>
            <a:ext cx="13717"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0" name="Shape 108"/>
          <p:cNvSpPr/>
          <p:nvPr/>
        </p:nvSpPr>
        <p:spPr>
          <a:xfrm>
            <a:off x="9103835" y="2405582"/>
            <a:ext cx="26449"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9091145" y="2629341"/>
            <a:ext cx="3913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0" name="Shape 118"/>
          <p:cNvSpPr/>
          <p:nvPr/>
        </p:nvSpPr>
        <p:spPr>
          <a:xfrm>
            <a:off x="9081874" y="2853100"/>
            <a:ext cx="48410"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065091" y="3076859"/>
            <a:ext cx="65193"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−36.8%</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0" name="Shape 128"/>
          <p:cNvSpPr/>
          <p:nvPr/>
        </p:nvSpPr>
        <p:spPr>
          <a:xfrm>
            <a:off x="9062033" y="3300618"/>
            <a:ext cx="68251"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−50.2%</a:t>
            </a:r>
            <a:endParaRPr lang="en-US" sz="1200" dirty="0"/>
          </a:p>
        </p:txBody>
      </p:sp>
      <p:sp>
        <p:nvSpPr>
          <p:cNvPr id="133" name="Shape 131"/>
          <p:cNvSpPr/>
          <p:nvPr/>
        </p:nvSpPr>
        <p:spPr>
          <a:xfrm>
            <a:off x="11457432" y="3285923"/>
            <a:ext cx="54864" cy="132319"/>
          </a:xfrm>
          <a:prstGeom prst="rect">
            <a:avLst/>
          </a:prstGeom>
          <a:solidFill>
            <a:srgbClr val="C2352F"/>
          </a:solidFill>
          <a:ln/>
        </p:spPr>
      </p:sp>
      <p:sp>
        <p:nvSpPr>
          <p:cNvPr id="134" name="Text 132"/>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5" name="Text 133"/>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6" name="Shape 134"/>
          <p:cNvSpPr/>
          <p:nvPr/>
        </p:nvSpPr>
        <p:spPr>
          <a:xfrm>
            <a:off x="9055815" y="3524377"/>
            <a:ext cx="74469" cy="102929"/>
          </a:xfrm>
          <a:prstGeom prst="rect">
            <a:avLst/>
          </a:prstGeom>
          <a:solidFill>
            <a:srgbClr val="C2352F"/>
          </a:solidFill>
          <a:ln/>
        </p:spPr>
      </p:sp>
      <p:sp>
        <p:nvSpPr>
          <p:cNvPr id="137" name="Text 135"/>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−$60K</a:t>
            </a:r>
            <a:endParaRPr lang="en-US" sz="1200" dirty="0"/>
          </a:p>
        </p:txBody>
      </p:sp>
      <p:sp>
        <p:nvSpPr>
          <p:cNvPr id="138" name="Text 136"/>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39" name="Text 137"/>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0" name="Text 138"/>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9029618" y="3748136"/>
            <a:ext cx="100666" cy="102929"/>
          </a:xfrm>
          <a:prstGeom prst="rect">
            <a:avLst/>
          </a:prstGeom>
          <a:solidFill>
            <a:srgbClr val="C2352F"/>
          </a:solidFill>
          <a:ln/>
        </p:spPr>
      </p:sp>
      <p:sp>
        <p:nvSpPr>
          <p:cNvPr id="142" name="Text 140"/>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−$80K</a:t>
            </a:r>
            <a:endParaRPr lang="en-US" sz="1200" dirty="0"/>
          </a:p>
        </p:txBody>
      </p:sp>
      <p:sp>
        <p:nvSpPr>
          <p:cNvPr id="143" name="Text 141"/>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a:t>
            </a:r>
            <a:endParaRPr lang="en-US" sz="1200" dirty="0"/>
          </a:p>
        </p:txBody>
      </p:sp>
      <p:sp>
        <p:nvSpPr>
          <p:cNvPr id="144" name="Text 142"/>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5" name="Text 143"/>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6" name="Shape 144"/>
          <p:cNvSpPr/>
          <p:nvPr/>
        </p:nvSpPr>
        <p:spPr>
          <a:xfrm>
            <a:off x="9015734" y="3971895"/>
            <a:ext cx="114550" cy="102929"/>
          </a:xfrm>
          <a:prstGeom prst="rect">
            <a:avLst/>
          </a:prstGeom>
          <a:solidFill>
            <a:srgbClr val="C2352F"/>
          </a:solidFill>
          <a:ln/>
        </p:spPr>
      </p:sp>
      <p:sp>
        <p:nvSpPr>
          <p:cNvPr id="147" name="Text 145"/>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−$92K</a:t>
            </a:r>
            <a:endParaRPr lang="en-US" sz="1200" dirty="0"/>
          </a:p>
        </p:txBody>
      </p:sp>
      <p:sp>
        <p:nvSpPr>
          <p:cNvPr id="148" name="Text 146"/>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1" name="Shape 149"/>
          <p:cNvSpPr/>
          <p:nvPr/>
        </p:nvSpPr>
        <p:spPr>
          <a:xfrm>
            <a:off x="9005092" y="4195654"/>
            <a:ext cx="125192"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−$100K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56" name="Shape 154"/>
          <p:cNvSpPr/>
          <p:nvPr/>
        </p:nvSpPr>
        <p:spPr>
          <a:xfrm>
            <a:off x="8931844" y="4419414"/>
            <a:ext cx="19844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−$159K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−43.8%</a:t>
            </a:r>
            <a:endParaRPr lang="en-US" sz="1200" dirty="0"/>
          </a:p>
        </p:txBody>
      </p:sp>
      <p:sp>
        <p:nvSpPr>
          <p:cNvPr id="159" name="Shape 157"/>
          <p:cNvSpPr/>
          <p:nvPr/>
        </p:nvSpPr>
        <p:spPr>
          <a:xfrm>
            <a:off x="11457432" y="4404719"/>
            <a:ext cx="54864" cy="132319"/>
          </a:xfrm>
          <a:prstGeom prst="rect">
            <a:avLst/>
          </a:prstGeom>
          <a:solidFill>
            <a:srgbClr val="C2352F"/>
          </a:solidFill>
          <a:ln/>
        </p:spPr>
      </p:sp>
      <p:sp>
        <p:nvSpPr>
          <p:cNvPr id="160" name="Text 158"/>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1" name="Text 159"/>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62" name="Shape 160"/>
          <p:cNvSpPr/>
          <p:nvPr/>
        </p:nvSpPr>
        <p:spPr>
          <a:xfrm>
            <a:off x="8868473" y="4643173"/>
            <a:ext cx="261811" cy="102929"/>
          </a:xfrm>
          <a:prstGeom prst="rect">
            <a:avLst/>
          </a:prstGeom>
          <a:solidFill>
            <a:srgbClr val="C2352F"/>
          </a:solidFill>
          <a:ln/>
        </p:spPr>
      </p:sp>
      <p:sp>
        <p:nvSpPr>
          <p:cNvPr id="163" name="Text 161"/>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4" name="Text 162"/>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165" name="Shape 163"/>
          <p:cNvSpPr/>
          <p:nvPr/>
        </p:nvSpPr>
        <p:spPr>
          <a:xfrm>
            <a:off x="11457432" y="4628478"/>
            <a:ext cx="54864" cy="132319"/>
          </a:xfrm>
          <a:prstGeom prst="rect">
            <a:avLst/>
          </a:prstGeom>
          <a:solidFill>
            <a:srgbClr val="C2352F"/>
          </a:solidFill>
          <a:ln/>
        </p:spPr>
      </p:sp>
      <p:sp>
        <p:nvSpPr>
          <p:cNvPr id="166" name="Text 16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8" name="Shape 166"/>
          <p:cNvSpPr/>
          <p:nvPr/>
        </p:nvSpPr>
        <p:spPr>
          <a:xfrm>
            <a:off x="8839986" y="4866932"/>
            <a:ext cx="290298" cy="102929"/>
          </a:xfrm>
          <a:prstGeom prst="rect">
            <a:avLst/>
          </a:prstGeom>
          <a:solidFill>
            <a:srgbClr val="C2352F"/>
          </a:solidFill>
          <a:ln/>
        </p:spPr>
      </p:sp>
      <p:sp>
        <p:nvSpPr>
          <p:cNvPr id="169" name="Text 167"/>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−$232K</a:t>
            </a:r>
            <a:endParaRPr lang="en-US" sz="1200" dirty="0"/>
          </a:p>
        </p:txBody>
      </p:sp>
      <p:sp>
        <p:nvSpPr>
          <p:cNvPr id="170" name="Text 168"/>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71" name="Text 16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3" name="Shape 171"/>
          <p:cNvSpPr/>
          <p:nvPr/>
        </p:nvSpPr>
        <p:spPr>
          <a:xfrm>
            <a:off x="8826500" y="5090691"/>
            <a:ext cx="303784" cy="102929"/>
          </a:xfrm>
          <a:prstGeom prst="rect">
            <a:avLst/>
          </a:prstGeom>
          <a:solidFill>
            <a:srgbClr val="C2352F"/>
          </a:solidFill>
          <a:ln/>
        </p:spPr>
      </p:sp>
      <p:sp>
        <p:nvSpPr>
          <p:cNvPr id="174" name="Text 172"/>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−$243K</a:t>
            </a:r>
            <a:endParaRPr lang="en-US" sz="1200" dirty="0"/>
          </a:p>
        </p:txBody>
      </p:sp>
      <p:sp>
        <p:nvSpPr>
          <p:cNvPr id="175" name="Text 173"/>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76" name="Text 17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8" name="Shape 176"/>
          <p:cNvSpPr/>
          <p:nvPr/>
        </p:nvSpPr>
        <p:spPr>
          <a:xfrm>
            <a:off x="8823035" y="5314450"/>
            <a:ext cx="307249" cy="102929"/>
          </a:xfrm>
          <a:prstGeom prst="rect">
            <a:avLst/>
          </a:prstGeom>
          <a:solidFill>
            <a:srgbClr val="C2352F"/>
          </a:solidFill>
          <a:ln/>
        </p:spPr>
      </p:sp>
      <p:sp>
        <p:nvSpPr>
          <p:cNvPr id="179" name="Text 177"/>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−$246K</a:t>
            </a:r>
            <a:endParaRPr lang="en-US" sz="1200" dirty="0"/>
          </a:p>
        </p:txBody>
      </p:sp>
      <p:sp>
        <p:nvSpPr>
          <p:cNvPr id="180" name="Text 178"/>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3" name="Shape 181"/>
          <p:cNvSpPr/>
          <p:nvPr/>
        </p:nvSpPr>
        <p:spPr>
          <a:xfrm>
            <a:off x="8674730" y="5538209"/>
            <a:ext cx="455554"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−$364K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371856"/>
          </a:xfrm>
          <a:prstGeom prst="rect">
            <a:avLst/>
          </a:prstGeom>
          <a:solidFill>
            <a:srgbClr val="EDF4FA"/>
          </a:solidFill>
          <a:ln/>
        </p:spPr>
      </p:sp>
      <p:sp>
        <p:nvSpPr>
          <p:cNvPr id="190"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17 of 33 stores grew parts net profit, January through September year to date.</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PARTS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3 VS LAST YEAR</a:t>
            </a:r>
            <a:endParaRPr lang="en-US" sz="1500" dirty="0"/>
          </a:p>
        </p:txBody>
      </p:sp>
      <p:sp>
        <p:nvSpPr>
          <p:cNvPr id="9" name="Shape 7"/>
          <p:cNvSpPr/>
          <p:nvPr/>
        </p:nvSpPr>
        <p:spPr>
          <a:xfrm>
            <a:off x="658368" y="1810512"/>
            <a:ext cx="3489960" cy="1478280"/>
          </a:xfrm>
          <a:prstGeom prst="rect">
            <a:avLst/>
          </a:prstGeom>
          <a:solidFill>
            <a:srgbClr val="F7F7F7"/>
          </a:solidFill>
          <a:ln/>
        </p:spPr>
      </p:sp>
      <p:sp>
        <p:nvSpPr>
          <p:cNvPr id="10" name="Text 8"/>
          <p:cNvSpPr txBox="1"/>
          <p:nvPr/>
        </p:nvSpPr>
        <p:spPr>
          <a:xfrm>
            <a:off x="749808"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11" name="Text 9"/>
          <p:cNvSpPr txBox="1"/>
          <p:nvPr/>
        </p:nvSpPr>
        <p:spPr>
          <a:xfrm>
            <a:off x="1097280"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$1.37M</a:t>
            </a:r>
            <a:endParaRPr lang="en-US" sz="1400" dirty="0"/>
          </a:p>
        </p:txBody>
      </p:sp>
      <p:graphicFrame>
        <p:nvGraphicFramePr>
          <p:cNvPr id="12" name="Chart 0" descr=""/>
          <p:cNvGraphicFramePr/>
          <p:nvPr/>
        </p:nvGraphicFramePr>
        <p:xfrm>
          <a:off x="1097280" y="2697480"/>
          <a:ext cx="1972056" cy="502615"/>
        </p:xfrm>
        <a:graphic>
          <a:graphicData uri="http://schemas.openxmlformats.org/drawingml/2006/chart">
            <c:chart xmlns:c="http://schemas.openxmlformats.org/drawingml/2006/chart" r:id="rId2"/>
          </a:graphicData>
        </a:graphic>
      </p:graphicFrame>
      <p:sp>
        <p:nvSpPr>
          <p:cNvPr id="13" name="Text 10"/>
          <p:cNvSpPr txBox="1"/>
          <p:nvPr/>
        </p:nvSpPr>
        <p:spPr>
          <a:xfrm>
            <a:off x="3160776" y="225399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+$457K</a:t>
            </a:r>
            <a:endParaRPr lang="en-US" sz="1600" dirty="0"/>
          </a:p>
        </p:txBody>
      </p:sp>
      <p:sp>
        <p:nvSpPr>
          <p:cNvPr id="14" name="Text 11"/>
          <p:cNvSpPr txBox="1"/>
          <p:nvPr/>
        </p:nvSpPr>
        <p:spPr>
          <a:xfrm>
            <a:off x="3160776"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5" name="Shape 12"/>
          <p:cNvSpPr/>
          <p:nvPr/>
        </p:nvSpPr>
        <p:spPr>
          <a:xfrm>
            <a:off x="4084320" y="3325368"/>
            <a:ext cx="64008" cy="1405128"/>
          </a:xfrm>
          <a:prstGeom prst="rect">
            <a:avLst/>
          </a:prstGeom>
          <a:solidFill>
            <a:srgbClr val="12A566"/>
          </a:solidFill>
          <a:ln/>
        </p:spPr>
      </p:sp>
      <p:sp>
        <p:nvSpPr>
          <p:cNvPr id="16" name="Text 13"/>
          <p:cNvSpPr txBox="1"/>
          <p:nvPr/>
        </p:nvSpPr>
        <p:spPr>
          <a:xfrm>
            <a:off x="749808"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17" name="Text 14"/>
          <p:cNvSpPr txBox="1"/>
          <p:nvPr/>
        </p:nvSpPr>
        <p:spPr>
          <a:xfrm>
            <a:off x="1097280"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$2.24M</a:t>
            </a:r>
            <a:endParaRPr lang="en-US" sz="1400" dirty="0"/>
          </a:p>
        </p:txBody>
      </p:sp>
      <p:graphicFrame>
        <p:nvGraphicFramePr>
          <p:cNvPr id="18" name="Chart 1" descr=""/>
          <p:cNvGraphicFramePr/>
          <p:nvPr/>
        </p:nvGraphicFramePr>
        <p:xfrm>
          <a:off x="1097280" y="4175760"/>
          <a:ext cx="1972056" cy="502615"/>
        </p:xfrm>
        <a:graphic>
          <a:graphicData uri="http://schemas.openxmlformats.org/drawingml/2006/chart">
            <c:chart xmlns:c="http://schemas.openxmlformats.org/drawingml/2006/chart" r:id="rId3"/>
          </a:graphicData>
        </a:graphic>
      </p:graphicFrame>
      <p:sp>
        <p:nvSpPr>
          <p:cNvPr id="19" name="Text 15"/>
          <p:cNvSpPr txBox="1"/>
          <p:nvPr/>
        </p:nvSpPr>
        <p:spPr>
          <a:xfrm>
            <a:off x="3160776" y="373227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+$291K</a:t>
            </a:r>
            <a:endParaRPr lang="en-US" sz="1600" dirty="0"/>
          </a:p>
        </p:txBody>
      </p:sp>
      <p:sp>
        <p:nvSpPr>
          <p:cNvPr id="20" name="Text 16"/>
          <p:cNvSpPr txBox="1"/>
          <p:nvPr/>
        </p:nvSpPr>
        <p:spPr>
          <a:xfrm>
            <a:off x="3160776"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21" name="Shape 17"/>
          <p:cNvSpPr/>
          <p:nvPr/>
        </p:nvSpPr>
        <p:spPr>
          <a:xfrm>
            <a:off x="658368" y="4767072"/>
            <a:ext cx="3489960" cy="1478280"/>
          </a:xfrm>
          <a:prstGeom prst="rect">
            <a:avLst/>
          </a:prstGeom>
          <a:solidFill>
            <a:srgbClr val="F7F7F7"/>
          </a:solidFill>
          <a:ln/>
        </p:spPr>
      </p:sp>
      <p:sp>
        <p:nvSpPr>
          <p:cNvPr id="22" name="Text 18"/>
          <p:cNvSpPr txBox="1"/>
          <p:nvPr/>
        </p:nvSpPr>
        <p:spPr>
          <a:xfrm>
            <a:off x="749808"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23" name="Text 19"/>
          <p:cNvSpPr txBox="1"/>
          <p:nvPr/>
        </p:nvSpPr>
        <p:spPr>
          <a:xfrm>
            <a:off x="1097280"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$523K</a:t>
            </a:r>
            <a:endParaRPr lang="en-US" sz="1400" dirty="0"/>
          </a:p>
        </p:txBody>
      </p:sp>
      <p:graphicFrame>
        <p:nvGraphicFramePr>
          <p:cNvPr id="24" name="Chart 2" descr=""/>
          <p:cNvGraphicFramePr/>
          <p:nvPr/>
        </p:nvGraphicFramePr>
        <p:xfrm>
          <a:off x="1097280" y="5654040"/>
          <a:ext cx="1972056" cy="502615"/>
        </p:xfrm>
        <a:graphic>
          <a:graphicData uri="http://schemas.openxmlformats.org/drawingml/2006/chart">
            <c:chart xmlns:c="http://schemas.openxmlformats.org/drawingml/2006/chart" r:id="rId4"/>
          </a:graphicData>
        </a:graphic>
      </p:graphicFrame>
      <p:sp>
        <p:nvSpPr>
          <p:cNvPr id="25" name="Text 20"/>
          <p:cNvSpPr txBox="1"/>
          <p:nvPr/>
        </p:nvSpPr>
        <p:spPr>
          <a:xfrm>
            <a:off x="3160776" y="521055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+$216K</a:t>
            </a:r>
            <a:endParaRPr lang="en-US" sz="1600" dirty="0"/>
          </a:p>
        </p:txBody>
      </p:sp>
      <p:sp>
        <p:nvSpPr>
          <p:cNvPr id="26" name="Text 21"/>
          <p:cNvSpPr txBox="1"/>
          <p:nvPr/>
        </p:nvSpPr>
        <p:spPr>
          <a:xfrm>
            <a:off x="3160776"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+70.2%</a:t>
            </a:r>
            <a:endParaRPr lang="en-US" sz="1300" dirty="0"/>
          </a:p>
        </p:txBody>
      </p:sp>
      <p:sp>
        <p:nvSpPr>
          <p:cNvPr id="27" name="Shape 22"/>
          <p:cNvSpPr/>
          <p:nvPr/>
        </p:nvSpPr>
        <p:spPr>
          <a:xfrm>
            <a:off x="4349496" y="1371600"/>
            <a:ext cx="3489960" cy="45720"/>
          </a:xfrm>
          <a:prstGeom prst="rect">
            <a:avLst/>
          </a:prstGeom>
          <a:solidFill>
            <a:srgbClr val="C2352F"/>
          </a:solidFill>
          <a:ln/>
        </p:spPr>
      </p:sp>
      <p:sp>
        <p:nvSpPr>
          <p:cNvPr id="28" name="Text 2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3 VS LAST YEAR</a:t>
            </a:r>
            <a:endParaRPr lang="en-US" sz="1500" dirty="0"/>
          </a:p>
        </p:txBody>
      </p:sp>
      <p:sp>
        <p:nvSpPr>
          <p:cNvPr id="29" name="Shape 24"/>
          <p:cNvSpPr/>
          <p:nvPr/>
        </p:nvSpPr>
        <p:spPr>
          <a:xfrm>
            <a:off x="4349496" y="1810512"/>
            <a:ext cx="3489960" cy="1478280"/>
          </a:xfrm>
          <a:prstGeom prst="rect">
            <a:avLst/>
          </a:prstGeom>
          <a:solidFill>
            <a:srgbClr val="F7F7F7"/>
          </a:solidFill>
          <a:ln/>
        </p:spPr>
      </p:sp>
      <p:sp>
        <p:nvSpPr>
          <p:cNvPr id="30" name="Shape 25"/>
          <p:cNvSpPr/>
          <p:nvPr/>
        </p:nvSpPr>
        <p:spPr>
          <a:xfrm>
            <a:off x="7775448" y="1847088"/>
            <a:ext cx="64008" cy="1405128"/>
          </a:xfrm>
          <a:prstGeom prst="rect">
            <a:avLst/>
          </a:prstGeom>
          <a:solidFill>
            <a:srgbClr val="2587C5"/>
          </a:solidFill>
          <a:ln/>
        </p:spPr>
      </p:sp>
      <p:sp>
        <p:nvSpPr>
          <p:cNvPr id="31" name="Text 26"/>
          <p:cNvSpPr txBox="1"/>
          <p:nvPr/>
        </p:nvSpPr>
        <p:spPr>
          <a:xfrm>
            <a:off x="4440936"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33</a:t>
            </a:r>
            <a:endParaRPr lang="en-US" sz="2000" dirty="0"/>
          </a:p>
        </p:txBody>
      </p:sp>
      <p:sp>
        <p:nvSpPr>
          <p:cNvPr id="32" name="Text 27"/>
          <p:cNvSpPr txBox="1"/>
          <p:nvPr/>
        </p:nvSpPr>
        <p:spPr>
          <a:xfrm>
            <a:off x="4788408"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$1.44M</a:t>
            </a:r>
            <a:endParaRPr lang="en-US" sz="1400" dirty="0"/>
          </a:p>
        </p:txBody>
      </p:sp>
      <p:graphicFrame>
        <p:nvGraphicFramePr>
          <p:cNvPr id="33" name="Chart 3" descr=""/>
          <p:cNvGraphicFramePr/>
          <p:nvPr/>
        </p:nvGraphicFramePr>
        <p:xfrm>
          <a:off x="4788408" y="2697480"/>
          <a:ext cx="1972056" cy="502615"/>
        </p:xfrm>
        <a:graphic>
          <a:graphicData uri="http://schemas.openxmlformats.org/drawingml/2006/chart">
            <c:chart xmlns:c="http://schemas.openxmlformats.org/drawingml/2006/chart" r:id="rId5"/>
          </a:graphicData>
        </a:graphic>
      </p:graphicFrame>
      <p:sp>
        <p:nvSpPr>
          <p:cNvPr id="34" name="Text 28"/>
          <p:cNvSpPr txBox="1"/>
          <p:nvPr/>
        </p:nvSpPr>
        <p:spPr>
          <a:xfrm>
            <a:off x="6851904" y="225399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−$364K</a:t>
            </a:r>
            <a:endParaRPr lang="en-US" sz="1600" dirty="0"/>
          </a:p>
        </p:txBody>
      </p:sp>
      <p:sp>
        <p:nvSpPr>
          <p:cNvPr id="35" name="Text 29"/>
          <p:cNvSpPr txBox="1"/>
          <p:nvPr/>
        </p:nvSpPr>
        <p:spPr>
          <a:xfrm>
            <a:off x="6851904"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−20.2%</a:t>
            </a:r>
            <a:endParaRPr lang="en-US" sz="1300" dirty="0"/>
          </a:p>
        </p:txBody>
      </p:sp>
      <p:sp>
        <p:nvSpPr>
          <p:cNvPr id="36" name="Text 30"/>
          <p:cNvSpPr txBox="1"/>
          <p:nvPr/>
        </p:nvSpPr>
        <p:spPr>
          <a:xfrm>
            <a:off x="4440936"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32</a:t>
            </a:r>
            <a:endParaRPr lang="en-US" sz="2000" dirty="0"/>
          </a:p>
        </p:txBody>
      </p:sp>
      <p:sp>
        <p:nvSpPr>
          <p:cNvPr id="37" name="Text 31"/>
          <p:cNvSpPr txBox="1"/>
          <p:nvPr/>
        </p:nvSpPr>
        <p:spPr>
          <a:xfrm>
            <a:off x="4788408"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$1.73M</a:t>
            </a:r>
            <a:endParaRPr lang="en-US" sz="1400" dirty="0"/>
          </a:p>
        </p:txBody>
      </p:sp>
      <p:graphicFrame>
        <p:nvGraphicFramePr>
          <p:cNvPr id="38" name="Chart 4" descr=""/>
          <p:cNvGraphicFramePr/>
          <p:nvPr/>
        </p:nvGraphicFramePr>
        <p:xfrm>
          <a:off x="4788408" y="4175760"/>
          <a:ext cx="1972056" cy="502615"/>
        </p:xfrm>
        <a:graphic>
          <a:graphicData uri="http://schemas.openxmlformats.org/drawingml/2006/chart">
            <c:chart xmlns:c="http://schemas.openxmlformats.org/drawingml/2006/chart" r:id="rId6"/>
          </a:graphicData>
        </a:graphic>
      </p:graphicFrame>
      <p:sp>
        <p:nvSpPr>
          <p:cNvPr id="39" name="Text 32"/>
          <p:cNvSpPr txBox="1"/>
          <p:nvPr/>
        </p:nvSpPr>
        <p:spPr>
          <a:xfrm>
            <a:off x="6851904" y="373227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−$246K</a:t>
            </a:r>
            <a:endParaRPr lang="en-US" sz="1600" dirty="0"/>
          </a:p>
        </p:txBody>
      </p:sp>
      <p:sp>
        <p:nvSpPr>
          <p:cNvPr id="40" name="Text 33"/>
          <p:cNvSpPr txBox="1"/>
          <p:nvPr/>
        </p:nvSpPr>
        <p:spPr>
          <a:xfrm>
            <a:off x="6851904"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41" name="Shape 34"/>
          <p:cNvSpPr/>
          <p:nvPr/>
        </p:nvSpPr>
        <p:spPr>
          <a:xfrm>
            <a:off x="4349496" y="4767072"/>
            <a:ext cx="3489960" cy="1478280"/>
          </a:xfrm>
          <a:prstGeom prst="rect">
            <a:avLst/>
          </a:prstGeom>
          <a:solidFill>
            <a:srgbClr val="F7F7F7"/>
          </a:solidFill>
          <a:ln/>
        </p:spPr>
      </p:sp>
      <p:sp>
        <p:nvSpPr>
          <p:cNvPr id="42" name="Text 35"/>
          <p:cNvSpPr txBox="1"/>
          <p:nvPr/>
        </p:nvSpPr>
        <p:spPr>
          <a:xfrm>
            <a:off x="4440936"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31</a:t>
            </a:r>
            <a:endParaRPr lang="en-US" sz="2000" dirty="0"/>
          </a:p>
        </p:txBody>
      </p:sp>
      <p:sp>
        <p:nvSpPr>
          <p:cNvPr id="43" name="Text 36"/>
          <p:cNvSpPr txBox="1"/>
          <p:nvPr/>
        </p:nvSpPr>
        <p:spPr>
          <a:xfrm>
            <a:off x="4788408"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$812K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$569K</a:t>
            </a:r>
            <a:endParaRPr lang="en-US" sz="1400" dirty="0"/>
          </a:p>
        </p:txBody>
      </p:sp>
      <p:graphicFrame>
        <p:nvGraphicFramePr>
          <p:cNvPr id="44" name="Chart 5" descr=""/>
          <p:cNvGraphicFramePr/>
          <p:nvPr/>
        </p:nvGraphicFramePr>
        <p:xfrm>
          <a:off x="4788408" y="5654040"/>
          <a:ext cx="1972056" cy="502615"/>
        </p:xfrm>
        <a:graphic>
          <a:graphicData uri="http://schemas.openxmlformats.org/drawingml/2006/chart">
            <c:chart xmlns:c="http://schemas.openxmlformats.org/drawingml/2006/chart" r:id="rId7"/>
          </a:graphicData>
        </a:graphic>
      </p:graphicFrame>
      <p:sp>
        <p:nvSpPr>
          <p:cNvPr id="45" name="Text 37"/>
          <p:cNvSpPr txBox="1"/>
          <p:nvPr/>
        </p:nvSpPr>
        <p:spPr>
          <a:xfrm>
            <a:off x="6851904" y="521055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−$243K</a:t>
            </a:r>
            <a:endParaRPr lang="en-US" sz="1600" dirty="0"/>
          </a:p>
        </p:txBody>
      </p:sp>
      <p:sp>
        <p:nvSpPr>
          <p:cNvPr id="46" name="Text 38"/>
          <p:cNvSpPr txBox="1"/>
          <p:nvPr/>
        </p:nvSpPr>
        <p:spPr>
          <a:xfrm>
            <a:off x="6851904"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−29.9%</a:t>
            </a:r>
            <a:endParaRPr lang="en-US" sz="1300" dirty="0"/>
          </a:p>
        </p:txBody>
      </p:sp>
      <p:sp>
        <p:nvSpPr>
          <p:cNvPr id="47" name="Shape 39"/>
          <p:cNvSpPr/>
          <p:nvPr/>
        </p:nvSpPr>
        <p:spPr>
          <a:xfrm>
            <a:off x="8040624" y="1371600"/>
            <a:ext cx="3489960" cy="45720"/>
          </a:xfrm>
          <a:prstGeom prst="rect">
            <a:avLst/>
          </a:prstGeom>
          <a:solidFill>
            <a:srgbClr val="2587C5"/>
          </a:solidFill>
          <a:ln/>
        </p:spPr>
      </p:sp>
      <p:sp>
        <p:nvSpPr>
          <p:cNvPr id="48" name="Text 4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3 MOVING NOW</a:t>
            </a:r>
            <a:endParaRPr lang="en-US" sz="1500" dirty="0"/>
          </a:p>
        </p:txBody>
      </p:sp>
      <p:sp>
        <p:nvSpPr>
          <p:cNvPr id="49" name="Shape 41"/>
          <p:cNvSpPr/>
          <p:nvPr/>
        </p:nvSpPr>
        <p:spPr>
          <a:xfrm>
            <a:off x="8040624" y="1810512"/>
            <a:ext cx="3489960" cy="1478280"/>
          </a:xfrm>
          <a:prstGeom prst="rect">
            <a:avLst/>
          </a:prstGeom>
          <a:solidFill>
            <a:srgbClr val="F7F7F7"/>
          </a:solidFill>
          <a:ln/>
        </p:spPr>
      </p:sp>
      <p:sp>
        <p:nvSpPr>
          <p:cNvPr id="50" name="Text 42"/>
          <p:cNvSpPr txBox="1"/>
          <p:nvPr/>
        </p:nvSpPr>
        <p:spPr>
          <a:xfrm>
            <a:off x="8132064"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51" name="Text 43"/>
          <p:cNvSpPr txBox="1"/>
          <p:nvPr/>
        </p:nvSpPr>
        <p:spPr>
          <a:xfrm>
            <a:off x="8479536"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$242K</a:t>
            </a:r>
            <a:endParaRPr lang="en-US" sz="1400" dirty="0"/>
          </a:p>
        </p:txBody>
      </p:sp>
      <p:graphicFrame>
        <p:nvGraphicFramePr>
          <p:cNvPr id="52" name="Chart 6" descr=""/>
          <p:cNvGraphicFramePr/>
          <p:nvPr/>
        </p:nvGraphicFramePr>
        <p:xfrm>
          <a:off x="8479536" y="2697480"/>
          <a:ext cx="1972056" cy="502615"/>
        </p:xfrm>
        <a:graphic>
          <a:graphicData uri="http://schemas.openxmlformats.org/drawingml/2006/chart">
            <c:chart xmlns:c="http://schemas.openxmlformats.org/drawingml/2006/chart" r:id="rId8"/>
          </a:graphicData>
        </a:graphic>
      </p:graphicFrame>
      <p:graphicFrame>
        <p:nvGraphicFramePr>
          <p:cNvPr id="53" name="Chart 7" descr=""/>
          <p:cNvGraphicFramePr/>
          <p:nvPr/>
        </p:nvGraphicFramePr>
        <p:xfrm>
          <a:off x="8479536" y="2697480"/>
          <a:ext cx="1972056" cy="502615"/>
        </p:xfrm>
        <a:graphic>
          <a:graphicData uri="http://schemas.openxmlformats.org/drawingml/2006/chart">
            <c:chart xmlns:c="http://schemas.openxmlformats.org/drawingml/2006/chart" r:id="rId9"/>
          </a:graphicData>
        </a:graphic>
      </p:graphicFrame>
      <p:sp>
        <p:nvSpPr>
          <p:cNvPr id="54" name="Text 44"/>
          <p:cNvSpPr txBox="1"/>
          <p:nvPr/>
        </p:nvSpPr>
        <p:spPr>
          <a:xfrm>
            <a:off x="10543032" y="225399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+$107K</a:t>
            </a:r>
            <a:endParaRPr lang="en-US" sz="1600" dirty="0"/>
          </a:p>
        </p:txBody>
      </p:sp>
      <p:sp>
        <p:nvSpPr>
          <p:cNvPr id="55" name="Text 45"/>
          <p:cNvSpPr txBox="1"/>
          <p:nvPr/>
        </p:nvSpPr>
        <p:spPr>
          <a:xfrm>
            <a:off x="10543032"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+79.6%</a:t>
            </a:r>
            <a:endParaRPr lang="en-US" sz="1300" dirty="0"/>
          </a:p>
        </p:txBody>
      </p:sp>
      <p:sp>
        <p:nvSpPr>
          <p:cNvPr id="56" name="Shape 46"/>
          <p:cNvSpPr/>
          <p:nvPr/>
        </p:nvSpPr>
        <p:spPr>
          <a:xfrm>
            <a:off x="11466576" y="3325368"/>
            <a:ext cx="64008" cy="1405128"/>
          </a:xfrm>
          <a:prstGeom prst="rect">
            <a:avLst/>
          </a:prstGeom>
          <a:solidFill>
            <a:srgbClr val="12A566"/>
          </a:solidFill>
          <a:ln/>
        </p:spPr>
      </p:sp>
      <p:sp>
        <p:nvSpPr>
          <p:cNvPr id="57" name="Text 47"/>
          <p:cNvSpPr txBox="1"/>
          <p:nvPr/>
        </p:nvSpPr>
        <p:spPr>
          <a:xfrm>
            <a:off x="8132064"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58" name="Text 48"/>
          <p:cNvSpPr txBox="1"/>
          <p:nvPr/>
        </p:nvSpPr>
        <p:spPr>
          <a:xfrm>
            <a:off x="8479536"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$288K</a:t>
            </a:r>
            <a:endParaRPr lang="en-US" sz="1400" dirty="0"/>
          </a:p>
        </p:txBody>
      </p:sp>
      <p:graphicFrame>
        <p:nvGraphicFramePr>
          <p:cNvPr id="59" name="Chart 8" descr=""/>
          <p:cNvGraphicFramePr/>
          <p:nvPr/>
        </p:nvGraphicFramePr>
        <p:xfrm>
          <a:off x="8479536" y="4175760"/>
          <a:ext cx="1972056" cy="502615"/>
        </p:xfrm>
        <a:graphic>
          <a:graphicData uri="http://schemas.openxmlformats.org/drawingml/2006/chart">
            <c:chart xmlns:c="http://schemas.openxmlformats.org/drawingml/2006/chart" r:id="rId10"/>
          </a:graphicData>
        </a:graphic>
      </p:graphicFrame>
      <p:graphicFrame>
        <p:nvGraphicFramePr>
          <p:cNvPr id="60" name="Chart 9" descr=""/>
          <p:cNvGraphicFramePr/>
          <p:nvPr/>
        </p:nvGraphicFramePr>
        <p:xfrm>
          <a:off x="8479536" y="4175760"/>
          <a:ext cx="1972056" cy="502615"/>
        </p:xfrm>
        <a:graphic>
          <a:graphicData uri="http://schemas.openxmlformats.org/drawingml/2006/chart">
            <c:chart xmlns:c="http://schemas.openxmlformats.org/drawingml/2006/chart" r:id="rId11"/>
          </a:graphicData>
        </a:graphic>
      </p:graphicFrame>
      <p:sp>
        <p:nvSpPr>
          <p:cNvPr id="61" name="Text 49"/>
          <p:cNvSpPr txBox="1"/>
          <p:nvPr/>
        </p:nvSpPr>
        <p:spPr>
          <a:xfrm>
            <a:off x="10543032" y="373227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+$88K</a:t>
            </a:r>
            <a:endParaRPr lang="en-US" sz="1600" dirty="0"/>
          </a:p>
        </p:txBody>
      </p:sp>
      <p:sp>
        <p:nvSpPr>
          <p:cNvPr id="62" name="Text 50"/>
          <p:cNvSpPr txBox="1"/>
          <p:nvPr/>
        </p:nvSpPr>
        <p:spPr>
          <a:xfrm>
            <a:off x="10543032"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+44.2%</a:t>
            </a:r>
            <a:endParaRPr lang="en-US" sz="1300" dirty="0"/>
          </a:p>
        </p:txBody>
      </p:sp>
      <p:sp>
        <p:nvSpPr>
          <p:cNvPr id="63" name="Shape 51"/>
          <p:cNvSpPr/>
          <p:nvPr/>
        </p:nvSpPr>
        <p:spPr>
          <a:xfrm>
            <a:off x="8040624" y="4767072"/>
            <a:ext cx="3489960" cy="1478280"/>
          </a:xfrm>
          <a:prstGeom prst="rect">
            <a:avLst/>
          </a:prstGeom>
          <a:solidFill>
            <a:srgbClr val="F7F7F7"/>
          </a:solidFill>
          <a:ln/>
        </p:spPr>
      </p:sp>
      <p:sp>
        <p:nvSpPr>
          <p:cNvPr id="64" name="Shape 52"/>
          <p:cNvSpPr/>
          <p:nvPr/>
        </p:nvSpPr>
        <p:spPr>
          <a:xfrm>
            <a:off x="11466576" y="4803648"/>
            <a:ext cx="64008" cy="1405128"/>
          </a:xfrm>
          <a:prstGeom prst="rect">
            <a:avLst/>
          </a:prstGeom>
          <a:solidFill>
            <a:srgbClr val="2587C5"/>
          </a:solidFill>
          <a:ln/>
        </p:spPr>
      </p:sp>
      <p:sp>
        <p:nvSpPr>
          <p:cNvPr id="65" name="Text 53"/>
          <p:cNvSpPr txBox="1"/>
          <p:nvPr/>
        </p:nvSpPr>
        <p:spPr>
          <a:xfrm>
            <a:off x="8132064"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66" name="Text 54"/>
          <p:cNvSpPr txBox="1"/>
          <p:nvPr/>
        </p:nvSpPr>
        <p:spPr>
          <a:xfrm>
            <a:off x="8479536"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$191K</a:t>
            </a:r>
            <a:endParaRPr lang="en-US" sz="1400" dirty="0"/>
          </a:p>
        </p:txBody>
      </p:sp>
      <p:graphicFrame>
        <p:nvGraphicFramePr>
          <p:cNvPr id="67" name="Chart 10" descr=""/>
          <p:cNvGraphicFramePr/>
          <p:nvPr/>
        </p:nvGraphicFramePr>
        <p:xfrm>
          <a:off x="8479536" y="5654040"/>
          <a:ext cx="1972056" cy="502615"/>
        </p:xfrm>
        <a:graphic>
          <a:graphicData uri="http://schemas.openxmlformats.org/drawingml/2006/chart">
            <c:chart xmlns:c="http://schemas.openxmlformats.org/drawingml/2006/chart" r:id="rId12"/>
          </a:graphicData>
        </a:graphic>
      </p:graphicFrame>
      <p:graphicFrame>
        <p:nvGraphicFramePr>
          <p:cNvPr id="68" name="Chart 11" descr=""/>
          <p:cNvGraphicFramePr/>
          <p:nvPr/>
        </p:nvGraphicFramePr>
        <p:xfrm>
          <a:off x="8479536" y="5654040"/>
          <a:ext cx="1972056" cy="502615"/>
        </p:xfrm>
        <a:graphic>
          <a:graphicData uri="http://schemas.openxmlformats.org/drawingml/2006/chart">
            <c:chart xmlns:c="http://schemas.openxmlformats.org/drawingml/2006/chart" r:id="rId13"/>
          </a:graphicData>
        </a:graphic>
      </p:graphicFrame>
      <p:sp>
        <p:nvSpPr>
          <p:cNvPr id="69" name="Text 55"/>
          <p:cNvSpPr txBox="1"/>
          <p:nvPr/>
        </p:nvSpPr>
        <p:spPr>
          <a:xfrm>
            <a:off x="10543032" y="521055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+$70K</a:t>
            </a:r>
            <a:endParaRPr lang="en-US" sz="1600" dirty="0"/>
          </a:p>
        </p:txBody>
      </p:sp>
      <p:sp>
        <p:nvSpPr>
          <p:cNvPr id="70" name="Text 56"/>
          <p:cNvSpPr txBox="1"/>
          <p:nvPr/>
        </p:nvSpPr>
        <p:spPr>
          <a:xfrm>
            <a:off x="10543032"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 Record Year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1991563" cy="3017520"/>
          </a:xfrm>
          <a:prstGeom prst="rect">
            <a:avLst/>
          </a:prstGeom>
          <a:solidFill>
            <a:srgbClr val="F7F7F7"/>
          </a:solidFill>
          <a:ln/>
        </p:spPr>
      </p:sp>
      <p:sp>
        <p:nvSpPr>
          <p:cNvPr id="7" name="Shape 5"/>
          <p:cNvSpPr/>
          <p:nvPr/>
        </p:nvSpPr>
        <p:spPr>
          <a:xfrm>
            <a:off x="713232" y="1481328"/>
            <a:ext cx="1991563" cy="64008"/>
          </a:xfrm>
          <a:prstGeom prst="rect">
            <a:avLst/>
          </a:prstGeom>
          <a:solidFill>
            <a:srgbClr val="12A566"/>
          </a:solidFill>
          <a:ln/>
        </p:spPr>
      </p:sp>
      <p:sp>
        <p:nvSpPr>
          <p:cNvPr id="8" name="Text 6"/>
          <p:cNvSpPr txBox="1"/>
          <p:nvPr/>
        </p:nvSpPr>
        <p:spPr>
          <a:xfrm>
            <a:off x="896112" y="1691640"/>
            <a:ext cx="1625803"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WITH A RECORD MONTH</a:t>
            </a:r>
            <a:endParaRPr lang="en-US" sz="1400" dirty="0"/>
          </a:p>
        </p:txBody>
      </p:sp>
      <p:sp>
        <p:nvSpPr>
          <p:cNvPr id="9" name="Text 7"/>
          <p:cNvSpPr txBox="1"/>
          <p:nvPr/>
        </p:nvSpPr>
        <p:spPr>
          <a:xfrm>
            <a:off x="896112" y="2286000"/>
            <a:ext cx="1625803"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23</a:t>
            </a:r>
            <a:endParaRPr lang="en-US" sz="4000" dirty="0"/>
          </a:p>
        </p:txBody>
      </p:sp>
      <p:sp>
        <p:nvSpPr>
          <p:cNvPr id="10" name="Text 8"/>
          <p:cNvSpPr txBox="1"/>
          <p:nvPr/>
        </p:nvSpPr>
        <p:spPr>
          <a:xfrm>
            <a:off x="896112" y="3200400"/>
            <a:ext cx="1625803"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33 had their best gross profit month ever in 2026.</a:t>
            </a:r>
            <a:endParaRPr lang="en-US" sz="1500" dirty="0"/>
          </a:p>
        </p:txBody>
      </p:sp>
      <p:sp>
        <p:nvSpPr>
          <p:cNvPr id="11" name="Shape 9"/>
          <p:cNvSpPr/>
          <p:nvPr/>
        </p:nvSpPr>
        <p:spPr>
          <a:xfrm>
            <a:off x="2905963" y="1481328"/>
            <a:ext cx="1991563" cy="3017520"/>
          </a:xfrm>
          <a:prstGeom prst="rect">
            <a:avLst/>
          </a:prstGeom>
          <a:solidFill>
            <a:srgbClr val="F7F7F7"/>
          </a:solidFill>
          <a:ln/>
        </p:spPr>
      </p:sp>
      <p:sp>
        <p:nvSpPr>
          <p:cNvPr id="12" name="Shape 10"/>
          <p:cNvSpPr/>
          <p:nvPr/>
        </p:nvSpPr>
        <p:spPr>
          <a:xfrm>
            <a:off x="2905963" y="1481328"/>
            <a:ext cx="1991563" cy="64008"/>
          </a:xfrm>
          <a:prstGeom prst="rect">
            <a:avLst/>
          </a:prstGeom>
          <a:solidFill>
            <a:srgbClr val="12A566"/>
          </a:solidFill>
          <a:ln/>
        </p:spPr>
      </p:sp>
      <p:sp>
        <p:nvSpPr>
          <p:cNvPr id="13" name="Text 11"/>
          <p:cNvSpPr txBox="1"/>
          <p:nvPr/>
        </p:nvSpPr>
        <p:spPr>
          <a:xfrm>
            <a:off x="3088843" y="1691640"/>
            <a:ext cx="1625803"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RECORDS SET</a:t>
            </a:r>
            <a:endParaRPr lang="en-US" sz="1400" dirty="0"/>
          </a:p>
        </p:txBody>
      </p:sp>
      <p:sp>
        <p:nvSpPr>
          <p:cNvPr id="14" name="Text 12"/>
          <p:cNvSpPr txBox="1"/>
          <p:nvPr/>
        </p:nvSpPr>
        <p:spPr>
          <a:xfrm>
            <a:off x="3088843" y="2286000"/>
            <a:ext cx="1625803"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98</a:t>
            </a:r>
            <a:endParaRPr lang="en-US" sz="4000" dirty="0"/>
          </a:p>
        </p:txBody>
      </p:sp>
      <p:sp>
        <p:nvSpPr>
          <p:cNvPr id="15" name="Text 13"/>
          <p:cNvSpPr txBox="1"/>
          <p:nvPr/>
        </p:nvSpPr>
        <p:spPr>
          <a:xfrm>
            <a:off x="3088843" y="3200400"/>
            <a:ext cx="1625803"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gross profit records in service, parts and combined.</a:t>
            </a:r>
            <a:endParaRPr lang="en-US" sz="1500" dirty="0"/>
          </a:p>
        </p:txBody>
      </p:sp>
      <p:sp>
        <p:nvSpPr>
          <p:cNvPr id="16" name="Shape 14"/>
          <p:cNvSpPr/>
          <p:nvPr/>
        </p:nvSpPr>
        <p:spPr>
          <a:xfrm>
            <a:off x="5098694" y="1481328"/>
            <a:ext cx="1991563" cy="3017520"/>
          </a:xfrm>
          <a:prstGeom prst="rect">
            <a:avLst/>
          </a:prstGeom>
          <a:solidFill>
            <a:srgbClr val="F7F7F7"/>
          </a:solidFill>
          <a:ln/>
        </p:spPr>
      </p:sp>
      <p:sp>
        <p:nvSpPr>
          <p:cNvPr id="17" name="Shape 15"/>
          <p:cNvSpPr/>
          <p:nvPr/>
        </p:nvSpPr>
        <p:spPr>
          <a:xfrm>
            <a:off x="5098694" y="1481328"/>
            <a:ext cx="1991563" cy="64008"/>
          </a:xfrm>
          <a:prstGeom prst="rect">
            <a:avLst/>
          </a:prstGeom>
          <a:solidFill>
            <a:srgbClr val="12A566"/>
          </a:solidFill>
          <a:ln/>
        </p:spPr>
      </p:sp>
      <p:sp>
        <p:nvSpPr>
          <p:cNvPr id="18" name="Text 16"/>
          <p:cNvSpPr txBox="1"/>
          <p:nvPr/>
        </p:nvSpPr>
        <p:spPr>
          <a:xfrm>
            <a:off x="5281574" y="1691640"/>
            <a:ext cx="1625803"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JAN–SEP GROSS PROFIT EVER</a:t>
            </a:r>
            <a:endParaRPr lang="en-US" sz="1400" dirty="0"/>
          </a:p>
        </p:txBody>
      </p:sp>
      <p:sp>
        <p:nvSpPr>
          <p:cNvPr id="19" name="Text 17"/>
          <p:cNvSpPr txBox="1"/>
          <p:nvPr/>
        </p:nvSpPr>
        <p:spPr>
          <a:xfrm>
            <a:off x="5281574" y="2286000"/>
            <a:ext cx="1625803"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25</a:t>
            </a:r>
            <a:endParaRPr lang="en-US" sz="4000" dirty="0"/>
          </a:p>
        </p:txBody>
      </p:sp>
      <p:sp>
        <p:nvSpPr>
          <p:cNvPr id="20" name="Text 18"/>
          <p:cNvSpPr txBox="1"/>
          <p:nvPr/>
        </p:nvSpPr>
        <p:spPr>
          <a:xfrm>
            <a:off x="5281574" y="3200400"/>
            <a:ext cx="1625803"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service and parts combined.</a:t>
            </a:r>
            <a:endParaRPr lang="en-US" sz="1500" dirty="0"/>
          </a:p>
        </p:txBody>
      </p:sp>
      <p:sp>
        <p:nvSpPr>
          <p:cNvPr id="21" name="Shape 19"/>
          <p:cNvSpPr/>
          <p:nvPr/>
        </p:nvSpPr>
        <p:spPr>
          <a:xfrm>
            <a:off x="7291426" y="1481328"/>
            <a:ext cx="1991563" cy="3017520"/>
          </a:xfrm>
          <a:prstGeom prst="rect">
            <a:avLst/>
          </a:prstGeom>
          <a:solidFill>
            <a:srgbClr val="F7F7F7"/>
          </a:solidFill>
          <a:ln/>
        </p:spPr>
      </p:sp>
      <p:sp>
        <p:nvSpPr>
          <p:cNvPr id="22" name="Shape 20"/>
          <p:cNvSpPr/>
          <p:nvPr/>
        </p:nvSpPr>
        <p:spPr>
          <a:xfrm>
            <a:off x="7291426" y="1481328"/>
            <a:ext cx="1991563" cy="64008"/>
          </a:xfrm>
          <a:prstGeom prst="rect">
            <a:avLst/>
          </a:prstGeom>
          <a:solidFill>
            <a:srgbClr val="12A566"/>
          </a:solidFill>
          <a:ln/>
        </p:spPr>
      </p:sp>
      <p:sp>
        <p:nvSpPr>
          <p:cNvPr id="23" name="Text 21"/>
          <p:cNvSpPr txBox="1"/>
          <p:nvPr/>
        </p:nvSpPr>
        <p:spPr>
          <a:xfrm>
            <a:off x="7474306" y="1691640"/>
            <a:ext cx="1625803"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RECORDS BROKEN TWICE</a:t>
            </a:r>
            <a:endParaRPr lang="en-US" sz="1400" dirty="0"/>
          </a:p>
        </p:txBody>
      </p:sp>
      <p:sp>
        <p:nvSpPr>
          <p:cNvPr id="24" name="Text 22"/>
          <p:cNvSpPr txBox="1"/>
          <p:nvPr/>
        </p:nvSpPr>
        <p:spPr>
          <a:xfrm>
            <a:off x="7474306" y="2286000"/>
            <a:ext cx="1625803"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a:t>
            </a:r>
            <a:endParaRPr lang="en-US" sz="4000" dirty="0"/>
          </a:p>
        </p:txBody>
      </p:sp>
      <p:sp>
        <p:nvSpPr>
          <p:cNvPr id="25" name="Text 23"/>
          <p:cNvSpPr txBox="1"/>
          <p:nvPr/>
        </p:nvSpPr>
        <p:spPr>
          <a:xfrm>
            <a:off x="7474306" y="3200400"/>
            <a:ext cx="1625803"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set a gross profit record, then beat it again.</a:t>
            </a:r>
            <a:endParaRPr lang="en-US" sz="1500" dirty="0"/>
          </a:p>
        </p:txBody>
      </p:sp>
      <p:sp>
        <p:nvSpPr>
          <p:cNvPr id="26" name="Shape 24"/>
          <p:cNvSpPr/>
          <p:nvPr/>
        </p:nvSpPr>
        <p:spPr>
          <a:xfrm>
            <a:off x="9484157" y="1481328"/>
            <a:ext cx="1991563" cy="3017520"/>
          </a:xfrm>
          <a:prstGeom prst="rect">
            <a:avLst/>
          </a:prstGeom>
          <a:solidFill>
            <a:srgbClr val="F7F7F7"/>
          </a:solidFill>
          <a:ln/>
        </p:spPr>
      </p:sp>
      <p:sp>
        <p:nvSpPr>
          <p:cNvPr id="27" name="Shape 25"/>
          <p:cNvSpPr/>
          <p:nvPr/>
        </p:nvSpPr>
        <p:spPr>
          <a:xfrm>
            <a:off x="9484157" y="1481328"/>
            <a:ext cx="1991563" cy="64008"/>
          </a:xfrm>
          <a:prstGeom prst="rect">
            <a:avLst/>
          </a:prstGeom>
          <a:solidFill>
            <a:srgbClr val="12A566"/>
          </a:solidFill>
          <a:ln/>
        </p:spPr>
      </p:sp>
      <p:sp>
        <p:nvSpPr>
          <p:cNvPr id="28" name="Text 26"/>
          <p:cNvSpPr txBox="1"/>
          <p:nvPr/>
        </p:nvSpPr>
        <p:spPr>
          <a:xfrm>
            <a:off x="9667037" y="1691640"/>
            <a:ext cx="1625803"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JAN–SEP NET PROFIT EVER</a:t>
            </a:r>
            <a:endParaRPr lang="en-US" sz="1400" dirty="0"/>
          </a:p>
        </p:txBody>
      </p:sp>
      <p:sp>
        <p:nvSpPr>
          <p:cNvPr id="29" name="Text 27"/>
          <p:cNvSpPr txBox="1"/>
          <p:nvPr/>
        </p:nvSpPr>
        <p:spPr>
          <a:xfrm>
            <a:off x="9667037" y="2286000"/>
            <a:ext cx="1625803"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21</a:t>
            </a:r>
            <a:endParaRPr lang="en-US" sz="4000" dirty="0"/>
          </a:p>
        </p:txBody>
      </p:sp>
      <p:sp>
        <p:nvSpPr>
          <p:cNvPr id="30" name="Text 28"/>
          <p:cNvSpPr txBox="1"/>
          <p:nvPr/>
        </p:nvSpPr>
        <p:spPr>
          <a:xfrm>
            <a:off x="9667037" y="3200400"/>
            <a:ext cx="1625803"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18 also set the gross profit record.</a:t>
            </a:r>
            <a:endParaRPr lang="en-US" sz="1500" dirty="0"/>
          </a:p>
        </p:txBody>
      </p:sp>
      <p:sp>
        <p:nvSpPr>
          <p:cNvPr id="31" name="Text 29"/>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Most records set this year: Honda Spokane 9, Nissan 9, Toyota Henderson 8, Honda Henderson 7 and Subaru St George 7.</a:t>
            </a:r>
            <a:endParaRPr lang="en-US" sz="1700" dirty="0"/>
          </a:p>
        </p:txBody>
      </p:sp>
      <p:sp>
        <p:nvSpPr>
          <p:cNvPr id="32" name="Shape 30"/>
          <p:cNvSpPr/>
          <p:nvPr/>
        </p:nvSpPr>
        <p:spPr>
          <a:xfrm>
            <a:off x="457200" y="6126480"/>
            <a:ext cx="11274552" cy="371856"/>
          </a:xfrm>
          <a:prstGeom prst="rect">
            <a:avLst/>
          </a:prstGeom>
          <a:solidFill>
            <a:srgbClr val="E6F6EE"/>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Jul alone brought 11 combined store records.</a:t>
            </a:r>
            <a:endParaRPr lang="en-US" sz="16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Records Set in 2026: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0266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7" name="Text 5"/>
          <p:cNvSpPr txBox="1"/>
          <p:nvPr/>
        </p:nvSpPr>
        <p:spPr>
          <a:xfrm>
            <a:off x="381304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8" name="Text 6"/>
          <p:cNvSpPr txBox="1"/>
          <p:nvPr/>
        </p:nvSpPr>
        <p:spPr>
          <a:xfrm>
            <a:off x="4471416"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0" name="Text 8"/>
          <p:cNvSpPr txBox="1"/>
          <p:nvPr/>
        </p:nvSpPr>
        <p:spPr>
          <a:xfrm>
            <a:off x="85770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11" name="Text 9"/>
          <p:cNvSpPr txBox="1"/>
          <p:nvPr/>
        </p:nvSpPr>
        <p:spPr>
          <a:xfrm>
            <a:off x="9363456"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10021824"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3" name="Text 11"/>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4" name="Text 12"/>
          <p:cNvSpPr txBox="1"/>
          <p:nvPr/>
        </p:nvSpPr>
        <p:spPr>
          <a:xfrm>
            <a:off x="658368"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 name="Shape 14"/>
          <p:cNvSpPr/>
          <p:nvPr/>
        </p:nvSpPr>
        <p:spPr>
          <a:xfrm>
            <a:off x="2871216" y="1779994"/>
            <a:ext cx="100584" cy="193624"/>
          </a:xfrm>
          <a:prstGeom prst="rect">
            <a:avLst/>
          </a:prstGeom>
          <a:solidFill>
            <a:srgbClr val="12A566"/>
          </a:solidFill>
          <a:ln/>
        </p:spPr>
      </p:sp>
      <p:sp>
        <p:nvSpPr>
          <p:cNvPr id="17" name="Text 15"/>
          <p:cNvSpPr txBox="1"/>
          <p:nvPr/>
        </p:nvSpPr>
        <p:spPr>
          <a:xfrm>
            <a:off x="3026664"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18" name="Text 16"/>
          <p:cNvSpPr txBox="1"/>
          <p:nvPr/>
        </p:nvSpPr>
        <p:spPr>
          <a:xfrm>
            <a:off x="3813048"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9" name="Text 17"/>
          <p:cNvSpPr txBox="1"/>
          <p:nvPr/>
        </p:nvSpPr>
        <p:spPr>
          <a:xfrm>
            <a:off x="4471416"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20" name="Text 18"/>
          <p:cNvSpPr txBox="1"/>
          <p:nvPr/>
        </p:nvSpPr>
        <p:spPr>
          <a:xfrm>
            <a:off x="5184648"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1" name="Text 19"/>
          <p:cNvSpPr txBox="1"/>
          <p:nvPr/>
        </p:nvSpPr>
        <p:spPr>
          <a:xfrm>
            <a:off x="658368"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3" name="Shape 21"/>
          <p:cNvSpPr/>
          <p:nvPr/>
        </p:nvSpPr>
        <p:spPr>
          <a:xfrm>
            <a:off x="2871216" y="2132038"/>
            <a:ext cx="100584" cy="193624"/>
          </a:xfrm>
          <a:prstGeom prst="rect">
            <a:avLst/>
          </a:prstGeom>
          <a:solidFill>
            <a:srgbClr val="12A566"/>
          </a:solidFill>
          <a:ln/>
        </p:spPr>
      </p:sp>
      <p:sp>
        <p:nvSpPr>
          <p:cNvPr id="24" name="Text 22"/>
          <p:cNvSpPr txBox="1"/>
          <p:nvPr/>
        </p:nvSpPr>
        <p:spPr>
          <a:xfrm>
            <a:off x="3026664"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25" name="Text 23"/>
          <p:cNvSpPr txBox="1"/>
          <p:nvPr/>
        </p:nvSpPr>
        <p:spPr>
          <a:xfrm>
            <a:off x="3813048"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26" name="Text 24"/>
          <p:cNvSpPr txBox="1"/>
          <p:nvPr/>
        </p:nvSpPr>
        <p:spPr>
          <a:xfrm>
            <a:off x="4471416"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27" name="Text 25"/>
          <p:cNvSpPr txBox="1"/>
          <p:nvPr/>
        </p:nvSpPr>
        <p:spPr>
          <a:xfrm>
            <a:off x="5184648"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8" name="Text 26"/>
          <p:cNvSpPr txBox="1"/>
          <p:nvPr/>
        </p:nvSpPr>
        <p:spPr>
          <a:xfrm>
            <a:off x="658368"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0" name="Shape 28"/>
          <p:cNvSpPr/>
          <p:nvPr/>
        </p:nvSpPr>
        <p:spPr>
          <a:xfrm>
            <a:off x="2871216" y="2484082"/>
            <a:ext cx="89408" cy="193624"/>
          </a:xfrm>
          <a:prstGeom prst="rect">
            <a:avLst/>
          </a:prstGeom>
          <a:solidFill>
            <a:srgbClr val="12A566"/>
          </a:solidFill>
          <a:ln/>
        </p:spPr>
      </p:sp>
      <p:sp>
        <p:nvSpPr>
          <p:cNvPr id="31" name="Text 29"/>
          <p:cNvSpPr txBox="1"/>
          <p:nvPr/>
        </p:nvSpPr>
        <p:spPr>
          <a:xfrm>
            <a:off x="3026664"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a:t>
            </a:r>
            <a:endParaRPr lang="en-US" sz="1300" dirty="0"/>
          </a:p>
        </p:txBody>
      </p:sp>
      <p:sp>
        <p:nvSpPr>
          <p:cNvPr id="32" name="Text 30"/>
          <p:cNvSpPr txBox="1"/>
          <p:nvPr/>
        </p:nvSpPr>
        <p:spPr>
          <a:xfrm>
            <a:off x="3813048"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33" name="Text 31"/>
          <p:cNvSpPr txBox="1"/>
          <p:nvPr/>
        </p:nvSpPr>
        <p:spPr>
          <a:xfrm>
            <a:off x="4471416"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4" name="Text 32"/>
          <p:cNvSpPr txBox="1"/>
          <p:nvPr/>
        </p:nvSpPr>
        <p:spPr>
          <a:xfrm>
            <a:off x="5184648"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5" name="Text 33"/>
          <p:cNvSpPr txBox="1"/>
          <p:nvPr/>
        </p:nvSpPr>
        <p:spPr>
          <a:xfrm>
            <a:off x="658368"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7" name="Shape 35"/>
          <p:cNvSpPr/>
          <p:nvPr/>
        </p:nvSpPr>
        <p:spPr>
          <a:xfrm>
            <a:off x="2871216" y="2836126"/>
            <a:ext cx="78232" cy="193624"/>
          </a:xfrm>
          <a:prstGeom prst="rect">
            <a:avLst/>
          </a:prstGeom>
          <a:solidFill>
            <a:srgbClr val="12A566"/>
          </a:solidFill>
          <a:ln/>
        </p:spPr>
      </p:sp>
      <p:sp>
        <p:nvSpPr>
          <p:cNvPr id="38" name="Text 36"/>
          <p:cNvSpPr txBox="1"/>
          <p:nvPr/>
        </p:nvSpPr>
        <p:spPr>
          <a:xfrm>
            <a:off x="3026664"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39" name="Text 37"/>
          <p:cNvSpPr txBox="1"/>
          <p:nvPr/>
        </p:nvSpPr>
        <p:spPr>
          <a:xfrm>
            <a:off x="3813048"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0" name="Text 38"/>
          <p:cNvSpPr txBox="1"/>
          <p:nvPr/>
        </p:nvSpPr>
        <p:spPr>
          <a:xfrm>
            <a:off x="4471416"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1" name="Text 39"/>
          <p:cNvSpPr txBox="1"/>
          <p:nvPr/>
        </p:nvSpPr>
        <p:spPr>
          <a:xfrm>
            <a:off x="5184648"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2" name="Text 40"/>
          <p:cNvSpPr txBox="1"/>
          <p:nvPr/>
        </p:nvSpPr>
        <p:spPr>
          <a:xfrm>
            <a:off x="658368"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3" name="Text 41"/>
          <p:cNvSpPr txBox="1"/>
          <p:nvPr/>
        </p:nvSpPr>
        <p:spPr>
          <a:xfrm>
            <a:off x="1014984"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4" name="Shape 42"/>
          <p:cNvSpPr/>
          <p:nvPr/>
        </p:nvSpPr>
        <p:spPr>
          <a:xfrm>
            <a:off x="2871216" y="3188170"/>
            <a:ext cx="78232" cy="193624"/>
          </a:xfrm>
          <a:prstGeom prst="rect">
            <a:avLst/>
          </a:prstGeom>
          <a:solidFill>
            <a:srgbClr val="12A566"/>
          </a:solidFill>
          <a:ln/>
        </p:spPr>
      </p:sp>
      <p:sp>
        <p:nvSpPr>
          <p:cNvPr id="45" name="Text 43"/>
          <p:cNvSpPr txBox="1"/>
          <p:nvPr/>
        </p:nvSpPr>
        <p:spPr>
          <a:xfrm>
            <a:off x="3026664"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46" name="Text 44"/>
          <p:cNvSpPr txBox="1"/>
          <p:nvPr/>
        </p:nvSpPr>
        <p:spPr>
          <a:xfrm>
            <a:off x="3813048"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71416"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5184648"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9" name="Text 47"/>
          <p:cNvSpPr txBox="1"/>
          <p:nvPr/>
        </p:nvSpPr>
        <p:spPr>
          <a:xfrm>
            <a:off x="658368"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50" name="Text 48"/>
          <p:cNvSpPr txBox="1"/>
          <p:nvPr/>
        </p:nvSpPr>
        <p:spPr>
          <a:xfrm>
            <a:off x="1014984"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1" name="Shape 49"/>
          <p:cNvSpPr/>
          <p:nvPr/>
        </p:nvSpPr>
        <p:spPr>
          <a:xfrm>
            <a:off x="2871216" y="3540214"/>
            <a:ext cx="67056" cy="193624"/>
          </a:xfrm>
          <a:prstGeom prst="rect">
            <a:avLst/>
          </a:prstGeom>
          <a:solidFill>
            <a:srgbClr val="12A566"/>
          </a:solidFill>
          <a:ln/>
        </p:spPr>
      </p:sp>
      <p:sp>
        <p:nvSpPr>
          <p:cNvPr id="52" name="Text 50"/>
          <p:cNvSpPr txBox="1"/>
          <p:nvPr/>
        </p:nvSpPr>
        <p:spPr>
          <a:xfrm>
            <a:off x="3026664"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53" name="Text 51"/>
          <p:cNvSpPr txBox="1"/>
          <p:nvPr/>
        </p:nvSpPr>
        <p:spPr>
          <a:xfrm>
            <a:off x="3813048"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54" name="Text 52"/>
          <p:cNvSpPr txBox="1"/>
          <p:nvPr/>
        </p:nvSpPr>
        <p:spPr>
          <a:xfrm>
            <a:off x="4471416"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55" name="Text 53"/>
          <p:cNvSpPr txBox="1"/>
          <p:nvPr/>
        </p:nvSpPr>
        <p:spPr>
          <a:xfrm>
            <a:off x="5184648"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56" name="Text 54"/>
          <p:cNvSpPr txBox="1"/>
          <p:nvPr/>
        </p:nvSpPr>
        <p:spPr>
          <a:xfrm>
            <a:off x="658368"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7" name="Text 55"/>
          <p:cNvSpPr txBox="1"/>
          <p:nvPr/>
        </p:nvSpPr>
        <p:spPr>
          <a:xfrm>
            <a:off x="1014984"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8" name="Shape 56"/>
          <p:cNvSpPr/>
          <p:nvPr/>
        </p:nvSpPr>
        <p:spPr>
          <a:xfrm>
            <a:off x="2871216" y="3892258"/>
            <a:ext cx="67056" cy="193624"/>
          </a:xfrm>
          <a:prstGeom prst="rect">
            <a:avLst/>
          </a:prstGeom>
          <a:solidFill>
            <a:srgbClr val="12A566"/>
          </a:solidFill>
          <a:ln/>
        </p:spPr>
      </p:sp>
      <p:sp>
        <p:nvSpPr>
          <p:cNvPr id="59" name="Text 57"/>
          <p:cNvSpPr txBox="1"/>
          <p:nvPr/>
        </p:nvSpPr>
        <p:spPr>
          <a:xfrm>
            <a:off x="3026664"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60" name="Text 58"/>
          <p:cNvSpPr txBox="1"/>
          <p:nvPr/>
        </p:nvSpPr>
        <p:spPr>
          <a:xfrm>
            <a:off x="3813048"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1" name="Text 59"/>
          <p:cNvSpPr txBox="1"/>
          <p:nvPr/>
        </p:nvSpPr>
        <p:spPr>
          <a:xfrm>
            <a:off x="4471416"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2" name="Text 60"/>
          <p:cNvSpPr txBox="1"/>
          <p:nvPr/>
        </p:nvSpPr>
        <p:spPr>
          <a:xfrm>
            <a:off x="5184648"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3" name="Text 61"/>
          <p:cNvSpPr txBox="1"/>
          <p:nvPr/>
        </p:nvSpPr>
        <p:spPr>
          <a:xfrm>
            <a:off x="658368"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4" name="Text 62"/>
          <p:cNvSpPr txBox="1"/>
          <p:nvPr/>
        </p:nvSpPr>
        <p:spPr>
          <a:xfrm>
            <a:off x="1014984"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2871216" y="4244302"/>
            <a:ext cx="55880" cy="193624"/>
          </a:xfrm>
          <a:prstGeom prst="rect">
            <a:avLst/>
          </a:prstGeom>
          <a:solidFill>
            <a:srgbClr val="12A566"/>
          </a:solidFill>
          <a:ln/>
        </p:spPr>
      </p:sp>
      <p:sp>
        <p:nvSpPr>
          <p:cNvPr id="66" name="Text 64"/>
          <p:cNvSpPr txBox="1"/>
          <p:nvPr/>
        </p:nvSpPr>
        <p:spPr>
          <a:xfrm>
            <a:off x="3026664"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a:t>
            </a:r>
            <a:endParaRPr lang="en-US" sz="1300" dirty="0"/>
          </a:p>
        </p:txBody>
      </p:sp>
      <p:sp>
        <p:nvSpPr>
          <p:cNvPr id="67" name="Text 65"/>
          <p:cNvSpPr txBox="1"/>
          <p:nvPr/>
        </p:nvSpPr>
        <p:spPr>
          <a:xfrm>
            <a:off x="3813048"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4471416"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9" name="Text 67"/>
          <p:cNvSpPr txBox="1"/>
          <p:nvPr/>
        </p:nvSpPr>
        <p:spPr>
          <a:xfrm>
            <a:off x="5184648"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0" name="Text 68"/>
          <p:cNvSpPr txBox="1"/>
          <p:nvPr/>
        </p:nvSpPr>
        <p:spPr>
          <a:xfrm>
            <a:off x="658368"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71" name="Text 69"/>
          <p:cNvSpPr txBox="1"/>
          <p:nvPr/>
        </p:nvSpPr>
        <p:spPr>
          <a:xfrm>
            <a:off x="1014984"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2" name="Shape 70"/>
          <p:cNvSpPr/>
          <p:nvPr/>
        </p:nvSpPr>
        <p:spPr>
          <a:xfrm>
            <a:off x="2871216" y="4596346"/>
            <a:ext cx="44704" cy="193624"/>
          </a:xfrm>
          <a:prstGeom prst="rect">
            <a:avLst/>
          </a:prstGeom>
          <a:solidFill>
            <a:srgbClr val="12A566"/>
          </a:solidFill>
          <a:ln/>
        </p:spPr>
      </p:sp>
      <p:sp>
        <p:nvSpPr>
          <p:cNvPr id="73" name="Text 71"/>
          <p:cNvSpPr txBox="1"/>
          <p:nvPr/>
        </p:nvSpPr>
        <p:spPr>
          <a:xfrm>
            <a:off x="3026664"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74" name="Text 72"/>
          <p:cNvSpPr txBox="1"/>
          <p:nvPr/>
        </p:nvSpPr>
        <p:spPr>
          <a:xfrm>
            <a:off x="3813048"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5" name="Text 73"/>
          <p:cNvSpPr txBox="1"/>
          <p:nvPr/>
        </p:nvSpPr>
        <p:spPr>
          <a:xfrm>
            <a:off x="4471416"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6" name="Text 74"/>
          <p:cNvSpPr txBox="1"/>
          <p:nvPr/>
        </p:nvSpPr>
        <p:spPr>
          <a:xfrm>
            <a:off x="5184648"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7" name="Text 75"/>
          <p:cNvSpPr txBox="1"/>
          <p:nvPr/>
        </p:nvSpPr>
        <p:spPr>
          <a:xfrm>
            <a:off x="658368"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8" name="Text 76"/>
          <p:cNvSpPr txBox="1"/>
          <p:nvPr/>
        </p:nvSpPr>
        <p:spPr>
          <a:xfrm>
            <a:off x="1014984"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9" name="Shape 77"/>
          <p:cNvSpPr/>
          <p:nvPr/>
        </p:nvSpPr>
        <p:spPr>
          <a:xfrm>
            <a:off x="2871216" y="4948390"/>
            <a:ext cx="44704" cy="193624"/>
          </a:xfrm>
          <a:prstGeom prst="rect">
            <a:avLst/>
          </a:prstGeom>
          <a:solidFill>
            <a:srgbClr val="12A566"/>
          </a:solidFill>
          <a:ln/>
        </p:spPr>
      </p:sp>
      <p:sp>
        <p:nvSpPr>
          <p:cNvPr id="80" name="Text 78"/>
          <p:cNvSpPr txBox="1"/>
          <p:nvPr/>
        </p:nvSpPr>
        <p:spPr>
          <a:xfrm>
            <a:off x="3026664"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1" name="Text 79"/>
          <p:cNvSpPr txBox="1"/>
          <p:nvPr/>
        </p:nvSpPr>
        <p:spPr>
          <a:xfrm>
            <a:off x="3813048"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2" name="Text 80"/>
          <p:cNvSpPr txBox="1"/>
          <p:nvPr/>
        </p:nvSpPr>
        <p:spPr>
          <a:xfrm>
            <a:off x="4471416"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3" name="Text 81"/>
          <p:cNvSpPr txBox="1"/>
          <p:nvPr/>
        </p:nvSpPr>
        <p:spPr>
          <a:xfrm>
            <a:off x="5184648"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4" name="Text 82"/>
          <p:cNvSpPr txBox="1"/>
          <p:nvPr/>
        </p:nvSpPr>
        <p:spPr>
          <a:xfrm>
            <a:off x="658368"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85" name="Text 83"/>
          <p:cNvSpPr txBox="1"/>
          <p:nvPr/>
        </p:nvSpPr>
        <p:spPr>
          <a:xfrm>
            <a:off x="1014984"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6" name="Shape 84"/>
          <p:cNvSpPr/>
          <p:nvPr/>
        </p:nvSpPr>
        <p:spPr>
          <a:xfrm>
            <a:off x="2871216" y="5300434"/>
            <a:ext cx="44704" cy="193624"/>
          </a:xfrm>
          <a:prstGeom prst="rect">
            <a:avLst/>
          </a:prstGeom>
          <a:solidFill>
            <a:srgbClr val="12A566"/>
          </a:solidFill>
          <a:ln/>
        </p:spPr>
      </p:sp>
      <p:sp>
        <p:nvSpPr>
          <p:cNvPr id="87" name="Text 85"/>
          <p:cNvSpPr txBox="1"/>
          <p:nvPr/>
        </p:nvSpPr>
        <p:spPr>
          <a:xfrm>
            <a:off x="3026664"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8" name="Text 86"/>
          <p:cNvSpPr txBox="1"/>
          <p:nvPr/>
        </p:nvSpPr>
        <p:spPr>
          <a:xfrm>
            <a:off x="3813048"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4471416"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0" name="Text 88"/>
          <p:cNvSpPr txBox="1"/>
          <p:nvPr/>
        </p:nvSpPr>
        <p:spPr>
          <a:xfrm>
            <a:off x="5184648"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1" name="Text 89"/>
          <p:cNvSpPr txBox="1"/>
          <p:nvPr/>
        </p:nvSpPr>
        <p:spPr>
          <a:xfrm>
            <a:off x="658368" y="557326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2" name="Text 90"/>
          <p:cNvSpPr txBox="1"/>
          <p:nvPr/>
        </p:nvSpPr>
        <p:spPr>
          <a:xfrm>
            <a:off x="1014984" y="557326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2871216" y="5652478"/>
            <a:ext cx="44704" cy="193624"/>
          </a:xfrm>
          <a:prstGeom prst="rect">
            <a:avLst/>
          </a:prstGeom>
          <a:solidFill>
            <a:srgbClr val="12A566"/>
          </a:solidFill>
          <a:ln/>
        </p:spPr>
      </p:sp>
      <p:sp>
        <p:nvSpPr>
          <p:cNvPr id="94" name="Text 92"/>
          <p:cNvSpPr txBox="1"/>
          <p:nvPr/>
        </p:nvSpPr>
        <p:spPr>
          <a:xfrm>
            <a:off x="3026664" y="557326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95" name="Text 93"/>
          <p:cNvSpPr txBox="1"/>
          <p:nvPr/>
        </p:nvSpPr>
        <p:spPr>
          <a:xfrm>
            <a:off x="3813048" y="557326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96" name="Text 94"/>
          <p:cNvSpPr txBox="1"/>
          <p:nvPr/>
        </p:nvSpPr>
        <p:spPr>
          <a:xfrm>
            <a:off x="4471416" y="557326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5184648" y="557326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8" name="Text 96"/>
          <p:cNvSpPr txBox="1"/>
          <p:nvPr/>
        </p:nvSpPr>
        <p:spPr>
          <a:xfrm>
            <a:off x="6208776"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6565392"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0" name="Shape 98"/>
          <p:cNvSpPr/>
          <p:nvPr/>
        </p:nvSpPr>
        <p:spPr>
          <a:xfrm>
            <a:off x="8421624" y="1779994"/>
            <a:ext cx="44704" cy="193624"/>
          </a:xfrm>
          <a:prstGeom prst="rect">
            <a:avLst/>
          </a:prstGeom>
          <a:solidFill>
            <a:srgbClr val="12A566"/>
          </a:solidFill>
          <a:ln/>
        </p:spPr>
      </p:sp>
      <p:sp>
        <p:nvSpPr>
          <p:cNvPr id="101" name="Text 99"/>
          <p:cNvSpPr txBox="1"/>
          <p:nvPr/>
        </p:nvSpPr>
        <p:spPr>
          <a:xfrm>
            <a:off x="8577072"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2" name="Text 100"/>
          <p:cNvSpPr txBox="1"/>
          <p:nvPr/>
        </p:nvSpPr>
        <p:spPr>
          <a:xfrm>
            <a:off x="9363456"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10021824"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10735056"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6208776"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6" name="Text 104"/>
          <p:cNvSpPr txBox="1"/>
          <p:nvPr/>
        </p:nvSpPr>
        <p:spPr>
          <a:xfrm>
            <a:off x="6565392"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7" name="Shape 105"/>
          <p:cNvSpPr/>
          <p:nvPr/>
        </p:nvSpPr>
        <p:spPr>
          <a:xfrm>
            <a:off x="8421624" y="2132038"/>
            <a:ext cx="44704" cy="193624"/>
          </a:xfrm>
          <a:prstGeom prst="rect">
            <a:avLst/>
          </a:prstGeom>
          <a:solidFill>
            <a:srgbClr val="12A566"/>
          </a:solidFill>
          <a:ln/>
        </p:spPr>
      </p:sp>
      <p:sp>
        <p:nvSpPr>
          <p:cNvPr id="108" name="Text 106"/>
          <p:cNvSpPr txBox="1"/>
          <p:nvPr/>
        </p:nvSpPr>
        <p:spPr>
          <a:xfrm>
            <a:off x="8577072"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9" name="Text 107"/>
          <p:cNvSpPr txBox="1"/>
          <p:nvPr/>
        </p:nvSpPr>
        <p:spPr>
          <a:xfrm>
            <a:off x="9363456"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10" name="Text 108"/>
          <p:cNvSpPr txBox="1"/>
          <p:nvPr/>
        </p:nvSpPr>
        <p:spPr>
          <a:xfrm>
            <a:off x="10021824"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1" name="Text 109"/>
          <p:cNvSpPr txBox="1"/>
          <p:nvPr/>
        </p:nvSpPr>
        <p:spPr>
          <a:xfrm>
            <a:off x="10735056"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2" name="Text 110"/>
          <p:cNvSpPr txBox="1"/>
          <p:nvPr/>
        </p:nvSpPr>
        <p:spPr>
          <a:xfrm>
            <a:off x="6208776"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3" name="Text 111"/>
          <p:cNvSpPr txBox="1"/>
          <p:nvPr/>
        </p:nvSpPr>
        <p:spPr>
          <a:xfrm>
            <a:off x="6565392"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4" name="Shape 112"/>
          <p:cNvSpPr/>
          <p:nvPr/>
        </p:nvSpPr>
        <p:spPr>
          <a:xfrm>
            <a:off x="8421624" y="2484082"/>
            <a:ext cx="33528" cy="193624"/>
          </a:xfrm>
          <a:prstGeom prst="rect">
            <a:avLst/>
          </a:prstGeom>
          <a:solidFill>
            <a:srgbClr val="12A566"/>
          </a:solidFill>
          <a:ln/>
        </p:spPr>
      </p:sp>
      <p:sp>
        <p:nvSpPr>
          <p:cNvPr id="115" name="Text 113"/>
          <p:cNvSpPr txBox="1"/>
          <p:nvPr/>
        </p:nvSpPr>
        <p:spPr>
          <a:xfrm>
            <a:off x="8577072"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a:t>
            </a:r>
            <a:endParaRPr lang="en-US" sz="1300" dirty="0"/>
          </a:p>
        </p:txBody>
      </p:sp>
      <p:sp>
        <p:nvSpPr>
          <p:cNvPr id="116" name="Text 114"/>
          <p:cNvSpPr txBox="1"/>
          <p:nvPr/>
        </p:nvSpPr>
        <p:spPr>
          <a:xfrm>
            <a:off x="9363456"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7" name="Text 115"/>
          <p:cNvSpPr txBox="1"/>
          <p:nvPr/>
        </p:nvSpPr>
        <p:spPr>
          <a:xfrm>
            <a:off x="10021824"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18" name="Text 116"/>
          <p:cNvSpPr txBox="1"/>
          <p:nvPr/>
        </p:nvSpPr>
        <p:spPr>
          <a:xfrm>
            <a:off x="10735056"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19" name="Text 117"/>
          <p:cNvSpPr txBox="1"/>
          <p:nvPr/>
        </p:nvSpPr>
        <p:spPr>
          <a:xfrm>
            <a:off x="6208776"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20" name="Text 118"/>
          <p:cNvSpPr txBox="1"/>
          <p:nvPr/>
        </p:nvSpPr>
        <p:spPr>
          <a:xfrm>
            <a:off x="6565392"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421624" y="2836126"/>
            <a:ext cx="22352" cy="193624"/>
          </a:xfrm>
          <a:prstGeom prst="rect">
            <a:avLst/>
          </a:prstGeom>
          <a:solidFill>
            <a:srgbClr val="12A566"/>
          </a:solidFill>
          <a:ln/>
        </p:spPr>
      </p:sp>
      <p:sp>
        <p:nvSpPr>
          <p:cNvPr id="122" name="Text 120"/>
          <p:cNvSpPr txBox="1"/>
          <p:nvPr/>
        </p:nvSpPr>
        <p:spPr>
          <a:xfrm>
            <a:off x="8577072"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23" name="Text 121"/>
          <p:cNvSpPr txBox="1"/>
          <p:nvPr/>
        </p:nvSpPr>
        <p:spPr>
          <a:xfrm>
            <a:off x="9363456"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4" name="Text 122"/>
          <p:cNvSpPr txBox="1"/>
          <p:nvPr/>
        </p:nvSpPr>
        <p:spPr>
          <a:xfrm>
            <a:off x="10021824"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25" name="Text 123"/>
          <p:cNvSpPr txBox="1"/>
          <p:nvPr/>
        </p:nvSpPr>
        <p:spPr>
          <a:xfrm>
            <a:off x="10735056"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6" name="Text 124"/>
          <p:cNvSpPr txBox="1"/>
          <p:nvPr/>
        </p:nvSpPr>
        <p:spPr>
          <a:xfrm>
            <a:off x="6208776"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27" name="Text 125"/>
          <p:cNvSpPr txBox="1"/>
          <p:nvPr/>
        </p:nvSpPr>
        <p:spPr>
          <a:xfrm>
            <a:off x="6565392"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8" name="Shape 126"/>
          <p:cNvSpPr/>
          <p:nvPr/>
        </p:nvSpPr>
        <p:spPr>
          <a:xfrm>
            <a:off x="8421624" y="3188170"/>
            <a:ext cx="22352" cy="193624"/>
          </a:xfrm>
          <a:prstGeom prst="rect">
            <a:avLst/>
          </a:prstGeom>
          <a:solidFill>
            <a:srgbClr val="12A566"/>
          </a:solidFill>
          <a:ln/>
        </p:spPr>
      </p:sp>
      <p:sp>
        <p:nvSpPr>
          <p:cNvPr id="129" name="Text 127"/>
          <p:cNvSpPr txBox="1"/>
          <p:nvPr/>
        </p:nvSpPr>
        <p:spPr>
          <a:xfrm>
            <a:off x="8577072"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0" name="Text 128"/>
          <p:cNvSpPr txBox="1"/>
          <p:nvPr/>
        </p:nvSpPr>
        <p:spPr>
          <a:xfrm>
            <a:off x="9363456"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1" name="Text 129"/>
          <p:cNvSpPr txBox="1"/>
          <p:nvPr/>
        </p:nvSpPr>
        <p:spPr>
          <a:xfrm>
            <a:off x="10021824"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2" name="Text 130"/>
          <p:cNvSpPr txBox="1"/>
          <p:nvPr/>
        </p:nvSpPr>
        <p:spPr>
          <a:xfrm>
            <a:off x="10735056"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3" name="Text 131"/>
          <p:cNvSpPr txBox="1"/>
          <p:nvPr/>
        </p:nvSpPr>
        <p:spPr>
          <a:xfrm>
            <a:off x="6208776"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34" name="Text 132"/>
          <p:cNvSpPr txBox="1"/>
          <p:nvPr/>
        </p:nvSpPr>
        <p:spPr>
          <a:xfrm>
            <a:off x="6565392"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5" name="Shape 133"/>
          <p:cNvSpPr/>
          <p:nvPr/>
        </p:nvSpPr>
        <p:spPr>
          <a:xfrm>
            <a:off x="8421624" y="3540214"/>
            <a:ext cx="22352" cy="193624"/>
          </a:xfrm>
          <a:prstGeom prst="rect">
            <a:avLst/>
          </a:prstGeom>
          <a:solidFill>
            <a:srgbClr val="12A566"/>
          </a:solidFill>
          <a:ln/>
        </p:spPr>
      </p:sp>
      <p:sp>
        <p:nvSpPr>
          <p:cNvPr id="136" name="Text 134"/>
          <p:cNvSpPr txBox="1"/>
          <p:nvPr/>
        </p:nvSpPr>
        <p:spPr>
          <a:xfrm>
            <a:off x="8577072"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7" name="Text 135"/>
          <p:cNvSpPr txBox="1"/>
          <p:nvPr/>
        </p:nvSpPr>
        <p:spPr>
          <a:xfrm>
            <a:off x="9363456"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8" name="Text 136"/>
          <p:cNvSpPr txBox="1"/>
          <p:nvPr/>
        </p:nvSpPr>
        <p:spPr>
          <a:xfrm>
            <a:off x="10021824"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735056"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6208776"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41" name="Text 139"/>
          <p:cNvSpPr txBox="1"/>
          <p:nvPr/>
        </p:nvSpPr>
        <p:spPr>
          <a:xfrm>
            <a:off x="6565392"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2" name="Shape 140"/>
          <p:cNvSpPr/>
          <p:nvPr/>
        </p:nvSpPr>
        <p:spPr>
          <a:xfrm>
            <a:off x="8421624" y="3892258"/>
            <a:ext cx="22352" cy="193624"/>
          </a:xfrm>
          <a:prstGeom prst="rect">
            <a:avLst/>
          </a:prstGeom>
          <a:solidFill>
            <a:srgbClr val="12A566"/>
          </a:solidFill>
          <a:ln/>
        </p:spPr>
      </p:sp>
      <p:sp>
        <p:nvSpPr>
          <p:cNvPr id="143" name="Text 141"/>
          <p:cNvSpPr txBox="1"/>
          <p:nvPr/>
        </p:nvSpPr>
        <p:spPr>
          <a:xfrm>
            <a:off x="8577072"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44" name="Text 142"/>
          <p:cNvSpPr txBox="1"/>
          <p:nvPr/>
        </p:nvSpPr>
        <p:spPr>
          <a:xfrm>
            <a:off x="9363456"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5" name="Text 143"/>
          <p:cNvSpPr txBox="1"/>
          <p:nvPr/>
        </p:nvSpPr>
        <p:spPr>
          <a:xfrm>
            <a:off x="10021824"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735056"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6208776"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48" name="Text 146"/>
          <p:cNvSpPr txBox="1"/>
          <p:nvPr/>
        </p:nvSpPr>
        <p:spPr>
          <a:xfrm>
            <a:off x="6565392"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9" name="Shape 147"/>
          <p:cNvSpPr/>
          <p:nvPr/>
        </p:nvSpPr>
        <p:spPr>
          <a:xfrm>
            <a:off x="8421624" y="4244302"/>
            <a:ext cx="22352" cy="193624"/>
          </a:xfrm>
          <a:prstGeom prst="rect">
            <a:avLst/>
          </a:prstGeom>
          <a:solidFill>
            <a:srgbClr val="12A566"/>
          </a:solidFill>
          <a:ln/>
        </p:spPr>
      </p:sp>
      <p:sp>
        <p:nvSpPr>
          <p:cNvPr id="150" name="Text 148"/>
          <p:cNvSpPr txBox="1"/>
          <p:nvPr/>
        </p:nvSpPr>
        <p:spPr>
          <a:xfrm>
            <a:off x="8577072"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1" name="Text 149"/>
          <p:cNvSpPr txBox="1"/>
          <p:nvPr/>
        </p:nvSpPr>
        <p:spPr>
          <a:xfrm>
            <a:off x="9363456"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2" name="Text 150"/>
          <p:cNvSpPr txBox="1"/>
          <p:nvPr/>
        </p:nvSpPr>
        <p:spPr>
          <a:xfrm>
            <a:off x="10021824"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53" name="Text 151"/>
          <p:cNvSpPr txBox="1"/>
          <p:nvPr/>
        </p:nvSpPr>
        <p:spPr>
          <a:xfrm>
            <a:off x="10735056"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4" name="Text 152"/>
          <p:cNvSpPr txBox="1"/>
          <p:nvPr/>
        </p:nvSpPr>
        <p:spPr>
          <a:xfrm>
            <a:off x="6208776"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55" name="Text 153"/>
          <p:cNvSpPr txBox="1"/>
          <p:nvPr/>
        </p:nvSpPr>
        <p:spPr>
          <a:xfrm>
            <a:off x="6565392"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6" name="Shape 154"/>
          <p:cNvSpPr/>
          <p:nvPr/>
        </p:nvSpPr>
        <p:spPr>
          <a:xfrm>
            <a:off x="8421624" y="4596346"/>
            <a:ext cx="22352" cy="193624"/>
          </a:xfrm>
          <a:prstGeom prst="rect">
            <a:avLst/>
          </a:prstGeom>
          <a:solidFill>
            <a:srgbClr val="12A566"/>
          </a:solidFill>
          <a:ln/>
        </p:spPr>
      </p:sp>
      <p:sp>
        <p:nvSpPr>
          <p:cNvPr id="157" name="Text 155"/>
          <p:cNvSpPr txBox="1"/>
          <p:nvPr/>
        </p:nvSpPr>
        <p:spPr>
          <a:xfrm>
            <a:off x="8577072"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8" name="Text 156"/>
          <p:cNvSpPr txBox="1"/>
          <p:nvPr/>
        </p:nvSpPr>
        <p:spPr>
          <a:xfrm>
            <a:off x="9363456"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59" name="Text 157"/>
          <p:cNvSpPr txBox="1"/>
          <p:nvPr/>
        </p:nvSpPr>
        <p:spPr>
          <a:xfrm>
            <a:off x="10021824"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0" name="Text 158"/>
          <p:cNvSpPr txBox="1"/>
          <p:nvPr/>
        </p:nvSpPr>
        <p:spPr>
          <a:xfrm>
            <a:off x="10735056"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6208776"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62" name="Text 160"/>
          <p:cNvSpPr txBox="1"/>
          <p:nvPr/>
        </p:nvSpPr>
        <p:spPr>
          <a:xfrm>
            <a:off x="6565392"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421624" y="4948390"/>
            <a:ext cx="18288" cy="193624"/>
          </a:xfrm>
          <a:prstGeom prst="rect">
            <a:avLst/>
          </a:prstGeom>
          <a:solidFill>
            <a:srgbClr val="12A566"/>
          </a:solidFill>
          <a:ln/>
        </p:spPr>
      </p:sp>
      <p:sp>
        <p:nvSpPr>
          <p:cNvPr id="164" name="Text 162"/>
          <p:cNvSpPr txBox="1"/>
          <p:nvPr/>
        </p:nvSpPr>
        <p:spPr>
          <a:xfrm>
            <a:off x="8577072"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65" name="Text 163"/>
          <p:cNvSpPr txBox="1"/>
          <p:nvPr/>
        </p:nvSpPr>
        <p:spPr>
          <a:xfrm>
            <a:off x="9363456"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6" name="Text 164"/>
          <p:cNvSpPr txBox="1"/>
          <p:nvPr/>
        </p:nvSpPr>
        <p:spPr>
          <a:xfrm>
            <a:off x="10021824"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7" name="Text 165"/>
          <p:cNvSpPr txBox="1"/>
          <p:nvPr/>
        </p:nvSpPr>
        <p:spPr>
          <a:xfrm>
            <a:off x="10735056"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68" name="Text 166"/>
          <p:cNvSpPr txBox="1"/>
          <p:nvPr/>
        </p:nvSpPr>
        <p:spPr>
          <a:xfrm>
            <a:off x="6208776"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69" name="Text 167"/>
          <p:cNvSpPr txBox="1"/>
          <p:nvPr/>
        </p:nvSpPr>
        <p:spPr>
          <a:xfrm>
            <a:off x="6565392"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0" name="Shape 168"/>
          <p:cNvSpPr/>
          <p:nvPr/>
        </p:nvSpPr>
        <p:spPr>
          <a:xfrm>
            <a:off x="8421624" y="5300434"/>
            <a:ext cx="18288" cy="193624"/>
          </a:xfrm>
          <a:prstGeom prst="rect">
            <a:avLst/>
          </a:prstGeom>
          <a:solidFill>
            <a:srgbClr val="12A566"/>
          </a:solidFill>
          <a:ln/>
        </p:spPr>
      </p:sp>
      <p:sp>
        <p:nvSpPr>
          <p:cNvPr id="171" name="Text 169"/>
          <p:cNvSpPr txBox="1"/>
          <p:nvPr/>
        </p:nvSpPr>
        <p:spPr>
          <a:xfrm>
            <a:off x="8577072"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72" name="Text 170"/>
          <p:cNvSpPr txBox="1"/>
          <p:nvPr/>
        </p:nvSpPr>
        <p:spPr>
          <a:xfrm>
            <a:off x="9363456"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73" name="Text 171"/>
          <p:cNvSpPr txBox="1"/>
          <p:nvPr/>
        </p:nvSpPr>
        <p:spPr>
          <a:xfrm>
            <a:off x="10021824"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4" name="Text 172"/>
          <p:cNvSpPr txBox="1"/>
          <p:nvPr/>
        </p:nvSpPr>
        <p:spPr>
          <a:xfrm>
            <a:off x="10735056"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5" name="Shape 173"/>
          <p:cNvSpPr/>
          <p:nvPr/>
        </p:nvSpPr>
        <p:spPr>
          <a:xfrm>
            <a:off x="6085332" y="1700784"/>
            <a:ext cx="10973" cy="4224528"/>
          </a:xfrm>
          <a:prstGeom prst="rect">
            <a:avLst/>
          </a:prstGeom>
          <a:solidFill>
            <a:srgbClr val="D9D9D9"/>
          </a:solidFill>
          <a:ln/>
        </p:spPr>
      </p:sp>
      <p:sp>
        <p:nvSpPr>
          <p:cNvPr id="177" name="Shape 174"/>
          <p:cNvSpPr/>
          <p:nvPr/>
        </p:nvSpPr>
        <p:spPr>
          <a:xfrm>
            <a:off x="457200" y="6126480"/>
            <a:ext cx="11274552" cy="371856"/>
          </a:xfrm>
          <a:prstGeom prst="rect">
            <a:avLst/>
          </a:prstGeom>
          <a:solidFill>
            <a:srgbClr val="E6F6EE"/>
          </a:solidFill>
          <a:ln/>
        </p:spPr>
      </p:sp>
      <p:sp>
        <p:nvSpPr>
          <p:cNvPr id="178" name="Text 17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stores set 98 all-time monthly records in 2026.</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5234940" cy="45720"/>
          </a:xfrm>
          <a:prstGeom prst="rect">
            <a:avLst/>
          </a:prstGeom>
          <a:solidFill>
            <a:srgbClr val="12A566"/>
          </a:solidFill>
          <a:ln/>
        </p:spPr>
      </p:sp>
      <p:sp>
        <p:nvSpPr>
          <p:cNvPr id="7" name="Text 5"/>
          <p:cNvSpPr txBox="1"/>
          <p:nvPr/>
        </p:nvSpPr>
        <p:spPr>
          <a:xfrm>
            <a:off x="749808" y="1463040"/>
            <a:ext cx="4549140" cy="292608"/>
          </a:xfrm>
          <a:prstGeom prst="rect">
            <a:avLst/>
          </a:prstGeom>
          <a:noFill/>
          <a:ln/>
        </p:spPr>
        <p:txBody>
          <a:bodyPr wrap="none" lIns="0" tIns="0" rIns="0" bIns="0" rtlCol="0" anchor="ctr"/>
          <a:lstStyle/>
          <a:p>
            <a:pPr indent="0" marL="0">
              <a:buNone/>
            </a:pPr>
            <a:r>
              <a:rPr lang="en-US" sz="1500" b="1" spc="40" kern="0" dirty="0">
                <a:solidFill>
                  <a:srgbClr val="0B7A4A"/>
                </a:solidFill>
                <a:latin typeface="Inter" pitchFamily="34" charset="0"/>
                <a:ea typeface="Inter" pitchFamily="34" charset="-122"/>
                <a:cs typeface="Inter" pitchFamily="34" charset="-120"/>
              </a:rPr>
              <a:t>GROSS AND NET PROFIT</a:t>
            </a:r>
            <a:endParaRPr lang="en-US" sz="1500" dirty="0"/>
          </a:p>
        </p:txBody>
      </p:sp>
      <p:sp>
        <p:nvSpPr>
          <p:cNvPr id="8" name="Text 6"/>
          <p:cNvSpPr txBox="1"/>
          <p:nvPr/>
        </p:nvSpPr>
        <p:spPr>
          <a:xfrm>
            <a:off x="5326380" y="1408176"/>
            <a:ext cx="502920" cy="402336"/>
          </a:xfrm>
          <a:prstGeom prst="rect">
            <a:avLst/>
          </a:prstGeom>
          <a:noFill/>
          <a:ln/>
        </p:spPr>
        <p:txBody>
          <a:bodyPr wrap="square" lIns="0" tIns="0" rIns="0" bIns="0" rtlCol="0" anchor="ctr"/>
          <a:lstStyle/>
          <a:p>
            <a:pPr algn="r" indent="0" marL="0">
              <a:buNone/>
            </a:pPr>
            <a:r>
              <a:rPr lang="en-US" sz="2600" b="1" dirty="0">
                <a:solidFill>
                  <a:srgbClr val="0B7A4A"/>
                </a:solidFill>
                <a:latin typeface="Inter" pitchFamily="34" charset="0"/>
                <a:ea typeface="Inter" pitchFamily="34" charset="-122"/>
                <a:cs typeface="Inter" pitchFamily="34" charset="-120"/>
              </a:rPr>
              <a:t>18</a:t>
            </a:r>
            <a:endParaRPr lang="en-US" sz="2600" dirty="0"/>
          </a:p>
        </p:txBody>
      </p:sp>
      <p:sp>
        <p:nvSpPr>
          <p:cNvPr id="9" name="Text 7"/>
          <p:cNvSpPr txBox="1"/>
          <p:nvPr/>
        </p:nvSpPr>
        <p:spPr>
          <a:xfrm>
            <a:off x="749808" y="1920240"/>
            <a:ext cx="2526030" cy="3977640"/>
          </a:xfrm>
          <a:prstGeom prst="rect">
            <a:avLst/>
          </a:prstGeom>
          <a:noFill/>
          <a:ln/>
        </p:spPr>
        <p:txBody>
          <a:bodyPr wrap="square" lIns="0" tIns="0" rIns="0" bIns="0" rtlCol="0" anchor="t"/>
          <a:lstStyle/>
          <a:p>
            <a:pPr indent="0" marL="0">
              <a:spcAft>
                <a:spcPts val="300"/>
              </a:spcAft>
              <a:buNone/>
            </a:pPr>
            <a:r>
              <a:rPr lang="en-US" sz="1400"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CADILLAC</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KIA LV</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LEXUS</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LINCOLN</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LR HENDERSON</a:t>
            </a:r>
            <a:endParaRPr lang="en-US" sz="1400" dirty="0"/>
          </a:p>
        </p:txBody>
      </p:sp>
      <p:sp>
        <p:nvSpPr>
          <p:cNvPr id="10" name="Text 8"/>
          <p:cNvSpPr txBox="1"/>
          <p:nvPr/>
        </p:nvSpPr>
        <p:spPr>
          <a:xfrm>
            <a:off x="3275838" y="1920240"/>
            <a:ext cx="2526030" cy="3977640"/>
          </a:xfrm>
          <a:prstGeom prst="rect">
            <a:avLst/>
          </a:prstGeom>
          <a:noFill/>
          <a:ln/>
        </p:spPr>
        <p:txBody>
          <a:bodyPr wrap="square" lIns="0" tIns="0" rIns="0" bIns="0" rtlCol="0" anchor="t"/>
          <a:lstStyle/>
          <a:p>
            <a:pPr indent="0" marL="0">
              <a:spcAft>
                <a:spcPts val="300"/>
              </a:spcAft>
              <a:buNone/>
            </a:pPr>
            <a:r>
              <a:rPr lang="en-US" sz="1400" dirty="0">
                <a:solidFill>
                  <a:srgbClr val="1A1A1A"/>
                </a:solidFill>
                <a:latin typeface="Inter" pitchFamily="34" charset="0"/>
                <a:ea typeface="Inter" pitchFamily="34" charset="-122"/>
                <a:cs typeface="Inter" pitchFamily="34" charset="-120"/>
              </a:rPr>
              <a:t>LR LV</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LR RENO</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NISSAN</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VOLVO</a:t>
            </a:r>
            <a:endParaRPr lang="en-US" sz="1400" dirty="0"/>
          </a:p>
        </p:txBody>
      </p:sp>
      <p:sp>
        <p:nvSpPr>
          <p:cNvPr id="11" name="Shape 9"/>
          <p:cNvSpPr/>
          <p:nvPr/>
        </p:nvSpPr>
        <p:spPr>
          <a:xfrm>
            <a:off x="6094476" y="1371600"/>
            <a:ext cx="2617470" cy="45720"/>
          </a:xfrm>
          <a:prstGeom prst="rect">
            <a:avLst/>
          </a:prstGeom>
          <a:solidFill>
            <a:srgbClr val="2587C5"/>
          </a:solidFill>
          <a:ln/>
        </p:spPr>
      </p:sp>
      <p:sp>
        <p:nvSpPr>
          <p:cNvPr id="12" name="Text 10"/>
          <p:cNvSpPr txBox="1"/>
          <p:nvPr/>
        </p:nvSpPr>
        <p:spPr>
          <a:xfrm>
            <a:off x="6185916" y="1463040"/>
            <a:ext cx="1931670" cy="292608"/>
          </a:xfrm>
          <a:prstGeom prst="rect">
            <a:avLst/>
          </a:prstGeom>
          <a:noFill/>
          <a:ln/>
        </p:spPr>
        <p:txBody>
          <a:bodyPr wrap="none" lIns="0" tIns="0" rIns="0" bIns="0" rtlCol="0" anchor="ctr"/>
          <a:lstStyle/>
          <a:p>
            <a:pPr indent="0" marL="0">
              <a:buNone/>
            </a:pPr>
            <a:r>
              <a:rPr lang="en-US" sz="1500" b="1" spc="40" kern="0" dirty="0">
                <a:solidFill>
                  <a:srgbClr val="0B2C4A"/>
                </a:solidFill>
                <a:latin typeface="Inter" pitchFamily="34" charset="0"/>
                <a:ea typeface="Inter" pitchFamily="34" charset="-122"/>
                <a:cs typeface="Inter" pitchFamily="34" charset="-120"/>
              </a:rPr>
              <a:t>GROSS PROFIT ONLY</a:t>
            </a:r>
            <a:endParaRPr lang="en-US" sz="1500" dirty="0"/>
          </a:p>
        </p:txBody>
      </p:sp>
      <p:sp>
        <p:nvSpPr>
          <p:cNvPr id="13" name="Shape 11"/>
          <p:cNvSpPr/>
          <p:nvPr/>
        </p:nvSpPr>
        <p:spPr>
          <a:xfrm>
            <a:off x="5993892" y="1371600"/>
            <a:ext cx="0" cy="4526280"/>
          </a:xfrm>
          <a:prstGeom prst="line">
            <a:avLst/>
          </a:prstGeom>
          <a:noFill/>
          <a:ln w="9525">
            <a:solidFill>
              <a:srgbClr val="BFBFBF"/>
            </a:solidFill>
            <a:prstDash val="solid"/>
          </a:ln>
        </p:spPr>
      </p:sp>
      <p:sp>
        <p:nvSpPr>
          <p:cNvPr id="14" name="Text 12"/>
          <p:cNvSpPr txBox="1"/>
          <p:nvPr/>
        </p:nvSpPr>
        <p:spPr>
          <a:xfrm>
            <a:off x="8145018" y="1408176"/>
            <a:ext cx="502920" cy="402336"/>
          </a:xfrm>
          <a:prstGeom prst="rect">
            <a:avLst/>
          </a:prstGeom>
          <a:noFill/>
          <a:ln/>
        </p:spPr>
        <p:txBody>
          <a:bodyPr wrap="square" lIns="0" tIns="0" rIns="0" bIns="0" rtlCol="0" anchor="ctr"/>
          <a:lstStyle/>
          <a:p>
            <a:pPr algn="r" indent="0" marL="0">
              <a:buNone/>
            </a:pPr>
            <a:r>
              <a:rPr lang="en-US" sz="2600" b="1" dirty="0">
                <a:solidFill>
                  <a:srgbClr val="0B2C4A"/>
                </a:solidFill>
                <a:latin typeface="Inter" pitchFamily="34" charset="0"/>
                <a:ea typeface="Inter" pitchFamily="34" charset="-122"/>
                <a:cs typeface="Inter" pitchFamily="34" charset="-120"/>
              </a:rPr>
              <a:t>7</a:t>
            </a:r>
            <a:endParaRPr lang="en-US" sz="2600" dirty="0"/>
          </a:p>
        </p:txBody>
      </p:sp>
      <p:sp>
        <p:nvSpPr>
          <p:cNvPr id="15" name="Text 13"/>
          <p:cNvSpPr txBox="1"/>
          <p:nvPr/>
        </p:nvSpPr>
        <p:spPr>
          <a:xfrm>
            <a:off x="6185916" y="1920240"/>
            <a:ext cx="2434590" cy="3977640"/>
          </a:xfrm>
          <a:prstGeom prst="rect">
            <a:avLst/>
          </a:prstGeom>
          <a:noFill/>
          <a:ln/>
        </p:spPr>
        <p:txBody>
          <a:bodyPr wrap="square" lIns="0" tIns="0" rIns="0" bIns="0" rtlCol="0" anchor="t"/>
          <a:lstStyle/>
          <a:p>
            <a:pPr indent="0" marL="0">
              <a:spcAft>
                <a:spcPts val="300"/>
              </a:spcAft>
              <a:buNone/>
            </a:pPr>
            <a:r>
              <a:rPr lang="en-US" sz="1400"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MAZDA</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TOYOTA SPOKANE</a:t>
            </a:r>
            <a:endParaRPr lang="en-US" sz="1400" dirty="0"/>
          </a:p>
        </p:txBody>
      </p:sp>
      <p:sp>
        <p:nvSpPr>
          <p:cNvPr id="16" name="Shape 14"/>
          <p:cNvSpPr/>
          <p:nvPr/>
        </p:nvSpPr>
        <p:spPr>
          <a:xfrm>
            <a:off x="8913114" y="1371600"/>
            <a:ext cx="2617470" cy="45720"/>
          </a:xfrm>
          <a:prstGeom prst="rect">
            <a:avLst/>
          </a:prstGeom>
          <a:solidFill>
            <a:srgbClr val="2587C5"/>
          </a:solidFill>
          <a:ln/>
        </p:spPr>
      </p:sp>
      <p:sp>
        <p:nvSpPr>
          <p:cNvPr id="17" name="Text 15"/>
          <p:cNvSpPr txBox="1"/>
          <p:nvPr/>
        </p:nvSpPr>
        <p:spPr>
          <a:xfrm>
            <a:off x="9004554" y="1463040"/>
            <a:ext cx="1931670" cy="292608"/>
          </a:xfrm>
          <a:prstGeom prst="rect">
            <a:avLst/>
          </a:prstGeom>
          <a:noFill/>
          <a:ln/>
        </p:spPr>
        <p:txBody>
          <a:bodyPr wrap="none" lIns="0" tIns="0" rIns="0" bIns="0" rtlCol="0" anchor="ctr"/>
          <a:lstStyle/>
          <a:p>
            <a:pPr indent="0" marL="0">
              <a:buNone/>
            </a:pPr>
            <a:r>
              <a:rPr lang="en-US" sz="1500" b="1" spc="40" kern="0" dirty="0">
                <a:solidFill>
                  <a:srgbClr val="0B2C4A"/>
                </a:solidFill>
                <a:latin typeface="Inter" pitchFamily="34" charset="0"/>
                <a:ea typeface="Inter" pitchFamily="34" charset="-122"/>
                <a:cs typeface="Inter" pitchFamily="34" charset="-120"/>
              </a:rPr>
              <a:t>NET PROFIT ONLY</a:t>
            </a:r>
            <a:endParaRPr lang="en-US" sz="1500" dirty="0"/>
          </a:p>
        </p:txBody>
      </p:sp>
      <p:sp>
        <p:nvSpPr>
          <p:cNvPr id="18" name="Shape 16"/>
          <p:cNvSpPr/>
          <p:nvPr/>
        </p:nvSpPr>
        <p:spPr>
          <a:xfrm>
            <a:off x="8812530" y="1371600"/>
            <a:ext cx="0" cy="4526280"/>
          </a:xfrm>
          <a:prstGeom prst="line">
            <a:avLst/>
          </a:prstGeom>
          <a:noFill/>
          <a:ln w="9525">
            <a:solidFill>
              <a:srgbClr val="BFBFBF"/>
            </a:solidFill>
            <a:prstDash val="solid"/>
          </a:ln>
        </p:spPr>
      </p:sp>
      <p:sp>
        <p:nvSpPr>
          <p:cNvPr id="19" name="Text 17"/>
          <p:cNvSpPr txBox="1"/>
          <p:nvPr/>
        </p:nvSpPr>
        <p:spPr>
          <a:xfrm>
            <a:off x="10963656" y="1408176"/>
            <a:ext cx="502920" cy="402336"/>
          </a:xfrm>
          <a:prstGeom prst="rect">
            <a:avLst/>
          </a:prstGeom>
          <a:noFill/>
          <a:ln/>
        </p:spPr>
        <p:txBody>
          <a:bodyPr wrap="square" lIns="0" tIns="0" rIns="0" bIns="0" rtlCol="0" anchor="ctr"/>
          <a:lstStyle/>
          <a:p>
            <a:pPr algn="r" indent="0" marL="0">
              <a:buNone/>
            </a:pPr>
            <a:r>
              <a:rPr lang="en-US" sz="2600" b="1" dirty="0">
                <a:solidFill>
                  <a:srgbClr val="0B2C4A"/>
                </a:solidFill>
                <a:latin typeface="Inter" pitchFamily="34" charset="0"/>
                <a:ea typeface="Inter" pitchFamily="34" charset="-122"/>
                <a:cs typeface="Inter" pitchFamily="34" charset="-120"/>
              </a:rPr>
              <a:t>3</a:t>
            </a:r>
            <a:endParaRPr lang="en-US" sz="2600" dirty="0"/>
          </a:p>
        </p:txBody>
      </p:sp>
      <p:sp>
        <p:nvSpPr>
          <p:cNvPr id="20" name="Text 18"/>
          <p:cNvSpPr txBox="1"/>
          <p:nvPr/>
        </p:nvSpPr>
        <p:spPr>
          <a:xfrm>
            <a:off x="9004554" y="1920240"/>
            <a:ext cx="2434590" cy="3977640"/>
          </a:xfrm>
          <a:prstGeom prst="rect">
            <a:avLst/>
          </a:prstGeom>
          <a:noFill/>
          <a:ln/>
        </p:spPr>
        <p:txBody>
          <a:bodyPr wrap="square" lIns="0" tIns="0" rIns="0" bIns="0" rtlCol="0" anchor="t"/>
          <a:lstStyle/>
          <a:p>
            <a:pPr indent="0" marL="0">
              <a:spcAft>
                <a:spcPts val="300"/>
              </a:spcAft>
              <a:buNone/>
            </a:pPr>
            <a:r>
              <a:rPr lang="en-US" sz="1400" dirty="0">
                <a:solidFill>
                  <a:srgbClr val="1A1A1A"/>
                </a:solidFill>
                <a:latin typeface="Inter" pitchFamily="34" charset="0"/>
                <a:ea typeface="Inter" pitchFamily="34" charset="-122"/>
                <a:cs typeface="Inter" pitchFamily="34" charset="-120"/>
              </a:rPr>
              <a:t>ACURA</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SUBARU LV</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stores set a January–September record in gross profit and 21 in net profit; 18 did both.</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+$829,841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gross than 2025, on average, every month January through September.</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E6F6EE"/>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+$7,468,567 (4.1%) year to date; 6 of nine months ahead of 2025, largest gain in September, +$2,098,497.</a:t>
            </a:r>
            <a:endParaRPr lang="en-US" sz="15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339226"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6745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98871"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815948"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77681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97445"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534720"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9804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80108"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1121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8774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87152"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316010"/>
            <a:ext cx="36671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577420"/>
            <a:ext cx="36170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6099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338585"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7669"/>
            <a:ext cx="335529"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3167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8760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84566"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7651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67522"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4137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3418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21856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18908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184970"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793188"/>
            <a:ext cx="1837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7870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2886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24271"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83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a:t>
            </a:r>
            <a:endParaRPr lang="en-US" sz="16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3 VS LAST YEAR</a:t>
            </a:r>
            <a:endParaRPr lang="en-US" sz="1500" dirty="0"/>
          </a:p>
        </p:txBody>
      </p:sp>
      <p:sp>
        <p:nvSpPr>
          <p:cNvPr id="9" name="Shape 7"/>
          <p:cNvSpPr/>
          <p:nvPr/>
        </p:nvSpPr>
        <p:spPr>
          <a:xfrm>
            <a:off x="658368" y="1810512"/>
            <a:ext cx="3489960" cy="1478280"/>
          </a:xfrm>
          <a:prstGeom prst="rect">
            <a:avLst/>
          </a:prstGeom>
          <a:solidFill>
            <a:srgbClr val="F7F7F7"/>
          </a:solidFill>
          <a:ln/>
        </p:spPr>
      </p:sp>
      <p:sp>
        <p:nvSpPr>
          <p:cNvPr id="10" name="Text 8"/>
          <p:cNvSpPr txBox="1"/>
          <p:nvPr/>
        </p:nvSpPr>
        <p:spPr>
          <a:xfrm>
            <a:off x="749808"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11" name="Text 9"/>
          <p:cNvSpPr txBox="1"/>
          <p:nvPr/>
        </p:nvSpPr>
        <p:spPr>
          <a:xfrm>
            <a:off x="1097280"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graphicFrame>
        <p:nvGraphicFramePr>
          <p:cNvPr id="12" name="Chart 0" descr=""/>
          <p:cNvGraphicFramePr/>
          <p:nvPr/>
        </p:nvGraphicFramePr>
        <p:xfrm>
          <a:off x="1097280" y="2697480"/>
          <a:ext cx="1972056" cy="502615"/>
        </p:xfrm>
        <a:graphic>
          <a:graphicData uri="http://schemas.openxmlformats.org/drawingml/2006/chart">
            <c:chart xmlns:c="http://schemas.openxmlformats.org/drawingml/2006/chart" r:id="rId2"/>
          </a:graphicData>
        </a:graphic>
      </p:graphicFrame>
      <p:sp>
        <p:nvSpPr>
          <p:cNvPr id="13" name="Text 10"/>
          <p:cNvSpPr txBox="1"/>
          <p:nvPr/>
        </p:nvSpPr>
        <p:spPr>
          <a:xfrm>
            <a:off x="3160776" y="225399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1"/>
          <p:cNvSpPr txBox="1"/>
          <p:nvPr/>
        </p:nvSpPr>
        <p:spPr>
          <a:xfrm>
            <a:off x="3160776"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+$404K</a:t>
            </a:r>
            <a:endParaRPr lang="en-US" sz="1300" dirty="0"/>
          </a:p>
        </p:txBody>
      </p:sp>
      <p:sp>
        <p:nvSpPr>
          <p:cNvPr id="15" name="Text 12"/>
          <p:cNvSpPr txBox="1"/>
          <p:nvPr/>
        </p:nvSpPr>
        <p:spPr>
          <a:xfrm>
            <a:off x="749808"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16" name="Text 13"/>
          <p:cNvSpPr txBox="1"/>
          <p:nvPr/>
        </p:nvSpPr>
        <p:spPr>
          <a:xfrm>
            <a:off x="1097280"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graphicFrame>
        <p:nvGraphicFramePr>
          <p:cNvPr id="17" name="Chart 1" descr=""/>
          <p:cNvGraphicFramePr/>
          <p:nvPr/>
        </p:nvGraphicFramePr>
        <p:xfrm>
          <a:off x="1097280" y="4175760"/>
          <a:ext cx="1972056" cy="502615"/>
        </p:xfrm>
        <a:graphic>
          <a:graphicData uri="http://schemas.openxmlformats.org/drawingml/2006/chart">
            <c:chart xmlns:c="http://schemas.openxmlformats.org/drawingml/2006/chart" r:id="rId3"/>
          </a:graphicData>
        </a:graphic>
      </p:graphicFrame>
      <p:sp>
        <p:nvSpPr>
          <p:cNvPr id="18" name="Text 14"/>
          <p:cNvSpPr txBox="1"/>
          <p:nvPr/>
        </p:nvSpPr>
        <p:spPr>
          <a:xfrm>
            <a:off x="3160776" y="373227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9" name="Text 15"/>
          <p:cNvSpPr txBox="1"/>
          <p:nvPr/>
        </p:nvSpPr>
        <p:spPr>
          <a:xfrm>
            <a:off x="3160776"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+$717K</a:t>
            </a:r>
            <a:endParaRPr lang="en-US" sz="1300" dirty="0"/>
          </a:p>
        </p:txBody>
      </p:sp>
      <p:sp>
        <p:nvSpPr>
          <p:cNvPr id="20" name="Shape 16"/>
          <p:cNvSpPr/>
          <p:nvPr/>
        </p:nvSpPr>
        <p:spPr>
          <a:xfrm>
            <a:off x="658368" y="4767072"/>
            <a:ext cx="3489960" cy="1478280"/>
          </a:xfrm>
          <a:prstGeom prst="rect">
            <a:avLst/>
          </a:prstGeom>
          <a:solidFill>
            <a:srgbClr val="F7F7F7"/>
          </a:solidFill>
          <a:ln/>
        </p:spPr>
      </p:sp>
      <p:sp>
        <p:nvSpPr>
          <p:cNvPr id="21" name="Text 17"/>
          <p:cNvSpPr txBox="1"/>
          <p:nvPr/>
        </p:nvSpPr>
        <p:spPr>
          <a:xfrm>
            <a:off x="749808"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22" name="Text 18"/>
          <p:cNvSpPr txBox="1"/>
          <p:nvPr/>
        </p:nvSpPr>
        <p:spPr>
          <a:xfrm>
            <a:off x="1097280"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graphicFrame>
        <p:nvGraphicFramePr>
          <p:cNvPr id="23" name="Chart 2" descr=""/>
          <p:cNvGraphicFramePr/>
          <p:nvPr/>
        </p:nvGraphicFramePr>
        <p:xfrm>
          <a:off x="1097280" y="5654040"/>
          <a:ext cx="1972056" cy="502615"/>
        </p:xfrm>
        <a:graphic>
          <a:graphicData uri="http://schemas.openxmlformats.org/drawingml/2006/chart">
            <c:chart xmlns:c="http://schemas.openxmlformats.org/drawingml/2006/chart" r:id="rId4"/>
          </a:graphicData>
        </a:graphic>
      </p:graphicFrame>
      <p:sp>
        <p:nvSpPr>
          <p:cNvPr id="24" name="Text 19"/>
          <p:cNvSpPr txBox="1"/>
          <p:nvPr/>
        </p:nvSpPr>
        <p:spPr>
          <a:xfrm>
            <a:off x="3160776" y="521055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5" name="Text 20"/>
          <p:cNvSpPr txBox="1"/>
          <p:nvPr/>
        </p:nvSpPr>
        <p:spPr>
          <a:xfrm>
            <a:off x="3160776"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+$764K</a:t>
            </a:r>
            <a:endParaRPr lang="en-US" sz="1300" dirty="0"/>
          </a:p>
        </p:txBody>
      </p:sp>
      <p:sp>
        <p:nvSpPr>
          <p:cNvPr id="26" name="Shape 21"/>
          <p:cNvSpPr/>
          <p:nvPr/>
        </p:nvSpPr>
        <p:spPr>
          <a:xfrm>
            <a:off x="4349496" y="1371600"/>
            <a:ext cx="3489960" cy="45720"/>
          </a:xfrm>
          <a:prstGeom prst="rect">
            <a:avLst/>
          </a:prstGeom>
          <a:solidFill>
            <a:srgbClr val="C2352F"/>
          </a:solidFill>
          <a:ln/>
        </p:spPr>
      </p:sp>
      <p:sp>
        <p:nvSpPr>
          <p:cNvPr id="27" name="Text 2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3 VS LAST YEAR</a:t>
            </a:r>
            <a:endParaRPr lang="en-US" sz="1500" dirty="0"/>
          </a:p>
        </p:txBody>
      </p:sp>
      <p:sp>
        <p:nvSpPr>
          <p:cNvPr id="28" name="Shape 23"/>
          <p:cNvSpPr/>
          <p:nvPr/>
        </p:nvSpPr>
        <p:spPr>
          <a:xfrm>
            <a:off x="4349496" y="1810512"/>
            <a:ext cx="3489960" cy="1478280"/>
          </a:xfrm>
          <a:prstGeom prst="rect">
            <a:avLst/>
          </a:prstGeom>
          <a:solidFill>
            <a:srgbClr val="F7F7F7"/>
          </a:solidFill>
          <a:ln/>
        </p:spPr>
      </p:sp>
      <p:sp>
        <p:nvSpPr>
          <p:cNvPr id="29" name="Text 24"/>
          <p:cNvSpPr txBox="1"/>
          <p:nvPr/>
        </p:nvSpPr>
        <p:spPr>
          <a:xfrm>
            <a:off x="4440936"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33</a:t>
            </a:r>
            <a:endParaRPr lang="en-US" sz="2000" dirty="0"/>
          </a:p>
        </p:txBody>
      </p:sp>
      <p:sp>
        <p:nvSpPr>
          <p:cNvPr id="30" name="Text 25"/>
          <p:cNvSpPr txBox="1"/>
          <p:nvPr/>
        </p:nvSpPr>
        <p:spPr>
          <a:xfrm>
            <a:off x="4788408"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graphicFrame>
        <p:nvGraphicFramePr>
          <p:cNvPr id="31" name="Chart 3" descr=""/>
          <p:cNvGraphicFramePr/>
          <p:nvPr/>
        </p:nvGraphicFramePr>
        <p:xfrm>
          <a:off x="4788408" y="2697480"/>
          <a:ext cx="1972056" cy="502615"/>
        </p:xfrm>
        <a:graphic>
          <a:graphicData uri="http://schemas.openxmlformats.org/drawingml/2006/chart">
            <c:chart xmlns:c="http://schemas.openxmlformats.org/drawingml/2006/chart" r:id="rId5"/>
          </a:graphicData>
        </a:graphic>
      </p:graphicFrame>
      <p:sp>
        <p:nvSpPr>
          <p:cNvPr id="32" name="Text 26"/>
          <p:cNvSpPr txBox="1"/>
          <p:nvPr/>
        </p:nvSpPr>
        <p:spPr>
          <a:xfrm>
            <a:off x="6851904" y="225399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3" name="Text 27"/>
          <p:cNvSpPr txBox="1"/>
          <p:nvPr/>
        </p:nvSpPr>
        <p:spPr>
          <a:xfrm>
            <a:off x="6851904"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−$517K</a:t>
            </a:r>
            <a:endParaRPr lang="en-US" sz="1300" dirty="0"/>
          </a:p>
        </p:txBody>
      </p:sp>
      <p:sp>
        <p:nvSpPr>
          <p:cNvPr id="34" name="Text 28"/>
          <p:cNvSpPr txBox="1"/>
          <p:nvPr/>
        </p:nvSpPr>
        <p:spPr>
          <a:xfrm>
            <a:off x="4440936"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32</a:t>
            </a:r>
            <a:endParaRPr lang="en-US" sz="2000" dirty="0"/>
          </a:p>
        </p:txBody>
      </p:sp>
      <p:sp>
        <p:nvSpPr>
          <p:cNvPr id="35" name="Text 29"/>
          <p:cNvSpPr txBox="1"/>
          <p:nvPr/>
        </p:nvSpPr>
        <p:spPr>
          <a:xfrm>
            <a:off x="4788408"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graphicFrame>
        <p:nvGraphicFramePr>
          <p:cNvPr id="36" name="Chart 4" descr=""/>
          <p:cNvGraphicFramePr/>
          <p:nvPr/>
        </p:nvGraphicFramePr>
        <p:xfrm>
          <a:off x="4788408" y="4175760"/>
          <a:ext cx="1972056" cy="502615"/>
        </p:xfrm>
        <a:graphic>
          <a:graphicData uri="http://schemas.openxmlformats.org/drawingml/2006/chart">
            <c:chart xmlns:c="http://schemas.openxmlformats.org/drawingml/2006/chart" r:id="rId6"/>
          </a:graphicData>
        </a:graphic>
      </p:graphicFrame>
      <p:sp>
        <p:nvSpPr>
          <p:cNvPr id="37" name="Text 30"/>
          <p:cNvSpPr txBox="1"/>
          <p:nvPr/>
        </p:nvSpPr>
        <p:spPr>
          <a:xfrm>
            <a:off x="6851904" y="373227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8" name="Text 31"/>
          <p:cNvSpPr txBox="1"/>
          <p:nvPr/>
        </p:nvSpPr>
        <p:spPr>
          <a:xfrm>
            <a:off x="6851904"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39" name="Shape 32"/>
          <p:cNvSpPr/>
          <p:nvPr/>
        </p:nvSpPr>
        <p:spPr>
          <a:xfrm>
            <a:off x="4349496" y="4767072"/>
            <a:ext cx="3489960" cy="1478280"/>
          </a:xfrm>
          <a:prstGeom prst="rect">
            <a:avLst/>
          </a:prstGeom>
          <a:solidFill>
            <a:srgbClr val="F7F7F7"/>
          </a:solidFill>
          <a:ln/>
        </p:spPr>
      </p:sp>
      <p:sp>
        <p:nvSpPr>
          <p:cNvPr id="40" name="Text 33"/>
          <p:cNvSpPr txBox="1"/>
          <p:nvPr/>
        </p:nvSpPr>
        <p:spPr>
          <a:xfrm>
            <a:off x="4440936"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31</a:t>
            </a:r>
            <a:endParaRPr lang="en-US" sz="2000" dirty="0"/>
          </a:p>
        </p:txBody>
      </p:sp>
      <p:sp>
        <p:nvSpPr>
          <p:cNvPr id="41" name="Text 34"/>
          <p:cNvSpPr txBox="1"/>
          <p:nvPr/>
        </p:nvSpPr>
        <p:spPr>
          <a:xfrm>
            <a:off x="4788408"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graphicFrame>
        <p:nvGraphicFramePr>
          <p:cNvPr id="42" name="Chart 5" descr=""/>
          <p:cNvGraphicFramePr/>
          <p:nvPr/>
        </p:nvGraphicFramePr>
        <p:xfrm>
          <a:off x="4788408" y="5654040"/>
          <a:ext cx="1972056" cy="502615"/>
        </p:xfrm>
        <a:graphic>
          <a:graphicData uri="http://schemas.openxmlformats.org/drawingml/2006/chart">
            <c:chart xmlns:c="http://schemas.openxmlformats.org/drawingml/2006/chart" r:id="rId7"/>
          </a:graphicData>
        </a:graphic>
      </p:graphicFrame>
      <p:sp>
        <p:nvSpPr>
          <p:cNvPr id="43" name="Text 35"/>
          <p:cNvSpPr txBox="1"/>
          <p:nvPr/>
        </p:nvSpPr>
        <p:spPr>
          <a:xfrm>
            <a:off x="6851904" y="521055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4" name="Text 36"/>
          <p:cNvSpPr txBox="1"/>
          <p:nvPr/>
        </p:nvSpPr>
        <p:spPr>
          <a:xfrm>
            <a:off x="6851904"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−$761K</a:t>
            </a:r>
            <a:endParaRPr lang="en-US" sz="1300" dirty="0"/>
          </a:p>
        </p:txBody>
      </p:sp>
      <p:sp>
        <p:nvSpPr>
          <p:cNvPr id="45" name="Shape 37"/>
          <p:cNvSpPr/>
          <p:nvPr/>
        </p:nvSpPr>
        <p:spPr>
          <a:xfrm>
            <a:off x="8040624" y="1371600"/>
            <a:ext cx="3489960" cy="45720"/>
          </a:xfrm>
          <a:prstGeom prst="rect">
            <a:avLst/>
          </a:prstGeom>
          <a:solidFill>
            <a:srgbClr val="2587C5"/>
          </a:solidFill>
          <a:ln/>
        </p:spPr>
      </p:sp>
      <p:sp>
        <p:nvSpPr>
          <p:cNvPr id="46" name="Text 3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3 MOVING NOW</a:t>
            </a:r>
            <a:endParaRPr lang="en-US" sz="1500" dirty="0"/>
          </a:p>
        </p:txBody>
      </p:sp>
      <p:sp>
        <p:nvSpPr>
          <p:cNvPr id="47" name="Shape 39"/>
          <p:cNvSpPr/>
          <p:nvPr/>
        </p:nvSpPr>
        <p:spPr>
          <a:xfrm>
            <a:off x="8040624" y="1810512"/>
            <a:ext cx="3489960" cy="1478280"/>
          </a:xfrm>
          <a:prstGeom prst="rect">
            <a:avLst/>
          </a:prstGeom>
          <a:solidFill>
            <a:srgbClr val="F7F7F7"/>
          </a:solidFill>
          <a:ln/>
        </p:spPr>
      </p:sp>
      <p:sp>
        <p:nvSpPr>
          <p:cNvPr id="48" name="Text 40"/>
          <p:cNvSpPr txBox="1"/>
          <p:nvPr/>
        </p:nvSpPr>
        <p:spPr>
          <a:xfrm>
            <a:off x="8132064"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49" name="Text 41"/>
          <p:cNvSpPr txBox="1"/>
          <p:nvPr/>
        </p:nvSpPr>
        <p:spPr>
          <a:xfrm>
            <a:off x="8479536"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graphicFrame>
        <p:nvGraphicFramePr>
          <p:cNvPr id="50" name="Chart 6" descr=""/>
          <p:cNvGraphicFramePr/>
          <p:nvPr/>
        </p:nvGraphicFramePr>
        <p:xfrm>
          <a:off x="8479536" y="2697480"/>
          <a:ext cx="1972056" cy="502615"/>
        </p:xfrm>
        <a:graphic>
          <a:graphicData uri="http://schemas.openxmlformats.org/drawingml/2006/chart">
            <c:chart xmlns:c="http://schemas.openxmlformats.org/drawingml/2006/chart" r:id="rId8"/>
          </a:graphicData>
        </a:graphic>
      </p:graphicFrame>
      <p:graphicFrame>
        <p:nvGraphicFramePr>
          <p:cNvPr id="51" name="Chart 7" descr=""/>
          <p:cNvGraphicFramePr/>
          <p:nvPr/>
        </p:nvGraphicFramePr>
        <p:xfrm>
          <a:off x="8479536" y="2697480"/>
          <a:ext cx="1972056" cy="502615"/>
        </p:xfrm>
        <a:graphic>
          <a:graphicData uri="http://schemas.openxmlformats.org/drawingml/2006/chart">
            <c:chart xmlns:c="http://schemas.openxmlformats.org/drawingml/2006/chart" r:id="rId9"/>
          </a:graphicData>
        </a:graphic>
      </p:graphicFrame>
      <p:sp>
        <p:nvSpPr>
          <p:cNvPr id="52" name="Text 42"/>
          <p:cNvSpPr txBox="1"/>
          <p:nvPr/>
        </p:nvSpPr>
        <p:spPr>
          <a:xfrm>
            <a:off x="10543032" y="225399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3" name="Text 43"/>
          <p:cNvSpPr txBox="1"/>
          <p:nvPr/>
        </p:nvSpPr>
        <p:spPr>
          <a:xfrm>
            <a:off x="10543032"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54" name="Text 44"/>
          <p:cNvSpPr txBox="1"/>
          <p:nvPr/>
        </p:nvSpPr>
        <p:spPr>
          <a:xfrm>
            <a:off x="8132064"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55" name="Text 45"/>
          <p:cNvSpPr txBox="1"/>
          <p:nvPr/>
        </p:nvSpPr>
        <p:spPr>
          <a:xfrm>
            <a:off x="8479536"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graphicFrame>
        <p:nvGraphicFramePr>
          <p:cNvPr id="56" name="Chart 8" descr=""/>
          <p:cNvGraphicFramePr/>
          <p:nvPr/>
        </p:nvGraphicFramePr>
        <p:xfrm>
          <a:off x="8479536" y="4175760"/>
          <a:ext cx="1972056" cy="502615"/>
        </p:xfrm>
        <a:graphic>
          <a:graphicData uri="http://schemas.openxmlformats.org/drawingml/2006/chart">
            <c:chart xmlns:c="http://schemas.openxmlformats.org/drawingml/2006/chart" r:id="rId10"/>
          </a:graphicData>
        </a:graphic>
      </p:graphicFrame>
      <p:graphicFrame>
        <p:nvGraphicFramePr>
          <p:cNvPr id="57" name="Chart 9" descr=""/>
          <p:cNvGraphicFramePr/>
          <p:nvPr/>
        </p:nvGraphicFramePr>
        <p:xfrm>
          <a:off x="8479536" y="4175760"/>
          <a:ext cx="1972056" cy="502615"/>
        </p:xfrm>
        <a:graphic>
          <a:graphicData uri="http://schemas.openxmlformats.org/drawingml/2006/chart">
            <c:chart xmlns:c="http://schemas.openxmlformats.org/drawingml/2006/chart" r:id="rId11"/>
          </a:graphicData>
        </a:graphic>
      </p:graphicFrame>
      <p:sp>
        <p:nvSpPr>
          <p:cNvPr id="58" name="Text 46"/>
          <p:cNvSpPr txBox="1"/>
          <p:nvPr/>
        </p:nvSpPr>
        <p:spPr>
          <a:xfrm>
            <a:off x="10543032" y="373227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9" name="Text 47"/>
          <p:cNvSpPr txBox="1"/>
          <p:nvPr/>
        </p:nvSpPr>
        <p:spPr>
          <a:xfrm>
            <a:off x="10543032"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60" name="Shape 48"/>
          <p:cNvSpPr/>
          <p:nvPr/>
        </p:nvSpPr>
        <p:spPr>
          <a:xfrm>
            <a:off x="8040624" y="4767072"/>
            <a:ext cx="3489960" cy="1478280"/>
          </a:xfrm>
          <a:prstGeom prst="rect">
            <a:avLst/>
          </a:prstGeom>
          <a:solidFill>
            <a:srgbClr val="F7F7F7"/>
          </a:solidFill>
          <a:ln/>
        </p:spPr>
      </p:sp>
      <p:sp>
        <p:nvSpPr>
          <p:cNvPr id="61" name="Text 49"/>
          <p:cNvSpPr txBox="1"/>
          <p:nvPr/>
        </p:nvSpPr>
        <p:spPr>
          <a:xfrm>
            <a:off x="8132064"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62" name="Text 50"/>
          <p:cNvSpPr txBox="1"/>
          <p:nvPr/>
        </p:nvSpPr>
        <p:spPr>
          <a:xfrm>
            <a:off x="8479536"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graphicFrame>
        <p:nvGraphicFramePr>
          <p:cNvPr id="63" name="Chart 10" descr=""/>
          <p:cNvGraphicFramePr/>
          <p:nvPr/>
        </p:nvGraphicFramePr>
        <p:xfrm>
          <a:off x="8479536" y="5654040"/>
          <a:ext cx="1972056" cy="502615"/>
        </p:xfrm>
        <a:graphic>
          <a:graphicData uri="http://schemas.openxmlformats.org/drawingml/2006/chart">
            <c:chart xmlns:c="http://schemas.openxmlformats.org/drawingml/2006/chart" r:id="rId12"/>
          </a:graphicData>
        </a:graphic>
      </p:graphicFrame>
      <p:graphicFrame>
        <p:nvGraphicFramePr>
          <p:cNvPr id="64" name="Chart 11" descr=""/>
          <p:cNvGraphicFramePr/>
          <p:nvPr/>
        </p:nvGraphicFramePr>
        <p:xfrm>
          <a:off x="8479536" y="5654040"/>
          <a:ext cx="1972056" cy="502615"/>
        </p:xfrm>
        <a:graphic>
          <a:graphicData uri="http://schemas.openxmlformats.org/drawingml/2006/chart">
            <c:chart xmlns:c="http://schemas.openxmlformats.org/drawingml/2006/chart" r:id="rId13"/>
          </a:graphicData>
        </a:graphic>
      </p:graphicFrame>
      <p:sp>
        <p:nvSpPr>
          <p:cNvPr id="65" name="Text 51"/>
          <p:cNvSpPr txBox="1"/>
          <p:nvPr/>
        </p:nvSpPr>
        <p:spPr>
          <a:xfrm>
            <a:off x="10543032" y="521055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6" name="Text 52"/>
          <p:cNvSpPr txBox="1"/>
          <p:nvPr/>
        </p:nvSpPr>
        <p:spPr>
          <a:xfrm>
            <a:off x="10543032"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+$6,297,386 (5.2%) year to date; 9 of nine months ahead of 2025, largest gain in September, +$1,457,847.</a:t>
            </a:r>
            <a:endParaRPr lang="en-US" sz="15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178132"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1171781"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8240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724430"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69825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60750"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55591"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5227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10917"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05463"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9097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5612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316010"/>
            <a:ext cx="352683"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340845"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39380"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6100242"/>
            <a:ext cx="329329"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7669"/>
            <a:ext cx="311294"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27027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5621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45763"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3896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35763"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3280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10714"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17875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62808"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531777"/>
            <a:ext cx="16055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55672"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5054599"/>
            <a:ext cx="13164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655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1079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65691"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3 VS LAST YEAR</a:t>
            </a:r>
            <a:endParaRPr lang="en-US" sz="1500" dirty="0"/>
          </a:p>
        </p:txBody>
      </p:sp>
      <p:sp>
        <p:nvSpPr>
          <p:cNvPr id="9" name="Shape 7"/>
          <p:cNvSpPr/>
          <p:nvPr/>
        </p:nvSpPr>
        <p:spPr>
          <a:xfrm>
            <a:off x="658368" y="1810512"/>
            <a:ext cx="3489960" cy="1478280"/>
          </a:xfrm>
          <a:prstGeom prst="rect">
            <a:avLst/>
          </a:prstGeom>
          <a:solidFill>
            <a:srgbClr val="F7F7F7"/>
          </a:solidFill>
          <a:ln/>
        </p:spPr>
      </p:sp>
      <p:sp>
        <p:nvSpPr>
          <p:cNvPr id="10" name="Shape 8"/>
          <p:cNvSpPr/>
          <p:nvPr/>
        </p:nvSpPr>
        <p:spPr>
          <a:xfrm>
            <a:off x="4084320" y="1847088"/>
            <a:ext cx="64008" cy="1405128"/>
          </a:xfrm>
          <a:prstGeom prst="rect">
            <a:avLst/>
          </a:prstGeom>
          <a:solidFill>
            <a:srgbClr val="12A566"/>
          </a:solidFill>
          <a:ln/>
        </p:spPr>
      </p:sp>
      <p:sp>
        <p:nvSpPr>
          <p:cNvPr id="11" name="Text 9"/>
          <p:cNvSpPr txBox="1"/>
          <p:nvPr/>
        </p:nvSpPr>
        <p:spPr>
          <a:xfrm>
            <a:off x="749808"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12" name="Text 10"/>
          <p:cNvSpPr txBox="1"/>
          <p:nvPr/>
        </p:nvSpPr>
        <p:spPr>
          <a:xfrm>
            <a:off x="1097280"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graphicFrame>
        <p:nvGraphicFramePr>
          <p:cNvPr id="13" name="Chart 0" descr=""/>
          <p:cNvGraphicFramePr/>
          <p:nvPr/>
        </p:nvGraphicFramePr>
        <p:xfrm>
          <a:off x="1097280" y="2697480"/>
          <a:ext cx="1972056" cy="502615"/>
        </p:xfrm>
        <a:graphic>
          <a:graphicData uri="http://schemas.openxmlformats.org/drawingml/2006/chart">
            <c:chart xmlns:c="http://schemas.openxmlformats.org/drawingml/2006/chart" r:id="rId2"/>
          </a:graphicData>
        </a:graphic>
      </p:graphicFrame>
      <p:sp>
        <p:nvSpPr>
          <p:cNvPr id="14" name="Text 11"/>
          <p:cNvSpPr txBox="1"/>
          <p:nvPr/>
        </p:nvSpPr>
        <p:spPr>
          <a:xfrm>
            <a:off x="3160776" y="225399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5" name="Text 12"/>
          <p:cNvSpPr txBox="1"/>
          <p:nvPr/>
        </p:nvSpPr>
        <p:spPr>
          <a:xfrm>
            <a:off x="3160776"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+$345K</a:t>
            </a:r>
            <a:endParaRPr lang="en-US" sz="1300" dirty="0"/>
          </a:p>
        </p:txBody>
      </p:sp>
      <p:sp>
        <p:nvSpPr>
          <p:cNvPr id="16" name="Text 13"/>
          <p:cNvSpPr txBox="1"/>
          <p:nvPr/>
        </p:nvSpPr>
        <p:spPr>
          <a:xfrm>
            <a:off x="749808"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17" name="Text 14"/>
          <p:cNvSpPr txBox="1"/>
          <p:nvPr/>
        </p:nvSpPr>
        <p:spPr>
          <a:xfrm>
            <a:off x="1097280"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graphicFrame>
        <p:nvGraphicFramePr>
          <p:cNvPr id="18" name="Chart 1" descr=""/>
          <p:cNvGraphicFramePr/>
          <p:nvPr/>
        </p:nvGraphicFramePr>
        <p:xfrm>
          <a:off x="1097280" y="4175760"/>
          <a:ext cx="1972056" cy="502615"/>
        </p:xfrm>
        <a:graphic>
          <a:graphicData uri="http://schemas.openxmlformats.org/drawingml/2006/chart">
            <c:chart xmlns:c="http://schemas.openxmlformats.org/drawingml/2006/chart" r:id="rId3"/>
          </a:graphicData>
        </a:graphic>
      </p:graphicFrame>
      <p:sp>
        <p:nvSpPr>
          <p:cNvPr id="19" name="Text 15"/>
          <p:cNvSpPr txBox="1"/>
          <p:nvPr/>
        </p:nvSpPr>
        <p:spPr>
          <a:xfrm>
            <a:off x="3160776" y="373227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20" name="Text 16"/>
          <p:cNvSpPr txBox="1"/>
          <p:nvPr/>
        </p:nvSpPr>
        <p:spPr>
          <a:xfrm>
            <a:off x="3160776"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+$475K</a:t>
            </a:r>
            <a:endParaRPr lang="en-US" sz="1300" dirty="0"/>
          </a:p>
        </p:txBody>
      </p:sp>
      <p:sp>
        <p:nvSpPr>
          <p:cNvPr id="21" name="Shape 17"/>
          <p:cNvSpPr/>
          <p:nvPr/>
        </p:nvSpPr>
        <p:spPr>
          <a:xfrm>
            <a:off x="658368" y="4767072"/>
            <a:ext cx="3489960" cy="1478280"/>
          </a:xfrm>
          <a:prstGeom prst="rect">
            <a:avLst/>
          </a:prstGeom>
          <a:solidFill>
            <a:srgbClr val="F7F7F7"/>
          </a:solidFill>
          <a:ln/>
        </p:spPr>
      </p:sp>
      <p:sp>
        <p:nvSpPr>
          <p:cNvPr id="22" name="Text 18"/>
          <p:cNvSpPr txBox="1"/>
          <p:nvPr/>
        </p:nvSpPr>
        <p:spPr>
          <a:xfrm>
            <a:off x="749808"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23" name="Text 19"/>
          <p:cNvSpPr txBox="1"/>
          <p:nvPr/>
        </p:nvSpPr>
        <p:spPr>
          <a:xfrm>
            <a:off x="1097280"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graphicFrame>
        <p:nvGraphicFramePr>
          <p:cNvPr id="24" name="Chart 2" descr=""/>
          <p:cNvGraphicFramePr/>
          <p:nvPr/>
        </p:nvGraphicFramePr>
        <p:xfrm>
          <a:off x="1097280" y="5654040"/>
          <a:ext cx="1972056" cy="502615"/>
        </p:xfrm>
        <a:graphic>
          <a:graphicData uri="http://schemas.openxmlformats.org/drawingml/2006/chart">
            <c:chart xmlns:c="http://schemas.openxmlformats.org/drawingml/2006/chart" r:id="rId4"/>
          </a:graphicData>
        </a:graphic>
      </p:graphicFrame>
      <p:sp>
        <p:nvSpPr>
          <p:cNvPr id="25" name="Text 20"/>
          <p:cNvSpPr txBox="1"/>
          <p:nvPr/>
        </p:nvSpPr>
        <p:spPr>
          <a:xfrm>
            <a:off x="3160776" y="521055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6" name="Text 21"/>
          <p:cNvSpPr txBox="1"/>
          <p:nvPr/>
        </p:nvSpPr>
        <p:spPr>
          <a:xfrm>
            <a:off x="3160776"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+$639K</a:t>
            </a:r>
            <a:endParaRPr lang="en-US" sz="1300" dirty="0"/>
          </a:p>
        </p:txBody>
      </p:sp>
      <p:sp>
        <p:nvSpPr>
          <p:cNvPr id="27" name="Shape 22"/>
          <p:cNvSpPr/>
          <p:nvPr/>
        </p:nvSpPr>
        <p:spPr>
          <a:xfrm>
            <a:off x="4349496" y="1371600"/>
            <a:ext cx="3489960" cy="45720"/>
          </a:xfrm>
          <a:prstGeom prst="rect">
            <a:avLst/>
          </a:prstGeom>
          <a:solidFill>
            <a:srgbClr val="C2352F"/>
          </a:solidFill>
          <a:ln/>
        </p:spPr>
      </p:sp>
      <p:sp>
        <p:nvSpPr>
          <p:cNvPr id="28" name="Text 2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3 VS LAST YEAR</a:t>
            </a:r>
            <a:endParaRPr lang="en-US" sz="1500" dirty="0"/>
          </a:p>
        </p:txBody>
      </p:sp>
      <p:sp>
        <p:nvSpPr>
          <p:cNvPr id="29" name="Shape 24"/>
          <p:cNvSpPr/>
          <p:nvPr/>
        </p:nvSpPr>
        <p:spPr>
          <a:xfrm>
            <a:off x="4349496" y="1810512"/>
            <a:ext cx="3489960" cy="1478280"/>
          </a:xfrm>
          <a:prstGeom prst="rect">
            <a:avLst/>
          </a:prstGeom>
          <a:solidFill>
            <a:srgbClr val="F7F7F7"/>
          </a:solidFill>
          <a:ln/>
        </p:spPr>
      </p:sp>
      <p:sp>
        <p:nvSpPr>
          <p:cNvPr id="30" name="Text 25"/>
          <p:cNvSpPr txBox="1"/>
          <p:nvPr/>
        </p:nvSpPr>
        <p:spPr>
          <a:xfrm>
            <a:off x="4440936"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33</a:t>
            </a:r>
            <a:endParaRPr lang="en-US" sz="2000" dirty="0"/>
          </a:p>
        </p:txBody>
      </p:sp>
      <p:sp>
        <p:nvSpPr>
          <p:cNvPr id="31" name="Text 26"/>
          <p:cNvSpPr txBox="1"/>
          <p:nvPr/>
        </p:nvSpPr>
        <p:spPr>
          <a:xfrm>
            <a:off x="4788408"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graphicFrame>
        <p:nvGraphicFramePr>
          <p:cNvPr id="32" name="Chart 3" descr=""/>
          <p:cNvGraphicFramePr/>
          <p:nvPr/>
        </p:nvGraphicFramePr>
        <p:xfrm>
          <a:off x="4788408" y="2697480"/>
          <a:ext cx="1972056" cy="502615"/>
        </p:xfrm>
        <a:graphic>
          <a:graphicData uri="http://schemas.openxmlformats.org/drawingml/2006/chart">
            <c:chart xmlns:c="http://schemas.openxmlformats.org/drawingml/2006/chart" r:id="rId5"/>
          </a:graphicData>
        </a:graphic>
      </p:graphicFrame>
      <p:sp>
        <p:nvSpPr>
          <p:cNvPr id="33" name="Text 27"/>
          <p:cNvSpPr txBox="1"/>
          <p:nvPr/>
        </p:nvSpPr>
        <p:spPr>
          <a:xfrm>
            <a:off x="6851904" y="225399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4" name="Text 28"/>
          <p:cNvSpPr txBox="1"/>
          <p:nvPr/>
        </p:nvSpPr>
        <p:spPr>
          <a:xfrm>
            <a:off x="6851904"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−$438K</a:t>
            </a:r>
            <a:endParaRPr lang="en-US" sz="1300" dirty="0"/>
          </a:p>
        </p:txBody>
      </p:sp>
      <p:sp>
        <p:nvSpPr>
          <p:cNvPr id="35" name="Text 29"/>
          <p:cNvSpPr txBox="1"/>
          <p:nvPr/>
        </p:nvSpPr>
        <p:spPr>
          <a:xfrm>
            <a:off x="4440936"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32</a:t>
            </a:r>
            <a:endParaRPr lang="en-US" sz="2000" dirty="0"/>
          </a:p>
        </p:txBody>
      </p:sp>
      <p:sp>
        <p:nvSpPr>
          <p:cNvPr id="36" name="Text 30"/>
          <p:cNvSpPr txBox="1"/>
          <p:nvPr/>
        </p:nvSpPr>
        <p:spPr>
          <a:xfrm>
            <a:off x="4788408"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graphicFrame>
        <p:nvGraphicFramePr>
          <p:cNvPr id="37" name="Chart 4" descr=""/>
          <p:cNvGraphicFramePr/>
          <p:nvPr/>
        </p:nvGraphicFramePr>
        <p:xfrm>
          <a:off x="4788408" y="4175760"/>
          <a:ext cx="1972056" cy="502615"/>
        </p:xfrm>
        <a:graphic>
          <a:graphicData uri="http://schemas.openxmlformats.org/drawingml/2006/chart">
            <c:chart xmlns:c="http://schemas.openxmlformats.org/drawingml/2006/chart" r:id="rId6"/>
          </a:graphicData>
        </a:graphic>
      </p:graphicFrame>
      <p:sp>
        <p:nvSpPr>
          <p:cNvPr id="38" name="Text 31"/>
          <p:cNvSpPr txBox="1"/>
          <p:nvPr/>
        </p:nvSpPr>
        <p:spPr>
          <a:xfrm>
            <a:off x="6851904" y="373227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9" name="Text 32"/>
          <p:cNvSpPr txBox="1"/>
          <p:nvPr/>
        </p:nvSpPr>
        <p:spPr>
          <a:xfrm>
            <a:off x="6851904"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0" name="Shape 33"/>
          <p:cNvSpPr/>
          <p:nvPr/>
        </p:nvSpPr>
        <p:spPr>
          <a:xfrm>
            <a:off x="4349496" y="4767072"/>
            <a:ext cx="3489960" cy="1478280"/>
          </a:xfrm>
          <a:prstGeom prst="rect">
            <a:avLst/>
          </a:prstGeom>
          <a:solidFill>
            <a:srgbClr val="F7F7F7"/>
          </a:solidFill>
          <a:ln/>
        </p:spPr>
      </p:sp>
      <p:sp>
        <p:nvSpPr>
          <p:cNvPr id="41" name="Text 34"/>
          <p:cNvSpPr txBox="1"/>
          <p:nvPr/>
        </p:nvSpPr>
        <p:spPr>
          <a:xfrm>
            <a:off x="4440936"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31</a:t>
            </a:r>
            <a:endParaRPr lang="en-US" sz="2000" dirty="0"/>
          </a:p>
        </p:txBody>
      </p:sp>
      <p:sp>
        <p:nvSpPr>
          <p:cNvPr id="42" name="Text 35"/>
          <p:cNvSpPr txBox="1"/>
          <p:nvPr/>
        </p:nvSpPr>
        <p:spPr>
          <a:xfrm>
            <a:off x="4788408"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graphicFrame>
        <p:nvGraphicFramePr>
          <p:cNvPr id="43" name="Chart 5" descr=""/>
          <p:cNvGraphicFramePr/>
          <p:nvPr/>
        </p:nvGraphicFramePr>
        <p:xfrm>
          <a:off x="4788408" y="5654040"/>
          <a:ext cx="1972056" cy="502615"/>
        </p:xfrm>
        <a:graphic>
          <a:graphicData uri="http://schemas.openxmlformats.org/drawingml/2006/chart">
            <c:chart xmlns:c="http://schemas.openxmlformats.org/drawingml/2006/chart" r:id="rId7"/>
          </a:graphicData>
        </a:graphic>
      </p:graphicFrame>
      <p:sp>
        <p:nvSpPr>
          <p:cNvPr id="44" name="Text 36"/>
          <p:cNvSpPr txBox="1"/>
          <p:nvPr/>
        </p:nvSpPr>
        <p:spPr>
          <a:xfrm>
            <a:off x="6851904" y="521055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5" name="Text 37"/>
          <p:cNvSpPr txBox="1"/>
          <p:nvPr/>
        </p:nvSpPr>
        <p:spPr>
          <a:xfrm>
            <a:off x="6851904"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−$547K</a:t>
            </a:r>
            <a:endParaRPr lang="en-US" sz="1300" dirty="0"/>
          </a:p>
        </p:txBody>
      </p:sp>
      <p:sp>
        <p:nvSpPr>
          <p:cNvPr id="46" name="Shape 38"/>
          <p:cNvSpPr/>
          <p:nvPr/>
        </p:nvSpPr>
        <p:spPr>
          <a:xfrm>
            <a:off x="8040624" y="1371600"/>
            <a:ext cx="3489960" cy="45720"/>
          </a:xfrm>
          <a:prstGeom prst="rect">
            <a:avLst/>
          </a:prstGeom>
          <a:solidFill>
            <a:srgbClr val="2587C5"/>
          </a:solidFill>
          <a:ln/>
        </p:spPr>
      </p:sp>
      <p:sp>
        <p:nvSpPr>
          <p:cNvPr id="47" name="Text 3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3 MOVING NOW</a:t>
            </a:r>
            <a:endParaRPr lang="en-US" sz="1500" dirty="0"/>
          </a:p>
        </p:txBody>
      </p:sp>
      <p:sp>
        <p:nvSpPr>
          <p:cNvPr id="48" name="Shape 40"/>
          <p:cNvSpPr/>
          <p:nvPr/>
        </p:nvSpPr>
        <p:spPr>
          <a:xfrm>
            <a:off x="8040624" y="1810512"/>
            <a:ext cx="3489960" cy="1478280"/>
          </a:xfrm>
          <a:prstGeom prst="rect">
            <a:avLst/>
          </a:prstGeom>
          <a:solidFill>
            <a:srgbClr val="F7F7F7"/>
          </a:solidFill>
          <a:ln/>
        </p:spPr>
      </p:sp>
      <p:sp>
        <p:nvSpPr>
          <p:cNvPr id="49" name="Text 41"/>
          <p:cNvSpPr txBox="1"/>
          <p:nvPr/>
        </p:nvSpPr>
        <p:spPr>
          <a:xfrm>
            <a:off x="8132064"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50" name="Text 42"/>
          <p:cNvSpPr txBox="1"/>
          <p:nvPr/>
        </p:nvSpPr>
        <p:spPr>
          <a:xfrm>
            <a:off x="8479536"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graphicFrame>
        <p:nvGraphicFramePr>
          <p:cNvPr id="51" name="Chart 6" descr=""/>
          <p:cNvGraphicFramePr/>
          <p:nvPr/>
        </p:nvGraphicFramePr>
        <p:xfrm>
          <a:off x="8479536" y="2697480"/>
          <a:ext cx="1972056" cy="502615"/>
        </p:xfrm>
        <a:graphic>
          <a:graphicData uri="http://schemas.openxmlformats.org/drawingml/2006/chart">
            <c:chart xmlns:c="http://schemas.openxmlformats.org/drawingml/2006/chart" r:id="rId8"/>
          </a:graphicData>
        </a:graphic>
      </p:graphicFrame>
      <p:graphicFrame>
        <p:nvGraphicFramePr>
          <p:cNvPr id="52" name="Chart 7" descr=""/>
          <p:cNvGraphicFramePr/>
          <p:nvPr/>
        </p:nvGraphicFramePr>
        <p:xfrm>
          <a:off x="8479536" y="2697480"/>
          <a:ext cx="1972056" cy="502615"/>
        </p:xfrm>
        <a:graphic>
          <a:graphicData uri="http://schemas.openxmlformats.org/drawingml/2006/chart">
            <c:chart xmlns:c="http://schemas.openxmlformats.org/drawingml/2006/chart" r:id="rId9"/>
          </a:graphicData>
        </a:graphic>
      </p:graphicFrame>
      <p:sp>
        <p:nvSpPr>
          <p:cNvPr id="53" name="Text 43"/>
          <p:cNvSpPr txBox="1"/>
          <p:nvPr/>
        </p:nvSpPr>
        <p:spPr>
          <a:xfrm>
            <a:off x="10543032" y="225399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4" name="Text 44"/>
          <p:cNvSpPr txBox="1"/>
          <p:nvPr/>
        </p:nvSpPr>
        <p:spPr>
          <a:xfrm>
            <a:off x="10543032"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55" name="Text 45"/>
          <p:cNvSpPr txBox="1"/>
          <p:nvPr/>
        </p:nvSpPr>
        <p:spPr>
          <a:xfrm>
            <a:off x="8132064"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56" name="Text 46"/>
          <p:cNvSpPr txBox="1"/>
          <p:nvPr/>
        </p:nvSpPr>
        <p:spPr>
          <a:xfrm>
            <a:off x="8479536"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graphicFrame>
        <p:nvGraphicFramePr>
          <p:cNvPr id="57" name="Chart 8" descr=""/>
          <p:cNvGraphicFramePr/>
          <p:nvPr/>
        </p:nvGraphicFramePr>
        <p:xfrm>
          <a:off x="8479536" y="4175760"/>
          <a:ext cx="1972056" cy="502615"/>
        </p:xfrm>
        <a:graphic>
          <a:graphicData uri="http://schemas.openxmlformats.org/drawingml/2006/chart">
            <c:chart xmlns:c="http://schemas.openxmlformats.org/drawingml/2006/chart" r:id="rId10"/>
          </a:graphicData>
        </a:graphic>
      </p:graphicFrame>
      <p:graphicFrame>
        <p:nvGraphicFramePr>
          <p:cNvPr id="58" name="Chart 9" descr=""/>
          <p:cNvGraphicFramePr/>
          <p:nvPr/>
        </p:nvGraphicFramePr>
        <p:xfrm>
          <a:off x="8479536" y="4175760"/>
          <a:ext cx="1972056" cy="502615"/>
        </p:xfrm>
        <a:graphic>
          <a:graphicData uri="http://schemas.openxmlformats.org/drawingml/2006/chart">
            <c:chart xmlns:c="http://schemas.openxmlformats.org/drawingml/2006/chart" r:id="rId11"/>
          </a:graphicData>
        </a:graphic>
      </p:graphicFrame>
      <p:sp>
        <p:nvSpPr>
          <p:cNvPr id="59" name="Text 47"/>
          <p:cNvSpPr txBox="1"/>
          <p:nvPr/>
        </p:nvSpPr>
        <p:spPr>
          <a:xfrm>
            <a:off x="10543032" y="373227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60" name="Text 48"/>
          <p:cNvSpPr txBox="1"/>
          <p:nvPr/>
        </p:nvSpPr>
        <p:spPr>
          <a:xfrm>
            <a:off x="10543032"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61" name="Shape 49"/>
          <p:cNvSpPr/>
          <p:nvPr/>
        </p:nvSpPr>
        <p:spPr>
          <a:xfrm>
            <a:off x="8040624" y="4767072"/>
            <a:ext cx="3489960" cy="1478280"/>
          </a:xfrm>
          <a:prstGeom prst="rect">
            <a:avLst/>
          </a:prstGeom>
          <a:solidFill>
            <a:srgbClr val="F7F7F7"/>
          </a:solidFill>
          <a:ln/>
        </p:spPr>
      </p:sp>
      <p:sp>
        <p:nvSpPr>
          <p:cNvPr id="62" name="Shape 50"/>
          <p:cNvSpPr/>
          <p:nvPr/>
        </p:nvSpPr>
        <p:spPr>
          <a:xfrm>
            <a:off x="11466576" y="4803648"/>
            <a:ext cx="64008" cy="1405128"/>
          </a:xfrm>
          <a:prstGeom prst="rect">
            <a:avLst/>
          </a:prstGeom>
          <a:solidFill>
            <a:srgbClr val="12A566"/>
          </a:solidFill>
          <a:ln/>
        </p:spPr>
      </p:sp>
      <p:sp>
        <p:nvSpPr>
          <p:cNvPr id="63" name="Text 51"/>
          <p:cNvSpPr txBox="1"/>
          <p:nvPr/>
        </p:nvSpPr>
        <p:spPr>
          <a:xfrm>
            <a:off x="8132064"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64" name="Text 52"/>
          <p:cNvSpPr txBox="1"/>
          <p:nvPr/>
        </p:nvSpPr>
        <p:spPr>
          <a:xfrm>
            <a:off x="8479536"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graphicFrame>
        <p:nvGraphicFramePr>
          <p:cNvPr id="65" name="Chart 10" descr=""/>
          <p:cNvGraphicFramePr/>
          <p:nvPr/>
        </p:nvGraphicFramePr>
        <p:xfrm>
          <a:off x="8479536" y="5654040"/>
          <a:ext cx="1972056" cy="502615"/>
        </p:xfrm>
        <a:graphic>
          <a:graphicData uri="http://schemas.openxmlformats.org/drawingml/2006/chart">
            <c:chart xmlns:c="http://schemas.openxmlformats.org/drawingml/2006/chart" r:id="rId12"/>
          </a:graphicData>
        </a:graphic>
      </p:graphicFrame>
      <p:graphicFrame>
        <p:nvGraphicFramePr>
          <p:cNvPr id="66" name="Chart 11" descr=""/>
          <p:cNvGraphicFramePr/>
          <p:nvPr/>
        </p:nvGraphicFramePr>
        <p:xfrm>
          <a:off x="8479536" y="5654040"/>
          <a:ext cx="1972056" cy="502615"/>
        </p:xfrm>
        <a:graphic>
          <a:graphicData uri="http://schemas.openxmlformats.org/drawingml/2006/chart">
            <c:chart xmlns:c="http://schemas.openxmlformats.org/drawingml/2006/chart" r:id="rId13"/>
          </a:graphicData>
        </a:graphic>
      </p:graphicFrame>
      <p:sp>
        <p:nvSpPr>
          <p:cNvPr id="67" name="Text 53"/>
          <p:cNvSpPr txBox="1"/>
          <p:nvPr/>
        </p:nvSpPr>
        <p:spPr>
          <a:xfrm>
            <a:off x="10543032" y="521055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8" name="Text 54"/>
          <p:cNvSpPr txBox="1"/>
          <p:nvPr/>
        </p:nvSpPr>
        <p:spPr>
          <a:xfrm>
            <a:off x="10543032"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largest gain in July, +$684,859.</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78095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39299"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701901"/>
            <a:ext cx="1126417"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963312"/>
            <a:ext cx="10423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91502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79424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743466"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4008956"/>
            <a:ext cx="662635"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6187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46900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439517"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5054599"/>
            <a:ext cx="43497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42639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577420"/>
            <a:ext cx="41802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838831"/>
            <a:ext cx="410579"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6100242"/>
            <a:ext cx="386930"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385510"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79080"/>
            <a:ext cx="379226"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440491"/>
            <a:ext cx="37557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701901"/>
            <a:ext cx="370418"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963312"/>
            <a:ext cx="351886"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351305"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486134"/>
            <a:ext cx="323594"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747545"/>
            <a:ext cx="32117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29609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27721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531777"/>
            <a:ext cx="26398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793188"/>
            <a:ext cx="243434"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22660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613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5981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111766"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a:t>
            </a:r>
            <a:endParaRPr lang="en-US" sz="16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3 VS LAST YEAR</a:t>
            </a:r>
            <a:endParaRPr lang="en-US" sz="1500" dirty="0"/>
          </a:p>
        </p:txBody>
      </p:sp>
      <p:sp>
        <p:nvSpPr>
          <p:cNvPr id="9" name="Shape 7"/>
          <p:cNvSpPr/>
          <p:nvPr/>
        </p:nvSpPr>
        <p:spPr>
          <a:xfrm>
            <a:off x="658368" y="1810512"/>
            <a:ext cx="3489960" cy="1478280"/>
          </a:xfrm>
          <a:prstGeom prst="rect">
            <a:avLst/>
          </a:prstGeom>
          <a:solidFill>
            <a:srgbClr val="F7F7F7"/>
          </a:solidFill>
          <a:ln/>
        </p:spPr>
      </p:sp>
      <p:sp>
        <p:nvSpPr>
          <p:cNvPr id="10" name="Text 8"/>
          <p:cNvSpPr txBox="1"/>
          <p:nvPr/>
        </p:nvSpPr>
        <p:spPr>
          <a:xfrm>
            <a:off x="749808"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11" name="Text 9"/>
          <p:cNvSpPr txBox="1"/>
          <p:nvPr/>
        </p:nvSpPr>
        <p:spPr>
          <a:xfrm>
            <a:off x="1097280"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graphicFrame>
        <p:nvGraphicFramePr>
          <p:cNvPr id="12" name="Chart 0" descr=""/>
          <p:cNvGraphicFramePr/>
          <p:nvPr/>
        </p:nvGraphicFramePr>
        <p:xfrm>
          <a:off x="1097280" y="2697480"/>
          <a:ext cx="1972056" cy="502615"/>
        </p:xfrm>
        <a:graphic>
          <a:graphicData uri="http://schemas.openxmlformats.org/drawingml/2006/chart">
            <c:chart xmlns:c="http://schemas.openxmlformats.org/drawingml/2006/chart" r:id="rId2"/>
          </a:graphicData>
        </a:graphic>
      </p:graphicFrame>
      <p:sp>
        <p:nvSpPr>
          <p:cNvPr id="13" name="Text 10"/>
          <p:cNvSpPr txBox="1"/>
          <p:nvPr/>
        </p:nvSpPr>
        <p:spPr>
          <a:xfrm>
            <a:off x="3160776" y="225399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4" name="Text 11"/>
          <p:cNvSpPr txBox="1"/>
          <p:nvPr/>
        </p:nvSpPr>
        <p:spPr>
          <a:xfrm>
            <a:off x="3160776"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+$243K</a:t>
            </a:r>
            <a:endParaRPr lang="en-US" sz="1300" dirty="0"/>
          </a:p>
        </p:txBody>
      </p:sp>
      <p:sp>
        <p:nvSpPr>
          <p:cNvPr id="15" name="Text 12"/>
          <p:cNvSpPr txBox="1"/>
          <p:nvPr/>
        </p:nvSpPr>
        <p:spPr>
          <a:xfrm>
            <a:off x="749808"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16" name="Text 13"/>
          <p:cNvSpPr txBox="1"/>
          <p:nvPr/>
        </p:nvSpPr>
        <p:spPr>
          <a:xfrm>
            <a:off x="1097280"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graphicFrame>
        <p:nvGraphicFramePr>
          <p:cNvPr id="17" name="Chart 1" descr=""/>
          <p:cNvGraphicFramePr/>
          <p:nvPr/>
        </p:nvGraphicFramePr>
        <p:xfrm>
          <a:off x="1097280" y="4175760"/>
          <a:ext cx="1972056" cy="502615"/>
        </p:xfrm>
        <a:graphic>
          <a:graphicData uri="http://schemas.openxmlformats.org/drawingml/2006/chart">
            <c:chart xmlns:c="http://schemas.openxmlformats.org/drawingml/2006/chart" r:id="rId3"/>
          </a:graphicData>
        </a:graphic>
      </p:graphicFrame>
      <p:sp>
        <p:nvSpPr>
          <p:cNvPr id="18" name="Text 14"/>
          <p:cNvSpPr txBox="1"/>
          <p:nvPr/>
        </p:nvSpPr>
        <p:spPr>
          <a:xfrm>
            <a:off x="3160776" y="373227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9" name="Text 15"/>
          <p:cNvSpPr txBox="1"/>
          <p:nvPr/>
        </p:nvSpPr>
        <p:spPr>
          <a:xfrm>
            <a:off x="3160776"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+$688K</a:t>
            </a:r>
            <a:endParaRPr lang="en-US" sz="1300" dirty="0"/>
          </a:p>
        </p:txBody>
      </p:sp>
      <p:sp>
        <p:nvSpPr>
          <p:cNvPr id="20" name="Shape 16"/>
          <p:cNvSpPr/>
          <p:nvPr/>
        </p:nvSpPr>
        <p:spPr>
          <a:xfrm>
            <a:off x="658368" y="4767072"/>
            <a:ext cx="3489960" cy="1478280"/>
          </a:xfrm>
          <a:prstGeom prst="rect">
            <a:avLst/>
          </a:prstGeom>
          <a:solidFill>
            <a:srgbClr val="F7F7F7"/>
          </a:solidFill>
          <a:ln/>
        </p:spPr>
      </p:sp>
      <p:sp>
        <p:nvSpPr>
          <p:cNvPr id="21" name="Text 17"/>
          <p:cNvSpPr txBox="1"/>
          <p:nvPr/>
        </p:nvSpPr>
        <p:spPr>
          <a:xfrm>
            <a:off x="749808"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22" name="Text 18"/>
          <p:cNvSpPr txBox="1"/>
          <p:nvPr/>
        </p:nvSpPr>
        <p:spPr>
          <a:xfrm>
            <a:off x="1097280"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graphicFrame>
        <p:nvGraphicFramePr>
          <p:cNvPr id="23" name="Chart 2" descr=""/>
          <p:cNvGraphicFramePr/>
          <p:nvPr/>
        </p:nvGraphicFramePr>
        <p:xfrm>
          <a:off x="1097280" y="5654040"/>
          <a:ext cx="1972056" cy="502615"/>
        </p:xfrm>
        <a:graphic>
          <a:graphicData uri="http://schemas.openxmlformats.org/drawingml/2006/chart">
            <c:chart xmlns:c="http://schemas.openxmlformats.org/drawingml/2006/chart" r:id="rId4"/>
          </a:graphicData>
        </a:graphic>
      </p:graphicFrame>
      <p:sp>
        <p:nvSpPr>
          <p:cNvPr id="24" name="Text 19"/>
          <p:cNvSpPr txBox="1"/>
          <p:nvPr/>
        </p:nvSpPr>
        <p:spPr>
          <a:xfrm>
            <a:off x="3160776" y="521055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5" name="Text 20"/>
          <p:cNvSpPr txBox="1"/>
          <p:nvPr/>
        </p:nvSpPr>
        <p:spPr>
          <a:xfrm>
            <a:off x="3160776"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+$271K</a:t>
            </a:r>
            <a:endParaRPr lang="en-US" sz="1300" dirty="0"/>
          </a:p>
        </p:txBody>
      </p:sp>
      <p:sp>
        <p:nvSpPr>
          <p:cNvPr id="26" name="Shape 21"/>
          <p:cNvSpPr/>
          <p:nvPr/>
        </p:nvSpPr>
        <p:spPr>
          <a:xfrm>
            <a:off x="4349496" y="1371600"/>
            <a:ext cx="3489960" cy="45720"/>
          </a:xfrm>
          <a:prstGeom prst="rect">
            <a:avLst/>
          </a:prstGeom>
          <a:solidFill>
            <a:srgbClr val="C2352F"/>
          </a:solidFill>
          <a:ln/>
        </p:spPr>
      </p:sp>
      <p:sp>
        <p:nvSpPr>
          <p:cNvPr id="27" name="Text 2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3 VS LAST YEAR</a:t>
            </a:r>
            <a:endParaRPr lang="en-US" sz="1500" dirty="0"/>
          </a:p>
        </p:txBody>
      </p:sp>
      <p:sp>
        <p:nvSpPr>
          <p:cNvPr id="28" name="Shape 23"/>
          <p:cNvSpPr/>
          <p:nvPr/>
        </p:nvSpPr>
        <p:spPr>
          <a:xfrm>
            <a:off x="4349496" y="1810512"/>
            <a:ext cx="3489960" cy="1478280"/>
          </a:xfrm>
          <a:prstGeom prst="rect">
            <a:avLst/>
          </a:prstGeom>
          <a:solidFill>
            <a:srgbClr val="F7F7F7"/>
          </a:solidFill>
          <a:ln/>
        </p:spPr>
      </p:sp>
      <p:sp>
        <p:nvSpPr>
          <p:cNvPr id="29" name="Text 24"/>
          <p:cNvSpPr txBox="1"/>
          <p:nvPr/>
        </p:nvSpPr>
        <p:spPr>
          <a:xfrm>
            <a:off x="4440936"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33</a:t>
            </a:r>
            <a:endParaRPr lang="en-US" sz="2000" dirty="0"/>
          </a:p>
        </p:txBody>
      </p:sp>
      <p:sp>
        <p:nvSpPr>
          <p:cNvPr id="30" name="Text 25"/>
          <p:cNvSpPr txBox="1"/>
          <p:nvPr/>
        </p:nvSpPr>
        <p:spPr>
          <a:xfrm>
            <a:off x="4788408"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graphicFrame>
        <p:nvGraphicFramePr>
          <p:cNvPr id="31" name="Chart 3" descr=""/>
          <p:cNvGraphicFramePr/>
          <p:nvPr/>
        </p:nvGraphicFramePr>
        <p:xfrm>
          <a:off x="4788408" y="2697480"/>
          <a:ext cx="1972056" cy="502615"/>
        </p:xfrm>
        <a:graphic>
          <a:graphicData uri="http://schemas.openxmlformats.org/drawingml/2006/chart">
            <c:chart xmlns:c="http://schemas.openxmlformats.org/drawingml/2006/chart" r:id="rId5"/>
          </a:graphicData>
        </a:graphic>
      </p:graphicFrame>
      <p:sp>
        <p:nvSpPr>
          <p:cNvPr id="32" name="Text 26"/>
          <p:cNvSpPr txBox="1"/>
          <p:nvPr/>
        </p:nvSpPr>
        <p:spPr>
          <a:xfrm>
            <a:off x="6851904" y="225399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3" name="Text 27"/>
          <p:cNvSpPr txBox="1"/>
          <p:nvPr/>
        </p:nvSpPr>
        <p:spPr>
          <a:xfrm>
            <a:off x="6851904"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−$227K</a:t>
            </a:r>
            <a:endParaRPr lang="en-US" sz="1300" dirty="0"/>
          </a:p>
        </p:txBody>
      </p:sp>
      <p:sp>
        <p:nvSpPr>
          <p:cNvPr id="34" name="Text 28"/>
          <p:cNvSpPr txBox="1"/>
          <p:nvPr/>
        </p:nvSpPr>
        <p:spPr>
          <a:xfrm>
            <a:off x="4440936"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32</a:t>
            </a:r>
            <a:endParaRPr lang="en-US" sz="2000" dirty="0"/>
          </a:p>
        </p:txBody>
      </p:sp>
      <p:sp>
        <p:nvSpPr>
          <p:cNvPr id="35" name="Text 29"/>
          <p:cNvSpPr txBox="1"/>
          <p:nvPr/>
        </p:nvSpPr>
        <p:spPr>
          <a:xfrm>
            <a:off x="4788408"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graphicFrame>
        <p:nvGraphicFramePr>
          <p:cNvPr id="36" name="Chart 4" descr=""/>
          <p:cNvGraphicFramePr/>
          <p:nvPr/>
        </p:nvGraphicFramePr>
        <p:xfrm>
          <a:off x="4788408" y="4175760"/>
          <a:ext cx="1972056" cy="502615"/>
        </p:xfrm>
        <a:graphic>
          <a:graphicData uri="http://schemas.openxmlformats.org/drawingml/2006/chart">
            <c:chart xmlns:c="http://schemas.openxmlformats.org/drawingml/2006/chart" r:id="rId6"/>
          </a:graphicData>
        </a:graphic>
      </p:graphicFrame>
      <p:sp>
        <p:nvSpPr>
          <p:cNvPr id="37" name="Text 30"/>
          <p:cNvSpPr txBox="1"/>
          <p:nvPr/>
        </p:nvSpPr>
        <p:spPr>
          <a:xfrm>
            <a:off x="6851904" y="373227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8" name="Text 31"/>
          <p:cNvSpPr txBox="1"/>
          <p:nvPr/>
        </p:nvSpPr>
        <p:spPr>
          <a:xfrm>
            <a:off x="6851904"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−$328K</a:t>
            </a:r>
            <a:endParaRPr lang="en-US" sz="1300" dirty="0"/>
          </a:p>
        </p:txBody>
      </p:sp>
      <p:sp>
        <p:nvSpPr>
          <p:cNvPr id="39" name="Shape 32"/>
          <p:cNvSpPr/>
          <p:nvPr/>
        </p:nvSpPr>
        <p:spPr>
          <a:xfrm>
            <a:off x="4349496" y="4767072"/>
            <a:ext cx="3489960" cy="1478280"/>
          </a:xfrm>
          <a:prstGeom prst="rect">
            <a:avLst/>
          </a:prstGeom>
          <a:solidFill>
            <a:srgbClr val="F7F7F7"/>
          </a:solidFill>
          <a:ln/>
        </p:spPr>
      </p:sp>
      <p:sp>
        <p:nvSpPr>
          <p:cNvPr id="40" name="Text 33"/>
          <p:cNvSpPr txBox="1"/>
          <p:nvPr/>
        </p:nvSpPr>
        <p:spPr>
          <a:xfrm>
            <a:off x="4440936"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31</a:t>
            </a:r>
            <a:endParaRPr lang="en-US" sz="2000" dirty="0"/>
          </a:p>
        </p:txBody>
      </p:sp>
      <p:sp>
        <p:nvSpPr>
          <p:cNvPr id="41" name="Text 34"/>
          <p:cNvSpPr txBox="1"/>
          <p:nvPr/>
        </p:nvSpPr>
        <p:spPr>
          <a:xfrm>
            <a:off x="4788408"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graphicFrame>
        <p:nvGraphicFramePr>
          <p:cNvPr id="42" name="Chart 5" descr=""/>
          <p:cNvGraphicFramePr/>
          <p:nvPr/>
        </p:nvGraphicFramePr>
        <p:xfrm>
          <a:off x="4788408" y="5654040"/>
          <a:ext cx="1972056" cy="502615"/>
        </p:xfrm>
        <a:graphic>
          <a:graphicData uri="http://schemas.openxmlformats.org/drawingml/2006/chart">
            <c:chart xmlns:c="http://schemas.openxmlformats.org/drawingml/2006/chart" r:id="rId7"/>
          </a:graphicData>
        </a:graphic>
      </p:graphicFrame>
      <p:sp>
        <p:nvSpPr>
          <p:cNvPr id="43" name="Text 35"/>
          <p:cNvSpPr txBox="1"/>
          <p:nvPr/>
        </p:nvSpPr>
        <p:spPr>
          <a:xfrm>
            <a:off x="6851904" y="521055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4" name="Text 36"/>
          <p:cNvSpPr txBox="1"/>
          <p:nvPr/>
        </p:nvSpPr>
        <p:spPr>
          <a:xfrm>
            <a:off x="6851904"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−$214K</a:t>
            </a:r>
            <a:endParaRPr lang="en-US" sz="1300" dirty="0"/>
          </a:p>
        </p:txBody>
      </p:sp>
      <p:sp>
        <p:nvSpPr>
          <p:cNvPr id="45" name="Shape 37"/>
          <p:cNvSpPr/>
          <p:nvPr/>
        </p:nvSpPr>
        <p:spPr>
          <a:xfrm>
            <a:off x="8040624" y="1371600"/>
            <a:ext cx="3489960" cy="45720"/>
          </a:xfrm>
          <a:prstGeom prst="rect">
            <a:avLst/>
          </a:prstGeom>
          <a:solidFill>
            <a:srgbClr val="2587C5"/>
          </a:solidFill>
          <a:ln/>
        </p:spPr>
      </p:sp>
      <p:sp>
        <p:nvSpPr>
          <p:cNvPr id="46" name="Text 3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3 MOVING NOW</a:t>
            </a:r>
            <a:endParaRPr lang="en-US" sz="1500" dirty="0"/>
          </a:p>
        </p:txBody>
      </p:sp>
      <p:sp>
        <p:nvSpPr>
          <p:cNvPr id="47" name="Shape 39"/>
          <p:cNvSpPr/>
          <p:nvPr/>
        </p:nvSpPr>
        <p:spPr>
          <a:xfrm>
            <a:off x="8040624" y="1810512"/>
            <a:ext cx="3489960" cy="1478280"/>
          </a:xfrm>
          <a:prstGeom prst="rect">
            <a:avLst/>
          </a:prstGeom>
          <a:solidFill>
            <a:srgbClr val="F7F7F7"/>
          </a:solidFill>
          <a:ln/>
        </p:spPr>
      </p:sp>
      <p:sp>
        <p:nvSpPr>
          <p:cNvPr id="48" name="Text 40"/>
          <p:cNvSpPr txBox="1"/>
          <p:nvPr/>
        </p:nvSpPr>
        <p:spPr>
          <a:xfrm>
            <a:off x="8132064"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49" name="Text 41"/>
          <p:cNvSpPr txBox="1"/>
          <p:nvPr/>
        </p:nvSpPr>
        <p:spPr>
          <a:xfrm>
            <a:off x="8479536"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graphicFrame>
        <p:nvGraphicFramePr>
          <p:cNvPr id="50" name="Chart 6" descr=""/>
          <p:cNvGraphicFramePr/>
          <p:nvPr/>
        </p:nvGraphicFramePr>
        <p:xfrm>
          <a:off x="8479536" y="2697480"/>
          <a:ext cx="1972056" cy="502615"/>
        </p:xfrm>
        <a:graphic>
          <a:graphicData uri="http://schemas.openxmlformats.org/drawingml/2006/chart">
            <c:chart xmlns:c="http://schemas.openxmlformats.org/drawingml/2006/chart" r:id="rId8"/>
          </a:graphicData>
        </a:graphic>
      </p:graphicFrame>
      <p:graphicFrame>
        <p:nvGraphicFramePr>
          <p:cNvPr id="51" name="Chart 7" descr=""/>
          <p:cNvGraphicFramePr/>
          <p:nvPr/>
        </p:nvGraphicFramePr>
        <p:xfrm>
          <a:off x="8479536" y="2697480"/>
          <a:ext cx="1972056" cy="502615"/>
        </p:xfrm>
        <a:graphic>
          <a:graphicData uri="http://schemas.openxmlformats.org/drawingml/2006/chart">
            <c:chart xmlns:c="http://schemas.openxmlformats.org/drawingml/2006/chart" r:id="rId9"/>
          </a:graphicData>
        </a:graphic>
      </p:graphicFrame>
      <p:sp>
        <p:nvSpPr>
          <p:cNvPr id="52" name="Text 42"/>
          <p:cNvSpPr txBox="1"/>
          <p:nvPr/>
        </p:nvSpPr>
        <p:spPr>
          <a:xfrm>
            <a:off x="10543032" y="225399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3" name="Text 43"/>
          <p:cNvSpPr txBox="1"/>
          <p:nvPr/>
        </p:nvSpPr>
        <p:spPr>
          <a:xfrm>
            <a:off x="10543032"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54" name="Text 44"/>
          <p:cNvSpPr txBox="1"/>
          <p:nvPr/>
        </p:nvSpPr>
        <p:spPr>
          <a:xfrm>
            <a:off x="8132064"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55" name="Text 45"/>
          <p:cNvSpPr txBox="1"/>
          <p:nvPr/>
        </p:nvSpPr>
        <p:spPr>
          <a:xfrm>
            <a:off x="8479536"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graphicFrame>
        <p:nvGraphicFramePr>
          <p:cNvPr id="56" name="Chart 8" descr=""/>
          <p:cNvGraphicFramePr/>
          <p:nvPr/>
        </p:nvGraphicFramePr>
        <p:xfrm>
          <a:off x="8479536" y="4175760"/>
          <a:ext cx="1972056" cy="502615"/>
        </p:xfrm>
        <a:graphic>
          <a:graphicData uri="http://schemas.openxmlformats.org/drawingml/2006/chart">
            <c:chart xmlns:c="http://schemas.openxmlformats.org/drawingml/2006/chart" r:id="rId10"/>
          </a:graphicData>
        </a:graphic>
      </p:graphicFrame>
      <p:graphicFrame>
        <p:nvGraphicFramePr>
          <p:cNvPr id="57" name="Chart 9" descr=""/>
          <p:cNvGraphicFramePr/>
          <p:nvPr/>
        </p:nvGraphicFramePr>
        <p:xfrm>
          <a:off x="8479536" y="4175760"/>
          <a:ext cx="1972056" cy="502615"/>
        </p:xfrm>
        <a:graphic>
          <a:graphicData uri="http://schemas.openxmlformats.org/drawingml/2006/chart">
            <c:chart xmlns:c="http://schemas.openxmlformats.org/drawingml/2006/chart" r:id="rId11"/>
          </a:graphicData>
        </a:graphic>
      </p:graphicFrame>
      <p:sp>
        <p:nvSpPr>
          <p:cNvPr id="58" name="Text 46"/>
          <p:cNvSpPr txBox="1"/>
          <p:nvPr/>
        </p:nvSpPr>
        <p:spPr>
          <a:xfrm>
            <a:off x="10543032" y="373227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9" name="Text 47"/>
          <p:cNvSpPr txBox="1"/>
          <p:nvPr/>
        </p:nvSpPr>
        <p:spPr>
          <a:xfrm>
            <a:off x="10543032"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+$36K</a:t>
            </a:r>
            <a:endParaRPr lang="en-US" sz="1300" dirty="0"/>
          </a:p>
        </p:txBody>
      </p:sp>
      <p:sp>
        <p:nvSpPr>
          <p:cNvPr id="60" name="Shape 48"/>
          <p:cNvSpPr/>
          <p:nvPr/>
        </p:nvSpPr>
        <p:spPr>
          <a:xfrm>
            <a:off x="8040624" y="4767072"/>
            <a:ext cx="3489960" cy="1478280"/>
          </a:xfrm>
          <a:prstGeom prst="rect">
            <a:avLst/>
          </a:prstGeom>
          <a:solidFill>
            <a:srgbClr val="F7F7F7"/>
          </a:solidFill>
          <a:ln/>
        </p:spPr>
      </p:sp>
      <p:sp>
        <p:nvSpPr>
          <p:cNvPr id="61" name="Text 49"/>
          <p:cNvSpPr txBox="1"/>
          <p:nvPr/>
        </p:nvSpPr>
        <p:spPr>
          <a:xfrm>
            <a:off x="8132064"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62" name="Text 50"/>
          <p:cNvSpPr txBox="1"/>
          <p:nvPr/>
        </p:nvSpPr>
        <p:spPr>
          <a:xfrm>
            <a:off x="8479536"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graphicFrame>
        <p:nvGraphicFramePr>
          <p:cNvPr id="63" name="Chart 10" descr=""/>
          <p:cNvGraphicFramePr/>
          <p:nvPr/>
        </p:nvGraphicFramePr>
        <p:xfrm>
          <a:off x="8479536" y="5654040"/>
          <a:ext cx="1972056" cy="502615"/>
        </p:xfrm>
        <a:graphic>
          <a:graphicData uri="http://schemas.openxmlformats.org/drawingml/2006/chart">
            <c:chart xmlns:c="http://schemas.openxmlformats.org/drawingml/2006/chart" r:id="rId12"/>
          </a:graphicData>
        </a:graphic>
      </p:graphicFrame>
      <p:graphicFrame>
        <p:nvGraphicFramePr>
          <p:cNvPr id="64" name="Chart 11" descr=""/>
          <p:cNvGraphicFramePr/>
          <p:nvPr/>
        </p:nvGraphicFramePr>
        <p:xfrm>
          <a:off x="8479536" y="5654040"/>
          <a:ext cx="1972056" cy="502615"/>
        </p:xfrm>
        <a:graphic>
          <a:graphicData uri="http://schemas.openxmlformats.org/drawingml/2006/chart">
            <c:chart xmlns:c="http://schemas.openxmlformats.org/drawingml/2006/chart" r:id="rId13"/>
          </a:graphicData>
        </a:graphic>
      </p:graphicFrame>
      <p:sp>
        <p:nvSpPr>
          <p:cNvPr id="65" name="Text 51"/>
          <p:cNvSpPr txBox="1"/>
          <p:nvPr/>
        </p:nvSpPr>
        <p:spPr>
          <a:xfrm>
            <a:off x="10543032" y="521055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6" name="Text 52"/>
          <p:cNvSpPr txBox="1"/>
          <p:nvPr/>
        </p:nvSpPr>
        <p:spPr>
          <a:xfrm>
            <a:off x="10543032"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+$16K</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dealership's fixed expenses are covered by parts and service gross profit.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917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88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43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5014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21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3674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3227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227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8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33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1887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441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67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5" name="Shape 63"/>
          <p:cNvSpPr/>
          <p:nvPr/>
        </p:nvSpPr>
        <p:spPr>
          <a:xfrm>
            <a:off x="3785616" y="5030502"/>
            <a:ext cx="1742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174209"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740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294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67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593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47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6801"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40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9331557"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331557"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7090"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6888" y="4070920"/>
            <a:ext cx="491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888" y="4310815"/>
            <a:ext cx="49136"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3285" y="4550711"/>
            <a:ext cx="10273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543" y="4790606"/>
            <a:ext cx="27248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2735" y="5030502"/>
            <a:ext cx="433289"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867" y="5270397"/>
            <a:ext cx="45115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10 declined.</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3 VS LAST YEAR</a:t>
            </a:r>
            <a:endParaRPr lang="en-US" sz="1500" dirty="0"/>
          </a:p>
        </p:txBody>
      </p:sp>
      <p:sp>
        <p:nvSpPr>
          <p:cNvPr id="9" name="Shape 7"/>
          <p:cNvSpPr/>
          <p:nvPr/>
        </p:nvSpPr>
        <p:spPr>
          <a:xfrm>
            <a:off x="658368" y="1810512"/>
            <a:ext cx="3489960" cy="1478280"/>
          </a:xfrm>
          <a:prstGeom prst="rect">
            <a:avLst/>
          </a:prstGeom>
          <a:solidFill>
            <a:srgbClr val="F7F7F7"/>
          </a:solidFill>
          <a:ln/>
        </p:spPr>
      </p:sp>
      <p:sp>
        <p:nvSpPr>
          <p:cNvPr id="10" name="Text 8"/>
          <p:cNvSpPr txBox="1"/>
          <p:nvPr/>
        </p:nvSpPr>
        <p:spPr>
          <a:xfrm>
            <a:off x="749808"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11" name="Text 9"/>
          <p:cNvSpPr txBox="1"/>
          <p:nvPr/>
        </p:nvSpPr>
        <p:spPr>
          <a:xfrm>
            <a:off x="1097280"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graphicFrame>
        <p:nvGraphicFramePr>
          <p:cNvPr id="12" name="Chart 0" descr=""/>
          <p:cNvGraphicFramePr/>
          <p:nvPr/>
        </p:nvGraphicFramePr>
        <p:xfrm>
          <a:off x="1097280" y="2697480"/>
          <a:ext cx="1972056" cy="502615"/>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4" name="Text 11"/>
          <p:cNvSpPr txBox="1"/>
          <p:nvPr/>
        </p:nvSpPr>
        <p:spPr>
          <a:xfrm>
            <a:off x="749808"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15" name="Text 12"/>
          <p:cNvSpPr txBox="1"/>
          <p:nvPr/>
        </p:nvSpPr>
        <p:spPr>
          <a:xfrm>
            <a:off x="1097280"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graphicFrame>
        <p:nvGraphicFramePr>
          <p:cNvPr id="16" name="Chart 1" descr=""/>
          <p:cNvGraphicFramePr/>
          <p:nvPr/>
        </p:nvGraphicFramePr>
        <p:xfrm>
          <a:off x="1097280" y="4175760"/>
          <a:ext cx="1972056" cy="502615"/>
        </p:xfrm>
        <a:graphic>
          <a:graphicData uri="http://schemas.openxmlformats.org/drawingml/2006/chart">
            <c:chart xmlns:c="http://schemas.openxmlformats.org/drawingml/2006/chart" r:id="rId3"/>
          </a:graphicData>
        </a:graphic>
      </p:graphicFrame>
      <p:sp>
        <p:nvSpPr>
          <p:cNvPr id="17" name="Text 13"/>
          <p:cNvSpPr txBox="1"/>
          <p:nvPr/>
        </p:nvSpPr>
        <p:spPr>
          <a:xfrm>
            <a:off x="2941320" y="328879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+9.6 pts</a:t>
            </a:r>
            <a:endParaRPr lang="en-US" sz="1600" dirty="0"/>
          </a:p>
        </p:txBody>
      </p:sp>
      <p:sp>
        <p:nvSpPr>
          <p:cNvPr id="18" name="Shape 14"/>
          <p:cNvSpPr/>
          <p:nvPr/>
        </p:nvSpPr>
        <p:spPr>
          <a:xfrm>
            <a:off x="658368" y="4767072"/>
            <a:ext cx="3489960" cy="1478280"/>
          </a:xfrm>
          <a:prstGeom prst="rect">
            <a:avLst/>
          </a:prstGeom>
          <a:solidFill>
            <a:srgbClr val="F7F7F7"/>
          </a:solidFill>
          <a:ln/>
        </p:spPr>
      </p:sp>
      <p:sp>
        <p:nvSpPr>
          <p:cNvPr id="19" name="Shape 15"/>
          <p:cNvSpPr/>
          <p:nvPr/>
        </p:nvSpPr>
        <p:spPr>
          <a:xfrm>
            <a:off x="4084320" y="4803648"/>
            <a:ext cx="64008" cy="1405128"/>
          </a:xfrm>
          <a:prstGeom prst="rect">
            <a:avLst/>
          </a:prstGeom>
          <a:solidFill>
            <a:srgbClr val="12A566"/>
          </a:solidFill>
          <a:ln/>
        </p:spPr>
      </p:sp>
      <p:sp>
        <p:nvSpPr>
          <p:cNvPr id="20" name="Text 16"/>
          <p:cNvSpPr txBox="1"/>
          <p:nvPr/>
        </p:nvSpPr>
        <p:spPr>
          <a:xfrm>
            <a:off x="749808"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21" name="Text 17"/>
          <p:cNvSpPr txBox="1"/>
          <p:nvPr/>
        </p:nvSpPr>
        <p:spPr>
          <a:xfrm>
            <a:off x="1097280"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graphicFrame>
        <p:nvGraphicFramePr>
          <p:cNvPr id="22" name="Chart 2" descr=""/>
          <p:cNvGraphicFramePr/>
          <p:nvPr/>
        </p:nvGraphicFramePr>
        <p:xfrm>
          <a:off x="1097280" y="5654040"/>
          <a:ext cx="1972056" cy="502615"/>
        </p:xfrm>
        <a:graphic>
          <a:graphicData uri="http://schemas.openxmlformats.org/drawingml/2006/chart">
            <c:chart xmlns:c="http://schemas.openxmlformats.org/drawingml/2006/chart" r:id="rId4"/>
          </a:graphicData>
        </a:graphic>
      </p:graphicFrame>
      <p:sp>
        <p:nvSpPr>
          <p:cNvPr id="23" name="Text 18"/>
          <p:cNvSpPr txBox="1"/>
          <p:nvPr/>
        </p:nvSpPr>
        <p:spPr>
          <a:xfrm>
            <a:off x="2941320" y="476707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4" name="Shape 19"/>
          <p:cNvSpPr/>
          <p:nvPr/>
        </p:nvSpPr>
        <p:spPr>
          <a:xfrm>
            <a:off x="4349496" y="1371600"/>
            <a:ext cx="3489960" cy="45720"/>
          </a:xfrm>
          <a:prstGeom prst="rect">
            <a:avLst/>
          </a:prstGeom>
          <a:solidFill>
            <a:srgbClr val="C2352F"/>
          </a:solidFill>
          <a:ln/>
        </p:spPr>
      </p:sp>
      <p:sp>
        <p:nvSpPr>
          <p:cNvPr id="25" name="Text 20"/>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3 VS LAST YEAR</a:t>
            </a:r>
            <a:endParaRPr lang="en-US" sz="1500" dirty="0"/>
          </a:p>
        </p:txBody>
      </p:sp>
      <p:sp>
        <p:nvSpPr>
          <p:cNvPr id="26" name="Shape 21"/>
          <p:cNvSpPr/>
          <p:nvPr/>
        </p:nvSpPr>
        <p:spPr>
          <a:xfrm>
            <a:off x="4349496" y="1810512"/>
            <a:ext cx="3489960" cy="1478280"/>
          </a:xfrm>
          <a:prstGeom prst="rect">
            <a:avLst/>
          </a:prstGeom>
          <a:solidFill>
            <a:srgbClr val="F7F7F7"/>
          </a:solidFill>
          <a:ln/>
        </p:spPr>
      </p:sp>
      <p:sp>
        <p:nvSpPr>
          <p:cNvPr id="27" name="Text 22"/>
          <p:cNvSpPr txBox="1"/>
          <p:nvPr/>
        </p:nvSpPr>
        <p:spPr>
          <a:xfrm>
            <a:off x="4440936"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33</a:t>
            </a:r>
            <a:endParaRPr lang="en-US" sz="2000" dirty="0"/>
          </a:p>
        </p:txBody>
      </p:sp>
      <p:sp>
        <p:nvSpPr>
          <p:cNvPr id="28" name="Text 23"/>
          <p:cNvSpPr txBox="1"/>
          <p:nvPr/>
        </p:nvSpPr>
        <p:spPr>
          <a:xfrm>
            <a:off x="4788408"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graphicFrame>
        <p:nvGraphicFramePr>
          <p:cNvPr id="29" name="Chart 3" descr=""/>
          <p:cNvGraphicFramePr/>
          <p:nvPr/>
        </p:nvGraphicFramePr>
        <p:xfrm>
          <a:off x="4788408" y="2697480"/>
          <a:ext cx="1972056" cy="502615"/>
        </p:xfrm>
        <a:graphic>
          <a:graphicData uri="http://schemas.openxmlformats.org/drawingml/2006/chart">
            <c:chart xmlns:c="http://schemas.openxmlformats.org/drawingml/2006/chart" r:id="rId5"/>
          </a:graphicData>
        </a:graphic>
      </p:graphicFrame>
      <p:sp>
        <p:nvSpPr>
          <p:cNvPr id="30" name="Text 24"/>
          <p:cNvSpPr txBox="1"/>
          <p:nvPr/>
        </p:nvSpPr>
        <p:spPr>
          <a:xfrm>
            <a:off x="6632448" y="181051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1" name="Shape 25"/>
          <p:cNvSpPr/>
          <p:nvPr/>
        </p:nvSpPr>
        <p:spPr>
          <a:xfrm>
            <a:off x="7775448" y="3325368"/>
            <a:ext cx="64008" cy="1405128"/>
          </a:xfrm>
          <a:prstGeom prst="rect">
            <a:avLst/>
          </a:prstGeom>
          <a:solidFill>
            <a:srgbClr val="2587C5"/>
          </a:solidFill>
          <a:ln/>
        </p:spPr>
      </p:sp>
      <p:sp>
        <p:nvSpPr>
          <p:cNvPr id="32" name="Text 26"/>
          <p:cNvSpPr txBox="1"/>
          <p:nvPr/>
        </p:nvSpPr>
        <p:spPr>
          <a:xfrm>
            <a:off x="4440936"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32</a:t>
            </a:r>
            <a:endParaRPr lang="en-US" sz="2000" dirty="0"/>
          </a:p>
        </p:txBody>
      </p:sp>
      <p:sp>
        <p:nvSpPr>
          <p:cNvPr id="33" name="Text 27"/>
          <p:cNvSpPr txBox="1"/>
          <p:nvPr/>
        </p:nvSpPr>
        <p:spPr>
          <a:xfrm>
            <a:off x="4788408"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graphicFrame>
        <p:nvGraphicFramePr>
          <p:cNvPr id="34" name="Chart 4" descr=""/>
          <p:cNvGraphicFramePr/>
          <p:nvPr/>
        </p:nvGraphicFramePr>
        <p:xfrm>
          <a:off x="4788408" y="4175760"/>
          <a:ext cx="1972056" cy="502615"/>
        </p:xfrm>
        <a:graphic>
          <a:graphicData uri="http://schemas.openxmlformats.org/drawingml/2006/chart">
            <c:chart xmlns:c="http://schemas.openxmlformats.org/drawingml/2006/chart" r:id="rId6"/>
          </a:graphicData>
        </a:graphic>
      </p:graphicFrame>
      <p:sp>
        <p:nvSpPr>
          <p:cNvPr id="35" name="Text 28"/>
          <p:cNvSpPr txBox="1"/>
          <p:nvPr/>
        </p:nvSpPr>
        <p:spPr>
          <a:xfrm>
            <a:off x="6632448" y="328879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6" name="Shape 29"/>
          <p:cNvSpPr/>
          <p:nvPr/>
        </p:nvSpPr>
        <p:spPr>
          <a:xfrm>
            <a:off x="4349496" y="4767072"/>
            <a:ext cx="3489960" cy="1478280"/>
          </a:xfrm>
          <a:prstGeom prst="rect">
            <a:avLst/>
          </a:prstGeom>
          <a:solidFill>
            <a:srgbClr val="F7F7F7"/>
          </a:solidFill>
          <a:ln/>
        </p:spPr>
      </p:sp>
      <p:sp>
        <p:nvSpPr>
          <p:cNvPr id="37" name="Text 30"/>
          <p:cNvSpPr txBox="1"/>
          <p:nvPr/>
        </p:nvSpPr>
        <p:spPr>
          <a:xfrm>
            <a:off x="4440936"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31</a:t>
            </a:r>
            <a:endParaRPr lang="en-US" sz="2000" dirty="0"/>
          </a:p>
        </p:txBody>
      </p:sp>
      <p:sp>
        <p:nvSpPr>
          <p:cNvPr id="38" name="Text 31"/>
          <p:cNvSpPr txBox="1"/>
          <p:nvPr/>
        </p:nvSpPr>
        <p:spPr>
          <a:xfrm>
            <a:off x="4788408"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graphicFrame>
        <p:nvGraphicFramePr>
          <p:cNvPr id="39" name="Chart 5" descr=""/>
          <p:cNvGraphicFramePr/>
          <p:nvPr/>
        </p:nvGraphicFramePr>
        <p:xfrm>
          <a:off x="4788408" y="5654040"/>
          <a:ext cx="1972056" cy="502615"/>
        </p:xfrm>
        <a:graphic>
          <a:graphicData uri="http://schemas.openxmlformats.org/drawingml/2006/chart">
            <c:chart xmlns:c="http://schemas.openxmlformats.org/drawingml/2006/chart" r:id="rId7"/>
          </a:graphicData>
        </a:graphic>
      </p:graphicFrame>
      <p:sp>
        <p:nvSpPr>
          <p:cNvPr id="40" name="Text 32"/>
          <p:cNvSpPr txBox="1"/>
          <p:nvPr/>
        </p:nvSpPr>
        <p:spPr>
          <a:xfrm>
            <a:off x="6632448" y="476707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1" name="Shape 33"/>
          <p:cNvSpPr/>
          <p:nvPr/>
        </p:nvSpPr>
        <p:spPr>
          <a:xfrm>
            <a:off x="8040624" y="1371600"/>
            <a:ext cx="3489960" cy="45720"/>
          </a:xfrm>
          <a:prstGeom prst="rect">
            <a:avLst/>
          </a:prstGeom>
          <a:solidFill>
            <a:srgbClr val="2587C5"/>
          </a:solidFill>
          <a:ln/>
        </p:spPr>
      </p:sp>
      <p:sp>
        <p:nvSpPr>
          <p:cNvPr id="42" name="Text 34"/>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3 MOVING NOW</a:t>
            </a:r>
            <a:endParaRPr lang="en-US" sz="1500" dirty="0"/>
          </a:p>
        </p:txBody>
      </p:sp>
      <p:sp>
        <p:nvSpPr>
          <p:cNvPr id="43" name="Shape 35"/>
          <p:cNvSpPr/>
          <p:nvPr/>
        </p:nvSpPr>
        <p:spPr>
          <a:xfrm>
            <a:off x="8040624" y="1810512"/>
            <a:ext cx="3489960" cy="1478280"/>
          </a:xfrm>
          <a:prstGeom prst="rect">
            <a:avLst/>
          </a:prstGeom>
          <a:solidFill>
            <a:srgbClr val="F7F7F7"/>
          </a:solidFill>
          <a:ln/>
        </p:spPr>
      </p:sp>
      <p:sp>
        <p:nvSpPr>
          <p:cNvPr id="44" name="Text 36"/>
          <p:cNvSpPr txBox="1"/>
          <p:nvPr/>
        </p:nvSpPr>
        <p:spPr>
          <a:xfrm>
            <a:off x="8132064"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45" name="Text 37"/>
          <p:cNvSpPr txBox="1"/>
          <p:nvPr/>
        </p:nvSpPr>
        <p:spPr>
          <a:xfrm>
            <a:off x="8479536"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graphicFrame>
        <p:nvGraphicFramePr>
          <p:cNvPr id="46" name="Chart 6" descr=""/>
          <p:cNvGraphicFramePr/>
          <p:nvPr/>
        </p:nvGraphicFramePr>
        <p:xfrm>
          <a:off x="8479536" y="2697480"/>
          <a:ext cx="1972056" cy="502615"/>
        </p:xfrm>
        <a:graphic>
          <a:graphicData uri="http://schemas.openxmlformats.org/drawingml/2006/chart">
            <c:chart xmlns:c="http://schemas.openxmlformats.org/drawingml/2006/chart" r:id="rId8"/>
          </a:graphicData>
        </a:graphic>
      </p:graphicFrame>
      <p:graphicFrame>
        <p:nvGraphicFramePr>
          <p:cNvPr id="47" name="Chart 7" descr=""/>
          <p:cNvGraphicFramePr/>
          <p:nvPr/>
        </p:nvGraphicFramePr>
        <p:xfrm>
          <a:off x="8479536" y="2697480"/>
          <a:ext cx="1972056" cy="502615"/>
        </p:xfrm>
        <a:graphic>
          <a:graphicData uri="http://schemas.openxmlformats.org/drawingml/2006/chart">
            <c:chart xmlns:c="http://schemas.openxmlformats.org/drawingml/2006/chart" r:id="rId9"/>
          </a:graphicData>
        </a:graphic>
      </p:graphicFrame>
      <p:sp>
        <p:nvSpPr>
          <p:cNvPr id="48" name="Text 38"/>
          <p:cNvSpPr txBox="1"/>
          <p:nvPr/>
        </p:nvSpPr>
        <p:spPr>
          <a:xfrm>
            <a:off x="10323576" y="181051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+16.2 pts</a:t>
            </a:r>
            <a:endParaRPr lang="en-US" sz="1600" dirty="0"/>
          </a:p>
        </p:txBody>
      </p:sp>
      <p:sp>
        <p:nvSpPr>
          <p:cNvPr id="49" name="Shape 39"/>
          <p:cNvSpPr/>
          <p:nvPr/>
        </p:nvSpPr>
        <p:spPr>
          <a:xfrm>
            <a:off x="11466576" y="3325368"/>
            <a:ext cx="64008" cy="1405128"/>
          </a:xfrm>
          <a:prstGeom prst="rect">
            <a:avLst/>
          </a:prstGeom>
          <a:solidFill>
            <a:srgbClr val="12A566"/>
          </a:solidFill>
          <a:ln/>
        </p:spPr>
      </p:sp>
      <p:sp>
        <p:nvSpPr>
          <p:cNvPr id="50" name="Text 40"/>
          <p:cNvSpPr txBox="1"/>
          <p:nvPr/>
        </p:nvSpPr>
        <p:spPr>
          <a:xfrm>
            <a:off x="8132064"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51" name="Text 41"/>
          <p:cNvSpPr txBox="1"/>
          <p:nvPr/>
        </p:nvSpPr>
        <p:spPr>
          <a:xfrm>
            <a:off x="8479536"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graphicFrame>
        <p:nvGraphicFramePr>
          <p:cNvPr id="52" name="Chart 8" descr=""/>
          <p:cNvGraphicFramePr/>
          <p:nvPr/>
        </p:nvGraphicFramePr>
        <p:xfrm>
          <a:off x="8479536" y="4175760"/>
          <a:ext cx="1972056" cy="502615"/>
        </p:xfrm>
        <a:graphic>
          <a:graphicData uri="http://schemas.openxmlformats.org/drawingml/2006/chart">
            <c:chart xmlns:c="http://schemas.openxmlformats.org/drawingml/2006/chart" r:id="rId10"/>
          </a:graphicData>
        </a:graphic>
      </p:graphicFrame>
      <p:graphicFrame>
        <p:nvGraphicFramePr>
          <p:cNvPr id="53" name="Chart 9" descr=""/>
          <p:cNvGraphicFramePr/>
          <p:nvPr/>
        </p:nvGraphicFramePr>
        <p:xfrm>
          <a:off x="8479536" y="4175760"/>
          <a:ext cx="1972056" cy="502615"/>
        </p:xfrm>
        <a:graphic>
          <a:graphicData uri="http://schemas.openxmlformats.org/drawingml/2006/chart">
            <c:chart xmlns:c="http://schemas.openxmlformats.org/drawingml/2006/chart" r:id="rId11"/>
          </a:graphicData>
        </a:graphic>
      </p:graphicFrame>
      <p:sp>
        <p:nvSpPr>
          <p:cNvPr id="54" name="Text 42"/>
          <p:cNvSpPr txBox="1"/>
          <p:nvPr/>
        </p:nvSpPr>
        <p:spPr>
          <a:xfrm>
            <a:off x="10323576" y="328879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55" name="Shape 43"/>
          <p:cNvSpPr/>
          <p:nvPr/>
        </p:nvSpPr>
        <p:spPr>
          <a:xfrm>
            <a:off x="8040624" y="4767072"/>
            <a:ext cx="3489960" cy="1478280"/>
          </a:xfrm>
          <a:prstGeom prst="rect">
            <a:avLst/>
          </a:prstGeom>
          <a:solidFill>
            <a:srgbClr val="F7F7F7"/>
          </a:solidFill>
          <a:ln/>
        </p:spPr>
      </p:sp>
      <p:sp>
        <p:nvSpPr>
          <p:cNvPr id="56" name="Shape 44"/>
          <p:cNvSpPr/>
          <p:nvPr/>
        </p:nvSpPr>
        <p:spPr>
          <a:xfrm>
            <a:off x="11466576" y="4803648"/>
            <a:ext cx="64008" cy="1405128"/>
          </a:xfrm>
          <a:prstGeom prst="rect">
            <a:avLst/>
          </a:prstGeom>
          <a:solidFill>
            <a:srgbClr val="2587C5"/>
          </a:solidFill>
          <a:ln/>
        </p:spPr>
      </p:sp>
      <p:sp>
        <p:nvSpPr>
          <p:cNvPr id="57" name="Text 45"/>
          <p:cNvSpPr txBox="1"/>
          <p:nvPr/>
        </p:nvSpPr>
        <p:spPr>
          <a:xfrm>
            <a:off x="8132064"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58" name="Text 46"/>
          <p:cNvSpPr txBox="1"/>
          <p:nvPr/>
        </p:nvSpPr>
        <p:spPr>
          <a:xfrm>
            <a:off x="8479536"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graphicFrame>
        <p:nvGraphicFramePr>
          <p:cNvPr id="59" name="Chart 10" descr=""/>
          <p:cNvGraphicFramePr/>
          <p:nvPr/>
        </p:nvGraphicFramePr>
        <p:xfrm>
          <a:off x="8479536" y="5654040"/>
          <a:ext cx="1972056" cy="502615"/>
        </p:xfrm>
        <a:graphic>
          <a:graphicData uri="http://schemas.openxmlformats.org/drawingml/2006/chart">
            <c:chart xmlns:c="http://schemas.openxmlformats.org/drawingml/2006/chart" r:id="rId12"/>
          </a:graphicData>
        </a:graphic>
      </p:graphicFrame>
      <p:graphicFrame>
        <p:nvGraphicFramePr>
          <p:cNvPr id="60" name="Chart 11" descr=""/>
          <p:cNvGraphicFramePr/>
          <p:nvPr/>
        </p:nvGraphicFramePr>
        <p:xfrm>
          <a:off x="8479536" y="5654040"/>
          <a:ext cx="1972056" cy="502615"/>
        </p:xfrm>
        <a:graphic>
          <a:graphicData uri="http://schemas.openxmlformats.org/drawingml/2006/chart">
            <c:chart xmlns:c="http://schemas.openxmlformats.org/drawingml/2006/chart" r:id="rId13"/>
          </a:graphicData>
        </a:graphic>
      </p:graphicFrame>
      <p:sp>
        <p:nvSpPr>
          <p:cNvPr id="61" name="Text 47"/>
          <p:cNvSpPr txBox="1"/>
          <p:nvPr/>
        </p:nvSpPr>
        <p:spPr>
          <a:xfrm>
            <a:off x="10323576" y="476707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9" name="Shape 146"/>
          <p:cNvSpPr/>
          <p:nvPr/>
        </p:nvSpPr>
        <p:spPr>
          <a:xfrm>
            <a:off x="457200" y="6126480"/>
            <a:ext cx="11274552" cy="371856"/>
          </a:xfrm>
          <a:prstGeom prst="rect">
            <a:avLst/>
          </a:prstGeom>
          <a:solidFill>
            <a:srgbClr val="EDF4FA"/>
          </a:solidFill>
          <a:ln/>
        </p:spPr>
      </p:sp>
      <p:sp>
        <p:nvSpPr>
          <p:cNvPr id="150" name="Text 14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33 stores at or above the 21.8% group.</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027"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34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785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609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28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36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7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16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84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207"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36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904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40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9512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7" name="Shape 75"/>
          <p:cNvSpPr/>
          <p:nvPr/>
        </p:nvSpPr>
        <p:spPr>
          <a:xfrm>
            <a:off x="3785616" y="5750188"/>
            <a:ext cx="951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48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816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5683"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104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552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74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222" y="3831024"/>
            <a:ext cx="34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2661" y="4070920"/>
            <a:ext cx="53363"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1780" y="4310815"/>
            <a:ext cx="7424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3219" y="4550711"/>
            <a:ext cx="928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7698" y="4790606"/>
            <a:ext cx="1183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41134" y="5030502"/>
            <a:ext cx="1948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3131" y="5270397"/>
            <a:ext cx="2528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4232" y="5510293"/>
            <a:ext cx="621792"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9 declined.</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3 VS LAST YEAR</a:t>
            </a:r>
            <a:endParaRPr lang="en-US" sz="1500" dirty="0"/>
          </a:p>
        </p:txBody>
      </p:sp>
      <p:sp>
        <p:nvSpPr>
          <p:cNvPr id="9" name="Shape 7"/>
          <p:cNvSpPr/>
          <p:nvPr/>
        </p:nvSpPr>
        <p:spPr>
          <a:xfrm>
            <a:off x="658368" y="1810512"/>
            <a:ext cx="3489960" cy="1478280"/>
          </a:xfrm>
          <a:prstGeom prst="rect">
            <a:avLst/>
          </a:prstGeom>
          <a:solidFill>
            <a:srgbClr val="F7F7F7"/>
          </a:solidFill>
          <a:ln/>
        </p:spPr>
      </p:sp>
      <p:sp>
        <p:nvSpPr>
          <p:cNvPr id="10" name="Shape 8"/>
          <p:cNvSpPr/>
          <p:nvPr/>
        </p:nvSpPr>
        <p:spPr>
          <a:xfrm>
            <a:off x="4084320" y="1847088"/>
            <a:ext cx="64008" cy="1405128"/>
          </a:xfrm>
          <a:prstGeom prst="rect">
            <a:avLst/>
          </a:prstGeom>
          <a:solidFill>
            <a:srgbClr val="12A566"/>
          </a:solidFill>
          <a:ln/>
        </p:spPr>
      </p:sp>
      <p:sp>
        <p:nvSpPr>
          <p:cNvPr id="11" name="Text 9"/>
          <p:cNvSpPr txBox="1"/>
          <p:nvPr/>
        </p:nvSpPr>
        <p:spPr>
          <a:xfrm>
            <a:off x="749808"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12" name="Text 10"/>
          <p:cNvSpPr txBox="1"/>
          <p:nvPr/>
        </p:nvSpPr>
        <p:spPr>
          <a:xfrm>
            <a:off x="1097280"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graphicFrame>
        <p:nvGraphicFramePr>
          <p:cNvPr id="13" name="Chart 0" descr=""/>
          <p:cNvGraphicFramePr/>
          <p:nvPr/>
        </p:nvGraphicFramePr>
        <p:xfrm>
          <a:off x="1097280" y="2697480"/>
          <a:ext cx="1972056" cy="502615"/>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5" name="Text 12"/>
          <p:cNvSpPr txBox="1"/>
          <p:nvPr/>
        </p:nvSpPr>
        <p:spPr>
          <a:xfrm>
            <a:off x="749808"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16" name="Text 13"/>
          <p:cNvSpPr txBox="1"/>
          <p:nvPr/>
        </p:nvSpPr>
        <p:spPr>
          <a:xfrm>
            <a:off x="1097280"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graphicFrame>
        <p:nvGraphicFramePr>
          <p:cNvPr id="17" name="Chart 1" descr=""/>
          <p:cNvGraphicFramePr/>
          <p:nvPr/>
        </p:nvGraphicFramePr>
        <p:xfrm>
          <a:off x="1097280" y="4175760"/>
          <a:ext cx="1972056" cy="502615"/>
        </p:xfrm>
        <a:graphic>
          <a:graphicData uri="http://schemas.openxmlformats.org/drawingml/2006/chart">
            <c:chart xmlns:c="http://schemas.openxmlformats.org/drawingml/2006/chart" r:id="rId3"/>
          </a:graphicData>
        </a:graphic>
      </p:graphicFrame>
      <p:sp>
        <p:nvSpPr>
          <p:cNvPr id="18" name="Text 14"/>
          <p:cNvSpPr txBox="1"/>
          <p:nvPr/>
        </p:nvSpPr>
        <p:spPr>
          <a:xfrm>
            <a:off x="2941320" y="328879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9" name="Shape 15"/>
          <p:cNvSpPr/>
          <p:nvPr/>
        </p:nvSpPr>
        <p:spPr>
          <a:xfrm>
            <a:off x="658368" y="4767072"/>
            <a:ext cx="3489960" cy="1478280"/>
          </a:xfrm>
          <a:prstGeom prst="rect">
            <a:avLst/>
          </a:prstGeom>
          <a:solidFill>
            <a:srgbClr val="F7F7F7"/>
          </a:solidFill>
          <a:ln/>
        </p:spPr>
      </p:sp>
      <p:sp>
        <p:nvSpPr>
          <p:cNvPr id="20" name="Shape 16"/>
          <p:cNvSpPr/>
          <p:nvPr/>
        </p:nvSpPr>
        <p:spPr>
          <a:xfrm>
            <a:off x="4084320" y="4803648"/>
            <a:ext cx="64008" cy="1405128"/>
          </a:xfrm>
          <a:prstGeom prst="rect">
            <a:avLst/>
          </a:prstGeom>
          <a:solidFill>
            <a:srgbClr val="12A566"/>
          </a:solidFill>
          <a:ln/>
        </p:spPr>
      </p:sp>
      <p:sp>
        <p:nvSpPr>
          <p:cNvPr id="21" name="Text 17"/>
          <p:cNvSpPr txBox="1"/>
          <p:nvPr/>
        </p:nvSpPr>
        <p:spPr>
          <a:xfrm>
            <a:off x="749808"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22" name="Text 18"/>
          <p:cNvSpPr txBox="1"/>
          <p:nvPr/>
        </p:nvSpPr>
        <p:spPr>
          <a:xfrm>
            <a:off x="1097280"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graphicFrame>
        <p:nvGraphicFramePr>
          <p:cNvPr id="23" name="Chart 2" descr=""/>
          <p:cNvGraphicFramePr/>
          <p:nvPr/>
        </p:nvGraphicFramePr>
        <p:xfrm>
          <a:off x="1097280" y="5654040"/>
          <a:ext cx="1972056" cy="502615"/>
        </p:xfrm>
        <a:graphic>
          <a:graphicData uri="http://schemas.openxmlformats.org/drawingml/2006/chart">
            <c:chart xmlns:c="http://schemas.openxmlformats.org/drawingml/2006/chart" r:id="rId4"/>
          </a:graphicData>
        </a:graphic>
      </p:graphicFrame>
      <p:sp>
        <p:nvSpPr>
          <p:cNvPr id="24" name="Text 19"/>
          <p:cNvSpPr txBox="1"/>
          <p:nvPr/>
        </p:nvSpPr>
        <p:spPr>
          <a:xfrm>
            <a:off x="2941320" y="476707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5" name="Shape 20"/>
          <p:cNvSpPr/>
          <p:nvPr/>
        </p:nvSpPr>
        <p:spPr>
          <a:xfrm>
            <a:off x="4349496" y="1371600"/>
            <a:ext cx="3489960" cy="45720"/>
          </a:xfrm>
          <a:prstGeom prst="rect">
            <a:avLst/>
          </a:prstGeom>
          <a:solidFill>
            <a:srgbClr val="C2352F"/>
          </a:solidFill>
          <a:ln/>
        </p:spPr>
      </p:sp>
      <p:sp>
        <p:nvSpPr>
          <p:cNvPr id="26" name="Text 2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3 VS LAST YEAR</a:t>
            </a:r>
            <a:endParaRPr lang="en-US" sz="1500" dirty="0"/>
          </a:p>
        </p:txBody>
      </p:sp>
      <p:sp>
        <p:nvSpPr>
          <p:cNvPr id="27" name="Shape 22"/>
          <p:cNvSpPr/>
          <p:nvPr/>
        </p:nvSpPr>
        <p:spPr>
          <a:xfrm>
            <a:off x="4349496" y="1810512"/>
            <a:ext cx="3489960" cy="1478280"/>
          </a:xfrm>
          <a:prstGeom prst="rect">
            <a:avLst/>
          </a:prstGeom>
          <a:solidFill>
            <a:srgbClr val="F7F7F7"/>
          </a:solidFill>
          <a:ln/>
        </p:spPr>
      </p:sp>
      <p:sp>
        <p:nvSpPr>
          <p:cNvPr id="28" name="Text 23"/>
          <p:cNvSpPr txBox="1"/>
          <p:nvPr/>
        </p:nvSpPr>
        <p:spPr>
          <a:xfrm>
            <a:off x="4440936"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33</a:t>
            </a:r>
            <a:endParaRPr lang="en-US" sz="2000" dirty="0"/>
          </a:p>
        </p:txBody>
      </p:sp>
      <p:sp>
        <p:nvSpPr>
          <p:cNvPr id="29" name="Text 24"/>
          <p:cNvSpPr txBox="1"/>
          <p:nvPr/>
        </p:nvSpPr>
        <p:spPr>
          <a:xfrm>
            <a:off x="4788408"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graphicFrame>
        <p:nvGraphicFramePr>
          <p:cNvPr id="30" name="Chart 3" descr=""/>
          <p:cNvGraphicFramePr/>
          <p:nvPr/>
        </p:nvGraphicFramePr>
        <p:xfrm>
          <a:off x="4788408" y="2697480"/>
          <a:ext cx="1972056" cy="502615"/>
        </p:xfrm>
        <a:graphic>
          <a:graphicData uri="http://schemas.openxmlformats.org/drawingml/2006/chart">
            <c:chart xmlns:c="http://schemas.openxmlformats.org/drawingml/2006/chart" r:id="rId5"/>
          </a:graphicData>
        </a:graphic>
      </p:graphicFrame>
      <p:sp>
        <p:nvSpPr>
          <p:cNvPr id="31" name="Text 25"/>
          <p:cNvSpPr txBox="1"/>
          <p:nvPr/>
        </p:nvSpPr>
        <p:spPr>
          <a:xfrm>
            <a:off x="6632448" y="181051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2" name="Text 26"/>
          <p:cNvSpPr txBox="1"/>
          <p:nvPr/>
        </p:nvSpPr>
        <p:spPr>
          <a:xfrm>
            <a:off x="4440936"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32</a:t>
            </a:r>
            <a:endParaRPr lang="en-US" sz="2000" dirty="0"/>
          </a:p>
        </p:txBody>
      </p:sp>
      <p:sp>
        <p:nvSpPr>
          <p:cNvPr id="33" name="Text 27"/>
          <p:cNvSpPr txBox="1"/>
          <p:nvPr/>
        </p:nvSpPr>
        <p:spPr>
          <a:xfrm>
            <a:off x="4788408"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graphicFrame>
        <p:nvGraphicFramePr>
          <p:cNvPr id="34" name="Chart 4" descr=""/>
          <p:cNvGraphicFramePr/>
          <p:nvPr/>
        </p:nvGraphicFramePr>
        <p:xfrm>
          <a:off x="4788408" y="4175760"/>
          <a:ext cx="1972056" cy="502615"/>
        </p:xfrm>
        <a:graphic>
          <a:graphicData uri="http://schemas.openxmlformats.org/drawingml/2006/chart">
            <c:chart xmlns:c="http://schemas.openxmlformats.org/drawingml/2006/chart" r:id="rId6"/>
          </a:graphicData>
        </a:graphic>
      </p:graphicFrame>
      <p:sp>
        <p:nvSpPr>
          <p:cNvPr id="35" name="Text 28"/>
          <p:cNvSpPr txBox="1"/>
          <p:nvPr/>
        </p:nvSpPr>
        <p:spPr>
          <a:xfrm>
            <a:off x="6632448" y="328879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36" name="Shape 29"/>
          <p:cNvSpPr/>
          <p:nvPr/>
        </p:nvSpPr>
        <p:spPr>
          <a:xfrm>
            <a:off x="4349496" y="4767072"/>
            <a:ext cx="3489960" cy="1478280"/>
          </a:xfrm>
          <a:prstGeom prst="rect">
            <a:avLst/>
          </a:prstGeom>
          <a:solidFill>
            <a:srgbClr val="F7F7F7"/>
          </a:solidFill>
          <a:ln/>
        </p:spPr>
      </p:sp>
      <p:sp>
        <p:nvSpPr>
          <p:cNvPr id="37" name="Text 30"/>
          <p:cNvSpPr txBox="1"/>
          <p:nvPr/>
        </p:nvSpPr>
        <p:spPr>
          <a:xfrm>
            <a:off x="4440936"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31</a:t>
            </a:r>
            <a:endParaRPr lang="en-US" sz="2000" dirty="0"/>
          </a:p>
        </p:txBody>
      </p:sp>
      <p:sp>
        <p:nvSpPr>
          <p:cNvPr id="38" name="Text 31"/>
          <p:cNvSpPr txBox="1"/>
          <p:nvPr/>
        </p:nvSpPr>
        <p:spPr>
          <a:xfrm>
            <a:off x="4788408"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graphicFrame>
        <p:nvGraphicFramePr>
          <p:cNvPr id="39" name="Chart 5" descr=""/>
          <p:cNvGraphicFramePr/>
          <p:nvPr/>
        </p:nvGraphicFramePr>
        <p:xfrm>
          <a:off x="4788408" y="5654040"/>
          <a:ext cx="1972056" cy="502615"/>
        </p:xfrm>
        <a:graphic>
          <a:graphicData uri="http://schemas.openxmlformats.org/drawingml/2006/chart">
            <c:chart xmlns:c="http://schemas.openxmlformats.org/drawingml/2006/chart" r:id="rId7"/>
          </a:graphicData>
        </a:graphic>
      </p:graphicFrame>
      <p:sp>
        <p:nvSpPr>
          <p:cNvPr id="40" name="Text 32"/>
          <p:cNvSpPr txBox="1"/>
          <p:nvPr/>
        </p:nvSpPr>
        <p:spPr>
          <a:xfrm>
            <a:off x="6632448" y="476707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1" name="Shape 33"/>
          <p:cNvSpPr/>
          <p:nvPr/>
        </p:nvSpPr>
        <p:spPr>
          <a:xfrm>
            <a:off x="8040624" y="1371600"/>
            <a:ext cx="3489960" cy="45720"/>
          </a:xfrm>
          <a:prstGeom prst="rect">
            <a:avLst/>
          </a:prstGeom>
          <a:solidFill>
            <a:srgbClr val="2587C5"/>
          </a:solidFill>
          <a:ln/>
        </p:spPr>
      </p:sp>
      <p:sp>
        <p:nvSpPr>
          <p:cNvPr id="42" name="Text 34"/>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3 MOVING NOW</a:t>
            </a:r>
            <a:endParaRPr lang="en-US" sz="1500" dirty="0"/>
          </a:p>
        </p:txBody>
      </p:sp>
      <p:sp>
        <p:nvSpPr>
          <p:cNvPr id="43" name="Shape 35"/>
          <p:cNvSpPr/>
          <p:nvPr/>
        </p:nvSpPr>
        <p:spPr>
          <a:xfrm>
            <a:off x="8040624" y="1810512"/>
            <a:ext cx="3489960" cy="1478280"/>
          </a:xfrm>
          <a:prstGeom prst="rect">
            <a:avLst/>
          </a:prstGeom>
          <a:solidFill>
            <a:srgbClr val="F7F7F7"/>
          </a:solidFill>
          <a:ln/>
        </p:spPr>
      </p:sp>
      <p:sp>
        <p:nvSpPr>
          <p:cNvPr id="44" name="Shape 36"/>
          <p:cNvSpPr/>
          <p:nvPr/>
        </p:nvSpPr>
        <p:spPr>
          <a:xfrm>
            <a:off x="11466576" y="1847088"/>
            <a:ext cx="64008" cy="1405128"/>
          </a:xfrm>
          <a:prstGeom prst="rect">
            <a:avLst/>
          </a:prstGeom>
          <a:solidFill>
            <a:srgbClr val="12A566"/>
          </a:solidFill>
          <a:ln/>
        </p:spPr>
      </p:sp>
      <p:sp>
        <p:nvSpPr>
          <p:cNvPr id="45" name="Text 37"/>
          <p:cNvSpPr txBox="1"/>
          <p:nvPr/>
        </p:nvSpPr>
        <p:spPr>
          <a:xfrm>
            <a:off x="8132064"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46" name="Text 38"/>
          <p:cNvSpPr txBox="1"/>
          <p:nvPr/>
        </p:nvSpPr>
        <p:spPr>
          <a:xfrm>
            <a:off x="8479536"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graphicFrame>
        <p:nvGraphicFramePr>
          <p:cNvPr id="47" name="Chart 6" descr=""/>
          <p:cNvGraphicFramePr/>
          <p:nvPr/>
        </p:nvGraphicFramePr>
        <p:xfrm>
          <a:off x="8479536" y="2697480"/>
          <a:ext cx="1972056" cy="502615"/>
        </p:xfrm>
        <a:graphic>
          <a:graphicData uri="http://schemas.openxmlformats.org/drawingml/2006/chart">
            <c:chart xmlns:c="http://schemas.openxmlformats.org/drawingml/2006/chart" r:id="rId8"/>
          </a:graphicData>
        </a:graphic>
      </p:graphicFrame>
      <p:graphicFrame>
        <p:nvGraphicFramePr>
          <p:cNvPr id="48" name="Chart 7" descr=""/>
          <p:cNvGraphicFramePr/>
          <p:nvPr/>
        </p:nvGraphicFramePr>
        <p:xfrm>
          <a:off x="8479536" y="2697480"/>
          <a:ext cx="1972056" cy="502615"/>
        </p:xfrm>
        <a:graphic>
          <a:graphicData uri="http://schemas.openxmlformats.org/drawingml/2006/chart">
            <c:chart xmlns:c="http://schemas.openxmlformats.org/drawingml/2006/chart" r:id="rId9"/>
          </a:graphicData>
        </a:graphic>
      </p:graphicFrame>
      <p:sp>
        <p:nvSpPr>
          <p:cNvPr id="49" name="Text 39"/>
          <p:cNvSpPr txBox="1"/>
          <p:nvPr/>
        </p:nvSpPr>
        <p:spPr>
          <a:xfrm>
            <a:off x="10323576" y="181051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+23.7 pts</a:t>
            </a:r>
            <a:endParaRPr lang="en-US" sz="1600" dirty="0"/>
          </a:p>
        </p:txBody>
      </p:sp>
      <p:sp>
        <p:nvSpPr>
          <p:cNvPr id="50" name="Text 40"/>
          <p:cNvSpPr txBox="1"/>
          <p:nvPr/>
        </p:nvSpPr>
        <p:spPr>
          <a:xfrm>
            <a:off x="8132064"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51" name="Text 41"/>
          <p:cNvSpPr txBox="1"/>
          <p:nvPr/>
        </p:nvSpPr>
        <p:spPr>
          <a:xfrm>
            <a:off x="8479536"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graphicFrame>
        <p:nvGraphicFramePr>
          <p:cNvPr id="52" name="Chart 8" descr=""/>
          <p:cNvGraphicFramePr/>
          <p:nvPr/>
        </p:nvGraphicFramePr>
        <p:xfrm>
          <a:off x="8479536" y="4175760"/>
          <a:ext cx="1972056" cy="502615"/>
        </p:xfrm>
        <a:graphic>
          <a:graphicData uri="http://schemas.openxmlformats.org/drawingml/2006/chart">
            <c:chart xmlns:c="http://schemas.openxmlformats.org/drawingml/2006/chart" r:id="rId10"/>
          </a:graphicData>
        </a:graphic>
      </p:graphicFrame>
      <p:graphicFrame>
        <p:nvGraphicFramePr>
          <p:cNvPr id="53" name="Chart 9" descr=""/>
          <p:cNvGraphicFramePr/>
          <p:nvPr/>
        </p:nvGraphicFramePr>
        <p:xfrm>
          <a:off x="8479536" y="4175760"/>
          <a:ext cx="1972056" cy="502615"/>
        </p:xfrm>
        <a:graphic>
          <a:graphicData uri="http://schemas.openxmlformats.org/drawingml/2006/chart">
            <c:chart xmlns:c="http://schemas.openxmlformats.org/drawingml/2006/chart" r:id="rId11"/>
          </a:graphicData>
        </a:graphic>
      </p:graphicFrame>
      <p:sp>
        <p:nvSpPr>
          <p:cNvPr id="54" name="Text 42"/>
          <p:cNvSpPr txBox="1"/>
          <p:nvPr/>
        </p:nvSpPr>
        <p:spPr>
          <a:xfrm>
            <a:off x="10323576" y="328879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55" name="Shape 43"/>
          <p:cNvSpPr/>
          <p:nvPr/>
        </p:nvSpPr>
        <p:spPr>
          <a:xfrm>
            <a:off x="8040624" y="4767072"/>
            <a:ext cx="3489960" cy="1478280"/>
          </a:xfrm>
          <a:prstGeom prst="rect">
            <a:avLst/>
          </a:prstGeom>
          <a:solidFill>
            <a:srgbClr val="F7F7F7"/>
          </a:solidFill>
          <a:ln/>
        </p:spPr>
      </p:sp>
      <p:sp>
        <p:nvSpPr>
          <p:cNvPr id="56" name="Shape 44"/>
          <p:cNvSpPr/>
          <p:nvPr/>
        </p:nvSpPr>
        <p:spPr>
          <a:xfrm>
            <a:off x="11466576" y="4803648"/>
            <a:ext cx="64008" cy="1405128"/>
          </a:xfrm>
          <a:prstGeom prst="rect">
            <a:avLst/>
          </a:prstGeom>
          <a:solidFill>
            <a:srgbClr val="12A566"/>
          </a:solidFill>
          <a:ln/>
        </p:spPr>
      </p:sp>
      <p:sp>
        <p:nvSpPr>
          <p:cNvPr id="57" name="Text 45"/>
          <p:cNvSpPr txBox="1"/>
          <p:nvPr/>
        </p:nvSpPr>
        <p:spPr>
          <a:xfrm>
            <a:off x="8132064"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58" name="Text 46"/>
          <p:cNvSpPr txBox="1"/>
          <p:nvPr/>
        </p:nvSpPr>
        <p:spPr>
          <a:xfrm>
            <a:off x="8479536"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graphicFrame>
        <p:nvGraphicFramePr>
          <p:cNvPr id="59" name="Chart 10" descr=""/>
          <p:cNvGraphicFramePr/>
          <p:nvPr/>
        </p:nvGraphicFramePr>
        <p:xfrm>
          <a:off x="8479536" y="5654040"/>
          <a:ext cx="1972056" cy="502615"/>
        </p:xfrm>
        <a:graphic>
          <a:graphicData uri="http://schemas.openxmlformats.org/drawingml/2006/chart">
            <c:chart xmlns:c="http://schemas.openxmlformats.org/drawingml/2006/chart" r:id="rId12"/>
          </a:graphicData>
        </a:graphic>
      </p:graphicFrame>
      <p:graphicFrame>
        <p:nvGraphicFramePr>
          <p:cNvPr id="60" name="Chart 11" descr=""/>
          <p:cNvGraphicFramePr/>
          <p:nvPr/>
        </p:nvGraphicFramePr>
        <p:xfrm>
          <a:off x="8479536" y="5654040"/>
          <a:ext cx="1972056" cy="502615"/>
        </p:xfrm>
        <a:graphic>
          <a:graphicData uri="http://schemas.openxmlformats.org/drawingml/2006/chart">
            <c:chart xmlns:c="http://schemas.openxmlformats.org/drawingml/2006/chart" r:id="rId13"/>
          </a:graphicData>
        </a:graphic>
      </p:graphicFrame>
      <p:sp>
        <p:nvSpPr>
          <p:cNvPr id="61" name="Text 47"/>
          <p:cNvSpPr txBox="1"/>
          <p:nvPr/>
        </p:nvSpPr>
        <p:spPr>
          <a:xfrm>
            <a:off x="10323576" y="476707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 pts</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703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85667"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051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86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4832"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8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841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630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51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696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417"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4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210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7115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780142"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5815" y="1911860"/>
            <a:ext cx="60209"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4868" y="2151755"/>
            <a:ext cx="71156"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765" y="2391651"/>
            <a:ext cx="15325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49924" y="2631546"/>
            <a:ext cx="18610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97" name="Shape 95"/>
          <p:cNvSpPr/>
          <p:nvPr/>
        </p:nvSpPr>
        <p:spPr>
          <a:xfrm>
            <a:off x="9106136" y="2871442"/>
            <a:ext cx="22988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1" name="Shape 99"/>
          <p:cNvSpPr/>
          <p:nvPr/>
        </p:nvSpPr>
        <p:spPr>
          <a:xfrm>
            <a:off x="9106136" y="3111337"/>
            <a:ext cx="22988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3295" y="3351233"/>
            <a:ext cx="26272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40454" y="3591128"/>
            <a:ext cx="29557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4980" y="3831024"/>
            <a:ext cx="30104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60" y="4070920"/>
            <a:ext cx="317464"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825" y="4310815"/>
            <a:ext cx="37219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1722" y="4550711"/>
            <a:ext cx="4543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4145" y="4790606"/>
            <a:ext cx="5418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2990" y="5030502"/>
            <a:ext cx="61303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0149" y="5270397"/>
            <a:ext cx="6458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1834" y="5510293"/>
            <a:ext cx="68419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18 declined.</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3 VS LAST YEAR</a:t>
            </a:r>
            <a:endParaRPr lang="en-US" sz="1500" dirty="0"/>
          </a:p>
        </p:txBody>
      </p:sp>
      <p:sp>
        <p:nvSpPr>
          <p:cNvPr id="9" name="Shape 7"/>
          <p:cNvSpPr/>
          <p:nvPr/>
        </p:nvSpPr>
        <p:spPr>
          <a:xfrm>
            <a:off x="658368" y="1810512"/>
            <a:ext cx="3489960" cy="1478280"/>
          </a:xfrm>
          <a:prstGeom prst="rect">
            <a:avLst/>
          </a:prstGeom>
          <a:solidFill>
            <a:srgbClr val="F7F7F7"/>
          </a:solidFill>
          <a:ln/>
        </p:spPr>
      </p:sp>
      <p:sp>
        <p:nvSpPr>
          <p:cNvPr id="10" name="Text 8"/>
          <p:cNvSpPr txBox="1"/>
          <p:nvPr/>
        </p:nvSpPr>
        <p:spPr>
          <a:xfrm>
            <a:off x="749808"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11" name="Text 9"/>
          <p:cNvSpPr txBox="1"/>
          <p:nvPr/>
        </p:nvSpPr>
        <p:spPr>
          <a:xfrm>
            <a:off x="1097280"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12" name="Chart 0" descr=""/>
          <p:cNvGraphicFramePr/>
          <p:nvPr/>
        </p:nvGraphicFramePr>
        <p:xfrm>
          <a:off x="1097280" y="2697480"/>
          <a:ext cx="1972056" cy="502615"/>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4" name="Text 11"/>
          <p:cNvSpPr txBox="1"/>
          <p:nvPr/>
        </p:nvSpPr>
        <p:spPr>
          <a:xfrm>
            <a:off x="749808"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15" name="Text 12"/>
          <p:cNvSpPr txBox="1"/>
          <p:nvPr/>
        </p:nvSpPr>
        <p:spPr>
          <a:xfrm>
            <a:off x="1097280"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graphicFrame>
        <p:nvGraphicFramePr>
          <p:cNvPr id="16" name="Chart 1" descr=""/>
          <p:cNvGraphicFramePr/>
          <p:nvPr/>
        </p:nvGraphicFramePr>
        <p:xfrm>
          <a:off x="1097280" y="4175760"/>
          <a:ext cx="1972056" cy="502615"/>
        </p:xfrm>
        <a:graphic>
          <a:graphicData uri="http://schemas.openxmlformats.org/drawingml/2006/chart">
            <c:chart xmlns:c="http://schemas.openxmlformats.org/drawingml/2006/chart" r:id="rId3"/>
          </a:graphicData>
        </a:graphic>
      </p:graphicFrame>
      <p:sp>
        <p:nvSpPr>
          <p:cNvPr id="17" name="Text 13"/>
          <p:cNvSpPr txBox="1"/>
          <p:nvPr/>
        </p:nvSpPr>
        <p:spPr>
          <a:xfrm>
            <a:off x="2941320" y="328879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8" name="Shape 14"/>
          <p:cNvSpPr/>
          <p:nvPr/>
        </p:nvSpPr>
        <p:spPr>
          <a:xfrm>
            <a:off x="658368" y="4767072"/>
            <a:ext cx="3489960" cy="1478280"/>
          </a:xfrm>
          <a:prstGeom prst="rect">
            <a:avLst/>
          </a:prstGeom>
          <a:solidFill>
            <a:srgbClr val="F7F7F7"/>
          </a:solidFill>
          <a:ln/>
        </p:spPr>
      </p:sp>
      <p:sp>
        <p:nvSpPr>
          <p:cNvPr id="19" name="Text 15"/>
          <p:cNvSpPr txBox="1"/>
          <p:nvPr/>
        </p:nvSpPr>
        <p:spPr>
          <a:xfrm>
            <a:off x="749808"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20" name="Text 16"/>
          <p:cNvSpPr txBox="1"/>
          <p:nvPr/>
        </p:nvSpPr>
        <p:spPr>
          <a:xfrm>
            <a:off x="1097280"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graphicFrame>
        <p:nvGraphicFramePr>
          <p:cNvPr id="21" name="Chart 2" descr=""/>
          <p:cNvGraphicFramePr/>
          <p:nvPr/>
        </p:nvGraphicFramePr>
        <p:xfrm>
          <a:off x="1097280" y="5654040"/>
          <a:ext cx="1972056" cy="502615"/>
        </p:xfrm>
        <a:graphic>
          <a:graphicData uri="http://schemas.openxmlformats.org/drawingml/2006/chart">
            <c:chart xmlns:c="http://schemas.openxmlformats.org/drawingml/2006/chart" r:id="rId4"/>
          </a:graphicData>
        </a:graphic>
      </p:graphicFrame>
      <p:sp>
        <p:nvSpPr>
          <p:cNvPr id="22" name="Text 17"/>
          <p:cNvSpPr txBox="1"/>
          <p:nvPr/>
        </p:nvSpPr>
        <p:spPr>
          <a:xfrm>
            <a:off x="2941320" y="476707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23" name="Shape 18"/>
          <p:cNvSpPr/>
          <p:nvPr/>
        </p:nvSpPr>
        <p:spPr>
          <a:xfrm>
            <a:off x="4349496" y="1371600"/>
            <a:ext cx="3489960" cy="45720"/>
          </a:xfrm>
          <a:prstGeom prst="rect">
            <a:avLst/>
          </a:prstGeom>
          <a:solidFill>
            <a:srgbClr val="C2352F"/>
          </a:solidFill>
          <a:ln/>
        </p:spPr>
      </p:sp>
      <p:sp>
        <p:nvSpPr>
          <p:cNvPr id="24" name="Text 1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3 VS LAST YEAR</a:t>
            </a:r>
            <a:endParaRPr lang="en-US" sz="1500" dirty="0"/>
          </a:p>
        </p:txBody>
      </p:sp>
      <p:sp>
        <p:nvSpPr>
          <p:cNvPr id="25" name="Shape 20"/>
          <p:cNvSpPr/>
          <p:nvPr/>
        </p:nvSpPr>
        <p:spPr>
          <a:xfrm>
            <a:off x="4349496" y="1810512"/>
            <a:ext cx="3489960" cy="1478280"/>
          </a:xfrm>
          <a:prstGeom prst="rect">
            <a:avLst/>
          </a:prstGeom>
          <a:solidFill>
            <a:srgbClr val="F7F7F7"/>
          </a:solidFill>
          <a:ln/>
        </p:spPr>
      </p:sp>
      <p:sp>
        <p:nvSpPr>
          <p:cNvPr id="26" name="Text 21"/>
          <p:cNvSpPr txBox="1"/>
          <p:nvPr/>
        </p:nvSpPr>
        <p:spPr>
          <a:xfrm>
            <a:off x="4440936"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33</a:t>
            </a:r>
            <a:endParaRPr lang="en-US" sz="2000" dirty="0"/>
          </a:p>
        </p:txBody>
      </p:sp>
      <p:sp>
        <p:nvSpPr>
          <p:cNvPr id="27" name="Text 22"/>
          <p:cNvSpPr txBox="1"/>
          <p:nvPr/>
        </p:nvSpPr>
        <p:spPr>
          <a:xfrm>
            <a:off x="4788408"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graphicFrame>
        <p:nvGraphicFramePr>
          <p:cNvPr id="28" name="Chart 3" descr=""/>
          <p:cNvGraphicFramePr/>
          <p:nvPr/>
        </p:nvGraphicFramePr>
        <p:xfrm>
          <a:off x="4788408" y="2697480"/>
          <a:ext cx="1972056" cy="502615"/>
        </p:xfrm>
        <a:graphic>
          <a:graphicData uri="http://schemas.openxmlformats.org/drawingml/2006/chart">
            <c:chart xmlns:c="http://schemas.openxmlformats.org/drawingml/2006/chart" r:id="rId5"/>
          </a:graphicData>
        </a:graphic>
      </p:graphicFrame>
      <p:sp>
        <p:nvSpPr>
          <p:cNvPr id="29" name="Text 23"/>
          <p:cNvSpPr txBox="1"/>
          <p:nvPr/>
        </p:nvSpPr>
        <p:spPr>
          <a:xfrm>
            <a:off x="6632448" y="181051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0" name="Text 24"/>
          <p:cNvSpPr txBox="1"/>
          <p:nvPr/>
        </p:nvSpPr>
        <p:spPr>
          <a:xfrm>
            <a:off x="4440936"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32</a:t>
            </a:r>
            <a:endParaRPr lang="en-US" sz="2000" dirty="0"/>
          </a:p>
        </p:txBody>
      </p:sp>
      <p:sp>
        <p:nvSpPr>
          <p:cNvPr id="31" name="Text 25"/>
          <p:cNvSpPr txBox="1"/>
          <p:nvPr/>
        </p:nvSpPr>
        <p:spPr>
          <a:xfrm>
            <a:off x="4788408"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graphicFrame>
        <p:nvGraphicFramePr>
          <p:cNvPr id="32" name="Chart 4" descr=""/>
          <p:cNvGraphicFramePr/>
          <p:nvPr/>
        </p:nvGraphicFramePr>
        <p:xfrm>
          <a:off x="4788408" y="4175760"/>
          <a:ext cx="1972056" cy="502615"/>
        </p:xfrm>
        <a:graphic>
          <a:graphicData uri="http://schemas.openxmlformats.org/drawingml/2006/chart">
            <c:chart xmlns:c="http://schemas.openxmlformats.org/drawingml/2006/chart" r:id="rId6"/>
          </a:graphicData>
        </a:graphic>
      </p:graphicFrame>
      <p:sp>
        <p:nvSpPr>
          <p:cNvPr id="33" name="Text 26"/>
          <p:cNvSpPr txBox="1"/>
          <p:nvPr/>
        </p:nvSpPr>
        <p:spPr>
          <a:xfrm>
            <a:off x="6632448" y="328879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4" name="Shape 27"/>
          <p:cNvSpPr/>
          <p:nvPr/>
        </p:nvSpPr>
        <p:spPr>
          <a:xfrm>
            <a:off x="4349496" y="4767072"/>
            <a:ext cx="3489960" cy="1478280"/>
          </a:xfrm>
          <a:prstGeom prst="rect">
            <a:avLst/>
          </a:prstGeom>
          <a:solidFill>
            <a:srgbClr val="F7F7F7"/>
          </a:solidFill>
          <a:ln/>
        </p:spPr>
      </p:sp>
      <p:sp>
        <p:nvSpPr>
          <p:cNvPr id="35" name="Shape 28"/>
          <p:cNvSpPr/>
          <p:nvPr/>
        </p:nvSpPr>
        <p:spPr>
          <a:xfrm>
            <a:off x="7775448" y="4803648"/>
            <a:ext cx="64008" cy="1405128"/>
          </a:xfrm>
          <a:prstGeom prst="rect">
            <a:avLst/>
          </a:prstGeom>
          <a:solidFill>
            <a:srgbClr val="2587C5"/>
          </a:solidFill>
          <a:ln/>
        </p:spPr>
      </p:sp>
      <p:sp>
        <p:nvSpPr>
          <p:cNvPr id="36" name="Text 29"/>
          <p:cNvSpPr txBox="1"/>
          <p:nvPr/>
        </p:nvSpPr>
        <p:spPr>
          <a:xfrm>
            <a:off x="4440936"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31</a:t>
            </a:r>
            <a:endParaRPr lang="en-US" sz="2000" dirty="0"/>
          </a:p>
        </p:txBody>
      </p:sp>
      <p:sp>
        <p:nvSpPr>
          <p:cNvPr id="37" name="Text 30"/>
          <p:cNvSpPr txBox="1"/>
          <p:nvPr/>
        </p:nvSpPr>
        <p:spPr>
          <a:xfrm>
            <a:off x="4788408"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graphicFrame>
        <p:nvGraphicFramePr>
          <p:cNvPr id="38" name="Chart 5" descr=""/>
          <p:cNvGraphicFramePr/>
          <p:nvPr/>
        </p:nvGraphicFramePr>
        <p:xfrm>
          <a:off x="4788408" y="5654040"/>
          <a:ext cx="1972056" cy="502615"/>
        </p:xfrm>
        <a:graphic>
          <a:graphicData uri="http://schemas.openxmlformats.org/drawingml/2006/chart">
            <c:chart xmlns:c="http://schemas.openxmlformats.org/drawingml/2006/chart" r:id="rId7"/>
          </a:graphicData>
        </a:graphic>
      </p:graphicFrame>
      <p:sp>
        <p:nvSpPr>
          <p:cNvPr id="39" name="Text 31"/>
          <p:cNvSpPr txBox="1"/>
          <p:nvPr/>
        </p:nvSpPr>
        <p:spPr>
          <a:xfrm>
            <a:off x="6632448" y="476707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0" name="Shape 32"/>
          <p:cNvSpPr/>
          <p:nvPr/>
        </p:nvSpPr>
        <p:spPr>
          <a:xfrm>
            <a:off x="8040624" y="1371600"/>
            <a:ext cx="3489960" cy="45720"/>
          </a:xfrm>
          <a:prstGeom prst="rect">
            <a:avLst/>
          </a:prstGeom>
          <a:solidFill>
            <a:srgbClr val="2587C5"/>
          </a:solidFill>
          <a:ln/>
        </p:spPr>
      </p:sp>
      <p:sp>
        <p:nvSpPr>
          <p:cNvPr id="41" name="Text 33"/>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3 MOVING NOW</a:t>
            </a:r>
            <a:endParaRPr lang="en-US" sz="1500" dirty="0"/>
          </a:p>
        </p:txBody>
      </p:sp>
      <p:sp>
        <p:nvSpPr>
          <p:cNvPr id="42" name="Shape 34"/>
          <p:cNvSpPr/>
          <p:nvPr/>
        </p:nvSpPr>
        <p:spPr>
          <a:xfrm>
            <a:off x="8040624" y="1810512"/>
            <a:ext cx="3489960" cy="1478280"/>
          </a:xfrm>
          <a:prstGeom prst="rect">
            <a:avLst/>
          </a:prstGeom>
          <a:solidFill>
            <a:srgbClr val="F7F7F7"/>
          </a:solidFill>
          <a:ln/>
        </p:spPr>
      </p:sp>
      <p:sp>
        <p:nvSpPr>
          <p:cNvPr id="43" name="Text 35"/>
          <p:cNvSpPr txBox="1"/>
          <p:nvPr/>
        </p:nvSpPr>
        <p:spPr>
          <a:xfrm>
            <a:off x="8132064"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44" name="Text 36"/>
          <p:cNvSpPr txBox="1"/>
          <p:nvPr/>
        </p:nvSpPr>
        <p:spPr>
          <a:xfrm>
            <a:off x="8479536"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graphicFrame>
        <p:nvGraphicFramePr>
          <p:cNvPr id="45" name="Chart 6" descr=""/>
          <p:cNvGraphicFramePr/>
          <p:nvPr/>
        </p:nvGraphicFramePr>
        <p:xfrm>
          <a:off x="8479536" y="2697480"/>
          <a:ext cx="1972056" cy="502615"/>
        </p:xfrm>
        <a:graphic>
          <a:graphicData uri="http://schemas.openxmlformats.org/drawingml/2006/chart">
            <c:chart xmlns:c="http://schemas.openxmlformats.org/drawingml/2006/chart" r:id="rId8"/>
          </a:graphicData>
        </a:graphic>
      </p:graphicFrame>
      <p:graphicFrame>
        <p:nvGraphicFramePr>
          <p:cNvPr id="46" name="Chart 7" descr=""/>
          <p:cNvGraphicFramePr/>
          <p:nvPr/>
        </p:nvGraphicFramePr>
        <p:xfrm>
          <a:off x="8479536" y="2697480"/>
          <a:ext cx="1972056" cy="502615"/>
        </p:xfrm>
        <a:graphic>
          <a:graphicData uri="http://schemas.openxmlformats.org/drawingml/2006/chart">
            <c:chart xmlns:c="http://schemas.openxmlformats.org/drawingml/2006/chart" r:id="rId9"/>
          </a:graphicData>
        </a:graphic>
      </p:graphicFrame>
      <p:sp>
        <p:nvSpPr>
          <p:cNvPr id="47" name="Text 37"/>
          <p:cNvSpPr txBox="1"/>
          <p:nvPr/>
        </p:nvSpPr>
        <p:spPr>
          <a:xfrm>
            <a:off x="10323576" y="181051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48" name="Shape 38"/>
          <p:cNvSpPr/>
          <p:nvPr/>
        </p:nvSpPr>
        <p:spPr>
          <a:xfrm>
            <a:off x="11466576" y="3325368"/>
            <a:ext cx="64008" cy="1405128"/>
          </a:xfrm>
          <a:prstGeom prst="rect">
            <a:avLst/>
          </a:prstGeom>
          <a:solidFill>
            <a:srgbClr val="2587C5"/>
          </a:solidFill>
          <a:ln/>
        </p:spPr>
      </p:sp>
      <p:sp>
        <p:nvSpPr>
          <p:cNvPr id="49" name="Text 39"/>
          <p:cNvSpPr txBox="1"/>
          <p:nvPr/>
        </p:nvSpPr>
        <p:spPr>
          <a:xfrm>
            <a:off x="8132064"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50" name="Text 40"/>
          <p:cNvSpPr txBox="1"/>
          <p:nvPr/>
        </p:nvSpPr>
        <p:spPr>
          <a:xfrm>
            <a:off x="8479536"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graphicFrame>
        <p:nvGraphicFramePr>
          <p:cNvPr id="51" name="Chart 8" descr=""/>
          <p:cNvGraphicFramePr/>
          <p:nvPr/>
        </p:nvGraphicFramePr>
        <p:xfrm>
          <a:off x="8479536" y="4175760"/>
          <a:ext cx="1972056" cy="502615"/>
        </p:xfrm>
        <a:graphic>
          <a:graphicData uri="http://schemas.openxmlformats.org/drawingml/2006/chart">
            <c:chart xmlns:c="http://schemas.openxmlformats.org/drawingml/2006/chart" r:id="rId10"/>
          </a:graphicData>
        </a:graphic>
      </p:graphicFrame>
      <p:graphicFrame>
        <p:nvGraphicFramePr>
          <p:cNvPr id="52" name="Chart 9" descr=""/>
          <p:cNvGraphicFramePr/>
          <p:nvPr/>
        </p:nvGraphicFramePr>
        <p:xfrm>
          <a:off x="8479536" y="4175760"/>
          <a:ext cx="1972056" cy="502615"/>
        </p:xfrm>
        <a:graphic>
          <a:graphicData uri="http://schemas.openxmlformats.org/drawingml/2006/chart">
            <c:chart xmlns:c="http://schemas.openxmlformats.org/drawingml/2006/chart" r:id="rId11"/>
          </a:graphicData>
        </a:graphic>
      </p:graphicFrame>
      <p:sp>
        <p:nvSpPr>
          <p:cNvPr id="53" name="Text 41"/>
          <p:cNvSpPr txBox="1"/>
          <p:nvPr/>
        </p:nvSpPr>
        <p:spPr>
          <a:xfrm>
            <a:off x="10323576" y="328879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54" name="Shape 42"/>
          <p:cNvSpPr/>
          <p:nvPr/>
        </p:nvSpPr>
        <p:spPr>
          <a:xfrm>
            <a:off x="8040624" y="4767072"/>
            <a:ext cx="3489960" cy="1478280"/>
          </a:xfrm>
          <a:prstGeom prst="rect">
            <a:avLst/>
          </a:prstGeom>
          <a:solidFill>
            <a:srgbClr val="F7F7F7"/>
          </a:solidFill>
          <a:ln/>
        </p:spPr>
      </p:sp>
      <p:sp>
        <p:nvSpPr>
          <p:cNvPr id="55" name="Text 43"/>
          <p:cNvSpPr txBox="1"/>
          <p:nvPr/>
        </p:nvSpPr>
        <p:spPr>
          <a:xfrm>
            <a:off x="8132064"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56" name="Text 44"/>
          <p:cNvSpPr txBox="1"/>
          <p:nvPr/>
        </p:nvSpPr>
        <p:spPr>
          <a:xfrm>
            <a:off x="8479536"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graphicFrame>
        <p:nvGraphicFramePr>
          <p:cNvPr id="57" name="Chart 10" descr=""/>
          <p:cNvGraphicFramePr/>
          <p:nvPr/>
        </p:nvGraphicFramePr>
        <p:xfrm>
          <a:off x="8479536" y="5654040"/>
          <a:ext cx="1972056" cy="502615"/>
        </p:xfrm>
        <a:graphic>
          <a:graphicData uri="http://schemas.openxmlformats.org/drawingml/2006/chart">
            <c:chart xmlns:c="http://schemas.openxmlformats.org/drawingml/2006/chart" r:id="rId12"/>
          </a:graphicData>
        </a:graphic>
      </p:graphicFrame>
      <p:graphicFrame>
        <p:nvGraphicFramePr>
          <p:cNvPr id="58" name="Chart 11" descr=""/>
          <p:cNvGraphicFramePr/>
          <p:nvPr/>
        </p:nvGraphicFramePr>
        <p:xfrm>
          <a:off x="8479536" y="5654040"/>
          <a:ext cx="1972056" cy="502615"/>
        </p:xfrm>
        <a:graphic>
          <a:graphicData uri="http://schemas.openxmlformats.org/drawingml/2006/chart">
            <c:chart xmlns:c="http://schemas.openxmlformats.org/drawingml/2006/chart" r:id="rId13"/>
          </a:graphicData>
        </a:graphic>
      </p:graphicFrame>
      <p:sp>
        <p:nvSpPr>
          <p:cNvPr id="59" name="Text 45"/>
          <p:cNvSpPr txBox="1"/>
          <p:nvPr/>
        </p:nvSpPr>
        <p:spPr>
          <a:xfrm>
            <a:off x="10323576" y="476707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 pts</a:t>
            </a:r>
            <a:endParaRPr lang="en-US" sz="16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$6.6M a year in gross.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514807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309067"/>
          </a:xfrm>
          <a:prstGeom prst="rect">
            <a:avLst/>
          </a:prstGeom>
          <a:solidFill>
            <a:srgbClr val="12A566"/>
          </a:solidFill>
          <a:ln/>
        </p:spPr>
      </p:sp>
      <p:sp>
        <p:nvSpPr>
          <p:cNvPr id="16" name="Text 14"/>
          <p:cNvSpPr txBox="1"/>
          <p:nvPr/>
        </p:nvSpPr>
        <p:spPr>
          <a:xfrm>
            <a:off x="62179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968142"/>
            <a:ext cx="54864" cy="309067"/>
          </a:xfrm>
          <a:prstGeom prst="rect">
            <a:avLst/>
          </a:prstGeom>
          <a:solidFill>
            <a:srgbClr val="12A566"/>
          </a:solidFill>
          <a:ln/>
        </p:spPr>
      </p:sp>
      <p:sp>
        <p:nvSpPr>
          <p:cNvPr id="23" name="Text 21"/>
          <p:cNvSpPr txBox="1"/>
          <p:nvPr/>
        </p:nvSpPr>
        <p:spPr>
          <a:xfrm>
            <a:off x="62179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350362"/>
            <a:ext cx="54864" cy="309067"/>
          </a:xfrm>
          <a:prstGeom prst="rect">
            <a:avLst/>
          </a:prstGeom>
          <a:solidFill>
            <a:srgbClr val="12A566"/>
          </a:solidFill>
          <a:ln/>
        </p:spPr>
      </p:sp>
      <p:sp>
        <p:nvSpPr>
          <p:cNvPr id="27" name="Text 25"/>
          <p:cNvSpPr txBox="1"/>
          <p:nvPr/>
        </p:nvSpPr>
        <p:spPr>
          <a:xfrm>
            <a:off x="62179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732581"/>
            <a:ext cx="54864" cy="309067"/>
          </a:xfrm>
          <a:prstGeom prst="rect">
            <a:avLst/>
          </a:prstGeom>
          <a:solidFill>
            <a:srgbClr val="12A566"/>
          </a:solidFill>
          <a:ln/>
        </p:spPr>
      </p:sp>
      <p:sp>
        <p:nvSpPr>
          <p:cNvPr id="31" name="Shape 29"/>
          <p:cNvSpPr/>
          <p:nvPr/>
        </p:nvSpPr>
        <p:spPr>
          <a:xfrm>
            <a:off x="621792" y="4096512"/>
            <a:ext cx="3355848" cy="22860"/>
          </a:xfrm>
          <a:prstGeom prst="rect">
            <a:avLst/>
          </a:prstGeom>
          <a:solidFill>
            <a:srgbClr val="C2352F"/>
          </a:solidFill>
          <a:ln/>
        </p:spPr>
      </p:sp>
      <p:sp>
        <p:nvSpPr>
          <p:cNvPr id="32" name="Text 30"/>
          <p:cNvSpPr txBox="1"/>
          <p:nvPr/>
        </p:nvSpPr>
        <p:spPr>
          <a:xfrm>
            <a:off x="62179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389120"/>
            <a:ext cx="54864" cy="309067"/>
          </a:xfrm>
          <a:prstGeom prst="rect">
            <a:avLst/>
          </a:prstGeom>
          <a:solidFill>
            <a:srgbClr val="C2352F"/>
          </a:solidFill>
          <a:ln/>
        </p:spPr>
      </p:sp>
      <p:sp>
        <p:nvSpPr>
          <p:cNvPr id="39" name="Text 37"/>
          <p:cNvSpPr txBox="1"/>
          <p:nvPr/>
        </p:nvSpPr>
        <p:spPr>
          <a:xfrm>
            <a:off x="62179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771339"/>
            <a:ext cx="54864" cy="309067"/>
          </a:xfrm>
          <a:prstGeom prst="rect">
            <a:avLst/>
          </a:prstGeom>
          <a:solidFill>
            <a:srgbClr val="C2352F"/>
          </a:solidFill>
          <a:ln/>
        </p:spPr>
      </p:sp>
      <p:sp>
        <p:nvSpPr>
          <p:cNvPr id="43" name="Text 41"/>
          <p:cNvSpPr txBox="1"/>
          <p:nvPr/>
        </p:nvSpPr>
        <p:spPr>
          <a:xfrm>
            <a:off x="62179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535778"/>
            <a:ext cx="54864" cy="309067"/>
          </a:xfrm>
          <a:prstGeom prst="rect">
            <a:avLst/>
          </a:prstGeom>
          <a:solidFill>
            <a:srgbClr val="C2352F"/>
          </a:solidFill>
          <a:ln/>
        </p:spPr>
      </p:sp>
      <p:sp>
        <p:nvSpPr>
          <p:cNvPr id="50" name="Text 48"/>
          <p:cNvSpPr txBox="1"/>
          <p:nvPr/>
        </p:nvSpPr>
        <p:spPr>
          <a:xfrm>
            <a:off x="62179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917997"/>
            <a:ext cx="54864" cy="309067"/>
          </a:xfrm>
          <a:prstGeom prst="rect">
            <a:avLst/>
          </a:prstGeom>
          <a:solidFill>
            <a:srgbClr val="C2352F"/>
          </a:solidFill>
          <a:ln/>
        </p:spPr>
      </p:sp>
      <p:sp>
        <p:nvSpPr>
          <p:cNvPr id="54" name="Shape 52"/>
          <p:cNvSpPr/>
          <p:nvPr/>
        </p:nvSpPr>
        <p:spPr>
          <a:xfrm>
            <a:off x="4251960" y="1207008"/>
            <a:ext cx="3685032" cy="514807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309067"/>
          </a:xfrm>
          <a:prstGeom prst="rect">
            <a:avLst/>
          </a:prstGeom>
          <a:solidFill>
            <a:srgbClr val="12A566"/>
          </a:solidFill>
          <a:ln/>
        </p:spPr>
      </p:sp>
      <p:sp>
        <p:nvSpPr>
          <p:cNvPr id="65" name="Text 63"/>
          <p:cNvSpPr txBox="1"/>
          <p:nvPr/>
        </p:nvSpPr>
        <p:spPr>
          <a:xfrm>
            <a:off x="441655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85923"/>
            <a:ext cx="54864" cy="309067"/>
          </a:xfrm>
          <a:prstGeom prst="rect">
            <a:avLst/>
          </a:prstGeom>
          <a:solidFill>
            <a:srgbClr val="12A566"/>
          </a:solidFill>
          <a:ln/>
        </p:spPr>
      </p:sp>
      <p:sp>
        <p:nvSpPr>
          <p:cNvPr id="69" name="Text 67"/>
          <p:cNvSpPr txBox="1"/>
          <p:nvPr/>
        </p:nvSpPr>
        <p:spPr>
          <a:xfrm>
            <a:off x="441655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968142"/>
            <a:ext cx="54864" cy="309067"/>
          </a:xfrm>
          <a:prstGeom prst="rect">
            <a:avLst/>
          </a:prstGeom>
          <a:solidFill>
            <a:srgbClr val="12A566"/>
          </a:solidFill>
          <a:ln/>
        </p:spPr>
      </p:sp>
      <p:sp>
        <p:nvSpPr>
          <p:cNvPr id="73" name="Text 71"/>
          <p:cNvSpPr txBox="1"/>
          <p:nvPr/>
        </p:nvSpPr>
        <p:spPr>
          <a:xfrm>
            <a:off x="441655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350362"/>
            <a:ext cx="54864" cy="309067"/>
          </a:xfrm>
          <a:prstGeom prst="rect">
            <a:avLst/>
          </a:prstGeom>
          <a:solidFill>
            <a:srgbClr val="12A566"/>
          </a:solidFill>
          <a:ln/>
        </p:spPr>
      </p:sp>
      <p:sp>
        <p:nvSpPr>
          <p:cNvPr id="77" name="Text 75"/>
          <p:cNvSpPr txBox="1"/>
          <p:nvPr/>
        </p:nvSpPr>
        <p:spPr>
          <a:xfrm>
            <a:off x="441655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4096512"/>
            <a:ext cx="3355848" cy="22860"/>
          </a:xfrm>
          <a:prstGeom prst="rect">
            <a:avLst/>
          </a:prstGeom>
          <a:solidFill>
            <a:srgbClr val="C2352F"/>
          </a:solidFill>
          <a:ln/>
        </p:spPr>
      </p:sp>
      <p:sp>
        <p:nvSpPr>
          <p:cNvPr id="81" name="Text 79"/>
          <p:cNvSpPr txBox="1"/>
          <p:nvPr/>
        </p:nvSpPr>
        <p:spPr>
          <a:xfrm>
            <a:off x="441655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389120"/>
            <a:ext cx="54864" cy="309067"/>
          </a:xfrm>
          <a:prstGeom prst="rect">
            <a:avLst/>
          </a:prstGeom>
          <a:solidFill>
            <a:srgbClr val="C2352F"/>
          </a:solidFill>
          <a:ln/>
        </p:spPr>
      </p:sp>
      <p:sp>
        <p:nvSpPr>
          <p:cNvPr id="88" name="Text 86"/>
          <p:cNvSpPr txBox="1"/>
          <p:nvPr/>
        </p:nvSpPr>
        <p:spPr>
          <a:xfrm>
            <a:off x="441655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535778"/>
            <a:ext cx="54864" cy="309067"/>
          </a:xfrm>
          <a:prstGeom prst="rect">
            <a:avLst/>
          </a:prstGeom>
          <a:solidFill>
            <a:srgbClr val="C2352F"/>
          </a:solidFill>
          <a:ln/>
        </p:spPr>
      </p:sp>
      <p:sp>
        <p:nvSpPr>
          <p:cNvPr id="98" name="Text 96"/>
          <p:cNvSpPr txBox="1"/>
          <p:nvPr/>
        </p:nvSpPr>
        <p:spPr>
          <a:xfrm>
            <a:off x="441655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917997"/>
            <a:ext cx="54864" cy="309067"/>
          </a:xfrm>
          <a:prstGeom prst="rect">
            <a:avLst/>
          </a:prstGeom>
          <a:solidFill>
            <a:srgbClr val="C2352F"/>
          </a:solidFill>
          <a:ln/>
        </p:spPr>
      </p:sp>
      <p:sp>
        <p:nvSpPr>
          <p:cNvPr id="102" name="Shape 100"/>
          <p:cNvSpPr/>
          <p:nvPr/>
        </p:nvSpPr>
        <p:spPr>
          <a:xfrm>
            <a:off x="8046720" y="1207008"/>
            <a:ext cx="3685032" cy="514807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 · 6 stores at 100%</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09" name="Text 107"/>
          <p:cNvSpPr txBox="1"/>
          <p:nvPr/>
        </p:nvSpPr>
        <p:spPr>
          <a:xfrm>
            <a:off x="821131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1,570</a:t>
            </a:r>
            <a:endParaRPr lang="en-US" sz="1200" dirty="0"/>
          </a:p>
        </p:txBody>
      </p:sp>
      <p:sp>
        <p:nvSpPr>
          <p:cNvPr id="112" name="Text 110"/>
          <p:cNvSpPr txBox="1"/>
          <p:nvPr/>
        </p:nvSpPr>
        <p:spPr>
          <a:xfrm>
            <a:off x="821131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Text 111"/>
          <p:cNvSpPr txBox="1"/>
          <p:nvPr/>
        </p:nvSpPr>
        <p:spPr>
          <a:xfrm>
            <a:off x="990295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1,565</a:t>
            </a:r>
            <a:endParaRPr lang="en-US" sz="1200" dirty="0"/>
          </a:p>
        </p:txBody>
      </p:sp>
      <p:sp>
        <p:nvSpPr>
          <p:cNvPr id="115" name="Text 113"/>
          <p:cNvSpPr txBox="1"/>
          <p:nvPr/>
        </p:nvSpPr>
        <p:spPr>
          <a:xfrm>
            <a:off x="821131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Text 114"/>
          <p:cNvSpPr txBox="1"/>
          <p:nvPr/>
        </p:nvSpPr>
        <p:spPr>
          <a:xfrm>
            <a:off x="990295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1,458</a:t>
            </a:r>
            <a:endParaRPr lang="en-US" sz="1200" dirty="0"/>
          </a:p>
        </p:txBody>
      </p:sp>
      <p:sp>
        <p:nvSpPr>
          <p:cNvPr id="118" name="Text 116"/>
          <p:cNvSpPr txBox="1"/>
          <p:nvPr/>
        </p:nvSpPr>
        <p:spPr>
          <a:xfrm>
            <a:off x="821131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19" name="Text 117"/>
          <p:cNvSpPr txBox="1"/>
          <p:nvPr/>
        </p:nvSpPr>
        <p:spPr>
          <a:xfrm>
            <a:off x="990295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121" name="Text 119"/>
          <p:cNvSpPr txBox="1"/>
          <p:nvPr/>
        </p:nvSpPr>
        <p:spPr>
          <a:xfrm>
            <a:off x="821131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22" name="Text 120"/>
          <p:cNvSpPr txBox="1"/>
          <p:nvPr/>
        </p:nvSpPr>
        <p:spPr>
          <a:xfrm>
            <a:off x="990295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911</a:t>
            </a:r>
            <a:endParaRPr lang="en-US" sz="1200" dirty="0"/>
          </a:p>
        </p:txBody>
      </p:sp>
      <p:sp>
        <p:nvSpPr>
          <p:cNvPr id="124" name="Shape 122"/>
          <p:cNvSpPr/>
          <p:nvPr/>
        </p:nvSpPr>
        <p:spPr>
          <a:xfrm>
            <a:off x="8211312" y="4096512"/>
            <a:ext cx="3355848" cy="22860"/>
          </a:xfrm>
          <a:prstGeom prst="rect">
            <a:avLst/>
          </a:prstGeom>
          <a:solidFill>
            <a:srgbClr val="C2352F"/>
          </a:solidFill>
          <a:ln/>
        </p:spPr>
      </p:sp>
      <p:sp>
        <p:nvSpPr>
          <p:cNvPr id="125" name="Text 123"/>
          <p:cNvSpPr txBox="1"/>
          <p:nvPr/>
        </p:nvSpPr>
        <p:spPr>
          <a:xfrm>
            <a:off x="821131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6" name="Text 124"/>
          <p:cNvSpPr txBox="1"/>
          <p:nvPr/>
        </p:nvSpPr>
        <p:spPr>
          <a:xfrm>
            <a:off x="990295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27" name="Text 125"/>
          <p:cNvSpPr txBox="1"/>
          <p:nvPr/>
        </p:nvSpPr>
        <p:spPr>
          <a:xfrm>
            <a:off x="1065276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28" name="Text 126"/>
          <p:cNvSpPr txBox="1"/>
          <p:nvPr/>
        </p:nvSpPr>
        <p:spPr>
          <a:xfrm>
            <a:off x="821131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9" name="Text 127"/>
          <p:cNvSpPr txBox="1"/>
          <p:nvPr/>
        </p:nvSpPr>
        <p:spPr>
          <a:xfrm>
            <a:off x="990295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0" name="Text 128"/>
          <p:cNvSpPr txBox="1"/>
          <p:nvPr/>
        </p:nvSpPr>
        <p:spPr>
          <a:xfrm>
            <a:off x="1065276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1" name="Text 129"/>
          <p:cNvSpPr txBox="1"/>
          <p:nvPr/>
        </p:nvSpPr>
        <p:spPr>
          <a:xfrm>
            <a:off x="821131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2" name="Text 130"/>
          <p:cNvSpPr txBox="1"/>
          <p:nvPr/>
        </p:nvSpPr>
        <p:spPr>
          <a:xfrm>
            <a:off x="990295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3" name="Text 131"/>
          <p:cNvSpPr txBox="1"/>
          <p:nvPr/>
        </p:nvSpPr>
        <p:spPr>
          <a:xfrm>
            <a:off x="1065276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4" name="Text 132"/>
          <p:cNvSpPr txBox="1"/>
          <p:nvPr/>
        </p:nvSpPr>
        <p:spPr>
          <a:xfrm>
            <a:off x="821131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5" name="Text 133"/>
          <p:cNvSpPr txBox="1"/>
          <p:nvPr/>
        </p:nvSpPr>
        <p:spPr>
          <a:xfrm>
            <a:off x="990295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6" name="Text 134"/>
          <p:cNvSpPr txBox="1"/>
          <p:nvPr/>
        </p:nvSpPr>
        <p:spPr>
          <a:xfrm>
            <a:off x="1065276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37" name="Shape 135"/>
          <p:cNvSpPr/>
          <p:nvPr/>
        </p:nvSpPr>
        <p:spPr>
          <a:xfrm>
            <a:off x="11612880" y="5153558"/>
            <a:ext cx="54864" cy="309067"/>
          </a:xfrm>
          <a:prstGeom prst="rect">
            <a:avLst/>
          </a:prstGeom>
          <a:solidFill>
            <a:srgbClr val="C2352F"/>
          </a:solidFill>
          <a:ln/>
        </p:spPr>
      </p:sp>
      <p:sp>
        <p:nvSpPr>
          <p:cNvPr id="138" name="Text 136"/>
          <p:cNvSpPr txBox="1"/>
          <p:nvPr/>
        </p:nvSpPr>
        <p:spPr>
          <a:xfrm>
            <a:off x="821131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39" name="Text 137"/>
          <p:cNvSpPr txBox="1"/>
          <p:nvPr/>
        </p:nvSpPr>
        <p:spPr>
          <a:xfrm>
            <a:off x="990295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0" name="Text 138"/>
          <p:cNvSpPr txBox="1"/>
          <p:nvPr/>
        </p:nvSpPr>
        <p:spPr>
          <a:xfrm>
            <a:off x="1065276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1" name="Shape 139"/>
          <p:cNvSpPr/>
          <p:nvPr/>
        </p:nvSpPr>
        <p:spPr>
          <a:xfrm>
            <a:off x="11612880" y="5535778"/>
            <a:ext cx="54864" cy="309067"/>
          </a:xfrm>
          <a:prstGeom prst="rect">
            <a:avLst/>
          </a:prstGeom>
          <a:solidFill>
            <a:srgbClr val="C2352F"/>
          </a:solidFill>
          <a:ln/>
        </p:spPr>
      </p:sp>
      <p:sp>
        <p:nvSpPr>
          <p:cNvPr id="142" name="Text 140"/>
          <p:cNvSpPr txBox="1"/>
          <p:nvPr/>
        </p:nvSpPr>
        <p:spPr>
          <a:xfrm>
            <a:off x="821131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3" name="Text 141"/>
          <p:cNvSpPr txBox="1"/>
          <p:nvPr/>
        </p:nvSpPr>
        <p:spPr>
          <a:xfrm>
            <a:off x="990295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4" name="Text 142"/>
          <p:cNvSpPr txBox="1"/>
          <p:nvPr/>
        </p:nvSpPr>
        <p:spPr>
          <a:xfrm>
            <a:off x="1065276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11125"/>
          </a:xfrm>
          <a:prstGeom prst="rect">
            <a:avLst/>
          </a:prstGeom>
          <a:solidFill>
            <a:srgbClr val="2587C5"/>
          </a:solidFill>
          <a:ln/>
        </p:spPr>
      </p:sp>
      <p:sp>
        <p:nvSpPr>
          <p:cNvPr id="14" name="Text 12"/>
          <p:cNvSpPr txBox="1"/>
          <p:nvPr/>
        </p:nvSpPr>
        <p:spPr>
          <a:xfrm>
            <a:off x="5266944"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11125"/>
          </a:xfrm>
          <a:prstGeom prst="rect">
            <a:avLst/>
          </a:prstGeom>
          <a:solidFill>
            <a:srgbClr val="2587C5"/>
          </a:solidFill>
          <a:ln/>
        </p:spPr>
      </p:sp>
      <p:sp>
        <p:nvSpPr>
          <p:cNvPr id="16" name="Text 14"/>
          <p:cNvSpPr txBox="1"/>
          <p:nvPr/>
        </p:nvSpPr>
        <p:spPr>
          <a:xfrm>
            <a:off x="8522208"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4637"/>
            <a:ext cx="45720" cy="1268423"/>
          </a:xfrm>
          <a:prstGeom prst="rect">
            <a:avLst/>
          </a:prstGeom>
          <a:solidFill>
            <a:srgbClr val="2587C5"/>
          </a:solidFill>
          <a:ln/>
        </p:spPr>
      </p:sp>
      <p:sp>
        <p:nvSpPr>
          <p:cNvPr id="18" name="Text 16"/>
          <p:cNvSpPr txBox="1"/>
          <p:nvPr/>
        </p:nvSpPr>
        <p:spPr>
          <a:xfrm>
            <a:off x="5266944"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864637"/>
            <a:ext cx="45720" cy="1268423"/>
          </a:xfrm>
          <a:prstGeom prst="rect">
            <a:avLst/>
          </a:prstGeom>
          <a:solidFill>
            <a:srgbClr val="2587C5"/>
          </a:solidFill>
          <a:ln/>
        </p:spPr>
      </p:sp>
      <p:sp>
        <p:nvSpPr>
          <p:cNvPr id="20" name="Text 18"/>
          <p:cNvSpPr txBox="1"/>
          <p:nvPr/>
        </p:nvSpPr>
        <p:spPr>
          <a:xfrm>
            <a:off x="8522208"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5242787"/>
            <a:ext cx="45720" cy="911125"/>
          </a:xfrm>
          <a:prstGeom prst="rect">
            <a:avLst/>
          </a:prstGeom>
          <a:solidFill>
            <a:srgbClr val="2587C5"/>
          </a:solidFill>
          <a:ln/>
        </p:spPr>
      </p:sp>
      <p:sp>
        <p:nvSpPr>
          <p:cNvPr id="22" name="Text 20"/>
          <p:cNvSpPr txBox="1"/>
          <p:nvPr/>
        </p:nvSpPr>
        <p:spPr>
          <a:xfrm>
            <a:off x="5266944"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5242787"/>
            <a:ext cx="45720" cy="911125"/>
          </a:xfrm>
          <a:prstGeom prst="rect">
            <a:avLst/>
          </a:prstGeom>
          <a:solidFill>
            <a:srgbClr val="2587C5"/>
          </a:solidFill>
          <a:ln/>
        </p:spPr>
      </p:sp>
      <p:sp>
        <p:nvSpPr>
          <p:cNvPr id="24" name="Text 22"/>
          <p:cNvSpPr txBox="1"/>
          <p:nvPr/>
        </p:nvSpPr>
        <p:spPr>
          <a:xfrm>
            <a:off x="8522208"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7760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67248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701901"/>
            <a:ext cx="59862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963312"/>
            <a:ext cx="521623"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224723"/>
            <a:ext cx="51842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486134"/>
            <a:ext cx="49092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6474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30764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2801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240227"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793188"/>
            <a:ext cx="217352"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5054599"/>
            <a:ext cx="196405"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19130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184589"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838831"/>
            <a:ext cx="18410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177251"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7669"/>
            <a:ext cx="17587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79080"/>
            <a:ext cx="157338"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440491"/>
            <a:ext cx="138838"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701901"/>
            <a:ext cx="13494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963312"/>
            <a:ext cx="134773"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224723"/>
            <a:ext cx="130191"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486134"/>
            <a:ext cx="1264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747545"/>
            <a:ext cx="12044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4008956"/>
            <a:ext cx="11720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1537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07039"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90606"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924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316010"/>
            <a:ext cx="6611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577420"/>
            <a:ext cx="5370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838831"/>
            <a:ext cx="489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13 declined.</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3 VS LAST YEAR</a:t>
            </a:r>
            <a:endParaRPr lang="en-US" sz="1500" dirty="0"/>
          </a:p>
        </p:txBody>
      </p:sp>
      <p:sp>
        <p:nvSpPr>
          <p:cNvPr id="9" name="Shape 7"/>
          <p:cNvSpPr/>
          <p:nvPr/>
        </p:nvSpPr>
        <p:spPr>
          <a:xfrm>
            <a:off x="658368" y="1810512"/>
            <a:ext cx="3489960" cy="1478280"/>
          </a:xfrm>
          <a:prstGeom prst="rect">
            <a:avLst/>
          </a:prstGeom>
          <a:solidFill>
            <a:srgbClr val="F7F7F7"/>
          </a:solidFill>
          <a:ln/>
        </p:spPr>
      </p:sp>
      <p:sp>
        <p:nvSpPr>
          <p:cNvPr id="10" name="Text 8"/>
          <p:cNvSpPr txBox="1"/>
          <p:nvPr/>
        </p:nvSpPr>
        <p:spPr>
          <a:xfrm>
            <a:off x="749808"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11" name="Text 9"/>
          <p:cNvSpPr txBox="1"/>
          <p:nvPr/>
        </p:nvSpPr>
        <p:spPr>
          <a:xfrm>
            <a:off x="1097280"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graphicFrame>
        <p:nvGraphicFramePr>
          <p:cNvPr id="12" name="Chart 0" descr=""/>
          <p:cNvGraphicFramePr/>
          <p:nvPr/>
        </p:nvGraphicFramePr>
        <p:xfrm>
          <a:off x="1097280" y="2697480"/>
          <a:ext cx="1972056" cy="502615"/>
        </p:xfrm>
        <a:graphic>
          <a:graphicData uri="http://schemas.openxmlformats.org/drawingml/2006/chart">
            <c:chart xmlns:c="http://schemas.openxmlformats.org/drawingml/2006/chart" r:id="rId2"/>
          </a:graphicData>
        </a:graphic>
      </p:graphicFrame>
      <p:sp>
        <p:nvSpPr>
          <p:cNvPr id="13" name="Text 10"/>
          <p:cNvSpPr txBox="1"/>
          <p:nvPr/>
        </p:nvSpPr>
        <p:spPr>
          <a:xfrm>
            <a:off x="3160776" y="225399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4" name="Text 11"/>
          <p:cNvSpPr txBox="1"/>
          <p:nvPr/>
        </p:nvSpPr>
        <p:spPr>
          <a:xfrm>
            <a:off x="3160776"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+977 ROs</a:t>
            </a:r>
            <a:endParaRPr lang="en-US" sz="1300" dirty="0"/>
          </a:p>
        </p:txBody>
      </p:sp>
      <p:sp>
        <p:nvSpPr>
          <p:cNvPr id="15" name="Text 12"/>
          <p:cNvSpPr txBox="1"/>
          <p:nvPr/>
        </p:nvSpPr>
        <p:spPr>
          <a:xfrm>
            <a:off x="749808"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16" name="Text 13"/>
          <p:cNvSpPr txBox="1"/>
          <p:nvPr/>
        </p:nvSpPr>
        <p:spPr>
          <a:xfrm>
            <a:off x="1097280"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graphicFrame>
        <p:nvGraphicFramePr>
          <p:cNvPr id="17" name="Chart 1" descr=""/>
          <p:cNvGraphicFramePr/>
          <p:nvPr/>
        </p:nvGraphicFramePr>
        <p:xfrm>
          <a:off x="1097280" y="4175760"/>
          <a:ext cx="1972056" cy="502615"/>
        </p:xfrm>
        <a:graphic>
          <a:graphicData uri="http://schemas.openxmlformats.org/drawingml/2006/chart">
            <c:chart xmlns:c="http://schemas.openxmlformats.org/drawingml/2006/chart" r:id="rId3"/>
          </a:graphicData>
        </a:graphic>
      </p:graphicFrame>
      <p:sp>
        <p:nvSpPr>
          <p:cNvPr id="18" name="Text 14"/>
          <p:cNvSpPr txBox="1"/>
          <p:nvPr/>
        </p:nvSpPr>
        <p:spPr>
          <a:xfrm>
            <a:off x="3160776" y="373227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9" name="Text 15"/>
          <p:cNvSpPr txBox="1"/>
          <p:nvPr/>
        </p:nvSpPr>
        <p:spPr>
          <a:xfrm>
            <a:off x="3160776"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+226 ROs</a:t>
            </a:r>
            <a:endParaRPr lang="en-US" sz="1300" dirty="0"/>
          </a:p>
        </p:txBody>
      </p:sp>
      <p:sp>
        <p:nvSpPr>
          <p:cNvPr id="20" name="Shape 16"/>
          <p:cNvSpPr/>
          <p:nvPr/>
        </p:nvSpPr>
        <p:spPr>
          <a:xfrm>
            <a:off x="658368" y="4767072"/>
            <a:ext cx="3489960" cy="1478280"/>
          </a:xfrm>
          <a:prstGeom prst="rect">
            <a:avLst/>
          </a:prstGeom>
          <a:solidFill>
            <a:srgbClr val="F7F7F7"/>
          </a:solidFill>
          <a:ln/>
        </p:spPr>
      </p:sp>
      <p:sp>
        <p:nvSpPr>
          <p:cNvPr id="21" name="Text 17"/>
          <p:cNvSpPr txBox="1"/>
          <p:nvPr/>
        </p:nvSpPr>
        <p:spPr>
          <a:xfrm>
            <a:off x="749808"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22" name="Text 18"/>
          <p:cNvSpPr txBox="1"/>
          <p:nvPr/>
        </p:nvSpPr>
        <p:spPr>
          <a:xfrm>
            <a:off x="1097280"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graphicFrame>
        <p:nvGraphicFramePr>
          <p:cNvPr id="23" name="Chart 2" descr=""/>
          <p:cNvGraphicFramePr/>
          <p:nvPr/>
        </p:nvGraphicFramePr>
        <p:xfrm>
          <a:off x="1097280" y="5654040"/>
          <a:ext cx="1972056" cy="502615"/>
        </p:xfrm>
        <a:graphic>
          <a:graphicData uri="http://schemas.openxmlformats.org/drawingml/2006/chart">
            <c:chart xmlns:c="http://schemas.openxmlformats.org/drawingml/2006/chart" r:id="rId4"/>
          </a:graphicData>
        </a:graphic>
      </p:graphicFrame>
      <p:sp>
        <p:nvSpPr>
          <p:cNvPr id="24" name="Text 19"/>
          <p:cNvSpPr txBox="1"/>
          <p:nvPr/>
        </p:nvSpPr>
        <p:spPr>
          <a:xfrm>
            <a:off x="3160776" y="521055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5" name="Text 20"/>
          <p:cNvSpPr txBox="1"/>
          <p:nvPr/>
        </p:nvSpPr>
        <p:spPr>
          <a:xfrm>
            <a:off x="3160776"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+297 ROs</a:t>
            </a:r>
            <a:endParaRPr lang="en-US" sz="1300" dirty="0"/>
          </a:p>
        </p:txBody>
      </p:sp>
      <p:sp>
        <p:nvSpPr>
          <p:cNvPr id="26" name="Shape 21"/>
          <p:cNvSpPr/>
          <p:nvPr/>
        </p:nvSpPr>
        <p:spPr>
          <a:xfrm>
            <a:off x="4349496" y="1371600"/>
            <a:ext cx="3489960" cy="45720"/>
          </a:xfrm>
          <a:prstGeom prst="rect">
            <a:avLst/>
          </a:prstGeom>
          <a:solidFill>
            <a:srgbClr val="C2352F"/>
          </a:solidFill>
          <a:ln/>
        </p:spPr>
      </p:sp>
      <p:sp>
        <p:nvSpPr>
          <p:cNvPr id="27" name="Text 2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3 VS LAST YEAR</a:t>
            </a:r>
            <a:endParaRPr lang="en-US" sz="1500" dirty="0"/>
          </a:p>
        </p:txBody>
      </p:sp>
      <p:sp>
        <p:nvSpPr>
          <p:cNvPr id="28" name="Shape 23"/>
          <p:cNvSpPr/>
          <p:nvPr/>
        </p:nvSpPr>
        <p:spPr>
          <a:xfrm>
            <a:off x="4349496" y="1810512"/>
            <a:ext cx="3489960" cy="1478280"/>
          </a:xfrm>
          <a:prstGeom prst="rect">
            <a:avLst/>
          </a:prstGeom>
          <a:solidFill>
            <a:srgbClr val="F7F7F7"/>
          </a:solidFill>
          <a:ln/>
        </p:spPr>
      </p:sp>
      <p:sp>
        <p:nvSpPr>
          <p:cNvPr id="29" name="Text 24"/>
          <p:cNvSpPr txBox="1"/>
          <p:nvPr/>
        </p:nvSpPr>
        <p:spPr>
          <a:xfrm>
            <a:off x="4440936"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33</a:t>
            </a:r>
            <a:endParaRPr lang="en-US" sz="2000" dirty="0"/>
          </a:p>
        </p:txBody>
      </p:sp>
      <p:sp>
        <p:nvSpPr>
          <p:cNvPr id="30" name="Text 25"/>
          <p:cNvSpPr txBox="1"/>
          <p:nvPr/>
        </p:nvSpPr>
        <p:spPr>
          <a:xfrm>
            <a:off x="4788408"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graphicFrame>
        <p:nvGraphicFramePr>
          <p:cNvPr id="31" name="Chart 3" descr=""/>
          <p:cNvGraphicFramePr/>
          <p:nvPr/>
        </p:nvGraphicFramePr>
        <p:xfrm>
          <a:off x="4788408" y="2697480"/>
          <a:ext cx="1972056" cy="502615"/>
        </p:xfrm>
        <a:graphic>
          <a:graphicData uri="http://schemas.openxmlformats.org/drawingml/2006/chart">
            <c:chart xmlns:c="http://schemas.openxmlformats.org/drawingml/2006/chart" r:id="rId5"/>
          </a:graphicData>
        </a:graphic>
      </p:graphicFrame>
      <p:sp>
        <p:nvSpPr>
          <p:cNvPr id="32" name="Text 26"/>
          <p:cNvSpPr txBox="1"/>
          <p:nvPr/>
        </p:nvSpPr>
        <p:spPr>
          <a:xfrm>
            <a:off x="6851904" y="225399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3" name="Text 27"/>
          <p:cNvSpPr txBox="1"/>
          <p:nvPr/>
        </p:nvSpPr>
        <p:spPr>
          <a:xfrm>
            <a:off x="6851904"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−332 ROs</a:t>
            </a:r>
            <a:endParaRPr lang="en-US" sz="1300" dirty="0"/>
          </a:p>
        </p:txBody>
      </p:sp>
      <p:sp>
        <p:nvSpPr>
          <p:cNvPr id="34" name="Text 28"/>
          <p:cNvSpPr txBox="1"/>
          <p:nvPr/>
        </p:nvSpPr>
        <p:spPr>
          <a:xfrm>
            <a:off x="4440936"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32</a:t>
            </a:r>
            <a:endParaRPr lang="en-US" sz="2000" dirty="0"/>
          </a:p>
        </p:txBody>
      </p:sp>
      <p:sp>
        <p:nvSpPr>
          <p:cNvPr id="35" name="Text 29"/>
          <p:cNvSpPr txBox="1"/>
          <p:nvPr/>
        </p:nvSpPr>
        <p:spPr>
          <a:xfrm>
            <a:off x="4788408"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graphicFrame>
        <p:nvGraphicFramePr>
          <p:cNvPr id="36" name="Chart 4" descr=""/>
          <p:cNvGraphicFramePr/>
          <p:nvPr/>
        </p:nvGraphicFramePr>
        <p:xfrm>
          <a:off x="4788408" y="4175760"/>
          <a:ext cx="1972056" cy="502615"/>
        </p:xfrm>
        <a:graphic>
          <a:graphicData uri="http://schemas.openxmlformats.org/drawingml/2006/chart">
            <c:chart xmlns:c="http://schemas.openxmlformats.org/drawingml/2006/chart" r:id="rId6"/>
          </a:graphicData>
        </a:graphic>
      </p:graphicFrame>
      <p:sp>
        <p:nvSpPr>
          <p:cNvPr id="37" name="Text 30"/>
          <p:cNvSpPr txBox="1"/>
          <p:nvPr/>
        </p:nvSpPr>
        <p:spPr>
          <a:xfrm>
            <a:off x="6851904" y="373227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8" name="Text 31"/>
          <p:cNvSpPr txBox="1"/>
          <p:nvPr/>
        </p:nvSpPr>
        <p:spPr>
          <a:xfrm>
            <a:off x="6851904"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−435 ROs</a:t>
            </a:r>
            <a:endParaRPr lang="en-US" sz="1300" dirty="0"/>
          </a:p>
        </p:txBody>
      </p:sp>
      <p:sp>
        <p:nvSpPr>
          <p:cNvPr id="39" name="Shape 32"/>
          <p:cNvSpPr/>
          <p:nvPr/>
        </p:nvSpPr>
        <p:spPr>
          <a:xfrm>
            <a:off x="4349496" y="4767072"/>
            <a:ext cx="3489960" cy="1478280"/>
          </a:xfrm>
          <a:prstGeom prst="rect">
            <a:avLst/>
          </a:prstGeom>
          <a:solidFill>
            <a:srgbClr val="F7F7F7"/>
          </a:solidFill>
          <a:ln/>
        </p:spPr>
      </p:sp>
      <p:sp>
        <p:nvSpPr>
          <p:cNvPr id="40" name="Text 33"/>
          <p:cNvSpPr txBox="1"/>
          <p:nvPr/>
        </p:nvSpPr>
        <p:spPr>
          <a:xfrm>
            <a:off x="4440936"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31</a:t>
            </a:r>
            <a:endParaRPr lang="en-US" sz="2000" dirty="0"/>
          </a:p>
        </p:txBody>
      </p:sp>
      <p:sp>
        <p:nvSpPr>
          <p:cNvPr id="41" name="Text 34"/>
          <p:cNvSpPr txBox="1"/>
          <p:nvPr/>
        </p:nvSpPr>
        <p:spPr>
          <a:xfrm>
            <a:off x="4788408"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graphicFrame>
        <p:nvGraphicFramePr>
          <p:cNvPr id="42" name="Chart 5" descr=""/>
          <p:cNvGraphicFramePr/>
          <p:nvPr/>
        </p:nvGraphicFramePr>
        <p:xfrm>
          <a:off x="4788408" y="5654040"/>
          <a:ext cx="1972056" cy="502615"/>
        </p:xfrm>
        <a:graphic>
          <a:graphicData uri="http://schemas.openxmlformats.org/drawingml/2006/chart">
            <c:chart xmlns:c="http://schemas.openxmlformats.org/drawingml/2006/chart" r:id="rId7"/>
          </a:graphicData>
        </a:graphic>
      </p:graphicFrame>
      <p:sp>
        <p:nvSpPr>
          <p:cNvPr id="43" name="Text 35"/>
          <p:cNvSpPr txBox="1"/>
          <p:nvPr/>
        </p:nvSpPr>
        <p:spPr>
          <a:xfrm>
            <a:off x="6851904" y="521055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4" name="Text 36"/>
          <p:cNvSpPr txBox="1"/>
          <p:nvPr/>
        </p:nvSpPr>
        <p:spPr>
          <a:xfrm>
            <a:off x="6851904"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−462 ROs</a:t>
            </a:r>
            <a:endParaRPr lang="en-US" sz="1300" dirty="0"/>
          </a:p>
        </p:txBody>
      </p:sp>
      <p:sp>
        <p:nvSpPr>
          <p:cNvPr id="45" name="Shape 37"/>
          <p:cNvSpPr/>
          <p:nvPr/>
        </p:nvSpPr>
        <p:spPr>
          <a:xfrm>
            <a:off x="8040624" y="1371600"/>
            <a:ext cx="3489960" cy="45720"/>
          </a:xfrm>
          <a:prstGeom prst="rect">
            <a:avLst/>
          </a:prstGeom>
          <a:solidFill>
            <a:srgbClr val="2587C5"/>
          </a:solidFill>
          <a:ln/>
        </p:spPr>
      </p:sp>
      <p:sp>
        <p:nvSpPr>
          <p:cNvPr id="46" name="Text 3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3 MOVING NOW</a:t>
            </a:r>
            <a:endParaRPr lang="en-US" sz="1500" dirty="0"/>
          </a:p>
        </p:txBody>
      </p:sp>
      <p:sp>
        <p:nvSpPr>
          <p:cNvPr id="47" name="Shape 39"/>
          <p:cNvSpPr/>
          <p:nvPr/>
        </p:nvSpPr>
        <p:spPr>
          <a:xfrm>
            <a:off x="8040624" y="1810512"/>
            <a:ext cx="3489960" cy="1478280"/>
          </a:xfrm>
          <a:prstGeom prst="rect">
            <a:avLst/>
          </a:prstGeom>
          <a:solidFill>
            <a:srgbClr val="F7F7F7"/>
          </a:solidFill>
          <a:ln/>
        </p:spPr>
      </p:sp>
      <p:sp>
        <p:nvSpPr>
          <p:cNvPr id="48" name="Text 40"/>
          <p:cNvSpPr txBox="1"/>
          <p:nvPr/>
        </p:nvSpPr>
        <p:spPr>
          <a:xfrm>
            <a:off x="8132064"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49" name="Text 41"/>
          <p:cNvSpPr txBox="1"/>
          <p:nvPr/>
        </p:nvSpPr>
        <p:spPr>
          <a:xfrm>
            <a:off x="8479536"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50" name="Chart 6" descr=""/>
          <p:cNvGraphicFramePr/>
          <p:nvPr/>
        </p:nvGraphicFramePr>
        <p:xfrm>
          <a:off x="8479536" y="2697480"/>
          <a:ext cx="1972056" cy="502615"/>
        </p:xfrm>
        <a:graphic>
          <a:graphicData uri="http://schemas.openxmlformats.org/drawingml/2006/chart">
            <c:chart xmlns:c="http://schemas.openxmlformats.org/drawingml/2006/chart" r:id="rId8"/>
          </a:graphicData>
        </a:graphic>
      </p:graphicFrame>
      <p:graphicFrame>
        <p:nvGraphicFramePr>
          <p:cNvPr id="51" name="Chart 7" descr=""/>
          <p:cNvGraphicFramePr/>
          <p:nvPr/>
        </p:nvGraphicFramePr>
        <p:xfrm>
          <a:off x="8479536" y="2697480"/>
          <a:ext cx="1972056" cy="502615"/>
        </p:xfrm>
        <a:graphic>
          <a:graphicData uri="http://schemas.openxmlformats.org/drawingml/2006/chart">
            <c:chart xmlns:c="http://schemas.openxmlformats.org/drawingml/2006/chart" r:id="rId9"/>
          </a:graphicData>
        </a:graphic>
      </p:graphicFrame>
      <p:sp>
        <p:nvSpPr>
          <p:cNvPr id="52" name="Text 42"/>
          <p:cNvSpPr txBox="1"/>
          <p:nvPr/>
        </p:nvSpPr>
        <p:spPr>
          <a:xfrm>
            <a:off x="10543032" y="225399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3" name="Text 43"/>
          <p:cNvSpPr txBox="1"/>
          <p:nvPr/>
        </p:nvSpPr>
        <p:spPr>
          <a:xfrm>
            <a:off x="10543032"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+145 ROs</a:t>
            </a:r>
            <a:endParaRPr lang="en-US" sz="1300" dirty="0"/>
          </a:p>
        </p:txBody>
      </p:sp>
      <p:sp>
        <p:nvSpPr>
          <p:cNvPr id="54" name="Text 44"/>
          <p:cNvSpPr txBox="1"/>
          <p:nvPr/>
        </p:nvSpPr>
        <p:spPr>
          <a:xfrm>
            <a:off x="8132064"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55" name="Text 45"/>
          <p:cNvSpPr txBox="1"/>
          <p:nvPr/>
        </p:nvSpPr>
        <p:spPr>
          <a:xfrm>
            <a:off x="8479536"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56" name="Chart 8" descr=""/>
          <p:cNvGraphicFramePr/>
          <p:nvPr/>
        </p:nvGraphicFramePr>
        <p:xfrm>
          <a:off x="8479536" y="4175760"/>
          <a:ext cx="1972056" cy="502615"/>
        </p:xfrm>
        <a:graphic>
          <a:graphicData uri="http://schemas.openxmlformats.org/drawingml/2006/chart">
            <c:chart xmlns:c="http://schemas.openxmlformats.org/drawingml/2006/chart" r:id="rId10"/>
          </a:graphicData>
        </a:graphic>
      </p:graphicFrame>
      <p:graphicFrame>
        <p:nvGraphicFramePr>
          <p:cNvPr id="57" name="Chart 9" descr=""/>
          <p:cNvGraphicFramePr/>
          <p:nvPr/>
        </p:nvGraphicFramePr>
        <p:xfrm>
          <a:off x="8479536" y="4175760"/>
          <a:ext cx="1972056" cy="502615"/>
        </p:xfrm>
        <a:graphic>
          <a:graphicData uri="http://schemas.openxmlformats.org/drawingml/2006/chart">
            <c:chart xmlns:c="http://schemas.openxmlformats.org/drawingml/2006/chart" r:id="rId11"/>
          </a:graphicData>
        </a:graphic>
      </p:graphicFrame>
      <p:sp>
        <p:nvSpPr>
          <p:cNvPr id="58" name="Text 46"/>
          <p:cNvSpPr txBox="1"/>
          <p:nvPr/>
        </p:nvSpPr>
        <p:spPr>
          <a:xfrm>
            <a:off x="10543032" y="373227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9" name="Text 47"/>
          <p:cNvSpPr txBox="1"/>
          <p:nvPr/>
        </p:nvSpPr>
        <p:spPr>
          <a:xfrm>
            <a:off x="10543032"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+124 ROs</a:t>
            </a:r>
            <a:endParaRPr lang="en-US" sz="1300" dirty="0"/>
          </a:p>
        </p:txBody>
      </p:sp>
      <p:sp>
        <p:nvSpPr>
          <p:cNvPr id="60" name="Shape 48"/>
          <p:cNvSpPr/>
          <p:nvPr/>
        </p:nvSpPr>
        <p:spPr>
          <a:xfrm>
            <a:off x="8040624" y="4767072"/>
            <a:ext cx="3489960" cy="1478280"/>
          </a:xfrm>
          <a:prstGeom prst="rect">
            <a:avLst/>
          </a:prstGeom>
          <a:solidFill>
            <a:srgbClr val="F7F7F7"/>
          </a:solidFill>
          <a:ln/>
        </p:spPr>
      </p:sp>
      <p:sp>
        <p:nvSpPr>
          <p:cNvPr id="61" name="Text 49"/>
          <p:cNvSpPr txBox="1"/>
          <p:nvPr/>
        </p:nvSpPr>
        <p:spPr>
          <a:xfrm>
            <a:off x="8132064"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62" name="Text 50"/>
          <p:cNvSpPr txBox="1"/>
          <p:nvPr/>
        </p:nvSpPr>
        <p:spPr>
          <a:xfrm>
            <a:off x="8479536"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63" name="Chart 10" descr=""/>
          <p:cNvGraphicFramePr/>
          <p:nvPr/>
        </p:nvGraphicFramePr>
        <p:xfrm>
          <a:off x="8479536" y="5654040"/>
          <a:ext cx="1972056" cy="502615"/>
        </p:xfrm>
        <a:graphic>
          <a:graphicData uri="http://schemas.openxmlformats.org/drawingml/2006/chart">
            <c:chart xmlns:c="http://schemas.openxmlformats.org/drawingml/2006/chart" r:id="rId12"/>
          </a:graphicData>
        </a:graphic>
      </p:graphicFrame>
      <p:graphicFrame>
        <p:nvGraphicFramePr>
          <p:cNvPr id="64" name="Chart 11" descr=""/>
          <p:cNvGraphicFramePr/>
          <p:nvPr/>
        </p:nvGraphicFramePr>
        <p:xfrm>
          <a:off x="8479536" y="5654040"/>
          <a:ext cx="1972056" cy="502615"/>
        </p:xfrm>
        <a:graphic>
          <a:graphicData uri="http://schemas.openxmlformats.org/drawingml/2006/chart">
            <c:chart xmlns:c="http://schemas.openxmlformats.org/drawingml/2006/chart" r:id="rId13"/>
          </a:graphicData>
        </a:graphic>
      </p:graphicFrame>
      <p:sp>
        <p:nvSpPr>
          <p:cNvPr id="65" name="Text 51"/>
          <p:cNvSpPr txBox="1"/>
          <p:nvPr/>
        </p:nvSpPr>
        <p:spPr>
          <a:xfrm>
            <a:off x="10543032" y="521055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6" name="Text 52"/>
          <p:cNvSpPr txBox="1"/>
          <p:nvPr/>
        </p:nvSpPr>
        <p:spPr>
          <a:xfrm>
            <a:off x="10543032"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+65 ROs</a:t>
            </a:r>
            <a:endParaRPr lang="en-US" sz="13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05067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038014"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1166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495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224723"/>
            <a:ext cx="60276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486134"/>
            <a:ext cx="498059"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36748"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419629"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270366"/>
            <a:ext cx="344483"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531777"/>
            <a:ext cx="341580"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793188"/>
            <a:ext cx="326318"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5054599"/>
            <a:ext cx="308206"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316010"/>
            <a:ext cx="299995"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577420"/>
            <a:ext cx="29884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838831"/>
            <a:ext cx="298644"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6100242"/>
            <a:ext cx="27610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7669"/>
            <a:ext cx="25733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79080"/>
            <a:ext cx="2500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440491"/>
            <a:ext cx="222717"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701901"/>
            <a:ext cx="194260"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963312"/>
            <a:ext cx="190890"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224723"/>
            <a:ext cx="181408"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486134"/>
            <a:ext cx="157098"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747545"/>
            <a:ext cx="15295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4008956"/>
            <a:ext cx="14564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270366"/>
            <a:ext cx="142349"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531777"/>
            <a:ext cx="12203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1809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1585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316010"/>
            <a:ext cx="11199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76952"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6698"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10 declined.</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3 VS LAST YEAR</a:t>
            </a:r>
            <a:endParaRPr lang="en-US" sz="1500" dirty="0"/>
          </a:p>
        </p:txBody>
      </p:sp>
      <p:sp>
        <p:nvSpPr>
          <p:cNvPr id="9" name="Shape 7"/>
          <p:cNvSpPr/>
          <p:nvPr/>
        </p:nvSpPr>
        <p:spPr>
          <a:xfrm>
            <a:off x="658368" y="1810512"/>
            <a:ext cx="3489960" cy="1478280"/>
          </a:xfrm>
          <a:prstGeom prst="rect">
            <a:avLst/>
          </a:prstGeom>
          <a:solidFill>
            <a:srgbClr val="F7F7F7"/>
          </a:solidFill>
          <a:ln/>
        </p:spPr>
      </p:sp>
      <p:sp>
        <p:nvSpPr>
          <p:cNvPr id="10" name="Text 8"/>
          <p:cNvSpPr txBox="1"/>
          <p:nvPr/>
        </p:nvSpPr>
        <p:spPr>
          <a:xfrm>
            <a:off x="749808"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11" name="Text 9"/>
          <p:cNvSpPr txBox="1"/>
          <p:nvPr/>
        </p:nvSpPr>
        <p:spPr>
          <a:xfrm>
            <a:off x="1097280"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graphicFrame>
        <p:nvGraphicFramePr>
          <p:cNvPr id="12" name="Chart 0" descr=""/>
          <p:cNvGraphicFramePr/>
          <p:nvPr/>
        </p:nvGraphicFramePr>
        <p:xfrm>
          <a:off x="1097280" y="2697480"/>
          <a:ext cx="1972056" cy="502615"/>
        </p:xfrm>
        <a:graphic>
          <a:graphicData uri="http://schemas.openxmlformats.org/drawingml/2006/chart">
            <c:chart xmlns:c="http://schemas.openxmlformats.org/drawingml/2006/chart" r:id="rId2"/>
          </a:graphicData>
        </a:graphic>
      </p:graphicFrame>
      <p:sp>
        <p:nvSpPr>
          <p:cNvPr id="13" name="Text 10"/>
          <p:cNvSpPr txBox="1"/>
          <p:nvPr/>
        </p:nvSpPr>
        <p:spPr>
          <a:xfrm>
            <a:off x="3124200" y="1810512"/>
            <a:ext cx="932688" cy="147828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+44.6%</a:t>
            </a:r>
            <a:endParaRPr lang="en-US" sz="1800" dirty="0"/>
          </a:p>
        </p:txBody>
      </p:sp>
      <p:sp>
        <p:nvSpPr>
          <p:cNvPr id="14" name="Text 11"/>
          <p:cNvSpPr txBox="1"/>
          <p:nvPr/>
        </p:nvSpPr>
        <p:spPr>
          <a:xfrm>
            <a:off x="749808"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15" name="Text 12"/>
          <p:cNvSpPr txBox="1"/>
          <p:nvPr/>
        </p:nvSpPr>
        <p:spPr>
          <a:xfrm>
            <a:off x="1097280"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graphicFrame>
        <p:nvGraphicFramePr>
          <p:cNvPr id="16" name="Chart 1" descr=""/>
          <p:cNvGraphicFramePr/>
          <p:nvPr/>
        </p:nvGraphicFramePr>
        <p:xfrm>
          <a:off x="1097280" y="4175760"/>
          <a:ext cx="1972056" cy="502615"/>
        </p:xfrm>
        <a:graphic>
          <a:graphicData uri="http://schemas.openxmlformats.org/drawingml/2006/chart">
            <c:chart xmlns:c="http://schemas.openxmlformats.org/drawingml/2006/chart" r:id="rId3"/>
          </a:graphicData>
        </a:graphic>
      </p:graphicFrame>
      <p:sp>
        <p:nvSpPr>
          <p:cNvPr id="17" name="Text 13"/>
          <p:cNvSpPr txBox="1"/>
          <p:nvPr/>
        </p:nvSpPr>
        <p:spPr>
          <a:xfrm>
            <a:off x="3124200" y="3288792"/>
            <a:ext cx="932688" cy="147828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+35.0%</a:t>
            </a:r>
            <a:endParaRPr lang="en-US" sz="1800" dirty="0"/>
          </a:p>
        </p:txBody>
      </p:sp>
      <p:sp>
        <p:nvSpPr>
          <p:cNvPr id="18" name="Shape 14"/>
          <p:cNvSpPr/>
          <p:nvPr/>
        </p:nvSpPr>
        <p:spPr>
          <a:xfrm>
            <a:off x="658368" y="4767072"/>
            <a:ext cx="3489960" cy="1478280"/>
          </a:xfrm>
          <a:prstGeom prst="rect">
            <a:avLst/>
          </a:prstGeom>
          <a:solidFill>
            <a:srgbClr val="F7F7F7"/>
          </a:solidFill>
          <a:ln/>
        </p:spPr>
      </p:sp>
      <p:sp>
        <p:nvSpPr>
          <p:cNvPr id="19" name="Text 15"/>
          <p:cNvSpPr txBox="1"/>
          <p:nvPr/>
        </p:nvSpPr>
        <p:spPr>
          <a:xfrm>
            <a:off x="749808"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20" name="Text 16"/>
          <p:cNvSpPr txBox="1"/>
          <p:nvPr/>
        </p:nvSpPr>
        <p:spPr>
          <a:xfrm>
            <a:off x="1097280"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graphicFrame>
        <p:nvGraphicFramePr>
          <p:cNvPr id="21" name="Chart 2" descr=""/>
          <p:cNvGraphicFramePr/>
          <p:nvPr/>
        </p:nvGraphicFramePr>
        <p:xfrm>
          <a:off x="1097280" y="5654040"/>
          <a:ext cx="1972056" cy="502615"/>
        </p:xfrm>
        <a:graphic>
          <a:graphicData uri="http://schemas.openxmlformats.org/drawingml/2006/chart">
            <c:chart xmlns:c="http://schemas.openxmlformats.org/drawingml/2006/chart" r:id="rId4"/>
          </a:graphicData>
        </a:graphic>
      </p:graphicFrame>
      <p:sp>
        <p:nvSpPr>
          <p:cNvPr id="22" name="Text 17"/>
          <p:cNvSpPr txBox="1"/>
          <p:nvPr/>
        </p:nvSpPr>
        <p:spPr>
          <a:xfrm>
            <a:off x="3124200" y="4767072"/>
            <a:ext cx="932688" cy="147828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+33.9%</a:t>
            </a:r>
            <a:endParaRPr lang="en-US" sz="1800" dirty="0"/>
          </a:p>
        </p:txBody>
      </p:sp>
      <p:sp>
        <p:nvSpPr>
          <p:cNvPr id="23" name="Shape 18"/>
          <p:cNvSpPr/>
          <p:nvPr/>
        </p:nvSpPr>
        <p:spPr>
          <a:xfrm>
            <a:off x="4349496" y="1371600"/>
            <a:ext cx="3489960" cy="45720"/>
          </a:xfrm>
          <a:prstGeom prst="rect">
            <a:avLst/>
          </a:prstGeom>
          <a:solidFill>
            <a:srgbClr val="C2352F"/>
          </a:solidFill>
          <a:ln/>
        </p:spPr>
      </p:sp>
      <p:sp>
        <p:nvSpPr>
          <p:cNvPr id="24" name="Text 1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3 VS LAST YEAR</a:t>
            </a:r>
            <a:endParaRPr lang="en-US" sz="1500" dirty="0"/>
          </a:p>
        </p:txBody>
      </p:sp>
      <p:sp>
        <p:nvSpPr>
          <p:cNvPr id="25" name="Shape 20"/>
          <p:cNvSpPr/>
          <p:nvPr/>
        </p:nvSpPr>
        <p:spPr>
          <a:xfrm>
            <a:off x="4349496" y="1810512"/>
            <a:ext cx="3489960" cy="1478280"/>
          </a:xfrm>
          <a:prstGeom prst="rect">
            <a:avLst/>
          </a:prstGeom>
          <a:solidFill>
            <a:srgbClr val="F7F7F7"/>
          </a:solidFill>
          <a:ln/>
        </p:spPr>
      </p:sp>
      <p:sp>
        <p:nvSpPr>
          <p:cNvPr id="26" name="Text 21"/>
          <p:cNvSpPr txBox="1"/>
          <p:nvPr/>
        </p:nvSpPr>
        <p:spPr>
          <a:xfrm>
            <a:off x="4440936"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33</a:t>
            </a:r>
            <a:endParaRPr lang="en-US" sz="2000" dirty="0"/>
          </a:p>
        </p:txBody>
      </p:sp>
      <p:sp>
        <p:nvSpPr>
          <p:cNvPr id="27" name="Text 22"/>
          <p:cNvSpPr txBox="1"/>
          <p:nvPr/>
        </p:nvSpPr>
        <p:spPr>
          <a:xfrm>
            <a:off x="4788408"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graphicFrame>
        <p:nvGraphicFramePr>
          <p:cNvPr id="28" name="Chart 3" descr=""/>
          <p:cNvGraphicFramePr/>
          <p:nvPr/>
        </p:nvGraphicFramePr>
        <p:xfrm>
          <a:off x="4788408" y="2697480"/>
          <a:ext cx="1972056" cy="502615"/>
        </p:xfrm>
        <a:graphic>
          <a:graphicData uri="http://schemas.openxmlformats.org/drawingml/2006/chart">
            <c:chart xmlns:c="http://schemas.openxmlformats.org/drawingml/2006/chart" r:id="rId5"/>
          </a:graphicData>
        </a:graphic>
      </p:graphicFrame>
      <p:sp>
        <p:nvSpPr>
          <p:cNvPr id="29" name="Text 23"/>
          <p:cNvSpPr txBox="1"/>
          <p:nvPr/>
        </p:nvSpPr>
        <p:spPr>
          <a:xfrm>
            <a:off x="6815328" y="1810512"/>
            <a:ext cx="932688" cy="1478280"/>
          </a:xfrm>
          <a:prstGeom prst="rect">
            <a:avLst/>
          </a:prstGeom>
          <a:noFill/>
          <a:ln/>
        </p:spPr>
        <p:txBody>
          <a:bodyPr wrap="square" lIns="0" tIns="0" rIns="0" bIns="0" rtlCol="0" anchor="ctr"/>
          <a:lstStyle/>
          <a:p>
            <a:pPr algn="r" indent="0" marL="0">
              <a:buNone/>
            </a:pPr>
            <a:r>
              <a:rPr lang="en-US" sz="1800" b="1" dirty="0">
                <a:solidFill>
                  <a:srgbClr val="A82B26"/>
                </a:solidFill>
                <a:latin typeface="Inter" pitchFamily="34" charset="0"/>
                <a:ea typeface="Inter" pitchFamily="34" charset="-122"/>
                <a:cs typeface="Inter" pitchFamily="34" charset="-120"/>
              </a:rPr>
              <a:t>−25.4%</a:t>
            </a:r>
            <a:endParaRPr lang="en-US" sz="1800" dirty="0"/>
          </a:p>
        </p:txBody>
      </p:sp>
      <p:sp>
        <p:nvSpPr>
          <p:cNvPr id="30" name="Text 24"/>
          <p:cNvSpPr txBox="1"/>
          <p:nvPr/>
        </p:nvSpPr>
        <p:spPr>
          <a:xfrm>
            <a:off x="4440936"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32</a:t>
            </a:r>
            <a:endParaRPr lang="en-US" sz="2000" dirty="0"/>
          </a:p>
        </p:txBody>
      </p:sp>
      <p:sp>
        <p:nvSpPr>
          <p:cNvPr id="31" name="Text 25"/>
          <p:cNvSpPr txBox="1"/>
          <p:nvPr/>
        </p:nvSpPr>
        <p:spPr>
          <a:xfrm>
            <a:off x="4788408"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graphicFrame>
        <p:nvGraphicFramePr>
          <p:cNvPr id="32" name="Chart 4" descr=""/>
          <p:cNvGraphicFramePr/>
          <p:nvPr/>
        </p:nvGraphicFramePr>
        <p:xfrm>
          <a:off x="4788408" y="4175760"/>
          <a:ext cx="1972056" cy="502615"/>
        </p:xfrm>
        <a:graphic>
          <a:graphicData uri="http://schemas.openxmlformats.org/drawingml/2006/chart">
            <c:chart xmlns:c="http://schemas.openxmlformats.org/drawingml/2006/chart" r:id="rId6"/>
          </a:graphicData>
        </a:graphic>
      </p:graphicFrame>
      <p:sp>
        <p:nvSpPr>
          <p:cNvPr id="33" name="Text 26"/>
          <p:cNvSpPr txBox="1"/>
          <p:nvPr/>
        </p:nvSpPr>
        <p:spPr>
          <a:xfrm>
            <a:off x="6815328" y="3288792"/>
            <a:ext cx="932688" cy="1478280"/>
          </a:xfrm>
          <a:prstGeom prst="rect">
            <a:avLst/>
          </a:prstGeom>
          <a:noFill/>
          <a:ln/>
        </p:spPr>
        <p:txBody>
          <a:bodyPr wrap="square" lIns="0" tIns="0" rIns="0" bIns="0" rtlCol="0" anchor="ctr"/>
          <a:lstStyle/>
          <a:p>
            <a:pPr algn="r" indent="0" marL="0">
              <a:buNone/>
            </a:pPr>
            <a:r>
              <a:rPr lang="en-US" sz="1800" b="1" dirty="0">
                <a:solidFill>
                  <a:srgbClr val="A82B26"/>
                </a:solidFill>
                <a:latin typeface="Inter" pitchFamily="34" charset="0"/>
                <a:ea typeface="Inter" pitchFamily="34" charset="-122"/>
                <a:cs typeface="Inter" pitchFamily="34" charset="-120"/>
              </a:rPr>
              <a:t>−15.3%</a:t>
            </a:r>
            <a:endParaRPr lang="en-US" sz="1800" dirty="0"/>
          </a:p>
        </p:txBody>
      </p:sp>
      <p:sp>
        <p:nvSpPr>
          <p:cNvPr id="34" name="Shape 27"/>
          <p:cNvSpPr/>
          <p:nvPr/>
        </p:nvSpPr>
        <p:spPr>
          <a:xfrm>
            <a:off x="4349496" y="4767072"/>
            <a:ext cx="3489960" cy="1478280"/>
          </a:xfrm>
          <a:prstGeom prst="rect">
            <a:avLst/>
          </a:prstGeom>
          <a:solidFill>
            <a:srgbClr val="F7F7F7"/>
          </a:solidFill>
          <a:ln/>
        </p:spPr>
      </p:sp>
      <p:sp>
        <p:nvSpPr>
          <p:cNvPr id="35" name="Text 28"/>
          <p:cNvSpPr txBox="1"/>
          <p:nvPr/>
        </p:nvSpPr>
        <p:spPr>
          <a:xfrm>
            <a:off x="4440936"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31</a:t>
            </a:r>
            <a:endParaRPr lang="en-US" sz="2000" dirty="0"/>
          </a:p>
        </p:txBody>
      </p:sp>
      <p:sp>
        <p:nvSpPr>
          <p:cNvPr id="36" name="Text 29"/>
          <p:cNvSpPr txBox="1"/>
          <p:nvPr/>
        </p:nvSpPr>
        <p:spPr>
          <a:xfrm>
            <a:off x="4788408"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graphicFrame>
        <p:nvGraphicFramePr>
          <p:cNvPr id="37" name="Chart 5" descr=""/>
          <p:cNvGraphicFramePr/>
          <p:nvPr/>
        </p:nvGraphicFramePr>
        <p:xfrm>
          <a:off x="4788408" y="5654040"/>
          <a:ext cx="1972056" cy="502615"/>
        </p:xfrm>
        <a:graphic>
          <a:graphicData uri="http://schemas.openxmlformats.org/drawingml/2006/chart">
            <c:chart xmlns:c="http://schemas.openxmlformats.org/drawingml/2006/chart" r:id="rId7"/>
          </a:graphicData>
        </a:graphic>
      </p:graphicFrame>
      <p:sp>
        <p:nvSpPr>
          <p:cNvPr id="38" name="Text 30"/>
          <p:cNvSpPr txBox="1"/>
          <p:nvPr/>
        </p:nvSpPr>
        <p:spPr>
          <a:xfrm>
            <a:off x="6815328" y="4767072"/>
            <a:ext cx="932688" cy="1478280"/>
          </a:xfrm>
          <a:prstGeom prst="rect">
            <a:avLst/>
          </a:prstGeom>
          <a:noFill/>
          <a:ln/>
        </p:spPr>
        <p:txBody>
          <a:bodyPr wrap="square" lIns="0" tIns="0" rIns="0" bIns="0" rtlCol="0" anchor="ctr"/>
          <a:lstStyle/>
          <a:p>
            <a:pPr algn="r" indent="0" marL="0">
              <a:buNone/>
            </a:pPr>
            <a:r>
              <a:rPr lang="en-US" sz="1800" b="1" dirty="0">
                <a:solidFill>
                  <a:srgbClr val="A82B26"/>
                </a:solidFill>
                <a:latin typeface="Inter" pitchFamily="34" charset="0"/>
                <a:ea typeface="Inter" pitchFamily="34" charset="-122"/>
                <a:cs typeface="Inter" pitchFamily="34" charset="-120"/>
              </a:rPr>
              <a:t>−10.5%</a:t>
            </a:r>
            <a:endParaRPr lang="en-US" sz="1800" dirty="0"/>
          </a:p>
        </p:txBody>
      </p:sp>
      <p:sp>
        <p:nvSpPr>
          <p:cNvPr id="39" name="Shape 31"/>
          <p:cNvSpPr/>
          <p:nvPr/>
        </p:nvSpPr>
        <p:spPr>
          <a:xfrm>
            <a:off x="8040624" y="1371600"/>
            <a:ext cx="3489960" cy="45720"/>
          </a:xfrm>
          <a:prstGeom prst="rect">
            <a:avLst/>
          </a:prstGeom>
          <a:solidFill>
            <a:srgbClr val="2587C5"/>
          </a:solidFill>
          <a:ln/>
        </p:spPr>
      </p:sp>
      <p:sp>
        <p:nvSpPr>
          <p:cNvPr id="40" name="Text 32"/>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3 MOVING NOW</a:t>
            </a:r>
            <a:endParaRPr lang="en-US" sz="1500" dirty="0"/>
          </a:p>
        </p:txBody>
      </p:sp>
      <p:sp>
        <p:nvSpPr>
          <p:cNvPr id="41" name="Shape 33"/>
          <p:cNvSpPr/>
          <p:nvPr/>
        </p:nvSpPr>
        <p:spPr>
          <a:xfrm>
            <a:off x="8040624" y="1810512"/>
            <a:ext cx="3489960" cy="1478280"/>
          </a:xfrm>
          <a:prstGeom prst="rect">
            <a:avLst/>
          </a:prstGeom>
          <a:solidFill>
            <a:srgbClr val="F7F7F7"/>
          </a:solidFill>
          <a:ln/>
        </p:spPr>
      </p:sp>
      <p:sp>
        <p:nvSpPr>
          <p:cNvPr id="42" name="Text 34"/>
          <p:cNvSpPr txBox="1"/>
          <p:nvPr/>
        </p:nvSpPr>
        <p:spPr>
          <a:xfrm>
            <a:off x="8132064"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43" name="Text 35"/>
          <p:cNvSpPr txBox="1"/>
          <p:nvPr/>
        </p:nvSpPr>
        <p:spPr>
          <a:xfrm>
            <a:off x="8479536"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graphicFrame>
        <p:nvGraphicFramePr>
          <p:cNvPr id="44" name="Chart 6" descr=""/>
          <p:cNvGraphicFramePr/>
          <p:nvPr/>
        </p:nvGraphicFramePr>
        <p:xfrm>
          <a:off x="8479536" y="2697480"/>
          <a:ext cx="1972056" cy="502615"/>
        </p:xfrm>
        <a:graphic>
          <a:graphicData uri="http://schemas.openxmlformats.org/drawingml/2006/chart">
            <c:chart xmlns:c="http://schemas.openxmlformats.org/drawingml/2006/chart" r:id="rId8"/>
          </a:graphicData>
        </a:graphic>
      </p:graphicFrame>
      <p:graphicFrame>
        <p:nvGraphicFramePr>
          <p:cNvPr id="45" name="Chart 7" descr=""/>
          <p:cNvGraphicFramePr/>
          <p:nvPr/>
        </p:nvGraphicFramePr>
        <p:xfrm>
          <a:off x="8479536" y="2697480"/>
          <a:ext cx="1972056" cy="502615"/>
        </p:xfrm>
        <a:graphic>
          <a:graphicData uri="http://schemas.openxmlformats.org/drawingml/2006/chart">
            <c:chart xmlns:c="http://schemas.openxmlformats.org/drawingml/2006/chart" r:id="rId9"/>
          </a:graphicData>
        </a:graphic>
      </p:graphicFrame>
      <p:sp>
        <p:nvSpPr>
          <p:cNvPr id="46" name="Text 36"/>
          <p:cNvSpPr txBox="1"/>
          <p:nvPr/>
        </p:nvSpPr>
        <p:spPr>
          <a:xfrm>
            <a:off x="10506456" y="1810512"/>
            <a:ext cx="932688" cy="147828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47" name="Text 37"/>
          <p:cNvSpPr txBox="1"/>
          <p:nvPr/>
        </p:nvSpPr>
        <p:spPr>
          <a:xfrm>
            <a:off x="8132064"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48" name="Text 38"/>
          <p:cNvSpPr txBox="1"/>
          <p:nvPr/>
        </p:nvSpPr>
        <p:spPr>
          <a:xfrm>
            <a:off x="8479536"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graphicFrame>
        <p:nvGraphicFramePr>
          <p:cNvPr id="49" name="Chart 8" descr=""/>
          <p:cNvGraphicFramePr/>
          <p:nvPr/>
        </p:nvGraphicFramePr>
        <p:xfrm>
          <a:off x="8479536" y="4175760"/>
          <a:ext cx="1972056" cy="502615"/>
        </p:xfrm>
        <a:graphic>
          <a:graphicData uri="http://schemas.openxmlformats.org/drawingml/2006/chart">
            <c:chart xmlns:c="http://schemas.openxmlformats.org/drawingml/2006/chart" r:id="rId10"/>
          </a:graphicData>
        </a:graphic>
      </p:graphicFrame>
      <p:graphicFrame>
        <p:nvGraphicFramePr>
          <p:cNvPr id="50" name="Chart 9" descr=""/>
          <p:cNvGraphicFramePr/>
          <p:nvPr/>
        </p:nvGraphicFramePr>
        <p:xfrm>
          <a:off x="8479536" y="4175760"/>
          <a:ext cx="1972056" cy="502615"/>
        </p:xfrm>
        <a:graphic>
          <a:graphicData uri="http://schemas.openxmlformats.org/drawingml/2006/chart">
            <c:chart xmlns:c="http://schemas.openxmlformats.org/drawingml/2006/chart" r:id="rId11"/>
          </a:graphicData>
        </a:graphic>
      </p:graphicFrame>
      <p:sp>
        <p:nvSpPr>
          <p:cNvPr id="51" name="Text 39"/>
          <p:cNvSpPr txBox="1"/>
          <p:nvPr/>
        </p:nvSpPr>
        <p:spPr>
          <a:xfrm>
            <a:off x="10506456" y="3288792"/>
            <a:ext cx="932688" cy="147828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+28.8%</a:t>
            </a:r>
            <a:endParaRPr lang="en-US" sz="1800" dirty="0"/>
          </a:p>
        </p:txBody>
      </p:sp>
      <p:sp>
        <p:nvSpPr>
          <p:cNvPr id="52" name="Shape 40"/>
          <p:cNvSpPr/>
          <p:nvPr/>
        </p:nvSpPr>
        <p:spPr>
          <a:xfrm>
            <a:off x="8040624" y="4767072"/>
            <a:ext cx="3489960" cy="1478280"/>
          </a:xfrm>
          <a:prstGeom prst="rect">
            <a:avLst/>
          </a:prstGeom>
          <a:solidFill>
            <a:srgbClr val="F7F7F7"/>
          </a:solidFill>
          <a:ln/>
        </p:spPr>
      </p:sp>
      <p:sp>
        <p:nvSpPr>
          <p:cNvPr id="53" name="Text 41"/>
          <p:cNvSpPr txBox="1"/>
          <p:nvPr/>
        </p:nvSpPr>
        <p:spPr>
          <a:xfrm>
            <a:off x="8132064"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54" name="Text 42"/>
          <p:cNvSpPr txBox="1"/>
          <p:nvPr/>
        </p:nvSpPr>
        <p:spPr>
          <a:xfrm>
            <a:off x="8479536"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graphicFrame>
        <p:nvGraphicFramePr>
          <p:cNvPr id="55" name="Chart 10" descr=""/>
          <p:cNvGraphicFramePr/>
          <p:nvPr/>
        </p:nvGraphicFramePr>
        <p:xfrm>
          <a:off x="8479536" y="5654040"/>
          <a:ext cx="1972056" cy="502615"/>
        </p:xfrm>
        <a:graphic>
          <a:graphicData uri="http://schemas.openxmlformats.org/drawingml/2006/chart">
            <c:chart xmlns:c="http://schemas.openxmlformats.org/drawingml/2006/chart" r:id="rId12"/>
          </a:graphicData>
        </a:graphic>
      </p:graphicFrame>
      <p:graphicFrame>
        <p:nvGraphicFramePr>
          <p:cNvPr id="56" name="Chart 11" descr=""/>
          <p:cNvGraphicFramePr/>
          <p:nvPr/>
        </p:nvGraphicFramePr>
        <p:xfrm>
          <a:off x="8479536" y="5654040"/>
          <a:ext cx="1972056" cy="502615"/>
        </p:xfrm>
        <a:graphic>
          <a:graphicData uri="http://schemas.openxmlformats.org/drawingml/2006/chart">
            <c:chart xmlns:c="http://schemas.openxmlformats.org/drawingml/2006/chart" r:id="rId13"/>
          </a:graphicData>
        </a:graphic>
      </p:graphicFrame>
      <p:sp>
        <p:nvSpPr>
          <p:cNvPr id="57" name="Text 43"/>
          <p:cNvSpPr txBox="1"/>
          <p:nvPr/>
        </p:nvSpPr>
        <p:spPr>
          <a:xfrm>
            <a:off x="10506456" y="4767072"/>
            <a:ext cx="932688" cy="147828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+24.3%</a:t>
            </a:r>
            <a:endParaRPr lang="en-US" sz="180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37,301 hours a year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each store's gross per hour  </a:t>
            </a:r>
            <a:pPr algn="ctr" indent="0" marL="0">
              <a:buNone/>
            </a:pPr>
            <a:r>
              <a:rPr lang="en-US" sz="1400" b="1" dirty="0">
                <a:solidFill>
                  <a:srgbClr val="0B2C4A"/>
                </a:solidFill>
                <a:latin typeface="Inter" pitchFamily="34" charset="0"/>
                <a:ea typeface="Inter" pitchFamily="34" charset="-122"/>
                <a:cs typeface="Inter" pitchFamily="34" charset="-120"/>
              </a:rPr>
              <a:t>= $6.6M a year</a:t>
            </a:r>
            <a:endParaRPr lang="en-US" sz="1400" dirty="0"/>
          </a:p>
        </p:txBody>
      </p:sp>
      <p:sp>
        <p:nvSpPr>
          <p:cNvPr id="13" name="Shape 11"/>
          <p:cNvSpPr/>
          <p:nvPr/>
        </p:nvSpPr>
        <p:spPr>
          <a:xfrm>
            <a:off x="457200" y="2907792"/>
            <a:ext cx="4343400" cy="3447288"/>
          </a:xfrm>
          <a:prstGeom prst="rect">
            <a:avLst/>
          </a:prstGeom>
          <a:solidFill>
            <a:srgbClr val="FFFFFF"/>
          </a:solidFill>
          <a:ln/>
        </p:spPr>
      </p:sp>
      <p:sp>
        <p:nvSpPr>
          <p:cNvPr id="14" name="Shape 12"/>
          <p:cNvSpPr/>
          <p:nvPr/>
        </p:nvSpPr>
        <p:spPr>
          <a:xfrm>
            <a:off x="4937760" y="2907792"/>
            <a:ext cx="6793992" cy="344728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807208"/>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cannot be manipulated: it is the work we sell.</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Selling more hours also sells parts.</a:t>
            </a:r>
            <a:endParaRPr lang="en-US" sz="1600" dirty="0"/>
          </a:p>
        </p:txBody>
      </p:sp>
      <p:sp>
        <p:nvSpPr>
          <p:cNvPr id="18" name="Shape 16"/>
          <p:cNvSpPr/>
          <p:nvPr/>
        </p:nvSpPr>
        <p:spPr>
          <a:xfrm>
            <a:off x="5138928" y="3410712"/>
            <a:ext cx="45720" cy="841248"/>
          </a:xfrm>
          <a:prstGeom prst="rect">
            <a:avLst/>
          </a:prstGeom>
          <a:solidFill>
            <a:srgbClr val="2587C5"/>
          </a:solidFill>
          <a:ln/>
        </p:spPr>
      </p:sp>
      <p:sp>
        <p:nvSpPr>
          <p:cNvPr id="19" name="Text 17"/>
          <p:cNvSpPr txBox="1"/>
          <p:nvPr/>
        </p:nvSpPr>
        <p:spPr>
          <a:xfrm>
            <a:off x="5266944"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8394192" y="3410712"/>
            <a:ext cx="45720" cy="841248"/>
          </a:xfrm>
          <a:prstGeom prst="rect">
            <a:avLst/>
          </a:prstGeom>
          <a:solidFill>
            <a:srgbClr val="2587C5"/>
          </a:solidFill>
          <a:ln/>
        </p:spPr>
      </p:sp>
      <p:sp>
        <p:nvSpPr>
          <p:cNvPr id="21" name="Text 19"/>
          <p:cNvSpPr txBox="1"/>
          <p:nvPr/>
        </p:nvSpPr>
        <p:spPr>
          <a:xfrm>
            <a:off x="8522208"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5138928" y="4361688"/>
            <a:ext cx="45720" cy="841248"/>
          </a:xfrm>
          <a:prstGeom prst="rect">
            <a:avLst/>
          </a:prstGeom>
          <a:solidFill>
            <a:srgbClr val="2587C5"/>
          </a:solidFill>
          <a:ln/>
        </p:spPr>
      </p:sp>
      <p:sp>
        <p:nvSpPr>
          <p:cNvPr id="23" name="Text 21"/>
          <p:cNvSpPr txBox="1"/>
          <p:nvPr/>
        </p:nvSpPr>
        <p:spPr>
          <a:xfrm>
            <a:off x="5266944"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8394192" y="4361688"/>
            <a:ext cx="45720" cy="841248"/>
          </a:xfrm>
          <a:prstGeom prst="rect">
            <a:avLst/>
          </a:prstGeom>
          <a:solidFill>
            <a:srgbClr val="2587C5"/>
          </a:solidFill>
          <a:ln/>
        </p:spPr>
      </p:sp>
      <p:sp>
        <p:nvSpPr>
          <p:cNvPr id="25" name="Text 23"/>
          <p:cNvSpPr txBox="1"/>
          <p:nvPr/>
        </p:nvSpPr>
        <p:spPr>
          <a:xfrm>
            <a:off x="8522208"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5138928" y="5312664"/>
            <a:ext cx="45720" cy="841248"/>
          </a:xfrm>
          <a:prstGeom prst="rect">
            <a:avLst/>
          </a:prstGeom>
          <a:solidFill>
            <a:srgbClr val="2587C5"/>
          </a:solidFill>
          <a:ln/>
        </p:spPr>
      </p:sp>
      <p:sp>
        <p:nvSpPr>
          <p:cNvPr id="27" name="Text 25"/>
          <p:cNvSpPr txBox="1"/>
          <p:nvPr/>
        </p:nvSpPr>
        <p:spPr>
          <a:xfrm>
            <a:off x="5266944"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8394192" y="5312664"/>
            <a:ext cx="45720" cy="841248"/>
          </a:xfrm>
          <a:prstGeom prst="rect">
            <a:avLst/>
          </a:prstGeom>
          <a:solidFill>
            <a:srgbClr val="2587C5"/>
          </a:solidFill>
          <a:ln/>
        </p:spPr>
      </p:sp>
      <p:sp>
        <p:nvSpPr>
          <p:cNvPr id="29" name="Text 27"/>
          <p:cNvSpPr txBox="1"/>
          <p:nvPr/>
        </p:nvSpPr>
        <p:spPr>
          <a:xfrm>
            <a:off x="8522208"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0.07 to 1.87, ahead of 2025 in all nine months. Each 0.1 hour per RO is worth $6.6M a year in gross.</a:t>
            </a:r>
            <a:endParaRPr lang="en-US" sz="15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7 declined.</a:t>
            </a:r>
            <a:endParaRPr lang="en-US" sz="16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2" name="Shape 139"/>
          <p:cNvSpPr/>
          <p:nvPr/>
        </p:nvSpPr>
        <p:spPr>
          <a:xfrm>
            <a:off x="457200" y="6126480"/>
            <a:ext cx="11274552" cy="371856"/>
          </a:xfrm>
          <a:prstGeom prst="rect">
            <a:avLst/>
          </a:prstGeom>
          <a:solidFill>
            <a:srgbClr val="E6F6EE"/>
          </a:solidFill>
          <a:ln/>
        </p:spPr>
      </p:sp>
      <p:sp>
        <p:nvSpPr>
          <p:cNvPr id="143" name="Text 14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added gross.</a:t>
            </a:r>
            <a:endParaRPr lang="en-US" sz="160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3 VS LAST YEAR</a:t>
            </a:r>
            <a:endParaRPr lang="en-US" sz="1500" dirty="0"/>
          </a:p>
        </p:txBody>
      </p:sp>
      <p:sp>
        <p:nvSpPr>
          <p:cNvPr id="9" name="Shape 7"/>
          <p:cNvSpPr/>
          <p:nvPr/>
        </p:nvSpPr>
        <p:spPr>
          <a:xfrm>
            <a:off x="658368" y="1810512"/>
            <a:ext cx="3489960" cy="1478280"/>
          </a:xfrm>
          <a:prstGeom prst="rect">
            <a:avLst/>
          </a:prstGeom>
          <a:solidFill>
            <a:srgbClr val="F7F7F7"/>
          </a:solidFill>
          <a:ln/>
        </p:spPr>
      </p:sp>
      <p:sp>
        <p:nvSpPr>
          <p:cNvPr id="10" name="Shape 8"/>
          <p:cNvSpPr/>
          <p:nvPr/>
        </p:nvSpPr>
        <p:spPr>
          <a:xfrm>
            <a:off x="4084320" y="1847088"/>
            <a:ext cx="64008" cy="1405128"/>
          </a:xfrm>
          <a:prstGeom prst="rect">
            <a:avLst/>
          </a:prstGeom>
          <a:solidFill>
            <a:srgbClr val="12A566"/>
          </a:solidFill>
          <a:ln/>
        </p:spPr>
      </p:sp>
      <p:sp>
        <p:nvSpPr>
          <p:cNvPr id="11" name="Text 9"/>
          <p:cNvSpPr txBox="1"/>
          <p:nvPr/>
        </p:nvSpPr>
        <p:spPr>
          <a:xfrm>
            <a:off x="749808"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12" name="Text 10"/>
          <p:cNvSpPr txBox="1"/>
          <p:nvPr/>
        </p:nvSpPr>
        <p:spPr>
          <a:xfrm>
            <a:off x="1097280"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graphicFrame>
        <p:nvGraphicFramePr>
          <p:cNvPr id="13" name="Chart 0" descr=""/>
          <p:cNvGraphicFramePr/>
          <p:nvPr/>
        </p:nvGraphicFramePr>
        <p:xfrm>
          <a:off x="1097280" y="2697480"/>
          <a:ext cx="1972056" cy="502615"/>
        </p:xfrm>
        <a:graphic>
          <a:graphicData uri="http://schemas.openxmlformats.org/drawingml/2006/chart">
            <c:chart xmlns:c="http://schemas.openxmlformats.org/drawingml/2006/chart" r:id="rId2"/>
          </a:graphicData>
        </a:graphic>
      </p:graphicFrame>
      <p:sp>
        <p:nvSpPr>
          <p:cNvPr id="14" name="Text 11"/>
          <p:cNvSpPr txBox="1"/>
          <p:nvPr/>
        </p:nvSpPr>
        <p:spPr>
          <a:xfrm>
            <a:off x="3160776" y="225399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5" name="Text 12"/>
          <p:cNvSpPr txBox="1"/>
          <p:nvPr/>
        </p:nvSpPr>
        <p:spPr>
          <a:xfrm>
            <a:off x="3160776"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6" name="Text 13"/>
          <p:cNvSpPr txBox="1"/>
          <p:nvPr/>
        </p:nvSpPr>
        <p:spPr>
          <a:xfrm>
            <a:off x="749808"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17" name="Text 14"/>
          <p:cNvSpPr txBox="1"/>
          <p:nvPr/>
        </p:nvSpPr>
        <p:spPr>
          <a:xfrm>
            <a:off x="1097280"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graphicFrame>
        <p:nvGraphicFramePr>
          <p:cNvPr id="18" name="Chart 1" descr=""/>
          <p:cNvGraphicFramePr/>
          <p:nvPr/>
        </p:nvGraphicFramePr>
        <p:xfrm>
          <a:off x="1097280" y="4175760"/>
          <a:ext cx="1972056" cy="502615"/>
        </p:xfrm>
        <a:graphic>
          <a:graphicData uri="http://schemas.openxmlformats.org/drawingml/2006/chart">
            <c:chart xmlns:c="http://schemas.openxmlformats.org/drawingml/2006/chart" r:id="rId3"/>
          </a:graphicData>
        </a:graphic>
      </p:graphicFrame>
      <p:sp>
        <p:nvSpPr>
          <p:cNvPr id="19" name="Text 15"/>
          <p:cNvSpPr txBox="1"/>
          <p:nvPr/>
        </p:nvSpPr>
        <p:spPr>
          <a:xfrm>
            <a:off x="3160776" y="373227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0" name="Text 16"/>
          <p:cNvSpPr txBox="1"/>
          <p:nvPr/>
        </p:nvSpPr>
        <p:spPr>
          <a:xfrm>
            <a:off x="3160776"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21" name="Shape 17"/>
          <p:cNvSpPr/>
          <p:nvPr/>
        </p:nvSpPr>
        <p:spPr>
          <a:xfrm>
            <a:off x="658368" y="4767072"/>
            <a:ext cx="3489960" cy="1478280"/>
          </a:xfrm>
          <a:prstGeom prst="rect">
            <a:avLst/>
          </a:prstGeom>
          <a:solidFill>
            <a:srgbClr val="F7F7F7"/>
          </a:solidFill>
          <a:ln/>
        </p:spPr>
      </p:sp>
      <p:sp>
        <p:nvSpPr>
          <p:cNvPr id="22" name="Text 18"/>
          <p:cNvSpPr txBox="1"/>
          <p:nvPr/>
        </p:nvSpPr>
        <p:spPr>
          <a:xfrm>
            <a:off x="749808"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23" name="Text 19"/>
          <p:cNvSpPr txBox="1"/>
          <p:nvPr/>
        </p:nvSpPr>
        <p:spPr>
          <a:xfrm>
            <a:off x="1097280"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graphicFrame>
        <p:nvGraphicFramePr>
          <p:cNvPr id="24" name="Chart 2" descr=""/>
          <p:cNvGraphicFramePr/>
          <p:nvPr/>
        </p:nvGraphicFramePr>
        <p:xfrm>
          <a:off x="1097280" y="5654040"/>
          <a:ext cx="1972056" cy="502615"/>
        </p:xfrm>
        <a:graphic>
          <a:graphicData uri="http://schemas.openxmlformats.org/drawingml/2006/chart">
            <c:chart xmlns:c="http://schemas.openxmlformats.org/drawingml/2006/chart" r:id="rId4"/>
          </a:graphicData>
        </a:graphic>
      </p:graphicFrame>
      <p:sp>
        <p:nvSpPr>
          <p:cNvPr id="25" name="Text 20"/>
          <p:cNvSpPr txBox="1"/>
          <p:nvPr/>
        </p:nvSpPr>
        <p:spPr>
          <a:xfrm>
            <a:off x="3160776" y="521055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6" name="Text 21"/>
          <p:cNvSpPr txBox="1"/>
          <p:nvPr/>
        </p:nvSpPr>
        <p:spPr>
          <a:xfrm>
            <a:off x="3160776"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7" name="Shape 22"/>
          <p:cNvSpPr/>
          <p:nvPr/>
        </p:nvSpPr>
        <p:spPr>
          <a:xfrm>
            <a:off x="4349496" y="1371600"/>
            <a:ext cx="3489960" cy="45720"/>
          </a:xfrm>
          <a:prstGeom prst="rect">
            <a:avLst/>
          </a:prstGeom>
          <a:solidFill>
            <a:srgbClr val="C2352F"/>
          </a:solidFill>
          <a:ln/>
        </p:spPr>
      </p:sp>
      <p:sp>
        <p:nvSpPr>
          <p:cNvPr id="28" name="Text 2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3 VS LAST YEAR</a:t>
            </a:r>
            <a:endParaRPr lang="en-US" sz="1500" dirty="0"/>
          </a:p>
        </p:txBody>
      </p:sp>
      <p:sp>
        <p:nvSpPr>
          <p:cNvPr id="29" name="Shape 24"/>
          <p:cNvSpPr/>
          <p:nvPr/>
        </p:nvSpPr>
        <p:spPr>
          <a:xfrm>
            <a:off x="4349496" y="1810512"/>
            <a:ext cx="3489960" cy="1478280"/>
          </a:xfrm>
          <a:prstGeom prst="rect">
            <a:avLst/>
          </a:prstGeom>
          <a:solidFill>
            <a:srgbClr val="F7F7F7"/>
          </a:solidFill>
          <a:ln/>
        </p:spPr>
      </p:sp>
      <p:sp>
        <p:nvSpPr>
          <p:cNvPr id="30" name="Text 25"/>
          <p:cNvSpPr txBox="1"/>
          <p:nvPr/>
        </p:nvSpPr>
        <p:spPr>
          <a:xfrm>
            <a:off x="4440936"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33</a:t>
            </a:r>
            <a:endParaRPr lang="en-US" sz="2000" dirty="0"/>
          </a:p>
        </p:txBody>
      </p:sp>
      <p:sp>
        <p:nvSpPr>
          <p:cNvPr id="31" name="Text 26"/>
          <p:cNvSpPr txBox="1"/>
          <p:nvPr/>
        </p:nvSpPr>
        <p:spPr>
          <a:xfrm>
            <a:off x="4788408"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graphicFrame>
        <p:nvGraphicFramePr>
          <p:cNvPr id="32" name="Chart 3" descr=""/>
          <p:cNvGraphicFramePr/>
          <p:nvPr/>
        </p:nvGraphicFramePr>
        <p:xfrm>
          <a:off x="4788408" y="2697480"/>
          <a:ext cx="1972056" cy="502615"/>
        </p:xfrm>
        <a:graphic>
          <a:graphicData uri="http://schemas.openxmlformats.org/drawingml/2006/chart">
            <c:chart xmlns:c="http://schemas.openxmlformats.org/drawingml/2006/chart" r:id="rId5"/>
          </a:graphicData>
        </a:graphic>
      </p:graphicFrame>
      <p:sp>
        <p:nvSpPr>
          <p:cNvPr id="33" name="Text 27"/>
          <p:cNvSpPr txBox="1"/>
          <p:nvPr/>
        </p:nvSpPr>
        <p:spPr>
          <a:xfrm>
            <a:off x="6851904" y="225399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34" name="Text 28"/>
          <p:cNvSpPr txBox="1"/>
          <p:nvPr/>
        </p:nvSpPr>
        <p:spPr>
          <a:xfrm>
            <a:off x="6851904"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35" name="Text 29"/>
          <p:cNvSpPr txBox="1"/>
          <p:nvPr/>
        </p:nvSpPr>
        <p:spPr>
          <a:xfrm>
            <a:off x="4440936"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32</a:t>
            </a:r>
            <a:endParaRPr lang="en-US" sz="2000" dirty="0"/>
          </a:p>
        </p:txBody>
      </p:sp>
      <p:sp>
        <p:nvSpPr>
          <p:cNvPr id="36" name="Text 30"/>
          <p:cNvSpPr txBox="1"/>
          <p:nvPr/>
        </p:nvSpPr>
        <p:spPr>
          <a:xfrm>
            <a:off x="4788408"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graphicFrame>
        <p:nvGraphicFramePr>
          <p:cNvPr id="37" name="Chart 4" descr=""/>
          <p:cNvGraphicFramePr/>
          <p:nvPr/>
        </p:nvGraphicFramePr>
        <p:xfrm>
          <a:off x="4788408" y="4175760"/>
          <a:ext cx="1972056" cy="502615"/>
        </p:xfrm>
        <a:graphic>
          <a:graphicData uri="http://schemas.openxmlformats.org/drawingml/2006/chart">
            <c:chart xmlns:c="http://schemas.openxmlformats.org/drawingml/2006/chart" r:id="rId6"/>
          </a:graphicData>
        </a:graphic>
      </p:graphicFrame>
      <p:sp>
        <p:nvSpPr>
          <p:cNvPr id="38" name="Text 31"/>
          <p:cNvSpPr txBox="1"/>
          <p:nvPr/>
        </p:nvSpPr>
        <p:spPr>
          <a:xfrm>
            <a:off x="6851904" y="373227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39" name="Text 32"/>
          <p:cNvSpPr txBox="1"/>
          <p:nvPr/>
        </p:nvSpPr>
        <p:spPr>
          <a:xfrm>
            <a:off x="6851904"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0" name="Shape 33"/>
          <p:cNvSpPr/>
          <p:nvPr/>
        </p:nvSpPr>
        <p:spPr>
          <a:xfrm>
            <a:off x="4349496" y="4767072"/>
            <a:ext cx="3489960" cy="1478280"/>
          </a:xfrm>
          <a:prstGeom prst="rect">
            <a:avLst/>
          </a:prstGeom>
          <a:solidFill>
            <a:srgbClr val="F7F7F7"/>
          </a:solidFill>
          <a:ln/>
        </p:spPr>
      </p:sp>
      <p:sp>
        <p:nvSpPr>
          <p:cNvPr id="41" name="Text 34"/>
          <p:cNvSpPr txBox="1"/>
          <p:nvPr/>
        </p:nvSpPr>
        <p:spPr>
          <a:xfrm>
            <a:off x="4440936"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31</a:t>
            </a:r>
            <a:endParaRPr lang="en-US" sz="2000" dirty="0"/>
          </a:p>
        </p:txBody>
      </p:sp>
      <p:sp>
        <p:nvSpPr>
          <p:cNvPr id="42" name="Text 35"/>
          <p:cNvSpPr txBox="1"/>
          <p:nvPr/>
        </p:nvSpPr>
        <p:spPr>
          <a:xfrm>
            <a:off x="4788408"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graphicFrame>
        <p:nvGraphicFramePr>
          <p:cNvPr id="43" name="Chart 5" descr=""/>
          <p:cNvGraphicFramePr/>
          <p:nvPr/>
        </p:nvGraphicFramePr>
        <p:xfrm>
          <a:off x="4788408" y="5654040"/>
          <a:ext cx="1972056" cy="502615"/>
        </p:xfrm>
        <a:graphic>
          <a:graphicData uri="http://schemas.openxmlformats.org/drawingml/2006/chart">
            <c:chart xmlns:c="http://schemas.openxmlformats.org/drawingml/2006/chart" r:id="rId7"/>
          </a:graphicData>
        </a:graphic>
      </p:graphicFrame>
      <p:sp>
        <p:nvSpPr>
          <p:cNvPr id="44" name="Text 36"/>
          <p:cNvSpPr txBox="1"/>
          <p:nvPr/>
        </p:nvSpPr>
        <p:spPr>
          <a:xfrm>
            <a:off x="6851904" y="521055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45" name="Text 37"/>
          <p:cNvSpPr txBox="1"/>
          <p:nvPr/>
        </p:nvSpPr>
        <p:spPr>
          <a:xfrm>
            <a:off x="6851904"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46" name="Shape 38"/>
          <p:cNvSpPr/>
          <p:nvPr/>
        </p:nvSpPr>
        <p:spPr>
          <a:xfrm>
            <a:off x="8040624" y="1371600"/>
            <a:ext cx="3489960" cy="45720"/>
          </a:xfrm>
          <a:prstGeom prst="rect">
            <a:avLst/>
          </a:prstGeom>
          <a:solidFill>
            <a:srgbClr val="2587C5"/>
          </a:solidFill>
          <a:ln/>
        </p:spPr>
      </p:sp>
      <p:sp>
        <p:nvSpPr>
          <p:cNvPr id="47" name="Text 3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3 MOVING NOW</a:t>
            </a:r>
            <a:endParaRPr lang="en-US" sz="1500" dirty="0"/>
          </a:p>
        </p:txBody>
      </p:sp>
      <p:sp>
        <p:nvSpPr>
          <p:cNvPr id="48" name="Shape 40"/>
          <p:cNvSpPr/>
          <p:nvPr/>
        </p:nvSpPr>
        <p:spPr>
          <a:xfrm>
            <a:off x="8040624" y="1810512"/>
            <a:ext cx="3489960" cy="1478280"/>
          </a:xfrm>
          <a:prstGeom prst="rect">
            <a:avLst/>
          </a:prstGeom>
          <a:solidFill>
            <a:srgbClr val="F7F7F7"/>
          </a:solidFill>
          <a:ln/>
        </p:spPr>
      </p:sp>
      <p:sp>
        <p:nvSpPr>
          <p:cNvPr id="49" name="Text 41"/>
          <p:cNvSpPr txBox="1"/>
          <p:nvPr/>
        </p:nvSpPr>
        <p:spPr>
          <a:xfrm>
            <a:off x="8132064"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50" name="Text 42"/>
          <p:cNvSpPr txBox="1"/>
          <p:nvPr/>
        </p:nvSpPr>
        <p:spPr>
          <a:xfrm>
            <a:off x="8479536"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51" name="Chart 6" descr=""/>
          <p:cNvGraphicFramePr/>
          <p:nvPr/>
        </p:nvGraphicFramePr>
        <p:xfrm>
          <a:off x="8479536" y="2697480"/>
          <a:ext cx="1972056" cy="502615"/>
        </p:xfrm>
        <a:graphic>
          <a:graphicData uri="http://schemas.openxmlformats.org/drawingml/2006/chart">
            <c:chart xmlns:c="http://schemas.openxmlformats.org/drawingml/2006/chart" r:id="rId8"/>
          </a:graphicData>
        </a:graphic>
      </p:graphicFrame>
      <p:graphicFrame>
        <p:nvGraphicFramePr>
          <p:cNvPr id="52" name="Chart 7" descr=""/>
          <p:cNvGraphicFramePr/>
          <p:nvPr/>
        </p:nvGraphicFramePr>
        <p:xfrm>
          <a:off x="8479536" y="2697480"/>
          <a:ext cx="1972056" cy="502615"/>
        </p:xfrm>
        <a:graphic>
          <a:graphicData uri="http://schemas.openxmlformats.org/drawingml/2006/chart">
            <c:chart xmlns:c="http://schemas.openxmlformats.org/drawingml/2006/chart" r:id="rId9"/>
          </a:graphicData>
        </a:graphic>
      </p:graphicFrame>
      <p:sp>
        <p:nvSpPr>
          <p:cNvPr id="53" name="Text 43"/>
          <p:cNvSpPr txBox="1"/>
          <p:nvPr/>
        </p:nvSpPr>
        <p:spPr>
          <a:xfrm>
            <a:off x="10543032" y="225399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54" name="Text 44"/>
          <p:cNvSpPr txBox="1"/>
          <p:nvPr/>
        </p:nvSpPr>
        <p:spPr>
          <a:xfrm>
            <a:off x="10543032"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5" name="Text 45"/>
          <p:cNvSpPr txBox="1"/>
          <p:nvPr/>
        </p:nvSpPr>
        <p:spPr>
          <a:xfrm>
            <a:off x="8132064"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56" name="Text 46"/>
          <p:cNvSpPr txBox="1"/>
          <p:nvPr/>
        </p:nvSpPr>
        <p:spPr>
          <a:xfrm>
            <a:off x="8479536"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57" name="Chart 8" descr=""/>
          <p:cNvGraphicFramePr/>
          <p:nvPr/>
        </p:nvGraphicFramePr>
        <p:xfrm>
          <a:off x="8479536" y="4175760"/>
          <a:ext cx="1972056" cy="502615"/>
        </p:xfrm>
        <a:graphic>
          <a:graphicData uri="http://schemas.openxmlformats.org/drawingml/2006/chart">
            <c:chart xmlns:c="http://schemas.openxmlformats.org/drawingml/2006/chart" r:id="rId10"/>
          </a:graphicData>
        </a:graphic>
      </p:graphicFrame>
      <p:graphicFrame>
        <p:nvGraphicFramePr>
          <p:cNvPr id="58" name="Chart 9" descr=""/>
          <p:cNvGraphicFramePr/>
          <p:nvPr/>
        </p:nvGraphicFramePr>
        <p:xfrm>
          <a:off x="8479536" y="4175760"/>
          <a:ext cx="1972056" cy="502615"/>
        </p:xfrm>
        <a:graphic>
          <a:graphicData uri="http://schemas.openxmlformats.org/drawingml/2006/chart">
            <c:chart xmlns:c="http://schemas.openxmlformats.org/drawingml/2006/chart" r:id="rId11"/>
          </a:graphicData>
        </a:graphic>
      </p:graphicFrame>
      <p:sp>
        <p:nvSpPr>
          <p:cNvPr id="59" name="Text 47"/>
          <p:cNvSpPr txBox="1"/>
          <p:nvPr/>
        </p:nvSpPr>
        <p:spPr>
          <a:xfrm>
            <a:off x="10543032" y="373227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60" name="Text 48"/>
          <p:cNvSpPr txBox="1"/>
          <p:nvPr/>
        </p:nvSpPr>
        <p:spPr>
          <a:xfrm>
            <a:off x="10543032"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61" name="Shape 49"/>
          <p:cNvSpPr/>
          <p:nvPr/>
        </p:nvSpPr>
        <p:spPr>
          <a:xfrm>
            <a:off x="8040624" y="4767072"/>
            <a:ext cx="3489960" cy="1478280"/>
          </a:xfrm>
          <a:prstGeom prst="rect">
            <a:avLst/>
          </a:prstGeom>
          <a:solidFill>
            <a:srgbClr val="F7F7F7"/>
          </a:solidFill>
          <a:ln/>
        </p:spPr>
      </p:sp>
      <p:sp>
        <p:nvSpPr>
          <p:cNvPr id="62" name="Shape 50"/>
          <p:cNvSpPr/>
          <p:nvPr/>
        </p:nvSpPr>
        <p:spPr>
          <a:xfrm>
            <a:off x="11466576" y="4803648"/>
            <a:ext cx="64008" cy="1405128"/>
          </a:xfrm>
          <a:prstGeom prst="rect">
            <a:avLst/>
          </a:prstGeom>
          <a:solidFill>
            <a:srgbClr val="12A566"/>
          </a:solidFill>
          <a:ln/>
        </p:spPr>
      </p:sp>
      <p:sp>
        <p:nvSpPr>
          <p:cNvPr id="63" name="Text 51"/>
          <p:cNvSpPr txBox="1"/>
          <p:nvPr/>
        </p:nvSpPr>
        <p:spPr>
          <a:xfrm>
            <a:off x="8132064"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64" name="Text 52"/>
          <p:cNvSpPr txBox="1"/>
          <p:nvPr/>
        </p:nvSpPr>
        <p:spPr>
          <a:xfrm>
            <a:off x="8479536"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65" name="Chart 10" descr=""/>
          <p:cNvGraphicFramePr/>
          <p:nvPr/>
        </p:nvGraphicFramePr>
        <p:xfrm>
          <a:off x="8479536" y="5654040"/>
          <a:ext cx="1972056" cy="502615"/>
        </p:xfrm>
        <a:graphic>
          <a:graphicData uri="http://schemas.openxmlformats.org/drawingml/2006/chart">
            <c:chart xmlns:c="http://schemas.openxmlformats.org/drawingml/2006/chart" r:id="rId12"/>
          </a:graphicData>
        </a:graphic>
      </p:graphicFrame>
      <p:graphicFrame>
        <p:nvGraphicFramePr>
          <p:cNvPr id="66" name="Chart 11" descr=""/>
          <p:cNvGraphicFramePr/>
          <p:nvPr/>
        </p:nvGraphicFramePr>
        <p:xfrm>
          <a:off x="8479536" y="5654040"/>
          <a:ext cx="1972056" cy="502615"/>
        </p:xfrm>
        <a:graphic>
          <a:graphicData uri="http://schemas.openxmlformats.org/drawingml/2006/chart">
            <c:chart xmlns:c="http://schemas.openxmlformats.org/drawingml/2006/chart" r:id="rId13"/>
          </a:graphicData>
        </a:graphic>
      </p:graphicFrame>
      <p:sp>
        <p:nvSpPr>
          <p:cNvPr id="67" name="Text 53"/>
          <p:cNvSpPr txBox="1"/>
          <p:nvPr/>
        </p:nvSpPr>
        <p:spPr>
          <a:xfrm>
            <a:off x="10543032" y="521055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68" name="Text 54"/>
          <p:cNvSpPr txBox="1"/>
          <p:nvPr/>
        </p:nvSpPr>
        <p:spPr>
          <a:xfrm>
            <a:off x="10543032"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205601"/>
          </a:xfrm>
          <a:prstGeom prst="rect">
            <a:avLst/>
          </a:prstGeom>
          <a:solidFill>
            <a:srgbClr val="2587C5"/>
          </a:solidFill>
          <a:ln/>
        </p:spPr>
      </p:sp>
      <p:sp>
        <p:nvSpPr>
          <p:cNvPr id="14" name="Text 12"/>
          <p:cNvSpPr txBox="1"/>
          <p:nvPr/>
        </p:nvSpPr>
        <p:spPr>
          <a:xfrm>
            <a:off x="5266944"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205601"/>
          </a:xfrm>
          <a:prstGeom prst="rect">
            <a:avLst/>
          </a:prstGeom>
          <a:solidFill>
            <a:srgbClr val="2587C5"/>
          </a:solidFill>
          <a:ln/>
        </p:spPr>
      </p:sp>
      <p:sp>
        <p:nvSpPr>
          <p:cNvPr id="16" name="Text 14"/>
          <p:cNvSpPr txBox="1"/>
          <p:nvPr/>
        </p:nvSpPr>
        <p:spPr>
          <a:xfrm>
            <a:off x="8522208"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159113"/>
            <a:ext cx="45720" cy="942535"/>
          </a:xfrm>
          <a:prstGeom prst="rect">
            <a:avLst/>
          </a:prstGeom>
          <a:solidFill>
            <a:srgbClr val="2587C5"/>
          </a:solidFill>
          <a:ln/>
        </p:spPr>
      </p:sp>
      <p:sp>
        <p:nvSpPr>
          <p:cNvPr id="18" name="Text 16"/>
          <p:cNvSpPr txBox="1"/>
          <p:nvPr/>
        </p:nvSpPr>
        <p:spPr>
          <a:xfrm>
            <a:off x="5266944"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159113"/>
            <a:ext cx="45720" cy="942535"/>
          </a:xfrm>
          <a:prstGeom prst="rect">
            <a:avLst/>
          </a:prstGeom>
          <a:solidFill>
            <a:srgbClr val="2587C5"/>
          </a:solidFill>
          <a:ln/>
        </p:spPr>
      </p:sp>
      <p:sp>
        <p:nvSpPr>
          <p:cNvPr id="20" name="Text 18"/>
          <p:cNvSpPr txBox="1"/>
          <p:nvPr/>
        </p:nvSpPr>
        <p:spPr>
          <a:xfrm>
            <a:off x="8522208"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5211377"/>
            <a:ext cx="45720" cy="942535"/>
          </a:xfrm>
          <a:prstGeom prst="rect">
            <a:avLst/>
          </a:prstGeom>
          <a:solidFill>
            <a:srgbClr val="2587C5"/>
          </a:solidFill>
          <a:ln/>
        </p:spPr>
      </p:sp>
      <p:sp>
        <p:nvSpPr>
          <p:cNvPr id="22" name="Text 20"/>
          <p:cNvSpPr txBox="1"/>
          <p:nvPr/>
        </p:nvSpPr>
        <p:spPr>
          <a:xfrm>
            <a:off x="5266944"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5211377"/>
            <a:ext cx="45720" cy="942535"/>
          </a:xfrm>
          <a:prstGeom prst="rect">
            <a:avLst/>
          </a:prstGeom>
          <a:solidFill>
            <a:srgbClr val="2587C5"/>
          </a:solidFill>
          <a:ln/>
        </p:spPr>
      </p:sp>
      <p:sp>
        <p:nvSpPr>
          <p:cNvPr id="24" name="Text 22"/>
          <p:cNvSpPr txBox="1"/>
          <p:nvPr/>
        </p:nvSpPr>
        <p:spPr>
          <a:xfrm>
            <a:off x="8522208"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2" name="Shape 249"/>
          <p:cNvSpPr/>
          <p:nvPr/>
        </p:nvSpPr>
        <p:spPr>
          <a:xfrm>
            <a:off x="457200" y="6126480"/>
            <a:ext cx="11274552" cy="371856"/>
          </a:xfrm>
          <a:prstGeom prst="rect">
            <a:avLst/>
          </a:prstGeom>
          <a:solidFill>
            <a:srgbClr val="EDF4FA"/>
          </a:solidFill>
          <a:ln/>
        </p:spPr>
      </p:sp>
      <p:sp>
        <p:nvSpPr>
          <p:cNvPr id="253" name="Text 25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a:t>
            </a:r>
            <a:endParaRPr lang="en-US" sz="16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403250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304495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304495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304495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304495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304495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14 declined.</a:t>
            </a:r>
            <a:endParaRPr lang="en-US" sz="16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9" name="Shape 216"/>
          <p:cNvSpPr/>
          <p:nvPr/>
        </p:nvSpPr>
        <p:spPr>
          <a:xfrm>
            <a:off x="457200" y="6126480"/>
            <a:ext cx="11274552" cy="371856"/>
          </a:xfrm>
          <a:prstGeom prst="rect">
            <a:avLst/>
          </a:prstGeom>
          <a:solidFill>
            <a:srgbClr val="EDF4FA"/>
          </a:solidFill>
          <a:ln/>
        </p:spPr>
      </p:sp>
      <p:sp>
        <p:nvSpPr>
          <p:cNvPr id="220"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3 VS LAST YEAR</a:t>
            </a:r>
            <a:endParaRPr lang="en-US" sz="1500" dirty="0"/>
          </a:p>
        </p:txBody>
      </p:sp>
      <p:sp>
        <p:nvSpPr>
          <p:cNvPr id="9" name="Shape 7"/>
          <p:cNvSpPr/>
          <p:nvPr/>
        </p:nvSpPr>
        <p:spPr>
          <a:xfrm>
            <a:off x="658368" y="1810512"/>
            <a:ext cx="3489960" cy="1478280"/>
          </a:xfrm>
          <a:prstGeom prst="rect">
            <a:avLst/>
          </a:prstGeom>
          <a:solidFill>
            <a:srgbClr val="F7F7F7"/>
          </a:solidFill>
          <a:ln/>
        </p:spPr>
      </p:sp>
      <p:sp>
        <p:nvSpPr>
          <p:cNvPr id="10" name="Shape 8"/>
          <p:cNvSpPr/>
          <p:nvPr/>
        </p:nvSpPr>
        <p:spPr>
          <a:xfrm>
            <a:off x="4084320" y="1847088"/>
            <a:ext cx="64008" cy="1405128"/>
          </a:xfrm>
          <a:prstGeom prst="rect">
            <a:avLst/>
          </a:prstGeom>
          <a:solidFill>
            <a:srgbClr val="12A566"/>
          </a:solidFill>
          <a:ln/>
        </p:spPr>
      </p:sp>
      <p:sp>
        <p:nvSpPr>
          <p:cNvPr id="11" name="Text 9"/>
          <p:cNvSpPr txBox="1"/>
          <p:nvPr/>
        </p:nvSpPr>
        <p:spPr>
          <a:xfrm>
            <a:off x="749808"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12" name="Text 10"/>
          <p:cNvSpPr txBox="1"/>
          <p:nvPr/>
        </p:nvSpPr>
        <p:spPr>
          <a:xfrm>
            <a:off x="1097280"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graphicFrame>
        <p:nvGraphicFramePr>
          <p:cNvPr id="13" name="Chart 0" descr=""/>
          <p:cNvGraphicFramePr/>
          <p:nvPr/>
        </p:nvGraphicFramePr>
        <p:xfrm>
          <a:off x="1097280" y="2697480"/>
          <a:ext cx="1972056" cy="502615"/>
        </p:xfrm>
        <a:graphic>
          <a:graphicData uri="http://schemas.openxmlformats.org/drawingml/2006/chart">
            <c:chart xmlns:c="http://schemas.openxmlformats.org/drawingml/2006/chart" r:id="rId2"/>
          </a:graphicData>
        </a:graphic>
      </p:graphicFrame>
      <p:sp>
        <p:nvSpPr>
          <p:cNvPr id="14" name="Text 11"/>
          <p:cNvSpPr txBox="1"/>
          <p:nvPr/>
        </p:nvSpPr>
        <p:spPr>
          <a:xfrm>
            <a:off x="3160776" y="225399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5" name="Text 12"/>
          <p:cNvSpPr txBox="1"/>
          <p:nvPr/>
        </p:nvSpPr>
        <p:spPr>
          <a:xfrm>
            <a:off x="3160776"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6" name="Text 13"/>
          <p:cNvSpPr txBox="1"/>
          <p:nvPr/>
        </p:nvSpPr>
        <p:spPr>
          <a:xfrm>
            <a:off x="749808"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17" name="Text 14"/>
          <p:cNvSpPr txBox="1"/>
          <p:nvPr/>
        </p:nvSpPr>
        <p:spPr>
          <a:xfrm>
            <a:off x="1097280"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graphicFrame>
        <p:nvGraphicFramePr>
          <p:cNvPr id="18" name="Chart 1" descr=""/>
          <p:cNvGraphicFramePr/>
          <p:nvPr/>
        </p:nvGraphicFramePr>
        <p:xfrm>
          <a:off x="1097280" y="4175760"/>
          <a:ext cx="1972056" cy="502615"/>
        </p:xfrm>
        <a:graphic>
          <a:graphicData uri="http://schemas.openxmlformats.org/drawingml/2006/chart">
            <c:chart xmlns:c="http://schemas.openxmlformats.org/drawingml/2006/chart" r:id="rId3"/>
          </a:graphicData>
        </a:graphic>
      </p:graphicFrame>
      <p:sp>
        <p:nvSpPr>
          <p:cNvPr id="19" name="Text 15"/>
          <p:cNvSpPr txBox="1"/>
          <p:nvPr/>
        </p:nvSpPr>
        <p:spPr>
          <a:xfrm>
            <a:off x="3160776" y="373227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20" name="Text 16"/>
          <p:cNvSpPr txBox="1"/>
          <p:nvPr/>
        </p:nvSpPr>
        <p:spPr>
          <a:xfrm>
            <a:off x="3160776"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1" name="Shape 17"/>
          <p:cNvSpPr/>
          <p:nvPr/>
        </p:nvSpPr>
        <p:spPr>
          <a:xfrm>
            <a:off x="658368" y="4767072"/>
            <a:ext cx="3489960" cy="1478280"/>
          </a:xfrm>
          <a:prstGeom prst="rect">
            <a:avLst/>
          </a:prstGeom>
          <a:solidFill>
            <a:srgbClr val="F7F7F7"/>
          </a:solidFill>
          <a:ln/>
        </p:spPr>
      </p:sp>
      <p:sp>
        <p:nvSpPr>
          <p:cNvPr id="22" name="Text 18"/>
          <p:cNvSpPr txBox="1"/>
          <p:nvPr/>
        </p:nvSpPr>
        <p:spPr>
          <a:xfrm>
            <a:off x="749808"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23" name="Text 19"/>
          <p:cNvSpPr txBox="1"/>
          <p:nvPr/>
        </p:nvSpPr>
        <p:spPr>
          <a:xfrm>
            <a:off x="1097280"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graphicFrame>
        <p:nvGraphicFramePr>
          <p:cNvPr id="24" name="Chart 2" descr=""/>
          <p:cNvGraphicFramePr/>
          <p:nvPr/>
        </p:nvGraphicFramePr>
        <p:xfrm>
          <a:off x="1097280" y="5654040"/>
          <a:ext cx="1972056" cy="502615"/>
        </p:xfrm>
        <a:graphic>
          <a:graphicData uri="http://schemas.openxmlformats.org/drawingml/2006/chart">
            <c:chart xmlns:c="http://schemas.openxmlformats.org/drawingml/2006/chart" r:id="rId4"/>
          </a:graphicData>
        </a:graphic>
      </p:graphicFrame>
      <p:sp>
        <p:nvSpPr>
          <p:cNvPr id="25" name="Text 20"/>
          <p:cNvSpPr txBox="1"/>
          <p:nvPr/>
        </p:nvSpPr>
        <p:spPr>
          <a:xfrm>
            <a:off x="3160776" y="521055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6" name="Text 21"/>
          <p:cNvSpPr txBox="1"/>
          <p:nvPr/>
        </p:nvSpPr>
        <p:spPr>
          <a:xfrm>
            <a:off x="3160776"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7" name="Shape 22"/>
          <p:cNvSpPr/>
          <p:nvPr/>
        </p:nvSpPr>
        <p:spPr>
          <a:xfrm>
            <a:off x="4349496" y="1371600"/>
            <a:ext cx="3489960" cy="45720"/>
          </a:xfrm>
          <a:prstGeom prst="rect">
            <a:avLst/>
          </a:prstGeom>
          <a:solidFill>
            <a:srgbClr val="C2352F"/>
          </a:solidFill>
          <a:ln/>
        </p:spPr>
      </p:sp>
      <p:sp>
        <p:nvSpPr>
          <p:cNvPr id="28" name="Text 2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3 VS LAST YEAR</a:t>
            </a:r>
            <a:endParaRPr lang="en-US" sz="1500" dirty="0"/>
          </a:p>
        </p:txBody>
      </p:sp>
      <p:sp>
        <p:nvSpPr>
          <p:cNvPr id="29" name="Shape 24"/>
          <p:cNvSpPr/>
          <p:nvPr/>
        </p:nvSpPr>
        <p:spPr>
          <a:xfrm>
            <a:off x="4349496" y="1810512"/>
            <a:ext cx="3489960" cy="1478280"/>
          </a:xfrm>
          <a:prstGeom prst="rect">
            <a:avLst/>
          </a:prstGeom>
          <a:solidFill>
            <a:srgbClr val="F7F7F7"/>
          </a:solidFill>
          <a:ln/>
        </p:spPr>
      </p:sp>
      <p:sp>
        <p:nvSpPr>
          <p:cNvPr id="30" name="Text 25"/>
          <p:cNvSpPr txBox="1"/>
          <p:nvPr/>
        </p:nvSpPr>
        <p:spPr>
          <a:xfrm>
            <a:off x="4440936"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33</a:t>
            </a:r>
            <a:endParaRPr lang="en-US" sz="2000" dirty="0"/>
          </a:p>
        </p:txBody>
      </p:sp>
      <p:sp>
        <p:nvSpPr>
          <p:cNvPr id="31" name="Text 26"/>
          <p:cNvSpPr txBox="1"/>
          <p:nvPr/>
        </p:nvSpPr>
        <p:spPr>
          <a:xfrm>
            <a:off x="4788408"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graphicFrame>
        <p:nvGraphicFramePr>
          <p:cNvPr id="32" name="Chart 3" descr=""/>
          <p:cNvGraphicFramePr/>
          <p:nvPr/>
        </p:nvGraphicFramePr>
        <p:xfrm>
          <a:off x="4788408" y="2697480"/>
          <a:ext cx="1972056" cy="502615"/>
        </p:xfrm>
        <a:graphic>
          <a:graphicData uri="http://schemas.openxmlformats.org/drawingml/2006/chart">
            <c:chart xmlns:c="http://schemas.openxmlformats.org/drawingml/2006/chart" r:id="rId5"/>
          </a:graphicData>
        </a:graphic>
      </p:graphicFrame>
      <p:sp>
        <p:nvSpPr>
          <p:cNvPr id="33" name="Text 27"/>
          <p:cNvSpPr txBox="1"/>
          <p:nvPr/>
        </p:nvSpPr>
        <p:spPr>
          <a:xfrm>
            <a:off x="6851904" y="225399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34" name="Text 28"/>
          <p:cNvSpPr txBox="1"/>
          <p:nvPr/>
        </p:nvSpPr>
        <p:spPr>
          <a:xfrm>
            <a:off x="6851904"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35" name="Text 29"/>
          <p:cNvSpPr txBox="1"/>
          <p:nvPr/>
        </p:nvSpPr>
        <p:spPr>
          <a:xfrm>
            <a:off x="4440936"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32</a:t>
            </a:r>
            <a:endParaRPr lang="en-US" sz="2000" dirty="0"/>
          </a:p>
        </p:txBody>
      </p:sp>
      <p:sp>
        <p:nvSpPr>
          <p:cNvPr id="36" name="Text 30"/>
          <p:cNvSpPr txBox="1"/>
          <p:nvPr/>
        </p:nvSpPr>
        <p:spPr>
          <a:xfrm>
            <a:off x="4788408"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graphicFrame>
        <p:nvGraphicFramePr>
          <p:cNvPr id="37" name="Chart 4" descr=""/>
          <p:cNvGraphicFramePr/>
          <p:nvPr/>
        </p:nvGraphicFramePr>
        <p:xfrm>
          <a:off x="4788408" y="4175760"/>
          <a:ext cx="1972056" cy="502615"/>
        </p:xfrm>
        <a:graphic>
          <a:graphicData uri="http://schemas.openxmlformats.org/drawingml/2006/chart">
            <c:chart xmlns:c="http://schemas.openxmlformats.org/drawingml/2006/chart" r:id="rId6"/>
          </a:graphicData>
        </a:graphic>
      </p:graphicFrame>
      <p:sp>
        <p:nvSpPr>
          <p:cNvPr id="38" name="Text 31"/>
          <p:cNvSpPr txBox="1"/>
          <p:nvPr/>
        </p:nvSpPr>
        <p:spPr>
          <a:xfrm>
            <a:off x="6851904" y="373227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39" name="Text 32"/>
          <p:cNvSpPr txBox="1"/>
          <p:nvPr/>
        </p:nvSpPr>
        <p:spPr>
          <a:xfrm>
            <a:off x="6851904"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0" name="Shape 33"/>
          <p:cNvSpPr/>
          <p:nvPr/>
        </p:nvSpPr>
        <p:spPr>
          <a:xfrm>
            <a:off x="4349496" y="4767072"/>
            <a:ext cx="3489960" cy="1478280"/>
          </a:xfrm>
          <a:prstGeom prst="rect">
            <a:avLst/>
          </a:prstGeom>
          <a:solidFill>
            <a:srgbClr val="F7F7F7"/>
          </a:solidFill>
          <a:ln/>
        </p:spPr>
      </p:sp>
      <p:sp>
        <p:nvSpPr>
          <p:cNvPr id="41" name="Text 34"/>
          <p:cNvSpPr txBox="1"/>
          <p:nvPr/>
        </p:nvSpPr>
        <p:spPr>
          <a:xfrm>
            <a:off x="4440936"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31</a:t>
            </a:r>
            <a:endParaRPr lang="en-US" sz="2000" dirty="0"/>
          </a:p>
        </p:txBody>
      </p:sp>
      <p:sp>
        <p:nvSpPr>
          <p:cNvPr id="42" name="Text 35"/>
          <p:cNvSpPr txBox="1"/>
          <p:nvPr/>
        </p:nvSpPr>
        <p:spPr>
          <a:xfrm>
            <a:off x="4788408"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graphicFrame>
        <p:nvGraphicFramePr>
          <p:cNvPr id="43" name="Chart 5" descr=""/>
          <p:cNvGraphicFramePr/>
          <p:nvPr/>
        </p:nvGraphicFramePr>
        <p:xfrm>
          <a:off x="4788408" y="5654040"/>
          <a:ext cx="1972056" cy="502615"/>
        </p:xfrm>
        <a:graphic>
          <a:graphicData uri="http://schemas.openxmlformats.org/drawingml/2006/chart">
            <c:chart xmlns:c="http://schemas.openxmlformats.org/drawingml/2006/chart" r:id="rId7"/>
          </a:graphicData>
        </a:graphic>
      </p:graphicFrame>
      <p:sp>
        <p:nvSpPr>
          <p:cNvPr id="44" name="Text 36"/>
          <p:cNvSpPr txBox="1"/>
          <p:nvPr/>
        </p:nvSpPr>
        <p:spPr>
          <a:xfrm>
            <a:off x="6851904" y="521055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45" name="Text 37"/>
          <p:cNvSpPr txBox="1"/>
          <p:nvPr/>
        </p:nvSpPr>
        <p:spPr>
          <a:xfrm>
            <a:off x="6851904"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46" name="Shape 38"/>
          <p:cNvSpPr/>
          <p:nvPr/>
        </p:nvSpPr>
        <p:spPr>
          <a:xfrm>
            <a:off x="8040624" y="1371600"/>
            <a:ext cx="3489960" cy="45720"/>
          </a:xfrm>
          <a:prstGeom prst="rect">
            <a:avLst/>
          </a:prstGeom>
          <a:solidFill>
            <a:srgbClr val="2587C5"/>
          </a:solidFill>
          <a:ln/>
        </p:spPr>
      </p:sp>
      <p:sp>
        <p:nvSpPr>
          <p:cNvPr id="47" name="Text 3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3 MOVING NOW</a:t>
            </a:r>
            <a:endParaRPr lang="en-US" sz="1500" dirty="0"/>
          </a:p>
        </p:txBody>
      </p:sp>
      <p:sp>
        <p:nvSpPr>
          <p:cNvPr id="48" name="Shape 40"/>
          <p:cNvSpPr/>
          <p:nvPr/>
        </p:nvSpPr>
        <p:spPr>
          <a:xfrm>
            <a:off x="8040624" y="1810512"/>
            <a:ext cx="3489960" cy="1478280"/>
          </a:xfrm>
          <a:prstGeom prst="rect">
            <a:avLst/>
          </a:prstGeom>
          <a:solidFill>
            <a:srgbClr val="F7F7F7"/>
          </a:solidFill>
          <a:ln/>
        </p:spPr>
      </p:sp>
      <p:sp>
        <p:nvSpPr>
          <p:cNvPr id="49" name="Text 41"/>
          <p:cNvSpPr txBox="1"/>
          <p:nvPr/>
        </p:nvSpPr>
        <p:spPr>
          <a:xfrm>
            <a:off x="8132064"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50" name="Text 42"/>
          <p:cNvSpPr txBox="1"/>
          <p:nvPr/>
        </p:nvSpPr>
        <p:spPr>
          <a:xfrm>
            <a:off x="8479536"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graphicFrame>
        <p:nvGraphicFramePr>
          <p:cNvPr id="51" name="Chart 6" descr=""/>
          <p:cNvGraphicFramePr/>
          <p:nvPr/>
        </p:nvGraphicFramePr>
        <p:xfrm>
          <a:off x="8479536" y="2697480"/>
          <a:ext cx="1972056" cy="502615"/>
        </p:xfrm>
        <a:graphic>
          <a:graphicData uri="http://schemas.openxmlformats.org/drawingml/2006/chart">
            <c:chart xmlns:c="http://schemas.openxmlformats.org/drawingml/2006/chart" r:id="rId8"/>
          </a:graphicData>
        </a:graphic>
      </p:graphicFrame>
      <p:graphicFrame>
        <p:nvGraphicFramePr>
          <p:cNvPr id="52" name="Chart 7" descr=""/>
          <p:cNvGraphicFramePr/>
          <p:nvPr/>
        </p:nvGraphicFramePr>
        <p:xfrm>
          <a:off x="8479536" y="2697480"/>
          <a:ext cx="1972056" cy="502615"/>
        </p:xfrm>
        <a:graphic>
          <a:graphicData uri="http://schemas.openxmlformats.org/drawingml/2006/chart">
            <c:chart xmlns:c="http://schemas.openxmlformats.org/drawingml/2006/chart" r:id="rId9"/>
          </a:graphicData>
        </a:graphic>
      </p:graphicFrame>
      <p:sp>
        <p:nvSpPr>
          <p:cNvPr id="53" name="Text 43"/>
          <p:cNvSpPr txBox="1"/>
          <p:nvPr/>
        </p:nvSpPr>
        <p:spPr>
          <a:xfrm>
            <a:off x="10543032" y="225399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54" name="Text 44"/>
          <p:cNvSpPr txBox="1"/>
          <p:nvPr/>
        </p:nvSpPr>
        <p:spPr>
          <a:xfrm>
            <a:off x="10543032"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55" name="Text 45"/>
          <p:cNvSpPr txBox="1"/>
          <p:nvPr/>
        </p:nvSpPr>
        <p:spPr>
          <a:xfrm>
            <a:off x="8132064"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56" name="Text 46"/>
          <p:cNvSpPr txBox="1"/>
          <p:nvPr/>
        </p:nvSpPr>
        <p:spPr>
          <a:xfrm>
            <a:off x="8479536"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graphicFrame>
        <p:nvGraphicFramePr>
          <p:cNvPr id="57" name="Chart 8" descr=""/>
          <p:cNvGraphicFramePr/>
          <p:nvPr/>
        </p:nvGraphicFramePr>
        <p:xfrm>
          <a:off x="8479536" y="4175760"/>
          <a:ext cx="1972056" cy="502615"/>
        </p:xfrm>
        <a:graphic>
          <a:graphicData uri="http://schemas.openxmlformats.org/drawingml/2006/chart">
            <c:chart xmlns:c="http://schemas.openxmlformats.org/drawingml/2006/chart" r:id="rId10"/>
          </a:graphicData>
        </a:graphic>
      </p:graphicFrame>
      <p:graphicFrame>
        <p:nvGraphicFramePr>
          <p:cNvPr id="58" name="Chart 9" descr=""/>
          <p:cNvGraphicFramePr/>
          <p:nvPr/>
        </p:nvGraphicFramePr>
        <p:xfrm>
          <a:off x="8479536" y="4175760"/>
          <a:ext cx="1972056" cy="502615"/>
        </p:xfrm>
        <a:graphic>
          <a:graphicData uri="http://schemas.openxmlformats.org/drawingml/2006/chart">
            <c:chart xmlns:c="http://schemas.openxmlformats.org/drawingml/2006/chart" r:id="rId11"/>
          </a:graphicData>
        </a:graphic>
      </p:graphicFrame>
      <p:sp>
        <p:nvSpPr>
          <p:cNvPr id="59" name="Text 47"/>
          <p:cNvSpPr txBox="1"/>
          <p:nvPr/>
        </p:nvSpPr>
        <p:spPr>
          <a:xfrm>
            <a:off x="10543032" y="373227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60" name="Text 48"/>
          <p:cNvSpPr txBox="1"/>
          <p:nvPr/>
        </p:nvSpPr>
        <p:spPr>
          <a:xfrm>
            <a:off x="10543032"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61" name="Shape 49"/>
          <p:cNvSpPr/>
          <p:nvPr/>
        </p:nvSpPr>
        <p:spPr>
          <a:xfrm>
            <a:off x="8040624" y="4767072"/>
            <a:ext cx="3489960" cy="1478280"/>
          </a:xfrm>
          <a:prstGeom prst="rect">
            <a:avLst/>
          </a:prstGeom>
          <a:solidFill>
            <a:srgbClr val="F7F7F7"/>
          </a:solidFill>
          <a:ln/>
        </p:spPr>
      </p:sp>
      <p:sp>
        <p:nvSpPr>
          <p:cNvPr id="62" name="Shape 50"/>
          <p:cNvSpPr/>
          <p:nvPr/>
        </p:nvSpPr>
        <p:spPr>
          <a:xfrm>
            <a:off x="11466576" y="4803648"/>
            <a:ext cx="64008" cy="1405128"/>
          </a:xfrm>
          <a:prstGeom prst="rect">
            <a:avLst/>
          </a:prstGeom>
          <a:solidFill>
            <a:srgbClr val="12A566"/>
          </a:solidFill>
          <a:ln/>
        </p:spPr>
      </p:sp>
      <p:sp>
        <p:nvSpPr>
          <p:cNvPr id="63" name="Text 51"/>
          <p:cNvSpPr txBox="1"/>
          <p:nvPr/>
        </p:nvSpPr>
        <p:spPr>
          <a:xfrm>
            <a:off x="8132064"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64" name="Text 52"/>
          <p:cNvSpPr txBox="1"/>
          <p:nvPr/>
        </p:nvSpPr>
        <p:spPr>
          <a:xfrm>
            <a:off x="8479536"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graphicFrame>
        <p:nvGraphicFramePr>
          <p:cNvPr id="65" name="Chart 10" descr=""/>
          <p:cNvGraphicFramePr/>
          <p:nvPr/>
        </p:nvGraphicFramePr>
        <p:xfrm>
          <a:off x="8479536" y="5654040"/>
          <a:ext cx="1972056" cy="502615"/>
        </p:xfrm>
        <a:graphic>
          <a:graphicData uri="http://schemas.openxmlformats.org/drawingml/2006/chart">
            <c:chart xmlns:c="http://schemas.openxmlformats.org/drawingml/2006/chart" r:id="rId12"/>
          </a:graphicData>
        </a:graphic>
      </p:graphicFrame>
      <p:graphicFrame>
        <p:nvGraphicFramePr>
          <p:cNvPr id="66" name="Chart 11" descr=""/>
          <p:cNvGraphicFramePr/>
          <p:nvPr/>
        </p:nvGraphicFramePr>
        <p:xfrm>
          <a:off x="8479536" y="5654040"/>
          <a:ext cx="1972056" cy="502615"/>
        </p:xfrm>
        <a:graphic>
          <a:graphicData uri="http://schemas.openxmlformats.org/drawingml/2006/chart">
            <c:chart xmlns:c="http://schemas.openxmlformats.org/drawingml/2006/chart" r:id="rId13"/>
          </a:graphicData>
        </a:graphic>
      </p:graphicFrame>
      <p:sp>
        <p:nvSpPr>
          <p:cNvPr id="67" name="Text 53"/>
          <p:cNvSpPr txBox="1"/>
          <p:nvPr/>
        </p:nvSpPr>
        <p:spPr>
          <a:xfrm>
            <a:off x="10543032" y="521055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68" name="Text 54"/>
          <p:cNvSpPr txBox="1"/>
          <p:nvPr/>
        </p:nvSpPr>
        <p:spPr>
          <a:xfrm>
            <a:off x="10543032"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7 declined.</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3 VS LAST YEAR</a:t>
            </a:r>
            <a:endParaRPr lang="en-US" sz="1500" dirty="0"/>
          </a:p>
        </p:txBody>
      </p:sp>
      <p:sp>
        <p:nvSpPr>
          <p:cNvPr id="9" name="Shape 7"/>
          <p:cNvSpPr/>
          <p:nvPr/>
        </p:nvSpPr>
        <p:spPr>
          <a:xfrm>
            <a:off x="658368" y="1810512"/>
            <a:ext cx="3489960" cy="1478280"/>
          </a:xfrm>
          <a:prstGeom prst="rect">
            <a:avLst/>
          </a:prstGeom>
          <a:solidFill>
            <a:srgbClr val="F7F7F7"/>
          </a:solidFill>
          <a:ln/>
        </p:spPr>
      </p:sp>
      <p:sp>
        <p:nvSpPr>
          <p:cNvPr id="10" name="Text 8"/>
          <p:cNvSpPr txBox="1"/>
          <p:nvPr/>
        </p:nvSpPr>
        <p:spPr>
          <a:xfrm>
            <a:off x="749808"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11" name="Text 9"/>
          <p:cNvSpPr txBox="1"/>
          <p:nvPr/>
        </p:nvSpPr>
        <p:spPr>
          <a:xfrm>
            <a:off x="1097280"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graphicFrame>
        <p:nvGraphicFramePr>
          <p:cNvPr id="12" name="Chart 0" descr=""/>
          <p:cNvGraphicFramePr/>
          <p:nvPr/>
        </p:nvGraphicFramePr>
        <p:xfrm>
          <a:off x="1097280" y="2697480"/>
          <a:ext cx="1972056" cy="502615"/>
        </p:xfrm>
        <a:graphic>
          <a:graphicData uri="http://schemas.openxmlformats.org/drawingml/2006/chart">
            <c:chart xmlns:c="http://schemas.openxmlformats.org/drawingml/2006/chart" r:id="rId2"/>
          </a:graphicData>
        </a:graphic>
      </p:graphicFrame>
      <p:sp>
        <p:nvSpPr>
          <p:cNvPr id="13" name="Text 10"/>
          <p:cNvSpPr txBox="1"/>
          <p:nvPr/>
        </p:nvSpPr>
        <p:spPr>
          <a:xfrm>
            <a:off x="3160776" y="225399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4" name="Text 11"/>
          <p:cNvSpPr txBox="1"/>
          <p:nvPr/>
        </p:nvSpPr>
        <p:spPr>
          <a:xfrm>
            <a:off x="3160776"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5" name="Text 12"/>
          <p:cNvSpPr txBox="1"/>
          <p:nvPr/>
        </p:nvSpPr>
        <p:spPr>
          <a:xfrm>
            <a:off x="749808"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16" name="Text 13"/>
          <p:cNvSpPr txBox="1"/>
          <p:nvPr/>
        </p:nvSpPr>
        <p:spPr>
          <a:xfrm>
            <a:off x="1097280"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graphicFrame>
        <p:nvGraphicFramePr>
          <p:cNvPr id="17" name="Chart 1" descr=""/>
          <p:cNvGraphicFramePr/>
          <p:nvPr/>
        </p:nvGraphicFramePr>
        <p:xfrm>
          <a:off x="1097280" y="4175760"/>
          <a:ext cx="1972056" cy="502615"/>
        </p:xfrm>
        <a:graphic>
          <a:graphicData uri="http://schemas.openxmlformats.org/drawingml/2006/chart">
            <c:chart xmlns:c="http://schemas.openxmlformats.org/drawingml/2006/chart" r:id="rId3"/>
          </a:graphicData>
        </a:graphic>
      </p:graphicFrame>
      <p:sp>
        <p:nvSpPr>
          <p:cNvPr id="18" name="Text 14"/>
          <p:cNvSpPr txBox="1"/>
          <p:nvPr/>
        </p:nvSpPr>
        <p:spPr>
          <a:xfrm>
            <a:off x="3160776" y="373227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9" name="Text 15"/>
          <p:cNvSpPr txBox="1"/>
          <p:nvPr/>
        </p:nvSpPr>
        <p:spPr>
          <a:xfrm>
            <a:off x="3160776"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20" name="Shape 16"/>
          <p:cNvSpPr/>
          <p:nvPr/>
        </p:nvSpPr>
        <p:spPr>
          <a:xfrm>
            <a:off x="658368" y="4767072"/>
            <a:ext cx="3489960" cy="1478280"/>
          </a:xfrm>
          <a:prstGeom prst="rect">
            <a:avLst/>
          </a:prstGeom>
          <a:solidFill>
            <a:srgbClr val="F7F7F7"/>
          </a:solidFill>
          <a:ln/>
        </p:spPr>
      </p:sp>
      <p:sp>
        <p:nvSpPr>
          <p:cNvPr id="21" name="Text 17"/>
          <p:cNvSpPr txBox="1"/>
          <p:nvPr/>
        </p:nvSpPr>
        <p:spPr>
          <a:xfrm>
            <a:off x="749808"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22" name="Text 18"/>
          <p:cNvSpPr txBox="1"/>
          <p:nvPr/>
        </p:nvSpPr>
        <p:spPr>
          <a:xfrm>
            <a:off x="1097280"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graphicFrame>
        <p:nvGraphicFramePr>
          <p:cNvPr id="23" name="Chart 2" descr=""/>
          <p:cNvGraphicFramePr/>
          <p:nvPr/>
        </p:nvGraphicFramePr>
        <p:xfrm>
          <a:off x="1097280" y="5654040"/>
          <a:ext cx="1972056" cy="502615"/>
        </p:xfrm>
        <a:graphic>
          <a:graphicData uri="http://schemas.openxmlformats.org/drawingml/2006/chart">
            <c:chart xmlns:c="http://schemas.openxmlformats.org/drawingml/2006/chart" r:id="rId4"/>
          </a:graphicData>
        </a:graphic>
      </p:graphicFrame>
      <p:sp>
        <p:nvSpPr>
          <p:cNvPr id="24" name="Text 19"/>
          <p:cNvSpPr txBox="1"/>
          <p:nvPr/>
        </p:nvSpPr>
        <p:spPr>
          <a:xfrm>
            <a:off x="3160776" y="521055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5" name="Text 20"/>
          <p:cNvSpPr txBox="1"/>
          <p:nvPr/>
        </p:nvSpPr>
        <p:spPr>
          <a:xfrm>
            <a:off x="3160776"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6" name="Shape 21"/>
          <p:cNvSpPr/>
          <p:nvPr/>
        </p:nvSpPr>
        <p:spPr>
          <a:xfrm>
            <a:off x="4349496" y="1371600"/>
            <a:ext cx="3489960" cy="45720"/>
          </a:xfrm>
          <a:prstGeom prst="rect">
            <a:avLst/>
          </a:prstGeom>
          <a:solidFill>
            <a:srgbClr val="C2352F"/>
          </a:solidFill>
          <a:ln/>
        </p:spPr>
      </p:sp>
      <p:sp>
        <p:nvSpPr>
          <p:cNvPr id="27" name="Text 2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3 VS LAST YEAR</a:t>
            </a:r>
            <a:endParaRPr lang="en-US" sz="1500" dirty="0"/>
          </a:p>
        </p:txBody>
      </p:sp>
      <p:sp>
        <p:nvSpPr>
          <p:cNvPr id="28" name="Shape 23"/>
          <p:cNvSpPr/>
          <p:nvPr/>
        </p:nvSpPr>
        <p:spPr>
          <a:xfrm>
            <a:off x="4349496" y="1810512"/>
            <a:ext cx="3489960" cy="1478280"/>
          </a:xfrm>
          <a:prstGeom prst="rect">
            <a:avLst/>
          </a:prstGeom>
          <a:solidFill>
            <a:srgbClr val="F7F7F7"/>
          </a:solidFill>
          <a:ln/>
        </p:spPr>
      </p:sp>
      <p:sp>
        <p:nvSpPr>
          <p:cNvPr id="29" name="Text 24"/>
          <p:cNvSpPr txBox="1"/>
          <p:nvPr/>
        </p:nvSpPr>
        <p:spPr>
          <a:xfrm>
            <a:off x="4440936"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33</a:t>
            </a:r>
            <a:endParaRPr lang="en-US" sz="2000" dirty="0"/>
          </a:p>
        </p:txBody>
      </p:sp>
      <p:sp>
        <p:nvSpPr>
          <p:cNvPr id="30" name="Text 25"/>
          <p:cNvSpPr txBox="1"/>
          <p:nvPr/>
        </p:nvSpPr>
        <p:spPr>
          <a:xfrm>
            <a:off x="4788408"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graphicFrame>
        <p:nvGraphicFramePr>
          <p:cNvPr id="31" name="Chart 3" descr=""/>
          <p:cNvGraphicFramePr/>
          <p:nvPr/>
        </p:nvGraphicFramePr>
        <p:xfrm>
          <a:off x="4788408" y="2697480"/>
          <a:ext cx="1972056" cy="502615"/>
        </p:xfrm>
        <a:graphic>
          <a:graphicData uri="http://schemas.openxmlformats.org/drawingml/2006/chart">
            <c:chart xmlns:c="http://schemas.openxmlformats.org/drawingml/2006/chart" r:id="rId5"/>
          </a:graphicData>
        </a:graphic>
      </p:graphicFrame>
      <p:sp>
        <p:nvSpPr>
          <p:cNvPr id="32" name="Text 26"/>
          <p:cNvSpPr txBox="1"/>
          <p:nvPr/>
        </p:nvSpPr>
        <p:spPr>
          <a:xfrm>
            <a:off x="6851904" y="225399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33" name="Text 27"/>
          <p:cNvSpPr txBox="1"/>
          <p:nvPr/>
        </p:nvSpPr>
        <p:spPr>
          <a:xfrm>
            <a:off x="6851904"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34" name="Text 28"/>
          <p:cNvSpPr txBox="1"/>
          <p:nvPr/>
        </p:nvSpPr>
        <p:spPr>
          <a:xfrm>
            <a:off x="4440936"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32</a:t>
            </a:r>
            <a:endParaRPr lang="en-US" sz="2000" dirty="0"/>
          </a:p>
        </p:txBody>
      </p:sp>
      <p:sp>
        <p:nvSpPr>
          <p:cNvPr id="35" name="Text 29"/>
          <p:cNvSpPr txBox="1"/>
          <p:nvPr/>
        </p:nvSpPr>
        <p:spPr>
          <a:xfrm>
            <a:off x="4788408"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graphicFrame>
        <p:nvGraphicFramePr>
          <p:cNvPr id="36" name="Chart 4" descr=""/>
          <p:cNvGraphicFramePr/>
          <p:nvPr/>
        </p:nvGraphicFramePr>
        <p:xfrm>
          <a:off x="4788408" y="4175760"/>
          <a:ext cx="1972056" cy="502615"/>
        </p:xfrm>
        <a:graphic>
          <a:graphicData uri="http://schemas.openxmlformats.org/drawingml/2006/chart">
            <c:chart xmlns:c="http://schemas.openxmlformats.org/drawingml/2006/chart" r:id="rId6"/>
          </a:graphicData>
        </a:graphic>
      </p:graphicFrame>
      <p:sp>
        <p:nvSpPr>
          <p:cNvPr id="37" name="Text 30"/>
          <p:cNvSpPr txBox="1"/>
          <p:nvPr/>
        </p:nvSpPr>
        <p:spPr>
          <a:xfrm>
            <a:off x="6851904" y="373227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38" name="Text 31"/>
          <p:cNvSpPr txBox="1"/>
          <p:nvPr/>
        </p:nvSpPr>
        <p:spPr>
          <a:xfrm>
            <a:off x="6851904"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39" name="Shape 32"/>
          <p:cNvSpPr/>
          <p:nvPr/>
        </p:nvSpPr>
        <p:spPr>
          <a:xfrm>
            <a:off x="4349496" y="4767072"/>
            <a:ext cx="3489960" cy="1478280"/>
          </a:xfrm>
          <a:prstGeom prst="rect">
            <a:avLst/>
          </a:prstGeom>
          <a:solidFill>
            <a:srgbClr val="F7F7F7"/>
          </a:solidFill>
          <a:ln/>
        </p:spPr>
      </p:sp>
      <p:sp>
        <p:nvSpPr>
          <p:cNvPr id="40" name="Text 33"/>
          <p:cNvSpPr txBox="1"/>
          <p:nvPr/>
        </p:nvSpPr>
        <p:spPr>
          <a:xfrm>
            <a:off x="4440936"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31</a:t>
            </a:r>
            <a:endParaRPr lang="en-US" sz="2000" dirty="0"/>
          </a:p>
        </p:txBody>
      </p:sp>
      <p:sp>
        <p:nvSpPr>
          <p:cNvPr id="41" name="Text 34"/>
          <p:cNvSpPr txBox="1"/>
          <p:nvPr/>
        </p:nvSpPr>
        <p:spPr>
          <a:xfrm>
            <a:off x="4788408"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graphicFrame>
        <p:nvGraphicFramePr>
          <p:cNvPr id="42" name="Chart 5" descr=""/>
          <p:cNvGraphicFramePr/>
          <p:nvPr/>
        </p:nvGraphicFramePr>
        <p:xfrm>
          <a:off x="4788408" y="5654040"/>
          <a:ext cx="1972056" cy="502615"/>
        </p:xfrm>
        <a:graphic>
          <a:graphicData uri="http://schemas.openxmlformats.org/drawingml/2006/chart">
            <c:chart xmlns:c="http://schemas.openxmlformats.org/drawingml/2006/chart" r:id="rId7"/>
          </a:graphicData>
        </a:graphic>
      </p:graphicFrame>
      <p:sp>
        <p:nvSpPr>
          <p:cNvPr id="43" name="Text 35"/>
          <p:cNvSpPr txBox="1"/>
          <p:nvPr/>
        </p:nvSpPr>
        <p:spPr>
          <a:xfrm>
            <a:off x="6851904" y="521055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4" name="Text 36"/>
          <p:cNvSpPr txBox="1"/>
          <p:nvPr/>
        </p:nvSpPr>
        <p:spPr>
          <a:xfrm>
            <a:off x="6851904"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45" name="Shape 37"/>
          <p:cNvSpPr/>
          <p:nvPr/>
        </p:nvSpPr>
        <p:spPr>
          <a:xfrm>
            <a:off x="8040624" y="1371600"/>
            <a:ext cx="3489960" cy="45720"/>
          </a:xfrm>
          <a:prstGeom prst="rect">
            <a:avLst/>
          </a:prstGeom>
          <a:solidFill>
            <a:srgbClr val="2587C5"/>
          </a:solidFill>
          <a:ln/>
        </p:spPr>
      </p:sp>
      <p:sp>
        <p:nvSpPr>
          <p:cNvPr id="46" name="Text 3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3 MOVING NOW</a:t>
            </a:r>
            <a:endParaRPr lang="en-US" sz="1500" dirty="0"/>
          </a:p>
        </p:txBody>
      </p:sp>
      <p:sp>
        <p:nvSpPr>
          <p:cNvPr id="47" name="Shape 39"/>
          <p:cNvSpPr/>
          <p:nvPr/>
        </p:nvSpPr>
        <p:spPr>
          <a:xfrm>
            <a:off x="8040624" y="1810512"/>
            <a:ext cx="3489960" cy="1478280"/>
          </a:xfrm>
          <a:prstGeom prst="rect">
            <a:avLst/>
          </a:prstGeom>
          <a:solidFill>
            <a:srgbClr val="F7F7F7"/>
          </a:solidFill>
          <a:ln/>
        </p:spPr>
      </p:sp>
      <p:sp>
        <p:nvSpPr>
          <p:cNvPr id="48" name="Text 40"/>
          <p:cNvSpPr txBox="1"/>
          <p:nvPr/>
        </p:nvSpPr>
        <p:spPr>
          <a:xfrm>
            <a:off x="8132064"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49" name="Text 41"/>
          <p:cNvSpPr txBox="1"/>
          <p:nvPr/>
        </p:nvSpPr>
        <p:spPr>
          <a:xfrm>
            <a:off x="8479536"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graphicFrame>
        <p:nvGraphicFramePr>
          <p:cNvPr id="50" name="Chart 6" descr=""/>
          <p:cNvGraphicFramePr/>
          <p:nvPr/>
        </p:nvGraphicFramePr>
        <p:xfrm>
          <a:off x="8479536" y="2697480"/>
          <a:ext cx="1972056" cy="502615"/>
        </p:xfrm>
        <a:graphic>
          <a:graphicData uri="http://schemas.openxmlformats.org/drawingml/2006/chart">
            <c:chart xmlns:c="http://schemas.openxmlformats.org/drawingml/2006/chart" r:id="rId8"/>
          </a:graphicData>
        </a:graphic>
      </p:graphicFrame>
      <p:graphicFrame>
        <p:nvGraphicFramePr>
          <p:cNvPr id="51" name="Chart 7" descr=""/>
          <p:cNvGraphicFramePr/>
          <p:nvPr/>
        </p:nvGraphicFramePr>
        <p:xfrm>
          <a:off x="8479536" y="2697480"/>
          <a:ext cx="1972056" cy="502615"/>
        </p:xfrm>
        <a:graphic>
          <a:graphicData uri="http://schemas.openxmlformats.org/drawingml/2006/chart">
            <c:chart xmlns:c="http://schemas.openxmlformats.org/drawingml/2006/chart" r:id="rId9"/>
          </a:graphicData>
        </a:graphic>
      </p:graphicFrame>
      <p:sp>
        <p:nvSpPr>
          <p:cNvPr id="52" name="Text 42"/>
          <p:cNvSpPr txBox="1"/>
          <p:nvPr/>
        </p:nvSpPr>
        <p:spPr>
          <a:xfrm>
            <a:off x="10543032" y="225399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53" name="Text 43"/>
          <p:cNvSpPr txBox="1"/>
          <p:nvPr/>
        </p:nvSpPr>
        <p:spPr>
          <a:xfrm>
            <a:off x="10543032"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4" name="Text 44"/>
          <p:cNvSpPr txBox="1"/>
          <p:nvPr/>
        </p:nvSpPr>
        <p:spPr>
          <a:xfrm>
            <a:off x="8132064"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55" name="Text 45"/>
          <p:cNvSpPr txBox="1"/>
          <p:nvPr/>
        </p:nvSpPr>
        <p:spPr>
          <a:xfrm>
            <a:off x="8479536"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graphicFrame>
        <p:nvGraphicFramePr>
          <p:cNvPr id="56" name="Chart 8" descr=""/>
          <p:cNvGraphicFramePr/>
          <p:nvPr/>
        </p:nvGraphicFramePr>
        <p:xfrm>
          <a:off x="8479536" y="4175760"/>
          <a:ext cx="1972056" cy="502615"/>
        </p:xfrm>
        <a:graphic>
          <a:graphicData uri="http://schemas.openxmlformats.org/drawingml/2006/chart">
            <c:chart xmlns:c="http://schemas.openxmlformats.org/drawingml/2006/chart" r:id="rId10"/>
          </a:graphicData>
        </a:graphic>
      </p:graphicFrame>
      <p:graphicFrame>
        <p:nvGraphicFramePr>
          <p:cNvPr id="57" name="Chart 9" descr=""/>
          <p:cNvGraphicFramePr/>
          <p:nvPr/>
        </p:nvGraphicFramePr>
        <p:xfrm>
          <a:off x="8479536" y="4175760"/>
          <a:ext cx="1972056" cy="502615"/>
        </p:xfrm>
        <a:graphic>
          <a:graphicData uri="http://schemas.openxmlformats.org/drawingml/2006/chart">
            <c:chart xmlns:c="http://schemas.openxmlformats.org/drawingml/2006/chart" r:id="rId11"/>
          </a:graphicData>
        </a:graphic>
      </p:graphicFrame>
      <p:sp>
        <p:nvSpPr>
          <p:cNvPr id="58" name="Text 46"/>
          <p:cNvSpPr txBox="1"/>
          <p:nvPr/>
        </p:nvSpPr>
        <p:spPr>
          <a:xfrm>
            <a:off x="10543032" y="373227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59" name="Text 47"/>
          <p:cNvSpPr txBox="1"/>
          <p:nvPr/>
        </p:nvSpPr>
        <p:spPr>
          <a:xfrm>
            <a:off x="10543032"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0" name="Shape 48"/>
          <p:cNvSpPr/>
          <p:nvPr/>
        </p:nvSpPr>
        <p:spPr>
          <a:xfrm>
            <a:off x="8040624" y="4767072"/>
            <a:ext cx="3489960" cy="1478280"/>
          </a:xfrm>
          <a:prstGeom prst="rect">
            <a:avLst/>
          </a:prstGeom>
          <a:solidFill>
            <a:srgbClr val="F7F7F7"/>
          </a:solidFill>
          <a:ln/>
        </p:spPr>
      </p:sp>
      <p:sp>
        <p:nvSpPr>
          <p:cNvPr id="61" name="Text 49"/>
          <p:cNvSpPr txBox="1"/>
          <p:nvPr/>
        </p:nvSpPr>
        <p:spPr>
          <a:xfrm>
            <a:off x="8132064"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62" name="Text 50"/>
          <p:cNvSpPr txBox="1"/>
          <p:nvPr/>
        </p:nvSpPr>
        <p:spPr>
          <a:xfrm>
            <a:off x="8479536"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graphicFrame>
        <p:nvGraphicFramePr>
          <p:cNvPr id="63" name="Chart 10" descr=""/>
          <p:cNvGraphicFramePr/>
          <p:nvPr/>
        </p:nvGraphicFramePr>
        <p:xfrm>
          <a:off x="8479536" y="5654040"/>
          <a:ext cx="1972056" cy="502615"/>
        </p:xfrm>
        <a:graphic>
          <a:graphicData uri="http://schemas.openxmlformats.org/drawingml/2006/chart">
            <c:chart xmlns:c="http://schemas.openxmlformats.org/drawingml/2006/chart" r:id="rId12"/>
          </a:graphicData>
        </a:graphic>
      </p:graphicFrame>
      <p:graphicFrame>
        <p:nvGraphicFramePr>
          <p:cNvPr id="64" name="Chart 11" descr=""/>
          <p:cNvGraphicFramePr/>
          <p:nvPr/>
        </p:nvGraphicFramePr>
        <p:xfrm>
          <a:off x="8479536" y="5654040"/>
          <a:ext cx="1972056" cy="502615"/>
        </p:xfrm>
        <a:graphic>
          <a:graphicData uri="http://schemas.openxmlformats.org/drawingml/2006/chart">
            <c:chart xmlns:c="http://schemas.openxmlformats.org/drawingml/2006/chart" r:id="rId13"/>
          </a:graphicData>
        </a:graphic>
      </p:graphicFrame>
      <p:sp>
        <p:nvSpPr>
          <p:cNvPr id="65" name="Text 51"/>
          <p:cNvSpPr txBox="1"/>
          <p:nvPr/>
        </p:nvSpPr>
        <p:spPr>
          <a:xfrm>
            <a:off x="10543032" y="521055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66" name="Text 52"/>
          <p:cNvSpPr txBox="1"/>
          <p:nvPr/>
        </p:nvSpPr>
        <p:spPr>
          <a:xfrm>
            <a:off x="10543032"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80.8% group.</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8755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261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3346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356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420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0925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785616" y="3351233"/>
            <a:ext cx="179363"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1" name="Shape 39"/>
          <p:cNvSpPr/>
          <p:nvPr/>
        </p:nvSpPr>
        <p:spPr>
          <a:xfrm>
            <a:off x="3785616" y="3591128"/>
            <a:ext cx="17936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6441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94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0462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968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978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978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9" name="Shape 67"/>
          <p:cNvSpPr/>
          <p:nvPr/>
        </p:nvSpPr>
        <p:spPr>
          <a:xfrm>
            <a:off x="3785616" y="5270397"/>
            <a:ext cx="44841"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484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7" name="Shape 75"/>
          <p:cNvSpPr/>
          <p:nvPr/>
        </p:nvSpPr>
        <p:spPr>
          <a:xfrm>
            <a:off x="3785616" y="5750188"/>
            <a:ext cx="4484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9336024" y="1911860"/>
            <a:ext cx="2989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9336024" y="2151755"/>
            <a:ext cx="2989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4947"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06130" y="2631546"/>
            <a:ext cx="2989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91183" y="2871442"/>
            <a:ext cx="44841"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76236" y="3111337"/>
            <a:ext cx="5978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31396" y="3351233"/>
            <a:ext cx="1046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1608" y="3591128"/>
            <a:ext cx="16441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6767" y="3831024"/>
            <a:ext cx="20925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6767" y="4070920"/>
            <a:ext cx="2092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1820" y="4310815"/>
            <a:ext cx="22420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5" name="Shape 123"/>
          <p:cNvSpPr/>
          <p:nvPr/>
        </p:nvSpPr>
        <p:spPr>
          <a:xfrm>
            <a:off x="9037086" y="4550711"/>
            <a:ext cx="29893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9037086" y="4790606"/>
            <a:ext cx="2989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902563" y="5030502"/>
            <a:ext cx="43346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3519" y="5270397"/>
            <a:ext cx="70250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13 declined.</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3 VS LAST YEAR</a:t>
            </a:r>
            <a:endParaRPr lang="en-US" sz="1500" dirty="0"/>
          </a:p>
        </p:txBody>
      </p:sp>
      <p:sp>
        <p:nvSpPr>
          <p:cNvPr id="9" name="Shape 7"/>
          <p:cNvSpPr/>
          <p:nvPr/>
        </p:nvSpPr>
        <p:spPr>
          <a:xfrm>
            <a:off x="658368" y="1810512"/>
            <a:ext cx="3489960" cy="1478280"/>
          </a:xfrm>
          <a:prstGeom prst="rect">
            <a:avLst/>
          </a:prstGeom>
          <a:solidFill>
            <a:srgbClr val="F7F7F7"/>
          </a:solidFill>
          <a:ln/>
        </p:spPr>
      </p:sp>
      <p:sp>
        <p:nvSpPr>
          <p:cNvPr id="10" name="Text 8"/>
          <p:cNvSpPr txBox="1"/>
          <p:nvPr/>
        </p:nvSpPr>
        <p:spPr>
          <a:xfrm>
            <a:off x="749808"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11" name="Text 9"/>
          <p:cNvSpPr txBox="1"/>
          <p:nvPr/>
        </p:nvSpPr>
        <p:spPr>
          <a:xfrm>
            <a:off x="1097280"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graphicFrame>
        <p:nvGraphicFramePr>
          <p:cNvPr id="12" name="Chart 0" descr=""/>
          <p:cNvGraphicFramePr/>
          <p:nvPr/>
        </p:nvGraphicFramePr>
        <p:xfrm>
          <a:off x="1097280" y="2697480"/>
          <a:ext cx="1972056" cy="502615"/>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4" name="Text 11"/>
          <p:cNvSpPr txBox="1"/>
          <p:nvPr/>
        </p:nvSpPr>
        <p:spPr>
          <a:xfrm>
            <a:off x="749808"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15" name="Text 12"/>
          <p:cNvSpPr txBox="1"/>
          <p:nvPr/>
        </p:nvSpPr>
        <p:spPr>
          <a:xfrm>
            <a:off x="1097280"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graphicFrame>
        <p:nvGraphicFramePr>
          <p:cNvPr id="16" name="Chart 1" descr=""/>
          <p:cNvGraphicFramePr/>
          <p:nvPr/>
        </p:nvGraphicFramePr>
        <p:xfrm>
          <a:off x="1097280" y="4175760"/>
          <a:ext cx="1972056" cy="502615"/>
        </p:xfrm>
        <a:graphic>
          <a:graphicData uri="http://schemas.openxmlformats.org/drawingml/2006/chart">
            <c:chart xmlns:c="http://schemas.openxmlformats.org/drawingml/2006/chart" r:id="rId3"/>
          </a:graphicData>
        </a:graphic>
      </p:graphicFrame>
      <p:sp>
        <p:nvSpPr>
          <p:cNvPr id="17" name="Text 13"/>
          <p:cNvSpPr txBox="1"/>
          <p:nvPr/>
        </p:nvSpPr>
        <p:spPr>
          <a:xfrm>
            <a:off x="2941320" y="328879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8" name="Shape 14"/>
          <p:cNvSpPr/>
          <p:nvPr/>
        </p:nvSpPr>
        <p:spPr>
          <a:xfrm>
            <a:off x="658368" y="4767072"/>
            <a:ext cx="3489960" cy="1478280"/>
          </a:xfrm>
          <a:prstGeom prst="rect">
            <a:avLst/>
          </a:prstGeom>
          <a:solidFill>
            <a:srgbClr val="F7F7F7"/>
          </a:solidFill>
          <a:ln/>
        </p:spPr>
      </p:sp>
      <p:sp>
        <p:nvSpPr>
          <p:cNvPr id="19" name="Text 15"/>
          <p:cNvSpPr txBox="1"/>
          <p:nvPr/>
        </p:nvSpPr>
        <p:spPr>
          <a:xfrm>
            <a:off x="749808"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20" name="Text 16"/>
          <p:cNvSpPr txBox="1"/>
          <p:nvPr/>
        </p:nvSpPr>
        <p:spPr>
          <a:xfrm>
            <a:off x="1097280"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graphicFrame>
        <p:nvGraphicFramePr>
          <p:cNvPr id="21" name="Chart 2" descr=""/>
          <p:cNvGraphicFramePr/>
          <p:nvPr/>
        </p:nvGraphicFramePr>
        <p:xfrm>
          <a:off x="1097280" y="5654040"/>
          <a:ext cx="1972056" cy="502615"/>
        </p:xfrm>
        <a:graphic>
          <a:graphicData uri="http://schemas.openxmlformats.org/drawingml/2006/chart">
            <c:chart xmlns:c="http://schemas.openxmlformats.org/drawingml/2006/chart" r:id="rId4"/>
          </a:graphicData>
        </a:graphic>
      </p:graphicFrame>
      <p:sp>
        <p:nvSpPr>
          <p:cNvPr id="22" name="Text 17"/>
          <p:cNvSpPr txBox="1"/>
          <p:nvPr/>
        </p:nvSpPr>
        <p:spPr>
          <a:xfrm>
            <a:off x="2941320" y="476707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3" name="Shape 18"/>
          <p:cNvSpPr/>
          <p:nvPr/>
        </p:nvSpPr>
        <p:spPr>
          <a:xfrm>
            <a:off x="4349496" y="1371600"/>
            <a:ext cx="3489960" cy="45720"/>
          </a:xfrm>
          <a:prstGeom prst="rect">
            <a:avLst/>
          </a:prstGeom>
          <a:solidFill>
            <a:srgbClr val="C2352F"/>
          </a:solidFill>
          <a:ln/>
        </p:spPr>
      </p:sp>
      <p:sp>
        <p:nvSpPr>
          <p:cNvPr id="24" name="Text 1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3 VS LAST YEAR</a:t>
            </a:r>
            <a:endParaRPr lang="en-US" sz="1500" dirty="0"/>
          </a:p>
        </p:txBody>
      </p:sp>
      <p:sp>
        <p:nvSpPr>
          <p:cNvPr id="25" name="Shape 20"/>
          <p:cNvSpPr/>
          <p:nvPr/>
        </p:nvSpPr>
        <p:spPr>
          <a:xfrm>
            <a:off x="4349496" y="1810512"/>
            <a:ext cx="3489960" cy="1478280"/>
          </a:xfrm>
          <a:prstGeom prst="rect">
            <a:avLst/>
          </a:prstGeom>
          <a:solidFill>
            <a:srgbClr val="F7F7F7"/>
          </a:solidFill>
          <a:ln/>
        </p:spPr>
      </p:sp>
      <p:sp>
        <p:nvSpPr>
          <p:cNvPr id="26" name="Text 21"/>
          <p:cNvSpPr txBox="1"/>
          <p:nvPr/>
        </p:nvSpPr>
        <p:spPr>
          <a:xfrm>
            <a:off x="4440936"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33</a:t>
            </a:r>
            <a:endParaRPr lang="en-US" sz="2000" dirty="0"/>
          </a:p>
        </p:txBody>
      </p:sp>
      <p:sp>
        <p:nvSpPr>
          <p:cNvPr id="27" name="Text 22"/>
          <p:cNvSpPr txBox="1"/>
          <p:nvPr/>
        </p:nvSpPr>
        <p:spPr>
          <a:xfrm>
            <a:off x="4788408"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graphicFrame>
        <p:nvGraphicFramePr>
          <p:cNvPr id="28" name="Chart 3" descr=""/>
          <p:cNvGraphicFramePr/>
          <p:nvPr/>
        </p:nvGraphicFramePr>
        <p:xfrm>
          <a:off x="4788408" y="2697480"/>
          <a:ext cx="1972056" cy="502615"/>
        </p:xfrm>
        <a:graphic>
          <a:graphicData uri="http://schemas.openxmlformats.org/drawingml/2006/chart">
            <c:chart xmlns:c="http://schemas.openxmlformats.org/drawingml/2006/chart" r:id="rId5"/>
          </a:graphicData>
        </a:graphic>
      </p:graphicFrame>
      <p:sp>
        <p:nvSpPr>
          <p:cNvPr id="29" name="Text 23"/>
          <p:cNvSpPr txBox="1"/>
          <p:nvPr/>
        </p:nvSpPr>
        <p:spPr>
          <a:xfrm>
            <a:off x="6632448" y="181051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0" name="Text 24"/>
          <p:cNvSpPr txBox="1"/>
          <p:nvPr/>
        </p:nvSpPr>
        <p:spPr>
          <a:xfrm>
            <a:off x="4440936"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32</a:t>
            </a:r>
            <a:endParaRPr lang="en-US" sz="2000" dirty="0"/>
          </a:p>
        </p:txBody>
      </p:sp>
      <p:sp>
        <p:nvSpPr>
          <p:cNvPr id="31" name="Text 25"/>
          <p:cNvSpPr txBox="1"/>
          <p:nvPr/>
        </p:nvSpPr>
        <p:spPr>
          <a:xfrm>
            <a:off x="4788408"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graphicFrame>
        <p:nvGraphicFramePr>
          <p:cNvPr id="32" name="Chart 4" descr=""/>
          <p:cNvGraphicFramePr/>
          <p:nvPr/>
        </p:nvGraphicFramePr>
        <p:xfrm>
          <a:off x="4788408" y="4175760"/>
          <a:ext cx="1972056" cy="502615"/>
        </p:xfrm>
        <a:graphic>
          <a:graphicData uri="http://schemas.openxmlformats.org/drawingml/2006/chart">
            <c:chart xmlns:c="http://schemas.openxmlformats.org/drawingml/2006/chart" r:id="rId6"/>
          </a:graphicData>
        </a:graphic>
      </p:graphicFrame>
      <p:sp>
        <p:nvSpPr>
          <p:cNvPr id="33" name="Text 26"/>
          <p:cNvSpPr txBox="1"/>
          <p:nvPr/>
        </p:nvSpPr>
        <p:spPr>
          <a:xfrm>
            <a:off x="6632448" y="328879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4" name="Shape 27"/>
          <p:cNvSpPr/>
          <p:nvPr/>
        </p:nvSpPr>
        <p:spPr>
          <a:xfrm>
            <a:off x="4349496" y="4767072"/>
            <a:ext cx="3489960" cy="1478280"/>
          </a:xfrm>
          <a:prstGeom prst="rect">
            <a:avLst/>
          </a:prstGeom>
          <a:solidFill>
            <a:srgbClr val="F7F7F7"/>
          </a:solidFill>
          <a:ln/>
        </p:spPr>
      </p:sp>
      <p:sp>
        <p:nvSpPr>
          <p:cNvPr id="35" name="Text 28"/>
          <p:cNvSpPr txBox="1"/>
          <p:nvPr/>
        </p:nvSpPr>
        <p:spPr>
          <a:xfrm>
            <a:off x="4440936"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31</a:t>
            </a:r>
            <a:endParaRPr lang="en-US" sz="2000" dirty="0"/>
          </a:p>
        </p:txBody>
      </p:sp>
      <p:sp>
        <p:nvSpPr>
          <p:cNvPr id="36" name="Text 29"/>
          <p:cNvSpPr txBox="1"/>
          <p:nvPr/>
        </p:nvSpPr>
        <p:spPr>
          <a:xfrm>
            <a:off x="4788408"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graphicFrame>
        <p:nvGraphicFramePr>
          <p:cNvPr id="37" name="Chart 5" descr=""/>
          <p:cNvGraphicFramePr/>
          <p:nvPr/>
        </p:nvGraphicFramePr>
        <p:xfrm>
          <a:off x="4788408" y="5654040"/>
          <a:ext cx="1972056" cy="502615"/>
        </p:xfrm>
        <a:graphic>
          <a:graphicData uri="http://schemas.openxmlformats.org/drawingml/2006/chart">
            <c:chart xmlns:c="http://schemas.openxmlformats.org/drawingml/2006/chart" r:id="rId7"/>
          </a:graphicData>
        </a:graphic>
      </p:graphicFrame>
      <p:sp>
        <p:nvSpPr>
          <p:cNvPr id="38" name="Text 30"/>
          <p:cNvSpPr txBox="1"/>
          <p:nvPr/>
        </p:nvSpPr>
        <p:spPr>
          <a:xfrm>
            <a:off x="6632448" y="476707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39" name="Shape 31"/>
          <p:cNvSpPr/>
          <p:nvPr/>
        </p:nvSpPr>
        <p:spPr>
          <a:xfrm>
            <a:off x="8040624" y="1371600"/>
            <a:ext cx="3489960" cy="45720"/>
          </a:xfrm>
          <a:prstGeom prst="rect">
            <a:avLst/>
          </a:prstGeom>
          <a:solidFill>
            <a:srgbClr val="2587C5"/>
          </a:solidFill>
          <a:ln/>
        </p:spPr>
      </p:sp>
      <p:sp>
        <p:nvSpPr>
          <p:cNvPr id="40" name="Text 32"/>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3 MOVING NOW</a:t>
            </a:r>
            <a:endParaRPr lang="en-US" sz="1500" dirty="0"/>
          </a:p>
        </p:txBody>
      </p:sp>
      <p:sp>
        <p:nvSpPr>
          <p:cNvPr id="41" name="Shape 33"/>
          <p:cNvSpPr/>
          <p:nvPr/>
        </p:nvSpPr>
        <p:spPr>
          <a:xfrm>
            <a:off x="8040624" y="1810512"/>
            <a:ext cx="3489960" cy="1478280"/>
          </a:xfrm>
          <a:prstGeom prst="rect">
            <a:avLst/>
          </a:prstGeom>
          <a:solidFill>
            <a:srgbClr val="F7F7F7"/>
          </a:solidFill>
          <a:ln/>
        </p:spPr>
      </p:sp>
      <p:sp>
        <p:nvSpPr>
          <p:cNvPr id="42" name="Text 34"/>
          <p:cNvSpPr txBox="1"/>
          <p:nvPr/>
        </p:nvSpPr>
        <p:spPr>
          <a:xfrm>
            <a:off x="8132064"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43" name="Text 35"/>
          <p:cNvSpPr txBox="1"/>
          <p:nvPr/>
        </p:nvSpPr>
        <p:spPr>
          <a:xfrm>
            <a:off x="8479536"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graphicFrame>
        <p:nvGraphicFramePr>
          <p:cNvPr id="44" name="Chart 6" descr=""/>
          <p:cNvGraphicFramePr/>
          <p:nvPr/>
        </p:nvGraphicFramePr>
        <p:xfrm>
          <a:off x="8479536" y="2697480"/>
          <a:ext cx="1972056" cy="502615"/>
        </p:xfrm>
        <a:graphic>
          <a:graphicData uri="http://schemas.openxmlformats.org/drawingml/2006/chart">
            <c:chart xmlns:c="http://schemas.openxmlformats.org/drawingml/2006/chart" r:id="rId8"/>
          </a:graphicData>
        </a:graphic>
      </p:graphicFrame>
      <p:graphicFrame>
        <p:nvGraphicFramePr>
          <p:cNvPr id="45" name="Chart 7" descr=""/>
          <p:cNvGraphicFramePr/>
          <p:nvPr/>
        </p:nvGraphicFramePr>
        <p:xfrm>
          <a:off x="8479536" y="2697480"/>
          <a:ext cx="1972056" cy="502615"/>
        </p:xfrm>
        <a:graphic>
          <a:graphicData uri="http://schemas.openxmlformats.org/drawingml/2006/chart">
            <c:chart xmlns:c="http://schemas.openxmlformats.org/drawingml/2006/chart" r:id="rId9"/>
          </a:graphicData>
        </a:graphic>
      </p:graphicFrame>
      <p:sp>
        <p:nvSpPr>
          <p:cNvPr id="46" name="Text 36"/>
          <p:cNvSpPr txBox="1"/>
          <p:nvPr/>
        </p:nvSpPr>
        <p:spPr>
          <a:xfrm>
            <a:off x="10323576" y="181051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47" name="Text 37"/>
          <p:cNvSpPr txBox="1"/>
          <p:nvPr/>
        </p:nvSpPr>
        <p:spPr>
          <a:xfrm>
            <a:off x="8132064"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48" name="Text 38"/>
          <p:cNvSpPr txBox="1"/>
          <p:nvPr/>
        </p:nvSpPr>
        <p:spPr>
          <a:xfrm>
            <a:off x="8479536"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graphicFrame>
        <p:nvGraphicFramePr>
          <p:cNvPr id="49" name="Chart 8" descr=""/>
          <p:cNvGraphicFramePr/>
          <p:nvPr/>
        </p:nvGraphicFramePr>
        <p:xfrm>
          <a:off x="8479536" y="4175760"/>
          <a:ext cx="1972056" cy="502615"/>
        </p:xfrm>
        <a:graphic>
          <a:graphicData uri="http://schemas.openxmlformats.org/drawingml/2006/chart">
            <c:chart xmlns:c="http://schemas.openxmlformats.org/drawingml/2006/chart" r:id="rId10"/>
          </a:graphicData>
        </a:graphic>
      </p:graphicFrame>
      <p:graphicFrame>
        <p:nvGraphicFramePr>
          <p:cNvPr id="50" name="Chart 9" descr=""/>
          <p:cNvGraphicFramePr/>
          <p:nvPr/>
        </p:nvGraphicFramePr>
        <p:xfrm>
          <a:off x="8479536" y="4175760"/>
          <a:ext cx="1972056" cy="502615"/>
        </p:xfrm>
        <a:graphic>
          <a:graphicData uri="http://schemas.openxmlformats.org/drawingml/2006/chart">
            <c:chart xmlns:c="http://schemas.openxmlformats.org/drawingml/2006/chart" r:id="rId11"/>
          </a:graphicData>
        </a:graphic>
      </p:graphicFrame>
      <p:sp>
        <p:nvSpPr>
          <p:cNvPr id="51" name="Text 39"/>
          <p:cNvSpPr txBox="1"/>
          <p:nvPr/>
        </p:nvSpPr>
        <p:spPr>
          <a:xfrm>
            <a:off x="10323576" y="328879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52" name="Shape 40"/>
          <p:cNvSpPr/>
          <p:nvPr/>
        </p:nvSpPr>
        <p:spPr>
          <a:xfrm>
            <a:off x="8040624" y="4767072"/>
            <a:ext cx="3489960" cy="1478280"/>
          </a:xfrm>
          <a:prstGeom prst="rect">
            <a:avLst/>
          </a:prstGeom>
          <a:solidFill>
            <a:srgbClr val="F7F7F7"/>
          </a:solidFill>
          <a:ln/>
        </p:spPr>
      </p:sp>
      <p:sp>
        <p:nvSpPr>
          <p:cNvPr id="53" name="Text 41"/>
          <p:cNvSpPr txBox="1"/>
          <p:nvPr/>
        </p:nvSpPr>
        <p:spPr>
          <a:xfrm>
            <a:off x="8132064"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54" name="Text 42"/>
          <p:cNvSpPr txBox="1"/>
          <p:nvPr/>
        </p:nvSpPr>
        <p:spPr>
          <a:xfrm>
            <a:off x="8479536"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graphicFrame>
        <p:nvGraphicFramePr>
          <p:cNvPr id="55" name="Chart 10" descr=""/>
          <p:cNvGraphicFramePr/>
          <p:nvPr/>
        </p:nvGraphicFramePr>
        <p:xfrm>
          <a:off x="8479536" y="5654040"/>
          <a:ext cx="1972056" cy="502615"/>
        </p:xfrm>
        <a:graphic>
          <a:graphicData uri="http://schemas.openxmlformats.org/drawingml/2006/chart">
            <c:chart xmlns:c="http://schemas.openxmlformats.org/drawingml/2006/chart" r:id="rId12"/>
          </a:graphicData>
        </a:graphic>
      </p:graphicFrame>
      <p:graphicFrame>
        <p:nvGraphicFramePr>
          <p:cNvPr id="56" name="Chart 11" descr=""/>
          <p:cNvGraphicFramePr/>
          <p:nvPr/>
        </p:nvGraphicFramePr>
        <p:xfrm>
          <a:off x="8479536" y="5654040"/>
          <a:ext cx="1972056" cy="502615"/>
        </p:xfrm>
        <a:graphic>
          <a:graphicData uri="http://schemas.openxmlformats.org/drawingml/2006/chart">
            <c:chart xmlns:c="http://schemas.openxmlformats.org/drawingml/2006/chart" r:id="rId13"/>
          </a:graphicData>
        </a:graphic>
      </p:graphicFrame>
      <p:sp>
        <p:nvSpPr>
          <p:cNvPr id="57" name="Text 43"/>
          <p:cNvSpPr txBox="1"/>
          <p:nvPr/>
        </p:nvSpPr>
        <p:spPr>
          <a:xfrm>
            <a:off x="10323576" y="476707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less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40.7%, ahead of 2025 in all nine months.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19 of 33 stores at or above the 40.7% group.</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641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7637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1369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369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8862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6354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384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403"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7579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3818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2565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1" name="Shape 59"/>
          <p:cNvSpPr/>
          <p:nvPr/>
        </p:nvSpPr>
        <p:spPr>
          <a:xfrm>
            <a:off x="3785616" y="4790606"/>
            <a:ext cx="22565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297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043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789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536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1282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028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10028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775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21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268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268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9336024" y="3591128"/>
            <a:ext cx="37608"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37608"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25072"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3488"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3343" y="4790606"/>
            <a:ext cx="6268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3343" y="5030502"/>
            <a:ext cx="626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35735" y="5270397"/>
            <a:ext cx="10028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0229" y="5510293"/>
            <a:ext cx="275795"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5 declined.</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3 VS LAST YEAR</a:t>
            </a:r>
            <a:endParaRPr lang="en-US" sz="1500" dirty="0"/>
          </a:p>
        </p:txBody>
      </p:sp>
      <p:sp>
        <p:nvSpPr>
          <p:cNvPr id="9" name="Shape 7"/>
          <p:cNvSpPr/>
          <p:nvPr/>
        </p:nvSpPr>
        <p:spPr>
          <a:xfrm>
            <a:off x="658368" y="1810512"/>
            <a:ext cx="3489960" cy="1478280"/>
          </a:xfrm>
          <a:prstGeom prst="rect">
            <a:avLst/>
          </a:prstGeom>
          <a:solidFill>
            <a:srgbClr val="F7F7F7"/>
          </a:solidFill>
          <a:ln/>
        </p:spPr>
      </p:sp>
      <p:sp>
        <p:nvSpPr>
          <p:cNvPr id="10" name="Shape 8"/>
          <p:cNvSpPr/>
          <p:nvPr/>
        </p:nvSpPr>
        <p:spPr>
          <a:xfrm>
            <a:off x="4084320" y="1847088"/>
            <a:ext cx="64008" cy="1405128"/>
          </a:xfrm>
          <a:prstGeom prst="rect">
            <a:avLst/>
          </a:prstGeom>
          <a:solidFill>
            <a:srgbClr val="12A566"/>
          </a:solidFill>
          <a:ln/>
        </p:spPr>
      </p:sp>
      <p:sp>
        <p:nvSpPr>
          <p:cNvPr id="11" name="Text 9"/>
          <p:cNvSpPr txBox="1"/>
          <p:nvPr/>
        </p:nvSpPr>
        <p:spPr>
          <a:xfrm>
            <a:off x="749808"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12" name="Text 10"/>
          <p:cNvSpPr txBox="1"/>
          <p:nvPr/>
        </p:nvSpPr>
        <p:spPr>
          <a:xfrm>
            <a:off x="1097280"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graphicFrame>
        <p:nvGraphicFramePr>
          <p:cNvPr id="13" name="Chart 0" descr=""/>
          <p:cNvGraphicFramePr/>
          <p:nvPr/>
        </p:nvGraphicFramePr>
        <p:xfrm>
          <a:off x="1097280" y="2697480"/>
          <a:ext cx="1972056" cy="502615"/>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5" name="Text 12"/>
          <p:cNvSpPr txBox="1"/>
          <p:nvPr/>
        </p:nvSpPr>
        <p:spPr>
          <a:xfrm>
            <a:off x="749808"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16" name="Text 13"/>
          <p:cNvSpPr txBox="1"/>
          <p:nvPr/>
        </p:nvSpPr>
        <p:spPr>
          <a:xfrm>
            <a:off x="1097280"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graphicFrame>
        <p:nvGraphicFramePr>
          <p:cNvPr id="17" name="Chart 1" descr=""/>
          <p:cNvGraphicFramePr/>
          <p:nvPr/>
        </p:nvGraphicFramePr>
        <p:xfrm>
          <a:off x="1097280" y="4175760"/>
          <a:ext cx="1972056" cy="502615"/>
        </p:xfrm>
        <a:graphic>
          <a:graphicData uri="http://schemas.openxmlformats.org/drawingml/2006/chart">
            <c:chart xmlns:c="http://schemas.openxmlformats.org/drawingml/2006/chart" r:id="rId3"/>
          </a:graphicData>
        </a:graphic>
      </p:graphicFrame>
      <p:sp>
        <p:nvSpPr>
          <p:cNvPr id="18" name="Text 14"/>
          <p:cNvSpPr txBox="1"/>
          <p:nvPr/>
        </p:nvSpPr>
        <p:spPr>
          <a:xfrm>
            <a:off x="2941320" y="328879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9" name="Shape 15"/>
          <p:cNvSpPr/>
          <p:nvPr/>
        </p:nvSpPr>
        <p:spPr>
          <a:xfrm>
            <a:off x="658368" y="4767072"/>
            <a:ext cx="3489960" cy="1478280"/>
          </a:xfrm>
          <a:prstGeom prst="rect">
            <a:avLst/>
          </a:prstGeom>
          <a:solidFill>
            <a:srgbClr val="F7F7F7"/>
          </a:solidFill>
          <a:ln/>
        </p:spPr>
      </p:sp>
      <p:sp>
        <p:nvSpPr>
          <p:cNvPr id="20" name="Text 16"/>
          <p:cNvSpPr txBox="1"/>
          <p:nvPr/>
        </p:nvSpPr>
        <p:spPr>
          <a:xfrm>
            <a:off x="749808"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21" name="Text 17"/>
          <p:cNvSpPr txBox="1"/>
          <p:nvPr/>
        </p:nvSpPr>
        <p:spPr>
          <a:xfrm>
            <a:off x="1097280"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graphicFrame>
        <p:nvGraphicFramePr>
          <p:cNvPr id="22" name="Chart 2" descr=""/>
          <p:cNvGraphicFramePr/>
          <p:nvPr/>
        </p:nvGraphicFramePr>
        <p:xfrm>
          <a:off x="1097280" y="5654040"/>
          <a:ext cx="1972056" cy="502615"/>
        </p:xfrm>
        <a:graphic>
          <a:graphicData uri="http://schemas.openxmlformats.org/drawingml/2006/chart">
            <c:chart xmlns:c="http://schemas.openxmlformats.org/drawingml/2006/chart" r:id="rId4"/>
          </a:graphicData>
        </a:graphic>
      </p:graphicFrame>
      <p:sp>
        <p:nvSpPr>
          <p:cNvPr id="23" name="Text 18"/>
          <p:cNvSpPr txBox="1"/>
          <p:nvPr/>
        </p:nvSpPr>
        <p:spPr>
          <a:xfrm>
            <a:off x="2941320" y="476707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4" name="Shape 19"/>
          <p:cNvSpPr/>
          <p:nvPr/>
        </p:nvSpPr>
        <p:spPr>
          <a:xfrm>
            <a:off x="4349496" y="1371600"/>
            <a:ext cx="3489960" cy="45720"/>
          </a:xfrm>
          <a:prstGeom prst="rect">
            <a:avLst/>
          </a:prstGeom>
          <a:solidFill>
            <a:srgbClr val="C2352F"/>
          </a:solidFill>
          <a:ln/>
        </p:spPr>
      </p:sp>
      <p:sp>
        <p:nvSpPr>
          <p:cNvPr id="25" name="Text 20"/>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3 VS LAST YEAR</a:t>
            </a:r>
            <a:endParaRPr lang="en-US" sz="1500" dirty="0"/>
          </a:p>
        </p:txBody>
      </p:sp>
      <p:sp>
        <p:nvSpPr>
          <p:cNvPr id="26" name="Shape 21"/>
          <p:cNvSpPr/>
          <p:nvPr/>
        </p:nvSpPr>
        <p:spPr>
          <a:xfrm>
            <a:off x="4349496" y="1810512"/>
            <a:ext cx="3489960" cy="1478280"/>
          </a:xfrm>
          <a:prstGeom prst="rect">
            <a:avLst/>
          </a:prstGeom>
          <a:solidFill>
            <a:srgbClr val="F7F7F7"/>
          </a:solidFill>
          <a:ln/>
        </p:spPr>
      </p:sp>
      <p:sp>
        <p:nvSpPr>
          <p:cNvPr id="27" name="Text 22"/>
          <p:cNvSpPr txBox="1"/>
          <p:nvPr/>
        </p:nvSpPr>
        <p:spPr>
          <a:xfrm>
            <a:off x="4440936"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33</a:t>
            </a:r>
            <a:endParaRPr lang="en-US" sz="2000" dirty="0"/>
          </a:p>
        </p:txBody>
      </p:sp>
      <p:sp>
        <p:nvSpPr>
          <p:cNvPr id="28" name="Text 23"/>
          <p:cNvSpPr txBox="1"/>
          <p:nvPr/>
        </p:nvSpPr>
        <p:spPr>
          <a:xfrm>
            <a:off x="4788408"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graphicFrame>
        <p:nvGraphicFramePr>
          <p:cNvPr id="29" name="Chart 3" descr=""/>
          <p:cNvGraphicFramePr/>
          <p:nvPr/>
        </p:nvGraphicFramePr>
        <p:xfrm>
          <a:off x="4788408" y="2697480"/>
          <a:ext cx="1972056" cy="502615"/>
        </p:xfrm>
        <a:graphic>
          <a:graphicData uri="http://schemas.openxmlformats.org/drawingml/2006/chart">
            <c:chart xmlns:c="http://schemas.openxmlformats.org/drawingml/2006/chart" r:id="rId5"/>
          </a:graphicData>
        </a:graphic>
      </p:graphicFrame>
      <p:sp>
        <p:nvSpPr>
          <p:cNvPr id="30" name="Text 24"/>
          <p:cNvSpPr txBox="1"/>
          <p:nvPr/>
        </p:nvSpPr>
        <p:spPr>
          <a:xfrm>
            <a:off x="6632448" y="181051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−2.2 pts</a:t>
            </a:r>
            <a:endParaRPr lang="en-US" sz="1600" dirty="0"/>
          </a:p>
        </p:txBody>
      </p:sp>
      <p:sp>
        <p:nvSpPr>
          <p:cNvPr id="31" name="Text 25"/>
          <p:cNvSpPr txBox="1"/>
          <p:nvPr/>
        </p:nvSpPr>
        <p:spPr>
          <a:xfrm>
            <a:off x="4440936"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32</a:t>
            </a:r>
            <a:endParaRPr lang="en-US" sz="2000" dirty="0"/>
          </a:p>
        </p:txBody>
      </p:sp>
      <p:sp>
        <p:nvSpPr>
          <p:cNvPr id="32" name="Text 26"/>
          <p:cNvSpPr txBox="1"/>
          <p:nvPr/>
        </p:nvSpPr>
        <p:spPr>
          <a:xfrm>
            <a:off x="4788408"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graphicFrame>
        <p:nvGraphicFramePr>
          <p:cNvPr id="33" name="Chart 4" descr=""/>
          <p:cNvGraphicFramePr/>
          <p:nvPr/>
        </p:nvGraphicFramePr>
        <p:xfrm>
          <a:off x="4788408" y="4175760"/>
          <a:ext cx="1972056" cy="502615"/>
        </p:xfrm>
        <a:graphic>
          <a:graphicData uri="http://schemas.openxmlformats.org/drawingml/2006/chart">
            <c:chart xmlns:c="http://schemas.openxmlformats.org/drawingml/2006/chart" r:id="rId6"/>
          </a:graphicData>
        </a:graphic>
      </p:graphicFrame>
      <p:sp>
        <p:nvSpPr>
          <p:cNvPr id="34" name="Text 27"/>
          <p:cNvSpPr txBox="1"/>
          <p:nvPr/>
        </p:nvSpPr>
        <p:spPr>
          <a:xfrm>
            <a:off x="6632448" y="328879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35" name="Shape 28"/>
          <p:cNvSpPr/>
          <p:nvPr/>
        </p:nvSpPr>
        <p:spPr>
          <a:xfrm>
            <a:off x="4349496" y="4767072"/>
            <a:ext cx="3489960" cy="1478280"/>
          </a:xfrm>
          <a:prstGeom prst="rect">
            <a:avLst/>
          </a:prstGeom>
          <a:solidFill>
            <a:srgbClr val="F7F7F7"/>
          </a:solidFill>
          <a:ln/>
        </p:spPr>
      </p:sp>
      <p:sp>
        <p:nvSpPr>
          <p:cNvPr id="36" name="Text 29"/>
          <p:cNvSpPr txBox="1"/>
          <p:nvPr/>
        </p:nvSpPr>
        <p:spPr>
          <a:xfrm>
            <a:off x="4440936"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31</a:t>
            </a:r>
            <a:endParaRPr lang="en-US" sz="2000" dirty="0"/>
          </a:p>
        </p:txBody>
      </p:sp>
      <p:sp>
        <p:nvSpPr>
          <p:cNvPr id="37" name="Text 30"/>
          <p:cNvSpPr txBox="1"/>
          <p:nvPr/>
        </p:nvSpPr>
        <p:spPr>
          <a:xfrm>
            <a:off x="4788408"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graphicFrame>
        <p:nvGraphicFramePr>
          <p:cNvPr id="38" name="Chart 5" descr=""/>
          <p:cNvGraphicFramePr/>
          <p:nvPr/>
        </p:nvGraphicFramePr>
        <p:xfrm>
          <a:off x="4788408" y="5654040"/>
          <a:ext cx="1972056" cy="502615"/>
        </p:xfrm>
        <a:graphic>
          <a:graphicData uri="http://schemas.openxmlformats.org/drawingml/2006/chart">
            <c:chart xmlns:c="http://schemas.openxmlformats.org/drawingml/2006/chart" r:id="rId7"/>
          </a:graphicData>
        </a:graphic>
      </p:graphicFrame>
      <p:sp>
        <p:nvSpPr>
          <p:cNvPr id="39" name="Text 31"/>
          <p:cNvSpPr txBox="1"/>
          <p:nvPr/>
        </p:nvSpPr>
        <p:spPr>
          <a:xfrm>
            <a:off x="6632448" y="476707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0" name="Shape 32"/>
          <p:cNvSpPr/>
          <p:nvPr/>
        </p:nvSpPr>
        <p:spPr>
          <a:xfrm>
            <a:off x="8040624" y="1371600"/>
            <a:ext cx="3489960" cy="45720"/>
          </a:xfrm>
          <a:prstGeom prst="rect">
            <a:avLst/>
          </a:prstGeom>
          <a:solidFill>
            <a:srgbClr val="2587C5"/>
          </a:solidFill>
          <a:ln/>
        </p:spPr>
      </p:sp>
      <p:sp>
        <p:nvSpPr>
          <p:cNvPr id="41" name="Text 33"/>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3 MOVING NOW</a:t>
            </a:r>
            <a:endParaRPr lang="en-US" sz="1500" dirty="0"/>
          </a:p>
        </p:txBody>
      </p:sp>
      <p:sp>
        <p:nvSpPr>
          <p:cNvPr id="42" name="Shape 34"/>
          <p:cNvSpPr/>
          <p:nvPr/>
        </p:nvSpPr>
        <p:spPr>
          <a:xfrm>
            <a:off x="8040624" y="1810512"/>
            <a:ext cx="3489960" cy="1478280"/>
          </a:xfrm>
          <a:prstGeom prst="rect">
            <a:avLst/>
          </a:prstGeom>
          <a:solidFill>
            <a:srgbClr val="F7F7F7"/>
          </a:solidFill>
          <a:ln/>
        </p:spPr>
      </p:sp>
      <p:sp>
        <p:nvSpPr>
          <p:cNvPr id="43" name="Shape 35"/>
          <p:cNvSpPr/>
          <p:nvPr/>
        </p:nvSpPr>
        <p:spPr>
          <a:xfrm>
            <a:off x="11466576" y="1847088"/>
            <a:ext cx="64008" cy="1405128"/>
          </a:xfrm>
          <a:prstGeom prst="rect">
            <a:avLst/>
          </a:prstGeom>
          <a:solidFill>
            <a:srgbClr val="12A566"/>
          </a:solidFill>
          <a:ln/>
        </p:spPr>
      </p:sp>
      <p:sp>
        <p:nvSpPr>
          <p:cNvPr id="44" name="Text 36"/>
          <p:cNvSpPr txBox="1"/>
          <p:nvPr/>
        </p:nvSpPr>
        <p:spPr>
          <a:xfrm>
            <a:off x="8132064"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45" name="Text 37"/>
          <p:cNvSpPr txBox="1"/>
          <p:nvPr/>
        </p:nvSpPr>
        <p:spPr>
          <a:xfrm>
            <a:off x="8479536"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46" name="Chart 6" descr=""/>
          <p:cNvGraphicFramePr/>
          <p:nvPr/>
        </p:nvGraphicFramePr>
        <p:xfrm>
          <a:off x="8479536" y="2697480"/>
          <a:ext cx="1972056" cy="502615"/>
        </p:xfrm>
        <a:graphic>
          <a:graphicData uri="http://schemas.openxmlformats.org/drawingml/2006/chart">
            <c:chart xmlns:c="http://schemas.openxmlformats.org/drawingml/2006/chart" r:id="rId8"/>
          </a:graphicData>
        </a:graphic>
      </p:graphicFrame>
      <p:graphicFrame>
        <p:nvGraphicFramePr>
          <p:cNvPr id="47" name="Chart 7" descr=""/>
          <p:cNvGraphicFramePr/>
          <p:nvPr/>
        </p:nvGraphicFramePr>
        <p:xfrm>
          <a:off x="8479536" y="2697480"/>
          <a:ext cx="1972056" cy="502615"/>
        </p:xfrm>
        <a:graphic>
          <a:graphicData uri="http://schemas.openxmlformats.org/drawingml/2006/chart">
            <c:chart xmlns:c="http://schemas.openxmlformats.org/drawingml/2006/chart" r:id="rId9"/>
          </a:graphicData>
        </a:graphic>
      </p:graphicFrame>
      <p:sp>
        <p:nvSpPr>
          <p:cNvPr id="48" name="Text 38"/>
          <p:cNvSpPr txBox="1"/>
          <p:nvPr/>
        </p:nvSpPr>
        <p:spPr>
          <a:xfrm>
            <a:off x="10323576" y="181051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49" name="Text 39"/>
          <p:cNvSpPr txBox="1"/>
          <p:nvPr/>
        </p:nvSpPr>
        <p:spPr>
          <a:xfrm>
            <a:off x="8132064"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50" name="Text 40"/>
          <p:cNvSpPr txBox="1"/>
          <p:nvPr/>
        </p:nvSpPr>
        <p:spPr>
          <a:xfrm>
            <a:off x="8479536"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51" name="Chart 8" descr=""/>
          <p:cNvGraphicFramePr/>
          <p:nvPr/>
        </p:nvGraphicFramePr>
        <p:xfrm>
          <a:off x="8479536" y="4175760"/>
          <a:ext cx="1972056" cy="502615"/>
        </p:xfrm>
        <a:graphic>
          <a:graphicData uri="http://schemas.openxmlformats.org/drawingml/2006/chart">
            <c:chart xmlns:c="http://schemas.openxmlformats.org/drawingml/2006/chart" r:id="rId10"/>
          </a:graphicData>
        </a:graphic>
      </p:graphicFrame>
      <p:graphicFrame>
        <p:nvGraphicFramePr>
          <p:cNvPr id="52" name="Chart 9" descr=""/>
          <p:cNvGraphicFramePr/>
          <p:nvPr/>
        </p:nvGraphicFramePr>
        <p:xfrm>
          <a:off x="8479536" y="4175760"/>
          <a:ext cx="1972056" cy="502615"/>
        </p:xfrm>
        <a:graphic>
          <a:graphicData uri="http://schemas.openxmlformats.org/drawingml/2006/chart">
            <c:chart xmlns:c="http://schemas.openxmlformats.org/drawingml/2006/chart" r:id="rId11"/>
          </a:graphicData>
        </a:graphic>
      </p:graphicFrame>
      <p:sp>
        <p:nvSpPr>
          <p:cNvPr id="53" name="Text 41"/>
          <p:cNvSpPr txBox="1"/>
          <p:nvPr/>
        </p:nvSpPr>
        <p:spPr>
          <a:xfrm>
            <a:off x="10323576" y="328879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54" name="Shape 42"/>
          <p:cNvSpPr/>
          <p:nvPr/>
        </p:nvSpPr>
        <p:spPr>
          <a:xfrm>
            <a:off x="8040624" y="4767072"/>
            <a:ext cx="3489960" cy="1478280"/>
          </a:xfrm>
          <a:prstGeom prst="rect">
            <a:avLst/>
          </a:prstGeom>
          <a:solidFill>
            <a:srgbClr val="F7F7F7"/>
          </a:solidFill>
          <a:ln/>
        </p:spPr>
      </p:sp>
      <p:sp>
        <p:nvSpPr>
          <p:cNvPr id="55" name="Text 43"/>
          <p:cNvSpPr txBox="1"/>
          <p:nvPr/>
        </p:nvSpPr>
        <p:spPr>
          <a:xfrm>
            <a:off x="8132064"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56" name="Text 44"/>
          <p:cNvSpPr txBox="1"/>
          <p:nvPr/>
        </p:nvSpPr>
        <p:spPr>
          <a:xfrm>
            <a:off x="8479536"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57" name="Chart 10" descr=""/>
          <p:cNvGraphicFramePr/>
          <p:nvPr/>
        </p:nvGraphicFramePr>
        <p:xfrm>
          <a:off x="8479536" y="5654040"/>
          <a:ext cx="1972056" cy="502615"/>
        </p:xfrm>
        <a:graphic>
          <a:graphicData uri="http://schemas.openxmlformats.org/drawingml/2006/chart">
            <c:chart xmlns:c="http://schemas.openxmlformats.org/drawingml/2006/chart" r:id="rId12"/>
          </a:graphicData>
        </a:graphic>
      </p:graphicFrame>
      <p:graphicFrame>
        <p:nvGraphicFramePr>
          <p:cNvPr id="58" name="Chart 11" descr=""/>
          <p:cNvGraphicFramePr/>
          <p:nvPr/>
        </p:nvGraphicFramePr>
        <p:xfrm>
          <a:off x="8479536" y="5654040"/>
          <a:ext cx="1972056" cy="502615"/>
        </p:xfrm>
        <a:graphic>
          <a:graphicData uri="http://schemas.openxmlformats.org/drawingml/2006/chart">
            <c:chart xmlns:c="http://schemas.openxmlformats.org/drawingml/2006/chart" r:id="rId13"/>
          </a:graphicData>
        </a:graphic>
      </p:graphicFrame>
      <p:sp>
        <p:nvSpPr>
          <p:cNvPr id="59" name="Text 45"/>
          <p:cNvSpPr txBox="1"/>
          <p:nvPr/>
        </p:nvSpPr>
        <p:spPr>
          <a:xfrm>
            <a:off x="10323576" y="476707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1.3-1.4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0.8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 and the Fixed Ops DOC</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11252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57.8%</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Video completion, July to September (store-reported). 17 of 33 stores at or above the group.</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Photo completion, July to September. 11 of the 28 stores that report it at or above the group.</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17 of 33 stores at or above the 57.8% group.</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9" name="Shape 156"/>
          <p:cNvSpPr/>
          <p:nvPr/>
        </p:nvSpPr>
        <p:spPr>
          <a:xfrm>
            <a:off x="457200" y="6126480"/>
            <a:ext cx="11274552" cy="371856"/>
          </a:xfrm>
          <a:prstGeom prst="rect">
            <a:avLst/>
          </a:prstGeom>
          <a:solidFill>
            <a:srgbClr val="EDF4FA"/>
          </a:solidFill>
          <a:ln/>
        </p:spPr>
      </p:sp>
      <p:sp>
        <p:nvSpPr>
          <p:cNvPr id="160" name="Text 15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11 of 28 stores at or above the 45.3% group.</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1.3-1.4 pts and beat 2025 every month. Balance is furthest off, at 8.3%: 18,493 short of 15%.</a:t>
            </a:r>
            <a:endParaRPr lang="en-US" sz="145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13.2%, ahead of 2025 in all nine months, but 1.8 pts under the 15% benchmark — 4,821 alignments short.</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The group sits at 13.2%.</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101770"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52178"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107256" y="1756697"/>
            <a:ext cx="23944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+$171K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+1,422</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20" name="Text 18"/>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107256" y="2005199"/>
            <a:ext cx="171145" cy="136676"/>
          </a:xfrm>
          <a:prstGeom prst="rect">
            <a:avLst/>
          </a:prstGeom>
          <a:solidFill>
            <a:srgbClr val="12A566"/>
          </a:solidFill>
          <a:ln/>
        </p:spPr>
      </p:sp>
      <p:sp>
        <p:nvSpPr>
          <p:cNvPr id="23" name="Text 21"/>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+$123K</a:t>
            </a:r>
            <a:endParaRPr lang="en-US" sz="1300" dirty="0"/>
          </a:p>
        </p:txBody>
      </p:sp>
      <p:sp>
        <p:nvSpPr>
          <p:cNvPr id="24" name="Text 22"/>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+473</a:t>
            </a:r>
            <a:endParaRPr lang="en-US" sz="1300" dirty="0"/>
          </a:p>
        </p:txBody>
      </p:sp>
      <p:sp>
        <p:nvSpPr>
          <p:cNvPr id="25" name="Text 23"/>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6" name="Shape 24"/>
          <p:cNvSpPr/>
          <p:nvPr/>
        </p:nvSpPr>
        <p:spPr>
          <a:xfrm>
            <a:off x="5971032" y="1995006"/>
            <a:ext cx="54864" cy="157062"/>
          </a:xfrm>
          <a:prstGeom prst="rect">
            <a:avLst/>
          </a:prstGeom>
          <a:solidFill>
            <a:srgbClr val="12A566"/>
          </a:solidFill>
          <a:ln/>
        </p:spPr>
      </p:sp>
      <p:sp>
        <p:nvSpPr>
          <p:cNvPr id="27" name="Text 25"/>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107256" y="2253700"/>
            <a:ext cx="43486" cy="136676"/>
          </a:xfrm>
          <a:prstGeom prst="rect">
            <a:avLst/>
          </a:prstGeom>
          <a:solidFill>
            <a:srgbClr val="12A566"/>
          </a:solidFill>
          <a:ln/>
        </p:spPr>
      </p:sp>
      <p:sp>
        <p:nvSpPr>
          <p:cNvPr id="30" name="Text 28"/>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1" name="Text 29"/>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32" name="Text 30"/>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33" name="Shape 31"/>
          <p:cNvSpPr/>
          <p:nvPr/>
        </p:nvSpPr>
        <p:spPr>
          <a:xfrm>
            <a:off x="5971032" y="2243507"/>
            <a:ext cx="54864" cy="157062"/>
          </a:xfrm>
          <a:prstGeom prst="rect">
            <a:avLst/>
          </a:prstGeom>
          <a:solidFill>
            <a:srgbClr val="12A566"/>
          </a:solidFill>
          <a:ln/>
        </p:spPr>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107256" y="2502202"/>
            <a:ext cx="42955"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3" name="Shape 41"/>
          <p:cNvSpPr/>
          <p:nvPr/>
        </p:nvSpPr>
        <p:spPr>
          <a:xfrm>
            <a:off x="3107256" y="2750703"/>
            <a:ext cx="28061"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107256" y="2999205"/>
            <a:ext cx="24562"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5" name="Shape 53"/>
          <p:cNvSpPr/>
          <p:nvPr/>
        </p:nvSpPr>
        <p:spPr>
          <a:xfrm>
            <a:off x="3107256"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107256" y="3496208"/>
            <a:ext cx="18288"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7" name="Shape 65"/>
          <p:cNvSpPr/>
          <p:nvPr/>
        </p:nvSpPr>
        <p:spPr>
          <a:xfrm>
            <a:off x="3106350"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−$649</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99652" y="3993212"/>
            <a:ext cx="18288"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9" name="Shape 77"/>
          <p:cNvSpPr/>
          <p:nvPr/>
        </p:nvSpPr>
        <p:spPr>
          <a:xfrm>
            <a:off x="3097689" y="4241713"/>
            <a:ext cx="1828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3097021" y="4490215"/>
            <a:ext cx="18288"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1" name="Shape 89"/>
          <p:cNvSpPr/>
          <p:nvPr/>
        </p:nvSpPr>
        <p:spPr>
          <a:xfrm>
            <a:off x="3096351"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7" name="Shape 95"/>
          <p:cNvSpPr/>
          <p:nvPr/>
        </p:nvSpPr>
        <p:spPr>
          <a:xfrm>
            <a:off x="3095214"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3" name="Shape 101"/>
          <p:cNvSpPr/>
          <p:nvPr/>
        </p:nvSpPr>
        <p:spPr>
          <a:xfrm>
            <a:off x="3094596"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88641" y="5484222"/>
            <a:ext cx="186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13" name="Shape 111"/>
          <p:cNvSpPr/>
          <p:nvPr/>
        </p:nvSpPr>
        <p:spPr>
          <a:xfrm>
            <a:off x="5971032" y="5474029"/>
            <a:ext cx="54864" cy="157062"/>
          </a:xfrm>
          <a:prstGeom prst="rect">
            <a:avLst/>
          </a:prstGeom>
          <a:solidFill>
            <a:srgbClr val="C2352F"/>
          </a:solidFill>
          <a:ln/>
        </p:spPr>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3085312" y="5732723"/>
            <a:ext cx="2194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2" name="Shape 120"/>
          <p:cNvSpPr/>
          <p:nvPr/>
        </p:nvSpPr>
        <p:spPr>
          <a:xfrm>
            <a:off x="8633950" y="1756697"/>
            <a:ext cx="23714"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−218</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8" name="Shape 126"/>
          <p:cNvSpPr/>
          <p:nvPr/>
        </p:nvSpPr>
        <p:spPr>
          <a:xfrm>
            <a:off x="8633099" y="2005199"/>
            <a:ext cx="24565"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4" name="Shape 132"/>
          <p:cNvSpPr/>
          <p:nvPr/>
        </p:nvSpPr>
        <p:spPr>
          <a:xfrm>
            <a:off x="8631100" y="2253700"/>
            <a:ext cx="26564"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38" name="Text 13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9" name="Text 137"/>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630107" y="2502202"/>
            <a:ext cx="27557" cy="136676"/>
          </a:xfrm>
          <a:prstGeom prst="rect">
            <a:avLst/>
          </a:prstGeom>
          <a:solidFill>
            <a:srgbClr val="C2352F"/>
          </a:solidFill>
          <a:ln/>
        </p:spPr>
      </p:sp>
      <p:sp>
        <p:nvSpPr>
          <p:cNvPr id="141" name="Text 139"/>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2" name="Text 140"/>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143" name="Text 141"/>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44" name="Text 14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5" name="Text 143"/>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6" name="Shape 144"/>
          <p:cNvSpPr/>
          <p:nvPr/>
        </p:nvSpPr>
        <p:spPr>
          <a:xfrm>
            <a:off x="8623463" y="2750703"/>
            <a:ext cx="34202" cy="136676"/>
          </a:xfrm>
          <a:prstGeom prst="rect">
            <a:avLst/>
          </a:prstGeom>
          <a:solidFill>
            <a:srgbClr val="C2352F"/>
          </a:solidFill>
          <a:ln/>
        </p:spPr>
      </p:sp>
      <p:sp>
        <p:nvSpPr>
          <p:cNvPr id="147" name="Text 145"/>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8" name="Text 146"/>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49" name="Text 147"/>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50" name="Text 148"/>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1" name="Text 149"/>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2" name="Shape 150"/>
          <p:cNvSpPr/>
          <p:nvPr/>
        </p:nvSpPr>
        <p:spPr>
          <a:xfrm>
            <a:off x="8622934" y="2999205"/>
            <a:ext cx="34730" cy="136676"/>
          </a:xfrm>
          <a:prstGeom prst="rect">
            <a:avLst/>
          </a:prstGeom>
          <a:solidFill>
            <a:srgbClr val="C2352F"/>
          </a:solidFill>
          <a:ln/>
        </p:spPr>
      </p:sp>
      <p:sp>
        <p:nvSpPr>
          <p:cNvPr id="153" name="Text 151"/>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54" name="Text 152"/>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55" name="Text 153"/>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56" name="Text 154"/>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7" name="Text 155"/>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8" name="Shape 156"/>
          <p:cNvSpPr/>
          <p:nvPr/>
        </p:nvSpPr>
        <p:spPr>
          <a:xfrm>
            <a:off x="8621687" y="3247707"/>
            <a:ext cx="35977" cy="136676"/>
          </a:xfrm>
          <a:prstGeom prst="rect">
            <a:avLst/>
          </a:prstGeom>
          <a:solidFill>
            <a:srgbClr val="C2352F"/>
          </a:solidFill>
          <a:ln/>
        </p:spPr>
      </p:sp>
      <p:sp>
        <p:nvSpPr>
          <p:cNvPr id="159" name="Text 157"/>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60" name="Text 158"/>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61" name="Text 15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62" name="Text 16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3" name="Text 161"/>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4" name="Shape 162"/>
          <p:cNvSpPr/>
          <p:nvPr/>
        </p:nvSpPr>
        <p:spPr>
          <a:xfrm>
            <a:off x="8619605" y="3496208"/>
            <a:ext cx="38059" cy="136676"/>
          </a:xfrm>
          <a:prstGeom prst="rect">
            <a:avLst/>
          </a:prstGeom>
          <a:solidFill>
            <a:srgbClr val="C2352F"/>
          </a:solidFill>
          <a:ln/>
        </p:spPr>
      </p:sp>
      <p:sp>
        <p:nvSpPr>
          <p:cNvPr id="165" name="Text 163"/>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66" name="Text 164"/>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7" name="Text 165"/>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68" name="Text 16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9" name="Text 167"/>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617628" y="3744710"/>
            <a:ext cx="40036" cy="136676"/>
          </a:xfrm>
          <a:prstGeom prst="rect">
            <a:avLst/>
          </a:prstGeom>
          <a:solidFill>
            <a:srgbClr val="C2352F"/>
          </a:solidFill>
          <a:ln/>
        </p:spPr>
      </p:sp>
      <p:sp>
        <p:nvSpPr>
          <p:cNvPr id="171" name="Text 169"/>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72" name="Text 170"/>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3" name="Text 171"/>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4" name="Text 17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5" name="Text 173"/>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6" name="Shape 174"/>
          <p:cNvSpPr/>
          <p:nvPr/>
        </p:nvSpPr>
        <p:spPr>
          <a:xfrm>
            <a:off x="8605923" y="3993212"/>
            <a:ext cx="51741" cy="136676"/>
          </a:xfrm>
          <a:prstGeom prst="rect">
            <a:avLst/>
          </a:prstGeom>
          <a:solidFill>
            <a:srgbClr val="C2352F"/>
          </a:solidFill>
          <a:ln/>
        </p:spPr>
      </p:sp>
      <p:sp>
        <p:nvSpPr>
          <p:cNvPr id="177" name="Text 175"/>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−$37K</a:t>
            </a:r>
            <a:endParaRPr lang="en-US" sz="1300" dirty="0"/>
          </a:p>
        </p:txBody>
      </p:sp>
      <p:sp>
        <p:nvSpPr>
          <p:cNvPr id="178" name="Text 176"/>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−359</a:t>
            </a:r>
            <a:endParaRPr lang="en-US" sz="1300" dirty="0"/>
          </a:p>
        </p:txBody>
      </p:sp>
      <p:sp>
        <p:nvSpPr>
          <p:cNvPr id="179" name="Text 177"/>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80" name="Text 17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1" name="Text 179"/>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2" name="Shape 180"/>
          <p:cNvSpPr/>
          <p:nvPr/>
        </p:nvSpPr>
        <p:spPr>
          <a:xfrm>
            <a:off x="8597779" y="4241713"/>
            <a:ext cx="59885" cy="136676"/>
          </a:xfrm>
          <a:prstGeom prst="rect">
            <a:avLst/>
          </a:prstGeom>
          <a:solidFill>
            <a:srgbClr val="C2352F"/>
          </a:solidFill>
          <a:ln/>
        </p:spPr>
      </p:sp>
      <p:sp>
        <p:nvSpPr>
          <p:cNvPr id="183" name="Text 181"/>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4" name="Text 182"/>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185" name="Text 183"/>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86" name="Shape 184"/>
          <p:cNvSpPr/>
          <p:nvPr/>
        </p:nvSpPr>
        <p:spPr>
          <a:xfrm>
            <a:off x="11521440" y="4231520"/>
            <a:ext cx="54864" cy="157062"/>
          </a:xfrm>
          <a:prstGeom prst="rect">
            <a:avLst/>
          </a:prstGeom>
          <a:solidFill>
            <a:srgbClr val="C2352F"/>
          </a:solidFill>
          <a:ln/>
        </p:spPr>
      </p:sp>
      <p:sp>
        <p:nvSpPr>
          <p:cNvPr id="187" name="Text 185"/>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8" name="Text 186"/>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9" name="Shape 187"/>
          <p:cNvSpPr/>
          <p:nvPr/>
        </p:nvSpPr>
        <p:spPr>
          <a:xfrm>
            <a:off x="8578602" y="4490215"/>
            <a:ext cx="79062" cy="136676"/>
          </a:xfrm>
          <a:prstGeom prst="rect">
            <a:avLst/>
          </a:prstGeom>
          <a:solidFill>
            <a:srgbClr val="C2352F"/>
          </a:solidFill>
          <a:ln/>
        </p:spPr>
      </p:sp>
      <p:sp>
        <p:nvSpPr>
          <p:cNvPr id="190" name="Text 188"/>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1" name="Text 189"/>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92" name="Text 190"/>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93" name="Text 191"/>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4" name="Text 192"/>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5" name="Shape 193"/>
          <p:cNvSpPr/>
          <p:nvPr/>
        </p:nvSpPr>
        <p:spPr>
          <a:xfrm>
            <a:off x="8577212" y="4738717"/>
            <a:ext cx="80452" cy="136676"/>
          </a:xfrm>
          <a:prstGeom prst="rect">
            <a:avLst/>
          </a:prstGeom>
          <a:solidFill>
            <a:srgbClr val="C2352F"/>
          </a:solidFill>
          <a:ln/>
        </p:spPr>
      </p:sp>
      <p:sp>
        <p:nvSpPr>
          <p:cNvPr id="196" name="Text 194"/>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97" name="Text 195"/>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98" name="Text 196"/>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01" name="Shape 199"/>
          <p:cNvSpPr/>
          <p:nvPr/>
        </p:nvSpPr>
        <p:spPr>
          <a:xfrm>
            <a:off x="8570575" y="4987218"/>
            <a:ext cx="87089"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−525</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05" name="Text 203"/>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6" name="Text 204"/>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7" name="Shape 205"/>
          <p:cNvSpPr/>
          <p:nvPr/>
        </p:nvSpPr>
        <p:spPr>
          <a:xfrm>
            <a:off x="8563419" y="5235720"/>
            <a:ext cx="94245" cy="136676"/>
          </a:xfrm>
          <a:prstGeom prst="rect">
            <a:avLst/>
          </a:prstGeom>
          <a:solidFill>
            <a:srgbClr val="C2352F"/>
          </a:solidFill>
          <a:ln/>
        </p:spPr>
      </p:sp>
      <p:sp>
        <p:nvSpPr>
          <p:cNvPr id="208" name="Text 206"/>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209" name="Text 207"/>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−799</a:t>
            </a:r>
            <a:endParaRPr lang="en-US" sz="1300" dirty="0"/>
          </a:p>
        </p:txBody>
      </p:sp>
      <p:sp>
        <p:nvSpPr>
          <p:cNvPr id="210" name="Text 208"/>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236040" cy="136676"/>
          </a:xfrm>
          <a:prstGeom prst="rect">
            <a:avLst/>
          </a:prstGeom>
          <a:solidFill>
            <a:srgbClr val="C2352F"/>
          </a:solidFill>
          <a:ln/>
        </p:spPr>
      </p:sp>
      <p:sp>
        <p:nvSpPr>
          <p:cNvPr id="214" name="Text 212"/>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−$169K</a:t>
            </a:r>
            <a:endParaRPr lang="en-US" sz="1300" dirty="0"/>
          </a:p>
        </p:txBody>
      </p:sp>
      <p:sp>
        <p:nvSpPr>
          <p:cNvPr id="215" name="Text 213"/>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−1,867</a:t>
            </a:r>
            <a:endParaRPr lang="en-US" sz="1300" dirty="0"/>
          </a:p>
        </p:txBody>
      </p:sp>
      <p:sp>
        <p:nvSpPr>
          <p:cNvPr id="216" name="Text 21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 stores under 15% have left $771,957 so far this year; 8 are at or above it.</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3 VS LAST YEAR</a:t>
            </a:r>
            <a:endParaRPr lang="en-US" sz="1500" dirty="0"/>
          </a:p>
        </p:txBody>
      </p:sp>
      <p:sp>
        <p:nvSpPr>
          <p:cNvPr id="9" name="Shape 7"/>
          <p:cNvSpPr/>
          <p:nvPr/>
        </p:nvSpPr>
        <p:spPr>
          <a:xfrm>
            <a:off x="658368" y="1810512"/>
            <a:ext cx="3489960" cy="1478280"/>
          </a:xfrm>
          <a:prstGeom prst="rect">
            <a:avLst/>
          </a:prstGeom>
          <a:solidFill>
            <a:srgbClr val="F7F7F7"/>
          </a:solidFill>
          <a:ln/>
        </p:spPr>
      </p:sp>
      <p:sp>
        <p:nvSpPr>
          <p:cNvPr id="10" name="Text 8"/>
          <p:cNvSpPr txBox="1"/>
          <p:nvPr/>
        </p:nvSpPr>
        <p:spPr>
          <a:xfrm>
            <a:off x="749808"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11" name="Text 9"/>
          <p:cNvSpPr txBox="1"/>
          <p:nvPr/>
        </p:nvSpPr>
        <p:spPr>
          <a:xfrm>
            <a:off x="1097280"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graphicFrame>
        <p:nvGraphicFramePr>
          <p:cNvPr id="12" name="Chart 0" descr=""/>
          <p:cNvGraphicFramePr/>
          <p:nvPr/>
        </p:nvGraphicFramePr>
        <p:xfrm>
          <a:off x="1097280" y="2697480"/>
          <a:ext cx="1972056" cy="502615"/>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4" name="Text 11"/>
          <p:cNvSpPr txBox="1"/>
          <p:nvPr/>
        </p:nvSpPr>
        <p:spPr>
          <a:xfrm>
            <a:off x="749808"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15" name="Text 12"/>
          <p:cNvSpPr txBox="1"/>
          <p:nvPr/>
        </p:nvSpPr>
        <p:spPr>
          <a:xfrm>
            <a:off x="1097280"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graphicFrame>
        <p:nvGraphicFramePr>
          <p:cNvPr id="16" name="Chart 1" descr=""/>
          <p:cNvGraphicFramePr/>
          <p:nvPr/>
        </p:nvGraphicFramePr>
        <p:xfrm>
          <a:off x="1097280" y="4175760"/>
          <a:ext cx="1972056" cy="502615"/>
        </p:xfrm>
        <a:graphic>
          <a:graphicData uri="http://schemas.openxmlformats.org/drawingml/2006/chart">
            <c:chart xmlns:c="http://schemas.openxmlformats.org/drawingml/2006/chart" r:id="rId3"/>
          </a:graphicData>
        </a:graphic>
      </p:graphicFrame>
      <p:sp>
        <p:nvSpPr>
          <p:cNvPr id="17" name="Text 13"/>
          <p:cNvSpPr txBox="1"/>
          <p:nvPr/>
        </p:nvSpPr>
        <p:spPr>
          <a:xfrm>
            <a:off x="2941320" y="328879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8" name="Shape 14"/>
          <p:cNvSpPr/>
          <p:nvPr/>
        </p:nvSpPr>
        <p:spPr>
          <a:xfrm>
            <a:off x="658368" y="4767072"/>
            <a:ext cx="3489960" cy="1478280"/>
          </a:xfrm>
          <a:prstGeom prst="rect">
            <a:avLst/>
          </a:prstGeom>
          <a:solidFill>
            <a:srgbClr val="F7F7F7"/>
          </a:solidFill>
          <a:ln/>
        </p:spPr>
      </p:sp>
      <p:sp>
        <p:nvSpPr>
          <p:cNvPr id="19" name="Text 15"/>
          <p:cNvSpPr txBox="1"/>
          <p:nvPr/>
        </p:nvSpPr>
        <p:spPr>
          <a:xfrm>
            <a:off x="749808"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20" name="Text 16"/>
          <p:cNvSpPr txBox="1"/>
          <p:nvPr/>
        </p:nvSpPr>
        <p:spPr>
          <a:xfrm>
            <a:off x="1097280"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21" name="Chart 2" descr=""/>
          <p:cNvGraphicFramePr/>
          <p:nvPr/>
        </p:nvGraphicFramePr>
        <p:xfrm>
          <a:off x="1097280" y="5654040"/>
          <a:ext cx="1972056" cy="502615"/>
        </p:xfrm>
        <a:graphic>
          <a:graphicData uri="http://schemas.openxmlformats.org/drawingml/2006/chart">
            <c:chart xmlns:c="http://schemas.openxmlformats.org/drawingml/2006/chart" r:id="rId4"/>
          </a:graphicData>
        </a:graphic>
      </p:graphicFrame>
      <p:sp>
        <p:nvSpPr>
          <p:cNvPr id="22" name="Text 17"/>
          <p:cNvSpPr txBox="1"/>
          <p:nvPr/>
        </p:nvSpPr>
        <p:spPr>
          <a:xfrm>
            <a:off x="2941320" y="476707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3" name="Shape 18"/>
          <p:cNvSpPr/>
          <p:nvPr/>
        </p:nvSpPr>
        <p:spPr>
          <a:xfrm>
            <a:off x="4349496" y="1371600"/>
            <a:ext cx="3489960" cy="45720"/>
          </a:xfrm>
          <a:prstGeom prst="rect">
            <a:avLst/>
          </a:prstGeom>
          <a:solidFill>
            <a:srgbClr val="C2352F"/>
          </a:solidFill>
          <a:ln/>
        </p:spPr>
      </p:sp>
      <p:sp>
        <p:nvSpPr>
          <p:cNvPr id="24" name="Text 1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3 VS LAST YEAR</a:t>
            </a:r>
            <a:endParaRPr lang="en-US" sz="1500" dirty="0"/>
          </a:p>
        </p:txBody>
      </p:sp>
      <p:sp>
        <p:nvSpPr>
          <p:cNvPr id="25" name="Shape 20"/>
          <p:cNvSpPr/>
          <p:nvPr/>
        </p:nvSpPr>
        <p:spPr>
          <a:xfrm>
            <a:off x="4349496" y="1810512"/>
            <a:ext cx="3489960" cy="1478280"/>
          </a:xfrm>
          <a:prstGeom prst="rect">
            <a:avLst/>
          </a:prstGeom>
          <a:solidFill>
            <a:srgbClr val="F7F7F7"/>
          </a:solidFill>
          <a:ln/>
        </p:spPr>
      </p:sp>
      <p:sp>
        <p:nvSpPr>
          <p:cNvPr id="26" name="Text 21"/>
          <p:cNvSpPr txBox="1"/>
          <p:nvPr/>
        </p:nvSpPr>
        <p:spPr>
          <a:xfrm>
            <a:off x="4440936"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33</a:t>
            </a:r>
            <a:endParaRPr lang="en-US" sz="2000" dirty="0"/>
          </a:p>
        </p:txBody>
      </p:sp>
      <p:sp>
        <p:nvSpPr>
          <p:cNvPr id="27" name="Text 22"/>
          <p:cNvSpPr txBox="1"/>
          <p:nvPr/>
        </p:nvSpPr>
        <p:spPr>
          <a:xfrm>
            <a:off x="4788408"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graphicFrame>
        <p:nvGraphicFramePr>
          <p:cNvPr id="28" name="Chart 3" descr=""/>
          <p:cNvGraphicFramePr/>
          <p:nvPr/>
        </p:nvGraphicFramePr>
        <p:xfrm>
          <a:off x="4788408" y="2697480"/>
          <a:ext cx="1972056" cy="502615"/>
        </p:xfrm>
        <a:graphic>
          <a:graphicData uri="http://schemas.openxmlformats.org/drawingml/2006/chart">
            <c:chart xmlns:c="http://schemas.openxmlformats.org/drawingml/2006/chart" r:id="rId5"/>
          </a:graphicData>
        </a:graphic>
      </p:graphicFrame>
      <p:sp>
        <p:nvSpPr>
          <p:cNvPr id="29" name="Text 23"/>
          <p:cNvSpPr txBox="1"/>
          <p:nvPr/>
        </p:nvSpPr>
        <p:spPr>
          <a:xfrm>
            <a:off x="6632448" y="181051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0" name="Text 24"/>
          <p:cNvSpPr txBox="1"/>
          <p:nvPr/>
        </p:nvSpPr>
        <p:spPr>
          <a:xfrm>
            <a:off x="4440936"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32</a:t>
            </a:r>
            <a:endParaRPr lang="en-US" sz="2000" dirty="0"/>
          </a:p>
        </p:txBody>
      </p:sp>
      <p:sp>
        <p:nvSpPr>
          <p:cNvPr id="31" name="Text 25"/>
          <p:cNvSpPr txBox="1"/>
          <p:nvPr/>
        </p:nvSpPr>
        <p:spPr>
          <a:xfrm>
            <a:off x="4788408"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graphicFrame>
        <p:nvGraphicFramePr>
          <p:cNvPr id="32" name="Chart 4" descr=""/>
          <p:cNvGraphicFramePr/>
          <p:nvPr/>
        </p:nvGraphicFramePr>
        <p:xfrm>
          <a:off x="4788408" y="4175760"/>
          <a:ext cx="1972056" cy="502615"/>
        </p:xfrm>
        <a:graphic>
          <a:graphicData uri="http://schemas.openxmlformats.org/drawingml/2006/chart">
            <c:chart xmlns:c="http://schemas.openxmlformats.org/drawingml/2006/chart" r:id="rId6"/>
          </a:graphicData>
        </a:graphic>
      </p:graphicFrame>
      <p:sp>
        <p:nvSpPr>
          <p:cNvPr id="33" name="Text 26"/>
          <p:cNvSpPr txBox="1"/>
          <p:nvPr/>
        </p:nvSpPr>
        <p:spPr>
          <a:xfrm>
            <a:off x="6632448" y="328879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34" name="Shape 27"/>
          <p:cNvSpPr/>
          <p:nvPr/>
        </p:nvSpPr>
        <p:spPr>
          <a:xfrm>
            <a:off x="4349496" y="4767072"/>
            <a:ext cx="3489960" cy="1478280"/>
          </a:xfrm>
          <a:prstGeom prst="rect">
            <a:avLst/>
          </a:prstGeom>
          <a:solidFill>
            <a:srgbClr val="F7F7F7"/>
          </a:solidFill>
          <a:ln/>
        </p:spPr>
      </p:sp>
      <p:sp>
        <p:nvSpPr>
          <p:cNvPr id="35" name="Text 28"/>
          <p:cNvSpPr txBox="1"/>
          <p:nvPr/>
        </p:nvSpPr>
        <p:spPr>
          <a:xfrm>
            <a:off x="4440936"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31</a:t>
            </a:r>
            <a:endParaRPr lang="en-US" sz="2000" dirty="0"/>
          </a:p>
        </p:txBody>
      </p:sp>
      <p:sp>
        <p:nvSpPr>
          <p:cNvPr id="36" name="Text 29"/>
          <p:cNvSpPr txBox="1"/>
          <p:nvPr/>
        </p:nvSpPr>
        <p:spPr>
          <a:xfrm>
            <a:off x="4788408"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graphicFrame>
        <p:nvGraphicFramePr>
          <p:cNvPr id="37" name="Chart 5" descr=""/>
          <p:cNvGraphicFramePr/>
          <p:nvPr/>
        </p:nvGraphicFramePr>
        <p:xfrm>
          <a:off x="4788408" y="5654040"/>
          <a:ext cx="1972056" cy="502615"/>
        </p:xfrm>
        <a:graphic>
          <a:graphicData uri="http://schemas.openxmlformats.org/drawingml/2006/chart">
            <c:chart xmlns:c="http://schemas.openxmlformats.org/drawingml/2006/chart" r:id="rId7"/>
          </a:graphicData>
        </a:graphic>
      </p:graphicFrame>
      <p:sp>
        <p:nvSpPr>
          <p:cNvPr id="38" name="Text 30"/>
          <p:cNvSpPr txBox="1"/>
          <p:nvPr/>
        </p:nvSpPr>
        <p:spPr>
          <a:xfrm>
            <a:off x="6632448" y="476707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9" name="Shape 31"/>
          <p:cNvSpPr/>
          <p:nvPr/>
        </p:nvSpPr>
        <p:spPr>
          <a:xfrm>
            <a:off x="8040624" y="1371600"/>
            <a:ext cx="3489960" cy="45720"/>
          </a:xfrm>
          <a:prstGeom prst="rect">
            <a:avLst/>
          </a:prstGeom>
          <a:solidFill>
            <a:srgbClr val="2587C5"/>
          </a:solidFill>
          <a:ln/>
        </p:spPr>
      </p:sp>
      <p:sp>
        <p:nvSpPr>
          <p:cNvPr id="40" name="Text 32"/>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3 MOVING NOW</a:t>
            </a:r>
            <a:endParaRPr lang="en-US" sz="1500" dirty="0"/>
          </a:p>
        </p:txBody>
      </p:sp>
      <p:sp>
        <p:nvSpPr>
          <p:cNvPr id="41" name="Shape 33"/>
          <p:cNvSpPr/>
          <p:nvPr/>
        </p:nvSpPr>
        <p:spPr>
          <a:xfrm>
            <a:off x="8040624" y="1810512"/>
            <a:ext cx="3489960" cy="1478280"/>
          </a:xfrm>
          <a:prstGeom prst="rect">
            <a:avLst/>
          </a:prstGeom>
          <a:solidFill>
            <a:srgbClr val="F7F7F7"/>
          </a:solidFill>
          <a:ln/>
        </p:spPr>
      </p:sp>
      <p:sp>
        <p:nvSpPr>
          <p:cNvPr id="42" name="Text 34"/>
          <p:cNvSpPr txBox="1"/>
          <p:nvPr/>
        </p:nvSpPr>
        <p:spPr>
          <a:xfrm>
            <a:off x="8132064"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43" name="Text 35"/>
          <p:cNvSpPr txBox="1"/>
          <p:nvPr/>
        </p:nvSpPr>
        <p:spPr>
          <a:xfrm>
            <a:off x="8479536"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44" name="Chart 6" descr=""/>
          <p:cNvGraphicFramePr/>
          <p:nvPr/>
        </p:nvGraphicFramePr>
        <p:xfrm>
          <a:off x="8479536" y="2697480"/>
          <a:ext cx="1972056" cy="502615"/>
        </p:xfrm>
        <a:graphic>
          <a:graphicData uri="http://schemas.openxmlformats.org/drawingml/2006/chart">
            <c:chart xmlns:c="http://schemas.openxmlformats.org/drawingml/2006/chart" r:id="rId8"/>
          </a:graphicData>
        </a:graphic>
      </p:graphicFrame>
      <p:graphicFrame>
        <p:nvGraphicFramePr>
          <p:cNvPr id="45" name="Chart 7" descr=""/>
          <p:cNvGraphicFramePr/>
          <p:nvPr/>
        </p:nvGraphicFramePr>
        <p:xfrm>
          <a:off x="8479536" y="2697480"/>
          <a:ext cx="1972056" cy="502615"/>
        </p:xfrm>
        <a:graphic>
          <a:graphicData uri="http://schemas.openxmlformats.org/drawingml/2006/chart">
            <c:chart xmlns:c="http://schemas.openxmlformats.org/drawingml/2006/chart" r:id="rId9"/>
          </a:graphicData>
        </a:graphic>
      </p:graphicFrame>
      <p:sp>
        <p:nvSpPr>
          <p:cNvPr id="46" name="Text 36"/>
          <p:cNvSpPr txBox="1"/>
          <p:nvPr/>
        </p:nvSpPr>
        <p:spPr>
          <a:xfrm>
            <a:off x="10323576" y="181051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47" name="Text 37"/>
          <p:cNvSpPr txBox="1"/>
          <p:nvPr/>
        </p:nvSpPr>
        <p:spPr>
          <a:xfrm>
            <a:off x="8132064"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48" name="Text 38"/>
          <p:cNvSpPr txBox="1"/>
          <p:nvPr/>
        </p:nvSpPr>
        <p:spPr>
          <a:xfrm>
            <a:off x="8479536"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49" name="Chart 8" descr=""/>
          <p:cNvGraphicFramePr/>
          <p:nvPr/>
        </p:nvGraphicFramePr>
        <p:xfrm>
          <a:off x="8479536" y="4175760"/>
          <a:ext cx="1972056" cy="502615"/>
        </p:xfrm>
        <a:graphic>
          <a:graphicData uri="http://schemas.openxmlformats.org/drawingml/2006/chart">
            <c:chart xmlns:c="http://schemas.openxmlformats.org/drawingml/2006/chart" r:id="rId10"/>
          </a:graphicData>
        </a:graphic>
      </p:graphicFrame>
      <p:graphicFrame>
        <p:nvGraphicFramePr>
          <p:cNvPr id="50" name="Chart 9" descr=""/>
          <p:cNvGraphicFramePr/>
          <p:nvPr/>
        </p:nvGraphicFramePr>
        <p:xfrm>
          <a:off x="8479536" y="4175760"/>
          <a:ext cx="1972056" cy="502615"/>
        </p:xfrm>
        <a:graphic>
          <a:graphicData uri="http://schemas.openxmlformats.org/drawingml/2006/chart">
            <c:chart xmlns:c="http://schemas.openxmlformats.org/drawingml/2006/chart" r:id="rId11"/>
          </a:graphicData>
        </a:graphic>
      </p:graphicFrame>
      <p:sp>
        <p:nvSpPr>
          <p:cNvPr id="51" name="Text 39"/>
          <p:cNvSpPr txBox="1"/>
          <p:nvPr/>
        </p:nvSpPr>
        <p:spPr>
          <a:xfrm>
            <a:off x="10323576" y="328879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52" name="Shape 40"/>
          <p:cNvSpPr/>
          <p:nvPr/>
        </p:nvSpPr>
        <p:spPr>
          <a:xfrm>
            <a:off x="8040624" y="4767072"/>
            <a:ext cx="3489960" cy="1478280"/>
          </a:xfrm>
          <a:prstGeom prst="rect">
            <a:avLst/>
          </a:prstGeom>
          <a:solidFill>
            <a:srgbClr val="F7F7F7"/>
          </a:solidFill>
          <a:ln/>
        </p:spPr>
      </p:sp>
      <p:sp>
        <p:nvSpPr>
          <p:cNvPr id="53" name="Text 41"/>
          <p:cNvSpPr txBox="1"/>
          <p:nvPr/>
        </p:nvSpPr>
        <p:spPr>
          <a:xfrm>
            <a:off x="8132064"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54" name="Text 42"/>
          <p:cNvSpPr txBox="1"/>
          <p:nvPr/>
        </p:nvSpPr>
        <p:spPr>
          <a:xfrm>
            <a:off x="8479536"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55" name="Chart 10" descr=""/>
          <p:cNvGraphicFramePr/>
          <p:nvPr/>
        </p:nvGraphicFramePr>
        <p:xfrm>
          <a:off x="8479536" y="5654040"/>
          <a:ext cx="1972056" cy="502615"/>
        </p:xfrm>
        <a:graphic>
          <a:graphicData uri="http://schemas.openxmlformats.org/drawingml/2006/chart">
            <c:chart xmlns:c="http://schemas.openxmlformats.org/drawingml/2006/chart" r:id="rId12"/>
          </a:graphicData>
        </a:graphic>
      </p:graphicFrame>
      <p:graphicFrame>
        <p:nvGraphicFramePr>
          <p:cNvPr id="56" name="Chart 11" descr=""/>
          <p:cNvGraphicFramePr/>
          <p:nvPr/>
        </p:nvGraphicFramePr>
        <p:xfrm>
          <a:off x="8479536" y="5654040"/>
          <a:ext cx="1972056" cy="502615"/>
        </p:xfrm>
        <a:graphic>
          <a:graphicData uri="http://schemas.openxmlformats.org/drawingml/2006/chart">
            <c:chart xmlns:c="http://schemas.openxmlformats.org/drawingml/2006/chart" r:id="rId13"/>
          </a:graphicData>
        </a:graphic>
      </p:graphicFrame>
      <p:sp>
        <p:nvSpPr>
          <p:cNvPr id="57" name="Text 43"/>
          <p:cNvSpPr txBox="1"/>
          <p:nvPr/>
        </p:nvSpPr>
        <p:spPr>
          <a:xfrm>
            <a:off x="10323576" y="476707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6.7 pts under the 15% benchmark — 18,493 balances short.</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The group sits at 8.3%.</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208196"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758604"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213682" y="1756697"/>
            <a:ext cx="133022"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+$52K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+769</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3" name="Shape 21"/>
          <p:cNvSpPr/>
          <p:nvPr/>
        </p:nvSpPr>
        <p:spPr>
          <a:xfrm>
            <a:off x="3213682" y="2005199"/>
            <a:ext cx="58221"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0" name="Shape 28"/>
          <p:cNvSpPr/>
          <p:nvPr/>
        </p:nvSpPr>
        <p:spPr>
          <a:xfrm>
            <a:off x="3213682" y="2253700"/>
            <a:ext cx="26369"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213682" y="2502202"/>
            <a:ext cx="18288"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3213617" y="2750703"/>
            <a:ext cx="18288" cy="136676"/>
          </a:xfrm>
          <a:prstGeom prst="rect">
            <a:avLst/>
          </a:prstGeom>
          <a:solidFill>
            <a:srgbClr val="C2352F"/>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208413" y="2999205"/>
            <a:ext cx="18288" cy="136676"/>
          </a:xfrm>
          <a:prstGeom prst="rect">
            <a:avLst/>
          </a:prstGeom>
          <a:solidFill>
            <a:srgbClr val="C2352F"/>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3202500" y="3247707"/>
            <a:ext cx="18288" cy="136676"/>
          </a:xfrm>
          <a:prstGeom prst="rect">
            <a:avLst/>
          </a:prstGeom>
          <a:solidFill>
            <a:srgbClr val="C2352F"/>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199367"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3192966" y="3744710"/>
            <a:ext cx="20716"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186478" y="3993212"/>
            <a:ext cx="27204"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9" name="Shape 77"/>
          <p:cNvSpPr/>
          <p:nvPr/>
        </p:nvSpPr>
        <p:spPr>
          <a:xfrm>
            <a:off x="3178674" y="4241713"/>
            <a:ext cx="3500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3173922" y="4490215"/>
            <a:ext cx="39760"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162501" y="4738717"/>
            <a:ext cx="51181"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161512" y="4987218"/>
            <a:ext cx="52170"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160641" y="5235720"/>
            <a:ext cx="53041"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7" name="Shape 105"/>
          <p:cNvSpPr/>
          <p:nvPr/>
        </p:nvSpPr>
        <p:spPr>
          <a:xfrm>
            <a:off x="5971032" y="5225527"/>
            <a:ext cx="54864" cy="157062"/>
          </a:xfrm>
          <a:prstGeom prst="rect">
            <a:avLst/>
          </a:prstGeom>
          <a:solidFill>
            <a:srgbClr val="C2352F"/>
          </a:solidFill>
          <a:ln/>
        </p:spPr>
      </p:sp>
      <p:sp>
        <p:nvSpPr>
          <p:cNvPr id="108" name="Text 10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9" name="Text 107"/>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0" name="Shape 108"/>
          <p:cNvSpPr/>
          <p:nvPr/>
        </p:nvSpPr>
        <p:spPr>
          <a:xfrm>
            <a:off x="3154916" y="5484222"/>
            <a:ext cx="58766" cy="136676"/>
          </a:xfrm>
          <a:prstGeom prst="rect">
            <a:avLst/>
          </a:prstGeom>
          <a:solidFill>
            <a:srgbClr val="C2352F"/>
          </a:solidFill>
          <a:ln/>
        </p:spPr>
      </p:sp>
      <p:sp>
        <p:nvSpPr>
          <p:cNvPr id="111" name="Text 109"/>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12" name="Text 110"/>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−351</a:t>
            </a:r>
            <a:endParaRPr lang="en-US" sz="1300" dirty="0"/>
          </a:p>
        </p:txBody>
      </p:sp>
      <p:sp>
        <p:nvSpPr>
          <p:cNvPr id="113" name="Text 111"/>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6" name="Shape 114"/>
          <p:cNvSpPr/>
          <p:nvPr/>
        </p:nvSpPr>
        <p:spPr>
          <a:xfrm>
            <a:off x="3145678" y="5732723"/>
            <a:ext cx="6800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−461</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2" name="Shape 120"/>
          <p:cNvSpPr/>
          <p:nvPr/>
        </p:nvSpPr>
        <p:spPr>
          <a:xfrm>
            <a:off x="8691164" y="1756697"/>
            <a:ext cx="72926"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665461" y="2005199"/>
            <a:ext cx="9862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665163" y="2253700"/>
            <a:ext cx="98927"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−522</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656843" y="2502202"/>
            <a:ext cx="107247"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−566</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8" name="Shape 146"/>
          <p:cNvSpPr/>
          <p:nvPr/>
        </p:nvSpPr>
        <p:spPr>
          <a:xfrm>
            <a:off x="8634865" y="2750703"/>
            <a:ext cx="129225"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54" name="Shape 152"/>
          <p:cNvSpPr/>
          <p:nvPr/>
        </p:nvSpPr>
        <p:spPr>
          <a:xfrm>
            <a:off x="8634819" y="2999205"/>
            <a:ext cx="129271"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1" name="Shape 159"/>
          <p:cNvSpPr/>
          <p:nvPr/>
        </p:nvSpPr>
        <p:spPr>
          <a:xfrm>
            <a:off x="8627320" y="3247707"/>
            <a:ext cx="136770"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−794</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7" name="Shape 165"/>
          <p:cNvSpPr/>
          <p:nvPr/>
        </p:nvSpPr>
        <p:spPr>
          <a:xfrm>
            <a:off x="8624415" y="3496208"/>
            <a:ext cx="139675"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71" name="Text 169"/>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2" name="Text 170"/>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3" name="Shape 171"/>
          <p:cNvSpPr/>
          <p:nvPr/>
        </p:nvSpPr>
        <p:spPr>
          <a:xfrm>
            <a:off x="8617980" y="3744710"/>
            <a:ext cx="146110" cy="136676"/>
          </a:xfrm>
          <a:prstGeom prst="rect">
            <a:avLst/>
          </a:prstGeom>
          <a:solidFill>
            <a:srgbClr val="C2352F"/>
          </a:solidFill>
          <a:ln/>
        </p:spPr>
      </p:sp>
      <p:sp>
        <p:nvSpPr>
          <p:cNvPr id="174" name="Text 172"/>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75" name="Text 173"/>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−972</a:t>
            </a:r>
            <a:endParaRPr lang="en-US" sz="1300" dirty="0"/>
          </a:p>
        </p:txBody>
      </p:sp>
      <p:sp>
        <p:nvSpPr>
          <p:cNvPr id="176" name="Text 174"/>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77" name="Text 175"/>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8" name="Text 176"/>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9" name="Shape 177"/>
          <p:cNvSpPr/>
          <p:nvPr/>
        </p:nvSpPr>
        <p:spPr>
          <a:xfrm>
            <a:off x="8611516" y="3993212"/>
            <a:ext cx="152574" cy="136676"/>
          </a:xfrm>
          <a:prstGeom prst="rect">
            <a:avLst/>
          </a:prstGeom>
          <a:solidFill>
            <a:srgbClr val="C2352F"/>
          </a:solidFill>
          <a:ln/>
        </p:spPr>
      </p:sp>
      <p:sp>
        <p:nvSpPr>
          <p:cNvPr id="180" name="Text 178"/>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81" name="Text 179"/>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−1,145</a:t>
            </a:r>
            <a:endParaRPr lang="en-US" sz="1300" dirty="0"/>
          </a:p>
        </p:txBody>
      </p:sp>
      <p:sp>
        <p:nvSpPr>
          <p:cNvPr id="182" name="Text 180"/>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83" name="Text 181"/>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4" name="Text 182"/>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5" name="Shape 183"/>
          <p:cNvSpPr/>
          <p:nvPr/>
        </p:nvSpPr>
        <p:spPr>
          <a:xfrm>
            <a:off x="8561522" y="4241713"/>
            <a:ext cx="202569" cy="136676"/>
          </a:xfrm>
          <a:prstGeom prst="rect">
            <a:avLst/>
          </a:prstGeom>
          <a:solidFill>
            <a:srgbClr val="C2352F"/>
          </a:solidFill>
          <a:ln/>
        </p:spPr>
      </p:sp>
      <p:sp>
        <p:nvSpPr>
          <p:cNvPr id="186" name="Text 184"/>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87" name="Text 185"/>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−1,501</a:t>
            </a:r>
            <a:endParaRPr lang="en-US" sz="1300" dirty="0"/>
          </a:p>
        </p:txBody>
      </p:sp>
      <p:sp>
        <p:nvSpPr>
          <p:cNvPr id="188" name="Text 186"/>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89" name="Text 187"/>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0" name="Text 188"/>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1" name="Shape 189"/>
          <p:cNvSpPr/>
          <p:nvPr/>
        </p:nvSpPr>
        <p:spPr>
          <a:xfrm>
            <a:off x="8556261" y="4490215"/>
            <a:ext cx="207830" cy="136676"/>
          </a:xfrm>
          <a:prstGeom prst="rect">
            <a:avLst/>
          </a:prstGeom>
          <a:solidFill>
            <a:srgbClr val="C2352F"/>
          </a:solidFill>
          <a:ln/>
        </p:spPr>
      </p:sp>
      <p:sp>
        <p:nvSpPr>
          <p:cNvPr id="192" name="Text 190"/>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93" name="Text 191"/>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−1,523</a:t>
            </a:r>
            <a:endParaRPr lang="en-US" sz="1300" dirty="0"/>
          </a:p>
        </p:txBody>
      </p:sp>
      <p:sp>
        <p:nvSpPr>
          <p:cNvPr id="194" name="Text 192"/>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95" name="Text 193"/>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6" name="Text 194"/>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97" name="Shape 195"/>
          <p:cNvSpPr/>
          <p:nvPr/>
        </p:nvSpPr>
        <p:spPr>
          <a:xfrm>
            <a:off x="8526056" y="4738717"/>
            <a:ext cx="238034" cy="136676"/>
          </a:xfrm>
          <a:prstGeom prst="rect">
            <a:avLst/>
          </a:prstGeom>
          <a:solidFill>
            <a:srgbClr val="C2352F"/>
          </a:solidFill>
          <a:ln/>
        </p:spPr>
      </p:sp>
      <p:sp>
        <p:nvSpPr>
          <p:cNvPr id="198" name="Text 196"/>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99" name="Text 197"/>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−628</a:t>
            </a:r>
            <a:endParaRPr lang="en-US" sz="1300" dirty="0"/>
          </a:p>
        </p:txBody>
      </p:sp>
      <p:sp>
        <p:nvSpPr>
          <p:cNvPr id="200" name="Text 198"/>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01" name="Text 199"/>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2" name="Text 200"/>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03" name="Shape 201"/>
          <p:cNvSpPr/>
          <p:nvPr/>
        </p:nvSpPr>
        <p:spPr>
          <a:xfrm>
            <a:off x="8511929" y="4987218"/>
            <a:ext cx="252161" cy="136676"/>
          </a:xfrm>
          <a:prstGeom prst="rect">
            <a:avLst/>
          </a:prstGeom>
          <a:solidFill>
            <a:srgbClr val="C2352F"/>
          </a:solidFill>
          <a:ln/>
        </p:spPr>
      </p:sp>
      <p:sp>
        <p:nvSpPr>
          <p:cNvPr id="204" name="Text 202"/>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−$99K</a:t>
            </a:r>
            <a:endParaRPr lang="en-US" sz="1300" dirty="0"/>
          </a:p>
        </p:txBody>
      </p:sp>
      <p:sp>
        <p:nvSpPr>
          <p:cNvPr id="205" name="Text 203"/>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−1,193</a:t>
            </a:r>
            <a:endParaRPr lang="en-US" sz="1300" dirty="0"/>
          </a:p>
        </p:txBody>
      </p:sp>
      <p:sp>
        <p:nvSpPr>
          <p:cNvPr id="206" name="Text 20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07" name="Text 20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8" name="Text 206"/>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09" name="Shape 207"/>
          <p:cNvSpPr/>
          <p:nvPr/>
        </p:nvSpPr>
        <p:spPr>
          <a:xfrm>
            <a:off x="8483276" y="5235720"/>
            <a:ext cx="280814" cy="136676"/>
          </a:xfrm>
          <a:prstGeom prst="rect">
            <a:avLst/>
          </a:prstGeom>
          <a:solidFill>
            <a:srgbClr val="C2352F"/>
          </a:solidFill>
          <a:ln/>
        </p:spPr>
      </p:sp>
      <p:sp>
        <p:nvSpPr>
          <p:cNvPr id="210" name="Text 208"/>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−$111K</a:t>
            </a:r>
            <a:endParaRPr lang="en-US" sz="1300" dirty="0"/>
          </a:p>
        </p:txBody>
      </p:sp>
      <p:sp>
        <p:nvSpPr>
          <p:cNvPr id="211" name="Text 209"/>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−2,004</a:t>
            </a:r>
            <a:endParaRPr lang="en-US" sz="1300" dirty="0"/>
          </a:p>
        </p:txBody>
      </p:sp>
      <p:sp>
        <p:nvSpPr>
          <p:cNvPr id="212" name="Text 210"/>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3" name="Text 211"/>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4" name="Text 212"/>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5" name="Shape 213"/>
          <p:cNvSpPr/>
          <p:nvPr/>
        </p:nvSpPr>
        <p:spPr>
          <a:xfrm>
            <a:off x="8421624" y="5484222"/>
            <a:ext cx="342466" cy="136676"/>
          </a:xfrm>
          <a:prstGeom prst="rect">
            <a:avLst/>
          </a:prstGeom>
          <a:solidFill>
            <a:srgbClr val="C2352F"/>
          </a:solidFill>
          <a:ln/>
        </p:spPr>
      </p:sp>
      <p:sp>
        <p:nvSpPr>
          <p:cNvPr id="216" name="Text 214"/>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−$135K</a:t>
            </a:r>
            <a:endParaRPr lang="en-US" sz="1300" dirty="0"/>
          </a:p>
        </p:txBody>
      </p:sp>
      <p:sp>
        <p:nvSpPr>
          <p:cNvPr id="217" name="Text 215"/>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−2,520</a:t>
            </a:r>
            <a:endParaRPr lang="en-US" sz="1300" dirty="0"/>
          </a:p>
        </p:txBody>
      </p:sp>
      <p:sp>
        <p:nvSpPr>
          <p:cNvPr id="218" name="Text 216"/>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219" name="Shape 217"/>
          <p:cNvSpPr/>
          <p:nvPr/>
        </p:nvSpPr>
        <p:spPr>
          <a:xfrm>
            <a:off x="11521440" y="5474029"/>
            <a:ext cx="54864" cy="157062"/>
          </a:xfrm>
          <a:prstGeom prst="rect">
            <a:avLst/>
          </a:prstGeom>
          <a:solidFill>
            <a:srgbClr val="C2352F"/>
          </a:solidFill>
          <a:ln/>
        </p:spPr>
      </p:sp>
      <p:sp>
        <p:nvSpPr>
          <p:cNvPr id="220" name="Shape 218"/>
          <p:cNvSpPr/>
          <p:nvPr/>
        </p:nvSpPr>
        <p:spPr>
          <a:xfrm>
            <a:off x="6085332" y="1700784"/>
            <a:ext cx="10973" cy="4224528"/>
          </a:xfrm>
          <a:prstGeom prst="rect">
            <a:avLst/>
          </a:prstGeom>
          <a:solidFill>
            <a:srgbClr val="D9D9D9"/>
          </a:solidFill>
          <a:ln/>
        </p:spPr>
      </p:sp>
      <p:sp>
        <p:nvSpPr>
          <p:cNvPr id="222" name="Shape 219"/>
          <p:cNvSpPr/>
          <p:nvPr/>
        </p:nvSpPr>
        <p:spPr>
          <a:xfrm>
            <a:off x="457200" y="6126480"/>
            <a:ext cx="11274552" cy="371856"/>
          </a:xfrm>
          <a:prstGeom prst="rect">
            <a:avLst/>
          </a:prstGeom>
          <a:solidFill>
            <a:srgbClr val="FBEBEA"/>
          </a:solidFill>
          <a:ln/>
        </p:spPr>
      </p:sp>
      <p:sp>
        <p:nvSpPr>
          <p:cNvPr id="223" name="Text 2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stores under 15% have left $1,248,289 so far this year; 4 are at or above it.</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3 VS LAST YEAR</a:t>
            </a:r>
            <a:endParaRPr lang="en-US" sz="1500" dirty="0"/>
          </a:p>
        </p:txBody>
      </p:sp>
      <p:sp>
        <p:nvSpPr>
          <p:cNvPr id="9" name="Shape 7"/>
          <p:cNvSpPr/>
          <p:nvPr/>
        </p:nvSpPr>
        <p:spPr>
          <a:xfrm>
            <a:off x="658368" y="1810512"/>
            <a:ext cx="3489960" cy="1478280"/>
          </a:xfrm>
          <a:prstGeom prst="rect">
            <a:avLst/>
          </a:prstGeom>
          <a:solidFill>
            <a:srgbClr val="F7F7F7"/>
          </a:solidFill>
          <a:ln/>
        </p:spPr>
      </p:sp>
      <p:sp>
        <p:nvSpPr>
          <p:cNvPr id="10" name="Text 8"/>
          <p:cNvSpPr txBox="1"/>
          <p:nvPr/>
        </p:nvSpPr>
        <p:spPr>
          <a:xfrm>
            <a:off x="749808"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11" name="Text 9"/>
          <p:cNvSpPr txBox="1"/>
          <p:nvPr/>
        </p:nvSpPr>
        <p:spPr>
          <a:xfrm>
            <a:off x="1097280"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graphicFrame>
        <p:nvGraphicFramePr>
          <p:cNvPr id="12" name="Chart 0" descr=""/>
          <p:cNvGraphicFramePr/>
          <p:nvPr/>
        </p:nvGraphicFramePr>
        <p:xfrm>
          <a:off x="1097280" y="2697480"/>
          <a:ext cx="1972056" cy="502615"/>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 pts</a:t>
            </a:r>
            <a:endParaRPr lang="en-US" sz="1600" dirty="0"/>
          </a:p>
        </p:txBody>
      </p:sp>
      <p:sp>
        <p:nvSpPr>
          <p:cNvPr id="14" name="Text 11"/>
          <p:cNvSpPr txBox="1"/>
          <p:nvPr/>
        </p:nvSpPr>
        <p:spPr>
          <a:xfrm>
            <a:off x="749808"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15" name="Text 12"/>
          <p:cNvSpPr txBox="1"/>
          <p:nvPr/>
        </p:nvSpPr>
        <p:spPr>
          <a:xfrm>
            <a:off x="1097280"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graphicFrame>
        <p:nvGraphicFramePr>
          <p:cNvPr id="16" name="Chart 1" descr=""/>
          <p:cNvGraphicFramePr/>
          <p:nvPr/>
        </p:nvGraphicFramePr>
        <p:xfrm>
          <a:off x="1097280" y="4175760"/>
          <a:ext cx="1972056" cy="502615"/>
        </p:xfrm>
        <a:graphic>
          <a:graphicData uri="http://schemas.openxmlformats.org/drawingml/2006/chart">
            <c:chart xmlns:c="http://schemas.openxmlformats.org/drawingml/2006/chart" r:id="rId3"/>
          </a:graphicData>
        </a:graphic>
      </p:graphicFrame>
      <p:sp>
        <p:nvSpPr>
          <p:cNvPr id="17" name="Text 13"/>
          <p:cNvSpPr txBox="1"/>
          <p:nvPr/>
        </p:nvSpPr>
        <p:spPr>
          <a:xfrm>
            <a:off x="2941320" y="328879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+13.5 pts</a:t>
            </a:r>
            <a:endParaRPr lang="en-US" sz="1600" dirty="0"/>
          </a:p>
        </p:txBody>
      </p:sp>
      <p:sp>
        <p:nvSpPr>
          <p:cNvPr id="18" name="Shape 14"/>
          <p:cNvSpPr/>
          <p:nvPr/>
        </p:nvSpPr>
        <p:spPr>
          <a:xfrm>
            <a:off x="658368" y="4767072"/>
            <a:ext cx="3489960" cy="1478280"/>
          </a:xfrm>
          <a:prstGeom prst="rect">
            <a:avLst/>
          </a:prstGeom>
          <a:solidFill>
            <a:srgbClr val="F7F7F7"/>
          </a:solidFill>
          <a:ln/>
        </p:spPr>
      </p:sp>
      <p:sp>
        <p:nvSpPr>
          <p:cNvPr id="19" name="Shape 15"/>
          <p:cNvSpPr/>
          <p:nvPr/>
        </p:nvSpPr>
        <p:spPr>
          <a:xfrm>
            <a:off x="4084320" y="4803648"/>
            <a:ext cx="64008" cy="1405128"/>
          </a:xfrm>
          <a:prstGeom prst="rect">
            <a:avLst/>
          </a:prstGeom>
          <a:solidFill>
            <a:srgbClr val="12A566"/>
          </a:solidFill>
          <a:ln/>
        </p:spPr>
      </p:sp>
      <p:sp>
        <p:nvSpPr>
          <p:cNvPr id="20" name="Text 16"/>
          <p:cNvSpPr txBox="1"/>
          <p:nvPr/>
        </p:nvSpPr>
        <p:spPr>
          <a:xfrm>
            <a:off x="749808"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21" name="Text 17"/>
          <p:cNvSpPr txBox="1"/>
          <p:nvPr/>
        </p:nvSpPr>
        <p:spPr>
          <a:xfrm>
            <a:off x="1097280"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graphicFrame>
        <p:nvGraphicFramePr>
          <p:cNvPr id="22" name="Chart 2" descr=""/>
          <p:cNvGraphicFramePr/>
          <p:nvPr/>
        </p:nvGraphicFramePr>
        <p:xfrm>
          <a:off x="1097280" y="5654040"/>
          <a:ext cx="1972056" cy="502615"/>
        </p:xfrm>
        <a:graphic>
          <a:graphicData uri="http://schemas.openxmlformats.org/drawingml/2006/chart">
            <c:chart xmlns:c="http://schemas.openxmlformats.org/drawingml/2006/chart" r:id="rId4"/>
          </a:graphicData>
        </a:graphic>
      </p:graphicFrame>
      <p:sp>
        <p:nvSpPr>
          <p:cNvPr id="23" name="Text 18"/>
          <p:cNvSpPr txBox="1"/>
          <p:nvPr/>
        </p:nvSpPr>
        <p:spPr>
          <a:xfrm>
            <a:off x="2941320" y="476707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4" name="Shape 19"/>
          <p:cNvSpPr/>
          <p:nvPr/>
        </p:nvSpPr>
        <p:spPr>
          <a:xfrm>
            <a:off x="4349496" y="1371600"/>
            <a:ext cx="3489960" cy="45720"/>
          </a:xfrm>
          <a:prstGeom prst="rect">
            <a:avLst/>
          </a:prstGeom>
          <a:solidFill>
            <a:srgbClr val="C2352F"/>
          </a:solidFill>
          <a:ln/>
        </p:spPr>
      </p:sp>
      <p:sp>
        <p:nvSpPr>
          <p:cNvPr id="25" name="Text 20"/>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3 VS LAST YEAR</a:t>
            </a:r>
            <a:endParaRPr lang="en-US" sz="1500" dirty="0"/>
          </a:p>
        </p:txBody>
      </p:sp>
      <p:sp>
        <p:nvSpPr>
          <p:cNvPr id="26" name="Shape 21"/>
          <p:cNvSpPr/>
          <p:nvPr/>
        </p:nvSpPr>
        <p:spPr>
          <a:xfrm>
            <a:off x="4349496" y="1810512"/>
            <a:ext cx="3489960" cy="1478280"/>
          </a:xfrm>
          <a:prstGeom prst="rect">
            <a:avLst/>
          </a:prstGeom>
          <a:solidFill>
            <a:srgbClr val="F7F7F7"/>
          </a:solidFill>
          <a:ln/>
        </p:spPr>
      </p:sp>
      <p:sp>
        <p:nvSpPr>
          <p:cNvPr id="27" name="Text 22"/>
          <p:cNvSpPr txBox="1"/>
          <p:nvPr/>
        </p:nvSpPr>
        <p:spPr>
          <a:xfrm>
            <a:off x="4440936"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31</a:t>
            </a:r>
            <a:endParaRPr lang="en-US" sz="2000" dirty="0"/>
          </a:p>
        </p:txBody>
      </p:sp>
      <p:sp>
        <p:nvSpPr>
          <p:cNvPr id="28" name="Text 23"/>
          <p:cNvSpPr txBox="1"/>
          <p:nvPr/>
        </p:nvSpPr>
        <p:spPr>
          <a:xfrm>
            <a:off x="4788408"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graphicFrame>
        <p:nvGraphicFramePr>
          <p:cNvPr id="29" name="Chart 3" descr=""/>
          <p:cNvGraphicFramePr/>
          <p:nvPr/>
        </p:nvGraphicFramePr>
        <p:xfrm>
          <a:off x="4788408" y="2697480"/>
          <a:ext cx="1972056" cy="502615"/>
        </p:xfrm>
        <a:graphic>
          <a:graphicData uri="http://schemas.openxmlformats.org/drawingml/2006/chart">
            <c:chart xmlns:c="http://schemas.openxmlformats.org/drawingml/2006/chart" r:id="rId5"/>
          </a:graphicData>
        </a:graphic>
      </p:graphicFrame>
      <p:sp>
        <p:nvSpPr>
          <p:cNvPr id="30" name="Text 24"/>
          <p:cNvSpPr txBox="1"/>
          <p:nvPr/>
        </p:nvSpPr>
        <p:spPr>
          <a:xfrm>
            <a:off x="6632448" y="181051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 pts</a:t>
            </a:r>
            <a:endParaRPr lang="en-US" sz="1600" dirty="0"/>
          </a:p>
        </p:txBody>
      </p:sp>
      <p:sp>
        <p:nvSpPr>
          <p:cNvPr id="31" name="Text 25"/>
          <p:cNvSpPr txBox="1"/>
          <p:nvPr/>
        </p:nvSpPr>
        <p:spPr>
          <a:xfrm>
            <a:off x="4440936"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30</a:t>
            </a:r>
            <a:endParaRPr lang="en-US" sz="2000" dirty="0"/>
          </a:p>
        </p:txBody>
      </p:sp>
      <p:sp>
        <p:nvSpPr>
          <p:cNvPr id="32" name="Text 26"/>
          <p:cNvSpPr txBox="1"/>
          <p:nvPr/>
        </p:nvSpPr>
        <p:spPr>
          <a:xfrm>
            <a:off x="4788408"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graphicFrame>
        <p:nvGraphicFramePr>
          <p:cNvPr id="33" name="Chart 4" descr=""/>
          <p:cNvGraphicFramePr/>
          <p:nvPr/>
        </p:nvGraphicFramePr>
        <p:xfrm>
          <a:off x="4788408" y="4175760"/>
          <a:ext cx="1972056" cy="502615"/>
        </p:xfrm>
        <a:graphic>
          <a:graphicData uri="http://schemas.openxmlformats.org/drawingml/2006/chart">
            <c:chart xmlns:c="http://schemas.openxmlformats.org/drawingml/2006/chart" r:id="rId6"/>
          </a:graphicData>
        </a:graphic>
      </p:graphicFrame>
      <p:sp>
        <p:nvSpPr>
          <p:cNvPr id="34" name="Text 27"/>
          <p:cNvSpPr txBox="1"/>
          <p:nvPr/>
        </p:nvSpPr>
        <p:spPr>
          <a:xfrm>
            <a:off x="6632448" y="328879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5" name="Shape 28"/>
          <p:cNvSpPr/>
          <p:nvPr/>
        </p:nvSpPr>
        <p:spPr>
          <a:xfrm>
            <a:off x="4349496" y="4767072"/>
            <a:ext cx="3489960" cy="1478280"/>
          </a:xfrm>
          <a:prstGeom prst="rect">
            <a:avLst/>
          </a:prstGeom>
          <a:solidFill>
            <a:srgbClr val="F7F7F7"/>
          </a:solidFill>
          <a:ln/>
        </p:spPr>
      </p:sp>
      <p:sp>
        <p:nvSpPr>
          <p:cNvPr id="36" name="Text 29"/>
          <p:cNvSpPr txBox="1"/>
          <p:nvPr/>
        </p:nvSpPr>
        <p:spPr>
          <a:xfrm>
            <a:off x="4440936"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29</a:t>
            </a:r>
            <a:endParaRPr lang="en-US" sz="2000" dirty="0"/>
          </a:p>
        </p:txBody>
      </p:sp>
      <p:sp>
        <p:nvSpPr>
          <p:cNvPr id="37" name="Text 30"/>
          <p:cNvSpPr txBox="1"/>
          <p:nvPr/>
        </p:nvSpPr>
        <p:spPr>
          <a:xfrm>
            <a:off x="4788408"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graphicFrame>
        <p:nvGraphicFramePr>
          <p:cNvPr id="38" name="Chart 5" descr=""/>
          <p:cNvGraphicFramePr/>
          <p:nvPr/>
        </p:nvGraphicFramePr>
        <p:xfrm>
          <a:off x="4788408" y="5654040"/>
          <a:ext cx="1972056" cy="502615"/>
        </p:xfrm>
        <a:graphic>
          <a:graphicData uri="http://schemas.openxmlformats.org/drawingml/2006/chart">
            <c:chart xmlns:c="http://schemas.openxmlformats.org/drawingml/2006/chart" r:id="rId7"/>
          </a:graphicData>
        </a:graphic>
      </p:graphicFrame>
      <p:sp>
        <p:nvSpPr>
          <p:cNvPr id="39" name="Text 31"/>
          <p:cNvSpPr txBox="1"/>
          <p:nvPr/>
        </p:nvSpPr>
        <p:spPr>
          <a:xfrm>
            <a:off x="6632448" y="476707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 pts</a:t>
            </a:r>
            <a:endParaRPr lang="en-US" sz="1600" dirty="0"/>
          </a:p>
        </p:txBody>
      </p:sp>
      <p:sp>
        <p:nvSpPr>
          <p:cNvPr id="40" name="Shape 32"/>
          <p:cNvSpPr/>
          <p:nvPr/>
        </p:nvSpPr>
        <p:spPr>
          <a:xfrm>
            <a:off x="8040624" y="1371600"/>
            <a:ext cx="3489960" cy="45720"/>
          </a:xfrm>
          <a:prstGeom prst="rect">
            <a:avLst/>
          </a:prstGeom>
          <a:solidFill>
            <a:srgbClr val="2587C5"/>
          </a:solidFill>
          <a:ln/>
        </p:spPr>
      </p:sp>
      <p:sp>
        <p:nvSpPr>
          <p:cNvPr id="41" name="Text 33"/>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3 MOVING NOW</a:t>
            </a:r>
            <a:endParaRPr lang="en-US" sz="1500" dirty="0"/>
          </a:p>
        </p:txBody>
      </p:sp>
      <p:sp>
        <p:nvSpPr>
          <p:cNvPr id="42" name="Shape 34"/>
          <p:cNvSpPr/>
          <p:nvPr/>
        </p:nvSpPr>
        <p:spPr>
          <a:xfrm>
            <a:off x="8040624" y="1810512"/>
            <a:ext cx="3489960" cy="1478280"/>
          </a:xfrm>
          <a:prstGeom prst="rect">
            <a:avLst/>
          </a:prstGeom>
          <a:solidFill>
            <a:srgbClr val="F7F7F7"/>
          </a:solidFill>
          <a:ln/>
        </p:spPr>
      </p:sp>
      <p:sp>
        <p:nvSpPr>
          <p:cNvPr id="43" name="Shape 35"/>
          <p:cNvSpPr/>
          <p:nvPr/>
        </p:nvSpPr>
        <p:spPr>
          <a:xfrm>
            <a:off x="11466576" y="1847088"/>
            <a:ext cx="64008" cy="1405128"/>
          </a:xfrm>
          <a:prstGeom prst="rect">
            <a:avLst/>
          </a:prstGeom>
          <a:solidFill>
            <a:srgbClr val="12A566"/>
          </a:solidFill>
          <a:ln/>
        </p:spPr>
      </p:sp>
      <p:sp>
        <p:nvSpPr>
          <p:cNvPr id="44" name="Text 36"/>
          <p:cNvSpPr txBox="1"/>
          <p:nvPr/>
        </p:nvSpPr>
        <p:spPr>
          <a:xfrm>
            <a:off x="8132064"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45" name="Text 37"/>
          <p:cNvSpPr txBox="1"/>
          <p:nvPr/>
        </p:nvSpPr>
        <p:spPr>
          <a:xfrm>
            <a:off x="8479536"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46" name="Chart 6" descr=""/>
          <p:cNvGraphicFramePr/>
          <p:nvPr/>
        </p:nvGraphicFramePr>
        <p:xfrm>
          <a:off x="8479536" y="2697480"/>
          <a:ext cx="1972056" cy="502615"/>
        </p:xfrm>
        <a:graphic>
          <a:graphicData uri="http://schemas.openxmlformats.org/drawingml/2006/chart">
            <c:chart xmlns:c="http://schemas.openxmlformats.org/drawingml/2006/chart" r:id="rId8"/>
          </a:graphicData>
        </a:graphic>
      </p:graphicFrame>
      <p:graphicFrame>
        <p:nvGraphicFramePr>
          <p:cNvPr id="47" name="Chart 7" descr=""/>
          <p:cNvGraphicFramePr/>
          <p:nvPr/>
        </p:nvGraphicFramePr>
        <p:xfrm>
          <a:off x="8479536" y="2697480"/>
          <a:ext cx="1972056" cy="502615"/>
        </p:xfrm>
        <a:graphic>
          <a:graphicData uri="http://schemas.openxmlformats.org/drawingml/2006/chart">
            <c:chart xmlns:c="http://schemas.openxmlformats.org/drawingml/2006/chart" r:id="rId9"/>
          </a:graphicData>
        </a:graphic>
      </p:graphicFrame>
      <p:sp>
        <p:nvSpPr>
          <p:cNvPr id="48" name="Text 38"/>
          <p:cNvSpPr txBox="1"/>
          <p:nvPr/>
        </p:nvSpPr>
        <p:spPr>
          <a:xfrm>
            <a:off x="10323576" y="181051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49" name="Text 39"/>
          <p:cNvSpPr txBox="1"/>
          <p:nvPr/>
        </p:nvSpPr>
        <p:spPr>
          <a:xfrm>
            <a:off x="8132064"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50" name="Text 40"/>
          <p:cNvSpPr txBox="1"/>
          <p:nvPr/>
        </p:nvSpPr>
        <p:spPr>
          <a:xfrm>
            <a:off x="8479536"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graphicFrame>
        <p:nvGraphicFramePr>
          <p:cNvPr id="51" name="Chart 8" descr=""/>
          <p:cNvGraphicFramePr/>
          <p:nvPr/>
        </p:nvGraphicFramePr>
        <p:xfrm>
          <a:off x="8479536" y="4175760"/>
          <a:ext cx="1972056" cy="502615"/>
        </p:xfrm>
        <a:graphic>
          <a:graphicData uri="http://schemas.openxmlformats.org/drawingml/2006/chart">
            <c:chart xmlns:c="http://schemas.openxmlformats.org/drawingml/2006/chart" r:id="rId10"/>
          </a:graphicData>
        </a:graphic>
      </p:graphicFrame>
      <p:graphicFrame>
        <p:nvGraphicFramePr>
          <p:cNvPr id="52" name="Chart 9" descr=""/>
          <p:cNvGraphicFramePr/>
          <p:nvPr/>
        </p:nvGraphicFramePr>
        <p:xfrm>
          <a:off x="8479536" y="4175760"/>
          <a:ext cx="1972056" cy="502615"/>
        </p:xfrm>
        <a:graphic>
          <a:graphicData uri="http://schemas.openxmlformats.org/drawingml/2006/chart">
            <c:chart xmlns:c="http://schemas.openxmlformats.org/drawingml/2006/chart" r:id="rId11"/>
          </a:graphicData>
        </a:graphic>
      </p:graphicFrame>
      <p:sp>
        <p:nvSpPr>
          <p:cNvPr id="53" name="Text 41"/>
          <p:cNvSpPr txBox="1"/>
          <p:nvPr/>
        </p:nvSpPr>
        <p:spPr>
          <a:xfrm>
            <a:off x="10323576" y="328879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4" name="Shape 42"/>
          <p:cNvSpPr/>
          <p:nvPr/>
        </p:nvSpPr>
        <p:spPr>
          <a:xfrm>
            <a:off x="8040624" y="4767072"/>
            <a:ext cx="3489960" cy="1478280"/>
          </a:xfrm>
          <a:prstGeom prst="rect">
            <a:avLst/>
          </a:prstGeom>
          <a:solidFill>
            <a:srgbClr val="F7F7F7"/>
          </a:solidFill>
          <a:ln/>
        </p:spPr>
      </p:sp>
      <p:sp>
        <p:nvSpPr>
          <p:cNvPr id="55" name="Text 43"/>
          <p:cNvSpPr txBox="1"/>
          <p:nvPr/>
        </p:nvSpPr>
        <p:spPr>
          <a:xfrm>
            <a:off x="8132064"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56" name="Text 44"/>
          <p:cNvSpPr txBox="1"/>
          <p:nvPr/>
        </p:nvSpPr>
        <p:spPr>
          <a:xfrm>
            <a:off x="8479536"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57" name="Chart 10" descr=""/>
          <p:cNvGraphicFramePr/>
          <p:nvPr/>
        </p:nvGraphicFramePr>
        <p:xfrm>
          <a:off x="8479536" y="5654040"/>
          <a:ext cx="1972056" cy="502615"/>
        </p:xfrm>
        <a:graphic>
          <a:graphicData uri="http://schemas.openxmlformats.org/drawingml/2006/chart">
            <c:chart xmlns:c="http://schemas.openxmlformats.org/drawingml/2006/chart" r:id="rId12"/>
          </a:graphicData>
        </a:graphic>
      </p:graphicFrame>
      <p:graphicFrame>
        <p:nvGraphicFramePr>
          <p:cNvPr id="58" name="Chart 11" descr=""/>
          <p:cNvGraphicFramePr/>
          <p:nvPr/>
        </p:nvGraphicFramePr>
        <p:xfrm>
          <a:off x="8479536" y="5654040"/>
          <a:ext cx="1972056" cy="502615"/>
        </p:xfrm>
        <a:graphic>
          <a:graphicData uri="http://schemas.openxmlformats.org/drawingml/2006/chart">
            <c:chart xmlns:c="http://schemas.openxmlformats.org/drawingml/2006/chart" r:id="rId13"/>
          </a:graphicData>
        </a:graphic>
      </p:graphicFrame>
      <p:sp>
        <p:nvSpPr>
          <p:cNvPr id="59" name="Text 45"/>
          <p:cNvSpPr txBox="1"/>
          <p:nvPr/>
        </p:nvSpPr>
        <p:spPr>
          <a:xfrm>
            <a:off x="10323576" y="476707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9.2%, ahead of 2025 in all nine months, but 0.8 pts under the 10% benchmark — 1,985 brake fluid services short.</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The group sits at 9.2%.</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40259"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590667"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45746" y="1756697"/>
            <a:ext cx="30095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+$195K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3045746" y="2005199"/>
            <a:ext cx="216846"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+$141K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0" name="Shape 28"/>
          <p:cNvSpPr/>
          <p:nvPr/>
        </p:nvSpPr>
        <p:spPr>
          <a:xfrm>
            <a:off x="3045746" y="2253700"/>
            <a:ext cx="78044"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+316</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045746" y="2502202"/>
            <a:ext cx="39072"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45746" y="2750703"/>
            <a:ext cx="37733"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045746" y="2999205"/>
            <a:ext cx="27359"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5" name="Shape 53"/>
          <p:cNvSpPr/>
          <p:nvPr/>
        </p:nvSpPr>
        <p:spPr>
          <a:xfrm>
            <a:off x="3045746" y="3247707"/>
            <a:ext cx="24282"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45746" y="3496208"/>
            <a:ext cx="22695"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7" name="Shape 65"/>
          <p:cNvSpPr/>
          <p:nvPr/>
        </p:nvSpPr>
        <p:spPr>
          <a:xfrm>
            <a:off x="3045746" y="3744710"/>
            <a:ext cx="18342" cy="136676"/>
          </a:xfrm>
          <a:prstGeom prst="rect">
            <a:avLst/>
          </a:prstGeom>
          <a:solidFill>
            <a:srgbClr val="12A566"/>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45746" y="3993212"/>
            <a:ext cx="18288" cy="136676"/>
          </a:xfrm>
          <a:prstGeom prst="rect">
            <a:avLst/>
          </a:prstGeom>
          <a:solidFill>
            <a:srgbClr val="12A566"/>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9" name="Shape 77"/>
          <p:cNvSpPr/>
          <p:nvPr/>
        </p:nvSpPr>
        <p:spPr>
          <a:xfrm>
            <a:off x="3045746" y="4241713"/>
            <a:ext cx="18288" cy="136676"/>
          </a:xfrm>
          <a:prstGeom prst="rect">
            <a:avLst/>
          </a:prstGeom>
          <a:solidFill>
            <a:srgbClr val="12A566"/>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3045746" y="4490215"/>
            <a:ext cx="18288" cy="136676"/>
          </a:xfrm>
          <a:prstGeom prst="rect">
            <a:avLst/>
          </a:prstGeom>
          <a:solidFill>
            <a:srgbClr val="12A566"/>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1" name="Shape 89"/>
          <p:cNvSpPr/>
          <p:nvPr/>
        </p:nvSpPr>
        <p:spPr>
          <a:xfrm>
            <a:off x="3041920"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40676"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3" name="Shape 101"/>
          <p:cNvSpPr/>
          <p:nvPr/>
        </p:nvSpPr>
        <p:spPr>
          <a:xfrm>
            <a:off x="3033120"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30647" y="5484222"/>
            <a:ext cx="18288"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5" name="Shape 113"/>
          <p:cNvSpPr/>
          <p:nvPr/>
        </p:nvSpPr>
        <p:spPr>
          <a:xfrm>
            <a:off x="3028256" y="5732723"/>
            <a:ext cx="18288"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1" name="Shape 119"/>
          <p:cNvSpPr/>
          <p:nvPr/>
        </p:nvSpPr>
        <p:spPr>
          <a:xfrm>
            <a:off x="8575690" y="1756697"/>
            <a:ext cx="20464"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7" name="Shape 125"/>
          <p:cNvSpPr/>
          <p:nvPr/>
        </p:nvSpPr>
        <p:spPr>
          <a:xfrm>
            <a:off x="8573386" y="2005199"/>
            <a:ext cx="22768" cy="136676"/>
          </a:xfrm>
          <a:prstGeom prst="rect">
            <a:avLst/>
          </a:prstGeom>
          <a:solidFill>
            <a:srgbClr val="C2352F"/>
          </a:solidFill>
          <a:ln/>
        </p:spPr>
      </p:sp>
      <p:sp>
        <p:nvSpPr>
          <p:cNvPr id="128" name="Text 126"/>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29" name="Text 127"/>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30" name="Text 128"/>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72297" y="2253700"/>
            <a:ext cx="23856" cy="136676"/>
          </a:xfrm>
          <a:prstGeom prst="rect">
            <a:avLst/>
          </a:prstGeom>
          <a:solidFill>
            <a:srgbClr val="C2352F"/>
          </a:solidFill>
          <a:ln/>
        </p:spPr>
      </p:sp>
      <p:sp>
        <p:nvSpPr>
          <p:cNvPr id="134" name="Text 132"/>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35" name="Text 133"/>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a:t>
            </a:r>
            <a:endParaRPr lang="en-US" sz="1300" dirty="0"/>
          </a:p>
        </p:txBody>
      </p:sp>
      <p:sp>
        <p:nvSpPr>
          <p:cNvPr id="136" name="Text 134"/>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9" name="Shape 137"/>
          <p:cNvSpPr/>
          <p:nvPr/>
        </p:nvSpPr>
        <p:spPr>
          <a:xfrm>
            <a:off x="8571491" y="2502202"/>
            <a:ext cx="24663" cy="136676"/>
          </a:xfrm>
          <a:prstGeom prst="rect">
            <a:avLst/>
          </a:prstGeom>
          <a:solidFill>
            <a:srgbClr val="C2352F"/>
          </a:solidFill>
          <a:ln/>
        </p:spPr>
      </p:sp>
      <p:sp>
        <p:nvSpPr>
          <p:cNvPr id="140" name="Text 138"/>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41" name="Text 139"/>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42" name="Text 140"/>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5" name="Shape 143"/>
          <p:cNvSpPr/>
          <p:nvPr/>
        </p:nvSpPr>
        <p:spPr>
          <a:xfrm>
            <a:off x="8570224" y="2750703"/>
            <a:ext cx="25930" cy="136676"/>
          </a:xfrm>
          <a:prstGeom prst="rect">
            <a:avLst/>
          </a:prstGeom>
          <a:solidFill>
            <a:srgbClr val="C2352F"/>
          </a:solidFill>
          <a:ln/>
        </p:spPr>
      </p:sp>
      <p:sp>
        <p:nvSpPr>
          <p:cNvPr id="146" name="Text 144"/>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47" name="Text 145"/>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48" name="Text 146"/>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1" name="Shape 149"/>
          <p:cNvSpPr/>
          <p:nvPr/>
        </p:nvSpPr>
        <p:spPr>
          <a:xfrm>
            <a:off x="8567184" y="2999205"/>
            <a:ext cx="28970" cy="136676"/>
          </a:xfrm>
          <a:prstGeom prst="rect">
            <a:avLst/>
          </a:prstGeom>
          <a:solidFill>
            <a:srgbClr val="C2352F"/>
          </a:solidFill>
          <a:ln/>
        </p:spPr>
      </p:sp>
      <p:sp>
        <p:nvSpPr>
          <p:cNvPr id="152" name="Text 150"/>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53" name="Text 151"/>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54" name="Text 152"/>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7" name="Shape 155"/>
          <p:cNvSpPr/>
          <p:nvPr/>
        </p:nvSpPr>
        <p:spPr>
          <a:xfrm>
            <a:off x="8559684" y="3247707"/>
            <a:ext cx="36470" cy="136676"/>
          </a:xfrm>
          <a:prstGeom prst="rect">
            <a:avLst/>
          </a:prstGeom>
          <a:solidFill>
            <a:srgbClr val="C2352F"/>
          </a:solidFill>
          <a:ln/>
        </p:spPr>
      </p:sp>
      <p:sp>
        <p:nvSpPr>
          <p:cNvPr id="158" name="Text 156"/>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9" name="Text 157"/>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−176</a:t>
            </a:r>
            <a:endParaRPr lang="en-US" sz="1300" dirty="0"/>
          </a:p>
        </p:txBody>
      </p:sp>
      <p:sp>
        <p:nvSpPr>
          <p:cNvPr id="160" name="Text 158"/>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971" y="3496208"/>
            <a:ext cx="37183" cy="136676"/>
          </a:xfrm>
          <a:prstGeom prst="rect">
            <a:avLst/>
          </a:prstGeom>
          <a:solidFill>
            <a:srgbClr val="C2352F"/>
          </a:solidFill>
          <a:ln/>
        </p:spPr>
      </p:sp>
      <p:sp>
        <p:nvSpPr>
          <p:cNvPr id="164" name="Text 162"/>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65" name="Text 163"/>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66" name="Text 16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69" name="Shape 167"/>
          <p:cNvSpPr/>
          <p:nvPr/>
        </p:nvSpPr>
        <p:spPr>
          <a:xfrm>
            <a:off x="8540881" y="3744710"/>
            <a:ext cx="55273" cy="136676"/>
          </a:xfrm>
          <a:prstGeom prst="rect">
            <a:avLst/>
          </a:prstGeom>
          <a:solidFill>
            <a:srgbClr val="C2352F"/>
          </a:solidFill>
          <a:ln/>
        </p:spPr>
      </p:sp>
      <p:sp>
        <p:nvSpPr>
          <p:cNvPr id="170" name="Text 168"/>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71" name="Text 169"/>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72" name="Text 170"/>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75" name="Shape 173"/>
          <p:cNvSpPr/>
          <p:nvPr/>
        </p:nvSpPr>
        <p:spPr>
          <a:xfrm>
            <a:off x="8535378" y="3993212"/>
            <a:ext cx="60776" cy="136676"/>
          </a:xfrm>
          <a:prstGeom prst="rect">
            <a:avLst/>
          </a:prstGeom>
          <a:solidFill>
            <a:srgbClr val="C2352F"/>
          </a:solidFill>
          <a:ln/>
        </p:spPr>
      </p:sp>
      <p:sp>
        <p:nvSpPr>
          <p:cNvPr id="176" name="Text 174"/>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77" name="Text 175"/>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−309</a:t>
            </a:r>
            <a:endParaRPr lang="en-US" sz="1300" dirty="0"/>
          </a:p>
        </p:txBody>
      </p:sp>
      <p:sp>
        <p:nvSpPr>
          <p:cNvPr id="178" name="Text 176"/>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81" name="Shape 179"/>
          <p:cNvSpPr/>
          <p:nvPr/>
        </p:nvSpPr>
        <p:spPr>
          <a:xfrm>
            <a:off x="8530529" y="4241713"/>
            <a:ext cx="65625" cy="136676"/>
          </a:xfrm>
          <a:prstGeom prst="rect">
            <a:avLst/>
          </a:prstGeom>
          <a:solidFill>
            <a:srgbClr val="C2352F"/>
          </a:solidFill>
          <a:ln/>
        </p:spPr>
      </p:sp>
      <p:sp>
        <p:nvSpPr>
          <p:cNvPr id="182" name="Text 180"/>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3" name="Text 181"/>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−284</a:t>
            </a:r>
            <a:endParaRPr lang="en-US" sz="1300" dirty="0"/>
          </a:p>
        </p:txBody>
      </p:sp>
      <p:sp>
        <p:nvSpPr>
          <p:cNvPr id="184" name="Text 182"/>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87" name="Shape 185"/>
          <p:cNvSpPr/>
          <p:nvPr/>
        </p:nvSpPr>
        <p:spPr>
          <a:xfrm>
            <a:off x="8518235" y="4490215"/>
            <a:ext cx="77919" cy="136676"/>
          </a:xfrm>
          <a:prstGeom prst="rect">
            <a:avLst/>
          </a:prstGeom>
          <a:solidFill>
            <a:srgbClr val="C2352F"/>
          </a:solidFill>
          <a:ln/>
        </p:spPr>
      </p:sp>
      <p:sp>
        <p:nvSpPr>
          <p:cNvPr id="188" name="Text 186"/>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89" name="Text 187"/>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90" name="Text 188"/>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91" name="Shape 189"/>
          <p:cNvSpPr/>
          <p:nvPr/>
        </p:nvSpPr>
        <p:spPr>
          <a:xfrm>
            <a:off x="11521440" y="4480022"/>
            <a:ext cx="54864" cy="157062"/>
          </a:xfrm>
          <a:prstGeom prst="rect">
            <a:avLst/>
          </a:prstGeom>
          <a:solidFill>
            <a:srgbClr val="C2352F"/>
          </a:solidFill>
          <a:ln/>
        </p:spPr>
      </p:sp>
      <p:sp>
        <p:nvSpPr>
          <p:cNvPr id="192" name="Text 190"/>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3" name="Text 191"/>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94" name="Shape 192"/>
          <p:cNvSpPr/>
          <p:nvPr/>
        </p:nvSpPr>
        <p:spPr>
          <a:xfrm>
            <a:off x="8510027" y="4738717"/>
            <a:ext cx="86127" cy="136676"/>
          </a:xfrm>
          <a:prstGeom prst="rect">
            <a:avLst/>
          </a:prstGeom>
          <a:solidFill>
            <a:srgbClr val="C2352F"/>
          </a:solidFill>
          <a:ln/>
        </p:spPr>
      </p:sp>
      <p:sp>
        <p:nvSpPr>
          <p:cNvPr id="195" name="Text 193"/>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96" name="Text 194"/>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97" name="Text 195"/>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8" name="Shape 196"/>
          <p:cNvSpPr/>
          <p:nvPr/>
        </p:nvSpPr>
        <p:spPr>
          <a:xfrm>
            <a:off x="11521440" y="4728524"/>
            <a:ext cx="54864" cy="157062"/>
          </a:xfrm>
          <a:prstGeom prst="rect">
            <a:avLst/>
          </a:prstGeom>
          <a:solidFill>
            <a:srgbClr val="C2352F"/>
          </a:solidFill>
          <a:ln/>
        </p:spPr>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1" name="Shape 199"/>
          <p:cNvSpPr/>
          <p:nvPr/>
        </p:nvSpPr>
        <p:spPr>
          <a:xfrm>
            <a:off x="8506004" y="4987218"/>
            <a:ext cx="90150"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05" name="Shape 203"/>
          <p:cNvSpPr/>
          <p:nvPr/>
        </p:nvSpPr>
        <p:spPr>
          <a:xfrm>
            <a:off x="11521440" y="4977025"/>
            <a:ext cx="54864" cy="157062"/>
          </a:xfrm>
          <a:prstGeom prst="rect">
            <a:avLst/>
          </a:prstGeom>
          <a:solidFill>
            <a:srgbClr val="C2352F"/>
          </a:solidFill>
          <a:ln/>
        </p:spPr>
      </p:sp>
      <p:sp>
        <p:nvSpPr>
          <p:cNvPr id="206" name="Text 204"/>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7" name="Text 205"/>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8" name="Shape 206"/>
          <p:cNvSpPr/>
          <p:nvPr/>
        </p:nvSpPr>
        <p:spPr>
          <a:xfrm>
            <a:off x="8503628" y="5235720"/>
            <a:ext cx="92525" cy="136676"/>
          </a:xfrm>
          <a:prstGeom prst="rect">
            <a:avLst/>
          </a:prstGeom>
          <a:solidFill>
            <a:srgbClr val="C2352F"/>
          </a:solidFill>
          <a:ln/>
        </p:spPr>
      </p:sp>
      <p:sp>
        <p:nvSpPr>
          <p:cNvPr id="209" name="Text 207"/>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210" name="Text 208"/>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−513</a:t>
            </a:r>
            <a:endParaRPr lang="en-US" sz="1300" dirty="0"/>
          </a:p>
        </p:txBody>
      </p:sp>
      <p:sp>
        <p:nvSpPr>
          <p:cNvPr id="211" name="Text 20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2" name="Text 21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3" name="Text 211"/>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4" name="Shape 212"/>
          <p:cNvSpPr/>
          <p:nvPr/>
        </p:nvSpPr>
        <p:spPr>
          <a:xfrm>
            <a:off x="8421624" y="5484222"/>
            <a:ext cx="174530" cy="136676"/>
          </a:xfrm>
          <a:prstGeom prst="rect">
            <a:avLst/>
          </a:prstGeom>
          <a:solidFill>
            <a:srgbClr val="C2352F"/>
          </a:solidFill>
          <a:ln/>
        </p:spPr>
      </p:sp>
      <p:sp>
        <p:nvSpPr>
          <p:cNvPr id="215" name="Text 213"/>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−$113K</a:t>
            </a:r>
            <a:endParaRPr lang="en-US" sz="1300" dirty="0"/>
          </a:p>
        </p:txBody>
      </p:sp>
      <p:sp>
        <p:nvSpPr>
          <p:cNvPr id="216" name="Text 214"/>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−820</a:t>
            </a:r>
            <a:endParaRPr lang="en-US" sz="1300" dirty="0"/>
          </a:p>
        </p:txBody>
      </p:sp>
      <p:sp>
        <p:nvSpPr>
          <p:cNvPr id="217" name="Text 215"/>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have left $633,493 so far this year; 12 are at or above it.</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3 VS LAST YEAR</a:t>
            </a:r>
            <a:endParaRPr lang="en-US" sz="1500" dirty="0"/>
          </a:p>
        </p:txBody>
      </p:sp>
      <p:sp>
        <p:nvSpPr>
          <p:cNvPr id="9" name="Shape 7"/>
          <p:cNvSpPr/>
          <p:nvPr/>
        </p:nvSpPr>
        <p:spPr>
          <a:xfrm>
            <a:off x="658368" y="1810512"/>
            <a:ext cx="3489960" cy="1478280"/>
          </a:xfrm>
          <a:prstGeom prst="rect">
            <a:avLst/>
          </a:prstGeom>
          <a:solidFill>
            <a:srgbClr val="F7F7F7"/>
          </a:solidFill>
          <a:ln/>
        </p:spPr>
      </p:sp>
      <p:sp>
        <p:nvSpPr>
          <p:cNvPr id="10" name="Text 8"/>
          <p:cNvSpPr txBox="1"/>
          <p:nvPr/>
        </p:nvSpPr>
        <p:spPr>
          <a:xfrm>
            <a:off x="749808"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11" name="Text 9"/>
          <p:cNvSpPr txBox="1"/>
          <p:nvPr/>
        </p:nvSpPr>
        <p:spPr>
          <a:xfrm>
            <a:off x="1097280"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graphicFrame>
        <p:nvGraphicFramePr>
          <p:cNvPr id="12" name="Chart 0" descr=""/>
          <p:cNvGraphicFramePr/>
          <p:nvPr/>
        </p:nvGraphicFramePr>
        <p:xfrm>
          <a:off x="1097280" y="2697480"/>
          <a:ext cx="1972056" cy="502615"/>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4" name="Text 11"/>
          <p:cNvSpPr txBox="1"/>
          <p:nvPr/>
        </p:nvSpPr>
        <p:spPr>
          <a:xfrm>
            <a:off x="749808"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15" name="Text 12"/>
          <p:cNvSpPr txBox="1"/>
          <p:nvPr/>
        </p:nvSpPr>
        <p:spPr>
          <a:xfrm>
            <a:off x="1097280"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graphicFrame>
        <p:nvGraphicFramePr>
          <p:cNvPr id="16" name="Chart 1" descr=""/>
          <p:cNvGraphicFramePr/>
          <p:nvPr/>
        </p:nvGraphicFramePr>
        <p:xfrm>
          <a:off x="1097280" y="4175760"/>
          <a:ext cx="1972056" cy="502615"/>
        </p:xfrm>
        <a:graphic>
          <a:graphicData uri="http://schemas.openxmlformats.org/drawingml/2006/chart">
            <c:chart xmlns:c="http://schemas.openxmlformats.org/drawingml/2006/chart" r:id="rId3"/>
          </a:graphicData>
        </a:graphic>
      </p:graphicFrame>
      <p:sp>
        <p:nvSpPr>
          <p:cNvPr id="17" name="Text 13"/>
          <p:cNvSpPr txBox="1"/>
          <p:nvPr/>
        </p:nvSpPr>
        <p:spPr>
          <a:xfrm>
            <a:off x="2941320" y="328879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8" name="Shape 14"/>
          <p:cNvSpPr/>
          <p:nvPr/>
        </p:nvSpPr>
        <p:spPr>
          <a:xfrm>
            <a:off x="658368" y="4767072"/>
            <a:ext cx="3489960" cy="1478280"/>
          </a:xfrm>
          <a:prstGeom prst="rect">
            <a:avLst/>
          </a:prstGeom>
          <a:solidFill>
            <a:srgbClr val="F7F7F7"/>
          </a:solidFill>
          <a:ln/>
        </p:spPr>
      </p:sp>
      <p:sp>
        <p:nvSpPr>
          <p:cNvPr id="19" name="Text 15"/>
          <p:cNvSpPr txBox="1"/>
          <p:nvPr/>
        </p:nvSpPr>
        <p:spPr>
          <a:xfrm>
            <a:off x="749808"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20" name="Text 16"/>
          <p:cNvSpPr txBox="1"/>
          <p:nvPr/>
        </p:nvSpPr>
        <p:spPr>
          <a:xfrm>
            <a:off x="1097280"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graphicFrame>
        <p:nvGraphicFramePr>
          <p:cNvPr id="21" name="Chart 2" descr=""/>
          <p:cNvGraphicFramePr/>
          <p:nvPr/>
        </p:nvGraphicFramePr>
        <p:xfrm>
          <a:off x="1097280" y="5654040"/>
          <a:ext cx="1972056" cy="502615"/>
        </p:xfrm>
        <a:graphic>
          <a:graphicData uri="http://schemas.openxmlformats.org/drawingml/2006/chart">
            <c:chart xmlns:c="http://schemas.openxmlformats.org/drawingml/2006/chart" r:id="rId4"/>
          </a:graphicData>
        </a:graphic>
      </p:graphicFrame>
      <p:sp>
        <p:nvSpPr>
          <p:cNvPr id="22" name="Text 17"/>
          <p:cNvSpPr txBox="1"/>
          <p:nvPr/>
        </p:nvSpPr>
        <p:spPr>
          <a:xfrm>
            <a:off x="2941320" y="476707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3" name="Shape 18"/>
          <p:cNvSpPr/>
          <p:nvPr/>
        </p:nvSpPr>
        <p:spPr>
          <a:xfrm>
            <a:off x="4349496" y="1371600"/>
            <a:ext cx="3489960" cy="45720"/>
          </a:xfrm>
          <a:prstGeom prst="rect">
            <a:avLst/>
          </a:prstGeom>
          <a:solidFill>
            <a:srgbClr val="C2352F"/>
          </a:solidFill>
          <a:ln/>
        </p:spPr>
      </p:sp>
      <p:sp>
        <p:nvSpPr>
          <p:cNvPr id="24" name="Text 1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3 VS LAST YEAR</a:t>
            </a:r>
            <a:endParaRPr lang="en-US" sz="1500" dirty="0"/>
          </a:p>
        </p:txBody>
      </p:sp>
      <p:sp>
        <p:nvSpPr>
          <p:cNvPr id="25" name="Shape 20"/>
          <p:cNvSpPr/>
          <p:nvPr/>
        </p:nvSpPr>
        <p:spPr>
          <a:xfrm>
            <a:off x="4349496" y="1810512"/>
            <a:ext cx="3489960" cy="1478280"/>
          </a:xfrm>
          <a:prstGeom prst="rect">
            <a:avLst/>
          </a:prstGeom>
          <a:solidFill>
            <a:srgbClr val="F7F7F7"/>
          </a:solidFill>
          <a:ln/>
        </p:spPr>
      </p:sp>
      <p:sp>
        <p:nvSpPr>
          <p:cNvPr id="26" name="Text 21"/>
          <p:cNvSpPr txBox="1"/>
          <p:nvPr/>
        </p:nvSpPr>
        <p:spPr>
          <a:xfrm>
            <a:off x="4440936"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33</a:t>
            </a:r>
            <a:endParaRPr lang="en-US" sz="2000" dirty="0"/>
          </a:p>
        </p:txBody>
      </p:sp>
      <p:sp>
        <p:nvSpPr>
          <p:cNvPr id="27" name="Text 22"/>
          <p:cNvSpPr txBox="1"/>
          <p:nvPr/>
        </p:nvSpPr>
        <p:spPr>
          <a:xfrm>
            <a:off x="4788408"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graphicFrame>
        <p:nvGraphicFramePr>
          <p:cNvPr id="28" name="Chart 3" descr=""/>
          <p:cNvGraphicFramePr/>
          <p:nvPr/>
        </p:nvGraphicFramePr>
        <p:xfrm>
          <a:off x="4788408" y="2697480"/>
          <a:ext cx="1972056" cy="502615"/>
        </p:xfrm>
        <a:graphic>
          <a:graphicData uri="http://schemas.openxmlformats.org/drawingml/2006/chart">
            <c:chart xmlns:c="http://schemas.openxmlformats.org/drawingml/2006/chart" r:id="rId5"/>
          </a:graphicData>
        </a:graphic>
      </p:graphicFrame>
      <p:sp>
        <p:nvSpPr>
          <p:cNvPr id="29" name="Text 23"/>
          <p:cNvSpPr txBox="1"/>
          <p:nvPr/>
        </p:nvSpPr>
        <p:spPr>
          <a:xfrm>
            <a:off x="6632448" y="181051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 pts</a:t>
            </a:r>
            <a:endParaRPr lang="en-US" sz="1600" dirty="0"/>
          </a:p>
        </p:txBody>
      </p:sp>
      <p:sp>
        <p:nvSpPr>
          <p:cNvPr id="30" name="Text 24"/>
          <p:cNvSpPr txBox="1"/>
          <p:nvPr/>
        </p:nvSpPr>
        <p:spPr>
          <a:xfrm>
            <a:off x="4440936"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32</a:t>
            </a:r>
            <a:endParaRPr lang="en-US" sz="2000" dirty="0"/>
          </a:p>
        </p:txBody>
      </p:sp>
      <p:sp>
        <p:nvSpPr>
          <p:cNvPr id="31" name="Text 25"/>
          <p:cNvSpPr txBox="1"/>
          <p:nvPr/>
        </p:nvSpPr>
        <p:spPr>
          <a:xfrm>
            <a:off x="4788408"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graphicFrame>
        <p:nvGraphicFramePr>
          <p:cNvPr id="32" name="Chart 4" descr=""/>
          <p:cNvGraphicFramePr/>
          <p:nvPr/>
        </p:nvGraphicFramePr>
        <p:xfrm>
          <a:off x="4788408" y="4175760"/>
          <a:ext cx="1972056" cy="502615"/>
        </p:xfrm>
        <a:graphic>
          <a:graphicData uri="http://schemas.openxmlformats.org/drawingml/2006/chart">
            <c:chart xmlns:c="http://schemas.openxmlformats.org/drawingml/2006/chart" r:id="rId6"/>
          </a:graphicData>
        </a:graphic>
      </p:graphicFrame>
      <p:sp>
        <p:nvSpPr>
          <p:cNvPr id="33" name="Text 26"/>
          <p:cNvSpPr txBox="1"/>
          <p:nvPr/>
        </p:nvSpPr>
        <p:spPr>
          <a:xfrm>
            <a:off x="6632448" y="328879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4" name="Shape 27"/>
          <p:cNvSpPr/>
          <p:nvPr/>
        </p:nvSpPr>
        <p:spPr>
          <a:xfrm>
            <a:off x="4349496" y="4767072"/>
            <a:ext cx="3489960" cy="1478280"/>
          </a:xfrm>
          <a:prstGeom prst="rect">
            <a:avLst/>
          </a:prstGeom>
          <a:solidFill>
            <a:srgbClr val="F7F7F7"/>
          </a:solidFill>
          <a:ln/>
        </p:spPr>
      </p:sp>
      <p:sp>
        <p:nvSpPr>
          <p:cNvPr id="35" name="Text 28"/>
          <p:cNvSpPr txBox="1"/>
          <p:nvPr/>
        </p:nvSpPr>
        <p:spPr>
          <a:xfrm>
            <a:off x="4440936"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31</a:t>
            </a:r>
            <a:endParaRPr lang="en-US" sz="2000" dirty="0"/>
          </a:p>
        </p:txBody>
      </p:sp>
      <p:sp>
        <p:nvSpPr>
          <p:cNvPr id="36" name="Text 29"/>
          <p:cNvSpPr txBox="1"/>
          <p:nvPr/>
        </p:nvSpPr>
        <p:spPr>
          <a:xfrm>
            <a:off x="4788408"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graphicFrame>
        <p:nvGraphicFramePr>
          <p:cNvPr id="37" name="Chart 5" descr=""/>
          <p:cNvGraphicFramePr/>
          <p:nvPr/>
        </p:nvGraphicFramePr>
        <p:xfrm>
          <a:off x="4788408" y="5654040"/>
          <a:ext cx="1972056" cy="502615"/>
        </p:xfrm>
        <a:graphic>
          <a:graphicData uri="http://schemas.openxmlformats.org/drawingml/2006/chart">
            <c:chart xmlns:c="http://schemas.openxmlformats.org/drawingml/2006/chart" r:id="rId7"/>
          </a:graphicData>
        </a:graphic>
      </p:graphicFrame>
      <p:sp>
        <p:nvSpPr>
          <p:cNvPr id="38" name="Text 30"/>
          <p:cNvSpPr txBox="1"/>
          <p:nvPr/>
        </p:nvSpPr>
        <p:spPr>
          <a:xfrm>
            <a:off x="6632448" y="476707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39" name="Shape 31"/>
          <p:cNvSpPr/>
          <p:nvPr/>
        </p:nvSpPr>
        <p:spPr>
          <a:xfrm>
            <a:off x="8040624" y="1371600"/>
            <a:ext cx="3489960" cy="45720"/>
          </a:xfrm>
          <a:prstGeom prst="rect">
            <a:avLst/>
          </a:prstGeom>
          <a:solidFill>
            <a:srgbClr val="2587C5"/>
          </a:solidFill>
          <a:ln/>
        </p:spPr>
      </p:sp>
      <p:sp>
        <p:nvSpPr>
          <p:cNvPr id="40" name="Text 32"/>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3 MOVING NOW</a:t>
            </a:r>
            <a:endParaRPr lang="en-US" sz="1500" dirty="0"/>
          </a:p>
        </p:txBody>
      </p:sp>
      <p:sp>
        <p:nvSpPr>
          <p:cNvPr id="41" name="Shape 33"/>
          <p:cNvSpPr/>
          <p:nvPr/>
        </p:nvSpPr>
        <p:spPr>
          <a:xfrm>
            <a:off x="8040624" y="1810512"/>
            <a:ext cx="3489960" cy="1478280"/>
          </a:xfrm>
          <a:prstGeom prst="rect">
            <a:avLst/>
          </a:prstGeom>
          <a:solidFill>
            <a:srgbClr val="F7F7F7"/>
          </a:solidFill>
          <a:ln/>
        </p:spPr>
      </p:sp>
      <p:sp>
        <p:nvSpPr>
          <p:cNvPr id="42" name="Text 34"/>
          <p:cNvSpPr txBox="1"/>
          <p:nvPr/>
        </p:nvSpPr>
        <p:spPr>
          <a:xfrm>
            <a:off x="8132064"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43" name="Text 35"/>
          <p:cNvSpPr txBox="1"/>
          <p:nvPr/>
        </p:nvSpPr>
        <p:spPr>
          <a:xfrm>
            <a:off x="8479536"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44" name="Chart 6" descr=""/>
          <p:cNvGraphicFramePr/>
          <p:nvPr/>
        </p:nvGraphicFramePr>
        <p:xfrm>
          <a:off x="8479536" y="2697480"/>
          <a:ext cx="1972056" cy="502615"/>
        </p:xfrm>
        <a:graphic>
          <a:graphicData uri="http://schemas.openxmlformats.org/drawingml/2006/chart">
            <c:chart xmlns:c="http://schemas.openxmlformats.org/drawingml/2006/chart" r:id="rId8"/>
          </a:graphicData>
        </a:graphic>
      </p:graphicFrame>
      <p:graphicFrame>
        <p:nvGraphicFramePr>
          <p:cNvPr id="45" name="Chart 7" descr=""/>
          <p:cNvGraphicFramePr/>
          <p:nvPr/>
        </p:nvGraphicFramePr>
        <p:xfrm>
          <a:off x="8479536" y="2697480"/>
          <a:ext cx="1972056" cy="502615"/>
        </p:xfrm>
        <a:graphic>
          <a:graphicData uri="http://schemas.openxmlformats.org/drawingml/2006/chart">
            <c:chart xmlns:c="http://schemas.openxmlformats.org/drawingml/2006/chart" r:id="rId9"/>
          </a:graphicData>
        </a:graphic>
      </p:graphicFrame>
      <p:sp>
        <p:nvSpPr>
          <p:cNvPr id="46" name="Text 36"/>
          <p:cNvSpPr txBox="1"/>
          <p:nvPr/>
        </p:nvSpPr>
        <p:spPr>
          <a:xfrm>
            <a:off x="10323576" y="181051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47" name="Text 37"/>
          <p:cNvSpPr txBox="1"/>
          <p:nvPr/>
        </p:nvSpPr>
        <p:spPr>
          <a:xfrm>
            <a:off x="8132064"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48" name="Text 38"/>
          <p:cNvSpPr txBox="1"/>
          <p:nvPr/>
        </p:nvSpPr>
        <p:spPr>
          <a:xfrm>
            <a:off x="8479536"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49" name="Chart 8" descr=""/>
          <p:cNvGraphicFramePr/>
          <p:nvPr/>
        </p:nvGraphicFramePr>
        <p:xfrm>
          <a:off x="8479536" y="4175760"/>
          <a:ext cx="1972056" cy="502615"/>
        </p:xfrm>
        <a:graphic>
          <a:graphicData uri="http://schemas.openxmlformats.org/drawingml/2006/chart">
            <c:chart xmlns:c="http://schemas.openxmlformats.org/drawingml/2006/chart" r:id="rId10"/>
          </a:graphicData>
        </a:graphic>
      </p:graphicFrame>
      <p:graphicFrame>
        <p:nvGraphicFramePr>
          <p:cNvPr id="50" name="Chart 9" descr=""/>
          <p:cNvGraphicFramePr/>
          <p:nvPr/>
        </p:nvGraphicFramePr>
        <p:xfrm>
          <a:off x="8479536" y="4175760"/>
          <a:ext cx="1972056" cy="502615"/>
        </p:xfrm>
        <a:graphic>
          <a:graphicData uri="http://schemas.openxmlformats.org/drawingml/2006/chart">
            <c:chart xmlns:c="http://schemas.openxmlformats.org/drawingml/2006/chart" r:id="rId11"/>
          </a:graphicData>
        </a:graphic>
      </p:graphicFrame>
      <p:sp>
        <p:nvSpPr>
          <p:cNvPr id="51" name="Text 39"/>
          <p:cNvSpPr txBox="1"/>
          <p:nvPr/>
        </p:nvSpPr>
        <p:spPr>
          <a:xfrm>
            <a:off x="10323576" y="328879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2" name="Shape 40"/>
          <p:cNvSpPr/>
          <p:nvPr/>
        </p:nvSpPr>
        <p:spPr>
          <a:xfrm>
            <a:off x="8040624" y="4767072"/>
            <a:ext cx="3489960" cy="1478280"/>
          </a:xfrm>
          <a:prstGeom prst="rect">
            <a:avLst/>
          </a:prstGeom>
          <a:solidFill>
            <a:srgbClr val="F7F7F7"/>
          </a:solidFill>
          <a:ln/>
        </p:spPr>
      </p:sp>
      <p:sp>
        <p:nvSpPr>
          <p:cNvPr id="53" name="Text 41"/>
          <p:cNvSpPr txBox="1"/>
          <p:nvPr/>
        </p:nvSpPr>
        <p:spPr>
          <a:xfrm>
            <a:off x="8132064"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54" name="Text 42"/>
          <p:cNvSpPr txBox="1"/>
          <p:nvPr/>
        </p:nvSpPr>
        <p:spPr>
          <a:xfrm>
            <a:off x="8479536"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graphicFrame>
        <p:nvGraphicFramePr>
          <p:cNvPr id="55" name="Chart 10" descr=""/>
          <p:cNvGraphicFramePr/>
          <p:nvPr/>
        </p:nvGraphicFramePr>
        <p:xfrm>
          <a:off x="8479536" y="5654040"/>
          <a:ext cx="1972056" cy="502615"/>
        </p:xfrm>
        <a:graphic>
          <a:graphicData uri="http://schemas.openxmlformats.org/drawingml/2006/chart">
            <c:chart xmlns:c="http://schemas.openxmlformats.org/drawingml/2006/chart" r:id="rId12"/>
          </a:graphicData>
        </a:graphic>
      </p:graphicFrame>
      <p:graphicFrame>
        <p:nvGraphicFramePr>
          <p:cNvPr id="56" name="Chart 11" descr=""/>
          <p:cNvGraphicFramePr/>
          <p:nvPr/>
        </p:nvGraphicFramePr>
        <p:xfrm>
          <a:off x="8479536" y="5654040"/>
          <a:ext cx="1972056" cy="502615"/>
        </p:xfrm>
        <a:graphic>
          <a:graphicData uri="http://schemas.openxmlformats.org/drawingml/2006/chart">
            <c:chart xmlns:c="http://schemas.openxmlformats.org/drawingml/2006/chart" r:id="rId13"/>
          </a:graphicData>
        </a:graphic>
      </p:graphicFrame>
      <p:sp>
        <p:nvSpPr>
          <p:cNvPr id="57" name="Text 43"/>
          <p:cNvSpPr txBox="1"/>
          <p:nvPr/>
        </p:nvSpPr>
        <p:spPr>
          <a:xfrm>
            <a:off x="10323576" y="476707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5.8%, ahead of 2025 in all nine months, but 1.7 pts under the 7.5% benchmark — 4,731 fuel services short.</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The group sits at 5.8%.</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72677"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23085"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78163" y="1756697"/>
            <a:ext cx="268541"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+$138K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3" name="Shape 21"/>
          <p:cNvSpPr/>
          <p:nvPr/>
        </p:nvSpPr>
        <p:spPr>
          <a:xfrm>
            <a:off x="3078163" y="2005199"/>
            <a:ext cx="104320"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0" name="Shape 28"/>
          <p:cNvSpPr/>
          <p:nvPr/>
        </p:nvSpPr>
        <p:spPr>
          <a:xfrm>
            <a:off x="3078163" y="2253700"/>
            <a:ext cx="74727"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78163" y="2502202"/>
            <a:ext cx="19359"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3" name="Shape 41"/>
          <p:cNvSpPr/>
          <p:nvPr/>
        </p:nvSpPr>
        <p:spPr>
          <a:xfrm>
            <a:off x="3078163" y="2750703"/>
            <a:ext cx="18288"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78163" y="2999205"/>
            <a:ext cx="18288"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5" name="Shape 53"/>
          <p:cNvSpPr/>
          <p:nvPr/>
        </p:nvSpPr>
        <p:spPr>
          <a:xfrm>
            <a:off x="3078163"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76409"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−$905</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7" name="Shape 65"/>
          <p:cNvSpPr/>
          <p:nvPr/>
        </p:nvSpPr>
        <p:spPr>
          <a:xfrm>
            <a:off x="3063321"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3" name="Shape 71"/>
          <p:cNvSpPr/>
          <p:nvPr/>
        </p:nvSpPr>
        <p:spPr>
          <a:xfrm>
            <a:off x="3059655" y="3993212"/>
            <a:ext cx="18509"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3051638" y="4241713"/>
            <a:ext cx="26525"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3050701" y="4490215"/>
            <a:ext cx="27462"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047298" y="4738717"/>
            <a:ext cx="30866"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3043502" y="4987218"/>
            <a:ext cx="34662"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3" name="Shape 101"/>
          <p:cNvSpPr/>
          <p:nvPr/>
        </p:nvSpPr>
        <p:spPr>
          <a:xfrm>
            <a:off x="3041920" y="5235720"/>
            <a:ext cx="36243"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9" name="Shape 107"/>
          <p:cNvSpPr/>
          <p:nvPr/>
        </p:nvSpPr>
        <p:spPr>
          <a:xfrm>
            <a:off x="3040249" y="5484222"/>
            <a:ext cx="379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3036175" y="5732723"/>
            <a:ext cx="41989"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79493" y="1756697"/>
            <a:ext cx="49079"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25" name="Shape 123"/>
          <p:cNvSpPr/>
          <p:nvPr/>
        </p:nvSpPr>
        <p:spPr>
          <a:xfrm>
            <a:off x="11521440" y="1746504"/>
            <a:ext cx="54864" cy="157062"/>
          </a:xfrm>
          <a:prstGeom prst="rect">
            <a:avLst/>
          </a:prstGeom>
          <a:solidFill>
            <a:srgbClr val="C2352F"/>
          </a:solidFill>
          <a:ln/>
        </p:spPr>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61923" y="2005199"/>
            <a:ext cx="6664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553773" y="2253700"/>
            <a:ext cx="74798"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47178" y="2502202"/>
            <a:ext cx="81394"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−255</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47001" y="2750703"/>
            <a:ext cx="81571"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4" name="Shape 152"/>
          <p:cNvSpPr/>
          <p:nvPr/>
        </p:nvSpPr>
        <p:spPr>
          <a:xfrm>
            <a:off x="8541404" y="2999205"/>
            <a:ext cx="87168"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−273</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8538750" y="3247707"/>
            <a:ext cx="89822"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7" name="Shape 165"/>
          <p:cNvSpPr/>
          <p:nvPr/>
        </p:nvSpPr>
        <p:spPr>
          <a:xfrm>
            <a:off x="8538158" y="3496208"/>
            <a:ext cx="90414"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71" name="Shape 169"/>
          <p:cNvSpPr/>
          <p:nvPr/>
        </p:nvSpPr>
        <p:spPr>
          <a:xfrm>
            <a:off x="11521440" y="3486016"/>
            <a:ext cx="54864" cy="157062"/>
          </a:xfrm>
          <a:prstGeom prst="rect">
            <a:avLst/>
          </a:prstGeom>
          <a:solidFill>
            <a:srgbClr val="9AA3AD"/>
          </a:solidFill>
          <a:ln/>
        </p:spPr>
      </p:sp>
      <p:sp>
        <p:nvSpPr>
          <p:cNvPr id="172" name="Text 17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3" name="Text 17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4" name="Shape 172"/>
          <p:cNvSpPr/>
          <p:nvPr/>
        </p:nvSpPr>
        <p:spPr>
          <a:xfrm>
            <a:off x="8536111" y="3744710"/>
            <a:ext cx="92460" cy="136676"/>
          </a:xfrm>
          <a:prstGeom prst="rect">
            <a:avLst/>
          </a:prstGeom>
          <a:solidFill>
            <a:srgbClr val="C2352F"/>
          </a:solidFill>
          <a:ln/>
        </p:spPr>
      </p:sp>
      <p:sp>
        <p:nvSpPr>
          <p:cNvPr id="175" name="Text 173"/>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76" name="Text 174"/>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7" name="Text 175"/>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78" name="Text 17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9" name="Text 17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80" name="Shape 178"/>
          <p:cNvSpPr/>
          <p:nvPr/>
        </p:nvSpPr>
        <p:spPr>
          <a:xfrm>
            <a:off x="8533760" y="3993212"/>
            <a:ext cx="94812" cy="136676"/>
          </a:xfrm>
          <a:prstGeom prst="rect">
            <a:avLst/>
          </a:prstGeom>
          <a:solidFill>
            <a:srgbClr val="C2352F"/>
          </a:solidFill>
          <a:ln/>
        </p:spPr>
      </p:sp>
      <p:sp>
        <p:nvSpPr>
          <p:cNvPr id="181" name="Text 179"/>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82" name="Text 180"/>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83" name="Text 181"/>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84" name="Text 18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5" name="Text 18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86" name="Shape 184"/>
          <p:cNvSpPr/>
          <p:nvPr/>
        </p:nvSpPr>
        <p:spPr>
          <a:xfrm>
            <a:off x="8519388" y="4241713"/>
            <a:ext cx="109184" cy="136676"/>
          </a:xfrm>
          <a:prstGeom prst="rect">
            <a:avLst/>
          </a:prstGeom>
          <a:solidFill>
            <a:srgbClr val="C2352F"/>
          </a:solidFill>
          <a:ln/>
        </p:spPr>
      </p:sp>
      <p:sp>
        <p:nvSpPr>
          <p:cNvPr id="187" name="Text 185"/>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88" name="Text 186"/>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a:t>
            </a:r>
            <a:endParaRPr lang="en-US" sz="1300" dirty="0"/>
          </a:p>
        </p:txBody>
      </p:sp>
      <p:sp>
        <p:nvSpPr>
          <p:cNvPr id="189" name="Text 187"/>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0" name="Text 18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1" name="Text 18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2" name="Shape 190"/>
          <p:cNvSpPr/>
          <p:nvPr/>
        </p:nvSpPr>
        <p:spPr>
          <a:xfrm>
            <a:off x="8518626" y="4490215"/>
            <a:ext cx="109946" cy="136676"/>
          </a:xfrm>
          <a:prstGeom prst="rect">
            <a:avLst/>
          </a:prstGeom>
          <a:solidFill>
            <a:srgbClr val="C2352F"/>
          </a:solidFill>
          <a:ln/>
        </p:spPr>
      </p:sp>
      <p:sp>
        <p:nvSpPr>
          <p:cNvPr id="193" name="Text 191"/>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4" name="Text 192"/>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a:t>
            </a:r>
            <a:endParaRPr lang="en-US" sz="1300" dirty="0"/>
          </a:p>
        </p:txBody>
      </p:sp>
      <p:sp>
        <p:nvSpPr>
          <p:cNvPr id="195" name="Text 193"/>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6" name="Text 19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7" name="Text 19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98" name="Shape 196"/>
          <p:cNvSpPr/>
          <p:nvPr/>
        </p:nvSpPr>
        <p:spPr>
          <a:xfrm>
            <a:off x="8505476" y="4738717"/>
            <a:ext cx="123095" cy="136676"/>
          </a:xfrm>
          <a:prstGeom prst="rect">
            <a:avLst/>
          </a:prstGeom>
          <a:solidFill>
            <a:srgbClr val="C2352F"/>
          </a:solidFill>
          <a:ln/>
        </p:spPr>
      </p:sp>
      <p:sp>
        <p:nvSpPr>
          <p:cNvPr id="199" name="Text 197"/>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200" name="Text 198"/>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−386</a:t>
            </a:r>
            <a:endParaRPr lang="en-US" sz="1300" dirty="0"/>
          </a:p>
        </p:txBody>
      </p:sp>
      <p:sp>
        <p:nvSpPr>
          <p:cNvPr id="201" name="Text 19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202" name="Shape 200"/>
          <p:cNvSpPr/>
          <p:nvPr/>
        </p:nvSpPr>
        <p:spPr>
          <a:xfrm>
            <a:off x="11521440" y="4728524"/>
            <a:ext cx="54864" cy="157062"/>
          </a:xfrm>
          <a:prstGeom prst="rect">
            <a:avLst/>
          </a:prstGeom>
          <a:solidFill>
            <a:srgbClr val="9AA3AD"/>
          </a:solidFill>
          <a:ln/>
        </p:spPr>
      </p:sp>
      <p:sp>
        <p:nvSpPr>
          <p:cNvPr id="203" name="Text 201"/>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4" name="Text 202"/>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5" name="Shape 203"/>
          <p:cNvSpPr/>
          <p:nvPr/>
        </p:nvSpPr>
        <p:spPr>
          <a:xfrm>
            <a:off x="8470218" y="4987218"/>
            <a:ext cx="158353" cy="136676"/>
          </a:xfrm>
          <a:prstGeom prst="rect">
            <a:avLst/>
          </a:prstGeom>
          <a:solidFill>
            <a:srgbClr val="C2352F"/>
          </a:solidFill>
          <a:ln/>
        </p:spPr>
      </p:sp>
      <p:sp>
        <p:nvSpPr>
          <p:cNvPr id="206" name="Text 204"/>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207" name="Text 205"/>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−880</a:t>
            </a:r>
            <a:endParaRPr lang="en-US" sz="1300" dirty="0"/>
          </a:p>
        </p:txBody>
      </p:sp>
      <p:sp>
        <p:nvSpPr>
          <p:cNvPr id="208" name="Text 206"/>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09" name="Shape 207"/>
          <p:cNvSpPr/>
          <p:nvPr/>
        </p:nvSpPr>
        <p:spPr>
          <a:xfrm>
            <a:off x="11521440" y="4977025"/>
            <a:ext cx="54864" cy="157062"/>
          </a:xfrm>
          <a:prstGeom prst="rect">
            <a:avLst/>
          </a:prstGeom>
          <a:solidFill>
            <a:srgbClr val="C2352F"/>
          </a:solidFill>
          <a:ln/>
        </p:spPr>
      </p:sp>
      <p:sp>
        <p:nvSpPr>
          <p:cNvPr id="210" name="Text 208"/>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11" name="Text 209"/>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12" name="Shape 210"/>
          <p:cNvSpPr/>
          <p:nvPr/>
        </p:nvSpPr>
        <p:spPr>
          <a:xfrm>
            <a:off x="8441579" y="5235720"/>
            <a:ext cx="186992" cy="136676"/>
          </a:xfrm>
          <a:prstGeom prst="rect">
            <a:avLst/>
          </a:prstGeom>
          <a:solidFill>
            <a:srgbClr val="C2352F"/>
          </a:solidFill>
          <a:ln/>
        </p:spPr>
      </p:sp>
      <p:sp>
        <p:nvSpPr>
          <p:cNvPr id="213" name="Text 211"/>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−$96K</a:t>
            </a:r>
            <a:endParaRPr lang="en-US" sz="1300" dirty="0"/>
          </a:p>
        </p:txBody>
      </p:sp>
      <p:sp>
        <p:nvSpPr>
          <p:cNvPr id="214" name="Text 212"/>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−792</a:t>
            </a:r>
            <a:endParaRPr lang="en-US" sz="1300" dirty="0"/>
          </a:p>
        </p:txBody>
      </p:sp>
      <p:sp>
        <p:nvSpPr>
          <p:cNvPr id="215" name="Text 213"/>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6" name="Text 21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7" name="Text 215"/>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8" name="Shape 216"/>
          <p:cNvSpPr/>
          <p:nvPr/>
        </p:nvSpPr>
        <p:spPr>
          <a:xfrm>
            <a:off x="8421624" y="5484222"/>
            <a:ext cx="206947" cy="136676"/>
          </a:xfrm>
          <a:prstGeom prst="rect">
            <a:avLst/>
          </a:prstGeom>
          <a:solidFill>
            <a:srgbClr val="C2352F"/>
          </a:solidFill>
          <a:ln/>
        </p:spPr>
      </p:sp>
      <p:sp>
        <p:nvSpPr>
          <p:cNvPr id="219" name="Text 217"/>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−$107K</a:t>
            </a:r>
            <a:endParaRPr lang="en-US" sz="1300" dirty="0"/>
          </a:p>
        </p:txBody>
      </p:sp>
      <p:sp>
        <p:nvSpPr>
          <p:cNvPr id="220" name="Text 218"/>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−439</a:t>
            </a:r>
            <a:endParaRPr lang="en-US" sz="1300" dirty="0"/>
          </a:p>
        </p:txBody>
      </p:sp>
      <p:sp>
        <p:nvSpPr>
          <p:cNvPr id="221" name="Text 219"/>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222" name="Shape 220"/>
          <p:cNvSpPr/>
          <p:nvPr/>
        </p:nvSpPr>
        <p:spPr>
          <a:xfrm>
            <a:off x="6085332" y="1700784"/>
            <a:ext cx="10973" cy="4224528"/>
          </a:xfrm>
          <a:prstGeom prst="rect">
            <a:avLst/>
          </a:prstGeom>
          <a:solidFill>
            <a:srgbClr val="D9D9D9"/>
          </a:solidFill>
          <a:ln/>
        </p:spPr>
      </p:sp>
      <p:sp>
        <p:nvSpPr>
          <p:cNvPr id="224" name="Shape 221"/>
          <p:cNvSpPr/>
          <p:nvPr/>
        </p:nvSpPr>
        <p:spPr>
          <a:xfrm>
            <a:off x="457200" y="6126480"/>
            <a:ext cx="11274552" cy="371856"/>
          </a:xfrm>
          <a:prstGeom prst="rect">
            <a:avLst/>
          </a:prstGeom>
          <a:solidFill>
            <a:srgbClr val="FBEBEA"/>
          </a:solidFill>
          <a:ln/>
        </p:spPr>
      </p:sp>
      <p:sp>
        <p:nvSpPr>
          <p:cNvPr id="225" name="Text 2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have left $1,017,661 so far this year; 7 are at or above it.</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3 VS LAST YEAR</a:t>
            </a:r>
            <a:endParaRPr lang="en-US" sz="1500" dirty="0"/>
          </a:p>
        </p:txBody>
      </p:sp>
      <p:sp>
        <p:nvSpPr>
          <p:cNvPr id="9" name="Shape 7"/>
          <p:cNvSpPr/>
          <p:nvPr/>
        </p:nvSpPr>
        <p:spPr>
          <a:xfrm>
            <a:off x="658368" y="1810512"/>
            <a:ext cx="3489960" cy="1478280"/>
          </a:xfrm>
          <a:prstGeom prst="rect">
            <a:avLst/>
          </a:prstGeom>
          <a:solidFill>
            <a:srgbClr val="F7F7F7"/>
          </a:solidFill>
          <a:ln/>
        </p:spPr>
      </p:sp>
      <p:sp>
        <p:nvSpPr>
          <p:cNvPr id="10" name="Text 8"/>
          <p:cNvSpPr txBox="1"/>
          <p:nvPr/>
        </p:nvSpPr>
        <p:spPr>
          <a:xfrm>
            <a:off x="749808"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11" name="Text 9"/>
          <p:cNvSpPr txBox="1"/>
          <p:nvPr/>
        </p:nvSpPr>
        <p:spPr>
          <a:xfrm>
            <a:off x="1097280"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12" name="Chart 0" descr=""/>
          <p:cNvGraphicFramePr/>
          <p:nvPr/>
        </p:nvGraphicFramePr>
        <p:xfrm>
          <a:off x="1097280" y="2697480"/>
          <a:ext cx="1972056" cy="502615"/>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4" name="Text 11"/>
          <p:cNvSpPr txBox="1"/>
          <p:nvPr/>
        </p:nvSpPr>
        <p:spPr>
          <a:xfrm>
            <a:off x="749808"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15" name="Text 12"/>
          <p:cNvSpPr txBox="1"/>
          <p:nvPr/>
        </p:nvSpPr>
        <p:spPr>
          <a:xfrm>
            <a:off x="1097280"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graphicFrame>
        <p:nvGraphicFramePr>
          <p:cNvPr id="16" name="Chart 1" descr=""/>
          <p:cNvGraphicFramePr/>
          <p:nvPr/>
        </p:nvGraphicFramePr>
        <p:xfrm>
          <a:off x="1097280" y="4175760"/>
          <a:ext cx="1972056" cy="502615"/>
        </p:xfrm>
        <a:graphic>
          <a:graphicData uri="http://schemas.openxmlformats.org/drawingml/2006/chart">
            <c:chart xmlns:c="http://schemas.openxmlformats.org/drawingml/2006/chart" r:id="rId3"/>
          </a:graphicData>
        </a:graphic>
      </p:graphicFrame>
      <p:sp>
        <p:nvSpPr>
          <p:cNvPr id="17" name="Text 13"/>
          <p:cNvSpPr txBox="1"/>
          <p:nvPr/>
        </p:nvSpPr>
        <p:spPr>
          <a:xfrm>
            <a:off x="2941320" y="328879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8" name="Shape 14"/>
          <p:cNvSpPr/>
          <p:nvPr/>
        </p:nvSpPr>
        <p:spPr>
          <a:xfrm>
            <a:off x="658368" y="4767072"/>
            <a:ext cx="3489960" cy="1478280"/>
          </a:xfrm>
          <a:prstGeom prst="rect">
            <a:avLst/>
          </a:prstGeom>
          <a:solidFill>
            <a:srgbClr val="F7F7F7"/>
          </a:solidFill>
          <a:ln/>
        </p:spPr>
      </p:sp>
      <p:sp>
        <p:nvSpPr>
          <p:cNvPr id="19" name="Text 15"/>
          <p:cNvSpPr txBox="1"/>
          <p:nvPr/>
        </p:nvSpPr>
        <p:spPr>
          <a:xfrm>
            <a:off x="749808"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20" name="Text 16"/>
          <p:cNvSpPr txBox="1"/>
          <p:nvPr/>
        </p:nvSpPr>
        <p:spPr>
          <a:xfrm>
            <a:off x="1097280"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graphicFrame>
        <p:nvGraphicFramePr>
          <p:cNvPr id="21" name="Chart 2" descr=""/>
          <p:cNvGraphicFramePr/>
          <p:nvPr/>
        </p:nvGraphicFramePr>
        <p:xfrm>
          <a:off x="1097280" y="5654040"/>
          <a:ext cx="1972056" cy="502615"/>
        </p:xfrm>
        <a:graphic>
          <a:graphicData uri="http://schemas.openxmlformats.org/drawingml/2006/chart">
            <c:chart xmlns:c="http://schemas.openxmlformats.org/drawingml/2006/chart" r:id="rId4"/>
          </a:graphicData>
        </a:graphic>
      </p:graphicFrame>
      <p:sp>
        <p:nvSpPr>
          <p:cNvPr id="22" name="Text 17"/>
          <p:cNvSpPr txBox="1"/>
          <p:nvPr/>
        </p:nvSpPr>
        <p:spPr>
          <a:xfrm>
            <a:off x="2941320" y="476707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3" name="Shape 18"/>
          <p:cNvSpPr/>
          <p:nvPr/>
        </p:nvSpPr>
        <p:spPr>
          <a:xfrm>
            <a:off x="4349496" y="1371600"/>
            <a:ext cx="3489960" cy="45720"/>
          </a:xfrm>
          <a:prstGeom prst="rect">
            <a:avLst/>
          </a:prstGeom>
          <a:solidFill>
            <a:srgbClr val="C2352F"/>
          </a:solidFill>
          <a:ln/>
        </p:spPr>
      </p:sp>
      <p:sp>
        <p:nvSpPr>
          <p:cNvPr id="24" name="Text 1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3 VS LAST YEAR</a:t>
            </a:r>
            <a:endParaRPr lang="en-US" sz="1500" dirty="0"/>
          </a:p>
        </p:txBody>
      </p:sp>
      <p:sp>
        <p:nvSpPr>
          <p:cNvPr id="25" name="Shape 20"/>
          <p:cNvSpPr/>
          <p:nvPr/>
        </p:nvSpPr>
        <p:spPr>
          <a:xfrm>
            <a:off x="4349496" y="1810512"/>
            <a:ext cx="3489960" cy="1478280"/>
          </a:xfrm>
          <a:prstGeom prst="rect">
            <a:avLst/>
          </a:prstGeom>
          <a:solidFill>
            <a:srgbClr val="F7F7F7"/>
          </a:solidFill>
          <a:ln/>
        </p:spPr>
      </p:sp>
      <p:sp>
        <p:nvSpPr>
          <p:cNvPr id="26" name="Text 21"/>
          <p:cNvSpPr txBox="1"/>
          <p:nvPr/>
        </p:nvSpPr>
        <p:spPr>
          <a:xfrm>
            <a:off x="4440936"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29</a:t>
            </a:r>
            <a:endParaRPr lang="en-US" sz="2000" dirty="0"/>
          </a:p>
        </p:txBody>
      </p:sp>
      <p:sp>
        <p:nvSpPr>
          <p:cNvPr id="27" name="Text 22"/>
          <p:cNvSpPr txBox="1"/>
          <p:nvPr/>
        </p:nvSpPr>
        <p:spPr>
          <a:xfrm>
            <a:off x="4788408"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graphicFrame>
        <p:nvGraphicFramePr>
          <p:cNvPr id="28" name="Chart 3" descr=""/>
          <p:cNvGraphicFramePr/>
          <p:nvPr/>
        </p:nvGraphicFramePr>
        <p:xfrm>
          <a:off x="4788408" y="2697480"/>
          <a:ext cx="1972056" cy="502615"/>
        </p:xfrm>
        <a:graphic>
          <a:graphicData uri="http://schemas.openxmlformats.org/drawingml/2006/chart">
            <c:chart xmlns:c="http://schemas.openxmlformats.org/drawingml/2006/chart" r:id="rId5"/>
          </a:graphicData>
        </a:graphic>
      </p:graphicFrame>
      <p:sp>
        <p:nvSpPr>
          <p:cNvPr id="29" name="Text 23"/>
          <p:cNvSpPr txBox="1"/>
          <p:nvPr/>
        </p:nvSpPr>
        <p:spPr>
          <a:xfrm>
            <a:off x="6632448" y="181051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 pts</a:t>
            </a:r>
            <a:endParaRPr lang="en-US" sz="1600" dirty="0"/>
          </a:p>
        </p:txBody>
      </p:sp>
      <p:sp>
        <p:nvSpPr>
          <p:cNvPr id="30" name="Text 24"/>
          <p:cNvSpPr txBox="1"/>
          <p:nvPr/>
        </p:nvSpPr>
        <p:spPr>
          <a:xfrm>
            <a:off x="4440936"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28</a:t>
            </a:r>
            <a:endParaRPr lang="en-US" sz="2000" dirty="0"/>
          </a:p>
        </p:txBody>
      </p:sp>
      <p:sp>
        <p:nvSpPr>
          <p:cNvPr id="31" name="Text 25"/>
          <p:cNvSpPr txBox="1"/>
          <p:nvPr/>
        </p:nvSpPr>
        <p:spPr>
          <a:xfrm>
            <a:off x="4788408"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graphicFrame>
        <p:nvGraphicFramePr>
          <p:cNvPr id="32" name="Chart 4" descr=""/>
          <p:cNvGraphicFramePr/>
          <p:nvPr/>
        </p:nvGraphicFramePr>
        <p:xfrm>
          <a:off x="4788408" y="4175760"/>
          <a:ext cx="1972056" cy="502615"/>
        </p:xfrm>
        <a:graphic>
          <a:graphicData uri="http://schemas.openxmlformats.org/drawingml/2006/chart">
            <c:chart xmlns:c="http://schemas.openxmlformats.org/drawingml/2006/chart" r:id="rId6"/>
          </a:graphicData>
        </a:graphic>
      </p:graphicFrame>
      <p:sp>
        <p:nvSpPr>
          <p:cNvPr id="33" name="Text 26"/>
          <p:cNvSpPr txBox="1"/>
          <p:nvPr/>
        </p:nvSpPr>
        <p:spPr>
          <a:xfrm>
            <a:off x="6632448" y="328879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4" name="Shape 27"/>
          <p:cNvSpPr/>
          <p:nvPr/>
        </p:nvSpPr>
        <p:spPr>
          <a:xfrm>
            <a:off x="4349496" y="4767072"/>
            <a:ext cx="3489960" cy="1478280"/>
          </a:xfrm>
          <a:prstGeom prst="rect">
            <a:avLst/>
          </a:prstGeom>
          <a:solidFill>
            <a:srgbClr val="F7F7F7"/>
          </a:solidFill>
          <a:ln/>
        </p:spPr>
      </p:sp>
      <p:sp>
        <p:nvSpPr>
          <p:cNvPr id="35" name="Text 28"/>
          <p:cNvSpPr txBox="1"/>
          <p:nvPr/>
        </p:nvSpPr>
        <p:spPr>
          <a:xfrm>
            <a:off x="4440936"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27</a:t>
            </a:r>
            <a:endParaRPr lang="en-US" sz="2000" dirty="0"/>
          </a:p>
        </p:txBody>
      </p:sp>
      <p:sp>
        <p:nvSpPr>
          <p:cNvPr id="36" name="Text 29"/>
          <p:cNvSpPr txBox="1"/>
          <p:nvPr/>
        </p:nvSpPr>
        <p:spPr>
          <a:xfrm>
            <a:off x="4788408"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graphicFrame>
        <p:nvGraphicFramePr>
          <p:cNvPr id="37" name="Chart 5" descr=""/>
          <p:cNvGraphicFramePr/>
          <p:nvPr/>
        </p:nvGraphicFramePr>
        <p:xfrm>
          <a:off x="4788408" y="5654040"/>
          <a:ext cx="1972056" cy="502615"/>
        </p:xfrm>
        <a:graphic>
          <a:graphicData uri="http://schemas.openxmlformats.org/drawingml/2006/chart">
            <c:chart xmlns:c="http://schemas.openxmlformats.org/drawingml/2006/chart" r:id="rId7"/>
          </a:graphicData>
        </a:graphic>
      </p:graphicFrame>
      <p:sp>
        <p:nvSpPr>
          <p:cNvPr id="38" name="Text 30"/>
          <p:cNvSpPr txBox="1"/>
          <p:nvPr/>
        </p:nvSpPr>
        <p:spPr>
          <a:xfrm>
            <a:off x="6632448" y="476707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39" name="Shape 31"/>
          <p:cNvSpPr/>
          <p:nvPr/>
        </p:nvSpPr>
        <p:spPr>
          <a:xfrm>
            <a:off x="8040624" y="1371600"/>
            <a:ext cx="3489960" cy="45720"/>
          </a:xfrm>
          <a:prstGeom prst="rect">
            <a:avLst/>
          </a:prstGeom>
          <a:solidFill>
            <a:srgbClr val="2587C5"/>
          </a:solidFill>
          <a:ln/>
        </p:spPr>
      </p:sp>
      <p:sp>
        <p:nvSpPr>
          <p:cNvPr id="40" name="Text 32"/>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3 MOVING NOW</a:t>
            </a:r>
            <a:endParaRPr lang="en-US" sz="1500" dirty="0"/>
          </a:p>
        </p:txBody>
      </p:sp>
      <p:sp>
        <p:nvSpPr>
          <p:cNvPr id="41" name="Shape 33"/>
          <p:cNvSpPr/>
          <p:nvPr/>
        </p:nvSpPr>
        <p:spPr>
          <a:xfrm>
            <a:off x="8040624" y="1810512"/>
            <a:ext cx="3489960" cy="1478280"/>
          </a:xfrm>
          <a:prstGeom prst="rect">
            <a:avLst/>
          </a:prstGeom>
          <a:solidFill>
            <a:srgbClr val="F7F7F7"/>
          </a:solidFill>
          <a:ln/>
        </p:spPr>
      </p:sp>
      <p:sp>
        <p:nvSpPr>
          <p:cNvPr id="42" name="Text 34"/>
          <p:cNvSpPr txBox="1"/>
          <p:nvPr/>
        </p:nvSpPr>
        <p:spPr>
          <a:xfrm>
            <a:off x="8132064"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43" name="Text 35"/>
          <p:cNvSpPr txBox="1"/>
          <p:nvPr/>
        </p:nvSpPr>
        <p:spPr>
          <a:xfrm>
            <a:off x="8479536"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graphicFrame>
        <p:nvGraphicFramePr>
          <p:cNvPr id="44" name="Chart 6" descr=""/>
          <p:cNvGraphicFramePr/>
          <p:nvPr/>
        </p:nvGraphicFramePr>
        <p:xfrm>
          <a:off x="8479536" y="2697480"/>
          <a:ext cx="1972056" cy="502615"/>
        </p:xfrm>
        <a:graphic>
          <a:graphicData uri="http://schemas.openxmlformats.org/drawingml/2006/chart">
            <c:chart xmlns:c="http://schemas.openxmlformats.org/drawingml/2006/chart" r:id="rId8"/>
          </a:graphicData>
        </a:graphic>
      </p:graphicFrame>
      <p:graphicFrame>
        <p:nvGraphicFramePr>
          <p:cNvPr id="45" name="Chart 7" descr=""/>
          <p:cNvGraphicFramePr/>
          <p:nvPr/>
        </p:nvGraphicFramePr>
        <p:xfrm>
          <a:off x="8479536" y="2697480"/>
          <a:ext cx="1972056" cy="502615"/>
        </p:xfrm>
        <a:graphic>
          <a:graphicData uri="http://schemas.openxmlformats.org/drawingml/2006/chart">
            <c:chart xmlns:c="http://schemas.openxmlformats.org/drawingml/2006/chart" r:id="rId9"/>
          </a:graphicData>
        </a:graphic>
      </p:graphicFrame>
      <p:sp>
        <p:nvSpPr>
          <p:cNvPr id="46" name="Text 36"/>
          <p:cNvSpPr txBox="1"/>
          <p:nvPr/>
        </p:nvSpPr>
        <p:spPr>
          <a:xfrm>
            <a:off x="10323576" y="181051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47" name="Text 37"/>
          <p:cNvSpPr txBox="1"/>
          <p:nvPr/>
        </p:nvSpPr>
        <p:spPr>
          <a:xfrm>
            <a:off x="8132064"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48" name="Text 38"/>
          <p:cNvSpPr txBox="1"/>
          <p:nvPr/>
        </p:nvSpPr>
        <p:spPr>
          <a:xfrm>
            <a:off x="8479536"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49" name="Chart 8" descr=""/>
          <p:cNvGraphicFramePr/>
          <p:nvPr/>
        </p:nvGraphicFramePr>
        <p:xfrm>
          <a:off x="8479536" y="4175760"/>
          <a:ext cx="1972056" cy="502615"/>
        </p:xfrm>
        <a:graphic>
          <a:graphicData uri="http://schemas.openxmlformats.org/drawingml/2006/chart">
            <c:chart xmlns:c="http://schemas.openxmlformats.org/drawingml/2006/chart" r:id="rId10"/>
          </a:graphicData>
        </a:graphic>
      </p:graphicFrame>
      <p:graphicFrame>
        <p:nvGraphicFramePr>
          <p:cNvPr id="50" name="Chart 9" descr=""/>
          <p:cNvGraphicFramePr/>
          <p:nvPr/>
        </p:nvGraphicFramePr>
        <p:xfrm>
          <a:off x="8479536" y="4175760"/>
          <a:ext cx="1972056" cy="502615"/>
        </p:xfrm>
        <a:graphic>
          <a:graphicData uri="http://schemas.openxmlformats.org/drawingml/2006/chart">
            <c:chart xmlns:c="http://schemas.openxmlformats.org/drawingml/2006/chart" r:id="rId11"/>
          </a:graphicData>
        </a:graphic>
      </p:graphicFrame>
      <p:sp>
        <p:nvSpPr>
          <p:cNvPr id="51" name="Text 39"/>
          <p:cNvSpPr txBox="1"/>
          <p:nvPr/>
        </p:nvSpPr>
        <p:spPr>
          <a:xfrm>
            <a:off x="10323576" y="328879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2" name="Shape 40"/>
          <p:cNvSpPr/>
          <p:nvPr/>
        </p:nvSpPr>
        <p:spPr>
          <a:xfrm>
            <a:off x="8040624" y="4767072"/>
            <a:ext cx="3489960" cy="1478280"/>
          </a:xfrm>
          <a:prstGeom prst="rect">
            <a:avLst/>
          </a:prstGeom>
          <a:solidFill>
            <a:srgbClr val="F7F7F7"/>
          </a:solidFill>
          <a:ln/>
        </p:spPr>
      </p:sp>
      <p:sp>
        <p:nvSpPr>
          <p:cNvPr id="53" name="Text 41"/>
          <p:cNvSpPr txBox="1"/>
          <p:nvPr/>
        </p:nvSpPr>
        <p:spPr>
          <a:xfrm>
            <a:off x="8132064"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54" name="Text 42"/>
          <p:cNvSpPr txBox="1"/>
          <p:nvPr/>
        </p:nvSpPr>
        <p:spPr>
          <a:xfrm>
            <a:off x="8479536"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graphicFrame>
        <p:nvGraphicFramePr>
          <p:cNvPr id="55" name="Chart 10" descr=""/>
          <p:cNvGraphicFramePr/>
          <p:nvPr/>
        </p:nvGraphicFramePr>
        <p:xfrm>
          <a:off x="8479536" y="5654040"/>
          <a:ext cx="1972056" cy="502615"/>
        </p:xfrm>
        <a:graphic>
          <a:graphicData uri="http://schemas.openxmlformats.org/drawingml/2006/chart">
            <c:chart xmlns:c="http://schemas.openxmlformats.org/drawingml/2006/chart" r:id="rId12"/>
          </a:graphicData>
        </a:graphic>
      </p:graphicFrame>
      <p:graphicFrame>
        <p:nvGraphicFramePr>
          <p:cNvPr id="56" name="Chart 11" descr=""/>
          <p:cNvGraphicFramePr/>
          <p:nvPr/>
        </p:nvGraphicFramePr>
        <p:xfrm>
          <a:off x="8479536" y="5654040"/>
          <a:ext cx="1972056" cy="502615"/>
        </p:xfrm>
        <a:graphic>
          <a:graphicData uri="http://schemas.openxmlformats.org/drawingml/2006/chart">
            <c:chart xmlns:c="http://schemas.openxmlformats.org/drawingml/2006/chart" r:id="rId13"/>
          </a:graphicData>
        </a:graphic>
      </p:graphicFrame>
      <p:sp>
        <p:nvSpPr>
          <p:cNvPr id="57" name="Text 43"/>
          <p:cNvSpPr txBox="1"/>
          <p:nvPr/>
        </p:nvSpPr>
        <p:spPr>
          <a:xfrm>
            <a:off x="10323576" y="476707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17296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270248" y="1316736"/>
            <a:ext cx="7772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9" name="Shape 7"/>
          <p:cNvSpPr/>
          <p:nvPr/>
        </p:nvSpPr>
        <p:spPr>
          <a:xfrm>
            <a:off x="2969751" y="1700784"/>
            <a:ext cx="10973" cy="4224528"/>
          </a:xfrm>
          <a:prstGeom prst="rect">
            <a:avLst/>
          </a:prstGeom>
          <a:solidFill>
            <a:srgbClr val="9AA3AD"/>
          </a:solidFill>
          <a:ln/>
        </p:spPr>
      </p:sp>
      <p:sp>
        <p:nvSpPr>
          <p:cNvPr id="10" name="Text 8"/>
          <p:cNvSpPr txBox="1"/>
          <p:nvPr/>
        </p:nvSpPr>
        <p:spPr>
          <a:xfrm>
            <a:off x="872337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820656" y="1316736"/>
            <a:ext cx="7772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2" name="Text 10"/>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3" name="Shape 11"/>
          <p:cNvSpPr/>
          <p:nvPr/>
        </p:nvSpPr>
        <p:spPr>
          <a:xfrm>
            <a:off x="8520159"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2975237" y="1756697"/>
            <a:ext cx="142867" cy="136676"/>
          </a:xfrm>
          <a:prstGeom prst="rect">
            <a:avLst/>
          </a:prstGeom>
          <a:solidFill>
            <a:srgbClr val="12A566"/>
          </a:solidFill>
          <a:ln/>
        </p:spPr>
      </p:sp>
      <p:sp>
        <p:nvSpPr>
          <p:cNvPr id="17" name="Text 15"/>
          <p:cNvSpPr txBox="1"/>
          <p:nvPr/>
        </p:nvSpPr>
        <p:spPr>
          <a:xfrm>
            <a:off x="317296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+$557K</a:t>
            </a:r>
            <a:endParaRPr lang="en-US" sz="1300" dirty="0"/>
          </a:p>
        </p:txBody>
      </p:sp>
      <p:sp>
        <p:nvSpPr>
          <p:cNvPr id="18" name="Text 16"/>
          <p:cNvSpPr txBox="1"/>
          <p:nvPr/>
        </p:nvSpPr>
        <p:spPr>
          <a:xfrm>
            <a:off x="4270248" y="170078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 of 4</a:t>
            </a:r>
            <a:endParaRPr lang="en-US" sz="1300" dirty="0"/>
          </a:p>
        </p:txBody>
      </p:sp>
      <p:sp>
        <p:nvSpPr>
          <p:cNvPr id="19" name="Text 17"/>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+4,476</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2975237" y="2005199"/>
            <a:ext cx="38617" cy="136676"/>
          </a:xfrm>
          <a:prstGeom prst="rect">
            <a:avLst/>
          </a:prstGeom>
          <a:solidFill>
            <a:srgbClr val="12A566"/>
          </a:solidFill>
          <a:ln/>
        </p:spPr>
      </p:sp>
      <p:sp>
        <p:nvSpPr>
          <p:cNvPr id="24" name="Text 22"/>
          <p:cNvSpPr txBox="1"/>
          <p:nvPr/>
        </p:nvSpPr>
        <p:spPr>
          <a:xfrm>
            <a:off x="317296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+$151K</a:t>
            </a:r>
            <a:endParaRPr lang="en-US" sz="1300" dirty="0"/>
          </a:p>
        </p:txBody>
      </p:sp>
      <p:sp>
        <p:nvSpPr>
          <p:cNvPr id="25" name="Text 23"/>
          <p:cNvSpPr txBox="1"/>
          <p:nvPr/>
        </p:nvSpPr>
        <p:spPr>
          <a:xfrm>
            <a:off x="4270248" y="194928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26" name="Text 24"/>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0" name="Shape 28"/>
          <p:cNvSpPr/>
          <p:nvPr/>
        </p:nvSpPr>
        <p:spPr>
          <a:xfrm>
            <a:off x="2975237" y="2253700"/>
            <a:ext cx="18288" cy="136676"/>
          </a:xfrm>
          <a:prstGeom prst="rect">
            <a:avLst/>
          </a:prstGeom>
          <a:solidFill>
            <a:srgbClr val="12A566"/>
          </a:solidFill>
          <a:ln/>
        </p:spPr>
      </p:sp>
      <p:sp>
        <p:nvSpPr>
          <p:cNvPr id="31" name="Text 29"/>
          <p:cNvSpPr txBox="1"/>
          <p:nvPr/>
        </p:nvSpPr>
        <p:spPr>
          <a:xfrm>
            <a:off x="317296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32" name="Text 30"/>
          <p:cNvSpPr txBox="1"/>
          <p:nvPr/>
        </p:nvSpPr>
        <p:spPr>
          <a:xfrm>
            <a:off x="4270248" y="219778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33" name="Text 31"/>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75237" y="2502202"/>
            <a:ext cx="18288" cy="136676"/>
          </a:xfrm>
          <a:prstGeom prst="rect">
            <a:avLst/>
          </a:prstGeom>
          <a:solidFill>
            <a:srgbClr val="12A566"/>
          </a:solidFill>
          <a:ln/>
        </p:spPr>
      </p:sp>
      <p:sp>
        <p:nvSpPr>
          <p:cNvPr id="38" name="Text 36"/>
          <p:cNvSpPr txBox="1"/>
          <p:nvPr/>
        </p:nvSpPr>
        <p:spPr>
          <a:xfrm>
            <a:off x="317296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9" name="Text 37"/>
          <p:cNvSpPr txBox="1"/>
          <p:nvPr/>
        </p:nvSpPr>
        <p:spPr>
          <a:xfrm>
            <a:off x="4270248" y="244628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40" name="Text 38"/>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2975237" y="2750703"/>
            <a:ext cx="18288" cy="136676"/>
          </a:xfrm>
          <a:prstGeom prst="rect">
            <a:avLst/>
          </a:prstGeom>
          <a:solidFill>
            <a:srgbClr val="12A566"/>
          </a:solidFill>
          <a:ln/>
        </p:spPr>
      </p:sp>
      <p:sp>
        <p:nvSpPr>
          <p:cNvPr id="44" name="Text 42"/>
          <p:cNvSpPr txBox="1"/>
          <p:nvPr/>
        </p:nvSpPr>
        <p:spPr>
          <a:xfrm>
            <a:off x="317296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45" name="Text 43"/>
          <p:cNvSpPr txBox="1"/>
          <p:nvPr/>
        </p:nvSpPr>
        <p:spPr>
          <a:xfrm>
            <a:off x="4270248" y="2694791"/>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46" name="Text 44"/>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2975237" y="2999205"/>
            <a:ext cx="18288" cy="136676"/>
          </a:xfrm>
          <a:prstGeom prst="rect">
            <a:avLst/>
          </a:prstGeom>
          <a:solidFill>
            <a:srgbClr val="12A566"/>
          </a:solidFill>
          <a:ln/>
        </p:spPr>
      </p:sp>
      <p:sp>
        <p:nvSpPr>
          <p:cNvPr id="50" name="Text 48"/>
          <p:cNvSpPr txBox="1"/>
          <p:nvPr/>
        </p:nvSpPr>
        <p:spPr>
          <a:xfrm>
            <a:off x="317296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51" name="Text 49"/>
          <p:cNvSpPr txBox="1"/>
          <p:nvPr/>
        </p:nvSpPr>
        <p:spPr>
          <a:xfrm>
            <a:off x="4270248" y="294329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52" name="Text 50"/>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2975237" y="3247707"/>
            <a:ext cx="18288" cy="136676"/>
          </a:xfrm>
          <a:prstGeom prst="rect">
            <a:avLst/>
          </a:prstGeom>
          <a:solidFill>
            <a:srgbClr val="12A566"/>
          </a:solidFill>
          <a:ln/>
        </p:spPr>
      </p:sp>
      <p:sp>
        <p:nvSpPr>
          <p:cNvPr id="56" name="Text 54"/>
          <p:cNvSpPr txBox="1"/>
          <p:nvPr/>
        </p:nvSpPr>
        <p:spPr>
          <a:xfrm>
            <a:off x="317296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57" name="Text 55"/>
          <p:cNvSpPr txBox="1"/>
          <p:nvPr/>
        </p:nvSpPr>
        <p:spPr>
          <a:xfrm>
            <a:off x="4270248" y="319179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8" name="Text 56"/>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69561" y="3496208"/>
            <a:ext cx="18288" cy="136676"/>
          </a:xfrm>
          <a:prstGeom prst="rect">
            <a:avLst/>
          </a:prstGeom>
          <a:solidFill>
            <a:srgbClr val="C2352F"/>
          </a:solidFill>
          <a:ln/>
        </p:spPr>
      </p:sp>
      <p:sp>
        <p:nvSpPr>
          <p:cNvPr id="62" name="Text 60"/>
          <p:cNvSpPr txBox="1"/>
          <p:nvPr/>
        </p:nvSpPr>
        <p:spPr>
          <a:xfrm>
            <a:off x="317296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63" name="Text 61"/>
          <p:cNvSpPr txBox="1"/>
          <p:nvPr/>
        </p:nvSpPr>
        <p:spPr>
          <a:xfrm>
            <a:off x="4270248" y="344029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2</a:t>
            </a:r>
            <a:endParaRPr lang="en-US" sz="1300" dirty="0"/>
          </a:p>
        </p:txBody>
      </p:sp>
      <p:sp>
        <p:nvSpPr>
          <p:cNvPr id="64" name="Text 62"/>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−661</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2968009" y="3744710"/>
            <a:ext cx="18288" cy="136676"/>
          </a:xfrm>
          <a:prstGeom prst="rect">
            <a:avLst/>
          </a:prstGeom>
          <a:solidFill>
            <a:srgbClr val="C2352F"/>
          </a:solidFill>
          <a:ln/>
        </p:spPr>
      </p:sp>
      <p:sp>
        <p:nvSpPr>
          <p:cNvPr id="68" name="Text 66"/>
          <p:cNvSpPr txBox="1"/>
          <p:nvPr/>
        </p:nvSpPr>
        <p:spPr>
          <a:xfrm>
            <a:off x="317296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69" name="Text 67"/>
          <p:cNvSpPr txBox="1"/>
          <p:nvPr/>
        </p:nvSpPr>
        <p:spPr>
          <a:xfrm>
            <a:off x="4270248" y="368879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0" name="Text 68"/>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−223</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2967908" y="3993212"/>
            <a:ext cx="18288" cy="136676"/>
          </a:xfrm>
          <a:prstGeom prst="rect">
            <a:avLst/>
          </a:prstGeom>
          <a:solidFill>
            <a:srgbClr val="C2352F"/>
          </a:solidFill>
          <a:ln/>
        </p:spPr>
      </p:sp>
      <p:sp>
        <p:nvSpPr>
          <p:cNvPr id="74" name="Text 72"/>
          <p:cNvSpPr txBox="1"/>
          <p:nvPr/>
        </p:nvSpPr>
        <p:spPr>
          <a:xfrm>
            <a:off x="317296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75" name="Text 73"/>
          <p:cNvSpPr txBox="1"/>
          <p:nvPr/>
        </p:nvSpPr>
        <p:spPr>
          <a:xfrm>
            <a:off x="4270248" y="393729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3</a:t>
            </a:r>
            <a:endParaRPr lang="en-US" sz="1300" dirty="0"/>
          </a:p>
        </p:txBody>
      </p:sp>
      <p:sp>
        <p:nvSpPr>
          <p:cNvPr id="76" name="Text 74"/>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2967012" y="4241713"/>
            <a:ext cx="18288" cy="136676"/>
          </a:xfrm>
          <a:prstGeom prst="rect">
            <a:avLst/>
          </a:prstGeom>
          <a:solidFill>
            <a:srgbClr val="C2352F"/>
          </a:solidFill>
          <a:ln/>
        </p:spPr>
      </p:sp>
      <p:sp>
        <p:nvSpPr>
          <p:cNvPr id="80" name="Text 78"/>
          <p:cNvSpPr txBox="1"/>
          <p:nvPr/>
        </p:nvSpPr>
        <p:spPr>
          <a:xfrm>
            <a:off x="317296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81" name="Text 79"/>
          <p:cNvSpPr txBox="1"/>
          <p:nvPr/>
        </p:nvSpPr>
        <p:spPr>
          <a:xfrm>
            <a:off x="4270248" y="4185800"/>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82" name="Text 80"/>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2964697" y="4490215"/>
            <a:ext cx="18288" cy="136676"/>
          </a:xfrm>
          <a:prstGeom prst="rect">
            <a:avLst/>
          </a:prstGeom>
          <a:solidFill>
            <a:srgbClr val="C2352F"/>
          </a:solidFill>
          <a:ln/>
        </p:spPr>
      </p:sp>
      <p:sp>
        <p:nvSpPr>
          <p:cNvPr id="86" name="Text 84"/>
          <p:cNvSpPr txBox="1"/>
          <p:nvPr/>
        </p:nvSpPr>
        <p:spPr>
          <a:xfrm>
            <a:off x="317296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−$41K</a:t>
            </a:r>
            <a:endParaRPr lang="en-US" sz="1300" dirty="0"/>
          </a:p>
        </p:txBody>
      </p:sp>
      <p:sp>
        <p:nvSpPr>
          <p:cNvPr id="87" name="Text 85"/>
          <p:cNvSpPr txBox="1"/>
          <p:nvPr/>
        </p:nvSpPr>
        <p:spPr>
          <a:xfrm>
            <a:off x="4270248" y="443430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88" name="Text 86"/>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−452</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91" name="Shape 89"/>
          <p:cNvSpPr/>
          <p:nvPr/>
        </p:nvSpPr>
        <p:spPr>
          <a:xfrm>
            <a:off x="2962996" y="4738717"/>
            <a:ext cx="18288" cy="136676"/>
          </a:xfrm>
          <a:prstGeom prst="rect">
            <a:avLst/>
          </a:prstGeom>
          <a:solidFill>
            <a:srgbClr val="C2352F"/>
          </a:solidFill>
          <a:ln/>
        </p:spPr>
      </p:sp>
      <p:sp>
        <p:nvSpPr>
          <p:cNvPr id="92" name="Text 90"/>
          <p:cNvSpPr txBox="1"/>
          <p:nvPr/>
        </p:nvSpPr>
        <p:spPr>
          <a:xfrm>
            <a:off x="317296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93" name="Text 91"/>
          <p:cNvSpPr txBox="1"/>
          <p:nvPr/>
        </p:nvSpPr>
        <p:spPr>
          <a:xfrm>
            <a:off x="4270248" y="468280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94" name="Text 92"/>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−569</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2961777" y="4987218"/>
            <a:ext cx="18288" cy="136676"/>
          </a:xfrm>
          <a:prstGeom prst="rect">
            <a:avLst/>
          </a:prstGeom>
          <a:solidFill>
            <a:srgbClr val="C2352F"/>
          </a:solidFill>
          <a:ln/>
        </p:spPr>
      </p:sp>
      <p:sp>
        <p:nvSpPr>
          <p:cNvPr id="98" name="Text 96"/>
          <p:cNvSpPr txBox="1"/>
          <p:nvPr/>
        </p:nvSpPr>
        <p:spPr>
          <a:xfrm>
            <a:off x="317296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99" name="Text 97"/>
          <p:cNvSpPr txBox="1"/>
          <p:nvPr/>
        </p:nvSpPr>
        <p:spPr>
          <a:xfrm>
            <a:off x="4270248" y="4931305"/>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0" name="Text 98"/>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−660</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3" name="Shape 101"/>
          <p:cNvSpPr/>
          <p:nvPr/>
        </p:nvSpPr>
        <p:spPr>
          <a:xfrm>
            <a:off x="2960067" y="5235720"/>
            <a:ext cx="18288" cy="136676"/>
          </a:xfrm>
          <a:prstGeom prst="rect">
            <a:avLst/>
          </a:prstGeom>
          <a:solidFill>
            <a:srgbClr val="C2352F"/>
          </a:solidFill>
          <a:ln/>
        </p:spPr>
      </p:sp>
      <p:sp>
        <p:nvSpPr>
          <p:cNvPr id="104" name="Text 102"/>
          <p:cNvSpPr txBox="1"/>
          <p:nvPr/>
        </p:nvSpPr>
        <p:spPr>
          <a:xfrm>
            <a:off x="317296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−$59K</a:t>
            </a:r>
            <a:endParaRPr lang="en-US" sz="1300" dirty="0"/>
          </a:p>
        </p:txBody>
      </p:sp>
      <p:sp>
        <p:nvSpPr>
          <p:cNvPr id="105" name="Text 103"/>
          <p:cNvSpPr txBox="1"/>
          <p:nvPr/>
        </p:nvSpPr>
        <p:spPr>
          <a:xfrm>
            <a:off x="4270248" y="517980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6" name="Text 104"/>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−783</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2959820" y="5484222"/>
            <a:ext cx="18288" cy="136676"/>
          </a:xfrm>
          <a:prstGeom prst="rect">
            <a:avLst/>
          </a:prstGeom>
          <a:solidFill>
            <a:srgbClr val="C2352F"/>
          </a:solidFill>
          <a:ln/>
        </p:spPr>
      </p:sp>
      <p:sp>
        <p:nvSpPr>
          <p:cNvPr id="110" name="Text 108"/>
          <p:cNvSpPr txBox="1"/>
          <p:nvPr/>
        </p:nvSpPr>
        <p:spPr>
          <a:xfrm>
            <a:off x="317296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11" name="Text 109"/>
          <p:cNvSpPr txBox="1"/>
          <p:nvPr/>
        </p:nvSpPr>
        <p:spPr>
          <a:xfrm>
            <a:off x="4270248" y="542830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2" name="Text 110"/>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5" name="Shape 113"/>
          <p:cNvSpPr/>
          <p:nvPr/>
        </p:nvSpPr>
        <p:spPr>
          <a:xfrm>
            <a:off x="2959704" y="5732723"/>
            <a:ext cx="18288" cy="136676"/>
          </a:xfrm>
          <a:prstGeom prst="rect">
            <a:avLst/>
          </a:prstGeom>
          <a:solidFill>
            <a:srgbClr val="C2352F"/>
          </a:solidFill>
          <a:ln/>
        </p:spPr>
      </p:sp>
      <p:sp>
        <p:nvSpPr>
          <p:cNvPr id="116" name="Text 114"/>
          <p:cNvSpPr txBox="1"/>
          <p:nvPr/>
        </p:nvSpPr>
        <p:spPr>
          <a:xfrm>
            <a:off x="317296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−$61K</a:t>
            </a:r>
            <a:endParaRPr lang="en-US" sz="1300" dirty="0"/>
          </a:p>
        </p:txBody>
      </p:sp>
      <p:sp>
        <p:nvSpPr>
          <p:cNvPr id="117" name="Text 115"/>
          <p:cNvSpPr txBox="1"/>
          <p:nvPr/>
        </p:nvSpPr>
        <p:spPr>
          <a:xfrm>
            <a:off x="4270248" y="5676810"/>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8" name="Text 116"/>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8508819" y="1756697"/>
            <a:ext cx="18288" cy="136676"/>
          </a:xfrm>
          <a:prstGeom prst="rect">
            <a:avLst/>
          </a:prstGeom>
          <a:solidFill>
            <a:srgbClr val="C2352F"/>
          </a:solidFill>
          <a:ln/>
        </p:spPr>
      </p:sp>
      <p:sp>
        <p:nvSpPr>
          <p:cNvPr id="122" name="Text 120"/>
          <p:cNvSpPr txBox="1"/>
          <p:nvPr/>
        </p:nvSpPr>
        <p:spPr>
          <a:xfrm>
            <a:off x="872337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−$66K</a:t>
            </a:r>
            <a:endParaRPr lang="en-US" sz="1300" dirty="0"/>
          </a:p>
        </p:txBody>
      </p:sp>
      <p:sp>
        <p:nvSpPr>
          <p:cNvPr id="123" name="Text 121"/>
          <p:cNvSpPr txBox="1"/>
          <p:nvPr/>
        </p:nvSpPr>
        <p:spPr>
          <a:xfrm>
            <a:off x="9820656" y="170078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4" name="Text 122"/>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−640</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7" name="Shape 125"/>
          <p:cNvSpPr/>
          <p:nvPr/>
        </p:nvSpPr>
        <p:spPr>
          <a:xfrm>
            <a:off x="8501431" y="2005199"/>
            <a:ext cx="24215" cy="136676"/>
          </a:xfrm>
          <a:prstGeom prst="rect">
            <a:avLst/>
          </a:prstGeom>
          <a:solidFill>
            <a:srgbClr val="C2352F"/>
          </a:solidFill>
          <a:ln/>
        </p:spPr>
      </p:sp>
      <p:sp>
        <p:nvSpPr>
          <p:cNvPr id="128" name="Text 126"/>
          <p:cNvSpPr txBox="1"/>
          <p:nvPr/>
        </p:nvSpPr>
        <p:spPr>
          <a:xfrm>
            <a:off x="872337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29" name="Text 127"/>
          <p:cNvSpPr txBox="1"/>
          <p:nvPr/>
        </p:nvSpPr>
        <p:spPr>
          <a:xfrm>
            <a:off x="9820656" y="194928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30" name="Text 128"/>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−954</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00128" y="2253700"/>
            <a:ext cx="25517" cy="136676"/>
          </a:xfrm>
          <a:prstGeom prst="rect">
            <a:avLst/>
          </a:prstGeom>
          <a:solidFill>
            <a:srgbClr val="C2352F"/>
          </a:solidFill>
          <a:ln/>
        </p:spPr>
      </p:sp>
      <p:sp>
        <p:nvSpPr>
          <p:cNvPr id="134" name="Text 132"/>
          <p:cNvSpPr txBox="1"/>
          <p:nvPr/>
        </p:nvSpPr>
        <p:spPr>
          <a:xfrm>
            <a:off x="872337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135" name="Text 133"/>
          <p:cNvSpPr txBox="1"/>
          <p:nvPr/>
        </p:nvSpPr>
        <p:spPr>
          <a:xfrm>
            <a:off x="9820656" y="219778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36" name="Text 134"/>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9" name="Shape 137"/>
          <p:cNvSpPr/>
          <p:nvPr/>
        </p:nvSpPr>
        <p:spPr>
          <a:xfrm>
            <a:off x="8498760" y="2502202"/>
            <a:ext cx="26886" cy="136676"/>
          </a:xfrm>
          <a:prstGeom prst="rect">
            <a:avLst/>
          </a:prstGeom>
          <a:solidFill>
            <a:srgbClr val="C2352F"/>
          </a:solidFill>
          <a:ln/>
        </p:spPr>
      </p:sp>
      <p:sp>
        <p:nvSpPr>
          <p:cNvPr id="140" name="Text 138"/>
          <p:cNvSpPr txBox="1"/>
          <p:nvPr/>
        </p:nvSpPr>
        <p:spPr>
          <a:xfrm>
            <a:off x="872337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41" name="Text 139"/>
          <p:cNvSpPr txBox="1"/>
          <p:nvPr/>
        </p:nvSpPr>
        <p:spPr>
          <a:xfrm>
            <a:off x="9820656" y="244628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3</a:t>
            </a:r>
            <a:endParaRPr lang="en-US" sz="1300" dirty="0"/>
          </a:p>
        </p:txBody>
      </p:sp>
      <p:sp>
        <p:nvSpPr>
          <p:cNvPr id="142" name="Text 140"/>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−827</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5" name="Shape 143"/>
          <p:cNvSpPr/>
          <p:nvPr/>
        </p:nvSpPr>
        <p:spPr>
          <a:xfrm>
            <a:off x="8498630" y="2750703"/>
            <a:ext cx="27015" cy="136676"/>
          </a:xfrm>
          <a:prstGeom prst="rect">
            <a:avLst/>
          </a:prstGeom>
          <a:solidFill>
            <a:srgbClr val="C2352F"/>
          </a:solidFill>
          <a:ln/>
        </p:spPr>
      </p:sp>
      <p:sp>
        <p:nvSpPr>
          <p:cNvPr id="146" name="Text 144"/>
          <p:cNvSpPr txBox="1"/>
          <p:nvPr/>
        </p:nvSpPr>
        <p:spPr>
          <a:xfrm>
            <a:off x="872337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47" name="Text 145"/>
          <p:cNvSpPr txBox="1"/>
          <p:nvPr/>
        </p:nvSpPr>
        <p:spPr>
          <a:xfrm>
            <a:off x="9820656" y="2694791"/>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48" name="Text 146"/>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−1,068</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1" name="Shape 149"/>
          <p:cNvSpPr/>
          <p:nvPr/>
        </p:nvSpPr>
        <p:spPr>
          <a:xfrm>
            <a:off x="8489802" y="2999205"/>
            <a:ext cx="35844" cy="136676"/>
          </a:xfrm>
          <a:prstGeom prst="rect">
            <a:avLst/>
          </a:prstGeom>
          <a:solidFill>
            <a:srgbClr val="C2352F"/>
          </a:solidFill>
          <a:ln/>
        </p:spPr>
      </p:sp>
      <p:sp>
        <p:nvSpPr>
          <p:cNvPr id="152" name="Text 150"/>
          <p:cNvSpPr txBox="1"/>
          <p:nvPr/>
        </p:nvSpPr>
        <p:spPr>
          <a:xfrm>
            <a:off x="872337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153" name="Text 151"/>
          <p:cNvSpPr txBox="1"/>
          <p:nvPr/>
        </p:nvSpPr>
        <p:spPr>
          <a:xfrm>
            <a:off x="9820656" y="294329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54" name="Text 152"/>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−1,717</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7" name="Shape 155"/>
          <p:cNvSpPr/>
          <p:nvPr/>
        </p:nvSpPr>
        <p:spPr>
          <a:xfrm>
            <a:off x="8487247" y="3247707"/>
            <a:ext cx="38398" cy="136676"/>
          </a:xfrm>
          <a:prstGeom prst="rect">
            <a:avLst/>
          </a:prstGeom>
          <a:solidFill>
            <a:srgbClr val="C2352F"/>
          </a:solidFill>
          <a:ln/>
        </p:spPr>
      </p:sp>
      <p:sp>
        <p:nvSpPr>
          <p:cNvPr id="158" name="Text 156"/>
          <p:cNvSpPr txBox="1"/>
          <p:nvPr/>
        </p:nvSpPr>
        <p:spPr>
          <a:xfrm>
            <a:off x="872337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59" name="Text 157"/>
          <p:cNvSpPr txBox="1"/>
          <p:nvPr/>
        </p:nvSpPr>
        <p:spPr>
          <a:xfrm>
            <a:off x="9820656" y="319179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0" name="Text 158"/>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−1,613</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3" name="Shape 161"/>
          <p:cNvSpPr/>
          <p:nvPr/>
        </p:nvSpPr>
        <p:spPr>
          <a:xfrm>
            <a:off x="8487198" y="3496208"/>
            <a:ext cx="38447" cy="136676"/>
          </a:xfrm>
          <a:prstGeom prst="rect">
            <a:avLst/>
          </a:prstGeom>
          <a:solidFill>
            <a:srgbClr val="C2352F"/>
          </a:solidFill>
          <a:ln/>
        </p:spPr>
      </p:sp>
      <p:sp>
        <p:nvSpPr>
          <p:cNvPr id="164" name="Text 162"/>
          <p:cNvSpPr txBox="1"/>
          <p:nvPr/>
        </p:nvSpPr>
        <p:spPr>
          <a:xfrm>
            <a:off x="872337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65" name="Text 163"/>
          <p:cNvSpPr txBox="1"/>
          <p:nvPr/>
        </p:nvSpPr>
        <p:spPr>
          <a:xfrm>
            <a:off x="9820656" y="344029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6" name="Text 164"/>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−1,257</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9" name="Shape 167"/>
          <p:cNvSpPr/>
          <p:nvPr/>
        </p:nvSpPr>
        <p:spPr>
          <a:xfrm>
            <a:off x="8484196" y="3744710"/>
            <a:ext cx="41450" cy="136676"/>
          </a:xfrm>
          <a:prstGeom prst="rect">
            <a:avLst/>
          </a:prstGeom>
          <a:solidFill>
            <a:srgbClr val="C2352F"/>
          </a:solidFill>
          <a:ln/>
        </p:spPr>
      </p:sp>
      <p:sp>
        <p:nvSpPr>
          <p:cNvPr id="170" name="Text 168"/>
          <p:cNvSpPr txBox="1"/>
          <p:nvPr/>
        </p:nvSpPr>
        <p:spPr>
          <a:xfrm>
            <a:off x="872337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−$162K</a:t>
            </a:r>
            <a:endParaRPr lang="en-US" sz="1300" dirty="0"/>
          </a:p>
        </p:txBody>
      </p:sp>
      <p:sp>
        <p:nvSpPr>
          <p:cNvPr id="171" name="Text 169"/>
          <p:cNvSpPr txBox="1"/>
          <p:nvPr/>
        </p:nvSpPr>
        <p:spPr>
          <a:xfrm>
            <a:off x="9820656" y="368879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2</a:t>
            </a:r>
            <a:endParaRPr lang="en-US" sz="1300" dirty="0"/>
          </a:p>
        </p:txBody>
      </p:sp>
      <p:sp>
        <p:nvSpPr>
          <p:cNvPr id="172" name="Text 170"/>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−1,152</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5" name="Shape 173"/>
          <p:cNvSpPr/>
          <p:nvPr/>
        </p:nvSpPr>
        <p:spPr>
          <a:xfrm>
            <a:off x="8480903" y="3993212"/>
            <a:ext cx="44743" cy="136676"/>
          </a:xfrm>
          <a:prstGeom prst="rect">
            <a:avLst/>
          </a:prstGeom>
          <a:solidFill>
            <a:srgbClr val="C2352F"/>
          </a:solidFill>
          <a:ln/>
        </p:spPr>
      </p:sp>
      <p:sp>
        <p:nvSpPr>
          <p:cNvPr id="176" name="Text 174"/>
          <p:cNvSpPr txBox="1"/>
          <p:nvPr/>
        </p:nvSpPr>
        <p:spPr>
          <a:xfrm>
            <a:off x="872337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−$175K</a:t>
            </a:r>
            <a:endParaRPr lang="en-US" sz="1300" dirty="0"/>
          </a:p>
        </p:txBody>
      </p:sp>
      <p:sp>
        <p:nvSpPr>
          <p:cNvPr id="177" name="Text 175"/>
          <p:cNvSpPr txBox="1"/>
          <p:nvPr/>
        </p:nvSpPr>
        <p:spPr>
          <a:xfrm>
            <a:off x="9820656" y="393729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78" name="Text 176"/>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−1,906</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1" name="Shape 179"/>
          <p:cNvSpPr/>
          <p:nvPr/>
        </p:nvSpPr>
        <p:spPr>
          <a:xfrm>
            <a:off x="8478593" y="4241713"/>
            <a:ext cx="47053" cy="136676"/>
          </a:xfrm>
          <a:prstGeom prst="rect">
            <a:avLst/>
          </a:prstGeom>
          <a:solidFill>
            <a:srgbClr val="C2352F"/>
          </a:solidFill>
          <a:ln/>
        </p:spPr>
      </p:sp>
      <p:sp>
        <p:nvSpPr>
          <p:cNvPr id="182" name="Text 180"/>
          <p:cNvSpPr txBox="1"/>
          <p:nvPr/>
        </p:nvSpPr>
        <p:spPr>
          <a:xfrm>
            <a:off x="872337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−$184K</a:t>
            </a:r>
            <a:endParaRPr lang="en-US" sz="1300" dirty="0"/>
          </a:p>
        </p:txBody>
      </p:sp>
      <p:sp>
        <p:nvSpPr>
          <p:cNvPr id="183" name="Text 181"/>
          <p:cNvSpPr txBox="1"/>
          <p:nvPr/>
        </p:nvSpPr>
        <p:spPr>
          <a:xfrm>
            <a:off x="9820656" y="4185800"/>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84" name="Text 182"/>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−1,863</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87" name="Shape 185"/>
          <p:cNvSpPr/>
          <p:nvPr/>
        </p:nvSpPr>
        <p:spPr>
          <a:xfrm>
            <a:off x="8478241" y="4490215"/>
            <a:ext cx="47404" cy="136676"/>
          </a:xfrm>
          <a:prstGeom prst="rect">
            <a:avLst/>
          </a:prstGeom>
          <a:solidFill>
            <a:srgbClr val="C2352F"/>
          </a:solidFill>
          <a:ln/>
        </p:spPr>
      </p:sp>
      <p:sp>
        <p:nvSpPr>
          <p:cNvPr id="188" name="Text 186"/>
          <p:cNvSpPr txBox="1"/>
          <p:nvPr/>
        </p:nvSpPr>
        <p:spPr>
          <a:xfrm>
            <a:off x="872337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−$185K</a:t>
            </a:r>
            <a:endParaRPr lang="en-US" sz="1300" dirty="0"/>
          </a:p>
        </p:txBody>
      </p:sp>
      <p:sp>
        <p:nvSpPr>
          <p:cNvPr id="189" name="Text 187"/>
          <p:cNvSpPr txBox="1"/>
          <p:nvPr/>
        </p:nvSpPr>
        <p:spPr>
          <a:xfrm>
            <a:off x="9820656" y="443430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90" name="Text 188"/>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−1,708</a:t>
            </a:r>
            <a:endParaRPr lang="en-US" sz="1300" dirty="0"/>
          </a:p>
        </p:txBody>
      </p:sp>
      <p:sp>
        <p:nvSpPr>
          <p:cNvPr id="191" name="Text 189"/>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2" name="Text 190"/>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93" name="Shape 191"/>
          <p:cNvSpPr/>
          <p:nvPr/>
        </p:nvSpPr>
        <p:spPr>
          <a:xfrm>
            <a:off x="8467509" y="4738717"/>
            <a:ext cx="58136" cy="136676"/>
          </a:xfrm>
          <a:prstGeom prst="rect">
            <a:avLst/>
          </a:prstGeom>
          <a:solidFill>
            <a:srgbClr val="C2352F"/>
          </a:solidFill>
          <a:ln/>
        </p:spPr>
      </p:sp>
      <p:sp>
        <p:nvSpPr>
          <p:cNvPr id="194" name="Text 192"/>
          <p:cNvSpPr txBox="1"/>
          <p:nvPr/>
        </p:nvSpPr>
        <p:spPr>
          <a:xfrm>
            <a:off x="872337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−$227K</a:t>
            </a:r>
            <a:endParaRPr lang="en-US" sz="1300" dirty="0"/>
          </a:p>
        </p:txBody>
      </p:sp>
      <p:sp>
        <p:nvSpPr>
          <p:cNvPr id="195" name="Text 193"/>
          <p:cNvSpPr txBox="1"/>
          <p:nvPr/>
        </p:nvSpPr>
        <p:spPr>
          <a:xfrm>
            <a:off x="9820656" y="468280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96" name="Text 194"/>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−3,005</a:t>
            </a:r>
            <a:endParaRPr lang="en-US" sz="1300" dirty="0"/>
          </a:p>
        </p:txBody>
      </p:sp>
      <p:sp>
        <p:nvSpPr>
          <p:cNvPr id="197" name="Text 195"/>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8" name="Text 196"/>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9" name="Shape 197"/>
          <p:cNvSpPr/>
          <p:nvPr/>
        </p:nvSpPr>
        <p:spPr>
          <a:xfrm>
            <a:off x="8457267" y="4987218"/>
            <a:ext cx="68379" cy="136676"/>
          </a:xfrm>
          <a:prstGeom prst="rect">
            <a:avLst/>
          </a:prstGeom>
          <a:solidFill>
            <a:srgbClr val="C2352F"/>
          </a:solidFill>
          <a:ln/>
        </p:spPr>
      </p:sp>
      <p:sp>
        <p:nvSpPr>
          <p:cNvPr id="200" name="Text 198"/>
          <p:cNvSpPr txBox="1"/>
          <p:nvPr/>
        </p:nvSpPr>
        <p:spPr>
          <a:xfrm>
            <a:off x="872337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−$267K</a:t>
            </a:r>
            <a:endParaRPr lang="en-US" sz="1300" dirty="0"/>
          </a:p>
        </p:txBody>
      </p:sp>
      <p:sp>
        <p:nvSpPr>
          <p:cNvPr id="201" name="Text 199"/>
          <p:cNvSpPr txBox="1"/>
          <p:nvPr/>
        </p:nvSpPr>
        <p:spPr>
          <a:xfrm>
            <a:off x="9820656" y="4931305"/>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02" name="Text 200"/>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−3,494</a:t>
            </a:r>
            <a:endParaRPr lang="en-US" sz="1300" dirty="0"/>
          </a:p>
        </p:txBody>
      </p:sp>
      <p:sp>
        <p:nvSpPr>
          <p:cNvPr id="203" name="Shape 201"/>
          <p:cNvSpPr/>
          <p:nvPr/>
        </p:nvSpPr>
        <p:spPr>
          <a:xfrm>
            <a:off x="11521440" y="4977025"/>
            <a:ext cx="54864" cy="157062"/>
          </a:xfrm>
          <a:prstGeom prst="rect">
            <a:avLst/>
          </a:prstGeom>
          <a:solidFill>
            <a:srgbClr val="C2352F"/>
          </a:solidFill>
          <a:ln/>
        </p:spPr>
      </p:sp>
      <p:sp>
        <p:nvSpPr>
          <p:cNvPr id="204" name="Text 202"/>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5" name="Text 203"/>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6" name="Shape 204"/>
          <p:cNvSpPr/>
          <p:nvPr/>
        </p:nvSpPr>
        <p:spPr>
          <a:xfrm>
            <a:off x="8434344" y="5235720"/>
            <a:ext cx="91302" cy="136676"/>
          </a:xfrm>
          <a:prstGeom prst="rect">
            <a:avLst/>
          </a:prstGeom>
          <a:solidFill>
            <a:srgbClr val="C2352F"/>
          </a:solidFill>
          <a:ln/>
        </p:spPr>
      </p:sp>
      <p:sp>
        <p:nvSpPr>
          <p:cNvPr id="207" name="Text 205"/>
          <p:cNvSpPr txBox="1"/>
          <p:nvPr/>
        </p:nvSpPr>
        <p:spPr>
          <a:xfrm>
            <a:off x="872337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208" name="Text 206"/>
          <p:cNvSpPr txBox="1"/>
          <p:nvPr/>
        </p:nvSpPr>
        <p:spPr>
          <a:xfrm>
            <a:off x="9820656" y="517980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09" name="Text 207"/>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−3,177</a:t>
            </a:r>
            <a:endParaRPr lang="en-US" sz="1300" dirty="0"/>
          </a:p>
        </p:txBody>
      </p:sp>
      <p:sp>
        <p:nvSpPr>
          <p:cNvPr id="210" name="Shape 208"/>
          <p:cNvSpPr/>
          <p:nvPr/>
        </p:nvSpPr>
        <p:spPr>
          <a:xfrm>
            <a:off x="11521440" y="5225527"/>
            <a:ext cx="54864" cy="157062"/>
          </a:xfrm>
          <a:prstGeom prst="rect">
            <a:avLst/>
          </a:prstGeom>
          <a:solidFill>
            <a:srgbClr val="C2352F"/>
          </a:solidFill>
          <a:ln/>
        </p:spPr>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104021" cy="136676"/>
          </a:xfrm>
          <a:prstGeom prst="rect">
            <a:avLst/>
          </a:prstGeom>
          <a:solidFill>
            <a:srgbClr val="C2352F"/>
          </a:solidFill>
          <a:ln/>
        </p:spPr>
      </p:sp>
      <p:sp>
        <p:nvSpPr>
          <p:cNvPr id="214" name="Text 212"/>
          <p:cNvSpPr txBox="1"/>
          <p:nvPr/>
        </p:nvSpPr>
        <p:spPr>
          <a:xfrm>
            <a:off x="872337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−$406K</a:t>
            </a:r>
            <a:endParaRPr lang="en-US" sz="1300" dirty="0"/>
          </a:p>
        </p:txBody>
      </p:sp>
      <p:sp>
        <p:nvSpPr>
          <p:cNvPr id="215" name="Text 213"/>
          <p:cNvSpPr txBox="1"/>
          <p:nvPr/>
        </p:nvSpPr>
        <p:spPr>
          <a:xfrm>
            <a:off x="9820656" y="542830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6" name="Text 214"/>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−5,191</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615696"/>
          </a:xfrm>
          <a:prstGeom prst="rect">
            <a:avLst/>
          </a:prstGeom>
          <a:solidFill>
            <a:srgbClr val="FBEBEA"/>
          </a:solidFill>
          <a:ln/>
        </p:spPr>
      </p:sp>
      <p:sp>
        <p:nvSpPr>
          <p:cNvPr id="221" name="Text 2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 of 33 stores are ahead of benchmark on net across the four services. 15 stores miss every benchmark that applies to them; 1 store misses none.</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50,443 more services a year on cars already in our drives. No new customers needed.</a:t>
            </a:r>
            <a:endParaRPr lang="en-US" sz="16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 protected gross generated on our own vehicles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13 declined.</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3 VS LAST YEAR</a:t>
            </a:r>
            <a:endParaRPr lang="en-US" sz="1500" dirty="0"/>
          </a:p>
        </p:txBody>
      </p:sp>
      <p:sp>
        <p:nvSpPr>
          <p:cNvPr id="9" name="Shape 7"/>
          <p:cNvSpPr/>
          <p:nvPr/>
        </p:nvSpPr>
        <p:spPr>
          <a:xfrm>
            <a:off x="658368" y="1810512"/>
            <a:ext cx="3489960" cy="1478280"/>
          </a:xfrm>
          <a:prstGeom prst="rect">
            <a:avLst/>
          </a:prstGeom>
          <a:solidFill>
            <a:srgbClr val="F7F7F7"/>
          </a:solidFill>
          <a:ln/>
        </p:spPr>
      </p:sp>
      <p:sp>
        <p:nvSpPr>
          <p:cNvPr id="10" name="Shape 8"/>
          <p:cNvSpPr/>
          <p:nvPr/>
        </p:nvSpPr>
        <p:spPr>
          <a:xfrm>
            <a:off x="4084320" y="1847088"/>
            <a:ext cx="64008" cy="1405128"/>
          </a:xfrm>
          <a:prstGeom prst="rect">
            <a:avLst/>
          </a:prstGeom>
          <a:solidFill>
            <a:srgbClr val="12A566"/>
          </a:solidFill>
          <a:ln/>
        </p:spPr>
      </p:sp>
      <p:sp>
        <p:nvSpPr>
          <p:cNvPr id="11" name="Text 9"/>
          <p:cNvSpPr txBox="1"/>
          <p:nvPr/>
        </p:nvSpPr>
        <p:spPr>
          <a:xfrm>
            <a:off x="749808"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12" name="Text 10"/>
          <p:cNvSpPr txBox="1"/>
          <p:nvPr/>
        </p:nvSpPr>
        <p:spPr>
          <a:xfrm>
            <a:off x="1097280"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graphicFrame>
        <p:nvGraphicFramePr>
          <p:cNvPr id="13" name="Chart 0" descr=""/>
          <p:cNvGraphicFramePr/>
          <p:nvPr/>
        </p:nvGraphicFramePr>
        <p:xfrm>
          <a:off x="1097280" y="2697480"/>
          <a:ext cx="1972056" cy="502615"/>
        </p:xfrm>
        <a:graphic>
          <a:graphicData uri="http://schemas.openxmlformats.org/drawingml/2006/chart">
            <c:chart xmlns:c="http://schemas.openxmlformats.org/drawingml/2006/chart" r:id="rId2"/>
          </a:graphicData>
        </a:graphic>
      </p:graphicFrame>
      <p:sp>
        <p:nvSpPr>
          <p:cNvPr id="14" name="Text 11"/>
          <p:cNvSpPr txBox="1"/>
          <p:nvPr/>
        </p:nvSpPr>
        <p:spPr>
          <a:xfrm>
            <a:off x="3160776" y="225399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5" name="Text 12"/>
          <p:cNvSpPr txBox="1"/>
          <p:nvPr/>
        </p:nvSpPr>
        <p:spPr>
          <a:xfrm>
            <a:off x="3160776"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 name="Text 13"/>
          <p:cNvSpPr txBox="1"/>
          <p:nvPr/>
        </p:nvSpPr>
        <p:spPr>
          <a:xfrm>
            <a:off x="749808"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17" name="Text 14"/>
          <p:cNvSpPr txBox="1"/>
          <p:nvPr/>
        </p:nvSpPr>
        <p:spPr>
          <a:xfrm>
            <a:off x="1097280"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graphicFrame>
        <p:nvGraphicFramePr>
          <p:cNvPr id="18" name="Chart 1" descr=""/>
          <p:cNvGraphicFramePr/>
          <p:nvPr/>
        </p:nvGraphicFramePr>
        <p:xfrm>
          <a:off x="1097280" y="4175760"/>
          <a:ext cx="1972056" cy="502615"/>
        </p:xfrm>
        <a:graphic>
          <a:graphicData uri="http://schemas.openxmlformats.org/drawingml/2006/chart">
            <c:chart xmlns:c="http://schemas.openxmlformats.org/drawingml/2006/chart" r:id="rId3"/>
          </a:graphicData>
        </a:graphic>
      </p:graphicFrame>
      <p:sp>
        <p:nvSpPr>
          <p:cNvPr id="19" name="Text 15"/>
          <p:cNvSpPr txBox="1"/>
          <p:nvPr/>
        </p:nvSpPr>
        <p:spPr>
          <a:xfrm>
            <a:off x="3160776" y="373227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20" name="Text 16"/>
          <p:cNvSpPr txBox="1"/>
          <p:nvPr/>
        </p:nvSpPr>
        <p:spPr>
          <a:xfrm>
            <a:off x="3160776"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21" name="Shape 17"/>
          <p:cNvSpPr/>
          <p:nvPr/>
        </p:nvSpPr>
        <p:spPr>
          <a:xfrm>
            <a:off x="658368" y="4767072"/>
            <a:ext cx="3489960" cy="1478280"/>
          </a:xfrm>
          <a:prstGeom prst="rect">
            <a:avLst/>
          </a:prstGeom>
          <a:solidFill>
            <a:srgbClr val="F7F7F7"/>
          </a:solidFill>
          <a:ln/>
        </p:spPr>
      </p:sp>
      <p:sp>
        <p:nvSpPr>
          <p:cNvPr id="22" name="Text 18"/>
          <p:cNvSpPr txBox="1"/>
          <p:nvPr/>
        </p:nvSpPr>
        <p:spPr>
          <a:xfrm>
            <a:off x="749808"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23" name="Text 19"/>
          <p:cNvSpPr txBox="1"/>
          <p:nvPr/>
        </p:nvSpPr>
        <p:spPr>
          <a:xfrm>
            <a:off x="1097280"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graphicFrame>
        <p:nvGraphicFramePr>
          <p:cNvPr id="24" name="Chart 2" descr=""/>
          <p:cNvGraphicFramePr/>
          <p:nvPr/>
        </p:nvGraphicFramePr>
        <p:xfrm>
          <a:off x="1097280" y="5654040"/>
          <a:ext cx="1972056" cy="502615"/>
        </p:xfrm>
        <a:graphic>
          <a:graphicData uri="http://schemas.openxmlformats.org/drawingml/2006/chart">
            <c:chart xmlns:c="http://schemas.openxmlformats.org/drawingml/2006/chart" r:id="rId4"/>
          </a:graphicData>
        </a:graphic>
      </p:graphicFrame>
      <p:sp>
        <p:nvSpPr>
          <p:cNvPr id="25" name="Text 20"/>
          <p:cNvSpPr txBox="1"/>
          <p:nvPr/>
        </p:nvSpPr>
        <p:spPr>
          <a:xfrm>
            <a:off x="3160776" y="521055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6" name="Text 21"/>
          <p:cNvSpPr txBox="1"/>
          <p:nvPr/>
        </p:nvSpPr>
        <p:spPr>
          <a:xfrm>
            <a:off x="3160776"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7" name="Shape 22"/>
          <p:cNvSpPr/>
          <p:nvPr/>
        </p:nvSpPr>
        <p:spPr>
          <a:xfrm>
            <a:off x="4349496" y="1371600"/>
            <a:ext cx="3489960" cy="45720"/>
          </a:xfrm>
          <a:prstGeom prst="rect">
            <a:avLst/>
          </a:prstGeom>
          <a:solidFill>
            <a:srgbClr val="C2352F"/>
          </a:solidFill>
          <a:ln/>
        </p:spPr>
      </p:sp>
      <p:sp>
        <p:nvSpPr>
          <p:cNvPr id="28" name="Text 2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3 VS LAST YEAR</a:t>
            </a:r>
            <a:endParaRPr lang="en-US" sz="1500" dirty="0"/>
          </a:p>
        </p:txBody>
      </p:sp>
      <p:sp>
        <p:nvSpPr>
          <p:cNvPr id="29" name="Shape 24"/>
          <p:cNvSpPr/>
          <p:nvPr/>
        </p:nvSpPr>
        <p:spPr>
          <a:xfrm>
            <a:off x="4349496" y="1810512"/>
            <a:ext cx="3489960" cy="1478280"/>
          </a:xfrm>
          <a:prstGeom prst="rect">
            <a:avLst/>
          </a:prstGeom>
          <a:solidFill>
            <a:srgbClr val="F7F7F7"/>
          </a:solidFill>
          <a:ln/>
        </p:spPr>
      </p:sp>
      <p:sp>
        <p:nvSpPr>
          <p:cNvPr id="30" name="Text 25"/>
          <p:cNvSpPr txBox="1"/>
          <p:nvPr/>
        </p:nvSpPr>
        <p:spPr>
          <a:xfrm>
            <a:off x="4440936"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33</a:t>
            </a:r>
            <a:endParaRPr lang="en-US" sz="2000" dirty="0"/>
          </a:p>
        </p:txBody>
      </p:sp>
      <p:sp>
        <p:nvSpPr>
          <p:cNvPr id="31" name="Text 26"/>
          <p:cNvSpPr txBox="1"/>
          <p:nvPr/>
        </p:nvSpPr>
        <p:spPr>
          <a:xfrm>
            <a:off x="4788408"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graphicFrame>
        <p:nvGraphicFramePr>
          <p:cNvPr id="32" name="Chart 3" descr=""/>
          <p:cNvGraphicFramePr/>
          <p:nvPr/>
        </p:nvGraphicFramePr>
        <p:xfrm>
          <a:off x="4788408" y="2697480"/>
          <a:ext cx="1972056" cy="502615"/>
        </p:xfrm>
        <a:graphic>
          <a:graphicData uri="http://schemas.openxmlformats.org/drawingml/2006/chart">
            <c:chart xmlns:c="http://schemas.openxmlformats.org/drawingml/2006/chart" r:id="rId5"/>
          </a:graphicData>
        </a:graphic>
      </p:graphicFrame>
      <p:sp>
        <p:nvSpPr>
          <p:cNvPr id="33" name="Text 27"/>
          <p:cNvSpPr txBox="1"/>
          <p:nvPr/>
        </p:nvSpPr>
        <p:spPr>
          <a:xfrm>
            <a:off x="6851904" y="225399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34" name="Text 28"/>
          <p:cNvSpPr txBox="1"/>
          <p:nvPr/>
        </p:nvSpPr>
        <p:spPr>
          <a:xfrm>
            <a:off x="6851904"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35" name="Text 29"/>
          <p:cNvSpPr txBox="1"/>
          <p:nvPr/>
        </p:nvSpPr>
        <p:spPr>
          <a:xfrm>
            <a:off x="4440936"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32</a:t>
            </a:r>
            <a:endParaRPr lang="en-US" sz="2000" dirty="0"/>
          </a:p>
        </p:txBody>
      </p:sp>
      <p:sp>
        <p:nvSpPr>
          <p:cNvPr id="36" name="Text 30"/>
          <p:cNvSpPr txBox="1"/>
          <p:nvPr/>
        </p:nvSpPr>
        <p:spPr>
          <a:xfrm>
            <a:off x="4788408"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graphicFrame>
        <p:nvGraphicFramePr>
          <p:cNvPr id="37" name="Chart 4" descr=""/>
          <p:cNvGraphicFramePr/>
          <p:nvPr/>
        </p:nvGraphicFramePr>
        <p:xfrm>
          <a:off x="4788408" y="4175760"/>
          <a:ext cx="1972056" cy="502615"/>
        </p:xfrm>
        <a:graphic>
          <a:graphicData uri="http://schemas.openxmlformats.org/drawingml/2006/chart">
            <c:chart xmlns:c="http://schemas.openxmlformats.org/drawingml/2006/chart" r:id="rId6"/>
          </a:graphicData>
        </a:graphic>
      </p:graphicFrame>
      <p:sp>
        <p:nvSpPr>
          <p:cNvPr id="38" name="Text 31"/>
          <p:cNvSpPr txBox="1"/>
          <p:nvPr/>
        </p:nvSpPr>
        <p:spPr>
          <a:xfrm>
            <a:off x="6851904" y="373227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39" name="Text 32"/>
          <p:cNvSpPr txBox="1"/>
          <p:nvPr/>
        </p:nvSpPr>
        <p:spPr>
          <a:xfrm>
            <a:off x="6851904"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0" name="Shape 33"/>
          <p:cNvSpPr/>
          <p:nvPr/>
        </p:nvSpPr>
        <p:spPr>
          <a:xfrm>
            <a:off x="4349496" y="4767072"/>
            <a:ext cx="3489960" cy="1478280"/>
          </a:xfrm>
          <a:prstGeom prst="rect">
            <a:avLst/>
          </a:prstGeom>
          <a:solidFill>
            <a:srgbClr val="F7F7F7"/>
          </a:solidFill>
          <a:ln/>
        </p:spPr>
      </p:sp>
      <p:sp>
        <p:nvSpPr>
          <p:cNvPr id="41" name="Text 34"/>
          <p:cNvSpPr txBox="1"/>
          <p:nvPr/>
        </p:nvSpPr>
        <p:spPr>
          <a:xfrm>
            <a:off x="4440936"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31</a:t>
            </a:r>
            <a:endParaRPr lang="en-US" sz="2000" dirty="0"/>
          </a:p>
        </p:txBody>
      </p:sp>
      <p:sp>
        <p:nvSpPr>
          <p:cNvPr id="42" name="Text 35"/>
          <p:cNvSpPr txBox="1"/>
          <p:nvPr/>
        </p:nvSpPr>
        <p:spPr>
          <a:xfrm>
            <a:off x="4788408"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graphicFrame>
        <p:nvGraphicFramePr>
          <p:cNvPr id="43" name="Chart 5" descr=""/>
          <p:cNvGraphicFramePr/>
          <p:nvPr/>
        </p:nvGraphicFramePr>
        <p:xfrm>
          <a:off x="4788408" y="5654040"/>
          <a:ext cx="1972056" cy="502615"/>
        </p:xfrm>
        <a:graphic>
          <a:graphicData uri="http://schemas.openxmlformats.org/drawingml/2006/chart">
            <c:chart xmlns:c="http://schemas.openxmlformats.org/drawingml/2006/chart" r:id="rId7"/>
          </a:graphicData>
        </a:graphic>
      </p:graphicFrame>
      <p:sp>
        <p:nvSpPr>
          <p:cNvPr id="44" name="Text 36"/>
          <p:cNvSpPr txBox="1"/>
          <p:nvPr/>
        </p:nvSpPr>
        <p:spPr>
          <a:xfrm>
            <a:off x="6851904" y="521055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45" name="Text 37"/>
          <p:cNvSpPr txBox="1"/>
          <p:nvPr/>
        </p:nvSpPr>
        <p:spPr>
          <a:xfrm>
            <a:off x="6851904"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46" name="Shape 38"/>
          <p:cNvSpPr/>
          <p:nvPr/>
        </p:nvSpPr>
        <p:spPr>
          <a:xfrm>
            <a:off x="8040624" y="1371600"/>
            <a:ext cx="3489960" cy="45720"/>
          </a:xfrm>
          <a:prstGeom prst="rect">
            <a:avLst/>
          </a:prstGeom>
          <a:solidFill>
            <a:srgbClr val="2587C5"/>
          </a:solidFill>
          <a:ln/>
        </p:spPr>
      </p:sp>
      <p:sp>
        <p:nvSpPr>
          <p:cNvPr id="47" name="Text 3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3 MOVING NOW</a:t>
            </a:r>
            <a:endParaRPr lang="en-US" sz="1500" dirty="0"/>
          </a:p>
        </p:txBody>
      </p:sp>
      <p:sp>
        <p:nvSpPr>
          <p:cNvPr id="48" name="Shape 40"/>
          <p:cNvSpPr/>
          <p:nvPr/>
        </p:nvSpPr>
        <p:spPr>
          <a:xfrm>
            <a:off x="8040624" y="1810512"/>
            <a:ext cx="3489960" cy="1478280"/>
          </a:xfrm>
          <a:prstGeom prst="rect">
            <a:avLst/>
          </a:prstGeom>
          <a:solidFill>
            <a:srgbClr val="F7F7F7"/>
          </a:solidFill>
          <a:ln/>
        </p:spPr>
      </p:sp>
      <p:sp>
        <p:nvSpPr>
          <p:cNvPr id="49" name="Text 41"/>
          <p:cNvSpPr txBox="1"/>
          <p:nvPr/>
        </p:nvSpPr>
        <p:spPr>
          <a:xfrm>
            <a:off x="8132064"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50" name="Text 42"/>
          <p:cNvSpPr txBox="1"/>
          <p:nvPr/>
        </p:nvSpPr>
        <p:spPr>
          <a:xfrm>
            <a:off x="8479536"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graphicFrame>
        <p:nvGraphicFramePr>
          <p:cNvPr id="51" name="Chart 6" descr=""/>
          <p:cNvGraphicFramePr/>
          <p:nvPr/>
        </p:nvGraphicFramePr>
        <p:xfrm>
          <a:off x="8479536" y="2697480"/>
          <a:ext cx="1972056" cy="502615"/>
        </p:xfrm>
        <a:graphic>
          <a:graphicData uri="http://schemas.openxmlformats.org/drawingml/2006/chart">
            <c:chart xmlns:c="http://schemas.openxmlformats.org/drawingml/2006/chart" r:id="rId8"/>
          </a:graphicData>
        </a:graphic>
      </p:graphicFrame>
      <p:graphicFrame>
        <p:nvGraphicFramePr>
          <p:cNvPr id="52" name="Chart 7" descr=""/>
          <p:cNvGraphicFramePr/>
          <p:nvPr/>
        </p:nvGraphicFramePr>
        <p:xfrm>
          <a:off x="8479536" y="2697480"/>
          <a:ext cx="1972056" cy="502615"/>
        </p:xfrm>
        <a:graphic>
          <a:graphicData uri="http://schemas.openxmlformats.org/drawingml/2006/chart">
            <c:chart xmlns:c="http://schemas.openxmlformats.org/drawingml/2006/chart" r:id="rId9"/>
          </a:graphicData>
        </a:graphic>
      </p:graphicFrame>
      <p:sp>
        <p:nvSpPr>
          <p:cNvPr id="53" name="Text 43"/>
          <p:cNvSpPr txBox="1"/>
          <p:nvPr/>
        </p:nvSpPr>
        <p:spPr>
          <a:xfrm>
            <a:off x="10543032" y="225399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54" name="Text 44"/>
          <p:cNvSpPr txBox="1"/>
          <p:nvPr/>
        </p:nvSpPr>
        <p:spPr>
          <a:xfrm>
            <a:off x="10543032"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5" name="Shape 45"/>
          <p:cNvSpPr/>
          <p:nvPr/>
        </p:nvSpPr>
        <p:spPr>
          <a:xfrm>
            <a:off x="11466576" y="3325368"/>
            <a:ext cx="64008" cy="1405128"/>
          </a:xfrm>
          <a:prstGeom prst="rect">
            <a:avLst/>
          </a:prstGeom>
          <a:solidFill>
            <a:srgbClr val="12A566"/>
          </a:solidFill>
          <a:ln/>
        </p:spPr>
      </p:sp>
      <p:sp>
        <p:nvSpPr>
          <p:cNvPr id="56" name="Text 46"/>
          <p:cNvSpPr txBox="1"/>
          <p:nvPr/>
        </p:nvSpPr>
        <p:spPr>
          <a:xfrm>
            <a:off x="8132064"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57" name="Text 47"/>
          <p:cNvSpPr txBox="1"/>
          <p:nvPr/>
        </p:nvSpPr>
        <p:spPr>
          <a:xfrm>
            <a:off x="8479536"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graphicFrame>
        <p:nvGraphicFramePr>
          <p:cNvPr id="58" name="Chart 8" descr=""/>
          <p:cNvGraphicFramePr/>
          <p:nvPr/>
        </p:nvGraphicFramePr>
        <p:xfrm>
          <a:off x="8479536" y="4175760"/>
          <a:ext cx="1972056" cy="502615"/>
        </p:xfrm>
        <a:graphic>
          <a:graphicData uri="http://schemas.openxmlformats.org/drawingml/2006/chart">
            <c:chart xmlns:c="http://schemas.openxmlformats.org/drawingml/2006/chart" r:id="rId10"/>
          </a:graphicData>
        </a:graphic>
      </p:graphicFrame>
      <p:graphicFrame>
        <p:nvGraphicFramePr>
          <p:cNvPr id="59" name="Chart 9" descr=""/>
          <p:cNvGraphicFramePr/>
          <p:nvPr/>
        </p:nvGraphicFramePr>
        <p:xfrm>
          <a:off x="8479536" y="4175760"/>
          <a:ext cx="1972056" cy="502615"/>
        </p:xfrm>
        <a:graphic>
          <a:graphicData uri="http://schemas.openxmlformats.org/drawingml/2006/chart">
            <c:chart xmlns:c="http://schemas.openxmlformats.org/drawingml/2006/chart" r:id="rId11"/>
          </a:graphicData>
        </a:graphic>
      </p:graphicFrame>
      <p:sp>
        <p:nvSpPr>
          <p:cNvPr id="60" name="Text 48"/>
          <p:cNvSpPr txBox="1"/>
          <p:nvPr/>
        </p:nvSpPr>
        <p:spPr>
          <a:xfrm>
            <a:off x="10543032" y="373227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61" name="Text 49"/>
          <p:cNvSpPr txBox="1"/>
          <p:nvPr/>
        </p:nvSpPr>
        <p:spPr>
          <a:xfrm>
            <a:off x="10543032"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62" name="Shape 50"/>
          <p:cNvSpPr/>
          <p:nvPr/>
        </p:nvSpPr>
        <p:spPr>
          <a:xfrm>
            <a:off x="8040624" y="4767072"/>
            <a:ext cx="3489960" cy="1478280"/>
          </a:xfrm>
          <a:prstGeom prst="rect">
            <a:avLst/>
          </a:prstGeom>
          <a:solidFill>
            <a:srgbClr val="F7F7F7"/>
          </a:solidFill>
          <a:ln/>
        </p:spPr>
      </p:sp>
      <p:sp>
        <p:nvSpPr>
          <p:cNvPr id="63" name="Text 51"/>
          <p:cNvSpPr txBox="1"/>
          <p:nvPr/>
        </p:nvSpPr>
        <p:spPr>
          <a:xfrm>
            <a:off x="8132064"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64" name="Text 52"/>
          <p:cNvSpPr txBox="1"/>
          <p:nvPr/>
        </p:nvSpPr>
        <p:spPr>
          <a:xfrm>
            <a:off x="8479536"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graphicFrame>
        <p:nvGraphicFramePr>
          <p:cNvPr id="65" name="Chart 10" descr=""/>
          <p:cNvGraphicFramePr/>
          <p:nvPr/>
        </p:nvGraphicFramePr>
        <p:xfrm>
          <a:off x="8479536" y="5654040"/>
          <a:ext cx="1972056" cy="502615"/>
        </p:xfrm>
        <a:graphic>
          <a:graphicData uri="http://schemas.openxmlformats.org/drawingml/2006/chart">
            <c:chart xmlns:c="http://schemas.openxmlformats.org/drawingml/2006/chart" r:id="rId12"/>
          </a:graphicData>
        </a:graphic>
      </p:graphicFrame>
      <p:graphicFrame>
        <p:nvGraphicFramePr>
          <p:cNvPr id="66" name="Chart 11" descr=""/>
          <p:cNvGraphicFramePr/>
          <p:nvPr/>
        </p:nvGraphicFramePr>
        <p:xfrm>
          <a:off x="8479536" y="5654040"/>
          <a:ext cx="1972056" cy="502615"/>
        </p:xfrm>
        <a:graphic>
          <a:graphicData uri="http://schemas.openxmlformats.org/drawingml/2006/chart">
            <c:chart xmlns:c="http://schemas.openxmlformats.org/drawingml/2006/chart" r:id="rId13"/>
          </a:graphicData>
        </a:graphic>
      </p:graphicFrame>
      <p:sp>
        <p:nvSpPr>
          <p:cNvPr id="67" name="Text 53"/>
          <p:cNvSpPr txBox="1"/>
          <p:nvPr/>
        </p:nvSpPr>
        <p:spPr>
          <a:xfrm>
            <a:off x="10543032" y="521055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68" name="Text 54"/>
          <p:cNvSpPr txBox="1"/>
          <p:nvPr/>
        </p:nvSpPr>
        <p:spPr>
          <a:xfrm>
            <a:off x="10543032"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0.2 pts to 78.1%, ahead of 2025 in six of nine months.</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25 of 33 stores collect less labor margin on internal work than on customer pay; the group is −2.7 pts.</a:t>
            </a:r>
            <a:endParaRPr lang="en-US" sz="15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46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679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913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496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197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785616" y="3111337"/>
            <a:ext cx="19431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18547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89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131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48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248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236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715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7065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5329"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532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49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695" y="2391651"/>
            <a:ext cx="3532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47701" y="2631546"/>
            <a:ext cx="8832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30037" y="2871442"/>
            <a:ext cx="10598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2372" y="3111337"/>
            <a:ext cx="12365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3540" y="3351233"/>
            <a:ext cx="13248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6385" y="3591128"/>
            <a:ext cx="2296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7553" y="3831024"/>
            <a:ext cx="238471"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2224" y="4070920"/>
            <a:ext cx="27380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727" y="4310815"/>
            <a:ext cx="30029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47404" y="4550711"/>
            <a:ext cx="388620"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−4.4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739" y="4790606"/>
            <a:ext cx="40628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59081" y="5030502"/>
            <a:ext cx="47694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1417" y="5270397"/>
            <a:ext cx="49460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14 declined.</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3 VS LAST YEAR</a:t>
            </a:r>
            <a:endParaRPr lang="en-US" sz="1500" dirty="0"/>
          </a:p>
        </p:txBody>
      </p:sp>
      <p:sp>
        <p:nvSpPr>
          <p:cNvPr id="9" name="Shape 7"/>
          <p:cNvSpPr/>
          <p:nvPr/>
        </p:nvSpPr>
        <p:spPr>
          <a:xfrm>
            <a:off x="658368" y="1810512"/>
            <a:ext cx="3489960" cy="1478280"/>
          </a:xfrm>
          <a:prstGeom prst="rect">
            <a:avLst/>
          </a:prstGeom>
          <a:solidFill>
            <a:srgbClr val="F7F7F7"/>
          </a:solidFill>
          <a:ln/>
        </p:spPr>
      </p:sp>
      <p:sp>
        <p:nvSpPr>
          <p:cNvPr id="10" name="Text 8"/>
          <p:cNvSpPr txBox="1"/>
          <p:nvPr/>
        </p:nvSpPr>
        <p:spPr>
          <a:xfrm>
            <a:off x="749808"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11" name="Text 9"/>
          <p:cNvSpPr txBox="1"/>
          <p:nvPr/>
        </p:nvSpPr>
        <p:spPr>
          <a:xfrm>
            <a:off x="1097280"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graphicFrame>
        <p:nvGraphicFramePr>
          <p:cNvPr id="12" name="Chart 0" descr=""/>
          <p:cNvGraphicFramePr/>
          <p:nvPr/>
        </p:nvGraphicFramePr>
        <p:xfrm>
          <a:off x="1097280" y="2697480"/>
          <a:ext cx="1972056" cy="502615"/>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4" name="Text 11"/>
          <p:cNvSpPr txBox="1"/>
          <p:nvPr/>
        </p:nvSpPr>
        <p:spPr>
          <a:xfrm>
            <a:off x="749808"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15" name="Text 12"/>
          <p:cNvSpPr txBox="1"/>
          <p:nvPr/>
        </p:nvSpPr>
        <p:spPr>
          <a:xfrm>
            <a:off x="1097280"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graphicFrame>
        <p:nvGraphicFramePr>
          <p:cNvPr id="16" name="Chart 1" descr=""/>
          <p:cNvGraphicFramePr/>
          <p:nvPr/>
        </p:nvGraphicFramePr>
        <p:xfrm>
          <a:off x="1097280" y="4175760"/>
          <a:ext cx="1972056" cy="502615"/>
        </p:xfrm>
        <a:graphic>
          <a:graphicData uri="http://schemas.openxmlformats.org/drawingml/2006/chart">
            <c:chart xmlns:c="http://schemas.openxmlformats.org/drawingml/2006/chart" r:id="rId3"/>
          </a:graphicData>
        </a:graphic>
      </p:graphicFrame>
      <p:sp>
        <p:nvSpPr>
          <p:cNvPr id="17" name="Text 13"/>
          <p:cNvSpPr txBox="1"/>
          <p:nvPr/>
        </p:nvSpPr>
        <p:spPr>
          <a:xfrm>
            <a:off x="2941320" y="328879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8" name="Shape 14"/>
          <p:cNvSpPr/>
          <p:nvPr/>
        </p:nvSpPr>
        <p:spPr>
          <a:xfrm>
            <a:off x="658368" y="4767072"/>
            <a:ext cx="3489960" cy="1478280"/>
          </a:xfrm>
          <a:prstGeom prst="rect">
            <a:avLst/>
          </a:prstGeom>
          <a:solidFill>
            <a:srgbClr val="F7F7F7"/>
          </a:solidFill>
          <a:ln/>
        </p:spPr>
      </p:sp>
      <p:sp>
        <p:nvSpPr>
          <p:cNvPr id="19" name="Text 15"/>
          <p:cNvSpPr txBox="1"/>
          <p:nvPr/>
        </p:nvSpPr>
        <p:spPr>
          <a:xfrm>
            <a:off x="749808"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20" name="Text 16"/>
          <p:cNvSpPr txBox="1"/>
          <p:nvPr/>
        </p:nvSpPr>
        <p:spPr>
          <a:xfrm>
            <a:off x="1097280"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graphicFrame>
        <p:nvGraphicFramePr>
          <p:cNvPr id="21" name="Chart 2" descr=""/>
          <p:cNvGraphicFramePr/>
          <p:nvPr/>
        </p:nvGraphicFramePr>
        <p:xfrm>
          <a:off x="1097280" y="5654040"/>
          <a:ext cx="1972056" cy="502615"/>
        </p:xfrm>
        <a:graphic>
          <a:graphicData uri="http://schemas.openxmlformats.org/drawingml/2006/chart">
            <c:chart xmlns:c="http://schemas.openxmlformats.org/drawingml/2006/chart" r:id="rId4"/>
          </a:graphicData>
        </a:graphic>
      </p:graphicFrame>
      <p:sp>
        <p:nvSpPr>
          <p:cNvPr id="22" name="Text 17"/>
          <p:cNvSpPr txBox="1"/>
          <p:nvPr/>
        </p:nvSpPr>
        <p:spPr>
          <a:xfrm>
            <a:off x="2941320" y="476707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 pts</a:t>
            </a:r>
            <a:endParaRPr lang="en-US" sz="1600" dirty="0"/>
          </a:p>
        </p:txBody>
      </p:sp>
      <p:sp>
        <p:nvSpPr>
          <p:cNvPr id="23" name="Shape 18"/>
          <p:cNvSpPr/>
          <p:nvPr/>
        </p:nvSpPr>
        <p:spPr>
          <a:xfrm>
            <a:off x="4349496" y="1371600"/>
            <a:ext cx="3489960" cy="45720"/>
          </a:xfrm>
          <a:prstGeom prst="rect">
            <a:avLst/>
          </a:prstGeom>
          <a:solidFill>
            <a:srgbClr val="C2352F"/>
          </a:solidFill>
          <a:ln/>
        </p:spPr>
      </p:sp>
      <p:sp>
        <p:nvSpPr>
          <p:cNvPr id="24" name="Text 1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3 VS LAST YEAR</a:t>
            </a:r>
            <a:endParaRPr lang="en-US" sz="1500" dirty="0"/>
          </a:p>
        </p:txBody>
      </p:sp>
      <p:sp>
        <p:nvSpPr>
          <p:cNvPr id="25" name="Shape 20"/>
          <p:cNvSpPr/>
          <p:nvPr/>
        </p:nvSpPr>
        <p:spPr>
          <a:xfrm>
            <a:off x="4349496" y="1810512"/>
            <a:ext cx="3489960" cy="1478280"/>
          </a:xfrm>
          <a:prstGeom prst="rect">
            <a:avLst/>
          </a:prstGeom>
          <a:solidFill>
            <a:srgbClr val="F7F7F7"/>
          </a:solidFill>
          <a:ln/>
        </p:spPr>
      </p:sp>
      <p:sp>
        <p:nvSpPr>
          <p:cNvPr id="26" name="Text 21"/>
          <p:cNvSpPr txBox="1"/>
          <p:nvPr/>
        </p:nvSpPr>
        <p:spPr>
          <a:xfrm>
            <a:off x="4440936"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33</a:t>
            </a:r>
            <a:endParaRPr lang="en-US" sz="2000" dirty="0"/>
          </a:p>
        </p:txBody>
      </p:sp>
      <p:sp>
        <p:nvSpPr>
          <p:cNvPr id="27" name="Text 22"/>
          <p:cNvSpPr txBox="1"/>
          <p:nvPr/>
        </p:nvSpPr>
        <p:spPr>
          <a:xfrm>
            <a:off x="4788408"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graphicFrame>
        <p:nvGraphicFramePr>
          <p:cNvPr id="28" name="Chart 3" descr=""/>
          <p:cNvGraphicFramePr/>
          <p:nvPr/>
        </p:nvGraphicFramePr>
        <p:xfrm>
          <a:off x="4788408" y="2697480"/>
          <a:ext cx="1972056" cy="502615"/>
        </p:xfrm>
        <a:graphic>
          <a:graphicData uri="http://schemas.openxmlformats.org/drawingml/2006/chart">
            <c:chart xmlns:c="http://schemas.openxmlformats.org/drawingml/2006/chart" r:id="rId5"/>
          </a:graphicData>
        </a:graphic>
      </p:graphicFrame>
      <p:sp>
        <p:nvSpPr>
          <p:cNvPr id="29" name="Text 23"/>
          <p:cNvSpPr txBox="1"/>
          <p:nvPr/>
        </p:nvSpPr>
        <p:spPr>
          <a:xfrm>
            <a:off x="6632448" y="181051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0" name="Text 24"/>
          <p:cNvSpPr txBox="1"/>
          <p:nvPr/>
        </p:nvSpPr>
        <p:spPr>
          <a:xfrm>
            <a:off x="4440936"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32</a:t>
            </a:r>
            <a:endParaRPr lang="en-US" sz="2000" dirty="0"/>
          </a:p>
        </p:txBody>
      </p:sp>
      <p:sp>
        <p:nvSpPr>
          <p:cNvPr id="31" name="Text 25"/>
          <p:cNvSpPr txBox="1"/>
          <p:nvPr/>
        </p:nvSpPr>
        <p:spPr>
          <a:xfrm>
            <a:off x="4788408"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graphicFrame>
        <p:nvGraphicFramePr>
          <p:cNvPr id="32" name="Chart 4" descr=""/>
          <p:cNvGraphicFramePr/>
          <p:nvPr/>
        </p:nvGraphicFramePr>
        <p:xfrm>
          <a:off x="4788408" y="4175760"/>
          <a:ext cx="1972056" cy="502615"/>
        </p:xfrm>
        <a:graphic>
          <a:graphicData uri="http://schemas.openxmlformats.org/drawingml/2006/chart">
            <c:chart xmlns:c="http://schemas.openxmlformats.org/drawingml/2006/chart" r:id="rId6"/>
          </a:graphicData>
        </a:graphic>
      </p:graphicFrame>
      <p:sp>
        <p:nvSpPr>
          <p:cNvPr id="33" name="Text 26"/>
          <p:cNvSpPr txBox="1"/>
          <p:nvPr/>
        </p:nvSpPr>
        <p:spPr>
          <a:xfrm>
            <a:off x="6632448" y="328879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4" name="Shape 27"/>
          <p:cNvSpPr/>
          <p:nvPr/>
        </p:nvSpPr>
        <p:spPr>
          <a:xfrm>
            <a:off x="4349496" y="4767072"/>
            <a:ext cx="3489960" cy="1478280"/>
          </a:xfrm>
          <a:prstGeom prst="rect">
            <a:avLst/>
          </a:prstGeom>
          <a:solidFill>
            <a:srgbClr val="F7F7F7"/>
          </a:solidFill>
          <a:ln/>
        </p:spPr>
      </p:sp>
      <p:sp>
        <p:nvSpPr>
          <p:cNvPr id="35" name="Text 28"/>
          <p:cNvSpPr txBox="1"/>
          <p:nvPr/>
        </p:nvSpPr>
        <p:spPr>
          <a:xfrm>
            <a:off x="4440936"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31</a:t>
            </a:r>
            <a:endParaRPr lang="en-US" sz="2000" dirty="0"/>
          </a:p>
        </p:txBody>
      </p:sp>
      <p:sp>
        <p:nvSpPr>
          <p:cNvPr id="36" name="Text 29"/>
          <p:cNvSpPr txBox="1"/>
          <p:nvPr/>
        </p:nvSpPr>
        <p:spPr>
          <a:xfrm>
            <a:off x="4788408"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graphicFrame>
        <p:nvGraphicFramePr>
          <p:cNvPr id="37" name="Chart 5" descr=""/>
          <p:cNvGraphicFramePr/>
          <p:nvPr/>
        </p:nvGraphicFramePr>
        <p:xfrm>
          <a:off x="4788408" y="5654040"/>
          <a:ext cx="1972056" cy="502615"/>
        </p:xfrm>
        <a:graphic>
          <a:graphicData uri="http://schemas.openxmlformats.org/drawingml/2006/chart">
            <c:chart xmlns:c="http://schemas.openxmlformats.org/drawingml/2006/chart" r:id="rId7"/>
          </a:graphicData>
        </a:graphic>
      </p:graphicFrame>
      <p:sp>
        <p:nvSpPr>
          <p:cNvPr id="38" name="Text 30"/>
          <p:cNvSpPr txBox="1"/>
          <p:nvPr/>
        </p:nvSpPr>
        <p:spPr>
          <a:xfrm>
            <a:off x="6632448" y="476707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−5.4 pts</a:t>
            </a:r>
            <a:endParaRPr lang="en-US" sz="1600" dirty="0"/>
          </a:p>
        </p:txBody>
      </p:sp>
      <p:sp>
        <p:nvSpPr>
          <p:cNvPr id="39" name="Shape 31"/>
          <p:cNvSpPr/>
          <p:nvPr/>
        </p:nvSpPr>
        <p:spPr>
          <a:xfrm>
            <a:off x="8040624" y="1371600"/>
            <a:ext cx="3489960" cy="45720"/>
          </a:xfrm>
          <a:prstGeom prst="rect">
            <a:avLst/>
          </a:prstGeom>
          <a:solidFill>
            <a:srgbClr val="2587C5"/>
          </a:solidFill>
          <a:ln/>
        </p:spPr>
      </p:sp>
      <p:sp>
        <p:nvSpPr>
          <p:cNvPr id="40" name="Text 32"/>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3 MOVING NOW</a:t>
            </a:r>
            <a:endParaRPr lang="en-US" sz="1500" dirty="0"/>
          </a:p>
        </p:txBody>
      </p:sp>
      <p:sp>
        <p:nvSpPr>
          <p:cNvPr id="41" name="Shape 33"/>
          <p:cNvSpPr/>
          <p:nvPr/>
        </p:nvSpPr>
        <p:spPr>
          <a:xfrm>
            <a:off x="8040624" y="1810512"/>
            <a:ext cx="3489960" cy="1478280"/>
          </a:xfrm>
          <a:prstGeom prst="rect">
            <a:avLst/>
          </a:prstGeom>
          <a:solidFill>
            <a:srgbClr val="F7F7F7"/>
          </a:solidFill>
          <a:ln/>
        </p:spPr>
      </p:sp>
      <p:sp>
        <p:nvSpPr>
          <p:cNvPr id="42" name="Text 34"/>
          <p:cNvSpPr txBox="1"/>
          <p:nvPr/>
        </p:nvSpPr>
        <p:spPr>
          <a:xfrm>
            <a:off x="8132064"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43" name="Text 35"/>
          <p:cNvSpPr txBox="1"/>
          <p:nvPr/>
        </p:nvSpPr>
        <p:spPr>
          <a:xfrm>
            <a:off x="8479536"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graphicFrame>
        <p:nvGraphicFramePr>
          <p:cNvPr id="44" name="Chart 6" descr=""/>
          <p:cNvGraphicFramePr/>
          <p:nvPr/>
        </p:nvGraphicFramePr>
        <p:xfrm>
          <a:off x="8479536" y="2697480"/>
          <a:ext cx="1972056" cy="502615"/>
        </p:xfrm>
        <a:graphic>
          <a:graphicData uri="http://schemas.openxmlformats.org/drawingml/2006/chart">
            <c:chart xmlns:c="http://schemas.openxmlformats.org/drawingml/2006/chart" r:id="rId8"/>
          </a:graphicData>
        </a:graphic>
      </p:graphicFrame>
      <p:graphicFrame>
        <p:nvGraphicFramePr>
          <p:cNvPr id="45" name="Chart 7" descr=""/>
          <p:cNvGraphicFramePr/>
          <p:nvPr/>
        </p:nvGraphicFramePr>
        <p:xfrm>
          <a:off x="8479536" y="2697480"/>
          <a:ext cx="1972056" cy="502615"/>
        </p:xfrm>
        <a:graphic>
          <a:graphicData uri="http://schemas.openxmlformats.org/drawingml/2006/chart">
            <c:chart xmlns:c="http://schemas.openxmlformats.org/drawingml/2006/chart" r:id="rId9"/>
          </a:graphicData>
        </a:graphic>
      </p:graphicFrame>
      <p:sp>
        <p:nvSpPr>
          <p:cNvPr id="46" name="Text 36"/>
          <p:cNvSpPr txBox="1"/>
          <p:nvPr/>
        </p:nvSpPr>
        <p:spPr>
          <a:xfrm>
            <a:off x="10323576" y="181051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47" name="Text 37"/>
          <p:cNvSpPr txBox="1"/>
          <p:nvPr/>
        </p:nvSpPr>
        <p:spPr>
          <a:xfrm>
            <a:off x="8132064"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48" name="Text 38"/>
          <p:cNvSpPr txBox="1"/>
          <p:nvPr/>
        </p:nvSpPr>
        <p:spPr>
          <a:xfrm>
            <a:off x="8479536"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graphicFrame>
        <p:nvGraphicFramePr>
          <p:cNvPr id="49" name="Chart 8" descr=""/>
          <p:cNvGraphicFramePr/>
          <p:nvPr/>
        </p:nvGraphicFramePr>
        <p:xfrm>
          <a:off x="8479536" y="4175760"/>
          <a:ext cx="1972056" cy="502615"/>
        </p:xfrm>
        <a:graphic>
          <a:graphicData uri="http://schemas.openxmlformats.org/drawingml/2006/chart">
            <c:chart xmlns:c="http://schemas.openxmlformats.org/drawingml/2006/chart" r:id="rId10"/>
          </a:graphicData>
        </a:graphic>
      </p:graphicFrame>
      <p:graphicFrame>
        <p:nvGraphicFramePr>
          <p:cNvPr id="50" name="Chart 9" descr=""/>
          <p:cNvGraphicFramePr/>
          <p:nvPr/>
        </p:nvGraphicFramePr>
        <p:xfrm>
          <a:off x="8479536" y="4175760"/>
          <a:ext cx="1972056" cy="502615"/>
        </p:xfrm>
        <a:graphic>
          <a:graphicData uri="http://schemas.openxmlformats.org/drawingml/2006/chart">
            <c:chart xmlns:c="http://schemas.openxmlformats.org/drawingml/2006/chart" r:id="rId11"/>
          </a:graphicData>
        </a:graphic>
      </p:graphicFrame>
      <p:sp>
        <p:nvSpPr>
          <p:cNvPr id="51" name="Text 39"/>
          <p:cNvSpPr txBox="1"/>
          <p:nvPr/>
        </p:nvSpPr>
        <p:spPr>
          <a:xfrm>
            <a:off x="10323576" y="328879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2" name="Shape 40"/>
          <p:cNvSpPr/>
          <p:nvPr/>
        </p:nvSpPr>
        <p:spPr>
          <a:xfrm>
            <a:off x="8040624" y="4767072"/>
            <a:ext cx="3489960" cy="1478280"/>
          </a:xfrm>
          <a:prstGeom prst="rect">
            <a:avLst/>
          </a:prstGeom>
          <a:solidFill>
            <a:srgbClr val="F7F7F7"/>
          </a:solidFill>
          <a:ln/>
        </p:spPr>
      </p:sp>
      <p:sp>
        <p:nvSpPr>
          <p:cNvPr id="53" name="Text 41"/>
          <p:cNvSpPr txBox="1"/>
          <p:nvPr/>
        </p:nvSpPr>
        <p:spPr>
          <a:xfrm>
            <a:off x="8132064"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54" name="Text 42"/>
          <p:cNvSpPr txBox="1"/>
          <p:nvPr/>
        </p:nvSpPr>
        <p:spPr>
          <a:xfrm>
            <a:off x="8479536"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graphicFrame>
        <p:nvGraphicFramePr>
          <p:cNvPr id="55" name="Chart 10" descr=""/>
          <p:cNvGraphicFramePr/>
          <p:nvPr/>
        </p:nvGraphicFramePr>
        <p:xfrm>
          <a:off x="8479536" y="5654040"/>
          <a:ext cx="1972056" cy="502615"/>
        </p:xfrm>
        <a:graphic>
          <a:graphicData uri="http://schemas.openxmlformats.org/drawingml/2006/chart">
            <c:chart xmlns:c="http://schemas.openxmlformats.org/drawingml/2006/chart" r:id="rId12"/>
          </a:graphicData>
        </a:graphic>
      </p:graphicFrame>
      <p:graphicFrame>
        <p:nvGraphicFramePr>
          <p:cNvPr id="56" name="Chart 11" descr=""/>
          <p:cNvGraphicFramePr/>
          <p:nvPr/>
        </p:nvGraphicFramePr>
        <p:xfrm>
          <a:off x="8479536" y="5654040"/>
          <a:ext cx="1972056" cy="502615"/>
        </p:xfrm>
        <a:graphic>
          <a:graphicData uri="http://schemas.openxmlformats.org/drawingml/2006/chart">
            <c:chart xmlns:c="http://schemas.openxmlformats.org/drawingml/2006/chart" r:id="rId13"/>
          </a:graphicData>
        </a:graphic>
      </p:graphicFrame>
      <p:sp>
        <p:nvSpPr>
          <p:cNvPr id="57" name="Text 43"/>
          <p:cNvSpPr txBox="1"/>
          <p:nvPr/>
        </p:nvSpPr>
        <p:spPr>
          <a:xfrm>
            <a:off x="10323576" y="476707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C2352F"/>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C2352F"/>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C2352F"/>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 of 33 stores collect less parts margin on internal work than on customer pay; the group is −4.2 pts.</a:t>
            </a:r>
            <a:endParaRPr lang="en-US" sz="15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5216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5159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785616" y="2631546"/>
            <a:ext cx="41369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41369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354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59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1" name="Shape 39"/>
          <p:cNvSpPr/>
          <p:nvPr/>
        </p:nvSpPr>
        <p:spPr>
          <a:xfrm>
            <a:off x="3785616" y="3591128"/>
            <a:ext cx="31340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13403"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5072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5072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3114"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785616" y="4790606"/>
            <a:ext cx="18804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5" name="Shape 63"/>
          <p:cNvSpPr/>
          <p:nvPr/>
        </p:nvSpPr>
        <p:spPr>
          <a:xfrm>
            <a:off x="3785616" y="5030502"/>
            <a:ext cx="18804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880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043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50434"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1" name="Shape 79"/>
          <p:cNvSpPr/>
          <p:nvPr/>
        </p:nvSpPr>
        <p:spPr>
          <a:xfrm>
            <a:off x="9336024" y="1911860"/>
            <a:ext cx="12536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5" name="Shape 83"/>
          <p:cNvSpPr/>
          <p:nvPr/>
        </p:nvSpPr>
        <p:spPr>
          <a:xfrm>
            <a:off x="9336024" y="2151755"/>
            <a:ext cx="11282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01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37608"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298416" y="2871442"/>
            <a:ext cx="3760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8416" y="3111337"/>
            <a:ext cx="3760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0663" y="3351233"/>
            <a:ext cx="12536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47693" y="3591128"/>
            <a:ext cx="28833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0085" y="3831024"/>
            <a:ext cx="325939"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7" name="Shape 115"/>
          <p:cNvSpPr/>
          <p:nvPr/>
        </p:nvSpPr>
        <p:spPr>
          <a:xfrm>
            <a:off x="8972476" y="4070920"/>
            <a:ext cx="36354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972476" y="4310815"/>
            <a:ext cx="36354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9940" y="4550711"/>
            <a:ext cx="37608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872187" y="4790606"/>
            <a:ext cx="463837"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872187" y="5030502"/>
            <a:ext cx="4638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59362" y="5270397"/>
            <a:ext cx="57666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4290" y="5510293"/>
            <a:ext cx="6017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12 declined.</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3 VS LAST YEAR</a:t>
            </a:r>
            <a:endParaRPr lang="en-US" sz="1500" dirty="0"/>
          </a:p>
        </p:txBody>
      </p:sp>
      <p:sp>
        <p:nvSpPr>
          <p:cNvPr id="9" name="Shape 7"/>
          <p:cNvSpPr/>
          <p:nvPr/>
        </p:nvSpPr>
        <p:spPr>
          <a:xfrm>
            <a:off x="658368" y="1810512"/>
            <a:ext cx="3489960" cy="1478280"/>
          </a:xfrm>
          <a:prstGeom prst="rect">
            <a:avLst/>
          </a:prstGeom>
          <a:solidFill>
            <a:srgbClr val="F7F7F7"/>
          </a:solidFill>
          <a:ln/>
        </p:spPr>
      </p:sp>
      <p:sp>
        <p:nvSpPr>
          <p:cNvPr id="10" name="Text 8"/>
          <p:cNvSpPr txBox="1"/>
          <p:nvPr/>
        </p:nvSpPr>
        <p:spPr>
          <a:xfrm>
            <a:off x="749808"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11" name="Text 9"/>
          <p:cNvSpPr txBox="1"/>
          <p:nvPr/>
        </p:nvSpPr>
        <p:spPr>
          <a:xfrm>
            <a:off x="1097280"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graphicFrame>
        <p:nvGraphicFramePr>
          <p:cNvPr id="12" name="Chart 0" descr=""/>
          <p:cNvGraphicFramePr/>
          <p:nvPr/>
        </p:nvGraphicFramePr>
        <p:xfrm>
          <a:off x="1097280" y="2697480"/>
          <a:ext cx="1972056" cy="502615"/>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1"/>
          <p:cNvSpPr txBox="1"/>
          <p:nvPr/>
        </p:nvSpPr>
        <p:spPr>
          <a:xfrm>
            <a:off x="749808"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15" name="Text 12"/>
          <p:cNvSpPr txBox="1"/>
          <p:nvPr/>
        </p:nvSpPr>
        <p:spPr>
          <a:xfrm>
            <a:off x="1097280"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graphicFrame>
        <p:nvGraphicFramePr>
          <p:cNvPr id="16" name="Chart 1" descr=""/>
          <p:cNvGraphicFramePr/>
          <p:nvPr/>
        </p:nvGraphicFramePr>
        <p:xfrm>
          <a:off x="1097280" y="4175760"/>
          <a:ext cx="1972056" cy="502615"/>
        </p:xfrm>
        <a:graphic>
          <a:graphicData uri="http://schemas.openxmlformats.org/drawingml/2006/chart">
            <c:chart xmlns:c="http://schemas.openxmlformats.org/drawingml/2006/chart" r:id="rId3"/>
          </a:graphicData>
        </a:graphic>
      </p:graphicFrame>
      <p:sp>
        <p:nvSpPr>
          <p:cNvPr id="17" name="Text 13"/>
          <p:cNvSpPr txBox="1"/>
          <p:nvPr/>
        </p:nvSpPr>
        <p:spPr>
          <a:xfrm>
            <a:off x="2941320" y="328879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8" name="Shape 14"/>
          <p:cNvSpPr/>
          <p:nvPr/>
        </p:nvSpPr>
        <p:spPr>
          <a:xfrm>
            <a:off x="658368" y="4767072"/>
            <a:ext cx="3489960" cy="1478280"/>
          </a:xfrm>
          <a:prstGeom prst="rect">
            <a:avLst/>
          </a:prstGeom>
          <a:solidFill>
            <a:srgbClr val="F7F7F7"/>
          </a:solidFill>
          <a:ln/>
        </p:spPr>
      </p:sp>
      <p:sp>
        <p:nvSpPr>
          <p:cNvPr id="19" name="Text 15"/>
          <p:cNvSpPr txBox="1"/>
          <p:nvPr/>
        </p:nvSpPr>
        <p:spPr>
          <a:xfrm>
            <a:off x="749808"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20" name="Text 16"/>
          <p:cNvSpPr txBox="1"/>
          <p:nvPr/>
        </p:nvSpPr>
        <p:spPr>
          <a:xfrm>
            <a:off x="1097280"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graphicFrame>
        <p:nvGraphicFramePr>
          <p:cNvPr id="21" name="Chart 2" descr=""/>
          <p:cNvGraphicFramePr/>
          <p:nvPr/>
        </p:nvGraphicFramePr>
        <p:xfrm>
          <a:off x="1097280" y="5654040"/>
          <a:ext cx="1972056" cy="502615"/>
        </p:xfrm>
        <a:graphic>
          <a:graphicData uri="http://schemas.openxmlformats.org/drawingml/2006/chart">
            <c:chart xmlns:c="http://schemas.openxmlformats.org/drawingml/2006/chart" r:id="rId4"/>
          </a:graphicData>
        </a:graphic>
      </p:graphicFrame>
      <p:sp>
        <p:nvSpPr>
          <p:cNvPr id="22" name="Text 17"/>
          <p:cNvSpPr txBox="1"/>
          <p:nvPr/>
        </p:nvSpPr>
        <p:spPr>
          <a:xfrm>
            <a:off x="2941320" y="476707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3" name="Shape 18"/>
          <p:cNvSpPr/>
          <p:nvPr/>
        </p:nvSpPr>
        <p:spPr>
          <a:xfrm>
            <a:off x="4349496" y="1371600"/>
            <a:ext cx="3489960" cy="45720"/>
          </a:xfrm>
          <a:prstGeom prst="rect">
            <a:avLst/>
          </a:prstGeom>
          <a:solidFill>
            <a:srgbClr val="C2352F"/>
          </a:solidFill>
          <a:ln/>
        </p:spPr>
      </p:sp>
      <p:sp>
        <p:nvSpPr>
          <p:cNvPr id="24" name="Text 1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3 VS LAST YEAR</a:t>
            </a:r>
            <a:endParaRPr lang="en-US" sz="1500" dirty="0"/>
          </a:p>
        </p:txBody>
      </p:sp>
      <p:sp>
        <p:nvSpPr>
          <p:cNvPr id="25" name="Shape 20"/>
          <p:cNvSpPr/>
          <p:nvPr/>
        </p:nvSpPr>
        <p:spPr>
          <a:xfrm>
            <a:off x="4349496" y="1810512"/>
            <a:ext cx="3489960" cy="1478280"/>
          </a:xfrm>
          <a:prstGeom prst="rect">
            <a:avLst/>
          </a:prstGeom>
          <a:solidFill>
            <a:srgbClr val="F7F7F7"/>
          </a:solidFill>
          <a:ln/>
        </p:spPr>
      </p:sp>
      <p:sp>
        <p:nvSpPr>
          <p:cNvPr id="26" name="Text 21"/>
          <p:cNvSpPr txBox="1"/>
          <p:nvPr/>
        </p:nvSpPr>
        <p:spPr>
          <a:xfrm>
            <a:off x="4440936"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33</a:t>
            </a:r>
            <a:endParaRPr lang="en-US" sz="2000" dirty="0"/>
          </a:p>
        </p:txBody>
      </p:sp>
      <p:sp>
        <p:nvSpPr>
          <p:cNvPr id="27" name="Text 22"/>
          <p:cNvSpPr txBox="1"/>
          <p:nvPr/>
        </p:nvSpPr>
        <p:spPr>
          <a:xfrm>
            <a:off x="4788408"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graphicFrame>
        <p:nvGraphicFramePr>
          <p:cNvPr id="28" name="Chart 3" descr=""/>
          <p:cNvGraphicFramePr/>
          <p:nvPr/>
        </p:nvGraphicFramePr>
        <p:xfrm>
          <a:off x="4788408" y="2697480"/>
          <a:ext cx="1972056" cy="502615"/>
        </p:xfrm>
        <a:graphic>
          <a:graphicData uri="http://schemas.openxmlformats.org/drawingml/2006/chart">
            <c:chart xmlns:c="http://schemas.openxmlformats.org/drawingml/2006/chart" r:id="rId5"/>
          </a:graphicData>
        </a:graphic>
      </p:graphicFrame>
      <p:sp>
        <p:nvSpPr>
          <p:cNvPr id="29" name="Text 23"/>
          <p:cNvSpPr txBox="1"/>
          <p:nvPr/>
        </p:nvSpPr>
        <p:spPr>
          <a:xfrm>
            <a:off x="6632448" y="181051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0" name="Text 24"/>
          <p:cNvSpPr txBox="1"/>
          <p:nvPr/>
        </p:nvSpPr>
        <p:spPr>
          <a:xfrm>
            <a:off x="4440936"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32</a:t>
            </a:r>
            <a:endParaRPr lang="en-US" sz="2000" dirty="0"/>
          </a:p>
        </p:txBody>
      </p:sp>
      <p:sp>
        <p:nvSpPr>
          <p:cNvPr id="31" name="Text 25"/>
          <p:cNvSpPr txBox="1"/>
          <p:nvPr/>
        </p:nvSpPr>
        <p:spPr>
          <a:xfrm>
            <a:off x="4788408"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graphicFrame>
        <p:nvGraphicFramePr>
          <p:cNvPr id="32" name="Chart 4" descr=""/>
          <p:cNvGraphicFramePr/>
          <p:nvPr/>
        </p:nvGraphicFramePr>
        <p:xfrm>
          <a:off x="4788408" y="4175760"/>
          <a:ext cx="1972056" cy="502615"/>
        </p:xfrm>
        <a:graphic>
          <a:graphicData uri="http://schemas.openxmlformats.org/drawingml/2006/chart">
            <c:chart xmlns:c="http://schemas.openxmlformats.org/drawingml/2006/chart" r:id="rId6"/>
          </a:graphicData>
        </a:graphic>
      </p:graphicFrame>
      <p:sp>
        <p:nvSpPr>
          <p:cNvPr id="33" name="Text 26"/>
          <p:cNvSpPr txBox="1"/>
          <p:nvPr/>
        </p:nvSpPr>
        <p:spPr>
          <a:xfrm>
            <a:off x="6632448" y="328879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4" name="Shape 27"/>
          <p:cNvSpPr/>
          <p:nvPr/>
        </p:nvSpPr>
        <p:spPr>
          <a:xfrm>
            <a:off x="4349496" y="4767072"/>
            <a:ext cx="3489960" cy="1478280"/>
          </a:xfrm>
          <a:prstGeom prst="rect">
            <a:avLst/>
          </a:prstGeom>
          <a:solidFill>
            <a:srgbClr val="F7F7F7"/>
          </a:solidFill>
          <a:ln/>
        </p:spPr>
      </p:sp>
      <p:sp>
        <p:nvSpPr>
          <p:cNvPr id="35" name="Text 28"/>
          <p:cNvSpPr txBox="1"/>
          <p:nvPr/>
        </p:nvSpPr>
        <p:spPr>
          <a:xfrm>
            <a:off x="4440936"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31</a:t>
            </a:r>
            <a:endParaRPr lang="en-US" sz="2000" dirty="0"/>
          </a:p>
        </p:txBody>
      </p:sp>
      <p:sp>
        <p:nvSpPr>
          <p:cNvPr id="36" name="Text 29"/>
          <p:cNvSpPr txBox="1"/>
          <p:nvPr/>
        </p:nvSpPr>
        <p:spPr>
          <a:xfrm>
            <a:off x="4788408"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graphicFrame>
        <p:nvGraphicFramePr>
          <p:cNvPr id="37" name="Chart 5" descr=""/>
          <p:cNvGraphicFramePr/>
          <p:nvPr/>
        </p:nvGraphicFramePr>
        <p:xfrm>
          <a:off x="4788408" y="5654040"/>
          <a:ext cx="1972056" cy="502615"/>
        </p:xfrm>
        <a:graphic>
          <a:graphicData uri="http://schemas.openxmlformats.org/drawingml/2006/chart">
            <c:chart xmlns:c="http://schemas.openxmlformats.org/drawingml/2006/chart" r:id="rId7"/>
          </a:graphicData>
        </a:graphic>
      </p:graphicFrame>
      <p:sp>
        <p:nvSpPr>
          <p:cNvPr id="38" name="Text 30"/>
          <p:cNvSpPr txBox="1"/>
          <p:nvPr/>
        </p:nvSpPr>
        <p:spPr>
          <a:xfrm>
            <a:off x="6632448" y="476707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39" name="Shape 31"/>
          <p:cNvSpPr/>
          <p:nvPr/>
        </p:nvSpPr>
        <p:spPr>
          <a:xfrm>
            <a:off x="8040624" y="1371600"/>
            <a:ext cx="3489960" cy="45720"/>
          </a:xfrm>
          <a:prstGeom prst="rect">
            <a:avLst/>
          </a:prstGeom>
          <a:solidFill>
            <a:srgbClr val="2587C5"/>
          </a:solidFill>
          <a:ln/>
        </p:spPr>
      </p:sp>
      <p:sp>
        <p:nvSpPr>
          <p:cNvPr id="40" name="Text 32"/>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3 MOVING NOW</a:t>
            </a:r>
            <a:endParaRPr lang="en-US" sz="1500" dirty="0"/>
          </a:p>
        </p:txBody>
      </p:sp>
      <p:sp>
        <p:nvSpPr>
          <p:cNvPr id="41" name="Shape 33"/>
          <p:cNvSpPr/>
          <p:nvPr/>
        </p:nvSpPr>
        <p:spPr>
          <a:xfrm>
            <a:off x="8040624" y="1810512"/>
            <a:ext cx="3489960" cy="1478280"/>
          </a:xfrm>
          <a:prstGeom prst="rect">
            <a:avLst/>
          </a:prstGeom>
          <a:solidFill>
            <a:srgbClr val="F7F7F7"/>
          </a:solidFill>
          <a:ln/>
        </p:spPr>
      </p:sp>
      <p:sp>
        <p:nvSpPr>
          <p:cNvPr id="42" name="Text 34"/>
          <p:cNvSpPr txBox="1"/>
          <p:nvPr/>
        </p:nvSpPr>
        <p:spPr>
          <a:xfrm>
            <a:off x="8132064"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43" name="Text 35"/>
          <p:cNvSpPr txBox="1"/>
          <p:nvPr/>
        </p:nvSpPr>
        <p:spPr>
          <a:xfrm>
            <a:off x="8479536"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graphicFrame>
        <p:nvGraphicFramePr>
          <p:cNvPr id="44" name="Chart 6" descr=""/>
          <p:cNvGraphicFramePr/>
          <p:nvPr/>
        </p:nvGraphicFramePr>
        <p:xfrm>
          <a:off x="8479536" y="2697480"/>
          <a:ext cx="1972056" cy="502615"/>
        </p:xfrm>
        <a:graphic>
          <a:graphicData uri="http://schemas.openxmlformats.org/drawingml/2006/chart">
            <c:chart xmlns:c="http://schemas.openxmlformats.org/drawingml/2006/chart" r:id="rId8"/>
          </a:graphicData>
        </a:graphic>
      </p:graphicFrame>
      <p:graphicFrame>
        <p:nvGraphicFramePr>
          <p:cNvPr id="45" name="Chart 7" descr=""/>
          <p:cNvGraphicFramePr/>
          <p:nvPr/>
        </p:nvGraphicFramePr>
        <p:xfrm>
          <a:off x="8479536" y="2697480"/>
          <a:ext cx="1972056" cy="502615"/>
        </p:xfrm>
        <a:graphic>
          <a:graphicData uri="http://schemas.openxmlformats.org/drawingml/2006/chart">
            <c:chart xmlns:c="http://schemas.openxmlformats.org/drawingml/2006/chart" r:id="rId9"/>
          </a:graphicData>
        </a:graphic>
      </p:graphicFrame>
      <p:sp>
        <p:nvSpPr>
          <p:cNvPr id="46" name="Text 36"/>
          <p:cNvSpPr txBox="1"/>
          <p:nvPr/>
        </p:nvSpPr>
        <p:spPr>
          <a:xfrm>
            <a:off x="10323576" y="181051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 pts</a:t>
            </a:r>
            <a:endParaRPr lang="en-US" sz="1600" dirty="0"/>
          </a:p>
        </p:txBody>
      </p:sp>
      <p:sp>
        <p:nvSpPr>
          <p:cNvPr id="47" name="Text 37"/>
          <p:cNvSpPr txBox="1"/>
          <p:nvPr/>
        </p:nvSpPr>
        <p:spPr>
          <a:xfrm>
            <a:off x="8132064"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48" name="Text 38"/>
          <p:cNvSpPr txBox="1"/>
          <p:nvPr/>
        </p:nvSpPr>
        <p:spPr>
          <a:xfrm>
            <a:off x="8479536"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graphicFrame>
        <p:nvGraphicFramePr>
          <p:cNvPr id="49" name="Chart 8" descr=""/>
          <p:cNvGraphicFramePr/>
          <p:nvPr/>
        </p:nvGraphicFramePr>
        <p:xfrm>
          <a:off x="8479536" y="4175760"/>
          <a:ext cx="1972056" cy="502615"/>
        </p:xfrm>
        <a:graphic>
          <a:graphicData uri="http://schemas.openxmlformats.org/drawingml/2006/chart">
            <c:chart xmlns:c="http://schemas.openxmlformats.org/drawingml/2006/chart" r:id="rId10"/>
          </a:graphicData>
        </a:graphic>
      </p:graphicFrame>
      <p:graphicFrame>
        <p:nvGraphicFramePr>
          <p:cNvPr id="50" name="Chart 9" descr=""/>
          <p:cNvGraphicFramePr/>
          <p:nvPr/>
        </p:nvGraphicFramePr>
        <p:xfrm>
          <a:off x="8479536" y="4175760"/>
          <a:ext cx="1972056" cy="502615"/>
        </p:xfrm>
        <a:graphic>
          <a:graphicData uri="http://schemas.openxmlformats.org/drawingml/2006/chart">
            <c:chart xmlns:c="http://schemas.openxmlformats.org/drawingml/2006/chart" r:id="rId11"/>
          </a:graphicData>
        </a:graphic>
      </p:graphicFrame>
      <p:sp>
        <p:nvSpPr>
          <p:cNvPr id="51" name="Text 39"/>
          <p:cNvSpPr txBox="1"/>
          <p:nvPr/>
        </p:nvSpPr>
        <p:spPr>
          <a:xfrm>
            <a:off x="10323576" y="328879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2" name="Shape 40"/>
          <p:cNvSpPr/>
          <p:nvPr/>
        </p:nvSpPr>
        <p:spPr>
          <a:xfrm>
            <a:off x="8040624" y="4767072"/>
            <a:ext cx="3489960" cy="1478280"/>
          </a:xfrm>
          <a:prstGeom prst="rect">
            <a:avLst/>
          </a:prstGeom>
          <a:solidFill>
            <a:srgbClr val="F7F7F7"/>
          </a:solidFill>
          <a:ln/>
        </p:spPr>
      </p:sp>
      <p:sp>
        <p:nvSpPr>
          <p:cNvPr id="53" name="Text 41"/>
          <p:cNvSpPr txBox="1"/>
          <p:nvPr/>
        </p:nvSpPr>
        <p:spPr>
          <a:xfrm>
            <a:off x="8132064"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54" name="Text 42"/>
          <p:cNvSpPr txBox="1"/>
          <p:nvPr/>
        </p:nvSpPr>
        <p:spPr>
          <a:xfrm>
            <a:off x="8479536"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graphicFrame>
        <p:nvGraphicFramePr>
          <p:cNvPr id="55" name="Chart 10" descr=""/>
          <p:cNvGraphicFramePr/>
          <p:nvPr/>
        </p:nvGraphicFramePr>
        <p:xfrm>
          <a:off x="8479536" y="5654040"/>
          <a:ext cx="1972056" cy="502615"/>
        </p:xfrm>
        <a:graphic>
          <a:graphicData uri="http://schemas.openxmlformats.org/drawingml/2006/chart">
            <c:chart xmlns:c="http://schemas.openxmlformats.org/drawingml/2006/chart" r:id="rId12"/>
          </a:graphicData>
        </a:graphic>
      </p:graphicFrame>
      <p:graphicFrame>
        <p:nvGraphicFramePr>
          <p:cNvPr id="56" name="Chart 11" descr=""/>
          <p:cNvGraphicFramePr/>
          <p:nvPr/>
        </p:nvGraphicFramePr>
        <p:xfrm>
          <a:off x="8479536" y="5654040"/>
          <a:ext cx="1972056" cy="502615"/>
        </p:xfrm>
        <a:graphic>
          <a:graphicData uri="http://schemas.openxmlformats.org/drawingml/2006/chart">
            <c:chart xmlns:c="http://schemas.openxmlformats.org/drawingml/2006/chart" r:id="rId13"/>
          </a:graphicData>
        </a:graphic>
      </p:graphicFrame>
      <p:sp>
        <p:nvSpPr>
          <p:cNvPr id="57" name="Text 43"/>
          <p:cNvSpPr txBox="1"/>
          <p:nvPr/>
        </p:nvSpPr>
        <p:spPr>
          <a:xfrm>
            <a:off x="10323576" y="476707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Our most valuable asset: this is what separates us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Always be teaching, training and educating</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Don't overlook opportunities to teach, train and educate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Clear pay plans, job descriptions and expectations, and hold people accountable to them</a:t>
            </a:r>
            <a:endParaRPr lang="en-US" sz="16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September to September,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 on average.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Advisor pay: target a 50/50 split of base commission and performance bonus, with about half of earning potential tied to measurable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DF4FA"/>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September to September; the card is the Jan–Sep average month-end. CP &amp; W ROs fell 2.3% year to date.</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23 reduced.</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6 declined.</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3 VS LAST YEAR</a:t>
            </a:r>
            <a:endParaRPr lang="en-US" sz="1500" dirty="0"/>
          </a:p>
        </p:txBody>
      </p:sp>
      <p:sp>
        <p:nvSpPr>
          <p:cNvPr id="9" name="Shape 7"/>
          <p:cNvSpPr/>
          <p:nvPr/>
        </p:nvSpPr>
        <p:spPr>
          <a:xfrm>
            <a:off x="658368" y="1810512"/>
            <a:ext cx="3489960" cy="1478280"/>
          </a:xfrm>
          <a:prstGeom prst="rect">
            <a:avLst/>
          </a:prstGeom>
          <a:solidFill>
            <a:srgbClr val="F7F7F7"/>
          </a:solidFill>
          <a:ln/>
        </p:spPr>
      </p:sp>
      <p:sp>
        <p:nvSpPr>
          <p:cNvPr id="10" name="Shape 8"/>
          <p:cNvSpPr/>
          <p:nvPr/>
        </p:nvSpPr>
        <p:spPr>
          <a:xfrm>
            <a:off x="4084320" y="1847088"/>
            <a:ext cx="64008" cy="1405128"/>
          </a:xfrm>
          <a:prstGeom prst="rect">
            <a:avLst/>
          </a:prstGeom>
          <a:solidFill>
            <a:srgbClr val="12A566"/>
          </a:solidFill>
          <a:ln/>
        </p:spPr>
      </p:sp>
      <p:sp>
        <p:nvSpPr>
          <p:cNvPr id="11" name="Text 9"/>
          <p:cNvSpPr txBox="1"/>
          <p:nvPr/>
        </p:nvSpPr>
        <p:spPr>
          <a:xfrm>
            <a:off x="749808"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12" name="Text 10"/>
          <p:cNvSpPr txBox="1"/>
          <p:nvPr/>
        </p:nvSpPr>
        <p:spPr>
          <a:xfrm>
            <a:off x="1097280"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graphicFrame>
        <p:nvGraphicFramePr>
          <p:cNvPr id="13" name="Chart 0" descr=""/>
          <p:cNvGraphicFramePr/>
          <p:nvPr/>
        </p:nvGraphicFramePr>
        <p:xfrm>
          <a:off x="1097280" y="2697480"/>
          <a:ext cx="1972056" cy="502615"/>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5" name="Text 12"/>
          <p:cNvSpPr txBox="1"/>
          <p:nvPr/>
        </p:nvSpPr>
        <p:spPr>
          <a:xfrm>
            <a:off x="749808"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16" name="Text 13"/>
          <p:cNvSpPr txBox="1"/>
          <p:nvPr/>
        </p:nvSpPr>
        <p:spPr>
          <a:xfrm>
            <a:off x="1097280"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graphicFrame>
        <p:nvGraphicFramePr>
          <p:cNvPr id="17" name="Chart 1" descr=""/>
          <p:cNvGraphicFramePr/>
          <p:nvPr/>
        </p:nvGraphicFramePr>
        <p:xfrm>
          <a:off x="1097280" y="4175760"/>
          <a:ext cx="1972056" cy="502615"/>
        </p:xfrm>
        <a:graphic>
          <a:graphicData uri="http://schemas.openxmlformats.org/drawingml/2006/chart">
            <c:chart xmlns:c="http://schemas.openxmlformats.org/drawingml/2006/chart" r:id="rId3"/>
          </a:graphicData>
        </a:graphic>
      </p:graphicFrame>
      <p:sp>
        <p:nvSpPr>
          <p:cNvPr id="18" name="Text 14"/>
          <p:cNvSpPr txBox="1"/>
          <p:nvPr/>
        </p:nvSpPr>
        <p:spPr>
          <a:xfrm>
            <a:off x="2941320" y="328879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9" name="Shape 15"/>
          <p:cNvSpPr/>
          <p:nvPr/>
        </p:nvSpPr>
        <p:spPr>
          <a:xfrm>
            <a:off x="658368" y="4767072"/>
            <a:ext cx="3489960" cy="1478280"/>
          </a:xfrm>
          <a:prstGeom prst="rect">
            <a:avLst/>
          </a:prstGeom>
          <a:solidFill>
            <a:srgbClr val="F7F7F7"/>
          </a:solidFill>
          <a:ln/>
        </p:spPr>
      </p:sp>
      <p:sp>
        <p:nvSpPr>
          <p:cNvPr id="20" name="Text 16"/>
          <p:cNvSpPr txBox="1"/>
          <p:nvPr/>
        </p:nvSpPr>
        <p:spPr>
          <a:xfrm>
            <a:off x="749808"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21" name="Text 17"/>
          <p:cNvSpPr txBox="1"/>
          <p:nvPr/>
        </p:nvSpPr>
        <p:spPr>
          <a:xfrm>
            <a:off x="1097280"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graphicFrame>
        <p:nvGraphicFramePr>
          <p:cNvPr id="22" name="Chart 2" descr=""/>
          <p:cNvGraphicFramePr/>
          <p:nvPr/>
        </p:nvGraphicFramePr>
        <p:xfrm>
          <a:off x="1097280" y="5654040"/>
          <a:ext cx="1972056" cy="502615"/>
        </p:xfrm>
        <a:graphic>
          <a:graphicData uri="http://schemas.openxmlformats.org/drawingml/2006/chart">
            <c:chart xmlns:c="http://schemas.openxmlformats.org/drawingml/2006/chart" r:id="rId4"/>
          </a:graphicData>
        </a:graphic>
      </p:graphicFrame>
      <p:sp>
        <p:nvSpPr>
          <p:cNvPr id="23" name="Text 18"/>
          <p:cNvSpPr txBox="1"/>
          <p:nvPr/>
        </p:nvSpPr>
        <p:spPr>
          <a:xfrm>
            <a:off x="2941320" y="476707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4" name="Shape 19"/>
          <p:cNvSpPr/>
          <p:nvPr/>
        </p:nvSpPr>
        <p:spPr>
          <a:xfrm>
            <a:off x="4349496" y="1371600"/>
            <a:ext cx="3489960" cy="45720"/>
          </a:xfrm>
          <a:prstGeom prst="rect">
            <a:avLst/>
          </a:prstGeom>
          <a:solidFill>
            <a:srgbClr val="C2352F"/>
          </a:solidFill>
          <a:ln/>
        </p:spPr>
      </p:sp>
      <p:sp>
        <p:nvSpPr>
          <p:cNvPr id="25" name="Text 20"/>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3 VS LAST YEAR</a:t>
            </a:r>
            <a:endParaRPr lang="en-US" sz="1500" dirty="0"/>
          </a:p>
        </p:txBody>
      </p:sp>
      <p:sp>
        <p:nvSpPr>
          <p:cNvPr id="26" name="Shape 21"/>
          <p:cNvSpPr/>
          <p:nvPr/>
        </p:nvSpPr>
        <p:spPr>
          <a:xfrm>
            <a:off x="4349496" y="1810512"/>
            <a:ext cx="3489960" cy="1478280"/>
          </a:xfrm>
          <a:prstGeom prst="rect">
            <a:avLst/>
          </a:prstGeom>
          <a:solidFill>
            <a:srgbClr val="F7F7F7"/>
          </a:solidFill>
          <a:ln/>
        </p:spPr>
      </p:sp>
      <p:sp>
        <p:nvSpPr>
          <p:cNvPr id="27" name="Text 22"/>
          <p:cNvSpPr txBox="1"/>
          <p:nvPr/>
        </p:nvSpPr>
        <p:spPr>
          <a:xfrm>
            <a:off x="4440936"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33</a:t>
            </a:r>
            <a:endParaRPr lang="en-US" sz="2000" dirty="0"/>
          </a:p>
        </p:txBody>
      </p:sp>
      <p:sp>
        <p:nvSpPr>
          <p:cNvPr id="28" name="Text 23"/>
          <p:cNvSpPr txBox="1"/>
          <p:nvPr/>
        </p:nvSpPr>
        <p:spPr>
          <a:xfrm>
            <a:off x="4788408"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graphicFrame>
        <p:nvGraphicFramePr>
          <p:cNvPr id="29" name="Chart 3" descr=""/>
          <p:cNvGraphicFramePr/>
          <p:nvPr/>
        </p:nvGraphicFramePr>
        <p:xfrm>
          <a:off x="4788408" y="2697480"/>
          <a:ext cx="1972056" cy="502615"/>
        </p:xfrm>
        <a:graphic>
          <a:graphicData uri="http://schemas.openxmlformats.org/drawingml/2006/chart">
            <c:chart xmlns:c="http://schemas.openxmlformats.org/drawingml/2006/chart" r:id="rId5"/>
          </a:graphicData>
        </a:graphic>
      </p:graphicFrame>
      <p:sp>
        <p:nvSpPr>
          <p:cNvPr id="30" name="Text 24"/>
          <p:cNvSpPr txBox="1"/>
          <p:nvPr/>
        </p:nvSpPr>
        <p:spPr>
          <a:xfrm>
            <a:off x="6632448" y="181051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1" name="Text 25"/>
          <p:cNvSpPr txBox="1"/>
          <p:nvPr/>
        </p:nvSpPr>
        <p:spPr>
          <a:xfrm>
            <a:off x="4440936"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32</a:t>
            </a:r>
            <a:endParaRPr lang="en-US" sz="2000" dirty="0"/>
          </a:p>
        </p:txBody>
      </p:sp>
      <p:sp>
        <p:nvSpPr>
          <p:cNvPr id="32" name="Text 26"/>
          <p:cNvSpPr txBox="1"/>
          <p:nvPr/>
        </p:nvSpPr>
        <p:spPr>
          <a:xfrm>
            <a:off x="4788408"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graphicFrame>
        <p:nvGraphicFramePr>
          <p:cNvPr id="33" name="Chart 4" descr=""/>
          <p:cNvGraphicFramePr/>
          <p:nvPr/>
        </p:nvGraphicFramePr>
        <p:xfrm>
          <a:off x="4788408" y="4175760"/>
          <a:ext cx="1972056" cy="502615"/>
        </p:xfrm>
        <a:graphic>
          <a:graphicData uri="http://schemas.openxmlformats.org/drawingml/2006/chart">
            <c:chart xmlns:c="http://schemas.openxmlformats.org/drawingml/2006/chart" r:id="rId6"/>
          </a:graphicData>
        </a:graphic>
      </p:graphicFrame>
      <p:sp>
        <p:nvSpPr>
          <p:cNvPr id="34" name="Text 27"/>
          <p:cNvSpPr txBox="1"/>
          <p:nvPr/>
        </p:nvSpPr>
        <p:spPr>
          <a:xfrm>
            <a:off x="6632448" y="328879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5" name="Shape 28"/>
          <p:cNvSpPr/>
          <p:nvPr/>
        </p:nvSpPr>
        <p:spPr>
          <a:xfrm>
            <a:off x="4349496" y="4767072"/>
            <a:ext cx="3489960" cy="1478280"/>
          </a:xfrm>
          <a:prstGeom prst="rect">
            <a:avLst/>
          </a:prstGeom>
          <a:solidFill>
            <a:srgbClr val="F7F7F7"/>
          </a:solidFill>
          <a:ln/>
        </p:spPr>
      </p:sp>
      <p:sp>
        <p:nvSpPr>
          <p:cNvPr id="36" name="Text 29"/>
          <p:cNvSpPr txBox="1"/>
          <p:nvPr/>
        </p:nvSpPr>
        <p:spPr>
          <a:xfrm>
            <a:off x="4440936"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31</a:t>
            </a:r>
            <a:endParaRPr lang="en-US" sz="2000" dirty="0"/>
          </a:p>
        </p:txBody>
      </p:sp>
      <p:sp>
        <p:nvSpPr>
          <p:cNvPr id="37" name="Text 30"/>
          <p:cNvSpPr txBox="1"/>
          <p:nvPr/>
        </p:nvSpPr>
        <p:spPr>
          <a:xfrm>
            <a:off x="4788408"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graphicFrame>
        <p:nvGraphicFramePr>
          <p:cNvPr id="38" name="Chart 5" descr=""/>
          <p:cNvGraphicFramePr/>
          <p:nvPr/>
        </p:nvGraphicFramePr>
        <p:xfrm>
          <a:off x="4788408" y="5654040"/>
          <a:ext cx="1972056" cy="502615"/>
        </p:xfrm>
        <a:graphic>
          <a:graphicData uri="http://schemas.openxmlformats.org/drawingml/2006/chart">
            <c:chart xmlns:c="http://schemas.openxmlformats.org/drawingml/2006/chart" r:id="rId7"/>
          </a:graphicData>
        </a:graphic>
      </p:graphicFrame>
      <p:sp>
        <p:nvSpPr>
          <p:cNvPr id="39" name="Text 31"/>
          <p:cNvSpPr txBox="1"/>
          <p:nvPr/>
        </p:nvSpPr>
        <p:spPr>
          <a:xfrm>
            <a:off x="6632448" y="476707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0" name="Shape 32"/>
          <p:cNvSpPr/>
          <p:nvPr/>
        </p:nvSpPr>
        <p:spPr>
          <a:xfrm>
            <a:off x="8040624" y="1371600"/>
            <a:ext cx="3489960" cy="45720"/>
          </a:xfrm>
          <a:prstGeom prst="rect">
            <a:avLst/>
          </a:prstGeom>
          <a:solidFill>
            <a:srgbClr val="2587C5"/>
          </a:solidFill>
          <a:ln/>
        </p:spPr>
      </p:sp>
      <p:sp>
        <p:nvSpPr>
          <p:cNvPr id="41" name="Text 33"/>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3 MOVING NOW</a:t>
            </a:r>
            <a:endParaRPr lang="en-US" sz="1500" dirty="0"/>
          </a:p>
        </p:txBody>
      </p:sp>
      <p:sp>
        <p:nvSpPr>
          <p:cNvPr id="42" name="Shape 34"/>
          <p:cNvSpPr/>
          <p:nvPr/>
        </p:nvSpPr>
        <p:spPr>
          <a:xfrm>
            <a:off x="8040624" y="1810512"/>
            <a:ext cx="3489960" cy="1478280"/>
          </a:xfrm>
          <a:prstGeom prst="rect">
            <a:avLst/>
          </a:prstGeom>
          <a:solidFill>
            <a:srgbClr val="F7F7F7"/>
          </a:solidFill>
          <a:ln/>
        </p:spPr>
      </p:sp>
      <p:sp>
        <p:nvSpPr>
          <p:cNvPr id="43" name="Text 35"/>
          <p:cNvSpPr txBox="1"/>
          <p:nvPr/>
        </p:nvSpPr>
        <p:spPr>
          <a:xfrm>
            <a:off x="8132064"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44" name="Text 36"/>
          <p:cNvSpPr txBox="1"/>
          <p:nvPr/>
        </p:nvSpPr>
        <p:spPr>
          <a:xfrm>
            <a:off x="8479536"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graphicFrame>
        <p:nvGraphicFramePr>
          <p:cNvPr id="45" name="Chart 6" descr=""/>
          <p:cNvGraphicFramePr/>
          <p:nvPr/>
        </p:nvGraphicFramePr>
        <p:xfrm>
          <a:off x="8479536" y="2697480"/>
          <a:ext cx="1972056" cy="502615"/>
        </p:xfrm>
        <a:graphic>
          <a:graphicData uri="http://schemas.openxmlformats.org/drawingml/2006/chart">
            <c:chart xmlns:c="http://schemas.openxmlformats.org/drawingml/2006/chart" r:id="rId8"/>
          </a:graphicData>
        </a:graphic>
      </p:graphicFrame>
      <p:graphicFrame>
        <p:nvGraphicFramePr>
          <p:cNvPr id="46" name="Chart 7" descr=""/>
          <p:cNvGraphicFramePr/>
          <p:nvPr/>
        </p:nvGraphicFramePr>
        <p:xfrm>
          <a:off x="8479536" y="2697480"/>
          <a:ext cx="1972056" cy="502615"/>
        </p:xfrm>
        <a:graphic>
          <a:graphicData uri="http://schemas.openxmlformats.org/drawingml/2006/chart">
            <c:chart xmlns:c="http://schemas.openxmlformats.org/drawingml/2006/chart" r:id="rId9"/>
          </a:graphicData>
        </a:graphic>
      </p:graphicFrame>
      <p:sp>
        <p:nvSpPr>
          <p:cNvPr id="47" name="Text 37"/>
          <p:cNvSpPr txBox="1"/>
          <p:nvPr/>
        </p:nvSpPr>
        <p:spPr>
          <a:xfrm>
            <a:off x="10323576" y="181051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48" name="Shape 38"/>
          <p:cNvSpPr/>
          <p:nvPr/>
        </p:nvSpPr>
        <p:spPr>
          <a:xfrm>
            <a:off x="11466576" y="3325368"/>
            <a:ext cx="64008" cy="1405128"/>
          </a:xfrm>
          <a:prstGeom prst="rect">
            <a:avLst/>
          </a:prstGeom>
          <a:solidFill>
            <a:srgbClr val="12A566"/>
          </a:solidFill>
          <a:ln/>
        </p:spPr>
      </p:sp>
      <p:sp>
        <p:nvSpPr>
          <p:cNvPr id="49" name="Text 39"/>
          <p:cNvSpPr txBox="1"/>
          <p:nvPr/>
        </p:nvSpPr>
        <p:spPr>
          <a:xfrm>
            <a:off x="8132064"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50" name="Text 40"/>
          <p:cNvSpPr txBox="1"/>
          <p:nvPr/>
        </p:nvSpPr>
        <p:spPr>
          <a:xfrm>
            <a:off x="8479536"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graphicFrame>
        <p:nvGraphicFramePr>
          <p:cNvPr id="51" name="Chart 8" descr=""/>
          <p:cNvGraphicFramePr/>
          <p:nvPr/>
        </p:nvGraphicFramePr>
        <p:xfrm>
          <a:off x="8479536" y="4175760"/>
          <a:ext cx="1972056" cy="502615"/>
        </p:xfrm>
        <a:graphic>
          <a:graphicData uri="http://schemas.openxmlformats.org/drawingml/2006/chart">
            <c:chart xmlns:c="http://schemas.openxmlformats.org/drawingml/2006/chart" r:id="rId10"/>
          </a:graphicData>
        </a:graphic>
      </p:graphicFrame>
      <p:graphicFrame>
        <p:nvGraphicFramePr>
          <p:cNvPr id="52" name="Chart 9" descr=""/>
          <p:cNvGraphicFramePr/>
          <p:nvPr/>
        </p:nvGraphicFramePr>
        <p:xfrm>
          <a:off x="8479536" y="4175760"/>
          <a:ext cx="1972056" cy="502615"/>
        </p:xfrm>
        <a:graphic>
          <a:graphicData uri="http://schemas.openxmlformats.org/drawingml/2006/chart">
            <c:chart xmlns:c="http://schemas.openxmlformats.org/drawingml/2006/chart" r:id="rId11"/>
          </a:graphicData>
        </a:graphic>
      </p:graphicFrame>
      <p:sp>
        <p:nvSpPr>
          <p:cNvPr id="53" name="Text 41"/>
          <p:cNvSpPr txBox="1"/>
          <p:nvPr/>
        </p:nvSpPr>
        <p:spPr>
          <a:xfrm>
            <a:off x="10323576" y="328879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54" name="Shape 42"/>
          <p:cNvSpPr/>
          <p:nvPr/>
        </p:nvSpPr>
        <p:spPr>
          <a:xfrm>
            <a:off x="8040624" y="4767072"/>
            <a:ext cx="3489960" cy="1478280"/>
          </a:xfrm>
          <a:prstGeom prst="rect">
            <a:avLst/>
          </a:prstGeom>
          <a:solidFill>
            <a:srgbClr val="F7F7F7"/>
          </a:solidFill>
          <a:ln/>
        </p:spPr>
      </p:sp>
      <p:sp>
        <p:nvSpPr>
          <p:cNvPr id="55" name="Text 43"/>
          <p:cNvSpPr txBox="1"/>
          <p:nvPr/>
        </p:nvSpPr>
        <p:spPr>
          <a:xfrm>
            <a:off x="8132064"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56" name="Text 44"/>
          <p:cNvSpPr txBox="1"/>
          <p:nvPr/>
        </p:nvSpPr>
        <p:spPr>
          <a:xfrm>
            <a:off x="8479536"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graphicFrame>
        <p:nvGraphicFramePr>
          <p:cNvPr id="57" name="Chart 10" descr=""/>
          <p:cNvGraphicFramePr/>
          <p:nvPr/>
        </p:nvGraphicFramePr>
        <p:xfrm>
          <a:off x="8479536" y="5654040"/>
          <a:ext cx="1972056" cy="502615"/>
        </p:xfrm>
        <a:graphic>
          <a:graphicData uri="http://schemas.openxmlformats.org/drawingml/2006/chart">
            <c:chart xmlns:c="http://schemas.openxmlformats.org/drawingml/2006/chart" r:id="rId12"/>
          </a:graphicData>
        </a:graphic>
      </p:graphicFrame>
      <p:graphicFrame>
        <p:nvGraphicFramePr>
          <p:cNvPr id="58" name="Chart 11" descr=""/>
          <p:cNvGraphicFramePr/>
          <p:nvPr/>
        </p:nvGraphicFramePr>
        <p:xfrm>
          <a:off x="8479536" y="5654040"/>
          <a:ext cx="1972056" cy="502615"/>
        </p:xfrm>
        <a:graphic>
          <a:graphicData uri="http://schemas.openxmlformats.org/drawingml/2006/chart">
            <c:chart xmlns:c="http://schemas.openxmlformats.org/drawingml/2006/chart" r:id="rId13"/>
          </a:graphicData>
        </a:graphic>
      </p:graphicFrame>
      <p:sp>
        <p:nvSpPr>
          <p:cNvPr id="59" name="Text 45"/>
          <p:cNvSpPr txBox="1"/>
          <p:nvPr/>
        </p:nvSpPr>
        <p:spPr>
          <a:xfrm>
            <a:off x="10323576" y="476707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(hours flagged / clocked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clocked hours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Clocks 40 hours  </a:t>
            </a:r>
            <a:pPr algn="ctr" indent="0" marL="0">
              <a:buNone/>
            </a:pPr>
            <a:r>
              <a:rPr lang="en-US" sz="1400" b="1" dirty="0">
                <a:solidFill>
                  <a:srgbClr val="0B2C4A"/>
                </a:solidFill>
                <a:latin typeface="Inter" pitchFamily="34" charset="0"/>
                <a:ea typeface="Inter" pitchFamily="34" charset="-122"/>
                <a:cs typeface="Inter" pitchFamily="34" charset="-120"/>
              </a:rPr>
              <a:t>flags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Flags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to ROs, not all clocked hours</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Efficiency and Productivity</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713232" y="1463040"/>
            <a:ext cx="3453384" cy="3063240"/>
          </a:xfrm>
          <a:prstGeom prst="rect">
            <a:avLst/>
          </a:prstGeom>
          <a:solidFill>
            <a:srgbClr val="F7F7F7"/>
          </a:solidFill>
          <a:ln/>
        </p:spPr>
      </p:sp>
      <p:sp>
        <p:nvSpPr>
          <p:cNvPr id="7" name="Shape 5"/>
          <p:cNvSpPr/>
          <p:nvPr/>
        </p:nvSpPr>
        <p:spPr>
          <a:xfrm>
            <a:off x="713232" y="1463040"/>
            <a:ext cx="3453384" cy="64008"/>
          </a:xfrm>
          <a:prstGeom prst="rect">
            <a:avLst/>
          </a:prstGeom>
          <a:solidFill>
            <a:srgbClr val="2587C5"/>
          </a:solidFill>
          <a:ln/>
        </p:spPr>
      </p:sp>
      <p:sp>
        <p:nvSpPr>
          <p:cNvPr id="8" name="Text 6"/>
          <p:cNvSpPr txBox="1"/>
          <p:nvPr/>
        </p:nvSpPr>
        <p:spPr>
          <a:xfrm>
            <a:off x="896112"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PRODUCTIVITY</a:t>
            </a:r>
            <a:endParaRPr lang="en-US" sz="1400" dirty="0"/>
          </a:p>
        </p:txBody>
      </p:sp>
      <p:sp>
        <p:nvSpPr>
          <p:cNvPr id="9" name="Text 7"/>
          <p:cNvSpPr txBox="1"/>
          <p:nvPr/>
        </p:nvSpPr>
        <p:spPr>
          <a:xfrm>
            <a:off x="896112"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clocked to repair orders ÷ clocked hours</a:t>
            </a:r>
            <a:endParaRPr lang="en-US" sz="2000" dirty="0"/>
          </a:p>
        </p:txBody>
      </p:sp>
      <p:sp>
        <p:nvSpPr>
          <p:cNvPr id="10" name="Text 8"/>
          <p:cNvSpPr txBox="1"/>
          <p:nvPr/>
        </p:nvSpPr>
        <p:spPr>
          <a:xfrm>
            <a:off x="896112"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much of the technician's clocked time was spent on repair orders?</a:t>
            </a:r>
            <a:endParaRPr lang="en-US" sz="1600" dirty="0"/>
          </a:p>
        </p:txBody>
      </p:sp>
      <p:sp>
        <p:nvSpPr>
          <p:cNvPr id="11" name="Shape 9"/>
          <p:cNvSpPr/>
          <p:nvPr/>
        </p:nvSpPr>
        <p:spPr>
          <a:xfrm>
            <a:off x="896112" y="3858768"/>
            <a:ext cx="3087624" cy="10973"/>
          </a:xfrm>
          <a:prstGeom prst="rect">
            <a:avLst/>
          </a:prstGeom>
          <a:solidFill>
            <a:srgbClr val="D9D9D9"/>
          </a:solidFill>
          <a:ln/>
        </p:spPr>
      </p:sp>
      <p:sp>
        <p:nvSpPr>
          <p:cNvPr id="12" name="Text 10"/>
          <p:cNvSpPr txBox="1"/>
          <p:nvPr/>
        </p:nvSpPr>
        <p:spPr>
          <a:xfrm>
            <a:off x="896112"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6 ÷ 8 = 75%</a:t>
            </a:r>
            <a:endParaRPr lang="en-US" sz="1800" dirty="0"/>
          </a:p>
        </p:txBody>
      </p:sp>
      <p:sp>
        <p:nvSpPr>
          <p:cNvPr id="13" name="Shape 11"/>
          <p:cNvSpPr/>
          <p:nvPr/>
        </p:nvSpPr>
        <p:spPr>
          <a:xfrm>
            <a:off x="4367784" y="1463040"/>
            <a:ext cx="3453384" cy="3063240"/>
          </a:xfrm>
          <a:prstGeom prst="rect">
            <a:avLst/>
          </a:prstGeom>
          <a:solidFill>
            <a:srgbClr val="F7F7F7"/>
          </a:solidFill>
          <a:ln/>
        </p:spPr>
      </p:sp>
      <p:sp>
        <p:nvSpPr>
          <p:cNvPr id="14" name="Shape 12"/>
          <p:cNvSpPr/>
          <p:nvPr/>
        </p:nvSpPr>
        <p:spPr>
          <a:xfrm>
            <a:off x="4367784" y="1463040"/>
            <a:ext cx="3453384" cy="64008"/>
          </a:xfrm>
          <a:prstGeom prst="rect">
            <a:avLst/>
          </a:prstGeom>
          <a:solidFill>
            <a:srgbClr val="2587C5"/>
          </a:solidFill>
          <a:ln/>
        </p:spPr>
      </p:sp>
      <p:sp>
        <p:nvSpPr>
          <p:cNvPr id="15" name="Text 13"/>
          <p:cNvSpPr txBox="1"/>
          <p:nvPr/>
        </p:nvSpPr>
        <p:spPr>
          <a:xfrm>
            <a:off x="4550664"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EFFICIENCY</a:t>
            </a:r>
            <a:endParaRPr lang="en-US" sz="1400" dirty="0"/>
          </a:p>
        </p:txBody>
      </p:sp>
      <p:sp>
        <p:nvSpPr>
          <p:cNvPr id="16" name="Text 14"/>
          <p:cNvSpPr txBox="1"/>
          <p:nvPr/>
        </p:nvSpPr>
        <p:spPr>
          <a:xfrm>
            <a:off x="4550664"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hours clocked to repair orders</a:t>
            </a:r>
            <a:endParaRPr lang="en-US" sz="2000" dirty="0"/>
          </a:p>
        </p:txBody>
      </p:sp>
      <p:sp>
        <p:nvSpPr>
          <p:cNvPr id="17" name="Text 15"/>
          <p:cNvSpPr txBox="1"/>
          <p:nvPr/>
        </p:nvSpPr>
        <p:spPr>
          <a:xfrm>
            <a:off x="4550664"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for each hour clocked to repair orders?</a:t>
            </a:r>
            <a:endParaRPr lang="en-US" sz="1600" dirty="0"/>
          </a:p>
        </p:txBody>
      </p:sp>
      <p:sp>
        <p:nvSpPr>
          <p:cNvPr id="18" name="Shape 16"/>
          <p:cNvSpPr/>
          <p:nvPr/>
        </p:nvSpPr>
        <p:spPr>
          <a:xfrm>
            <a:off x="4550664" y="3858768"/>
            <a:ext cx="3087624" cy="10973"/>
          </a:xfrm>
          <a:prstGeom prst="rect">
            <a:avLst/>
          </a:prstGeom>
          <a:solidFill>
            <a:srgbClr val="D9D9D9"/>
          </a:solidFill>
          <a:ln/>
        </p:spPr>
      </p:sp>
      <p:sp>
        <p:nvSpPr>
          <p:cNvPr id="19" name="Text 17"/>
          <p:cNvSpPr txBox="1"/>
          <p:nvPr/>
        </p:nvSpPr>
        <p:spPr>
          <a:xfrm>
            <a:off x="4550664"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6 = 125%</a:t>
            </a:r>
            <a:endParaRPr lang="en-US" sz="1800" dirty="0"/>
          </a:p>
        </p:txBody>
      </p:sp>
      <p:sp>
        <p:nvSpPr>
          <p:cNvPr id="20" name="Shape 18"/>
          <p:cNvSpPr/>
          <p:nvPr/>
        </p:nvSpPr>
        <p:spPr>
          <a:xfrm>
            <a:off x="8022336" y="1463040"/>
            <a:ext cx="3453384" cy="3063240"/>
          </a:xfrm>
          <a:prstGeom prst="rect">
            <a:avLst/>
          </a:prstGeom>
          <a:solidFill>
            <a:srgbClr val="F7F7F7"/>
          </a:solidFill>
          <a:ln/>
        </p:spPr>
      </p:sp>
      <p:sp>
        <p:nvSpPr>
          <p:cNvPr id="21" name="Shape 19"/>
          <p:cNvSpPr/>
          <p:nvPr/>
        </p:nvSpPr>
        <p:spPr>
          <a:xfrm>
            <a:off x="8022336" y="1463040"/>
            <a:ext cx="3453384" cy="64008"/>
          </a:xfrm>
          <a:prstGeom prst="rect">
            <a:avLst/>
          </a:prstGeom>
          <a:solidFill>
            <a:srgbClr val="2587C5"/>
          </a:solidFill>
          <a:ln/>
        </p:spPr>
      </p:sp>
      <p:sp>
        <p:nvSpPr>
          <p:cNvPr id="22" name="Text 20"/>
          <p:cNvSpPr txBox="1"/>
          <p:nvPr/>
        </p:nvSpPr>
        <p:spPr>
          <a:xfrm>
            <a:off x="8205216"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PROFICIENCY</a:t>
            </a:r>
            <a:endParaRPr lang="en-US" sz="1400" dirty="0"/>
          </a:p>
        </p:txBody>
      </p:sp>
      <p:sp>
        <p:nvSpPr>
          <p:cNvPr id="23" name="Text 21"/>
          <p:cNvSpPr txBox="1"/>
          <p:nvPr/>
        </p:nvSpPr>
        <p:spPr>
          <a:xfrm>
            <a:off x="8205216"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clocked hours</a:t>
            </a:r>
            <a:endParaRPr lang="en-US" sz="2000" dirty="0"/>
          </a:p>
        </p:txBody>
      </p:sp>
      <p:sp>
        <p:nvSpPr>
          <p:cNvPr id="24" name="Text 22"/>
          <p:cNvSpPr txBox="1"/>
          <p:nvPr/>
        </p:nvSpPr>
        <p:spPr>
          <a:xfrm>
            <a:off x="8205216"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compared with their total clocked time?</a:t>
            </a:r>
            <a:endParaRPr lang="en-US" sz="1600" dirty="0"/>
          </a:p>
        </p:txBody>
      </p:sp>
      <p:sp>
        <p:nvSpPr>
          <p:cNvPr id="25" name="Shape 23"/>
          <p:cNvSpPr/>
          <p:nvPr/>
        </p:nvSpPr>
        <p:spPr>
          <a:xfrm>
            <a:off x="8205216" y="3858768"/>
            <a:ext cx="3087624" cy="10973"/>
          </a:xfrm>
          <a:prstGeom prst="rect">
            <a:avLst/>
          </a:prstGeom>
          <a:solidFill>
            <a:srgbClr val="D9D9D9"/>
          </a:solidFill>
          <a:ln/>
        </p:spPr>
      </p:sp>
      <p:sp>
        <p:nvSpPr>
          <p:cNvPr id="26" name="Text 24"/>
          <p:cNvSpPr txBox="1"/>
          <p:nvPr/>
        </p:nvSpPr>
        <p:spPr>
          <a:xfrm>
            <a:off x="8205216"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8 = 93.75%</a:t>
            </a:r>
            <a:endParaRPr lang="en-US" sz="1800" dirty="0"/>
          </a:p>
        </p:txBody>
      </p:sp>
      <p:sp>
        <p:nvSpPr>
          <p:cNvPr id="27" name="Shape 25"/>
          <p:cNvSpPr/>
          <p:nvPr/>
        </p:nvSpPr>
        <p:spPr>
          <a:xfrm>
            <a:off x="713232" y="4709160"/>
            <a:ext cx="10762488" cy="1261872"/>
          </a:xfrm>
          <a:prstGeom prst="rect">
            <a:avLst/>
          </a:prstGeom>
          <a:solidFill>
            <a:srgbClr val="EDF4FA"/>
          </a:solidFill>
          <a:ln/>
        </p:spPr>
      </p:sp>
      <p:sp>
        <p:nvSpPr>
          <p:cNvPr id="28" name="Text 26"/>
          <p:cNvSpPr txBox="1"/>
          <p:nvPr/>
        </p:nvSpPr>
        <p:spPr>
          <a:xfrm>
            <a:off x="896112" y="4855464"/>
            <a:ext cx="10396728" cy="256032"/>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PUTTING IT TOGETHER: ONE TECHNICIAN, ONE DAY</a:t>
            </a:r>
            <a:endParaRPr lang="en-US" sz="1400" dirty="0"/>
          </a:p>
        </p:txBody>
      </p:sp>
      <p:sp>
        <p:nvSpPr>
          <p:cNvPr id="29" name="Text 27"/>
          <p:cNvSpPr txBox="1"/>
          <p:nvPr/>
        </p:nvSpPr>
        <p:spPr>
          <a:xfrm>
            <a:off x="896112" y="5166360"/>
            <a:ext cx="10396728" cy="329184"/>
          </a:xfrm>
          <a:prstGeom prst="rect">
            <a:avLst/>
          </a:prstGeom>
          <a:noFill/>
          <a:ln/>
        </p:spPr>
        <p:txBody>
          <a:bodyPr wrap="square" lIns="0" tIns="0" rIns="0" bIns="0" rtlCol="0" anchor="ctr"/>
          <a:lstStyle/>
          <a:p>
            <a:pPr indent="0" marL="0">
              <a:buNone/>
            </a:pPr>
            <a:r>
              <a:rPr lang="en-US" sz="1800" dirty="0">
                <a:solidFill>
                  <a:srgbClr val="1A1A1A"/>
                </a:solidFill>
                <a:latin typeface="Inter" pitchFamily="34" charset="0"/>
                <a:ea typeface="Inter" pitchFamily="34" charset="-122"/>
                <a:cs typeface="Inter" pitchFamily="34" charset="-120"/>
              </a:rPr>
              <a:t>A technician clocks in for 8 hours, clocks 6 of them to repair orders and flags 7.5 hours.</a:t>
            </a:r>
            <a:endParaRPr lang="en-US" sz="1800" dirty="0"/>
          </a:p>
        </p:txBody>
      </p:sp>
      <p:sp>
        <p:nvSpPr>
          <p:cNvPr id="30" name="Text 28"/>
          <p:cNvSpPr txBox="1"/>
          <p:nvPr/>
        </p:nvSpPr>
        <p:spPr>
          <a:xfrm>
            <a:off x="896112" y="5532120"/>
            <a:ext cx="10396728" cy="329184"/>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Productivity × efficiency = proficiency:  75% × 125% = 93.75%</a:t>
            </a:r>
            <a:endParaRPr lang="en-US" sz="18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Hours flagged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clocked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January through September 2026, year to date. Clocked hours exclude vacation, paid time off and holiday pay. Store = total hours flagged ÷ total clocked hours.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technicians and express technicians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team leaders and shop foremen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Everyone whose job is to produce flagged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Not counted: body shop, detail and tint</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Clocked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clocked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stores hold $647K a month. 20 stores at or above 85% still leave $818K a month.</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 · JAN–SEP 2026, MONTHLY AVERAGE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7 stores show 20% or more.</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3474720"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434840"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025128"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99852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61538"/>
            <a:ext cx="548640" cy="148509"/>
          </a:xfrm>
          <a:prstGeom prst="rect">
            <a:avLst/>
          </a:prstGeom>
          <a:solidFill>
            <a:srgbClr val="2587C5"/>
          </a:solidFill>
          <a:ln/>
        </p:spPr>
      </p:sp>
      <p:sp>
        <p:nvSpPr>
          <p:cNvPr id="15" name="Text 13"/>
          <p:cNvSpPr txBox="1"/>
          <p:nvPr/>
        </p:nvSpPr>
        <p:spPr>
          <a:xfrm>
            <a:off x="3474720"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6" name="Text 14"/>
          <p:cNvSpPr txBox="1"/>
          <p:nvPr/>
        </p:nvSpPr>
        <p:spPr>
          <a:xfrm>
            <a:off x="4434840"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31555"/>
            <a:ext cx="428287" cy="148509"/>
          </a:xfrm>
          <a:prstGeom prst="rect">
            <a:avLst/>
          </a:prstGeom>
          <a:solidFill>
            <a:srgbClr val="2587C5"/>
          </a:solidFill>
          <a:ln/>
        </p:spPr>
      </p:sp>
      <p:sp>
        <p:nvSpPr>
          <p:cNvPr id="21" name="Text 19"/>
          <p:cNvSpPr txBox="1"/>
          <p:nvPr/>
        </p:nvSpPr>
        <p:spPr>
          <a:xfrm>
            <a:off x="3474720"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2" name="Text 20"/>
          <p:cNvSpPr txBox="1"/>
          <p:nvPr/>
        </p:nvSpPr>
        <p:spPr>
          <a:xfrm>
            <a:off x="4434840"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6" name="Shape 24"/>
          <p:cNvSpPr/>
          <p:nvPr/>
        </p:nvSpPr>
        <p:spPr>
          <a:xfrm>
            <a:off x="2871216" y="2301572"/>
            <a:ext cx="359802" cy="148509"/>
          </a:xfrm>
          <a:prstGeom prst="rect">
            <a:avLst/>
          </a:prstGeom>
          <a:solidFill>
            <a:srgbClr val="2587C5"/>
          </a:solidFill>
          <a:ln/>
        </p:spPr>
      </p:sp>
      <p:sp>
        <p:nvSpPr>
          <p:cNvPr id="27" name="Text 25"/>
          <p:cNvSpPr txBox="1"/>
          <p:nvPr/>
        </p:nvSpPr>
        <p:spPr>
          <a:xfrm>
            <a:off x="3474720"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8" name="Text 26"/>
          <p:cNvSpPr txBox="1"/>
          <p:nvPr/>
        </p:nvSpPr>
        <p:spPr>
          <a:xfrm>
            <a:off x="4434840"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71589"/>
            <a:ext cx="345673" cy="148509"/>
          </a:xfrm>
          <a:prstGeom prst="rect">
            <a:avLst/>
          </a:prstGeom>
          <a:solidFill>
            <a:srgbClr val="2587C5"/>
          </a:solidFill>
          <a:ln/>
        </p:spPr>
      </p:sp>
      <p:sp>
        <p:nvSpPr>
          <p:cNvPr id="33" name="Text 31"/>
          <p:cNvSpPr txBox="1"/>
          <p:nvPr/>
        </p:nvSpPr>
        <p:spPr>
          <a:xfrm>
            <a:off x="3474720"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4" name="Text 32"/>
          <p:cNvSpPr txBox="1"/>
          <p:nvPr/>
        </p:nvSpPr>
        <p:spPr>
          <a:xfrm>
            <a:off x="4434840"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2871216" y="2841606"/>
            <a:ext cx="316030" cy="148509"/>
          </a:xfrm>
          <a:prstGeom prst="rect">
            <a:avLst/>
          </a:prstGeom>
          <a:solidFill>
            <a:srgbClr val="2587C5"/>
          </a:solidFill>
          <a:ln/>
        </p:spPr>
      </p:sp>
      <p:sp>
        <p:nvSpPr>
          <p:cNvPr id="39" name="Text 37"/>
          <p:cNvSpPr txBox="1"/>
          <p:nvPr/>
        </p:nvSpPr>
        <p:spPr>
          <a:xfrm>
            <a:off x="3474720"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40" name="Text 38"/>
          <p:cNvSpPr txBox="1"/>
          <p:nvPr/>
        </p:nvSpPr>
        <p:spPr>
          <a:xfrm>
            <a:off x="4434840"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4" name="Shape 42"/>
          <p:cNvSpPr/>
          <p:nvPr/>
        </p:nvSpPr>
        <p:spPr>
          <a:xfrm>
            <a:off x="2871216" y="3111623"/>
            <a:ext cx="288890" cy="148509"/>
          </a:xfrm>
          <a:prstGeom prst="rect">
            <a:avLst/>
          </a:prstGeom>
          <a:solidFill>
            <a:srgbClr val="2587C5"/>
          </a:solidFill>
          <a:ln/>
        </p:spPr>
      </p:sp>
      <p:sp>
        <p:nvSpPr>
          <p:cNvPr id="45" name="Text 43"/>
          <p:cNvSpPr txBox="1"/>
          <p:nvPr/>
        </p:nvSpPr>
        <p:spPr>
          <a:xfrm>
            <a:off x="3474720"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6" name="Text 44"/>
          <p:cNvSpPr txBox="1"/>
          <p:nvPr/>
        </p:nvSpPr>
        <p:spPr>
          <a:xfrm>
            <a:off x="4434840"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0" name="Shape 48"/>
          <p:cNvSpPr/>
          <p:nvPr/>
        </p:nvSpPr>
        <p:spPr>
          <a:xfrm>
            <a:off x="2871216" y="3381639"/>
            <a:ext cx="206935" cy="148509"/>
          </a:xfrm>
          <a:prstGeom prst="rect">
            <a:avLst/>
          </a:prstGeom>
          <a:solidFill>
            <a:srgbClr val="2587C5"/>
          </a:solidFill>
          <a:ln/>
        </p:spPr>
      </p:sp>
      <p:sp>
        <p:nvSpPr>
          <p:cNvPr id="51" name="Text 49"/>
          <p:cNvSpPr txBox="1"/>
          <p:nvPr/>
        </p:nvSpPr>
        <p:spPr>
          <a:xfrm>
            <a:off x="3474720"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52" name="Text 50"/>
          <p:cNvSpPr txBox="1"/>
          <p:nvPr/>
        </p:nvSpPr>
        <p:spPr>
          <a:xfrm>
            <a:off x="4434840"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6" name="Shape 54"/>
          <p:cNvSpPr/>
          <p:nvPr/>
        </p:nvSpPr>
        <p:spPr>
          <a:xfrm>
            <a:off x="2871216" y="3651656"/>
            <a:ext cx="205982" cy="148509"/>
          </a:xfrm>
          <a:prstGeom prst="rect">
            <a:avLst/>
          </a:prstGeom>
          <a:solidFill>
            <a:srgbClr val="2587C5"/>
          </a:solidFill>
          <a:ln/>
        </p:spPr>
      </p:sp>
      <p:sp>
        <p:nvSpPr>
          <p:cNvPr id="57" name="Text 55"/>
          <p:cNvSpPr txBox="1"/>
          <p:nvPr/>
        </p:nvSpPr>
        <p:spPr>
          <a:xfrm>
            <a:off x="3474720"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8" name="Text 56"/>
          <p:cNvSpPr txBox="1"/>
          <p:nvPr/>
        </p:nvSpPr>
        <p:spPr>
          <a:xfrm>
            <a:off x="4434840"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2" name="Shape 60"/>
          <p:cNvSpPr/>
          <p:nvPr/>
        </p:nvSpPr>
        <p:spPr>
          <a:xfrm>
            <a:off x="2871216" y="3921673"/>
            <a:ext cx="193357" cy="148509"/>
          </a:xfrm>
          <a:prstGeom prst="rect">
            <a:avLst/>
          </a:prstGeom>
          <a:solidFill>
            <a:srgbClr val="2587C5"/>
          </a:solidFill>
          <a:ln/>
        </p:spPr>
      </p:sp>
      <p:sp>
        <p:nvSpPr>
          <p:cNvPr id="63" name="Text 61"/>
          <p:cNvSpPr txBox="1"/>
          <p:nvPr/>
        </p:nvSpPr>
        <p:spPr>
          <a:xfrm>
            <a:off x="3474720"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64" name="Text 62"/>
          <p:cNvSpPr txBox="1"/>
          <p:nvPr/>
        </p:nvSpPr>
        <p:spPr>
          <a:xfrm>
            <a:off x="4434840"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4191690"/>
            <a:ext cx="186973" cy="148509"/>
          </a:xfrm>
          <a:prstGeom prst="rect">
            <a:avLst/>
          </a:prstGeom>
          <a:solidFill>
            <a:srgbClr val="2587C5"/>
          </a:solidFill>
          <a:ln/>
        </p:spPr>
      </p:sp>
      <p:sp>
        <p:nvSpPr>
          <p:cNvPr id="69" name="Text 67"/>
          <p:cNvSpPr txBox="1"/>
          <p:nvPr/>
        </p:nvSpPr>
        <p:spPr>
          <a:xfrm>
            <a:off x="3474720"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70" name="Text 68"/>
          <p:cNvSpPr txBox="1"/>
          <p:nvPr/>
        </p:nvSpPr>
        <p:spPr>
          <a:xfrm>
            <a:off x="4434840"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2871216" y="4461707"/>
            <a:ext cx="178245" cy="148509"/>
          </a:xfrm>
          <a:prstGeom prst="rect">
            <a:avLst/>
          </a:prstGeom>
          <a:solidFill>
            <a:srgbClr val="2587C5"/>
          </a:solidFill>
          <a:ln/>
        </p:spPr>
      </p:sp>
      <p:sp>
        <p:nvSpPr>
          <p:cNvPr id="75" name="Text 73"/>
          <p:cNvSpPr txBox="1"/>
          <p:nvPr/>
        </p:nvSpPr>
        <p:spPr>
          <a:xfrm>
            <a:off x="3474720"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76" name="Text 74"/>
          <p:cNvSpPr txBox="1"/>
          <p:nvPr/>
        </p:nvSpPr>
        <p:spPr>
          <a:xfrm>
            <a:off x="4434840"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0" name="Shape 78"/>
          <p:cNvSpPr/>
          <p:nvPr/>
        </p:nvSpPr>
        <p:spPr>
          <a:xfrm>
            <a:off x="2871216" y="4731724"/>
            <a:ext cx="160884" cy="148509"/>
          </a:xfrm>
          <a:prstGeom prst="rect">
            <a:avLst/>
          </a:prstGeom>
          <a:solidFill>
            <a:srgbClr val="2587C5"/>
          </a:solidFill>
          <a:ln/>
        </p:spPr>
      </p:sp>
      <p:sp>
        <p:nvSpPr>
          <p:cNvPr id="81" name="Text 79"/>
          <p:cNvSpPr txBox="1"/>
          <p:nvPr/>
        </p:nvSpPr>
        <p:spPr>
          <a:xfrm>
            <a:off x="3474720"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82" name="Text 80"/>
          <p:cNvSpPr txBox="1"/>
          <p:nvPr/>
        </p:nvSpPr>
        <p:spPr>
          <a:xfrm>
            <a:off x="4434840"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5001741"/>
            <a:ext cx="159478" cy="148509"/>
          </a:xfrm>
          <a:prstGeom prst="rect">
            <a:avLst/>
          </a:prstGeom>
          <a:solidFill>
            <a:srgbClr val="2587C5"/>
          </a:solidFill>
          <a:ln/>
        </p:spPr>
      </p:sp>
      <p:sp>
        <p:nvSpPr>
          <p:cNvPr id="87" name="Text 85"/>
          <p:cNvSpPr txBox="1"/>
          <p:nvPr/>
        </p:nvSpPr>
        <p:spPr>
          <a:xfrm>
            <a:off x="3474720"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88" name="Text 86"/>
          <p:cNvSpPr txBox="1"/>
          <p:nvPr/>
        </p:nvSpPr>
        <p:spPr>
          <a:xfrm>
            <a:off x="4434840"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2" name="Shape 90"/>
          <p:cNvSpPr/>
          <p:nvPr/>
        </p:nvSpPr>
        <p:spPr>
          <a:xfrm>
            <a:off x="2871216" y="5271758"/>
            <a:ext cx="156386" cy="148509"/>
          </a:xfrm>
          <a:prstGeom prst="rect">
            <a:avLst/>
          </a:prstGeom>
          <a:solidFill>
            <a:srgbClr val="2587C5"/>
          </a:solidFill>
          <a:ln/>
        </p:spPr>
      </p:sp>
      <p:sp>
        <p:nvSpPr>
          <p:cNvPr id="93" name="Text 91"/>
          <p:cNvSpPr txBox="1"/>
          <p:nvPr/>
        </p:nvSpPr>
        <p:spPr>
          <a:xfrm>
            <a:off x="3474720"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94" name="Text 92"/>
          <p:cNvSpPr txBox="1"/>
          <p:nvPr/>
        </p:nvSpPr>
        <p:spPr>
          <a:xfrm>
            <a:off x="4434840"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8" name="Shape 96"/>
          <p:cNvSpPr/>
          <p:nvPr/>
        </p:nvSpPr>
        <p:spPr>
          <a:xfrm>
            <a:off x="2871216" y="5541775"/>
            <a:ext cx="151472" cy="148509"/>
          </a:xfrm>
          <a:prstGeom prst="rect">
            <a:avLst/>
          </a:prstGeom>
          <a:solidFill>
            <a:srgbClr val="2587C5"/>
          </a:solidFill>
          <a:ln/>
        </p:spPr>
      </p:sp>
      <p:sp>
        <p:nvSpPr>
          <p:cNvPr id="99" name="Text 97"/>
          <p:cNvSpPr txBox="1"/>
          <p:nvPr/>
        </p:nvSpPr>
        <p:spPr>
          <a:xfrm>
            <a:off x="3474720"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100" name="Text 98"/>
          <p:cNvSpPr txBox="1"/>
          <p:nvPr/>
        </p:nvSpPr>
        <p:spPr>
          <a:xfrm>
            <a:off x="4434840"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4" name="Shape 102"/>
          <p:cNvSpPr/>
          <p:nvPr/>
        </p:nvSpPr>
        <p:spPr>
          <a:xfrm>
            <a:off x="2871216" y="5811792"/>
            <a:ext cx="144704" cy="148509"/>
          </a:xfrm>
          <a:prstGeom prst="rect">
            <a:avLst/>
          </a:prstGeom>
          <a:solidFill>
            <a:srgbClr val="2587C5"/>
          </a:solidFill>
          <a:ln/>
        </p:spPr>
      </p:sp>
      <p:sp>
        <p:nvSpPr>
          <p:cNvPr id="105" name="Text 103"/>
          <p:cNvSpPr txBox="1"/>
          <p:nvPr/>
        </p:nvSpPr>
        <p:spPr>
          <a:xfrm>
            <a:off x="3474720"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106" name="Text 104"/>
          <p:cNvSpPr txBox="1"/>
          <p:nvPr/>
        </p:nvSpPr>
        <p:spPr>
          <a:xfrm>
            <a:off x="4434840"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602105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602105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0" name="Shape 108"/>
          <p:cNvSpPr/>
          <p:nvPr/>
        </p:nvSpPr>
        <p:spPr>
          <a:xfrm>
            <a:off x="2871216" y="6081809"/>
            <a:ext cx="136953" cy="148509"/>
          </a:xfrm>
          <a:prstGeom prst="rect">
            <a:avLst/>
          </a:prstGeom>
          <a:solidFill>
            <a:srgbClr val="2587C5"/>
          </a:solidFill>
          <a:ln/>
        </p:spPr>
      </p:sp>
      <p:sp>
        <p:nvSpPr>
          <p:cNvPr id="111" name="Text 109"/>
          <p:cNvSpPr txBox="1"/>
          <p:nvPr/>
        </p:nvSpPr>
        <p:spPr>
          <a:xfrm>
            <a:off x="3474720" y="602105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112" name="Text 110"/>
          <p:cNvSpPr txBox="1"/>
          <p:nvPr/>
        </p:nvSpPr>
        <p:spPr>
          <a:xfrm>
            <a:off x="4434840" y="602105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602105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421624" y="1761538"/>
            <a:ext cx="129525" cy="148509"/>
          </a:xfrm>
          <a:prstGeom prst="rect">
            <a:avLst/>
          </a:prstGeom>
          <a:solidFill>
            <a:srgbClr val="2587C5"/>
          </a:solidFill>
          <a:ln/>
        </p:spPr>
      </p:sp>
      <p:sp>
        <p:nvSpPr>
          <p:cNvPr id="117" name="Text 115"/>
          <p:cNvSpPr txBox="1"/>
          <p:nvPr/>
        </p:nvSpPr>
        <p:spPr>
          <a:xfrm>
            <a:off x="9025128"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18" name="Text 116"/>
          <p:cNvSpPr txBox="1"/>
          <p:nvPr/>
        </p:nvSpPr>
        <p:spPr>
          <a:xfrm>
            <a:off x="9985248"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2" name="Shape 120"/>
          <p:cNvSpPr/>
          <p:nvPr/>
        </p:nvSpPr>
        <p:spPr>
          <a:xfrm>
            <a:off x="8421624" y="2031555"/>
            <a:ext cx="116104" cy="148509"/>
          </a:xfrm>
          <a:prstGeom prst="rect">
            <a:avLst/>
          </a:prstGeom>
          <a:solidFill>
            <a:srgbClr val="2587C5"/>
          </a:solidFill>
          <a:ln/>
        </p:spPr>
      </p:sp>
      <p:sp>
        <p:nvSpPr>
          <p:cNvPr id="123" name="Text 121"/>
          <p:cNvSpPr txBox="1"/>
          <p:nvPr/>
        </p:nvSpPr>
        <p:spPr>
          <a:xfrm>
            <a:off x="9025128"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24" name="Text 122"/>
          <p:cNvSpPr txBox="1"/>
          <p:nvPr/>
        </p:nvSpPr>
        <p:spPr>
          <a:xfrm>
            <a:off x="9985248"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301572"/>
            <a:ext cx="111671" cy="148509"/>
          </a:xfrm>
          <a:prstGeom prst="rect">
            <a:avLst/>
          </a:prstGeom>
          <a:solidFill>
            <a:srgbClr val="2587C5"/>
          </a:solidFill>
          <a:ln/>
        </p:spPr>
      </p:sp>
      <p:sp>
        <p:nvSpPr>
          <p:cNvPr id="129" name="Text 127"/>
          <p:cNvSpPr txBox="1"/>
          <p:nvPr/>
        </p:nvSpPr>
        <p:spPr>
          <a:xfrm>
            <a:off x="9025128"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30" name="Text 128"/>
          <p:cNvSpPr txBox="1"/>
          <p:nvPr/>
        </p:nvSpPr>
        <p:spPr>
          <a:xfrm>
            <a:off x="9985248"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71589"/>
            <a:ext cx="107204" cy="148509"/>
          </a:xfrm>
          <a:prstGeom prst="rect">
            <a:avLst/>
          </a:prstGeom>
          <a:solidFill>
            <a:srgbClr val="2587C5"/>
          </a:solidFill>
          <a:ln/>
        </p:spPr>
      </p:sp>
      <p:sp>
        <p:nvSpPr>
          <p:cNvPr id="135" name="Text 133"/>
          <p:cNvSpPr txBox="1"/>
          <p:nvPr/>
        </p:nvSpPr>
        <p:spPr>
          <a:xfrm>
            <a:off x="9025128"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36" name="Text 134"/>
          <p:cNvSpPr txBox="1"/>
          <p:nvPr/>
        </p:nvSpPr>
        <p:spPr>
          <a:xfrm>
            <a:off x="9985248"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0" name="Shape 138"/>
          <p:cNvSpPr/>
          <p:nvPr/>
        </p:nvSpPr>
        <p:spPr>
          <a:xfrm>
            <a:off x="8421624" y="2841606"/>
            <a:ext cx="105090" cy="148509"/>
          </a:xfrm>
          <a:prstGeom prst="rect">
            <a:avLst/>
          </a:prstGeom>
          <a:solidFill>
            <a:srgbClr val="2587C5"/>
          </a:solidFill>
          <a:ln/>
        </p:spPr>
      </p:sp>
      <p:sp>
        <p:nvSpPr>
          <p:cNvPr id="141" name="Text 139"/>
          <p:cNvSpPr txBox="1"/>
          <p:nvPr/>
        </p:nvSpPr>
        <p:spPr>
          <a:xfrm>
            <a:off x="9025128"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42" name="Text 140"/>
          <p:cNvSpPr txBox="1"/>
          <p:nvPr/>
        </p:nvSpPr>
        <p:spPr>
          <a:xfrm>
            <a:off x="9985248"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6" name="Shape 144"/>
          <p:cNvSpPr/>
          <p:nvPr/>
        </p:nvSpPr>
        <p:spPr>
          <a:xfrm>
            <a:off x="8421624" y="3111623"/>
            <a:ext cx="102344" cy="148509"/>
          </a:xfrm>
          <a:prstGeom prst="rect">
            <a:avLst/>
          </a:prstGeom>
          <a:solidFill>
            <a:srgbClr val="2587C5"/>
          </a:solidFill>
          <a:ln/>
        </p:spPr>
      </p:sp>
      <p:sp>
        <p:nvSpPr>
          <p:cNvPr id="147" name="Text 145"/>
          <p:cNvSpPr txBox="1"/>
          <p:nvPr/>
        </p:nvSpPr>
        <p:spPr>
          <a:xfrm>
            <a:off x="9025128"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48" name="Text 146"/>
          <p:cNvSpPr txBox="1"/>
          <p:nvPr/>
        </p:nvSpPr>
        <p:spPr>
          <a:xfrm>
            <a:off x="9985248"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381639"/>
            <a:ext cx="95727" cy="148509"/>
          </a:xfrm>
          <a:prstGeom prst="rect">
            <a:avLst/>
          </a:prstGeom>
          <a:solidFill>
            <a:srgbClr val="2587C5"/>
          </a:solidFill>
          <a:ln/>
        </p:spPr>
      </p:sp>
      <p:sp>
        <p:nvSpPr>
          <p:cNvPr id="153" name="Text 151"/>
          <p:cNvSpPr txBox="1"/>
          <p:nvPr/>
        </p:nvSpPr>
        <p:spPr>
          <a:xfrm>
            <a:off x="9025128"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54" name="Text 152"/>
          <p:cNvSpPr txBox="1"/>
          <p:nvPr/>
        </p:nvSpPr>
        <p:spPr>
          <a:xfrm>
            <a:off x="9985248"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651656"/>
            <a:ext cx="93782" cy="148509"/>
          </a:xfrm>
          <a:prstGeom prst="rect">
            <a:avLst/>
          </a:prstGeom>
          <a:solidFill>
            <a:srgbClr val="2587C5"/>
          </a:solidFill>
          <a:ln/>
        </p:spPr>
      </p:sp>
      <p:sp>
        <p:nvSpPr>
          <p:cNvPr id="159" name="Text 157"/>
          <p:cNvSpPr txBox="1"/>
          <p:nvPr/>
        </p:nvSpPr>
        <p:spPr>
          <a:xfrm>
            <a:off x="9025128"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60" name="Text 158"/>
          <p:cNvSpPr txBox="1"/>
          <p:nvPr/>
        </p:nvSpPr>
        <p:spPr>
          <a:xfrm>
            <a:off x="9985248"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921673"/>
            <a:ext cx="91945" cy="148509"/>
          </a:xfrm>
          <a:prstGeom prst="rect">
            <a:avLst/>
          </a:prstGeom>
          <a:solidFill>
            <a:srgbClr val="2587C5"/>
          </a:solidFill>
          <a:ln/>
        </p:spPr>
      </p:sp>
      <p:sp>
        <p:nvSpPr>
          <p:cNvPr id="165" name="Text 163"/>
          <p:cNvSpPr txBox="1"/>
          <p:nvPr/>
        </p:nvSpPr>
        <p:spPr>
          <a:xfrm>
            <a:off x="9025128"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66" name="Text 164"/>
          <p:cNvSpPr txBox="1"/>
          <p:nvPr/>
        </p:nvSpPr>
        <p:spPr>
          <a:xfrm>
            <a:off x="9985248"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0" name="Shape 168"/>
          <p:cNvSpPr/>
          <p:nvPr/>
        </p:nvSpPr>
        <p:spPr>
          <a:xfrm>
            <a:off x="8421624" y="4191690"/>
            <a:ext cx="91642" cy="148509"/>
          </a:xfrm>
          <a:prstGeom prst="rect">
            <a:avLst/>
          </a:prstGeom>
          <a:solidFill>
            <a:srgbClr val="2587C5"/>
          </a:solidFill>
          <a:ln/>
        </p:spPr>
      </p:sp>
      <p:sp>
        <p:nvSpPr>
          <p:cNvPr id="171" name="Text 169"/>
          <p:cNvSpPr txBox="1"/>
          <p:nvPr/>
        </p:nvSpPr>
        <p:spPr>
          <a:xfrm>
            <a:off x="9025128"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72" name="Text 170"/>
          <p:cNvSpPr txBox="1"/>
          <p:nvPr/>
        </p:nvSpPr>
        <p:spPr>
          <a:xfrm>
            <a:off x="9985248"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6" name="Shape 174"/>
          <p:cNvSpPr/>
          <p:nvPr/>
        </p:nvSpPr>
        <p:spPr>
          <a:xfrm>
            <a:off x="8421624" y="4461707"/>
            <a:ext cx="90578" cy="148509"/>
          </a:xfrm>
          <a:prstGeom prst="rect">
            <a:avLst/>
          </a:prstGeom>
          <a:solidFill>
            <a:srgbClr val="2587C5"/>
          </a:solidFill>
          <a:ln/>
        </p:spPr>
      </p:sp>
      <p:sp>
        <p:nvSpPr>
          <p:cNvPr id="177" name="Text 175"/>
          <p:cNvSpPr txBox="1"/>
          <p:nvPr/>
        </p:nvSpPr>
        <p:spPr>
          <a:xfrm>
            <a:off x="9025128"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78" name="Text 176"/>
          <p:cNvSpPr txBox="1"/>
          <p:nvPr/>
        </p:nvSpPr>
        <p:spPr>
          <a:xfrm>
            <a:off x="9985248"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2" name="Shape 180"/>
          <p:cNvSpPr/>
          <p:nvPr/>
        </p:nvSpPr>
        <p:spPr>
          <a:xfrm>
            <a:off x="8421624" y="4731724"/>
            <a:ext cx="83490" cy="148509"/>
          </a:xfrm>
          <a:prstGeom prst="rect">
            <a:avLst/>
          </a:prstGeom>
          <a:solidFill>
            <a:srgbClr val="2587C5"/>
          </a:solidFill>
          <a:ln/>
        </p:spPr>
      </p:sp>
      <p:sp>
        <p:nvSpPr>
          <p:cNvPr id="183" name="Text 181"/>
          <p:cNvSpPr txBox="1"/>
          <p:nvPr/>
        </p:nvSpPr>
        <p:spPr>
          <a:xfrm>
            <a:off x="9025128"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84" name="Text 182"/>
          <p:cNvSpPr txBox="1"/>
          <p:nvPr/>
        </p:nvSpPr>
        <p:spPr>
          <a:xfrm>
            <a:off x="9985248"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8" name="Shape 186"/>
          <p:cNvSpPr/>
          <p:nvPr/>
        </p:nvSpPr>
        <p:spPr>
          <a:xfrm>
            <a:off x="8421624" y="5001741"/>
            <a:ext cx="82594" cy="148509"/>
          </a:xfrm>
          <a:prstGeom prst="rect">
            <a:avLst/>
          </a:prstGeom>
          <a:solidFill>
            <a:srgbClr val="2587C5"/>
          </a:solidFill>
          <a:ln/>
        </p:spPr>
      </p:sp>
      <p:sp>
        <p:nvSpPr>
          <p:cNvPr id="189" name="Text 187"/>
          <p:cNvSpPr txBox="1"/>
          <p:nvPr/>
        </p:nvSpPr>
        <p:spPr>
          <a:xfrm>
            <a:off x="9025128"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90" name="Text 188"/>
          <p:cNvSpPr txBox="1"/>
          <p:nvPr/>
        </p:nvSpPr>
        <p:spPr>
          <a:xfrm>
            <a:off x="9985248"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4" name="Shape 192"/>
          <p:cNvSpPr/>
          <p:nvPr/>
        </p:nvSpPr>
        <p:spPr>
          <a:xfrm>
            <a:off x="8421624" y="5271758"/>
            <a:ext cx="67141" cy="148509"/>
          </a:xfrm>
          <a:prstGeom prst="rect">
            <a:avLst/>
          </a:prstGeom>
          <a:solidFill>
            <a:srgbClr val="2587C5"/>
          </a:solidFill>
          <a:ln/>
        </p:spPr>
      </p:sp>
      <p:sp>
        <p:nvSpPr>
          <p:cNvPr id="195" name="Text 193"/>
          <p:cNvSpPr txBox="1"/>
          <p:nvPr/>
        </p:nvSpPr>
        <p:spPr>
          <a:xfrm>
            <a:off x="9025128"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96" name="Text 194"/>
          <p:cNvSpPr txBox="1"/>
          <p:nvPr/>
        </p:nvSpPr>
        <p:spPr>
          <a:xfrm>
            <a:off x="9985248"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00" name="Shape 198"/>
          <p:cNvSpPr/>
          <p:nvPr/>
        </p:nvSpPr>
        <p:spPr>
          <a:xfrm>
            <a:off x="8421624" y="5541775"/>
            <a:ext cx="54968" cy="148509"/>
          </a:xfrm>
          <a:prstGeom prst="rect">
            <a:avLst/>
          </a:prstGeom>
          <a:solidFill>
            <a:srgbClr val="2587C5"/>
          </a:solidFill>
          <a:ln/>
        </p:spPr>
      </p:sp>
      <p:sp>
        <p:nvSpPr>
          <p:cNvPr id="201" name="Text 199"/>
          <p:cNvSpPr txBox="1"/>
          <p:nvPr/>
        </p:nvSpPr>
        <p:spPr>
          <a:xfrm>
            <a:off x="9025128"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202" name="Text 200"/>
          <p:cNvSpPr txBox="1"/>
          <p:nvPr/>
        </p:nvSpPr>
        <p:spPr>
          <a:xfrm>
            <a:off x="9985248"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811792"/>
            <a:ext cx="43862" cy="148509"/>
          </a:xfrm>
          <a:prstGeom prst="rect">
            <a:avLst/>
          </a:prstGeom>
          <a:solidFill>
            <a:srgbClr val="2587C5"/>
          </a:solidFill>
          <a:ln/>
        </p:spPr>
      </p:sp>
      <p:sp>
        <p:nvSpPr>
          <p:cNvPr id="207" name="Text 205"/>
          <p:cNvSpPr txBox="1"/>
          <p:nvPr/>
        </p:nvSpPr>
        <p:spPr>
          <a:xfrm>
            <a:off x="9025128"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208" name="Text 206"/>
          <p:cNvSpPr txBox="1"/>
          <p:nvPr/>
        </p:nvSpPr>
        <p:spPr>
          <a:xfrm>
            <a:off x="9985248"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590288"/>
          </a:xfrm>
          <a:prstGeom prst="rect">
            <a:avLst/>
          </a:prstGeom>
          <a:solidFill>
            <a:srgbClr val="D9D9D9"/>
          </a:solidFill>
          <a:ln/>
        </p:spPr>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Rates rising   ·   Warranty gross profit   ·   Claim process: protect the money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257800" cy="4782312"/>
          </a:xfrm>
          <a:prstGeom prst="rect">
            <a:avLst/>
          </a:prstGeom>
          <a:solidFill>
            <a:srgbClr val="FFFFFF"/>
          </a:solidFill>
          <a:ln/>
        </p:spPr>
      </p:sp>
      <p:sp>
        <p:nvSpPr>
          <p:cNvPr id="6" name="Text 4"/>
          <p:cNvSpPr txBox="1"/>
          <p:nvPr/>
        </p:nvSpPr>
        <p:spPr>
          <a:xfrm>
            <a:off x="658368" y="1316736"/>
            <a:ext cx="329184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RATE INCREASES IN 2026</a:t>
            </a:r>
            <a:endParaRPr lang="en-US" sz="1400" dirty="0"/>
          </a:p>
        </p:txBody>
      </p:sp>
      <p:sp>
        <p:nvSpPr>
          <p:cNvPr id="7" name="Text 5"/>
          <p:cNvSpPr txBox="1"/>
          <p:nvPr/>
        </p:nvSpPr>
        <p:spPr>
          <a:xfrm>
            <a:off x="3886200" y="1280160"/>
            <a:ext cx="1627632" cy="365760"/>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$3.79M GP</a:t>
            </a:r>
            <a:endParaRPr lang="en-US" sz="2000" dirty="0"/>
          </a:p>
        </p:txBody>
      </p:sp>
      <p:sp>
        <p:nvSpPr>
          <p:cNvPr id="8" name="Text 6"/>
          <p:cNvSpPr txBox="1"/>
          <p:nvPr/>
        </p:nvSpPr>
        <p:spPr>
          <a:xfrm>
            <a:off x="658368" y="173736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 name="Shape 7"/>
          <p:cNvSpPr/>
          <p:nvPr/>
        </p:nvSpPr>
        <p:spPr>
          <a:xfrm>
            <a:off x="2697480" y="1785323"/>
            <a:ext cx="1965960" cy="122087"/>
          </a:xfrm>
          <a:prstGeom prst="rect">
            <a:avLst/>
          </a:prstGeom>
          <a:solidFill>
            <a:srgbClr val="2587C5"/>
          </a:solidFill>
          <a:ln/>
        </p:spPr>
      </p:sp>
      <p:sp>
        <p:nvSpPr>
          <p:cNvPr id="10" name="Text 8"/>
          <p:cNvSpPr txBox="1"/>
          <p:nvPr/>
        </p:nvSpPr>
        <p:spPr>
          <a:xfrm>
            <a:off x="4709160" y="173736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$798K</a:t>
            </a:r>
            <a:endParaRPr lang="en-US" sz="1200" dirty="0"/>
          </a:p>
        </p:txBody>
      </p:sp>
      <p:sp>
        <p:nvSpPr>
          <p:cNvPr id="11" name="Text 9"/>
          <p:cNvSpPr txBox="1"/>
          <p:nvPr/>
        </p:nvSpPr>
        <p:spPr>
          <a:xfrm>
            <a:off x="658368" y="195537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 name="Shape 10"/>
          <p:cNvSpPr/>
          <p:nvPr/>
        </p:nvSpPr>
        <p:spPr>
          <a:xfrm>
            <a:off x="2697480" y="2003335"/>
            <a:ext cx="1141730" cy="122087"/>
          </a:xfrm>
          <a:prstGeom prst="rect">
            <a:avLst/>
          </a:prstGeom>
          <a:solidFill>
            <a:srgbClr val="2587C5"/>
          </a:solidFill>
          <a:ln/>
        </p:spPr>
      </p:sp>
      <p:sp>
        <p:nvSpPr>
          <p:cNvPr id="13" name="Text 11"/>
          <p:cNvSpPr txBox="1"/>
          <p:nvPr/>
        </p:nvSpPr>
        <p:spPr>
          <a:xfrm>
            <a:off x="4709160" y="195537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$463K</a:t>
            </a:r>
            <a:endParaRPr lang="en-US" sz="1200" dirty="0"/>
          </a:p>
        </p:txBody>
      </p:sp>
      <p:sp>
        <p:nvSpPr>
          <p:cNvPr id="14" name="Text 12"/>
          <p:cNvSpPr txBox="1"/>
          <p:nvPr/>
        </p:nvSpPr>
        <p:spPr>
          <a:xfrm>
            <a:off x="658368" y="217338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5" name="Shape 13"/>
          <p:cNvSpPr/>
          <p:nvPr/>
        </p:nvSpPr>
        <p:spPr>
          <a:xfrm>
            <a:off x="2697480" y="2221347"/>
            <a:ext cx="847479" cy="122087"/>
          </a:xfrm>
          <a:prstGeom prst="rect">
            <a:avLst/>
          </a:prstGeom>
          <a:solidFill>
            <a:srgbClr val="2587C5"/>
          </a:solidFill>
          <a:ln/>
        </p:spPr>
      </p:sp>
      <p:sp>
        <p:nvSpPr>
          <p:cNvPr id="16" name="Text 14"/>
          <p:cNvSpPr txBox="1"/>
          <p:nvPr/>
        </p:nvSpPr>
        <p:spPr>
          <a:xfrm>
            <a:off x="4709160" y="217338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$344K</a:t>
            </a:r>
            <a:endParaRPr lang="en-US" sz="1200" dirty="0"/>
          </a:p>
        </p:txBody>
      </p:sp>
      <p:sp>
        <p:nvSpPr>
          <p:cNvPr id="17" name="Text 15"/>
          <p:cNvSpPr txBox="1"/>
          <p:nvPr/>
        </p:nvSpPr>
        <p:spPr>
          <a:xfrm>
            <a:off x="658368" y="239139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8" name="Shape 16"/>
          <p:cNvSpPr/>
          <p:nvPr/>
        </p:nvSpPr>
        <p:spPr>
          <a:xfrm>
            <a:off x="2697480" y="2439359"/>
            <a:ext cx="802598" cy="122087"/>
          </a:xfrm>
          <a:prstGeom prst="rect">
            <a:avLst/>
          </a:prstGeom>
          <a:solidFill>
            <a:srgbClr val="2587C5"/>
          </a:solidFill>
          <a:ln/>
        </p:spPr>
      </p:sp>
      <p:sp>
        <p:nvSpPr>
          <p:cNvPr id="19" name="Text 17"/>
          <p:cNvSpPr txBox="1"/>
          <p:nvPr/>
        </p:nvSpPr>
        <p:spPr>
          <a:xfrm>
            <a:off x="4709160" y="239139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$326K</a:t>
            </a:r>
            <a:endParaRPr lang="en-US" sz="1200" dirty="0"/>
          </a:p>
        </p:txBody>
      </p:sp>
      <p:sp>
        <p:nvSpPr>
          <p:cNvPr id="20" name="Text 18"/>
          <p:cNvSpPr txBox="1"/>
          <p:nvPr/>
        </p:nvSpPr>
        <p:spPr>
          <a:xfrm>
            <a:off x="658368" y="260940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2697480" y="2657372"/>
            <a:ext cx="719577" cy="122087"/>
          </a:xfrm>
          <a:prstGeom prst="rect">
            <a:avLst/>
          </a:prstGeom>
          <a:solidFill>
            <a:srgbClr val="2587C5"/>
          </a:solidFill>
          <a:ln/>
        </p:spPr>
      </p:sp>
      <p:sp>
        <p:nvSpPr>
          <p:cNvPr id="22" name="Text 20"/>
          <p:cNvSpPr txBox="1"/>
          <p:nvPr/>
        </p:nvSpPr>
        <p:spPr>
          <a:xfrm>
            <a:off x="4709160" y="260940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$292K</a:t>
            </a:r>
            <a:endParaRPr lang="en-US" sz="1200" dirty="0"/>
          </a:p>
        </p:txBody>
      </p:sp>
      <p:sp>
        <p:nvSpPr>
          <p:cNvPr id="23" name="Text 21"/>
          <p:cNvSpPr txBox="1"/>
          <p:nvPr/>
        </p:nvSpPr>
        <p:spPr>
          <a:xfrm>
            <a:off x="658368" y="282742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2697480" y="2875384"/>
            <a:ext cx="698703" cy="122087"/>
          </a:xfrm>
          <a:prstGeom prst="rect">
            <a:avLst/>
          </a:prstGeom>
          <a:solidFill>
            <a:srgbClr val="2587C5"/>
          </a:solidFill>
          <a:ln/>
        </p:spPr>
      </p:sp>
      <p:sp>
        <p:nvSpPr>
          <p:cNvPr id="25" name="Text 23"/>
          <p:cNvSpPr txBox="1"/>
          <p:nvPr/>
        </p:nvSpPr>
        <p:spPr>
          <a:xfrm>
            <a:off x="4709160" y="282742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$284K</a:t>
            </a:r>
            <a:endParaRPr lang="en-US" sz="1200" dirty="0"/>
          </a:p>
        </p:txBody>
      </p:sp>
      <p:sp>
        <p:nvSpPr>
          <p:cNvPr id="26" name="Text 24"/>
          <p:cNvSpPr txBox="1"/>
          <p:nvPr/>
        </p:nvSpPr>
        <p:spPr>
          <a:xfrm>
            <a:off x="658368" y="304543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2697480" y="3093396"/>
            <a:ext cx="555249" cy="122087"/>
          </a:xfrm>
          <a:prstGeom prst="rect">
            <a:avLst/>
          </a:prstGeom>
          <a:solidFill>
            <a:srgbClr val="2587C5"/>
          </a:solidFill>
          <a:ln/>
        </p:spPr>
      </p:sp>
      <p:sp>
        <p:nvSpPr>
          <p:cNvPr id="28" name="Text 26"/>
          <p:cNvSpPr txBox="1"/>
          <p:nvPr/>
        </p:nvSpPr>
        <p:spPr>
          <a:xfrm>
            <a:off x="4709160" y="304543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$225K</a:t>
            </a:r>
            <a:endParaRPr lang="en-US" sz="1200" dirty="0"/>
          </a:p>
        </p:txBody>
      </p:sp>
      <p:sp>
        <p:nvSpPr>
          <p:cNvPr id="29" name="Text 27"/>
          <p:cNvSpPr txBox="1"/>
          <p:nvPr/>
        </p:nvSpPr>
        <p:spPr>
          <a:xfrm>
            <a:off x="658368" y="326344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0" name="Shape 28"/>
          <p:cNvSpPr/>
          <p:nvPr/>
        </p:nvSpPr>
        <p:spPr>
          <a:xfrm>
            <a:off x="2697480" y="3311408"/>
            <a:ext cx="515601" cy="122087"/>
          </a:xfrm>
          <a:prstGeom prst="rect">
            <a:avLst/>
          </a:prstGeom>
          <a:solidFill>
            <a:srgbClr val="2587C5"/>
          </a:solidFill>
          <a:ln/>
        </p:spPr>
      </p:sp>
      <p:sp>
        <p:nvSpPr>
          <p:cNvPr id="31" name="Text 29"/>
          <p:cNvSpPr txBox="1"/>
          <p:nvPr/>
        </p:nvSpPr>
        <p:spPr>
          <a:xfrm>
            <a:off x="4709160" y="326344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$209K</a:t>
            </a:r>
            <a:endParaRPr lang="en-US" sz="1200" dirty="0"/>
          </a:p>
        </p:txBody>
      </p:sp>
      <p:sp>
        <p:nvSpPr>
          <p:cNvPr id="32" name="Text 30"/>
          <p:cNvSpPr txBox="1"/>
          <p:nvPr/>
        </p:nvSpPr>
        <p:spPr>
          <a:xfrm>
            <a:off x="658368" y="348145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2697480" y="3529420"/>
            <a:ext cx="359936" cy="122087"/>
          </a:xfrm>
          <a:prstGeom prst="rect">
            <a:avLst/>
          </a:prstGeom>
          <a:solidFill>
            <a:srgbClr val="2587C5"/>
          </a:solidFill>
          <a:ln/>
        </p:spPr>
      </p:sp>
      <p:sp>
        <p:nvSpPr>
          <p:cNvPr id="34" name="Text 32"/>
          <p:cNvSpPr txBox="1"/>
          <p:nvPr/>
        </p:nvSpPr>
        <p:spPr>
          <a:xfrm>
            <a:off x="4709160" y="348145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$146K</a:t>
            </a:r>
            <a:endParaRPr lang="en-US" sz="1200" dirty="0"/>
          </a:p>
        </p:txBody>
      </p:sp>
      <p:sp>
        <p:nvSpPr>
          <p:cNvPr id="35" name="Text 33"/>
          <p:cNvSpPr txBox="1"/>
          <p:nvPr/>
        </p:nvSpPr>
        <p:spPr>
          <a:xfrm>
            <a:off x="658368" y="369947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6" name="Shape 34"/>
          <p:cNvSpPr/>
          <p:nvPr/>
        </p:nvSpPr>
        <p:spPr>
          <a:xfrm>
            <a:off x="2697480" y="3747433"/>
            <a:ext cx="329395" cy="122087"/>
          </a:xfrm>
          <a:prstGeom prst="rect">
            <a:avLst/>
          </a:prstGeom>
          <a:solidFill>
            <a:srgbClr val="2587C5"/>
          </a:solidFill>
          <a:ln/>
        </p:spPr>
      </p:sp>
      <p:sp>
        <p:nvSpPr>
          <p:cNvPr id="37" name="Text 35"/>
          <p:cNvSpPr txBox="1"/>
          <p:nvPr/>
        </p:nvSpPr>
        <p:spPr>
          <a:xfrm>
            <a:off x="4709160" y="369947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$134K</a:t>
            </a:r>
            <a:endParaRPr lang="en-US" sz="1200" dirty="0"/>
          </a:p>
        </p:txBody>
      </p:sp>
      <p:sp>
        <p:nvSpPr>
          <p:cNvPr id="38" name="Text 36"/>
          <p:cNvSpPr txBox="1"/>
          <p:nvPr/>
        </p:nvSpPr>
        <p:spPr>
          <a:xfrm>
            <a:off x="658368" y="391748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9" name="Shape 37"/>
          <p:cNvSpPr/>
          <p:nvPr/>
        </p:nvSpPr>
        <p:spPr>
          <a:xfrm>
            <a:off x="2697480" y="3965445"/>
            <a:ext cx="237178" cy="122087"/>
          </a:xfrm>
          <a:prstGeom prst="rect">
            <a:avLst/>
          </a:prstGeom>
          <a:solidFill>
            <a:srgbClr val="2587C5"/>
          </a:solidFill>
          <a:ln/>
        </p:spPr>
      </p:sp>
      <p:sp>
        <p:nvSpPr>
          <p:cNvPr id="40" name="Text 38"/>
          <p:cNvSpPr txBox="1"/>
          <p:nvPr/>
        </p:nvSpPr>
        <p:spPr>
          <a:xfrm>
            <a:off x="4709160" y="391748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$96K</a:t>
            </a:r>
            <a:endParaRPr lang="en-US" sz="1200" dirty="0"/>
          </a:p>
        </p:txBody>
      </p:sp>
      <p:sp>
        <p:nvSpPr>
          <p:cNvPr id="41" name="Text 39"/>
          <p:cNvSpPr txBox="1"/>
          <p:nvPr/>
        </p:nvSpPr>
        <p:spPr>
          <a:xfrm>
            <a:off x="658368" y="413549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2697480" y="4183457"/>
            <a:ext cx="233128" cy="122087"/>
          </a:xfrm>
          <a:prstGeom prst="rect">
            <a:avLst/>
          </a:prstGeom>
          <a:solidFill>
            <a:srgbClr val="2587C5"/>
          </a:solidFill>
          <a:ln/>
        </p:spPr>
      </p:sp>
      <p:sp>
        <p:nvSpPr>
          <p:cNvPr id="43" name="Text 41"/>
          <p:cNvSpPr txBox="1"/>
          <p:nvPr/>
        </p:nvSpPr>
        <p:spPr>
          <a:xfrm>
            <a:off x="4709160" y="413549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$95K</a:t>
            </a:r>
            <a:endParaRPr lang="en-US" sz="1200" dirty="0"/>
          </a:p>
        </p:txBody>
      </p:sp>
      <p:sp>
        <p:nvSpPr>
          <p:cNvPr id="44" name="Text 42"/>
          <p:cNvSpPr txBox="1"/>
          <p:nvPr/>
        </p:nvSpPr>
        <p:spPr>
          <a:xfrm>
            <a:off x="658368" y="435350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2697480" y="4401469"/>
            <a:ext cx="229669" cy="122087"/>
          </a:xfrm>
          <a:prstGeom prst="rect">
            <a:avLst/>
          </a:prstGeom>
          <a:solidFill>
            <a:srgbClr val="2587C5"/>
          </a:solidFill>
          <a:ln/>
        </p:spPr>
      </p:sp>
      <p:sp>
        <p:nvSpPr>
          <p:cNvPr id="46" name="Text 44"/>
          <p:cNvSpPr txBox="1"/>
          <p:nvPr/>
        </p:nvSpPr>
        <p:spPr>
          <a:xfrm>
            <a:off x="4709160" y="435350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$93K</a:t>
            </a:r>
            <a:endParaRPr lang="en-US" sz="1200" dirty="0"/>
          </a:p>
        </p:txBody>
      </p:sp>
      <p:sp>
        <p:nvSpPr>
          <p:cNvPr id="47" name="Text 45"/>
          <p:cNvSpPr txBox="1"/>
          <p:nvPr/>
        </p:nvSpPr>
        <p:spPr>
          <a:xfrm>
            <a:off x="658368" y="457151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2697480" y="4619481"/>
            <a:ext cx="223401" cy="122087"/>
          </a:xfrm>
          <a:prstGeom prst="rect">
            <a:avLst/>
          </a:prstGeom>
          <a:solidFill>
            <a:srgbClr val="2587C5"/>
          </a:solidFill>
          <a:ln/>
        </p:spPr>
      </p:sp>
      <p:sp>
        <p:nvSpPr>
          <p:cNvPr id="49" name="Text 47"/>
          <p:cNvSpPr txBox="1"/>
          <p:nvPr/>
        </p:nvSpPr>
        <p:spPr>
          <a:xfrm>
            <a:off x="4709160" y="457151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$91K</a:t>
            </a:r>
            <a:endParaRPr lang="en-US" sz="1200" dirty="0"/>
          </a:p>
        </p:txBody>
      </p:sp>
      <p:sp>
        <p:nvSpPr>
          <p:cNvPr id="50" name="Text 48"/>
          <p:cNvSpPr txBox="1"/>
          <p:nvPr/>
        </p:nvSpPr>
        <p:spPr>
          <a:xfrm>
            <a:off x="658368" y="478953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1" name="Shape 49"/>
          <p:cNvSpPr/>
          <p:nvPr/>
        </p:nvSpPr>
        <p:spPr>
          <a:xfrm>
            <a:off x="2697480" y="4837494"/>
            <a:ext cx="184669" cy="122087"/>
          </a:xfrm>
          <a:prstGeom prst="rect">
            <a:avLst/>
          </a:prstGeom>
          <a:solidFill>
            <a:srgbClr val="2587C5"/>
          </a:solidFill>
          <a:ln/>
        </p:spPr>
      </p:sp>
      <p:sp>
        <p:nvSpPr>
          <p:cNvPr id="52" name="Text 50"/>
          <p:cNvSpPr txBox="1"/>
          <p:nvPr/>
        </p:nvSpPr>
        <p:spPr>
          <a:xfrm>
            <a:off x="4709160" y="478953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$75K</a:t>
            </a:r>
            <a:endParaRPr lang="en-US" sz="1200" dirty="0"/>
          </a:p>
        </p:txBody>
      </p:sp>
      <p:sp>
        <p:nvSpPr>
          <p:cNvPr id="53" name="Text 51"/>
          <p:cNvSpPr txBox="1"/>
          <p:nvPr/>
        </p:nvSpPr>
        <p:spPr>
          <a:xfrm>
            <a:off x="658368" y="500754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2697480" y="5055506"/>
            <a:ext cx="151614" cy="122087"/>
          </a:xfrm>
          <a:prstGeom prst="rect">
            <a:avLst/>
          </a:prstGeom>
          <a:solidFill>
            <a:srgbClr val="2587C5"/>
          </a:solidFill>
          <a:ln/>
        </p:spPr>
      </p:sp>
      <p:sp>
        <p:nvSpPr>
          <p:cNvPr id="55" name="Text 53"/>
          <p:cNvSpPr txBox="1"/>
          <p:nvPr/>
        </p:nvSpPr>
        <p:spPr>
          <a:xfrm>
            <a:off x="4709160" y="500754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$62K</a:t>
            </a:r>
            <a:endParaRPr lang="en-US" sz="1200" dirty="0"/>
          </a:p>
        </p:txBody>
      </p:sp>
      <p:sp>
        <p:nvSpPr>
          <p:cNvPr id="56" name="Text 54"/>
          <p:cNvSpPr txBox="1"/>
          <p:nvPr/>
        </p:nvSpPr>
        <p:spPr>
          <a:xfrm>
            <a:off x="658368" y="522555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2697480" y="5273518"/>
            <a:ext cx="86983" cy="122087"/>
          </a:xfrm>
          <a:prstGeom prst="rect">
            <a:avLst/>
          </a:prstGeom>
          <a:solidFill>
            <a:srgbClr val="2587C5"/>
          </a:solidFill>
          <a:ln/>
        </p:spPr>
      </p:sp>
      <p:sp>
        <p:nvSpPr>
          <p:cNvPr id="58" name="Text 56"/>
          <p:cNvSpPr txBox="1"/>
          <p:nvPr/>
        </p:nvSpPr>
        <p:spPr>
          <a:xfrm>
            <a:off x="4709160" y="522555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$35K</a:t>
            </a:r>
            <a:endParaRPr lang="en-US" sz="1200" dirty="0"/>
          </a:p>
        </p:txBody>
      </p:sp>
      <p:sp>
        <p:nvSpPr>
          <p:cNvPr id="59" name="Text 57"/>
          <p:cNvSpPr txBox="1"/>
          <p:nvPr/>
        </p:nvSpPr>
        <p:spPr>
          <a:xfrm>
            <a:off x="658368" y="544356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0" name="Shape 58"/>
          <p:cNvSpPr/>
          <p:nvPr/>
        </p:nvSpPr>
        <p:spPr>
          <a:xfrm>
            <a:off x="2697480" y="5491530"/>
            <a:ext cx="37460" cy="122087"/>
          </a:xfrm>
          <a:prstGeom prst="rect">
            <a:avLst/>
          </a:prstGeom>
          <a:solidFill>
            <a:srgbClr val="2587C5"/>
          </a:solidFill>
          <a:ln/>
        </p:spPr>
      </p:sp>
      <p:sp>
        <p:nvSpPr>
          <p:cNvPr id="61" name="Text 59"/>
          <p:cNvSpPr txBox="1"/>
          <p:nvPr/>
        </p:nvSpPr>
        <p:spPr>
          <a:xfrm>
            <a:off x="4709160" y="544356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$15K</a:t>
            </a:r>
            <a:endParaRPr lang="en-US" sz="1200" dirty="0"/>
          </a:p>
        </p:txBody>
      </p:sp>
      <p:sp>
        <p:nvSpPr>
          <p:cNvPr id="62" name="Text 60"/>
          <p:cNvSpPr txBox="1"/>
          <p:nvPr/>
        </p:nvSpPr>
        <p:spPr>
          <a:xfrm>
            <a:off x="658368" y="566158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3" name="Shape 61"/>
          <p:cNvSpPr/>
          <p:nvPr/>
        </p:nvSpPr>
        <p:spPr>
          <a:xfrm>
            <a:off x="2697480" y="5709542"/>
            <a:ext cx="18288" cy="122087"/>
          </a:xfrm>
          <a:prstGeom prst="rect">
            <a:avLst/>
          </a:prstGeom>
          <a:solidFill>
            <a:srgbClr val="2587C5"/>
          </a:solidFill>
          <a:ln/>
        </p:spPr>
      </p:sp>
      <p:sp>
        <p:nvSpPr>
          <p:cNvPr id="64" name="Text 62"/>
          <p:cNvSpPr txBox="1"/>
          <p:nvPr/>
        </p:nvSpPr>
        <p:spPr>
          <a:xfrm>
            <a:off x="4709160" y="566158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$5K</a:t>
            </a:r>
            <a:endParaRPr lang="en-US" sz="1200" dirty="0"/>
          </a:p>
        </p:txBody>
      </p:sp>
      <p:sp>
        <p:nvSpPr>
          <p:cNvPr id="65" name="Shape 63"/>
          <p:cNvSpPr/>
          <p:nvPr/>
        </p:nvSpPr>
        <p:spPr>
          <a:xfrm>
            <a:off x="5870448" y="1207008"/>
            <a:ext cx="5861304" cy="2336292"/>
          </a:xfrm>
          <a:prstGeom prst="rect">
            <a:avLst/>
          </a:prstGeom>
          <a:solidFill>
            <a:srgbClr val="FFFFFF"/>
          </a:solidFill>
          <a:ln/>
        </p:spPr>
      </p:sp>
      <p:sp>
        <p:nvSpPr>
          <p:cNvPr id="66" name="Text 64"/>
          <p:cNvSpPr txBox="1"/>
          <p:nvPr/>
        </p:nvSpPr>
        <p:spPr>
          <a:xfrm>
            <a:off x="6053328" y="128016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ELR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$180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$197</a:t>
            </a:r>
            <a:endParaRPr lang="en-US" sz="1400" dirty="0"/>
          </a:p>
        </p:txBody>
      </p:sp>
      <p:graphicFrame>
        <p:nvGraphicFramePr>
          <p:cNvPr id="67" name="Chart 0" descr=""/>
          <p:cNvGraphicFramePr/>
          <p:nvPr/>
        </p:nvGraphicFramePr>
        <p:xfrm>
          <a:off x="5916168" y="1591056"/>
          <a:ext cx="5769864" cy="1897380"/>
        </p:xfrm>
        <a:graphic>
          <a:graphicData uri="http://schemas.openxmlformats.org/drawingml/2006/chart">
            <c:chart xmlns:c="http://schemas.openxmlformats.org/drawingml/2006/chart" r:id="rId2"/>
          </a:graphicData>
        </a:graphic>
      </p:graphicFrame>
      <p:sp>
        <p:nvSpPr>
          <p:cNvPr id="68" name="Shape 65"/>
          <p:cNvSpPr/>
          <p:nvPr/>
        </p:nvSpPr>
        <p:spPr>
          <a:xfrm>
            <a:off x="5870448" y="3653028"/>
            <a:ext cx="5861304" cy="2336292"/>
          </a:xfrm>
          <a:prstGeom prst="rect">
            <a:avLst/>
          </a:prstGeom>
          <a:solidFill>
            <a:srgbClr val="FFFFFF"/>
          </a:solidFill>
          <a:ln/>
        </p:spPr>
      </p:sp>
      <p:sp>
        <p:nvSpPr>
          <p:cNvPr id="69" name="Text 66"/>
          <p:cNvSpPr txBox="1"/>
          <p:nvPr/>
        </p:nvSpPr>
        <p:spPr>
          <a:xfrm>
            <a:off x="6053328" y="372618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PARTS GP %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42.6%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44.7%</a:t>
            </a:r>
            <a:endParaRPr lang="en-US" sz="1400" dirty="0"/>
          </a:p>
        </p:txBody>
      </p:sp>
      <p:graphicFrame>
        <p:nvGraphicFramePr>
          <p:cNvPr id="70" name="Chart 1" descr=""/>
          <p:cNvGraphicFramePr/>
          <p:nvPr/>
        </p:nvGraphicFramePr>
        <p:xfrm>
          <a:off x="5916168" y="4037076"/>
          <a:ext cx="5769864" cy="1897380"/>
        </p:xfrm>
        <a:graphic>
          <a:graphicData uri="http://schemas.openxmlformats.org/drawingml/2006/chart">
            <c:chart xmlns:c="http://schemas.openxmlformats.org/drawingml/2006/chart" r:id="rId3"/>
          </a:graphicData>
        </a:graphic>
      </p:graphicFrame>
      <p:sp>
        <p:nvSpPr>
          <p:cNvPr id="71" name="Shape 67"/>
          <p:cNvSpPr/>
          <p:nvPr/>
        </p:nvSpPr>
        <p:spPr>
          <a:xfrm>
            <a:off x="457200" y="6126480"/>
            <a:ext cx="11274552" cy="371856"/>
          </a:xfrm>
          <a:prstGeom prst="rect">
            <a:avLst/>
          </a:prstGeom>
          <a:solidFill>
            <a:srgbClr val="EDF4FA"/>
          </a:solidFill>
          <a:ln/>
        </p:spPr>
      </p:sp>
      <p:sp>
        <p:nvSpPr>
          <p:cNvPr id="72"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Protect that money: higher rates draw more audits, so document every claim to hold up.</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largest gain in September, +$877K. This is money the manufacturer owes us: process keeps it.</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575158"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014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701901"/>
            <a:ext cx="1234738"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916344"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224723"/>
            <a:ext cx="60866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53997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45448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4008956"/>
            <a:ext cx="447286"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270366"/>
            <a:ext cx="32686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531777"/>
            <a:ext cx="31122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793188"/>
            <a:ext cx="305091"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01867"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316010"/>
            <a:ext cx="29832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577420"/>
            <a:ext cx="28684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838831"/>
            <a:ext cx="27451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6100242"/>
            <a:ext cx="26896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7669"/>
            <a:ext cx="2604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257699"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440491"/>
            <a:ext cx="24957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701901"/>
            <a:ext cx="24256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963312"/>
            <a:ext cx="22476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224723"/>
            <a:ext cx="209887"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486134"/>
            <a:ext cx="197473"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17215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17082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270366"/>
            <a:ext cx="170412"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52644"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793188"/>
            <a:ext cx="1441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5054599"/>
            <a:ext cx="12012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316010"/>
            <a:ext cx="1132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6513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838831"/>
            <a:ext cx="40300"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a:t>
            </a:r>
            <a:endParaRPr lang="en-US" sz="16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3 VS LAST YEAR</a:t>
            </a:r>
            <a:endParaRPr lang="en-US" sz="1500" dirty="0"/>
          </a:p>
        </p:txBody>
      </p:sp>
      <p:sp>
        <p:nvSpPr>
          <p:cNvPr id="9" name="Shape 7"/>
          <p:cNvSpPr/>
          <p:nvPr/>
        </p:nvSpPr>
        <p:spPr>
          <a:xfrm>
            <a:off x="658368" y="1810512"/>
            <a:ext cx="3489960" cy="1478280"/>
          </a:xfrm>
          <a:prstGeom prst="rect">
            <a:avLst/>
          </a:prstGeom>
          <a:solidFill>
            <a:srgbClr val="F7F7F7"/>
          </a:solidFill>
          <a:ln/>
        </p:spPr>
      </p:sp>
      <p:sp>
        <p:nvSpPr>
          <p:cNvPr id="10" name="Text 8"/>
          <p:cNvSpPr txBox="1"/>
          <p:nvPr/>
        </p:nvSpPr>
        <p:spPr>
          <a:xfrm>
            <a:off x="749808"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11" name="Text 9"/>
          <p:cNvSpPr txBox="1"/>
          <p:nvPr/>
        </p:nvSpPr>
        <p:spPr>
          <a:xfrm>
            <a:off x="1097280"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graphicFrame>
        <p:nvGraphicFramePr>
          <p:cNvPr id="12" name="Chart 0" descr=""/>
          <p:cNvGraphicFramePr/>
          <p:nvPr/>
        </p:nvGraphicFramePr>
        <p:xfrm>
          <a:off x="1097280" y="2697480"/>
          <a:ext cx="1972056" cy="502615"/>
        </p:xfrm>
        <a:graphic>
          <a:graphicData uri="http://schemas.openxmlformats.org/drawingml/2006/chart">
            <c:chart xmlns:c="http://schemas.openxmlformats.org/drawingml/2006/chart" r:id="rId2"/>
          </a:graphicData>
        </a:graphic>
      </p:graphicFrame>
      <p:sp>
        <p:nvSpPr>
          <p:cNvPr id="13" name="Text 10"/>
          <p:cNvSpPr txBox="1"/>
          <p:nvPr/>
        </p:nvSpPr>
        <p:spPr>
          <a:xfrm>
            <a:off x="3160776" y="225399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4" name="Text 11"/>
          <p:cNvSpPr txBox="1"/>
          <p:nvPr/>
        </p:nvSpPr>
        <p:spPr>
          <a:xfrm>
            <a:off x="3160776"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+$2.03M</a:t>
            </a:r>
            <a:endParaRPr lang="en-US" sz="1300" dirty="0"/>
          </a:p>
        </p:txBody>
      </p:sp>
      <p:sp>
        <p:nvSpPr>
          <p:cNvPr id="15" name="Text 12"/>
          <p:cNvSpPr txBox="1"/>
          <p:nvPr/>
        </p:nvSpPr>
        <p:spPr>
          <a:xfrm>
            <a:off x="749808"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16" name="Text 13"/>
          <p:cNvSpPr txBox="1"/>
          <p:nvPr/>
        </p:nvSpPr>
        <p:spPr>
          <a:xfrm>
            <a:off x="1097280"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graphicFrame>
        <p:nvGraphicFramePr>
          <p:cNvPr id="17" name="Chart 1" descr=""/>
          <p:cNvGraphicFramePr/>
          <p:nvPr/>
        </p:nvGraphicFramePr>
        <p:xfrm>
          <a:off x="1097280" y="4175760"/>
          <a:ext cx="1972056" cy="502615"/>
        </p:xfrm>
        <a:graphic>
          <a:graphicData uri="http://schemas.openxmlformats.org/drawingml/2006/chart">
            <c:chart xmlns:c="http://schemas.openxmlformats.org/drawingml/2006/chart" r:id="rId3"/>
          </a:graphicData>
        </a:graphic>
      </p:graphicFrame>
      <p:sp>
        <p:nvSpPr>
          <p:cNvPr id="18" name="Text 14"/>
          <p:cNvSpPr txBox="1"/>
          <p:nvPr/>
        </p:nvSpPr>
        <p:spPr>
          <a:xfrm>
            <a:off x="3160776" y="373227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9" name="Text 15"/>
          <p:cNvSpPr txBox="1"/>
          <p:nvPr/>
        </p:nvSpPr>
        <p:spPr>
          <a:xfrm>
            <a:off x="3160776"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+$194K</a:t>
            </a:r>
            <a:endParaRPr lang="en-US" sz="1300" dirty="0"/>
          </a:p>
        </p:txBody>
      </p:sp>
      <p:sp>
        <p:nvSpPr>
          <p:cNvPr id="20" name="Shape 16"/>
          <p:cNvSpPr/>
          <p:nvPr/>
        </p:nvSpPr>
        <p:spPr>
          <a:xfrm>
            <a:off x="658368" y="4767072"/>
            <a:ext cx="3489960" cy="1478280"/>
          </a:xfrm>
          <a:prstGeom prst="rect">
            <a:avLst/>
          </a:prstGeom>
          <a:solidFill>
            <a:srgbClr val="F7F7F7"/>
          </a:solidFill>
          <a:ln/>
        </p:spPr>
      </p:sp>
      <p:sp>
        <p:nvSpPr>
          <p:cNvPr id="21" name="Text 17"/>
          <p:cNvSpPr txBox="1"/>
          <p:nvPr/>
        </p:nvSpPr>
        <p:spPr>
          <a:xfrm>
            <a:off x="749808"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22" name="Text 18"/>
          <p:cNvSpPr txBox="1"/>
          <p:nvPr/>
        </p:nvSpPr>
        <p:spPr>
          <a:xfrm>
            <a:off x="1097280"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graphicFrame>
        <p:nvGraphicFramePr>
          <p:cNvPr id="23" name="Chart 2" descr=""/>
          <p:cNvGraphicFramePr/>
          <p:nvPr/>
        </p:nvGraphicFramePr>
        <p:xfrm>
          <a:off x="1097280" y="5654040"/>
          <a:ext cx="1972056" cy="502615"/>
        </p:xfrm>
        <a:graphic>
          <a:graphicData uri="http://schemas.openxmlformats.org/drawingml/2006/chart">
            <c:chart xmlns:c="http://schemas.openxmlformats.org/drawingml/2006/chart" r:id="rId4"/>
          </a:graphicData>
        </a:graphic>
      </p:graphicFrame>
      <p:sp>
        <p:nvSpPr>
          <p:cNvPr id="24" name="Text 19"/>
          <p:cNvSpPr txBox="1"/>
          <p:nvPr/>
        </p:nvSpPr>
        <p:spPr>
          <a:xfrm>
            <a:off x="3160776" y="521055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5" name="Text 20"/>
          <p:cNvSpPr txBox="1"/>
          <p:nvPr/>
        </p:nvSpPr>
        <p:spPr>
          <a:xfrm>
            <a:off x="3160776"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+$985K</a:t>
            </a:r>
            <a:endParaRPr lang="en-US" sz="1300" dirty="0"/>
          </a:p>
        </p:txBody>
      </p:sp>
      <p:sp>
        <p:nvSpPr>
          <p:cNvPr id="26" name="Shape 21"/>
          <p:cNvSpPr/>
          <p:nvPr/>
        </p:nvSpPr>
        <p:spPr>
          <a:xfrm>
            <a:off x="4349496" y="1371600"/>
            <a:ext cx="3489960" cy="45720"/>
          </a:xfrm>
          <a:prstGeom prst="rect">
            <a:avLst/>
          </a:prstGeom>
          <a:solidFill>
            <a:srgbClr val="C2352F"/>
          </a:solidFill>
          <a:ln/>
        </p:spPr>
      </p:sp>
      <p:sp>
        <p:nvSpPr>
          <p:cNvPr id="27" name="Text 2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3 VS LAST YEAR</a:t>
            </a:r>
            <a:endParaRPr lang="en-US" sz="1500" dirty="0"/>
          </a:p>
        </p:txBody>
      </p:sp>
      <p:sp>
        <p:nvSpPr>
          <p:cNvPr id="28" name="Shape 23"/>
          <p:cNvSpPr/>
          <p:nvPr/>
        </p:nvSpPr>
        <p:spPr>
          <a:xfrm>
            <a:off x="4349496" y="1810512"/>
            <a:ext cx="3489960" cy="1478280"/>
          </a:xfrm>
          <a:prstGeom prst="rect">
            <a:avLst/>
          </a:prstGeom>
          <a:solidFill>
            <a:srgbClr val="F7F7F7"/>
          </a:solidFill>
          <a:ln/>
        </p:spPr>
      </p:sp>
      <p:sp>
        <p:nvSpPr>
          <p:cNvPr id="29" name="Text 24"/>
          <p:cNvSpPr txBox="1"/>
          <p:nvPr/>
        </p:nvSpPr>
        <p:spPr>
          <a:xfrm>
            <a:off x="4440936"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33</a:t>
            </a:r>
            <a:endParaRPr lang="en-US" sz="2000" dirty="0"/>
          </a:p>
        </p:txBody>
      </p:sp>
      <p:sp>
        <p:nvSpPr>
          <p:cNvPr id="30" name="Text 25"/>
          <p:cNvSpPr txBox="1"/>
          <p:nvPr/>
        </p:nvSpPr>
        <p:spPr>
          <a:xfrm>
            <a:off x="4788408"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graphicFrame>
        <p:nvGraphicFramePr>
          <p:cNvPr id="31" name="Chart 3" descr=""/>
          <p:cNvGraphicFramePr/>
          <p:nvPr/>
        </p:nvGraphicFramePr>
        <p:xfrm>
          <a:off x="4788408" y="2697480"/>
          <a:ext cx="1972056" cy="502615"/>
        </p:xfrm>
        <a:graphic>
          <a:graphicData uri="http://schemas.openxmlformats.org/drawingml/2006/chart">
            <c:chart xmlns:c="http://schemas.openxmlformats.org/drawingml/2006/chart" r:id="rId5"/>
          </a:graphicData>
        </a:graphic>
      </p:graphicFrame>
      <p:sp>
        <p:nvSpPr>
          <p:cNvPr id="32" name="Text 26"/>
          <p:cNvSpPr txBox="1"/>
          <p:nvPr/>
        </p:nvSpPr>
        <p:spPr>
          <a:xfrm>
            <a:off x="6851904" y="225399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33" name="Text 27"/>
          <p:cNvSpPr txBox="1"/>
          <p:nvPr/>
        </p:nvSpPr>
        <p:spPr>
          <a:xfrm>
            <a:off x="6851904"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−$410K</a:t>
            </a:r>
            <a:endParaRPr lang="en-US" sz="1300" dirty="0"/>
          </a:p>
        </p:txBody>
      </p:sp>
      <p:sp>
        <p:nvSpPr>
          <p:cNvPr id="34" name="Text 28"/>
          <p:cNvSpPr txBox="1"/>
          <p:nvPr/>
        </p:nvSpPr>
        <p:spPr>
          <a:xfrm>
            <a:off x="4440936"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32</a:t>
            </a:r>
            <a:endParaRPr lang="en-US" sz="2000" dirty="0"/>
          </a:p>
        </p:txBody>
      </p:sp>
      <p:sp>
        <p:nvSpPr>
          <p:cNvPr id="35" name="Text 29"/>
          <p:cNvSpPr txBox="1"/>
          <p:nvPr/>
        </p:nvSpPr>
        <p:spPr>
          <a:xfrm>
            <a:off x="4788408"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graphicFrame>
        <p:nvGraphicFramePr>
          <p:cNvPr id="36" name="Chart 4" descr=""/>
          <p:cNvGraphicFramePr/>
          <p:nvPr/>
        </p:nvGraphicFramePr>
        <p:xfrm>
          <a:off x="4788408" y="4175760"/>
          <a:ext cx="1972056" cy="502615"/>
        </p:xfrm>
        <a:graphic>
          <a:graphicData uri="http://schemas.openxmlformats.org/drawingml/2006/chart">
            <c:chart xmlns:c="http://schemas.openxmlformats.org/drawingml/2006/chart" r:id="rId6"/>
          </a:graphicData>
        </a:graphic>
      </p:graphicFrame>
      <p:sp>
        <p:nvSpPr>
          <p:cNvPr id="37" name="Text 30"/>
          <p:cNvSpPr txBox="1"/>
          <p:nvPr/>
        </p:nvSpPr>
        <p:spPr>
          <a:xfrm>
            <a:off x="6851904" y="373227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38" name="Text 31"/>
          <p:cNvSpPr txBox="1"/>
          <p:nvPr/>
        </p:nvSpPr>
        <p:spPr>
          <a:xfrm>
            <a:off x="6851904"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−$83K</a:t>
            </a:r>
            <a:endParaRPr lang="en-US" sz="1300" dirty="0"/>
          </a:p>
        </p:txBody>
      </p:sp>
      <p:sp>
        <p:nvSpPr>
          <p:cNvPr id="39" name="Shape 32"/>
          <p:cNvSpPr/>
          <p:nvPr/>
        </p:nvSpPr>
        <p:spPr>
          <a:xfrm>
            <a:off x="4349496" y="4767072"/>
            <a:ext cx="3489960" cy="1478280"/>
          </a:xfrm>
          <a:prstGeom prst="rect">
            <a:avLst/>
          </a:prstGeom>
          <a:solidFill>
            <a:srgbClr val="F7F7F7"/>
          </a:solidFill>
          <a:ln/>
        </p:spPr>
      </p:sp>
      <p:sp>
        <p:nvSpPr>
          <p:cNvPr id="40" name="Text 33"/>
          <p:cNvSpPr txBox="1"/>
          <p:nvPr/>
        </p:nvSpPr>
        <p:spPr>
          <a:xfrm>
            <a:off x="4440936"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31</a:t>
            </a:r>
            <a:endParaRPr lang="en-US" sz="2000" dirty="0"/>
          </a:p>
        </p:txBody>
      </p:sp>
      <p:sp>
        <p:nvSpPr>
          <p:cNvPr id="41" name="Text 34"/>
          <p:cNvSpPr txBox="1"/>
          <p:nvPr/>
        </p:nvSpPr>
        <p:spPr>
          <a:xfrm>
            <a:off x="4788408"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graphicFrame>
        <p:nvGraphicFramePr>
          <p:cNvPr id="42" name="Chart 5" descr=""/>
          <p:cNvGraphicFramePr/>
          <p:nvPr/>
        </p:nvGraphicFramePr>
        <p:xfrm>
          <a:off x="4788408" y="5654040"/>
          <a:ext cx="1972056" cy="502615"/>
        </p:xfrm>
        <a:graphic>
          <a:graphicData uri="http://schemas.openxmlformats.org/drawingml/2006/chart">
            <c:chart xmlns:c="http://schemas.openxmlformats.org/drawingml/2006/chart" r:id="rId7"/>
          </a:graphicData>
        </a:graphic>
      </p:graphicFrame>
      <p:sp>
        <p:nvSpPr>
          <p:cNvPr id="43" name="Text 35"/>
          <p:cNvSpPr txBox="1"/>
          <p:nvPr/>
        </p:nvSpPr>
        <p:spPr>
          <a:xfrm>
            <a:off x="6851904" y="521055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44" name="Text 36"/>
          <p:cNvSpPr txBox="1"/>
          <p:nvPr/>
        </p:nvSpPr>
        <p:spPr>
          <a:xfrm>
            <a:off x="6851904"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−$822K</a:t>
            </a:r>
            <a:endParaRPr lang="en-US" sz="1300" dirty="0"/>
          </a:p>
        </p:txBody>
      </p:sp>
      <p:sp>
        <p:nvSpPr>
          <p:cNvPr id="45" name="Shape 37"/>
          <p:cNvSpPr/>
          <p:nvPr/>
        </p:nvSpPr>
        <p:spPr>
          <a:xfrm>
            <a:off x="8040624" y="1371600"/>
            <a:ext cx="3489960" cy="45720"/>
          </a:xfrm>
          <a:prstGeom prst="rect">
            <a:avLst/>
          </a:prstGeom>
          <a:solidFill>
            <a:srgbClr val="2587C5"/>
          </a:solidFill>
          <a:ln/>
        </p:spPr>
      </p:sp>
      <p:sp>
        <p:nvSpPr>
          <p:cNvPr id="46" name="Text 3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3 MOVING NOW</a:t>
            </a:r>
            <a:endParaRPr lang="en-US" sz="1500" dirty="0"/>
          </a:p>
        </p:txBody>
      </p:sp>
      <p:sp>
        <p:nvSpPr>
          <p:cNvPr id="47" name="Shape 39"/>
          <p:cNvSpPr/>
          <p:nvPr/>
        </p:nvSpPr>
        <p:spPr>
          <a:xfrm>
            <a:off x="8040624" y="1810512"/>
            <a:ext cx="3489960" cy="1478280"/>
          </a:xfrm>
          <a:prstGeom prst="rect">
            <a:avLst/>
          </a:prstGeom>
          <a:solidFill>
            <a:srgbClr val="F7F7F7"/>
          </a:solidFill>
          <a:ln/>
        </p:spPr>
      </p:sp>
      <p:sp>
        <p:nvSpPr>
          <p:cNvPr id="48" name="Text 40"/>
          <p:cNvSpPr txBox="1"/>
          <p:nvPr/>
        </p:nvSpPr>
        <p:spPr>
          <a:xfrm>
            <a:off x="8132064"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49" name="Text 41"/>
          <p:cNvSpPr txBox="1"/>
          <p:nvPr/>
        </p:nvSpPr>
        <p:spPr>
          <a:xfrm>
            <a:off x="8479536"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graphicFrame>
        <p:nvGraphicFramePr>
          <p:cNvPr id="50" name="Chart 6" descr=""/>
          <p:cNvGraphicFramePr/>
          <p:nvPr/>
        </p:nvGraphicFramePr>
        <p:xfrm>
          <a:off x="8479536" y="2697480"/>
          <a:ext cx="1972056" cy="502615"/>
        </p:xfrm>
        <a:graphic>
          <a:graphicData uri="http://schemas.openxmlformats.org/drawingml/2006/chart">
            <c:chart xmlns:c="http://schemas.openxmlformats.org/drawingml/2006/chart" r:id="rId8"/>
          </a:graphicData>
        </a:graphic>
      </p:graphicFrame>
      <p:graphicFrame>
        <p:nvGraphicFramePr>
          <p:cNvPr id="51" name="Chart 7" descr=""/>
          <p:cNvGraphicFramePr/>
          <p:nvPr/>
        </p:nvGraphicFramePr>
        <p:xfrm>
          <a:off x="8479536" y="2697480"/>
          <a:ext cx="1972056" cy="502615"/>
        </p:xfrm>
        <a:graphic>
          <a:graphicData uri="http://schemas.openxmlformats.org/drawingml/2006/chart">
            <c:chart xmlns:c="http://schemas.openxmlformats.org/drawingml/2006/chart" r:id="rId9"/>
          </a:graphicData>
        </a:graphic>
      </p:graphicFrame>
      <p:sp>
        <p:nvSpPr>
          <p:cNvPr id="52" name="Text 42"/>
          <p:cNvSpPr txBox="1"/>
          <p:nvPr/>
        </p:nvSpPr>
        <p:spPr>
          <a:xfrm>
            <a:off x="10543032" y="225399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53" name="Text 43"/>
          <p:cNvSpPr txBox="1"/>
          <p:nvPr/>
        </p:nvSpPr>
        <p:spPr>
          <a:xfrm>
            <a:off x="10543032"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+$57K</a:t>
            </a:r>
            <a:endParaRPr lang="en-US" sz="1300" dirty="0"/>
          </a:p>
        </p:txBody>
      </p:sp>
      <p:sp>
        <p:nvSpPr>
          <p:cNvPr id="54" name="Text 44"/>
          <p:cNvSpPr txBox="1"/>
          <p:nvPr/>
        </p:nvSpPr>
        <p:spPr>
          <a:xfrm>
            <a:off x="8132064"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55" name="Text 45"/>
          <p:cNvSpPr txBox="1"/>
          <p:nvPr/>
        </p:nvSpPr>
        <p:spPr>
          <a:xfrm>
            <a:off x="8479536"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graphicFrame>
        <p:nvGraphicFramePr>
          <p:cNvPr id="56" name="Chart 8" descr=""/>
          <p:cNvGraphicFramePr/>
          <p:nvPr/>
        </p:nvGraphicFramePr>
        <p:xfrm>
          <a:off x="8479536" y="4175760"/>
          <a:ext cx="1972056" cy="502615"/>
        </p:xfrm>
        <a:graphic>
          <a:graphicData uri="http://schemas.openxmlformats.org/drawingml/2006/chart">
            <c:chart xmlns:c="http://schemas.openxmlformats.org/drawingml/2006/chart" r:id="rId10"/>
          </a:graphicData>
        </a:graphic>
      </p:graphicFrame>
      <p:graphicFrame>
        <p:nvGraphicFramePr>
          <p:cNvPr id="57" name="Chart 9" descr=""/>
          <p:cNvGraphicFramePr/>
          <p:nvPr/>
        </p:nvGraphicFramePr>
        <p:xfrm>
          <a:off x="8479536" y="4175760"/>
          <a:ext cx="1972056" cy="502615"/>
        </p:xfrm>
        <a:graphic>
          <a:graphicData uri="http://schemas.openxmlformats.org/drawingml/2006/chart">
            <c:chart xmlns:c="http://schemas.openxmlformats.org/drawingml/2006/chart" r:id="rId11"/>
          </a:graphicData>
        </a:graphic>
      </p:graphicFrame>
      <p:sp>
        <p:nvSpPr>
          <p:cNvPr id="58" name="Text 46"/>
          <p:cNvSpPr txBox="1"/>
          <p:nvPr/>
        </p:nvSpPr>
        <p:spPr>
          <a:xfrm>
            <a:off x="10543032" y="373227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59" name="Text 47"/>
          <p:cNvSpPr txBox="1"/>
          <p:nvPr/>
        </p:nvSpPr>
        <p:spPr>
          <a:xfrm>
            <a:off x="10543032"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+$81K</a:t>
            </a:r>
            <a:endParaRPr lang="en-US" sz="1300" dirty="0"/>
          </a:p>
        </p:txBody>
      </p:sp>
      <p:sp>
        <p:nvSpPr>
          <p:cNvPr id="60" name="Shape 48"/>
          <p:cNvSpPr/>
          <p:nvPr/>
        </p:nvSpPr>
        <p:spPr>
          <a:xfrm>
            <a:off x="8040624" y="4767072"/>
            <a:ext cx="3489960" cy="1478280"/>
          </a:xfrm>
          <a:prstGeom prst="rect">
            <a:avLst/>
          </a:prstGeom>
          <a:solidFill>
            <a:srgbClr val="F7F7F7"/>
          </a:solidFill>
          <a:ln/>
        </p:spPr>
      </p:sp>
      <p:sp>
        <p:nvSpPr>
          <p:cNvPr id="61" name="Text 49"/>
          <p:cNvSpPr txBox="1"/>
          <p:nvPr/>
        </p:nvSpPr>
        <p:spPr>
          <a:xfrm>
            <a:off x="8132064"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62" name="Text 50"/>
          <p:cNvSpPr txBox="1"/>
          <p:nvPr/>
        </p:nvSpPr>
        <p:spPr>
          <a:xfrm>
            <a:off x="8479536"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graphicFrame>
        <p:nvGraphicFramePr>
          <p:cNvPr id="63" name="Chart 10" descr=""/>
          <p:cNvGraphicFramePr/>
          <p:nvPr/>
        </p:nvGraphicFramePr>
        <p:xfrm>
          <a:off x="8479536" y="5654040"/>
          <a:ext cx="1972056" cy="502615"/>
        </p:xfrm>
        <a:graphic>
          <a:graphicData uri="http://schemas.openxmlformats.org/drawingml/2006/chart">
            <c:chart xmlns:c="http://schemas.openxmlformats.org/drawingml/2006/chart" r:id="rId12"/>
          </a:graphicData>
        </a:graphic>
      </p:graphicFrame>
      <p:graphicFrame>
        <p:nvGraphicFramePr>
          <p:cNvPr id="64" name="Chart 11" descr=""/>
          <p:cNvGraphicFramePr/>
          <p:nvPr/>
        </p:nvGraphicFramePr>
        <p:xfrm>
          <a:off x="8479536" y="5654040"/>
          <a:ext cx="1972056" cy="502615"/>
        </p:xfrm>
        <a:graphic>
          <a:graphicData uri="http://schemas.openxmlformats.org/drawingml/2006/chart">
            <c:chart xmlns:c="http://schemas.openxmlformats.org/drawingml/2006/chart" r:id="rId13"/>
          </a:graphicData>
        </a:graphic>
      </p:graphicFrame>
      <p:sp>
        <p:nvSpPr>
          <p:cNvPr id="65" name="Text 51"/>
          <p:cNvSpPr txBox="1"/>
          <p:nvPr/>
        </p:nvSpPr>
        <p:spPr>
          <a:xfrm>
            <a:off x="10543032" y="521055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66" name="Text 52"/>
          <p:cNvSpPr txBox="1"/>
          <p:nvPr/>
        </p:nvSpPr>
        <p:spPr>
          <a:xfrm>
            <a:off x="10543032"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+$40K</a:t>
            </a:r>
            <a:endParaRPr lang="en-US" sz="1300"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Store prescriptions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vs Last Year: Customer Pay</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044952" y="1691640"/>
            <a:ext cx="10973" cy="3977640"/>
          </a:xfrm>
          <a:prstGeom prst="rect">
            <a:avLst/>
          </a:prstGeom>
          <a:solidFill>
            <a:srgbClr val="D9D9D9"/>
          </a:solidFill>
          <a:ln/>
        </p:spPr>
      </p:sp>
      <p:sp>
        <p:nvSpPr>
          <p:cNvPr id="20" name="Shape 18"/>
          <p:cNvSpPr/>
          <p:nvPr/>
        </p:nvSpPr>
        <p:spPr>
          <a:xfrm>
            <a:off x="5180990" y="1691640"/>
            <a:ext cx="10973" cy="3977640"/>
          </a:xfrm>
          <a:prstGeom prst="rect">
            <a:avLst/>
          </a:prstGeom>
          <a:solidFill>
            <a:srgbClr val="D9D9D9"/>
          </a:solidFill>
          <a:ln/>
        </p:spPr>
      </p:sp>
      <p:sp>
        <p:nvSpPr>
          <p:cNvPr id="21" name="Shape 19"/>
          <p:cNvSpPr/>
          <p:nvPr/>
        </p:nvSpPr>
        <p:spPr>
          <a:xfrm>
            <a:off x="7317029" y="1691640"/>
            <a:ext cx="10973" cy="3977640"/>
          </a:xfrm>
          <a:prstGeom prst="rect">
            <a:avLst/>
          </a:prstGeom>
          <a:solidFill>
            <a:srgbClr val="D9D9D9"/>
          </a:solidFill>
          <a:ln/>
        </p:spPr>
      </p:sp>
      <p:sp>
        <p:nvSpPr>
          <p:cNvPr id="22" name="Shape 20"/>
          <p:cNvSpPr/>
          <p:nvPr/>
        </p:nvSpPr>
        <p:spPr>
          <a:xfrm>
            <a:off x="9453067" y="1691640"/>
            <a:ext cx="10973" cy="3977640"/>
          </a:xfrm>
          <a:prstGeom prst="rect">
            <a:avLst/>
          </a:prstGeom>
          <a:solidFill>
            <a:srgbClr val="D9D9D9"/>
          </a:solidFill>
          <a:ln/>
        </p:spPr>
      </p:sp>
      <p:sp>
        <p:nvSpPr>
          <p:cNvPr id="23" name="Shape 21"/>
          <p:cNvSpPr/>
          <p:nvPr/>
        </p:nvSpPr>
        <p:spPr>
          <a:xfrm>
            <a:off x="969264" y="1691640"/>
            <a:ext cx="2026310" cy="45720"/>
          </a:xfrm>
          <a:prstGeom prst="rect">
            <a:avLst/>
          </a:prstGeom>
          <a:solidFill>
            <a:srgbClr val="12A566"/>
          </a:solidFill>
          <a:ln/>
        </p:spPr>
      </p:sp>
      <p:sp>
        <p:nvSpPr>
          <p:cNvPr id="24" name="Text 22"/>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5" name="Text 23"/>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+6.5%</a:t>
            </a:r>
            <a:endParaRPr lang="en-US" sz="1300" dirty="0"/>
          </a:p>
        </p:txBody>
      </p:sp>
      <p:sp>
        <p:nvSpPr>
          <p:cNvPr id="26" name="Text 24"/>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7" name="Text 25"/>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+46.1%</a:t>
            </a:r>
            <a:endParaRPr lang="en-US" sz="1600" dirty="0"/>
          </a:p>
        </p:txBody>
      </p:sp>
      <p:sp>
        <p:nvSpPr>
          <p:cNvPr id="28" name="Text 26"/>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9" name="Text 27"/>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+45.4%</a:t>
            </a:r>
            <a:endParaRPr lang="en-US" sz="1600" dirty="0"/>
          </a:p>
        </p:txBody>
      </p:sp>
      <p:sp>
        <p:nvSpPr>
          <p:cNvPr id="30" name="Text 28"/>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31" name="Text 29"/>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32" name="Text 30"/>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3" name="Text 31"/>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4" name="Text 32"/>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5" name="Text 33"/>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6" name="Text 34"/>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7" name="Text 35"/>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8" name="Shape 36"/>
          <p:cNvSpPr/>
          <p:nvPr/>
        </p:nvSpPr>
        <p:spPr>
          <a:xfrm>
            <a:off x="3105302" y="1691640"/>
            <a:ext cx="2026310" cy="45720"/>
          </a:xfrm>
          <a:prstGeom prst="rect">
            <a:avLst/>
          </a:prstGeom>
          <a:solidFill>
            <a:srgbClr val="12A566"/>
          </a:solidFill>
          <a:ln/>
        </p:spPr>
      </p:sp>
      <p:sp>
        <p:nvSpPr>
          <p:cNvPr id="39" name="Text 37"/>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40" name="Text 38"/>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+0.2%</a:t>
            </a:r>
            <a:endParaRPr lang="en-US" sz="1300" dirty="0"/>
          </a:p>
        </p:txBody>
      </p:sp>
      <p:sp>
        <p:nvSpPr>
          <p:cNvPr id="41" name="Text 39"/>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42" name="Text 40"/>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43" name="Text 41"/>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4" name="Text 42"/>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45" name="Text 43"/>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6" name="Text 44"/>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47" name="Text 45"/>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8" name="Text 46"/>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9" name="Text 47"/>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Text 48"/>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51" name="Text 49"/>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2" name="Text 50"/>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53" name="Shape 51"/>
          <p:cNvSpPr/>
          <p:nvPr/>
        </p:nvSpPr>
        <p:spPr>
          <a:xfrm>
            <a:off x="5241341" y="1691640"/>
            <a:ext cx="2026310" cy="45720"/>
          </a:xfrm>
          <a:prstGeom prst="rect">
            <a:avLst/>
          </a:prstGeom>
          <a:solidFill>
            <a:srgbClr val="12A566"/>
          </a:solidFill>
          <a:ln/>
        </p:spPr>
      </p:sp>
      <p:sp>
        <p:nvSpPr>
          <p:cNvPr id="54" name="Text 52"/>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5" name="Text 53"/>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6" name="Text 54"/>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58" name="Text 56"/>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Text 57"/>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0" name="Text 58"/>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Text 59"/>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62" name="Text 60"/>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63" name="Text 61"/>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4" name="Text 62"/>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5" name="Text 63"/>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6" name="Text 64"/>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7" name="Text 65"/>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8" name="Shape 66"/>
          <p:cNvSpPr/>
          <p:nvPr/>
        </p:nvSpPr>
        <p:spPr>
          <a:xfrm>
            <a:off x="7377379" y="1691640"/>
            <a:ext cx="2026310" cy="45720"/>
          </a:xfrm>
          <a:prstGeom prst="rect">
            <a:avLst/>
          </a:prstGeom>
          <a:solidFill>
            <a:srgbClr val="12A566"/>
          </a:solidFill>
          <a:ln/>
        </p:spPr>
      </p:sp>
      <p:sp>
        <p:nvSpPr>
          <p:cNvPr id="69" name="Text 67"/>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70" name="Text 68"/>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71" name="Text 69"/>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73" name="Text 71"/>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4" name="Text 72"/>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5" name="Text 73"/>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6" name="Text 74"/>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7" name="Text 75"/>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79" name="Text 77"/>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0" name="Text 78"/>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81" name="Text 79"/>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82" name="Text 80"/>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83" name="Shape 81"/>
          <p:cNvSpPr/>
          <p:nvPr/>
        </p:nvSpPr>
        <p:spPr>
          <a:xfrm>
            <a:off x="9513418" y="1691640"/>
            <a:ext cx="2026310" cy="45720"/>
          </a:xfrm>
          <a:prstGeom prst="rect">
            <a:avLst/>
          </a:prstGeom>
          <a:solidFill>
            <a:srgbClr val="12A566"/>
          </a:solidFill>
          <a:ln/>
        </p:spPr>
      </p:sp>
      <p:sp>
        <p:nvSpPr>
          <p:cNvPr id="84" name="Text 82"/>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LABOR $ PER RO</a:t>
            </a:r>
            <a:endParaRPr lang="en-US" sz="1300" dirty="0"/>
          </a:p>
        </p:txBody>
      </p:sp>
      <p:sp>
        <p:nvSpPr>
          <p:cNvPr id="85" name="Text 83"/>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+5.9%</a:t>
            </a:r>
            <a:endParaRPr lang="en-US" sz="1300" dirty="0"/>
          </a:p>
        </p:txBody>
      </p:sp>
      <p:sp>
        <p:nvSpPr>
          <p:cNvPr id="86" name="Text 84"/>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Text 85"/>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88" name="Text 86"/>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89" name="Text 87"/>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90" name="Text 88"/>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91" name="Text 89"/>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92" name="Text 90"/>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93" name="Text 91"/>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94" name="Text 92"/>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95" name="Text 93"/>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96" name="Text 94"/>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97" name="Text 95"/>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vs Last Year: Profit and Process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578962" y="1691640"/>
            <a:ext cx="10973" cy="3977640"/>
          </a:xfrm>
          <a:prstGeom prst="rect">
            <a:avLst/>
          </a:prstGeom>
          <a:solidFill>
            <a:srgbClr val="D9D9D9"/>
          </a:solidFill>
          <a:ln/>
        </p:spPr>
      </p:sp>
      <p:sp>
        <p:nvSpPr>
          <p:cNvPr id="20" name="Shape 18"/>
          <p:cNvSpPr/>
          <p:nvPr/>
        </p:nvSpPr>
        <p:spPr>
          <a:xfrm>
            <a:off x="6249010" y="1691640"/>
            <a:ext cx="10973" cy="3977640"/>
          </a:xfrm>
          <a:prstGeom prst="rect">
            <a:avLst/>
          </a:prstGeom>
          <a:solidFill>
            <a:srgbClr val="D9D9D9"/>
          </a:solidFill>
          <a:ln/>
        </p:spPr>
      </p:sp>
      <p:sp>
        <p:nvSpPr>
          <p:cNvPr id="21" name="Shape 19"/>
          <p:cNvSpPr/>
          <p:nvPr/>
        </p:nvSpPr>
        <p:spPr>
          <a:xfrm>
            <a:off x="8919058" y="1691640"/>
            <a:ext cx="10973" cy="3977640"/>
          </a:xfrm>
          <a:prstGeom prst="rect">
            <a:avLst/>
          </a:prstGeom>
          <a:solidFill>
            <a:srgbClr val="D9D9D9"/>
          </a:solidFill>
          <a:ln/>
        </p:spPr>
      </p:sp>
      <p:sp>
        <p:nvSpPr>
          <p:cNvPr id="22" name="Shape 20"/>
          <p:cNvSpPr/>
          <p:nvPr/>
        </p:nvSpPr>
        <p:spPr>
          <a:xfrm>
            <a:off x="969264" y="1691640"/>
            <a:ext cx="2560320" cy="45720"/>
          </a:xfrm>
          <a:prstGeom prst="rect">
            <a:avLst/>
          </a:prstGeom>
          <a:solidFill>
            <a:srgbClr val="12A566"/>
          </a:solidFill>
          <a:ln/>
        </p:spPr>
      </p:sp>
      <p:sp>
        <p:nvSpPr>
          <p:cNvPr id="23" name="Text 21"/>
          <p:cNvSpPr txBox="1"/>
          <p:nvPr/>
        </p:nvSpPr>
        <p:spPr>
          <a:xfrm>
            <a:off x="987552"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OPS NET PROFIT</a:t>
            </a:r>
            <a:endParaRPr lang="en-US" sz="1300" dirty="0"/>
          </a:p>
        </p:txBody>
      </p:sp>
      <p:sp>
        <p:nvSpPr>
          <p:cNvPr id="24" name="Text 22"/>
          <p:cNvSpPr txBox="1"/>
          <p:nvPr/>
        </p:nvSpPr>
        <p:spPr>
          <a:xfrm>
            <a:off x="987552"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+$5.11M</a:t>
            </a:r>
            <a:endParaRPr lang="en-US" sz="1300" dirty="0"/>
          </a:p>
        </p:txBody>
      </p:sp>
      <p:sp>
        <p:nvSpPr>
          <p:cNvPr id="25" name="Text 23"/>
          <p:cNvSpPr txBox="1"/>
          <p:nvPr/>
        </p:nvSpPr>
        <p:spPr>
          <a:xfrm>
            <a:off x="987552"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6" name="Text 24"/>
          <p:cNvSpPr txBox="1"/>
          <p:nvPr/>
        </p:nvSpPr>
        <p:spPr>
          <a:xfrm>
            <a:off x="987552"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27" name="Text 25"/>
          <p:cNvSpPr txBox="1"/>
          <p:nvPr/>
        </p:nvSpPr>
        <p:spPr>
          <a:xfrm>
            <a:off x="987552"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Text 26"/>
          <p:cNvSpPr txBox="1"/>
          <p:nvPr/>
        </p:nvSpPr>
        <p:spPr>
          <a:xfrm>
            <a:off x="987552"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29" name="Text 27"/>
          <p:cNvSpPr txBox="1"/>
          <p:nvPr/>
        </p:nvSpPr>
        <p:spPr>
          <a:xfrm>
            <a:off x="987552"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0" name="Text 28"/>
          <p:cNvSpPr txBox="1"/>
          <p:nvPr/>
        </p:nvSpPr>
        <p:spPr>
          <a:xfrm>
            <a:off x="987552"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31" name="Text 29"/>
          <p:cNvSpPr txBox="1"/>
          <p:nvPr/>
        </p:nvSpPr>
        <p:spPr>
          <a:xfrm>
            <a:off x="987552"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32" name="Text 30"/>
          <p:cNvSpPr txBox="1"/>
          <p:nvPr/>
        </p:nvSpPr>
        <p:spPr>
          <a:xfrm>
            <a:off x="987552"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33" name="Text 31"/>
          <p:cNvSpPr txBox="1"/>
          <p:nvPr/>
        </p:nvSpPr>
        <p:spPr>
          <a:xfrm>
            <a:off x="987552"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34" name="Text 32"/>
          <p:cNvSpPr txBox="1"/>
          <p:nvPr/>
        </p:nvSpPr>
        <p:spPr>
          <a:xfrm>
            <a:off x="987552"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35" name="Text 33"/>
          <p:cNvSpPr txBox="1"/>
          <p:nvPr/>
        </p:nvSpPr>
        <p:spPr>
          <a:xfrm>
            <a:off x="987552"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6" name="Text 34"/>
          <p:cNvSpPr txBox="1"/>
          <p:nvPr/>
        </p:nvSpPr>
        <p:spPr>
          <a:xfrm>
            <a:off x="987552"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7" name="Shape 35"/>
          <p:cNvSpPr/>
          <p:nvPr/>
        </p:nvSpPr>
        <p:spPr>
          <a:xfrm>
            <a:off x="3639312" y="1691640"/>
            <a:ext cx="2560320" cy="45720"/>
          </a:xfrm>
          <a:prstGeom prst="rect">
            <a:avLst/>
          </a:prstGeom>
          <a:solidFill>
            <a:srgbClr val="12A566"/>
          </a:solidFill>
          <a:ln/>
        </p:spPr>
      </p:sp>
      <p:sp>
        <p:nvSpPr>
          <p:cNvPr id="38" name="Text 36"/>
          <p:cNvSpPr txBox="1"/>
          <p:nvPr/>
        </p:nvSpPr>
        <p:spPr>
          <a:xfrm>
            <a:off x="3657600"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ABSORPTION</a:t>
            </a:r>
            <a:endParaRPr lang="en-US" sz="1300" dirty="0"/>
          </a:p>
        </p:txBody>
      </p:sp>
      <p:sp>
        <p:nvSpPr>
          <p:cNvPr id="39" name="Text 37"/>
          <p:cNvSpPr txBox="1"/>
          <p:nvPr/>
        </p:nvSpPr>
        <p:spPr>
          <a:xfrm>
            <a:off x="3657600"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+2.1 pts</a:t>
            </a:r>
            <a:endParaRPr lang="en-US" sz="1300" dirty="0"/>
          </a:p>
        </p:txBody>
      </p:sp>
      <p:sp>
        <p:nvSpPr>
          <p:cNvPr id="40" name="Text 38"/>
          <p:cNvSpPr txBox="1"/>
          <p:nvPr/>
        </p:nvSpPr>
        <p:spPr>
          <a:xfrm>
            <a:off x="3657600"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41" name="Text 39"/>
          <p:cNvSpPr txBox="1"/>
          <p:nvPr/>
        </p:nvSpPr>
        <p:spPr>
          <a:xfrm>
            <a:off x="3657600"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42" name="Text 40"/>
          <p:cNvSpPr txBox="1"/>
          <p:nvPr/>
        </p:nvSpPr>
        <p:spPr>
          <a:xfrm>
            <a:off x="3657600"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3" name="Text 41"/>
          <p:cNvSpPr txBox="1"/>
          <p:nvPr/>
        </p:nvSpPr>
        <p:spPr>
          <a:xfrm>
            <a:off x="3657600"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+9.6 pts</a:t>
            </a:r>
            <a:endParaRPr lang="en-US" sz="1600" dirty="0"/>
          </a:p>
        </p:txBody>
      </p:sp>
      <p:sp>
        <p:nvSpPr>
          <p:cNvPr id="44" name="Text 42"/>
          <p:cNvSpPr txBox="1"/>
          <p:nvPr/>
        </p:nvSpPr>
        <p:spPr>
          <a:xfrm>
            <a:off x="3657600"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45" name="Text 43"/>
          <p:cNvSpPr txBox="1"/>
          <p:nvPr/>
        </p:nvSpPr>
        <p:spPr>
          <a:xfrm>
            <a:off x="3657600"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46" name="Text 44"/>
          <p:cNvSpPr txBox="1"/>
          <p:nvPr/>
        </p:nvSpPr>
        <p:spPr>
          <a:xfrm>
            <a:off x="3657600"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47" name="Text 45"/>
          <p:cNvSpPr txBox="1"/>
          <p:nvPr/>
        </p:nvSpPr>
        <p:spPr>
          <a:xfrm>
            <a:off x="3657600"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8" name="Text 46"/>
          <p:cNvSpPr txBox="1"/>
          <p:nvPr/>
        </p:nvSpPr>
        <p:spPr>
          <a:xfrm>
            <a:off x="3657600"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49" name="Text 47"/>
          <p:cNvSpPr txBox="1"/>
          <p:nvPr/>
        </p:nvSpPr>
        <p:spPr>
          <a:xfrm>
            <a:off x="3657600"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50" name="Text 48"/>
          <p:cNvSpPr txBox="1"/>
          <p:nvPr/>
        </p:nvSpPr>
        <p:spPr>
          <a:xfrm>
            <a:off x="3657600"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1" name="Text 49"/>
          <p:cNvSpPr txBox="1"/>
          <p:nvPr/>
        </p:nvSpPr>
        <p:spPr>
          <a:xfrm>
            <a:off x="3657600"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52" name="Shape 50"/>
          <p:cNvSpPr/>
          <p:nvPr/>
        </p:nvSpPr>
        <p:spPr>
          <a:xfrm>
            <a:off x="6309360" y="1691640"/>
            <a:ext cx="2560320" cy="45720"/>
          </a:xfrm>
          <a:prstGeom prst="rect">
            <a:avLst/>
          </a:prstGeom>
          <a:solidFill>
            <a:srgbClr val="12A566"/>
          </a:solidFill>
          <a:ln/>
        </p:spPr>
      </p:sp>
      <p:sp>
        <p:nvSpPr>
          <p:cNvPr id="53" name="Text 51"/>
          <p:cNvSpPr txBox="1"/>
          <p:nvPr/>
        </p:nvSpPr>
        <p:spPr>
          <a:xfrm>
            <a:off x="6327648"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54" name="Text 52"/>
          <p:cNvSpPr txBox="1"/>
          <p:nvPr/>
        </p:nvSpPr>
        <p:spPr>
          <a:xfrm>
            <a:off x="6327648"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+1.3 pts</a:t>
            </a:r>
            <a:endParaRPr lang="en-US" sz="1300" dirty="0"/>
          </a:p>
        </p:txBody>
      </p:sp>
      <p:sp>
        <p:nvSpPr>
          <p:cNvPr id="55" name="Text 53"/>
          <p:cNvSpPr txBox="1"/>
          <p:nvPr/>
        </p:nvSpPr>
        <p:spPr>
          <a:xfrm>
            <a:off x="6327648"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56" name="Text 54"/>
          <p:cNvSpPr txBox="1"/>
          <p:nvPr/>
        </p:nvSpPr>
        <p:spPr>
          <a:xfrm>
            <a:off x="6327648"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7" name="Text 55"/>
          <p:cNvSpPr txBox="1"/>
          <p:nvPr/>
        </p:nvSpPr>
        <p:spPr>
          <a:xfrm>
            <a:off x="6327648"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58" name="Text 56"/>
          <p:cNvSpPr txBox="1"/>
          <p:nvPr/>
        </p:nvSpPr>
        <p:spPr>
          <a:xfrm>
            <a:off x="6327648"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59" name="Text 57"/>
          <p:cNvSpPr txBox="1"/>
          <p:nvPr/>
        </p:nvSpPr>
        <p:spPr>
          <a:xfrm>
            <a:off x="6327648"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60" name="Text 58"/>
          <p:cNvSpPr txBox="1"/>
          <p:nvPr/>
        </p:nvSpPr>
        <p:spPr>
          <a:xfrm>
            <a:off x="6327648"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61" name="Text 59"/>
          <p:cNvSpPr txBox="1"/>
          <p:nvPr/>
        </p:nvSpPr>
        <p:spPr>
          <a:xfrm>
            <a:off x="6327648"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2" name="Text 60"/>
          <p:cNvSpPr txBox="1"/>
          <p:nvPr/>
        </p:nvSpPr>
        <p:spPr>
          <a:xfrm>
            <a:off x="6327648"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63" name="Text 61"/>
          <p:cNvSpPr txBox="1"/>
          <p:nvPr/>
        </p:nvSpPr>
        <p:spPr>
          <a:xfrm>
            <a:off x="6327648"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64" name="Text 62"/>
          <p:cNvSpPr txBox="1"/>
          <p:nvPr/>
        </p:nvSpPr>
        <p:spPr>
          <a:xfrm>
            <a:off x="6327648"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65" name="Text 63"/>
          <p:cNvSpPr txBox="1"/>
          <p:nvPr/>
        </p:nvSpPr>
        <p:spPr>
          <a:xfrm>
            <a:off x="6327648"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66" name="Text 64"/>
          <p:cNvSpPr txBox="1"/>
          <p:nvPr/>
        </p:nvSpPr>
        <p:spPr>
          <a:xfrm>
            <a:off x="6327648"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−2.2 pts</a:t>
            </a:r>
            <a:endParaRPr lang="en-US" sz="1600" dirty="0"/>
          </a:p>
        </p:txBody>
      </p:sp>
      <p:sp>
        <p:nvSpPr>
          <p:cNvPr id="67" name="Shape 65"/>
          <p:cNvSpPr/>
          <p:nvPr/>
        </p:nvSpPr>
        <p:spPr>
          <a:xfrm>
            <a:off x="8979408" y="1691640"/>
            <a:ext cx="2560320" cy="45720"/>
          </a:xfrm>
          <a:prstGeom prst="rect">
            <a:avLst/>
          </a:prstGeom>
          <a:solidFill>
            <a:srgbClr val="12A566"/>
          </a:solidFill>
          <a:ln/>
        </p:spPr>
      </p:sp>
      <p:sp>
        <p:nvSpPr>
          <p:cNvPr id="68" name="Text 66"/>
          <p:cNvSpPr txBox="1"/>
          <p:nvPr/>
        </p:nvSpPr>
        <p:spPr>
          <a:xfrm>
            <a:off x="8997696"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OPCODES, FOUR COMBINED</a:t>
            </a:r>
            <a:endParaRPr lang="en-US" sz="1300" dirty="0"/>
          </a:p>
        </p:txBody>
      </p:sp>
      <p:sp>
        <p:nvSpPr>
          <p:cNvPr id="69" name="Text 67"/>
          <p:cNvSpPr txBox="1"/>
          <p:nvPr/>
        </p:nvSpPr>
        <p:spPr>
          <a:xfrm>
            <a:off x="8997696"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+5.4 pts</a:t>
            </a:r>
            <a:endParaRPr lang="en-US" sz="1300" dirty="0"/>
          </a:p>
        </p:txBody>
      </p:sp>
      <p:sp>
        <p:nvSpPr>
          <p:cNvPr id="70" name="Text 68"/>
          <p:cNvSpPr txBox="1"/>
          <p:nvPr/>
        </p:nvSpPr>
        <p:spPr>
          <a:xfrm>
            <a:off x="8997696"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71" name="Text 69"/>
          <p:cNvSpPr txBox="1"/>
          <p:nvPr/>
        </p:nvSpPr>
        <p:spPr>
          <a:xfrm>
            <a:off x="8997696"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+30.3 pts</a:t>
            </a:r>
            <a:endParaRPr lang="en-US" sz="1600" dirty="0"/>
          </a:p>
        </p:txBody>
      </p:sp>
      <p:sp>
        <p:nvSpPr>
          <p:cNvPr id="72" name="Text 70"/>
          <p:cNvSpPr txBox="1"/>
          <p:nvPr/>
        </p:nvSpPr>
        <p:spPr>
          <a:xfrm>
            <a:off x="8997696"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Text 71"/>
          <p:cNvSpPr txBox="1"/>
          <p:nvPr/>
        </p:nvSpPr>
        <p:spPr>
          <a:xfrm>
            <a:off x="8997696"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+28.4 pts</a:t>
            </a:r>
            <a:endParaRPr lang="en-US" sz="1600" dirty="0"/>
          </a:p>
        </p:txBody>
      </p:sp>
      <p:sp>
        <p:nvSpPr>
          <p:cNvPr id="74" name="Text 72"/>
          <p:cNvSpPr txBox="1"/>
          <p:nvPr/>
        </p:nvSpPr>
        <p:spPr>
          <a:xfrm>
            <a:off x="8997696"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75" name="Text 73"/>
          <p:cNvSpPr txBox="1"/>
          <p:nvPr/>
        </p:nvSpPr>
        <p:spPr>
          <a:xfrm>
            <a:off x="8997696"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+21.0 pts</a:t>
            </a:r>
            <a:endParaRPr lang="en-US" sz="1600" dirty="0"/>
          </a:p>
        </p:txBody>
      </p:sp>
      <p:sp>
        <p:nvSpPr>
          <p:cNvPr id="76" name="Text 74"/>
          <p:cNvSpPr txBox="1"/>
          <p:nvPr/>
        </p:nvSpPr>
        <p:spPr>
          <a:xfrm>
            <a:off x="8997696"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7" name="Text 75"/>
          <p:cNvSpPr txBox="1"/>
          <p:nvPr/>
        </p:nvSpPr>
        <p:spPr>
          <a:xfrm>
            <a:off x="8997696"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−0.7 pts</a:t>
            </a:r>
            <a:endParaRPr lang="en-US" sz="1600" dirty="0"/>
          </a:p>
        </p:txBody>
      </p:sp>
      <p:sp>
        <p:nvSpPr>
          <p:cNvPr id="78" name="Text 76"/>
          <p:cNvSpPr txBox="1"/>
          <p:nvPr/>
        </p:nvSpPr>
        <p:spPr>
          <a:xfrm>
            <a:off x="8997696"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LV</a:t>
            </a:r>
            <a:endParaRPr lang="en-US" sz="1300" dirty="0"/>
          </a:p>
        </p:txBody>
      </p:sp>
      <p:sp>
        <p:nvSpPr>
          <p:cNvPr id="79" name="Text 77"/>
          <p:cNvSpPr txBox="1"/>
          <p:nvPr/>
        </p:nvSpPr>
        <p:spPr>
          <a:xfrm>
            <a:off x="8997696"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80" name="Text 78"/>
          <p:cNvSpPr txBox="1"/>
          <p:nvPr/>
        </p:nvSpPr>
        <p:spPr>
          <a:xfrm>
            <a:off x="8997696"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81" name="Text 79"/>
          <p:cNvSpPr txBox="1"/>
          <p:nvPr/>
        </p:nvSpPr>
        <p:spPr>
          <a:xfrm>
            <a:off x="8997696"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This Year: Customer Pay</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044952" y="1691640"/>
            <a:ext cx="10973" cy="3977640"/>
          </a:xfrm>
          <a:prstGeom prst="rect">
            <a:avLst/>
          </a:prstGeom>
          <a:solidFill>
            <a:srgbClr val="D9D9D9"/>
          </a:solidFill>
          <a:ln/>
        </p:spPr>
      </p:sp>
      <p:sp>
        <p:nvSpPr>
          <p:cNvPr id="20" name="Shape 18"/>
          <p:cNvSpPr/>
          <p:nvPr/>
        </p:nvSpPr>
        <p:spPr>
          <a:xfrm>
            <a:off x="5180990" y="1691640"/>
            <a:ext cx="10973" cy="3977640"/>
          </a:xfrm>
          <a:prstGeom prst="rect">
            <a:avLst/>
          </a:prstGeom>
          <a:solidFill>
            <a:srgbClr val="D9D9D9"/>
          </a:solidFill>
          <a:ln/>
        </p:spPr>
      </p:sp>
      <p:sp>
        <p:nvSpPr>
          <p:cNvPr id="21" name="Shape 19"/>
          <p:cNvSpPr/>
          <p:nvPr/>
        </p:nvSpPr>
        <p:spPr>
          <a:xfrm>
            <a:off x="7317029" y="1691640"/>
            <a:ext cx="10973" cy="3977640"/>
          </a:xfrm>
          <a:prstGeom prst="rect">
            <a:avLst/>
          </a:prstGeom>
          <a:solidFill>
            <a:srgbClr val="D9D9D9"/>
          </a:solidFill>
          <a:ln/>
        </p:spPr>
      </p:sp>
      <p:sp>
        <p:nvSpPr>
          <p:cNvPr id="22" name="Shape 20"/>
          <p:cNvSpPr/>
          <p:nvPr/>
        </p:nvSpPr>
        <p:spPr>
          <a:xfrm>
            <a:off x="9453067" y="1691640"/>
            <a:ext cx="10973" cy="3977640"/>
          </a:xfrm>
          <a:prstGeom prst="rect">
            <a:avLst/>
          </a:prstGeom>
          <a:solidFill>
            <a:srgbClr val="D9D9D9"/>
          </a:solidFill>
          <a:ln/>
        </p:spPr>
      </p:sp>
      <p:sp>
        <p:nvSpPr>
          <p:cNvPr id="23" name="Shape 21"/>
          <p:cNvSpPr/>
          <p:nvPr/>
        </p:nvSpPr>
        <p:spPr>
          <a:xfrm>
            <a:off x="969264" y="1691640"/>
            <a:ext cx="2026310" cy="45720"/>
          </a:xfrm>
          <a:prstGeom prst="rect">
            <a:avLst/>
          </a:prstGeom>
          <a:solidFill>
            <a:srgbClr val="12A566"/>
          </a:solidFill>
          <a:ln/>
        </p:spPr>
      </p:sp>
      <p:sp>
        <p:nvSpPr>
          <p:cNvPr id="24" name="Text 22"/>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5" name="Text 23"/>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6" name="Text 24"/>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7" name="Text 25"/>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8" name="Text 26"/>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9" name="Text 27"/>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30" name="Text 28"/>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Text 29"/>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2" name="Text 30"/>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33" name="Text 31"/>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a:t>
            </a:r>
            <a:endParaRPr lang="en-US" sz="1600" dirty="0"/>
          </a:p>
        </p:txBody>
      </p:sp>
      <p:sp>
        <p:nvSpPr>
          <p:cNvPr id="34" name="Text 32"/>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5" name="Text 33"/>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a:t>
            </a:r>
            <a:endParaRPr lang="en-US" sz="1600" dirty="0"/>
          </a:p>
        </p:txBody>
      </p:sp>
      <p:sp>
        <p:nvSpPr>
          <p:cNvPr id="36" name="Text 34"/>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7" name="Text 35"/>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8" name="Shape 36"/>
          <p:cNvSpPr/>
          <p:nvPr/>
        </p:nvSpPr>
        <p:spPr>
          <a:xfrm>
            <a:off x="3105302" y="1691640"/>
            <a:ext cx="2026310" cy="45720"/>
          </a:xfrm>
          <a:prstGeom prst="rect">
            <a:avLst/>
          </a:prstGeom>
          <a:solidFill>
            <a:srgbClr val="12A566"/>
          </a:solidFill>
          <a:ln/>
        </p:spPr>
      </p:sp>
      <p:sp>
        <p:nvSpPr>
          <p:cNvPr id="39" name="Text 37"/>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40" name="Text 38"/>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41" name="Text 39"/>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42" name="Text 40"/>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43" name="Text 41"/>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4" name="Text 42"/>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5" name="Text 43"/>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6" name="Text 44"/>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47" name="Text 45"/>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a:t>
            </a:r>
            <a:endParaRPr lang="en-US" sz="1600" dirty="0"/>
          </a:p>
        </p:txBody>
      </p:sp>
      <p:sp>
        <p:nvSpPr>
          <p:cNvPr id="49" name="Text 47"/>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Text 48"/>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1" name="Text 49"/>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52" name="Text 50"/>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53" name="Shape 51"/>
          <p:cNvSpPr/>
          <p:nvPr/>
        </p:nvSpPr>
        <p:spPr>
          <a:xfrm>
            <a:off x="5241341" y="1691640"/>
            <a:ext cx="2026310" cy="45720"/>
          </a:xfrm>
          <a:prstGeom prst="rect">
            <a:avLst/>
          </a:prstGeom>
          <a:solidFill>
            <a:srgbClr val="12A566"/>
          </a:solidFill>
          <a:ln/>
        </p:spPr>
      </p:sp>
      <p:sp>
        <p:nvSpPr>
          <p:cNvPr id="54" name="Text 52"/>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5" name="Text 53"/>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−1.9%</a:t>
            </a:r>
            <a:endParaRPr lang="en-US" sz="1300" dirty="0"/>
          </a:p>
        </p:txBody>
      </p:sp>
      <p:sp>
        <p:nvSpPr>
          <p:cNvPr id="56" name="Text 54"/>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7" name="Text 55"/>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58" name="Text 56"/>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9" name="Text 57"/>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60" name="Text 58"/>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61" name="Text 59"/>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62" name="Text 60"/>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Text 61"/>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−10.0%</a:t>
            </a:r>
            <a:endParaRPr lang="en-US" sz="1600" dirty="0"/>
          </a:p>
        </p:txBody>
      </p:sp>
      <p:sp>
        <p:nvSpPr>
          <p:cNvPr id="64" name="Text 62"/>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5" name="Text 63"/>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66" name="Text 64"/>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7" name="Text 65"/>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68" name="Shape 66"/>
          <p:cNvSpPr/>
          <p:nvPr/>
        </p:nvSpPr>
        <p:spPr>
          <a:xfrm>
            <a:off x="7377379" y="1691640"/>
            <a:ext cx="2026310" cy="45720"/>
          </a:xfrm>
          <a:prstGeom prst="rect">
            <a:avLst/>
          </a:prstGeom>
          <a:solidFill>
            <a:srgbClr val="12A566"/>
          </a:solidFill>
          <a:ln/>
        </p:spPr>
      </p:sp>
      <p:sp>
        <p:nvSpPr>
          <p:cNvPr id="69" name="Text 67"/>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70" name="Text 68"/>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71" name="Text 69"/>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72" name="Text 70"/>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73" name="Text 71"/>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4" name="Text 72"/>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5" name="Text 73"/>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6" name="Text 74"/>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7" name="Text 75"/>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Text 76"/>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79" name="Text 77"/>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80" name="Text 78"/>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−4.8%</a:t>
            </a:r>
            <a:endParaRPr lang="en-US" sz="1600" dirty="0"/>
          </a:p>
        </p:txBody>
      </p:sp>
      <p:sp>
        <p:nvSpPr>
          <p:cNvPr id="81" name="Text 79"/>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2" name="Text 80"/>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83" name="Shape 81"/>
          <p:cNvSpPr/>
          <p:nvPr/>
        </p:nvSpPr>
        <p:spPr>
          <a:xfrm>
            <a:off x="9513418" y="1691640"/>
            <a:ext cx="2026310" cy="45720"/>
          </a:xfrm>
          <a:prstGeom prst="rect">
            <a:avLst/>
          </a:prstGeom>
          <a:solidFill>
            <a:srgbClr val="12A566"/>
          </a:solidFill>
          <a:ln/>
        </p:spPr>
      </p:sp>
      <p:sp>
        <p:nvSpPr>
          <p:cNvPr id="84" name="Text 82"/>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LABOR $ PER RO</a:t>
            </a:r>
            <a:endParaRPr lang="en-US" sz="1300" dirty="0"/>
          </a:p>
        </p:txBody>
      </p:sp>
      <p:sp>
        <p:nvSpPr>
          <p:cNvPr id="85" name="Text 83"/>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−0.8%</a:t>
            </a:r>
            <a:endParaRPr lang="en-US" sz="1300" dirty="0"/>
          </a:p>
        </p:txBody>
      </p:sp>
      <p:sp>
        <p:nvSpPr>
          <p:cNvPr id="86" name="Text 84"/>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87" name="Text 85"/>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88" name="Text 86"/>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89" name="Text 87"/>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90" name="Text 88"/>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1" name="Text 89"/>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92" name="Text 90"/>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93" name="Text 91"/>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−11.1%</a:t>
            </a:r>
            <a:endParaRPr lang="en-US" sz="1600" dirty="0"/>
          </a:p>
        </p:txBody>
      </p:sp>
      <p:sp>
        <p:nvSpPr>
          <p:cNvPr id="94" name="Text 92"/>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95" name="Text 93"/>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96" name="Text 94"/>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7" name="Text 95"/>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−12.3%</a:t>
            </a:r>
            <a:endParaRPr lang="en-US" sz="16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This Year: Profit and Process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578962" y="1691640"/>
            <a:ext cx="10973" cy="3977640"/>
          </a:xfrm>
          <a:prstGeom prst="rect">
            <a:avLst/>
          </a:prstGeom>
          <a:solidFill>
            <a:srgbClr val="D9D9D9"/>
          </a:solidFill>
          <a:ln/>
        </p:spPr>
      </p:sp>
      <p:sp>
        <p:nvSpPr>
          <p:cNvPr id="20" name="Shape 18"/>
          <p:cNvSpPr/>
          <p:nvPr/>
        </p:nvSpPr>
        <p:spPr>
          <a:xfrm>
            <a:off x="6249010" y="1691640"/>
            <a:ext cx="10973" cy="3977640"/>
          </a:xfrm>
          <a:prstGeom prst="rect">
            <a:avLst/>
          </a:prstGeom>
          <a:solidFill>
            <a:srgbClr val="D9D9D9"/>
          </a:solidFill>
          <a:ln/>
        </p:spPr>
      </p:sp>
      <p:sp>
        <p:nvSpPr>
          <p:cNvPr id="21" name="Shape 19"/>
          <p:cNvSpPr/>
          <p:nvPr/>
        </p:nvSpPr>
        <p:spPr>
          <a:xfrm>
            <a:off x="8919058" y="1691640"/>
            <a:ext cx="10973" cy="3977640"/>
          </a:xfrm>
          <a:prstGeom prst="rect">
            <a:avLst/>
          </a:prstGeom>
          <a:solidFill>
            <a:srgbClr val="D9D9D9"/>
          </a:solidFill>
          <a:ln/>
        </p:spPr>
      </p:sp>
      <p:sp>
        <p:nvSpPr>
          <p:cNvPr id="22" name="Shape 20"/>
          <p:cNvSpPr/>
          <p:nvPr/>
        </p:nvSpPr>
        <p:spPr>
          <a:xfrm>
            <a:off x="969264" y="1691640"/>
            <a:ext cx="2560320" cy="45720"/>
          </a:xfrm>
          <a:prstGeom prst="rect">
            <a:avLst/>
          </a:prstGeom>
          <a:solidFill>
            <a:srgbClr val="12A566"/>
          </a:solidFill>
          <a:ln/>
        </p:spPr>
      </p:sp>
      <p:sp>
        <p:nvSpPr>
          <p:cNvPr id="23" name="Text 21"/>
          <p:cNvSpPr txBox="1"/>
          <p:nvPr/>
        </p:nvSpPr>
        <p:spPr>
          <a:xfrm>
            <a:off x="987552"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OPS NET PROFIT</a:t>
            </a:r>
            <a:endParaRPr lang="en-US" sz="1300" dirty="0"/>
          </a:p>
        </p:txBody>
      </p:sp>
      <p:sp>
        <p:nvSpPr>
          <p:cNvPr id="24" name="Text 22"/>
          <p:cNvSpPr txBox="1"/>
          <p:nvPr/>
        </p:nvSpPr>
        <p:spPr>
          <a:xfrm>
            <a:off x="987552"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+$1.05M</a:t>
            </a:r>
            <a:endParaRPr lang="en-US" sz="1300" dirty="0"/>
          </a:p>
        </p:txBody>
      </p:sp>
      <p:sp>
        <p:nvSpPr>
          <p:cNvPr id="25" name="Text 23"/>
          <p:cNvSpPr txBox="1"/>
          <p:nvPr/>
        </p:nvSpPr>
        <p:spPr>
          <a:xfrm>
            <a:off x="987552"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26" name="Text 24"/>
          <p:cNvSpPr txBox="1"/>
          <p:nvPr/>
        </p:nvSpPr>
        <p:spPr>
          <a:xfrm>
            <a:off x="987552"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27" name="Text 25"/>
          <p:cNvSpPr txBox="1"/>
          <p:nvPr/>
        </p:nvSpPr>
        <p:spPr>
          <a:xfrm>
            <a:off x="987552"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Text 26"/>
          <p:cNvSpPr txBox="1"/>
          <p:nvPr/>
        </p:nvSpPr>
        <p:spPr>
          <a:xfrm>
            <a:off x="987552"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29" name="Text 27"/>
          <p:cNvSpPr txBox="1"/>
          <p:nvPr/>
        </p:nvSpPr>
        <p:spPr>
          <a:xfrm>
            <a:off x="987552"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0" name="Text 28"/>
          <p:cNvSpPr txBox="1"/>
          <p:nvPr/>
        </p:nvSpPr>
        <p:spPr>
          <a:xfrm>
            <a:off x="987552"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31" name="Text 29"/>
          <p:cNvSpPr txBox="1"/>
          <p:nvPr/>
        </p:nvSpPr>
        <p:spPr>
          <a:xfrm>
            <a:off x="987552"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2" name="Text 30"/>
          <p:cNvSpPr txBox="1"/>
          <p:nvPr/>
        </p:nvSpPr>
        <p:spPr>
          <a:xfrm>
            <a:off x="987552"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−$25K</a:t>
            </a:r>
            <a:endParaRPr lang="en-US" sz="1600" dirty="0"/>
          </a:p>
        </p:txBody>
      </p:sp>
      <p:sp>
        <p:nvSpPr>
          <p:cNvPr id="33" name="Text 31"/>
          <p:cNvSpPr txBox="1"/>
          <p:nvPr/>
        </p:nvSpPr>
        <p:spPr>
          <a:xfrm>
            <a:off x="987552"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34" name="Text 32"/>
          <p:cNvSpPr txBox="1"/>
          <p:nvPr/>
        </p:nvSpPr>
        <p:spPr>
          <a:xfrm>
            <a:off x="987552"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−$30K</a:t>
            </a:r>
            <a:endParaRPr lang="en-US" sz="1600" dirty="0"/>
          </a:p>
        </p:txBody>
      </p:sp>
      <p:sp>
        <p:nvSpPr>
          <p:cNvPr id="35" name="Text 33"/>
          <p:cNvSpPr txBox="1"/>
          <p:nvPr/>
        </p:nvSpPr>
        <p:spPr>
          <a:xfrm>
            <a:off x="987552"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6" name="Text 34"/>
          <p:cNvSpPr txBox="1"/>
          <p:nvPr/>
        </p:nvSpPr>
        <p:spPr>
          <a:xfrm>
            <a:off x="987552"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−$61K</a:t>
            </a:r>
            <a:endParaRPr lang="en-US" sz="1600" dirty="0"/>
          </a:p>
        </p:txBody>
      </p:sp>
      <p:sp>
        <p:nvSpPr>
          <p:cNvPr id="37" name="Shape 35"/>
          <p:cNvSpPr/>
          <p:nvPr/>
        </p:nvSpPr>
        <p:spPr>
          <a:xfrm>
            <a:off x="3639312" y="1691640"/>
            <a:ext cx="2560320" cy="45720"/>
          </a:xfrm>
          <a:prstGeom prst="rect">
            <a:avLst/>
          </a:prstGeom>
          <a:solidFill>
            <a:srgbClr val="12A566"/>
          </a:solidFill>
          <a:ln/>
        </p:spPr>
      </p:sp>
      <p:sp>
        <p:nvSpPr>
          <p:cNvPr id="38" name="Text 36"/>
          <p:cNvSpPr txBox="1"/>
          <p:nvPr/>
        </p:nvSpPr>
        <p:spPr>
          <a:xfrm>
            <a:off x="3657600"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ABSORPTION</a:t>
            </a:r>
            <a:endParaRPr lang="en-US" sz="1300" dirty="0"/>
          </a:p>
        </p:txBody>
      </p:sp>
      <p:sp>
        <p:nvSpPr>
          <p:cNvPr id="39" name="Text 37"/>
          <p:cNvSpPr txBox="1"/>
          <p:nvPr/>
        </p:nvSpPr>
        <p:spPr>
          <a:xfrm>
            <a:off x="3657600"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+4.2 pts</a:t>
            </a:r>
            <a:endParaRPr lang="en-US" sz="1300" dirty="0"/>
          </a:p>
        </p:txBody>
      </p:sp>
      <p:sp>
        <p:nvSpPr>
          <p:cNvPr id="40" name="Text 38"/>
          <p:cNvSpPr txBox="1"/>
          <p:nvPr/>
        </p:nvSpPr>
        <p:spPr>
          <a:xfrm>
            <a:off x="3657600"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Henderson</a:t>
            </a:r>
            <a:endParaRPr lang="en-US" sz="1300" dirty="0"/>
          </a:p>
        </p:txBody>
      </p:sp>
      <p:sp>
        <p:nvSpPr>
          <p:cNvPr id="41" name="Text 39"/>
          <p:cNvSpPr txBox="1"/>
          <p:nvPr/>
        </p:nvSpPr>
        <p:spPr>
          <a:xfrm>
            <a:off x="3657600"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+16.2 pts</a:t>
            </a:r>
            <a:endParaRPr lang="en-US" sz="1600" dirty="0"/>
          </a:p>
        </p:txBody>
      </p:sp>
      <p:sp>
        <p:nvSpPr>
          <p:cNvPr id="42" name="Text 40"/>
          <p:cNvSpPr txBox="1"/>
          <p:nvPr/>
        </p:nvSpPr>
        <p:spPr>
          <a:xfrm>
            <a:off x="3657600"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43" name="Text 41"/>
          <p:cNvSpPr txBox="1"/>
          <p:nvPr/>
        </p:nvSpPr>
        <p:spPr>
          <a:xfrm>
            <a:off x="3657600"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44" name="Text 42"/>
          <p:cNvSpPr txBox="1"/>
          <p:nvPr/>
        </p:nvSpPr>
        <p:spPr>
          <a:xfrm>
            <a:off x="3657600"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45" name="Text 43"/>
          <p:cNvSpPr txBox="1"/>
          <p:nvPr/>
        </p:nvSpPr>
        <p:spPr>
          <a:xfrm>
            <a:off x="3657600"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46" name="Text 44"/>
          <p:cNvSpPr txBox="1"/>
          <p:nvPr/>
        </p:nvSpPr>
        <p:spPr>
          <a:xfrm>
            <a:off x="3657600"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7" name="Text 45"/>
          <p:cNvSpPr txBox="1"/>
          <p:nvPr/>
        </p:nvSpPr>
        <p:spPr>
          <a:xfrm>
            <a:off x="3657600"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8" name="Text 46"/>
          <p:cNvSpPr txBox="1"/>
          <p:nvPr/>
        </p:nvSpPr>
        <p:spPr>
          <a:xfrm>
            <a:off x="3657600"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49" name="Text 47"/>
          <p:cNvSpPr txBox="1"/>
          <p:nvPr/>
        </p:nvSpPr>
        <p:spPr>
          <a:xfrm>
            <a:off x="3657600"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−6.6 pts</a:t>
            </a:r>
            <a:endParaRPr lang="en-US" sz="1600" dirty="0"/>
          </a:p>
        </p:txBody>
      </p:sp>
      <p:sp>
        <p:nvSpPr>
          <p:cNvPr id="50" name="Text 48"/>
          <p:cNvSpPr txBox="1"/>
          <p:nvPr/>
        </p:nvSpPr>
        <p:spPr>
          <a:xfrm>
            <a:off x="3657600"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51" name="Text 49"/>
          <p:cNvSpPr txBox="1"/>
          <p:nvPr/>
        </p:nvSpPr>
        <p:spPr>
          <a:xfrm>
            <a:off x="3657600"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52" name="Shape 50"/>
          <p:cNvSpPr/>
          <p:nvPr/>
        </p:nvSpPr>
        <p:spPr>
          <a:xfrm>
            <a:off x="6309360" y="1691640"/>
            <a:ext cx="2560320" cy="45720"/>
          </a:xfrm>
          <a:prstGeom prst="rect">
            <a:avLst/>
          </a:prstGeom>
          <a:solidFill>
            <a:srgbClr val="12A566"/>
          </a:solidFill>
          <a:ln/>
        </p:spPr>
      </p:sp>
      <p:sp>
        <p:nvSpPr>
          <p:cNvPr id="53" name="Text 51"/>
          <p:cNvSpPr txBox="1"/>
          <p:nvPr/>
        </p:nvSpPr>
        <p:spPr>
          <a:xfrm>
            <a:off x="6327648"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54" name="Text 52"/>
          <p:cNvSpPr txBox="1"/>
          <p:nvPr/>
        </p:nvSpPr>
        <p:spPr>
          <a:xfrm>
            <a:off x="6327648"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 (flat)</a:t>
            </a:r>
            <a:endParaRPr lang="en-US" sz="1300" dirty="0"/>
          </a:p>
        </p:txBody>
      </p:sp>
      <p:sp>
        <p:nvSpPr>
          <p:cNvPr id="55" name="Text 53"/>
          <p:cNvSpPr txBox="1"/>
          <p:nvPr/>
        </p:nvSpPr>
        <p:spPr>
          <a:xfrm>
            <a:off x="6327648"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56" name="Text 54"/>
          <p:cNvSpPr txBox="1"/>
          <p:nvPr/>
        </p:nvSpPr>
        <p:spPr>
          <a:xfrm>
            <a:off x="6327648"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6327648"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Text 56"/>
          <p:cNvSpPr txBox="1"/>
          <p:nvPr/>
        </p:nvSpPr>
        <p:spPr>
          <a:xfrm>
            <a:off x="6327648"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59" name="Text 57"/>
          <p:cNvSpPr txBox="1"/>
          <p:nvPr/>
        </p:nvSpPr>
        <p:spPr>
          <a:xfrm>
            <a:off x="6327648"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60" name="Text 58"/>
          <p:cNvSpPr txBox="1"/>
          <p:nvPr/>
        </p:nvSpPr>
        <p:spPr>
          <a:xfrm>
            <a:off x="6327648"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1" name="Text 59"/>
          <p:cNvSpPr txBox="1"/>
          <p:nvPr/>
        </p:nvSpPr>
        <p:spPr>
          <a:xfrm>
            <a:off x="6327648"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62" name="Text 60"/>
          <p:cNvSpPr txBox="1"/>
          <p:nvPr/>
        </p:nvSpPr>
        <p:spPr>
          <a:xfrm>
            <a:off x="6327648"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−3.2 pts</a:t>
            </a:r>
            <a:endParaRPr lang="en-US" sz="1600" dirty="0"/>
          </a:p>
        </p:txBody>
      </p:sp>
      <p:sp>
        <p:nvSpPr>
          <p:cNvPr id="63" name="Text 61"/>
          <p:cNvSpPr txBox="1"/>
          <p:nvPr/>
        </p:nvSpPr>
        <p:spPr>
          <a:xfrm>
            <a:off x="6327648"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64" name="Text 62"/>
          <p:cNvSpPr txBox="1"/>
          <p:nvPr/>
        </p:nvSpPr>
        <p:spPr>
          <a:xfrm>
            <a:off x="6327648"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−3.9 pts</a:t>
            </a:r>
            <a:endParaRPr lang="en-US" sz="1600" dirty="0"/>
          </a:p>
        </p:txBody>
      </p:sp>
      <p:sp>
        <p:nvSpPr>
          <p:cNvPr id="65" name="Text 63"/>
          <p:cNvSpPr txBox="1"/>
          <p:nvPr/>
        </p:nvSpPr>
        <p:spPr>
          <a:xfrm>
            <a:off x="6327648"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327648"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67" name="Shape 65"/>
          <p:cNvSpPr/>
          <p:nvPr/>
        </p:nvSpPr>
        <p:spPr>
          <a:xfrm>
            <a:off x="8979408" y="1691640"/>
            <a:ext cx="2560320" cy="45720"/>
          </a:xfrm>
          <a:prstGeom prst="rect">
            <a:avLst/>
          </a:prstGeom>
          <a:solidFill>
            <a:srgbClr val="12A566"/>
          </a:solidFill>
          <a:ln/>
        </p:spPr>
      </p:sp>
      <p:sp>
        <p:nvSpPr>
          <p:cNvPr id="68" name="Text 66"/>
          <p:cNvSpPr txBox="1"/>
          <p:nvPr/>
        </p:nvSpPr>
        <p:spPr>
          <a:xfrm>
            <a:off x="8997696"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OPCODES, FOUR COMBINED</a:t>
            </a:r>
            <a:endParaRPr lang="en-US" sz="1300" dirty="0"/>
          </a:p>
        </p:txBody>
      </p:sp>
      <p:sp>
        <p:nvSpPr>
          <p:cNvPr id="69" name="Text 67"/>
          <p:cNvSpPr txBox="1"/>
          <p:nvPr/>
        </p:nvSpPr>
        <p:spPr>
          <a:xfrm>
            <a:off x="8997696"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 (flat)</a:t>
            </a:r>
            <a:endParaRPr lang="en-US" sz="1300" dirty="0"/>
          </a:p>
        </p:txBody>
      </p:sp>
      <p:sp>
        <p:nvSpPr>
          <p:cNvPr id="70" name="Text 68"/>
          <p:cNvSpPr txBox="1"/>
          <p:nvPr/>
        </p:nvSpPr>
        <p:spPr>
          <a:xfrm>
            <a:off x="8997696"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71" name="Text 69"/>
          <p:cNvSpPr txBox="1"/>
          <p:nvPr/>
        </p:nvSpPr>
        <p:spPr>
          <a:xfrm>
            <a:off x="8997696"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+36.4 pts</a:t>
            </a:r>
            <a:endParaRPr lang="en-US" sz="1600" dirty="0"/>
          </a:p>
        </p:txBody>
      </p:sp>
      <p:sp>
        <p:nvSpPr>
          <p:cNvPr id="72" name="Text 70"/>
          <p:cNvSpPr txBox="1"/>
          <p:nvPr/>
        </p:nvSpPr>
        <p:spPr>
          <a:xfrm>
            <a:off x="8997696"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73" name="Text 71"/>
          <p:cNvSpPr txBox="1"/>
          <p:nvPr/>
        </p:nvSpPr>
        <p:spPr>
          <a:xfrm>
            <a:off x="8997696"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 pts</a:t>
            </a:r>
            <a:endParaRPr lang="en-US" sz="1600" dirty="0"/>
          </a:p>
        </p:txBody>
      </p:sp>
      <p:sp>
        <p:nvSpPr>
          <p:cNvPr id="74" name="Text 72"/>
          <p:cNvSpPr txBox="1"/>
          <p:nvPr/>
        </p:nvSpPr>
        <p:spPr>
          <a:xfrm>
            <a:off x="8997696"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75" name="Text 73"/>
          <p:cNvSpPr txBox="1"/>
          <p:nvPr/>
        </p:nvSpPr>
        <p:spPr>
          <a:xfrm>
            <a:off x="8997696"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+15.9 pts</a:t>
            </a:r>
            <a:endParaRPr lang="en-US" sz="1600" dirty="0"/>
          </a:p>
        </p:txBody>
      </p:sp>
      <p:sp>
        <p:nvSpPr>
          <p:cNvPr id="76" name="Text 74"/>
          <p:cNvSpPr txBox="1"/>
          <p:nvPr/>
        </p:nvSpPr>
        <p:spPr>
          <a:xfrm>
            <a:off x="8997696"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77" name="Text 75"/>
          <p:cNvSpPr txBox="1"/>
          <p:nvPr/>
        </p:nvSpPr>
        <p:spPr>
          <a:xfrm>
            <a:off x="8997696"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−8.1 pts</a:t>
            </a:r>
            <a:endParaRPr lang="en-US" sz="1600" dirty="0"/>
          </a:p>
        </p:txBody>
      </p:sp>
      <p:sp>
        <p:nvSpPr>
          <p:cNvPr id="78" name="Text 76"/>
          <p:cNvSpPr txBox="1"/>
          <p:nvPr/>
        </p:nvSpPr>
        <p:spPr>
          <a:xfrm>
            <a:off x="8997696"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9" name="Text 77"/>
          <p:cNvSpPr txBox="1"/>
          <p:nvPr/>
        </p:nvSpPr>
        <p:spPr>
          <a:xfrm>
            <a:off x="8997696"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80" name="Text 78"/>
          <p:cNvSpPr txBox="1"/>
          <p:nvPr/>
        </p:nvSpPr>
        <p:spPr>
          <a:xfrm>
            <a:off x="8997696"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81" name="Text 79"/>
          <p:cNvSpPr txBox="1"/>
          <p:nvPr/>
        </p:nvSpPr>
        <p:spPr>
          <a:xfrm>
            <a:off x="8997696"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−11.3 pts</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Vs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eight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Text 9"/>
          <p:cNvSpPr txBox="1"/>
          <p:nvPr/>
        </p:nvSpPr>
        <p:spPr>
          <a:xfrm>
            <a:off x="731520" y="2478024"/>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gross, ELR, parts GP, labor/RO, absorption, opcodes</a:t>
            </a:r>
            <a:endParaRPr lang="en-US" sz="1300" dirty="0"/>
          </a:p>
        </p:txBody>
      </p:sp>
      <p:sp>
        <p:nvSpPr>
          <p:cNvPr id="12" name="Shape 10"/>
          <p:cNvSpPr/>
          <p:nvPr/>
        </p:nvSpPr>
        <p:spPr>
          <a:xfrm>
            <a:off x="4892040" y="2351837"/>
            <a:ext cx="36576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5" name="Text 13"/>
          <p:cNvSpPr txBox="1"/>
          <p:nvPr/>
        </p:nvSpPr>
        <p:spPr>
          <a:xfrm>
            <a:off x="731520" y="3063240"/>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gross, hrs/RO, ELR, parts GP, labor/RO, opcodes</a:t>
            </a:r>
            <a:endParaRPr lang="en-US" sz="1300" dirty="0"/>
          </a:p>
        </p:txBody>
      </p:sp>
      <p:sp>
        <p:nvSpPr>
          <p:cNvPr id="16" name="Shape 14"/>
          <p:cNvSpPr/>
          <p:nvPr/>
        </p:nvSpPr>
        <p:spPr>
          <a:xfrm>
            <a:off x="4892040" y="2937053"/>
            <a:ext cx="36576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8"/>
          <p:cNvSpPr txBox="1"/>
          <p:nvPr/>
        </p:nvSpPr>
        <p:spPr>
          <a:xfrm>
            <a:off x="731520" y="3648456"/>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gross, hrs/RO, labor/RO, opcodes</a:t>
            </a:r>
            <a:endParaRPr lang="en-US" sz="1300" dirty="0"/>
          </a:p>
        </p:txBody>
      </p:sp>
      <p:sp>
        <p:nvSpPr>
          <p:cNvPr id="21" name="Shape 19"/>
          <p:cNvSpPr/>
          <p:nvPr/>
        </p:nvSpPr>
        <p:spPr>
          <a:xfrm>
            <a:off x="4892040" y="3522269"/>
            <a:ext cx="24384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23" name="Shape 21"/>
          <p:cNvSpPr/>
          <p:nvPr/>
        </p:nvSpPr>
        <p:spPr>
          <a:xfrm>
            <a:off x="5788152" y="3383280"/>
            <a:ext cx="64008" cy="512064"/>
          </a:xfrm>
          <a:prstGeom prst="rect">
            <a:avLst/>
          </a:prstGeom>
          <a:solidFill>
            <a:srgbClr val="12A566"/>
          </a:solidFill>
          <a:ln/>
        </p:spPr>
      </p:sp>
      <p:sp>
        <p:nvSpPr>
          <p:cNvPr id="24" name="Text 22"/>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5" name="Text 23"/>
          <p:cNvSpPr txBox="1"/>
          <p:nvPr/>
        </p:nvSpPr>
        <p:spPr>
          <a:xfrm>
            <a:off x="731520" y="4233672"/>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gross, ROs, hrs/RO</a:t>
            </a:r>
            <a:endParaRPr lang="en-US" sz="1300" dirty="0"/>
          </a:p>
        </p:txBody>
      </p:sp>
      <p:sp>
        <p:nvSpPr>
          <p:cNvPr id="26" name="Shape 24"/>
          <p:cNvSpPr/>
          <p:nvPr/>
        </p:nvSpPr>
        <p:spPr>
          <a:xfrm>
            <a:off x="4892040" y="4107485"/>
            <a:ext cx="182880" cy="234086"/>
          </a:xfrm>
          <a:prstGeom prst="rect">
            <a:avLst/>
          </a:prstGeom>
          <a:solidFill>
            <a:srgbClr val="12A566"/>
          </a:solidFill>
          <a:ln/>
        </p:spPr>
      </p:sp>
      <p:sp>
        <p:nvSpPr>
          <p:cNvPr id="27" name="Text 25"/>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8" name="Shape 26"/>
          <p:cNvSpPr/>
          <p:nvPr/>
        </p:nvSpPr>
        <p:spPr>
          <a:xfrm>
            <a:off x="621792" y="4517136"/>
            <a:ext cx="5230368" cy="585216"/>
          </a:xfrm>
          <a:prstGeom prst="rect">
            <a:avLst/>
          </a:prstGeom>
          <a:solidFill>
            <a:srgbClr val="F7F7F7"/>
          </a:solidFill>
          <a:ln/>
        </p:spPr>
      </p:sp>
      <p:sp>
        <p:nvSpPr>
          <p:cNvPr id="29" name="Text 27"/>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0" name="Text 28"/>
          <p:cNvSpPr txBox="1"/>
          <p:nvPr/>
        </p:nvSpPr>
        <p:spPr>
          <a:xfrm>
            <a:off x="731520" y="4818888"/>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ROs, parts GP, absorption</a:t>
            </a:r>
            <a:endParaRPr lang="en-US" sz="1300" dirty="0"/>
          </a:p>
        </p:txBody>
      </p:sp>
      <p:sp>
        <p:nvSpPr>
          <p:cNvPr id="31" name="Shape 29"/>
          <p:cNvSpPr/>
          <p:nvPr/>
        </p:nvSpPr>
        <p:spPr>
          <a:xfrm>
            <a:off x="4892040" y="4692701"/>
            <a:ext cx="182880" cy="234086"/>
          </a:xfrm>
          <a:prstGeom prst="rect">
            <a:avLst/>
          </a:prstGeom>
          <a:solidFill>
            <a:srgbClr val="12A566"/>
          </a:solidFill>
          <a:ln/>
        </p:spPr>
      </p:sp>
      <p:sp>
        <p:nvSpPr>
          <p:cNvPr id="32" name="Text 30"/>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33" name="Text 31"/>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34" name="Text 32"/>
          <p:cNvSpPr txBox="1"/>
          <p:nvPr/>
        </p:nvSpPr>
        <p:spPr>
          <a:xfrm>
            <a:off x="731520" y="5404104"/>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 labor/RO</a:t>
            </a:r>
            <a:endParaRPr lang="en-US" sz="1300" dirty="0"/>
          </a:p>
        </p:txBody>
      </p:sp>
      <p:sp>
        <p:nvSpPr>
          <p:cNvPr id="35" name="Shape 33"/>
          <p:cNvSpPr/>
          <p:nvPr/>
        </p:nvSpPr>
        <p:spPr>
          <a:xfrm>
            <a:off x="4892040" y="5277917"/>
            <a:ext cx="182880" cy="234086"/>
          </a:xfrm>
          <a:prstGeom prst="rect">
            <a:avLst/>
          </a:prstGeom>
          <a:solidFill>
            <a:srgbClr val="12A566"/>
          </a:solidFill>
          <a:ln/>
        </p:spPr>
      </p:sp>
      <p:sp>
        <p:nvSpPr>
          <p:cNvPr id="36" name="Text 34"/>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eight measures</a:t>
            </a:r>
            <a:endParaRPr lang="en-US" sz="1400" dirty="0"/>
          </a:p>
        </p:txBody>
      </p:sp>
      <p:sp>
        <p:nvSpPr>
          <p:cNvPr id="41" name="Shape 39"/>
          <p:cNvSpPr/>
          <p:nvPr/>
        </p:nvSpPr>
        <p:spPr>
          <a:xfrm>
            <a:off x="6336792" y="2176272"/>
            <a:ext cx="5230368" cy="585216"/>
          </a:xfrm>
          <a:prstGeom prst="rect">
            <a:avLst/>
          </a:prstGeom>
          <a:solidFill>
            <a:srgbClr val="F7F7F7"/>
          </a:solidFill>
          <a:ln/>
        </p:spPr>
      </p:sp>
      <p:sp>
        <p:nvSpPr>
          <p:cNvPr id="42" name="Text 40"/>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3" name="Text 41"/>
          <p:cNvSpPr txBox="1"/>
          <p:nvPr/>
        </p:nvSpPr>
        <p:spPr>
          <a:xfrm>
            <a:off x="6446520" y="2478024"/>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gross, hrs/RO, ELR, labor/RO, absorption, opcodes</a:t>
            </a:r>
            <a:endParaRPr lang="en-US" sz="1300" dirty="0"/>
          </a:p>
        </p:txBody>
      </p:sp>
      <p:sp>
        <p:nvSpPr>
          <p:cNvPr id="44" name="Shape 42"/>
          <p:cNvSpPr/>
          <p:nvPr/>
        </p:nvSpPr>
        <p:spPr>
          <a:xfrm>
            <a:off x="10607040" y="2351837"/>
            <a:ext cx="365760" cy="234086"/>
          </a:xfrm>
          <a:prstGeom prst="rect">
            <a:avLst/>
          </a:prstGeom>
          <a:solidFill>
            <a:srgbClr val="12A566"/>
          </a:solidFill>
          <a:ln/>
        </p:spPr>
      </p:sp>
      <p:sp>
        <p:nvSpPr>
          <p:cNvPr id="45" name="Text 43"/>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a:t>
            </a:r>
            <a:endParaRPr lang="en-US" sz="1800" dirty="0"/>
          </a:p>
        </p:txBody>
      </p:sp>
      <p:sp>
        <p:nvSpPr>
          <p:cNvPr id="46" name="Shape 44"/>
          <p:cNvSpPr/>
          <p:nvPr/>
        </p:nvSpPr>
        <p:spPr>
          <a:xfrm>
            <a:off x="11503152" y="2212848"/>
            <a:ext cx="64008" cy="512064"/>
          </a:xfrm>
          <a:prstGeom prst="rect">
            <a:avLst/>
          </a:prstGeom>
          <a:solidFill>
            <a:srgbClr val="12A566"/>
          </a:solidFill>
          <a:ln/>
        </p:spPr>
      </p:sp>
      <p:sp>
        <p:nvSpPr>
          <p:cNvPr id="47" name="Text 45"/>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8" name="Text 46"/>
          <p:cNvSpPr txBox="1"/>
          <p:nvPr/>
        </p:nvSpPr>
        <p:spPr>
          <a:xfrm>
            <a:off x="6446520" y="3063240"/>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gross, ROs, hrs/RO, labor/RO, opcodes</a:t>
            </a:r>
            <a:endParaRPr lang="en-US" sz="1300" dirty="0"/>
          </a:p>
        </p:txBody>
      </p:sp>
      <p:sp>
        <p:nvSpPr>
          <p:cNvPr id="49" name="Shape 47"/>
          <p:cNvSpPr/>
          <p:nvPr/>
        </p:nvSpPr>
        <p:spPr>
          <a:xfrm>
            <a:off x="10607040" y="2937053"/>
            <a:ext cx="304800" cy="234086"/>
          </a:xfrm>
          <a:prstGeom prst="rect">
            <a:avLst/>
          </a:prstGeom>
          <a:solidFill>
            <a:srgbClr val="12A566"/>
          </a:solidFill>
          <a:ln/>
        </p:spPr>
      </p:sp>
      <p:sp>
        <p:nvSpPr>
          <p:cNvPr id="50" name="Text 48"/>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5</a:t>
            </a:r>
            <a:endParaRPr lang="en-US" sz="1800" dirty="0"/>
          </a:p>
        </p:txBody>
      </p:sp>
      <p:sp>
        <p:nvSpPr>
          <p:cNvPr id="51" name="Shape 49"/>
          <p:cNvSpPr/>
          <p:nvPr/>
        </p:nvSpPr>
        <p:spPr>
          <a:xfrm>
            <a:off x="6336792" y="3346704"/>
            <a:ext cx="5230368" cy="585216"/>
          </a:xfrm>
          <a:prstGeom prst="rect">
            <a:avLst/>
          </a:prstGeom>
          <a:solidFill>
            <a:srgbClr val="F7F7F7"/>
          </a:solidFill>
          <a:ln/>
        </p:spPr>
      </p:sp>
      <p:sp>
        <p:nvSpPr>
          <p:cNvPr id="52" name="Text 50"/>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53" name="Text 51"/>
          <p:cNvSpPr txBox="1"/>
          <p:nvPr/>
        </p:nvSpPr>
        <p:spPr>
          <a:xfrm>
            <a:off x="6446520" y="3648456"/>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gross, hrs/RO, labor/RO, opcodes</a:t>
            </a:r>
            <a:endParaRPr lang="en-US" sz="1300" dirty="0"/>
          </a:p>
        </p:txBody>
      </p:sp>
      <p:sp>
        <p:nvSpPr>
          <p:cNvPr id="54" name="Shape 52"/>
          <p:cNvSpPr/>
          <p:nvPr/>
        </p:nvSpPr>
        <p:spPr>
          <a:xfrm>
            <a:off x="10607040" y="3522269"/>
            <a:ext cx="243840" cy="234086"/>
          </a:xfrm>
          <a:prstGeom prst="rect">
            <a:avLst/>
          </a:prstGeom>
          <a:solidFill>
            <a:srgbClr val="12A566"/>
          </a:solidFill>
          <a:ln/>
        </p:spPr>
      </p:sp>
      <p:sp>
        <p:nvSpPr>
          <p:cNvPr id="55" name="Text 53"/>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56" name="Text 54"/>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7" name="Text 55"/>
          <p:cNvSpPr txBox="1"/>
          <p:nvPr/>
        </p:nvSpPr>
        <p:spPr>
          <a:xfrm>
            <a:off x="6446520" y="4233672"/>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gross, ELR, parts GP</a:t>
            </a:r>
            <a:endParaRPr lang="en-US" sz="1300" dirty="0"/>
          </a:p>
        </p:txBody>
      </p:sp>
      <p:sp>
        <p:nvSpPr>
          <p:cNvPr id="58" name="Shape 56"/>
          <p:cNvSpPr/>
          <p:nvPr/>
        </p:nvSpPr>
        <p:spPr>
          <a:xfrm>
            <a:off x="10607040" y="4107485"/>
            <a:ext cx="182880" cy="234086"/>
          </a:xfrm>
          <a:prstGeom prst="rect">
            <a:avLst/>
          </a:prstGeom>
          <a:solidFill>
            <a:srgbClr val="12A566"/>
          </a:solidFill>
          <a:ln/>
        </p:spPr>
      </p:sp>
      <p:sp>
        <p:nvSpPr>
          <p:cNvPr id="59" name="Text 57"/>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60" name="Shape 58"/>
          <p:cNvSpPr/>
          <p:nvPr/>
        </p:nvSpPr>
        <p:spPr>
          <a:xfrm>
            <a:off x="6336792" y="4517136"/>
            <a:ext cx="5230368" cy="585216"/>
          </a:xfrm>
          <a:prstGeom prst="rect">
            <a:avLst/>
          </a:prstGeom>
          <a:solidFill>
            <a:srgbClr val="F7F7F7"/>
          </a:solidFill>
          <a:ln/>
        </p:spPr>
      </p:sp>
      <p:sp>
        <p:nvSpPr>
          <p:cNvPr id="61" name="Text 59"/>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2" name="Text 60"/>
          <p:cNvSpPr txBox="1"/>
          <p:nvPr/>
        </p:nvSpPr>
        <p:spPr>
          <a:xfrm>
            <a:off x="6446520" y="4818888"/>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 labor/RO</a:t>
            </a:r>
            <a:endParaRPr lang="en-US" sz="1300" dirty="0"/>
          </a:p>
        </p:txBody>
      </p:sp>
      <p:sp>
        <p:nvSpPr>
          <p:cNvPr id="63" name="Shape 61"/>
          <p:cNvSpPr/>
          <p:nvPr/>
        </p:nvSpPr>
        <p:spPr>
          <a:xfrm>
            <a:off x="10607040" y="4692701"/>
            <a:ext cx="182880" cy="234086"/>
          </a:xfrm>
          <a:prstGeom prst="rect">
            <a:avLst/>
          </a:prstGeom>
          <a:solidFill>
            <a:srgbClr val="12A566"/>
          </a:solidFill>
          <a:ln/>
        </p:spPr>
      </p:sp>
      <p:sp>
        <p:nvSpPr>
          <p:cNvPr id="64" name="Text 62"/>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65" name="Text 63"/>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66" name="Text 64"/>
          <p:cNvSpPr txBox="1"/>
          <p:nvPr/>
        </p:nvSpPr>
        <p:spPr>
          <a:xfrm>
            <a:off x="6446520" y="5404104"/>
            <a:ext cx="4096512"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gross, ROs</a:t>
            </a:r>
            <a:endParaRPr lang="en-US" sz="1300" dirty="0"/>
          </a:p>
        </p:txBody>
      </p:sp>
      <p:sp>
        <p:nvSpPr>
          <p:cNvPr id="67" name="Shape 65"/>
          <p:cNvSpPr/>
          <p:nvPr/>
        </p:nvSpPr>
        <p:spPr>
          <a:xfrm>
            <a:off x="10607040" y="5277917"/>
            <a:ext cx="121920" cy="234086"/>
          </a:xfrm>
          <a:prstGeom prst="rect">
            <a:avLst/>
          </a:prstGeom>
          <a:solidFill>
            <a:srgbClr val="12A566"/>
          </a:solidFill>
          <a:ln/>
        </p:spPr>
      </p:sp>
      <p:sp>
        <p:nvSpPr>
          <p:cNvPr id="68" name="Text 66"/>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Two stores tie. One store is on both lists (green bar). Also tied at 2 moving now: Hyundai St George and Chevy GMC Bullhead.</a:t>
            </a:r>
            <a:endParaRPr lang="en-US" sz="16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55648"/>
            <a:ext cx="10945368" cy="438912"/>
          </a:xfrm>
          <a:prstGeom prst="rect">
            <a:avLst/>
          </a:prstGeom>
          <a:solidFill>
            <a:srgbClr val="F7F7F7"/>
          </a:solidFill>
          <a:ln/>
        </p:spPr>
      </p:sp>
      <p:sp>
        <p:nvSpPr>
          <p:cNvPr id="12" name="Text 10"/>
          <p:cNvSpPr txBox="1"/>
          <p:nvPr/>
        </p:nvSpPr>
        <p:spPr>
          <a:xfrm>
            <a:off x="749808" y="1755648"/>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3" name="Text 11"/>
          <p:cNvSpPr txBox="1"/>
          <p:nvPr/>
        </p:nvSpPr>
        <p:spPr>
          <a:xfrm>
            <a:off x="3520440" y="1755648"/>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Gross per Month</a:t>
            </a:r>
            <a:endParaRPr lang="en-US" sz="1400" dirty="0"/>
          </a:p>
        </p:txBody>
      </p:sp>
      <p:sp>
        <p:nvSpPr>
          <p:cNvPr id="14" name="Text 12"/>
          <p:cNvSpPr txBox="1"/>
          <p:nvPr/>
        </p:nvSpPr>
        <p:spPr>
          <a:xfrm>
            <a:off x="5669280" y="1755648"/>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sp>
        <p:nvSpPr>
          <p:cNvPr id="15" name="Text 13"/>
          <p:cNvSpPr txBox="1"/>
          <p:nvPr/>
        </p:nvSpPr>
        <p:spPr>
          <a:xfrm>
            <a:off x="7726680" y="1755648"/>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6" name="Text 14"/>
          <p:cNvSpPr txBox="1"/>
          <p:nvPr/>
        </p:nvSpPr>
        <p:spPr>
          <a:xfrm>
            <a:off x="9326880" y="1755648"/>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+34.6%</a:t>
            </a:r>
            <a:endParaRPr lang="en-US" sz="1400" dirty="0"/>
          </a:p>
        </p:txBody>
      </p:sp>
      <p:sp>
        <p:nvSpPr>
          <p:cNvPr id="17" name="Text 15"/>
          <p:cNvSpPr txBox="1"/>
          <p:nvPr/>
        </p:nvSpPr>
        <p:spPr>
          <a:xfrm>
            <a:off x="749808" y="2194560"/>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8" name="Text 16"/>
          <p:cNvSpPr txBox="1"/>
          <p:nvPr/>
        </p:nvSpPr>
        <p:spPr>
          <a:xfrm>
            <a:off x="3520440" y="2194560"/>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ROs per Month</a:t>
            </a:r>
            <a:endParaRPr lang="en-US" sz="1400" dirty="0"/>
          </a:p>
        </p:txBody>
      </p:sp>
      <p:sp>
        <p:nvSpPr>
          <p:cNvPr id="19" name="Text 17"/>
          <p:cNvSpPr txBox="1"/>
          <p:nvPr/>
        </p:nvSpPr>
        <p:spPr>
          <a:xfrm>
            <a:off x="5669280" y="2194560"/>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sp>
        <p:nvSpPr>
          <p:cNvPr id="20" name="Text 18"/>
          <p:cNvSpPr txBox="1"/>
          <p:nvPr/>
        </p:nvSpPr>
        <p:spPr>
          <a:xfrm>
            <a:off x="7726680" y="2194560"/>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1" name="Text 19"/>
          <p:cNvSpPr txBox="1"/>
          <p:nvPr/>
        </p:nvSpPr>
        <p:spPr>
          <a:xfrm>
            <a:off x="9326880" y="2194560"/>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+34.0%</a:t>
            </a:r>
            <a:endParaRPr lang="en-US" sz="1400" dirty="0"/>
          </a:p>
        </p:txBody>
      </p:sp>
      <p:sp>
        <p:nvSpPr>
          <p:cNvPr id="22" name="Shape 20"/>
          <p:cNvSpPr/>
          <p:nvPr/>
        </p:nvSpPr>
        <p:spPr>
          <a:xfrm>
            <a:off x="621792" y="2633472"/>
            <a:ext cx="10945368" cy="438912"/>
          </a:xfrm>
          <a:prstGeom prst="rect">
            <a:avLst/>
          </a:prstGeom>
          <a:solidFill>
            <a:srgbClr val="F7F7F7"/>
          </a:solidFill>
          <a:ln/>
        </p:spPr>
      </p:sp>
      <p:sp>
        <p:nvSpPr>
          <p:cNvPr id="23" name="Text 21"/>
          <p:cNvSpPr txBox="1"/>
          <p:nvPr/>
        </p:nvSpPr>
        <p:spPr>
          <a:xfrm>
            <a:off x="749808" y="2633472"/>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4" name="Text 22"/>
          <p:cNvSpPr txBox="1"/>
          <p:nvPr/>
        </p:nvSpPr>
        <p:spPr>
          <a:xfrm>
            <a:off x="3520440" y="2633472"/>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Hours per RO</a:t>
            </a:r>
            <a:endParaRPr lang="en-US" sz="1400" dirty="0"/>
          </a:p>
        </p:txBody>
      </p:sp>
      <p:sp>
        <p:nvSpPr>
          <p:cNvPr id="25" name="Text 23"/>
          <p:cNvSpPr txBox="1"/>
          <p:nvPr/>
        </p:nvSpPr>
        <p:spPr>
          <a:xfrm>
            <a:off x="5669280" y="2633472"/>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sp>
        <p:nvSpPr>
          <p:cNvPr id="26" name="Text 24"/>
          <p:cNvSpPr txBox="1"/>
          <p:nvPr/>
        </p:nvSpPr>
        <p:spPr>
          <a:xfrm>
            <a:off x="7726680" y="2633472"/>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7" name="Text 25"/>
          <p:cNvSpPr txBox="1"/>
          <p:nvPr/>
        </p:nvSpPr>
        <p:spPr>
          <a:xfrm>
            <a:off x="9326880" y="2633472"/>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+22.2%</a:t>
            </a:r>
            <a:endParaRPr lang="en-US" sz="1400" dirty="0"/>
          </a:p>
        </p:txBody>
      </p:sp>
      <p:sp>
        <p:nvSpPr>
          <p:cNvPr id="28" name="Text 26"/>
          <p:cNvSpPr txBox="1"/>
          <p:nvPr/>
        </p:nvSpPr>
        <p:spPr>
          <a:xfrm>
            <a:off x="749808" y="3072384"/>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9" name="Text 27"/>
          <p:cNvSpPr txBox="1"/>
          <p:nvPr/>
        </p:nvSpPr>
        <p:spPr>
          <a:xfrm>
            <a:off x="3520440" y="3072384"/>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ELR</a:t>
            </a:r>
            <a:endParaRPr lang="en-US" sz="1400" dirty="0"/>
          </a:p>
        </p:txBody>
      </p:sp>
      <p:sp>
        <p:nvSpPr>
          <p:cNvPr id="30" name="Text 28"/>
          <p:cNvSpPr txBox="1"/>
          <p:nvPr/>
        </p:nvSpPr>
        <p:spPr>
          <a:xfrm>
            <a:off x="5669280" y="3072384"/>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sp>
        <p:nvSpPr>
          <p:cNvPr id="31" name="Text 29"/>
          <p:cNvSpPr txBox="1"/>
          <p:nvPr/>
        </p:nvSpPr>
        <p:spPr>
          <a:xfrm>
            <a:off x="7726680" y="3072384"/>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2" name="Text 30"/>
          <p:cNvSpPr txBox="1"/>
          <p:nvPr/>
        </p:nvSpPr>
        <p:spPr>
          <a:xfrm>
            <a:off x="9326880" y="3072384"/>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+10.6%</a:t>
            </a:r>
            <a:endParaRPr lang="en-US" sz="1400" dirty="0"/>
          </a:p>
        </p:txBody>
      </p:sp>
      <p:sp>
        <p:nvSpPr>
          <p:cNvPr id="33" name="Shape 31"/>
          <p:cNvSpPr/>
          <p:nvPr/>
        </p:nvSpPr>
        <p:spPr>
          <a:xfrm>
            <a:off x="621792" y="3511296"/>
            <a:ext cx="10945368" cy="438912"/>
          </a:xfrm>
          <a:prstGeom prst="rect">
            <a:avLst/>
          </a:prstGeom>
          <a:solidFill>
            <a:srgbClr val="F7F7F7"/>
          </a:solidFill>
          <a:ln/>
        </p:spPr>
      </p:sp>
      <p:sp>
        <p:nvSpPr>
          <p:cNvPr id="34" name="Text 32"/>
          <p:cNvSpPr txBox="1"/>
          <p:nvPr/>
        </p:nvSpPr>
        <p:spPr>
          <a:xfrm>
            <a:off x="749808" y="3511296"/>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35" name="Text 33"/>
          <p:cNvSpPr txBox="1"/>
          <p:nvPr/>
        </p:nvSpPr>
        <p:spPr>
          <a:xfrm>
            <a:off x="3520440" y="3511296"/>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Parts GP %</a:t>
            </a:r>
            <a:endParaRPr lang="en-US" sz="1400" dirty="0"/>
          </a:p>
        </p:txBody>
      </p:sp>
      <p:sp>
        <p:nvSpPr>
          <p:cNvPr id="36" name="Text 34"/>
          <p:cNvSpPr txBox="1"/>
          <p:nvPr/>
        </p:nvSpPr>
        <p:spPr>
          <a:xfrm>
            <a:off x="5669280" y="3511296"/>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sp>
        <p:nvSpPr>
          <p:cNvPr id="37" name="Text 35"/>
          <p:cNvSpPr txBox="1"/>
          <p:nvPr/>
        </p:nvSpPr>
        <p:spPr>
          <a:xfrm>
            <a:off x="7726680" y="3511296"/>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8" name="Text 36"/>
          <p:cNvSpPr txBox="1"/>
          <p:nvPr/>
        </p:nvSpPr>
        <p:spPr>
          <a:xfrm>
            <a:off x="9326880" y="3511296"/>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+7.2 pts</a:t>
            </a:r>
            <a:endParaRPr lang="en-US" sz="1400" dirty="0"/>
          </a:p>
        </p:txBody>
      </p:sp>
      <p:sp>
        <p:nvSpPr>
          <p:cNvPr id="39" name="Text 37"/>
          <p:cNvSpPr txBox="1"/>
          <p:nvPr/>
        </p:nvSpPr>
        <p:spPr>
          <a:xfrm>
            <a:off x="749808" y="3950208"/>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40" name="Text 38"/>
          <p:cNvSpPr txBox="1"/>
          <p:nvPr/>
        </p:nvSpPr>
        <p:spPr>
          <a:xfrm>
            <a:off x="3520440" y="3950208"/>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alignment</a:t>
            </a:r>
            <a:endParaRPr lang="en-US" sz="1400" dirty="0"/>
          </a:p>
        </p:txBody>
      </p:sp>
      <p:sp>
        <p:nvSpPr>
          <p:cNvPr id="41" name="Text 39"/>
          <p:cNvSpPr txBox="1"/>
          <p:nvPr/>
        </p:nvSpPr>
        <p:spPr>
          <a:xfrm>
            <a:off x="5669280" y="3950208"/>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21.0% → 31.7%</a:t>
            </a:r>
            <a:endParaRPr lang="en-US" sz="1400" dirty="0"/>
          </a:p>
        </p:txBody>
      </p:sp>
      <p:sp>
        <p:nvSpPr>
          <p:cNvPr id="42" name="Text 40"/>
          <p:cNvSpPr txBox="1"/>
          <p:nvPr/>
        </p:nvSpPr>
        <p:spPr>
          <a:xfrm>
            <a:off x="7726680" y="3950208"/>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41"/>
          <p:cNvSpPr txBox="1"/>
          <p:nvPr/>
        </p:nvSpPr>
        <p:spPr>
          <a:xfrm>
            <a:off x="9326880" y="3950208"/>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+10.7 pts</a:t>
            </a:r>
            <a:endParaRPr lang="en-US" sz="1400" dirty="0"/>
          </a:p>
        </p:txBody>
      </p:sp>
      <p:sp>
        <p:nvSpPr>
          <p:cNvPr id="44" name="Shape 42"/>
          <p:cNvSpPr/>
          <p:nvPr/>
        </p:nvSpPr>
        <p:spPr>
          <a:xfrm>
            <a:off x="621792" y="4389120"/>
            <a:ext cx="10945368" cy="438912"/>
          </a:xfrm>
          <a:prstGeom prst="rect">
            <a:avLst/>
          </a:prstGeom>
          <a:solidFill>
            <a:srgbClr val="F7F7F7"/>
          </a:solidFill>
          <a:ln/>
        </p:spPr>
      </p:sp>
      <p:sp>
        <p:nvSpPr>
          <p:cNvPr id="45" name="Text 43"/>
          <p:cNvSpPr txBox="1"/>
          <p:nvPr/>
        </p:nvSpPr>
        <p:spPr>
          <a:xfrm>
            <a:off x="749808" y="4389120"/>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6" name="Text 44"/>
          <p:cNvSpPr txBox="1"/>
          <p:nvPr/>
        </p:nvSpPr>
        <p:spPr>
          <a:xfrm>
            <a:off x="3520440" y="4389120"/>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balance</a:t>
            </a:r>
            <a:endParaRPr lang="en-US" sz="1400" dirty="0"/>
          </a:p>
        </p:txBody>
      </p:sp>
      <p:sp>
        <p:nvSpPr>
          <p:cNvPr id="47" name="Text 45"/>
          <p:cNvSpPr txBox="1"/>
          <p:nvPr/>
        </p:nvSpPr>
        <p:spPr>
          <a:xfrm>
            <a:off x="5669280" y="4389120"/>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10.1% → 19.3%</a:t>
            </a:r>
            <a:endParaRPr lang="en-US" sz="1400" dirty="0"/>
          </a:p>
        </p:txBody>
      </p:sp>
      <p:sp>
        <p:nvSpPr>
          <p:cNvPr id="48" name="Text 46"/>
          <p:cNvSpPr txBox="1"/>
          <p:nvPr/>
        </p:nvSpPr>
        <p:spPr>
          <a:xfrm>
            <a:off x="7726680" y="4389120"/>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9" name="Text 47"/>
          <p:cNvSpPr txBox="1"/>
          <p:nvPr/>
        </p:nvSpPr>
        <p:spPr>
          <a:xfrm>
            <a:off x="9326880" y="4389120"/>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+9.2 pts</a:t>
            </a:r>
            <a:endParaRPr lang="en-US" sz="1400" dirty="0"/>
          </a:p>
        </p:txBody>
      </p:sp>
      <p:sp>
        <p:nvSpPr>
          <p:cNvPr id="50" name="Text 48"/>
          <p:cNvSpPr txBox="1"/>
          <p:nvPr/>
        </p:nvSpPr>
        <p:spPr>
          <a:xfrm>
            <a:off x="749808" y="4828032"/>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1" name="Text 49"/>
          <p:cNvSpPr txBox="1"/>
          <p:nvPr/>
        </p:nvSpPr>
        <p:spPr>
          <a:xfrm>
            <a:off x="3520440" y="4828032"/>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brake fluid</a:t>
            </a:r>
            <a:endParaRPr lang="en-US" sz="1400" dirty="0"/>
          </a:p>
        </p:txBody>
      </p:sp>
      <p:sp>
        <p:nvSpPr>
          <p:cNvPr id="52" name="Text 50"/>
          <p:cNvSpPr txBox="1"/>
          <p:nvPr/>
        </p:nvSpPr>
        <p:spPr>
          <a:xfrm>
            <a:off x="5669280" y="4828032"/>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5.1% → 14.1%</a:t>
            </a:r>
            <a:endParaRPr lang="en-US" sz="1400" dirty="0"/>
          </a:p>
        </p:txBody>
      </p:sp>
      <p:sp>
        <p:nvSpPr>
          <p:cNvPr id="53" name="Text 51"/>
          <p:cNvSpPr txBox="1"/>
          <p:nvPr/>
        </p:nvSpPr>
        <p:spPr>
          <a:xfrm>
            <a:off x="7726680" y="4828032"/>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4" name="Text 52"/>
          <p:cNvSpPr txBox="1"/>
          <p:nvPr/>
        </p:nvSpPr>
        <p:spPr>
          <a:xfrm>
            <a:off x="9326880" y="4828032"/>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+9.0 pts</a:t>
            </a:r>
            <a:endParaRPr lang="en-US" sz="1400" dirty="0"/>
          </a:p>
        </p:txBody>
      </p:sp>
      <p:sp>
        <p:nvSpPr>
          <p:cNvPr id="55" name="Shape 53"/>
          <p:cNvSpPr/>
          <p:nvPr/>
        </p:nvSpPr>
        <p:spPr>
          <a:xfrm>
            <a:off x="621792" y="5266944"/>
            <a:ext cx="10945368" cy="438912"/>
          </a:xfrm>
          <a:prstGeom prst="rect">
            <a:avLst/>
          </a:prstGeom>
          <a:solidFill>
            <a:srgbClr val="F7F7F7"/>
          </a:solidFill>
          <a:ln/>
        </p:spPr>
      </p:sp>
      <p:sp>
        <p:nvSpPr>
          <p:cNvPr id="56" name="Text 54"/>
          <p:cNvSpPr txBox="1"/>
          <p:nvPr/>
        </p:nvSpPr>
        <p:spPr>
          <a:xfrm>
            <a:off x="749808" y="5266944"/>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7" name="Text 55"/>
          <p:cNvSpPr txBox="1"/>
          <p:nvPr/>
        </p:nvSpPr>
        <p:spPr>
          <a:xfrm>
            <a:off x="3520440" y="5266944"/>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fuel service</a:t>
            </a:r>
            <a:endParaRPr lang="en-US" sz="1400" dirty="0"/>
          </a:p>
        </p:txBody>
      </p:sp>
      <p:sp>
        <p:nvSpPr>
          <p:cNvPr id="58" name="Text 56"/>
          <p:cNvSpPr txBox="1"/>
          <p:nvPr/>
        </p:nvSpPr>
        <p:spPr>
          <a:xfrm>
            <a:off x="5669280" y="5266944"/>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 → 10.6%</a:t>
            </a:r>
            <a:endParaRPr lang="en-US" sz="1400" dirty="0"/>
          </a:p>
        </p:txBody>
      </p:sp>
      <p:sp>
        <p:nvSpPr>
          <p:cNvPr id="59" name="Text 57"/>
          <p:cNvSpPr txBox="1"/>
          <p:nvPr/>
        </p:nvSpPr>
        <p:spPr>
          <a:xfrm>
            <a:off x="7726680" y="5266944"/>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0" name="Text 58"/>
          <p:cNvSpPr txBox="1"/>
          <p:nvPr/>
        </p:nvSpPr>
        <p:spPr>
          <a:xfrm>
            <a:off x="9326880" y="5266944"/>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+8.1 pts</a:t>
            </a:r>
            <a:endParaRPr lang="en-US" sz="1400" dirty="0"/>
          </a:p>
        </p:txBody>
      </p:sp>
      <p:sp>
        <p:nvSpPr>
          <p:cNvPr id="61" name="Shape 59"/>
          <p:cNvSpPr/>
          <p:nvPr/>
        </p:nvSpPr>
        <p:spPr>
          <a:xfrm>
            <a:off x="457200" y="6126480"/>
            <a:ext cx="11274552" cy="364236"/>
          </a:xfrm>
          <a:prstGeom prst="rect">
            <a:avLst/>
          </a:prstGeom>
          <a:solidFill>
            <a:srgbClr val="EDF4FA"/>
          </a:solidFill>
          <a:ln/>
        </p:spPr>
      </p:sp>
      <p:sp>
        <p:nvSpPr>
          <p:cNvPr id="62" name="Text 60"/>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Five stores, one question each: what did you start doing that month? One sentence, before you leave.</a:t>
            </a:r>
            <a:endParaRPr lang="en-US" sz="155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438912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Shape 7"/>
          <p:cNvSpPr/>
          <p:nvPr/>
        </p:nvSpPr>
        <p:spPr>
          <a:xfrm>
            <a:off x="548640" y="1755648"/>
            <a:ext cx="11091672" cy="713232"/>
          </a:xfrm>
          <a:prstGeom prst="rect">
            <a:avLst/>
          </a:prstGeom>
          <a:solidFill>
            <a:srgbClr val="F7F7F7"/>
          </a:solidFill>
          <a:ln/>
        </p:spPr>
      </p:sp>
      <p:sp>
        <p:nvSpPr>
          <p:cNvPr id="10" name="Shape 8"/>
          <p:cNvSpPr/>
          <p:nvPr/>
        </p:nvSpPr>
        <p:spPr>
          <a:xfrm>
            <a:off x="548640" y="1755648"/>
            <a:ext cx="64008" cy="713232"/>
          </a:xfrm>
          <a:prstGeom prst="rect">
            <a:avLst/>
          </a:prstGeom>
          <a:solidFill>
            <a:srgbClr val="12A566"/>
          </a:solidFill>
          <a:ln/>
        </p:spPr>
      </p:sp>
      <p:sp>
        <p:nvSpPr>
          <p:cNvPr id="11" name="Text 9"/>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2" name="Text 10"/>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3" name="Text 11"/>
          <p:cNvSpPr txBox="1"/>
          <p:nvPr/>
        </p:nvSpPr>
        <p:spPr>
          <a:xfrm>
            <a:off x="7178040" y="1755648"/>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Manage it daily: dispatch, parts staging, approvals, coaching</a:t>
            </a:r>
            <a:endParaRPr lang="en-US" sz="1500" dirty="0"/>
          </a:p>
        </p:txBody>
      </p:sp>
      <p:sp>
        <p:nvSpPr>
          <p:cNvPr id="14" name="Shape 12"/>
          <p:cNvSpPr/>
          <p:nvPr/>
        </p:nvSpPr>
        <p:spPr>
          <a:xfrm>
            <a:off x="548640" y="2542032"/>
            <a:ext cx="11091672" cy="713232"/>
          </a:xfrm>
          <a:prstGeom prst="rect">
            <a:avLst/>
          </a:prstGeom>
          <a:solidFill>
            <a:srgbClr val="FFFFFF"/>
          </a:solidFill>
          <a:ln/>
        </p:spPr>
      </p:sp>
      <p:sp>
        <p:nvSpPr>
          <p:cNvPr id="15" name="Shape 13"/>
          <p:cNvSpPr/>
          <p:nvPr/>
        </p:nvSpPr>
        <p:spPr>
          <a:xfrm>
            <a:off x="548640" y="2542032"/>
            <a:ext cx="64008" cy="713232"/>
          </a:xfrm>
          <a:prstGeom prst="rect">
            <a:avLst/>
          </a:prstGeom>
          <a:solidFill>
            <a:srgbClr val="12A566"/>
          </a:solidFill>
          <a:ln/>
        </p:spPr>
      </p:sp>
      <p:sp>
        <p:nvSpPr>
          <p:cNvPr id="16" name="Text 14"/>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17" name="Text 15"/>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18" name="Text 16"/>
          <p:cNvSpPr txBox="1"/>
          <p:nvPr/>
        </p:nvSpPr>
        <p:spPr>
          <a:xfrm>
            <a:off x="7178040" y="2542032"/>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Be consistent: MPI and Road to the Sale on every car</a:t>
            </a:r>
            <a:endParaRPr lang="en-US" sz="1500" dirty="0"/>
          </a:p>
        </p:txBody>
      </p:sp>
      <p:sp>
        <p:nvSpPr>
          <p:cNvPr id="19" name="Shape 17"/>
          <p:cNvSpPr/>
          <p:nvPr/>
        </p:nvSpPr>
        <p:spPr>
          <a:xfrm>
            <a:off x="548640" y="3328416"/>
            <a:ext cx="11091672" cy="713232"/>
          </a:xfrm>
          <a:prstGeom prst="rect">
            <a:avLst/>
          </a:prstGeom>
          <a:solidFill>
            <a:srgbClr val="F7F7F7"/>
          </a:solidFill>
          <a:ln/>
        </p:spPr>
      </p:sp>
      <p:sp>
        <p:nvSpPr>
          <p:cNvPr id="20" name="Shape 18"/>
          <p:cNvSpPr/>
          <p:nvPr/>
        </p:nvSpPr>
        <p:spPr>
          <a:xfrm>
            <a:off x="548640" y="3328416"/>
            <a:ext cx="64008" cy="713232"/>
          </a:xfrm>
          <a:prstGeom prst="rect">
            <a:avLst/>
          </a:prstGeom>
          <a:solidFill>
            <a:srgbClr val="12A566"/>
          </a:solidFill>
          <a:ln/>
        </p:spPr>
      </p:sp>
      <p:sp>
        <p:nvSpPr>
          <p:cNvPr id="21" name="Text 19"/>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2" name="Text 20"/>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23" name="Text 21"/>
          <p:cNvSpPr txBox="1"/>
          <p:nvPr/>
        </p:nvSpPr>
        <p:spPr>
          <a:xfrm>
            <a:off x="7178040" y="3328416"/>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Track where you are, ask for the sale on every car, every time, hold people accountable</a:t>
            </a:r>
            <a:endParaRPr lang="en-US" sz="1500" dirty="0"/>
          </a:p>
        </p:txBody>
      </p:sp>
      <p:sp>
        <p:nvSpPr>
          <p:cNvPr id="24" name="Shape 22"/>
          <p:cNvSpPr/>
          <p:nvPr/>
        </p:nvSpPr>
        <p:spPr>
          <a:xfrm>
            <a:off x="548640" y="4114800"/>
            <a:ext cx="11091672" cy="713232"/>
          </a:xfrm>
          <a:prstGeom prst="rect">
            <a:avLst/>
          </a:prstGeom>
          <a:solidFill>
            <a:srgbClr val="FFFFFF"/>
          </a:solidFill>
          <a:ln/>
        </p:spPr>
      </p:sp>
      <p:sp>
        <p:nvSpPr>
          <p:cNvPr id="25" name="Shape 23"/>
          <p:cNvSpPr/>
          <p:nvPr/>
        </p:nvSpPr>
        <p:spPr>
          <a:xfrm>
            <a:off x="548640" y="4114800"/>
            <a:ext cx="64008" cy="713232"/>
          </a:xfrm>
          <a:prstGeom prst="rect">
            <a:avLst/>
          </a:prstGeom>
          <a:solidFill>
            <a:srgbClr val="12A566"/>
          </a:solidFill>
          <a:ln/>
        </p:spPr>
      </p:sp>
      <p:sp>
        <p:nvSpPr>
          <p:cNvPr id="26" name="Text 24"/>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27" name="Text 25"/>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28" name="Text 26"/>
          <p:cNvSpPr txBox="1"/>
          <p:nvPr/>
        </p:nvSpPr>
        <p:spPr>
          <a:xfrm>
            <a:off x="7178040" y="4114800"/>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Be available when they call; proactive outreach to lapsed and inactive customers</a:t>
            </a:r>
            <a:endParaRPr lang="en-US" sz="1500" dirty="0"/>
          </a:p>
        </p:txBody>
      </p:sp>
      <p:sp>
        <p:nvSpPr>
          <p:cNvPr id="29" name="Shape 27"/>
          <p:cNvSpPr/>
          <p:nvPr/>
        </p:nvSpPr>
        <p:spPr>
          <a:xfrm>
            <a:off x="548640" y="4901184"/>
            <a:ext cx="11091672" cy="713232"/>
          </a:xfrm>
          <a:prstGeom prst="rect">
            <a:avLst/>
          </a:prstGeom>
          <a:solidFill>
            <a:srgbClr val="F7F7F7"/>
          </a:solidFill>
          <a:ln/>
        </p:spPr>
      </p:sp>
      <p:sp>
        <p:nvSpPr>
          <p:cNvPr id="30" name="Shape 28"/>
          <p:cNvSpPr/>
          <p:nvPr/>
        </p:nvSpPr>
        <p:spPr>
          <a:xfrm>
            <a:off x="548640" y="4901184"/>
            <a:ext cx="64008" cy="713232"/>
          </a:xfrm>
          <a:prstGeom prst="rect">
            <a:avLst/>
          </a:prstGeom>
          <a:solidFill>
            <a:srgbClr val="12A566"/>
          </a:solidFill>
          <a:ln/>
        </p:spPr>
      </p:sp>
      <p:sp>
        <p:nvSpPr>
          <p:cNvPr id="31" name="Text 29"/>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Ten minutes a day saved for every tech</a:t>
            </a:r>
            <a:endParaRPr lang="en-US" sz="1700" dirty="0"/>
          </a:p>
        </p:txBody>
      </p:sp>
      <p:sp>
        <p:nvSpPr>
          <p:cNvPr id="32" name="Text 30"/>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$4,443,804</a:t>
            </a:r>
            <a:endParaRPr lang="en-US" sz="2400" dirty="0"/>
          </a:p>
        </p:txBody>
      </p:sp>
      <p:sp>
        <p:nvSpPr>
          <p:cNvPr id="33" name="Text 31"/>
          <p:cNvSpPr txBox="1"/>
          <p:nvPr/>
        </p:nvSpPr>
        <p:spPr>
          <a:xfrm>
            <a:off x="7178040" y="4901184"/>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Streamline the process, remove inefficiencies: parts to the bay, tools and keys in place</a:t>
            </a:r>
            <a:endParaRPr lang="en-US" sz="1500" dirty="0"/>
          </a:p>
        </p:txBody>
      </p:sp>
      <p:sp>
        <p:nvSpPr>
          <p:cNvPr id="34" name="Shape 32"/>
          <p:cNvSpPr/>
          <p:nvPr/>
        </p:nvSpPr>
        <p:spPr>
          <a:xfrm>
            <a:off x="457200" y="6126480"/>
            <a:ext cx="11274552" cy="371856"/>
          </a:xfrm>
          <a:prstGeom prst="rect">
            <a:avLst/>
          </a:prstGeom>
          <a:solidFill>
            <a:srgbClr val="E6F6EE"/>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Other than one more RO a day, every number here comes from customers already coming in for service.</a:t>
            </a:r>
            <a:endParaRPr lang="en-US" sz="16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to Read Your Prescription</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536192"/>
            <a:ext cx="50292" cy="590702"/>
          </a:xfrm>
          <a:prstGeom prst="rect">
            <a:avLst/>
          </a:prstGeom>
          <a:solidFill>
            <a:srgbClr val="2587C5"/>
          </a:solidFill>
          <a:ln/>
        </p:spPr>
      </p:sp>
      <p:sp>
        <p:nvSpPr>
          <p:cNvPr id="7" name="Text 5"/>
          <p:cNvSpPr txBox="1"/>
          <p:nvPr/>
        </p:nvSpPr>
        <p:spPr>
          <a:xfrm>
            <a:off x="914400" y="148132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Your vitals</a:t>
            </a:r>
            <a:endParaRPr lang="en-US" sz="1800" dirty="0"/>
          </a:p>
        </p:txBody>
      </p:sp>
      <p:sp>
        <p:nvSpPr>
          <p:cNvPr id="8" name="Text 6"/>
          <p:cNvSpPr txBox="1"/>
          <p:nvPr/>
        </p:nvSpPr>
        <p:spPr>
          <a:xfrm>
            <a:off x="3200400" y="148132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2026 year to date, with the change on 2025. Absorption reads against the group.</a:t>
            </a:r>
            <a:endParaRPr lang="en-US" sz="1700" dirty="0"/>
          </a:p>
        </p:txBody>
      </p:sp>
      <p:sp>
        <p:nvSpPr>
          <p:cNvPr id="9" name="Shape 7"/>
          <p:cNvSpPr/>
          <p:nvPr/>
        </p:nvSpPr>
        <p:spPr>
          <a:xfrm>
            <a:off x="713232" y="2401214"/>
            <a:ext cx="50292" cy="590702"/>
          </a:xfrm>
          <a:prstGeom prst="rect">
            <a:avLst/>
          </a:prstGeom>
          <a:solidFill>
            <a:srgbClr val="2587C5"/>
          </a:solidFill>
          <a:ln/>
        </p:spPr>
      </p:sp>
      <p:sp>
        <p:nvSpPr>
          <p:cNvPr id="10" name="Text 8"/>
          <p:cNvSpPr txBox="1"/>
          <p:nvPr/>
        </p:nvSpPr>
        <p:spPr>
          <a:xfrm>
            <a:off x="914400" y="2346350"/>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The bar</a:t>
            </a:r>
            <a:endParaRPr lang="en-US" sz="1800" dirty="0"/>
          </a:p>
        </p:txBody>
      </p:sp>
      <p:sp>
        <p:nvSpPr>
          <p:cNvPr id="11" name="Text 9"/>
          <p:cNvSpPr txBox="1"/>
          <p:nvPr/>
        </p:nvSpPr>
        <p:spPr>
          <a:xfrm>
            <a:off x="3200400" y="2346350"/>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Our benchmarks; else your peers' average (luxury or non-luxury), the group, or your 2025.</a:t>
            </a:r>
            <a:endParaRPr lang="en-US" sz="1700" dirty="0"/>
          </a:p>
        </p:txBody>
      </p:sp>
      <p:sp>
        <p:nvSpPr>
          <p:cNvPr id="12" name="Shape 10"/>
          <p:cNvSpPr/>
          <p:nvPr/>
        </p:nvSpPr>
        <p:spPr>
          <a:xfrm>
            <a:off x="713232" y="3266237"/>
            <a:ext cx="50292" cy="590702"/>
          </a:xfrm>
          <a:prstGeom prst="rect">
            <a:avLst/>
          </a:prstGeom>
          <a:solidFill>
            <a:srgbClr val="2587C5"/>
          </a:solidFill>
          <a:ln/>
        </p:spPr>
      </p:sp>
      <p:sp>
        <p:nvSpPr>
          <p:cNvPr id="13" name="Text 11"/>
          <p:cNvSpPr txBox="1"/>
          <p:nvPr/>
        </p:nvSpPr>
        <p:spPr>
          <a:xfrm>
            <a:off x="914400" y="3211373"/>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A year</a:t>
            </a:r>
            <a:endParaRPr lang="en-US" sz="1800" dirty="0"/>
          </a:p>
        </p:txBody>
      </p:sp>
      <p:sp>
        <p:nvSpPr>
          <p:cNvPr id="14" name="Text 12"/>
          <p:cNvSpPr txBox="1"/>
          <p:nvPr/>
        </p:nvSpPr>
        <p:spPr>
          <a:xfrm>
            <a:off x="3200400" y="3211373"/>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Jan–Sep gaps x 12/9; ELR, MPI and video Jul–Sep x 4. A CP RO is worth $342, an hour $183.</a:t>
            </a:r>
            <a:endParaRPr lang="en-US" sz="1700" dirty="0"/>
          </a:p>
        </p:txBody>
      </p:sp>
      <p:sp>
        <p:nvSpPr>
          <p:cNvPr id="15" name="Shape 13"/>
          <p:cNvSpPr/>
          <p:nvPr/>
        </p:nvSpPr>
        <p:spPr>
          <a:xfrm>
            <a:off x="713232" y="4131259"/>
            <a:ext cx="50292" cy="590702"/>
          </a:xfrm>
          <a:prstGeom prst="rect">
            <a:avLst/>
          </a:prstGeom>
          <a:solidFill>
            <a:srgbClr val="2587C5"/>
          </a:solidFill>
          <a:ln/>
        </p:spPr>
      </p:sp>
      <p:sp>
        <p:nvSpPr>
          <p:cNvPr id="16" name="Text 14"/>
          <p:cNvSpPr txBox="1"/>
          <p:nvPr/>
        </p:nvSpPr>
        <p:spPr>
          <a:xfrm>
            <a:off x="914400" y="4076395"/>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Opcodes</a:t>
            </a:r>
            <a:endParaRPr lang="en-US" sz="1800" dirty="0"/>
          </a:p>
        </p:txBody>
      </p:sp>
      <p:sp>
        <p:nvSpPr>
          <p:cNvPr id="17" name="Text 15"/>
          <p:cNvSpPr txBox="1"/>
          <p:nvPr/>
        </p:nvSpPr>
        <p:spPr>
          <a:xfrm>
            <a:off x="3200400" y="4076395"/>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Valued at your own gross per service, as the benchmark slides show them.</a:t>
            </a:r>
            <a:endParaRPr lang="en-US" sz="1700" dirty="0"/>
          </a:p>
        </p:txBody>
      </p:sp>
      <p:sp>
        <p:nvSpPr>
          <p:cNvPr id="18" name="Shape 16"/>
          <p:cNvSpPr/>
          <p:nvPr/>
        </p:nvSpPr>
        <p:spPr>
          <a:xfrm>
            <a:off x="713232" y="4996282"/>
            <a:ext cx="50292" cy="590702"/>
          </a:xfrm>
          <a:prstGeom prst="rect">
            <a:avLst/>
          </a:prstGeom>
          <a:solidFill>
            <a:srgbClr val="2587C5"/>
          </a:solidFill>
          <a:ln/>
        </p:spPr>
      </p:sp>
      <p:sp>
        <p:nvSpPr>
          <p:cNvPr id="19" name="Text 17"/>
          <p:cNvSpPr txBox="1"/>
          <p:nvPr/>
        </p:nvSpPr>
        <p:spPr>
          <a:xfrm>
            <a:off x="914400" y="494141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Ranked</a:t>
            </a:r>
            <a:endParaRPr lang="en-US" sz="1800" dirty="0"/>
          </a:p>
        </p:txBody>
      </p:sp>
      <p:sp>
        <p:nvSpPr>
          <p:cNvPr id="20" name="Text 18"/>
          <p:cNvSpPr txBox="1"/>
          <p:nvPr/>
        </p:nvSpPr>
        <p:spPr>
          <a:xfrm>
            <a:off x="3200400" y="494141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Biggest first, down to $10K a year. Lines overlap: rank them, don't add them. A dash means counted, not priced.</a:t>
            </a:r>
            <a:endParaRPr lang="en-US" sz="17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Pick the two lines you will own by the next meeting.</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Acura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$2.89M</a:t>
            </a:r>
            <a:pPr indent="0" marL="0">
              <a:buNone/>
            </a:pPr>
            <a:r>
              <a:rPr lang="en-US" sz="1400" b="1" dirty="0">
                <a:solidFill>
                  <a:srgbClr val="A82B26"/>
                </a:solidFill>
                <a:latin typeface="Inter" pitchFamily="34" charset="0"/>
                <a:ea typeface="Inter" pitchFamily="34" charset="-122"/>
                <a:cs typeface="Inter" pitchFamily="34" charset="-120"/>
              </a:rPr>
              <a:t>  −$517K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$476,154</a:t>
            </a:r>
            <a:pPr indent="0" marL="0">
              <a:buNone/>
            </a:pPr>
            <a:r>
              <a:rPr lang="en-US" sz="1400" b="1" dirty="0">
                <a:solidFill>
                  <a:srgbClr val="0B7A4A"/>
                </a:solidFill>
                <a:latin typeface="Inter" pitchFamily="34" charset="0"/>
                <a:ea typeface="Inter" pitchFamily="34" charset="-122"/>
                <a:cs typeface="Inter" pitchFamily="34" charset="-120"/>
              </a:rPr>
              <a:t>  +$217K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3,671</a:t>
            </a:r>
            <a:pPr indent="0" marL="0">
              <a:buNone/>
            </a:pPr>
            <a:r>
              <a:rPr lang="en-US" sz="1400" b="1" dirty="0">
                <a:solidFill>
                  <a:srgbClr val="A82B26"/>
                </a:solidFill>
                <a:latin typeface="Inter" pitchFamily="34" charset="0"/>
                <a:ea typeface="Inter" pitchFamily="34" charset="-122"/>
                <a:cs typeface="Inter" pitchFamily="34" charset="-120"/>
              </a:rPr>
              <a:t>  −239</a:t>
            </a:r>
            <a:endParaRPr lang="en-US" sz="2200" dirty="0"/>
          </a:p>
        </p:txBody>
      </p:sp>
      <p:sp>
        <p:nvSpPr>
          <p:cNvPr id="19" name="Shape 17"/>
          <p:cNvSpPr/>
          <p:nvPr/>
        </p:nvSpPr>
        <p:spPr>
          <a:xfrm>
            <a:off x="3845560" y="658368"/>
            <a:ext cx="7886192" cy="475488"/>
          </a:xfrm>
          <a:prstGeom prst="rect">
            <a:avLst/>
          </a:prstGeom>
          <a:solidFill>
            <a:srgbClr val="EDF4FA"/>
          </a:solidFill>
          <a:ln/>
        </p:spPr>
      </p:sp>
      <p:sp>
        <p:nvSpPr>
          <p:cNvPr id="20" name="Text 18"/>
          <p:cNvSpPr txBox="1"/>
          <p:nvPr/>
        </p:nvSpPr>
        <p:spPr>
          <a:xfrm>
            <a:off x="3973576" y="658368"/>
            <a:ext cx="763016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Parts GP 44.9%   ·   4th · Brake fluid 12.7%   ·   4th · Fuel service 9.3%</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11 of 11</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$911K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Service gross</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$1.89M</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$2.33M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$584K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Sell the MPI; price menus to market.</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hours per RO</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1.42</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1.75</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$292K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Present every MPI finding: +0.33 hr per RO.</a:t>
            </a:r>
            <a:endParaRPr lang="en-US" sz="15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RO count</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3,671</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3,910</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$109K</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Win back lapsed customers: 319 more ROs.</a:t>
            </a:r>
            <a:endParaRPr lang="en-US" sz="15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$1.01M</a:t>
            </a:r>
            <a:endParaRPr lang="en-US" sz="15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$1.08M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$105K</a:t>
            </a:r>
            <a:endParaRPr lang="en-US" sz="15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6</a:t>
            </a:r>
            <a:endParaRPr lang="en-US" sz="15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83.4%</a:t>
            </a:r>
            <a:endParaRPr lang="en-US" sz="15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425 more a year.</a:t>
            </a:r>
            <a:endParaRPr lang="en-US" sz="15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$12.34M</a:t>
            </a:r>
            <a:pPr indent="0" marL="0">
              <a:buNone/>
            </a:pPr>
            <a:r>
              <a:rPr lang="en-US" sz="1400" b="1" dirty="0">
                <a:solidFill>
                  <a:srgbClr val="0B7A4A"/>
                </a:solidFill>
                <a:latin typeface="Inter" pitchFamily="34" charset="0"/>
                <a:ea typeface="Inter" pitchFamily="34" charset="-122"/>
                <a:cs typeface="Inter" pitchFamily="34" charset="-120"/>
              </a:rPr>
              <a:t>  +$1.70M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$4.94M</a:t>
            </a:r>
            <a:pPr indent="0" marL="0">
              <a:buNone/>
            </a:pPr>
            <a:r>
              <a:rPr lang="en-US" sz="1400" b="1" dirty="0">
                <a:solidFill>
                  <a:srgbClr val="0B7A4A"/>
                </a:solidFill>
                <a:latin typeface="Inter" pitchFamily="34" charset="0"/>
                <a:ea typeface="Inter" pitchFamily="34" charset="-122"/>
                <a:cs typeface="Inter" pitchFamily="34" charset="-120"/>
              </a:rPr>
              <a:t>  +$838K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1161288"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106.6%</a:t>
            </a:r>
            <a:endParaRPr lang="en-US" sz="2200" dirty="0"/>
          </a:p>
        </p:txBody>
      </p:sp>
      <p:sp>
        <p:nvSpPr>
          <p:cNvPr id="14" name="Shape 12"/>
          <p:cNvSpPr/>
          <p:nvPr/>
        </p:nvSpPr>
        <p:spPr>
          <a:xfrm>
            <a:off x="7370064" y="1563624"/>
            <a:ext cx="64008" cy="256032"/>
          </a:xfrm>
          <a:prstGeom prst="rect">
            <a:avLst/>
          </a:prstGeom>
          <a:solidFill>
            <a:srgbClr val="12A566"/>
          </a:solidFill>
          <a:ln/>
        </p:spPr>
      </p:sp>
      <p:sp>
        <p:nvSpPr>
          <p:cNvPr id="15" name="Text 13"/>
          <p:cNvSpPr txBox="1"/>
          <p:nvPr/>
        </p:nvSpPr>
        <p:spPr>
          <a:xfrm>
            <a:off x="7525512" y="1517904"/>
            <a:ext cx="1335024"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3,779</a:t>
            </a:r>
            <a:pPr indent="0" marL="0">
              <a:buNone/>
            </a:pPr>
            <a:r>
              <a:rPr lang="en-US" sz="1400" b="1" dirty="0">
                <a:solidFill>
                  <a:srgbClr val="0B7A4A"/>
                </a:solidFill>
                <a:latin typeface="Inter" pitchFamily="34" charset="0"/>
                <a:ea typeface="Inter" pitchFamily="34" charset="-122"/>
                <a:cs typeface="Inter" pitchFamily="34" charset="-120"/>
              </a:rPr>
              <a:t>  +126</a:t>
            </a:r>
            <a:endParaRPr lang="en-US" sz="2200" dirty="0"/>
          </a:p>
        </p:txBody>
      </p:sp>
      <p:sp>
        <p:nvSpPr>
          <p:cNvPr id="19" name="Shape 17"/>
          <p:cNvSpPr/>
          <p:nvPr/>
        </p:nvSpPr>
        <p:spPr>
          <a:xfrm>
            <a:off x="4034028" y="658368"/>
            <a:ext cx="7697724" cy="475488"/>
          </a:xfrm>
          <a:prstGeom prst="rect">
            <a:avLst/>
          </a:prstGeom>
          <a:solidFill>
            <a:srgbClr val="EDF4FA"/>
          </a:solidFill>
          <a:ln/>
        </p:spPr>
      </p:sp>
      <p:sp>
        <p:nvSpPr>
          <p:cNvPr id="20" name="Text 18"/>
          <p:cNvSpPr txBox="1"/>
          <p:nvPr/>
        </p:nvSpPr>
        <p:spPr>
          <a:xfrm>
            <a:off x="4162044" y="658368"/>
            <a:ext cx="744169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Absorption 106.6%   ·   1st · CP ELR $266   ·   1st · Gross/head $23,461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 of 23</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$1.22M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33.6%</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48" name="Shape 46"/>
          <p:cNvSpPr/>
          <p:nvPr/>
        </p:nvSpPr>
        <p:spPr>
          <a:xfrm>
            <a:off x="658368" y="3396082"/>
            <a:ext cx="10872216" cy="10973"/>
          </a:xfrm>
          <a:prstGeom prst="rect">
            <a:avLst/>
          </a:prstGeom>
          <a:solidFill>
            <a:srgbClr val="9AA3AD"/>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79.0%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1,272 more a year.</a:t>
            </a:r>
            <a:endParaRPr lang="en-US" sz="14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$4.46M</a:t>
            </a:r>
            <a:pPr indent="0" marL="0">
              <a:buNone/>
            </a:pPr>
            <a:r>
              <a:rPr lang="en-US" sz="1400" b="1" dirty="0">
                <a:solidFill>
                  <a:srgbClr val="A82B26"/>
                </a:solidFill>
                <a:latin typeface="Inter" pitchFamily="34" charset="0"/>
                <a:ea typeface="Inter" pitchFamily="34" charset="-122"/>
                <a:cs typeface="Inter" pitchFamily="34" charset="-120"/>
              </a:rPr>
              <a:t>  −$520K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$1.82M</a:t>
            </a:r>
            <a:pPr indent="0" marL="0">
              <a:buNone/>
            </a:pPr>
            <a:r>
              <a:rPr lang="en-US" sz="1400" b="1" dirty="0">
                <a:solidFill>
                  <a:srgbClr val="A82B26"/>
                </a:solidFill>
                <a:latin typeface="Inter" pitchFamily="34" charset="0"/>
                <a:ea typeface="Inter" pitchFamily="34" charset="-122"/>
                <a:cs typeface="Inter" pitchFamily="34" charset="-120"/>
              </a:rPr>
              <a:t>  −$178K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1161288"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103.6%</a:t>
            </a:r>
            <a:endParaRPr lang="en-US" sz="2200" dirty="0"/>
          </a:p>
        </p:txBody>
      </p:sp>
      <p:sp>
        <p:nvSpPr>
          <p:cNvPr id="14" name="Shape 12"/>
          <p:cNvSpPr/>
          <p:nvPr/>
        </p:nvSpPr>
        <p:spPr>
          <a:xfrm>
            <a:off x="7370064" y="1563624"/>
            <a:ext cx="64008" cy="256032"/>
          </a:xfrm>
          <a:prstGeom prst="rect">
            <a:avLst/>
          </a:prstGeom>
          <a:solidFill>
            <a:srgbClr val="12A566"/>
          </a:solidFill>
          <a:ln/>
        </p:spPr>
      </p:sp>
      <p:sp>
        <p:nvSpPr>
          <p:cNvPr id="15" name="Text 13"/>
          <p:cNvSpPr txBox="1"/>
          <p:nvPr/>
        </p:nvSpPr>
        <p:spPr>
          <a:xfrm>
            <a:off x="7525512" y="1517904"/>
            <a:ext cx="1335024"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3,917</a:t>
            </a:r>
            <a:pPr indent="0" marL="0">
              <a:buNone/>
            </a:pPr>
            <a:r>
              <a:rPr lang="en-US" sz="1400" b="1" dirty="0">
                <a:solidFill>
                  <a:srgbClr val="A82B26"/>
                </a:solidFill>
                <a:latin typeface="Inter" pitchFamily="34" charset="0"/>
                <a:ea typeface="Inter" pitchFamily="34" charset="-122"/>
                <a:cs typeface="Inter" pitchFamily="34" charset="-120"/>
              </a:rPr>
              <a:t>  −462</a:t>
            </a:r>
            <a:endParaRPr lang="en-US" sz="2200" dirty="0"/>
          </a:p>
        </p:txBody>
      </p:sp>
      <p:sp>
        <p:nvSpPr>
          <p:cNvPr id="19" name="Shape 17"/>
          <p:cNvSpPr/>
          <p:nvPr/>
        </p:nvSpPr>
        <p:spPr>
          <a:xfrm>
            <a:off x="4222496" y="658368"/>
            <a:ext cx="7509256" cy="475488"/>
          </a:xfrm>
          <a:prstGeom prst="rect">
            <a:avLst/>
          </a:prstGeom>
          <a:solidFill>
            <a:srgbClr val="EDF4FA"/>
          </a:solidFill>
          <a:ln/>
        </p:spPr>
      </p:sp>
      <p:sp>
        <p:nvSpPr>
          <p:cNvPr id="20" name="Text 18"/>
          <p:cNvSpPr txBox="1"/>
          <p:nvPr/>
        </p:nvSpPr>
        <p:spPr>
          <a:xfrm>
            <a:off x="4350512" y="658368"/>
            <a:ext cx="72532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Absorption 103.6%   ·   2nd · CP ELR $235   ·   2nd · Proficiency 117%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$437K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$3.04M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$3.23M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$256K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$241K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3,917</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4,379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$211K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616 more ROs.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378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11.8%</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149 more a year.</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$14,916</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4.1 heads over peer avg.</a:t>
            </a:r>
            <a:endParaRPr lang="en-US" sz="14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Cadillac</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$9.60M</a:t>
            </a:r>
            <a:pPr indent="0" marL="0">
              <a:buNone/>
            </a:pPr>
            <a:r>
              <a:rPr lang="en-US" sz="1400" b="1" dirty="0">
                <a:solidFill>
                  <a:srgbClr val="0B7A4A"/>
                </a:solidFill>
                <a:latin typeface="Inter" pitchFamily="34" charset="0"/>
                <a:ea typeface="Inter" pitchFamily="34" charset="-122"/>
                <a:cs typeface="Inter" pitchFamily="34" charset="-120"/>
              </a:rPr>
              <a:t>  +$664K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$2.60M</a:t>
            </a:r>
            <a:pPr indent="0" marL="0">
              <a:buNone/>
            </a:pPr>
            <a:r>
              <a:rPr lang="en-US" sz="1400" b="1" dirty="0">
                <a:solidFill>
                  <a:srgbClr val="0B7A4A"/>
                </a:solidFill>
                <a:latin typeface="Inter" pitchFamily="34" charset="0"/>
                <a:ea typeface="Inter" pitchFamily="34" charset="-122"/>
                <a:cs typeface="Inter" pitchFamily="34" charset="-120"/>
              </a:rPr>
              <a:t>  +$766K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86.1%</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5,344</a:t>
            </a:r>
            <a:pPr indent="0" marL="0">
              <a:buNone/>
            </a:pPr>
            <a:r>
              <a:rPr lang="en-US" sz="1400" b="1" dirty="0">
                <a:solidFill>
                  <a:srgbClr val="0B7A4A"/>
                </a:solidFill>
                <a:latin typeface="Inter" pitchFamily="34" charset="0"/>
                <a:ea typeface="Inter" pitchFamily="34" charset="-122"/>
                <a:cs typeface="Inter" pitchFamily="34" charset="-120"/>
              </a:rPr>
              <a:t>  +137</a:t>
            </a:r>
            <a:endParaRPr lang="en-US" sz="2200" dirty="0"/>
          </a:p>
        </p:txBody>
      </p:sp>
      <p:sp>
        <p:nvSpPr>
          <p:cNvPr id="19" name="Shape 17"/>
          <p:cNvSpPr/>
          <p:nvPr/>
        </p:nvSpPr>
        <p:spPr>
          <a:xfrm>
            <a:off x="9216898" y="658368"/>
            <a:ext cx="2514854" cy="475488"/>
          </a:xfrm>
          <a:prstGeom prst="rect">
            <a:avLst/>
          </a:prstGeom>
          <a:solidFill>
            <a:srgbClr val="EDF4FA"/>
          </a:solidFill>
          <a:ln/>
        </p:spPr>
      </p:sp>
      <p:sp>
        <p:nvSpPr>
          <p:cNvPr id="20" name="Text 18"/>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Net profit +$766K</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$464</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$939K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$175</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$411K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379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$46K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170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$6.49M</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$6.51M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643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40.5%</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6,556 more a year.</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2,005 more a year.</a:t>
            </a:r>
            <a:endParaRPr lang="en-US" sz="1400" dirty="0"/>
          </a:p>
        </p:txBody>
      </p:sp>
      <p:sp>
        <p:nvSpPr>
          <p:cNvPr id="95" name="Text 93"/>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7" name="Text 95"/>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$14,260</a:t>
            </a:r>
            <a:endParaRPr lang="en-US" sz="1400" dirty="0"/>
          </a:p>
        </p:txBody>
      </p:sp>
      <p:sp>
        <p:nvSpPr>
          <p:cNvPr id="98" name="Text 96"/>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9" name="Text 97"/>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12.0 heads over peer avg.</a:t>
            </a:r>
            <a:endParaRPr lang="en-US" sz="14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CDJR Post Falls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$3.55M</a:t>
            </a:r>
            <a:pPr indent="0" marL="0">
              <a:buNone/>
            </a:pPr>
            <a:r>
              <a:rPr lang="en-US" sz="1400" b="1" dirty="0">
                <a:solidFill>
                  <a:srgbClr val="A82B26"/>
                </a:solidFill>
                <a:latin typeface="Inter" pitchFamily="34" charset="0"/>
                <a:ea typeface="Inter" pitchFamily="34" charset="-122"/>
                <a:cs typeface="Inter" pitchFamily="34" charset="-120"/>
              </a:rPr>
              <a:t>  −$204K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$800,469</a:t>
            </a:r>
            <a:pPr indent="0" marL="0">
              <a:buNone/>
            </a:pPr>
            <a:r>
              <a:rPr lang="en-US" sz="1400" b="1" dirty="0">
                <a:solidFill>
                  <a:srgbClr val="0B7A4A"/>
                </a:solidFill>
                <a:latin typeface="Inter" pitchFamily="34" charset="0"/>
                <a:ea typeface="Inter" pitchFamily="34" charset="-122"/>
                <a:cs typeface="Inter" pitchFamily="34" charset="-120"/>
              </a:rPr>
              <a:t>  +$54K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81.5%</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5,358</a:t>
            </a:r>
            <a:pPr indent="0" marL="0">
              <a:buNone/>
            </a:pPr>
            <a:r>
              <a:rPr lang="en-US" sz="1400" b="1" dirty="0">
                <a:solidFill>
                  <a:srgbClr val="A82B26"/>
                </a:solidFill>
                <a:latin typeface="Inter" pitchFamily="34" charset="0"/>
                <a:ea typeface="Inter" pitchFamily="34" charset="-122"/>
                <a:cs typeface="Inter" pitchFamily="34" charset="-120"/>
              </a:rPr>
              <a:t>  −277</a:t>
            </a:r>
            <a:endParaRPr lang="en-US" sz="22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14</a:t>
            </a:r>
            <a:endParaRPr lang="en-US" sz="1400" dirty="0"/>
          </a:p>
        </p:txBody>
      </p:sp>
      <p:sp>
        <p:nvSpPr>
          <p:cNvPr id="30" name="Text 28"/>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$1.20M</a:t>
            </a:r>
            <a:endParaRPr lang="en-US" sz="1400" dirty="0"/>
          </a:p>
        </p:txBody>
      </p:sp>
      <p:sp>
        <p:nvSpPr>
          <p:cNvPr id="32" name="Text 30"/>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37866"/>
            <a:ext cx="10872216" cy="323850"/>
          </a:xfrm>
          <a:prstGeom prst="rect">
            <a:avLst/>
          </a:prstGeom>
          <a:solidFill>
            <a:srgbClr val="F7F7F7"/>
          </a:solidFill>
          <a:ln/>
        </p:spPr>
      </p:sp>
      <p:sp>
        <p:nvSpPr>
          <p:cNvPr id="34" name="Text 32"/>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6" name="Text 34"/>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$1.26M</a:t>
            </a:r>
            <a:endParaRPr lang="en-US" sz="1400" dirty="0"/>
          </a:p>
        </p:txBody>
      </p:sp>
      <p:sp>
        <p:nvSpPr>
          <p:cNvPr id="37" name="Text 35"/>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$195K</a:t>
            </a:r>
            <a:endParaRPr lang="en-US" sz="1400" dirty="0"/>
          </a:p>
        </p:txBody>
      </p:sp>
      <p:sp>
        <p:nvSpPr>
          <p:cNvPr id="39" name="Text 37"/>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0" name="Text 38"/>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2" name="Text 40"/>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5,358</a:t>
            </a:r>
            <a:endParaRPr lang="en-US" sz="1400" dirty="0"/>
          </a:p>
        </p:txBody>
      </p:sp>
      <p:sp>
        <p:nvSpPr>
          <p:cNvPr id="43" name="Text 41"/>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5,635</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5" name="Text 43"/>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369 more ROs.</a:t>
            </a:r>
            <a:endParaRPr lang="en-US" sz="1400" dirty="0"/>
          </a:p>
        </p:txBody>
      </p:sp>
      <p:sp>
        <p:nvSpPr>
          <p:cNvPr id="46" name="Shape 44"/>
          <p:cNvSpPr/>
          <p:nvPr/>
        </p:nvSpPr>
        <p:spPr>
          <a:xfrm>
            <a:off x="658368" y="3385566"/>
            <a:ext cx="10872216" cy="323850"/>
          </a:xfrm>
          <a:prstGeom prst="rect">
            <a:avLst/>
          </a:prstGeom>
          <a:solidFill>
            <a:srgbClr val="F7F7F7"/>
          </a:solidFill>
          <a:ln/>
        </p:spPr>
      </p:sp>
      <p:sp>
        <p:nvSpPr>
          <p:cNvPr id="47" name="Text 45"/>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49" name="Text 47"/>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35.6%</a:t>
            </a:r>
            <a:endParaRPr lang="en-US" sz="1400" dirty="0"/>
          </a:p>
        </p:txBody>
      </p:sp>
      <p:sp>
        <p:nvSpPr>
          <p:cNvPr id="50" name="Text 48"/>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$114K</a:t>
            </a:r>
            <a:endParaRPr lang="en-US" sz="1400" dirty="0"/>
          </a:p>
        </p:txBody>
      </p:sp>
      <p:sp>
        <p:nvSpPr>
          <p:cNvPr id="52" name="Text 50"/>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3" name="Text 51"/>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55" name="Text 53"/>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$2.30M</a:t>
            </a:r>
            <a:endParaRPr lang="en-US" sz="1400" dirty="0"/>
          </a:p>
        </p:txBody>
      </p:sp>
      <p:sp>
        <p:nvSpPr>
          <p:cNvPr id="56" name="Text 54"/>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7" name="Text 55"/>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8" name="Text 56"/>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59" name="Shape 57"/>
          <p:cNvSpPr/>
          <p:nvPr/>
        </p:nvSpPr>
        <p:spPr>
          <a:xfrm>
            <a:off x="658368" y="4033266"/>
            <a:ext cx="10872216" cy="323850"/>
          </a:xfrm>
          <a:prstGeom prst="rect">
            <a:avLst/>
          </a:prstGeom>
          <a:solidFill>
            <a:srgbClr val="F7F7F7"/>
          </a:solidFill>
          <a:ln/>
        </p:spPr>
      </p:sp>
      <p:sp>
        <p:nvSpPr>
          <p:cNvPr id="60" name="Text 58"/>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2" name="Text 60"/>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a:t>
            </a:r>
            <a:endParaRPr lang="en-US" sz="1400" dirty="0"/>
          </a:p>
        </p:txBody>
      </p:sp>
      <p:sp>
        <p:nvSpPr>
          <p:cNvPr id="63" name="Text 61"/>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$73K</a:t>
            </a:r>
            <a:endParaRPr lang="en-US" sz="1400" dirty="0"/>
          </a:p>
        </p:txBody>
      </p:sp>
      <p:sp>
        <p:nvSpPr>
          <p:cNvPr id="65" name="Text 63"/>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981 more a year.</a:t>
            </a:r>
            <a:endParaRPr lang="en-US" sz="1400" dirty="0"/>
          </a:p>
        </p:txBody>
      </p:sp>
      <p:sp>
        <p:nvSpPr>
          <p:cNvPr id="66" name="Text 64"/>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8" name="Text 66"/>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a:t>
            </a:r>
            <a:endParaRPr lang="en-US" sz="1400" dirty="0"/>
          </a:p>
        </p:txBody>
      </p:sp>
      <p:sp>
        <p:nvSpPr>
          <p:cNvPr id="69" name="Text 67"/>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$62K</a:t>
            </a:r>
            <a:endParaRPr lang="en-US" sz="1400" dirty="0"/>
          </a:p>
        </p:txBody>
      </p:sp>
      <p:sp>
        <p:nvSpPr>
          <p:cNvPr id="71" name="Text 69"/>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321 more a year.</a:t>
            </a:r>
            <a:endParaRPr lang="en-US" sz="1400" dirty="0"/>
          </a:p>
        </p:txBody>
      </p:sp>
      <p:sp>
        <p:nvSpPr>
          <p:cNvPr id="72" name="Shape 70"/>
          <p:cNvSpPr/>
          <p:nvPr/>
        </p:nvSpPr>
        <p:spPr>
          <a:xfrm>
            <a:off x="658368" y="4680966"/>
            <a:ext cx="10872216" cy="323850"/>
          </a:xfrm>
          <a:prstGeom prst="rect">
            <a:avLst/>
          </a:prstGeom>
          <a:solidFill>
            <a:srgbClr val="F7F7F7"/>
          </a:solidFill>
          <a:ln/>
        </p:spPr>
      </p:sp>
      <p:sp>
        <p:nvSpPr>
          <p:cNvPr id="73" name="Text 71"/>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5" name="Text 73"/>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76" name="Text 74"/>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78" name="Text 76"/>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770 more a year.</a:t>
            </a:r>
            <a:endParaRPr lang="en-US" sz="1400" dirty="0"/>
          </a:p>
        </p:txBody>
      </p:sp>
      <p:sp>
        <p:nvSpPr>
          <p:cNvPr id="79" name="Text 77"/>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1" name="Text 79"/>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82" name="Text 80"/>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$53K</a:t>
            </a:r>
            <a:endParaRPr lang="en-US" sz="1400" dirty="0"/>
          </a:p>
        </p:txBody>
      </p:sp>
      <p:sp>
        <p:nvSpPr>
          <p:cNvPr id="84" name="Text 82"/>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412 more a year.</a:t>
            </a:r>
            <a:endParaRPr lang="en-US" sz="1400" dirty="0"/>
          </a:p>
        </p:txBody>
      </p:sp>
      <p:sp>
        <p:nvSpPr>
          <p:cNvPr id="85" name="Shape 83"/>
          <p:cNvSpPr/>
          <p:nvPr/>
        </p:nvSpPr>
        <p:spPr>
          <a:xfrm>
            <a:off x="658368" y="5323180"/>
            <a:ext cx="10872216" cy="10973"/>
          </a:xfrm>
          <a:prstGeom prst="rect">
            <a:avLst/>
          </a:prstGeom>
          <a:solidFill>
            <a:srgbClr val="9AA3AD"/>
          </a:solidFill>
          <a:ln/>
        </p:spPr>
      </p:sp>
      <p:sp>
        <p:nvSpPr>
          <p:cNvPr id="86" name="Text 84"/>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8" name="Text 86"/>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89" name="Text 87"/>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0" name="Text 88"/>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1" name="Text 89"/>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5,302 more a year.</a:t>
            </a:r>
            <a:endParaRPr lang="en-US" sz="1400" dirty="0"/>
          </a:p>
        </p:txBody>
      </p:sp>
      <p:sp>
        <p:nvSpPr>
          <p:cNvPr id="92" name="Text 90"/>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3" name="Text 91"/>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4" name="Text 92"/>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$9,953</a:t>
            </a:r>
            <a:endParaRPr lang="en-US" sz="1400" dirty="0"/>
          </a:p>
        </p:txBody>
      </p:sp>
      <p:sp>
        <p:nvSpPr>
          <p:cNvPr id="95" name="Text 93"/>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6" name="Text 94"/>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7" name="Text 95"/>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8.6 heads over peer avg.</a:t>
            </a:r>
            <a:endParaRPr lang="en-US" sz="1400" dirty="0"/>
          </a:p>
        </p:txBody>
      </p:sp>
      <p:sp>
        <p:nvSpPr>
          <p:cNvPr id="98" name="Shape 96"/>
          <p:cNvSpPr/>
          <p:nvPr/>
        </p:nvSpPr>
        <p:spPr>
          <a:xfrm>
            <a:off x="658368" y="5976366"/>
            <a:ext cx="10872216" cy="323850"/>
          </a:xfrm>
          <a:prstGeom prst="rect">
            <a:avLst/>
          </a:prstGeom>
          <a:solidFill>
            <a:srgbClr val="F7F7F7"/>
          </a:solidFill>
          <a:ln/>
        </p:spPr>
      </p:sp>
      <p:sp>
        <p:nvSpPr>
          <p:cNvPr id="99" name="Text 97"/>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0" name="Text 98"/>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1" name="Text 99"/>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81.7%</a:t>
            </a:r>
            <a:endParaRPr lang="en-US" sz="1400" dirty="0"/>
          </a:p>
        </p:txBody>
      </p:sp>
      <p:sp>
        <p:nvSpPr>
          <p:cNvPr id="102" name="Text 100"/>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3" name="Text 101"/>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1,052 more a year.</a:t>
            </a:r>
            <a:endParaRPr lang="en-US" sz="14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GMC Bullhead</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$4.53M</a:t>
            </a:r>
            <a:pPr indent="0" marL="0">
              <a:buNone/>
            </a:pPr>
            <a:r>
              <a:rPr lang="en-US" sz="1400" b="1" dirty="0">
                <a:solidFill>
                  <a:srgbClr val="0B7A4A"/>
                </a:solidFill>
                <a:latin typeface="Inter" pitchFamily="34" charset="0"/>
                <a:ea typeface="Inter" pitchFamily="34" charset="-122"/>
                <a:cs typeface="Inter" pitchFamily="34" charset="-120"/>
              </a:rPr>
              <a:t>  +$39K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$1.12M</a:t>
            </a:r>
            <a:pPr indent="0" marL="0">
              <a:buNone/>
            </a:pPr>
            <a:r>
              <a:rPr lang="en-US" sz="1400" b="1" dirty="0">
                <a:solidFill>
                  <a:srgbClr val="0B7A4A"/>
                </a:solidFill>
                <a:latin typeface="Inter" pitchFamily="34" charset="0"/>
                <a:ea typeface="Inter" pitchFamily="34" charset="-122"/>
                <a:cs typeface="Inter" pitchFamily="34" charset="-120"/>
              </a:rPr>
              <a:t>  +$337K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6,309</a:t>
            </a:r>
            <a:pPr indent="0" marL="0">
              <a:buNone/>
            </a:pPr>
            <a:r>
              <a:rPr lang="en-US" sz="1400" b="1" dirty="0">
                <a:solidFill>
                  <a:srgbClr val="0B7A4A"/>
                </a:solidFill>
                <a:latin typeface="Inter" pitchFamily="34" charset="0"/>
                <a:ea typeface="Inter" pitchFamily="34" charset="-122"/>
                <a:cs typeface="Inter" pitchFamily="34" charset="-120"/>
              </a:rPr>
              <a:t>  +212</a:t>
            </a:r>
            <a:endParaRPr lang="en-US" sz="2200" dirty="0"/>
          </a:p>
        </p:txBody>
      </p:sp>
      <p:sp>
        <p:nvSpPr>
          <p:cNvPr id="19" name="Shape 17"/>
          <p:cNvSpPr/>
          <p:nvPr/>
        </p:nvSpPr>
        <p:spPr>
          <a:xfrm>
            <a:off x="6955282" y="658368"/>
            <a:ext cx="4776470" cy="475488"/>
          </a:xfrm>
          <a:prstGeom prst="rect">
            <a:avLst/>
          </a:prstGeom>
          <a:solidFill>
            <a:srgbClr val="EDF4FA"/>
          </a:solidFill>
          <a:ln/>
        </p:spPr>
      </p:sp>
      <p:sp>
        <p:nvSpPr>
          <p:cNvPr id="20" name="Text 18"/>
          <p:cNvSpPr txBox="1"/>
          <p:nvPr/>
        </p:nvSpPr>
        <p:spPr>
          <a:xfrm>
            <a:off x="7083298" y="658368"/>
            <a:ext cx="4520438"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Net profit +$337K   ·   8th · CP ROs +212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400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9.0%</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496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77.3%</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21.8%</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4,006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$10,391</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8.9 heads over peer avg.</a:t>
            </a:r>
            <a:endParaRPr lang="en-US" sz="1400" dirty="0"/>
          </a:p>
        </p:txBody>
      </p:sp>
      <p:sp>
        <p:nvSpPr>
          <p:cNvPr id="87" name="Shape 85"/>
          <p:cNvSpPr/>
          <p:nvPr/>
        </p:nvSpPr>
        <p:spPr>
          <a:xfrm>
            <a:off x="658368" y="5376672"/>
            <a:ext cx="10872216" cy="329184"/>
          </a:xfrm>
          <a:prstGeom prst="rect">
            <a:avLst/>
          </a:prstGeom>
          <a:solidFill>
            <a:srgbClr val="F7F7F7"/>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87.6%</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267 more a year.</a:t>
            </a:r>
            <a:endParaRPr lang="en-US" sz="14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$16.55M</a:t>
            </a:r>
            <a:pPr indent="0" marL="0">
              <a:buNone/>
            </a:pPr>
            <a:r>
              <a:rPr lang="en-US" sz="1400" b="1" dirty="0">
                <a:solidFill>
                  <a:srgbClr val="A82B26"/>
                </a:solidFill>
                <a:latin typeface="Inter" pitchFamily="34" charset="0"/>
                <a:ea typeface="Inter" pitchFamily="34" charset="-122"/>
                <a:cs typeface="Inter" pitchFamily="34" charset="-120"/>
              </a:rPr>
              <a:t>  −$437K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A82B26"/>
                </a:solidFill>
                <a:latin typeface="Inter" pitchFamily="34" charset="0"/>
                <a:ea typeface="Inter" pitchFamily="34" charset="-122"/>
                <a:cs typeface="Inter" pitchFamily="34" charset="-120"/>
              </a:rPr>
              <a:t>  −$643K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68.9%</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19,520</a:t>
            </a:r>
            <a:pPr indent="0" marL="0">
              <a:buNone/>
            </a:pPr>
            <a:r>
              <a:rPr lang="en-US" sz="1400" b="1" dirty="0">
                <a:solidFill>
                  <a:srgbClr val="A82B26"/>
                </a:solidFill>
                <a:latin typeface="Inter" pitchFamily="34" charset="0"/>
                <a:ea typeface="Inter" pitchFamily="34" charset="-122"/>
                <a:cs typeface="Inter" pitchFamily="34" charset="-120"/>
              </a:rPr>
              <a:t>  −952</a:t>
            </a:r>
            <a:endParaRPr lang="en-US" sz="2200" dirty="0"/>
          </a:p>
        </p:txBody>
      </p:sp>
      <p:sp>
        <p:nvSpPr>
          <p:cNvPr id="19" name="Shape 17"/>
          <p:cNvSpPr/>
          <p:nvPr/>
        </p:nvSpPr>
        <p:spPr>
          <a:xfrm>
            <a:off x="6389878" y="658368"/>
            <a:ext cx="5341874" cy="475488"/>
          </a:xfrm>
          <a:prstGeom prst="rect">
            <a:avLst/>
          </a:prstGeom>
          <a:solidFill>
            <a:srgbClr val="EDF4FA"/>
          </a:solidFill>
          <a:ln/>
        </p:spPr>
      </p:sp>
      <p:sp>
        <p:nvSpPr>
          <p:cNvPr id="20" name="Text 18"/>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9th · Hours per RO 2.30   ·   10th · Proficiency 103%</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51</a:t>
            </a:r>
            <a:endParaRPr lang="en-US" sz="1400" dirty="0"/>
          </a:p>
        </p:txBody>
      </p:sp>
      <p:sp>
        <p:nvSpPr>
          <p:cNvPr id="32" name="Text 30"/>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$1.05M</a:t>
            </a:r>
            <a:endParaRPr lang="en-US" sz="1400" dirty="0"/>
          </a:p>
        </p:txBody>
      </p:sp>
      <p:sp>
        <p:nvSpPr>
          <p:cNvPr id="34" name="Text 32"/>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5" name="Shape 33"/>
          <p:cNvSpPr/>
          <p:nvPr/>
        </p:nvSpPr>
        <p:spPr>
          <a:xfrm>
            <a:off x="658368" y="2712954"/>
            <a:ext cx="10872216" cy="298938"/>
          </a:xfrm>
          <a:prstGeom prst="rect">
            <a:avLst/>
          </a:prstGeom>
          <a:solidFill>
            <a:srgbClr val="F7F7F7"/>
          </a:solidFill>
          <a:ln/>
        </p:spPr>
      </p:sp>
      <p:sp>
        <p:nvSpPr>
          <p:cNvPr id="36" name="Text 34"/>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38" name="Text 36"/>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9" name="Text 37"/>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0" name="Text 38"/>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$671K</a:t>
            </a:r>
            <a:endParaRPr lang="en-US" sz="1400" dirty="0"/>
          </a:p>
        </p:txBody>
      </p:sp>
      <p:sp>
        <p:nvSpPr>
          <p:cNvPr id="41" name="Text 39"/>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2" name="Text 40"/>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4" name="Text 42"/>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$10.50M</a:t>
            </a:r>
            <a:endParaRPr lang="en-US" sz="1400" dirty="0"/>
          </a:p>
        </p:txBody>
      </p:sp>
      <p:sp>
        <p:nvSpPr>
          <p:cNvPr id="45" name="Text 43"/>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$10.89M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$526K</a:t>
            </a:r>
            <a:endParaRPr lang="en-US" sz="1400" dirty="0"/>
          </a:p>
        </p:txBody>
      </p:sp>
      <p:sp>
        <p:nvSpPr>
          <p:cNvPr id="47" name="Text 45"/>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8" name="Shape 46"/>
          <p:cNvSpPr/>
          <p:nvPr/>
        </p:nvSpPr>
        <p:spPr>
          <a:xfrm>
            <a:off x="658368" y="3310831"/>
            <a:ext cx="10872216" cy="298938"/>
          </a:xfrm>
          <a:prstGeom prst="rect">
            <a:avLst/>
          </a:prstGeom>
          <a:solidFill>
            <a:srgbClr val="F7F7F7"/>
          </a:solidFill>
          <a:ln/>
        </p:spPr>
      </p:sp>
      <p:sp>
        <p:nvSpPr>
          <p:cNvPr id="49" name="Text 47"/>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19,520</a:t>
            </a:r>
            <a:endParaRPr lang="en-US" sz="1400" dirty="0"/>
          </a:p>
        </p:txBody>
      </p:sp>
      <p:sp>
        <p:nvSpPr>
          <p:cNvPr id="52" name="Text 50"/>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20,472</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$434K</a:t>
            </a:r>
            <a:endParaRPr lang="en-US" sz="1400" dirty="0"/>
          </a:p>
        </p:txBody>
      </p:sp>
      <p:sp>
        <p:nvSpPr>
          <p:cNvPr id="54" name="Text 52"/>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1,269 more ROs.</a:t>
            </a:r>
            <a:endParaRPr lang="en-US" sz="1400" dirty="0"/>
          </a:p>
        </p:txBody>
      </p:sp>
      <p:sp>
        <p:nvSpPr>
          <p:cNvPr id="55" name="Text 53"/>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7" name="Text 55"/>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36.2%</a:t>
            </a:r>
            <a:endParaRPr lang="en-US" sz="1400" dirty="0"/>
          </a:p>
        </p:txBody>
      </p:sp>
      <p:sp>
        <p:nvSpPr>
          <p:cNvPr id="58" name="Text 56"/>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$314K</a:t>
            </a:r>
            <a:endParaRPr lang="en-US" sz="1400" dirty="0"/>
          </a:p>
        </p:txBody>
      </p:sp>
      <p:sp>
        <p:nvSpPr>
          <p:cNvPr id="60" name="Text 58"/>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1" name="Shape 59"/>
          <p:cNvSpPr/>
          <p:nvPr/>
        </p:nvSpPr>
        <p:spPr>
          <a:xfrm>
            <a:off x="658368" y="3908708"/>
            <a:ext cx="10872216" cy="298938"/>
          </a:xfrm>
          <a:prstGeom prst="rect">
            <a:avLst/>
          </a:prstGeom>
          <a:solidFill>
            <a:srgbClr val="F7F7F7"/>
          </a:solidFill>
          <a:ln/>
        </p:spPr>
      </p:sp>
      <p:sp>
        <p:nvSpPr>
          <p:cNvPr id="62" name="Text 60"/>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4" name="Text 62"/>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5.7%</a:t>
            </a:r>
            <a:endParaRPr lang="en-US" sz="1400" dirty="0"/>
          </a:p>
        </p:txBody>
      </p:sp>
      <p:sp>
        <p:nvSpPr>
          <p:cNvPr id="65" name="Text 63"/>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67" name="Text 65"/>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1,093 more a year.</a:t>
            </a:r>
            <a:endParaRPr lang="en-US" sz="1400" dirty="0"/>
          </a:p>
        </p:txBody>
      </p:sp>
      <p:sp>
        <p:nvSpPr>
          <p:cNvPr id="68" name="Text 66"/>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0" name="Text 68"/>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1" name="Text 69"/>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$142K</a:t>
            </a:r>
            <a:endParaRPr lang="en-US" sz="1400" dirty="0"/>
          </a:p>
        </p:txBody>
      </p:sp>
      <p:sp>
        <p:nvSpPr>
          <p:cNvPr id="73" name="Text 71"/>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585 more a year.</a:t>
            </a:r>
            <a:endParaRPr lang="en-US" sz="1400" dirty="0"/>
          </a:p>
        </p:txBody>
      </p:sp>
      <p:sp>
        <p:nvSpPr>
          <p:cNvPr id="74" name="Shape 72"/>
          <p:cNvSpPr/>
          <p:nvPr/>
        </p:nvSpPr>
        <p:spPr>
          <a:xfrm>
            <a:off x="658368" y="4506585"/>
            <a:ext cx="10872216" cy="298938"/>
          </a:xfrm>
          <a:prstGeom prst="rect">
            <a:avLst/>
          </a:prstGeom>
          <a:solidFill>
            <a:srgbClr val="F7F7F7"/>
          </a:solidFill>
          <a:ln/>
        </p:spPr>
      </p:sp>
      <p:sp>
        <p:nvSpPr>
          <p:cNvPr id="75" name="Text 73"/>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7" name="Text 75"/>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a:t>
            </a:r>
            <a:endParaRPr lang="en-US" sz="1400" dirty="0"/>
          </a:p>
        </p:txBody>
      </p:sp>
      <p:sp>
        <p:nvSpPr>
          <p:cNvPr id="78" name="Text 76"/>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$106K</a:t>
            </a:r>
            <a:endParaRPr lang="en-US" sz="1400" dirty="0"/>
          </a:p>
        </p:txBody>
      </p:sp>
      <p:sp>
        <p:nvSpPr>
          <p:cNvPr id="80" name="Text 78"/>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2,001 more a year.</a:t>
            </a:r>
            <a:endParaRPr lang="en-US" sz="1400" dirty="0"/>
          </a:p>
        </p:txBody>
      </p:sp>
      <p:sp>
        <p:nvSpPr>
          <p:cNvPr id="81" name="Text 79"/>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83" name="Text 81"/>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12.8%</a:t>
            </a:r>
            <a:endParaRPr lang="en-US" sz="1400" dirty="0"/>
          </a:p>
        </p:txBody>
      </p:sp>
      <p:sp>
        <p:nvSpPr>
          <p:cNvPr id="84" name="Text 82"/>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86" name="Text 84"/>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556 more a year.</a:t>
            </a:r>
            <a:endParaRPr lang="en-US" sz="1400" dirty="0"/>
          </a:p>
        </p:txBody>
      </p:sp>
      <p:sp>
        <p:nvSpPr>
          <p:cNvPr id="87" name="Shape 85"/>
          <p:cNvSpPr/>
          <p:nvPr/>
        </p:nvSpPr>
        <p:spPr>
          <a:xfrm>
            <a:off x="658368" y="5104462"/>
            <a:ext cx="10872216" cy="298938"/>
          </a:xfrm>
          <a:prstGeom prst="rect">
            <a:avLst/>
          </a:prstGeom>
          <a:solidFill>
            <a:srgbClr val="F7F7F7"/>
          </a:solidFill>
          <a:ln/>
        </p:spPr>
      </p:sp>
      <p:sp>
        <p:nvSpPr>
          <p:cNvPr id="88" name="Text 86"/>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90" name="Text 88"/>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$6.05M</a:t>
            </a:r>
            <a:endParaRPr lang="en-US" sz="1400" dirty="0"/>
          </a:p>
        </p:txBody>
      </p:sp>
      <p:sp>
        <p:nvSpPr>
          <p:cNvPr id="91" name="Text 89"/>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$6.09M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92" name="Text 90"/>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3" name="Text 91"/>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94" name="Shape 92"/>
          <p:cNvSpPr/>
          <p:nvPr/>
        </p:nvSpPr>
        <p:spPr>
          <a:xfrm>
            <a:off x="658368" y="5397914"/>
            <a:ext cx="10872216" cy="10973"/>
          </a:xfrm>
          <a:prstGeom prst="rect">
            <a:avLst/>
          </a:prstGeom>
          <a:solidFill>
            <a:srgbClr val="9AA3AD"/>
          </a:solidFill>
          <a:ln/>
        </p:spPr>
      </p:sp>
      <p:sp>
        <p:nvSpPr>
          <p:cNvPr id="95" name="Text 93"/>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7" name="Text 95"/>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98" name="Text 96"/>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9" name="Text 97"/>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6,624 more a year.</a:t>
            </a:r>
            <a:endParaRPr lang="en-US" sz="1400" dirty="0"/>
          </a:p>
        </p:txBody>
      </p:sp>
      <p:sp>
        <p:nvSpPr>
          <p:cNvPr id="101" name="Shape 99"/>
          <p:cNvSpPr/>
          <p:nvPr/>
        </p:nvSpPr>
        <p:spPr>
          <a:xfrm>
            <a:off x="658368" y="5702339"/>
            <a:ext cx="10872216" cy="298938"/>
          </a:xfrm>
          <a:prstGeom prst="rect">
            <a:avLst/>
          </a:prstGeom>
          <a:solidFill>
            <a:srgbClr val="F7F7F7"/>
          </a:solidFill>
          <a:ln/>
        </p:spPr>
      </p:sp>
      <p:sp>
        <p:nvSpPr>
          <p:cNvPr id="102" name="Text 100"/>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3" name="Text 101"/>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4" name="Text 102"/>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84.5%</a:t>
            </a:r>
            <a:endParaRPr lang="en-US" sz="1400" dirty="0"/>
          </a:p>
        </p:txBody>
      </p:sp>
      <p:sp>
        <p:nvSpPr>
          <p:cNvPr id="105" name="Text 103"/>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6" name="Text 104"/>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7" name="Text 105"/>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2,065 more a year.</a:t>
            </a:r>
            <a:endParaRPr lang="en-US" sz="1400" dirty="0"/>
          </a:p>
        </p:txBody>
      </p:sp>
      <p:sp>
        <p:nvSpPr>
          <p:cNvPr id="108" name="Text 106"/>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9" name="Text 107"/>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10" name="Text 108"/>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$12,042</a:t>
            </a:r>
            <a:endParaRPr lang="en-US" sz="1400" dirty="0"/>
          </a:p>
        </p:txBody>
      </p:sp>
      <p:sp>
        <p:nvSpPr>
          <p:cNvPr id="111" name="Text 109"/>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12" name="Text 110"/>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13" name="Text 111"/>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8.1 heads over peer avg.</a:t>
            </a:r>
            <a:endParaRPr lang="en-US" sz="14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GMC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0B7A4A"/>
                </a:solidFill>
                <a:latin typeface="Inter" pitchFamily="34" charset="0"/>
                <a:ea typeface="Inter" pitchFamily="34" charset="-122"/>
                <a:cs typeface="Inter" pitchFamily="34" charset="-120"/>
              </a:rPr>
              <a:t>  +$178K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$19,561</a:t>
            </a:r>
            <a:pPr indent="0" marL="0">
              <a:buNone/>
            </a:pPr>
            <a:r>
              <a:rPr lang="en-US" sz="1400" b="1" dirty="0">
                <a:solidFill>
                  <a:srgbClr val="0B7A4A"/>
                </a:solidFill>
                <a:latin typeface="Inter" pitchFamily="34" charset="0"/>
                <a:ea typeface="Inter" pitchFamily="34" charset="-122"/>
                <a:cs typeface="Inter" pitchFamily="34" charset="-120"/>
              </a:rPr>
              <a:t>  +$144K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75.6%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3,107</a:t>
            </a:r>
            <a:pPr indent="0" marL="0">
              <a:buNone/>
            </a:pPr>
            <a:r>
              <a:rPr lang="en-US" sz="1400" b="1" dirty="0">
                <a:solidFill>
                  <a:srgbClr val="0B7A4A"/>
                </a:solidFill>
                <a:latin typeface="Inter" pitchFamily="34" charset="0"/>
                <a:ea typeface="Inter" pitchFamily="34" charset="-122"/>
                <a:cs typeface="Inter" pitchFamily="34" charset="-120"/>
              </a:rPr>
              <a:t>  +297</a:t>
            </a:r>
            <a:endParaRPr lang="en-US" sz="2200" dirty="0"/>
          </a:p>
        </p:txBody>
      </p:sp>
      <p:sp>
        <p:nvSpPr>
          <p:cNvPr id="19" name="Shape 17"/>
          <p:cNvSpPr/>
          <p:nvPr/>
        </p:nvSpPr>
        <p:spPr>
          <a:xfrm>
            <a:off x="4693666" y="658368"/>
            <a:ext cx="7038086" cy="475488"/>
          </a:xfrm>
          <a:prstGeom prst="rect">
            <a:avLst/>
          </a:prstGeom>
          <a:solidFill>
            <a:srgbClr val="EDF4FA"/>
          </a:solidFill>
          <a:ln/>
        </p:spPr>
      </p:sp>
      <p:sp>
        <p:nvSpPr>
          <p:cNvPr id="20" name="Text 18"/>
          <p:cNvSpPr txBox="1"/>
          <p:nvPr/>
        </p:nvSpPr>
        <p:spPr>
          <a:xfrm>
            <a:off x="4821682" y="658368"/>
            <a:ext cx="678205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6th · CP ROs +297   ·   8th · Hours per RO +0.26   ·   10th · MPI 93.2%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$574K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300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160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162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11.7%</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135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35.1%</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1,506 more a year.</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$9,498</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$1.59M</a:t>
            </a:r>
            <a:pPr indent="0" marL="0">
              <a:buNone/>
            </a:pPr>
            <a:r>
              <a:rPr lang="en-US" sz="1400" b="1" dirty="0">
                <a:solidFill>
                  <a:srgbClr val="0B7A4A"/>
                </a:solidFill>
                <a:latin typeface="Inter" pitchFamily="34" charset="0"/>
                <a:ea typeface="Inter" pitchFamily="34" charset="-122"/>
                <a:cs typeface="Inter" pitchFamily="34" charset="-120"/>
              </a:rPr>
              <a:t>  +$23K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$79,496</a:t>
            </a:r>
            <a:pPr indent="0" marL="0">
              <a:buNone/>
            </a:pPr>
            <a:r>
              <a:rPr lang="en-US" sz="1400" b="1" dirty="0">
                <a:solidFill>
                  <a:srgbClr val="0B7A4A"/>
                </a:solidFill>
                <a:latin typeface="Inter" pitchFamily="34" charset="0"/>
                <a:ea typeface="Inter" pitchFamily="34" charset="-122"/>
                <a:cs typeface="Inter" pitchFamily="34" charset="-120"/>
              </a:rPr>
              <a:t>  +$53K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63.7%</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4,030</a:t>
            </a:r>
            <a:pPr indent="0" marL="0">
              <a:buNone/>
            </a:pPr>
            <a:r>
              <a:rPr lang="en-US" sz="1400" b="1" dirty="0">
                <a:solidFill>
                  <a:srgbClr val="A82B26"/>
                </a:solidFill>
                <a:latin typeface="Inter" pitchFamily="34" charset="0"/>
                <a:ea typeface="Inter" pitchFamily="34" charset="-122"/>
                <a:cs typeface="Inter" pitchFamily="34" charset="-120"/>
              </a:rPr>
              <a:t>  −30</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Parts GP 45.1%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$473K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$79K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+0.08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367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0.7%</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$60K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735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$1.04M</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210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4,030</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4,060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40 more ROs.</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$9,149</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5.4 heads over peer avg.</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86.3%</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245 more a year.</a:t>
            </a:r>
            <a:endParaRPr lang="en-US" sz="14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$14.42M</a:t>
            </a:r>
            <a:pPr indent="0" marL="0">
              <a:buNone/>
            </a:pPr>
            <a:r>
              <a:rPr lang="en-US" sz="1400" b="1" dirty="0">
                <a:solidFill>
                  <a:srgbClr val="0B7A4A"/>
                </a:solidFill>
                <a:latin typeface="Inter" pitchFamily="34" charset="0"/>
                <a:ea typeface="Inter" pitchFamily="34" charset="-122"/>
                <a:cs typeface="Inter" pitchFamily="34" charset="-120"/>
              </a:rPr>
              <a:t>  +$932K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$6.08M</a:t>
            </a:r>
            <a:pPr indent="0" marL="0">
              <a:buNone/>
            </a:pPr>
            <a:r>
              <a:rPr lang="en-US" sz="1400" b="1" dirty="0">
                <a:solidFill>
                  <a:srgbClr val="0B7A4A"/>
                </a:solidFill>
                <a:latin typeface="Inter" pitchFamily="34" charset="0"/>
                <a:ea typeface="Inter" pitchFamily="34" charset="-122"/>
                <a:cs typeface="Inter" pitchFamily="34" charset="-120"/>
              </a:rPr>
              <a:t>  +$692K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86.3%</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22,527</a:t>
            </a:r>
            <a:pPr indent="0" marL="0">
              <a:buNone/>
            </a:pPr>
            <a:r>
              <a:rPr lang="en-US" sz="1400" b="1" dirty="0">
                <a:solidFill>
                  <a:srgbClr val="A82B26"/>
                </a:solidFill>
                <a:latin typeface="Inter" pitchFamily="34" charset="0"/>
                <a:ea typeface="Inter" pitchFamily="34" charset="-122"/>
                <a:cs typeface="Inter" pitchFamily="34" charset="-120"/>
              </a:rPr>
              <a:t>  −190</a:t>
            </a:r>
            <a:endParaRPr lang="en-US" sz="2200" dirty="0"/>
          </a:p>
        </p:txBody>
      </p:sp>
      <p:sp>
        <p:nvSpPr>
          <p:cNvPr id="19" name="Shape 17"/>
          <p:cNvSpPr/>
          <p:nvPr/>
        </p:nvSpPr>
        <p:spPr>
          <a:xfrm>
            <a:off x="6389878" y="658368"/>
            <a:ext cx="5341874" cy="475488"/>
          </a:xfrm>
          <a:prstGeom prst="rect">
            <a:avLst/>
          </a:prstGeom>
          <a:solidFill>
            <a:srgbClr val="EDF4FA"/>
          </a:solidFill>
          <a:ln/>
        </p:spPr>
      </p:sp>
      <p:sp>
        <p:nvSpPr>
          <p:cNvPr id="20" name="Text 18"/>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Proficiency 118%   ·   2nd · Tire balance 18.4%</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1</a:t>
            </a:r>
            <a:endParaRPr lang="en-US" sz="16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Techs under 85%</a:t>
            </a:r>
            <a:endParaRPr lang="en-US" sz="16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5 of 28</a:t>
            </a:r>
            <a:endParaRPr lang="en-US" sz="16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85%</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$155K</a:t>
            </a:r>
            <a:endParaRPr lang="en-US" sz="16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Lift the 5 under 85%: dispatch, parts.</a:t>
            </a:r>
            <a:endParaRPr lang="en-US" sz="16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2</a:t>
            </a:r>
            <a:endParaRPr lang="en-US" sz="16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CP RO count</a:t>
            </a:r>
            <a:endParaRPr lang="en-US" sz="16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22,527</a:t>
            </a:r>
            <a:endParaRPr lang="en-US" sz="16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22,717</a:t>
            </a:r>
            <a:pPr indent="0" marL="0">
              <a:buNone/>
            </a:pPr>
            <a:r>
              <a:rPr lang="en-US" sz="1600" dirty="0">
                <a:solidFill>
                  <a:srgbClr val="595959"/>
                </a:solidFill>
                <a:latin typeface="Inter" pitchFamily="34" charset="0"/>
                <a:ea typeface="Inter" pitchFamily="34" charset="-122"/>
                <a:cs typeface="Inter" pitchFamily="34" charset="-120"/>
              </a:rPr>
              <a:t> in 2025</a:t>
            </a:r>
            <a:endParaRPr lang="en-US" sz="16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$87K</a:t>
            </a:r>
            <a:endParaRPr lang="en-US" sz="16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Win back lapsed customers: 253 more ROs.</a:t>
            </a:r>
            <a:endParaRPr lang="en-US" sz="1600" dirty="0"/>
          </a:p>
        </p:txBody>
      </p:sp>
      <p:sp>
        <p:nvSpPr>
          <p:cNvPr id="42" name="Shape 40"/>
          <p:cNvSpPr/>
          <p:nvPr/>
        </p:nvSpPr>
        <p:spPr>
          <a:xfrm>
            <a:off x="658368" y="3066898"/>
            <a:ext cx="10872216" cy="10973"/>
          </a:xfrm>
          <a:prstGeom prst="rect">
            <a:avLst/>
          </a:prstGeom>
          <a:solidFill>
            <a:srgbClr val="9AA3AD"/>
          </a:solidFill>
          <a:ln/>
        </p:spPr>
      </p:sp>
      <p:sp>
        <p:nvSpPr>
          <p:cNvPr id="43" name="Text 41"/>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3</a:t>
            </a:r>
            <a:endParaRPr lang="en-US" sz="1600" dirty="0"/>
          </a:p>
        </p:txBody>
      </p:sp>
      <p:sp>
        <p:nvSpPr>
          <p:cNvPr id="44" name="Text 42"/>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MPI completion</a:t>
            </a:r>
            <a:endParaRPr lang="en-US" sz="1600" dirty="0"/>
          </a:p>
        </p:txBody>
      </p:sp>
      <p:sp>
        <p:nvSpPr>
          <p:cNvPr id="45" name="Text 43"/>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82.5%</a:t>
            </a:r>
            <a:endParaRPr lang="en-US" sz="1600" dirty="0"/>
          </a:p>
        </p:txBody>
      </p:sp>
      <p:sp>
        <p:nvSpPr>
          <p:cNvPr id="46" name="Text 44"/>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90%</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47" name="Text 45"/>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600" dirty="0">
                <a:solidFill>
                  <a:srgbClr val="9AA3AD"/>
                </a:solidFill>
                <a:latin typeface="Inter" pitchFamily="34" charset="0"/>
                <a:ea typeface="Inter" pitchFamily="34" charset="-122"/>
                <a:cs typeface="Inter" pitchFamily="34" charset="-120"/>
              </a:rPr>
              <a:t>—</a:t>
            </a:r>
            <a:endParaRPr lang="en-US" sz="1600" dirty="0"/>
          </a:p>
        </p:txBody>
      </p:sp>
      <p:sp>
        <p:nvSpPr>
          <p:cNvPr id="48" name="Text 46"/>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MPI every car: 2,945 more a year.</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North</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$8.62M</a:t>
            </a:r>
            <a:pPr indent="0" marL="0">
              <a:buNone/>
            </a:pPr>
            <a:r>
              <a:rPr lang="en-US" sz="1400" b="1" dirty="0">
                <a:solidFill>
                  <a:srgbClr val="A82B26"/>
                </a:solidFill>
                <a:latin typeface="Inter" pitchFamily="34" charset="0"/>
                <a:ea typeface="Inter" pitchFamily="34" charset="-122"/>
                <a:cs typeface="Inter" pitchFamily="34" charset="-120"/>
              </a:rPr>
              <a:t>  −$840K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$3.32M</a:t>
            </a:r>
            <a:pPr indent="0" marL="0">
              <a:buNone/>
            </a:pPr>
            <a:r>
              <a:rPr lang="en-US" sz="1400" b="1" dirty="0">
                <a:solidFill>
                  <a:srgbClr val="A82B26"/>
                </a:solidFill>
                <a:latin typeface="Inter" pitchFamily="34" charset="0"/>
                <a:ea typeface="Inter" pitchFamily="34" charset="-122"/>
                <a:cs typeface="Inter" pitchFamily="34" charset="-120"/>
              </a:rPr>
              <a:t>  −$76K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89.9%</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15,048</a:t>
            </a:r>
            <a:pPr indent="0" marL="0">
              <a:buNone/>
            </a:pPr>
            <a:r>
              <a:rPr lang="en-US" sz="1400" b="1" dirty="0">
                <a:solidFill>
                  <a:srgbClr val="0B7A4A"/>
                </a:solidFill>
                <a:latin typeface="Inter" pitchFamily="34" charset="0"/>
                <a:ea typeface="Inter" pitchFamily="34" charset="-122"/>
                <a:cs typeface="Inter" pitchFamily="34" charset="-120"/>
              </a:rPr>
              <a:t>  +28</a:t>
            </a:r>
            <a:endParaRPr lang="en-US" sz="2200" dirty="0"/>
          </a:p>
        </p:txBody>
      </p:sp>
      <p:sp>
        <p:nvSpPr>
          <p:cNvPr id="19" name="Shape 17"/>
          <p:cNvSpPr/>
          <p:nvPr/>
        </p:nvSpPr>
        <p:spPr>
          <a:xfrm>
            <a:off x="3751326" y="658368"/>
            <a:ext cx="7980426" cy="475488"/>
          </a:xfrm>
          <a:prstGeom prst="rect">
            <a:avLst/>
          </a:prstGeom>
          <a:solidFill>
            <a:srgbClr val="EDF4FA"/>
          </a:solidFill>
          <a:ln/>
        </p:spPr>
      </p:sp>
      <p:sp>
        <p:nvSpPr>
          <p:cNvPr id="20" name="Text 18"/>
          <p:cNvSpPr txBox="1"/>
          <p:nvPr/>
        </p:nvSpPr>
        <p:spPr>
          <a:xfrm>
            <a:off x="3879342" y="658368"/>
            <a:ext cx="772439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Absorption 89.9%   ·   4th · Proficiency 109%   ·   5th · Brake fluid 12.1%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$5.92M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$6.61M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$926K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$2.70M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$2.84M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600 more a year.</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81.4%</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2,520 more a year.</a:t>
            </a:r>
            <a:endParaRPr lang="en-US" sz="14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$4.18M</a:t>
            </a:r>
            <a:pPr indent="0" marL="0">
              <a:buNone/>
            </a:pPr>
            <a:r>
              <a:rPr lang="en-US" sz="1400" b="1" dirty="0">
                <a:solidFill>
                  <a:srgbClr val="0B7A4A"/>
                </a:solidFill>
                <a:latin typeface="Inter" pitchFamily="34" charset="0"/>
                <a:ea typeface="Inter" pitchFamily="34" charset="-122"/>
                <a:cs typeface="Inter" pitchFamily="34" charset="-120"/>
              </a:rPr>
              <a:t>  +$373K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$1.32M</a:t>
            </a:r>
            <a:pPr indent="0" marL="0">
              <a:buNone/>
            </a:pPr>
            <a:r>
              <a:rPr lang="en-US" sz="1400" b="1" dirty="0">
                <a:solidFill>
                  <a:srgbClr val="0B7A4A"/>
                </a:solidFill>
                <a:latin typeface="Inter" pitchFamily="34" charset="0"/>
                <a:ea typeface="Inter" pitchFamily="34" charset="-122"/>
                <a:cs typeface="Inter" pitchFamily="34" charset="-120"/>
              </a:rPr>
              <a:t>  +$3K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87.6%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8,930</a:t>
            </a:r>
            <a:pPr indent="0" marL="0">
              <a:buNone/>
            </a:pPr>
            <a:r>
              <a:rPr lang="en-US" sz="1400" b="1" dirty="0">
                <a:solidFill>
                  <a:srgbClr val="A82B26"/>
                </a:solidFill>
                <a:latin typeface="Inter" pitchFamily="34" charset="0"/>
                <a:ea typeface="Inter" pitchFamily="34" charset="-122"/>
                <a:cs typeface="Inter" pitchFamily="34" charset="-120"/>
              </a:rPr>
              <a:t>  −999</a:t>
            </a:r>
            <a:endParaRPr lang="en-US" sz="2200" dirty="0"/>
          </a:p>
        </p:txBody>
      </p:sp>
      <p:sp>
        <p:nvSpPr>
          <p:cNvPr id="19" name="Shape 17"/>
          <p:cNvSpPr/>
          <p:nvPr/>
        </p:nvSpPr>
        <p:spPr>
          <a:xfrm>
            <a:off x="7237984" y="658368"/>
            <a:ext cx="4493768" cy="475488"/>
          </a:xfrm>
          <a:prstGeom prst="rect">
            <a:avLst/>
          </a:prstGeom>
          <a:solidFill>
            <a:srgbClr val="EDF4FA"/>
          </a:solidFill>
          <a:ln/>
        </p:spPr>
      </p:sp>
      <p:sp>
        <p:nvSpPr>
          <p:cNvPr id="20" name="Text 18"/>
          <p:cNvSpPr txBox="1"/>
          <p:nvPr/>
        </p:nvSpPr>
        <p:spPr>
          <a:xfrm>
            <a:off x="7366000" y="658368"/>
            <a:ext cx="423773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Parts GP 47.0%   ·   3rd · CP ELR +$27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8,930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9,929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$456K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1,332 more ROs.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1,526 more a year.</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509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$1.39M</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 of 15</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 under 85%: dispatch, parts.</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5,742 more a year.</a:t>
            </a:r>
            <a:endParaRPr lang="en-US" sz="1400" dirty="0"/>
          </a:p>
        </p:txBody>
      </p:sp>
      <p:sp>
        <p:nvSpPr>
          <p:cNvPr id="75" name="Shape 73"/>
          <p:cNvSpPr/>
          <p:nvPr/>
        </p:nvSpPr>
        <p:spPr>
          <a:xfrm>
            <a:off x="658368" y="4718304"/>
            <a:ext cx="10872216" cy="329184"/>
          </a:xfrm>
          <a:prstGeom prst="rect">
            <a:avLst/>
          </a:prstGeom>
          <a:solidFill>
            <a:srgbClr val="F7F7F7"/>
          </a:solidFill>
          <a:ln/>
        </p:spPr>
      </p:sp>
      <p:sp>
        <p:nvSpPr>
          <p:cNvPr id="76" name="Text 74"/>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7" name="Text 75"/>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8" name="Text 76"/>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9" name="Text 77"/>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0" name="Text 78"/>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1" name="Text 79"/>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1,171 more a year.</a:t>
            </a:r>
            <a:endParaRPr lang="en-US" sz="14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$1.54M</a:t>
            </a:r>
            <a:pPr indent="0" marL="0">
              <a:buNone/>
            </a:pPr>
            <a:r>
              <a:rPr lang="en-US" sz="1400" b="1" dirty="0">
                <a:solidFill>
                  <a:srgbClr val="0B7A4A"/>
                </a:solidFill>
                <a:latin typeface="Inter" pitchFamily="34" charset="0"/>
                <a:ea typeface="Inter" pitchFamily="34" charset="-122"/>
                <a:cs typeface="Inter" pitchFamily="34" charset="-120"/>
              </a:rPr>
              <a:t>  +$404K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−$136,511</a:t>
            </a:r>
            <a:pPr indent="0" marL="0">
              <a:buNone/>
            </a:pPr>
            <a:r>
              <a:rPr lang="en-US" sz="1400" b="1" dirty="0">
                <a:solidFill>
                  <a:srgbClr val="0B7A4A"/>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46.2%</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2,010</a:t>
            </a:r>
            <a:pPr indent="0" marL="0">
              <a:buNone/>
            </a:pPr>
            <a:r>
              <a:rPr lang="en-US" sz="1400" b="1" dirty="0">
                <a:solidFill>
                  <a:srgbClr val="0B7A4A"/>
                </a:solidFill>
                <a:latin typeface="Inter" pitchFamily="34" charset="0"/>
                <a:ea typeface="Inter" pitchFamily="34" charset="-122"/>
                <a:cs typeface="Inter" pitchFamily="34" charset="-120"/>
              </a:rPr>
              <a:t>  +226</a:t>
            </a:r>
            <a:endParaRPr lang="en-US" sz="2200" dirty="0"/>
          </a:p>
        </p:txBody>
      </p:sp>
      <p:sp>
        <p:nvSpPr>
          <p:cNvPr id="19" name="Shape 17"/>
          <p:cNvSpPr/>
          <p:nvPr/>
        </p:nvSpPr>
        <p:spPr>
          <a:xfrm>
            <a:off x="7143750" y="658368"/>
            <a:ext cx="4588002" cy="475488"/>
          </a:xfrm>
          <a:prstGeom prst="rect">
            <a:avLst/>
          </a:prstGeom>
          <a:solidFill>
            <a:srgbClr val="EDF4FA"/>
          </a:solidFill>
          <a:ln/>
        </p:spPr>
      </p:sp>
      <p:sp>
        <p:nvSpPr>
          <p:cNvPr id="20" name="Text 18"/>
          <p:cNvSpPr txBox="1"/>
          <p:nvPr/>
        </p:nvSpPr>
        <p:spPr>
          <a:xfrm>
            <a:off x="7271766" y="658368"/>
            <a:ext cx="433197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Video 91.2%   ·   3rd · Alignment 21.7%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$412K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$213</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67.7%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1.64</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$54K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+0.11 hr per RO.</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$11,631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 heads over peer avg.</a:t>
            </a:r>
            <a:endParaRPr lang="en-US" sz="14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$2.29M</a:t>
            </a:r>
            <a:pPr indent="0" marL="0">
              <a:buNone/>
            </a:pPr>
            <a:r>
              <a:rPr lang="en-US" sz="1400" b="1" dirty="0">
                <a:solidFill>
                  <a:srgbClr val="0B7A4A"/>
                </a:solidFill>
                <a:latin typeface="Inter" pitchFamily="34" charset="0"/>
                <a:ea typeface="Inter" pitchFamily="34" charset="-122"/>
                <a:cs typeface="Inter" pitchFamily="34" charset="-120"/>
              </a:rPr>
              <a:t>  +$88K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$107,886</a:t>
            </a:r>
            <a:pPr indent="0" marL="0">
              <a:buNone/>
            </a:pPr>
            <a:r>
              <a:rPr lang="en-US" sz="1400" b="1" dirty="0">
                <a:solidFill>
                  <a:srgbClr val="A82B26"/>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57.2%</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3,349</a:t>
            </a:r>
            <a:pPr indent="0" marL="0">
              <a:buNone/>
            </a:pPr>
            <a:r>
              <a:rPr lang="en-US" sz="1400" b="1" dirty="0">
                <a:solidFill>
                  <a:srgbClr val="A82B26"/>
                </a:solidFill>
                <a:latin typeface="Inter" pitchFamily="34" charset="0"/>
                <a:ea typeface="Inter" pitchFamily="34" charset="-122"/>
                <a:cs typeface="Inter" pitchFamily="34" charset="-120"/>
              </a:rPr>
              <a:t>  −435</a:t>
            </a:r>
            <a:endParaRPr lang="en-US" sz="2200" dirty="0"/>
          </a:p>
        </p:txBody>
      </p:sp>
      <p:sp>
        <p:nvSpPr>
          <p:cNvPr id="19" name="Shape 17"/>
          <p:cNvSpPr/>
          <p:nvPr/>
        </p:nvSpPr>
        <p:spPr>
          <a:xfrm>
            <a:off x="9122664" y="658368"/>
            <a:ext cx="2609088" cy="475488"/>
          </a:xfrm>
          <a:prstGeom prst="rect">
            <a:avLst/>
          </a:prstGeom>
          <a:solidFill>
            <a:srgbClr val="EDF4FA"/>
          </a:solidFill>
          <a:ln/>
        </p:spPr>
      </p:sp>
      <p:sp>
        <p:nvSpPr>
          <p:cNvPr id="20" name="Text 18"/>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Hours per RO +0.40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11</a:t>
            </a:r>
            <a:endParaRPr lang="en-US" sz="1400" dirty="0"/>
          </a:p>
        </p:txBody>
      </p:sp>
      <p:sp>
        <p:nvSpPr>
          <p:cNvPr id="32" name="Text 30"/>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$1.06M</a:t>
            </a:r>
            <a:endParaRPr lang="en-US" sz="1400" dirty="0"/>
          </a:p>
        </p:txBody>
      </p:sp>
      <p:sp>
        <p:nvSpPr>
          <p:cNvPr id="34" name="Text 32"/>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37866"/>
            <a:ext cx="10872216" cy="323850"/>
          </a:xfrm>
          <a:prstGeom prst="rect">
            <a:avLst/>
          </a:prstGeom>
          <a:solidFill>
            <a:srgbClr val="F7F7F7"/>
          </a:solidFill>
          <a:ln/>
        </p:spPr>
      </p:sp>
      <p:sp>
        <p:nvSpPr>
          <p:cNvPr id="36" name="Text 34"/>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$827K</a:t>
            </a:r>
            <a:endParaRPr lang="en-US" sz="1400" dirty="0"/>
          </a:p>
        </p:txBody>
      </p:sp>
      <p:sp>
        <p:nvSpPr>
          <p:cNvPr id="39" name="Text 37"/>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$302K</a:t>
            </a:r>
            <a:endParaRPr lang="en-US" sz="1400" dirty="0"/>
          </a:p>
        </p:txBody>
      </p:sp>
      <p:sp>
        <p:nvSpPr>
          <p:cNvPr id="41" name="Text 39"/>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1.43</a:t>
            </a:r>
            <a:endParaRPr lang="en-US" sz="1400" dirty="0"/>
          </a:p>
        </p:txBody>
      </p:sp>
      <p:sp>
        <p:nvSpPr>
          <p:cNvPr id="45" name="Text 43"/>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7" name="Text 45"/>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+0.32 hr per RO.</a:t>
            </a:r>
            <a:endParaRPr lang="en-US" sz="1400" dirty="0"/>
          </a:p>
        </p:txBody>
      </p:sp>
      <p:sp>
        <p:nvSpPr>
          <p:cNvPr id="48" name="Shape 46"/>
          <p:cNvSpPr/>
          <p:nvPr/>
        </p:nvSpPr>
        <p:spPr>
          <a:xfrm>
            <a:off x="658368" y="3385566"/>
            <a:ext cx="10872216" cy="323850"/>
          </a:xfrm>
          <a:prstGeom prst="rect">
            <a:avLst/>
          </a:prstGeom>
          <a:solidFill>
            <a:srgbClr val="F7F7F7"/>
          </a:solidFill>
          <a:ln/>
        </p:spPr>
      </p:sp>
      <p:sp>
        <p:nvSpPr>
          <p:cNvPr id="49" name="Text 47"/>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3,349</a:t>
            </a:r>
            <a:endParaRPr lang="en-US" sz="1400" dirty="0"/>
          </a:p>
        </p:txBody>
      </p:sp>
      <p:sp>
        <p:nvSpPr>
          <p:cNvPr id="52" name="Text 50"/>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3,784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$198K</a:t>
            </a:r>
            <a:endParaRPr lang="en-US" sz="1400" dirty="0"/>
          </a:p>
        </p:txBody>
      </p:sp>
      <p:sp>
        <p:nvSpPr>
          <p:cNvPr id="54" name="Text 52"/>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580 more ROs.</a:t>
            </a:r>
            <a:endParaRPr lang="en-US" sz="1400" dirty="0"/>
          </a:p>
        </p:txBody>
      </p:sp>
      <p:sp>
        <p:nvSpPr>
          <p:cNvPr id="55" name="Text 53"/>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57" name="Text 55"/>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58" name="Text 56"/>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60" name="Text 58"/>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61" name="Shape 59"/>
          <p:cNvSpPr/>
          <p:nvPr/>
        </p:nvSpPr>
        <p:spPr>
          <a:xfrm>
            <a:off x="658368" y="4033266"/>
            <a:ext cx="10872216" cy="323850"/>
          </a:xfrm>
          <a:prstGeom prst="rect">
            <a:avLst/>
          </a:prstGeom>
          <a:solidFill>
            <a:srgbClr val="F7F7F7"/>
          </a:solidFill>
          <a:ln/>
        </p:spPr>
      </p:sp>
      <p:sp>
        <p:nvSpPr>
          <p:cNvPr id="62" name="Text 60"/>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a:t>
            </a:r>
            <a:endParaRPr lang="en-US" sz="1400" dirty="0"/>
          </a:p>
        </p:txBody>
      </p:sp>
      <p:sp>
        <p:nvSpPr>
          <p:cNvPr id="65" name="Text 63"/>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67" name="Text 65"/>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615 more a year.</a:t>
            </a:r>
            <a:endParaRPr lang="en-US" sz="1400" dirty="0"/>
          </a:p>
        </p:txBody>
      </p:sp>
      <p:sp>
        <p:nvSpPr>
          <p:cNvPr id="68" name="Text 66"/>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4.7%</a:t>
            </a:r>
            <a:endParaRPr lang="en-US" sz="1400" dirty="0"/>
          </a:p>
        </p:txBody>
      </p:sp>
      <p:sp>
        <p:nvSpPr>
          <p:cNvPr id="71" name="Text 69"/>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3" name="Text 71"/>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235 more a year.</a:t>
            </a:r>
            <a:endParaRPr lang="en-US" sz="1400" dirty="0"/>
          </a:p>
        </p:txBody>
      </p:sp>
      <p:sp>
        <p:nvSpPr>
          <p:cNvPr id="74" name="Shape 72"/>
          <p:cNvSpPr/>
          <p:nvPr/>
        </p:nvSpPr>
        <p:spPr>
          <a:xfrm>
            <a:off x="658368" y="4680966"/>
            <a:ext cx="10872216" cy="323850"/>
          </a:xfrm>
          <a:prstGeom prst="rect">
            <a:avLst/>
          </a:prstGeom>
          <a:solidFill>
            <a:srgbClr val="F7F7F7"/>
          </a:solidFill>
          <a:ln/>
        </p:spPr>
      </p:sp>
      <p:sp>
        <p:nvSpPr>
          <p:cNvPr id="75" name="Text 73"/>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7" name="Text 75"/>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78" name="Text 76"/>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80" name="Text 78"/>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72 more a year.</a:t>
            </a:r>
            <a:endParaRPr lang="en-US" sz="1400" dirty="0"/>
          </a:p>
        </p:txBody>
      </p:sp>
      <p:sp>
        <p:nvSpPr>
          <p:cNvPr id="81" name="Text 79"/>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83" name="Text 81"/>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39.4%</a:t>
            </a:r>
            <a:endParaRPr lang="en-US" sz="1400" dirty="0"/>
          </a:p>
        </p:txBody>
      </p:sp>
      <p:sp>
        <p:nvSpPr>
          <p:cNvPr id="84" name="Text 82"/>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5" name="Text 83"/>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86" name="Text 84"/>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87" name="Shape 85"/>
          <p:cNvSpPr/>
          <p:nvPr/>
        </p:nvSpPr>
        <p:spPr>
          <a:xfrm>
            <a:off x="658368" y="5323180"/>
            <a:ext cx="10872216" cy="10973"/>
          </a:xfrm>
          <a:prstGeom prst="rect">
            <a:avLst/>
          </a:prstGeom>
          <a:solidFill>
            <a:srgbClr val="9AA3AD"/>
          </a:solidFill>
          <a:ln/>
        </p:spPr>
      </p:sp>
      <p:sp>
        <p:nvSpPr>
          <p:cNvPr id="88" name="Text 86"/>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0" name="Text 88"/>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62.7%</a:t>
            </a:r>
            <a:endParaRPr lang="en-US" sz="1400" dirty="0"/>
          </a:p>
        </p:txBody>
      </p:sp>
      <p:sp>
        <p:nvSpPr>
          <p:cNvPr id="91" name="Text 89"/>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2,247 more a year.</a:t>
            </a:r>
            <a:endParaRPr lang="en-US" sz="1400" dirty="0"/>
          </a:p>
        </p:txBody>
      </p:sp>
      <p:sp>
        <p:nvSpPr>
          <p:cNvPr id="94" name="Text 92"/>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6" name="Text 94"/>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$11,541</a:t>
            </a:r>
            <a:endParaRPr lang="en-US" sz="1400" dirty="0"/>
          </a:p>
        </p:txBody>
      </p:sp>
      <p:sp>
        <p:nvSpPr>
          <p:cNvPr id="97" name="Text 95"/>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8" name="Text 96"/>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2.0 heads over peer avg.</a:t>
            </a:r>
            <a:endParaRPr lang="en-US" sz="1400" dirty="0"/>
          </a:p>
        </p:txBody>
      </p:sp>
      <p:sp>
        <p:nvSpPr>
          <p:cNvPr id="100" name="Shape 98"/>
          <p:cNvSpPr/>
          <p:nvPr/>
        </p:nvSpPr>
        <p:spPr>
          <a:xfrm>
            <a:off x="658368" y="5976366"/>
            <a:ext cx="10872216" cy="323850"/>
          </a:xfrm>
          <a:prstGeom prst="rect">
            <a:avLst/>
          </a:prstGeom>
          <a:solidFill>
            <a:srgbClr val="F7F7F7"/>
          </a:solidFill>
          <a:ln/>
        </p:spPr>
      </p:sp>
      <p:sp>
        <p:nvSpPr>
          <p:cNvPr id="101" name="Text 99"/>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2" name="Text 100"/>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3" name="Text 101"/>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53.1%</a:t>
            </a:r>
            <a:endParaRPr lang="en-US" sz="1400" dirty="0"/>
          </a:p>
        </p:txBody>
      </p:sp>
      <p:sp>
        <p:nvSpPr>
          <p:cNvPr id="104" name="Text 102"/>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05" name="Text 103"/>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6" name="Text 104"/>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390 more a year.</a:t>
            </a:r>
            <a:endParaRPr lang="en-US" sz="14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$6.15M</a:t>
            </a:r>
            <a:pPr indent="0" marL="0">
              <a:buNone/>
            </a:pPr>
            <a:r>
              <a:rPr lang="en-US" sz="1400" b="1" dirty="0">
                <a:solidFill>
                  <a:srgbClr val="0B7A4A"/>
                </a:solidFill>
                <a:latin typeface="Inter" pitchFamily="34" charset="0"/>
                <a:ea typeface="Inter" pitchFamily="34" charset="-122"/>
                <a:cs typeface="Inter" pitchFamily="34" charset="-120"/>
              </a:rPr>
              <a:t>  +$125K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$1.80M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8,133</a:t>
            </a:r>
            <a:pPr indent="0" marL="0">
              <a:buNone/>
            </a:pPr>
            <a:r>
              <a:rPr lang="en-US" sz="1400" b="1" dirty="0">
                <a:solidFill>
                  <a:srgbClr val="0B7A4A"/>
                </a:solidFill>
                <a:latin typeface="Inter" pitchFamily="34" charset="0"/>
                <a:ea typeface="Inter" pitchFamily="34" charset="-122"/>
                <a:cs typeface="Inter" pitchFamily="34" charset="-120"/>
              </a:rPr>
              <a:t>  +977</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ROs +977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$891K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$351K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+0.18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$2.10M</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$223K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568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464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1,059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$151</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$22K</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187 more a year.</a:t>
            </a:r>
            <a:endParaRPr lang="en-US" sz="1400" dirty="0"/>
          </a:p>
        </p:txBody>
      </p:sp>
      <p:sp>
        <p:nvSpPr>
          <p:cNvPr id="87" name="Shape 85"/>
          <p:cNvSpPr/>
          <p:nvPr/>
        </p:nvSpPr>
        <p:spPr>
          <a:xfrm>
            <a:off x="658368" y="5371186"/>
            <a:ext cx="10872216" cy="10973"/>
          </a:xfrm>
          <a:prstGeom prst="rect">
            <a:avLst/>
          </a:prstGeom>
          <a:solidFill>
            <a:srgbClr val="9AA3AD"/>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31.5%</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4,714 more a year.</a:t>
            </a:r>
            <a:endParaRPr lang="en-US" sz="1400" dirty="0"/>
          </a:p>
        </p:txBody>
      </p:sp>
      <p:sp>
        <p:nvSpPr>
          <p:cNvPr id="94" name="Text 92"/>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6" name="Text 94"/>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71.2%</a:t>
            </a:r>
            <a:endParaRPr lang="en-US" sz="1400" dirty="0"/>
          </a:p>
        </p:txBody>
      </p:sp>
      <p:sp>
        <p:nvSpPr>
          <p:cNvPr id="97" name="Text 95"/>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8" name="Text 96"/>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3,364 more a year.</a:t>
            </a:r>
            <a:endParaRPr lang="en-US" sz="14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$2.34M</a:t>
            </a:r>
            <a:pPr indent="0" marL="0">
              <a:buNone/>
            </a:pPr>
            <a:r>
              <a:rPr lang="en-US" sz="1400" b="1" dirty="0">
                <a:solidFill>
                  <a:srgbClr val="0B7A4A"/>
                </a:solidFill>
                <a:latin typeface="Inter" pitchFamily="34" charset="0"/>
                <a:ea typeface="Inter" pitchFamily="34" charset="-122"/>
                <a:cs typeface="Inter" pitchFamily="34" charset="-120"/>
              </a:rPr>
              <a:t>  +$216K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$502,109</a:t>
            </a:r>
            <a:pPr indent="0" marL="0">
              <a:buNone/>
            </a:pPr>
            <a:r>
              <a:rPr lang="en-US" sz="1400" b="1" dirty="0">
                <a:solidFill>
                  <a:srgbClr val="A82B26"/>
                </a:solidFill>
                <a:latin typeface="Inter" pitchFamily="34" charset="0"/>
                <a:ea typeface="Inter" pitchFamily="34" charset="-122"/>
                <a:cs typeface="Inter" pitchFamily="34" charset="-120"/>
              </a:rPr>
              <a:t>  −$147K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65.8%</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3,912</a:t>
            </a:r>
            <a:pPr indent="0" marL="0">
              <a:buNone/>
            </a:pPr>
            <a:r>
              <a:rPr lang="en-US" sz="1400" b="1" dirty="0">
                <a:solidFill>
                  <a:srgbClr val="0B7A4A"/>
                </a:solidFill>
                <a:latin typeface="Inter" pitchFamily="34" charset="0"/>
                <a:ea typeface="Inter" pitchFamily="34" charset="-122"/>
                <a:cs typeface="Inter" pitchFamily="34" charset="-120"/>
              </a:rPr>
              <a:t>  +91</a:t>
            </a:r>
            <a:endParaRPr lang="en-US" sz="2200" dirty="0"/>
          </a:p>
        </p:txBody>
      </p:sp>
      <p:sp>
        <p:nvSpPr>
          <p:cNvPr id="19" name="Shape 17"/>
          <p:cNvSpPr/>
          <p:nvPr/>
        </p:nvSpPr>
        <p:spPr>
          <a:xfrm>
            <a:off x="9122664" y="658368"/>
            <a:ext cx="2609088" cy="475488"/>
          </a:xfrm>
          <a:prstGeom prst="rect">
            <a:avLst/>
          </a:prstGeom>
          <a:solidFill>
            <a:srgbClr val="EDF4FA"/>
          </a:solidFill>
          <a:ln/>
        </p:spPr>
      </p:sp>
      <p:sp>
        <p:nvSpPr>
          <p:cNvPr id="20" name="Text 18"/>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Hours per RO +0.30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+0.46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$340K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365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211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5,626 more a year.</a:t>
            </a:r>
            <a:endParaRPr lang="en-US" sz="1400" dirty="0"/>
          </a:p>
        </p:txBody>
      </p:sp>
      <p:sp>
        <p:nvSpPr>
          <p:cNvPr id="75" name="Shape 73"/>
          <p:cNvSpPr/>
          <p:nvPr/>
        </p:nvSpPr>
        <p:spPr>
          <a:xfrm>
            <a:off x="658368" y="4718304"/>
            <a:ext cx="10872216" cy="329184"/>
          </a:xfrm>
          <a:prstGeom prst="rect">
            <a:avLst/>
          </a:prstGeom>
          <a:solidFill>
            <a:srgbClr val="F7F7F7"/>
          </a:solidFill>
          <a:ln/>
        </p:spPr>
      </p:sp>
      <p:sp>
        <p:nvSpPr>
          <p:cNvPr id="76" name="Text 74"/>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7" name="Text 75"/>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78" name="Text 76"/>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60.9%</a:t>
            </a:r>
            <a:endParaRPr lang="en-US" sz="1400" dirty="0"/>
          </a:p>
        </p:txBody>
      </p:sp>
      <p:sp>
        <p:nvSpPr>
          <p:cNvPr id="79" name="Text 77"/>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0" name="Text 78"/>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1" name="Text 79"/>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3,110 more a year.</a:t>
            </a:r>
            <a:endParaRPr lang="en-US" sz="1400" dirty="0"/>
          </a:p>
        </p:txBody>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$12,103</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 heads over peer avg.</a:t>
            </a:r>
            <a:endParaRPr lang="en-US" sz="14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Lexus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$4.15M</a:t>
            </a:r>
            <a:pPr indent="0" marL="0">
              <a:buNone/>
            </a:pPr>
            <a:r>
              <a:rPr lang="en-US" sz="1400" b="1" dirty="0">
                <a:solidFill>
                  <a:srgbClr val="0B7A4A"/>
                </a:solidFill>
                <a:latin typeface="Inter" pitchFamily="34" charset="0"/>
                <a:ea typeface="Inter" pitchFamily="34" charset="-122"/>
                <a:cs typeface="Inter" pitchFamily="34" charset="-120"/>
              </a:rPr>
              <a:t>  +$764K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$1.20M</a:t>
            </a:r>
            <a:pPr indent="0" marL="0">
              <a:buNone/>
            </a:pPr>
            <a:r>
              <a:rPr lang="en-US" sz="1400" b="1" dirty="0">
                <a:solidFill>
                  <a:srgbClr val="0B7A4A"/>
                </a:solidFill>
                <a:latin typeface="Inter" pitchFamily="34" charset="0"/>
                <a:ea typeface="Inter" pitchFamily="34" charset="-122"/>
                <a:cs typeface="Inter" pitchFamily="34" charset="-120"/>
              </a:rPr>
              <a:t>  +$206K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75.6%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4,567</a:t>
            </a:r>
            <a:pPr indent="0" marL="0">
              <a:buNone/>
            </a:pPr>
            <a:r>
              <a:rPr lang="en-US" sz="1400" b="1" dirty="0">
                <a:solidFill>
                  <a:srgbClr val="0B7A4A"/>
                </a:solidFill>
                <a:latin typeface="Inter" pitchFamily="34" charset="0"/>
                <a:ea typeface="Inter" pitchFamily="34" charset="-122"/>
                <a:cs typeface="Inter" pitchFamily="34" charset="-120"/>
              </a:rPr>
              <a:t>  +66</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Parts GP 49.0%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$1.18M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$911K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+0.82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221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195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8.3%</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 more a year.</a:t>
            </a:r>
            <a:endParaRPr lang="en-US" sz="14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Lincoln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$2.98M</a:t>
            </a:r>
            <a:pPr indent="0" marL="0">
              <a:buNone/>
            </a:pPr>
            <a:r>
              <a:rPr lang="en-US" sz="1400" b="1" dirty="0">
                <a:solidFill>
                  <a:srgbClr val="0B7A4A"/>
                </a:solidFill>
                <a:latin typeface="Inter" pitchFamily="34" charset="0"/>
                <a:ea typeface="Inter" pitchFamily="34" charset="-122"/>
                <a:cs typeface="Inter" pitchFamily="34" charset="-120"/>
              </a:rPr>
              <a:t>  +$717K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$94,430</a:t>
            </a:r>
            <a:pPr indent="0" marL="0">
              <a:buNone/>
            </a:pPr>
            <a:r>
              <a:rPr lang="en-US" sz="1400" b="1" dirty="0">
                <a:solidFill>
                  <a:srgbClr val="0B7A4A"/>
                </a:solidFill>
                <a:latin typeface="Inter" pitchFamily="34" charset="0"/>
                <a:ea typeface="Inter" pitchFamily="34" charset="-122"/>
                <a:cs typeface="Inter" pitchFamily="34" charset="-120"/>
              </a:rPr>
              <a:t>  +$484K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59.9%</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2,630</a:t>
            </a:r>
            <a:pPr indent="0" marL="0">
              <a:buNone/>
            </a:pPr>
            <a:r>
              <a:rPr lang="en-US" sz="1400" b="1" dirty="0">
                <a:solidFill>
                  <a:srgbClr val="0B7A4A"/>
                </a:solidFill>
                <a:latin typeface="Inter" pitchFamily="34" charset="0"/>
                <a:ea typeface="Inter" pitchFamily="34" charset="-122"/>
                <a:cs typeface="Inter" pitchFamily="34" charset="-120"/>
              </a:rPr>
              <a:t>  +93</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ELR +$28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$628K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11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5 under 85%: dispatch, parts.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2.48</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+0.42 hr per RO.</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$171</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467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230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87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$10,963</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10.7 heads over peer avg.</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1,108 more a year.</a:t>
            </a:r>
            <a:endParaRPr lang="en-US" sz="1400" dirty="0"/>
          </a:p>
        </p:txBody>
      </p:sp>
      <p:sp>
        <p:nvSpPr>
          <p:cNvPr id="95" name="Text 93"/>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7" name="Text 95"/>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68.5%</a:t>
            </a:r>
            <a:endParaRPr lang="en-US" sz="1400" dirty="0"/>
          </a:p>
        </p:txBody>
      </p:sp>
      <p:sp>
        <p:nvSpPr>
          <p:cNvPr id="98" name="Text 96"/>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9" name="Text 97"/>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1,573 more a year.</a:t>
            </a:r>
            <a:endParaRPr lang="en-US" sz="14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$3.42M</a:t>
            </a:r>
            <a:pPr indent="0" marL="0">
              <a:buNone/>
            </a:pPr>
            <a:r>
              <a:rPr lang="en-US" sz="1400" b="1" dirty="0">
                <a:solidFill>
                  <a:srgbClr val="0B7A4A"/>
                </a:solidFill>
                <a:latin typeface="Inter" pitchFamily="34" charset="0"/>
                <a:ea typeface="Inter" pitchFamily="34" charset="-122"/>
                <a:cs typeface="Inter" pitchFamily="34" charset="-120"/>
              </a:rPr>
              <a:t>  +$95K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$705,121</a:t>
            </a:r>
            <a:pPr indent="0" marL="0">
              <a:buNone/>
            </a:pPr>
            <a:r>
              <a:rPr lang="en-US" sz="1400" b="1" dirty="0">
                <a:solidFill>
                  <a:srgbClr val="0B7A4A"/>
                </a:solidFill>
                <a:latin typeface="Inter" pitchFamily="34" charset="0"/>
                <a:ea typeface="Inter" pitchFamily="34" charset="-122"/>
                <a:cs typeface="Inter" pitchFamily="34" charset="-120"/>
              </a:rPr>
              <a:t>  +$98K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74.4%</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1,559</a:t>
            </a:r>
            <a:pPr indent="0" marL="0">
              <a:buNone/>
            </a:pPr>
            <a:r>
              <a:rPr lang="en-US" sz="1400" b="1" dirty="0">
                <a:solidFill>
                  <a:srgbClr val="0B7A4A"/>
                </a:solidFill>
                <a:latin typeface="Inter" pitchFamily="34" charset="0"/>
                <a:ea typeface="Inter" pitchFamily="34" charset="-122"/>
                <a:cs typeface="Inter" pitchFamily="34" charset="-120"/>
              </a:rPr>
              <a:t>  +26</a:t>
            </a:r>
            <a:endParaRPr lang="en-US" sz="2200" dirty="0"/>
          </a:p>
        </p:txBody>
      </p:sp>
      <p:sp>
        <p:nvSpPr>
          <p:cNvPr id="19" name="Shape 17"/>
          <p:cNvSpPr/>
          <p:nvPr/>
        </p:nvSpPr>
        <p:spPr>
          <a:xfrm>
            <a:off x="3374390" y="658368"/>
            <a:ext cx="8357362" cy="475488"/>
          </a:xfrm>
          <a:prstGeom prst="rect">
            <a:avLst/>
          </a:prstGeom>
          <a:solidFill>
            <a:srgbClr val="EDF4FA"/>
          </a:solidFill>
          <a:ln/>
        </p:spPr>
      </p:sp>
      <p:sp>
        <p:nvSpPr>
          <p:cNvPr id="20" name="Text 18"/>
          <p:cNvSpPr txBox="1"/>
          <p:nvPr/>
        </p:nvSpPr>
        <p:spPr>
          <a:xfrm>
            <a:off x="3502406" y="658368"/>
            <a:ext cx="810133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Hours per RO 3.99   ·   1st · CP labor $/RO $933   ·   1st · Tire balance 27.0%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2.5%</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103 more a year.</a:t>
            </a:r>
            <a:endParaRPr lang="en-US" sz="1400" dirty="0"/>
          </a:p>
        </p:txBody>
      </p:sp>
      <p:sp>
        <p:nvSpPr>
          <p:cNvPr id="42" name="Shape 40"/>
          <p:cNvSpPr/>
          <p:nvPr/>
        </p:nvSpPr>
        <p:spPr>
          <a:xfrm>
            <a:off x="658368" y="3066898"/>
            <a:ext cx="10872216" cy="10973"/>
          </a:xfrm>
          <a:prstGeom prst="rect">
            <a:avLst/>
          </a:prstGeom>
          <a:solidFill>
            <a:srgbClr val="9AA3AD"/>
          </a:solidFill>
          <a:ln/>
        </p:spPr>
      </p:sp>
      <p:sp>
        <p:nvSpPr>
          <p:cNvPr id="43" name="Text 41"/>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4" name="Text 42"/>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45" name="Text 43"/>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73.0%</a:t>
            </a:r>
            <a:endParaRPr lang="en-US" sz="1400" dirty="0"/>
          </a:p>
        </p:txBody>
      </p:sp>
      <p:sp>
        <p:nvSpPr>
          <p:cNvPr id="46" name="Text 44"/>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7" name="Text 45"/>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48" name="Text 46"/>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648 more a year.</a:t>
            </a:r>
            <a:endParaRPr lang="en-US" sz="1400" dirty="0"/>
          </a:p>
        </p:txBody>
      </p:sp>
      <p:sp>
        <p:nvSpPr>
          <p:cNvPr id="49" name="Shape 47"/>
          <p:cNvSpPr/>
          <p:nvPr/>
        </p:nvSpPr>
        <p:spPr>
          <a:xfrm>
            <a:off x="658368" y="3401568"/>
            <a:ext cx="10872216" cy="329184"/>
          </a:xfrm>
          <a:prstGeom prst="rect">
            <a:avLst/>
          </a:prstGeom>
          <a:solidFill>
            <a:srgbClr val="F7F7F7"/>
          </a:solidFill>
          <a:ln/>
        </p:spPr>
      </p:sp>
      <p:sp>
        <p:nvSpPr>
          <p:cNvPr id="50" name="Text 48"/>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1" name="Text 49"/>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2" name="Text 50"/>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50.0%</a:t>
            </a:r>
            <a:endParaRPr lang="en-US" sz="1400" dirty="0"/>
          </a:p>
        </p:txBody>
      </p:sp>
      <p:sp>
        <p:nvSpPr>
          <p:cNvPr id="53" name="Text 51"/>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54" name="Text 52"/>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5" name="Text 53"/>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299 more a year.</a:t>
            </a:r>
            <a:endParaRPr lang="en-US" sz="14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$6.61M</a:t>
            </a:r>
            <a:pPr indent="0" marL="0">
              <a:buNone/>
            </a:pPr>
            <a:r>
              <a:rPr lang="en-US" sz="1400" b="1" dirty="0">
                <a:solidFill>
                  <a:srgbClr val="0B7A4A"/>
                </a:solidFill>
                <a:latin typeface="Inter" pitchFamily="34" charset="0"/>
                <a:ea typeface="Inter" pitchFamily="34" charset="-122"/>
                <a:cs typeface="Inter" pitchFamily="34" charset="-120"/>
              </a:rPr>
              <a:t>  +$135K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$2.04M</a:t>
            </a:r>
            <a:pPr indent="0" marL="0">
              <a:buNone/>
            </a:pPr>
            <a:r>
              <a:rPr lang="en-US" sz="1400" b="1" dirty="0">
                <a:solidFill>
                  <a:srgbClr val="0B7A4A"/>
                </a:solidFill>
                <a:latin typeface="Inter" pitchFamily="34" charset="0"/>
                <a:ea typeface="Inter" pitchFamily="34" charset="-122"/>
                <a:cs typeface="Inter" pitchFamily="34" charset="-120"/>
              </a:rPr>
              <a:t>  +$152K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93.7%</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3,496</a:t>
            </a:r>
            <a:pPr indent="0" marL="0">
              <a:buNone/>
            </a:pPr>
            <a:r>
              <a:rPr lang="en-US" sz="1400" b="1" dirty="0">
                <a:solidFill>
                  <a:srgbClr val="0B7A4A"/>
                </a:solidFill>
                <a:latin typeface="Inter" pitchFamily="34" charset="0"/>
                <a:ea typeface="Inter" pitchFamily="34" charset="-122"/>
                <a:cs typeface="Inter" pitchFamily="34" charset="-120"/>
              </a:rPr>
              <a:t>  +88</a:t>
            </a:r>
            <a:endParaRPr lang="en-US" sz="2200" dirty="0"/>
          </a:p>
        </p:txBody>
      </p:sp>
      <p:sp>
        <p:nvSpPr>
          <p:cNvPr id="19" name="Shape 17"/>
          <p:cNvSpPr/>
          <p:nvPr/>
        </p:nvSpPr>
        <p:spPr>
          <a:xfrm>
            <a:off x="3468624" y="658368"/>
            <a:ext cx="8263128" cy="475488"/>
          </a:xfrm>
          <a:prstGeom prst="rect">
            <a:avLst/>
          </a:prstGeom>
          <a:solidFill>
            <a:srgbClr val="EDF4FA"/>
          </a:solidFill>
          <a:ln/>
        </p:spPr>
      </p:sp>
      <p:sp>
        <p:nvSpPr>
          <p:cNvPr id="20" name="Text 18"/>
          <p:cNvSpPr txBox="1"/>
          <p:nvPr/>
        </p:nvSpPr>
        <p:spPr>
          <a:xfrm>
            <a:off x="3596640" y="658368"/>
            <a:ext cx="800709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Brake fluid 20.6%   ·   2nd · Hours per RO 3.99   ·   2nd · CP labor $/RO $931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 of 16</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$758K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Lift the 8 under 85%: dispatch, parts.</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$2.52M</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$2.59M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$81K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5.5%</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92 more a year.</a:t>
            </a:r>
            <a:endParaRPr lang="en-US" sz="1500" dirty="0"/>
          </a:p>
        </p:txBody>
      </p:sp>
      <p:sp>
        <p:nvSpPr>
          <p:cNvPr id="48" name="Shape 46"/>
          <p:cNvSpPr/>
          <p:nvPr/>
        </p:nvSpPr>
        <p:spPr>
          <a:xfrm>
            <a:off x="658368" y="3396082"/>
            <a:ext cx="10872216" cy="10973"/>
          </a:xfrm>
          <a:prstGeom prst="rect">
            <a:avLst/>
          </a:prstGeom>
          <a:solidFill>
            <a:srgbClr val="9AA3AD"/>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71.1%</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1,567 more a year.</a:t>
            </a:r>
            <a:endParaRPr lang="en-US" sz="15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$2.21M</a:t>
            </a:r>
            <a:pPr indent="0" marL="0">
              <a:buNone/>
            </a:pPr>
            <a:r>
              <a:rPr lang="en-US" sz="1400" b="1" dirty="0">
                <a:solidFill>
                  <a:srgbClr val="0B7A4A"/>
                </a:solidFill>
                <a:latin typeface="Inter" pitchFamily="34" charset="0"/>
                <a:ea typeface="Inter" pitchFamily="34" charset="-122"/>
                <a:cs typeface="Inter" pitchFamily="34" charset="-120"/>
              </a:rPr>
              <a:t>  +$157K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$427,953</a:t>
            </a:r>
            <a:pPr indent="0" marL="0">
              <a:buNone/>
            </a:pPr>
            <a:r>
              <a:rPr lang="en-US" sz="1400" b="1" dirty="0">
                <a:solidFill>
                  <a:srgbClr val="0B7A4A"/>
                </a:solidFill>
                <a:latin typeface="Inter" pitchFamily="34" charset="0"/>
                <a:ea typeface="Inter" pitchFamily="34" charset="-122"/>
                <a:cs typeface="Inter" pitchFamily="34" charset="-120"/>
              </a:rPr>
              <a:t>  +$292K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77.3%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1,421</a:t>
            </a:r>
            <a:pPr indent="0" marL="0">
              <a:buNone/>
            </a:pPr>
            <a:r>
              <a:rPr lang="en-US" sz="1400" b="1" dirty="0">
                <a:solidFill>
                  <a:srgbClr val="0B7A4A"/>
                </a:solidFill>
                <a:latin typeface="Inter" pitchFamily="34" charset="0"/>
                <a:ea typeface="Inter" pitchFamily="34" charset="-122"/>
                <a:cs typeface="Inter" pitchFamily="34" charset="-120"/>
              </a:rPr>
              <a:t>  +118</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3rd · CP ELR $235</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 of 6</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$247K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Brake fluid</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7.2%</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$20K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52 more a year.</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4.5%</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$18K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55 more a year.</a:t>
            </a:r>
            <a:endParaRPr lang="en-US" sz="15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Alignment</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12.8%</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$10K</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40 more a year.</a:t>
            </a:r>
            <a:endParaRPr lang="en-US" sz="15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Fixed gross/head</a:t>
            </a:r>
            <a:endParaRPr lang="en-US" sz="15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$15,226</a:t>
            </a:r>
            <a:endParaRPr lang="en-US" sz="15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$16,998</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Staff to gross: 1.7 heads over peer avg.</a:t>
            </a:r>
            <a:endParaRPr lang="en-US" sz="15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Mazda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$3.31M</a:t>
            </a:r>
            <a:pPr indent="0" marL="0">
              <a:buNone/>
            </a:pPr>
            <a:r>
              <a:rPr lang="en-US" sz="1400" b="1" dirty="0">
                <a:solidFill>
                  <a:srgbClr val="0B7A4A"/>
                </a:solidFill>
                <a:latin typeface="Inter" pitchFamily="34" charset="0"/>
                <a:ea typeface="Inter" pitchFamily="34" charset="-122"/>
                <a:cs typeface="Inter" pitchFamily="34" charset="-120"/>
              </a:rPr>
              <a:t>  +$120K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$985,141</a:t>
            </a:r>
            <a:pPr indent="0" marL="0">
              <a:buNone/>
            </a:pPr>
            <a:r>
              <a:rPr lang="en-US" sz="1400" b="1" dirty="0">
                <a:solidFill>
                  <a:srgbClr val="A82B26"/>
                </a:solidFill>
                <a:latin typeface="Inter" pitchFamily="34" charset="0"/>
                <a:ea typeface="Inter" pitchFamily="34" charset="-122"/>
                <a:cs typeface="Inter" pitchFamily="34" charset="-120"/>
              </a:rPr>
              <a:t>  −$87K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78.4%</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5,701</a:t>
            </a:r>
            <a:pPr indent="0" marL="0">
              <a:buNone/>
            </a:pPr>
            <a:r>
              <a:rPr lang="en-US" sz="1400" b="1" dirty="0">
                <a:solidFill>
                  <a:srgbClr val="0B7A4A"/>
                </a:solidFill>
                <a:latin typeface="Inter" pitchFamily="34" charset="0"/>
                <a:ea typeface="Inter" pitchFamily="34" charset="-122"/>
                <a:cs typeface="Inter" pitchFamily="34" charset="-120"/>
              </a:rPr>
              <a:t>  +180</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Video 89.0%   ·   5th · MPI 97.0%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$403K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+0.29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138 more a year.</a:t>
            </a:r>
            <a:endParaRPr lang="en-US" sz="14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Nissan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$4.78M</a:t>
            </a:r>
            <a:pPr indent="0" marL="0">
              <a:buNone/>
            </a:pPr>
            <a:r>
              <a:rPr lang="en-US" sz="1400" b="1" dirty="0">
                <a:solidFill>
                  <a:srgbClr val="0B7A4A"/>
                </a:solidFill>
                <a:latin typeface="Inter" pitchFamily="34" charset="0"/>
                <a:ea typeface="Inter" pitchFamily="34" charset="-122"/>
                <a:cs typeface="Inter" pitchFamily="34" charset="-120"/>
              </a:rPr>
              <a:t>  +$445K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$677,269</a:t>
            </a:r>
            <a:pPr indent="0" marL="0">
              <a:buNone/>
            </a:pPr>
            <a:r>
              <a:rPr lang="en-US" sz="1400" b="1" dirty="0">
                <a:solidFill>
                  <a:srgbClr val="0B7A4A"/>
                </a:solidFill>
                <a:latin typeface="Inter" pitchFamily="34" charset="0"/>
                <a:ea typeface="Inter" pitchFamily="34" charset="-122"/>
                <a:cs typeface="Inter" pitchFamily="34" charset="-120"/>
              </a:rPr>
              <a:t>  +$134K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6,973</a:t>
            </a:r>
            <a:pPr indent="0" marL="0">
              <a:buNone/>
            </a:pPr>
            <a:r>
              <a:rPr lang="en-US" sz="1400" b="1" dirty="0">
                <a:solidFill>
                  <a:srgbClr val="A82B26"/>
                </a:solidFill>
                <a:latin typeface="Inter" pitchFamily="34" charset="0"/>
                <a:ea typeface="Inter" pitchFamily="34" charset="-122"/>
                <a:cs typeface="Inter" pitchFamily="34" charset="-120"/>
              </a:rPr>
              <a:t>  −430</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CP ELR +$22   ·   5th · MPI 97.0%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8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6,973</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7,403</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$196K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573 more ROs.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700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1,296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$64K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308 more a year.</a:t>
            </a:r>
            <a:endParaRPr lang="en-US" sz="14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1,995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$11,957</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2.6 heads over peer avg.</a:t>
            </a:r>
            <a:endParaRPr lang="en-US" sz="14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$10.08M</a:t>
            </a:r>
            <a:pPr indent="0" marL="0">
              <a:buNone/>
            </a:pPr>
            <a:r>
              <a:rPr lang="en-US" sz="1400" b="1" dirty="0">
                <a:solidFill>
                  <a:srgbClr val="A82B26"/>
                </a:solidFill>
                <a:latin typeface="Inter" pitchFamily="34" charset="0"/>
                <a:ea typeface="Inter" pitchFamily="34" charset="-122"/>
                <a:cs typeface="Inter" pitchFamily="34" charset="-120"/>
              </a:rPr>
              <a:t>  −$499K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$2.94M</a:t>
            </a:r>
            <a:pPr indent="0" marL="0">
              <a:buNone/>
            </a:pPr>
            <a:r>
              <a:rPr lang="en-US" sz="1400" b="1" dirty="0">
                <a:solidFill>
                  <a:srgbClr val="0B7A4A"/>
                </a:solidFill>
                <a:latin typeface="Inter" pitchFamily="34" charset="0"/>
                <a:ea typeface="Inter" pitchFamily="34" charset="-122"/>
                <a:cs typeface="Inter" pitchFamily="34" charset="-120"/>
              </a:rPr>
              <a:t>  +$6K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86.0%</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14,250</a:t>
            </a:r>
            <a:pPr indent="0" marL="0">
              <a:buNone/>
            </a:pPr>
            <a:r>
              <a:rPr lang="en-US" sz="1400" b="1" dirty="0">
                <a:solidFill>
                  <a:srgbClr val="A82B26"/>
                </a:solidFill>
                <a:latin typeface="Inter" pitchFamily="34" charset="0"/>
                <a:ea typeface="Inter" pitchFamily="34" charset="-122"/>
                <a:cs typeface="Inter" pitchFamily="34" charset="-120"/>
              </a:rPr>
              <a:t>  −574</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Video 92.0%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$524K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11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$3.83M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$383K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$6.26M</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$6.47M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$282K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14,250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14,824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765 more ROs.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10.2%</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78 more a year.</a:t>
            </a:r>
            <a:endParaRPr lang="en-US" sz="14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$2.70M</a:t>
            </a:r>
            <a:pPr indent="0" marL="0">
              <a:buNone/>
            </a:pPr>
            <a:r>
              <a:rPr lang="en-US" sz="1400" b="1" dirty="0">
                <a:solidFill>
                  <a:srgbClr val="0B7A4A"/>
                </a:solidFill>
                <a:latin typeface="Inter" pitchFamily="34" charset="0"/>
                <a:ea typeface="Inter" pitchFamily="34" charset="-122"/>
                <a:cs typeface="Inter" pitchFamily="34" charset="-120"/>
              </a:rPr>
              <a:t>  +$368K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$128,541</a:t>
            </a:r>
            <a:pPr indent="0" marL="0">
              <a:buNone/>
            </a:pPr>
            <a:r>
              <a:rPr lang="en-US" sz="1400" b="1" dirty="0">
                <a:solidFill>
                  <a:srgbClr val="0B7A4A"/>
                </a:solidFill>
                <a:latin typeface="Inter" pitchFamily="34" charset="0"/>
                <a:ea typeface="Inter" pitchFamily="34" charset="-122"/>
                <a:cs typeface="Inter" pitchFamily="34" charset="-120"/>
              </a:rPr>
              <a:t>  +$183K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5,105</a:t>
            </a:r>
            <a:pPr indent="0" marL="0">
              <a:buNone/>
            </a:pPr>
            <a:r>
              <a:rPr lang="en-US" sz="1400" b="1" dirty="0">
                <a:solidFill>
                  <a:srgbClr val="0B7A4A"/>
                </a:solidFill>
                <a:latin typeface="Inter" pitchFamily="34" charset="0"/>
                <a:ea typeface="Inter" pitchFamily="34" charset="-122"/>
                <a:cs typeface="Inter" pitchFamily="34" charset="-120"/>
              </a:rPr>
              <a:t>  +367</a:t>
            </a:r>
            <a:endParaRPr lang="en-US" sz="2200" dirty="0"/>
          </a:p>
        </p:txBody>
      </p:sp>
      <p:sp>
        <p:nvSpPr>
          <p:cNvPr id="19" name="Shape 17"/>
          <p:cNvSpPr/>
          <p:nvPr/>
        </p:nvSpPr>
        <p:spPr>
          <a:xfrm>
            <a:off x="9216898" y="658368"/>
            <a:ext cx="2514854" cy="475488"/>
          </a:xfrm>
          <a:prstGeom prst="rect">
            <a:avLst/>
          </a:prstGeom>
          <a:solidFill>
            <a:srgbClr val="EDF4FA"/>
          </a:solidFill>
          <a:ln/>
        </p:spPr>
      </p:sp>
      <p:sp>
        <p:nvSpPr>
          <p:cNvPr id="20" name="Text 18"/>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Fuel service 9.7%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$691K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$212K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+0.15 hr per RO.</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34.8%</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$81K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74.1%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165 more a year.</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54.2%</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395 more a year.</a:t>
            </a:r>
            <a:endParaRPr lang="en-US" sz="14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$3.52M</a:t>
            </a:r>
            <a:pPr indent="0" marL="0">
              <a:buNone/>
            </a:pPr>
            <a:r>
              <a:rPr lang="en-US" sz="1400" b="1" dirty="0">
                <a:solidFill>
                  <a:srgbClr val="0B7A4A"/>
                </a:solidFill>
                <a:latin typeface="Inter" pitchFamily="34" charset="0"/>
                <a:ea typeface="Inter" pitchFamily="34" charset="-122"/>
                <a:cs typeface="Inter" pitchFamily="34" charset="-120"/>
              </a:rPr>
              <a:t>  +$472K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+$113K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84.5%</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5,553</a:t>
            </a:r>
            <a:pPr indent="0" marL="0">
              <a:buNone/>
            </a:pPr>
            <a:r>
              <a:rPr lang="en-US" sz="1400" b="1" dirty="0">
                <a:solidFill>
                  <a:srgbClr val="0B7A4A"/>
                </a:solidFill>
                <a:latin typeface="Inter" pitchFamily="34" charset="0"/>
                <a:ea typeface="Inter" pitchFamily="34" charset="-122"/>
                <a:cs typeface="Inter" pitchFamily="34" charset="-120"/>
              </a:rPr>
              <a:t>  +511</a:t>
            </a:r>
            <a:endParaRPr lang="en-US" sz="2200" dirty="0"/>
          </a:p>
        </p:txBody>
      </p:sp>
      <p:sp>
        <p:nvSpPr>
          <p:cNvPr id="19" name="Shape 17"/>
          <p:cNvSpPr/>
          <p:nvPr/>
        </p:nvSpPr>
        <p:spPr>
          <a:xfrm>
            <a:off x="6201410" y="658368"/>
            <a:ext cx="5530342" cy="475488"/>
          </a:xfrm>
          <a:prstGeom prst="rect">
            <a:avLst/>
          </a:prstGeom>
          <a:solidFill>
            <a:srgbClr val="EDF4FA"/>
          </a:solidFill>
          <a:ln/>
        </p:spPr>
      </p:sp>
      <p:sp>
        <p:nvSpPr>
          <p:cNvPr id="20" name="Text 18"/>
          <p:cNvSpPr txBox="1"/>
          <p:nvPr/>
        </p:nvSpPr>
        <p:spPr>
          <a:xfrm>
            <a:off x="6329426" y="658368"/>
            <a:ext cx="527431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Fuel service 13.8%   ·   1st · Hours per RO +0.55</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$265K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837 more a year.</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291 more a year.</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89.0%</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106 more a year.</a:t>
            </a:r>
            <a:endParaRPr lang="en-US" sz="14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$4.47M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$901,549</a:t>
            </a:r>
            <a:pPr indent="0" marL="0">
              <a:buNone/>
            </a:pPr>
            <a:r>
              <a:rPr lang="en-US" sz="1400" b="1" dirty="0">
                <a:solidFill>
                  <a:srgbClr val="0B7A4A"/>
                </a:solidFill>
                <a:latin typeface="Inter" pitchFamily="34" charset="0"/>
                <a:ea typeface="Inter" pitchFamily="34" charset="-122"/>
                <a:cs typeface="Inter" pitchFamily="34" charset="-120"/>
              </a:rPr>
              <a:t>  +$131K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70.0%</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15,141</a:t>
            </a:r>
            <a:pPr indent="0" marL="0">
              <a:buNone/>
            </a:pPr>
            <a:r>
              <a:rPr lang="en-US" sz="1400" b="1" dirty="0">
                <a:solidFill>
                  <a:srgbClr val="0B7A4A"/>
                </a:solidFill>
                <a:latin typeface="Inter" pitchFamily="34" charset="0"/>
                <a:ea typeface="Inter" pitchFamily="34" charset="-122"/>
                <a:cs typeface="Inter" pitchFamily="34" charset="-120"/>
              </a:rPr>
              <a:t>  +798</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CP ROs +798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1.41</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+0.34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$1.01M</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18</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2,031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1,173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9.7%</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$90K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1,066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8.0%</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$48K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389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$10,794</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6.9 heads over peer avg.</a:t>
            </a:r>
            <a:endParaRPr lang="en-US" sz="14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$22.59M</a:t>
            </a:r>
            <a:pPr indent="0" marL="0">
              <a:buNone/>
            </a:pPr>
            <a:r>
              <a:rPr lang="en-US" sz="1400" b="1" dirty="0">
                <a:solidFill>
                  <a:srgbClr val="0B7A4A"/>
                </a:solidFill>
                <a:latin typeface="Inter" pitchFamily="34" charset="0"/>
                <a:ea typeface="Inter" pitchFamily="34" charset="-122"/>
                <a:cs typeface="Inter" pitchFamily="34" charset="-120"/>
              </a:rPr>
              <a:t>  +$1.77M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$7.83M</a:t>
            </a:r>
            <a:pPr indent="0" marL="0">
              <a:buNone/>
            </a:pPr>
            <a:r>
              <a:rPr lang="en-US" sz="1400" b="1" dirty="0">
                <a:solidFill>
                  <a:srgbClr val="0B7A4A"/>
                </a:solidFill>
                <a:latin typeface="Inter" pitchFamily="34" charset="0"/>
                <a:ea typeface="Inter" pitchFamily="34" charset="-122"/>
                <a:cs typeface="Inter" pitchFamily="34" charset="-120"/>
              </a:rPr>
              <a:t>  +$1.42M</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53,084</a:t>
            </a:r>
            <a:pPr indent="0" marL="0">
              <a:buNone/>
            </a:pPr>
            <a:r>
              <a:rPr lang="en-US" sz="1400" b="1" dirty="0">
                <a:solidFill>
                  <a:srgbClr val="0B7A4A"/>
                </a:solidFill>
                <a:latin typeface="Inter" pitchFamily="34" charset="0"/>
                <a:ea typeface="Inter" pitchFamily="34" charset="-122"/>
                <a:cs typeface="Inter" pitchFamily="34" charset="-120"/>
              </a:rPr>
              <a:t>  +65</a:t>
            </a:r>
            <a:endParaRPr lang="en-US" sz="2200" dirty="0"/>
          </a:p>
        </p:txBody>
      </p:sp>
      <p:sp>
        <p:nvSpPr>
          <p:cNvPr id="19" name="Shape 17"/>
          <p:cNvSpPr/>
          <p:nvPr/>
        </p:nvSpPr>
        <p:spPr>
          <a:xfrm>
            <a:off x="6107176" y="658368"/>
            <a:ext cx="5624576" cy="475488"/>
          </a:xfrm>
          <a:prstGeom prst="rect">
            <a:avLst/>
          </a:prstGeom>
          <a:solidFill>
            <a:srgbClr val="EDF4FA"/>
          </a:solidFill>
          <a:ln/>
        </p:spPr>
      </p:sp>
      <p:sp>
        <p:nvSpPr>
          <p:cNvPr id="20" name="Text 18"/>
          <p:cNvSpPr txBox="1"/>
          <p:nvPr/>
        </p:nvSpPr>
        <p:spPr>
          <a:xfrm>
            <a:off x="6235192" y="658368"/>
            <a:ext cx="536854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Fixed gross +$1.77M   ·   1st · Net profit +$1.42M</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$3.55M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+0.27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$2.07M</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 of 59</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$842K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20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11.2%</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2,671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1,056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326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31.7%</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21,344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76.1%</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11,350 more a year.</a:t>
            </a:r>
            <a:endParaRPr lang="en-US" sz="14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$5.08M</a:t>
            </a:r>
            <a:pPr indent="0" marL="0">
              <a:buNone/>
            </a:pPr>
            <a:r>
              <a:rPr lang="en-US" sz="1400" b="1" dirty="0">
                <a:solidFill>
                  <a:srgbClr val="0B7A4A"/>
                </a:solidFill>
                <a:latin typeface="Inter" pitchFamily="34" charset="0"/>
                <a:ea typeface="Inter" pitchFamily="34" charset="-122"/>
                <a:cs typeface="Inter" pitchFamily="34" charset="-120"/>
              </a:rPr>
              <a:t>  +$586K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+$285K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13,490</a:t>
            </a:r>
            <a:pPr indent="0" marL="0">
              <a:buNone/>
            </a:pPr>
            <a:r>
              <a:rPr lang="en-US" sz="1400" b="1" dirty="0">
                <a:solidFill>
                  <a:srgbClr val="A82B26"/>
                </a:solidFill>
                <a:latin typeface="Inter" pitchFamily="34" charset="0"/>
                <a:ea typeface="Inter" pitchFamily="34" charset="-122"/>
                <a:cs typeface="Inter" pitchFamily="34" charset="-120"/>
              </a:rPr>
              <a:t>  −80</a:t>
            </a:r>
            <a:endParaRPr lang="en-US" sz="2200" dirty="0"/>
          </a:p>
        </p:txBody>
      </p:sp>
      <p:sp>
        <p:nvSpPr>
          <p:cNvPr id="19" name="Shape 17"/>
          <p:cNvSpPr/>
          <p:nvPr/>
        </p:nvSpPr>
        <p:spPr>
          <a:xfrm>
            <a:off x="6295644" y="658368"/>
            <a:ext cx="5436108" cy="475488"/>
          </a:xfrm>
          <a:prstGeom prst="rect">
            <a:avLst/>
          </a:prstGeom>
          <a:solidFill>
            <a:srgbClr val="EDF4FA"/>
          </a:solidFill>
          <a:ln/>
        </p:spPr>
      </p:sp>
      <p:sp>
        <p:nvSpPr>
          <p:cNvPr id="20" name="Text 18"/>
          <p:cNvSpPr txBox="1"/>
          <p:nvPr/>
        </p:nvSpPr>
        <p:spPr>
          <a:xfrm>
            <a:off x="6423660" y="658368"/>
            <a:ext cx="518007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Fixed gross +$586K   ·   9th · Net profit +$285K</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1.38</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$1.19M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+0.36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$617K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6.1%</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1,590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478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$1.45M</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$44K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13,490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13,570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107 more ROs.</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287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6.4%</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$19K</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186 more a year.</a:t>
            </a:r>
            <a:endParaRPr lang="en-US" sz="1400" dirty="0"/>
          </a:p>
        </p:txBody>
      </p:sp>
      <p:sp>
        <p:nvSpPr>
          <p:cNvPr id="87" name="Shape 85"/>
          <p:cNvSpPr/>
          <p:nvPr/>
        </p:nvSpPr>
        <p:spPr>
          <a:xfrm>
            <a:off x="658368" y="5371186"/>
            <a:ext cx="10872216" cy="10973"/>
          </a:xfrm>
          <a:prstGeom prst="rect">
            <a:avLst/>
          </a:prstGeom>
          <a:solidFill>
            <a:srgbClr val="9AA3AD"/>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$11,044</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
        <p:nvSpPr>
          <p:cNvPr id="94" name="Text 92"/>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6" name="Text 94"/>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81.5%</a:t>
            </a:r>
            <a:endParaRPr lang="en-US" sz="1400" dirty="0"/>
          </a:p>
        </p:txBody>
      </p:sp>
      <p:sp>
        <p:nvSpPr>
          <p:cNvPr id="97" name="Text 95"/>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8" name="Text 96"/>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1,744 more a year.</a:t>
            </a:r>
            <a:endParaRPr lang="en-US" sz="14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$5.93M</a:t>
            </a:r>
            <a:pPr indent="0" marL="0">
              <a:buNone/>
            </a:pPr>
            <a:r>
              <a:rPr lang="en-US" sz="1400" b="1" dirty="0">
                <a:solidFill>
                  <a:srgbClr val="0B7A4A"/>
                </a:solidFill>
                <a:latin typeface="Inter" pitchFamily="34" charset="0"/>
                <a:ea typeface="Inter" pitchFamily="34" charset="-122"/>
                <a:cs typeface="Inter" pitchFamily="34" charset="-120"/>
              </a:rPr>
              <a:t>  +$545K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$699,325</a:t>
            </a:r>
            <a:pPr indent="0" marL="0">
              <a:buNone/>
            </a:pPr>
            <a:r>
              <a:rPr lang="en-US" sz="1400" b="1" dirty="0">
                <a:solidFill>
                  <a:srgbClr val="A82B26"/>
                </a:solidFill>
                <a:latin typeface="Inter" pitchFamily="34" charset="0"/>
                <a:ea typeface="Inter" pitchFamily="34" charset="-122"/>
                <a:cs typeface="Inter" pitchFamily="34" charset="-120"/>
              </a:rPr>
              <a:t>  −$268K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73.3%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17,376</a:t>
            </a:r>
            <a:pPr indent="0" marL="0">
              <a:buNone/>
            </a:pPr>
            <a:r>
              <a:rPr lang="en-US" sz="1400" b="1" dirty="0">
                <a:solidFill>
                  <a:srgbClr val="0B7A4A"/>
                </a:solidFill>
                <a:latin typeface="Inter" pitchFamily="34" charset="0"/>
                <a:ea typeface="Inter" pitchFamily="34" charset="-122"/>
                <a:cs typeface="Inter" pitchFamily="34" charset="-120"/>
              </a:rPr>
              <a:t>  +1,008</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ROs +1,008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$187</a:t>
            </a:r>
            <a:endParaRPr lang="en-US" sz="1400" dirty="0"/>
          </a:p>
        </p:txBody>
      </p:sp>
      <p:sp>
        <p:nvSpPr>
          <p:cNvPr id="32" name="Text 30"/>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4" name="Text 32"/>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37866"/>
            <a:ext cx="10872216" cy="323850"/>
          </a:xfrm>
          <a:prstGeom prst="rect">
            <a:avLst/>
          </a:prstGeom>
          <a:solidFill>
            <a:srgbClr val="F7F7F7"/>
          </a:solidFill>
          <a:ln/>
        </p:spPr>
      </p:sp>
      <p:sp>
        <p:nvSpPr>
          <p:cNvPr id="36" name="Text 34"/>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1.48</a:t>
            </a:r>
            <a:endParaRPr lang="en-US" sz="1400" dirty="0"/>
          </a:p>
        </p:txBody>
      </p:sp>
      <p:sp>
        <p:nvSpPr>
          <p:cNvPr id="39" name="Text 37"/>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$1.12M</a:t>
            </a:r>
            <a:endParaRPr lang="en-US" sz="1400" dirty="0"/>
          </a:p>
        </p:txBody>
      </p:sp>
      <p:sp>
        <p:nvSpPr>
          <p:cNvPr id="41" name="Text 39"/>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+0.26 hr per RO.</a:t>
            </a:r>
            <a:endParaRPr lang="en-US" sz="1400" dirty="0"/>
          </a:p>
        </p:txBody>
      </p:sp>
      <p:sp>
        <p:nvSpPr>
          <p:cNvPr id="42" name="Text 40"/>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4" name="Text 42"/>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45" name="Text 43"/>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$225K</a:t>
            </a:r>
            <a:endParaRPr lang="en-US" sz="1400" dirty="0"/>
          </a:p>
        </p:txBody>
      </p:sp>
      <p:sp>
        <p:nvSpPr>
          <p:cNvPr id="47" name="Text 45"/>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2,490 more a year.</a:t>
            </a:r>
            <a:endParaRPr lang="en-US" sz="1400" dirty="0"/>
          </a:p>
        </p:txBody>
      </p:sp>
      <p:sp>
        <p:nvSpPr>
          <p:cNvPr id="48" name="Shape 46"/>
          <p:cNvSpPr/>
          <p:nvPr/>
        </p:nvSpPr>
        <p:spPr>
          <a:xfrm>
            <a:off x="658368" y="3385566"/>
            <a:ext cx="10872216" cy="323850"/>
          </a:xfrm>
          <a:prstGeom prst="rect">
            <a:avLst/>
          </a:prstGeom>
          <a:solidFill>
            <a:srgbClr val="F7F7F7"/>
          </a:solidFill>
          <a:ln/>
        </p:spPr>
      </p:sp>
      <p:sp>
        <p:nvSpPr>
          <p:cNvPr id="49" name="Text 47"/>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0.4%</a:t>
            </a:r>
            <a:endParaRPr lang="en-US" sz="1400" dirty="0"/>
          </a:p>
        </p:txBody>
      </p:sp>
      <p:sp>
        <p:nvSpPr>
          <p:cNvPr id="52" name="Text 50"/>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54" name="Text 52"/>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3,361 more a year.</a:t>
            </a:r>
            <a:endParaRPr lang="en-US" sz="1400" dirty="0"/>
          </a:p>
        </p:txBody>
      </p:sp>
      <p:sp>
        <p:nvSpPr>
          <p:cNvPr id="55" name="Text 53"/>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8" name="Text 56"/>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$157K</a:t>
            </a:r>
            <a:endParaRPr lang="en-US" sz="1400" dirty="0"/>
          </a:p>
        </p:txBody>
      </p:sp>
      <p:sp>
        <p:nvSpPr>
          <p:cNvPr id="60" name="Text 58"/>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33266"/>
            <a:ext cx="10872216" cy="323850"/>
          </a:xfrm>
          <a:prstGeom prst="rect">
            <a:avLst/>
          </a:prstGeom>
          <a:solidFill>
            <a:srgbClr val="F7F7F7"/>
          </a:solidFill>
          <a:ln/>
        </p:spPr>
      </p:sp>
      <p:sp>
        <p:nvSpPr>
          <p:cNvPr id="62" name="Text 60"/>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4" name="Text 62"/>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28</a:t>
            </a:r>
            <a:endParaRPr lang="en-US" sz="1400" dirty="0"/>
          </a:p>
        </p:txBody>
      </p:sp>
      <p:sp>
        <p:nvSpPr>
          <p:cNvPr id="65" name="Text 63"/>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$136K</a:t>
            </a:r>
            <a:endParaRPr lang="en-US" sz="1400" dirty="0"/>
          </a:p>
        </p:txBody>
      </p:sp>
      <p:sp>
        <p:nvSpPr>
          <p:cNvPr id="67" name="Text 65"/>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68" name="Text 66"/>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70" name="Text 68"/>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75.7%</a:t>
            </a:r>
            <a:endParaRPr lang="en-US" sz="1400" dirty="0"/>
          </a:p>
        </p:txBody>
      </p:sp>
      <p:sp>
        <p:nvSpPr>
          <p:cNvPr id="71" name="Text 69"/>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$102K</a:t>
            </a:r>
            <a:endParaRPr lang="en-US" sz="1400" dirty="0"/>
          </a:p>
        </p:txBody>
      </p:sp>
      <p:sp>
        <p:nvSpPr>
          <p:cNvPr id="73" name="Text 71"/>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4" name="Shape 72"/>
          <p:cNvSpPr/>
          <p:nvPr/>
        </p:nvSpPr>
        <p:spPr>
          <a:xfrm>
            <a:off x="658368" y="4680966"/>
            <a:ext cx="10872216" cy="323850"/>
          </a:xfrm>
          <a:prstGeom prst="rect">
            <a:avLst/>
          </a:prstGeom>
          <a:solidFill>
            <a:srgbClr val="F7F7F7"/>
          </a:solidFill>
          <a:ln/>
        </p:spPr>
      </p:sp>
      <p:sp>
        <p:nvSpPr>
          <p:cNvPr id="75" name="Text 73"/>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78" name="Text 76"/>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80" name="Text 78"/>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683 more a year.</a:t>
            </a:r>
            <a:endParaRPr lang="en-US" sz="1400" dirty="0"/>
          </a:p>
        </p:txBody>
      </p:sp>
      <p:sp>
        <p:nvSpPr>
          <p:cNvPr id="81" name="Text 79"/>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83" name="Text 81"/>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$2.25M</a:t>
            </a:r>
            <a:endParaRPr lang="en-US" sz="1400" dirty="0"/>
          </a:p>
        </p:txBody>
      </p:sp>
      <p:sp>
        <p:nvSpPr>
          <p:cNvPr id="84" name="Text 82"/>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85" name="Text 83"/>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86" name="Text 84"/>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87" name="Shape 85"/>
          <p:cNvSpPr/>
          <p:nvPr/>
        </p:nvSpPr>
        <p:spPr>
          <a:xfrm>
            <a:off x="658368" y="5328666"/>
            <a:ext cx="10872216" cy="323850"/>
          </a:xfrm>
          <a:prstGeom prst="rect">
            <a:avLst/>
          </a:prstGeom>
          <a:solidFill>
            <a:srgbClr val="F7F7F7"/>
          </a:solidFill>
          <a:ln/>
        </p:spPr>
      </p:sp>
      <p:sp>
        <p:nvSpPr>
          <p:cNvPr id="88" name="Text 86"/>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90" name="Text 88"/>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91" name="Text 89"/>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3" name="Text 91"/>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387 more a year.</a:t>
            </a:r>
            <a:endParaRPr lang="en-US" sz="1400" dirty="0"/>
          </a:p>
        </p:txBody>
      </p:sp>
      <p:sp>
        <p:nvSpPr>
          <p:cNvPr id="94" name="Shape 92"/>
          <p:cNvSpPr/>
          <p:nvPr/>
        </p:nvSpPr>
        <p:spPr>
          <a:xfrm>
            <a:off x="658368" y="5647030"/>
            <a:ext cx="10872216" cy="10973"/>
          </a:xfrm>
          <a:prstGeom prst="rect">
            <a:avLst/>
          </a:prstGeom>
          <a:solidFill>
            <a:srgbClr val="9AA3AD"/>
          </a:solidFill>
          <a:ln/>
        </p:spPr>
      </p:sp>
      <p:sp>
        <p:nvSpPr>
          <p:cNvPr id="95" name="Text 93"/>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7" name="Text 95"/>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$11,128</a:t>
            </a:r>
            <a:endParaRPr lang="en-US" sz="1400" dirty="0"/>
          </a:p>
        </p:txBody>
      </p:sp>
      <p:sp>
        <p:nvSpPr>
          <p:cNvPr id="98" name="Text 96"/>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9" name="Text 97"/>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7.4 heads over peer avg.</a:t>
            </a:r>
            <a:endParaRPr lang="en-US" sz="1400" dirty="0"/>
          </a:p>
        </p:txBody>
      </p:sp>
      <p:sp>
        <p:nvSpPr>
          <p:cNvPr id="101" name="Shape 99"/>
          <p:cNvSpPr/>
          <p:nvPr/>
        </p:nvSpPr>
        <p:spPr>
          <a:xfrm>
            <a:off x="658368" y="5976366"/>
            <a:ext cx="10872216" cy="323850"/>
          </a:xfrm>
          <a:prstGeom prst="rect">
            <a:avLst/>
          </a:prstGeom>
          <a:solidFill>
            <a:srgbClr val="F7F7F7"/>
          </a:solidFill>
          <a:ln/>
        </p:spPr>
      </p:sp>
      <p:sp>
        <p:nvSpPr>
          <p:cNvPr id="102" name="Text 100"/>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3" name="Text 101"/>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4" name="Text 102"/>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81.3%</a:t>
            </a:r>
            <a:endParaRPr lang="en-US" sz="1400" dirty="0"/>
          </a:p>
        </p:txBody>
      </p:sp>
      <p:sp>
        <p:nvSpPr>
          <p:cNvPr id="105" name="Text 103"/>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6" name="Text 104"/>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7" name="Text 105"/>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2,232 more a year.</a:t>
            </a:r>
            <a:endParaRPr lang="en-US" sz="14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Volvo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$3.91M</a:t>
            </a:r>
            <a:pPr indent="0" marL="0">
              <a:buNone/>
            </a:pPr>
            <a:r>
              <a:rPr lang="en-US" sz="1400" b="1" dirty="0">
                <a:solidFill>
                  <a:srgbClr val="0B7A4A"/>
                </a:solidFill>
                <a:latin typeface="Inter" pitchFamily="34" charset="0"/>
                <a:ea typeface="Inter" pitchFamily="34" charset="-122"/>
                <a:cs typeface="Inter" pitchFamily="34" charset="-120"/>
              </a:rPr>
              <a:t>  +$63K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$1.33M</a:t>
            </a:r>
            <a:pPr indent="0" marL="0">
              <a:buNone/>
            </a:pPr>
            <a:r>
              <a:rPr lang="en-US" sz="1400" b="1" dirty="0">
                <a:solidFill>
                  <a:srgbClr val="0B7A4A"/>
                </a:solidFill>
                <a:latin typeface="Inter" pitchFamily="34" charset="0"/>
                <a:ea typeface="Inter" pitchFamily="34" charset="-122"/>
                <a:cs typeface="Inter" pitchFamily="34" charset="-120"/>
              </a:rPr>
              <a:t>  +$155K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81.8%</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3,402</a:t>
            </a:r>
            <a:pPr indent="0" marL="0">
              <a:buNone/>
            </a:pPr>
            <a:r>
              <a:rPr lang="en-US" sz="1400" b="1" dirty="0">
                <a:solidFill>
                  <a:srgbClr val="0B7A4A"/>
                </a:solidFill>
                <a:latin typeface="Inter" pitchFamily="34" charset="0"/>
                <a:ea typeface="Inter" pitchFamily="34" charset="-122"/>
                <a:cs typeface="Inter" pitchFamily="34" charset="-120"/>
              </a:rPr>
              <a:t>  +46</a:t>
            </a:r>
            <a:endParaRPr lang="en-US" sz="2200" dirty="0"/>
          </a:p>
        </p:txBody>
      </p:sp>
      <p:sp>
        <p:nvSpPr>
          <p:cNvPr id="19" name="Shape 17"/>
          <p:cNvSpPr/>
          <p:nvPr/>
        </p:nvSpPr>
        <p:spPr>
          <a:xfrm>
            <a:off x="4787900" y="658368"/>
            <a:ext cx="6943852" cy="475488"/>
          </a:xfrm>
          <a:prstGeom prst="rect">
            <a:avLst/>
          </a:prstGeom>
          <a:solidFill>
            <a:srgbClr val="EDF4FA"/>
          </a:solidFill>
          <a:ln/>
        </p:spPr>
      </p:sp>
      <p:sp>
        <p:nvSpPr>
          <p:cNvPr id="20" name="Text 18"/>
          <p:cNvSpPr txBox="1"/>
          <p:nvPr/>
        </p:nvSpPr>
        <p:spPr>
          <a:xfrm>
            <a:off x="4915916" y="658368"/>
            <a:ext cx="668782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ELR +$41   ·   2nd · Gross/head $18,549   ·   3rd · MPI 98.2%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+0.62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$506</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$1.49M</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52.5%</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366 more a year.</a:t>
            </a:r>
            <a:endParaRPr lang="en-US" sz="1400" dirty="0"/>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$4.79M</a:t>
            </a:r>
            <a:pPr indent="0" marL="0">
              <a:buNone/>
            </a:pPr>
            <a:r>
              <a:rPr lang="en-US" sz="1400" b="1" dirty="0">
                <a:solidFill>
                  <a:srgbClr val="A82B26"/>
                </a:solidFill>
                <a:latin typeface="Inter" pitchFamily="34" charset="0"/>
                <a:ea typeface="Inter" pitchFamily="34" charset="-122"/>
                <a:cs typeface="Inter" pitchFamily="34" charset="-120"/>
              </a:rPr>
              <a:t>  −$761K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$1.09M</a:t>
            </a:r>
            <a:pPr indent="0" marL="0">
              <a:buNone/>
            </a:pPr>
            <a:r>
              <a:rPr lang="en-US" sz="1400" b="1" dirty="0">
                <a:solidFill>
                  <a:srgbClr val="A82B26"/>
                </a:solidFill>
                <a:latin typeface="Inter" pitchFamily="34" charset="0"/>
                <a:ea typeface="Inter" pitchFamily="34" charset="-122"/>
                <a:cs typeface="Inter" pitchFamily="34" charset="-120"/>
              </a:rPr>
              <a:t>  −$457K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83.8%</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5,145</a:t>
            </a:r>
            <a:pPr indent="0" marL="0">
              <a:buNone/>
            </a:pPr>
            <a:r>
              <a:rPr lang="en-US" sz="1400" b="1" dirty="0">
                <a:solidFill>
                  <a:srgbClr val="A82B26"/>
                </a:solidFill>
                <a:latin typeface="Inter" pitchFamily="34" charset="0"/>
                <a:ea typeface="Inter" pitchFamily="34" charset="-122"/>
                <a:cs typeface="Inter" pitchFamily="34" charset="-120"/>
              </a:rPr>
              <a:t>  −4</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1st · Video 96.0%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$3.50M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$730K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19</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$1.29M</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460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96 more a year.</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$12,006</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2.5 heads over peer avg.</a:t>
            </a:r>
            <a:endParaRPr lang="en-US" sz="1400" dirty="0"/>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$968,018</a:t>
            </a:r>
            <a:pPr indent="0" marL="0">
              <a:buNone/>
            </a:pPr>
            <a:r>
              <a:rPr lang="en-US" sz="1400" b="1" dirty="0">
                <a:solidFill>
                  <a:srgbClr val="A82B26"/>
                </a:solidFill>
                <a:latin typeface="Inter" pitchFamily="34" charset="0"/>
                <a:ea typeface="Inter" pitchFamily="34" charset="-122"/>
                <a:cs typeface="Inter" pitchFamily="34" charset="-120"/>
              </a:rPr>
              <a:t>  −$163K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−$58,644</a:t>
            </a:r>
            <a:pPr indent="0" marL="0">
              <a:buNone/>
            </a:pPr>
            <a:r>
              <a:rPr lang="en-US" sz="1400" b="1" dirty="0">
                <a:solidFill>
                  <a:srgbClr val="A82B26"/>
                </a:solidFill>
                <a:latin typeface="Inter" pitchFamily="34" charset="0"/>
                <a:ea typeface="Inter" pitchFamily="34" charset="-122"/>
                <a:cs typeface="Inter" pitchFamily="34" charset="-120"/>
              </a:rPr>
              <a:t>  −$212K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54.1%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1,919</a:t>
            </a:r>
            <a:pPr indent="0" marL="0">
              <a:buNone/>
            </a:pPr>
            <a:r>
              <a:rPr lang="en-US" sz="1400" b="1" dirty="0">
                <a:solidFill>
                  <a:srgbClr val="A82B26"/>
                </a:solidFill>
                <a:latin typeface="Inter" pitchFamily="34" charset="0"/>
                <a:ea typeface="Inter" pitchFamily="34" charset="-122"/>
                <a:cs typeface="Inter" pitchFamily="34" charset="-120"/>
              </a:rPr>
              <a:t>  −332</a:t>
            </a:r>
            <a:endParaRPr lang="en-US" sz="22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5</a:t>
            </a:r>
            <a:endParaRPr lang="en-US" sz="1400" dirty="0"/>
          </a:p>
        </p:txBody>
      </p:sp>
      <p:sp>
        <p:nvSpPr>
          <p:cNvPr id="30" name="Text 28"/>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$248K</a:t>
            </a:r>
            <a:endParaRPr lang="en-US" sz="1400" dirty="0"/>
          </a:p>
        </p:txBody>
      </p:sp>
      <p:sp>
        <p:nvSpPr>
          <p:cNvPr id="32" name="Text 30"/>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12954"/>
            <a:ext cx="10872216" cy="298938"/>
          </a:xfrm>
          <a:prstGeom prst="rect">
            <a:avLst/>
          </a:prstGeom>
          <a:solidFill>
            <a:srgbClr val="F7F7F7"/>
          </a:solidFill>
          <a:ln/>
        </p:spPr>
      </p:sp>
      <p:sp>
        <p:nvSpPr>
          <p:cNvPr id="34" name="Text 32"/>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6" name="Text 34"/>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$724K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39" name="Text 37"/>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0" name="Text 38"/>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2" name="Text 40"/>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1,919</a:t>
            </a:r>
            <a:endParaRPr lang="en-US" sz="1400" dirty="0"/>
          </a:p>
        </p:txBody>
      </p:sp>
      <p:sp>
        <p:nvSpPr>
          <p:cNvPr id="43" name="Text 41"/>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2,251</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45" name="Text 43"/>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443 more ROs.</a:t>
            </a:r>
            <a:endParaRPr lang="en-US" sz="1400" dirty="0"/>
          </a:p>
        </p:txBody>
      </p:sp>
      <p:sp>
        <p:nvSpPr>
          <p:cNvPr id="46" name="Shape 44"/>
          <p:cNvSpPr/>
          <p:nvPr/>
        </p:nvSpPr>
        <p:spPr>
          <a:xfrm>
            <a:off x="658368" y="3310831"/>
            <a:ext cx="10872216" cy="298938"/>
          </a:xfrm>
          <a:prstGeom prst="rect">
            <a:avLst/>
          </a:prstGeom>
          <a:solidFill>
            <a:srgbClr val="F7F7F7"/>
          </a:solidFill>
          <a:ln/>
        </p:spPr>
      </p:sp>
      <p:sp>
        <p:nvSpPr>
          <p:cNvPr id="47" name="Text 45"/>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9" name="Text 47"/>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$231</a:t>
            </a:r>
            <a:endParaRPr lang="en-US" sz="1400" dirty="0"/>
          </a:p>
        </p:txBody>
      </p:sp>
      <p:sp>
        <p:nvSpPr>
          <p:cNvPr id="50" name="Text 48"/>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2" name="Text 50"/>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53" name="Text 51"/>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5" name="Text 53"/>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$380K</a:t>
            </a:r>
            <a:endParaRPr lang="en-US" sz="1400" dirty="0"/>
          </a:p>
        </p:txBody>
      </p:sp>
      <p:sp>
        <p:nvSpPr>
          <p:cNvPr id="56" name="Text 54"/>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$407K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7" name="Text 55"/>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58" name="Text 56"/>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9" name="Shape 57"/>
          <p:cNvSpPr/>
          <p:nvPr/>
        </p:nvSpPr>
        <p:spPr>
          <a:xfrm>
            <a:off x="658368" y="3908708"/>
            <a:ext cx="10872216" cy="298938"/>
          </a:xfrm>
          <a:prstGeom prst="rect">
            <a:avLst/>
          </a:prstGeom>
          <a:solidFill>
            <a:srgbClr val="F7F7F7"/>
          </a:solidFill>
          <a:ln/>
        </p:spPr>
      </p:sp>
      <p:sp>
        <p:nvSpPr>
          <p:cNvPr id="60" name="Text 58"/>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2" name="Text 60"/>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63" name="Text 61"/>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$29K</a:t>
            </a:r>
            <a:endParaRPr lang="en-US" sz="1400" dirty="0"/>
          </a:p>
        </p:txBody>
      </p:sp>
      <p:sp>
        <p:nvSpPr>
          <p:cNvPr id="65" name="Text 63"/>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123 more a year.</a:t>
            </a:r>
            <a:endParaRPr lang="en-US" sz="1400" dirty="0"/>
          </a:p>
        </p:txBody>
      </p:sp>
      <p:sp>
        <p:nvSpPr>
          <p:cNvPr id="66" name="Text 64"/>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8" name="Text 66"/>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0.4%</a:t>
            </a:r>
            <a:endParaRPr lang="en-US" sz="1400" dirty="0"/>
          </a:p>
        </p:txBody>
      </p:sp>
      <p:sp>
        <p:nvSpPr>
          <p:cNvPr id="69" name="Text 67"/>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$28K</a:t>
            </a:r>
            <a:endParaRPr lang="en-US" sz="1400" dirty="0"/>
          </a:p>
        </p:txBody>
      </p:sp>
      <p:sp>
        <p:nvSpPr>
          <p:cNvPr id="71" name="Text 69"/>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373 more a year.</a:t>
            </a:r>
            <a:endParaRPr lang="en-US" sz="1400" dirty="0"/>
          </a:p>
        </p:txBody>
      </p:sp>
      <p:sp>
        <p:nvSpPr>
          <p:cNvPr id="72" name="Shape 70"/>
          <p:cNvSpPr/>
          <p:nvPr/>
        </p:nvSpPr>
        <p:spPr>
          <a:xfrm>
            <a:off x="658368" y="4506585"/>
            <a:ext cx="10872216" cy="298938"/>
          </a:xfrm>
          <a:prstGeom prst="rect">
            <a:avLst/>
          </a:prstGeom>
          <a:solidFill>
            <a:srgbClr val="F7F7F7"/>
          </a:solidFill>
          <a:ln/>
        </p:spPr>
      </p:sp>
      <p:sp>
        <p:nvSpPr>
          <p:cNvPr id="73" name="Text 71"/>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75" name="Text 73"/>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1.71</a:t>
            </a:r>
            <a:endParaRPr lang="en-US" sz="1400" dirty="0"/>
          </a:p>
        </p:txBody>
      </p:sp>
      <p:sp>
        <p:nvSpPr>
          <p:cNvPr id="76" name="Text 74"/>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7" name="Text 75"/>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78" name="Text 76"/>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+0.04 hr per RO.</a:t>
            </a:r>
            <a:endParaRPr lang="en-US" sz="1400" dirty="0"/>
          </a:p>
        </p:txBody>
      </p:sp>
      <p:sp>
        <p:nvSpPr>
          <p:cNvPr id="79" name="Text 77"/>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81" name="Text 79"/>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5.6%</a:t>
            </a:r>
            <a:endParaRPr lang="en-US" sz="1400" dirty="0"/>
          </a:p>
        </p:txBody>
      </p:sp>
      <p:sp>
        <p:nvSpPr>
          <p:cNvPr id="82" name="Text 80"/>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84" name="Text 82"/>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240 more a year.</a:t>
            </a:r>
            <a:endParaRPr lang="en-US" sz="1400" dirty="0"/>
          </a:p>
        </p:txBody>
      </p:sp>
      <p:sp>
        <p:nvSpPr>
          <p:cNvPr id="85" name="Shape 83"/>
          <p:cNvSpPr/>
          <p:nvPr/>
        </p:nvSpPr>
        <p:spPr>
          <a:xfrm>
            <a:off x="658368" y="5104462"/>
            <a:ext cx="10872216" cy="298938"/>
          </a:xfrm>
          <a:prstGeom prst="rect">
            <a:avLst/>
          </a:prstGeom>
          <a:solidFill>
            <a:srgbClr val="F7F7F7"/>
          </a:solidFill>
          <a:ln/>
        </p:spPr>
      </p:sp>
      <p:sp>
        <p:nvSpPr>
          <p:cNvPr id="86" name="Text 84"/>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8" name="Text 86"/>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a:t>
            </a:r>
            <a:endParaRPr lang="en-US" sz="1400" dirty="0"/>
          </a:p>
        </p:txBody>
      </p:sp>
      <p:sp>
        <p:nvSpPr>
          <p:cNvPr id="89" name="Text 87"/>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0" name="Text 88"/>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91" name="Text 89"/>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 more a year.</a:t>
            </a:r>
            <a:endParaRPr lang="en-US" sz="1400" dirty="0"/>
          </a:p>
        </p:txBody>
      </p:sp>
      <p:sp>
        <p:nvSpPr>
          <p:cNvPr id="92" name="Shape 90"/>
          <p:cNvSpPr/>
          <p:nvPr/>
        </p:nvSpPr>
        <p:spPr>
          <a:xfrm>
            <a:off x="658368" y="5397914"/>
            <a:ext cx="10872216" cy="10973"/>
          </a:xfrm>
          <a:prstGeom prst="rect">
            <a:avLst/>
          </a:prstGeom>
          <a:solidFill>
            <a:srgbClr val="9AA3AD"/>
          </a:solidFill>
          <a:ln/>
        </p:spPr>
      </p:sp>
      <p:sp>
        <p:nvSpPr>
          <p:cNvPr id="93" name="Text 91"/>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4" name="Text 92"/>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5" name="Text 93"/>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45.7%</a:t>
            </a:r>
            <a:endParaRPr lang="en-US" sz="1400" dirty="0"/>
          </a:p>
        </p:txBody>
      </p:sp>
      <p:sp>
        <p:nvSpPr>
          <p:cNvPr id="96" name="Text 94"/>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7" name="Text 95"/>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8" name="Text 96"/>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1,733 more a year.</a:t>
            </a:r>
            <a:endParaRPr lang="en-US" sz="1400" dirty="0"/>
          </a:p>
        </p:txBody>
      </p:sp>
      <p:sp>
        <p:nvSpPr>
          <p:cNvPr id="99" name="Shape 97"/>
          <p:cNvSpPr/>
          <p:nvPr/>
        </p:nvSpPr>
        <p:spPr>
          <a:xfrm>
            <a:off x="658368" y="5702339"/>
            <a:ext cx="10872216" cy="298938"/>
          </a:xfrm>
          <a:prstGeom prst="rect">
            <a:avLst/>
          </a:prstGeom>
          <a:solidFill>
            <a:srgbClr val="F7F7F7"/>
          </a:solidFill>
          <a:ln/>
        </p:spPr>
      </p:sp>
      <p:sp>
        <p:nvSpPr>
          <p:cNvPr id="100" name="Text 98"/>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1" name="Text 99"/>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02" name="Text 100"/>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$9,878</a:t>
            </a:r>
            <a:endParaRPr lang="en-US" sz="1400" dirty="0"/>
          </a:p>
        </p:txBody>
      </p:sp>
      <p:sp>
        <p:nvSpPr>
          <p:cNvPr id="103" name="Text 101"/>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04" name="Text 102"/>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5" name="Text 103"/>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2.4 heads over peer avg.</a:t>
            </a:r>
            <a:endParaRPr lang="en-US" sz="1400" dirty="0"/>
          </a:p>
        </p:txBody>
      </p:sp>
      <p:sp>
        <p:nvSpPr>
          <p:cNvPr id="106" name="Text 104"/>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7" name="Text 105"/>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8" name="Text 106"/>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48.5%</a:t>
            </a:r>
            <a:endParaRPr lang="en-US" sz="1400" dirty="0"/>
          </a:p>
        </p:txBody>
      </p:sp>
      <p:sp>
        <p:nvSpPr>
          <p:cNvPr id="109" name="Text 107"/>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10" name="Text 108"/>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11" name="Text 109"/>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365 more a year.</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2026-10-29T16:32:23Z</dcterms:created>
  <dcterms:modified xsi:type="dcterms:W3CDTF">2026-10-29T16:32:23Z</dcterms:modified>
</cp:coreProperties>
</file>