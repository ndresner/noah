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8211312" y="2167128"/>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Kia Las Vegas</a:t>
            </a:r>
            <a:endParaRPr lang="en-US" sz="1200" dirty="0"/>
          </a:p>
        </p:txBody>
      </p:sp>
      <p:sp>
        <p:nvSpPr>
          <p:cNvPr id="108" name="Text 106"/>
          <p:cNvSpPr txBox="1"/>
          <p:nvPr/>
        </p:nvSpPr>
        <p:spPr>
          <a:xfrm>
            <a:off x="9889236" y="2167128"/>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Lincoln</a:t>
            </a:r>
            <a:endParaRPr lang="en-US" sz="1200" dirty="0"/>
          </a:p>
        </p:txBody>
      </p:sp>
      <p:sp>
        <p:nvSpPr>
          <p:cNvPr id="109" name="Text 107"/>
          <p:cNvSpPr txBox="1"/>
          <p:nvPr/>
        </p:nvSpPr>
        <p:spPr>
          <a:xfrm>
            <a:off x="8211312" y="2512771"/>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VW Henderson</a:t>
            </a:r>
            <a:endParaRPr lang="en-US" sz="1200" dirty="0"/>
          </a:p>
        </p:txBody>
      </p:sp>
      <p:sp>
        <p:nvSpPr>
          <p:cNvPr id="110" name="Text 108"/>
          <p:cNvSpPr txBox="1"/>
          <p:nvPr/>
        </p:nvSpPr>
        <p:spPr>
          <a:xfrm>
            <a:off x="9889236" y="2512771"/>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Land Rover Reno</a:t>
            </a:r>
            <a:endParaRPr lang="en-US" sz="1200" dirty="0"/>
          </a:p>
        </p:txBody>
      </p:sp>
      <p:sp>
        <p:nvSpPr>
          <p:cNvPr id="111" name="Text 109"/>
          <p:cNvSpPr txBox="1"/>
          <p:nvPr/>
        </p:nvSpPr>
        <p:spPr>
          <a:xfrm>
            <a:off x="8211312" y="2858414"/>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Subaru of Las Vegas</a:t>
            </a:r>
            <a:endParaRPr lang="en-US" sz="1200" dirty="0"/>
          </a:p>
        </p:txBody>
      </p:sp>
      <p:sp>
        <p:nvSpPr>
          <p:cNvPr id="112" name="Text 110"/>
          <p:cNvSpPr txBox="1"/>
          <p:nvPr/>
        </p:nvSpPr>
        <p:spPr>
          <a:xfrm>
            <a:off x="9889236" y="2858414"/>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211312" y="3913632"/>
            <a:ext cx="3355848" cy="22860"/>
          </a:xfrm>
          <a:prstGeom prst="rect">
            <a:avLst/>
          </a:prstGeom>
          <a:solidFill>
            <a:srgbClr val="C2352F"/>
          </a:solidFill>
          <a:ln/>
        </p:spPr>
      </p:sp>
      <p:sp>
        <p:nvSpPr>
          <p:cNvPr id="114" name="Text 112"/>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15" name="Text 113"/>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6" name="Text 114"/>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17" name="Text 115"/>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8" name="Text 116"/>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19" name="Text 117"/>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20" name="Text 118"/>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21" name="Text 119"/>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22" name="Text 120"/>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23" name="Text 121"/>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24" name="Text 122"/>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25" name="Text 123"/>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26" name="Shape 124"/>
          <p:cNvSpPr/>
          <p:nvPr/>
        </p:nvSpPr>
        <p:spPr>
          <a:xfrm>
            <a:off x="11612880" y="4897526"/>
            <a:ext cx="54864" cy="272491"/>
          </a:xfrm>
          <a:prstGeom prst="rect">
            <a:avLst/>
          </a:prstGeom>
          <a:solidFill>
            <a:srgbClr val="C2352F"/>
          </a:solidFill>
          <a:ln/>
        </p:spPr>
      </p:sp>
      <p:sp>
        <p:nvSpPr>
          <p:cNvPr id="127" name="Text 125"/>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28" name="Text 126"/>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29" name="Text 127"/>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30" name="Shape 128"/>
          <p:cNvSpPr/>
          <p:nvPr/>
        </p:nvSpPr>
        <p:spPr>
          <a:xfrm>
            <a:off x="11612880" y="5243170"/>
            <a:ext cx="54864" cy="272491"/>
          </a:xfrm>
          <a:prstGeom prst="rect">
            <a:avLst/>
          </a:prstGeom>
          <a:solidFill>
            <a:srgbClr val="C2352F"/>
          </a:solidFill>
          <a:ln/>
        </p:spPr>
      </p:sp>
      <p:sp>
        <p:nvSpPr>
          <p:cNvPr id="131" name="Text 129"/>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32" name="Text 130"/>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33" name="Text 131"/>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34" name="Shape 132"/>
          <p:cNvSpPr/>
          <p:nvPr/>
        </p:nvSpPr>
        <p:spPr>
          <a:xfrm>
            <a:off x="457200" y="6126480"/>
            <a:ext cx="11274552" cy="615696"/>
          </a:xfrm>
          <a:prstGeom prst="rect">
            <a:avLst/>
          </a:prstGeom>
          <a:solidFill>
            <a:srgbClr val="EDF4FA"/>
          </a:solidFill>
          <a:ln/>
        </p:spPr>
      </p:sp>
      <p:sp>
        <p:nvSpPr>
          <p:cNvPr id="135" name="Text 13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labor $ per RO up from $200 to $250 with hours flat is a price increase, not more work.</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pricing matrix raises gross without selling one more part.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Consistent pricing: the same part costs every customer the same.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6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check parts actually sell at matrix prices,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457200" y="6126480"/>
            <a:ext cx="11274552" cy="371856"/>
          </a:xfrm>
          <a:prstGeom prst="rect">
            <a:avLst/>
          </a:prstGeom>
          <a:solidFill>
            <a:srgbClr val="E6F6EE"/>
          </a:solidFill>
          <a:ln/>
        </p:spPr>
      </p:sp>
      <p:sp>
        <p:nvSpPr>
          <p:cNvPr id="24"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