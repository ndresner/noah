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Proficiency on the store slides = Qlik sold hours ÷ ADP regular + overtime hours. Efficiency and productivity need DMS time clocked on ROs, which this data does not include, so they are defined here but not measured.PLACE: right after the Technician Proficiency explainer, before How We Measured It (Noah, Oct 27).</a:t>
            </a:r>
          </a:p>
          <a:p>
            <a:r>
              <a:t>Talk track: proficiency is the one we measure; efficiency and productivity explain why it is low. High efficiency with low proficiency means the tech is waiting.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968142"/>
            <a:ext cx="64008" cy="755294"/>
          </a:xfrm>
          <a:prstGeom prst="rect">
            <a:avLst/>
          </a:prstGeom>
          <a:solidFill>
            <a:srgbClr val="12A566"/>
          </a:solidFill>
          <a:ln/>
        </p:spPr>
      </p:sp>
      <p:sp>
        <p:nvSpPr>
          <p:cNvPr id="69" name="Text 6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760013"/>
            <a:ext cx="3489960" cy="828446"/>
          </a:xfrm>
          <a:prstGeom prst="rect">
            <a:avLst/>
          </a:prstGeom>
          <a:solidFill>
            <a:srgbClr val="F7F7F7"/>
          </a:solidFill>
          <a:ln/>
        </p:spPr>
      </p:sp>
      <p:sp>
        <p:nvSpPr>
          <p:cNvPr id="74" name="Shape 72"/>
          <p:cNvSpPr/>
          <p:nvPr/>
        </p:nvSpPr>
        <p:spPr>
          <a:xfrm>
            <a:off x="11466576" y="3796589"/>
            <a:ext cx="64008" cy="755294"/>
          </a:xfrm>
          <a:prstGeom prst="rect">
            <a:avLst/>
          </a:prstGeom>
          <a:solidFill>
            <a:srgbClr val="12A566"/>
          </a:solidFill>
          <a:ln/>
        </p:spPr>
      </p:sp>
      <p:sp>
        <p:nvSpPr>
          <p:cNvPr id="75" name="Text 7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81328"/>
            <a:ext cx="3453384" cy="3017520"/>
          </a:xfrm>
          <a:prstGeom prst="rect">
            <a:avLst/>
          </a:prstGeom>
          <a:solidFill>
            <a:srgbClr val="F7F7F7"/>
          </a:solidFill>
          <a:ln/>
        </p:spPr>
      </p:sp>
      <p:sp>
        <p:nvSpPr>
          <p:cNvPr id="7" name="Shape 5"/>
          <p:cNvSpPr/>
          <p:nvPr/>
        </p:nvSpPr>
        <p:spPr>
          <a:xfrm>
            <a:off x="713232" y="1481328"/>
            <a:ext cx="3453384" cy="64008"/>
          </a:xfrm>
          <a:prstGeom prst="rect">
            <a:avLst/>
          </a:prstGeom>
          <a:solidFill>
            <a:srgbClr val="2587C5"/>
          </a:solidFill>
          <a:ln/>
        </p:spPr>
      </p:sp>
      <p:sp>
        <p:nvSpPr>
          <p:cNvPr id="8" name="Text 6"/>
          <p:cNvSpPr txBox="1"/>
          <p:nvPr/>
        </p:nvSpPr>
        <p:spPr>
          <a:xfrm>
            <a:off x="896112"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9" name="Text 7"/>
          <p:cNvSpPr txBox="1"/>
          <p:nvPr/>
        </p:nvSpPr>
        <p:spPr>
          <a:xfrm>
            <a:off x="896112"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Sold hours ÷ hours worked</a:t>
            </a:r>
            <a:endParaRPr lang="en-US" sz="2600" dirty="0"/>
          </a:p>
        </p:txBody>
      </p:sp>
      <p:sp>
        <p:nvSpPr>
          <p:cNvPr id="10" name="Text 8"/>
          <p:cNvSpPr txBox="1"/>
          <p:nvPr/>
        </p:nvSpPr>
        <p:spPr>
          <a:xfrm>
            <a:off x="896112"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hours a tech flags for every hour they are at work. The measure on these slides: 85% target, group 94.7%.</a:t>
            </a:r>
            <a:endParaRPr lang="en-US" sz="1500" dirty="0"/>
          </a:p>
        </p:txBody>
      </p:sp>
      <p:sp>
        <p:nvSpPr>
          <p:cNvPr id="11" name="Shape 9"/>
          <p:cNvSpPr/>
          <p:nvPr/>
        </p:nvSpPr>
        <p:spPr>
          <a:xfrm>
            <a:off x="4367784" y="1481328"/>
            <a:ext cx="3453384" cy="3017520"/>
          </a:xfrm>
          <a:prstGeom prst="rect">
            <a:avLst/>
          </a:prstGeom>
          <a:solidFill>
            <a:srgbClr val="F7F7F7"/>
          </a:solidFill>
          <a:ln/>
        </p:spPr>
      </p:sp>
      <p:sp>
        <p:nvSpPr>
          <p:cNvPr id="12" name="Shape 10"/>
          <p:cNvSpPr/>
          <p:nvPr/>
        </p:nvSpPr>
        <p:spPr>
          <a:xfrm>
            <a:off x="4367784" y="1481328"/>
            <a:ext cx="3453384" cy="64008"/>
          </a:xfrm>
          <a:prstGeom prst="rect">
            <a:avLst/>
          </a:prstGeom>
          <a:solidFill>
            <a:srgbClr val="2587C5"/>
          </a:solidFill>
          <a:ln/>
        </p:spPr>
      </p:sp>
      <p:sp>
        <p:nvSpPr>
          <p:cNvPr id="13" name="Text 11"/>
          <p:cNvSpPr txBox="1"/>
          <p:nvPr/>
        </p:nvSpPr>
        <p:spPr>
          <a:xfrm>
            <a:off x="4550664"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4" name="Text 12"/>
          <p:cNvSpPr txBox="1"/>
          <p:nvPr/>
        </p:nvSpPr>
        <p:spPr>
          <a:xfrm>
            <a:off x="4550664"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Sold hours ÷ hours on ROs</a:t>
            </a:r>
            <a:endParaRPr lang="en-US" sz="2600" dirty="0"/>
          </a:p>
        </p:txBody>
      </p:sp>
      <p:sp>
        <p:nvSpPr>
          <p:cNvPr id="15" name="Text 13"/>
          <p:cNvSpPr txBox="1"/>
          <p:nvPr/>
        </p:nvSpPr>
        <p:spPr>
          <a:xfrm>
            <a:off x="4550664"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fast a tech does the work: hours flagged against the time actually clocked on repair orders. Over 100% beats book time.</a:t>
            </a:r>
            <a:endParaRPr lang="en-US" sz="1500" dirty="0"/>
          </a:p>
        </p:txBody>
      </p:sp>
      <p:sp>
        <p:nvSpPr>
          <p:cNvPr id="16" name="Shape 14"/>
          <p:cNvSpPr/>
          <p:nvPr/>
        </p:nvSpPr>
        <p:spPr>
          <a:xfrm>
            <a:off x="8022336" y="1481328"/>
            <a:ext cx="3453384" cy="3017520"/>
          </a:xfrm>
          <a:prstGeom prst="rect">
            <a:avLst/>
          </a:prstGeom>
          <a:solidFill>
            <a:srgbClr val="F7F7F7"/>
          </a:solidFill>
          <a:ln/>
        </p:spPr>
      </p:sp>
      <p:sp>
        <p:nvSpPr>
          <p:cNvPr id="17" name="Shape 15"/>
          <p:cNvSpPr/>
          <p:nvPr/>
        </p:nvSpPr>
        <p:spPr>
          <a:xfrm>
            <a:off x="8022336" y="1481328"/>
            <a:ext cx="3453384" cy="64008"/>
          </a:xfrm>
          <a:prstGeom prst="rect">
            <a:avLst/>
          </a:prstGeom>
          <a:solidFill>
            <a:srgbClr val="2587C5"/>
          </a:solidFill>
          <a:ln/>
        </p:spPr>
      </p:sp>
      <p:sp>
        <p:nvSpPr>
          <p:cNvPr id="18" name="Text 16"/>
          <p:cNvSpPr txBox="1"/>
          <p:nvPr/>
        </p:nvSpPr>
        <p:spPr>
          <a:xfrm>
            <a:off x="8205216"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19" name="Text 17"/>
          <p:cNvSpPr txBox="1"/>
          <p:nvPr/>
        </p:nvSpPr>
        <p:spPr>
          <a:xfrm>
            <a:off x="8205216"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Hours on ROs ÷ hours worked</a:t>
            </a:r>
            <a:endParaRPr lang="en-US" sz="2600" dirty="0"/>
          </a:p>
        </p:txBody>
      </p:sp>
      <p:sp>
        <p:nvSpPr>
          <p:cNvPr id="20" name="Text 18"/>
          <p:cNvSpPr txBox="1"/>
          <p:nvPr/>
        </p:nvSpPr>
        <p:spPr>
          <a:xfrm>
            <a:off x="8205216"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much of the day a tech spends on customer work instead of waiting on parts, dispatch or approvals.</a:t>
            </a:r>
            <a:endParaRPr lang="en-US" sz="1500" dirty="0"/>
          </a:p>
        </p:txBody>
      </p:sp>
      <p:sp>
        <p:nvSpPr>
          <p:cNvPr id="21" name="Text 1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Proficiency = efficiency × productivity. A fast tech with nothing to work on is efficient but not proficient: the fix is dispatch, parts and approvals, not the tech.</a:t>
            </a:r>
            <a:endParaRPr lang="en-US" sz="17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