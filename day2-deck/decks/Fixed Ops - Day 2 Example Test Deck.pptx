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260" r:id="rId6"/>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261" r:id="rId7"/>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262" r:id="rId8"/>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263" r:id="rId9"/>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266" r:id="rId12"/>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82</c:v>
                </c:pt>
                <c:pt idx="1">
                  <c:v>82</c:v>
                </c:pt>
                <c:pt idx="2">
                  <c:v>82</c:v>
                </c:pt>
                <c:pt idx="3">
                  <c:v>82</c:v>
                </c:pt>
                <c:pt idx="4">
                  <c:v>82</c:v>
                </c:pt>
                <c:pt idx="5">
                  <c:v>82</c:v>
                </c:pt>
                <c:pt idx="6">
                  <c:v>82</c:v>
                </c:pt>
                <c:pt idx="7">
                  <c:v>82</c:v>
                </c:pt>
                <c:pt idx="8">
                  <c:v>82</c:v>
                </c:pt>
                <c:pt idx="9">
                  <c:v>82</c:v>
                </c:pt>
                <c:pt idx="10">
                  <c:v>82</c:v>
                </c:pt>
                <c:pt idx="11">
                  <c:v>82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 Fixed Expenses line by account class, every department of the store; categories reconcile to the line to the cent ($242,850,782).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78-82%: luxury stores run toward the top, domestic stores toward the bottom.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78-82%: luxury stores run toward the top, domestic stores toward the bottom.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78-82%: luxury stores run toward the top, domestic stores toward the bottom.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express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every store, gross a year above (+) or below (-) the benchmark at the store's own gross per service; group gross per service $129.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−$225K a year at $90/service</a:t>
            </a:r>
          </a:p>
          <a:p>
            <a:r>
              <a:t>TOYOTA FLAGSTAFF: 9.7%, −$90K a year at $84/service</a:t>
            </a:r>
          </a:p>
          <a:p>
            <a:r>
              <a:t>NISSAN: 7.4%, −$83K a year at $119/service</a:t>
            </a:r>
          </a:p>
          <a:p>
            <a:r>
              <a:t>KIA LV: 9.7%, −$77K a year at $135/service</a:t>
            </a:r>
          </a:p>
          <a:p>
            <a:r>
              <a:t>CHEVY LV: 12.8%, −$75K a year at $136/service</a:t>
            </a:r>
          </a:p>
          <a:p>
            <a:r>
              <a:t>CDJR POST FALLS: 4.2%, −$57K a year at $74/service</a:t>
            </a:r>
          </a:p>
          <a:p>
            <a:r>
              <a:t>TOYOTA PRESCOTT: 12.3%, −$49K a year at $103/service</a:t>
            </a:r>
          </a:p>
          <a:p>
            <a:r>
              <a:t>KIA ST GEORGE: 8.0%, −$38K a year at $105/service</a:t>
            </a:r>
          </a:p>
          <a:p>
            <a:r>
              <a:t>HONDA SPOKANE: 12.5%, −$36K a year at $124/service</a:t>
            </a:r>
          </a:p>
          <a:p>
            <a:r>
              <a:t>AUDI RENO: 11.8%, −$34K a year at $230/service</a:t>
            </a:r>
          </a:p>
          <a:p>
            <a:r>
              <a:t>TOYOTA HENDERSON: 14.5%, −$33K a year at $102/service</a:t>
            </a:r>
          </a:p>
          <a:p>
            <a:r>
              <a:t>LEXUS: 11.3%, −$33K a year at $147/service</a:t>
            </a:r>
          </a:p>
          <a:p>
            <a:r>
              <a:t>LINCOLN: 8.4%, −$26K a year at $114/service</a:t>
            </a:r>
          </a:p>
          <a:p>
            <a:r>
              <a:t>CHEVY GMC BULLHEAD: 11.1%, −$25K a year at $78/service</a:t>
            </a:r>
          </a:p>
          <a:p>
            <a:r>
              <a:t>VW HENDERSON: 13.6%, −$23K a year at $245/service</a:t>
            </a:r>
          </a:p>
          <a:p>
            <a:r>
              <a:t>SUBARU ST GEORGE: 11.0%, −$23K a year at $78/service</a:t>
            </a:r>
          </a:p>
          <a:p>
            <a:r>
              <a:t>HONDA FLAGSTAFF: 11.0%, −$21K a year at $100/service</a:t>
            </a:r>
          </a:p>
          <a:p>
            <a:r>
              <a:t>VW ST GEORGE: 5.6%, −$18K a year at $74/service</a:t>
            </a:r>
          </a:p>
          <a:p>
            <a:r>
              <a:t>SUBARU PRESCOTT: 12.5%, −$12K a year at $73/service</a:t>
            </a:r>
          </a:p>
          <a:p>
            <a:r>
              <a:t>GMC PRESCOTT: 11.7%, −$11K a year at $85/service</a:t>
            </a:r>
          </a:p>
          <a:p>
            <a:r>
              <a:t>LR RENO: 12.8%, −$10K a year at $259/service (capped; raw $715/service)</a:t>
            </a:r>
          </a:p>
          <a:p>
            <a:r>
              <a:t>SUBARU LV: 14.5%, −$10K a year at $117/service</a:t>
            </a:r>
          </a:p>
          <a:p>
            <a:r>
              <a:t>CADILLAC: 13.8%, −$9K a year at $115/service</a:t>
            </a:r>
          </a:p>
          <a:p>
            <a:r>
              <a:t>VOLVO: 13.8%, −$7K a year at $142/service</a:t>
            </a:r>
          </a:p>
          <a:p>
            <a:r>
              <a:t>HYUNDAI ST GEORGE: 14.8%, −$865 a year at $121/service</a:t>
            </a:r>
          </a:p>
          <a:p>
            <a:r>
              <a:t>ACURA: 17.5%, +$14K a year at $117/service</a:t>
            </a:r>
          </a:p>
          <a:p>
            <a:r>
              <a:t>MAZDA: 16.6%, +$17K a year at $132/service</a:t>
            </a:r>
          </a:p>
          <a:p>
            <a:r>
              <a:t>LR LV: 17.3%, +$23K a year at $210/service</a:t>
            </a:r>
          </a:p>
          <a:p>
            <a:r>
              <a:t>HONDA NORTH: 16.1%, +$27K a year at $112/service</a:t>
            </a:r>
          </a:p>
          <a:p>
            <a:r>
              <a:t>LR HENDERSON: 24.4%, +$41K a year at $209/service</a:t>
            </a:r>
          </a:p>
          <a:p>
            <a:r>
              <a:t>HYUNDAI PRESCOTT: 21.7%, +$42K a year at $228/service</a:t>
            </a:r>
          </a:p>
          <a:p>
            <a:r>
              <a:t>AUDI HENDERSON: 27.5%, +$163K a year at $259/service (capped; raw $390/service)</a:t>
            </a:r>
          </a:p>
          <a:p>
            <a:r>
              <a:t>HONDA HENDERSON: 21.3%, +$229K a year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every store, gross a year above (+) or below (-) the benchmark at the store's own gross per service; group gross per service $75.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−$180K a year at $53/service</a:t>
            </a:r>
          </a:p>
          <a:p>
            <a:r>
              <a:t>TOYOTA HENDERSON: 11.2%, −$147K a year at $55/service</a:t>
            </a:r>
          </a:p>
          <a:p>
            <a:r>
              <a:t>TOYOTA PRESCOTT: 6.1%, −$132K a year at $83/service</a:t>
            </a:r>
          </a:p>
          <a:p>
            <a:r>
              <a:t>SUBARU ST GEORGE: 3.6%, −$125K a year at $149/service (capped; raw $247/service)</a:t>
            </a:r>
          </a:p>
          <a:p>
            <a:r>
              <a:t>TOYOTA FLAGSTAFF: 4.9%, −$109K a year at $54/service</a:t>
            </a:r>
          </a:p>
          <a:p>
            <a:r>
              <a:t>CHEVY LV: 7.3%, −$106K a year at $53/service</a:t>
            </a:r>
          </a:p>
          <a:p>
            <a:r>
              <a:t>HONDA SPOKANE: 2.1%, −$80K a year at $52/service</a:t>
            </a:r>
          </a:p>
          <a:p>
            <a:r>
              <a:t>NISSAN: 1.0%, −$77K a year at $59/service</a:t>
            </a:r>
          </a:p>
          <a:p>
            <a:r>
              <a:t>CDJR POST FALLS: 1.2%, −$73K a year at $75/service</a:t>
            </a:r>
          </a:p>
          <a:p>
            <a:r>
              <a:t>KIA LV: 5.2%, −$72K a year at $68/service</a:t>
            </a:r>
          </a:p>
          <a:p>
            <a:r>
              <a:t>LEXUS: 0.0%, −$68K a year at $75/service (group avg)</a:t>
            </a:r>
          </a:p>
          <a:p>
            <a:r>
              <a:t>SUBARU LV: 10.2%, −$68K a year at $75/service</a:t>
            </a:r>
          </a:p>
          <a:p>
            <a:r>
              <a:t>AUDI HENDERSON: 0.0%, −$56K a year at $75/service (group avg)</a:t>
            </a:r>
          </a:p>
          <a:p>
            <a:r>
              <a:t>AUDI RENO: 0.1%, −$52K a year at $75/service (group avg)</a:t>
            </a:r>
          </a:p>
          <a:p>
            <a:r>
              <a:t>HONDA FLAGSTAFF: 1.3%, −$52K a year at $70/service</a:t>
            </a:r>
          </a:p>
          <a:p>
            <a:r>
              <a:t>HONDA NORTH: 12.0%, −$38K a year at $64/service</a:t>
            </a:r>
          </a:p>
          <a:p>
            <a:r>
              <a:t>HYUNDAI ST GEORGE: 1.2%, −$36K a year at $58/service</a:t>
            </a:r>
          </a:p>
          <a:p>
            <a:r>
              <a:t>LINCOLN: 1.6%, −$31K a year at $66/service</a:t>
            </a:r>
          </a:p>
          <a:p>
            <a:r>
              <a:t>VW ST GEORGE: 0.4%, −$28K a year at $75/service (group avg)</a:t>
            </a:r>
          </a:p>
          <a:p>
            <a:r>
              <a:t>VW HENDERSON: 8.2%, −$27K a year at $60/service</a:t>
            </a:r>
          </a:p>
          <a:p>
            <a:r>
              <a:t>GMC PRESCOTT: 7.7%, −$27K a year at $90/service</a:t>
            </a:r>
          </a:p>
          <a:p>
            <a:r>
              <a:t>CHEVY GMC BULLHEAD: 9.0%, −$21K a year at $42/service</a:t>
            </a:r>
          </a:p>
          <a:p>
            <a:r>
              <a:t>KIA ST GEORGE: 7.7%, −$18K a year at $48/service</a:t>
            </a:r>
          </a:p>
          <a:p>
            <a:r>
              <a:t>CADILLAC: 5.9%, −$14K a year at $22/service</a:t>
            </a:r>
          </a:p>
          <a:p>
            <a:r>
              <a:t>MAZDA: 13.1%, −$11K a year at $79/service</a:t>
            </a:r>
          </a:p>
          <a:p>
            <a:r>
              <a:t>VOLVO: 11.7%, −$8K a year at $51/service</a:t>
            </a:r>
          </a:p>
          <a:p>
            <a:r>
              <a:t>HYUNDAI PRESCOTT: 13.5%, −$6K a year at $149/service (capped; raw $311/service)</a:t>
            </a:r>
          </a:p>
          <a:p>
            <a:r>
              <a:t>ACURA: 14.1%, −$3K a year at $64/service</a:t>
            </a:r>
          </a:p>
          <a:p>
            <a:r>
              <a:t>SUBARU PRESCOTT: 14.9%, −$34 a year at $34/service</a:t>
            </a:r>
          </a:p>
          <a:p>
            <a:r>
              <a:t>LR RENO: 16.9%, +$6K a year at $149/service (capped; raw $647/service)</a:t>
            </a:r>
          </a:p>
          <a:p>
            <a:r>
              <a:t>LR LV: 16.9%, +$14K a year at $149/service</a:t>
            </a:r>
          </a:p>
          <a:p>
            <a:r>
              <a:t>LR HENDERSON: 27.0%, +$31K a year at $122/service</a:t>
            </a:r>
          </a:p>
          <a:p>
            <a:r>
              <a:t>HONDA HENDERSON: 18.4%, +$70K a year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every store, gross a year above (+) or below (-) the benchmark at the store's own gross per service; group gross per service $189.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−$151K a year at $138/service</a:t>
            </a:r>
          </a:p>
          <a:p>
            <a:r>
              <a:t>TOYOTA SPOKANE: 7.0%, −$80K a year at $117/service</a:t>
            </a:r>
          </a:p>
          <a:p>
            <a:r>
              <a:t>AUDI RENO: 1.9%, −$78K a year at $206/service</a:t>
            </a:r>
          </a:p>
          <a:p>
            <a:r>
              <a:t>AUDI HENDERSON: 2.4%, −$74K a year at $196/service</a:t>
            </a:r>
          </a:p>
          <a:p>
            <a:r>
              <a:t>HONDA FLAGSTAFF: 3.1%, −$67K a year at $184/service</a:t>
            </a:r>
          </a:p>
          <a:p>
            <a:r>
              <a:t>CADILLAC: 4.6%, −$57K a year at $150/service</a:t>
            </a:r>
          </a:p>
          <a:p>
            <a:r>
              <a:t>CDJR POST FALLS: 4.2%, −$53K a year at $128/service</a:t>
            </a:r>
          </a:p>
          <a:p>
            <a:r>
              <a:t>TOYOTA FLAGSTAFF: 8.0%, −$48K a year at $123/service</a:t>
            </a:r>
          </a:p>
          <a:p>
            <a:r>
              <a:t>TOYOTA PRESCOTT: 8.4%, −$32K a year at $112/service</a:t>
            </a:r>
          </a:p>
          <a:p>
            <a:r>
              <a:t>HYUNDAI ST GEORGE: 4.7%, −$32K a year at $134/service</a:t>
            </a:r>
          </a:p>
          <a:p>
            <a:r>
              <a:t>KIA ST GEORGE: 5.9%, −$25K a year at $119/service</a:t>
            </a:r>
          </a:p>
          <a:p>
            <a:r>
              <a:t>KIA LV: 8.2%, −$22K a year at $120/service</a:t>
            </a:r>
          </a:p>
          <a:p>
            <a:r>
              <a:t>CHEVY GMC BULLHEAD: 7.0%, −$21K a year at $87/service</a:t>
            </a:r>
          </a:p>
          <a:p>
            <a:r>
              <a:t>GMC PRESCOTT: 6.0%, −$21K a year at $127/service</a:t>
            </a:r>
          </a:p>
          <a:p>
            <a:r>
              <a:t>LR RENO: 7.2%, −$20K a year at $377/service (capped; raw $1,380/service)</a:t>
            </a:r>
          </a:p>
          <a:p>
            <a:r>
              <a:t>MAZDA: 8.4%, −$18K a year at $154/service</a:t>
            </a:r>
          </a:p>
          <a:p>
            <a:r>
              <a:t>LEXUS: 8.3%, −$15K a year at $154/service</a:t>
            </a:r>
          </a:p>
          <a:p>
            <a:r>
              <a:t>VW ST GEORGE: 5.4%, −$13K a year at $111/service</a:t>
            </a:r>
          </a:p>
          <a:p>
            <a:r>
              <a:t>LINCOLN: 7.5%, −$11K a year at $126/service</a:t>
            </a:r>
          </a:p>
          <a:p>
            <a:r>
              <a:t>VW HENDERSON: 9.5%, −$4K a year at $134/service</a:t>
            </a:r>
          </a:p>
          <a:p>
            <a:r>
              <a:t>HYUNDAI PRESCOTT: 9.6%, −$3K a year at $354/service</a:t>
            </a:r>
          </a:p>
          <a:p>
            <a:r>
              <a:t>HONDA SPOKANE: 10.3%, +$5K a year at $126/service</a:t>
            </a:r>
          </a:p>
          <a:p>
            <a:r>
              <a:t>TOYOTA HENDERSON: 10.0%, +$7K a year at $141/service</a:t>
            </a:r>
          </a:p>
          <a:p>
            <a:r>
              <a:t>SUBARU LV: 10.1%, +$9K a year at $333/service</a:t>
            </a:r>
          </a:p>
          <a:p>
            <a:r>
              <a:t>SUBARU PRESCOTT: 10.6%, +$16K a year at $377/service (capped; raw $380/service)</a:t>
            </a:r>
          </a:p>
          <a:p>
            <a:r>
              <a:t>ACURA: 12.7%, +$20K a year at $147/service</a:t>
            </a:r>
          </a:p>
          <a:p>
            <a:r>
              <a:t>SUBARU ST GEORGE: 10.7%, +$21K a year at $377/service (capped; raw $489/service)</a:t>
            </a:r>
          </a:p>
          <a:p>
            <a:r>
              <a:t>NISSAN: 11.6%, +$24K a year at $155/service</a:t>
            </a:r>
          </a:p>
          <a:p>
            <a:r>
              <a:t>VOLVO: 11.9%, +$33K a year at $377/service (capped; raw $538/service)</a:t>
            </a:r>
          </a:p>
          <a:p>
            <a:r>
              <a:t>LR HENDERSON: 14.3%, +$34K a year at $377/service (capped; raw $709/service)</a:t>
            </a:r>
          </a:p>
          <a:p>
            <a:r>
              <a:t>HONDA NORTH: 12.1%, +$67K a year at $160/service</a:t>
            </a:r>
          </a:p>
          <a:p>
            <a:r>
              <a:t>LR LV: 20.6%, +$187K a year at $377/service (capped; raw $424/service)</a:t>
            </a:r>
          </a:p>
          <a:p>
            <a:r>
              <a:t>HONDA HENDERSON: 15.5%, +$260K a year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every store, gross a year above (+) or below (-) the benchmark at the store's own gross per service; group gross per service $165.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−$142K a year at $243/service</a:t>
            </a:r>
          </a:p>
          <a:p>
            <a:r>
              <a:t>TOYOTA HENDERSON: 6.0%, −$129K a year at $122/service</a:t>
            </a:r>
          </a:p>
          <a:p>
            <a:r>
              <a:t>TOYOTA FLAGSTAFF: 1.6%, −$109K a year at $93/service</a:t>
            </a:r>
          </a:p>
          <a:p>
            <a:r>
              <a:t>VW HENDERSON: 0.0%, −$85K a year at $165/service (group avg)</a:t>
            </a:r>
          </a:p>
          <a:p>
            <a:r>
              <a:t>KIA LV: 3.2%, −$76K a year at $163/service</a:t>
            </a:r>
          </a:p>
          <a:p>
            <a:r>
              <a:t>HONDA SPOKANE: 3.2%, −$75K a year at $147/service</a:t>
            </a:r>
          </a:p>
          <a:p>
            <a:r>
              <a:t>CHEVY GMC BULLHEAD: 2.7%, −$65K a year at $163/service</a:t>
            </a:r>
          </a:p>
          <a:p>
            <a:r>
              <a:t>NISSAN: 4.1%, −$64K a year at $206/service</a:t>
            </a:r>
          </a:p>
          <a:p>
            <a:r>
              <a:t>AUDI HENDERSON: 0.0%, −$62K a year at $165/service (group avg)</a:t>
            </a:r>
          </a:p>
          <a:p>
            <a:r>
              <a:t>CDJR POST FALLS: 3.0%, −$62K a year at $192/service</a:t>
            </a:r>
          </a:p>
          <a:p>
            <a:r>
              <a:t>HONDA FLAGSTAFF: 0.7%, −$60K a year at $165/service (group avg)</a:t>
            </a:r>
          </a:p>
          <a:p>
            <a:r>
              <a:t>TOYOTA SPOKANE: 5.8%, −$56K a year at $145/service</a:t>
            </a:r>
          </a:p>
          <a:p>
            <a:r>
              <a:t>VOLVO: 0.0%, −$56K a year at $165/service (group avg)</a:t>
            </a:r>
          </a:p>
          <a:p>
            <a:r>
              <a:t>AUDI RENO: 0.8%, −$51K a year at $165/service (group avg)</a:t>
            </a:r>
          </a:p>
          <a:p>
            <a:r>
              <a:t>CADILLAC: 5.1%, −$46K a year at $269/service</a:t>
            </a:r>
          </a:p>
          <a:p>
            <a:r>
              <a:t>LR HENDERSON: 2.5%, −$34K a year at $329/service (capped; raw $774/service)</a:t>
            </a:r>
          </a:p>
          <a:p>
            <a:r>
              <a:t>VW ST GEORGE: 2.7%, −$29K a year at $236/service</a:t>
            </a:r>
          </a:p>
          <a:p>
            <a:r>
              <a:t>MAZDA: 5.2%, −$26K a year at $150/service</a:t>
            </a:r>
          </a:p>
          <a:p>
            <a:r>
              <a:t>LEXUS: 4.2%, −$25K a year at $128/service</a:t>
            </a:r>
          </a:p>
          <a:p>
            <a:r>
              <a:t>LR LV: 5.5%, −$24K a year at $258/service</a:t>
            </a:r>
          </a:p>
          <a:p>
            <a:r>
              <a:t>GMC PRESCOTT: 3.6%, −$21K a year at $133/service</a:t>
            </a:r>
          </a:p>
          <a:p>
            <a:r>
              <a:t>TOYOTA PRESCOTT: 6.4%, −$19K a year at $101/service</a:t>
            </a:r>
          </a:p>
          <a:p>
            <a:r>
              <a:t>LR RENO: 4.5%, −$18K a year at $329/service (capped; raw $1,631/service)</a:t>
            </a:r>
          </a:p>
          <a:p>
            <a:r>
              <a:t>HYUNDAI ST GEORGE: 5.8%, −$13K a year at $176/service</a:t>
            </a:r>
          </a:p>
          <a:p>
            <a:r>
              <a:t>SUBARU LV: 7.0%, −$10K a year at $130/service</a:t>
            </a:r>
          </a:p>
          <a:p>
            <a:r>
              <a:t>HYUNDAI PRESCOTT: 7.3%, −$1K a year at $329/service (capped; raw $459/service)</a:t>
            </a:r>
          </a:p>
          <a:p>
            <a:r>
              <a:t>HONDA NORTH: 7.6%, +$4K a year at $118/service</a:t>
            </a:r>
          </a:p>
          <a:p>
            <a:r>
              <a:t>LINCOLN: 8.2%, +$4K a year at $175/service</a:t>
            </a:r>
          </a:p>
          <a:p>
            <a:r>
              <a:t>KIA ST GEORGE: 8.9%, +$12K a year at $154/service</a:t>
            </a:r>
          </a:p>
          <a:p>
            <a:r>
              <a:t>ACURA: 9.3%, +$13K a year at $145/service</a:t>
            </a:r>
          </a:p>
          <a:p>
            <a:r>
              <a:t>SUBARU PRESCOTT: 9.7%, +$51K a year at $329/service (capped; raw $406/service)</a:t>
            </a:r>
          </a:p>
          <a:p>
            <a:r>
              <a:t>SUBARU ST GEORGE: 13.8%, +$72K a year at $153/service</a:t>
            </a:r>
          </a:p>
          <a:p>
            <a:r>
              <a:t>HONDA HENDERSON: 12.0%, +$185K a year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every store: gross a year above (+) or below (-) the four benchmarks, at the store's own gross per service. Below-benchmark services count against above-benchmark ones here.TOYOTA SPOKANE: −$541K a year against the four benchmarks; under 4 of 4</a:t>
            </a:r>
          </a:p>
          <a:p>
            <a:r>
              <a:t>CHEVY LV: −$475K a year against the four benchmarks; under 4 of 4</a:t>
            </a:r>
          </a:p>
          <a:p>
            <a:r>
              <a:t>TOYOTA FLAGSTAFF: −$356K a year against the four benchmarks; under 4 of 4</a:t>
            </a:r>
          </a:p>
          <a:p>
            <a:r>
              <a:t>TOYOTA HENDERSON: −$302K a year against the four benchmarks; under 3 of 4</a:t>
            </a:r>
          </a:p>
          <a:p>
            <a:r>
              <a:t>KIA LV: −$247K a year against the four benchmarks; under 4 of 4</a:t>
            </a:r>
          </a:p>
          <a:p>
            <a:r>
              <a:t>CDJR POST FALLS: −$245K a year against the four benchmarks; under 4 of 4</a:t>
            </a:r>
          </a:p>
          <a:p>
            <a:r>
              <a:t>TOYOTA PRESCOTT: −$233K a year against the four benchmarks; under 4 of 4</a:t>
            </a:r>
          </a:p>
          <a:p>
            <a:r>
              <a:t>AUDI RENO: −$216K a year against the four benchmarks; under 4 of 4</a:t>
            </a:r>
          </a:p>
          <a:p>
            <a:r>
              <a:t>HONDA FLAGSTAFF: −$200K a year against the four benchmarks; under 4 of 4</a:t>
            </a:r>
          </a:p>
          <a:p>
            <a:r>
              <a:t>NISSAN: −$200K a year against the four benchmarks; under 3 of 4</a:t>
            </a:r>
          </a:p>
          <a:p>
            <a:r>
              <a:t>HONDA SPOKANE: −$186K a year against the four benchmarks; under 3 of 4</a:t>
            </a:r>
          </a:p>
          <a:p>
            <a:r>
              <a:t>LEXUS: −$141K a year against the four benchmarks; under 4 of 4</a:t>
            </a:r>
          </a:p>
          <a:p>
            <a:r>
              <a:t>VW HENDERSON: −$140K a year against the four benchmarks; under 4 of 4</a:t>
            </a:r>
          </a:p>
          <a:p>
            <a:r>
              <a:t>CHEVY GMC BULLHEAD: −$133K a year against the four benchmarks; under 4 of 4</a:t>
            </a:r>
          </a:p>
          <a:p>
            <a:r>
              <a:t>CADILLAC: −$126K a year against the four benchmarks; under 4 of 4</a:t>
            </a:r>
          </a:p>
          <a:p>
            <a:r>
              <a:t>VW ST GEORGE: −$88K a year against the four benchmarks; under 4 of 4</a:t>
            </a:r>
          </a:p>
          <a:p>
            <a:r>
              <a:t>HYUNDAI ST GEORGE: −$81K a year against the four benchmarks; under 4 of 4</a:t>
            </a:r>
          </a:p>
          <a:p>
            <a:r>
              <a:t>GMC PRESCOTT: −$80K a year against the four benchmarks; under 4 of 4</a:t>
            </a:r>
          </a:p>
          <a:p>
            <a:r>
              <a:t>SUBARU LV: −$79K a year against the four benchmarks; under 3 of 4</a:t>
            </a:r>
          </a:p>
          <a:p>
            <a:r>
              <a:t>KIA ST GEORGE: −$70K a year against the four benchmarks; under 3 of 4</a:t>
            </a:r>
          </a:p>
          <a:p>
            <a:r>
              <a:t>LINCOLN: −$64K a year against the four benchmarks; under 3 of 4</a:t>
            </a:r>
          </a:p>
          <a:p>
            <a:r>
              <a:t>SUBARU ST GEORGE: −$55K a year against the four benchmarks; under 2 of 4</a:t>
            </a:r>
          </a:p>
          <a:p>
            <a:r>
              <a:t>LR RENO: −$43K a year against the four benchmarks; under 3 of 4</a:t>
            </a:r>
          </a:p>
          <a:p>
            <a:r>
              <a:t>VOLVO: −$38K a year against the four benchmarks; under 3 of 4</a:t>
            </a:r>
          </a:p>
          <a:p>
            <a:r>
              <a:t>MAZDA: −$38K a year against the four benchmarks; under 3 of 4</a:t>
            </a:r>
          </a:p>
          <a:p>
            <a:r>
              <a:t>AUDI HENDERSON: −$30K a year against the four benchmarks; under 3 of 4</a:t>
            </a:r>
          </a:p>
          <a:p>
            <a:r>
              <a:t>HYUNDAI PRESCOTT: +$31K a year against the four benchmarks; under 3 of 4</a:t>
            </a:r>
          </a:p>
          <a:p>
            <a:r>
              <a:t>ACURA: +$45K a year against the four benchmarks; under 1 of 4</a:t>
            </a:r>
          </a:p>
          <a:p>
            <a:r>
              <a:t>SUBARU PRESCOTT: +$55K a year against the four benchmarks; under 2 of 4</a:t>
            </a:r>
          </a:p>
          <a:p>
            <a:r>
              <a:t>HONDA NORTH: +$60K a year against the four benchmarks; under 1 of 4</a:t>
            </a:r>
          </a:p>
          <a:p>
            <a:r>
              <a:t>LR HENDERSON: +$72K a year against the four benchmarks; under 1 of 4</a:t>
            </a:r>
          </a:p>
          <a:p>
            <a:r>
              <a:t>LR LV: +$201K a year against the four benchmarks; under 1 of 4</a:t>
            </a:r>
          </a:p>
          <a:p>
            <a:r>
              <a:t>HONDA HENDERSON: +$743K a year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$50.19M</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department profit. New, used, F&amp;I and the rest of the store together: $32.05M.</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service and parts keep after paying their own people, building, systems and supplies.</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Adding that same $1 through sales takes about $6.89 of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in this deck: ROs, hours, ELR,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gross</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policy and comebacks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AN ALL-TIME RECORD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BROKE IT, THEN BROKE IT AGAIN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beat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838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4270248"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773168" y="1316736"/>
            <a:ext cx="5486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321808" y="1316736"/>
            <a:ext cx="5943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90342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11" name="Text 9"/>
          <p:cNvSpPr txBox="1"/>
          <p:nvPr/>
        </p:nvSpPr>
        <p:spPr>
          <a:xfrm>
            <a:off x="9820656"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323576" y="1316736"/>
            <a:ext cx="5486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872216" y="1316736"/>
            <a:ext cx="5943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557784" cy="193624"/>
          </a:xfrm>
          <a:prstGeom prst="rect">
            <a:avLst/>
          </a:prstGeom>
          <a:solidFill>
            <a:srgbClr val="12A566"/>
          </a:solidFill>
          <a:ln/>
        </p:spPr>
      </p:sp>
      <p:sp>
        <p:nvSpPr>
          <p:cNvPr id="17" name="Text 15"/>
          <p:cNvSpPr txBox="1"/>
          <p:nvPr/>
        </p:nvSpPr>
        <p:spPr>
          <a:xfrm>
            <a:off x="34838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4270248" y="1700784"/>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773168" y="1700784"/>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321808" y="1700784"/>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557784" cy="193624"/>
          </a:xfrm>
          <a:prstGeom prst="rect">
            <a:avLst/>
          </a:prstGeom>
          <a:solidFill>
            <a:srgbClr val="12A566"/>
          </a:solidFill>
          <a:ln/>
        </p:spPr>
      </p:sp>
      <p:sp>
        <p:nvSpPr>
          <p:cNvPr id="24" name="Text 22"/>
          <p:cNvSpPr txBox="1"/>
          <p:nvPr/>
        </p:nvSpPr>
        <p:spPr>
          <a:xfrm>
            <a:off x="34838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4270248" y="2052828"/>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773168" y="2052828"/>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321808" y="2052828"/>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495808" cy="193624"/>
          </a:xfrm>
          <a:prstGeom prst="rect">
            <a:avLst/>
          </a:prstGeom>
          <a:solidFill>
            <a:srgbClr val="12A566"/>
          </a:solidFill>
          <a:ln/>
        </p:spPr>
      </p:sp>
      <p:sp>
        <p:nvSpPr>
          <p:cNvPr id="31" name="Text 29"/>
          <p:cNvSpPr txBox="1"/>
          <p:nvPr/>
        </p:nvSpPr>
        <p:spPr>
          <a:xfrm>
            <a:off x="34838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4270248" y="2404872"/>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773168" y="2404872"/>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321808" y="2404872"/>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433832" cy="193624"/>
          </a:xfrm>
          <a:prstGeom prst="rect">
            <a:avLst/>
          </a:prstGeom>
          <a:solidFill>
            <a:srgbClr val="12A566"/>
          </a:solidFill>
          <a:ln/>
        </p:spPr>
      </p:sp>
      <p:sp>
        <p:nvSpPr>
          <p:cNvPr id="38" name="Text 36"/>
          <p:cNvSpPr txBox="1"/>
          <p:nvPr/>
        </p:nvSpPr>
        <p:spPr>
          <a:xfrm>
            <a:off x="34838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4270248" y="2756916"/>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773168" y="2756916"/>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321808" y="2756916"/>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433832" cy="193624"/>
          </a:xfrm>
          <a:prstGeom prst="rect">
            <a:avLst/>
          </a:prstGeom>
          <a:solidFill>
            <a:srgbClr val="12A566"/>
          </a:solidFill>
          <a:ln/>
        </p:spPr>
      </p:sp>
      <p:sp>
        <p:nvSpPr>
          <p:cNvPr id="45" name="Text 43"/>
          <p:cNvSpPr txBox="1"/>
          <p:nvPr/>
        </p:nvSpPr>
        <p:spPr>
          <a:xfrm>
            <a:off x="34838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4270248" y="3108960"/>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773168" y="3108960"/>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321808" y="3108960"/>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371856" cy="193624"/>
          </a:xfrm>
          <a:prstGeom prst="rect">
            <a:avLst/>
          </a:prstGeom>
          <a:solidFill>
            <a:srgbClr val="12A566"/>
          </a:solidFill>
          <a:ln/>
        </p:spPr>
      </p:sp>
      <p:sp>
        <p:nvSpPr>
          <p:cNvPr id="52" name="Text 50"/>
          <p:cNvSpPr txBox="1"/>
          <p:nvPr/>
        </p:nvSpPr>
        <p:spPr>
          <a:xfrm>
            <a:off x="34838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4270248" y="3461004"/>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773168" y="3461004"/>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321808" y="3461004"/>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371856" cy="193624"/>
          </a:xfrm>
          <a:prstGeom prst="rect">
            <a:avLst/>
          </a:prstGeom>
          <a:solidFill>
            <a:srgbClr val="12A566"/>
          </a:solidFill>
          <a:ln/>
        </p:spPr>
      </p:sp>
      <p:sp>
        <p:nvSpPr>
          <p:cNvPr id="59" name="Text 57"/>
          <p:cNvSpPr txBox="1"/>
          <p:nvPr/>
        </p:nvSpPr>
        <p:spPr>
          <a:xfrm>
            <a:off x="34838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4270248" y="3813048"/>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773168" y="3813048"/>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321808" y="3813048"/>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309880" cy="193624"/>
          </a:xfrm>
          <a:prstGeom prst="rect">
            <a:avLst/>
          </a:prstGeom>
          <a:solidFill>
            <a:srgbClr val="12A566"/>
          </a:solidFill>
          <a:ln/>
        </p:spPr>
      </p:sp>
      <p:sp>
        <p:nvSpPr>
          <p:cNvPr id="66" name="Text 64"/>
          <p:cNvSpPr txBox="1"/>
          <p:nvPr/>
        </p:nvSpPr>
        <p:spPr>
          <a:xfrm>
            <a:off x="34838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4270248" y="4165092"/>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773168" y="4165092"/>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321808" y="4165092"/>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247904" cy="193624"/>
          </a:xfrm>
          <a:prstGeom prst="rect">
            <a:avLst/>
          </a:prstGeom>
          <a:solidFill>
            <a:srgbClr val="12A566"/>
          </a:solidFill>
          <a:ln/>
        </p:spPr>
      </p:sp>
      <p:sp>
        <p:nvSpPr>
          <p:cNvPr id="73" name="Text 71"/>
          <p:cNvSpPr txBox="1"/>
          <p:nvPr/>
        </p:nvSpPr>
        <p:spPr>
          <a:xfrm>
            <a:off x="34838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4270248" y="4517136"/>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773168" y="4517136"/>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321808" y="4517136"/>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247904" cy="193624"/>
          </a:xfrm>
          <a:prstGeom prst="rect">
            <a:avLst/>
          </a:prstGeom>
          <a:solidFill>
            <a:srgbClr val="12A566"/>
          </a:solidFill>
          <a:ln/>
        </p:spPr>
      </p:sp>
      <p:sp>
        <p:nvSpPr>
          <p:cNvPr id="80" name="Text 78"/>
          <p:cNvSpPr txBox="1"/>
          <p:nvPr/>
        </p:nvSpPr>
        <p:spPr>
          <a:xfrm>
            <a:off x="34838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4270248" y="4869180"/>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773168" y="4869180"/>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321808" y="4869180"/>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247904" cy="193624"/>
          </a:xfrm>
          <a:prstGeom prst="rect">
            <a:avLst/>
          </a:prstGeom>
          <a:solidFill>
            <a:srgbClr val="12A566"/>
          </a:solidFill>
          <a:ln/>
        </p:spPr>
      </p:sp>
      <p:sp>
        <p:nvSpPr>
          <p:cNvPr id="87" name="Text 85"/>
          <p:cNvSpPr txBox="1"/>
          <p:nvPr/>
        </p:nvSpPr>
        <p:spPr>
          <a:xfrm>
            <a:off x="34838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4270248" y="5221224"/>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773168" y="5221224"/>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321808" y="5221224"/>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247904" cy="193624"/>
          </a:xfrm>
          <a:prstGeom prst="rect">
            <a:avLst/>
          </a:prstGeom>
          <a:solidFill>
            <a:srgbClr val="12A566"/>
          </a:solidFill>
          <a:ln/>
        </p:spPr>
      </p:sp>
      <p:sp>
        <p:nvSpPr>
          <p:cNvPr id="94" name="Text 92"/>
          <p:cNvSpPr txBox="1"/>
          <p:nvPr/>
        </p:nvSpPr>
        <p:spPr>
          <a:xfrm>
            <a:off x="34838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4270248" y="5573268"/>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773168" y="5573268"/>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321808" y="5573268"/>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247904" cy="193624"/>
          </a:xfrm>
          <a:prstGeom prst="rect">
            <a:avLst/>
          </a:prstGeom>
          <a:solidFill>
            <a:srgbClr val="12A566"/>
          </a:solidFill>
          <a:ln/>
        </p:spPr>
      </p:sp>
      <p:sp>
        <p:nvSpPr>
          <p:cNvPr id="101" name="Text 99"/>
          <p:cNvSpPr txBox="1"/>
          <p:nvPr/>
        </p:nvSpPr>
        <p:spPr>
          <a:xfrm>
            <a:off x="90342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820656" y="1700784"/>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323576" y="1700784"/>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872216" y="1700784"/>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247904" cy="193624"/>
          </a:xfrm>
          <a:prstGeom prst="rect">
            <a:avLst/>
          </a:prstGeom>
          <a:solidFill>
            <a:srgbClr val="12A566"/>
          </a:solidFill>
          <a:ln/>
        </p:spPr>
      </p:sp>
      <p:sp>
        <p:nvSpPr>
          <p:cNvPr id="108" name="Text 106"/>
          <p:cNvSpPr txBox="1"/>
          <p:nvPr/>
        </p:nvSpPr>
        <p:spPr>
          <a:xfrm>
            <a:off x="90342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820656" y="2052828"/>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323576" y="2052828"/>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872216" y="2052828"/>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185928" cy="193624"/>
          </a:xfrm>
          <a:prstGeom prst="rect">
            <a:avLst/>
          </a:prstGeom>
          <a:solidFill>
            <a:srgbClr val="12A566"/>
          </a:solidFill>
          <a:ln/>
        </p:spPr>
      </p:sp>
      <p:sp>
        <p:nvSpPr>
          <p:cNvPr id="115" name="Text 113"/>
          <p:cNvSpPr txBox="1"/>
          <p:nvPr/>
        </p:nvSpPr>
        <p:spPr>
          <a:xfrm>
            <a:off x="90342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820656" y="2404872"/>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323576" y="2404872"/>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872216" y="2404872"/>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123952" cy="193624"/>
          </a:xfrm>
          <a:prstGeom prst="rect">
            <a:avLst/>
          </a:prstGeom>
          <a:solidFill>
            <a:srgbClr val="12A566"/>
          </a:solidFill>
          <a:ln/>
        </p:spPr>
      </p:sp>
      <p:sp>
        <p:nvSpPr>
          <p:cNvPr id="122" name="Text 120"/>
          <p:cNvSpPr txBox="1"/>
          <p:nvPr/>
        </p:nvSpPr>
        <p:spPr>
          <a:xfrm>
            <a:off x="90342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820656" y="2756916"/>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323576" y="2756916"/>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872216" y="2756916"/>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123952" cy="193624"/>
          </a:xfrm>
          <a:prstGeom prst="rect">
            <a:avLst/>
          </a:prstGeom>
          <a:solidFill>
            <a:srgbClr val="12A566"/>
          </a:solidFill>
          <a:ln/>
        </p:spPr>
      </p:sp>
      <p:sp>
        <p:nvSpPr>
          <p:cNvPr id="129" name="Text 127"/>
          <p:cNvSpPr txBox="1"/>
          <p:nvPr/>
        </p:nvSpPr>
        <p:spPr>
          <a:xfrm>
            <a:off x="90342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820656" y="3108960"/>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323576" y="3108960"/>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872216" y="3108960"/>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123952" cy="193624"/>
          </a:xfrm>
          <a:prstGeom prst="rect">
            <a:avLst/>
          </a:prstGeom>
          <a:solidFill>
            <a:srgbClr val="12A566"/>
          </a:solidFill>
          <a:ln/>
        </p:spPr>
      </p:sp>
      <p:sp>
        <p:nvSpPr>
          <p:cNvPr id="136" name="Text 134"/>
          <p:cNvSpPr txBox="1"/>
          <p:nvPr/>
        </p:nvSpPr>
        <p:spPr>
          <a:xfrm>
            <a:off x="90342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820656" y="3461004"/>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323576" y="3461004"/>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872216" y="3461004"/>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123952" cy="193624"/>
          </a:xfrm>
          <a:prstGeom prst="rect">
            <a:avLst/>
          </a:prstGeom>
          <a:solidFill>
            <a:srgbClr val="12A566"/>
          </a:solidFill>
          <a:ln/>
        </p:spPr>
      </p:sp>
      <p:sp>
        <p:nvSpPr>
          <p:cNvPr id="143" name="Text 141"/>
          <p:cNvSpPr txBox="1"/>
          <p:nvPr/>
        </p:nvSpPr>
        <p:spPr>
          <a:xfrm>
            <a:off x="90342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820656" y="3813048"/>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323576" y="3813048"/>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872216" y="3813048"/>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123952" cy="193624"/>
          </a:xfrm>
          <a:prstGeom prst="rect">
            <a:avLst/>
          </a:prstGeom>
          <a:solidFill>
            <a:srgbClr val="12A566"/>
          </a:solidFill>
          <a:ln/>
        </p:spPr>
      </p:sp>
      <p:sp>
        <p:nvSpPr>
          <p:cNvPr id="150" name="Text 148"/>
          <p:cNvSpPr txBox="1"/>
          <p:nvPr/>
        </p:nvSpPr>
        <p:spPr>
          <a:xfrm>
            <a:off x="90342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820656" y="4165092"/>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323576" y="4165092"/>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872216" y="4165092"/>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123952" cy="193624"/>
          </a:xfrm>
          <a:prstGeom prst="rect">
            <a:avLst/>
          </a:prstGeom>
          <a:solidFill>
            <a:srgbClr val="12A566"/>
          </a:solidFill>
          <a:ln/>
        </p:spPr>
      </p:sp>
      <p:sp>
        <p:nvSpPr>
          <p:cNvPr id="157" name="Text 155"/>
          <p:cNvSpPr txBox="1"/>
          <p:nvPr/>
        </p:nvSpPr>
        <p:spPr>
          <a:xfrm>
            <a:off x="90342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820656" y="4517136"/>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323576" y="4517136"/>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872216" y="4517136"/>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61976" cy="193624"/>
          </a:xfrm>
          <a:prstGeom prst="rect">
            <a:avLst/>
          </a:prstGeom>
          <a:solidFill>
            <a:srgbClr val="12A566"/>
          </a:solidFill>
          <a:ln/>
        </p:spPr>
      </p:sp>
      <p:sp>
        <p:nvSpPr>
          <p:cNvPr id="164" name="Text 162"/>
          <p:cNvSpPr txBox="1"/>
          <p:nvPr/>
        </p:nvSpPr>
        <p:spPr>
          <a:xfrm>
            <a:off x="90342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820656" y="4869180"/>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323576" y="4869180"/>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872216" y="4869180"/>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61976" cy="193624"/>
          </a:xfrm>
          <a:prstGeom prst="rect">
            <a:avLst/>
          </a:prstGeom>
          <a:solidFill>
            <a:srgbClr val="12A566"/>
          </a:solidFill>
          <a:ln/>
        </p:spPr>
      </p:sp>
      <p:sp>
        <p:nvSpPr>
          <p:cNvPr id="171" name="Text 169"/>
          <p:cNvSpPr txBox="1"/>
          <p:nvPr/>
        </p:nvSpPr>
        <p:spPr>
          <a:xfrm>
            <a:off x="90342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820656" y="5221224"/>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323576" y="5221224"/>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872216" y="5221224"/>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6" name="Shape 174"/>
          <p:cNvSpPr/>
          <p:nvPr/>
        </p:nvSpPr>
        <p:spPr>
          <a:xfrm>
            <a:off x="457200" y="6126480"/>
            <a:ext cx="11274552" cy="371856"/>
          </a:xfrm>
          <a:prstGeom prst="rect">
            <a:avLst/>
          </a:prstGeom>
          <a:solidFill>
            <a:srgbClr val="E6F6EE"/>
          </a:solidFill>
          <a:ln/>
        </p:spPr>
      </p:sp>
      <p:sp>
        <p:nvSpPr>
          <p:cNvPr id="177"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 Honda Spokane and Nissan lead with 9 each.</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296063"/>
          </a:xfrm>
          <a:prstGeom prst="rect">
            <a:avLst/>
          </a:prstGeom>
          <a:solidFill>
            <a:srgbClr val="2587C5"/>
          </a:solidFill>
          <a:ln/>
        </p:spPr>
      </p:sp>
      <p:sp>
        <p:nvSpPr>
          <p:cNvPr id="19" name="Text 17"/>
          <p:cNvSpPr txBox="1"/>
          <p:nvPr/>
        </p:nvSpPr>
        <p:spPr>
          <a:xfrm>
            <a:off x="5266944"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296063"/>
          </a:xfrm>
          <a:prstGeom prst="rect">
            <a:avLst/>
          </a:prstGeom>
          <a:solidFill>
            <a:srgbClr val="2587C5"/>
          </a:solidFill>
          <a:ln/>
        </p:spPr>
      </p:sp>
      <p:sp>
        <p:nvSpPr>
          <p:cNvPr id="21" name="Text 19"/>
          <p:cNvSpPr txBox="1"/>
          <p:nvPr/>
        </p:nvSpPr>
        <p:spPr>
          <a:xfrm>
            <a:off x="8522208"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department's people, rent and systems, carried whether or not a car sells</a:t>
            </a:r>
            <a:endParaRPr lang="en-US" sz="1400" dirty="0"/>
          </a:p>
        </p:txBody>
      </p:sp>
      <p:sp>
        <p:nvSpPr>
          <p:cNvPr id="22" name="Shape 20"/>
          <p:cNvSpPr/>
          <p:nvPr/>
        </p:nvSpPr>
        <p:spPr>
          <a:xfrm>
            <a:off x="5138928" y="4816503"/>
            <a:ext cx="45720" cy="971649"/>
          </a:xfrm>
          <a:prstGeom prst="rect">
            <a:avLst/>
          </a:prstGeom>
          <a:solidFill>
            <a:srgbClr val="2587C5"/>
          </a:solidFill>
          <a:ln/>
        </p:spPr>
      </p:sp>
      <p:sp>
        <p:nvSpPr>
          <p:cNvPr id="23" name="Text 21"/>
          <p:cNvSpPr txBox="1"/>
          <p:nvPr/>
        </p:nvSpPr>
        <p:spPr>
          <a:xfrm>
            <a:off x="5266944"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816503"/>
            <a:ext cx="45720" cy="971649"/>
          </a:xfrm>
          <a:prstGeom prst="rect">
            <a:avLst/>
          </a:prstGeom>
          <a:solidFill>
            <a:srgbClr val="2587C5"/>
          </a:solidFill>
          <a:ln/>
        </p:spPr>
      </p:sp>
      <p:sp>
        <p:nvSpPr>
          <p:cNvPr id="25" name="Text 23"/>
          <p:cNvSpPr txBox="1"/>
          <p:nvPr/>
        </p:nvSpPr>
        <p:spPr>
          <a:xfrm>
            <a:off x="8522208"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in 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$147.9M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$39.1M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$36.4M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$19.5M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$242.9M of fixed expenses Jan-Sep 2026; fixed ops gross of $189.7M covers 78.1% of it. People are 61% of the total.</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41069"/>
          </a:xfrm>
          <a:prstGeom prst="rect">
            <a:avLst/>
          </a:prstGeom>
          <a:solidFill>
            <a:srgbClr val="12A566"/>
          </a:solidFill>
          <a:ln/>
        </p:spPr>
      </p:sp>
      <p:sp>
        <p:nvSpPr>
          <p:cNvPr id="16" name="Text 14"/>
          <p:cNvSpPr txBox="1"/>
          <p:nvPr/>
        </p:nvSpPr>
        <p:spPr>
          <a:xfrm>
            <a:off x="62179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32146"/>
            <a:ext cx="54864" cy="241069"/>
          </a:xfrm>
          <a:prstGeom prst="rect">
            <a:avLst/>
          </a:prstGeom>
          <a:solidFill>
            <a:srgbClr val="12A566"/>
          </a:solidFill>
          <a:ln/>
        </p:spPr>
      </p:sp>
      <p:sp>
        <p:nvSpPr>
          <p:cNvPr id="23" name="Text 21"/>
          <p:cNvSpPr txBox="1"/>
          <p:nvPr/>
        </p:nvSpPr>
        <p:spPr>
          <a:xfrm>
            <a:off x="62179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146367"/>
            <a:ext cx="54864" cy="241069"/>
          </a:xfrm>
          <a:prstGeom prst="rect">
            <a:avLst/>
          </a:prstGeom>
          <a:solidFill>
            <a:srgbClr val="12A566"/>
          </a:solidFill>
          <a:ln/>
        </p:spPr>
      </p:sp>
      <p:sp>
        <p:nvSpPr>
          <p:cNvPr id="27" name="Text 25"/>
          <p:cNvSpPr txBox="1"/>
          <p:nvPr/>
        </p:nvSpPr>
        <p:spPr>
          <a:xfrm>
            <a:off x="62179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460588"/>
            <a:ext cx="54864" cy="241069"/>
          </a:xfrm>
          <a:prstGeom prst="rect">
            <a:avLst/>
          </a:prstGeom>
          <a:solidFill>
            <a:srgbClr val="12A566"/>
          </a:solidFill>
          <a:ln/>
        </p:spPr>
      </p:sp>
      <p:sp>
        <p:nvSpPr>
          <p:cNvPr id="31" name="Shape 29"/>
          <p:cNvSpPr/>
          <p:nvPr/>
        </p:nvSpPr>
        <p:spPr>
          <a:xfrm>
            <a:off x="621792" y="4070743"/>
            <a:ext cx="3355848" cy="22860"/>
          </a:xfrm>
          <a:prstGeom prst="rect">
            <a:avLst/>
          </a:prstGeom>
          <a:solidFill>
            <a:srgbClr val="C2352F"/>
          </a:solidFill>
          <a:ln/>
        </p:spPr>
      </p:sp>
      <p:sp>
        <p:nvSpPr>
          <p:cNvPr id="32" name="Text 30"/>
          <p:cNvSpPr txBox="1"/>
          <p:nvPr/>
        </p:nvSpPr>
        <p:spPr>
          <a:xfrm>
            <a:off x="62179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63351"/>
            <a:ext cx="54864" cy="241069"/>
          </a:xfrm>
          <a:prstGeom prst="rect">
            <a:avLst/>
          </a:prstGeom>
          <a:solidFill>
            <a:srgbClr val="C2352F"/>
          </a:solidFill>
          <a:ln/>
        </p:spPr>
      </p:sp>
      <p:sp>
        <p:nvSpPr>
          <p:cNvPr id="39" name="Text 37"/>
          <p:cNvSpPr txBox="1"/>
          <p:nvPr/>
        </p:nvSpPr>
        <p:spPr>
          <a:xfrm>
            <a:off x="62179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677572"/>
            <a:ext cx="54864" cy="241069"/>
          </a:xfrm>
          <a:prstGeom prst="rect">
            <a:avLst/>
          </a:prstGeom>
          <a:solidFill>
            <a:srgbClr val="C2352F"/>
          </a:solidFill>
          <a:ln/>
        </p:spPr>
      </p:sp>
      <p:sp>
        <p:nvSpPr>
          <p:cNvPr id="43" name="Text 41"/>
          <p:cNvSpPr txBox="1"/>
          <p:nvPr/>
        </p:nvSpPr>
        <p:spPr>
          <a:xfrm>
            <a:off x="62179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306014"/>
            <a:ext cx="54864" cy="241069"/>
          </a:xfrm>
          <a:prstGeom prst="rect">
            <a:avLst/>
          </a:prstGeom>
          <a:solidFill>
            <a:srgbClr val="C2352F"/>
          </a:solidFill>
          <a:ln/>
        </p:spPr>
      </p:sp>
      <p:sp>
        <p:nvSpPr>
          <p:cNvPr id="50" name="Text 48"/>
          <p:cNvSpPr txBox="1"/>
          <p:nvPr/>
        </p:nvSpPr>
        <p:spPr>
          <a:xfrm>
            <a:off x="62179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620235"/>
            <a:ext cx="54864" cy="241069"/>
          </a:xfrm>
          <a:prstGeom prst="rect">
            <a:avLst/>
          </a:prstGeom>
          <a:solidFill>
            <a:srgbClr val="C2352F"/>
          </a:solidFill>
          <a:ln/>
        </p:spPr>
      </p:sp>
      <p:sp>
        <p:nvSpPr>
          <p:cNvPr id="54" name="Shape 52"/>
          <p:cNvSpPr/>
          <p:nvPr/>
        </p:nvSpPr>
        <p:spPr>
          <a:xfrm>
            <a:off x="4251960" y="1207008"/>
            <a:ext cx="3685032" cy="478231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41069"/>
          </a:xfrm>
          <a:prstGeom prst="rect">
            <a:avLst/>
          </a:prstGeom>
          <a:solidFill>
            <a:srgbClr val="12A566"/>
          </a:solidFill>
          <a:ln/>
        </p:spPr>
      </p:sp>
      <p:sp>
        <p:nvSpPr>
          <p:cNvPr id="65" name="Text 63"/>
          <p:cNvSpPr txBox="1"/>
          <p:nvPr/>
        </p:nvSpPr>
        <p:spPr>
          <a:xfrm>
            <a:off x="441655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17925"/>
            <a:ext cx="54864" cy="241069"/>
          </a:xfrm>
          <a:prstGeom prst="rect">
            <a:avLst/>
          </a:prstGeom>
          <a:solidFill>
            <a:srgbClr val="12A566"/>
          </a:solidFill>
          <a:ln/>
        </p:spPr>
      </p:sp>
      <p:sp>
        <p:nvSpPr>
          <p:cNvPr id="69" name="Text 67"/>
          <p:cNvSpPr txBox="1"/>
          <p:nvPr/>
        </p:nvSpPr>
        <p:spPr>
          <a:xfrm>
            <a:off x="441655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32146"/>
            <a:ext cx="54864" cy="241069"/>
          </a:xfrm>
          <a:prstGeom prst="rect">
            <a:avLst/>
          </a:prstGeom>
          <a:solidFill>
            <a:srgbClr val="12A566"/>
          </a:solidFill>
          <a:ln/>
        </p:spPr>
      </p:sp>
      <p:sp>
        <p:nvSpPr>
          <p:cNvPr id="73" name="Text 71"/>
          <p:cNvSpPr txBox="1"/>
          <p:nvPr/>
        </p:nvSpPr>
        <p:spPr>
          <a:xfrm>
            <a:off x="441655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146367"/>
            <a:ext cx="54864" cy="241069"/>
          </a:xfrm>
          <a:prstGeom prst="rect">
            <a:avLst/>
          </a:prstGeom>
          <a:solidFill>
            <a:srgbClr val="12A566"/>
          </a:solidFill>
          <a:ln/>
        </p:spPr>
      </p:sp>
      <p:sp>
        <p:nvSpPr>
          <p:cNvPr id="77" name="Text 75"/>
          <p:cNvSpPr txBox="1"/>
          <p:nvPr/>
        </p:nvSpPr>
        <p:spPr>
          <a:xfrm>
            <a:off x="441655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70743"/>
            <a:ext cx="3355848" cy="22860"/>
          </a:xfrm>
          <a:prstGeom prst="rect">
            <a:avLst/>
          </a:prstGeom>
          <a:solidFill>
            <a:srgbClr val="C2352F"/>
          </a:solidFill>
          <a:ln/>
        </p:spPr>
      </p:sp>
      <p:sp>
        <p:nvSpPr>
          <p:cNvPr id="81" name="Text 79"/>
          <p:cNvSpPr txBox="1"/>
          <p:nvPr/>
        </p:nvSpPr>
        <p:spPr>
          <a:xfrm>
            <a:off x="441655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63351"/>
            <a:ext cx="54864" cy="241069"/>
          </a:xfrm>
          <a:prstGeom prst="rect">
            <a:avLst/>
          </a:prstGeom>
          <a:solidFill>
            <a:srgbClr val="C2352F"/>
          </a:solidFill>
          <a:ln/>
        </p:spPr>
      </p:sp>
      <p:sp>
        <p:nvSpPr>
          <p:cNvPr id="88" name="Text 86"/>
          <p:cNvSpPr txBox="1"/>
          <p:nvPr/>
        </p:nvSpPr>
        <p:spPr>
          <a:xfrm>
            <a:off x="441655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306014"/>
            <a:ext cx="54864" cy="241069"/>
          </a:xfrm>
          <a:prstGeom prst="rect">
            <a:avLst/>
          </a:prstGeom>
          <a:solidFill>
            <a:srgbClr val="C2352F"/>
          </a:solidFill>
          <a:ln/>
        </p:spPr>
      </p:sp>
      <p:sp>
        <p:nvSpPr>
          <p:cNvPr id="98" name="Text 96"/>
          <p:cNvSpPr txBox="1"/>
          <p:nvPr/>
        </p:nvSpPr>
        <p:spPr>
          <a:xfrm>
            <a:off x="441655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620235"/>
            <a:ext cx="54864" cy="241069"/>
          </a:xfrm>
          <a:prstGeom prst="rect">
            <a:avLst/>
          </a:prstGeom>
          <a:solidFill>
            <a:srgbClr val="C2352F"/>
          </a:solidFill>
          <a:ln/>
        </p:spPr>
      </p:sp>
      <p:sp>
        <p:nvSpPr>
          <p:cNvPr id="102" name="Shape 100"/>
          <p:cNvSpPr/>
          <p:nvPr/>
        </p:nvSpPr>
        <p:spPr>
          <a:xfrm>
            <a:off x="8046720" y="1207008"/>
            <a:ext cx="3685032" cy="478231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AT 100% (6)</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09" name="Text 107"/>
          <p:cNvSpPr txBox="1"/>
          <p:nvPr/>
        </p:nvSpPr>
        <p:spPr>
          <a:xfrm>
            <a:off x="821131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2" name="Text 110"/>
          <p:cNvSpPr txBox="1"/>
          <p:nvPr/>
        </p:nvSpPr>
        <p:spPr>
          <a:xfrm>
            <a:off x="821131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3" name="Text 111"/>
          <p:cNvSpPr txBox="1"/>
          <p:nvPr/>
        </p:nvSpPr>
        <p:spPr>
          <a:xfrm>
            <a:off x="990295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821131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6" name="Text 114"/>
          <p:cNvSpPr txBox="1"/>
          <p:nvPr/>
        </p:nvSpPr>
        <p:spPr>
          <a:xfrm>
            <a:off x="990295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8" name="Text 116"/>
          <p:cNvSpPr txBox="1"/>
          <p:nvPr/>
        </p:nvSpPr>
        <p:spPr>
          <a:xfrm>
            <a:off x="821131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19" name="Text 117"/>
          <p:cNvSpPr txBox="1"/>
          <p:nvPr/>
        </p:nvSpPr>
        <p:spPr>
          <a:xfrm>
            <a:off x="990295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1" name="Text 119"/>
          <p:cNvSpPr txBox="1"/>
          <p:nvPr/>
        </p:nvSpPr>
        <p:spPr>
          <a:xfrm>
            <a:off x="821131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22" name="Text 120"/>
          <p:cNvSpPr txBox="1"/>
          <p:nvPr/>
        </p:nvSpPr>
        <p:spPr>
          <a:xfrm>
            <a:off x="990295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4" name="Text 122"/>
          <p:cNvSpPr txBox="1"/>
          <p:nvPr/>
        </p:nvSpPr>
        <p:spPr>
          <a:xfrm>
            <a:off x="8211312" y="3738233"/>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25" name="Text 123"/>
          <p:cNvSpPr txBox="1"/>
          <p:nvPr/>
        </p:nvSpPr>
        <p:spPr>
          <a:xfrm>
            <a:off x="9902952" y="3738233"/>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6" name="Text 124"/>
          <p:cNvSpPr txBox="1"/>
          <p:nvPr/>
        </p:nvSpPr>
        <p:spPr>
          <a:xfrm>
            <a:off x="10652760" y="3738233"/>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7" name="Shape 125"/>
          <p:cNvSpPr/>
          <p:nvPr/>
        </p:nvSpPr>
        <p:spPr>
          <a:xfrm>
            <a:off x="8211312" y="4070743"/>
            <a:ext cx="3355848" cy="22860"/>
          </a:xfrm>
          <a:prstGeom prst="rect">
            <a:avLst/>
          </a:prstGeom>
          <a:solidFill>
            <a:srgbClr val="C2352F"/>
          </a:solidFill>
          <a:ln/>
        </p:spPr>
      </p:sp>
      <p:sp>
        <p:nvSpPr>
          <p:cNvPr id="128" name="Text 126"/>
          <p:cNvSpPr txBox="1"/>
          <p:nvPr/>
        </p:nvSpPr>
        <p:spPr>
          <a:xfrm>
            <a:off x="821131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9" name="Text 127"/>
          <p:cNvSpPr txBox="1"/>
          <p:nvPr/>
        </p:nvSpPr>
        <p:spPr>
          <a:xfrm>
            <a:off x="990295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0" name="Text 128"/>
          <p:cNvSpPr txBox="1"/>
          <p:nvPr/>
        </p:nvSpPr>
        <p:spPr>
          <a:xfrm>
            <a:off x="1065276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31" name="Text 129"/>
          <p:cNvSpPr txBox="1"/>
          <p:nvPr/>
        </p:nvSpPr>
        <p:spPr>
          <a:xfrm>
            <a:off x="821131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Text 130"/>
          <p:cNvSpPr txBox="1"/>
          <p:nvPr/>
        </p:nvSpPr>
        <p:spPr>
          <a:xfrm>
            <a:off x="990295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3" name="Text 131"/>
          <p:cNvSpPr txBox="1"/>
          <p:nvPr/>
        </p:nvSpPr>
        <p:spPr>
          <a:xfrm>
            <a:off x="1065276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4" name="Text 132"/>
          <p:cNvSpPr txBox="1"/>
          <p:nvPr/>
        </p:nvSpPr>
        <p:spPr>
          <a:xfrm>
            <a:off x="821131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5" name="Text 133"/>
          <p:cNvSpPr txBox="1"/>
          <p:nvPr/>
        </p:nvSpPr>
        <p:spPr>
          <a:xfrm>
            <a:off x="990295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6" name="Text 134"/>
          <p:cNvSpPr txBox="1"/>
          <p:nvPr/>
        </p:nvSpPr>
        <p:spPr>
          <a:xfrm>
            <a:off x="1065276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7" name="Text 135"/>
          <p:cNvSpPr txBox="1"/>
          <p:nvPr/>
        </p:nvSpPr>
        <p:spPr>
          <a:xfrm>
            <a:off x="821131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8" name="Text 136"/>
          <p:cNvSpPr txBox="1"/>
          <p:nvPr/>
        </p:nvSpPr>
        <p:spPr>
          <a:xfrm>
            <a:off x="990295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9" name="Text 137"/>
          <p:cNvSpPr txBox="1"/>
          <p:nvPr/>
        </p:nvSpPr>
        <p:spPr>
          <a:xfrm>
            <a:off x="1065276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40" name="Shape 138"/>
          <p:cNvSpPr/>
          <p:nvPr/>
        </p:nvSpPr>
        <p:spPr>
          <a:xfrm>
            <a:off x="11612880" y="4991793"/>
            <a:ext cx="54864" cy="241069"/>
          </a:xfrm>
          <a:prstGeom prst="rect">
            <a:avLst/>
          </a:prstGeom>
          <a:solidFill>
            <a:srgbClr val="C2352F"/>
          </a:solidFill>
          <a:ln/>
        </p:spPr>
      </p:sp>
      <p:sp>
        <p:nvSpPr>
          <p:cNvPr id="141" name="Text 139"/>
          <p:cNvSpPr txBox="1"/>
          <p:nvPr/>
        </p:nvSpPr>
        <p:spPr>
          <a:xfrm>
            <a:off x="821131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42" name="Text 140"/>
          <p:cNvSpPr txBox="1"/>
          <p:nvPr/>
        </p:nvSpPr>
        <p:spPr>
          <a:xfrm>
            <a:off x="990295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3" name="Text 141"/>
          <p:cNvSpPr txBox="1"/>
          <p:nvPr/>
        </p:nvSpPr>
        <p:spPr>
          <a:xfrm>
            <a:off x="1065276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4" name="Shape 142"/>
          <p:cNvSpPr/>
          <p:nvPr/>
        </p:nvSpPr>
        <p:spPr>
          <a:xfrm>
            <a:off x="11612880" y="5306014"/>
            <a:ext cx="54864" cy="241069"/>
          </a:xfrm>
          <a:prstGeom prst="rect">
            <a:avLst/>
          </a:prstGeom>
          <a:solidFill>
            <a:srgbClr val="C2352F"/>
          </a:solidFill>
          <a:ln/>
        </p:spPr>
      </p:sp>
      <p:sp>
        <p:nvSpPr>
          <p:cNvPr id="145" name="Text 143"/>
          <p:cNvSpPr txBox="1"/>
          <p:nvPr/>
        </p:nvSpPr>
        <p:spPr>
          <a:xfrm>
            <a:off x="821131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6" name="Text 144"/>
          <p:cNvSpPr txBox="1"/>
          <p:nvPr/>
        </p:nvSpPr>
        <p:spPr>
          <a:xfrm>
            <a:off x="990295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7" name="Text 145"/>
          <p:cNvSpPr txBox="1"/>
          <p:nvPr/>
        </p:nvSpPr>
        <p:spPr>
          <a:xfrm>
            <a:off x="1065276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48" name="Shape 146"/>
          <p:cNvSpPr/>
          <p:nvPr/>
        </p:nvSpPr>
        <p:spPr>
          <a:xfrm>
            <a:off x="457200" y="6126480"/>
            <a:ext cx="11274552" cy="615696"/>
          </a:xfrm>
          <a:prstGeom prst="rect">
            <a:avLst/>
          </a:prstGeom>
          <a:solidFill>
            <a:srgbClr val="EDF4FA"/>
          </a:solidFill>
          <a:ln/>
        </p:spPr>
      </p:sp>
      <p:sp>
        <p:nvSpPr>
          <p:cNvPr id="149" name="Text 14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1" name="Shape 139"/>
          <p:cNvSpPr/>
          <p:nvPr/>
        </p:nvSpPr>
        <p:spPr>
          <a:xfrm>
            <a:off x="457200" y="6126480"/>
            <a:ext cx="11274552" cy="348996"/>
          </a:xfrm>
          <a:prstGeom prst="rect">
            <a:avLst/>
          </a:prstGeom>
          <a:solidFill>
            <a:srgbClr val="E6F6EE"/>
          </a:solidFill>
          <a:ln/>
        </p:spPr>
      </p:sp>
      <p:sp>
        <p:nvSpPr>
          <p:cNvPr id="142" name="Text 14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0.1 hour more on every CP RO is worth $6,602,564 a year in added gross. Toyota Henderson leads at $1,164,334.</a:t>
            </a:r>
            <a:endParaRPr lang="en-US" sz="145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 Know what you are charging.</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82%: luxury stores run toward the top, domestic stores toward the bottom. Hold it by matching the tech to the job,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inside the 78-82% target range.</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78–82%</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78–82%.</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A service not recommended is an hour a technician never gets the chance to turn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with the right recommendations at that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quick cleaning that misses the cavity starting to form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and we want both. Capitalize on the opportunities we already have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379476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602724"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153132"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608210" y="1756697"/>
            <a:ext cx="515734"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+$229K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9" name="Shape 17"/>
          <p:cNvSpPr/>
          <p:nvPr/>
        </p:nvSpPr>
        <p:spPr>
          <a:xfrm>
            <a:off x="3608210" y="2005199"/>
            <a:ext cx="368621"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3608210" y="2253700"/>
            <a:ext cx="93661"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608210" y="2502202"/>
            <a:ext cx="92519"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4" name="Shape 32"/>
          <p:cNvSpPr/>
          <p:nvPr/>
        </p:nvSpPr>
        <p:spPr>
          <a:xfrm>
            <a:off x="3608210" y="2750703"/>
            <a:ext cx="60439"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+$27K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9" name="Shape 37"/>
          <p:cNvSpPr/>
          <p:nvPr/>
        </p:nvSpPr>
        <p:spPr>
          <a:xfrm>
            <a:off x="3608210" y="2999205"/>
            <a:ext cx="52903"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608210" y="3247707"/>
            <a:ext cx="38422"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608210" y="3496208"/>
            <a:ext cx="32407"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4" name="Shape 52"/>
          <p:cNvSpPr/>
          <p:nvPr/>
        </p:nvSpPr>
        <p:spPr>
          <a:xfrm>
            <a:off x="3606258" y="3744710"/>
            <a:ext cx="18288"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9" name="Shape 57"/>
          <p:cNvSpPr/>
          <p:nvPr/>
        </p:nvSpPr>
        <p:spPr>
          <a:xfrm>
            <a:off x="3591832" y="3993212"/>
            <a:ext cx="18288"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4" name="Shape 62"/>
          <p:cNvSpPr/>
          <p:nvPr/>
        </p:nvSpPr>
        <p:spPr>
          <a:xfrm>
            <a:off x="3587605" y="4241713"/>
            <a:ext cx="20606"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3586165" y="4490215"/>
            <a:ext cx="22045"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4" name="Shape 72"/>
          <p:cNvSpPr/>
          <p:nvPr/>
        </p:nvSpPr>
        <p:spPr>
          <a:xfrm>
            <a:off x="3584721" y="4738717"/>
            <a:ext cx="23489"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9" name="Shape 77"/>
          <p:cNvSpPr/>
          <p:nvPr/>
        </p:nvSpPr>
        <p:spPr>
          <a:xfrm>
            <a:off x="3582272" y="4987218"/>
            <a:ext cx="2593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3580943" y="5235720"/>
            <a:ext cx="27268"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568116" y="5484222"/>
            <a:ext cx="4009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3560947" y="5732723"/>
            <a:ext cx="47264"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9" name="Shape 97"/>
          <p:cNvSpPr/>
          <p:nvPr/>
        </p:nvSpPr>
        <p:spPr>
          <a:xfrm>
            <a:off x="9107541" y="1756697"/>
            <a:ext cx="51077"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4" name="Shape 102"/>
          <p:cNvSpPr/>
          <p:nvPr/>
        </p:nvSpPr>
        <p:spPr>
          <a:xfrm>
            <a:off x="9105708" y="2005199"/>
            <a:ext cx="52910"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101403" y="2253700"/>
            <a:ext cx="57215"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4" name="Shape 112"/>
          <p:cNvSpPr/>
          <p:nvPr/>
        </p:nvSpPr>
        <p:spPr>
          <a:xfrm>
            <a:off x="9099265" y="2502202"/>
            <a:ext cx="5935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9" name="Shape 117"/>
          <p:cNvSpPr/>
          <p:nvPr/>
        </p:nvSpPr>
        <p:spPr>
          <a:xfrm>
            <a:off x="9084954" y="2750703"/>
            <a:ext cx="73665"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4" name="Shape 122"/>
          <p:cNvSpPr/>
          <p:nvPr/>
        </p:nvSpPr>
        <p:spPr>
          <a:xfrm>
            <a:off x="9083815" y="2999205"/>
            <a:ext cx="74803"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29" name="Shape 127"/>
          <p:cNvSpPr/>
          <p:nvPr/>
        </p:nvSpPr>
        <p:spPr>
          <a:xfrm>
            <a:off x="9081129" y="3247707"/>
            <a:ext cx="7749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4" name="Shape 132"/>
          <p:cNvSpPr/>
          <p:nvPr/>
        </p:nvSpPr>
        <p:spPr>
          <a:xfrm>
            <a:off x="9076646" y="3496208"/>
            <a:ext cx="81973"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9" name="Shape 137"/>
          <p:cNvSpPr/>
          <p:nvPr/>
        </p:nvSpPr>
        <p:spPr>
          <a:xfrm>
            <a:off x="9072387" y="3744710"/>
            <a:ext cx="86231"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4" name="Shape 142"/>
          <p:cNvSpPr/>
          <p:nvPr/>
        </p:nvSpPr>
        <p:spPr>
          <a:xfrm>
            <a:off x="9047176" y="3993212"/>
            <a:ext cx="111443"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9" name="Shape 147"/>
          <p:cNvSpPr/>
          <p:nvPr/>
        </p:nvSpPr>
        <p:spPr>
          <a:xfrm>
            <a:off x="9029635" y="4241713"/>
            <a:ext cx="128983"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54" name="Shape 152"/>
          <p:cNvSpPr/>
          <p:nvPr/>
        </p:nvSpPr>
        <p:spPr>
          <a:xfrm>
            <a:off x="8988331" y="4490215"/>
            <a:ext cx="170287"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9" name="Shape 157"/>
          <p:cNvSpPr/>
          <p:nvPr/>
        </p:nvSpPr>
        <p:spPr>
          <a:xfrm>
            <a:off x="8985336" y="4738717"/>
            <a:ext cx="173282"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64" name="Shape 162"/>
          <p:cNvSpPr/>
          <p:nvPr/>
        </p:nvSpPr>
        <p:spPr>
          <a:xfrm>
            <a:off x="8971042" y="4987218"/>
            <a:ext cx="187577"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9" name="Shape 167"/>
          <p:cNvSpPr/>
          <p:nvPr/>
        </p:nvSpPr>
        <p:spPr>
          <a:xfrm>
            <a:off x="8955629" y="5235720"/>
            <a:ext cx="202990"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508394"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25 stores under 15% leave $1,029,276 a year; 8 are at or above it. Toyota Spokane is furthest below at −$225K.</a:t>
            </a:r>
            <a:endParaRPr lang="en-US" sz="14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831949"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382357"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837435" y="1756697"/>
            <a:ext cx="286509"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9" name="Shape 17"/>
          <p:cNvSpPr/>
          <p:nvPr/>
        </p:nvSpPr>
        <p:spPr>
          <a:xfrm>
            <a:off x="3837435" y="2005199"/>
            <a:ext cx="125398"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4" name="Shape 22"/>
          <p:cNvSpPr/>
          <p:nvPr/>
        </p:nvSpPr>
        <p:spPr>
          <a:xfrm>
            <a:off x="3837435" y="2253700"/>
            <a:ext cx="56794"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9" name="Shape 27"/>
          <p:cNvSpPr/>
          <p:nvPr/>
        </p:nvSpPr>
        <p:spPr>
          <a:xfrm>
            <a:off x="3837435" y="2502202"/>
            <a:ext cx="22738"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4" name="Shape 32"/>
          <p:cNvSpPr/>
          <p:nvPr/>
        </p:nvSpPr>
        <p:spPr>
          <a:xfrm>
            <a:off x="3837294" y="2750703"/>
            <a:ext cx="18288" cy="136676"/>
          </a:xfrm>
          <a:prstGeom prst="rect">
            <a:avLst/>
          </a:prstGeom>
          <a:solidFill>
            <a:srgbClr val="C2352F"/>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9" name="Shape 37"/>
          <p:cNvSpPr/>
          <p:nvPr/>
        </p:nvSpPr>
        <p:spPr>
          <a:xfrm>
            <a:off x="3826086" y="2999205"/>
            <a:ext cx="18288" cy="136676"/>
          </a:xfrm>
          <a:prstGeom prst="rect">
            <a:avLst/>
          </a:prstGeom>
          <a:solidFill>
            <a:srgbClr val="C2352F"/>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Shape 42"/>
          <p:cNvSpPr/>
          <p:nvPr/>
        </p:nvSpPr>
        <p:spPr>
          <a:xfrm>
            <a:off x="3813350" y="3247707"/>
            <a:ext cx="24085" cy="136676"/>
          </a:xfrm>
          <a:prstGeom prst="rect">
            <a:avLst/>
          </a:prstGeom>
          <a:solidFill>
            <a:srgbClr val="C2352F"/>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9" name="Shape 47"/>
          <p:cNvSpPr/>
          <p:nvPr/>
        </p:nvSpPr>
        <p:spPr>
          <a:xfrm>
            <a:off x="3806604" y="3496208"/>
            <a:ext cx="30831"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4" name="Shape 52"/>
          <p:cNvSpPr/>
          <p:nvPr/>
        </p:nvSpPr>
        <p:spPr>
          <a:xfrm>
            <a:off x="3792816" y="3744710"/>
            <a:ext cx="4461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9" name="Shape 57"/>
          <p:cNvSpPr/>
          <p:nvPr/>
        </p:nvSpPr>
        <p:spPr>
          <a:xfrm>
            <a:off x="3778841" y="3993212"/>
            <a:ext cx="58594"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62034" y="4241713"/>
            <a:ext cx="7540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9" name="Shape 67"/>
          <p:cNvSpPr/>
          <p:nvPr/>
        </p:nvSpPr>
        <p:spPr>
          <a:xfrm>
            <a:off x="3751798" y="4490215"/>
            <a:ext cx="85637"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727198" y="4738717"/>
            <a:ext cx="110237"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725070" y="4987218"/>
            <a:ext cx="11236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4" name="Shape 82"/>
          <p:cNvSpPr/>
          <p:nvPr/>
        </p:nvSpPr>
        <p:spPr>
          <a:xfrm>
            <a:off x="3723194" y="5235720"/>
            <a:ext cx="11424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9" name="Shape 87"/>
          <p:cNvSpPr/>
          <p:nvPr/>
        </p:nvSpPr>
        <p:spPr>
          <a:xfrm>
            <a:off x="3710862" y="5484222"/>
            <a:ext cx="12657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4" name="Shape 92"/>
          <p:cNvSpPr/>
          <p:nvPr/>
        </p:nvSpPr>
        <p:spPr>
          <a:xfrm>
            <a:off x="3690964" y="5732723"/>
            <a:ext cx="1464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9" name="Shape 97"/>
          <p:cNvSpPr/>
          <p:nvPr/>
        </p:nvSpPr>
        <p:spPr>
          <a:xfrm>
            <a:off x="9230771" y="1756697"/>
            <a:ext cx="157072"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4" name="Shape 102"/>
          <p:cNvSpPr/>
          <p:nvPr/>
        </p:nvSpPr>
        <p:spPr>
          <a:xfrm>
            <a:off x="9175412" y="2005199"/>
            <a:ext cx="21243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9174770" y="2253700"/>
            <a:ext cx="21307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4" name="Shape 112"/>
          <p:cNvSpPr/>
          <p:nvPr/>
        </p:nvSpPr>
        <p:spPr>
          <a:xfrm>
            <a:off x="9156849" y="2502202"/>
            <a:ext cx="23099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9" name="Shape 117"/>
          <p:cNvSpPr/>
          <p:nvPr/>
        </p:nvSpPr>
        <p:spPr>
          <a:xfrm>
            <a:off x="9109512" y="2750703"/>
            <a:ext cx="278331"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4" name="Shape 122"/>
          <p:cNvSpPr/>
          <p:nvPr/>
        </p:nvSpPr>
        <p:spPr>
          <a:xfrm>
            <a:off x="9109414" y="2999205"/>
            <a:ext cx="278430"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9" name="Shape 127"/>
          <p:cNvSpPr/>
          <p:nvPr/>
        </p:nvSpPr>
        <p:spPr>
          <a:xfrm>
            <a:off x="9093262" y="3247707"/>
            <a:ext cx="294581"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4" name="Shape 132"/>
          <p:cNvSpPr/>
          <p:nvPr/>
        </p:nvSpPr>
        <p:spPr>
          <a:xfrm>
            <a:off x="9087005" y="3496208"/>
            <a:ext cx="300838"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9073146" y="3744710"/>
            <a:ext cx="314698"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4" name="Shape 142"/>
          <p:cNvSpPr/>
          <p:nvPr/>
        </p:nvSpPr>
        <p:spPr>
          <a:xfrm>
            <a:off x="9059221" y="3993212"/>
            <a:ext cx="328622"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9" name="Shape 147"/>
          <p:cNvSpPr/>
          <p:nvPr/>
        </p:nvSpPr>
        <p:spPr>
          <a:xfrm>
            <a:off x="8951542" y="4241713"/>
            <a:ext cx="436301"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940210" y="4490215"/>
            <a:ext cx="447633"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59" name="Shape 157"/>
          <p:cNvSpPr/>
          <p:nvPr/>
        </p:nvSpPr>
        <p:spPr>
          <a:xfrm>
            <a:off x="8875154" y="4738717"/>
            <a:ext cx="512690"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4" name="Shape 162"/>
          <p:cNvSpPr/>
          <p:nvPr/>
        </p:nvSpPr>
        <p:spPr>
          <a:xfrm>
            <a:off x="8844728" y="4987218"/>
            <a:ext cx="543115"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783012" y="5235720"/>
            <a:ext cx="604831"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737619"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29 stores under 15% leave $1,664,385 a year; 4 are at or above it. Toyota Spokane is furthest below at −$180K.</a:t>
            </a:r>
            <a:endParaRPr lang="en-US" sz="14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470240"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2064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75726" y="1756697"/>
            <a:ext cx="648218"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 name="Shape 17"/>
          <p:cNvSpPr/>
          <p:nvPr/>
        </p:nvSpPr>
        <p:spPr>
          <a:xfrm>
            <a:off x="3475726" y="2005199"/>
            <a:ext cx="467053"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+$187K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475726" y="2253700"/>
            <a:ext cx="168095"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+$67K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475726" y="2502202"/>
            <a:ext cx="84155"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4" name="Shape 32"/>
          <p:cNvSpPr/>
          <p:nvPr/>
        </p:nvSpPr>
        <p:spPr>
          <a:xfrm>
            <a:off x="3475726" y="2750703"/>
            <a:ext cx="8127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9" name="Shape 37"/>
          <p:cNvSpPr/>
          <p:nvPr/>
        </p:nvSpPr>
        <p:spPr>
          <a:xfrm>
            <a:off x="3475726" y="2999205"/>
            <a:ext cx="58927"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4" name="Shape 42"/>
          <p:cNvSpPr/>
          <p:nvPr/>
        </p:nvSpPr>
        <p:spPr>
          <a:xfrm>
            <a:off x="3475726" y="3247707"/>
            <a:ext cx="52299"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475726" y="3496208"/>
            <a:ext cx="48881"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3475726" y="3744710"/>
            <a:ext cx="39506" cy="136676"/>
          </a:xfrm>
          <a:prstGeom prst="rect">
            <a:avLst/>
          </a:prstGeom>
          <a:solidFill>
            <a:srgbClr val="12A566"/>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9" name="Shape 57"/>
          <p:cNvSpPr/>
          <p:nvPr/>
        </p:nvSpPr>
        <p:spPr>
          <a:xfrm>
            <a:off x="3475726" y="3993212"/>
            <a:ext cx="22119" cy="136676"/>
          </a:xfrm>
          <a:prstGeom prst="rect">
            <a:avLst/>
          </a:prstGeom>
          <a:solidFill>
            <a:srgbClr val="12A566"/>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4" name="Shape 62"/>
          <p:cNvSpPr/>
          <p:nvPr/>
        </p:nvSpPr>
        <p:spPr>
          <a:xfrm>
            <a:off x="3475726" y="4241713"/>
            <a:ext cx="18288" cy="136676"/>
          </a:xfrm>
          <a:prstGeom prst="rect">
            <a:avLst/>
          </a:prstGeom>
          <a:solidFill>
            <a:srgbClr val="12A566"/>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3475726" y="4490215"/>
            <a:ext cx="18288" cy="136676"/>
          </a:xfrm>
          <a:prstGeom prst="rect">
            <a:avLst/>
          </a:prstGeom>
          <a:solidFill>
            <a:srgbClr val="12A566"/>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4" name="Shape 72"/>
          <p:cNvSpPr/>
          <p:nvPr/>
        </p:nvSpPr>
        <p:spPr>
          <a:xfrm>
            <a:off x="3467487" y="4738717"/>
            <a:ext cx="18288"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464806" y="4987218"/>
            <a:ext cx="1828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4" name="Shape 82"/>
          <p:cNvSpPr/>
          <p:nvPr/>
        </p:nvSpPr>
        <p:spPr>
          <a:xfrm>
            <a:off x="3448532" y="5235720"/>
            <a:ext cx="27195"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443206" y="5484222"/>
            <a:ext cx="32520"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4" name="Shape 92"/>
          <p:cNvSpPr/>
          <p:nvPr/>
        </p:nvSpPr>
        <p:spPr>
          <a:xfrm>
            <a:off x="3438055" y="5732723"/>
            <a:ext cx="376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9" name="Shape 97"/>
          <p:cNvSpPr/>
          <p:nvPr/>
        </p:nvSpPr>
        <p:spPr>
          <a:xfrm>
            <a:off x="8982059" y="1756697"/>
            <a:ext cx="44076"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4" name="Shape 102"/>
          <p:cNvSpPr/>
          <p:nvPr/>
        </p:nvSpPr>
        <p:spPr>
          <a:xfrm>
            <a:off x="8977096" y="2005199"/>
            <a:ext cx="49038"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9" name="Shape 107"/>
          <p:cNvSpPr/>
          <p:nvPr/>
        </p:nvSpPr>
        <p:spPr>
          <a:xfrm>
            <a:off x="8974752" y="2253700"/>
            <a:ext cx="5138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4" name="Shape 112"/>
          <p:cNvSpPr/>
          <p:nvPr/>
        </p:nvSpPr>
        <p:spPr>
          <a:xfrm>
            <a:off x="8973015" y="2502202"/>
            <a:ext cx="53119"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19" name="Shape 117"/>
          <p:cNvSpPr/>
          <p:nvPr/>
        </p:nvSpPr>
        <p:spPr>
          <a:xfrm>
            <a:off x="8970285" y="2750703"/>
            <a:ext cx="5585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4" name="Shape 122"/>
          <p:cNvSpPr/>
          <p:nvPr/>
        </p:nvSpPr>
        <p:spPr>
          <a:xfrm>
            <a:off x="8963737" y="2999205"/>
            <a:ext cx="62398"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Shape 127"/>
          <p:cNvSpPr/>
          <p:nvPr/>
        </p:nvSpPr>
        <p:spPr>
          <a:xfrm>
            <a:off x="8947585" y="3247707"/>
            <a:ext cx="7855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4" name="Shape 132"/>
          <p:cNvSpPr/>
          <p:nvPr/>
        </p:nvSpPr>
        <p:spPr>
          <a:xfrm>
            <a:off x="8946049" y="3496208"/>
            <a:ext cx="80086"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9" name="Shape 137"/>
          <p:cNvSpPr/>
          <p:nvPr/>
        </p:nvSpPr>
        <p:spPr>
          <a:xfrm>
            <a:off x="8907086" y="3744710"/>
            <a:ext cx="119049"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4" name="Shape 142"/>
          <p:cNvSpPr/>
          <p:nvPr/>
        </p:nvSpPr>
        <p:spPr>
          <a:xfrm>
            <a:off x="8895233" y="3993212"/>
            <a:ext cx="130901"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9" name="Shape 147"/>
          <p:cNvSpPr/>
          <p:nvPr/>
        </p:nvSpPr>
        <p:spPr>
          <a:xfrm>
            <a:off x="8884789" y="4241713"/>
            <a:ext cx="141346"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54" name="Shape 152"/>
          <p:cNvSpPr/>
          <p:nvPr/>
        </p:nvSpPr>
        <p:spPr>
          <a:xfrm>
            <a:off x="8858308" y="4490215"/>
            <a:ext cx="16782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59" name="Shape 157"/>
          <p:cNvSpPr/>
          <p:nvPr/>
        </p:nvSpPr>
        <p:spPr>
          <a:xfrm>
            <a:off x="8840630" y="4738717"/>
            <a:ext cx="185505"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831965" y="4987218"/>
            <a:ext cx="1941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9" name="Shape 167"/>
          <p:cNvSpPr/>
          <p:nvPr/>
        </p:nvSpPr>
        <p:spPr>
          <a:xfrm>
            <a:off x="8826849" y="5235720"/>
            <a:ext cx="199286"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375910"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21 stores under 10% leave $844,657 a year; 12 are at or above it. Chevy LV is furthest below at −$151K.</a:t>
            </a:r>
            <a:endParaRPr lang="en-US" sz="15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540063"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90471"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545549" y="1756697"/>
            <a:ext cx="578395"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+$185K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9" name="Shape 17"/>
          <p:cNvSpPr/>
          <p:nvPr/>
        </p:nvSpPr>
        <p:spPr>
          <a:xfrm>
            <a:off x="3545549" y="2005199"/>
            <a:ext cx="224689"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4" name="Shape 22"/>
          <p:cNvSpPr/>
          <p:nvPr/>
        </p:nvSpPr>
        <p:spPr>
          <a:xfrm>
            <a:off x="3545549" y="2253700"/>
            <a:ext cx="160950"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9" name="Shape 27"/>
          <p:cNvSpPr/>
          <p:nvPr/>
        </p:nvSpPr>
        <p:spPr>
          <a:xfrm>
            <a:off x="3545549" y="2502202"/>
            <a:ext cx="41697"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4" name="Shape 32"/>
          <p:cNvSpPr/>
          <p:nvPr/>
        </p:nvSpPr>
        <p:spPr>
          <a:xfrm>
            <a:off x="3545549" y="2750703"/>
            <a:ext cx="3636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9" name="Shape 37"/>
          <p:cNvSpPr/>
          <p:nvPr/>
        </p:nvSpPr>
        <p:spPr>
          <a:xfrm>
            <a:off x="3545549" y="2999205"/>
            <a:ext cx="18288"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4" name="Shape 42"/>
          <p:cNvSpPr/>
          <p:nvPr/>
        </p:nvSpPr>
        <p:spPr>
          <a:xfrm>
            <a:off x="3545549" y="3247707"/>
            <a:ext cx="18288"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9" name="Shape 47"/>
          <p:cNvSpPr/>
          <p:nvPr/>
        </p:nvSpPr>
        <p:spPr>
          <a:xfrm>
            <a:off x="3541770" y="3496208"/>
            <a:ext cx="18288"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4" name="Shape 52"/>
          <p:cNvSpPr/>
          <p:nvPr/>
        </p:nvSpPr>
        <p:spPr>
          <a:xfrm>
            <a:off x="3513580" y="3744710"/>
            <a:ext cx="3196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9" name="Shape 57"/>
          <p:cNvSpPr/>
          <p:nvPr/>
        </p:nvSpPr>
        <p:spPr>
          <a:xfrm>
            <a:off x="3505684" y="3993212"/>
            <a:ext cx="39865"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4" name="Shape 62"/>
          <p:cNvSpPr/>
          <p:nvPr/>
        </p:nvSpPr>
        <p:spPr>
          <a:xfrm>
            <a:off x="3488418" y="4241713"/>
            <a:ext cx="5713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3486400" y="4490215"/>
            <a:ext cx="59150"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479069" y="4738717"/>
            <a:ext cx="66480"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9" name="Shape 77"/>
          <p:cNvSpPr/>
          <p:nvPr/>
        </p:nvSpPr>
        <p:spPr>
          <a:xfrm>
            <a:off x="3470893" y="4987218"/>
            <a:ext cx="7465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4" name="Shape 82"/>
          <p:cNvSpPr/>
          <p:nvPr/>
        </p:nvSpPr>
        <p:spPr>
          <a:xfrm>
            <a:off x="3467487" y="5235720"/>
            <a:ext cx="7806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3463887" y="5484222"/>
            <a:ext cx="81662"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3455112" y="5732723"/>
            <a:ext cx="90437"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9" name="Shape 97"/>
          <p:cNvSpPr/>
          <p:nvPr/>
        </p:nvSpPr>
        <p:spPr>
          <a:xfrm>
            <a:off x="8990249" y="1756697"/>
            <a:ext cx="105708"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4" name="Shape 102"/>
          <p:cNvSpPr/>
          <p:nvPr/>
        </p:nvSpPr>
        <p:spPr>
          <a:xfrm>
            <a:off x="8952406" y="2005199"/>
            <a:ext cx="14355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8934853" y="2253700"/>
            <a:ext cx="161104"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4" name="Shape 112"/>
          <p:cNvSpPr/>
          <p:nvPr/>
        </p:nvSpPr>
        <p:spPr>
          <a:xfrm>
            <a:off x="8920647" y="2502202"/>
            <a:ext cx="175310"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9" name="Shape 117"/>
          <p:cNvSpPr/>
          <p:nvPr/>
        </p:nvSpPr>
        <p:spPr>
          <a:xfrm>
            <a:off x="8920267" y="2750703"/>
            <a:ext cx="17569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4" name="Shape 122"/>
          <p:cNvSpPr/>
          <p:nvPr/>
        </p:nvSpPr>
        <p:spPr>
          <a:xfrm>
            <a:off x="8908211" y="2999205"/>
            <a:ext cx="187746"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9" name="Shape 127"/>
          <p:cNvSpPr/>
          <p:nvPr/>
        </p:nvSpPr>
        <p:spPr>
          <a:xfrm>
            <a:off x="8902495" y="3247707"/>
            <a:ext cx="193462"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4" name="Shape 132"/>
          <p:cNvSpPr/>
          <p:nvPr/>
        </p:nvSpPr>
        <p:spPr>
          <a:xfrm>
            <a:off x="8901220" y="3496208"/>
            <a:ext cx="194737"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8896811" y="3744710"/>
            <a:ext cx="199146"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4" name="Shape 142"/>
          <p:cNvSpPr/>
          <p:nvPr/>
        </p:nvSpPr>
        <p:spPr>
          <a:xfrm>
            <a:off x="8891747" y="3993212"/>
            <a:ext cx="204210"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9" name="Shape 147"/>
          <p:cNvSpPr/>
          <p:nvPr/>
        </p:nvSpPr>
        <p:spPr>
          <a:xfrm>
            <a:off x="8860792" y="4241713"/>
            <a:ext cx="235165"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4" name="Shape 152"/>
          <p:cNvSpPr/>
          <p:nvPr/>
        </p:nvSpPr>
        <p:spPr>
          <a:xfrm>
            <a:off x="8859151" y="4490215"/>
            <a:ext cx="23680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9" name="Shape 157"/>
          <p:cNvSpPr/>
          <p:nvPr/>
        </p:nvSpPr>
        <p:spPr>
          <a:xfrm>
            <a:off x="8830828" y="4738717"/>
            <a:ext cx="265129"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4" name="Shape 162"/>
          <p:cNvSpPr/>
          <p:nvPr/>
        </p:nvSpPr>
        <p:spPr>
          <a:xfrm>
            <a:off x="8754888" y="4987218"/>
            <a:ext cx="3410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693205" y="5235720"/>
            <a:ext cx="402752"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445733"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26 stores under 7.5% leave $1,356,881 a year; 7 are at or above it. Chevy LV is furthest below at −$142K.</a:t>
            </a:r>
            <a:endParaRPr lang="en-US" sz="15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Shape 5"/>
          <p:cNvSpPr/>
          <p:nvPr/>
        </p:nvSpPr>
        <p:spPr>
          <a:xfrm>
            <a:off x="3795511" y="1700784"/>
            <a:ext cx="10973" cy="4224528"/>
          </a:xfrm>
          <a:prstGeom prst="rect">
            <a:avLst/>
          </a:prstGeom>
          <a:solidFill>
            <a:srgbClr val="9AA3AD"/>
          </a:solidFill>
          <a:ln/>
        </p:spPr>
      </p:sp>
      <p:sp>
        <p:nvSpPr>
          <p:cNvPr id="8" name="Text 6"/>
          <p:cNvSpPr txBox="1"/>
          <p:nvPr/>
        </p:nvSpPr>
        <p:spPr>
          <a:xfrm>
            <a:off x="1036929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9" name="Shape 7"/>
          <p:cNvSpPr/>
          <p:nvPr/>
        </p:nvSpPr>
        <p:spPr>
          <a:xfrm>
            <a:off x="9345919" y="1700784"/>
            <a:ext cx="10973" cy="3976026"/>
          </a:xfrm>
          <a:prstGeom prst="rect">
            <a:avLst/>
          </a:prstGeom>
          <a:solidFill>
            <a:srgbClr val="9AA3AD"/>
          </a:solidFill>
          <a:ln/>
        </p:spPr>
      </p:sp>
      <p:sp>
        <p:nvSpPr>
          <p:cNvPr id="10" name="Text 8"/>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1" name="Text 9"/>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2" name="Shape 10"/>
          <p:cNvSpPr/>
          <p:nvPr/>
        </p:nvSpPr>
        <p:spPr>
          <a:xfrm>
            <a:off x="3800997" y="1756697"/>
            <a:ext cx="963027" cy="136676"/>
          </a:xfrm>
          <a:prstGeom prst="rect">
            <a:avLst/>
          </a:prstGeom>
          <a:solidFill>
            <a:srgbClr val="12A566"/>
          </a:solidFill>
          <a:ln/>
        </p:spPr>
      </p:sp>
      <p:sp>
        <p:nvSpPr>
          <p:cNvPr id="13" name="Text 11"/>
          <p:cNvSpPr txBox="1"/>
          <p:nvPr/>
        </p:nvSpPr>
        <p:spPr>
          <a:xfrm>
            <a:off x="481888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+$743K</a:t>
            </a:r>
            <a:endParaRPr lang="en-US" sz="1300" dirty="0"/>
          </a:p>
        </p:txBody>
      </p:sp>
      <p:sp>
        <p:nvSpPr>
          <p:cNvPr id="14" name="Text 12"/>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5" name="Text 13"/>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3800997" y="2005199"/>
            <a:ext cx="260306" cy="136676"/>
          </a:xfrm>
          <a:prstGeom prst="rect">
            <a:avLst/>
          </a:prstGeom>
          <a:solidFill>
            <a:srgbClr val="12A566"/>
          </a:solidFill>
          <a:ln/>
        </p:spPr>
      </p:sp>
      <p:sp>
        <p:nvSpPr>
          <p:cNvPr id="17" name="Text 15"/>
          <p:cNvSpPr txBox="1"/>
          <p:nvPr/>
        </p:nvSpPr>
        <p:spPr>
          <a:xfrm>
            <a:off x="481888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+$201K</a:t>
            </a:r>
            <a:endParaRPr lang="en-US" sz="1300" dirty="0"/>
          </a:p>
        </p:txBody>
      </p:sp>
      <p:sp>
        <p:nvSpPr>
          <p:cNvPr id="18" name="Text 1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9" name="Text 17"/>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0" name="Shape 18"/>
          <p:cNvSpPr/>
          <p:nvPr/>
        </p:nvSpPr>
        <p:spPr>
          <a:xfrm>
            <a:off x="3800997" y="2253700"/>
            <a:ext cx="92755" cy="136676"/>
          </a:xfrm>
          <a:prstGeom prst="rect">
            <a:avLst/>
          </a:prstGeom>
          <a:solidFill>
            <a:srgbClr val="12A566"/>
          </a:solidFill>
          <a:ln/>
        </p:spPr>
      </p:sp>
      <p:sp>
        <p:nvSpPr>
          <p:cNvPr id="21" name="Text 19"/>
          <p:cNvSpPr txBox="1"/>
          <p:nvPr/>
        </p:nvSpPr>
        <p:spPr>
          <a:xfrm>
            <a:off x="481888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2" name="Text 20"/>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800997" y="2502202"/>
            <a:ext cx="77707" cy="136676"/>
          </a:xfrm>
          <a:prstGeom prst="rect">
            <a:avLst/>
          </a:prstGeom>
          <a:solidFill>
            <a:srgbClr val="12A566"/>
          </a:solidFill>
          <a:ln/>
        </p:spPr>
      </p:sp>
      <p:sp>
        <p:nvSpPr>
          <p:cNvPr id="25" name="Text 23"/>
          <p:cNvSpPr txBox="1"/>
          <p:nvPr/>
        </p:nvSpPr>
        <p:spPr>
          <a:xfrm>
            <a:off x="481888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+$60K</a:t>
            </a:r>
            <a:endParaRPr lang="en-US" sz="1300" dirty="0"/>
          </a:p>
        </p:txBody>
      </p:sp>
      <p:sp>
        <p:nvSpPr>
          <p:cNvPr id="26" name="Text 2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7" name="Text 25"/>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800997" y="2750703"/>
            <a:ext cx="71427" cy="136676"/>
          </a:xfrm>
          <a:prstGeom prst="rect">
            <a:avLst/>
          </a:prstGeom>
          <a:solidFill>
            <a:srgbClr val="12A566"/>
          </a:solidFill>
          <a:ln/>
        </p:spPr>
      </p:sp>
      <p:sp>
        <p:nvSpPr>
          <p:cNvPr id="29" name="Text 27"/>
          <p:cNvSpPr txBox="1"/>
          <p:nvPr/>
        </p:nvSpPr>
        <p:spPr>
          <a:xfrm>
            <a:off x="481888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+$55K</a:t>
            </a:r>
            <a:endParaRPr lang="en-US" sz="1300" dirty="0"/>
          </a:p>
        </p:txBody>
      </p:sp>
      <p:sp>
        <p:nvSpPr>
          <p:cNvPr id="30" name="Text 2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1" name="Text 2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2" name="Shape 30"/>
          <p:cNvSpPr/>
          <p:nvPr/>
        </p:nvSpPr>
        <p:spPr>
          <a:xfrm>
            <a:off x="3800997" y="2999205"/>
            <a:ext cx="57698" cy="136676"/>
          </a:xfrm>
          <a:prstGeom prst="rect">
            <a:avLst/>
          </a:prstGeom>
          <a:solidFill>
            <a:srgbClr val="12A566"/>
          </a:solidFill>
          <a:ln/>
        </p:spPr>
      </p:sp>
      <p:sp>
        <p:nvSpPr>
          <p:cNvPr id="33" name="Text 31"/>
          <p:cNvSpPr txBox="1"/>
          <p:nvPr/>
        </p:nvSpPr>
        <p:spPr>
          <a:xfrm>
            <a:off x="481888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5" name="Text 33"/>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6" name="Shape 34"/>
          <p:cNvSpPr/>
          <p:nvPr/>
        </p:nvSpPr>
        <p:spPr>
          <a:xfrm>
            <a:off x="3800997" y="3247707"/>
            <a:ext cx="40337" cy="136676"/>
          </a:xfrm>
          <a:prstGeom prst="rect">
            <a:avLst/>
          </a:prstGeom>
          <a:solidFill>
            <a:srgbClr val="12A566"/>
          </a:solidFill>
          <a:ln/>
        </p:spPr>
      </p:sp>
      <p:sp>
        <p:nvSpPr>
          <p:cNvPr id="37" name="Text 35"/>
          <p:cNvSpPr txBox="1"/>
          <p:nvPr/>
        </p:nvSpPr>
        <p:spPr>
          <a:xfrm>
            <a:off x="481888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9" name="Text 37"/>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0" name="Shape 38"/>
          <p:cNvSpPr/>
          <p:nvPr/>
        </p:nvSpPr>
        <p:spPr>
          <a:xfrm>
            <a:off x="3762731" y="3496208"/>
            <a:ext cx="38266" cy="136676"/>
          </a:xfrm>
          <a:prstGeom prst="rect">
            <a:avLst/>
          </a:prstGeom>
          <a:solidFill>
            <a:srgbClr val="C2352F"/>
          </a:solidFill>
          <a:ln/>
        </p:spPr>
      </p:sp>
      <p:sp>
        <p:nvSpPr>
          <p:cNvPr id="41" name="Text 39"/>
          <p:cNvSpPr txBox="1"/>
          <p:nvPr/>
        </p:nvSpPr>
        <p:spPr>
          <a:xfrm>
            <a:off x="481888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−$30K</a:t>
            </a:r>
            <a:endParaRPr lang="en-US" sz="1300" dirty="0"/>
          </a:p>
        </p:txBody>
      </p:sp>
      <p:sp>
        <p:nvSpPr>
          <p:cNvPr id="42" name="Text 4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3" name="Text 4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752270" y="3744710"/>
            <a:ext cx="48727" cy="136676"/>
          </a:xfrm>
          <a:prstGeom prst="rect">
            <a:avLst/>
          </a:prstGeom>
          <a:solidFill>
            <a:srgbClr val="C2352F"/>
          </a:solidFill>
          <a:ln/>
        </p:spPr>
      </p:sp>
      <p:sp>
        <p:nvSpPr>
          <p:cNvPr id="45" name="Text 43"/>
          <p:cNvSpPr txBox="1"/>
          <p:nvPr/>
        </p:nvSpPr>
        <p:spPr>
          <a:xfrm>
            <a:off x="481888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46" name="Text 4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7" name="Text 45"/>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751591" y="3993212"/>
            <a:ext cx="49407" cy="136676"/>
          </a:xfrm>
          <a:prstGeom prst="rect">
            <a:avLst/>
          </a:prstGeom>
          <a:solidFill>
            <a:srgbClr val="C2352F"/>
          </a:solidFill>
          <a:ln/>
        </p:spPr>
      </p:sp>
      <p:sp>
        <p:nvSpPr>
          <p:cNvPr id="49" name="Text 47"/>
          <p:cNvSpPr txBox="1"/>
          <p:nvPr/>
        </p:nvSpPr>
        <p:spPr>
          <a:xfrm>
            <a:off x="481888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1" name="Text 49"/>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52" name="Shape 50"/>
          <p:cNvSpPr/>
          <p:nvPr/>
        </p:nvSpPr>
        <p:spPr>
          <a:xfrm>
            <a:off x="3745550" y="4241713"/>
            <a:ext cx="55448" cy="136676"/>
          </a:xfrm>
          <a:prstGeom prst="rect">
            <a:avLst/>
          </a:prstGeom>
          <a:solidFill>
            <a:srgbClr val="C2352F"/>
          </a:solidFill>
          <a:ln/>
        </p:spPr>
      </p:sp>
      <p:sp>
        <p:nvSpPr>
          <p:cNvPr id="53" name="Text 51"/>
          <p:cNvSpPr txBox="1"/>
          <p:nvPr/>
        </p:nvSpPr>
        <p:spPr>
          <a:xfrm>
            <a:off x="481888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54" name="Text 52"/>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5" name="Text 53"/>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6" name="Shape 54"/>
          <p:cNvSpPr/>
          <p:nvPr/>
        </p:nvSpPr>
        <p:spPr>
          <a:xfrm>
            <a:off x="3729945" y="4490215"/>
            <a:ext cx="71053" cy="136676"/>
          </a:xfrm>
          <a:prstGeom prst="rect">
            <a:avLst/>
          </a:prstGeom>
          <a:solidFill>
            <a:srgbClr val="C2352F"/>
          </a:solidFill>
          <a:ln/>
        </p:spPr>
      </p:sp>
      <p:sp>
        <p:nvSpPr>
          <p:cNvPr id="57" name="Text 55"/>
          <p:cNvSpPr txBox="1"/>
          <p:nvPr/>
        </p:nvSpPr>
        <p:spPr>
          <a:xfrm>
            <a:off x="481888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58" name="Text 56"/>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9" name="Text 57"/>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0" name="Shape 58"/>
          <p:cNvSpPr/>
          <p:nvPr/>
        </p:nvSpPr>
        <p:spPr>
          <a:xfrm>
            <a:off x="3718481" y="4738717"/>
            <a:ext cx="82517" cy="136676"/>
          </a:xfrm>
          <a:prstGeom prst="rect">
            <a:avLst/>
          </a:prstGeom>
          <a:solidFill>
            <a:srgbClr val="C2352F"/>
          </a:solidFill>
          <a:ln/>
        </p:spPr>
      </p:sp>
      <p:sp>
        <p:nvSpPr>
          <p:cNvPr id="61" name="Text 59"/>
          <p:cNvSpPr txBox="1"/>
          <p:nvPr/>
        </p:nvSpPr>
        <p:spPr>
          <a:xfrm>
            <a:off x="481888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62" name="Text 60"/>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10263" y="4987218"/>
            <a:ext cx="90735" cy="136676"/>
          </a:xfrm>
          <a:prstGeom prst="rect">
            <a:avLst/>
          </a:prstGeom>
          <a:solidFill>
            <a:srgbClr val="C2352F"/>
          </a:solidFill>
          <a:ln/>
        </p:spPr>
      </p:sp>
      <p:sp>
        <p:nvSpPr>
          <p:cNvPr id="65" name="Text 63"/>
          <p:cNvSpPr txBox="1"/>
          <p:nvPr/>
        </p:nvSpPr>
        <p:spPr>
          <a:xfrm>
            <a:off x="481888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6" name="Text 6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7" name="Text 65"/>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3698735" y="5235720"/>
            <a:ext cx="102262" cy="136676"/>
          </a:xfrm>
          <a:prstGeom prst="rect">
            <a:avLst/>
          </a:prstGeom>
          <a:solidFill>
            <a:srgbClr val="C2352F"/>
          </a:solidFill>
          <a:ln/>
        </p:spPr>
      </p:sp>
      <p:sp>
        <p:nvSpPr>
          <p:cNvPr id="69" name="Text 67"/>
          <p:cNvSpPr txBox="1"/>
          <p:nvPr/>
        </p:nvSpPr>
        <p:spPr>
          <a:xfrm>
            <a:off x="481888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−$79K</a:t>
            </a:r>
            <a:endParaRPr lang="en-US" sz="1300" dirty="0"/>
          </a:p>
        </p:txBody>
      </p:sp>
      <p:sp>
        <p:nvSpPr>
          <p:cNvPr id="70" name="Text 6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1" name="Text 6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3697071" y="5484222"/>
            <a:ext cx="103926" cy="136676"/>
          </a:xfrm>
          <a:prstGeom prst="rect">
            <a:avLst/>
          </a:prstGeom>
          <a:solidFill>
            <a:srgbClr val="C2352F"/>
          </a:solidFill>
          <a:ln/>
        </p:spPr>
      </p:sp>
      <p:sp>
        <p:nvSpPr>
          <p:cNvPr id="73" name="Text 71"/>
          <p:cNvSpPr txBox="1"/>
          <p:nvPr/>
        </p:nvSpPr>
        <p:spPr>
          <a:xfrm>
            <a:off x="481888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74" name="Text 7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6" name="Shape 74"/>
          <p:cNvSpPr/>
          <p:nvPr/>
        </p:nvSpPr>
        <p:spPr>
          <a:xfrm>
            <a:off x="3696290" y="5732723"/>
            <a:ext cx="104707" cy="136676"/>
          </a:xfrm>
          <a:prstGeom prst="rect">
            <a:avLst/>
          </a:prstGeom>
          <a:solidFill>
            <a:srgbClr val="C2352F"/>
          </a:solidFill>
          <a:ln/>
        </p:spPr>
      </p:sp>
      <p:sp>
        <p:nvSpPr>
          <p:cNvPr id="77" name="Text 75"/>
          <p:cNvSpPr txBox="1"/>
          <p:nvPr/>
        </p:nvSpPr>
        <p:spPr>
          <a:xfrm>
            <a:off x="481888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78" name="Text 76"/>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9" name="Text 77"/>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0" name="Shape 78"/>
          <p:cNvSpPr/>
          <p:nvPr/>
        </p:nvSpPr>
        <p:spPr>
          <a:xfrm>
            <a:off x="9237983" y="1756697"/>
            <a:ext cx="113423" cy="136676"/>
          </a:xfrm>
          <a:prstGeom prst="rect">
            <a:avLst/>
          </a:prstGeom>
          <a:solidFill>
            <a:srgbClr val="C2352F"/>
          </a:solidFill>
          <a:ln/>
        </p:spPr>
      </p:sp>
      <p:sp>
        <p:nvSpPr>
          <p:cNvPr id="81" name="Text 79"/>
          <p:cNvSpPr txBox="1"/>
          <p:nvPr/>
        </p:nvSpPr>
        <p:spPr>
          <a:xfrm>
            <a:off x="1036929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82" name="Text 8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3" name="Text 8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4" name="Shape 82"/>
          <p:cNvSpPr/>
          <p:nvPr/>
        </p:nvSpPr>
        <p:spPr>
          <a:xfrm>
            <a:off x="9188179" y="2005199"/>
            <a:ext cx="163227" cy="136676"/>
          </a:xfrm>
          <a:prstGeom prst="rect">
            <a:avLst/>
          </a:prstGeom>
          <a:solidFill>
            <a:srgbClr val="C2352F"/>
          </a:solidFill>
          <a:ln/>
        </p:spPr>
      </p:sp>
      <p:sp>
        <p:nvSpPr>
          <p:cNvPr id="85" name="Text 83"/>
          <p:cNvSpPr txBox="1"/>
          <p:nvPr/>
        </p:nvSpPr>
        <p:spPr>
          <a:xfrm>
            <a:off x="1036929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86" name="Text 8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7" name="Text 85"/>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9179400" y="2253700"/>
            <a:ext cx="172006" cy="136676"/>
          </a:xfrm>
          <a:prstGeom prst="rect">
            <a:avLst/>
          </a:prstGeom>
          <a:solidFill>
            <a:srgbClr val="C2352F"/>
          </a:solidFill>
          <a:ln/>
        </p:spPr>
      </p:sp>
      <p:sp>
        <p:nvSpPr>
          <p:cNvPr id="89" name="Text 87"/>
          <p:cNvSpPr txBox="1"/>
          <p:nvPr/>
        </p:nvSpPr>
        <p:spPr>
          <a:xfrm>
            <a:off x="1036929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1" name="Text 89"/>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2" name="Shape 90"/>
          <p:cNvSpPr/>
          <p:nvPr/>
        </p:nvSpPr>
        <p:spPr>
          <a:xfrm>
            <a:off x="9170174" y="2502202"/>
            <a:ext cx="181231" cy="136676"/>
          </a:xfrm>
          <a:prstGeom prst="rect">
            <a:avLst/>
          </a:prstGeom>
          <a:solidFill>
            <a:srgbClr val="C2352F"/>
          </a:solidFill>
          <a:ln/>
        </p:spPr>
      </p:sp>
      <p:sp>
        <p:nvSpPr>
          <p:cNvPr id="93" name="Text 91"/>
          <p:cNvSpPr txBox="1"/>
          <p:nvPr/>
        </p:nvSpPr>
        <p:spPr>
          <a:xfrm>
            <a:off x="1036929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94" name="Text 9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5" name="Text 93"/>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6" name="Shape 94"/>
          <p:cNvSpPr/>
          <p:nvPr/>
        </p:nvSpPr>
        <p:spPr>
          <a:xfrm>
            <a:off x="9169305" y="2750703"/>
            <a:ext cx="182101" cy="136676"/>
          </a:xfrm>
          <a:prstGeom prst="rect">
            <a:avLst/>
          </a:prstGeom>
          <a:solidFill>
            <a:srgbClr val="C2352F"/>
          </a:solidFill>
          <a:ln/>
        </p:spPr>
      </p:sp>
      <p:sp>
        <p:nvSpPr>
          <p:cNvPr id="97" name="Text 95"/>
          <p:cNvSpPr txBox="1"/>
          <p:nvPr/>
        </p:nvSpPr>
        <p:spPr>
          <a:xfrm>
            <a:off x="1036929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98" name="Text 96"/>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9" name="Text 97"/>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0" name="Shape 98"/>
          <p:cNvSpPr/>
          <p:nvPr/>
        </p:nvSpPr>
        <p:spPr>
          <a:xfrm>
            <a:off x="9109792" y="2999205"/>
            <a:ext cx="241613" cy="136676"/>
          </a:xfrm>
          <a:prstGeom prst="rect">
            <a:avLst/>
          </a:prstGeom>
          <a:solidFill>
            <a:srgbClr val="C2352F"/>
          </a:solidFill>
          <a:ln/>
        </p:spPr>
      </p:sp>
      <p:sp>
        <p:nvSpPr>
          <p:cNvPr id="101" name="Text 99"/>
          <p:cNvSpPr txBox="1"/>
          <p:nvPr/>
        </p:nvSpPr>
        <p:spPr>
          <a:xfrm>
            <a:off x="1036929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−$186K</a:t>
            </a:r>
            <a:endParaRPr lang="en-US" sz="1300" dirty="0"/>
          </a:p>
        </p:txBody>
      </p:sp>
      <p:sp>
        <p:nvSpPr>
          <p:cNvPr id="102" name="Text 100"/>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3" name="Text 101"/>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4" name="Shape 102"/>
          <p:cNvSpPr/>
          <p:nvPr/>
        </p:nvSpPr>
        <p:spPr>
          <a:xfrm>
            <a:off x="9092573" y="3247707"/>
            <a:ext cx="258833" cy="136676"/>
          </a:xfrm>
          <a:prstGeom prst="rect">
            <a:avLst/>
          </a:prstGeom>
          <a:solidFill>
            <a:srgbClr val="C2352F"/>
          </a:solidFill>
          <a:ln/>
        </p:spPr>
      </p:sp>
      <p:sp>
        <p:nvSpPr>
          <p:cNvPr id="105" name="Text 103"/>
          <p:cNvSpPr txBox="1"/>
          <p:nvPr/>
        </p:nvSpPr>
        <p:spPr>
          <a:xfrm>
            <a:off x="1036929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06" name="Text 10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7" name="Text 105"/>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8" name="Shape 106"/>
          <p:cNvSpPr/>
          <p:nvPr/>
        </p:nvSpPr>
        <p:spPr>
          <a:xfrm>
            <a:off x="9092243" y="3496208"/>
            <a:ext cx="259162" cy="136676"/>
          </a:xfrm>
          <a:prstGeom prst="rect">
            <a:avLst/>
          </a:prstGeom>
          <a:solidFill>
            <a:srgbClr val="C2352F"/>
          </a:solidFill>
          <a:ln/>
        </p:spPr>
      </p:sp>
      <p:sp>
        <p:nvSpPr>
          <p:cNvPr id="109" name="Text 107"/>
          <p:cNvSpPr txBox="1"/>
          <p:nvPr/>
        </p:nvSpPr>
        <p:spPr>
          <a:xfrm>
            <a:off x="1036929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10" name="Text 10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2" name="Shape 110"/>
          <p:cNvSpPr/>
          <p:nvPr/>
        </p:nvSpPr>
        <p:spPr>
          <a:xfrm>
            <a:off x="9072005" y="3744710"/>
            <a:ext cx="279401" cy="136676"/>
          </a:xfrm>
          <a:prstGeom prst="rect">
            <a:avLst/>
          </a:prstGeom>
          <a:solidFill>
            <a:srgbClr val="C2352F"/>
          </a:solidFill>
          <a:ln/>
        </p:spPr>
      </p:sp>
      <p:sp>
        <p:nvSpPr>
          <p:cNvPr id="113" name="Text 111"/>
          <p:cNvSpPr txBox="1"/>
          <p:nvPr/>
        </p:nvSpPr>
        <p:spPr>
          <a:xfrm>
            <a:off x="1036929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114" name="Text 11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6" name="Shape 114"/>
          <p:cNvSpPr/>
          <p:nvPr/>
        </p:nvSpPr>
        <p:spPr>
          <a:xfrm>
            <a:off x="9049807" y="3993212"/>
            <a:ext cx="301599" cy="136676"/>
          </a:xfrm>
          <a:prstGeom prst="rect">
            <a:avLst/>
          </a:prstGeom>
          <a:solidFill>
            <a:srgbClr val="C2352F"/>
          </a:solidFill>
          <a:ln/>
        </p:spPr>
      </p:sp>
      <p:sp>
        <p:nvSpPr>
          <p:cNvPr id="117" name="Text 115"/>
          <p:cNvSpPr txBox="1"/>
          <p:nvPr/>
        </p:nvSpPr>
        <p:spPr>
          <a:xfrm>
            <a:off x="1036929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118" name="Text 116"/>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9" name="Text 117"/>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0" name="Shape 118"/>
          <p:cNvSpPr/>
          <p:nvPr/>
        </p:nvSpPr>
        <p:spPr>
          <a:xfrm>
            <a:off x="9034236" y="4241713"/>
            <a:ext cx="317170" cy="136676"/>
          </a:xfrm>
          <a:prstGeom prst="rect">
            <a:avLst/>
          </a:prstGeom>
          <a:solidFill>
            <a:srgbClr val="C2352F"/>
          </a:solidFill>
          <a:ln/>
        </p:spPr>
      </p:sp>
      <p:sp>
        <p:nvSpPr>
          <p:cNvPr id="121" name="Text 119"/>
          <p:cNvSpPr txBox="1"/>
          <p:nvPr/>
        </p:nvSpPr>
        <p:spPr>
          <a:xfrm>
            <a:off x="1036929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122" name="Text 12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4" name="Shape 122"/>
          <p:cNvSpPr/>
          <p:nvPr/>
        </p:nvSpPr>
        <p:spPr>
          <a:xfrm>
            <a:off x="9031867" y="4490215"/>
            <a:ext cx="319539" cy="136676"/>
          </a:xfrm>
          <a:prstGeom prst="rect">
            <a:avLst/>
          </a:prstGeom>
          <a:solidFill>
            <a:srgbClr val="C2352F"/>
          </a:solidFill>
          <a:ln/>
        </p:spPr>
      </p:sp>
      <p:sp>
        <p:nvSpPr>
          <p:cNvPr id="125" name="Text 123"/>
          <p:cNvSpPr txBox="1"/>
          <p:nvPr/>
        </p:nvSpPr>
        <p:spPr>
          <a:xfrm>
            <a:off x="1036929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126" name="Text 12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7" name="Text 125"/>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8" name="Shape 126"/>
          <p:cNvSpPr/>
          <p:nvPr/>
        </p:nvSpPr>
        <p:spPr>
          <a:xfrm>
            <a:off x="8959526" y="4738717"/>
            <a:ext cx="391880" cy="136676"/>
          </a:xfrm>
          <a:prstGeom prst="rect">
            <a:avLst/>
          </a:prstGeom>
          <a:solidFill>
            <a:srgbClr val="C2352F"/>
          </a:solidFill>
          <a:ln/>
        </p:spPr>
      </p:sp>
      <p:sp>
        <p:nvSpPr>
          <p:cNvPr id="129" name="Text 127"/>
          <p:cNvSpPr txBox="1"/>
          <p:nvPr/>
        </p:nvSpPr>
        <p:spPr>
          <a:xfrm>
            <a:off x="1036929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−$302K</a:t>
            </a:r>
            <a:endParaRPr lang="en-US" sz="1300" dirty="0"/>
          </a:p>
        </p:txBody>
      </p:sp>
      <p:sp>
        <p:nvSpPr>
          <p:cNvPr id="130" name="Text 128"/>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1" name="Text 129"/>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2" name="Shape 130"/>
          <p:cNvSpPr/>
          <p:nvPr/>
        </p:nvSpPr>
        <p:spPr>
          <a:xfrm>
            <a:off x="8890482" y="4987218"/>
            <a:ext cx="460924" cy="136676"/>
          </a:xfrm>
          <a:prstGeom prst="rect">
            <a:avLst/>
          </a:prstGeom>
          <a:solidFill>
            <a:srgbClr val="C2352F"/>
          </a:solidFill>
          <a:ln/>
        </p:spPr>
      </p:sp>
      <p:sp>
        <p:nvSpPr>
          <p:cNvPr id="133" name="Text 131"/>
          <p:cNvSpPr txBox="1"/>
          <p:nvPr/>
        </p:nvSpPr>
        <p:spPr>
          <a:xfrm>
            <a:off x="1036929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34" name="Text 13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5" name="Text 133"/>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6" name="Shape 134"/>
          <p:cNvSpPr/>
          <p:nvPr/>
        </p:nvSpPr>
        <p:spPr>
          <a:xfrm>
            <a:off x="8735965" y="5235720"/>
            <a:ext cx="615441" cy="136676"/>
          </a:xfrm>
          <a:prstGeom prst="rect">
            <a:avLst/>
          </a:prstGeom>
          <a:solidFill>
            <a:srgbClr val="C2352F"/>
          </a:solidFill>
          <a:ln/>
        </p:spPr>
      </p:sp>
      <p:sp>
        <p:nvSpPr>
          <p:cNvPr id="137" name="Text 135"/>
          <p:cNvSpPr txBox="1"/>
          <p:nvPr/>
        </p:nvSpPr>
        <p:spPr>
          <a:xfrm>
            <a:off x="1036929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138" name="Text 136"/>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9" name="Text 137"/>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40" name="Shape 138"/>
          <p:cNvSpPr/>
          <p:nvPr/>
        </p:nvSpPr>
        <p:spPr>
          <a:xfrm>
            <a:off x="8650224" y="5484222"/>
            <a:ext cx="701181" cy="136676"/>
          </a:xfrm>
          <a:prstGeom prst="rect">
            <a:avLst/>
          </a:prstGeom>
          <a:solidFill>
            <a:srgbClr val="C2352F"/>
          </a:solidFill>
          <a:ln/>
        </p:spPr>
      </p:sp>
      <p:sp>
        <p:nvSpPr>
          <p:cNvPr id="141" name="Text 139"/>
          <p:cNvSpPr txBox="1"/>
          <p:nvPr/>
        </p:nvSpPr>
        <p:spPr>
          <a:xfrm>
            <a:off x="1036929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42" name="Shape 140"/>
          <p:cNvSpPr/>
          <p:nvPr/>
        </p:nvSpPr>
        <p:spPr>
          <a:xfrm>
            <a:off x="6085332" y="1700784"/>
            <a:ext cx="10973" cy="4224528"/>
          </a:xfrm>
          <a:prstGeom prst="rect">
            <a:avLst/>
          </a:prstGeom>
          <a:solidFill>
            <a:srgbClr val="D9D9D9"/>
          </a:solidFill>
          <a:ln/>
        </p:spPr>
      </p:sp>
      <p:sp>
        <p:nvSpPr>
          <p:cNvPr id="143" name="Shape 141"/>
          <p:cNvSpPr/>
          <p:nvPr/>
        </p:nvSpPr>
        <p:spPr>
          <a:xfrm>
            <a:off x="457200" y="6126480"/>
            <a:ext cx="11274552" cy="615696"/>
          </a:xfrm>
          <a:prstGeom prst="rect">
            <a:avLst/>
          </a:prstGeom>
          <a:solidFill>
            <a:srgbClr val="FBEBEA"/>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−$541K a year; 7 of 33 stores are ahead of benchmark across the four services. 15 stores are under all four.</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 Widest: Audi Reno (−20.0 pts), LR LV (−13.9 pts) and LR Henderson (−12.2 pts).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 Widest: LR LV (−17.6 pts), Honda Flagstaff (−15.4 pts) and Audi Reno (−14.7 pts).</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81304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9943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6345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4984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886968" cy="136676"/>
          </a:xfrm>
          <a:prstGeom prst="rect">
            <a:avLst/>
          </a:prstGeom>
          <a:solidFill>
            <a:srgbClr val="2587C5"/>
          </a:solidFill>
          <a:ln/>
        </p:spPr>
      </p:sp>
      <p:sp>
        <p:nvSpPr>
          <p:cNvPr id="15" name="Text 13"/>
          <p:cNvSpPr txBox="1"/>
          <p:nvPr/>
        </p:nvSpPr>
        <p:spPr>
          <a:xfrm>
            <a:off x="381304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6" name="Text 14"/>
          <p:cNvSpPr txBox="1"/>
          <p:nvPr/>
        </p:nvSpPr>
        <p:spPr>
          <a:xfrm>
            <a:off x="459943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692398" cy="136676"/>
          </a:xfrm>
          <a:prstGeom prst="rect">
            <a:avLst/>
          </a:prstGeom>
          <a:solidFill>
            <a:srgbClr val="2587C5"/>
          </a:solidFill>
          <a:ln/>
        </p:spPr>
      </p:sp>
      <p:sp>
        <p:nvSpPr>
          <p:cNvPr id="21" name="Text 19"/>
          <p:cNvSpPr txBox="1"/>
          <p:nvPr/>
        </p:nvSpPr>
        <p:spPr>
          <a:xfrm>
            <a:off x="381304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2" name="Text 20"/>
          <p:cNvSpPr txBox="1"/>
          <p:nvPr/>
        </p:nvSpPr>
        <p:spPr>
          <a:xfrm>
            <a:off x="459943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253700"/>
            <a:ext cx="581679" cy="136676"/>
          </a:xfrm>
          <a:prstGeom prst="rect">
            <a:avLst/>
          </a:prstGeom>
          <a:solidFill>
            <a:srgbClr val="2587C5"/>
          </a:solidFill>
          <a:ln/>
        </p:spPr>
      </p:sp>
      <p:sp>
        <p:nvSpPr>
          <p:cNvPr id="27" name="Text 25"/>
          <p:cNvSpPr txBox="1"/>
          <p:nvPr/>
        </p:nvSpPr>
        <p:spPr>
          <a:xfrm>
            <a:off x="381304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8" name="Text 26"/>
          <p:cNvSpPr txBox="1"/>
          <p:nvPr/>
        </p:nvSpPr>
        <p:spPr>
          <a:xfrm>
            <a:off x="459943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58837" cy="136676"/>
          </a:xfrm>
          <a:prstGeom prst="rect">
            <a:avLst/>
          </a:prstGeom>
          <a:solidFill>
            <a:srgbClr val="2587C5"/>
          </a:solidFill>
          <a:ln/>
        </p:spPr>
      </p:sp>
      <p:sp>
        <p:nvSpPr>
          <p:cNvPr id="33" name="Text 31"/>
          <p:cNvSpPr txBox="1"/>
          <p:nvPr/>
        </p:nvSpPr>
        <p:spPr>
          <a:xfrm>
            <a:off x="381304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4" name="Text 32"/>
          <p:cNvSpPr txBox="1"/>
          <p:nvPr/>
        </p:nvSpPr>
        <p:spPr>
          <a:xfrm>
            <a:off x="459943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750703"/>
            <a:ext cx="510915" cy="136676"/>
          </a:xfrm>
          <a:prstGeom prst="rect">
            <a:avLst/>
          </a:prstGeom>
          <a:solidFill>
            <a:srgbClr val="2587C5"/>
          </a:solidFill>
          <a:ln/>
        </p:spPr>
      </p:sp>
      <p:sp>
        <p:nvSpPr>
          <p:cNvPr id="39" name="Text 37"/>
          <p:cNvSpPr txBox="1"/>
          <p:nvPr/>
        </p:nvSpPr>
        <p:spPr>
          <a:xfrm>
            <a:off x="381304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40" name="Text 38"/>
          <p:cNvSpPr txBox="1"/>
          <p:nvPr/>
        </p:nvSpPr>
        <p:spPr>
          <a:xfrm>
            <a:off x="459943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2999205"/>
            <a:ext cx="467039" cy="136676"/>
          </a:xfrm>
          <a:prstGeom prst="rect">
            <a:avLst/>
          </a:prstGeom>
          <a:solidFill>
            <a:srgbClr val="2587C5"/>
          </a:solidFill>
          <a:ln/>
        </p:spPr>
      </p:sp>
      <p:sp>
        <p:nvSpPr>
          <p:cNvPr id="45" name="Text 43"/>
          <p:cNvSpPr txBox="1"/>
          <p:nvPr/>
        </p:nvSpPr>
        <p:spPr>
          <a:xfrm>
            <a:off x="381304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6" name="Text 44"/>
          <p:cNvSpPr txBox="1"/>
          <p:nvPr/>
        </p:nvSpPr>
        <p:spPr>
          <a:xfrm>
            <a:off x="459943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247707"/>
            <a:ext cx="334545" cy="136676"/>
          </a:xfrm>
          <a:prstGeom prst="rect">
            <a:avLst/>
          </a:prstGeom>
          <a:solidFill>
            <a:srgbClr val="2587C5"/>
          </a:solidFill>
          <a:ln/>
        </p:spPr>
      </p:sp>
      <p:sp>
        <p:nvSpPr>
          <p:cNvPr id="51" name="Text 49"/>
          <p:cNvSpPr txBox="1"/>
          <p:nvPr/>
        </p:nvSpPr>
        <p:spPr>
          <a:xfrm>
            <a:off x="381304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459943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496208"/>
            <a:ext cx="333005" cy="136676"/>
          </a:xfrm>
          <a:prstGeom prst="rect">
            <a:avLst/>
          </a:prstGeom>
          <a:solidFill>
            <a:srgbClr val="2587C5"/>
          </a:solidFill>
          <a:ln/>
        </p:spPr>
      </p:sp>
      <p:sp>
        <p:nvSpPr>
          <p:cNvPr id="57" name="Text 55"/>
          <p:cNvSpPr txBox="1"/>
          <p:nvPr/>
        </p:nvSpPr>
        <p:spPr>
          <a:xfrm>
            <a:off x="381304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8" name="Text 56"/>
          <p:cNvSpPr txBox="1"/>
          <p:nvPr/>
        </p:nvSpPr>
        <p:spPr>
          <a:xfrm>
            <a:off x="459943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744710"/>
            <a:ext cx="312594" cy="136676"/>
          </a:xfrm>
          <a:prstGeom prst="rect">
            <a:avLst/>
          </a:prstGeom>
          <a:solidFill>
            <a:srgbClr val="2587C5"/>
          </a:solidFill>
          <a:ln/>
        </p:spPr>
      </p:sp>
      <p:sp>
        <p:nvSpPr>
          <p:cNvPr id="63" name="Text 61"/>
          <p:cNvSpPr txBox="1"/>
          <p:nvPr/>
        </p:nvSpPr>
        <p:spPr>
          <a:xfrm>
            <a:off x="381304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64" name="Text 62"/>
          <p:cNvSpPr txBox="1"/>
          <p:nvPr/>
        </p:nvSpPr>
        <p:spPr>
          <a:xfrm>
            <a:off x="459943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302272" cy="136676"/>
          </a:xfrm>
          <a:prstGeom prst="rect">
            <a:avLst/>
          </a:prstGeom>
          <a:solidFill>
            <a:srgbClr val="2587C5"/>
          </a:solidFill>
          <a:ln/>
        </p:spPr>
      </p:sp>
      <p:sp>
        <p:nvSpPr>
          <p:cNvPr id="69" name="Text 67"/>
          <p:cNvSpPr txBox="1"/>
          <p:nvPr/>
        </p:nvSpPr>
        <p:spPr>
          <a:xfrm>
            <a:off x="381304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70" name="Text 68"/>
          <p:cNvSpPr txBox="1"/>
          <p:nvPr/>
        </p:nvSpPr>
        <p:spPr>
          <a:xfrm>
            <a:off x="459943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241713"/>
            <a:ext cx="288162" cy="136676"/>
          </a:xfrm>
          <a:prstGeom prst="rect">
            <a:avLst/>
          </a:prstGeom>
          <a:solidFill>
            <a:srgbClr val="2587C5"/>
          </a:solidFill>
          <a:ln/>
        </p:spPr>
      </p:sp>
      <p:sp>
        <p:nvSpPr>
          <p:cNvPr id="75" name="Text 73"/>
          <p:cNvSpPr txBox="1"/>
          <p:nvPr/>
        </p:nvSpPr>
        <p:spPr>
          <a:xfrm>
            <a:off x="381304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76" name="Text 74"/>
          <p:cNvSpPr txBox="1"/>
          <p:nvPr/>
        </p:nvSpPr>
        <p:spPr>
          <a:xfrm>
            <a:off x="459943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490215"/>
            <a:ext cx="260095" cy="136676"/>
          </a:xfrm>
          <a:prstGeom prst="rect">
            <a:avLst/>
          </a:prstGeom>
          <a:solidFill>
            <a:srgbClr val="2587C5"/>
          </a:solidFill>
          <a:ln/>
        </p:spPr>
      </p:sp>
      <p:sp>
        <p:nvSpPr>
          <p:cNvPr id="81" name="Text 79"/>
          <p:cNvSpPr txBox="1"/>
          <p:nvPr/>
        </p:nvSpPr>
        <p:spPr>
          <a:xfrm>
            <a:off x="381304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82" name="Text 80"/>
          <p:cNvSpPr txBox="1"/>
          <p:nvPr/>
        </p:nvSpPr>
        <p:spPr>
          <a:xfrm>
            <a:off x="459943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257823" cy="136676"/>
          </a:xfrm>
          <a:prstGeom prst="rect">
            <a:avLst/>
          </a:prstGeom>
          <a:solidFill>
            <a:srgbClr val="2587C5"/>
          </a:solidFill>
          <a:ln/>
        </p:spPr>
      </p:sp>
      <p:sp>
        <p:nvSpPr>
          <p:cNvPr id="87" name="Text 85"/>
          <p:cNvSpPr txBox="1"/>
          <p:nvPr/>
        </p:nvSpPr>
        <p:spPr>
          <a:xfrm>
            <a:off x="381304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88" name="Text 86"/>
          <p:cNvSpPr txBox="1"/>
          <p:nvPr/>
        </p:nvSpPr>
        <p:spPr>
          <a:xfrm>
            <a:off x="459943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4987218"/>
            <a:ext cx="252824" cy="136676"/>
          </a:xfrm>
          <a:prstGeom prst="rect">
            <a:avLst/>
          </a:prstGeom>
          <a:solidFill>
            <a:srgbClr val="2587C5"/>
          </a:solidFill>
          <a:ln/>
        </p:spPr>
      </p:sp>
      <p:sp>
        <p:nvSpPr>
          <p:cNvPr id="93" name="Text 91"/>
          <p:cNvSpPr txBox="1"/>
          <p:nvPr/>
        </p:nvSpPr>
        <p:spPr>
          <a:xfrm>
            <a:off x="381304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94" name="Text 92"/>
          <p:cNvSpPr txBox="1"/>
          <p:nvPr/>
        </p:nvSpPr>
        <p:spPr>
          <a:xfrm>
            <a:off x="459943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235720"/>
            <a:ext cx="244879" cy="136676"/>
          </a:xfrm>
          <a:prstGeom prst="rect">
            <a:avLst/>
          </a:prstGeom>
          <a:solidFill>
            <a:srgbClr val="2587C5"/>
          </a:solidFill>
          <a:ln/>
        </p:spPr>
      </p:sp>
      <p:sp>
        <p:nvSpPr>
          <p:cNvPr id="99" name="Text 97"/>
          <p:cNvSpPr txBox="1"/>
          <p:nvPr/>
        </p:nvSpPr>
        <p:spPr>
          <a:xfrm>
            <a:off x="381304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100" name="Text 98"/>
          <p:cNvSpPr txBox="1"/>
          <p:nvPr/>
        </p:nvSpPr>
        <p:spPr>
          <a:xfrm>
            <a:off x="459943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484222"/>
            <a:ext cx="233938" cy="136676"/>
          </a:xfrm>
          <a:prstGeom prst="rect">
            <a:avLst/>
          </a:prstGeom>
          <a:solidFill>
            <a:srgbClr val="2587C5"/>
          </a:solidFill>
          <a:ln/>
        </p:spPr>
      </p:sp>
      <p:sp>
        <p:nvSpPr>
          <p:cNvPr id="105" name="Text 103"/>
          <p:cNvSpPr txBox="1"/>
          <p:nvPr/>
        </p:nvSpPr>
        <p:spPr>
          <a:xfrm>
            <a:off x="381304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106" name="Text 104"/>
          <p:cNvSpPr txBox="1"/>
          <p:nvPr/>
        </p:nvSpPr>
        <p:spPr>
          <a:xfrm>
            <a:off x="459943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5732723"/>
            <a:ext cx="221407" cy="136676"/>
          </a:xfrm>
          <a:prstGeom prst="rect">
            <a:avLst/>
          </a:prstGeom>
          <a:solidFill>
            <a:srgbClr val="2587C5"/>
          </a:solidFill>
          <a:ln/>
        </p:spPr>
      </p:sp>
      <p:sp>
        <p:nvSpPr>
          <p:cNvPr id="111" name="Text 109"/>
          <p:cNvSpPr txBox="1"/>
          <p:nvPr/>
        </p:nvSpPr>
        <p:spPr>
          <a:xfrm>
            <a:off x="381304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112" name="Text 110"/>
          <p:cNvSpPr txBox="1"/>
          <p:nvPr/>
        </p:nvSpPr>
        <p:spPr>
          <a:xfrm>
            <a:off x="459943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56697"/>
            <a:ext cx="209398" cy="136676"/>
          </a:xfrm>
          <a:prstGeom prst="rect">
            <a:avLst/>
          </a:prstGeom>
          <a:solidFill>
            <a:srgbClr val="2587C5"/>
          </a:solidFill>
          <a:ln/>
        </p:spPr>
      </p:sp>
      <p:sp>
        <p:nvSpPr>
          <p:cNvPr id="117" name="Text 115"/>
          <p:cNvSpPr txBox="1"/>
          <p:nvPr/>
        </p:nvSpPr>
        <p:spPr>
          <a:xfrm>
            <a:off x="936345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18" name="Text 116"/>
          <p:cNvSpPr txBox="1"/>
          <p:nvPr/>
        </p:nvSpPr>
        <p:spPr>
          <a:xfrm>
            <a:off x="1014984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05199"/>
            <a:ext cx="187702" cy="136676"/>
          </a:xfrm>
          <a:prstGeom prst="rect">
            <a:avLst/>
          </a:prstGeom>
          <a:solidFill>
            <a:srgbClr val="2587C5"/>
          </a:solidFill>
          <a:ln/>
        </p:spPr>
      </p:sp>
      <p:sp>
        <p:nvSpPr>
          <p:cNvPr id="123" name="Text 121"/>
          <p:cNvSpPr txBox="1"/>
          <p:nvPr/>
        </p:nvSpPr>
        <p:spPr>
          <a:xfrm>
            <a:off x="936345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24" name="Text 122"/>
          <p:cNvSpPr txBox="1"/>
          <p:nvPr/>
        </p:nvSpPr>
        <p:spPr>
          <a:xfrm>
            <a:off x="1014984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80536" cy="136676"/>
          </a:xfrm>
          <a:prstGeom prst="rect">
            <a:avLst/>
          </a:prstGeom>
          <a:solidFill>
            <a:srgbClr val="2587C5"/>
          </a:solidFill>
          <a:ln/>
        </p:spPr>
      </p:sp>
      <p:sp>
        <p:nvSpPr>
          <p:cNvPr id="129" name="Text 127"/>
          <p:cNvSpPr txBox="1"/>
          <p:nvPr/>
        </p:nvSpPr>
        <p:spPr>
          <a:xfrm>
            <a:off x="936345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30" name="Text 128"/>
          <p:cNvSpPr txBox="1"/>
          <p:nvPr/>
        </p:nvSpPr>
        <p:spPr>
          <a:xfrm>
            <a:off x="1014984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173314" cy="136676"/>
          </a:xfrm>
          <a:prstGeom prst="rect">
            <a:avLst/>
          </a:prstGeom>
          <a:solidFill>
            <a:srgbClr val="2587C5"/>
          </a:solidFill>
          <a:ln/>
        </p:spPr>
      </p:sp>
      <p:sp>
        <p:nvSpPr>
          <p:cNvPr id="135" name="Text 133"/>
          <p:cNvSpPr txBox="1"/>
          <p:nvPr/>
        </p:nvSpPr>
        <p:spPr>
          <a:xfrm>
            <a:off x="936345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36" name="Text 134"/>
          <p:cNvSpPr txBox="1"/>
          <p:nvPr/>
        </p:nvSpPr>
        <p:spPr>
          <a:xfrm>
            <a:off x="1014984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750703"/>
            <a:ext cx="169896" cy="136676"/>
          </a:xfrm>
          <a:prstGeom prst="rect">
            <a:avLst/>
          </a:prstGeom>
          <a:solidFill>
            <a:srgbClr val="2587C5"/>
          </a:solidFill>
          <a:ln/>
        </p:spPr>
      </p:sp>
      <p:sp>
        <p:nvSpPr>
          <p:cNvPr id="141" name="Text 139"/>
          <p:cNvSpPr txBox="1"/>
          <p:nvPr/>
        </p:nvSpPr>
        <p:spPr>
          <a:xfrm>
            <a:off x="936345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42" name="Text 140"/>
          <p:cNvSpPr txBox="1"/>
          <p:nvPr/>
        </p:nvSpPr>
        <p:spPr>
          <a:xfrm>
            <a:off x="1014984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2999205"/>
            <a:ext cx="165457" cy="136676"/>
          </a:xfrm>
          <a:prstGeom prst="rect">
            <a:avLst/>
          </a:prstGeom>
          <a:solidFill>
            <a:srgbClr val="2587C5"/>
          </a:solidFill>
          <a:ln/>
        </p:spPr>
      </p:sp>
      <p:sp>
        <p:nvSpPr>
          <p:cNvPr id="147" name="Text 145"/>
          <p:cNvSpPr txBox="1"/>
          <p:nvPr/>
        </p:nvSpPr>
        <p:spPr>
          <a:xfrm>
            <a:off x="936345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48" name="Text 146"/>
          <p:cNvSpPr txBox="1"/>
          <p:nvPr/>
        </p:nvSpPr>
        <p:spPr>
          <a:xfrm>
            <a:off x="1014984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4758" cy="136676"/>
          </a:xfrm>
          <a:prstGeom prst="rect">
            <a:avLst/>
          </a:prstGeom>
          <a:solidFill>
            <a:srgbClr val="2587C5"/>
          </a:solidFill>
          <a:ln/>
        </p:spPr>
      </p:sp>
      <p:sp>
        <p:nvSpPr>
          <p:cNvPr id="153" name="Text 151"/>
          <p:cNvSpPr txBox="1"/>
          <p:nvPr/>
        </p:nvSpPr>
        <p:spPr>
          <a:xfrm>
            <a:off x="936345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54" name="Text 152"/>
          <p:cNvSpPr txBox="1"/>
          <p:nvPr/>
        </p:nvSpPr>
        <p:spPr>
          <a:xfrm>
            <a:off x="1014984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1615" cy="136676"/>
          </a:xfrm>
          <a:prstGeom prst="rect">
            <a:avLst/>
          </a:prstGeom>
          <a:solidFill>
            <a:srgbClr val="2587C5"/>
          </a:solidFill>
          <a:ln/>
        </p:spPr>
      </p:sp>
      <p:sp>
        <p:nvSpPr>
          <p:cNvPr id="159" name="Text 157"/>
          <p:cNvSpPr txBox="1"/>
          <p:nvPr/>
        </p:nvSpPr>
        <p:spPr>
          <a:xfrm>
            <a:off x="936345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60" name="Text 158"/>
          <p:cNvSpPr txBox="1"/>
          <p:nvPr/>
        </p:nvSpPr>
        <p:spPr>
          <a:xfrm>
            <a:off x="1014984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148645" cy="136676"/>
          </a:xfrm>
          <a:prstGeom prst="rect">
            <a:avLst/>
          </a:prstGeom>
          <a:solidFill>
            <a:srgbClr val="2587C5"/>
          </a:solidFill>
          <a:ln/>
        </p:spPr>
      </p:sp>
      <p:sp>
        <p:nvSpPr>
          <p:cNvPr id="165" name="Text 163"/>
          <p:cNvSpPr txBox="1"/>
          <p:nvPr/>
        </p:nvSpPr>
        <p:spPr>
          <a:xfrm>
            <a:off x="936345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66" name="Text 164"/>
          <p:cNvSpPr txBox="1"/>
          <p:nvPr/>
        </p:nvSpPr>
        <p:spPr>
          <a:xfrm>
            <a:off x="1014984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3993212"/>
            <a:ext cx="148155" cy="136676"/>
          </a:xfrm>
          <a:prstGeom prst="rect">
            <a:avLst/>
          </a:prstGeom>
          <a:solidFill>
            <a:srgbClr val="2587C5"/>
          </a:solidFill>
          <a:ln/>
        </p:spPr>
      </p:sp>
      <p:sp>
        <p:nvSpPr>
          <p:cNvPr id="171" name="Text 169"/>
          <p:cNvSpPr txBox="1"/>
          <p:nvPr/>
        </p:nvSpPr>
        <p:spPr>
          <a:xfrm>
            <a:off x="936345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72" name="Text 170"/>
          <p:cNvSpPr txBox="1"/>
          <p:nvPr/>
        </p:nvSpPr>
        <p:spPr>
          <a:xfrm>
            <a:off x="1014984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241713"/>
            <a:ext cx="146434" cy="136676"/>
          </a:xfrm>
          <a:prstGeom prst="rect">
            <a:avLst/>
          </a:prstGeom>
          <a:solidFill>
            <a:srgbClr val="2587C5"/>
          </a:solidFill>
          <a:ln/>
        </p:spPr>
      </p:sp>
      <p:sp>
        <p:nvSpPr>
          <p:cNvPr id="177" name="Text 175"/>
          <p:cNvSpPr txBox="1"/>
          <p:nvPr/>
        </p:nvSpPr>
        <p:spPr>
          <a:xfrm>
            <a:off x="936345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78" name="Text 176"/>
          <p:cNvSpPr txBox="1"/>
          <p:nvPr/>
        </p:nvSpPr>
        <p:spPr>
          <a:xfrm>
            <a:off x="1014984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490215"/>
            <a:ext cx="134976" cy="136676"/>
          </a:xfrm>
          <a:prstGeom prst="rect">
            <a:avLst/>
          </a:prstGeom>
          <a:solidFill>
            <a:srgbClr val="2587C5"/>
          </a:solidFill>
          <a:ln/>
        </p:spPr>
      </p:sp>
      <p:sp>
        <p:nvSpPr>
          <p:cNvPr id="183" name="Text 181"/>
          <p:cNvSpPr txBox="1"/>
          <p:nvPr/>
        </p:nvSpPr>
        <p:spPr>
          <a:xfrm>
            <a:off x="936345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84" name="Text 182"/>
          <p:cNvSpPr txBox="1"/>
          <p:nvPr/>
        </p:nvSpPr>
        <p:spPr>
          <a:xfrm>
            <a:off x="1014984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4738717"/>
            <a:ext cx="133528" cy="136676"/>
          </a:xfrm>
          <a:prstGeom prst="rect">
            <a:avLst/>
          </a:prstGeom>
          <a:solidFill>
            <a:srgbClr val="2587C5"/>
          </a:solidFill>
          <a:ln/>
        </p:spPr>
      </p:sp>
      <p:sp>
        <p:nvSpPr>
          <p:cNvPr id="189" name="Text 187"/>
          <p:cNvSpPr txBox="1"/>
          <p:nvPr/>
        </p:nvSpPr>
        <p:spPr>
          <a:xfrm>
            <a:off x="936345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90" name="Text 188"/>
          <p:cNvSpPr txBox="1"/>
          <p:nvPr/>
        </p:nvSpPr>
        <p:spPr>
          <a:xfrm>
            <a:off x="1014984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4987218"/>
            <a:ext cx="108545" cy="136676"/>
          </a:xfrm>
          <a:prstGeom prst="rect">
            <a:avLst/>
          </a:prstGeom>
          <a:solidFill>
            <a:srgbClr val="2587C5"/>
          </a:solidFill>
          <a:ln/>
        </p:spPr>
      </p:sp>
      <p:sp>
        <p:nvSpPr>
          <p:cNvPr id="195" name="Text 193"/>
          <p:cNvSpPr txBox="1"/>
          <p:nvPr/>
        </p:nvSpPr>
        <p:spPr>
          <a:xfrm>
            <a:off x="936345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96" name="Text 194"/>
          <p:cNvSpPr txBox="1"/>
          <p:nvPr/>
        </p:nvSpPr>
        <p:spPr>
          <a:xfrm>
            <a:off x="1014984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235720"/>
            <a:ext cx="88865" cy="136676"/>
          </a:xfrm>
          <a:prstGeom prst="rect">
            <a:avLst/>
          </a:prstGeom>
          <a:solidFill>
            <a:srgbClr val="2587C5"/>
          </a:solidFill>
          <a:ln/>
        </p:spPr>
      </p:sp>
      <p:sp>
        <p:nvSpPr>
          <p:cNvPr id="201" name="Text 199"/>
          <p:cNvSpPr txBox="1"/>
          <p:nvPr/>
        </p:nvSpPr>
        <p:spPr>
          <a:xfrm>
            <a:off x="936345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202" name="Text 200"/>
          <p:cNvSpPr txBox="1"/>
          <p:nvPr/>
        </p:nvSpPr>
        <p:spPr>
          <a:xfrm>
            <a:off x="1014984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70911" cy="136676"/>
          </a:xfrm>
          <a:prstGeom prst="rect">
            <a:avLst/>
          </a:prstGeom>
          <a:solidFill>
            <a:srgbClr val="2587C5"/>
          </a:solidFill>
          <a:ln/>
        </p:spPr>
      </p:sp>
      <p:sp>
        <p:nvSpPr>
          <p:cNvPr id="207" name="Text 205"/>
          <p:cNvSpPr txBox="1"/>
          <p:nvPr/>
        </p:nvSpPr>
        <p:spPr>
          <a:xfrm>
            <a:off x="936345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208" name="Text 206"/>
          <p:cNvSpPr txBox="1"/>
          <p:nvPr/>
        </p:nvSpPr>
        <p:spPr>
          <a:xfrm>
            <a:off x="1014984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1376"/>
          </a:xfrm>
          <a:prstGeom prst="rect">
            <a:avLst/>
          </a:prstGeom>
          <a:solidFill>
            <a:srgbClr val="EDF4FA"/>
          </a:solidFill>
          <a:ln/>
        </p:spPr>
      </p:sp>
      <p:sp>
        <p:nvSpPr>
          <p:cNvPr id="212" name="Text 21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575158"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26014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631546"/>
            <a:ext cx="1234738"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916344"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60866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351233"/>
            <a:ext cx="539977"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45448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3831024"/>
            <a:ext cx="447286"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070920"/>
            <a:ext cx="326866"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310815"/>
            <a:ext cx="31122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305091"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01867"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030502"/>
            <a:ext cx="29832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270397"/>
            <a:ext cx="28684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510293"/>
            <a:ext cx="27451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5750188"/>
            <a:ext cx="268967"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1860"/>
            <a:ext cx="260447"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51755"/>
            <a:ext cx="257699"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391651"/>
            <a:ext cx="24957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631546"/>
            <a:ext cx="24256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871442"/>
            <a:ext cx="224764"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111337"/>
            <a:ext cx="209887"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351233"/>
            <a:ext cx="197473"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591128"/>
            <a:ext cx="17215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17082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070920"/>
            <a:ext cx="170412"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52644"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550711"/>
            <a:ext cx="1441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4790606"/>
            <a:ext cx="12012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030502"/>
            <a:ext cx="1132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6513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510293"/>
            <a:ext cx="40300"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Cadillac leads at $6.13M of the group's $47.07M; Honda Flagstaff is smallest at $135,184.</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 Cadillac added the most at +$2.03M (+49.5%); VW Henderson fell most at −$822K (−35.0%).</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Cadillac, Lexus and Audi Henderson what changed. Ask Acura, Honda Flagstaff and VW Henderson what got in the way. Ask Honda North, LR LV and Nissan what they started this year.</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2026-10-25T23:10:58Z</dcterms:created>
  <dcterms:modified xsi:type="dcterms:W3CDTF">2026-10-25T23:10:58Z</dcterms:modified>
</cp:coreProperties>
</file>