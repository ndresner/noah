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262" r:id="rId8"/>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263" r:id="rId9"/>
    <p:sldId id="366" r:id="rId117"/>
    <p:sldId id="367" r:id="rId118"/>
    <p:sldId id="368" r:id="rId119"/>
    <p:sldId id="369" r:id="rId120"/>
    <p:sldId id="370" r:id="rId121"/>
    <p:sldId id="371" r:id="rId122"/>
    <p:sldId id="372" r:id="rId123"/>
    <p:sldId id="373" r:id="rId124"/>
    <p:sldId id="374" r:id="rId125"/>
    <p:sldId id="375" r:id="rId126"/>
    <p:sldId id="264" r:id="rId10"/>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265" r:id="rId11"/>
    <p:sldId id="406" r:id="rId157"/>
    <p:sldId id="407" r:id="rId158"/>
    <p:sldId id="408" r:id="rId159"/>
    <p:sldId id="409" r:id="rId160"/>
    <p:sldId id="410" r:id="rId161"/>
    <p:sldId id="411" r:id="rId162"/>
    <p:sldId id="266" r:id="rId12"/>
    <p:sldId id="412" r:id="rId163"/>
    <p:sldId id="413" r:id="rId164"/>
    <p:sldId id="414" r:id="rId165"/>
    <p:sldId id="415" r:id="rId166"/>
    <p:sldId id="416" r:id="rId167"/>
    <p:sldId id="417" r:id="rId168"/>
    <p:sldId id="418" r:id="rId169"/>
    <p:sldId id="419" r:id="rId170"/>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834489989177489"/>
          <c:min val="0.04702989718614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0.038461538461538464</c:v>
                </c:pt>
                <c:pt idx="1">
                  <c:v>0.09066666666666667</c:v>
                </c:pt>
                <c:pt idx="2">
                  <c:v>0.09955752212389381</c:v>
                </c:pt>
                <c:pt idx="3">
                  <c:v>0.11637080867850098</c:v>
                </c:pt>
                <c:pt idx="4">
                  <c:v>0.11231101511879049</c:v>
                </c:pt>
                <c:pt idx="5">
                  <c:v>0.1724137931034483</c:v>
                </c:pt>
                <c:pt idx="6">
                  <c:v>0.1257606490872211</c:v>
                </c:pt>
                <c:pt idx="7">
                  <c:v>0.10043668122270742</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250663129973475"/>
          <c:min val="0.0183687002652519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0.20245398773006135</c:v>
                </c:pt>
                <c:pt idx="1">
                  <c:v>0.1901840490797546</c:v>
                </c:pt>
                <c:pt idx="2">
                  <c:v>0.2981366459627329</c:v>
                </c:pt>
                <c:pt idx="3">
                  <c:v>0.2</c:v>
                </c:pt>
                <c:pt idx="4">
                  <c:v>0.31666666666666665</c:v>
                </c:pt>
                <c:pt idx="5">
                  <c:v>0.23391812865497075</c:v>
                </c:pt>
                <c:pt idx="6">
                  <c:v>0.22424242424242424</c:v>
                </c:pt>
                <c:pt idx="7">
                  <c:v>0.24444444444444444</c:v>
                </c:pt>
                <c:pt idx="8">
                  <c:v>0.29518072289156627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563905930470345"/>
          <c:min val="0.17121165644171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0.1434010152284264</c:v>
                </c:pt>
                <c:pt idx="1">
                  <c:v>0.13473256601218686</c:v>
                </c:pt>
                <c:pt idx="2">
                  <c:v>0.14347026364193746</c:v>
                </c:pt>
                <c:pt idx="3">
                  <c:v>0.17080745341614906</c:v>
                </c:pt>
                <c:pt idx="4">
                  <c:v>0.19838987924094306</c:v>
                </c:pt>
                <c:pt idx="5">
                  <c:v>0.17491369390103567</c:v>
                </c:pt>
                <c:pt idx="6">
                  <c:v>0.14625652930934416</c:v>
                </c:pt>
                <c:pt idx="7">
                  <c:v>0.17226666666666668</c:v>
                </c:pt>
                <c:pt idx="8">
                  <c:v>0.16557474687313878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79384762252565"/>
          <c:min val="0.125183969027873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012908124527"/>
          <c:min val="0.1014409010377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246531702079564"/>
          <c:min val="-0.032754930492766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0.055128784455490284</c:v>
                </c:pt>
                <c:pt idx="1">
                  <c:v>0.05513784461152882</c:v>
                </c:pt>
                <c:pt idx="2">
                  <c:v>0.06488888888888888</c:v>
                </c:pt>
                <c:pt idx="3">
                  <c:v>0.07881548974943052</c:v>
                </c:pt>
                <c:pt idx="4">
                  <c:v>0.08050847457627118</c:v>
                </c:pt>
                <c:pt idx="5">
                  <c:v>0.09049773755656108</c:v>
                </c:pt>
                <c:pt idx="6">
                  <c:v>0.07923860115095174</c:v>
                </c:pt>
                <c:pt idx="7">
                  <c:v>0.08010801080108011</c:v>
                </c:pt>
                <c:pt idx="8">
                  <c:v>0.07212475633528265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58030805217217"/>
          <c:min val="0.049823441490329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316115519631847"/>
          <c:min val="0.0070488804979497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548155298155298"/>
          <c:min val="0.082130655500220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0.04233870967741935</c:v>
                </c:pt>
                <c:pt idx="1">
                  <c:v>0.057926829268292686</c:v>
                </c:pt>
                <c:pt idx="2">
                  <c:v>0.06262359920896507</c:v>
                </c:pt>
                <c:pt idx="3">
                  <c:v>0.06316489361702128</c:v>
                </c:pt>
                <c:pt idx="4">
                  <c:v>0.08424110384894698</c:v>
                </c:pt>
                <c:pt idx="5">
                  <c:v>0.07068741893644617</c:v>
                </c:pt>
                <c:pt idx="6">
                  <c:v>0.06300185299567634</c:v>
                </c:pt>
                <c:pt idx="7">
                  <c:v>0.05081555834378921</c:v>
                </c:pt>
                <c:pt idx="8">
                  <c:v>0.06115810019518542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052646297467612"/>
          <c:min val="0.0360533505516902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610940695296522"/>
          <c:min val="0.0853834355828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0.04180064308681672</c:v>
                </c:pt>
                <c:pt idx="1">
                  <c:v>0.04892966360856269</c:v>
                </c:pt>
                <c:pt idx="2">
                  <c:v>0.04815864022662889</c:v>
                </c:pt>
                <c:pt idx="3">
                  <c:v>0.0872093023255814</c:v>
                </c:pt>
                <c:pt idx="4">
                  <c:v>0.06168831168831169</c:v>
                </c:pt>
                <c:pt idx="5">
                  <c:v>0.07323943661971831</c:v>
                </c:pt>
                <c:pt idx="6">
                  <c:v>0.07297297297297298</c:v>
                </c:pt>
                <c:pt idx="7">
                  <c:v>0.05759162303664921</c:v>
                </c:pt>
                <c:pt idx="8">
                  <c:v>0.05322128851540616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0206012113961"/>
          <c:min val="0.034989344201002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0.03021978021978022</c:v>
                </c:pt>
                <c:pt idx="1">
                  <c:v>0.021333333333333333</c:v>
                </c:pt>
                <c:pt idx="2">
                  <c:v>0.022123893805309734</c:v>
                </c:pt>
                <c:pt idx="3">
                  <c:v>0.01775147928994083</c:v>
                </c:pt>
                <c:pt idx="4">
                  <c:v>0.032397408207343416</c:v>
                </c:pt>
                <c:pt idx="5">
                  <c:v>0.04259634888438134</c:v>
                </c:pt>
                <c:pt idx="6">
                  <c:v>0.05070993914807302</c:v>
                </c:pt>
                <c:pt idx="7">
                  <c:v>0.028384279475982533</c:v>
                </c:pt>
                <c:pt idx="8">
                  <c:v>0.03764705882352941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65370812679285"/>
          <c:min val="0.0128077103112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0.06329113924050633</c:v>
                </c:pt>
                <c:pt idx="1">
                  <c:v>0.07948717948717948</c:v>
                </c:pt>
                <c:pt idx="2">
                  <c:v>0.0855397148676171</c:v>
                </c:pt>
                <c:pt idx="3">
                  <c:v>0.08103130755064457</c:v>
                </c:pt>
                <c:pt idx="4">
                  <c:v>0.07216494845360824</c:v>
                </c:pt>
                <c:pt idx="5">
                  <c:v>0.09584086799276673</c:v>
                </c:pt>
                <c:pt idx="6">
                  <c:v>0.10815602836879433</c:v>
                </c:pt>
                <c:pt idx="7">
                  <c:v>0.08665511265164645</c:v>
                </c:pt>
                <c:pt idx="8">
                  <c:v>0.07381370826010544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8576173803752"/>
          <c:min val="0.05656140587126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0.04338002711251695</c:v>
                </c:pt>
                <c:pt idx="1">
                  <c:v>0.04661654135338346</c:v>
                </c:pt>
                <c:pt idx="2">
                  <c:v>0.05511111111111111</c:v>
                </c:pt>
                <c:pt idx="3">
                  <c:v>0.06651480637813212</c:v>
                </c:pt>
                <c:pt idx="4">
                  <c:v>0.06167608286252354</c:v>
                </c:pt>
                <c:pt idx="5">
                  <c:v>0.0665158371040724</c:v>
                </c:pt>
                <c:pt idx="6">
                  <c:v>0.05312084993359894</c:v>
                </c:pt>
                <c:pt idx="7">
                  <c:v>0.05535553555355536</c:v>
                </c:pt>
                <c:pt idx="8">
                  <c:v>0.07407407407407407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867818111830764"/>
          <c:min val="0.038775920068283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88458600223305"/>
          <c:min val="0.037759299524005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07854363119293"/>
          <c:min val="0.04709717856608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0.0026666666666666666</c:v>
                </c:pt>
                <c:pt idx="2">
                  <c:v>0.00663716814159292</c:v>
                </c:pt>
                <c:pt idx="3">
                  <c:v>0</c:v>
                </c:pt>
                <c:pt idx="4">
                  <c:v>0</c:v>
                </c:pt>
                <c:pt idx="5">
                  <c:v>0.010141987829614604</c:v>
                </c:pt>
                <c:pt idx="6">
                  <c:v>0.014198782961460446</c:v>
                </c:pt>
                <c:pt idx="7">
                  <c:v>0.008733624454148471</c:v>
                </c:pt>
                <c:pt idx="8">
                  <c:v>0.021176470588235293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4352941176470588"/>
          <c:min val="-0.003176470588235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0.07142857142857142</c:v>
                </c:pt>
                <c:pt idx="1">
                  <c:v>0.09828009828009827</c:v>
                </c:pt>
                <c:pt idx="2">
                  <c:v>0.07009345794392523</c:v>
                </c:pt>
                <c:pt idx="3">
                  <c:v>0.11187214611872145</c:v>
                </c:pt>
                <c:pt idx="4">
                  <c:v>0.09692671394799054</c:v>
                </c:pt>
                <c:pt idx="5">
                  <c:v>0.08695652173913043</c:v>
                </c:pt>
                <c:pt idx="6">
                  <c:v>0.07128309572301425</c:v>
                </c:pt>
                <c:pt idx="7">
                  <c:v>0.10633484162895927</c:v>
                </c:pt>
                <c:pt idx="8">
                  <c:v>0.0935412026726058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813894934494089"/>
          <c:min val="0.06382665471770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0.022508038585209004</c:v>
                </c:pt>
                <c:pt idx="1">
                  <c:v>0.039755351681957186</c:v>
                </c:pt>
                <c:pt idx="2">
                  <c:v>0.028328611898016998</c:v>
                </c:pt>
                <c:pt idx="3">
                  <c:v>0.05232558139534884</c:v>
                </c:pt>
                <c:pt idx="4">
                  <c:v>0.03571428571428571</c:v>
                </c:pt>
                <c:pt idx="5">
                  <c:v>0.030985915492957747</c:v>
                </c:pt>
                <c:pt idx="6">
                  <c:v>0.05675675675675676</c:v>
                </c:pt>
                <c:pt idx="7">
                  <c:v>0.020942408376963352</c:v>
                </c:pt>
                <c:pt idx="8">
                  <c:v>0.0392156862745098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128909013725774"/>
          <c:min val="0.015570256119994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review with Tommy. Alternate designs still to choose between: Door Rate / ELR % of Door Rate options, and Your Best Techs Prove It options A-C. Delete whichever we don't pick.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Example: Roundtable slide 21 table: same $25 tech rate, very different ELR by job; the seven jobs total 8.1 hours and $1,056 = $130/hr.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E - door rate by store with premium rates, split by labor grid. Store door rate sheet (Oct 15 2026); averages weighted by Jul-Sep CP sold hours. Bars start at $100.</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and before Warranty RO Count.</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paid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paid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Proficiency = sold hours / paid hours, from store totals. Green at or above 85%, red below. Bars start at 40%.ACURA: 67.4% (11,339 sold / 16,815 paid, 11 techs: 0 above, 0 on, 11 under)</a:t>
            </a:r>
          </a:p>
          <a:p>
            <a:r>
              <a:t>AUDI HENDERSON: 91.0% (33,481 sold / 36,766 paid, 23 techs: 6 above, 4 on, 13 under)</a:t>
            </a:r>
          </a:p>
          <a:p>
            <a:r>
              <a:t>AUDI RENO: 117.1% (15,985 sold / 13,640 paid, 10 techs: 6 above, 0 on, 4 under)</a:t>
            </a:r>
          </a:p>
          <a:p>
            <a:r>
              <a:t>CADILLAC: 87.7% (42,358 sold / 48,277 paid, 29 techs: 8 above, 5 on, 16 under)</a:t>
            </a:r>
          </a:p>
          <a:p>
            <a:r>
              <a:t>CDJR POST FALLS: 71.2% (14,538 sold / 20,418 paid, 14 techs: 4 above, 1 on, 9 under)</a:t>
            </a:r>
          </a:p>
          <a:p>
            <a:r>
              <a:t>CHEVY GMC BULLHEAD: 68.4% (19,904 sold / 29,093 paid, 20 techs: 2 above, 2 on, 16 under)</a:t>
            </a:r>
          </a:p>
          <a:p>
            <a:r>
              <a:t>CHEVY LV: 103.4% (81,675 sold / 78,983 paid, 51 techs: 21 above, 14 on, 16 under)</a:t>
            </a:r>
          </a:p>
          <a:p>
            <a:r>
              <a:t>GMC PRESCOTT: 73.6% (10,985 sold / 14,924 paid, 12 techs: 1 above, 4 on, 7 under)</a:t>
            </a:r>
          </a:p>
          <a:p>
            <a:r>
              <a:t>HONDA FLAGSTAFF: 78.5% (7,653 sold / 9,743 paid, 6 techs: 2 above, 0 on, 4 under)</a:t>
            </a:r>
          </a:p>
          <a:p>
            <a:r>
              <a:t>HONDA HENDERSON: 118.5% (61,099 sold / 51,555 paid, 28 techs: 16 above, 7 on, 5 under)</a:t>
            </a:r>
          </a:p>
          <a:p>
            <a:r>
              <a:t>HONDA NORTH: 109.3% (39,419 sold / 36,062 paid, 22 techs: 10 above, 8 on, 4 under)</a:t>
            </a:r>
          </a:p>
          <a:p>
            <a:r>
              <a:t>HONDA SPOKANE: 109.0% (17,638 sold / 16,169 paid, 15 techs: 10 above, 3 on, 2 under)</a:t>
            </a:r>
          </a:p>
          <a:p>
            <a:r>
              <a:t>HYUNDAI PRESCOTT: 78.8% (9,116 sold / 11,564 paid, 9 techs: 1 above, 2 on, 6 under)</a:t>
            </a:r>
          </a:p>
          <a:p>
            <a:r>
              <a:t>HYUNDAI ST GEORGE: 69.0% (9,329 sold / 13,515 paid, 11 techs: 3 above, 0 on, 8 under)</a:t>
            </a:r>
          </a:p>
          <a:p>
            <a:r>
              <a:t>KIA LV: 76.8% (20,682 sold / 26,909 paid, 20 techs: 2 above, 2 on, 16 under)</a:t>
            </a:r>
          </a:p>
          <a:p>
            <a:r>
              <a:t>KIA ST GEORGE: 67.5% (11,981 sold / 17,746 paid, 12 techs: 1 above, 2 on, 9 under)</a:t>
            </a:r>
          </a:p>
          <a:p>
            <a:r>
              <a:t>LEXUS: 104.7% (16,940 sold / 16,175 paid, 11 techs: 4 above, 1 on, 6 under)</a:t>
            </a:r>
          </a:p>
          <a:p>
            <a:r>
              <a:t>LINCOLN: 94.9% (15,983 sold / 16,836 paid, 11 techs: 4 above, 2 on, 5 under)</a:t>
            </a:r>
          </a:p>
          <a:p>
            <a:r>
              <a:t>LR HENDERSON: 106.0% (11,497 sold / 10,838 paid, 7 techs: 3 above, 1 on, 3 under)</a:t>
            </a:r>
          </a:p>
          <a:p>
            <a:r>
              <a:t>LR LV: 91.2% (20,301 sold / 22,258 paid, 16 techs: 5 above, 3 on, 8 under)</a:t>
            </a:r>
          </a:p>
          <a:p>
            <a:r>
              <a:t>LR RENO: 81.4% (7,559 sold / 9,283 paid, 6 techs: 1 above, 3 on, 2 under)</a:t>
            </a:r>
          </a:p>
          <a:p>
            <a:r>
              <a:t>MAZDA: 101.6% (14,560 sold / 14,322 paid, 11 techs: 5 above, 2 on, 4 under)</a:t>
            </a:r>
          </a:p>
          <a:p>
            <a:r>
              <a:t>NISSAN: 91.1% (24,792 sold / 27,197 paid, 17 techs: 3 above, 6 on, 8 under)</a:t>
            </a:r>
          </a:p>
          <a:p>
            <a:r>
              <a:t>SUBARU LV: 96.9% (41,501 sold / 42,797 paid, 27 techs: 9 above, 7 on, 11 under)</a:t>
            </a:r>
          </a:p>
          <a:p>
            <a:r>
              <a:t>SUBARU PRESCOTT: 98.4% (17,475 sold / 17,747 paid, 12 techs: 6 above, 0 on, 6 under)</a:t>
            </a:r>
          </a:p>
          <a:p>
            <a:r>
              <a:t>SUBARU ST GEORGE: 109.7% (20,954 sold / 19,086 paid, 12 techs: 9 above, 0 on, 3 under)</a:t>
            </a:r>
          </a:p>
          <a:p>
            <a:r>
              <a:t>TOYOTA FLAGSTAFF: 102.4% (31,978 sold / 31,216 paid, 18 techs: 7 above, 5 on, 6 under)</a:t>
            </a:r>
          </a:p>
          <a:p>
            <a:r>
              <a:t>TOYOTA HENDERSON: 104.3% (104,465 sold / 100,080 paid, 59 techs: 22 above, 17 on, 20 under)</a:t>
            </a:r>
          </a:p>
          <a:p>
            <a:r>
              <a:t>TOYOTA PRESCOTT: 83.6% (29,341 sold / 35,081 paid, 22 techs: 6 above, 5 on, 11 under)</a:t>
            </a:r>
          </a:p>
          <a:p>
            <a:r>
              <a:t>TOYOTA SPOKANE: 108.0% (35,947 sold / 33,274 paid, 28 techs: 15 above, 9 on, 4 under)</a:t>
            </a:r>
          </a:p>
          <a:p>
            <a:r>
              <a:t>VOLVO: 72.3% (10,479 sold / 14,475 paid, 9 techs: 0 above, 1 on, 8 under)</a:t>
            </a:r>
          </a:p>
          <a:p>
            <a:r>
              <a:t>VW HENDERSON: 92.2% (25,394 sold / 27,527 paid, 19 techs: 6 above, 7 on, 6 under)</a:t>
            </a:r>
          </a:p>
          <a:p>
            <a:r>
              <a:t>VW ST GEORGE: 70.0% (5,375 sold / 7,674 paid,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paid, 11 techs: 0 above, 0 on, 11 under)</a:t>
            </a:r>
          </a:p>
          <a:p>
            <a:r>
              <a:t>AUDI HENDERSON: 91.0% (33,481 sold / 36,766 paid, 23 techs: 6 above, 4 on, 13 under)</a:t>
            </a:r>
          </a:p>
          <a:p>
            <a:r>
              <a:t>AUDI RENO: 117.1% (15,985 sold / 13,640 paid, 10 techs: 6 above, 0 on, 4 under)</a:t>
            </a:r>
          </a:p>
          <a:p>
            <a:r>
              <a:t>CADILLAC: 87.7% (42,358 sold / 48,277 paid, 29 techs: 8 above, 5 on, 16 under)</a:t>
            </a:r>
          </a:p>
          <a:p>
            <a:r>
              <a:t>CDJR POST FALLS: 71.2% (14,538 sold / 20,418 paid, 14 techs: 4 above, 1 on, 9 under)</a:t>
            </a:r>
          </a:p>
          <a:p>
            <a:r>
              <a:t>CHEVY GMC BULLHEAD: 68.4% (19,904 sold / 29,093 paid, 20 techs: 2 above, 2 on, 16 under)</a:t>
            </a:r>
          </a:p>
          <a:p>
            <a:r>
              <a:t>CHEVY LV: 103.4% (81,675 sold / 78,983 paid, 51 techs: 21 above, 14 on, 16 under)</a:t>
            </a:r>
          </a:p>
          <a:p>
            <a:r>
              <a:t>GMC PRESCOTT: 73.6% (10,985 sold / 14,924 paid, 12 techs: 1 above, 4 on, 7 under)</a:t>
            </a:r>
          </a:p>
          <a:p>
            <a:r>
              <a:t>HONDA FLAGSTAFF: 78.5% (7,653 sold / 9,743 paid, 6 techs: 2 above, 0 on, 4 under)</a:t>
            </a:r>
          </a:p>
          <a:p>
            <a:r>
              <a:t>HONDA HENDERSON: 118.5% (61,099 sold / 51,555 paid, 28 techs: 16 above, 7 on, 5 under)</a:t>
            </a:r>
          </a:p>
          <a:p>
            <a:r>
              <a:t>HONDA NORTH: 109.3% (39,419 sold / 36,062 paid, 22 techs: 10 above, 8 on, 4 under)</a:t>
            </a:r>
          </a:p>
          <a:p>
            <a:r>
              <a:t>HONDA SPOKANE: 109.0% (17,638 sold / 16,169 paid, 15 techs: 10 above, 3 on, 2 under)</a:t>
            </a:r>
          </a:p>
          <a:p>
            <a:r>
              <a:t>HYUNDAI PRESCOTT: 78.8% (9,116 sold / 11,564 paid, 9 techs: 1 above, 2 on, 6 under)</a:t>
            </a:r>
          </a:p>
          <a:p>
            <a:r>
              <a:t>HYUNDAI ST GEORGE: 69.0% (9,329 sold / 13,515 paid, 11 techs: 3 above, 0 on, 8 under)</a:t>
            </a:r>
          </a:p>
          <a:p>
            <a:r>
              <a:t>KIA LV: 76.8% (20,682 sold / 26,909 paid, 20 techs: 2 above, 2 on, 16 under)</a:t>
            </a:r>
          </a:p>
          <a:p>
            <a:r>
              <a:t>KIA ST GEORGE: 67.5% (11,981 sold / 17,746 paid, 12 techs: 1 above, 2 on, 9 under)</a:t>
            </a:r>
          </a:p>
          <a:p>
            <a:r>
              <a:t>LEXUS: 104.7% (16,940 sold / 16,175 paid, 11 techs: 4 above, 1 on, 6 under)</a:t>
            </a:r>
          </a:p>
          <a:p>
            <a:r>
              <a:t>LINCOLN: 94.9% (15,983 sold / 16,836 paid, 11 techs: 4 above, 2 on, 5 under)</a:t>
            </a:r>
          </a:p>
          <a:p>
            <a:r>
              <a:t>LR HENDERSON: 106.0% (11,497 sold / 10,838 paid, 7 techs: 3 above, 1 on, 3 under)</a:t>
            </a:r>
          </a:p>
          <a:p>
            <a:r>
              <a:t>LR LV: 91.2% (20,301 sold / 22,258 paid, 16 techs: 5 above, 3 on, 8 under)</a:t>
            </a:r>
          </a:p>
          <a:p>
            <a:r>
              <a:t>LR RENO: 81.4% (7,559 sold / 9,283 paid, 6 techs: 1 above, 3 on, 2 under)</a:t>
            </a:r>
          </a:p>
          <a:p>
            <a:r>
              <a:t>MAZDA: 101.6% (14,560 sold / 14,322 paid, 11 techs: 5 above, 2 on, 4 under)</a:t>
            </a:r>
          </a:p>
          <a:p>
            <a:r>
              <a:t>NISSAN: 91.1% (24,792 sold / 27,197 paid, 17 techs: 3 above, 6 on, 8 under)</a:t>
            </a:r>
          </a:p>
          <a:p>
            <a:r>
              <a:t>SUBARU LV: 96.9% (41,501 sold / 42,797 paid, 27 techs: 9 above, 7 on, 11 under)</a:t>
            </a:r>
          </a:p>
          <a:p>
            <a:r>
              <a:t>SUBARU PRESCOTT: 98.4% (17,475 sold / 17,747 paid, 12 techs: 6 above, 0 on, 6 under)</a:t>
            </a:r>
          </a:p>
          <a:p>
            <a:r>
              <a:t>SUBARU ST GEORGE: 109.7% (20,954 sold / 19,086 paid, 12 techs: 9 above, 0 on, 3 under)</a:t>
            </a:r>
          </a:p>
          <a:p>
            <a:r>
              <a:t>TOYOTA FLAGSTAFF: 102.4% (31,978 sold / 31,216 paid, 18 techs: 7 above, 5 on, 6 under)</a:t>
            </a:r>
          </a:p>
          <a:p>
            <a:r>
              <a:t>TOYOTA HENDERSON: 104.3% (104,465 sold / 100,080 paid, 59 techs: 22 above, 17 on, 20 under)</a:t>
            </a:r>
          </a:p>
          <a:p>
            <a:r>
              <a:t>TOYOTA PRESCOTT: 83.6% (29,341 sold / 35,081 paid, 22 techs: 6 above, 5 on, 11 under)</a:t>
            </a:r>
          </a:p>
          <a:p>
            <a:r>
              <a:t>TOYOTA SPOKANE: 108.0% (35,947 sold / 33,274 paid, 28 techs: 15 above, 9 on, 4 under)</a:t>
            </a:r>
          </a:p>
          <a:p>
            <a:r>
              <a:t>VOLVO: 72.3% (10,479 sold / 14,475 paid, 9 techs: 0 above, 1 on, 8 under)</a:t>
            </a:r>
          </a:p>
          <a:p>
            <a:r>
              <a:t>VW HENDERSON: 92.2% (25,394 sold / 27,527 paid, 19 techs: 6 above, 7 on, 6 under)</a:t>
            </a:r>
          </a:p>
          <a:p>
            <a:r>
              <a:t>VW ST GEORGE: 70.0% (5,375 sold / 7,674 paid,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paid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paid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paid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paid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KIA ST GEORGE $657K → $862K; LEXUS $1.63M → $2.10M. Bottom SUBARU LV $5.12M → $5.04M; TOYOTA HENDERSON $13.04M → $12.85M; CHEVY LV $7.40M → $7.08M; AUDI RENO $3.38M → $2.90M; VW ST GEORGE $702K → $560K.</a:t>
            </a:r>
          </a:p>
          <a:p>
            <a:r>
              <a:t>CP RO Count: top KIA LV 7,156 → 8,133; HYUNDAI PRESCOTT 1,784 → 2,010; GMC PRESCOTT 2,810 → 3,107; SUBARU ST GEORGE 5,042 → 5,553; LR RENO 1,303 → 1,421. Bottom ACURA 3,910 → 3,671; HONDA SPOKANE 9,929 → 8,930; AUDI RENO 4,379 → 3,917; HYUNDAI ST GEORGE 3,784 → 3,349; VW ST GEORGE 2,251 → 1,919.</a:t>
            </a:r>
          </a:p>
          <a:p>
            <a:r>
              <a:t>CP Hours per RO: top HYUNDAI ST GEORGE 1.03 → 1.43; SUBARU ST GEORGE 1.75 → 2.30; KIA ST GEORGE 0.99 → 1.29; SUBARU PRESCOTT 1.34 → 1.60; KIA LV 1.32 → 1.57. Bottom CHEVY LV 2.37 → 2.30; AUDI RENO 2.88 → 2.73; VOLVO 2.58 → 2.28; VW ST GEORGE 1.95 → 1.71; LR RENO 4.04 → 3.48.</a:t>
            </a:r>
          </a:p>
          <a:p>
            <a:r>
              <a:t>CP ELR: top HONDA SPOKANE $117.05 → $143.89; VOLVO $181.59 → $222.12; LINCOLN $139.55 → $167.64; NISSAN $153.87 → $175.90; SUBARU PRESCOTT $122.25 → $139.13. Bottom AUDI HENDERSON $278.97 → $266.32; HYUNDAI PRESCOTT $136.71 → $130.46; ACURA $221.78 → $210.50; SUBARU ST GEORGE $148.84 → $138.48; KIA LV $184.36 → $149.23.</a:t>
            </a:r>
          </a:p>
          <a:p>
            <a:r>
              <a:t>CP Parts $ per RO: top LINCOLN $281 → $363; LEXUS $193 → $240; HYUNDAI ST GEORGE $181 → $219; HONDA FLAGSTAFF $179 → $212; SUBARU ST GEORGE $238 → $280. Bottom CADILLAC $358 → $350; VW ST GEORGE $266 → $259; LR RENO $876 → $814; AUDI RENO $596 → $542; KIA LV $227 → $193.</a:t>
            </a:r>
          </a:p>
          <a:p>
            <a:r>
              <a:t>CP Parts GP %: top ACURA 38.7% → 44.9%; NISSAN 38.2% → 42.7%; SUBARU PRESCOTT 31.0% → 34.8%; LINCOLN 33.7% → 37.0%; LR RENO 41.3% → 44.6%. Bottom HONDA HENDERSON 42.2% → 42.1%; TOYOTA FLAGSTAFF 37.4% → 36.9%;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VW ST GEORGE $54K → $66K; HYUNDAI PRESCOTT $49K → $60K. Bottom TOYOTA HENDERSON $1.38M → $1.42M; LINCOLN $140K → $139K; SUBARU ST GEORGE $220K → $218K; HONDA HENDERSON $841K → $823K; CADILLAC $317K → $283K.</a:t>
            </a:r>
          </a:p>
          <a:p>
            <a:r>
              <a:t>CP ROs per Month: top LEXUS 425 → 570; CDJR POST FALLS 543 → 667; LR LV 350 → 415; MAZDA 578 → 669; HONDA FLAGSTAFF 397 → 459. Bottom SUBARU PRESCOTT 559 → 565; AUDI RENO 428 → 429; VW ST GEORGE 207 → 203; HYUNDAI ST GEORGE 377 → 365; CADILLAC 609 → 582.</a:t>
            </a:r>
          </a:p>
          <a:p>
            <a:r>
              <a:t>CP Hours per RO: top MAZDA 1.35 → 1.65; HYUNDAI PRESCOTT 1.56 → 1.76; HYUNDAI ST GEORGE 1.37 → 1.54; KIA ST GEORGE 1.23 → 1.38; CHEVY GMC BULLHEAD 1.65 → 1.79. Bottom LEXUS 2.17 → 2.01; SUBARU ST GEORGE 2.43 → 2.20; HONDA HENDERSON 2.06 → 1.86; VW HENDERSON 2.66 → 2.37; CADILLAC 2.85 → 2.45.</a:t>
            </a:r>
          </a:p>
          <a:p>
            <a:r>
              <a:t>CP ELR: top VW ST GEORGE $128.27 → $141.89; AUDI RENO $227.34 → $244.12; HONDA SPOKANE $139.40 → $147.93; KIA LV $142.56 → $150.72; KIA ST GEORGE $139.09 → $146.04. Bottom LR LV $238.78 → $233.88; HONDA FLAGSTAFF $164.77 → $159.69; SUBARU ST GEORGE $141.07 → $136.71; LEXUS $196.84 → $187.42; ACURA $232.02 → $199.04.</a:t>
            </a:r>
          </a:p>
          <a:p>
            <a:r>
              <a:t>CP Parts $ per RO: top VW ST GEORGE $224 → $298; LR RENO $692 → $877; ACURA $229 → $282; HONDA FLAGSTAFF $200 → $234; HYUNDAI ST GEORGE $204 → $234. Bottom SUBARU ST GEORGE $286 → $277; TOYOTA FLAGSTAFF $147 → $142; LR LV $873 → $834; GMC PRESCOTT $299 → $282; HONDA HENDERSON $190 → $178.</a:t>
            </a:r>
          </a:p>
          <a:p>
            <a:r>
              <a:t>CP Parts GP %: top ACURA 39.4% → 46.6%; VW ST GEORGE 39.1% → 43.8%; GMC PRESCOTT 35.3% → 39.2%; AUDI RENO 41.1% → 44.0%; TOYOTA HENDERSON 39.4% → 41.7%. Bottom LR HENDERSON 44.2% → 42.1%; NISSAN 44.5% → 41.3%;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E - door rate by store with premium rates, split by labor grid. Store door rate sheet (Oct 15 2026); averages weighted by Jul-Sep CP sold hours. Bars start at $100.</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chart" Target="../charts/chart8.xml"/><Relationship Id="rId7" Type="http://schemas.openxmlformats.org/officeDocument/2006/relationships/chart" Target="../charts/chart9.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xml"/><Relationship Id="rId3" Type="http://schemas.openxmlformats.org/officeDocument/2006/relationships/chart" Target="../charts/chart22.xml"/><Relationship Id="rId4" Type="http://schemas.openxmlformats.org/officeDocument/2006/relationships/chart" Target="../charts/chart23.xml"/><Relationship Id="rId5" Type="http://schemas.openxmlformats.org/officeDocument/2006/relationships/chart" Target="../charts/chart24.xml"/><Relationship Id="rId6" Type="http://schemas.openxmlformats.org/officeDocument/2006/relationships/chart" Target="../charts/chart25.xml"/><Relationship Id="rId7" Type="http://schemas.openxmlformats.org/officeDocument/2006/relationships/chart" Target="../charts/chart26.xml"/><Relationship Id="rId8" Type="http://schemas.openxmlformats.org/officeDocument/2006/relationships/chart" Target="../charts/chart27.xml"/><Relationship Id="rId9" Type="http://schemas.openxmlformats.org/officeDocument/2006/relationships/chart" Target="../charts/chart28.xml"/><Relationship Id="rId10" Type="http://schemas.openxmlformats.org/officeDocument/2006/relationships/chart" Target="../charts/chart29.xml"/><Relationship Id="rId11" Type="http://schemas.openxmlformats.org/officeDocument/2006/relationships/chart" Target="../charts/chart30.xml"/><Relationship Id="rId1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xml"/><Relationship Id="rId3" Type="http://schemas.openxmlformats.org/officeDocument/2006/relationships/chart" Target="../charts/chart37.xml"/><Relationship Id="rId4" Type="http://schemas.openxmlformats.org/officeDocument/2006/relationships/chart" Target="../charts/chart38.xml"/><Relationship Id="rId5" Type="http://schemas.openxmlformats.org/officeDocument/2006/relationships/chart" Target="../charts/chart39.xml"/><Relationship Id="rId6" Type="http://schemas.openxmlformats.org/officeDocument/2006/relationships/chart" Target="../charts/chart40.xml"/><Relationship Id="rId7" Type="http://schemas.openxmlformats.org/officeDocument/2006/relationships/chart" Target="../charts/chart41.xml"/><Relationship Id="rId8" Type="http://schemas.openxmlformats.org/officeDocument/2006/relationships/chart" Target="../charts/chart42.xml"/><Relationship Id="rId9" Type="http://schemas.openxmlformats.org/officeDocument/2006/relationships/chart" Target="../charts/chart43.xml"/><Relationship Id="rId10" Type="http://schemas.openxmlformats.org/officeDocument/2006/relationships/chart" Target="../charts/chart44.xml"/><Relationship Id="rId11" Type="http://schemas.openxmlformats.org/officeDocument/2006/relationships/chart" Target="../charts/chart45.xml"/><Relationship Id="rId1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xml"/><Relationship Id="rId3" Type="http://schemas.openxmlformats.org/officeDocument/2006/relationships/chart" Target="../charts/chart47.xml"/><Relationship Id="rId4" Type="http://schemas.openxmlformats.org/officeDocument/2006/relationships/chart" Target="../charts/chart48.xml"/><Relationship Id="rId5" Type="http://schemas.openxmlformats.org/officeDocument/2006/relationships/chart" Target="../charts/chart49.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chart" Target="../charts/chart54.xml"/><Relationship Id="rId7" Type="http://schemas.openxmlformats.org/officeDocument/2006/relationships/chart" Target="../charts/chart55.xml"/><Relationship Id="rId8" Type="http://schemas.openxmlformats.org/officeDocument/2006/relationships/chart" Target="../charts/chart56.xml"/><Relationship Id="rId9" Type="http://schemas.openxmlformats.org/officeDocument/2006/relationships/chart" Target="../charts/chart57.xml"/><Relationship Id="rId10" Type="http://schemas.openxmlformats.org/officeDocument/2006/relationships/chart" Target="../charts/chart58.xml"/><Relationship Id="rId11" Type="http://schemas.openxmlformats.org/officeDocument/2006/relationships/chart" Target="../charts/chart59.xml"/><Relationship Id="rId1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xml"/><Relationship Id="rId3" Type="http://schemas.openxmlformats.org/officeDocument/2006/relationships/chart" Target="../charts/chart61.xml"/><Relationship Id="rId4" Type="http://schemas.openxmlformats.org/officeDocument/2006/relationships/chart" Target="../charts/chart62.xml"/><Relationship Id="rId5" Type="http://schemas.openxmlformats.org/officeDocument/2006/relationships/chart" Target="../charts/chart63.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4.xml"/><Relationship Id="rId3" Type="http://schemas.openxmlformats.org/officeDocument/2006/relationships/chart" Target="../charts/chart65.xml"/><Relationship Id="rId4" Type="http://schemas.openxmlformats.org/officeDocument/2006/relationships/chart" Target="../charts/chart66.xml"/><Relationship Id="rId5" Type="http://schemas.openxmlformats.org/officeDocument/2006/relationships/chart" Target="../charts/chart67.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chart" Target="../charts/chart76.xml"/><Relationship Id="rId11" Type="http://schemas.openxmlformats.org/officeDocument/2006/relationships/chart" Target="../charts/chart77.xml"/><Relationship Id="rId1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8.xml"/><Relationship Id="rId3" Type="http://schemas.openxmlformats.org/officeDocument/2006/relationships/chart" Target="../charts/chart89.xml"/><Relationship Id="rId4" Type="http://schemas.openxmlformats.org/officeDocument/2006/relationships/chart" Target="../charts/chart90.xml"/><Relationship Id="rId5" Type="http://schemas.openxmlformats.org/officeDocument/2006/relationships/chart" Target="../charts/chart91.xml"/><Relationship Id="rId6" Type="http://schemas.openxmlformats.org/officeDocument/2006/relationships/chart" Target="../charts/chart92.xml"/><Relationship Id="rId7" Type="http://schemas.openxmlformats.org/officeDocument/2006/relationships/chart" Target="../charts/chart93.xml"/><Relationship Id="rId8" Type="http://schemas.openxmlformats.org/officeDocument/2006/relationships/chart" Target="../charts/chart94.xml"/><Relationship Id="rId9" Type="http://schemas.openxmlformats.org/officeDocument/2006/relationships/chart" Target="../charts/chart95.xml"/><Relationship Id="rId10" Type="http://schemas.openxmlformats.org/officeDocument/2006/relationships/chart" Target="../charts/chart96.xml"/><Relationship Id="rId11" Type="http://schemas.openxmlformats.org/officeDocument/2006/relationships/chart" Target="../charts/chart97.xml"/><Relationship Id="rId1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8.xml"/><Relationship Id="rId3" Type="http://schemas.openxmlformats.org/officeDocument/2006/relationships/chart" Target="../charts/chart99.xml"/><Relationship Id="rId4" Type="http://schemas.openxmlformats.org/officeDocument/2006/relationships/chart" Target="../charts/chart100.xml"/><Relationship Id="rId5" Type="http://schemas.openxmlformats.org/officeDocument/2006/relationships/chart" Target="../charts/chart101.xml"/><Relationship Id="rId6" Type="http://schemas.openxmlformats.org/officeDocument/2006/relationships/chart" Target="../charts/chart102.xml"/><Relationship Id="rId7" Type="http://schemas.openxmlformats.org/officeDocument/2006/relationships/chart" Target="../charts/chart103.xml"/><Relationship Id="rId8" Type="http://schemas.openxmlformats.org/officeDocument/2006/relationships/chart" Target="../charts/chart104.xml"/><Relationship Id="rId9" Type="http://schemas.openxmlformats.org/officeDocument/2006/relationships/chart" Target="../charts/chart105.xml"/><Relationship Id="rId10" Type="http://schemas.openxmlformats.org/officeDocument/2006/relationships/chart" Target="../charts/chart106.xml"/><Relationship Id="rId11" Type="http://schemas.openxmlformats.org/officeDocument/2006/relationships/chart" Target="../charts/chart107.xml"/><Relationship Id="rId1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8.xml"/><Relationship Id="rId3" Type="http://schemas.openxmlformats.org/officeDocument/2006/relationships/chart" Target="../charts/chart109.xml"/><Relationship Id="rId4" Type="http://schemas.openxmlformats.org/officeDocument/2006/relationships/chart" Target="../charts/chart110.xml"/><Relationship Id="rId5" Type="http://schemas.openxmlformats.org/officeDocument/2006/relationships/chart" Target="../charts/chart111.xml"/><Relationship Id="rId6" Type="http://schemas.openxmlformats.org/officeDocument/2006/relationships/chart" Target="../charts/chart112.xml"/><Relationship Id="rId7" Type="http://schemas.openxmlformats.org/officeDocument/2006/relationships/chart" Target="../charts/chart113.xml"/><Relationship Id="rId8"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4.xml"/><Relationship Id="rId3" Type="http://schemas.openxmlformats.org/officeDocument/2006/relationships/chart" Target="../charts/chart115.xml"/><Relationship Id="rId4" Type="http://schemas.openxmlformats.org/officeDocument/2006/relationships/chart" Target="../charts/chart116.xml"/><Relationship Id="rId5" Type="http://schemas.openxmlformats.org/officeDocument/2006/relationships/chart" Target="../charts/chart117.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8.xml"/><Relationship Id="rId3" Type="http://schemas.openxmlformats.org/officeDocument/2006/relationships/chart" Target="../charts/chart119.xml"/><Relationship Id="rId4" Type="http://schemas.openxmlformats.org/officeDocument/2006/relationships/chart" Target="../charts/chart120.xml"/><Relationship Id="rId5" Type="http://schemas.openxmlformats.org/officeDocument/2006/relationships/chart" Target="../charts/chart121.xml"/><Relationship Id="rId6" Type="http://schemas.openxmlformats.org/officeDocument/2006/relationships/chart" Target="../charts/chart122.xml"/><Relationship Id="rId7" Type="http://schemas.openxmlformats.org/officeDocument/2006/relationships/chart" Target="../charts/chart123.xml"/><Relationship Id="rId8" Type="http://schemas.openxmlformats.org/officeDocument/2006/relationships/chart" Target="../charts/chart124.xml"/><Relationship Id="rId9" Type="http://schemas.openxmlformats.org/officeDocument/2006/relationships/chart" Target="../charts/chart125.xml"/><Relationship Id="rId10" Type="http://schemas.openxmlformats.org/officeDocument/2006/relationships/chart" Target="../charts/chart126.xml"/><Relationship Id="rId11" Type="http://schemas.openxmlformats.org/officeDocument/2006/relationships/chart" Target="../charts/chart127.xml"/><Relationship Id="rId1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2.xml"/><Relationship Id="rId3" Type="http://schemas.openxmlformats.org/officeDocument/2006/relationships/chart" Target="../charts/chart133.xml"/><Relationship Id="rId4" Type="http://schemas.openxmlformats.org/officeDocument/2006/relationships/chart" Target="../charts/chart134.xml"/><Relationship Id="rId5" Type="http://schemas.openxmlformats.org/officeDocument/2006/relationships/chart" Target="../charts/chart135.xml"/><Relationship Id="rId6" Type="http://schemas.openxmlformats.org/officeDocument/2006/relationships/chart" Target="../charts/chart136.xml"/><Relationship Id="rId7" Type="http://schemas.openxmlformats.org/officeDocument/2006/relationships/chart" Target="../charts/chart137.xml"/><Relationship Id="rId8" Type="http://schemas.openxmlformats.org/officeDocument/2006/relationships/chart" Target="../charts/chart138.xml"/><Relationship Id="rId9" Type="http://schemas.openxmlformats.org/officeDocument/2006/relationships/chart" Target="../charts/chart139.xml"/><Relationship Id="rId10" Type="http://schemas.openxmlformats.org/officeDocument/2006/relationships/chart" Target="../charts/chart140.xml"/><Relationship Id="rId11" Type="http://schemas.openxmlformats.org/officeDocument/2006/relationships/chart" Target="../charts/chart141.xml"/><Relationship Id="rId1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2.xml"/><Relationship Id="rId3" Type="http://schemas.openxmlformats.org/officeDocument/2006/relationships/chart" Target="../charts/chart143.xml"/><Relationship Id="rId4" Type="http://schemas.openxmlformats.org/officeDocument/2006/relationships/chart" Target="../charts/chart144.xml"/><Relationship Id="rId5" Type="http://schemas.openxmlformats.org/officeDocument/2006/relationships/chart" Target="../charts/chart145.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6.xml"/><Relationship Id="rId3" Type="http://schemas.openxmlformats.org/officeDocument/2006/relationships/chart" Target="../charts/chart147.xml"/><Relationship Id="rId4" Type="http://schemas.openxmlformats.org/officeDocument/2006/relationships/chart" Target="../charts/chart148.xml"/><Relationship Id="rId5" Type="http://schemas.openxmlformats.org/officeDocument/2006/relationships/chart" Target="../charts/chart149.xml"/><Relationship Id="rId6" Type="http://schemas.openxmlformats.org/officeDocument/2006/relationships/chart" Target="../charts/chart150.xml"/><Relationship Id="rId7" Type="http://schemas.openxmlformats.org/officeDocument/2006/relationships/chart" Target="../charts/chart151.xml"/><Relationship Id="rId8" Type="http://schemas.openxmlformats.org/officeDocument/2006/relationships/chart" Target="../charts/chart152.xml"/><Relationship Id="rId9" Type="http://schemas.openxmlformats.org/officeDocument/2006/relationships/chart" Target="../charts/chart153.xml"/><Relationship Id="rId10" Type="http://schemas.openxmlformats.org/officeDocument/2006/relationships/chart" Target="../charts/chart154.xml"/><Relationship Id="rId11" Type="http://schemas.openxmlformats.org/officeDocument/2006/relationships/chart" Target="../charts/chart155.xml"/><Relationship Id="rId1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0.xml"/><Relationship Id="rId3" Type="http://schemas.openxmlformats.org/officeDocument/2006/relationships/chart" Target="../charts/chart161.xml"/><Relationship Id="rId4" Type="http://schemas.openxmlformats.org/officeDocument/2006/relationships/chart" Target="../charts/chart162.xml"/><Relationship Id="rId5" Type="http://schemas.openxmlformats.org/officeDocument/2006/relationships/chart" Target="../charts/chart163.xml"/><Relationship Id="rId6" Type="http://schemas.openxmlformats.org/officeDocument/2006/relationships/chart" Target="../charts/chart164.xml"/><Relationship Id="rId7" Type="http://schemas.openxmlformats.org/officeDocument/2006/relationships/chart" Target="../charts/chart165.xml"/><Relationship Id="rId8" Type="http://schemas.openxmlformats.org/officeDocument/2006/relationships/chart" Target="../charts/chart166.xml"/><Relationship Id="rId9" Type="http://schemas.openxmlformats.org/officeDocument/2006/relationships/chart" Target="../charts/chart167.xml"/><Relationship Id="rId10" Type="http://schemas.openxmlformats.org/officeDocument/2006/relationships/chart" Target="../charts/chart168.xml"/><Relationship Id="rId11" Type="http://schemas.openxmlformats.org/officeDocument/2006/relationships/chart" Target="../charts/chart169.xml"/><Relationship Id="rId1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0.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chart" Target="../charts/chart201.xml"/><Relationship Id="rId7" Type="http://schemas.openxmlformats.org/officeDocument/2006/relationships/chart" Target="../charts/chart202.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ROs and rate, internal rate and margin.</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ROs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APPENDIX</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Design Options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Door rate   ·   Your best techs prove it</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risk of judgement: your success is our success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Customer first, company second, team third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You get what you tolerate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Leverage the power in this room: collaboration</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8" name="Shape 16"/>
          <p:cNvSpPr/>
          <p:nvPr/>
        </p:nvSpPr>
        <p:spPr>
          <a:xfrm>
            <a:off x="7269480" y="4602480"/>
            <a:ext cx="54864" cy="1112520"/>
          </a:xfrm>
          <a:prstGeom prst="rect">
            <a:avLst/>
          </a:prstGeom>
          <a:solidFill>
            <a:srgbClr val="12A566"/>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21" name="Shape 19"/>
          <p:cNvSpPr/>
          <p:nvPr/>
        </p:nvSpPr>
        <p:spPr>
          <a:xfrm>
            <a:off x="457200" y="6126480"/>
            <a:ext cx="11274552" cy="615696"/>
          </a:xfrm>
          <a:prstGeom prst="rect">
            <a:avLst/>
          </a:prstGeom>
          <a:solidFill>
            <a:srgbClr val="E6F6EE"/>
          </a:solidFill>
          <a:ln/>
        </p:spPr>
      </p:sp>
      <p:sp>
        <p:nvSpPr>
          <p:cNvPr id="22" name="Text 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5" name="Shape 13"/>
          <p:cNvSpPr/>
          <p:nvPr/>
        </p:nvSpPr>
        <p:spPr>
          <a:xfrm>
            <a:off x="7269480" y="3261360"/>
            <a:ext cx="54864" cy="1112520"/>
          </a:xfrm>
          <a:prstGeom prst="rect">
            <a:avLst/>
          </a:prstGeom>
          <a:solidFill>
            <a:srgbClr val="2587C5"/>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8" name="Shape 16"/>
          <p:cNvSpPr/>
          <p:nvPr/>
        </p:nvSpPr>
        <p:spPr>
          <a:xfrm>
            <a:off x="7269480" y="4602480"/>
            <a:ext cx="54864" cy="1112520"/>
          </a:xfrm>
          <a:prstGeom prst="rect">
            <a:avLst/>
          </a:prstGeom>
          <a:solidFill>
            <a:srgbClr val="12A566"/>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21" name="Shape 19"/>
          <p:cNvSpPr/>
          <p:nvPr/>
        </p:nvSpPr>
        <p:spPr>
          <a:xfrm>
            <a:off x="457200" y="6126480"/>
            <a:ext cx="11274552" cy="348996"/>
          </a:xfrm>
          <a:prstGeom prst="rect">
            <a:avLst/>
          </a:prstGeom>
          <a:solidFill>
            <a:srgbClr val="EDF4FA"/>
          </a:solidFill>
          <a:ln/>
        </p:spPr>
      </p:sp>
      <p:sp>
        <p:nvSpPr>
          <p:cNvPr id="22" name="Text 2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 P&amp;L line 254 divided by line 258.</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money in beats ELR, gross %, hours, anything else. It's what we sell.</a:t>
            </a:r>
            <a:endParaRPr lang="en-US" sz="1800" dirty="0"/>
          </a:p>
        </p:txBody>
      </p:sp>
      <p:sp>
        <p:nvSpPr>
          <p:cNvPr id="12" name="Shape 10"/>
          <p:cNvSpPr/>
          <p:nvPr/>
        </p:nvSpPr>
        <p:spPr>
          <a:xfrm>
            <a:off x="7269480" y="1920240"/>
            <a:ext cx="54864" cy="111252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8" name="Shape 16"/>
          <p:cNvSpPr/>
          <p:nvPr/>
        </p:nvSpPr>
        <p:spPr>
          <a:xfrm>
            <a:off x="7269480" y="4602480"/>
            <a:ext cx="54864" cy="1112520"/>
          </a:xfrm>
          <a:prstGeom prst="rect">
            <a:avLst/>
          </a:prstGeom>
          <a:solidFill>
            <a:srgbClr val="12A566"/>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21" name="Shape 19"/>
          <p:cNvSpPr/>
          <p:nvPr/>
        </p:nvSpPr>
        <p:spPr>
          <a:xfrm>
            <a:off x="457200" y="6126480"/>
            <a:ext cx="11274552" cy="356616"/>
          </a:xfrm>
          <a:prstGeom prst="rect">
            <a:avLst/>
          </a:prstGeom>
          <a:solidFill>
            <a:srgbClr val="E6F6EE"/>
          </a:solidFill>
          <a:ln/>
        </p:spPr>
      </p:sp>
      <p:sp>
        <p:nvSpPr>
          <p:cNvPr id="22" name="Text 2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MEETINGS JAN &amp; MAY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2" name="Shape 10"/>
          <p:cNvSpPr/>
          <p:nvPr/>
        </p:nvSpPr>
        <p:spPr>
          <a:xfrm>
            <a:off x="7269480" y="1920240"/>
            <a:ext cx="54864" cy="178308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5" name="Shape 13"/>
          <p:cNvSpPr/>
          <p:nvPr/>
        </p:nvSpPr>
        <p:spPr>
          <a:xfrm>
            <a:off x="7269480" y="3931920"/>
            <a:ext cx="54864" cy="1783080"/>
          </a:xfrm>
          <a:prstGeom prst="rect">
            <a:avLst/>
          </a:prstGeom>
          <a:solidFill>
            <a:srgbClr val="C2352F"/>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8" name="Shape 16"/>
          <p:cNvSpPr/>
          <p:nvPr/>
        </p:nvSpPr>
        <p:spPr>
          <a:xfrm>
            <a:off x="457200" y="6126480"/>
            <a:ext cx="11274552" cy="341376"/>
          </a:xfrm>
          <a:prstGeom prst="rect">
            <a:avLst/>
          </a:prstGeom>
          <a:solidFill>
            <a:srgbClr val="EDF4FA"/>
          </a:solidFill>
          <a:ln/>
        </p:spPr>
      </p:sp>
      <p:sp>
        <p:nvSpPr>
          <p:cNvPr id="19"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3.99</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1030041"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3.99</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 name="Shape 12"/>
          <p:cNvSpPr/>
          <p:nvPr/>
        </p:nvSpPr>
        <p:spPr>
          <a:xfrm>
            <a:off x="2267712" y="2477321"/>
            <a:ext cx="900016"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3.48</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7" name="Shape 15"/>
          <p:cNvSpPr/>
          <p:nvPr/>
        </p:nvSpPr>
        <p:spPr>
          <a:xfrm>
            <a:off x="2267712" y="2798064"/>
            <a:ext cx="899733"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3.48</a:t>
            </a:r>
            <a:endParaRPr lang="en-US" sz="1300" dirty="0"/>
          </a:p>
        </p:txBody>
      </p:sp>
      <p:sp>
        <p:nvSpPr>
          <p:cNvPr id="19" name="Shape 17"/>
          <p:cNvSpPr/>
          <p:nvPr/>
        </p:nvSpPr>
        <p:spPr>
          <a:xfrm>
            <a:off x="603504" y="3038622"/>
            <a:ext cx="3566160" cy="311599"/>
          </a:xfrm>
          <a:prstGeom prst="rect">
            <a:avLst/>
          </a:prstGeom>
          <a:solidFill>
            <a:srgbClr val="EDF4FA"/>
          </a:solidFill>
          <a:ln/>
        </p:spPr>
      </p:sp>
      <p:sp>
        <p:nvSpPr>
          <p:cNvPr id="20" name="Text 18"/>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1" name="Shape 19"/>
          <p:cNvSpPr/>
          <p:nvPr/>
        </p:nvSpPr>
        <p:spPr>
          <a:xfrm>
            <a:off x="2267712" y="3118807"/>
            <a:ext cx="749289" cy="160372"/>
          </a:xfrm>
          <a:prstGeom prst="rect">
            <a:avLst/>
          </a:prstGeom>
          <a:solidFill>
            <a:srgbClr val="0B2C4A"/>
          </a:solidFill>
          <a:ln/>
        </p:spPr>
      </p:sp>
      <p:sp>
        <p:nvSpPr>
          <p:cNvPr id="22" name="Text 20"/>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2.90</a:t>
            </a:r>
            <a:endParaRPr lang="en-US" sz="1300" dirty="0"/>
          </a:p>
        </p:txBody>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 name="Shape 22"/>
          <p:cNvSpPr/>
          <p:nvPr/>
        </p:nvSpPr>
        <p:spPr>
          <a:xfrm>
            <a:off x="2267712" y="3439551"/>
            <a:ext cx="705361" cy="160372"/>
          </a:xfrm>
          <a:prstGeom prst="rect">
            <a:avLst/>
          </a:prstGeom>
          <a:solidFill>
            <a:srgbClr val="C2352F"/>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7" name="Shape 25"/>
          <p:cNvSpPr/>
          <p:nvPr/>
        </p:nvSpPr>
        <p:spPr>
          <a:xfrm>
            <a:off x="2267712" y="3760294"/>
            <a:ext cx="704590"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0" name="Shape 28"/>
          <p:cNvSpPr/>
          <p:nvPr/>
        </p:nvSpPr>
        <p:spPr>
          <a:xfrm>
            <a:off x="2267712" y="4081038"/>
            <a:ext cx="641802"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2.48</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3" name="Shape 31"/>
          <p:cNvSpPr/>
          <p:nvPr/>
        </p:nvSpPr>
        <p:spPr>
          <a:xfrm>
            <a:off x="2267712" y="4401781"/>
            <a:ext cx="58844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2.28</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538154"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2.08</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2.90  </a:t>
            </a:r>
            <a:pPr indent="0" marL="0">
              <a:buNone/>
            </a:pPr>
            <a:r>
              <a:rPr lang="en-US" sz="1400" b="1" dirty="0">
                <a:solidFill>
                  <a:srgbClr val="0B7A4A"/>
                </a:solidFill>
                <a:latin typeface="Inter" pitchFamily="34" charset="0"/>
                <a:ea typeface="Inter" pitchFamily="34" charset="-122"/>
                <a:cs typeface="Inter" pitchFamily="34" charset="-120"/>
              </a:rPr>
              <a:t>(+0.06)</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(+0.06)</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2.49</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5" name="Shape 43"/>
          <p:cNvSpPr/>
          <p:nvPr/>
        </p:nvSpPr>
        <p:spPr>
          <a:xfrm>
            <a:off x="6291072" y="2156577"/>
            <a:ext cx="579287"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8" name="Shape 46"/>
          <p:cNvSpPr/>
          <p:nvPr/>
        </p:nvSpPr>
        <p:spPr>
          <a:xfrm>
            <a:off x="6291072" y="2477321"/>
            <a:ext cx="579196"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2.30</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1" name="Shape 49"/>
          <p:cNvSpPr/>
          <p:nvPr/>
        </p:nvSpPr>
        <p:spPr>
          <a:xfrm>
            <a:off x="6291072" y="2798064"/>
            <a:ext cx="554590"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2.20</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4" name="Shape 52"/>
          <p:cNvSpPr/>
          <p:nvPr/>
        </p:nvSpPr>
        <p:spPr>
          <a:xfrm>
            <a:off x="6291072" y="3118807"/>
            <a:ext cx="531685"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2.11</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7" name="Shape 55"/>
          <p:cNvSpPr/>
          <p:nvPr/>
        </p:nvSpPr>
        <p:spPr>
          <a:xfrm>
            <a:off x="6291072" y="3439551"/>
            <a:ext cx="508980"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2.02</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0" name="Shape 58"/>
          <p:cNvSpPr/>
          <p:nvPr/>
        </p:nvSpPr>
        <p:spPr>
          <a:xfrm>
            <a:off x="6291072" y="3760294"/>
            <a:ext cx="505731"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2.01</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6291072" y="4081038"/>
            <a:ext cx="495913"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1.97</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6" name="Shape 64"/>
          <p:cNvSpPr/>
          <p:nvPr/>
        </p:nvSpPr>
        <p:spPr>
          <a:xfrm>
            <a:off x="6291072" y="4401781"/>
            <a:ext cx="493081"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1.96</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6291072" y="4722524"/>
            <a:ext cx="490542"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1.95</a:t>
            </a:r>
            <a:endParaRPr lang="en-US" sz="1300" dirty="0"/>
          </a:p>
        </p:txBody>
      </p:sp>
      <p:sp>
        <p:nvSpPr>
          <p:cNvPr id="71" name="Shape 69"/>
          <p:cNvSpPr/>
          <p:nvPr/>
        </p:nvSpPr>
        <p:spPr>
          <a:xfrm>
            <a:off x="4261104" y="4963082"/>
            <a:ext cx="3529584" cy="311599"/>
          </a:xfrm>
          <a:prstGeom prst="rect">
            <a:avLst/>
          </a:prstGeom>
          <a:solidFill>
            <a:srgbClr val="EDF4FA"/>
          </a:solidFill>
          <a:ln/>
        </p:spPr>
      </p:sp>
      <p:sp>
        <p:nvSpPr>
          <p:cNvPr id="72" name="Text 70"/>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3" name="Shape 71"/>
          <p:cNvSpPr/>
          <p:nvPr/>
        </p:nvSpPr>
        <p:spPr>
          <a:xfrm>
            <a:off x="6291072" y="5043268"/>
            <a:ext cx="439804" cy="160372"/>
          </a:xfrm>
          <a:prstGeom prst="rect">
            <a:avLst/>
          </a:prstGeom>
          <a:solidFill>
            <a:srgbClr val="0B2C4A"/>
          </a:solidFill>
          <a:ln/>
        </p:spPr>
      </p:sp>
      <p:sp>
        <p:nvSpPr>
          <p:cNvPr id="74" name="Text 72"/>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1.75</a:t>
            </a:r>
            <a:endParaRPr lang="en-US" sz="1300" dirty="0"/>
          </a:p>
        </p:txBody>
      </p:sp>
      <p:sp>
        <p:nvSpPr>
          <p:cNvPr id="75" name="Text 73"/>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6" name="Shape 74"/>
          <p:cNvSpPr/>
          <p:nvPr/>
        </p:nvSpPr>
        <p:spPr>
          <a:xfrm>
            <a:off x="6291072" y="5364011"/>
            <a:ext cx="438976" cy="160372"/>
          </a:xfrm>
          <a:prstGeom prst="rect">
            <a:avLst/>
          </a:prstGeom>
          <a:solidFill>
            <a:srgbClr val="C2352F"/>
          </a:solidFill>
          <a:ln/>
        </p:spPr>
      </p:sp>
      <p:sp>
        <p:nvSpPr>
          <p:cNvPr id="77" name="Text 75"/>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1.74</a:t>
            </a:r>
            <a:endParaRPr lang="en-US" sz="1300" dirty="0"/>
          </a:p>
        </p:txBody>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9" name="Shape 77"/>
          <p:cNvSpPr/>
          <p:nvPr/>
        </p:nvSpPr>
        <p:spPr>
          <a:xfrm>
            <a:off x="6291072" y="5684754"/>
            <a:ext cx="430143" cy="160372"/>
          </a:xfrm>
          <a:prstGeom prst="rect">
            <a:avLst/>
          </a:prstGeom>
          <a:solidFill>
            <a:srgbClr val="C2352F"/>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1.71</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Shape 80"/>
          <p:cNvSpPr/>
          <p:nvPr/>
        </p:nvSpPr>
        <p:spPr>
          <a:xfrm>
            <a:off x="9893808" y="1835834"/>
            <a:ext cx="419539"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1.67</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5" name="Shape 83"/>
          <p:cNvSpPr/>
          <p:nvPr/>
        </p:nvSpPr>
        <p:spPr>
          <a:xfrm>
            <a:off x="9893808" y="2156577"/>
            <a:ext cx="412033"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1.64</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8" name="Shape 86"/>
          <p:cNvSpPr/>
          <p:nvPr/>
        </p:nvSpPr>
        <p:spPr>
          <a:xfrm>
            <a:off x="9893808" y="2477321"/>
            <a:ext cx="402432"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1.60</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95193"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1.57</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94" name="Shape 92"/>
          <p:cNvSpPr/>
          <p:nvPr/>
        </p:nvSpPr>
        <p:spPr>
          <a:xfrm>
            <a:off x="9893808" y="3118807"/>
            <a:ext cx="373339"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1.48</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7" name="Shape 95"/>
          <p:cNvSpPr/>
          <p:nvPr/>
        </p:nvSpPr>
        <p:spPr>
          <a:xfrm>
            <a:off x="9893808" y="3439551"/>
            <a:ext cx="370773"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00" name="Shape 98"/>
          <p:cNvSpPr/>
          <p:nvPr/>
        </p:nvSpPr>
        <p:spPr>
          <a:xfrm>
            <a:off x="9893808" y="3760294"/>
            <a:ext cx="366723"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1.46</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03" name="Shape 101"/>
          <p:cNvSpPr/>
          <p:nvPr/>
        </p:nvSpPr>
        <p:spPr>
          <a:xfrm>
            <a:off x="9893808" y="4081038"/>
            <a:ext cx="359896"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6" name="Shape 104"/>
          <p:cNvSpPr/>
          <p:nvPr/>
        </p:nvSpPr>
        <p:spPr>
          <a:xfrm>
            <a:off x="9893808" y="4401781"/>
            <a:ext cx="357762"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9" name="Shape 107"/>
          <p:cNvSpPr/>
          <p:nvPr/>
        </p:nvSpPr>
        <p:spPr>
          <a:xfrm>
            <a:off x="9893808" y="4722524"/>
            <a:ext cx="354023"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1.41</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2" name="Shape 110"/>
          <p:cNvSpPr/>
          <p:nvPr/>
        </p:nvSpPr>
        <p:spPr>
          <a:xfrm>
            <a:off x="9893808" y="5043268"/>
            <a:ext cx="348438"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1.38</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5" name="Shape 113"/>
          <p:cNvSpPr/>
          <p:nvPr/>
        </p:nvSpPr>
        <p:spPr>
          <a:xfrm>
            <a:off x="9893808" y="5364011"/>
            <a:ext cx="324886"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21" name="Shape 19"/>
          <p:cNvSpPr/>
          <p:nvPr/>
        </p:nvSpPr>
        <p:spPr>
          <a:xfrm>
            <a:off x="457200" y="6126480"/>
            <a:ext cx="11274552" cy="364236"/>
          </a:xfrm>
          <a:prstGeom prst="rect">
            <a:avLst/>
          </a:prstGeom>
          <a:solidFill>
            <a:srgbClr val="EDF4FA"/>
          </a:solidFill>
          <a:ln/>
        </p:spPr>
      </p:sp>
      <p:sp>
        <p:nvSpPr>
          <p:cNvPr id="22" name="Text 2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$67/hr</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$80/hr</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$117/hr</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$160/hr</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$130/hr</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34" name="Shape 32"/>
          <p:cNvSpPr/>
          <p:nvPr/>
        </p:nvSpPr>
        <p:spPr>
          <a:xfrm>
            <a:off x="9479280" y="4654296"/>
            <a:ext cx="45720" cy="1133856"/>
          </a:xfrm>
          <a:prstGeom prst="rect">
            <a:avLst/>
          </a:prstGeom>
          <a:solidFill>
            <a:srgbClr val="2587C5"/>
          </a:solidFill>
          <a:ln/>
        </p:spPr>
      </p:sp>
      <p:sp>
        <p:nvSpPr>
          <p:cNvPr id="35" name="Text 33"/>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36" name="Shape 34"/>
          <p:cNvSpPr/>
          <p:nvPr/>
        </p:nvSpPr>
        <p:spPr>
          <a:xfrm>
            <a:off x="457200" y="6126480"/>
            <a:ext cx="11274552" cy="364236"/>
          </a:xfrm>
          <a:prstGeom prst="rect">
            <a:avLst/>
          </a:prstGeom>
          <a:solidFill>
            <a:srgbClr val="E6F6EE"/>
          </a:solidFill>
          <a:ln/>
        </p:spPr>
      </p:sp>
      <p:sp>
        <p:nvSpPr>
          <p:cNvPr id="37" name="Text 3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$266.32</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267712" y="2156577"/>
            <a:ext cx="909937"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$235.07</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4" name="Shape 12"/>
          <p:cNvSpPr/>
          <p:nvPr/>
        </p:nvSpPr>
        <p:spPr>
          <a:xfrm>
            <a:off x="2267712" y="2477321"/>
            <a:ext cx="907949"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$234.55</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 name="Shape 15"/>
          <p:cNvSpPr/>
          <p:nvPr/>
        </p:nvSpPr>
        <p:spPr>
          <a:xfrm>
            <a:off x="2267712" y="2798064"/>
            <a:ext cx="905009"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$233.79</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267712" y="3118807"/>
            <a:ext cx="903719"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$233.46</a:t>
            </a:r>
            <a:endParaRPr lang="en-US" sz="1300" dirty="0"/>
          </a:p>
        </p:txBody>
      </p:sp>
      <p:sp>
        <p:nvSpPr>
          <p:cNvPr id="22" name="Text 20"/>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 name="Shape 21"/>
          <p:cNvSpPr/>
          <p:nvPr/>
        </p:nvSpPr>
        <p:spPr>
          <a:xfrm>
            <a:off x="2267712" y="3439551"/>
            <a:ext cx="859813" cy="160372"/>
          </a:xfrm>
          <a:prstGeom prst="rect">
            <a:avLst/>
          </a:prstGeom>
          <a:solidFill>
            <a:srgbClr val="12A566"/>
          </a:solidFill>
          <a:ln/>
        </p:spPr>
      </p:sp>
      <p:sp>
        <p:nvSpPr>
          <p:cNvPr id="24" name="Text 22"/>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$222.12</a:t>
            </a:r>
            <a:endParaRPr lang="en-US" sz="1300" dirty="0"/>
          </a:p>
        </p:txBody>
      </p:sp>
      <p:sp>
        <p:nvSpPr>
          <p:cNvPr id="25" name="Shape 23"/>
          <p:cNvSpPr/>
          <p:nvPr/>
        </p:nvSpPr>
        <p:spPr>
          <a:xfrm>
            <a:off x="603504" y="3680108"/>
            <a:ext cx="3566160" cy="311599"/>
          </a:xfrm>
          <a:prstGeom prst="rect">
            <a:avLst/>
          </a:prstGeom>
          <a:solidFill>
            <a:srgbClr val="EDF4FA"/>
          </a:solidFill>
          <a:ln/>
        </p:spPr>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7" name="Shape 25"/>
          <p:cNvSpPr/>
          <p:nvPr/>
        </p:nvSpPr>
        <p:spPr>
          <a:xfrm>
            <a:off x="2267712" y="3760294"/>
            <a:ext cx="843067" cy="160372"/>
          </a:xfrm>
          <a:prstGeom prst="rect">
            <a:avLst/>
          </a:prstGeom>
          <a:solidFill>
            <a:srgbClr val="0B2C4A"/>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$217.79</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267712" y="4081038"/>
            <a:ext cx="748218"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$193.29</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65811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$170.01</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6" name="Shape 34"/>
          <p:cNvSpPr/>
          <p:nvPr/>
        </p:nvSpPr>
        <p:spPr>
          <a:xfrm>
            <a:off x="2267712" y="4722524"/>
            <a:ext cx="648916"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$167.64</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$217.79  </a:t>
            </a:r>
            <a:pPr indent="0" marL="0">
              <a:buNone/>
            </a:pPr>
            <a:r>
              <a:rPr lang="en-US" sz="1400" b="1" dirty="0">
                <a:solidFill>
                  <a:srgbClr val="0B7A4A"/>
                </a:solidFill>
                <a:latin typeface="Inter" pitchFamily="34" charset="0"/>
                <a:ea typeface="Inter" pitchFamily="34" charset="-122"/>
                <a:cs typeface="Inter" pitchFamily="34" charset="-120"/>
              </a:rPr>
              <a:t>(+$6.75)</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$151.32  </a:t>
            </a:r>
            <a:pPr indent="0" marL="0">
              <a:buNone/>
            </a:pPr>
            <a:r>
              <a:rPr lang="en-US" sz="1400" b="1" dirty="0">
                <a:solidFill>
                  <a:srgbClr val="0B7A4A"/>
                </a:solidFill>
                <a:latin typeface="Inter" pitchFamily="34" charset="0"/>
                <a:ea typeface="Inter" pitchFamily="34" charset="-122"/>
                <a:cs typeface="Inter" pitchFamily="34" charset="-120"/>
              </a:rPr>
              <a:t>(+$3.00)</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$210.50</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5" name="Shape 43"/>
          <p:cNvSpPr/>
          <p:nvPr/>
        </p:nvSpPr>
        <p:spPr>
          <a:xfrm>
            <a:off x="6291072" y="2156577"/>
            <a:ext cx="524370"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$175.90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8" name="Shape 46"/>
          <p:cNvSpPr/>
          <p:nvPr/>
        </p:nvSpPr>
        <p:spPr>
          <a:xfrm>
            <a:off x="6291072" y="2477321"/>
            <a:ext cx="496190"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$166.44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1" name="Shape 49"/>
          <p:cNvSpPr/>
          <p:nvPr/>
        </p:nvSpPr>
        <p:spPr>
          <a:xfrm>
            <a:off x="6291072" y="2798064"/>
            <a:ext cx="487825"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$163.64</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4" name="Shape 52"/>
          <p:cNvSpPr/>
          <p:nvPr/>
        </p:nvSpPr>
        <p:spPr>
          <a:xfrm>
            <a:off x="6291072" y="3118807"/>
            <a:ext cx="485485"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$162.85</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6291072" y="3439551"/>
            <a:ext cx="478952"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$160.66</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0" name="Shape 58"/>
          <p:cNvSpPr/>
          <p:nvPr/>
        </p:nvSpPr>
        <p:spPr>
          <a:xfrm>
            <a:off x="6291072" y="3760294"/>
            <a:ext cx="475697"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$159.57</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6291072" y="4081038"/>
            <a:ext cx="475119"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$159.38</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6" name="Shape 64"/>
          <p:cNvSpPr/>
          <p:nvPr/>
        </p:nvSpPr>
        <p:spPr>
          <a:xfrm>
            <a:off x="6291072" y="4401781"/>
            <a:ext cx="469045"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$157.34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9" name="Shape 67"/>
          <p:cNvSpPr/>
          <p:nvPr/>
        </p:nvSpPr>
        <p:spPr>
          <a:xfrm>
            <a:off x="6291072" y="4722524"/>
            <a:ext cx="465606"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$156.18</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6291072" y="5043268"/>
            <a:ext cx="460611"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$154.51</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5" name="Shape 73"/>
          <p:cNvSpPr/>
          <p:nvPr/>
        </p:nvSpPr>
        <p:spPr>
          <a:xfrm>
            <a:off x="6291072" y="5364011"/>
            <a:ext cx="456968"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$153.29</a:t>
            </a:r>
            <a:endParaRPr lang="en-US" sz="1300" dirty="0"/>
          </a:p>
        </p:txBody>
      </p:sp>
      <p:sp>
        <p:nvSpPr>
          <p:cNvPr id="77" name="Shape 75"/>
          <p:cNvSpPr/>
          <p:nvPr/>
        </p:nvSpPr>
        <p:spPr>
          <a:xfrm>
            <a:off x="4261104" y="5604569"/>
            <a:ext cx="3529584" cy="311599"/>
          </a:xfrm>
          <a:prstGeom prst="rect">
            <a:avLst/>
          </a:prstGeom>
          <a:solidFill>
            <a:srgbClr val="EDF4FA"/>
          </a:solidFill>
          <a:ln/>
        </p:spPr>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9" name="Shape 77"/>
          <p:cNvSpPr/>
          <p:nvPr/>
        </p:nvSpPr>
        <p:spPr>
          <a:xfrm>
            <a:off x="6291072" y="5684754"/>
            <a:ext cx="451095" cy="160372"/>
          </a:xfrm>
          <a:prstGeom prst="rect">
            <a:avLst/>
          </a:prstGeom>
          <a:solidFill>
            <a:srgbClr val="0B2C4A"/>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$151.32</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2" name="Shape 80"/>
          <p:cNvSpPr/>
          <p:nvPr/>
        </p:nvSpPr>
        <p:spPr>
          <a:xfrm>
            <a:off x="9893808" y="1835834"/>
            <a:ext cx="444873"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$149.23</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5" name="Shape 83"/>
          <p:cNvSpPr/>
          <p:nvPr/>
        </p:nvSpPr>
        <p:spPr>
          <a:xfrm>
            <a:off x="9893808" y="2156577"/>
            <a:ext cx="441895"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$148.23</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8" name="Shape 86"/>
          <p:cNvSpPr/>
          <p:nvPr/>
        </p:nvSpPr>
        <p:spPr>
          <a:xfrm>
            <a:off x="9893808" y="2477321"/>
            <a:ext cx="430759"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$144.50</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1" name="Shape 89"/>
          <p:cNvSpPr/>
          <p:nvPr/>
        </p:nvSpPr>
        <p:spPr>
          <a:xfrm>
            <a:off x="9893808" y="2798064"/>
            <a:ext cx="428958"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$143.89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4" name="Shape 92"/>
          <p:cNvSpPr/>
          <p:nvPr/>
        </p:nvSpPr>
        <p:spPr>
          <a:xfrm>
            <a:off x="9893808" y="3118807"/>
            <a:ext cx="426467"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$143.06</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7" name="Shape 95"/>
          <p:cNvSpPr/>
          <p:nvPr/>
        </p:nvSpPr>
        <p:spPr>
          <a:xfrm>
            <a:off x="9893808" y="3439551"/>
            <a:ext cx="425697"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$142.80</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0" name="Shape 98"/>
          <p:cNvSpPr/>
          <p:nvPr/>
        </p:nvSpPr>
        <p:spPr>
          <a:xfrm>
            <a:off x="9893808" y="3760294"/>
            <a:ext cx="42064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$141.10</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9893808" y="4081038"/>
            <a:ext cx="414760"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$139.13</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9893808" y="4401781"/>
            <a:ext cx="412834"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$138.48</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9" name="Shape 107"/>
          <p:cNvSpPr/>
          <p:nvPr/>
        </p:nvSpPr>
        <p:spPr>
          <a:xfrm>
            <a:off x="9893808" y="4722524"/>
            <a:ext cx="402913"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$135.15</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2" name="Shape 110"/>
          <p:cNvSpPr/>
          <p:nvPr/>
        </p:nvSpPr>
        <p:spPr>
          <a:xfrm>
            <a:off x="9893808" y="5043268"/>
            <a:ext cx="388906"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$130.46</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5" name="Shape 113"/>
          <p:cNvSpPr/>
          <p:nvPr/>
        </p:nvSpPr>
        <p:spPr>
          <a:xfrm>
            <a:off x="9893808" y="5364011"/>
            <a:ext cx="375885"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$126.09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money in beats ELR, gross %, hours, anything else. It's what we sell." (Roundtable)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$933</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1028573"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$931</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 name="Shape 12"/>
          <p:cNvSpPr/>
          <p:nvPr/>
        </p:nvSpPr>
        <p:spPr>
          <a:xfrm>
            <a:off x="2267712" y="2477321"/>
            <a:ext cx="1025253"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$928</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7" name="Shape 15"/>
          <p:cNvSpPr/>
          <p:nvPr/>
        </p:nvSpPr>
        <p:spPr>
          <a:xfrm>
            <a:off x="2267712" y="2798064"/>
            <a:ext cx="902656"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$817</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0" name="Shape 18"/>
          <p:cNvSpPr/>
          <p:nvPr/>
        </p:nvSpPr>
        <p:spPr>
          <a:xfrm>
            <a:off x="2267712" y="3118807"/>
            <a:ext cx="708427"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$641</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698005"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$632</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7" name="Shape 25"/>
          <p:cNvSpPr/>
          <p:nvPr/>
        </p:nvSpPr>
        <p:spPr>
          <a:xfrm>
            <a:off x="2267712" y="3760294"/>
            <a:ext cx="559059"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$506</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0" name="Shape 28"/>
          <p:cNvSpPr/>
          <p:nvPr/>
        </p:nvSpPr>
        <p:spPr>
          <a:xfrm>
            <a:off x="2267712" y="4081038"/>
            <a:ext cx="512934"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$464</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267712" y="4401781"/>
            <a:ext cx="460190"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$416</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444920"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$403</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$632  </a:t>
            </a:r>
            <a:pPr indent="0" marL="0">
              <a:buNone/>
            </a:pPr>
            <a:r>
              <a:rPr lang="en-US" sz="1400" b="1" dirty="0">
                <a:solidFill>
                  <a:srgbClr val="0B7A4A"/>
                </a:solidFill>
                <a:latin typeface="Inter" pitchFamily="34" charset="0"/>
                <a:ea typeface="Inter" pitchFamily="34" charset="-122"/>
                <a:cs typeface="Inter" pitchFamily="34" charset="-120"/>
              </a:rPr>
              <a:t>(+$33)</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$264  </a:t>
            </a:r>
            <a:pPr indent="0" marL="0">
              <a:buNone/>
            </a:pPr>
            <a:r>
              <a:rPr lang="en-US" sz="1400" b="1" dirty="0">
                <a:solidFill>
                  <a:srgbClr val="0B7A4A"/>
                </a:solidFill>
                <a:latin typeface="Inter" pitchFamily="34" charset="0"/>
                <a:ea typeface="Inter" pitchFamily="34" charset="-122"/>
                <a:cs typeface="Inter" pitchFamily="34" charset="-120"/>
              </a:rPr>
              <a:t>(+$15)</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$389</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5" name="Shape 43"/>
          <p:cNvSpPr/>
          <p:nvPr/>
        </p:nvSpPr>
        <p:spPr>
          <a:xfrm>
            <a:off x="6291072" y="2156577"/>
            <a:ext cx="598789"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$371</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8" name="Shape 46"/>
          <p:cNvSpPr/>
          <p:nvPr/>
        </p:nvSpPr>
        <p:spPr>
          <a:xfrm>
            <a:off x="6291072" y="2477321"/>
            <a:ext cx="570486"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1" name="Shape 49"/>
          <p:cNvSpPr/>
          <p:nvPr/>
        </p:nvSpPr>
        <p:spPr>
          <a:xfrm>
            <a:off x="6291072" y="2798064"/>
            <a:ext cx="535931"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$332</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4" name="Shape 52"/>
          <p:cNvSpPr/>
          <p:nvPr/>
        </p:nvSpPr>
        <p:spPr>
          <a:xfrm>
            <a:off x="6291072" y="3118807"/>
            <a:ext cx="513550"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$318</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7" name="Shape 55"/>
          <p:cNvSpPr/>
          <p:nvPr/>
        </p:nvSpPr>
        <p:spPr>
          <a:xfrm>
            <a:off x="6291072" y="3439551"/>
            <a:ext cx="501174"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$311</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0" name="Shape 58"/>
          <p:cNvSpPr/>
          <p:nvPr/>
        </p:nvSpPr>
        <p:spPr>
          <a:xfrm>
            <a:off x="6291072" y="3760294"/>
            <a:ext cx="486714"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$302</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3" name="Shape 61"/>
          <p:cNvSpPr/>
          <p:nvPr/>
        </p:nvSpPr>
        <p:spPr>
          <a:xfrm>
            <a:off x="6291072" y="4081038"/>
            <a:ext cx="483060"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$299</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6" name="Shape 64"/>
          <p:cNvSpPr/>
          <p:nvPr/>
        </p:nvSpPr>
        <p:spPr>
          <a:xfrm>
            <a:off x="6291072" y="4401781"/>
            <a:ext cx="482181"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$299</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6291072" y="4722524"/>
            <a:ext cx="465926"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$289</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6291072" y="5043268"/>
            <a:ext cx="451632"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5" name="Shape 73"/>
          <p:cNvSpPr/>
          <p:nvPr/>
        </p:nvSpPr>
        <p:spPr>
          <a:xfrm>
            <a:off x="6291072" y="5364011"/>
            <a:ext cx="442219"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$274</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78" name="Shape 76"/>
          <p:cNvSpPr/>
          <p:nvPr/>
        </p:nvSpPr>
        <p:spPr>
          <a:xfrm>
            <a:off x="6291072" y="5684754"/>
            <a:ext cx="437452"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$271</a:t>
            </a:r>
            <a:endParaRPr lang="en-US" sz="1300" dirty="0"/>
          </a:p>
        </p:txBody>
      </p:sp>
      <p:sp>
        <p:nvSpPr>
          <p:cNvPr id="80" name="Shape 78"/>
          <p:cNvSpPr/>
          <p:nvPr/>
        </p:nvSpPr>
        <p:spPr>
          <a:xfrm>
            <a:off x="7863840" y="1755648"/>
            <a:ext cx="3529584" cy="311599"/>
          </a:xfrm>
          <a:prstGeom prst="rect">
            <a:avLst/>
          </a:prstGeom>
          <a:solidFill>
            <a:srgbClr val="EDF4FA"/>
          </a:solidFill>
          <a:ln/>
        </p:spPr>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82" name="Shape 80"/>
          <p:cNvSpPr/>
          <p:nvPr/>
        </p:nvSpPr>
        <p:spPr>
          <a:xfrm>
            <a:off x="9893808" y="1835834"/>
            <a:ext cx="426097" cy="160372"/>
          </a:xfrm>
          <a:prstGeom prst="rect">
            <a:avLst/>
          </a:prstGeom>
          <a:solidFill>
            <a:srgbClr val="0B2C4A"/>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$264</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5" name="Shape 83"/>
          <p:cNvSpPr/>
          <p:nvPr/>
        </p:nvSpPr>
        <p:spPr>
          <a:xfrm>
            <a:off x="9893808" y="2156577"/>
            <a:ext cx="384223"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$238</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9893808" y="2477321"/>
            <a:ext cx="383536"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77596"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$234</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9893808" y="3118807"/>
            <a:ext cx="372225"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$231</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7" name="Shape 95"/>
          <p:cNvSpPr/>
          <p:nvPr/>
        </p:nvSpPr>
        <p:spPr>
          <a:xfrm>
            <a:off x="9893808" y="3439551"/>
            <a:ext cx="366796"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$227</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0" name="Shape 98"/>
          <p:cNvSpPr/>
          <p:nvPr/>
        </p:nvSpPr>
        <p:spPr>
          <a:xfrm>
            <a:off x="9893808" y="3760294"/>
            <a:ext cx="35848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$222</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3" name="Shape 101"/>
          <p:cNvSpPr/>
          <p:nvPr/>
        </p:nvSpPr>
        <p:spPr>
          <a:xfrm>
            <a:off x="9893808" y="4081038"/>
            <a:ext cx="355557"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$220</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6" name="Shape 104"/>
          <p:cNvSpPr/>
          <p:nvPr/>
        </p:nvSpPr>
        <p:spPr>
          <a:xfrm>
            <a:off x="9893808" y="4401781"/>
            <a:ext cx="344158"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$213</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9" name="Shape 107"/>
          <p:cNvSpPr/>
          <p:nvPr/>
        </p:nvSpPr>
        <p:spPr>
          <a:xfrm>
            <a:off x="9893808" y="4722524"/>
            <a:ext cx="323678"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$201</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2" name="Shape 110"/>
          <p:cNvSpPr/>
          <p:nvPr/>
        </p:nvSpPr>
        <p:spPr>
          <a:xfrm>
            <a:off x="9893808" y="5043268"/>
            <a:ext cx="30139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$187</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5" name="Shape 113"/>
          <p:cNvSpPr/>
          <p:nvPr/>
        </p:nvSpPr>
        <p:spPr>
          <a:xfrm>
            <a:off x="9893808" y="5364011"/>
            <a:ext cx="293515"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$182</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$926</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939609"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$844</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4" name="Shape 12"/>
          <p:cNvSpPr/>
          <p:nvPr/>
        </p:nvSpPr>
        <p:spPr>
          <a:xfrm>
            <a:off x="2267712" y="2477321"/>
            <a:ext cx="905544"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$814</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 name="Shape 15"/>
          <p:cNvSpPr/>
          <p:nvPr/>
        </p:nvSpPr>
        <p:spPr>
          <a:xfrm>
            <a:off x="2267712" y="2798064"/>
            <a:ext cx="820245"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$737</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0" name="Shape 18"/>
          <p:cNvSpPr/>
          <p:nvPr/>
        </p:nvSpPr>
        <p:spPr>
          <a:xfrm>
            <a:off x="2267712" y="3118807"/>
            <a:ext cx="603026"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$542</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594783"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$534</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7" name="Shape 25"/>
          <p:cNvSpPr/>
          <p:nvPr/>
        </p:nvSpPr>
        <p:spPr>
          <a:xfrm>
            <a:off x="2267712" y="3760294"/>
            <a:ext cx="560785"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$504</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0" name="Shape 28"/>
          <p:cNvSpPr/>
          <p:nvPr/>
        </p:nvSpPr>
        <p:spPr>
          <a:xfrm>
            <a:off x="2267712" y="4081038"/>
            <a:ext cx="403834"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$363</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389252"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$350</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267398"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$240</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$534  </a:t>
            </a:r>
            <a:pP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$202  </a:t>
            </a:r>
            <a:pPr indent="0" marL="0">
              <a:buNone/>
            </a:pPr>
            <a:r>
              <a:rPr lang="en-US" sz="1400" b="1" dirty="0">
                <a:solidFill>
                  <a:srgbClr val="0B7A4A"/>
                </a:solidFill>
                <a:latin typeface="Inter" pitchFamily="34" charset="0"/>
                <a:ea typeface="Inter" pitchFamily="34" charset="-122"/>
                <a:cs typeface="Inter" pitchFamily="34" charset="-120"/>
              </a:rPr>
              <a:t>(+$9)</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$332</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5" name="Shape 43"/>
          <p:cNvSpPr/>
          <p:nvPr/>
        </p:nvSpPr>
        <p:spPr>
          <a:xfrm>
            <a:off x="6291072" y="2156577"/>
            <a:ext cx="549290"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8" name="Shape 46"/>
          <p:cNvSpPr/>
          <p:nvPr/>
        </p:nvSpPr>
        <p:spPr>
          <a:xfrm>
            <a:off x="6291072" y="2477321"/>
            <a:ext cx="532049"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$281</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1" name="Shape 49"/>
          <p:cNvSpPr/>
          <p:nvPr/>
        </p:nvSpPr>
        <p:spPr>
          <a:xfrm>
            <a:off x="6291072" y="2798064"/>
            <a:ext cx="530476"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4" name="Shape 52"/>
          <p:cNvSpPr/>
          <p:nvPr/>
        </p:nvSpPr>
        <p:spPr>
          <a:xfrm>
            <a:off x="6291072" y="3118807"/>
            <a:ext cx="530317"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7" name="Shape 55"/>
          <p:cNvSpPr/>
          <p:nvPr/>
        </p:nvSpPr>
        <p:spPr>
          <a:xfrm>
            <a:off x="6291072" y="3439551"/>
            <a:ext cx="522725"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$276</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0" name="Shape 58"/>
          <p:cNvSpPr/>
          <p:nvPr/>
        </p:nvSpPr>
        <p:spPr>
          <a:xfrm>
            <a:off x="6291072" y="3760294"/>
            <a:ext cx="508315"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$269</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3" name="Shape 61"/>
          <p:cNvSpPr/>
          <p:nvPr/>
        </p:nvSpPr>
        <p:spPr>
          <a:xfrm>
            <a:off x="6291072" y="4081038"/>
            <a:ext cx="499621"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$264</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66" name="Shape 64"/>
          <p:cNvSpPr/>
          <p:nvPr/>
        </p:nvSpPr>
        <p:spPr>
          <a:xfrm>
            <a:off x="6291072" y="4401781"/>
            <a:ext cx="490656"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$259</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9" name="Shape 67"/>
          <p:cNvSpPr/>
          <p:nvPr/>
        </p:nvSpPr>
        <p:spPr>
          <a:xfrm>
            <a:off x="6291072" y="4722524"/>
            <a:ext cx="445055"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$235</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2" name="Shape 70"/>
          <p:cNvSpPr/>
          <p:nvPr/>
        </p:nvSpPr>
        <p:spPr>
          <a:xfrm>
            <a:off x="6291072" y="5043268"/>
            <a:ext cx="413647"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$219</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5" name="Shape 73"/>
          <p:cNvSpPr/>
          <p:nvPr/>
        </p:nvSpPr>
        <p:spPr>
          <a:xfrm>
            <a:off x="6291072" y="5364011"/>
            <a:ext cx="409648"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$217</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6291072" y="5684754"/>
            <a:ext cx="403417"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$213</a:t>
            </a:r>
            <a:endParaRPr lang="en-US" sz="1300" dirty="0"/>
          </a:p>
        </p:txBody>
      </p:sp>
      <p:sp>
        <p:nvSpPr>
          <p:cNvPr id="80" name="Text 78"/>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1" name="Shape 79"/>
          <p:cNvSpPr/>
          <p:nvPr/>
        </p:nvSpPr>
        <p:spPr>
          <a:xfrm>
            <a:off x="9893808" y="1835834"/>
            <a:ext cx="402285" cy="160372"/>
          </a:xfrm>
          <a:prstGeom prst="rect">
            <a:avLst/>
          </a:prstGeom>
          <a:solidFill>
            <a:srgbClr val="12A566"/>
          </a:solidFill>
          <a:ln/>
        </p:spPr>
      </p:sp>
      <p:sp>
        <p:nvSpPr>
          <p:cNvPr id="82" name="Text 80"/>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$213</a:t>
            </a:r>
            <a:endParaRPr lang="en-US" sz="1300" dirty="0"/>
          </a:p>
        </p:txBody>
      </p:sp>
      <p:sp>
        <p:nvSpPr>
          <p:cNvPr id="83" name="Text 81"/>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4" name="Shape 82"/>
          <p:cNvSpPr/>
          <p:nvPr/>
        </p:nvSpPr>
        <p:spPr>
          <a:xfrm>
            <a:off x="9893808" y="2156577"/>
            <a:ext cx="401345" cy="160372"/>
          </a:xfrm>
          <a:prstGeom prst="rect">
            <a:avLst/>
          </a:prstGeom>
          <a:solidFill>
            <a:srgbClr val="12A566"/>
          </a:solidFill>
          <a:ln/>
        </p:spPr>
      </p:sp>
      <p:sp>
        <p:nvSpPr>
          <p:cNvPr id="85" name="Text 83"/>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Shape 85"/>
          <p:cNvSpPr/>
          <p:nvPr/>
        </p:nvSpPr>
        <p:spPr>
          <a:xfrm>
            <a:off x="9893808" y="2477321"/>
            <a:ext cx="393477" cy="160372"/>
          </a:xfrm>
          <a:prstGeom prst="rect">
            <a:avLst/>
          </a:prstGeom>
          <a:solidFill>
            <a:srgbClr val="12A566"/>
          </a:solidFill>
          <a:ln/>
        </p:spPr>
      </p:sp>
      <p:sp>
        <p:nvSpPr>
          <p:cNvPr id="88" name="Text 86"/>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$208</a:t>
            </a:r>
            <a:endParaRPr lang="en-US" sz="1300" dirty="0"/>
          </a:p>
        </p:txBody>
      </p:sp>
      <p:sp>
        <p:nvSpPr>
          <p:cNvPr id="89" name="Shape 87"/>
          <p:cNvSpPr/>
          <p:nvPr/>
        </p:nvSpPr>
        <p:spPr>
          <a:xfrm>
            <a:off x="7863840" y="2717878"/>
            <a:ext cx="3529584" cy="311599"/>
          </a:xfrm>
          <a:prstGeom prst="rect">
            <a:avLst/>
          </a:prstGeom>
          <a:solidFill>
            <a:srgbClr val="EDF4FA"/>
          </a:solidFill>
          <a:ln/>
        </p:spPr>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91" name="Shape 89"/>
          <p:cNvSpPr/>
          <p:nvPr/>
        </p:nvSpPr>
        <p:spPr>
          <a:xfrm>
            <a:off x="9893808" y="2798064"/>
            <a:ext cx="382510" cy="160372"/>
          </a:xfrm>
          <a:prstGeom prst="rect">
            <a:avLst/>
          </a:prstGeom>
          <a:solidFill>
            <a:srgbClr val="0B2C4A"/>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4" name="Shape 92"/>
          <p:cNvSpPr/>
          <p:nvPr/>
        </p:nvSpPr>
        <p:spPr>
          <a:xfrm>
            <a:off x="9893808" y="3118807"/>
            <a:ext cx="370852"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$196</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7" name="Shape 95"/>
          <p:cNvSpPr/>
          <p:nvPr/>
        </p:nvSpPr>
        <p:spPr>
          <a:xfrm>
            <a:off x="9893808" y="3439551"/>
            <a:ext cx="365344"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$193</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0" name="Shape 98"/>
          <p:cNvSpPr/>
          <p:nvPr/>
        </p:nvSpPr>
        <p:spPr>
          <a:xfrm>
            <a:off x="9893808" y="3760294"/>
            <a:ext cx="346140"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$183</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9893808" y="4081038"/>
            <a:ext cx="342275"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$181</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Shape 104"/>
          <p:cNvSpPr/>
          <p:nvPr/>
        </p:nvSpPr>
        <p:spPr>
          <a:xfrm>
            <a:off x="9893808" y="4401781"/>
            <a:ext cx="321936"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$170</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9" name="Shape 107"/>
          <p:cNvSpPr/>
          <p:nvPr/>
        </p:nvSpPr>
        <p:spPr>
          <a:xfrm>
            <a:off x="9893808" y="4722524"/>
            <a:ext cx="290572"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2" name="Shape 110"/>
          <p:cNvSpPr/>
          <p:nvPr/>
        </p:nvSpPr>
        <p:spPr>
          <a:xfrm>
            <a:off x="9893808" y="5043268"/>
            <a:ext cx="289524"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$153</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9893808" y="5364011"/>
            <a:ext cx="281601"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2" name="Shape 10"/>
          <p:cNvSpPr/>
          <p:nvPr/>
        </p:nvSpPr>
        <p:spPr>
          <a:xfrm>
            <a:off x="7269480" y="1920240"/>
            <a:ext cx="54864" cy="178308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5" name="Shape 13"/>
          <p:cNvSpPr/>
          <p:nvPr/>
        </p:nvSpPr>
        <p:spPr>
          <a:xfrm>
            <a:off x="7269480" y="3931920"/>
            <a:ext cx="54864" cy="1783080"/>
          </a:xfrm>
          <a:prstGeom prst="rect">
            <a:avLst/>
          </a:prstGeom>
          <a:solidFill>
            <a:srgbClr val="12A566"/>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8" name="Shape 16"/>
          <p:cNvSpPr/>
          <p:nvPr/>
        </p:nvSpPr>
        <p:spPr>
          <a:xfrm>
            <a:off x="457200" y="6126480"/>
            <a:ext cx="11274552" cy="356616"/>
          </a:xfrm>
          <a:prstGeom prst="rect">
            <a:avLst/>
          </a:prstGeom>
          <a:solidFill>
            <a:srgbClr val="EDF4FA"/>
          </a:solidFill>
          <a:ln/>
        </p:spPr>
      </p:sp>
      <p:sp>
        <p:nvSpPr>
          <p:cNvPr id="19" name="Text 1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MEETINGS JAN &amp; MAY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2" name="Shape 10"/>
          <p:cNvSpPr/>
          <p:nvPr/>
        </p:nvSpPr>
        <p:spPr>
          <a:xfrm>
            <a:off x="7269480" y="1920240"/>
            <a:ext cx="54864" cy="178308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5" name="Shape 13"/>
          <p:cNvSpPr/>
          <p:nvPr/>
        </p:nvSpPr>
        <p:spPr>
          <a:xfrm>
            <a:off x="7269480" y="3931920"/>
            <a:ext cx="54864" cy="1783080"/>
          </a:xfrm>
          <a:prstGeom prst="rect">
            <a:avLst/>
          </a:prstGeom>
          <a:solidFill>
            <a:srgbClr val="2587C5"/>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8" name="Shape 16"/>
          <p:cNvSpPr/>
          <p:nvPr/>
        </p:nvSpPr>
        <p:spPr>
          <a:xfrm>
            <a:off x="457200" y="6126480"/>
            <a:ext cx="11274552" cy="371856"/>
          </a:xfrm>
          <a:prstGeom prst="rect">
            <a:avLst/>
          </a:prstGeom>
          <a:solidFill>
            <a:srgbClr val="EDF4FA"/>
          </a:solidFill>
          <a:ln/>
        </p:spPr>
      </p:sp>
      <p:sp>
        <p:nvSpPr>
          <p:cNvPr id="19"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2" name="Shape 10"/>
          <p:cNvSpPr/>
          <p:nvPr/>
        </p:nvSpPr>
        <p:spPr>
          <a:xfrm>
            <a:off x="7269480" y="1920240"/>
            <a:ext cx="54864" cy="178308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5" name="Shape 13"/>
          <p:cNvSpPr/>
          <p:nvPr/>
        </p:nvSpPr>
        <p:spPr>
          <a:xfrm>
            <a:off x="7269480" y="3931920"/>
            <a:ext cx="54864" cy="1783080"/>
          </a:xfrm>
          <a:prstGeom prst="rect">
            <a:avLst/>
          </a:prstGeom>
          <a:solidFill>
            <a:srgbClr val="C2352F"/>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8" name="Shape 16"/>
          <p:cNvSpPr/>
          <p:nvPr/>
        </p:nvSpPr>
        <p:spPr>
          <a:xfrm>
            <a:off x="457200" y="6126480"/>
            <a:ext cx="11274552" cy="615696"/>
          </a:xfrm>
          <a:prstGeom prst="rect">
            <a:avLst/>
          </a:prstGeom>
          <a:solidFill>
            <a:srgbClr val="EDF4FA"/>
          </a:solidFill>
          <a:ln/>
        </p:spPr>
      </p:sp>
      <p:sp>
        <p:nvSpPr>
          <p:cNvPr id="19" name="Text 1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5" name="Shape 13"/>
          <p:cNvSpPr/>
          <p:nvPr/>
        </p:nvSpPr>
        <p:spPr>
          <a:xfrm>
            <a:off x="7269480" y="3261360"/>
            <a:ext cx="54864" cy="1112520"/>
          </a:xfrm>
          <a:prstGeom prst="rect">
            <a:avLst/>
          </a:prstGeom>
          <a:solidFill>
            <a:srgbClr val="C2352F"/>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6.8% → 13.3%</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7.8% → 11.5%</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23.0% → 25.4%</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14.1% → 16.2%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11.4% → 12.9%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5.9% → 7.7%</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 → 8.9%</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10.3% → 11.0%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+0.6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 → 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15.5%</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4.6% → 6.1%</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2.4% → 3.9%</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7.7% → 8.9%</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4.8% → 6.0%</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6.4% → 8.9%</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8.8% → 10.2%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0.3% → 1.5%</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8.0% → 9.0%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3.0% → 3.9%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+0.8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 JAN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2" name="Shape 10"/>
          <p:cNvSpPr/>
          <p:nvPr/>
        </p:nvSpPr>
        <p:spPr>
          <a:xfrm>
            <a:off x="7269480" y="1920240"/>
            <a:ext cx="54864" cy="178308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5" name="Shape 13"/>
          <p:cNvSpPr/>
          <p:nvPr/>
        </p:nvSpPr>
        <p:spPr>
          <a:xfrm>
            <a:off x="7269480" y="3931920"/>
            <a:ext cx="54864" cy="1783080"/>
          </a:xfrm>
          <a:prstGeom prst="rect">
            <a:avLst/>
          </a:prstGeom>
          <a:solidFill>
            <a:srgbClr val="2587C5"/>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−8,873</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ROs, down to 126,891. Volume follows OEM campaigns and recalls.</a:t>
            </a:r>
            <a:endParaRPr lang="en-US" sz="1400" dirty="0"/>
          </a:p>
        </p:txBody>
      </p:sp>
      <p:sp>
        <p:nvSpPr>
          <p:cNvPr id="18" name="Shape 16"/>
          <p:cNvSpPr/>
          <p:nvPr/>
        </p:nvSpPr>
        <p:spPr>
          <a:xfrm>
            <a:off x="457200" y="6126480"/>
            <a:ext cx="11274552" cy="371856"/>
          </a:xfrm>
          <a:prstGeom prst="rect">
            <a:avLst/>
          </a:prstGeom>
          <a:solidFill>
            <a:srgbClr val="EDF4FA"/>
          </a:solidFill>
          <a:ln/>
        </p:spPr>
      </p:sp>
      <p:sp>
        <p:nvSpPr>
          <p:cNvPr id="19"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FBEBEA"/>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2" name="Shape 10"/>
          <p:cNvSpPr/>
          <p:nvPr/>
        </p:nvSpPr>
        <p:spPr>
          <a:xfrm>
            <a:off x="7269480" y="1920240"/>
            <a:ext cx="54864" cy="111252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21" name="Shape 19"/>
          <p:cNvSpPr/>
          <p:nvPr/>
        </p:nvSpPr>
        <p:spPr>
          <a:xfrm>
            <a:off x="457200" y="6126480"/>
            <a:ext cx="11274552" cy="615696"/>
          </a:xfrm>
          <a:prstGeom prst="rect">
            <a:avLst/>
          </a:prstGeom>
          <a:solidFill>
            <a:srgbClr val="EDF4FA"/>
          </a:solidFill>
          <a:ln/>
        </p:spPr>
      </p:sp>
      <p:sp>
        <p:nvSpPr>
          <p:cNvPr id="22" name="Text 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MEETINGS JAN &amp; MAY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2" name="Shape 10"/>
          <p:cNvSpPr/>
          <p:nvPr/>
        </p:nvSpPr>
        <p:spPr>
          <a:xfrm>
            <a:off x="7269480" y="1920240"/>
            <a:ext cx="54864" cy="178308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5" name="Shape 13"/>
          <p:cNvSpPr/>
          <p:nvPr/>
        </p:nvSpPr>
        <p:spPr>
          <a:xfrm>
            <a:off x="7269480" y="3931920"/>
            <a:ext cx="54864" cy="1783080"/>
          </a:xfrm>
          <a:prstGeom prst="rect">
            <a:avLst/>
          </a:prstGeom>
          <a:solidFill>
            <a:srgbClr val="C2352F"/>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8" name="Shape 16"/>
          <p:cNvSpPr/>
          <p:nvPr/>
        </p:nvSpPr>
        <p:spPr>
          <a:xfrm>
            <a:off x="457200" y="6126480"/>
            <a:ext cx="11274552" cy="371856"/>
          </a:xfrm>
          <a:prstGeom prst="rect">
            <a:avLst/>
          </a:prstGeom>
          <a:solidFill>
            <a:srgbClr val="EDF4FA"/>
          </a:solidFill>
          <a:ln/>
        </p:spPr>
      </p:sp>
      <p:sp>
        <p:nvSpPr>
          <p:cNvPr id="19"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 name="Shape 9"/>
          <p:cNvSpPr/>
          <p:nvPr/>
        </p:nvSpPr>
        <p:spPr>
          <a:xfrm>
            <a:off x="2267712" y="2156577"/>
            <a:ext cx="1017185"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192</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77321"/>
            <a:ext cx="853681"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161</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7" name="Shape 15"/>
          <p:cNvSpPr/>
          <p:nvPr/>
        </p:nvSpPr>
        <p:spPr>
          <a:xfrm>
            <a:off x="2267712" y="2798064"/>
            <a:ext cx="706409"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133</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 name="Shape 18"/>
          <p:cNvSpPr/>
          <p:nvPr/>
        </p:nvSpPr>
        <p:spPr>
          <a:xfrm>
            <a:off x="2267712" y="3118807"/>
            <a:ext cx="660413"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124</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650307"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7" name="Shape 25"/>
          <p:cNvSpPr/>
          <p:nvPr/>
        </p:nvSpPr>
        <p:spPr>
          <a:xfrm>
            <a:off x="2267712" y="3760294"/>
            <a:ext cx="590102"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111</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473828"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89</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3" name="Shape 31"/>
          <p:cNvSpPr/>
          <p:nvPr/>
        </p:nvSpPr>
        <p:spPr>
          <a:xfrm>
            <a:off x="2267712" y="4401781"/>
            <a:ext cx="453135"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85</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722524"/>
            <a:ext cx="376138"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123  </a:t>
            </a:r>
            <a:pPr indent="0" marL="0">
              <a:buNone/>
            </a:pPr>
            <a:r>
              <a:rPr lang="en-US" sz="1400" b="1" dirty="0">
                <a:solidFill>
                  <a:srgbClr val="A82B26"/>
                </a:solidFill>
                <a:latin typeface="Inter" pitchFamily="34" charset="0"/>
                <a:ea typeface="Inter" pitchFamily="34" charset="-122"/>
                <a:cs typeface="Inter" pitchFamily="34" charset="-120"/>
              </a:rPr>
              <a:t>(−9)</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176  </a:t>
            </a:r>
            <a:pPr indent="0" marL="0">
              <a:buNone/>
            </a:pPr>
            <a:r>
              <a:rPr lang="en-US" sz="1400" b="1" dirty="0">
                <a:solidFill>
                  <a:srgbClr val="A82B26"/>
                </a:solidFill>
                <a:latin typeface="Inter" pitchFamily="34" charset="0"/>
                <a:ea typeface="Inter" pitchFamily="34" charset="-122"/>
                <a:cs typeface="Inter" pitchFamily="34" charset="-120"/>
              </a:rPr>
              <a:t>(−5)</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253</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5" name="Shape 43"/>
          <p:cNvSpPr/>
          <p:nvPr/>
        </p:nvSpPr>
        <p:spPr>
          <a:xfrm>
            <a:off x="6291072" y="2156577"/>
            <a:ext cx="604201"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244</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8" name="Shape 46"/>
          <p:cNvSpPr/>
          <p:nvPr/>
        </p:nvSpPr>
        <p:spPr>
          <a:xfrm>
            <a:off x="6291072" y="2477321"/>
            <a:ext cx="573402"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231</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6291072" y="2798064"/>
            <a:ext cx="560822"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4" name="Shape 52"/>
          <p:cNvSpPr/>
          <p:nvPr/>
        </p:nvSpPr>
        <p:spPr>
          <a:xfrm>
            <a:off x="6291072" y="3118807"/>
            <a:ext cx="560053"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7" name="Shape 55"/>
          <p:cNvSpPr/>
          <p:nvPr/>
        </p:nvSpPr>
        <p:spPr>
          <a:xfrm>
            <a:off x="6291072" y="3439551"/>
            <a:ext cx="556802"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225</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0" name="Shape 58"/>
          <p:cNvSpPr/>
          <p:nvPr/>
        </p:nvSpPr>
        <p:spPr>
          <a:xfrm>
            <a:off x="6291072" y="3760294"/>
            <a:ext cx="486031"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196</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6291072" y="4081038"/>
            <a:ext cx="473501"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191</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6291072" y="4401781"/>
            <a:ext cx="457393"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722524"/>
            <a:ext cx="447997"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181</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2" name="Shape 70"/>
          <p:cNvSpPr/>
          <p:nvPr/>
        </p:nvSpPr>
        <p:spPr>
          <a:xfrm>
            <a:off x="6291072" y="5043268"/>
            <a:ext cx="446678"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180</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Shape 73"/>
          <p:cNvSpPr/>
          <p:nvPr/>
        </p:nvSpPr>
        <p:spPr>
          <a:xfrm>
            <a:off x="6291072" y="5364011"/>
            <a:ext cx="441364"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178</a:t>
            </a:r>
            <a:endParaRPr lang="en-US" sz="1300" dirty="0"/>
          </a:p>
        </p:txBody>
      </p:sp>
      <p:sp>
        <p:nvSpPr>
          <p:cNvPr id="77" name="Shape 75"/>
          <p:cNvSpPr/>
          <p:nvPr/>
        </p:nvSpPr>
        <p:spPr>
          <a:xfrm>
            <a:off x="4261104" y="5604569"/>
            <a:ext cx="3529584" cy="311599"/>
          </a:xfrm>
          <a:prstGeom prst="rect">
            <a:avLst/>
          </a:prstGeom>
          <a:solidFill>
            <a:srgbClr val="EDF4FA"/>
          </a:solidFill>
          <a:ln/>
        </p:spPr>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9" name="Shape 77"/>
          <p:cNvSpPr/>
          <p:nvPr/>
        </p:nvSpPr>
        <p:spPr>
          <a:xfrm>
            <a:off x="6291072" y="5684754"/>
            <a:ext cx="436715" cy="160372"/>
          </a:xfrm>
          <a:prstGeom prst="rect">
            <a:avLst/>
          </a:prstGeom>
          <a:solidFill>
            <a:srgbClr val="0B2C4A"/>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176</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Shape 80"/>
          <p:cNvSpPr/>
          <p:nvPr/>
        </p:nvSpPr>
        <p:spPr>
          <a:xfrm>
            <a:off x="9893808" y="1835834"/>
            <a:ext cx="434988"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175</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5" name="Shape 83"/>
          <p:cNvSpPr/>
          <p:nvPr/>
        </p:nvSpPr>
        <p:spPr>
          <a:xfrm>
            <a:off x="9893808" y="2156577"/>
            <a:ext cx="426487"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172</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8" name="Shape 86"/>
          <p:cNvSpPr/>
          <p:nvPr/>
        </p:nvSpPr>
        <p:spPr>
          <a:xfrm>
            <a:off x="9893808" y="2477321"/>
            <a:ext cx="409834"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165</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94046"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4" name="Shape 92"/>
          <p:cNvSpPr/>
          <p:nvPr/>
        </p:nvSpPr>
        <p:spPr>
          <a:xfrm>
            <a:off x="9893808" y="3118807"/>
            <a:ext cx="380753"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7" name="Shape 95"/>
          <p:cNvSpPr/>
          <p:nvPr/>
        </p:nvSpPr>
        <p:spPr>
          <a:xfrm>
            <a:off x="9893808" y="3439551"/>
            <a:ext cx="354368"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Shape 98"/>
          <p:cNvSpPr/>
          <p:nvPr/>
        </p:nvSpPr>
        <p:spPr>
          <a:xfrm>
            <a:off x="9893808" y="3760294"/>
            <a:ext cx="343647"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139</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3" name="Shape 101"/>
          <p:cNvSpPr/>
          <p:nvPr/>
        </p:nvSpPr>
        <p:spPr>
          <a:xfrm>
            <a:off x="9893808" y="4081038"/>
            <a:ext cx="317068"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128</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401781"/>
            <a:ext cx="304634"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123</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893808" y="4722524"/>
            <a:ext cx="296380"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120</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2" name="Shape 110"/>
          <p:cNvSpPr/>
          <p:nvPr/>
        </p:nvSpPr>
        <p:spPr>
          <a:xfrm>
            <a:off x="9893808" y="5043268"/>
            <a:ext cx="293723"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118</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5" name="Shape 113"/>
          <p:cNvSpPr/>
          <p:nvPr/>
        </p:nvSpPr>
        <p:spPr>
          <a:xfrm>
            <a:off x="9893808" y="5364011"/>
            <a:ext cx="289048"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117</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24.9</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 name="Shape 9"/>
          <p:cNvSpPr/>
          <p:nvPr/>
        </p:nvSpPr>
        <p:spPr>
          <a:xfrm>
            <a:off x="2267712" y="2156577"/>
            <a:ext cx="1013961"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24.5</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77321"/>
            <a:ext cx="803240"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 name="Shape 15"/>
          <p:cNvSpPr/>
          <p:nvPr/>
        </p:nvSpPr>
        <p:spPr>
          <a:xfrm>
            <a:off x="2267712" y="2798064"/>
            <a:ext cx="789066"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19.0</a:t>
            </a:r>
            <a:endParaRPr lang="en-US" sz="1300" dirty="0"/>
          </a:p>
        </p:txBody>
      </p:sp>
      <p:sp>
        <p:nvSpPr>
          <p:cNvPr id="19" name="Shape 17"/>
          <p:cNvSpPr/>
          <p:nvPr/>
        </p:nvSpPr>
        <p:spPr>
          <a:xfrm>
            <a:off x="603504" y="3038622"/>
            <a:ext cx="3566160" cy="311599"/>
          </a:xfrm>
          <a:prstGeom prst="rect">
            <a:avLst/>
          </a:prstGeom>
          <a:solidFill>
            <a:srgbClr val="EDF4FA"/>
          </a:solidFill>
          <a:ln/>
        </p:spPr>
      </p:sp>
      <p:sp>
        <p:nvSpPr>
          <p:cNvPr id="20" name="Text 18"/>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1" name="Shape 19"/>
          <p:cNvSpPr/>
          <p:nvPr/>
        </p:nvSpPr>
        <p:spPr>
          <a:xfrm>
            <a:off x="2267712" y="3118807"/>
            <a:ext cx="723520" cy="160372"/>
          </a:xfrm>
          <a:prstGeom prst="rect">
            <a:avLst/>
          </a:prstGeom>
          <a:solidFill>
            <a:srgbClr val="0B2C4A"/>
          </a:solidFill>
          <a:ln/>
        </p:spPr>
      </p:sp>
      <p:sp>
        <p:nvSpPr>
          <p:cNvPr id="22" name="Text 20"/>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17.4</a:t>
            </a:r>
            <a:endParaRPr lang="en-US" sz="1300" dirty="0"/>
          </a:p>
        </p:txBody>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4" name="Shape 22"/>
          <p:cNvSpPr/>
          <p:nvPr/>
        </p:nvSpPr>
        <p:spPr>
          <a:xfrm>
            <a:off x="2267712" y="3439551"/>
            <a:ext cx="696638" cy="160372"/>
          </a:xfrm>
          <a:prstGeom prst="rect">
            <a:avLst/>
          </a:prstGeom>
          <a:solidFill>
            <a:srgbClr val="C2352F"/>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16.8</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7" name="Shape 25"/>
          <p:cNvSpPr/>
          <p:nvPr/>
        </p:nvSpPr>
        <p:spPr>
          <a:xfrm>
            <a:off x="2267712" y="3760294"/>
            <a:ext cx="610545"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610365"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60984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722524"/>
            <a:ext cx="565884"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13.6</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29.3  </a:t>
            </a:r>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39.8</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6291072" y="2156577"/>
            <a:ext cx="606544"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38.5</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8" name="Shape 46"/>
          <p:cNvSpPr/>
          <p:nvPr/>
        </p:nvSpPr>
        <p:spPr>
          <a:xfrm>
            <a:off x="6291072" y="2477321"/>
            <a:ext cx="589437"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37.4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1" name="Shape 49"/>
          <p:cNvSpPr/>
          <p:nvPr/>
        </p:nvSpPr>
        <p:spPr>
          <a:xfrm>
            <a:off x="6291072" y="2798064"/>
            <a:ext cx="580151"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36.8</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4" name="Shape 52"/>
          <p:cNvSpPr/>
          <p:nvPr/>
        </p:nvSpPr>
        <p:spPr>
          <a:xfrm>
            <a:off x="6291072" y="3118807"/>
            <a:ext cx="575467"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36.5</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7" name="Shape 55"/>
          <p:cNvSpPr/>
          <p:nvPr/>
        </p:nvSpPr>
        <p:spPr>
          <a:xfrm>
            <a:off x="6291072" y="3439551"/>
            <a:ext cx="551497"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35.0</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0" name="Shape 58"/>
          <p:cNvSpPr/>
          <p:nvPr/>
        </p:nvSpPr>
        <p:spPr>
          <a:xfrm>
            <a:off x="6291072" y="3760294"/>
            <a:ext cx="547212"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3" name="Shape 61"/>
          <p:cNvSpPr/>
          <p:nvPr/>
        </p:nvSpPr>
        <p:spPr>
          <a:xfrm>
            <a:off x="6291072" y="4081038"/>
            <a:ext cx="511058"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32.4</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Shape 64"/>
          <p:cNvSpPr/>
          <p:nvPr/>
        </p:nvSpPr>
        <p:spPr>
          <a:xfrm>
            <a:off x="6291072" y="4401781"/>
            <a:ext cx="495037"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722524"/>
            <a:ext cx="494875"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2" name="Shape 70"/>
          <p:cNvSpPr/>
          <p:nvPr/>
        </p:nvSpPr>
        <p:spPr>
          <a:xfrm>
            <a:off x="6291072" y="5043268"/>
            <a:ext cx="494676"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5" name="Shape 73"/>
          <p:cNvSpPr/>
          <p:nvPr/>
        </p:nvSpPr>
        <p:spPr>
          <a:xfrm>
            <a:off x="6291072" y="5364011"/>
            <a:ext cx="492545"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31.3</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6291072" y="5684754"/>
            <a:ext cx="490000"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31.1</a:t>
            </a:r>
            <a:endParaRPr lang="en-US" sz="1300" dirty="0"/>
          </a:p>
        </p:txBody>
      </p:sp>
      <p:sp>
        <p:nvSpPr>
          <p:cNvPr id="80" name="Text 78"/>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1" name="Shape 79"/>
          <p:cNvSpPr/>
          <p:nvPr/>
        </p:nvSpPr>
        <p:spPr>
          <a:xfrm>
            <a:off x="9893808" y="1835834"/>
            <a:ext cx="481392" cy="160372"/>
          </a:xfrm>
          <a:prstGeom prst="rect">
            <a:avLst/>
          </a:prstGeom>
          <a:solidFill>
            <a:srgbClr val="12A566"/>
          </a:solidFill>
          <a:ln/>
        </p:spPr>
      </p:sp>
      <p:sp>
        <p:nvSpPr>
          <p:cNvPr id="82" name="Text 80"/>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30.6</a:t>
            </a:r>
            <a:endParaRPr lang="en-US" sz="1300" dirty="0"/>
          </a:p>
        </p:txBody>
      </p:sp>
      <p:sp>
        <p:nvSpPr>
          <p:cNvPr id="83" name="Shape 81"/>
          <p:cNvSpPr/>
          <p:nvPr/>
        </p:nvSpPr>
        <p:spPr>
          <a:xfrm>
            <a:off x="7863840" y="2076391"/>
            <a:ext cx="3529584" cy="311599"/>
          </a:xfrm>
          <a:prstGeom prst="rect">
            <a:avLst/>
          </a:prstGeom>
          <a:solidFill>
            <a:srgbClr val="EDF4FA"/>
          </a:solidFill>
          <a:ln/>
        </p:spPr>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85" name="Shape 83"/>
          <p:cNvSpPr/>
          <p:nvPr/>
        </p:nvSpPr>
        <p:spPr>
          <a:xfrm>
            <a:off x="9893808" y="2156577"/>
            <a:ext cx="460833" cy="160372"/>
          </a:xfrm>
          <a:prstGeom prst="rect">
            <a:avLst/>
          </a:prstGeom>
          <a:solidFill>
            <a:srgbClr val="0B2C4A"/>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29.3</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8" name="Shape 86"/>
          <p:cNvSpPr/>
          <p:nvPr/>
        </p:nvSpPr>
        <p:spPr>
          <a:xfrm>
            <a:off x="9893808" y="2477321"/>
            <a:ext cx="454080"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1" name="Shape 89"/>
          <p:cNvSpPr/>
          <p:nvPr/>
        </p:nvSpPr>
        <p:spPr>
          <a:xfrm>
            <a:off x="9893808" y="2798064"/>
            <a:ext cx="444605"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28.2</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4" name="Shape 92"/>
          <p:cNvSpPr/>
          <p:nvPr/>
        </p:nvSpPr>
        <p:spPr>
          <a:xfrm>
            <a:off x="9893808" y="3118807"/>
            <a:ext cx="401239"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25.5</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7" name="Shape 95"/>
          <p:cNvSpPr/>
          <p:nvPr/>
        </p:nvSpPr>
        <p:spPr>
          <a:xfrm>
            <a:off x="9893808" y="3439551"/>
            <a:ext cx="372474"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23.6</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0" name="Shape 98"/>
          <p:cNvSpPr/>
          <p:nvPr/>
        </p:nvSpPr>
        <p:spPr>
          <a:xfrm>
            <a:off x="9893808" y="3760294"/>
            <a:ext cx="356634"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22.6</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3" name="Shape 101"/>
          <p:cNvSpPr/>
          <p:nvPr/>
        </p:nvSpPr>
        <p:spPr>
          <a:xfrm>
            <a:off x="9893808" y="4081038"/>
            <a:ext cx="348422"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22.1</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6" name="Shape 104"/>
          <p:cNvSpPr/>
          <p:nvPr/>
        </p:nvSpPr>
        <p:spPr>
          <a:xfrm>
            <a:off x="9893808" y="4401781"/>
            <a:ext cx="329527"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20.9</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09" name="Shape 107"/>
          <p:cNvSpPr/>
          <p:nvPr/>
        </p:nvSpPr>
        <p:spPr>
          <a:xfrm>
            <a:off x="9893808" y="4722524"/>
            <a:ext cx="320181"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9893808" y="5043268"/>
            <a:ext cx="30223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364011"/>
            <a:ext cx="273210"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17.3</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491</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1" name="Shape 9"/>
          <p:cNvSpPr/>
          <p:nvPr/>
        </p:nvSpPr>
        <p:spPr>
          <a:xfrm>
            <a:off x="2267712" y="2156577"/>
            <a:ext cx="769813"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367</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4" name="Shape 12"/>
          <p:cNvSpPr/>
          <p:nvPr/>
        </p:nvSpPr>
        <p:spPr>
          <a:xfrm>
            <a:off x="2267712" y="2477321"/>
            <a:ext cx="698921"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333</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 name="Shape 15"/>
          <p:cNvSpPr/>
          <p:nvPr/>
        </p:nvSpPr>
        <p:spPr>
          <a:xfrm>
            <a:off x="2267712" y="2798064"/>
            <a:ext cx="612008"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291</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267712" y="3118807"/>
            <a:ext cx="603842"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288</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578725"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7" name="Shape 25"/>
          <p:cNvSpPr/>
          <p:nvPr/>
        </p:nvSpPr>
        <p:spPr>
          <a:xfrm>
            <a:off x="2267712" y="3760294"/>
            <a:ext cx="528813"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252</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416716"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198</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3" name="Shape 31"/>
          <p:cNvSpPr/>
          <p:nvPr/>
        </p:nvSpPr>
        <p:spPr>
          <a:xfrm>
            <a:off x="2267712" y="4401781"/>
            <a:ext cx="297721"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6" name="Shape 34"/>
          <p:cNvSpPr/>
          <p:nvPr/>
        </p:nvSpPr>
        <p:spPr>
          <a:xfrm>
            <a:off x="2267712" y="4722524"/>
            <a:ext cx="249073"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119</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276  </a:t>
            </a:r>
            <a:pP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(+17)</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1,022</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5" name="Shape 43"/>
          <p:cNvSpPr/>
          <p:nvPr/>
        </p:nvSpPr>
        <p:spPr>
          <a:xfrm>
            <a:off x="6291072" y="2156577"/>
            <a:ext cx="469928"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765</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8" name="Shape 46"/>
          <p:cNvSpPr/>
          <p:nvPr/>
        </p:nvSpPr>
        <p:spPr>
          <a:xfrm>
            <a:off x="6291072" y="2477321"/>
            <a:ext cx="421230"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686</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1" name="Shape 49"/>
          <p:cNvSpPr/>
          <p:nvPr/>
        </p:nvSpPr>
        <p:spPr>
          <a:xfrm>
            <a:off x="6291072" y="2798064"/>
            <a:ext cx="403488"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657</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4" name="Shape 52"/>
          <p:cNvSpPr/>
          <p:nvPr/>
        </p:nvSpPr>
        <p:spPr>
          <a:xfrm>
            <a:off x="6291072" y="3118807"/>
            <a:ext cx="362659"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591</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6291072" y="3439551"/>
            <a:ext cx="343763"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560</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0" name="Shape 58"/>
          <p:cNvSpPr/>
          <p:nvPr/>
        </p:nvSpPr>
        <p:spPr>
          <a:xfrm>
            <a:off x="6291072" y="3760294"/>
            <a:ext cx="262373"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427</a:t>
            </a:r>
            <a:endParaRPr lang="en-US" sz="1300" dirty="0"/>
          </a:p>
        </p:txBody>
      </p:sp>
      <p:sp>
        <p:nvSpPr>
          <p:cNvPr id="62" name="Shape 60"/>
          <p:cNvSpPr/>
          <p:nvPr/>
        </p:nvSpPr>
        <p:spPr>
          <a:xfrm>
            <a:off x="4261104" y="4000852"/>
            <a:ext cx="3529584" cy="311599"/>
          </a:xfrm>
          <a:prstGeom prst="rect">
            <a:avLst/>
          </a:prstGeom>
          <a:solidFill>
            <a:srgbClr val="EDF4FA"/>
          </a:solidFill>
          <a:ln/>
        </p:spPr>
      </p:sp>
      <p:sp>
        <p:nvSpPr>
          <p:cNvPr id="63" name="Text 61"/>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64" name="Shape 62"/>
          <p:cNvSpPr/>
          <p:nvPr/>
        </p:nvSpPr>
        <p:spPr>
          <a:xfrm>
            <a:off x="6291072" y="4081038"/>
            <a:ext cx="256715" cy="160372"/>
          </a:xfrm>
          <a:prstGeom prst="rect">
            <a:avLst/>
          </a:prstGeom>
          <a:solidFill>
            <a:srgbClr val="0B2C4A"/>
          </a:solidFill>
          <a:ln/>
        </p:spPr>
      </p:sp>
      <p:sp>
        <p:nvSpPr>
          <p:cNvPr id="65" name="Text 63"/>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418</a:t>
            </a:r>
            <a:endParaRPr lang="en-US" sz="1300" dirty="0"/>
          </a:p>
        </p:txBody>
      </p:sp>
      <p:sp>
        <p:nvSpPr>
          <p:cNvPr id="66" name="Text 64"/>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67" name="Shape 65"/>
          <p:cNvSpPr/>
          <p:nvPr/>
        </p:nvSpPr>
        <p:spPr>
          <a:xfrm>
            <a:off x="6291072" y="4401781"/>
            <a:ext cx="245067" cy="160372"/>
          </a:xfrm>
          <a:prstGeom prst="rect">
            <a:avLst/>
          </a:prstGeom>
          <a:solidFill>
            <a:srgbClr val="C2352F"/>
          </a:solidFill>
          <a:ln/>
        </p:spPr>
      </p:sp>
      <p:sp>
        <p:nvSpPr>
          <p:cNvPr id="68" name="Text 66"/>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399</a:t>
            </a:r>
            <a:endParaRPr lang="en-US" sz="1300" dirty="0"/>
          </a:p>
        </p:txBody>
      </p:sp>
      <p:sp>
        <p:nvSpPr>
          <p:cNvPr id="69" name="Text 67"/>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0" name="Shape 68"/>
          <p:cNvSpPr/>
          <p:nvPr/>
        </p:nvSpPr>
        <p:spPr>
          <a:xfrm>
            <a:off x="6291072" y="4722524"/>
            <a:ext cx="240759" cy="160372"/>
          </a:xfrm>
          <a:prstGeom prst="rect">
            <a:avLst/>
          </a:prstGeom>
          <a:solidFill>
            <a:srgbClr val="C2352F"/>
          </a:solidFill>
          <a:ln/>
        </p:spPr>
      </p:sp>
      <p:sp>
        <p:nvSpPr>
          <p:cNvPr id="71" name="Text 69"/>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392</a:t>
            </a:r>
            <a:endParaRPr lang="en-US" sz="1300" dirty="0"/>
          </a:p>
        </p:txBody>
      </p:sp>
      <p:sp>
        <p:nvSpPr>
          <p:cNvPr id="72" name="Text 70"/>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3" name="Shape 71"/>
          <p:cNvSpPr/>
          <p:nvPr/>
        </p:nvSpPr>
        <p:spPr>
          <a:xfrm>
            <a:off x="6291072" y="5043268"/>
            <a:ext cx="231188" cy="160372"/>
          </a:xfrm>
          <a:prstGeom prst="rect">
            <a:avLst/>
          </a:prstGeom>
          <a:solidFill>
            <a:srgbClr val="C2352F"/>
          </a:solidFill>
          <a:ln/>
        </p:spPr>
      </p:sp>
      <p:sp>
        <p:nvSpPr>
          <p:cNvPr id="74" name="Text 72"/>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376</a:t>
            </a:r>
            <a:endParaRPr lang="en-US" sz="1300" dirty="0"/>
          </a:p>
        </p:txBody>
      </p:sp>
      <p:sp>
        <p:nvSpPr>
          <p:cNvPr id="75" name="Text 73"/>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6" name="Shape 74"/>
          <p:cNvSpPr/>
          <p:nvPr/>
        </p:nvSpPr>
        <p:spPr>
          <a:xfrm>
            <a:off x="6291072" y="5364011"/>
            <a:ext cx="226867" cy="160372"/>
          </a:xfrm>
          <a:prstGeom prst="rect">
            <a:avLst/>
          </a:prstGeom>
          <a:solidFill>
            <a:srgbClr val="C2352F"/>
          </a:solidFill>
          <a:ln/>
        </p:spPr>
      </p:sp>
      <p:sp>
        <p:nvSpPr>
          <p:cNvPr id="77" name="Text 75"/>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369</a:t>
            </a:r>
            <a:endParaRPr lang="en-US" sz="1300" dirty="0"/>
          </a:p>
        </p:txBody>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Shape 77"/>
          <p:cNvSpPr/>
          <p:nvPr/>
        </p:nvSpPr>
        <p:spPr>
          <a:xfrm>
            <a:off x="6291072" y="5684754"/>
            <a:ext cx="218633" cy="160372"/>
          </a:xfrm>
          <a:prstGeom prst="rect">
            <a:avLst/>
          </a:prstGeom>
          <a:solidFill>
            <a:srgbClr val="C2352F"/>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356</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2" name="Shape 80"/>
          <p:cNvSpPr/>
          <p:nvPr/>
        </p:nvSpPr>
        <p:spPr>
          <a:xfrm>
            <a:off x="9893808" y="1835834"/>
            <a:ext cx="215740"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351</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5" name="Shape 83"/>
          <p:cNvSpPr/>
          <p:nvPr/>
        </p:nvSpPr>
        <p:spPr>
          <a:xfrm>
            <a:off x="9893808" y="2156577"/>
            <a:ext cx="200777"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327</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9893808" y="2477321"/>
            <a:ext cx="189359"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308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Shape 89"/>
          <p:cNvSpPr/>
          <p:nvPr/>
        </p:nvSpPr>
        <p:spPr>
          <a:xfrm>
            <a:off x="9893808" y="2798064"/>
            <a:ext cx="183877"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299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9893808" y="3118807"/>
            <a:ext cx="167591"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7" name="Shape 95"/>
          <p:cNvSpPr/>
          <p:nvPr/>
        </p:nvSpPr>
        <p:spPr>
          <a:xfrm>
            <a:off x="9893808" y="3439551"/>
            <a:ext cx="167045"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272</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0" name="Shape 98"/>
          <p:cNvSpPr/>
          <p:nvPr/>
        </p:nvSpPr>
        <p:spPr>
          <a:xfrm>
            <a:off x="9893808" y="3760294"/>
            <a:ext cx="14273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232</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9893808" y="4081038"/>
            <a:ext cx="141456"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230</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401781"/>
            <a:ext cx="135110"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220</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9" name="Shape 107"/>
          <p:cNvSpPr/>
          <p:nvPr/>
        </p:nvSpPr>
        <p:spPr>
          <a:xfrm>
            <a:off x="9893808" y="4722524"/>
            <a:ext cx="124834"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2" name="Shape 110"/>
          <p:cNvSpPr/>
          <p:nvPr/>
        </p:nvSpPr>
        <p:spPr>
          <a:xfrm>
            <a:off x="9893808" y="5043268"/>
            <a:ext cx="11820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364011"/>
            <a:ext cx="94304"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paid hours). 20 of 33 stores at or above 85%.</a:t>
            </a:r>
            <a:endParaRPr lang="en-US" sz="1400" dirty="0"/>
          </a:p>
        </p:txBody>
      </p:sp>
      <p:sp>
        <p:nvSpPr>
          <p:cNvPr id="15" name="Shape 13"/>
          <p:cNvSpPr/>
          <p:nvPr/>
        </p:nvSpPr>
        <p:spPr>
          <a:xfrm>
            <a:off x="7269480" y="3261360"/>
            <a:ext cx="54864" cy="1112520"/>
          </a:xfrm>
          <a:prstGeom prst="rect">
            <a:avLst/>
          </a:prstGeom>
          <a:solidFill>
            <a:srgbClr val="C2352F"/>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21" name="Shape 19"/>
          <p:cNvSpPr/>
          <p:nvPr/>
        </p:nvSpPr>
        <p:spPr>
          <a:xfrm>
            <a:off x="457200" y="6126480"/>
            <a:ext cx="11274552" cy="615696"/>
          </a:xfrm>
          <a:prstGeom prst="rect">
            <a:avLst/>
          </a:prstGeom>
          <a:solidFill>
            <a:srgbClr val="EDF4FA"/>
          </a:solidFill>
          <a:ln/>
        </p:spPr>
      </p:sp>
      <p:sp>
        <p:nvSpPr>
          <p:cNvPr id="22" name="Text 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paid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Paid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paid time</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paid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paid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techs, express techs, team leaders and shop foremen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Same-store: INEOS excluded</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Paid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paid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five stores on each measure, Jan–Sep 2026 vs Jan–Sep 2025</a:t>
            </a:r>
            <a:endParaRPr lang="en-US" sz="1400" dirty="0"/>
          </a:p>
        </p:txBody>
      </p:sp>
      <p:sp>
        <p:nvSpPr>
          <p:cNvPr id="7" name="Shape 5"/>
          <p:cNvSpPr/>
          <p:nvPr/>
        </p:nvSpPr>
        <p:spPr>
          <a:xfrm>
            <a:off x="621792" y="2103120"/>
            <a:ext cx="45720" cy="1783080"/>
          </a:xfrm>
          <a:prstGeom prst="rect">
            <a:avLst/>
          </a:prstGeom>
          <a:solidFill>
            <a:srgbClr val="12A566"/>
          </a:solidFill>
          <a:ln/>
        </p:spPr>
      </p:sp>
      <p:sp>
        <p:nvSpPr>
          <p:cNvPr id="8" name="Shape 6"/>
          <p:cNvSpPr/>
          <p:nvPr/>
        </p:nvSpPr>
        <p:spPr>
          <a:xfrm>
            <a:off x="685800" y="2103120"/>
            <a:ext cx="10881360" cy="356616"/>
          </a:xfrm>
          <a:prstGeom prst="rect">
            <a:avLst/>
          </a:prstGeom>
          <a:solidFill>
            <a:srgbClr val="F7F7F7"/>
          </a:solidFill>
          <a:ln/>
        </p:spPr>
      </p:sp>
      <p:sp>
        <p:nvSpPr>
          <p:cNvPr id="9" name="Text 7"/>
          <p:cNvSpPr txBox="1"/>
          <p:nvPr/>
        </p:nvSpPr>
        <p:spPr>
          <a:xfrm>
            <a:off x="676656" y="2103120"/>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p>
        </p:txBody>
      </p:sp>
      <p:sp>
        <p:nvSpPr>
          <p:cNvPr id="10" name="Text 8"/>
          <p:cNvSpPr txBox="1"/>
          <p:nvPr/>
        </p:nvSpPr>
        <p:spPr>
          <a:xfrm>
            <a:off x="676656" y="2459736"/>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p>
        </p:txBody>
      </p:sp>
      <p:sp>
        <p:nvSpPr>
          <p:cNvPr id="11" name="Shape 9"/>
          <p:cNvSpPr/>
          <p:nvPr/>
        </p:nvSpPr>
        <p:spPr>
          <a:xfrm>
            <a:off x="685800" y="2816352"/>
            <a:ext cx="10881360" cy="356616"/>
          </a:xfrm>
          <a:prstGeom prst="rect">
            <a:avLst/>
          </a:prstGeom>
          <a:solidFill>
            <a:srgbClr val="F7F7F7"/>
          </a:solidFill>
          <a:ln/>
        </p:spPr>
      </p:sp>
      <p:sp>
        <p:nvSpPr>
          <p:cNvPr id="12" name="Text 10"/>
          <p:cNvSpPr txBox="1"/>
          <p:nvPr/>
        </p:nvSpPr>
        <p:spPr>
          <a:xfrm>
            <a:off x="676656" y="2816352"/>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13" name="Text 11"/>
          <p:cNvSpPr txBox="1"/>
          <p:nvPr/>
        </p:nvSpPr>
        <p:spPr>
          <a:xfrm>
            <a:off x="676656" y="3172968"/>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4</a:t>
            </a:r>
            <a:endParaRPr lang="en-US" sz="1400" dirty="0"/>
          </a:p>
        </p:txBody>
      </p:sp>
      <p:sp>
        <p:nvSpPr>
          <p:cNvPr id="14" name="Shape 12"/>
          <p:cNvSpPr/>
          <p:nvPr/>
        </p:nvSpPr>
        <p:spPr>
          <a:xfrm>
            <a:off x="685800" y="3529584"/>
            <a:ext cx="10881360" cy="356616"/>
          </a:xfrm>
          <a:prstGeom prst="rect">
            <a:avLst/>
          </a:prstGeom>
          <a:solidFill>
            <a:srgbClr val="F7F7F7"/>
          </a:solidFill>
          <a:ln/>
        </p:spPr>
      </p:sp>
      <p:sp>
        <p:nvSpPr>
          <p:cNvPr id="15" name="Text 13"/>
          <p:cNvSpPr txBox="1"/>
          <p:nvPr/>
        </p:nvSpPr>
        <p:spPr>
          <a:xfrm>
            <a:off x="676656" y="3529584"/>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p>
        </p:txBody>
      </p:sp>
      <p:sp>
        <p:nvSpPr>
          <p:cNvPr id="16" name="Shape 14"/>
          <p:cNvSpPr/>
          <p:nvPr/>
        </p:nvSpPr>
        <p:spPr>
          <a:xfrm>
            <a:off x="621792" y="4005072"/>
            <a:ext cx="45720" cy="1783080"/>
          </a:xfrm>
          <a:prstGeom prst="rect">
            <a:avLst/>
          </a:prstGeom>
          <a:solidFill>
            <a:srgbClr val="C2352F"/>
          </a:solidFill>
          <a:ln/>
        </p:spPr>
      </p:sp>
      <p:sp>
        <p:nvSpPr>
          <p:cNvPr id="17" name="Shape 15"/>
          <p:cNvSpPr/>
          <p:nvPr/>
        </p:nvSpPr>
        <p:spPr>
          <a:xfrm>
            <a:off x="685800" y="4005072"/>
            <a:ext cx="10881360" cy="356616"/>
          </a:xfrm>
          <a:prstGeom prst="rect">
            <a:avLst/>
          </a:prstGeom>
          <a:solidFill>
            <a:srgbClr val="F7F7F7"/>
          </a:solidFill>
          <a:ln/>
        </p:spPr>
      </p:sp>
      <p:sp>
        <p:nvSpPr>
          <p:cNvPr id="18" name="Text 16"/>
          <p:cNvSpPr txBox="1"/>
          <p:nvPr/>
        </p:nvSpPr>
        <p:spPr>
          <a:xfrm>
            <a:off x="676656" y="4005072"/>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19" name="Text 17"/>
          <p:cNvSpPr txBox="1"/>
          <p:nvPr/>
        </p:nvSpPr>
        <p:spPr>
          <a:xfrm>
            <a:off x="676656" y="4361688"/>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20" name="Shape 18"/>
          <p:cNvSpPr/>
          <p:nvPr/>
        </p:nvSpPr>
        <p:spPr>
          <a:xfrm>
            <a:off x="685800" y="4718304"/>
            <a:ext cx="10881360" cy="356616"/>
          </a:xfrm>
          <a:prstGeom prst="rect">
            <a:avLst/>
          </a:prstGeom>
          <a:solidFill>
            <a:srgbClr val="F7F7F7"/>
          </a:solidFill>
          <a:ln/>
        </p:spPr>
      </p:sp>
      <p:sp>
        <p:nvSpPr>
          <p:cNvPr id="21" name="Text 19"/>
          <p:cNvSpPr txBox="1"/>
          <p:nvPr/>
        </p:nvSpPr>
        <p:spPr>
          <a:xfrm>
            <a:off x="676656" y="4718304"/>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31</a:t>
            </a:r>
            <a:endParaRPr lang="en-US" sz="1400" dirty="0"/>
          </a:p>
        </p:txBody>
      </p:sp>
      <p:sp>
        <p:nvSpPr>
          <p:cNvPr id="22" name="Text 20"/>
          <p:cNvSpPr txBox="1"/>
          <p:nvPr/>
        </p:nvSpPr>
        <p:spPr>
          <a:xfrm>
            <a:off x="676656" y="5074920"/>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32</a:t>
            </a:r>
            <a:endParaRPr lang="en-US" sz="1400" dirty="0"/>
          </a:p>
        </p:txBody>
      </p:sp>
      <p:sp>
        <p:nvSpPr>
          <p:cNvPr id="23" name="Shape 21"/>
          <p:cNvSpPr/>
          <p:nvPr/>
        </p:nvSpPr>
        <p:spPr>
          <a:xfrm>
            <a:off x="685800" y="5431536"/>
            <a:ext cx="10881360" cy="356616"/>
          </a:xfrm>
          <a:prstGeom prst="rect">
            <a:avLst/>
          </a:prstGeom>
          <a:solidFill>
            <a:srgbClr val="F7F7F7"/>
          </a:solidFill>
          <a:ln/>
        </p:spPr>
      </p:sp>
      <p:sp>
        <p:nvSpPr>
          <p:cNvPr id="24" name="Text 22"/>
          <p:cNvSpPr txBox="1"/>
          <p:nvPr/>
        </p:nvSpPr>
        <p:spPr>
          <a:xfrm>
            <a:off x="676656" y="5431536"/>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25" name="Shape 23"/>
          <p:cNvSpPr/>
          <p:nvPr/>
        </p:nvSpPr>
        <p:spPr>
          <a:xfrm>
            <a:off x="969264" y="1554480"/>
            <a:ext cx="1670304" cy="45720"/>
          </a:xfrm>
          <a:prstGeom prst="rect">
            <a:avLst/>
          </a:prstGeom>
          <a:solidFill>
            <a:srgbClr val="12A566"/>
          </a:solidFill>
          <a:ln/>
        </p:spPr>
      </p:sp>
      <p:sp>
        <p:nvSpPr>
          <p:cNvPr id="26" name="Text 24"/>
          <p:cNvSpPr txBox="1"/>
          <p:nvPr/>
        </p:nvSpPr>
        <p:spPr>
          <a:xfrm>
            <a:off x="98755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7" name="Text 25"/>
          <p:cNvSpPr txBox="1"/>
          <p:nvPr/>
        </p:nvSpPr>
        <p:spPr>
          <a:xfrm>
            <a:off x="98755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8" name="Text 26"/>
          <p:cNvSpPr txBox="1"/>
          <p:nvPr/>
        </p:nvSpPr>
        <p:spPr>
          <a:xfrm>
            <a:off x="96926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9" name="Text 27"/>
          <p:cNvSpPr txBox="1"/>
          <p:nvPr/>
        </p:nvSpPr>
        <p:spPr>
          <a:xfrm>
            <a:off x="98755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+46.0%</a:t>
            </a:r>
            <a:endParaRPr lang="en-US" sz="1400" dirty="0"/>
          </a:p>
        </p:txBody>
      </p:sp>
      <p:sp>
        <p:nvSpPr>
          <p:cNvPr id="30" name="Text 28"/>
          <p:cNvSpPr txBox="1"/>
          <p:nvPr/>
        </p:nvSpPr>
        <p:spPr>
          <a:xfrm>
            <a:off x="96926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31" name="Text 29"/>
          <p:cNvSpPr txBox="1"/>
          <p:nvPr/>
        </p:nvSpPr>
        <p:spPr>
          <a:xfrm>
            <a:off x="98755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+45.3%</a:t>
            </a:r>
            <a:endParaRPr lang="en-US" sz="1400" dirty="0"/>
          </a:p>
        </p:txBody>
      </p:sp>
      <p:sp>
        <p:nvSpPr>
          <p:cNvPr id="32" name="Text 30"/>
          <p:cNvSpPr txBox="1"/>
          <p:nvPr/>
        </p:nvSpPr>
        <p:spPr>
          <a:xfrm>
            <a:off x="96926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+33.8%</a:t>
            </a:r>
            <a:endParaRPr lang="en-US" sz="1400" dirty="0"/>
          </a:p>
        </p:txBody>
      </p:sp>
      <p:sp>
        <p:nvSpPr>
          <p:cNvPr id="34" name="Text 32"/>
          <p:cNvSpPr txBox="1"/>
          <p:nvPr/>
        </p:nvSpPr>
        <p:spPr>
          <a:xfrm>
            <a:off x="96926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35" name="Text 33"/>
          <p:cNvSpPr txBox="1"/>
          <p:nvPr/>
        </p:nvSpPr>
        <p:spPr>
          <a:xfrm>
            <a:off x="98755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+31.0%</a:t>
            </a:r>
            <a:endParaRPr lang="en-US" sz="1400" dirty="0"/>
          </a:p>
        </p:txBody>
      </p:sp>
      <p:sp>
        <p:nvSpPr>
          <p:cNvPr id="36" name="Text 34"/>
          <p:cNvSpPr txBox="1"/>
          <p:nvPr/>
        </p:nvSpPr>
        <p:spPr>
          <a:xfrm>
            <a:off x="96926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7" name="Text 35"/>
          <p:cNvSpPr txBox="1"/>
          <p:nvPr/>
        </p:nvSpPr>
        <p:spPr>
          <a:xfrm>
            <a:off x="98755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38" name="Text 36"/>
          <p:cNvSpPr txBox="1"/>
          <p:nvPr/>
        </p:nvSpPr>
        <p:spPr>
          <a:xfrm>
            <a:off x="96926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39" name="Text 37"/>
          <p:cNvSpPr txBox="1"/>
          <p:nvPr/>
        </p:nvSpPr>
        <p:spPr>
          <a:xfrm>
            <a:off x="987552"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a:t>
            </a:r>
            <a:endParaRPr lang="en-US" sz="1400" dirty="0"/>
          </a:p>
        </p:txBody>
      </p:sp>
      <p:sp>
        <p:nvSpPr>
          <p:cNvPr id="40" name="Text 38"/>
          <p:cNvSpPr txBox="1"/>
          <p:nvPr/>
        </p:nvSpPr>
        <p:spPr>
          <a:xfrm>
            <a:off x="96926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1" name="Text 39"/>
          <p:cNvSpPr txBox="1"/>
          <p:nvPr/>
        </p:nvSpPr>
        <p:spPr>
          <a:xfrm>
            <a:off x="98755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a:t>
            </a:r>
            <a:endParaRPr lang="en-US" sz="1400" dirty="0"/>
          </a:p>
        </p:txBody>
      </p:sp>
      <p:sp>
        <p:nvSpPr>
          <p:cNvPr id="42" name="Text 40"/>
          <p:cNvSpPr txBox="1"/>
          <p:nvPr/>
        </p:nvSpPr>
        <p:spPr>
          <a:xfrm>
            <a:off x="96926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43" name="Text 41"/>
          <p:cNvSpPr txBox="1"/>
          <p:nvPr/>
        </p:nvSpPr>
        <p:spPr>
          <a:xfrm>
            <a:off x="98755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−4.4%</a:t>
            </a:r>
            <a:endParaRPr lang="en-US" sz="1400" dirty="0"/>
          </a:p>
        </p:txBody>
      </p:sp>
      <p:sp>
        <p:nvSpPr>
          <p:cNvPr id="44" name="Text 42"/>
          <p:cNvSpPr txBox="1"/>
          <p:nvPr/>
        </p:nvSpPr>
        <p:spPr>
          <a:xfrm>
            <a:off x="96926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5" name="Text 43"/>
          <p:cNvSpPr txBox="1"/>
          <p:nvPr/>
        </p:nvSpPr>
        <p:spPr>
          <a:xfrm>
            <a:off x="98755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−14.1%</a:t>
            </a:r>
            <a:endParaRPr lang="en-US" sz="1400" dirty="0"/>
          </a:p>
        </p:txBody>
      </p:sp>
      <p:sp>
        <p:nvSpPr>
          <p:cNvPr id="46" name="Text 44"/>
          <p:cNvSpPr txBox="1"/>
          <p:nvPr/>
        </p:nvSpPr>
        <p:spPr>
          <a:xfrm>
            <a:off x="96926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7" name="Text 45"/>
          <p:cNvSpPr txBox="1"/>
          <p:nvPr/>
        </p:nvSpPr>
        <p:spPr>
          <a:xfrm>
            <a:off x="98755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−20.1%</a:t>
            </a:r>
            <a:endParaRPr lang="en-US" sz="1400" dirty="0"/>
          </a:p>
        </p:txBody>
      </p:sp>
      <p:sp>
        <p:nvSpPr>
          <p:cNvPr id="48" name="Shape 46"/>
          <p:cNvSpPr/>
          <p:nvPr/>
        </p:nvSpPr>
        <p:spPr>
          <a:xfrm>
            <a:off x="2749296" y="1554480"/>
            <a:ext cx="1670304" cy="45720"/>
          </a:xfrm>
          <a:prstGeom prst="rect">
            <a:avLst/>
          </a:prstGeom>
          <a:solidFill>
            <a:srgbClr val="12A566"/>
          </a:solidFill>
          <a:ln/>
        </p:spPr>
      </p:sp>
      <p:sp>
        <p:nvSpPr>
          <p:cNvPr id="49" name="Text 47"/>
          <p:cNvSpPr txBox="1"/>
          <p:nvPr/>
        </p:nvSpPr>
        <p:spPr>
          <a:xfrm>
            <a:off x="2767584"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50" name="Text 48"/>
          <p:cNvSpPr txBox="1"/>
          <p:nvPr/>
        </p:nvSpPr>
        <p:spPr>
          <a:xfrm>
            <a:off x="2767584"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51" name="Text 49"/>
          <p:cNvSpPr txBox="1"/>
          <p:nvPr/>
        </p:nvSpPr>
        <p:spPr>
          <a:xfrm>
            <a:off x="2749296"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2" name="Text 50"/>
          <p:cNvSpPr txBox="1"/>
          <p:nvPr/>
        </p:nvSpPr>
        <p:spPr>
          <a:xfrm>
            <a:off x="2767584"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+13.6%</a:t>
            </a:r>
            <a:endParaRPr lang="en-US" sz="1400" dirty="0"/>
          </a:p>
        </p:txBody>
      </p:sp>
      <p:sp>
        <p:nvSpPr>
          <p:cNvPr id="53" name="Text 51"/>
          <p:cNvSpPr txBox="1"/>
          <p:nvPr/>
        </p:nvSpPr>
        <p:spPr>
          <a:xfrm>
            <a:off x="2749296"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4" name="Text 52"/>
          <p:cNvSpPr txBox="1"/>
          <p:nvPr/>
        </p:nvSpPr>
        <p:spPr>
          <a:xfrm>
            <a:off x="2767584"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+12.6%</a:t>
            </a:r>
            <a:endParaRPr lang="en-US" sz="1400" dirty="0"/>
          </a:p>
        </p:txBody>
      </p:sp>
      <p:sp>
        <p:nvSpPr>
          <p:cNvPr id="55" name="Text 53"/>
          <p:cNvSpPr txBox="1"/>
          <p:nvPr/>
        </p:nvSpPr>
        <p:spPr>
          <a:xfrm>
            <a:off x="2749296"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56" name="Text 54"/>
          <p:cNvSpPr txBox="1"/>
          <p:nvPr/>
        </p:nvSpPr>
        <p:spPr>
          <a:xfrm>
            <a:off x="2767584"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+10.5%</a:t>
            </a:r>
            <a:endParaRPr lang="en-US" sz="1400" dirty="0"/>
          </a:p>
        </p:txBody>
      </p:sp>
      <p:sp>
        <p:nvSpPr>
          <p:cNvPr id="57" name="Text 55"/>
          <p:cNvSpPr txBox="1"/>
          <p:nvPr/>
        </p:nvSpPr>
        <p:spPr>
          <a:xfrm>
            <a:off x="2749296"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8" name="Text 56"/>
          <p:cNvSpPr txBox="1"/>
          <p:nvPr/>
        </p:nvSpPr>
        <p:spPr>
          <a:xfrm>
            <a:off x="2767584"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sp>
        <p:nvSpPr>
          <p:cNvPr id="59" name="Text 57"/>
          <p:cNvSpPr txBox="1"/>
          <p:nvPr/>
        </p:nvSpPr>
        <p:spPr>
          <a:xfrm>
            <a:off x="2749296"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0" name="Text 58"/>
          <p:cNvSpPr txBox="1"/>
          <p:nvPr/>
        </p:nvSpPr>
        <p:spPr>
          <a:xfrm>
            <a:off x="2767584"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a:t>
            </a:r>
            <a:endParaRPr lang="en-US" sz="1400" dirty="0"/>
          </a:p>
        </p:txBody>
      </p:sp>
      <p:sp>
        <p:nvSpPr>
          <p:cNvPr id="61" name="Text 59"/>
          <p:cNvSpPr txBox="1"/>
          <p:nvPr/>
        </p:nvSpPr>
        <p:spPr>
          <a:xfrm>
            <a:off x="2749296"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62" name="Text 60"/>
          <p:cNvSpPr txBox="1"/>
          <p:nvPr/>
        </p:nvSpPr>
        <p:spPr>
          <a:xfrm>
            <a:off x="2767584"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−6.1%</a:t>
            </a:r>
            <a:endParaRPr lang="en-US" sz="1400" dirty="0"/>
          </a:p>
        </p:txBody>
      </p:sp>
      <p:sp>
        <p:nvSpPr>
          <p:cNvPr id="63" name="Text 61"/>
          <p:cNvSpPr txBox="1"/>
          <p:nvPr/>
        </p:nvSpPr>
        <p:spPr>
          <a:xfrm>
            <a:off x="2749296"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4" name="Text 62"/>
          <p:cNvSpPr txBox="1"/>
          <p:nvPr/>
        </p:nvSpPr>
        <p:spPr>
          <a:xfrm>
            <a:off x="2767584"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65" name="Text 63"/>
          <p:cNvSpPr txBox="1"/>
          <p:nvPr/>
        </p:nvSpPr>
        <p:spPr>
          <a:xfrm>
            <a:off x="2749296"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66" name="Text 64"/>
          <p:cNvSpPr txBox="1"/>
          <p:nvPr/>
        </p:nvSpPr>
        <p:spPr>
          <a:xfrm>
            <a:off x="2767584"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−10.5%</a:t>
            </a:r>
            <a:endParaRPr lang="en-US" sz="1400" dirty="0"/>
          </a:p>
        </p:txBody>
      </p:sp>
      <p:sp>
        <p:nvSpPr>
          <p:cNvPr id="67" name="Text 65"/>
          <p:cNvSpPr txBox="1"/>
          <p:nvPr/>
        </p:nvSpPr>
        <p:spPr>
          <a:xfrm>
            <a:off x="2749296"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8" name="Text 66"/>
          <p:cNvSpPr txBox="1"/>
          <p:nvPr/>
        </p:nvSpPr>
        <p:spPr>
          <a:xfrm>
            <a:off x="2767584"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−11.4%</a:t>
            </a:r>
            <a:endParaRPr lang="en-US" sz="1400" dirty="0"/>
          </a:p>
        </p:txBody>
      </p:sp>
      <p:sp>
        <p:nvSpPr>
          <p:cNvPr id="69" name="Text 67"/>
          <p:cNvSpPr txBox="1"/>
          <p:nvPr/>
        </p:nvSpPr>
        <p:spPr>
          <a:xfrm>
            <a:off x="2749296"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0" name="Text 68"/>
          <p:cNvSpPr txBox="1"/>
          <p:nvPr/>
        </p:nvSpPr>
        <p:spPr>
          <a:xfrm>
            <a:off x="2767584"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−14.7%</a:t>
            </a:r>
            <a:endParaRPr lang="en-US" sz="1400" dirty="0"/>
          </a:p>
        </p:txBody>
      </p:sp>
      <p:sp>
        <p:nvSpPr>
          <p:cNvPr id="71" name="Shape 69"/>
          <p:cNvSpPr/>
          <p:nvPr/>
        </p:nvSpPr>
        <p:spPr>
          <a:xfrm>
            <a:off x="4529328" y="1554480"/>
            <a:ext cx="1670304" cy="45720"/>
          </a:xfrm>
          <a:prstGeom prst="rect">
            <a:avLst/>
          </a:prstGeom>
          <a:solidFill>
            <a:srgbClr val="12A566"/>
          </a:solidFill>
          <a:ln/>
        </p:spPr>
      </p:sp>
      <p:sp>
        <p:nvSpPr>
          <p:cNvPr id="72" name="Text 70"/>
          <p:cNvSpPr txBox="1"/>
          <p:nvPr/>
        </p:nvSpPr>
        <p:spPr>
          <a:xfrm>
            <a:off x="4547616"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73" name="Text 71"/>
          <p:cNvSpPr txBox="1"/>
          <p:nvPr/>
        </p:nvSpPr>
        <p:spPr>
          <a:xfrm>
            <a:off x="4547616"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74" name="Text 72"/>
          <p:cNvSpPr txBox="1"/>
          <p:nvPr/>
        </p:nvSpPr>
        <p:spPr>
          <a:xfrm>
            <a:off x="4529328"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Text 73"/>
          <p:cNvSpPr txBox="1"/>
          <p:nvPr/>
        </p:nvSpPr>
        <p:spPr>
          <a:xfrm>
            <a:off x="4547616"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+39.1%</a:t>
            </a:r>
            <a:endParaRPr lang="en-US" sz="1400" dirty="0"/>
          </a:p>
        </p:txBody>
      </p:sp>
      <p:sp>
        <p:nvSpPr>
          <p:cNvPr id="76" name="Text 74"/>
          <p:cNvSpPr txBox="1"/>
          <p:nvPr/>
        </p:nvSpPr>
        <p:spPr>
          <a:xfrm>
            <a:off x="4529328"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7" name="Text 75"/>
          <p:cNvSpPr txBox="1"/>
          <p:nvPr/>
        </p:nvSpPr>
        <p:spPr>
          <a:xfrm>
            <a:off x="4547616"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+31.3%</a:t>
            </a:r>
            <a:endParaRPr lang="en-US" sz="1400" dirty="0"/>
          </a:p>
        </p:txBody>
      </p:sp>
      <p:sp>
        <p:nvSpPr>
          <p:cNvPr id="78" name="Text 76"/>
          <p:cNvSpPr txBox="1"/>
          <p:nvPr/>
        </p:nvSpPr>
        <p:spPr>
          <a:xfrm>
            <a:off x="4529328"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9" name="Text 77"/>
          <p:cNvSpPr txBox="1"/>
          <p:nvPr/>
        </p:nvSpPr>
        <p:spPr>
          <a:xfrm>
            <a:off x="4547616"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+30.7%</a:t>
            </a:r>
            <a:endParaRPr lang="en-US" sz="1400" dirty="0"/>
          </a:p>
        </p:txBody>
      </p:sp>
      <p:sp>
        <p:nvSpPr>
          <p:cNvPr id="80" name="Text 78"/>
          <p:cNvSpPr txBox="1"/>
          <p:nvPr/>
        </p:nvSpPr>
        <p:spPr>
          <a:xfrm>
            <a:off x="4529328"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1" name="Text 79"/>
          <p:cNvSpPr txBox="1"/>
          <p:nvPr/>
        </p:nvSpPr>
        <p:spPr>
          <a:xfrm>
            <a:off x="4547616"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+19.5%</a:t>
            </a:r>
            <a:endParaRPr lang="en-US" sz="1400" dirty="0"/>
          </a:p>
        </p:txBody>
      </p:sp>
      <p:sp>
        <p:nvSpPr>
          <p:cNvPr id="82" name="Text 80"/>
          <p:cNvSpPr txBox="1"/>
          <p:nvPr/>
        </p:nvSpPr>
        <p:spPr>
          <a:xfrm>
            <a:off x="4529328"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3" name="Text 81"/>
          <p:cNvSpPr txBox="1"/>
          <p:nvPr/>
        </p:nvSpPr>
        <p:spPr>
          <a:xfrm>
            <a:off x="4547616"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+18.7%</a:t>
            </a:r>
            <a:endParaRPr lang="en-US" sz="1400" dirty="0"/>
          </a:p>
        </p:txBody>
      </p:sp>
      <p:sp>
        <p:nvSpPr>
          <p:cNvPr id="84" name="Text 82"/>
          <p:cNvSpPr txBox="1"/>
          <p:nvPr/>
        </p:nvSpPr>
        <p:spPr>
          <a:xfrm>
            <a:off x="4529328"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5" name="Text 83"/>
          <p:cNvSpPr txBox="1"/>
          <p:nvPr/>
        </p:nvSpPr>
        <p:spPr>
          <a:xfrm>
            <a:off x="4547616"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86" name="Text 84"/>
          <p:cNvSpPr txBox="1"/>
          <p:nvPr/>
        </p:nvSpPr>
        <p:spPr>
          <a:xfrm>
            <a:off x="4529328"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87" name="Text 85"/>
          <p:cNvSpPr txBox="1"/>
          <p:nvPr/>
        </p:nvSpPr>
        <p:spPr>
          <a:xfrm>
            <a:off x="4547616"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88" name="Text 86"/>
          <p:cNvSpPr txBox="1"/>
          <p:nvPr/>
        </p:nvSpPr>
        <p:spPr>
          <a:xfrm>
            <a:off x="4529328"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89" name="Text 87"/>
          <p:cNvSpPr txBox="1"/>
          <p:nvPr/>
        </p:nvSpPr>
        <p:spPr>
          <a:xfrm>
            <a:off x="4547616"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−11.7%</a:t>
            </a:r>
            <a:endParaRPr lang="en-US" sz="1400" dirty="0"/>
          </a:p>
        </p:txBody>
      </p:sp>
      <p:sp>
        <p:nvSpPr>
          <p:cNvPr id="90" name="Text 88"/>
          <p:cNvSpPr txBox="1"/>
          <p:nvPr/>
        </p:nvSpPr>
        <p:spPr>
          <a:xfrm>
            <a:off x="4529328"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1" name="Text 89"/>
          <p:cNvSpPr txBox="1"/>
          <p:nvPr/>
        </p:nvSpPr>
        <p:spPr>
          <a:xfrm>
            <a:off x="4547616"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−12.5%</a:t>
            </a:r>
            <a:endParaRPr lang="en-US" sz="1400" dirty="0"/>
          </a:p>
        </p:txBody>
      </p:sp>
      <p:sp>
        <p:nvSpPr>
          <p:cNvPr id="92" name="Text 90"/>
          <p:cNvSpPr txBox="1"/>
          <p:nvPr/>
        </p:nvSpPr>
        <p:spPr>
          <a:xfrm>
            <a:off x="4529328"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3" name="Text 91"/>
          <p:cNvSpPr txBox="1"/>
          <p:nvPr/>
        </p:nvSpPr>
        <p:spPr>
          <a:xfrm>
            <a:off x="4547616"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−13.7%</a:t>
            </a:r>
            <a:endParaRPr lang="en-US" sz="1400" dirty="0"/>
          </a:p>
        </p:txBody>
      </p:sp>
      <p:sp>
        <p:nvSpPr>
          <p:cNvPr id="94" name="Shape 92"/>
          <p:cNvSpPr/>
          <p:nvPr/>
        </p:nvSpPr>
        <p:spPr>
          <a:xfrm>
            <a:off x="6309360" y="1554480"/>
            <a:ext cx="1670304" cy="45720"/>
          </a:xfrm>
          <a:prstGeom prst="rect">
            <a:avLst/>
          </a:prstGeom>
          <a:solidFill>
            <a:srgbClr val="12A566"/>
          </a:solidFill>
          <a:ln/>
        </p:spPr>
      </p:sp>
      <p:sp>
        <p:nvSpPr>
          <p:cNvPr id="95" name="Text 93"/>
          <p:cNvSpPr txBox="1"/>
          <p:nvPr/>
        </p:nvSpPr>
        <p:spPr>
          <a:xfrm>
            <a:off x="6327648"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96" name="Text 94"/>
          <p:cNvSpPr txBox="1"/>
          <p:nvPr/>
        </p:nvSpPr>
        <p:spPr>
          <a:xfrm>
            <a:off x="6327648"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97" name="Text 95"/>
          <p:cNvSpPr txBox="1"/>
          <p:nvPr/>
        </p:nvSpPr>
        <p:spPr>
          <a:xfrm>
            <a:off x="6309360"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98" name="Text 96"/>
          <p:cNvSpPr txBox="1"/>
          <p:nvPr/>
        </p:nvSpPr>
        <p:spPr>
          <a:xfrm>
            <a:off x="6327648"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+22.9%</a:t>
            </a:r>
            <a:endParaRPr lang="en-US" sz="1400" dirty="0"/>
          </a:p>
        </p:txBody>
      </p:sp>
      <p:sp>
        <p:nvSpPr>
          <p:cNvPr id="99" name="Text 97"/>
          <p:cNvSpPr txBox="1"/>
          <p:nvPr/>
        </p:nvSpPr>
        <p:spPr>
          <a:xfrm>
            <a:off x="6309360"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100" name="Text 98"/>
          <p:cNvSpPr txBox="1"/>
          <p:nvPr/>
        </p:nvSpPr>
        <p:spPr>
          <a:xfrm>
            <a:off x="6327648"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+22.3%</a:t>
            </a:r>
            <a:endParaRPr lang="en-US" sz="1400" dirty="0"/>
          </a:p>
        </p:txBody>
      </p:sp>
      <p:sp>
        <p:nvSpPr>
          <p:cNvPr id="101" name="Text 99"/>
          <p:cNvSpPr txBox="1"/>
          <p:nvPr/>
        </p:nvSpPr>
        <p:spPr>
          <a:xfrm>
            <a:off x="6309360"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2" name="Text 100"/>
          <p:cNvSpPr txBox="1"/>
          <p:nvPr/>
        </p:nvSpPr>
        <p:spPr>
          <a:xfrm>
            <a:off x="6327648"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+20.1%</a:t>
            </a:r>
            <a:endParaRPr lang="en-US" sz="1400" dirty="0"/>
          </a:p>
        </p:txBody>
      </p:sp>
      <p:sp>
        <p:nvSpPr>
          <p:cNvPr id="103" name="Text 101"/>
          <p:cNvSpPr txBox="1"/>
          <p:nvPr/>
        </p:nvSpPr>
        <p:spPr>
          <a:xfrm>
            <a:off x="6309360"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4" name="Text 102"/>
          <p:cNvSpPr txBox="1"/>
          <p:nvPr/>
        </p:nvSpPr>
        <p:spPr>
          <a:xfrm>
            <a:off x="6327648"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05" name="Text 103"/>
          <p:cNvSpPr txBox="1"/>
          <p:nvPr/>
        </p:nvSpPr>
        <p:spPr>
          <a:xfrm>
            <a:off x="6309360"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6" name="Text 104"/>
          <p:cNvSpPr txBox="1"/>
          <p:nvPr/>
        </p:nvSpPr>
        <p:spPr>
          <a:xfrm>
            <a:off x="6327648"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07" name="Text 105"/>
          <p:cNvSpPr txBox="1"/>
          <p:nvPr/>
        </p:nvSpPr>
        <p:spPr>
          <a:xfrm>
            <a:off x="6309360"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6327648"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−4.5%</a:t>
            </a:r>
            <a:endParaRPr lang="en-US" sz="1400" dirty="0"/>
          </a:p>
        </p:txBody>
      </p:sp>
      <p:sp>
        <p:nvSpPr>
          <p:cNvPr id="109" name="Text 107"/>
          <p:cNvSpPr txBox="1"/>
          <p:nvPr/>
        </p:nvSpPr>
        <p:spPr>
          <a:xfrm>
            <a:off x="6309360"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Text 108"/>
          <p:cNvSpPr txBox="1"/>
          <p:nvPr/>
        </p:nvSpPr>
        <p:spPr>
          <a:xfrm>
            <a:off x="6327648"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−4.5%</a:t>
            </a:r>
            <a:endParaRPr lang="en-US" sz="1400" dirty="0"/>
          </a:p>
        </p:txBody>
      </p:sp>
      <p:sp>
        <p:nvSpPr>
          <p:cNvPr id="111" name="Text 109"/>
          <p:cNvSpPr txBox="1"/>
          <p:nvPr/>
        </p:nvSpPr>
        <p:spPr>
          <a:xfrm>
            <a:off x="6309360"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12" name="Text 110"/>
          <p:cNvSpPr txBox="1"/>
          <p:nvPr/>
        </p:nvSpPr>
        <p:spPr>
          <a:xfrm>
            <a:off x="6327648"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−5.0%</a:t>
            </a:r>
            <a:endParaRPr lang="en-US" sz="1400" dirty="0"/>
          </a:p>
        </p:txBody>
      </p:sp>
      <p:sp>
        <p:nvSpPr>
          <p:cNvPr id="113" name="Text 111"/>
          <p:cNvSpPr txBox="1"/>
          <p:nvPr/>
        </p:nvSpPr>
        <p:spPr>
          <a:xfrm>
            <a:off x="6309360"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4" name="Text 112"/>
          <p:cNvSpPr txBox="1"/>
          <p:nvPr/>
        </p:nvSpPr>
        <p:spPr>
          <a:xfrm>
            <a:off x="6327648"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p>
        </p:txBody>
      </p:sp>
      <p:sp>
        <p:nvSpPr>
          <p:cNvPr id="115" name="Text 113"/>
          <p:cNvSpPr txBox="1"/>
          <p:nvPr/>
        </p:nvSpPr>
        <p:spPr>
          <a:xfrm>
            <a:off x="6309360"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16" name="Text 114"/>
          <p:cNvSpPr txBox="1"/>
          <p:nvPr/>
        </p:nvSpPr>
        <p:spPr>
          <a:xfrm>
            <a:off x="6327648"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−19.0%</a:t>
            </a:r>
            <a:endParaRPr lang="en-US" sz="1400" dirty="0"/>
          </a:p>
        </p:txBody>
      </p:sp>
      <p:sp>
        <p:nvSpPr>
          <p:cNvPr id="117" name="Shape 115"/>
          <p:cNvSpPr/>
          <p:nvPr/>
        </p:nvSpPr>
        <p:spPr>
          <a:xfrm>
            <a:off x="8089392" y="1554480"/>
            <a:ext cx="1670304" cy="45720"/>
          </a:xfrm>
          <a:prstGeom prst="rect">
            <a:avLst/>
          </a:prstGeom>
          <a:solidFill>
            <a:srgbClr val="12A566"/>
          </a:solidFill>
          <a:ln/>
        </p:spPr>
      </p:sp>
      <p:sp>
        <p:nvSpPr>
          <p:cNvPr id="118" name="Text 116"/>
          <p:cNvSpPr txBox="1"/>
          <p:nvPr/>
        </p:nvSpPr>
        <p:spPr>
          <a:xfrm>
            <a:off x="8107680"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119" name="Text 117"/>
          <p:cNvSpPr txBox="1"/>
          <p:nvPr/>
        </p:nvSpPr>
        <p:spPr>
          <a:xfrm>
            <a:off x="8107680"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120" name="Text 118"/>
          <p:cNvSpPr txBox="1"/>
          <p:nvPr/>
        </p:nvSpPr>
        <p:spPr>
          <a:xfrm>
            <a:off x="8089392"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21" name="Text 119"/>
          <p:cNvSpPr txBox="1"/>
          <p:nvPr/>
        </p:nvSpPr>
        <p:spPr>
          <a:xfrm>
            <a:off x="8107680"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+28.9%</a:t>
            </a:r>
            <a:endParaRPr lang="en-US" sz="1400" dirty="0"/>
          </a:p>
        </p:txBody>
      </p:sp>
      <p:sp>
        <p:nvSpPr>
          <p:cNvPr id="122" name="Text 120"/>
          <p:cNvSpPr txBox="1"/>
          <p:nvPr/>
        </p:nvSpPr>
        <p:spPr>
          <a:xfrm>
            <a:off x="8089392"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123" name="Text 121"/>
          <p:cNvSpPr txBox="1"/>
          <p:nvPr/>
        </p:nvSpPr>
        <p:spPr>
          <a:xfrm>
            <a:off x="8107680"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+24.7%</a:t>
            </a:r>
            <a:endParaRPr lang="en-US" sz="1400" dirty="0"/>
          </a:p>
        </p:txBody>
      </p:sp>
      <p:sp>
        <p:nvSpPr>
          <p:cNvPr id="124" name="Text 122"/>
          <p:cNvSpPr txBox="1"/>
          <p:nvPr/>
        </p:nvSpPr>
        <p:spPr>
          <a:xfrm>
            <a:off x="8089392"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5" name="Text 123"/>
          <p:cNvSpPr txBox="1"/>
          <p:nvPr/>
        </p:nvSpPr>
        <p:spPr>
          <a:xfrm>
            <a:off x="8107680"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+21.0%</a:t>
            </a:r>
            <a:endParaRPr lang="en-US" sz="1400" dirty="0"/>
          </a:p>
        </p:txBody>
      </p:sp>
      <p:sp>
        <p:nvSpPr>
          <p:cNvPr id="126" name="Text 124"/>
          <p:cNvSpPr txBox="1"/>
          <p:nvPr/>
        </p:nvSpPr>
        <p:spPr>
          <a:xfrm>
            <a:off x="8089392"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7" name="Text 125"/>
          <p:cNvSpPr txBox="1"/>
          <p:nvPr/>
        </p:nvSpPr>
        <p:spPr>
          <a:xfrm>
            <a:off x="8107680"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+18.7%</a:t>
            </a:r>
            <a:endParaRPr lang="en-US" sz="1400" dirty="0"/>
          </a:p>
        </p:txBody>
      </p:sp>
      <p:sp>
        <p:nvSpPr>
          <p:cNvPr id="128" name="Text 126"/>
          <p:cNvSpPr txBox="1"/>
          <p:nvPr/>
        </p:nvSpPr>
        <p:spPr>
          <a:xfrm>
            <a:off x="8089392"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9" name="Text 127"/>
          <p:cNvSpPr txBox="1"/>
          <p:nvPr/>
        </p:nvSpPr>
        <p:spPr>
          <a:xfrm>
            <a:off x="8107680"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sp>
        <p:nvSpPr>
          <p:cNvPr id="130" name="Text 128"/>
          <p:cNvSpPr txBox="1"/>
          <p:nvPr/>
        </p:nvSpPr>
        <p:spPr>
          <a:xfrm>
            <a:off x="8089392"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131" name="Text 129"/>
          <p:cNvSpPr txBox="1"/>
          <p:nvPr/>
        </p:nvSpPr>
        <p:spPr>
          <a:xfrm>
            <a:off x="8107680"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−2.2%</a:t>
            </a:r>
            <a:endParaRPr lang="en-US" sz="1400" dirty="0"/>
          </a:p>
        </p:txBody>
      </p:sp>
      <p:sp>
        <p:nvSpPr>
          <p:cNvPr id="132" name="Text 130"/>
          <p:cNvSpPr txBox="1"/>
          <p:nvPr/>
        </p:nvSpPr>
        <p:spPr>
          <a:xfrm>
            <a:off x="8089392"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33" name="Text 131"/>
          <p:cNvSpPr txBox="1"/>
          <p:nvPr/>
        </p:nvSpPr>
        <p:spPr>
          <a:xfrm>
            <a:off x="8107680"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a:t>
            </a:r>
            <a:endParaRPr lang="en-US" sz="1400" dirty="0"/>
          </a:p>
        </p:txBody>
      </p:sp>
      <p:sp>
        <p:nvSpPr>
          <p:cNvPr id="134" name="Text 132"/>
          <p:cNvSpPr txBox="1"/>
          <p:nvPr/>
        </p:nvSpPr>
        <p:spPr>
          <a:xfrm>
            <a:off x="8089392"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35" name="Text 133"/>
          <p:cNvSpPr txBox="1"/>
          <p:nvPr/>
        </p:nvSpPr>
        <p:spPr>
          <a:xfrm>
            <a:off x="8107680"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p>
        </p:txBody>
      </p:sp>
      <p:sp>
        <p:nvSpPr>
          <p:cNvPr id="136" name="Text 134"/>
          <p:cNvSpPr txBox="1"/>
          <p:nvPr/>
        </p:nvSpPr>
        <p:spPr>
          <a:xfrm>
            <a:off x="8089392"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37" name="Text 135"/>
          <p:cNvSpPr txBox="1"/>
          <p:nvPr/>
        </p:nvSpPr>
        <p:spPr>
          <a:xfrm>
            <a:off x="8107680"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−9.0%</a:t>
            </a:r>
            <a:endParaRPr lang="en-US" sz="1400" dirty="0"/>
          </a:p>
        </p:txBody>
      </p:sp>
      <p:sp>
        <p:nvSpPr>
          <p:cNvPr id="138" name="Text 136"/>
          <p:cNvSpPr txBox="1"/>
          <p:nvPr/>
        </p:nvSpPr>
        <p:spPr>
          <a:xfrm>
            <a:off x="8089392"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39" name="Text 137"/>
          <p:cNvSpPr txBox="1"/>
          <p:nvPr/>
        </p:nvSpPr>
        <p:spPr>
          <a:xfrm>
            <a:off x="8107680"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−15.0%</a:t>
            </a:r>
            <a:endParaRPr lang="en-US" sz="1400" dirty="0"/>
          </a:p>
        </p:txBody>
      </p:sp>
      <p:sp>
        <p:nvSpPr>
          <p:cNvPr id="140" name="Shape 138"/>
          <p:cNvSpPr/>
          <p:nvPr/>
        </p:nvSpPr>
        <p:spPr>
          <a:xfrm>
            <a:off x="9869424" y="1554480"/>
            <a:ext cx="1670304" cy="45720"/>
          </a:xfrm>
          <a:prstGeom prst="rect">
            <a:avLst/>
          </a:prstGeom>
          <a:solidFill>
            <a:srgbClr val="12A566"/>
          </a:solidFill>
          <a:ln/>
        </p:spPr>
      </p:sp>
      <p:sp>
        <p:nvSpPr>
          <p:cNvPr id="141" name="Text 139"/>
          <p:cNvSpPr txBox="1"/>
          <p:nvPr/>
        </p:nvSpPr>
        <p:spPr>
          <a:xfrm>
            <a:off x="988771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142" name="Text 140"/>
          <p:cNvSpPr txBox="1"/>
          <p:nvPr/>
        </p:nvSpPr>
        <p:spPr>
          <a:xfrm>
            <a:off x="988771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143" name="Text 141"/>
          <p:cNvSpPr txBox="1"/>
          <p:nvPr/>
        </p:nvSpPr>
        <p:spPr>
          <a:xfrm>
            <a:off x="986942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44" name="Text 142"/>
          <p:cNvSpPr txBox="1"/>
          <p:nvPr/>
        </p:nvSpPr>
        <p:spPr>
          <a:xfrm>
            <a:off x="988771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+6.1 pts</a:t>
            </a:r>
            <a:endParaRPr lang="en-US" sz="1400" dirty="0"/>
          </a:p>
        </p:txBody>
      </p:sp>
      <p:sp>
        <p:nvSpPr>
          <p:cNvPr id="145" name="Text 143"/>
          <p:cNvSpPr txBox="1"/>
          <p:nvPr/>
        </p:nvSpPr>
        <p:spPr>
          <a:xfrm>
            <a:off x="986942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46" name="Text 144"/>
          <p:cNvSpPr txBox="1"/>
          <p:nvPr/>
        </p:nvSpPr>
        <p:spPr>
          <a:xfrm>
            <a:off x="988771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+4.5 pts</a:t>
            </a:r>
            <a:endParaRPr lang="en-US" sz="1400" dirty="0"/>
          </a:p>
        </p:txBody>
      </p:sp>
      <p:sp>
        <p:nvSpPr>
          <p:cNvPr id="147" name="Text 145"/>
          <p:cNvSpPr txBox="1"/>
          <p:nvPr/>
        </p:nvSpPr>
        <p:spPr>
          <a:xfrm>
            <a:off x="986942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48" name="Text 146"/>
          <p:cNvSpPr txBox="1"/>
          <p:nvPr/>
        </p:nvSpPr>
        <p:spPr>
          <a:xfrm>
            <a:off x="988771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+3.8 pts</a:t>
            </a:r>
            <a:endParaRPr lang="en-US" sz="1400" dirty="0"/>
          </a:p>
        </p:txBody>
      </p:sp>
      <p:sp>
        <p:nvSpPr>
          <p:cNvPr id="149" name="Text 147"/>
          <p:cNvSpPr txBox="1"/>
          <p:nvPr/>
        </p:nvSpPr>
        <p:spPr>
          <a:xfrm>
            <a:off x="986942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50" name="Text 148"/>
          <p:cNvSpPr txBox="1"/>
          <p:nvPr/>
        </p:nvSpPr>
        <p:spPr>
          <a:xfrm>
            <a:off x="988771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+3.3 pts</a:t>
            </a:r>
            <a:endParaRPr lang="en-US" sz="1400" dirty="0"/>
          </a:p>
        </p:txBody>
      </p:sp>
      <p:sp>
        <p:nvSpPr>
          <p:cNvPr id="151" name="Text 149"/>
          <p:cNvSpPr txBox="1"/>
          <p:nvPr/>
        </p:nvSpPr>
        <p:spPr>
          <a:xfrm>
            <a:off x="986942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52" name="Text 150"/>
          <p:cNvSpPr txBox="1"/>
          <p:nvPr/>
        </p:nvSpPr>
        <p:spPr>
          <a:xfrm>
            <a:off x="988771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+3.2 pts</a:t>
            </a:r>
            <a:endParaRPr lang="en-US" sz="1400" dirty="0"/>
          </a:p>
        </p:txBody>
      </p:sp>
      <p:sp>
        <p:nvSpPr>
          <p:cNvPr id="153" name="Text 151"/>
          <p:cNvSpPr txBox="1"/>
          <p:nvPr/>
        </p:nvSpPr>
        <p:spPr>
          <a:xfrm>
            <a:off x="986942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54" name="Text 152"/>
          <p:cNvSpPr txBox="1"/>
          <p:nvPr/>
        </p:nvSpPr>
        <p:spPr>
          <a:xfrm>
            <a:off x="9887712" y="4178808"/>
            <a:ext cx="1670304" cy="17373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0.0 pts</a:t>
            </a:r>
            <a:endParaRPr lang="en-US" sz="1400" dirty="0"/>
          </a:p>
        </p:txBody>
      </p:sp>
      <p:sp>
        <p:nvSpPr>
          <p:cNvPr id="155" name="Text 153"/>
          <p:cNvSpPr txBox="1"/>
          <p:nvPr/>
        </p:nvSpPr>
        <p:spPr>
          <a:xfrm>
            <a:off x="986942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6" name="Text 154"/>
          <p:cNvSpPr txBox="1"/>
          <p:nvPr/>
        </p:nvSpPr>
        <p:spPr>
          <a:xfrm>
            <a:off x="988771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−0.4 pts</a:t>
            </a:r>
            <a:endParaRPr lang="en-US" sz="1400" dirty="0"/>
          </a:p>
        </p:txBody>
      </p:sp>
      <p:sp>
        <p:nvSpPr>
          <p:cNvPr id="157" name="Text 155"/>
          <p:cNvSpPr txBox="1"/>
          <p:nvPr/>
        </p:nvSpPr>
        <p:spPr>
          <a:xfrm>
            <a:off x="986942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58" name="Text 156"/>
          <p:cNvSpPr txBox="1"/>
          <p:nvPr/>
        </p:nvSpPr>
        <p:spPr>
          <a:xfrm>
            <a:off x="988771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−0.5 pts</a:t>
            </a:r>
            <a:endParaRPr lang="en-US" sz="1400" dirty="0"/>
          </a:p>
        </p:txBody>
      </p:sp>
      <p:sp>
        <p:nvSpPr>
          <p:cNvPr id="159" name="Text 157"/>
          <p:cNvSpPr txBox="1"/>
          <p:nvPr/>
        </p:nvSpPr>
        <p:spPr>
          <a:xfrm>
            <a:off x="986942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Text 158"/>
          <p:cNvSpPr txBox="1"/>
          <p:nvPr/>
        </p:nvSpPr>
        <p:spPr>
          <a:xfrm>
            <a:off x="988771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−0.8 pts</a:t>
            </a:r>
            <a:endParaRPr lang="en-US" sz="1400" dirty="0"/>
          </a:p>
        </p:txBody>
      </p:sp>
      <p:sp>
        <p:nvSpPr>
          <p:cNvPr id="161" name="Text 159"/>
          <p:cNvSpPr txBox="1"/>
          <p:nvPr/>
        </p:nvSpPr>
        <p:spPr>
          <a:xfrm>
            <a:off x="986942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62" name="Text 160"/>
          <p:cNvSpPr txBox="1"/>
          <p:nvPr/>
        </p:nvSpPr>
        <p:spPr>
          <a:xfrm>
            <a:off x="988771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−2.1 pts</a:t>
            </a:r>
            <a:endParaRPr lang="en-US" sz="1400" dirty="0"/>
          </a:p>
        </p:txBody>
      </p:sp>
      <p:sp>
        <p:nvSpPr>
          <p:cNvPr id="164" name="Shape 161"/>
          <p:cNvSpPr/>
          <p:nvPr/>
        </p:nvSpPr>
        <p:spPr>
          <a:xfrm>
            <a:off x="457200" y="6126480"/>
            <a:ext cx="11274552" cy="371856"/>
          </a:xfrm>
          <a:prstGeom prst="rect">
            <a:avLst/>
          </a:prstGeom>
          <a:solidFill>
            <a:srgbClr val="EDF4FA"/>
          </a:solidFill>
          <a:ln/>
        </p:spPr>
      </p:sp>
      <p:sp>
        <p:nvSpPr>
          <p:cNvPr id="165" name="Text 16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Top: Lincoln, Subaru Prescott, Subaru St George (4 of 6).</a:t>
            </a:r>
            <a:endParaRPr lang="en-US" sz="1600" dirty="0"/>
          </a:p>
          <a:p>
            <a:pPr indent="0" marL="0">
              <a:buNone/>
            </a:pPr>
            <a:r>
              <a:rPr lang="en-US" sz="1600" b="1" dirty="0">
                <a:solidFill>
                  <a:srgbClr val="0B2C4A"/>
                </a:solidFill>
                <a:latin typeface="Inter" pitchFamily="34" charset="0"/>
                <a:ea typeface="Inter" pitchFamily="34" charset="-122"/>
                <a:cs typeface="Inter" pitchFamily="34" charset="-120"/>
              </a:rPr>
              <a:t>Bottom: Audi Reno, VW St George (4 of 6).</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five stores on each measure, Q3 2026 vs Q1 2026 (gross and ROs per month). Group change = the season.</a:t>
            </a:r>
            <a:endParaRPr lang="en-US" sz="1400" dirty="0"/>
          </a:p>
        </p:txBody>
      </p:sp>
      <p:sp>
        <p:nvSpPr>
          <p:cNvPr id="7" name="Shape 5"/>
          <p:cNvSpPr/>
          <p:nvPr/>
        </p:nvSpPr>
        <p:spPr>
          <a:xfrm>
            <a:off x="621792" y="2103120"/>
            <a:ext cx="45720" cy="1783080"/>
          </a:xfrm>
          <a:prstGeom prst="rect">
            <a:avLst/>
          </a:prstGeom>
          <a:solidFill>
            <a:srgbClr val="12A566"/>
          </a:solidFill>
          <a:ln/>
        </p:spPr>
      </p:sp>
      <p:sp>
        <p:nvSpPr>
          <p:cNvPr id="8" name="Shape 6"/>
          <p:cNvSpPr/>
          <p:nvPr/>
        </p:nvSpPr>
        <p:spPr>
          <a:xfrm>
            <a:off x="685800" y="2103120"/>
            <a:ext cx="10881360" cy="356616"/>
          </a:xfrm>
          <a:prstGeom prst="rect">
            <a:avLst/>
          </a:prstGeom>
          <a:solidFill>
            <a:srgbClr val="F7F7F7"/>
          </a:solidFill>
          <a:ln/>
        </p:spPr>
      </p:sp>
      <p:sp>
        <p:nvSpPr>
          <p:cNvPr id="9" name="Text 7"/>
          <p:cNvSpPr txBox="1"/>
          <p:nvPr/>
        </p:nvSpPr>
        <p:spPr>
          <a:xfrm>
            <a:off x="676656" y="2103120"/>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p>
        </p:txBody>
      </p:sp>
      <p:sp>
        <p:nvSpPr>
          <p:cNvPr id="10" name="Text 8"/>
          <p:cNvSpPr txBox="1"/>
          <p:nvPr/>
        </p:nvSpPr>
        <p:spPr>
          <a:xfrm>
            <a:off x="676656" y="2459736"/>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p>
        </p:txBody>
      </p:sp>
      <p:sp>
        <p:nvSpPr>
          <p:cNvPr id="11" name="Shape 9"/>
          <p:cNvSpPr/>
          <p:nvPr/>
        </p:nvSpPr>
        <p:spPr>
          <a:xfrm>
            <a:off x="685800" y="2816352"/>
            <a:ext cx="10881360" cy="356616"/>
          </a:xfrm>
          <a:prstGeom prst="rect">
            <a:avLst/>
          </a:prstGeom>
          <a:solidFill>
            <a:srgbClr val="F7F7F7"/>
          </a:solidFill>
          <a:ln/>
        </p:spPr>
      </p:sp>
      <p:sp>
        <p:nvSpPr>
          <p:cNvPr id="12" name="Text 10"/>
          <p:cNvSpPr txBox="1"/>
          <p:nvPr/>
        </p:nvSpPr>
        <p:spPr>
          <a:xfrm>
            <a:off x="676656" y="2816352"/>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13" name="Text 11"/>
          <p:cNvSpPr txBox="1"/>
          <p:nvPr/>
        </p:nvSpPr>
        <p:spPr>
          <a:xfrm>
            <a:off x="676656" y="3172968"/>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4</a:t>
            </a:r>
            <a:endParaRPr lang="en-US" sz="1400" dirty="0"/>
          </a:p>
        </p:txBody>
      </p:sp>
      <p:sp>
        <p:nvSpPr>
          <p:cNvPr id="14" name="Shape 12"/>
          <p:cNvSpPr/>
          <p:nvPr/>
        </p:nvSpPr>
        <p:spPr>
          <a:xfrm>
            <a:off x="685800" y="3529584"/>
            <a:ext cx="10881360" cy="356616"/>
          </a:xfrm>
          <a:prstGeom prst="rect">
            <a:avLst/>
          </a:prstGeom>
          <a:solidFill>
            <a:srgbClr val="F7F7F7"/>
          </a:solidFill>
          <a:ln/>
        </p:spPr>
      </p:sp>
      <p:sp>
        <p:nvSpPr>
          <p:cNvPr id="15" name="Text 13"/>
          <p:cNvSpPr txBox="1"/>
          <p:nvPr/>
        </p:nvSpPr>
        <p:spPr>
          <a:xfrm>
            <a:off x="676656" y="3529584"/>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p>
        </p:txBody>
      </p:sp>
      <p:sp>
        <p:nvSpPr>
          <p:cNvPr id="16" name="Shape 14"/>
          <p:cNvSpPr/>
          <p:nvPr/>
        </p:nvSpPr>
        <p:spPr>
          <a:xfrm>
            <a:off x="621792" y="4005072"/>
            <a:ext cx="45720" cy="1783080"/>
          </a:xfrm>
          <a:prstGeom prst="rect">
            <a:avLst/>
          </a:prstGeom>
          <a:solidFill>
            <a:srgbClr val="C2352F"/>
          </a:solidFill>
          <a:ln/>
        </p:spPr>
      </p:sp>
      <p:sp>
        <p:nvSpPr>
          <p:cNvPr id="17" name="Shape 15"/>
          <p:cNvSpPr/>
          <p:nvPr/>
        </p:nvSpPr>
        <p:spPr>
          <a:xfrm>
            <a:off x="685800" y="4005072"/>
            <a:ext cx="10881360" cy="356616"/>
          </a:xfrm>
          <a:prstGeom prst="rect">
            <a:avLst/>
          </a:prstGeom>
          <a:solidFill>
            <a:srgbClr val="F7F7F7"/>
          </a:solidFill>
          <a:ln/>
        </p:spPr>
      </p:sp>
      <p:sp>
        <p:nvSpPr>
          <p:cNvPr id="18" name="Text 16"/>
          <p:cNvSpPr txBox="1"/>
          <p:nvPr/>
        </p:nvSpPr>
        <p:spPr>
          <a:xfrm>
            <a:off x="676656" y="4005072"/>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19" name="Text 17"/>
          <p:cNvSpPr txBox="1"/>
          <p:nvPr/>
        </p:nvSpPr>
        <p:spPr>
          <a:xfrm>
            <a:off x="676656" y="4361688"/>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20" name="Shape 18"/>
          <p:cNvSpPr/>
          <p:nvPr/>
        </p:nvSpPr>
        <p:spPr>
          <a:xfrm>
            <a:off x="685800" y="4718304"/>
            <a:ext cx="10881360" cy="356616"/>
          </a:xfrm>
          <a:prstGeom prst="rect">
            <a:avLst/>
          </a:prstGeom>
          <a:solidFill>
            <a:srgbClr val="F7F7F7"/>
          </a:solidFill>
          <a:ln/>
        </p:spPr>
      </p:sp>
      <p:sp>
        <p:nvSpPr>
          <p:cNvPr id="21" name="Text 19"/>
          <p:cNvSpPr txBox="1"/>
          <p:nvPr/>
        </p:nvSpPr>
        <p:spPr>
          <a:xfrm>
            <a:off x="676656" y="4718304"/>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31</a:t>
            </a:r>
            <a:endParaRPr lang="en-US" sz="1400" dirty="0"/>
          </a:p>
        </p:txBody>
      </p:sp>
      <p:sp>
        <p:nvSpPr>
          <p:cNvPr id="22" name="Text 20"/>
          <p:cNvSpPr txBox="1"/>
          <p:nvPr/>
        </p:nvSpPr>
        <p:spPr>
          <a:xfrm>
            <a:off x="676656" y="5074920"/>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32</a:t>
            </a:r>
            <a:endParaRPr lang="en-US" sz="1400" dirty="0"/>
          </a:p>
        </p:txBody>
      </p:sp>
      <p:sp>
        <p:nvSpPr>
          <p:cNvPr id="23" name="Shape 21"/>
          <p:cNvSpPr/>
          <p:nvPr/>
        </p:nvSpPr>
        <p:spPr>
          <a:xfrm>
            <a:off x="685800" y="5431536"/>
            <a:ext cx="10881360" cy="356616"/>
          </a:xfrm>
          <a:prstGeom prst="rect">
            <a:avLst/>
          </a:prstGeom>
          <a:solidFill>
            <a:srgbClr val="F7F7F7"/>
          </a:solidFill>
          <a:ln/>
        </p:spPr>
      </p:sp>
      <p:sp>
        <p:nvSpPr>
          <p:cNvPr id="24" name="Text 22"/>
          <p:cNvSpPr txBox="1"/>
          <p:nvPr/>
        </p:nvSpPr>
        <p:spPr>
          <a:xfrm>
            <a:off x="676656" y="5431536"/>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25" name="Shape 23"/>
          <p:cNvSpPr/>
          <p:nvPr/>
        </p:nvSpPr>
        <p:spPr>
          <a:xfrm>
            <a:off x="969264" y="1554480"/>
            <a:ext cx="1670304" cy="45720"/>
          </a:xfrm>
          <a:prstGeom prst="rect">
            <a:avLst/>
          </a:prstGeom>
          <a:solidFill>
            <a:srgbClr val="12A566"/>
          </a:solidFill>
          <a:ln/>
        </p:spPr>
      </p:sp>
      <p:sp>
        <p:nvSpPr>
          <p:cNvPr id="26" name="Text 24"/>
          <p:cNvSpPr txBox="1"/>
          <p:nvPr/>
        </p:nvSpPr>
        <p:spPr>
          <a:xfrm>
            <a:off x="98755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7" name="Text 25"/>
          <p:cNvSpPr txBox="1"/>
          <p:nvPr/>
        </p:nvSpPr>
        <p:spPr>
          <a:xfrm>
            <a:off x="98755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8" name="Text 26"/>
          <p:cNvSpPr txBox="1"/>
          <p:nvPr/>
        </p:nvSpPr>
        <p:spPr>
          <a:xfrm>
            <a:off x="96926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9" name="Text 27"/>
          <p:cNvSpPr txBox="1"/>
          <p:nvPr/>
        </p:nvSpPr>
        <p:spPr>
          <a:xfrm>
            <a:off x="98755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30" name="Text 28"/>
          <p:cNvSpPr txBox="1"/>
          <p:nvPr/>
        </p:nvSpPr>
        <p:spPr>
          <a:xfrm>
            <a:off x="96926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31" name="Text 29"/>
          <p:cNvSpPr txBox="1"/>
          <p:nvPr/>
        </p:nvSpPr>
        <p:spPr>
          <a:xfrm>
            <a:off x="98755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+31.3%</a:t>
            </a:r>
            <a:endParaRPr lang="en-US" sz="1400" dirty="0"/>
          </a:p>
        </p:txBody>
      </p:sp>
      <p:sp>
        <p:nvSpPr>
          <p:cNvPr id="32" name="Text 30"/>
          <p:cNvSpPr txBox="1"/>
          <p:nvPr/>
        </p:nvSpPr>
        <p:spPr>
          <a:xfrm>
            <a:off x="96926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3" name="Text 31"/>
          <p:cNvSpPr txBox="1"/>
          <p:nvPr/>
        </p:nvSpPr>
        <p:spPr>
          <a:xfrm>
            <a:off x="98755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+27.8%</a:t>
            </a:r>
            <a:endParaRPr lang="en-US" sz="1400" dirty="0"/>
          </a:p>
        </p:txBody>
      </p:sp>
      <p:sp>
        <p:nvSpPr>
          <p:cNvPr id="34" name="Text 32"/>
          <p:cNvSpPr txBox="1"/>
          <p:nvPr/>
        </p:nvSpPr>
        <p:spPr>
          <a:xfrm>
            <a:off x="96926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5" name="Text 33"/>
          <p:cNvSpPr txBox="1"/>
          <p:nvPr/>
        </p:nvSpPr>
        <p:spPr>
          <a:xfrm>
            <a:off x="98755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+23.2%</a:t>
            </a:r>
            <a:endParaRPr lang="en-US" sz="1400" dirty="0"/>
          </a:p>
        </p:txBody>
      </p:sp>
      <p:sp>
        <p:nvSpPr>
          <p:cNvPr id="36" name="Text 34"/>
          <p:cNvSpPr txBox="1"/>
          <p:nvPr/>
        </p:nvSpPr>
        <p:spPr>
          <a:xfrm>
            <a:off x="96926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7" name="Text 35"/>
          <p:cNvSpPr txBox="1"/>
          <p:nvPr/>
        </p:nvSpPr>
        <p:spPr>
          <a:xfrm>
            <a:off x="98755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+22.0%</a:t>
            </a:r>
            <a:endParaRPr lang="en-US" sz="1400" dirty="0"/>
          </a:p>
        </p:txBody>
      </p:sp>
      <p:sp>
        <p:nvSpPr>
          <p:cNvPr id="38" name="Text 36"/>
          <p:cNvSpPr txBox="1"/>
          <p:nvPr/>
        </p:nvSpPr>
        <p:spPr>
          <a:xfrm>
            <a:off x="96926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9" name="Text 37"/>
          <p:cNvSpPr txBox="1"/>
          <p:nvPr/>
        </p:nvSpPr>
        <p:spPr>
          <a:xfrm>
            <a:off x="987552" y="417880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a:t>
            </a:r>
            <a:endParaRPr lang="en-US" sz="1400" dirty="0"/>
          </a:p>
        </p:txBody>
      </p:sp>
      <p:sp>
        <p:nvSpPr>
          <p:cNvPr id="40" name="Text 38"/>
          <p:cNvSpPr txBox="1"/>
          <p:nvPr/>
        </p:nvSpPr>
        <p:spPr>
          <a:xfrm>
            <a:off x="96926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98755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−0.2%</a:t>
            </a:r>
            <a:endParaRPr lang="en-US" sz="1400" dirty="0"/>
          </a:p>
        </p:txBody>
      </p:sp>
      <p:sp>
        <p:nvSpPr>
          <p:cNvPr id="42" name="Text 40"/>
          <p:cNvSpPr txBox="1"/>
          <p:nvPr/>
        </p:nvSpPr>
        <p:spPr>
          <a:xfrm>
            <a:off x="96926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3" name="Text 41"/>
          <p:cNvSpPr txBox="1"/>
          <p:nvPr/>
        </p:nvSpPr>
        <p:spPr>
          <a:xfrm>
            <a:off x="98755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−0.9%</a:t>
            </a:r>
            <a:endParaRPr lang="en-US" sz="1400" dirty="0"/>
          </a:p>
        </p:txBody>
      </p:sp>
      <p:sp>
        <p:nvSpPr>
          <p:cNvPr id="44" name="Text 42"/>
          <p:cNvSpPr txBox="1"/>
          <p:nvPr/>
        </p:nvSpPr>
        <p:spPr>
          <a:xfrm>
            <a:off x="96926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45" name="Text 43"/>
          <p:cNvSpPr txBox="1"/>
          <p:nvPr/>
        </p:nvSpPr>
        <p:spPr>
          <a:xfrm>
            <a:off x="98755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46" name="Text 44"/>
          <p:cNvSpPr txBox="1"/>
          <p:nvPr/>
        </p:nvSpPr>
        <p:spPr>
          <a:xfrm>
            <a:off x="96926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7" name="Text 45"/>
          <p:cNvSpPr txBox="1"/>
          <p:nvPr/>
        </p:nvSpPr>
        <p:spPr>
          <a:xfrm>
            <a:off x="98755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48" name="Shape 46"/>
          <p:cNvSpPr/>
          <p:nvPr/>
        </p:nvSpPr>
        <p:spPr>
          <a:xfrm>
            <a:off x="2749296" y="1554480"/>
            <a:ext cx="1670304" cy="45720"/>
          </a:xfrm>
          <a:prstGeom prst="rect">
            <a:avLst/>
          </a:prstGeom>
          <a:solidFill>
            <a:srgbClr val="12A566"/>
          </a:solidFill>
          <a:ln/>
        </p:spPr>
      </p:sp>
      <p:sp>
        <p:nvSpPr>
          <p:cNvPr id="49" name="Text 47"/>
          <p:cNvSpPr txBox="1"/>
          <p:nvPr/>
        </p:nvSpPr>
        <p:spPr>
          <a:xfrm>
            <a:off x="2767584"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50" name="Text 48"/>
          <p:cNvSpPr txBox="1"/>
          <p:nvPr/>
        </p:nvSpPr>
        <p:spPr>
          <a:xfrm>
            <a:off x="2767584"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51" name="Text 49"/>
          <p:cNvSpPr txBox="1"/>
          <p:nvPr/>
        </p:nvSpPr>
        <p:spPr>
          <a:xfrm>
            <a:off x="2749296"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52" name="Text 50"/>
          <p:cNvSpPr txBox="1"/>
          <p:nvPr/>
        </p:nvSpPr>
        <p:spPr>
          <a:xfrm>
            <a:off x="2767584"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53" name="Text 51"/>
          <p:cNvSpPr txBox="1"/>
          <p:nvPr/>
        </p:nvSpPr>
        <p:spPr>
          <a:xfrm>
            <a:off x="2749296"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54" name="Text 52"/>
          <p:cNvSpPr txBox="1"/>
          <p:nvPr/>
        </p:nvSpPr>
        <p:spPr>
          <a:xfrm>
            <a:off x="2767584"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sp>
        <p:nvSpPr>
          <p:cNvPr id="55" name="Text 53"/>
          <p:cNvSpPr txBox="1"/>
          <p:nvPr/>
        </p:nvSpPr>
        <p:spPr>
          <a:xfrm>
            <a:off x="2749296"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56" name="Text 54"/>
          <p:cNvSpPr txBox="1"/>
          <p:nvPr/>
        </p:nvSpPr>
        <p:spPr>
          <a:xfrm>
            <a:off x="2767584"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+18.6%</a:t>
            </a:r>
            <a:endParaRPr lang="en-US" sz="1400" dirty="0"/>
          </a:p>
        </p:txBody>
      </p:sp>
      <p:sp>
        <p:nvSpPr>
          <p:cNvPr id="57" name="Text 55"/>
          <p:cNvSpPr txBox="1"/>
          <p:nvPr/>
        </p:nvSpPr>
        <p:spPr>
          <a:xfrm>
            <a:off x="2749296"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8" name="Text 56"/>
          <p:cNvSpPr txBox="1"/>
          <p:nvPr/>
        </p:nvSpPr>
        <p:spPr>
          <a:xfrm>
            <a:off x="2767584"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+15.8%</a:t>
            </a:r>
            <a:endParaRPr lang="en-US" sz="1400" dirty="0"/>
          </a:p>
        </p:txBody>
      </p:sp>
      <p:sp>
        <p:nvSpPr>
          <p:cNvPr id="59" name="Text 57"/>
          <p:cNvSpPr txBox="1"/>
          <p:nvPr/>
        </p:nvSpPr>
        <p:spPr>
          <a:xfrm>
            <a:off x="2749296"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60" name="Text 58"/>
          <p:cNvSpPr txBox="1"/>
          <p:nvPr/>
        </p:nvSpPr>
        <p:spPr>
          <a:xfrm>
            <a:off x="2767584"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+15.5%</a:t>
            </a:r>
            <a:endParaRPr lang="en-US" sz="1400" dirty="0"/>
          </a:p>
        </p:txBody>
      </p:sp>
      <p:sp>
        <p:nvSpPr>
          <p:cNvPr id="61" name="Text 59"/>
          <p:cNvSpPr txBox="1"/>
          <p:nvPr/>
        </p:nvSpPr>
        <p:spPr>
          <a:xfrm>
            <a:off x="2749296"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2" name="Text 60"/>
          <p:cNvSpPr txBox="1"/>
          <p:nvPr/>
        </p:nvSpPr>
        <p:spPr>
          <a:xfrm>
            <a:off x="2767584" y="417880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63" name="Text 61"/>
          <p:cNvSpPr txBox="1"/>
          <p:nvPr/>
        </p:nvSpPr>
        <p:spPr>
          <a:xfrm>
            <a:off x="2749296"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64" name="Text 62"/>
          <p:cNvSpPr txBox="1"/>
          <p:nvPr/>
        </p:nvSpPr>
        <p:spPr>
          <a:xfrm>
            <a:off x="2767584" y="453542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65" name="Text 63"/>
          <p:cNvSpPr txBox="1"/>
          <p:nvPr/>
        </p:nvSpPr>
        <p:spPr>
          <a:xfrm>
            <a:off x="2749296"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6" name="Text 64"/>
          <p:cNvSpPr txBox="1"/>
          <p:nvPr/>
        </p:nvSpPr>
        <p:spPr>
          <a:xfrm>
            <a:off x="2767584"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67" name="Text 65"/>
          <p:cNvSpPr txBox="1"/>
          <p:nvPr/>
        </p:nvSpPr>
        <p:spPr>
          <a:xfrm>
            <a:off x="2749296"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8" name="Text 66"/>
          <p:cNvSpPr txBox="1"/>
          <p:nvPr/>
        </p:nvSpPr>
        <p:spPr>
          <a:xfrm>
            <a:off x="2767584"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2749296"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0" name="Text 68"/>
          <p:cNvSpPr txBox="1"/>
          <p:nvPr/>
        </p:nvSpPr>
        <p:spPr>
          <a:xfrm>
            <a:off x="2767584"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−4.3%</a:t>
            </a:r>
            <a:endParaRPr lang="en-US" sz="1400" dirty="0"/>
          </a:p>
        </p:txBody>
      </p:sp>
      <p:sp>
        <p:nvSpPr>
          <p:cNvPr id="71" name="Shape 69"/>
          <p:cNvSpPr/>
          <p:nvPr/>
        </p:nvSpPr>
        <p:spPr>
          <a:xfrm>
            <a:off x="4529328" y="1554480"/>
            <a:ext cx="1670304" cy="45720"/>
          </a:xfrm>
          <a:prstGeom prst="rect">
            <a:avLst/>
          </a:prstGeom>
          <a:solidFill>
            <a:srgbClr val="12A566"/>
          </a:solidFill>
          <a:ln/>
        </p:spPr>
      </p:sp>
      <p:sp>
        <p:nvSpPr>
          <p:cNvPr id="72" name="Text 70"/>
          <p:cNvSpPr txBox="1"/>
          <p:nvPr/>
        </p:nvSpPr>
        <p:spPr>
          <a:xfrm>
            <a:off x="4547616"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73" name="Text 71"/>
          <p:cNvSpPr txBox="1"/>
          <p:nvPr/>
        </p:nvSpPr>
        <p:spPr>
          <a:xfrm>
            <a:off x="4547616"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74" name="Text 72"/>
          <p:cNvSpPr txBox="1"/>
          <p:nvPr/>
        </p:nvSpPr>
        <p:spPr>
          <a:xfrm>
            <a:off x="4529328"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4547616"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+22.1%</a:t>
            </a:r>
            <a:endParaRPr lang="en-US" sz="1400" dirty="0"/>
          </a:p>
        </p:txBody>
      </p:sp>
      <p:sp>
        <p:nvSpPr>
          <p:cNvPr id="76" name="Text 74"/>
          <p:cNvSpPr txBox="1"/>
          <p:nvPr/>
        </p:nvSpPr>
        <p:spPr>
          <a:xfrm>
            <a:off x="4529328"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7" name="Text 75"/>
          <p:cNvSpPr txBox="1"/>
          <p:nvPr/>
        </p:nvSpPr>
        <p:spPr>
          <a:xfrm>
            <a:off x="4547616"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78" name="Text 76"/>
          <p:cNvSpPr txBox="1"/>
          <p:nvPr/>
        </p:nvSpPr>
        <p:spPr>
          <a:xfrm>
            <a:off x="4529328"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Text 77"/>
          <p:cNvSpPr txBox="1"/>
          <p:nvPr/>
        </p:nvSpPr>
        <p:spPr>
          <a:xfrm>
            <a:off x="4547616"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sp>
        <p:nvSpPr>
          <p:cNvPr id="80" name="Text 78"/>
          <p:cNvSpPr txBox="1"/>
          <p:nvPr/>
        </p:nvSpPr>
        <p:spPr>
          <a:xfrm>
            <a:off x="4529328"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1" name="Text 79"/>
          <p:cNvSpPr txBox="1"/>
          <p:nvPr/>
        </p:nvSpPr>
        <p:spPr>
          <a:xfrm>
            <a:off x="4547616"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82" name="Text 80"/>
          <p:cNvSpPr txBox="1"/>
          <p:nvPr/>
        </p:nvSpPr>
        <p:spPr>
          <a:xfrm>
            <a:off x="4529328"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3" name="Text 81"/>
          <p:cNvSpPr txBox="1"/>
          <p:nvPr/>
        </p:nvSpPr>
        <p:spPr>
          <a:xfrm>
            <a:off x="4547616"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+8.6%</a:t>
            </a:r>
            <a:endParaRPr lang="en-US" sz="1400" dirty="0"/>
          </a:p>
        </p:txBody>
      </p:sp>
      <p:sp>
        <p:nvSpPr>
          <p:cNvPr id="84" name="Text 82"/>
          <p:cNvSpPr txBox="1"/>
          <p:nvPr/>
        </p:nvSpPr>
        <p:spPr>
          <a:xfrm>
            <a:off x="4529328"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4547616"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p>
        </p:txBody>
      </p:sp>
      <p:sp>
        <p:nvSpPr>
          <p:cNvPr id="86" name="Text 84"/>
          <p:cNvSpPr txBox="1"/>
          <p:nvPr/>
        </p:nvSpPr>
        <p:spPr>
          <a:xfrm>
            <a:off x="4529328"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7" name="Text 85"/>
          <p:cNvSpPr txBox="1"/>
          <p:nvPr/>
        </p:nvSpPr>
        <p:spPr>
          <a:xfrm>
            <a:off x="4547616"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−9.5%</a:t>
            </a:r>
            <a:endParaRPr lang="en-US" sz="1400" dirty="0"/>
          </a:p>
        </p:txBody>
      </p:sp>
      <p:sp>
        <p:nvSpPr>
          <p:cNvPr id="88" name="Text 86"/>
          <p:cNvSpPr txBox="1"/>
          <p:nvPr/>
        </p:nvSpPr>
        <p:spPr>
          <a:xfrm>
            <a:off x="4529328"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9" name="Text 87"/>
          <p:cNvSpPr txBox="1"/>
          <p:nvPr/>
        </p:nvSpPr>
        <p:spPr>
          <a:xfrm>
            <a:off x="4547616"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−9.9%</a:t>
            </a:r>
            <a:endParaRPr lang="en-US" sz="1400" dirty="0"/>
          </a:p>
        </p:txBody>
      </p:sp>
      <p:sp>
        <p:nvSpPr>
          <p:cNvPr id="90" name="Text 88"/>
          <p:cNvSpPr txBox="1"/>
          <p:nvPr/>
        </p:nvSpPr>
        <p:spPr>
          <a:xfrm>
            <a:off x="4529328"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91" name="Text 89"/>
          <p:cNvSpPr txBox="1"/>
          <p:nvPr/>
        </p:nvSpPr>
        <p:spPr>
          <a:xfrm>
            <a:off x="4547616"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−10.6%</a:t>
            </a:r>
            <a:endParaRPr lang="en-US" sz="1400" dirty="0"/>
          </a:p>
        </p:txBody>
      </p:sp>
      <p:sp>
        <p:nvSpPr>
          <p:cNvPr id="92" name="Text 90"/>
          <p:cNvSpPr txBox="1"/>
          <p:nvPr/>
        </p:nvSpPr>
        <p:spPr>
          <a:xfrm>
            <a:off x="4529328"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4547616"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−14.0%</a:t>
            </a:r>
            <a:endParaRPr lang="en-US" sz="1400" dirty="0"/>
          </a:p>
        </p:txBody>
      </p:sp>
      <p:sp>
        <p:nvSpPr>
          <p:cNvPr id="94" name="Shape 92"/>
          <p:cNvSpPr/>
          <p:nvPr/>
        </p:nvSpPr>
        <p:spPr>
          <a:xfrm>
            <a:off x="6309360" y="1554480"/>
            <a:ext cx="1670304" cy="45720"/>
          </a:xfrm>
          <a:prstGeom prst="rect">
            <a:avLst/>
          </a:prstGeom>
          <a:solidFill>
            <a:srgbClr val="12A566"/>
          </a:solidFill>
          <a:ln/>
        </p:spPr>
      </p:sp>
      <p:sp>
        <p:nvSpPr>
          <p:cNvPr id="95" name="Text 93"/>
          <p:cNvSpPr txBox="1"/>
          <p:nvPr/>
        </p:nvSpPr>
        <p:spPr>
          <a:xfrm>
            <a:off x="6327648"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96" name="Text 94"/>
          <p:cNvSpPr txBox="1"/>
          <p:nvPr/>
        </p:nvSpPr>
        <p:spPr>
          <a:xfrm>
            <a:off x="6327648"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97" name="Text 95"/>
          <p:cNvSpPr txBox="1"/>
          <p:nvPr/>
        </p:nvSpPr>
        <p:spPr>
          <a:xfrm>
            <a:off x="6309360"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Text 96"/>
          <p:cNvSpPr txBox="1"/>
          <p:nvPr/>
        </p:nvSpPr>
        <p:spPr>
          <a:xfrm>
            <a:off x="6327648"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99" name="Text 97"/>
          <p:cNvSpPr txBox="1"/>
          <p:nvPr/>
        </p:nvSpPr>
        <p:spPr>
          <a:xfrm>
            <a:off x="6309360"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00" name="Text 98"/>
          <p:cNvSpPr txBox="1"/>
          <p:nvPr/>
        </p:nvSpPr>
        <p:spPr>
          <a:xfrm>
            <a:off x="6327648"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+7.3%</a:t>
            </a:r>
            <a:endParaRPr lang="en-US" sz="1400" dirty="0"/>
          </a:p>
        </p:txBody>
      </p:sp>
      <p:sp>
        <p:nvSpPr>
          <p:cNvPr id="101" name="Text 99"/>
          <p:cNvSpPr txBox="1"/>
          <p:nvPr/>
        </p:nvSpPr>
        <p:spPr>
          <a:xfrm>
            <a:off x="6309360"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102" name="Text 100"/>
          <p:cNvSpPr txBox="1"/>
          <p:nvPr/>
        </p:nvSpPr>
        <p:spPr>
          <a:xfrm>
            <a:off x="6327648"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+6.1%</a:t>
            </a:r>
            <a:endParaRPr lang="en-US" sz="1400" dirty="0"/>
          </a:p>
        </p:txBody>
      </p:sp>
      <p:sp>
        <p:nvSpPr>
          <p:cNvPr id="103" name="Text 101"/>
          <p:cNvSpPr txBox="1"/>
          <p:nvPr/>
        </p:nvSpPr>
        <p:spPr>
          <a:xfrm>
            <a:off x="6309360"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04" name="Text 102"/>
          <p:cNvSpPr txBox="1"/>
          <p:nvPr/>
        </p:nvSpPr>
        <p:spPr>
          <a:xfrm>
            <a:off x="6327648"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+5.7%</a:t>
            </a:r>
            <a:endParaRPr lang="en-US" sz="1400" dirty="0"/>
          </a:p>
        </p:txBody>
      </p:sp>
      <p:sp>
        <p:nvSpPr>
          <p:cNvPr id="105" name="Text 103"/>
          <p:cNvSpPr txBox="1"/>
          <p:nvPr/>
        </p:nvSpPr>
        <p:spPr>
          <a:xfrm>
            <a:off x="6309360"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106" name="Text 104"/>
          <p:cNvSpPr txBox="1"/>
          <p:nvPr/>
        </p:nvSpPr>
        <p:spPr>
          <a:xfrm>
            <a:off x="6327648"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+5.0%</a:t>
            </a:r>
            <a:endParaRPr lang="en-US" sz="1400" dirty="0"/>
          </a:p>
        </p:txBody>
      </p:sp>
      <p:sp>
        <p:nvSpPr>
          <p:cNvPr id="107" name="Text 105"/>
          <p:cNvSpPr txBox="1"/>
          <p:nvPr/>
        </p:nvSpPr>
        <p:spPr>
          <a:xfrm>
            <a:off x="6309360"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108" name="Text 106"/>
          <p:cNvSpPr txBox="1"/>
          <p:nvPr/>
        </p:nvSpPr>
        <p:spPr>
          <a:xfrm>
            <a:off x="6327648"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109" name="Text 107"/>
          <p:cNvSpPr txBox="1"/>
          <p:nvPr/>
        </p:nvSpPr>
        <p:spPr>
          <a:xfrm>
            <a:off x="6309360"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0" name="Text 108"/>
          <p:cNvSpPr txBox="1"/>
          <p:nvPr/>
        </p:nvSpPr>
        <p:spPr>
          <a:xfrm>
            <a:off x="6327648"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111" name="Text 109"/>
          <p:cNvSpPr txBox="1"/>
          <p:nvPr/>
        </p:nvSpPr>
        <p:spPr>
          <a:xfrm>
            <a:off x="6309360"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2" name="Text 110"/>
          <p:cNvSpPr txBox="1"/>
          <p:nvPr/>
        </p:nvSpPr>
        <p:spPr>
          <a:xfrm>
            <a:off x="6327648"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113" name="Text 111"/>
          <p:cNvSpPr txBox="1"/>
          <p:nvPr/>
        </p:nvSpPr>
        <p:spPr>
          <a:xfrm>
            <a:off x="6309360"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114" name="Text 112"/>
          <p:cNvSpPr txBox="1"/>
          <p:nvPr/>
        </p:nvSpPr>
        <p:spPr>
          <a:xfrm>
            <a:off x="6327648"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−4.7%</a:t>
            </a:r>
            <a:endParaRPr lang="en-US" sz="1400" dirty="0"/>
          </a:p>
        </p:txBody>
      </p:sp>
      <p:sp>
        <p:nvSpPr>
          <p:cNvPr id="115" name="Text 113"/>
          <p:cNvSpPr txBox="1"/>
          <p:nvPr/>
        </p:nvSpPr>
        <p:spPr>
          <a:xfrm>
            <a:off x="6309360"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16" name="Text 114"/>
          <p:cNvSpPr txBox="1"/>
          <p:nvPr/>
        </p:nvSpPr>
        <p:spPr>
          <a:xfrm>
            <a:off x="6327648"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−14.2%</a:t>
            </a:r>
            <a:endParaRPr lang="en-US" sz="1400" dirty="0"/>
          </a:p>
        </p:txBody>
      </p:sp>
      <p:sp>
        <p:nvSpPr>
          <p:cNvPr id="117" name="Shape 115"/>
          <p:cNvSpPr/>
          <p:nvPr/>
        </p:nvSpPr>
        <p:spPr>
          <a:xfrm>
            <a:off x="8089392" y="1554480"/>
            <a:ext cx="1670304" cy="45720"/>
          </a:xfrm>
          <a:prstGeom prst="rect">
            <a:avLst/>
          </a:prstGeom>
          <a:solidFill>
            <a:srgbClr val="12A566"/>
          </a:solidFill>
          <a:ln/>
        </p:spPr>
      </p:sp>
      <p:sp>
        <p:nvSpPr>
          <p:cNvPr id="118" name="Text 116"/>
          <p:cNvSpPr txBox="1"/>
          <p:nvPr/>
        </p:nvSpPr>
        <p:spPr>
          <a:xfrm>
            <a:off x="8107680"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119" name="Text 117"/>
          <p:cNvSpPr txBox="1"/>
          <p:nvPr/>
        </p:nvSpPr>
        <p:spPr>
          <a:xfrm>
            <a:off x="8107680"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120" name="Text 118"/>
          <p:cNvSpPr txBox="1"/>
          <p:nvPr/>
        </p:nvSpPr>
        <p:spPr>
          <a:xfrm>
            <a:off x="8089392"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21" name="Text 119"/>
          <p:cNvSpPr txBox="1"/>
          <p:nvPr/>
        </p:nvSpPr>
        <p:spPr>
          <a:xfrm>
            <a:off x="8107680"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122" name="Text 120"/>
          <p:cNvSpPr txBox="1"/>
          <p:nvPr/>
        </p:nvSpPr>
        <p:spPr>
          <a:xfrm>
            <a:off x="8089392"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23" name="Text 121"/>
          <p:cNvSpPr txBox="1"/>
          <p:nvPr/>
        </p:nvSpPr>
        <p:spPr>
          <a:xfrm>
            <a:off x="8107680"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124" name="Text 122"/>
          <p:cNvSpPr txBox="1"/>
          <p:nvPr/>
        </p:nvSpPr>
        <p:spPr>
          <a:xfrm>
            <a:off x="8089392"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8107680"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+22.9%</a:t>
            </a:r>
            <a:endParaRPr lang="en-US" sz="1400" dirty="0"/>
          </a:p>
        </p:txBody>
      </p:sp>
      <p:sp>
        <p:nvSpPr>
          <p:cNvPr id="126" name="Text 124"/>
          <p:cNvSpPr txBox="1"/>
          <p:nvPr/>
        </p:nvSpPr>
        <p:spPr>
          <a:xfrm>
            <a:off x="8089392"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7" name="Text 125"/>
          <p:cNvSpPr txBox="1"/>
          <p:nvPr/>
        </p:nvSpPr>
        <p:spPr>
          <a:xfrm>
            <a:off x="8107680"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28" name="Text 126"/>
          <p:cNvSpPr txBox="1"/>
          <p:nvPr/>
        </p:nvSpPr>
        <p:spPr>
          <a:xfrm>
            <a:off x="8089392"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Text 127"/>
          <p:cNvSpPr txBox="1"/>
          <p:nvPr/>
        </p:nvSpPr>
        <p:spPr>
          <a:xfrm>
            <a:off x="8107680"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+15.0%</a:t>
            </a:r>
            <a:endParaRPr lang="en-US" sz="1400" dirty="0"/>
          </a:p>
        </p:txBody>
      </p:sp>
      <p:sp>
        <p:nvSpPr>
          <p:cNvPr id="130" name="Text 128"/>
          <p:cNvSpPr txBox="1"/>
          <p:nvPr/>
        </p:nvSpPr>
        <p:spPr>
          <a:xfrm>
            <a:off x="8089392"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1" name="Text 129"/>
          <p:cNvSpPr txBox="1"/>
          <p:nvPr/>
        </p:nvSpPr>
        <p:spPr>
          <a:xfrm>
            <a:off x="8107680"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132" name="Text 130"/>
          <p:cNvSpPr txBox="1"/>
          <p:nvPr/>
        </p:nvSpPr>
        <p:spPr>
          <a:xfrm>
            <a:off x="8089392"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3" name="Text 131"/>
          <p:cNvSpPr txBox="1"/>
          <p:nvPr/>
        </p:nvSpPr>
        <p:spPr>
          <a:xfrm>
            <a:off x="8107680"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−3.4%</a:t>
            </a:r>
            <a:endParaRPr lang="en-US" sz="1400" dirty="0"/>
          </a:p>
        </p:txBody>
      </p:sp>
      <p:sp>
        <p:nvSpPr>
          <p:cNvPr id="134" name="Text 132"/>
          <p:cNvSpPr txBox="1"/>
          <p:nvPr/>
        </p:nvSpPr>
        <p:spPr>
          <a:xfrm>
            <a:off x="8089392"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135" name="Text 133"/>
          <p:cNvSpPr txBox="1"/>
          <p:nvPr/>
        </p:nvSpPr>
        <p:spPr>
          <a:xfrm>
            <a:off x="8107680"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−4.4%</a:t>
            </a:r>
            <a:endParaRPr lang="en-US" sz="1400" dirty="0"/>
          </a:p>
        </p:txBody>
      </p:sp>
      <p:sp>
        <p:nvSpPr>
          <p:cNvPr id="136" name="Text 134"/>
          <p:cNvSpPr txBox="1"/>
          <p:nvPr/>
        </p:nvSpPr>
        <p:spPr>
          <a:xfrm>
            <a:off x="8089392"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37" name="Text 135"/>
          <p:cNvSpPr txBox="1"/>
          <p:nvPr/>
        </p:nvSpPr>
        <p:spPr>
          <a:xfrm>
            <a:off x="8107680"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−5.6%</a:t>
            </a:r>
            <a:endParaRPr lang="en-US" sz="1400" dirty="0"/>
          </a:p>
        </p:txBody>
      </p:sp>
      <p:sp>
        <p:nvSpPr>
          <p:cNvPr id="138" name="Text 136"/>
          <p:cNvSpPr txBox="1"/>
          <p:nvPr/>
        </p:nvSpPr>
        <p:spPr>
          <a:xfrm>
            <a:off x="8089392"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9" name="Text 137"/>
          <p:cNvSpPr txBox="1"/>
          <p:nvPr/>
        </p:nvSpPr>
        <p:spPr>
          <a:xfrm>
            <a:off x="8107680"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140" name="Shape 138"/>
          <p:cNvSpPr/>
          <p:nvPr/>
        </p:nvSpPr>
        <p:spPr>
          <a:xfrm>
            <a:off x="9869424" y="1554480"/>
            <a:ext cx="1670304" cy="45720"/>
          </a:xfrm>
          <a:prstGeom prst="rect">
            <a:avLst/>
          </a:prstGeom>
          <a:solidFill>
            <a:srgbClr val="12A566"/>
          </a:solidFill>
          <a:ln/>
        </p:spPr>
      </p:sp>
      <p:sp>
        <p:nvSpPr>
          <p:cNvPr id="141" name="Text 139"/>
          <p:cNvSpPr txBox="1"/>
          <p:nvPr/>
        </p:nvSpPr>
        <p:spPr>
          <a:xfrm>
            <a:off x="988771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142" name="Text 140"/>
          <p:cNvSpPr txBox="1"/>
          <p:nvPr/>
        </p:nvSpPr>
        <p:spPr>
          <a:xfrm>
            <a:off x="988771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143" name="Text 141"/>
          <p:cNvSpPr txBox="1"/>
          <p:nvPr/>
        </p:nvSpPr>
        <p:spPr>
          <a:xfrm>
            <a:off x="986942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44" name="Text 142"/>
          <p:cNvSpPr txBox="1"/>
          <p:nvPr/>
        </p:nvSpPr>
        <p:spPr>
          <a:xfrm>
            <a:off x="988771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145" name="Text 143"/>
          <p:cNvSpPr txBox="1"/>
          <p:nvPr/>
        </p:nvSpPr>
        <p:spPr>
          <a:xfrm>
            <a:off x="986942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Text 144"/>
          <p:cNvSpPr txBox="1"/>
          <p:nvPr/>
        </p:nvSpPr>
        <p:spPr>
          <a:xfrm>
            <a:off x="988771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+4.6 pts</a:t>
            </a:r>
            <a:endParaRPr lang="en-US" sz="1400" dirty="0"/>
          </a:p>
        </p:txBody>
      </p:sp>
      <p:sp>
        <p:nvSpPr>
          <p:cNvPr id="147" name="Text 145"/>
          <p:cNvSpPr txBox="1"/>
          <p:nvPr/>
        </p:nvSpPr>
        <p:spPr>
          <a:xfrm>
            <a:off x="986942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48" name="Text 146"/>
          <p:cNvSpPr txBox="1"/>
          <p:nvPr/>
        </p:nvSpPr>
        <p:spPr>
          <a:xfrm>
            <a:off x="988771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+3.9 pts</a:t>
            </a:r>
            <a:endParaRPr lang="en-US" sz="1400" dirty="0"/>
          </a:p>
        </p:txBody>
      </p:sp>
      <p:sp>
        <p:nvSpPr>
          <p:cNvPr id="149" name="Text 147"/>
          <p:cNvSpPr txBox="1"/>
          <p:nvPr/>
        </p:nvSpPr>
        <p:spPr>
          <a:xfrm>
            <a:off x="986942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50" name="Text 148"/>
          <p:cNvSpPr txBox="1"/>
          <p:nvPr/>
        </p:nvSpPr>
        <p:spPr>
          <a:xfrm>
            <a:off x="988771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+2.9 pts</a:t>
            </a:r>
            <a:endParaRPr lang="en-US" sz="1400" dirty="0"/>
          </a:p>
        </p:txBody>
      </p:sp>
      <p:sp>
        <p:nvSpPr>
          <p:cNvPr id="151" name="Text 149"/>
          <p:cNvSpPr txBox="1"/>
          <p:nvPr/>
        </p:nvSpPr>
        <p:spPr>
          <a:xfrm>
            <a:off x="986942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2" name="Text 150"/>
          <p:cNvSpPr txBox="1"/>
          <p:nvPr/>
        </p:nvSpPr>
        <p:spPr>
          <a:xfrm>
            <a:off x="988771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 pts</a:t>
            </a:r>
            <a:endParaRPr lang="en-US" sz="1400" dirty="0"/>
          </a:p>
        </p:txBody>
      </p:sp>
      <p:sp>
        <p:nvSpPr>
          <p:cNvPr id="153" name="Text 151"/>
          <p:cNvSpPr txBox="1"/>
          <p:nvPr/>
        </p:nvSpPr>
        <p:spPr>
          <a:xfrm>
            <a:off x="986942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154" name="Text 152"/>
          <p:cNvSpPr txBox="1"/>
          <p:nvPr/>
        </p:nvSpPr>
        <p:spPr>
          <a:xfrm>
            <a:off x="9887712"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−2.1 pts</a:t>
            </a:r>
            <a:endParaRPr lang="en-US" sz="1400" dirty="0"/>
          </a:p>
        </p:txBody>
      </p:sp>
      <p:sp>
        <p:nvSpPr>
          <p:cNvPr id="155" name="Text 153"/>
          <p:cNvSpPr txBox="1"/>
          <p:nvPr/>
        </p:nvSpPr>
        <p:spPr>
          <a:xfrm>
            <a:off x="986942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56" name="Text 154"/>
          <p:cNvSpPr txBox="1"/>
          <p:nvPr/>
        </p:nvSpPr>
        <p:spPr>
          <a:xfrm>
            <a:off x="988771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−3.1 pts</a:t>
            </a:r>
            <a:endParaRPr lang="en-US" sz="1400" dirty="0"/>
          </a:p>
        </p:txBody>
      </p:sp>
      <p:sp>
        <p:nvSpPr>
          <p:cNvPr id="157" name="Text 155"/>
          <p:cNvSpPr txBox="1"/>
          <p:nvPr/>
        </p:nvSpPr>
        <p:spPr>
          <a:xfrm>
            <a:off x="986942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58" name="Text 156"/>
          <p:cNvSpPr txBox="1"/>
          <p:nvPr/>
        </p:nvSpPr>
        <p:spPr>
          <a:xfrm>
            <a:off x="988771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−3.1 pts</a:t>
            </a:r>
            <a:endParaRPr lang="en-US" sz="1400" dirty="0"/>
          </a:p>
        </p:txBody>
      </p:sp>
      <p:sp>
        <p:nvSpPr>
          <p:cNvPr id="159" name="Text 157"/>
          <p:cNvSpPr txBox="1"/>
          <p:nvPr/>
        </p:nvSpPr>
        <p:spPr>
          <a:xfrm>
            <a:off x="986942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60" name="Text 158"/>
          <p:cNvSpPr txBox="1"/>
          <p:nvPr/>
        </p:nvSpPr>
        <p:spPr>
          <a:xfrm>
            <a:off x="988771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−3.8 pts</a:t>
            </a:r>
            <a:endParaRPr lang="en-US" sz="1400" dirty="0"/>
          </a:p>
        </p:txBody>
      </p:sp>
      <p:sp>
        <p:nvSpPr>
          <p:cNvPr id="161" name="Text 159"/>
          <p:cNvSpPr txBox="1"/>
          <p:nvPr/>
        </p:nvSpPr>
        <p:spPr>
          <a:xfrm>
            <a:off x="986942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2" name="Text 160"/>
          <p:cNvSpPr txBox="1"/>
          <p:nvPr/>
        </p:nvSpPr>
        <p:spPr>
          <a:xfrm>
            <a:off x="988771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−4.2 pts</a:t>
            </a:r>
            <a:endParaRPr lang="en-US" sz="1400" dirty="0"/>
          </a:p>
        </p:txBody>
      </p:sp>
      <p:sp>
        <p:nvSpPr>
          <p:cNvPr id="164" name="Shape 161"/>
          <p:cNvSpPr/>
          <p:nvPr/>
        </p:nvSpPr>
        <p:spPr>
          <a:xfrm>
            <a:off x="457200" y="6126480"/>
            <a:ext cx="11274552" cy="371856"/>
          </a:xfrm>
          <a:prstGeom prst="rect">
            <a:avLst/>
          </a:prstGeom>
          <a:solidFill>
            <a:srgbClr val="EDF4FA"/>
          </a:solidFill>
          <a:ln/>
        </p:spPr>
      </p:sp>
      <p:sp>
        <p:nvSpPr>
          <p:cNvPr id="165" name="Text 16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Top: VW St George (4 of 6).</a:t>
            </a:r>
            <a:endParaRPr lang="en-US" sz="1600" dirty="0"/>
          </a:p>
          <a:p>
            <a:pPr indent="0" marL="0">
              <a:buNone/>
            </a:pPr>
            <a:r>
              <a:rPr lang="en-US" sz="1600" b="1" dirty="0">
                <a:solidFill>
                  <a:srgbClr val="0B2C4A"/>
                </a:solidFill>
                <a:latin typeface="Inter" pitchFamily="34" charset="0"/>
                <a:ea typeface="Inter" pitchFamily="34" charset="-122"/>
                <a:cs typeface="Inter" pitchFamily="34" charset="-120"/>
              </a:rPr>
              <a:t>Bottom: Subaru St George, Honda Henderson (4 of 6).</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5" name="Shape 13"/>
          <p:cNvSpPr/>
          <p:nvPr/>
        </p:nvSpPr>
        <p:spPr>
          <a:xfrm>
            <a:off x="7269480" y="3261360"/>
            <a:ext cx="54864" cy="1112520"/>
          </a:xfrm>
          <a:prstGeom prst="rect">
            <a:avLst/>
          </a:prstGeom>
          <a:solidFill>
            <a:srgbClr val="C2352F"/>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21" name="Shape 19"/>
          <p:cNvSpPr/>
          <p:nvPr/>
        </p:nvSpPr>
        <p:spPr>
          <a:xfrm>
            <a:off x="457200" y="6126480"/>
            <a:ext cx="11274552" cy="364236"/>
          </a:xfrm>
          <a:prstGeom prst="rect">
            <a:avLst/>
          </a:prstGeom>
          <a:solidFill>
            <a:srgbClr val="E6F6EE"/>
          </a:solidFill>
          <a:ln/>
        </p:spPr>
      </p:sp>
      <p:sp>
        <p:nvSpPr>
          <p:cNvPr id="22" name="Text 2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Shape 4"/>
          <p:cNvSpPr/>
          <p:nvPr/>
        </p:nvSpPr>
        <p:spPr>
          <a:xfrm>
            <a:off x="685800" y="1371600"/>
            <a:ext cx="237744" cy="201168"/>
          </a:xfrm>
          <a:prstGeom prst="rect">
            <a:avLst/>
          </a:prstGeom>
          <a:solidFill>
            <a:srgbClr val="C2352F"/>
          </a:solidFill>
          <a:ln/>
        </p:spPr>
      </p:sp>
      <p:sp>
        <p:nvSpPr>
          <p:cNvPr id="7" name="Text 5"/>
          <p:cNvSpPr txBox="1"/>
          <p:nvPr/>
        </p:nvSpPr>
        <p:spPr>
          <a:xfrm>
            <a:off x="1014984" y="1298448"/>
            <a:ext cx="2011680" cy="347472"/>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Store today</a:t>
            </a:r>
            <a:endParaRPr lang="en-US" sz="1500" dirty="0"/>
          </a:p>
        </p:txBody>
      </p:sp>
      <p:sp>
        <p:nvSpPr>
          <p:cNvPr id="8" name="Shape 6"/>
          <p:cNvSpPr/>
          <p:nvPr/>
        </p:nvSpPr>
        <p:spPr>
          <a:xfrm>
            <a:off x="3063240" y="1371600"/>
            <a:ext cx="237744" cy="201168"/>
          </a:xfrm>
          <a:prstGeom prst="rect">
            <a:avLst/>
          </a:prstGeom>
          <a:solidFill>
            <a:srgbClr val="12A566"/>
          </a:solidFill>
          <a:ln/>
        </p:spPr>
      </p:sp>
      <p:sp>
        <p:nvSpPr>
          <p:cNvPr id="9" name="Text 7"/>
          <p:cNvSpPr txBox="1"/>
          <p:nvPr/>
        </p:nvSpPr>
        <p:spPr>
          <a:xfrm>
            <a:off x="3392424" y="1298448"/>
            <a:ext cx="2011680" cy="347472"/>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Its best techs</a:t>
            </a:r>
            <a:endParaRPr lang="en-US" sz="1500" dirty="0"/>
          </a:p>
        </p:txBody>
      </p:sp>
      <p:sp>
        <p:nvSpPr>
          <p:cNvPr id="10" name="Text 8"/>
          <p:cNvSpPr txBox="1"/>
          <p:nvPr/>
        </p:nvSpPr>
        <p:spPr>
          <a:xfrm>
            <a:off x="6260592" y="1298448"/>
            <a:ext cx="1828800" cy="347472"/>
          </a:xfrm>
          <a:prstGeom prst="rect">
            <a:avLst/>
          </a:prstGeom>
          <a:noFill/>
          <a:ln/>
        </p:spPr>
        <p:txBody>
          <a:bodyPr wrap="square" lIns="0" tIns="0" rIns="0" bIns="0" rtlCol="0" anchor="ctr"/>
          <a:lstStyle/>
          <a:p>
            <a:pPr algn="ctr" indent="0" marL="0">
              <a:buNone/>
            </a:pPr>
            <a:r>
              <a:rPr lang="en-US" sz="1400" b="1" spc="80" kern="0" dirty="0">
                <a:solidFill>
                  <a:srgbClr val="0B2C4A"/>
                </a:solidFill>
                <a:latin typeface="Inter" pitchFamily="34" charset="0"/>
                <a:ea typeface="Inter" pitchFamily="34" charset="-122"/>
                <a:cs typeface="Inter" pitchFamily="34" charset="-120"/>
              </a:rPr>
              <a:t>TARGET 85%</a:t>
            </a:r>
            <a:endParaRPr lang="en-US" sz="1400" dirty="0"/>
          </a:p>
        </p:txBody>
      </p:sp>
      <p:sp>
        <p:nvSpPr>
          <p:cNvPr id="11" name="Text 9"/>
          <p:cNvSpPr txBox="1"/>
          <p:nvPr/>
        </p:nvSpPr>
        <p:spPr>
          <a:xfrm>
            <a:off x="685800" y="1783080"/>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 name="Shape 10"/>
          <p:cNvSpPr/>
          <p:nvPr/>
        </p:nvSpPr>
        <p:spPr>
          <a:xfrm>
            <a:off x="2926080" y="1813326"/>
            <a:ext cx="3370700" cy="108884"/>
          </a:xfrm>
          <a:prstGeom prst="rect">
            <a:avLst/>
          </a:prstGeom>
          <a:solidFill>
            <a:srgbClr val="C2352F"/>
          </a:solidFill>
          <a:ln/>
        </p:spPr>
      </p:sp>
      <p:sp>
        <p:nvSpPr>
          <p:cNvPr id="13" name="Text 11"/>
          <p:cNvSpPr txBox="1"/>
          <p:nvPr/>
        </p:nvSpPr>
        <p:spPr>
          <a:xfrm>
            <a:off x="6351644" y="1767606"/>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67%</a:t>
            </a:r>
            <a:endParaRPr lang="en-US" sz="1300" dirty="0"/>
          </a:p>
        </p:txBody>
      </p:sp>
      <p:sp>
        <p:nvSpPr>
          <p:cNvPr id="14" name="Shape 12"/>
          <p:cNvSpPr/>
          <p:nvPr/>
        </p:nvSpPr>
        <p:spPr>
          <a:xfrm>
            <a:off x="2926080" y="1940497"/>
            <a:ext cx="3685208" cy="108884"/>
          </a:xfrm>
          <a:prstGeom prst="rect">
            <a:avLst/>
          </a:prstGeom>
          <a:solidFill>
            <a:srgbClr val="C2352F"/>
          </a:solidFill>
          <a:ln/>
        </p:spPr>
      </p:sp>
      <p:sp>
        <p:nvSpPr>
          <p:cNvPr id="15" name="Text 13"/>
          <p:cNvSpPr txBox="1"/>
          <p:nvPr/>
        </p:nvSpPr>
        <p:spPr>
          <a:xfrm>
            <a:off x="6666152" y="1894777"/>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73%</a:t>
            </a:r>
            <a:endParaRPr lang="en-US" sz="1300" dirty="0"/>
          </a:p>
        </p:txBody>
      </p:sp>
      <p:sp>
        <p:nvSpPr>
          <p:cNvPr id="16" name="Text 14"/>
          <p:cNvSpPr txBox="1"/>
          <p:nvPr/>
        </p:nvSpPr>
        <p:spPr>
          <a:xfrm>
            <a:off x="685800" y="2085535"/>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7" name="Shape 15"/>
          <p:cNvSpPr/>
          <p:nvPr/>
        </p:nvSpPr>
        <p:spPr>
          <a:xfrm>
            <a:off x="2926080" y="2115781"/>
            <a:ext cx="3374819" cy="108884"/>
          </a:xfrm>
          <a:prstGeom prst="rect">
            <a:avLst/>
          </a:prstGeom>
          <a:solidFill>
            <a:srgbClr val="C2352F"/>
          </a:solidFill>
          <a:ln/>
        </p:spPr>
      </p:sp>
      <p:sp>
        <p:nvSpPr>
          <p:cNvPr id="18" name="Text 16"/>
          <p:cNvSpPr txBox="1"/>
          <p:nvPr/>
        </p:nvSpPr>
        <p:spPr>
          <a:xfrm>
            <a:off x="6355763" y="2070061"/>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67%</a:t>
            </a:r>
            <a:endParaRPr lang="en-US" sz="1300" dirty="0"/>
          </a:p>
        </p:txBody>
      </p:sp>
      <p:sp>
        <p:nvSpPr>
          <p:cNvPr id="19" name="Shape 17"/>
          <p:cNvSpPr/>
          <p:nvPr/>
        </p:nvSpPr>
        <p:spPr>
          <a:xfrm>
            <a:off x="2926080" y="2242953"/>
            <a:ext cx="4893845" cy="108884"/>
          </a:xfrm>
          <a:prstGeom prst="rect">
            <a:avLst/>
          </a:prstGeom>
          <a:solidFill>
            <a:srgbClr val="12A566"/>
          </a:solidFill>
          <a:ln/>
        </p:spPr>
      </p:sp>
      <p:sp>
        <p:nvSpPr>
          <p:cNvPr id="20" name="Text 18"/>
          <p:cNvSpPr txBox="1"/>
          <p:nvPr/>
        </p:nvSpPr>
        <p:spPr>
          <a:xfrm>
            <a:off x="7874789" y="2197233"/>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685800" y="2387991"/>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2926080" y="2418236"/>
            <a:ext cx="3419949" cy="108884"/>
          </a:xfrm>
          <a:prstGeom prst="rect">
            <a:avLst/>
          </a:prstGeom>
          <a:solidFill>
            <a:srgbClr val="C2352F"/>
          </a:solidFill>
          <a:ln/>
        </p:spPr>
      </p:sp>
      <p:sp>
        <p:nvSpPr>
          <p:cNvPr id="23" name="Text 21"/>
          <p:cNvSpPr txBox="1"/>
          <p:nvPr/>
        </p:nvSpPr>
        <p:spPr>
          <a:xfrm>
            <a:off x="6400893" y="2372516"/>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68%</a:t>
            </a:r>
            <a:endParaRPr lang="en-US" sz="1300" dirty="0"/>
          </a:p>
        </p:txBody>
      </p:sp>
      <p:sp>
        <p:nvSpPr>
          <p:cNvPr id="24" name="Shape 22"/>
          <p:cNvSpPr/>
          <p:nvPr/>
        </p:nvSpPr>
        <p:spPr>
          <a:xfrm>
            <a:off x="2926080" y="2545408"/>
            <a:ext cx="4823383" cy="108884"/>
          </a:xfrm>
          <a:prstGeom prst="rect">
            <a:avLst/>
          </a:prstGeom>
          <a:solidFill>
            <a:srgbClr val="12A566"/>
          </a:solidFill>
          <a:ln/>
        </p:spPr>
      </p:sp>
      <p:sp>
        <p:nvSpPr>
          <p:cNvPr id="25" name="Text 23"/>
          <p:cNvSpPr txBox="1"/>
          <p:nvPr/>
        </p:nvSpPr>
        <p:spPr>
          <a:xfrm>
            <a:off x="7804327" y="2499688"/>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96%</a:t>
            </a:r>
            <a:endParaRPr lang="en-US" sz="1300" dirty="0"/>
          </a:p>
        </p:txBody>
      </p:sp>
      <p:sp>
        <p:nvSpPr>
          <p:cNvPr id="26" name="Text 24"/>
          <p:cNvSpPr txBox="1"/>
          <p:nvPr/>
        </p:nvSpPr>
        <p:spPr>
          <a:xfrm>
            <a:off x="685800" y="2690446"/>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7" name="Shape 25"/>
          <p:cNvSpPr/>
          <p:nvPr/>
        </p:nvSpPr>
        <p:spPr>
          <a:xfrm>
            <a:off x="2926080" y="2720692"/>
            <a:ext cx="3450317" cy="108884"/>
          </a:xfrm>
          <a:prstGeom prst="rect">
            <a:avLst/>
          </a:prstGeom>
          <a:solidFill>
            <a:srgbClr val="C2352F"/>
          </a:solidFill>
          <a:ln/>
        </p:spPr>
      </p:sp>
      <p:sp>
        <p:nvSpPr>
          <p:cNvPr id="28" name="Text 26"/>
          <p:cNvSpPr txBox="1"/>
          <p:nvPr/>
        </p:nvSpPr>
        <p:spPr>
          <a:xfrm>
            <a:off x="6431261" y="2674972"/>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2926080" y="2847864"/>
            <a:ext cx="6109385" cy="108884"/>
          </a:xfrm>
          <a:prstGeom prst="rect">
            <a:avLst/>
          </a:prstGeom>
          <a:solidFill>
            <a:srgbClr val="12A566"/>
          </a:solidFill>
          <a:ln/>
        </p:spPr>
      </p:sp>
      <p:sp>
        <p:nvSpPr>
          <p:cNvPr id="30" name="Text 28"/>
          <p:cNvSpPr txBox="1"/>
          <p:nvPr/>
        </p:nvSpPr>
        <p:spPr>
          <a:xfrm>
            <a:off x="9090329" y="2802144"/>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122%</a:t>
            </a:r>
            <a:endParaRPr lang="en-US" sz="1300" dirty="0"/>
          </a:p>
        </p:txBody>
      </p:sp>
      <p:sp>
        <p:nvSpPr>
          <p:cNvPr id="31" name="Text 29"/>
          <p:cNvSpPr txBox="1"/>
          <p:nvPr/>
        </p:nvSpPr>
        <p:spPr>
          <a:xfrm>
            <a:off x="685800" y="2992902"/>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2" name="Shape 30"/>
          <p:cNvSpPr/>
          <p:nvPr/>
        </p:nvSpPr>
        <p:spPr>
          <a:xfrm>
            <a:off x="2926080" y="3023147"/>
            <a:ext cx="3500688" cy="108884"/>
          </a:xfrm>
          <a:prstGeom prst="rect">
            <a:avLst/>
          </a:prstGeom>
          <a:solidFill>
            <a:srgbClr val="C2352F"/>
          </a:solidFill>
          <a:ln/>
        </p:spPr>
      </p:sp>
      <p:sp>
        <p:nvSpPr>
          <p:cNvPr id="33" name="Text 31"/>
          <p:cNvSpPr txBox="1"/>
          <p:nvPr/>
        </p:nvSpPr>
        <p:spPr>
          <a:xfrm>
            <a:off x="6481632" y="2977427"/>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70%</a:t>
            </a:r>
            <a:endParaRPr lang="en-US" sz="1300" dirty="0"/>
          </a:p>
        </p:txBody>
      </p:sp>
      <p:sp>
        <p:nvSpPr>
          <p:cNvPr id="34" name="Shape 32"/>
          <p:cNvSpPr/>
          <p:nvPr/>
        </p:nvSpPr>
        <p:spPr>
          <a:xfrm>
            <a:off x="2926080" y="3150319"/>
            <a:ext cx="3805987" cy="108884"/>
          </a:xfrm>
          <a:prstGeom prst="rect">
            <a:avLst/>
          </a:prstGeom>
          <a:solidFill>
            <a:srgbClr val="C2352F"/>
          </a:solidFill>
          <a:ln/>
        </p:spPr>
      </p:sp>
      <p:sp>
        <p:nvSpPr>
          <p:cNvPr id="35" name="Text 33"/>
          <p:cNvSpPr txBox="1"/>
          <p:nvPr/>
        </p:nvSpPr>
        <p:spPr>
          <a:xfrm>
            <a:off x="6786931" y="310459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36" name="Text 34"/>
          <p:cNvSpPr txBox="1"/>
          <p:nvPr/>
        </p:nvSpPr>
        <p:spPr>
          <a:xfrm>
            <a:off x="685800" y="3295357"/>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7" name="Shape 35"/>
          <p:cNvSpPr/>
          <p:nvPr/>
        </p:nvSpPr>
        <p:spPr>
          <a:xfrm>
            <a:off x="2926080" y="3325602"/>
            <a:ext cx="3559153" cy="108884"/>
          </a:xfrm>
          <a:prstGeom prst="rect">
            <a:avLst/>
          </a:prstGeom>
          <a:solidFill>
            <a:srgbClr val="C2352F"/>
          </a:solidFill>
          <a:ln/>
        </p:spPr>
      </p:sp>
      <p:sp>
        <p:nvSpPr>
          <p:cNvPr id="38" name="Text 36"/>
          <p:cNvSpPr txBox="1"/>
          <p:nvPr/>
        </p:nvSpPr>
        <p:spPr>
          <a:xfrm>
            <a:off x="6540097" y="3279882"/>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71%</a:t>
            </a:r>
            <a:endParaRPr lang="en-US" sz="1300" dirty="0"/>
          </a:p>
        </p:txBody>
      </p:sp>
      <p:sp>
        <p:nvSpPr>
          <p:cNvPr id="39" name="Shape 37"/>
          <p:cNvSpPr/>
          <p:nvPr/>
        </p:nvSpPr>
        <p:spPr>
          <a:xfrm>
            <a:off x="2926080" y="3452774"/>
            <a:ext cx="6444184" cy="108884"/>
          </a:xfrm>
          <a:prstGeom prst="rect">
            <a:avLst/>
          </a:prstGeom>
          <a:solidFill>
            <a:srgbClr val="12A566"/>
          </a:solidFill>
          <a:ln/>
        </p:spPr>
      </p:sp>
      <p:sp>
        <p:nvSpPr>
          <p:cNvPr id="40" name="Text 38"/>
          <p:cNvSpPr txBox="1"/>
          <p:nvPr/>
        </p:nvSpPr>
        <p:spPr>
          <a:xfrm>
            <a:off x="9425128" y="3407054"/>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128%</a:t>
            </a:r>
            <a:endParaRPr lang="en-US" sz="1300" dirty="0"/>
          </a:p>
        </p:txBody>
      </p:sp>
      <p:sp>
        <p:nvSpPr>
          <p:cNvPr id="41" name="Text 39"/>
          <p:cNvSpPr txBox="1"/>
          <p:nvPr/>
        </p:nvSpPr>
        <p:spPr>
          <a:xfrm>
            <a:off x="685800" y="3597812"/>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2" name="Shape 40"/>
          <p:cNvSpPr/>
          <p:nvPr/>
        </p:nvSpPr>
        <p:spPr>
          <a:xfrm>
            <a:off x="2926080" y="3628058"/>
            <a:ext cx="3618668" cy="108884"/>
          </a:xfrm>
          <a:prstGeom prst="rect">
            <a:avLst/>
          </a:prstGeom>
          <a:solidFill>
            <a:srgbClr val="C2352F"/>
          </a:solidFill>
          <a:ln/>
        </p:spPr>
      </p:sp>
      <p:sp>
        <p:nvSpPr>
          <p:cNvPr id="43" name="Text 41"/>
          <p:cNvSpPr txBox="1"/>
          <p:nvPr/>
        </p:nvSpPr>
        <p:spPr>
          <a:xfrm>
            <a:off x="6599612" y="3582338"/>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72%</a:t>
            </a:r>
            <a:endParaRPr lang="en-US" sz="1300" dirty="0"/>
          </a:p>
        </p:txBody>
      </p:sp>
      <p:sp>
        <p:nvSpPr>
          <p:cNvPr id="44" name="Shape 42"/>
          <p:cNvSpPr/>
          <p:nvPr/>
        </p:nvSpPr>
        <p:spPr>
          <a:xfrm>
            <a:off x="2926080" y="3755230"/>
            <a:ext cx="4448406" cy="108884"/>
          </a:xfrm>
          <a:prstGeom prst="rect">
            <a:avLst/>
          </a:prstGeom>
          <a:solidFill>
            <a:srgbClr val="12A566"/>
          </a:solidFill>
          <a:ln/>
        </p:spPr>
      </p:sp>
      <p:sp>
        <p:nvSpPr>
          <p:cNvPr id="45" name="Text 43"/>
          <p:cNvSpPr txBox="1"/>
          <p:nvPr/>
        </p:nvSpPr>
        <p:spPr>
          <a:xfrm>
            <a:off x="7429350" y="3709510"/>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88%</a:t>
            </a:r>
            <a:endParaRPr lang="en-US" sz="1300" dirty="0"/>
          </a:p>
        </p:txBody>
      </p:sp>
      <p:sp>
        <p:nvSpPr>
          <p:cNvPr id="46" name="Text 44"/>
          <p:cNvSpPr txBox="1"/>
          <p:nvPr/>
        </p:nvSpPr>
        <p:spPr>
          <a:xfrm>
            <a:off x="685800" y="3900268"/>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7" name="Shape 45"/>
          <p:cNvSpPr/>
          <p:nvPr/>
        </p:nvSpPr>
        <p:spPr>
          <a:xfrm>
            <a:off x="2926080" y="3930513"/>
            <a:ext cx="3679421" cy="108884"/>
          </a:xfrm>
          <a:prstGeom prst="rect">
            <a:avLst/>
          </a:prstGeom>
          <a:solidFill>
            <a:srgbClr val="C2352F"/>
          </a:solidFill>
          <a:ln/>
        </p:spPr>
      </p:sp>
      <p:sp>
        <p:nvSpPr>
          <p:cNvPr id="48" name="Text 46"/>
          <p:cNvSpPr txBox="1"/>
          <p:nvPr/>
        </p:nvSpPr>
        <p:spPr>
          <a:xfrm>
            <a:off x="6660365" y="3884793"/>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73%</a:t>
            </a:r>
            <a:endParaRPr lang="en-US" sz="1300" dirty="0"/>
          </a:p>
        </p:txBody>
      </p:sp>
      <p:sp>
        <p:nvSpPr>
          <p:cNvPr id="49" name="Shape 47"/>
          <p:cNvSpPr/>
          <p:nvPr/>
        </p:nvSpPr>
        <p:spPr>
          <a:xfrm>
            <a:off x="2926080" y="4057685"/>
            <a:ext cx="5186331" cy="108884"/>
          </a:xfrm>
          <a:prstGeom prst="rect">
            <a:avLst/>
          </a:prstGeom>
          <a:solidFill>
            <a:srgbClr val="12A566"/>
          </a:solidFill>
          <a:ln/>
        </p:spPr>
      </p:sp>
      <p:sp>
        <p:nvSpPr>
          <p:cNvPr id="50" name="Text 48"/>
          <p:cNvSpPr txBox="1"/>
          <p:nvPr/>
        </p:nvSpPr>
        <p:spPr>
          <a:xfrm>
            <a:off x="8167275" y="4011965"/>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103%</a:t>
            </a:r>
            <a:endParaRPr lang="en-US" sz="1300" dirty="0"/>
          </a:p>
        </p:txBody>
      </p:sp>
      <p:sp>
        <p:nvSpPr>
          <p:cNvPr id="51" name="Text 49"/>
          <p:cNvSpPr txBox="1"/>
          <p:nvPr/>
        </p:nvSpPr>
        <p:spPr>
          <a:xfrm>
            <a:off x="685800" y="4202723"/>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2" name="Shape 50"/>
          <p:cNvSpPr/>
          <p:nvPr/>
        </p:nvSpPr>
        <p:spPr>
          <a:xfrm>
            <a:off x="2926080" y="4232969"/>
            <a:ext cx="3842025" cy="108884"/>
          </a:xfrm>
          <a:prstGeom prst="rect">
            <a:avLst/>
          </a:prstGeom>
          <a:solidFill>
            <a:srgbClr val="C2352F"/>
          </a:solidFill>
          <a:ln/>
        </p:spPr>
      </p:sp>
      <p:sp>
        <p:nvSpPr>
          <p:cNvPr id="53" name="Text 51"/>
          <p:cNvSpPr txBox="1"/>
          <p:nvPr/>
        </p:nvSpPr>
        <p:spPr>
          <a:xfrm>
            <a:off x="6822969" y="418724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54" name="Shape 52"/>
          <p:cNvSpPr/>
          <p:nvPr/>
        </p:nvSpPr>
        <p:spPr>
          <a:xfrm>
            <a:off x="2926080" y="4360141"/>
            <a:ext cx="5036246" cy="108884"/>
          </a:xfrm>
          <a:prstGeom prst="rect">
            <a:avLst/>
          </a:prstGeom>
          <a:solidFill>
            <a:srgbClr val="12A566"/>
          </a:solidFill>
          <a:ln/>
        </p:spPr>
      </p:sp>
      <p:sp>
        <p:nvSpPr>
          <p:cNvPr id="55" name="Text 53"/>
          <p:cNvSpPr txBox="1"/>
          <p:nvPr/>
        </p:nvSpPr>
        <p:spPr>
          <a:xfrm>
            <a:off x="8017190" y="4314421"/>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100%</a:t>
            </a:r>
            <a:endParaRPr lang="en-US" sz="1300" dirty="0"/>
          </a:p>
        </p:txBody>
      </p:sp>
      <p:sp>
        <p:nvSpPr>
          <p:cNvPr id="56" name="Text 54"/>
          <p:cNvSpPr txBox="1"/>
          <p:nvPr/>
        </p:nvSpPr>
        <p:spPr>
          <a:xfrm>
            <a:off x="685800" y="4505178"/>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7" name="Shape 55"/>
          <p:cNvSpPr/>
          <p:nvPr/>
        </p:nvSpPr>
        <p:spPr>
          <a:xfrm>
            <a:off x="2926080" y="4535424"/>
            <a:ext cx="3926516" cy="108884"/>
          </a:xfrm>
          <a:prstGeom prst="rect">
            <a:avLst/>
          </a:prstGeom>
          <a:solidFill>
            <a:srgbClr val="C2352F"/>
          </a:solidFill>
          <a:ln/>
        </p:spPr>
      </p:sp>
      <p:sp>
        <p:nvSpPr>
          <p:cNvPr id="58" name="Text 56"/>
          <p:cNvSpPr txBox="1"/>
          <p:nvPr/>
        </p:nvSpPr>
        <p:spPr>
          <a:xfrm>
            <a:off x="6907460" y="4489704"/>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78%</a:t>
            </a:r>
            <a:endParaRPr lang="en-US" sz="1300" dirty="0"/>
          </a:p>
        </p:txBody>
      </p:sp>
      <p:sp>
        <p:nvSpPr>
          <p:cNvPr id="59" name="Shape 57"/>
          <p:cNvSpPr/>
          <p:nvPr/>
        </p:nvSpPr>
        <p:spPr>
          <a:xfrm>
            <a:off x="2926080" y="4662596"/>
            <a:ext cx="6544829" cy="108884"/>
          </a:xfrm>
          <a:prstGeom prst="rect">
            <a:avLst/>
          </a:prstGeom>
          <a:solidFill>
            <a:srgbClr val="12A566"/>
          </a:solidFill>
          <a:ln/>
        </p:spPr>
      </p:sp>
      <p:sp>
        <p:nvSpPr>
          <p:cNvPr id="60" name="Text 58"/>
          <p:cNvSpPr txBox="1"/>
          <p:nvPr/>
        </p:nvSpPr>
        <p:spPr>
          <a:xfrm>
            <a:off x="9525773" y="4616876"/>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61" name="Text 59"/>
          <p:cNvSpPr txBox="1"/>
          <p:nvPr/>
        </p:nvSpPr>
        <p:spPr>
          <a:xfrm>
            <a:off x="685800" y="4807634"/>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926080" y="4837879"/>
            <a:ext cx="3940323" cy="108884"/>
          </a:xfrm>
          <a:prstGeom prst="rect">
            <a:avLst/>
          </a:prstGeom>
          <a:solidFill>
            <a:srgbClr val="C2352F"/>
          </a:solidFill>
          <a:ln/>
        </p:spPr>
      </p:sp>
      <p:sp>
        <p:nvSpPr>
          <p:cNvPr id="63" name="Text 61"/>
          <p:cNvSpPr txBox="1"/>
          <p:nvPr/>
        </p:nvSpPr>
        <p:spPr>
          <a:xfrm>
            <a:off x="6921267" y="479215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78%</a:t>
            </a:r>
            <a:endParaRPr lang="en-US" sz="1300" dirty="0"/>
          </a:p>
        </p:txBody>
      </p:sp>
      <p:sp>
        <p:nvSpPr>
          <p:cNvPr id="64" name="Shape 62"/>
          <p:cNvSpPr/>
          <p:nvPr/>
        </p:nvSpPr>
        <p:spPr>
          <a:xfrm>
            <a:off x="2926080" y="4965051"/>
            <a:ext cx="5626092" cy="108884"/>
          </a:xfrm>
          <a:prstGeom prst="rect">
            <a:avLst/>
          </a:prstGeom>
          <a:solidFill>
            <a:srgbClr val="12A566"/>
          </a:solidFill>
          <a:ln/>
        </p:spPr>
      </p:sp>
      <p:sp>
        <p:nvSpPr>
          <p:cNvPr id="65" name="Text 63"/>
          <p:cNvSpPr txBox="1"/>
          <p:nvPr/>
        </p:nvSpPr>
        <p:spPr>
          <a:xfrm>
            <a:off x="8607036" y="4919331"/>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112%</a:t>
            </a:r>
            <a:endParaRPr lang="en-US" sz="1300" dirty="0"/>
          </a:p>
        </p:txBody>
      </p:sp>
      <p:sp>
        <p:nvSpPr>
          <p:cNvPr id="66" name="Text 64"/>
          <p:cNvSpPr txBox="1"/>
          <p:nvPr/>
        </p:nvSpPr>
        <p:spPr>
          <a:xfrm>
            <a:off x="685800" y="5110089"/>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2926080" y="5140335"/>
            <a:ext cx="4070292" cy="108884"/>
          </a:xfrm>
          <a:prstGeom prst="rect">
            <a:avLst/>
          </a:prstGeom>
          <a:solidFill>
            <a:srgbClr val="C2352F"/>
          </a:solidFill>
          <a:ln/>
        </p:spPr>
      </p:sp>
      <p:sp>
        <p:nvSpPr>
          <p:cNvPr id="68" name="Text 66"/>
          <p:cNvSpPr txBox="1"/>
          <p:nvPr/>
        </p:nvSpPr>
        <p:spPr>
          <a:xfrm>
            <a:off x="7051236" y="5094615"/>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81%</a:t>
            </a:r>
            <a:endParaRPr lang="en-US" sz="1300" dirty="0"/>
          </a:p>
        </p:txBody>
      </p:sp>
      <p:sp>
        <p:nvSpPr>
          <p:cNvPr id="69" name="Shape 67"/>
          <p:cNvSpPr/>
          <p:nvPr/>
        </p:nvSpPr>
        <p:spPr>
          <a:xfrm>
            <a:off x="2926080" y="5267507"/>
            <a:ext cx="4801707" cy="108884"/>
          </a:xfrm>
          <a:prstGeom prst="rect">
            <a:avLst/>
          </a:prstGeom>
          <a:solidFill>
            <a:srgbClr val="12A566"/>
          </a:solidFill>
          <a:ln/>
        </p:spPr>
      </p:sp>
      <p:sp>
        <p:nvSpPr>
          <p:cNvPr id="70" name="Text 68"/>
          <p:cNvSpPr txBox="1"/>
          <p:nvPr/>
        </p:nvSpPr>
        <p:spPr>
          <a:xfrm>
            <a:off x="7782651" y="5221787"/>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96%</a:t>
            </a:r>
            <a:endParaRPr lang="en-US" sz="1300" dirty="0"/>
          </a:p>
        </p:txBody>
      </p:sp>
      <p:sp>
        <p:nvSpPr>
          <p:cNvPr id="71" name="Text 69"/>
          <p:cNvSpPr txBox="1"/>
          <p:nvPr/>
        </p:nvSpPr>
        <p:spPr>
          <a:xfrm>
            <a:off x="685800" y="5412545"/>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2" name="Shape 70"/>
          <p:cNvSpPr/>
          <p:nvPr/>
        </p:nvSpPr>
        <p:spPr>
          <a:xfrm>
            <a:off x="2926080" y="5442790"/>
            <a:ext cx="4180762" cy="108884"/>
          </a:xfrm>
          <a:prstGeom prst="rect">
            <a:avLst/>
          </a:prstGeom>
          <a:solidFill>
            <a:srgbClr val="C2352F"/>
          </a:solidFill>
          <a:ln/>
        </p:spPr>
      </p:sp>
      <p:sp>
        <p:nvSpPr>
          <p:cNvPr id="73" name="Text 71"/>
          <p:cNvSpPr txBox="1"/>
          <p:nvPr/>
        </p:nvSpPr>
        <p:spPr>
          <a:xfrm>
            <a:off x="7161706" y="5397070"/>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74" name="Shape 72"/>
          <p:cNvSpPr/>
          <p:nvPr/>
        </p:nvSpPr>
        <p:spPr>
          <a:xfrm>
            <a:off x="2926080" y="5569962"/>
            <a:ext cx="5879396" cy="108884"/>
          </a:xfrm>
          <a:prstGeom prst="rect">
            <a:avLst/>
          </a:prstGeom>
          <a:solidFill>
            <a:srgbClr val="12A566"/>
          </a:solidFill>
          <a:ln/>
        </p:spPr>
      </p:sp>
      <p:sp>
        <p:nvSpPr>
          <p:cNvPr id="75" name="Text 73"/>
          <p:cNvSpPr txBox="1"/>
          <p:nvPr/>
        </p:nvSpPr>
        <p:spPr>
          <a:xfrm>
            <a:off x="8860340" y="5524242"/>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117%</a:t>
            </a:r>
            <a:endParaRPr lang="en-US" sz="1300" dirty="0"/>
          </a:p>
        </p:txBody>
      </p:sp>
      <p:sp>
        <p:nvSpPr>
          <p:cNvPr id="76" name="Shape 74"/>
          <p:cNvSpPr/>
          <p:nvPr/>
        </p:nvSpPr>
        <p:spPr>
          <a:xfrm>
            <a:off x="7165848" y="1737360"/>
            <a:ext cx="18288" cy="3977640"/>
          </a:xfrm>
          <a:prstGeom prst="rect">
            <a:avLst/>
          </a:prstGeom>
          <a:solidFill>
            <a:srgbClr val="0B2C4A"/>
          </a:solidFill>
          <a:ln/>
        </p:spPr>
      </p:sp>
      <p:sp>
        <p:nvSpPr>
          <p:cNvPr id="77" name="Shape 75"/>
          <p:cNvSpPr/>
          <p:nvPr/>
        </p:nvSpPr>
        <p:spPr>
          <a:xfrm>
            <a:off x="457200" y="6126480"/>
            <a:ext cx="11274552" cy="615696"/>
          </a:xfrm>
          <a:prstGeom prst="rect">
            <a:avLst/>
          </a:prstGeom>
          <a:solidFill>
            <a:srgbClr val="EDF4FA"/>
          </a:solidFill>
          <a:ln/>
        </p:spPr>
      </p:sp>
      <p:sp>
        <p:nvSpPr>
          <p:cNvPr id="78" name="Text 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685800" y="1298448"/>
            <a:ext cx="10789920" cy="365760"/>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Each store under 85%: where the store is today, and where its best quarter of techs already runs.</a:t>
            </a:r>
            <a:endParaRPr lang="en-US" sz="1500" dirty="0"/>
          </a:p>
        </p:txBody>
      </p:sp>
      <p:sp>
        <p:nvSpPr>
          <p:cNvPr id="7" name="Shape 5"/>
          <p:cNvSpPr/>
          <p:nvPr/>
        </p:nvSpPr>
        <p:spPr>
          <a:xfrm>
            <a:off x="685800" y="1755648"/>
            <a:ext cx="2046427" cy="1261872"/>
          </a:xfrm>
          <a:prstGeom prst="rect">
            <a:avLst/>
          </a:prstGeom>
          <a:solidFill>
            <a:srgbClr val="F7F7F7"/>
          </a:solidFill>
          <a:ln/>
        </p:spPr>
      </p:sp>
      <p:sp>
        <p:nvSpPr>
          <p:cNvPr id="8" name="Shape 6"/>
          <p:cNvSpPr/>
          <p:nvPr/>
        </p:nvSpPr>
        <p:spPr>
          <a:xfrm>
            <a:off x="685800" y="1755648"/>
            <a:ext cx="64008" cy="1261872"/>
          </a:xfrm>
          <a:prstGeom prst="rect">
            <a:avLst/>
          </a:prstGeom>
          <a:solidFill>
            <a:srgbClr val="C2352F"/>
          </a:solidFill>
          <a:ln/>
        </p:spPr>
      </p:sp>
      <p:sp>
        <p:nvSpPr>
          <p:cNvPr id="9" name="Text 7"/>
          <p:cNvSpPr txBox="1"/>
          <p:nvPr/>
        </p:nvSpPr>
        <p:spPr>
          <a:xfrm>
            <a:off x="868680"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0" name="Text 8"/>
          <p:cNvSpPr txBox="1"/>
          <p:nvPr/>
        </p:nvSpPr>
        <p:spPr>
          <a:xfrm>
            <a:off x="868680"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67%</a:t>
            </a:r>
            <a:endParaRPr lang="en-US" sz="2200" dirty="0"/>
          </a:p>
        </p:txBody>
      </p:sp>
      <p:sp>
        <p:nvSpPr>
          <p:cNvPr id="11" name="Text 9"/>
          <p:cNvSpPr txBox="1"/>
          <p:nvPr/>
        </p:nvSpPr>
        <p:spPr>
          <a:xfrm>
            <a:off x="868680"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2" name="Text 10"/>
          <p:cNvSpPr txBox="1"/>
          <p:nvPr/>
        </p:nvSpPr>
        <p:spPr>
          <a:xfrm>
            <a:off x="1754734"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73%</a:t>
            </a:r>
            <a:endParaRPr lang="en-US" sz="2200" dirty="0"/>
          </a:p>
        </p:txBody>
      </p:sp>
      <p:sp>
        <p:nvSpPr>
          <p:cNvPr id="13" name="Text 11"/>
          <p:cNvSpPr txBox="1"/>
          <p:nvPr/>
        </p:nvSpPr>
        <p:spPr>
          <a:xfrm>
            <a:off x="1754734"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4" name="Text 12"/>
          <p:cNvSpPr txBox="1"/>
          <p:nvPr/>
        </p:nvSpPr>
        <p:spPr>
          <a:xfrm>
            <a:off x="1462126"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5" name="Shape 13"/>
          <p:cNvSpPr/>
          <p:nvPr/>
        </p:nvSpPr>
        <p:spPr>
          <a:xfrm>
            <a:off x="2878531" y="1755648"/>
            <a:ext cx="2046427" cy="1261872"/>
          </a:xfrm>
          <a:prstGeom prst="rect">
            <a:avLst/>
          </a:prstGeom>
          <a:solidFill>
            <a:srgbClr val="F7F7F7"/>
          </a:solidFill>
          <a:ln/>
        </p:spPr>
      </p:sp>
      <p:sp>
        <p:nvSpPr>
          <p:cNvPr id="16" name="Shape 14"/>
          <p:cNvSpPr/>
          <p:nvPr/>
        </p:nvSpPr>
        <p:spPr>
          <a:xfrm>
            <a:off x="2878531" y="1755648"/>
            <a:ext cx="64008" cy="1261872"/>
          </a:xfrm>
          <a:prstGeom prst="rect">
            <a:avLst/>
          </a:prstGeom>
          <a:solidFill>
            <a:srgbClr val="12A566"/>
          </a:solidFill>
          <a:ln/>
        </p:spPr>
      </p:sp>
      <p:sp>
        <p:nvSpPr>
          <p:cNvPr id="17" name="Text 15"/>
          <p:cNvSpPr txBox="1"/>
          <p:nvPr/>
        </p:nvSpPr>
        <p:spPr>
          <a:xfrm>
            <a:off x="3061411"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Text 16"/>
          <p:cNvSpPr txBox="1"/>
          <p:nvPr/>
        </p:nvSpPr>
        <p:spPr>
          <a:xfrm>
            <a:off x="3061411"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67%</a:t>
            </a:r>
            <a:endParaRPr lang="en-US" sz="2200" dirty="0"/>
          </a:p>
        </p:txBody>
      </p:sp>
      <p:sp>
        <p:nvSpPr>
          <p:cNvPr id="19" name="Text 17"/>
          <p:cNvSpPr txBox="1"/>
          <p:nvPr/>
        </p:nvSpPr>
        <p:spPr>
          <a:xfrm>
            <a:off x="3061411"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20" name="Text 18"/>
          <p:cNvSpPr txBox="1"/>
          <p:nvPr/>
        </p:nvSpPr>
        <p:spPr>
          <a:xfrm>
            <a:off x="3947465"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97%</a:t>
            </a:r>
            <a:endParaRPr lang="en-US" sz="2200" dirty="0"/>
          </a:p>
        </p:txBody>
      </p:sp>
      <p:sp>
        <p:nvSpPr>
          <p:cNvPr id="21" name="Text 19"/>
          <p:cNvSpPr txBox="1"/>
          <p:nvPr/>
        </p:nvSpPr>
        <p:spPr>
          <a:xfrm>
            <a:off x="3947465"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22" name="Text 20"/>
          <p:cNvSpPr txBox="1"/>
          <p:nvPr/>
        </p:nvSpPr>
        <p:spPr>
          <a:xfrm>
            <a:off x="3654857"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23" name="Shape 21"/>
          <p:cNvSpPr/>
          <p:nvPr/>
        </p:nvSpPr>
        <p:spPr>
          <a:xfrm>
            <a:off x="5071262" y="1755648"/>
            <a:ext cx="2046427" cy="1261872"/>
          </a:xfrm>
          <a:prstGeom prst="rect">
            <a:avLst/>
          </a:prstGeom>
          <a:solidFill>
            <a:srgbClr val="F7F7F7"/>
          </a:solidFill>
          <a:ln/>
        </p:spPr>
      </p:sp>
      <p:sp>
        <p:nvSpPr>
          <p:cNvPr id="24" name="Shape 22"/>
          <p:cNvSpPr/>
          <p:nvPr/>
        </p:nvSpPr>
        <p:spPr>
          <a:xfrm>
            <a:off x="5071262" y="1755648"/>
            <a:ext cx="64008" cy="1261872"/>
          </a:xfrm>
          <a:prstGeom prst="rect">
            <a:avLst/>
          </a:prstGeom>
          <a:solidFill>
            <a:srgbClr val="12A566"/>
          </a:solidFill>
          <a:ln/>
        </p:spPr>
      </p:sp>
      <p:sp>
        <p:nvSpPr>
          <p:cNvPr id="25" name="Text 23"/>
          <p:cNvSpPr txBox="1"/>
          <p:nvPr/>
        </p:nvSpPr>
        <p:spPr>
          <a:xfrm>
            <a:off x="5254142"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6" name="Text 24"/>
          <p:cNvSpPr txBox="1"/>
          <p:nvPr/>
        </p:nvSpPr>
        <p:spPr>
          <a:xfrm>
            <a:off x="5254142"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68%</a:t>
            </a:r>
            <a:endParaRPr lang="en-US" sz="2200" dirty="0"/>
          </a:p>
        </p:txBody>
      </p:sp>
      <p:sp>
        <p:nvSpPr>
          <p:cNvPr id="27" name="Text 25"/>
          <p:cNvSpPr txBox="1"/>
          <p:nvPr/>
        </p:nvSpPr>
        <p:spPr>
          <a:xfrm>
            <a:off x="5254142"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28" name="Text 26"/>
          <p:cNvSpPr txBox="1"/>
          <p:nvPr/>
        </p:nvSpPr>
        <p:spPr>
          <a:xfrm>
            <a:off x="6140196"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96%</a:t>
            </a:r>
            <a:endParaRPr lang="en-US" sz="2200" dirty="0"/>
          </a:p>
        </p:txBody>
      </p:sp>
      <p:sp>
        <p:nvSpPr>
          <p:cNvPr id="29" name="Text 27"/>
          <p:cNvSpPr txBox="1"/>
          <p:nvPr/>
        </p:nvSpPr>
        <p:spPr>
          <a:xfrm>
            <a:off x="6140196"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30" name="Text 28"/>
          <p:cNvSpPr txBox="1"/>
          <p:nvPr/>
        </p:nvSpPr>
        <p:spPr>
          <a:xfrm>
            <a:off x="5847588"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31" name="Shape 29"/>
          <p:cNvSpPr/>
          <p:nvPr/>
        </p:nvSpPr>
        <p:spPr>
          <a:xfrm>
            <a:off x="7263994" y="1755648"/>
            <a:ext cx="2046427" cy="1261872"/>
          </a:xfrm>
          <a:prstGeom prst="rect">
            <a:avLst/>
          </a:prstGeom>
          <a:solidFill>
            <a:srgbClr val="F7F7F7"/>
          </a:solidFill>
          <a:ln/>
        </p:spPr>
      </p:sp>
      <p:sp>
        <p:nvSpPr>
          <p:cNvPr id="32" name="Shape 30"/>
          <p:cNvSpPr/>
          <p:nvPr/>
        </p:nvSpPr>
        <p:spPr>
          <a:xfrm>
            <a:off x="7263994" y="1755648"/>
            <a:ext cx="64008" cy="1261872"/>
          </a:xfrm>
          <a:prstGeom prst="rect">
            <a:avLst/>
          </a:prstGeom>
          <a:solidFill>
            <a:srgbClr val="12A566"/>
          </a:solidFill>
          <a:ln/>
        </p:spPr>
      </p:sp>
      <p:sp>
        <p:nvSpPr>
          <p:cNvPr id="33" name="Text 31"/>
          <p:cNvSpPr txBox="1"/>
          <p:nvPr/>
        </p:nvSpPr>
        <p:spPr>
          <a:xfrm>
            <a:off x="7446874"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4" name="Text 32"/>
          <p:cNvSpPr txBox="1"/>
          <p:nvPr/>
        </p:nvSpPr>
        <p:spPr>
          <a:xfrm>
            <a:off x="7446874"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69%</a:t>
            </a:r>
            <a:endParaRPr lang="en-US" sz="2200" dirty="0"/>
          </a:p>
        </p:txBody>
      </p:sp>
      <p:sp>
        <p:nvSpPr>
          <p:cNvPr id="35" name="Text 33"/>
          <p:cNvSpPr txBox="1"/>
          <p:nvPr/>
        </p:nvSpPr>
        <p:spPr>
          <a:xfrm>
            <a:off x="7446874"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36" name="Text 34"/>
          <p:cNvSpPr txBox="1"/>
          <p:nvPr/>
        </p:nvSpPr>
        <p:spPr>
          <a:xfrm>
            <a:off x="8332927"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122%</a:t>
            </a:r>
            <a:endParaRPr lang="en-US" sz="2200" dirty="0"/>
          </a:p>
        </p:txBody>
      </p:sp>
      <p:sp>
        <p:nvSpPr>
          <p:cNvPr id="37" name="Text 35"/>
          <p:cNvSpPr txBox="1"/>
          <p:nvPr/>
        </p:nvSpPr>
        <p:spPr>
          <a:xfrm>
            <a:off x="8332927"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38" name="Text 36"/>
          <p:cNvSpPr txBox="1"/>
          <p:nvPr/>
        </p:nvSpPr>
        <p:spPr>
          <a:xfrm>
            <a:off x="8040319"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39" name="Shape 37"/>
          <p:cNvSpPr/>
          <p:nvPr/>
        </p:nvSpPr>
        <p:spPr>
          <a:xfrm>
            <a:off x="9456725" y="1755648"/>
            <a:ext cx="2046427" cy="1261872"/>
          </a:xfrm>
          <a:prstGeom prst="rect">
            <a:avLst/>
          </a:prstGeom>
          <a:solidFill>
            <a:srgbClr val="F7F7F7"/>
          </a:solidFill>
          <a:ln/>
        </p:spPr>
      </p:sp>
      <p:sp>
        <p:nvSpPr>
          <p:cNvPr id="40" name="Shape 38"/>
          <p:cNvSpPr/>
          <p:nvPr/>
        </p:nvSpPr>
        <p:spPr>
          <a:xfrm>
            <a:off x="9456725" y="1755648"/>
            <a:ext cx="64008" cy="1261872"/>
          </a:xfrm>
          <a:prstGeom prst="rect">
            <a:avLst/>
          </a:prstGeom>
          <a:solidFill>
            <a:srgbClr val="C2352F"/>
          </a:solidFill>
          <a:ln/>
        </p:spPr>
      </p:sp>
      <p:sp>
        <p:nvSpPr>
          <p:cNvPr id="41" name="Text 39"/>
          <p:cNvSpPr txBox="1"/>
          <p:nvPr/>
        </p:nvSpPr>
        <p:spPr>
          <a:xfrm>
            <a:off x="9639605"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2" name="Text 40"/>
          <p:cNvSpPr txBox="1"/>
          <p:nvPr/>
        </p:nvSpPr>
        <p:spPr>
          <a:xfrm>
            <a:off x="9639605"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70%</a:t>
            </a:r>
            <a:endParaRPr lang="en-US" sz="2200" dirty="0"/>
          </a:p>
        </p:txBody>
      </p:sp>
      <p:sp>
        <p:nvSpPr>
          <p:cNvPr id="43" name="Text 41"/>
          <p:cNvSpPr txBox="1"/>
          <p:nvPr/>
        </p:nvSpPr>
        <p:spPr>
          <a:xfrm>
            <a:off x="9639605"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44" name="Text 42"/>
          <p:cNvSpPr txBox="1"/>
          <p:nvPr/>
        </p:nvSpPr>
        <p:spPr>
          <a:xfrm>
            <a:off x="10525658"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76%</a:t>
            </a:r>
            <a:endParaRPr lang="en-US" sz="2200" dirty="0"/>
          </a:p>
        </p:txBody>
      </p:sp>
      <p:sp>
        <p:nvSpPr>
          <p:cNvPr id="45" name="Text 43"/>
          <p:cNvSpPr txBox="1"/>
          <p:nvPr/>
        </p:nvSpPr>
        <p:spPr>
          <a:xfrm>
            <a:off x="10525658"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46" name="Text 44"/>
          <p:cNvSpPr txBox="1"/>
          <p:nvPr/>
        </p:nvSpPr>
        <p:spPr>
          <a:xfrm>
            <a:off x="10233050"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47" name="Shape 45"/>
          <p:cNvSpPr/>
          <p:nvPr/>
        </p:nvSpPr>
        <p:spPr>
          <a:xfrm>
            <a:off x="685800" y="3108960"/>
            <a:ext cx="2046427" cy="1261872"/>
          </a:xfrm>
          <a:prstGeom prst="rect">
            <a:avLst/>
          </a:prstGeom>
          <a:solidFill>
            <a:srgbClr val="F7F7F7"/>
          </a:solidFill>
          <a:ln/>
        </p:spPr>
      </p:sp>
      <p:sp>
        <p:nvSpPr>
          <p:cNvPr id="48" name="Shape 46"/>
          <p:cNvSpPr/>
          <p:nvPr/>
        </p:nvSpPr>
        <p:spPr>
          <a:xfrm>
            <a:off x="685800" y="3108960"/>
            <a:ext cx="64008" cy="1261872"/>
          </a:xfrm>
          <a:prstGeom prst="rect">
            <a:avLst/>
          </a:prstGeom>
          <a:solidFill>
            <a:srgbClr val="12A566"/>
          </a:solidFill>
          <a:ln/>
        </p:spPr>
      </p:sp>
      <p:sp>
        <p:nvSpPr>
          <p:cNvPr id="49" name="Text 47"/>
          <p:cNvSpPr txBox="1"/>
          <p:nvPr/>
        </p:nvSpPr>
        <p:spPr>
          <a:xfrm>
            <a:off x="868680"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50" name="Text 48"/>
          <p:cNvSpPr txBox="1"/>
          <p:nvPr/>
        </p:nvSpPr>
        <p:spPr>
          <a:xfrm>
            <a:off x="868680"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71%</a:t>
            </a:r>
            <a:endParaRPr lang="en-US" sz="2200" dirty="0"/>
          </a:p>
        </p:txBody>
      </p:sp>
      <p:sp>
        <p:nvSpPr>
          <p:cNvPr id="51" name="Text 49"/>
          <p:cNvSpPr txBox="1"/>
          <p:nvPr/>
        </p:nvSpPr>
        <p:spPr>
          <a:xfrm>
            <a:off x="868680"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52" name="Text 50"/>
          <p:cNvSpPr txBox="1"/>
          <p:nvPr/>
        </p:nvSpPr>
        <p:spPr>
          <a:xfrm>
            <a:off x="1754734"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128%</a:t>
            </a:r>
            <a:endParaRPr lang="en-US" sz="2200" dirty="0"/>
          </a:p>
        </p:txBody>
      </p:sp>
      <p:sp>
        <p:nvSpPr>
          <p:cNvPr id="53" name="Text 51"/>
          <p:cNvSpPr txBox="1"/>
          <p:nvPr/>
        </p:nvSpPr>
        <p:spPr>
          <a:xfrm>
            <a:off x="1754734"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54" name="Text 52"/>
          <p:cNvSpPr txBox="1"/>
          <p:nvPr/>
        </p:nvSpPr>
        <p:spPr>
          <a:xfrm>
            <a:off x="1462126"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55" name="Shape 53"/>
          <p:cNvSpPr/>
          <p:nvPr/>
        </p:nvSpPr>
        <p:spPr>
          <a:xfrm>
            <a:off x="2878531" y="3108960"/>
            <a:ext cx="2046427" cy="1261872"/>
          </a:xfrm>
          <a:prstGeom prst="rect">
            <a:avLst/>
          </a:prstGeom>
          <a:solidFill>
            <a:srgbClr val="F7F7F7"/>
          </a:solidFill>
          <a:ln/>
        </p:spPr>
      </p:sp>
      <p:sp>
        <p:nvSpPr>
          <p:cNvPr id="56" name="Shape 54"/>
          <p:cNvSpPr/>
          <p:nvPr/>
        </p:nvSpPr>
        <p:spPr>
          <a:xfrm>
            <a:off x="2878531" y="3108960"/>
            <a:ext cx="64008" cy="1261872"/>
          </a:xfrm>
          <a:prstGeom prst="rect">
            <a:avLst/>
          </a:prstGeom>
          <a:solidFill>
            <a:srgbClr val="12A566"/>
          </a:solidFill>
          <a:ln/>
        </p:spPr>
      </p:sp>
      <p:sp>
        <p:nvSpPr>
          <p:cNvPr id="57" name="Text 55"/>
          <p:cNvSpPr txBox="1"/>
          <p:nvPr/>
        </p:nvSpPr>
        <p:spPr>
          <a:xfrm>
            <a:off x="3061411"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8" name="Text 56"/>
          <p:cNvSpPr txBox="1"/>
          <p:nvPr/>
        </p:nvSpPr>
        <p:spPr>
          <a:xfrm>
            <a:off x="3061411"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72%</a:t>
            </a:r>
            <a:endParaRPr lang="en-US" sz="2200" dirty="0"/>
          </a:p>
        </p:txBody>
      </p:sp>
      <p:sp>
        <p:nvSpPr>
          <p:cNvPr id="59" name="Text 57"/>
          <p:cNvSpPr txBox="1"/>
          <p:nvPr/>
        </p:nvSpPr>
        <p:spPr>
          <a:xfrm>
            <a:off x="3061411"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60" name="Text 58"/>
          <p:cNvSpPr txBox="1"/>
          <p:nvPr/>
        </p:nvSpPr>
        <p:spPr>
          <a:xfrm>
            <a:off x="3947465"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88%</a:t>
            </a:r>
            <a:endParaRPr lang="en-US" sz="2200" dirty="0"/>
          </a:p>
        </p:txBody>
      </p:sp>
      <p:sp>
        <p:nvSpPr>
          <p:cNvPr id="61" name="Text 59"/>
          <p:cNvSpPr txBox="1"/>
          <p:nvPr/>
        </p:nvSpPr>
        <p:spPr>
          <a:xfrm>
            <a:off x="3947465"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62" name="Text 60"/>
          <p:cNvSpPr txBox="1"/>
          <p:nvPr/>
        </p:nvSpPr>
        <p:spPr>
          <a:xfrm>
            <a:off x="3654857"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63" name="Shape 61"/>
          <p:cNvSpPr/>
          <p:nvPr/>
        </p:nvSpPr>
        <p:spPr>
          <a:xfrm>
            <a:off x="5071262" y="3108960"/>
            <a:ext cx="2046427" cy="1261872"/>
          </a:xfrm>
          <a:prstGeom prst="rect">
            <a:avLst/>
          </a:prstGeom>
          <a:solidFill>
            <a:srgbClr val="F7F7F7"/>
          </a:solidFill>
          <a:ln/>
        </p:spPr>
      </p:sp>
      <p:sp>
        <p:nvSpPr>
          <p:cNvPr id="64" name="Shape 62"/>
          <p:cNvSpPr/>
          <p:nvPr/>
        </p:nvSpPr>
        <p:spPr>
          <a:xfrm>
            <a:off x="5071262" y="3108960"/>
            <a:ext cx="64008" cy="1261872"/>
          </a:xfrm>
          <a:prstGeom prst="rect">
            <a:avLst/>
          </a:prstGeom>
          <a:solidFill>
            <a:srgbClr val="12A566"/>
          </a:solidFill>
          <a:ln/>
        </p:spPr>
      </p:sp>
      <p:sp>
        <p:nvSpPr>
          <p:cNvPr id="65" name="Text 63"/>
          <p:cNvSpPr txBox="1"/>
          <p:nvPr/>
        </p:nvSpPr>
        <p:spPr>
          <a:xfrm>
            <a:off x="5254142"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6" name="Text 64"/>
          <p:cNvSpPr txBox="1"/>
          <p:nvPr/>
        </p:nvSpPr>
        <p:spPr>
          <a:xfrm>
            <a:off x="5254142"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73%</a:t>
            </a:r>
            <a:endParaRPr lang="en-US" sz="2200" dirty="0"/>
          </a:p>
        </p:txBody>
      </p:sp>
      <p:sp>
        <p:nvSpPr>
          <p:cNvPr id="67" name="Text 65"/>
          <p:cNvSpPr txBox="1"/>
          <p:nvPr/>
        </p:nvSpPr>
        <p:spPr>
          <a:xfrm>
            <a:off x="5254142"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68" name="Text 66"/>
          <p:cNvSpPr txBox="1"/>
          <p:nvPr/>
        </p:nvSpPr>
        <p:spPr>
          <a:xfrm>
            <a:off x="6140196"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103%</a:t>
            </a:r>
            <a:endParaRPr lang="en-US" sz="2200" dirty="0"/>
          </a:p>
        </p:txBody>
      </p:sp>
      <p:sp>
        <p:nvSpPr>
          <p:cNvPr id="69" name="Text 67"/>
          <p:cNvSpPr txBox="1"/>
          <p:nvPr/>
        </p:nvSpPr>
        <p:spPr>
          <a:xfrm>
            <a:off x="6140196"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70" name="Text 68"/>
          <p:cNvSpPr txBox="1"/>
          <p:nvPr/>
        </p:nvSpPr>
        <p:spPr>
          <a:xfrm>
            <a:off x="5847588"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71" name="Shape 69"/>
          <p:cNvSpPr/>
          <p:nvPr/>
        </p:nvSpPr>
        <p:spPr>
          <a:xfrm>
            <a:off x="7263994" y="3108960"/>
            <a:ext cx="2046427" cy="1261872"/>
          </a:xfrm>
          <a:prstGeom prst="rect">
            <a:avLst/>
          </a:prstGeom>
          <a:solidFill>
            <a:srgbClr val="F7F7F7"/>
          </a:solidFill>
          <a:ln/>
        </p:spPr>
      </p:sp>
      <p:sp>
        <p:nvSpPr>
          <p:cNvPr id="72" name="Shape 70"/>
          <p:cNvSpPr/>
          <p:nvPr/>
        </p:nvSpPr>
        <p:spPr>
          <a:xfrm>
            <a:off x="7263994" y="3108960"/>
            <a:ext cx="64008" cy="1261872"/>
          </a:xfrm>
          <a:prstGeom prst="rect">
            <a:avLst/>
          </a:prstGeom>
          <a:solidFill>
            <a:srgbClr val="12A566"/>
          </a:solidFill>
          <a:ln/>
        </p:spPr>
      </p:sp>
      <p:sp>
        <p:nvSpPr>
          <p:cNvPr id="73" name="Text 71"/>
          <p:cNvSpPr txBox="1"/>
          <p:nvPr/>
        </p:nvSpPr>
        <p:spPr>
          <a:xfrm>
            <a:off x="7446874"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4" name="Text 72"/>
          <p:cNvSpPr txBox="1"/>
          <p:nvPr/>
        </p:nvSpPr>
        <p:spPr>
          <a:xfrm>
            <a:off x="7446874"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76%</a:t>
            </a:r>
            <a:endParaRPr lang="en-US" sz="2200" dirty="0"/>
          </a:p>
        </p:txBody>
      </p:sp>
      <p:sp>
        <p:nvSpPr>
          <p:cNvPr id="75" name="Text 73"/>
          <p:cNvSpPr txBox="1"/>
          <p:nvPr/>
        </p:nvSpPr>
        <p:spPr>
          <a:xfrm>
            <a:off x="7446874"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76" name="Text 74"/>
          <p:cNvSpPr txBox="1"/>
          <p:nvPr/>
        </p:nvSpPr>
        <p:spPr>
          <a:xfrm>
            <a:off x="8332927"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100%</a:t>
            </a:r>
            <a:endParaRPr lang="en-US" sz="2200" dirty="0"/>
          </a:p>
        </p:txBody>
      </p:sp>
      <p:sp>
        <p:nvSpPr>
          <p:cNvPr id="77" name="Text 75"/>
          <p:cNvSpPr txBox="1"/>
          <p:nvPr/>
        </p:nvSpPr>
        <p:spPr>
          <a:xfrm>
            <a:off x="8332927"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78" name="Text 76"/>
          <p:cNvSpPr txBox="1"/>
          <p:nvPr/>
        </p:nvSpPr>
        <p:spPr>
          <a:xfrm>
            <a:off x="8040319"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79" name="Shape 77"/>
          <p:cNvSpPr/>
          <p:nvPr/>
        </p:nvSpPr>
        <p:spPr>
          <a:xfrm>
            <a:off x="9456725" y="3108960"/>
            <a:ext cx="2046427" cy="1261872"/>
          </a:xfrm>
          <a:prstGeom prst="rect">
            <a:avLst/>
          </a:prstGeom>
          <a:solidFill>
            <a:srgbClr val="F7F7F7"/>
          </a:solidFill>
          <a:ln/>
        </p:spPr>
      </p:sp>
      <p:sp>
        <p:nvSpPr>
          <p:cNvPr id="80" name="Shape 78"/>
          <p:cNvSpPr/>
          <p:nvPr/>
        </p:nvSpPr>
        <p:spPr>
          <a:xfrm>
            <a:off x="9456725" y="3108960"/>
            <a:ext cx="64008" cy="1261872"/>
          </a:xfrm>
          <a:prstGeom prst="rect">
            <a:avLst/>
          </a:prstGeom>
          <a:solidFill>
            <a:srgbClr val="12A566"/>
          </a:solidFill>
          <a:ln/>
        </p:spPr>
      </p:sp>
      <p:sp>
        <p:nvSpPr>
          <p:cNvPr id="81" name="Text 79"/>
          <p:cNvSpPr txBox="1"/>
          <p:nvPr/>
        </p:nvSpPr>
        <p:spPr>
          <a:xfrm>
            <a:off x="9639605"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Text 80"/>
          <p:cNvSpPr txBox="1"/>
          <p:nvPr/>
        </p:nvSpPr>
        <p:spPr>
          <a:xfrm>
            <a:off x="9639605"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78%</a:t>
            </a:r>
            <a:endParaRPr lang="en-US" sz="2200" dirty="0"/>
          </a:p>
        </p:txBody>
      </p:sp>
      <p:sp>
        <p:nvSpPr>
          <p:cNvPr id="83" name="Text 81"/>
          <p:cNvSpPr txBox="1"/>
          <p:nvPr/>
        </p:nvSpPr>
        <p:spPr>
          <a:xfrm>
            <a:off x="9639605"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84" name="Text 82"/>
          <p:cNvSpPr txBox="1"/>
          <p:nvPr/>
        </p:nvSpPr>
        <p:spPr>
          <a:xfrm>
            <a:off x="10525658"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130%</a:t>
            </a:r>
            <a:endParaRPr lang="en-US" sz="2200" dirty="0"/>
          </a:p>
        </p:txBody>
      </p:sp>
      <p:sp>
        <p:nvSpPr>
          <p:cNvPr id="85" name="Text 83"/>
          <p:cNvSpPr txBox="1"/>
          <p:nvPr/>
        </p:nvSpPr>
        <p:spPr>
          <a:xfrm>
            <a:off x="10525658"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86" name="Text 84"/>
          <p:cNvSpPr txBox="1"/>
          <p:nvPr/>
        </p:nvSpPr>
        <p:spPr>
          <a:xfrm>
            <a:off x="10233050"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87" name="Shape 85"/>
          <p:cNvSpPr/>
          <p:nvPr/>
        </p:nvSpPr>
        <p:spPr>
          <a:xfrm>
            <a:off x="685800" y="4462272"/>
            <a:ext cx="2046427" cy="1261872"/>
          </a:xfrm>
          <a:prstGeom prst="rect">
            <a:avLst/>
          </a:prstGeom>
          <a:solidFill>
            <a:srgbClr val="F7F7F7"/>
          </a:solidFill>
          <a:ln/>
        </p:spPr>
      </p:sp>
      <p:sp>
        <p:nvSpPr>
          <p:cNvPr id="88" name="Shape 86"/>
          <p:cNvSpPr/>
          <p:nvPr/>
        </p:nvSpPr>
        <p:spPr>
          <a:xfrm>
            <a:off x="685800" y="4462272"/>
            <a:ext cx="64008" cy="1261872"/>
          </a:xfrm>
          <a:prstGeom prst="rect">
            <a:avLst/>
          </a:prstGeom>
          <a:solidFill>
            <a:srgbClr val="12A566"/>
          </a:solidFill>
          <a:ln/>
        </p:spPr>
      </p:sp>
      <p:sp>
        <p:nvSpPr>
          <p:cNvPr id="89" name="Text 87"/>
          <p:cNvSpPr txBox="1"/>
          <p:nvPr/>
        </p:nvSpPr>
        <p:spPr>
          <a:xfrm>
            <a:off x="868680"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0" name="Text 88"/>
          <p:cNvSpPr txBox="1"/>
          <p:nvPr/>
        </p:nvSpPr>
        <p:spPr>
          <a:xfrm>
            <a:off x="868680"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78%</a:t>
            </a:r>
            <a:endParaRPr lang="en-US" sz="2200" dirty="0"/>
          </a:p>
        </p:txBody>
      </p:sp>
      <p:sp>
        <p:nvSpPr>
          <p:cNvPr id="91" name="Text 89"/>
          <p:cNvSpPr txBox="1"/>
          <p:nvPr/>
        </p:nvSpPr>
        <p:spPr>
          <a:xfrm>
            <a:off x="868680"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92" name="Text 90"/>
          <p:cNvSpPr txBox="1"/>
          <p:nvPr/>
        </p:nvSpPr>
        <p:spPr>
          <a:xfrm>
            <a:off x="1754734"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112%</a:t>
            </a:r>
            <a:endParaRPr lang="en-US" sz="2200" dirty="0"/>
          </a:p>
        </p:txBody>
      </p:sp>
      <p:sp>
        <p:nvSpPr>
          <p:cNvPr id="93" name="Text 91"/>
          <p:cNvSpPr txBox="1"/>
          <p:nvPr/>
        </p:nvSpPr>
        <p:spPr>
          <a:xfrm>
            <a:off x="1754734"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94" name="Text 92"/>
          <p:cNvSpPr txBox="1"/>
          <p:nvPr/>
        </p:nvSpPr>
        <p:spPr>
          <a:xfrm>
            <a:off x="1462126"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95" name="Shape 93"/>
          <p:cNvSpPr/>
          <p:nvPr/>
        </p:nvSpPr>
        <p:spPr>
          <a:xfrm>
            <a:off x="2878531" y="4462272"/>
            <a:ext cx="2046427" cy="1261872"/>
          </a:xfrm>
          <a:prstGeom prst="rect">
            <a:avLst/>
          </a:prstGeom>
          <a:solidFill>
            <a:srgbClr val="F7F7F7"/>
          </a:solidFill>
          <a:ln/>
        </p:spPr>
      </p:sp>
      <p:sp>
        <p:nvSpPr>
          <p:cNvPr id="96" name="Shape 94"/>
          <p:cNvSpPr/>
          <p:nvPr/>
        </p:nvSpPr>
        <p:spPr>
          <a:xfrm>
            <a:off x="2878531" y="4462272"/>
            <a:ext cx="64008" cy="1261872"/>
          </a:xfrm>
          <a:prstGeom prst="rect">
            <a:avLst/>
          </a:prstGeom>
          <a:solidFill>
            <a:srgbClr val="12A566"/>
          </a:solidFill>
          <a:ln/>
        </p:spPr>
      </p:sp>
      <p:sp>
        <p:nvSpPr>
          <p:cNvPr id="97" name="Text 95"/>
          <p:cNvSpPr txBox="1"/>
          <p:nvPr/>
        </p:nvSpPr>
        <p:spPr>
          <a:xfrm>
            <a:off x="3061411"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8" name="Text 96"/>
          <p:cNvSpPr txBox="1"/>
          <p:nvPr/>
        </p:nvSpPr>
        <p:spPr>
          <a:xfrm>
            <a:off x="3061411"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81%</a:t>
            </a:r>
            <a:endParaRPr lang="en-US" sz="2200" dirty="0"/>
          </a:p>
        </p:txBody>
      </p:sp>
      <p:sp>
        <p:nvSpPr>
          <p:cNvPr id="99" name="Text 97"/>
          <p:cNvSpPr txBox="1"/>
          <p:nvPr/>
        </p:nvSpPr>
        <p:spPr>
          <a:xfrm>
            <a:off x="3061411"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00" name="Text 98"/>
          <p:cNvSpPr txBox="1"/>
          <p:nvPr/>
        </p:nvSpPr>
        <p:spPr>
          <a:xfrm>
            <a:off x="3947465"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96%</a:t>
            </a:r>
            <a:endParaRPr lang="en-US" sz="2200" dirty="0"/>
          </a:p>
        </p:txBody>
      </p:sp>
      <p:sp>
        <p:nvSpPr>
          <p:cNvPr id="101" name="Text 99"/>
          <p:cNvSpPr txBox="1"/>
          <p:nvPr/>
        </p:nvSpPr>
        <p:spPr>
          <a:xfrm>
            <a:off x="3947465"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02" name="Text 100"/>
          <p:cNvSpPr txBox="1"/>
          <p:nvPr/>
        </p:nvSpPr>
        <p:spPr>
          <a:xfrm>
            <a:off x="3654857"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03" name="Shape 101"/>
          <p:cNvSpPr/>
          <p:nvPr/>
        </p:nvSpPr>
        <p:spPr>
          <a:xfrm>
            <a:off x="5071262" y="4462272"/>
            <a:ext cx="2046427" cy="1261872"/>
          </a:xfrm>
          <a:prstGeom prst="rect">
            <a:avLst/>
          </a:prstGeom>
          <a:solidFill>
            <a:srgbClr val="F7F7F7"/>
          </a:solidFill>
          <a:ln/>
        </p:spPr>
      </p:sp>
      <p:sp>
        <p:nvSpPr>
          <p:cNvPr id="104" name="Shape 102"/>
          <p:cNvSpPr/>
          <p:nvPr/>
        </p:nvSpPr>
        <p:spPr>
          <a:xfrm>
            <a:off x="5071262" y="4462272"/>
            <a:ext cx="64008" cy="1261872"/>
          </a:xfrm>
          <a:prstGeom prst="rect">
            <a:avLst/>
          </a:prstGeom>
          <a:solidFill>
            <a:srgbClr val="12A566"/>
          </a:solidFill>
          <a:ln/>
        </p:spPr>
      </p:sp>
      <p:sp>
        <p:nvSpPr>
          <p:cNvPr id="105" name="Text 103"/>
          <p:cNvSpPr txBox="1"/>
          <p:nvPr/>
        </p:nvSpPr>
        <p:spPr>
          <a:xfrm>
            <a:off x="5254142"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6" name="Text 104"/>
          <p:cNvSpPr txBox="1"/>
          <p:nvPr/>
        </p:nvSpPr>
        <p:spPr>
          <a:xfrm>
            <a:off x="5254142"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83%</a:t>
            </a:r>
            <a:endParaRPr lang="en-US" sz="2200" dirty="0"/>
          </a:p>
        </p:txBody>
      </p:sp>
      <p:sp>
        <p:nvSpPr>
          <p:cNvPr id="107" name="Text 105"/>
          <p:cNvSpPr txBox="1"/>
          <p:nvPr/>
        </p:nvSpPr>
        <p:spPr>
          <a:xfrm>
            <a:off x="5254142"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08" name="Text 106"/>
          <p:cNvSpPr txBox="1"/>
          <p:nvPr/>
        </p:nvSpPr>
        <p:spPr>
          <a:xfrm>
            <a:off x="6140196"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117%</a:t>
            </a:r>
            <a:endParaRPr lang="en-US" sz="2200" dirty="0"/>
          </a:p>
        </p:txBody>
      </p:sp>
      <p:sp>
        <p:nvSpPr>
          <p:cNvPr id="109" name="Text 107"/>
          <p:cNvSpPr txBox="1"/>
          <p:nvPr/>
        </p:nvSpPr>
        <p:spPr>
          <a:xfrm>
            <a:off x="6140196"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10" name="Text 108"/>
          <p:cNvSpPr txBox="1"/>
          <p:nvPr/>
        </p:nvSpPr>
        <p:spPr>
          <a:xfrm>
            <a:off x="5847588"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11" name="Shape 109"/>
          <p:cNvSpPr/>
          <p:nvPr/>
        </p:nvSpPr>
        <p:spPr>
          <a:xfrm>
            <a:off x="457200" y="6126480"/>
            <a:ext cx="11274552" cy="615696"/>
          </a:xfrm>
          <a:prstGeom prst="rect">
            <a:avLst/>
          </a:prstGeom>
          <a:solidFill>
            <a:srgbClr val="EDF4FA"/>
          </a:solidFill>
          <a:ln/>
        </p:spPr>
      </p:sp>
      <p:sp>
        <p:nvSpPr>
          <p:cNvPr id="112" name="Text 1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2026-10-21T21:15:07Z</dcterms:created>
  <dcterms:modified xsi:type="dcterms:W3CDTF">2026-10-21T21:15:07Z</dcterms:modified>
</cp:coreProperties>
</file>