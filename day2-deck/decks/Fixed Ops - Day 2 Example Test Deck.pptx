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0.xml"/><Relationship Id="rId5" Type="http://schemas.openxmlformats.org/officeDocument/2006/relationships/slide" Target="slides/slide35.xml"/><Relationship Id="rId6" Type="http://schemas.openxmlformats.org/officeDocument/2006/relationships/slide" Target="slides/slide50.xml"/><Relationship Id="rId7" Type="http://schemas.openxmlformats.org/officeDocument/2006/relationships/slide" Target="slides/slide95.xml"/><Relationship Id="rId8" Type="http://schemas.openxmlformats.org/officeDocument/2006/relationships/slide" Target="slides/slide121.xml"/><Relationship Id="rId9" Type="http://schemas.openxmlformats.org/officeDocument/2006/relationships/slide" Target="slides/slide135.xml"/><Relationship Id="rId10" Type="http://schemas.openxmlformats.org/officeDocument/2006/relationships/slide" Target="slides/slide155.xml"/><Relationship Id="rId11" Type="http://schemas.openxmlformats.org/officeDocument/2006/relationships/slide" Target="slides/slide16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6.xml"/><Relationship Id="rId146" Type="http://schemas.openxmlformats.org/officeDocument/2006/relationships/slide" Target="slides/slide137.xml"/><Relationship Id="rId147" Type="http://schemas.openxmlformats.org/officeDocument/2006/relationships/slide" Target="slides/slide138.xml"/><Relationship Id="rId148" Type="http://schemas.openxmlformats.org/officeDocument/2006/relationships/slide" Target="slides/slide139.xml"/><Relationship Id="rId149" Type="http://schemas.openxmlformats.org/officeDocument/2006/relationships/slide" Target="slides/slide140.xml"/><Relationship Id="rId150" Type="http://schemas.openxmlformats.org/officeDocument/2006/relationships/slide" Target="slides/slide141.xml"/><Relationship Id="rId151" Type="http://schemas.openxmlformats.org/officeDocument/2006/relationships/slide" Target="slides/slide142.xml"/><Relationship Id="rId152" Type="http://schemas.openxmlformats.org/officeDocument/2006/relationships/slide" Target="slides/slide143.xml"/><Relationship Id="rId153" Type="http://schemas.openxmlformats.org/officeDocument/2006/relationships/slide" Target="slides/slide144.xml"/><Relationship Id="rId154" Type="http://schemas.openxmlformats.org/officeDocument/2006/relationships/slide" Target="slides/slide145.xml"/><Relationship Id="rId155" Type="http://schemas.openxmlformats.org/officeDocument/2006/relationships/slide" Target="slides/slide146.xml"/><Relationship Id="rId156" Type="http://schemas.openxmlformats.org/officeDocument/2006/relationships/slide" Target="slides/slide147.xml"/><Relationship Id="rId157" Type="http://schemas.openxmlformats.org/officeDocument/2006/relationships/slide" Target="slides/slide148.xml"/><Relationship Id="rId158" Type="http://schemas.openxmlformats.org/officeDocument/2006/relationships/slide" Target="slides/slide149.xml"/><Relationship Id="rId159" Type="http://schemas.openxmlformats.org/officeDocument/2006/relationships/slide" Target="slides/slide150.xml"/><Relationship Id="rId160" Type="http://schemas.openxmlformats.org/officeDocument/2006/relationships/slide" Target="slides/slide151.xml"/><Relationship Id="rId161" Type="http://schemas.openxmlformats.org/officeDocument/2006/relationships/slide" Target="slides/slide152.xml"/><Relationship Id="rId162" Type="http://schemas.openxmlformats.org/officeDocument/2006/relationships/slide" Target="slides/slide153.xml"/><Relationship Id="rId163" Type="http://schemas.openxmlformats.org/officeDocument/2006/relationships/slide" Target="slides/slide154.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Two stores tie. Moving now: KIA ST GEORGE leads.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eight measures (parts $ per RO dropped, Oct 23); CP labor $ per RO (percent), fixed absorption and the four opcodes combined (points) added Oct 29; fixed ops net profit left out (ranked in dollars, it favors larger stores);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2.xml"/></Relationships>
</file>

<file path=ppt/slides/_rels/slide3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6.xml"/></Relationships>
</file>

<file path=ppt/slides/_rels/slide5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0.xml"/></Relationships>
</file>

<file path=ppt/slides/_rels/slide9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8.xml"/></Relationships>
</file>

<file path=ppt/slides/_rels/slide13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5.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5.xml"/></Relationships>
</file>

<file path=ppt/slides/_rels/slide16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(47.4%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 labor/RO, absorption, opcodes</a:t>
            </a:r>
            <a:endParaRPr lang="en-US" sz="1300" dirty="0"/>
          </a:p>
        </p:txBody>
      </p:sp>
      <p:sp>
        <p:nvSpPr>
          <p:cNvPr id="12" name="Shape 10"/>
          <p:cNvSpPr/>
          <p:nvPr/>
        </p:nvSpPr>
        <p:spPr>
          <a:xfrm>
            <a:off x="4892040" y="2351837"/>
            <a:ext cx="36576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parts GP, labor/RO, opcodes</a:t>
            </a:r>
            <a:endParaRPr lang="en-US" sz="1300" dirty="0"/>
          </a:p>
        </p:txBody>
      </p:sp>
      <p:sp>
        <p:nvSpPr>
          <p:cNvPr id="16" name="Shape 14"/>
          <p:cNvSpPr/>
          <p:nvPr/>
        </p:nvSpPr>
        <p:spPr>
          <a:xfrm>
            <a:off x="4892040" y="2937053"/>
            <a:ext cx="36576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8"/>
          <p:cNvSpPr txBox="1"/>
          <p:nvPr/>
        </p:nvSpPr>
        <p:spPr>
          <a:xfrm>
            <a:off x="731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21" name="Shape 19"/>
          <p:cNvSpPr/>
          <p:nvPr/>
        </p:nvSpPr>
        <p:spPr>
          <a:xfrm>
            <a:off x="4892040" y="3522269"/>
            <a:ext cx="24384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Shape 21"/>
          <p:cNvSpPr/>
          <p:nvPr/>
        </p:nvSpPr>
        <p:spPr>
          <a:xfrm>
            <a:off x="5788152" y="3383280"/>
            <a:ext cx="64008" cy="512064"/>
          </a:xfrm>
          <a:prstGeom prst="rect">
            <a:avLst/>
          </a:prstGeom>
          <a:solidFill>
            <a:srgbClr val="12A566"/>
          </a:solidFill>
          <a:ln/>
        </p:spPr>
      </p:sp>
      <p:sp>
        <p:nvSpPr>
          <p:cNvPr id="24" name="Text 22"/>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5" name="Text 23"/>
          <p:cNvSpPr txBox="1"/>
          <p:nvPr/>
        </p:nvSpPr>
        <p:spPr>
          <a:xfrm>
            <a:off x="731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a:t>
            </a:r>
            <a:endParaRPr lang="en-US" sz="1300" dirty="0"/>
          </a:p>
        </p:txBody>
      </p:sp>
      <p:sp>
        <p:nvSpPr>
          <p:cNvPr id="26" name="Shape 24"/>
          <p:cNvSpPr/>
          <p:nvPr/>
        </p:nvSpPr>
        <p:spPr>
          <a:xfrm>
            <a:off x="4892040" y="4107485"/>
            <a:ext cx="182880" cy="234086"/>
          </a:xfrm>
          <a:prstGeom prst="rect">
            <a:avLst/>
          </a:prstGeom>
          <a:solidFill>
            <a:srgbClr val="12A566"/>
          </a:solidFill>
          <a:ln/>
        </p:spPr>
      </p:sp>
      <p:sp>
        <p:nvSpPr>
          <p:cNvPr id="27" name="Text 25"/>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0" name="Text 28"/>
          <p:cNvSpPr txBox="1"/>
          <p:nvPr/>
        </p:nvSpPr>
        <p:spPr>
          <a:xfrm>
            <a:off x="731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ROs, parts GP, absorption</a:t>
            </a:r>
            <a:endParaRPr lang="en-US" sz="1300" dirty="0"/>
          </a:p>
        </p:txBody>
      </p:sp>
      <p:sp>
        <p:nvSpPr>
          <p:cNvPr id="31" name="Shape 29"/>
          <p:cNvSpPr/>
          <p:nvPr/>
        </p:nvSpPr>
        <p:spPr>
          <a:xfrm>
            <a:off x="4892040" y="4692701"/>
            <a:ext cx="18288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4" name="Text 32"/>
          <p:cNvSpPr txBox="1"/>
          <p:nvPr/>
        </p:nvSpPr>
        <p:spPr>
          <a:xfrm>
            <a:off x="731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35" name="Shape 33"/>
          <p:cNvSpPr/>
          <p:nvPr/>
        </p:nvSpPr>
        <p:spPr>
          <a:xfrm>
            <a:off x="4892040" y="5277917"/>
            <a:ext cx="18288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3" name="Text 41"/>
          <p:cNvSpPr txBox="1"/>
          <p:nvPr/>
        </p:nvSpPr>
        <p:spPr>
          <a:xfrm>
            <a:off x="6446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labor/RO, absorption, opcodes</a:t>
            </a:r>
            <a:endParaRPr lang="en-US" sz="1300" dirty="0"/>
          </a:p>
        </p:txBody>
      </p:sp>
      <p:sp>
        <p:nvSpPr>
          <p:cNvPr id="44" name="Shape 42"/>
          <p:cNvSpPr/>
          <p:nvPr/>
        </p:nvSpPr>
        <p:spPr>
          <a:xfrm>
            <a:off x="10607040" y="2351837"/>
            <a:ext cx="36576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46" name="Shape 44"/>
          <p:cNvSpPr/>
          <p:nvPr/>
        </p:nvSpPr>
        <p:spPr>
          <a:xfrm>
            <a:off x="11503152" y="2212848"/>
            <a:ext cx="64008" cy="512064"/>
          </a:xfrm>
          <a:prstGeom prst="rect">
            <a:avLst/>
          </a:prstGeom>
          <a:solidFill>
            <a:srgbClr val="12A566"/>
          </a:solidFill>
          <a:ln/>
        </p:spPr>
      </p:sp>
      <p:sp>
        <p:nvSpPr>
          <p:cNvPr id="47" name="Text 45"/>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8" name="Text 46"/>
          <p:cNvSpPr txBox="1"/>
          <p:nvPr/>
        </p:nvSpPr>
        <p:spPr>
          <a:xfrm>
            <a:off x="6446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 labor/RO, opcodes</a:t>
            </a:r>
            <a:endParaRPr lang="en-US" sz="1300" dirty="0"/>
          </a:p>
        </p:txBody>
      </p:sp>
      <p:sp>
        <p:nvSpPr>
          <p:cNvPr id="49" name="Shape 47"/>
          <p:cNvSpPr/>
          <p:nvPr/>
        </p:nvSpPr>
        <p:spPr>
          <a:xfrm>
            <a:off x="10607040" y="2937053"/>
            <a:ext cx="304800" cy="234086"/>
          </a:xfrm>
          <a:prstGeom prst="rect">
            <a:avLst/>
          </a:prstGeom>
          <a:solidFill>
            <a:srgbClr val="12A566"/>
          </a:solidFill>
          <a:ln/>
        </p:spPr>
      </p:sp>
      <p:sp>
        <p:nvSpPr>
          <p:cNvPr id="50" name="Text 48"/>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5</a:t>
            </a:r>
            <a:endParaRPr lang="en-US" sz="1800" dirty="0"/>
          </a:p>
        </p:txBody>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3" name="Text 51"/>
          <p:cNvSpPr txBox="1"/>
          <p:nvPr/>
        </p:nvSpPr>
        <p:spPr>
          <a:xfrm>
            <a:off x="6446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54" name="Shape 52"/>
          <p:cNvSpPr/>
          <p:nvPr/>
        </p:nvSpPr>
        <p:spPr>
          <a:xfrm>
            <a:off x="10607040" y="3522269"/>
            <a:ext cx="24384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7" name="Text 55"/>
          <p:cNvSpPr txBox="1"/>
          <p:nvPr/>
        </p:nvSpPr>
        <p:spPr>
          <a:xfrm>
            <a:off x="6446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a:t>
            </a:r>
            <a:endParaRPr lang="en-US" sz="1300" dirty="0"/>
          </a:p>
        </p:txBody>
      </p:sp>
      <p:sp>
        <p:nvSpPr>
          <p:cNvPr id="58" name="Shape 56"/>
          <p:cNvSpPr/>
          <p:nvPr/>
        </p:nvSpPr>
        <p:spPr>
          <a:xfrm>
            <a:off x="10607040" y="4107485"/>
            <a:ext cx="1828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2" name="Text 60"/>
          <p:cNvSpPr txBox="1"/>
          <p:nvPr/>
        </p:nvSpPr>
        <p:spPr>
          <a:xfrm>
            <a:off x="6446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63" name="Shape 61"/>
          <p:cNvSpPr/>
          <p:nvPr/>
        </p:nvSpPr>
        <p:spPr>
          <a:xfrm>
            <a:off x="10607040" y="4692701"/>
            <a:ext cx="1828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66" name="Text 64"/>
          <p:cNvSpPr txBox="1"/>
          <p:nvPr/>
        </p:nvSpPr>
        <p:spPr>
          <a:xfrm>
            <a:off x="6446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a:t>
            </a:r>
            <a:endParaRPr lang="en-US" sz="1300" dirty="0"/>
          </a:p>
        </p:txBody>
      </p:sp>
      <p:sp>
        <p:nvSpPr>
          <p:cNvPr id="67" name="Shape 65"/>
          <p:cNvSpPr/>
          <p:nvPr/>
        </p:nvSpPr>
        <p:spPr>
          <a:xfrm>
            <a:off x="10607040" y="5277917"/>
            <a:ext cx="12192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Two stores tie. One store is on both lists (green bar). Also tied at 2 moving now: Hyundai St George and Chevy GMC Bullhead.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