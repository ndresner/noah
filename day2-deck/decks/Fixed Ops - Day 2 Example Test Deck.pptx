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58" r:id="rId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59" r:id="rId5"/>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60" r:id="rId6"/>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261" r:id="rId7"/>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262" r:id="rId8"/>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263" r:id="rId9"/>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264" r:id="rId10"/>
    <p:sldId id="413" r:id="rId164"/>
    <p:sldId id="414" r:id="rId165"/>
    <p:sldId id="415" r:id="rId166"/>
    <p:sldId id="416" r:id="rId167"/>
    <p:sldId id="417" r:id="rId168"/>
    <p:sldId id="418" r:id="rId169"/>
    <p:sldId id="419" r:id="rId170"/>
    <p:sldId id="420" r:id="rId171"/>
    <p:sldId id="265" r:id="rId1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266" r:id="rId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Net: best January–September fixed ops net profit ever = service + parts department profit (Qlik - Profit &amp; Loss, Detail statement), Jan-Sep 2026 above every Jan-Sep 2021-2025 on file; Honda Spokane and Nissan from 2024.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Fixed Ops Accounting TB, combined service + parts fixed gross, Jan-Sep 2026 above every Jan-Sep on file (2021-2025). Net: best January–September fixed ops net profit ever = service + parts department profit (Qlik - Profit &amp; Loss, Detail statement), Jan-Sep 2026 above every Jan-Sep 2021-2025 on file; Honda Spokane and Nissan from 2024.Net profit, Jan-Sep 2026 vs the best prior Jan-Sep:</a:t>
            </a:r>
          </a:p>
          <a:p>
            <a:r>
              <a:t>Acura: $476K vs $259K (2025)</a:t>
            </a:r>
          </a:p>
          <a:p>
            <a:r>
              <a:t>Audi Henderson: $4.94M vs $4.11M (2025)</a:t>
            </a:r>
          </a:p>
          <a:p>
            <a:r>
              <a:t>Cadillac: $2.60M vs $1.83M (2025)</a:t>
            </a:r>
          </a:p>
          <a:p>
            <a:r>
              <a:t>CDJR Post Falls: $800K vs $747K (2025)</a:t>
            </a:r>
          </a:p>
          <a:p>
            <a:r>
              <a:t>Chevy GMC Bullhead: $1.12M vs $784K (2025)</a:t>
            </a:r>
          </a:p>
          <a:p>
            <a:r>
              <a:t>Honda Henderson: $6.08M vs $5.84M (2024)</a:t>
            </a:r>
          </a:p>
          <a:p>
            <a:r>
              <a:t>Honda Spokane: $1.32M vs $1.32M (2025)</a:t>
            </a:r>
          </a:p>
          <a:p>
            <a:r>
              <a:t>Kia LV: $1.80M vs $1.38M (2025)</a:t>
            </a:r>
          </a:p>
          <a:p>
            <a:r>
              <a:t>Lexus: $1.20M vs $993K (2025)</a:t>
            </a:r>
          </a:p>
          <a:p>
            <a:r>
              <a:t>Lincoln: $94K vs −$61K (2023)</a:t>
            </a:r>
          </a:p>
          <a:p>
            <a:r>
              <a:t>LR Henderson: $705K vs $607K (2025)</a:t>
            </a:r>
          </a:p>
          <a:p>
            <a:r>
              <a:t>LR LV: $2.04M vs $1.89M (2025)</a:t>
            </a:r>
          </a:p>
          <a:p>
            <a:r>
              <a:t>LR Reno: $428K vs $244K (2023)</a:t>
            </a:r>
          </a:p>
          <a:p>
            <a:r>
              <a:t>Nissan: $677K vs $543K (2025)</a:t>
            </a:r>
          </a:p>
          <a:p>
            <a:r>
              <a:t>Subaru LV: $2.94M vs $2.93M (2025)</a:t>
            </a:r>
          </a:p>
          <a:p>
            <a:r>
              <a:t>Subaru Prescott: $129K vs $110K (2023)</a:t>
            </a:r>
          </a:p>
          <a:p>
            <a:r>
              <a:t>Subaru St George: $1.17M vs $1.06M (2025)</a:t>
            </a:r>
          </a:p>
          <a:p>
            <a:r>
              <a:t>Toyota Flagstaff: $902K vs $771K (2025)</a:t>
            </a:r>
          </a:p>
          <a:p>
            <a:r>
              <a:t>Toyota Henderson: $7.83M vs $6.41M (2025)</a:t>
            </a:r>
          </a:p>
          <a:p>
            <a:r>
              <a:t>Toyota Prescott: $1.17M vs $881K (2025)</a:t>
            </a:r>
          </a:p>
          <a:p>
            <a:r>
              <a:t>Volvo: $1.33M vs $1.18M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Personnel down $426K; outside services up $490K, IT up $479K, advertising rebates down $398K.</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1991563" cy="3017520"/>
          </a:xfrm>
          <a:prstGeom prst="rect">
            <a:avLst/>
          </a:prstGeom>
          <a:solidFill>
            <a:srgbClr val="F7F7F7"/>
          </a:solidFill>
          <a:ln/>
        </p:spPr>
      </p:sp>
      <p:sp>
        <p:nvSpPr>
          <p:cNvPr id="7" name="Shape 5"/>
          <p:cNvSpPr/>
          <p:nvPr/>
        </p:nvSpPr>
        <p:spPr>
          <a:xfrm>
            <a:off x="713232" y="1481328"/>
            <a:ext cx="1991563" cy="64008"/>
          </a:xfrm>
          <a:prstGeom prst="rect">
            <a:avLst/>
          </a:prstGeom>
          <a:solidFill>
            <a:srgbClr val="12A566"/>
          </a:solidFill>
          <a:ln/>
        </p:spPr>
      </p:sp>
      <p:sp>
        <p:nvSpPr>
          <p:cNvPr id="8" name="Text 6"/>
          <p:cNvSpPr txBox="1"/>
          <p:nvPr/>
        </p:nvSpPr>
        <p:spPr>
          <a:xfrm>
            <a:off x="896112"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 RECORD MONTH</a:t>
            </a:r>
            <a:endParaRPr lang="en-US" sz="1400" dirty="0"/>
          </a:p>
        </p:txBody>
      </p:sp>
      <p:sp>
        <p:nvSpPr>
          <p:cNvPr id="9" name="Text 7"/>
          <p:cNvSpPr txBox="1"/>
          <p:nvPr/>
        </p:nvSpPr>
        <p:spPr>
          <a:xfrm>
            <a:off x="896112"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had their best gross profit month ever in 2026.</a:t>
            </a:r>
            <a:endParaRPr lang="en-US" sz="1500" dirty="0"/>
          </a:p>
        </p:txBody>
      </p:sp>
      <p:sp>
        <p:nvSpPr>
          <p:cNvPr id="11" name="Shape 9"/>
          <p:cNvSpPr/>
          <p:nvPr/>
        </p:nvSpPr>
        <p:spPr>
          <a:xfrm>
            <a:off x="2905963" y="1481328"/>
            <a:ext cx="1991563" cy="3017520"/>
          </a:xfrm>
          <a:prstGeom prst="rect">
            <a:avLst/>
          </a:prstGeom>
          <a:solidFill>
            <a:srgbClr val="F7F7F7"/>
          </a:solidFill>
          <a:ln/>
        </p:spPr>
      </p:sp>
      <p:sp>
        <p:nvSpPr>
          <p:cNvPr id="12" name="Shape 10"/>
          <p:cNvSpPr/>
          <p:nvPr/>
        </p:nvSpPr>
        <p:spPr>
          <a:xfrm>
            <a:off x="2905963" y="1481328"/>
            <a:ext cx="1991563" cy="64008"/>
          </a:xfrm>
          <a:prstGeom prst="rect">
            <a:avLst/>
          </a:prstGeom>
          <a:solidFill>
            <a:srgbClr val="12A566"/>
          </a:solidFill>
          <a:ln/>
        </p:spPr>
      </p:sp>
      <p:sp>
        <p:nvSpPr>
          <p:cNvPr id="13" name="Text 11"/>
          <p:cNvSpPr txBox="1"/>
          <p:nvPr/>
        </p:nvSpPr>
        <p:spPr>
          <a:xfrm>
            <a:off x="3088843"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088843"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088843"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gross profit records in service, parts and combined.</a:t>
            </a:r>
            <a:endParaRPr lang="en-US" sz="1500" dirty="0"/>
          </a:p>
        </p:txBody>
      </p:sp>
      <p:sp>
        <p:nvSpPr>
          <p:cNvPr id="16" name="Shape 14"/>
          <p:cNvSpPr/>
          <p:nvPr/>
        </p:nvSpPr>
        <p:spPr>
          <a:xfrm>
            <a:off x="5098694" y="1481328"/>
            <a:ext cx="1991563" cy="3017520"/>
          </a:xfrm>
          <a:prstGeom prst="rect">
            <a:avLst/>
          </a:prstGeom>
          <a:solidFill>
            <a:srgbClr val="F7F7F7"/>
          </a:solidFill>
          <a:ln/>
        </p:spPr>
      </p:sp>
      <p:sp>
        <p:nvSpPr>
          <p:cNvPr id="17" name="Shape 15"/>
          <p:cNvSpPr/>
          <p:nvPr/>
        </p:nvSpPr>
        <p:spPr>
          <a:xfrm>
            <a:off x="5098694" y="1481328"/>
            <a:ext cx="1991563" cy="64008"/>
          </a:xfrm>
          <a:prstGeom prst="rect">
            <a:avLst/>
          </a:prstGeom>
          <a:solidFill>
            <a:srgbClr val="12A566"/>
          </a:solidFill>
          <a:ln/>
        </p:spPr>
      </p:sp>
      <p:sp>
        <p:nvSpPr>
          <p:cNvPr id="18" name="Text 16"/>
          <p:cNvSpPr txBox="1"/>
          <p:nvPr/>
        </p:nvSpPr>
        <p:spPr>
          <a:xfrm>
            <a:off x="5281574"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GROSS PROFIT EVER</a:t>
            </a:r>
            <a:endParaRPr lang="en-US" sz="1400" dirty="0"/>
          </a:p>
        </p:txBody>
      </p:sp>
      <p:sp>
        <p:nvSpPr>
          <p:cNvPr id="19" name="Text 17"/>
          <p:cNvSpPr txBox="1"/>
          <p:nvPr/>
        </p:nvSpPr>
        <p:spPr>
          <a:xfrm>
            <a:off x="5281574"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5281574"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service and parts combined.</a:t>
            </a:r>
            <a:endParaRPr lang="en-US" sz="1500" dirty="0"/>
          </a:p>
        </p:txBody>
      </p:sp>
      <p:sp>
        <p:nvSpPr>
          <p:cNvPr id="21" name="Shape 19"/>
          <p:cNvSpPr/>
          <p:nvPr/>
        </p:nvSpPr>
        <p:spPr>
          <a:xfrm>
            <a:off x="7291426" y="1481328"/>
            <a:ext cx="1991563" cy="3017520"/>
          </a:xfrm>
          <a:prstGeom prst="rect">
            <a:avLst/>
          </a:prstGeom>
          <a:solidFill>
            <a:srgbClr val="F7F7F7"/>
          </a:solidFill>
          <a:ln/>
        </p:spPr>
      </p:sp>
      <p:sp>
        <p:nvSpPr>
          <p:cNvPr id="22" name="Shape 20"/>
          <p:cNvSpPr/>
          <p:nvPr/>
        </p:nvSpPr>
        <p:spPr>
          <a:xfrm>
            <a:off x="7291426" y="1481328"/>
            <a:ext cx="1991563" cy="64008"/>
          </a:xfrm>
          <a:prstGeom prst="rect">
            <a:avLst/>
          </a:prstGeom>
          <a:solidFill>
            <a:srgbClr val="12A566"/>
          </a:solidFill>
          <a:ln/>
        </p:spPr>
      </p:sp>
      <p:sp>
        <p:nvSpPr>
          <p:cNvPr id="23" name="Text 21"/>
          <p:cNvSpPr txBox="1"/>
          <p:nvPr/>
        </p:nvSpPr>
        <p:spPr>
          <a:xfrm>
            <a:off x="7474306"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BROKEN TWICE</a:t>
            </a:r>
            <a:endParaRPr lang="en-US" sz="1400" dirty="0"/>
          </a:p>
        </p:txBody>
      </p:sp>
      <p:sp>
        <p:nvSpPr>
          <p:cNvPr id="24" name="Text 22"/>
          <p:cNvSpPr txBox="1"/>
          <p:nvPr/>
        </p:nvSpPr>
        <p:spPr>
          <a:xfrm>
            <a:off x="7474306"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7474306"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gross profit record, then beat it again.</a:t>
            </a:r>
            <a:endParaRPr lang="en-US" sz="1500" dirty="0"/>
          </a:p>
        </p:txBody>
      </p:sp>
      <p:sp>
        <p:nvSpPr>
          <p:cNvPr id="26" name="Shape 24"/>
          <p:cNvSpPr/>
          <p:nvPr/>
        </p:nvSpPr>
        <p:spPr>
          <a:xfrm>
            <a:off x="9484157" y="1481328"/>
            <a:ext cx="1991563" cy="3017520"/>
          </a:xfrm>
          <a:prstGeom prst="rect">
            <a:avLst/>
          </a:prstGeom>
          <a:solidFill>
            <a:srgbClr val="F7F7F7"/>
          </a:solidFill>
          <a:ln/>
        </p:spPr>
      </p:sp>
      <p:sp>
        <p:nvSpPr>
          <p:cNvPr id="27" name="Shape 25"/>
          <p:cNvSpPr/>
          <p:nvPr/>
        </p:nvSpPr>
        <p:spPr>
          <a:xfrm>
            <a:off x="9484157" y="1481328"/>
            <a:ext cx="1991563" cy="64008"/>
          </a:xfrm>
          <a:prstGeom prst="rect">
            <a:avLst/>
          </a:prstGeom>
          <a:solidFill>
            <a:srgbClr val="12A566"/>
          </a:solidFill>
          <a:ln/>
        </p:spPr>
      </p:sp>
      <p:sp>
        <p:nvSpPr>
          <p:cNvPr id="28" name="Text 26"/>
          <p:cNvSpPr txBox="1"/>
          <p:nvPr/>
        </p:nvSpPr>
        <p:spPr>
          <a:xfrm>
            <a:off x="9667037" y="1691640"/>
            <a:ext cx="1625803"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JAN–SEP NET PROFIT EVER</a:t>
            </a:r>
            <a:endParaRPr lang="en-US" sz="1400" dirty="0"/>
          </a:p>
        </p:txBody>
      </p:sp>
      <p:sp>
        <p:nvSpPr>
          <p:cNvPr id="29" name="Text 27"/>
          <p:cNvSpPr txBox="1"/>
          <p:nvPr/>
        </p:nvSpPr>
        <p:spPr>
          <a:xfrm>
            <a:off x="9667037" y="2286000"/>
            <a:ext cx="1625803"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21</a:t>
            </a:r>
            <a:endParaRPr lang="en-US" sz="4000" dirty="0"/>
          </a:p>
        </p:txBody>
      </p:sp>
      <p:sp>
        <p:nvSpPr>
          <p:cNvPr id="30" name="Text 28"/>
          <p:cNvSpPr txBox="1"/>
          <p:nvPr/>
        </p:nvSpPr>
        <p:spPr>
          <a:xfrm>
            <a:off x="9667037" y="3200400"/>
            <a:ext cx="1625803"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18 also set the gross profit record.</a:t>
            </a:r>
            <a:endParaRPr lang="en-US" sz="1500" dirty="0"/>
          </a:p>
        </p:txBody>
      </p:sp>
      <p:sp>
        <p:nvSpPr>
          <p:cNvPr id="31" name="Text 2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32" name="Shape 30"/>
          <p:cNvSpPr/>
          <p:nvPr/>
        </p:nvSpPr>
        <p:spPr>
          <a:xfrm>
            <a:off x="457200" y="6126480"/>
            <a:ext cx="11274552" cy="371856"/>
          </a:xfrm>
          <a:prstGeom prst="rect">
            <a:avLst/>
          </a:prstGeom>
          <a:solidFill>
            <a:srgbClr val="E6F6EE"/>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5234940" cy="45720"/>
          </a:xfrm>
          <a:prstGeom prst="rect">
            <a:avLst/>
          </a:prstGeom>
          <a:solidFill>
            <a:srgbClr val="12A566"/>
          </a:solidFill>
          <a:ln/>
        </p:spPr>
      </p:sp>
      <p:sp>
        <p:nvSpPr>
          <p:cNvPr id="7" name="Text 5"/>
          <p:cNvSpPr txBox="1"/>
          <p:nvPr/>
        </p:nvSpPr>
        <p:spPr>
          <a:xfrm>
            <a:off x="749808" y="1463040"/>
            <a:ext cx="4549140" cy="292608"/>
          </a:xfrm>
          <a:prstGeom prst="rect">
            <a:avLst/>
          </a:prstGeom>
          <a:noFill/>
          <a:ln/>
        </p:spPr>
        <p:txBody>
          <a:bodyPr wrap="none" lIns="0" tIns="0" rIns="0" bIns="0" rtlCol="0" anchor="ctr"/>
          <a:lstStyle/>
          <a:p>
            <a:pPr indent="0" marL="0">
              <a:buNone/>
            </a:pPr>
            <a:r>
              <a:rPr lang="en-US" sz="1500" b="1" spc="40" kern="0" dirty="0">
                <a:solidFill>
                  <a:srgbClr val="0B7A4A"/>
                </a:solidFill>
                <a:latin typeface="Inter" pitchFamily="34" charset="0"/>
                <a:ea typeface="Inter" pitchFamily="34" charset="-122"/>
                <a:cs typeface="Inter" pitchFamily="34" charset="-120"/>
              </a:rPr>
              <a:t>GROSS AND NET PROFIT</a:t>
            </a:r>
            <a:endParaRPr lang="en-US" sz="1500" dirty="0"/>
          </a:p>
        </p:txBody>
      </p:sp>
      <p:sp>
        <p:nvSpPr>
          <p:cNvPr id="8" name="Text 6"/>
          <p:cNvSpPr txBox="1"/>
          <p:nvPr/>
        </p:nvSpPr>
        <p:spPr>
          <a:xfrm>
            <a:off x="5326380" y="1408176"/>
            <a:ext cx="502920" cy="402336"/>
          </a:xfrm>
          <a:prstGeom prst="rect">
            <a:avLst/>
          </a:prstGeom>
          <a:noFill/>
          <a:ln/>
        </p:spPr>
        <p:txBody>
          <a:bodyPr wrap="square" lIns="0" tIns="0" rIns="0" bIns="0" rtlCol="0" anchor="ctr"/>
          <a:lstStyle/>
          <a:p>
            <a:pPr algn="r" indent="0" marL="0">
              <a:buNone/>
            </a:pPr>
            <a:r>
              <a:rPr lang="en-US" sz="2600" b="1" dirty="0">
                <a:solidFill>
                  <a:srgbClr val="0B7A4A"/>
                </a:solidFill>
                <a:latin typeface="Inter" pitchFamily="34" charset="0"/>
                <a:ea typeface="Inter" pitchFamily="34" charset="-122"/>
                <a:cs typeface="Inter" pitchFamily="34" charset="-120"/>
              </a:rPr>
              <a:t>18</a:t>
            </a:r>
            <a:endParaRPr lang="en-US" sz="2600" dirty="0"/>
          </a:p>
        </p:txBody>
      </p:sp>
      <p:sp>
        <p:nvSpPr>
          <p:cNvPr id="9" name="Text 7"/>
          <p:cNvSpPr txBox="1"/>
          <p:nvPr/>
        </p:nvSpPr>
        <p:spPr>
          <a:xfrm>
            <a:off x="74980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CADILLAC</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LEXUS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LINCOLN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HENDERSON</a:t>
            </a:r>
            <a:endParaRPr lang="en-US" sz="1400" dirty="0"/>
          </a:p>
        </p:txBody>
      </p:sp>
      <p:sp>
        <p:nvSpPr>
          <p:cNvPr id="10" name="Text 8"/>
          <p:cNvSpPr txBox="1"/>
          <p:nvPr/>
        </p:nvSpPr>
        <p:spPr>
          <a:xfrm>
            <a:off x="3275838" y="1920240"/>
            <a:ext cx="252603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LR LV</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LR RENO</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NISSAN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VOLVO</a:t>
            </a:r>
            <a:endParaRPr lang="en-US" sz="1400" dirty="0"/>
          </a:p>
        </p:txBody>
      </p:sp>
      <p:sp>
        <p:nvSpPr>
          <p:cNvPr id="11" name="Shape 9"/>
          <p:cNvSpPr/>
          <p:nvPr/>
        </p:nvSpPr>
        <p:spPr>
          <a:xfrm>
            <a:off x="6094476" y="1371600"/>
            <a:ext cx="2617470" cy="45720"/>
          </a:xfrm>
          <a:prstGeom prst="rect">
            <a:avLst/>
          </a:prstGeom>
          <a:solidFill>
            <a:srgbClr val="2587C5"/>
          </a:solidFill>
          <a:ln/>
        </p:spPr>
      </p:sp>
      <p:sp>
        <p:nvSpPr>
          <p:cNvPr id="12" name="Text 10"/>
          <p:cNvSpPr txBox="1"/>
          <p:nvPr/>
        </p:nvSpPr>
        <p:spPr>
          <a:xfrm>
            <a:off x="6185916"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GROSS PROFIT ONLY</a:t>
            </a:r>
            <a:endParaRPr lang="en-US" sz="1500" dirty="0"/>
          </a:p>
        </p:txBody>
      </p:sp>
      <p:sp>
        <p:nvSpPr>
          <p:cNvPr id="13" name="Shape 11"/>
          <p:cNvSpPr/>
          <p:nvPr/>
        </p:nvSpPr>
        <p:spPr>
          <a:xfrm>
            <a:off x="5993892" y="1371600"/>
            <a:ext cx="0" cy="4526280"/>
          </a:xfrm>
          <a:prstGeom prst="line">
            <a:avLst/>
          </a:prstGeom>
          <a:noFill/>
          <a:ln w="9525">
            <a:solidFill>
              <a:srgbClr val="BFBFBF"/>
            </a:solidFill>
            <a:prstDash val="solid"/>
          </a:ln>
        </p:spPr>
      </p:sp>
      <p:sp>
        <p:nvSpPr>
          <p:cNvPr id="14" name="Text 12"/>
          <p:cNvSpPr txBox="1"/>
          <p:nvPr/>
        </p:nvSpPr>
        <p:spPr>
          <a:xfrm>
            <a:off x="8145018"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7</a:t>
            </a:r>
            <a:endParaRPr lang="en-US" sz="2600" dirty="0"/>
          </a:p>
        </p:txBody>
      </p:sp>
      <p:sp>
        <p:nvSpPr>
          <p:cNvPr id="15" name="Text 13"/>
          <p:cNvSpPr txBox="1"/>
          <p:nvPr/>
        </p:nvSpPr>
        <p:spPr>
          <a:xfrm>
            <a:off x="6185916"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MAZDA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TOYOTA SPOKANE</a:t>
            </a:r>
            <a:endParaRPr lang="en-US" sz="1400" dirty="0"/>
          </a:p>
        </p:txBody>
      </p:sp>
      <p:sp>
        <p:nvSpPr>
          <p:cNvPr id="16" name="Shape 14"/>
          <p:cNvSpPr/>
          <p:nvPr/>
        </p:nvSpPr>
        <p:spPr>
          <a:xfrm>
            <a:off x="8913114" y="1371600"/>
            <a:ext cx="2617470" cy="45720"/>
          </a:xfrm>
          <a:prstGeom prst="rect">
            <a:avLst/>
          </a:prstGeom>
          <a:solidFill>
            <a:srgbClr val="2587C5"/>
          </a:solidFill>
          <a:ln/>
        </p:spPr>
      </p:sp>
      <p:sp>
        <p:nvSpPr>
          <p:cNvPr id="17" name="Text 15"/>
          <p:cNvSpPr txBox="1"/>
          <p:nvPr/>
        </p:nvSpPr>
        <p:spPr>
          <a:xfrm>
            <a:off x="9004554" y="1463040"/>
            <a:ext cx="1931670" cy="292608"/>
          </a:xfrm>
          <a:prstGeom prst="rect">
            <a:avLst/>
          </a:prstGeom>
          <a:noFill/>
          <a:ln/>
        </p:spPr>
        <p:txBody>
          <a:bodyPr wrap="none" lIns="0" tIns="0" rIns="0" bIns="0" rtlCol="0" anchor="ctr"/>
          <a:lstStyle/>
          <a:p>
            <a:pPr indent="0" marL="0">
              <a:buNone/>
            </a:pPr>
            <a:r>
              <a:rPr lang="en-US" sz="1500" b="1" spc="40" kern="0" dirty="0">
                <a:solidFill>
                  <a:srgbClr val="0B2C4A"/>
                </a:solidFill>
                <a:latin typeface="Inter" pitchFamily="34" charset="0"/>
                <a:ea typeface="Inter" pitchFamily="34" charset="-122"/>
                <a:cs typeface="Inter" pitchFamily="34" charset="-120"/>
              </a:rPr>
              <a:t>NET PROFIT ONLY</a:t>
            </a:r>
            <a:endParaRPr lang="en-US" sz="1500" dirty="0"/>
          </a:p>
        </p:txBody>
      </p:sp>
      <p:sp>
        <p:nvSpPr>
          <p:cNvPr id="18" name="Shape 16"/>
          <p:cNvSpPr/>
          <p:nvPr/>
        </p:nvSpPr>
        <p:spPr>
          <a:xfrm>
            <a:off x="8812530" y="1371600"/>
            <a:ext cx="0" cy="4526280"/>
          </a:xfrm>
          <a:prstGeom prst="line">
            <a:avLst/>
          </a:prstGeom>
          <a:noFill/>
          <a:ln w="9525">
            <a:solidFill>
              <a:srgbClr val="BFBFBF"/>
            </a:solidFill>
            <a:prstDash val="solid"/>
          </a:ln>
        </p:spPr>
      </p:sp>
      <p:sp>
        <p:nvSpPr>
          <p:cNvPr id="19" name="Text 17"/>
          <p:cNvSpPr txBox="1"/>
          <p:nvPr/>
        </p:nvSpPr>
        <p:spPr>
          <a:xfrm>
            <a:off x="10963656" y="1408176"/>
            <a:ext cx="502920" cy="402336"/>
          </a:xfrm>
          <a:prstGeom prst="rect">
            <a:avLst/>
          </a:prstGeom>
          <a:noFill/>
          <a:ln/>
        </p:spPr>
        <p:txBody>
          <a:bodyPr wrap="square" lIns="0" tIns="0" rIns="0" bIns="0" rtlCol="0" anchor="ctr"/>
          <a:lstStyle/>
          <a:p>
            <a:pPr algn="r" indent="0" marL="0">
              <a:buNone/>
            </a:pPr>
            <a:r>
              <a:rPr lang="en-US" sz="2600" b="1" dirty="0">
                <a:solidFill>
                  <a:srgbClr val="0B2C4A"/>
                </a:solidFill>
                <a:latin typeface="Inter" pitchFamily="34" charset="0"/>
                <a:ea typeface="Inter" pitchFamily="34" charset="-122"/>
                <a:cs typeface="Inter" pitchFamily="34" charset="-120"/>
              </a:rPr>
              <a:t>3</a:t>
            </a:r>
            <a:endParaRPr lang="en-US" sz="2600" dirty="0"/>
          </a:p>
        </p:txBody>
      </p:sp>
      <p:sp>
        <p:nvSpPr>
          <p:cNvPr id="20" name="Text 18"/>
          <p:cNvSpPr txBox="1"/>
          <p:nvPr/>
        </p:nvSpPr>
        <p:spPr>
          <a:xfrm>
            <a:off x="9004554" y="1920240"/>
            <a:ext cx="2434590" cy="3977640"/>
          </a:xfrm>
          <a:prstGeom prst="rect">
            <a:avLst/>
          </a:prstGeom>
          <a:noFill/>
          <a:ln/>
        </p:spPr>
        <p:txBody>
          <a:bodyPr wrap="square" lIns="0" tIns="0" rIns="0" bIns="0" rtlCol="0" anchor="t"/>
          <a:lstStyle/>
          <a:p>
            <a:pPr indent="0" marL="0">
              <a:spcAft>
                <a:spcPts val="300"/>
              </a:spcAft>
              <a:buNone/>
            </a:pPr>
            <a:r>
              <a:rPr lang="en-US" sz="1400" dirty="0">
                <a:solidFill>
                  <a:srgbClr val="1A1A1A"/>
                </a:solidFill>
                <a:latin typeface="Inter" pitchFamily="34" charset="0"/>
                <a:ea typeface="Inter" pitchFamily="34" charset="-122"/>
                <a:cs typeface="Inter" pitchFamily="34" charset="-120"/>
              </a:rPr>
              <a:t>ACURA</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300"/>
              </a:spcAft>
              <a:buNone/>
            </a:pPr>
            <a:r>
              <a:rPr lang="en-US" sz="1400" dirty="0">
                <a:solidFill>
                  <a:srgbClr val="1A1A1A"/>
                </a:solidFill>
                <a:latin typeface="Inter" pitchFamily="34" charset="0"/>
                <a:ea typeface="Inter" pitchFamily="34" charset="-122"/>
                <a:cs typeface="Inter" pitchFamily="34" charset="-120"/>
              </a:rPr>
              <a:t>SUBARU LV</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stores set a January–September record in gross profit and 21 in net profit; 18 did both.</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