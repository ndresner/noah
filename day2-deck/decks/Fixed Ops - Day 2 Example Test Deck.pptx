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262" r:id="rId8"/>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3" r:id="rId9"/>
    <p:sldId id="363" r:id="rId114"/>
    <p:sldId id="364" r:id="rId115"/>
    <p:sldId id="365" r:id="rId116"/>
    <p:sldId id="366" r:id="rId117"/>
    <p:sldId id="367" r:id="rId118"/>
    <p:sldId id="368" r:id="rId119"/>
    <p:sldId id="369" r:id="rId120"/>
    <p:sldId id="370" r:id="rId121"/>
    <p:sldId id="371" r:id="rId122"/>
    <p:sldId id="372" r:id="rId123"/>
    <p:sldId id="264" r:id="rId10"/>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5" r:id="rId11"/>
    <p:sldId id="403" r:id="rId154"/>
    <p:sldId id="404" r:id="rId155"/>
    <p:sldId id="405" r:id="rId156"/>
    <p:sldId id="406" r:id="rId157"/>
    <p:sldId id="407" r:id="rId158"/>
    <p:sldId id="408" r:id="rId159"/>
    <p:sldId id="266" r:id="rId12"/>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78.4</c:v>
                </c:pt>
                <c:pt idx="3">
                  <c:v>78.3</c:v>
                </c:pt>
                <c:pt idx="4">
                  <c:v>78.8</c:v>
                </c:pt>
                <c:pt idx="5">
                  <c:v>77.8</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78.4</c:v>
                </c:pt>
                <c:pt idx="3">
                  <c:v>78.3</c:v>
                </c:pt>
                <c:pt idx="4">
                  <c:v>78.8</c:v>
                </c:pt>
                <c:pt idx="5">
                  <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
                </c:pt>
                <c:pt idx="3">
                  <c:v/>
                </c:pt>
                <c:pt idx="4">
                  <c:v/>
                </c:pt>
                <c:pt idx="5">
                  <c:v>77.8</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
                </c:pt>
                <c:pt idx="3">
                  <c:v/>
                </c:pt>
                <c:pt idx="4">
                  <c:v/>
                </c:pt>
                <c:pt idx="5">
                  <c:v>78.3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77.9</c:v>
                </c:pt>
                <c:pt idx="3">
                  <c:v>78</c:v>
                </c:pt>
                <c:pt idx="4">
                  <c:v>78.5</c:v>
                </c:pt>
                <c:pt idx="5">
                  <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77.9</c:v>
                </c:pt>
                <c:pt idx="3">
                  <c:v>78</c:v>
                </c:pt>
                <c:pt idx="4">
                  <c:v>78.5</c:v>
                </c:pt>
                <c:pt idx="5">
                  <c:v>78.3</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36.4</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36.4</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36.7</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36.7</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A-E, Internal GP %, CP vs Internal GP % options A-B, Headcount trend, Best Techs options A-C,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and before Warranty RO Count.</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paid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paid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Proficiency = sold hours / paid hours, from store totals. Green at or above 85%, red below. Bars start at 40%.ACURA: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paid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paid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KIA ST GEORGE $657K → $862K; LEXUS $1.63M → $2.10M. Bottom SUBARU LV $5.12M → $5.04M; TOYOTA HENDERSON $13.04M → $12.85M; CHEVY LV $7.40M → $7.08M; AUDI RENO $3.38M → $2.90M; VW ST GEORGE $702K → $560K.</a:t>
            </a:r>
          </a:p>
          <a:p>
            <a:r>
              <a:t>CP RO Count: top KIA LV 7,156 → 8,133; HYUNDAI PRESCOTT 1,784 → 2,010; GMC PRESCOTT 2,810 → 3,107; SUBARU ST GEORGE 5,042 → 5,553; LR RENO 1,303 → 1,421. Bottom ACURA 3,910 → 3,671; HONDA SPOKANE 9,929 → 8,930; AUDI RENO 4,379 → 3,917; HYUNDAI ST GEORGE 3,784 → 3,349; VW ST GEORGE 2,251 → 1,919.</a:t>
            </a:r>
          </a:p>
          <a:p>
            <a:r>
              <a:t>CP Hours per RO: top HYUNDAI ST GEORGE 1.03 → 1.43; SUBARU ST GEORGE 1.75 → 2.30; KIA ST GEORGE 0.99 → 1.29; SUBARU PRESCOTT 1.34 → 1.60; KIA LV 1.32 → 1.57. Bottom CHEVY LV 2.37 → 2.30; AUDI RENO 2.88 → 2.73; VOLVO 2.58 → 2.28; VW ST GEORGE 1.95 → 1.71; LR RENO 4.04 → 3.48.</a:t>
            </a:r>
          </a:p>
          <a:p>
            <a:r>
              <a:t>CP ELR: top HONDA SPOKANE $117.05 → $143.89; VOLVO $181.59 → $222.12; LINCOLN $139.55 → $167.64; NISSAN $153.87 → $175.90; SUBARU PRESCOTT $122.25 → $139.13. Bottom AUDI HENDERSON $278.97 → $266.32; HYUNDAI PRESCOTT $136.71 → $130.46; ACURA $221.78 → $210.50; SUBARU ST GEORGE $148.84 → $138.48; KIA LV $184.36 → $149.23.</a:t>
            </a:r>
          </a:p>
          <a:p>
            <a:r>
              <a:t>CP Parts $ per RO: top LINCOLN $281 → $363; LEXUS $193 → $240; HYUNDAI ST GEORGE $181 → $219; HONDA FLAGSTAFF $179 → $212; SUBARU ST GEORGE $238 → $280. Bottom CADILLAC $358 → $350; VW ST GEORGE $266 → $259; LR RENO $876 → $814; AUDI RENO $596 → $542; KIA LV $227 → $193.</a:t>
            </a:r>
          </a:p>
          <a:p>
            <a:r>
              <a:t>CP Parts GP %: top ACURA 38.7% → 44.9%; NISSAN 38.2% → 42.7%; SUBARU PRESCOTT 31.0% → 34.8%; LINCOLN 33.7% → 37.0%; LR RENO 41.3% → 44.6%. Bottom HONDA HENDERSON 42.2% → 42.1%; TOYOTA FLAGSTAFF 37.4% → 36.9%;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VW ST GEORGE $54K → $66K; HYUNDAI PRESCOTT $49K → $60K. Bottom TOYOTA HENDERSON $1.38M → $1.42M; LINCOLN $140K → $139K; SUBARU ST GEORGE $220K → $218K; HONDA HENDERSON $841K → $823K; CADILLAC $317K → $283K.</a:t>
            </a:r>
          </a:p>
          <a:p>
            <a:r>
              <a:t>CP ROs per Month: top LEXUS 425 → 570; CDJR POST FALLS 543 → 667; LR LV 350 → 415; MAZDA 578 → 669; HONDA FLAGSTAFF 397 → 459. Bottom SUBARU PRESCOTT 559 → 565; AUDI RENO 428 → 429; VW ST GEORGE 207 → 203; HYUNDAI ST GEORGE 377 → 365; CADILLAC 609 → 582.</a:t>
            </a:r>
          </a:p>
          <a:p>
            <a:r>
              <a:t>CP Hours per RO: top MAZDA 1.35 → 1.65; HYUNDAI PRESCOTT 1.56 → 1.76; HYUNDAI ST GEORGE 1.37 → 1.54; KIA ST GEORGE 1.23 → 1.38; CHEVY GMC BULLHEAD 1.65 → 1.79. Bottom LEXUS 2.17 → 2.01; SUBARU ST GEORGE 2.43 → 2.20; HONDA HENDERSON 2.06 → 1.86; VW HENDERSON 2.66 → 2.37; CADILLAC 2.85 → 2.45.</a:t>
            </a:r>
          </a:p>
          <a:p>
            <a:r>
              <a:t>CP ELR: top VW ST GEORGE $128.27 → $141.89; AUDI RENO $227.34 → $244.12; HONDA SPOKANE $139.40 → $147.93; KIA LV $142.56 → $150.72; KIA ST GEORGE $139.09 → $146.04. Bottom LR LV $238.78 → $233.88; HONDA FLAGSTAFF $164.77 → $159.69; SUBARU ST GEORGE $141.07 → $136.71; LEXUS $196.84 → $187.42; ACURA $232.02 → $199.04.</a:t>
            </a:r>
          </a:p>
          <a:p>
            <a:r>
              <a:t>CP Parts $ per RO: top VW ST GEORGE $224 → $298; LR RENO $692 → $877; ACURA $229 → $282; HONDA FLAGSTAFF $200 → $234; HYUNDAI ST GEORGE $204 → $234. Bottom SUBARU ST GEORGE $286 → $277; TOYOTA FLAGSTAFF $147 → $142; LR LV $873 → $834; GMC PRESCOTT $299 → $282; HONDA HENDERSON $190 → $178.</a:t>
            </a:r>
          </a:p>
          <a:p>
            <a:r>
              <a:t>CP Parts GP %: top ACURA 39.4% → 46.6%; VW ST GEORGE 39.1% → 43.8%; GMC PRESCOTT 35.3% → 39.2%; AUDI RENO 41.1% → 44.0%; TOYOTA HENDERSON 39.4% → 41.7%. Bottom LR HENDERSON 44.2% → 42.1%; NISSAN 44.5% → 41.3%;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E - door rate by store with premium rates, split by labor grid. Store door rate sheet (Oct 15 2026); averages weighted by Jul-Sep CP sold hours. Bars start at $100.</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xml"/><Relationship Id="rId3" Type="http://schemas.openxmlformats.org/officeDocument/2006/relationships/chart" Target="../charts/chart22.xml"/><Relationship Id="rId4" Type="http://schemas.openxmlformats.org/officeDocument/2006/relationships/chart" Target="../charts/chart23.xml"/><Relationship Id="rId5" Type="http://schemas.openxmlformats.org/officeDocument/2006/relationships/chart" Target="../charts/chart24.xml"/><Relationship Id="rId6" Type="http://schemas.openxmlformats.org/officeDocument/2006/relationships/chart" Target="../charts/chart25.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xml"/><Relationship Id="rId3" Type="http://schemas.openxmlformats.org/officeDocument/2006/relationships/chart" Target="../charts/chart32.xml"/><Relationship Id="rId4" Type="http://schemas.openxmlformats.org/officeDocument/2006/relationships/chart" Target="../charts/chart33.xml"/><Relationship Id="rId5" Type="http://schemas.openxmlformats.org/officeDocument/2006/relationships/chart" Target="../charts/chart34.xml"/><Relationship Id="rId6" Type="http://schemas.openxmlformats.org/officeDocument/2006/relationships/chart" Target="../charts/chart35.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xml"/><Relationship Id="rId3" Type="http://schemas.openxmlformats.org/officeDocument/2006/relationships/chart" Target="../charts/chart37.xml"/><Relationship Id="rId4" Type="http://schemas.openxmlformats.org/officeDocument/2006/relationships/chart" Target="../charts/chart38.xml"/><Relationship Id="rId5" Type="http://schemas.openxmlformats.org/officeDocument/2006/relationships/chart" Target="../charts/chart39.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0.xml"/><Relationship Id="rId3" Type="http://schemas.openxmlformats.org/officeDocument/2006/relationships/chart" Target="../charts/chart41.xml"/><Relationship Id="rId4" Type="http://schemas.openxmlformats.org/officeDocument/2006/relationships/chart" Target="../charts/chart42.xml"/><Relationship Id="rId5" Type="http://schemas.openxmlformats.org/officeDocument/2006/relationships/chart" Target="../charts/chart43.xml"/><Relationship Id="rId6" Type="http://schemas.openxmlformats.org/officeDocument/2006/relationships/chart" Target="../charts/chart44.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4.xml"/><Relationship Id="rId3" Type="http://schemas.openxmlformats.org/officeDocument/2006/relationships/chart" Target="../charts/chart65.xml"/><Relationship Id="rId4" Type="http://schemas.openxmlformats.org/officeDocument/2006/relationships/chart" Target="../charts/chart66.xml"/><Relationship Id="rId5" Type="http://schemas.openxmlformats.org/officeDocument/2006/relationships/chart" Target="../charts/chart67.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xml"/><Relationship Id="rId3" Type="http://schemas.openxmlformats.org/officeDocument/2006/relationships/chart" Target="../charts/chart74.xml"/><Relationship Id="rId4" Type="http://schemas.openxmlformats.org/officeDocument/2006/relationships/chart" Target="../charts/chart75.xml"/><Relationship Id="rId5" Type="http://schemas.openxmlformats.org/officeDocument/2006/relationships/chart" Target="../charts/chart76.xml"/><Relationship Id="rId6" Type="http://schemas.openxmlformats.org/officeDocument/2006/relationships/chart" Target="../charts/chart77.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8.xml"/><Relationship Id="rId3" Type="http://schemas.openxmlformats.org/officeDocument/2006/relationships/chart" Target="../charts/chart89.xml"/><Relationship Id="rId4" Type="http://schemas.openxmlformats.org/officeDocument/2006/relationships/chart" Target="../charts/chart90.xml"/><Relationship Id="rId5" Type="http://schemas.openxmlformats.org/officeDocument/2006/relationships/chart" Target="../charts/chart91.xml"/><Relationship Id="rId6" Type="http://schemas.openxmlformats.org/officeDocument/2006/relationships/chart" Target="../charts/chart92.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7.xml"/><Relationship Id="rId3" Type="http://schemas.openxmlformats.org/officeDocument/2006/relationships/chart" Target="../charts/chart98.xml"/><Relationship Id="rId4" Type="http://schemas.openxmlformats.org/officeDocument/2006/relationships/chart" Target="../charts/chart99.xml"/><Relationship Id="rId5" Type="http://schemas.openxmlformats.org/officeDocument/2006/relationships/chart" Target="../charts/chart100.xml"/><Relationship Id="rId6" Type="http://schemas.openxmlformats.org/officeDocument/2006/relationships/chart" Target="../charts/chart101.xml"/><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2.xml"/><Relationship Id="rId3" Type="http://schemas.openxmlformats.org/officeDocument/2006/relationships/chart" Target="../charts/chart103.xml"/><Relationship Id="rId4" Type="http://schemas.openxmlformats.org/officeDocument/2006/relationships/chart" Target="../charts/chart104.xml"/><Relationship Id="rId5" Type="http://schemas.openxmlformats.org/officeDocument/2006/relationships/chart" Target="../charts/chart105.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6.xml"/><Relationship Id="rId3" Type="http://schemas.openxmlformats.org/officeDocument/2006/relationships/chart" Target="../charts/chart107.xml"/><Relationship Id="rId4" Type="http://schemas.openxmlformats.org/officeDocument/2006/relationships/chart" Target="../charts/chart108.xml"/><Relationship Id="rId5" Type="http://schemas.openxmlformats.org/officeDocument/2006/relationships/chart" Target="../charts/chart109.xml"/><Relationship Id="rId6" Type="http://schemas.openxmlformats.org/officeDocument/2006/relationships/chart" Target="../charts/chart110.xml"/><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5.xml"/><Relationship Id="rId3" Type="http://schemas.openxmlformats.org/officeDocument/2006/relationships/chart" Target="../charts/chart116.xml"/><Relationship Id="rId4" Type="http://schemas.openxmlformats.org/officeDocument/2006/relationships/chart" Target="../charts/chart117.xml"/><Relationship Id="rId5" Type="http://schemas.openxmlformats.org/officeDocument/2006/relationships/chart" Target="../charts/chart118.xml"/><Relationship Id="rId6" Type="http://schemas.openxmlformats.org/officeDocument/2006/relationships/chart" Target="../charts/chart119.xml"/><Relationship Id="rId7"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0.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1.xml"/><Relationship Id="rId3" Type="http://schemas.openxmlformats.org/officeDocument/2006/relationships/chart" Target="../charts/chart122.xml"/><Relationship Id="rId4" Type="http://schemas.openxmlformats.org/officeDocument/2006/relationships/chart" Target="../charts/chart123.xml"/><Relationship Id="rId5" Type="http://schemas.openxmlformats.org/officeDocument/2006/relationships/chart" Target="../charts/chart124.xml"/><Relationship Id="rId6"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chart" Target="../charts/chart129.xml"/><Relationship Id="rId7" Type="http://schemas.openxmlformats.org/officeDocument/2006/relationships/chart" Target="../charts/chart130.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1.xml"/><Relationship Id="rId3" Type="http://schemas.openxmlformats.org/officeDocument/2006/relationships/chart" Target="../charts/chart132.xml"/><Relationship Id="rId4" Type="http://schemas.openxmlformats.org/officeDocument/2006/relationships/chart" Target="../charts/chart133.xml"/><Relationship Id="rId5" Type="http://schemas.openxmlformats.org/officeDocument/2006/relationships/chart" Target="../charts/chart134.xml"/><Relationship Id="rId6"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4.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8.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0.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2.xml"/><Relationship Id="rId3" Type="http://schemas.openxmlformats.org/officeDocument/2006/relationships/chart" Target="../charts/chart163.xml"/><Relationship Id="rId4" Type="http://schemas.openxmlformats.org/officeDocument/2006/relationships/chart" Target="../charts/chart164.xml"/><Relationship Id="rId5" Type="http://schemas.openxmlformats.org/officeDocument/2006/relationships/chart" Target="../charts/chart165.xml"/><Relationship Id="rId6" Type="http://schemas.openxmlformats.org/officeDocument/2006/relationships/chart" Target="../charts/chart166.xml"/><Relationship Id="rId7" Type="http://schemas.openxmlformats.org/officeDocument/2006/relationships/chart" Target="../charts/chart167.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8.xml"/><Relationship Id="rId3" Type="http://schemas.openxmlformats.org/officeDocument/2006/relationships/chart" Target="../charts/chart169.xml"/><Relationship Id="rId4" Type="http://schemas.openxmlformats.org/officeDocument/2006/relationships/chart" Target="../charts/chart170.xml"/><Relationship Id="rId5" Type="http://schemas.openxmlformats.org/officeDocument/2006/relationships/chart" Target="../charts/chart171.xml"/><Relationship Id="rId6" Type="http://schemas.openxmlformats.org/officeDocument/2006/relationships/chart" Target="../charts/chart172.xml"/><Relationship Id="rId7" Type="http://schemas.openxmlformats.org/officeDocument/2006/relationships/chart" Target="../charts/chart173.xml"/><Relationship Id="rId8"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4.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chart" Target="../charts/chart181.xml"/><Relationship Id="rId9" Type="http://schemas.openxmlformats.org/officeDocument/2006/relationships/chart" Target="../charts/chart182.xml"/><Relationship Id="rId10" Type="http://schemas.openxmlformats.org/officeDocument/2006/relationships/chart" Target="../charts/chart183.xml"/><Relationship Id="rId11" Type="http://schemas.openxmlformats.org/officeDocument/2006/relationships/chart" Target="../charts/chart184.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chart" Target="../charts/chart191.xml"/><Relationship Id="rId9" Type="http://schemas.openxmlformats.org/officeDocument/2006/relationships/chart" Target="../charts/chart192.xml"/><Relationship Id="rId10" Type="http://schemas.openxmlformats.org/officeDocument/2006/relationships/chart" Target="../charts/chart193.xml"/><Relationship Id="rId11" Type="http://schemas.openxmlformats.org/officeDocument/2006/relationships/chart" Target="../charts/chart194.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5.xml"/><Relationship Id="rId3" Type="http://schemas.openxmlformats.org/officeDocument/2006/relationships/chart" Target="../charts/chart196.xml"/><Relationship Id="rId4" Type="http://schemas.openxmlformats.org/officeDocument/2006/relationships/chart" Target="../charts/chart197.xml"/><Relationship Id="rId5" Type="http://schemas.openxmlformats.org/officeDocument/2006/relationships/chart" Target="../charts/chart198.xml"/><Relationship Id="rId6" Type="http://schemas.openxmlformats.org/officeDocument/2006/relationships/chart" Target="../charts/chart199.xml"/><Relationship Id="rId7" Type="http://schemas.openxmlformats.org/officeDocument/2006/relationships/chart" Target="../charts/chart200.xml"/><Relationship Id="rId8" Type="http://schemas.openxmlformats.org/officeDocument/2006/relationships/chart" Target="../charts/chart201.xml"/><Relationship Id="rId9" Type="http://schemas.openxmlformats.org/officeDocument/2006/relationships/chart" Target="../charts/chart202.xml"/><Relationship Id="rId10" Type="http://schemas.openxmlformats.org/officeDocument/2006/relationships/chart" Target="../charts/chart203.xml"/><Relationship Id="rId11" Type="http://schemas.openxmlformats.org/officeDocument/2006/relationships/chart" Target="../charts/chart204.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chart" Target="../charts/chart206.xml"/><Relationship Id="rId4" Type="http://schemas.openxmlformats.org/officeDocument/2006/relationships/chart" Target="../charts/chart207.xml"/><Relationship Id="rId5" Type="http://schemas.openxmlformats.org/officeDocument/2006/relationships/chart" Target="../charts/chart208.xml"/><Relationship Id="rId6" Type="http://schemas.openxmlformats.org/officeDocument/2006/relationships/chart" Target="../charts/chart209.xml"/><Relationship Id="rId7" Type="http://schemas.openxmlformats.org/officeDocument/2006/relationships/chart" Target="../charts/chart210.xml"/><Relationship Id="rId8" Type="http://schemas.openxmlformats.org/officeDocument/2006/relationships/chart" Target="../charts/chart211.xml"/><Relationship Id="rId9" Type="http://schemas.openxmlformats.org/officeDocument/2006/relationships/chart" Target="../charts/chart212.xml"/><Relationship Id="rId10" Type="http://schemas.openxmlformats.org/officeDocument/2006/relationships/chart" Target="../charts/chart213.xml"/><Relationship Id="rId11" Type="http://schemas.openxmlformats.org/officeDocument/2006/relationships/chart" Target="../charts/chart214.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5.xml"/><Relationship Id="rId3" Type="http://schemas.openxmlformats.org/officeDocument/2006/relationships/chart" Target="../charts/chart216.xml"/><Relationship Id="rId4" Type="http://schemas.openxmlformats.org/officeDocument/2006/relationships/chart" Target="../charts/chart217.xml"/><Relationship Id="rId5" Type="http://schemas.openxmlformats.org/officeDocument/2006/relationships/chart" Target="../charts/chart218.xml"/><Relationship Id="rId6" Type="http://schemas.openxmlformats.org/officeDocument/2006/relationships/chart" Target="../charts/chart219.xml"/><Relationship Id="rId7" Type="http://schemas.openxmlformats.org/officeDocument/2006/relationships/chart" Target="../charts/chart220.xml"/><Relationship Id="rId8" Type="http://schemas.openxmlformats.org/officeDocument/2006/relationships/chart" Target="../charts/chart221.xml"/><Relationship Id="rId9" Type="http://schemas.openxmlformats.org/officeDocument/2006/relationships/chart" Target="../charts/chart222.xml"/><Relationship Id="rId10" Type="http://schemas.openxmlformats.org/officeDocument/2006/relationships/chart" Target="../charts/chart223.xml"/><Relationship Id="rId11" Type="http://schemas.openxmlformats.org/officeDocument/2006/relationships/chart" Target="../charts/chart224.xml"/><Relationship Id="rId1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5.xml"/><Relationship Id="rId3" Type="http://schemas.openxmlformats.org/officeDocument/2006/relationships/chart" Target="../charts/chart226.xml"/><Relationship Id="rId4" Type="http://schemas.openxmlformats.org/officeDocument/2006/relationships/chart" Target="../charts/chart227.xml"/><Relationship Id="rId5" Type="http://schemas.openxmlformats.org/officeDocument/2006/relationships/chart" Target="../charts/chart228.xml"/><Relationship Id="rId6" Type="http://schemas.openxmlformats.org/officeDocument/2006/relationships/chart" Target="../charts/chart229.xml"/><Relationship Id="rId7" Type="http://schemas.openxmlformats.org/officeDocument/2006/relationships/chart" Target="../charts/chart230.xml"/><Relationship Id="rId8" Type="http://schemas.openxmlformats.org/officeDocument/2006/relationships/chart" Target="../charts/chart231.xml"/><Relationship Id="rId9" Type="http://schemas.openxmlformats.org/officeDocument/2006/relationships/chart" Target="../charts/chart232.xml"/><Relationship Id="rId10" Type="http://schemas.openxmlformats.org/officeDocument/2006/relationships/chart" Target="../charts/chart233.xml"/><Relationship Id="rId11" Type="http://schemas.openxmlformats.org/officeDocument/2006/relationships/chart" Target="../charts/chart234.xml"/><Relationship Id="rId1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ROs and rate, internal rate and margin.</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Internal GP %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risk of judgement: your success is our success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Customer first, company second, team third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You get what you tolerate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Leverage the power in this room: collaboration</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−8,873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ROs, down to 126,891. Volume follows OEM campaigns and recalls.</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FBEBEA"/>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paid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paid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Paid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paid time</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paid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paid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techs, express techs, team leaders and shop foremen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Same-store: INEOS excluded</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Paid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paid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Jan–Sep 2026 vs Jan–Sep 2025</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+46.0%</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+31.0%</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−14.1%</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−20.1%</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+13.6%</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+12.6%</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+10.5%</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−10.5%</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−11.4%</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−14.7%</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+30.7%</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+19.5%</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−11.7%</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−12.5%</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−13.7%</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+20.1%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−19.0%</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+24.7%</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+21.0%</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−2.2%</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−9.0%</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−15.0%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+3.8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0.0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−0.4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−0.5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Lincoln, Subaru Prescott, Subaru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Audi Reno, VW St George (4 of 6).</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Q3 2026 vs Q1 2026 (gross and ROs per month). Group change = the season.</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+27.8%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+23.2%</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+22.0%</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−0.2%</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−0.9%</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+18.6%</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+15.8%</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+15.5%</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−4.3%</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+8.6%</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−9.5%</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−9.9%</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−10.6%</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−14.0%</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+5.7%</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+5.0%</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−4.7%</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−14.2%</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+15.0%</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−3.4%</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−5.6%</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+2.9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−4.2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VW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Subaru St George, Honda Henderson (4 of 6).</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Shape 4"/>
          <p:cNvSpPr/>
          <p:nvPr/>
        </p:nvSpPr>
        <p:spPr>
          <a:xfrm>
            <a:off x="685800" y="1371600"/>
            <a:ext cx="237744" cy="201168"/>
          </a:xfrm>
          <a:prstGeom prst="rect">
            <a:avLst/>
          </a:prstGeom>
          <a:solidFill>
            <a:srgbClr val="C2352F"/>
          </a:solidFill>
          <a:ln/>
        </p:spPr>
      </p:sp>
      <p:sp>
        <p:nvSpPr>
          <p:cNvPr id="7" name="Text 5"/>
          <p:cNvSpPr txBox="1"/>
          <p:nvPr/>
        </p:nvSpPr>
        <p:spPr>
          <a:xfrm>
            <a:off x="101498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Store today</a:t>
            </a:r>
            <a:endParaRPr lang="en-US" sz="1500" dirty="0"/>
          </a:p>
        </p:txBody>
      </p:sp>
      <p:sp>
        <p:nvSpPr>
          <p:cNvPr id="8" name="Shape 6"/>
          <p:cNvSpPr/>
          <p:nvPr/>
        </p:nvSpPr>
        <p:spPr>
          <a:xfrm>
            <a:off x="3063240" y="1371600"/>
            <a:ext cx="237744" cy="201168"/>
          </a:xfrm>
          <a:prstGeom prst="rect">
            <a:avLst/>
          </a:prstGeom>
          <a:solidFill>
            <a:srgbClr val="12A566"/>
          </a:solidFill>
          <a:ln/>
        </p:spPr>
      </p:sp>
      <p:sp>
        <p:nvSpPr>
          <p:cNvPr id="9" name="Text 7"/>
          <p:cNvSpPr txBox="1"/>
          <p:nvPr/>
        </p:nvSpPr>
        <p:spPr>
          <a:xfrm>
            <a:off x="339242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Its best techs</a:t>
            </a:r>
            <a:endParaRPr lang="en-US" sz="1500" dirty="0"/>
          </a:p>
        </p:txBody>
      </p:sp>
      <p:sp>
        <p:nvSpPr>
          <p:cNvPr id="10" name="Text 8"/>
          <p:cNvSpPr txBox="1"/>
          <p:nvPr/>
        </p:nvSpPr>
        <p:spPr>
          <a:xfrm>
            <a:off x="6260592" y="1298448"/>
            <a:ext cx="1828800" cy="347472"/>
          </a:xfrm>
          <a:prstGeom prst="rect">
            <a:avLst/>
          </a:prstGeom>
          <a:noFill/>
          <a:ln/>
        </p:spPr>
        <p:txBody>
          <a:bodyPr wrap="square" lIns="0" tIns="0" rIns="0" bIns="0" rtlCol="0" anchor="ctr"/>
          <a:lstStyle/>
          <a:p>
            <a:pPr algn="ctr" indent="0" marL="0">
              <a:buNone/>
            </a:pPr>
            <a:r>
              <a:rPr lang="en-US" sz="1400" b="1" spc="80" kern="0" dirty="0">
                <a:solidFill>
                  <a:srgbClr val="0B2C4A"/>
                </a:solidFill>
                <a:latin typeface="Inter" pitchFamily="34" charset="0"/>
                <a:ea typeface="Inter" pitchFamily="34" charset="-122"/>
                <a:cs typeface="Inter" pitchFamily="34" charset="-120"/>
              </a:rPr>
              <a:t>TARGET 85%</a:t>
            </a:r>
            <a:endParaRPr lang="en-US" sz="1400" dirty="0"/>
          </a:p>
        </p:txBody>
      </p:sp>
      <p:sp>
        <p:nvSpPr>
          <p:cNvPr id="11" name="Text 9"/>
          <p:cNvSpPr txBox="1"/>
          <p:nvPr/>
        </p:nvSpPr>
        <p:spPr>
          <a:xfrm>
            <a:off x="685800" y="1783080"/>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 name="Shape 10"/>
          <p:cNvSpPr/>
          <p:nvPr/>
        </p:nvSpPr>
        <p:spPr>
          <a:xfrm>
            <a:off x="2926080" y="1813326"/>
            <a:ext cx="3370700" cy="108884"/>
          </a:xfrm>
          <a:prstGeom prst="rect">
            <a:avLst/>
          </a:prstGeom>
          <a:solidFill>
            <a:srgbClr val="C2352F"/>
          </a:solidFill>
          <a:ln/>
        </p:spPr>
      </p:sp>
      <p:sp>
        <p:nvSpPr>
          <p:cNvPr id="13" name="Text 11"/>
          <p:cNvSpPr txBox="1"/>
          <p:nvPr/>
        </p:nvSpPr>
        <p:spPr>
          <a:xfrm>
            <a:off x="6351644" y="176760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4" name="Shape 12"/>
          <p:cNvSpPr/>
          <p:nvPr/>
        </p:nvSpPr>
        <p:spPr>
          <a:xfrm>
            <a:off x="2926080" y="1940497"/>
            <a:ext cx="3685208" cy="108884"/>
          </a:xfrm>
          <a:prstGeom prst="rect">
            <a:avLst/>
          </a:prstGeom>
          <a:solidFill>
            <a:srgbClr val="C2352F"/>
          </a:solidFill>
          <a:ln/>
        </p:spPr>
      </p:sp>
      <p:sp>
        <p:nvSpPr>
          <p:cNvPr id="15" name="Text 13"/>
          <p:cNvSpPr txBox="1"/>
          <p:nvPr/>
        </p:nvSpPr>
        <p:spPr>
          <a:xfrm>
            <a:off x="6666152" y="189477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16" name="Text 14"/>
          <p:cNvSpPr txBox="1"/>
          <p:nvPr/>
        </p:nvSpPr>
        <p:spPr>
          <a:xfrm>
            <a:off x="685800" y="208553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 name="Shape 15"/>
          <p:cNvSpPr/>
          <p:nvPr/>
        </p:nvSpPr>
        <p:spPr>
          <a:xfrm>
            <a:off x="2926080" y="2115781"/>
            <a:ext cx="3374819" cy="108884"/>
          </a:xfrm>
          <a:prstGeom prst="rect">
            <a:avLst/>
          </a:prstGeom>
          <a:solidFill>
            <a:srgbClr val="C2352F"/>
          </a:solidFill>
          <a:ln/>
        </p:spPr>
      </p:sp>
      <p:sp>
        <p:nvSpPr>
          <p:cNvPr id="18" name="Text 16"/>
          <p:cNvSpPr txBox="1"/>
          <p:nvPr/>
        </p:nvSpPr>
        <p:spPr>
          <a:xfrm>
            <a:off x="6355763" y="2070061"/>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9" name="Shape 17"/>
          <p:cNvSpPr/>
          <p:nvPr/>
        </p:nvSpPr>
        <p:spPr>
          <a:xfrm>
            <a:off x="2926080" y="2242953"/>
            <a:ext cx="4893845" cy="108884"/>
          </a:xfrm>
          <a:prstGeom prst="rect">
            <a:avLst/>
          </a:prstGeom>
          <a:solidFill>
            <a:srgbClr val="12A566"/>
          </a:solidFill>
          <a:ln/>
        </p:spPr>
      </p:sp>
      <p:sp>
        <p:nvSpPr>
          <p:cNvPr id="20" name="Text 18"/>
          <p:cNvSpPr txBox="1"/>
          <p:nvPr/>
        </p:nvSpPr>
        <p:spPr>
          <a:xfrm>
            <a:off x="7874789" y="2197233"/>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685800" y="2387991"/>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2926080" y="2418236"/>
            <a:ext cx="3419949" cy="108884"/>
          </a:xfrm>
          <a:prstGeom prst="rect">
            <a:avLst/>
          </a:prstGeom>
          <a:solidFill>
            <a:srgbClr val="C2352F"/>
          </a:solidFill>
          <a:ln/>
        </p:spPr>
      </p:sp>
      <p:sp>
        <p:nvSpPr>
          <p:cNvPr id="23" name="Text 21"/>
          <p:cNvSpPr txBox="1"/>
          <p:nvPr/>
        </p:nvSpPr>
        <p:spPr>
          <a:xfrm>
            <a:off x="6400893" y="237251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68%</a:t>
            </a:r>
            <a:endParaRPr lang="en-US" sz="1300" dirty="0"/>
          </a:p>
        </p:txBody>
      </p:sp>
      <p:sp>
        <p:nvSpPr>
          <p:cNvPr id="24" name="Shape 22"/>
          <p:cNvSpPr/>
          <p:nvPr/>
        </p:nvSpPr>
        <p:spPr>
          <a:xfrm>
            <a:off x="2926080" y="2545408"/>
            <a:ext cx="4823383" cy="108884"/>
          </a:xfrm>
          <a:prstGeom prst="rect">
            <a:avLst/>
          </a:prstGeom>
          <a:solidFill>
            <a:srgbClr val="12A566"/>
          </a:solidFill>
          <a:ln/>
        </p:spPr>
      </p:sp>
      <p:sp>
        <p:nvSpPr>
          <p:cNvPr id="25" name="Text 23"/>
          <p:cNvSpPr txBox="1"/>
          <p:nvPr/>
        </p:nvSpPr>
        <p:spPr>
          <a:xfrm>
            <a:off x="7804327" y="2499688"/>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26" name="Text 24"/>
          <p:cNvSpPr txBox="1"/>
          <p:nvPr/>
        </p:nvSpPr>
        <p:spPr>
          <a:xfrm>
            <a:off x="685800" y="2690446"/>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7" name="Shape 25"/>
          <p:cNvSpPr/>
          <p:nvPr/>
        </p:nvSpPr>
        <p:spPr>
          <a:xfrm>
            <a:off x="2926080" y="2720692"/>
            <a:ext cx="3450317" cy="108884"/>
          </a:xfrm>
          <a:prstGeom prst="rect">
            <a:avLst/>
          </a:prstGeom>
          <a:solidFill>
            <a:srgbClr val="C2352F"/>
          </a:solidFill>
          <a:ln/>
        </p:spPr>
      </p:sp>
      <p:sp>
        <p:nvSpPr>
          <p:cNvPr id="28" name="Text 26"/>
          <p:cNvSpPr txBox="1"/>
          <p:nvPr/>
        </p:nvSpPr>
        <p:spPr>
          <a:xfrm>
            <a:off x="6431261" y="267497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2926080" y="2847864"/>
            <a:ext cx="6109385" cy="108884"/>
          </a:xfrm>
          <a:prstGeom prst="rect">
            <a:avLst/>
          </a:prstGeom>
          <a:solidFill>
            <a:srgbClr val="12A566"/>
          </a:solidFill>
          <a:ln/>
        </p:spPr>
      </p:sp>
      <p:sp>
        <p:nvSpPr>
          <p:cNvPr id="30" name="Text 28"/>
          <p:cNvSpPr txBox="1"/>
          <p:nvPr/>
        </p:nvSpPr>
        <p:spPr>
          <a:xfrm>
            <a:off x="9090329" y="280214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122%</a:t>
            </a:r>
            <a:endParaRPr lang="en-US" sz="1300" dirty="0"/>
          </a:p>
        </p:txBody>
      </p:sp>
      <p:sp>
        <p:nvSpPr>
          <p:cNvPr id="31" name="Text 29"/>
          <p:cNvSpPr txBox="1"/>
          <p:nvPr/>
        </p:nvSpPr>
        <p:spPr>
          <a:xfrm>
            <a:off x="685800" y="299290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2" name="Shape 30"/>
          <p:cNvSpPr/>
          <p:nvPr/>
        </p:nvSpPr>
        <p:spPr>
          <a:xfrm>
            <a:off x="2926080" y="3023147"/>
            <a:ext cx="3500688" cy="108884"/>
          </a:xfrm>
          <a:prstGeom prst="rect">
            <a:avLst/>
          </a:prstGeom>
          <a:solidFill>
            <a:srgbClr val="C2352F"/>
          </a:solidFill>
          <a:ln/>
        </p:spPr>
      </p:sp>
      <p:sp>
        <p:nvSpPr>
          <p:cNvPr id="33" name="Text 31"/>
          <p:cNvSpPr txBox="1"/>
          <p:nvPr/>
        </p:nvSpPr>
        <p:spPr>
          <a:xfrm>
            <a:off x="6481632" y="297742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70%</a:t>
            </a:r>
            <a:endParaRPr lang="en-US" sz="1300" dirty="0"/>
          </a:p>
        </p:txBody>
      </p:sp>
      <p:sp>
        <p:nvSpPr>
          <p:cNvPr id="34" name="Shape 32"/>
          <p:cNvSpPr/>
          <p:nvPr/>
        </p:nvSpPr>
        <p:spPr>
          <a:xfrm>
            <a:off x="2926080" y="3150319"/>
            <a:ext cx="3805987" cy="108884"/>
          </a:xfrm>
          <a:prstGeom prst="rect">
            <a:avLst/>
          </a:prstGeom>
          <a:solidFill>
            <a:srgbClr val="C2352F"/>
          </a:solidFill>
          <a:ln/>
        </p:spPr>
      </p:sp>
      <p:sp>
        <p:nvSpPr>
          <p:cNvPr id="35" name="Text 33"/>
          <p:cNvSpPr txBox="1"/>
          <p:nvPr/>
        </p:nvSpPr>
        <p:spPr>
          <a:xfrm>
            <a:off x="6786931" y="310459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36" name="Text 34"/>
          <p:cNvSpPr txBox="1"/>
          <p:nvPr/>
        </p:nvSpPr>
        <p:spPr>
          <a:xfrm>
            <a:off x="685800" y="3295357"/>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7" name="Shape 35"/>
          <p:cNvSpPr/>
          <p:nvPr/>
        </p:nvSpPr>
        <p:spPr>
          <a:xfrm>
            <a:off x="2926080" y="3325602"/>
            <a:ext cx="3559153" cy="108884"/>
          </a:xfrm>
          <a:prstGeom prst="rect">
            <a:avLst/>
          </a:prstGeom>
          <a:solidFill>
            <a:srgbClr val="C2352F"/>
          </a:solidFill>
          <a:ln/>
        </p:spPr>
      </p:sp>
      <p:sp>
        <p:nvSpPr>
          <p:cNvPr id="38" name="Text 36"/>
          <p:cNvSpPr txBox="1"/>
          <p:nvPr/>
        </p:nvSpPr>
        <p:spPr>
          <a:xfrm>
            <a:off x="6540097" y="327988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71%</a:t>
            </a:r>
            <a:endParaRPr lang="en-US" sz="1300" dirty="0"/>
          </a:p>
        </p:txBody>
      </p:sp>
      <p:sp>
        <p:nvSpPr>
          <p:cNvPr id="39" name="Shape 37"/>
          <p:cNvSpPr/>
          <p:nvPr/>
        </p:nvSpPr>
        <p:spPr>
          <a:xfrm>
            <a:off x="2926080" y="3452774"/>
            <a:ext cx="6444184" cy="108884"/>
          </a:xfrm>
          <a:prstGeom prst="rect">
            <a:avLst/>
          </a:prstGeom>
          <a:solidFill>
            <a:srgbClr val="12A566"/>
          </a:solidFill>
          <a:ln/>
        </p:spPr>
      </p:sp>
      <p:sp>
        <p:nvSpPr>
          <p:cNvPr id="40" name="Text 38"/>
          <p:cNvSpPr txBox="1"/>
          <p:nvPr/>
        </p:nvSpPr>
        <p:spPr>
          <a:xfrm>
            <a:off x="9425128" y="340705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128%</a:t>
            </a:r>
            <a:endParaRPr lang="en-US" sz="1300" dirty="0"/>
          </a:p>
        </p:txBody>
      </p:sp>
      <p:sp>
        <p:nvSpPr>
          <p:cNvPr id="41" name="Text 39"/>
          <p:cNvSpPr txBox="1"/>
          <p:nvPr/>
        </p:nvSpPr>
        <p:spPr>
          <a:xfrm>
            <a:off x="685800" y="359781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2" name="Shape 40"/>
          <p:cNvSpPr/>
          <p:nvPr/>
        </p:nvSpPr>
        <p:spPr>
          <a:xfrm>
            <a:off x="2926080" y="3628058"/>
            <a:ext cx="3618668" cy="108884"/>
          </a:xfrm>
          <a:prstGeom prst="rect">
            <a:avLst/>
          </a:prstGeom>
          <a:solidFill>
            <a:srgbClr val="C2352F"/>
          </a:solidFill>
          <a:ln/>
        </p:spPr>
      </p:sp>
      <p:sp>
        <p:nvSpPr>
          <p:cNvPr id="43" name="Text 41"/>
          <p:cNvSpPr txBox="1"/>
          <p:nvPr/>
        </p:nvSpPr>
        <p:spPr>
          <a:xfrm>
            <a:off x="6599612" y="3582338"/>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72%</a:t>
            </a:r>
            <a:endParaRPr lang="en-US" sz="1300" dirty="0"/>
          </a:p>
        </p:txBody>
      </p:sp>
      <p:sp>
        <p:nvSpPr>
          <p:cNvPr id="44" name="Shape 42"/>
          <p:cNvSpPr/>
          <p:nvPr/>
        </p:nvSpPr>
        <p:spPr>
          <a:xfrm>
            <a:off x="2926080" y="3755230"/>
            <a:ext cx="4448406" cy="108884"/>
          </a:xfrm>
          <a:prstGeom prst="rect">
            <a:avLst/>
          </a:prstGeom>
          <a:solidFill>
            <a:srgbClr val="12A566"/>
          </a:solidFill>
          <a:ln/>
        </p:spPr>
      </p:sp>
      <p:sp>
        <p:nvSpPr>
          <p:cNvPr id="45" name="Text 43"/>
          <p:cNvSpPr txBox="1"/>
          <p:nvPr/>
        </p:nvSpPr>
        <p:spPr>
          <a:xfrm>
            <a:off x="7429350" y="3709510"/>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88%</a:t>
            </a:r>
            <a:endParaRPr lang="en-US" sz="1300" dirty="0"/>
          </a:p>
        </p:txBody>
      </p:sp>
      <p:sp>
        <p:nvSpPr>
          <p:cNvPr id="46" name="Text 44"/>
          <p:cNvSpPr txBox="1"/>
          <p:nvPr/>
        </p:nvSpPr>
        <p:spPr>
          <a:xfrm>
            <a:off x="685800" y="390026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7" name="Shape 45"/>
          <p:cNvSpPr/>
          <p:nvPr/>
        </p:nvSpPr>
        <p:spPr>
          <a:xfrm>
            <a:off x="2926080" y="3930513"/>
            <a:ext cx="3679421" cy="108884"/>
          </a:xfrm>
          <a:prstGeom prst="rect">
            <a:avLst/>
          </a:prstGeom>
          <a:solidFill>
            <a:srgbClr val="C2352F"/>
          </a:solidFill>
          <a:ln/>
        </p:spPr>
      </p:sp>
      <p:sp>
        <p:nvSpPr>
          <p:cNvPr id="48" name="Text 46"/>
          <p:cNvSpPr txBox="1"/>
          <p:nvPr/>
        </p:nvSpPr>
        <p:spPr>
          <a:xfrm>
            <a:off x="6660365" y="3884793"/>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49" name="Shape 47"/>
          <p:cNvSpPr/>
          <p:nvPr/>
        </p:nvSpPr>
        <p:spPr>
          <a:xfrm>
            <a:off x="2926080" y="4057685"/>
            <a:ext cx="5186331" cy="108884"/>
          </a:xfrm>
          <a:prstGeom prst="rect">
            <a:avLst/>
          </a:prstGeom>
          <a:solidFill>
            <a:srgbClr val="12A566"/>
          </a:solidFill>
          <a:ln/>
        </p:spPr>
      </p:sp>
      <p:sp>
        <p:nvSpPr>
          <p:cNvPr id="50" name="Text 48"/>
          <p:cNvSpPr txBox="1"/>
          <p:nvPr/>
        </p:nvSpPr>
        <p:spPr>
          <a:xfrm>
            <a:off x="8167275" y="4011965"/>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103%</a:t>
            </a:r>
            <a:endParaRPr lang="en-US" sz="1300" dirty="0"/>
          </a:p>
        </p:txBody>
      </p:sp>
      <p:sp>
        <p:nvSpPr>
          <p:cNvPr id="51" name="Text 49"/>
          <p:cNvSpPr txBox="1"/>
          <p:nvPr/>
        </p:nvSpPr>
        <p:spPr>
          <a:xfrm>
            <a:off x="685800" y="4202723"/>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2" name="Shape 50"/>
          <p:cNvSpPr/>
          <p:nvPr/>
        </p:nvSpPr>
        <p:spPr>
          <a:xfrm>
            <a:off x="2926080" y="4232969"/>
            <a:ext cx="3842025" cy="108884"/>
          </a:xfrm>
          <a:prstGeom prst="rect">
            <a:avLst/>
          </a:prstGeom>
          <a:solidFill>
            <a:srgbClr val="C2352F"/>
          </a:solidFill>
          <a:ln/>
        </p:spPr>
      </p:sp>
      <p:sp>
        <p:nvSpPr>
          <p:cNvPr id="53" name="Text 51"/>
          <p:cNvSpPr txBox="1"/>
          <p:nvPr/>
        </p:nvSpPr>
        <p:spPr>
          <a:xfrm>
            <a:off x="6822969" y="418724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54" name="Shape 52"/>
          <p:cNvSpPr/>
          <p:nvPr/>
        </p:nvSpPr>
        <p:spPr>
          <a:xfrm>
            <a:off x="2926080" y="4360141"/>
            <a:ext cx="5036246" cy="108884"/>
          </a:xfrm>
          <a:prstGeom prst="rect">
            <a:avLst/>
          </a:prstGeom>
          <a:solidFill>
            <a:srgbClr val="12A566"/>
          </a:solidFill>
          <a:ln/>
        </p:spPr>
      </p:sp>
      <p:sp>
        <p:nvSpPr>
          <p:cNvPr id="55" name="Text 53"/>
          <p:cNvSpPr txBox="1"/>
          <p:nvPr/>
        </p:nvSpPr>
        <p:spPr>
          <a:xfrm>
            <a:off x="8017190" y="431442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100%</a:t>
            </a:r>
            <a:endParaRPr lang="en-US" sz="1300" dirty="0"/>
          </a:p>
        </p:txBody>
      </p:sp>
      <p:sp>
        <p:nvSpPr>
          <p:cNvPr id="56" name="Text 54"/>
          <p:cNvSpPr txBox="1"/>
          <p:nvPr/>
        </p:nvSpPr>
        <p:spPr>
          <a:xfrm>
            <a:off x="685800" y="450517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7" name="Shape 55"/>
          <p:cNvSpPr/>
          <p:nvPr/>
        </p:nvSpPr>
        <p:spPr>
          <a:xfrm>
            <a:off x="2926080" y="4535424"/>
            <a:ext cx="3926516" cy="108884"/>
          </a:xfrm>
          <a:prstGeom prst="rect">
            <a:avLst/>
          </a:prstGeom>
          <a:solidFill>
            <a:srgbClr val="C2352F"/>
          </a:solidFill>
          <a:ln/>
        </p:spPr>
      </p:sp>
      <p:sp>
        <p:nvSpPr>
          <p:cNvPr id="58" name="Text 56"/>
          <p:cNvSpPr txBox="1"/>
          <p:nvPr/>
        </p:nvSpPr>
        <p:spPr>
          <a:xfrm>
            <a:off x="6907460" y="4489704"/>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59" name="Shape 57"/>
          <p:cNvSpPr/>
          <p:nvPr/>
        </p:nvSpPr>
        <p:spPr>
          <a:xfrm>
            <a:off x="2926080" y="4662596"/>
            <a:ext cx="6544829" cy="108884"/>
          </a:xfrm>
          <a:prstGeom prst="rect">
            <a:avLst/>
          </a:prstGeom>
          <a:solidFill>
            <a:srgbClr val="12A566"/>
          </a:solidFill>
          <a:ln/>
        </p:spPr>
      </p:sp>
      <p:sp>
        <p:nvSpPr>
          <p:cNvPr id="60" name="Text 58"/>
          <p:cNvSpPr txBox="1"/>
          <p:nvPr/>
        </p:nvSpPr>
        <p:spPr>
          <a:xfrm>
            <a:off x="9525773" y="4616876"/>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61" name="Text 59"/>
          <p:cNvSpPr txBox="1"/>
          <p:nvPr/>
        </p:nvSpPr>
        <p:spPr>
          <a:xfrm>
            <a:off x="685800" y="4807634"/>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926080" y="4837879"/>
            <a:ext cx="3940323" cy="108884"/>
          </a:xfrm>
          <a:prstGeom prst="rect">
            <a:avLst/>
          </a:prstGeom>
          <a:solidFill>
            <a:srgbClr val="C2352F"/>
          </a:solidFill>
          <a:ln/>
        </p:spPr>
      </p:sp>
      <p:sp>
        <p:nvSpPr>
          <p:cNvPr id="63" name="Text 61"/>
          <p:cNvSpPr txBox="1"/>
          <p:nvPr/>
        </p:nvSpPr>
        <p:spPr>
          <a:xfrm>
            <a:off x="6921267" y="479215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64" name="Shape 62"/>
          <p:cNvSpPr/>
          <p:nvPr/>
        </p:nvSpPr>
        <p:spPr>
          <a:xfrm>
            <a:off x="2926080" y="4965051"/>
            <a:ext cx="5626092" cy="108884"/>
          </a:xfrm>
          <a:prstGeom prst="rect">
            <a:avLst/>
          </a:prstGeom>
          <a:solidFill>
            <a:srgbClr val="12A566"/>
          </a:solidFill>
          <a:ln/>
        </p:spPr>
      </p:sp>
      <p:sp>
        <p:nvSpPr>
          <p:cNvPr id="65" name="Text 63"/>
          <p:cNvSpPr txBox="1"/>
          <p:nvPr/>
        </p:nvSpPr>
        <p:spPr>
          <a:xfrm>
            <a:off x="8607036" y="491933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112%</a:t>
            </a:r>
            <a:endParaRPr lang="en-US" sz="1300" dirty="0"/>
          </a:p>
        </p:txBody>
      </p:sp>
      <p:sp>
        <p:nvSpPr>
          <p:cNvPr id="66" name="Text 64"/>
          <p:cNvSpPr txBox="1"/>
          <p:nvPr/>
        </p:nvSpPr>
        <p:spPr>
          <a:xfrm>
            <a:off x="685800" y="5110089"/>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2926080" y="5140335"/>
            <a:ext cx="4070292" cy="108884"/>
          </a:xfrm>
          <a:prstGeom prst="rect">
            <a:avLst/>
          </a:prstGeom>
          <a:solidFill>
            <a:srgbClr val="C2352F"/>
          </a:solidFill>
          <a:ln/>
        </p:spPr>
      </p:sp>
      <p:sp>
        <p:nvSpPr>
          <p:cNvPr id="68" name="Text 66"/>
          <p:cNvSpPr txBox="1"/>
          <p:nvPr/>
        </p:nvSpPr>
        <p:spPr>
          <a:xfrm>
            <a:off x="7051236" y="5094615"/>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81%</a:t>
            </a:r>
            <a:endParaRPr lang="en-US" sz="1300" dirty="0"/>
          </a:p>
        </p:txBody>
      </p:sp>
      <p:sp>
        <p:nvSpPr>
          <p:cNvPr id="69" name="Shape 67"/>
          <p:cNvSpPr/>
          <p:nvPr/>
        </p:nvSpPr>
        <p:spPr>
          <a:xfrm>
            <a:off x="2926080" y="5267507"/>
            <a:ext cx="4801707" cy="108884"/>
          </a:xfrm>
          <a:prstGeom prst="rect">
            <a:avLst/>
          </a:prstGeom>
          <a:solidFill>
            <a:srgbClr val="12A566"/>
          </a:solidFill>
          <a:ln/>
        </p:spPr>
      </p:sp>
      <p:sp>
        <p:nvSpPr>
          <p:cNvPr id="70" name="Text 68"/>
          <p:cNvSpPr txBox="1"/>
          <p:nvPr/>
        </p:nvSpPr>
        <p:spPr>
          <a:xfrm>
            <a:off x="7782651" y="5221787"/>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71" name="Text 69"/>
          <p:cNvSpPr txBox="1"/>
          <p:nvPr/>
        </p:nvSpPr>
        <p:spPr>
          <a:xfrm>
            <a:off x="685800" y="541254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2" name="Shape 70"/>
          <p:cNvSpPr/>
          <p:nvPr/>
        </p:nvSpPr>
        <p:spPr>
          <a:xfrm>
            <a:off x="2926080" y="5442790"/>
            <a:ext cx="4180762" cy="108884"/>
          </a:xfrm>
          <a:prstGeom prst="rect">
            <a:avLst/>
          </a:prstGeom>
          <a:solidFill>
            <a:srgbClr val="C2352F"/>
          </a:solidFill>
          <a:ln/>
        </p:spPr>
      </p:sp>
      <p:sp>
        <p:nvSpPr>
          <p:cNvPr id="73" name="Text 71"/>
          <p:cNvSpPr txBox="1"/>
          <p:nvPr/>
        </p:nvSpPr>
        <p:spPr>
          <a:xfrm>
            <a:off x="7161706" y="5397070"/>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74" name="Shape 72"/>
          <p:cNvSpPr/>
          <p:nvPr/>
        </p:nvSpPr>
        <p:spPr>
          <a:xfrm>
            <a:off x="2926080" y="5569962"/>
            <a:ext cx="5879396" cy="108884"/>
          </a:xfrm>
          <a:prstGeom prst="rect">
            <a:avLst/>
          </a:prstGeom>
          <a:solidFill>
            <a:srgbClr val="12A566"/>
          </a:solidFill>
          <a:ln/>
        </p:spPr>
      </p:sp>
      <p:sp>
        <p:nvSpPr>
          <p:cNvPr id="75" name="Text 73"/>
          <p:cNvSpPr txBox="1"/>
          <p:nvPr/>
        </p:nvSpPr>
        <p:spPr>
          <a:xfrm>
            <a:off x="8860340" y="5524242"/>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117%</a:t>
            </a:r>
            <a:endParaRPr lang="en-US" sz="1300" dirty="0"/>
          </a:p>
        </p:txBody>
      </p:sp>
      <p:sp>
        <p:nvSpPr>
          <p:cNvPr id="76" name="Shape 74"/>
          <p:cNvSpPr/>
          <p:nvPr/>
        </p:nvSpPr>
        <p:spPr>
          <a:xfrm>
            <a:off x="7165848" y="1737360"/>
            <a:ext cx="18288" cy="3977640"/>
          </a:xfrm>
          <a:prstGeom prst="rect">
            <a:avLst/>
          </a:prstGeom>
          <a:solidFill>
            <a:srgbClr val="0B2C4A"/>
          </a:solidFill>
          <a:ln/>
        </p:spPr>
      </p:sp>
      <p:sp>
        <p:nvSpPr>
          <p:cNvPr id="77" name="Shape 75"/>
          <p:cNvSpPr/>
          <p:nvPr/>
        </p:nvSpPr>
        <p:spPr>
          <a:xfrm>
            <a:off x="457200" y="6126480"/>
            <a:ext cx="11274552" cy="615696"/>
          </a:xfrm>
          <a:prstGeom prst="rect">
            <a:avLst/>
          </a:prstGeom>
          <a:solidFill>
            <a:srgbClr val="EDF4FA"/>
          </a:solidFill>
          <a:ln/>
        </p:spPr>
      </p:sp>
      <p:sp>
        <p:nvSpPr>
          <p:cNvPr id="78" name="Text 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685800" y="1298448"/>
            <a:ext cx="10789920" cy="365760"/>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Each store under 85%: where the store is today, and where its best quarter of techs already runs.</a:t>
            </a:r>
            <a:endParaRPr lang="en-US" sz="1500" dirty="0"/>
          </a:p>
        </p:txBody>
      </p:sp>
      <p:sp>
        <p:nvSpPr>
          <p:cNvPr id="7" name="Shape 5"/>
          <p:cNvSpPr/>
          <p:nvPr/>
        </p:nvSpPr>
        <p:spPr>
          <a:xfrm>
            <a:off x="685800" y="1755648"/>
            <a:ext cx="2046427" cy="1261872"/>
          </a:xfrm>
          <a:prstGeom prst="rect">
            <a:avLst/>
          </a:prstGeom>
          <a:solidFill>
            <a:srgbClr val="F7F7F7"/>
          </a:solidFill>
          <a:ln/>
        </p:spPr>
      </p:sp>
      <p:sp>
        <p:nvSpPr>
          <p:cNvPr id="8" name="Shape 6"/>
          <p:cNvSpPr/>
          <p:nvPr/>
        </p:nvSpPr>
        <p:spPr>
          <a:xfrm>
            <a:off x="685800" y="1755648"/>
            <a:ext cx="64008" cy="1261872"/>
          </a:xfrm>
          <a:prstGeom prst="rect">
            <a:avLst/>
          </a:prstGeom>
          <a:solidFill>
            <a:srgbClr val="C2352F"/>
          </a:solidFill>
          <a:ln/>
        </p:spPr>
      </p:sp>
      <p:sp>
        <p:nvSpPr>
          <p:cNvPr id="9" name="Text 7"/>
          <p:cNvSpPr txBox="1"/>
          <p:nvPr/>
        </p:nvSpPr>
        <p:spPr>
          <a:xfrm>
            <a:off x="868680"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0" name="Text 8"/>
          <p:cNvSpPr txBox="1"/>
          <p:nvPr/>
        </p:nvSpPr>
        <p:spPr>
          <a:xfrm>
            <a:off x="868680"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1" name="Text 9"/>
          <p:cNvSpPr txBox="1"/>
          <p:nvPr/>
        </p:nvSpPr>
        <p:spPr>
          <a:xfrm>
            <a:off x="868680"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2" name="Text 10"/>
          <p:cNvSpPr txBox="1"/>
          <p:nvPr/>
        </p:nvSpPr>
        <p:spPr>
          <a:xfrm>
            <a:off x="175473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13" name="Text 11"/>
          <p:cNvSpPr txBox="1"/>
          <p:nvPr/>
        </p:nvSpPr>
        <p:spPr>
          <a:xfrm>
            <a:off x="175473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4" name="Text 12"/>
          <p:cNvSpPr txBox="1"/>
          <p:nvPr/>
        </p:nvSpPr>
        <p:spPr>
          <a:xfrm>
            <a:off x="1462126"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5" name="Shape 13"/>
          <p:cNvSpPr/>
          <p:nvPr/>
        </p:nvSpPr>
        <p:spPr>
          <a:xfrm>
            <a:off x="2878531" y="1755648"/>
            <a:ext cx="2046427" cy="1261872"/>
          </a:xfrm>
          <a:prstGeom prst="rect">
            <a:avLst/>
          </a:prstGeom>
          <a:solidFill>
            <a:srgbClr val="F7F7F7"/>
          </a:solidFill>
          <a:ln/>
        </p:spPr>
      </p:sp>
      <p:sp>
        <p:nvSpPr>
          <p:cNvPr id="16" name="Shape 14"/>
          <p:cNvSpPr/>
          <p:nvPr/>
        </p:nvSpPr>
        <p:spPr>
          <a:xfrm>
            <a:off x="2878531" y="1755648"/>
            <a:ext cx="64008" cy="1261872"/>
          </a:xfrm>
          <a:prstGeom prst="rect">
            <a:avLst/>
          </a:prstGeom>
          <a:solidFill>
            <a:srgbClr val="12A566"/>
          </a:solidFill>
          <a:ln/>
        </p:spPr>
      </p:sp>
      <p:sp>
        <p:nvSpPr>
          <p:cNvPr id="17" name="Text 15"/>
          <p:cNvSpPr txBox="1"/>
          <p:nvPr/>
        </p:nvSpPr>
        <p:spPr>
          <a:xfrm>
            <a:off x="3061411"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Text 16"/>
          <p:cNvSpPr txBox="1"/>
          <p:nvPr/>
        </p:nvSpPr>
        <p:spPr>
          <a:xfrm>
            <a:off x="3061411"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9" name="Text 17"/>
          <p:cNvSpPr txBox="1"/>
          <p:nvPr/>
        </p:nvSpPr>
        <p:spPr>
          <a:xfrm>
            <a:off x="3061411"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0" name="Text 18"/>
          <p:cNvSpPr txBox="1"/>
          <p:nvPr/>
        </p:nvSpPr>
        <p:spPr>
          <a:xfrm>
            <a:off x="3947465"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97%</a:t>
            </a:r>
            <a:endParaRPr lang="en-US" sz="2200" dirty="0"/>
          </a:p>
        </p:txBody>
      </p:sp>
      <p:sp>
        <p:nvSpPr>
          <p:cNvPr id="21" name="Text 19"/>
          <p:cNvSpPr txBox="1"/>
          <p:nvPr/>
        </p:nvSpPr>
        <p:spPr>
          <a:xfrm>
            <a:off x="394746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22" name="Text 20"/>
          <p:cNvSpPr txBox="1"/>
          <p:nvPr/>
        </p:nvSpPr>
        <p:spPr>
          <a:xfrm>
            <a:off x="3654857"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23" name="Shape 21"/>
          <p:cNvSpPr/>
          <p:nvPr/>
        </p:nvSpPr>
        <p:spPr>
          <a:xfrm>
            <a:off x="5071262" y="1755648"/>
            <a:ext cx="2046427" cy="1261872"/>
          </a:xfrm>
          <a:prstGeom prst="rect">
            <a:avLst/>
          </a:prstGeom>
          <a:solidFill>
            <a:srgbClr val="F7F7F7"/>
          </a:solidFill>
          <a:ln/>
        </p:spPr>
      </p:sp>
      <p:sp>
        <p:nvSpPr>
          <p:cNvPr id="24" name="Shape 22"/>
          <p:cNvSpPr/>
          <p:nvPr/>
        </p:nvSpPr>
        <p:spPr>
          <a:xfrm>
            <a:off x="5071262" y="1755648"/>
            <a:ext cx="64008" cy="1261872"/>
          </a:xfrm>
          <a:prstGeom prst="rect">
            <a:avLst/>
          </a:prstGeom>
          <a:solidFill>
            <a:srgbClr val="12A566"/>
          </a:solidFill>
          <a:ln/>
        </p:spPr>
      </p:sp>
      <p:sp>
        <p:nvSpPr>
          <p:cNvPr id="25" name="Text 23"/>
          <p:cNvSpPr txBox="1"/>
          <p:nvPr/>
        </p:nvSpPr>
        <p:spPr>
          <a:xfrm>
            <a:off x="5254142"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Text 24"/>
          <p:cNvSpPr txBox="1"/>
          <p:nvPr/>
        </p:nvSpPr>
        <p:spPr>
          <a:xfrm>
            <a:off x="5254142"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68%</a:t>
            </a:r>
            <a:endParaRPr lang="en-US" sz="2200" dirty="0"/>
          </a:p>
        </p:txBody>
      </p:sp>
      <p:sp>
        <p:nvSpPr>
          <p:cNvPr id="27" name="Text 25"/>
          <p:cNvSpPr txBox="1"/>
          <p:nvPr/>
        </p:nvSpPr>
        <p:spPr>
          <a:xfrm>
            <a:off x="5254142"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8" name="Text 26"/>
          <p:cNvSpPr txBox="1"/>
          <p:nvPr/>
        </p:nvSpPr>
        <p:spPr>
          <a:xfrm>
            <a:off x="6140196"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29" name="Text 27"/>
          <p:cNvSpPr txBox="1"/>
          <p:nvPr/>
        </p:nvSpPr>
        <p:spPr>
          <a:xfrm>
            <a:off x="6140196"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0" name="Text 28"/>
          <p:cNvSpPr txBox="1"/>
          <p:nvPr/>
        </p:nvSpPr>
        <p:spPr>
          <a:xfrm>
            <a:off x="5847588"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1" name="Shape 29"/>
          <p:cNvSpPr/>
          <p:nvPr/>
        </p:nvSpPr>
        <p:spPr>
          <a:xfrm>
            <a:off x="7263994" y="1755648"/>
            <a:ext cx="2046427" cy="1261872"/>
          </a:xfrm>
          <a:prstGeom prst="rect">
            <a:avLst/>
          </a:prstGeom>
          <a:solidFill>
            <a:srgbClr val="F7F7F7"/>
          </a:solidFill>
          <a:ln/>
        </p:spPr>
      </p:sp>
      <p:sp>
        <p:nvSpPr>
          <p:cNvPr id="32" name="Shape 30"/>
          <p:cNvSpPr/>
          <p:nvPr/>
        </p:nvSpPr>
        <p:spPr>
          <a:xfrm>
            <a:off x="7263994" y="1755648"/>
            <a:ext cx="64008" cy="1261872"/>
          </a:xfrm>
          <a:prstGeom prst="rect">
            <a:avLst/>
          </a:prstGeom>
          <a:solidFill>
            <a:srgbClr val="12A566"/>
          </a:solidFill>
          <a:ln/>
        </p:spPr>
      </p:sp>
      <p:sp>
        <p:nvSpPr>
          <p:cNvPr id="33" name="Text 31"/>
          <p:cNvSpPr txBox="1"/>
          <p:nvPr/>
        </p:nvSpPr>
        <p:spPr>
          <a:xfrm>
            <a:off x="7446874"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4" name="Text 32"/>
          <p:cNvSpPr txBox="1"/>
          <p:nvPr/>
        </p:nvSpPr>
        <p:spPr>
          <a:xfrm>
            <a:off x="744687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69%</a:t>
            </a:r>
            <a:endParaRPr lang="en-US" sz="2200" dirty="0"/>
          </a:p>
        </p:txBody>
      </p:sp>
      <p:sp>
        <p:nvSpPr>
          <p:cNvPr id="35" name="Text 33"/>
          <p:cNvSpPr txBox="1"/>
          <p:nvPr/>
        </p:nvSpPr>
        <p:spPr>
          <a:xfrm>
            <a:off x="744687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36" name="Text 34"/>
          <p:cNvSpPr txBox="1"/>
          <p:nvPr/>
        </p:nvSpPr>
        <p:spPr>
          <a:xfrm>
            <a:off x="8332927"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122%</a:t>
            </a:r>
            <a:endParaRPr lang="en-US" sz="2200" dirty="0"/>
          </a:p>
        </p:txBody>
      </p:sp>
      <p:sp>
        <p:nvSpPr>
          <p:cNvPr id="37" name="Text 35"/>
          <p:cNvSpPr txBox="1"/>
          <p:nvPr/>
        </p:nvSpPr>
        <p:spPr>
          <a:xfrm>
            <a:off x="8332927"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8" name="Text 36"/>
          <p:cNvSpPr txBox="1"/>
          <p:nvPr/>
        </p:nvSpPr>
        <p:spPr>
          <a:xfrm>
            <a:off x="8040319"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9" name="Shape 37"/>
          <p:cNvSpPr/>
          <p:nvPr/>
        </p:nvSpPr>
        <p:spPr>
          <a:xfrm>
            <a:off x="9456725" y="1755648"/>
            <a:ext cx="2046427" cy="1261872"/>
          </a:xfrm>
          <a:prstGeom prst="rect">
            <a:avLst/>
          </a:prstGeom>
          <a:solidFill>
            <a:srgbClr val="F7F7F7"/>
          </a:solidFill>
          <a:ln/>
        </p:spPr>
      </p:sp>
      <p:sp>
        <p:nvSpPr>
          <p:cNvPr id="40" name="Shape 38"/>
          <p:cNvSpPr/>
          <p:nvPr/>
        </p:nvSpPr>
        <p:spPr>
          <a:xfrm>
            <a:off x="9456725" y="1755648"/>
            <a:ext cx="64008" cy="1261872"/>
          </a:xfrm>
          <a:prstGeom prst="rect">
            <a:avLst/>
          </a:prstGeom>
          <a:solidFill>
            <a:srgbClr val="C2352F"/>
          </a:solidFill>
          <a:ln/>
        </p:spPr>
      </p:sp>
      <p:sp>
        <p:nvSpPr>
          <p:cNvPr id="41" name="Text 39"/>
          <p:cNvSpPr txBox="1"/>
          <p:nvPr/>
        </p:nvSpPr>
        <p:spPr>
          <a:xfrm>
            <a:off x="9639605"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2" name="Text 40"/>
          <p:cNvSpPr txBox="1"/>
          <p:nvPr/>
        </p:nvSpPr>
        <p:spPr>
          <a:xfrm>
            <a:off x="9639605"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70%</a:t>
            </a:r>
            <a:endParaRPr lang="en-US" sz="2200" dirty="0"/>
          </a:p>
        </p:txBody>
      </p:sp>
      <p:sp>
        <p:nvSpPr>
          <p:cNvPr id="43" name="Text 41"/>
          <p:cNvSpPr txBox="1"/>
          <p:nvPr/>
        </p:nvSpPr>
        <p:spPr>
          <a:xfrm>
            <a:off x="963960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44" name="Text 42"/>
          <p:cNvSpPr txBox="1"/>
          <p:nvPr/>
        </p:nvSpPr>
        <p:spPr>
          <a:xfrm>
            <a:off x="10525658"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45" name="Text 43"/>
          <p:cNvSpPr txBox="1"/>
          <p:nvPr/>
        </p:nvSpPr>
        <p:spPr>
          <a:xfrm>
            <a:off x="10525658"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46" name="Text 44"/>
          <p:cNvSpPr txBox="1"/>
          <p:nvPr/>
        </p:nvSpPr>
        <p:spPr>
          <a:xfrm>
            <a:off x="10233050"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47" name="Shape 45"/>
          <p:cNvSpPr/>
          <p:nvPr/>
        </p:nvSpPr>
        <p:spPr>
          <a:xfrm>
            <a:off x="685800" y="3108960"/>
            <a:ext cx="2046427" cy="1261872"/>
          </a:xfrm>
          <a:prstGeom prst="rect">
            <a:avLst/>
          </a:prstGeom>
          <a:solidFill>
            <a:srgbClr val="F7F7F7"/>
          </a:solidFill>
          <a:ln/>
        </p:spPr>
      </p:sp>
      <p:sp>
        <p:nvSpPr>
          <p:cNvPr id="48" name="Shape 46"/>
          <p:cNvSpPr/>
          <p:nvPr/>
        </p:nvSpPr>
        <p:spPr>
          <a:xfrm>
            <a:off x="685800" y="3108960"/>
            <a:ext cx="64008" cy="1261872"/>
          </a:xfrm>
          <a:prstGeom prst="rect">
            <a:avLst/>
          </a:prstGeom>
          <a:solidFill>
            <a:srgbClr val="12A566"/>
          </a:solidFill>
          <a:ln/>
        </p:spPr>
      </p:sp>
      <p:sp>
        <p:nvSpPr>
          <p:cNvPr id="49" name="Text 47"/>
          <p:cNvSpPr txBox="1"/>
          <p:nvPr/>
        </p:nvSpPr>
        <p:spPr>
          <a:xfrm>
            <a:off x="868680"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0" name="Text 48"/>
          <p:cNvSpPr txBox="1"/>
          <p:nvPr/>
        </p:nvSpPr>
        <p:spPr>
          <a:xfrm>
            <a:off x="868680"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71%</a:t>
            </a:r>
            <a:endParaRPr lang="en-US" sz="2200" dirty="0"/>
          </a:p>
        </p:txBody>
      </p:sp>
      <p:sp>
        <p:nvSpPr>
          <p:cNvPr id="51" name="Text 49"/>
          <p:cNvSpPr txBox="1"/>
          <p:nvPr/>
        </p:nvSpPr>
        <p:spPr>
          <a:xfrm>
            <a:off x="868680"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52" name="Text 50"/>
          <p:cNvSpPr txBox="1"/>
          <p:nvPr/>
        </p:nvSpPr>
        <p:spPr>
          <a:xfrm>
            <a:off x="1754734"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128%</a:t>
            </a:r>
            <a:endParaRPr lang="en-US" sz="2200" dirty="0"/>
          </a:p>
        </p:txBody>
      </p:sp>
      <p:sp>
        <p:nvSpPr>
          <p:cNvPr id="53" name="Text 51"/>
          <p:cNvSpPr txBox="1"/>
          <p:nvPr/>
        </p:nvSpPr>
        <p:spPr>
          <a:xfrm>
            <a:off x="175473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54" name="Text 52"/>
          <p:cNvSpPr txBox="1"/>
          <p:nvPr/>
        </p:nvSpPr>
        <p:spPr>
          <a:xfrm>
            <a:off x="1462126"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55" name="Shape 53"/>
          <p:cNvSpPr/>
          <p:nvPr/>
        </p:nvSpPr>
        <p:spPr>
          <a:xfrm>
            <a:off x="2878531" y="3108960"/>
            <a:ext cx="2046427" cy="1261872"/>
          </a:xfrm>
          <a:prstGeom prst="rect">
            <a:avLst/>
          </a:prstGeom>
          <a:solidFill>
            <a:srgbClr val="F7F7F7"/>
          </a:solidFill>
          <a:ln/>
        </p:spPr>
      </p:sp>
      <p:sp>
        <p:nvSpPr>
          <p:cNvPr id="56" name="Shape 54"/>
          <p:cNvSpPr/>
          <p:nvPr/>
        </p:nvSpPr>
        <p:spPr>
          <a:xfrm>
            <a:off x="2878531" y="3108960"/>
            <a:ext cx="64008" cy="1261872"/>
          </a:xfrm>
          <a:prstGeom prst="rect">
            <a:avLst/>
          </a:prstGeom>
          <a:solidFill>
            <a:srgbClr val="12A566"/>
          </a:solidFill>
          <a:ln/>
        </p:spPr>
      </p:sp>
      <p:sp>
        <p:nvSpPr>
          <p:cNvPr id="57" name="Text 55"/>
          <p:cNvSpPr txBox="1"/>
          <p:nvPr/>
        </p:nvSpPr>
        <p:spPr>
          <a:xfrm>
            <a:off x="3061411"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8" name="Text 56"/>
          <p:cNvSpPr txBox="1"/>
          <p:nvPr/>
        </p:nvSpPr>
        <p:spPr>
          <a:xfrm>
            <a:off x="3061411"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72%</a:t>
            </a:r>
            <a:endParaRPr lang="en-US" sz="2200" dirty="0"/>
          </a:p>
        </p:txBody>
      </p:sp>
      <p:sp>
        <p:nvSpPr>
          <p:cNvPr id="59" name="Text 57"/>
          <p:cNvSpPr txBox="1"/>
          <p:nvPr/>
        </p:nvSpPr>
        <p:spPr>
          <a:xfrm>
            <a:off x="3061411"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0" name="Text 58"/>
          <p:cNvSpPr txBox="1"/>
          <p:nvPr/>
        </p:nvSpPr>
        <p:spPr>
          <a:xfrm>
            <a:off x="3947465"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88%</a:t>
            </a:r>
            <a:endParaRPr lang="en-US" sz="2200" dirty="0"/>
          </a:p>
        </p:txBody>
      </p:sp>
      <p:sp>
        <p:nvSpPr>
          <p:cNvPr id="61" name="Text 59"/>
          <p:cNvSpPr txBox="1"/>
          <p:nvPr/>
        </p:nvSpPr>
        <p:spPr>
          <a:xfrm>
            <a:off x="394746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62" name="Text 60"/>
          <p:cNvSpPr txBox="1"/>
          <p:nvPr/>
        </p:nvSpPr>
        <p:spPr>
          <a:xfrm>
            <a:off x="3654857"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63" name="Shape 61"/>
          <p:cNvSpPr/>
          <p:nvPr/>
        </p:nvSpPr>
        <p:spPr>
          <a:xfrm>
            <a:off x="5071262" y="3108960"/>
            <a:ext cx="2046427" cy="1261872"/>
          </a:xfrm>
          <a:prstGeom prst="rect">
            <a:avLst/>
          </a:prstGeom>
          <a:solidFill>
            <a:srgbClr val="F7F7F7"/>
          </a:solidFill>
          <a:ln/>
        </p:spPr>
      </p:sp>
      <p:sp>
        <p:nvSpPr>
          <p:cNvPr id="64" name="Shape 62"/>
          <p:cNvSpPr/>
          <p:nvPr/>
        </p:nvSpPr>
        <p:spPr>
          <a:xfrm>
            <a:off x="5071262" y="3108960"/>
            <a:ext cx="64008" cy="1261872"/>
          </a:xfrm>
          <a:prstGeom prst="rect">
            <a:avLst/>
          </a:prstGeom>
          <a:solidFill>
            <a:srgbClr val="12A566"/>
          </a:solidFill>
          <a:ln/>
        </p:spPr>
      </p:sp>
      <p:sp>
        <p:nvSpPr>
          <p:cNvPr id="65" name="Text 63"/>
          <p:cNvSpPr txBox="1"/>
          <p:nvPr/>
        </p:nvSpPr>
        <p:spPr>
          <a:xfrm>
            <a:off x="5254142"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6" name="Text 64"/>
          <p:cNvSpPr txBox="1"/>
          <p:nvPr/>
        </p:nvSpPr>
        <p:spPr>
          <a:xfrm>
            <a:off x="5254142"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67" name="Text 65"/>
          <p:cNvSpPr txBox="1"/>
          <p:nvPr/>
        </p:nvSpPr>
        <p:spPr>
          <a:xfrm>
            <a:off x="5254142"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8" name="Text 66"/>
          <p:cNvSpPr txBox="1"/>
          <p:nvPr/>
        </p:nvSpPr>
        <p:spPr>
          <a:xfrm>
            <a:off x="6140196"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103%</a:t>
            </a:r>
            <a:endParaRPr lang="en-US" sz="2200" dirty="0"/>
          </a:p>
        </p:txBody>
      </p:sp>
      <p:sp>
        <p:nvSpPr>
          <p:cNvPr id="69" name="Text 67"/>
          <p:cNvSpPr txBox="1"/>
          <p:nvPr/>
        </p:nvSpPr>
        <p:spPr>
          <a:xfrm>
            <a:off x="6140196"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0" name="Text 68"/>
          <p:cNvSpPr txBox="1"/>
          <p:nvPr/>
        </p:nvSpPr>
        <p:spPr>
          <a:xfrm>
            <a:off x="5847588"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1" name="Shape 69"/>
          <p:cNvSpPr/>
          <p:nvPr/>
        </p:nvSpPr>
        <p:spPr>
          <a:xfrm>
            <a:off x="7263994" y="3108960"/>
            <a:ext cx="2046427" cy="1261872"/>
          </a:xfrm>
          <a:prstGeom prst="rect">
            <a:avLst/>
          </a:prstGeom>
          <a:solidFill>
            <a:srgbClr val="F7F7F7"/>
          </a:solidFill>
          <a:ln/>
        </p:spPr>
      </p:sp>
      <p:sp>
        <p:nvSpPr>
          <p:cNvPr id="72" name="Shape 70"/>
          <p:cNvSpPr/>
          <p:nvPr/>
        </p:nvSpPr>
        <p:spPr>
          <a:xfrm>
            <a:off x="7263994" y="3108960"/>
            <a:ext cx="64008" cy="1261872"/>
          </a:xfrm>
          <a:prstGeom prst="rect">
            <a:avLst/>
          </a:prstGeom>
          <a:solidFill>
            <a:srgbClr val="12A566"/>
          </a:solidFill>
          <a:ln/>
        </p:spPr>
      </p:sp>
      <p:sp>
        <p:nvSpPr>
          <p:cNvPr id="73" name="Text 71"/>
          <p:cNvSpPr txBox="1"/>
          <p:nvPr/>
        </p:nvSpPr>
        <p:spPr>
          <a:xfrm>
            <a:off x="7446874"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4" name="Text 72"/>
          <p:cNvSpPr txBox="1"/>
          <p:nvPr/>
        </p:nvSpPr>
        <p:spPr>
          <a:xfrm>
            <a:off x="7446874"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75" name="Text 73"/>
          <p:cNvSpPr txBox="1"/>
          <p:nvPr/>
        </p:nvSpPr>
        <p:spPr>
          <a:xfrm>
            <a:off x="744687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76" name="Text 74"/>
          <p:cNvSpPr txBox="1"/>
          <p:nvPr/>
        </p:nvSpPr>
        <p:spPr>
          <a:xfrm>
            <a:off x="8332927"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100%</a:t>
            </a:r>
            <a:endParaRPr lang="en-US" sz="2200" dirty="0"/>
          </a:p>
        </p:txBody>
      </p:sp>
      <p:sp>
        <p:nvSpPr>
          <p:cNvPr id="77" name="Text 75"/>
          <p:cNvSpPr txBox="1"/>
          <p:nvPr/>
        </p:nvSpPr>
        <p:spPr>
          <a:xfrm>
            <a:off x="8332927"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8" name="Text 76"/>
          <p:cNvSpPr txBox="1"/>
          <p:nvPr/>
        </p:nvSpPr>
        <p:spPr>
          <a:xfrm>
            <a:off x="8040319"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9" name="Shape 77"/>
          <p:cNvSpPr/>
          <p:nvPr/>
        </p:nvSpPr>
        <p:spPr>
          <a:xfrm>
            <a:off x="9456725" y="3108960"/>
            <a:ext cx="2046427" cy="1261872"/>
          </a:xfrm>
          <a:prstGeom prst="rect">
            <a:avLst/>
          </a:prstGeom>
          <a:solidFill>
            <a:srgbClr val="F7F7F7"/>
          </a:solidFill>
          <a:ln/>
        </p:spPr>
      </p:sp>
      <p:sp>
        <p:nvSpPr>
          <p:cNvPr id="80" name="Shape 78"/>
          <p:cNvSpPr/>
          <p:nvPr/>
        </p:nvSpPr>
        <p:spPr>
          <a:xfrm>
            <a:off x="9456725" y="3108960"/>
            <a:ext cx="64008" cy="1261872"/>
          </a:xfrm>
          <a:prstGeom prst="rect">
            <a:avLst/>
          </a:prstGeom>
          <a:solidFill>
            <a:srgbClr val="12A566"/>
          </a:solidFill>
          <a:ln/>
        </p:spPr>
      </p:sp>
      <p:sp>
        <p:nvSpPr>
          <p:cNvPr id="81" name="Text 79"/>
          <p:cNvSpPr txBox="1"/>
          <p:nvPr/>
        </p:nvSpPr>
        <p:spPr>
          <a:xfrm>
            <a:off x="9639605"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Text 80"/>
          <p:cNvSpPr txBox="1"/>
          <p:nvPr/>
        </p:nvSpPr>
        <p:spPr>
          <a:xfrm>
            <a:off x="9639605"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83" name="Text 81"/>
          <p:cNvSpPr txBox="1"/>
          <p:nvPr/>
        </p:nvSpPr>
        <p:spPr>
          <a:xfrm>
            <a:off x="963960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84" name="Text 82"/>
          <p:cNvSpPr txBox="1"/>
          <p:nvPr/>
        </p:nvSpPr>
        <p:spPr>
          <a:xfrm>
            <a:off x="10525658"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130%</a:t>
            </a:r>
            <a:endParaRPr lang="en-US" sz="2200" dirty="0"/>
          </a:p>
        </p:txBody>
      </p:sp>
      <p:sp>
        <p:nvSpPr>
          <p:cNvPr id="85" name="Text 83"/>
          <p:cNvSpPr txBox="1"/>
          <p:nvPr/>
        </p:nvSpPr>
        <p:spPr>
          <a:xfrm>
            <a:off x="10525658"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86" name="Text 84"/>
          <p:cNvSpPr txBox="1"/>
          <p:nvPr/>
        </p:nvSpPr>
        <p:spPr>
          <a:xfrm>
            <a:off x="10233050"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87" name="Shape 85"/>
          <p:cNvSpPr/>
          <p:nvPr/>
        </p:nvSpPr>
        <p:spPr>
          <a:xfrm>
            <a:off x="685800" y="4462272"/>
            <a:ext cx="2046427" cy="1261872"/>
          </a:xfrm>
          <a:prstGeom prst="rect">
            <a:avLst/>
          </a:prstGeom>
          <a:solidFill>
            <a:srgbClr val="F7F7F7"/>
          </a:solidFill>
          <a:ln/>
        </p:spPr>
      </p:sp>
      <p:sp>
        <p:nvSpPr>
          <p:cNvPr id="88" name="Shape 86"/>
          <p:cNvSpPr/>
          <p:nvPr/>
        </p:nvSpPr>
        <p:spPr>
          <a:xfrm>
            <a:off x="685800" y="4462272"/>
            <a:ext cx="64008" cy="1261872"/>
          </a:xfrm>
          <a:prstGeom prst="rect">
            <a:avLst/>
          </a:prstGeom>
          <a:solidFill>
            <a:srgbClr val="12A566"/>
          </a:solidFill>
          <a:ln/>
        </p:spPr>
      </p:sp>
      <p:sp>
        <p:nvSpPr>
          <p:cNvPr id="89" name="Text 87"/>
          <p:cNvSpPr txBox="1"/>
          <p:nvPr/>
        </p:nvSpPr>
        <p:spPr>
          <a:xfrm>
            <a:off x="868680"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0" name="Text 88"/>
          <p:cNvSpPr txBox="1"/>
          <p:nvPr/>
        </p:nvSpPr>
        <p:spPr>
          <a:xfrm>
            <a:off x="868680"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91" name="Text 89"/>
          <p:cNvSpPr txBox="1"/>
          <p:nvPr/>
        </p:nvSpPr>
        <p:spPr>
          <a:xfrm>
            <a:off x="868680"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92" name="Text 90"/>
          <p:cNvSpPr txBox="1"/>
          <p:nvPr/>
        </p:nvSpPr>
        <p:spPr>
          <a:xfrm>
            <a:off x="1754734"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112%</a:t>
            </a:r>
            <a:endParaRPr lang="en-US" sz="2200" dirty="0"/>
          </a:p>
        </p:txBody>
      </p:sp>
      <p:sp>
        <p:nvSpPr>
          <p:cNvPr id="93" name="Text 91"/>
          <p:cNvSpPr txBox="1"/>
          <p:nvPr/>
        </p:nvSpPr>
        <p:spPr>
          <a:xfrm>
            <a:off x="1754734"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94" name="Text 92"/>
          <p:cNvSpPr txBox="1"/>
          <p:nvPr/>
        </p:nvSpPr>
        <p:spPr>
          <a:xfrm>
            <a:off x="1462126"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95" name="Shape 93"/>
          <p:cNvSpPr/>
          <p:nvPr/>
        </p:nvSpPr>
        <p:spPr>
          <a:xfrm>
            <a:off x="2878531" y="4462272"/>
            <a:ext cx="2046427" cy="1261872"/>
          </a:xfrm>
          <a:prstGeom prst="rect">
            <a:avLst/>
          </a:prstGeom>
          <a:solidFill>
            <a:srgbClr val="F7F7F7"/>
          </a:solidFill>
          <a:ln/>
        </p:spPr>
      </p:sp>
      <p:sp>
        <p:nvSpPr>
          <p:cNvPr id="96" name="Shape 94"/>
          <p:cNvSpPr/>
          <p:nvPr/>
        </p:nvSpPr>
        <p:spPr>
          <a:xfrm>
            <a:off x="2878531" y="4462272"/>
            <a:ext cx="64008" cy="1261872"/>
          </a:xfrm>
          <a:prstGeom prst="rect">
            <a:avLst/>
          </a:prstGeom>
          <a:solidFill>
            <a:srgbClr val="12A566"/>
          </a:solidFill>
          <a:ln/>
        </p:spPr>
      </p:sp>
      <p:sp>
        <p:nvSpPr>
          <p:cNvPr id="97" name="Text 95"/>
          <p:cNvSpPr txBox="1"/>
          <p:nvPr/>
        </p:nvSpPr>
        <p:spPr>
          <a:xfrm>
            <a:off x="3061411"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8" name="Text 96"/>
          <p:cNvSpPr txBox="1"/>
          <p:nvPr/>
        </p:nvSpPr>
        <p:spPr>
          <a:xfrm>
            <a:off x="3061411"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81%</a:t>
            </a:r>
            <a:endParaRPr lang="en-US" sz="2200" dirty="0"/>
          </a:p>
        </p:txBody>
      </p:sp>
      <p:sp>
        <p:nvSpPr>
          <p:cNvPr id="99" name="Text 97"/>
          <p:cNvSpPr txBox="1"/>
          <p:nvPr/>
        </p:nvSpPr>
        <p:spPr>
          <a:xfrm>
            <a:off x="3061411"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0" name="Text 98"/>
          <p:cNvSpPr txBox="1"/>
          <p:nvPr/>
        </p:nvSpPr>
        <p:spPr>
          <a:xfrm>
            <a:off x="3947465"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101" name="Text 99"/>
          <p:cNvSpPr txBox="1"/>
          <p:nvPr/>
        </p:nvSpPr>
        <p:spPr>
          <a:xfrm>
            <a:off x="3947465"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02" name="Text 100"/>
          <p:cNvSpPr txBox="1"/>
          <p:nvPr/>
        </p:nvSpPr>
        <p:spPr>
          <a:xfrm>
            <a:off x="3654857"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03" name="Shape 101"/>
          <p:cNvSpPr/>
          <p:nvPr/>
        </p:nvSpPr>
        <p:spPr>
          <a:xfrm>
            <a:off x="5071262" y="4462272"/>
            <a:ext cx="2046427" cy="1261872"/>
          </a:xfrm>
          <a:prstGeom prst="rect">
            <a:avLst/>
          </a:prstGeom>
          <a:solidFill>
            <a:srgbClr val="F7F7F7"/>
          </a:solidFill>
          <a:ln/>
        </p:spPr>
      </p:sp>
      <p:sp>
        <p:nvSpPr>
          <p:cNvPr id="104" name="Shape 102"/>
          <p:cNvSpPr/>
          <p:nvPr/>
        </p:nvSpPr>
        <p:spPr>
          <a:xfrm>
            <a:off x="5071262" y="4462272"/>
            <a:ext cx="64008" cy="1261872"/>
          </a:xfrm>
          <a:prstGeom prst="rect">
            <a:avLst/>
          </a:prstGeom>
          <a:solidFill>
            <a:srgbClr val="12A566"/>
          </a:solidFill>
          <a:ln/>
        </p:spPr>
      </p:sp>
      <p:sp>
        <p:nvSpPr>
          <p:cNvPr id="105" name="Text 103"/>
          <p:cNvSpPr txBox="1"/>
          <p:nvPr/>
        </p:nvSpPr>
        <p:spPr>
          <a:xfrm>
            <a:off x="5254142"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6" name="Text 104"/>
          <p:cNvSpPr txBox="1"/>
          <p:nvPr/>
        </p:nvSpPr>
        <p:spPr>
          <a:xfrm>
            <a:off x="5254142"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83%</a:t>
            </a:r>
            <a:endParaRPr lang="en-US" sz="2200" dirty="0"/>
          </a:p>
        </p:txBody>
      </p:sp>
      <p:sp>
        <p:nvSpPr>
          <p:cNvPr id="107" name="Text 105"/>
          <p:cNvSpPr txBox="1"/>
          <p:nvPr/>
        </p:nvSpPr>
        <p:spPr>
          <a:xfrm>
            <a:off x="5254142"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8" name="Text 106"/>
          <p:cNvSpPr txBox="1"/>
          <p:nvPr/>
        </p:nvSpPr>
        <p:spPr>
          <a:xfrm>
            <a:off x="6140196"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117%</a:t>
            </a:r>
            <a:endParaRPr lang="en-US" sz="2200" dirty="0"/>
          </a:p>
        </p:txBody>
      </p:sp>
      <p:sp>
        <p:nvSpPr>
          <p:cNvPr id="109" name="Text 107"/>
          <p:cNvSpPr txBox="1"/>
          <p:nvPr/>
        </p:nvSpPr>
        <p:spPr>
          <a:xfrm>
            <a:off x="6140196"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10" name="Text 108"/>
          <p:cNvSpPr txBox="1"/>
          <p:nvPr/>
        </p:nvSpPr>
        <p:spPr>
          <a:xfrm>
            <a:off x="5847588"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11" name="Shape 109"/>
          <p:cNvSpPr/>
          <p:nvPr/>
        </p:nvSpPr>
        <p:spPr>
          <a:xfrm>
            <a:off x="457200" y="6126480"/>
            <a:ext cx="11274552" cy="615696"/>
          </a:xfrm>
          <a:prstGeom prst="rect">
            <a:avLst/>
          </a:prstGeom>
          <a:solidFill>
            <a:srgbClr val="EDF4FA"/>
          </a:solidFill>
          <a:ln/>
        </p:spPr>
      </p:sp>
      <p:sp>
        <p:nvSpPr>
          <p:cNvPr id="112" name="Text 1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2026-10-21T23:13:56Z</dcterms:created>
  <dcterms:modified xsi:type="dcterms:W3CDTF">2026-10-21T23:13:56Z</dcterms:modified>
</cp:coreProperties>
</file>