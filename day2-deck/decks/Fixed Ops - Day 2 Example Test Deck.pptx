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00.xml" ContentType="application/vnd.openxmlformats-officedocument.drawingml.chart+xml"/>
  <Override PartName="/ppt/charts/chart101.xml" ContentType="application/vnd.openxmlformats-officedocument.drawingml.chart+xml"/>
  <Override PartName="/ppt/charts/chart102.xml" ContentType="application/vnd.openxmlformats-officedocument.drawingml.chart+xml"/>
  <Override PartName="/ppt/charts/chart103.xml" ContentType="application/vnd.openxmlformats-officedocument.drawingml.chart+xml"/>
  <Override PartName="/ppt/charts/chart104.xml" ContentType="application/vnd.openxmlformats-officedocument.drawingml.chart+xml"/>
  <Override PartName="/ppt/charts/chart105.xml" ContentType="application/vnd.openxmlformats-officedocument.drawingml.chart+xml"/>
  <Override PartName="/ppt/charts/chart106.xml" ContentType="application/vnd.openxmlformats-officedocument.drawingml.chart+xml"/>
  <Override PartName="/ppt/charts/chart107.xml" ContentType="application/vnd.openxmlformats-officedocument.drawingml.chart+xml"/>
  <Override PartName="/ppt/charts/chart108.xml" ContentType="application/vnd.openxmlformats-officedocument.drawingml.chart+xml"/>
  <Override PartName="/ppt/charts/chart109.xml" ContentType="application/vnd.openxmlformats-officedocument.drawingml.chart+xml"/>
  <Override PartName="/ppt/charts/chart11.xml" ContentType="application/vnd.openxmlformats-officedocument.drawingml.chart+xml"/>
  <Override PartName="/ppt/charts/chart110.xml" ContentType="application/vnd.openxmlformats-officedocument.drawingml.chart+xml"/>
  <Override PartName="/ppt/charts/chart111.xml" ContentType="application/vnd.openxmlformats-officedocument.drawingml.chart+xml"/>
  <Override PartName="/ppt/charts/chart112.xml" ContentType="application/vnd.openxmlformats-officedocument.drawingml.chart+xml"/>
  <Override PartName="/ppt/charts/chart113.xml" ContentType="application/vnd.openxmlformats-officedocument.drawingml.chart+xml"/>
  <Override PartName="/ppt/charts/chart114.xml" ContentType="application/vnd.openxmlformats-officedocument.drawingml.chart+xml"/>
  <Override PartName="/ppt/charts/chart115.xml" ContentType="application/vnd.openxmlformats-officedocument.drawingml.chart+xml"/>
  <Override PartName="/ppt/charts/chart116.xml" ContentType="application/vnd.openxmlformats-officedocument.drawingml.chart+xml"/>
  <Override PartName="/ppt/charts/chart117.xml" ContentType="application/vnd.openxmlformats-officedocument.drawingml.chart+xml"/>
  <Override PartName="/ppt/charts/chart118.xml" ContentType="application/vnd.openxmlformats-officedocument.drawingml.chart+xml"/>
  <Override PartName="/ppt/charts/chart119.xml" ContentType="application/vnd.openxmlformats-officedocument.drawingml.chart+xml"/>
  <Override PartName="/ppt/charts/chart12.xml" ContentType="application/vnd.openxmlformats-officedocument.drawingml.chart+xml"/>
  <Override PartName="/ppt/charts/chart120.xml" ContentType="application/vnd.openxmlformats-officedocument.drawingml.chart+xml"/>
  <Override PartName="/ppt/charts/chart121.xml" ContentType="application/vnd.openxmlformats-officedocument.drawingml.chart+xml"/>
  <Override PartName="/ppt/charts/chart122.xml" ContentType="application/vnd.openxmlformats-officedocument.drawingml.chart+xml"/>
  <Override PartName="/ppt/charts/chart123.xml" ContentType="application/vnd.openxmlformats-officedocument.drawingml.chart+xml"/>
  <Override PartName="/ppt/charts/chart124.xml" ContentType="application/vnd.openxmlformats-officedocument.drawingml.chart+xml"/>
  <Override PartName="/ppt/charts/chart125.xml" ContentType="application/vnd.openxmlformats-officedocument.drawingml.chart+xml"/>
  <Override PartName="/ppt/charts/chart126.xml" ContentType="application/vnd.openxmlformats-officedocument.drawingml.chart+xml"/>
  <Override PartName="/ppt/charts/chart127.xml" ContentType="application/vnd.openxmlformats-officedocument.drawingml.chart+xml"/>
  <Override PartName="/ppt/charts/chart128.xml" ContentType="application/vnd.openxmlformats-officedocument.drawingml.chart+xml"/>
  <Override PartName="/ppt/charts/chart129.xml" ContentType="application/vnd.openxmlformats-officedocument.drawingml.chart+xml"/>
  <Override PartName="/ppt/charts/chart13.xml" ContentType="application/vnd.openxmlformats-officedocument.drawingml.chart+xml"/>
  <Override PartName="/ppt/charts/chart130.xml" ContentType="application/vnd.openxmlformats-officedocument.drawingml.chart+xml"/>
  <Override PartName="/ppt/charts/chart131.xml" ContentType="application/vnd.openxmlformats-officedocument.drawingml.chart+xml"/>
  <Override PartName="/ppt/charts/chart132.xml" ContentType="application/vnd.openxmlformats-officedocument.drawingml.chart+xml"/>
  <Override PartName="/ppt/charts/chart133.xml" ContentType="application/vnd.openxmlformats-officedocument.drawingml.chart+xml"/>
  <Override PartName="/ppt/charts/chart134.xml" ContentType="application/vnd.openxmlformats-officedocument.drawingml.chart+xml"/>
  <Override PartName="/ppt/charts/chart135.xml" ContentType="application/vnd.openxmlformats-officedocument.drawingml.chart+xml"/>
  <Override PartName="/ppt/charts/chart136.xml" ContentType="application/vnd.openxmlformats-officedocument.drawingml.chart+xml"/>
  <Override PartName="/ppt/charts/chart137.xml" ContentType="application/vnd.openxmlformats-officedocument.drawingml.chart+xml"/>
  <Override PartName="/ppt/charts/chart138.xml" ContentType="application/vnd.openxmlformats-officedocument.drawingml.chart+xml"/>
  <Override PartName="/ppt/charts/chart139.xml" ContentType="application/vnd.openxmlformats-officedocument.drawingml.chart+xml"/>
  <Override PartName="/ppt/charts/chart14.xml" ContentType="application/vnd.openxmlformats-officedocument.drawingml.chart+xml"/>
  <Override PartName="/ppt/charts/chart140.xml" ContentType="application/vnd.openxmlformats-officedocument.drawingml.chart+xml"/>
  <Override PartName="/ppt/charts/chart141.xml" ContentType="application/vnd.openxmlformats-officedocument.drawingml.chart+xml"/>
  <Override PartName="/ppt/charts/chart142.xml" ContentType="application/vnd.openxmlformats-officedocument.drawingml.chart+xml"/>
  <Override PartName="/ppt/charts/chart143.xml" ContentType="application/vnd.openxmlformats-officedocument.drawingml.chart+xml"/>
  <Override PartName="/ppt/charts/chart144.xml" ContentType="application/vnd.openxmlformats-officedocument.drawingml.chart+xml"/>
  <Override PartName="/ppt/charts/chart145.xml" ContentType="application/vnd.openxmlformats-officedocument.drawingml.chart+xml"/>
  <Override PartName="/ppt/charts/chart146.xml" ContentType="application/vnd.openxmlformats-officedocument.drawingml.chart+xml"/>
  <Override PartName="/ppt/charts/chart147.xml" ContentType="application/vnd.openxmlformats-officedocument.drawingml.chart+xml"/>
  <Override PartName="/ppt/charts/chart148.xml" ContentType="application/vnd.openxmlformats-officedocument.drawingml.chart+xml"/>
  <Override PartName="/ppt/charts/chart149.xml" ContentType="application/vnd.openxmlformats-officedocument.drawingml.chart+xml"/>
  <Override PartName="/ppt/charts/chart15.xml" ContentType="application/vnd.openxmlformats-officedocument.drawingml.chart+xml"/>
  <Override PartName="/ppt/charts/chart150.xml" ContentType="application/vnd.openxmlformats-officedocument.drawingml.chart+xml"/>
  <Override PartName="/ppt/charts/chart151.xml" ContentType="application/vnd.openxmlformats-officedocument.drawingml.chart+xml"/>
  <Override PartName="/ppt/charts/chart152.xml" ContentType="application/vnd.openxmlformats-officedocument.drawingml.chart+xml"/>
  <Override PartName="/ppt/charts/chart153.xml" ContentType="application/vnd.openxmlformats-officedocument.drawingml.chart+xml"/>
  <Override PartName="/ppt/charts/chart154.xml" ContentType="application/vnd.openxmlformats-officedocument.drawingml.chart+xml"/>
  <Override PartName="/ppt/charts/chart155.xml" ContentType="application/vnd.openxmlformats-officedocument.drawingml.chart+xml"/>
  <Override PartName="/ppt/charts/chart156.xml" ContentType="application/vnd.openxmlformats-officedocument.drawingml.chart+xml"/>
  <Override PartName="/ppt/charts/chart157.xml" ContentType="application/vnd.openxmlformats-officedocument.drawingml.chart+xml"/>
  <Override PartName="/ppt/charts/chart158.xml" ContentType="application/vnd.openxmlformats-officedocument.drawingml.chart+xml"/>
  <Override PartName="/ppt/charts/chart159.xml" ContentType="application/vnd.openxmlformats-officedocument.drawingml.chart+xml"/>
  <Override PartName="/ppt/charts/chart16.xml" ContentType="application/vnd.openxmlformats-officedocument.drawingml.chart+xml"/>
  <Override PartName="/ppt/charts/chart160.xml" ContentType="application/vnd.openxmlformats-officedocument.drawingml.chart+xml"/>
  <Override PartName="/ppt/charts/chart161.xml" ContentType="application/vnd.openxmlformats-officedocument.drawingml.chart+xml"/>
  <Override PartName="/ppt/charts/chart162.xml" ContentType="application/vnd.openxmlformats-officedocument.drawingml.chart+xml"/>
  <Override PartName="/ppt/charts/chart163.xml" ContentType="application/vnd.openxmlformats-officedocument.drawingml.chart+xml"/>
  <Override PartName="/ppt/charts/chart164.xml" ContentType="application/vnd.openxmlformats-officedocument.drawingml.chart+xml"/>
  <Override PartName="/ppt/charts/chart165.xml" ContentType="application/vnd.openxmlformats-officedocument.drawingml.chart+xml"/>
  <Override PartName="/ppt/charts/chart166.xml" ContentType="application/vnd.openxmlformats-officedocument.drawingml.chart+xml"/>
  <Override PartName="/ppt/charts/chart167.xml" ContentType="application/vnd.openxmlformats-officedocument.drawingml.chart+xml"/>
  <Override PartName="/ppt/charts/chart168.xml" ContentType="application/vnd.openxmlformats-officedocument.drawingml.chart+xml"/>
  <Override PartName="/ppt/charts/chart169.xml" ContentType="application/vnd.openxmlformats-officedocument.drawingml.chart+xml"/>
  <Override PartName="/ppt/charts/chart17.xml" ContentType="application/vnd.openxmlformats-officedocument.drawingml.chart+xml"/>
  <Override PartName="/ppt/charts/chart170.xml" ContentType="application/vnd.openxmlformats-officedocument.drawingml.chart+xml"/>
  <Override PartName="/ppt/charts/chart171.xml" ContentType="application/vnd.openxmlformats-officedocument.drawingml.chart+xml"/>
  <Override PartName="/ppt/charts/chart172.xml" ContentType="application/vnd.openxmlformats-officedocument.drawingml.chart+xml"/>
  <Override PartName="/ppt/charts/chart173.xml" ContentType="application/vnd.openxmlformats-officedocument.drawingml.chart+xml"/>
  <Override PartName="/ppt/charts/chart174.xml" ContentType="application/vnd.openxmlformats-officedocument.drawingml.chart+xml"/>
  <Override PartName="/ppt/charts/chart175.xml" ContentType="application/vnd.openxmlformats-officedocument.drawingml.chart+xml"/>
  <Override PartName="/ppt/charts/chart176.xml" ContentType="application/vnd.openxmlformats-officedocument.drawingml.chart+xml"/>
  <Override PartName="/ppt/charts/chart177.xml" ContentType="application/vnd.openxmlformats-officedocument.drawingml.chart+xml"/>
  <Override PartName="/ppt/charts/chart178.xml" ContentType="application/vnd.openxmlformats-officedocument.drawingml.chart+xml"/>
  <Override PartName="/ppt/charts/chart179.xml" ContentType="application/vnd.openxmlformats-officedocument.drawingml.chart+xml"/>
  <Override PartName="/ppt/charts/chart18.xml" ContentType="application/vnd.openxmlformats-officedocument.drawingml.chart+xml"/>
  <Override PartName="/ppt/charts/chart180.xml" ContentType="application/vnd.openxmlformats-officedocument.drawingml.chart+xml"/>
  <Override PartName="/ppt/charts/chart181.xml" ContentType="application/vnd.openxmlformats-officedocument.drawingml.chart+xml"/>
  <Override PartName="/ppt/charts/chart182.xml" ContentType="application/vnd.openxmlformats-officedocument.drawingml.chart+xml"/>
  <Override PartName="/ppt/charts/chart183.xml" ContentType="application/vnd.openxmlformats-officedocument.drawingml.chart+xml"/>
  <Override PartName="/ppt/charts/chart184.xml" ContentType="application/vnd.openxmlformats-officedocument.drawingml.chart+xml"/>
  <Override PartName="/ppt/charts/chart185.xml" ContentType="application/vnd.openxmlformats-officedocument.drawingml.chart+xml"/>
  <Override PartName="/ppt/charts/chart186.xml" ContentType="application/vnd.openxmlformats-officedocument.drawingml.chart+xml"/>
  <Override PartName="/ppt/charts/chart187.xml" ContentType="application/vnd.openxmlformats-officedocument.drawingml.chart+xml"/>
  <Override PartName="/ppt/charts/chart188.xml" ContentType="application/vnd.openxmlformats-officedocument.drawingml.chart+xml"/>
  <Override PartName="/ppt/charts/chart189.xml" ContentType="application/vnd.openxmlformats-officedocument.drawingml.chart+xml"/>
  <Override PartName="/ppt/charts/chart19.xml" ContentType="application/vnd.openxmlformats-officedocument.drawingml.chart+xml"/>
  <Override PartName="/ppt/charts/chart190.xml" ContentType="application/vnd.openxmlformats-officedocument.drawingml.chart+xml"/>
  <Override PartName="/ppt/charts/chart191.xml" ContentType="application/vnd.openxmlformats-officedocument.drawingml.chart+xml"/>
  <Override PartName="/ppt/charts/chart192.xml" ContentType="application/vnd.openxmlformats-officedocument.drawingml.chart+xml"/>
  <Override PartName="/ppt/charts/chart193.xml" ContentType="application/vnd.openxmlformats-officedocument.drawingml.chart+xml"/>
  <Override PartName="/ppt/charts/chart194.xml" ContentType="application/vnd.openxmlformats-officedocument.drawingml.chart+xml"/>
  <Override PartName="/ppt/charts/chart195.xml" ContentType="application/vnd.openxmlformats-officedocument.drawingml.chart+xml"/>
  <Override PartName="/ppt/charts/chart196.xml" ContentType="application/vnd.openxmlformats-officedocument.drawingml.chart+xml"/>
  <Override PartName="/ppt/charts/chart197.xml" ContentType="application/vnd.openxmlformats-officedocument.drawingml.chart+xml"/>
  <Override PartName="/ppt/charts/chart198.xml" ContentType="application/vnd.openxmlformats-officedocument.drawingml.chart+xml"/>
  <Override PartName="/ppt/charts/chart19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00.xml" ContentType="application/vnd.openxmlformats-officedocument.drawingml.chart+xml"/>
  <Override PartName="/ppt/charts/chart201.xml" ContentType="application/vnd.openxmlformats-officedocument.drawingml.chart+xml"/>
  <Override PartName="/ppt/charts/chart202.xml" ContentType="application/vnd.openxmlformats-officedocument.drawingml.chart+xml"/>
  <Override PartName="/ppt/charts/chart203.xml" ContentType="application/vnd.openxmlformats-officedocument.drawingml.chart+xml"/>
  <Override PartName="/ppt/charts/chart204.xml" ContentType="application/vnd.openxmlformats-officedocument.drawingml.chart+xml"/>
  <Override PartName="/ppt/charts/chart205.xml" ContentType="application/vnd.openxmlformats-officedocument.drawingml.chart+xml"/>
  <Override PartName="/ppt/charts/chart206.xml" ContentType="application/vnd.openxmlformats-officedocument.drawingml.chart+xml"/>
  <Override PartName="/ppt/charts/chart207.xml" ContentType="application/vnd.openxmlformats-officedocument.drawingml.chart+xml"/>
  <Override PartName="/ppt/charts/chart208.xml" ContentType="application/vnd.openxmlformats-officedocument.drawingml.chart+xml"/>
  <Override PartName="/ppt/charts/chart209.xml" ContentType="application/vnd.openxmlformats-officedocument.drawingml.chart+xml"/>
  <Override PartName="/ppt/charts/chart21.xml" ContentType="application/vnd.openxmlformats-officedocument.drawingml.chart+xml"/>
  <Override PartName="/ppt/charts/chart210.xml" ContentType="application/vnd.openxmlformats-officedocument.drawingml.chart+xml"/>
  <Override PartName="/ppt/charts/chart211.xml" ContentType="application/vnd.openxmlformats-officedocument.drawingml.chart+xml"/>
  <Override PartName="/ppt/charts/chart212.xml" ContentType="application/vnd.openxmlformats-officedocument.drawingml.chart+xml"/>
  <Override PartName="/ppt/charts/chart213.xml" ContentType="application/vnd.openxmlformats-officedocument.drawingml.chart+xml"/>
  <Override PartName="/ppt/charts/chart214.xml" ContentType="application/vnd.openxmlformats-officedocument.drawingml.chart+xml"/>
  <Override PartName="/ppt/charts/chart215.xml" ContentType="application/vnd.openxmlformats-officedocument.drawingml.chart+xml"/>
  <Override PartName="/ppt/charts/chart216.xml" ContentType="application/vnd.openxmlformats-officedocument.drawingml.chart+xml"/>
  <Override PartName="/ppt/charts/chart217.xml" ContentType="application/vnd.openxmlformats-officedocument.drawingml.chart+xml"/>
  <Override PartName="/ppt/charts/chart218.xml" ContentType="application/vnd.openxmlformats-officedocument.drawingml.chart+xml"/>
  <Override PartName="/ppt/charts/chart219.xml" ContentType="application/vnd.openxmlformats-officedocument.drawingml.chart+xml"/>
  <Override PartName="/ppt/charts/chart22.xml" ContentType="application/vnd.openxmlformats-officedocument.drawingml.chart+xml"/>
  <Override PartName="/ppt/charts/chart220.xml" ContentType="application/vnd.openxmlformats-officedocument.drawingml.chart+xml"/>
  <Override PartName="/ppt/charts/chart221.xml" ContentType="application/vnd.openxmlformats-officedocument.drawingml.chart+xml"/>
  <Override PartName="/ppt/charts/chart222.xml" ContentType="application/vnd.openxmlformats-officedocument.drawingml.chart+xml"/>
  <Override PartName="/ppt/charts/chart223.xml" ContentType="application/vnd.openxmlformats-officedocument.drawingml.chart+xml"/>
  <Override PartName="/ppt/charts/chart224.xml" ContentType="application/vnd.openxmlformats-officedocument.drawingml.chart+xml"/>
  <Override PartName="/ppt/charts/chart225.xml" ContentType="application/vnd.openxmlformats-officedocument.drawingml.chart+xml"/>
  <Override PartName="/ppt/charts/chart226.xml" ContentType="application/vnd.openxmlformats-officedocument.drawingml.chart+xml"/>
  <Override PartName="/ppt/charts/chart227.xml" ContentType="application/vnd.openxmlformats-officedocument.drawingml.chart+xml"/>
  <Override PartName="/ppt/charts/chart228.xml" ContentType="application/vnd.openxmlformats-officedocument.drawingml.chart+xml"/>
  <Override PartName="/ppt/charts/chart229.xml" ContentType="application/vnd.openxmlformats-officedocument.drawingml.chart+xml"/>
  <Override PartName="/ppt/charts/chart23.xml" ContentType="application/vnd.openxmlformats-officedocument.drawingml.chart+xml"/>
  <Override PartName="/ppt/charts/chart230.xml" ContentType="application/vnd.openxmlformats-officedocument.drawingml.chart+xml"/>
  <Override PartName="/ppt/charts/chart231.xml" ContentType="application/vnd.openxmlformats-officedocument.drawingml.chart+xml"/>
  <Override PartName="/ppt/charts/chart232.xml" ContentType="application/vnd.openxmlformats-officedocument.drawingml.chart+xml"/>
  <Override PartName="/ppt/charts/chart233.xml" ContentType="application/vnd.openxmlformats-officedocument.drawingml.chart+xml"/>
  <Override PartName="/ppt/charts/chart234.xml" ContentType="application/vnd.openxmlformats-officedocument.drawingml.chart+xml"/>
  <Override PartName="/ppt/charts/chart235.xml" ContentType="application/vnd.openxmlformats-officedocument.drawingml.chart+xml"/>
  <Override PartName="/ppt/charts/chart236.xml" ContentType="application/vnd.openxmlformats-officedocument.drawingml.chart+xml"/>
  <Override PartName="/ppt/charts/chart237.xml" ContentType="application/vnd.openxmlformats-officedocument.drawingml.chart+xml"/>
  <Override PartName="/ppt/charts/chart238.xml" ContentType="application/vnd.openxmlformats-officedocument.drawingml.chart+xml"/>
  <Override PartName="/ppt/charts/chart239.xml" ContentType="application/vnd.openxmlformats-officedocument.drawingml.chart+xml"/>
  <Override PartName="/ppt/charts/chart24.xml" ContentType="application/vnd.openxmlformats-officedocument.drawingml.chart+xml"/>
  <Override PartName="/ppt/charts/chart240.xml" ContentType="application/vnd.openxmlformats-officedocument.drawingml.chart+xml"/>
  <Override PartName="/ppt/charts/chart241.xml" ContentType="application/vnd.openxmlformats-officedocument.drawingml.chart+xml"/>
  <Override PartName="/ppt/charts/chart242.xml" ContentType="application/vnd.openxmlformats-officedocument.drawingml.chart+xml"/>
  <Override PartName="/ppt/charts/chart243.xml" ContentType="application/vnd.openxmlformats-officedocument.drawingml.chart+xml"/>
  <Override PartName="/ppt/charts/chart244.xml" ContentType="application/vnd.openxmlformats-officedocument.drawingml.chart+xml"/>
  <Override PartName="/ppt/charts/chart245.xml" ContentType="application/vnd.openxmlformats-officedocument.drawingml.chart+xml"/>
  <Override PartName="/ppt/charts/chart246.xml" ContentType="application/vnd.openxmlformats-officedocument.drawingml.chart+xml"/>
  <Override PartName="/ppt/charts/chart247.xml" ContentType="application/vnd.openxmlformats-officedocument.drawingml.chart+xml"/>
  <Override PartName="/ppt/charts/chart248.xml" ContentType="application/vnd.openxmlformats-officedocument.drawingml.chart+xml"/>
  <Override PartName="/ppt/charts/chart249.xml" ContentType="application/vnd.openxmlformats-officedocument.drawingml.chart+xml"/>
  <Override PartName="/ppt/charts/chart25.xml" ContentType="application/vnd.openxmlformats-officedocument.drawingml.chart+xml"/>
  <Override PartName="/ppt/charts/chart250.xml" ContentType="application/vnd.openxmlformats-officedocument.drawingml.chart+xml"/>
  <Override PartName="/ppt/charts/chart251.xml" ContentType="application/vnd.openxmlformats-officedocument.drawingml.chart+xml"/>
  <Override PartName="/ppt/charts/chart252.xml" ContentType="application/vnd.openxmlformats-officedocument.drawingml.chart+xml"/>
  <Override PartName="/ppt/charts/chart253.xml" ContentType="application/vnd.openxmlformats-officedocument.drawingml.chart+xml"/>
  <Override PartName="/ppt/charts/chart254.xml" ContentType="application/vnd.openxmlformats-officedocument.drawingml.chart+xml"/>
  <Override PartName="/ppt/charts/chart255.xml" ContentType="application/vnd.openxmlformats-officedocument.drawingml.chart+xml"/>
  <Override PartName="/ppt/charts/chart256.xml" ContentType="application/vnd.openxmlformats-officedocument.drawingml.chart+xml"/>
  <Override PartName="/ppt/charts/chart257.xml" ContentType="application/vnd.openxmlformats-officedocument.drawingml.chart+xml"/>
  <Override PartName="/ppt/charts/chart258.xml" ContentType="application/vnd.openxmlformats-officedocument.drawingml.chart+xml"/>
  <Override PartName="/ppt/charts/chart259.xml" ContentType="application/vnd.openxmlformats-officedocument.drawingml.chart+xml"/>
  <Override PartName="/ppt/charts/chart26.xml" ContentType="application/vnd.openxmlformats-officedocument.drawingml.chart+xml"/>
  <Override PartName="/ppt/charts/chart260.xml" ContentType="application/vnd.openxmlformats-officedocument.drawingml.chart+xml"/>
  <Override PartName="/ppt/charts/chart261.xml" ContentType="application/vnd.openxmlformats-officedocument.drawingml.chart+xml"/>
  <Override PartName="/ppt/charts/chart262.xml" ContentType="application/vnd.openxmlformats-officedocument.drawingml.chart+xml"/>
  <Override PartName="/ppt/charts/chart263.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charts/chart4.xml" ContentType="application/vnd.openxmlformats-officedocument.drawingml.chart+xml"/>
  <Override PartName="/ppt/charts/chart40.xml" ContentType="application/vnd.openxmlformats-officedocument.drawingml.chart+xml"/>
  <Override PartName="/ppt/charts/chart41.xml" ContentType="application/vnd.openxmlformats-officedocument.drawingml.chart+xml"/>
  <Override PartName="/ppt/charts/chart42.xml" ContentType="application/vnd.openxmlformats-officedocument.drawingml.chart+xml"/>
  <Override PartName="/ppt/charts/chart43.xml" ContentType="application/vnd.openxmlformats-officedocument.drawingml.chart+xml"/>
  <Override PartName="/ppt/charts/chart44.xml" ContentType="application/vnd.openxmlformats-officedocument.drawingml.chart+xml"/>
  <Override PartName="/ppt/charts/chart45.xml" ContentType="application/vnd.openxmlformats-officedocument.drawingml.chart+xml"/>
  <Override PartName="/ppt/charts/chart46.xml" ContentType="application/vnd.openxmlformats-officedocument.drawingml.chart+xml"/>
  <Override PartName="/ppt/charts/chart47.xml" ContentType="application/vnd.openxmlformats-officedocument.drawingml.chart+xml"/>
  <Override PartName="/ppt/charts/chart48.xml" ContentType="application/vnd.openxmlformats-officedocument.drawingml.chart+xml"/>
  <Override PartName="/ppt/charts/chart49.xml" ContentType="application/vnd.openxmlformats-officedocument.drawingml.chart+xml"/>
  <Override PartName="/ppt/charts/chart5.xml" ContentType="application/vnd.openxmlformats-officedocument.drawingml.chart+xml"/>
  <Override PartName="/ppt/charts/chart50.xml" ContentType="application/vnd.openxmlformats-officedocument.drawingml.chart+xml"/>
  <Override PartName="/ppt/charts/chart51.xml" ContentType="application/vnd.openxmlformats-officedocument.drawingml.chart+xml"/>
  <Override PartName="/ppt/charts/chart52.xml" ContentType="application/vnd.openxmlformats-officedocument.drawingml.chart+xml"/>
  <Override PartName="/ppt/charts/chart53.xml" ContentType="application/vnd.openxmlformats-officedocument.drawingml.chart+xml"/>
  <Override PartName="/ppt/charts/chart54.xml" ContentType="application/vnd.openxmlformats-officedocument.drawingml.chart+xml"/>
  <Override PartName="/ppt/charts/chart55.xml" ContentType="application/vnd.openxmlformats-officedocument.drawingml.chart+xml"/>
  <Override PartName="/ppt/charts/chart56.xml" ContentType="application/vnd.openxmlformats-officedocument.drawingml.chart+xml"/>
  <Override PartName="/ppt/charts/chart57.xml" ContentType="application/vnd.openxmlformats-officedocument.drawingml.chart+xml"/>
  <Override PartName="/ppt/charts/chart58.xml" ContentType="application/vnd.openxmlformats-officedocument.drawingml.chart+xml"/>
  <Override PartName="/ppt/charts/chart59.xml" ContentType="application/vnd.openxmlformats-officedocument.drawingml.chart+xml"/>
  <Override PartName="/ppt/charts/chart6.xml" ContentType="application/vnd.openxmlformats-officedocument.drawingml.chart+xml"/>
  <Override PartName="/ppt/charts/chart60.xml" ContentType="application/vnd.openxmlformats-officedocument.drawingml.chart+xml"/>
  <Override PartName="/ppt/charts/chart61.xml" ContentType="application/vnd.openxmlformats-officedocument.drawingml.chart+xml"/>
  <Override PartName="/ppt/charts/chart62.xml" ContentType="application/vnd.openxmlformats-officedocument.drawingml.chart+xml"/>
  <Override PartName="/ppt/charts/chart63.xml" ContentType="application/vnd.openxmlformats-officedocument.drawingml.chart+xml"/>
  <Override PartName="/ppt/charts/chart64.xml" ContentType="application/vnd.openxmlformats-officedocument.drawingml.chart+xml"/>
  <Override PartName="/ppt/charts/chart65.xml" ContentType="application/vnd.openxmlformats-officedocument.drawingml.chart+xml"/>
  <Override PartName="/ppt/charts/chart66.xml" ContentType="application/vnd.openxmlformats-officedocument.drawingml.chart+xml"/>
  <Override PartName="/ppt/charts/chart67.xml" ContentType="application/vnd.openxmlformats-officedocument.drawingml.chart+xml"/>
  <Override PartName="/ppt/charts/chart68.xml" ContentType="application/vnd.openxmlformats-officedocument.drawingml.chart+xml"/>
  <Override PartName="/ppt/charts/chart69.xml" ContentType="application/vnd.openxmlformats-officedocument.drawingml.chart+xml"/>
  <Override PartName="/ppt/charts/chart7.xml" ContentType="application/vnd.openxmlformats-officedocument.drawingml.chart+xml"/>
  <Override PartName="/ppt/charts/chart70.xml" ContentType="application/vnd.openxmlformats-officedocument.drawingml.chart+xml"/>
  <Override PartName="/ppt/charts/chart71.xml" ContentType="application/vnd.openxmlformats-officedocument.drawingml.chart+xml"/>
  <Override PartName="/ppt/charts/chart72.xml" ContentType="application/vnd.openxmlformats-officedocument.drawingml.chart+xml"/>
  <Override PartName="/ppt/charts/chart73.xml" ContentType="application/vnd.openxmlformats-officedocument.drawingml.chart+xml"/>
  <Override PartName="/ppt/charts/chart74.xml" ContentType="application/vnd.openxmlformats-officedocument.drawingml.chart+xml"/>
  <Override PartName="/ppt/charts/chart75.xml" ContentType="application/vnd.openxmlformats-officedocument.drawingml.chart+xml"/>
  <Override PartName="/ppt/charts/chart76.xml" ContentType="application/vnd.openxmlformats-officedocument.drawingml.chart+xml"/>
  <Override PartName="/ppt/charts/chart77.xml" ContentType="application/vnd.openxmlformats-officedocument.drawingml.chart+xml"/>
  <Override PartName="/ppt/charts/chart78.xml" ContentType="application/vnd.openxmlformats-officedocument.drawingml.chart+xml"/>
  <Override PartName="/ppt/charts/chart79.xml" ContentType="application/vnd.openxmlformats-officedocument.drawingml.chart+xml"/>
  <Override PartName="/ppt/charts/chart8.xml" ContentType="application/vnd.openxmlformats-officedocument.drawingml.chart+xml"/>
  <Override PartName="/ppt/charts/chart80.xml" ContentType="application/vnd.openxmlformats-officedocument.drawingml.chart+xml"/>
  <Override PartName="/ppt/charts/chart81.xml" ContentType="application/vnd.openxmlformats-officedocument.drawingml.chart+xml"/>
  <Override PartName="/ppt/charts/chart82.xml" ContentType="application/vnd.openxmlformats-officedocument.drawingml.chart+xml"/>
  <Override PartName="/ppt/charts/chart83.xml" ContentType="application/vnd.openxmlformats-officedocument.drawingml.chart+xml"/>
  <Override PartName="/ppt/charts/chart84.xml" ContentType="application/vnd.openxmlformats-officedocument.drawingml.chart+xml"/>
  <Override PartName="/ppt/charts/chart85.xml" ContentType="application/vnd.openxmlformats-officedocument.drawingml.chart+xml"/>
  <Override PartName="/ppt/charts/chart86.xml" ContentType="application/vnd.openxmlformats-officedocument.drawingml.chart+xml"/>
  <Override PartName="/ppt/charts/chart87.xml" ContentType="application/vnd.openxmlformats-officedocument.drawingml.chart+xml"/>
  <Override PartName="/ppt/charts/chart88.xml" ContentType="application/vnd.openxmlformats-officedocument.drawingml.chart+xml"/>
  <Override PartName="/ppt/charts/chart89.xml" ContentType="application/vnd.openxmlformats-officedocument.drawingml.chart+xml"/>
  <Override PartName="/ppt/charts/chart9.xml" ContentType="application/vnd.openxmlformats-officedocument.drawingml.chart+xml"/>
  <Override PartName="/ppt/charts/chart90.xml" ContentType="application/vnd.openxmlformats-officedocument.drawingml.chart+xml"/>
  <Override PartName="/ppt/charts/chart91.xml" ContentType="application/vnd.openxmlformats-officedocument.drawingml.chart+xml"/>
  <Override PartName="/ppt/charts/chart92.xml" ContentType="application/vnd.openxmlformats-officedocument.drawingml.chart+xml"/>
  <Override PartName="/ppt/charts/chart93.xml" ContentType="application/vnd.openxmlformats-officedocument.drawingml.chart+xml"/>
  <Override PartName="/ppt/charts/chart94.xml" ContentType="application/vnd.openxmlformats-officedocument.drawingml.chart+xml"/>
  <Override PartName="/ppt/charts/chart95.xml" ContentType="application/vnd.openxmlformats-officedocument.drawingml.chart+xml"/>
  <Override PartName="/ppt/charts/chart96.xml" ContentType="application/vnd.openxmlformats-officedocument.drawingml.chart+xml"/>
  <Override PartName="/ppt/charts/chart97.xml" ContentType="application/vnd.openxmlformats-officedocument.drawingml.chart+xml"/>
  <Override PartName="/ppt/charts/chart98.xml" ContentType="application/vnd.openxmlformats-officedocument.drawingml.chart+xml"/>
  <Override PartName="/ppt/charts/chart9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7" r:id="rId18"/>
    <p:sldId id="268" r:id="rId19"/>
    <p:sldId id="269" r:id="rId20"/>
    <p:sldId id="270" r:id="rId21"/>
    <p:sldId id="271" r:id="rId22"/>
    <p:sldId id="272" r:id="rId23"/>
    <p:sldId id="273" r:id="rId24"/>
    <p:sldId id="274" r:id="rId25"/>
    <p:sldId id="258" r:id="rId4"/>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59" r:id="rId5"/>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260" r:id="rId6"/>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261" r:id="rId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 id="369" r:id="rId120"/>
    <p:sldId id="370" r:id="rId121"/>
    <p:sldId id="371" r:id="rId122"/>
    <p:sldId id="262" r:id="rId8"/>
    <p:sldId id="372" r:id="rId123"/>
    <p:sldId id="373" r:id="rId124"/>
    <p:sldId id="374" r:id="rId125"/>
    <p:sldId id="375" r:id="rId126"/>
    <p:sldId id="376" r:id="rId127"/>
    <p:sldId id="377" r:id="rId128"/>
    <p:sldId id="378" r:id="rId129"/>
    <p:sldId id="379" r:id="rId130"/>
    <p:sldId id="380" r:id="rId131"/>
    <p:sldId id="381" r:id="rId132"/>
    <p:sldId id="382" r:id="rId133"/>
    <p:sldId id="383" r:id="rId134"/>
    <p:sldId id="384" r:id="rId135"/>
    <p:sldId id="263" r:id="rId9"/>
    <p:sldId id="385" r:id="rId136"/>
    <p:sldId id="386" r:id="rId137"/>
    <p:sldId id="387" r:id="rId138"/>
    <p:sldId id="388" r:id="rId139"/>
    <p:sldId id="389" r:id="rId140"/>
    <p:sldId id="390" r:id="rId141"/>
    <p:sldId id="391" r:id="rId142"/>
    <p:sldId id="392" r:id="rId143"/>
    <p:sldId id="393" r:id="rId144"/>
    <p:sldId id="394" r:id="rId145"/>
    <p:sldId id="395" r:id="rId146"/>
    <p:sldId id="396" r:id="rId147"/>
    <p:sldId id="397" r:id="rId148"/>
    <p:sldId id="398" r:id="rId149"/>
    <p:sldId id="399" r:id="rId150"/>
    <p:sldId id="400" r:id="rId151"/>
    <p:sldId id="401" r:id="rId152"/>
    <p:sldId id="402" r:id="rId153"/>
    <p:sldId id="264" r:id="rId10"/>
    <p:sldId id="403" r:id="rId154"/>
    <p:sldId id="404" r:id="rId155"/>
    <p:sldId id="405" r:id="rId156"/>
    <p:sldId id="406" r:id="rId157"/>
    <p:sldId id="407" r:id="rId158"/>
    <p:sldId id="408" r:id="rId159"/>
    <p:sldId id="409" r:id="rId160"/>
    <p:sldId id="410" r:id="rId161"/>
    <p:sldId id="265" r:id="rId11"/>
    <p:sldId id="411" r:id="rId162"/>
    <p:sldId id="412" r:id="rId163"/>
    <p:sldId id="413" r:id="rId164"/>
    <p:sldId id="414" r:id="rId165"/>
    <p:sldId id="415" r:id="rId166"/>
    <p:sldId id="416" r:id="rId167"/>
    <p:sldId id="266" r:id="rId12"/>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442" r:id="rId193"/>
    <p:sldId id="443" r:id="rId194"/>
    <p:sldId id="444" r:id="rId195"/>
    <p:sldId id="445" r:id="rId196"/>
    <p:sldId id="446" r:id="rId197"/>
    <p:sldId id="447" r:id="rId198"/>
    <p:sldId id="448" r:id="rId199"/>
    <p:sldId id="449" r:id="rId200"/>
    <p:sldId id="450" r:id="rId201"/>
    <p:sldId id="451" r:id="rId202"/>
    <p:sldId id="452" r:id="rId203"/>
    <p:sldId id="453" r:id="rId204"/>
    <p:sldId id="454" r:id="rId205"/>
    <p:sldId id="455" r:id="rId206"/>
    <p:sldId id="456" r:id="rId207"/>
    <p:sldId id="457" r:id="rId208"/>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
<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
<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
<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
<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
<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
<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
<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
<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
<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
<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
<Relationships xmlns="http://schemas.openxmlformats.org/package/2006/relationships"><Relationship Id="rId1" Type="http://schemas.openxmlformats.org/officeDocument/2006/relationships/package" Target="../embeddings/Microsoft_Excel_Worksheet39.xlsx"/></Relationships>
</file>

<file path=ppt/charts/_rels/chart40.xml.rels><?xml version='1.0' encoding='UTF-8' standalone='yes'?>
<Relationships xmlns="http://schemas.openxmlformats.org/package/2006/relationships"><Relationship Id="rId1" Type="http://schemas.openxmlformats.org/officeDocument/2006/relationships/package" Target="../embeddings/Microsoft_Excel_Worksheet40.xlsx"/></Relationships>
</file>

<file path=ppt/charts/_rels/chart41.xml.rels><?xml version='1.0' encoding='UTF-8' standalone='yes'?>
<Relationships xmlns="http://schemas.openxmlformats.org/package/2006/relationships"><Relationship Id="rId1" Type="http://schemas.openxmlformats.org/officeDocument/2006/relationships/package" Target="../embeddings/Microsoft_Excel_Worksheet41.xlsx"/></Relationships>
</file>

<file path=ppt/charts/_rels/chart42.xml.rels><?xml version='1.0' encoding='UTF-8' standalone='yes'?>
<Relationships xmlns="http://schemas.openxmlformats.org/package/2006/relationships"><Relationship Id="rId1" Type="http://schemas.openxmlformats.org/officeDocument/2006/relationships/package" Target="../embeddings/Microsoft_Excel_Worksheet42.xlsx"/></Relationships>
</file>

<file path=ppt/charts/_rels/chart43.xml.rels><?xml version='1.0' encoding='UTF-8' standalone='yes'?>
<Relationships xmlns="http://schemas.openxmlformats.org/package/2006/relationships"><Relationship Id="rId1" Type="http://schemas.openxmlformats.org/officeDocument/2006/relationships/package" Target="../embeddings/Microsoft_Excel_Worksheet43.xlsx"/></Relationships>
</file>

<file path=ppt/charts/_rels/chart44.xml.rels><?xml version='1.0' encoding='UTF-8' standalone='yes'?>
<Relationships xmlns="http://schemas.openxmlformats.org/package/2006/relationships"><Relationship Id="rId1" Type="http://schemas.openxmlformats.org/officeDocument/2006/relationships/package" Target="../embeddings/Microsoft_Excel_Worksheet44.xlsx"/></Relationships>
</file>

<file path=ppt/charts/_rels/chart45.xml.rels><?xml version='1.0' encoding='UTF-8' standalone='yes'?>
<Relationships xmlns="http://schemas.openxmlformats.org/package/2006/relationships"><Relationship Id="rId1" Type="http://schemas.openxmlformats.org/officeDocument/2006/relationships/package" Target="../embeddings/Microsoft_Excel_Worksheet45.xlsx"/></Relationships>
</file>

<file path=ppt/charts/_rels/chart46.xml.rels><?xml version='1.0' encoding='UTF-8' standalone='yes'?>
<Relationships xmlns="http://schemas.openxmlformats.org/package/2006/relationships"><Relationship Id="rId1" Type="http://schemas.openxmlformats.org/officeDocument/2006/relationships/package" Target="../embeddings/Microsoft_Excel_Worksheet46.xlsx"/></Relationships>
</file>

<file path=ppt/charts/_rels/chart47.xml.rels><?xml version='1.0' encoding='UTF-8' standalone='yes'?>
<Relationships xmlns="http://schemas.openxmlformats.org/package/2006/relationships"><Relationship Id="rId1" Type="http://schemas.openxmlformats.org/officeDocument/2006/relationships/package" Target="../embeddings/Microsoft_Excel_Worksheet47.xlsx"/></Relationships>
</file>

<file path=ppt/charts/_rels/chart48.xml.rels><?xml version='1.0' encoding='UTF-8' standalone='yes'?>
<Relationships xmlns="http://schemas.openxmlformats.org/package/2006/relationships"><Relationship Id="rId1" Type="http://schemas.openxmlformats.org/officeDocument/2006/relationships/package" Target="../embeddings/Microsoft_Excel_Worksheet48.xlsx"/></Relationships>
</file>

<file path=ppt/charts/_rels/chart49.xml.rels><?xml version='1.0' encoding='UTF-8' standalone='yes'?>
<Relationships xmlns="http://schemas.openxmlformats.org/package/2006/relationships"><Relationship Id="rId1" Type="http://schemas.openxmlformats.org/officeDocument/2006/relationships/package" Target="../embeddings/Microsoft_Excel_Worksheet49.xlsx"/></Relationships>
</file>

<file path=ppt/charts/_rels/chart50.xml.rels><?xml version='1.0' encoding='UTF-8' standalone='yes'?>
<Relationships xmlns="http://schemas.openxmlformats.org/package/2006/relationships"><Relationship Id="rId1" Type="http://schemas.openxmlformats.org/officeDocument/2006/relationships/package" Target="../embeddings/Microsoft_Excel_Worksheet50.xlsx"/></Relationships>
</file>

<file path=ppt/charts/_rels/chart51.xml.rels><?xml version='1.0' encoding='UTF-8' standalone='yes'?>
<Relationships xmlns="http://schemas.openxmlformats.org/package/2006/relationships"><Relationship Id="rId1" Type="http://schemas.openxmlformats.org/officeDocument/2006/relationships/package" Target="../embeddings/Microsoft_Excel_Worksheet51.xlsx"/></Relationships>
</file>

<file path=ppt/charts/_rels/chart52.xml.rels><?xml version='1.0' encoding='UTF-8' standalone='yes'?>
<Relationships xmlns="http://schemas.openxmlformats.org/package/2006/relationships"><Relationship Id="rId1" Type="http://schemas.openxmlformats.org/officeDocument/2006/relationships/package" Target="../embeddings/Microsoft_Excel_Worksheet52.xlsx"/></Relationships>
</file>

<file path=ppt/charts/_rels/chart53.xml.rels><?xml version='1.0' encoding='UTF-8' standalone='yes'?>
<Relationships xmlns="http://schemas.openxmlformats.org/package/2006/relationships"><Relationship Id="rId1" Type="http://schemas.openxmlformats.org/officeDocument/2006/relationships/package" Target="../embeddings/Microsoft_Excel_Worksheet53.xlsx"/></Relationships>
</file>

<file path=ppt/charts/_rels/chart54.xml.rels><?xml version='1.0' encoding='UTF-8' standalone='yes'?>
<Relationships xmlns="http://schemas.openxmlformats.org/package/2006/relationships"><Relationship Id="rId1" Type="http://schemas.openxmlformats.org/officeDocument/2006/relationships/package" Target="../embeddings/Microsoft_Excel_Worksheet54.xlsx"/></Relationships>
</file>

<file path=ppt/charts/_rels/chart55.xml.rels><?xml version='1.0' encoding='UTF-8' standalone='yes'?>
<Relationships xmlns="http://schemas.openxmlformats.org/package/2006/relationships"><Relationship Id="rId1" Type="http://schemas.openxmlformats.org/officeDocument/2006/relationships/package" Target="../embeddings/Microsoft_Excel_Worksheet55.xlsx"/></Relationships>
</file>

<file path=ppt/charts/_rels/chart56.xml.rels><?xml version='1.0' encoding='UTF-8' standalone='yes'?>
<Relationships xmlns="http://schemas.openxmlformats.org/package/2006/relationships"><Relationship Id="rId1" Type="http://schemas.openxmlformats.org/officeDocument/2006/relationships/package" Target="../embeddings/Microsoft_Excel_Worksheet56.xlsx"/></Relationships>
</file>

<file path=ppt/charts/_rels/chart57.xml.rels><?xml version='1.0' encoding='UTF-8' standalone='yes'?>
<Relationships xmlns="http://schemas.openxmlformats.org/package/2006/relationships"><Relationship Id="rId1" Type="http://schemas.openxmlformats.org/officeDocument/2006/relationships/package" Target="../embeddings/Microsoft_Excel_Worksheet57.xlsx"/></Relationships>
</file>

<file path=ppt/charts/_rels/chart58.xml.rels><?xml version='1.0' encoding='UTF-8' standalone='yes'?>
<Relationships xmlns="http://schemas.openxmlformats.org/package/2006/relationships"><Relationship Id="rId1" Type="http://schemas.openxmlformats.org/officeDocument/2006/relationships/package" Target="../embeddings/Microsoft_Excel_Worksheet58.xlsx"/></Relationships>
</file>

<file path=ppt/charts/_rels/chart59.xml.rels><?xml version='1.0' encoding='UTF-8' standalone='yes'?>
<Relationships xmlns="http://schemas.openxmlformats.org/package/2006/relationships"><Relationship Id="rId1" Type="http://schemas.openxmlformats.org/officeDocument/2006/relationships/package" Target="../embeddings/Microsoft_Excel_Worksheet59.xlsx"/></Relationships>
</file>

<file path=ppt/charts/_rels/chart60.xml.rels><?xml version='1.0' encoding='UTF-8' standalone='yes'?>
<Relationships xmlns="http://schemas.openxmlformats.org/package/2006/relationships"><Relationship Id="rId1" Type="http://schemas.openxmlformats.org/officeDocument/2006/relationships/package" Target="../embeddings/Microsoft_Excel_Worksheet60.xlsx"/></Relationships>
</file>

<file path=ppt/charts/_rels/chart61.xml.rels><?xml version='1.0' encoding='UTF-8' standalone='yes'?>
<Relationships xmlns="http://schemas.openxmlformats.org/package/2006/relationships"><Relationship Id="rId1" Type="http://schemas.openxmlformats.org/officeDocument/2006/relationships/package" Target="../embeddings/Microsoft_Excel_Worksheet61.xlsx"/></Relationships>
</file>

<file path=ppt/charts/_rels/chart62.xml.rels><?xml version='1.0' encoding='UTF-8' standalone='yes'?>
<Relationships xmlns="http://schemas.openxmlformats.org/package/2006/relationships"><Relationship Id="rId1" Type="http://schemas.openxmlformats.org/officeDocument/2006/relationships/package" Target="../embeddings/Microsoft_Excel_Worksheet62.xlsx"/></Relationships>
</file>

<file path=ppt/charts/_rels/chart63.xml.rels><?xml version='1.0' encoding='UTF-8' standalone='yes'?>
<Relationships xmlns="http://schemas.openxmlformats.org/package/2006/relationships"><Relationship Id="rId1" Type="http://schemas.openxmlformats.org/officeDocument/2006/relationships/package" Target="../embeddings/Microsoft_Excel_Worksheet63.xlsx"/></Relationships>
</file>

<file path=ppt/charts/_rels/chart64.xml.rels><?xml version='1.0' encoding='UTF-8' standalone='yes'?>
<Relationships xmlns="http://schemas.openxmlformats.org/package/2006/relationships"><Relationship Id="rId1" Type="http://schemas.openxmlformats.org/officeDocument/2006/relationships/package" Target="../embeddings/Microsoft_Excel_Worksheet64.xlsx"/></Relationships>
</file>

<file path=ppt/charts/_rels/chart65.xml.rels><?xml version='1.0' encoding='UTF-8' standalone='yes'?>
<Relationships xmlns="http://schemas.openxmlformats.org/package/2006/relationships"><Relationship Id="rId1" Type="http://schemas.openxmlformats.org/officeDocument/2006/relationships/package" Target="../embeddings/Microsoft_Excel_Worksheet65.xlsx"/></Relationships>
</file>

<file path=ppt/charts/_rels/chart66.xml.rels><?xml version='1.0' encoding='UTF-8' standalone='yes'?>
<Relationships xmlns="http://schemas.openxmlformats.org/package/2006/relationships"><Relationship Id="rId1" Type="http://schemas.openxmlformats.org/officeDocument/2006/relationships/package" Target="../embeddings/Microsoft_Excel_Worksheet66.xlsx"/></Relationships>
</file>

<file path=ppt/charts/_rels/chart67.xml.rels><?xml version='1.0' encoding='UTF-8' standalone='yes'?>
<Relationships xmlns="http://schemas.openxmlformats.org/package/2006/relationships"><Relationship Id="rId1" Type="http://schemas.openxmlformats.org/officeDocument/2006/relationships/package" Target="../embeddings/Microsoft_Excel_Worksheet67.xlsx"/></Relationships>
</file>

<file path=ppt/charts/_rels/chart68.xml.rels><?xml version='1.0' encoding='UTF-8' standalone='yes'?>
<Relationships xmlns="http://schemas.openxmlformats.org/package/2006/relationships"><Relationship Id="rId1" Type="http://schemas.openxmlformats.org/officeDocument/2006/relationships/package" Target="../embeddings/Microsoft_Excel_Worksheet68.xlsx"/></Relationships>
</file>

<file path=ppt/charts/_rels/chart69.xml.rels><?xml version='1.0' encoding='UTF-8' standalone='yes'?>
<Relationships xmlns="http://schemas.openxmlformats.org/package/2006/relationships"><Relationship Id="rId1" Type="http://schemas.openxmlformats.org/officeDocument/2006/relationships/package" Target="../embeddings/Microsoft_Excel_Worksheet69.xlsx"/></Relationships>
</file>

<file path=ppt/charts/_rels/chart70.xml.rels><?xml version='1.0' encoding='UTF-8' standalone='yes'?>
<Relationships xmlns="http://schemas.openxmlformats.org/package/2006/relationships"><Relationship Id="rId1" Type="http://schemas.openxmlformats.org/officeDocument/2006/relationships/package" Target="../embeddings/Microsoft_Excel_Worksheet70.xlsx"/></Relationships>
</file>

<file path=ppt/charts/_rels/chart71.xml.rels><?xml version='1.0' encoding='UTF-8' standalone='yes'?>
<Relationships xmlns="http://schemas.openxmlformats.org/package/2006/relationships"><Relationship Id="rId1" Type="http://schemas.openxmlformats.org/officeDocument/2006/relationships/package" Target="../embeddings/Microsoft_Excel_Worksheet71.xlsx"/></Relationships>
</file>

<file path=ppt/charts/_rels/chart72.xml.rels><?xml version='1.0' encoding='UTF-8' standalone='yes'?>
<Relationships xmlns="http://schemas.openxmlformats.org/package/2006/relationships"><Relationship Id="rId1" Type="http://schemas.openxmlformats.org/officeDocument/2006/relationships/package" Target="../embeddings/Microsoft_Excel_Worksheet72.xlsx"/></Relationships>
</file>

<file path=ppt/charts/_rels/chart73.xml.rels><?xml version='1.0' encoding='UTF-8' standalone='yes'?>
<Relationships xmlns="http://schemas.openxmlformats.org/package/2006/relationships"><Relationship Id="rId1" Type="http://schemas.openxmlformats.org/officeDocument/2006/relationships/package" Target="../embeddings/Microsoft_Excel_Worksheet73.xlsx"/></Relationships>
</file>

<file path=ppt/charts/_rels/chart74.xml.rels><?xml version='1.0' encoding='UTF-8' standalone='yes'?>
<Relationships xmlns="http://schemas.openxmlformats.org/package/2006/relationships"><Relationship Id="rId1" Type="http://schemas.openxmlformats.org/officeDocument/2006/relationships/package" Target="../embeddings/Microsoft_Excel_Worksheet74.xlsx"/></Relationships>
</file>

<file path=ppt/charts/_rels/chart75.xml.rels><?xml version='1.0' encoding='UTF-8' standalone='yes'?>
<Relationships xmlns="http://schemas.openxmlformats.org/package/2006/relationships"><Relationship Id="rId1" Type="http://schemas.openxmlformats.org/officeDocument/2006/relationships/package" Target="../embeddings/Microsoft_Excel_Worksheet75.xlsx"/></Relationships>
</file>

<file path=ppt/charts/_rels/chart76.xml.rels><?xml version='1.0' encoding='UTF-8' standalone='yes'?>
<Relationships xmlns="http://schemas.openxmlformats.org/package/2006/relationships"><Relationship Id="rId1" Type="http://schemas.openxmlformats.org/officeDocument/2006/relationships/package" Target="../embeddings/Microsoft_Excel_Worksheet76.xlsx"/></Relationships>
</file>

<file path=ppt/charts/_rels/chart77.xml.rels><?xml version='1.0' encoding='UTF-8' standalone='yes'?>
<Relationships xmlns="http://schemas.openxmlformats.org/package/2006/relationships"><Relationship Id="rId1" Type="http://schemas.openxmlformats.org/officeDocument/2006/relationships/package" Target="../embeddings/Microsoft_Excel_Worksheet77.xlsx"/></Relationships>
</file>

<file path=ppt/charts/_rels/chart78.xml.rels><?xml version='1.0' encoding='UTF-8' standalone='yes'?>
<Relationships xmlns="http://schemas.openxmlformats.org/package/2006/relationships"><Relationship Id="rId1" Type="http://schemas.openxmlformats.org/officeDocument/2006/relationships/package" Target="../embeddings/Microsoft_Excel_Worksheet78.xlsx"/></Relationships>
</file>

<file path=ppt/charts/_rels/chart79.xml.rels><?xml version='1.0' encoding='UTF-8' standalone='yes'?>
<Relationships xmlns="http://schemas.openxmlformats.org/package/2006/relationships"><Relationship Id="rId1" Type="http://schemas.openxmlformats.org/officeDocument/2006/relationships/package" Target="../embeddings/Microsoft_Excel_Worksheet79.xlsx"/></Relationships>
</file>

<file path=ppt/charts/_rels/chart80.xml.rels><?xml version='1.0' encoding='UTF-8' standalone='yes'?>
<Relationships xmlns="http://schemas.openxmlformats.org/package/2006/relationships"><Relationship Id="rId1" Type="http://schemas.openxmlformats.org/officeDocument/2006/relationships/package" Target="../embeddings/Microsoft_Excel_Worksheet80.xlsx"/></Relationships>
</file>

<file path=ppt/charts/_rels/chart81.xml.rels><?xml version='1.0' encoding='UTF-8' standalone='yes'?>
<Relationships xmlns="http://schemas.openxmlformats.org/package/2006/relationships"><Relationship Id="rId1" Type="http://schemas.openxmlformats.org/officeDocument/2006/relationships/package" Target="../embeddings/Microsoft_Excel_Worksheet81.xlsx"/></Relationships>
</file>

<file path=ppt/charts/_rels/chart82.xml.rels><?xml version='1.0' encoding='UTF-8' standalone='yes'?>
<Relationships xmlns="http://schemas.openxmlformats.org/package/2006/relationships"><Relationship Id="rId1" Type="http://schemas.openxmlformats.org/officeDocument/2006/relationships/package" Target="../embeddings/Microsoft_Excel_Worksheet82.xlsx"/></Relationships>
</file>

<file path=ppt/charts/_rels/chart83.xml.rels><?xml version='1.0' encoding='UTF-8' standalone='yes'?>
<Relationships xmlns="http://schemas.openxmlformats.org/package/2006/relationships"><Relationship Id="rId1" Type="http://schemas.openxmlformats.org/officeDocument/2006/relationships/package" Target="../embeddings/Microsoft_Excel_Worksheet83.xlsx"/></Relationships>
</file>

<file path=ppt/charts/_rels/chart84.xml.rels><?xml version='1.0' encoding='UTF-8' standalone='yes'?>
<Relationships xmlns="http://schemas.openxmlformats.org/package/2006/relationships"><Relationship Id="rId1" Type="http://schemas.openxmlformats.org/officeDocument/2006/relationships/package" Target="../embeddings/Microsoft_Excel_Worksheet84.xlsx"/></Relationships>
</file>

<file path=ppt/charts/_rels/chart85.xml.rels><?xml version='1.0' encoding='UTF-8' standalone='yes'?>
<Relationships xmlns="http://schemas.openxmlformats.org/package/2006/relationships"><Relationship Id="rId1" Type="http://schemas.openxmlformats.org/officeDocument/2006/relationships/package" Target="../embeddings/Microsoft_Excel_Worksheet85.xlsx"/></Relationships>
</file>

<file path=ppt/charts/_rels/chart86.xml.rels><?xml version='1.0' encoding='UTF-8' standalone='yes'?>
<Relationships xmlns="http://schemas.openxmlformats.org/package/2006/relationships"><Relationship Id="rId1" Type="http://schemas.openxmlformats.org/officeDocument/2006/relationships/package" Target="../embeddings/Microsoft_Excel_Worksheet86.xlsx"/></Relationships>
</file>

<file path=ppt/charts/_rels/chart87.xml.rels><?xml version='1.0' encoding='UTF-8' standalone='yes'?>
<Relationships xmlns="http://schemas.openxmlformats.org/package/2006/relationships"><Relationship Id="rId1" Type="http://schemas.openxmlformats.org/officeDocument/2006/relationships/package" Target="../embeddings/Microsoft_Excel_Worksheet87.xlsx"/></Relationships>
</file>

<file path=ppt/charts/_rels/chart88.xml.rels><?xml version='1.0' encoding='UTF-8' standalone='yes'?>
<Relationships xmlns="http://schemas.openxmlformats.org/package/2006/relationships"><Relationship Id="rId1" Type="http://schemas.openxmlformats.org/officeDocument/2006/relationships/package" Target="../embeddings/Microsoft_Excel_Worksheet88.xlsx"/></Relationships>
</file>

<file path=ppt/charts/_rels/chart89.xml.rels><?xml version='1.0' encoding='UTF-8' standalone='yes'?>
<Relationships xmlns="http://schemas.openxmlformats.org/package/2006/relationships"><Relationship Id="rId1" Type="http://schemas.openxmlformats.org/officeDocument/2006/relationships/package" Target="../embeddings/Microsoft_Excel_Worksheet89.xlsx"/></Relationships>
</file>

<file path=ppt/charts/_rels/chart90.xml.rels><?xml version='1.0' encoding='UTF-8' standalone='yes'?>
<Relationships xmlns="http://schemas.openxmlformats.org/package/2006/relationships"><Relationship Id="rId1" Type="http://schemas.openxmlformats.org/officeDocument/2006/relationships/package" Target="../embeddings/Microsoft_Excel_Worksheet90.xlsx"/></Relationships>
</file>

<file path=ppt/charts/_rels/chart91.xml.rels><?xml version='1.0' encoding='UTF-8' standalone='yes'?>
<Relationships xmlns="http://schemas.openxmlformats.org/package/2006/relationships"><Relationship Id="rId1" Type="http://schemas.openxmlformats.org/officeDocument/2006/relationships/package" Target="../embeddings/Microsoft_Excel_Worksheet91.xlsx"/></Relationships>
</file>

<file path=ppt/charts/_rels/chart92.xml.rels><?xml version='1.0' encoding='UTF-8' standalone='yes'?>
<Relationships xmlns="http://schemas.openxmlformats.org/package/2006/relationships"><Relationship Id="rId1" Type="http://schemas.openxmlformats.org/officeDocument/2006/relationships/package" Target="../embeddings/Microsoft_Excel_Worksheet92.xlsx"/></Relationships>
</file>

<file path=ppt/charts/_rels/chart93.xml.rels><?xml version='1.0' encoding='UTF-8' standalone='yes'?>
<Relationships xmlns="http://schemas.openxmlformats.org/package/2006/relationships"><Relationship Id="rId1" Type="http://schemas.openxmlformats.org/officeDocument/2006/relationships/package" Target="../embeddings/Microsoft_Excel_Worksheet93.xlsx"/></Relationships>
</file>

<file path=ppt/charts/_rels/chart94.xml.rels><?xml version='1.0' encoding='UTF-8' standalone='yes'?>
<Relationships xmlns="http://schemas.openxmlformats.org/package/2006/relationships"><Relationship Id="rId1" Type="http://schemas.openxmlformats.org/officeDocument/2006/relationships/package" Target="../embeddings/Microsoft_Excel_Worksheet94.xlsx"/></Relationships>
</file>

<file path=ppt/charts/_rels/chart95.xml.rels><?xml version='1.0' encoding='UTF-8' standalone='yes'?>
<Relationships xmlns="http://schemas.openxmlformats.org/package/2006/relationships"><Relationship Id="rId1" Type="http://schemas.openxmlformats.org/officeDocument/2006/relationships/package" Target="../embeddings/Microsoft_Excel_Worksheet95.xlsx"/></Relationships>
</file>

<file path=ppt/charts/_rels/chart96.xml.rels><?xml version='1.0' encoding='UTF-8' standalone='yes'?>
<Relationships xmlns="http://schemas.openxmlformats.org/package/2006/relationships"><Relationship Id="rId1" Type="http://schemas.openxmlformats.org/officeDocument/2006/relationships/package" Target="../embeddings/Microsoft_Excel_Worksheet96.xlsx"/></Relationships>
</file>

<file path=ppt/charts/_rels/chart97.xml.rels><?xml version='1.0' encoding='UTF-8' standalone='yes'?>
<Relationships xmlns="http://schemas.openxmlformats.org/package/2006/relationships"><Relationship Id="rId1" Type="http://schemas.openxmlformats.org/officeDocument/2006/relationships/package" Target="../embeddings/Microsoft_Excel_Worksheet97.xlsx"/></Relationships>
</file>

<file path=ppt/charts/_rels/chart98.xml.rels><?xml version='1.0' encoding='UTF-8' standalone='yes'?>
<Relationships xmlns="http://schemas.openxmlformats.org/package/2006/relationships"><Relationship Id="rId1" Type="http://schemas.openxmlformats.org/officeDocument/2006/relationships/package" Target="../embeddings/Microsoft_Excel_Worksheet98.xlsx"/></Relationships>
</file>

<file path=ppt/charts/_rels/chart99.xml.rels><?xml version='1.0' encoding='UTF-8' standalone='yes'?>
<Relationships xmlns="http://schemas.openxmlformats.org/package/2006/relationships"><Relationship Id="rId1" Type="http://schemas.openxmlformats.org/officeDocument/2006/relationships/package" Target="../embeddings/Microsoft_Excel_Worksheet99.xlsx"/></Relationships>
</file>

<file path=ppt/charts/_rels/chart100.xml.rels><?xml version='1.0' encoding='UTF-8' standalone='yes'?>
<Relationships xmlns="http://schemas.openxmlformats.org/package/2006/relationships"><Relationship Id="rId1" Type="http://schemas.openxmlformats.org/officeDocument/2006/relationships/package" Target="../embeddings/Microsoft_Excel_Worksheet100.xlsx"/></Relationships>
</file>

<file path=ppt/charts/_rels/chart101.xml.rels><?xml version='1.0' encoding='UTF-8' standalone='yes'?>
<Relationships xmlns="http://schemas.openxmlformats.org/package/2006/relationships"><Relationship Id="rId1" Type="http://schemas.openxmlformats.org/officeDocument/2006/relationships/package" Target="../embeddings/Microsoft_Excel_Worksheet101.xlsx"/></Relationships>
</file>

<file path=ppt/charts/_rels/chart102.xml.rels><?xml version='1.0' encoding='UTF-8' standalone='yes'?>
<Relationships xmlns="http://schemas.openxmlformats.org/package/2006/relationships"><Relationship Id="rId1" Type="http://schemas.openxmlformats.org/officeDocument/2006/relationships/package" Target="../embeddings/Microsoft_Excel_Worksheet102.xlsx"/></Relationships>
</file>

<file path=ppt/charts/_rels/chart103.xml.rels><?xml version='1.0' encoding='UTF-8' standalone='yes'?>
<Relationships xmlns="http://schemas.openxmlformats.org/package/2006/relationships"><Relationship Id="rId1" Type="http://schemas.openxmlformats.org/officeDocument/2006/relationships/package" Target="../embeddings/Microsoft_Excel_Worksheet103.xlsx"/></Relationships>
</file>

<file path=ppt/charts/_rels/chart104.xml.rels><?xml version='1.0' encoding='UTF-8' standalone='yes'?>
<Relationships xmlns="http://schemas.openxmlformats.org/package/2006/relationships"><Relationship Id="rId1" Type="http://schemas.openxmlformats.org/officeDocument/2006/relationships/package" Target="../embeddings/Microsoft_Excel_Worksheet104.xlsx"/></Relationships>
</file>

<file path=ppt/charts/_rels/chart105.xml.rels><?xml version='1.0' encoding='UTF-8' standalone='yes'?>
<Relationships xmlns="http://schemas.openxmlformats.org/package/2006/relationships"><Relationship Id="rId1" Type="http://schemas.openxmlformats.org/officeDocument/2006/relationships/package" Target="../embeddings/Microsoft_Excel_Worksheet105.xlsx"/></Relationships>
</file>

<file path=ppt/charts/_rels/chart106.xml.rels><?xml version='1.0' encoding='UTF-8' standalone='yes'?>
<Relationships xmlns="http://schemas.openxmlformats.org/package/2006/relationships"><Relationship Id="rId1" Type="http://schemas.openxmlformats.org/officeDocument/2006/relationships/package" Target="../embeddings/Microsoft_Excel_Worksheet106.xlsx"/></Relationships>
</file>

<file path=ppt/charts/_rels/chart107.xml.rels><?xml version='1.0' encoding='UTF-8' standalone='yes'?>
<Relationships xmlns="http://schemas.openxmlformats.org/package/2006/relationships"><Relationship Id="rId1" Type="http://schemas.openxmlformats.org/officeDocument/2006/relationships/package" Target="../embeddings/Microsoft_Excel_Worksheet107.xlsx"/></Relationships>
</file>

<file path=ppt/charts/_rels/chart108.xml.rels><?xml version='1.0' encoding='UTF-8' standalone='yes'?>
<Relationships xmlns="http://schemas.openxmlformats.org/package/2006/relationships"><Relationship Id="rId1" Type="http://schemas.openxmlformats.org/officeDocument/2006/relationships/package" Target="../embeddings/Microsoft_Excel_Worksheet108.xlsx"/></Relationships>
</file>

<file path=ppt/charts/_rels/chart109.xml.rels><?xml version='1.0' encoding='UTF-8' standalone='yes'?>
<Relationships xmlns="http://schemas.openxmlformats.org/package/2006/relationships"><Relationship Id="rId1" Type="http://schemas.openxmlformats.org/officeDocument/2006/relationships/package" Target="../embeddings/Microsoft_Excel_Worksheet109.xlsx"/></Relationships>
</file>

<file path=ppt/charts/_rels/chart110.xml.rels><?xml version='1.0' encoding='UTF-8' standalone='yes'?>
<Relationships xmlns="http://schemas.openxmlformats.org/package/2006/relationships"><Relationship Id="rId1" Type="http://schemas.openxmlformats.org/officeDocument/2006/relationships/package" Target="../embeddings/Microsoft_Excel_Worksheet110.xlsx"/></Relationships>
</file>

<file path=ppt/charts/_rels/chart111.xml.rels><?xml version='1.0' encoding='UTF-8' standalone='yes'?>
<Relationships xmlns="http://schemas.openxmlformats.org/package/2006/relationships"><Relationship Id="rId1" Type="http://schemas.openxmlformats.org/officeDocument/2006/relationships/package" Target="../embeddings/Microsoft_Excel_Worksheet111.xlsx"/></Relationships>
</file>

<file path=ppt/charts/_rels/chart112.xml.rels><?xml version='1.0' encoding='UTF-8' standalone='yes'?>
<Relationships xmlns="http://schemas.openxmlformats.org/package/2006/relationships"><Relationship Id="rId1" Type="http://schemas.openxmlformats.org/officeDocument/2006/relationships/package" Target="../embeddings/Microsoft_Excel_Worksheet112.xlsx"/></Relationships>
</file>

<file path=ppt/charts/_rels/chart113.xml.rels><?xml version='1.0' encoding='UTF-8' standalone='yes'?>
<Relationships xmlns="http://schemas.openxmlformats.org/package/2006/relationships"><Relationship Id="rId1" Type="http://schemas.openxmlformats.org/officeDocument/2006/relationships/package" Target="../embeddings/Microsoft_Excel_Worksheet113.xlsx"/></Relationships>
</file>

<file path=ppt/charts/_rels/chart114.xml.rels><?xml version='1.0' encoding='UTF-8' standalone='yes'?>
<Relationships xmlns="http://schemas.openxmlformats.org/package/2006/relationships"><Relationship Id="rId1" Type="http://schemas.openxmlformats.org/officeDocument/2006/relationships/package" Target="../embeddings/Microsoft_Excel_Worksheet114.xlsx"/></Relationships>
</file>

<file path=ppt/charts/_rels/chart115.xml.rels><?xml version='1.0' encoding='UTF-8' standalone='yes'?>
<Relationships xmlns="http://schemas.openxmlformats.org/package/2006/relationships"><Relationship Id="rId1" Type="http://schemas.openxmlformats.org/officeDocument/2006/relationships/package" Target="../embeddings/Microsoft_Excel_Worksheet115.xlsx"/></Relationships>
</file>

<file path=ppt/charts/_rels/chart116.xml.rels><?xml version='1.0' encoding='UTF-8' standalone='yes'?>
<Relationships xmlns="http://schemas.openxmlformats.org/package/2006/relationships"><Relationship Id="rId1" Type="http://schemas.openxmlformats.org/officeDocument/2006/relationships/package" Target="../embeddings/Microsoft_Excel_Worksheet116.xlsx"/></Relationships>
</file>

<file path=ppt/charts/_rels/chart117.xml.rels><?xml version='1.0' encoding='UTF-8' standalone='yes'?>
<Relationships xmlns="http://schemas.openxmlformats.org/package/2006/relationships"><Relationship Id="rId1" Type="http://schemas.openxmlformats.org/officeDocument/2006/relationships/package" Target="../embeddings/Microsoft_Excel_Worksheet117.xlsx"/></Relationships>
</file>

<file path=ppt/charts/_rels/chart118.xml.rels><?xml version='1.0' encoding='UTF-8' standalone='yes'?>
<Relationships xmlns="http://schemas.openxmlformats.org/package/2006/relationships"><Relationship Id="rId1" Type="http://schemas.openxmlformats.org/officeDocument/2006/relationships/package" Target="../embeddings/Microsoft_Excel_Worksheet118.xlsx"/></Relationships>
</file>

<file path=ppt/charts/_rels/chart119.xml.rels><?xml version='1.0' encoding='UTF-8' standalone='yes'?>
<Relationships xmlns="http://schemas.openxmlformats.org/package/2006/relationships"><Relationship Id="rId1" Type="http://schemas.openxmlformats.org/officeDocument/2006/relationships/package" Target="../embeddings/Microsoft_Excel_Worksheet119.xlsx"/></Relationships>
</file>

<file path=ppt/charts/_rels/chart120.xml.rels><?xml version='1.0' encoding='UTF-8' standalone='yes'?>
<Relationships xmlns="http://schemas.openxmlformats.org/package/2006/relationships"><Relationship Id="rId1" Type="http://schemas.openxmlformats.org/officeDocument/2006/relationships/package" Target="../embeddings/Microsoft_Excel_Worksheet120.xlsx"/></Relationships>
</file>

<file path=ppt/charts/_rels/chart121.xml.rels><?xml version='1.0' encoding='UTF-8' standalone='yes'?>
<Relationships xmlns="http://schemas.openxmlformats.org/package/2006/relationships"><Relationship Id="rId1" Type="http://schemas.openxmlformats.org/officeDocument/2006/relationships/package" Target="../embeddings/Microsoft_Excel_Worksheet121.xlsx"/></Relationships>
</file>

<file path=ppt/charts/_rels/chart122.xml.rels><?xml version='1.0' encoding='UTF-8' standalone='yes'?>
<Relationships xmlns="http://schemas.openxmlformats.org/package/2006/relationships"><Relationship Id="rId1" Type="http://schemas.openxmlformats.org/officeDocument/2006/relationships/package" Target="../embeddings/Microsoft_Excel_Worksheet122.xlsx"/></Relationships>
</file>

<file path=ppt/charts/_rels/chart123.xml.rels><?xml version='1.0' encoding='UTF-8' standalone='yes'?>
<Relationships xmlns="http://schemas.openxmlformats.org/package/2006/relationships"><Relationship Id="rId1" Type="http://schemas.openxmlformats.org/officeDocument/2006/relationships/package" Target="../embeddings/Microsoft_Excel_Worksheet123.xlsx"/></Relationships>
</file>

<file path=ppt/charts/_rels/chart124.xml.rels><?xml version='1.0' encoding='UTF-8' standalone='yes'?>
<Relationships xmlns="http://schemas.openxmlformats.org/package/2006/relationships"><Relationship Id="rId1" Type="http://schemas.openxmlformats.org/officeDocument/2006/relationships/package" Target="../embeddings/Microsoft_Excel_Worksheet124.xlsx"/></Relationships>
</file>

<file path=ppt/charts/_rels/chart125.xml.rels><?xml version='1.0' encoding='UTF-8' standalone='yes'?>
<Relationships xmlns="http://schemas.openxmlformats.org/package/2006/relationships"><Relationship Id="rId1" Type="http://schemas.openxmlformats.org/officeDocument/2006/relationships/package" Target="../embeddings/Microsoft_Excel_Worksheet125.xlsx"/></Relationships>
</file>

<file path=ppt/charts/_rels/chart126.xml.rels><?xml version='1.0' encoding='UTF-8' standalone='yes'?>
<Relationships xmlns="http://schemas.openxmlformats.org/package/2006/relationships"><Relationship Id="rId1" Type="http://schemas.openxmlformats.org/officeDocument/2006/relationships/package" Target="../embeddings/Microsoft_Excel_Worksheet126.xlsx"/></Relationships>
</file>

<file path=ppt/charts/_rels/chart127.xml.rels><?xml version='1.0' encoding='UTF-8' standalone='yes'?>
<Relationships xmlns="http://schemas.openxmlformats.org/package/2006/relationships"><Relationship Id="rId1" Type="http://schemas.openxmlformats.org/officeDocument/2006/relationships/package" Target="../embeddings/Microsoft_Excel_Worksheet127.xlsx"/></Relationships>
</file>

<file path=ppt/charts/_rels/chart128.xml.rels><?xml version='1.0' encoding='UTF-8' standalone='yes'?>
<Relationships xmlns="http://schemas.openxmlformats.org/package/2006/relationships"><Relationship Id="rId1" Type="http://schemas.openxmlformats.org/officeDocument/2006/relationships/package" Target="../embeddings/Microsoft_Excel_Worksheet128.xlsx"/></Relationships>
</file>

<file path=ppt/charts/_rels/chart129.xml.rels><?xml version='1.0' encoding='UTF-8' standalone='yes'?>
<Relationships xmlns="http://schemas.openxmlformats.org/package/2006/relationships"><Relationship Id="rId1" Type="http://schemas.openxmlformats.org/officeDocument/2006/relationships/package" Target="../embeddings/Microsoft_Excel_Worksheet129.xlsx"/></Relationships>
</file>

<file path=ppt/charts/_rels/chart130.xml.rels><?xml version='1.0' encoding='UTF-8' standalone='yes'?>
<Relationships xmlns="http://schemas.openxmlformats.org/package/2006/relationships"><Relationship Id="rId1" Type="http://schemas.openxmlformats.org/officeDocument/2006/relationships/package" Target="../embeddings/Microsoft_Excel_Worksheet130.xlsx"/></Relationships>
</file>

<file path=ppt/charts/_rels/chart131.xml.rels><?xml version='1.0' encoding='UTF-8' standalone='yes'?>
<Relationships xmlns="http://schemas.openxmlformats.org/package/2006/relationships"><Relationship Id="rId1" Type="http://schemas.openxmlformats.org/officeDocument/2006/relationships/package" Target="../embeddings/Microsoft_Excel_Worksheet131.xlsx"/></Relationships>
</file>

<file path=ppt/charts/_rels/chart132.xml.rels><?xml version='1.0' encoding='UTF-8' standalone='yes'?>
<Relationships xmlns="http://schemas.openxmlformats.org/package/2006/relationships"><Relationship Id="rId1" Type="http://schemas.openxmlformats.org/officeDocument/2006/relationships/package" Target="../embeddings/Microsoft_Excel_Worksheet132.xlsx"/></Relationships>
</file>

<file path=ppt/charts/_rels/chart133.xml.rels><?xml version='1.0' encoding='UTF-8' standalone='yes'?>
<Relationships xmlns="http://schemas.openxmlformats.org/package/2006/relationships"><Relationship Id="rId1" Type="http://schemas.openxmlformats.org/officeDocument/2006/relationships/package" Target="../embeddings/Microsoft_Excel_Worksheet133.xlsx"/></Relationships>
</file>

<file path=ppt/charts/_rels/chart134.xml.rels><?xml version='1.0' encoding='UTF-8' standalone='yes'?>
<Relationships xmlns="http://schemas.openxmlformats.org/package/2006/relationships"><Relationship Id="rId1" Type="http://schemas.openxmlformats.org/officeDocument/2006/relationships/package" Target="../embeddings/Microsoft_Excel_Worksheet134.xlsx"/></Relationships>
</file>

<file path=ppt/charts/_rels/chart135.xml.rels><?xml version='1.0' encoding='UTF-8' standalone='yes'?>
<Relationships xmlns="http://schemas.openxmlformats.org/package/2006/relationships"><Relationship Id="rId1" Type="http://schemas.openxmlformats.org/officeDocument/2006/relationships/package" Target="../embeddings/Microsoft_Excel_Worksheet135.xlsx"/></Relationships>
</file>

<file path=ppt/charts/_rels/chart136.xml.rels><?xml version='1.0' encoding='UTF-8' standalone='yes'?>
<Relationships xmlns="http://schemas.openxmlformats.org/package/2006/relationships"><Relationship Id="rId1" Type="http://schemas.openxmlformats.org/officeDocument/2006/relationships/package" Target="../embeddings/Microsoft_Excel_Worksheet136.xlsx"/></Relationships>
</file>

<file path=ppt/charts/_rels/chart137.xml.rels><?xml version='1.0' encoding='UTF-8' standalone='yes'?>
<Relationships xmlns="http://schemas.openxmlformats.org/package/2006/relationships"><Relationship Id="rId1" Type="http://schemas.openxmlformats.org/officeDocument/2006/relationships/package" Target="../embeddings/Microsoft_Excel_Worksheet137.xlsx"/></Relationships>
</file>

<file path=ppt/charts/_rels/chart138.xml.rels><?xml version='1.0' encoding='UTF-8' standalone='yes'?>
<Relationships xmlns="http://schemas.openxmlformats.org/package/2006/relationships"><Relationship Id="rId1" Type="http://schemas.openxmlformats.org/officeDocument/2006/relationships/package" Target="../embeddings/Microsoft_Excel_Worksheet138.xlsx"/></Relationships>
</file>

<file path=ppt/charts/_rels/chart139.xml.rels><?xml version='1.0' encoding='UTF-8' standalone='yes'?>
<Relationships xmlns="http://schemas.openxmlformats.org/package/2006/relationships"><Relationship Id="rId1" Type="http://schemas.openxmlformats.org/officeDocument/2006/relationships/package" Target="../embeddings/Microsoft_Excel_Worksheet139.xlsx"/></Relationships>
</file>

<file path=ppt/charts/_rels/chart140.xml.rels><?xml version='1.0' encoding='UTF-8' standalone='yes'?>
<Relationships xmlns="http://schemas.openxmlformats.org/package/2006/relationships"><Relationship Id="rId1" Type="http://schemas.openxmlformats.org/officeDocument/2006/relationships/package" Target="../embeddings/Microsoft_Excel_Worksheet140.xlsx"/></Relationships>
</file>

<file path=ppt/charts/_rels/chart141.xml.rels><?xml version='1.0' encoding='UTF-8' standalone='yes'?>
<Relationships xmlns="http://schemas.openxmlformats.org/package/2006/relationships"><Relationship Id="rId1" Type="http://schemas.openxmlformats.org/officeDocument/2006/relationships/package" Target="../embeddings/Microsoft_Excel_Worksheet141.xlsx"/></Relationships>
</file>

<file path=ppt/charts/_rels/chart142.xml.rels><?xml version='1.0' encoding='UTF-8' standalone='yes'?>
<Relationships xmlns="http://schemas.openxmlformats.org/package/2006/relationships"><Relationship Id="rId1" Type="http://schemas.openxmlformats.org/officeDocument/2006/relationships/package" Target="../embeddings/Microsoft_Excel_Worksheet142.xlsx"/></Relationships>
</file>

<file path=ppt/charts/_rels/chart143.xml.rels><?xml version='1.0' encoding='UTF-8' standalone='yes'?>
<Relationships xmlns="http://schemas.openxmlformats.org/package/2006/relationships"><Relationship Id="rId1" Type="http://schemas.openxmlformats.org/officeDocument/2006/relationships/package" Target="../embeddings/Microsoft_Excel_Worksheet143.xlsx"/></Relationships>
</file>

<file path=ppt/charts/_rels/chart144.xml.rels><?xml version='1.0' encoding='UTF-8' standalone='yes'?>
<Relationships xmlns="http://schemas.openxmlformats.org/package/2006/relationships"><Relationship Id="rId1" Type="http://schemas.openxmlformats.org/officeDocument/2006/relationships/package" Target="../embeddings/Microsoft_Excel_Worksheet144.xlsx"/></Relationships>
</file>

<file path=ppt/charts/_rels/chart145.xml.rels><?xml version='1.0' encoding='UTF-8' standalone='yes'?>
<Relationships xmlns="http://schemas.openxmlformats.org/package/2006/relationships"><Relationship Id="rId1" Type="http://schemas.openxmlformats.org/officeDocument/2006/relationships/package" Target="../embeddings/Microsoft_Excel_Worksheet145.xlsx"/></Relationships>
</file>

<file path=ppt/charts/_rels/chart146.xml.rels><?xml version='1.0' encoding='UTF-8' standalone='yes'?>
<Relationships xmlns="http://schemas.openxmlformats.org/package/2006/relationships"><Relationship Id="rId1" Type="http://schemas.openxmlformats.org/officeDocument/2006/relationships/package" Target="../embeddings/Microsoft_Excel_Worksheet146.xlsx"/></Relationships>
</file>

<file path=ppt/charts/_rels/chart147.xml.rels><?xml version='1.0' encoding='UTF-8' standalone='yes'?>
<Relationships xmlns="http://schemas.openxmlformats.org/package/2006/relationships"><Relationship Id="rId1" Type="http://schemas.openxmlformats.org/officeDocument/2006/relationships/package" Target="../embeddings/Microsoft_Excel_Worksheet147.xlsx"/></Relationships>
</file>

<file path=ppt/charts/_rels/chart148.xml.rels><?xml version='1.0' encoding='UTF-8' standalone='yes'?>
<Relationships xmlns="http://schemas.openxmlformats.org/package/2006/relationships"><Relationship Id="rId1" Type="http://schemas.openxmlformats.org/officeDocument/2006/relationships/package" Target="../embeddings/Microsoft_Excel_Worksheet148.xlsx"/></Relationships>
</file>

<file path=ppt/charts/_rels/chart149.xml.rels><?xml version='1.0' encoding='UTF-8' standalone='yes'?>
<Relationships xmlns="http://schemas.openxmlformats.org/package/2006/relationships"><Relationship Id="rId1" Type="http://schemas.openxmlformats.org/officeDocument/2006/relationships/package" Target="../embeddings/Microsoft_Excel_Worksheet149.xlsx"/></Relationships>
</file>

<file path=ppt/charts/_rels/chart150.xml.rels><?xml version='1.0' encoding='UTF-8' standalone='yes'?>
<Relationships xmlns="http://schemas.openxmlformats.org/package/2006/relationships"><Relationship Id="rId1" Type="http://schemas.openxmlformats.org/officeDocument/2006/relationships/package" Target="../embeddings/Microsoft_Excel_Worksheet150.xlsx"/></Relationships>
</file>

<file path=ppt/charts/_rels/chart151.xml.rels><?xml version='1.0' encoding='UTF-8' standalone='yes'?>
<Relationships xmlns="http://schemas.openxmlformats.org/package/2006/relationships"><Relationship Id="rId1" Type="http://schemas.openxmlformats.org/officeDocument/2006/relationships/package" Target="../embeddings/Microsoft_Excel_Worksheet151.xlsx"/></Relationships>
</file>

<file path=ppt/charts/_rels/chart152.xml.rels><?xml version='1.0' encoding='UTF-8' standalone='yes'?>
<Relationships xmlns="http://schemas.openxmlformats.org/package/2006/relationships"><Relationship Id="rId1" Type="http://schemas.openxmlformats.org/officeDocument/2006/relationships/package" Target="../embeddings/Microsoft_Excel_Worksheet152.xlsx"/></Relationships>
</file>

<file path=ppt/charts/_rels/chart153.xml.rels><?xml version='1.0' encoding='UTF-8' standalone='yes'?>
<Relationships xmlns="http://schemas.openxmlformats.org/package/2006/relationships"><Relationship Id="rId1" Type="http://schemas.openxmlformats.org/officeDocument/2006/relationships/package" Target="../embeddings/Microsoft_Excel_Worksheet153.xlsx"/></Relationships>
</file>

<file path=ppt/charts/_rels/chart154.xml.rels><?xml version='1.0' encoding='UTF-8' standalone='yes'?>
<Relationships xmlns="http://schemas.openxmlformats.org/package/2006/relationships"><Relationship Id="rId1" Type="http://schemas.openxmlformats.org/officeDocument/2006/relationships/package" Target="../embeddings/Microsoft_Excel_Worksheet154.xlsx"/></Relationships>
</file>

<file path=ppt/charts/_rels/chart155.xml.rels><?xml version='1.0' encoding='UTF-8' standalone='yes'?>
<Relationships xmlns="http://schemas.openxmlformats.org/package/2006/relationships"><Relationship Id="rId1" Type="http://schemas.openxmlformats.org/officeDocument/2006/relationships/package" Target="../embeddings/Microsoft_Excel_Worksheet155.xlsx"/></Relationships>
</file>

<file path=ppt/charts/_rels/chart156.xml.rels><?xml version='1.0' encoding='UTF-8' standalone='yes'?>
<Relationships xmlns="http://schemas.openxmlformats.org/package/2006/relationships"><Relationship Id="rId1" Type="http://schemas.openxmlformats.org/officeDocument/2006/relationships/package" Target="../embeddings/Microsoft_Excel_Worksheet156.xlsx"/></Relationships>
</file>

<file path=ppt/charts/_rels/chart157.xml.rels><?xml version='1.0' encoding='UTF-8' standalone='yes'?>
<Relationships xmlns="http://schemas.openxmlformats.org/package/2006/relationships"><Relationship Id="rId1" Type="http://schemas.openxmlformats.org/officeDocument/2006/relationships/package" Target="../embeddings/Microsoft_Excel_Worksheet157.xlsx"/></Relationships>
</file>

<file path=ppt/charts/_rels/chart158.xml.rels><?xml version='1.0' encoding='UTF-8' standalone='yes'?>
<Relationships xmlns="http://schemas.openxmlformats.org/package/2006/relationships"><Relationship Id="rId1" Type="http://schemas.openxmlformats.org/officeDocument/2006/relationships/package" Target="../embeddings/Microsoft_Excel_Worksheet158.xlsx"/></Relationships>
</file>

<file path=ppt/charts/_rels/chart159.xml.rels><?xml version='1.0' encoding='UTF-8' standalone='yes'?>
<Relationships xmlns="http://schemas.openxmlformats.org/package/2006/relationships"><Relationship Id="rId1" Type="http://schemas.openxmlformats.org/officeDocument/2006/relationships/package" Target="../embeddings/Microsoft_Excel_Worksheet159.xlsx"/></Relationships>
</file>

<file path=ppt/charts/_rels/chart160.xml.rels><?xml version='1.0' encoding='UTF-8' standalone='yes'?>
<Relationships xmlns="http://schemas.openxmlformats.org/package/2006/relationships"><Relationship Id="rId1" Type="http://schemas.openxmlformats.org/officeDocument/2006/relationships/package" Target="../embeddings/Microsoft_Excel_Worksheet160.xlsx"/></Relationships>
</file>

<file path=ppt/charts/_rels/chart161.xml.rels><?xml version='1.0' encoding='UTF-8' standalone='yes'?>
<Relationships xmlns="http://schemas.openxmlformats.org/package/2006/relationships"><Relationship Id="rId1" Type="http://schemas.openxmlformats.org/officeDocument/2006/relationships/package" Target="../embeddings/Microsoft_Excel_Worksheet161.xlsx"/></Relationships>
</file>

<file path=ppt/charts/_rels/chart162.xml.rels><?xml version='1.0' encoding='UTF-8' standalone='yes'?>
<Relationships xmlns="http://schemas.openxmlformats.org/package/2006/relationships"><Relationship Id="rId1" Type="http://schemas.openxmlformats.org/officeDocument/2006/relationships/package" Target="../embeddings/Microsoft_Excel_Worksheet162.xlsx"/></Relationships>
</file>

<file path=ppt/charts/_rels/chart163.xml.rels><?xml version='1.0' encoding='UTF-8' standalone='yes'?>
<Relationships xmlns="http://schemas.openxmlformats.org/package/2006/relationships"><Relationship Id="rId1" Type="http://schemas.openxmlformats.org/officeDocument/2006/relationships/package" Target="../embeddings/Microsoft_Excel_Worksheet163.xlsx"/></Relationships>
</file>

<file path=ppt/charts/_rels/chart164.xml.rels><?xml version='1.0' encoding='UTF-8' standalone='yes'?>
<Relationships xmlns="http://schemas.openxmlformats.org/package/2006/relationships"><Relationship Id="rId1" Type="http://schemas.openxmlformats.org/officeDocument/2006/relationships/package" Target="../embeddings/Microsoft_Excel_Worksheet164.xlsx"/></Relationships>
</file>

<file path=ppt/charts/_rels/chart165.xml.rels><?xml version='1.0' encoding='UTF-8' standalone='yes'?>
<Relationships xmlns="http://schemas.openxmlformats.org/package/2006/relationships"><Relationship Id="rId1" Type="http://schemas.openxmlformats.org/officeDocument/2006/relationships/package" Target="../embeddings/Microsoft_Excel_Worksheet165.xlsx"/></Relationships>
</file>

<file path=ppt/charts/_rels/chart166.xml.rels><?xml version='1.0' encoding='UTF-8' standalone='yes'?>
<Relationships xmlns="http://schemas.openxmlformats.org/package/2006/relationships"><Relationship Id="rId1" Type="http://schemas.openxmlformats.org/officeDocument/2006/relationships/package" Target="../embeddings/Microsoft_Excel_Worksheet166.xlsx"/></Relationships>
</file>

<file path=ppt/charts/_rels/chart167.xml.rels><?xml version='1.0' encoding='UTF-8' standalone='yes'?>
<Relationships xmlns="http://schemas.openxmlformats.org/package/2006/relationships"><Relationship Id="rId1" Type="http://schemas.openxmlformats.org/officeDocument/2006/relationships/package" Target="../embeddings/Microsoft_Excel_Worksheet167.xlsx"/></Relationships>
</file>

<file path=ppt/charts/_rels/chart168.xml.rels><?xml version='1.0' encoding='UTF-8' standalone='yes'?>
<Relationships xmlns="http://schemas.openxmlformats.org/package/2006/relationships"><Relationship Id="rId1" Type="http://schemas.openxmlformats.org/officeDocument/2006/relationships/package" Target="../embeddings/Microsoft_Excel_Worksheet168.xlsx"/></Relationships>
</file>

<file path=ppt/charts/_rels/chart169.xml.rels><?xml version='1.0' encoding='UTF-8' standalone='yes'?>
<Relationships xmlns="http://schemas.openxmlformats.org/package/2006/relationships"><Relationship Id="rId1" Type="http://schemas.openxmlformats.org/officeDocument/2006/relationships/package" Target="../embeddings/Microsoft_Excel_Worksheet169.xlsx"/></Relationships>
</file>

<file path=ppt/charts/_rels/chart170.xml.rels><?xml version='1.0' encoding='UTF-8' standalone='yes'?>
<Relationships xmlns="http://schemas.openxmlformats.org/package/2006/relationships"><Relationship Id="rId1" Type="http://schemas.openxmlformats.org/officeDocument/2006/relationships/package" Target="../embeddings/Microsoft_Excel_Worksheet170.xlsx"/></Relationships>
</file>

<file path=ppt/charts/_rels/chart171.xml.rels><?xml version='1.0' encoding='UTF-8' standalone='yes'?>
<Relationships xmlns="http://schemas.openxmlformats.org/package/2006/relationships"><Relationship Id="rId1" Type="http://schemas.openxmlformats.org/officeDocument/2006/relationships/package" Target="../embeddings/Microsoft_Excel_Worksheet171.xlsx"/></Relationships>
</file>

<file path=ppt/charts/_rels/chart172.xml.rels><?xml version='1.0' encoding='UTF-8' standalone='yes'?>
<Relationships xmlns="http://schemas.openxmlformats.org/package/2006/relationships"><Relationship Id="rId1" Type="http://schemas.openxmlformats.org/officeDocument/2006/relationships/package" Target="../embeddings/Microsoft_Excel_Worksheet172.xlsx"/></Relationships>
</file>

<file path=ppt/charts/_rels/chart173.xml.rels><?xml version='1.0' encoding='UTF-8' standalone='yes'?>
<Relationships xmlns="http://schemas.openxmlformats.org/package/2006/relationships"><Relationship Id="rId1" Type="http://schemas.openxmlformats.org/officeDocument/2006/relationships/package" Target="../embeddings/Microsoft_Excel_Worksheet173.xlsx"/></Relationships>
</file>

<file path=ppt/charts/_rels/chart174.xml.rels><?xml version='1.0' encoding='UTF-8' standalone='yes'?>
<Relationships xmlns="http://schemas.openxmlformats.org/package/2006/relationships"><Relationship Id="rId1" Type="http://schemas.openxmlformats.org/officeDocument/2006/relationships/package" Target="../embeddings/Microsoft_Excel_Worksheet174.xlsx"/></Relationships>
</file>

<file path=ppt/charts/_rels/chart175.xml.rels><?xml version='1.0' encoding='UTF-8' standalone='yes'?>
<Relationships xmlns="http://schemas.openxmlformats.org/package/2006/relationships"><Relationship Id="rId1" Type="http://schemas.openxmlformats.org/officeDocument/2006/relationships/package" Target="../embeddings/Microsoft_Excel_Worksheet175.xlsx"/></Relationships>
</file>

<file path=ppt/charts/_rels/chart176.xml.rels><?xml version='1.0' encoding='UTF-8' standalone='yes'?>
<Relationships xmlns="http://schemas.openxmlformats.org/package/2006/relationships"><Relationship Id="rId1" Type="http://schemas.openxmlformats.org/officeDocument/2006/relationships/package" Target="../embeddings/Microsoft_Excel_Worksheet176.xlsx"/></Relationships>
</file>

<file path=ppt/charts/_rels/chart177.xml.rels><?xml version='1.0' encoding='UTF-8' standalone='yes'?>
<Relationships xmlns="http://schemas.openxmlformats.org/package/2006/relationships"><Relationship Id="rId1" Type="http://schemas.openxmlformats.org/officeDocument/2006/relationships/package" Target="../embeddings/Microsoft_Excel_Worksheet177.xlsx"/></Relationships>
</file>

<file path=ppt/charts/_rels/chart178.xml.rels><?xml version='1.0' encoding='UTF-8' standalone='yes'?>
<Relationships xmlns="http://schemas.openxmlformats.org/package/2006/relationships"><Relationship Id="rId1" Type="http://schemas.openxmlformats.org/officeDocument/2006/relationships/package" Target="../embeddings/Microsoft_Excel_Worksheet178.xlsx"/></Relationships>
</file>

<file path=ppt/charts/_rels/chart179.xml.rels><?xml version='1.0' encoding='UTF-8' standalone='yes'?>
<Relationships xmlns="http://schemas.openxmlformats.org/package/2006/relationships"><Relationship Id="rId1" Type="http://schemas.openxmlformats.org/officeDocument/2006/relationships/package" Target="../embeddings/Microsoft_Excel_Worksheet179.xlsx"/></Relationships>
</file>

<file path=ppt/charts/_rels/chart180.xml.rels><?xml version='1.0' encoding='UTF-8' standalone='yes'?>
<Relationships xmlns="http://schemas.openxmlformats.org/package/2006/relationships"><Relationship Id="rId1" Type="http://schemas.openxmlformats.org/officeDocument/2006/relationships/package" Target="../embeddings/Microsoft_Excel_Worksheet180.xlsx"/></Relationships>
</file>

<file path=ppt/charts/_rels/chart181.xml.rels><?xml version='1.0' encoding='UTF-8' standalone='yes'?>
<Relationships xmlns="http://schemas.openxmlformats.org/package/2006/relationships"><Relationship Id="rId1" Type="http://schemas.openxmlformats.org/officeDocument/2006/relationships/package" Target="../embeddings/Microsoft_Excel_Worksheet181.xlsx"/></Relationships>
</file>

<file path=ppt/charts/_rels/chart182.xml.rels><?xml version='1.0' encoding='UTF-8' standalone='yes'?>
<Relationships xmlns="http://schemas.openxmlformats.org/package/2006/relationships"><Relationship Id="rId1" Type="http://schemas.openxmlformats.org/officeDocument/2006/relationships/package" Target="../embeddings/Microsoft_Excel_Worksheet182.xlsx"/></Relationships>
</file>

<file path=ppt/charts/_rels/chart183.xml.rels><?xml version='1.0' encoding='UTF-8' standalone='yes'?>
<Relationships xmlns="http://schemas.openxmlformats.org/package/2006/relationships"><Relationship Id="rId1" Type="http://schemas.openxmlformats.org/officeDocument/2006/relationships/package" Target="../embeddings/Microsoft_Excel_Worksheet183.xlsx"/></Relationships>
</file>

<file path=ppt/charts/_rels/chart184.xml.rels><?xml version='1.0' encoding='UTF-8' standalone='yes'?>
<Relationships xmlns="http://schemas.openxmlformats.org/package/2006/relationships"><Relationship Id="rId1" Type="http://schemas.openxmlformats.org/officeDocument/2006/relationships/package" Target="../embeddings/Microsoft_Excel_Worksheet184.xlsx"/></Relationships>
</file>

<file path=ppt/charts/_rels/chart185.xml.rels><?xml version='1.0' encoding='UTF-8' standalone='yes'?>
<Relationships xmlns="http://schemas.openxmlformats.org/package/2006/relationships"><Relationship Id="rId1" Type="http://schemas.openxmlformats.org/officeDocument/2006/relationships/package" Target="../embeddings/Microsoft_Excel_Worksheet185.xlsx"/></Relationships>
</file>

<file path=ppt/charts/_rels/chart186.xml.rels><?xml version='1.0' encoding='UTF-8' standalone='yes'?>
<Relationships xmlns="http://schemas.openxmlformats.org/package/2006/relationships"><Relationship Id="rId1" Type="http://schemas.openxmlformats.org/officeDocument/2006/relationships/package" Target="../embeddings/Microsoft_Excel_Worksheet186.xlsx"/></Relationships>
</file>

<file path=ppt/charts/_rels/chart187.xml.rels><?xml version='1.0' encoding='UTF-8' standalone='yes'?>
<Relationships xmlns="http://schemas.openxmlformats.org/package/2006/relationships"><Relationship Id="rId1" Type="http://schemas.openxmlformats.org/officeDocument/2006/relationships/package" Target="../embeddings/Microsoft_Excel_Worksheet187.xlsx"/></Relationships>
</file>

<file path=ppt/charts/_rels/chart188.xml.rels><?xml version='1.0' encoding='UTF-8' standalone='yes'?>
<Relationships xmlns="http://schemas.openxmlformats.org/package/2006/relationships"><Relationship Id="rId1" Type="http://schemas.openxmlformats.org/officeDocument/2006/relationships/package" Target="../embeddings/Microsoft_Excel_Worksheet188.xlsx"/></Relationships>
</file>

<file path=ppt/charts/_rels/chart189.xml.rels><?xml version='1.0' encoding='UTF-8' standalone='yes'?>
<Relationships xmlns="http://schemas.openxmlformats.org/package/2006/relationships"><Relationship Id="rId1" Type="http://schemas.openxmlformats.org/officeDocument/2006/relationships/package" Target="../embeddings/Microsoft_Excel_Worksheet189.xlsx"/></Relationships>
</file>

<file path=ppt/charts/_rels/chart190.xml.rels><?xml version='1.0' encoding='UTF-8' standalone='yes'?>
<Relationships xmlns="http://schemas.openxmlformats.org/package/2006/relationships"><Relationship Id="rId1" Type="http://schemas.openxmlformats.org/officeDocument/2006/relationships/package" Target="../embeddings/Microsoft_Excel_Worksheet190.xlsx"/></Relationships>
</file>

<file path=ppt/charts/_rels/chart191.xml.rels><?xml version='1.0' encoding='UTF-8' standalone='yes'?>
<Relationships xmlns="http://schemas.openxmlformats.org/package/2006/relationships"><Relationship Id="rId1" Type="http://schemas.openxmlformats.org/officeDocument/2006/relationships/package" Target="../embeddings/Microsoft_Excel_Worksheet191.xlsx"/></Relationships>
</file>

<file path=ppt/charts/_rels/chart192.xml.rels><?xml version='1.0' encoding='UTF-8' standalone='yes'?>
<Relationships xmlns="http://schemas.openxmlformats.org/package/2006/relationships"><Relationship Id="rId1" Type="http://schemas.openxmlformats.org/officeDocument/2006/relationships/package" Target="../embeddings/Microsoft_Excel_Worksheet192.xlsx"/></Relationships>
</file>

<file path=ppt/charts/_rels/chart193.xml.rels><?xml version='1.0' encoding='UTF-8' standalone='yes'?>
<Relationships xmlns="http://schemas.openxmlformats.org/package/2006/relationships"><Relationship Id="rId1" Type="http://schemas.openxmlformats.org/officeDocument/2006/relationships/package" Target="../embeddings/Microsoft_Excel_Worksheet193.xlsx"/></Relationships>
</file>

<file path=ppt/charts/_rels/chart194.xml.rels><?xml version='1.0' encoding='UTF-8' standalone='yes'?>
<Relationships xmlns="http://schemas.openxmlformats.org/package/2006/relationships"><Relationship Id="rId1" Type="http://schemas.openxmlformats.org/officeDocument/2006/relationships/package" Target="../embeddings/Microsoft_Excel_Worksheet194.xlsx"/></Relationships>
</file>

<file path=ppt/charts/_rels/chart195.xml.rels><?xml version='1.0' encoding='UTF-8' standalone='yes'?>
<Relationships xmlns="http://schemas.openxmlformats.org/package/2006/relationships"><Relationship Id="rId1" Type="http://schemas.openxmlformats.org/officeDocument/2006/relationships/package" Target="../embeddings/Microsoft_Excel_Worksheet195.xlsx"/></Relationships>
</file>

<file path=ppt/charts/_rels/chart196.xml.rels><?xml version='1.0' encoding='UTF-8' standalone='yes'?>
<Relationships xmlns="http://schemas.openxmlformats.org/package/2006/relationships"><Relationship Id="rId1" Type="http://schemas.openxmlformats.org/officeDocument/2006/relationships/package" Target="../embeddings/Microsoft_Excel_Worksheet196.xlsx"/></Relationships>
</file>

<file path=ppt/charts/_rels/chart197.xml.rels><?xml version='1.0' encoding='UTF-8' standalone='yes'?>
<Relationships xmlns="http://schemas.openxmlformats.org/package/2006/relationships"><Relationship Id="rId1" Type="http://schemas.openxmlformats.org/officeDocument/2006/relationships/package" Target="../embeddings/Microsoft_Excel_Worksheet197.xlsx"/></Relationships>
</file>

<file path=ppt/charts/_rels/chart198.xml.rels><?xml version='1.0' encoding='UTF-8' standalone='yes'?>
<Relationships xmlns="http://schemas.openxmlformats.org/package/2006/relationships"><Relationship Id="rId1" Type="http://schemas.openxmlformats.org/officeDocument/2006/relationships/package" Target="../embeddings/Microsoft_Excel_Worksheet198.xlsx"/></Relationships>
</file>

<file path=ppt/charts/_rels/chart199.xml.rels><?xml version='1.0' encoding='UTF-8' standalone='yes'?>
<Relationships xmlns="http://schemas.openxmlformats.org/package/2006/relationships"><Relationship Id="rId1" Type="http://schemas.openxmlformats.org/officeDocument/2006/relationships/package" Target="../embeddings/Microsoft_Excel_Worksheet199.xlsx"/></Relationships>
</file>

<file path=ppt/charts/_rels/chart200.xml.rels><?xml version='1.0' encoding='UTF-8' standalone='yes'?>
<Relationships xmlns="http://schemas.openxmlformats.org/package/2006/relationships"><Relationship Id="rId1" Type="http://schemas.openxmlformats.org/officeDocument/2006/relationships/package" Target="../embeddings/Microsoft_Excel_Worksheet200.xlsx"/></Relationships>
</file>

<file path=ppt/charts/_rels/chart201.xml.rels><?xml version='1.0' encoding='UTF-8' standalone='yes'?>
<Relationships xmlns="http://schemas.openxmlformats.org/package/2006/relationships"><Relationship Id="rId1" Type="http://schemas.openxmlformats.org/officeDocument/2006/relationships/package" Target="../embeddings/Microsoft_Excel_Worksheet201.xlsx"/></Relationships>
</file>

<file path=ppt/charts/_rels/chart202.xml.rels><?xml version='1.0' encoding='UTF-8' standalone='yes'?>
<Relationships xmlns="http://schemas.openxmlformats.org/package/2006/relationships"><Relationship Id="rId1" Type="http://schemas.openxmlformats.org/officeDocument/2006/relationships/package" Target="../embeddings/Microsoft_Excel_Worksheet202.xlsx"/></Relationships>
</file>

<file path=ppt/charts/_rels/chart203.xml.rels><?xml version='1.0' encoding='UTF-8' standalone='yes'?>
<Relationships xmlns="http://schemas.openxmlformats.org/package/2006/relationships"><Relationship Id="rId1" Type="http://schemas.openxmlformats.org/officeDocument/2006/relationships/package" Target="../embeddings/Microsoft_Excel_Worksheet203.xlsx"/></Relationships>
</file>

<file path=ppt/charts/_rels/chart204.xml.rels><?xml version='1.0' encoding='UTF-8' standalone='yes'?>
<Relationships xmlns="http://schemas.openxmlformats.org/package/2006/relationships"><Relationship Id="rId1" Type="http://schemas.openxmlformats.org/officeDocument/2006/relationships/package" Target="../embeddings/Microsoft_Excel_Worksheet204.xlsx"/></Relationships>
</file>

<file path=ppt/charts/_rels/chart205.xml.rels><?xml version='1.0' encoding='UTF-8' standalone='yes'?>
<Relationships xmlns="http://schemas.openxmlformats.org/package/2006/relationships"><Relationship Id="rId1" Type="http://schemas.openxmlformats.org/officeDocument/2006/relationships/package" Target="../embeddings/Microsoft_Excel_Worksheet205.xlsx"/></Relationships>
</file>

<file path=ppt/charts/_rels/chart206.xml.rels><?xml version='1.0' encoding='UTF-8' standalone='yes'?>
<Relationships xmlns="http://schemas.openxmlformats.org/package/2006/relationships"><Relationship Id="rId1" Type="http://schemas.openxmlformats.org/officeDocument/2006/relationships/package" Target="../embeddings/Microsoft_Excel_Worksheet206.xlsx"/></Relationships>
</file>

<file path=ppt/charts/_rels/chart207.xml.rels><?xml version='1.0' encoding='UTF-8' standalone='yes'?>
<Relationships xmlns="http://schemas.openxmlformats.org/package/2006/relationships"><Relationship Id="rId1" Type="http://schemas.openxmlformats.org/officeDocument/2006/relationships/package" Target="../embeddings/Microsoft_Excel_Worksheet207.xlsx"/></Relationships>
</file>

<file path=ppt/charts/_rels/chart208.xml.rels><?xml version='1.0' encoding='UTF-8' standalone='yes'?>
<Relationships xmlns="http://schemas.openxmlformats.org/package/2006/relationships"><Relationship Id="rId1" Type="http://schemas.openxmlformats.org/officeDocument/2006/relationships/package" Target="../embeddings/Microsoft_Excel_Worksheet208.xlsx"/></Relationships>
</file>

<file path=ppt/charts/_rels/chart209.xml.rels><?xml version='1.0' encoding='UTF-8' standalone='yes'?>
<Relationships xmlns="http://schemas.openxmlformats.org/package/2006/relationships"><Relationship Id="rId1" Type="http://schemas.openxmlformats.org/officeDocument/2006/relationships/package" Target="../embeddings/Microsoft_Excel_Worksheet209.xlsx"/></Relationships>
</file>

<file path=ppt/charts/_rels/chart210.xml.rels><?xml version='1.0' encoding='UTF-8' standalone='yes'?>
<Relationships xmlns="http://schemas.openxmlformats.org/package/2006/relationships"><Relationship Id="rId1" Type="http://schemas.openxmlformats.org/officeDocument/2006/relationships/package" Target="../embeddings/Microsoft_Excel_Worksheet210.xlsx"/></Relationships>
</file>

<file path=ppt/charts/_rels/chart211.xml.rels><?xml version='1.0' encoding='UTF-8' standalone='yes'?>
<Relationships xmlns="http://schemas.openxmlformats.org/package/2006/relationships"><Relationship Id="rId1" Type="http://schemas.openxmlformats.org/officeDocument/2006/relationships/package" Target="../embeddings/Microsoft_Excel_Worksheet211.xlsx"/></Relationships>
</file>

<file path=ppt/charts/_rels/chart212.xml.rels><?xml version='1.0' encoding='UTF-8' standalone='yes'?>
<Relationships xmlns="http://schemas.openxmlformats.org/package/2006/relationships"><Relationship Id="rId1" Type="http://schemas.openxmlformats.org/officeDocument/2006/relationships/package" Target="../embeddings/Microsoft_Excel_Worksheet212.xlsx"/></Relationships>
</file>

<file path=ppt/charts/_rels/chart213.xml.rels><?xml version='1.0' encoding='UTF-8' standalone='yes'?>
<Relationships xmlns="http://schemas.openxmlformats.org/package/2006/relationships"><Relationship Id="rId1" Type="http://schemas.openxmlformats.org/officeDocument/2006/relationships/package" Target="../embeddings/Microsoft_Excel_Worksheet213.xlsx"/></Relationships>
</file>

<file path=ppt/charts/_rels/chart214.xml.rels><?xml version='1.0' encoding='UTF-8' standalone='yes'?>
<Relationships xmlns="http://schemas.openxmlformats.org/package/2006/relationships"><Relationship Id="rId1" Type="http://schemas.openxmlformats.org/officeDocument/2006/relationships/package" Target="../embeddings/Microsoft_Excel_Worksheet214.xlsx"/></Relationships>
</file>

<file path=ppt/charts/_rels/chart215.xml.rels><?xml version='1.0' encoding='UTF-8' standalone='yes'?>
<Relationships xmlns="http://schemas.openxmlformats.org/package/2006/relationships"><Relationship Id="rId1" Type="http://schemas.openxmlformats.org/officeDocument/2006/relationships/package" Target="../embeddings/Microsoft_Excel_Worksheet215.xlsx"/></Relationships>
</file>

<file path=ppt/charts/_rels/chart216.xml.rels><?xml version='1.0' encoding='UTF-8' standalone='yes'?>
<Relationships xmlns="http://schemas.openxmlformats.org/package/2006/relationships"><Relationship Id="rId1" Type="http://schemas.openxmlformats.org/officeDocument/2006/relationships/package" Target="../embeddings/Microsoft_Excel_Worksheet216.xlsx"/></Relationships>
</file>

<file path=ppt/charts/_rels/chart217.xml.rels><?xml version='1.0' encoding='UTF-8' standalone='yes'?>
<Relationships xmlns="http://schemas.openxmlformats.org/package/2006/relationships"><Relationship Id="rId1" Type="http://schemas.openxmlformats.org/officeDocument/2006/relationships/package" Target="../embeddings/Microsoft_Excel_Worksheet217.xlsx"/></Relationships>
</file>

<file path=ppt/charts/_rels/chart218.xml.rels><?xml version='1.0' encoding='UTF-8' standalone='yes'?>
<Relationships xmlns="http://schemas.openxmlformats.org/package/2006/relationships"><Relationship Id="rId1" Type="http://schemas.openxmlformats.org/officeDocument/2006/relationships/package" Target="../embeddings/Microsoft_Excel_Worksheet218.xlsx"/></Relationships>
</file>

<file path=ppt/charts/_rels/chart219.xml.rels><?xml version='1.0' encoding='UTF-8' standalone='yes'?>
<Relationships xmlns="http://schemas.openxmlformats.org/package/2006/relationships"><Relationship Id="rId1" Type="http://schemas.openxmlformats.org/officeDocument/2006/relationships/package" Target="../embeddings/Microsoft_Excel_Worksheet219.xlsx"/></Relationships>
</file>

<file path=ppt/charts/_rels/chart220.xml.rels><?xml version='1.0' encoding='UTF-8' standalone='yes'?>
<Relationships xmlns="http://schemas.openxmlformats.org/package/2006/relationships"><Relationship Id="rId1" Type="http://schemas.openxmlformats.org/officeDocument/2006/relationships/package" Target="../embeddings/Microsoft_Excel_Worksheet220.xlsx"/></Relationships>
</file>

<file path=ppt/charts/_rels/chart221.xml.rels><?xml version='1.0' encoding='UTF-8' standalone='yes'?>
<Relationships xmlns="http://schemas.openxmlformats.org/package/2006/relationships"><Relationship Id="rId1" Type="http://schemas.openxmlformats.org/officeDocument/2006/relationships/package" Target="../embeddings/Microsoft_Excel_Worksheet221.xlsx"/></Relationships>
</file>

<file path=ppt/charts/_rels/chart222.xml.rels><?xml version='1.0' encoding='UTF-8' standalone='yes'?>
<Relationships xmlns="http://schemas.openxmlformats.org/package/2006/relationships"><Relationship Id="rId1" Type="http://schemas.openxmlformats.org/officeDocument/2006/relationships/package" Target="../embeddings/Microsoft_Excel_Worksheet222.xlsx"/></Relationships>
</file>

<file path=ppt/charts/_rels/chart223.xml.rels><?xml version='1.0' encoding='UTF-8' standalone='yes'?>
<Relationships xmlns="http://schemas.openxmlformats.org/package/2006/relationships"><Relationship Id="rId1" Type="http://schemas.openxmlformats.org/officeDocument/2006/relationships/package" Target="../embeddings/Microsoft_Excel_Worksheet223.xlsx"/></Relationships>
</file>

<file path=ppt/charts/_rels/chart224.xml.rels><?xml version='1.0' encoding='UTF-8' standalone='yes'?>
<Relationships xmlns="http://schemas.openxmlformats.org/package/2006/relationships"><Relationship Id="rId1" Type="http://schemas.openxmlformats.org/officeDocument/2006/relationships/package" Target="../embeddings/Microsoft_Excel_Worksheet224.xlsx"/></Relationships>
</file>

<file path=ppt/charts/_rels/chart225.xml.rels><?xml version='1.0' encoding='UTF-8' standalone='yes'?>
<Relationships xmlns="http://schemas.openxmlformats.org/package/2006/relationships"><Relationship Id="rId1" Type="http://schemas.openxmlformats.org/officeDocument/2006/relationships/package" Target="../embeddings/Microsoft_Excel_Worksheet225.xlsx"/></Relationships>
</file>

<file path=ppt/charts/_rels/chart226.xml.rels><?xml version='1.0' encoding='UTF-8' standalone='yes'?>
<Relationships xmlns="http://schemas.openxmlformats.org/package/2006/relationships"><Relationship Id="rId1" Type="http://schemas.openxmlformats.org/officeDocument/2006/relationships/package" Target="../embeddings/Microsoft_Excel_Worksheet226.xlsx"/></Relationships>
</file>

<file path=ppt/charts/_rels/chart227.xml.rels><?xml version='1.0' encoding='UTF-8' standalone='yes'?>
<Relationships xmlns="http://schemas.openxmlformats.org/package/2006/relationships"><Relationship Id="rId1" Type="http://schemas.openxmlformats.org/officeDocument/2006/relationships/package" Target="../embeddings/Microsoft_Excel_Worksheet227.xlsx"/></Relationships>
</file>

<file path=ppt/charts/_rels/chart228.xml.rels><?xml version='1.0' encoding='UTF-8' standalone='yes'?>
<Relationships xmlns="http://schemas.openxmlformats.org/package/2006/relationships"><Relationship Id="rId1" Type="http://schemas.openxmlformats.org/officeDocument/2006/relationships/package" Target="../embeddings/Microsoft_Excel_Worksheet228.xlsx"/></Relationships>
</file>

<file path=ppt/charts/_rels/chart229.xml.rels><?xml version='1.0' encoding='UTF-8' standalone='yes'?>
<Relationships xmlns="http://schemas.openxmlformats.org/package/2006/relationships"><Relationship Id="rId1" Type="http://schemas.openxmlformats.org/officeDocument/2006/relationships/package" Target="../embeddings/Microsoft_Excel_Worksheet229.xlsx"/></Relationships>
</file>

<file path=ppt/charts/_rels/chart230.xml.rels><?xml version='1.0' encoding='UTF-8' standalone='yes'?>
<Relationships xmlns="http://schemas.openxmlformats.org/package/2006/relationships"><Relationship Id="rId1" Type="http://schemas.openxmlformats.org/officeDocument/2006/relationships/package" Target="../embeddings/Microsoft_Excel_Worksheet230.xlsx"/></Relationships>
</file>

<file path=ppt/charts/_rels/chart231.xml.rels><?xml version='1.0' encoding='UTF-8' standalone='yes'?>
<Relationships xmlns="http://schemas.openxmlformats.org/package/2006/relationships"><Relationship Id="rId1" Type="http://schemas.openxmlformats.org/officeDocument/2006/relationships/package" Target="../embeddings/Microsoft_Excel_Worksheet231.xlsx"/></Relationships>
</file>

<file path=ppt/charts/_rels/chart232.xml.rels><?xml version='1.0' encoding='UTF-8' standalone='yes'?>
<Relationships xmlns="http://schemas.openxmlformats.org/package/2006/relationships"><Relationship Id="rId1" Type="http://schemas.openxmlformats.org/officeDocument/2006/relationships/package" Target="../embeddings/Microsoft_Excel_Worksheet232.xlsx"/></Relationships>
</file>

<file path=ppt/charts/_rels/chart233.xml.rels><?xml version='1.0' encoding='UTF-8' standalone='yes'?>
<Relationships xmlns="http://schemas.openxmlformats.org/package/2006/relationships"><Relationship Id="rId1" Type="http://schemas.openxmlformats.org/officeDocument/2006/relationships/package" Target="../embeddings/Microsoft_Excel_Worksheet233.xlsx"/></Relationships>
</file>

<file path=ppt/charts/_rels/chart234.xml.rels><?xml version='1.0' encoding='UTF-8' standalone='yes'?>
<Relationships xmlns="http://schemas.openxmlformats.org/package/2006/relationships"><Relationship Id="rId1" Type="http://schemas.openxmlformats.org/officeDocument/2006/relationships/package" Target="../embeddings/Microsoft_Excel_Worksheet234.xlsx"/></Relationships>
</file>

<file path=ppt/charts/_rels/chart235.xml.rels><?xml version='1.0' encoding='UTF-8' standalone='yes'?>
<Relationships xmlns="http://schemas.openxmlformats.org/package/2006/relationships"><Relationship Id="rId1" Type="http://schemas.openxmlformats.org/officeDocument/2006/relationships/package" Target="../embeddings/Microsoft_Excel_Worksheet235.xlsx"/></Relationships>
</file>

<file path=ppt/charts/_rels/chart236.xml.rels><?xml version='1.0' encoding='UTF-8' standalone='yes'?>
<Relationships xmlns="http://schemas.openxmlformats.org/package/2006/relationships"><Relationship Id="rId1" Type="http://schemas.openxmlformats.org/officeDocument/2006/relationships/package" Target="../embeddings/Microsoft_Excel_Worksheet236.xlsx"/></Relationships>
</file>

<file path=ppt/charts/_rels/chart237.xml.rels><?xml version='1.0' encoding='UTF-8' standalone='yes'?>
<Relationships xmlns="http://schemas.openxmlformats.org/package/2006/relationships"><Relationship Id="rId1" Type="http://schemas.openxmlformats.org/officeDocument/2006/relationships/package" Target="../embeddings/Microsoft_Excel_Worksheet237.xlsx"/></Relationships>
</file>

<file path=ppt/charts/_rels/chart238.xml.rels><?xml version='1.0' encoding='UTF-8' standalone='yes'?>
<Relationships xmlns="http://schemas.openxmlformats.org/package/2006/relationships"><Relationship Id="rId1" Type="http://schemas.openxmlformats.org/officeDocument/2006/relationships/package" Target="../embeddings/Microsoft_Excel_Worksheet238.xlsx"/></Relationships>
</file>

<file path=ppt/charts/_rels/chart239.xml.rels><?xml version='1.0' encoding='UTF-8' standalone='yes'?>
<Relationships xmlns="http://schemas.openxmlformats.org/package/2006/relationships"><Relationship Id="rId1" Type="http://schemas.openxmlformats.org/officeDocument/2006/relationships/package" Target="../embeddings/Microsoft_Excel_Worksheet239.xlsx"/></Relationships>
</file>

<file path=ppt/charts/_rels/chart240.xml.rels><?xml version='1.0' encoding='UTF-8' standalone='yes'?>
<Relationships xmlns="http://schemas.openxmlformats.org/package/2006/relationships"><Relationship Id="rId1" Type="http://schemas.openxmlformats.org/officeDocument/2006/relationships/package" Target="../embeddings/Microsoft_Excel_Worksheet240.xlsx"/></Relationships>
</file>

<file path=ppt/charts/_rels/chart241.xml.rels><?xml version='1.0' encoding='UTF-8' standalone='yes'?>
<Relationships xmlns="http://schemas.openxmlformats.org/package/2006/relationships"><Relationship Id="rId1" Type="http://schemas.openxmlformats.org/officeDocument/2006/relationships/package" Target="../embeddings/Microsoft_Excel_Worksheet241.xlsx"/></Relationships>
</file>

<file path=ppt/charts/_rels/chart242.xml.rels><?xml version='1.0' encoding='UTF-8' standalone='yes'?>
<Relationships xmlns="http://schemas.openxmlformats.org/package/2006/relationships"><Relationship Id="rId1" Type="http://schemas.openxmlformats.org/officeDocument/2006/relationships/package" Target="../embeddings/Microsoft_Excel_Worksheet242.xlsx"/></Relationships>
</file>

<file path=ppt/charts/_rels/chart243.xml.rels><?xml version='1.0' encoding='UTF-8' standalone='yes'?>
<Relationships xmlns="http://schemas.openxmlformats.org/package/2006/relationships"><Relationship Id="rId1" Type="http://schemas.openxmlformats.org/officeDocument/2006/relationships/package" Target="../embeddings/Microsoft_Excel_Worksheet243.xlsx"/></Relationships>
</file>

<file path=ppt/charts/_rels/chart244.xml.rels><?xml version='1.0' encoding='UTF-8' standalone='yes'?>
<Relationships xmlns="http://schemas.openxmlformats.org/package/2006/relationships"><Relationship Id="rId1" Type="http://schemas.openxmlformats.org/officeDocument/2006/relationships/package" Target="../embeddings/Microsoft_Excel_Worksheet244.xlsx"/></Relationships>
</file>

<file path=ppt/charts/_rels/chart245.xml.rels><?xml version='1.0' encoding='UTF-8' standalone='yes'?>
<Relationships xmlns="http://schemas.openxmlformats.org/package/2006/relationships"><Relationship Id="rId1" Type="http://schemas.openxmlformats.org/officeDocument/2006/relationships/package" Target="../embeddings/Microsoft_Excel_Worksheet245.xlsx"/></Relationships>
</file>

<file path=ppt/charts/_rels/chart246.xml.rels><?xml version='1.0' encoding='UTF-8' standalone='yes'?>
<Relationships xmlns="http://schemas.openxmlformats.org/package/2006/relationships"><Relationship Id="rId1" Type="http://schemas.openxmlformats.org/officeDocument/2006/relationships/package" Target="../embeddings/Microsoft_Excel_Worksheet246.xlsx"/></Relationships>
</file>

<file path=ppt/charts/_rels/chart247.xml.rels><?xml version='1.0' encoding='UTF-8' standalone='yes'?>
<Relationships xmlns="http://schemas.openxmlformats.org/package/2006/relationships"><Relationship Id="rId1" Type="http://schemas.openxmlformats.org/officeDocument/2006/relationships/package" Target="../embeddings/Microsoft_Excel_Worksheet247.xlsx"/></Relationships>
</file>

<file path=ppt/charts/_rels/chart248.xml.rels><?xml version='1.0' encoding='UTF-8' standalone='yes'?>
<Relationships xmlns="http://schemas.openxmlformats.org/package/2006/relationships"><Relationship Id="rId1" Type="http://schemas.openxmlformats.org/officeDocument/2006/relationships/package" Target="../embeddings/Microsoft_Excel_Worksheet248.xlsx"/></Relationships>
</file>

<file path=ppt/charts/_rels/chart249.xml.rels><?xml version='1.0' encoding='UTF-8' standalone='yes'?>
<Relationships xmlns="http://schemas.openxmlformats.org/package/2006/relationships"><Relationship Id="rId1" Type="http://schemas.openxmlformats.org/officeDocument/2006/relationships/package" Target="../embeddings/Microsoft_Excel_Worksheet249.xlsx"/></Relationships>
</file>

<file path=ppt/charts/_rels/chart250.xml.rels><?xml version='1.0' encoding='UTF-8' standalone='yes'?>
<Relationships xmlns="http://schemas.openxmlformats.org/package/2006/relationships"><Relationship Id="rId1" Type="http://schemas.openxmlformats.org/officeDocument/2006/relationships/package" Target="../embeddings/Microsoft_Excel_Worksheet250.xlsx"/></Relationships>
</file>

<file path=ppt/charts/_rels/chart251.xml.rels><?xml version='1.0' encoding='UTF-8' standalone='yes'?>
<Relationships xmlns="http://schemas.openxmlformats.org/package/2006/relationships"><Relationship Id="rId1" Type="http://schemas.openxmlformats.org/officeDocument/2006/relationships/package" Target="../embeddings/Microsoft_Excel_Worksheet251.xlsx"/></Relationships>
</file>

<file path=ppt/charts/_rels/chart252.xml.rels><?xml version='1.0' encoding='UTF-8' standalone='yes'?>
<Relationships xmlns="http://schemas.openxmlformats.org/package/2006/relationships"><Relationship Id="rId1" Type="http://schemas.openxmlformats.org/officeDocument/2006/relationships/package" Target="../embeddings/Microsoft_Excel_Worksheet252.xlsx"/></Relationships>
</file>

<file path=ppt/charts/_rels/chart253.xml.rels><?xml version='1.0' encoding='UTF-8' standalone='yes'?>
<Relationships xmlns="http://schemas.openxmlformats.org/package/2006/relationships"><Relationship Id="rId1" Type="http://schemas.openxmlformats.org/officeDocument/2006/relationships/package" Target="../embeddings/Microsoft_Excel_Worksheet253.xlsx"/></Relationships>
</file>

<file path=ppt/charts/_rels/chart254.xml.rels><?xml version='1.0' encoding='UTF-8' standalone='yes'?>
<Relationships xmlns="http://schemas.openxmlformats.org/package/2006/relationships"><Relationship Id="rId1" Type="http://schemas.openxmlformats.org/officeDocument/2006/relationships/package" Target="../embeddings/Microsoft_Excel_Worksheet254.xlsx"/></Relationships>
</file>

<file path=ppt/charts/_rels/chart255.xml.rels><?xml version='1.0' encoding='UTF-8' standalone='yes'?>
<Relationships xmlns="http://schemas.openxmlformats.org/package/2006/relationships"><Relationship Id="rId1" Type="http://schemas.openxmlformats.org/officeDocument/2006/relationships/package" Target="../embeddings/Microsoft_Excel_Worksheet255.xlsx"/></Relationships>
</file>

<file path=ppt/charts/_rels/chart256.xml.rels><?xml version='1.0' encoding='UTF-8' standalone='yes'?>
<Relationships xmlns="http://schemas.openxmlformats.org/package/2006/relationships"><Relationship Id="rId1" Type="http://schemas.openxmlformats.org/officeDocument/2006/relationships/package" Target="../embeddings/Microsoft_Excel_Worksheet256.xlsx"/></Relationships>
</file>

<file path=ppt/charts/_rels/chart257.xml.rels><?xml version='1.0' encoding='UTF-8' standalone='yes'?>
<Relationships xmlns="http://schemas.openxmlformats.org/package/2006/relationships"><Relationship Id="rId1" Type="http://schemas.openxmlformats.org/officeDocument/2006/relationships/package" Target="../embeddings/Microsoft_Excel_Worksheet257.xlsx"/></Relationships>
</file>

<file path=ppt/charts/_rels/chart258.xml.rels><?xml version='1.0' encoding='UTF-8' standalone='yes'?>
<Relationships xmlns="http://schemas.openxmlformats.org/package/2006/relationships"><Relationship Id="rId1" Type="http://schemas.openxmlformats.org/officeDocument/2006/relationships/package" Target="../embeddings/Microsoft_Excel_Worksheet258.xlsx"/></Relationships>
</file>

<file path=ppt/charts/_rels/chart259.xml.rels><?xml version='1.0' encoding='UTF-8' standalone='yes'?>
<Relationships xmlns="http://schemas.openxmlformats.org/package/2006/relationships"><Relationship Id="rId1" Type="http://schemas.openxmlformats.org/officeDocument/2006/relationships/package" Target="../embeddings/Microsoft_Excel_Worksheet259.xlsx"/></Relationships>
</file>

<file path=ppt/charts/_rels/chart260.xml.rels><?xml version='1.0' encoding='UTF-8' standalone='yes'?>
<Relationships xmlns="http://schemas.openxmlformats.org/package/2006/relationships"><Relationship Id="rId1" Type="http://schemas.openxmlformats.org/officeDocument/2006/relationships/package" Target="../embeddings/Microsoft_Excel_Worksheet260.xlsx"/></Relationships>
</file>

<file path=ppt/charts/_rels/chart261.xml.rels><?xml version='1.0' encoding='UTF-8' standalone='yes'?>
<Relationships xmlns="http://schemas.openxmlformats.org/package/2006/relationships"><Relationship Id="rId1" Type="http://schemas.openxmlformats.org/officeDocument/2006/relationships/package" Target="../embeddings/Microsoft_Excel_Worksheet261.xlsx"/></Relationships>
</file>

<file path=ppt/charts/_rels/chart262.xml.rels><?xml version='1.0' encoding='UTF-8' standalone='yes'?>
<Relationships xmlns="http://schemas.openxmlformats.org/package/2006/relationships"><Relationship Id="rId1" Type="http://schemas.openxmlformats.org/officeDocument/2006/relationships/package" Target="../embeddings/Microsoft_Excel_Worksheet262.xlsx"/></Relationships>
</file>

<file path=ppt/charts/_rels/chart263.xml.rels><?xml version='1.0' encoding='UTF-8' standalone='yes'?>
<Relationships xmlns="http://schemas.openxmlformats.org/package/2006/relationships"><Relationship Id="rId1" Type="http://schemas.openxmlformats.org/officeDocument/2006/relationships/package" Target="../embeddings/Microsoft_Excel_Worksheet26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21.12</c:v>
                </c:pt>
                <c:pt idx="3">
                  <c:v>21.8</c:v>
                </c:pt>
                <c:pt idx="4">
                  <c:v>20.12</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21.12</c:v>
                </c:pt>
                <c:pt idx="3">
                  <c:v>21.8</c:v>
                </c:pt>
                <c:pt idx="4">
                  <c:v/>
                </c:pt>
                <c:pt idx="5">
                  <c:v>21.52</c:v>
                </c:pt>
                <c:pt idx="6">
                  <c:v>22.71</c:v>
                </c:pt>
                <c:pt idx="7">
                  <c:v>21.64</c:v>
                </c:pt>
                <c:pt idx="8">
                  <c:v>21.13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19.88</c:v>
                </c:pt>
                <c:pt idx="1">
                  <c:v>18.87</c:v>
                </c:pt>
                <c:pt idx="2">
                  <c:v/>
                </c:pt>
                <c:pt idx="3">
                  <c:v/>
                </c:pt>
                <c:pt idx="4">
                  <c:v>20.12</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
                </c:pt>
                <c:pt idx="3">
                  <c:v/>
                </c:pt>
                <c:pt idx="4">
                  <c:v>20.28</c:v>
                </c:pt>
                <c:pt idx="5">
                  <c:v/>
                </c:pt>
                <c:pt idx="6">
                  <c:v/>
                </c:pt>
                <c:pt idx="7">
                  <c:v/>
                </c:pt>
                <c:pt idx="8">
                  <c:v/>
                </c:pt>
                <c:pt idx="9">
                  <c:v>21.27</c:v>
                </c:pt>
                <c:pt idx="10">
                  <c:v/>
                </c:pt>
                <c:pt idx="11">
                  <c:v>19.32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20.19</c:v>
                </c:pt>
                <c:pt idx="3">
                  <c:v>20.85</c:v>
                </c:pt>
                <c:pt idx="4">
                  <c:v/>
                </c:pt>
                <c:pt idx="5">
                  <c:v>20.34</c:v>
                </c:pt>
                <c:pt idx="6">
                  <c:v>20.75</c:v>
                </c:pt>
                <c:pt idx="7">
                  <c:v>20.32</c:v>
                </c:pt>
                <c:pt idx="8">
                  <c:v>19.03</c:v>
                </c:pt>
                <c:pt idx="9">
                  <c:v/>
                </c:pt>
                <c:pt idx="10">
                  <c:v>17.74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20.46</c:v>
                </c:pt>
                <c:pt idx="1">
                  <c:v>19.1</c:v>
                </c:pt>
                <c:pt idx="2">
                  <c:v>20.19</c:v>
                </c:pt>
                <c:pt idx="3">
                  <c:v>20.85</c:v>
                </c:pt>
                <c:pt idx="4">
                  <c:v>20.28</c:v>
                </c:pt>
                <c:pt idx="5">
                  <c:v>20.34</c:v>
                </c:pt>
                <c:pt idx="6">
                  <c:v>20.75</c:v>
                </c:pt>
                <c:pt idx="7">
                  <c:v>20.32</c:v>
                </c:pt>
                <c:pt idx="8">
                  <c:v>19.03</c:v>
                </c:pt>
                <c:pt idx="9">
                  <c:v>21.27</c:v>
                </c:pt>
                <c:pt idx="10">
                  <c:v>17.74</c:v>
                </c:pt>
                <c:pt idx="11">
                  <c:v>19.32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6"/>
          <c:min val="16"/>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13.47</c:v>
                </c:pt>
                <c:pt idx="1">
                  <c:v>12.79</c:v>
                </c:pt>
                <c:pt idx="2">
                  <c:v>14.35</c:v>
                </c:pt>
                <c:pt idx="3">
                  <c:v>14.65</c:v>
                </c:pt>
                <c:pt idx="4">
                  <c:v>13.71</c:v>
                </c:pt>
                <c:pt idx="5">
                  <c:v>14.45</c:v>
                </c:pt>
                <c:pt idx="6">
                  <c:v>15.06</c:v>
                </c:pt>
                <c:pt idx="7">
                  <c:v>14.43</c:v>
                </c:pt>
                <c:pt idx="8">
                  <c:v>13.96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13.74</c:v>
                </c:pt>
                <c:pt idx="10">
                  <c:v/>
                </c:pt>
                <c:pt idx="11">
                  <c:v>12.92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
                </c:pt>
                <c:pt idx="10">
                  <c:v>11.84</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13.41</c:v>
                </c:pt>
                <c:pt idx="1">
                  <c:v>12.64</c:v>
                </c:pt>
                <c:pt idx="2">
                  <c:v>13.59</c:v>
                </c:pt>
                <c:pt idx="3">
                  <c:v>14.01</c:v>
                </c:pt>
                <c:pt idx="4">
                  <c:v>13.61</c:v>
                </c:pt>
                <c:pt idx="5">
                  <c:v>13.53</c:v>
                </c:pt>
                <c:pt idx="6">
                  <c:v>13.78</c:v>
                </c:pt>
                <c:pt idx="7">
                  <c:v>13.51</c:v>
                </c:pt>
                <c:pt idx="8">
                  <c:v>12.5</c:v>
                </c:pt>
                <c:pt idx="9">
                  <c:v>13.74</c:v>
                </c:pt>
                <c:pt idx="10">
                  <c:v>11.84</c:v>
                </c:pt>
                <c:pt idx="11">
                  <c:v>12.92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10"/>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6.77</c:v>
                </c:pt>
                <c:pt idx="3">
                  <c:v>7.14</c:v>
                </c:pt>
                <c:pt idx="4">
                  <c:v>6.41</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6.77</c:v>
                </c:pt>
                <c:pt idx="3">
                  <c:v>7.14</c:v>
                </c:pt>
                <c:pt idx="4">
                  <c:v/>
                </c:pt>
                <c:pt idx="5">
                  <c:v>7.07</c:v>
                </c:pt>
                <c:pt idx="6">
                  <c:v>7.66</c:v>
                </c:pt>
                <c:pt idx="7">
                  <c:v>7.21</c:v>
                </c:pt>
                <c:pt idx="8">
                  <c:v>7.18</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6.41</c:v>
                </c:pt>
                <c:pt idx="1">
                  <c:v>6.08</c:v>
                </c:pt>
                <c:pt idx="2">
                  <c:v/>
                </c:pt>
                <c:pt idx="3">
                  <c:v/>
                </c:pt>
                <c:pt idx="4">
                  <c:v>6.41</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
                </c:pt>
                <c:pt idx="3">
                  <c:v/>
                </c:pt>
                <c:pt idx="4">
                  <c:v>6.67</c:v>
                </c:pt>
                <c:pt idx="5">
                  <c:v/>
                </c:pt>
                <c:pt idx="6">
                  <c:v/>
                </c:pt>
                <c:pt idx="7">
                  <c:v/>
                </c:pt>
                <c:pt idx="8">
                  <c:v/>
                </c:pt>
                <c:pt idx="9">
                  <c:v>7.53</c:v>
                </c:pt>
                <c:pt idx="10">
                  <c:v/>
                </c:pt>
                <c:pt idx="11">
                  <c:v>6.4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6.6</c:v>
                </c:pt>
                <c:pt idx="3">
                  <c:v>6.84</c:v>
                </c:pt>
                <c:pt idx="4">
                  <c:v/>
                </c:pt>
                <c:pt idx="5">
                  <c:v>6.81</c:v>
                </c:pt>
                <c:pt idx="6">
                  <c:v>6.97</c:v>
                </c:pt>
                <c:pt idx="7">
                  <c:v>6.81</c:v>
                </c:pt>
                <c:pt idx="8">
                  <c:v>6.54</c:v>
                </c:pt>
                <c:pt idx="9">
                  <c:v/>
                </c:pt>
                <c:pt idx="10">
                  <c:v>5.91</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7.05</c:v>
                </c:pt>
                <c:pt idx="1">
                  <c:v>6.47</c:v>
                </c:pt>
                <c:pt idx="2">
                  <c:v>6.6</c:v>
                </c:pt>
                <c:pt idx="3">
                  <c:v>6.84</c:v>
                </c:pt>
                <c:pt idx="4">
                  <c:v>6.67</c:v>
                </c:pt>
                <c:pt idx="5">
                  <c:v>6.81</c:v>
                </c:pt>
                <c:pt idx="6">
                  <c:v>6.97</c:v>
                </c:pt>
                <c:pt idx="7">
                  <c:v>6.81</c:v>
                </c:pt>
                <c:pt idx="8">
                  <c:v>6.54</c:v>
                </c:pt>
                <c:pt idx="9">
                  <c:v>7.53</c:v>
                </c:pt>
                <c:pt idx="10">
                  <c:v>5.91</c:v>
                </c:pt>
                <c:pt idx="11">
                  <c:v>6.4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
          <c:min val="5"/>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78.5</c:v>
                </c:pt>
                <c:pt idx="3">
                  <c:v>79.6</c:v>
                </c:pt>
                <c:pt idx="4">
                  <c:v>75.4</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78.5</c:v>
                </c:pt>
                <c:pt idx="3">
                  <c:v>79.6</c:v>
                </c:pt>
                <c:pt idx="4">
                  <c:v/>
                </c:pt>
                <c:pt idx="5">
                  <c:v>79.2</c:v>
                </c:pt>
                <c:pt idx="6">
                  <c:v>83</c:v>
                </c:pt>
                <c:pt idx="7">
                  <c:v>79.9</c:v>
                </c:pt>
                <c:pt idx="8">
                  <c:v>77.6</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74.8</c:v>
                </c:pt>
                <c:pt idx="1">
                  <c:v>74.5</c:v>
                </c:pt>
                <c:pt idx="2">
                  <c:v/>
                </c:pt>
                <c:pt idx="3">
                  <c:v/>
                </c:pt>
                <c:pt idx="4">
                  <c:v>75.4</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
                </c:pt>
                <c:pt idx="3">
                  <c:v/>
                </c:pt>
                <c:pt idx="4">
                  <c:v>76.9</c:v>
                </c:pt>
                <c:pt idx="5">
                  <c:v/>
                </c:pt>
                <c:pt idx="6">
                  <c:v/>
                </c:pt>
                <c:pt idx="7">
                  <c:v/>
                </c:pt>
                <c:pt idx="8">
                  <c:v/>
                </c:pt>
                <c:pt idx="9">
                  <c:v>82</c:v>
                </c:pt>
                <c:pt idx="10">
                  <c:v/>
                </c:pt>
                <c:pt idx="11">
                  <c:v>74.6</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74.1</c:v>
                </c:pt>
                <c:pt idx="3">
                  <c:v>76.3</c:v>
                </c:pt>
                <c:pt idx="4">
                  <c:v/>
                </c:pt>
                <c:pt idx="5">
                  <c:v>77.8</c:v>
                </c:pt>
                <c:pt idx="6">
                  <c:v>78.4</c:v>
                </c:pt>
                <c:pt idx="7">
                  <c:v>75.9</c:v>
                </c:pt>
                <c:pt idx="8">
                  <c:v>72.7</c:v>
                </c:pt>
                <c:pt idx="9">
                  <c:v/>
                </c:pt>
                <c:pt idx="10">
                  <c:v>73.4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c:v>
                </c:pt>
                <c:pt idx="1">
                  <c:v>75.1</c:v>
                </c:pt>
                <c:pt idx="2">
                  <c:v>74.1</c:v>
                </c:pt>
                <c:pt idx="3">
                  <c:v>76.3</c:v>
                </c:pt>
                <c:pt idx="4">
                  <c:v>76.9</c:v>
                </c:pt>
                <c:pt idx="5">
                  <c:v>77.8</c:v>
                </c:pt>
                <c:pt idx="6">
                  <c:v>78.4</c:v>
                </c:pt>
                <c:pt idx="7">
                  <c:v>75.9</c:v>
                </c:pt>
                <c:pt idx="8">
                  <c:v>72.7</c:v>
                </c:pt>
                <c:pt idx="9">
                  <c:v>82</c:v>
                </c:pt>
                <c:pt idx="10">
                  <c:v>73.4</c:v>
                </c:pt>
                <c:pt idx="11">
                  <c:v>74.6</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90"/>
          <c:min val="6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c:v>
                </c:pt>
                <c:pt idx="1">
                  <c:v>20.3</c:v>
                </c:pt>
                <c:pt idx="2">
                  <c:v>24.5</c:v>
                </c:pt>
                <c:pt idx="3">
                  <c:v>23.3</c:v>
                </c:pt>
                <c:pt idx="4">
                  <c:v>21.9</c:v>
                </c:pt>
                <c:pt idx="5">
                  <c:v>21.9</c:v>
                </c:pt>
                <c:pt idx="6">
                  <c:v>23.8</c:v>
                </c:pt>
                <c:pt idx="7">
                  <c:v>22.5</c:v>
                </c:pt>
                <c:pt idx="8">
                  <c:v>19.7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21.1</c:v>
                </c:pt>
                <c:pt idx="10">
                  <c:v/>
                </c:pt>
                <c:pt idx="11">
                  <c:v>16.7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
                </c:pt>
                <c:pt idx="10">
                  <c:v>14.4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16.9</c:v>
                </c:pt>
                <c:pt idx="1">
                  <c:v>16.1</c:v>
                </c:pt>
                <c:pt idx="2">
                  <c:v>21.2</c:v>
                </c:pt>
                <c:pt idx="3">
                  <c:v>21.2</c:v>
                </c:pt>
                <c:pt idx="4">
                  <c:v>21.5</c:v>
                </c:pt>
                <c:pt idx="5">
                  <c:v>19.4</c:v>
                </c:pt>
                <c:pt idx="6">
                  <c:v>20.3</c:v>
                </c:pt>
                <c:pt idx="7">
                  <c:v>19.6</c:v>
                </c:pt>
                <c:pt idx="8">
                  <c:v>13.1</c:v>
                </c:pt>
                <c:pt idx="9">
                  <c:v>21.1</c:v>
                </c:pt>
                <c:pt idx="10">
                  <c:v>14.4</c:v>
                </c:pt>
                <c:pt idx="11">
                  <c:v>16.7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36.3</c:v>
                </c:pt>
                <c:pt idx="3">
                  <c:v>38</c:v>
                </c:pt>
                <c:pt idx="4">
                  <c:v>33.6</c:v>
                </c:pt>
                <c:pt idx="5">
                  <c:v>37.7</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36.3</c:v>
                </c:pt>
                <c:pt idx="3">
                  <c:v>38</c:v>
                </c:pt>
                <c:pt idx="4">
                  <c:v/>
                </c:pt>
                <c:pt idx="5">
                  <c:v/>
                </c:pt>
                <c:pt idx="6">
                  <c:v>41</c:v>
                </c:pt>
                <c:pt idx="7">
                  <c:v>38.1</c:v>
                </c:pt>
                <c:pt idx="8">
                  <c:v>38.8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33.5</c:v>
                </c:pt>
                <c:pt idx="1">
                  <c:v>32</c:v>
                </c:pt>
                <c:pt idx="2">
                  <c:v/>
                </c:pt>
                <c:pt idx="3">
                  <c:v/>
                </c:pt>
                <c:pt idx="4">
                  <c:v>33.6</c:v>
                </c:pt>
                <c:pt idx="5">
                  <c:v>37.7</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
                </c:pt>
                <c:pt idx="3">
                  <c:v/>
                </c:pt>
                <c:pt idx="4">
                  <c:v>36.7</c:v>
                </c:pt>
                <c:pt idx="5">
                  <c:v>38.1</c:v>
                </c:pt>
                <c:pt idx="6">
                  <c:v/>
                </c:pt>
                <c:pt idx="7">
                  <c:v/>
                </c:pt>
                <c:pt idx="8">
                  <c:v/>
                </c:pt>
                <c:pt idx="9">
                  <c:v>42.6</c:v>
                </c:pt>
                <c:pt idx="10">
                  <c:v/>
                </c:pt>
                <c:pt idx="11">
                  <c:v>33.8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35</c:v>
                </c:pt>
                <c:pt idx="3">
                  <c:v>37.7</c:v>
                </c:pt>
                <c:pt idx="4">
                  <c:v/>
                </c:pt>
                <c:pt idx="5">
                  <c:v/>
                </c:pt>
                <c:pt idx="6">
                  <c:v>39.7</c:v>
                </c:pt>
                <c:pt idx="7">
                  <c:v>35.7</c:v>
                </c:pt>
                <c:pt idx="8">
                  <c:v>34.8</c:v>
                </c:pt>
                <c:pt idx="9">
                  <c:v/>
                </c:pt>
                <c:pt idx="10">
                  <c:v>33.3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39.6</c:v>
                </c:pt>
                <c:pt idx="1">
                  <c:v>36.6</c:v>
                </c:pt>
                <c:pt idx="2">
                  <c:v>35</c:v>
                </c:pt>
                <c:pt idx="3">
                  <c:v>37.7</c:v>
                </c:pt>
                <c:pt idx="4">
                  <c:v>36.7</c:v>
                </c:pt>
                <c:pt idx="5">
                  <c:v>38.1</c:v>
                </c:pt>
                <c:pt idx="6">
                  <c:v>39.7</c:v>
                </c:pt>
                <c:pt idx="7">
                  <c:v>35.7</c:v>
                </c:pt>
                <c:pt idx="8">
                  <c:v>34.8</c:v>
                </c:pt>
                <c:pt idx="9">
                  <c:v>42.6</c:v>
                </c:pt>
                <c:pt idx="10">
                  <c:v>33.3</c:v>
                </c:pt>
                <c:pt idx="11">
                  <c:v>33.8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50"/>
          <c:min val="25"/>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57788.84</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noFill/>
        <a:ln>
          <a:noFill/>
        </a:ln>
        <a:effectLst/>
      </c:spPr>
    </c:plotArea>
    <c:plotVisOnly val="1"/>
    <c:dispBlanksAs val="span"/>
  </c:chart>
  <c:spPr>
    <a:noFill/>
    <a:ln>
      <a:noFill/>
    </a:ln>
    <a:effectLst/>
  </c:spPr>
  <c:externalData r:id="rId1">
    <c:autoUpdate val="0"/>
  </c:externalData>
</c:chartSpace>
</file>

<file path=ppt/charts/chart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55578.46</c:v>
                </c:pt>
                <c:pt idx="1">
                  <c:v>52000.56</c:v>
                </c:pt>
                <c:pt idx="2">
                  <c:v>60175.93</c:v>
                </c:pt>
                <c:pt idx="3">
                  <c:v>59745.97</c:v>
                </c:pt>
                <c:pt idx="4">
                  <c:v/>
                </c:pt>
                <c:pt idx="5">
                  <c:v>60916.67</c:v>
                </c:pt>
                <c:pt idx="6">
                  <c:v>61860.58</c:v>
                </c:pt>
                <c:pt idx="7">
                  <c:v>59618.54</c:v>
                </c:pt>
                <c:pt idx="8">
                  <c:v>55456.31</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57788.84</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57794.35</c:v>
                </c:pt>
                <c:pt idx="5">
                  <c:v/>
                </c:pt>
                <c:pt idx="6">
                  <c:v/>
                </c:pt>
                <c:pt idx="7">
                  <c:v/>
                </c:pt>
                <c:pt idx="8">
                  <c:v/>
                </c:pt>
                <c:pt idx="9">
                  <c:v>58023.59000000028</c:v>
                </c:pt>
                <c:pt idx="10">
                  <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
                </c:pt>
                <c:pt idx="5">
                  <c:v>56468.18</c:v>
                </c:pt>
                <c:pt idx="6">
                  <c:v>57717.31</c:v>
                </c:pt>
                <c:pt idx="7">
                  <c:v>57021.2</c:v>
                </c:pt>
                <c:pt idx="8">
                  <c:v>53309.32</c:v>
                </c:pt>
                <c:pt idx="9">
                  <c:v/>
                </c:pt>
                <c:pt idx="10">
                  <c:v>51202.50000000025</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55120.88</c:v>
                </c:pt>
                <c:pt idx="1">
                  <c:v>51212.03</c:v>
                </c:pt>
                <c:pt idx="2">
                  <c:v>57205.56</c:v>
                </c:pt>
                <c:pt idx="3">
                  <c:v>58170.14</c:v>
                </c:pt>
                <c:pt idx="4">
                  <c:v>57794.35</c:v>
                </c:pt>
                <c:pt idx="5">
                  <c:v>56468.18</c:v>
                </c:pt>
                <c:pt idx="6">
                  <c:v>57717.31</c:v>
                </c:pt>
                <c:pt idx="7">
                  <c:v>57021.2</c:v>
                </c:pt>
                <c:pt idx="8">
                  <c:v>53309.32</c:v>
                </c:pt>
                <c:pt idx="9">
                  <c:v>58023.59000000028</c:v>
                </c:pt>
                <c:pt idx="10">
                  <c:v>51202.50000000025</c:v>
                </c:pt>
                <c:pt idx="11">
                  <c:v>52701.39000000027</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0000"/>
          <c:min val="45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12.2</c:v>
                </c:pt>
                <c:pt idx="1">
                  <c:v>13.3</c:v>
                </c:pt>
                <c:pt idx="2">
                  <c:v>13.4</c:v>
                </c:pt>
                <c:pt idx="3">
                  <c:v>14.2</c:v>
                </c:pt>
                <c:pt idx="4">
                  <c:v>13.6</c:v>
                </c:pt>
                <c:pt idx="5">
                  <c:v>13.5</c:v>
                </c:pt>
                <c:pt idx="6">
                  <c:v>13.3</c:v>
                </c:pt>
                <c:pt idx="7">
                  <c:v>13</c:v>
                </c:pt>
                <c:pt idx="8">
                  <c:v>13.1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12.1</c:v>
                </c:pt>
                <c:pt idx="10">
                  <c:v>12.3</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
                </c:pt>
                <c:pt idx="10">
                  <c:v/>
                </c:pt>
                <c:pt idx="11">
                  <c:v>11.8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11.2</c:v>
                </c:pt>
                <c:pt idx="1">
                  <c:v>12.3</c:v>
                </c:pt>
                <c:pt idx="2">
                  <c:v>12.8</c:v>
                </c:pt>
                <c:pt idx="3">
                  <c:v>12.7</c:v>
                </c:pt>
                <c:pt idx="4">
                  <c:v>12.3</c:v>
                </c:pt>
                <c:pt idx="5">
                  <c:v>11.6</c:v>
                </c:pt>
                <c:pt idx="6">
                  <c:v>11.3</c:v>
                </c:pt>
                <c:pt idx="7">
                  <c:v>11.6</c:v>
                </c:pt>
                <c:pt idx="8">
                  <c:v>11.5</c:v>
                </c:pt>
                <c:pt idx="9">
                  <c:v>12.1</c:v>
                </c:pt>
                <c:pt idx="10">
                  <c:v>12.3</c:v>
                </c:pt>
                <c:pt idx="11">
                  <c:v>11.8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8"/>
          <c:min val="8"/>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7.6</c:v>
                </c:pt>
                <c:pt idx="1">
                  <c:v>8.4</c:v>
                </c:pt>
                <c:pt idx="2">
                  <c:v>8.7</c:v>
                </c:pt>
                <c:pt idx="3">
                  <c:v>8.8</c:v>
                </c:pt>
                <c:pt idx="4">
                  <c:v>8.6</c:v>
                </c:pt>
                <c:pt idx="5">
                  <c:v>8.5</c:v>
                </c:pt>
                <c:pt idx="6">
                  <c:v>8.3</c:v>
                </c:pt>
                <c:pt idx="7">
                  <c:v>8.5</c:v>
                </c:pt>
                <c:pt idx="8">
                  <c:v>8.1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c:v>
                </c:pt>
                <c:pt idx="1">
                  <c:v>15</c:v>
                </c:pt>
                <c:pt idx="2">
                  <c:v>15</c:v>
                </c:pt>
                <c:pt idx="3">
                  <c:v>15</c:v>
                </c:pt>
                <c:pt idx="4">
                  <c:v>15</c:v>
                </c:pt>
                <c:pt idx="5">
                  <c:v>15</c:v>
                </c:pt>
                <c:pt idx="6">
                  <c:v>15</c:v>
                </c:pt>
                <c:pt idx="7">
                  <c:v>15</c:v>
                </c:pt>
                <c:pt idx="8">
                  <c:v>15</c:v>
                </c:pt>
                <c:pt idx="9">
                  <c:v>15</c:v>
                </c:pt>
                <c:pt idx="10">
                  <c:v>15</c:v>
                </c:pt>
                <c:pt idx="11">
                  <c:v>15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6.3</c:v>
                </c:pt>
                <c:pt idx="1">
                  <c:v>7.1</c:v>
                </c:pt>
                <c:pt idx="2">
                  <c:v>7.6</c:v>
                </c:pt>
                <c:pt idx="3">
                  <c:v>6.9</c:v>
                </c:pt>
                <c:pt idx="4">
                  <c:v>7.1</c:v>
                </c:pt>
                <c:pt idx="5">
                  <c:v>7</c:v>
                </c:pt>
                <c:pt idx="6">
                  <c:v>6.9</c:v>
                </c:pt>
                <c:pt idx="7">
                  <c:v>7</c:v>
                </c:pt>
                <c:pt idx="8">
                  <c:v>6.7</c:v>
                </c:pt>
                <c:pt idx="9">
                  <c:v>6.6</c:v>
                </c:pt>
                <c:pt idx="10">
                  <c:v>6.8</c:v>
                </c:pt>
                <c:pt idx="11">
                  <c:v>6.8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
          <c:min val="0"/>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8.5</c:v>
                </c:pt>
                <c:pt idx="1">
                  <c:v>9</c:v>
                </c:pt>
                <c:pt idx="2">
                  <c:v>9.8</c:v>
                </c:pt>
                <c:pt idx="3">
                  <c:v>9.9</c:v>
                </c:pt>
                <c:pt idx="4">
                  <c:v>9.8</c:v>
                </c:pt>
                <c:pt idx="5">
                  <c:v>9.4</c:v>
                </c:pt>
                <c:pt idx="6">
                  <c:v>9</c:v>
                </c:pt>
                <c:pt idx="7">
                  <c:v>8.9</c:v>
                </c:pt>
                <c:pt idx="8">
                  <c:v>9.3</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10</c:v>
                </c:pt>
                <c:pt idx="1">
                  <c:v>10</c:v>
                </c:pt>
                <c:pt idx="2">
                  <c:v>10</c:v>
                </c:pt>
                <c:pt idx="3">
                  <c:v>10</c:v>
                </c:pt>
                <c:pt idx="4">
                  <c:v>10</c:v>
                </c:pt>
                <c:pt idx="5">
                  <c:v>10</c:v>
                </c:pt>
                <c:pt idx="6">
                  <c:v>10</c:v>
                </c:pt>
                <c:pt idx="7">
                  <c:v>10</c:v>
                </c:pt>
                <c:pt idx="8">
                  <c:v>10</c:v>
                </c:pt>
                <c:pt idx="9">
                  <c:v>10</c:v>
                </c:pt>
                <c:pt idx="10">
                  <c:v>10</c:v>
                </c:pt>
                <c:pt idx="11">
                  <c:v>10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7.4</c:v>
                </c:pt>
                <c:pt idx="1">
                  <c:v>7.9</c:v>
                </c:pt>
                <c:pt idx="2">
                  <c:v>8.2</c:v>
                </c:pt>
                <c:pt idx="3">
                  <c:v>8.1</c:v>
                </c:pt>
                <c:pt idx="4">
                  <c:v>8.2</c:v>
                </c:pt>
                <c:pt idx="5">
                  <c:v>8</c:v>
                </c:pt>
                <c:pt idx="6">
                  <c:v>7.8</c:v>
                </c:pt>
                <c:pt idx="7">
                  <c:v>8.1</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1"/>
          <c:min val="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5.4</c:v>
                </c:pt>
                <c:pt idx="1">
                  <c:v>5.8</c:v>
                </c:pt>
                <c:pt idx="2">
                  <c:v>6.2</c:v>
                </c:pt>
                <c:pt idx="3">
                  <c:v>6</c:v>
                </c:pt>
                <c:pt idx="4">
                  <c:v>6.3</c:v>
                </c:pt>
                <c:pt idx="5">
                  <c:v>5.9</c:v>
                </c:pt>
                <c:pt idx="6">
                  <c:v>5.6</c:v>
                </c:pt>
                <c:pt idx="7">
                  <c:v>5.3</c:v>
                </c:pt>
                <c:pt idx="8">
                  <c:v>5.8</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7.5</c:v>
                </c:pt>
                <c:pt idx="1">
                  <c:v>7.5</c:v>
                </c:pt>
                <c:pt idx="2">
                  <c:v>7.5</c:v>
                </c:pt>
                <c:pt idx="3">
                  <c:v>7.5</c:v>
                </c:pt>
                <c:pt idx="4">
                  <c:v>7.5</c:v>
                </c:pt>
                <c:pt idx="5">
                  <c:v>7.5</c:v>
                </c:pt>
                <c:pt idx="6">
                  <c:v>7.5</c:v>
                </c:pt>
                <c:pt idx="7">
                  <c:v>7.5</c:v>
                </c:pt>
                <c:pt idx="8">
                  <c:v>7.5</c:v>
                </c:pt>
                <c:pt idx="9">
                  <c:v>7.5</c:v>
                </c:pt>
                <c:pt idx="10">
                  <c:v>7.5</c:v>
                </c:pt>
                <c:pt idx="11">
                  <c:v>7.5</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c:v>
                </c:pt>
                <c:pt idx="1">
                  <c:v>4.6</c:v>
                </c:pt>
                <c:pt idx="2">
                  <c:v>4.9</c:v>
                </c:pt>
                <c:pt idx="3">
                  <c:v>4.9</c:v>
                </c:pt>
                <c:pt idx="4">
                  <c:v>4.6</c:v>
                </c:pt>
                <c:pt idx="5">
                  <c:v>4.7</c:v>
                </c:pt>
                <c:pt idx="6">
                  <c:v>4.3</c:v>
                </c:pt>
                <c:pt idx="7">
                  <c:v>4.7</c:v>
                </c:pt>
                <c:pt idx="8">
                  <c:v>4.5</c:v>
                </c:pt>
                <c:pt idx="9">
                  <c:v>4.6</c:v>
                </c:pt>
                <c:pt idx="10">
                  <c:v>4.8</c:v>
                </c:pt>
                <c:pt idx="11">
                  <c:v>4.9</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0"/>
          <c:min val="2"/>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124.08</c:v>
                </c:pt>
                <c:pt idx="2">
                  <c:v>130.61</c:v>
                </c:pt>
                <c:pt idx="3">
                  <c:v>130.85</c:v>
                </c:pt>
                <c:pt idx="4">
                  <c:v>131.64</c:v>
                </c:pt>
                <c:pt idx="5">
                  <c:v>128.34</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125.77</c:v>
                </c:pt>
                <c:pt idx="1">
                  <c:v/>
                </c:pt>
                <c:pt idx="2">
                  <c:v>130.61</c:v>
                </c:pt>
                <c:pt idx="3">
                  <c:v>130.85</c:v>
                </c:pt>
                <c:pt idx="4">
                  <c:v>131.64</c:v>
                </c:pt>
                <c:pt idx="5">
                  <c:v/>
                </c:pt>
                <c:pt idx="6">
                  <c:v>132.55</c:v>
                </c:pt>
                <c:pt idx="7">
                  <c:v>129.87</c:v>
                </c:pt>
                <c:pt idx="8">
                  <c:v>133.77</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124.08</c:v>
                </c:pt>
                <c:pt idx="2">
                  <c:v/>
                </c:pt>
                <c:pt idx="3">
                  <c:v/>
                </c:pt>
                <c:pt idx="4">
                  <c:v/>
                </c:pt>
                <c:pt idx="5">
                  <c:v>128.34</c:v>
                </c:pt>
                <c:pt idx="6">
                  <c:v/>
                </c:pt>
                <c:pt idx="7">
                  <c:v/>
                </c:pt>
                <c:pt idx="8">
                  <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125.41</c:v>
                </c:pt>
                <c:pt idx="2">
                  <c:v/>
                </c:pt>
                <c:pt idx="3">
                  <c:v/>
                </c:pt>
                <c:pt idx="4">
                  <c:v/>
                </c:pt>
                <c:pt idx="5">
                  <c:v>128.94</c:v>
                </c:pt>
                <c:pt idx="6">
                  <c:v/>
                </c:pt>
                <c:pt idx="7">
                  <c:v/>
                </c:pt>
                <c:pt idx="8">
                  <c:v/>
                </c:pt>
                <c:pt idx="9">
                  <c:v>125.52</c:v>
                </c:pt>
                <c:pt idx="10">
                  <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
                </c:pt>
                <c:pt idx="2">
                  <c:v>124.77</c:v>
                </c:pt>
                <c:pt idx="3">
                  <c:v>125.94</c:v>
                </c:pt>
                <c:pt idx="4">
                  <c:v>130.19</c:v>
                </c:pt>
                <c:pt idx="5">
                  <c:v/>
                </c:pt>
                <c:pt idx="6">
                  <c:v>125.78</c:v>
                </c:pt>
                <c:pt idx="7">
                  <c:v>125.81</c:v>
                </c:pt>
                <c:pt idx="8">
                  <c:v>124.46</c:v>
                </c:pt>
                <c:pt idx="9">
                  <c:v/>
                </c:pt>
                <c:pt idx="10">
                  <c:v>125.56</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123.77</c:v>
                </c:pt>
                <c:pt idx="1">
                  <c:v>125.41</c:v>
                </c:pt>
                <c:pt idx="2">
                  <c:v>124.77</c:v>
                </c:pt>
                <c:pt idx="3">
                  <c:v>125.94</c:v>
                </c:pt>
                <c:pt idx="4">
                  <c:v>130.19</c:v>
                </c:pt>
                <c:pt idx="5">
                  <c:v>128.94</c:v>
                </c:pt>
                <c:pt idx="6">
                  <c:v>125.78</c:v>
                </c:pt>
                <c:pt idx="7">
                  <c:v>125.81</c:v>
                </c:pt>
                <c:pt idx="8">
                  <c:v>124.46</c:v>
                </c:pt>
                <c:pt idx="9">
                  <c:v>125.52</c:v>
                </c:pt>
                <c:pt idx="10">
                  <c:v>125.56</c:v>
                </c:pt>
                <c:pt idx="11">
                  <c:v>130.39</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40"/>
          <c:min val="12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78.4</c:v>
                </c:pt>
                <c:pt idx="3">
                  <c:v>78.3</c:v>
                </c:pt>
                <c:pt idx="4">
                  <c:v>78.8</c:v>
                </c:pt>
                <c:pt idx="5">
                  <c:v>77.8</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78.4</c:v>
                </c:pt>
                <c:pt idx="3">
                  <c:v>78.3</c:v>
                </c:pt>
                <c:pt idx="4">
                  <c:v>78.8</c:v>
                </c:pt>
                <c:pt idx="5">
                  <c:v/>
                </c:pt>
                <c:pt idx="6">
                  <c:v>78.7</c:v>
                </c:pt>
                <c:pt idx="7">
                  <c:v>77.9</c:v>
                </c:pt>
                <c:pt idx="8">
                  <c:v>78.2</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77.5</c:v>
                </c:pt>
                <c:pt idx="1">
                  <c:v>77.4</c:v>
                </c:pt>
                <c:pt idx="2">
                  <c:v/>
                </c:pt>
                <c:pt idx="3">
                  <c:v/>
                </c:pt>
                <c:pt idx="4">
                  <c:v/>
                </c:pt>
                <c:pt idx="5">
                  <c:v>77.8</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
                </c:pt>
                <c:pt idx="3">
                  <c:v/>
                </c:pt>
                <c:pt idx="4">
                  <c:v/>
                </c:pt>
                <c:pt idx="5">
                  <c:v>78.3</c:v>
                </c:pt>
                <c:pt idx="6">
                  <c:v/>
                </c:pt>
                <c:pt idx="7">
                  <c:v/>
                </c:pt>
                <c:pt idx="8">
                  <c:v/>
                </c:pt>
                <c:pt idx="9">
                  <c:v>77.9</c:v>
                </c:pt>
                <c:pt idx="10">
                  <c:v/>
                </c:pt>
                <c:pt idx="11">
                  <c:v>78.4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77.9</c:v>
                </c:pt>
                <c:pt idx="3">
                  <c:v>78</c:v>
                </c:pt>
                <c:pt idx="4">
                  <c:v>78.5</c:v>
                </c:pt>
                <c:pt idx="5">
                  <c:v/>
                </c:pt>
                <c:pt idx="6">
                  <c:v>77.7</c:v>
                </c:pt>
                <c:pt idx="7">
                  <c:v>77.4</c:v>
                </c:pt>
                <c:pt idx="8">
                  <c:v>77.3</c:v>
                </c:pt>
                <c:pt idx="9">
                  <c:v/>
                </c:pt>
                <c:pt idx="10">
                  <c:v>77.4</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77.6</c:v>
                </c:pt>
                <c:pt idx="1">
                  <c:v>78</c:v>
                </c:pt>
                <c:pt idx="2">
                  <c:v>77.9</c:v>
                </c:pt>
                <c:pt idx="3">
                  <c:v>78</c:v>
                </c:pt>
                <c:pt idx="4">
                  <c:v>78.5</c:v>
                </c:pt>
                <c:pt idx="5">
                  <c:v>78.3</c:v>
                </c:pt>
                <c:pt idx="6">
                  <c:v>77.7</c:v>
                </c:pt>
                <c:pt idx="7">
                  <c:v>77.4</c:v>
                </c:pt>
                <c:pt idx="8">
                  <c:v>77.3</c:v>
                </c:pt>
                <c:pt idx="9">
                  <c:v>77.9</c:v>
                </c:pt>
                <c:pt idx="10">
                  <c:v>77.4</c:v>
                </c:pt>
                <c:pt idx="11">
                  <c:v>78.4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2"/>
          <c:min val="7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36.4</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35.9</c:v>
                </c:pt>
                <c:pt idx="1">
                  <c:v>35.9</c:v>
                </c:pt>
                <c:pt idx="2">
                  <c:v>36.3</c:v>
                </c:pt>
                <c:pt idx="3">
                  <c:v/>
                </c:pt>
                <c:pt idx="4">
                  <c:v>37.2</c:v>
                </c:pt>
                <c:pt idx="5">
                  <c:v>37</c:v>
                </c:pt>
                <c:pt idx="6">
                  <c:v>36.6</c:v>
                </c:pt>
                <c:pt idx="7">
                  <c:v>36.1</c:v>
                </c:pt>
                <c:pt idx="8">
                  <c:v>36.7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36.4</c:v>
                </c:pt>
                <c:pt idx="4">
                  <c:v/>
                </c:pt>
                <c:pt idx="5">
                  <c:v/>
                </c:pt>
                <c:pt idx="6">
                  <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36.7</c:v>
                </c:pt>
                <c:pt idx="4">
                  <c:v/>
                </c:pt>
                <c:pt idx="5">
                  <c:v/>
                </c:pt>
                <c:pt idx="6">
                  <c:v/>
                </c:pt>
                <c:pt idx="7">
                  <c:v/>
                </c:pt>
                <c:pt idx="8">
                  <c:v/>
                </c:pt>
                <c:pt idx="9">
                  <c:v/>
                </c:pt>
                <c:pt idx="10">
                  <c:v/>
                </c:pt>
                <c:pt idx="11">
                  <c:v>35.4</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
                </c:pt>
                <c:pt idx="4">
                  <c:v>35.5</c:v>
                </c:pt>
                <c:pt idx="5">
                  <c:v>36.7</c:v>
                </c:pt>
                <c:pt idx="6">
                  <c:v>36.4</c:v>
                </c:pt>
                <c:pt idx="7">
                  <c:v>35.3</c:v>
                </c:pt>
                <c:pt idx="8">
                  <c:v>36.1</c:v>
                </c:pt>
                <c:pt idx="9">
                  <c:v>35.4</c:v>
                </c:pt>
                <c:pt idx="10">
                  <c:v>35.2</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35.1</c:v>
                </c:pt>
                <c:pt idx="1">
                  <c:v>35.5</c:v>
                </c:pt>
                <c:pt idx="2">
                  <c:v>36.2</c:v>
                </c:pt>
                <c:pt idx="3">
                  <c:v>36.7</c:v>
                </c:pt>
                <c:pt idx="4">
                  <c:v>35.5</c:v>
                </c:pt>
                <c:pt idx="5">
                  <c:v>36.7</c:v>
                </c:pt>
                <c:pt idx="6">
                  <c:v>36.4</c:v>
                </c:pt>
                <c:pt idx="7">
                  <c:v>35.3</c:v>
                </c:pt>
                <c:pt idx="8">
                  <c:v>36.1</c:v>
                </c:pt>
                <c:pt idx="9">
                  <c:v>35.4</c:v>
                </c:pt>
                <c:pt idx="10">
                  <c:v>35.2</c:v>
                </c:pt>
                <c:pt idx="11">
                  <c:v>35.4</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8"/>
          <c:min val="34"/>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1530</c:v>
                </c:pt>
                <c:pt idx="1">
                  <c:v>1530</c:v>
                </c:pt>
                <c:pt idx="2">
                  <c:v>1540</c:v>
                </c:pt>
                <c:pt idx="3">
                  <c:v>1545</c:v>
                </c:pt>
                <c:pt idx="4">
                  <c:v>1537</c:v>
                </c:pt>
                <c:pt idx="5">
                  <c:v>1546</c:v>
                </c:pt>
                <c:pt idx="6">
                  <c:v>1548</c:v>
                </c:pt>
                <c:pt idx="7">
                  <c:v>1549</c:v>
                </c:pt>
                <c:pt idx="8">
                  <c:v>1540</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1625</c:v>
                </c:pt>
                <c:pt idx="1">
                  <c:v>1632</c:v>
                </c:pt>
                <c:pt idx="2">
                  <c:v>1629</c:v>
                </c:pt>
                <c:pt idx="3">
                  <c:v>1615</c:v>
                </c:pt>
                <c:pt idx="4">
                  <c:v>1623</c:v>
                </c:pt>
                <c:pt idx="5">
                  <c:v>1616</c:v>
                </c:pt>
                <c:pt idx="6">
                  <c:v>1629</c:v>
                </c:pt>
                <c:pt idx="7">
                  <c:v>1627</c:v>
                </c:pt>
                <c:pt idx="8">
                  <c:v>1616</c:v>
                </c:pt>
                <c:pt idx="9">
                  <c:v>1604</c:v>
                </c:pt>
                <c:pt idx="10">
                  <c:v>1582</c:v>
                </c:pt>
                <c:pt idx="11">
                  <c:v>1563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0"/>
          <c:min val="145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1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12996</c:v>
                </c:pt>
                <c:pt idx="1">
                  <c:v>12334</c:v>
                </c:pt>
                <c:pt idx="2">
                  <c:v>13714</c:v>
                </c:pt>
                <c:pt idx="3">
                  <c:v>14108</c:v>
                </c:pt>
                <c:pt idx="4">
                  <c:v>13092</c:v>
                </c:pt>
                <c:pt idx="5">
                  <c:v>13919</c:v>
                </c:pt>
                <c:pt idx="6">
                  <c:v>14673</c:v>
                </c:pt>
                <c:pt idx="7">
                  <c:v>13972</c:v>
                </c:pt>
                <c:pt idx="8">
                  <c:v>13721</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13262</c:v>
                </c:pt>
                <c:pt idx="10">
                  <c:v/>
                </c:pt>
                <c:pt idx="11">
                  <c:v>12359</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
                </c:pt>
                <c:pt idx="10">
                  <c:v>11216</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12592</c:v>
                </c:pt>
                <c:pt idx="1">
                  <c:v>11705</c:v>
                </c:pt>
                <c:pt idx="2">
                  <c:v>12397</c:v>
                </c:pt>
                <c:pt idx="3">
                  <c:v>12913</c:v>
                </c:pt>
                <c:pt idx="4">
                  <c:v>12494</c:v>
                </c:pt>
                <c:pt idx="5">
                  <c:v>12584</c:v>
                </c:pt>
                <c:pt idx="6">
                  <c:v>12740</c:v>
                </c:pt>
                <c:pt idx="7">
                  <c:v>12488</c:v>
                </c:pt>
                <c:pt idx="8">
                  <c:v>11778</c:v>
                </c:pt>
                <c:pt idx="9">
                  <c:v>13262</c:v>
                </c:pt>
                <c:pt idx="10">
                  <c:v>11216</c:v>
                </c:pt>
                <c:pt idx="11">
                  <c:v>12359</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6000"/>
          <c:min val="1000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175.2439841962175</c:v>
                </c:pt>
                <c:pt idx="1">
                  <c:v>174.70169012351778</c:v>
                </c:pt>
                <c:pt idx="2">
                  <c:v>172.9285775129414</c:v>
                </c:pt>
                <c:pt idx="3">
                  <c:v>175.61127356278703</c:v>
                </c:pt>
                <c:pt idx="4">
                  <c:v>181.75874394919398</c:v>
                </c:pt>
                <c:pt idx="5">
                  <c:v>185.28735446655506</c:v>
                </c:pt>
                <c:pt idx="6">
                  <c:v>186.84360060500507</c:v>
                </c:pt>
                <c:pt idx="7">
                  <c:v>186.03852485364902</c:v>
                </c:pt>
                <c:pt idx="8">
                  <c:v>186.63443624697075</c:v>
                </c:pt>
                <c:pt idx="9">
                  <c:v>187.82340399621128</c:v>
                </c:pt>
                <c:pt idx="10">
                  <c:v>188.54570456770247</c:v>
                </c:pt>
                <c:pt idx="11">
                  <c:v>193.026339762648</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196.3431055626689</c:v>
                </c:pt>
                <c:pt idx="1">
                  <c:v>197.59988088885487</c:v>
                </c:pt>
                <c:pt idx="2">
                  <c:v>196.73190202486097</c:v>
                </c:pt>
                <c:pt idx="3">
                  <c:v>199.07347573222432</c:v>
                </c:pt>
                <c:pt idx="4">
                  <c:v>194.27814921582817</c:v>
                </c:pt>
                <c:pt idx="5">
                  <c:v>194.34736290224444</c:v>
                </c:pt>
                <c:pt idx="6">
                  <c:v>198.70298965359143</c:v>
                </c:pt>
                <c:pt idx="7">
                  <c:v>198.475216144318</c:v>
                </c:pt>
                <c:pt idx="8">
                  <c:v>198.64898260681719</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10"/>
          <c:min val="1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1750" cap="flat">
              <a:solidFill>
                <a:srgbClr val="9AA3A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42.278253053610044</c:v>
                </c:pt>
                <c:pt idx="1">
                  <c:v>42.41544739806332</c:v>
                </c:pt>
                <c:pt idx="2">
                  <c:v>42.65611347315035</c:v>
                </c:pt>
                <c:pt idx="3">
                  <c:v>42.70081646746627</c:v>
                </c:pt>
                <c:pt idx="4">
                  <c:v>41.81256614635749</c:v>
                </c:pt>
                <c:pt idx="5">
                  <c:v>41.719042884608356</c:v>
                </c:pt>
                <c:pt idx="6">
                  <c:v>43.27386273923569</c:v>
                </c:pt>
                <c:pt idx="7">
                  <c:v>43.053208466855786</c:v>
                </c:pt>
                <c:pt idx="8">
                  <c:v>43.188043770686036</c:v>
                </c:pt>
                <c:pt idx="9">
                  <c:v>42.49206866316298</c:v>
                </c:pt>
                <c:pt idx="10">
                  <c:v>42.854394657766704</c:v>
                </c:pt>
                <c:pt idx="11">
                  <c:v>43.14464569316162</c:v>
                </c:pt>
              </c:numCache>
            </c:numRef>
          </c:val>
          <c:smooth val="0"/>
        </c:ser>
        <c:ser>
          <c:idx val="1"/>
          <c:order val="1"/>
          <c:tx>
            <c:strRef>
              <c:f>Sheet1!$C$1</c:f>
              <c:strCache>
                <c:ptCount val="1"/>
                <c:pt idx="0">
                  <c:v>2026</c:v>
                </c:pt>
              </c:strCache>
            </c:strRef>
          </c:tx>
          <c:spPr>
            <a:solidFill>
              <a:srgbClr val="2587C5"/>
            </a:solidFill>
            <a:ln w="31750" cap="flat">
              <a:solidFill>
                <a:srgbClr val="2587C5"/>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Sheet1!$C$2:$C$13</c:f>
              <c:numCache>
                <c:formatCode>General</c:formatCode>
                <c:ptCount val="12"/>
                <c:pt idx="0">
                  <c:v>43.488578069326266</c:v>
                </c:pt>
                <c:pt idx="1">
                  <c:v>44.23461338126831</c:v>
                </c:pt>
                <c:pt idx="2">
                  <c:v>43.95920209770964</c:v>
                </c:pt>
                <c:pt idx="3">
                  <c:v>44.2887708163885</c:v>
                </c:pt>
                <c:pt idx="4">
                  <c:v>44.54479532799166</c:v>
                </c:pt>
                <c:pt idx="5">
                  <c:v>44.549732104003056</c:v>
                </c:pt>
                <c:pt idx="6">
                  <c:v>45.97617480951779</c:v>
                </c:pt>
                <c:pt idx="7">
                  <c:v>45.06618203861053</c:v>
                </c:pt>
                <c:pt idx="8">
                  <c:v>45.636711065820116</c:v>
                </c:pt>
                <c:pt idx="9">
                  <c:v/>
                </c:pt>
                <c:pt idx="10">
                  <c:v/>
                </c:pt>
                <c:pt idx="11">
                  <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8"/>
          <c:min val="38"/>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4"/>
      </c:valAx>
      <c:spPr>
        <a:noFill/>
        <a:ln>
          <a:noFill/>
        </a:ln>
        <a:effectLst/>
      </c:spPr>
    </c:plotArea>
    <c:plotVisOnly val="1"/>
    <c:dispBlanksAs val="span"/>
  </c:chart>
  <c:spPr>
    <a:noFill/>
    <a:ln>
      <a:noFill/>
    </a:ln>
    <a:effectLst/>
  </c:spPr>
  <c:externalData r:id="rId1">
    <c:autoUpdate val="0"/>
  </c:externalData>
</c:chartSpace>
</file>

<file path=ppt/charts/chart1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5.2</c:v>
                </c:pt>
                <c:pt idx="3">
                  <c:v>5.4</c:v>
                </c:pt>
                <c:pt idx="4">
                  <c:v>4.7</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1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5.2</c:v>
                </c:pt>
                <c:pt idx="3">
                  <c:v>5.4</c:v>
                </c:pt>
                <c:pt idx="4">
                  <c:v/>
                </c:pt>
                <c:pt idx="5">
                  <c:v>5.05</c:v>
                </c:pt>
                <c:pt idx="6">
                  <c:v>5.82</c:v>
                </c:pt>
                <c:pt idx="7">
                  <c:v>5.49</c:v>
                </c:pt>
                <c:pt idx="8">
                  <c:v>5.36</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5.08</c:v>
                </c:pt>
                <c:pt idx="1">
                  <c:v>4.97</c:v>
                </c:pt>
                <c:pt idx="2">
                  <c:v/>
                </c:pt>
                <c:pt idx="3">
                  <c:v/>
                </c:pt>
                <c:pt idx="4">
                  <c:v>4.7</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
                </c:pt>
                <c:pt idx="3">
                  <c:v/>
                </c:pt>
                <c:pt idx="4">
                  <c:v>4.75</c:v>
                </c:pt>
                <c:pt idx="5">
                  <c:v/>
                </c:pt>
                <c:pt idx="6">
                  <c:v/>
                </c:pt>
                <c:pt idx="7">
                  <c:v/>
                </c:pt>
                <c:pt idx="8">
                  <c:v/>
                </c:pt>
                <c:pt idx="9">
                  <c:v>5.39</c:v>
                </c:pt>
                <c:pt idx="10">
                  <c:v/>
                </c:pt>
                <c:pt idx="11">
                  <c:v>5.04</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5.01</c:v>
                </c:pt>
                <c:pt idx="3">
                  <c:v>4.81</c:v>
                </c:pt>
                <c:pt idx="4">
                  <c:v/>
                </c:pt>
                <c:pt idx="5">
                  <c:v>4.97</c:v>
                </c:pt>
                <c:pt idx="6">
                  <c:v>5.13</c:v>
                </c:pt>
                <c:pt idx="7">
                  <c:v>4.94</c:v>
                </c:pt>
                <c:pt idx="8">
                  <c:v>4.48</c:v>
                </c:pt>
                <c:pt idx="9">
                  <c:v/>
                </c:pt>
                <c:pt idx="10">
                  <c:v>4.42</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5.51</c:v>
                </c:pt>
                <c:pt idx="1">
                  <c:v>5.18</c:v>
                </c:pt>
                <c:pt idx="2">
                  <c:v>5.01</c:v>
                </c:pt>
                <c:pt idx="3">
                  <c:v>4.81</c:v>
                </c:pt>
                <c:pt idx="4">
                  <c:v>4.75</c:v>
                </c:pt>
                <c:pt idx="5">
                  <c:v>4.97</c:v>
                </c:pt>
                <c:pt idx="6">
                  <c:v>5.13</c:v>
                </c:pt>
                <c:pt idx="7">
                  <c:v>4.94</c:v>
                </c:pt>
                <c:pt idx="8">
                  <c:v>4.48</c:v>
                </c:pt>
                <c:pt idx="9">
                  <c:v>5.39</c:v>
                </c:pt>
                <c:pt idx="10">
                  <c:v>4.42</c:v>
                </c:pt>
                <c:pt idx="11">
                  <c:v>5.04</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7"/>
          <c:min val="3"/>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171.412</c:v>
                </c:pt>
                <c:pt idx="6">
                  <c:v>174.588</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171.412</c:v>
                </c:pt>
                <c:pt idx="6">
                  <c:v/>
                </c:pt>
                <c:pt idx="7">
                  <c:v>176.49180327868854</c:v>
                </c:pt>
                <c:pt idx="8">
                  <c:v>172.46058091286307</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165.0483870967742</c:v>
                </c:pt>
                <c:pt idx="1">
                  <c:v>148.57142857142858</c:v>
                </c:pt>
                <c:pt idx="2">
                  <c:v>165.3531746031746</c:v>
                </c:pt>
                <c:pt idx="3">
                  <c:v>163.812</c:v>
                </c:pt>
                <c:pt idx="4">
                  <c:v>157.87007874015748</c:v>
                </c:pt>
                <c:pt idx="5">
                  <c:v/>
                </c:pt>
                <c:pt idx="6">
                  <c:v>174.588</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
                </c:pt>
                <c:pt idx="6">
                  <c:v>177.77732793522267</c:v>
                </c:pt>
                <c:pt idx="7">
                  <c:v/>
                </c:pt>
                <c:pt idx="8">
                  <c:v/>
                </c:pt>
                <c:pt idx="9">
                  <c:v>173.3413654618474</c:v>
                </c:pt>
                <c:pt idx="10">
                  <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171.10526315789474</c:v>
                </c:pt>
                <c:pt idx="6">
                  <c:v/>
                </c:pt>
                <c:pt idx="7">
                  <c:v>171.31075697211156</c:v>
                </c:pt>
                <c:pt idx="8">
                  <c:v>160.78225806451613</c:v>
                </c:pt>
                <c:pt idx="9">
                  <c:v/>
                </c:pt>
                <c:pt idx="10">
                  <c:v>152.834008097166</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181.76470588235293</c:v>
                </c:pt>
                <c:pt idx="1">
                  <c:v>167.49789029535864</c:v>
                </c:pt>
                <c:pt idx="2">
                  <c:v>178.79166666666666</c:v>
                </c:pt>
                <c:pt idx="3">
                  <c:v>176.42561983471074</c:v>
                </c:pt>
                <c:pt idx="4">
                  <c:v>169.248</c:v>
                </c:pt>
                <c:pt idx="5">
                  <c:v>171.10526315789474</c:v>
                </c:pt>
                <c:pt idx="6">
                  <c:v>177.77732793522267</c:v>
                </c:pt>
                <c:pt idx="7">
                  <c:v>171.31075697211156</c:v>
                </c:pt>
                <c:pt idx="8">
                  <c:v>160.78225806451613</c:v>
                </c:pt>
                <c:pt idx="9">
                  <c:v>173.3413654618474</c:v>
                </c:pt>
                <c:pt idx="10">
                  <c:v>152.834008097166</c:v>
                </c:pt>
                <c:pt idx="11">
                  <c:v>159.43373493975903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00"/>
          <c:min val="12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337.037037037037</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noFill/>
        <a:ln>
          <a:noFill/>
        </a:ln>
        <a:effectLst/>
      </c:spPr>
    </c:plotArea>
    <c:plotVisOnly val="1"/>
    <c:dispBlanksAs val="span"/>
  </c:chart>
  <c:spPr>
    <a:noFill/>
    <a:ln>
      <a:noFill/>
    </a:ln>
    <a:effectLst/>
  </c:spPr>
  <c:externalData r:id="rId1">
    <c:autoUpdate val="0"/>
  </c:externalData>
</c:chartSpace>
</file>

<file path=ppt/charts/chart1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386.1509433962264</c:v>
                </c:pt>
                <c:pt idx="1">
                  <c:v/>
                </c:pt>
                <c:pt idx="2">
                  <c:v>389.4299065420561</c:v>
                </c:pt>
                <c:pt idx="3">
                  <c:v>386.3490566037736</c:v>
                </c:pt>
                <c:pt idx="4">
                  <c:v>381.8952380952381</c:v>
                </c:pt>
                <c:pt idx="5">
                  <c:v>408.12380952380954</c:v>
                </c:pt>
                <c:pt idx="6">
                  <c:v>411.7641509433962</c:v>
                </c:pt>
                <c:pt idx="7">
                  <c:v>414.0769230769231</c:v>
                </c:pt>
                <c:pt idx="8">
                  <c:v>399.6442307692308</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337.037037037037</c:v>
                </c:pt>
                <c:pt idx="2">
                  <c:v/>
                </c:pt>
                <c:pt idx="3">
                  <c:v/>
                </c:pt>
                <c:pt idx="4">
                  <c:v/>
                </c:pt>
                <c:pt idx="5">
                  <c:v/>
                </c:pt>
                <c:pt idx="6">
                  <c:v/>
                </c:pt>
                <c:pt idx="7">
                  <c:v/>
                </c:pt>
                <c:pt idx="8">
                  <c:v/>
                </c:pt>
                <c:pt idx="9">
                  <c:v/>
                </c:pt>
                <c:pt idx="10">
                  <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342.2155172413793</c:v>
                </c:pt>
                <c:pt idx="2">
                  <c:v/>
                </c:pt>
                <c:pt idx="3">
                  <c:v/>
                </c:pt>
                <c:pt idx="4">
                  <c:v/>
                </c:pt>
                <c:pt idx="5">
                  <c:v/>
                </c:pt>
                <c:pt idx="6">
                  <c:v/>
                </c:pt>
                <c:pt idx="7">
                  <c:v/>
                </c:pt>
                <c:pt idx="8">
                  <c:v/>
                </c:pt>
                <c:pt idx="9">
                  <c:v>395.9816513761468</c:v>
                </c:pt>
                <c:pt idx="10">
                  <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
                </c:pt>
                <c:pt idx="2">
                  <c:v>369.91379310344826</c:v>
                </c:pt>
                <c:pt idx="3">
                  <c:v>384.63963963963965</c:v>
                </c:pt>
                <c:pt idx="4">
                  <c:v>381.18918918918916</c:v>
                </c:pt>
                <c:pt idx="5">
                  <c:v>387.73394495412845</c:v>
                </c:pt>
                <c:pt idx="6">
                  <c:v>399.1909090909091</c:v>
                </c:pt>
                <c:pt idx="7">
                  <c:v>390.9</c:v>
                </c:pt>
                <c:pt idx="8">
                  <c:v>372.6542056074766</c:v>
                </c:pt>
                <c:pt idx="9">
                  <c:v/>
                </c:pt>
                <c:pt idx="10">
                  <c:v>352.803738317757</c:v>
                </c:pt>
                <c:pt idx="11">
                  <c:v/>
                </c:pt>
              </c:numCache>
            </c:numRef>
          </c:val>
          <c:smooth val="0"/>
        </c:ser>
        <c:dLbls>
          <c:numFmt formatCode="#,##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369.7435897435897</c:v>
                </c:pt>
                <c:pt idx="1">
                  <c:v>342.2155172413793</c:v>
                </c:pt>
                <c:pt idx="2">
                  <c:v>369.91379310344826</c:v>
                </c:pt>
                <c:pt idx="3">
                  <c:v>384.63963963963965</c:v>
                </c:pt>
                <c:pt idx="4">
                  <c:v>381.18918918918916</c:v>
                </c:pt>
                <c:pt idx="5">
                  <c:v>387.73394495412845</c:v>
                </c:pt>
                <c:pt idx="6">
                  <c:v>399.1909090909091</c:v>
                </c:pt>
                <c:pt idx="7">
                  <c:v>390.9</c:v>
                </c:pt>
                <c:pt idx="8">
                  <c:v>372.6542056074766</c:v>
                </c:pt>
                <c:pt idx="9">
                  <c:v>395.9816513761468</c:v>
                </c:pt>
                <c:pt idx="10">
                  <c:v>352.803738317757</c:v>
                </c:pt>
                <c:pt idx="11">
                  <c:v>371.01869158878503</c:v>
                </c:pt>
              </c:numCache>
            </c:numRef>
          </c:val>
          <c:smooth val="0"/>
        </c:ser>
        <c:dLbls>
          <c:numFmt formatCode="#,##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50"/>
          <c:min val="3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23.790849673202615</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1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26.75294117647059</c:v>
                </c:pt>
                <c:pt idx="1">
                  <c:v/>
                </c:pt>
                <c:pt idx="2">
                  <c:v>27.057792207792208</c:v>
                </c:pt>
                <c:pt idx="3">
                  <c:v>26.506796116504855</c:v>
                </c:pt>
                <c:pt idx="4">
                  <c:v>26.089134677944045</c:v>
                </c:pt>
                <c:pt idx="5">
                  <c:v>27.71862871927555</c:v>
                </c:pt>
                <c:pt idx="6">
                  <c:v>28.19573643410853</c:v>
                </c:pt>
                <c:pt idx="7">
                  <c:v>27.801162040025822</c:v>
                </c:pt>
                <c:pt idx="8">
                  <c:v>26.98896103896104</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23.790849673202615</c:v>
                </c:pt>
                <c:pt idx="2">
                  <c:v/>
                </c:pt>
                <c:pt idx="3">
                  <c:v/>
                </c:pt>
                <c:pt idx="4">
                  <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24.324142156862745</c:v>
                </c:pt>
                <c:pt idx="2">
                  <c:v/>
                </c:pt>
                <c:pt idx="3">
                  <c:v/>
                </c:pt>
                <c:pt idx="4">
                  <c:v/>
                </c:pt>
                <c:pt idx="5">
                  <c:v/>
                </c:pt>
                <c:pt idx="6">
                  <c:v/>
                </c:pt>
                <c:pt idx="7">
                  <c:v/>
                </c:pt>
                <c:pt idx="8">
                  <c:v/>
                </c:pt>
                <c:pt idx="9">
                  <c:v>26.908977556109726</c:v>
                </c:pt>
                <c:pt idx="10">
                  <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
                </c:pt>
                <c:pt idx="2">
                  <c:v>26.341313689379987</c:v>
                </c:pt>
                <c:pt idx="3">
                  <c:v>26.436532507739937</c:v>
                </c:pt>
                <c:pt idx="4">
                  <c:v>26.070240295748615</c:v>
                </c:pt>
                <c:pt idx="5">
                  <c:v>26.152846534653467</c:v>
                </c:pt>
                <c:pt idx="6">
                  <c:v>26.955801104972377</c:v>
                </c:pt>
                <c:pt idx="7">
                  <c:v>26.42839582052858</c:v>
                </c:pt>
                <c:pt idx="8">
                  <c:v>24.67450495049505</c:v>
                </c:pt>
                <c:pt idx="9">
                  <c:v/>
                </c:pt>
                <c:pt idx="10">
                  <c:v>23.8621997471555</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26.62153846153846</c:v>
                </c:pt>
                <c:pt idx="1">
                  <c:v>24.324142156862745</c:v>
                </c:pt>
                <c:pt idx="2">
                  <c:v>26.341313689379987</c:v>
                </c:pt>
                <c:pt idx="3">
                  <c:v>26.436532507739937</c:v>
                </c:pt>
                <c:pt idx="4">
                  <c:v>26.070240295748615</c:v>
                </c:pt>
                <c:pt idx="5">
                  <c:v>26.152846534653467</c:v>
                </c:pt>
                <c:pt idx="6">
                  <c:v>26.955801104972377</c:v>
                </c:pt>
                <c:pt idx="7">
                  <c:v>26.42839582052858</c:v>
                </c:pt>
                <c:pt idx="8">
                  <c:v>24.67450495049505</c:v>
                </c:pt>
                <c:pt idx="9">
                  <c:v>26.908977556109726</c:v>
                </c:pt>
                <c:pt idx="10">
                  <c:v>23.8621997471555</c:v>
                </c:pt>
                <c:pt idx="11">
                  <c:v>25.399232245681382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0"/>
          <c:min val="22"/>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176585.11</c:v>
                </c:pt>
                <c:pt idx="1">
                  <c:v>184273.9</c:v>
                </c:pt>
                <c:pt idx="2">
                  <c:v>243873.84</c:v>
                </c:pt>
                <c:pt idx="3">
                  <c:v>231682.97</c:v>
                </c:pt>
                <c:pt idx="4">
                  <c:v>262721.61</c:v>
                </c:pt>
                <c:pt idx="5">
                  <c:v>263340.99</c:v>
                </c:pt>
                <c:pt idx="6">
                  <c:v>244041.77</c:v>
                </c:pt>
                <c:pt idx="7">
                  <c:v>244446.27</c:v>
                </c:pt>
                <c:pt idx="8">
                  <c:v>249281.88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76354.372"/>
          <c:min val="163571.727999999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294309.57999999996</c:v>
                </c:pt>
                <c:pt idx="1">
                  <c:v>278868.58</c:v>
                </c:pt>
                <c:pt idx="2">
                  <c:v>359908.79</c:v>
                </c:pt>
                <c:pt idx="3">
                  <c:v>393728.92000000004</c:v>
                </c:pt>
                <c:pt idx="4">
                  <c:v>359273.68</c:v>
                </c:pt>
                <c:pt idx="5">
                  <c:v>386316.45</c:v>
                </c:pt>
                <c:pt idx="6">
                  <c:v>384135.08</c:v>
                </c:pt>
                <c:pt idx="7">
                  <c:v>397933.38999999996</c:v>
                </c:pt>
                <c:pt idx="8">
                  <c:v>341938.74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15793.11149999994"/>
          <c:min val="261008.8585000000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177080.6</c:v>
                </c:pt>
                <c:pt idx="1">
                  <c:v>116317.49</c:v>
                </c:pt>
                <c:pt idx="2">
                  <c:v>151683.66999999998</c:v>
                </c:pt>
                <c:pt idx="3">
                  <c:v>189304.13</c:v>
                </c:pt>
                <c:pt idx="4">
                  <c:v>164925.71000000002</c:v>
                </c:pt>
                <c:pt idx="5">
                  <c:v>166070.51</c:v>
                </c:pt>
                <c:pt idx="6">
                  <c:v>172210.90000000002</c:v>
                </c:pt>
                <c:pt idx="7">
                  <c:v>228828.82</c:v>
                </c:pt>
                <c:pt idx="8">
                  <c:v>129178.53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705.5195"/>
          <c:min val="99440.7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86931.73000000001</c:v>
                </c:pt>
                <c:pt idx="1">
                  <c:v>109867.53</c:v>
                </c:pt>
                <c:pt idx="2">
                  <c:v>104137.82</c:v>
                </c:pt>
                <c:pt idx="3">
                  <c:v>100928.84</c:v>
                </c:pt>
                <c:pt idx="4">
                  <c:v>93945.76000000001</c:v>
                </c:pt>
                <c:pt idx="5">
                  <c:v>108346.47</c:v>
                </c:pt>
                <c:pt idx="6">
                  <c:v>126637.39</c:v>
                </c:pt>
                <c:pt idx="7">
                  <c:v>106298.13999999998</c:v>
                </c:pt>
                <c:pt idx="8">
                  <c:v>124862.66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32593.239"/>
          <c:min val="80975.8810000000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6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293762.4</c:v>
                </c:pt>
                <c:pt idx="1">
                  <c:v>268037.54000000004</c:v>
                </c:pt>
                <c:pt idx="2">
                  <c:v>319668.25</c:v>
                </c:pt>
                <c:pt idx="3">
                  <c:v>349268.96</c:v>
                </c:pt>
                <c:pt idx="4">
                  <c:v>347415.9</c:v>
                </c:pt>
                <c:pt idx="5">
                  <c:v>340633.41000000003</c:v>
                </c:pt>
                <c:pt idx="6">
                  <c:v>373611</c:v>
                </c:pt>
                <c:pt idx="7">
                  <c:v>323504.43</c:v>
                </c:pt>
                <c:pt idx="8">
                  <c:v>336990.87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89447.019"/>
          <c:min val="252201.521000000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6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549</c:v>
                </c:pt>
                <c:pt idx="1">
                  <c:v>531</c:v>
                </c:pt>
                <c:pt idx="2">
                  <c:v>556</c:v>
                </c:pt>
                <c:pt idx="3">
                  <c:v>544</c:v>
                </c:pt>
                <c:pt idx="4">
                  <c:v>516</c:v>
                </c:pt>
                <c:pt idx="5">
                  <c:v>599</c:v>
                </c:pt>
                <c:pt idx="6">
                  <c:v>622</c:v>
                </c:pt>
                <c:pt idx="7">
                  <c:v>587</c:v>
                </c:pt>
                <c:pt idx="8">
                  <c:v>641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59.75"/>
          <c:min val="497.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1576</c:v>
                </c:pt>
                <c:pt idx="1">
                  <c:v>1477</c:v>
                </c:pt>
                <c:pt idx="2">
                  <c:v>1631</c:v>
                </c:pt>
                <c:pt idx="3">
                  <c:v>1610</c:v>
                </c:pt>
                <c:pt idx="4">
                  <c:v>1739</c:v>
                </c:pt>
                <c:pt idx="5">
                  <c:v>1738</c:v>
                </c:pt>
                <c:pt idx="6">
                  <c:v>1723</c:v>
                </c:pt>
                <c:pt idx="7">
                  <c:v>1875</c:v>
                </c:pt>
                <c:pt idx="8">
                  <c:v>1679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34.7"/>
          <c:min val="1417.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311</c:v>
                </c:pt>
                <c:pt idx="1">
                  <c:v>327</c:v>
                </c:pt>
                <c:pt idx="2">
                  <c:v>353</c:v>
                </c:pt>
                <c:pt idx="3">
                  <c:v>344</c:v>
                </c:pt>
                <c:pt idx="4">
                  <c:v>308</c:v>
                </c:pt>
                <c:pt idx="5">
                  <c:v>355</c:v>
                </c:pt>
                <c:pt idx="6">
                  <c:v>370</c:v>
                </c:pt>
                <c:pt idx="7">
                  <c:v>382</c:v>
                </c:pt>
                <c:pt idx="8">
                  <c:v>357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93.1"/>
          <c:min val="29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1764</c:v>
                </c:pt>
                <c:pt idx="1">
                  <c:v>1687</c:v>
                </c:pt>
                <c:pt idx="2">
                  <c:v>1914</c:v>
                </c:pt>
                <c:pt idx="3">
                  <c:v>2057</c:v>
                </c:pt>
                <c:pt idx="4">
                  <c:v>1923</c:v>
                </c:pt>
                <c:pt idx="5">
                  <c:v>2056</c:v>
                </c:pt>
                <c:pt idx="6">
                  <c:v>2095</c:v>
                </c:pt>
                <c:pt idx="7">
                  <c:v>1882</c:v>
                </c:pt>
                <c:pt idx="8">
                  <c:v>1998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156.2"/>
          <c:min val="162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7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SUBARU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615</c:v>
                </c:pt>
                <c:pt idx="1">
                  <c:v>524</c:v>
                </c:pt>
                <c:pt idx="2">
                  <c:v>607</c:v>
                </c:pt>
                <c:pt idx="3">
                  <c:v>608</c:v>
                </c:pt>
                <c:pt idx="4">
                  <c:v>639</c:v>
                </c:pt>
                <c:pt idx="5">
                  <c:v>637</c:v>
                </c:pt>
                <c:pt idx="6">
                  <c:v>632</c:v>
                </c:pt>
                <c:pt idx="7">
                  <c:v>632</c:v>
                </c:pt>
                <c:pt idx="8">
                  <c:v>659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25"/>
          <c:min val="503.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7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1.188239247311828</c:v>
                </c:pt>
                <c:pt idx="1">
                  <c:v>1.275762195121951</c:v>
                </c:pt>
                <c:pt idx="2">
                  <c:v>1.4099208965062624</c:v>
                </c:pt>
                <c:pt idx="3">
                  <c:v>1.4275265957446808</c:v>
                </c:pt>
                <c:pt idx="4">
                  <c:v>1.4609295570079883</c:v>
                </c:pt>
                <c:pt idx="5">
                  <c:v>1.4721141374837874</c:v>
                </c:pt>
                <c:pt idx="6">
                  <c:v>1.4142063001852996</c:v>
                </c:pt>
                <c:pt idx="7">
                  <c:v>1.4298619824341279</c:v>
                </c:pt>
                <c:pt idx="8">
                  <c:v>1.3524723487312946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146953710095814"/>
          <c:min val="1.14565801378603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1.385793450881612</c:v>
                </c:pt>
                <c:pt idx="1">
                  <c:v>1.3389645776566756</c:v>
                </c:pt>
                <c:pt idx="2">
                  <c:v>1.2803874092009684</c:v>
                </c:pt>
                <c:pt idx="3">
                  <c:v>1.333613231552163</c:v>
                </c:pt>
                <c:pt idx="4">
                  <c:v>1.67296568627451</c:v>
                </c:pt>
                <c:pt idx="5">
                  <c:v>1.5423764705882352</c:v>
                </c:pt>
                <c:pt idx="6">
                  <c:v>1.4005580357142857</c:v>
                </c:pt>
                <c:pt idx="7">
                  <c:v>1.3604513064133017</c:v>
                </c:pt>
                <c:pt idx="8">
                  <c:v>1.4541353383458648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318524278355412"/>
          <c:min val="1.221500667639937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2.221710758377425</c:v>
                </c:pt>
                <c:pt idx="1">
                  <c:v>2.0838986354775826</c:v>
                </c:pt>
                <c:pt idx="2">
                  <c:v>2.2707272727272727</c:v>
                </c:pt>
                <c:pt idx="3">
                  <c:v>2.2252504638218924</c:v>
                </c:pt>
                <c:pt idx="4">
                  <c:v>2.1553717472118956</c:v>
                </c:pt>
                <c:pt idx="5">
                  <c:v>1.9233127889060093</c:v>
                </c:pt>
                <c:pt idx="6">
                  <c:v>2.230418994413408</c:v>
                </c:pt>
                <c:pt idx="7">
                  <c:v>2.2426998491704375</c:v>
                </c:pt>
                <c:pt idx="8">
                  <c:v>2.44900481540931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7858619384805"/>
          <c:min val="1.844458984930514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2.604809843400447</c:v>
                </c:pt>
                <c:pt idx="1">
                  <c:v>2.3054666666666663</c:v>
                </c:pt>
                <c:pt idx="2">
                  <c:v>2.8330453563714904</c:v>
                </c:pt>
                <c:pt idx="3">
                  <c:v>2.798717948717949</c:v>
                </c:pt>
                <c:pt idx="4">
                  <c:v>2.574561403508772</c:v>
                </c:pt>
                <c:pt idx="5">
                  <c:v>3.172391304347826</c:v>
                </c:pt>
                <c:pt idx="6">
                  <c:v>2.7021809744779586</c:v>
                </c:pt>
                <c:pt idx="7">
                  <c:v>2.878063063063063</c:v>
                </c:pt>
                <c:pt idx="8">
                  <c:v>2.5885922330097086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024299999999998"/>
          <c:min val="2.17542797101449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8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3.5072</c:v>
                </c:pt>
                <c:pt idx="1">
                  <c:v>2.8326470588235293</c:v>
                </c:pt>
                <c:pt idx="2">
                  <c:v>3.3393630573248405</c:v>
                </c:pt>
                <c:pt idx="3">
                  <c:v>3.9942944785276078</c:v>
                </c:pt>
                <c:pt idx="4">
                  <c:v>4.023714285714286</c:v>
                </c:pt>
                <c:pt idx="5">
                  <c:v>3.3935403726708073</c:v>
                </c:pt>
                <c:pt idx="6">
                  <c:v>3.0639884393063586</c:v>
                </c:pt>
                <c:pt idx="7">
                  <c:v>3.7738297872340425</c:v>
                </c:pt>
                <c:pt idx="8">
                  <c:v>3.325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2023743697479"/>
          <c:min val="2.65398697478991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8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NISSAN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170.91694630872482</c:v>
                </c:pt>
                <c:pt idx="1">
                  <c:v>174.94393030380394</c:v>
                </c:pt>
                <c:pt idx="2">
                  <c:v>171.33260055096417</c:v>
                </c:pt>
                <c:pt idx="3">
                  <c:v>169.3619524405507</c:v>
                </c:pt>
                <c:pt idx="4">
                  <c:v>178.97402165816766</c:v>
                </c:pt>
                <c:pt idx="5">
                  <c:v>176.8534134157945</c:v>
                </c:pt>
                <c:pt idx="6">
                  <c:v>178.75288589721362</c:v>
                </c:pt>
                <c:pt idx="7">
                  <c:v>178.72942668879108</c:v>
                </c:pt>
                <c:pt idx="8">
                  <c:v>183.27923149141628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5.36682334904611"/>
          <c:min val="167.2743605829208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147.17883416109635</c:v>
                </c:pt>
                <c:pt idx="1">
                  <c:v>135.63777641695583</c:v>
                </c:pt>
                <c:pt idx="2">
                  <c:v>141.64139075345048</c:v>
                </c:pt>
                <c:pt idx="3">
                  <c:v>139.12898539404827</c:v>
                </c:pt>
                <c:pt idx="4">
                  <c:v>140.79767083404693</c:v>
                </c:pt>
                <c:pt idx="5">
                  <c:v>142.24952097083244</c:v>
                </c:pt>
                <c:pt idx="6">
                  <c:v>142.61742003865575</c:v>
                </c:pt>
                <c:pt idx="7">
                  <c:v>143.95335221631723</c:v>
                </c:pt>
                <c:pt idx="8">
                  <c:v>154.41898907103825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7.2361709691506"/>
          <c:min val="132.8205945188434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VOLVO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208.9492918178626</c:v>
                </c:pt>
                <c:pt idx="1">
                  <c:v>217.9379829257705</c:v>
                </c:pt>
                <c:pt idx="2">
                  <c:v>223.98379699248122</c:v>
                </c:pt>
                <c:pt idx="3">
                  <c:v>226.2475382875938</c:v>
                </c:pt>
                <c:pt idx="4">
                  <c:v>219.74642583470168</c:v>
                </c:pt>
                <c:pt idx="5">
                  <c:v>224.43341441458693</c:v>
                </c:pt>
                <c:pt idx="6">
                  <c:v>228.6857179372484</c:v>
                </c:pt>
                <c:pt idx="7">
                  <c:v>221.59294258373205</c:v>
                </c:pt>
                <c:pt idx="8">
                  <c:v>226.9213371266003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31.64618185515627"/>
          <c:min val="205.98882789995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153.1491574232082</c:v>
                </c:pt>
                <c:pt idx="1">
                  <c:v>157.95352962362688</c:v>
                </c:pt>
                <c:pt idx="2">
                  <c:v>156.04347791229054</c:v>
                </c:pt>
                <c:pt idx="3">
                  <c:v>157.37133021424003</c:v>
                </c:pt>
                <c:pt idx="4">
                  <c:v>149.20385916225828</c:v>
                </c:pt>
                <c:pt idx="5">
                  <c:v>155.4821624007061</c:v>
                </c:pt>
                <c:pt idx="6">
                  <c:v>158.9620323488045</c:v>
                </c:pt>
                <c:pt idx="7">
                  <c:v>164.2580469341408</c:v>
                </c:pt>
                <c:pt idx="8">
                  <c:v>162.51214652956298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6.51617509992317"/>
          <c:min val="146.945730996475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19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CADILLAC</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169.23952076348527</c:v>
                </c:pt>
                <c:pt idx="1">
                  <c:v>171.362331838565</c:v>
                </c:pt>
                <c:pt idx="2">
                  <c:v>168.18649634020764</c:v>
                </c:pt>
                <c:pt idx="3">
                  <c:v>180.00863368961805</c:v>
                </c:pt>
                <c:pt idx="4">
                  <c:v>151.5942152678995</c:v>
                </c:pt>
                <c:pt idx="5">
                  <c:v>163.62502533205532</c:v>
                </c:pt>
                <c:pt idx="6">
                  <c:v>179.30890045543268</c:v>
                </c:pt>
                <c:pt idx="7">
                  <c:v>175.9947113813166</c:v>
                </c:pt>
                <c:pt idx="8">
                  <c:v>169.93955489368741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4.27079645287583"/>
          <c:min val="147.332052504641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19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226.22956521739133</c:v>
                </c:pt>
                <c:pt idx="1">
                  <c:v>248.52270270270267</c:v>
                </c:pt>
                <c:pt idx="2">
                  <c:v>200.74942028985507</c:v>
                </c:pt>
                <c:pt idx="3">
                  <c:v>243.29641592920353</c:v>
                </c:pt>
                <c:pt idx="4">
                  <c:v>234.13774647887323</c:v>
                </c:pt>
                <c:pt idx="5">
                  <c:v>287.9189156626506</c:v>
                </c:pt>
                <c:pt idx="6">
                  <c:v>324.6299523809524</c:v>
                </c:pt>
                <c:pt idx="7">
                  <c:v>281.9111059907834</c:v>
                </c:pt>
                <c:pt idx="8">
                  <c:v>287.2737362637363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43.212032194617"/>
          <c:min val="182.1673404761904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735.0373714285714</c:v>
                </c:pt>
                <c:pt idx="1">
                  <c:v>633.5144852941177</c:v>
                </c:pt>
                <c:pt idx="2">
                  <c:v>695.5033121019109</c:v>
                </c:pt>
                <c:pt idx="3">
                  <c:v>845.1699386503068</c:v>
                </c:pt>
                <c:pt idx="4">
                  <c:v>839.2182857142857</c:v>
                </c:pt>
                <c:pt idx="5">
                  <c:v>919.2100621118013</c:v>
                </c:pt>
                <c:pt idx="6">
                  <c:v>872.8272254335259</c:v>
                </c:pt>
                <c:pt idx="7">
                  <c:v>956.7090425531915</c:v>
                </c:pt>
                <c:pt idx="8">
                  <c:v>764.899375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05.1882261420525"/>
          <c:min val="585.03530170525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240.3025692695214</c:v>
                </c:pt>
                <c:pt idx="1">
                  <c:v>216.6792098092643</c:v>
                </c:pt>
                <c:pt idx="2">
                  <c:v>230.04961259079906</c:v>
                </c:pt>
                <c:pt idx="3">
                  <c:v>243.99435114503817</c:v>
                </c:pt>
                <c:pt idx="4">
                  <c:v>304.9811274509804</c:v>
                </c:pt>
                <c:pt idx="5">
                  <c:v>286.73334117647056</c:v>
                </c:pt>
                <c:pt idx="6">
                  <c:v>273.25761160714285</c:v>
                </c:pt>
                <c:pt idx="7">
                  <c:v>260.6470308788598</c:v>
                </c:pt>
                <c:pt idx="8">
                  <c:v>314.04050125313285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28.6446949697131"/>
          <c:min val="202.0750160926840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181.37186813186813</c:v>
                </c:pt>
                <c:pt idx="1">
                  <c:v>163.32138666666665</c:v>
                </c:pt>
                <c:pt idx="2">
                  <c:v>246.46716814159294</c:v>
                </c:pt>
                <c:pt idx="3">
                  <c:v>218.6002958579882</c:v>
                </c:pt>
                <c:pt idx="4">
                  <c:v>169.2365010799136</c:v>
                </c:pt>
                <c:pt idx="5">
                  <c:v>212.3986206896552</c:v>
                </c:pt>
                <c:pt idx="6">
                  <c:v>233.71951318458417</c:v>
                </c:pt>
                <c:pt idx="7">
                  <c:v>230.95786026200872</c:v>
                </c:pt>
                <c:pt idx="8">
                  <c:v>238.70922352941176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8.9390353628319"/>
          <c:min val="150.8495194454277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178.2198300970874</c:v>
                </c:pt>
                <c:pt idx="1">
                  <c:v>209.37557803468206</c:v>
                </c:pt>
                <c:pt idx="2">
                  <c:v>226.22274193548387</c:v>
                </c:pt>
                <c:pt idx="3">
                  <c:v>224.48005076142132</c:v>
                </c:pt>
                <c:pt idx="4">
                  <c:v>221.7853680981595</c:v>
                </c:pt>
                <c:pt idx="5">
                  <c:v>210.79133663366335</c:v>
                </c:pt>
                <c:pt idx="6">
                  <c:v>209.2606100795756</c:v>
                </c:pt>
                <c:pt idx="7">
                  <c:v>270.77191860465115</c:v>
                </c:pt>
                <c:pt idx="8">
                  <c:v>225.52879679144385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84.65473188078573"/>
          <c:min val="164.3370168209528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128.18389112903225</c:v>
                </c:pt>
                <c:pt idx="1">
                  <c:v>143.6304268292683</c:v>
                </c:pt>
                <c:pt idx="2">
                  <c:v>136.9080487804878</c:v>
                </c:pt>
                <c:pt idx="3">
                  <c:v>198.15143617021278</c:v>
                </c:pt>
                <c:pt idx="4">
                  <c:v>159.63840958605664</c:v>
                </c:pt>
                <c:pt idx="5">
                  <c:v>147.4817120622568</c:v>
                </c:pt>
                <c:pt idx="6">
                  <c:v>150.852402717727</c:v>
                </c:pt>
                <c:pt idx="7">
                  <c:v>176.80212672521958</c:v>
                </c:pt>
                <c:pt idx="8">
                  <c:v>139.20603773584907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08.64656792638985"/>
          <c:min val="117.6887593728551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233.84593837535013</c:v>
                </c:pt>
                <c:pt idx="1">
                  <c:v>272.64770642201836</c:v>
                </c:pt>
                <c:pt idx="2">
                  <c:v>264.5160053619303</c:v>
                </c:pt>
                <c:pt idx="3">
                  <c:v>300.4536959553696</c:v>
                </c:pt>
                <c:pt idx="4">
                  <c:v>288.36308157099694</c:v>
                </c:pt>
                <c:pt idx="5">
                  <c:v>250.08998518518518</c:v>
                </c:pt>
                <c:pt idx="6">
                  <c:v>321.2700792602378</c:v>
                </c:pt>
                <c:pt idx="7">
                  <c:v>293.4214486638537</c:v>
                </c:pt>
                <c:pt idx="8">
                  <c:v>258.24791976225856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34.383700392971"/>
          <c:min val="220.7323172426169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640.6571929824562</c:v>
                </c:pt>
                <c:pt idx="1">
                  <c:v>906.8386104218363</c:v>
                </c:pt>
                <c:pt idx="2">
                  <c:v>634.7025063291139</c:v>
                </c:pt>
                <c:pt idx="3">
                  <c:v>665.1664390243902</c:v>
                </c:pt>
                <c:pt idx="4">
                  <c:v>689.3056844547564</c:v>
                </c:pt>
                <c:pt idx="5">
                  <c:v>652.1006864988558</c:v>
                </c:pt>
                <c:pt idx="6">
                  <c:v>693.769124726477</c:v>
                </c:pt>
                <c:pt idx="7">
                  <c:v>709.0950352941177</c:v>
                </c:pt>
                <c:pt idx="8">
                  <c:v>1041.912085308057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102.9935221548983"/>
          <c:min val="573.62106948227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879.8076687116564</c:v>
                </c:pt>
                <c:pt idx="1">
                  <c:v>925.1433742331288</c:v>
                </c:pt>
                <c:pt idx="2">
                  <c:v>886.3305590062112</c:v>
                </c:pt>
                <c:pt idx="3">
                  <c:v>953.3849523809523</c:v>
                </c:pt>
                <c:pt idx="4">
                  <c:v>911.7989444444445</c:v>
                </c:pt>
                <c:pt idx="5">
                  <c:v>804.3490058479532</c:v>
                </c:pt>
                <c:pt idx="6">
                  <c:v>1035.5124242424242</c:v>
                </c:pt>
                <c:pt idx="7">
                  <c:v>994.8709444444444</c:v>
                </c:pt>
                <c:pt idx="8">
                  <c:v>934.7331325301205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070.186937001595"/>
          <c:min val="769.674493088782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0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268.8725</c:v>
                </c:pt>
                <c:pt idx="1">
                  <c:v>180.48355670103092</c:v>
                </c:pt>
                <c:pt idx="2">
                  <c:v>249.92049773755656</c:v>
                </c:pt>
                <c:pt idx="3">
                  <c:v>255.83444915254236</c:v>
                </c:pt>
                <c:pt idx="4">
                  <c:v>224.2878260869565</c:v>
                </c:pt>
                <c:pt idx="5">
                  <c:v>167.36384920634922</c:v>
                </c:pt>
                <c:pt idx="6">
                  <c:v>269.1880172413793</c:v>
                </c:pt>
                <c:pt idx="7">
                  <c:v>279.6357425742574</c:v>
                </c:pt>
                <c:pt idx="8">
                  <c:v>227.57493506493506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96.4765265794436"/>
          <c:min val="150.523065201162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0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0.39385465162077204</c:v>
                </c:pt>
                <c:pt idx="1">
                  <c:v>0.4104798110566934</c:v>
                </c:pt>
                <c:pt idx="2">
                  <c:v>0.39984615107565896</c:v>
                </c:pt>
                <c:pt idx="3">
                  <c:v>0.4242643654011316</c:v>
                </c:pt>
                <c:pt idx="4">
                  <c:v>0.43535929201653073</c:v>
                </c:pt>
                <c:pt idx="5">
                  <c:v>0.4359650422122587</c:v>
                </c:pt>
                <c:pt idx="6">
                  <c:v>0.4310274406950725</c:v>
                </c:pt>
                <c:pt idx="7">
                  <c:v>0.4257261405886852</c:v>
                </c:pt>
                <c:pt idx="8">
                  <c:v>0.4125780793358778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228160080098167"/>
          <c:min val="0.387538093032049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0.34615649425879996</c:v>
                </c:pt>
                <c:pt idx="1">
                  <c:v>0.3553626019087758</c:v>
                </c:pt>
                <c:pt idx="2">
                  <c:v>0.33286088298414096</c:v>
                </c:pt>
                <c:pt idx="3">
                  <c:v>0.33135079455831645</c:v>
                </c:pt>
                <c:pt idx="4">
                  <c:v>0.36466133494564634</c:v>
                </c:pt>
                <c:pt idx="5">
                  <c:v>0.38118653720091344</c:v>
                </c:pt>
                <c:pt idx="6">
                  <c:v>0.3809185720341265</c:v>
                </c:pt>
                <c:pt idx="7">
                  <c:v>0.37479736400081787</c:v>
                </c:pt>
                <c:pt idx="8">
                  <c:v>0.3350495696231172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88661898597303"/>
          <c:min val="0.323875433161926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0.414351536191364</c:v>
                </c:pt>
                <c:pt idx="1">
                  <c:v>0.39318087070517616</c:v>
                </c:pt>
                <c:pt idx="2">
                  <c:v>0.4185113634289955</c:v>
                </c:pt>
                <c:pt idx="3">
                  <c:v>0.3984325401778728</c:v>
                </c:pt>
                <c:pt idx="4">
                  <c:v>0.4275287802058474</c:v>
                </c:pt>
                <c:pt idx="5">
                  <c:v>0.4314231842150624</c:v>
                </c:pt>
                <c:pt idx="6">
                  <c:v>0.40647931761383654</c:v>
                </c:pt>
                <c:pt idx="7">
                  <c:v>0.42811568086149515</c:v>
                </c:pt>
                <c:pt idx="8">
                  <c:v>0.4328714643805786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38825053431889"/>
          <c:min val="0.3872272816538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0.4411058127734458</c:v>
                </c:pt>
                <c:pt idx="1">
                  <c:v>0.45645701726723603</c:v>
                </c:pt>
                <c:pt idx="2">
                  <c:v>0.43879838840991475</c:v>
                </c:pt>
                <c:pt idx="3">
                  <c:v>0.40377729240207977</c:v>
                </c:pt>
                <c:pt idx="4">
                  <c:v>0.4744010071958122</c:v>
                </c:pt>
                <c:pt idx="5">
                  <c:v>0.4339098342743925</c:v>
                </c:pt>
                <c:pt idx="6">
                  <c:v>0.44740581583560335</c:v>
                </c:pt>
                <c:pt idx="7">
                  <c:v>0.46909418535282466</c:v>
                </c:pt>
                <c:pt idx="8">
                  <c:v>0.45065660188962764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499456441487204"/>
          <c:min val="0.39318373518301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0.3680342105578381</c:v>
                </c:pt>
                <c:pt idx="1">
                  <c:v>0.3691001034144722</c:v>
                </c:pt>
                <c:pt idx="2">
                  <c:v>0.3670958755466887</c:v>
                </c:pt>
                <c:pt idx="3">
                  <c:v>0.37086270739787763</c:v>
                </c:pt>
                <c:pt idx="4">
                  <c:v>0.3526965626793513</c:v>
                </c:pt>
                <c:pt idx="5">
                  <c:v>0.37527049523033906</c:v>
                </c:pt>
                <c:pt idx="6">
                  <c:v>0.3587371292399778</c:v>
                </c:pt>
                <c:pt idx="7">
                  <c:v>0.3863209963060099</c:v>
                </c:pt>
                <c:pt idx="8">
                  <c:v>0.40033452080355186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0748021452218197"/>
          <c:min val="0.34555086896072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LEXUS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395</c:v>
                </c:pt>
                <c:pt idx="1">
                  <c:v>390</c:v>
                </c:pt>
                <c:pt idx="2">
                  <c:v>491</c:v>
                </c:pt>
                <c:pt idx="3">
                  <c:v>543</c:v>
                </c:pt>
                <c:pt idx="4">
                  <c:v>485</c:v>
                </c:pt>
                <c:pt idx="5">
                  <c:v>553</c:v>
                </c:pt>
                <c:pt idx="6">
                  <c:v>564</c:v>
                </c:pt>
                <c:pt idx="7">
                  <c:v>577</c:v>
                </c:pt>
                <c:pt idx="8">
                  <c:v>569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05.05"/>
          <c:min val="361.9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567</c:v>
                </c:pt>
                <c:pt idx="1">
                  <c:v>513</c:v>
                </c:pt>
                <c:pt idx="2">
                  <c:v>550</c:v>
                </c:pt>
                <c:pt idx="3">
                  <c:v>539</c:v>
                </c:pt>
                <c:pt idx="4">
                  <c:v>538</c:v>
                </c:pt>
                <c:pt idx="5">
                  <c:v>649</c:v>
                </c:pt>
                <c:pt idx="6">
                  <c:v>716</c:v>
                </c:pt>
                <c:pt idx="7">
                  <c:v>663</c:v>
                </c:pt>
                <c:pt idx="8">
                  <c:v>623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46.45"/>
          <c:min val="48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LR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352</c:v>
                </c:pt>
                <c:pt idx="1">
                  <c:v>362</c:v>
                </c:pt>
                <c:pt idx="2">
                  <c:v>336</c:v>
                </c:pt>
                <c:pt idx="3">
                  <c:v>402</c:v>
                </c:pt>
                <c:pt idx="4">
                  <c:v>356</c:v>
                </c:pt>
                <c:pt idx="5">
                  <c:v>442</c:v>
                </c:pt>
                <c:pt idx="6">
                  <c:v>449</c:v>
                </c:pt>
                <c:pt idx="7">
                  <c:v>396</c:v>
                </c:pt>
                <c:pt idx="8">
                  <c:v>401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465.95"/>
          <c:min val="319.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578</c:v>
                </c:pt>
                <c:pt idx="1">
                  <c:v>519</c:v>
                </c:pt>
                <c:pt idx="2">
                  <c:v>637</c:v>
                </c:pt>
                <c:pt idx="3">
                  <c:v>642</c:v>
                </c:pt>
                <c:pt idx="4">
                  <c:v>663</c:v>
                </c:pt>
                <c:pt idx="5">
                  <c:v>654</c:v>
                </c:pt>
                <c:pt idx="6">
                  <c:v>674</c:v>
                </c:pt>
                <c:pt idx="7">
                  <c:v>677</c:v>
                </c:pt>
                <c:pt idx="8">
                  <c:v>657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700.7"/>
          <c:min val="4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FLAGSTAFF</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364</c:v>
                </c:pt>
                <c:pt idx="1">
                  <c:v>375</c:v>
                </c:pt>
                <c:pt idx="2">
                  <c:v>452</c:v>
                </c:pt>
                <c:pt idx="3">
                  <c:v>507</c:v>
                </c:pt>
                <c:pt idx="4">
                  <c:v>463</c:v>
                </c:pt>
                <c:pt idx="5">
                  <c:v>493</c:v>
                </c:pt>
                <c:pt idx="6">
                  <c:v>493</c:v>
                </c:pt>
                <c:pt idx="7">
                  <c:v>458</c:v>
                </c:pt>
                <c:pt idx="8">
                  <c:v>425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528.45"/>
          <c:min val="342.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1.1961937716262976</c:v>
                </c:pt>
                <c:pt idx="1">
                  <c:v>1.3</c:v>
                </c:pt>
                <c:pt idx="2">
                  <c:v>1.524175824175824</c:v>
                </c:pt>
                <c:pt idx="3">
                  <c:v>1.4054517133956386</c:v>
                </c:pt>
                <c:pt idx="4">
                  <c:v>1.4104072398190046</c:v>
                </c:pt>
                <c:pt idx="5">
                  <c:v>1.25</c:v>
                </c:pt>
                <c:pt idx="6">
                  <c:v>1.3206231454005934</c:v>
                </c:pt>
                <c:pt idx="7">
                  <c:v>1.7601181683899556</c:v>
                </c:pt>
                <c:pt idx="8">
                  <c:v>1.8642313546423135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644369920947158"/>
          <c:min val="1.09598813417389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1.4608490566037735</c:v>
                </c:pt>
                <c:pt idx="1">
                  <c:v>1.4711340206185566</c:v>
                </c:pt>
                <c:pt idx="2">
                  <c:v>1.7298642533936652</c:v>
                </c:pt>
                <c:pt idx="3">
                  <c:v>1.7783898305084744</c:v>
                </c:pt>
                <c:pt idx="4">
                  <c:v>1.441391304347826</c:v>
                </c:pt>
                <c:pt idx="5">
                  <c:v>1.5297619047619047</c:v>
                </c:pt>
                <c:pt idx="6">
                  <c:v>1.819439655172414</c:v>
                </c:pt>
                <c:pt idx="7">
                  <c:v>1.7451485148514851</c:v>
                </c:pt>
                <c:pt idx="8">
                  <c:v>1.725108225108225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8761469077961022"/>
          <c:min val="1.38468405172413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1.2968932038834953</c:v>
                </c:pt>
                <c:pt idx="1">
                  <c:v>1.3835549132947977</c:v>
                </c:pt>
                <c:pt idx="2">
                  <c:v>1.4527419354838709</c:v>
                </c:pt>
                <c:pt idx="3">
                  <c:v>1.3560913705583755</c:v>
                </c:pt>
                <c:pt idx="4">
                  <c:v>1.272883435582822</c:v>
                </c:pt>
                <c:pt idx="5">
                  <c:v>1.4657920792079207</c:v>
                </c:pt>
                <c:pt idx="6">
                  <c:v>1.5742705570291777</c:v>
                </c:pt>
                <c:pt idx="7">
                  <c:v>1.6565988372093023</c:v>
                </c:pt>
                <c:pt idx="8">
                  <c:v>1.4058823529411764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7141561474532745"/>
          <c:min val="1.2153261253388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1.208095238095238</c:v>
                </c:pt>
                <c:pt idx="1">
                  <c:v>1.2542997542997543</c:v>
                </c:pt>
                <c:pt idx="2">
                  <c:v>1.23446261682243</c:v>
                </c:pt>
                <c:pt idx="3">
                  <c:v>1.2625570776255708</c:v>
                </c:pt>
                <c:pt idx="4">
                  <c:v>1.2171394799054374</c:v>
                </c:pt>
                <c:pt idx="5">
                  <c:v>1.2735507246376812</c:v>
                </c:pt>
                <c:pt idx="6">
                  <c:v>1.3877800407331975</c:v>
                </c:pt>
                <c:pt idx="7">
                  <c:v>1.4995475113122172</c:v>
                </c:pt>
                <c:pt idx="8">
                  <c:v>1.2453229398663697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432653522947641"/>
          <c:min val="1.16437739711269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CHEVY GMC BULLHEAD</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1.575798319327731</c:v>
                </c:pt>
                <c:pt idx="1">
                  <c:v>1.6981651376146787</c:v>
                </c:pt>
                <c:pt idx="2">
                  <c:v>1.6719839142091153</c:v>
                </c:pt>
                <c:pt idx="3">
                  <c:v>1.9406276150627615</c:v>
                </c:pt>
                <c:pt idx="4">
                  <c:v>1.7418429003021147</c:v>
                </c:pt>
                <c:pt idx="5">
                  <c:v>1.6785185185185185</c:v>
                </c:pt>
                <c:pt idx="6">
                  <c:v>1.8784676354029062</c:v>
                </c:pt>
                <c:pt idx="7">
                  <c:v>1.8579465541490858</c:v>
                </c:pt>
                <c:pt idx="8">
                  <c:v>1.6184249628528975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9953520094230162"/>
          <c:min val="1.52107392496747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133.50852736170845</c:v>
                </c:pt>
                <c:pt idx="1">
                  <c:v>124.52905604719764</c:v>
                </c:pt>
                <c:pt idx="2">
                  <c:v>125.66441779876723</c:v>
                </c:pt>
                <c:pt idx="3">
                  <c:v>131.4519062005467</c:v>
                </c:pt>
                <c:pt idx="4">
                  <c:v>132.6886803693774</c:v>
                </c:pt>
                <c:pt idx="5">
                  <c:v>140.1975303339418</c:v>
                </c:pt>
                <c:pt idx="6">
                  <c:v>142.53003268369446</c:v>
                </c:pt>
                <c:pt idx="7">
                  <c:v>141.47412587412586</c:v>
                </c:pt>
                <c:pt idx="8">
                  <c:v>141.50217039196633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5.23017917916897"/>
          <c:min val="121.8289095517231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226.99655601837938</c:v>
                </c:pt>
                <c:pt idx="1">
                  <c:v>230.6832340523972</c:v>
                </c:pt>
                <c:pt idx="2">
                  <c:v>225.44062666768312</c:v>
                </c:pt>
                <c:pt idx="3">
                  <c:v>220.3694915254237</c:v>
                </c:pt>
                <c:pt idx="4">
                  <c:v>229.04754684838161</c:v>
                </c:pt>
                <c:pt idx="5">
                  <c:v>247.9044473377647</c:v>
                </c:pt>
                <c:pt idx="6">
                  <c:v>243.19138102761363</c:v>
                </c:pt>
                <c:pt idx="7">
                  <c:v>243.7889909692768</c:v>
                </c:pt>
                <c:pt idx="8">
                  <c:v>245.53794655414907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52.03469070961586"/>
          <c:min val="216.239248153572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135.50618900582526</c:v>
                </c:pt>
                <c:pt idx="1">
                  <c:v>139.43354100521177</c:v>
                </c:pt>
                <c:pt idx="2">
                  <c:v>143.04070476965322</c:v>
                </c:pt>
                <c:pt idx="3">
                  <c:v>144.27756894597658</c:v>
                </c:pt>
                <c:pt idx="4">
                  <c:v>143.9452209905324</c:v>
                </c:pt>
                <c:pt idx="5">
                  <c:v>143.4172847205565</c:v>
                </c:pt>
                <c:pt idx="6">
                  <c:v>148.4194108316338</c:v>
                </c:pt>
                <c:pt idx="7">
                  <c:v>146.32433479457643</c:v>
                </c:pt>
                <c:pt idx="8">
                  <c:v>148.9747782648588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50.99506665371382"/>
          <c:min val="133.48590061697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146.10917942519472</c:v>
                </c:pt>
                <c:pt idx="1">
                  <c:v>139.31016738481938</c:v>
                </c:pt>
                <c:pt idx="2">
                  <c:v>141.53525925925928</c:v>
                </c:pt>
                <c:pt idx="3">
                  <c:v>149.0938108315364</c:v>
                </c:pt>
                <c:pt idx="4">
                  <c:v>157.86236726813692</c:v>
                </c:pt>
                <c:pt idx="5">
                  <c:v>155.1640949727532</c:v>
                </c:pt>
                <c:pt idx="6">
                  <c:v>145.80333762018492</c:v>
                </c:pt>
                <c:pt idx="7">
                  <c:v>147.881053660003</c:v>
                </c:pt>
                <c:pt idx="8">
                  <c:v>159.61675912057146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62.66274788093426"/>
          <c:min val="136.2641786244565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141.29899487583762</c:v>
                </c:pt>
                <c:pt idx="1">
                  <c:v>141.12609206660136</c:v>
                </c:pt>
                <c:pt idx="2">
                  <c:v>134.98959023374655</c:v>
                </c:pt>
                <c:pt idx="3">
                  <c:v>134.82066907775769</c:v>
                </c:pt>
                <c:pt idx="4">
                  <c:v>134.81227542002526</c:v>
                </c:pt>
                <c:pt idx="5">
                  <c:v>141.9157515410147</c:v>
                </c:pt>
                <c:pt idx="6">
                  <c:v>145.1528764308776</c:v>
                </c:pt>
                <c:pt idx="7">
                  <c:v>145.4075890162945</c:v>
                </c:pt>
                <c:pt idx="8">
                  <c:v>147.8839667352231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49.84472043250278"/>
          <c:min val="132.851521722745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ACURA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0.3838170224523827</c:v>
                </c:pt>
                <c:pt idx="1">
                  <c:v>0.4035019812938098</c:v>
                </c:pt>
                <c:pt idx="2">
                  <c:v>0.3952216223703298</c:v>
                </c:pt>
                <c:pt idx="3">
                  <c:v>0.4448395856159019</c:v>
                </c:pt>
                <c:pt idx="4">
                  <c:v>0.47606328903347445</c:v>
                </c:pt>
                <c:pt idx="5">
                  <c:v>0.49427527129736526</c:v>
                </c:pt>
                <c:pt idx="6">
                  <c:v>0.4642179700098211</c:v>
                </c:pt>
                <c:pt idx="7">
                  <c:v>0.48270738633256904</c:v>
                </c:pt>
                <c:pt idx="8">
                  <c:v>0.45289434755155056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5108440086241126"/>
          <c:min val="0.367248285125635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0.40001902646023274</c:v>
                </c:pt>
                <c:pt idx="1">
                  <c:v>0.3720732457962403</c:v>
                </c:pt>
                <c:pt idx="2">
                  <c:v>0.4018829925450841</c:v>
                </c:pt>
                <c:pt idx="3">
                  <c:v>0.40962760928027814</c:v>
                </c:pt>
                <c:pt idx="4">
                  <c:v>0.4597764968817762</c:v>
                </c:pt>
                <c:pt idx="5">
                  <c:v>0.40350076249992856</c:v>
                </c:pt>
                <c:pt idx="6">
                  <c:v>0.45445150808341633</c:v>
                </c:pt>
                <c:pt idx="7">
                  <c:v>0.42913664813449875</c:v>
                </c:pt>
                <c:pt idx="8">
                  <c:v>0.425523613232545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7293198454460655"/>
          <c:min val="0.35891775813340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GMC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0.34774542164070493</c:v>
                </c:pt>
                <c:pt idx="1">
                  <c:v>0.3428853815363897</c:v>
                </c:pt>
                <c:pt idx="2">
                  <c:v>0.3678319883700978</c:v>
                </c:pt>
                <c:pt idx="3">
                  <c:v>0.3451036516062462</c:v>
                </c:pt>
                <c:pt idx="4">
                  <c:v>0.37383512874032615</c:v>
                </c:pt>
                <c:pt idx="5">
                  <c:v>0.37442614515827255</c:v>
                </c:pt>
                <c:pt idx="6">
                  <c:v>0.3765012914668214</c:v>
                </c:pt>
                <c:pt idx="7">
                  <c:v>0.4109924749697751</c:v>
                </c:pt>
                <c:pt idx="8">
                  <c:v>0.39565037718326934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212085389847829"/>
          <c:min val="0.332669317521381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0.41530601520715416</c:v>
                </c:pt>
                <c:pt idx="1">
                  <c:v>0.4108890052717672</c:v>
                </c:pt>
                <c:pt idx="2">
                  <c:v>0.405583451418382</c:v>
                </c:pt>
                <c:pt idx="3">
                  <c:v>0.41689218345561846</c:v>
                </c:pt>
                <c:pt idx="4">
                  <c:v>0.458754837572283</c:v>
                </c:pt>
                <c:pt idx="5">
                  <c:v>0.47543115549863596</c:v>
                </c:pt>
                <c:pt idx="6">
                  <c:v>0.44051206489623174</c:v>
                </c:pt>
                <c:pt idx="7">
                  <c:v>0.44067846901952584</c:v>
                </c:pt>
                <c:pt idx="8">
                  <c:v>0.4379850163841297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8590831111067406"/>
          <c:min val="0.39510629580634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TOYOTA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0.40057589442118835</c:v>
                </c:pt>
                <c:pt idx="1">
                  <c:v>0.3824592298574588</c:v>
                </c:pt>
                <c:pt idx="2">
                  <c:v>0.3990699220487699</c:v>
                </c:pt>
                <c:pt idx="3">
                  <c:v>0.3369845083698473</c:v>
                </c:pt>
                <c:pt idx="4">
                  <c:v>0.42446429931693574</c:v>
                </c:pt>
                <c:pt idx="5">
                  <c:v>0.4242123912395645</c:v>
                </c:pt>
                <c:pt idx="6">
                  <c:v>0.4125803196455596</c:v>
                </c:pt>
                <c:pt idx="7">
                  <c:v>0.4279628930950305</c:v>
                </c:pt>
                <c:pt idx="8">
                  <c:v>0.41019587611883684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441609650803808"/>
          <c:min val="0.323337750661069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140105.4</c:v>
                </c:pt>
                <c:pt idx="1">
                  <c:v>129994.04000000001</c:v>
                </c:pt>
                <c:pt idx="2">
                  <c:v>194655.32</c:v>
                </c:pt>
                <c:pt idx="3">
                  <c:v>176169.16</c:v>
                </c:pt>
                <c:pt idx="4">
                  <c:v>174810.36</c:v>
                </c:pt>
                <c:pt idx="5">
                  <c:v>155900.23</c:v>
                </c:pt>
                <c:pt idx="6">
                  <c:v>168039.07</c:v>
                </c:pt>
                <c:pt idx="7">
                  <c:v>230368.93</c:v>
                </c:pt>
                <c:pt idx="8">
                  <c:v>227165.53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245425.1635"/>
          <c:min val="114937.806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86980.36</c:v>
                </c:pt>
                <c:pt idx="1">
                  <c:v>82836.39</c:v>
                </c:pt>
                <c:pt idx="2">
                  <c:v>86106.14</c:v>
                </c:pt>
                <c:pt idx="3">
                  <c:v>91223.19</c:v>
                </c:pt>
                <c:pt idx="4">
                  <c:v>82915.06</c:v>
                </c:pt>
                <c:pt idx="5">
                  <c:v>95470.58</c:v>
                </c:pt>
                <c:pt idx="6">
                  <c:v>121071.78</c:v>
                </c:pt>
                <c:pt idx="7">
                  <c:v>113797.79000000001</c:v>
                </c:pt>
                <c:pt idx="8">
                  <c:v>101183.02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126807.0885"/>
          <c:min val="77101.08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CDJR POST FALLS</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236533.56</c:v>
                </c:pt>
                <c:pt idx="1">
                  <c:v>198065</c:v>
                </c:pt>
                <c:pt idx="2">
                  <c:v>220283.83000000002</c:v>
                </c:pt>
                <c:pt idx="3">
                  <c:v>202377.06</c:v>
                </c:pt>
                <c:pt idx="4">
                  <c:v>210946.1</c:v>
                </c:pt>
                <c:pt idx="5">
                  <c:v>234862.74</c:v>
                </c:pt>
                <c:pt idx="6">
                  <c:v>300394.59</c:v>
                </c:pt>
                <c:pt idx="7">
                  <c:v>271122.35000000003</c:v>
                </c:pt>
                <c:pt idx="8">
                  <c:v>265586.5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315744.0285"/>
          <c:min val="182715.561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VW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63266.58</c:v>
                </c:pt>
                <c:pt idx="1">
                  <c:v>48675.05</c:v>
                </c:pt>
                <c:pt idx="2">
                  <c:v>49504.81</c:v>
                </c:pt>
                <c:pt idx="3">
                  <c:v>58672.880000000005</c:v>
                </c:pt>
                <c:pt idx="4">
                  <c:v>58583.36</c:v>
                </c:pt>
                <c:pt idx="5">
                  <c:v>82540.21</c:v>
                </c:pt>
                <c:pt idx="6">
                  <c:v>77897.88</c:v>
                </c:pt>
                <c:pt idx="7">
                  <c:v>64144.34</c:v>
                </c:pt>
                <c:pt idx="8">
                  <c:v>57011.62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87619.98400000001"/>
          <c:min val="43595.27600000000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47133.479999999996</c:v>
                </c:pt>
                <c:pt idx="1">
                  <c:v>42518.81</c:v>
                </c:pt>
                <c:pt idx="2">
                  <c:v>57961.69</c:v>
                </c:pt>
                <c:pt idx="3">
                  <c:v>50013.479999999996</c:v>
                </c:pt>
                <c:pt idx="4">
                  <c:v>50169.79</c:v>
                </c:pt>
                <c:pt idx="5">
                  <c:v>48661.44</c:v>
                </c:pt>
                <c:pt idx="6">
                  <c:v>64651.67</c:v>
                </c:pt>
                <c:pt idx="7">
                  <c:v>56663.37</c:v>
                </c:pt>
                <c:pt idx="8">
                  <c:v>58829.520000000004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67971.599"/>
          <c:min val="39198.8809999999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HENDERSON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0.23308270676691728</c:v>
                </c:pt>
                <c:pt idx="1">
                  <c:v>0.18114143920595532</c:v>
                </c:pt>
                <c:pt idx="2">
                  <c:v>0.21772151898734177</c:v>
                </c:pt>
                <c:pt idx="3">
                  <c:v>0.20243902439024392</c:v>
                </c:pt>
                <c:pt idx="4">
                  <c:v>0.33410672853828305</c:v>
                </c:pt>
                <c:pt idx="5">
                  <c:v>0.33638443935926776</c:v>
                </c:pt>
                <c:pt idx="6">
                  <c:v>0.31072210065645517</c:v>
                </c:pt>
                <c:pt idx="7">
                  <c:v>0.28941176470588237</c:v>
                </c:pt>
                <c:pt idx="8">
                  <c:v>0.35308056872037913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3788714381475427"/>
          <c:min val="0.1553505697787917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0.07439446366782007</c:v>
                </c:pt>
                <c:pt idx="1">
                  <c:v>0.16377649325626203</c:v>
                </c:pt>
                <c:pt idx="2">
                  <c:v>0.14285714285714285</c:v>
                </c:pt>
                <c:pt idx="3">
                  <c:v>0.16510903426791276</c:v>
                </c:pt>
                <c:pt idx="4">
                  <c:v>0.1493212669683258</c:v>
                </c:pt>
                <c:pt idx="5">
                  <c:v>0.10703363914373089</c:v>
                </c:pt>
                <c:pt idx="6">
                  <c:v>0.16468842729970326</c:v>
                </c:pt>
                <c:pt idx="7">
                  <c:v>0.25258493353028066</c:v>
                </c:pt>
                <c:pt idx="8">
                  <c:v>0.2678843226788432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69078015304967"/>
          <c:min val="0.045370984816166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0.016666666666666666</c:v>
                </c:pt>
                <c:pt idx="1">
                  <c:v>0.04176904176904177</c:v>
                </c:pt>
                <c:pt idx="2">
                  <c:v>0.0630841121495327</c:v>
                </c:pt>
                <c:pt idx="3">
                  <c:v>0.06621004566210045</c:v>
                </c:pt>
                <c:pt idx="4">
                  <c:v>0.08983451536643026</c:v>
                </c:pt>
                <c:pt idx="5">
                  <c:v>0.07729468599033816</c:v>
                </c:pt>
                <c:pt idx="6">
                  <c:v>0.11608961303462322</c:v>
                </c:pt>
                <c:pt idx="7">
                  <c:v>0.11764705882352941</c:v>
                </c:pt>
                <c:pt idx="8">
                  <c:v>0.12026726057906459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580734966592428"/>
          <c:min val="0.001126577579806978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0.16037735849056603</c:v>
                </c:pt>
                <c:pt idx="1">
                  <c:v>0.15463917525773196</c:v>
                </c:pt>
                <c:pt idx="2">
                  <c:v>0.23076923076923078</c:v>
                </c:pt>
                <c:pt idx="3">
                  <c:v>0.23728813559322035</c:v>
                </c:pt>
                <c:pt idx="4">
                  <c:v>0.1826086956521739</c:v>
                </c:pt>
                <c:pt idx="5">
                  <c:v>0.21428571428571427</c:v>
                </c:pt>
                <c:pt idx="6">
                  <c:v>0.24568965517241378</c:v>
                </c:pt>
                <c:pt idx="7">
                  <c:v>0.24752475247524752</c:v>
                </c:pt>
                <c:pt idx="8">
                  <c:v>0.27705627705627706</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954188423260588"/>
          <c:min val="0.136276609987950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4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0.15048543689320387</c:v>
                </c:pt>
                <c:pt idx="1">
                  <c:v>0.13583815028901733</c:v>
                </c:pt>
                <c:pt idx="2">
                  <c:v>0.0967741935483871</c:v>
                </c:pt>
                <c:pt idx="3">
                  <c:v>0.1116751269035533</c:v>
                </c:pt>
                <c:pt idx="4">
                  <c:v>0.11042944785276074</c:v>
                </c:pt>
                <c:pt idx="5">
                  <c:v>0.1485148514851485</c:v>
                </c:pt>
                <c:pt idx="6">
                  <c:v>0.19363395225464192</c:v>
                </c:pt>
                <c:pt idx="7">
                  <c:v>0.19186046511627908</c:v>
                </c:pt>
                <c:pt idx="8">
                  <c:v>0.19518716577540107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0994911160945318"/>
          <c:min val="0.0820122477143349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4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0.05536332179930796</c:v>
                </c:pt>
                <c:pt idx="1">
                  <c:v>0.1252408477842004</c:v>
                </c:pt>
                <c:pt idx="2">
                  <c:v>0.12401883830455258</c:v>
                </c:pt>
                <c:pt idx="3">
                  <c:v>0.11682242990654206</c:v>
                </c:pt>
                <c:pt idx="4">
                  <c:v>0.09803921568627451</c:v>
                </c:pt>
                <c:pt idx="5">
                  <c:v>0.07339449541284404</c:v>
                </c:pt>
                <c:pt idx="6">
                  <c:v>0.12166172106824925</c:v>
                </c:pt>
                <c:pt idx="7">
                  <c:v>0.22156573116691286</c:v>
                </c:pt>
                <c:pt idx="8">
                  <c:v>0.2374429223744292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647548624606974"/>
          <c:min val="0.028051381713039777"/>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0.09433962264150944</c:v>
                </c:pt>
                <c:pt idx="1">
                  <c:v>0.11855670103092783</c:v>
                </c:pt>
                <c:pt idx="2">
                  <c:v>0.11312217194570136</c:v>
                </c:pt>
                <c:pt idx="3">
                  <c:v>0.1440677966101695</c:v>
                </c:pt>
                <c:pt idx="4">
                  <c:v>0.12173913043478261</c:v>
                </c:pt>
                <c:pt idx="5">
                  <c:v>0.1388888888888889</c:v>
                </c:pt>
                <c:pt idx="6">
                  <c:v>0.125</c:v>
                </c:pt>
                <c:pt idx="7">
                  <c:v>0.14356435643564355</c:v>
                </c:pt>
                <c:pt idx="8">
                  <c:v>0.21212121212121213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2978845054316754"/>
          <c:min val="0.0766723842195540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0.004873294346978557</c:v>
                </c:pt>
                <c:pt idx="1">
                  <c:v>0.0012048192771084338</c:v>
                </c:pt>
                <c:pt idx="2">
                  <c:v>0.015321756894790603</c:v>
                </c:pt>
                <c:pt idx="3">
                  <c:v>0.011099899091826439</c:v>
                </c:pt>
                <c:pt idx="4">
                  <c:v>0.003972194637537239</c:v>
                </c:pt>
                <c:pt idx="5">
                  <c:v>0.03501945525291829</c:v>
                </c:pt>
                <c:pt idx="6">
                  <c:v>0.05103969754253308</c:v>
                </c:pt>
                <c:pt idx="7">
                  <c:v>0.04133064516129032</c:v>
                </c:pt>
                <c:pt idx="8">
                  <c:v>0.02747791952894995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5851492928234678"/>
          <c:min val="-0.0062704124627052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0.011904761904761904</c:v>
                </c:pt>
                <c:pt idx="1">
                  <c:v>0.05405405405405406</c:v>
                </c:pt>
                <c:pt idx="2">
                  <c:v>0.09345794392523364</c:v>
                </c:pt>
                <c:pt idx="3">
                  <c:v>0.1278538812785388</c:v>
                </c:pt>
                <c:pt idx="4">
                  <c:v>0.09219858156028368</c:v>
                </c:pt>
                <c:pt idx="5">
                  <c:v>0.05314009661835749</c:v>
                </c:pt>
                <c:pt idx="6">
                  <c:v>0.05702647657841141</c:v>
                </c:pt>
                <c:pt idx="7">
                  <c:v>0.10180995475113122</c:v>
                </c:pt>
                <c:pt idx="8">
                  <c:v>0.10022271714922049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4524624918460532"/>
          <c:min val="-0.00548760600130462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NORTH</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0.09898477157360407</c:v>
                </c:pt>
                <c:pt idx="1">
                  <c:v>0.08869329722410291</c:v>
                </c:pt>
                <c:pt idx="2">
                  <c:v>0.10177805027590435</c:v>
                </c:pt>
                <c:pt idx="3">
                  <c:v>0.13354037267080746</c:v>
                </c:pt>
                <c:pt idx="4">
                  <c:v>0.156411730879816</c:v>
                </c:pt>
                <c:pt idx="5">
                  <c:v>0.1283084004602992</c:v>
                </c:pt>
                <c:pt idx="6">
                  <c:v>0.11723737666860128</c:v>
                </c:pt>
                <c:pt idx="7">
                  <c:v>0.13226666666666667</c:v>
                </c:pt>
                <c:pt idx="8">
                  <c:v>0.11554496724240619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656949592817297"/>
          <c:min val="0.078535532175745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0.04325259515570934</c:v>
                </c:pt>
                <c:pt idx="1">
                  <c:v>0.05009633911368015</c:v>
                </c:pt>
                <c:pt idx="2">
                  <c:v>0.061224489795918366</c:v>
                </c:pt>
                <c:pt idx="3">
                  <c:v>0.06542056074766354</c:v>
                </c:pt>
                <c:pt idx="4">
                  <c:v>0.058823529411764705</c:v>
                </c:pt>
                <c:pt idx="5">
                  <c:v>0.04434250764525994</c:v>
                </c:pt>
                <c:pt idx="6">
                  <c:v>0.057863501483679525</c:v>
                </c:pt>
                <c:pt idx="7">
                  <c:v>0.17725258493353027</c:v>
                </c:pt>
                <c:pt idx="8">
                  <c:v>0.1902587519025875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230967541461923"/>
          <c:min val="0.02120167164367761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0.007444168734491315</c:v>
                </c:pt>
                <c:pt idx="1">
                  <c:v>0.0030959752321981426</c:v>
                </c:pt>
                <c:pt idx="2">
                  <c:v>0.004796163069544364</c:v>
                </c:pt>
                <c:pt idx="3">
                  <c:v>0</c:v>
                </c:pt>
                <c:pt idx="4">
                  <c:v>0</c:v>
                </c:pt>
                <c:pt idx="5">
                  <c:v>0</c:v>
                </c:pt>
                <c:pt idx="6">
                  <c:v>0</c:v>
                </c:pt>
                <c:pt idx="7">
                  <c:v>0.05952380952380952</c:v>
                </c:pt>
                <c:pt idx="8">
                  <c:v>0.10632183908045977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227011494252873"/>
          <c:min val="-0.015948275862068963"/>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0.03333333333333333</c:v>
                </c:pt>
                <c:pt idx="1">
                  <c:v>0.044226044226044224</c:v>
                </c:pt>
                <c:pt idx="2">
                  <c:v>0.0397196261682243</c:v>
                </c:pt>
                <c:pt idx="3">
                  <c:v>0.0684931506849315</c:v>
                </c:pt>
                <c:pt idx="4">
                  <c:v>0.05200945626477541</c:v>
                </c:pt>
                <c:pt idx="5">
                  <c:v>0.05555555555555555</c:v>
                </c:pt>
                <c:pt idx="6">
                  <c:v>0.06720977596741344</c:v>
                </c:pt>
                <c:pt idx="7">
                  <c:v>0.083710407239819</c:v>
                </c:pt>
                <c:pt idx="8">
                  <c:v>0.08685968819599109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9488864142538975"/>
          <c:min val="0.025304380103934668"/>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PRESCOTT</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0.08490566037735849</c:v>
                </c:pt>
                <c:pt idx="1">
                  <c:v>0.0979381443298969</c:v>
                </c:pt>
                <c:pt idx="2">
                  <c:v>0.06787330316742081</c:v>
                </c:pt>
                <c:pt idx="3">
                  <c:v>0.08898305084745763</c:v>
                </c:pt>
                <c:pt idx="4">
                  <c:v>0.0782608695652174</c:v>
                </c:pt>
                <c:pt idx="5">
                  <c:v>0.0992063492063492</c:v>
                </c:pt>
                <c:pt idx="6">
                  <c:v>0.09913793103448276</c:v>
                </c:pt>
                <c:pt idx="7">
                  <c:v>0.09900990099009901</c:v>
                </c:pt>
                <c:pt idx="8">
                  <c:v>0.15151515151515152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640614287673111"/>
          <c:min val="0.0553270259152612"/>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5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KIA LV</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0.08198489751887811</c:v>
                </c:pt>
                <c:pt idx="1">
                  <c:v>0.08132147395171538</c:v>
                </c:pt>
                <c:pt idx="2">
                  <c:v>0.07900432900432901</c:v>
                </c:pt>
                <c:pt idx="3">
                  <c:v>0.07203389830508475</c:v>
                </c:pt>
                <c:pt idx="4">
                  <c:v>0.05573770491803279</c:v>
                </c:pt>
                <c:pt idx="5">
                  <c:v>0.06837606837606838</c:v>
                </c:pt>
                <c:pt idx="6">
                  <c:v>0.10104166666666667</c:v>
                </c:pt>
                <c:pt idx="7">
                  <c:v>0.08740068104426787</c:v>
                </c:pt>
                <c:pt idx="8">
                  <c:v>0.119906868451688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295322429817363"/>
          <c:min val="0.046112330387984506"/>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5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MAZDA</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0.02249134948096886</c:v>
                </c:pt>
                <c:pt idx="1">
                  <c:v>0.030828516377649325</c:v>
                </c:pt>
                <c:pt idx="2">
                  <c:v>0.023547880690737835</c:v>
                </c:pt>
                <c:pt idx="3">
                  <c:v>0.020249221183800622</c:v>
                </c:pt>
                <c:pt idx="4">
                  <c:v>0.027149321266968326</c:v>
                </c:pt>
                <c:pt idx="5">
                  <c:v>0.012232415902140673</c:v>
                </c:pt>
                <c:pt idx="6">
                  <c:v>0.026706231454005934</c:v>
                </c:pt>
                <c:pt idx="7">
                  <c:v>0.10635155096011817</c:v>
                </c:pt>
                <c:pt idx="8">
                  <c:v>0.1887366818873668</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21521232178515073"/>
          <c:min val="-0.01424322399564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HYUNDAI ST GEORGE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0.03398058252427184</c:v>
                </c:pt>
                <c:pt idx="1">
                  <c:v>0.04335260115606936</c:v>
                </c:pt>
                <c:pt idx="2">
                  <c:v>0.04838709677419355</c:v>
                </c:pt>
                <c:pt idx="3">
                  <c:v>0.04060913705583756</c:v>
                </c:pt>
                <c:pt idx="4">
                  <c:v>0.06134969325153374</c:v>
                </c:pt>
                <c:pt idx="5">
                  <c:v>0.06188118811881188</c:v>
                </c:pt>
                <c:pt idx="6">
                  <c:v>0.0636604774535809</c:v>
                </c:pt>
                <c:pt idx="7">
                  <c:v>0.061046511627906974</c:v>
                </c:pt>
                <c:pt idx="8">
                  <c:v>0.11764705882352941</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19703026841806"/>
          <c:min val="0.02143061107938321"/>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HONDA SPOKANE</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0.0012048192771084338</c:v>
                </c:pt>
                <c:pt idx="2">
                  <c:v>0.033707865168539325</c:v>
                </c:pt>
                <c:pt idx="3">
                  <c:v>0.028254288597376387</c:v>
                </c:pt>
                <c:pt idx="4">
                  <c:v>0.030784508440913606</c:v>
                </c:pt>
                <c:pt idx="5">
                  <c:v>0.04377431906614786</c:v>
                </c:pt>
                <c:pt idx="6">
                  <c:v>0.04158790170132325</c:v>
                </c:pt>
                <c:pt idx="7">
                  <c:v>0.05141129032258065</c:v>
                </c:pt>
                <c:pt idx="8">
                  <c:v>0.053974484789008834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070657507360155"/>
          <c:min val="-0.00809617271835132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charts/chart26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LINCOLN</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0.04912280701754386</c:v>
                </c:pt>
                <c:pt idx="1">
                  <c:v>0.08914728682170543</c:v>
                </c:pt>
                <c:pt idx="2">
                  <c:v>0.06493506493506493</c:v>
                </c:pt>
                <c:pt idx="3">
                  <c:v>0.06498194945848375</c:v>
                </c:pt>
                <c:pt idx="4">
                  <c:v>0.06007067137809187</c:v>
                </c:pt>
                <c:pt idx="5">
                  <c:v>0.1044776119402985</c:v>
                </c:pt>
                <c:pt idx="6">
                  <c:v>0.11987381703470032</c:v>
                </c:pt>
                <c:pt idx="7">
                  <c:v>0.11450381679389313</c:v>
                </c:pt>
                <c:pt idx="8">
                  <c:v>0.06885245901639345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13048646853727378"/>
          <c:min val="0.03851015551497039"/>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6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AUDI RENO</c:v>
                </c:pt>
              </c:strCache>
            </c:strRef>
          </c:tx>
          <c:spPr>
            <a:solidFill>
              <a:srgbClr val="12A566"/>
            </a:solidFill>
            <a:ln w="25400" cap="flat">
              <a:solidFill>
                <a:srgbClr val="12A56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3"/>
            <c:spPr>
              <a:solidFill>
                <a:srgbClr val="12A566"/>
              </a:solidFill>
              <a:ln w="9525" cap="flat">
                <a:solidFill>
                  <a:srgbClr val="12A566"/>
                </a:solidFill>
                <a:prstDash val="solid"/>
                <a:round/>
              </a:ln>
              <a:effectLst/>
            </c:spPr>
          </c:marker>
          <c:cat>
            <c:multiLvlStrRef>
              <c:f>Sheet1!$A$2:$A$10</c:f>
              <c:multiLvlStrCache>
                <c:ptCount val="9"/>
                <c:lvl>
                  <c:pt idx="0">
                    <c:v>J</c:v>
                  </c:pt>
                  <c:pt idx="1">
                    <c:v>F</c:v>
                  </c:pt>
                  <c:pt idx="2">
                    <c:v>M</c:v>
                  </c:pt>
                  <c:pt idx="3">
                    <c:v>A</c:v>
                  </c:pt>
                  <c:pt idx="4">
                    <c:v>M</c:v>
                  </c:pt>
                  <c:pt idx="5">
                    <c:v>J</c:v>
                  </c:pt>
                  <c:pt idx="6">
                    <c:v>J</c:v>
                  </c:pt>
                  <c:pt idx="7">
                    <c:v>A</c:v>
                  </c:pt>
                  <c:pt idx="8">
                    <c:v>S</c:v>
                  </c:pt>
                </c:lvl>
              </c:multiLvlStrCache>
            </c:multiLvlStrRef>
          </c:cat>
          <c:val>
            <c:numRef>
              <c:f>Sheet1!$B$2:$B$10</c:f>
              <c:numCache>
                <c:formatCode>General</c:formatCode>
                <c:ptCount val="9"/>
                <c:pt idx="0">
                  <c:v>0</c:v>
                </c:pt>
                <c:pt idx="1">
                  <c:v>0</c:v>
                </c:pt>
                <c:pt idx="2">
                  <c:v>0</c:v>
                </c:pt>
                <c:pt idx="3">
                  <c:v>0</c:v>
                </c:pt>
                <c:pt idx="4">
                  <c:v>0</c:v>
                </c:pt>
                <c:pt idx="5">
                  <c:v>0</c:v>
                </c:pt>
                <c:pt idx="6">
                  <c:v>0</c:v>
                </c:pt>
                <c:pt idx="7">
                  <c:v>0.023809523809523808</c:v>
                </c:pt>
                <c:pt idx="8">
                  <c:v>0.05459770114942529</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max val="0.06278735632183909"/>
          <c:min val="-0.00818965517241379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7F7F7"/>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review with Tommy, not for the room. Every slide built but not placed in the deck: alternate versions of slides already in it, and slides not yet decided on. In deck order: Store Records (five designs), Door Rate option A, CP vs Internal GP % option A, Photo completion % (optional measure), Productivity slides taken out of the flow (gross per employee gap, 5% more per employee, ROs per advisor, ROs per manager; Oct 23), Who's Moving Now alternate versions and the line-chart versions taken out of the flow (Oct 23), Most Improved v1. Pick what moves into the deck, then delete this section before the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2026 vs 2025, all stores (INEOS included, to match the group P&amp;L). Fixed ops = service (Mechanical) + parts (P&amp;A) department profit: department gross less the department's own expenses. Group net = Net Profit Or Loss on the GM statement.PLACE: right after the agenda, before the Gross section. In the deck Oct 24 (Noah): group net profit view replaces the gross / absorption / net-to-gross tiles. Group-level view of fixed ops' weight in the dealership's profit, Jan-Sep. Fixed ops department profit $50,194,950 (2025 $45,336,135); group net profit $82,240,434 (2025 $95,664,709). On the P&amp;L, F&amp;I income, other income and store-level costs are not split by department, so 'the rest of the store' is the group net less fixed ops department profit. Group net = Net Profit Or Loss on the GM statement (P&amp;L summary), all stores; INEOS (opened 2026) is in both lines. Body shop (GMC Prescott) department profit is left out of fixed ops, as everywhere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Fixed Ops Accounting TB, fixed gross (service and parts), monthly by store, January 2021 - September 2026. A record = the store's highest month on file; months before a store opened are ignored. GMC Prescott service on the TB includes body shop gross. Records = each month a store beat its best-ever service, parts or combined month; one month can count up to three.Records by store (month: service / parts / combined, with the record it beat):</a:t>
            </a:r>
          </a:p>
          <a:p>
            <a:r>
              <a:t>Toyota Henderson: service Apr 2026 $1.86M (beat $1.78M, Apr 2025); service Jul 2026 $1.98M (beat $1.86M, Apr 2026); parts Jun 2026 $747K (beat $734K, Dec 2024); parts Aug 2026 $748K (beat $747K, Jun 2026); parts Sep 2026 $803K (beat $748K, Aug 2026); combined Apr 2026 $2.52M (beat $2.45M, Apr 2025); combined Jun 2026 $2.55M (beat $2.52M, Apr 2026); combined Jul 2026 $2.72M (beat $2.55M, Jun 2026)</a:t>
            </a:r>
          </a:p>
          <a:p>
            <a:r>
              <a:t>Honda Spokane: service Mar 2026 $309K (beat $290K, May 2025); service Apr 2026 $316K (beat $309K, Mar 2026); service Jun 2026 $343K (beat $316K, Apr 2026); service Jul 2026 $360K (beat $343K, Jun 2026); parts Jul 2026 $182K (beat $168K, Aug 2025); combined Mar 2026 $457K (beat $448K, May 2025); combined Apr 2026 $473K (beat $457K, Mar 2026); combined Jun 2026 $503K (beat $473K, Apr 2026); combined Jul 2026 $542K (beat $503K, Jun 2026)</a:t>
            </a:r>
          </a:p>
          <a:p>
            <a:r>
              <a:t>Nissan: service Mar 2026 $374K (beat $374K, May 2025); service Jun 2026 $379K (beat $374K, Mar 2026); service Sep 2026 $393K (beat $379K, Jun 2026); parts Jun 2026 $191K (beat $187K, Aug 2024); parts Jul 2026 $210K (beat $191K, Jun 2026); combined Mar 2026 $546K (beat $535K, May 2025); combined Jun 2026 $570K (beat $546K, Mar 2026); combined Jul 2026 $580K (beat $570K, Jun 2026); combined Sep 2026 $593K (beat $580K, Jul 2026)</a:t>
            </a:r>
          </a:p>
          <a:p>
            <a:r>
              <a:t>Subaru St George: service Jan 2026 $256K (beat $246K, Apr 2025); service Mar 2026 $270K (beat $256K, Jan 2026); parts Mar 2026 $146K (beat $144K, Apr 2025); parts Apr 2026 $156K (beat $146K, Mar 2026); parts Jun 2026 $174K (beat $156K, Apr 2026); combined Mar 2026 $416K (beat $391K, Apr 2025); combined Jun 2026 $438K (beat $416K, Mar 2026)</a:t>
            </a:r>
          </a:p>
          <a:p>
            <a:r>
              <a:t>Hyundai St George: service Jan 2026 $155K (beat $152K, Dec 2025); service Mar 2026 $170K (beat $155K, Jan 2026); service Jul 2026 $173K (beat $170K, Mar 2026); service Sep 2026 $179K (beat $173K, Jul 2026)</a:t>
            </a:r>
          </a:p>
          <a:p>
            <a:r>
              <a:t>Honda Henderson: service Mar 2026 $1.26M (beat $1.23M, Mar 2025); service Jun 2026 $1.29M (beat $1.26M, Mar 2026); service Jul 2026 $1.30M (beat $1.29M, Jun 2026); parts Jul 2026 $495K (beat $475K, Apr 2024); combined Mar 2026 $1.72M (beat $1.67M, Apr 2024); combined Jun 2026 $1.75M (beat $1.72M, Mar 2026); combined Jul 2026 $1.79M (beat $1.75M, Jun 2026)</a:t>
            </a:r>
          </a:p>
          <a:p>
            <a:r>
              <a:t>Hyundai Prescott: service Mar 2026 $125K (beat $96K, Jul 2025); service Jul 2026 $142K (beat $125K, Mar 2026); parts Feb 2026 $78K (beat $72K, Jul 2025); combined Feb 2026 $170K (beat $168K, Jul 2025); combined Mar 2026 $182K (beat $170K, Feb 2026); combined Jul 2026 $206K (beat $182K, Mar 2026)</a:t>
            </a:r>
          </a:p>
          <a:p>
            <a:r>
              <a:t>Lincoln: service Aug 2026 $247K (beat $243K, Dec 2025); service Sep 2026 $262K (beat $247K, Aug 2026); parts Mar 2026 $116K (beat $105K, Dec 2025); combined Mar 2026 $358K (beat $349K, Dec 2025); combined Aug 2026 $359K (beat $358K, Mar 2026); combined Sep 2026 $369K (beat $359K, Aug 2026)</a:t>
            </a:r>
          </a:p>
          <a:p>
            <a:r>
              <a:t>LR Henderson: service Aug 2026 $276K (beat $270K, Dec 2024); service Sep 2026 $281K (beat $276K, Aug 2026); parts Jul 2026 $173K (beat $168K, Feb 2025); combined Jul 2026 $434K (beat $420K, Feb 2025)</a:t>
            </a:r>
          </a:p>
          <a:p>
            <a:r>
              <a:t>Toyota Flagstaff: service Mar 2026 $374K (beat $358K, Oct 2024); service Apr 2026 $377K (beat $374K, Mar 2026); service May 2026 $382K (beat $377K, Apr 2026); combined Mar 2026 $532K (beat $497K, Jan 2025)</a:t>
            </a:r>
          </a:p>
          <a:p>
            <a:r>
              <a:t>Audi Henderson: parts Jul 2026 $591K (beat $524K, Dec 2024); combined Apr 2026 $1.45M (beat $1.39M, Dec 2025); combined Jul 2026 $1.60M (beat $1.45M, Apr 2026)</a:t>
            </a:r>
          </a:p>
          <a:p>
            <a:r>
              <a:t>Mazda: service Aug 2026 $285K (beat $256K, Mar 2025); service Sep 2026 $302K (beat $285K, Aug 2026); parts Sep 2026 $200K (beat $172K, Jun 2025); combined Aug 2026 $417K (beat $412K, Jun 2025); combined Sep 2026 $503K (beat $417K, Aug 2026)</a:t>
            </a:r>
          </a:p>
          <a:p>
            <a:r>
              <a:t>Kia St George: service Apr 2026 $158K (beat $153K, Sep 2025); service Jul 2026 $187K (beat $158K, Apr 2026); parts Jul 2026 $134K (beat $120K, Oct 2025); combined Jul 2026 $321K (beat $270K, Sep 2025)</a:t>
            </a:r>
          </a:p>
          <a:p>
            <a:r>
              <a:t>Lexus: service Mar 2026 $341K (beat $341K, Oct 2025); service May 2026 $342K (beat $341K, Mar 2026); parts May 2026 $154K (beat $149K, Oct 2025); combined May 2026 $497K (beat $490K, Oct 2025)</a:t>
            </a:r>
          </a:p>
          <a:p>
            <a:r>
              <a:t>Toyota Prescott: service Mar 2026 $397K (beat $377K, Dec 2025); service Apr 2026 $463K (beat $397K, Mar 2026); parts Apr 2026 $204K (beat $203K, Apr 2025); combined Apr 2026 $667K (beat $563K, Aug 2023)</a:t>
            </a:r>
          </a:p>
          <a:p>
            <a:r>
              <a:t>Volvo: service Apr 2026 $294K (beat $288K, Aug 2024); service Jun 2026 $305K (beat $294K, Apr 2026)</a:t>
            </a:r>
          </a:p>
          <a:p>
            <a:r>
              <a:t>CDJR Post Falls: service Jul 2026 $312K (beat $305K, Apr 2025); combined Jul 2026 $481K (beat $468K, Aug 2024)</a:t>
            </a:r>
          </a:p>
          <a:p>
            <a:r>
              <a:t>GMC Prescott: parts Apr 2026 $148K (beat $123K, Oct 2024); combined Apr 2026 $314K (beat $304K, Oct 2024)</a:t>
            </a:r>
          </a:p>
          <a:p>
            <a:r>
              <a:t>LR LV: service Jul 2026 $544K (beat $509K, May 2024); combined Jul 2026 $845K (beat $817K, May 2024)</a:t>
            </a:r>
          </a:p>
          <a:p>
            <a:r>
              <a:t>LR Reno: service Aug 2026 $204K (beat $190K, Jan 2025); combined Aug 2026 $312K (beat $294K, Aug 2024)</a:t>
            </a:r>
          </a:p>
          <a:p>
            <a:r>
              <a:t>Subaru Prescott: combined Apr 2026 $354K (beat $349K, Apr 2025)</a:t>
            </a:r>
          </a:p>
          <a:p>
            <a:r>
              <a:t>Toyota Spokane: service Jul 2026 $470K (beat $450K, Oct 2025); combined Jul 2026 $777K (beat $760K, Oct 2025)</a:t>
            </a:r>
          </a:p>
          <a:p>
            <a:r>
              <a:t>Kia LV: service Sep 2026 $492K (beat $472K, Oct 2024)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Gross section, after the section break and before Total Gross Profit - Fixed Ops.</a:t>
            </a:r>
          </a:p>
          <a:p>
            <a:r>
              <a:t>Said: Roundtable slide 9 ('Service Department?'); Jan GM slide 58 (Sales and Service Relationship).</a:t>
            </a:r>
          </a:p>
          <a:p>
            <a:r>
              <a:t>For the GMs who come from sales (Noah, Oct 25): service and parts keep far more of every gross dollar than vehicle sales does. Jan-Sep 2026, after each department's own expenses, fixed ops kept 27 cents of every gross dollar; new, used and F&amp;I together kept 7 cents (before doc fees, packs and factory money, which the P&amp;L books outside the departments). People cost 45 cents of every fixed ops gross dollar and 62 cents of every vehicle sales gross dollar. That is why paying yourself first, on internal work, matters: see Pay Yourself First at the start of the Internal section.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Gross section, after Service Is Sales 2.0 and in front of Total Gross Profit - Fixed Ops.</a:t>
            </a:r>
          </a:p>
          <a:p>
            <a:r>
              <a:t>Source: Qlik Profit &amp; Loss, Total Gross Profit - Service and Total Gross Profit - Parts, same-store, INEOS excluded, GMC Prescott body shop gross excluded (as on the gross slides). Hourly technician pay, guarantees and bonuses paid off the RO post as unapplied labor: not charged on any repair order, a cost-of-sale adjustment that reduces service gross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fixed ops gross, Jan-Sep 2026 vs 2025. Moving now: Jul-Sep 2026 vs Jan-Mar 2026, each store against itself (monthly averages); the group moved +9.4%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service gross, Jan-Sep 2026 vs 2025. Moving now: Jul-Sep 2026 vs Jan-Mar 2026, each store against itself (monthly averages); the group moved +7.0%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 vs Jan-Sep 2025; 2025 shown January-December.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Ranked by dollar change, Jan-Sep 2026 vs Jan-Sep 2025; percent change alongside, the top three and bottom three by percent marked.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Same-store, INEOS excluded (opened 2026). Fixed ops = service + parts; GMC Prescott body shop gross excluded. Top and bottom five stores by percent change in parts gross, Jan-Sep 2026 vs 2025. Moving now: Jul-Sep 2026 vs Jan-Mar 2026, each store against itself (monthly averages); the group moved +14.4%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GM statement. Jan-Sep 2026, same-store, INEOS excluded (opened 2026).PLACE: Profitability, in front of Fixed Ops Absorption %; the next slide breaks down the fixed expenses. The denominator is the P&amp;L's Fixed Expenses line on the GM statement: the whole store's expenses (new, used, service, parts, body shop)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$242,850,782 of fixed expenses out of $305,051,366 total expense.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Jan-Sep 2026 YTD. Green at or above the group, red below. Bars start at 30.0%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Fixed Ops Absorption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P&amp;L line Fixed Ops Absorption % = Total Gross Profit - Fixed Ops / Fixed Expenses. GMC Prescott includes its body shop, as on the P&amp;L. Top and bottom five stores by change in Fixed Ops Absorption %, Jan-Sep 2026 vs 2025. Moving now: Jul-Sep 2026 vs Jan-Mar 2026, each store against itself; the group moved +4.2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Profitability, in front of Service Net to Gross %.</a:t>
            </a:r>
          </a:p>
          <a:p>
            <a:r>
              <a:t>P&amp;L Detail statement: DEPARTMENT PROFIT OR LOSS / GROSS PROFIT / INCOME, Mechanical Dept (service) and P&amp;A Dept (parts).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Jan-Sep 2026 YTD. Green at or above the group, red below. Bars start at -45.0%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Service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Mechanical department profit / mechanical department gross (P&amp;L Detail statement). Body shop is its own department and is not included. Top and bottom five stores by change in Service Net to Gross %, Jan-Sep 2026 vs 2025. Moving now: Jul-Sep 2026 vs Jan-Mar 2026, each store against itself; the group moved +1.0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Change in Parts Net to Gross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Jan-Sep. Same-store, INEOS excluded (opened 2026). P&amp;A department profit / P&amp;A department gross (P&amp;L Detail statement). Top and bottom five stores by change in Parts Net to Gross %, Jan-Sep 2026 vs 2025. Moving now: Jul-Sep 2026 vs Jan-Mar 2026, each store against itself; the group moved +5.3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section break and before CP RO Count.</a:t>
            </a:r>
          </a:p>
          <a:p>
            <a:r>
              <a:t>Said: Roundtable slides 18-19 (KPIs; CP Labor $ per RO).</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after the CP RO Count slides and before Hours per RO.</a:t>
            </a:r>
          </a:p>
          <a:p>
            <a:r>
              <a:t>Said: Jan/May GM slides on Appointment Scheduling, Appointment Discipline, Phone Call Handling and Retention Management (Jan 2, 7, 9, 11; May 2, 4, 8, 9).</a:t>
            </a:r>
          </a:p>
          <a:p>
            <a:r>
              <a:t>Optional: the Flai voice AI service view (Jul 16-Aug 15 pull: 4,368 of 8,351 transfers rang out) fits here, but it is a different source and period; refresh it before use and keep it off any slide with a P&amp;L number.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Handled by the AI alone = calls - transfers (the export has no separate column for it). Not picked up = transfers x (1 - pickup rate), from Flai's group figures. Value: half of the missed transfers x $384.67 average gross per customer-pay or warranty RO (CP labor + parts gross $95.7M, Qlik Closed ROs, plus warranty gross $47.1M, P&amp;L, over 371,180 CP &amp; W ROs, Jan-Sep 2026, same-store) = $2,636,879.</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Flai voice AI dashboard, Service view, standings export, Jul 26 - Oct 26, 2026 (93 days). Flai's location names (26 with calls). Pickup rate and resolution as Flai reports them. Flai's estimated savings, revenue and profit are not used. Green bar: the store is in more than one top list; red bar: in more than one bottom 5. Ranked among the 23 locations with 300+ calls (Subaru St George, Land Rover Henderson, Jaguar Land Rover Las Vegas have fewer). Honda Spokane shows no calls in the period.Talk track: the voice AI answers every call, books what it can and hands the rest to the store. What happens next is ours: someone has to pick up the transfer, and every callback has to be closed. A store that doesn't pick up is sending a customer it already has to voicemail.</a:t>
            </a:r>
          </a:p>
          <a:p/>
          <a:p>
            <a:r>
              <a:t>Definitions to confirm against Flai: pickup rate is read as the share of transferred calls a person picked up; resolution as the share of callback requests closed. Resolve time in the export runs to weeks at some locations and is not shown.</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RO Count.</a:t>
            </a:r>
          </a:p>
          <a:p>
            <a:r>
              <a:t>Definition is the data slides' own: distinct ROs with a customer-pay line, by close month. This includes the roughly 0.9% of CP ROs with no labor charged (parts-only sales such as additives, wipers and batteries, and blank CP lines); Qlik's hasLabor flag is set on every line, so it does not filter them, and the count is kept that way to match the numbers stores are used to. GMC Prescott body-shop-only ROs excluded.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RO count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Per RO = the store's customer-pay labor gross + parts gross / its CP RO count, Jan-Sep 2026. Days open a year: 307 for every store (open 6 days a week, 2026 calendar, less the 6 service holidays: New Year's, Memorial Day, Independence Day, Labor Day, Thanksgiving, Christmas). ROs/day = Jan-Sep 2026 CP ROs at a yearly pace / days open. Assumes the added RO is an average one.Talk track: one more customer a day - one more answered call, one appointment kept, one 'close to losing' customer brought back. Retention, phones and the scheduler are the levers.</a:t>
            </a:r>
          </a:p>
          <a:p>
            <a:r>
              <a:t>LR HENDERSON: $1,168 gross per RO x 307 days open a year = $358,484; 6.8 CP ROs a day today</a:t>
            </a:r>
          </a:p>
          <a:p>
            <a:r>
              <a:t>LR LV: $1,142 gross per RO x 307 days open a year = $350,585; 15.2 CP ROs a day today</a:t>
            </a:r>
          </a:p>
          <a:p>
            <a:r>
              <a:t>LR RENO: $1,052 gross per RO x 307 days open a year = $323,117; 6.2 CP ROs a day today</a:t>
            </a:r>
          </a:p>
          <a:p>
            <a:r>
              <a:t>AUDI HENDERSON: $1,030 gross per RO x 307 days open a year = $316,136; 16.4 CP ROs a day today</a:t>
            </a:r>
          </a:p>
          <a:p>
            <a:r>
              <a:t>AUDI RENO: $740 gross per RO x 307 days open a year = $227,297; 17.0 CP ROs a day today</a:t>
            </a:r>
          </a:p>
          <a:p>
            <a:r>
              <a:t>VOLVO: $662 gross per RO x 307 days open a year = $203,362; 14.8 CP ROs a day today</a:t>
            </a:r>
          </a:p>
          <a:p>
            <a:r>
              <a:t>CADILLAC: $509 gross per RO x 307 days open a year = $156,140; 23.2 CP ROs a day today</a:t>
            </a:r>
          </a:p>
          <a:p>
            <a:r>
              <a:t>LINCOLN: $480 gross per RO x 307 days open a year = $147,507; 11.4 CP ROs a day today</a:t>
            </a:r>
          </a:p>
          <a:p>
            <a:r>
              <a:t>LEXUS: $460 gross per RO x 307 days open a year = $141,182; 19.8 CP ROs a day today</a:t>
            </a:r>
          </a:p>
          <a:p>
            <a:r>
              <a:t>VW HENDERSON: $429 gross per RO x 307 days open a year = $131,560; 22.3 CP ROs a day today</a:t>
            </a:r>
          </a:p>
          <a:p>
            <a:r>
              <a:t>NISSAN: $406 gross per RO x 307 days open a year = $124,728; 30.3 CP ROs a day today</a:t>
            </a:r>
          </a:p>
          <a:p>
            <a:r>
              <a:t>CDJR POST FALLS: $399 gross per RO x 307 days open a year = $122,626; 23.3 CP ROs a day today</a:t>
            </a:r>
          </a:p>
          <a:p>
            <a:r>
              <a:t>CHEVY LV: $362 gross per RO x 307 days open a year = $111,273; 84.8 CP ROs a day today</a:t>
            </a:r>
          </a:p>
          <a:p>
            <a:r>
              <a:t>SUBARU ST GEORGE: $357 gross per RO x 307 days open a year = $109,693; 24.1 CP ROs a day today</a:t>
            </a:r>
          </a:p>
          <a:p>
            <a:r>
              <a:t>ACURA: $356 gross per RO x 307 days open a year = $109,151; 15.9 CP ROs a day today</a:t>
            </a:r>
          </a:p>
          <a:p>
            <a:r>
              <a:t>SUBARU LV: $354 gross per RO x 307 days open a year = $108,687; 61.9 CP ROs a day today</a:t>
            </a:r>
          </a:p>
          <a:p>
            <a:r>
              <a:t>HONDA NORTH: $338 gross per RO x 307 days open a year = $103,675; 65.4 CP ROs a day today</a:t>
            </a:r>
          </a:p>
          <a:p>
            <a:r>
              <a:t>HONDA HENDERSON: $337 gross per RO x 307 days open a year = $103,382; 97.8 CP ROs a day today</a:t>
            </a:r>
          </a:p>
          <a:p>
            <a:r>
              <a:t>HONDA SPOKANE: $331 gross per RO x 307 days open a year = $101,516; 38.8 CP ROs a day today</a:t>
            </a:r>
          </a:p>
          <a:p>
            <a:r>
              <a:t>CHEVY GMC BULLHEAD: $314 gross per RO x 307 days open a year = $96,545; 27.4 CP ROs a day today</a:t>
            </a:r>
          </a:p>
          <a:p>
            <a:r>
              <a:t>GMC PRESCOTT: $310 gross per RO x 307 days open a year = $95,050; 13.5 CP ROs a day today</a:t>
            </a:r>
          </a:p>
          <a:p>
            <a:r>
              <a:t>HONDA FLAGSTAFF: $307 gross per RO x 307 days open a year = $94,176; 17.5 CP ROs a day today</a:t>
            </a:r>
          </a:p>
          <a:p>
            <a:r>
              <a:t>VW ST GEORGE: $292 gross per RO x 307 days open a year = $89,636; 8.3 CP ROs a day today</a:t>
            </a:r>
          </a:p>
          <a:p>
            <a:r>
              <a:t>HYUNDAI ST GEORGE: $283 gross per RO x 307 days open a year = $86,985; 14.5 CP ROs a day today</a:t>
            </a:r>
          </a:p>
          <a:p>
            <a:r>
              <a:t>MAZDA: $280 gross per RO x 307 days open a year = $86,010; 24.8 CP ROs a day today</a:t>
            </a:r>
          </a:p>
          <a:p>
            <a:r>
              <a:t>KIA LV: $268 gross per RO x 307 days open a year = $82,314; 35.3 CP ROs a day today</a:t>
            </a:r>
          </a:p>
          <a:p>
            <a:r>
              <a:t>TOYOTA HENDERSON: $242 gross per RO x 307 days open a year = $74,324; 230.5 CP ROs a day today</a:t>
            </a:r>
          </a:p>
          <a:p>
            <a:r>
              <a:t>HYUNDAI PRESCOTT: $237 gross per RO x 307 days open a year = $72,795; 8.7 CP ROs a day today</a:t>
            </a:r>
          </a:p>
          <a:p>
            <a:r>
              <a:t>SUBARU PRESCOTT: $237 gross per RO x 307 days open a year = $72,776; 22.2 CP ROs a day today</a:t>
            </a:r>
          </a:p>
          <a:p>
            <a:r>
              <a:t>TOYOTA PRESCOTT: $237 gross per RO x 307 days open a year = $72,743; 58.6 CP ROs a day today</a:t>
            </a:r>
          </a:p>
          <a:p>
            <a:r>
              <a:t>KIA ST GEORGE: $220 gross per RO x 307 days open a year = $67,614; 17.0 CP ROs a day today</a:t>
            </a:r>
          </a:p>
          <a:p>
            <a:r>
              <a:t>TOYOTA SPOKANE: $217 gross per RO x 307 days open a year = $66,622; 75.5 CP ROs a day today</a:t>
            </a:r>
          </a:p>
          <a:p>
            <a:r>
              <a:t>TOYOTA FLAGSTAFF: $214 gross per RO x 307 days open a year = $65,596; 65.8 CP ROs a day today</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Jan-Sep 2026 YTD.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Change in customer-pay hours sold (percent, so store size does not drive the ranking),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date. Same-store, INEOS excluded (opened 2026). GMC Prescott body shop labor types excluded. Total customer-pay labor hours sold, all CP ROs. Top and bottom five stores by change in customer-pay hours sold (percent, so store size does not drive the ranking), Jan-Sep 2026 vs 2025. Moving now: Jul-Sep 2026 vs Jan-Mar 2026, each store against itself (monthly averages); the group moved +5.5%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Hours per RO.</a:t>
            </a:r>
          </a:p>
          <a:p>
            <a:r>
              <a:t>$4,543,691 = 0.1 x 279,756 CP ROs (27,976 hours) x $162.42 CP ELR (on the Hours per RO data slide). Slide rounds to $162 and $4.5M so the room can follow it (Noah, Oct 23).</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all CP ROs, Jan-Sep 2026 by close date. Same-store, INEOS excluded (opened 2026). GMC Prescott body shop labor types excluded. Each store: 0.1 x its CP RO count x its own customer-pay labor gross and parts gross per sold hour; a year = Jan-Sep x 12 / 9. Gross, not sale, so it will not match the $4,543,691 labor sale on the Hours per RO slide. Gross/yr = labor gross + parts gross a year. Parts assumes the extra hours carry the store's average customer-pay parts gross per sold hour.Talk track: 0.1 hour is six minutes of sold time on a visit - one more inspection item sold, one tire rotation, one cabin filter. Parts gross assumes the extra hours carry the store's usual parts.</a:t>
            </a:r>
          </a:p>
          <a:p>
            <a:r>
              <a:t>TOYOTA HENDERSON: 53,084 CP ROs, 1.47 hrs/RO; +0.1 = $97,028 gross a month, $1,164,334 a year (labor $868,256, parts $296,078)</a:t>
            </a:r>
          </a:p>
          <a:p>
            <a:r>
              <a:t>HONDA HENDERSON: 22,527 CP ROs, 1.97 hrs/RO; +0.1 = $42,821 gross a month, $513,852 a year (labor $396,326, parts $117,527)</a:t>
            </a:r>
          </a:p>
          <a:p>
            <a:r>
              <a:t>CHEVY LV: 19,520 CP ROs, 2.30 hrs/RO; +0.1 = $34,189 gross a month, $410,273 a year (labor $295,521, parts $114,751)</a:t>
            </a:r>
          </a:p>
          <a:p>
            <a:r>
              <a:t>TOYOTA SPOKANE: 17,376 CP ROs, 1.48 hrs/RO; +0.1 = $28,273 gross a month, $339,280 a year (labor $220,993, parts $118,287)</a:t>
            </a:r>
          </a:p>
          <a:p>
            <a:r>
              <a:t>TOYOTA FLAGSTAFF: 15,141 CP ROs, 1.41 hrs/RO; +0.1 = $25,581 gross a month, $306,971 a year (labor $228,073, parts $78,899)</a:t>
            </a:r>
          </a:p>
          <a:p>
            <a:r>
              <a:t>HONDA NORTH: 15,048 CP ROs, 2.02 hrs/RO; +0.1 = $27,949 gross a month, $335,387 a year (labor $243,757, parts $91,630)</a:t>
            </a:r>
          </a:p>
          <a:p>
            <a:r>
              <a:t>SUBARU LV: 14,250 CP ROs, 1.95 hrs/RO; +0.1 = $28,789 gross a month, $345,471 a year (labor $260,598, parts $84,873)</a:t>
            </a:r>
          </a:p>
          <a:p>
            <a:r>
              <a:t>TOYOTA PRESCOTT: 13,490 CP ROs, 1.38 hrs/RO; +0.1 = $25,680 gross a month, $308,157 a year (labor $224,917, parts $83,240)</a:t>
            </a:r>
          </a:p>
          <a:p>
            <a:r>
              <a:t>HONDA SPOKANE: 8,930 CP ROs, 2.01 hrs/RO; +0.1 = $16,345 gross a month, $196,138 a year (labor $136,735, parts $59,403)</a:t>
            </a:r>
          </a:p>
          <a:p>
            <a:r>
              <a:t>KIA LV: 8,133 CP ROs, 1.57 hrs/RO; +0.1 = $15,446 gross a month, $185,357 a year (labor $128,599, parts $56,758)</a:t>
            </a:r>
          </a:p>
          <a:p>
            <a:r>
              <a:t>NISSAN: 6,973 CP ROs, 2.11 hrs/RO; +0.1 = $14,916 gross a month, $178,988 a year (labor $128,448, parts $50,540)</a:t>
            </a:r>
          </a:p>
          <a:p>
            <a:r>
              <a:t>CHEVY GMC BULLHEAD: 6,309 CP ROs, 1.74 hrs/RO; +0.1 = $12,652 gross a month, $151,825 a year (labor $102,262, parts $49,564)</a:t>
            </a:r>
          </a:p>
          <a:p>
            <a:r>
              <a:t>MAZDA: 5,701 CP ROs, 1.46 hrs/RO; +0.1 = $12,192 gross a month, $146,304 a year (labor $105,012, parts $41,292)</a:t>
            </a:r>
          </a:p>
          <a:p>
            <a:r>
              <a:t>SUBARU ST GEORGE: 5,553 CP ROs, 2.30 hrs/RO; +0.1 = $9,589 gross a month, $115,073 a year (labor $75,721, parts $39,353)</a:t>
            </a:r>
          </a:p>
          <a:p>
            <a:r>
              <a:t>CDJR POST FALLS: 5,358 CP ROs, 2.20 hrs/RO; +0.1 = $10,803 gross a month, $129,631 a year (labor $91,262, parts $38,370)</a:t>
            </a:r>
          </a:p>
          <a:p>
            <a:r>
              <a:t>CADILLAC: 5,344 CP ROs, 2.73 hrs/RO; +0.1 = $11,060 gross a month, $132,722 a year (labor $95,285, parts $37,436)</a:t>
            </a:r>
          </a:p>
          <a:p>
            <a:r>
              <a:t>VW HENDERSON: 5,145 CP ROs, 2.49 hrs/RO; +0.1 = $9,835 gross a month, $118,025 a year (labor $89,434, parts $28,590)</a:t>
            </a:r>
          </a:p>
          <a:p>
            <a:r>
              <a:t>SUBARU PRESCOTT: 5,105 CP ROs, 1.60 hrs/RO; +0.1 = $8,418 gross a month, $101,015 a year (labor $70,208, parts $30,807)</a:t>
            </a:r>
          </a:p>
          <a:p>
            <a:r>
              <a:t>LEXUS: 4,567 CP ROs, 2.08 hrs/RO; +0.1 = $11,202 gross a month, $134,424 a year (labor $99,999, parts $34,425)</a:t>
            </a:r>
          </a:p>
          <a:p>
            <a:r>
              <a:t>HONDA FLAGSTAFF: 4,030 CP ROs, 1.67 hrs/RO; +0.1 = $8,249 gross a month, $98,985 a year (labor $68,101, parts $30,883)</a:t>
            </a:r>
          </a:p>
          <a:p>
            <a:r>
              <a:t>AUDI RENO: 3,917 CP ROs, 2.73 hrs/RO; +0.1 = $11,814 gross a month, $141,770 a year (labor $96,704, parts $45,066)</a:t>
            </a:r>
          </a:p>
          <a:p>
            <a:r>
              <a:t>KIA ST GEORGE: 3,912 CP ROs, 1.29 hrs/RO; +0.1 = $7,424 gross a month, $89,084 a year (labor $58,429, parts $30,655)</a:t>
            </a:r>
          </a:p>
          <a:p>
            <a:r>
              <a:t>AUDI HENDERSON: 3,779 CP ROs, 3.48 hrs/RO; +0.1 = $12,411 gross a month, $148,928 a year (labor $113,075, parts $35,853)</a:t>
            </a:r>
          </a:p>
          <a:p>
            <a:r>
              <a:t>ACURA: 3,671 CP ROs, 1.42 hrs/RO; +0.1 = $10,212 gross a month, $122,550 a year (labor $81,713, parts $40,837)</a:t>
            </a:r>
          </a:p>
          <a:p>
            <a:r>
              <a:t>LR LV: 3,496 CP ROs, 3.99 hrs/RO; +0.1 = $11,125 gross a month, $133,501 a year (labor $91,287, parts $42,215)</a:t>
            </a:r>
          </a:p>
          <a:p>
            <a:r>
              <a:t>VOLVO: 3,402 CP ROs, 2.28 hrs/RO; +0.1 = $10,992 gross a month, $131,908 a year (labor $89,257, parts $42,652)</a:t>
            </a:r>
          </a:p>
          <a:p>
            <a:r>
              <a:t>HYUNDAI ST GEORGE: 3,349 CP ROs, 1.43 hrs/RO; +0.1 = $7,381 gross a month, $88,568 a year (labor $61,607, parts $26,961)</a:t>
            </a:r>
          </a:p>
          <a:p>
            <a:r>
              <a:t>GMC PRESCOTT: 3,107 CP ROs, 1.96 hrs/RO; +0.1 = $5,461 gross a month, $65,535 a year (labor $42,792, parts $22,743)</a:t>
            </a:r>
          </a:p>
          <a:p>
            <a:r>
              <a:t>LINCOLN: 2,630 CP ROs, 2.48 hrs/RO; +0.1 = $5,651 gross a month, $67,817 a year (labor $48,880, parts $18,937)</a:t>
            </a:r>
          </a:p>
          <a:p>
            <a:r>
              <a:t>HYUNDAI PRESCOTT: 2,010 CP ROs, 1.64 hrs/RO; +0.1 = $3,238 gross a month, $38,856 a year (labor $23,679, parts $15,178)</a:t>
            </a:r>
          </a:p>
          <a:p>
            <a:r>
              <a:t>VW ST GEORGE: 1,919 CP ROs, 1.71 hrs/RO; +0.1 = $3,646 gross a month, $43,756 a year (labor $27,475, parts $16,281)</a:t>
            </a:r>
          </a:p>
          <a:p>
            <a:r>
              <a:t>LR HENDERSON: 1,559 CP ROs, 3.99 hrs/RO; +0.1 = $5,068 gross a month, $60,821 a year (labor $40,050, parts $20,772)</a:t>
            </a:r>
          </a:p>
          <a:p>
            <a:r>
              <a:t>LR RENO: 1,421 CP ROs, 3.48 hrs/RO; +0.1 = $4,771 gross a month, $57,255 a year (labor $37,516, parts $19,739)</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Customer Pay, after CP Hours per RO and ahead of Labor Sale by Pay Type and the CP ELR slides.</a:t>
            </a:r>
          </a:p>
          <a:p>
            <a:r>
              <a:t>Roundtable worked example removed from the slide (Noah, Oct 21).</a:t>
            </a:r>
          </a:p>
          <a:p>
            <a:r>
              <a:t>Talk track (Noah, Oct 23): to understand your ELR you have to understand your work mix. A shop that does more repair than maintenance will run a higher ELR, because the repair rate is higher; a shop that is mostly maintenance will run lower. There is nothing wrong with that, but you need to know your mix to know why your ELR is what it is. Raising the repair rate may do less than raising the maintenance rate if most of your work is maintenance. Know your ELR for every labor operation.</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CP Engine section, before the CP ELR slides (ahead of the door-rate options).</a:t>
            </a:r>
          </a:p>
          <a:p>
            <a:r>
              <a:t>Said: Roundtable slide 15 (Pricing Strategy); Jan/May GM Road to the Sale slide (pricing lines); Jan GM slide 54 (Discounting Discipline); 70% benchmark from the Jan/May door rate slides.</a:t>
            </a:r>
          </a:p>
          <a:p>
            <a:r>
              <a:t>Oct 23 (Noah): grid vs non-grid tile replaced. $126,831 a month = Jul-Sep, for each of the 8 stores under 70% (Chevy LV, Toyota Spokane, Cadillac, Kia LV, Subaru Prescott, Lincoln, GMC Prescott, Hyundai Prescott): (70% x door rate - CP ELR) x CP hours sold, summed ($380,494) / 3. Door rates from the store door rate sheet (door.json), ELR and hours from elr_q3.json.</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Labor sale by pay type, Jan-Sep by close month. Same-store, INEOS excluded. GMC Prescott body shop labor types excluded. Jan-Sep 2026 shares of labor sale; sorted by customer-pay share. Bar labels are percent of labor sale; every value is also listed here.</a:t>
            </a:r>
          </a:p>
          <a:p>
            <a:r>
              <a:t>HONDA SPOKANE: CP 70.3%, W 8.0%, I 21.6%</a:t>
            </a:r>
          </a:p>
          <a:p>
            <a:r>
              <a:t>TOYOTA SPOKANE: CP 65.3%, W 15.5%, I 19.2%</a:t>
            </a:r>
          </a:p>
          <a:p>
            <a:r>
              <a:t>TOYOTA FLAGSTAFF: CP 65.1%, W 11.2%, I 23.7%</a:t>
            </a:r>
          </a:p>
          <a:p>
            <a:r>
              <a:t>HONDA FLAGSTAFF: CP 65.1%, W 11.9%, I 23.0%</a:t>
            </a:r>
          </a:p>
          <a:p>
            <a:r>
              <a:t>LR LV: CP 64.9%, W 25.2%, I 10.0%</a:t>
            </a:r>
          </a:p>
          <a:p>
            <a:r>
              <a:t>VOLVO: CP 62.9%, W 23.1%, I 14.0%</a:t>
            </a:r>
          </a:p>
          <a:p>
            <a:r>
              <a:t>LR RENO: CP 61.5%, W 17.2%, I 21.3%</a:t>
            </a:r>
          </a:p>
          <a:p>
            <a:r>
              <a:t>TOYOTA PRESCOTT: CP 60.5%, W 13.8%, I 25.8%</a:t>
            </a:r>
          </a:p>
          <a:p>
            <a:r>
              <a:t>AUDI RENO: CP 59.7%, W 29.1%, I 11.2%</a:t>
            </a:r>
          </a:p>
          <a:p>
            <a:r>
              <a:t>CDJR POST FALLS: CP 59.5%, W 23.6%, I 16.9%</a:t>
            </a:r>
          </a:p>
          <a:p>
            <a:r>
              <a:t>NISSAN: CP 59.4%, W 17.7%, I 22.9%</a:t>
            </a:r>
          </a:p>
          <a:p>
            <a:r>
              <a:t>SUBARU ST GEORGE: CP 59.0%, W 23.5%, I 17.5%</a:t>
            </a:r>
          </a:p>
          <a:p>
            <a:r>
              <a:t>SUBARU LV: CP 58.0%, W 24.2%, I 17.7%</a:t>
            </a:r>
          </a:p>
          <a:p>
            <a:r>
              <a:t>HONDA NORTH: CP 57.9%, W 13.5%, I 28.6%</a:t>
            </a:r>
          </a:p>
          <a:p>
            <a:r>
              <a:t>TOYOTA HENDERSON: CP 57.3%, W 14.8%, I 27.9%</a:t>
            </a:r>
          </a:p>
          <a:p>
            <a:r>
              <a:t>MAZDA: CP 56.6%, W 12.4%, I 31.0%</a:t>
            </a:r>
          </a:p>
          <a:p>
            <a:r>
              <a:t>HONDA HENDERSON: CP 56.6%, W 10.2%, I 33.3%</a:t>
            </a:r>
          </a:p>
          <a:p>
            <a:r>
              <a:t>VW ST GEORGE: CP 55.8%, W 31.0%, I 13.2%</a:t>
            </a:r>
          </a:p>
          <a:p>
            <a:r>
              <a:t>LR HENDERSON: CP 55.3%, W 20.2%, I 24.5%</a:t>
            </a:r>
          </a:p>
          <a:p>
            <a:r>
              <a:t>LEXUS: CP 54.5%, W 13.1%, I 32.4%</a:t>
            </a:r>
          </a:p>
          <a:p>
            <a:r>
              <a:t>SUBARU PRESCOTT: CP 50.8%, W 19.2%, I 30.0%</a:t>
            </a:r>
          </a:p>
          <a:p>
            <a:r>
              <a:t>ACURA: CP 48.7%, W 15.5%, I 35.8%</a:t>
            </a:r>
          </a:p>
          <a:p>
            <a:r>
              <a:t>GMC PRESCOTT: CP 48.0%, W 23.1%, I 29.0%</a:t>
            </a:r>
          </a:p>
          <a:p>
            <a:r>
              <a:t>VW HENDERSON: CP 47.2%, W 40.1%, I 12.8%</a:t>
            </a:r>
          </a:p>
          <a:p>
            <a:r>
              <a:t>CHEVY LV: CP 47.0%, W 28.1%, I 24.9%</a:t>
            </a:r>
          </a:p>
          <a:p>
            <a:r>
              <a:t>CHEVY GMC BULLHEAD: CP 45.3%, W 14.3%, I 40.4%</a:t>
            </a:r>
          </a:p>
          <a:p>
            <a:r>
              <a:t>LINCOLN: CP 44.6%, W 37.5%, I 17.8%</a:t>
            </a:r>
          </a:p>
          <a:p>
            <a:r>
              <a:t>HYUNDAI ST GEORGE: CP 40.3%, W 34.9%, I 24.8%</a:t>
            </a:r>
          </a:p>
          <a:p>
            <a:r>
              <a:t>KIA ST GEORGE: CP 40.0%, W 38.4%, I 21.7%</a:t>
            </a:r>
          </a:p>
          <a:p>
            <a:r>
              <a:t>KIA LV: CP 39.2%, W 31.5%, I 29.2%</a:t>
            </a:r>
          </a:p>
          <a:p>
            <a:r>
              <a:t>AUDI HENDERSON: CP 34.1%, W 52.2%, I 13.7%</a:t>
            </a:r>
          </a:p>
          <a:p>
            <a:r>
              <a:t>HYUNDAI PRESCOTT: CP 28.5%, W 35.7%, I 35.8%</a:t>
            </a:r>
          </a:p>
          <a:p>
            <a:r>
              <a:t>CADILLAC: CP 27.9%, W 51.3%, I 20.7%</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Customer-pay labor sale by op code description, Jan-Sep. Same-store, INEOS excluded. GMC Prescott body shop labor types excluded. Maintenance = descriptions naming oil and filter, rotation, brake pads, rotors and brake service, scheduled/interval/mileage service, OEM care plans, alignment, balance, fluid exchanges and flushes, fuel induction, transmission/differential/transfer case/coolant service, spark plugs, filters, wipers, multi-point inspection, timing belt, BG and refresh services, smog/emissions inspection, fluid services, tune-ups, tire promotions (buy 3 get 1), CVT, EGR, 4x4, AWD, intermediate and transmission services, and any coolant replacement or change. Repair = repair, replace, R&amp;R, diagnosis, leak, noise, inoperative, check engine, warning light, struts, shocks, alternator, starter, water pump, reseal, gasket, calibration, overhaul, engine light, drive belt, belt and hose kit. Descriptions that are only a placeholder (exactly MISC, DEFAULT, STANDARD, GENERAL, GENERAL REPAIR, CUSTOMER STATES, GENERAL CONCERN, ADD DESCRIPTION, TELL US MORE and similar) are left unclassified; a placeholder followed by real detail is classified by that detail.</a:t>
            </a:r>
          </a:p>
          <a:p>
            <a:r>
              <a:t>HONDA HENDERSON: M 71.2%, R 24.6%, U 4.2%</a:t>
            </a:r>
          </a:p>
          <a:p>
            <a:r>
              <a:t>TOYOTA PRESCOTT: M 69.4%, R 25.1%, U 5.5%</a:t>
            </a:r>
          </a:p>
          <a:p>
            <a:r>
              <a:t>TOYOTA HENDERSON: M 68.0%, R 24.7%, U 7.3%</a:t>
            </a:r>
          </a:p>
          <a:p>
            <a:r>
              <a:t>LEXUS: M 67.1%, R 22.0%, U 10.9%</a:t>
            </a:r>
          </a:p>
          <a:p>
            <a:r>
              <a:t>HONDA FLAGSTAFF: M 66.4%, R 25.5%, U 8.1%</a:t>
            </a:r>
          </a:p>
          <a:p>
            <a:r>
              <a:t>HONDA NORTH: M 65.9%, R 29.5%, U 4.6%</a:t>
            </a:r>
          </a:p>
          <a:p>
            <a:r>
              <a:t>MAZDA: M 63.9%, R 21.3%, U 14.8%</a:t>
            </a:r>
          </a:p>
          <a:p>
            <a:r>
              <a:t>ACURA: M 62.0%, R 25.6%, U 12.4%</a:t>
            </a:r>
          </a:p>
          <a:p>
            <a:r>
              <a:t>TOYOTA FLAGSTAFF: M 61.6%, R 13.1%, U 25.3%</a:t>
            </a:r>
          </a:p>
          <a:p>
            <a:r>
              <a:t>TOYOTA SPOKANE: M 60.0%, R 26.4%, U 13.6%</a:t>
            </a:r>
          </a:p>
          <a:p>
            <a:r>
              <a:t>KIA LV: M 59.7%, R 31.1%, U 9.2%</a:t>
            </a:r>
          </a:p>
          <a:p>
            <a:r>
              <a:t>SUBARU PRESCOTT: M 59.2%, R 1.5%, U 39.3%</a:t>
            </a:r>
          </a:p>
          <a:p>
            <a:r>
              <a:t>SUBARU ST GEORGE: M 59.0%, R 26.6%, U 14.4%</a:t>
            </a:r>
          </a:p>
          <a:p>
            <a:r>
              <a:t>LR HENDERSON: M 58.8%, R 32.2%, U 9.0%</a:t>
            </a:r>
          </a:p>
          <a:p>
            <a:r>
              <a:t>HYUNDAI ST GEORGE: M 58.3%, R 18.2%, U 23.5%</a:t>
            </a:r>
          </a:p>
          <a:p>
            <a:r>
              <a:t>HYUNDAI PRESCOTT: M 56.8%, R 23.9%, U 19.3%</a:t>
            </a:r>
          </a:p>
          <a:p>
            <a:r>
              <a:t>LR RENO: M 56.8%, R 23.9%, U 19.3%</a:t>
            </a:r>
          </a:p>
          <a:p>
            <a:r>
              <a:t>SUBARU LV: M 55.1%, R 35.4%, U 9.5%</a:t>
            </a:r>
          </a:p>
          <a:p>
            <a:r>
              <a:t>KIA ST GEORGE: M 55.1%, R 29.6%, U 15.3%</a:t>
            </a:r>
          </a:p>
          <a:p>
            <a:r>
              <a:t>HONDA SPOKANE: M 48.6%, R 41.4%, U 10.0%</a:t>
            </a:r>
          </a:p>
          <a:p>
            <a:r>
              <a:t>VOLVO: M 43.9%, R 41.7%, U 14.4%</a:t>
            </a:r>
          </a:p>
          <a:p>
            <a:r>
              <a:t>LR LV: M 43.0%, R 30.0%, U 27.0%</a:t>
            </a:r>
          </a:p>
          <a:p>
            <a:r>
              <a:t>LINCOLN: M 42.8%, R 28.9%, U 28.3%</a:t>
            </a:r>
          </a:p>
          <a:p>
            <a:r>
              <a:t>VW HENDERSON: M 41.0%, R 51.3%, U 7.7%</a:t>
            </a:r>
          </a:p>
          <a:p>
            <a:r>
              <a:t>CHEVY LV: M 40.6%, R 48.3%, U 11.1%</a:t>
            </a:r>
          </a:p>
          <a:p>
            <a:r>
              <a:t>NISSAN: M 40.2%, R 41.9%, U 17.9%</a:t>
            </a:r>
          </a:p>
          <a:p>
            <a:r>
              <a:t>CHEVY GMC BULLHEAD: M 38.4%, R 32.6%, U 29.0%</a:t>
            </a:r>
          </a:p>
          <a:p>
            <a:r>
              <a:t>AUDI HENDERSON: M 35.1%, R 37.8%, U 27.1%</a:t>
            </a:r>
          </a:p>
          <a:p>
            <a:r>
              <a:t>GMC PRESCOTT: M 33.9%, R 2.6%, U 63.5%</a:t>
            </a:r>
          </a:p>
          <a:p>
            <a:r>
              <a:t>CADILLAC: M 32.8%, R 54.6%, U 12.6%</a:t>
            </a:r>
          </a:p>
          <a:p>
            <a:r>
              <a:t>AUDI RENO: M 32.2%, R 29.7%, U 38.1%</a:t>
            </a:r>
          </a:p>
          <a:p>
            <a:r>
              <a:t>VW ST GEORGE: M 27.5%, R 27.4%, U 45.1%</a:t>
            </a:r>
          </a:p>
          <a:p>
            <a:r>
              <a:t>CDJR POST FALLS: M 26.5%, R 21.7%, U 51.8%</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 per RO.</a:t>
            </a:r>
          </a:p>
          <a:p>
            <a:r>
              <a:t>1.87 x $162.42 = $303.73, which rounds to the $304 on the data slide. Parts line (Noah, Oct 23: the parts $ per RO section is out of the deck, so the link lives here): CP parts per RO $228.50 -&gt; $237.96 Jan-Sep 2025 -&gt; 2026 while CP labor per RO rose $286.67 -&gt; $303.72 (Qlik Closed RO, m5.json).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Labor Gross Profit %.</a:t>
            </a:r>
          </a:p>
          <a:p>
            <a:r>
              <a:t>Example (Noah, Oct 23: replaces the Roundtable table): one CP hour at the group's Jan-Sep 2026 averages, $162.42 ELR, $31.21 tech cost per hour sold, $131.21 kept = 80.8%; rounded on the slide.</a:t>
            </a:r>
          </a:p>
          <a:p>
            <a:r>
              <a:t>Oct 23 (Noah): The Goldilocks Margin talking point is folded into this slide (it repeated it): no Goldilocks or Roundtable wording; its ask (match the tech to the job, not squeeze tech pay) is the first Why It Matters point.</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CP Engine, in front of CP Parts Gross Profit %.</a:t>
            </a:r>
          </a:p>
          <a:p>
            <a:r>
              <a:t>Why understand your parts pricing matrix (Noah, Oct 26): (1) Maximize gross profit: price parts to maximize profitability; find gross without more volume. (2) Consistent pricing: every customer charged the same for the same part; no incorrect prices from bad setups or manual overrides. (3) Stay competitive: avoid markups that make repairs too expensive; balance profit with price on higher-cost parts. (4) Check the matrix is applied: parts actually sell at matrix prices; find parts, labor types or transactions that bypass it. (5) Warranty reimbursement: customer-pay parts pricing drives the warranty parts reimbursement rate, so good pricing supports a higher rate and more warranty gross. (6) Control the strategy: know how your matrix is configured and review it against your gross profit goals. Takeaway: the matrix is one of the most effective tools for improving profit without more volume.</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Change in CP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Opcodes section, after the section break and before Alignment %.</a:t>
            </a:r>
          </a:p>
          <a:p>
            <a:r>
              <a:t>Said: Roundtable slides 11, 12, 14 (Road to the Sale, Maintenance Menus, MPI Mandate); Jan GM slide 15 / May GM slide 11 (Road to the Sale). Fuel service is 5.8% vs 7.5% (4,731 short).</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Road to the Sale and ahead of MPI Completion % (Noah, Oct 23: maintenance visits and a complete MPI go hand in hand).</a:t>
            </a:r>
          </a:p>
          <a:p>
            <a:r>
              <a:t>Talk track (Noah, Oct 25): go to the dentist for a quick cleaning and they don't tell you something is starting to look like a cavity: that is a disservice. Get cars in quickly, perform a complete, comprehensive MPI, and make the proper recommendations at that time. This is critical, and it can't be left to entry-level employees alone: someone with experience who knows what to look for has to be looking at these cars. Depending on work mix, maintenance can be 25% to 75% of a store's service. Many stores focus on getting more cars in the door, which is great, and we want both, but they miss the opportunities they already have. Processes and policies make sure we capitalize on them: every car, every time.</a:t>
            </a:r>
          </a:p>
          <a:p>
            <a:r>
              <a:t>The 52.5% customer-pay share of labor sale tile was dropped with the rewrite.</a:t>
            </a:r>
          </a:p>
          <a:p>
            <a:r>
              <a:t>Said: Jan GM slide 8 / May GM slide 7 (Express Service), reworded.</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MPI % = CP+W ROs with a completed technician multi-point inspection / CP+W ROs closed. Benchmark 90% (Roundtable: 90%+ MPI completion). Green at or above the benchmark, red below.Every car, every time: the MPI is where the hours on the opcode slides come from. Cadillac switched to Auto.live during the quarter, so its number may understate the process.</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Video % = CP+W ROs with a technician video attached to the MPI / CP+W ROs closed. No benchmark set; scored against the group. Green at or above the group, red below.Video is what turns an inspection into a sale the customer can see. MPI at 80% or more but video under 45%, so the inspection is done and not shown: CDJR Post Falls (81.7% MPI, 16.0% video); Chevy GMC Bullhead (87.6% MPI, 21.8% video); Chevy LV (84.5% MPI, 40.2% video); GMC Prescott (93.2% MPI, 35.1% video); Nissan (97.0% MPI, 41.9% video).</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Store-reported from each store's MPI tool (MPI_Video_Completion_Jul-Sep_2026.xlsx): CP + warranty ROs closed Jul 1 - Sep 30, 2026, including $0 ROs; % of ROs, not of MPIs. Group = RO-weighted by each store's CP+W ROs (Qlik Closed Repair Orders, 128,726). Tools differ by store; GMC Prescott's report is not filtered to CP+W; Volvo and VW St George did not say. Honda Spokane and Toyota Spokane report the same figure for MPI and video. Photo % (optional on the form) = CP+W ROs with at least one technician photo on the MPI / CP+W ROs closed. Scored against the group. Green at or above the group, red below. 5 stores do not report it (N/A or blank).Optional measure: five stores do not report it, so it is a review slide, not a meeting slide.</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Opcode Benchmarks, after MPI and Video Completion %, ahead of the op code closing % slides (moved out of Internal, Oct 23).</a:t>
            </a:r>
          </a:p>
          <a:p>
            <a:r>
              <a:t>Said: Jan GM slide 19 / May GM slide 15 (Tracking &amp; Accountability); Roundtable slide 16 (Performance Tracking).</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Opcodes, after the section break, in front of Alignment %.</a:t>
            </a:r>
          </a:p>
          <a:p>
            <a:r>
              <a:t>Denominator: CP ROs on the op code report basis (excluding ROs flagged out of the report).</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ALIGNMENT % = alignment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a:t>
            </a:r>
          </a:p>
          <a:p>
            <a:r>
              <a:t>AUDI HENDERSON: 27.5% (2025 21.8%)</a:t>
            </a:r>
          </a:p>
          <a:p>
            <a:r>
              <a:t>LR HENDERSON: 24.4% (2025 19.4%)</a:t>
            </a:r>
          </a:p>
          <a:p>
            <a:r>
              <a:t>HYUNDAI PRESCOTT: 21.8% (2025 15.0%)</a:t>
            </a:r>
          </a:p>
          <a:p>
            <a:r>
              <a:t>HONDA HENDERSON: 21.3% (2025 20.7%)</a:t>
            </a:r>
          </a:p>
          <a:p>
            <a:r>
              <a:t>ACURA: 17.5% (2025 14.2%)</a:t>
            </a:r>
          </a:p>
          <a:p>
            <a:r>
              <a:t>LR LV: 17.4% (2025 11.4%)</a:t>
            </a:r>
          </a:p>
          <a:p>
            <a:r>
              <a:t>MAZDA: 16.7% (2025 10.0%)</a:t>
            </a:r>
          </a:p>
          <a:p>
            <a:r>
              <a:t>HONDA NORTH: 16.2% (2025 15.0%)</a:t>
            </a:r>
          </a:p>
          <a:p>
            <a:r>
              <a:t>HYUNDAI ST GEORGE: 14.8% (2025 5.2%)</a:t>
            </a:r>
          </a:p>
          <a:p>
            <a:r>
              <a:t>SUBARU LV: 14.6% (2025 16.1%)</a:t>
            </a:r>
          </a:p>
          <a:p>
            <a:r>
              <a:t>TOYOTA HENDERSON: 14.5% (2025 15.1%)</a:t>
            </a:r>
          </a:p>
          <a:p>
            <a:r>
              <a:t>CADILLAC: 13.9% (2025 9.7%)</a:t>
            </a:r>
          </a:p>
          <a:p>
            <a:r>
              <a:t>VOLVO: 13.9% (2025 13.5%)</a:t>
            </a:r>
          </a:p>
          <a:p>
            <a:r>
              <a:t>VW HENDERSON: 13.6% (2025 13.5%)</a:t>
            </a:r>
          </a:p>
          <a:p>
            <a:r>
              <a:t>LR RENO: 12.9% (2025 17.7%)</a:t>
            </a:r>
          </a:p>
          <a:p>
            <a:r>
              <a:t>CHEVY LV: 12.9% (2025 13.4%)</a:t>
            </a:r>
          </a:p>
          <a:p>
            <a:r>
              <a:t>SUBARU PRESCOTT: 12.6% (2025 7.1%)</a:t>
            </a:r>
          </a:p>
          <a:p>
            <a:r>
              <a:t>HONDA SPOKANE: 12.5% (2025 10.8%)</a:t>
            </a:r>
          </a:p>
          <a:p>
            <a:r>
              <a:t>TOYOTA PRESCOTT: 12.3% (2025 9.5%)</a:t>
            </a:r>
          </a:p>
          <a:p>
            <a:r>
              <a:t>AUDI RENO: 11.8% (2025 11.7%)</a:t>
            </a:r>
          </a:p>
          <a:p>
            <a:r>
              <a:t>GMC PRESCOTT: 11.7% (2025 5.0%)</a:t>
            </a:r>
          </a:p>
          <a:p>
            <a:r>
              <a:t>LEXUS: 11.4% (2025 8.3%)</a:t>
            </a:r>
          </a:p>
          <a:p>
            <a:r>
              <a:t>CHEVY GMC BULLHEAD: 11.1% (2025 11.2%)</a:t>
            </a:r>
          </a:p>
          <a:p>
            <a:r>
              <a:t>HONDA FLAGSTAFF: 11.1% (2025 5.6%)</a:t>
            </a:r>
          </a:p>
          <a:p>
            <a:r>
              <a:t>SUBARU ST GEORGE: 11.1% (2025 11.9%)</a:t>
            </a:r>
          </a:p>
          <a:p>
            <a:r>
              <a:t>KIA LV: 9.8% (2025 13.3%)</a:t>
            </a:r>
          </a:p>
          <a:p>
            <a:r>
              <a:t>TOYOTA FLAGSTAFF: 9.7% (2025 6.3%)</a:t>
            </a:r>
          </a:p>
          <a:p>
            <a:r>
              <a:t>LINCOLN: 8.4% (2025 2.7%)</a:t>
            </a:r>
          </a:p>
          <a:p>
            <a:r>
              <a:t>KIA ST GEORGE: 8.0% (2025 2.5%)</a:t>
            </a:r>
          </a:p>
          <a:p>
            <a:r>
              <a:t>NISSAN: 7.5% (2025 5.3%)</a:t>
            </a:r>
          </a:p>
          <a:p>
            <a:r>
              <a:t>VW ST GEORGE: 5.6% (2025 3.9%)</a:t>
            </a:r>
          </a:p>
          <a:p>
            <a:r>
              <a:t>TOYOTA SPOKANE: 4.3% (2025 2.6%)</a:t>
            </a:r>
          </a:p>
          <a:p>
            <a:r>
              <a:t>CDJR POST FALLS: 4.2% (2025 1.8%)</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every store, gross a year above (+) or below (-) the benchmark at the store's own gross per service; group gross per service $129.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4.2%, −$225K a year at $90/service</a:t>
            </a:r>
          </a:p>
          <a:p>
            <a:r>
              <a:t>TOYOTA FLAGSTAFF: 9.7%, −$90K a year at $84/service</a:t>
            </a:r>
          </a:p>
          <a:p>
            <a:r>
              <a:t>NISSAN: 7.4%, −$83K a year at $119/service</a:t>
            </a:r>
          </a:p>
          <a:p>
            <a:r>
              <a:t>KIA LV: 9.7%, −$77K a year at $135/service</a:t>
            </a:r>
          </a:p>
          <a:p>
            <a:r>
              <a:t>CHEVY LV: 12.8%, −$75K a year at $136/service</a:t>
            </a:r>
          </a:p>
          <a:p>
            <a:r>
              <a:t>CDJR POST FALLS: 4.2%, −$57K a year at $74/service</a:t>
            </a:r>
          </a:p>
          <a:p>
            <a:r>
              <a:t>TOYOTA PRESCOTT: 12.3%, −$49K a year at $103/service</a:t>
            </a:r>
          </a:p>
          <a:p>
            <a:r>
              <a:t>KIA ST GEORGE: 8.0%, −$38K a year at $105/service</a:t>
            </a:r>
          </a:p>
          <a:p>
            <a:r>
              <a:t>HONDA SPOKANE: 12.5%, −$36K a year at $124/service</a:t>
            </a:r>
          </a:p>
          <a:p>
            <a:r>
              <a:t>AUDI RENO: 11.8%, −$34K a year at $230/service</a:t>
            </a:r>
          </a:p>
          <a:p>
            <a:r>
              <a:t>TOYOTA HENDERSON: 14.5%, −$33K a year at $102/service</a:t>
            </a:r>
          </a:p>
          <a:p>
            <a:r>
              <a:t>LEXUS: 11.3%, −$33K a year at $147/service</a:t>
            </a:r>
          </a:p>
          <a:p>
            <a:r>
              <a:t>LINCOLN: 8.4%, −$26K a year at $114/service</a:t>
            </a:r>
          </a:p>
          <a:p>
            <a:r>
              <a:t>CHEVY GMC BULLHEAD: 11.1%, −$25K a year at $78/service</a:t>
            </a:r>
          </a:p>
          <a:p>
            <a:r>
              <a:t>VW HENDERSON: 13.6%, −$23K a year at $245/service</a:t>
            </a:r>
          </a:p>
          <a:p>
            <a:r>
              <a:t>SUBARU ST GEORGE: 11.0%, −$23K a year at $78/service</a:t>
            </a:r>
          </a:p>
          <a:p>
            <a:r>
              <a:t>HONDA FLAGSTAFF: 11.0%, −$21K a year at $100/service</a:t>
            </a:r>
          </a:p>
          <a:p>
            <a:r>
              <a:t>VW ST GEORGE: 5.6%, −$18K a year at $74/service</a:t>
            </a:r>
          </a:p>
          <a:p>
            <a:r>
              <a:t>SUBARU PRESCOTT: 12.5%, −$12K a year at $73/service</a:t>
            </a:r>
          </a:p>
          <a:p>
            <a:r>
              <a:t>GMC PRESCOTT: 11.7%, −$11K a year at $85/service</a:t>
            </a:r>
          </a:p>
          <a:p>
            <a:r>
              <a:t>LR RENO: 12.8%, −$10K a year at $259/service (capped; raw $715/service)</a:t>
            </a:r>
          </a:p>
          <a:p>
            <a:r>
              <a:t>SUBARU LV: 14.5%, −$10K a year at $117/service</a:t>
            </a:r>
          </a:p>
          <a:p>
            <a:r>
              <a:t>CADILLAC: 13.8%, −$9K a year at $115/service</a:t>
            </a:r>
          </a:p>
          <a:p>
            <a:r>
              <a:t>VOLVO: 13.8%, −$7K a year at $142/service</a:t>
            </a:r>
          </a:p>
          <a:p>
            <a:r>
              <a:t>HYUNDAI ST GEORGE: 14.8%, −$865 a year at $121/service</a:t>
            </a:r>
          </a:p>
          <a:p>
            <a:r>
              <a:t>ACURA: 17.5%, +$14K a year at $117/service</a:t>
            </a:r>
          </a:p>
          <a:p>
            <a:r>
              <a:t>MAZDA: 16.6%, +$17K a year at $132/service</a:t>
            </a:r>
          </a:p>
          <a:p>
            <a:r>
              <a:t>LR LV: 17.3%, +$23K a year at $210/service</a:t>
            </a:r>
          </a:p>
          <a:p>
            <a:r>
              <a:t>HONDA NORTH: 16.1%, +$27K a year at $112/service</a:t>
            </a:r>
          </a:p>
          <a:p>
            <a:r>
              <a:t>LR HENDERSON: 24.4%, +$41K a year at $209/service</a:t>
            </a:r>
          </a:p>
          <a:p>
            <a:r>
              <a:t>HYUNDAI PRESCOTT: 21.7%, +$42K a year at $228/service</a:t>
            </a:r>
          </a:p>
          <a:p>
            <a:r>
              <a:t>AUDI HENDERSON: 27.5%, +$163K a year at $259/service (capped; raw $390/service)</a:t>
            </a:r>
          </a:p>
          <a:p>
            <a:r>
              <a:t>HONDA HENDERSON: 21.3%, +$229K a year at $121/service</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Alignment %, Jan-Sep 2026 vs 2025, in points. Moving now: Jul-Sep 2026 vs Jan-Mar 2026, each store against itself; the group moved +0.2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BALANCE % = balance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15% benchmark, red below. CHECK OP-CODE MAPPING - under 0.5%: TOYOTA SPOKANE, LEXUS, AUDI RENO, AUDI HENDERSON, VW ST GEORGE. Near zero in 2025, so year-over-year gain may be mapping: HONDA SPOKANE, SUBARU PRESCOTT.</a:t>
            </a:r>
          </a:p>
          <a:p>
            <a:r>
              <a:t>LR HENDERSON: 27.0% (2025 22.9%)</a:t>
            </a:r>
          </a:p>
          <a:p>
            <a:r>
              <a:t>HONDA HENDERSON: 18.4% (2025 17.7%)</a:t>
            </a:r>
          </a:p>
          <a:p>
            <a:r>
              <a:t>LR LV: 17.0% (2025 3.4%)</a:t>
            </a:r>
          </a:p>
          <a:p>
            <a:r>
              <a:t>LR RENO: 17.0% (2025 16.3%)</a:t>
            </a:r>
          </a:p>
          <a:p>
            <a:r>
              <a:t>SUBARU PRESCOTT: 15.0% (2025 0.1%)</a:t>
            </a:r>
          </a:p>
          <a:p>
            <a:r>
              <a:t>ACURA: 14.1% (2025 10.3%)</a:t>
            </a:r>
          </a:p>
          <a:p>
            <a:r>
              <a:t>HYUNDAI PRESCOTT: 13.5% (2025 8.9%)</a:t>
            </a:r>
          </a:p>
          <a:p>
            <a:r>
              <a:t>MAZDA: 13.2% (2025 6.5%)</a:t>
            </a:r>
          </a:p>
          <a:p>
            <a:r>
              <a:t>HONDA NORTH: 12.0% (2025 11.3%)</a:t>
            </a:r>
          </a:p>
          <a:p>
            <a:r>
              <a:t>VOLVO: 11.7% (2025 10.9%)</a:t>
            </a:r>
          </a:p>
          <a:p>
            <a:r>
              <a:t>TOYOTA HENDERSON: 11.2% (2025 11.7%)</a:t>
            </a:r>
          </a:p>
          <a:p>
            <a:r>
              <a:t>SUBARU LV: 10.2% (2025 11.3%)</a:t>
            </a:r>
          </a:p>
          <a:p>
            <a:r>
              <a:t>CHEVY GMC BULLHEAD: 9.1% (2025 6.5%)</a:t>
            </a:r>
          </a:p>
          <a:p>
            <a:r>
              <a:t>VW HENDERSON: 8.3% (2025 7.0%)</a:t>
            </a:r>
          </a:p>
          <a:p>
            <a:r>
              <a:t>GMC PRESCOTT: 7.8% (2025 2.0%)</a:t>
            </a:r>
          </a:p>
          <a:p>
            <a:r>
              <a:t>KIA ST GEORGE: 7.7% (2025 1.1%)</a:t>
            </a:r>
          </a:p>
          <a:p>
            <a:r>
              <a:t>CHEVY LV: 7.3% (2025 4.2%)</a:t>
            </a:r>
          </a:p>
          <a:p>
            <a:r>
              <a:t>TOYOTA PRESCOTT: 6.2% (2025 3.3%)</a:t>
            </a:r>
          </a:p>
          <a:p>
            <a:r>
              <a:t>CADILLAC: 6.0% (2025 2.6%)</a:t>
            </a:r>
          </a:p>
          <a:p>
            <a:r>
              <a:t>KIA LV: 5.2% (2025 6.6%)</a:t>
            </a:r>
          </a:p>
          <a:p>
            <a:r>
              <a:t>TOYOTA FLAGSTAFF: 4.9% (2025 3.7%)</a:t>
            </a:r>
          </a:p>
          <a:p>
            <a:r>
              <a:t>SUBARU ST GEORGE: 3.7% (2025 5.3%)</a:t>
            </a:r>
          </a:p>
          <a:p>
            <a:r>
              <a:t>HONDA SPOKANE: 2.2% (2025 0.1%)</a:t>
            </a:r>
          </a:p>
          <a:p>
            <a:r>
              <a:t>LINCOLN: 1.7% (2025 0.0%)</a:t>
            </a:r>
          </a:p>
          <a:p>
            <a:r>
              <a:t>HONDA FLAGSTAFF: 1.3% (2025 0.2%)</a:t>
            </a:r>
          </a:p>
          <a:p>
            <a:r>
              <a:t>CDJR POST FALLS: 1.3% (2025 0.2%)</a:t>
            </a:r>
          </a:p>
          <a:p>
            <a:r>
              <a:t>HYUNDAI ST GEORGE: 1.2% (2025 0.4%)</a:t>
            </a:r>
          </a:p>
          <a:p>
            <a:r>
              <a:t>NISSAN: 1.1% (2025 2.6%)</a:t>
            </a:r>
          </a:p>
          <a:p>
            <a:r>
              <a:t>TOYOTA SPOKANE: 0.5% (2025 0.3%)</a:t>
            </a:r>
          </a:p>
          <a:p>
            <a:r>
              <a:t>VW ST GEORGE: 0.4% (2025 0.7%)</a:t>
            </a:r>
          </a:p>
          <a:p>
            <a:r>
              <a:t>AUDI RENO: 0.1% (2025 0.2%)</a:t>
            </a:r>
          </a:p>
          <a:p>
            <a:r>
              <a:t>LEXUS: 0.1% (2025 0.1%)</a:t>
            </a:r>
          </a:p>
          <a:p>
            <a:r>
              <a:t>AUDI HENDERSON: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Tire Balance: every store, gross a year above (+) or below (-) the benchmark at the store's own gross per service; group gross per service $75.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TOYOTA SPOKANE: 0.4%, −$180K a year at $53/service</a:t>
            </a:r>
          </a:p>
          <a:p>
            <a:r>
              <a:t>TOYOTA HENDERSON: 11.2%, −$147K a year at $55/service</a:t>
            </a:r>
          </a:p>
          <a:p>
            <a:r>
              <a:t>TOYOTA PRESCOTT: 6.1%, −$132K a year at $83/service</a:t>
            </a:r>
          </a:p>
          <a:p>
            <a:r>
              <a:t>SUBARU ST GEORGE: 3.6%, −$125K a year at $149/service (capped; raw $247/service)</a:t>
            </a:r>
          </a:p>
          <a:p>
            <a:r>
              <a:t>TOYOTA FLAGSTAFF: 4.9%, −$109K a year at $54/service</a:t>
            </a:r>
          </a:p>
          <a:p>
            <a:r>
              <a:t>CHEVY LV: 7.3%, −$106K a year at $53/service</a:t>
            </a:r>
          </a:p>
          <a:p>
            <a:r>
              <a:t>HONDA SPOKANE: 2.1%, −$80K a year at $52/service</a:t>
            </a:r>
          </a:p>
          <a:p>
            <a:r>
              <a:t>NISSAN: 1.0%, −$77K a year at $59/service</a:t>
            </a:r>
          </a:p>
          <a:p>
            <a:r>
              <a:t>CDJR POST FALLS: 1.2%, −$73K a year at $75/service</a:t>
            </a:r>
          </a:p>
          <a:p>
            <a:r>
              <a:t>KIA LV: 5.2%, −$72K a year at $68/service</a:t>
            </a:r>
          </a:p>
          <a:p>
            <a:r>
              <a:t>LEXUS: 0.0%, −$68K a year at $75/service (group avg)</a:t>
            </a:r>
          </a:p>
          <a:p>
            <a:r>
              <a:t>SUBARU LV: 10.2%, −$68K a year at $75/service</a:t>
            </a:r>
          </a:p>
          <a:p>
            <a:r>
              <a:t>AUDI HENDERSON: 0.0%, −$56K a year at $75/service (group avg)</a:t>
            </a:r>
          </a:p>
          <a:p>
            <a:r>
              <a:t>AUDI RENO: 0.1%, −$52K a year at $75/service (group avg)</a:t>
            </a:r>
          </a:p>
          <a:p>
            <a:r>
              <a:t>HONDA FLAGSTAFF: 1.3%, −$52K a year at $70/service</a:t>
            </a:r>
          </a:p>
          <a:p>
            <a:r>
              <a:t>HONDA NORTH: 12.0%, −$38K a year at $64/service</a:t>
            </a:r>
          </a:p>
          <a:p>
            <a:r>
              <a:t>HYUNDAI ST GEORGE: 1.2%, −$36K a year at $58/service</a:t>
            </a:r>
          </a:p>
          <a:p>
            <a:r>
              <a:t>LINCOLN: 1.6%, −$31K a year at $66/service</a:t>
            </a:r>
          </a:p>
          <a:p>
            <a:r>
              <a:t>VW ST GEORGE: 0.4%, −$28K a year at $75/service (group avg)</a:t>
            </a:r>
          </a:p>
          <a:p>
            <a:r>
              <a:t>VW HENDERSON: 8.2%, −$27K a year at $60/service</a:t>
            </a:r>
          </a:p>
          <a:p>
            <a:r>
              <a:t>GMC PRESCOTT: 7.7%, −$27K a year at $90/service</a:t>
            </a:r>
          </a:p>
          <a:p>
            <a:r>
              <a:t>CHEVY GMC BULLHEAD: 9.0%, −$21K a year at $42/service</a:t>
            </a:r>
          </a:p>
          <a:p>
            <a:r>
              <a:t>KIA ST GEORGE: 7.7%, −$18K a year at $48/service</a:t>
            </a:r>
          </a:p>
          <a:p>
            <a:r>
              <a:t>CADILLAC: 5.9%, −$14K a year at $22/service</a:t>
            </a:r>
          </a:p>
          <a:p>
            <a:r>
              <a:t>MAZDA: 13.1%, −$11K a year at $79/service</a:t>
            </a:r>
          </a:p>
          <a:p>
            <a:r>
              <a:t>VOLVO: 11.7%, −$8K a year at $51/service</a:t>
            </a:r>
          </a:p>
          <a:p>
            <a:r>
              <a:t>HYUNDAI PRESCOTT: 13.5%, −$6K a year at $149/service (capped; raw $311/service)</a:t>
            </a:r>
          </a:p>
          <a:p>
            <a:r>
              <a:t>ACURA: 14.1%, −$3K a year at $64/service</a:t>
            </a:r>
          </a:p>
          <a:p>
            <a:r>
              <a:t>SUBARU PRESCOTT: 14.9%, −$34 a year at $34/service</a:t>
            </a:r>
          </a:p>
          <a:p>
            <a:r>
              <a:t>LR RENO: 16.9%, +$6K a year at $149/service (capped; raw $647/service)</a:t>
            </a:r>
          </a:p>
          <a:p>
            <a:r>
              <a:t>LR LV: 16.9%, +$14K a year at $149/service</a:t>
            </a:r>
          </a:p>
          <a:p>
            <a:r>
              <a:t>LR HENDERSON: 27.0%, +$31K a year at $122/service</a:t>
            </a:r>
          </a:p>
          <a:p>
            <a:r>
              <a:t>HONDA HENDERSON: 18.4%, +$70K a year at $68/service</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Balance %, Jan-Sep 2026 vs 2025, in points. Moving now: Jul-Sep 2026 vs Jan-Mar 2026, each store against itself; the group moved +0.1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BRAKE FLUID % = brake fluid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10% benchmark, red below.</a:t>
            </a:r>
          </a:p>
          <a:p>
            <a:r>
              <a:t>LR LV: 20.7% (2025 15.2%)</a:t>
            </a:r>
          </a:p>
          <a:p>
            <a:r>
              <a:t>HONDA HENDERSON: 15.6% (2025 12.9%)</a:t>
            </a:r>
          </a:p>
          <a:p>
            <a:r>
              <a:t>LR HENDERSON: 14.3% (2025 9.0%)</a:t>
            </a:r>
          </a:p>
          <a:p>
            <a:r>
              <a:t>ACURA: 12.7% (2025 8.6%)</a:t>
            </a:r>
          </a:p>
          <a:p>
            <a:r>
              <a:t>HONDA NORTH: 12.1% (2025 13.1%)</a:t>
            </a:r>
          </a:p>
          <a:p>
            <a:r>
              <a:t>VOLVO: 11.9% (2025 12.1%)</a:t>
            </a:r>
          </a:p>
          <a:p>
            <a:r>
              <a:t>NISSAN: 11.6% (2025 3.8%)</a:t>
            </a:r>
          </a:p>
          <a:p>
            <a:r>
              <a:t>SUBARU ST GEORGE: 10.8% (2025 11.0%)</a:t>
            </a:r>
          </a:p>
          <a:p>
            <a:r>
              <a:t>SUBARU PRESCOTT: 10.6% (2025 6.4%)</a:t>
            </a:r>
          </a:p>
          <a:p>
            <a:r>
              <a:t>HONDA SPOKANE: 10.3% (2025 9.8%)</a:t>
            </a:r>
          </a:p>
          <a:p>
            <a:r>
              <a:t>SUBARU LV: 10.1% (2025 9.3%)</a:t>
            </a:r>
          </a:p>
          <a:p>
            <a:r>
              <a:t>TOYOTA HENDERSON: 10.1% (2025 9.7%)</a:t>
            </a:r>
          </a:p>
          <a:p>
            <a:r>
              <a:t>HYUNDAI PRESCOTT: 9.7% (2025 8.1%)</a:t>
            </a:r>
          </a:p>
          <a:p>
            <a:r>
              <a:t>VW HENDERSON: 9.5% (2025 7.8%)</a:t>
            </a:r>
          </a:p>
          <a:p>
            <a:r>
              <a:t>MAZDA: 8.5% (2025 4.6%)</a:t>
            </a:r>
          </a:p>
          <a:p>
            <a:r>
              <a:t>TOYOTA PRESCOTT: 8.4% (2025 6.1%)</a:t>
            </a:r>
          </a:p>
          <a:p>
            <a:r>
              <a:t>LEXUS: 8.4% (2025 4.9%)</a:t>
            </a:r>
          </a:p>
          <a:p>
            <a:r>
              <a:t>KIA LV: 8.3% (2025 7.2%)</a:t>
            </a:r>
          </a:p>
          <a:p>
            <a:r>
              <a:t>TOYOTA FLAGSTAFF: 8.1% (2025 7.3%)</a:t>
            </a:r>
          </a:p>
          <a:p>
            <a:r>
              <a:t>LINCOLN: 7.5% (2025 2.4%)</a:t>
            </a:r>
          </a:p>
          <a:p>
            <a:r>
              <a:t>LR RENO: 7.2% (2025 2.5%)</a:t>
            </a:r>
          </a:p>
          <a:p>
            <a:r>
              <a:t>CHEVY GMC BULLHEAD: 7.1% (2025 3.8%)</a:t>
            </a:r>
          </a:p>
          <a:p>
            <a:r>
              <a:t>TOYOTA SPOKANE: 7.0% (2025 6.8%)</a:t>
            </a:r>
          </a:p>
          <a:p>
            <a:r>
              <a:t>GMC PRESCOTT: 6.1% (2025 4.6%)</a:t>
            </a:r>
          </a:p>
          <a:p>
            <a:r>
              <a:t>KIA ST GEORGE: 6.0% (2025 3.8%)</a:t>
            </a:r>
          </a:p>
          <a:p>
            <a:r>
              <a:t>CHEVY LV: 5.8% (2025 5.3%)</a:t>
            </a:r>
          </a:p>
          <a:p>
            <a:r>
              <a:t>VW ST GEORGE: 5.4% (2025 4.0%)</a:t>
            </a:r>
          </a:p>
          <a:p>
            <a:r>
              <a:t>HYUNDAI ST GEORGE: 4.7% (2025 1.6%)</a:t>
            </a:r>
          </a:p>
          <a:p>
            <a:r>
              <a:t>CADILLAC: 4.7% (2025 4.1%)</a:t>
            </a:r>
          </a:p>
          <a:p>
            <a:r>
              <a:t>CDJR POST FALLS: 4.2% (2025 6.0%)</a:t>
            </a:r>
          </a:p>
          <a:p>
            <a:r>
              <a:t>HONDA FLAGSTAFF: 3.2% (2025 2.4%)</a:t>
            </a:r>
          </a:p>
          <a:p>
            <a:r>
              <a:t>AUDI HENDERSON: 2.5% (2025 1.8%)</a:t>
            </a:r>
          </a:p>
          <a:p>
            <a:r>
              <a:t>AUDI RENO: 1.9% (2025 0.5%)</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Brake Fluid: every store, gross a year above (+) or below (-) the benchmark at the store's own gross per service; group gross per service $189.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5.7%, −$151K a year at $138/service</a:t>
            </a:r>
          </a:p>
          <a:p>
            <a:r>
              <a:t>TOYOTA SPOKANE: 7.0%, −$80K a year at $117/service</a:t>
            </a:r>
          </a:p>
          <a:p>
            <a:r>
              <a:t>AUDI RENO: 1.9%, −$78K a year at $206/service</a:t>
            </a:r>
          </a:p>
          <a:p>
            <a:r>
              <a:t>AUDI HENDERSON: 2.4%, −$74K a year at $196/service</a:t>
            </a:r>
          </a:p>
          <a:p>
            <a:r>
              <a:t>HONDA FLAGSTAFF: 3.1%, −$67K a year at $184/service</a:t>
            </a:r>
          </a:p>
          <a:p>
            <a:r>
              <a:t>CADILLAC: 4.6%, −$57K a year at $150/service</a:t>
            </a:r>
          </a:p>
          <a:p>
            <a:r>
              <a:t>CDJR POST FALLS: 4.2%, −$53K a year at $128/service</a:t>
            </a:r>
          </a:p>
          <a:p>
            <a:r>
              <a:t>TOYOTA FLAGSTAFF: 8.0%, −$48K a year at $123/service</a:t>
            </a:r>
          </a:p>
          <a:p>
            <a:r>
              <a:t>TOYOTA PRESCOTT: 8.4%, −$32K a year at $112/service</a:t>
            </a:r>
          </a:p>
          <a:p>
            <a:r>
              <a:t>HYUNDAI ST GEORGE: 4.7%, −$32K a year at $134/service</a:t>
            </a:r>
          </a:p>
          <a:p>
            <a:r>
              <a:t>KIA ST GEORGE: 5.9%, −$25K a year at $119/service</a:t>
            </a:r>
          </a:p>
          <a:p>
            <a:r>
              <a:t>KIA LV: 8.2%, −$22K a year at $120/service</a:t>
            </a:r>
          </a:p>
          <a:p>
            <a:r>
              <a:t>CHEVY GMC BULLHEAD: 7.0%, −$21K a year at $87/service</a:t>
            </a:r>
          </a:p>
          <a:p>
            <a:r>
              <a:t>GMC PRESCOTT: 6.0%, −$21K a year at $127/service</a:t>
            </a:r>
          </a:p>
          <a:p>
            <a:r>
              <a:t>LR RENO: 7.2%, −$20K a year at $377/service (capped; raw $1,380/service)</a:t>
            </a:r>
          </a:p>
          <a:p>
            <a:r>
              <a:t>MAZDA: 8.4%, −$18K a year at $154/service</a:t>
            </a:r>
          </a:p>
          <a:p>
            <a:r>
              <a:t>LEXUS: 8.3%, −$15K a year at $154/service</a:t>
            </a:r>
          </a:p>
          <a:p>
            <a:r>
              <a:t>VW ST GEORGE: 5.4%, −$13K a year at $111/service</a:t>
            </a:r>
          </a:p>
          <a:p>
            <a:r>
              <a:t>LINCOLN: 7.5%, −$11K a year at $126/service</a:t>
            </a:r>
          </a:p>
          <a:p>
            <a:r>
              <a:t>VW HENDERSON: 9.5%, −$4K a year at $134/service</a:t>
            </a:r>
          </a:p>
          <a:p>
            <a:r>
              <a:t>HYUNDAI PRESCOTT: 9.6%, −$3K a year at $354/service</a:t>
            </a:r>
          </a:p>
          <a:p>
            <a:r>
              <a:t>HONDA SPOKANE: 10.3%, +$5K a year at $126/service</a:t>
            </a:r>
          </a:p>
          <a:p>
            <a:r>
              <a:t>TOYOTA HENDERSON: 10.0%, +$7K a year at $141/service</a:t>
            </a:r>
          </a:p>
          <a:p>
            <a:r>
              <a:t>SUBARU LV: 10.1%, +$9K a year at $333/service</a:t>
            </a:r>
          </a:p>
          <a:p>
            <a:r>
              <a:t>SUBARU PRESCOTT: 10.6%, +$16K a year at $377/service (capped; raw $380/service)</a:t>
            </a:r>
          </a:p>
          <a:p>
            <a:r>
              <a:t>ACURA: 12.7%, +$20K a year at $147/service</a:t>
            </a:r>
          </a:p>
          <a:p>
            <a:r>
              <a:t>SUBARU ST GEORGE: 10.7%, +$21K a year at $377/service (capped; raw $489/service)</a:t>
            </a:r>
          </a:p>
          <a:p>
            <a:r>
              <a:t>NISSAN: 11.6%, +$24K a year at $155/service</a:t>
            </a:r>
          </a:p>
          <a:p>
            <a:r>
              <a:t>VOLVO: 11.9%, +$33K a year at $377/service (capped; raw $538/service)</a:t>
            </a:r>
          </a:p>
          <a:p>
            <a:r>
              <a:t>LR HENDERSON: 14.3%, +$34K a year at $377/service (capped; raw $709/service)</a:t>
            </a:r>
          </a:p>
          <a:p>
            <a:r>
              <a:t>HONDA NORTH: 12.1%, +$67K a year at $160/service</a:t>
            </a:r>
          </a:p>
          <a:p>
            <a:r>
              <a:t>LR LV: 20.6%, +$187K a year at $377/service (capped; raw $424/service)</a:t>
            </a:r>
          </a:p>
          <a:p>
            <a:r>
              <a:t>HONDA HENDERSON: 15.5%, +$260K a year at $155/service</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Brake Fluid %, Jan-Sep 2026 vs 2025, in points.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FUEL SERVICE % = fuel service ROs ÷ customer-pay ROs on the op-code report basis. YTD from YTD totals, not the mean of months.</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Jan-Sep 2026 YTD; green at or above the 7.5% benchmark, red below. CHECK OP-CODE MAPPING - under 0.5%: VW HENDERSON, AUDI HENDERSON, VOLVO. Near zero in 2025, so year-over-year gain may be mapping: HONDA SPOKANE, SUBARU ST GEORGE, LR LV, LR RENO.</a:t>
            </a:r>
          </a:p>
          <a:p>
            <a:r>
              <a:t>SUBARU ST GEORGE: 13.8% (2025 0.0%)</a:t>
            </a:r>
          </a:p>
          <a:p>
            <a:r>
              <a:t>HONDA HENDERSON: 12.0% (2025 10.4%)</a:t>
            </a:r>
          </a:p>
          <a:p>
            <a:r>
              <a:t>SUBARU PRESCOTT: 9.8% (2025 5.9%)</a:t>
            </a:r>
          </a:p>
          <a:p>
            <a:r>
              <a:t>ACURA: 9.4% (2025 5.4%)</a:t>
            </a:r>
          </a:p>
          <a:p>
            <a:r>
              <a:t>KIA ST GEORGE: 8.9% (2025 5.6%)</a:t>
            </a:r>
          </a:p>
          <a:p>
            <a:r>
              <a:t>LINCOLN: 8.2% (2025 2.1%)</a:t>
            </a:r>
          </a:p>
          <a:p>
            <a:r>
              <a:t>HONDA NORTH: 7.7% (2025 5.3%)</a:t>
            </a:r>
          </a:p>
          <a:p>
            <a:r>
              <a:t>HYUNDAI PRESCOTT: 7.4% (2025 6.7%)</a:t>
            </a:r>
          </a:p>
          <a:p>
            <a:r>
              <a:t>SUBARU LV: 7.1% (2025 8.2%)</a:t>
            </a:r>
          </a:p>
          <a:p>
            <a:r>
              <a:t>TOYOTA PRESCOTT: 6.5% (2025 5.0%)</a:t>
            </a:r>
          </a:p>
          <a:p>
            <a:r>
              <a:t>TOYOTA HENDERSON: 6.0% (2025 6.1%)</a:t>
            </a:r>
          </a:p>
          <a:p>
            <a:r>
              <a:t>HYUNDAI ST GEORGE: 5.9% (2025 2.4%)</a:t>
            </a:r>
          </a:p>
          <a:p>
            <a:r>
              <a:t>TOYOTA SPOKANE: 5.8% (2025 6.1%)</a:t>
            </a:r>
          </a:p>
          <a:p>
            <a:r>
              <a:t>LR LV: 5.5% (2025 0.2%)</a:t>
            </a:r>
          </a:p>
          <a:p>
            <a:r>
              <a:t>CHEVY LV: 5.3% (2025 4.8%)</a:t>
            </a:r>
          </a:p>
          <a:p>
            <a:r>
              <a:t>MAZDA: 5.2% (2025 1.4%)</a:t>
            </a:r>
          </a:p>
          <a:p>
            <a:r>
              <a:t>CADILLAC: 5.1% (2025 4.4%)</a:t>
            </a:r>
          </a:p>
          <a:p>
            <a:r>
              <a:t>LR RENO: 4.6% (2025 0.0%)</a:t>
            </a:r>
          </a:p>
          <a:p>
            <a:r>
              <a:t>LEXUS: 4.3% (2025 1.9%)</a:t>
            </a:r>
          </a:p>
          <a:p>
            <a:r>
              <a:t>NISSAN: 4.2% (2025 0.8%)</a:t>
            </a:r>
          </a:p>
          <a:p>
            <a:r>
              <a:t>GMC PRESCOTT: 3.6% (2025 3.0%)</a:t>
            </a:r>
          </a:p>
          <a:p>
            <a:r>
              <a:t>HONDA SPOKANE: 3.2% (2025 0.0%)</a:t>
            </a:r>
          </a:p>
          <a:p>
            <a:r>
              <a:t>KIA LV: 3.2% (2025 2.9%)</a:t>
            </a:r>
          </a:p>
          <a:p>
            <a:r>
              <a:t>CDJR POST FALLS: 3.0% (2025 4.0%)</a:t>
            </a:r>
          </a:p>
          <a:p>
            <a:r>
              <a:t>CHEVY GMC BULLHEAD: 2.7% (2025 1.8%)</a:t>
            </a:r>
          </a:p>
          <a:p>
            <a:r>
              <a:t>VW ST GEORGE: 2.7% (2025 2.4%)</a:t>
            </a:r>
          </a:p>
          <a:p>
            <a:r>
              <a:t>LR HENDERSON: 2.6% (2025 2.4%)</a:t>
            </a:r>
          </a:p>
          <a:p>
            <a:r>
              <a:t>TOYOTA FLAGSTAFF: 1.7% (2025 1.7%)</a:t>
            </a:r>
          </a:p>
          <a:p>
            <a:r>
              <a:t>AUDI RENO: 0.8% (2025 0.0%)</a:t>
            </a:r>
          </a:p>
          <a:p>
            <a:r>
              <a:t>HONDA FLAGSTAFF: 0.7% (2025 0.7%)</a:t>
            </a:r>
          </a:p>
          <a:p>
            <a:r>
              <a:t>VW HENDERSON: 0.0% (2025 0.0%)</a:t>
            </a:r>
          </a:p>
          <a:p>
            <a:r>
              <a:t>AUDI HENDERSON: 0.0% (2025 0.0%)</a:t>
            </a:r>
          </a:p>
          <a:p>
            <a:r>
              <a:t>VOLVO: 0.0% (2025 0.0%)</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Fuel System Service: every store, gross a year above (+) or below (-) the benchmark at the store's own gross per service; group gross per service $165. Rate = Jan-Sep closing %.Near-zero stores are included on purpose (Noah, Oct 19 2026): some stores sell little of a service by OEM recommendation or local habit (e.g. Spokane customers swap seasonal tires, so fewer balances), but not every customer fits that pattern, so the opportunity is real. A store with a high RO count can show more opportunity than one selling at zero.</a:t>
            </a:r>
          </a:p>
          <a:p>
            <a:r>
              <a:t>CHEVY LV: 5.2%, −$142K a year at $243/service</a:t>
            </a:r>
          </a:p>
          <a:p>
            <a:r>
              <a:t>TOYOTA HENDERSON: 6.0%, −$129K a year at $122/service</a:t>
            </a:r>
          </a:p>
          <a:p>
            <a:r>
              <a:t>TOYOTA FLAGSTAFF: 1.6%, −$109K a year at $93/service</a:t>
            </a:r>
          </a:p>
          <a:p>
            <a:r>
              <a:t>VW HENDERSON: 0.0%, −$85K a year at $165/service (group avg)</a:t>
            </a:r>
          </a:p>
          <a:p>
            <a:r>
              <a:t>KIA LV: 3.2%, −$76K a year at $163/service</a:t>
            </a:r>
          </a:p>
          <a:p>
            <a:r>
              <a:t>HONDA SPOKANE: 3.2%, −$75K a year at $147/service</a:t>
            </a:r>
          </a:p>
          <a:p>
            <a:r>
              <a:t>CHEVY GMC BULLHEAD: 2.7%, −$65K a year at $163/service</a:t>
            </a:r>
          </a:p>
          <a:p>
            <a:r>
              <a:t>NISSAN: 4.1%, −$64K a year at $206/service</a:t>
            </a:r>
          </a:p>
          <a:p>
            <a:r>
              <a:t>AUDI HENDERSON: 0.0%, −$62K a year at $165/service (group avg)</a:t>
            </a:r>
          </a:p>
          <a:p>
            <a:r>
              <a:t>CDJR POST FALLS: 3.0%, −$62K a year at $192/service</a:t>
            </a:r>
          </a:p>
          <a:p>
            <a:r>
              <a:t>HONDA FLAGSTAFF: 0.7%, −$60K a year at $165/service (group avg)</a:t>
            </a:r>
          </a:p>
          <a:p>
            <a:r>
              <a:t>TOYOTA SPOKANE: 5.8%, −$56K a year at $145/service</a:t>
            </a:r>
          </a:p>
          <a:p>
            <a:r>
              <a:t>VOLVO: 0.0%, −$56K a year at $165/service (group avg)</a:t>
            </a:r>
          </a:p>
          <a:p>
            <a:r>
              <a:t>AUDI RENO: 0.8%, −$51K a year at $165/service (group avg)</a:t>
            </a:r>
          </a:p>
          <a:p>
            <a:r>
              <a:t>CADILLAC: 5.1%, −$46K a year at $269/service</a:t>
            </a:r>
          </a:p>
          <a:p>
            <a:r>
              <a:t>LR HENDERSON: 2.5%, −$34K a year at $329/service (capped; raw $774/service)</a:t>
            </a:r>
          </a:p>
          <a:p>
            <a:r>
              <a:t>VW ST GEORGE: 2.7%, −$29K a year at $236/service</a:t>
            </a:r>
          </a:p>
          <a:p>
            <a:r>
              <a:t>MAZDA: 5.2%, −$26K a year at $150/service</a:t>
            </a:r>
          </a:p>
          <a:p>
            <a:r>
              <a:t>LEXUS: 4.2%, −$25K a year at $128/service</a:t>
            </a:r>
          </a:p>
          <a:p>
            <a:r>
              <a:t>LR LV: 5.5%, −$24K a year at $258/service</a:t>
            </a:r>
          </a:p>
          <a:p>
            <a:r>
              <a:t>GMC PRESCOTT: 3.6%, −$21K a year at $133/service</a:t>
            </a:r>
          </a:p>
          <a:p>
            <a:r>
              <a:t>TOYOTA PRESCOTT: 6.4%, −$19K a year at $101/service</a:t>
            </a:r>
          </a:p>
          <a:p>
            <a:r>
              <a:t>LR RENO: 4.5%, −$18K a year at $329/service (capped; raw $1,631/service)</a:t>
            </a:r>
          </a:p>
          <a:p>
            <a:r>
              <a:t>HYUNDAI ST GEORGE: 5.8%, −$13K a year at $176/service</a:t>
            </a:r>
          </a:p>
          <a:p>
            <a:r>
              <a:t>SUBARU LV: 7.0%, −$10K a year at $130/service</a:t>
            </a:r>
          </a:p>
          <a:p>
            <a:r>
              <a:t>HYUNDAI PRESCOTT: 7.3%, −$1K a year at $329/service (capped; raw $459/service)</a:t>
            </a:r>
          </a:p>
          <a:p>
            <a:r>
              <a:t>HONDA NORTH: 7.6%, +$4K a year at $118/service</a:t>
            </a:r>
          </a:p>
          <a:p>
            <a:r>
              <a:t>LINCOLN: 8.2%, +$4K a year at $175/service</a:t>
            </a:r>
          </a:p>
          <a:p>
            <a:r>
              <a:t>KIA ST GEORGE: 8.9%, +$12K a year at $154/service</a:t>
            </a:r>
          </a:p>
          <a:p>
            <a:r>
              <a:t>ACURA: 9.3%, +$13K a year at $145/service</a:t>
            </a:r>
          </a:p>
          <a:p>
            <a:r>
              <a:t>SUBARU PRESCOTT: 9.7%, +$51K a year at $329/service (capped; raw $406/service)</a:t>
            </a:r>
          </a:p>
          <a:p>
            <a:r>
              <a:t>SUBARU ST GEORGE: 13.8%, +$72K a year at $153/service</a:t>
            </a:r>
          </a:p>
          <a:p>
            <a:r>
              <a:t>HONDA HENDERSON: 12.0%, +$185K a year at $135/service</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by close month. Same-store, INEOS excluded (opened 2026). GMC Prescott body shop labor excluded. Top and bottom five stores by change in Fuel Service %, Jan-Sep 2026 vs 2025, in points. Moving now: Jul-Sep 2026 vs Jan-Mar 2026, each store against itself; the group moved −0.3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 Alignment, tire balance, brake fluid and fuel system service added together, every store: gross a year above (+) or below (-) the four benchmarks, at the store's own gross per service. Below-benchmark services count against above-benchmark ones here.TOYOTA SPOKANE: −$541K a year against the four benchmarks; under 4 of 4</a:t>
            </a:r>
          </a:p>
          <a:p>
            <a:r>
              <a:t>CHEVY LV: −$475K a year against the four benchmarks; under 4 of 4</a:t>
            </a:r>
          </a:p>
          <a:p>
            <a:r>
              <a:t>TOYOTA FLAGSTAFF: −$356K a year against the four benchmarks; under 4 of 4</a:t>
            </a:r>
          </a:p>
          <a:p>
            <a:r>
              <a:t>TOYOTA HENDERSON: −$302K a year against the four benchmarks; under 3 of 4</a:t>
            </a:r>
          </a:p>
          <a:p>
            <a:r>
              <a:t>KIA LV: −$247K a year against the four benchmarks; under 4 of 4</a:t>
            </a:r>
          </a:p>
          <a:p>
            <a:r>
              <a:t>CDJR POST FALLS: −$245K a year against the four benchmarks; under 4 of 4</a:t>
            </a:r>
          </a:p>
          <a:p>
            <a:r>
              <a:t>TOYOTA PRESCOTT: −$233K a year against the four benchmarks; under 4 of 4</a:t>
            </a:r>
          </a:p>
          <a:p>
            <a:r>
              <a:t>AUDI RENO: −$216K a year against the four benchmarks; under 4 of 4</a:t>
            </a:r>
          </a:p>
          <a:p>
            <a:r>
              <a:t>HONDA FLAGSTAFF: −$200K a year against the four benchmarks; under 4 of 4</a:t>
            </a:r>
          </a:p>
          <a:p>
            <a:r>
              <a:t>NISSAN: −$200K a year against the four benchmarks; under 3 of 4</a:t>
            </a:r>
          </a:p>
          <a:p>
            <a:r>
              <a:t>HONDA SPOKANE: −$186K a year against the four benchmarks; under 3 of 4</a:t>
            </a:r>
          </a:p>
          <a:p>
            <a:r>
              <a:t>LEXUS: −$141K a year against the four benchmarks; under 4 of 4</a:t>
            </a:r>
          </a:p>
          <a:p>
            <a:r>
              <a:t>VW HENDERSON: −$140K a year against the four benchmarks; under 4 of 4</a:t>
            </a:r>
          </a:p>
          <a:p>
            <a:r>
              <a:t>CHEVY GMC BULLHEAD: −$133K a year against the four benchmarks; under 4 of 4</a:t>
            </a:r>
          </a:p>
          <a:p>
            <a:r>
              <a:t>CADILLAC: −$126K a year against the four benchmarks; under 4 of 4</a:t>
            </a:r>
          </a:p>
          <a:p>
            <a:r>
              <a:t>VW ST GEORGE: −$88K a year against the four benchmarks; under 4 of 4</a:t>
            </a:r>
          </a:p>
          <a:p>
            <a:r>
              <a:t>HYUNDAI ST GEORGE: −$81K a year against the four benchmarks; under 4 of 4</a:t>
            </a:r>
          </a:p>
          <a:p>
            <a:r>
              <a:t>GMC PRESCOTT: −$80K a year against the four benchmarks; under 4 of 4</a:t>
            </a:r>
          </a:p>
          <a:p>
            <a:r>
              <a:t>SUBARU LV: −$79K a year against the four benchmarks; under 3 of 4</a:t>
            </a:r>
          </a:p>
          <a:p>
            <a:r>
              <a:t>KIA ST GEORGE: −$70K a year against the four benchmarks; under 3 of 4</a:t>
            </a:r>
          </a:p>
          <a:p>
            <a:r>
              <a:t>LINCOLN: −$64K a year against the four benchmarks; under 3 of 4</a:t>
            </a:r>
          </a:p>
          <a:p>
            <a:r>
              <a:t>SUBARU ST GEORGE: −$55K a year against the four benchmarks; under 2 of 4</a:t>
            </a:r>
          </a:p>
          <a:p>
            <a:r>
              <a:t>LR RENO: −$43K a year against the four benchmarks; under 3 of 4</a:t>
            </a:r>
          </a:p>
          <a:p>
            <a:r>
              <a:t>VOLVO: −$38K a year against the four benchmarks; under 3 of 4</a:t>
            </a:r>
          </a:p>
          <a:p>
            <a:r>
              <a:t>MAZDA: −$38K a year against the four benchmarks; under 3 of 4</a:t>
            </a:r>
          </a:p>
          <a:p>
            <a:r>
              <a:t>AUDI HENDERSON: −$30K a year against the four benchmarks; under 3 of 4</a:t>
            </a:r>
          </a:p>
          <a:p>
            <a:r>
              <a:t>HYUNDAI PRESCOTT: +$31K a year against the four benchmarks; under 3 of 4</a:t>
            </a:r>
          </a:p>
          <a:p>
            <a:r>
              <a:t>ACURA: +$45K a year against the four benchmarks; under 1 of 4</a:t>
            </a:r>
          </a:p>
          <a:p>
            <a:r>
              <a:t>SUBARU PRESCOTT: +$55K a year against the four benchmarks; under 2 of 4</a:t>
            </a:r>
          </a:p>
          <a:p>
            <a:r>
              <a:t>HONDA NORTH: +$60K a year against the four benchmarks; under 1 of 4</a:t>
            </a:r>
          </a:p>
          <a:p>
            <a:r>
              <a:t>LR HENDERSON: +$72K a year against the four benchmarks; under 1 of 4</a:t>
            </a:r>
          </a:p>
          <a:p>
            <a:r>
              <a:t>LR LV: +$201K a year against the four benchmarks; under 1 of 4</a:t>
            </a:r>
          </a:p>
          <a:p>
            <a:r>
              <a:t>HONDA HENDERSON: +$743K a year against the four benchmarks; under 0 of 4</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Jan-Sep 2026 by close date, op code report basis. Same-store, INEOS excluded (opened 2026). Services short = benchmark x the store's CP ROs, minus the services it sold. Each service valued at the store's own labor + parts gross per service sold (group average where the store sold fewer than 30), capped at twice the group average because some flagged lines carry other work bundled on them. A year = Jan-Sep x 12 / 9. Stores at or above the benchmark are not shown and do not offset anyone.Talk track: every one of these cars is already on a customer-pay RO in our drive. The inspection and the menu find the need; the advisor presents it.</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Detail statement, Jan-Sep 2026, same-store. Kept = department gross less the department's own expenses. Vehicle sales = new + used departments plus F&amp;I income and F&amp;I compensation. Other income not assigned to a department (doc fees, packs, factory money, holdback: $87.2M net) and management fees are left out of both.PLACE: Internal section, after the section break and before Internal ELR (Noah, Oct 25).</a:t>
            </a:r>
          </a:p>
          <a:p>
            <a:r>
              <a:t>Talk track: a lot of stores see internal as service making money off sales. It isn't: sales prices a car off its cost, within reason, so a fair internal charge is part of the deal, and the gross lands in the department that keeps the most of it. Example: if sales makes $500 of gross on a car, the commissions, pay and expense that come out of it leave far less than the same $500 of internal gross keeps in service and parts.</a:t>
            </a:r>
          </a:p>
          <a:p>
            <a:r>
              <a:t>Numbers (P&amp;L Detail, Jan-Sep 2026, same-store): fixed ops gross $188.8M, department profit $50.4M (27¢); people $85.7M (45¢). Vehicle sales gross (new $58.7M, used $43.8M, F&amp;I $76.6M) $179.1M; new and used department results $-23.0M and $-25.4M, less F&amp;I compensation $15.3M: $12.9M kept (7¢); people and commissions $110.4M (62¢). Caveat: $87.2M of net other income (doc fees, packs, factory money, holdback, interest) is booked outside the departments and most of it comes with vehicle sales; with it, vehicle sales keeps much more. The comparison is department against department, as the P&amp;L reports them.</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Change in Internal ELR, Jan-Sep 2026 vs 2025, best first. Ranked by percent change; the change in the measure's own unit alongside.</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by close month. Same-store, INEOS excluded (opened 2026). GMC Prescott body shop labor types excluded. Internal labor sale / internal sold hours. A higher internal rate adds service gross but is a cost to used cars. Top and bottom five stores by change in Internal ELR, Jan-Sep 2026 vs 2025. Moving now: Jul-Sep 2026 vs Jan-Mar 2026, each store against itself; the group moved +4.1%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(−2.7 pts). At or above customer pay: Cadillac, Chevy GMC Bullhead, GMC Prescott, Hyundai Prescott, Hyundai St George, Kia LV, Kia St George and VW St George.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Labor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labor gross / internal labor sale. A higher internal margin adds service gross but is a cost to used cars. Top and bottom five stores by change in Internal Labor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Jan-Sep 2026 by close month. Same-store, INEOS excluded (opened 2026). GMC Prescott body shop labor types excluded. Gap = internal GP% minus customer-pay GP%, in points. Green: internal at or above the store's own customer-pay rate; red: below. Dashed line: the group gap (−4.2 pts). At or above customer pay: Chevy LV, Honda Henderson, Subaru Prescott, Toyota Henderson and Volvo. A gap can be a policy (internal detail, used-car recon pricing) rather than a miss; confirm with the store before calling it out.</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Change in Internal Parts Gross Profit %,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Internal pay type, Jan-Sep by close month. Same-store, INEOS excluded (opened 2026). GMC Prescott body shop labor types excluded. Internal parts gross / internal parts sale on repair orders. A higher internal margin adds parts gross but is a cost to used cars. Top and bottom five stores by change in Internal Parts Gross Profit %, Jan-Sep 2026 vs 2025. Moving now: Jul-Sep 2026 vs Jan-Mar 2026, each store against itself; the group moved +0.5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after the section break and before Fixed Gross per Fixed Employee.</a:t>
            </a:r>
          </a:p>
          <a:p>
            <a:r>
              <a:t>Said: Roundtable slide 6 (People); Jan GM slide 57 (Technician Pipeline).</a:t>
            </a:r>
          </a:p>
          <a:p>
            <a:r>
              <a:t>Numbers rebuilt 2026-10-20 on ADP headcount (Employee Master extract 10/19/2026); the Qlik headcount history undercounted 2025.</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Productivity section, before CP &amp; W ROs per Service Advisor.</a:t>
            </a:r>
          </a:p>
          <a:p>
            <a:r>
              <a:t>Said: Jan GM slide 16 / May GM slide 12 (Pay Plans aka Work Instructions).</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YTD = average month-end fixed headcount, Jan-Sep. Fixed employees include managers; technicians = service, express, foreman and team-leader titles. 2025 shown January-December.</a:t>
            </a:r>
          </a:p>
          <a:p>
            <a:r>
              <a:t>Jan 25: 1625 fixed, 703 techs, 238 advisors, 117 managers</a:t>
            </a:r>
          </a:p>
          <a:p>
            <a:r>
              <a:t>Feb 25: 1632 fixed, 705 techs, 237 advisors, 116 managers</a:t>
            </a:r>
          </a:p>
          <a:p>
            <a:r>
              <a:t>Mar 25: 1629 fixed, 702 techs, 240 advisors, 116 managers</a:t>
            </a:r>
          </a:p>
          <a:p>
            <a:r>
              <a:t>Apr 25: 1615 fixed, 695 techs, 242 advisors, 111 managers</a:t>
            </a:r>
          </a:p>
          <a:p>
            <a:r>
              <a:t>May 25: 1623 fixed, 699 techs, 250 advisors, 111 managers</a:t>
            </a:r>
          </a:p>
          <a:p>
            <a:r>
              <a:t>Jun 25: 1616 fixed, 695 techs, 247 advisors, 109 managers</a:t>
            </a:r>
          </a:p>
          <a:p>
            <a:r>
              <a:t>Jul 25: 1629 fixed, 705 techs, 247 advisors, 110 managers</a:t>
            </a:r>
          </a:p>
          <a:p>
            <a:r>
              <a:t>Aug 25: 1627 fixed, 701 techs, 251 advisors, 110 managers</a:t>
            </a:r>
          </a:p>
          <a:p>
            <a:r>
              <a:t>Sep 25: 1616 fixed, 701 techs, 248 advisors, 107 managers</a:t>
            </a:r>
          </a:p>
          <a:p>
            <a:r>
              <a:t>Oct 25: 1604 fixed, 688 techs, 249 advisors, 109 managers</a:t>
            </a:r>
          </a:p>
          <a:p>
            <a:r>
              <a:t>Nov 25: 1582 fixed, 685 techs, 247 advisors, 107 managers</a:t>
            </a:r>
          </a:p>
          <a:p>
            <a:r>
              <a:t>Dec 25: 1563 fixed, 674 techs, 249 advisors, 107 managers</a:t>
            </a:r>
          </a:p>
          <a:p>
            <a:r>
              <a:t>Jan 26: 1530 fixed, 657 techs, 248 advisors, 106 managers</a:t>
            </a:r>
          </a:p>
          <a:p>
            <a:r>
              <a:t>Feb 26: 1530 fixed, 670 techs, 245 advisors, 108 managers</a:t>
            </a:r>
          </a:p>
          <a:p>
            <a:r>
              <a:t>Mar 26: 1540 fixed, 669 techs, 252 advisors, 107 managers</a:t>
            </a:r>
          </a:p>
          <a:p>
            <a:r>
              <a:t>Apr 26: 1545 fixed, 687 techs, 250 advisors, 106 managers</a:t>
            </a:r>
          </a:p>
          <a:p>
            <a:r>
              <a:t>May 26: 1537 fixed, 680 techs, 254 advisors, 105 managers</a:t>
            </a:r>
          </a:p>
          <a:p>
            <a:r>
              <a:t>Jun 26: 1546 fixed, 684 techs, 250 advisors, 105 managers</a:t>
            </a:r>
          </a:p>
          <a:p>
            <a:r>
              <a:t>Jul 26: 1548 fixed, 682 techs, 250 advisors, 106 managers</a:t>
            </a:r>
          </a:p>
          <a:p>
            <a:r>
              <a:t>Aug 26: 1549 fixed, 684 techs, 244 advisors, 104 managers</a:t>
            </a:r>
          </a:p>
          <a:p>
            <a:r>
              <a:t>Sep 26: 1540 fixed, 684 techs, 241 advisors, 104 managers</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ops headcount, Sep 2026 vs Sep 2025, most added first. Neutral colour: added staff can be growth or excess.</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Jan-Sep 2026 YTD. Green at or above the group, red below.</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Fixed Gross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fixed ops gross / fixed employees. Top and bottom five stores by change in Fixed Gross per Fixed Employee, Jan-Sep 2026 vs 2025. Moving now: Jul-Sep 2026 vs Jan-Mar 2026, each store against itself; the group moved +$1,107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Technician Proficiency section, after the section break and before the store proficiency ranker.</a:t>
            </a:r>
          </a:p>
          <a:p>
            <a:r>
              <a:t>Said: Roundtable slide 22 (Technicians &amp; Stalls); Jan GM slide 52 / May GM slide 16 (MPI Completion and Tech Efficiency).</a:t>
            </a:r>
          </a:p>
          <a:p>
            <a:r>
              <a:t>Now: proficiency slides (ADP worked hours + Qlik sold hours, Dec 25-Oct 9, with the foreman 30%, tech 10%, role-change and keying-error rules).</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Technician Proficiency, after the section break, in front of the store ranker.</a:t>
            </a:r>
          </a:p>
          <a:p>
            <a:r>
              <a:t>Proficiency uses ADP worked hours (regular + overtime), so it includes time not on an RO. Efficiency would use DMS time punched on jobs, which this data does not have.</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Definitions match the data slides: Qlik - Closed Repair Orders (all customer-pay ROs, by close month), Profit &amp; Loss and Productivity apps, Jan-Sep 2026 vs 2025, same-store, 33 stores. Worked example: Service Manager Roundtable, Nov 15, 2024, slide 21.PLACE: right after 'What Is Technician Proficiency?'.</a:t>
            </a:r>
          </a:p>
          <a:p>
            <a:r>
              <a:t>Rules as applied on the proficiency slides (Oct 16 2026). Express techs at stores that pool express hours are mostly excluded by the 10% rule.</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Proficiency = sold hours / worked hours, from store totals. Green at or above 85%, red below. Bars start at 40%.ACURA: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Share of each store's technicians by proficiency band (workbook status: Above Target, On Target, Under Target), most above first.ACURA: 67.4% (11,339 sold / 16,815 worked, 11 techs: 0 above, 0 on, 11 under)</a:t>
            </a:r>
          </a:p>
          <a:p>
            <a:r>
              <a:t>AUDI HENDERSON: 91.0% (33,481 sold / 36,766 worked, 23 techs: 6 above, 4 on, 13 under)</a:t>
            </a:r>
          </a:p>
          <a:p>
            <a:r>
              <a:t>AUDI RENO: 117.1% (15,985 sold / 13,640 worked, 10 techs: 6 above, 0 on, 4 under)</a:t>
            </a:r>
          </a:p>
          <a:p>
            <a:r>
              <a:t>CADILLAC: 87.7% (42,358 sold / 48,277 worked, 29 techs: 8 above, 5 on, 16 under)</a:t>
            </a:r>
          </a:p>
          <a:p>
            <a:r>
              <a:t>CDJR POST FALLS: 71.2% (14,538 sold / 20,418 worked, 14 techs: 4 above, 1 on, 9 under)</a:t>
            </a:r>
          </a:p>
          <a:p>
            <a:r>
              <a:t>CHEVY GMC BULLHEAD: 68.4% (19,904 sold / 29,093 worked, 20 techs: 2 above, 2 on, 16 under)</a:t>
            </a:r>
          </a:p>
          <a:p>
            <a:r>
              <a:t>CHEVY LV: 103.4% (81,675 sold / 78,983 worked, 51 techs: 21 above, 14 on, 16 under)</a:t>
            </a:r>
          </a:p>
          <a:p>
            <a:r>
              <a:t>GMC PRESCOTT: 73.6% (10,985 sold / 14,924 worked, 12 techs: 1 above, 4 on, 7 under)</a:t>
            </a:r>
          </a:p>
          <a:p>
            <a:r>
              <a:t>HONDA FLAGSTAFF: 78.5% (7,653 sold / 9,743 worked, 6 techs: 2 above, 0 on, 4 under)</a:t>
            </a:r>
          </a:p>
          <a:p>
            <a:r>
              <a:t>HONDA HENDERSON: 118.5% (61,099 sold / 51,555 worked, 28 techs: 16 above, 7 on, 5 under)</a:t>
            </a:r>
          </a:p>
          <a:p>
            <a:r>
              <a:t>HONDA NORTH: 109.3% (39,419 sold / 36,062 worked, 22 techs: 10 above, 8 on, 4 under)</a:t>
            </a:r>
          </a:p>
          <a:p>
            <a:r>
              <a:t>HONDA SPOKANE: 109.0% (17,638 sold / 16,169 worked, 15 techs: 10 above, 3 on, 2 under)</a:t>
            </a:r>
          </a:p>
          <a:p>
            <a:r>
              <a:t>HYUNDAI PRESCOTT: 78.8% (9,116 sold / 11,564 worked, 9 techs: 1 above, 2 on, 6 under)</a:t>
            </a:r>
          </a:p>
          <a:p>
            <a:r>
              <a:t>HYUNDAI ST GEORGE: 69.0% (9,329 sold / 13,515 worked, 11 techs: 3 above, 0 on, 8 under)</a:t>
            </a:r>
          </a:p>
          <a:p>
            <a:r>
              <a:t>KIA LV: 76.8% (20,682 sold / 26,909 worked, 20 techs: 2 above, 2 on, 16 under)</a:t>
            </a:r>
          </a:p>
          <a:p>
            <a:r>
              <a:t>KIA ST GEORGE: 67.5% (11,981 sold / 17,746 worked, 12 techs: 1 above, 2 on, 9 under)</a:t>
            </a:r>
          </a:p>
          <a:p>
            <a:r>
              <a:t>LEXUS: 104.7% (16,940 sold / 16,175 worked, 11 techs: 4 above, 1 on, 6 under)</a:t>
            </a:r>
          </a:p>
          <a:p>
            <a:r>
              <a:t>LINCOLN: 94.9% (15,983 sold / 16,836 worked, 11 techs: 4 above, 2 on, 5 under)</a:t>
            </a:r>
          </a:p>
          <a:p>
            <a:r>
              <a:t>LR HENDERSON: 106.0% (11,497 sold / 10,838 worked, 7 techs: 3 above, 1 on, 3 under)</a:t>
            </a:r>
          </a:p>
          <a:p>
            <a:r>
              <a:t>LR LV: 91.2% (20,301 sold / 22,258 worked, 16 techs: 5 above, 3 on, 8 under)</a:t>
            </a:r>
          </a:p>
          <a:p>
            <a:r>
              <a:t>LR RENO: 81.4% (7,559 sold / 9,283 worked, 6 techs: 1 above, 3 on, 2 under)</a:t>
            </a:r>
          </a:p>
          <a:p>
            <a:r>
              <a:t>MAZDA: 101.6% (14,560 sold / 14,322 worked, 11 techs: 5 above, 2 on, 4 under)</a:t>
            </a:r>
          </a:p>
          <a:p>
            <a:r>
              <a:t>NISSAN: 91.1% (24,792 sold / 27,197 worked, 17 techs: 3 above, 6 on, 8 under)</a:t>
            </a:r>
          </a:p>
          <a:p>
            <a:r>
              <a:t>SUBARU LV: 96.9% (41,501 sold / 42,797 worked, 27 techs: 9 above, 7 on, 11 under)</a:t>
            </a:r>
          </a:p>
          <a:p>
            <a:r>
              <a:t>SUBARU PRESCOTT: 98.4% (17,475 sold / 17,747 worked, 12 techs: 6 above, 0 on, 6 under)</a:t>
            </a:r>
          </a:p>
          <a:p>
            <a:r>
              <a:t>SUBARU ST GEORGE: 109.7% (20,954 sold / 19,086 worked, 12 techs: 9 above, 0 on, 3 under)</a:t>
            </a:r>
          </a:p>
          <a:p>
            <a:r>
              <a:t>TOYOTA FLAGSTAFF: 102.4% (31,978 sold / 31,216 worked, 18 techs: 7 above, 5 on, 6 under)</a:t>
            </a:r>
          </a:p>
          <a:p>
            <a:r>
              <a:t>TOYOTA HENDERSON: 104.3% (104,465 sold / 100,080 worked, 59 techs: 22 above, 17 on, 20 under)</a:t>
            </a:r>
          </a:p>
          <a:p>
            <a:r>
              <a:t>TOYOTA PRESCOTT: 83.6% (29,341 sold / 35,081 worked, 22 techs: 6 above, 5 on, 11 under)</a:t>
            </a:r>
          </a:p>
          <a:p>
            <a:r>
              <a:t>TOYOTA SPOKANE: 108.0% (35,947 sold / 33,274 worked, 28 techs: 15 above, 9 on, 4 under)</a:t>
            </a:r>
          </a:p>
          <a:p>
            <a:r>
              <a:t>VOLVO: 72.3% (10,479 sold / 14,475 worked, 9 techs: 0 above, 1 on, 8 under)</a:t>
            </a:r>
          </a:p>
          <a:p>
            <a:r>
              <a:t>VW HENDERSON: 92.2% (25,394 sold / 27,527 worked, 19 techs: 6 above, 7 on, 6 under)</a:t>
            </a:r>
          </a:p>
          <a:p>
            <a:r>
              <a:t>VW ST GEORGE: 70.0% (5,375 sold / 7,674 worked, 5 techs: 0 above, 0 on, 5 under)</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Per mo = labor + parts gross. Under 85% = technicians under 85% of all counted. Store = store proficiency.ACURA: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Each technician under 85% lifted to 85% of their own worked hours; techs at or above 85% count as zero, so no store offsets one tech with another. Gap hours valued at what the store's own technicians (counted titles) earn per sold hour in labor gross and parts gross, all pay types, Qlik - Closed Repair Orders, same dates; tech pay at their labor cost per sold hour. Store-wide averages are not used because they carry detail, rental and recon sale booked with no hours. Per month = period total / 9.49 months (Dec 25, 2025 - Oct 9, 2026). Parts assumes the extra hours carry the store's average parts per hour. Population as on the proficiency slides. Missed and Gross are per month. Share = missed labor + parts gross / labor + parts gross on the store's closed ROs, all pay types, same dates (includes work on shared tech codes). Not P&amp;L gross: counter and wholesale parts are excluded because techs do not produce them.ACURA: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12.Talk track: staged parts delivered to the bay (Roundtable: 'Stage parts, deliver and retrieve'), dispatch with the next job ready, fast MPI approvals, tools and keys where they belong. Ten minutes a day is less than two parts-counter trips.</a:t>
            </a:r>
          </a:p>
          <a:p>
            <a:r>
              <a:t>Assumption to say out loud: a minute saved only counts if it turns into flagged time, so the store needs the work waiting.</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Value of a minute = each store's counted technicians' labor gross + parts gross per sold hour, divided by 60 (Qlik - Closed Repair Orders, all pay types, same rates as the proficiency opportunity slides). Tech-days = counted techs' worked hours (ADP) / 8 per day. Assumes each minute saved becomes a minute of flagged work. 583 counted technicians, same-store, INEOS excluded. Month = Dec 25, 2025 - Oct 9, 2026 / 9.49; year = month x 12. A year = one minute a day for every counted tech at the store, for a year. Per min = gross per tech minute.</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Warranty section, after the section break, ahead of Warranty Rate Increases (Oct 22: $3,788,200 added gross profit from the YTD RWR Financials vendor report replaced the warranty RO count here).</a:t>
            </a:r>
          </a:p>
          <a:p>
            <a:r>
              <a:t>Said: Jan GM slides 13-14 (audit chargebacks; Warranty Compliance). The Jan slide named six stores' chargebacks; kept to the $400,000 total here, in line with no store call-outs from the podium.</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Rate increases: YTD RWR Financials 2026 (warranty rate submission vendor), "YTD revenue secured" = added gross profit from approved increases (labor $1,661,368, parts $2,126,832); 14 stores have no approval yet. Rates: Qlik - Closed Repair Orders, warranty pay type by close month; ELR = warranty labor sale / hours sold; parts margin = warranty parts gross / parts sale. 2025 January-December, 2026 January-September. Same-store.Talk track (Noah, Oct 24-25): rate increases are new money on every warranty claim, and they show up as a higher warranty ELR and parts margin. The factory notices higher rates too: more money in means more scrutiny, so documentation and process on every claim is how we keep what we are owed.</a:t>
            </a:r>
          </a:p>
          <a:p/>
          <a:p>
            <a:r>
              <a:t>Vendor store names: Findlay Acura = ACURA; Findlay Audi Reno Tahoe = AUDI RENO; Findlay BGMC Prescott = GMC PRESCOTT; Findlay Chevrolet = CHEVY LV; Findlay Chrysler Post Falls = CDJR POST FALLS; Findlay Honda Flagstaff = HONDA FLAGSTAFF; Findlay Honda Henderson = HONDA HENDERSON; Findlay Honda North = HONDA NORTH; Findlay Honda Spokane = HONDA SPOKANE; Findlay Hyundai Prescott = HYUNDAI PRESCOTT; Findlay Kia St George = KIA ST GEORGE; Findlay Lexus Spokane = LEXUS; Findlay Lincoln = LINCOLN; Findlay Mazda = MAZDA; Findlay Nissan Henderson = NISSAN; Findlay Subaru Prescott = SUBARU PRESCOTT; Land Rover Henderson = LR HENDERSON; Land Rover Las Vegas = LR LV; Land Rover Reno = LR RENO.</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Causes from Jan 2026 GM meeting slide 13; the two signature causes combined and Supporting evidence added (Noah, Oct 22: some manufacturers require photos of the failed component or proof a procedure was followed). That slide named six stores and their debits; stores are left off here, as on Warranty Compliance. The store amounts on the Jan slide add to $414,000 (headline said $400,000), so the slide says 'over $400,000'.</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Jan 2026 GM meeting (Day 1), slides 13-14: six warranty audits, primary causes and Warranty Compliance steps. Descriptions under each heading drafted for this deck; confirm against each OEM's warranty policy manual.DRAFT. Steps from Jan 2026 GM meeting slide 14 (Warranty Compliance); the GM responsibility line from slide 13.</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 vs Jan-Sep 2025; 2025 shown January-December. Store rows reconcile to the group to the cent, both years.</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Jan-Sep 2026.</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Ranked by dollar change, Jan-Sep 2026 vs Jan-Sep 2025; percent change alongside, the top three and bottom three by percent marked. Warranty volume follows campaigns and recalls as well as store effort.</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Profit &amp; Loss, Gross Profit - Fixed Ops Warranty (service + parts warranty gross). Same-store, INEOS excluded (opened 2026); no body shop. Top and bottom five stores by percent change in warranty gross, Jan-Sep 2026 vs 2025. Moving now: Jul-Sep 2026 vs Jan-Mar 2026, each store against itself (monthly averages); the group moved +9.3%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top LINCOLN $865K → $1.26M; SUBARU PRESCOTT $832K → $1.21M; SUBARU ST GEORGE $1.48M → $1.98M. Bottom CHEVY LV $7.40M → $7.08M; AUDI RENO $3.38M → $2.90M; VW ST GEORGE $702K → $560K.</a:t>
            </a:r>
          </a:p>
          <a:p>
            <a:r>
              <a:t>CP RO Count: top KIA LV 7,156 → 8,133; HYUNDAI PRESCOTT 1,784 → 2,010; GMC PRESCOTT 2,810 → 3,107. Bottom AUDI RENO 4,379 → 3,917; HYUNDAI ST GEORGE 3,784 → 3,349; VW ST GEORGE 2,251 → 1,919.</a:t>
            </a:r>
          </a:p>
          <a:p>
            <a:r>
              <a:t>CP Hours per RO: top HYUNDAI ST GEORGE 1.03 → 1.43; SUBARU ST GEORGE 1.75 → 2.30; KIA ST GEORGE 0.99 → 1.29. Bottom VOLVO 2.58 → 2.28; VW ST GEORGE 1.95 → 1.71; LR RENO 4.04 → 3.48.</a:t>
            </a:r>
          </a:p>
          <a:p>
            <a:r>
              <a:t>CP ELR: top HONDA SPOKANE $117.05 → $143.89; VOLVO $181.59 → $222.12; LINCOLN $139.55 → $167.64. Bottom ACURA $221.78 → $210.50; SUBARU ST GEORGE $148.84 → $138.48; KIA LV $184.36 → $149.23.</a:t>
            </a:r>
          </a:p>
          <a:p>
            <a:r>
              <a:t>CP Parts GP %: top ACURA 38.7% → 44.9%; NISSAN 38.2% → 42.7%; SUBARU PRESCOTT 31.0% → 34.8%. Bottom HYUNDAI PRESCOTT 39.9% → 39.4%; TOYOTA SPOKANE 45.3% → 44.5%; AUDI HENDERSON 35.8% → 33.6%.Source: Qlik - Closed Repair Orders. Customer pay, by close date. Same-store, 33 stores (INEOS excluded, opened 2026). GMC Prescott body shop labor types excluded. CP gross = CP labor gross + CP parts gross. Change is Jan-Sep 2026 vs Jan-Sep 2025. Ranked by percent change (points for parts GP %), so store size does not drive the ranking.</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p/>
          <a:p>
            <a:r>
              <a:t>Before → after, by measure:</a:t>
            </a:r>
          </a:p>
          <a:p>
            <a:r>
              <a:t>CP Gross per Month: top MAZDA $155K → $209K; KIA ST GEORGE $85K → $112K; CDJR POST FALLS $218K → $279K. Bottom SUBARU ST GEORGE $220K → $218K; HONDA HENDERSON $841K → $823K; CADILLAC $317K → $283K.</a:t>
            </a:r>
          </a:p>
          <a:p>
            <a:r>
              <a:t>CP ROs per Month: top LEXUS 425 → 570; CDJR POST FALLS 543 → 667; LR LV 350 → 415. Bottom VW ST GEORGE 207 → 203; HYUNDAI ST GEORGE 377 → 365; CADILLAC 609 → 582.</a:t>
            </a:r>
          </a:p>
          <a:p>
            <a:r>
              <a:t>CP Hours per RO: top MAZDA 1.35 → 1.65; HYUNDAI PRESCOTT 1.56 → 1.76; HYUNDAI ST GEORGE 1.37 → 1.54. Bottom HONDA HENDERSON 2.06 → 1.86; VW HENDERSON 2.66 → 2.37; CADILLAC 2.85 → 2.45.</a:t>
            </a:r>
          </a:p>
          <a:p>
            <a:r>
              <a:t>CP ELR: top VW ST GEORGE $128.27 → $141.89; AUDI RENO $227.34 → $244.12; HONDA SPOKANE $139.40 → $147.93. Bottom SUBARU ST GEORGE $141.07 → $136.71; LEXUS $196.84 → $187.42; ACURA $232.02 → $199.04.</a:t>
            </a:r>
          </a:p>
          <a:p>
            <a:r>
              <a:t>CP Parts GP %: top ACURA 39.4% → 46.6%; VW ST GEORGE 39.1% → 43.8%; GMC PRESCOTT 35.3% → 39.2%. Bottom CHEVY LV 38.2% → 35.0%; LINCOLN 39.9% → 36.0%; HONDA HENDERSON 44.3% → 40.0%.Source: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Left: Jan-Sep 2026 vs Jan-Sep 2025. Right: Q3 2026 vs Q1 2026. Top-5 finishes counted across five measures (parts $ per RO dropped, Oct 23); top six stores shown in each view.</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Each row is the top Q1-to-Q3 mover on that measure. Opcode row: MAZDA tops 3 of the four opcode lists; its biggest move is shown. Opcode closing % = ROs with the service ÷ customer-pay ROs on the op-code report basis.</a:t>
            </a:r>
          </a:p>
          <a:p/>
          <a:p>
            <a:r>
              <a:t>MAZDA's August opcode increase was confirmed with the store as a real change (Noah, Oct 19 2026).</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Labor + parts gross a year, each from its own slide: Technician Proficiency (each tech under 85% raised to 85%, monthly x 12), Hours per RO (0.1 hr x CP ROs at each store's gross per hour), Op Codes (stores under each benchmark brought to it), One More CP RO a Day (307 open days), Tech Minute (one minute per tech per day). Jan-Sep 2026, same-store, 33 stores. The levers overlap - op code services are part of hours per RO, and selling more hours needs tech time - so they are not added together.Talk track: the GM owns the conditions - staffing, pay plans, marketing budget, the parts department. The service manager owns the daily process - dispatch, the inspection, the menu, the drive. Each line has its own slide earlier in the day.</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Talking points: Service Manager Roundtable (Nov 15, 2024) and GM meeting decks (Jan and May 2026). Data: Qlik (Profit &amp; Loss, Closed Repair Orders, Productivity), Jan-Sep 2026 vs 2025, same-store, 33 stores, INEOS excluded.PLACE: the close, after the last Productivity / Proficiency slide.</a:t>
            </a:r>
          </a:p>
          <a:p>
            <a:r>
              <a:t>Said: Roundtable slide 24 (Misc &amp; Closing). Commitments tracking was dropped for this meeting, so this asks for commitments without a scorecard.</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OPTION D - door rate by store, split by labor grid, standard rate only. Store door rate sheet (Oct 15 2026); averages weighted by Jul-Sep CP sold hours. Bars start at $100. INEOS on the sheet but excluded (same-store).</a:t>
            </a:r>
          </a:p>
          <a:p>
            <a:r>
              <a:t>CHEVY LV: premium $265 (Diesel/Corvette)</a:t>
            </a:r>
          </a:p>
          <a:p>
            <a:r>
              <a:t>AUDI HENDERSON: premium $399 (Lambo Non-Grid)</a:t>
            </a:r>
          </a:p>
          <a:p>
            <a:r>
              <a:t>VW HENDERSON: premium $210 (EV)</a:t>
            </a:r>
          </a:p>
          <a:p>
            <a:r>
              <a:t>CHEVY GMC BULLHEAD: premium $200 (Non-Standard Grid)</a:t>
            </a:r>
          </a:p>
          <a:p>
            <a:r>
              <a:t>SUBARU ST GEORGE: premium $210 (EV)</a:t>
            </a:r>
          </a:p>
          <a:p>
            <a:r>
              <a:t>HONDA FLAGSTAFF: premium $215 (EV)</a:t>
            </a:r>
          </a:p>
          <a:p>
            <a:r>
              <a:t>GMC PRESCOTT: premium $230 (EV)</a:t>
            </a:r>
          </a:p>
          <a:p>
            <a:r>
              <a:t>KIA ST GEORGE: premium $195 (EV)</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a:t>
            </a:r>
          </a:p>
          <a:p>
            <a:r>
              <a:t>AUDI RENO: ELR $244 / door $236 = 103.4%</a:t>
            </a:r>
          </a:p>
          <a:p>
            <a:r>
              <a:t>VOLVO: ELR $225 / door $250 = 90.2%</a:t>
            </a:r>
          </a:p>
          <a:p>
            <a:r>
              <a:t>CHEVY GMC BULLHEAD: ELR $162 / door $180 = 89.9%</a:t>
            </a:r>
          </a:p>
          <a:p>
            <a:r>
              <a:t>HYUNDAI ST GEORGE: ELR $166 / door $185 = 89.7%</a:t>
            </a:r>
          </a:p>
          <a:p>
            <a:r>
              <a:t>ACURA: ELR $199 / door $225 = 88.5%</a:t>
            </a:r>
          </a:p>
          <a:p>
            <a:r>
              <a:t>LR RENO: ELR $239 / door $275 = 86.7%</a:t>
            </a:r>
          </a:p>
          <a:p>
            <a:r>
              <a:t>HONDA FLAGSTAFF: ELR $160 / door $185 = 86.3%</a:t>
            </a:r>
          </a:p>
          <a:p>
            <a:r>
              <a:t>HONDA SPOKANE: ELR $148 / door $179 = 82.6%</a:t>
            </a:r>
          </a:p>
          <a:p>
            <a:r>
              <a:t>LEXUS: ELR $187 / door $230 = 81.5%</a:t>
            </a:r>
          </a:p>
          <a:p>
            <a:r>
              <a:t>CDJR POST FALLS: ELR $162 / door $200 = 80.9%</a:t>
            </a:r>
          </a:p>
          <a:p>
            <a:r>
              <a:t>TOYOTA PRESCOTT: ELR $156 / door $195 = 79.8%</a:t>
            </a:r>
          </a:p>
          <a:p>
            <a:r>
              <a:t>LR HENDERSON: ELR $234 / door $295 = 79.5%</a:t>
            </a:r>
          </a:p>
          <a:p>
            <a:r>
              <a:t>KIA ST GEORGE: ELR $146 / door $185 = 78.9%</a:t>
            </a:r>
          </a:p>
          <a:p>
            <a:r>
              <a:t>MAZDA: ELR $166 / door $210 = 78.9%</a:t>
            </a:r>
          </a:p>
          <a:p>
            <a:r>
              <a:t>VW HENDERSON: ELR $161 / door $205 = 78.5%</a:t>
            </a:r>
          </a:p>
          <a:p>
            <a:r>
              <a:t>VW ST GEORGE: ELR $142 / door $185 = 76.7%</a:t>
            </a:r>
          </a:p>
          <a:p>
            <a:r>
              <a:t>AUDI HENDERSON: ELR $267 / door $349 = 76.4%</a:t>
            </a:r>
          </a:p>
          <a:p>
            <a:r>
              <a:t>LR LV: ELR $234 / door $310 = 75.4%</a:t>
            </a:r>
          </a:p>
          <a:p>
            <a:r>
              <a:t>SUBARU LV: ELR $162 / door $215 = 75.2%</a:t>
            </a:r>
          </a:p>
          <a:p>
            <a:r>
              <a:t>NISSAN: ELR $180 / door $240 = 75.1%</a:t>
            </a:r>
          </a:p>
          <a:p>
            <a:r>
              <a:t>TOYOTA FLAGSTAFF: ELR $143 / door $190 = 75.0%</a:t>
            </a:r>
          </a:p>
          <a:p>
            <a:r>
              <a:t>SUBARU ST GEORGE: ELR $137 / door $185 = 73.8%</a:t>
            </a:r>
          </a:p>
          <a:p>
            <a:r>
              <a:t>TOYOTA HENDERSON: ELR $155 / door $211 = 73.1%</a:t>
            </a:r>
          </a:p>
          <a:p>
            <a:r>
              <a:t>HONDA HENDERSON: ELR $153 / door $212 = 72.4%</a:t>
            </a:r>
          </a:p>
          <a:p>
            <a:r>
              <a:t>HONDA NORTH: ELR $150 / door $212 = 70.6%</a:t>
            </a:r>
          </a:p>
          <a:p>
            <a:r>
              <a:t>KIA LV: ELR $151 / door $220 = 68.5%</a:t>
            </a:r>
          </a:p>
          <a:p>
            <a:r>
              <a:t>LINCOLN: ELR $167 / door $245 = 68.2%</a:t>
            </a:r>
          </a:p>
          <a:p>
            <a:r>
              <a:t>TOYOTA SPOKANE: ELR $125 / door $185 = 67.5%</a:t>
            </a:r>
          </a:p>
          <a:p>
            <a:r>
              <a:t>GMC PRESCOTT: ELR $147 / door $220 = 66.7%</a:t>
            </a:r>
          </a:p>
          <a:p>
            <a:r>
              <a:t>SUBARU PRESCOTT: ELR $140 / door $210 = 66.5%</a:t>
            </a:r>
          </a:p>
          <a:p>
            <a:r>
              <a:t>CHEVY LV: ELR $146 / door $225 = 65.0%</a:t>
            </a:r>
          </a:p>
          <a:p>
            <a:r>
              <a:t>HYUNDAI PRESCOTT: ELR $136 / door $210 = 64.8%</a:t>
            </a:r>
          </a:p>
          <a:p>
            <a:r>
              <a:t>CADILLAC: ELR $175 / door $285 = 61.5%</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compared with its own segment average a month: luxury $16,998, non-luxury $12,714 (luxury = Lexus, Lincoln, Cadillac, Volvo, Audi Reno, Audi Henderson, LR Reno, LR LV, LR Henderson). Gross/yr = (segment average - store) x the store's average fixed employees x 12. Stores at or above their segment average are not shown. Per emp = the store's fixed gross per fixed employee a month. Seg avg = its segment's average.Framing: gross the team already in the building could produce, not a headcount target. Luxury stores are measured against luxury, non-luxury against non-luxury. Audi Henderson ($23,686) lifts the luxury average; Lincoln ($11,127) sits below even the non-luxury average.</a:t>
            </a:r>
          </a:p>
          <a:p>
            <a:r>
              <a:t>CADILLAC (luxury): $14,260 per employee a month vs $16,998; 74.8 fixed employees; $2,456,862 a year</a:t>
            </a:r>
          </a:p>
          <a:p>
            <a:r>
              <a:t>LINCOLN (luxury): $10,963 per employee a month vs $16,998; 30.2 fixed employees; $2,188,561 a year</a:t>
            </a:r>
          </a:p>
          <a:p>
            <a:r>
              <a:t>CHEVY GMC BULLHEAD (non-luxury): $10,391 per employee a month vs $12,714; 48.4 fixed employees; $1,350,504 a year</a:t>
            </a:r>
          </a:p>
          <a:p>
            <a:r>
              <a:t>CDJR POST FALLS (non-luxury): $9,953 per employee a month vs $12,714; 39.7 fixed employees; $1,314,435 a year</a:t>
            </a:r>
          </a:p>
          <a:p>
            <a:r>
              <a:t>CHEVY LV (non-luxury): $12,042 per employee a month vs $12,714; 152.7 fixed employees; $1,232,343 a year</a:t>
            </a:r>
          </a:p>
          <a:p>
            <a:r>
              <a:t>TOYOTA SPOKANE (non-luxury): $11,128 per employee a month vs $12,714; 59.2 fixed employees; $1,127,104 a year</a:t>
            </a:r>
          </a:p>
          <a:p>
            <a:r>
              <a:t>TOYOTA FLAGSTAFF (non-luxury): $10,794 per employee a month vs $12,714; 46.0 fixed employees; $1,060,118 a year</a:t>
            </a:r>
          </a:p>
          <a:p>
            <a:r>
              <a:t>GMC PRESCOTT (non-luxury): $9,498 per employee a month vs $12,714; 26.6 fixed employees; $1,024,925 a year</a:t>
            </a:r>
          </a:p>
          <a:p>
            <a:r>
              <a:t>TOYOTA PRESCOTT (non-luxury): $11,044 per employee a month vs $12,714; 51.1 fixed employees; $1,024,357 a year</a:t>
            </a:r>
          </a:p>
          <a:p>
            <a:r>
              <a:t>AUDI RENO (luxury): $14,916 per employee a month vs $16,998; 33.2 fixed employees; $830,073 a year</a:t>
            </a:r>
          </a:p>
          <a:p>
            <a:r>
              <a:t>HONDA FLAGSTAFF (non-luxury): $9,149 per employee a month vs $12,714; 19.3 fixed employees; $827,082 a year</a:t>
            </a:r>
          </a:p>
          <a:p>
            <a:r>
              <a:t>NISSAN (non-luxury): $11,957 per employee a month vs $12,714; 44.4 fixed employees; $403,638 a year</a:t>
            </a:r>
          </a:p>
          <a:p>
            <a:r>
              <a:t>VW HENDERSON (non-luxury): $12,006 per employee a month vs $12,714; 44.3 fixed employees; $376,895 a year</a:t>
            </a:r>
          </a:p>
          <a:p>
            <a:r>
              <a:t>VW ST GEORGE (non-luxury): $9,878 per employee a month vs $12,714; 10.9 fixed employees; $370,634 a year</a:t>
            </a:r>
          </a:p>
          <a:p>
            <a:r>
              <a:t>LR RENO (luxury): $15,226 per employee a month vs $16,998; 16.1 fixed employees; $342,526 a year</a:t>
            </a:r>
          </a:p>
          <a:p>
            <a:r>
              <a:t>HYUNDAI ST GEORGE (non-luxury): $11,541 per employee a month vs $12,714; 22.0 fixed employees; $309,678 a year</a:t>
            </a:r>
          </a:p>
          <a:p>
            <a:r>
              <a:t>HYUNDAI PRESCOTT (non-luxury): $11,631 per employee a month vs $12,714; 14.7 fixed employees; $190,674 a year</a:t>
            </a:r>
          </a:p>
          <a:p>
            <a:r>
              <a:t>KIA ST GEORGE (non-luxury): $12,103 per employee a month vs $12,714; 21.4 fixed employees; $157,193 a year</a:t>
            </a:r>
          </a:p>
          <a:p>
            <a:r>
              <a:t>ACURA (non-luxury): $12,364 per employee a month vs $12,714; 26.0 fixed employees; $109,303 a year</a:t>
            </a:r>
          </a:p>
          <a:p>
            <a:r>
              <a:t>SUBARU PRESCOTT (non-luxury): $12,501 per employee a month vs $12,714; 24.0 fixed employees; $61,379 a year</a:t>
            </a:r>
          </a:p>
          <a:p>
            <a:r>
              <a:t>LEXUS (luxury): $16,919 per employee a month vs $16,998; 27.2 fixed employees; $25,739 a year</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Qlik - Productivity app, P&amp;L Total Gross Profit - Fixed Ops. Headcount: ADP Employee Master extract 10/19/2026 (rebuilt 2026-10-20; the Qlik headcount history undercounted). Fixed gross per fixed employee = gross / fixed employees, Jan-Sep 2026 monthly average. Same-store, INEOS excluded (opened 2026). GMC Prescott body shop gross and body shop staff excluded. Each store is measured against its own number: Target = today + 5%. Gross/yr = 5% x the store's gross per employee x its average fixed employees x 12 (the same staff producing 5% more). Per working day uses 307 days open a year (6 days a week less the 6 service holidays). Today and Target = fixed gross per fixed employee a month.Framing: every store is measured against itself, so an Audi store does not set a Lincoln store's target. 5% is roughly one more customer-pay RO a day for a small store, or a few tenths of an hour per RO.</a:t>
            </a:r>
          </a:p>
          <a:p>
            <a:r>
              <a:t>TOYOTA HENDERSON: $14,174 today -&gt; $14,883 target per employee a month; 177.1 fixed employees; $1,506,225 a year</a:t>
            </a:r>
          </a:p>
          <a:p>
            <a:r>
              <a:t>CHEVY LV: $12,042 today -&gt; $12,644 target per employee a month; 152.7 fixed employees; $1,103,005 a year</a:t>
            </a:r>
          </a:p>
          <a:p>
            <a:r>
              <a:t>HONDA HENDERSON: $16,061 today -&gt; $16,864 target per employee a month; 99.8 fixed employees; $961,535 a year</a:t>
            </a:r>
          </a:p>
          <a:p>
            <a:r>
              <a:t>AUDI HENDERSON: $23,461 today -&gt; $24,634 target per employee a month; 58.4 fixed employees; $822,684 a year</a:t>
            </a:r>
          </a:p>
          <a:p>
            <a:r>
              <a:t>SUBARU LV: $12,874 today -&gt; $13,518 target per employee a month; 87.0 fixed employees; $672,026 a year</a:t>
            </a:r>
          </a:p>
          <a:p>
            <a:r>
              <a:t>CADILLAC: $14,260 today -&gt; $14,973 target per employee a month; 74.8 fixed employees; $639,799 a year</a:t>
            </a:r>
          </a:p>
          <a:p>
            <a:r>
              <a:t>HONDA NORTH: $14,604 today -&gt; $15,334 target per employee a month; 65.6 fixed employees; $574,425 a year</a:t>
            </a:r>
          </a:p>
          <a:p>
            <a:r>
              <a:t>LR LV: $18,148 today -&gt; $19,056 target per employee a month; 40.4 fixed employees; $440,403 a year</a:t>
            </a:r>
          </a:p>
          <a:p>
            <a:r>
              <a:t>KIA LV: $13,289 today -&gt; $13,954 target per employee a month; 51.4 fixed employees; $410,199 a year</a:t>
            </a:r>
          </a:p>
          <a:p>
            <a:r>
              <a:t>TOYOTA SPOKANE: $11,128 today -&gt; $11,685 target per employee a month; 59.2 fixed employees; $395,423 a year</a:t>
            </a:r>
          </a:p>
          <a:p>
            <a:r>
              <a:t>TOYOTA PRESCOTT: $11,044 today -&gt; $11,596 target per employee a month; 51.1 fixed employees; $338,685 a year</a:t>
            </a:r>
          </a:p>
          <a:p>
            <a:r>
              <a:t>VW HENDERSON: $12,006 today -&gt; $12,606 target per employee a month; 44.3 fixed employees; $319,353 a year</a:t>
            </a:r>
          </a:p>
          <a:p>
            <a:r>
              <a:t>NISSAN: $11,957 today -&gt; $12,555 target per employee a month; 44.4 fixed employees; $318,864 a year</a:t>
            </a:r>
          </a:p>
          <a:p>
            <a:r>
              <a:t>CHEVY GMC BULLHEAD: $10,391 today -&gt; $10,911 target per employee a month; 48.4 fixed employees; $302,035 a year</a:t>
            </a:r>
          </a:p>
          <a:p>
            <a:r>
              <a:t>TOYOTA FLAGSTAFF: $10,794 today -&gt; $11,333 target per employee a month; 46.0 fixed employees; $297,906 a year</a:t>
            </a:r>
          </a:p>
          <a:p>
            <a:r>
              <a:t>AUDI RENO: $14,916 today -&gt; $15,662 target per employee a month; 33.2 fixed employees; $297,322 a year</a:t>
            </a:r>
          </a:p>
          <a:p>
            <a:r>
              <a:t>HONDA SPOKANE: $12,871 today -&gt; $13,514 target per employee a month; 36.1 fixed employees; $278,863 a year</a:t>
            </a:r>
          </a:p>
          <a:p>
            <a:r>
              <a:t>LEXUS: $16,919 today -&gt; $17,765 target per employee a month; 27.2 fixed employees; $276,346 a year</a:t>
            </a:r>
          </a:p>
          <a:p>
            <a:r>
              <a:t>VOLVO: $18,549 today -&gt; $19,476 target per employee a month; 23.4 fixed employees; $260,917 a year</a:t>
            </a:r>
          </a:p>
          <a:p>
            <a:r>
              <a:t>CDJR POST FALLS: $9,953 today -&gt; $10,450 target per employee a month; 39.7 fixed employees; $236,877 a year</a:t>
            </a:r>
          </a:p>
          <a:p>
            <a:r>
              <a:t>SUBARU ST GEORGE: $15,556 today -&gt; $16,333 target per employee a month; 25.1 fixed employees; $234,372 a year</a:t>
            </a:r>
          </a:p>
          <a:p>
            <a:r>
              <a:t>LR HENDERSON: $18,268 today -&gt; $19,182 target per employee a month; 20.8 fixed employees; $227,743 a year</a:t>
            </a:r>
          </a:p>
          <a:p>
            <a:r>
              <a:t>MAZDA: $15,966 today -&gt; $16,765 target per employee a month; 23.0 fixed employees; $220,335 a year</a:t>
            </a:r>
          </a:p>
          <a:p>
            <a:r>
              <a:t>LINCOLN: $10,963 today -&gt; $11,511 target per employee a month; 30.2 fixed employees; $198,802 a year</a:t>
            </a:r>
          </a:p>
          <a:p>
            <a:r>
              <a:t>ACURA: $12,364 today -&gt; $12,982 target per employee a month; 26.0 fixed employees; $192,877 a year</a:t>
            </a:r>
          </a:p>
          <a:p>
            <a:r>
              <a:t>SUBARU PRESCOTT: $12,501 today -&gt; $13,126 target per employee a month; 24.0 fixed employees; $180,016 a year</a:t>
            </a:r>
          </a:p>
          <a:p>
            <a:r>
              <a:t>KIA ST GEORGE: $12,103 today -&gt; $12,709 target per employee a month; 21.4 fixed employees; $155,730 a year</a:t>
            </a:r>
          </a:p>
          <a:p>
            <a:r>
              <a:t>HYUNDAI ST GEORGE: $11,541 today -&gt; $12,118 target per employee a month; 22.0 fixed employees; $152,344 a year</a:t>
            </a:r>
          </a:p>
          <a:p>
            <a:r>
              <a:t>GMC PRESCOTT: $9,498 today -&gt; $9,973 target per employee a month; 26.6 fixed employees; $151,334 a year</a:t>
            </a:r>
          </a:p>
          <a:p>
            <a:r>
              <a:t>LR RENO: $15,226 today -&gt; $15,988 target per employee a month; 16.1 fixed employees; $147,187 a year</a:t>
            </a:r>
          </a:p>
          <a:p>
            <a:r>
              <a:t>HONDA FLAGSTAFF: $9,149 today -&gt; $9,607 target per employee a month; 19.3 fixed employees; $106,131 a year</a:t>
            </a:r>
          </a:p>
          <a:p>
            <a:r>
              <a:t>HYUNDAI PRESCOTT: $11,631 today -&gt; $12,212 target per employee a month; 14.7 fixed employees; $102,351 a year</a:t>
            </a:r>
          </a:p>
          <a:p>
            <a:r>
              <a:t>VW ST GEORGE: $9,878 today -&gt; $10,372 target per employee a month; 10.9 fixed employees; $64,535 a year</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123 and 12 of 24 others beat 176. Toyota Flagstaff leads non-luxury at 253.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Service Advisor,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service advisors. Top and bottom five stores by change in CP &amp; W ROs per Service Advisor, Jan-Sep 2026 vs 2025. Moving now: Jul-Sep 2026 vs Jan-Mar 2026, each store against itself; the group moved +15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5 of 9 luxury stores beat 276 and 7 of 24 others beat 418. Toyota Henderson leads non-luxury at 1,022.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Manager,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managers. Small stores carry one to three managers, so one hire moves the ratio sharply. Top and bottom five stores by change in CP &amp; W ROs per Fixed Manager, Jan-Sep 2026 vs 2025. Moving now: Jul-Sep 2026 vs Jan-Mar 2026, each store against itself; the group moved +38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YTD from YTD totals, not the mean of months. Store rows reconcile to the group on every input, both years. 2025 shown January-December; October-December pulled Oct 22 on the same basis (chart only).</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Against their own segment, 4 of 9 luxury stores beat 17.4 and 14 of 24 others beat 29.3. Kia St George leads non-luxury at 39.8.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Jan-Sep 2026 YTD. Green at or above own segment average, red below. Segment averages from segment totals. Luxury = Lexus, Lincoln, Cadillac, Volvo, Audi Reno, Audi Henderson, LR Reno, LR LV, LR Henderson; Acura counted as non-luxury.</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Change in CP &amp; W ROs per Fixed Employee, Jan-Sep 2026 vs 2025, best first.</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Gross and ROs: Qlik - Productivity app (P&amp;L Total Gross Profit - Fixed Ops; CP &amp; W ROs). Headcount: ADP Employee Master extract, 10/19/2026, month-end snapshots, Qlik's fixed-employee title list. Each person counted once: someone open at two stores is counted at the old store until that record closes. Monthly averages, Jan-Sep. Same-store, INEOS excluded (opened 2026). GMC Prescott body shop gross, staff and body-only ROs excluded. Monthly CP &amp; W ROs / fixed employees. Top and bottom five stores by change in CP &amp; W ROs per Fixed Employee, Jan-Sep 2026 vs 2025. Moving now: Jul-Sep 2026 vs Jan-Mar 2026, each store against itself; the group moved +1.8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ADP worked hours (regular + overtime) and Qlik - Closed Repair Orders sold hours, all pay types, matched by tech number. Dec 25, 2025 - Oct 9, 2026 (shown as Jan-Sep). Same-store, INEOS excluded (opened 2026). Service, express, team-leader and shop-foreman titles only; body shop, detail and tint excluded. Outliers dropped: shop foremen at or below 30% (workbook uses 20%; under 30% a foreman is mainly dispatching), team leaders at or below 20%, service and express technicians at or below 10% (workbook uses 2%; under 10% a tech is not working as a line tech). Unassigned codes (MULT, 999, 77777) excluded. Role changes: ADP shows one current title with worked hours for the whole period, so when a tech's worked hours exceed 125% of full time over the months they actually flagged, worked hours are scaled to that span (56 techs). 45 keying-error lines removed from sold hours (5,399 hrs: single lines of 20+ hours with under $25 labor sale per hour, e.g. 940.58 hrs for $0 at Hyundai St George, RO 177970). Top quarter = the store's most proficient quarter of counted technicians (at least one), sold / worked hours combined. Bars capped at 190%.ACURA: 67.4%; 11 of 11 under 85%; gap 2,954 hrs; labor $50K/mo + parts $26K/mo; tech pay $14K/mo; 25.4% of $299K/mo RO gross; top quarter 74% (3 techs); 3.46 ROs/tech day; 1.75 hrs/RO</a:t>
            </a:r>
          </a:p>
          <a:p>
            <a:r>
              <a:t>AUDI HENDERSON: 91.0%; 13 of 23 under 85%; gap 3,426 hrs; labor $81K/mo + parts $20K/mo; tech pay $14K/mo; 8.3% of $1.23M/mo RO gross; top quarter 135% (6 techs); 2.77 ROs/tech day; 3.23 hrs/RO</a:t>
            </a:r>
          </a:p>
          <a:p>
            <a:r>
              <a:t>AUDI RENO: 117.1%; 4 of 10 under 85%; gap 826 hrs; labor $14K/mo + parts $6K/mo; tech pay $4K/mo; 4.0% of $504K/mo RO gross; top quarter 194% (2 techs); 4.08 ROs/tech day; 2.88 hrs/RO</a:t>
            </a:r>
          </a:p>
          <a:p>
            <a:r>
              <a:t>CADILLAC: 87.7%; 16 of 29 under 85%; gap 6,705 hrs; labor $108K/mo + parts $49K/mo; tech pay $24K/mo; 13.6% of $1.16M/mo RO gross; top quarter 143% (7 techs); 2.48 ROs/tech day; 3.41 hrs/RO</a:t>
            </a:r>
          </a:p>
          <a:p>
            <a:r>
              <a:t>CDJR POST FALLS: 71.2%; 9 of 14 under 85%; gap 5,005 hrs; labor $68K/mo + parts $32K/mo; tech pay $18K/mo; 24.6% of $408K/mo RO gross; top quarter 129% (4 techs); 3.77 ROs/tech day; 2.25 hrs/RO</a:t>
            </a:r>
          </a:p>
          <a:p>
            <a:r>
              <a:t>CHEVY GMC BULLHEAD: 68.4%; 16 of 20 under 85%; gap 5,809 hrs; labor $73K/mo + parts $39K/mo; tech pay $20K/mo; 23.2% of $483K/mo RO gross; top quarter 96% (5 techs); 3.06 ROs/tech day; 2.19 hrs/RO</a:t>
            </a:r>
          </a:p>
          <a:p>
            <a:r>
              <a:t>CHEVY LV: 103.4%; 16 of 51 under 85%; gap 5,102 hrs; labor $62K/mo + parts $25K/mo; tech pay $17K/mo; 5.2% of $1.69M/mo RO gross; top quarter 164% (13 techs); 3.95 ROs/tech day; 2.69 hrs/RO</a:t>
            </a:r>
          </a:p>
          <a:p>
            <a:r>
              <a:t>GMC PRESCOTT: 73.6%; 7 of 12 under 85%; gap 2,741 hrs; labor $31K/mo + parts $17K/mo; tech pay $12K/mo; 14.4% of $333K/mo RO gross; top quarter 104% (3 techs); 3.59 ROs/tech day; 4.21 hrs/RO</a:t>
            </a:r>
          </a:p>
          <a:p>
            <a:r>
              <a:t>HONDA FLAGSTAFF: 78.5%; 4 of 6 under 85%; gap 2,217 hrs; labor $28K/mo + parts $12K/mo; tech pay $8K/mo; 19.6% of $202K/mo RO gross; top quarter 131% (2 techs); 5.23 ROs/tech day; 1.85 hrs/RO</a:t>
            </a:r>
          </a:p>
          <a:p>
            <a:r>
              <a:t>HONDA HENDERSON: 118.5%; 5 of 28 under 85%; gap 669 hrs; labor $9K/mo + parts $4K/mo; tech pay $2K/mo; 0.8% of $1.54M/mo RO gross; top quarter 172% (7 techs); 6.04 ROs/tech day; 2.11 hrs/RO</a:t>
            </a:r>
          </a:p>
          <a:p>
            <a:r>
              <a:t>HONDA NORTH: 109.3%; 4 of 22 under 85%; gap 764 hrs; labor $9K/mo + parts $4K/mo; tech pay $2K/mo; 1.4% of $949K/mo RO gross; top quarter 152% (6 techs); 6.08 ROs/tech day; 2.29 hrs/RO</a:t>
            </a:r>
          </a:p>
          <a:p>
            <a:r>
              <a:t>HONDA SPOKANE: 109.0%; 2 of 15 under 85%; gap 57 hrs; labor $1K/mo + parts $0K/mo; tech pay $0K/mo; 0.2% of $453K/mo RO gross; top quarter 130% (4 techs); 6.24 ROs/tech day; 2.14 hrs/RO</a:t>
            </a:r>
          </a:p>
          <a:p>
            <a:r>
              <a:t>HYUNDAI PRESCOTT: 78.8%; 6 of 9 under 85%; gap 1,873 hrs; labor $23K/mo + parts $11K/mo; tech pay $8K/mo; 18.5% of $185K/mo RO gross; top quarter 113% (2 techs); 3.75 ROs/tech day; 1.78 hrs/RO</a:t>
            </a:r>
          </a:p>
          <a:p>
            <a:r>
              <a:t>HYUNDAI ST GEORGE: 69.0%; 8 of 11 under 85%; gap 3,952 hrs; labor $58K/mo + parts $30K/mo; tech pay $13K/mo; 31.9% of $277K/mo RO gross; top quarter 122% (3 techs); 4.23 ROs/tech day; 1.45 hrs/RO</a:t>
            </a:r>
          </a:p>
          <a:p>
            <a:r>
              <a:t>KIA LV: 76.8%; 16 of 20 under 85%; gap 3,389 hrs; labor $51K/mo + parts $23K/mo; tech pay $12K/mo; 11.6% of $643K/mo RO gross; top quarter 101% (5 techs); 5.22 ROs/tech day; 1.70 hrs/RO</a:t>
            </a:r>
          </a:p>
          <a:p>
            <a:r>
              <a:t>KIA ST GEORGE: 67.5%; 9 of 12 under 85%; gap 3,713 hrs; labor $48K/mo + parts $29K/mo; tech pay $11K/mo; 29.7% of $258K/mo RO gross; top quarter 98% (3 techs); 4.25 ROs/tech day; 1.31 hrs/RO</a:t>
            </a:r>
          </a:p>
          <a:p>
            <a:r>
              <a:t>LEXUS: 104.7%; 6 of 11 under 85%; gap 1,451 hrs; labor $24K/mo + parts $7K/mo; tech pay $5K/mo; 7.9% of $400K/mo RO gross; top quarter 178% (3 techs); 4.01 ROs/tech day; 2.44 hrs/RO</a:t>
            </a:r>
          </a:p>
          <a:p>
            <a:r>
              <a:t>LINCOLN: 94.9%; 5 of 11 under 85%; gap 1,236 hrs; labor $17K/mo + parts $7K/mo; tech pay $4K/mo; 7.6% of $312K/mo RO gross; top quarter 125% (3 techs); 3.24 ROs/tech day; 2.35 hrs/RO</a:t>
            </a:r>
          </a:p>
          <a:p>
            <a:r>
              <a:t>LR HENDERSON: 106.0%; 3 of 7 under 85%; gap 567 hrs; labor $9K/mo + parts $5K/mo; tech pay $2K/mo; 4.2% of $357K/mo RO gross; top quarter 145% (2 techs); 2.94 ROs/tech day; 3.68 hrs/RO</a:t>
            </a:r>
          </a:p>
          <a:p>
            <a:r>
              <a:t>LR LV: 91.2%; 8 of 16 under 85%; gap 2,154 hrs; labor $42K/mo + parts $21K/mo; tech pay $9K/mo; 9.0% of $702K/mo RO gross; top quarter 131% (4 techs); 2.41 ROs/tech day; 3.54 hrs/RO</a:t>
            </a:r>
          </a:p>
          <a:p>
            <a:r>
              <a:t>LR RENO: 81.4%; 2 of 6 under 85%; gap 724 hrs; labor $14K/mo + parts $7K/mo; tech pay $3K/mo; 8.0% of $257K/mo RO gross; top quarter 96% (2 techs); 2.36 ROs/tech day; 3.20 hrs/RO</a:t>
            </a:r>
          </a:p>
          <a:p>
            <a:r>
              <a:t>MAZDA: 101.6%; 4 of 11 under 85%; gap 415 hrs; labor $6K/mo + parts $3K/mo; tech pay $1K/mo; 2.7% of $322K/mo RO gross; top quarter 123% (3 techs); 5.78 ROs/tech day; 1.54 hrs/RO</a:t>
            </a:r>
          </a:p>
          <a:p>
            <a:r>
              <a:t>NISSAN: 91.1%; 8 of 17 under 85%; gap 2,291 hrs; labor $30K/mo + parts $13K/mo; tech pay $9K/mo; 8.0% of $532K/mo RO gross; top quarter 132% (4 techs); 4.08 ROs/tech day; 2.29 hrs/RO</a:t>
            </a:r>
          </a:p>
          <a:p>
            <a:r>
              <a:t>SUBARU LV: 96.9%; 11 of 27 under 85%; gap 2,050 hrs; labor $29K/mo + parts $15K/mo; tech pay $5K/mo; 4.1% of $1.07M/mo RO gross; top quarter 132% (7 techs); 4.64 ROs/tech day; 2.07 hrs/RO</a:t>
            </a:r>
          </a:p>
          <a:p>
            <a:r>
              <a:t>SUBARU PRESCOTT: 98.4%; 6 of 12 under 85%; gap 3,523 hrs; labor $37K/mo + parts $21K/mo; tech pay $13K/mo; 20.0% of $288K/mo RO gross; top quarter 179% (3 techs); 4.73 ROs/tech day; 1.68 hrs/RO</a:t>
            </a:r>
          </a:p>
          <a:p>
            <a:r>
              <a:t>SUBARU ST GEORGE: 109.7%; 3 of 12 under 85%; gap 1,248 hrs; labor $14K/mo + parts $8K/mo; tech pay $5K/mo; 5.8% of $382K/mo RO gross; top quarter 146% (3 techs); 4.11 ROs/tech day; 2.20 hrs/RO</a:t>
            </a:r>
          </a:p>
          <a:p>
            <a:r>
              <a:t>TOYOTA FLAGSTAFF: 102.4%; 6 of 18 under 85%; gap 662 hrs; labor $8K/mo + parts $3K/mo; tech pay $2K/mo; 1.9% of $542K/mo RO gross; top quarter 151% (4 techs); 4.96 ROs/tech day; 1.84 hrs/RO</a:t>
            </a:r>
          </a:p>
          <a:p>
            <a:r>
              <a:t>TOYOTA HENDERSON: 104.3%; 20 of 59 under 85%; gap 4,057 hrs; labor $51K/mo + parts $19K/mo; tech pay $14K/mo; 2.9% of $2.44M/mo RO gross; top quarter 153% (15 techs); 6.41 ROs/tech day; 1.88 hrs/RO</a:t>
            </a:r>
          </a:p>
          <a:p>
            <a:r>
              <a:t>TOYOTA PRESCOTT: 83.6%; 11 of 22 under 85%; gap 4,174 hrs; labor $57K/mo + parts $20K/mo; tech pay $16K/mo; 13.5% of $573K/mo RO gross; top quarter 118% (6 techs); 4.22 ROs/tech day; 1.72 hrs/RO</a:t>
            </a:r>
          </a:p>
          <a:p>
            <a:r>
              <a:t>TOYOTA SPOKANE: 108.0%; 4 of 28 under 85%; gap 745 hrs; labor $8K/mo + parts $4K/mo; tech pay $3K/mo; 1.9% of $609K/mo RO gross; top quarter 134% (7 techs); 5.36 ROs/tech day; 1.81 hrs/RO</a:t>
            </a:r>
          </a:p>
          <a:p>
            <a:r>
              <a:t>VOLVO: 72.3%; 8 of 9 under 85%; gap 1,963 hrs; labor $40K/mo + parts $22K/mo; tech pay $5K/mo; 14.8% of $417K/mo RO gross; top quarter 89% (2 techs); 3.81 ROs/tech day; 1.92 hrs/RO</a:t>
            </a:r>
          </a:p>
          <a:p>
            <a:r>
              <a:t>VW HENDERSON: 92.2%; 6 of 19 under 85%; gap 1,416 hrs; labor $19K/mo + parts $5K/mo; tech pay $4K/mo; 4.8% of $516K/mo RO gross; top quarter 115% (5 techs); 3.77 ROs/tech day; 2.28 hrs/RO</a:t>
            </a:r>
          </a:p>
          <a:p>
            <a:r>
              <a:t>VW ST GEORGE: 70.0%; 5 of 5 under 85%; gap 1,149 hrs; labor $13K/mo + parts $7K/mo; tech pay $3K/mo; 19.0% of $109K/mo RO gross; top quarter 76% (1 techs); 3.81 ROs/tech day; 1.65 hrs/RO</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ros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hours per ro,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elr,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parts gp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a:t>
            </a:r>
          </a:p>
          <a:p/>
          <a:p>
            <a:r>
              <a:t>Review note: the month line is the store's own monthly cp gross per month,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alignment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balance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brake fluid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CP gross = CP labor gross + CP parts gross. Change is Jul-Sep 2026 (Q3) vs Jan-Mar 2026 (Q1), each store against itself. Gross and ROs are per-month averages of each quarter. The group's own Q1-to-Q3 change is the seasonal baseline: it is the same for every store, so ranking by a store's change is the same as ranking by how far it beat the group. 'Stepped up in' = the month that best splits the store's year into a lower stretch before and a higher stretch after (at least three months before, two after). It is a conversation starter, not proof of cause. Opcode closing % = ROs with the service ÷ customer-pay ROs on the op-code report basis, same as the Opcode Benchmarks slides.</a:t>
            </a:r>
          </a:p>
          <a:p/>
          <a:p>
            <a:r>
              <a:t>Review note: the month line is the store's own monthly fuel service %, so a step up shows as the line moving to a higher level and staying there. Volume measures (gross, ROs) still carry some store-specific seasonality (snowbird markets) the group baseline cannot fully remove; the rate measures are the cleanest read.</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Jan–Sep 2026 vs Jan–Sep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Period: Jul–Sep 2026 vs Jul–Sep 2025. Stores with under 50 CP ROs in the base period not ranked (none were excluded).</a:t>
            </a:r>
          </a:p>
          <a:p/>
          <a:p>
            <a:r>
              <a:t>Review note: percent change rewards a store coming off a weak base. The before → after values are on the card so the room sees the starting point.</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 Top-3 finishes counted across six measures in each of two periods (Jan-Sep and Jul-Sep), 12 lists in all. Top 8 stores shown.</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Qlik - Closed Repair Orders. Customer pay, by close date. Same-store, 33 stores (INEOS excluded, opened 2026). GMC Prescott body shop labor types excluded. Change is 2026 vs the same months of 2025, so seasonality cancels out. Stores ranked by percent change (points for parts GP %), so store size does not drive the ranking. CP gross = CP labor gross + CP parts gross.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chart" Target="../charts/chart3.xml"/><Relationship Id="rId5" Type="http://schemas.openxmlformats.org/officeDocument/2006/relationships/chart" Target="../charts/chart4.xml"/><Relationship Id="rId6" Type="http://schemas.openxmlformats.org/officeDocument/2006/relationships/chart" Target="../charts/chart5.xml"/><Relationship Id="rId7" Type="http://schemas.openxmlformats.org/officeDocument/2006/relationships/chart" Target="../charts/chart6.xml"/><Relationship Id="rId8"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xml"/><Relationship Id="rId3" Type="http://schemas.openxmlformats.org/officeDocument/2006/relationships/chart" Target="../charts/chart8.xml"/><Relationship Id="rId4" Type="http://schemas.openxmlformats.org/officeDocument/2006/relationships/chart" Target="../charts/chart9.xml"/><Relationship Id="rId5" Type="http://schemas.openxmlformats.org/officeDocument/2006/relationships/chart" Target="../charts/chart10.xml"/><Relationship Id="rId6" Type="http://schemas.openxmlformats.org/officeDocument/2006/relationships/chart" Target="../charts/chart11.xml"/><Relationship Id="rId7" Type="http://schemas.openxmlformats.org/officeDocument/2006/relationships/chart" Target="../charts/chart12.xml"/><Relationship Id="rId8"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xml"/><Relationship Id="rId3" Type="http://schemas.openxmlformats.org/officeDocument/2006/relationships/chart" Target="../charts/chart14.xml"/><Relationship Id="rId4" Type="http://schemas.openxmlformats.org/officeDocument/2006/relationships/chart" Target="../charts/chart15.xml"/><Relationship Id="rId5" Type="http://schemas.openxmlformats.org/officeDocument/2006/relationships/chart" Target="../charts/chart16.xml"/><Relationship Id="rId6" Type="http://schemas.openxmlformats.org/officeDocument/2006/relationships/chart" Target="../charts/chart17.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xml"/><Relationship Id="rId3" Type="http://schemas.openxmlformats.org/officeDocument/2006/relationships/chart" Target="../charts/chart19.xml"/><Relationship Id="rId4" Type="http://schemas.openxmlformats.org/officeDocument/2006/relationships/chart" Target="../charts/chart20.xml"/><Relationship Id="rId5" Type="http://schemas.openxmlformats.org/officeDocument/2006/relationships/chart" Target="../charts/chart21.xml"/><Relationship Id="rId6" Type="http://schemas.openxmlformats.org/officeDocument/2006/relationships/chart" Target="../charts/chart22.xml"/><Relationship Id="rId7" Type="http://schemas.openxmlformats.org/officeDocument/2006/relationships/chart" Target="../charts/chart23.xml"/><Relationship Id="rId8"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xml"/><Relationship Id="rId3" Type="http://schemas.openxmlformats.org/officeDocument/2006/relationships/chart" Target="../charts/chart25.xml"/><Relationship Id="rId4" Type="http://schemas.openxmlformats.org/officeDocument/2006/relationships/chart" Target="../charts/chart26.xml"/><Relationship Id="rId5" Type="http://schemas.openxmlformats.org/officeDocument/2006/relationships/chart" Target="../charts/chart27.xml"/><Relationship Id="rId6" Type="http://schemas.openxmlformats.org/officeDocument/2006/relationships/chart" Target="../charts/chart28.xml"/><Relationship Id="rId7" Type="http://schemas.openxmlformats.org/officeDocument/2006/relationships/chart" Target="../charts/chart29.xml"/><Relationship Id="rId8"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0.xml"/><Relationship Id="rId3" Type="http://schemas.openxmlformats.org/officeDocument/2006/relationships/chart" Target="../charts/chart31.xml"/><Relationship Id="rId4" Type="http://schemas.openxmlformats.org/officeDocument/2006/relationships/chart" Target="../charts/chart32.xml"/><Relationship Id="rId5" Type="http://schemas.openxmlformats.org/officeDocument/2006/relationships/chart" Target="../charts/chart33.xml"/><Relationship Id="rId6" Type="http://schemas.openxmlformats.org/officeDocument/2006/relationships/chart" Target="../charts/chart34.xml"/><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35.xml"/><Relationship Id="rId3" Type="http://schemas.openxmlformats.org/officeDocument/2006/relationships/chart" Target="../charts/chart36.xml"/><Relationship Id="rId4" Type="http://schemas.openxmlformats.org/officeDocument/2006/relationships/chart" Target="../charts/chart37.xml"/><Relationship Id="rId5" Type="http://schemas.openxmlformats.org/officeDocument/2006/relationships/chart" Target="../charts/chart38.xml"/><Relationship Id="rId6" Type="http://schemas.openxmlformats.org/officeDocument/2006/relationships/chart" Target="../charts/chart39.xml"/><Relationship Id="rId7" Type="http://schemas.openxmlformats.org/officeDocument/2006/relationships/chart" Target="../charts/chart40.xml"/><Relationship Id="rId8"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1.xml"/><Relationship Id="rId3" Type="http://schemas.openxmlformats.org/officeDocument/2006/relationships/chart" Target="../charts/chart42.xml"/><Relationship Id="rId4" Type="http://schemas.openxmlformats.org/officeDocument/2006/relationships/chart" Target="../charts/chart43.xml"/><Relationship Id="rId5" Type="http://schemas.openxmlformats.org/officeDocument/2006/relationships/chart" Target="../charts/chart44.xml"/><Relationship Id="rId6" Type="http://schemas.openxmlformats.org/officeDocument/2006/relationships/chart" Target="../charts/chart45.xml"/><Relationship Id="rId7" Type="http://schemas.openxmlformats.org/officeDocument/2006/relationships/chart" Target="../charts/chart46.xml"/><Relationship Id="rId8"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47.xml"/><Relationship Id="rId3" Type="http://schemas.openxmlformats.org/officeDocument/2006/relationships/chart" Target="../charts/chart48.xml"/><Relationship Id="rId4" Type="http://schemas.openxmlformats.org/officeDocument/2006/relationships/chart" Target="../charts/chart49.xml"/><Relationship Id="rId5" Type="http://schemas.openxmlformats.org/officeDocument/2006/relationships/chart" Target="../charts/chart50.xml"/><Relationship Id="rId6" Type="http://schemas.openxmlformats.org/officeDocument/2006/relationships/chart" Target="../charts/chart51.xml"/><Relationship Id="rId7" Type="http://schemas.openxmlformats.org/officeDocument/2006/relationships/chart" Target="../charts/chart52.xml"/><Relationship Id="rId8"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3.xml"/><Relationship Id="rId3" Type="http://schemas.openxmlformats.org/officeDocument/2006/relationships/chart" Target="../charts/chart54.xml"/><Relationship Id="rId4" Type="http://schemas.openxmlformats.org/officeDocument/2006/relationships/chart" Target="../charts/chart55.xml"/><Relationship Id="rId5" Type="http://schemas.openxmlformats.org/officeDocument/2006/relationships/chart" Target="../charts/chart56.xml"/><Relationship Id="rId6" Type="http://schemas.openxmlformats.org/officeDocument/2006/relationships/chart" Target="../charts/chart57.xml"/><Relationship Id="rId7"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58.xml"/><Relationship Id="rId3" Type="http://schemas.openxmlformats.org/officeDocument/2006/relationships/chart" Target="../charts/chart59.xml"/><Relationship Id="rId4" Type="http://schemas.openxmlformats.org/officeDocument/2006/relationships/chart" Target="../charts/chart60.xml"/><Relationship Id="rId5" Type="http://schemas.openxmlformats.org/officeDocument/2006/relationships/chart" Target="../charts/chart61.xml"/><Relationship Id="rId6" Type="http://schemas.openxmlformats.org/officeDocument/2006/relationships/chart" Target="../charts/chart62.xml"/><Relationship Id="rId7"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3.xml"/><Relationship Id="rId3" Type="http://schemas.openxmlformats.org/officeDocument/2006/relationships/chart" Target="../charts/chart64.xml"/><Relationship Id="rId4" Type="http://schemas.openxmlformats.org/officeDocument/2006/relationships/chart" Target="../charts/chart65.xml"/><Relationship Id="rId5" Type="http://schemas.openxmlformats.org/officeDocument/2006/relationships/chart" Target="../charts/chart66.xml"/><Relationship Id="rId6" Type="http://schemas.openxmlformats.org/officeDocument/2006/relationships/chart" Target="../charts/chart67.xml"/><Relationship Id="rId7"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68.xml"/><Relationship Id="rId3" Type="http://schemas.openxmlformats.org/officeDocument/2006/relationships/chart" Target="../charts/chart69.xml"/><Relationship Id="rId4" Type="http://schemas.openxmlformats.org/officeDocument/2006/relationships/chart" Target="../charts/chart70.xml"/><Relationship Id="rId5" Type="http://schemas.openxmlformats.org/officeDocument/2006/relationships/chart" Target="../charts/chart71.xml"/><Relationship Id="rId6" Type="http://schemas.openxmlformats.org/officeDocument/2006/relationships/chart" Target="../charts/chart72.xml"/><Relationship Id="rId7" Type="http://schemas.openxmlformats.org/officeDocument/2006/relationships/chart" Target="../charts/chart73.xml"/><Relationship Id="rId8" Type="http://schemas.openxmlformats.org/officeDocument/2006/relationships/chart" Target="../charts/chart74.xml"/><Relationship Id="rId9" Type="http://schemas.openxmlformats.org/officeDocument/2006/relationships/chart" Target="../charts/chart75.xml"/><Relationship Id="rId10"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76.xml"/><Relationship Id="rId3" Type="http://schemas.openxmlformats.org/officeDocument/2006/relationships/chart" Target="../charts/chart77.xml"/><Relationship Id="rId4" Type="http://schemas.openxmlformats.org/officeDocument/2006/relationships/chart" Target="../charts/chart78.xml"/><Relationship Id="rId5" Type="http://schemas.openxmlformats.org/officeDocument/2006/relationships/chart" Target="../charts/chart79.xml"/><Relationship Id="rId6" Type="http://schemas.openxmlformats.org/officeDocument/2006/relationships/chart" Target="../charts/chart80.xml"/><Relationship Id="rId7"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1.xml"/><Relationship Id="rId3" Type="http://schemas.openxmlformats.org/officeDocument/2006/relationships/chart" Target="../charts/chart82.xml"/><Relationship Id="rId4" Type="http://schemas.openxmlformats.org/officeDocument/2006/relationships/chart" Target="../charts/chart83.xml"/><Relationship Id="rId5" Type="http://schemas.openxmlformats.org/officeDocument/2006/relationships/chart" Target="../charts/chart84.xml"/><Relationship Id="rId6" Type="http://schemas.openxmlformats.org/officeDocument/2006/relationships/chart" Target="../charts/chart85.xml"/><Relationship Id="rId7" Type="http://schemas.openxmlformats.org/officeDocument/2006/relationships/chart" Target="../charts/chart86.xml"/><Relationship Id="rId8"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87.xml"/><Relationship Id="rId3" Type="http://schemas.openxmlformats.org/officeDocument/2006/relationships/chart" Target="../charts/chart88.xml"/><Relationship Id="rId4" Type="http://schemas.openxmlformats.org/officeDocument/2006/relationships/chart" Target="../charts/chart89.xml"/><Relationship Id="rId5" Type="http://schemas.openxmlformats.org/officeDocument/2006/relationships/chart" Target="../charts/chart90.xml"/><Relationship Id="rId6" Type="http://schemas.openxmlformats.org/officeDocument/2006/relationships/chart" Target="../charts/chart91.xml"/><Relationship Id="rId7" Type="http://schemas.openxmlformats.org/officeDocument/2006/relationships/chart" Target="../charts/chart92.xml"/><Relationship Id="rId8"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3.xml"/><Relationship Id="rId3" Type="http://schemas.openxmlformats.org/officeDocument/2006/relationships/chart" Target="../charts/chart94.xml"/><Relationship Id="rId4" Type="http://schemas.openxmlformats.org/officeDocument/2006/relationships/chart" Target="../charts/chart95.xml"/><Relationship Id="rId5" Type="http://schemas.openxmlformats.org/officeDocument/2006/relationships/chart" Target="../charts/chart96.xml"/><Relationship Id="rId6" Type="http://schemas.openxmlformats.org/officeDocument/2006/relationships/chart" Target="../charts/chart97.xml"/><Relationship Id="rId7" Type="http://schemas.openxmlformats.org/officeDocument/2006/relationships/chart" Target="../charts/chart98.xml"/><Relationship Id="rId8"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99.xml"/><Relationship Id="rId3" Type="http://schemas.openxmlformats.org/officeDocument/2006/relationships/chart" Target="../charts/chart100.xml"/><Relationship Id="rId4" Type="http://schemas.openxmlformats.org/officeDocument/2006/relationships/chart" Target="../charts/chart101.xml"/><Relationship Id="rId5" Type="http://schemas.openxmlformats.org/officeDocument/2006/relationships/chart" Target="../charts/chart102.xml"/><Relationship Id="rId6" Type="http://schemas.openxmlformats.org/officeDocument/2006/relationships/chart" Target="../charts/chart103.xml"/><Relationship Id="rId7" Type="http://schemas.openxmlformats.org/officeDocument/2006/relationships/chart" Target="../charts/chart104.xml"/><Relationship Id="rId8"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05.xml"/><Relationship Id="rId3" Type="http://schemas.openxmlformats.org/officeDocument/2006/relationships/chart" Target="../charts/chart106.xml"/><Relationship Id="rId4" Type="http://schemas.openxmlformats.org/officeDocument/2006/relationships/chart" Target="../charts/chart107.xml"/><Relationship Id="rId5" Type="http://schemas.openxmlformats.org/officeDocument/2006/relationships/chart" Target="../charts/chart108.xml"/><Relationship Id="rId6" Type="http://schemas.openxmlformats.org/officeDocument/2006/relationships/chart" Target="../charts/chart109.xml"/><Relationship Id="rId7" Type="http://schemas.openxmlformats.org/officeDocument/2006/relationships/chart" Target="../charts/chart110.xml"/><Relationship Id="rId8"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1.xml"/><Relationship Id="rId3" Type="http://schemas.openxmlformats.org/officeDocument/2006/relationships/chart" Target="../charts/chart112.xml"/><Relationship Id="rId4" Type="http://schemas.openxmlformats.org/officeDocument/2006/relationships/chart" Target="../charts/chart113.xml"/><Relationship Id="rId5" Type="http://schemas.openxmlformats.org/officeDocument/2006/relationships/chart" Target="../charts/chart114.xml"/><Relationship Id="rId6" Type="http://schemas.openxmlformats.org/officeDocument/2006/relationships/chart" Target="../charts/chart115.xml"/><Relationship Id="rId7" Type="http://schemas.openxmlformats.org/officeDocument/2006/relationships/chart" Target="../charts/chart116.xml"/><Relationship Id="rId8"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17.xml"/><Relationship Id="rId3" Type="http://schemas.openxmlformats.org/officeDocument/2006/relationships/chart" Target="../charts/chart118.xml"/><Relationship Id="rId4" Type="http://schemas.openxmlformats.org/officeDocument/2006/relationships/chart" Target="../charts/chart119.xml"/><Relationship Id="rId5" Type="http://schemas.openxmlformats.org/officeDocument/2006/relationships/chart" Target="../charts/chart120.xml"/><Relationship Id="rId6" Type="http://schemas.openxmlformats.org/officeDocument/2006/relationships/chart" Target="../charts/chart121.xml"/><Relationship Id="rId7" Type="http://schemas.openxmlformats.org/officeDocument/2006/relationships/chart" Target="../charts/chart122.xml"/><Relationship Id="rId8"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3.xml"/><Relationship Id="rId3" Type="http://schemas.openxmlformats.org/officeDocument/2006/relationships/chart" Target="../charts/chart124.xml"/><Relationship Id="rId4" Type="http://schemas.openxmlformats.org/officeDocument/2006/relationships/chart" Target="../charts/chart125.xml"/><Relationship Id="rId5" Type="http://schemas.openxmlformats.org/officeDocument/2006/relationships/chart" Target="../charts/chart126.xml"/><Relationship Id="rId6" Type="http://schemas.openxmlformats.org/officeDocument/2006/relationships/chart" Target="../charts/chart127.xml"/><Relationship Id="rId7"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28.xml"/><Relationship Id="rId3" Type="http://schemas.openxmlformats.org/officeDocument/2006/relationships/chart" Target="../charts/chart129.xml"/><Relationship Id="rId4" Type="http://schemas.openxmlformats.org/officeDocument/2006/relationships/chart" Target="../charts/chart130.xml"/><Relationship Id="rId5" Type="http://schemas.openxmlformats.org/officeDocument/2006/relationships/chart" Target="../charts/chart131.xml"/><Relationship Id="rId6" Type="http://schemas.openxmlformats.org/officeDocument/2006/relationships/chart" Target="../charts/chart132.xml"/><Relationship Id="rId7"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3.xml"/><Relationship Id="rId3" Type="http://schemas.openxmlformats.org/officeDocument/2006/relationships/chart" Target="../charts/chart134.xml"/><Relationship Id="rId4"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35.xml"/><Relationship Id="rId3" Type="http://schemas.openxmlformats.org/officeDocument/2006/relationships/chart" Target="../charts/chart136.xml"/><Relationship Id="rId4" Type="http://schemas.openxmlformats.org/officeDocument/2006/relationships/chart" Target="../charts/chart137.xml"/><Relationship Id="rId5" Type="http://schemas.openxmlformats.org/officeDocument/2006/relationships/chart" Target="../charts/chart138.xml"/><Relationship Id="rId6" Type="http://schemas.openxmlformats.org/officeDocument/2006/relationships/chart" Target="../charts/chart139.xml"/><Relationship Id="rId7" Type="http://schemas.openxmlformats.org/officeDocument/2006/relationships/chart" Target="../charts/chart140.xml"/><Relationship Id="rId8"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4.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5.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6.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7.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8.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9.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0.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3.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4.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1.xml"/><Relationship Id="rId3" Type="http://schemas.openxmlformats.org/officeDocument/2006/relationships/chart" Target="../charts/chart142.xml"/><Relationship Id="rId4" Type="http://schemas.openxmlformats.org/officeDocument/2006/relationships/chart" Target="../charts/chart143.xml"/><Relationship Id="rId5" Type="http://schemas.openxmlformats.org/officeDocument/2006/relationships/chart" Target="../charts/chart144.xml"/><Relationship Id="rId6" Type="http://schemas.openxmlformats.org/officeDocument/2006/relationships/chart" Target="../charts/chart145.xml"/><Relationship Id="rId7" Type="http://schemas.openxmlformats.org/officeDocument/2006/relationships/chart" Target="../charts/chart146.xml"/><Relationship Id="rId8" Type="http://schemas.openxmlformats.org/officeDocument/2006/relationships/notesSlide" Target="../notesSlides/notesSlide166.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7.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8.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47.xml"/><Relationship Id="rId3" Type="http://schemas.openxmlformats.org/officeDocument/2006/relationships/chart" Target="../charts/chart148.xml"/><Relationship Id="rId4" Type="http://schemas.openxmlformats.org/officeDocument/2006/relationships/chart" Target="../charts/chart149.xml"/><Relationship Id="rId5" Type="http://schemas.openxmlformats.org/officeDocument/2006/relationships/chart" Target="../charts/chart150.xml"/><Relationship Id="rId6" Type="http://schemas.openxmlformats.org/officeDocument/2006/relationships/chart" Target="../charts/chart151.xml"/><Relationship Id="rId7" Type="http://schemas.openxmlformats.org/officeDocument/2006/relationships/chart" Target="../charts/chart152.xml"/><Relationship Id="rId8" Type="http://schemas.openxmlformats.org/officeDocument/2006/relationships/notesSlide" Target="../notesSlides/notesSlide170.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3.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3.xml"/><Relationship Id="rId3" Type="http://schemas.openxmlformats.org/officeDocument/2006/relationships/chart" Target="../charts/chart154.xml"/><Relationship Id="rId4" Type="http://schemas.openxmlformats.org/officeDocument/2006/relationships/chart" Target="../charts/chart155.xml"/><Relationship Id="rId5" Type="http://schemas.openxmlformats.org/officeDocument/2006/relationships/chart" Target="../charts/chart156.xml"/><Relationship Id="rId6" Type="http://schemas.openxmlformats.org/officeDocument/2006/relationships/chart" Target="../charts/chart157.xml"/><Relationship Id="rId7" Type="http://schemas.openxmlformats.org/officeDocument/2006/relationships/chart" Target="../charts/chart158.xml"/><Relationship Id="rId8" Type="http://schemas.openxmlformats.org/officeDocument/2006/relationships/notesSlide" Target="../notesSlides/notesSlide174.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7.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8.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59.xml"/><Relationship Id="rId3" Type="http://schemas.openxmlformats.org/officeDocument/2006/relationships/chart" Target="../charts/chart160.xml"/><Relationship Id="rId4" Type="http://schemas.openxmlformats.org/officeDocument/2006/relationships/chart" Target="../charts/chart161.xml"/><Relationship Id="rId5" Type="http://schemas.openxmlformats.org/officeDocument/2006/relationships/chart" Target="../charts/chart162.xml"/><Relationship Id="rId6" Type="http://schemas.openxmlformats.org/officeDocument/2006/relationships/chart" Target="../charts/chart163.xml"/><Relationship Id="rId7" Type="http://schemas.openxmlformats.org/officeDocument/2006/relationships/chart" Target="../charts/chart164.xml"/><Relationship Id="rId8" Type="http://schemas.openxmlformats.org/officeDocument/2006/relationships/chart" Target="../charts/chart165.xml"/><Relationship Id="rId9" Type="http://schemas.openxmlformats.org/officeDocument/2006/relationships/chart" Target="../charts/chart166.xml"/><Relationship Id="rId10" Type="http://schemas.openxmlformats.org/officeDocument/2006/relationships/chart" Target="../charts/chart167.xml"/><Relationship Id="rId11" Type="http://schemas.openxmlformats.org/officeDocument/2006/relationships/chart" Target="../charts/chart168.xml"/><Relationship Id="rId1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69.xml"/><Relationship Id="rId3" Type="http://schemas.openxmlformats.org/officeDocument/2006/relationships/chart" Target="../charts/chart170.xml"/><Relationship Id="rId4" Type="http://schemas.openxmlformats.org/officeDocument/2006/relationships/chart" Target="../charts/chart171.xml"/><Relationship Id="rId5" Type="http://schemas.openxmlformats.org/officeDocument/2006/relationships/chart" Target="../charts/chart172.xml"/><Relationship Id="rId6" Type="http://schemas.openxmlformats.org/officeDocument/2006/relationships/chart" Target="../charts/chart173.xml"/><Relationship Id="rId7" Type="http://schemas.openxmlformats.org/officeDocument/2006/relationships/chart" Target="../charts/chart174.xml"/><Relationship Id="rId8" Type="http://schemas.openxmlformats.org/officeDocument/2006/relationships/chart" Target="../charts/chart175.xml"/><Relationship Id="rId9" Type="http://schemas.openxmlformats.org/officeDocument/2006/relationships/chart" Target="../charts/chart176.xml"/><Relationship Id="rId10" Type="http://schemas.openxmlformats.org/officeDocument/2006/relationships/chart" Target="../charts/chart177.xml"/><Relationship Id="rId11" Type="http://schemas.openxmlformats.org/officeDocument/2006/relationships/chart" Target="../charts/chart178.xml"/><Relationship Id="rId1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79.xml"/><Relationship Id="rId3" Type="http://schemas.openxmlformats.org/officeDocument/2006/relationships/chart" Target="../charts/chart180.xml"/><Relationship Id="rId4" Type="http://schemas.openxmlformats.org/officeDocument/2006/relationships/chart" Target="../charts/chart181.xml"/><Relationship Id="rId5" Type="http://schemas.openxmlformats.org/officeDocument/2006/relationships/chart" Target="../charts/chart182.xml"/><Relationship Id="rId6" Type="http://schemas.openxmlformats.org/officeDocument/2006/relationships/chart" Target="../charts/chart183.xml"/><Relationship Id="rId7" Type="http://schemas.openxmlformats.org/officeDocument/2006/relationships/chart" Target="../charts/chart184.xml"/><Relationship Id="rId8" Type="http://schemas.openxmlformats.org/officeDocument/2006/relationships/chart" Target="../charts/chart185.xml"/><Relationship Id="rId9" Type="http://schemas.openxmlformats.org/officeDocument/2006/relationships/chart" Target="../charts/chart186.xml"/><Relationship Id="rId10" Type="http://schemas.openxmlformats.org/officeDocument/2006/relationships/chart" Target="../charts/chart187.xml"/><Relationship Id="rId11" Type="http://schemas.openxmlformats.org/officeDocument/2006/relationships/chart" Target="../charts/chart188.xml"/><Relationship Id="rId1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89.xml"/><Relationship Id="rId3" Type="http://schemas.openxmlformats.org/officeDocument/2006/relationships/chart" Target="../charts/chart190.xml"/><Relationship Id="rId4" Type="http://schemas.openxmlformats.org/officeDocument/2006/relationships/chart" Target="../charts/chart191.xml"/><Relationship Id="rId5" Type="http://schemas.openxmlformats.org/officeDocument/2006/relationships/chart" Target="../charts/chart192.xml"/><Relationship Id="rId6" Type="http://schemas.openxmlformats.org/officeDocument/2006/relationships/chart" Target="../charts/chart193.xml"/><Relationship Id="rId7" Type="http://schemas.openxmlformats.org/officeDocument/2006/relationships/chart" Target="../charts/chart194.xml"/><Relationship Id="rId8" Type="http://schemas.openxmlformats.org/officeDocument/2006/relationships/chart" Target="../charts/chart195.xml"/><Relationship Id="rId9" Type="http://schemas.openxmlformats.org/officeDocument/2006/relationships/chart" Target="../charts/chart196.xml"/><Relationship Id="rId10" Type="http://schemas.openxmlformats.org/officeDocument/2006/relationships/chart" Target="../charts/chart197.xml"/><Relationship Id="rId11" Type="http://schemas.openxmlformats.org/officeDocument/2006/relationships/chart" Target="../charts/chart198.xml"/><Relationship Id="rId12" Type="http://schemas.openxmlformats.org/officeDocument/2006/relationships/notesSlide" Target="../notesSlides/notesSlide18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199.xml"/><Relationship Id="rId3" Type="http://schemas.openxmlformats.org/officeDocument/2006/relationships/chart" Target="../charts/chart200.xml"/><Relationship Id="rId4" Type="http://schemas.openxmlformats.org/officeDocument/2006/relationships/chart" Target="../charts/chart201.xml"/><Relationship Id="rId5" Type="http://schemas.openxmlformats.org/officeDocument/2006/relationships/chart" Target="../charts/chart202.xml"/><Relationship Id="rId6" Type="http://schemas.openxmlformats.org/officeDocument/2006/relationships/chart" Target="../charts/chart203.xml"/><Relationship Id="rId7" Type="http://schemas.openxmlformats.org/officeDocument/2006/relationships/chart" Target="../charts/chart204.xml"/><Relationship Id="rId8" Type="http://schemas.openxmlformats.org/officeDocument/2006/relationships/chart" Target="../charts/chart205.xml"/><Relationship Id="rId9" Type="http://schemas.openxmlformats.org/officeDocument/2006/relationships/chart" Target="../charts/chart206.xml"/><Relationship Id="rId10" Type="http://schemas.openxmlformats.org/officeDocument/2006/relationships/chart" Target="../charts/chart207.xml"/><Relationship Id="rId11" Type="http://schemas.openxmlformats.org/officeDocument/2006/relationships/chart" Target="../charts/chart208.xml"/><Relationship Id="rId1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09.xml"/><Relationship Id="rId3" Type="http://schemas.openxmlformats.org/officeDocument/2006/relationships/chart" Target="../charts/chart210.xml"/><Relationship Id="rId4" Type="http://schemas.openxmlformats.org/officeDocument/2006/relationships/chart" Target="../charts/chart211.xml"/><Relationship Id="rId5" Type="http://schemas.openxmlformats.org/officeDocument/2006/relationships/chart" Target="../charts/chart212.xml"/><Relationship Id="rId6" Type="http://schemas.openxmlformats.org/officeDocument/2006/relationships/chart" Target="../charts/chart213.xml"/><Relationship Id="rId7" Type="http://schemas.openxmlformats.org/officeDocument/2006/relationships/chart" Target="../charts/chart214.xml"/><Relationship Id="rId8" Type="http://schemas.openxmlformats.org/officeDocument/2006/relationships/chart" Target="../charts/chart215.xml"/><Relationship Id="rId9" Type="http://schemas.openxmlformats.org/officeDocument/2006/relationships/chart" Target="../charts/chart216.xml"/><Relationship Id="rId10" Type="http://schemas.openxmlformats.org/officeDocument/2006/relationships/chart" Target="../charts/chart217.xml"/><Relationship Id="rId11" Type="http://schemas.openxmlformats.org/officeDocument/2006/relationships/chart" Target="../charts/chart218.xml"/><Relationship Id="rId1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19.xml"/><Relationship Id="rId3" Type="http://schemas.openxmlformats.org/officeDocument/2006/relationships/chart" Target="../charts/chart220.xml"/><Relationship Id="rId4" Type="http://schemas.openxmlformats.org/officeDocument/2006/relationships/chart" Target="../charts/chart221.xml"/><Relationship Id="rId5" Type="http://schemas.openxmlformats.org/officeDocument/2006/relationships/chart" Target="../charts/chart222.xml"/><Relationship Id="rId6" Type="http://schemas.openxmlformats.org/officeDocument/2006/relationships/chart" Target="../charts/chart223.xml"/><Relationship Id="rId7"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4.xml"/><Relationship Id="rId3" Type="http://schemas.openxmlformats.org/officeDocument/2006/relationships/chart" Target="../charts/chart225.xml"/><Relationship Id="rId4" Type="http://schemas.openxmlformats.org/officeDocument/2006/relationships/chart" Target="../charts/chart226.xml"/><Relationship Id="rId5" Type="http://schemas.openxmlformats.org/officeDocument/2006/relationships/chart" Target="../charts/chart227.xml"/><Relationship Id="rId6" Type="http://schemas.openxmlformats.org/officeDocument/2006/relationships/chart" Target="../charts/chart228.xml"/><Relationship Id="rId7" Type="http://schemas.openxmlformats.org/officeDocument/2006/relationships/notesSlide" Target="../notesSlides/notesSlide186.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29.xml"/><Relationship Id="rId3" Type="http://schemas.openxmlformats.org/officeDocument/2006/relationships/chart" Target="../charts/chart230.xml"/><Relationship Id="rId4" Type="http://schemas.openxmlformats.org/officeDocument/2006/relationships/chart" Target="../charts/chart231.xml"/><Relationship Id="rId5" Type="http://schemas.openxmlformats.org/officeDocument/2006/relationships/chart" Target="../charts/chart232.xml"/><Relationship Id="rId6" Type="http://schemas.openxmlformats.org/officeDocument/2006/relationships/chart" Target="../charts/chart233.xml"/><Relationship Id="rId7"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4.xml"/><Relationship Id="rId3" Type="http://schemas.openxmlformats.org/officeDocument/2006/relationships/chart" Target="../charts/chart235.xml"/><Relationship Id="rId4" Type="http://schemas.openxmlformats.org/officeDocument/2006/relationships/chart" Target="../charts/chart236.xml"/><Relationship Id="rId5" Type="http://schemas.openxmlformats.org/officeDocument/2006/relationships/chart" Target="../charts/chart237.xml"/><Relationship Id="rId6" Type="http://schemas.openxmlformats.org/officeDocument/2006/relationships/chart" Target="../charts/chart238.xml"/><Relationship Id="rId7" Type="http://schemas.openxmlformats.org/officeDocument/2006/relationships/notesSlide" Target="../notesSlides/notesSlide188.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39.xml"/><Relationship Id="rId3" Type="http://schemas.openxmlformats.org/officeDocument/2006/relationships/chart" Target="../charts/chart240.xml"/><Relationship Id="rId4" Type="http://schemas.openxmlformats.org/officeDocument/2006/relationships/chart" Target="../charts/chart241.xml"/><Relationship Id="rId5" Type="http://schemas.openxmlformats.org/officeDocument/2006/relationships/chart" Target="../charts/chart242.xml"/><Relationship Id="rId6" Type="http://schemas.openxmlformats.org/officeDocument/2006/relationships/chart" Target="../charts/chart243.xml"/><Relationship Id="rId7" Type="http://schemas.openxmlformats.org/officeDocument/2006/relationships/notesSlide" Target="../notesSlides/notesSlide189.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4.xml"/><Relationship Id="rId3" Type="http://schemas.openxmlformats.org/officeDocument/2006/relationships/chart" Target="../charts/chart245.xml"/><Relationship Id="rId4" Type="http://schemas.openxmlformats.org/officeDocument/2006/relationships/chart" Target="../charts/chart246.xml"/><Relationship Id="rId5" Type="http://schemas.openxmlformats.org/officeDocument/2006/relationships/chart" Target="../charts/chart247.xml"/><Relationship Id="rId6" Type="http://schemas.openxmlformats.org/officeDocument/2006/relationships/chart" Target="../charts/chart248.xml"/><Relationship Id="rId7" Type="http://schemas.openxmlformats.org/officeDocument/2006/relationships/notesSlide" Target="../notesSlides/notesSlide190.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49.xml"/><Relationship Id="rId3" Type="http://schemas.openxmlformats.org/officeDocument/2006/relationships/chart" Target="../charts/chart250.xml"/><Relationship Id="rId4" Type="http://schemas.openxmlformats.org/officeDocument/2006/relationships/chart" Target="../charts/chart251.xml"/><Relationship Id="rId5" Type="http://schemas.openxmlformats.org/officeDocument/2006/relationships/chart" Target="../charts/chart252.xml"/><Relationship Id="rId6" Type="http://schemas.openxmlformats.org/officeDocument/2006/relationships/chart" Target="../charts/chart253.xml"/><Relationship Id="rId7" Type="http://schemas.openxmlformats.org/officeDocument/2006/relationships/notesSlide" Target="../notesSlides/notesSlide19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4.xml"/><Relationship Id="rId3" Type="http://schemas.openxmlformats.org/officeDocument/2006/relationships/chart" Target="../charts/chart255.xml"/><Relationship Id="rId4" Type="http://schemas.openxmlformats.org/officeDocument/2006/relationships/chart" Target="../charts/chart256.xml"/><Relationship Id="rId5" Type="http://schemas.openxmlformats.org/officeDocument/2006/relationships/chart" Target="../charts/chart257.xml"/><Relationship Id="rId6" Type="http://schemas.openxmlformats.org/officeDocument/2006/relationships/chart" Target="../charts/chart258.xml"/><Relationship Id="rId7"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chart" Target="../charts/chart259.xml"/><Relationship Id="rId3" Type="http://schemas.openxmlformats.org/officeDocument/2006/relationships/chart" Target="../charts/chart260.xml"/><Relationship Id="rId4" Type="http://schemas.openxmlformats.org/officeDocument/2006/relationships/chart" Target="../charts/chart261.xml"/><Relationship Id="rId5" Type="http://schemas.openxmlformats.org/officeDocument/2006/relationships/chart" Target="../charts/chart262.xml"/><Relationship Id="rId6" Type="http://schemas.openxmlformats.org/officeDocument/2006/relationships/chart" Target="../charts/chart263.xml"/><Relationship Id="rId7" Type="http://schemas.openxmlformats.org/officeDocument/2006/relationships/notesSlide" Target="../notesSlides/notesSlide193.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4.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5.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7.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9.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0.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2194560" cy="667512"/>
          </a:xfrm>
          <a:prstGeom prst="rect">
            <a:avLst/>
          </a:prstGeom>
        </p:spPr>
      </p:pic>
      <p:sp>
        <p:nvSpPr>
          <p:cNvPr id="3" name="Text 0"/>
          <p:cNvSpPr txBox="1"/>
          <p:nvPr/>
        </p:nvSpPr>
        <p:spPr>
          <a:xfrm>
            <a:off x="667512" y="2377440"/>
            <a:ext cx="10789920" cy="1737360"/>
          </a:xfrm>
          <a:prstGeom prst="rect">
            <a:avLst/>
          </a:prstGeom>
          <a:noFill/>
          <a:ln/>
        </p:spPr>
        <p:txBody>
          <a:bodyPr wrap="square" lIns="0" tIns="0" rIns="0" bIns="0" rtlCol="0" anchor="ctr"/>
          <a:lstStyle/>
          <a:p>
            <a:pPr indent="0" marL="0">
              <a:buNone/>
            </a:pPr>
            <a:r>
              <a:rPr lang="en-US" sz="6200" b="1" dirty="0">
                <a:solidFill>
                  <a:srgbClr val="1A1A1A"/>
                </a:solidFill>
                <a:latin typeface="Inter" pitchFamily="34" charset="0"/>
                <a:ea typeface="Inter" pitchFamily="34" charset="-122"/>
                <a:cs typeface="Inter" pitchFamily="34" charset="-120"/>
              </a:rPr>
              <a:t>Fixed Operations</a:t>
            </a:r>
            <a:endParaRPr lang="en-US" sz="6200" dirty="0"/>
          </a:p>
        </p:txBody>
      </p:sp>
      <p:sp>
        <p:nvSpPr>
          <p:cNvPr id="4" name="Shape 1"/>
          <p:cNvSpPr/>
          <p:nvPr/>
        </p:nvSpPr>
        <p:spPr>
          <a:xfrm>
            <a:off x="713232" y="4224528"/>
            <a:ext cx="1371600" cy="50292"/>
          </a:xfrm>
          <a:prstGeom prst="rect">
            <a:avLst/>
          </a:prstGeom>
          <a:solidFill>
            <a:srgbClr val="2587C5"/>
          </a:solidFill>
          <a:ln/>
        </p:spPr>
      </p:sp>
      <p:sp>
        <p:nvSpPr>
          <p:cNvPr id="5" name="Text 2"/>
          <p:cNvSpPr txBox="1"/>
          <p:nvPr/>
        </p:nvSpPr>
        <p:spPr>
          <a:xfrm>
            <a:off x="694944" y="4462272"/>
            <a:ext cx="10789920" cy="457200"/>
          </a:xfrm>
          <a:prstGeom prst="rect">
            <a:avLst/>
          </a:prstGeom>
          <a:noFill/>
          <a:ln/>
        </p:spPr>
        <p:txBody>
          <a:bodyPr wrap="square" lIns="0" tIns="0" rIns="0" bIns="0" rtlCol="0" anchor="ctr"/>
          <a:lstStyle/>
          <a:p>
            <a:pPr indent="0" marL="0">
              <a:buNone/>
            </a:pPr>
            <a:r>
              <a:rPr lang="en-US" sz="2600" dirty="0">
                <a:solidFill>
                  <a:srgbClr val="2587C5"/>
                </a:solidFill>
                <a:latin typeface="Inter" pitchFamily="34" charset="0"/>
                <a:ea typeface="Inter" pitchFamily="34" charset="-122"/>
                <a:cs typeface="Inter" pitchFamily="34" charset="-120"/>
              </a:rPr>
              <a:t>Day 2  ·  General Managers &amp; Service Managers  ·  October 29, 2026</a:t>
            </a:r>
            <a:endParaRPr lang="en-US" sz="2600" dirty="0"/>
          </a:p>
        </p:txBody>
      </p:sp>
      <p:sp>
        <p:nvSpPr>
          <p:cNvPr id="6" name="Text 3"/>
          <p:cNvSpPr txBox="1"/>
          <p:nvPr/>
        </p:nvSpPr>
        <p:spPr>
          <a:xfrm>
            <a:off x="694944" y="4956048"/>
            <a:ext cx="10789920" cy="411480"/>
          </a:xfrm>
          <a:prstGeom prst="rect">
            <a:avLst/>
          </a:prstGeom>
          <a:noFill/>
          <a:ln/>
        </p:spPr>
        <p:txBody>
          <a:bodyPr wrap="square" lIns="0" tIns="0" rIns="0" bIns="0" rtlCol="0" anchor="ctr"/>
          <a:lstStyle/>
          <a:p>
            <a:pPr indent="0" marL="0">
              <a:buNone/>
            </a:pPr>
            <a:r>
              <a:rPr lang="en-US" sz="2000" dirty="0">
                <a:solidFill>
                  <a:srgbClr val="595959"/>
                </a:solidFill>
                <a:latin typeface="Inter" pitchFamily="34" charset="0"/>
                <a:ea typeface="Inter" pitchFamily="34" charset="-122"/>
                <a:cs typeface="Inter" pitchFamily="34" charset="-120"/>
              </a:rPr>
              <a:t>South Point, Las Vegas</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DAY 2 · GENERAL MANAGERS &amp; SERVICE MANAGERS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Agenda</a:t>
            </a:r>
            <a:endParaRPr lang="en-US" sz="2800" dirty="0"/>
          </a:p>
        </p:txBody>
      </p:sp>
      <p:sp>
        <p:nvSpPr>
          <p:cNvPr id="5" name="Shape 3"/>
          <p:cNvSpPr/>
          <p:nvPr/>
        </p:nvSpPr>
        <p:spPr>
          <a:xfrm>
            <a:off x="457200" y="1207008"/>
            <a:ext cx="5586984" cy="1195578"/>
          </a:xfrm>
          <a:prstGeom prst="rect">
            <a:avLst/>
          </a:prstGeom>
          <a:solidFill>
            <a:srgbClr val="FFFFFF"/>
          </a:solidFill>
          <a:ln/>
        </p:spPr>
      </p:sp>
      <p:sp>
        <p:nvSpPr>
          <p:cNvPr id="6" name="Shape 4"/>
          <p:cNvSpPr/>
          <p:nvPr/>
        </p:nvSpPr>
        <p:spPr>
          <a:xfrm>
            <a:off x="457200" y="1207008"/>
            <a:ext cx="50292" cy="1195578"/>
          </a:xfrm>
          <a:prstGeom prst="rect">
            <a:avLst/>
          </a:prstGeom>
          <a:solidFill>
            <a:srgbClr val="2587C5"/>
          </a:solidFill>
          <a:ln/>
        </p:spPr>
      </p:sp>
      <p:sp>
        <p:nvSpPr>
          <p:cNvPr id="7" name="Text 5"/>
          <p:cNvSpPr txBox="1"/>
          <p:nvPr/>
        </p:nvSpPr>
        <p:spPr>
          <a:xfrm>
            <a:off x="694944"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01</a:t>
            </a:r>
            <a:endParaRPr lang="en-US" sz="2000" dirty="0"/>
          </a:p>
        </p:txBody>
      </p:sp>
      <p:sp>
        <p:nvSpPr>
          <p:cNvPr id="8" name="Text 6"/>
          <p:cNvSpPr txBox="1"/>
          <p:nvPr/>
        </p:nvSpPr>
        <p:spPr>
          <a:xfrm>
            <a:off x="1371600"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9" name="Text 7"/>
          <p:cNvSpPr txBox="1"/>
          <p:nvPr/>
        </p:nvSpPr>
        <p:spPr>
          <a:xfrm>
            <a:off x="3703320"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Fixed ops, service and parts gross performance.</a:t>
            </a:r>
            <a:endParaRPr lang="en-US" sz="1400" dirty="0"/>
          </a:p>
        </p:txBody>
      </p:sp>
      <p:sp>
        <p:nvSpPr>
          <p:cNvPr id="10" name="Shape 8"/>
          <p:cNvSpPr/>
          <p:nvPr/>
        </p:nvSpPr>
        <p:spPr>
          <a:xfrm>
            <a:off x="457200" y="2494026"/>
            <a:ext cx="5586984" cy="1195578"/>
          </a:xfrm>
          <a:prstGeom prst="rect">
            <a:avLst/>
          </a:prstGeom>
          <a:solidFill>
            <a:srgbClr val="FFFFFF"/>
          </a:solidFill>
          <a:ln/>
        </p:spPr>
      </p:sp>
      <p:sp>
        <p:nvSpPr>
          <p:cNvPr id="11" name="Shape 9"/>
          <p:cNvSpPr/>
          <p:nvPr/>
        </p:nvSpPr>
        <p:spPr>
          <a:xfrm>
            <a:off x="457200" y="2494026"/>
            <a:ext cx="50292" cy="1195578"/>
          </a:xfrm>
          <a:prstGeom prst="rect">
            <a:avLst/>
          </a:prstGeom>
          <a:solidFill>
            <a:srgbClr val="2587C5"/>
          </a:solidFill>
          <a:ln/>
        </p:spPr>
      </p:sp>
      <p:sp>
        <p:nvSpPr>
          <p:cNvPr id="12" name="Text 10"/>
          <p:cNvSpPr txBox="1"/>
          <p:nvPr/>
        </p:nvSpPr>
        <p:spPr>
          <a:xfrm>
            <a:off x="694944"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02</a:t>
            </a:r>
            <a:endParaRPr lang="en-US" sz="2000" dirty="0"/>
          </a:p>
        </p:txBody>
      </p:sp>
      <p:sp>
        <p:nvSpPr>
          <p:cNvPr id="13" name="Text 11"/>
          <p:cNvSpPr txBox="1"/>
          <p:nvPr/>
        </p:nvSpPr>
        <p:spPr>
          <a:xfrm>
            <a:off x="1371600"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4" name="Text 12"/>
          <p:cNvSpPr txBox="1"/>
          <p:nvPr/>
        </p:nvSpPr>
        <p:spPr>
          <a:xfrm>
            <a:off x="3703320"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we keep, and how much of the store we cover.</a:t>
            </a:r>
            <a:endParaRPr lang="en-US" sz="1400" dirty="0"/>
          </a:p>
        </p:txBody>
      </p:sp>
      <p:sp>
        <p:nvSpPr>
          <p:cNvPr id="15" name="Shape 13"/>
          <p:cNvSpPr/>
          <p:nvPr/>
        </p:nvSpPr>
        <p:spPr>
          <a:xfrm>
            <a:off x="457200" y="3781044"/>
            <a:ext cx="5586984" cy="1195578"/>
          </a:xfrm>
          <a:prstGeom prst="rect">
            <a:avLst/>
          </a:prstGeom>
          <a:solidFill>
            <a:srgbClr val="FFFFFF"/>
          </a:solidFill>
          <a:ln/>
        </p:spPr>
      </p:sp>
      <p:sp>
        <p:nvSpPr>
          <p:cNvPr id="16" name="Shape 14"/>
          <p:cNvSpPr/>
          <p:nvPr/>
        </p:nvSpPr>
        <p:spPr>
          <a:xfrm>
            <a:off x="457200" y="3781044"/>
            <a:ext cx="50292" cy="1195578"/>
          </a:xfrm>
          <a:prstGeom prst="rect">
            <a:avLst/>
          </a:prstGeom>
          <a:solidFill>
            <a:srgbClr val="2587C5"/>
          </a:solidFill>
          <a:ln/>
        </p:spPr>
      </p:sp>
      <p:sp>
        <p:nvSpPr>
          <p:cNvPr id="17" name="Text 15"/>
          <p:cNvSpPr txBox="1"/>
          <p:nvPr/>
        </p:nvSpPr>
        <p:spPr>
          <a:xfrm>
            <a:off x="694944"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03</a:t>
            </a:r>
            <a:endParaRPr lang="en-US" sz="2000" dirty="0"/>
          </a:p>
        </p:txBody>
      </p:sp>
      <p:sp>
        <p:nvSpPr>
          <p:cNvPr id="18" name="Text 16"/>
          <p:cNvSpPr txBox="1"/>
          <p:nvPr/>
        </p:nvSpPr>
        <p:spPr>
          <a:xfrm>
            <a:off x="1371600"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9" name="Text 17"/>
          <p:cNvSpPr txBox="1"/>
          <p:nvPr/>
        </p:nvSpPr>
        <p:spPr>
          <a:xfrm>
            <a:off x="3703320"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Car count, sales per visit, pricing and margin.</a:t>
            </a:r>
            <a:endParaRPr lang="en-US" sz="1400" dirty="0"/>
          </a:p>
        </p:txBody>
      </p:sp>
      <p:sp>
        <p:nvSpPr>
          <p:cNvPr id="20" name="Shape 18"/>
          <p:cNvSpPr/>
          <p:nvPr/>
        </p:nvSpPr>
        <p:spPr>
          <a:xfrm>
            <a:off x="457200" y="5068062"/>
            <a:ext cx="5586984" cy="1195578"/>
          </a:xfrm>
          <a:prstGeom prst="rect">
            <a:avLst/>
          </a:prstGeom>
          <a:solidFill>
            <a:srgbClr val="FFFFFF"/>
          </a:solidFill>
          <a:ln/>
        </p:spPr>
      </p:sp>
      <p:sp>
        <p:nvSpPr>
          <p:cNvPr id="21" name="Shape 19"/>
          <p:cNvSpPr/>
          <p:nvPr/>
        </p:nvSpPr>
        <p:spPr>
          <a:xfrm>
            <a:off x="457200" y="5068062"/>
            <a:ext cx="50292" cy="1195578"/>
          </a:xfrm>
          <a:prstGeom prst="rect">
            <a:avLst/>
          </a:prstGeom>
          <a:solidFill>
            <a:srgbClr val="2587C5"/>
          </a:solidFill>
          <a:ln/>
        </p:spPr>
      </p:sp>
      <p:sp>
        <p:nvSpPr>
          <p:cNvPr id="22" name="Text 20"/>
          <p:cNvSpPr txBox="1"/>
          <p:nvPr/>
        </p:nvSpPr>
        <p:spPr>
          <a:xfrm>
            <a:off x="694944"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04</a:t>
            </a:r>
            <a:endParaRPr lang="en-US" sz="2000" dirty="0"/>
          </a:p>
        </p:txBody>
      </p:sp>
      <p:sp>
        <p:nvSpPr>
          <p:cNvPr id="23" name="Text 21"/>
          <p:cNvSpPr txBox="1"/>
          <p:nvPr/>
        </p:nvSpPr>
        <p:spPr>
          <a:xfrm>
            <a:off x="1371600"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 Benchmarks</a:t>
            </a:r>
            <a:endParaRPr lang="en-US" sz="1700" dirty="0"/>
          </a:p>
        </p:txBody>
      </p:sp>
      <p:sp>
        <p:nvSpPr>
          <p:cNvPr id="24" name="Text 22"/>
          <p:cNvSpPr txBox="1"/>
          <p:nvPr/>
        </p:nvSpPr>
        <p:spPr>
          <a:xfrm>
            <a:off x="3703320"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Inspections and key services against benchmark.</a:t>
            </a:r>
            <a:endParaRPr lang="en-US" sz="1400" dirty="0"/>
          </a:p>
        </p:txBody>
      </p:sp>
      <p:sp>
        <p:nvSpPr>
          <p:cNvPr id="25" name="Shape 23"/>
          <p:cNvSpPr/>
          <p:nvPr/>
        </p:nvSpPr>
        <p:spPr>
          <a:xfrm>
            <a:off x="6144768" y="1207008"/>
            <a:ext cx="5586984" cy="1195578"/>
          </a:xfrm>
          <a:prstGeom prst="rect">
            <a:avLst/>
          </a:prstGeom>
          <a:solidFill>
            <a:srgbClr val="FFFFFF"/>
          </a:solidFill>
          <a:ln/>
        </p:spPr>
      </p:sp>
      <p:sp>
        <p:nvSpPr>
          <p:cNvPr id="26" name="Shape 24"/>
          <p:cNvSpPr/>
          <p:nvPr/>
        </p:nvSpPr>
        <p:spPr>
          <a:xfrm>
            <a:off x="6144768" y="1207008"/>
            <a:ext cx="50292" cy="1195578"/>
          </a:xfrm>
          <a:prstGeom prst="rect">
            <a:avLst/>
          </a:prstGeom>
          <a:solidFill>
            <a:srgbClr val="2587C5"/>
          </a:solidFill>
          <a:ln/>
        </p:spPr>
      </p:sp>
      <p:sp>
        <p:nvSpPr>
          <p:cNvPr id="27" name="Text 25"/>
          <p:cNvSpPr txBox="1"/>
          <p:nvPr/>
        </p:nvSpPr>
        <p:spPr>
          <a:xfrm>
            <a:off x="6382512" y="1207008"/>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05</a:t>
            </a:r>
            <a:endParaRPr lang="en-US" sz="2000" dirty="0"/>
          </a:p>
        </p:txBody>
      </p:sp>
      <p:sp>
        <p:nvSpPr>
          <p:cNvPr id="28" name="Text 26"/>
          <p:cNvSpPr txBox="1"/>
          <p:nvPr/>
        </p:nvSpPr>
        <p:spPr>
          <a:xfrm>
            <a:off x="7059168" y="1207008"/>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29" name="Text 27"/>
          <p:cNvSpPr txBox="1"/>
          <p:nvPr/>
        </p:nvSpPr>
        <p:spPr>
          <a:xfrm>
            <a:off x="9390888" y="1207008"/>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Internal labor rate and margins.</a:t>
            </a:r>
            <a:endParaRPr lang="en-US" sz="1400" dirty="0"/>
          </a:p>
        </p:txBody>
      </p:sp>
      <p:sp>
        <p:nvSpPr>
          <p:cNvPr id="30" name="Shape 28"/>
          <p:cNvSpPr/>
          <p:nvPr/>
        </p:nvSpPr>
        <p:spPr>
          <a:xfrm>
            <a:off x="6144768" y="2494026"/>
            <a:ext cx="5586984" cy="1195578"/>
          </a:xfrm>
          <a:prstGeom prst="rect">
            <a:avLst/>
          </a:prstGeom>
          <a:solidFill>
            <a:srgbClr val="FFFFFF"/>
          </a:solidFill>
          <a:ln/>
        </p:spPr>
      </p:sp>
      <p:sp>
        <p:nvSpPr>
          <p:cNvPr id="31" name="Shape 29"/>
          <p:cNvSpPr/>
          <p:nvPr/>
        </p:nvSpPr>
        <p:spPr>
          <a:xfrm>
            <a:off x="6144768" y="2494026"/>
            <a:ext cx="50292" cy="1195578"/>
          </a:xfrm>
          <a:prstGeom prst="rect">
            <a:avLst/>
          </a:prstGeom>
          <a:solidFill>
            <a:srgbClr val="2587C5"/>
          </a:solidFill>
          <a:ln/>
        </p:spPr>
      </p:sp>
      <p:sp>
        <p:nvSpPr>
          <p:cNvPr id="32" name="Text 30"/>
          <p:cNvSpPr txBox="1"/>
          <p:nvPr/>
        </p:nvSpPr>
        <p:spPr>
          <a:xfrm>
            <a:off x="6382512" y="2494026"/>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06</a:t>
            </a:r>
            <a:endParaRPr lang="en-US" sz="2000" dirty="0"/>
          </a:p>
        </p:txBody>
      </p:sp>
      <p:sp>
        <p:nvSpPr>
          <p:cNvPr id="33" name="Text 31"/>
          <p:cNvSpPr txBox="1"/>
          <p:nvPr/>
        </p:nvSpPr>
        <p:spPr>
          <a:xfrm>
            <a:off x="7059168" y="2494026"/>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34" name="Text 32"/>
          <p:cNvSpPr txBox="1"/>
          <p:nvPr/>
        </p:nvSpPr>
        <p:spPr>
          <a:xfrm>
            <a:off x="9390888" y="2494026"/>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Staffing, output and technician proficiency.</a:t>
            </a:r>
            <a:endParaRPr lang="en-US" sz="1400" dirty="0"/>
          </a:p>
        </p:txBody>
      </p:sp>
      <p:sp>
        <p:nvSpPr>
          <p:cNvPr id="35" name="Shape 33"/>
          <p:cNvSpPr/>
          <p:nvPr/>
        </p:nvSpPr>
        <p:spPr>
          <a:xfrm>
            <a:off x="6144768" y="3781044"/>
            <a:ext cx="5586984" cy="1195578"/>
          </a:xfrm>
          <a:prstGeom prst="rect">
            <a:avLst/>
          </a:prstGeom>
          <a:solidFill>
            <a:srgbClr val="FFFFFF"/>
          </a:solidFill>
          <a:ln/>
        </p:spPr>
      </p:sp>
      <p:sp>
        <p:nvSpPr>
          <p:cNvPr id="36" name="Shape 34"/>
          <p:cNvSpPr/>
          <p:nvPr/>
        </p:nvSpPr>
        <p:spPr>
          <a:xfrm>
            <a:off x="6144768" y="3781044"/>
            <a:ext cx="50292" cy="1195578"/>
          </a:xfrm>
          <a:prstGeom prst="rect">
            <a:avLst/>
          </a:prstGeom>
          <a:solidFill>
            <a:srgbClr val="2587C5"/>
          </a:solidFill>
          <a:ln/>
        </p:spPr>
      </p:sp>
      <p:sp>
        <p:nvSpPr>
          <p:cNvPr id="37" name="Text 35"/>
          <p:cNvSpPr txBox="1"/>
          <p:nvPr/>
        </p:nvSpPr>
        <p:spPr>
          <a:xfrm>
            <a:off x="6382512" y="3781044"/>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07</a:t>
            </a:r>
            <a:endParaRPr lang="en-US" sz="2000" dirty="0"/>
          </a:p>
        </p:txBody>
      </p:sp>
      <p:sp>
        <p:nvSpPr>
          <p:cNvPr id="38" name="Text 36"/>
          <p:cNvSpPr txBox="1"/>
          <p:nvPr/>
        </p:nvSpPr>
        <p:spPr>
          <a:xfrm>
            <a:off x="7059168" y="3781044"/>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39" name="Text 37"/>
          <p:cNvSpPr txBox="1"/>
          <p:nvPr/>
        </p:nvSpPr>
        <p:spPr>
          <a:xfrm>
            <a:off x="9390888" y="3781044"/>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Warranty rates, margins and compliance.</a:t>
            </a:r>
            <a:endParaRPr lang="en-US" sz="1400" dirty="0"/>
          </a:p>
        </p:txBody>
      </p:sp>
      <p:sp>
        <p:nvSpPr>
          <p:cNvPr id="40" name="Shape 38"/>
          <p:cNvSpPr/>
          <p:nvPr/>
        </p:nvSpPr>
        <p:spPr>
          <a:xfrm>
            <a:off x="6144768" y="5068062"/>
            <a:ext cx="5586984" cy="1195578"/>
          </a:xfrm>
          <a:prstGeom prst="rect">
            <a:avLst/>
          </a:prstGeom>
          <a:solidFill>
            <a:srgbClr val="FFFFFF"/>
          </a:solidFill>
          <a:ln/>
        </p:spPr>
      </p:sp>
      <p:sp>
        <p:nvSpPr>
          <p:cNvPr id="41" name="Shape 39"/>
          <p:cNvSpPr/>
          <p:nvPr/>
        </p:nvSpPr>
        <p:spPr>
          <a:xfrm>
            <a:off x="6144768" y="5068062"/>
            <a:ext cx="50292" cy="1195578"/>
          </a:xfrm>
          <a:prstGeom prst="rect">
            <a:avLst/>
          </a:prstGeom>
          <a:solidFill>
            <a:srgbClr val="2587C5"/>
          </a:solidFill>
          <a:ln/>
        </p:spPr>
      </p:sp>
      <p:sp>
        <p:nvSpPr>
          <p:cNvPr id="42" name="Text 40"/>
          <p:cNvSpPr txBox="1"/>
          <p:nvPr/>
        </p:nvSpPr>
        <p:spPr>
          <a:xfrm>
            <a:off x="6382512" y="5068062"/>
            <a:ext cx="640080" cy="1195578"/>
          </a:xfrm>
          <a:prstGeom prst="rect">
            <a:avLst/>
          </a:prstGeom>
          <a:noFill/>
          <a:ln/>
        </p:spPr>
        <p:txBody>
          <a:bodyPr wrap="square" lIns="0" tIns="0" rIns="0" bIns="0" rtlCol="0" anchor="ctr"/>
          <a:lstStyle/>
          <a:p>
            <a:pPr indent="0" marL="0">
              <a:buNone/>
            </a:pPr>
            <a:r>
              <a:rPr lang="en-US" sz="2000" b="1" dirty="0">
                <a:solidFill>
                  <a:srgbClr val="5B9BD5"/>
                </a:solidFill>
                <a:latin typeface="Inter" pitchFamily="34" charset="0"/>
                <a:ea typeface="Inter" pitchFamily="34" charset="-122"/>
                <a:cs typeface="Inter" pitchFamily="34" charset="-120"/>
              </a:rPr>
              <a:t>08</a:t>
            </a:r>
            <a:endParaRPr lang="en-US" sz="2000" dirty="0"/>
          </a:p>
        </p:txBody>
      </p:sp>
      <p:sp>
        <p:nvSpPr>
          <p:cNvPr id="43" name="Text 41"/>
          <p:cNvSpPr txBox="1"/>
          <p:nvPr/>
        </p:nvSpPr>
        <p:spPr>
          <a:xfrm>
            <a:off x="7059168" y="5068062"/>
            <a:ext cx="2286000" cy="1195578"/>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
        <p:nvSpPr>
          <p:cNvPr id="44" name="Text 42"/>
          <p:cNvSpPr txBox="1"/>
          <p:nvPr/>
        </p:nvSpPr>
        <p:spPr>
          <a:xfrm>
            <a:off x="9390888" y="5068062"/>
            <a:ext cx="2112264" cy="1195578"/>
          </a:xfrm>
          <a:prstGeom prst="rect">
            <a:avLst/>
          </a:prstGeom>
          <a:noFill/>
          <a:ln/>
        </p:spPr>
        <p:txBody>
          <a:bodyPr wrap="square" lIns="0" tIns="0" rIns="0" bIns="0" rtlCol="0" anchor="ctr"/>
          <a:lstStyle/>
          <a:p>
            <a:pPr algn="r" indent="0" marL="0">
              <a:buNone/>
            </a:pPr>
            <a:r>
              <a:rPr lang="en-US" sz="1400" dirty="0">
                <a:solidFill>
                  <a:srgbClr val="595959"/>
                </a:solidFill>
                <a:latin typeface="Inter" pitchFamily="34" charset="0"/>
                <a:ea typeface="Inter" pitchFamily="34" charset="-122"/>
                <a:cs typeface="Inter" pitchFamily="34" charset="-120"/>
              </a:rPr>
              <a:t>What changed, where the money is, and what we commit to.</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01</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Gross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Fixed ops   ·   Service   ·   Parts</a:t>
            </a:r>
            <a:endParaRPr lang="en-US" sz="2200" dirty="0"/>
          </a:p>
        </p:txBody>
      </p:sp>
      <p:sp>
        <p:nvSpPr>
          <p:cNvPr id="6" name="Shape 3"/>
          <p:cNvSpPr/>
          <p:nvPr/>
        </p:nvSpPr>
        <p:spPr>
          <a:xfrm>
            <a:off x="685800" y="4983480"/>
            <a:ext cx="1956816" cy="91440"/>
          </a:xfrm>
          <a:prstGeom prst="rect">
            <a:avLst/>
          </a:prstGeom>
          <a:solidFill>
            <a:srgbClr val="2587C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D9D9D9"/>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02</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Profitability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Absorption   ·   Service net to gross   ·   Parts net to gross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91440"/>
          </a:xfrm>
          <a:prstGeom prst="rect">
            <a:avLst/>
          </a:prstGeom>
          <a:solidFill>
            <a:srgbClr val="2587C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D9D9D9"/>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03</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Pricing &amp; mix   ·   ELR   ·   $ per RO   ·   Margin</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91440"/>
          </a:xfrm>
          <a:prstGeom prst="rect">
            <a:avLst/>
          </a:prstGeom>
          <a:solidFill>
            <a:srgbClr val="2587C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D9D9D9"/>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04</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Opcode Benchmarks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MPI 90%   ·   Alignment 15%   ·   Balance 15%   ·   Brake fluid 10%   ·   Fuel 7.5%</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91440"/>
          </a:xfrm>
          <a:prstGeom prst="rect">
            <a:avLst/>
          </a:prstGeom>
          <a:solidFill>
            <a:srgbClr val="2587C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D9D9D9"/>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05</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Internal</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Internal ELR   ·   Internal labor GP %   ·   Internal parts GP %</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91440"/>
          </a:xfrm>
          <a:prstGeom prst="rect">
            <a:avLst/>
          </a:prstGeom>
          <a:solidFill>
            <a:srgbClr val="2587C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D9D9D9"/>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06</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Productivity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Headcount   ·   Gross per employee   ·   Technician proficiency</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91440"/>
          </a:xfrm>
          <a:prstGeom prst="rect">
            <a:avLst/>
          </a:prstGeom>
          <a:solidFill>
            <a:srgbClr val="2587C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D9D9D9"/>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07</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Warranty</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Rate increases   ·   Warranty ELR   ·   Parts margin   ·   Warranty audits</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91440"/>
          </a:xfrm>
          <a:prstGeom prst="rect">
            <a:avLst/>
          </a:prstGeom>
          <a:solidFill>
            <a:srgbClr val="2587C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45720"/>
          </a:xfrm>
          <a:prstGeom prst="rect">
            <a:avLst/>
          </a:prstGeom>
          <a:solidFill>
            <a:srgbClr val="D9D9D9"/>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SECTION 08</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Close</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Most improved   ·   Where the money is   ·   Before you leave</a:t>
            </a:r>
            <a:endParaRPr lang="en-US" sz="2200" dirty="0"/>
          </a:p>
        </p:txBody>
      </p:sp>
      <p:sp>
        <p:nvSpPr>
          <p:cNvPr id="6" name="Shape 3"/>
          <p:cNvSpPr/>
          <p:nvPr/>
        </p:nvSpPr>
        <p:spPr>
          <a:xfrm>
            <a:off x="685800" y="4983480"/>
            <a:ext cx="1956816" cy="45720"/>
          </a:xfrm>
          <a:prstGeom prst="rect">
            <a:avLst/>
          </a:prstGeom>
          <a:solidFill>
            <a:srgbClr val="5B9BD5"/>
          </a:solidFill>
          <a:ln/>
        </p:spPr>
      </p:sp>
      <p:sp>
        <p:nvSpPr>
          <p:cNvPr id="7" name="Text 4"/>
          <p:cNvSpPr txBox="1"/>
          <p:nvPr/>
        </p:nvSpPr>
        <p:spPr>
          <a:xfrm>
            <a:off x="685800"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Gross</a:t>
            </a:r>
            <a:endParaRPr lang="en-US" sz="1700" dirty="0"/>
          </a:p>
        </p:txBody>
      </p:sp>
      <p:sp>
        <p:nvSpPr>
          <p:cNvPr id="8" name="Shape 5"/>
          <p:cNvSpPr/>
          <p:nvPr/>
        </p:nvSpPr>
        <p:spPr>
          <a:xfrm>
            <a:off x="2843784" y="4983480"/>
            <a:ext cx="1956816" cy="45720"/>
          </a:xfrm>
          <a:prstGeom prst="rect">
            <a:avLst/>
          </a:prstGeom>
          <a:solidFill>
            <a:srgbClr val="5B9BD5"/>
          </a:solidFill>
          <a:ln/>
        </p:spPr>
      </p:sp>
      <p:sp>
        <p:nvSpPr>
          <p:cNvPr id="9" name="Text 6"/>
          <p:cNvSpPr txBox="1"/>
          <p:nvPr/>
        </p:nvSpPr>
        <p:spPr>
          <a:xfrm>
            <a:off x="2843784"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Profitability</a:t>
            </a:r>
            <a:endParaRPr lang="en-US" sz="1700" dirty="0"/>
          </a:p>
        </p:txBody>
      </p:sp>
      <p:sp>
        <p:nvSpPr>
          <p:cNvPr id="10" name="Shape 7"/>
          <p:cNvSpPr/>
          <p:nvPr/>
        </p:nvSpPr>
        <p:spPr>
          <a:xfrm>
            <a:off x="5001768" y="4983480"/>
            <a:ext cx="1956816" cy="45720"/>
          </a:xfrm>
          <a:prstGeom prst="rect">
            <a:avLst/>
          </a:prstGeom>
          <a:solidFill>
            <a:srgbClr val="5B9BD5"/>
          </a:solidFill>
          <a:ln/>
        </p:spPr>
      </p:sp>
      <p:sp>
        <p:nvSpPr>
          <p:cNvPr id="11" name="Text 8"/>
          <p:cNvSpPr txBox="1"/>
          <p:nvPr/>
        </p:nvSpPr>
        <p:spPr>
          <a:xfrm>
            <a:off x="5001768"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Customer Pay</a:t>
            </a:r>
            <a:endParaRPr lang="en-US" sz="1700" dirty="0"/>
          </a:p>
        </p:txBody>
      </p:sp>
      <p:sp>
        <p:nvSpPr>
          <p:cNvPr id="12" name="Shape 9"/>
          <p:cNvSpPr/>
          <p:nvPr/>
        </p:nvSpPr>
        <p:spPr>
          <a:xfrm>
            <a:off x="7159752" y="4983480"/>
            <a:ext cx="1956816" cy="45720"/>
          </a:xfrm>
          <a:prstGeom prst="rect">
            <a:avLst/>
          </a:prstGeom>
          <a:solidFill>
            <a:srgbClr val="5B9BD5"/>
          </a:solidFill>
          <a:ln/>
        </p:spPr>
      </p:sp>
      <p:sp>
        <p:nvSpPr>
          <p:cNvPr id="13" name="Text 10"/>
          <p:cNvSpPr txBox="1"/>
          <p:nvPr/>
        </p:nvSpPr>
        <p:spPr>
          <a:xfrm>
            <a:off x="7159752"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Opcodes</a:t>
            </a:r>
            <a:endParaRPr lang="en-US" sz="1700" dirty="0"/>
          </a:p>
        </p:txBody>
      </p:sp>
      <p:sp>
        <p:nvSpPr>
          <p:cNvPr id="14" name="Shape 11"/>
          <p:cNvSpPr/>
          <p:nvPr/>
        </p:nvSpPr>
        <p:spPr>
          <a:xfrm>
            <a:off x="9317736" y="4983480"/>
            <a:ext cx="1956816" cy="45720"/>
          </a:xfrm>
          <a:prstGeom prst="rect">
            <a:avLst/>
          </a:prstGeom>
          <a:solidFill>
            <a:srgbClr val="5B9BD5"/>
          </a:solidFill>
          <a:ln/>
        </p:spPr>
      </p:sp>
      <p:sp>
        <p:nvSpPr>
          <p:cNvPr id="15" name="Text 12"/>
          <p:cNvSpPr txBox="1"/>
          <p:nvPr/>
        </p:nvSpPr>
        <p:spPr>
          <a:xfrm>
            <a:off x="9317736" y="5166360"/>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Internal</a:t>
            </a:r>
            <a:endParaRPr lang="en-US" sz="1700" dirty="0"/>
          </a:p>
        </p:txBody>
      </p:sp>
      <p:sp>
        <p:nvSpPr>
          <p:cNvPr id="16" name="Shape 13"/>
          <p:cNvSpPr/>
          <p:nvPr/>
        </p:nvSpPr>
        <p:spPr>
          <a:xfrm>
            <a:off x="685800" y="5696712"/>
            <a:ext cx="1956816" cy="45720"/>
          </a:xfrm>
          <a:prstGeom prst="rect">
            <a:avLst/>
          </a:prstGeom>
          <a:solidFill>
            <a:srgbClr val="5B9BD5"/>
          </a:solidFill>
          <a:ln/>
        </p:spPr>
      </p:sp>
      <p:sp>
        <p:nvSpPr>
          <p:cNvPr id="17" name="Text 14"/>
          <p:cNvSpPr txBox="1"/>
          <p:nvPr/>
        </p:nvSpPr>
        <p:spPr>
          <a:xfrm>
            <a:off x="685800"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Productivity</a:t>
            </a:r>
            <a:endParaRPr lang="en-US" sz="1700" dirty="0"/>
          </a:p>
        </p:txBody>
      </p:sp>
      <p:sp>
        <p:nvSpPr>
          <p:cNvPr id="18" name="Shape 15"/>
          <p:cNvSpPr/>
          <p:nvPr/>
        </p:nvSpPr>
        <p:spPr>
          <a:xfrm>
            <a:off x="2843784" y="5696712"/>
            <a:ext cx="1956816" cy="45720"/>
          </a:xfrm>
          <a:prstGeom prst="rect">
            <a:avLst/>
          </a:prstGeom>
          <a:solidFill>
            <a:srgbClr val="5B9BD5"/>
          </a:solidFill>
          <a:ln/>
        </p:spPr>
      </p:sp>
      <p:sp>
        <p:nvSpPr>
          <p:cNvPr id="19" name="Text 16"/>
          <p:cNvSpPr txBox="1"/>
          <p:nvPr/>
        </p:nvSpPr>
        <p:spPr>
          <a:xfrm>
            <a:off x="2843784" y="5879592"/>
            <a:ext cx="1956816" cy="365760"/>
          </a:xfrm>
          <a:prstGeom prst="rect">
            <a:avLst/>
          </a:prstGeom>
          <a:noFill/>
          <a:ln/>
        </p:spPr>
        <p:txBody>
          <a:bodyPr wrap="square" lIns="0" tIns="0" rIns="0" bIns="0" rtlCol="0" anchor="ctr"/>
          <a:lstStyle/>
          <a:p>
            <a:pPr indent="0" marL="0">
              <a:buNone/>
            </a:pPr>
            <a:r>
              <a:rPr lang="en-US" sz="1700" dirty="0">
                <a:solidFill>
                  <a:srgbClr val="595959"/>
                </a:solidFill>
                <a:latin typeface="Inter" pitchFamily="34" charset="0"/>
                <a:ea typeface="Inter" pitchFamily="34" charset="-122"/>
                <a:cs typeface="Inter" pitchFamily="34" charset="-120"/>
              </a:rPr>
              <a:t>Warranty</a:t>
            </a:r>
            <a:endParaRPr lang="en-US" sz="1700" dirty="0"/>
          </a:p>
        </p:txBody>
      </p:sp>
      <p:sp>
        <p:nvSpPr>
          <p:cNvPr id="20" name="Shape 17"/>
          <p:cNvSpPr/>
          <p:nvPr/>
        </p:nvSpPr>
        <p:spPr>
          <a:xfrm>
            <a:off x="5001768" y="5696712"/>
            <a:ext cx="1956816" cy="91440"/>
          </a:xfrm>
          <a:prstGeom prst="rect">
            <a:avLst/>
          </a:prstGeom>
          <a:solidFill>
            <a:srgbClr val="2587C5"/>
          </a:solidFill>
          <a:ln/>
        </p:spPr>
      </p:sp>
      <p:sp>
        <p:nvSpPr>
          <p:cNvPr id="21" name="Text 18"/>
          <p:cNvSpPr txBox="1"/>
          <p:nvPr/>
        </p:nvSpPr>
        <p:spPr>
          <a:xfrm>
            <a:off x="5001768" y="5879592"/>
            <a:ext cx="1956816" cy="365760"/>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Close</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685800" y="566928"/>
            <a:ext cx="1828800" cy="555955"/>
          </a:xfrm>
          <a:prstGeom prst="rect">
            <a:avLst/>
          </a:prstGeom>
        </p:spPr>
      </p:pic>
      <p:sp>
        <p:nvSpPr>
          <p:cNvPr id="3"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NOT PRESENTED · FOR REVIEW</a:t>
            </a:r>
            <a:endParaRPr lang="en-US" sz="2000" dirty="0"/>
          </a:p>
        </p:txBody>
      </p:sp>
      <p:sp>
        <p:nvSpPr>
          <p:cNvPr id="4"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Open Decisions</a:t>
            </a:r>
            <a:endParaRPr lang="en-US" sz="7600" dirty="0"/>
          </a:p>
        </p:txBody>
      </p:sp>
      <p:sp>
        <p:nvSpPr>
          <p:cNvPr id="5"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Store records   ·   Door rate   ·   CP vs internal   ·   Photo %   ·   Productivity   ·   Who's moving now   ·   Most improved</a:t>
            </a:r>
            <a:endParaRPr lang="en-US" sz="22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Why We Are Here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Foster collaboration, introduce ideas that drive operational excellence, and set a clear path to exceptional service performance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Focus on profit-generating activities: the work that brings in incremental dollars, not just the work that fills the day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Work on the business, not just in it: step out of the day-to-day long enough to fix the process behind the problems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No risk of judgement: your success is our success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Customer first, company second, team third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You get what you tolerate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Leverage the power in this room: collaboration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61%</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the group's net profit came from service and parts: $50.19M of $82.24M (47% in 2025).</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 vs 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what service and parts keep after their own expenses vs new, used and F&amp;I.</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+$4,858,815</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More fixed ops profit than 2025, while group net profit fell $13.42M.</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leave today with one or two things you will put in place before year end, and tell the room what they are.</a:t>
            </a:r>
            <a:endParaRPr lang="en-US" sz="1600"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What service and parts keep after paying their own people, building, systems and supplies.</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best September at +$1.61M.</a:t>
            </a:r>
            <a:endParaRPr lang="en-US" sz="1600" dirty="0"/>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41969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154907"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7588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86722"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60690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351233"/>
            <a:ext cx="529462"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77227"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3831024"/>
            <a:ext cx="424033"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421495"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310815"/>
            <a:ext cx="31069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550711"/>
            <a:ext cx="308094"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4790606"/>
            <a:ext cx="27993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273031"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270397"/>
            <a:ext cx="272418"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510293"/>
            <a:ext cx="261785"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25469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1860"/>
            <a:ext cx="230085"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51755"/>
            <a:ext cx="210561"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186954"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631546"/>
            <a:ext cx="16468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871442"/>
            <a:ext cx="163331"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111337"/>
            <a:ext cx="158180"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351233"/>
            <a:ext cx="1172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11120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3831024"/>
            <a:ext cx="99951"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070920"/>
            <a:ext cx="3002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2519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22055"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4790606"/>
            <a:ext cx="1856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030502"/>
            <a:ext cx="18288"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18288" cy="110352"/>
          </a:xfrm>
          <a:prstGeom prst="rect">
            <a:avLst/>
          </a:prstGeom>
          <a:solidFill>
            <a:srgbClr val="C2352F"/>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510293"/>
            <a:ext cx="31883" cy="110352"/>
          </a:xfrm>
          <a:prstGeom prst="rect">
            <a:avLst/>
          </a:prstGeom>
          <a:solidFill>
            <a:srgbClr val="C2352F"/>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615696"/>
          </a:xfrm>
          <a:prstGeom prst="rect">
            <a:avLst/>
          </a:prstGeom>
          <a:solidFill>
            <a:srgbClr val="EDF4FA"/>
          </a:solidFill>
          <a:ln/>
        </p:spPr>
      </p:sp>
      <p:sp>
        <p:nvSpPr>
          <p:cNvPr id="145" name="Text 14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$7.83M of the group's $50.45M. 2 stores are losing money in fixed ops, Hyundai Prescott the most at −$136,511.</a:t>
            </a:r>
            <a:endParaRPr lang="en-US" sz="1600" dirty="0"/>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3" name="Shape 191"/>
          <p:cNvSpPr/>
          <p:nvPr/>
        </p:nvSpPr>
        <p:spPr>
          <a:xfrm>
            <a:off x="457200" y="6126480"/>
            <a:ext cx="11274552" cy="615696"/>
          </a:xfrm>
          <a:prstGeom prst="rect">
            <a:avLst/>
          </a:prstGeom>
          <a:solidFill>
            <a:srgbClr val="EDF4FA"/>
          </a:solidFill>
          <a:ln/>
        </p:spPr>
      </p:sp>
      <p:sp>
        <p:nvSpPr>
          <p:cNvPr id="194" name="Text 19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Lincoln, Subaru Prescott and GMC Prescott turned a 2025 loss into a profit (green rows); VW St George went from a profit to a loss (red row). 24 of 33 stores grew.</a:t>
            </a:r>
            <a:endParaRPr lang="en-US" sz="1600"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
        <p:nvSpPr>
          <p:cNvPr id="73" name="Shape 71"/>
          <p:cNvSpPr/>
          <p:nvPr/>
        </p:nvSpPr>
        <p:spPr>
          <a:xfrm>
            <a:off x="457200" y="6126480"/>
            <a:ext cx="11274552" cy="585216"/>
          </a:xfrm>
          <a:prstGeom prst="rect">
            <a:avLst/>
          </a:prstGeom>
          <a:solidFill>
            <a:srgbClr val="EDF4FA"/>
          </a:solidFill>
          <a:ln/>
        </p:spPr>
      </p:sp>
      <p:sp>
        <p:nvSpPr>
          <p:cNvPr id="74" name="Text 72"/>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Toyota Henderson, Audi Henderson and Cadillac what changed. Ask Chevy LV, VW Henderson and Toyota Spokane what got in the way. Ask Honda Henderson, Toyota Henderson and Chevy LV what they started this year.</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 Record Year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12A566"/>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STORES WITH AN ALL-TIME RECORD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23</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33 set their best month ever in service, parts or combined during 2026.</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RECORDS SET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98</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all-time monthly records across those stores: service, parts and combined counted separately.</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BEST JANUARY–SEPTEMBER EVER</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25</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had their best January–September ever in combined fixed gross.</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12A566"/>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SET A RECORD, THEN RESET IT</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7A4A"/>
                </a:solidFill>
                <a:latin typeface="Inter" pitchFamily="34" charset="0"/>
                <a:ea typeface="Inter" pitchFamily="34" charset="-122"/>
                <a:cs typeface="Inter" pitchFamily="34" charset="-120"/>
              </a:rPr>
              <a:t>16</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stores set a record and then topped it again later in the year.</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Most records set this year: Honda Spokane 9, Nissan 9, Toyota Henderson 8, Honda Henderson 7 and Subaru St George 7.</a:t>
            </a:r>
            <a:endParaRPr lang="en-US" sz="1700" dirty="0"/>
          </a:p>
        </p:txBody>
      </p:sp>
      <p:sp>
        <p:nvSpPr>
          <p:cNvPr id="27" name="Shape 25"/>
          <p:cNvSpPr/>
          <p:nvPr/>
        </p:nvSpPr>
        <p:spPr>
          <a:xfrm>
            <a:off x="457200" y="6126480"/>
            <a:ext cx="11274552" cy="348996"/>
          </a:xfrm>
          <a:prstGeom prst="rect">
            <a:avLst/>
          </a:prstGeom>
          <a:solidFill>
            <a:srgbClr val="E6F6EE"/>
          </a:solidFill>
          <a:ln/>
        </p:spPr>
      </p:sp>
      <p:sp>
        <p:nvSpPr>
          <p:cNvPr id="28" name="Text 26"/>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Jul alone brought 11 combined store records. Every one of these stores can tell the room what they changed.</a:t>
            </a:r>
            <a:endParaRPr lang="en-US" sz="1450" dirty="0"/>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RECORDS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Records Set in 2026</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0266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7" name="Text 5"/>
          <p:cNvSpPr txBox="1"/>
          <p:nvPr/>
        </p:nvSpPr>
        <p:spPr>
          <a:xfrm>
            <a:off x="381304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8" name="Text 6"/>
          <p:cNvSpPr txBox="1"/>
          <p:nvPr/>
        </p:nvSpPr>
        <p:spPr>
          <a:xfrm>
            <a:off x="4471416"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9" name="Text 7"/>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0" name="Text 8"/>
          <p:cNvSpPr txBox="1"/>
          <p:nvPr/>
        </p:nvSpPr>
        <p:spPr>
          <a:xfrm>
            <a:off x="85770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Total</a:t>
            </a:r>
            <a:endParaRPr lang="en-US" sz="1400" dirty="0"/>
          </a:p>
        </p:txBody>
      </p:sp>
      <p:sp>
        <p:nvSpPr>
          <p:cNvPr id="11" name="Text 9"/>
          <p:cNvSpPr txBox="1"/>
          <p:nvPr/>
        </p:nvSpPr>
        <p:spPr>
          <a:xfrm>
            <a:off x="9363456"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Svc</a:t>
            </a:r>
            <a:endParaRPr lang="en-US" sz="1400" dirty="0"/>
          </a:p>
        </p:txBody>
      </p:sp>
      <p:sp>
        <p:nvSpPr>
          <p:cNvPr id="12" name="Text 10"/>
          <p:cNvSpPr txBox="1"/>
          <p:nvPr/>
        </p:nvSpPr>
        <p:spPr>
          <a:xfrm>
            <a:off x="10021824" y="1316736"/>
            <a:ext cx="71323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Parts</a:t>
            </a:r>
            <a:endParaRPr lang="en-US" sz="1400" dirty="0"/>
          </a:p>
        </p:txBody>
      </p:sp>
      <p:sp>
        <p:nvSpPr>
          <p:cNvPr id="13" name="Text 11"/>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Comb.</a:t>
            </a:r>
            <a:endParaRPr lang="en-US" sz="1400" dirty="0"/>
          </a:p>
        </p:txBody>
      </p:sp>
      <p:sp>
        <p:nvSpPr>
          <p:cNvPr id="14" name="Text 12"/>
          <p:cNvSpPr txBox="1"/>
          <p:nvPr/>
        </p:nvSpPr>
        <p:spPr>
          <a:xfrm>
            <a:off x="658368"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5" name="Text 13"/>
          <p:cNvSpPr txBox="1"/>
          <p:nvPr/>
        </p:nvSpPr>
        <p:spPr>
          <a:xfrm>
            <a:off x="1014984"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 name="Shape 14"/>
          <p:cNvSpPr/>
          <p:nvPr/>
        </p:nvSpPr>
        <p:spPr>
          <a:xfrm>
            <a:off x="2871216" y="1779994"/>
            <a:ext cx="100584" cy="193624"/>
          </a:xfrm>
          <a:prstGeom prst="rect">
            <a:avLst/>
          </a:prstGeom>
          <a:solidFill>
            <a:srgbClr val="12A566"/>
          </a:solidFill>
          <a:ln/>
        </p:spPr>
      </p:sp>
      <p:sp>
        <p:nvSpPr>
          <p:cNvPr id="17" name="Text 15"/>
          <p:cNvSpPr txBox="1"/>
          <p:nvPr/>
        </p:nvSpPr>
        <p:spPr>
          <a:xfrm>
            <a:off x="3026664"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18" name="Text 16"/>
          <p:cNvSpPr txBox="1"/>
          <p:nvPr/>
        </p:nvSpPr>
        <p:spPr>
          <a:xfrm>
            <a:off x="3813048"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9" name="Text 17"/>
          <p:cNvSpPr txBox="1"/>
          <p:nvPr/>
        </p:nvSpPr>
        <p:spPr>
          <a:xfrm>
            <a:off x="4471416"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20" name="Text 18"/>
          <p:cNvSpPr txBox="1"/>
          <p:nvPr/>
        </p:nvSpPr>
        <p:spPr>
          <a:xfrm>
            <a:off x="5184648"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1" name="Text 19"/>
          <p:cNvSpPr txBox="1"/>
          <p:nvPr/>
        </p:nvSpPr>
        <p:spPr>
          <a:xfrm>
            <a:off x="658368"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3" name="Shape 21"/>
          <p:cNvSpPr/>
          <p:nvPr/>
        </p:nvSpPr>
        <p:spPr>
          <a:xfrm>
            <a:off x="2871216" y="2132038"/>
            <a:ext cx="100584" cy="193624"/>
          </a:xfrm>
          <a:prstGeom prst="rect">
            <a:avLst/>
          </a:prstGeom>
          <a:solidFill>
            <a:srgbClr val="12A566"/>
          </a:solidFill>
          <a:ln/>
        </p:spPr>
      </p:sp>
      <p:sp>
        <p:nvSpPr>
          <p:cNvPr id="24" name="Text 22"/>
          <p:cNvSpPr txBox="1"/>
          <p:nvPr/>
        </p:nvSpPr>
        <p:spPr>
          <a:xfrm>
            <a:off x="3026664"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a:t>
            </a:r>
            <a:endParaRPr lang="en-US" sz="1300" dirty="0"/>
          </a:p>
        </p:txBody>
      </p:sp>
      <p:sp>
        <p:nvSpPr>
          <p:cNvPr id="25" name="Text 23"/>
          <p:cNvSpPr txBox="1"/>
          <p:nvPr/>
        </p:nvSpPr>
        <p:spPr>
          <a:xfrm>
            <a:off x="3813048"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26" name="Text 24"/>
          <p:cNvSpPr txBox="1"/>
          <p:nvPr/>
        </p:nvSpPr>
        <p:spPr>
          <a:xfrm>
            <a:off x="4471416"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27" name="Text 25"/>
          <p:cNvSpPr txBox="1"/>
          <p:nvPr/>
        </p:nvSpPr>
        <p:spPr>
          <a:xfrm>
            <a:off x="5184648"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28" name="Text 26"/>
          <p:cNvSpPr txBox="1"/>
          <p:nvPr/>
        </p:nvSpPr>
        <p:spPr>
          <a:xfrm>
            <a:off x="658368"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9" name="Text 27"/>
          <p:cNvSpPr txBox="1"/>
          <p:nvPr/>
        </p:nvSpPr>
        <p:spPr>
          <a:xfrm>
            <a:off x="1014984"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0" name="Shape 28"/>
          <p:cNvSpPr/>
          <p:nvPr/>
        </p:nvSpPr>
        <p:spPr>
          <a:xfrm>
            <a:off x="2871216" y="2484082"/>
            <a:ext cx="89408" cy="193624"/>
          </a:xfrm>
          <a:prstGeom prst="rect">
            <a:avLst/>
          </a:prstGeom>
          <a:solidFill>
            <a:srgbClr val="12A566"/>
          </a:solidFill>
          <a:ln/>
        </p:spPr>
      </p:sp>
      <p:sp>
        <p:nvSpPr>
          <p:cNvPr id="31" name="Text 29"/>
          <p:cNvSpPr txBox="1"/>
          <p:nvPr/>
        </p:nvSpPr>
        <p:spPr>
          <a:xfrm>
            <a:off x="3026664"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a:t>
            </a:r>
            <a:endParaRPr lang="en-US" sz="1300" dirty="0"/>
          </a:p>
        </p:txBody>
      </p:sp>
      <p:sp>
        <p:nvSpPr>
          <p:cNvPr id="32" name="Text 30"/>
          <p:cNvSpPr txBox="1"/>
          <p:nvPr/>
        </p:nvSpPr>
        <p:spPr>
          <a:xfrm>
            <a:off x="3813048"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33" name="Text 31"/>
          <p:cNvSpPr txBox="1"/>
          <p:nvPr/>
        </p:nvSpPr>
        <p:spPr>
          <a:xfrm>
            <a:off x="4471416"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4" name="Text 32"/>
          <p:cNvSpPr txBox="1"/>
          <p:nvPr/>
        </p:nvSpPr>
        <p:spPr>
          <a:xfrm>
            <a:off x="5184648"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35" name="Text 33"/>
          <p:cNvSpPr txBox="1"/>
          <p:nvPr/>
        </p:nvSpPr>
        <p:spPr>
          <a:xfrm>
            <a:off x="658368"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6" name="Text 34"/>
          <p:cNvSpPr txBox="1"/>
          <p:nvPr/>
        </p:nvSpPr>
        <p:spPr>
          <a:xfrm>
            <a:off x="1014984"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7" name="Shape 35"/>
          <p:cNvSpPr/>
          <p:nvPr/>
        </p:nvSpPr>
        <p:spPr>
          <a:xfrm>
            <a:off x="2871216" y="2836126"/>
            <a:ext cx="78232" cy="193624"/>
          </a:xfrm>
          <a:prstGeom prst="rect">
            <a:avLst/>
          </a:prstGeom>
          <a:solidFill>
            <a:srgbClr val="12A566"/>
          </a:solidFill>
          <a:ln/>
        </p:spPr>
      </p:sp>
      <p:sp>
        <p:nvSpPr>
          <p:cNvPr id="38" name="Text 36"/>
          <p:cNvSpPr txBox="1"/>
          <p:nvPr/>
        </p:nvSpPr>
        <p:spPr>
          <a:xfrm>
            <a:off x="3026664"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39" name="Text 37"/>
          <p:cNvSpPr txBox="1"/>
          <p:nvPr/>
        </p:nvSpPr>
        <p:spPr>
          <a:xfrm>
            <a:off x="3813048"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0" name="Text 38"/>
          <p:cNvSpPr txBox="1"/>
          <p:nvPr/>
        </p:nvSpPr>
        <p:spPr>
          <a:xfrm>
            <a:off x="4471416"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41" name="Text 39"/>
          <p:cNvSpPr txBox="1"/>
          <p:nvPr/>
        </p:nvSpPr>
        <p:spPr>
          <a:xfrm>
            <a:off x="5184648"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2" name="Text 40"/>
          <p:cNvSpPr txBox="1"/>
          <p:nvPr/>
        </p:nvSpPr>
        <p:spPr>
          <a:xfrm>
            <a:off x="658368"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43" name="Text 41"/>
          <p:cNvSpPr txBox="1"/>
          <p:nvPr/>
        </p:nvSpPr>
        <p:spPr>
          <a:xfrm>
            <a:off x="1014984"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4" name="Shape 42"/>
          <p:cNvSpPr/>
          <p:nvPr/>
        </p:nvSpPr>
        <p:spPr>
          <a:xfrm>
            <a:off x="2871216" y="3188170"/>
            <a:ext cx="78232" cy="193624"/>
          </a:xfrm>
          <a:prstGeom prst="rect">
            <a:avLst/>
          </a:prstGeom>
          <a:solidFill>
            <a:srgbClr val="12A566"/>
          </a:solidFill>
          <a:ln/>
        </p:spPr>
      </p:sp>
      <p:sp>
        <p:nvSpPr>
          <p:cNvPr id="45" name="Text 43"/>
          <p:cNvSpPr txBox="1"/>
          <p:nvPr/>
        </p:nvSpPr>
        <p:spPr>
          <a:xfrm>
            <a:off x="3026664"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a:t>
            </a:r>
            <a:endParaRPr lang="en-US" sz="1300" dirty="0"/>
          </a:p>
        </p:txBody>
      </p:sp>
      <p:sp>
        <p:nvSpPr>
          <p:cNvPr id="46" name="Text 44"/>
          <p:cNvSpPr txBox="1"/>
          <p:nvPr/>
        </p:nvSpPr>
        <p:spPr>
          <a:xfrm>
            <a:off x="3813048"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7" name="Text 45"/>
          <p:cNvSpPr txBox="1"/>
          <p:nvPr/>
        </p:nvSpPr>
        <p:spPr>
          <a:xfrm>
            <a:off x="4471416"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48" name="Text 46"/>
          <p:cNvSpPr txBox="1"/>
          <p:nvPr/>
        </p:nvSpPr>
        <p:spPr>
          <a:xfrm>
            <a:off x="5184648"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49" name="Text 47"/>
          <p:cNvSpPr txBox="1"/>
          <p:nvPr/>
        </p:nvSpPr>
        <p:spPr>
          <a:xfrm>
            <a:off x="658368"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50" name="Text 48"/>
          <p:cNvSpPr txBox="1"/>
          <p:nvPr/>
        </p:nvSpPr>
        <p:spPr>
          <a:xfrm>
            <a:off x="1014984"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1" name="Shape 49"/>
          <p:cNvSpPr/>
          <p:nvPr/>
        </p:nvSpPr>
        <p:spPr>
          <a:xfrm>
            <a:off x="2871216" y="3540214"/>
            <a:ext cx="67056" cy="193624"/>
          </a:xfrm>
          <a:prstGeom prst="rect">
            <a:avLst/>
          </a:prstGeom>
          <a:solidFill>
            <a:srgbClr val="12A566"/>
          </a:solidFill>
          <a:ln/>
        </p:spPr>
      </p:sp>
      <p:sp>
        <p:nvSpPr>
          <p:cNvPr id="52" name="Text 50"/>
          <p:cNvSpPr txBox="1"/>
          <p:nvPr/>
        </p:nvSpPr>
        <p:spPr>
          <a:xfrm>
            <a:off x="3026664"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53" name="Text 51"/>
          <p:cNvSpPr txBox="1"/>
          <p:nvPr/>
        </p:nvSpPr>
        <p:spPr>
          <a:xfrm>
            <a:off x="3813048"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54" name="Text 52"/>
          <p:cNvSpPr txBox="1"/>
          <p:nvPr/>
        </p:nvSpPr>
        <p:spPr>
          <a:xfrm>
            <a:off x="4471416"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55" name="Text 53"/>
          <p:cNvSpPr txBox="1"/>
          <p:nvPr/>
        </p:nvSpPr>
        <p:spPr>
          <a:xfrm>
            <a:off x="5184648"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56" name="Text 54"/>
          <p:cNvSpPr txBox="1"/>
          <p:nvPr/>
        </p:nvSpPr>
        <p:spPr>
          <a:xfrm>
            <a:off x="658368"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57" name="Text 55"/>
          <p:cNvSpPr txBox="1"/>
          <p:nvPr/>
        </p:nvSpPr>
        <p:spPr>
          <a:xfrm>
            <a:off x="1014984"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8" name="Shape 56"/>
          <p:cNvSpPr/>
          <p:nvPr/>
        </p:nvSpPr>
        <p:spPr>
          <a:xfrm>
            <a:off x="2871216" y="3892258"/>
            <a:ext cx="67056" cy="193624"/>
          </a:xfrm>
          <a:prstGeom prst="rect">
            <a:avLst/>
          </a:prstGeom>
          <a:solidFill>
            <a:srgbClr val="12A566"/>
          </a:solidFill>
          <a:ln/>
        </p:spPr>
      </p:sp>
      <p:sp>
        <p:nvSpPr>
          <p:cNvPr id="59" name="Text 57"/>
          <p:cNvSpPr txBox="1"/>
          <p:nvPr/>
        </p:nvSpPr>
        <p:spPr>
          <a:xfrm>
            <a:off x="3026664"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a:t>
            </a:r>
            <a:endParaRPr lang="en-US" sz="1300" dirty="0"/>
          </a:p>
        </p:txBody>
      </p:sp>
      <p:sp>
        <p:nvSpPr>
          <p:cNvPr id="60" name="Text 58"/>
          <p:cNvSpPr txBox="1"/>
          <p:nvPr/>
        </p:nvSpPr>
        <p:spPr>
          <a:xfrm>
            <a:off x="3813048"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1" name="Text 59"/>
          <p:cNvSpPr txBox="1"/>
          <p:nvPr/>
        </p:nvSpPr>
        <p:spPr>
          <a:xfrm>
            <a:off x="4471416"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2" name="Text 60"/>
          <p:cNvSpPr txBox="1"/>
          <p:nvPr/>
        </p:nvSpPr>
        <p:spPr>
          <a:xfrm>
            <a:off x="5184648"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63" name="Text 61"/>
          <p:cNvSpPr txBox="1"/>
          <p:nvPr/>
        </p:nvSpPr>
        <p:spPr>
          <a:xfrm>
            <a:off x="658368"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64" name="Text 62"/>
          <p:cNvSpPr txBox="1"/>
          <p:nvPr/>
        </p:nvSpPr>
        <p:spPr>
          <a:xfrm>
            <a:off x="1014984"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2871216" y="4244302"/>
            <a:ext cx="55880" cy="193624"/>
          </a:xfrm>
          <a:prstGeom prst="rect">
            <a:avLst/>
          </a:prstGeom>
          <a:solidFill>
            <a:srgbClr val="12A566"/>
          </a:solidFill>
          <a:ln/>
        </p:spPr>
      </p:sp>
      <p:sp>
        <p:nvSpPr>
          <p:cNvPr id="66" name="Text 64"/>
          <p:cNvSpPr txBox="1"/>
          <p:nvPr/>
        </p:nvSpPr>
        <p:spPr>
          <a:xfrm>
            <a:off x="3026664"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a:t>
            </a:r>
            <a:endParaRPr lang="en-US" sz="1300" dirty="0"/>
          </a:p>
        </p:txBody>
      </p:sp>
      <p:sp>
        <p:nvSpPr>
          <p:cNvPr id="67" name="Text 65"/>
          <p:cNvSpPr txBox="1"/>
          <p:nvPr/>
        </p:nvSpPr>
        <p:spPr>
          <a:xfrm>
            <a:off x="3813048"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68" name="Text 66"/>
          <p:cNvSpPr txBox="1"/>
          <p:nvPr/>
        </p:nvSpPr>
        <p:spPr>
          <a:xfrm>
            <a:off x="4471416"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69" name="Text 67"/>
          <p:cNvSpPr txBox="1"/>
          <p:nvPr/>
        </p:nvSpPr>
        <p:spPr>
          <a:xfrm>
            <a:off x="5184648"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0" name="Text 68"/>
          <p:cNvSpPr txBox="1"/>
          <p:nvPr/>
        </p:nvSpPr>
        <p:spPr>
          <a:xfrm>
            <a:off x="658368"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71" name="Text 69"/>
          <p:cNvSpPr txBox="1"/>
          <p:nvPr/>
        </p:nvSpPr>
        <p:spPr>
          <a:xfrm>
            <a:off x="1014984"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2" name="Shape 70"/>
          <p:cNvSpPr/>
          <p:nvPr/>
        </p:nvSpPr>
        <p:spPr>
          <a:xfrm>
            <a:off x="2871216" y="4596346"/>
            <a:ext cx="44704" cy="193624"/>
          </a:xfrm>
          <a:prstGeom prst="rect">
            <a:avLst/>
          </a:prstGeom>
          <a:solidFill>
            <a:srgbClr val="12A566"/>
          </a:solidFill>
          <a:ln/>
        </p:spPr>
      </p:sp>
      <p:sp>
        <p:nvSpPr>
          <p:cNvPr id="73" name="Text 71"/>
          <p:cNvSpPr txBox="1"/>
          <p:nvPr/>
        </p:nvSpPr>
        <p:spPr>
          <a:xfrm>
            <a:off x="3026664"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74" name="Text 72"/>
          <p:cNvSpPr txBox="1"/>
          <p:nvPr/>
        </p:nvSpPr>
        <p:spPr>
          <a:xfrm>
            <a:off x="3813048"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75" name="Text 73"/>
          <p:cNvSpPr txBox="1"/>
          <p:nvPr/>
        </p:nvSpPr>
        <p:spPr>
          <a:xfrm>
            <a:off x="4471416"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6" name="Text 74"/>
          <p:cNvSpPr txBox="1"/>
          <p:nvPr/>
        </p:nvSpPr>
        <p:spPr>
          <a:xfrm>
            <a:off x="5184648"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77" name="Text 75"/>
          <p:cNvSpPr txBox="1"/>
          <p:nvPr/>
        </p:nvSpPr>
        <p:spPr>
          <a:xfrm>
            <a:off x="658368"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78" name="Text 76"/>
          <p:cNvSpPr txBox="1"/>
          <p:nvPr/>
        </p:nvSpPr>
        <p:spPr>
          <a:xfrm>
            <a:off x="1014984"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9" name="Shape 77"/>
          <p:cNvSpPr/>
          <p:nvPr/>
        </p:nvSpPr>
        <p:spPr>
          <a:xfrm>
            <a:off x="2871216" y="4948390"/>
            <a:ext cx="44704" cy="193624"/>
          </a:xfrm>
          <a:prstGeom prst="rect">
            <a:avLst/>
          </a:prstGeom>
          <a:solidFill>
            <a:srgbClr val="12A566"/>
          </a:solidFill>
          <a:ln/>
        </p:spPr>
      </p:sp>
      <p:sp>
        <p:nvSpPr>
          <p:cNvPr id="80" name="Text 78"/>
          <p:cNvSpPr txBox="1"/>
          <p:nvPr/>
        </p:nvSpPr>
        <p:spPr>
          <a:xfrm>
            <a:off x="3026664"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1" name="Text 79"/>
          <p:cNvSpPr txBox="1"/>
          <p:nvPr/>
        </p:nvSpPr>
        <p:spPr>
          <a:xfrm>
            <a:off x="3813048"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2" name="Text 80"/>
          <p:cNvSpPr txBox="1"/>
          <p:nvPr/>
        </p:nvSpPr>
        <p:spPr>
          <a:xfrm>
            <a:off x="4471416"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3" name="Text 81"/>
          <p:cNvSpPr txBox="1"/>
          <p:nvPr/>
        </p:nvSpPr>
        <p:spPr>
          <a:xfrm>
            <a:off x="5184648"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84" name="Text 82"/>
          <p:cNvSpPr txBox="1"/>
          <p:nvPr/>
        </p:nvSpPr>
        <p:spPr>
          <a:xfrm>
            <a:off x="658368"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85" name="Text 83"/>
          <p:cNvSpPr txBox="1"/>
          <p:nvPr/>
        </p:nvSpPr>
        <p:spPr>
          <a:xfrm>
            <a:off x="1014984"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6" name="Shape 84"/>
          <p:cNvSpPr/>
          <p:nvPr/>
        </p:nvSpPr>
        <p:spPr>
          <a:xfrm>
            <a:off x="2871216" y="5300434"/>
            <a:ext cx="44704" cy="193624"/>
          </a:xfrm>
          <a:prstGeom prst="rect">
            <a:avLst/>
          </a:prstGeom>
          <a:solidFill>
            <a:srgbClr val="12A566"/>
          </a:solidFill>
          <a:ln/>
        </p:spPr>
      </p:sp>
      <p:sp>
        <p:nvSpPr>
          <p:cNvPr id="87" name="Text 85"/>
          <p:cNvSpPr txBox="1"/>
          <p:nvPr/>
        </p:nvSpPr>
        <p:spPr>
          <a:xfrm>
            <a:off x="3026664"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88" name="Text 86"/>
          <p:cNvSpPr txBox="1"/>
          <p:nvPr/>
        </p:nvSpPr>
        <p:spPr>
          <a:xfrm>
            <a:off x="3813048"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89" name="Text 87"/>
          <p:cNvSpPr txBox="1"/>
          <p:nvPr/>
        </p:nvSpPr>
        <p:spPr>
          <a:xfrm>
            <a:off x="4471416"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0" name="Text 88"/>
          <p:cNvSpPr txBox="1"/>
          <p:nvPr/>
        </p:nvSpPr>
        <p:spPr>
          <a:xfrm>
            <a:off x="5184648"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1" name="Text 89"/>
          <p:cNvSpPr txBox="1"/>
          <p:nvPr/>
        </p:nvSpPr>
        <p:spPr>
          <a:xfrm>
            <a:off x="658368" y="557326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2" name="Text 90"/>
          <p:cNvSpPr txBox="1"/>
          <p:nvPr/>
        </p:nvSpPr>
        <p:spPr>
          <a:xfrm>
            <a:off x="1014984" y="557326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2871216" y="5652478"/>
            <a:ext cx="44704" cy="193624"/>
          </a:xfrm>
          <a:prstGeom prst="rect">
            <a:avLst/>
          </a:prstGeom>
          <a:solidFill>
            <a:srgbClr val="12A566"/>
          </a:solidFill>
          <a:ln/>
        </p:spPr>
      </p:sp>
      <p:sp>
        <p:nvSpPr>
          <p:cNvPr id="94" name="Text 92"/>
          <p:cNvSpPr txBox="1"/>
          <p:nvPr/>
        </p:nvSpPr>
        <p:spPr>
          <a:xfrm>
            <a:off x="3026664" y="557326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95" name="Text 93"/>
          <p:cNvSpPr txBox="1"/>
          <p:nvPr/>
        </p:nvSpPr>
        <p:spPr>
          <a:xfrm>
            <a:off x="3813048" y="557326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a:t>
            </a:r>
            <a:endParaRPr lang="en-US" sz="1300" dirty="0"/>
          </a:p>
        </p:txBody>
      </p:sp>
      <p:sp>
        <p:nvSpPr>
          <p:cNvPr id="96" name="Text 94"/>
          <p:cNvSpPr txBox="1"/>
          <p:nvPr/>
        </p:nvSpPr>
        <p:spPr>
          <a:xfrm>
            <a:off x="4471416" y="557326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97" name="Text 95"/>
          <p:cNvSpPr txBox="1"/>
          <p:nvPr/>
        </p:nvSpPr>
        <p:spPr>
          <a:xfrm>
            <a:off x="5184648" y="557326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98" name="Text 96"/>
          <p:cNvSpPr txBox="1"/>
          <p:nvPr/>
        </p:nvSpPr>
        <p:spPr>
          <a:xfrm>
            <a:off x="6208776" y="170078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99" name="Text 97"/>
          <p:cNvSpPr txBox="1"/>
          <p:nvPr/>
        </p:nvSpPr>
        <p:spPr>
          <a:xfrm>
            <a:off x="6565392" y="170078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0" name="Shape 98"/>
          <p:cNvSpPr/>
          <p:nvPr/>
        </p:nvSpPr>
        <p:spPr>
          <a:xfrm>
            <a:off x="8421624" y="1779994"/>
            <a:ext cx="44704" cy="193624"/>
          </a:xfrm>
          <a:prstGeom prst="rect">
            <a:avLst/>
          </a:prstGeom>
          <a:solidFill>
            <a:srgbClr val="12A566"/>
          </a:solidFill>
          <a:ln/>
        </p:spPr>
      </p:sp>
      <p:sp>
        <p:nvSpPr>
          <p:cNvPr id="101" name="Text 99"/>
          <p:cNvSpPr txBox="1"/>
          <p:nvPr/>
        </p:nvSpPr>
        <p:spPr>
          <a:xfrm>
            <a:off x="8577072" y="170078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2" name="Text 100"/>
          <p:cNvSpPr txBox="1"/>
          <p:nvPr/>
        </p:nvSpPr>
        <p:spPr>
          <a:xfrm>
            <a:off x="9363456" y="170078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03" name="Text 101"/>
          <p:cNvSpPr txBox="1"/>
          <p:nvPr/>
        </p:nvSpPr>
        <p:spPr>
          <a:xfrm>
            <a:off x="10021824" y="170078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4" name="Text 102"/>
          <p:cNvSpPr txBox="1"/>
          <p:nvPr/>
        </p:nvSpPr>
        <p:spPr>
          <a:xfrm>
            <a:off x="10735056" y="170078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05" name="Text 103"/>
          <p:cNvSpPr txBox="1"/>
          <p:nvPr/>
        </p:nvSpPr>
        <p:spPr>
          <a:xfrm>
            <a:off x="6208776" y="205282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6" name="Text 104"/>
          <p:cNvSpPr txBox="1"/>
          <p:nvPr/>
        </p:nvSpPr>
        <p:spPr>
          <a:xfrm>
            <a:off x="6565392" y="205282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7" name="Shape 105"/>
          <p:cNvSpPr/>
          <p:nvPr/>
        </p:nvSpPr>
        <p:spPr>
          <a:xfrm>
            <a:off x="8421624" y="2132038"/>
            <a:ext cx="44704" cy="193624"/>
          </a:xfrm>
          <a:prstGeom prst="rect">
            <a:avLst/>
          </a:prstGeom>
          <a:solidFill>
            <a:srgbClr val="12A566"/>
          </a:solidFill>
          <a:ln/>
        </p:spPr>
      </p:sp>
      <p:sp>
        <p:nvSpPr>
          <p:cNvPr id="108" name="Text 106"/>
          <p:cNvSpPr txBox="1"/>
          <p:nvPr/>
        </p:nvSpPr>
        <p:spPr>
          <a:xfrm>
            <a:off x="8577072" y="205282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a:t>
            </a:r>
            <a:endParaRPr lang="en-US" sz="1300" dirty="0"/>
          </a:p>
        </p:txBody>
      </p:sp>
      <p:sp>
        <p:nvSpPr>
          <p:cNvPr id="109" name="Text 107"/>
          <p:cNvSpPr txBox="1"/>
          <p:nvPr/>
        </p:nvSpPr>
        <p:spPr>
          <a:xfrm>
            <a:off x="9363456" y="205282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a:t>
            </a:r>
            <a:endParaRPr lang="en-US" sz="1300" dirty="0"/>
          </a:p>
        </p:txBody>
      </p:sp>
      <p:sp>
        <p:nvSpPr>
          <p:cNvPr id="110" name="Text 108"/>
          <p:cNvSpPr txBox="1"/>
          <p:nvPr/>
        </p:nvSpPr>
        <p:spPr>
          <a:xfrm>
            <a:off x="10021824" y="205282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1" name="Text 109"/>
          <p:cNvSpPr txBox="1"/>
          <p:nvPr/>
        </p:nvSpPr>
        <p:spPr>
          <a:xfrm>
            <a:off x="10735056" y="205282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2" name="Text 110"/>
          <p:cNvSpPr txBox="1"/>
          <p:nvPr/>
        </p:nvSpPr>
        <p:spPr>
          <a:xfrm>
            <a:off x="6208776" y="240487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3" name="Text 111"/>
          <p:cNvSpPr txBox="1"/>
          <p:nvPr/>
        </p:nvSpPr>
        <p:spPr>
          <a:xfrm>
            <a:off x="6565392" y="240487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14" name="Shape 112"/>
          <p:cNvSpPr/>
          <p:nvPr/>
        </p:nvSpPr>
        <p:spPr>
          <a:xfrm>
            <a:off x="8421624" y="2484082"/>
            <a:ext cx="33528" cy="193624"/>
          </a:xfrm>
          <a:prstGeom prst="rect">
            <a:avLst/>
          </a:prstGeom>
          <a:solidFill>
            <a:srgbClr val="12A566"/>
          </a:solidFill>
          <a:ln/>
        </p:spPr>
      </p:sp>
      <p:sp>
        <p:nvSpPr>
          <p:cNvPr id="115" name="Text 113"/>
          <p:cNvSpPr txBox="1"/>
          <p:nvPr/>
        </p:nvSpPr>
        <p:spPr>
          <a:xfrm>
            <a:off x="8577072" y="240487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a:t>
            </a:r>
            <a:endParaRPr lang="en-US" sz="1300" dirty="0"/>
          </a:p>
        </p:txBody>
      </p:sp>
      <p:sp>
        <p:nvSpPr>
          <p:cNvPr id="116" name="Text 114"/>
          <p:cNvSpPr txBox="1"/>
          <p:nvPr/>
        </p:nvSpPr>
        <p:spPr>
          <a:xfrm>
            <a:off x="9363456" y="240487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17" name="Text 115"/>
          <p:cNvSpPr txBox="1"/>
          <p:nvPr/>
        </p:nvSpPr>
        <p:spPr>
          <a:xfrm>
            <a:off x="10021824" y="240487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18" name="Text 116"/>
          <p:cNvSpPr txBox="1"/>
          <p:nvPr/>
        </p:nvSpPr>
        <p:spPr>
          <a:xfrm>
            <a:off x="10735056" y="240487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19" name="Text 117"/>
          <p:cNvSpPr txBox="1"/>
          <p:nvPr/>
        </p:nvSpPr>
        <p:spPr>
          <a:xfrm>
            <a:off x="6208776" y="275691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20" name="Text 118"/>
          <p:cNvSpPr txBox="1"/>
          <p:nvPr/>
        </p:nvSpPr>
        <p:spPr>
          <a:xfrm>
            <a:off x="6565392" y="275691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421624" y="2836126"/>
            <a:ext cx="22352" cy="193624"/>
          </a:xfrm>
          <a:prstGeom prst="rect">
            <a:avLst/>
          </a:prstGeom>
          <a:solidFill>
            <a:srgbClr val="12A566"/>
          </a:solidFill>
          <a:ln/>
        </p:spPr>
      </p:sp>
      <p:sp>
        <p:nvSpPr>
          <p:cNvPr id="122" name="Text 120"/>
          <p:cNvSpPr txBox="1"/>
          <p:nvPr/>
        </p:nvSpPr>
        <p:spPr>
          <a:xfrm>
            <a:off x="8577072" y="275691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23" name="Text 121"/>
          <p:cNvSpPr txBox="1"/>
          <p:nvPr/>
        </p:nvSpPr>
        <p:spPr>
          <a:xfrm>
            <a:off x="9363456" y="275691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4" name="Text 122"/>
          <p:cNvSpPr txBox="1"/>
          <p:nvPr/>
        </p:nvSpPr>
        <p:spPr>
          <a:xfrm>
            <a:off x="10021824" y="275691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25" name="Text 123"/>
          <p:cNvSpPr txBox="1"/>
          <p:nvPr/>
        </p:nvSpPr>
        <p:spPr>
          <a:xfrm>
            <a:off x="10735056" y="275691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26" name="Text 124"/>
          <p:cNvSpPr txBox="1"/>
          <p:nvPr/>
        </p:nvSpPr>
        <p:spPr>
          <a:xfrm>
            <a:off x="6208776" y="310896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27" name="Text 125"/>
          <p:cNvSpPr txBox="1"/>
          <p:nvPr/>
        </p:nvSpPr>
        <p:spPr>
          <a:xfrm>
            <a:off x="6565392" y="310896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8" name="Shape 126"/>
          <p:cNvSpPr/>
          <p:nvPr/>
        </p:nvSpPr>
        <p:spPr>
          <a:xfrm>
            <a:off x="8421624" y="3188170"/>
            <a:ext cx="22352" cy="193624"/>
          </a:xfrm>
          <a:prstGeom prst="rect">
            <a:avLst/>
          </a:prstGeom>
          <a:solidFill>
            <a:srgbClr val="12A566"/>
          </a:solidFill>
          <a:ln/>
        </p:spPr>
      </p:sp>
      <p:sp>
        <p:nvSpPr>
          <p:cNvPr id="129" name="Text 127"/>
          <p:cNvSpPr txBox="1"/>
          <p:nvPr/>
        </p:nvSpPr>
        <p:spPr>
          <a:xfrm>
            <a:off x="8577072" y="310896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0" name="Text 128"/>
          <p:cNvSpPr txBox="1"/>
          <p:nvPr/>
        </p:nvSpPr>
        <p:spPr>
          <a:xfrm>
            <a:off x="9363456" y="310896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1" name="Text 129"/>
          <p:cNvSpPr txBox="1"/>
          <p:nvPr/>
        </p:nvSpPr>
        <p:spPr>
          <a:xfrm>
            <a:off x="10021824" y="310896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2" name="Text 130"/>
          <p:cNvSpPr txBox="1"/>
          <p:nvPr/>
        </p:nvSpPr>
        <p:spPr>
          <a:xfrm>
            <a:off x="10735056" y="310896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3" name="Text 131"/>
          <p:cNvSpPr txBox="1"/>
          <p:nvPr/>
        </p:nvSpPr>
        <p:spPr>
          <a:xfrm>
            <a:off x="6208776" y="346100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34" name="Text 132"/>
          <p:cNvSpPr txBox="1"/>
          <p:nvPr/>
        </p:nvSpPr>
        <p:spPr>
          <a:xfrm>
            <a:off x="6565392" y="346100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5" name="Shape 133"/>
          <p:cNvSpPr/>
          <p:nvPr/>
        </p:nvSpPr>
        <p:spPr>
          <a:xfrm>
            <a:off x="8421624" y="3540214"/>
            <a:ext cx="22352" cy="193624"/>
          </a:xfrm>
          <a:prstGeom prst="rect">
            <a:avLst/>
          </a:prstGeom>
          <a:solidFill>
            <a:srgbClr val="12A566"/>
          </a:solidFill>
          <a:ln/>
        </p:spPr>
      </p:sp>
      <p:sp>
        <p:nvSpPr>
          <p:cNvPr id="136" name="Text 134"/>
          <p:cNvSpPr txBox="1"/>
          <p:nvPr/>
        </p:nvSpPr>
        <p:spPr>
          <a:xfrm>
            <a:off x="8577072" y="346100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37" name="Text 135"/>
          <p:cNvSpPr txBox="1"/>
          <p:nvPr/>
        </p:nvSpPr>
        <p:spPr>
          <a:xfrm>
            <a:off x="9363456" y="346100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38" name="Text 136"/>
          <p:cNvSpPr txBox="1"/>
          <p:nvPr/>
        </p:nvSpPr>
        <p:spPr>
          <a:xfrm>
            <a:off x="10021824" y="346100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39" name="Text 137"/>
          <p:cNvSpPr txBox="1"/>
          <p:nvPr/>
        </p:nvSpPr>
        <p:spPr>
          <a:xfrm>
            <a:off x="10735056" y="346100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0" name="Text 138"/>
          <p:cNvSpPr txBox="1"/>
          <p:nvPr/>
        </p:nvSpPr>
        <p:spPr>
          <a:xfrm>
            <a:off x="6208776" y="3813048"/>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41" name="Text 139"/>
          <p:cNvSpPr txBox="1"/>
          <p:nvPr/>
        </p:nvSpPr>
        <p:spPr>
          <a:xfrm>
            <a:off x="6565392" y="3813048"/>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2" name="Shape 140"/>
          <p:cNvSpPr/>
          <p:nvPr/>
        </p:nvSpPr>
        <p:spPr>
          <a:xfrm>
            <a:off x="8421624" y="3892258"/>
            <a:ext cx="22352" cy="193624"/>
          </a:xfrm>
          <a:prstGeom prst="rect">
            <a:avLst/>
          </a:prstGeom>
          <a:solidFill>
            <a:srgbClr val="12A566"/>
          </a:solidFill>
          <a:ln/>
        </p:spPr>
      </p:sp>
      <p:sp>
        <p:nvSpPr>
          <p:cNvPr id="143" name="Text 141"/>
          <p:cNvSpPr txBox="1"/>
          <p:nvPr/>
        </p:nvSpPr>
        <p:spPr>
          <a:xfrm>
            <a:off x="8577072" y="3813048"/>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44" name="Text 142"/>
          <p:cNvSpPr txBox="1"/>
          <p:nvPr/>
        </p:nvSpPr>
        <p:spPr>
          <a:xfrm>
            <a:off x="9363456" y="3813048"/>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5" name="Text 143"/>
          <p:cNvSpPr txBox="1"/>
          <p:nvPr/>
        </p:nvSpPr>
        <p:spPr>
          <a:xfrm>
            <a:off x="10021824" y="3813048"/>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46" name="Text 144"/>
          <p:cNvSpPr txBox="1"/>
          <p:nvPr/>
        </p:nvSpPr>
        <p:spPr>
          <a:xfrm>
            <a:off x="10735056" y="3813048"/>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47" name="Text 145"/>
          <p:cNvSpPr txBox="1"/>
          <p:nvPr/>
        </p:nvSpPr>
        <p:spPr>
          <a:xfrm>
            <a:off x="6208776" y="4165092"/>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48" name="Text 146"/>
          <p:cNvSpPr txBox="1"/>
          <p:nvPr/>
        </p:nvSpPr>
        <p:spPr>
          <a:xfrm>
            <a:off x="6565392" y="4165092"/>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9" name="Shape 147"/>
          <p:cNvSpPr/>
          <p:nvPr/>
        </p:nvSpPr>
        <p:spPr>
          <a:xfrm>
            <a:off x="8421624" y="4244302"/>
            <a:ext cx="22352" cy="193624"/>
          </a:xfrm>
          <a:prstGeom prst="rect">
            <a:avLst/>
          </a:prstGeom>
          <a:solidFill>
            <a:srgbClr val="12A566"/>
          </a:solidFill>
          <a:ln/>
        </p:spPr>
      </p:sp>
      <p:sp>
        <p:nvSpPr>
          <p:cNvPr id="150" name="Text 148"/>
          <p:cNvSpPr txBox="1"/>
          <p:nvPr/>
        </p:nvSpPr>
        <p:spPr>
          <a:xfrm>
            <a:off x="8577072" y="4165092"/>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1" name="Text 149"/>
          <p:cNvSpPr txBox="1"/>
          <p:nvPr/>
        </p:nvSpPr>
        <p:spPr>
          <a:xfrm>
            <a:off x="9363456" y="4165092"/>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2" name="Text 150"/>
          <p:cNvSpPr txBox="1"/>
          <p:nvPr/>
        </p:nvSpPr>
        <p:spPr>
          <a:xfrm>
            <a:off x="10021824" y="4165092"/>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53" name="Text 151"/>
          <p:cNvSpPr txBox="1"/>
          <p:nvPr/>
        </p:nvSpPr>
        <p:spPr>
          <a:xfrm>
            <a:off x="10735056" y="4165092"/>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54" name="Text 152"/>
          <p:cNvSpPr txBox="1"/>
          <p:nvPr/>
        </p:nvSpPr>
        <p:spPr>
          <a:xfrm>
            <a:off x="6208776" y="4517136"/>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55" name="Text 153"/>
          <p:cNvSpPr txBox="1"/>
          <p:nvPr/>
        </p:nvSpPr>
        <p:spPr>
          <a:xfrm>
            <a:off x="6565392" y="4517136"/>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6" name="Shape 154"/>
          <p:cNvSpPr/>
          <p:nvPr/>
        </p:nvSpPr>
        <p:spPr>
          <a:xfrm>
            <a:off x="8421624" y="4596346"/>
            <a:ext cx="22352" cy="193624"/>
          </a:xfrm>
          <a:prstGeom prst="rect">
            <a:avLst/>
          </a:prstGeom>
          <a:solidFill>
            <a:srgbClr val="12A566"/>
          </a:solidFill>
          <a:ln/>
        </p:spPr>
      </p:sp>
      <p:sp>
        <p:nvSpPr>
          <p:cNvPr id="157" name="Text 155"/>
          <p:cNvSpPr txBox="1"/>
          <p:nvPr/>
        </p:nvSpPr>
        <p:spPr>
          <a:xfrm>
            <a:off x="8577072" y="4517136"/>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a:t>
            </a:r>
            <a:endParaRPr lang="en-US" sz="1300" dirty="0"/>
          </a:p>
        </p:txBody>
      </p:sp>
      <p:sp>
        <p:nvSpPr>
          <p:cNvPr id="158" name="Text 156"/>
          <p:cNvSpPr txBox="1"/>
          <p:nvPr/>
        </p:nvSpPr>
        <p:spPr>
          <a:xfrm>
            <a:off x="9363456" y="4517136"/>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a:t>
            </a:r>
            <a:endParaRPr lang="en-US" sz="1300" dirty="0"/>
          </a:p>
        </p:txBody>
      </p:sp>
      <p:sp>
        <p:nvSpPr>
          <p:cNvPr id="159" name="Text 157"/>
          <p:cNvSpPr txBox="1"/>
          <p:nvPr/>
        </p:nvSpPr>
        <p:spPr>
          <a:xfrm>
            <a:off x="10021824" y="4517136"/>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0" name="Text 158"/>
          <p:cNvSpPr txBox="1"/>
          <p:nvPr/>
        </p:nvSpPr>
        <p:spPr>
          <a:xfrm>
            <a:off x="10735056" y="4517136"/>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1" name="Text 159"/>
          <p:cNvSpPr txBox="1"/>
          <p:nvPr/>
        </p:nvSpPr>
        <p:spPr>
          <a:xfrm>
            <a:off x="6208776" y="4869180"/>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62" name="Text 160"/>
          <p:cNvSpPr txBox="1"/>
          <p:nvPr/>
        </p:nvSpPr>
        <p:spPr>
          <a:xfrm>
            <a:off x="6565392" y="4869180"/>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3" name="Shape 161"/>
          <p:cNvSpPr/>
          <p:nvPr/>
        </p:nvSpPr>
        <p:spPr>
          <a:xfrm>
            <a:off x="8421624" y="4948390"/>
            <a:ext cx="18288" cy="193624"/>
          </a:xfrm>
          <a:prstGeom prst="rect">
            <a:avLst/>
          </a:prstGeom>
          <a:solidFill>
            <a:srgbClr val="12A566"/>
          </a:solidFill>
          <a:ln/>
        </p:spPr>
      </p:sp>
      <p:sp>
        <p:nvSpPr>
          <p:cNvPr id="164" name="Text 162"/>
          <p:cNvSpPr txBox="1"/>
          <p:nvPr/>
        </p:nvSpPr>
        <p:spPr>
          <a:xfrm>
            <a:off x="8577072" y="4869180"/>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65" name="Text 163"/>
          <p:cNvSpPr txBox="1"/>
          <p:nvPr/>
        </p:nvSpPr>
        <p:spPr>
          <a:xfrm>
            <a:off x="9363456" y="4869180"/>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6" name="Text 164"/>
          <p:cNvSpPr txBox="1"/>
          <p:nvPr/>
        </p:nvSpPr>
        <p:spPr>
          <a:xfrm>
            <a:off x="10021824" y="4869180"/>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67" name="Text 165"/>
          <p:cNvSpPr txBox="1"/>
          <p:nvPr/>
        </p:nvSpPr>
        <p:spPr>
          <a:xfrm>
            <a:off x="10735056" y="4869180"/>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68" name="Text 166"/>
          <p:cNvSpPr txBox="1"/>
          <p:nvPr/>
        </p:nvSpPr>
        <p:spPr>
          <a:xfrm>
            <a:off x="6208776" y="5221224"/>
            <a:ext cx="310896" cy="35204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69" name="Text 167"/>
          <p:cNvSpPr txBox="1"/>
          <p:nvPr/>
        </p:nvSpPr>
        <p:spPr>
          <a:xfrm>
            <a:off x="6565392" y="5221224"/>
            <a:ext cx="1783080" cy="35204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0" name="Shape 168"/>
          <p:cNvSpPr/>
          <p:nvPr/>
        </p:nvSpPr>
        <p:spPr>
          <a:xfrm>
            <a:off x="8421624" y="5300434"/>
            <a:ext cx="18288" cy="193624"/>
          </a:xfrm>
          <a:prstGeom prst="rect">
            <a:avLst/>
          </a:prstGeom>
          <a:solidFill>
            <a:srgbClr val="12A566"/>
          </a:solidFill>
          <a:ln/>
        </p:spPr>
      </p:sp>
      <p:sp>
        <p:nvSpPr>
          <p:cNvPr id="171" name="Text 169"/>
          <p:cNvSpPr txBox="1"/>
          <p:nvPr/>
        </p:nvSpPr>
        <p:spPr>
          <a:xfrm>
            <a:off x="8577072" y="5221224"/>
            <a:ext cx="786384" cy="352044"/>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a:t>
            </a:r>
            <a:endParaRPr lang="en-US" sz="1300" dirty="0"/>
          </a:p>
        </p:txBody>
      </p:sp>
      <p:sp>
        <p:nvSpPr>
          <p:cNvPr id="172" name="Text 170"/>
          <p:cNvSpPr txBox="1"/>
          <p:nvPr/>
        </p:nvSpPr>
        <p:spPr>
          <a:xfrm>
            <a:off x="9363456" y="5221224"/>
            <a:ext cx="658368"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a:t>
            </a:r>
            <a:endParaRPr lang="en-US" sz="1300" dirty="0"/>
          </a:p>
        </p:txBody>
      </p:sp>
      <p:sp>
        <p:nvSpPr>
          <p:cNvPr id="173" name="Text 171"/>
          <p:cNvSpPr txBox="1"/>
          <p:nvPr/>
        </p:nvSpPr>
        <p:spPr>
          <a:xfrm>
            <a:off x="10021824" y="5221224"/>
            <a:ext cx="713232"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4" name="Text 172"/>
          <p:cNvSpPr txBox="1"/>
          <p:nvPr/>
        </p:nvSpPr>
        <p:spPr>
          <a:xfrm>
            <a:off x="10735056" y="5221224"/>
            <a:ext cx="731520" cy="352044"/>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a:t>
            </a:r>
            <a:endParaRPr lang="en-US" sz="1300" dirty="0"/>
          </a:p>
        </p:txBody>
      </p:sp>
      <p:sp>
        <p:nvSpPr>
          <p:cNvPr id="175" name="Shape 173"/>
          <p:cNvSpPr/>
          <p:nvPr/>
        </p:nvSpPr>
        <p:spPr>
          <a:xfrm>
            <a:off x="6085332" y="1700784"/>
            <a:ext cx="10973" cy="4224528"/>
          </a:xfrm>
          <a:prstGeom prst="rect">
            <a:avLst/>
          </a:prstGeom>
          <a:solidFill>
            <a:srgbClr val="D9D9D9"/>
          </a:solidFill>
          <a:ln/>
        </p:spPr>
      </p:sp>
      <p:sp>
        <p:nvSpPr>
          <p:cNvPr id="176" name="Shape 174"/>
          <p:cNvSpPr/>
          <p:nvPr/>
        </p:nvSpPr>
        <p:spPr>
          <a:xfrm>
            <a:off x="457200" y="6126480"/>
            <a:ext cx="11274552" cy="371856"/>
          </a:xfrm>
          <a:prstGeom prst="rect">
            <a:avLst/>
          </a:prstGeom>
          <a:solidFill>
            <a:srgbClr val="E6F6EE"/>
          </a:solidFill>
          <a:ln/>
        </p:spPr>
      </p:sp>
      <p:sp>
        <p:nvSpPr>
          <p:cNvPr id="177" name="Text 17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stores set 98 all-time monthly records in 2026. Honda Spokane and Nissan lead with 9 each.</a:t>
            </a:r>
            <a:endParaRPr lang="en-US" sz="1600" dirty="0"/>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Is Sales 2.0</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Sell hours, build value, sell peace of mind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visits: don't say no to dollars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Generate throughput: max out hours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Drive retention and sell cars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Sales sells the first car. Service sells the next six.</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car, every time: follow the processes you have in place, consistently</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Processes only work when they are actively managed</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+$6,297,386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Service gross, up 5.2%, ahead of 2025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+$1,171,181</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Parts gross, up 1.9%, ahead of 2025 in six of nine months.</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$20.59M</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gross a month over the last twelve months.</a:t>
            </a:r>
            <a:endParaRPr lang="en-US" sz="1400" dirty="0"/>
          </a:p>
        </p:txBody>
      </p:sp>
      <p:sp>
        <p:nvSpPr>
          <p:cNvPr id="19" name="Shape 17"/>
          <p:cNvSpPr/>
          <p:nvPr/>
        </p:nvSpPr>
        <p:spPr>
          <a:xfrm>
            <a:off x="457200" y="6126480"/>
            <a:ext cx="11274552" cy="348996"/>
          </a:xfrm>
          <a:prstGeom prst="rect">
            <a:avLst/>
          </a:prstGeom>
          <a:solidFill>
            <a:srgbClr val="EDF4FA"/>
          </a:solidFill>
          <a:ln/>
        </p:spPr>
      </p:sp>
      <p:sp>
        <p:nvSpPr>
          <p:cNvPr id="20" name="Text 18"/>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The ask: run service like a sales department: every visit is a chance to sell the next hour and the next car.</a:t>
            </a:r>
            <a:endParaRPr lang="en-US" sz="1450"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Ops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service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What each department keeps after the cost of what it sold: labor sale less technician cost, parts sale less parts cost.</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JAN–SEP 2026</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Service  </a:t>
            </a:r>
            <a:pPr algn="ctr" indent="0" marL="0">
              <a:buNone/>
            </a:pPr>
            <a:r>
              <a:rPr lang="en-US" sz="1400" b="1" dirty="0">
                <a:solidFill>
                  <a:srgbClr val="0B2C4A"/>
                </a:solidFill>
                <a:latin typeface="Inter" pitchFamily="34" charset="0"/>
                <a:ea typeface="Inter" pitchFamily="34" charset="-122"/>
                <a:cs typeface="Inter" pitchFamily="34" charset="-120"/>
              </a:rPr>
              <a:t>$126.87M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Parts  </a:t>
            </a:r>
            <a:pPr algn="ctr" indent="0" marL="0">
              <a:buNone/>
            </a:pPr>
            <a:r>
              <a:rPr lang="en-US" sz="1400" b="1" dirty="0">
                <a:solidFill>
                  <a:srgbClr val="0B2C4A"/>
                </a:solidFill>
                <a:latin typeface="Inter" pitchFamily="34" charset="0"/>
                <a:ea typeface="Inter" pitchFamily="34" charset="-122"/>
                <a:cs typeface="Inter" pitchFamily="34" charset="-120"/>
              </a:rPr>
              <a:t>$61.93M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Fixed ops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HOW EACH IS BUILT</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Service earns only on labor hours sold: the labor sale less what the technician is paid for the job.</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Parts sold on a service RO are parts gross, not service gross.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Both include customer pay, warranty and internal work.</a:t>
            </a:r>
            <a:endParaRPr lang="en-US" sz="1500" dirty="0"/>
          </a:p>
        </p:txBody>
      </p:sp>
      <p:sp>
        <p:nvSpPr>
          <p:cNvPr id="20" name="Shape 18"/>
          <p:cNvSpPr/>
          <p:nvPr/>
        </p:nvSpPr>
        <p:spPr>
          <a:xfrm>
            <a:off x="5138928" y="3410712"/>
            <a:ext cx="45720" cy="1262503"/>
          </a:xfrm>
          <a:prstGeom prst="rect">
            <a:avLst/>
          </a:prstGeom>
          <a:solidFill>
            <a:srgbClr val="2587C5"/>
          </a:solidFill>
          <a:ln/>
        </p:spPr>
      </p:sp>
      <p:sp>
        <p:nvSpPr>
          <p:cNvPr id="21" name="Text 19"/>
          <p:cNvSpPr txBox="1"/>
          <p:nvPr/>
        </p:nvSpPr>
        <p:spPr>
          <a:xfrm>
            <a:off x="5266944"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labor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written process, followed on every car, every time, tracked and managed daily</a:t>
            </a:r>
            <a:endParaRPr lang="en-US" sz="1400" dirty="0"/>
          </a:p>
        </p:txBody>
      </p:sp>
      <p:sp>
        <p:nvSpPr>
          <p:cNvPr id="22" name="Shape 20"/>
          <p:cNvSpPr/>
          <p:nvPr/>
        </p:nvSpPr>
        <p:spPr>
          <a:xfrm>
            <a:off x="8394192" y="3410712"/>
            <a:ext cx="45720" cy="1262503"/>
          </a:xfrm>
          <a:prstGeom prst="rect">
            <a:avLst/>
          </a:prstGeom>
          <a:solidFill>
            <a:srgbClr val="2587C5"/>
          </a:solidFill>
          <a:ln/>
        </p:spPr>
      </p:sp>
      <p:sp>
        <p:nvSpPr>
          <p:cNvPr id="23" name="Text 21"/>
          <p:cNvSpPr txBox="1"/>
          <p:nvPr/>
        </p:nvSpPr>
        <p:spPr>
          <a:xfrm>
            <a:off x="8522208" y="3410712"/>
            <a:ext cx="2962656" cy="12625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technician cost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Right work, right tech. Hourly pay, guarantees and bonuses paid off the RO are unapplied labor and lower gross</a:t>
            </a:r>
            <a:endParaRPr lang="en-US" sz="1400" dirty="0"/>
          </a:p>
        </p:txBody>
      </p:sp>
      <p:sp>
        <p:nvSpPr>
          <p:cNvPr id="24" name="Shape 22"/>
          <p:cNvSpPr/>
          <p:nvPr/>
        </p:nvSpPr>
        <p:spPr>
          <a:xfrm>
            <a:off x="5138928" y="4782943"/>
            <a:ext cx="45720" cy="1005209"/>
          </a:xfrm>
          <a:prstGeom prst="rect">
            <a:avLst/>
          </a:prstGeom>
          <a:solidFill>
            <a:srgbClr val="2587C5"/>
          </a:solidFill>
          <a:ln/>
        </p:spPr>
      </p:sp>
      <p:sp>
        <p:nvSpPr>
          <p:cNvPr id="25" name="Text 23"/>
          <p:cNvSpPr txBox="1"/>
          <p:nvPr/>
        </p:nvSpPr>
        <p:spPr>
          <a:xfrm>
            <a:off x="5266944"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on the RO</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dollar of labor sold brings more parts gross with it</a:t>
            </a:r>
            <a:endParaRPr lang="en-US" sz="1400" dirty="0"/>
          </a:p>
        </p:txBody>
      </p:sp>
      <p:sp>
        <p:nvSpPr>
          <p:cNvPr id="26" name="Shape 24"/>
          <p:cNvSpPr/>
          <p:nvPr/>
        </p:nvSpPr>
        <p:spPr>
          <a:xfrm>
            <a:off x="8394192" y="4782943"/>
            <a:ext cx="45720" cy="1005209"/>
          </a:xfrm>
          <a:prstGeom prst="rect">
            <a:avLst/>
          </a:prstGeom>
          <a:solidFill>
            <a:srgbClr val="2587C5"/>
          </a:solidFill>
          <a:ln/>
        </p:spPr>
      </p:sp>
      <p:sp>
        <p:nvSpPr>
          <p:cNvPr id="27" name="Text 25"/>
          <p:cNvSpPr txBox="1"/>
          <p:nvPr/>
        </p:nvSpPr>
        <p:spPr>
          <a:xfrm>
            <a:off x="8522208" y="4782943"/>
            <a:ext cx="2962656" cy="10052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over the counter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Retail, wholesale, tires and oil. Wholesale has to make sense: its gross must cover what it costs to run</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$188.80M fixed ops gross Jan–Sep 2026, up $7.47M (4.1%): service +$6.30M, parts +$1.17M.</a:t>
            </a:r>
            <a:endParaRPr lang="en-US" sz="1600" dirty="0"/>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$181.33M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$188.80M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+$7.47M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+$7,468,567 (4.1%) year to date; 6 of nine months ahead of 2025, best September at +$2,098,497.</a:t>
            </a:r>
            <a:endParaRPr lang="en-US" sz="1600" dirty="0"/>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$188.80M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$22.59M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339226"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67458"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$14.42M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98871"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$12.34M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815948"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$10.08M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77681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$9.60M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97445"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534720"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$6.61M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9804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80108"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$5.93M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1121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$5.08M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8774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87152"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2980944" y="5030502"/>
            <a:ext cx="36671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$4.53M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2980944" y="5270397"/>
            <a:ext cx="36170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$4.47M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60997"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$4.46M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2980944" y="5750188"/>
            <a:ext cx="338585"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$4.18M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31352" y="1911860"/>
            <a:ext cx="335529"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$4.15M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3167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8760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$3.55M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84566"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$3.52M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7651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$3.42M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67522"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4137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$2.98M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3418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218568"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189081"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$2.34M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310815"/>
            <a:ext cx="184970"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$2.29M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31352" y="4550711"/>
            <a:ext cx="1837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7870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$2.21M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2886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24271"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$1.54M</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83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$968,018</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$22.59M of the group's $188.80M; VW St George is smallest at $968,018.</a:t>
            </a:r>
            <a:endParaRPr lang="en-US" sz="1600" dirty="0"/>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+$7.47M  ·  +4.1%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963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7" name="Shape 25"/>
          <p:cNvSpPr/>
          <p:nvPr/>
        </p:nvSpPr>
        <p:spPr>
          <a:xfrm>
            <a:off x="3579876" y="2629341"/>
            <a:ext cx="30041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+$932K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2" name="Shape 30"/>
          <p:cNvSpPr/>
          <p:nvPr/>
        </p:nvSpPr>
        <p:spPr>
          <a:xfrm>
            <a:off x="3579876" y="2853100"/>
            <a:ext cx="24622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+$764K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35" name="Shape 33"/>
          <p:cNvSpPr/>
          <p:nvPr/>
        </p:nvSpPr>
        <p:spPr>
          <a:xfrm>
            <a:off x="5907024" y="2838405"/>
            <a:ext cx="54864" cy="132319"/>
          </a:xfrm>
          <a:prstGeom prst="rect">
            <a:avLst/>
          </a:prstGeom>
          <a:solidFill>
            <a:srgbClr val="12A566"/>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231280"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+$717K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+31.7%</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3579876" y="3300618"/>
            <a:ext cx="214115"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+$664K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+7.4%</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579876" y="3524377"/>
            <a:ext cx="188889" cy="102929"/>
          </a:xfrm>
          <a:prstGeom prst="rect">
            <a:avLst/>
          </a:prstGeom>
          <a:solidFill>
            <a:srgbClr val="12A566"/>
          </a:solidFill>
          <a:ln/>
        </p:spPr>
      </p:sp>
      <p:sp>
        <p:nvSpPr>
          <p:cNvPr id="50" name="Text 48"/>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+$586K</a:t>
            </a:r>
            <a:endParaRPr lang="en-US" sz="1200" dirty="0"/>
          </a:p>
        </p:txBody>
      </p:sp>
      <p:sp>
        <p:nvSpPr>
          <p:cNvPr id="51" name="Text 49"/>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+13.0%</a:t>
            </a:r>
            <a:endParaRPr lang="en-US" sz="1200" dirty="0"/>
          </a:p>
        </p:txBody>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4" name="Shape 52"/>
          <p:cNvSpPr/>
          <p:nvPr/>
        </p:nvSpPr>
        <p:spPr>
          <a:xfrm>
            <a:off x="3579876" y="3748136"/>
            <a:ext cx="175547"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+$545K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9" name="Shape 57"/>
          <p:cNvSpPr/>
          <p:nvPr/>
        </p:nvSpPr>
        <p:spPr>
          <a:xfrm>
            <a:off x="3579876" y="3971895"/>
            <a:ext cx="152295"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+$472K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4" name="Shape 62"/>
          <p:cNvSpPr/>
          <p:nvPr/>
        </p:nvSpPr>
        <p:spPr>
          <a:xfrm>
            <a:off x="3579876" y="4195654"/>
            <a:ext cx="143334"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9" name="Shape 67"/>
          <p:cNvSpPr/>
          <p:nvPr/>
        </p:nvSpPr>
        <p:spPr>
          <a:xfrm>
            <a:off x="3579876" y="4419414"/>
            <a:ext cx="136162"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a:t>
            </a:r>
            <a:endParaRPr lang="en-US" sz="1200" dirty="0"/>
          </a:p>
        </p:txBody>
      </p:sp>
      <p:sp>
        <p:nvSpPr>
          <p:cNvPr id="72" name="Text 70"/>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3" name="Text 71"/>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4" name="Shape 72"/>
          <p:cNvSpPr/>
          <p:nvPr/>
        </p:nvSpPr>
        <p:spPr>
          <a:xfrm>
            <a:off x="3579876" y="4643173"/>
            <a:ext cx="130403" cy="102929"/>
          </a:xfrm>
          <a:prstGeom prst="rect">
            <a:avLst/>
          </a:prstGeom>
          <a:solidFill>
            <a:srgbClr val="12A566"/>
          </a:solidFill>
          <a:ln/>
        </p:spPr>
      </p:sp>
      <p:sp>
        <p:nvSpPr>
          <p:cNvPr id="75" name="Text 73"/>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+$404K</a:t>
            </a:r>
            <a:endParaRPr lang="en-US" sz="1200" dirty="0"/>
          </a:p>
        </p:txBody>
      </p:sp>
      <p:sp>
        <p:nvSpPr>
          <p:cNvPr id="76" name="Text 74"/>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+35.8%</a:t>
            </a:r>
            <a:endParaRPr lang="en-US" sz="1200" dirty="0"/>
          </a:p>
        </p:txBody>
      </p:sp>
      <p:sp>
        <p:nvSpPr>
          <p:cNvPr id="77" name="Shape 75"/>
          <p:cNvSpPr/>
          <p:nvPr/>
        </p:nvSpPr>
        <p:spPr>
          <a:xfrm>
            <a:off x="5907024" y="4628478"/>
            <a:ext cx="54864" cy="132319"/>
          </a:xfrm>
          <a:prstGeom prst="rect">
            <a:avLst/>
          </a:prstGeom>
          <a:solidFill>
            <a:srgbClr val="12A566"/>
          </a:solidFill>
          <a:ln/>
        </p:spPr>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0" name="Shape 78"/>
          <p:cNvSpPr/>
          <p:nvPr/>
        </p:nvSpPr>
        <p:spPr>
          <a:xfrm>
            <a:off x="3579876" y="4866932"/>
            <a:ext cx="12022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118653"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+$368K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0" name="Shape 88"/>
          <p:cNvSpPr/>
          <p:nvPr/>
        </p:nvSpPr>
        <p:spPr>
          <a:xfrm>
            <a:off x="3579876" y="5314450"/>
            <a:ext cx="69607"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+$216K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5" name="Shape 93"/>
          <p:cNvSpPr/>
          <p:nvPr/>
        </p:nvSpPr>
        <p:spPr>
          <a:xfrm>
            <a:off x="3579876" y="5538209"/>
            <a:ext cx="57491"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+$178K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0" name="Shape 98"/>
          <p:cNvSpPr/>
          <p:nvPr/>
        </p:nvSpPr>
        <p:spPr>
          <a:xfrm>
            <a:off x="3579876" y="5761968"/>
            <a:ext cx="5051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5" name="Shape 103"/>
          <p:cNvSpPr/>
          <p:nvPr/>
        </p:nvSpPr>
        <p:spPr>
          <a:xfrm>
            <a:off x="9130284" y="2181823"/>
            <a:ext cx="43577"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0" name="Shape 108"/>
          <p:cNvSpPr/>
          <p:nvPr/>
        </p:nvSpPr>
        <p:spPr>
          <a:xfrm>
            <a:off x="9130284" y="2405582"/>
            <a:ext cx="40298"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+$125K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15" name="Shape 113"/>
          <p:cNvSpPr/>
          <p:nvPr/>
        </p:nvSpPr>
        <p:spPr>
          <a:xfrm>
            <a:off x="9130284" y="2629341"/>
            <a:ext cx="38573"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0" name="Shape 118"/>
          <p:cNvSpPr/>
          <p:nvPr/>
        </p:nvSpPr>
        <p:spPr>
          <a:xfrm>
            <a:off x="9130284" y="2853100"/>
            <a:ext cx="30667"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30284" y="3076859"/>
            <a:ext cx="28430"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130284" y="3300618"/>
            <a:ext cx="20244"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5" name="Shape 133"/>
          <p:cNvSpPr/>
          <p:nvPr/>
        </p:nvSpPr>
        <p:spPr>
          <a:xfrm>
            <a:off x="9130284" y="3524377"/>
            <a:ext cx="12802" cy="102929"/>
          </a:xfrm>
          <a:prstGeom prst="rect">
            <a:avLst/>
          </a:prstGeom>
          <a:solidFill>
            <a:srgbClr val="12A566"/>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+0.9%</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30284" y="3748136"/>
            <a:ext cx="12802" cy="102929"/>
          </a:xfrm>
          <a:prstGeom prst="rect">
            <a:avLst/>
          </a:prstGeom>
          <a:solidFill>
            <a:srgbClr val="12A566"/>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5" name="Shape 143"/>
          <p:cNvSpPr/>
          <p:nvPr/>
        </p:nvSpPr>
        <p:spPr>
          <a:xfrm>
            <a:off x="9077784" y="3971895"/>
            <a:ext cx="52500"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1" name="Shape 149"/>
          <p:cNvSpPr/>
          <p:nvPr/>
        </p:nvSpPr>
        <p:spPr>
          <a:xfrm>
            <a:off x="9064631" y="4195654"/>
            <a:ext cx="65653"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−$204K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6" name="Shape 154"/>
          <p:cNvSpPr/>
          <p:nvPr/>
        </p:nvSpPr>
        <p:spPr>
          <a:xfrm>
            <a:off x="8989404" y="4419414"/>
            <a:ext cx="140880"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−$437K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8969548" y="4643173"/>
            <a:ext cx="160736"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8963677" y="4866932"/>
            <a:ext cx="166607"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−$517K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−15.2%</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2" name="Shape 170"/>
          <p:cNvSpPr/>
          <p:nvPr/>
        </p:nvSpPr>
        <p:spPr>
          <a:xfrm>
            <a:off x="8962691" y="5090691"/>
            <a:ext cx="167593"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−$520K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884884" y="5314450"/>
            <a:ext cx="245400"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−$761K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−13.7%</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59512" y="5538209"/>
            <a:ext cx="27077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−$840K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25 of 33 stores grew. Toyota Henderson added the most at +$1.77M (+8.5%); Honda North fell most at −$840K (−8.9%).</a:t>
            </a:r>
            <a:endParaRPr lang="en-US" sz="1600" dirty="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Fixed Ops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$1.54M</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$2.26M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+31.7%</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+22.6%</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$10.64M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$12.34M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$2.70M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−15.2%</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$968K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−14.4%</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$4.79M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$4.46M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$9.46M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$8.62M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+35.7%</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$301K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+32.7%</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$429K</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$448K</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$188K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LR Henderson what they started this year.</a:t>
            </a:r>
            <a:endParaRPr lang="en-US" sz="1600" dirty="0"/>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$120.57M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$126.87M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+$6.30M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+$6,297,386 (5.2%) year to date; 9 of nine months ahead of 2025, best September at +$1,457,847.</a:t>
            </a:r>
            <a:endParaRPr lang="en-US" sz="1600" dirty="0"/>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$126.87M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$16.38M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1178132"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1171781"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$10.50M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5" name="Shape 23"/>
          <p:cNvSpPr/>
          <p:nvPr/>
        </p:nvSpPr>
        <p:spPr>
          <a:xfrm>
            <a:off x="2980944" y="2631546"/>
            <a:ext cx="982405"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$8.80M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9" name="Shape 27"/>
          <p:cNvSpPr/>
          <p:nvPr/>
        </p:nvSpPr>
        <p:spPr>
          <a:xfrm>
            <a:off x="2980944" y="2871442"/>
            <a:ext cx="724430"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$6.49M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3" name="Shape 31"/>
          <p:cNvSpPr/>
          <p:nvPr/>
        </p:nvSpPr>
        <p:spPr>
          <a:xfrm>
            <a:off x="2980944" y="3111337"/>
            <a:ext cx="698259"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$6.26M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660750"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$5.92M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455591"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$4.08M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2980944" y="3831024"/>
            <a:ext cx="452277"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9" name="Shape 47"/>
          <p:cNvSpPr/>
          <p:nvPr/>
        </p:nvSpPr>
        <p:spPr>
          <a:xfrm>
            <a:off x="2980944" y="4070920"/>
            <a:ext cx="410917"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$3.68M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2980944" y="4310815"/>
            <a:ext cx="405463"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$3.63M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7" name="Shape 55"/>
          <p:cNvSpPr/>
          <p:nvPr/>
        </p:nvSpPr>
        <p:spPr>
          <a:xfrm>
            <a:off x="2980944" y="4550711"/>
            <a:ext cx="390976"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$3.50M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5612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$3.19M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2980944" y="5030502"/>
            <a:ext cx="352683"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$3.16M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2980944" y="5270397"/>
            <a:ext cx="340845"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$3.05M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73" name="Shape 71"/>
          <p:cNvSpPr/>
          <p:nvPr/>
        </p:nvSpPr>
        <p:spPr>
          <a:xfrm>
            <a:off x="2980944" y="5510293"/>
            <a:ext cx="339380"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2980944" y="5750188"/>
            <a:ext cx="329329"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$2.95M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31352" y="1911860"/>
            <a:ext cx="311294"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$2.79M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5" name="Shape 83"/>
          <p:cNvSpPr/>
          <p:nvPr/>
        </p:nvSpPr>
        <p:spPr>
          <a:xfrm>
            <a:off x="8531352" y="2151755"/>
            <a:ext cx="27027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$2.42M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391651"/>
            <a:ext cx="25621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$2.30M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3" name="Shape 91"/>
          <p:cNvSpPr/>
          <p:nvPr/>
        </p:nvSpPr>
        <p:spPr>
          <a:xfrm>
            <a:off x="8531352" y="2631546"/>
            <a:ext cx="245763"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$2.20M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7" name="Shape 95"/>
          <p:cNvSpPr/>
          <p:nvPr/>
        </p:nvSpPr>
        <p:spPr>
          <a:xfrm>
            <a:off x="8531352" y="2871442"/>
            <a:ext cx="238967"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$2.14M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235763"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$2.11M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31352" y="3351233"/>
            <a:ext cx="232807"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$2.09M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591128"/>
            <a:ext cx="210714"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3" name="Shape 111"/>
          <p:cNvSpPr/>
          <p:nvPr/>
        </p:nvSpPr>
        <p:spPr>
          <a:xfrm>
            <a:off x="8531352" y="3831024"/>
            <a:ext cx="17875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$1.60M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62808"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$1.46M</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8531352" y="4310815"/>
            <a:ext cx="16055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$1.44M</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55672"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531352" y="4790606"/>
            <a:ext cx="131649"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$1.18M</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16550"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1079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$992,560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65691"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$588,480</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$16.38M of the group's $126.87M; VW St George is smallest at $588,480.</a:t>
            </a:r>
            <a:endParaRPr lang="en-US" sz="1600" dirty="0"/>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+$6.30M  ·  +5.2%</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+$1.50M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540193"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579876" y="2629341"/>
            <a:ext cx="243705"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+$639K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+27.7%</a:t>
            </a:r>
            <a:endParaRPr lang="en-US" sz="1200" dirty="0"/>
          </a:p>
        </p:txBody>
      </p:sp>
      <p:sp>
        <p:nvSpPr>
          <p:cNvPr id="30" name="Shape 28"/>
          <p:cNvSpPr/>
          <p:nvPr/>
        </p:nvSpPr>
        <p:spPr>
          <a:xfrm>
            <a:off x="5907024" y="2614646"/>
            <a:ext cx="54864" cy="132319"/>
          </a:xfrm>
          <a:prstGeom prst="rect">
            <a:avLst/>
          </a:prstGeom>
          <a:solidFill>
            <a:srgbClr val="12A566"/>
          </a:solidFill>
          <a:ln/>
        </p:spPr>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579876" y="2853100"/>
            <a:ext cx="236000"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+$619K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3579876" y="3076859"/>
            <a:ext cx="23287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+6.1%</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3" name="Shape 41"/>
          <p:cNvSpPr/>
          <p:nvPr/>
        </p:nvSpPr>
        <p:spPr>
          <a:xfrm>
            <a:off x="3579876" y="3300618"/>
            <a:ext cx="229387"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8" name="Shape 46"/>
          <p:cNvSpPr/>
          <p:nvPr/>
        </p:nvSpPr>
        <p:spPr>
          <a:xfrm>
            <a:off x="3579876" y="3524377"/>
            <a:ext cx="181006"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+$475K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51" name="Shape 49"/>
          <p:cNvSpPr/>
          <p:nvPr/>
        </p:nvSpPr>
        <p:spPr>
          <a:xfrm>
            <a:off x="5907024" y="3509682"/>
            <a:ext cx="54864" cy="132319"/>
          </a:xfrm>
          <a:prstGeom prst="rect">
            <a:avLst/>
          </a:prstGeom>
          <a:solidFill>
            <a:srgbClr val="12A566"/>
          </a:solidFill>
          <a:ln/>
        </p:spPr>
      </p:sp>
      <p:sp>
        <p:nvSpPr>
          <p:cNvPr id="52" name="Text 50"/>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3" name="Text 51"/>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579876" y="3748136"/>
            <a:ext cx="148529" cy="102929"/>
          </a:xfrm>
          <a:prstGeom prst="rect">
            <a:avLst/>
          </a:prstGeom>
          <a:solidFill>
            <a:srgbClr val="12A566"/>
          </a:solidFill>
          <a:ln/>
        </p:spPr>
      </p:sp>
      <p:sp>
        <p:nvSpPr>
          <p:cNvPr id="55" name="Text 53"/>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+$390K</a:t>
            </a:r>
            <a:endParaRPr lang="en-US" sz="1200" dirty="0"/>
          </a:p>
        </p:txBody>
      </p:sp>
      <p:sp>
        <p:nvSpPr>
          <p:cNvPr id="56" name="Text 54"/>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a:t>
            </a:r>
            <a:endParaRPr lang="en-US" sz="1200" dirty="0"/>
          </a:p>
        </p:txBody>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9" name="Shape 57"/>
          <p:cNvSpPr/>
          <p:nvPr/>
        </p:nvSpPr>
        <p:spPr>
          <a:xfrm>
            <a:off x="3579876" y="3971895"/>
            <a:ext cx="146541"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4" name="Shape 62"/>
          <p:cNvSpPr/>
          <p:nvPr/>
        </p:nvSpPr>
        <p:spPr>
          <a:xfrm>
            <a:off x="3579876" y="4195654"/>
            <a:ext cx="131469"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+$345K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+53.3%</a:t>
            </a:r>
            <a:endParaRPr lang="en-US" sz="1200" dirty="0"/>
          </a:p>
        </p:txBody>
      </p:sp>
      <p:sp>
        <p:nvSpPr>
          <p:cNvPr id="67" name="Shape 65"/>
          <p:cNvSpPr/>
          <p:nvPr/>
        </p:nvSpPr>
        <p:spPr>
          <a:xfrm>
            <a:off x="5907024" y="4180960"/>
            <a:ext cx="54864" cy="132319"/>
          </a:xfrm>
          <a:prstGeom prst="rect">
            <a:avLst/>
          </a:prstGeom>
          <a:solidFill>
            <a:srgbClr val="12A566"/>
          </a:solidFill>
          <a:ln/>
        </p:spPr>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70" name="Shape 68"/>
          <p:cNvSpPr/>
          <p:nvPr/>
        </p:nvSpPr>
        <p:spPr>
          <a:xfrm>
            <a:off x="3579876" y="4419414"/>
            <a:ext cx="120062"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5" name="Shape 73"/>
          <p:cNvSpPr/>
          <p:nvPr/>
        </p:nvSpPr>
        <p:spPr>
          <a:xfrm>
            <a:off x="3579876" y="4643173"/>
            <a:ext cx="111374"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3579876" y="4866932"/>
            <a:ext cx="8916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+$234K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3579876" y="5090691"/>
            <a:ext cx="82605"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0" name="Shape 88"/>
          <p:cNvSpPr/>
          <p:nvPr/>
        </p:nvSpPr>
        <p:spPr>
          <a:xfrm>
            <a:off x="3579876" y="5314450"/>
            <a:ext cx="76873"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+$202K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5" name="Shape 93"/>
          <p:cNvSpPr/>
          <p:nvPr/>
        </p:nvSpPr>
        <p:spPr>
          <a:xfrm>
            <a:off x="3579876" y="5538209"/>
            <a:ext cx="74606"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0" name="Shape 98"/>
          <p:cNvSpPr/>
          <p:nvPr/>
        </p:nvSpPr>
        <p:spPr>
          <a:xfrm>
            <a:off x="3579876" y="5761968"/>
            <a:ext cx="6446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30284" y="2181823"/>
            <a:ext cx="61599"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30284" y="2405582"/>
            <a:ext cx="43013" cy="102929"/>
          </a:xfrm>
          <a:prstGeom prst="rect">
            <a:avLst/>
          </a:prstGeom>
          <a:solidFill>
            <a:srgbClr val="12A566"/>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5" name="Shape 113"/>
          <p:cNvSpPr/>
          <p:nvPr/>
        </p:nvSpPr>
        <p:spPr>
          <a:xfrm>
            <a:off x="9130284" y="2629341"/>
            <a:ext cx="25977" cy="102929"/>
          </a:xfrm>
          <a:prstGeom prst="rect">
            <a:avLst/>
          </a:prstGeom>
          <a:solidFill>
            <a:srgbClr val="12A566"/>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9130284" y="2853100"/>
            <a:ext cx="12802" cy="102929"/>
          </a:xfrm>
          <a:prstGeom prst="rect">
            <a:avLst/>
          </a:prstGeom>
          <a:solidFill>
            <a:srgbClr val="12A566"/>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130284" y="3076859"/>
            <a:ext cx="12802" cy="102929"/>
          </a:xfrm>
          <a:prstGeom prst="rect">
            <a:avLst/>
          </a:prstGeom>
          <a:solidFill>
            <a:srgbClr val="12A566"/>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0" name="Shape 128"/>
          <p:cNvSpPr/>
          <p:nvPr/>
        </p:nvSpPr>
        <p:spPr>
          <a:xfrm>
            <a:off x="9130284" y="3300618"/>
            <a:ext cx="12802" cy="102929"/>
          </a:xfrm>
          <a:prstGeom prst="rect">
            <a:avLst/>
          </a:prstGeom>
          <a:solidFill>
            <a:srgbClr val="12A566"/>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5" name="Shape 133"/>
          <p:cNvSpPr/>
          <p:nvPr/>
        </p:nvSpPr>
        <p:spPr>
          <a:xfrm>
            <a:off x="9121165"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−$24K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9119721" y="3748136"/>
            <a:ext cx="12802"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5" name="Shape 143"/>
          <p:cNvSpPr/>
          <p:nvPr/>
        </p:nvSpPr>
        <p:spPr>
          <a:xfrm>
            <a:off x="9108276" y="3971895"/>
            <a:ext cx="22008"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0" name="Shape 148"/>
          <p:cNvSpPr/>
          <p:nvPr/>
        </p:nvSpPr>
        <p:spPr>
          <a:xfrm>
            <a:off x="9078809" y="4195654"/>
            <a:ext cx="51475"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53" name="Shape 151"/>
          <p:cNvSpPr/>
          <p:nvPr/>
        </p:nvSpPr>
        <p:spPr>
          <a:xfrm>
            <a:off x="11457432" y="4180960"/>
            <a:ext cx="54864" cy="132319"/>
          </a:xfrm>
          <a:prstGeom prst="rect">
            <a:avLst/>
          </a:prstGeom>
          <a:solidFill>
            <a:srgbClr val="C2352F"/>
          </a:solidFill>
          <a:ln/>
        </p:spPr>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56" name="Shape 154"/>
          <p:cNvSpPr/>
          <p:nvPr/>
        </p:nvSpPr>
        <p:spPr>
          <a:xfrm>
            <a:off x="9057123" y="4419414"/>
            <a:ext cx="73161"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−$192K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61" name="Shape 159"/>
          <p:cNvSpPr/>
          <p:nvPr/>
        </p:nvSpPr>
        <p:spPr>
          <a:xfrm>
            <a:off x="9049734" y="4643173"/>
            <a:ext cx="80550"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−$211K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66" name="Shape 164"/>
          <p:cNvSpPr/>
          <p:nvPr/>
        </p:nvSpPr>
        <p:spPr>
          <a:xfrm>
            <a:off x="8979773" y="4866932"/>
            <a:ext cx="150511"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−$395K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1" name="Shape 169"/>
          <p:cNvSpPr/>
          <p:nvPr/>
        </p:nvSpPr>
        <p:spPr>
          <a:xfrm>
            <a:off x="8963351" y="5090691"/>
            <a:ext cx="166933"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−$438K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77" name="Shape 175"/>
          <p:cNvSpPr/>
          <p:nvPr/>
        </p:nvSpPr>
        <p:spPr>
          <a:xfrm>
            <a:off x="8921692" y="5314450"/>
            <a:ext cx="208592"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80" name="Shape 178"/>
          <p:cNvSpPr/>
          <p:nvPr/>
        </p:nvSpPr>
        <p:spPr>
          <a:xfrm>
            <a:off x="11457432" y="5299755"/>
            <a:ext cx="54864" cy="132319"/>
          </a:xfrm>
          <a:prstGeom prst="rect">
            <a:avLst/>
          </a:prstGeom>
          <a:solidFill>
            <a:srgbClr val="C2352F"/>
          </a:solidFill>
          <a:ln/>
        </p:spPr>
      </p:sp>
      <p:sp>
        <p:nvSpPr>
          <p:cNvPr id="181" name="Text 17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2" name="Text 18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3" name="Shape 181"/>
          <p:cNvSpPr/>
          <p:nvPr/>
        </p:nvSpPr>
        <p:spPr>
          <a:xfrm>
            <a:off x="8865502" y="5538209"/>
            <a:ext cx="264782" cy="102929"/>
          </a:xfrm>
          <a:prstGeom prst="rect">
            <a:avLst/>
          </a:prstGeom>
          <a:solidFill>
            <a:srgbClr val="C2352F"/>
          </a:solidFill>
          <a:ln/>
        </p:spPr>
      </p:sp>
      <p:sp>
        <p:nvSpPr>
          <p:cNvPr id="184" name="Text 182"/>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−$695K</a:t>
            </a:r>
            <a:endParaRPr lang="en-US" sz="1200" dirty="0"/>
          </a:p>
        </p:txBody>
      </p:sp>
      <p:sp>
        <p:nvSpPr>
          <p:cNvPr id="185" name="Text 183"/>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grew. Toyota Henderson added the most at +$1.50M (+10.1%); Honda North fell most at −$695K (−10.5%).</a:t>
            </a:r>
            <a:endParaRPr lang="en-US" sz="1600" dirty="0"/>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Service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$993K</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+53.3%</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$2.09M</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$2.95M</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+27.7%</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$1.46M</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+27.5%</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$3.63M</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+20.5%</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$1.89M</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$724K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$588K</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−18.7%</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$3.50M</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$5.92M</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$3.23M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$3.04M</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$275K</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$178K</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+34.5%</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$128K</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+34.2%</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$273K</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$290K</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Lexus what changed. Ask Acura, VW St George and VW Henderson what got in the way. Ask Mazda, Kia St George and Hyundai Prescott what they started this year.</a:t>
            </a:r>
            <a:endParaRPr lang="en-US" sz="1600" dirty="0"/>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$60.76M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$61.93M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+$1.17M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gross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+$1,171,181 (1.9%) year to date; 6 of nine months ahead of 2025, best July at +$684,859.</a:t>
            </a:r>
            <a:endParaRPr lang="en-US" sz="1600" dirty="0"/>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$61.93M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$6.21M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78095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$6.05M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139299"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$3.87M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5" name="Shape 23"/>
          <p:cNvSpPr/>
          <p:nvPr/>
        </p:nvSpPr>
        <p:spPr>
          <a:xfrm>
            <a:off x="2980944" y="2631546"/>
            <a:ext cx="1126417"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$3.83M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2980944" y="2871442"/>
            <a:ext cx="10423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$3.54M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111337"/>
            <a:ext cx="91502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$3.11M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2980944" y="3351233"/>
            <a:ext cx="79424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$2.70M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591128"/>
            <a:ext cx="743466"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5" name="Shape 43"/>
          <p:cNvSpPr/>
          <p:nvPr/>
        </p:nvSpPr>
        <p:spPr>
          <a:xfrm>
            <a:off x="2980944" y="3831024"/>
            <a:ext cx="662635"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6187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469006"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$1.59M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7" name="Shape 55"/>
          <p:cNvSpPr/>
          <p:nvPr/>
        </p:nvSpPr>
        <p:spPr>
          <a:xfrm>
            <a:off x="2980944" y="4550711"/>
            <a:ext cx="439517"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$1.49M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2980944" y="4790606"/>
            <a:ext cx="434974"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$1.48M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5" name="Shape 63"/>
          <p:cNvSpPr/>
          <p:nvPr/>
        </p:nvSpPr>
        <p:spPr>
          <a:xfrm>
            <a:off x="2980944" y="5030502"/>
            <a:ext cx="426399"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9" name="Shape 67"/>
          <p:cNvSpPr/>
          <p:nvPr/>
        </p:nvSpPr>
        <p:spPr>
          <a:xfrm>
            <a:off x="2980944" y="5270397"/>
            <a:ext cx="41802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$1.42M</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2980944" y="5510293"/>
            <a:ext cx="410579"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$1.39M</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2980944" y="5750188"/>
            <a:ext cx="386930"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1" name="Shape 79"/>
          <p:cNvSpPr/>
          <p:nvPr/>
        </p:nvSpPr>
        <p:spPr>
          <a:xfrm>
            <a:off x="8531352" y="1911860"/>
            <a:ext cx="385510"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$1.31M</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5" name="Shape 83"/>
          <p:cNvSpPr/>
          <p:nvPr/>
        </p:nvSpPr>
        <p:spPr>
          <a:xfrm>
            <a:off x="8531352" y="2151755"/>
            <a:ext cx="379226"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$1.29M</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9" name="Shape 87"/>
          <p:cNvSpPr/>
          <p:nvPr/>
        </p:nvSpPr>
        <p:spPr>
          <a:xfrm>
            <a:off x="8531352" y="2391651"/>
            <a:ext cx="375575"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$1.28M</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3" name="Shape 91"/>
          <p:cNvSpPr/>
          <p:nvPr/>
        </p:nvSpPr>
        <p:spPr>
          <a:xfrm>
            <a:off x="8531352" y="2631546"/>
            <a:ext cx="370418"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$1.26M</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31352" y="2871442"/>
            <a:ext cx="351886"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1" name="Shape 99"/>
          <p:cNvSpPr/>
          <p:nvPr/>
        </p:nvSpPr>
        <p:spPr>
          <a:xfrm>
            <a:off x="8531352" y="3111337"/>
            <a:ext cx="351305"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$1.19M</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5" name="Shape 103"/>
          <p:cNvSpPr/>
          <p:nvPr/>
        </p:nvSpPr>
        <p:spPr>
          <a:xfrm>
            <a:off x="8531352" y="3351233"/>
            <a:ext cx="323594"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8531352" y="3591128"/>
            <a:ext cx="32117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296096"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7" name="Shape 115"/>
          <p:cNvSpPr/>
          <p:nvPr/>
        </p:nvSpPr>
        <p:spPr>
          <a:xfrm>
            <a:off x="8531352" y="4070920"/>
            <a:ext cx="27721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$941,382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31352" y="4310815"/>
            <a:ext cx="263987"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$896,457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8531352" y="4550711"/>
            <a:ext cx="243434"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$826,662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226608"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$769,524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31352" y="5030502"/>
            <a:ext cx="1613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$547,864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159817"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$542,712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111766"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$379,537</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is $6.21M of the group's $61.93M; VW St George is smallest at $379,537.</a:t>
            </a:r>
            <a:endParaRPr lang="en-US" sz="1600"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+$1.17M  ·  +1.9%</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+$688K</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+28.4%</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3" name="Shape 21"/>
          <p:cNvSpPr/>
          <p:nvPr/>
        </p:nvSpPr>
        <p:spPr>
          <a:xfrm>
            <a:off x="3579876" y="2405582"/>
            <a:ext cx="266553"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+$321K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a:t>
            </a:r>
            <a:endParaRPr lang="en-US" sz="1200" dirty="0"/>
          </a:p>
        </p:txBody>
      </p:sp>
      <p:sp>
        <p:nvSpPr>
          <p:cNvPr id="26" name="Text 24"/>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579876" y="2629341"/>
            <a:ext cx="238998" cy="102929"/>
          </a:xfrm>
          <a:prstGeom prst="rect">
            <a:avLst/>
          </a:prstGeom>
          <a:solidFill>
            <a:srgbClr val="12A566"/>
          </a:solidFill>
          <a:ln/>
        </p:spPr>
      </p:sp>
      <p:sp>
        <p:nvSpPr>
          <p:cNvPr id="29" name="Text 27"/>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+$288K</a:t>
            </a:r>
            <a:endParaRPr lang="en-US" sz="1200" dirty="0"/>
          </a:p>
        </p:txBody>
      </p:sp>
      <p:sp>
        <p:nvSpPr>
          <p:cNvPr id="30" name="Text 28"/>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a:t>
            </a:r>
            <a:endParaRPr lang="en-US" sz="1200" dirty="0"/>
          </a:p>
        </p:txBody>
      </p:sp>
      <p:sp>
        <p:nvSpPr>
          <p:cNvPr id="31" name="Text 29"/>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2" name="Text 30"/>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3" name="Shape 31"/>
          <p:cNvSpPr/>
          <p:nvPr/>
        </p:nvSpPr>
        <p:spPr>
          <a:xfrm>
            <a:off x="3579876" y="2853100"/>
            <a:ext cx="227128" cy="102929"/>
          </a:xfrm>
          <a:prstGeom prst="rect">
            <a:avLst/>
          </a:prstGeom>
          <a:solidFill>
            <a:srgbClr val="12A566"/>
          </a:solidFill>
          <a:ln/>
        </p:spPr>
      </p:sp>
      <p:sp>
        <p:nvSpPr>
          <p:cNvPr id="34" name="Text 32"/>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+$273K</a:t>
            </a:r>
            <a:endParaRPr lang="en-US" sz="1200" dirty="0"/>
          </a:p>
        </p:txBody>
      </p:sp>
      <p:sp>
        <p:nvSpPr>
          <p:cNvPr id="35" name="Text 33"/>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+4.6%</a:t>
            </a:r>
            <a:endParaRPr lang="en-US" sz="1200" dirty="0"/>
          </a:p>
        </p:txBody>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8" name="Shape 36"/>
          <p:cNvSpPr/>
          <p:nvPr/>
        </p:nvSpPr>
        <p:spPr>
          <a:xfrm>
            <a:off x="3579876" y="3076859"/>
            <a:ext cx="224863"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+$271K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+26.0%</a:t>
            </a:r>
            <a:endParaRPr lang="en-US" sz="1200" dirty="0"/>
          </a:p>
        </p:txBody>
      </p:sp>
      <p:sp>
        <p:nvSpPr>
          <p:cNvPr id="41" name="Shape 39"/>
          <p:cNvSpPr/>
          <p:nvPr/>
        </p:nvSpPr>
        <p:spPr>
          <a:xfrm>
            <a:off x="5907024" y="3062164"/>
            <a:ext cx="54864" cy="132319"/>
          </a:xfrm>
          <a:prstGeom prst="rect">
            <a:avLst/>
          </a:prstGeom>
          <a:solidFill>
            <a:srgbClr val="12A566"/>
          </a:solidFill>
          <a:ln/>
        </p:spPr>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4" name="Shape 42"/>
          <p:cNvSpPr/>
          <p:nvPr/>
        </p:nvSpPr>
        <p:spPr>
          <a:xfrm>
            <a:off x="3579876" y="3300618"/>
            <a:ext cx="20145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0" name="Shape 48"/>
          <p:cNvSpPr/>
          <p:nvPr/>
        </p:nvSpPr>
        <p:spPr>
          <a:xfrm>
            <a:off x="3579876" y="3524377"/>
            <a:ext cx="17500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+$211K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5" name="Shape 53"/>
          <p:cNvSpPr/>
          <p:nvPr/>
        </p:nvSpPr>
        <p:spPr>
          <a:xfrm>
            <a:off x="3579876" y="3748136"/>
            <a:ext cx="131404"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+$158K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+17.0%</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0" name="Shape 58"/>
          <p:cNvSpPr/>
          <p:nvPr/>
        </p:nvSpPr>
        <p:spPr>
          <a:xfrm>
            <a:off x="3579876" y="3971895"/>
            <a:ext cx="125702"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+$151K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579876" y="4195654"/>
            <a:ext cx="103334"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+$124K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0" name="Shape 68"/>
          <p:cNvSpPr/>
          <p:nvPr/>
        </p:nvSpPr>
        <p:spPr>
          <a:xfrm>
            <a:off x="3579876" y="4419414"/>
            <a:ext cx="73474"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75" name="Shape 73"/>
          <p:cNvSpPr/>
          <p:nvPr/>
        </p:nvSpPr>
        <p:spPr>
          <a:xfrm>
            <a:off x="3579876" y="4643173"/>
            <a:ext cx="49502"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0" name="Shape 78"/>
          <p:cNvSpPr/>
          <p:nvPr/>
        </p:nvSpPr>
        <p:spPr>
          <a:xfrm>
            <a:off x="3579876" y="4866932"/>
            <a:ext cx="41830"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579876" y="5090691"/>
            <a:ext cx="38877"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0" name="Shape 88"/>
          <p:cNvSpPr/>
          <p:nvPr/>
        </p:nvSpPr>
        <p:spPr>
          <a:xfrm>
            <a:off x="3579876" y="5314450"/>
            <a:ext cx="27168"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5" name="Shape 93"/>
          <p:cNvSpPr/>
          <p:nvPr/>
        </p:nvSpPr>
        <p:spPr>
          <a:xfrm>
            <a:off x="3579876" y="5538209"/>
            <a:ext cx="22407"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3579876" y="5761968"/>
            <a:ext cx="15551"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05" name="Shape 103"/>
          <p:cNvSpPr/>
          <p:nvPr/>
        </p:nvSpPr>
        <p:spPr>
          <a:xfrm>
            <a:off x="9126201" y="2181823"/>
            <a:ext cx="12802" cy="102929"/>
          </a:xfrm>
          <a:prstGeom prst="rect">
            <a:avLst/>
          </a:prstGeom>
          <a:solidFill>
            <a:srgbClr val="C2352F"/>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−0.6%</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912071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5" name="Shape 113"/>
          <p:cNvSpPr/>
          <p:nvPr/>
        </p:nvSpPr>
        <p:spPr>
          <a:xfrm>
            <a:off x="9107185" y="2629341"/>
            <a:ext cx="23099"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20" name="Shape 118"/>
          <p:cNvSpPr/>
          <p:nvPr/>
        </p:nvSpPr>
        <p:spPr>
          <a:xfrm>
            <a:off x="9102703" y="2853100"/>
            <a:ext cx="27581"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095278" y="3076859"/>
            <a:ext cx="35006"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0" name="Shape 128"/>
          <p:cNvSpPr/>
          <p:nvPr/>
        </p:nvSpPr>
        <p:spPr>
          <a:xfrm>
            <a:off x="9088719" y="3300618"/>
            <a:ext cx="41565"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5" name="Shape 133"/>
          <p:cNvSpPr/>
          <p:nvPr/>
        </p:nvSpPr>
        <p:spPr>
          <a:xfrm>
            <a:off x="9082739" y="3524377"/>
            <a:ext cx="47545"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−$57K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0" name="Shape 138"/>
          <p:cNvSpPr/>
          <p:nvPr/>
        </p:nvSpPr>
        <p:spPr>
          <a:xfrm>
            <a:off x="9079991" y="3748136"/>
            <a:ext cx="50293"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5" name="Shape 143"/>
          <p:cNvSpPr/>
          <p:nvPr/>
        </p:nvSpPr>
        <p:spPr>
          <a:xfrm>
            <a:off x="9064780" y="3971895"/>
            <a:ext cx="65504"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−$79K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148" name="Text 146"/>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9" name="Text 147"/>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0" name="Shape 148"/>
          <p:cNvSpPr/>
          <p:nvPr/>
        </p:nvSpPr>
        <p:spPr>
          <a:xfrm>
            <a:off x="9009622" y="4195654"/>
            <a:ext cx="120662" cy="102929"/>
          </a:xfrm>
          <a:prstGeom prst="rect">
            <a:avLst/>
          </a:prstGeom>
          <a:solidFill>
            <a:srgbClr val="C2352F"/>
          </a:solidFill>
          <a:ln/>
        </p:spPr>
      </p:sp>
      <p:sp>
        <p:nvSpPr>
          <p:cNvPr id="151" name="Text 149"/>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−$145K</a:t>
            </a:r>
            <a:endParaRPr lang="en-US" sz="1200" dirty="0"/>
          </a:p>
        </p:txBody>
      </p:sp>
      <p:sp>
        <p:nvSpPr>
          <p:cNvPr id="152" name="Text 150"/>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153" name="Text 15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4" name="Text 15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55" name="Shape 153"/>
          <p:cNvSpPr/>
          <p:nvPr/>
        </p:nvSpPr>
        <p:spPr>
          <a:xfrm>
            <a:off x="9009094" y="4419414"/>
            <a:ext cx="121190" cy="102929"/>
          </a:xfrm>
          <a:prstGeom prst="rect">
            <a:avLst/>
          </a:prstGeom>
          <a:solidFill>
            <a:srgbClr val="C2352F"/>
          </a:solidFill>
          <a:ln/>
        </p:spPr>
      </p:sp>
      <p:sp>
        <p:nvSpPr>
          <p:cNvPr id="156" name="Text 154"/>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−$146K</a:t>
            </a:r>
            <a:endParaRPr lang="en-US" sz="1200" dirty="0"/>
          </a:p>
        </p:txBody>
      </p:sp>
      <p:sp>
        <p:nvSpPr>
          <p:cNvPr id="157" name="Text 155"/>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−10.4%</a:t>
            </a:r>
            <a:endParaRPr lang="en-US" sz="1200" dirty="0"/>
          </a:p>
        </p:txBody>
      </p:sp>
      <p:sp>
        <p:nvSpPr>
          <p:cNvPr id="158" name="Text 156"/>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0" name="Shape 158"/>
          <p:cNvSpPr/>
          <p:nvPr/>
        </p:nvSpPr>
        <p:spPr>
          <a:xfrm>
            <a:off x="8991431" y="4643173"/>
            <a:ext cx="138853" cy="102929"/>
          </a:xfrm>
          <a:prstGeom prst="rect">
            <a:avLst/>
          </a:prstGeom>
          <a:solidFill>
            <a:srgbClr val="C2352F"/>
          </a:solidFill>
          <a:ln/>
        </p:spPr>
      </p:sp>
      <p:sp>
        <p:nvSpPr>
          <p:cNvPr id="161" name="Text 159"/>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−$167K</a:t>
            </a:r>
            <a:endParaRPr lang="en-US" sz="1200" dirty="0"/>
          </a:p>
        </p:txBody>
      </p:sp>
      <p:sp>
        <p:nvSpPr>
          <p:cNvPr id="162" name="Text 160"/>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63" name="Text 161"/>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4" name="Text 162"/>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65" name="Shape 163"/>
          <p:cNvSpPr/>
          <p:nvPr/>
        </p:nvSpPr>
        <p:spPr>
          <a:xfrm>
            <a:off x="8952555" y="4866932"/>
            <a:ext cx="177729" cy="102929"/>
          </a:xfrm>
          <a:prstGeom prst="rect">
            <a:avLst/>
          </a:prstGeom>
          <a:solidFill>
            <a:srgbClr val="C2352F"/>
          </a:solidFill>
          <a:ln/>
        </p:spPr>
      </p:sp>
      <p:sp>
        <p:nvSpPr>
          <p:cNvPr id="166" name="Text 164"/>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−$214K</a:t>
            </a:r>
            <a:endParaRPr lang="en-US" sz="1200" dirty="0"/>
          </a:p>
        </p:txBody>
      </p:sp>
      <p:sp>
        <p:nvSpPr>
          <p:cNvPr id="167" name="Text 165"/>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68" name="Shape 166"/>
          <p:cNvSpPr/>
          <p:nvPr/>
        </p:nvSpPr>
        <p:spPr>
          <a:xfrm>
            <a:off x="11457432" y="4852237"/>
            <a:ext cx="54864" cy="132319"/>
          </a:xfrm>
          <a:prstGeom prst="rect">
            <a:avLst/>
          </a:prstGeom>
          <a:solidFill>
            <a:srgbClr val="C2352F"/>
          </a:solidFill>
          <a:ln/>
        </p:spPr>
      </p:sp>
      <p:sp>
        <p:nvSpPr>
          <p:cNvPr id="169" name="Text 167"/>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0" name="Text 168"/>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1" name="Shape 169"/>
          <p:cNvSpPr/>
          <p:nvPr/>
        </p:nvSpPr>
        <p:spPr>
          <a:xfrm>
            <a:off x="8941928" y="5090691"/>
            <a:ext cx="188356" cy="102929"/>
          </a:xfrm>
          <a:prstGeom prst="rect">
            <a:avLst/>
          </a:prstGeom>
          <a:solidFill>
            <a:srgbClr val="C2352F"/>
          </a:solidFill>
          <a:ln/>
        </p:spPr>
      </p:sp>
      <p:sp>
        <p:nvSpPr>
          <p:cNvPr id="172" name="Text 170"/>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−$227K</a:t>
            </a:r>
            <a:endParaRPr lang="en-US" sz="1200" dirty="0"/>
          </a:p>
        </p:txBody>
      </p:sp>
      <p:sp>
        <p:nvSpPr>
          <p:cNvPr id="173" name="Text 171"/>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174" name="Shape 172"/>
          <p:cNvSpPr/>
          <p:nvPr/>
        </p:nvSpPr>
        <p:spPr>
          <a:xfrm>
            <a:off x="11457432" y="5075996"/>
            <a:ext cx="54864" cy="132319"/>
          </a:xfrm>
          <a:prstGeom prst="rect">
            <a:avLst/>
          </a:prstGeom>
          <a:solidFill>
            <a:srgbClr val="C2352F"/>
          </a:solidFill>
          <a:ln/>
        </p:spPr>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77" name="Shape 175"/>
          <p:cNvSpPr/>
          <p:nvPr/>
        </p:nvSpPr>
        <p:spPr>
          <a:xfrm>
            <a:off x="8891687" y="5314450"/>
            <a:ext cx="238597"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−$287K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82" name="Shape 180"/>
          <p:cNvSpPr/>
          <p:nvPr/>
        </p:nvSpPr>
        <p:spPr>
          <a:xfrm>
            <a:off x="8857921" y="5538209"/>
            <a:ext cx="272363"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−$328K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−18.8%</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356616"/>
          </a:xfrm>
          <a:prstGeom prst="rect">
            <a:avLst/>
          </a:prstGeom>
          <a:solidFill>
            <a:srgbClr val="E6F6EE"/>
          </a:solidFill>
          <a:ln/>
        </p:spPr>
      </p:sp>
      <p:sp>
        <p:nvSpPr>
          <p:cNvPr id="190" name="Text 18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17 of 33 stores grew. Cadillac added the most at +$688K (+28.4%); Audi Reno fell most at −$328K (−18.8%).</a:t>
            </a:r>
            <a:endParaRPr lang="en-US" sz="1500" dirty="0"/>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GROSS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Gross Profit - Parts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$896K</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+37.1%</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$3.11M</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+28.4%</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+26.0%</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$1.09M</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$1.10M</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+16.0%</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$827K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−21.5%</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$1.42M</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$1.29M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$1.26M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−10.4%</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$2.10M</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+43.4%</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$150K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+31.5%</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$123K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+30.1%</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$198K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+27.6%</a:t>
            </a:r>
            <a:endParaRPr lang="en-US" sz="1600" dirty="0"/>
          </a:p>
        </p:txBody>
      </p:sp>
      <p:sp>
        <p:nvSpPr>
          <p:cNvPr id="69" name="Shape 67"/>
          <p:cNvSpPr/>
          <p:nvPr/>
        </p:nvSpPr>
        <p:spPr>
          <a:xfrm>
            <a:off x="457200" y="6126480"/>
            <a:ext cx="11274552" cy="600456"/>
          </a:xfrm>
          <a:prstGeom prst="rect">
            <a:avLst/>
          </a:prstGeom>
          <a:solidFill>
            <a:srgbClr val="EDF4FA"/>
          </a:solidFill>
          <a:ln/>
        </p:spPr>
      </p:sp>
      <p:sp>
        <p:nvSpPr>
          <p:cNvPr id="70" name="Text 68"/>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Lincoln, Cadillac and Subaru St George what changed. Ask Hyundai St George, Audi Reno and VW Henderson what got in the way. Ask Audi Henderson, Mazda and Honda Flagstaff what they started this year.</a:t>
            </a:r>
            <a:endParaRPr lang="en-US" sz="1550" dirty="0"/>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How much of the whole store's fixed expenses, not just service and parts expenses, the service and parts gross pays for.</a:t>
            </a:r>
            <a:endParaRPr lang="en-US" sz="14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78.1%</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78.1% absorption, up 2.1 pts. Fixed gross grew 4.1%; fixed expenses 1.3%.</a:t>
            </a:r>
            <a:endParaRPr lang="en-US" sz="1600" dirty="0"/>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Absorption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64236"/>
          </a:xfrm>
          <a:prstGeom prst="rect">
            <a:avLst/>
          </a:prstGeom>
          <a:solidFill>
            <a:srgbClr val="E6F6EE"/>
          </a:solidFill>
          <a:ln/>
        </p:spPr>
      </p:sp>
      <p:sp>
        <p:nvSpPr>
          <p:cNvPr id="30" name="Text 22"/>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Up 2.1 pts to 78.1%, ahead of 2025 in six of nine months. Fixed gross grew 4.1%; fixed expenses 1.3%.</a:t>
            </a:r>
            <a:endParaRPr lang="en-US" sz="1550" dirty="0"/>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78.1%</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2532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40692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323114"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27178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2439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7" name="Shape 35"/>
          <p:cNvSpPr/>
          <p:nvPr/>
        </p:nvSpPr>
        <p:spPr>
          <a:xfrm>
            <a:off x="3008376" y="3346435"/>
            <a:ext cx="12382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008376" y="3586331"/>
            <a:ext cx="1236225"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5" name="Shape 43"/>
          <p:cNvSpPr/>
          <p:nvPr/>
        </p:nvSpPr>
        <p:spPr>
          <a:xfrm>
            <a:off x="3008376" y="3826226"/>
            <a:ext cx="1203167"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008376" y="4066122"/>
            <a:ext cx="1188815"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3008376" y="4306017"/>
            <a:ext cx="114360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13692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9488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07398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069793"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008376" y="5505495"/>
            <a:ext cx="1044916"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7" name="Shape 75"/>
          <p:cNvSpPr/>
          <p:nvPr/>
        </p:nvSpPr>
        <p:spPr>
          <a:xfrm>
            <a:off x="3008376" y="5745390"/>
            <a:ext cx="1007984"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1" name="Shape 79"/>
          <p:cNvSpPr/>
          <p:nvPr/>
        </p:nvSpPr>
        <p:spPr>
          <a:xfrm>
            <a:off x="8558784" y="1907062"/>
            <a:ext cx="1007915"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75.6%</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5" name="Shape 83"/>
          <p:cNvSpPr/>
          <p:nvPr/>
        </p:nvSpPr>
        <p:spPr>
          <a:xfrm>
            <a:off x="8558784" y="2146957"/>
            <a:ext cx="97975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9564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3" name="Shape 91"/>
          <p:cNvSpPr/>
          <p:nvPr/>
        </p:nvSpPr>
        <p:spPr>
          <a:xfrm>
            <a:off x="8558784" y="2626748"/>
            <a:ext cx="897553"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8558784" y="2866644"/>
            <a:ext cx="89031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1" name="Shape 99"/>
          <p:cNvSpPr/>
          <p:nvPr/>
        </p:nvSpPr>
        <p:spPr>
          <a:xfrm>
            <a:off x="8558784" y="3106540"/>
            <a:ext cx="88351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860120"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68.9%</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79139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3" name="Shape 111"/>
          <p:cNvSpPr/>
          <p:nvPr/>
        </p:nvSpPr>
        <p:spPr>
          <a:xfrm>
            <a:off x="8558784" y="3826226"/>
            <a:ext cx="77437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65.1%</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74372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3022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63.1%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58784" y="4545913"/>
            <a:ext cx="66024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0149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53164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47185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3580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46.2%</a:t>
            </a:r>
            <a:endParaRPr lang="en-US" sz="1200" dirty="0"/>
          </a:p>
        </p:txBody>
      </p:sp>
      <p:sp>
        <p:nvSpPr>
          <p:cNvPr id="143" name="Shape 141"/>
          <p:cNvSpPr/>
          <p:nvPr/>
        </p:nvSpPr>
        <p:spPr>
          <a:xfrm>
            <a:off x="4063635" y="1847088"/>
            <a:ext cx="14630" cy="4078224"/>
          </a:xfrm>
          <a:prstGeom prst="rect">
            <a:avLst/>
          </a:prstGeom>
          <a:solidFill>
            <a:srgbClr val="0B2C4A"/>
          </a:solidFill>
          <a:ln/>
        </p:spPr>
      </p:sp>
      <p:sp>
        <p:nvSpPr>
          <p:cNvPr id="144" name="Shape 142"/>
          <p:cNvSpPr/>
          <p:nvPr/>
        </p:nvSpPr>
        <p:spPr>
          <a:xfrm>
            <a:off x="961404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78.1% group, led by Audi Henderson at 106.6%. Hyundai Prescott is lowest at 46.2%.</a:t>
            </a:r>
            <a:endParaRPr lang="en-US" sz="1600" dirty="0"/>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ABSORPTION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16268"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785616" y="2151755"/>
            <a:ext cx="425726"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2392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5" name="Shape 23"/>
          <p:cNvSpPr/>
          <p:nvPr/>
        </p:nvSpPr>
        <p:spPr>
          <a:xfrm>
            <a:off x="3785616" y="2631546"/>
            <a:ext cx="24978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9" name="Shape 27"/>
          <p:cNvSpPr/>
          <p:nvPr/>
        </p:nvSpPr>
        <p:spPr>
          <a:xfrm>
            <a:off x="3785616" y="2871442"/>
            <a:ext cx="241902"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785616" y="3111337"/>
            <a:ext cx="234433"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785616" y="3351233"/>
            <a:ext cx="23412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785616" y="3591128"/>
            <a:ext cx="23051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5" name="Shape 43"/>
          <p:cNvSpPr/>
          <p:nvPr/>
        </p:nvSpPr>
        <p:spPr>
          <a:xfrm>
            <a:off x="3785616" y="3831024"/>
            <a:ext cx="22741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2255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2080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3785616" y="4550711"/>
            <a:ext cx="21236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1" name="Shape 59"/>
          <p:cNvSpPr/>
          <p:nvPr/>
        </p:nvSpPr>
        <p:spPr>
          <a:xfrm>
            <a:off x="3785616" y="4790606"/>
            <a:ext cx="17808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030502"/>
            <a:ext cx="17197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1707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3" name="Shape 71"/>
          <p:cNvSpPr/>
          <p:nvPr/>
        </p:nvSpPr>
        <p:spPr>
          <a:xfrm>
            <a:off x="3785616" y="5510293"/>
            <a:ext cx="1457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14402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9336024" y="1911860"/>
            <a:ext cx="111949"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76399"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9336024" y="2391651"/>
            <a:ext cx="712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336024" y="2631546"/>
            <a:ext cx="2786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9336024" y="2871442"/>
            <a:ext cx="1333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9330933" y="3351233"/>
            <a:ext cx="1280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9" name="Shape 107"/>
          <p:cNvSpPr/>
          <p:nvPr/>
        </p:nvSpPr>
        <p:spPr>
          <a:xfrm>
            <a:off x="9329910"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25626" y="3831024"/>
            <a:ext cx="1280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7" name="Shape 115"/>
          <p:cNvSpPr/>
          <p:nvPr/>
        </p:nvSpPr>
        <p:spPr>
          <a:xfrm>
            <a:off x="9288072" y="4070920"/>
            <a:ext cx="47952"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286667" y="4310815"/>
            <a:ext cx="49357"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232720" y="4550711"/>
            <a:ext cx="10330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9063013" y="4790606"/>
            <a:ext cx="27301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903742" y="5030502"/>
            <a:ext cx="43228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884924" y="5270397"/>
            <a:ext cx="45110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−17.4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raised absorption, led by Lincoln at +16.1 pts to 59.9%. 10 declined; VW St George fell most at −17.4 pts.</a:t>
            </a:r>
            <a:endParaRPr lang="en-US" sz="1600" dirty="0"/>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Absorption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+16.1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86.1%</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54.1%</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−17.4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65.8%</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93.5%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83.8%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103.6%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63.1%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82.9%</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+16.3 pts</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+15.3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73.1%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84.2%</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Cadillac and LR Reno what changed. Ask VW St George, Kia St George and VW Henderson what got in the way. Ask LR Henderson, LR Reno and Kia St George what they started this year.</a:t>
            </a:r>
            <a:endParaRPr lang="en-US" sz="1600" dirty="0"/>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Net to Gross?</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Net to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profit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department gross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each gross dollar the department keeps after its own expenses.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the true measure of how the department performs.</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is what we make; net is what we keep.</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Gross can grow while net falls if expenses grow faster.</a:t>
            </a:r>
            <a:endParaRPr lang="en-US" sz="1600" dirty="0"/>
          </a:p>
        </p:txBody>
      </p:sp>
      <p:sp>
        <p:nvSpPr>
          <p:cNvPr id="13" name="Shape 11"/>
          <p:cNvSpPr/>
          <p:nvPr/>
        </p:nvSpPr>
        <p:spPr>
          <a:xfrm>
            <a:off x="5138928" y="2843784"/>
            <a:ext cx="45720" cy="1189887"/>
          </a:xfrm>
          <a:prstGeom prst="rect">
            <a:avLst/>
          </a:prstGeom>
          <a:solidFill>
            <a:srgbClr val="2587C5"/>
          </a:solidFill>
          <a:ln/>
        </p:spPr>
      </p:sp>
      <p:sp>
        <p:nvSpPr>
          <p:cNvPr id="14" name="Text 12"/>
          <p:cNvSpPr txBox="1"/>
          <p:nvPr/>
        </p:nvSpPr>
        <p:spPr>
          <a:xfrm>
            <a:off x="5266944"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Personnel expense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Headcount and pay plans: the biggest line</a:t>
            </a:r>
            <a:endParaRPr lang="en-US" sz="1400" dirty="0"/>
          </a:p>
        </p:txBody>
      </p:sp>
      <p:sp>
        <p:nvSpPr>
          <p:cNvPr id="15" name="Shape 13"/>
          <p:cNvSpPr/>
          <p:nvPr/>
        </p:nvSpPr>
        <p:spPr>
          <a:xfrm>
            <a:off x="8394192" y="2843784"/>
            <a:ext cx="45720" cy="1189887"/>
          </a:xfrm>
          <a:prstGeom prst="rect">
            <a:avLst/>
          </a:prstGeom>
          <a:solidFill>
            <a:srgbClr val="2587C5"/>
          </a:solidFill>
          <a:ln/>
        </p:spPr>
      </p:sp>
      <p:sp>
        <p:nvSpPr>
          <p:cNvPr id="16" name="Text 14"/>
          <p:cNvSpPr txBox="1"/>
          <p:nvPr/>
        </p:nvSpPr>
        <p:spPr>
          <a:xfrm>
            <a:off x="8522208" y="2843784"/>
            <a:ext cx="2962656" cy="118988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Semi-fixed expenses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shop tools and equipment, training, advertising, outside services, data processing</a:t>
            </a:r>
            <a:endParaRPr lang="en-US" sz="1400" dirty="0"/>
          </a:p>
        </p:txBody>
      </p:sp>
      <p:sp>
        <p:nvSpPr>
          <p:cNvPr id="17" name="Shape 15"/>
          <p:cNvSpPr/>
          <p:nvPr/>
        </p:nvSpPr>
        <p:spPr>
          <a:xfrm>
            <a:off x="5138928" y="4143399"/>
            <a:ext cx="45720" cy="1644753"/>
          </a:xfrm>
          <a:prstGeom prst="rect">
            <a:avLst/>
          </a:prstGeom>
          <a:solidFill>
            <a:srgbClr val="2587C5"/>
          </a:solidFill>
          <a:ln/>
        </p:spPr>
      </p:sp>
      <p:sp>
        <p:nvSpPr>
          <p:cNvPr id="18" name="Text 16"/>
          <p:cNvSpPr txBox="1"/>
          <p:nvPr/>
        </p:nvSpPr>
        <p:spPr>
          <a:xfrm>
            <a:off x="5266944"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Policy and adjustments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Service policy (work done at no charge to the customer) and warranty claims the manufacturer won't pay</a:t>
            </a:r>
            <a:endParaRPr lang="en-US" sz="1400" dirty="0"/>
          </a:p>
        </p:txBody>
      </p:sp>
      <p:sp>
        <p:nvSpPr>
          <p:cNvPr id="19" name="Shape 17"/>
          <p:cNvSpPr/>
          <p:nvPr/>
        </p:nvSpPr>
        <p:spPr>
          <a:xfrm>
            <a:off x="8394192" y="4143399"/>
            <a:ext cx="45720" cy="1644753"/>
          </a:xfrm>
          <a:prstGeom prst="rect">
            <a:avLst/>
          </a:prstGeom>
          <a:solidFill>
            <a:srgbClr val="2587C5"/>
          </a:solidFill>
          <a:ln/>
        </p:spPr>
      </p:sp>
      <p:sp>
        <p:nvSpPr>
          <p:cNvPr id="20" name="Text 18"/>
          <p:cNvSpPr txBox="1"/>
          <p:nvPr/>
        </p:nvSpPr>
        <p:spPr>
          <a:xfrm>
            <a:off x="8522208" y="4143399"/>
            <a:ext cx="2962656" cy="164475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Outrun your expenses: when net is low, it is either an expense problem or a gross problem</a:t>
            </a:r>
            <a:endParaRPr lang="en-US" sz="1400" dirty="0"/>
          </a:p>
        </p:txBody>
      </p:sp>
      <p:sp>
        <p:nvSpPr>
          <p:cNvPr id="21" name="Shape 19"/>
          <p:cNvSpPr/>
          <p:nvPr/>
        </p:nvSpPr>
        <p:spPr>
          <a:xfrm>
            <a:off x="457200" y="6126480"/>
            <a:ext cx="11274552" cy="371856"/>
          </a:xfrm>
          <a:prstGeom prst="rect">
            <a:avLst/>
          </a:prstGeom>
          <a:solidFill>
            <a:srgbClr val="EDF4FA"/>
          </a:solidFill>
          <a:ln/>
        </p:spPr>
      </p:sp>
      <p:sp>
        <p:nvSpPr>
          <p:cNvPr id="22" name="Text 20"/>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service 21.8%, up 2.9 pts; parts 36.7%, down 0.4 pts.</a:t>
            </a:r>
            <a:endParaRPr lang="en-US" sz="1600" dirty="0"/>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21.8%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+2.9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+15.6%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Service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56616"/>
          </a:xfrm>
          <a:prstGeom prst="rect">
            <a:avLst/>
          </a:prstGeom>
          <a:solidFill>
            <a:srgbClr val="E6F6EE"/>
          </a:solidFill>
          <a:ln/>
        </p:spPr>
      </p:sp>
      <p:sp>
        <p:nvSpPr>
          <p:cNvPr id="29" name="Text 2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Up 2.9 pts to 21.8%, ahead of 2025 in all nine months. Department profit grew 21.6% on 5.2% more gross.</a:t>
            </a:r>
            <a:endParaRPr lang="en-US" sz="1500" dirty="0"/>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21.8%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872946" y="1907062"/>
            <a:ext cx="82707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7" name="Shape 15"/>
          <p:cNvSpPr/>
          <p:nvPr/>
        </p:nvSpPr>
        <p:spPr>
          <a:xfrm>
            <a:off x="3872946" y="2146957"/>
            <a:ext cx="741210"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1" name="Shape 19"/>
          <p:cNvSpPr/>
          <p:nvPr/>
        </p:nvSpPr>
        <p:spPr>
          <a:xfrm>
            <a:off x="3872946" y="2386853"/>
            <a:ext cx="733821"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872946" y="2626748"/>
            <a:ext cx="71208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872946" y="2866644"/>
            <a:ext cx="65572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872946" y="3106540"/>
            <a:ext cx="566887"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872946" y="3346435"/>
            <a:ext cx="53918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872946" y="3586331"/>
            <a:ext cx="5216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872946" y="3826226"/>
            <a:ext cx="5162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9" name="Shape 47"/>
          <p:cNvSpPr/>
          <p:nvPr/>
        </p:nvSpPr>
        <p:spPr>
          <a:xfrm>
            <a:off x="3872946" y="4066122"/>
            <a:ext cx="48658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872946" y="4306017"/>
            <a:ext cx="419144"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7" name="Shape 55"/>
          <p:cNvSpPr/>
          <p:nvPr/>
        </p:nvSpPr>
        <p:spPr>
          <a:xfrm>
            <a:off x="3872946" y="4545913"/>
            <a:ext cx="41360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1" name="Shape 59"/>
          <p:cNvSpPr/>
          <p:nvPr/>
        </p:nvSpPr>
        <p:spPr>
          <a:xfrm>
            <a:off x="3872946" y="4785808"/>
            <a:ext cx="387517"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20.2%</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872946" y="5025704"/>
            <a:ext cx="372520"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872946" y="5265599"/>
            <a:ext cx="37043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872946" y="5505495"/>
            <a:ext cx="362889"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872946" y="5745390"/>
            <a:ext cx="34721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9423354" y="1907062"/>
            <a:ext cx="30743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9423354" y="2146957"/>
            <a:ext cx="29942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15.6%</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423354" y="2386853"/>
            <a:ext cx="228054"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9423354" y="2626748"/>
            <a:ext cx="226811"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423354" y="2866644"/>
            <a:ext cx="150781"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1" name="Shape 99"/>
          <p:cNvSpPr/>
          <p:nvPr/>
        </p:nvSpPr>
        <p:spPr>
          <a:xfrm>
            <a:off x="9423354" y="3106540"/>
            <a:ext cx="98956"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5" name="Shape 103"/>
          <p:cNvSpPr/>
          <p:nvPr/>
        </p:nvSpPr>
        <p:spPr>
          <a:xfrm>
            <a:off x="9423354" y="3346435"/>
            <a:ext cx="9274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423354" y="3586331"/>
            <a:ext cx="72080"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423354" y="3826226"/>
            <a:ext cx="6813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9362469" y="4066122"/>
            <a:ext cx="60885"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1" name="Shape 119"/>
          <p:cNvSpPr/>
          <p:nvPr/>
        </p:nvSpPr>
        <p:spPr>
          <a:xfrm>
            <a:off x="9301150" y="4306017"/>
            <a:ext cx="1222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157477" y="4545913"/>
            <a:ext cx="26587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9147151" y="4785808"/>
            <a:ext cx="2762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054444" y="5025704"/>
            <a:ext cx="36891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939232" y="5265599"/>
            <a:ext cx="484122"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1" name="Shape 139"/>
          <p:cNvSpPr/>
          <p:nvPr/>
        </p:nvSpPr>
        <p:spPr>
          <a:xfrm>
            <a:off x="8691149" y="5505495"/>
            <a:ext cx="73220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3" name="Shape 141"/>
          <p:cNvSpPr/>
          <p:nvPr/>
        </p:nvSpPr>
        <p:spPr>
          <a:xfrm>
            <a:off x="3868374" y="1847088"/>
            <a:ext cx="9144" cy="4078224"/>
          </a:xfrm>
          <a:prstGeom prst="rect">
            <a:avLst/>
          </a:prstGeom>
          <a:solidFill>
            <a:srgbClr val="9AA3AD"/>
          </a:solidFill>
          <a:ln/>
        </p:spPr>
      </p:sp>
      <p:sp>
        <p:nvSpPr>
          <p:cNvPr id="144" name="Shape 142"/>
          <p:cNvSpPr/>
          <p:nvPr/>
        </p:nvSpPr>
        <p:spPr>
          <a:xfrm>
            <a:off x="4285058" y="1847088"/>
            <a:ext cx="14630" cy="4078224"/>
          </a:xfrm>
          <a:prstGeom prst="rect">
            <a:avLst/>
          </a:prstGeom>
          <a:solidFill>
            <a:srgbClr val="0B2C4A"/>
          </a:solidFill>
          <a:ln/>
        </p:spPr>
      </p:sp>
      <p:sp>
        <p:nvSpPr>
          <p:cNvPr id="145" name="Shape 143"/>
          <p:cNvSpPr/>
          <p:nvPr/>
        </p:nvSpPr>
        <p:spPr>
          <a:xfrm>
            <a:off x="9418782" y="1847088"/>
            <a:ext cx="9144" cy="4078224"/>
          </a:xfrm>
          <a:prstGeom prst="rect">
            <a:avLst/>
          </a:prstGeom>
          <a:solidFill>
            <a:srgbClr val="9AA3AD"/>
          </a:solidFill>
          <a:ln/>
        </p:spPr>
      </p:sp>
      <p:sp>
        <p:nvSpPr>
          <p:cNvPr id="146" name="Shape 144"/>
          <p:cNvSpPr/>
          <p:nvPr/>
        </p:nvSpPr>
        <p:spPr>
          <a:xfrm>
            <a:off x="9835466" y="1847088"/>
            <a:ext cx="14630" cy="4078224"/>
          </a:xfrm>
          <a:prstGeom prst="rect">
            <a:avLst/>
          </a:prstGeom>
          <a:solidFill>
            <a:srgbClr val="0B2C4A"/>
          </a:solidFill>
          <a:ln/>
        </p:spPr>
      </p:sp>
      <p:sp>
        <p:nvSpPr>
          <p:cNvPr id="147" name="Shape 145"/>
          <p:cNvSpPr/>
          <p:nvPr/>
        </p:nvSpPr>
        <p:spPr>
          <a:xfrm>
            <a:off x="6085332" y="1847088"/>
            <a:ext cx="10973" cy="4078224"/>
          </a:xfrm>
          <a:prstGeom prst="rect">
            <a:avLst/>
          </a:prstGeom>
          <a:solidFill>
            <a:srgbClr val="D9D9D9"/>
          </a:solidFill>
          <a:ln/>
        </p:spPr>
      </p:sp>
      <p:sp>
        <p:nvSpPr>
          <p:cNvPr id="148" name="Shape 146"/>
          <p:cNvSpPr/>
          <p:nvPr/>
        </p:nvSpPr>
        <p:spPr>
          <a:xfrm>
            <a:off x="457200" y="6126480"/>
            <a:ext cx="11274552" cy="341376"/>
          </a:xfrm>
          <a:prstGeom prst="rect">
            <a:avLst/>
          </a:prstGeom>
          <a:solidFill>
            <a:srgbClr val="EDF4FA"/>
          </a:solidFill>
          <a:ln/>
        </p:spPr>
      </p:sp>
      <p:sp>
        <p:nvSpPr>
          <p:cNvPr id="149" name="Text 14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10 of 33 stores at or above the 21.8% group, led by Honda Henderson at 43.0%. GMC Prescott is lowest at -38.1%.</a:t>
            </a:r>
            <a:endParaRPr lang="en-US" sz="1400"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SERVICE NET TO GROSS %</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+2.9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+33.5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51755"/>
            <a:ext cx="522301"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4660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318357"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785616" y="2871442"/>
            <a:ext cx="27713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33" name="Shape 31"/>
          <p:cNvSpPr/>
          <p:nvPr/>
        </p:nvSpPr>
        <p:spPr>
          <a:xfrm>
            <a:off x="3785616" y="3111337"/>
            <a:ext cx="1940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7" name="Shape 35"/>
          <p:cNvSpPr/>
          <p:nvPr/>
        </p:nvSpPr>
        <p:spPr>
          <a:xfrm>
            <a:off x="3785616" y="3351233"/>
            <a:ext cx="18345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785616" y="3591128"/>
            <a:ext cx="169078"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16448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+7.1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49" name="Shape 47"/>
          <p:cNvSpPr/>
          <p:nvPr/>
        </p:nvSpPr>
        <p:spPr>
          <a:xfrm>
            <a:off x="3785616" y="4070920"/>
            <a:ext cx="14671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785616" y="4310815"/>
            <a:ext cx="14391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785616" y="4550711"/>
            <a:ext cx="13931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1172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5" name="Shape 63"/>
          <p:cNvSpPr/>
          <p:nvPr/>
        </p:nvSpPr>
        <p:spPr>
          <a:xfrm>
            <a:off x="3785616" y="5030502"/>
            <a:ext cx="108452"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10488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785616" y="5510293"/>
            <a:ext cx="95711"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785616" y="5750188"/>
            <a:ext cx="9517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90237"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5" name="Shape 83"/>
          <p:cNvSpPr/>
          <p:nvPr/>
        </p:nvSpPr>
        <p:spPr>
          <a:xfrm>
            <a:off x="9336024" y="2151755"/>
            <a:ext cx="87077"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9" name="Shape 87"/>
          <p:cNvSpPr/>
          <p:nvPr/>
        </p:nvSpPr>
        <p:spPr>
          <a:xfrm>
            <a:off x="9336024" y="2391651"/>
            <a:ext cx="54978"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3" name="Shape 91"/>
          <p:cNvSpPr/>
          <p:nvPr/>
        </p:nvSpPr>
        <p:spPr>
          <a:xfrm>
            <a:off x="9336024" y="2631546"/>
            <a:ext cx="52170"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9336024" y="2871442"/>
            <a:ext cx="24496"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9336024" y="3351233"/>
            <a:ext cx="12802"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9" name="Shape 107"/>
          <p:cNvSpPr/>
          <p:nvPr/>
        </p:nvSpPr>
        <p:spPr>
          <a:xfrm>
            <a:off x="9326258" y="3591128"/>
            <a:ext cx="1280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01116" y="3831024"/>
            <a:ext cx="3490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283123" y="4070920"/>
            <a:ext cx="5290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263086" y="4310815"/>
            <a:ext cx="72938"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9244126" y="4550711"/>
            <a:ext cx="91898"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216373" y="4790606"/>
            <a:ext cx="11965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9139860" y="5030502"/>
            <a:ext cx="196164"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−8.4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81728" y="5270397"/>
            <a:ext cx="254296"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13274" y="5510293"/>
            <a:ext cx="62275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24 of 33 stores raised service net to gross, led by Hyundai Prescott at +33.5 pts to -19.2%. 9 declined; VW St George fell most at −26.8 pts.</a:t>
            </a:r>
            <a:endParaRPr lang="en-US" sz="1600" dirty="0"/>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Service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+33.5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+22.5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Shape 17"/>
          <p:cNvSpPr/>
          <p:nvPr/>
        </p:nvSpPr>
        <p:spPr>
          <a:xfrm>
            <a:off x="4084320" y="3650285"/>
            <a:ext cx="64008" cy="682142"/>
          </a:xfrm>
          <a:prstGeom prst="rect">
            <a:avLst/>
          </a:prstGeom>
          <a:solidFill>
            <a:srgbClr val="12A566"/>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2" name="Text 20"/>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−10.9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27.2%</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−8.4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18.1%</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+23.6 pts</a:t>
            </a:r>
            <a:endParaRPr lang="en-US" sz="1600" dirty="0"/>
          </a:p>
        </p:txBody>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+17.4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Shape 61"/>
          <p:cNvSpPr/>
          <p:nvPr/>
        </p:nvSpPr>
        <p:spPr>
          <a:xfrm>
            <a:off x="11466576" y="3650285"/>
            <a:ext cx="64008" cy="682142"/>
          </a:xfrm>
          <a:prstGeom prst="rect">
            <a:avLst/>
          </a:prstGeom>
          <a:solidFill>
            <a:srgbClr val="12A566"/>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Prescott, Lincoln and LR Reno what changed. Ask VW St George, Kia St George and Mazda what got in the way. Ask Hyundai Prescott, LR Henderson and LR Reno what they started this year.</a:t>
            </a:r>
            <a:endParaRPr lang="en-US" sz="1600" dirty="0"/>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37.1%</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−1.1%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Parts Net to Gross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48996"/>
          </a:xfrm>
          <a:prstGeom prst="rect">
            <a:avLst/>
          </a:prstGeom>
          <a:solidFill>
            <a:srgbClr val="FBEBEA"/>
          </a:solidFill>
          <a:ln/>
        </p:spPr>
      </p:sp>
      <p:sp>
        <p:nvSpPr>
          <p:cNvPr id="30" name="Text 22"/>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Down 0.4 pts to 36.7%, behind 2025 in four of nine months. Gross grew 1.9% but department profit grew 0.8%.</a:t>
            </a:r>
            <a:endParaRPr lang="en-US" sz="1450" dirty="0"/>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36.7%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008376" y="2146957"/>
            <a:ext cx="142935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49.6%</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41206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398451"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48.5%</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31746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45.7%</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131272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3008376" y="3346435"/>
            <a:ext cx="130682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1" name="Shape 39"/>
          <p:cNvSpPr/>
          <p:nvPr/>
        </p:nvSpPr>
        <p:spPr>
          <a:xfrm>
            <a:off x="3008376" y="3586331"/>
            <a:ext cx="127906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5" name="Shape 43"/>
          <p:cNvSpPr/>
          <p:nvPr/>
        </p:nvSpPr>
        <p:spPr>
          <a:xfrm>
            <a:off x="3008376" y="3826226"/>
            <a:ext cx="1273414"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6194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3" name="Shape 51"/>
          <p:cNvSpPr/>
          <p:nvPr/>
        </p:nvSpPr>
        <p:spPr>
          <a:xfrm>
            <a:off x="3008376" y="4306017"/>
            <a:ext cx="123954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7" name="Shape 55"/>
          <p:cNvSpPr/>
          <p:nvPr/>
        </p:nvSpPr>
        <p:spPr>
          <a:xfrm>
            <a:off x="3008376" y="4545913"/>
            <a:ext cx="120994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008376" y="4785808"/>
            <a:ext cx="114381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5" name="Shape 63"/>
          <p:cNvSpPr/>
          <p:nvPr/>
        </p:nvSpPr>
        <p:spPr>
          <a:xfrm>
            <a:off x="3008376" y="5025704"/>
            <a:ext cx="1134120"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008376" y="5265599"/>
            <a:ext cx="107993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3" name="Shape 71"/>
          <p:cNvSpPr/>
          <p:nvPr/>
        </p:nvSpPr>
        <p:spPr>
          <a:xfrm>
            <a:off x="3008376" y="5505495"/>
            <a:ext cx="1039071"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36.0%</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7" name="Shape 75"/>
          <p:cNvSpPr/>
          <p:nvPr/>
        </p:nvSpPr>
        <p:spPr>
          <a:xfrm>
            <a:off x="3008376" y="5745390"/>
            <a:ext cx="102605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58784" y="1907062"/>
            <a:ext cx="994650"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8558784" y="2146957"/>
            <a:ext cx="946998"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9" name="Shape 87"/>
          <p:cNvSpPr/>
          <p:nvPr/>
        </p:nvSpPr>
        <p:spPr>
          <a:xfrm>
            <a:off x="8558784" y="2386853"/>
            <a:ext cx="94103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32.6%</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00852"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894005"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8873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5" name="Shape 103"/>
          <p:cNvSpPr/>
          <p:nvPr/>
        </p:nvSpPr>
        <p:spPr>
          <a:xfrm>
            <a:off x="8558784" y="3346435"/>
            <a:ext cx="86347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767637"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26.6%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58784" y="3826226"/>
            <a:ext cx="740911"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7" name="Shape 115"/>
          <p:cNvSpPr/>
          <p:nvPr/>
        </p:nvSpPr>
        <p:spPr>
          <a:xfrm>
            <a:off x="8558784" y="4066122"/>
            <a:ext cx="728589"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58784" y="4306017"/>
            <a:ext cx="726153"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8558784" y="4545913"/>
            <a:ext cx="6878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680786"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5025704"/>
            <a:ext cx="51612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7" name="Shape 135"/>
          <p:cNvSpPr/>
          <p:nvPr/>
        </p:nvSpPr>
        <p:spPr>
          <a:xfrm>
            <a:off x="8558784" y="5265599"/>
            <a:ext cx="45537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28719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43" name="Shape 141"/>
          <p:cNvSpPr/>
          <p:nvPr/>
        </p:nvSpPr>
        <p:spPr>
          <a:xfrm>
            <a:off x="4060077" y="1847088"/>
            <a:ext cx="14630" cy="4078224"/>
          </a:xfrm>
          <a:prstGeom prst="rect">
            <a:avLst/>
          </a:prstGeom>
          <a:solidFill>
            <a:srgbClr val="0B2C4A"/>
          </a:solidFill>
          <a:ln/>
        </p:spPr>
      </p:sp>
      <p:sp>
        <p:nvSpPr>
          <p:cNvPr id="144" name="Shape 142"/>
          <p:cNvSpPr/>
          <p:nvPr/>
        </p:nvSpPr>
        <p:spPr>
          <a:xfrm>
            <a:off x="9610485"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15 of 33 stores at or above the 36.7% group, led by Subaru St George at 58.7%. Hyundai Prescott is lowest at 10.0%.</a:t>
            </a:r>
            <a:endParaRPr lang="en-US" sz="1600" dirty="0"/>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PARTS NET TO GROSS %</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−0.4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7" name="Shape 15"/>
          <p:cNvSpPr/>
          <p:nvPr/>
        </p:nvSpPr>
        <p:spPr>
          <a:xfrm>
            <a:off x="3785616" y="2151755"/>
            <a:ext cx="7125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21" name="Shape 19"/>
          <p:cNvSpPr/>
          <p:nvPr/>
        </p:nvSpPr>
        <p:spPr>
          <a:xfrm>
            <a:off x="3785616" y="2391651"/>
            <a:ext cx="57930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5" name="Shape 23"/>
          <p:cNvSpPr/>
          <p:nvPr/>
        </p:nvSpPr>
        <p:spPr>
          <a:xfrm>
            <a:off x="3785616" y="2631546"/>
            <a:ext cx="41252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9" name="Shape 27"/>
          <p:cNvSpPr/>
          <p:nvPr/>
        </p:nvSpPr>
        <p:spPr>
          <a:xfrm>
            <a:off x="3785616" y="2871442"/>
            <a:ext cx="384335"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+7.0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3785616" y="3111337"/>
            <a:ext cx="3451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4425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26556"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5" name="Shape 43"/>
          <p:cNvSpPr/>
          <p:nvPr/>
        </p:nvSpPr>
        <p:spPr>
          <a:xfrm>
            <a:off x="3785616" y="3831024"/>
            <a:ext cx="248228"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17670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785616" y="4310815"/>
            <a:ext cx="172791"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+3.2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785616" y="4550711"/>
            <a:ext cx="12083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1" name="Shape 59"/>
          <p:cNvSpPr/>
          <p:nvPr/>
        </p:nvSpPr>
        <p:spPr>
          <a:xfrm>
            <a:off x="3785616" y="4790606"/>
            <a:ext cx="10967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5" name="Shape 63"/>
          <p:cNvSpPr/>
          <p:nvPr/>
        </p:nvSpPr>
        <p:spPr>
          <a:xfrm>
            <a:off x="3785616" y="5030502"/>
            <a:ext cx="81021"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785616" y="5270397"/>
            <a:ext cx="69580"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3" name="Shape 71"/>
          <p:cNvSpPr/>
          <p:nvPr/>
        </p:nvSpPr>
        <p:spPr>
          <a:xfrm>
            <a:off x="3783808" y="5510293"/>
            <a:ext cx="12802" cy="110352"/>
          </a:xfrm>
          <a:prstGeom prst="rect">
            <a:avLst/>
          </a:prstGeom>
          <a:solidFill>
            <a:srgbClr val="C2352F"/>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782938" y="5750188"/>
            <a:ext cx="12802" cy="110352"/>
          </a:xfrm>
          <a:prstGeom prst="rect">
            <a:avLst/>
          </a:prstGeom>
          <a:solidFill>
            <a:srgbClr val="C2352F"/>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279706" y="1911860"/>
            <a:ext cx="56318"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261209" y="2151755"/>
            <a:ext cx="74815"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9" name="Shape 87"/>
          <p:cNvSpPr/>
          <p:nvPr/>
        </p:nvSpPr>
        <p:spPr>
          <a:xfrm>
            <a:off x="9182825" y="2391651"/>
            <a:ext cx="153199"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3" name="Shape 91"/>
          <p:cNvSpPr/>
          <p:nvPr/>
        </p:nvSpPr>
        <p:spPr>
          <a:xfrm>
            <a:off x="9150574" y="2631546"/>
            <a:ext cx="185450"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9107949" y="2871442"/>
            <a:ext cx="22807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106168" y="3111337"/>
            <a:ext cx="22985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−4.2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076473" y="3351233"/>
            <a:ext cx="25955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9" name="Shape 107"/>
          <p:cNvSpPr/>
          <p:nvPr/>
        </p:nvSpPr>
        <p:spPr>
          <a:xfrm>
            <a:off x="9037703" y="3591128"/>
            <a:ext cx="29832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9035179" y="3831024"/>
            <a:ext cx="300845"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−5.5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7" name="Shape 115"/>
          <p:cNvSpPr/>
          <p:nvPr/>
        </p:nvSpPr>
        <p:spPr>
          <a:xfrm>
            <a:off x="9018589" y="4070920"/>
            <a:ext cx="317435"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1" name="Shape 119"/>
          <p:cNvSpPr/>
          <p:nvPr/>
        </p:nvSpPr>
        <p:spPr>
          <a:xfrm>
            <a:off x="8963304" y="4310815"/>
            <a:ext cx="3727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5" name="Shape 123"/>
          <p:cNvSpPr/>
          <p:nvPr/>
        </p:nvSpPr>
        <p:spPr>
          <a:xfrm>
            <a:off x="8882230" y="4550711"/>
            <a:ext cx="453794"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9" name="Shape 127"/>
          <p:cNvSpPr/>
          <p:nvPr/>
        </p:nvSpPr>
        <p:spPr>
          <a:xfrm>
            <a:off x="8795705" y="4790606"/>
            <a:ext cx="54031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−9.9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725604" y="5030502"/>
            <a:ext cx="61042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−11.2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691636" y="5270397"/>
            <a:ext cx="64438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−11.8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652415" y="5510293"/>
            <a:ext cx="683609"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15 of 33 stores raised parts net to gross, led by Lincoln at +14.2 pts to 17.9%. 18 declined; Hyundai Prescott fell most at −12.5 pts.</a:t>
            </a:r>
            <a:endParaRPr lang="en-US" sz="1600" dirty="0"/>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Parts Net to Gross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32.9%</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26.6%</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44.4%</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−12.5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−11.8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23.6%</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−9.9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34.2%</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+16.5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24.1%</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Lincoln, Acura and Nissan what changed. Ask Hyundai Prescott, Hyundai St George and VW St George what got in the way. Ask LR Reno, VW St George and Mazda what they started this year.</a:t>
            </a:r>
            <a:endParaRPr lang="en-US" sz="1600" dirty="0"/>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Can You Control?</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Take care of the customers we already have: how we treat them decides whether they come back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Repair order count: how many customers we serve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Dollars per repair order: how much we sell each one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rates we charge, and how we decide what to charge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CP labor $ per RO is the best way to judge performance, store and individual</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 the metrics that matter most every day, talk about them, and train on them</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279,756 ROs</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up only 456. Volume is flat.</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1.87 hrs per RO</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Up 0.07, ahead in all nine months. Every 0.1 hour per RO is worth $4,543,691 of labor.</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 per RO</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up $17. The $4,899,376 labor gain came from selling more per visit.</a:t>
            </a:r>
            <a:endParaRPr lang="en-US" sz="1400" dirty="0"/>
          </a:p>
        </p:txBody>
      </p:sp>
      <p:sp>
        <p:nvSpPr>
          <p:cNvPr id="19" name="Shape 17"/>
          <p:cNvSpPr/>
          <p:nvPr/>
        </p:nvSpPr>
        <p:spPr>
          <a:xfrm>
            <a:off x="457200" y="6126480"/>
            <a:ext cx="11274552" cy="356616"/>
          </a:xfrm>
          <a:prstGeom prst="rect">
            <a:avLst/>
          </a:prstGeom>
          <a:solidFill>
            <a:srgbClr val="E6F6EE"/>
          </a:solidFill>
          <a:ln/>
        </p:spPr>
      </p:sp>
      <p:sp>
        <p:nvSpPr>
          <p:cNvPr id="20" name="Text 18"/>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The ask: with car count flat, the growth is in hours per RO. Sell the next tenth of an hour on every RO.</a:t>
            </a:r>
            <a:endParaRPr lang="en-US" sz="1500"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Front Door</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Open and available scheduler: same-day or next-day appointments, quick online scheduling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Handle basic maintenance quickly and efficiently. Saturdays are what you choose to make them.</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call is a sales opportunity: a mishandled call costs us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No-show process; first appointment at time of sale; next appointment before the customer leaves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Active retention tracking: work the Viz 'Close to Losing' and 'Unretained' lists</a:t>
            </a:r>
            <a:endParaRPr lang="en-US" sz="1800" dirty="0"/>
          </a:p>
        </p:txBody>
      </p:sp>
      <p:sp>
        <p:nvSpPr>
          <p:cNvPr id="10" name="Shape 8"/>
          <p:cNvSpPr/>
          <p:nvPr/>
        </p:nvSpPr>
        <p:spPr>
          <a:xfrm>
            <a:off x="7269480" y="1920240"/>
            <a:ext cx="54864" cy="178308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+0.2%</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Customer-pay RO count. 13 of 33 stores had fewer CP ROs than last year.</a:t>
            </a:r>
            <a:endParaRPr lang="en-US" sz="1400" dirty="0"/>
          </a:p>
        </p:txBody>
      </p:sp>
      <p:sp>
        <p:nvSpPr>
          <p:cNvPr id="13" name="Shape 11"/>
          <p:cNvSpPr/>
          <p:nvPr/>
        </p:nvSpPr>
        <p:spPr>
          <a:xfrm>
            <a:off x="7269480" y="3931920"/>
            <a:ext cx="54864" cy="1783080"/>
          </a:xfrm>
          <a:prstGeom prst="rect">
            <a:avLst/>
          </a:prstGeom>
          <a:solidFill>
            <a:srgbClr val="2587C5"/>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$4,473,284</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 year in labor and parts gross from one more customer-pay RO a day at every store.</a:t>
            </a:r>
            <a:endParaRPr lang="en-US" sz="1400" dirty="0"/>
          </a:p>
        </p:txBody>
      </p:sp>
      <p:sp>
        <p:nvSpPr>
          <p:cNvPr id="16" name="Shape 14"/>
          <p:cNvSpPr/>
          <p:nvPr/>
        </p:nvSpPr>
        <p:spPr>
          <a:xfrm>
            <a:off x="457200" y="6126480"/>
            <a:ext cx="11274552" cy="341376"/>
          </a:xfrm>
          <a:prstGeom prst="rect">
            <a:avLst/>
          </a:prstGeom>
          <a:solidFill>
            <a:srgbClr val="EDF4FA"/>
          </a:solidFill>
          <a:ln/>
        </p:spPr>
      </p:sp>
      <p:sp>
        <p:nvSpPr>
          <p:cNvPr id="17" name="Text 1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The ask: every customer leaves with the next appointment booked, and every call reaches someone who asks for it.</a:t>
            </a:r>
            <a:endParaRPr lang="en-US" sz="1400" dirty="0"/>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Voice AI: Every Call Is a Customer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CALLS HANDLED</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48,964</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526 a day across 26 locations.</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12A566"/>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HANDLED BY THE AI ALONE</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22,749</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46.5% of calls, start to finish. The other 26,215 (53.5%) were transferred to the store.</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12A566"/>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APPOINTMENTS BOOKED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7A4A"/>
                </a:solidFill>
                <a:latin typeface="Inter" pitchFamily="34" charset="0"/>
                <a:ea typeface="Inter" pitchFamily="34" charset="-122"/>
                <a:cs typeface="Inter" pitchFamily="34" charset="-120"/>
              </a:rPr>
              <a:t>10,841</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72% of the 15,051 calls that could book an appointment.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C2352F"/>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TRANSFERS PICKED UP</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A82B26"/>
                </a:solidFill>
                <a:latin typeface="Inter" pitchFamily="34" charset="0"/>
                <a:ea typeface="Inter" pitchFamily="34" charset="-122"/>
                <a:cs typeface="Inter" pitchFamily="34" charset="-120"/>
              </a:rPr>
              <a:t>47.7%</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About 13,710 transfers missed. If half wanted an appointment, that is $2.6M of gross profit.</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The AI books and routes the call; the store still has to answer the transfer and close every callback in the Flai dashboard. Source: Flai service calls, last 90 days.</a:t>
            </a:r>
            <a:endParaRPr lang="en-US" sz="1700" dirty="0"/>
          </a:p>
        </p:txBody>
      </p:sp>
      <p:sp>
        <p:nvSpPr>
          <p:cNvPr id="27" name="Shape 25"/>
          <p:cNvSpPr/>
          <p:nvPr/>
        </p:nvSpPr>
        <p:spPr>
          <a:xfrm>
            <a:off x="457200" y="6126480"/>
            <a:ext cx="11274552" cy="615696"/>
          </a:xfrm>
          <a:prstGeom prst="rect">
            <a:avLst/>
          </a:prstGeom>
          <a:solidFill>
            <a:srgbClr val="FBEBE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The AI finishes 46.5% of calls on its own. The rest come back to the store, and fewer than half of those reach a person. Every unanswered transfer is a customer we already had.</a:t>
            </a:r>
            <a:endParaRPr lang="en-US" sz="1600" dirty="0"/>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VOICE AI · FLAI · LAST 90 DAYS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Store Voice AI Metrics</a:t>
            </a:r>
            <a:endParaRPr lang="en-US" sz="2800" dirty="0"/>
          </a:p>
        </p:txBody>
      </p:sp>
      <p:sp>
        <p:nvSpPr>
          <p:cNvPr id="5" name="Shape 3"/>
          <p:cNvSpPr/>
          <p:nvPr/>
        </p:nvSpPr>
        <p:spPr>
          <a:xfrm>
            <a:off x="457200" y="1207008"/>
            <a:ext cx="3685032" cy="4782312"/>
          </a:xfrm>
          <a:prstGeom prst="rect">
            <a:avLst/>
          </a:prstGeom>
          <a:solidFill>
            <a:srgbClr val="FFFFFF"/>
          </a:solidFill>
          <a:ln/>
        </p:spPr>
      </p:sp>
      <p:sp>
        <p:nvSpPr>
          <p:cNvPr id="6" name="Text 4"/>
          <p:cNvSpPr txBox="1"/>
          <p:nvPr/>
        </p:nvSpPr>
        <p:spPr>
          <a:xfrm>
            <a:off x="62179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BOOKING RATE</a:t>
            </a:r>
            <a:endParaRPr lang="en-US" sz="1400" dirty="0"/>
          </a:p>
        </p:txBody>
      </p:sp>
      <p:sp>
        <p:nvSpPr>
          <p:cNvPr id="7" name="Text 5"/>
          <p:cNvSpPr txBox="1"/>
          <p:nvPr/>
        </p:nvSpPr>
        <p:spPr>
          <a:xfrm>
            <a:off x="62179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72%</a:t>
            </a:r>
            <a:endParaRPr lang="en-US" sz="1400" dirty="0"/>
          </a:p>
        </p:txBody>
      </p:sp>
      <p:sp>
        <p:nvSpPr>
          <p:cNvPr id="8" name="Shape 6"/>
          <p:cNvSpPr/>
          <p:nvPr/>
        </p:nvSpPr>
        <p:spPr>
          <a:xfrm>
            <a:off x="621792" y="1911096"/>
            <a:ext cx="3355848" cy="22860"/>
          </a:xfrm>
          <a:prstGeom prst="rect">
            <a:avLst/>
          </a:prstGeom>
          <a:solidFill>
            <a:srgbClr val="12A566"/>
          </a:solidFill>
          <a:ln/>
        </p:spPr>
      </p:sp>
      <p:sp>
        <p:nvSpPr>
          <p:cNvPr id="9" name="Text 7"/>
          <p:cNvSpPr txBox="1"/>
          <p:nvPr/>
        </p:nvSpPr>
        <p:spPr>
          <a:xfrm>
            <a:off x="62179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 name="Text 8"/>
          <p:cNvSpPr txBox="1"/>
          <p:nvPr/>
        </p:nvSpPr>
        <p:spPr>
          <a:xfrm>
            <a:off x="231343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Text 9"/>
          <p:cNvSpPr txBox="1"/>
          <p:nvPr/>
        </p:nvSpPr>
        <p:spPr>
          <a:xfrm>
            <a:off x="306324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2" name="Text 10"/>
          <p:cNvSpPr txBox="1"/>
          <p:nvPr/>
        </p:nvSpPr>
        <p:spPr>
          <a:xfrm>
            <a:off x="62179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 name="Text 11"/>
          <p:cNvSpPr txBox="1"/>
          <p:nvPr/>
        </p:nvSpPr>
        <p:spPr>
          <a:xfrm>
            <a:off x="231343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83.0%</a:t>
            </a:r>
            <a:endParaRPr lang="en-US" sz="1300" dirty="0"/>
          </a:p>
        </p:txBody>
      </p:sp>
      <p:sp>
        <p:nvSpPr>
          <p:cNvPr id="14" name="Text 12"/>
          <p:cNvSpPr txBox="1"/>
          <p:nvPr/>
        </p:nvSpPr>
        <p:spPr>
          <a:xfrm>
            <a:off x="306324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15" name="Shape 13"/>
          <p:cNvSpPr/>
          <p:nvPr/>
        </p:nvSpPr>
        <p:spPr>
          <a:xfrm>
            <a:off x="4023360" y="2203704"/>
            <a:ext cx="54864" cy="272491"/>
          </a:xfrm>
          <a:prstGeom prst="rect">
            <a:avLst/>
          </a:prstGeom>
          <a:solidFill>
            <a:srgbClr val="12A566"/>
          </a:solidFill>
          <a:ln/>
        </p:spPr>
      </p:sp>
      <p:sp>
        <p:nvSpPr>
          <p:cNvPr id="16" name="Text 14"/>
          <p:cNvSpPr txBox="1"/>
          <p:nvPr/>
        </p:nvSpPr>
        <p:spPr>
          <a:xfrm>
            <a:off x="62179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7" name="Text 15"/>
          <p:cNvSpPr txBox="1"/>
          <p:nvPr/>
        </p:nvSpPr>
        <p:spPr>
          <a:xfrm>
            <a:off x="231343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82.3%</a:t>
            </a:r>
            <a:endParaRPr lang="en-US" sz="1300" dirty="0"/>
          </a:p>
        </p:txBody>
      </p:sp>
      <p:sp>
        <p:nvSpPr>
          <p:cNvPr id="18" name="Text 16"/>
          <p:cNvSpPr txBox="1"/>
          <p:nvPr/>
        </p:nvSpPr>
        <p:spPr>
          <a:xfrm>
            <a:off x="306324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4,349</a:t>
            </a:r>
            <a:endParaRPr lang="en-US" sz="1200" dirty="0"/>
          </a:p>
        </p:txBody>
      </p:sp>
      <p:sp>
        <p:nvSpPr>
          <p:cNvPr id="19" name="Text 17"/>
          <p:cNvSpPr txBox="1"/>
          <p:nvPr/>
        </p:nvSpPr>
        <p:spPr>
          <a:xfrm>
            <a:off x="62179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20" name="Text 18"/>
          <p:cNvSpPr txBox="1"/>
          <p:nvPr/>
        </p:nvSpPr>
        <p:spPr>
          <a:xfrm>
            <a:off x="231343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79.0%</a:t>
            </a:r>
            <a:endParaRPr lang="en-US" sz="1300" dirty="0"/>
          </a:p>
        </p:txBody>
      </p:sp>
      <p:sp>
        <p:nvSpPr>
          <p:cNvPr id="21" name="Text 19"/>
          <p:cNvSpPr txBox="1"/>
          <p:nvPr/>
        </p:nvSpPr>
        <p:spPr>
          <a:xfrm>
            <a:off x="306324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22" name="Shape 20"/>
          <p:cNvSpPr/>
          <p:nvPr/>
        </p:nvSpPr>
        <p:spPr>
          <a:xfrm>
            <a:off x="4023360" y="2894990"/>
            <a:ext cx="54864" cy="272491"/>
          </a:xfrm>
          <a:prstGeom prst="rect">
            <a:avLst/>
          </a:prstGeom>
          <a:solidFill>
            <a:srgbClr val="12A566"/>
          </a:solidFill>
          <a:ln/>
        </p:spPr>
      </p:sp>
      <p:sp>
        <p:nvSpPr>
          <p:cNvPr id="23" name="Text 21"/>
          <p:cNvSpPr txBox="1"/>
          <p:nvPr/>
        </p:nvSpPr>
        <p:spPr>
          <a:xfrm>
            <a:off x="62179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4" name="Text 22"/>
          <p:cNvSpPr txBox="1"/>
          <p:nvPr/>
        </p:nvSpPr>
        <p:spPr>
          <a:xfrm>
            <a:off x="231343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78.4%</a:t>
            </a:r>
            <a:endParaRPr lang="en-US" sz="1300" dirty="0"/>
          </a:p>
        </p:txBody>
      </p:sp>
      <p:sp>
        <p:nvSpPr>
          <p:cNvPr id="25" name="Text 23"/>
          <p:cNvSpPr txBox="1"/>
          <p:nvPr/>
        </p:nvSpPr>
        <p:spPr>
          <a:xfrm>
            <a:off x="306324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26" name="Shape 24"/>
          <p:cNvSpPr/>
          <p:nvPr/>
        </p:nvSpPr>
        <p:spPr>
          <a:xfrm>
            <a:off x="4023360" y="3240634"/>
            <a:ext cx="54864" cy="272491"/>
          </a:xfrm>
          <a:prstGeom prst="rect">
            <a:avLst/>
          </a:prstGeom>
          <a:solidFill>
            <a:srgbClr val="12A566"/>
          </a:solidFill>
          <a:ln/>
        </p:spPr>
      </p:sp>
      <p:sp>
        <p:nvSpPr>
          <p:cNvPr id="27" name="Text 25"/>
          <p:cNvSpPr txBox="1"/>
          <p:nvPr/>
        </p:nvSpPr>
        <p:spPr>
          <a:xfrm>
            <a:off x="62179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8" name="Text 26"/>
          <p:cNvSpPr txBox="1"/>
          <p:nvPr/>
        </p:nvSpPr>
        <p:spPr>
          <a:xfrm>
            <a:off x="231343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77.7%</a:t>
            </a:r>
            <a:endParaRPr lang="en-US" sz="1300" dirty="0"/>
          </a:p>
        </p:txBody>
      </p:sp>
      <p:sp>
        <p:nvSpPr>
          <p:cNvPr id="29" name="Text 27"/>
          <p:cNvSpPr txBox="1"/>
          <p:nvPr/>
        </p:nvSpPr>
        <p:spPr>
          <a:xfrm>
            <a:off x="306324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30" name="Shape 28"/>
          <p:cNvSpPr/>
          <p:nvPr/>
        </p:nvSpPr>
        <p:spPr>
          <a:xfrm>
            <a:off x="4023360" y="3586277"/>
            <a:ext cx="54864" cy="272491"/>
          </a:xfrm>
          <a:prstGeom prst="rect">
            <a:avLst/>
          </a:prstGeom>
          <a:solidFill>
            <a:srgbClr val="12A566"/>
          </a:solidFill>
          <a:ln/>
        </p:spPr>
      </p:sp>
      <p:sp>
        <p:nvSpPr>
          <p:cNvPr id="31" name="Shape 29"/>
          <p:cNvSpPr/>
          <p:nvPr/>
        </p:nvSpPr>
        <p:spPr>
          <a:xfrm>
            <a:off x="621792" y="3913632"/>
            <a:ext cx="3355848" cy="22860"/>
          </a:xfrm>
          <a:prstGeom prst="rect">
            <a:avLst/>
          </a:prstGeom>
          <a:solidFill>
            <a:srgbClr val="C2352F"/>
          </a:solidFill>
          <a:ln/>
        </p:spPr>
      </p:sp>
      <p:sp>
        <p:nvSpPr>
          <p:cNvPr id="32" name="Text 30"/>
          <p:cNvSpPr txBox="1"/>
          <p:nvPr/>
        </p:nvSpPr>
        <p:spPr>
          <a:xfrm>
            <a:off x="62179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33" name="Text 31"/>
          <p:cNvSpPr txBox="1"/>
          <p:nvPr/>
        </p:nvSpPr>
        <p:spPr>
          <a:xfrm>
            <a:off x="231343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34" name="Text 32"/>
          <p:cNvSpPr txBox="1"/>
          <p:nvPr/>
        </p:nvSpPr>
        <p:spPr>
          <a:xfrm>
            <a:off x="306324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35" name="Text 33"/>
          <p:cNvSpPr txBox="1"/>
          <p:nvPr/>
        </p:nvSpPr>
        <p:spPr>
          <a:xfrm>
            <a:off x="62179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36" name="Text 34"/>
          <p:cNvSpPr txBox="1"/>
          <p:nvPr/>
        </p:nvSpPr>
        <p:spPr>
          <a:xfrm>
            <a:off x="231343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47.7%</a:t>
            </a:r>
            <a:endParaRPr lang="en-US" sz="1300" dirty="0"/>
          </a:p>
        </p:txBody>
      </p:sp>
      <p:sp>
        <p:nvSpPr>
          <p:cNvPr id="37" name="Text 35"/>
          <p:cNvSpPr txBox="1"/>
          <p:nvPr/>
        </p:nvSpPr>
        <p:spPr>
          <a:xfrm>
            <a:off x="306324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38" name="Shape 36"/>
          <p:cNvSpPr/>
          <p:nvPr/>
        </p:nvSpPr>
        <p:spPr>
          <a:xfrm>
            <a:off x="4023360" y="4206240"/>
            <a:ext cx="54864" cy="272491"/>
          </a:xfrm>
          <a:prstGeom prst="rect">
            <a:avLst/>
          </a:prstGeom>
          <a:solidFill>
            <a:srgbClr val="C2352F"/>
          </a:solidFill>
          <a:ln/>
        </p:spPr>
      </p:sp>
      <p:sp>
        <p:nvSpPr>
          <p:cNvPr id="39" name="Text 37"/>
          <p:cNvSpPr txBox="1"/>
          <p:nvPr/>
        </p:nvSpPr>
        <p:spPr>
          <a:xfrm>
            <a:off x="62179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40" name="Text 38"/>
          <p:cNvSpPr txBox="1"/>
          <p:nvPr/>
        </p:nvSpPr>
        <p:spPr>
          <a:xfrm>
            <a:off x="231343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51.2%</a:t>
            </a:r>
            <a:endParaRPr lang="en-US" sz="1300" dirty="0"/>
          </a:p>
        </p:txBody>
      </p:sp>
      <p:sp>
        <p:nvSpPr>
          <p:cNvPr id="41" name="Text 39"/>
          <p:cNvSpPr txBox="1"/>
          <p:nvPr/>
        </p:nvSpPr>
        <p:spPr>
          <a:xfrm>
            <a:off x="306324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42" name="Shape 40"/>
          <p:cNvSpPr/>
          <p:nvPr/>
        </p:nvSpPr>
        <p:spPr>
          <a:xfrm>
            <a:off x="4023360" y="4551883"/>
            <a:ext cx="54864" cy="272491"/>
          </a:xfrm>
          <a:prstGeom prst="rect">
            <a:avLst/>
          </a:prstGeom>
          <a:solidFill>
            <a:srgbClr val="C2352F"/>
          </a:solidFill>
          <a:ln/>
        </p:spPr>
      </p:sp>
      <p:sp>
        <p:nvSpPr>
          <p:cNvPr id="43" name="Text 41"/>
          <p:cNvSpPr txBox="1"/>
          <p:nvPr/>
        </p:nvSpPr>
        <p:spPr>
          <a:xfrm>
            <a:off x="62179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44" name="Text 42"/>
          <p:cNvSpPr txBox="1"/>
          <p:nvPr/>
        </p:nvSpPr>
        <p:spPr>
          <a:xfrm>
            <a:off x="231343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54.6%</a:t>
            </a:r>
            <a:endParaRPr lang="en-US" sz="1300" dirty="0"/>
          </a:p>
        </p:txBody>
      </p:sp>
      <p:sp>
        <p:nvSpPr>
          <p:cNvPr id="45" name="Text 43"/>
          <p:cNvSpPr txBox="1"/>
          <p:nvPr/>
        </p:nvSpPr>
        <p:spPr>
          <a:xfrm>
            <a:off x="306324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46" name="Text 44"/>
          <p:cNvSpPr txBox="1"/>
          <p:nvPr/>
        </p:nvSpPr>
        <p:spPr>
          <a:xfrm>
            <a:off x="62179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47" name="Text 45"/>
          <p:cNvSpPr txBox="1"/>
          <p:nvPr/>
        </p:nvSpPr>
        <p:spPr>
          <a:xfrm>
            <a:off x="231343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58.7%</a:t>
            </a:r>
            <a:endParaRPr lang="en-US" sz="1300" dirty="0"/>
          </a:p>
        </p:txBody>
      </p:sp>
      <p:sp>
        <p:nvSpPr>
          <p:cNvPr id="48" name="Text 46"/>
          <p:cNvSpPr txBox="1"/>
          <p:nvPr/>
        </p:nvSpPr>
        <p:spPr>
          <a:xfrm>
            <a:off x="306324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49" name="Shape 47"/>
          <p:cNvSpPr/>
          <p:nvPr/>
        </p:nvSpPr>
        <p:spPr>
          <a:xfrm>
            <a:off x="4023360" y="5243170"/>
            <a:ext cx="54864" cy="272491"/>
          </a:xfrm>
          <a:prstGeom prst="rect">
            <a:avLst/>
          </a:prstGeom>
          <a:solidFill>
            <a:srgbClr val="C2352F"/>
          </a:solidFill>
          <a:ln/>
        </p:spPr>
      </p:sp>
      <p:sp>
        <p:nvSpPr>
          <p:cNvPr id="50" name="Text 48"/>
          <p:cNvSpPr txBox="1"/>
          <p:nvPr/>
        </p:nvSpPr>
        <p:spPr>
          <a:xfrm>
            <a:off x="62179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51" name="Text 49"/>
          <p:cNvSpPr txBox="1"/>
          <p:nvPr/>
        </p:nvSpPr>
        <p:spPr>
          <a:xfrm>
            <a:off x="231343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59.3%</a:t>
            </a:r>
            <a:endParaRPr lang="en-US" sz="1300" dirty="0"/>
          </a:p>
        </p:txBody>
      </p:sp>
      <p:sp>
        <p:nvSpPr>
          <p:cNvPr id="52" name="Text 50"/>
          <p:cNvSpPr txBox="1"/>
          <p:nvPr/>
        </p:nvSpPr>
        <p:spPr>
          <a:xfrm>
            <a:off x="306324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53" name="Shape 51"/>
          <p:cNvSpPr/>
          <p:nvPr/>
        </p:nvSpPr>
        <p:spPr>
          <a:xfrm>
            <a:off x="4023360" y="5588813"/>
            <a:ext cx="54864" cy="272491"/>
          </a:xfrm>
          <a:prstGeom prst="rect">
            <a:avLst/>
          </a:prstGeom>
          <a:solidFill>
            <a:srgbClr val="C2352F"/>
          </a:solidFill>
          <a:ln/>
        </p:spPr>
      </p:sp>
      <p:sp>
        <p:nvSpPr>
          <p:cNvPr id="54" name="Shape 52"/>
          <p:cNvSpPr/>
          <p:nvPr/>
        </p:nvSpPr>
        <p:spPr>
          <a:xfrm>
            <a:off x="4251960" y="1207008"/>
            <a:ext cx="3685032" cy="4782312"/>
          </a:xfrm>
          <a:prstGeom prst="rect">
            <a:avLst/>
          </a:prstGeom>
          <a:solidFill>
            <a:srgbClr val="FFFFFF"/>
          </a:solidFill>
          <a:ln/>
        </p:spPr>
      </p:sp>
      <p:sp>
        <p:nvSpPr>
          <p:cNvPr id="55" name="Text 53"/>
          <p:cNvSpPr txBox="1"/>
          <p:nvPr/>
        </p:nvSpPr>
        <p:spPr>
          <a:xfrm>
            <a:off x="441655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TRANSFER PICKUP RATE</a:t>
            </a:r>
            <a:endParaRPr lang="en-US" sz="1400" dirty="0"/>
          </a:p>
        </p:txBody>
      </p:sp>
      <p:sp>
        <p:nvSpPr>
          <p:cNvPr id="56" name="Text 54"/>
          <p:cNvSpPr txBox="1"/>
          <p:nvPr/>
        </p:nvSpPr>
        <p:spPr>
          <a:xfrm>
            <a:off x="441655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47.7%</a:t>
            </a:r>
            <a:endParaRPr lang="en-US" sz="1400" dirty="0"/>
          </a:p>
        </p:txBody>
      </p:sp>
      <p:sp>
        <p:nvSpPr>
          <p:cNvPr id="57" name="Shape 55"/>
          <p:cNvSpPr/>
          <p:nvPr/>
        </p:nvSpPr>
        <p:spPr>
          <a:xfrm>
            <a:off x="4416552" y="1911096"/>
            <a:ext cx="3355848" cy="22860"/>
          </a:xfrm>
          <a:prstGeom prst="rect">
            <a:avLst/>
          </a:prstGeom>
          <a:solidFill>
            <a:srgbClr val="12A566"/>
          </a:solidFill>
          <a:ln/>
        </p:spPr>
      </p:sp>
      <p:sp>
        <p:nvSpPr>
          <p:cNvPr id="58" name="Text 56"/>
          <p:cNvSpPr txBox="1"/>
          <p:nvPr/>
        </p:nvSpPr>
        <p:spPr>
          <a:xfrm>
            <a:off x="441655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59" name="Text 57"/>
          <p:cNvSpPr txBox="1"/>
          <p:nvPr/>
        </p:nvSpPr>
        <p:spPr>
          <a:xfrm>
            <a:off x="610819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60" name="Text 58"/>
          <p:cNvSpPr txBox="1"/>
          <p:nvPr/>
        </p:nvSpPr>
        <p:spPr>
          <a:xfrm>
            <a:off x="685800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61" name="Text 59"/>
          <p:cNvSpPr txBox="1"/>
          <p:nvPr/>
        </p:nvSpPr>
        <p:spPr>
          <a:xfrm>
            <a:off x="441655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2" name="Text 60"/>
          <p:cNvSpPr txBox="1"/>
          <p:nvPr/>
        </p:nvSpPr>
        <p:spPr>
          <a:xfrm>
            <a:off x="610819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77.1%</a:t>
            </a:r>
            <a:endParaRPr lang="en-US" sz="1300" dirty="0"/>
          </a:p>
        </p:txBody>
      </p:sp>
      <p:sp>
        <p:nvSpPr>
          <p:cNvPr id="63" name="Text 61"/>
          <p:cNvSpPr txBox="1"/>
          <p:nvPr/>
        </p:nvSpPr>
        <p:spPr>
          <a:xfrm>
            <a:off x="685800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876</a:t>
            </a:r>
            <a:endParaRPr lang="en-US" sz="1200" dirty="0"/>
          </a:p>
        </p:txBody>
      </p:sp>
      <p:sp>
        <p:nvSpPr>
          <p:cNvPr id="64" name="Shape 62"/>
          <p:cNvSpPr/>
          <p:nvPr/>
        </p:nvSpPr>
        <p:spPr>
          <a:xfrm>
            <a:off x="7818120" y="2203704"/>
            <a:ext cx="54864" cy="272491"/>
          </a:xfrm>
          <a:prstGeom prst="rect">
            <a:avLst/>
          </a:prstGeom>
          <a:solidFill>
            <a:srgbClr val="12A566"/>
          </a:solidFill>
          <a:ln/>
        </p:spPr>
      </p:sp>
      <p:sp>
        <p:nvSpPr>
          <p:cNvPr id="65" name="Text 63"/>
          <p:cNvSpPr txBox="1"/>
          <p:nvPr/>
        </p:nvSpPr>
        <p:spPr>
          <a:xfrm>
            <a:off x="441655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6" name="Text 64"/>
          <p:cNvSpPr txBox="1"/>
          <p:nvPr/>
        </p:nvSpPr>
        <p:spPr>
          <a:xfrm>
            <a:off x="610819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74.8%</a:t>
            </a:r>
            <a:endParaRPr lang="en-US" sz="1300" dirty="0"/>
          </a:p>
        </p:txBody>
      </p:sp>
      <p:sp>
        <p:nvSpPr>
          <p:cNvPr id="67" name="Text 65"/>
          <p:cNvSpPr txBox="1"/>
          <p:nvPr/>
        </p:nvSpPr>
        <p:spPr>
          <a:xfrm>
            <a:off x="685800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6,915</a:t>
            </a:r>
            <a:endParaRPr lang="en-US" sz="1200" dirty="0"/>
          </a:p>
        </p:txBody>
      </p:sp>
      <p:sp>
        <p:nvSpPr>
          <p:cNvPr id="68" name="Shape 66"/>
          <p:cNvSpPr/>
          <p:nvPr/>
        </p:nvSpPr>
        <p:spPr>
          <a:xfrm>
            <a:off x="7818120" y="2549347"/>
            <a:ext cx="54864" cy="272491"/>
          </a:xfrm>
          <a:prstGeom prst="rect">
            <a:avLst/>
          </a:prstGeom>
          <a:solidFill>
            <a:srgbClr val="12A566"/>
          </a:solidFill>
          <a:ln/>
        </p:spPr>
      </p:sp>
      <p:sp>
        <p:nvSpPr>
          <p:cNvPr id="69" name="Text 67"/>
          <p:cNvSpPr txBox="1"/>
          <p:nvPr/>
        </p:nvSpPr>
        <p:spPr>
          <a:xfrm>
            <a:off x="441655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70" name="Text 68"/>
          <p:cNvSpPr txBox="1"/>
          <p:nvPr/>
        </p:nvSpPr>
        <p:spPr>
          <a:xfrm>
            <a:off x="610819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63.5%</a:t>
            </a:r>
            <a:endParaRPr lang="en-US" sz="1300" dirty="0"/>
          </a:p>
        </p:txBody>
      </p:sp>
      <p:sp>
        <p:nvSpPr>
          <p:cNvPr id="71" name="Text 69"/>
          <p:cNvSpPr txBox="1"/>
          <p:nvPr/>
        </p:nvSpPr>
        <p:spPr>
          <a:xfrm>
            <a:off x="685800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1,030</a:t>
            </a:r>
            <a:endParaRPr lang="en-US" sz="1200" dirty="0"/>
          </a:p>
        </p:txBody>
      </p:sp>
      <p:sp>
        <p:nvSpPr>
          <p:cNvPr id="72" name="Shape 70"/>
          <p:cNvSpPr/>
          <p:nvPr/>
        </p:nvSpPr>
        <p:spPr>
          <a:xfrm>
            <a:off x="7818120" y="2894990"/>
            <a:ext cx="54864" cy="272491"/>
          </a:xfrm>
          <a:prstGeom prst="rect">
            <a:avLst/>
          </a:prstGeom>
          <a:solidFill>
            <a:srgbClr val="12A566"/>
          </a:solidFill>
          <a:ln/>
        </p:spPr>
      </p:sp>
      <p:sp>
        <p:nvSpPr>
          <p:cNvPr id="73" name="Text 71"/>
          <p:cNvSpPr txBox="1"/>
          <p:nvPr/>
        </p:nvSpPr>
        <p:spPr>
          <a:xfrm>
            <a:off x="441655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4" name="Text 72"/>
          <p:cNvSpPr txBox="1"/>
          <p:nvPr/>
        </p:nvSpPr>
        <p:spPr>
          <a:xfrm>
            <a:off x="610819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57.3%</a:t>
            </a:r>
            <a:endParaRPr lang="en-US" sz="1300" dirty="0"/>
          </a:p>
        </p:txBody>
      </p:sp>
      <p:sp>
        <p:nvSpPr>
          <p:cNvPr id="75" name="Text 73"/>
          <p:cNvSpPr txBox="1"/>
          <p:nvPr/>
        </p:nvSpPr>
        <p:spPr>
          <a:xfrm>
            <a:off x="685800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696</a:t>
            </a:r>
            <a:endParaRPr lang="en-US" sz="1200" dirty="0"/>
          </a:p>
        </p:txBody>
      </p:sp>
      <p:sp>
        <p:nvSpPr>
          <p:cNvPr id="76" name="Shape 74"/>
          <p:cNvSpPr/>
          <p:nvPr/>
        </p:nvSpPr>
        <p:spPr>
          <a:xfrm>
            <a:off x="7818120" y="3240634"/>
            <a:ext cx="54864" cy="272491"/>
          </a:xfrm>
          <a:prstGeom prst="rect">
            <a:avLst/>
          </a:prstGeom>
          <a:solidFill>
            <a:srgbClr val="12A566"/>
          </a:solidFill>
          <a:ln/>
        </p:spPr>
      </p:sp>
      <p:sp>
        <p:nvSpPr>
          <p:cNvPr id="77" name="Text 75"/>
          <p:cNvSpPr txBox="1"/>
          <p:nvPr/>
        </p:nvSpPr>
        <p:spPr>
          <a:xfrm>
            <a:off x="441655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78" name="Text 76"/>
          <p:cNvSpPr txBox="1"/>
          <p:nvPr/>
        </p:nvSpPr>
        <p:spPr>
          <a:xfrm>
            <a:off x="610819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54.2%</a:t>
            </a:r>
            <a:endParaRPr lang="en-US" sz="1300" dirty="0"/>
          </a:p>
        </p:txBody>
      </p:sp>
      <p:sp>
        <p:nvSpPr>
          <p:cNvPr id="79" name="Text 77"/>
          <p:cNvSpPr txBox="1"/>
          <p:nvPr/>
        </p:nvSpPr>
        <p:spPr>
          <a:xfrm>
            <a:off x="685800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1,171</a:t>
            </a:r>
            <a:endParaRPr lang="en-US" sz="1200" dirty="0"/>
          </a:p>
        </p:txBody>
      </p:sp>
      <p:sp>
        <p:nvSpPr>
          <p:cNvPr id="80" name="Shape 78"/>
          <p:cNvSpPr/>
          <p:nvPr/>
        </p:nvSpPr>
        <p:spPr>
          <a:xfrm>
            <a:off x="4416552" y="3913632"/>
            <a:ext cx="3355848" cy="22860"/>
          </a:xfrm>
          <a:prstGeom prst="rect">
            <a:avLst/>
          </a:prstGeom>
          <a:solidFill>
            <a:srgbClr val="C2352F"/>
          </a:solidFill>
          <a:ln/>
        </p:spPr>
      </p:sp>
      <p:sp>
        <p:nvSpPr>
          <p:cNvPr id="81" name="Text 79"/>
          <p:cNvSpPr txBox="1"/>
          <p:nvPr/>
        </p:nvSpPr>
        <p:spPr>
          <a:xfrm>
            <a:off x="441655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82" name="Text 80"/>
          <p:cNvSpPr txBox="1"/>
          <p:nvPr/>
        </p:nvSpPr>
        <p:spPr>
          <a:xfrm>
            <a:off x="610819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3" name="Text 81"/>
          <p:cNvSpPr txBox="1"/>
          <p:nvPr/>
        </p:nvSpPr>
        <p:spPr>
          <a:xfrm>
            <a:off x="685800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84" name="Text 82"/>
          <p:cNvSpPr txBox="1"/>
          <p:nvPr/>
        </p:nvSpPr>
        <p:spPr>
          <a:xfrm>
            <a:off x="441655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5" name="Text 83"/>
          <p:cNvSpPr txBox="1"/>
          <p:nvPr/>
        </p:nvSpPr>
        <p:spPr>
          <a:xfrm>
            <a:off x="610819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21.9%</a:t>
            </a:r>
            <a:endParaRPr lang="en-US" sz="1300" dirty="0"/>
          </a:p>
        </p:txBody>
      </p:sp>
      <p:sp>
        <p:nvSpPr>
          <p:cNvPr id="86" name="Text 84"/>
          <p:cNvSpPr txBox="1"/>
          <p:nvPr/>
        </p:nvSpPr>
        <p:spPr>
          <a:xfrm>
            <a:off x="685800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1,075</a:t>
            </a:r>
            <a:endParaRPr lang="en-US" sz="1200" dirty="0"/>
          </a:p>
        </p:txBody>
      </p:sp>
      <p:sp>
        <p:nvSpPr>
          <p:cNvPr id="87" name="Shape 85"/>
          <p:cNvSpPr/>
          <p:nvPr/>
        </p:nvSpPr>
        <p:spPr>
          <a:xfrm>
            <a:off x="7818120" y="4206240"/>
            <a:ext cx="54864" cy="272491"/>
          </a:xfrm>
          <a:prstGeom prst="rect">
            <a:avLst/>
          </a:prstGeom>
          <a:solidFill>
            <a:srgbClr val="C2352F"/>
          </a:solidFill>
          <a:ln/>
        </p:spPr>
      </p:sp>
      <p:sp>
        <p:nvSpPr>
          <p:cNvPr id="88" name="Text 86"/>
          <p:cNvSpPr txBox="1"/>
          <p:nvPr/>
        </p:nvSpPr>
        <p:spPr>
          <a:xfrm>
            <a:off x="441655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9" name="Text 87"/>
          <p:cNvSpPr txBox="1"/>
          <p:nvPr/>
        </p:nvSpPr>
        <p:spPr>
          <a:xfrm>
            <a:off x="610819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26.3%</a:t>
            </a:r>
            <a:endParaRPr lang="en-US" sz="1300" dirty="0"/>
          </a:p>
        </p:txBody>
      </p:sp>
      <p:sp>
        <p:nvSpPr>
          <p:cNvPr id="90" name="Text 88"/>
          <p:cNvSpPr txBox="1"/>
          <p:nvPr/>
        </p:nvSpPr>
        <p:spPr>
          <a:xfrm>
            <a:off x="685800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1,809</a:t>
            </a:r>
            <a:endParaRPr lang="en-US" sz="1200" dirty="0"/>
          </a:p>
        </p:txBody>
      </p:sp>
      <p:sp>
        <p:nvSpPr>
          <p:cNvPr id="91" name="Text 89"/>
          <p:cNvSpPr txBox="1"/>
          <p:nvPr/>
        </p:nvSpPr>
        <p:spPr>
          <a:xfrm>
            <a:off x="441655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Las Vegas</a:t>
            </a:r>
            <a:endParaRPr lang="en-US" sz="1300" dirty="0"/>
          </a:p>
        </p:txBody>
      </p:sp>
      <p:sp>
        <p:nvSpPr>
          <p:cNvPr id="92" name="Text 90"/>
          <p:cNvSpPr txBox="1"/>
          <p:nvPr/>
        </p:nvSpPr>
        <p:spPr>
          <a:xfrm>
            <a:off x="610819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27.2%</a:t>
            </a:r>
            <a:endParaRPr lang="en-US" sz="1300" dirty="0"/>
          </a:p>
        </p:txBody>
      </p:sp>
      <p:sp>
        <p:nvSpPr>
          <p:cNvPr id="93" name="Text 91"/>
          <p:cNvSpPr txBox="1"/>
          <p:nvPr/>
        </p:nvSpPr>
        <p:spPr>
          <a:xfrm>
            <a:off x="685800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5,450</a:t>
            </a:r>
            <a:endParaRPr lang="en-US" sz="1200" dirty="0"/>
          </a:p>
        </p:txBody>
      </p:sp>
      <p:sp>
        <p:nvSpPr>
          <p:cNvPr id="94" name="Text 92"/>
          <p:cNvSpPr txBox="1"/>
          <p:nvPr/>
        </p:nvSpPr>
        <p:spPr>
          <a:xfrm>
            <a:off x="441655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95" name="Text 93"/>
          <p:cNvSpPr txBox="1"/>
          <p:nvPr/>
        </p:nvSpPr>
        <p:spPr>
          <a:xfrm>
            <a:off x="610819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27.4%</a:t>
            </a:r>
            <a:endParaRPr lang="en-US" sz="1300" dirty="0"/>
          </a:p>
        </p:txBody>
      </p:sp>
      <p:sp>
        <p:nvSpPr>
          <p:cNvPr id="96" name="Text 94"/>
          <p:cNvSpPr txBox="1"/>
          <p:nvPr/>
        </p:nvSpPr>
        <p:spPr>
          <a:xfrm>
            <a:off x="685800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2,247</a:t>
            </a:r>
            <a:endParaRPr lang="en-US" sz="1200" dirty="0"/>
          </a:p>
        </p:txBody>
      </p:sp>
      <p:sp>
        <p:nvSpPr>
          <p:cNvPr id="97" name="Shape 95"/>
          <p:cNvSpPr/>
          <p:nvPr/>
        </p:nvSpPr>
        <p:spPr>
          <a:xfrm>
            <a:off x="7818120" y="5243170"/>
            <a:ext cx="54864" cy="272491"/>
          </a:xfrm>
          <a:prstGeom prst="rect">
            <a:avLst/>
          </a:prstGeom>
          <a:solidFill>
            <a:srgbClr val="C2352F"/>
          </a:solidFill>
          <a:ln/>
        </p:spPr>
      </p:sp>
      <p:sp>
        <p:nvSpPr>
          <p:cNvPr id="98" name="Text 96"/>
          <p:cNvSpPr txBox="1"/>
          <p:nvPr/>
        </p:nvSpPr>
        <p:spPr>
          <a:xfrm>
            <a:off x="441655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Jeep Post Falls</a:t>
            </a:r>
            <a:endParaRPr lang="en-US" sz="1300" dirty="0"/>
          </a:p>
        </p:txBody>
      </p:sp>
      <p:sp>
        <p:nvSpPr>
          <p:cNvPr id="99" name="Text 97"/>
          <p:cNvSpPr txBox="1"/>
          <p:nvPr/>
        </p:nvSpPr>
        <p:spPr>
          <a:xfrm>
            <a:off x="610819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32.9%</a:t>
            </a:r>
            <a:endParaRPr lang="en-US" sz="1300" dirty="0"/>
          </a:p>
        </p:txBody>
      </p:sp>
      <p:sp>
        <p:nvSpPr>
          <p:cNvPr id="100" name="Text 98"/>
          <p:cNvSpPr txBox="1"/>
          <p:nvPr/>
        </p:nvSpPr>
        <p:spPr>
          <a:xfrm>
            <a:off x="685800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896</a:t>
            </a:r>
            <a:endParaRPr lang="en-US" sz="1200" dirty="0"/>
          </a:p>
        </p:txBody>
      </p:sp>
      <p:sp>
        <p:nvSpPr>
          <p:cNvPr id="101" name="Shape 99"/>
          <p:cNvSpPr/>
          <p:nvPr/>
        </p:nvSpPr>
        <p:spPr>
          <a:xfrm>
            <a:off x="7818120" y="5588813"/>
            <a:ext cx="54864" cy="272491"/>
          </a:xfrm>
          <a:prstGeom prst="rect">
            <a:avLst/>
          </a:prstGeom>
          <a:solidFill>
            <a:srgbClr val="C2352F"/>
          </a:solidFill>
          <a:ln/>
        </p:spPr>
      </p:sp>
      <p:sp>
        <p:nvSpPr>
          <p:cNvPr id="102" name="Shape 100"/>
          <p:cNvSpPr/>
          <p:nvPr/>
        </p:nvSpPr>
        <p:spPr>
          <a:xfrm>
            <a:off x="8046720" y="1207008"/>
            <a:ext cx="3685032" cy="4782312"/>
          </a:xfrm>
          <a:prstGeom prst="rect">
            <a:avLst/>
          </a:prstGeom>
          <a:solidFill>
            <a:srgbClr val="FFFFFF"/>
          </a:solidFill>
          <a:ln/>
        </p:spPr>
      </p:sp>
      <p:sp>
        <p:nvSpPr>
          <p:cNvPr id="103" name="Text 101"/>
          <p:cNvSpPr txBox="1"/>
          <p:nvPr/>
        </p:nvSpPr>
        <p:spPr>
          <a:xfrm>
            <a:off x="8211312" y="1298448"/>
            <a:ext cx="3355848" cy="274320"/>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CALLBACK RESOLUTION</a:t>
            </a:r>
            <a:endParaRPr lang="en-US" sz="1400" dirty="0"/>
          </a:p>
        </p:txBody>
      </p:sp>
      <p:sp>
        <p:nvSpPr>
          <p:cNvPr id="104" name="Text 102"/>
          <p:cNvSpPr txBox="1"/>
          <p:nvPr/>
        </p:nvSpPr>
        <p:spPr>
          <a:xfrm>
            <a:off x="8211312" y="1572768"/>
            <a:ext cx="3355848" cy="237744"/>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98.2% · 6 stores at 100%</a:t>
            </a:r>
            <a:endParaRPr lang="en-US" sz="1400" dirty="0"/>
          </a:p>
        </p:txBody>
      </p:sp>
      <p:sp>
        <p:nvSpPr>
          <p:cNvPr id="105" name="Shape 103"/>
          <p:cNvSpPr/>
          <p:nvPr/>
        </p:nvSpPr>
        <p:spPr>
          <a:xfrm>
            <a:off x="8211312" y="1911096"/>
            <a:ext cx="3355848" cy="22860"/>
          </a:xfrm>
          <a:prstGeom prst="rect">
            <a:avLst/>
          </a:prstGeom>
          <a:solidFill>
            <a:srgbClr val="12A566"/>
          </a:solidFill>
          <a:ln/>
        </p:spPr>
      </p:sp>
      <p:sp>
        <p:nvSpPr>
          <p:cNvPr id="106" name="Text 104"/>
          <p:cNvSpPr txBox="1"/>
          <p:nvPr/>
        </p:nvSpPr>
        <p:spPr>
          <a:xfrm>
            <a:off x="8211312" y="1938528"/>
            <a:ext cx="1828800" cy="219456"/>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TOP 5</a:t>
            </a:r>
            <a:endParaRPr lang="en-US" sz="1400" dirty="0"/>
          </a:p>
        </p:txBody>
      </p:sp>
      <p:sp>
        <p:nvSpPr>
          <p:cNvPr id="107" name="Text 105"/>
          <p:cNvSpPr txBox="1"/>
          <p:nvPr/>
        </p:nvSpPr>
        <p:spPr>
          <a:xfrm>
            <a:off x="9902952" y="1938528"/>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08" name="Text 106"/>
          <p:cNvSpPr txBox="1"/>
          <p:nvPr/>
        </p:nvSpPr>
        <p:spPr>
          <a:xfrm>
            <a:off x="10652760" y="1938528"/>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Calls</a:t>
            </a:r>
            <a:endParaRPr lang="en-US" sz="1400" dirty="0"/>
          </a:p>
        </p:txBody>
      </p:sp>
      <p:sp>
        <p:nvSpPr>
          <p:cNvPr id="109" name="Text 107"/>
          <p:cNvSpPr txBox="1"/>
          <p:nvPr/>
        </p:nvSpPr>
        <p:spPr>
          <a:xfrm>
            <a:off x="8211312" y="216712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Las Vegas</a:t>
            </a:r>
            <a:endParaRPr lang="en-US" sz="1300" dirty="0"/>
          </a:p>
        </p:txBody>
      </p:sp>
      <p:sp>
        <p:nvSpPr>
          <p:cNvPr id="110" name="Text 108"/>
          <p:cNvSpPr txBox="1"/>
          <p:nvPr/>
        </p:nvSpPr>
        <p:spPr>
          <a:xfrm>
            <a:off x="9902952" y="216712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1" name="Text 109"/>
          <p:cNvSpPr txBox="1"/>
          <p:nvPr/>
        </p:nvSpPr>
        <p:spPr>
          <a:xfrm>
            <a:off x="10652760" y="216712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1,570</a:t>
            </a:r>
            <a:endParaRPr lang="en-US" sz="1200" dirty="0"/>
          </a:p>
        </p:txBody>
      </p:sp>
      <p:sp>
        <p:nvSpPr>
          <p:cNvPr id="112" name="Text 110"/>
          <p:cNvSpPr txBox="1"/>
          <p:nvPr/>
        </p:nvSpPr>
        <p:spPr>
          <a:xfrm>
            <a:off x="8211312" y="251277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13" name="Text 111"/>
          <p:cNvSpPr txBox="1"/>
          <p:nvPr/>
        </p:nvSpPr>
        <p:spPr>
          <a:xfrm>
            <a:off x="9902952" y="251277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4" name="Text 112"/>
          <p:cNvSpPr txBox="1"/>
          <p:nvPr/>
        </p:nvSpPr>
        <p:spPr>
          <a:xfrm>
            <a:off x="10652760" y="251277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1,565</a:t>
            </a:r>
            <a:endParaRPr lang="en-US" sz="1200" dirty="0"/>
          </a:p>
        </p:txBody>
      </p:sp>
      <p:sp>
        <p:nvSpPr>
          <p:cNvPr id="115" name="Text 113"/>
          <p:cNvSpPr txBox="1"/>
          <p:nvPr/>
        </p:nvSpPr>
        <p:spPr>
          <a:xfrm>
            <a:off x="8211312" y="285841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Text 114"/>
          <p:cNvSpPr txBox="1"/>
          <p:nvPr/>
        </p:nvSpPr>
        <p:spPr>
          <a:xfrm>
            <a:off x="9902952" y="2858414"/>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17" name="Text 115"/>
          <p:cNvSpPr txBox="1"/>
          <p:nvPr/>
        </p:nvSpPr>
        <p:spPr>
          <a:xfrm>
            <a:off x="10652760" y="285841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1,458</a:t>
            </a:r>
            <a:endParaRPr lang="en-US" sz="1200" dirty="0"/>
          </a:p>
        </p:txBody>
      </p:sp>
      <p:sp>
        <p:nvSpPr>
          <p:cNvPr id="118" name="Text 116"/>
          <p:cNvSpPr txBox="1"/>
          <p:nvPr/>
        </p:nvSpPr>
        <p:spPr>
          <a:xfrm>
            <a:off x="8211312" y="3204058"/>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of Las Vegas</a:t>
            </a:r>
            <a:endParaRPr lang="en-US" sz="1300" dirty="0"/>
          </a:p>
        </p:txBody>
      </p:sp>
      <p:sp>
        <p:nvSpPr>
          <p:cNvPr id="119" name="Text 117"/>
          <p:cNvSpPr txBox="1"/>
          <p:nvPr/>
        </p:nvSpPr>
        <p:spPr>
          <a:xfrm>
            <a:off x="9902952" y="3204058"/>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0" name="Text 118"/>
          <p:cNvSpPr txBox="1"/>
          <p:nvPr/>
        </p:nvSpPr>
        <p:spPr>
          <a:xfrm>
            <a:off x="10652760" y="3204058"/>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1,120</a:t>
            </a:r>
            <a:endParaRPr lang="en-US" sz="1200" dirty="0"/>
          </a:p>
        </p:txBody>
      </p:sp>
      <p:sp>
        <p:nvSpPr>
          <p:cNvPr id="121" name="Text 119"/>
          <p:cNvSpPr txBox="1"/>
          <p:nvPr/>
        </p:nvSpPr>
        <p:spPr>
          <a:xfrm>
            <a:off x="8211312" y="3549701"/>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Land Rover Reno</a:t>
            </a:r>
            <a:endParaRPr lang="en-US" sz="1300" dirty="0"/>
          </a:p>
        </p:txBody>
      </p:sp>
      <p:sp>
        <p:nvSpPr>
          <p:cNvPr id="122" name="Text 120"/>
          <p:cNvSpPr txBox="1"/>
          <p:nvPr/>
        </p:nvSpPr>
        <p:spPr>
          <a:xfrm>
            <a:off x="9902952" y="3549701"/>
            <a:ext cx="731520" cy="345643"/>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100.0%</a:t>
            </a:r>
            <a:endParaRPr lang="en-US" sz="1300" dirty="0"/>
          </a:p>
        </p:txBody>
      </p:sp>
      <p:sp>
        <p:nvSpPr>
          <p:cNvPr id="123" name="Text 121"/>
          <p:cNvSpPr txBox="1"/>
          <p:nvPr/>
        </p:nvSpPr>
        <p:spPr>
          <a:xfrm>
            <a:off x="10652760" y="3549701"/>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911</a:t>
            </a:r>
            <a:endParaRPr lang="en-US" sz="1200" dirty="0"/>
          </a:p>
        </p:txBody>
      </p:sp>
      <p:sp>
        <p:nvSpPr>
          <p:cNvPr id="124" name="Shape 122"/>
          <p:cNvSpPr/>
          <p:nvPr/>
        </p:nvSpPr>
        <p:spPr>
          <a:xfrm>
            <a:off x="8211312" y="3913632"/>
            <a:ext cx="3355848" cy="22860"/>
          </a:xfrm>
          <a:prstGeom prst="rect">
            <a:avLst/>
          </a:prstGeom>
          <a:solidFill>
            <a:srgbClr val="C2352F"/>
          </a:solidFill>
          <a:ln/>
        </p:spPr>
      </p:sp>
      <p:sp>
        <p:nvSpPr>
          <p:cNvPr id="125" name="Text 123"/>
          <p:cNvSpPr txBox="1"/>
          <p:nvPr/>
        </p:nvSpPr>
        <p:spPr>
          <a:xfrm>
            <a:off x="8211312" y="3941064"/>
            <a:ext cx="1828800" cy="219456"/>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BOTTOM 5</a:t>
            </a:r>
            <a:endParaRPr lang="en-US" sz="1400" dirty="0"/>
          </a:p>
        </p:txBody>
      </p:sp>
      <p:sp>
        <p:nvSpPr>
          <p:cNvPr id="126" name="Text 124"/>
          <p:cNvSpPr txBox="1"/>
          <p:nvPr/>
        </p:nvSpPr>
        <p:spPr>
          <a:xfrm>
            <a:off x="9902952" y="3941064"/>
            <a:ext cx="73152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27" name="Text 125"/>
          <p:cNvSpPr txBox="1"/>
          <p:nvPr/>
        </p:nvSpPr>
        <p:spPr>
          <a:xfrm>
            <a:off x="10652760" y="3941064"/>
            <a:ext cx="914400" cy="219456"/>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Open</a:t>
            </a:r>
            <a:endParaRPr lang="en-US" sz="1400" dirty="0"/>
          </a:p>
        </p:txBody>
      </p:sp>
      <p:sp>
        <p:nvSpPr>
          <p:cNvPr id="128" name="Text 126"/>
          <p:cNvSpPr txBox="1"/>
          <p:nvPr/>
        </p:nvSpPr>
        <p:spPr>
          <a:xfrm>
            <a:off x="8211312" y="416966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29" name="Text 127"/>
          <p:cNvSpPr txBox="1"/>
          <p:nvPr/>
        </p:nvSpPr>
        <p:spPr>
          <a:xfrm>
            <a:off x="9902952" y="416966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44.0%</a:t>
            </a:r>
            <a:endParaRPr lang="en-US" sz="1300" dirty="0"/>
          </a:p>
        </p:txBody>
      </p:sp>
      <p:sp>
        <p:nvSpPr>
          <p:cNvPr id="130" name="Text 128"/>
          <p:cNvSpPr txBox="1"/>
          <p:nvPr/>
        </p:nvSpPr>
        <p:spPr>
          <a:xfrm>
            <a:off x="10652760" y="416966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158</a:t>
            </a:r>
            <a:endParaRPr lang="en-US" sz="1200" dirty="0"/>
          </a:p>
        </p:txBody>
      </p:sp>
      <p:sp>
        <p:nvSpPr>
          <p:cNvPr id="131" name="Text 129"/>
          <p:cNvSpPr txBox="1"/>
          <p:nvPr/>
        </p:nvSpPr>
        <p:spPr>
          <a:xfrm>
            <a:off x="8211312" y="451530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Prescott Hyundai</a:t>
            </a:r>
            <a:endParaRPr lang="en-US" sz="1300" dirty="0"/>
          </a:p>
        </p:txBody>
      </p:sp>
      <p:sp>
        <p:nvSpPr>
          <p:cNvPr id="132" name="Text 130"/>
          <p:cNvSpPr txBox="1"/>
          <p:nvPr/>
        </p:nvSpPr>
        <p:spPr>
          <a:xfrm>
            <a:off x="9902952" y="451530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78.2%</a:t>
            </a:r>
            <a:endParaRPr lang="en-US" sz="1300" dirty="0"/>
          </a:p>
        </p:txBody>
      </p:sp>
      <p:sp>
        <p:nvSpPr>
          <p:cNvPr id="133" name="Text 131"/>
          <p:cNvSpPr txBox="1"/>
          <p:nvPr/>
        </p:nvSpPr>
        <p:spPr>
          <a:xfrm>
            <a:off x="10652760" y="451530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114</a:t>
            </a:r>
            <a:endParaRPr lang="en-US" sz="1200" dirty="0"/>
          </a:p>
        </p:txBody>
      </p:sp>
      <p:sp>
        <p:nvSpPr>
          <p:cNvPr id="134" name="Text 132"/>
          <p:cNvSpPr txBox="1"/>
          <p:nvPr/>
        </p:nvSpPr>
        <p:spPr>
          <a:xfrm>
            <a:off x="8211312" y="4860950"/>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CDR Post Falls</a:t>
            </a:r>
            <a:endParaRPr lang="en-US" sz="1300" dirty="0"/>
          </a:p>
        </p:txBody>
      </p:sp>
      <p:sp>
        <p:nvSpPr>
          <p:cNvPr id="135" name="Text 133"/>
          <p:cNvSpPr txBox="1"/>
          <p:nvPr/>
        </p:nvSpPr>
        <p:spPr>
          <a:xfrm>
            <a:off x="9902952" y="4860950"/>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94.0%</a:t>
            </a:r>
            <a:endParaRPr lang="en-US" sz="1300" dirty="0"/>
          </a:p>
        </p:txBody>
      </p:sp>
      <p:sp>
        <p:nvSpPr>
          <p:cNvPr id="136" name="Text 134"/>
          <p:cNvSpPr txBox="1"/>
          <p:nvPr/>
        </p:nvSpPr>
        <p:spPr>
          <a:xfrm>
            <a:off x="10652760" y="4860950"/>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57</a:t>
            </a:r>
            <a:endParaRPr lang="en-US" sz="1200" dirty="0"/>
          </a:p>
        </p:txBody>
      </p:sp>
      <p:sp>
        <p:nvSpPr>
          <p:cNvPr id="137" name="Shape 135"/>
          <p:cNvSpPr/>
          <p:nvPr/>
        </p:nvSpPr>
        <p:spPr>
          <a:xfrm>
            <a:off x="11612880" y="4897526"/>
            <a:ext cx="54864" cy="272491"/>
          </a:xfrm>
          <a:prstGeom prst="rect">
            <a:avLst/>
          </a:prstGeom>
          <a:solidFill>
            <a:srgbClr val="C2352F"/>
          </a:solidFill>
          <a:ln/>
        </p:spPr>
      </p:sp>
      <p:sp>
        <p:nvSpPr>
          <p:cNvPr id="138" name="Text 136"/>
          <p:cNvSpPr txBox="1"/>
          <p:nvPr/>
        </p:nvSpPr>
        <p:spPr>
          <a:xfrm>
            <a:off x="8211312" y="5206594"/>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 Tahoe</a:t>
            </a:r>
            <a:endParaRPr lang="en-US" sz="1300" dirty="0"/>
          </a:p>
        </p:txBody>
      </p:sp>
      <p:sp>
        <p:nvSpPr>
          <p:cNvPr id="139" name="Text 137"/>
          <p:cNvSpPr txBox="1"/>
          <p:nvPr/>
        </p:nvSpPr>
        <p:spPr>
          <a:xfrm>
            <a:off x="9902952" y="5206594"/>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96.5%</a:t>
            </a:r>
            <a:endParaRPr lang="en-US" sz="1300" dirty="0"/>
          </a:p>
        </p:txBody>
      </p:sp>
      <p:sp>
        <p:nvSpPr>
          <p:cNvPr id="140" name="Text 138"/>
          <p:cNvSpPr txBox="1"/>
          <p:nvPr/>
        </p:nvSpPr>
        <p:spPr>
          <a:xfrm>
            <a:off x="10652760" y="5206594"/>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30</a:t>
            </a:r>
            <a:endParaRPr lang="en-US" sz="1200" dirty="0"/>
          </a:p>
        </p:txBody>
      </p:sp>
      <p:sp>
        <p:nvSpPr>
          <p:cNvPr id="141" name="Shape 139"/>
          <p:cNvSpPr/>
          <p:nvPr/>
        </p:nvSpPr>
        <p:spPr>
          <a:xfrm>
            <a:off x="11612880" y="5243170"/>
            <a:ext cx="54864" cy="272491"/>
          </a:xfrm>
          <a:prstGeom prst="rect">
            <a:avLst/>
          </a:prstGeom>
          <a:solidFill>
            <a:srgbClr val="C2352F"/>
          </a:solidFill>
          <a:ln/>
        </p:spPr>
      </p:sp>
      <p:sp>
        <p:nvSpPr>
          <p:cNvPr id="142" name="Text 140"/>
          <p:cNvSpPr txBox="1"/>
          <p:nvPr/>
        </p:nvSpPr>
        <p:spPr>
          <a:xfrm>
            <a:off x="8211312" y="5552237"/>
            <a:ext cx="1673352" cy="345643"/>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3" name="Text 141"/>
          <p:cNvSpPr txBox="1"/>
          <p:nvPr/>
        </p:nvSpPr>
        <p:spPr>
          <a:xfrm>
            <a:off x="9902952" y="5552237"/>
            <a:ext cx="731520" cy="345643"/>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98.2%</a:t>
            </a:r>
            <a:endParaRPr lang="en-US" sz="1300" dirty="0"/>
          </a:p>
        </p:txBody>
      </p:sp>
      <p:sp>
        <p:nvSpPr>
          <p:cNvPr id="144" name="Text 142"/>
          <p:cNvSpPr txBox="1"/>
          <p:nvPr/>
        </p:nvSpPr>
        <p:spPr>
          <a:xfrm>
            <a:off x="10652760" y="5552237"/>
            <a:ext cx="914400" cy="345643"/>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a:t>
            </a:r>
            <a:endParaRPr lang="en-US" sz="1200" dirty="0"/>
          </a:p>
        </p:txBody>
      </p:sp>
      <p:sp>
        <p:nvSpPr>
          <p:cNvPr id="145" name="Shape 143"/>
          <p:cNvSpPr/>
          <p:nvPr/>
        </p:nvSpPr>
        <p:spPr>
          <a:xfrm>
            <a:off x="457200" y="6126480"/>
            <a:ext cx="11274552" cy="615696"/>
          </a:xfrm>
          <a:prstGeom prst="rect">
            <a:avLst/>
          </a:prstGeom>
          <a:solidFill>
            <a:srgbClr val="EDF4FA"/>
          </a:solidFill>
          <a:ln/>
        </p:spPr>
      </p:sp>
      <p:sp>
        <p:nvSpPr>
          <p:cNvPr id="146" name="Text 14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Chevy GMC Bullhead picks up 77.1% of transfers; Kia St George picks up 21.9%. Nissan and Prescott Hyundai hold 272 of the group's 484 open callbacks.</a:t>
            </a:r>
            <a:endParaRPr lang="en-US" sz="1600"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RO Count?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CP RO count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customer-pay repair orders closed in the period</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Every RO with a customer-pay line. One RO counts once, however many lines it has.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Everything else starts here: hours, ELR and $ per RO all multiply off the RO count.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shows whether the business is expanding or contracting: are customers coming back?</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Flat car count means growth has to come from selling more on each visit.</a:t>
            </a:r>
            <a:endParaRPr lang="en-US" sz="1600" dirty="0"/>
          </a:p>
        </p:txBody>
      </p:sp>
      <p:sp>
        <p:nvSpPr>
          <p:cNvPr id="13" name="Shape 11"/>
          <p:cNvSpPr/>
          <p:nvPr/>
        </p:nvSpPr>
        <p:spPr>
          <a:xfrm>
            <a:off x="5138928" y="2843784"/>
            <a:ext cx="45720" cy="801942"/>
          </a:xfrm>
          <a:prstGeom prst="rect">
            <a:avLst/>
          </a:prstGeom>
          <a:solidFill>
            <a:srgbClr val="2587C5"/>
          </a:solidFill>
          <a:ln/>
        </p:spPr>
      </p:sp>
      <p:sp>
        <p:nvSpPr>
          <p:cNvPr id="14" name="Text 12"/>
          <p:cNvSpPr txBox="1"/>
          <p:nvPr/>
        </p:nvSpPr>
        <p:spPr>
          <a:xfrm>
            <a:off x="5266944"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Appointment availability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Same-day and next-day slots; an easy online scheduler</a:t>
            </a:r>
            <a:endParaRPr lang="en-US" sz="1400" dirty="0"/>
          </a:p>
        </p:txBody>
      </p:sp>
      <p:sp>
        <p:nvSpPr>
          <p:cNvPr id="15" name="Shape 13"/>
          <p:cNvSpPr/>
          <p:nvPr/>
        </p:nvSpPr>
        <p:spPr>
          <a:xfrm>
            <a:off x="8394192" y="2843784"/>
            <a:ext cx="45720" cy="801942"/>
          </a:xfrm>
          <a:prstGeom prst="rect">
            <a:avLst/>
          </a:prstGeom>
          <a:solidFill>
            <a:srgbClr val="2587C5"/>
          </a:solidFill>
          <a:ln/>
        </p:spPr>
      </p:sp>
      <p:sp>
        <p:nvSpPr>
          <p:cNvPr id="16" name="Text 14"/>
          <p:cNvSpPr txBox="1"/>
          <p:nvPr/>
        </p:nvSpPr>
        <p:spPr>
          <a:xfrm>
            <a:off x="8522208" y="2843784"/>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Phone handling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call answered, and every caller asked for the appointment</a:t>
            </a:r>
            <a:endParaRPr lang="en-US" sz="1400" dirty="0"/>
          </a:p>
        </p:txBody>
      </p:sp>
      <p:sp>
        <p:nvSpPr>
          <p:cNvPr id="17" name="Shape 15"/>
          <p:cNvSpPr/>
          <p:nvPr/>
        </p:nvSpPr>
        <p:spPr>
          <a:xfrm>
            <a:off x="5138928" y="3755454"/>
            <a:ext cx="45720" cy="1121027"/>
          </a:xfrm>
          <a:prstGeom prst="rect">
            <a:avLst/>
          </a:prstGeom>
          <a:solidFill>
            <a:srgbClr val="2587C5"/>
          </a:solidFill>
          <a:ln/>
        </p:spPr>
      </p:sp>
      <p:sp>
        <p:nvSpPr>
          <p:cNvPr id="18" name="Text 16"/>
          <p:cNvSpPr txBox="1"/>
          <p:nvPr/>
        </p:nvSpPr>
        <p:spPr>
          <a:xfrm>
            <a:off x="5266944"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Retention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Proactive outreach and ongoing engagement: lapsed, inactive and sold-not-serviced customers (VizAuto retention app)</a:t>
            </a:r>
            <a:endParaRPr lang="en-US" sz="1400" dirty="0"/>
          </a:p>
        </p:txBody>
      </p:sp>
      <p:sp>
        <p:nvSpPr>
          <p:cNvPr id="19" name="Shape 17"/>
          <p:cNvSpPr/>
          <p:nvPr/>
        </p:nvSpPr>
        <p:spPr>
          <a:xfrm>
            <a:off x="8394192" y="3755454"/>
            <a:ext cx="45720" cy="1121027"/>
          </a:xfrm>
          <a:prstGeom prst="rect">
            <a:avLst/>
          </a:prstGeom>
          <a:solidFill>
            <a:srgbClr val="2587C5"/>
          </a:solidFill>
          <a:ln/>
        </p:spPr>
      </p:sp>
      <p:sp>
        <p:nvSpPr>
          <p:cNvPr id="20" name="Text 18"/>
          <p:cNvSpPr txBox="1"/>
          <p:nvPr/>
        </p:nvSpPr>
        <p:spPr>
          <a:xfrm>
            <a:off x="8522208" y="375545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Next visit booked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First appointment at the sale; next one before the customer leaves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Quick maintenance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available on demand, done quickly and efficiently, keeps customers coming back</a:t>
            </a:r>
            <a:endParaRPr lang="en-US" sz="1400" dirty="0"/>
          </a:p>
        </p:txBody>
      </p:sp>
      <p:sp>
        <p:nvSpPr>
          <p:cNvPr id="23" name="Shape 21"/>
          <p:cNvSpPr/>
          <p:nvPr/>
        </p:nvSpPr>
        <p:spPr>
          <a:xfrm>
            <a:off x="8394192" y="4986210"/>
            <a:ext cx="45720" cy="801942"/>
          </a:xfrm>
          <a:prstGeom prst="rect">
            <a:avLst/>
          </a:prstGeom>
          <a:solidFill>
            <a:srgbClr val="2587C5"/>
          </a:solidFill>
          <a:ln/>
        </p:spPr>
      </p:sp>
      <p:sp>
        <p:nvSpPr>
          <p:cNvPr id="24" name="Text 22"/>
          <p:cNvSpPr txBox="1"/>
          <p:nvPr/>
        </p:nvSpPr>
        <p:spPr>
          <a:xfrm>
            <a:off x="8522208"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Marketing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Fixed ops budget, keyword search, OEM and third-party reminders</a:t>
            </a:r>
            <a:endParaRPr lang="en-US" sz="1400" dirty="0"/>
          </a:p>
        </p:txBody>
      </p:sp>
      <p:sp>
        <p:nvSpPr>
          <p:cNvPr id="25" name="Shape 23"/>
          <p:cNvSpPr/>
          <p:nvPr/>
        </p:nvSpPr>
        <p:spPr>
          <a:xfrm>
            <a:off x="457200" y="6126480"/>
            <a:ext cx="11274552" cy="371856"/>
          </a:xfrm>
          <a:prstGeom prst="rect">
            <a:avLst/>
          </a:prstGeom>
          <a:solidFill>
            <a:srgbClr val="EDF4FA"/>
          </a:solidFill>
          <a:ln/>
        </p:spPr>
      </p:sp>
      <p:sp>
        <p:nvSpPr>
          <p:cNvPr id="26" name="Text 24"/>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279,756 CP ROs, up 456 from 2025. Volume is flat.</a:t>
            </a:r>
            <a:endParaRPr lang="en-US" sz="1600" dirty="0"/>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51755"/>
            <a:ext cx="776079"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391651"/>
            <a:ext cx="67248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631546"/>
            <a:ext cx="59862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871442"/>
            <a:ext cx="521623"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111337"/>
            <a:ext cx="518420"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351233"/>
            <a:ext cx="490928"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6474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307648"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070920"/>
            <a:ext cx="280190"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310815"/>
            <a:ext cx="240227"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550711"/>
            <a:ext cx="217352"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4790606"/>
            <a:ext cx="196405"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030502"/>
            <a:ext cx="19130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270397"/>
            <a:ext cx="184589"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510293"/>
            <a:ext cx="18410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5750188"/>
            <a:ext cx="177251"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1860"/>
            <a:ext cx="17587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51755"/>
            <a:ext cx="157338"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391651"/>
            <a:ext cx="138838"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631546"/>
            <a:ext cx="134945"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871442"/>
            <a:ext cx="134773"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111337"/>
            <a:ext cx="130191"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351233"/>
            <a:ext cx="126470"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591128"/>
            <a:ext cx="120441"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3831024"/>
            <a:ext cx="117203"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070920"/>
            <a:ext cx="115377"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07039"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550711"/>
            <a:ext cx="90606"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4790606"/>
            <a:ext cx="6924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030502"/>
            <a:ext cx="6611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270397"/>
            <a:ext cx="5370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510293"/>
            <a:ext cx="48955"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53,084; LR Reno is smallest at 1,421.</a:t>
            </a:r>
            <a:endParaRPr lang="en-US" sz="1600" dirty="0"/>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1860"/>
            <a:ext cx="71947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66758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391651"/>
            <a:ext cx="556984"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53408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7723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111337"/>
            <a:ext cx="40819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351233"/>
            <a:ext cx="324532"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591128"/>
            <a:ext cx="29319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193177"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070920"/>
            <a:ext cx="18323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817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550711"/>
            <a:ext cx="17181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4790606"/>
            <a:ext cx="138652"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030502"/>
            <a:ext cx="13607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270397"/>
            <a:ext cx="12550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89377"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5750188"/>
            <a:ext cx="7727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1860"/>
            <a:ext cx="7223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631546"/>
            <a:ext cx="12802"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871442"/>
            <a:ext cx="31067"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111337"/>
            <a:ext cx="3893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351233"/>
            <a:ext cx="44075"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591128"/>
            <a:ext cx="20405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3831024"/>
            <a:ext cx="24505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070920"/>
            <a:ext cx="259047"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310815"/>
            <a:ext cx="30609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550711"/>
            <a:ext cx="322117"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4790606"/>
            <a:ext cx="53021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030502"/>
            <a:ext cx="55598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270397"/>
            <a:ext cx="605802"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grew CP RO count, led by Kia LV at +13.7% to 8,133. 13 declined; VW St George fell most at −14.7%.</a:t>
            </a:r>
            <a:endParaRPr lang="en-US" sz="1600" dirty="0"/>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One More CP RO a Day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75304"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982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8" name="Text 6"/>
          <p:cNvSpPr txBox="1"/>
          <p:nvPr/>
        </p:nvSpPr>
        <p:spPr>
          <a:xfrm>
            <a:off x="5184648"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9" name="Text 7"/>
          <p:cNvSpPr txBox="1"/>
          <p:nvPr/>
        </p:nvSpPr>
        <p:spPr>
          <a:xfrm>
            <a:off x="9125712" y="1316736"/>
            <a:ext cx="82296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486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ROs/day</a:t>
            </a:r>
            <a:endParaRPr lang="en-US" sz="1400" dirty="0"/>
          </a:p>
        </p:txBody>
      </p:sp>
      <p:sp>
        <p:nvSpPr>
          <p:cNvPr id="11" name="Text 9"/>
          <p:cNvSpPr txBox="1"/>
          <p:nvPr/>
        </p:nvSpPr>
        <p:spPr>
          <a:xfrm>
            <a:off x="10735056" y="1316736"/>
            <a:ext cx="73152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RO</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 name="Shape 12"/>
          <p:cNvSpPr/>
          <p:nvPr/>
        </p:nvSpPr>
        <p:spPr>
          <a:xfrm>
            <a:off x="2871216" y="1756697"/>
            <a:ext cx="649224" cy="136676"/>
          </a:xfrm>
          <a:prstGeom prst="rect">
            <a:avLst/>
          </a:prstGeom>
          <a:solidFill>
            <a:srgbClr val="2587C5"/>
          </a:solidFill>
          <a:ln/>
        </p:spPr>
      </p:sp>
      <p:sp>
        <p:nvSpPr>
          <p:cNvPr id="15" name="Text 13"/>
          <p:cNvSpPr txBox="1"/>
          <p:nvPr/>
        </p:nvSpPr>
        <p:spPr>
          <a:xfrm>
            <a:off x="3575304"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$358K</a:t>
            </a:r>
            <a:endParaRPr lang="en-US" sz="1300" dirty="0"/>
          </a:p>
        </p:txBody>
      </p:sp>
      <p:sp>
        <p:nvSpPr>
          <p:cNvPr id="16" name="Text 14"/>
          <p:cNvSpPr txBox="1"/>
          <p:nvPr/>
        </p:nvSpPr>
        <p:spPr>
          <a:xfrm>
            <a:off x="4398264"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 name="Text 15"/>
          <p:cNvSpPr txBox="1"/>
          <p:nvPr/>
        </p:nvSpPr>
        <p:spPr>
          <a:xfrm>
            <a:off x="5184648"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$1,168</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0" name="Shape 18"/>
          <p:cNvSpPr/>
          <p:nvPr/>
        </p:nvSpPr>
        <p:spPr>
          <a:xfrm>
            <a:off x="2871216" y="2005199"/>
            <a:ext cx="634920" cy="136676"/>
          </a:xfrm>
          <a:prstGeom prst="rect">
            <a:avLst/>
          </a:prstGeom>
          <a:solidFill>
            <a:srgbClr val="2587C5"/>
          </a:solidFill>
          <a:ln/>
        </p:spPr>
      </p:sp>
      <p:sp>
        <p:nvSpPr>
          <p:cNvPr id="21" name="Text 19"/>
          <p:cNvSpPr txBox="1"/>
          <p:nvPr/>
        </p:nvSpPr>
        <p:spPr>
          <a:xfrm>
            <a:off x="3575304"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$351K</a:t>
            </a:r>
            <a:endParaRPr lang="en-US" sz="1300" dirty="0"/>
          </a:p>
        </p:txBody>
      </p:sp>
      <p:sp>
        <p:nvSpPr>
          <p:cNvPr id="22" name="Text 20"/>
          <p:cNvSpPr txBox="1"/>
          <p:nvPr/>
        </p:nvSpPr>
        <p:spPr>
          <a:xfrm>
            <a:off x="4398264"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23" name="Text 21"/>
          <p:cNvSpPr txBox="1"/>
          <p:nvPr/>
        </p:nvSpPr>
        <p:spPr>
          <a:xfrm>
            <a:off x="5184648"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$1,142</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6" name="Shape 24"/>
          <p:cNvSpPr/>
          <p:nvPr/>
        </p:nvSpPr>
        <p:spPr>
          <a:xfrm>
            <a:off x="2871216" y="2253700"/>
            <a:ext cx="585174" cy="136676"/>
          </a:xfrm>
          <a:prstGeom prst="rect">
            <a:avLst/>
          </a:prstGeom>
          <a:solidFill>
            <a:srgbClr val="2587C5"/>
          </a:solidFill>
          <a:ln/>
        </p:spPr>
      </p:sp>
      <p:sp>
        <p:nvSpPr>
          <p:cNvPr id="27" name="Text 25"/>
          <p:cNvSpPr txBox="1"/>
          <p:nvPr/>
        </p:nvSpPr>
        <p:spPr>
          <a:xfrm>
            <a:off x="3575304"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$323K</a:t>
            </a:r>
            <a:endParaRPr lang="en-US" sz="1300" dirty="0"/>
          </a:p>
        </p:txBody>
      </p:sp>
      <p:sp>
        <p:nvSpPr>
          <p:cNvPr id="28" name="Text 26"/>
          <p:cNvSpPr txBox="1"/>
          <p:nvPr/>
        </p:nvSpPr>
        <p:spPr>
          <a:xfrm>
            <a:off x="4398264"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9" name="Text 27"/>
          <p:cNvSpPr txBox="1"/>
          <p:nvPr/>
        </p:nvSpPr>
        <p:spPr>
          <a:xfrm>
            <a:off x="5184648"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72532" cy="136676"/>
          </a:xfrm>
          <a:prstGeom prst="rect">
            <a:avLst/>
          </a:prstGeom>
          <a:solidFill>
            <a:srgbClr val="2587C5"/>
          </a:solidFill>
          <a:ln/>
        </p:spPr>
      </p:sp>
      <p:sp>
        <p:nvSpPr>
          <p:cNvPr id="33" name="Text 31"/>
          <p:cNvSpPr txBox="1"/>
          <p:nvPr/>
        </p:nvSpPr>
        <p:spPr>
          <a:xfrm>
            <a:off x="3575304"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$316K</a:t>
            </a:r>
            <a:endParaRPr lang="en-US" sz="1300" dirty="0"/>
          </a:p>
        </p:txBody>
      </p:sp>
      <p:sp>
        <p:nvSpPr>
          <p:cNvPr id="34" name="Text 32"/>
          <p:cNvSpPr txBox="1"/>
          <p:nvPr/>
        </p:nvSpPr>
        <p:spPr>
          <a:xfrm>
            <a:off x="4398264"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35" name="Text 33"/>
          <p:cNvSpPr txBox="1"/>
          <p:nvPr/>
        </p:nvSpPr>
        <p:spPr>
          <a:xfrm>
            <a:off x="5184648"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$1,030</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8" name="Shape 36"/>
          <p:cNvSpPr/>
          <p:nvPr/>
        </p:nvSpPr>
        <p:spPr>
          <a:xfrm>
            <a:off x="2871216" y="2750703"/>
            <a:ext cx="411641" cy="136676"/>
          </a:xfrm>
          <a:prstGeom prst="rect">
            <a:avLst/>
          </a:prstGeom>
          <a:solidFill>
            <a:srgbClr val="2587C5"/>
          </a:solidFill>
          <a:ln/>
        </p:spPr>
      </p:sp>
      <p:sp>
        <p:nvSpPr>
          <p:cNvPr id="39" name="Text 37"/>
          <p:cNvSpPr txBox="1"/>
          <p:nvPr/>
        </p:nvSpPr>
        <p:spPr>
          <a:xfrm>
            <a:off x="3575304"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$227K</a:t>
            </a:r>
            <a:endParaRPr lang="en-US" sz="1300" dirty="0"/>
          </a:p>
        </p:txBody>
      </p:sp>
      <p:sp>
        <p:nvSpPr>
          <p:cNvPr id="40" name="Text 38"/>
          <p:cNvSpPr txBox="1"/>
          <p:nvPr/>
        </p:nvSpPr>
        <p:spPr>
          <a:xfrm>
            <a:off x="4398264"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41" name="Text 39"/>
          <p:cNvSpPr txBox="1"/>
          <p:nvPr/>
        </p:nvSpPr>
        <p:spPr>
          <a:xfrm>
            <a:off x="5184648"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4" name="Shape 42"/>
          <p:cNvSpPr/>
          <p:nvPr/>
        </p:nvSpPr>
        <p:spPr>
          <a:xfrm>
            <a:off x="2871216" y="2999205"/>
            <a:ext cx="368295" cy="136676"/>
          </a:xfrm>
          <a:prstGeom prst="rect">
            <a:avLst/>
          </a:prstGeom>
          <a:solidFill>
            <a:srgbClr val="2587C5"/>
          </a:solidFill>
          <a:ln/>
        </p:spPr>
      </p:sp>
      <p:sp>
        <p:nvSpPr>
          <p:cNvPr id="45" name="Text 43"/>
          <p:cNvSpPr txBox="1"/>
          <p:nvPr/>
        </p:nvSpPr>
        <p:spPr>
          <a:xfrm>
            <a:off x="3575304"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$203K</a:t>
            </a:r>
            <a:endParaRPr lang="en-US" sz="1300" dirty="0"/>
          </a:p>
        </p:txBody>
      </p:sp>
      <p:sp>
        <p:nvSpPr>
          <p:cNvPr id="46" name="Text 44"/>
          <p:cNvSpPr txBox="1"/>
          <p:nvPr/>
        </p:nvSpPr>
        <p:spPr>
          <a:xfrm>
            <a:off x="4398264"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47" name="Text 45"/>
          <p:cNvSpPr txBox="1"/>
          <p:nvPr/>
        </p:nvSpPr>
        <p:spPr>
          <a:xfrm>
            <a:off x="5184648"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$662</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0" name="Shape 48"/>
          <p:cNvSpPr/>
          <p:nvPr/>
        </p:nvSpPr>
        <p:spPr>
          <a:xfrm>
            <a:off x="2871216" y="3247707"/>
            <a:ext cx="282773" cy="136676"/>
          </a:xfrm>
          <a:prstGeom prst="rect">
            <a:avLst/>
          </a:prstGeom>
          <a:solidFill>
            <a:srgbClr val="2587C5"/>
          </a:solidFill>
          <a:ln/>
        </p:spPr>
      </p:sp>
      <p:sp>
        <p:nvSpPr>
          <p:cNvPr id="51" name="Text 49"/>
          <p:cNvSpPr txBox="1"/>
          <p:nvPr/>
        </p:nvSpPr>
        <p:spPr>
          <a:xfrm>
            <a:off x="3575304"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52" name="Text 50"/>
          <p:cNvSpPr txBox="1"/>
          <p:nvPr/>
        </p:nvSpPr>
        <p:spPr>
          <a:xfrm>
            <a:off x="4398264"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53" name="Text 51"/>
          <p:cNvSpPr txBox="1"/>
          <p:nvPr/>
        </p:nvSpPr>
        <p:spPr>
          <a:xfrm>
            <a:off x="5184648"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$509</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6" name="Shape 54"/>
          <p:cNvSpPr/>
          <p:nvPr/>
        </p:nvSpPr>
        <p:spPr>
          <a:xfrm>
            <a:off x="2871216" y="3496208"/>
            <a:ext cx="267139" cy="136676"/>
          </a:xfrm>
          <a:prstGeom prst="rect">
            <a:avLst/>
          </a:prstGeom>
          <a:solidFill>
            <a:srgbClr val="2587C5"/>
          </a:solidFill>
          <a:ln/>
        </p:spPr>
      </p:sp>
      <p:sp>
        <p:nvSpPr>
          <p:cNvPr id="57" name="Text 55"/>
          <p:cNvSpPr txBox="1"/>
          <p:nvPr/>
        </p:nvSpPr>
        <p:spPr>
          <a:xfrm>
            <a:off x="3575304"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$148K</a:t>
            </a:r>
            <a:endParaRPr lang="en-US" sz="1300" dirty="0"/>
          </a:p>
        </p:txBody>
      </p:sp>
      <p:sp>
        <p:nvSpPr>
          <p:cNvPr id="58" name="Text 56"/>
          <p:cNvSpPr txBox="1"/>
          <p:nvPr/>
        </p:nvSpPr>
        <p:spPr>
          <a:xfrm>
            <a:off x="4398264"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9" name="Text 57"/>
          <p:cNvSpPr txBox="1"/>
          <p:nvPr/>
        </p:nvSpPr>
        <p:spPr>
          <a:xfrm>
            <a:off x="5184648"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$480</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2" name="Shape 60"/>
          <p:cNvSpPr/>
          <p:nvPr/>
        </p:nvSpPr>
        <p:spPr>
          <a:xfrm>
            <a:off x="2871216" y="3744710"/>
            <a:ext cx="255684" cy="136676"/>
          </a:xfrm>
          <a:prstGeom prst="rect">
            <a:avLst/>
          </a:prstGeom>
          <a:solidFill>
            <a:srgbClr val="2587C5"/>
          </a:solidFill>
          <a:ln/>
        </p:spPr>
      </p:sp>
      <p:sp>
        <p:nvSpPr>
          <p:cNvPr id="63" name="Text 61"/>
          <p:cNvSpPr txBox="1"/>
          <p:nvPr/>
        </p:nvSpPr>
        <p:spPr>
          <a:xfrm>
            <a:off x="3575304"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$141K</a:t>
            </a:r>
            <a:endParaRPr lang="en-US" sz="1300" dirty="0"/>
          </a:p>
        </p:txBody>
      </p:sp>
      <p:sp>
        <p:nvSpPr>
          <p:cNvPr id="64" name="Text 62"/>
          <p:cNvSpPr txBox="1"/>
          <p:nvPr/>
        </p:nvSpPr>
        <p:spPr>
          <a:xfrm>
            <a:off x="4398264"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65" name="Text 63"/>
          <p:cNvSpPr txBox="1"/>
          <p:nvPr/>
        </p:nvSpPr>
        <p:spPr>
          <a:xfrm>
            <a:off x="5184648"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$460</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8" name="Shape 66"/>
          <p:cNvSpPr/>
          <p:nvPr/>
        </p:nvSpPr>
        <p:spPr>
          <a:xfrm>
            <a:off x="2871216" y="3993212"/>
            <a:ext cx="238260" cy="136676"/>
          </a:xfrm>
          <a:prstGeom prst="rect">
            <a:avLst/>
          </a:prstGeom>
          <a:solidFill>
            <a:srgbClr val="2587C5"/>
          </a:solidFill>
          <a:ln/>
        </p:spPr>
      </p:sp>
      <p:sp>
        <p:nvSpPr>
          <p:cNvPr id="69" name="Text 67"/>
          <p:cNvSpPr txBox="1"/>
          <p:nvPr/>
        </p:nvSpPr>
        <p:spPr>
          <a:xfrm>
            <a:off x="3575304"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70" name="Text 68"/>
          <p:cNvSpPr txBox="1"/>
          <p:nvPr/>
        </p:nvSpPr>
        <p:spPr>
          <a:xfrm>
            <a:off x="4398264"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71" name="Text 69"/>
          <p:cNvSpPr txBox="1"/>
          <p:nvPr/>
        </p:nvSpPr>
        <p:spPr>
          <a:xfrm>
            <a:off x="5184648"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$429</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4" name="Shape 72"/>
          <p:cNvSpPr/>
          <p:nvPr/>
        </p:nvSpPr>
        <p:spPr>
          <a:xfrm>
            <a:off x="2871216" y="4241713"/>
            <a:ext cx="225886" cy="136676"/>
          </a:xfrm>
          <a:prstGeom prst="rect">
            <a:avLst/>
          </a:prstGeom>
          <a:solidFill>
            <a:srgbClr val="2587C5"/>
          </a:solidFill>
          <a:ln/>
        </p:spPr>
      </p:sp>
      <p:sp>
        <p:nvSpPr>
          <p:cNvPr id="75" name="Text 73"/>
          <p:cNvSpPr txBox="1"/>
          <p:nvPr/>
        </p:nvSpPr>
        <p:spPr>
          <a:xfrm>
            <a:off x="3575304"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$125K</a:t>
            </a:r>
            <a:endParaRPr lang="en-US" sz="1300" dirty="0"/>
          </a:p>
        </p:txBody>
      </p:sp>
      <p:sp>
        <p:nvSpPr>
          <p:cNvPr id="76" name="Text 74"/>
          <p:cNvSpPr txBox="1"/>
          <p:nvPr/>
        </p:nvSpPr>
        <p:spPr>
          <a:xfrm>
            <a:off x="4398264"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7" name="Text 75"/>
          <p:cNvSpPr txBox="1"/>
          <p:nvPr/>
        </p:nvSpPr>
        <p:spPr>
          <a:xfrm>
            <a:off x="5184648"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0" name="Shape 78"/>
          <p:cNvSpPr/>
          <p:nvPr/>
        </p:nvSpPr>
        <p:spPr>
          <a:xfrm>
            <a:off x="2871216" y="4490215"/>
            <a:ext cx="222080" cy="136676"/>
          </a:xfrm>
          <a:prstGeom prst="rect">
            <a:avLst/>
          </a:prstGeom>
          <a:solidFill>
            <a:srgbClr val="2587C5"/>
          </a:solidFill>
          <a:ln/>
        </p:spPr>
      </p:sp>
      <p:sp>
        <p:nvSpPr>
          <p:cNvPr id="81" name="Text 79"/>
          <p:cNvSpPr txBox="1"/>
          <p:nvPr/>
        </p:nvSpPr>
        <p:spPr>
          <a:xfrm>
            <a:off x="3575304"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82" name="Text 80"/>
          <p:cNvSpPr txBox="1"/>
          <p:nvPr/>
        </p:nvSpPr>
        <p:spPr>
          <a:xfrm>
            <a:off x="4398264"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Text 81"/>
          <p:cNvSpPr txBox="1"/>
          <p:nvPr/>
        </p:nvSpPr>
        <p:spPr>
          <a:xfrm>
            <a:off x="5184648"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6" name="Shape 84"/>
          <p:cNvSpPr/>
          <p:nvPr/>
        </p:nvSpPr>
        <p:spPr>
          <a:xfrm>
            <a:off x="2871216" y="4738717"/>
            <a:ext cx="201519" cy="136676"/>
          </a:xfrm>
          <a:prstGeom prst="rect">
            <a:avLst/>
          </a:prstGeom>
          <a:solidFill>
            <a:srgbClr val="2587C5"/>
          </a:solidFill>
          <a:ln/>
        </p:spPr>
      </p:sp>
      <p:sp>
        <p:nvSpPr>
          <p:cNvPr id="87" name="Text 85"/>
          <p:cNvSpPr txBox="1"/>
          <p:nvPr/>
        </p:nvSpPr>
        <p:spPr>
          <a:xfrm>
            <a:off x="3575304"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$111K</a:t>
            </a:r>
            <a:endParaRPr lang="en-US" sz="1300" dirty="0"/>
          </a:p>
        </p:txBody>
      </p:sp>
      <p:sp>
        <p:nvSpPr>
          <p:cNvPr id="88" name="Text 86"/>
          <p:cNvSpPr txBox="1"/>
          <p:nvPr/>
        </p:nvSpPr>
        <p:spPr>
          <a:xfrm>
            <a:off x="4398264"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85</a:t>
            </a:r>
            <a:endParaRPr lang="en-US" sz="1300" dirty="0"/>
          </a:p>
        </p:txBody>
      </p:sp>
      <p:sp>
        <p:nvSpPr>
          <p:cNvPr id="89" name="Text 87"/>
          <p:cNvSpPr txBox="1"/>
          <p:nvPr/>
        </p:nvSpPr>
        <p:spPr>
          <a:xfrm>
            <a:off x="5184648"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$362</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2" name="Shape 90"/>
          <p:cNvSpPr/>
          <p:nvPr/>
        </p:nvSpPr>
        <p:spPr>
          <a:xfrm>
            <a:off x="2871216" y="4987218"/>
            <a:ext cx="198656" cy="136676"/>
          </a:xfrm>
          <a:prstGeom prst="rect">
            <a:avLst/>
          </a:prstGeom>
          <a:solidFill>
            <a:srgbClr val="2587C5"/>
          </a:solidFill>
          <a:ln/>
        </p:spPr>
      </p:sp>
      <p:sp>
        <p:nvSpPr>
          <p:cNvPr id="93" name="Text 91"/>
          <p:cNvSpPr txBox="1"/>
          <p:nvPr/>
        </p:nvSpPr>
        <p:spPr>
          <a:xfrm>
            <a:off x="3575304"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$110K</a:t>
            </a:r>
            <a:endParaRPr lang="en-US" sz="1300" dirty="0"/>
          </a:p>
        </p:txBody>
      </p:sp>
      <p:sp>
        <p:nvSpPr>
          <p:cNvPr id="94" name="Text 92"/>
          <p:cNvSpPr txBox="1"/>
          <p:nvPr/>
        </p:nvSpPr>
        <p:spPr>
          <a:xfrm>
            <a:off x="4398264"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95" name="Text 93"/>
          <p:cNvSpPr txBox="1"/>
          <p:nvPr/>
        </p:nvSpPr>
        <p:spPr>
          <a:xfrm>
            <a:off x="5184648"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8" name="Shape 96"/>
          <p:cNvSpPr/>
          <p:nvPr/>
        </p:nvSpPr>
        <p:spPr>
          <a:xfrm>
            <a:off x="2871216" y="5235720"/>
            <a:ext cx="197675" cy="136676"/>
          </a:xfrm>
          <a:prstGeom prst="rect">
            <a:avLst/>
          </a:prstGeom>
          <a:solidFill>
            <a:srgbClr val="2587C5"/>
          </a:solidFill>
          <a:ln/>
        </p:spPr>
      </p:sp>
      <p:sp>
        <p:nvSpPr>
          <p:cNvPr id="99" name="Text 97"/>
          <p:cNvSpPr txBox="1"/>
          <p:nvPr/>
        </p:nvSpPr>
        <p:spPr>
          <a:xfrm>
            <a:off x="3575304"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0" name="Text 98"/>
          <p:cNvSpPr txBox="1"/>
          <p:nvPr/>
        </p:nvSpPr>
        <p:spPr>
          <a:xfrm>
            <a:off x="4398264"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01" name="Text 99"/>
          <p:cNvSpPr txBox="1"/>
          <p:nvPr/>
        </p:nvSpPr>
        <p:spPr>
          <a:xfrm>
            <a:off x="5184648"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96835" cy="136676"/>
          </a:xfrm>
          <a:prstGeom prst="rect">
            <a:avLst/>
          </a:prstGeom>
          <a:solidFill>
            <a:srgbClr val="2587C5"/>
          </a:solidFill>
          <a:ln/>
        </p:spPr>
      </p:sp>
      <p:sp>
        <p:nvSpPr>
          <p:cNvPr id="105" name="Text 103"/>
          <p:cNvSpPr txBox="1"/>
          <p:nvPr/>
        </p:nvSpPr>
        <p:spPr>
          <a:xfrm>
            <a:off x="3575304"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$109K</a:t>
            </a:r>
            <a:endParaRPr lang="en-US" sz="1300" dirty="0"/>
          </a:p>
        </p:txBody>
      </p:sp>
      <p:sp>
        <p:nvSpPr>
          <p:cNvPr id="106" name="Text 104"/>
          <p:cNvSpPr txBox="1"/>
          <p:nvPr/>
        </p:nvSpPr>
        <p:spPr>
          <a:xfrm>
            <a:off x="4398264"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a:t>
            </a:r>
            <a:endParaRPr lang="en-US" sz="1300" dirty="0"/>
          </a:p>
        </p:txBody>
      </p:sp>
      <p:sp>
        <p:nvSpPr>
          <p:cNvPr id="107" name="Text 105"/>
          <p:cNvSpPr txBox="1"/>
          <p:nvPr/>
        </p:nvSpPr>
        <p:spPr>
          <a:xfrm>
            <a:off x="5184648"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$354</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0" name="Shape 108"/>
          <p:cNvSpPr/>
          <p:nvPr/>
        </p:nvSpPr>
        <p:spPr>
          <a:xfrm>
            <a:off x="2871216" y="5732723"/>
            <a:ext cx="187758" cy="136676"/>
          </a:xfrm>
          <a:prstGeom prst="rect">
            <a:avLst/>
          </a:prstGeom>
          <a:solidFill>
            <a:srgbClr val="2587C5"/>
          </a:solidFill>
          <a:ln/>
        </p:spPr>
      </p:sp>
      <p:sp>
        <p:nvSpPr>
          <p:cNvPr id="111" name="Text 109"/>
          <p:cNvSpPr txBox="1"/>
          <p:nvPr/>
        </p:nvSpPr>
        <p:spPr>
          <a:xfrm>
            <a:off x="3575304" y="567681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$104K</a:t>
            </a:r>
            <a:endParaRPr lang="en-US" sz="1300" dirty="0"/>
          </a:p>
        </p:txBody>
      </p:sp>
      <p:sp>
        <p:nvSpPr>
          <p:cNvPr id="112" name="Text 110"/>
          <p:cNvSpPr txBox="1"/>
          <p:nvPr/>
        </p:nvSpPr>
        <p:spPr>
          <a:xfrm>
            <a:off x="4398264" y="567681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65</a:t>
            </a:r>
            <a:endParaRPr lang="en-US" sz="1300" dirty="0"/>
          </a:p>
        </p:txBody>
      </p:sp>
      <p:sp>
        <p:nvSpPr>
          <p:cNvPr id="113" name="Text 111"/>
          <p:cNvSpPr txBox="1"/>
          <p:nvPr/>
        </p:nvSpPr>
        <p:spPr>
          <a:xfrm>
            <a:off x="5184648" y="567681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$338</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16" name="Shape 114"/>
          <p:cNvSpPr/>
          <p:nvPr/>
        </p:nvSpPr>
        <p:spPr>
          <a:xfrm>
            <a:off x="8421624" y="1756697"/>
            <a:ext cx="187228" cy="136676"/>
          </a:xfrm>
          <a:prstGeom prst="rect">
            <a:avLst/>
          </a:prstGeom>
          <a:solidFill>
            <a:srgbClr val="2587C5"/>
          </a:solidFill>
          <a:ln/>
        </p:spPr>
      </p:sp>
      <p:sp>
        <p:nvSpPr>
          <p:cNvPr id="117" name="Text 115"/>
          <p:cNvSpPr txBox="1"/>
          <p:nvPr/>
        </p:nvSpPr>
        <p:spPr>
          <a:xfrm>
            <a:off x="9125712" y="170078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$103K</a:t>
            </a:r>
            <a:endParaRPr lang="en-US" sz="1300" dirty="0"/>
          </a:p>
        </p:txBody>
      </p:sp>
      <p:sp>
        <p:nvSpPr>
          <p:cNvPr id="118" name="Text 116"/>
          <p:cNvSpPr txBox="1"/>
          <p:nvPr/>
        </p:nvSpPr>
        <p:spPr>
          <a:xfrm>
            <a:off x="9948672" y="170078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a:t>
            </a:r>
            <a:endParaRPr lang="en-US" sz="1300" dirty="0"/>
          </a:p>
        </p:txBody>
      </p:sp>
      <p:sp>
        <p:nvSpPr>
          <p:cNvPr id="119" name="Text 117"/>
          <p:cNvSpPr txBox="1"/>
          <p:nvPr/>
        </p:nvSpPr>
        <p:spPr>
          <a:xfrm>
            <a:off x="10735056" y="170078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2" name="Shape 120"/>
          <p:cNvSpPr/>
          <p:nvPr/>
        </p:nvSpPr>
        <p:spPr>
          <a:xfrm>
            <a:off x="8421624" y="2005199"/>
            <a:ext cx="183848" cy="136676"/>
          </a:xfrm>
          <a:prstGeom prst="rect">
            <a:avLst/>
          </a:prstGeom>
          <a:solidFill>
            <a:srgbClr val="2587C5"/>
          </a:solidFill>
          <a:ln/>
        </p:spPr>
      </p:sp>
      <p:sp>
        <p:nvSpPr>
          <p:cNvPr id="123" name="Text 121"/>
          <p:cNvSpPr txBox="1"/>
          <p:nvPr/>
        </p:nvSpPr>
        <p:spPr>
          <a:xfrm>
            <a:off x="9125712" y="194928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124" name="Text 122"/>
          <p:cNvSpPr txBox="1"/>
          <p:nvPr/>
        </p:nvSpPr>
        <p:spPr>
          <a:xfrm>
            <a:off x="9948672" y="194928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a:t>
            </a:r>
            <a:endParaRPr lang="en-US" sz="1300" dirty="0"/>
          </a:p>
        </p:txBody>
      </p:sp>
      <p:sp>
        <p:nvSpPr>
          <p:cNvPr id="125" name="Text 123"/>
          <p:cNvSpPr txBox="1"/>
          <p:nvPr/>
        </p:nvSpPr>
        <p:spPr>
          <a:xfrm>
            <a:off x="10735056" y="194928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$331</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421624" y="2253700"/>
            <a:ext cx="174845" cy="136676"/>
          </a:xfrm>
          <a:prstGeom prst="rect">
            <a:avLst/>
          </a:prstGeom>
          <a:solidFill>
            <a:srgbClr val="2587C5"/>
          </a:solidFill>
          <a:ln/>
        </p:spPr>
      </p:sp>
      <p:sp>
        <p:nvSpPr>
          <p:cNvPr id="129" name="Text 127"/>
          <p:cNvSpPr txBox="1"/>
          <p:nvPr/>
        </p:nvSpPr>
        <p:spPr>
          <a:xfrm>
            <a:off x="9125712" y="219778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$97K</a:t>
            </a:r>
            <a:endParaRPr lang="en-US" sz="1300" dirty="0"/>
          </a:p>
        </p:txBody>
      </p:sp>
      <p:sp>
        <p:nvSpPr>
          <p:cNvPr id="130" name="Text 128"/>
          <p:cNvSpPr txBox="1"/>
          <p:nvPr/>
        </p:nvSpPr>
        <p:spPr>
          <a:xfrm>
            <a:off x="9948672" y="219778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31" name="Text 129"/>
          <p:cNvSpPr txBox="1"/>
          <p:nvPr/>
        </p:nvSpPr>
        <p:spPr>
          <a:xfrm>
            <a:off x="10735056" y="219778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$314</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4" name="Shape 132"/>
          <p:cNvSpPr/>
          <p:nvPr/>
        </p:nvSpPr>
        <p:spPr>
          <a:xfrm>
            <a:off x="8421624" y="2502202"/>
            <a:ext cx="172138" cy="136676"/>
          </a:xfrm>
          <a:prstGeom prst="rect">
            <a:avLst/>
          </a:prstGeom>
          <a:solidFill>
            <a:srgbClr val="2587C5"/>
          </a:solidFill>
          <a:ln/>
        </p:spPr>
      </p:sp>
      <p:sp>
        <p:nvSpPr>
          <p:cNvPr id="135" name="Text 133"/>
          <p:cNvSpPr txBox="1"/>
          <p:nvPr/>
        </p:nvSpPr>
        <p:spPr>
          <a:xfrm>
            <a:off x="9125712" y="244628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$95K</a:t>
            </a:r>
            <a:endParaRPr lang="en-US" sz="1300" dirty="0"/>
          </a:p>
        </p:txBody>
      </p:sp>
      <p:sp>
        <p:nvSpPr>
          <p:cNvPr id="136" name="Text 134"/>
          <p:cNvSpPr txBox="1"/>
          <p:nvPr/>
        </p:nvSpPr>
        <p:spPr>
          <a:xfrm>
            <a:off x="9948672" y="244628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37" name="Text 135"/>
          <p:cNvSpPr txBox="1"/>
          <p:nvPr/>
        </p:nvSpPr>
        <p:spPr>
          <a:xfrm>
            <a:off x="10735056" y="244628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0" name="Shape 138"/>
          <p:cNvSpPr/>
          <p:nvPr/>
        </p:nvSpPr>
        <p:spPr>
          <a:xfrm>
            <a:off x="8421624" y="2750703"/>
            <a:ext cx="170555" cy="136676"/>
          </a:xfrm>
          <a:prstGeom prst="rect">
            <a:avLst/>
          </a:prstGeom>
          <a:solidFill>
            <a:srgbClr val="2587C5"/>
          </a:solidFill>
          <a:ln/>
        </p:spPr>
      </p:sp>
      <p:sp>
        <p:nvSpPr>
          <p:cNvPr id="141" name="Text 139"/>
          <p:cNvSpPr txBox="1"/>
          <p:nvPr/>
        </p:nvSpPr>
        <p:spPr>
          <a:xfrm>
            <a:off x="9125712" y="2694791"/>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$94K</a:t>
            </a:r>
            <a:endParaRPr lang="en-US" sz="1300" dirty="0"/>
          </a:p>
        </p:txBody>
      </p:sp>
      <p:sp>
        <p:nvSpPr>
          <p:cNvPr id="142" name="Text 140"/>
          <p:cNvSpPr txBox="1"/>
          <p:nvPr/>
        </p:nvSpPr>
        <p:spPr>
          <a:xfrm>
            <a:off x="9948672" y="2694791"/>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143" name="Text 141"/>
          <p:cNvSpPr txBox="1"/>
          <p:nvPr/>
        </p:nvSpPr>
        <p:spPr>
          <a:xfrm>
            <a:off x="10735056" y="2694791"/>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$307</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6" name="Shape 144"/>
          <p:cNvSpPr/>
          <p:nvPr/>
        </p:nvSpPr>
        <p:spPr>
          <a:xfrm>
            <a:off x="8421624" y="2999205"/>
            <a:ext cx="162333" cy="136676"/>
          </a:xfrm>
          <a:prstGeom prst="rect">
            <a:avLst/>
          </a:prstGeom>
          <a:solidFill>
            <a:srgbClr val="2587C5"/>
          </a:solidFill>
          <a:ln/>
        </p:spPr>
      </p:sp>
      <p:sp>
        <p:nvSpPr>
          <p:cNvPr id="147" name="Text 145"/>
          <p:cNvSpPr txBox="1"/>
          <p:nvPr/>
        </p:nvSpPr>
        <p:spPr>
          <a:xfrm>
            <a:off x="9125712" y="294329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$90K</a:t>
            </a:r>
            <a:endParaRPr lang="en-US" sz="1300" dirty="0"/>
          </a:p>
        </p:txBody>
      </p:sp>
      <p:sp>
        <p:nvSpPr>
          <p:cNvPr id="148" name="Text 146"/>
          <p:cNvSpPr txBox="1"/>
          <p:nvPr/>
        </p:nvSpPr>
        <p:spPr>
          <a:xfrm>
            <a:off x="9948672" y="294329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149" name="Text 147"/>
          <p:cNvSpPr txBox="1"/>
          <p:nvPr/>
        </p:nvSpPr>
        <p:spPr>
          <a:xfrm>
            <a:off x="10735056" y="294329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$292</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7532" cy="136676"/>
          </a:xfrm>
          <a:prstGeom prst="rect">
            <a:avLst/>
          </a:prstGeom>
          <a:solidFill>
            <a:srgbClr val="2587C5"/>
          </a:solidFill>
          <a:ln/>
        </p:spPr>
      </p:sp>
      <p:sp>
        <p:nvSpPr>
          <p:cNvPr id="153" name="Text 151"/>
          <p:cNvSpPr txBox="1"/>
          <p:nvPr/>
        </p:nvSpPr>
        <p:spPr>
          <a:xfrm>
            <a:off x="9125712" y="319179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$87K</a:t>
            </a:r>
            <a:endParaRPr lang="en-US" sz="1300" dirty="0"/>
          </a:p>
        </p:txBody>
      </p:sp>
      <p:sp>
        <p:nvSpPr>
          <p:cNvPr id="154" name="Text 152"/>
          <p:cNvSpPr txBox="1"/>
          <p:nvPr/>
        </p:nvSpPr>
        <p:spPr>
          <a:xfrm>
            <a:off x="9948672" y="319179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55" name="Text 153"/>
          <p:cNvSpPr txBox="1"/>
          <p:nvPr/>
        </p:nvSpPr>
        <p:spPr>
          <a:xfrm>
            <a:off x="10735056" y="319179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5767" cy="136676"/>
          </a:xfrm>
          <a:prstGeom prst="rect">
            <a:avLst/>
          </a:prstGeom>
          <a:solidFill>
            <a:srgbClr val="2587C5"/>
          </a:solidFill>
          <a:ln/>
        </p:spPr>
      </p:sp>
      <p:sp>
        <p:nvSpPr>
          <p:cNvPr id="159" name="Text 157"/>
          <p:cNvSpPr txBox="1"/>
          <p:nvPr/>
        </p:nvSpPr>
        <p:spPr>
          <a:xfrm>
            <a:off x="9125712" y="3440296"/>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$86K</a:t>
            </a:r>
            <a:endParaRPr lang="en-US" sz="1300" dirty="0"/>
          </a:p>
        </p:txBody>
      </p:sp>
      <p:sp>
        <p:nvSpPr>
          <p:cNvPr id="160" name="Text 158"/>
          <p:cNvSpPr txBox="1"/>
          <p:nvPr/>
        </p:nvSpPr>
        <p:spPr>
          <a:xfrm>
            <a:off x="9948672" y="3440296"/>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61" name="Text 159"/>
          <p:cNvSpPr txBox="1"/>
          <p:nvPr/>
        </p:nvSpPr>
        <p:spPr>
          <a:xfrm>
            <a:off x="10735056" y="3440296"/>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4" name="Shape 162"/>
          <p:cNvSpPr/>
          <p:nvPr/>
        </p:nvSpPr>
        <p:spPr>
          <a:xfrm>
            <a:off x="8421624" y="3744710"/>
            <a:ext cx="149072" cy="136676"/>
          </a:xfrm>
          <a:prstGeom prst="rect">
            <a:avLst/>
          </a:prstGeom>
          <a:solidFill>
            <a:srgbClr val="2587C5"/>
          </a:solidFill>
          <a:ln/>
        </p:spPr>
      </p:sp>
      <p:sp>
        <p:nvSpPr>
          <p:cNvPr id="165" name="Text 163"/>
          <p:cNvSpPr txBox="1"/>
          <p:nvPr/>
        </p:nvSpPr>
        <p:spPr>
          <a:xfrm>
            <a:off x="9125712" y="368879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$82K</a:t>
            </a:r>
            <a:endParaRPr lang="en-US" sz="1300" dirty="0"/>
          </a:p>
        </p:txBody>
      </p:sp>
      <p:sp>
        <p:nvSpPr>
          <p:cNvPr id="166" name="Text 164"/>
          <p:cNvSpPr txBox="1"/>
          <p:nvPr/>
        </p:nvSpPr>
        <p:spPr>
          <a:xfrm>
            <a:off x="9948672" y="368879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167" name="Text 165"/>
          <p:cNvSpPr txBox="1"/>
          <p:nvPr/>
        </p:nvSpPr>
        <p:spPr>
          <a:xfrm>
            <a:off x="10735056" y="368879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134602" cy="136676"/>
          </a:xfrm>
          <a:prstGeom prst="rect">
            <a:avLst/>
          </a:prstGeom>
          <a:solidFill>
            <a:srgbClr val="2587C5"/>
          </a:solidFill>
          <a:ln/>
        </p:spPr>
      </p:sp>
      <p:sp>
        <p:nvSpPr>
          <p:cNvPr id="171" name="Text 169"/>
          <p:cNvSpPr txBox="1"/>
          <p:nvPr/>
        </p:nvSpPr>
        <p:spPr>
          <a:xfrm>
            <a:off x="9125712" y="393729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$74K</a:t>
            </a:r>
            <a:endParaRPr lang="en-US" sz="1300" dirty="0"/>
          </a:p>
        </p:txBody>
      </p:sp>
      <p:sp>
        <p:nvSpPr>
          <p:cNvPr id="172" name="Text 170"/>
          <p:cNvSpPr txBox="1"/>
          <p:nvPr/>
        </p:nvSpPr>
        <p:spPr>
          <a:xfrm>
            <a:off x="9948672" y="393729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231</a:t>
            </a:r>
            <a:endParaRPr lang="en-US" sz="1300" dirty="0"/>
          </a:p>
        </p:txBody>
      </p:sp>
      <p:sp>
        <p:nvSpPr>
          <p:cNvPr id="173" name="Text 171"/>
          <p:cNvSpPr txBox="1"/>
          <p:nvPr/>
        </p:nvSpPr>
        <p:spPr>
          <a:xfrm>
            <a:off x="10735056" y="393729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$242</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6" name="Shape 174"/>
          <p:cNvSpPr/>
          <p:nvPr/>
        </p:nvSpPr>
        <p:spPr>
          <a:xfrm>
            <a:off x="8421624" y="4241713"/>
            <a:ext cx="131833" cy="136676"/>
          </a:xfrm>
          <a:prstGeom prst="rect">
            <a:avLst/>
          </a:prstGeom>
          <a:solidFill>
            <a:srgbClr val="2587C5"/>
          </a:solidFill>
          <a:ln/>
        </p:spPr>
      </p:sp>
      <p:sp>
        <p:nvSpPr>
          <p:cNvPr id="177" name="Text 175"/>
          <p:cNvSpPr txBox="1"/>
          <p:nvPr/>
        </p:nvSpPr>
        <p:spPr>
          <a:xfrm>
            <a:off x="9125712" y="4185800"/>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78" name="Text 176"/>
          <p:cNvSpPr txBox="1"/>
          <p:nvPr/>
        </p:nvSpPr>
        <p:spPr>
          <a:xfrm>
            <a:off x="9948672" y="4185800"/>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79" name="Text 177"/>
          <p:cNvSpPr txBox="1"/>
          <p:nvPr/>
        </p:nvSpPr>
        <p:spPr>
          <a:xfrm>
            <a:off x="10735056" y="4185800"/>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2" name="Shape 180"/>
          <p:cNvSpPr/>
          <p:nvPr/>
        </p:nvSpPr>
        <p:spPr>
          <a:xfrm>
            <a:off x="8421624" y="4490215"/>
            <a:ext cx="131799" cy="136676"/>
          </a:xfrm>
          <a:prstGeom prst="rect">
            <a:avLst/>
          </a:prstGeom>
          <a:solidFill>
            <a:srgbClr val="2587C5"/>
          </a:solidFill>
          <a:ln/>
        </p:spPr>
      </p:sp>
      <p:sp>
        <p:nvSpPr>
          <p:cNvPr id="183" name="Text 181"/>
          <p:cNvSpPr txBox="1"/>
          <p:nvPr/>
        </p:nvSpPr>
        <p:spPr>
          <a:xfrm>
            <a:off x="9125712" y="4434302"/>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84" name="Text 182"/>
          <p:cNvSpPr txBox="1"/>
          <p:nvPr/>
        </p:nvSpPr>
        <p:spPr>
          <a:xfrm>
            <a:off x="9948672" y="4434302"/>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185" name="Text 183"/>
          <p:cNvSpPr txBox="1"/>
          <p:nvPr/>
        </p:nvSpPr>
        <p:spPr>
          <a:xfrm>
            <a:off x="10735056" y="4434302"/>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88" name="Shape 186"/>
          <p:cNvSpPr/>
          <p:nvPr/>
        </p:nvSpPr>
        <p:spPr>
          <a:xfrm>
            <a:off x="8421624" y="4738717"/>
            <a:ext cx="131739" cy="136676"/>
          </a:xfrm>
          <a:prstGeom prst="rect">
            <a:avLst/>
          </a:prstGeom>
          <a:solidFill>
            <a:srgbClr val="2587C5"/>
          </a:solidFill>
          <a:ln/>
        </p:spPr>
      </p:sp>
      <p:sp>
        <p:nvSpPr>
          <p:cNvPr id="189" name="Text 187"/>
          <p:cNvSpPr txBox="1"/>
          <p:nvPr/>
        </p:nvSpPr>
        <p:spPr>
          <a:xfrm>
            <a:off x="9125712" y="4682804"/>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$73K</a:t>
            </a:r>
            <a:endParaRPr lang="en-US" sz="1300" dirty="0"/>
          </a:p>
        </p:txBody>
      </p:sp>
      <p:sp>
        <p:nvSpPr>
          <p:cNvPr id="190" name="Text 188"/>
          <p:cNvSpPr txBox="1"/>
          <p:nvPr/>
        </p:nvSpPr>
        <p:spPr>
          <a:xfrm>
            <a:off x="9948672" y="4682804"/>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91" name="Text 189"/>
          <p:cNvSpPr txBox="1"/>
          <p:nvPr/>
        </p:nvSpPr>
        <p:spPr>
          <a:xfrm>
            <a:off x="10735056" y="4682804"/>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$237</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94" name="Shape 192"/>
          <p:cNvSpPr/>
          <p:nvPr/>
        </p:nvSpPr>
        <p:spPr>
          <a:xfrm>
            <a:off x="8421624" y="4987218"/>
            <a:ext cx="122451" cy="136676"/>
          </a:xfrm>
          <a:prstGeom prst="rect">
            <a:avLst/>
          </a:prstGeom>
          <a:solidFill>
            <a:srgbClr val="2587C5"/>
          </a:solidFill>
          <a:ln/>
        </p:spPr>
      </p:sp>
      <p:sp>
        <p:nvSpPr>
          <p:cNvPr id="195" name="Text 193"/>
          <p:cNvSpPr txBox="1"/>
          <p:nvPr/>
        </p:nvSpPr>
        <p:spPr>
          <a:xfrm>
            <a:off x="9125712" y="4931305"/>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96" name="Text 194"/>
          <p:cNvSpPr txBox="1"/>
          <p:nvPr/>
        </p:nvSpPr>
        <p:spPr>
          <a:xfrm>
            <a:off x="9948672" y="4931305"/>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197" name="Text 195"/>
          <p:cNvSpPr txBox="1"/>
          <p:nvPr/>
        </p:nvSpPr>
        <p:spPr>
          <a:xfrm>
            <a:off x="10735056" y="4931305"/>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00" name="Shape 198"/>
          <p:cNvSpPr/>
          <p:nvPr/>
        </p:nvSpPr>
        <p:spPr>
          <a:xfrm>
            <a:off x="8421624" y="5235720"/>
            <a:ext cx="120654" cy="136676"/>
          </a:xfrm>
          <a:prstGeom prst="rect">
            <a:avLst/>
          </a:prstGeom>
          <a:solidFill>
            <a:srgbClr val="2587C5"/>
          </a:solidFill>
          <a:ln/>
        </p:spPr>
      </p:sp>
      <p:sp>
        <p:nvSpPr>
          <p:cNvPr id="201" name="Text 199"/>
          <p:cNvSpPr txBox="1"/>
          <p:nvPr/>
        </p:nvSpPr>
        <p:spPr>
          <a:xfrm>
            <a:off x="9125712" y="5179807"/>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$67K</a:t>
            </a:r>
            <a:endParaRPr lang="en-US" sz="1300" dirty="0"/>
          </a:p>
        </p:txBody>
      </p:sp>
      <p:sp>
        <p:nvSpPr>
          <p:cNvPr id="202" name="Text 200"/>
          <p:cNvSpPr txBox="1"/>
          <p:nvPr/>
        </p:nvSpPr>
        <p:spPr>
          <a:xfrm>
            <a:off x="9948672" y="5179807"/>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203" name="Text 201"/>
          <p:cNvSpPr txBox="1"/>
          <p:nvPr/>
        </p:nvSpPr>
        <p:spPr>
          <a:xfrm>
            <a:off x="10735056" y="5179807"/>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06" name="Shape 204"/>
          <p:cNvSpPr/>
          <p:nvPr/>
        </p:nvSpPr>
        <p:spPr>
          <a:xfrm>
            <a:off x="8421624" y="5484222"/>
            <a:ext cx="118797" cy="136676"/>
          </a:xfrm>
          <a:prstGeom prst="rect">
            <a:avLst/>
          </a:prstGeom>
          <a:solidFill>
            <a:srgbClr val="2587C5"/>
          </a:solidFill>
          <a:ln/>
        </p:spPr>
      </p:sp>
      <p:sp>
        <p:nvSpPr>
          <p:cNvPr id="207" name="Text 205"/>
          <p:cNvSpPr txBox="1"/>
          <p:nvPr/>
        </p:nvSpPr>
        <p:spPr>
          <a:xfrm>
            <a:off x="9125712" y="5428309"/>
            <a:ext cx="82296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208" name="Text 206"/>
          <p:cNvSpPr txBox="1"/>
          <p:nvPr/>
        </p:nvSpPr>
        <p:spPr>
          <a:xfrm>
            <a:off x="9948672" y="5428309"/>
            <a:ext cx="786384"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209" name="Text 207"/>
          <p:cNvSpPr txBox="1"/>
          <p:nvPr/>
        </p:nvSpPr>
        <p:spPr>
          <a:xfrm>
            <a:off x="10735056" y="5428309"/>
            <a:ext cx="73152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$214</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One more customer-pay RO a day at every store is worth $4,473,284 a year in labor and parts gross. Each RO averages $342.</a:t>
            </a:r>
            <a:endParaRPr lang="en-US" sz="1600" dirty="0"/>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Kia LV, Hyundai Prescott and GMC Prescott what changed. Ask VW St George, Hyundai St George and Audi Reno what got in the way. Ask Lexus, CDJR Post Falls and LR LV what they started this year.</a:t>
            </a:r>
            <a:endParaRPr lang="en-US" sz="1600" dirty="0"/>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504,019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523,142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+19,123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Customer Pay Hours Sold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19,123 to 523,142, ahead of 2025 in eight of nine months. CP RO count rose only 0.2%, so the extra hours came from selling more on each visit.</a:t>
            </a:r>
            <a:endParaRPr lang="en-US" sz="1600"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523,142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78,123</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050673"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44,883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1" name="Shape 19"/>
          <p:cNvSpPr/>
          <p:nvPr/>
        </p:nvSpPr>
        <p:spPr>
          <a:xfrm>
            <a:off x="2980944" y="2391651"/>
            <a:ext cx="1038014"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44,342</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631546"/>
            <a:ext cx="711662"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30,401</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649509"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27,746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2980944" y="3111337"/>
            <a:ext cx="602764"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25,749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37" name="Shape 35"/>
          <p:cNvSpPr/>
          <p:nvPr/>
        </p:nvSpPr>
        <p:spPr>
          <a:xfrm>
            <a:off x="2980944" y="3351233"/>
            <a:ext cx="498059"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21,276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591128"/>
            <a:ext cx="436748"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18,657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3831024"/>
            <a:ext cx="419629"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17,926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9" name="Shape 47"/>
          <p:cNvSpPr/>
          <p:nvPr/>
        </p:nvSpPr>
        <p:spPr>
          <a:xfrm>
            <a:off x="2980944" y="4070920"/>
            <a:ext cx="344483"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14,716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3" name="Shape 51"/>
          <p:cNvSpPr/>
          <p:nvPr/>
        </p:nvSpPr>
        <p:spPr>
          <a:xfrm>
            <a:off x="2980944" y="4310815"/>
            <a:ext cx="341580"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14,592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7" name="Shape 55"/>
          <p:cNvSpPr/>
          <p:nvPr/>
        </p:nvSpPr>
        <p:spPr>
          <a:xfrm>
            <a:off x="2980944" y="4550711"/>
            <a:ext cx="326318"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13,940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1" name="Shape 59"/>
          <p:cNvSpPr/>
          <p:nvPr/>
        </p:nvSpPr>
        <p:spPr>
          <a:xfrm>
            <a:off x="2980944" y="4790606"/>
            <a:ext cx="308206"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13,166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2980944" y="5030502"/>
            <a:ext cx="299995"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12,815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9" name="Shape 67"/>
          <p:cNvSpPr/>
          <p:nvPr/>
        </p:nvSpPr>
        <p:spPr>
          <a:xfrm>
            <a:off x="2980944" y="5270397"/>
            <a:ext cx="298846"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12,766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2980944" y="5510293"/>
            <a:ext cx="298644"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12,757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7" name="Shape 75"/>
          <p:cNvSpPr/>
          <p:nvPr/>
        </p:nvSpPr>
        <p:spPr>
          <a:xfrm>
            <a:off x="2980944" y="5750188"/>
            <a:ext cx="276102"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11,795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1" name="Shape 79"/>
          <p:cNvSpPr/>
          <p:nvPr/>
        </p:nvSpPr>
        <p:spPr>
          <a:xfrm>
            <a:off x="8531352" y="1911860"/>
            <a:ext cx="257333"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10,993</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5" name="Shape 83"/>
          <p:cNvSpPr/>
          <p:nvPr/>
        </p:nvSpPr>
        <p:spPr>
          <a:xfrm>
            <a:off x="8531352" y="2151755"/>
            <a:ext cx="250095"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10,684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8531352" y="2391651"/>
            <a:ext cx="222717"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9,514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3" name="Shape 91"/>
          <p:cNvSpPr/>
          <p:nvPr/>
        </p:nvSpPr>
        <p:spPr>
          <a:xfrm>
            <a:off x="8531352" y="2631546"/>
            <a:ext cx="194260"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8,298</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7" name="Shape 95"/>
          <p:cNvSpPr/>
          <p:nvPr/>
        </p:nvSpPr>
        <p:spPr>
          <a:xfrm>
            <a:off x="8531352" y="2871442"/>
            <a:ext cx="190890"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8,154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1" name="Shape 99"/>
          <p:cNvSpPr/>
          <p:nvPr/>
        </p:nvSpPr>
        <p:spPr>
          <a:xfrm>
            <a:off x="8531352" y="3111337"/>
            <a:ext cx="181408"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7,749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31352" y="3351233"/>
            <a:ext cx="157098"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6,711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9" name="Shape 107"/>
          <p:cNvSpPr/>
          <p:nvPr/>
        </p:nvSpPr>
        <p:spPr>
          <a:xfrm>
            <a:off x="8531352" y="3591128"/>
            <a:ext cx="152958"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6,534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31352" y="3831024"/>
            <a:ext cx="14564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6,222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7" name="Shape 115"/>
          <p:cNvSpPr/>
          <p:nvPr/>
        </p:nvSpPr>
        <p:spPr>
          <a:xfrm>
            <a:off x="8531352" y="4070920"/>
            <a:ext cx="142349"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8531352" y="4310815"/>
            <a:ext cx="122032"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5,213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31352" y="4550711"/>
            <a:ext cx="11809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5,045</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9" name="Shape 127"/>
          <p:cNvSpPr/>
          <p:nvPr/>
        </p:nvSpPr>
        <p:spPr>
          <a:xfrm>
            <a:off x="8531352" y="4790606"/>
            <a:ext cx="11585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3" name="Shape 131"/>
          <p:cNvSpPr/>
          <p:nvPr/>
        </p:nvSpPr>
        <p:spPr>
          <a:xfrm>
            <a:off x="8531352" y="5030502"/>
            <a:ext cx="111992"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31352" y="5270397"/>
            <a:ext cx="76952"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3,287</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31352" y="5510293"/>
            <a:ext cx="76698"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3,276</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Toyota Henderson leads at 78,123; VW St George is smallest at 3,276.</a:t>
            </a:r>
            <a:endParaRPr lang="en-US" sz="1600" dirty="0"/>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CUSTOMER PAY HOURS SOLD</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60874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1" name="Shape 19"/>
          <p:cNvSpPr/>
          <p:nvPr/>
        </p:nvSpPr>
        <p:spPr>
          <a:xfrm>
            <a:off x="3785616" y="2391651"/>
            <a:ext cx="58986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5" name="Shape 23"/>
          <p:cNvSpPr/>
          <p:nvPr/>
        </p:nvSpPr>
        <p:spPr>
          <a:xfrm>
            <a:off x="3785616" y="2631546"/>
            <a:ext cx="50260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9" name="Shape 27"/>
          <p:cNvSpPr/>
          <p:nvPr/>
        </p:nvSpPr>
        <p:spPr>
          <a:xfrm>
            <a:off x="3785616" y="2871442"/>
            <a:ext cx="489520"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33" name="Shape 31"/>
          <p:cNvSpPr/>
          <p:nvPr/>
        </p:nvSpPr>
        <p:spPr>
          <a:xfrm>
            <a:off x="3785616" y="3111337"/>
            <a:ext cx="475887"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7" name="Shape 35"/>
          <p:cNvSpPr/>
          <p:nvPr/>
        </p:nvSpPr>
        <p:spPr>
          <a:xfrm>
            <a:off x="3785616" y="3351233"/>
            <a:ext cx="40339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2001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785616" y="3831024"/>
            <a:ext cx="31980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785616" y="4070920"/>
            <a:ext cx="304780"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3" name="Shape 51"/>
          <p:cNvSpPr/>
          <p:nvPr/>
        </p:nvSpPr>
        <p:spPr>
          <a:xfrm>
            <a:off x="3785616" y="4310815"/>
            <a:ext cx="214987"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207215"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+11.9%</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187159"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5" name="Shape 63"/>
          <p:cNvSpPr/>
          <p:nvPr/>
        </p:nvSpPr>
        <p:spPr>
          <a:xfrm>
            <a:off x="3785616" y="5030502"/>
            <a:ext cx="172129"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1674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785616" y="5510293"/>
            <a:ext cx="11668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785616" y="5750188"/>
            <a:ext cx="11641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1063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5" name="Shape 83"/>
          <p:cNvSpPr/>
          <p:nvPr/>
        </p:nvSpPr>
        <p:spPr>
          <a:xfrm>
            <a:off x="9336024" y="2151755"/>
            <a:ext cx="9998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391651"/>
            <a:ext cx="89045"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8806"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1" name="Shape 99"/>
          <p:cNvSpPr/>
          <p:nvPr/>
        </p:nvSpPr>
        <p:spPr>
          <a:xfrm>
            <a:off x="9336024" y="3111337"/>
            <a:ext cx="1280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306237" y="3351233"/>
            <a:ext cx="29787"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9291402" y="3591128"/>
            <a:ext cx="44622"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9285327" y="3831024"/>
            <a:ext cx="5069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7" name="Shape 115"/>
          <p:cNvSpPr/>
          <p:nvPr/>
        </p:nvSpPr>
        <p:spPr>
          <a:xfrm>
            <a:off x="9275488" y="4070920"/>
            <a:ext cx="6053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21" name="Shape 119"/>
          <p:cNvSpPr/>
          <p:nvPr/>
        </p:nvSpPr>
        <p:spPr>
          <a:xfrm>
            <a:off x="9233370" y="4310815"/>
            <a:ext cx="10265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5" name="Shape 123"/>
          <p:cNvSpPr/>
          <p:nvPr/>
        </p:nvSpPr>
        <p:spPr>
          <a:xfrm>
            <a:off x="9206595" y="4550711"/>
            <a:ext cx="129429"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9193818" y="4790606"/>
            <a:ext cx="142206"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3" name="Shape 131"/>
          <p:cNvSpPr/>
          <p:nvPr/>
        </p:nvSpPr>
        <p:spPr>
          <a:xfrm>
            <a:off x="9153034" y="5030502"/>
            <a:ext cx="18299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9069849" y="5270397"/>
            <a:ext cx="26617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−15.3%</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892903" y="5510293"/>
            <a:ext cx="443121"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−25.4%</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23 of 33 stores sold more CP hours, led by Subaru St George at +44.6% to 12,766. 10 declined; VW St George fell most at −25.4%.</a:t>
            </a:r>
            <a:endParaRPr lang="en-US" sz="1600"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 Pay Hours Sold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8,827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12,766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+44.6%</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9,453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12,757</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5,045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6,328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8,154</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3,287</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+28.1%</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4,394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3,276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−25.4%</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12,611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10,684</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−15.3%</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7,749</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17,926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−8.2%</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48,486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44,883</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−7.4%</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1,102</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1,537</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+28.8%</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1,146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+24.3%</a:t>
            </a:r>
            <a:endParaRPr lang="en-US" sz="1600" dirty="0"/>
          </a:p>
        </p:txBody>
      </p:sp>
      <p:sp>
        <p:nvSpPr>
          <p:cNvPr id="63" name="Text 61"/>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4" name="Text 62"/>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1,692</a:t>
            </a:r>
            <a:endParaRPr lang="en-US" sz="1400" dirty="0"/>
          </a:p>
        </p:txBody>
      </p:sp>
      <p:sp>
        <p:nvSpPr>
          <p:cNvPr id="65" name="Text 63"/>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+23.8%</a:t>
            </a:r>
            <a:endParaRPr lang="en-US" sz="1600" dirty="0"/>
          </a:p>
        </p:txBody>
      </p:sp>
      <p:sp>
        <p:nvSpPr>
          <p:cNvPr id="66" name="Shape 64"/>
          <p:cNvSpPr/>
          <p:nvPr/>
        </p:nvSpPr>
        <p:spPr>
          <a:xfrm>
            <a:off x="8040624" y="5124298"/>
            <a:ext cx="3489960" cy="755294"/>
          </a:xfrm>
          <a:prstGeom prst="rect">
            <a:avLst/>
          </a:prstGeom>
          <a:solidFill>
            <a:srgbClr val="F7F7F7"/>
          </a:solidFill>
          <a:ln/>
        </p:spPr>
      </p:sp>
      <p:sp>
        <p:nvSpPr>
          <p:cNvPr id="67" name="Shape 65"/>
          <p:cNvSpPr/>
          <p:nvPr/>
        </p:nvSpPr>
        <p:spPr>
          <a:xfrm>
            <a:off x="11466576" y="5160874"/>
            <a:ext cx="64008" cy="682142"/>
          </a:xfrm>
          <a:prstGeom prst="rect">
            <a:avLst/>
          </a:prstGeom>
          <a:solidFill>
            <a:srgbClr val="12A566"/>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634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+23.1%</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St George, Kia LV and Kia St George what changed. Ask VW St George, Audi Reno and Volvo what got in the way. Ask Mazda, CDJR Post Falls and Lexus what they started this year.</a:t>
            </a:r>
            <a:endParaRPr lang="en-US" sz="1600" dirty="0"/>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Hours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 count</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labor hours we sell, on average, every time a customer-pay car comes through the drive.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0.1 HOUR</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0.1 hour more on every RO  </a:t>
            </a:r>
            <a:pPr algn="ctr" indent="0" marL="0">
              <a:buNone/>
            </a:pPr>
            <a:r>
              <a:rPr lang="en-US" sz="1400" b="1" dirty="0">
                <a:solidFill>
                  <a:srgbClr val="0B2C4A"/>
                </a:solidFill>
                <a:latin typeface="Inter" pitchFamily="34" charset="0"/>
                <a:ea typeface="Inter" pitchFamily="34" charset="-122"/>
                <a:cs typeface="Inter" pitchFamily="34" charset="-120"/>
              </a:rPr>
              <a:t>= 27,976 more hours</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$162 an hour (our ELR)  </a:t>
            </a:r>
            <a:pPr algn="ctr" indent="0" marL="0">
              <a:buNone/>
            </a:pPr>
            <a:r>
              <a:rPr lang="en-US" sz="1400" b="1" dirty="0">
                <a:solidFill>
                  <a:srgbClr val="0B2C4A"/>
                </a:solidFill>
                <a:latin typeface="Inter" pitchFamily="34" charset="0"/>
                <a:ea typeface="Inter" pitchFamily="34" charset="-122"/>
                <a:cs typeface="Inter" pitchFamily="34" charset="-120"/>
              </a:rPr>
              <a:t>= $4.5M more labor</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cannot be manipulated: it is the work we sell.</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shows where the lift came from: if labor sales per RO go up but hours per RO stay flat, we are charging more, not selling more.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Selling more hours also sells parts.</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car inspected, with photos and video sent to the customer</a:t>
            </a:r>
            <a:endParaRPr lang="en-US" sz="1400" dirty="0"/>
          </a:p>
        </p:txBody>
      </p:sp>
      <p:sp>
        <p:nvSpPr>
          <p:cNvPr id="20" name="Shape 18"/>
          <p:cNvSpPr/>
          <p:nvPr/>
        </p:nvSpPr>
        <p:spPr>
          <a:xfrm>
            <a:off x="7309104" y="3410712"/>
            <a:ext cx="45720" cy="1133856"/>
          </a:xfrm>
          <a:prstGeom prst="rect">
            <a:avLst/>
          </a:prstGeom>
          <a:solidFill>
            <a:srgbClr val="2587C5"/>
          </a:solidFill>
          <a:ln/>
        </p:spPr>
      </p:sp>
      <p:sp>
        <p:nvSpPr>
          <p:cNvPr id="21" name="Text 19"/>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Road to the Sale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Walk-around at the vehicle: hood, tires and wipers</a:t>
            </a:r>
            <a:endParaRPr lang="en-US" sz="1400" dirty="0"/>
          </a:p>
        </p:txBody>
      </p:sp>
      <p:sp>
        <p:nvSpPr>
          <p:cNvPr id="22" name="Shape 20"/>
          <p:cNvSpPr/>
          <p:nvPr/>
        </p:nvSpPr>
        <p:spPr>
          <a:xfrm>
            <a:off x="9479280" y="3410712"/>
            <a:ext cx="45720" cy="1133856"/>
          </a:xfrm>
          <a:prstGeom prst="rect">
            <a:avLst/>
          </a:prstGeom>
          <a:solidFill>
            <a:srgbClr val="2587C5"/>
          </a:solidFill>
          <a:ln/>
        </p:spPr>
      </p:sp>
      <p:sp>
        <p:nvSpPr>
          <p:cNvPr id="23" name="Text 21"/>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presentation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 every time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Declined work follow-up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A defined process and a champion to bring it back</a:t>
            </a:r>
            <a:endParaRPr lang="en-US" sz="1400" dirty="0"/>
          </a:p>
        </p:txBody>
      </p:sp>
      <p:sp>
        <p:nvSpPr>
          <p:cNvPr id="26" name="Shape 24"/>
          <p:cNvSpPr/>
          <p:nvPr/>
        </p:nvSpPr>
        <p:spPr>
          <a:xfrm>
            <a:off x="7309104" y="4654296"/>
            <a:ext cx="45720" cy="1133856"/>
          </a:xfrm>
          <a:prstGeom prst="rect">
            <a:avLst/>
          </a:prstGeom>
          <a:solidFill>
            <a:srgbClr val="2587C5"/>
          </a:solidFill>
          <a:ln/>
        </p:spPr>
      </p:sp>
      <p:sp>
        <p:nvSpPr>
          <p:cNvPr id="27" name="Text 25"/>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 code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Sell the hours the job pays; don't give time away</a:t>
            </a:r>
            <a:endParaRPr lang="en-US" sz="1400" dirty="0"/>
          </a:p>
        </p:txBody>
      </p:sp>
      <p:sp>
        <p:nvSpPr>
          <p:cNvPr id="28" name="Shape 26"/>
          <p:cNvSpPr/>
          <p:nvPr/>
        </p:nvSpPr>
        <p:spPr>
          <a:xfrm>
            <a:off x="9479280" y="4654296"/>
            <a:ext cx="45720" cy="1133856"/>
          </a:xfrm>
          <a:prstGeom prst="rect">
            <a:avLst/>
          </a:prstGeom>
          <a:solidFill>
            <a:srgbClr val="2587C5"/>
          </a:solidFill>
          <a:ln/>
        </p:spPr>
      </p:sp>
      <p:sp>
        <p:nvSpPr>
          <p:cNvPr id="29" name="Text 27"/>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High-mileage and repair work to the techs who find it</a:t>
            </a:r>
            <a:endParaRPr lang="en-US" sz="1400" dirty="0"/>
          </a:p>
        </p:txBody>
      </p:sp>
      <p:sp>
        <p:nvSpPr>
          <p:cNvPr id="30" name="Shape 28"/>
          <p:cNvSpPr/>
          <p:nvPr/>
        </p:nvSpPr>
        <p:spPr>
          <a:xfrm>
            <a:off x="457200" y="6126480"/>
            <a:ext cx="11274552" cy="371856"/>
          </a:xfrm>
          <a:prstGeom prst="rect">
            <a:avLst/>
          </a:prstGeom>
          <a:solidFill>
            <a:srgbClr val="E6F6EE"/>
          </a:solidFill>
          <a:ln/>
        </p:spPr>
      </p:sp>
      <p:sp>
        <p:nvSpPr>
          <p:cNvPr id="31" name="Text 29"/>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1.87 CP hours per RO, up 0.07 and ahead of 2025 in all nine months.</a:t>
            </a:r>
            <a:endParaRPr lang="en-US" sz="1600" dirty="0"/>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05582"/>
            <a:ext cx="457065"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29341"/>
            <a:ext cx="44883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853100"/>
            <a:ext cx="285971"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076859"/>
            <a:ext cx="27351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300618"/>
            <a:ext cx="243019"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524377"/>
            <a:ext cx="221150"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748136"/>
            <a:ext cx="213615"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3971895"/>
            <a:ext cx="199984"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195654"/>
            <a:ext cx="19475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419414"/>
            <a:ext cx="178946"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643173"/>
            <a:ext cx="116148"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4866932"/>
            <a:ext cx="107010"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090691"/>
            <a:ext cx="10052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314450"/>
            <a:ext cx="98764"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538209"/>
            <a:ext cx="90351"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5761968"/>
            <a:ext cx="87569"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1823"/>
            <a:ext cx="87555"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05582"/>
            <a:ext cx="85038"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29341"/>
            <a:ext cx="57905"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853100"/>
            <a:ext cx="48836"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076859"/>
            <a:ext cx="37477"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300618"/>
            <a:ext cx="30771"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524377"/>
            <a:ext cx="30771"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748136"/>
            <a:ext cx="12802"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3971895"/>
            <a:ext cx="12802"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195654"/>
            <a:ext cx="26717"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419414"/>
            <a:ext cx="26806"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643173"/>
            <a:ext cx="42569"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4866932"/>
            <a:ext cx="77217"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090691"/>
            <a:ext cx="170999"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314450"/>
            <a:ext cx="18307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538209"/>
            <a:ext cx="200068"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sold more hours per RO, led by Hyundai St George at +39.2% (+0.40) to 1.43. 7 declined; LR Reno fell most at −13.7%.</a:t>
            </a:r>
            <a:endParaRPr lang="en-US" sz="1600" dirty="0"/>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0.1 Hour per RO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5001768"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10552176"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8" name="Text 6"/>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9" name="Text 7"/>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0" name="Shape 8"/>
          <p:cNvSpPr/>
          <p:nvPr/>
        </p:nvSpPr>
        <p:spPr>
          <a:xfrm>
            <a:off x="3099816" y="1756697"/>
            <a:ext cx="1847088" cy="136676"/>
          </a:xfrm>
          <a:prstGeom prst="rect">
            <a:avLst/>
          </a:prstGeom>
          <a:solidFill>
            <a:srgbClr val="2587C5"/>
          </a:solidFill>
          <a:ln/>
        </p:spPr>
      </p:sp>
      <p:sp>
        <p:nvSpPr>
          <p:cNvPr id="11" name="Text 9"/>
          <p:cNvSpPr txBox="1"/>
          <p:nvPr/>
        </p:nvSpPr>
        <p:spPr>
          <a:xfrm>
            <a:off x="5001768"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$1.16M</a:t>
            </a:r>
            <a:endParaRPr lang="en-US" sz="1300" dirty="0"/>
          </a:p>
        </p:txBody>
      </p:sp>
      <p:sp>
        <p:nvSpPr>
          <p:cNvPr id="12" name="Text 10"/>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3" name="Text 11"/>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099816" y="2005199"/>
            <a:ext cx="815170" cy="136676"/>
          </a:xfrm>
          <a:prstGeom prst="rect">
            <a:avLst/>
          </a:prstGeom>
          <a:solidFill>
            <a:srgbClr val="2587C5"/>
          </a:solidFill>
          <a:ln/>
        </p:spPr>
      </p:sp>
      <p:sp>
        <p:nvSpPr>
          <p:cNvPr id="15" name="Text 13"/>
          <p:cNvSpPr txBox="1"/>
          <p:nvPr/>
        </p:nvSpPr>
        <p:spPr>
          <a:xfrm>
            <a:off x="5001768"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$514K</a:t>
            </a:r>
            <a:endParaRPr lang="en-US" sz="1300" dirty="0"/>
          </a:p>
        </p:txBody>
      </p:sp>
      <p:sp>
        <p:nvSpPr>
          <p:cNvPr id="16" name="Text 14"/>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7" name="Text 15"/>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 name="Shape 16"/>
          <p:cNvSpPr/>
          <p:nvPr/>
        </p:nvSpPr>
        <p:spPr>
          <a:xfrm>
            <a:off x="3099816" y="2253700"/>
            <a:ext cx="650852" cy="136676"/>
          </a:xfrm>
          <a:prstGeom prst="rect">
            <a:avLst/>
          </a:prstGeom>
          <a:solidFill>
            <a:srgbClr val="2587C5"/>
          </a:solidFill>
          <a:ln/>
        </p:spPr>
      </p:sp>
      <p:sp>
        <p:nvSpPr>
          <p:cNvPr id="19" name="Text 17"/>
          <p:cNvSpPr txBox="1"/>
          <p:nvPr/>
        </p:nvSpPr>
        <p:spPr>
          <a:xfrm>
            <a:off x="5001768"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20" name="Text 1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1" name="Text 19"/>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22" name="Shape 20"/>
          <p:cNvSpPr/>
          <p:nvPr/>
        </p:nvSpPr>
        <p:spPr>
          <a:xfrm>
            <a:off x="3099816" y="2502202"/>
            <a:ext cx="548052" cy="136676"/>
          </a:xfrm>
          <a:prstGeom prst="rect">
            <a:avLst/>
          </a:prstGeom>
          <a:solidFill>
            <a:srgbClr val="2587C5"/>
          </a:solidFill>
          <a:ln/>
        </p:spPr>
      </p:sp>
      <p:sp>
        <p:nvSpPr>
          <p:cNvPr id="23" name="Text 21"/>
          <p:cNvSpPr txBox="1"/>
          <p:nvPr/>
        </p:nvSpPr>
        <p:spPr>
          <a:xfrm>
            <a:off x="5001768"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$345K</a:t>
            </a:r>
            <a:endParaRPr lang="en-US" sz="1300" dirty="0"/>
          </a:p>
        </p:txBody>
      </p:sp>
      <p:sp>
        <p:nvSpPr>
          <p:cNvPr id="24" name="Text 22"/>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5" name="Text 23"/>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6" name="Shape 24"/>
          <p:cNvSpPr/>
          <p:nvPr/>
        </p:nvSpPr>
        <p:spPr>
          <a:xfrm>
            <a:off x="3099816" y="2750703"/>
            <a:ext cx="538230" cy="136676"/>
          </a:xfrm>
          <a:prstGeom prst="rect">
            <a:avLst/>
          </a:prstGeom>
          <a:solidFill>
            <a:srgbClr val="2587C5"/>
          </a:solidFill>
          <a:ln/>
        </p:spPr>
      </p:sp>
      <p:sp>
        <p:nvSpPr>
          <p:cNvPr id="27" name="Text 25"/>
          <p:cNvSpPr txBox="1"/>
          <p:nvPr/>
        </p:nvSpPr>
        <p:spPr>
          <a:xfrm>
            <a:off x="5001768"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28" name="Text 26"/>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29" name="Text 27"/>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0" name="Shape 28"/>
          <p:cNvSpPr/>
          <p:nvPr/>
        </p:nvSpPr>
        <p:spPr>
          <a:xfrm>
            <a:off x="3099816" y="2999205"/>
            <a:ext cx="532055" cy="136676"/>
          </a:xfrm>
          <a:prstGeom prst="rect">
            <a:avLst/>
          </a:prstGeom>
          <a:solidFill>
            <a:srgbClr val="2587C5"/>
          </a:solidFill>
          <a:ln/>
        </p:spPr>
      </p:sp>
      <p:sp>
        <p:nvSpPr>
          <p:cNvPr id="31" name="Text 29"/>
          <p:cNvSpPr txBox="1"/>
          <p:nvPr/>
        </p:nvSpPr>
        <p:spPr>
          <a:xfrm>
            <a:off x="5001768"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$335K</a:t>
            </a:r>
            <a:endParaRPr lang="en-US" sz="1300" dirty="0"/>
          </a:p>
        </p:txBody>
      </p:sp>
      <p:sp>
        <p:nvSpPr>
          <p:cNvPr id="32" name="Text 3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3" name="Text 3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34" name="Shape 32"/>
          <p:cNvSpPr/>
          <p:nvPr/>
        </p:nvSpPr>
        <p:spPr>
          <a:xfrm>
            <a:off x="3099816" y="3247707"/>
            <a:ext cx="488857" cy="136676"/>
          </a:xfrm>
          <a:prstGeom prst="rect">
            <a:avLst/>
          </a:prstGeom>
          <a:solidFill>
            <a:srgbClr val="2587C5"/>
          </a:solidFill>
          <a:ln/>
        </p:spPr>
      </p:sp>
      <p:sp>
        <p:nvSpPr>
          <p:cNvPr id="35" name="Text 33"/>
          <p:cNvSpPr txBox="1"/>
          <p:nvPr/>
        </p:nvSpPr>
        <p:spPr>
          <a:xfrm>
            <a:off x="5001768"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$308K</a:t>
            </a:r>
            <a:endParaRPr lang="en-US" sz="1300" dirty="0"/>
          </a:p>
        </p:txBody>
      </p:sp>
      <p:sp>
        <p:nvSpPr>
          <p:cNvPr id="36" name="Text 34"/>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7" name="Text 35"/>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8" name="Shape 36"/>
          <p:cNvSpPr/>
          <p:nvPr/>
        </p:nvSpPr>
        <p:spPr>
          <a:xfrm>
            <a:off x="3099816" y="3496208"/>
            <a:ext cx="486976" cy="136676"/>
          </a:xfrm>
          <a:prstGeom prst="rect">
            <a:avLst/>
          </a:prstGeom>
          <a:solidFill>
            <a:srgbClr val="2587C5"/>
          </a:solidFill>
          <a:ln/>
        </p:spPr>
      </p:sp>
      <p:sp>
        <p:nvSpPr>
          <p:cNvPr id="39" name="Text 37"/>
          <p:cNvSpPr txBox="1"/>
          <p:nvPr/>
        </p:nvSpPr>
        <p:spPr>
          <a:xfrm>
            <a:off x="5001768"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$307K</a:t>
            </a:r>
            <a:endParaRPr lang="en-US" sz="1300" dirty="0"/>
          </a:p>
        </p:txBody>
      </p:sp>
      <p:sp>
        <p:nvSpPr>
          <p:cNvPr id="40" name="Text 3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1" name="Text 39"/>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42" name="Shape 40"/>
          <p:cNvSpPr/>
          <p:nvPr/>
        </p:nvSpPr>
        <p:spPr>
          <a:xfrm>
            <a:off x="3099816" y="3744710"/>
            <a:ext cx="311151" cy="136676"/>
          </a:xfrm>
          <a:prstGeom prst="rect">
            <a:avLst/>
          </a:prstGeom>
          <a:solidFill>
            <a:srgbClr val="2587C5"/>
          </a:solidFill>
          <a:ln/>
        </p:spPr>
      </p:sp>
      <p:sp>
        <p:nvSpPr>
          <p:cNvPr id="43" name="Text 41"/>
          <p:cNvSpPr txBox="1"/>
          <p:nvPr/>
        </p:nvSpPr>
        <p:spPr>
          <a:xfrm>
            <a:off x="5001768"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$196K</a:t>
            </a:r>
            <a:endParaRPr lang="en-US" sz="1300" dirty="0"/>
          </a:p>
        </p:txBody>
      </p:sp>
      <p:sp>
        <p:nvSpPr>
          <p:cNvPr id="44" name="Text 42"/>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5" name="Text 43"/>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46" name="Shape 44"/>
          <p:cNvSpPr/>
          <p:nvPr/>
        </p:nvSpPr>
        <p:spPr>
          <a:xfrm>
            <a:off x="3099816" y="3993212"/>
            <a:ext cx="294048" cy="136676"/>
          </a:xfrm>
          <a:prstGeom prst="rect">
            <a:avLst/>
          </a:prstGeom>
          <a:solidFill>
            <a:srgbClr val="2587C5"/>
          </a:solidFill>
          <a:ln/>
        </p:spPr>
      </p:sp>
      <p:sp>
        <p:nvSpPr>
          <p:cNvPr id="47" name="Text 45"/>
          <p:cNvSpPr txBox="1"/>
          <p:nvPr/>
        </p:nvSpPr>
        <p:spPr>
          <a:xfrm>
            <a:off x="5001768"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$185K</a:t>
            </a:r>
            <a:endParaRPr lang="en-US" sz="1300" dirty="0"/>
          </a:p>
        </p:txBody>
      </p:sp>
      <p:sp>
        <p:nvSpPr>
          <p:cNvPr id="48" name="Text 46"/>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49" name="Text 47"/>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50" name="Shape 48"/>
          <p:cNvSpPr/>
          <p:nvPr/>
        </p:nvSpPr>
        <p:spPr>
          <a:xfrm>
            <a:off x="3099816" y="4241713"/>
            <a:ext cx="283945" cy="136676"/>
          </a:xfrm>
          <a:prstGeom prst="rect">
            <a:avLst/>
          </a:prstGeom>
          <a:solidFill>
            <a:srgbClr val="2587C5"/>
          </a:solidFill>
          <a:ln/>
        </p:spPr>
      </p:sp>
      <p:sp>
        <p:nvSpPr>
          <p:cNvPr id="51" name="Text 49"/>
          <p:cNvSpPr txBox="1"/>
          <p:nvPr/>
        </p:nvSpPr>
        <p:spPr>
          <a:xfrm>
            <a:off x="5001768"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$179K</a:t>
            </a:r>
            <a:endParaRPr lang="en-US" sz="1300" dirty="0"/>
          </a:p>
        </p:txBody>
      </p:sp>
      <p:sp>
        <p:nvSpPr>
          <p:cNvPr id="52" name="Text 50"/>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3" name="Text 51"/>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4" name="Shape 52"/>
          <p:cNvSpPr/>
          <p:nvPr/>
        </p:nvSpPr>
        <p:spPr>
          <a:xfrm>
            <a:off x="3099816" y="4490215"/>
            <a:ext cx="240854" cy="136676"/>
          </a:xfrm>
          <a:prstGeom prst="rect">
            <a:avLst/>
          </a:prstGeom>
          <a:solidFill>
            <a:srgbClr val="2587C5"/>
          </a:solidFill>
          <a:ln/>
        </p:spPr>
      </p:sp>
      <p:sp>
        <p:nvSpPr>
          <p:cNvPr id="55" name="Text 53"/>
          <p:cNvSpPr txBox="1"/>
          <p:nvPr/>
        </p:nvSpPr>
        <p:spPr>
          <a:xfrm>
            <a:off x="5001768"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56" name="Text 54"/>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7" name="Text 55"/>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8" name="Shape 56"/>
          <p:cNvSpPr/>
          <p:nvPr/>
        </p:nvSpPr>
        <p:spPr>
          <a:xfrm>
            <a:off x="3099816" y="4738717"/>
            <a:ext cx="236258" cy="136676"/>
          </a:xfrm>
          <a:prstGeom prst="rect">
            <a:avLst/>
          </a:prstGeom>
          <a:solidFill>
            <a:srgbClr val="2587C5"/>
          </a:solidFill>
          <a:ln/>
        </p:spPr>
      </p:sp>
      <p:sp>
        <p:nvSpPr>
          <p:cNvPr id="59" name="Text 57"/>
          <p:cNvSpPr txBox="1"/>
          <p:nvPr/>
        </p:nvSpPr>
        <p:spPr>
          <a:xfrm>
            <a:off x="5001768"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$149K</a:t>
            </a:r>
            <a:endParaRPr lang="en-US" sz="1300" dirty="0"/>
          </a:p>
        </p:txBody>
      </p:sp>
      <p:sp>
        <p:nvSpPr>
          <p:cNvPr id="60" name="Text 5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1" name="Text 59"/>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2" name="Shape 60"/>
          <p:cNvSpPr/>
          <p:nvPr/>
        </p:nvSpPr>
        <p:spPr>
          <a:xfrm>
            <a:off x="3099816" y="4987218"/>
            <a:ext cx="232096" cy="136676"/>
          </a:xfrm>
          <a:prstGeom prst="rect">
            <a:avLst/>
          </a:prstGeom>
          <a:solidFill>
            <a:srgbClr val="2587C5"/>
          </a:solidFill>
          <a:ln/>
        </p:spPr>
      </p:sp>
      <p:sp>
        <p:nvSpPr>
          <p:cNvPr id="63" name="Text 61"/>
          <p:cNvSpPr txBox="1"/>
          <p:nvPr/>
        </p:nvSpPr>
        <p:spPr>
          <a:xfrm>
            <a:off x="5001768"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$146K</a:t>
            </a:r>
            <a:endParaRPr lang="en-US" sz="1300" dirty="0"/>
          </a:p>
        </p:txBody>
      </p:sp>
      <p:sp>
        <p:nvSpPr>
          <p:cNvPr id="64" name="Text 62"/>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5" name="Text 63"/>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66" name="Shape 64"/>
          <p:cNvSpPr/>
          <p:nvPr/>
        </p:nvSpPr>
        <p:spPr>
          <a:xfrm>
            <a:off x="3099816" y="5235720"/>
            <a:ext cx="224903" cy="136676"/>
          </a:xfrm>
          <a:prstGeom prst="rect">
            <a:avLst/>
          </a:prstGeom>
          <a:solidFill>
            <a:srgbClr val="2587C5"/>
          </a:solidFill>
          <a:ln/>
        </p:spPr>
      </p:sp>
      <p:sp>
        <p:nvSpPr>
          <p:cNvPr id="67" name="Text 65"/>
          <p:cNvSpPr txBox="1"/>
          <p:nvPr/>
        </p:nvSpPr>
        <p:spPr>
          <a:xfrm>
            <a:off x="5001768"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$142K</a:t>
            </a:r>
            <a:endParaRPr lang="en-US" sz="1300" dirty="0"/>
          </a:p>
        </p:txBody>
      </p:sp>
      <p:sp>
        <p:nvSpPr>
          <p:cNvPr id="68" name="Text 66"/>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69" name="Text 67"/>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0" name="Shape 68"/>
          <p:cNvSpPr/>
          <p:nvPr/>
        </p:nvSpPr>
        <p:spPr>
          <a:xfrm>
            <a:off x="3099816" y="5484222"/>
            <a:ext cx="213249" cy="136676"/>
          </a:xfrm>
          <a:prstGeom prst="rect">
            <a:avLst/>
          </a:prstGeom>
          <a:solidFill>
            <a:srgbClr val="2587C5"/>
          </a:solidFill>
          <a:ln/>
        </p:spPr>
      </p:sp>
      <p:sp>
        <p:nvSpPr>
          <p:cNvPr id="71" name="Text 69"/>
          <p:cNvSpPr txBox="1"/>
          <p:nvPr/>
        </p:nvSpPr>
        <p:spPr>
          <a:xfrm>
            <a:off x="5001768"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2" name="Text 7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3" name="Text 7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4" name="Shape 72"/>
          <p:cNvSpPr/>
          <p:nvPr/>
        </p:nvSpPr>
        <p:spPr>
          <a:xfrm>
            <a:off x="3099816" y="5732723"/>
            <a:ext cx="211785" cy="136676"/>
          </a:xfrm>
          <a:prstGeom prst="rect">
            <a:avLst/>
          </a:prstGeom>
          <a:solidFill>
            <a:srgbClr val="2587C5"/>
          </a:solidFill>
          <a:ln/>
        </p:spPr>
      </p:sp>
      <p:sp>
        <p:nvSpPr>
          <p:cNvPr id="75" name="Text 73"/>
          <p:cNvSpPr txBox="1"/>
          <p:nvPr/>
        </p:nvSpPr>
        <p:spPr>
          <a:xfrm>
            <a:off x="5001768"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$134K</a:t>
            </a:r>
            <a:endParaRPr lang="en-US" sz="1300" dirty="0"/>
          </a:p>
        </p:txBody>
      </p:sp>
      <p:sp>
        <p:nvSpPr>
          <p:cNvPr id="76" name="Text 74"/>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7" name="Text 75"/>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78" name="Shape 76"/>
          <p:cNvSpPr/>
          <p:nvPr/>
        </p:nvSpPr>
        <p:spPr>
          <a:xfrm>
            <a:off x="8650224" y="1756697"/>
            <a:ext cx="210549" cy="136676"/>
          </a:xfrm>
          <a:prstGeom prst="rect">
            <a:avLst/>
          </a:prstGeom>
          <a:solidFill>
            <a:srgbClr val="2587C5"/>
          </a:solidFill>
          <a:ln/>
        </p:spPr>
      </p:sp>
      <p:sp>
        <p:nvSpPr>
          <p:cNvPr id="79" name="Text 77"/>
          <p:cNvSpPr txBox="1"/>
          <p:nvPr/>
        </p:nvSpPr>
        <p:spPr>
          <a:xfrm>
            <a:off x="10552176"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$133K</a:t>
            </a:r>
            <a:endParaRPr lang="en-US" sz="1300" dirty="0"/>
          </a:p>
        </p:txBody>
      </p:sp>
      <p:sp>
        <p:nvSpPr>
          <p:cNvPr id="80" name="Text 7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1" name="Text 79"/>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82" name="Shape 80"/>
          <p:cNvSpPr/>
          <p:nvPr/>
        </p:nvSpPr>
        <p:spPr>
          <a:xfrm>
            <a:off x="8650224" y="2005199"/>
            <a:ext cx="209258" cy="136676"/>
          </a:xfrm>
          <a:prstGeom prst="rect">
            <a:avLst/>
          </a:prstGeom>
          <a:solidFill>
            <a:srgbClr val="2587C5"/>
          </a:solidFill>
          <a:ln/>
        </p:spPr>
      </p:sp>
      <p:sp>
        <p:nvSpPr>
          <p:cNvPr id="83" name="Text 81"/>
          <p:cNvSpPr txBox="1"/>
          <p:nvPr/>
        </p:nvSpPr>
        <p:spPr>
          <a:xfrm>
            <a:off x="10552176"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$132K</a:t>
            </a:r>
            <a:endParaRPr lang="en-US" sz="1300" dirty="0"/>
          </a:p>
        </p:txBody>
      </p:sp>
      <p:sp>
        <p:nvSpPr>
          <p:cNvPr id="84" name="Text 82"/>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5" name="Text 83"/>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6" name="Shape 84"/>
          <p:cNvSpPr/>
          <p:nvPr/>
        </p:nvSpPr>
        <p:spPr>
          <a:xfrm>
            <a:off x="8650224" y="2253700"/>
            <a:ext cx="205646" cy="136676"/>
          </a:xfrm>
          <a:prstGeom prst="rect">
            <a:avLst/>
          </a:prstGeom>
          <a:solidFill>
            <a:srgbClr val="2587C5"/>
          </a:solidFill>
          <a:ln/>
        </p:spPr>
      </p:sp>
      <p:sp>
        <p:nvSpPr>
          <p:cNvPr id="87" name="Text 85"/>
          <p:cNvSpPr txBox="1"/>
          <p:nvPr/>
        </p:nvSpPr>
        <p:spPr>
          <a:xfrm>
            <a:off x="10552176"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$130K</a:t>
            </a:r>
            <a:endParaRPr lang="en-US" sz="1300" dirty="0"/>
          </a:p>
        </p:txBody>
      </p:sp>
      <p:sp>
        <p:nvSpPr>
          <p:cNvPr id="88" name="Text 86"/>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89" name="Text 87"/>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0" name="Shape 88"/>
          <p:cNvSpPr/>
          <p:nvPr/>
        </p:nvSpPr>
        <p:spPr>
          <a:xfrm>
            <a:off x="8650224" y="2502202"/>
            <a:ext cx="194412" cy="136676"/>
          </a:xfrm>
          <a:prstGeom prst="rect">
            <a:avLst/>
          </a:prstGeom>
          <a:solidFill>
            <a:srgbClr val="2587C5"/>
          </a:solidFill>
          <a:ln/>
        </p:spPr>
      </p:sp>
      <p:sp>
        <p:nvSpPr>
          <p:cNvPr id="91" name="Text 89"/>
          <p:cNvSpPr txBox="1"/>
          <p:nvPr/>
        </p:nvSpPr>
        <p:spPr>
          <a:xfrm>
            <a:off x="10552176"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$123K</a:t>
            </a:r>
            <a:endParaRPr lang="en-US" sz="1300" dirty="0"/>
          </a:p>
        </p:txBody>
      </p:sp>
      <p:sp>
        <p:nvSpPr>
          <p:cNvPr id="92" name="Text 90"/>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3" name="Text 91"/>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4" name="Shape 92"/>
          <p:cNvSpPr/>
          <p:nvPr/>
        </p:nvSpPr>
        <p:spPr>
          <a:xfrm>
            <a:off x="8650224" y="2750703"/>
            <a:ext cx="187233" cy="136676"/>
          </a:xfrm>
          <a:prstGeom prst="rect">
            <a:avLst/>
          </a:prstGeom>
          <a:solidFill>
            <a:srgbClr val="2587C5"/>
          </a:solidFill>
          <a:ln/>
        </p:spPr>
      </p:sp>
      <p:sp>
        <p:nvSpPr>
          <p:cNvPr id="95" name="Text 93"/>
          <p:cNvSpPr txBox="1"/>
          <p:nvPr/>
        </p:nvSpPr>
        <p:spPr>
          <a:xfrm>
            <a:off x="10552176"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$118K</a:t>
            </a:r>
            <a:endParaRPr lang="en-US" sz="1300" dirty="0"/>
          </a:p>
        </p:txBody>
      </p:sp>
      <p:sp>
        <p:nvSpPr>
          <p:cNvPr id="96" name="Text 94"/>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7" name="Text 95"/>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8650224" y="2999205"/>
            <a:ext cx="182551" cy="136676"/>
          </a:xfrm>
          <a:prstGeom prst="rect">
            <a:avLst/>
          </a:prstGeom>
          <a:solidFill>
            <a:srgbClr val="2587C5"/>
          </a:solidFill>
          <a:ln/>
        </p:spPr>
      </p:sp>
      <p:sp>
        <p:nvSpPr>
          <p:cNvPr id="99" name="Text 97"/>
          <p:cNvSpPr txBox="1"/>
          <p:nvPr/>
        </p:nvSpPr>
        <p:spPr>
          <a:xfrm>
            <a:off x="10552176"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$115K</a:t>
            </a:r>
            <a:endParaRPr lang="en-US" sz="1300" dirty="0"/>
          </a:p>
        </p:txBody>
      </p:sp>
      <p:sp>
        <p:nvSpPr>
          <p:cNvPr id="100" name="Text 9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1" name="Text 99"/>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02" name="Shape 100"/>
          <p:cNvSpPr/>
          <p:nvPr/>
        </p:nvSpPr>
        <p:spPr>
          <a:xfrm>
            <a:off x="8650224" y="3247707"/>
            <a:ext cx="160249" cy="136676"/>
          </a:xfrm>
          <a:prstGeom prst="rect">
            <a:avLst/>
          </a:prstGeom>
          <a:solidFill>
            <a:srgbClr val="2587C5"/>
          </a:solidFill>
          <a:ln/>
        </p:spPr>
      </p:sp>
      <p:sp>
        <p:nvSpPr>
          <p:cNvPr id="103" name="Text 101"/>
          <p:cNvSpPr txBox="1"/>
          <p:nvPr/>
        </p:nvSpPr>
        <p:spPr>
          <a:xfrm>
            <a:off x="10552176"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$101K</a:t>
            </a:r>
            <a:endParaRPr lang="en-US" sz="1300" dirty="0"/>
          </a:p>
        </p:txBody>
      </p:sp>
      <p:sp>
        <p:nvSpPr>
          <p:cNvPr id="104" name="Text 102"/>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5" name="Text 103"/>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6" name="Shape 104"/>
          <p:cNvSpPr/>
          <p:nvPr/>
        </p:nvSpPr>
        <p:spPr>
          <a:xfrm>
            <a:off x="8650224" y="3496208"/>
            <a:ext cx="157028" cy="136676"/>
          </a:xfrm>
          <a:prstGeom prst="rect">
            <a:avLst/>
          </a:prstGeom>
          <a:solidFill>
            <a:srgbClr val="2587C5"/>
          </a:solidFill>
          <a:ln/>
        </p:spPr>
      </p:sp>
      <p:sp>
        <p:nvSpPr>
          <p:cNvPr id="107" name="Text 105"/>
          <p:cNvSpPr txBox="1"/>
          <p:nvPr/>
        </p:nvSpPr>
        <p:spPr>
          <a:xfrm>
            <a:off x="10552176"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$99K</a:t>
            </a:r>
            <a:endParaRPr lang="en-US" sz="1300" dirty="0"/>
          </a:p>
        </p:txBody>
      </p:sp>
      <p:sp>
        <p:nvSpPr>
          <p:cNvPr id="108" name="Text 106"/>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09" name="Text 107"/>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0" name="Shape 108"/>
          <p:cNvSpPr/>
          <p:nvPr/>
        </p:nvSpPr>
        <p:spPr>
          <a:xfrm>
            <a:off x="8650224" y="3744710"/>
            <a:ext cx="141322" cy="136676"/>
          </a:xfrm>
          <a:prstGeom prst="rect">
            <a:avLst/>
          </a:prstGeom>
          <a:solidFill>
            <a:srgbClr val="2587C5"/>
          </a:solidFill>
          <a:ln/>
        </p:spPr>
      </p:sp>
      <p:sp>
        <p:nvSpPr>
          <p:cNvPr id="111" name="Text 109"/>
          <p:cNvSpPr txBox="1"/>
          <p:nvPr/>
        </p:nvSpPr>
        <p:spPr>
          <a:xfrm>
            <a:off x="10552176"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2" name="Text 11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3" name="Text 11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4" name="Shape 112"/>
          <p:cNvSpPr/>
          <p:nvPr/>
        </p:nvSpPr>
        <p:spPr>
          <a:xfrm>
            <a:off x="8650224" y="3993212"/>
            <a:ext cx="140504" cy="136676"/>
          </a:xfrm>
          <a:prstGeom prst="rect">
            <a:avLst/>
          </a:prstGeom>
          <a:solidFill>
            <a:srgbClr val="2587C5"/>
          </a:solidFill>
          <a:ln/>
        </p:spPr>
      </p:sp>
      <p:sp>
        <p:nvSpPr>
          <p:cNvPr id="115" name="Text 113"/>
          <p:cNvSpPr txBox="1"/>
          <p:nvPr/>
        </p:nvSpPr>
        <p:spPr>
          <a:xfrm>
            <a:off x="10552176"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$89K</a:t>
            </a:r>
            <a:endParaRPr lang="en-US" sz="1300" dirty="0"/>
          </a:p>
        </p:txBody>
      </p:sp>
      <p:sp>
        <p:nvSpPr>
          <p:cNvPr id="116" name="Text 114"/>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7" name="Text 115"/>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8" name="Shape 116"/>
          <p:cNvSpPr/>
          <p:nvPr/>
        </p:nvSpPr>
        <p:spPr>
          <a:xfrm>
            <a:off x="8650224" y="4241713"/>
            <a:ext cx="107585" cy="136676"/>
          </a:xfrm>
          <a:prstGeom prst="rect">
            <a:avLst/>
          </a:prstGeom>
          <a:solidFill>
            <a:srgbClr val="2587C5"/>
          </a:solidFill>
          <a:ln/>
        </p:spPr>
      </p:sp>
      <p:sp>
        <p:nvSpPr>
          <p:cNvPr id="119" name="Text 117"/>
          <p:cNvSpPr txBox="1"/>
          <p:nvPr/>
        </p:nvSpPr>
        <p:spPr>
          <a:xfrm>
            <a:off x="10552176"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$68K</a:t>
            </a:r>
            <a:endParaRPr lang="en-US" sz="1300" dirty="0"/>
          </a:p>
        </p:txBody>
      </p:sp>
      <p:sp>
        <p:nvSpPr>
          <p:cNvPr id="120" name="Text 11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1" name="Text 119"/>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2" name="Shape 120"/>
          <p:cNvSpPr/>
          <p:nvPr/>
        </p:nvSpPr>
        <p:spPr>
          <a:xfrm>
            <a:off x="8650224" y="4490215"/>
            <a:ext cx="103964" cy="136676"/>
          </a:xfrm>
          <a:prstGeom prst="rect">
            <a:avLst/>
          </a:prstGeom>
          <a:solidFill>
            <a:srgbClr val="2587C5"/>
          </a:solidFill>
          <a:ln/>
        </p:spPr>
      </p:sp>
      <p:sp>
        <p:nvSpPr>
          <p:cNvPr id="123" name="Text 121"/>
          <p:cNvSpPr txBox="1"/>
          <p:nvPr/>
        </p:nvSpPr>
        <p:spPr>
          <a:xfrm>
            <a:off x="10552176"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$66K</a:t>
            </a:r>
            <a:endParaRPr lang="en-US" sz="1300" dirty="0"/>
          </a:p>
        </p:txBody>
      </p:sp>
      <p:sp>
        <p:nvSpPr>
          <p:cNvPr id="124" name="Text 122"/>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5" name="Text 123"/>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26" name="Shape 124"/>
          <p:cNvSpPr/>
          <p:nvPr/>
        </p:nvSpPr>
        <p:spPr>
          <a:xfrm>
            <a:off x="8650224" y="4738717"/>
            <a:ext cx="96486" cy="136676"/>
          </a:xfrm>
          <a:prstGeom prst="rect">
            <a:avLst/>
          </a:prstGeom>
          <a:solidFill>
            <a:srgbClr val="2587C5"/>
          </a:solidFill>
          <a:ln/>
        </p:spPr>
      </p:sp>
      <p:sp>
        <p:nvSpPr>
          <p:cNvPr id="127" name="Text 125"/>
          <p:cNvSpPr txBox="1"/>
          <p:nvPr/>
        </p:nvSpPr>
        <p:spPr>
          <a:xfrm>
            <a:off x="10552176"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$61K</a:t>
            </a:r>
            <a:endParaRPr lang="en-US" sz="1300" dirty="0"/>
          </a:p>
        </p:txBody>
      </p:sp>
      <p:sp>
        <p:nvSpPr>
          <p:cNvPr id="128" name="Text 126"/>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29" name="Text 127"/>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8650224" y="4987218"/>
            <a:ext cx="90829" cy="136676"/>
          </a:xfrm>
          <a:prstGeom prst="rect">
            <a:avLst/>
          </a:prstGeom>
          <a:solidFill>
            <a:srgbClr val="2587C5"/>
          </a:solidFill>
          <a:ln/>
        </p:spPr>
      </p:sp>
      <p:sp>
        <p:nvSpPr>
          <p:cNvPr id="131" name="Text 129"/>
          <p:cNvSpPr txBox="1"/>
          <p:nvPr/>
        </p:nvSpPr>
        <p:spPr>
          <a:xfrm>
            <a:off x="10552176"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$57K</a:t>
            </a:r>
            <a:endParaRPr lang="en-US" sz="1300" dirty="0"/>
          </a:p>
        </p:txBody>
      </p:sp>
      <p:sp>
        <p:nvSpPr>
          <p:cNvPr id="132" name="Text 130"/>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3" name="Text 131"/>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34" name="Shape 132"/>
          <p:cNvSpPr/>
          <p:nvPr/>
        </p:nvSpPr>
        <p:spPr>
          <a:xfrm>
            <a:off x="8650224" y="5235720"/>
            <a:ext cx="69414" cy="136676"/>
          </a:xfrm>
          <a:prstGeom prst="rect">
            <a:avLst/>
          </a:prstGeom>
          <a:solidFill>
            <a:srgbClr val="2587C5"/>
          </a:solidFill>
          <a:ln/>
        </p:spPr>
      </p:sp>
      <p:sp>
        <p:nvSpPr>
          <p:cNvPr id="135" name="Text 133"/>
          <p:cNvSpPr txBox="1"/>
          <p:nvPr/>
        </p:nvSpPr>
        <p:spPr>
          <a:xfrm>
            <a:off x="10552176"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$44K</a:t>
            </a:r>
            <a:endParaRPr lang="en-US" sz="1300" dirty="0"/>
          </a:p>
        </p:txBody>
      </p:sp>
      <p:sp>
        <p:nvSpPr>
          <p:cNvPr id="136" name="Text 134"/>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7" name="Text 135"/>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38" name="Shape 136"/>
          <p:cNvSpPr/>
          <p:nvPr/>
        </p:nvSpPr>
        <p:spPr>
          <a:xfrm>
            <a:off x="8650224" y="5484222"/>
            <a:ext cx="61641" cy="136676"/>
          </a:xfrm>
          <a:prstGeom prst="rect">
            <a:avLst/>
          </a:prstGeom>
          <a:solidFill>
            <a:srgbClr val="2587C5"/>
          </a:solidFill>
          <a:ln/>
        </p:spPr>
      </p:sp>
      <p:sp>
        <p:nvSpPr>
          <p:cNvPr id="139" name="Text 137"/>
          <p:cNvSpPr txBox="1"/>
          <p:nvPr/>
        </p:nvSpPr>
        <p:spPr>
          <a:xfrm>
            <a:off x="10552176"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$39K</a:t>
            </a:r>
            <a:endParaRPr lang="en-US" sz="1300" dirty="0"/>
          </a:p>
        </p:txBody>
      </p:sp>
      <p:sp>
        <p:nvSpPr>
          <p:cNvPr id="140" name="Shape 138"/>
          <p:cNvSpPr/>
          <p:nvPr/>
        </p:nvSpPr>
        <p:spPr>
          <a:xfrm>
            <a:off x="6085332" y="1700784"/>
            <a:ext cx="10973" cy="4224528"/>
          </a:xfrm>
          <a:prstGeom prst="rect">
            <a:avLst/>
          </a:prstGeom>
          <a:solidFill>
            <a:srgbClr val="D9D9D9"/>
          </a:solidFill>
          <a:ln/>
        </p:spPr>
      </p:sp>
      <p:sp>
        <p:nvSpPr>
          <p:cNvPr id="141" name="Shape 139"/>
          <p:cNvSpPr/>
          <p:nvPr/>
        </p:nvSpPr>
        <p:spPr>
          <a:xfrm>
            <a:off x="457200" y="6126480"/>
            <a:ext cx="11274552" cy="348996"/>
          </a:xfrm>
          <a:prstGeom prst="rect">
            <a:avLst/>
          </a:prstGeom>
          <a:solidFill>
            <a:srgbClr val="E6F6EE"/>
          </a:solidFill>
          <a:ln/>
        </p:spPr>
      </p:sp>
      <p:sp>
        <p:nvSpPr>
          <p:cNvPr id="142" name="Text 14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7A4A"/>
                </a:solidFill>
                <a:latin typeface="Inter" pitchFamily="34" charset="0"/>
                <a:ea typeface="Inter" pitchFamily="34" charset="-122"/>
                <a:cs typeface="Inter" pitchFamily="34" charset="-120"/>
              </a:rPr>
              <a:t>0.1 hour more on every CP RO is worth $6,602,564 a year in added gross. Toyota Henderson leads at $1,164,334.</a:t>
            </a:r>
            <a:endParaRPr lang="en-US" sz="1450" dirty="0"/>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Shape 18"/>
          <p:cNvSpPr/>
          <p:nvPr/>
        </p:nvSpPr>
        <p:spPr>
          <a:xfrm>
            <a:off x="4084320" y="3650285"/>
            <a:ext cx="64008" cy="682142"/>
          </a:xfrm>
          <a:prstGeom prst="rect">
            <a:avLst/>
          </a:prstGeom>
          <a:solidFill>
            <a:srgbClr val="12A566"/>
          </a:solidFill>
          <a:ln/>
        </p:spPr>
      </p:sp>
      <p:sp>
        <p:nvSpPr>
          <p:cNvPr id="21" name="Text 19"/>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124298"/>
            <a:ext cx="3489960" cy="755294"/>
          </a:xfrm>
          <a:prstGeom prst="rect">
            <a:avLst/>
          </a:prstGeom>
          <a:solidFill>
            <a:srgbClr val="F7F7F7"/>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Shape 71"/>
          <p:cNvSpPr/>
          <p:nvPr/>
        </p:nvSpPr>
        <p:spPr>
          <a:xfrm>
            <a:off x="11466576" y="3650285"/>
            <a:ext cx="64008" cy="682142"/>
          </a:xfrm>
          <a:prstGeom prst="rect">
            <a:avLst/>
          </a:prstGeom>
          <a:solidFill>
            <a:srgbClr val="12A566"/>
          </a:solidFill>
          <a:ln/>
        </p:spPr>
      </p:sp>
      <p:sp>
        <p:nvSpPr>
          <p:cNvPr id="74" name="Text 7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405579"/>
            <a:ext cx="64008" cy="682142"/>
          </a:xfrm>
          <a:prstGeom prst="rect">
            <a:avLst/>
          </a:prstGeom>
          <a:solidFill>
            <a:srgbClr val="12A566"/>
          </a:solidFill>
          <a:ln/>
        </p:spPr>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
        <p:nvSpPr>
          <p:cNvPr id="88" name="Shape 86"/>
          <p:cNvSpPr/>
          <p:nvPr/>
        </p:nvSpPr>
        <p:spPr>
          <a:xfrm>
            <a:off x="457200" y="6126480"/>
            <a:ext cx="11274552" cy="585216"/>
          </a:xfrm>
          <a:prstGeom prst="rect">
            <a:avLst/>
          </a:prstGeom>
          <a:solidFill>
            <a:srgbClr val="EDF4FA"/>
          </a:solidFill>
          <a:ln/>
        </p:spPr>
      </p:sp>
      <p:sp>
        <p:nvSpPr>
          <p:cNvPr id="89" name="Text 87"/>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Hyundai St George, Subaru St George and Kia St George what changed. Ask LR Reno, VW St George and Volvo what got in the way. Ask Mazda, Hyundai Prescott and Hyundai St George what they started this year.</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Effective Labor Rate?</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Effective labor rate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hours sold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average amount we collect for each hour of customer-pay labor we sell.</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It is what the shop actually collects per hour, and it shows whether a pricing change did what it was meant to do.</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Look past the total: by work type and by op code there can be room to raise a rate, or a reason to lower one.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Benchmark: CP ELR at least 70% of door rate.</a:t>
            </a:r>
            <a:endParaRPr lang="en-US" sz="1600" dirty="0"/>
          </a:p>
        </p:txBody>
      </p:sp>
      <p:sp>
        <p:nvSpPr>
          <p:cNvPr id="13" name="Shape 11"/>
          <p:cNvSpPr/>
          <p:nvPr/>
        </p:nvSpPr>
        <p:spPr>
          <a:xfrm>
            <a:off x="5138928" y="2843784"/>
            <a:ext cx="45720" cy="1064924"/>
          </a:xfrm>
          <a:prstGeom prst="rect">
            <a:avLst/>
          </a:prstGeom>
          <a:solidFill>
            <a:srgbClr val="2587C5"/>
          </a:solidFill>
          <a:ln/>
        </p:spPr>
      </p:sp>
      <p:sp>
        <p:nvSpPr>
          <p:cNvPr id="14" name="Text 12"/>
          <p:cNvSpPr txBox="1"/>
          <p:nvPr/>
        </p:nvSpPr>
        <p:spPr>
          <a:xfrm>
            <a:off x="5266944"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Work 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Repair is priced above maintenance: repair-heavy shops run a higher ELR, maintenance-heavy lower. Neither is wrong.</a:t>
            </a:r>
            <a:endParaRPr lang="en-US" sz="1400" dirty="0"/>
          </a:p>
        </p:txBody>
      </p:sp>
      <p:sp>
        <p:nvSpPr>
          <p:cNvPr id="15" name="Shape 13"/>
          <p:cNvSpPr/>
          <p:nvPr/>
        </p:nvSpPr>
        <p:spPr>
          <a:xfrm>
            <a:off x="8394192" y="2843784"/>
            <a:ext cx="45720" cy="1064924"/>
          </a:xfrm>
          <a:prstGeom prst="rect">
            <a:avLst/>
          </a:prstGeom>
          <a:solidFill>
            <a:srgbClr val="2587C5"/>
          </a:solidFill>
          <a:ln/>
        </p:spPr>
      </p:sp>
      <p:sp>
        <p:nvSpPr>
          <p:cNvPr id="16" name="Text 14"/>
          <p:cNvSpPr txBox="1"/>
          <p:nvPr/>
        </p:nvSpPr>
        <p:spPr>
          <a:xfrm>
            <a:off x="8522208" y="2843784"/>
            <a:ext cx="2962656" cy="106492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If most of your hours are maintenance, the maintenance rate moves ELR more than the repair rate</a:t>
            </a:r>
            <a:endParaRPr lang="en-US" sz="1400" dirty="0"/>
          </a:p>
        </p:txBody>
      </p:sp>
      <p:sp>
        <p:nvSpPr>
          <p:cNvPr id="17" name="Shape 15"/>
          <p:cNvSpPr/>
          <p:nvPr/>
        </p:nvSpPr>
        <p:spPr>
          <a:xfrm>
            <a:off x="5138928" y="4018436"/>
            <a:ext cx="45720" cy="829994"/>
          </a:xfrm>
          <a:prstGeom prst="rect">
            <a:avLst/>
          </a:prstGeom>
          <a:solidFill>
            <a:srgbClr val="2587C5"/>
          </a:solidFill>
          <a:ln/>
        </p:spPr>
      </p:sp>
      <p:sp>
        <p:nvSpPr>
          <p:cNvPr id="18" name="Text 16"/>
          <p:cNvSpPr txBox="1"/>
          <p:nvPr/>
        </p:nvSpPr>
        <p:spPr>
          <a:xfrm>
            <a:off x="5266944"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ELR by labor operation</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what every op code collects per hour, not just the store total</a:t>
            </a:r>
            <a:endParaRPr lang="en-US" sz="1400" dirty="0"/>
          </a:p>
        </p:txBody>
      </p:sp>
      <p:sp>
        <p:nvSpPr>
          <p:cNvPr id="19" name="Shape 17"/>
          <p:cNvSpPr/>
          <p:nvPr/>
        </p:nvSpPr>
        <p:spPr>
          <a:xfrm>
            <a:off x="8394192" y="4018436"/>
            <a:ext cx="45720" cy="829994"/>
          </a:xfrm>
          <a:prstGeom prst="rect">
            <a:avLst/>
          </a:prstGeom>
          <a:solidFill>
            <a:srgbClr val="2587C5"/>
          </a:solidFill>
          <a:ln/>
        </p:spPr>
      </p:sp>
      <p:sp>
        <p:nvSpPr>
          <p:cNvPr id="20" name="Text 18"/>
          <p:cNvSpPr txBox="1"/>
          <p:nvPr/>
        </p:nvSpPr>
        <p:spPr>
          <a:xfrm>
            <a:off x="8522208" y="4018436"/>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Door rate and repair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Posted rate from a market labor study, and how repair jobs are priced against it</a:t>
            </a:r>
            <a:endParaRPr lang="en-US" sz="1400" dirty="0"/>
          </a:p>
        </p:txBody>
      </p:sp>
      <p:sp>
        <p:nvSpPr>
          <p:cNvPr id="21" name="Shape 19"/>
          <p:cNvSpPr/>
          <p:nvPr/>
        </p:nvSpPr>
        <p:spPr>
          <a:xfrm>
            <a:off x="5138928" y="4958158"/>
            <a:ext cx="45720" cy="829994"/>
          </a:xfrm>
          <a:prstGeom prst="rect">
            <a:avLst/>
          </a:prstGeom>
          <a:solidFill>
            <a:srgbClr val="2587C5"/>
          </a:solidFill>
          <a:ln/>
        </p:spPr>
      </p:sp>
      <p:sp>
        <p:nvSpPr>
          <p:cNvPr id="22" name="Text 20"/>
          <p:cNvSpPr txBox="1"/>
          <p:nvPr/>
        </p:nvSpPr>
        <p:spPr>
          <a:xfrm>
            <a:off x="5266944"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Every discount lowers ELR. Run them through ADC so we can see them.</a:t>
            </a:r>
            <a:endParaRPr lang="en-US" sz="1400" dirty="0"/>
          </a:p>
        </p:txBody>
      </p:sp>
      <p:sp>
        <p:nvSpPr>
          <p:cNvPr id="23" name="Shape 21"/>
          <p:cNvSpPr/>
          <p:nvPr/>
        </p:nvSpPr>
        <p:spPr>
          <a:xfrm>
            <a:off x="8394192" y="4958158"/>
            <a:ext cx="45720" cy="829994"/>
          </a:xfrm>
          <a:prstGeom prst="rect">
            <a:avLst/>
          </a:prstGeom>
          <a:solidFill>
            <a:srgbClr val="2587C5"/>
          </a:solidFill>
          <a:ln/>
        </p:spPr>
      </p:sp>
      <p:sp>
        <p:nvSpPr>
          <p:cNvPr id="24" name="Text 22"/>
          <p:cNvSpPr txBox="1"/>
          <p:nvPr/>
        </p:nvSpPr>
        <p:spPr>
          <a:xfrm>
            <a:off x="8522208" y="4958158"/>
            <a:ext cx="2962656" cy="82999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Maintenance labor times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hours we set and pay the tech on menu jobs; repair times come from labor guides</a:t>
            </a:r>
            <a:endParaRPr lang="en-US" sz="1400" dirty="0"/>
          </a:p>
        </p:txBody>
      </p:sp>
      <p:sp>
        <p:nvSpPr>
          <p:cNvPr id="25" name="Shape 23"/>
          <p:cNvSpPr/>
          <p:nvPr/>
        </p:nvSpPr>
        <p:spPr>
          <a:xfrm>
            <a:off x="457200" y="6126480"/>
            <a:ext cx="11274552" cy="364236"/>
          </a:xfrm>
          <a:prstGeom prst="rect">
            <a:avLst/>
          </a:prstGeom>
          <a:solidFill>
            <a:srgbClr val="E6F6EE"/>
          </a:solidFill>
          <a:ln/>
        </p:spPr>
      </p:sp>
      <p:sp>
        <p:nvSpPr>
          <p:cNvPr id="26" name="Text 24"/>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Group: $162.42 CP ELR, up $3.56. Jul-Sep it ran 74.7% of door rate; 25 of 33 stores at or above 70%.</a:t>
            </a:r>
            <a:endParaRPr lang="en-US" sz="1550" dirty="0"/>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 · EFFECTIVE LABOR RATE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Pricing Strategy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a comprehensive market labor study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Calculate your ELR on every maintenance item; target ELR by work type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Know your loss leader, and what the competition is charging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No direct price changes to parts or labor: use ADC-controlled discounting for every discount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Benchmark: CP ELR at least 70% of door rate</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$162.42</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effective labor rate, up $3.56 and ahead in all nine months.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74.7%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ELR as a share of door rate, Jul-Sep. 25 of 33 stores at or above 70%.</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$127K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labor if the 8 stores under 70% reached it on the hours they already sell, Jul-Sep: $126,831 a month.</a:t>
            </a:r>
            <a:endParaRPr lang="en-US" sz="1400" dirty="0"/>
          </a:p>
        </p:txBody>
      </p:sp>
      <p:sp>
        <p:nvSpPr>
          <p:cNvPr id="19" name="Shape 17"/>
          <p:cNvSpPr/>
          <p:nvPr/>
        </p:nvSpPr>
        <p:spPr>
          <a:xfrm>
            <a:off x="457200" y="6126480"/>
            <a:ext cx="11274552" cy="364236"/>
          </a:xfrm>
          <a:prstGeom prst="rect">
            <a:avLst/>
          </a:prstGeom>
          <a:solidFill>
            <a:srgbClr val="EDF4FA"/>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The ask: know what you collect on every op code, and run every discount through ADC so we can see it.</a:t>
            </a:r>
            <a:endParaRPr lang="en-US" sz="1550" dirty="0"/>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Labor Sale by Pay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Customer pay %</a:t>
            </a:r>
            <a:endParaRPr lang="en-US" sz="1400" dirty="0"/>
          </a:p>
        </p:txBody>
      </p:sp>
      <p:sp>
        <p:nvSpPr>
          <p:cNvPr id="8" name="Shape 6"/>
          <p:cNvSpPr/>
          <p:nvPr/>
        </p:nvSpPr>
        <p:spPr>
          <a:xfrm>
            <a:off x="2624328" y="1371600"/>
            <a:ext cx="201168" cy="201168"/>
          </a:xfrm>
          <a:prstGeom prst="rect">
            <a:avLst/>
          </a:prstGeom>
          <a:solidFill>
            <a:srgbClr val="8FBEE6"/>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Warranty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Internal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948645"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1948645"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52</a:t>
            </a:r>
            <a:endParaRPr lang="en-US" sz="1400" dirty="0"/>
          </a:p>
        </p:txBody>
      </p:sp>
      <p:sp>
        <p:nvSpPr>
          <p:cNvPr id="16" name="Shape 14"/>
          <p:cNvSpPr/>
          <p:nvPr/>
        </p:nvSpPr>
        <p:spPr>
          <a:xfrm>
            <a:off x="9675325" y="1344168"/>
            <a:ext cx="882937" cy="292608"/>
          </a:xfrm>
          <a:prstGeom prst="rect">
            <a:avLst/>
          </a:prstGeom>
          <a:solidFill>
            <a:srgbClr val="8FBEE6"/>
          </a:solidFill>
          <a:ln w="6350">
            <a:solidFill>
              <a:srgbClr val="FFFFFF"/>
            </a:solidFill>
            <a:prstDash val="solid"/>
          </a:ln>
        </p:spPr>
      </p:sp>
      <p:sp>
        <p:nvSpPr>
          <p:cNvPr id="17" name="Text 15"/>
          <p:cNvSpPr txBox="1"/>
          <p:nvPr/>
        </p:nvSpPr>
        <p:spPr>
          <a:xfrm>
            <a:off x="9675325" y="1344168"/>
            <a:ext cx="882937"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18" name="Shape 16"/>
          <p:cNvSpPr/>
          <p:nvPr/>
        </p:nvSpPr>
        <p:spPr>
          <a:xfrm>
            <a:off x="10558262" y="1344168"/>
            <a:ext cx="880882" cy="292608"/>
          </a:xfrm>
          <a:prstGeom prst="rect">
            <a:avLst/>
          </a:prstGeom>
          <a:solidFill>
            <a:srgbClr val="D9D9D9"/>
          </a:solidFill>
          <a:ln w="6350">
            <a:solidFill>
              <a:srgbClr val="FFFFFF"/>
            </a:solidFill>
            <a:prstDash val="solid"/>
          </a:ln>
        </p:spPr>
      </p:sp>
      <p:sp>
        <p:nvSpPr>
          <p:cNvPr id="19" name="Text 17"/>
          <p:cNvSpPr txBox="1"/>
          <p:nvPr/>
        </p:nvSpPr>
        <p:spPr>
          <a:xfrm>
            <a:off x="10558262" y="1344168"/>
            <a:ext cx="880882"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24</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1" name="Shape 19"/>
          <p:cNvSpPr/>
          <p:nvPr/>
        </p:nvSpPr>
        <p:spPr>
          <a:xfrm>
            <a:off x="2807208" y="1857717"/>
            <a:ext cx="2219218"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1921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70</a:t>
            </a:r>
            <a:endParaRPr lang="en-US" sz="1300" dirty="0"/>
          </a:p>
        </p:txBody>
      </p:sp>
      <p:sp>
        <p:nvSpPr>
          <p:cNvPr id="23" name="Shape 21"/>
          <p:cNvSpPr/>
          <p:nvPr/>
        </p:nvSpPr>
        <p:spPr>
          <a:xfrm>
            <a:off x="5026426" y="1857717"/>
            <a:ext cx="252542" cy="183138"/>
          </a:xfrm>
          <a:prstGeom prst="rect">
            <a:avLst/>
          </a:prstGeom>
          <a:solidFill>
            <a:srgbClr val="8FBEE6"/>
          </a:solidFill>
          <a:ln w="6350">
            <a:solidFill>
              <a:srgbClr val="FFFFFF"/>
            </a:solidFill>
            <a:prstDash val="solid"/>
          </a:ln>
        </p:spPr>
      </p:sp>
      <p:sp>
        <p:nvSpPr>
          <p:cNvPr id="24" name="Text 22"/>
          <p:cNvSpPr txBox="1"/>
          <p:nvPr/>
        </p:nvSpPr>
        <p:spPr>
          <a:xfrm>
            <a:off x="5026426" y="1857717"/>
            <a:ext cx="2525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25" name="Shape 23"/>
          <p:cNvSpPr/>
          <p:nvPr/>
        </p:nvSpPr>
        <p:spPr>
          <a:xfrm>
            <a:off x="5278968" y="1857717"/>
            <a:ext cx="682920" cy="183138"/>
          </a:xfrm>
          <a:prstGeom prst="rect">
            <a:avLst/>
          </a:prstGeom>
          <a:solidFill>
            <a:srgbClr val="D9D9D9"/>
          </a:solidFill>
          <a:ln w="6350">
            <a:solidFill>
              <a:srgbClr val="FFFFFF"/>
            </a:solidFill>
            <a:prstDash val="solid"/>
          </a:ln>
        </p:spPr>
      </p:sp>
      <p:sp>
        <p:nvSpPr>
          <p:cNvPr id="26" name="Text 24"/>
          <p:cNvSpPr txBox="1"/>
          <p:nvPr/>
        </p:nvSpPr>
        <p:spPr>
          <a:xfrm>
            <a:off x="5278968" y="1857717"/>
            <a:ext cx="6829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7" name="Text 25"/>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28" name="Shape 26"/>
          <p:cNvSpPr/>
          <p:nvPr/>
        </p:nvSpPr>
        <p:spPr>
          <a:xfrm>
            <a:off x="2807208" y="2098688"/>
            <a:ext cx="2060840" cy="183138"/>
          </a:xfrm>
          <a:prstGeom prst="rect">
            <a:avLst/>
          </a:prstGeom>
          <a:solidFill>
            <a:srgbClr val="2587C5"/>
          </a:solidFill>
          <a:ln w="6350">
            <a:solidFill>
              <a:srgbClr val="FFFFFF"/>
            </a:solidFill>
            <a:prstDash val="solid"/>
          </a:ln>
        </p:spPr>
      </p:sp>
      <p:sp>
        <p:nvSpPr>
          <p:cNvPr id="29" name="Text 27"/>
          <p:cNvSpPr txBox="1"/>
          <p:nvPr/>
        </p:nvSpPr>
        <p:spPr>
          <a:xfrm>
            <a:off x="2807208" y="2098688"/>
            <a:ext cx="20608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0" name="Shape 28"/>
          <p:cNvSpPr/>
          <p:nvPr/>
        </p:nvSpPr>
        <p:spPr>
          <a:xfrm>
            <a:off x="4868048" y="2098688"/>
            <a:ext cx="489573" cy="183138"/>
          </a:xfrm>
          <a:prstGeom prst="rect">
            <a:avLst/>
          </a:prstGeom>
          <a:solidFill>
            <a:srgbClr val="8FBEE6"/>
          </a:solidFill>
          <a:ln w="6350">
            <a:solidFill>
              <a:srgbClr val="FFFFFF"/>
            </a:solidFill>
            <a:prstDash val="solid"/>
          </a:ln>
        </p:spPr>
      </p:sp>
      <p:sp>
        <p:nvSpPr>
          <p:cNvPr id="31" name="Text 29"/>
          <p:cNvSpPr txBox="1"/>
          <p:nvPr/>
        </p:nvSpPr>
        <p:spPr>
          <a:xfrm>
            <a:off x="4868048" y="2098688"/>
            <a:ext cx="4895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16</a:t>
            </a:r>
            <a:endParaRPr lang="en-US" sz="1300" dirty="0"/>
          </a:p>
        </p:txBody>
      </p:sp>
      <p:sp>
        <p:nvSpPr>
          <p:cNvPr id="32" name="Shape 30"/>
          <p:cNvSpPr/>
          <p:nvPr/>
        </p:nvSpPr>
        <p:spPr>
          <a:xfrm>
            <a:off x="5357621" y="2098688"/>
            <a:ext cx="604267" cy="183138"/>
          </a:xfrm>
          <a:prstGeom prst="rect">
            <a:avLst/>
          </a:prstGeom>
          <a:solidFill>
            <a:srgbClr val="D9D9D9"/>
          </a:solidFill>
          <a:ln w="6350">
            <a:solidFill>
              <a:srgbClr val="FFFFFF"/>
            </a:solidFill>
            <a:prstDash val="solid"/>
          </a:ln>
        </p:spPr>
      </p:sp>
      <p:sp>
        <p:nvSpPr>
          <p:cNvPr id="33" name="Text 31"/>
          <p:cNvSpPr txBox="1"/>
          <p:nvPr/>
        </p:nvSpPr>
        <p:spPr>
          <a:xfrm>
            <a:off x="5357621" y="2098688"/>
            <a:ext cx="6042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34" name="Text 32"/>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35" name="Shape 33"/>
          <p:cNvSpPr/>
          <p:nvPr/>
        </p:nvSpPr>
        <p:spPr>
          <a:xfrm>
            <a:off x="2807208" y="2339659"/>
            <a:ext cx="2054762" cy="183138"/>
          </a:xfrm>
          <a:prstGeom prst="rect">
            <a:avLst/>
          </a:prstGeom>
          <a:solidFill>
            <a:srgbClr val="2587C5"/>
          </a:solidFill>
          <a:ln w="6350">
            <a:solidFill>
              <a:srgbClr val="FFFFFF"/>
            </a:solidFill>
            <a:prstDash val="solid"/>
          </a:ln>
        </p:spPr>
      </p:sp>
      <p:sp>
        <p:nvSpPr>
          <p:cNvPr id="36" name="Text 34"/>
          <p:cNvSpPr txBox="1"/>
          <p:nvPr/>
        </p:nvSpPr>
        <p:spPr>
          <a:xfrm>
            <a:off x="2807208" y="2339659"/>
            <a:ext cx="205476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37" name="Shape 35"/>
          <p:cNvSpPr/>
          <p:nvPr/>
        </p:nvSpPr>
        <p:spPr>
          <a:xfrm>
            <a:off x="4861970" y="2339659"/>
            <a:ext cx="352121" cy="183138"/>
          </a:xfrm>
          <a:prstGeom prst="rect">
            <a:avLst/>
          </a:prstGeom>
          <a:solidFill>
            <a:srgbClr val="8FBEE6"/>
          </a:solidFill>
          <a:ln w="6350">
            <a:solidFill>
              <a:srgbClr val="FFFFFF"/>
            </a:solidFill>
            <a:prstDash val="solid"/>
          </a:ln>
        </p:spPr>
      </p:sp>
      <p:sp>
        <p:nvSpPr>
          <p:cNvPr id="38" name="Text 36"/>
          <p:cNvSpPr txBox="1"/>
          <p:nvPr/>
        </p:nvSpPr>
        <p:spPr>
          <a:xfrm>
            <a:off x="4861970" y="2339659"/>
            <a:ext cx="3521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39" name="Shape 37"/>
          <p:cNvSpPr/>
          <p:nvPr/>
        </p:nvSpPr>
        <p:spPr>
          <a:xfrm>
            <a:off x="5214091" y="2339659"/>
            <a:ext cx="747797" cy="183138"/>
          </a:xfrm>
          <a:prstGeom prst="rect">
            <a:avLst/>
          </a:prstGeom>
          <a:solidFill>
            <a:srgbClr val="D9D9D9"/>
          </a:solidFill>
          <a:ln w="6350">
            <a:solidFill>
              <a:srgbClr val="FFFFFF"/>
            </a:solidFill>
            <a:prstDash val="solid"/>
          </a:ln>
        </p:spPr>
      </p:sp>
      <p:sp>
        <p:nvSpPr>
          <p:cNvPr id="40" name="Text 38"/>
          <p:cNvSpPr txBox="1"/>
          <p:nvPr/>
        </p:nvSpPr>
        <p:spPr>
          <a:xfrm>
            <a:off x="5214091" y="2339659"/>
            <a:ext cx="74779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41" name="Text 39"/>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2" name="Shape 40"/>
          <p:cNvSpPr/>
          <p:nvPr/>
        </p:nvSpPr>
        <p:spPr>
          <a:xfrm>
            <a:off x="2807208" y="2580630"/>
            <a:ext cx="2053161" cy="183138"/>
          </a:xfrm>
          <a:prstGeom prst="rect">
            <a:avLst/>
          </a:prstGeom>
          <a:solidFill>
            <a:srgbClr val="2587C5"/>
          </a:solidFill>
          <a:ln w="6350">
            <a:solidFill>
              <a:srgbClr val="FFFFFF"/>
            </a:solidFill>
            <a:prstDash val="solid"/>
          </a:ln>
        </p:spPr>
      </p:sp>
      <p:sp>
        <p:nvSpPr>
          <p:cNvPr id="43" name="Text 41"/>
          <p:cNvSpPr txBox="1"/>
          <p:nvPr/>
        </p:nvSpPr>
        <p:spPr>
          <a:xfrm>
            <a:off x="2807208" y="2580630"/>
            <a:ext cx="20531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44" name="Shape 42"/>
          <p:cNvSpPr/>
          <p:nvPr/>
        </p:nvSpPr>
        <p:spPr>
          <a:xfrm>
            <a:off x="4860369" y="2580630"/>
            <a:ext cx="375876" cy="183138"/>
          </a:xfrm>
          <a:prstGeom prst="rect">
            <a:avLst/>
          </a:prstGeom>
          <a:solidFill>
            <a:srgbClr val="8FBEE6"/>
          </a:solidFill>
          <a:ln w="6350">
            <a:solidFill>
              <a:srgbClr val="FFFFFF"/>
            </a:solidFill>
            <a:prstDash val="solid"/>
          </a:ln>
        </p:spPr>
      </p:sp>
      <p:sp>
        <p:nvSpPr>
          <p:cNvPr id="45" name="Text 43"/>
          <p:cNvSpPr txBox="1"/>
          <p:nvPr/>
        </p:nvSpPr>
        <p:spPr>
          <a:xfrm>
            <a:off x="4860369" y="2580630"/>
            <a:ext cx="3758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46" name="Shape 44"/>
          <p:cNvSpPr/>
          <p:nvPr/>
        </p:nvSpPr>
        <p:spPr>
          <a:xfrm>
            <a:off x="5236245" y="2580630"/>
            <a:ext cx="725643" cy="183138"/>
          </a:xfrm>
          <a:prstGeom prst="rect">
            <a:avLst/>
          </a:prstGeom>
          <a:solidFill>
            <a:srgbClr val="D9D9D9"/>
          </a:solidFill>
          <a:ln w="6350">
            <a:solidFill>
              <a:srgbClr val="FFFFFF"/>
            </a:solidFill>
            <a:prstDash val="solid"/>
          </a:ln>
        </p:spPr>
      </p:sp>
      <p:sp>
        <p:nvSpPr>
          <p:cNvPr id="47" name="Text 45"/>
          <p:cNvSpPr txBox="1"/>
          <p:nvPr/>
        </p:nvSpPr>
        <p:spPr>
          <a:xfrm>
            <a:off x="5236245" y="2580630"/>
            <a:ext cx="725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48" name="Text 46"/>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49" name="Shape 47"/>
          <p:cNvSpPr/>
          <p:nvPr/>
        </p:nvSpPr>
        <p:spPr>
          <a:xfrm>
            <a:off x="2807208" y="2821602"/>
            <a:ext cx="2046848" cy="183138"/>
          </a:xfrm>
          <a:prstGeom prst="rect">
            <a:avLst/>
          </a:prstGeom>
          <a:solidFill>
            <a:srgbClr val="2587C5"/>
          </a:solidFill>
          <a:ln w="6350">
            <a:solidFill>
              <a:srgbClr val="FFFFFF"/>
            </a:solidFill>
            <a:prstDash val="solid"/>
          </a:ln>
        </p:spPr>
      </p:sp>
      <p:sp>
        <p:nvSpPr>
          <p:cNvPr id="50" name="Text 48"/>
          <p:cNvSpPr txBox="1"/>
          <p:nvPr/>
        </p:nvSpPr>
        <p:spPr>
          <a:xfrm>
            <a:off x="2807208" y="2821602"/>
            <a:ext cx="20468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65</a:t>
            </a:r>
            <a:endParaRPr lang="en-US" sz="1300" dirty="0"/>
          </a:p>
        </p:txBody>
      </p:sp>
      <p:sp>
        <p:nvSpPr>
          <p:cNvPr id="51" name="Shape 49"/>
          <p:cNvSpPr/>
          <p:nvPr/>
        </p:nvSpPr>
        <p:spPr>
          <a:xfrm>
            <a:off x="4854056" y="2821602"/>
            <a:ext cx="793865" cy="183138"/>
          </a:xfrm>
          <a:prstGeom prst="rect">
            <a:avLst/>
          </a:prstGeom>
          <a:solidFill>
            <a:srgbClr val="8FBEE6"/>
          </a:solidFill>
          <a:ln w="6350">
            <a:solidFill>
              <a:srgbClr val="FFFFFF"/>
            </a:solidFill>
            <a:prstDash val="solid"/>
          </a:ln>
        </p:spPr>
      </p:sp>
      <p:sp>
        <p:nvSpPr>
          <p:cNvPr id="52" name="Text 50"/>
          <p:cNvSpPr txBox="1"/>
          <p:nvPr/>
        </p:nvSpPr>
        <p:spPr>
          <a:xfrm>
            <a:off x="4854056" y="2821602"/>
            <a:ext cx="79386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53" name="Shape 51"/>
          <p:cNvSpPr/>
          <p:nvPr/>
        </p:nvSpPr>
        <p:spPr>
          <a:xfrm>
            <a:off x="5647921" y="2821602"/>
            <a:ext cx="313967" cy="183138"/>
          </a:xfrm>
          <a:prstGeom prst="rect">
            <a:avLst/>
          </a:prstGeom>
          <a:solidFill>
            <a:srgbClr val="D9D9D9"/>
          </a:solidFill>
          <a:ln w="6350">
            <a:solidFill>
              <a:srgbClr val="FFFFFF"/>
            </a:solidFill>
            <a:prstDash val="solid"/>
          </a:ln>
        </p:spPr>
      </p:sp>
      <p:sp>
        <p:nvSpPr>
          <p:cNvPr id="54" name="Text 52"/>
          <p:cNvSpPr txBox="1"/>
          <p:nvPr/>
        </p:nvSpPr>
        <p:spPr>
          <a:xfrm>
            <a:off x="5647921" y="2821602"/>
            <a:ext cx="31396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55" name="Text 53"/>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6" name="Shape 54"/>
          <p:cNvSpPr/>
          <p:nvPr/>
        </p:nvSpPr>
        <p:spPr>
          <a:xfrm>
            <a:off x="2807208" y="3062573"/>
            <a:ext cx="1985155" cy="183138"/>
          </a:xfrm>
          <a:prstGeom prst="rect">
            <a:avLst/>
          </a:prstGeom>
          <a:solidFill>
            <a:srgbClr val="2587C5"/>
          </a:solidFill>
          <a:ln w="6350">
            <a:solidFill>
              <a:srgbClr val="FFFFFF"/>
            </a:solidFill>
            <a:prstDash val="solid"/>
          </a:ln>
        </p:spPr>
      </p:sp>
      <p:sp>
        <p:nvSpPr>
          <p:cNvPr id="57" name="Text 55"/>
          <p:cNvSpPr txBox="1"/>
          <p:nvPr/>
        </p:nvSpPr>
        <p:spPr>
          <a:xfrm>
            <a:off x="2807208" y="3062573"/>
            <a:ext cx="19851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63</a:t>
            </a:r>
            <a:endParaRPr lang="en-US" sz="1300" dirty="0"/>
          </a:p>
        </p:txBody>
      </p:sp>
      <p:sp>
        <p:nvSpPr>
          <p:cNvPr id="58" name="Shape 56"/>
          <p:cNvSpPr/>
          <p:nvPr/>
        </p:nvSpPr>
        <p:spPr>
          <a:xfrm>
            <a:off x="4792363" y="3062573"/>
            <a:ext cx="729180" cy="183138"/>
          </a:xfrm>
          <a:prstGeom prst="rect">
            <a:avLst/>
          </a:prstGeom>
          <a:solidFill>
            <a:srgbClr val="8FBEE6"/>
          </a:solidFill>
          <a:ln w="6350">
            <a:solidFill>
              <a:srgbClr val="FFFFFF"/>
            </a:solidFill>
            <a:prstDash val="solid"/>
          </a:ln>
        </p:spPr>
      </p:sp>
      <p:sp>
        <p:nvSpPr>
          <p:cNvPr id="59" name="Text 57"/>
          <p:cNvSpPr txBox="1"/>
          <p:nvPr/>
        </p:nvSpPr>
        <p:spPr>
          <a:xfrm>
            <a:off x="4792363" y="3062573"/>
            <a:ext cx="729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60" name="Shape 58"/>
          <p:cNvSpPr/>
          <p:nvPr/>
        </p:nvSpPr>
        <p:spPr>
          <a:xfrm>
            <a:off x="5521542" y="3062573"/>
            <a:ext cx="440346" cy="183138"/>
          </a:xfrm>
          <a:prstGeom prst="rect">
            <a:avLst/>
          </a:prstGeom>
          <a:solidFill>
            <a:srgbClr val="D9D9D9"/>
          </a:solidFill>
          <a:ln w="6350">
            <a:solidFill>
              <a:srgbClr val="FFFFFF"/>
            </a:solidFill>
            <a:prstDash val="solid"/>
          </a:ln>
        </p:spPr>
      </p:sp>
      <p:sp>
        <p:nvSpPr>
          <p:cNvPr id="61" name="Text 59"/>
          <p:cNvSpPr txBox="1"/>
          <p:nvPr/>
        </p:nvSpPr>
        <p:spPr>
          <a:xfrm>
            <a:off x="5521542" y="3062573"/>
            <a:ext cx="44034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62" name="Text 60"/>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3" name="Shape 61"/>
          <p:cNvSpPr/>
          <p:nvPr/>
        </p:nvSpPr>
        <p:spPr>
          <a:xfrm>
            <a:off x="2807208" y="3303544"/>
            <a:ext cx="1940199" cy="183138"/>
          </a:xfrm>
          <a:prstGeom prst="rect">
            <a:avLst/>
          </a:prstGeom>
          <a:solidFill>
            <a:srgbClr val="2587C5"/>
          </a:solidFill>
          <a:ln w="6350">
            <a:solidFill>
              <a:srgbClr val="FFFFFF"/>
            </a:solidFill>
            <a:prstDash val="solid"/>
          </a:ln>
        </p:spPr>
      </p:sp>
      <p:sp>
        <p:nvSpPr>
          <p:cNvPr id="64" name="Text 62"/>
          <p:cNvSpPr txBox="1"/>
          <p:nvPr/>
        </p:nvSpPr>
        <p:spPr>
          <a:xfrm>
            <a:off x="2807208" y="3303544"/>
            <a:ext cx="194019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65" name="Shape 63"/>
          <p:cNvSpPr/>
          <p:nvPr/>
        </p:nvSpPr>
        <p:spPr>
          <a:xfrm>
            <a:off x="4747407" y="3303544"/>
            <a:ext cx="542990" cy="183138"/>
          </a:xfrm>
          <a:prstGeom prst="rect">
            <a:avLst/>
          </a:prstGeom>
          <a:solidFill>
            <a:srgbClr val="8FBEE6"/>
          </a:solidFill>
          <a:ln w="6350">
            <a:solidFill>
              <a:srgbClr val="FFFFFF"/>
            </a:solidFill>
            <a:prstDash val="solid"/>
          </a:ln>
        </p:spPr>
      </p:sp>
      <p:sp>
        <p:nvSpPr>
          <p:cNvPr id="66" name="Text 64"/>
          <p:cNvSpPr txBox="1"/>
          <p:nvPr/>
        </p:nvSpPr>
        <p:spPr>
          <a:xfrm>
            <a:off x="4747407" y="3303544"/>
            <a:ext cx="5429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67" name="Shape 65"/>
          <p:cNvSpPr/>
          <p:nvPr/>
        </p:nvSpPr>
        <p:spPr>
          <a:xfrm>
            <a:off x="5290397" y="3303544"/>
            <a:ext cx="671491" cy="183138"/>
          </a:xfrm>
          <a:prstGeom prst="rect">
            <a:avLst/>
          </a:prstGeom>
          <a:solidFill>
            <a:srgbClr val="D9D9D9"/>
          </a:solidFill>
          <a:ln w="6350">
            <a:solidFill>
              <a:srgbClr val="FFFFFF"/>
            </a:solidFill>
            <a:prstDash val="solid"/>
          </a:ln>
        </p:spPr>
      </p:sp>
      <p:sp>
        <p:nvSpPr>
          <p:cNvPr id="68" name="Text 66"/>
          <p:cNvSpPr txBox="1"/>
          <p:nvPr/>
        </p:nvSpPr>
        <p:spPr>
          <a:xfrm>
            <a:off x="5290397" y="3303544"/>
            <a:ext cx="67149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69" name="Text 67"/>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70" name="Shape 68"/>
          <p:cNvSpPr/>
          <p:nvPr/>
        </p:nvSpPr>
        <p:spPr>
          <a:xfrm>
            <a:off x="2807208" y="3544516"/>
            <a:ext cx="1907392" cy="183138"/>
          </a:xfrm>
          <a:prstGeom prst="rect">
            <a:avLst/>
          </a:prstGeom>
          <a:solidFill>
            <a:srgbClr val="2587C5"/>
          </a:solidFill>
          <a:ln w="6350">
            <a:solidFill>
              <a:srgbClr val="FFFFFF"/>
            </a:solidFill>
            <a:prstDash val="solid"/>
          </a:ln>
        </p:spPr>
      </p:sp>
      <p:sp>
        <p:nvSpPr>
          <p:cNvPr id="71" name="Text 69"/>
          <p:cNvSpPr txBox="1"/>
          <p:nvPr/>
        </p:nvSpPr>
        <p:spPr>
          <a:xfrm>
            <a:off x="2807208" y="3544516"/>
            <a:ext cx="190739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2" name="Shape 70"/>
          <p:cNvSpPr/>
          <p:nvPr/>
        </p:nvSpPr>
        <p:spPr>
          <a:xfrm>
            <a:off x="4714600" y="3544516"/>
            <a:ext cx="434501" cy="183138"/>
          </a:xfrm>
          <a:prstGeom prst="rect">
            <a:avLst/>
          </a:prstGeom>
          <a:solidFill>
            <a:srgbClr val="8FBEE6"/>
          </a:solidFill>
          <a:ln w="6350">
            <a:solidFill>
              <a:srgbClr val="FFFFFF"/>
            </a:solidFill>
            <a:prstDash val="solid"/>
          </a:ln>
        </p:spPr>
      </p:sp>
      <p:sp>
        <p:nvSpPr>
          <p:cNvPr id="73" name="Text 71"/>
          <p:cNvSpPr txBox="1"/>
          <p:nvPr/>
        </p:nvSpPr>
        <p:spPr>
          <a:xfrm>
            <a:off x="4714600" y="3544516"/>
            <a:ext cx="43450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74" name="Shape 72"/>
          <p:cNvSpPr/>
          <p:nvPr/>
        </p:nvSpPr>
        <p:spPr>
          <a:xfrm>
            <a:off x="5149102" y="3544516"/>
            <a:ext cx="812786" cy="183138"/>
          </a:xfrm>
          <a:prstGeom prst="rect">
            <a:avLst/>
          </a:prstGeom>
          <a:solidFill>
            <a:srgbClr val="D9D9D9"/>
          </a:solidFill>
          <a:ln w="6350">
            <a:solidFill>
              <a:srgbClr val="FFFFFF"/>
            </a:solidFill>
            <a:prstDash val="solid"/>
          </a:ln>
        </p:spPr>
      </p:sp>
      <p:sp>
        <p:nvSpPr>
          <p:cNvPr id="75" name="Text 73"/>
          <p:cNvSpPr txBox="1"/>
          <p:nvPr/>
        </p:nvSpPr>
        <p:spPr>
          <a:xfrm>
            <a:off x="5149102" y="3544516"/>
            <a:ext cx="8127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26</a:t>
            </a:r>
            <a:endParaRPr lang="en-US" sz="1300" dirty="0"/>
          </a:p>
        </p:txBody>
      </p:sp>
      <p:sp>
        <p:nvSpPr>
          <p:cNvPr id="76" name="Text 74"/>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77" name="Shape 75"/>
          <p:cNvSpPr/>
          <p:nvPr/>
        </p:nvSpPr>
        <p:spPr>
          <a:xfrm>
            <a:off x="2807208" y="3785487"/>
            <a:ext cx="1883011" cy="183138"/>
          </a:xfrm>
          <a:prstGeom prst="rect">
            <a:avLst/>
          </a:prstGeom>
          <a:solidFill>
            <a:srgbClr val="2587C5"/>
          </a:solidFill>
          <a:ln w="6350">
            <a:solidFill>
              <a:srgbClr val="FFFFFF"/>
            </a:solidFill>
            <a:prstDash val="solid"/>
          </a:ln>
        </p:spPr>
      </p:sp>
      <p:sp>
        <p:nvSpPr>
          <p:cNvPr id="78" name="Text 76"/>
          <p:cNvSpPr txBox="1"/>
          <p:nvPr/>
        </p:nvSpPr>
        <p:spPr>
          <a:xfrm>
            <a:off x="2807208" y="3785487"/>
            <a:ext cx="18830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79" name="Shape 77"/>
          <p:cNvSpPr/>
          <p:nvPr/>
        </p:nvSpPr>
        <p:spPr>
          <a:xfrm>
            <a:off x="4690219" y="3785487"/>
            <a:ext cx="918142" cy="183138"/>
          </a:xfrm>
          <a:prstGeom prst="rect">
            <a:avLst/>
          </a:prstGeom>
          <a:solidFill>
            <a:srgbClr val="8FBEE6"/>
          </a:solidFill>
          <a:ln w="6350">
            <a:solidFill>
              <a:srgbClr val="FFFFFF"/>
            </a:solidFill>
            <a:prstDash val="solid"/>
          </a:ln>
        </p:spPr>
      </p:sp>
      <p:sp>
        <p:nvSpPr>
          <p:cNvPr id="80" name="Text 78"/>
          <p:cNvSpPr txBox="1"/>
          <p:nvPr/>
        </p:nvSpPr>
        <p:spPr>
          <a:xfrm>
            <a:off x="4690219" y="3785487"/>
            <a:ext cx="9181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81" name="Shape 79"/>
          <p:cNvSpPr/>
          <p:nvPr/>
        </p:nvSpPr>
        <p:spPr>
          <a:xfrm>
            <a:off x="5608361" y="3785487"/>
            <a:ext cx="353527" cy="183138"/>
          </a:xfrm>
          <a:prstGeom prst="rect">
            <a:avLst/>
          </a:prstGeom>
          <a:solidFill>
            <a:srgbClr val="D9D9D9"/>
          </a:solidFill>
          <a:ln w="6350">
            <a:solidFill>
              <a:srgbClr val="FFFFFF"/>
            </a:solidFill>
            <a:prstDash val="solid"/>
          </a:ln>
        </p:spPr>
      </p:sp>
      <p:sp>
        <p:nvSpPr>
          <p:cNvPr id="82" name="Text 80"/>
          <p:cNvSpPr txBox="1"/>
          <p:nvPr/>
        </p:nvSpPr>
        <p:spPr>
          <a:xfrm>
            <a:off x="5608361" y="3785487"/>
            <a:ext cx="3535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83" name="Text 81"/>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84" name="Shape 82"/>
          <p:cNvSpPr/>
          <p:nvPr/>
        </p:nvSpPr>
        <p:spPr>
          <a:xfrm>
            <a:off x="2807208" y="4026458"/>
            <a:ext cx="1876032" cy="183138"/>
          </a:xfrm>
          <a:prstGeom prst="rect">
            <a:avLst/>
          </a:prstGeom>
          <a:solidFill>
            <a:srgbClr val="2587C5"/>
          </a:solidFill>
          <a:ln w="6350">
            <a:solidFill>
              <a:srgbClr val="FFFFFF"/>
            </a:solidFill>
            <a:prstDash val="solid"/>
          </a:ln>
        </p:spPr>
      </p:sp>
      <p:sp>
        <p:nvSpPr>
          <p:cNvPr id="85" name="Text 83"/>
          <p:cNvSpPr txBox="1"/>
          <p:nvPr/>
        </p:nvSpPr>
        <p:spPr>
          <a:xfrm>
            <a:off x="2807208" y="4026458"/>
            <a:ext cx="18760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86" name="Shape 84"/>
          <p:cNvSpPr/>
          <p:nvPr/>
        </p:nvSpPr>
        <p:spPr>
          <a:xfrm>
            <a:off x="4683240" y="4026458"/>
            <a:ext cx="744656" cy="183138"/>
          </a:xfrm>
          <a:prstGeom prst="rect">
            <a:avLst/>
          </a:prstGeom>
          <a:solidFill>
            <a:srgbClr val="8FBEE6"/>
          </a:solidFill>
          <a:ln w="6350">
            <a:solidFill>
              <a:srgbClr val="FFFFFF"/>
            </a:solidFill>
            <a:prstDash val="solid"/>
          </a:ln>
        </p:spPr>
      </p:sp>
      <p:sp>
        <p:nvSpPr>
          <p:cNvPr id="87" name="Text 85"/>
          <p:cNvSpPr txBox="1"/>
          <p:nvPr/>
        </p:nvSpPr>
        <p:spPr>
          <a:xfrm>
            <a:off x="4683240" y="4026458"/>
            <a:ext cx="7446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88" name="Shape 86"/>
          <p:cNvSpPr/>
          <p:nvPr/>
        </p:nvSpPr>
        <p:spPr>
          <a:xfrm>
            <a:off x="5427896" y="4026458"/>
            <a:ext cx="533992" cy="183138"/>
          </a:xfrm>
          <a:prstGeom prst="rect">
            <a:avLst/>
          </a:prstGeom>
          <a:solidFill>
            <a:srgbClr val="D9D9D9"/>
          </a:solidFill>
          <a:ln w="6350">
            <a:solidFill>
              <a:srgbClr val="FFFFFF"/>
            </a:solidFill>
            <a:prstDash val="solid"/>
          </a:ln>
        </p:spPr>
      </p:sp>
      <p:sp>
        <p:nvSpPr>
          <p:cNvPr id="89" name="Text 87"/>
          <p:cNvSpPr txBox="1"/>
          <p:nvPr/>
        </p:nvSpPr>
        <p:spPr>
          <a:xfrm>
            <a:off x="5427896" y="4026458"/>
            <a:ext cx="5339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90" name="Text 88"/>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1" name="Shape 89"/>
          <p:cNvSpPr/>
          <p:nvPr/>
        </p:nvSpPr>
        <p:spPr>
          <a:xfrm>
            <a:off x="2807208" y="4267429"/>
            <a:ext cx="1874405" cy="183138"/>
          </a:xfrm>
          <a:prstGeom prst="rect">
            <a:avLst/>
          </a:prstGeom>
          <a:solidFill>
            <a:srgbClr val="2587C5"/>
          </a:solidFill>
          <a:ln w="6350">
            <a:solidFill>
              <a:srgbClr val="FFFFFF"/>
            </a:solidFill>
            <a:prstDash val="solid"/>
          </a:ln>
        </p:spPr>
      </p:sp>
      <p:sp>
        <p:nvSpPr>
          <p:cNvPr id="92" name="Text 90"/>
          <p:cNvSpPr txBox="1"/>
          <p:nvPr/>
        </p:nvSpPr>
        <p:spPr>
          <a:xfrm>
            <a:off x="2807208" y="4267429"/>
            <a:ext cx="18744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3" name="Shape 91"/>
          <p:cNvSpPr/>
          <p:nvPr/>
        </p:nvSpPr>
        <p:spPr>
          <a:xfrm>
            <a:off x="4681613" y="4267429"/>
            <a:ext cx="558160" cy="183138"/>
          </a:xfrm>
          <a:prstGeom prst="rect">
            <a:avLst/>
          </a:prstGeom>
          <a:solidFill>
            <a:srgbClr val="8FBEE6"/>
          </a:solidFill>
          <a:ln w="6350">
            <a:solidFill>
              <a:srgbClr val="FFFFFF"/>
            </a:solidFill>
            <a:prstDash val="solid"/>
          </a:ln>
        </p:spPr>
      </p:sp>
      <p:sp>
        <p:nvSpPr>
          <p:cNvPr id="94" name="Text 92"/>
          <p:cNvSpPr txBox="1"/>
          <p:nvPr/>
        </p:nvSpPr>
        <p:spPr>
          <a:xfrm>
            <a:off x="4681613" y="4267429"/>
            <a:ext cx="5581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95" name="Shape 93"/>
          <p:cNvSpPr/>
          <p:nvPr/>
        </p:nvSpPr>
        <p:spPr>
          <a:xfrm>
            <a:off x="5239773" y="4267429"/>
            <a:ext cx="722115" cy="183138"/>
          </a:xfrm>
          <a:prstGeom prst="rect">
            <a:avLst/>
          </a:prstGeom>
          <a:solidFill>
            <a:srgbClr val="D9D9D9"/>
          </a:solidFill>
          <a:ln w="6350">
            <a:solidFill>
              <a:srgbClr val="FFFFFF"/>
            </a:solidFill>
            <a:prstDash val="solid"/>
          </a:ln>
        </p:spPr>
      </p:sp>
      <p:sp>
        <p:nvSpPr>
          <p:cNvPr id="96" name="Text 94"/>
          <p:cNvSpPr txBox="1"/>
          <p:nvPr/>
        </p:nvSpPr>
        <p:spPr>
          <a:xfrm>
            <a:off x="5239773" y="4267429"/>
            <a:ext cx="7221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97" name="Text 95"/>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8" name="Shape 96"/>
          <p:cNvSpPr/>
          <p:nvPr/>
        </p:nvSpPr>
        <p:spPr>
          <a:xfrm>
            <a:off x="2807208" y="4508401"/>
            <a:ext cx="1862814" cy="183138"/>
          </a:xfrm>
          <a:prstGeom prst="rect">
            <a:avLst/>
          </a:prstGeom>
          <a:solidFill>
            <a:srgbClr val="2587C5"/>
          </a:solidFill>
          <a:ln w="6350">
            <a:solidFill>
              <a:srgbClr val="FFFFFF"/>
            </a:solidFill>
            <a:prstDash val="solid"/>
          </a:ln>
        </p:spPr>
      </p:sp>
      <p:sp>
        <p:nvSpPr>
          <p:cNvPr id="99" name="Text 97"/>
          <p:cNvSpPr txBox="1"/>
          <p:nvPr/>
        </p:nvSpPr>
        <p:spPr>
          <a:xfrm>
            <a:off x="2807208" y="4508401"/>
            <a:ext cx="186281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0" name="Shape 98"/>
          <p:cNvSpPr/>
          <p:nvPr/>
        </p:nvSpPr>
        <p:spPr>
          <a:xfrm>
            <a:off x="4670022" y="4508401"/>
            <a:ext cx="740644" cy="183138"/>
          </a:xfrm>
          <a:prstGeom prst="rect">
            <a:avLst/>
          </a:prstGeom>
          <a:solidFill>
            <a:srgbClr val="8FBEE6"/>
          </a:solidFill>
          <a:ln w="6350">
            <a:solidFill>
              <a:srgbClr val="FFFFFF"/>
            </a:solidFill>
            <a:prstDash val="solid"/>
          </a:ln>
        </p:spPr>
      </p:sp>
      <p:sp>
        <p:nvSpPr>
          <p:cNvPr id="101" name="Text 99"/>
          <p:cNvSpPr txBox="1"/>
          <p:nvPr/>
        </p:nvSpPr>
        <p:spPr>
          <a:xfrm>
            <a:off x="4670022" y="4508401"/>
            <a:ext cx="74064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02" name="Shape 100"/>
          <p:cNvSpPr/>
          <p:nvPr/>
        </p:nvSpPr>
        <p:spPr>
          <a:xfrm>
            <a:off x="5410666" y="4508401"/>
            <a:ext cx="551222" cy="183138"/>
          </a:xfrm>
          <a:prstGeom prst="rect">
            <a:avLst/>
          </a:prstGeom>
          <a:solidFill>
            <a:srgbClr val="D9D9D9"/>
          </a:solidFill>
          <a:ln w="6350">
            <a:solidFill>
              <a:srgbClr val="FFFFFF"/>
            </a:solidFill>
            <a:prstDash val="solid"/>
          </a:ln>
        </p:spPr>
      </p:sp>
      <p:sp>
        <p:nvSpPr>
          <p:cNvPr id="103" name="Text 101"/>
          <p:cNvSpPr txBox="1"/>
          <p:nvPr/>
        </p:nvSpPr>
        <p:spPr>
          <a:xfrm>
            <a:off x="5410666" y="4508401"/>
            <a:ext cx="551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17</a:t>
            </a:r>
            <a:endParaRPr lang="en-US" sz="1300" dirty="0"/>
          </a:p>
        </p:txBody>
      </p:sp>
      <p:sp>
        <p:nvSpPr>
          <p:cNvPr id="104" name="Text 102"/>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05" name="Shape 103"/>
          <p:cNvSpPr/>
          <p:nvPr/>
        </p:nvSpPr>
        <p:spPr>
          <a:xfrm>
            <a:off x="2807208" y="4749372"/>
            <a:ext cx="1831119" cy="183138"/>
          </a:xfrm>
          <a:prstGeom prst="rect">
            <a:avLst/>
          </a:prstGeom>
          <a:solidFill>
            <a:srgbClr val="2587C5"/>
          </a:solidFill>
          <a:ln w="6350">
            <a:solidFill>
              <a:srgbClr val="FFFFFF"/>
            </a:solidFill>
            <a:prstDash val="solid"/>
          </a:ln>
        </p:spPr>
      </p:sp>
      <p:sp>
        <p:nvSpPr>
          <p:cNvPr id="106" name="Text 104"/>
          <p:cNvSpPr txBox="1"/>
          <p:nvPr/>
        </p:nvSpPr>
        <p:spPr>
          <a:xfrm>
            <a:off x="2807208" y="4749372"/>
            <a:ext cx="18311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07" name="Shape 105"/>
          <p:cNvSpPr/>
          <p:nvPr/>
        </p:nvSpPr>
        <p:spPr>
          <a:xfrm>
            <a:off x="4638327" y="4749372"/>
            <a:ext cx="764127" cy="183138"/>
          </a:xfrm>
          <a:prstGeom prst="rect">
            <a:avLst/>
          </a:prstGeom>
          <a:solidFill>
            <a:srgbClr val="8FBEE6"/>
          </a:solidFill>
          <a:ln w="6350">
            <a:solidFill>
              <a:srgbClr val="FFFFFF"/>
            </a:solidFill>
            <a:prstDash val="solid"/>
          </a:ln>
        </p:spPr>
      </p:sp>
      <p:sp>
        <p:nvSpPr>
          <p:cNvPr id="108" name="Text 106"/>
          <p:cNvSpPr txBox="1"/>
          <p:nvPr/>
        </p:nvSpPr>
        <p:spPr>
          <a:xfrm>
            <a:off x="4638327" y="4749372"/>
            <a:ext cx="76412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09" name="Shape 107"/>
          <p:cNvSpPr/>
          <p:nvPr/>
        </p:nvSpPr>
        <p:spPr>
          <a:xfrm>
            <a:off x="5402455" y="4749372"/>
            <a:ext cx="559433" cy="183138"/>
          </a:xfrm>
          <a:prstGeom prst="rect">
            <a:avLst/>
          </a:prstGeom>
          <a:solidFill>
            <a:srgbClr val="D9D9D9"/>
          </a:solidFill>
          <a:ln w="6350">
            <a:solidFill>
              <a:srgbClr val="FFFFFF"/>
            </a:solidFill>
            <a:prstDash val="solid"/>
          </a:ln>
        </p:spPr>
      </p:sp>
      <p:sp>
        <p:nvSpPr>
          <p:cNvPr id="110" name="Text 108"/>
          <p:cNvSpPr txBox="1"/>
          <p:nvPr/>
        </p:nvSpPr>
        <p:spPr>
          <a:xfrm>
            <a:off x="5402455" y="4749372"/>
            <a:ext cx="5594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11" name="Text 109"/>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12" name="Shape 110"/>
          <p:cNvSpPr/>
          <p:nvPr/>
        </p:nvSpPr>
        <p:spPr>
          <a:xfrm>
            <a:off x="2807208" y="4990343"/>
            <a:ext cx="1825486" cy="183138"/>
          </a:xfrm>
          <a:prstGeom prst="rect">
            <a:avLst/>
          </a:prstGeom>
          <a:solidFill>
            <a:srgbClr val="2587C5"/>
          </a:solidFill>
          <a:ln w="6350">
            <a:solidFill>
              <a:srgbClr val="FFFFFF"/>
            </a:solidFill>
            <a:prstDash val="solid"/>
          </a:ln>
        </p:spPr>
      </p:sp>
      <p:sp>
        <p:nvSpPr>
          <p:cNvPr id="113" name="Text 111"/>
          <p:cNvSpPr txBox="1"/>
          <p:nvPr/>
        </p:nvSpPr>
        <p:spPr>
          <a:xfrm>
            <a:off x="2807208" y="4990343"/>
            <a:ext cx="18254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4" name="Shape 112"/>
          <p:cNvSpPr/>
          <p:nvPr/>
        </p:nvSpPr>
        <p:spPr>
          <a:xfrm>
            <a:off x="4632694" y="4990343"/>
            <a:ext cx="426634" cy="183138"/>
          </a:xfrm>
          <a:prstGeom prst="rect">
            <a:avLst/>
          </a:prstGeom>
          <a:solidFill>
            <a:srgbClr val="8FBEE6"/>
          </a:solidFill>
          <a:ln w="6350">
            <a:solidFill>
              <a:srgbClr val="FFFFFF"/>
            </a:solidFill>
            <a:prstDash val="solid"/>
          </a:ln>
        </p:spPr>
      </p:sp>
      <p:sp>
        <p:nvSpPr>
          <p:cNvPr id="115" name="Text 113"/>
          <p:cNvSpPr txBox="1"/>
          <p:nvPr/>
        </p:nvSpPr>
        <p:spPr>
          <a:xfrm>
            <a:off x="4632694" y="4990343"/>
            <a:ext cx="4266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16" name="Shape 114"/>
          <p:cNvSpPr/>
          <p:nvPr/>
        </p:nvSpPr>
        <p:spPr>
          <a:xfrm>
            <a:off x="5059328" y="4990343"/>
            <a:ext cx="902560" cy="183138"/>
          </a:xfrm>
          <a:prstGeom prst="rect">
            <a:avLst/>
          </a:prstGeom>
          <a:solidFill>
            <a:srgbClr val="D9D9D9"/>
          </a:solidFill>
          <a:ln w="6350">
            <a:solidFill>
              <a:srgbClr val="FFFFFF"/>
            </a:solidFill>
            <a:prstDash val="solid"/>
          </a:ln>
        </p:spPr>
      </p:sp>
      <p:sp>
        <p:nvSpPr>
          <p:cNvPr id="117" name="Text 115"/>
          <p:cNvSpPr txBox="1"/>
          <p:nvPr/>
        </p:nvSpPr>
        <p:spPr>
          <a:xfrm>
            <a:off x="5059328" y="4990343"/>
            <a:ext cx="9025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18" name="Text 116"/>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19" name="Shape 117"/>
          <p:cNvSpPr/>
          <p:nvPr/>
        </p:nvSpPr>
        <p:spPr>
          <a:xfrm>
            <a:off x="2807208" y="5231315"/>
            <a:ext cx="1807555" cy="183138"/>
          </a:xfrm>
          <a:prstGeom prst="rect">
            <a:avLst/>
          </a:prstGeom>
          <a:solidFill>
            <a:srgbClr val="2587C5"/>
          </a:solidFill>
          <a:ln w="6350">
            <a:solidFill>
              <a:srgbClr val="FFFFFF"/>
            </a:solidFill>
            <a:prstDash val="solid"/>
          </a:ln>
        </p:spPr>
      </p:sp>
      <p:sp>
        <p:nvSpPr>
          <p:cNvPr id="120" name="Text 118"/>
          <p:cNvSpPr txBox="1"/>
          <p:nvPr/>
        </p:nvSpPr>
        <p:spPr>
          <a:xfrm>
            <a:off x="2807208" y="5231315"/>
            <a:ext cx="1807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1" name="Shape 119"/>
          <p:cNvSpPr/>
          <p:nvPr/>
        </p:nvSpPr>
        <p:spPr>
          <a:xfrm>
            <a:off x="4614763" y="5231315"/>
            <a:ext cx="466810" cy="183138"/>
          </a:xfrm>
          <a:prstGeom prst="rect">
            <a:avLst/>
          </a:prstGeom>
          <a:solidFill>
            <a:srgbClr val="8FBEE6"/>
          </a:solidFill>
          <a:ln w="6350">
            <a:solidFill>
              <a:srgbClr val="FFFFFF"/>
            </a:solidFill>
            <a:prstDash val="solid"/>
          </a:ln>
        </p:spPr>
      </p:sp>
      <p:sp>
        <p:nvSpPr>
          <p:cNvPr id="122" name="Text 120"/>
          <p:cNvSpPr txBox="1"/>
          <p:nvPr/>
        </p:nvSpPr>
        <p:spPr>
          <a:xfrm>
            <a:off x="4614763" y="5231315"/>
            <a:ext cx="4668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23" name="Shape 121"/>
          <p:cNvSpPr/>
          <p:nvPr/>
        </p:nvSpPr>
        <p:spPr>
          <a:xfrm>
            <a:off x="5081573" y="5231315"/>
            <a:ext cx="880315" cy="183138"/>
          </a:xfrm>
          <a:prstGeom prst="rect">
            <a:avLst/>
          </a:prstGeom>
          <a:solidFill>
            <a:srgbClr val="D9D9D9"/>
          </a:solidFill>
          <a:ln w="6350">
            <a:solidFill>
              <a:srgbClr val="FFFFFF"/>
            </a:solidFill>
            <a:prstDash val="solid"/>
          </a:ln>
        </p:spPr>
      </p:sp>
      <p:sp>
        <p:nvSpPr>
          <p:cNvPr id="124" name="Text 122"/>
          <p:cNvSpPr txBox="1"/>
          <p:nvPr/>
        </p:nvSpPr>
        <p:spPr>
          <a:xfrm>
            <a:off x="5081573" y="5231315"/>
            <a:ext cx="88031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25" name="Text 123"/>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26" name="Shape 124"/>
          <p:cNvSpPr/>
          <p:nvPr/>
        </p:nvSpPr>
        <p:spPr>
          <a:xfrm>
            <a:off x="2807208" y="5472286"/>
            <a:ext cx="1784948" cy="183138"/>
          </a:xfrm>
          <a:prstGeom prst="rect">
            <a:avLst/>
          </a:prstGeom>
          <a:solidFill>
            <a:srgbClr val="2587C5"/>
          </a:solidFill>
          <a:ln w="6350">
            <a:solidFill>
              <a:srgbClr val="FFFFFF"/>
            </a:solidFill>
            <a:prstDash val="solid"/>
          </a:ln>
        </p:spPr>
      </p:sp>
      <p:sp>
        <p:nvSpPr>
          <p:cNvPr id="127" name="Text 125"/>
          <p:cNvSpPr txBox="1"/>
          <p:nvPr/>
        </p:nvSpPr>
        <p:spPr>
          <a:xfrm>
            <a:off x="2807208" y="5472286"/>
            <a:ext cx="17849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8" name="Shape 126"/>
          <p:cNvSpPr/>
          <p:nvPr/>
        </p:nvSpPr>
        <p:spPr>
          <a:xfrm>
            <a:off x="4592156" y="5472286"/>
            <a:ext cx="390376" cy="183138"/>
          </a:xfrm>
          <a:prstGeom prst="rect">
            <a:avLst/>
          </a:prstGeom>
          <a:solidFill>
            <a:srgbClr val="8FBEE6"/>
          </a:solidFill>
          <a:ln w="6350">
            <a:solidFill>
              <a:srgbClr val="FFFFFF"/>
            </a:solidFill>
            <a:prstDash val="solid"/>
          </a:ln>
        </p:spPr>
      </p:sp>
      <p:sp>
        <p:nvSpPr>
          <p:cNvPr id="129" name="Text 127"/>
          <p:cNvSpPr txBox="1"/>
          <p:nvPr/>
        </p:nvSpPr>
        <p:spPr>
          <a:xfrm>
            <a:off x="4592156" y="5472286"/>
            <a:ext cx="3903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130" name="Shape 128"/>
          <p:cNvSpPr/>
          <p:nvPr/>
        </p:nvSpPr>
        <p:spPr>
          <a:xfrm>
            <a:off x="4982532" y="5472286"/>
            <a:ext cx="979356" cy="183138"/>
          </a:xfrm>
          <a:prstGeom prst="rect">
            <a:avLst/>
          </a:prstGeom>
          <a:solidFill>
            <a:srgbClr val="D9D9D9"/>
          </a:solidFill>
          <a:ln w="6350">
            <a:solidFill>
              <a:srgbClr val="FFFFFF"/>
            </a:solidFill>
            <a:prstDash val="solid"/>
          </a:ln>
        </p:spPr>
      </p:sp>
      <p:sp>
        <p:nvSpPr>
          <p:cNvPr id="131" name="Text 129"/>
          <p:cNvSpPr txBox="1"/>
          <p:nvPr/>
        </p:nvSpPr>
        <p:spPr>
          <a:xfrm>
            <a:off x="4982532" y="5472286"/>
            <a:ext cx="97935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32" name="Text 130"/>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3" name="Shape 131"/>
          <p:cNvSpPr/>
          <p:nvPr/>
        </p:nvSpPr>
        <p:spPr>
          <a:xfrm>
            <a:off x="2807208" y="5713257"/>
            <a:ext cx="1784687" cy="183138"/>
          </a:xfrm>
          <a:prstGeom prst="rect">
            <a:avLst/>
          </a:prstGeom>
          <a:solidFill>
            <a:srgbClr val="2587C5"/>
          </a:solidFill>
          <a:ln w="6350">
            <a:solidFill>
              <a:srgbClr val="FFFFFF"/>
            </a:solidFill>
            <a:prstDash val="solid"/>
          </a:ln>
        </p:spPr>
      </p:sp>
      <p:sp>
        <p:nvSpPr>
          <p:cNvPr id="134" name="Text 132"/>
          <p:cNvSpPr txBox="1"/>
          <p:nvPr/>
        </p:nvSpPr>
        <p:spPr>
          <a:xfrm>
            <a:off x="2807208" y="5713257"/>
            <a:ext cx="178468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5" name="Shape 133"/>
          <p:cNvSpPr/>
          <p:nvPr/>
        </p:nvSpPr>
        <p:spPr>
          <a:xfrm>
            <a:off x="4591895" y="5713257"/>
            <a:ext cx="320373" cy="183138"/>
          </a:xfrm>
          <a:prstGeom prst="rect">
            <a:avLst/>
          </a:prstGeom>
          <a:solidFill>
            <a:srgbClr val="8FBEE6"/>
          </a:solidFill>
          <a:ln w="6350">
            <a:solidFill>
              <a:srgbClr val="FFFFFF"/>
            </a:solidFill>
            <a:prstDash val="solid"/>
          </a:ln>
        </p:spPr>
      </p:sp>
      <p:sp>
        <p:nvSpPr>
          <p:cNvPr id="136" name="Text 134"/>
          <p:cNvSpPr txBox="1"/>
          <p:nvPr/>
        </p:nvSpPr>
        <p:spPr>
          <a:xfrm>
            <a:off x="4591895" y="5713257"/>
            <a:ext cx="32037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37" name="Shape 135"/>
          <p:cNvSpPr/>
          <p:nvPr/>
        </p:nvSpPr>
        <p:spPr>
          <a:xfrm>
            <a:off x="4912268" y="5713257"/>
            <a:ext cx="1049620" cy="183138"/>
          </a:xfrm>
          <a:prstGeom prst="rect">
            <a:avLst/>
          </a:prstGeom>
          <a:solidFill>
            <a:srgbClr val="D9D9D9"/>
          </a:solidFill>
          <a:ln w="6350">
            <a:solidFill>
              <a:srgbClr val="FFFFFF"/>
            </a:solidFill>
            <a:prstDash val="solid"/>
          </a:ln>
        </p:spPr>
      </p:sp>
      <p:sp>
        <p:nvSpPr>
          <p:cNvPr id="138" name="Text 136"/>
          <p:cNvSpPr txBox="1"/>
          <p:nvPr/>
        </p:nvSpPr>
        <p:spPr>
          <a:xfrm>
            <a:off x="4912268" y="5713257"/>
            <a:ext cx="104962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33</a:t>
            </a:r>
            <a:endParaRPr lang="en-US" sz="1300" dirty="0"/>
          </a:p>
        </p:txBody>
      </p:sp>
      <p:sp>
        <p:nvSpPr>
          <p:cNvPr id="139" name="Text 137"/>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40" name="Shape 138"/>
          <p:cNvSpPr/>
          <p:nvPr/>
        </p:nvSpPr>
        <p:spPr>
          <a:xfrm>
            <a:off x="8357616" y="1857717"/>
            <a:ext cx="1759183" cy="183138"/>
          </a:xfrm>
          <a:prstGeom prst="rect">
            <a:avLst/>
          </a:prstGeom>
          <a:solidFill>
            <a:srgbClr val="2587C5"/>
          </a:solidFill>
          <a:ln w="6350">
            <a:solidFill>
              <a:srgbClr val="FFFFFF"/>
            </a:solidFill>
            <a:prstDash val="solid"/>
          </a:ln>
        </p:spPr>
      </p:sp>
      <p:sp>
        <p:nvSpPr>
          <p:cNvPr id="141" name="Text 139"/>
          <p:cNvSpPr txBox="1"/>
          <p:nvPr/>
        </p:nvSpPr>
        <p:spPr>
          <a:xfrm>
            <a:off x="8357616" y="1857717"/>
            <a:ext cx="17591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56</a:t>
            </a:r>
            <a:endParaRPr lang="en-US" sz="1300" dirty="0"/>
          </a:p>
        </p:txBody>
      </p:sp>
      <p:sp>
        <p:nvSpPr>
          <p:cNvPr id="142" name="Shape 140"/>
          <p:cNvSpPr/>
          <p:nvPr/>
        </p:nvSpPr>
        <p:spPr>
          <a:xfrm>
            <a:off x="10116799" y="1857717"/>
            <a:ext cx="978643" cy="183138"/>
          </a:xfrm>
          <a:prstGeom prst="rect">
            <a:avLst/>
          </a:prstGeom>
          <a:solidFill>
            <a:srgbClr val="8FBEE6"/>
          </a:solidFill>
          <a:ln w="6350">
            <a:solidFill>
              <a:srgbClr val="FFFFFF"/>
            </a:solidFill>
            <a:prstDash val="solid"/>
          </a:ln>
        </p:spPr>
      </p:sp>
      <p:sp>
        <p:nvSpPr>
          <p:cNvPr id="143" name="Text 141"/>
          <p:cNvSpPr txBox="1"/>
          <p:nvPr/>
        </p:nvSpPr>
        <p:spPr>
          <a:xfrm>
            <a:off x="10116799" y="1857717"/>
            <a:ext cx="97864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31</a:t>
            </a:r>
            <a:endParaRPr lang="en-US" sz="1300" dirty="0"/>
          </a:p>
        </p:txBody>
      </p:sp>
      <p:sp>
        <p:nvSpPr>
          <p:cNvPr id="144" name="Shape 142"/>
          <p:cNvSpPr/>
          <p:nvPr/>
        </p:nvSpPr>
        <p:spPr>
          <a:xfrm>
            <a:off x="11095442" y="1857717"/>
            <a:ext cx="416854" cy="183138"/>
          </a:xfrm>
          <a:prstGeom prst="rect">
            <a:avLst/>
          </a:prstGeom>
          <a:solidFill>
            <a:srgbClr val="D9D9D9"/>
          </a:solidFill>
          <a:ln w="6350">
            <a:solidFill>
              <a:srgbClr val="FFFFFF"/>
            </a:solidFill>
            <a:prstDash val="solid"/>
          </a:ln>
        </p:spPr>
      </p:sp>
      <p:sp>
        <p:nvSpPr>
          <p:cNvPr id="145" name="Text 143"/>
          <p:cNvSpPr txBox="1"/>
          <p:nvPr/>
        </p:nvSpPr>
        <p:spPr>
          <a:xfrm>
            <a:off x="11095442" y="1857717"/>
            <a:ext cx="41685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46" name="Text 144"/>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47" name="Shape 145"/>
          <p:cNvSpPr/>
          <p:nvPr/>
        </p:nvSpPr>
        <p:spPr>
          <a:xfrm>
            <a:off x="8357616" y="2098688"/>
            <a:ext cx="1743709" cy="183138"/>
          </a:xfrm>
          <a:prstGeom prst="rect">
            <a:avLst/>
          </a:prstGeom>
          <a:solidFill>
            <a:srgbClr val="2587C5"/>
          </a:solidFill>
          <a:ln w="6350">
            <a:solidFill>
              <a:srgbClr val="FFFFFF"/>
            </a:solidFill>
            <a:prstDash val="solid"/>
          </a:ln>
        </p:spPr>
      </p:sp>
      <p:sp>
        <p:nvSpPr>
          <p:cNvPr id="148" name="Text 146"/>
          <p:cNvSpPr txBox="1"/>
          <p:nvPr/>
        </p:nvSpPr>
        <p:spPr>
          <a:xfrm>
            <a:off x="8357616" y="2098688"/>
            <a:ext cx="1743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9" name="Shape 147"/>
          <p:cNvSpPr/>
          <p:nvPr/>
        </p:nvSpPr>
        <p:spPr>
          <a:xfrm>
            <a:off x="10101325" y="2098688"/>
            <a:ext cx="638330" cy="183138"/>
          </a:xfrm>
          <a:prstGeom prst="rect">
            <a:avLst/>
          </a:prstGeom>
          <a:solidFill>
            <a:srgbClr val="8FBEE6"/>
          </a:solidFill>
          <a:ln w="6350">
            <a:solidFill>
              <a:srgbClr val="FFFFFF"/>
            </a:solidFill>
            <a:prstDash val="solid"/>
          </a:ln>
        </p:spPr>
      </p:sp>
      <p:sp>
        <p:nvSpPr>
          <p:cNvPr id="150" name="Text 148"/>
          <p:cNvSpPr txBox="1"/>
          <p:nvPr/>
        </p:nvSpPr>
        <p:spPr>
          <a:xfrm>
            <a:off x="10101325" y="2098688"/>
            <a:ext cx="63833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20</a:t>
            </a:r>
            <a:endParaRPr lang="en-US" sz="1300" dirty="0"/>
          </a:p>
        </p:txBody>
      </p:sp>
      <p:sp>
        <p:nvSpPr>
          <p:cNvPr id="151" name="Shape 149"/>
          <p:cNvSpPr/>
          <p:nvPr/>
        </p:nvSpPr>
        <p:spPr>
          <a:xfrm>
            <a:off x="10739655" y="2098688"/>
            <a:ext cx="772641" cy="183138"/>
          </a:xfrm>
          <a:prstGeom prst="rect">
            <a:avLst/>
          </a:prstGeom>
          <a:solidFill>
            <a:srgbClr val="D9D9D9"/>
          </a:solidFill>
          <a:ln w="6350">
            <a:solidFill>
              <a:srgbClr val="FFFFFF"/>
            </a:solidFill>
            <a:prstDash val="solid"/>
          </a:ln>
        </p:spPr>
      </p:sp>
      <p:sp>
        <p:nvSpPr>
          <p:cNvPr id="152" name="Text 150"/>
          <p:cNvSpPr txBox="1"/>
          <p:nvPr/>
        </p:nvSpPr>
        <p:spPr>
          <a:xfrm>
            <a:off x="10739655" y="2098688"/>
            <a:ext cx="77264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53" name="Text 151"/>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54" name="Shape 152"/>
          <p:cNvSpPr/>
          <p:nvPr/>
        </p:nvSpPr>
        <p:spPr>
          <a:xfrm>
            <a:off x="8357616" y="2339659"/>
            <a:ext cx="1719908" cy="183138"/>
          </a:xfrm>
          <a:prstGeom prst="rect">
            <a:avLst/>
          </a:prstGeom>
          <a:solidFill>
            <a:srgbClr val="2587C5"/>
          </a:solidFill>
          <a:ln w="6350">
            <a:solidFill>
              <a:srgbClr val="FFFFFF"/>
            </a:solidFill>
            <a:prstDash val="solid"/>
          </a:ln>
        </p:spPr>
      </p:sp>
      <p:sp>
        <p:nvSpPr>
          <p:cNvPr id="155" name="Text 153"/>
          <p:cNvSpPr txBox="1"/>
          <p:nvPr/>
        </p:nvSpPr>
        <p:spPr>
          <a:xfrm>
            <a:off x="8357616" y="2339659"/>
            <a:ext cx="17199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Shape 154"/>
          <p:cNvSpPr/>
          <p:nvPr/>
        </p:nvSpPr>
        <p:spPr>
          <a:xfrm>
            <a:off x="10077524" y="2339659"/>
            <a:ext cx="412555" cy="183138"/>
          </a:xfrm>
          <a:prstGeom prst="rect">
            <a:avLst/>
          </a:prstGeom>
          <a:solidFill>
            <a:srgbClr val="8FBEE6"/>
          </a:solidFill>
          <a:ln w="6350">
            <a:solidFill>
              <a:srgbClr val="FFFFFF"/>
            </a:solidFill>
            <a:prstDash val="solid"/>
          </a:ln>
        </p:spPr>
      </p:sp>
      <p:sp>
        <p:nvSpPr>
          <p:cNvPr id="157" name="Text 155"/>
          <p:cNvSpPr txBox="1"/>
          <p:nvPr/>
        </p:nvSpPr>
        <p:spPr>
          <a:xfrm>
            <a:off x="10077524" y="2339659"/>
            <a:ext cx="41255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58" name="Shape 156"/>
          <p:cNvSpPr/>
          <p:nvPr/>
        </p:nvSpPr>
        <p:spPr>
          <a:xfrm>
            <a:off x="10490079" y="2339659"/>
            <a:ext cx="1022217" cy="183138"/>
          </a:xfrm>
          <a:prstGeom prst="rect">
            <a:avLst/>
          </a:prstGeom>
          <a:solidFill>
            <a:srgbClr val="D9D9D9"/>
          </a:solidFill>
          <a:ln w="6350">
            <a:solidFill>
              <a:srgbClr val="FFFFFF"/>
            </a:solidFill>
            <a:prstDash val="solid"/>
          </a:ln>
        </p:spPr>
      </p:sp>
      <p:sp>
        <p:nvSpPr>
          <p:cNvPr id="159" name="Text 157"/>
          <p:cNvSpPr txBox="1"/>
          <p:nvPr/>
        </p:nvSpPr>
        <p:spPr>
          <a:xfrm>
            <a:off x="10490079" y="2339659"/>
            <a:ext cx="102221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160" name="Text 158"/>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61" name="Shape 159"/>
          <p:cNvSpPr/>
          <p:nvPr/>
        </p:nvSpPr>
        <p:spPr>
          <a:xfrm>
            <a:off x="8357616" y="2580630"/>
            <a:ext cx="1601041" cy="183138"/>
          </a:xfrm>
          <a:prstGeom prst="rect">
            <a:avLst/>
          </a:prstGeom>
          <a:solidFill>
            <a:srgbClr val="2587C5"/>
          </a:solidFill>
          <a:ln w="6350">
            <a:solidFill>
              <a:srgbClr val="FFFFFF"/>
            </a:solidFill>
            <a:prstDash val="solid"/>
          </a:ln>
        </p:spPr>
      </p:sp>
      <p:sp>
        <p:nvSpPr>
          <p:cNvPr id="162" name="Text 160"/>
          <p:cNvSpPr txBox="1"/>
          <p:nvPr/>
        </p:nvSpPr>
        <p:spPr>
          <a:xfrm>
            <a:off x="8357616" y="2580630"/>
            <a:ext cx="16010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63" name="Shape 161"/>
          <p:cNvSpPr/>
          <p:nvPr/>
        </p:nvSpPr>
        <p:spPr>
          <a:xfrm>
            <a:off x="9958657" y="2580630"/>
            <a:ext cx="606875" cy="183138"/>
          </a:xfrm>
          <a:prstGeom prst="rect">
            <a:avLst/>
          </a:prstGeom>
          <a:solidFill>
            <a:srgbClr val="8FBEE6"/>
          </a:solidFill>
          <a:ln w="6350">
            <a:solidFill>
              <a:srgbClr val="FFFFFF"/>
            </a:solidFill>
            <a:prstDash val="solid"/>
          </a:ln>
        </p:spPr>
      </p:sp>
      <p:sp>
        <p:nvSpPr>
          <p:cNvPr id="164" name="Text 162"/>
          <p:cNvSpPr txBox="1"/>
          <p:nvPr/>
        </p:nvSpPr>
        <p:spPr>
          <a:xfrm>
            <a:off x="9958657" y="2580630"/>
            <a:ext cx="6068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65" name="Shape 163"/>
          <p:cNvSpPr/>
          <p:nvPr/>
        </p:nvSpPr>
        <p:spPr>
          <a:xfrm>
            <a:off x="10565532" y="2580630"/>
            <a:ext cx="946764" cy="183138"/>
          </a:xfrm>
          <a:prstGeom prst="rect">
            <a:avLst/>
          </a:prstGeom>
          <a:solidFill>
            <a:srgbClr val="D9D9D9"/>
          </a:solidFill>
          <a:ln w="6350">
            <a:solidFill>
              <a:srgbClr val="FFFFFF"/>
            </a:solidFill>
            <a:prstDash val="solid"/>
          </a:ln>
        </p:spPr>
      </p:sp>
      <p:sp>
        <p:nvSpPr>
          <p:cNvPr id="166" name="Text 164"/>
          <p:cNvSpPr txBox="1"/>
          <p:nvPr/>
        </p:nvSpPr>
        <p:spPr>
          <a:xfrm>
            <a:off x="10565532" y="2580630"/>
            <a:ext cx="946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30</a:t>
            </a:r>
            <a:endParaRPr lang="en-US" sz="1300" dirty="0"/>
          </a:p>
        </p:txBody>
      </p:sp>
      <p:sp>
        <p:nvSpPr>
          <p:cNvPr id="167" name="Text 165"/>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68" name="Shape 166"/>
          <p:cNvSpPr/>
          <p:nvPr/>
        </p:nvSpPr>
        <p:spPr>
          <a:xfrm>
            <a:off x="8357616" y="2821602"/>
            <a:ext cx="1536222" cy="183138"/>
          </a:xfrm>
          <a:prstGeom prst="rect">
            <a:avLst/>
          </a:prstGeom>
          <a:solidFill>
            <a:srgbClr val="2587C5"/>
          </a:solidFill>
          <a:ln w="6350">
            <a:solidFill>
              <a:srgbClr val="FFFFFF"/>
            </a:solidFill>
            <a:prstDash val="solid"/>
          </a:ln>
        </p:spPr>
      </p:sp>
      <p:sp>
        <p:nvSpPr>
          <p:cNvPr id="169" name="Text 167"/>
          <p:cNvSpPr txBox="1"/>
          <p:nvPr/>
        </p:nvSpPr>
        <p:spPr>
          <a:xfrm>
            <a:off x="8357616" y="2821602"/>
            <a:ext cx="153622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70" name="Shape 168"/>
          <p:cNvSpPr/>
          <p:nvPr/>
        </p:nvSpPr>
        <p:spPr>
          <a:xfrm>
            <a:off x="9893838" y="2821602"/>
            <a:ext cx="488153" cy="183138"/>
          </a:xfrm>
          <a:prstGeom prst="rect">
            <a:avLst/>
          </a:prstGeom>
          <a:solidFill>
            <a:srgbClr val="8FBEE6"/>
          </a:solidFill>
          <a:ln w="6350">
            <a:solidFill>
              <a:srgbClr val="FFFFFF"/>
            </a:solidFill>
            <a:prstDash val="solid"/>
          </a:ln>
        </p:spPr>
      </p:sp>
      <p:sp>
        <p:nvSpPr>
          <p:cNvPr id="171" name="Text 169"/>
          <p:cNvSpPr txBox="1"/>
          <p:nvPr/>
        </p:nvSpPr>
        <p:spPr>
          <a:xfrm>
            <a:off x="9893838" y="2821602"/>
            <a:ext cx="4881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72" name="Shape 170"/>
          <p:cNvSpPr/>
          <p:nvPr/>
        </p:nvSpPr>
        <p:spPr>
          <a:xfrm>
            <a:off x="10381990" y="2821602"/>
            <a:ext cx="1130306" cy="183138"/>
          </a:xfrm>
          <a:prstGeom prst="rect">
            <a:avLst/>
          </a:prstGeom>
          <a:solidFill>
            <a:srgbClr val="D9D9D9"/>
          </a:solidFill>
          <a:ln w="6350">
            <a:solidFill>
              <a:srgbClr val="FFFFFF"/>
            </a:solidFill>
            <a:prstDash val="solid"/>
          </a:ln>
        </p:spPr>
      </p:sp>
      <p:sp>
        <p:nvSpPr>
          <p:cNvPr id="173" name="Text 171"/>
          <p:cNvSpPr txBox="1"/>
          <p:nvPr/>
        </p:nvSpPr>
        <p:spPr>
          <a:xfrm>
            <a:off x="10381990" y="2821602"/>
            <a:ext cx="11303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174" name="Text 172"/>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5" name="Shape 173"/>
          <p:cNvSpPr/>
          <p:nvPr/>
        </p:nvSpPr>
        <p:spPr>
          <a:xfrm>
            <a:off x="8357616" y="3062573"/>
            <a:ext cx="1513638" cy="183138"/>
          </a:xfrm>
          <a:prstGeom prst="rect">
            <a:avLst/>
          </a:prstGeom>
          <a:solidFill>
            <a:srgbClr val="2587C5"/>
          </a:solidFill>
          <a:ln w="6350">
            <a:solidFill>
              <a:srgbClr val="FFFFFF"/>
            </a:solidFill>
            <a:prstDash val="solid"/>
          </a:ln>
        </p:spPr>
      </p:sp>
      <p:sp>
        <p:nvSpPr>
          <p:cNvPr id="176" name="Text 174"/>
          <p:cNvSpPr txBox="1"/>
          <p:nvPr/>
        </p:nvSpPr>
        <p:spPr>
          <a:xfrm>
            <a:off x="8357616" y="3062573"/>
            <a:ext cx="15136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77" name="Shape 175"/>
          <p:cNvSpPr/>
          <p:nvPr/>
        </p:nvSpPr>
        <p:spPr>
          <a:xfrm>
            <a:off x="9871254" y="3062573"/>
            <a:ext cx="727538" cy="183138"/>
          </a:xfrm>
          <a:prstGeom prst="rect">
            <a:avLst/>
          </a:prstGeom>
          <a:solidFill>
            <a:srgbClr val="8FBEE6"/>
          </a:solidFill>
          <a:ln w="6350">
            <a:solidFill>
              <a:srgbClr val="FFFFFF"/>
            </a:solidFill>
            <a:prstDash val="solid"/>
          </a:ln>
        </p:spPr>
      </p:sp>
      <p:sp>
        <p:nvSpPr>
          <p:cNvPr id="178" name="Text 176"/>
          <p:cNvSpPr txBox="1"/>
          <p:nvPr/>
        </p:nvSpPr>
        <p:spPr>
          <a:xfrm>
            <a:off x="9871254" y="3062573"/>
            <a:ext cx="72753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23</a:t>
            </a:r>
            <a:endParaRPr lang="en-US" sz="1300" dirty="0"/>
          </a:p>
        </p:txBody>
      </p:sp>
      <p:sp>
        <p:nvSpPr>
          <p:cNvPr id="179" name="Shape 177"/>
          <p:cNvSpPr/>
          <p:nvPr/>
        </p:nvSpPr>
        <p:spPr>
          <a:xfrm>
            <a:off x="10598793" y="3062573"/>
            <a:ext cx="913503" cy="183138"/>
          </a:xfrm>
          <a:prstGeom prst="rect">
            <a:avLst/>
          </a:prstGeom>
          <a:solidFill>
            <a:srgbClr val="D9D9D9"/>
          </a:solidFill>
          <a:ln w="6350">
            <a:solidFill>
              <a:srgbClr val="FFFFFF"/>
            </a:solidFill>
            <a:prstDash val="solid"/>
          </a:ln>
        </p:spPr>
      </p:sp>
      <p:sp>
        <p:nvSpPr>
          <p:cNvPr id="180" name="Text 178"/>
          <p:cNvSpPr txBox="1"/>
          <p:nvPr/>
        </p:nvSpPr>
        <p:spPr>
          <a:xfrm>
            <a:off x="10598793" y="3062573"/>
            <a:ext cx="91350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181" name="Text 179"/>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82" name="Shape 180"/>
          <p:cNvSpPr/>
          <p:nvPr/>
        </p:nvSpPr>
        <p:spPr>
          <a:xfrm>
            <a:off x="8357616" y="3303544"/>
            <a:ext cx="1487709" cy="183138"/>
          </a:xfrm>
          <a:prstGeom prst="rect">
            <a:avLst/>
          </a:prstGeom>
          <a:solidFill>
            <a:srgbClr val="2587C5"/>
          </a:solidFill>
          <a:ln w="6350">
            <a:solidFill>
              <a:srgbClr val="FFFFFF"/>
            </a:solidFill>
            <a:prstDash val="solid"/>
          </a:ln>
        </p:spPr>
      </p:sp>
      <p:sp>
        <p:nvSpPr>
          <p:cNvPr id="183" name="Text 181"/>
          <p:cNvSpPr txBox="1"/>
          <p:nvPr/>
        </p:nvSpPr>
        <p:spPr>
          <a:xfrm>
            <a:off x="8357616" y="3303544"/>
            <a:ext cx="14877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4" name="Shape 182"/>
          <p:cNvSpPr/>
          <p:nvPr/>
        </p:nvSpPr>
        <p:spPr>
          <a:xfrm>
            <a:off x="9845325" y="3303544"/>
            <a:ext cx="1263575" cy="183138"/>
          </a:xfrm>
          <a:prstGeom prst="rect">
            <a:avLst/>
          </a:prstGeom>
          <a:solidFill>
            <a:srgbClr val="8FBEE6"/>
          </a:solidFill>
          <a:ln w="6350">
            <a:solidFill>
              <a:srgbClr val="FFFFFF"/>
            </a:solidFill>
            <a:prstDash val="solid"/>
          </a:ln>
        </p:spPr>
      </p:sp>
      <p:sp>
        <p:nvSpPr>
          <p:cNvPr id="185" name="Text 183"/>
          <p:cNvSpPr txBox="1"/>
          <p:nvPr/>
        </p:nvSpPr>
        <p:spPr>
          <a:xfrm>
            <a:off x="9845325" y="3303544"/>
            <a:ext cx="126357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186" name="Shape 184"/>
          <p:cNvSpPr/>
          <p:nvPr/>
        </p:nvSpPr>
        <p:spPr>
          <a:xfrm>
            <a:off x="11108900" y="3303544"/>
            <a:ext cx="403396" cy="183138"/>
          </a:xfrm>
          <a:prstGeom prst="rect">
            <a:avLst/>
          </a:prstGeom>
          <a:solidFill>
            <a:srgbClr val="D9D9D9"/>
          </a:solidFill>
          <a:ln w="6350">
            <a:solidFill>
              <a:srgbClr val="FFFFFF"/>
            </a:solidFill>
            <a:prstDash val="solid"/>
          </a:ln>
        </p:spPr>
      </p:sp>
      <p:sp>
        <p:nvSpPr>
          <p:cNvPr id="187" name="Text 185"/>
          <p:cNvSpPr txBox="1"/>
          <p:nvPr/>
        </p:nvSpPr>
        <p:spPr>
          <a:xfrm>
            <a:off x="11108900" y="3303544"/>
            <a:ext cx="4033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188" name="Text 186"/>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9" name="Shape 187"/>
          <p:cNvSpPr/>
          <p:nvPr/>
        </p:nvSpPr>
        <p:spPr>
          <a:xfrm>
            <a:off x="8357616" y="3544516"/>
            <a:ext cx="1483116" cy="183138"/>
          </a:xfrm>
          <a:prstGeom prst="rect">
            <a:avLst/>
          </a:prstGeom>
          <a:solidFill>
            <a:srgbClr val="2587C5"/>
          </a:solidFill>
          <a:ln w="6350">
            <a:solidFill>
              <a:srgbClr val="FFFFFF"/>
            </a:solidFill>
            <a:prstDash val="solid"/>
          </a:ln>
        </p:spPr>
      </p:sp>
      <p:sp>
        <p:nvSpPr>
          <p:cNvPr id="190" name="Text 188"/>
          <p:cNvSpPr txBox="1"/>
          <p:nvPr/>
        </p:nvSpPr>
        <p:spPr>
          <a:xfrm>
            <a:off x="8357616" y="3544516"/>
            <a:ext cx="14831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91" name="Shape 189"/>
          <p:cNvSpPr/>
          <p:nvPr/>
        </p:nvSpPr>
        <p:spPr>
          <a:xfrm>
            <a:off x="9840732" y="3544516"/>
            <a:ext cx="885736" cy="183138"/>
          </a:xfrm>
          <a:prstGeom prst="rect">
            <a:avLst/>
          </a:prstGeom>
          <a:solidFill>
            <a:srgbClr val="8FBEE6"/>
          </a:solidFill>
          <a:ln w="6350">
            <a:solidFill>
              <a:srgbClr val="FFFFFF"/>
            </a:solidFill>
            <a:prstDash val="solid"/>
          </a:ln>
        </p:spPr>
      </p:sp>
      <p:sp>
        <p:nvSpPr>
          <p:cNvPr id="192" name="Text 190"/>
          <p:cNvSpPr txBox="1"/>
          <p:nvPr/>
        </p:nvSpPr>
        <p:spPr>
          <a:xfrm>
            <a:off x="9840732" y="3544516"/>
            <a:ext cx="8857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93" name="Shape 191"/>
          <p:cNvSpPr/>
          <p:nvPr/>
        </p:nvSpPr>
        <p:spPr>
          <a:xfrm>
            <a:off x="10726468" y="3544516"/>
            <a:ext cx="785828" cy="183138"/>
          </a:xfrm>
          <a:prstGeom prst="rect">
            <a:avLst/>
          </a:prstGeom>
          <a:solidFill>
            <a:srgbClr val="D9D9D9"/>
          </a:solidFill>
          <a:ln w="6350">
            <a:solidFill>
              <a:srgbClr val="FFFFFF"/>
            </a:solidFill>
            <a:prstDash val="solid"/>
          </a:ln>
        </p:spPr>
      </p:sp>
      <p:sp>
        <p:nvSpPr>
          <p:cNvPr id="194" name="Text 192"/>
          <p:cNvSpPr txBox="1"/>
          <p:nvPr/>
        </p:nvSpPr>
        <p:spPr>
          <a:xfrm>
            <a:off x="10726468" y="3544516"/>
            <a:ext cx="78582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195" name="Text 193"/>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6" name="Shape 194"/>
          <p:cNvSpPr/>
          <p:nvPr/>
        </p:nvSpPr>
        <p:spPr>
          <a:xfrm>
            <a:off x="8357616" y="3785487"/>
            <a:ext cx="1429900" cy="183138"/>
          </a:xfrm>
          <a:prstGeom prst="rect">
            <a:avLst/>
          </a:prstGeom>
          <a:solidFill>
            <a:srgbClr val="2587C5"/>
          </a:solidFill>
          <a:ln w="6350">
            <a:solidFill>
              <a:srgbClr val="FFFFFF"/>
            </a:solidFill>
            <a:prstDash val="solid"/>
          </a:ln>
        </p:spPr>
      </p:sp>
      <p:sp>
        <p:nvSpPr>
          <p:cNvPr id="197" name="Text 195"/>
          <p:cNvSpPr txBox="1"/>
          <p:nvPr/>
        </p:nvSpPr>
        <p:spPr>
          <a:xfrm>
            <a:off x="8357616" y="3785487"/>
            <a:ext cx="14299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98" name="Shape 196"/>
          <p:cNvSpPr/>
          <p:nvPr/>
        </p:nvSpPr>
        <p:spPr>
          <a:xfrm>
            <a:off x="9787516" y="3785487"/>
            <a:ext cx="450296" cy="183138"/>
          </a:xfrm>
          <a:prstGeom prst="rect">
            <a:avLst/>
          </a:prstGeom>
          <a:solidFill>
            <a:srgbClr val="8FBEE6"/>
          </a:solidFill>
          <a:ln w="6350">
            <a:solidFill>
              <a:srgbClr val="FFFFFF"/>
            </a:solidFill>
            <a:prstDash val="solid"/>
          </a:ln>
        </p:spPr>
      </p:sp>
      <p:sp>
        <p:nvSpPr>
          <p:cNvPr id="199" name="Text 197"/>
          <p:cNvSpPr txBox="1"/>
          <p:nvPr/>
        </p:nvSpPr>
        <p:spPr>
          <a:xfrm>
            <a:off x="9787516" y="3785487"/>
            <a:ext cx="45029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00" name="Shape 198"/>
          <p:cNvSpPr/>
          <p:nvPr/>
        </p:nvSpPr>
        <p:spPr>
          <a:xfrm>
            <a:off x="10237812" y="3785487"/>
            <a:ext cx="1274484" cy="183138"/>
          </a:xfrm>
          <a:prstGeom prst="rect">
            <a:avLst/>
          </a:prstGeom>
          <a:solidFill>
            <a:srgbClr val="D9D9D9"/>
          </a:solidFill>
          <a:ln w="6350">
            <a:solidFill>
              <a:srgbClr val="FFFFFF"/>
            </a:solidFill>
            <a:prstDash val="solid"/>
          </a:ln>
        </p:spPr>
      </p:sp>
      <p:sp>
        <p:nvSpPr>
          <p:cNvPr id="201" name="Text 199"/>
          <p:cNvSpPr txBox="1"/>
          <p:nvPr/>
        </p:nvSpPr>
        <p:spPr>
          <a:xfrm>
            <a:off x="10237812" y="3785487"/>
            <a:ext cx="12744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40</a:t>
            </a:r>
            <a:endParaRPr lang="en-US" sz="1300" dirty="0"/>
          </a:p>
        </p:txBody>
      </p:sp>
      <p:sp>
        <p:nvSpPr>
          <p:cNvPr id="202" name="Text 200"/>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203" name="Shape 201"/>
          <p:cNvSpPr/>
          <p:nvPr/>
        </p:nvSpPr>
        <p:spPr>
          <a:xfrm>
            <a:off x="8357616" y="4026458"/>
            <a:ext cx="1407663" cy="183138"/>
          </a:xfrm>
          <a:prstGeom prst="rect">
            <a:avLst/>
          </a:prstGeom>
          <a:solidFill>
            <a:srgbClr val="2587C5"/>
          </a:solidFill>
          <a:ln w="6350">
            <a:solidFill>
              <a:srgbClr val="FFFFFF"/>
            </a:solidFill>
            <a:prstDash val="solid"/>
          </a:ln>
        </p:spPr>
      </p:sp>
      <p:sp>
        <p:nvSpPr>
          <p:cNvPr id="204" name="Text 202"/>
          <p:cNvSpPr txBox="1"/>
          <p:nvPr/>
        </p:nvSpPr>
        <p:spPr>
          <a:xfrm>
            <a:off x="8357616" y="4026458"/>
            <a:ext cx="14076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205" name="Shape 203"/>
          <p:cNvSpPr/>
          <p:nvPr/>
        </p:nvSpPr>
        <p:spPr>
          <a:xfrm>
            <a:off x="9765279" y="4026458"/>
            <a:ext cx="1184133" cy="183138"/>
          </a:xfrm>
          <a:prstGeom prst="rect">
            <a:avLst/>
          </a:prstGeom>
          <a:solidFill>
            <a:srgbClr val="8FBEE6"/>
          </a:solidFill>
          <a:ln w="6350">
            <a:solidFill>
              <a:srgbClr val="FFFFFF"/>
            </a:solidFill>
            <a:prstDash val="solid"/>
          </a:ln>
        </p:spPr>
      </p:sp>
      <p:sp>
        <p:nvSpPr>
          <p:cNvPr id="206" name="Text 204"/>
          <p:cNvSpPr txBox="1"/>
          <p:nvPr/>
        </p:nvSpPr>
        <p:spPr>
          <a:xfrm>
            <a:off x="9765279" y="4026458"/>
            <a:ext cx="11841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07" name="Shape 205"/>
          <p:cNvSpPr/>
          <p:nvPr/>
        </p:nvSpPr>
        <p:spPr>
          <a:xfrm>
            <a:off x="10949412" y="4026458"/>
            <a:ext cx="562884" cy="183138"/>
          </a:xfrm>
          <a:prstGeom prst="rect">
            <a:avLst/>
          </a:prstGeom>
          <a:solidFill>
            <a:srgbClr val="D9D9D9"/>
          </a:solidFill>
          <a:ln w="6350">
            <a:solidFill>
              <a:srgbClr val="FFFFFF"/>
            </a:solidFill>
            <a:prstDash val="solid"/>
          </a:ln>
        </p:spPr>
      </p:sp>
      <p:sp>
        <p:nvSpPr>
          <p:cNvPr id="208" name="Text 206"/>
          <p:cNvSpPr txBox="1"/>
          <p:nvPr/>
        </p:nvSpPr>
        <p:spPr>
          <a:xfrm>
            <a:off x="10949412" y="4026458"/>
            <a:ext cx="56288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209" name="Text 207"/>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0" name="Shape 208"/>
          <p:cNvSpPr/>
          <p:nvPr/>
        </p:nvSpPr>
        <p:spPr>
          <a:xfrm>
            <a:off x="8357616" y="4267429"/>
            <a:ext cx="1272315" cy="183138"/>
          </a:xfrm>
          <a:prstGeom prst="rect">
            <a:avLst/>
          </a:prstGeom>
          <a:solidFill>
            <a:srgbClr val="2587C5"/>
          </a:solidFill>
          <a:ln w="6350">
            <a:solidFill>
              <a:srgbClr val="FFFFFF"/>
            </a:solidFill>
            <a:prstDash val="solid"/>
          </a:ln>
        </p:spPr>
      </p:sp>
      <p:sp>
        <p:nvSpPr>
          <p:cNvPr id="211" name="Text 209"/>
          <p:cNvSpPr txBox="1"/>
          <p:nvPr/>
        </p:nvSpPr>
        <p:spPr>
          <a:xfrm>
            <a:off x="8357616" y="4267429"/>
            <a:ext cx="12723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2" name="Shape 210"/>
          <p:cNvSpPr/>
          <p:nvPr/>
        </p:nvSpPr>
        <p:spPr>
          <a:xfrm>
            <a:off x="9629931" y="4267429"/>
            <a:ext cx="1101342" cy="183138"/>
          </a:xfrm>
          <a:prstGeom prst="rect">
            <a:avLst/>
          </a:prstGeom>
          <a:solidFill>
            <a:srgbClr val="8FBEE6"/>
          </a:solidFill>
          <a:ln w="6350">
            <a:solidFill>
              <a:srgbClr val="FFFFFF"/>
            </a:solidFill>
            <a:prstDash val="solid"/>
          </a:ln>
        </p:spPr>
      </p:sp>
      <p:sp>
        <p:nvSpPr>
          <p:cNvPr id="213" name="Text 211"/>
          <p:cNvSpPr txBox="1"/>
          <p:nvPr/>
        </p:nvSpPr>
        <p:spPr>
          <a:xfrm>
            <a:off x="9629931" y="4267429"/>
            <a:ext cx="110134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35</a:t>
            </a:r>
            <a:endParaRPr lang="en-US" sz="1300" dirty="0"/>
          </a:p>
        </p:txBody>
      </p:sp>
      <p:sp>
        <p:nvSpPr>
          <p:cNvPr id="214" name="Shape 212"/>
          <p:cNvSpPr/>
          <p:nvPr/>
        </p:nvSpPr>
        <p:spPr>
          <a:xfrm>
            <a:off x="10731273" y="4267429"/>
            <a:ext cx="781023" cy="183138"/>
          </a:xfrm>
          <a:prstGeom prst="rect">
            <a:avLst/>
          </a:prstGeom>
          <a:solidFill>
            <a:srgbClr val="D9D9D9"/>
          </a:solidFill>
          <a:ln w="6350">
            <a:solidFill>
              <a:srgbClr val="FFFFFF"/>
            </a:solidFill>
            <a:prstDash val="solid"/>
          </a:ln>
        </p:spPr>
      </p:sp>
      <p:sp>
        <p:nvSpPr>
          <p:cNvPr id="215" name="Text 213"/>
          <p:cNvSpPr txBox="1"/>
          <p:nvPr/>
        </p:nvSpPr>
        <p:spPr>
          <a:xfrm>
            <a:off x="10731273" y="4267429"/>
            <a:ext cx="78102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216" name="Text 214"/>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7" name="Shape 215"/>
          <p:cNvSpPr/>
          <p:nvPr/>
        </p:nvSpPr>
        <p:spPr>
          <a:xfrm>
            <a:off x="8357616" y="4508401"/>
            <a:ext cx="1260841" cy="183138"/>
          </a:xfrm>
          <a:prstGeom prst="rect">
            <a:avLst/>
          </a:prstGeom>
          <a:solidFill>
            <a:srgbClr val="2587C5"/>
          </a:solidFill>
          <a:ln w="6350">
            <a:solidFill>
              <a:srgbClr val="FFFFFF"/>
            </a:solidFill>
            <a:prstDash val="solid"/>
          </a:ln>
        </p:spPr>
      </p:sp>
      <p:sp>
        <p:nvSpPr>
          <p:cNvPr id="218" name="Text 216"/>
          <p:cNvSpPr txBox="1"/>
          <p:nvPr/>
        </p:nvSpPr>
        <p:spPr>
          <a:xfrm>
            <a:off x="8357616" y="4508401"/>
            <a:ext cx="1260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219" name="Shape 217"/>
          <p:cNvSpPr/>
          <p:nvPr/>
        </p:nvSpPr>
        <p:spPr>
          <a:xfrm>
            <a:off x="9618457" y="4508401"/>
            <a:ext cx="1210006" cy="183138"/>
          </a:xfrm>
          <a:prstGeom prst="rect">
            <a:avLst/>
          </a:prstGeom>
          <a:solidFill>
            <a:srgbClr val="8FBEE6"/>
          </a:solidFill>
          <a:ln w="6350">
            <a:solidFill>
              <a:srgbClr val="FFFFFF"/>
            </a:solidFill>
            <a:prstDash val="solid"/>
          </a:ln>
        </p:spPr>
      </p:sp>
      <p:sp>
        <p:nvSpPr>
          <p:cNvPr id="220" name="Text 218"/>
          <p:cNvSpPr txBox="1"/>
          <p:nvPr/>
        </p:nvSpPr>
        <p:spPr>
          <a:xfrm>
            <a:off x="9618457" y="4508401"/>
            <a:ext cx="121000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21" name="Shape 219"/>
          <p:cNvSpPr/>
          <p:nvPr/>
        </p:nvSpPr>
        <p:spPr>
          <a:xfrm>
            <a:off x="10828463" y="4508401"/>
            <a:ext cx="683833" cy="183138"/>
          </a:xfrm>
          <a:prstGeom prst="rect">
            <a:avLst/>
          </a:prstGeom>
          <a:solidFill>
            <a:srgbClr val="D9D9D9"/>
          </a:solidFill>
          <a:ln w="6350">
            <a:solidFill>
              <a:srgbClr val="FFFFFF"/>
            </a:solidFill>
            <a:prstDash val="solid"/>
          </a:ln>
        </p:spPr>
      </p:sp>
      <p:sp>
        <p:nvSpPr>
          <p:cNvPr id="222" name="Text 220"/>
          <p:cNvSpPr txBox="1"/>
          <p:nvPr/>
        </p:nvSpPr>
        <p:spPr>
          <a:xfrm>
            <a:off x="10828463" y="4508401"/>
            <a:ext cx="6838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22</a:t>
            </a:r>
            <a:endParaRPr lang="en-US" sz="1300" dirty="0"/>
          </a:p>
        </p:txBody>
      </p:sp>
      <p:sp>
        <p:nvSpPr>
          <p:cNvPr id="223" name="Text 221"/>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24" name="Shape 222"/>
          <p:cNvSpPr/>
          <p:nvPr/>
        </p:nvSpPr>
        <p:spPr>
          <a:xfrm>
            <a:off x="8357616" y="4749372"/>
            <a:ext cx="1237324" cy="183138"/>
          </a:xfrm>
          <a:prstGeom prst="rect">
            <a:avLst/>
          </a:prstGeom>
          <a:solidFill>
            <a:srgbClr val="2587C5"/>
          </a:solidFill>
          <a:ln w="6350">
            <a:solidFill>
              <a:srgbClr val="FFFFFF"/>
            </a:solidFill>
            <a:prstDash val="solid"/>
          </a:ln>
        </p:spPr>
      </p:sp>
      <p:sp>
        <p:nvSpPr>
          <p:cNvPr id="225" name="Text 223"/>
          <p:cNvSpPr txBox="1"/>
          <p:nvPr/>
        </p:nvSpPr>
        <p:spPr>
          <a:xfrm>
            <a:off x="8357616" y="4749372"/>
            <a:ext cx="12373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226" name="Shape 224"/>
          <p:cNvSpPr/>
          <p:nvPr/>
        </p:nvSpPr>
        <p:spPr>
          <a:xfrm>
            <a:off x="9594940" y="4749372"/>
            <a:ext cx="995080" cy="183138"/>
          </a:xfrm>
          <a:prstGeom prst="rect">
            <a:avLst/>
          </a:prstGeom>
          <a:solidFill>
            <a:srgbClr val="8FBEE6"/>
          </a:solidFill>
          <a:ln w="6350">
            <a:solidFill>
              <a:srgbClr val="FFFFFF"/>
            </a:solidFill>
            <a:prstDash val="solid"/>
          </a:ln>
        </p:spPr>
      </p:sp>
      <p:sp>
        <p:nvSpPr>
          <p:cNvPr id="227" name="Text 225"/>
          <p:cNvSpPr txBox="1"/>
          <p:nvPr/>
        </p:nvSpPr>
        <p:spPr>
          <a:xfrm>
            <a:off x="9594940" y="4749372"/>
            <a:ext cx="9950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32</a:t>
            </a:r>
            <a:endParaRPr lang="en-US" sz="1300" dirty="0"/>
          </a:p>
        </p:txBody>
      </p:sp>
      <p:sp>
        <p:nvSpPr>
          <p:cNvPr id="228" name="Shape 226"/>
          <p:cNvSpPr/>
          <p:nvPr/>
        </p:nvSpPr>
        <p:spPr>
          <a:xfrm>
            <a:off x="10590020" y="4749372"/>
            <a:ext cx="922276" cy="183138"/>
          </a:xfrm>
          <a:prstGeom prst="rect">
            <a:avLst/>
          </a:prstGeom>
          <a:solidFill>
            <a:srgbClr val="D9D9D9"/>
          </a:solidFill>
          <a:ln w="6350">
            <a:solidFill>
              <a:srgbClr val="FFFFFF"/>
            </a:solidFill>
            <a:prstDash val="solid"/>
          </a:ln>
        </p:spPr>
      </p:sp>
      <p:sp>
        <p:nvSpPr>
          <p:cNvPr id="229" name="Text 227"/>
          <p:cNvSpPr txBox="1"/>
          <p:nvPr/>
        </p:nvSpPr>
        <p:spPr>
          <a:xfrm>
            <a:off x="10590020" y="4749372"/>
            <a:ext cx="92227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30" name="Text 228"/>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31" name="Shape 229"/>
          <p:cNvSpPr/>
          <p:nvPr/>
        </p:nvSpPr>
        <p:spPr>
          <a:xfrm>
            <a:off x="8357616" y="4990343"/>
            <a:ext cx="1075368" cy="183138"/>
          </a:xfrm>
          <a:prstGeom prst="rect">
            <a:avLst/>
          </a:prstGeom>
          <a:solidFill>
            <a:srgbClr val="2587C5"/>
          </a:solidFill>
          <a:ln w="6350">
            <a:solidFill>
              <a:srgbClr val="FFFFFF"/>
            </a:solidFill>
            <a:prstDash val="solid"/>
          </a:ln>
        </p:spPr>
      </p:sp>
      <p:sp>
        <p:nvSpPr>
          <p:cNvPr id="232" name="Text 230"/>
          <p:cNvSpPr txBox="1"/>
          <p:nvPr/>
        </p:nvSpPr>
        <p:spPr>
          <a:xfrm>
            <a:off x="8357616" y="4990343"/>
            <a:ext cx="10753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33" name="Shape 231"/>
          <p:cNvSpPr/>
          <p:nvPr/>
        </p:nvSpPr>
        <p:spPr>
          <a:xfrm>
            <a:off x="9432984" y="4990343"/>
            <a:ext cx="1647182" cy="183138"/>
          </a:xfrm>
          <a:prstGeom prst="rect">
            <a:avLst/>
          </a:prstGeom>
          <a:solidFill>
            <a:srgbClr val="8FBEE6"/>
          </a:solidFill>
          <a:ln w="6350">
            <a:solidFill>
              <a:srgbClr val="FFFFFF"/>
            </a:solidFill>
            <a:prstDash val="solid"/>
          </a:ln>
        </p:spPr>
      </p:sp>
      <p:sp>
        <p:nvSpPr>
          <p:cNvPr id="234" name="Text 232"/>
          <p:cNvSpPr txBox="1"/>
          <p:nvPr/>
        </p:nvSpPr>
        <p:spPr>
          <a:xfrm>
            <a:off x="9432984" y="4990343"/>
            <a:ext cx="164718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35" name="Shape 233"/>
          <p:cNvSpPr/>
          <p:nvPr/>
        </p:nvSpPr>
        <p:spPr>
          <a:xfrm>
            <a:off x="11080165" y="4990343"/>
            <a:ext cx="432131" cy="183138"/>
          </a:xfrm>
          <a:prstGeom prst="rect">
            <a:avLst/>
          </a:prstGeom>
          <a:solidFill>
            <a:srgbClr val="D9D9D9"/>
          </a:solidFill>
          <a:ln w="6350">
            <a:solidFill>
              <a:srgbClr val="FFFFFF"/>
            </a:solidFill>
            <a:prstDash val="solid"/>
          </a:ln>
        </p:spPr>
      </p:sp>
      <p:sp>
        <p:nvSpPr>
          <p:cNvPr id="236" name="Text 234"/>
          <p:cNvSpPr txBox="1"/>
          <p:nvPr/>
        </p:nvSpPr>
        <p:spPr>
          <a:xfrm>
            <a:off x="11080165" y="4990343"/>
            <a:ext cx="4321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237" name="Text 235"/>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38" name="Shape 236"/>
          <p:cNvSpPr/>
          <p:nvPr/>
        </p:nvSpPr>
        <p:spPr>
          <a:xfrm>
            <a:off x="8357616" y="5231315"/>
            <a:ext cx="898846" cy="183138"/>
          </a:xfrm>
          <a:prstGeom prst="rect">
            <a:avLst/>
          </a:prstGeom>
          <a:solidFill>
            <a:srgbClr val="2587C5"/>
          </a:solidFill>
          <a:ln w="6350">
            <a:solidFill>
              <a:srgbClr val="FFFFFF"/>
            </a:solidFill>
            <a:prstDash val="solid"/>
          </a:ln>
        </p:spPr>
      </p:sp>
      <p:sp>
        <p:nvSpPr>
          <p:cNvPr id="239" name="Text 237"/>
          <p:cNvSpPr txBox="1"/>
          <p:nvPr/>
        </p:nvSpPr>
        <p:spPr>
          <a:xfrm>
            <a:off x="8357616" y="5231315"/>
            <a:ext cx="89884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0" name="Shape 238"/>
          <p:cNvSpPr/>
          <p:nvPr/>
        </p:nvSpPr>
        <p:spPr>
          <a:xfrm>
            <a:off x="9256462" y="5231315"/>
            <a:ext cx="1126586" cy="183138"/>
          </a:xfrm>
          <a:prstGeom prst="rect">
            <a:avLst/>
          </a:prstGeom>
          <a:solidFill>
            <a:srgbClr val="8FBEE6"/>
          </a:solidFill>
          <a:ln w="6350">
            <a:solidFill>
              <a:srgbClr val="FFFFFF"/>
            </a:solidFill>
            <a:prstDash val="solid"/>
          </a:ln>
        </p:spPr>
      </p:sp>
      <p:sp>
        <p:nvSpPr>
          <p:cNvPr id="241" name="Text 239"/>
          <p:cNvSpPr txBox="1"/>
          <p:nvPr/>
        </p:nvSpPr>
        <p:spPr>
          <a:xfrm>
            <a:off x="9256462" y="5231315"/>
            <a:ext cx="112658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2" name="Shape 240"/>
          <p:cNvSpPr/>
          <p:nvPr/>
        </p:nvSpPr>
        <p:spPr>
          <a:xfrm>
            <a:off x="10383048" y="5231315"/>
            <a:ext cx="1129248" cy="183138"/>
          </a:xfrm>
          <a:prstGeom prst="rect">
            <a:avLst/>
          </a:prstGeom>
          <a:solidFill>
            <a:srgbClr val="D9D9D9"/>
          </a:solidFill>
          <a:ln w="6350">
            <a:solidFill>
              <a:srgbClr val="FFFFFF"/>
            </a:solidFill>
            <a:prstDash val="solid"/>
          </a:ln>
        </p:spPr>
      </p:sp>
      <p:sp>
        <p:nvSpPr>
          <p:cNvPr id="243" name="Text 241"/>
          <p:cNvSpPr txBox="1"/>
          <p:nvPr/>
        </p:nvSpPr>
        <p:spPr>
          <a:xfrm>
            <a:off x="10383048" y="5231315"/>
            <a:ext cx="112924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36</a:t>
            </a:r>
            <a:endParaRPr lang="en-US" sz="1300" dirty="0"/>
          </a:p>
        </p:txBody>
      </p:sp>
      <p:sp>
        <p:nvSpPr>
          <p:cNvPr id="244" name="Text 242"/>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45" name="Shape 243"/>
          <p:cNvSpPr/>
          <p:nvPr/>
        </p:nvSpPr>
        <p:spPr>
          <a:xfrm>
            <a:off x="8357616" y="5472286"/>
            <a:ext cx="880673" cy="183138"/>
          </a:xfrm>
          <a:prstGeom prst="rect">
            <a:avLst/>
          </a:prstGeom>
          <a:solidFill>
            <a:srgbClr val="2587C5"/>
          </a:solidFill>
          <a:ln w="6350">
            <a:solidFill>
              <a:srgbClr val="FFFFFF"/>
            </a:solidFill>
            <a:prstDash val="solid"/>
          </a:ln>
        </p:spPr>
      </p:sp>
      <p:sp>
        <p:nvSpPr>
          <p:cNvPr id="246" name="Text 244"/>
          <p:cNvSpPr txBox="1"/>
          <p:nvPr/>
        </p:nvSpPr>
        <p:spPr>
          <a:xfrm>
            <a:off x="8357616" y="5472286"/>
            <a:ext cx="8806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47" name="Shape 245"/>
          <p:cNvSpPr/>
          <p:nvPr/>
        </p:nvSpPr>
        <p:spPr>
          <a:xfrm>
            <a:off x="9238289" y="5472286"/>
            <a:ext cx="1619914" cy="183138"/>
          </a:xfrm>
          <a:prstGeom prst="rect">
            <a:avLst/>
          </a:prstGeom>
          <a:solidFill>
            <a:srgbClr val="8FBEE6"/>
          </a:solidFill>
          <a:ln w="6350">
            <a:solidFill>
              <a:srgbClr val="FFFFFF"/>
            </a:solidFill>
            <a:prstDash val="solid"/>
          </a:ln>
        </p:spPr>
      </p:sp>
      <p:sp>
        <p:nvSpPr>
          <p:cNvPr id="248" name="Text 246"/>
          <p:cNvSpPr txBox="1"/>
          <p:nvPr/>
        </p:nvSpPr>
        <p:spPr>
          <a:xfrm>
            <a:off x="9238289" y="5472286"/>
            <a:ext cx="161991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51</a:t>
            </a:r>
            <a:endParaRPr lang="en-US" sz="1300" dirty="0"/>
          </a:p>
        </p:txBody>
      </p:sp>
      <p:sp>
        <p:nvSpPr>
          <p:cNvPr id="249" name="Shape 247"/>
          <p:cNvSpPr/>
          <p:nvPr/>
        </p:nvSpPr>
        <p:spPr>
          <a:xfrm>
            <a:off x="10858202" y="5472286"/>
            <a:ext cx="654094" cy="183138"/>
          </a:xfrm>
          <a:prstGeom prst="rect">
            <a:avLst/>
          </a:prstGeom>
          <a:solidFill>
            <a:srgbClr val="D9D9D9"/>
          </a:solidFill>
          <a:ln w="6350">
            <a:solidFill>
              <a:srgbClr val="FFFFFF"/>
            </a:solidFill>
            <a:prstDash val="solid"/>
          </a:ln>
        </p:spPr>
      </p:sp>
      <p:sp>
        <p:nvSpPr>
          <p:cNvPr id="250" name="Text 248"/>
          <p:cNvSpPr txBox="1"/>
          <p:nvPr/>
        </p:nvSpPr>
        <p:spPr>
          <a:xfrm>
            <a:off x="10858202" y="5472286"/>
            <a:ext cx="65409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21</a:t>
            </a:r>
            <a:endParaRPr lang="en-US" sz="1300" dirty="0"/>
          </a:p>
        </p:txBody>
      </p:sp>
      <p:sp>
        <p:nvSpPr>
          <p:cNvPr id="251" name="Shape 249"/>
          <p:cNvSpPr/>
          <p:nvPr/>
        </p:nvSpPr>
        <p:spPr>
          <a:xfrm>
            <a:off x="457200" y="6126480"/>
            <a:ext cx="11274552" cy="615696"/>
          </a:xfrm>
          <a:prstGeom prst="rect">
            <a:avLst/>
          </a:prstGeom>
          <a:solidFill>
            <a:srgbClr val="EDF4FA"/>
          </a:solidFill>
          <a:ln/>
        </p:spPr>
      </p:sp>
      <p:sp>
        <p:nvSpPr>
          <p:cNvPr id="252" name="Text 2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Customer pay is 52.5% of labor sale (52.8% in 2025), warranty 23.8%, internal 23.7%. Honda Spokane is most customer-pay at 70.3%.</a:t>
            </a:r>
            <a:endParaRPr lang="en-US" sz="1600" dirty="0"/>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Customer-Pay Labor by Work Type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2587C5"/>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Maintenance %</a:t>
            </a:r>
            <a:endParaRPr lang="en-US" sz="1400" dirty="0"/>
          </a:p>
        </p:txBody>
      </p:sp>
      <p:sp>
        <p:nvSpPr>
          <p:cNvPr id="8" name="Shape 6"/>
          <p:cNvSpPr/>
          <p:nvPr/>
        </p:nvSpPr>
        <p:spPr>
          <a:xfrm>
            <a:off x="2624328" y="1371600"/>
            <a:ext cx="201168" cy="201168"/>
          </a:xfrm>
          <a:prstGeom prst="rect">
            <a:avLst/>
          </a:prstGeom>
          <a:solidFill>
            <a:srgbClr val="0B2C4A"/>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Repair %</a:t>
            </a:r>
            <a:endParaRPr lang="en-US" sz="1400" dirty="0"/>
          </a:p>
        </p:txBody>
      </p:sp>
      <p:sp>
        <p:nvSpPr>
          <p:cNvPr id="10" name="Shape 8"/>
          <p:cNvSpPr/>
          <p:nvPr/>
        </p:nvSpPr>
        <p:spPr>
          <a:xfrm>
            <a:off x="4590288" y="1371600"/>
            <a:ext cx="201168" cy="201168"/>
          </a:xfrm>
          <a:prstGeom prst="rect">
            <a:avLst/>
          </a:prstGeom>
          <a:solidFill>
            <a:srgbClr val="D9D9D9"/>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Unclassified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2015868" cy="292608"/>
          </a:xfrm>
          <a:prstGeom prst="rect">
            <a:avLst/>
          </a:prstGeom>
          <a:solidFill>
            <a:srgbClr val="2587C5"/>
          </a:solidFill>
          <a:ln w="6350">
            <a:solidFill>
              <a:srgbClr val="FFFFFF"/>
            </a:solidFill>
            <a:prstDash val="solid"/>
          </a:ln>
        </p:spPr>
      </p:sp>
      <p:sp>
        <p:nvSpPr>
          <p:cNvPr id="15" name="Text 13"/>
          <p:cNvSpPr txBox="1"/>
          <p:nvPr/>
        </p:nvSpPr>
        <p:spPr>
          <a:xfrm>
            <a:off x="7726680" y="1344168"/>
            <a:ext cx="2015868"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54</a:t>
            </a:r>
            <a:endParaRPr lang="en-US" sz="1400" dirty="0"/>
          </a:p>
        </p:txBody>
      </p:sp>
      <p:sp>
        <p:nvSpPr>
          <p:cNvPr id="16" name="Shape 14"/>
          <p:cNvSpPr/>
          <p:nvPr/>
        </p:nvSpPr>
        <p:spPr>
          <a:xfrm>
            <a:off x="9742548" y="1344168"/>
            <a:ext cx="1132302" cy="292608"/>
          </a:xfrm>
          <a:prstGeom prst="rect">
            <a:avLst/>
          </a:prstGeom>
          <a:solidFill>
            <a:srgbClr val="0B2C4A"/>
          </a:solidFill>
          <a:ln w="6350">
            <a:solidFill>
              <a:srgbClr val="FFFFFF"/>
            </a:solidFill>
            <a:prstDash val="solid"/>
          </a:ln>
        </p:spPr>
      </p:sp>
      <p:sp>
        <p:nvSpPr>
          <p:cNvPr id="17" name="Text 15"/>
          <p:cNvSpPr txBox="1"/>
          <p:nvPr/>
        </p:nvSpPr>
        <p:spPr>
          <a:xfrm>
            <a:off x="9742548" y="1344168"/>
            <a:ext cx="1132302"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31</a:t>
            </a:r>
            <a:endParaRPr lang="en-US" sz="1400" dirty="0"/>
          </a:p>
        </p:txBody>
      </p:sp>
      <p:sp>
        <p:nvSpPr>
          <p:cNvPr id="18" name="Shape 16"/>
          <p:cNvSpPr/>
          <p:nvPr/>
        </p:nvSpPr>
        <p:spPr>
          <a:xfrm>
            <a:off x="10874849" y="1344168"/>
            <a:ext cx="564295" cy="292608"/>
          </a:xfrm>
          <a:prstGeom prst="rect">
            <a:avLst/>
          </a:prstGeom>
          <a:solidFill>
            <a:srgbClr val="D9D9D9"/>
          </a:solidFill>
          <a:ln w="6350">
            <a:solidFill>
              <a:srgbClr val="FFFFFF"/>
            </a:solidFill>
            <a:prstDash val="solid"/>
          </a:ln>
        </p:spPr>
      </p:sp>
      <p:sp>
        <p:nvSpPr>
          <p:cNvPr id="19" name="Text 17"/>
          <p:cNvSpPr txBox="1"/>
          <p:nvPr/>
        </p:nvSpPr>
        <p:spPr>
          <a:xfrm>
            <a:off x="10874849" y="1344168"/>
            <a:ext cx="564295" cy="292608"/>
          </a:xfrm>
          <a:prstGeom prst="rect">
            <a:avLst/>
          </a:prstGeom>
          <a:noFill/>
          <a:ln/>
        </p:spPr>
        <p:txBody>
          <a:bodyPr wrap="none" lIns="0" tIns="0" rIns="0" bIns="0" rtlCol="0" anchor="ctr"/>
          <a:lstStyle/>
          <a:p>
            <a:pPr algn="ctr" indent="0" marL="0">
              <a:buNone/>
            </a:pPr>
            <a:r>
              <a:rPr lang="en-US" sz="1400" b="1" dirty="0">
                <a:solidFill>
                  <a:srgbClr val="1A1A1A"/>
                </a:solidFill>
                <a:latin typeface="Inter" pitchFamily="34" charset="0"/>
                <a:ea typeface="Inter" pitchFamily="34" charset="-122"/>
                <a:cs typeface="Inter" pitchFamily="34" charset="-120"/>
              </a:rPr>
              <a:t>15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21" name="Shape 19"/>
          <p:cNvSpPr/>
          <p:nvPr/>
        </p:nvSpPr>
        <p:spPr>
          <a:xfrm>
            <a:off x="2807208" y="1857717"/>
            <a:ext cx="2246132" cy="183138"/>
          </a:xfrm>
          <a:prstGeom prst="rect">
            <a:avLst/>
          </a:prstGeom>
          <a:solidFill>
            <a:srgbClr val="2587C5"/>
          </a:solidFill>
          <a:ln w="6350">
            <a:solidFill>
              <a:srgbClr val="FFFFFF"/>
            </a:solidFill>
            <a:prstDash val="solid"/>
          </a:ln>
        </p:spPr>
      </p:sp>
      <p:sp>
        <p:nvSpPr>
          <p:cNvPr id="22" name="Text 20"/>
          <p:cNvSpPr txBox="1"/>
          <p:nvPr/>
        </p:nvSpPr>
        <p:spPr>
          <a:xfrm>
            <a:off x="2807208" y="1857717"/>
            <a:ext cx="224613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71</a:t>
            </a:r>
            <a:endParaRPr lang="en-US" sz="1300" dirty="0"/>
          </a:p>
        </p:txBody>
      </p:sp>
      <p:sp>
        <p:nvSpPr>
          <p:cNvPr id="23" name="Shape 21"/>
          <p:cNvSpPr/>
          <p:nvPr/>
        </p:nvSpPr>
        <p:spPr>
          <a:xfrm>
            <a:off x="5053340" y="1857717"/>
            <a:ext cx="776051" cy="183138"/>
          </a:xfrm>
          <a:prstGeom prst="rect">
            <a:avLst/>
          </a:prstGeom>
          <a:solidFill>
            <a:srgbClr val="0B2C4A"/>
          </a:solidFill>
          <a:ln w="6350">
            <a:solidFill>
              <a:srgbClr val="FFFFFF"/>
            </a:solidFill>
            <a:prstDash val="solid"/>
          </a:ln>
        </p:spPr>
      </p:sp>
      <p:sp>
        <p:nvSpPr>
          <p:cNvPr id="24" name="Text 22"/>
          <p:cNvSpPr txBox="1"/>
          <p:nvPr/>
        </p:nvSpPr>
        <p:spPr>
          <a:xfrm>
            <a:off x="5053340" y="1857717"/>
            <a:ext cx="7760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5" name="Shape 23"/>
          <p:cNvSpPr/>
          <p:nvPr/>
        </p:nvSpPr>
        <p:spPr>
          <a:xfrm>
            <a:off x="5829391" y="1857717"/>
            <a:ext cx="132497" cy="183138"/>
          </a:xfrm>
          <a:prstGeom prst="rect">
            <a:avLst/>
          </a:prstGeom>
          <a:solidFill>
            <a:srgbClr val="D9D9D9"/>
          </a:solidFill>
          <a:ln w="6350">
            <a:solidFill>
              <a:srgbClr val="FFFFFF"/>
            </a:solidFill>
            <a:prstDash val="solid"/>
          </a:ln>
        </p:spPr>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27" name="Shape 25"/>
          <p:cNvSpPr/>
          <p:nvPr/>
        </p:nvSpPr>
        <p:spPr>
          <a:xfrm>
            <a:off x="2807208" y="2098688"/>
            <a:ext cx="2189348" cy="183138"/>
          </a:xfrm>
          <a:prstGeom prst="rect">
            <a:avLst/>
          </a:prstGeom>
          <a:solidFill>
            <a:srgbClr val="2587C5"/>
          </a:solidFill>
          <a:ln w="6350">
            <a:solidFill>
              <a:srgbClr val="FFFFFF"/>
            </a:solidFill>
            <a:prstDash val="solid"/>
          </a:ln>
        </p:spPr>
      </p:sp>
      <p:sp>
        <p:nvSpPr>
          <p:cNvPr id="28" name="Text 26"/>
          <p:cNvSpPr txBox="1"/>
          <p:nvPr/>
        </p:nvSpPr>
        <p:spPr>
          <a:xfrm>
            <a:off x="2807208" y="2098688"/>
            <a:ext cx="218934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69</a:t>
            </a:r>
            <a:endParaRPr lang="en-US" sz="1300" dirty="0"/>
          </a:p>
        </p:txBody>
      </p:sp>
      <p:sp>
        <p:nvSpPr>
          <p:cNvPr id="29" name="Shape 27"/>
          <p:cNvSpPr/>
          <p:nvPr/>
        </p:nvSpPr>
        <p:spPr>
          <a:xfrm>
            <a:off x="4996556" y="2098688"/>
            <a:ext cx="791825" cy="183138"/>
          </a:xfrm>
          <a:prstGeom prst="rect">
            <a:avLst/>
          </a:prstGeom>
          <a:solidFill>
            <a:srgbClr val="0B2C4A"/>
          </a:solidFill>
          <a:ln w="6350">
            <a:solidFill>
              <a:srgbClr val="FFFFFF"/>
            </a:solidFill>
            <a:prstDash val="solid"/>
          </a:ln>
        </p:spPr>
      </p:sp>
      <p:sp>
        <p:nvSpPr>
          <p:cNvPr id="30" name="Text 28"/>
          <p:cNvSpPr txBox="1"/>
          <p:nvPr/>
        </p:nvSpPr>
        <p:spPr>
          <a:xfrm>
            <a:off x="4996556" y="2098688"/>
            <a:ext cx="79182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1" name="Shape 29"/>
          <p:cNvSpPr/>
          <p:nvPr/>
        </p:nvSpPr>
        <p:spPr>
          <a:xfrm>
            <a:off x="5788381" y="2098688"/>
            <a:ext cx="173507" cy="183138"/>
          </a:xfrm>
          <a:prstGeom prst="rect">
            <a:avLst/>
          </a:prstGeom>
          <a:solidFill>
            <a:srgbClr val="D9D9D9"/>
          </a:solidFill>
          <a:ln w="6350">
            <a:solidFill>
              <a:srgbClr val="FFFFFF"/>
            </a:solidFill>
            <a:prstDash val="solid"/>
          </a:ln>
        </p:spPr>
      </p:sp>
      <p:sp>
        <p:nvSpPr>
          <p:cNvPr id="32" name="Text 30"/>
          <p:cNvSpPr txBox="1"/>
          <p:nvPr/>
        </p:nvSpPr>
        <p:spPr>
          <a:xfrm>
            <a:off x="5788381" y="2098688"/>
            <a:ext cx="17350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34" name="Shape 32"/>
          <p:cNvSpPr/>
          <p:nvPr/>
        </p:nvSpPr>
        <p:spPr>
          <a:xfrm>
            <a:off x="2807208" y="2339659"/>
            <a:ext cx="2145182" cy="183138"/>
          </a:xfrm>
          <a:prstGeom prst="rect">
            <a:avLst/>
          </a:prstGeom>
          <a:solidFill>
            <a:srgbClr val="2587C5"/>
          </a:solidFill>
          <a:ln w="6350">
            <a:solidFill>
              <a:srgbClr val="FFFFFF"/>
            </a:solidFill>
            <a:prstDash val="solid"/>
          </a:ln>
        </p:spPr>
      </p:sp>
      <p:sp>
        <p:nvSpPr>
          <p:cNvPr id="35" name="Text 33"/>
          <p:cNvSpPr txBox="1"/>
          <p:nvPr/>
        </p:nvSpPr>
        <p:spPr>
          <a:xfrm>
            <a:off x="2807208" y="2339659"/>
            <a:ext cx="21451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68</a:t>
            </a:r>
            <a:endParaRPr lang="en-US" sz="1300" dirty="0"/>
          </a:p>
        </p:txBody>
      </p:sp>
      <p:sp>
        <p:nvSpPr>
          <p:cNvPr id="36" name="Shape 34"/>
          <p:cNvSpPr/>
          <p:nvPr/>
        </p:nvSpPr>
        <p:spPr>
          <a:xfrm>
            <a:off x="4952390" y="2339659"/>
            <a:ext cx="779206" cy="183138"/>
          </a:xfrm>
          <a:prstGeom prst="rect">
            <a:avLst/>
          </a:prstGeom>
          <a:solidFill>
            <a:srgbClr val="0B2C4A"/>
          </a:solidFill>
          <a:ln w="6350">
            <a:solidFill>
              <a:srgbClr val="FFFFFF"/>
            </a:solidFill>
            <a:prstDash val="solid"/>
          </a:ln>
        </p:spPr>
      </p:sp>
      <p:sp>
        <p:nvSpPr>
          <p:cNvPr id="37" name="Text 35"/>
          <p:cNvSpPr txBox="1"/>
          <p:nvPr/>
        </p:nvSpPr>
        <p:spPr>
          <a:xfrm>
            <a:off x="4952390" y="2339659"/>
            <a:ext cx="7792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38" name="Shape 36"/>
          <p:cNvSpPr/>
          <p:nvPr/>
        </p:nvSpPr>
        <p:spPr>
          <a:xfrm>
            <a:off x="5731596" y="2339659"/>
            <a:ext cx="230292" cy="183138"/>
          </a:xfrm>
          <a:prstGeom prst="rect">
            <a:avLst/>
          </a:prstGeom>
          <a:solidFill>
            <a:srgbClr val="D9D9D9"/>
          </a:solidFill>
          <a:ln w="6350">
            <a:solidFill>
              <a:srgbClr val="FFFFFF"/>
            </a:solidFill>
            <a:prstDash val="solid"/>
          </a:ln>
        </p:spPr>
      </p:sp>
      <p:sp>
        <p:nvSpPr>
          <p:cNvPr id="39" name="Text 37"/>
          <p:cNvSpPr txBox="1"/>
          <p:nvPr/>
        </p:nvSpPr>
        <p:spPr>
          <a:xfrm>
            <a:off x="5731596" y="2339659"/>
            <a:ext cx="23029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7</a:t>
            </a:r>
            <a:endParaRPr lang="en-US" sz="1300" dirty="0"/>
          </a:p>
        </p:txBody>
      </p:sp>
      <p:sp>
        <p:nvSpPr>
          <p:cNvPr id="40" name="Text 38"/>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1" name="Shape 39"/>
          <p:cNvSpPr/>
          <p:nvPr/>
        </p:nvSpPr>
        <p:spPr>
          <a:xfrm>
            <a:off x="2807208" y="2580630"/>
            <a:ext cx="2116790" cy="183138"/>
          </a:xfrm>
          <a:prstGeom prst="rect">
            <a:avLst/>
          </a:prstGeom>
          <a:solidFill>
            <a:srgbClr val="2587C5"/>
          </a:solidFill>
          <a:ln w="6350">
            <a:solidFill>
              <a:srgbClr val="FFFFFF"/>
            </a:solidFill>
            <a:prstDash val="solid"/>
          </a:ln>
        </p:spPr>
      </p:sp>
      <p:sp>
        <p:nvSpPr>
          <p:cNvPr id="42" name="Text 40"/>
          <p:cNvSpPr txBox="1"/>
          <p:nvPr/>
        </p:nvSpPr>
        <p:spPr>
          <a:xfrm>
            <a:off x="2807208" y="2580630"/>
            <a:ext cx="21167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43" name="Shape 41"/>
          <p:cNvSpPr/>
          <p:nvPr/>
        </p:nvSpPr>
        <p:spPr>
          <a:xfrm>
            <a:off x="4923998" y="2580630"/>
            <a:ext cx="694030" cy="183138"/>
          </a:xfrm>
          <a:prstGeom prst="rect">
            <a:avLst/>
          </a:prstGeom>
          <a:solidFill>
            <a:srgbClr val="0B2C4A"/>
          </a:solidFill>
          <a:ln w="6350">
            <a:solidFill>
              <a:srgbClr val="FFFFFF"/>
            </a:solidFill>
            <a:prstDash val="solid"/>
          </a:ln>
        </p:spPr>
      </p:sp>
      <p:sp>
        <p:nvSpPr>
          <p:cNvPr id="44" name="Text 42"/>
          <p:cNvSpPr txBox="1"/>
          <p:nvPr/>
        </p:nvSpPr>
        <p:spPr>
          <a:xfrm>
            <a:off x="4923998" y="2580630"/>
            <a:ext cx="6940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45" name="Shape 43"/>
          <p:cNvSpPr/>
          <p:nvPr/>
        </p:nvSpPr>
        <p:spPr>
          <a:xfrm>
            <a:off x="5618028" y="2580630"/>
            <a:ext cx="343860" cy="183138"/>
          </a:xfrm>
          <a:prstGeom prst="rect">
            <a:avLst/>
          </a:prstGeom>
          <a:solidFill>
            <a:srgbClr val="D9D9D9"/>
          </a:solidFill>
          <a:ln w="6350">
            <a:solidFill>
              <a:srgbClr val="FFFFFF"/>
            </a:solidFill>
            <a:prstDash val="solid"/>
          </a:ln>
        </p:spPr>
      </p:sp>
      <p:sp>
        <p:nvSpPr>
          <p:cNvPr id="46" name="Text 44"/>
          <p:cNvSpPr txBox="1"/>
          <p:nvPr/>
        </p:nvSpPr>
        <p:spPr>
          <a:xfrm>
            <a:off x="5618028" y="2580630"/>
            <a:ext cx="34386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47" name="Text 45"/>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48" name="Shape 46"/>
          <p:cNvSpPr/>
          <p:nvPr/>
        </p:nvSpPr>
        <p:spPr>
          <a:xfrm>
            <a:off x="2807208" y="2821602"/>
            <a:ext cx="2094708" cy="183138"/>
          </a:xfrm>
          <a:prstGeom prst="rect">
            <a:avLst/>
          </a:prstGeom>
          <a:solidFill>
            <a:srgbClr val="2587C5"/>
          </a:solidFill>
          <a:ln w="6350">
            <a:solidFill>
              <a:srgbClr val="FFFFFF"/>
            </a:solidFill>
            <a:prstDash val="solid"/>
          </a:ln>
        </p:spPr>
      </p:sp>
      <p:sp>
        <p:nvSpPr>
          <p:cNvPr id="49" name="Text 47"/>
          <p:cNvSpPr txBox="1"/>
          <p:nvPr/>
        </p:nvSpPr>
        <p:spPr>
          <a:xfrm>
            <a:off x="2807208" y="2821602"/>
            <a:ext cx="2094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0" name="Shape 48"/>
          <p:cNvSpPr/>
          <p:nvPr/>
        </p:nvSpPr>
        <p:spPr>
          <a:xfrm>
            <a:off x="4901916" y="2821602"/>
            <a:ext cx="804443" cy="183138"/>
          </a:xfrm>
          <a:prstGeom prst="rect">
            <a:avLst/>
          </a:prstGeom>
          <a:solidFill>
            <a:srgbClr val="0B2C4A"/>
          </a:solidFill>
          <a:ln w="6350">
            <a:solidFill>
              <a:srgbClr val="FFFFFF"/>
            </a:solidFill>
            <a:prstDash val="solid"/>
          </a:ln>
        </p:spPr>
      </p:sp>
      <p:sp>
        <p:nvSpPr>
          <p:cNvPr id="51" name="Text 49"/>
          <p:cNvSpPr txBox="1"/>
          <p:nvPr/>
        </p:nvSpPr>
        <p:spPr>
          <a:xfrm>
            <a:off x="4901916" y="2821602"/>
            <a:ext cx="80444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52" name="Shape 50"/>
          <p:cNvSpPr/>
          <p:nvPr/>
        </p:nvSpPr>
        <p:spPr>
          <a:xfrm>
            <a:off x="5706359" y="2821602"/>
            <a:ext cx="255529" cy="183138"/>
          </a:xfrm>
          <a:prstGeom prst="rect">
            <a:avLst/>
          </a:prstGeom>
          <a:solidFill>
            <a:srgbClr val="D9D9D9"/>
          </a:solidFill>
          <a:ln w="6350">
            <a:solidFill>
              <a:srgbClr val="FFFFFF"/>
            </a:solidFill>
            <a:prstDash val="solid"/>
          </a:ln>
        </p:spPr>
      </p:sp>
      <p:sp>
        <p:nvSpPr>
          <p:cNvPr id="53" name="Text 51"/>
          <p:cNvSpPr txBox="1"/>
          <p:nvPr/>
        </p:nvSpPr>
        <p:spPr>
          <a:xfrm>
            <a:off x="5706359" y="2821602"/>
            <a:ext cx="25552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54" name="Text 52"/>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55" name="Shape 53"/>
          <p:cNvSpPr/>
          <p:nvPr/>
        </p:nvSpPr>
        <p:spPr>
          <a:xfrm>
            <a:off x="2807208" y="3062573"/>
            <a:ext cx="2078934" cy="183138"/>
          </a:xfrm>
          <a:prstGeom prst="rect">
            <a:avLst/>
          </a:prstGeom>
          <a:solidFill>
            <a:srgbClr val="2587C5"/>
          </a:solidFill>
          <a:ln w="6350">
            <a:solidFill>
              <a:srgbClr val="FFFFFF"/>
            </a:solidFill>
            <a:prstDash val="solid"/>
          </a:ln>
        </p:spPr>
      </p:sp>
      <p:sp>
        <p:nvSpPr>
          <p:cNvPr id="56" name="Text 54"/>
          <p:cNvSpPr txBox="1"/>
          <p:nvPr/>
        </p:nvSpPr>
        <p:spPr>
          <a:xfrm>
            <a:off x="2807208" y="3062573"/>
            <a:ext cx="20789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66</a:t>
            </a:r>
            <a:endParaRPr lang="en-US" sz="1300" dirty="0"/>
          </a:p>
        </p:txBody>
      </p:sp>
      <p:sp>
        <p:nvSpPr>
          <p:cNvPr id="57" name="Shape 55"/>
          <p:cNvSpPr/>
          <p:nvPr/>
        </p:nvSpPr>
        <p:spPr>
          <a:xfrm>
            <a:off x="4886142" y="3062573"/>
            <a:ext cx="930631" cy="183138"/>
          </a:xfrm>
          <a:prstGeom prst="rect">
            <a:avLst/>
          </a:prstGeom>
          <a:solidFill>
            <a:srgbClr val="0B2C4A"/>
          </a:solidFill>
          <a:ln w="6350">
            <a:solidFill>
              <a:srgbClr val="FFFFFF"/>
            </a:solidFill>
            <a:prstDash val="solid"/>
          </a:ln>
        </p:spPr>
      </p:sp>
      <p:sp>
        <p:nvSpPr>
          <p:cNvPr id="58" name="Text 56"/>
          <p:cNvSpPr txBox="1"/>
          <p:nvPr/>
        </p:nvSpPr>
        <p:spPr>
          <a:xfrm>
            <a:off x="4886142" y="3062573"/>
            <a:ext cx="93063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59" name="Shape 57"/>
          <p:cNvSpPr/>
          <p:nvPr/>
        </p:nvSpPr>
        <p:spPr>
          <a:xfrm>
            <a:off x="5816773" y="3062573"/>
            <a:ext cx="145115" cy="183138"/>
          </a:xfrm>
          <a:prstGeom prst="rect">
            <a:avLst/>
          </a:prstGeom>
          <a:solidFill>
            <a:srgbClr val="D9D9D9"/>
          </a:solidFill>
          <a:ln w="6350">
            <a:solidFill>
              <a:srgbClr val="FFFFFF"/>
            </a:solidFill>
            <a:prstDash val="solid"/>
          </a:ln>
        </p:spPr>
      </p:sp>
      <p:sp>
        <p:nvSpPr>
          <p:cNvPr id="60" name="Text 58"/>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1" name="Shape 59"/>
          <p:cNvSpPr/>
          <p:nvPr/>
        </p:nvSpPr>
        <p:spPr>
          <a:xfrm>
            <a:off x="2807208" y="3303544"/>
            <a:ext cx="2015841" cy="183138"/>
          </a:xfrm>
          <a:prstGeom prst="rect">
            <a:avLst/>
          </a:prstGeom>
          <a:solidFill>
            <a:srgbClr val="2587C5"/>
          </a:solidFill>
          <a:ln w="6350">
            <a:solidFill>
              <a:srgbClr val="FFFFFF"/>
            </a:solidFill>
            <a:prstDash val="solid"/>
          </a:ln>
        </p:spPr>
      </p:sp>
      <p:sp>
        <p:nvSpPr>
          <p:cNvPr id="62" name="Text 60"/>
          <p:cNvSpPr txBox="1"/>
          <p:nvPr/>
        </p:nvSpPr>
        <p:spPr>
          <a:xfrm>
            <a:off x="2807208" y="3303544"/>
            <a:ext cx="201584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63" name="Shape 61"/>
          <p:cNvSpPr/>
          <p:nvPr/>
        </p:nvSpPr>
        <p:spPr>
          <a:xfrm>
            <a:off x="4823049" y="3303544"/>
            <a:ext cx="671947" cy="183138"/>
          </a:xfrm>
          <a:prstGeom prst="rect">
            <a:avLst/>
          </a:prstGeom>
          <a:solidFill>
            <a:srgbClr val="0B2C4A"/>
          </a:solidFill>
          <a:ln w="6350">
            <a:solidFill>
              <a:srgbClr val="FFFFFF"/>
            </a:solidFill>
            <a:prstDash val="solid"/>
          </a:ln>
        </p:spPr>
      </p:sp>
      <p:sp>
        <p:nvSpPr>
          <p:cNvPr id="64" name="Text 62"/>
          <p:cNvSpPr txBox="1"/>
          <p:nvPr/>
        </p:nvSpPr>
        <p:spPr>
          <a:xfrm>
            <a:off x="4823049" y="3303544"/>
            <a:ext cx="67194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21</a:t>
            </a:r>
            <a:endParaRPr lang="en-US" sz="1300" dirty="0"/>
          </a:p>
        </p:txBody>
      </p:sp>
      <p:sp>
        <p:nvSpPr>
          <p:cNvPr id="65" name="Shape 63"/>
          <p:cNvSpPr/>
          <p:nvPr/>
        </p:nvSpPr>
        <p:spPr>
          <a:xfrm>
            <a:off x="5494995" y="3303544"/>
            <a:ext cx="466893" cy="183138"/>
          </a:xfrm>
          <a:prstGeom prst="rect">
            <a:avLst/>
          </a:prstGeom>
          <a:solidFill>
            <a:srgbClr val="D9D9D9"/>
          </a:solidFill>
          <a:ln w="6350">
            <a:solidFill>
              <a:srgbClr val="FFFFFF"/>
            </a:solidFill>
            <a:prstDash val="solid"/>
          </a:ln>
        </p:spPr>
      </p:sp>
      <p:sp>
        <p:nvSpPr>
          <p:cNvPr id="66" name="Text 64"/>
          <p:cNvSpPr txBox="1"/>
          <p:nvPr/>
        </p:nvSpPr>
        <p:spPr>
          <a:xfrm>
            <a:off x="5494995" y="3303544"/>
            <a:ext cx="46689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67" name="Text 65"/>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68" name="Shape 66"/>
          <p:cNvSpPr/>
          <p:nvPr/>
        </p:nvSpPr>
        <p:spPr>
          <a:xfrm>
            <a:off x="2807208" y="3544516"/>
            <a:ext cx="1955902" cy="183138"/>
          </a:xfrm>
          <a:prstGeom prst="rect">
            <a:avLst/>
          </a:prstGeom>
          <a:solidFill>
            <a:srgbClr val="2587C5"/>
          </a:solidFill>
          <a:ln w="6350">
            <a:solidFill>
              <a:srgbClr val="FFFFFF"/>
            </a:solidFill>
            <a:prstDash val="solid"/>
          </a:ln>
        </p:spPr>
      </p:sp>
      <p:sp>
        <p:nvSpPr>
          <p:cNvPr id="69" name="Text 67"/>
          <p:cNvSpPr txBox="1"/>
          <p:nvPr/>
        </p:nvSpPr>
        <p:spPr>
          <a:xfrm>
            <a:off x="2807208" y="3544516"/>
            <a:ext cx="19559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0" name="Shape 68"/>
          <p:cNvSpPr/>
          <p:nvPr/>
        </p:nvSpPr>
        <p:spPr>
          <a:xfrm>
            <a:off x="4763110" y="3544516"/>
            <a:ext cx="807598" cy="183138"/>
          </a:xfrm>
          <a:prstGeom prst="rect">
            <a:avLst/>
          </a:prstGeom>
          <a:solidFill>
            <a:srgbClr val="0B2C4A"/>
          </a:solidFill>
          <a:ln w="6350">
            <a:solidFill>
              <a:srgbClr val="FFFFFF"/>
            </a:solidFill>
            <a:prstDash val="solid"/>
          </a:ln>
        </p:spPr>
      </p:sp>
      <p:sp>
        <p:nvSpPr>
          <p:cNvPr id="71" name="Text 69"/>
          <p:cNvSpPr txBox="1"/>
          <p:nvPr/>
        </p:nvSpPr>
        <p:spPr>
          <a:xfrm>
            <a:off x="4763110" y="3544516"/>
            <a:ext cx="80759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72" name="Shape 70"/>
          <p:cNvSpPr/>
          <p:nvPr/>
        </p:nvSpPr>
        <p:spPr>
          <a:xfrm>
            <a:off x="5570708" y="3544516"/>
            <a:ext cx="391180" cy="183138"/>
          </a:xfrm>
          <a:prstGeom prst="rect">
            <a:avLst/>
          </a:prstGeom>
          <a:solidFill>
            <a:srgbClr val="D9D9D9"/>
          </a:solidFill>
          <a:ln w="6350">
            <a:solidFill>
              <a:srgbClr val="FFFFFF"/>
            </a:solidFill>
            <a:prstDash val="solid"/>
          </a:ln>
        </p:spPr>
      </p:sp>
      <p:sp>
        <p:nvSpPr>
          <p:cNvPr id="73" name="Text 71"/>
          <p:cNvSpPr txBox="1"/>
          <p:nvPr/>
        </p:nvSpPr>
        <p:spPr>
          <a:xfrm>
            <a:off x="5570708" y="3544516"/>
            <a:ext cx="39118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12</a:t>
            </a:r>
            <a:endParaRPr lang="en-US" sz="1300" dirty="0"/>
          </a:p>
        </p:txBody>
      </p:sp>
      <p:sp>
        <p:nvSpPr>
          <p:cNvPr id="74" name="Text 72"/>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75" name="Shape 73"/>
          <p:cNvSpPr/>
          <p:nvPr/>
        </p:nvSpPr>
        <p:spPr>
          <a:xfrm>
            <a:off x="2807208" y="3785487"/>
            <a:ext cx="1943283" cy="183138"/>
          </a:xfrm>
          <a:prstGeom prst="rect">
            <a:avLst/>
          </a:prstGeom>
          <a:solidFill>
            <a:srgbClr val="2587C5"/>
          </a:solidFill>
          <a:ln w="6350">
            <a:solidFill>
              <a:srgbClr val="FFFFFF"/>
            </a:solidFill>
            <a:prstDash val="solid"/>
          </a:ln>
        </p:spPr>
      </p:sp>
      <p:sp>
        <p:nvSpPr>
          <p:cNvPr id="76" name="Text 74"/>
          <p:cNvSpPr txBox="1"/>
          <p:nvPr/>
        </p:nvSpPr>
        <p:spPr>
          <a:xfrm>
            <a:off x="2807208" y="3785487"/>
            <a:ext cx="19432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62</a:t>
            </a:r>
            <a:endParaRPr lang="en-US" sz="1300" dirty="0"/>
          </a:p>
        </p:txBody>
      </p:sp>
      <p:sp>
        <p:nvSpPr>
          <p:cNvPr id="77" name="Shape 75"/>
          <p:cNvSpPr/>
          <p:nvPr/>
        </p:nvSpPr>
        <p:spPr>
          <a:xfrm>
            <a:off x="4750491" y="3785487"/>
            <a:ext cx="413263" cy="183138"/>
          </a:xfrm>
          <a:prstGeom prst="rect">
            <a:avLst/>
          </a:prstGeom>
          <a:solidFill>
            <a:srgbClr val="0B2C4A"/>
          </a:solidFill>
          <a:ln w="6350">
            <a:solidFill>
              <a:srgbClr val="FFFFFF"/>
            </a:solidFill>
            <a:prstDash val="solid"/>
          </a:ln>
        </p:spPr>
      </p:sp>
      <p:sp>
        <p:nvSpPr>
          <p:cNvPr id="78" name="Text 76"/>
          <p:cNvSpPr txBox="1"/>
          <p:nvPr/>
        </p:nvSpPr>
        <p:spPr>
          <a:xfrm>
            <a:off x="4750491" y="3785487"/>
            <a:ext cx="41326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79" name="Shape 77"/>
          <p:cNvSpPr/>
          <p:nvPr/>
        </p:nvSpPr>
        <p:spPr>
          <a:xfrm>
            <a:off x="5163754" y="3785487"/>
            <a:ext cx="798134" cy="183138"/>
          </a:xfrm>
          <a:prstGeom prst="rect">
            <a:avLst/>
          </a:prstGeom>
          <a:solidFill>
            <a:srgbClr val="D9D9D9"/>
          </a:solidFill>
          <a:ln w="6350">
            <a:solidFill>
              <a:srgbClr val="FFFFFF"/>
            </a:solidFill>
            <a:prstDash val="solid"/>
          </a:ln>
        </p:spPr>
      </p:sp>
      <p:sp>
        <p:nvSpPr>
          <p:cNvPr id="80" name="Text 78"/>
          <p:cNvSpPr txBox="1"/>
          <p:nvPr/>
        </p:nvSpPr>
        <p:spPr>
          <a:xfrm>
            <a:off x="5163754" y="3785487"/>
            <a:ext cx="79813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25</a:t>
            </a:r>
            <a:endParaRPr lang="en-US" sz="1300" dirty="0"/>
          </a:p>
        </p:txBody>
      </p:sp>
      <p:sp>
        <p:nvSpPr>
          <p:cNvPr id="81" name="Text 79"/>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82" name="Shape 80"/>
          <p:cNvSpPr/>
          <p:nvPr/>
        </p:nvSpPr>
        <p:spPr>
          <a:xfrm>
            <a:off x="2807208" y="4026458"/>
            <a:ext cx="1892808" cy="183138"/>
          </a:xfrm>
          <a:prstGeom prst="rect">
            <a:avLst/>
          </a:prstGeom>
          <a:solidFill>
            <a:srgbClr val="2587C5"/>
          </a:solidFill>
          <a:ln w="6350">
            <a:solidFill>
              <a:srgbClr val="FFFFFF"/>
            </a:solidFill>
            <a:prstDash val="solid"/>
          </a:ln>
        </p:spPr>
      </p:sp>
      <p:sp>
        <p:nvSpPr>
          <p:cNvPr id="83" name="Text 81"/>
          <p:cNvSpPr txBox="1"/>
          <p:nvPr/>
        </p:nvSpPr>
        <p:spPr>
          <a:xfrm>
            <a:off x="2807208" y="4026458"/>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84" name="Shape 82"/>
          <p:cNvSpPr/>
          <p:nvPr/>
        </p:nvSpPr>
        <p:spPr>
          <a:xfrm>
            <a:off x="4700016" y="4026458"/>
            <a:ext cx="832836" cy="183138"/>
          </a:xfrm>
          <a:prstGeom prst="rect">
            <a:avLst/>
          </a:prstGeom>
          <a:solidFill>
            <a:srgbClr val="0B2C4A"/>
          </a:solidFill>
          <a:ln w="6350">
            <a:solidFill>
              <a:srgbClr val="FFFFFF"/>
            </a:solidFill>
            <a:prstDash val="solid"/>
          </a:ln>
        </p:spPr>
      </p:sp>
      <p:sp>
        <p:nvSpPr>
          <p:cNvPr id="85" name="Text 83"/>
          <p:cNvSpPr txBox="1"/>
          <p:nvPr/>
        </p:nvSpPr>
        <p:spPr>
          <a:xfrm>
            <a:off x="4700016" y="4026458"/>
            <a:ext cx="8328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86" name="Shape 84"/>
          <p:cNvSpPr/>
          <p:nvPr/>
        </p:nvSpPr>
        <p:spPr>
          <a:xfrm>
            <a:off x="5532852" y="4026458"/>
            <a:ext cx="429036" cy="183138"/>
          </a:xfrm>
          <a:prstGeom prst="rect">
            <a:avLst/>
          </a:prstGeom>
          <a:solidFill>
            <a:srgbClr val="D9D9D9"/>
          </a:solidFill>
          <a:ln w="6350">
            <a:solidFill>
              <a:srgbClr val="FFFFFF"/>
            </a:solidFill>
            <a:prstDash val="solid"/>
          </a:ln>
        </p:spPr>
      </p:sp>
      <p:sp>
        <p:nvSpPr>
          <p:cNvPr id="87" name="Text 85"/>
          <p:cNvSpPr txBox="1"/>
          <p:nvPr/>
        </p:nvSpPr>
        <p:spPr>
          <a:xfrm>
            <a:off x="5532852" y="4026458"/>
            <a:ext cx="42903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88" name="Text 86"/>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9" name="Shape 87"/>
          <p:cNvSpPr/>
          <p:nvPr/>
        </p:nvSpPr>
        <p:spPr>
          <a:xfrm>
            <a:off x="2807208" y="4267429"/>
            <a:ext cx="1883344" cy="183138"/>
          </a:xfrm>
          <a:prstGeom prst="rect">
            <a:avLst/>
          </a:prstGeom>
          <a:solidFill>
            <a:srgbClr val="2587C5"/>
          </a:solidFill>
          <a:ln w="6350">
            <a:solidFill>
              <a:srgbClr val="FFFFFF"/>
            </a:solidFill>
            <a:prstDash val="solid"/>
          </a:ln>
        </p:spPr>
      </p:sp>
      <p:sp>
        <p:nvSpPr>
          <p:cNvPr id="90" name="Text 88"/>
          <p:cNvSpPr txBox="1"/>
          <p:nvPr/>
        </p:nvSpPr>
        <p:spPr>
          <a:xfrm>
            <a:off x="2807208" y="4267429"/>
            <a:ext cx="18833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91" name="Shape 89"/>
          <p:cNvSpPr/>
          <p:nvPr/>
        </p:nvSpPr>
        <p:spPr>
          <a:xfrm>
            <a:off x="4690552" y="4267429"/>
            <a:ext cx="981105" cy="183138"/>
          </a:xfrm>
          <a:prstGeom prst="rect">
            <a:avLst/>
          </a:prstGeom>
          <a:solidFill>
            <a:srgbClr val="0B2C4A"/>
          </a:solidFill>
          <a:ln w="6350">
            <a:solidFill>
              <a:srgbClr val="FFFFFF"/>
            </a:solidFill>
            <a:prstDash val="solid"/>
          </a:ln>
        </p:spPr>
      </p:sp>
      <p:sp>
        <p:nvSpPr>
          <p:cNvPr id="92" name="Text 90"/>
          <p:cNvSpPr txBox="1"/>
          <p:nvPr/>
        </p:nvSpPr>
        <p:spPr>
          <a:xfrm>
            <a:off x="4690552" y="4267429"/>
            <a:ext cx="9811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93" name="Shape 91"/>
          <p:cNvSpPr/>
          <p:nvPr/>
        </p:nvSpPr>
        <p:spPr>
          <a:xfrm>
            <a:off x="5671657" y="4267429"/>
            <a:ext cx="290231" cy="183138"/>
          </a:xfrm>
          <a:prstGeom prst="rect">
            <a:avLst/>
          </a:prstGeom>
          <a:solidFill>
            <a:srgbClr val="D9D9D9"/>
          </a:solidFill>
          <a:ln w="6350">
            <a:solidFill>
              <a:srgbClr val="FFFFFF"/>
            </a:solidFill>
            <a:prstDash val="solid"/>
          </a:ln>
        </p:spPr>
      </p:sp>
      <p:sp>
        <p:nvSpPr>
          <p:cNvPr id="94" name="Text 92"/>
          <p:cNvSpPr txBox="1"/>
          <p:nvPr/>
        </p:nvSpPr>
        <p:spPr>
          <a:xfrm>
            <a:off x="5671657" y="4267429"/>
            <a:ext cx="29023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95" name="Text 93"/>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96" name="Shape 94"/>
          <p:cNvSpPr/>
          <p:nvPr/>
        </p:nvSpPr>
        <p:spPr>
          <a:xfrm>
            <a:off x="2807208" y="4508401"/>
            <a:ext cx="1867571" cy="183138"/>
          </a:xfrm>
          <a:prstGeom prst="rect">
            <a:avLst/>
          </a:prstGeom>
          <a:solidFill>
            <a:srgbClr val="2587C5"/>
          </a:solidFill>
          <a:ln w="6350">
            <a:solidFill>
              <a:srgbClr val="FFFFFF"/>
            </a:solidFill>
            <a:prstDash val="solid"/>
          </a:ln>
        </p:spPr>
      </p:sp>
      <p:sp>
        <p:nvSpPr>
          <p:cNvPr id="97" name="Text 95"/>
          <p:cNvSpPr txBox="1"/>
          <p:nvPr/>
        </p:nvSpPr>
        <p:spPr>
          <a:xfrm>
            <a:off x="2807208" y="4508401"/>
            <a:ext cx="186757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98" name="Shape 96"/>
          <p:cNvSpPr/>
          <p:nvPr/>
        </p:nvSpPr>
        <p:spPr>
          <a:xfrm>
            <a:off x="4674779" y="4508401"/>
            <a:ext cx="47320" cy="183138"/>
          </a:xfrm>
          <a:prstGeom prst="rect">
            <a:avLst/>
          </a:prstGeom>
          <a:solidFill>
            <a:srgbClr val="0B2C4A"/>
          </a:solidFill>
          <a:ln w="6350">
            <a:solidFill>
              <a:srgbClr val="FFFFFF"/>
            </a:solidFill>
            <a:prstDash val="solid"/>
          </a:ln>
        </p:spPr>
      </p:sp>
      <p:sp>
        <p:nvSpPr>
          <p:cNvPr id="99" name="Shape 97"/>
          <p:cNvSpPr/>
          <p:nvPr/>
        </p:nvSpPr>
        <p:spPr>
          <a:xfrm>
            <a:off x="4722099" y="4508401"/>
            <a:ext cx="1239789" cy="183138"/>
          </a:xfrm>
          <a:prstGeom prst="rect">
            <a:avLst/>
          </a:prstGeom>
          <a:solidFill>
            <a:srgbClr val="D9D9D9"/>
          </a:solidFill>
          <a:ln w="6350">
            <a:solidFill>
              <a:srgbClr val="FFFFFF"/>
            </a:solidFill>
            <a:prstDash val="solid"/>
          </a:ln>
        </p:spPr>
      </p:sp>
      <p:sp>
        <p:nvSpPr>
          <p:cNvPr id="100" name="Text 98"/>
          <p:cNvSpPr txBox="1"/>
          <p:nvPr/>
        </p:nvSpPr>
        <p:spPr>
          <a:xfrm>
            <a:off x="4722099" y="4508401"/>
            <a:ext cx="123978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39</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2" name="Shape 100"/>
          <p:cNvSpPr/>
          <p:nvPr/>
        </p:nvSpPr>
        <p:spPr>
          <a:xfrm>
            <a:off x="2807208" y="4749372"/>
            <a:ext cx="1861261" cy="183138"/>
          </a:xfrm>
          <a:prstGeom prst="rect">
            <a:avLst/>
          </a:prstGeom>
          <a:solidFill>
            <a:srgbClr val="2587C5"/>
          </a:solidFill>
          <a:ln w="6350">
            <a:solidFill>
              <a:srgbClr val="FFFFFF"/>
            </a:solidFill>
            <a:prstDash val="solid"/>
          </a:ln>
        </p:spPr>
      </p:sp>
      <p:sp>
        <p:nvSpPr>
          <p:cNvPr id="103" name="Text 101"/>
          <p:cNvSpPr txBox="1"/>
          <p:nvPr/>
        </p:nvSpPr>
        <p:spPr>
          <a:xfrm>
            <a:off x="2807208" y="4749372"/>
            <a:ext cx="186126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04" name="Shape 102"/>
          <p:cNvSpPr/>
          <p:nvPr/>
        </p:nvSpPr>
        <p:spPr>
          <a:xfrm>
            <a:off x="4668469" y="4749372"/>
            <a:ext cx="839145" cy="183138"/>
          </a:xfrm>
          <a:prstGeom prst="rect">
            <a:avLst/>
          </a:prstGeom>
          <a:solidFill>
            <a:srgbClr val="0B2C4A"/>
          </a:solidFill>
          <a:ln w="6350">
            <a:solidFill>
              <a:srgbClr val="FFFFFF"/>
            </a:solidFill>
            <a:prstDash val="solid"/>
          </a:ln>
        </p:spPr>
      </p:sp>
      <p:sp>
        <p:nvSpPr>
          <p:cNvPr id="105" name="Text 103"/>
          <p:cNvSpPr txBox="1"/>
          <p:nvPr/>
        </p:nvSpPr>
        <p:spPr>
          <a:xfrm>
            <a:off x="4668469" y="4749372"/>
            <a:ext cx="8391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06" name="Shape 104"/>
          <p:cNvSpPr/>
          <p:nvPr/>
        </p:nvSpPr>
        <p:spPr>
          <a:xfrm>
            <a:off x="5507614" y="4749372"/>
            <a:ext cx="454274" cy="183138"/>
          </a:xfrm>
          <a:prstGeom prst="rect">
            <a:avLst/>
          </a:prstGeom>
          <a:solidFill>
            <a:srgbClr val="D9D9D9"/>
          </a:solidFill>
          <a:ln w="6350">
            <a:solidFill>
              <a:srgbClr val="FFFFFF"/>
            </a:solidFill>
            <a:prstDash val="solid"/>
          </a:ln>
        </p:spPr>
      </p:sp>
      <p:sp>
        <p:nvSpPr>
          <p:cNvPr id="107" name="Text 105"/>
          <p:cNvSpPr txBox="1"/>
          <p:nvPr/>
        </p:nvSpPr>
        <p:spPr>
          <a:xfrm>
            <a:off x="5507614" y="4749372"/>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09" name="Shape 107"/>
          <p:cNvSpPr/>
          <p:nvPr/>
        </p:nvSpPr>
        <p:spPr>
          <a:xfrm>
            <a:off x="2807208" y="4990343"/>
            <a:ext cx="1854952" cy="183138"/>
          </a:xfrm>
          <a:prstGeom prst="rect">
            <a:avLst/>
          </a:prstGeom>
          <a:solidFill>
            <a:srgbClr val="2587C5"/>
          </a:solidFill>
          <a:ln w="6350">
            <a:solidFill>
              <a:srgbClr val="FFFFFF"/>
            </a:solidFill>
            <a:prstDash val="solid"/>
          </a:ln>
        </p:spPr>
      </p:sp>
      <p:sp>
        <p:nvSpPr>
          <p:cNvPr id="110" name="Text 108"/>
          <p:cNvSpPr txBox="1"/>
          <p:nvPr/>
        </p:nvSpPr>
        <p:spPr>
          <a:xfrm>
            <a:off x="2807208" y="4990343"/>
            <a:ext cx="18549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59</a:t>
            </a:r>
            <a:endParaRPr lang="en-US" sz="1300" dirty="0"/>
          </a:p>
        </p:txBody>
      </p:sp>
      <p:sp>
        <p:nvSpPr>
          <p:cNvPr id="111" name="Shape 109"/>
          <p:cNvSpPr/>
          <p:nvPr/>
        </p:nvSpPr>
        <p:spPr>
          <a:xfrm>
            <a:off x="4662160" y="4990343"/>
            <a:ext cx="1015807" cy="183138"/>
          </a:xfrm>
          <a:prstGeom prst="rect">
            <a:avLst/>
          </a:prstGeom>
          <a:solidFill>
            <a:srgbClr val="0B2C4A"/>
          </a:solidFill>
          <a:ln w="6350">
            <a:solidFill>
              <a:srgbClr val="FFFFFF"/>
            </a:solidFill>
            <a:prstDash val="solid"/>
          </a:ln>
        </p:spPr>
      </p:sp>
      <p:sp>
        <p:nvSpPr>
          <p:cNvPr id="112" name="Text 110"/>
          <p:cNvSpPr txBox="1"/>
          <p:nvPr/>
        </p:nvSpPr>
        <p:spPr>
          <a:xfrm>
            <a:off x="4662160"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13" name="Shape 111"/>
          <p:cNvSpPr/>
          <p:nvPr/>
        </p:nvSpPr>
        <p:spPr>
          <a:xfrm>
            <a:off x="5677967" y="4990343"/>
            <a:ext cx="283921" cy="183138"/>
          </a:xfrm>
          <a:prstGeom prst="rect">
            <a:avLst/>
          </a:prstGeom>
          <a:solidFill>
            <a:srgbClr val="D9D9D9"/>
          </a:solidFill>
          <a:ln w="6350">
            <a:solidFill>
              <a:srgbClr val="FFFFFF"/>
            </a:solidFill>
            <a:prstDash val="solid"/>
          </a:ln>
        </p:spPr>
      </p:sp>
      <p:sp>
        <p:nvSpPr>
          <p:cNvPr id="114" name="Text 112"/>
          <p:cNvSpPr txBox="1"/>
          <p:nvPr/>
        </p:nvSpPr>
        <p:spPr>
          <a:xfrm>
            <a:off x="5677967" y="4990343"/>
            <a:ext cx="28392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16" name="Shape 114"/>
          <p:cNvSpPr/>
          <p:nvPr/>
        </p:nvSpPr>
        <p:spPr>
          <a:xfrm>
            <a:off x="2807208" y="5231315"/>
            <a:ext cx="1839178" cy="183138"/>
          </a:xfrm>
          <a:prstGeom prst="rect">
            <a:avLst/>
          </a:prstGeom>
          <a:solidFill>
            <a:srgbClr val="2587C5"/>
          </a:solidFill>
          <a:ln w="6350">
            <a:solidFill>
              <a:srgbClr val="FFFFFF"/>
            </a:solidFill>
            <a:prstDash val="solid"/>
          </a:ln>
        </p:spPr>
      </p:sp>
      <p:sp>
        <p:nvSpPr>
          <p:cNvPr id="117" name="Text 115"/>
          <p:cNvSpPr txBox="1"/>
          <p:nvPr/>
        </p:nvSpPr>
        <p:spPr>
          <a:xfrm>
            <a:off x="2807208" y="5231315"/>
            <a:ext cx="18391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118" name="Shape 116"/>
          <p:cNvSpPr/>
          <p:nvPr/>
        </p:nvSpPr>
        <p:spPr>
          <a:xfrm>
            <a:off x="4646386" y="5231315"/>
            <a:ext cx="574152" cy="183138"/>
          </a:xfrm>
          <a:prstGeom prst="rect">
            <a:avLst/>
          </a:prstGeom>
          <a:solidFill>
            <a:srgbClr val="0B2C4A"/>
          </a:solidFill>
          <a:ln w="6350">
            <a:solidFill>
              <a:srgbClr val="FFFFFF"/>
            </a:solidFill>
            <a:prstDash val="solid"/>
          </a:ln>
        </p:spPr>
      </p:sp>
      <p:sp>
        <p:nvSpPr>
          <p:cNvPr id="119" name="Text 117"/>
          <p:cNvSpPr txBox="1"/>
          <p:nvPr/>
        </p:nvSpPr>
        <p:spPr>
          <a:xfrm>
            <a:off x="4646386" y="5231315"/>
            <a:ext cx="57415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20" name="Shape 118"/>
          <p:cNvSpPr/>
          <p:nvPr/>
        </p:nvSpPr>
        <p:spPr>
          <a:xfrm>
            <a:off x="5220538" y="5231315"/>
            <a:ext cx="741350" cy="183138"/>
          </a:xfrm>
          <a:prstGeom prst="rect">
            <a:avLst/>
          </a:prstGeom>
          <a:solidFill>
            <a:srgbClr val="D9D9D9"/>
          </a:solidFill>
          <a:ln w="6350">
            <a:solidFill>
              <a:srgbClr val="FFFFFF"/>
            </a:solidFill>
            <a:prstDash val="solid"/>
          </a:ln>
        </p:spPr>
      </p:sp>
      <p:sp>
        <p:nvSpPr>
          <p:cNvPr id="121" name="Text 119"/>
          <p:cNvSpPr txBox="1"/>
          <p:nvPr/>
        </p:nvSpPr>
        <p:spPr>
          <a:xfrm>
            <a:off x="5220538" y="5231315"/>
            <a:ext cx="74135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24</a:t>
            </a:r>
            <a:endParaRPr lang="en-US" sz="1300" dirty="0"/>
          </a:p>
        </p:txBody>
      </p:sp>
      <p:sp>
        <p:nvSpPr>
          <p:cNvPr id="122" name="Text 120"/>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2807208" y="5472286"/>
            <a:ext cx="1791858" cy="183138"/>
          </a:xfrm>
          <a:prstGeom prst="rect">
            <a:avLst/>
          </a:prstGeom>
          <a:solidFill>
            <a:srgbClr val="2587C5"/>
          </a:solidFill>
          <a:ln w="6350">
            <a:solidFill>
              <a:srgbClr val="FFFFFF"/>
            </a:solidFill>
            <a:prstDash val="solid"/>
          </a:ln>
        </p:spPr>
      </p:sp>
      <p:sp>
        <p:nvSpPr>
          <p:cNvPr id="124" name="Text 122"/>
          <p:cNvSpPr txBox="1"/>
          <p:nvPr/>
        </p:nvSpPr>
        <p:spPr>
          <a:xfrm>
            <a:off x="2807208" y="5472286"/>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25" name="Shape 123"/>
          <p:cNvSpPr/>
          <p:nvPr/>
        </p:nvSpPr>
        <p:spPr>
          <a:xfrm>
            <a:off x="4599066" y="5472286"/>
            <a:ext cx="753969" cy="183138"/>
          </a:xfrm>
          <a:prstGeom prst="rect">
            <a:avLst/>
          </a:prstGeom>
          <a:solidFill>
            <a:srgbClr val="0B2C4A"/>
          </a:solidFill>
          <a:ln w="6350">
            <a:solidFill>
              <a:srgbClr val="FFFFFF"/>
            </a:solidFill>
            <a:prstDash val="solid"/>
          </a:ln>
        </p:spPr>
      </p:sp>
      <p:sp>
        <p:nvSpPr>
          <p:cNvPr id="126" name="Text 124"/>
          <p:cNvSpPr txBox="1"/>
          <p:nvPr/>
        </p:nvSpPr>
        <p:spPr>
          <a:xfrm>
            <a:off x="4599066" y="5472286"/>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27" name="Shape 125"/>
          <p:cNvSpPr/>
          <p:nvPr/>
        </p:nvSpPr>
        <p:spPr>
          <a:xfrm>
            <a:off x="5353035" y="5472286"/>
            <a:ext cx="608853" cy="183138"/>
          </a:xfrm>
          <a:prstGeom prst="rect">
            <a:avLst/>
          </a:prstGeom>
          <a:solidFill>
            <a:srgbClr val="D9D9D9"/>
          </a:solidFill>
          <a:ln w="6350">
            <a:solidFill>
              <a:srgbClr val="FFFFFF"/>
            </a:solidFill>
            <a:prstDash val="solid"/>
          </a:ln>
        </p:spPr>
      </p:sp>
      <p:sp>
        <p:nvSpPr>
          <p:cNvPr id="128" name="Text 126"/>
          <p:cNvSpPr txBox="1"/>
          <p:nvPr/>
        </p:nvSpPr>
        <p:spPr>
          <a:xfrm>
            <a:off x="5353035" y="5472286"/>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29" name="Text 127"/>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30" name="Shape 128"/>
          <p:cNvSpPr/>
          <p:nvPr/>
        </p:nvSpPr>
        <p:spPr>
          <a:xfrm>
            <a:off x="2807208" y="5713257"/>
            <a:ext cx="1791858" cy="183138"/>
          </a:xfrm>
          <a:prstGeom prst="rect">
            <a:avLst/>
          </a:prstGeom>
          <a:solidFill>
            <a:srgbClr val="2587C5"/>
          </a:solidFill>
          <a:ln w="6350">
            <a:solidFill>
              <a:srgbClr val="FFFFFF"/>
            </a:solidFill>
            <a:prstDash val="solid"/>
          </a:ln>
        </p:spPr>
      </p:sp>
      <p:sp>
        <p:nvSpPr>
          <p:cNvPr id="131" name="Text 129"/>
          <p:cNvSpPr txBox="1"/>
          <p:nvPr/>
        </p:nvSpPr>
        <p:spPr>
          <a:xfrm>
            <a:off x="2807208" y="5713257"/>
            <a:ext cx="179185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32" name="Shape 130"/>
          <p:cNvSpPr/>
          <p:nvPr/>
        </p:nvSpPr>
        <p:spPr>
          <a:xfrm>
            <a:off x="4599066" y="5713257"/>
            <a:ext cx="753969" cy="183138"/>
          </a:xfrm>
          <a:prstGeom prst="rect">
            <a:avLst/>
          </a:prstGeom>
          <a:solidFill>
            <a:srgbClr val="0B2C4A"/>
          </a:solidFill>
          <a:ln w="6350">
            <a:solidFill>
              <a:srgbClr val="FFFFFF"/>
            </a:solidFill>
            <a:prstDash val="solid"/>
          </a:ln>
        </p:spPr>
      </p:sp>
      <p:sp>
        <p:nvSpPr>
          <p:cNvPr id="133" name="Text 131"/>
          <p:cNvSpPr txBox="1"/>
          <p:nvPr/>
        </p:nvSpPr>
        <p:spPr>
          <a:xfrm>
            <a:off x="4599066" y="5713257"/>
            <a:ext cx="7539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24</a:t>
            </a:r>
            <a:endParaRPr lang="en-US" sz="1300" dirty="0"/>
          </a:p>
        </p:txBody>
      </p:sp>
      <p:sp>
        <p:nvSpPr>
          <p:cNvPr id="134" name="Shape 132"/>
          <p:cNvSpPr/>
          <p:nvPr/>
        </p:nvSpPr>
        <p:spPr>
          <a:xfrm>
            <a:off x="5353035" y="5713257"/>
            <a:ext cx="608853" cy="183138"/>
          </a:xfrm>
          <a:prstGeom prst="rect">
            <a:avLst/>
          </a:prstGeom>
          <a:solidFill>
            <a:srgbClr val="D9D9D9"/>
          </a:solidFill>
          <a:ln w="6350">
            <a:solidFill>
              <a:srgbClr val="FFFFFF"/>
            </a:solidFill>
            <a:prstDash val="solid"/>
          </a:ln>
        </p:spPr>
      </p:sp>
      <p:sp>
        <p:nvSpPr>
          <p:cNvPr id="135" name="Text 133"/>
          <p:cNvSpPr txBox="1"/>
          <p:nvPr/>
        </p:nvSpPr>
        <p:spPr>
          <a:xfrm>
            <a:off x="5353035" y="5713257"/>
            <a:ext cx="60885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19</a:t>
            </a:r>
            <a:endParaRPr lang="en-US" sz="1300" dirty="0"/>
          </a:p>
        </p:txBody>
      </p:sp>
      <p:sp>
        <p:nvSpPr>
          <p:cNvPr id="136" name="Text 134"/>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7" name="Shape 135"/>
          <p:cNvSpPr/>
          <p:nvPr/>
        </p:nvSpPr>
        <p:spPr>
          <a:xfrm>
            <a:off x="8357616" y="1857717"/>
            <a:ext cx="1738229" cy="183138"/>
          </a:xfrm>
          <a:prstGeom prst="rect">
            <a:avLst/>
          </a:prstGeom>
          <a:solidFill>
            <a:srgbClr val="2587C5"/>
          </a:solidFill>
          <a:ln w="6350">
            <a:solidFill>
              <a:srgbClr val="FFFFFF"/>
            </a:solidFill>
            <a:prstDash val="solid"/>
          </a:ln>
        </p:spPr>
      </p:sp>
      <p:sp>
        <p:nvSpPr>
          <p:cNvPr id="138" name="Text 136"/>
          <p:cNvSpPr txBox="1"/>
          <p:nvPr/>
        </p:nvSpPr>
        <p:spPr>
          <a:xfrm>
            <a:off x="8357616" y="1857717"/>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39" name="Shape 137"/>
          <p:cNvSpPr/>
          <p:nvPr/>
        </p:nvSpPr>
        <p:spPr>
          <a:xfrm>
            <a:off x="10095845" y="1857717"/>
            <a:ext cx="1116757" cy="183138"/>
          </a:xfrm>
          <a:prstGeom prst="rect">
            <a:avLst/>
          </a:prstGeom>
          <a:solidFill>
            <a:srgbClr val="0B2C4A"/>
          </a:solidFill>
          <a:ln w="6350">
            <a:solidFill>
              <a:srgbClr val="FFFFFF"/>
            </a:solidFill>
            <a:prstDash val="solid"/>
          </a:ln>
        </p:spPr>
      </p:sp>
      <p:sp>
        <p:nvSpPr>
          <p:cNvPr id="140" name="Text 138"/>
          <p:cNvSpPr txBox="1"/>
          <p:nvPr/>
        </p:nvSpPr>
        <p:spPr>
          <a:xfrm>
            <a:off x="10095845" y="1857717"/>
            <a:ext cx="11167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41" name="Shape 139"/>
          <p:cNvSpPr/>
          <p:nvPr/>
        </p:nvSpPr>
        <p:spPr>
          <a:xfrm>
            <a:off x="11212601" y="1857717"/>
            <a:ext cx="299695" cy="183138"/>
          </a:xfrm>
          <a:prstGeom prst="rect">
            <a:avLst/>
          </a:prstGeom>
          <a:solidFill>
            <a:srgbClr val="D9D9D9"/>
          </a:solidFill>
          <a:ln w="6350">
            <a:solidFill>
              <a:srgbClr val="FFFFFF"/>
            </a:solidFill>
            <a:prstDash val="solid"/>
          </a:ln>
        </p:spPr>
      </p:sp>
      <p:sp>
        <p:nvSpPr>
          <p:cNvPr id="142" name="Text 140"/>
          <p:cNvSpPr txBox="1"/>
          <p:nvPr/>
        </p:nvSpPr>
        <p:spPr>
          <a:xfrm>
            <a:off x="11212601" y="1857717"/>
            <a:ext cx="299695"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9</a:t>
            </a:r>
            <a:endParaRPr lang="en-US" sz="1300" dirty="0"/>
          </a:p>
        </p:txBody>
      </p:sp>
      <p:sp>
        <p:nvSpPr>
          <p:cNvPr id="143" name="Text 141"/>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4" name="Shape 142"/>
          <p:cNvSpPr/>
          <p:nvPr/>
        </p:nvSpPr>
        <p:spPr>
          <a:xfrm>
            <a:off x="8357616" y="2098688"/>
            <a:ext cx="1738229" cy="183138"/>
          </a:xfrm>
          <a:prstGeom prst="rect">
            <a:avLst/>
          </a:prstGeom>
          <a:solidFill>
            <a:srgbClr val="2587C5"/>
          </a:solidFill>
          <a:ln w="6350">
            <a:solidFill>
              <a:srgbClr val="FFFFFF"/>
            </a:solidFill>
            <a:prstDash val="solid"/>
          </a:ln>
        </p:spPr>
      </p:sp>
      <p:sp>
        <p:nvSpPr>
          <p:cNvPr id="145" name="Text 143"/>
          <p:cNvSpPr txBox="1"/>
          <p:nvPr/>
        </p:nvSpPr>
        <p:spPr>
          <a:xfrm>
            <a:off x="8357616" y="2098688"/>
            <a:ext cx="173822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46" name="Shape 144"/>
          <p:cNvSpPr/>
          <p:nvPr/>
        </p:nvSpPr>
        <p:spPr>
          <a:xfrm>
            <a:off x="10095845" y="2098688"/>
            <a:ext cx="933785" cy="183138"/>
          </a:xfrm>
          <a:prstGeom prst="rect">
            <a:avLst/>
          </a:prstGeom>
          <a:solidFill>
            <a:srgbClr val="0B2C4A"/>
          </a:solidFill>
          <a:ln w="6350">
            <a:solidFill>
              <a:srgbClr val="FFFFFF"/>
            </a:solidFill>
            <a:prstDash val="solid"/>
          </a:ln>
        </p:spPr>
      </p:sp>
      <p:sp>
        <p:nvSpPr>
          <p:cNvPr id="147" name="Text 145"/>
          <p:cNvSpPr txBox="1"/>
          <p:nvPr/>
        </p:nvSpPr>
        <p:spPr>
          <a:xfrm>
            <a:off x="10095845" y="2098688"/>
            <a:ext cx="93378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48" name="Shape 146"/>
          <p:cNvSpPr/>
          <p:nvPr/>
        </p:nvSpPr>
        <p:spPr>
          <a:xfrm>
            <a:off x="11029630" y="2098688"/>
            <a:ext cx="482666" cy="183138"/>
          </a:xfrm>
          <a:prstGeom prst="rect">
            <a:avLst/>
          </a:prstGeom>
          <a:solidFill>
            <a:srgbClr val="D9D9D9"/>
          </a:solidFill>
          <a:ln w="6350">
            <a:solidFill>
              <a:srgbClr val="FFFFFF"/>
            </a:solidFill>
            <a:prstDash val="solid"/>
          </a:ln>
        </p:spPr>
      </p:sp>
      <p:sp>
        <p:nvSpPr>
          <p:cNvPr id="149" name="Text 147"/>
          <p:cNvSpPr txBox="1"/>
          <p:nvPr/>
        </p:nvSpPr>
        <p:spPr>
          <a:xfrm>
            <a:off x="11029630" y="2098688"/>
            <a:ext cx="482666"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15</a:t>
            </a:r>
            <a:endParaRPr lang="en-US" sz="1300" dirty="0"/>
          </a:p>
        </p:txBody>
      </p:sp>
      <p:sp>
        <p:nvSpPr>
          <p:cNvPr id="150" name="Text 148"/>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51" name="Shape 149"/>
          <p:cNvSpPr/>
          <p:nvPr/>
        </p:nvSpPr>
        <p:spPr>
          <a:xfrm>
            <a:off x="8357616" y="2339659"/>
            <a:ext cx="1533174" cy="183138"/>
          </a:xfrm>
          <a:prstGeom prst="rect">
            <a:avLst/>
          </a:prstGeom>
          <a:solidFill>
            <a:srgbClr val="2587C5"/>
          </a:solidFill>
          <a:ln w="6350">
            <a:solidFill>
              <a:srgbClr val="FFFFFF"/>
            </a:solidFill>
            <a:prstDash val="solid"/>
          </a:ln>
        </p:spPr>
      </p:sp>
      <p:sp>
        <p:nvSpPr>
          <p:cNvPr id="152" name="Text 150"/>
          <p:cNvSpPr txBox="1"/>
          <p:nvPr/>
        </p:nvSpPr>
        <p:spPr>
          <a:xfrm>
            <a:off x="8357616" y="2339659"/>
            <a:ext cx="15331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49</a:t>
            </a:r>
            <a:endParaRPr lang="en-US" sz="1300" dirty="0"/>
          </a:p>
        </p:txBody>
      </p:sp>
      <p:sp>
        <p:nvSpPr>
          <p:cNvPr id="153" name="Shape 151"/>
          <p:cNvSpPr/>
          <p:nvPr/>
        </p:nvSpPr>
        <p:spPr>
          <a:xfrm>
            <a:off x="9890790" y="2339659"/>
            <a:ext cx="1306038" cy="183138"/>
          </a:xfrm>
          <a:prstGeom prst="rect">
            <a:avLst/>
          </a:prstGeom>
          <a:solidFill>
            <a:srgbClr val="0B2C4A"/>
          </a:solidFill>
          <a:ln w="6350">
            <a:solidFill>
              <a:srgbClr val="FFFFFF"/>
            </a:solidFill>
            <a:prstDash val="solid"/>
          </a:ln>
        </p:spPr>
      </p:sp>
      <p:sp>
        <p:nvSpPr>
          <p:cNvPr id="154" name="Text 152"/>
          <p:cNvSpPr txBox="1"/>
          <p:nvPr/>
        </p:nvSpPr>
        <p:spPr>
          <a:xfrm>
            <a:off x="9890790" y="2339659"/>
            <a:ext cx="13060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55" name="Shape 153"/>
          <p:cNvSpPr/>
          <p:nvPr/>
        </p:nvSpPr>
        <p:spPr>
          <a:xfrm>
            <a:off x="11196828" y="2339659"/>
            <a:ext cx="315468" cy="183138"/>
          </a:xfrm>
          <a:prstGeom prst="rect">
            <a:avLst/>
          </a:prstGeom>
          <a:solidFill>
            <a:srgbClr val="D9D9D9"/>
          </a:solidFill>
          <a:ln w="6350">
            <a:solidFill>
              <a:srgbClr val="FFFFFF"/>
            </a:solidFill>
            <a:prstDash val="solid"/>
          </a:ln>
        </p:spPr>
      </p:sp>
      <p:sp>
        <p:nvSpPr>
          <p:cNvPr id="156" name="Text 154"/>
          <p:cNvSpPr txBox="1"/>
          <p:nvPr/>
        </p:nvSpPr>
        <p:spPr>
          <a:xfrm>
            <a:off x="11196828" y="2339659"/>
            <a:ext cx="31546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10</a:t>
            </a:r>
            <a:endParaRPr lang="en-US" sz="1300" dirty="0"/>
          </a:p>
        </p:txBody>
      </p:sp>
      <p:sp>
        <p:nvSpPr>
          <p:cNvPr id="157" name="Text 155"/>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58" name="Shape 156"/>
          <p:cNvSpPr/>
          <p:nvPr/>
        </p:nvSpPr>
        <p:spPr>
          <a:xfrm>
            <a:off x="8357616" y="2580630"/>
            <a:ext cx="1384905" cy="183138"/>
          </a:xfrm>
          <a:prstGeom prst="rect">
            <a:avLst/>
          </a:prstGeom>
          <a:solidFill>
            <a:srgbClr val="2587C5"/>
          </a:solidFill>
          <a:ln w="6350">
            <a:solidFill>
              <a:srgbClr val="FFFFFF"/>
            </a:solidFill>
            <a:prstDash val="solid"/>
          </a:ln>
        </p:spPr>
      </p:sp>
      <p:sp>
        <p:nvSpPr>
          <p:cNvPr id="159" name="Text 157"/>
          <p:cNvSpPr txBox="1"/>
          <p:nvPr/>
        </p:nvSpPr>
        <p:spPr>
          <a:xfrm>
            <a:off x="8357616" y="2580630"/>
            <a:ext cx="138490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44</a:t>
            </a:r>
            <a:endParaRPr lang="en-US" sz="1300" dirty="0"/>
          </a:p>
        </p:txBody>
      </p:sp>
      <p:sp>
        <p:nvSpPr>
          <p:cNvPr id="160" name="Shape 158"/>
          <p:cNvSpPr/>
          <p:nvPr/>
        </p:nvSpPr>
        <p:spPr>
          <a:xfrm>
            <a:off x="9742521" y="2580630"/>
            <a:ext cx="1315502" cy="183138"/>
          </a:xfrm>
          <a:prstGeom prst="rect">
            <a:avLst/>
          </a:prstGeom>
          <a:solidFill>
            <a:srgbClr val="0B2C4A"/>
          </a:solidFill>
          <a:ln w="6350">
            <a:solidFill>
              <a:srgbClr val="FFFFFF"/>
            </a:solidFill>
            <a:prstDash val="solid"/>
          </a:ln>
        </p:spPr>
      </p:sp>
      <p:sp>
        <p:nvSpPr>
          <p:cNvPr id="161" name="Text 159"/>
          <p:cNvSpPr txBox="1"/>
          <p:nvPr/>
        </p:nvSpPr>
        <p:spPr>
          <a:xfrm>
            <a:off x="9742521" y="2580630"/>
            <a:ext cx="131550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62" name="Shape 160"/>
          <p:cNvSpPr/>
          <p:nvPr/>
        </p:nvSpPr>
        <p:spPr>
          <a:xfrm>
            <a:off x="11058022" y="2580630"/>
            <a:ext cx="454274" cy="183138"/>
          </a:xfrm>
          <a:prstGeom prst="rect">
            <a:avLst/>
          </a:prstGeom>
          <a:solidFill>
            <a:srgbClr val="D9D9D9"/>
          </a:solidFill>
          <a:ln w="6350">
            <a:solidFill>
              <a:srgbClr val="FFFFFF"/>
            </a:solidFill>
            <a:prstDash val="solid"/>
          </a:ln>
        </p:spPr>
      </p:sp>
      <p:sp>
        <p:nvSpPr>
          <p:cNvPr id="163" name="Text 161"/>
          <p:cNvSpPr txBox="1"/>
          <p:nvPr/>
        </p:nvSpPr>
        <p:spPr>
          <a:xfrm>
            <a:off x="11058022" y="2580630"/>
            <a:ext cx="4542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14</a:t>
            </a:r>
            <a:endParaRPr lang="en-US" sz="1300" dirty="0"/>
          </a:p>
        </p:txBody>
      </p:sp>
      <p:sp>
        <p:nvSpPr>
          <p:cNvPr id="164" name="Text 162"/>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5" name="Shape 163"/>
          <p:cNvSpPr/>
          <p:nvPr/>
        </p:nvSpPr>
        <p:spPr>
          <a:xfrm>
            <a:off x="8357616" y="2821602"/>
            <a:ext cx="1356512" cy="183138"/>
          </a:xfrm>
          <a:prstGeom prst="rect">
            <a:avLst/>
          </a:prstGeom>
          <a:solidFill>
            <a:srgbClr val="2587C5"/>
          </a:solidFill>
          <a:ln w="6350">
            <a:solidFill>
              <a:srgbClr val="FFFFFF"/>
            </a:solidFill>
            <a:prstDash val="solid"/>
          </a:ln>
        </p:spPr>
      </p:sp>
      <p:sp>
        <p:nvSpPr>
          <p:cNvPr id="166" name="Text 164"/>
          <p:cNvSpPr txBox="1"/>
          <p:nvPr/>
        </p:nvSpPr>
        <p:spPr>
          <a:xfrm>
            <a:off x="8357616" y="2821602"/>
            <a:ext cx="135651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67" name="Shape 165"/>
          <p:cNvSpPr/>
          <p:nvPr/>
        </p:nvSpPr>
        <p:spPr>
          <a:xfrm>
            <a:off x="9714128" y="2821602"/>
            <a:ext cx="946404" cy="183138"/>
          </a:xfrm>
          <a:prstGeom prst="rect">
            <a:avLst/>
          </a:prstGeom>
          <a:solidFill>
            <a:srgbClr val="0B2C4A"/>
          </a:solidFill>
          <a:ln w="6350">
            <a:solidFill>
              <a:srgbClr val="FFFFFF"/>
            </a:solidFill>
            <a:prstDash val="solid"/>
          </a:ln>
        </p:spPr>
      </p:sp>
      <p:sp>
        <p:nvSpPr>
          <p:cNvPr id="168" name="Text 166"/>
          <p:cNvSpPr txBox="1"/>
          <p:nvPr/>
        </p:nvSpPr>
        <p:spPr>
          <a:xfrm>
            <a:off x="9714128" y="2821602"/>
            <a:ext cx="9464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169" name="Shape 167"/>
          <p:cNvSpPr/>
          <p:nvPr/>
        </p:nvSpPr>
        <p:spPr>
          <a:xfrm>
            <a:off x="10660532" y="2821602"/>
            <a:ext cx="851764" cy="183138"/>
          </a:xfrm>
          <a:prstGeom prst="rect">
            <a:avLst/>
          </a:prstGeom>
          <a:solidFill>
            <a:srgbClr val="D9D9D9"/>
          </a:solidFill>
          <a:ln w="6350">
            <a:solidFill>
              <a:srgbClr val="FFFFFF"/>
            </a:solidFill>
            <a:prstDash val="solid"/>
          </a:ln>
        </p:spPr>
      </p:sp>
      <p:sp>
        <p:nvSpPr>
          <p:cNvPr id="170" name="Text 168"/>
          <p:cNvSpPr txBox="1"/>
          <p:nvPr/>
        </p:nvSpPr>
        <p:spPr>
          <a:xfrm>
            <a:off x="10660532" y="2821602"/>
            <a:ext cx="85176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171" name="Text 169"/>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72" name="Shape 170"/>
          <p:cNvSpPr/>
          <p:nvPr/>
        </p:nvSpPr>
        <p:spPr>
          <a:xfrm>
            <a:off x="8357616" y="3062573"/>
            <a:ext cx="1350203" cy="183138"/>
          </a:xfrm>
          <a:prstGeom prst="rect">
            <a:avLst/>
          </a:prstGeom>
          <a:solidFill>
            <a:srgbClr val="2587C5"/>
          </a:solidFill>
          <a:ln w="6350">
            <a:solidFill>
              <a:srgbClr val="FFFFFF"/>
            </a:solidFill>
            <a:prstDash val="solid"/>
          </a:ln>
        </p:spPr>
      </p:sp>
      <p:sp>
        <p:nvSpPr>
          <p:cNvPr id="173" name="Text 171"/>
          <p:cNvSpPr txBox="1"/>
          <p:nvPr/>
        </p:nvSpPr>
        <p:spPr>
          <a:xfrm>
            <a:off x="8357616" y="3062573"/>
            <a:ext cx="13502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174" name="Shape 172"/>
          <p:cNvSpPr/>
          <p:nvPr/>
        </p:nvSpPr>
        <p:spPr>
          <a:xfrm>
            <a:off x="9707819" y="3062573"/>
            <a:ext cx="911703" cy="183138"/>
          </a:xfrm>
          <a:prstGeom prst="rect">
            <a:avLst/>
          </a:prstGeom>
          <a:solidFill>
            <a:srgbClr val="0B2C4A"/>
          </a:solidFill>
          <a:ln w="6350">
            <a:solidFill>
              <a:srgbClr val="FFFFFF"/>
            </a:solidFill>
            <a:prstDash val="solid"/>
          </a:ln>
        </p:spPr>
      </p:sp>
      <p:sp>
        <p:nvSpPr>
          <p:cNvPr id="175" name="Text 173"/>
          <p:cNvSpPr txBox="1"/>
          <p:nvPr/>
        </p:nvSpPr>
        <p:spPr>
          <a:xfrm>
            <a:off x="9707819" y="3062573"/>
            <a:ext cx="9117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76" name="Shape 174"/>
          <p:cNvSpPr/>
          <p:nvPr/>
        </p:nvSpPr>
        <p:spPr>
          <a:xfrm>
            <a:off x="10619522" y="3062573"/>
            <a:ext cx="892774" cy="183138"/>
          </a:xfrm>
          <a:prstGeom prst="rect">
            <a:avLst/>
          </a:prstGeom>
          <a:solidFill>
            <a:srgbClr val="D9D9D9"/>
          </a:solidFill>
          <a:ln w="6350">
            <a:solidFill>
              <a:srgbClr val="FFFFFF"/>
            </a:solidFill>
            <a:prstDash val="solid"/>
          </a:ln>
        </p:spPr>
      </p:sp>
      <p:sp>
        <p:nvSpPr>
          <p:cNvPr id="177" name="Text 175"/>
          <p:cNvSpPr txBox="1"/>
          <p:nvPr/>
        </p:nvSpPr>
        <p:spPr>
          <a:xfrm>
            <a:off x="10619522" y="3062573"/>
            <a:ext cx="89277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28</a:t>
            </a:r>
            <a:endParaRPr lang="en-US" sz="1300" dirty="0"/>
          </a:p>
        </p:txBody>
      </p:sp>
      <p:sp>
        <p:nvSpPr>
          <p:cNvPr id="178" name="Text 176"/>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9" name="Shape 177"/>
          <p:cNvSpPr/>
          <p:nvPr/>
        </p:nvSpPr>
        <p:spPr>
          <a:xfrm>
            <a:off x="8357616" y="3303544"/>
            <a:ext cx="1293419" cy="183138"/>
          </a:xfrm>
          <a:prstGeom prst="rect">
            <a:avLst/>
          </a:prstGeom>
          <a:solidFill>
            <a:srgbClr val="2587C5"/>
          </a:solidFill>
          <a:ln w="6350">
            <a:solidFill>
              <a:srgbClr val="FFFFFF"/>
            </a:solidFill>
            <a:prstDash val="solid"/>
          </a:ln>
        </p:spPr>
      </p:sp>
      <p:sp>
        <p:nvSpPr>
          <p:cNvPr id="180" name="Text 178"/>
          <p:cNvSpPr txBox="1"/>
          <p:nvPr/>
        </p:nvSpPr>
        <p:spPr>
          <a:xfrm>
            <a:off x="8357616" y="3303544"/>
            <a:ext cx="129341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1" name="Shape 179"/>
          <p:cNvSpPr/>
          <p:nvPr/>
        </p:nvSpPr>
        <p:spPr>
          <a:xfrm>
            <a:off x="9651035" y="3303544"/>
            <a:ext cx="1618351" cy="183138"/>
          </a:xfrm>
          <a:prstGeom prst="rect">
            <a:avLst/>
          </a:prstGeom>
          <a:solidFill>
            <a:srgbClr val="0B2C4A"/>
          </a:solidFill>
          <a:ln w="6350">
            <a:solidFill>
              <a:srgbClr val="FFFFFF"/>
            </a:solidFill>
            <a:prstDash val="solid"/>
          </a:ln>
        </p:spPr>
      </p:sp>
      <p:sp>
        <p:nvSpPr>
          <p:cNvPr id="182" name="Text 180"/>
          <p:cNvSpPr txBox="1"/>
          <p:nvPr/>
        </p:nvSpPr>
        <p:spPr>
          <a:xfrm>
            <a:off x="9651035" y="3303544"/>
            <a:ext cx="16183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51</a:t>
            </a:r>
            <a:endParaRPr lang="en-US" sz="1300" dirty="0"/>
          </a:p>
        </p:txBody>
      </p:sp>
      <p:sp>
        <p:nvSpPr>
          <p:cNvPr id="183" name="Shape 181"/>
          <p:cNvSpPr/>
          <p:nvPr/>
        </p:nvSpPr>
        <p:spPr>
          <a:xfrm>
            <a:off x="11269386" y="3303544"/>
            <a:ext cx="242910" cy="183138"/>
          </a:xfrm>
          <a:prstGeom prst="rect">
            <a:avLst/>
          </a:prstGeom>
          <a:solidFill>
            <a:srgbClr val="D9D9D9"/>
          </a:solidFill>
          <a:ln w="6350">
            <a:solidFill>
              <a:srgbClr val="FFFFFF"/>
            </a:solidFill>
            <a:prstDash val="solid"/>
          </a:ln>
        </p:spPr>
      </p:sp>
      <p:sp>
        <p:nvSpPr>
          <p:cNvPr id="184" name="Text 182"/>
          <p:cNvSpPr txBox="1"/>
          <p:nvPr/>
        </p:nvSpPr>
        <p:spPr>
          <a:xfrm>
            <a:off x="11269386" y="3303544"/>
            <a:ext cx="24291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8</a:t>
            </a:r>
            <a:endParaRPr lang="en-US" sz="1300" dirty="0"/>
          </a:p>
        </p:txBody>
      </p:sp>
      <p:sp>
        <p:nvSpPr>
          <p:cNvPr id="185" name="Text 183"/>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86" name="Shape 184"/>
          <p:cNvSpPr/>
          <p:nvPr/>
        </p:nvSpPr>
        <p:spPr>
          <a:xfrm>
            <a:off x="8357616" y="3544516"/>
            <a:ext cx="1280800" cy="183138"/>
          </a:xfrm>
          <a:prstGeom prst="rect">
            <a:avLst/>
          </a:prstGeom>
          <a:solidFill>
            <a:srgbClr val="2587C5"/>
          </a:solidFill>
          <a:ln w="6350">
            <a:solidFill>
              <a:srgbClr val="FFFFFF"/>
            </a:solidFill>
            <a:prstDash val="solid"/>
          </a:ln>
        </p:spPr>
      </p:sp>
      <p:sp>
        <p:nvSpPr>
          <p:cNvPr id="187" name="Text 185"/>
          <p:cNvSpPr txBox="1"/>
          <p:nvPr/>
        </p:nvSpPr>
        <p:spPr>
          <a:xfrm>
            <a:off x="8357616" y="3544516"/>
            <a:ext cx="12808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88" name="Shape 186"/>
          <p:cNvSpPr/>
          <p:nvPr/>
        </p:nvSpPr>
        <p:spPr>
          <a:xfrm>
            <a:off x="9638416" y="3544516"/>
            <a:ext cx="1523710" cy="183138"/>
          </a:xfrm>
          <a:prstGeom prst="rect">
            <a:avLst/>
          </a:prstGeom>
          <a:solidFill>
            <a:srgbClr val="0B2C4A"/>
          </a:solidFill>
          <a:ln w="6350">
            <a:solidFill>
              <a:srgbClr val="FFFFFF"/>
            </a:solidFill>
            <a:prstDash val="solid"/>
          </a:ln>
        </p:spPr>
      </p:sp>
      <p:sp>
        <p:nvSpPr>
          <p:cNvPr id="189" name="Text 187"/>
          <p:cNvSpPr txBox="1"/>
          <p:nvPr/>
        </p:nvSpPr>
        <p:spPr>
          <a:xfrm>
            <a:off x="9638416" y="3544516"/>
            <a:ext cx="15237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48</a:t>
            </a:r>
            <a:endParaRPr lang="en-US" sz="1300" dirty="0"/>
          </a:p>
        </p:txBody>
      </p:sp>
      <p:sp>
        <p:nvSpPr>
          <p:cNvPr id="190" name="Shape 188"/>
          <p:cNvSpPr/>
          <p:nvPr/>
        </p:nvSpPr>
        <p:spPr>
          <a:xfrm>
            <a:off x="11162127" y="3544516"/>
            <a:ext cx="350169" cy="183138"/>
          </a:xfrm>
          <a:prstGeom prst="rect">
            <a:avLst/>
          </a:prstGeom>
          <a:solidFill>
            <a:srgbClr val="D9D9D9"/>
          </a:solidFill>
          <a:ln w="6350">
            <a:solidFill>
              <a:srgbClr val="FFFFFF"/>
            </a:solidFill>
            <a:prstDash val="solid"/>
          </a:ln>
        </p:spPr>
      </p:sp>
      <p:sp>
        <p:nvSpPr>
          <p:cNvPr id="191" name="Text 189"/>
          <p:cNvSpPr txBox="1"/>
          <p:nvPr/>
        </p:nvSpPr>
        <p:spPr>
          <a:xfrm>
            <a:off x="11162127" y="3544516"/>
            <a:ext cx="350169"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11</a:t>
            </a:r>
            <a:endParaRPr lang="en-US" sz="1300" dirty="0"/>
          </a:p>
        </p:txBody>
      </p:sp>
      <p:sp>
        <p:nvSpPr>
          <p:cNvPr id="192" name="Text 190"/>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93" name="Shape 191"/>
          <p:cNvSpPr/>
          <p:nvPr/>
        </p:nvSpPr>
        <p:spPr>
          <a:xfrm>
            <a:off x="8357616" y="3785487"/>
            <a:ext cx="1268181" cy="183138"/>
          </a:xfrm>
          <a:prstGeom prst="rect">
            <a:avLst/>
          </a:prstGeom>
          <a:solidFill>
            <a:srgbClr val="2587C5"/>
          </a:solidFill>
          <a:ln w="6350">
            <a:solidFill>
              <a:srgbClr val="FFFFFF"/>
            </a:solidFill>
            <a:prstDash val="solid"/>
          </a:ln>
        </p:spPr>
      </p:sp>
      <p:sp>
        <p:nvSpPr>
          <p:cNvPr id="194" name="Text 192"/>
          <p:cNvSpPr txBox="1"/>
          <p:nvPr/>
        </p:nvSpPr>
        <p:spPr>
          <a:xfrm>
            <a:off x="8357616" y="3785487"/>
            <a:ext cx="126818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195" name="Shape 193"/>
          <p:cNvSpPr/>
          <p:nvPr/>
        </p:nvSpPr>
        <p:spPr>
          <a:xfrm>
            <a:off x="9625797" y="3785487"/>
            <a:ext cx="1321811" cy="183138"/>
          </a:xfrm>
          <a:prstGeom prst="rect">
            <a:avLst/>
          </a:prstGeom>
          <a:solidFill>
            <a:srgbClr val="0B2C4A"/>
          </a:solidFill>
          <a:ln w="6350">
            <a:solidFill>
              <a:srgbClr val="FFFFFF"/>
            </a:solidFill>
            <a:prstDash val="solid"/>
          </a:ln>
        </p:spPr>
      </p:sp>
      <p:sp>
        <p:nvSpPr>
          <p:cNvPr id="196" name="Text 194"/>
          <p:cNvSpPr txBox="1"/>
          <p:nvPr/>
        </p:nvSpPr>
        <p:spPr>
          <a:xfrm>
            <a:off x="9625797" y="3785487"/>
            <a:ext cx="132181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42</a:t>
            </a:r>
            <a:endParaRPr lang="en-US" sz="1300" dirty="0"/>
          </a:p>
        </p:txBody>
      </p:sp>
      <p:sp>
        <p:nvSpPr>
          <p:cNvPr id="197" name="Shape 195"/>
          <p:cNvSpPr/>
          <p:nvPr/>
        </p:nvSpPr>
        <p:spPr>
          <a:xfrm>
            <a:off x="10947608" y="3785487"/>
            <a:ext cx="564688" cy="183138"/>
          </a:xfrm>
          <a:prstGeom prst="rect">
            <a:avLst/>
          </a:prstGeom>
          <a:solidFill>
            <a:srgbClr val="D9D9D9"/>
          </a:solidFill>
          <a:ln w="6350">
            <a:solidFill>
              <a:srgbClr val="FFFFFF"/>
            </a:solidFill>
            <a:prstDash val="solid"/>
          </a:ln>
        </p:spPr>
      </p:sp>
      <p:sp>
        <p:nvSpPr>
          <p:cNvPr id="198" name="Text 196"/>
          <p:cNvSpPr txBox="1"/>
          <p:nvPr/>
        </p:nvSpPr>
        <p:spPr>
          <a:xfrm>
            <a:off x="10947608" y="3785487"/>
            <a:ext cx="56468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18</a:t>
            </a:r>
            <a:endParaRPr lang="en-US" sz="1300" dirty="0"/>
          </a:p>
        </p:txBody>
      </p:sp>
      <p:sp>
        <p:nvSpPr>
          <p:cNvPr id="199" name="Text 197"/>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00" name="Shape 198"/>
          <p:cNvSpPr/>
          <p:nvPr/>
        </p:nvSpPr>
        <p:spPr>
          <a:xfrm>
            <a:off x="8357616" y="4026458"/>
            <a:ext cx="1211397" cy="183138"/>
          </a:xfrm>
          <a:prstGeom prst="rect">
            <a:avLst/>
          </a:prstGeom>
          <a:solidFill>
            <a:srgbClr val="2587C5"/>
          </a:solidFill>
          <a:ln w="6350">
            <a:solidFill>
              <a:srgbClr val="FFFFFF"/>
            </a:solidFill>
            <a:prstDash val="solid"/>
          </a:ln>
        </p:spPr>
      </p:sp>
      <p:sp>
        <p:nvSpPr>
          <p:cNvPr id="201" name="Text 199"/>
          <p:cNvSpPr txBox="1"/>
          <p:nvPr/>
        </p:nvSpPr>
        <p:spPr>
          <a:xfrm>
            <a:off x="8357616" y="4026458"/>
            <a:ext cx="121139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02" name="Shape 200"/>
          <p:cNvSpPr/>
          <p:nvPr/>
        </p:nvSpPr>
        <p:spPr>
          <a:xfrm>
            <a:off x="9569013" y="4026458"/>
            <a:ext cx="1028426" cy="183138"/>
          </a:xfrm>
          <a:prstGeom prst="rect">
            <a:avLst/>
          </a:prstGeom>
          <a:solidFill>
            <a:srgbClr val="0B2C4A"/>
          </a:solidFill>
          <a:ln w="6350">
            <a:solidFill>
              <a:srgbClr val="FFFFFF"/>
            </a:solidFill>
            <a:prstDash val="solid"/>
          </a:ln>
        </p:spPr>
      </p:sp>
      <p:sp>
        <p:nvSpPr>
          <p:cNvPr id="203" name="Text 201"/>
          <p:cNvSpPr txBox="1"/>
          <p:nvPr/>
        </p:nvSpPr>
        <p:spPr>
          <a:xfrm>
            <a:off x="9569013" y="4026458"/>
            <a:ext cx="102842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04" name="Shape 202"/>
          <p:cNvSpPr/>
          <p:nvPr/>
        </p:nvSpPr>
        <p:spPr>
          <a:xfrm>
            <a:off x="10597439" y="4026458"/>
            <a:ext cx="914857" cy="183138"/>
          </a:xfrm>
          <a:prstGeom prst="rect">
            <a:avLst/>
          </a:prstGeom>
          <a:solidFill>
            <a:srgbClr val="D9D9D9"/>
          </a:solidFill>
          <a:ln w="6350">
            <a:solidFill>
              <a:srgbClr val="FFFFFF"/>
            </a:solidFill>
            <a:prstDash val="solid"/>
          </a:ln>
        </p:spPr>
      </p:sp>
      <p:sp>
        <p:nvSpPr>
          <p:cNvPr id="205" name="Text 203"/>
          <p:cNvSpPr txBox="1"/>
          <p:nvPr/>
        </p:nvSpPr>
        <p:spPr>
          <a:xfrm>
            <a:off x="10597439" y="4026458"/>
            <a:ext cx="914857"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29</a:t>
            </a:r>
            <a:endParaRPr lang="en-US" sz="1300" dirty="0"/>
          </a:p>
        </p:txBody>
      </p:sp>
      <p:sp>
        <p:nvSpPr>
          <p:cNvPr id="206" name="Text 204"/>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207" name="Shape 205"/>
          <p:cNvSpPr/>
          <p:nvPr/>
        </p:nvSpPr>
        <p:spPr>
          <a:xfrm>
            <a:off x="8357616" y="4267429"/>
            <a:ext cx="1107293" cy="183138"/>
          </a:xfrm>
          <a:prstGeom prst="rect">
            <a:avLst/>
          </a:prstGeom>
          <a:solidFill>
            <a:srgbClr val="2587C5"/>
          </a:solidFill>
          <a:ln w="6350">
            <a:solidFill>
              <a:srgbClr val="FFFFFF"/>
            </a:solidFill>
            <a:prstDash val="solid"/>
          </a:ln>
        </p:spPr>
      </p:sp>
      <p:sp>
        <p:nvSpPr>
          <p:cNvPr id="208" name="Text 206"/>
          <p:cNvSpPr txBox="1"/>
          <p:nvPr/>
        </p:nvSpPr>
        <p:spPr>
          <a:xfrm>
            <a:off x="8357616" y="4267429"/>
            <a:ext cx="110729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209" name="Shape 207"/>
          <p:cNvSpPr/>
          <p:nvPr/>
        </p:nvSpPr>
        <p:spPr>
          <a:xfrm>
            <a:off x="9464909" y="4267429"/>
            <a:ext cx="1192469" cy="183138"/>
          </a:xfrm>
          <a:prstGeom prst="rect">
            <a:avLst/>
          </a:prstGeom>
          <a:solidFill>
            <a:srgbClr val="0B2C4A"/>
          </a:solidFill>
          <a:ln w="6350">
            <a:solidFill>
              <a:srgbClr val="FFFFFF"/>
            </a:solidFill>
            <a:prstDash val="solid"/>
          </a:ln>
        </p:spPr>
      </p:sp>
      <p:sp>
        <p:nvSpPr>
          <p:cNvPr id="210" name="Text 208"/>
          <p:cNvSpPr txBox="1"/>
          <p:nvPr/>
        </p:nvSpPr>
        <p:spPr>
          <a:xfrm>
            <a:off x="9464909" y="4267429"/>
            <a:ext cx="11924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38</a:t>
            </a:r>
            <a:endParaRPr lang="en-US" sz="1300" dirty="0"/>
          </a:p>
        </p:txBody>
      </p:sp>
      <p:sp>
        <p:nvSpPr>
          <p:cNvPr id="211" name="Shape 209"/>
          <p:cNvSpPr/>
          <p:nvPr/>
        </p:nvSpPr>
        <p:spPr>
          <a:xfrm>
            <a:off x="10657378" y="4267429"/>
            <a:ext cx="854918" cy="183138"/>
          </a:xfrm>
          <a:prstGeom prst="rect">
            <a:avLst/>
          </a:prstGeom>
          <a:solidFill>
            <a:srgbClr val="D9D9D9"/>
          </a:solidFill>
          <a:ln w="6350">
            <a:solidFill>
              <a:srgbClr val="FFFFFF"/>
            </a:solidFill>
            <a:prstDash val="solid"/>
          </a:ln>
        </p:spPr>
      </p:sp>
      <p:sp>
        <p:nvSpPr>
          <p:cNvPr id="212" name="Text 210"/>
          <p:cNvSpPr txBox="1"/>
          <p:nvPr/>
        </p:nvSpPr>
        <p:spPr>
          <a:xfrm>
            <a:off x="10657378" y="4267429"/>
            <a:ext cx="854918"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27</a:t>
            </a:r>
            <a:endParaRPr lang="en-US" sz="1300" dirty="0"/>
          </a:p>
        </p:txBody>
      </p:sp>
      <p:sp>
        <p:nvSpPr>
          <p:cNvPr id="213" name="Text 211"/>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4" name="Shape 212"/>
          <p:cNvSpPr/>
          <p:nvPr/>
        </p:nvSpPr>
        <p:spPr>
          <a:xfrm>
            <a:off x="8357616" y="4508401"/>
            <a:ext cx="1069437" cy="183138"/>
          </a:xfrm>
          <a:prstGeom prst="rect">
            <a:avLst/>
          </a:prstGeom>
          <a:solidFill>
            <a:srgbClr val="2587C5"/>
          </a:solidFill>
          <a:ln w="6350">
            <a:solidFill>
              <a:srgbClr val="FFFFFF"/>
            </a:solidFill>
            <a:prstDash val="solid"/>
          </a:ln>
        </p:spPr>
      </p:sp>
      <p:sp>
        <p:nvSpPr>
          <p:cNvPr id="215" name="Text 213"/>
          <p:cNvSpPr txBox="1"/>
          <p:nvPr/>
        </p:nvSpPr>
        <p:spPr>
          <a:xfrm>
            <a:off x="8357616" y="4508401"/>
            <a:ext cx="10694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216" name="Shape 214"/>
          <p:cNvSpPr/>
          <p:nvPr/>
        </p:nvSpPr>
        <p:spPr>
          <a:xfrm>
            <a:off x="9427053" y="4508401"/>
            <a:ext cx="82022" cy="183138"/>
          </a:xfrm>
          <a:prstGeom prst="rect">
            <a:avLst/>
          </a:prstGeom>
          <a:solidFill>
            <a:srgbClr val="0B2C4A"/>
          </a:solidFill>
          <a:ln w="6350">
            <a:solidFill>
              <a:srgbClr val="FFFFFF"/>
            </a:solidFill>
            <a:prstDash val="solid"/>
          </a:ln>
        </p:spPr>
      </p:sp>
      <p:sp>
        <p:nvSpPr>
          <p:cNvPr id="217" name="Shape 215"/>
          <p:cNvSpPr/>
          <p:nvPr/>
        </p:nvSpPr>
        <p:spPr>
          <a:xfrm>
            <a:off x="9509074" y="4508401"/>
            <a:ext cx="2003222" cy="183138"/>
          </a:xfrm>
          <a:prstGeom prst="rect">
            <a:avLst/>
          </a:prstGeom>
          <a:solidFill>
            <a:srgbClr val="D9D9D9"/>
          </a:solidFill>
          <a:ln w="6350">
            <a:solidFill>
              <a:srgbClr val="FFFFFF"/>
            </a:solidFill>
            <a:prstDash val="solid"/>
          </a:ln>
        </p:spPr>
      </p:sp>
      <p:sp>
        <p:nvSpPr>
          <p:cNvPr id="218" name="Text 216"/>
          <p:cNvSpPr txBox="1"/>
          <p:nvPr/>
        </p:nvSpPr>
        <p:spPr>
          <a:xfrm>
            <a:off x="9509074" y="4508401"/>
            <a:ext cx="2003222"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64</a:t>
            </a:r>
            <a:endParaRPr lang="en-US" sz="1300" dirty="0"/>
          </a:p>
        </p:txBody>
      </p:sp>
      <p:sp>
        <p:nvSpPr>
          <p:cNvPr id="219" name="Text 217"/>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20" name="Shape 218"/>
          <p:cNvSpPr/>
          <p:nvPr/>
        </p:nvSpPr>
        <p:spPr>
          <a:xfrm>
            <a:off x="8357616" y="4749372"/>
            <a:ext cx="1034735" cy="183138"/>
          </a:xfrm>
          <a:prstGeom prst="rect">
            <a:avLst/>
          </a:prstGeom>
          <a:solidFill>
            <a:srgbClr val="2587C5"/>
          </a:solidFill>
          <a:ln w="6350">
            <a:solidFill>
              <a:srgbClr val="FFFFFF"/>
            </a:solidFill>
            <a:prstDash val="solid"/>
          </a:ln>
        </p:spPr>
      </p:sp>
      <p:sp>
        <p:nvSpPr>
          <p:cNvPr id="221" name="Text 219"/>
          <p:cNvSpPr txBox="1"/>
          <p:nvPr/>
        </p:nvSpPr>
        <p:spPr>
          <a:xfrm>
            <a:off x="8357616" y="4749372"/>
            <a:ext cx="1034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22" name="Shape 220"/>
          <p:cNvSpPr/>
          <p:nvPr/>
        </p:nvSpPr>
        <p:spPr>
          <a:xfrm>
            <a:off x="9392351" y="4749372"/>
            <a:ext cx="1722455" cy="183138"/>
          </a:xfrm>
          <a:prstGeom prst="rect">
            <a:avLst/>
          </a:prstGeom>
          <a:solidFill>
            <a:srgbClr val="0B2C4A"/>
          </a:solidFill>
          <a:ln w="6350">
            <a:solidFill>
              <a:srgbClr val="FFFFFF"/>
            </a:solidFill>
            <a:prstDash val="solid"/>
          </a:ln>
        </p:spPr>
      </p:sp>
      <p:sp>
        <p:nvSpPr>
          <p:cNvPr id="223" name="Text 221"/>
          <p:cNvSpPr txBox="1"/>
          <p:nvPr/>
        </p:nvSpPr>
        <p:spPr>
          <a:xfrm>
            <a:off x="9392351" y="4749372"/>
            <a:ext cx="17224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224" name="Shape 222"/>
          <p:cNvSpPr/>
          <p:nvPr/>
        </p:nvSpPr>
        <p:spPr>
          <a:xfrm>
            <a:off x="11114806" y="4749372"/>
            <a:ext cx="397490" cy="183138"/>
          </a:xfrm>
          <a:prstGeom prst="rect">
            <a:avLst/>
          </a:prstGeom>
          <a:solidFill>
            <a:srgbClr val="D9D9D9"/>
          </a:solidFill>
          <a:ln w="6350">
            <a:solidFill>
              <a:srgbClr val="FFFFFF"/>
            </a:solidFill>
            <a:prstDash val="solid"/>
          </a:ln>
        </p:spPr>
      </p:sp>
      <p:sp>
        <p:nvSpPr>
          <p:cNvPr id="225" name="Text 223"/>
          <p:cNvSpPr txBox="1"/>
          <p:nvPr/>
        </p:nvSpPr>
        <p:spPr>
          <a:xfrm>
            <a:off x="11114806" y="4749372"/>
            <a:ext cx="397490"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13</a:t>
            </a:r>
            <a:endParaRPr lang="en-US" sz="1300" dirty="0"/>
          </a:p>
        </p:txBody>
      </p:sp>
      <p:sp>
        <p:nvSpPr>
          <p:cNvPr id="226" name="Text 224"/>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27" name="Shape 225"/>
          <p:cNvSpPr/>
          <p:nvPr/>
        </p:nvSpPr>
        <p:spPr>
          <a:xfrm>
            <a:off x="8357616" y="4990343"/>
            <a:ext cx="1015807" cy="183138"/>
          </a:xfrm>
          <a:prstGeom prst="rect">
            <a:avLst/>
          </a:prstGeom>
          <a:solidFill>
            <a:srgbClr val="2587C5"/>
          </a:solidFill>
          <a:ln w="6350">
            <a:solidFill>
              <a:srgbClr val="FFFFFF"/>
            </a:solidFill>
            <a:prstDash val="solid"/>
          </a:ln>
        </p:spPr>
      </p:sp>
      <p:sp>
        <p:nvSpPr>
          <p:cNvPr id="228" name="Text 226"/>
          <p:cNvSpPr txBox="1"/>
          <p:nvPr/>
        </p:nvSpPr>
        <p:spPr>
          <a:xfrm>
            <a:off x="8357616" y="4990343"/>
            <a:ext cx="10158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229" name="Shape 227"/>
          <p:cNvSpPr/>
          <p:nvPr/>
        </p:nvSpPr>
        <p:spPr>
          <a:xfrm>
            <a:off x="9373423" y="4990343"/>
            <a:ext cx="936940" cy="183138"/>
          </a:xfrm>
          <a:prstGeom prst="rect">
            <a:avLst/>
          </a:prstGeom>
          <a:solidFill>
            <a:srgbClr val="0B2C4A"/>
          </a:solidFill>
          <a:ln w="6350">
            <a:solidFill>
              <a:srgbClr val="FFFFFF"/>
            </a:solidFill>
            <a:prstDash val="solid"/>
          </a:ln>
        </p:spPr>
      </p:sp>
      <p:sp>
        <p:nvSpPr>
          <p:cNvPr id="230" name="Text 228"/>
          <p:cNvSpPr txBox="1"/>
          <p:nvPr/>
        </p:nvSpPr>
        <p:spPr>
          <a:xfrm>
            <a:off x="9373423" y="4990343"/>
            <a:ext cx="9369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30</a:t>
            </a:r>
            <a:endParaRPr lang="en-US" sz="1300" dirty="0"/>
          </a:p>
        </p:txBody>
      </p:sp>
      <p:sp>
        <p:nvSpPr>
          <p:cNvPr id="231" name="Shape 229"/>
          <p:cNvSpPr/>
          <p:nvPr/>
        </p:nvSpPr>
        <p:spPr>
          <a:xfrm>
            <a:off x="10310363" y="4990343"/>
            <a:ext cx="1201933" cy="183138"/>
          </a:xfrm>
          <a:prstGeom prst="rect">
            <a:avLst/>
          </a:prstGeom>
          <a:solidFill>
            <a:srgbClr val="D9D9D9"/>
          </a:solidFill>
          <a:ln w="6350">
            <a:solidFill>
              <a:srgbClr val="FFFFFF"/>
            </a:solidFill>
            <a:prstDash val="solid"/>
          </a:ln>
        </p:spPr>
      </p:sp>
      <p:sp>
        <p:nvSpPr>
          <p:cNvPr id="232" name="Text 230"/>
          <p:cNvSpPr txBox="1"/>
          <p:nvPr/>
        </p:nvSpPr>
        <p:spPr>
          <a:xfrm>
            <a:off x="10310363" y="4990343"/>
            <a:ext cx="1201933"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38</a:t>
            </a:r>
            <a:endParaRPr lang="en-US" sz="1300" dirty="0"/>
          </a:p>
        </p:txBody>
      </p:sp>
      <p:sp>
        <p:nvSpPr>
          <p:cNvPr id="233" name="Text 231"/>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4" name="Shape 232"/>
          <p:cNvSpPr/>
          <p:nvPr/>
        </p:nvSpPr>
        <p:spPr>
          <a:xfrm>
            <a:off x="8357616" y="5231315"/>
            <a:ext cx="867537" cy="183138"/>
          </a:xfrm>
          <a:prstGeom prst="rect">
            <a:avLst/>
          </a:prstGeom>
          <a:solidFill>
            <a:srgbClr val="2587C5"/>
          </a:solidFill>
          <a:ln w="6350">
            <a:solidFill>
              <a:srgbClr val="FFFFFF"/>
            </a:solidFill>
            <a:prstDash val="solid"/>
          </a:ln>
        </p:spPr>
      </p:sp>
      <p:sp>
        <p:nvSpPr>
          <p:cNvPr id="235" name="Text 233"/>
          <p:cNvSpPr txBox="1"/>
          <p:nvPr/>
        </p:nvSpPr>
        <p:spPr>
          <a:xfrm>
            <a:off x="8357616" y="5231315"/>
            <a:ext cx="8675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236" name="Shape 234"/>
          <p:cNvSpPr/>
          <p:nvPr/>
        </p:nvSpPr>
        <p:spPr>
          <a:xfrm>
            <a:off x="9225153" y="5231315"/>
            <a:ext cx="864382" cy="183138"/>
          </a:xfrm>
          <a:prstGeom prst="rect">
            <a:avLst/>
          </a:prstGeom>
          <a:solidFill>
            <a:srgbClr val="0B2C4A"/>
          </a:solidFill>
          <a:ln w="6350">
            <a:solidFill>
              <a:srgbClr val="FFFFFF"/>
            </a:solidFill>
            <a:prstDash val="solid"/>
          </a:ln>
        </p:spPr>
      </p:sp>
      <p:sp>
        <p:nvSpPr>
          <p:cNvPr id="237" name="Text 235"/>
          <p:cNvSpPr txBox="1"/>
          <p:nvPr/>
        </p:nvSpPr>
        <p:spPr>
          <a:xfrm>
            <a:off x="9225153" y="5231315"/>
            <a:ext cx="86438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38" name="Shape 236"/>
          <p:cNvSpPr/>
          <p:nvPr/>
        </p:nvSpPr>
        <p:spPr>
          <a:xfrm>
            <a:off x="10089535" y="5231315"/>
            <a:ext cx="1422761" cy="183138"/>
          </a:xfrm>
          <a:prstGeom prst="rect">
            <a:avLst/>
          </a:prstGeom>
          <a:solidFill>
            <a:srgbClr val="D9D9D9"/>
          </a:solidFill>
          <a:ln w="6350">
            <a:solidFill>
              <a:srgbClr val="FFFFFF"/>
            </a:solidFill>
            <a:prstDash val="solid"/>
          </a:ln>
        </p:spPr>
      </p:sp>
      <p:sp>
        <p:nvSpPr>
          <p:cNvPr id="239" name="Text 237"/>
          <p:cNvSpPr txBox="1"/>
          <p:nvPr/>
        </p:nvSpPr>
        <p:spPr>
          <a:xfrm>
            <a:off x="10089535" y="5231315"/>
            <a:ext cx="1422761"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45</a:t>
            </a:r>
            <a:endParaRPr lang="en-US" sz="1300" dirty="0"/>
          </a:p>
        </p:txBody>
      </p:sp>
      <p:sp>
        <p:nvSpPr>
          <p:cNvPr id="240" name="Text 238"/>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241" name="Shape 239"/>
          <p:cNvSpPr/>
          <p:nvPr/>
        </p:nvSpPr>
        <p:spPr>
          <a:xfrm>
            <a:off x="8357616" y="5472286"/>
            <a:ext cx="835990" cy="183138"/>
          </a:xfrm>
          <a:prstGeom prst="rect">
            <a:avLst/>
          </a:prstGeom>
          <a:solidFill>
            <a:srgbClr val="2587C5"/>
          </a:solidFill>
          <a:ln w="6350">
            <a:solidFill>
              <a:srgbClr val="FFFFFF"/>
            </a:solidFill>
            <a:prstDash val="solid"/>
          </a:ln>
        </p:spPr>
      </p:sp>
      <p:sp>
        <p:nvSpPr>
          <p:cNvPr id="242" name="Text 240"/>
          <p:cNvSpPr txBox="1"/>
          <p:nvPr/>
        </p:nvSpPr>
        <p:spPr>
          <a:xfrm>
            <a:off x="8357616" y="5472286"/>
            <a:ext cx="8359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243" name="Shape 241"/>
          <p:cNvSpPr/>
          <p:nvPr/>
        </p:nvSpPr>
        <p:spPr>
          <a:xfrm>
            <a:off x="9193606" y="5472286"/>
            <a:ext cx="684566" cy="183138"/>
          </a:xfrm>
          <a:prstGeom prst="rect">
            <a:avLst/>
          </a:prstGeom>
          <a:solidFill>
            <a:srgbClr val="0B2C4A"/>
          </a:solidFill>
          <a:ln w="6350">
            <a:solidFill>
              <a:srgbClr val="FFFFFF"/>
            </a:solidFill>
            <a:prstDash val="solid"/>
          </a:ln>
        </p:spPr>
      </p:sp>
      <p:sp>
        <p:nvSpPr>
          <p:cNvPr id="244" name="Text 242"/>
          <p:cNvSpPr txBox="1"/>
          <p:nvPr/>
        </p:nvSpPr>
        <p:spPr>
          <a:xfrm>
            <a:off x="9193606" y="5472286"/>
            <a:ext cx="68456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245" name="Shape 243"/>
          <p:cNvSpPr/>
          <p:nvPr/>
        </p:nvSpPr>
        <p:spPr>
          <a:xfrm>
            <a:off x="9878172" y="5472286"/>
            <a:ext cx="1634124" cy="183138"/>
          </a:xfrm>
          <a:prstGeom prst="rect">
            <a:avLst/>
          </a:prstGeom>
          <a:solidFill>
            <a:srgbClr val="D9D9D9"/>
          </a:solidFill>
          <a:ln w="6350">
            <a:solidFill>
              <a:srgbClr val="FFFFFF"/>
            </a:solidFill>
            <a:prstDash val="solid"/>
          </a:ln>
        </p:spPr>
      </p:sp>
      <p:sp>
        <p:nvSpPr>
          <p:cNvPr id="246" name="Text 244"/>
          <p:cNvSpPr txBox="1"/>
          <p:nvPr/>
        </p:nvSpPr>
        <p:spPr>
          <a:xfrm>
            <a:off x="9878172" y="5472286"/>
            <a:ext cx="1634124" cy="183138"/>
          </a:xfrm>
          <a:prstGeom prst="rect">
            <a:avLst/>
          </a:prstGeom>
          <a:noFill/>
          <a:ln/>
        </p:spPr>
        <p:txBody>
          <a:bodyPr wrap="none" lIns="0" tIns="0" rIns="0" bIns="0" rtlCol="0" anchor="ctr"/>
          <a:lstStyle/>
          <a:p>
            <a:pPr algn="ctr" indent="0" marL="0">
              <a:buNone/>
            </a:pPr>
            <a:r>
              <a:rPr lang="en-US" sz="1300" b="1" dirty="0">
                <a:solidFill>
                  <a:srgbClr val="1A1A1A"/>
                </a:solidFill>
                <a:latin typeface="Inter" pitchFamily="34" charset="0"/>
                <a:ea typeface="Inter" pitchFamily="34" charset="-122"/>
                <a:cs typeface="Inter" pitchFamily="34" charset="-120"/>
              </a:rPr>
              <a:t>52</a:t>
            </a:r>
            <a:endParaRPr lang="en-US" sz="1300" dirty="0"/>
          </a:p>
        </p:txBody>
      </p:sp>
      <p:sp>
        <p:nvSpPr>
          <p:cNvPr id="247" name="Shape 245"/>
          <p:cNvSpPr/>
          <p:nvPr/>
        </p:nvSpPr>
        <p:spPr>
          <a:xfrm>
            <a:off x="457200" y="6126480"/>
            <a:ext cx="11274552" cy="615696"/>
          </a:xfrm>
          <a:prstGeom prst="rect">
            <a:avLst/>
          </a:prstGeom>
          <a:solidFill>
            <a:srgbClr val="EDF4FA"/>
          </a:solidFill>
          <a:ln/>
        </p:spPr>
      </p:sp>
      <p:sp>
        <p:nvSpPr>
          <p:cNvPr id="248" name="Text 24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Maintenance is 54.3% of customer-pay labor, repair 30.5%, and 15.2% cannot be classified from its description (19.0% in 2025).</a:t>
            </a:r>
            <a:endParaRPr lang="en-US" sz="1600" dirty="0"/>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05582"/>
            <a:ext cx="55630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501518"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853100"/>
            <a:ext cx="356729"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076859"/>
            <a:ext cx="344102"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300618"/>
            <a:ext cx="199895"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524377"/>
            <a:ext cx="195635"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748136"/>
            <a:ext cx="16857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3971895"/>
            <a:ext cx="162760"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195654"/>
            <a:ext cx="12262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419414"/>
            <a:ext cx="108212"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643173"/>
            <a:ext cx="7639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4866932"/>
            <a:ext cx="74877"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090691"/>
            <a:ext cx="61548"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314450"/>
            <a:ext cx="54307"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538209"/>
            <a:ext cx="52492"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5761968"/>
            <a:ext cx="50035"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1823"/>
            <a:ext cx="31184"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12802"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29341"/>
            <a:ext cx="12802" cy="102929"/>
          </a:xfrm>
          <a:prstGeom prst="rect">
            <a:avLst/>
          </a:prstGeom>
          <a:solidFill>
            <a:srgbClr val="C2352F"/>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853100"/>
            <a:ext cx="13335"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076859"/>
            <a:ext cx="21011"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300618"/>
            <a:ext cx="21526"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524377"/>
            <a:ext cx="24380"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748136"/>
            <a:ext cx="3206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3971895"/>
            <a:ext cx="32373"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195654"/>
            <a:ext cx="37039"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419414"/>
            <a:ext cx="61262"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643173"/>
            <a:ext cx="112968"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4866932"/>
            <a:ext cx="11407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090691"/>
            <a:ext cx="126741"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314450"/>
            <a:ext cx="17338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538209"/>
            <a:ext cx="47491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CP ELR, led by Honda Spokane at +22.9% (+$27) to $144. 14 declined; Kia LV fell most at −19.1%.</a:t>
            </a:r>
            <a:endParaRPr lang="en-US" sz="1600" dirty="0"/>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77348"/>
            <a:ext cx="484632" cy="111880"/>
          </a:xfrm>
          <a:prstGeom prst="rect">
            <a:avLst/>
          </a:prstGeom>
          <a:solidFill>
            <a:srgbClr val="12A566"/>
          </a:solidFill>
          <a:ln/>
        </p:spPr>
      </p:sp>
      <p:sp>
        <p:nvSpPr>
          <p:cNvPr id="14" name="Text 12"/>
          <p:cNvSpPr txBox="1"/>
          <p:nvPr/>
        </p:nvSpPr>
        <p:spPr>
          <a:xfrm>
            <a:off x="3547872"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01107"/>
            <a:ext cx="383271" cy="111880"/>
          </a:xfrm>
          <a:prstGeom prst="rect">
            <a:avLst/>
          </a:prstGeom>
          <a:solidFill>
            <a:srgbClr val="12A566"/>
          </a:solidFill>
          <a:ln/>
        </p:spPr>
      </p:sp>
      <p:sp>
        <p:nvSpPr>
          <p:cNvPr id="20" name="Text 18"/>
          <p:cNvSpPr txBox="1"/>
          <p:nvPr/>
        </p:nvSpPr>
        <p:spPr>
          <a:xfrm>
            <a:off x="3547872"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24866"/>
            <a:ext cx="381242" cy="111880"/>
          </a:xfrm>
          <a:prstGeom prst="rect">
            <a:avLst/>
          </a:prstGeom>
          <a:solidFill>
            <a:srgbClr val="12A566"/>
          </a:solidFill>
          <a:ln/>
        </p:spPr>
      </p:sp>
      <p:sp>
        <p:nvSpPr>
          <p:cNvPr id="26" name="Text 24"/>
          <p:cNvSpPr txBox="1"/>
          <p:nvPr/>
        </p:nvSpPr>
        <p:spPr>
          <a:xfrm>
            <a:off x="3547872"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848625"/>
            <a:ext cx="379858" cy="111880"/>
          </a:xfrm>
          <a:prstGeom prst="rect">
            <a:avLst/>
          </a:prstGeom>
          <a:solidFill>
            <a:srgbClr val="12A566"/>
          </a:solidFill>
          <a:ln/>
        </p:spPr>
      </p:sp>
      <p:sp>
        <p:nvSpPr>
          <p:cNvPr id="32" name="Text 30"/>
          <p:cNvSpPr txBox="1"/>
          <p:nvPr/>
        </p:nvSpPr>
        <p:spPr>
          <a:xfrm>
            <a:off x="3547872"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072384"/>
            <a:ext cx="370257" cy="111880"/>
          </a:xfrm>
          <a:prstGeom prst="rect">
            <a:avLst/>
          </a:prstGeom>
          <a:solidFill>
            <a:srgbClr val="12A566"/>
          </a:solidFill>
          <a:ln/>
        </p:spPr>
      </p:sp>
      <p:sp>
        <p:nvSpPr>
          <p:cNvPr id="38" name="Text 36"/>
          <p:cNvSpPr txBox="1"/>
          <p:nvPr/>
        </p:nvSpPr>
        <p:spPr>
          <a:xfrm>
            <a:off x="3547872"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296143"/>
            <a:ext cx="356959" cy="111880"/>
          </a:xfrm>
          <a:prstGeom prst="rect">
            <a:avLst/>
          </a:prstGeom>
          <a:solidFill>
            <a:srgbClr val="12A566"/>
          </a:solidFill>
          <a:ln/>
        </p:spPr>
      </p:sp>
      <p:sp>
        <p:nvSpPr>
          <p:cNvPr id="44" name="Text 42"/>
          <p:cNvSpPr txBox="1"/>
          <p:nvPr/>
        </p:nvSpPr>
        <p:spPr>
          <a:xfrm>
            <a:off x="3547872"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519902"/>
            <a:ext cx="353507" cy="111880"/>
          </a:xfrm>
          <a:prstGeom prst="rect">
            <a:avLst/>
          </a:prstGeom>
          <a:solidFill>
            <a:srgbClr val="12A566"/>
          </a:solidFill>
          <a:ln/>
        </p:spPr>
      </p:sp>
      <p:sp>
        <p:nvSpPr>
          <p:cNvPr id="50" name="Text 48"/>
          <p:cNvSpPr txBox="1"/>
          <p:nvPr/>
        </p:nvSpPr>
        <p:spPr>
          <a:xfrm>
            <a:off x="3547872"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743661"/>
            <a:ext cx="325440" cy="111880"/>
          </a:xfrm>
          <a:prstGeom prst="rect">
            <a:avLst/>
          </a:prstGeom>
          <a:solidFill>
            <a:srgbClr val="12A566"/>
          </a:solidFill>
          <a:ln/>
        </p:spPr>
      </p:sp>
      <p:sp>
        <p:nvSpPr>
          <p:cNvPr id="56" name="Text 54"/>
          <p:cNvSpPr txBox="1"/>
          <p:nvPr/>
        </p:nvSpPr>
        <p:spPr>
          <a:xfrm>
            <a:off x="3547872"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3967420"/>
            <a:ext cx="316767" cy="111880"/>
          </a:xfrm>
          <a:prstGeom prst="rect">
            <a:avLst/>
          </a:prstGeom>
          <a:solidFill>
            <a:srgbClr val="12A566"/>
          </a:solidFill>
          <a:ln/>
        </p:spPr>
      </p:sp>
      <p:sp>
        <p:nvSpPr>
          <p:cNvPr id="62" name="Text 60"/>
          <p:cNvSpPr txBox="1"/>
          <p:nvPr/>
        </p:nvSpPr>
        <p:spPr>
          <a:xfrm>
            <a:off x="3547872"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191179"/>
            <a:ext cx="312801" cy="111880"/>
          </a:xfrm>
          <a:prstGeom prst="rect">
            <a:avLst/>
          </a:prstGeom>
          <a:solidFill>
            <a:srgbClr val="12A566"/>
          </a:solidFill>
          <a:ln/>
        </p:spPr>
      </p:sp>
      <p:sp>
        <p:nvSpPr>
          <p:cNvPr id="68" name="Text 66"/>
          <p:cNvSpPr txBox="1"/>
          <p:nvPr/>
        </p:nvSpPr>
        <p:spPr>
          <a:xfrm>
            <a:off x="3547872"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414938"/>
            <a:ext cx="304415" cy="111880"/>
          </a:xfrm>
          <a:prstGeom prst="rect">
            <a:avLst/>
          </a:prstGeom>
          <a:solidFill>
            <a:srgbClr val="12A566"/>
          </a:solidFill>
          <a:ln/>
        </p:spPr>
      </p:sp>
      <p:sp>
        <p:nvSpPr>
          <p:cNvPr id="74" name="Text 72"/>
          <p:cNvSpPr txBox="1"/>
          <p:nvPr/>
        </p:nvSpPr>
        <p:spPr>
          <a:xfrm>
            <a:off x="3547872"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638697"/>
            <a:ext cx="301632" cy="111880"/>
          </a:xfrm>
          <a:prstGeom prst="rect">
            <a:avLst/>
          </a:prstGeom>
          <a:solidFill>
            <a:srgbClr val="12A566"/>
          </a:solidFill>
          <a:ln/>
        </p:spPr>
      </p:sp>
      <p:sp>
        <p:nvSpPr>
          <p:cNvPr id="80" name="Text 78"/>
          <p:cNvSpPr txBox="1"/>
          <p:nvPr/>
        </p:nvSpPr>
        <p:spPr>
          <a:xfrm>
            <a:off x="3547872"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4862456"/>
            <a:ext cx="297217" cy="111880"/>
          </a:xfrm>
          <a:prstGeom prst="rect">
            <a:avLst/>
          </a:prstGeom>
          <a:solidFill>
            <a:srgbClr val="12A566"/>
          </a:solidFill>
          <a:ln/>
        </p:spPr>
      </p:sp>
      <p:sp>
        <p:nvSpPr>
          <p:cNvPr id="86" name="Text 84"/>
          <p:cNvSpPr txBox="1"/>
          <p:nvPr/>
        </p:nvSpPr>
        <p:spPr>
          <a:xfrm>
            <a:off x="3547872"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086216"/>
            <a:ext cx="297178" cy="111880"/>
          </a:xfrm>
          <a:prstGeom prst="rect">
            <a:avLst/>
          </a:prstGeom>
          <a:solidFill>
            <a:srgbClr val="12A566"/>
          </a:solidFill>
          <a:ln/>
        </p:spPr>
      </p:sp>
      <p:sp>
        <p:nvSpPr>
          <p:cNvPr id="92" name="Text 90"/>
          <p:cNvSpPr txBox="1"/>
          <p:nvPr/>
        </p:nvSpPr>
        <p:spPr>
          <a:xfrm>
            <a:off x="3547872"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309975"/>
            <a:ext cx="293912" cy="111880"/>
          </a:xfrm>
          <a:prstGeom prst="rect">
            <a:avLst/>
          </a:prstGeom>
          <a:solidFill>
            <a:srgbClr val="12A566"/>
          </a:solidFill>
          <a:ln/>
        </p:spPr>
      </p:sp>
      <p:sp>
        <p:nvSpPr>
          <p:cNvPr id="98" name="Text 96"/>
          <p:cNvSpPr txBox="1"/>
          <p:nvPr/>
        </p:nvSpPr>
        <p:spPr>
          <a:xfrm>
            <a:off x="3547872"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533734"/>
            <a:ext cx="280511" cy="111880"/>
          </a:xfrm>
          <a:prstGeom prst="rect">
            <a:avLst/>
          </a:prstGeom>
          <a:solidFill>
            <a:srgbClr val="12A566"/>
          </a:solidFill>
          <a:ln/>
        </p:spPr>
      </p:sp>
      <p:sp>
        <p:nvSpPr>
          <p:cNvPr id="104" name="Text 102"/>
          <p:cNvSpPr txBox="1"/>
          <p:nvPr/>
        </p:nvSpPr>
        <p:spPr>
          <a:xfrm>
            <a:off x="3547872"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5757493"/>
            <a:ext cx="278222" cy="111880"/>
          </a:xfrm>
          <a:prstGeom prst="rect">
            <a:avLst/>
          </a:prstGeom>
          <a:solidFill>
            <a:srgbClr val="12A566"/>
          </a:solidFill>
          <a:ln/>
        </p:spPr>
      </p:sp>
      <p:sp>
        <p:nvSpPr>
          <p:cNvPr id="110" name="Text 108"/>
          <p:cNvSpPr txBox="1"/>
          <p:nvPr/>
        </p:nvSpPr>
        <p:spPr>
          <a:xfrm>
            <a:off x="3547872"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570155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77348"/>
            <a:ext cx="270524" cy="111880"/>
          </a:xfrm>
          <a:prstGeom prst="rect">
            <a:avLst/>
          </a:prstGeom>
          <a:solidFill>
            <a:srgbClr val="12A566"/>
          </a:solidFill>
          <a:ln/>
        </p:spPr>
      </p:sp>
      <p:sp>
        <p:nvSpPr>
          <p:cNvPr id="116" name="Text 114"/>
          <p:cNvSpPr txBox="1"/>
          <p:nvPr/>
        </p:nvSpPr>
        <p:spPr>
          <a:xfrm>
            <a:off x="909828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01107"/>
            <a:ext cx="269235" cy="111880"/>
          </a:xfrm>
          <a:prstGeom prst="rect">
            <a:avLst/>
          </a:prstGeom>
          <a:solidFill>
            <a:srgbClr val="12A566"/>
          </a:solidFill>
          <a:ln/>
        </p:spPr>
      </p:sp>
      <p:sp>
        <p:nvSpPr>
          <p:cNvPr id="122" name="Text 120"/>
          <p:cNvSpPr txBox="1"/>
          <p:nvPr/>
        </p:nvSpPr>
        <p:spPr>
          <a:xfrm>
            <a:off x="909828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4516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24866"/>
            <a:ext cx="267891" cy="111880"/>
          </a:xfrm>
          <a:prstGeom prst="rect">
            <a:avLst/>
          </a:prstGeom>
          <a:solidFill>
            <a:srgbClr val="12A566"/>
          </a:solidFill>
          <a:ln/>
        </p:spPr>
      </p:sp>
      <p:sp>
        <p:nvSpPr>
          <p:cNvPr id="128" name="Text 126"/>
          <p:cNvSpPr txBox="1"/>
          <p:nvPr/>
        </p:nvSpPr>
        <p:spPr>
          <a:xfrm>
            <a:off x="909828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56892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848625"/>
            <a:ext cx="267180" cy="111880"/>
          </a:xfrm>
          <a:prstGeom prst="rect">
            <a:avLst/>
          </a:prstGeom>
          <a:solidFill>
            <a:srgbClr val="12A566"/>
          </a:solidFill>
          <a:ln/>
        </p:spPr>
      </p:sp>
      <p:sp>
        <p:nvSpPr>
          <p:cNvPr id="134" name="Text 132"/>
          <p:cNvSpPr txBox="1"/>
          <p:nvPr/>
        </p:nvSpPr>
        <p:spPr>
          <a:xfrm>
            <a:off x="909828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79268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072384"/>
            <a:ext cx="258698" cy="111880"/>
          </a:xfrm>
          <a:prstGeom prst="rect">
            <a:avLst/>
          </a:prstGeom>
          <a:solidFill>
            <a:srgbClr val="12A566"/>
          </a:solidFill>
          <a:ln/>
        </p:spPr>
      </p:sp>
      <p:sp>
        <p:nvSpPr>
          <p:cNvPr id="140" name="Text 138"/>
          <p:cNvSpPr txBox="1"/>
          <p:nvPr/>
        </p:nvSpPr>
        <p:spPr>
          <a:xfrm>
            <a:off x="909828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01644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296143"/>
            <a:ext cx="253061" cy="111880"/>
          </a:xfrm>
          <a:prstGeom prst="rect">
            <a:avLst/>
          </a:prstGeom>
          <a:solidFill>
            <a:srgbClr val="12A566"/>
          </a:solidFill>
          <a:ln/>
        </p:spPr>
      </p:sp>
      <p:sp>
        <p:nvSpPr>
          <p:cNvPr id="146" name="Text 144"/>
          <p:cNvSpPr txBox="1"/>
          <p:nvPr/>
        </p:nvSpPr>
        <p:spPr>
          <a:xfrm>
            <a:off x="909828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240203"/>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519902"/>
            <a:ext cx="247497" cy="111880"/>
          </a:xfrm>
          <a:prstGeom prst="rect">
            <a:avLst/>
          </a:prstGeom>
          <a:solidFill>
            <a:srgbClr val="12A566"/>
          </a:solidFill>
          <a:ln/>
        </p:spPr>
      </p:sp>
      <p:sp>
        <p:nvSpPr>
          <p:cNvPr id="152" name="Text 150"/>
          <p:cNvSpPr txBox="1"/>
          <p:nvPr/>
        </p:nvSpPr>
        <p:spPr>
          <a:xfrm>
            <a:off x="909828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463962"/>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743661"/>
            <a:ext cx="233966" cy="111880"/>
          </a:xfrm>
          <a:prstGeom prst="rect">
            <a:avLst/>
          </a:prstGeom>
          <a:solidFill>
            <a:srgbClr val="12A566"/>
          </a:solidFill>
          <a:ln/>
        </p:spPr>
      </p:sp>
      <p:sp>
        <p:nvSpPr>
          <p:cNvPr id="158" name="Text 156"/>
          <p:cNvSpPr txBox="1"/>
          <p:nvPr/>
        </p:nvSpPr>
        <p:spPr>
          <a:xfrm>
            <a:off x="909828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687721"/>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3967420"/>
            <a:ext cx="217907" cy="111880"/>
          </a:xfrm>
          <a:prstGeom prst="rect">
            <a:avLst/>
          </a:prstGeom>
          <a:solidFill>
            <a:srgbClr val="C2352F"/>
          </a:solidFill>
          <a:ln/>
        </p:spPr>
      </p:sp>
      <p:sp>
        <p:nvSpPr>
          <p:cNvPr id="164" name="Text 162"/>
          <p:cNvSpPr txBox="1"/>
          <p:nvPr/>
        </p:nvSpPr>
        <p:spPr>
          <a:xfrm>
            <a:off x="9098280"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391148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191179"/>
            <a:ext cx="215917" cy="111880"/>
          </a:xfrm>
          <a:prstGeom prst="rect">
            <a:avLst/>
          </a:prstGeom>
          <a:solidFill>
            <a:srgbClr val="C2352F"/>
          </a:solidFill>
          <a:ln/>
        </p:spPr>
      </p:sp>
      <p:sp>
        <p:nvSpPr>
          <p:cNvPr id="170" name="Text 168"/>
          <p:cNvSpPr txBox="1"/>
          <p:nvPr/>
        </p:nvSpPr>
        <p:spPr>
          <a:xfrm>
            <a:off x="9098280"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135240"/>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414938"/>
            <a:ext cx="210082" cy="111880"/>
          </a:xfrm>
          <a:prstGeom prst="rect">
            <a:avLst/>
          </a:prstGeom>
          <a:solidFill>
            <a:srgbClr val="C2352F"/>
          </a:solidFill>
          <a:ln/>
        </p:spPr>
      </p:sp>
      <p:sp>
        <p:nvSpPr>
          <p:cNvPr id="176" name="Text 174"/>
          <p:cNvSpPr txBox="1"/>
          <p:nvPr/>
        </p:nvSpPr>
        <p:spPr>
          <a:xfrm>
            <a:off x="9098280"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358999"/>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638697"/>
            <a:ext cx="204414" cy="111880"/>
          </a:xfrm>
          <a:prstGeom prst="rect">
            <a:avLst/>
          </a:prstGeom>
          <a:solidFill>
            <a:srgbClr val="C2352F"/>
          </a:solidFill>
          <a:ln/>
        </p:spPr>
      </p:sp>
      <p:sp>
        <p:nvSpPr>
          <p:cNvPr id="182" name="Text 180"/>
          <p:cNvSpPr txBox="1"/>
          <p:nvPr/>
        </p:nvSpPr>
        <p:spPr>
          <a:xfrm>
            <a:off x="9098280"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582758"/>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4862456"/>
            <a:ext cx="202819" cy="111880"/>
          </a:xfrm>
          <a:prstGeom prst="rect">
            <a:avLst/>
          </a:prstGeom>
          <a:solidFill>
            <a:srgbClr val="C2352F"/>
          </a:solidFill>
          <a:ln/>
        </p:spPr>
      </p:sp>
      <p:sp>
        <p:nvSpPr>
          <p:cNvPr id="188" name="Text 186"/>
          <p:cNvSpPr txBox="1"/>
          <p:nvPr/>
        </p:nvSpPr>
        <p:spPr>
          <a:xfrm>
            <a:off x="909828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4806517"/>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086216"/>
            <a:ext cx="191075" cy="111880"/>
          </a:xfrm>
          <a:prstGeom prst="rect">
            <a:avLst/>
          </a:prstGeom>
          <a:solidFill>
            <a:srgbClr val="C2352F"/>
          </a:solidFill>
          <a:ln/>
        </p:spPr>
      </p:sp>
      <p:sp>
        <p:nvSpPr>
          <p:cNvPr id="194" name="Text 192"/>
          <p:cNvSpPr txBox="1"/>
          <p:nvPr/>
        </p:nvSpPr>
        <p:spPr>
          <a:xfrm>
            <a:off x="909828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030276"/>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309975"/>
            <a:ext cx="189432" cy="111880"/>
          </a:xfrm>
          <a:prstGeom prst="rect">
            <a:avLst/>
          </a:prstGeom>
          <a:solidFill>
            <a:srgbClr val="C2352F"/>
          </a:solidFill>
          <a:ln/>
        </p:spPr>
      </p:sp>
      <p:sp>
        <p:nvSpPr>
          <p:cNvPr id="200" name="Text 198"/>
          <p:cNvSpPr txBox="1"/>
          <p:nvPr/>
        </p:nvSpPr>
        <p:spPr>
          <a:xfrm>
            <a:off x="909828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254035"/>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533734"/>
            <a:ext cx="164625" cy="111880"/>
          </a:xfrm>
          <a:prstGeom prst="rect">
            <a:avLst/>
          </a:prstGeom>
          <a:solidFill>
            <a:srgbClr val="C2352F"/>
          </a:solidFill>
          <a:ln/>
        </p:spPr>
      </p:sp>
      <p:sp>
        <p:nvSpPr>
          <p:cNvPr id="206" name="Text 204"/>
          <p:cNvSpPr txBox="1"/>
          <p:nvPr/>
        </p:nvSpPr>
        <p:spPr>
          <a:xfrm>
            <a:off x="909828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477794"/>
            <a:ext cx="786384"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3803904"/>
          </a:xfrm>
          <a:prstGeom prst="rect">
            <a:avLst/>
          </a:prstGeom>
          <a:solidFill>
            <a:srgbClr val="0B2C4A"/>
          </a:solidFill>
          <a:ln/>
        </p:spPr>
      </p:sp>
      <p:sp>
        <p:nvSpPr>
          <p:cNvPr id="216" name="Shape 214"/>
          <p:cNvSpPr/>
          <p:nvPr/>
        </p:nvSpPr>
        <p:spPr>
          <a:xfrm>
            <a:off x="8780434" y="2121408"/>
            <a:ext cx="14630" cy="3803904"/>
          </a:xfrm>
          <a:prstGeom prst="rect">
            <a:avLst/>
          </a:prstGeom>
          <a:solidFill>
            <a:srgbClr val="0B2C4A"/>
          </a:solidFill>
          <a:ln/>
        </p:spPr>
      </p:sp>
      <p:sp>
        <p:nvSpPr>
          <p:cNvPr id="217" name="Shape 215"/>
          <p:cNvSpPr/>
          <p:nvPr/>
        </p:nvSpPr>
        <p:spPr>
          <a:xfrm>
            <a:off x="6085332" y="2121408"/>
            <a:ext cx="10973" cy="3803904"/>
          </a:xfrm>
          <a:prstGeom prst="rect">
            <a:avLst/>
          </a:prstGeom>
          <a:solidFill>
            <a:srgbClr val="D9D9D9"/>
          </a:solidFill>
          <a:ln/>
        </p:spPr>
      </p:sp>
      <p:sp>
        <p:nvSpPr>
          <p:cNvPr id="218" name="Shape 216"/>
          <p:cNvSpPr/>
          <p:nvPr/>
        </p:nvSpPr>
        <p:spPr>
          <a:xfrm>
            <a:off x="457200" y="6126480"/>
            <a:ext cx="11274552" cy="341376"/>
          </a:xfrm>
          <a:prstGeom prst="rect">
            <a:avLst/>
          </a:prstGeom>
          <a:solidFill>
            <a:srgbClr val="EDF4FA"/>
          </a:solidFill>
          <a:ln/>
        </p:spPr>
      </p:sp>
      <p:sp>
        <p:nvSpPr>
          <p:cNvPr id="219" name="Text 21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Jul–Sep: 25 of 33 stores realize at least 70% of door rate; the group is at 74.7%. Cadillac is lowest at 61.5%.</a:t>
            </a:r>
            <a:endParaRPr lang="en-US" sz="1400" dirty="0"/>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613709"/>
            <a:ext cx="3489960" cy="755294"/>
          </a:xfrm>
          <a:prstGeom prst="rect">
            <a:avLst/>
          </a:prstGeom>
          <a:solidFill>
            <a:srgbClr val="F7F7F7"/>
          </a:solidFill>
          <a:ln/>
        </p:spPr>
      </p:sp>
      <p:sp>
        <p:nvSpPr>
          <p:cNvPr id="72" name="Shape 70"/>
          <p:cNvSpPr/>
          <p:nvPr/>
        </p:nvSpPr>
        <p:spPr>
          <a:xfrm>
            <a:off x="11466576" y="3650285"/>
            <a:ext cx="64008" cy="682142"/>
          </a:xfrm>
          <a:prstGeom prst="rect">
            <a:avLst/>
          </a:prstGeom>
          <a:solidFill>
            <a:srgbClr val="12A566"/>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Honda Spokane, Volvo and Lincoln what changed. Ask Kia LV, Subaru St George and Acura what got in the way. Ask VW St George, Audi Reno and Honda Spokane what they started this year.</a:t>
            </a:r>
            <a:endParaRPr lang="en-US" sz="1600" dirty="0"/>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CP Labor $ per RO?</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CP labor $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per RO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ELR</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Customer-pay labor sale divided by CP RO count. It combines how much we sell with what we collect for 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1.87 hours per RO  </a:t>
            </a:r>
            <a:pPr algn="ctr" indent="0" marL="0">
              <a:buNone/>
            </a:pPr>
            <a:r>
              <a:rPr lang="en-US" sz="1400" b="1" dirty="0">
                <a:solidFill>
                  <a:srgbClr val="0B2C4A"/>
                </a:solidFill>
                <a:latin typeface="Inter" pitchFamily="34" charset="0"/>
                <a:ea typeface="Inter" pitchFamily="34" charset="-122"/>
                <a:cs typeface="Inter" pitchFamily="34" charset="-120"/>
              </a:rPr>
              <a:t>× $162.42</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CP labor per RO  </a:t>
            </a:r>
            <a:pPr algn="ctr" indent="0" marL="0">
              <a:buNone/>
            </a:pPr>
            <a:r>
              <a:rPr lang="en-US" sz="1400" b="1" dirty="0">
                <a:solidFill>
                  <a:srgbClr val="0B2C4A"/>
                </a:solidFill>
                <a:latin typeface="Inter" pitchFamily="34" charset="0"/>
                <a:ea typeface="Inter" pitchFamily="34" charset="-122"/>
                <a:cs typeface="Inter" pitchFamily="34" charset="-120"/>
              </a:rPr>
              <a:t>$304</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Focus on CP labor dollars per RO and every other metric rises with it.</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With additional labor sales come additional parts sales.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single best metric to measure a service advisor's performance.</a:t>
            </a:r>
            <a:endParaRPr lang="en-US" sz="1500" dirty="0"/>
          </a:p>
        </p:txBody>
      </p:sp>
      <p:sp>
        <p:nvSpPr>
          <p:cNvPr id="18" name="Shape 16"/>
          <p:cNvSpPr/>
          <p:nvPr/>
        </p:nvSpPr>
        <p:spPr>
          <a:xfrm>
            <a:off x="5138928" y="3410712"/>
            <a:ext cx="45720" cy="1133856"/>
          </a:xfrm>
          <a:prstGeom prst="rect">
            <a:avLst/>
          </a:prstGeom>
          <a:solidFill>
            <a:srgbClr val="2587C5"/>
          </a:solidFill>
          <a:ln/>
        </p:spPr>
      </p:sp>
      <p:sp>
        <p:nvSpPr>
          <p:cNvPr id="19" name="Text 17"/>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Written process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Follow it on every car: a multi-point inspection every time</a:t>
            </a:r>
            <a:endParaRPr lang="en-US" sz="1400" dirty="0"/>
          </a:p>
        </p:txBody>
      </p:sp>
      <p:sp>
        <p:nvSpPr>
          <p:cNvPr id="20" name="Shape 18"/>
          <p:cNvSpPr/>
          <p:nvPr/>
        </p:nvSpPr>
        <p:spPr>
          <a:xfrm>
            <a:off x="8394192" y="3410712"/>
            <a:ext cx="45720" cy="1133856"/>
          </a:xfrm>
          <a:prstGeom prst="rect">
            <a:avLst/>
          </a:prstGeom>
          <a:solidFill>
            <a:srgbClr val="2587C5"/>
          </a:solidFill>
          <a:ln/>
        </p:spPr>
      </p:sp>
      <p:sp>
        <p:nvSpPr>
          <p:cNvPr id="21" name="Text 19"/>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Service menu</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the menu and its recommendations, consistently, every customer</a:t>
            </a:r>
            <a:endParaRPr lang="en-US" sz="1400" dirty="0"/>
          </a:p>
        </p:txBody>
      </p:sp>
      <p:sp>
        <p:nvSpPr>
          <p:cNvPr id="22" name="Shape 20"/>
          <p:cNvSpPr/>
          <p:nvPr/>
        </p:nvSpPr>
        <p:spPr>
          <a:xfrm>
            <a:off x="5138928" y="4654296"/>
            <a:ext cx="45720" cy="1133856"/>
          </a:xfrm>
          <a:prstGeom prst="rect">
            <a:avLst/>
          </a:prstGeom>
          <a:solidFill>
            <a:srgbClr val="2587C5"/>
          </a:solidFill>
          <a:ln/>
        </p:spPr>
      </p:sp>
      <p:sp>
        <p:nvSpPr>
          <p:cNvPr id="23" name="Text 21"/>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Pay plans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Reward advisors for CP labor sales and gross: what they control, and a true measure of their performance</a:t>
            </a:r>
            <a:endParaRPr lang="en-US" sz="1400" dirty="0"/>
          </a:p>
        </p:txBody>
      </p:sp>
      <p:sp>
        <p:nvSpPr>
          <p:cNvPr id="24" name="Shape 22"/>
          <p:cNvSpPr/>
          <p:nvPr/>
        </p:nvSpPr>
        <p:spPr>
          <a:xfrm>
            <a:off x="8394192" y="4654296"/>
            <a:ext cx="45720" cy="1133856"/>
          </a:xfrm>
          <a:prstGeom prst="rect">
            <a:avLst/>
          </a:prstGeom>
          <a:solidFill>
            <a:srgbClr val="2587C5"/>
          </a:solidFill>
          <a:ln/>
        </p:spPr>
      </p:sp>
      <p:sp>
        <p:nvSpPr>
          <p:cNvPr id="25" name="Text 23"/>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 and accountability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What gets tracked gets improved: accountability through visibility</a:t>
            </a:r>
            <a:endParaRPr lang="en-US" sz="1400" dirty="0"/>
          </a:p>
        </p:txBody>
      </p:sp>
      <p:sp>
        <p:nvSpPr>
          <p:cNvPr id="26" name="Shape 24"/>
          <p:cNvSpPr/>
          <p:nvPr/>
        </p:nvSpPr>
        <p:spPr>
          <a:xfrm>
            <a:off x="457200" y="6126480"/>
            <a:ext cx="11274552" cy="341376"/>
          </a:xfrm>
          <a:prstGeom prst="rect">
            <a:avLst/>
          </a:prstGeom>
          <a:solidFill>
            <a:srgbClr val="E6F6EE"/>
          </a:solidFill>
          <a:ln/>
        </p:spPr>
      </p:sp>
      <p:sp>
        <p:nvSpPr>
          <p:cNvPr id="27" name="Text 25"/>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7A4A"/>
                </a:solidFill>
                <a:latin typeface="Inter" pitchFamily="34" charset="0"/>
                <a:ea typeface="Inter" pitchFamily="34" charset="-122"/>
                <a:cs typeface="Inter" pitchFamily="34" charset="-120"/>
              </a:rPr>
              <a:t>Group: $304 CP labor per RO, up $17. With ROs flat, the $4,899,376 labor gain came from selling more per visit.</a:t>
            </a:r>
            <a:endParaRPr lang="en-US" sz="1400" dirty="0"/>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05582"/>
            <a:ext cx="53784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29341"/>
            <a:ext cx="537157"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853100"/>
            <a:ext cx="432510"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076859"/>
            <a:ext cx="421457"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300618"/>
            <a:ext cx="37969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524377"/>
            <a:ext cx="361059"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748136"/>
            <a:ext cx="330020"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3971895"/>
            <a:ext cx="251993"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195654"/>
            <a:ext cx="210266"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419414"/>
            <a:ext cx="18764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643173"/>
            <a:ext cx="183327"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4866932"/>
            <a:ext cx="139903"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090691"/>
            <a:ext cx="13760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314450"/>
            <a:ext cx="136628"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538209"/>
            <a:ext cx="12643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5761968"/>
            <a:ext cx="118840"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1823"/>
            <a:ext cx="111647"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05582"/>
            <a:ext cx="9393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29341"/>
            <a:ext cx="67189"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853100"/>
            <a:ext cx="63361" cy="102929"/>
          </a:xfrm>
          <a:prstGeom prst="rect">
            <a:avLst/>
          </a:prstGeom>
          <a:solidFill>
            <a:srgbClr val="12A566"/>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076859"/>
            <a:ext cx="45988" cy="102929"/>
          </a:xfrm>
          <a:prstGeom prst="rect">
            <a:avLst/>
          </a:prstGeom>
          <a:solidFill>
            <a:srgbClr val="12A566"/>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300618"/>
            <a:ext cx="38683" cy="102929"/>
          </a:xfrm>
          <a:prstGeom prst="rect">
            <a:avLst/>
          </a:prstGeom>
          <a:solidFill>
            <a:srgbClr val="12A566"/>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524377"/>
            <a:ext cx="36503" cy="102929"/>
          </a:xfrm>
          <a:prstGeom prst="rect">
            <a:avLst/>
          </a:prstGeom>
          <a:solidFill>
            <a:srgbClr val="12A566"/>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748136"/>
            <a:ext cx="21613" cy="102929"/>
          </a:xfrm>
          <a:prstGeom prst="rect">
            <a:avLst/>
          </a:prstGeom>
          <a:solidFill>
            <a:srgbClr val="12A566"/>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3971895"/>
            <a:ext cx="16585" cy="102929"/>
          </a:xfrm>
          <a:prstGeom prst="rect">
            <a:avLst/>
          </a:prstGeom>
          <a:solidFill>
            <a:srgbClr val="12A566"/>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195654"/>
            <a:ext cx="25323"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419414"/>
            <a:ext cx="30959"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643173"/>
            <a:ext cx="41521"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4866932"/>
            <a:ext cx="46294"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090691"/>
            <a:ext cx="57790"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314450"/>
            <a:ext cx="100984"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538209"/>
            <a:ext cx="205953"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26 of 33 stores grew CP labor per RO, led by Hyundai St George at +38.4% (+$66) to $238. 7 declined; VW St George fell most at −13.8%.</a:t>
            </a:r>
            <a:endParaRPr lang="en-US" sz="1600" dirty="0"/>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405579"/>
            <a:ext cx="64008" cy="682142"/>
          </a:xfrm>
          <a:prstGeom prst="rect">
            <a:avLst/>
          </a:prstGeom>
          <a:solidFill>
            <a:srgbClr val="12A566"/>
          </a:solidFill>
          <a:ln/>
        </p:spPr>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Text 27"/>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755294"/>
          </a:xfrm>
          <a:prstGeom prst="rect">
            <a:avLst/>
          </a:prstGeom>
          <a:solidFill>
            <a:srgbClr val="F7F7F7"/>
          </a:solidFill>
          <a:ln/>
        </p:spPr>
      </p:sp>
      <p:sp>
        <p:nvSpPr>
          <p:cNvPr id="37" name="Text 35"/>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613709"/>
            <a:ext cx="3489960" cy="755294"/>
          </a:xfrm>
          <a:prstGeom prst="rect">
            <a:avLst/>
          </a:prstGeom>
          <a:solidFill>
            <a:srgbClr val="F7F7F7"/>
          </a:solidFill>
          <a:ln/>
        </p:spPr>
      </p:sp>
      <p:sp>
        <p:nvSpPr>
          <p:cNvPr id="46" name="Text 44"/>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124298"/>
            <a:ext cx="3489960" cy="755294"/>
          </a:xfrm>
          <a:prstGeom prst="rect">
            <a:avLst/>
          </a:prstGeom>
          <a:solidFill>
            <a:srgbClr val="F7F7F7"/>
          </a:solidFill>
          <a:ln/>
        </p:spPr>
      </p:sp>
      <p:sp>
        <p:nvSpPr>
          <p:cNvPr id="55" name="Text 5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755294"/>
          </a:xfrm>
          <a:prstGeom prst="rect">
            <a:avLst/>
          </a:prstGeom>
          <a:solidFill>
            <a:srgbClr val="F7F7F7"/>
          </a:solidFill>
          <a:ln/>
        </p:spPr>
      </p:sp>
      <p:sp>
        <p:nvSpPr>
          <p:cNvPr id="63" name="Text 6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894990"/>
            <a:ext cx="64008" cy="682142"/>
          </a:xfrm>
          <a:prstGeom prst="rect">
            <a:avLst/>
          </a:prstGeom>
          <a:solidFill>
            <a:srgbClr val="12A566"/>
          </a:solidFill>
          <a:ln/>
        </p:spPr>
      </p:sp>
      <p:sp>
        <p:nvSpPr>
          <p:cNvPr id="68" name="Text 6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613709"/>
            <a:ext cx="3489960" cy="755294"/>
          </a:xfrm>
          <a:prstGeom prst="rect">
            <a:avLst/>
          </a:prstGeom>
          <a:solidFill>
            <a:srgbClr val="F7F7F7"/>
          </a:solidFill>
          <a:ln/>
        </p:spPr>
      </p:sp>
      <p:sp>
        <p:nvSpPr>
          <p:cNvPr id="73" name="Text 7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124298"/>
            <a:ext cx="3489960" cy="755294"/>
          </a:xfrm>
          <a:prstGeom prst="rect">
            <a:avLst/>
          </a:prstGeom>
          <a:solidFill>
            <a:srgbClr val="F7F7F7"/>
          </a:solidFill>
          <a:ln/>
        </p:spPr>
      </p:sp>
      <p:sp>
        <p:nvSpPr>
          <p:cNvPr id="82" name="Text 8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6" name="Shape 84"/>
          <p:cNvSpPr/>
          <p:nvPr/>
        </p:nvSpPr>
        <p:spPr>
          <a:xfrm>
            <a:off x="457200" y="6126480"/>
            <a:ext cx="11274552" cy="615696"/>
          </a:xfrm>
          <a:prstGeom prst="rect">
            <a:avLst/>
          </a:prstGeom>
          <a:solidFill>
            <a:srgbClr val="EDF4FA"/>
          </a:solidFill>
          <a:ln/>
        </p:spPr>
      </p:sp>
      <p:sp>
        <p:nvSpPr>
          <p:cNvPr id="87" name="Text 8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Lincoln and Subaru Prescott what changed. Ask VW St George, LR Reno and Kia LV what got in the way. Ask Mazda, Kia St George and Hyundai Prescott what they started this year.</a:t>
            </a:r>
            <a:endParaRPr lang="en-US" sz="1600" dirty="0"/>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Labor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Labor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tech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labor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labor dollar we keep after paying the technician.</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ONE HOUR SOLD</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 1 hour at  </a:t>
            </a:r>
            <a:pPr algn="ctr" indent="0" marL="0">
              <a:buNone/>
            </a:pPr>
            <a:r>
              <a:rPr lang="en-US" sz="1400" b="1" dirty="0">
                <a:solidFill>
                  <a:srgbClr val="0B2C4A"/>
                </a:solidFill>
                <a:latin typeface="Inter" pitchFamily="34" charset="0"/>
                <a:ea typeface="Inter" pitchFamily="34" charset="-122"/>
                <a:cs typeface="Inter" pitchFamily="34" charset="-120"/>
              </a:rPr>
              <a:t>$162</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Pay the tech  </a:t>
            </a:r>
            <a:pPr algn="ctr" indent="0" marL="0">
              <a:buNone/>
            </a:pPr>
            <a:r>
              <a:rPr lang="en-US" sz="1400" b="1" dirty="0">
                <a:solidFill>
                  <a:srgbClr val="0B2C4A"/>
                </a:solidFill>
                <a:latin typeface="Inter" pitchFamily="34" charset="0"/>
                <a:ea typeface="Inter" pitchFamily="34" charset="-122"/>
                <a:cs typeface="Inter" pitchFamily="34" charset="-120"/>
              </a:rPr>
              <a:t>$31</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We keep  </a:t>
            </a:r>
            <a:pPr algn="ctr" indent="0" marL="0">
              <a:buNone/>
            </a:pPr>
            <a:r>
              <a:rPr lang="en-US" sz="1400" b="1" dirty="0">
                <a:solidFill>
                  <a:srgbClr val="0B2C4A"/>
                </a:solidFill>
                <a:latin typeface="Inter" pitchFamily="34" charset="0"/>
                <a:ea typeface="Inter" pitchFamily="34" charset="-122"/>
                <a:cs typeface="Inter" pitchFamily="34" charset="-120"/>
              </a:rPr>
              <a:t>$131</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$131 ÷ $162  </a:t>
            </a:r>
            <a:pPr algn="ctr" indent="0" marL="0">
              <a:buNone/>
            </a:pPr>
            <a:r>
              <a:rPr lang="en-US" sz="1400" b="1" dirty="0">
                <a:solidFill>
                  <a:srgbClr val="0B2C4A"/>
                </a:solidFill>
                <a:latin typeface="Inter" pitchFamily="34" charset="0"/>
                <a:ea typeface="Inter" pitchFamily="34" charset="-122"/>
                <a:cs typeface="Inter" pitchFamily="34" charset="-120"/>
              </a:rPr>
              <a:t>81%</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 target range is 78% to 80%: not too high, not too low. Hold it by matching the tech to the work, not by squeezing tech pay.</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low means our labor price is too low for what we pay the tech, or tech cost is too high for what we charge.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Too high can mean techs are underpaid on the work they do, which costs us techs.</a:t>
            </a:r>
            <a:endParaRPr lang="en-US" sz="1500" dirty="0"/>
          </a:p>
        </p:txBody>
      </p:sp>
      <p:sp>
        <p:nvSpPr>
          <p:cNvPr id="22" name="Shape 20"/>
          <p:cNvSpPr/>
          <p:nvPr/>
        </p:nvSpPr>
        <p:spPr>
          <a:xfrm>
            <a:off x="5138928" y="3410712"/>
            <a:ext cx="45720" cy="1133856"/>
          </a:xfrm>
          <a:prstGeom prst="rect">
            <a:avLst/>
          </a:prstGeom>
          <a:solidFill>
            <a:srgbClr val="2587C5"/>
          </a:solidFill>
          <a:ln/>
        </p:spPr>
      </p:sp>
      <p:sp>
        <p:nvSpPr>
          <p:cNvPr id="23" name="Text 21"/>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Effective labor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Same tech cost, higher ELR = higher margin</a:t>
            </a:r>
            <a:endParaRPr lang="en-US" sz="1400" dirty="0"/>
          </a:p>
        </p:txBody>
      </p:sp>
      <p:sp>
        <p:nvSpPr>
          <p:cNvPr id="24" name="Shape 22"/>
          <p:cNvSpPr/>
          <p:nvPr/>
        </p:nvSpPr>
        <p:spPr>
          <a:xfrm>
            <a:off x="7309104" y="3410712"/>
            <a:ext cx="45720" cy="1133856"/>
          </a:xfrm>
          <a:prstGeom prst="rect">
            <a:avLst/>
          </a:prstGeom>
          <a:solidFill>
            <a:srgbClr val="2587C5"/>
          </a:solidFill>
          <a:ln/>
        </p:spPr>
      </p:sp>
      <p:sp>
        <p:nvSpPr>
          <p:cNvPr id="25" name="Text 23"/>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 pay rate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Flat-rate pay per hour against the rate we sell</a:t>
            </a:r>
            <a:endParaRPr lang="en-US" sz="1400" dirty="0"/>
          </a:p>
        </p:txBody>
      </p:sp>
      <p:sp>
        <p:nvSpPr>
          <p:cNvPr id="26" name="Shape 24"/>
          <p:cNvSpPr/>
          <p:nvPr/>
        </p:nvSpPr>
        <p:spPr>
          <a:xfrm>
            <a:off x="9479280" y="3410712"/>
            <a:ext cx="45720" cy="1133856"/>
          </a:xfrm>
          <a:prstGeom prst="rect">
            <a:avLst/>
          </a:prstGeom>
          <a:solidFill>
            <a:srgbClr val="2587C5"/>
          </a:solidFill>
          <a:ln/>
        </p:spPr>
      </p:sp>
      <p:sp>
        <p:nvSpPr>
          <p:cNvPr id="27" name="Text 25"/>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Right tech, right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Skill-code costing: don't pay a master-tech rate on an oil change</a:t>
            </a:r>
            <a:endParaRPr lang="en-US" sz="1400" dirty="0"/>
          </a:p>
        </p:txBody>
      </p:sp>
      <p:sp>
        <p:nvSpPr>
          <p:cNvPr id="28" name="Shape 26"/>
          <p:cNvSpPr/>
          <p:nvPr/>
        </p:nvSpPr>
        <p:spPr>
          <a:xfrm>
            <a:off x="5138928" y="4654296"/>
            <a:ext cx="45720" cy="1133856"/>
          </a:xfrm>
          <a:prstGeom prst="rect">
            <a:avLst/>
          </a:prstGeom>
          <a:solidFill>
            <a:srgbClr val="2587C5"/>
          </a:solidFill>
          <a:ln/>
        </p:spPr>
      </p:sp>
      <p:sp>
        <p:nvSpPr>
          <p:cNvPr id="29" name="Text 27"/>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Type of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Maintenance runs a lower margin than repair at full door rate</a:t>
            </a:r>
            <a:endParaRPr lang="en-US" sz="1400" dirty="0"/>
          </a:p>
        </p:txBody>
      </p:sp>
      <p:sp>
        <p:nvSpPr>
          <p:cNvPr id="30" name="Shape 28"/>
          <p:cNvSpPr/>
          <p:nvPr/>
        </p:nvSpPr>
        <p:spPr>
          <a:xfrm>
            <a:off x="7309104" y="4654296"/>
            <a:ext cx="45720" cy="1133856"/>
          </a:xfrm>
          <a:prstGeom prst="rect">
            <a:avLst/>
          </a:prstGeom>
          <a:solidFill>
            <a:srgbClr val="2587C5"/>
          </a:solidFill>
          <a:ln/>
        </p:spPr>
      </p:sp>
      <p:sp>
        <p:nvSpPr>
          <p:cNvPr id="31" name="Text 29"/>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Low-rate work</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Internal detail and other low-dollar-per-hour work pull the margin down</a:t>
            </a:r>
            <a:endParaRPr lang="en-US" sz="1400" dirty="0"/>
          </a:p>
        </p:txBody>
      </p:sp>
      <p:sp>
        <p:nvSpPr>
          <p:cNvPr id="32" name="Shape 30"/>
          <p:cNvSpPr/>
          <p:nvPr/>
        </p:nvSpPr>
        <p:spPr>
          <a:xfrm>
            <a:off x="9479280" y="4654296"/>
            <a:ext cx="45720" cy="1133856"/>
          </a:xfrm>
          <a:prstGeom prst="rect">
            <a:avLst/>
          </a:prstGeom>
          <a:solidFill>
            <a:srgbClr val="2587C5"/>
          </a:solidFill>
          <a:ln/>
        </p:spPr>
      </p:sp>
      <p:sp>
        <p:nvSpPr>
          <p:cNvPr id="33" name="Text 31"/>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it and keep controls in place</a:t>
            </a:r>
            <a:endParaRPr lang="en-US" sz="1400" dirty="0"/>
          </a:p>
        </p:txBody>
      </p:sp>
      <p:sp>
        <p:nvSpPr>
          <p:cNvPr id="34" name="Shape 32"/>
          <p:cNvSpPr/>
          <p:nvPr/>
        </p:nvSpPr>
        <p:spPr>
          <a:xfrm>
            <a:off x="457200" y="6126480"/>
            <a:ext cx="11274552" cy="371856"/>
          </a:xfrm>
          <a:prstGeom prst="rect">
            <a:avLst/>
          </a:prstGeom>
          <a:solidFill>
            <a:srgbClr val="EDF4FA"/>
          </a:solidFill>
          <a:ln/>
        </p:spPr>
      </p:sp>
      <p:sp>
        <p:nvSpPr>
          <p:cNvPr id="35" name="Text 3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80.8% CP labor gross profit, down 0.1 pts and just above the 78-80% target range.</a:t>
            </a:r>
            <a:endParaRPr lang="en-US" sz="1600" dirty="0"/>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graphicFrame>
        <p:nvGraphicFramePr>
          <p:cNvPr id="23" name="Chart 6" descr=""/>
          <p:cNvGraphicFramePr/>
          <p:nvPr/>
        </p:nvGraphicFramePr>
        <p:xfrm>
          <a:off x="621792" y="3218688"/>
          <a:ext cx="10945368" cy="2679192"/>
        </p:xfrm>
        <a:graphic>
          <a:graphicData uri="http://schemas.openxmlformats.org/drawingml/2006/chart">
            <c:chart xmlns:c="http://schemas.openxmlformats.org/drawingml/2006/chart" r:id="rId8"/>
          </a:graphicData>
        </a:graphic>
      </p:graphicFrame>
      <p:graphicFrame>
        <p:nvGraphicFramePr>
          <p:cNvPr id="24" name="Chart 7" descr=""/>
          <p:cNvGraphicFramePr/>
          <p:nvPr/>
        </p:nvGraphicFramePr>
        <p:xfrm>
          <a:off x="621792" y="3218688"/>
          <a:ext cx="10945368" cy="2679192"/>
        </p:xfrm>
        <a:graphic>
          <a:graphicData uri="http://schemas.openxmlformats.org/drawingml/2006/chart">
            <c:chart xmlns:c="http://schemas.openxmlformats.org/drawingml/2006/chart" r:id="rId9"/>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5431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386853"/>
            <a:ext cx="153563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26748"/>
            <a:ext cx="147687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866644"/>
            <a:ext cx="1445114"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4449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346435"/>
            <a:ext cx="1435635"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586331"/>
            <a:ext cx="141324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3826226"/>
            <a:ext cx="138877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066122"/>
            <a:ext cx="1369844"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306017"/>
            <a:ext cx="135441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325994"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4785808"/>
            <a:ext cx="1299309"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025704"/>
            <a:ext cx="1172081"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265599"/>
            <a:ext cx="1154510"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505495"/>
            <a:ext cx="1151855"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50751"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07062"/>
            <a:ext cx="1147529"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114714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386853"/>
            <a:ext cx="1142346"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113099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866644"/>
            <a:ext cx="1110612"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106540"/>
            <a:ext cx="1103937"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346435"/>
            <a:ext cx="109937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586331"/>
            <a:ext cx="1097173"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10922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105462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306017"/>
            <a:ext cx="1021487"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926038"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83643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025704"/>
            <a:ext cx="81948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72221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05495"/>
            <a:ext cx="457124"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078224"/>
          </a:xfrm>
          <a:prstGeom prst="rect">
            <a:avLst/>
          </a:prstGeom>
          <a:solidFill>
            <a:srgbClr val="0B2C4A"/>
          </a:solidFill>
          <a:ln/>
        </p:spPr>
      </p:sp>
      <p:sp>
        <p:nvSpPr>
          <p:cNvPr id="144" name="Shape 142"/>
          <p:cNvSpPr/>
          <p:nvPr/>
        </p:nvSpPr>
        <p:spPr>
          <a:xfrm>
            <a:off x="978129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56616"/>
          </a:xfrm>
          <a:prstGeom prst="rect">
            <a:avLst/>
          </a:prstGeom>
          <a:solidFill>
            <a:srgbClr val="EDF4FA"/>
          </a:solidFill>
          <a:ln/>
        </p:spPr>
      </p:sp>
      <p:sp>
        <p:nvSpPr>
          <p:cNvPr id="147" name="Text 145"/>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13 of 33 stores at or above the 80.8% group, led by Volvo at 88.6%. Hyundai Prescott is lowest at 67.7%.</a:t>
            </a:r>
            <a:endParaRPr lang="en-US" sz="150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1860"/>
            <a:ext cx="691707"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67696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391651"/>
            <a:ext cx="441336"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0167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871442"/>
            <a:ext cx="221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111337"/>
            <a:ext cx="21543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872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591128"/>
            <a:ext cx="180791"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536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070920"/>
            <a:ext cx="142638"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117720"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550711"/>
            <a:ext cx="8396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4790606"/>
            <a:ext cx="5721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030502"/>
            <a:ext cx="571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270397"/>
            <a:ext cx="52024"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510293"/>
            <a:ext cx="45633"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5750188"/>
            <a:ext cx="32937"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1860"/>
            <a:ext cx="2918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51755"/>
            <a:ext cx="28495"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391651"/>
            <a:ext cx="174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631546"/>
            <a:ext cx="38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871442"/>
            <a:ext cx="51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111337"/>
            <a:ext cx="69237"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351233"/>
            <a:ext cx="11773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591128"/>
            <a:ext cx="159400"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3831024"/>
            <a:ext cx="211118"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070920"/>
            <a:ext cx="215676"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310815"/>
            <a:ext cx="22323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550711"/>
            <a:ext cx="29968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4790606"/>
            <a:ext cx="3023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030502"/>
            <a:ext cx="439122"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270397"/>
            <a:ext cx="701594"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 of 33 stores improved labor margin, led by Toyota Prescott at +4.6 pts to 78.5%. 13 declined; Hyundai Prescott fell most at −5.2 pts.</a:t>
            </a:r>
            <a:endParaRPr lang="en-US" sz="1600"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Shape 23"/>
          <p:cNvSpPr/>
          <p:nvPr/>
        </p:nvSpPr>
        <p:spPr>
          <a:xfrm>
            <a:off x="4084320" y="5160874"/>
            <a:ext cx="64008" cy="682142"/>
          </a:xfrm>
          <a:prstGeom prst="rect">
            <a:avLst/>
          </a:prstGeom>
          <a:solidFill>
            <a:srgbClr val="12A566"/>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894990"/>
            <a:ext cx="64008" cy="682142"/>
          </a:xfrm>
          <a:prstGeom prst="rect">
            <a:avLst/>
          </a:prstGeom>
          <a:solidFill>
            <a:srgbClr val="12A566"/>
          </a:solidFill>
          <a:ln/>
        </p:spPr>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
        <p:nvSpPr>
          <p:cNvPr id="73" name="Shape 71"/>
          <p:cNvSpPr/>
          <p:nvPr/>
        </p:nvSpPr>
        <p:spPr>
          <a:xfrm>
            <a:off x="457200" y="6126480"/>
            <a:ext cx="11274552" cy="600456"/>
          </a:xfrm>
          <a:prstGeom prst="rect">
            <a:avLst/>
          </a:prstGeom>
          <a:solidFill>
            <a:srgbClr val="EDF4FA"/>
          </a:solidFill>
          <a:ln/>
        </p:spPr>
      </p:sp>
      <p:sp>
        <p:nvSpPr>
          <p:cNvPr id="74" name="Text 72"/>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Toyota Prescott, Honda Spokane and VW St George what changed. Ask Hyundai Prescott, GMC Prescott and Audi Reno what got in the way. Ask Kia St George, Acura and Cadillac what they started this year.</a:t>
            </a:r>
            <a:endParaRPr lang="en-US" sz="1550" dirty="0"/>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Parts Gross Profit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Parts GP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parts cost)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parts sale</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share of each customer-pay parts dollar we keep after the cost of the part.</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The pricing matrix raises gross without selling one more part.</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Consistent pricing: the same part costs every customer the same.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CP parts pricing supports the warranty parts reimbursement rate.</a:t>
            </a:r>
            <a:endParaRPr lang="en-US" sz="1600" dirty="0"/>
          </a:p>
        </p:txBody>
      </p:sp>
      <p:sp>
        <p:nvSpPr>
          <p:cNvPr id="13" name="Shape 11"/>
          <p:cNvSpPr/>
          <p:nvPr/>
        </p:nvSpPr>
        <p:spPr>
          <a:xfrm>
            <a:off x="5138928" y="2843784"/>
            <a:ext cx="45720" cy="1121027"/>
          </a:xfrm>
          <a:prstGeom prst="rect">
            <a:avLst/>
          </a:prstGeom>
          <a:solidFill>
            <a:srgbClr val="2587C5"/>
          </a:solidFill>
          <a:ln/>
        </p:spPr>
      </p:sp>
      <p:sp>
        <p:nvSpPr>
          <p:cNvPr id="14" name="Text 12"/>
          <p:cNvSpPr txBox="1"/>
          <p:nvPr/>
        </p:nvSpPr>
        <p:spPr>
          <a:xfrm>
            <a:off x="5266944"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pricing matrix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Know how it is set up, make sure pricing follows the matrix setup, and review it against your gross goals</a:t>
            </a:r>
            <a:endParaRPr lang="en-US" sz="1400" dirty="0"/>
          </a:p>
        </p:txBody>
      </p:sp>
      <p:sp>
        <p:nvSpPr>
          <p:cNvPr id="15" name="Shape 13"/>
          <p:cNvSpPr/>
          <p:nvPr/>
        </p:nvSpPr>
        <p:spPr>
          <a:xfrm>
            <a:off x="8394192" y="2843784"/>
            <a:ext cx="45720" cy="1121027"/>
          </a:xfrm>
          <a:prstGeom prst="rect">
            <a:avLst/>
          </a:prstGeom>
          <a:solidFill>
            <a:srgbClr val="2587C5"/>
          </a:solidFill>
          <a:ln/>
        </p:spPr>
      </p:sp>
      <p:sp>
        <p:nvSpPr>
          <p:cNvPr id="16" name="Text 14"/>
          <p:cNvSpPr txBox="1"/>
          <p:nvPr/>
        </p:nvSpPr>
        <p:spPr>
          <a:xfrm>
            <a:off x="8522208" y="2843784"/>
            <a:ext cx="2962656" cy="1121027"/>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Discounts and overrides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Monitor discounts and manual price changes; keep safeguards in place</a:t>
            </a:r>
            <a:endParaRPr lang="en-US" sz="1400" dirty="0"/>
          </a:p>
        </p:txBody>
      </p:sp>
      <p:sp>
        <p:nvSpPr>
          <p:cNvPr id="17" name="Shape 15"/>
          <p:cNvSpPr/>
          <p:nvPr/>
        </p:nvSpPr>
        <p:spPr>
          <a:xfrm>
            <a:off x="5138928" y="4074539"/>
            <a:ext cx="45720" cy="801942"/>
          </a:xfrm>
          <a:prstGeom prst="rect">
            <a:avLst/>
          </a:prstGeom>
          <a:solidFill>
            <a:srgbClr val="2587C5"/>
          </a:solidFill>
          <a:ln/>
        </p:spPr>
      </p:sp>
      <p:sp>
        <p:nvSpPr>
          <p:cNvPr id="18" name="Text 16"/>
          <p:cNvSpPr txBox="1"/>
          <p:nvPr/>
        </p:nvSpPr>
        <p:spPr>
          <a:xfrm>
            <a:off x="5266944"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Stay competitive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Balance margin with price, especially on high-cost parts</a:t>
            </a:r>
            <a:endParaRPr lang="en-US" sz="1400" dirty="0"/>
          </a:p>
        </p:txBody>
      </p:sp>
      <p:sp>
        <p:nvSpPr>
          <p:cNvPr id="19" name="Shape 17"/>
          <p:cNvSpPr/>
          <p:nvPr/>
        </p:nvSpPr>
        <p:spPr>
          <a:xfrm>
            <a:off x="8394192" y="4074539"/>
            <a:ext cx="45720" cy="801942"/>
          </a:xfrm>
          <a:prstGeom prst="rect">
            <a:avLst/>
          </a:prstGeom>
          <a:solidFill>
            <a:srgbClr val="2587C5"/>
          </a:solidFill>
          <a:ln/>
        </p:spPr>
      </p:sp>
      <p:sp>
        <p:nvSpPr>
          <p:cNvPr id="20" name="Text 18"/>
          <p:cNvSpPr txBox="1"/>
          <p:nvPr/>
        </p:nvSpPr>
        <p:spPr>
          <a:xfrm>
            <a:off x="8522208" y="4074539"/>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Mix</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Tires and competitive items carry thinner margins</a:t>
            </a:r>
            <a:endParaRPr lang="en-US" sz="1400" dirty="0"/>
          </a:p>
        </p:txBody>
      </p:sp>
      <p:sp>
        <p:nvSpPr>
          <p:cNvPr id="21" name="Shape 19"/>
          <p:cNvSpPr/>
          <p:nvPr/>
        </p:nvSpPr>
        <p:spPr>
          <a:xfrm>
            <a:off x="5138928" y="4986210"/>
            <a:ext cx="45720" cy="801942"/>
          </a:xfrm>
          <a:prstGeom prst="rect">
            <a:avLst/>
          </a:prstGeom>
          <a:solidFill>
            <a:srgbClr val="2587C5"/>
          </a:solidFill>
          <a:ln/>
        </p:spPr>
      </p:sp>
      <p:sp>
        <p:nvSpPr>
          <p:cNvPr id="22" name="Text 20"/>
          <p:cNvSpPr txBox="1"/>
          <p:nvPr/>
        </p:nvSpPr>
        <p:spPr>
          <a:xfrm>
            <a:off x="5266944" y="4986210"/>
            <a:ext cx="2962656" cy="801942"/>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pricing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Bundled maintenance parts priced to protect margin</a:t>
            </a:r>
            <a:endParaRPr lang="en-US" sz="1400" dirty="0"/>
          </a:p>
        </p:txBody>
      </p:sp>
      <p:sp>
        <p:nvSpPr>
          <p:cNvPr id="23" name="Shape 21"/>
          <p:cNvSpPr/>
          <p:nvPr/>
        </p:nvSpPr>
        <p:spPr>
          <a:xfrm>
            <a:off x="457200" y="6126480"/>
            <a:ext cx="11274552" cy="371856"/>
          </a:xfrm>
          <a:prstGeom prst="rect">
            <a:avLst/>
          </a:prstGeom>
          <a:solidFill>
            <a:srgbClr val="E6F6EE"/>
          </a:solidFill>
          <a:ln/>
        </p:spPr>
      </p:sp>
      <p:sp>
        <p:nvSpPr>
          <p:cNvPr id="24"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40.7% CP parts gross profit, up 1.2 pts and ahead of 2025 in all nine months.</a:t>
            </a:r>
            <a:endParaRPr lang="en-US" sz="1600" dirty="0"/>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46957"/>
            <a:ext cx="154617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386853"/>
            <a:ext cx="141597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398122"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866644"/>
            <a:ext cx="1380211"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369862"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346435"/>
            <a:ext cx="130768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586331"/>
            <a:ext cx="1298606"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129442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066122"/>
            <a:ext cx="1271456"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306017"/>
            <a:ext cx="1251777"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545913"/>
            <a:ext cx="1245672"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123319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123287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265599"/>
            <a:ext cx="12034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118890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5745390"/>
            <a:ext cx="1188871"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1173558"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1128234"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386853"/>
            <a:ext cx="1079577"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26748"/>
            <a:ext cx="107183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866644"/>
            <a:ext cx="1067637"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106540"/>
            <a:ext cx="1016963"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346435"/>
            <a:ext cx="1011567"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855582"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84507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84362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306017"/>
            <a:ext cx="83846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545913"/>
            <a:ext cx="837243"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4785808"/>
            <a:ext cx="785861"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025704"/>
            <a:ext cx="749122"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265599"/>
            <a:ext cx="686949"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608467"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078224"/>
          </a:xfrm>
          <a:prstGeom prst="rect">
            <a:avLst/>
          </a:prstGeom>
          <a:solidFill>
            <a:srgbClr val="0B2C4A"/>
          </a:solidFill>
          <a:ln/>
        </p:spPr>
      </p:sp>
      <p:sp>
        <p:nvSpPr>
          <p:cNvPr id="144" name="Shape 142"/>
          <p:cNvSpPr/>
          <p:nvPr/>
        </p:nvSpPr>
        <p:spPr>
          <a:xfrm>
            <a:off x="965470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64236"/>
          </a:xfrm>
          <a:prstGeom prst="rect">
            <a:avLst/>
          </a:prstGeom>
          <a:solidFill>
            <a:srgbClr val="EDF4FA"/>
          </a:solidFill>
          <a:ln/>
        </p:spPr>
      </p:sp>
      <p:sp>
        <p:nvSpPr>
          <p:cNvPr id="147" name="Text 14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19 of 33 stores at or above the 40.7% group, led by Lexus at 49.0%. Audi Henderson is lowest at 33.6%.</a:t>
            </a:r>
            <a:endParaRPr lang="en-US" sz="1550" dirty="0"/>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51755"/>
            <a:ext cx="57313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391651"/>
            <a:ext cx="483678"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631546"/>
            <a:ext cx="420710"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871442"/>
            <a:ext cx="417523"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111337"/>
            <a:ext cx="39596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351233"/>
            <a:ext cx="371787"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591128"/>
            <a:ext cx="35362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3831024"/>
            <a:ext cx="313112"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28771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310815"/>
            <a:ext cx="2425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550711"/>
            <a:ext cx="227731"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21497"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030502"/>
            <a:ext cx="165406"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157298"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510293"/>
            <a:ext cx="13199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122499"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1860"/>
            <a:ext cx="12133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05056"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9732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631546"/>
            <a:ext cx="8666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871442"/>
            <a:ext cx="7544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111337"/>
            <a:ext cx="64416"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351233"/>
            <a:ext cx="63134"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591128"/>
            <a:ext cx="32600"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3831024"/>
            <a:ext cx="28643"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070920"/>
            <a:ext cx="2718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310815"/>
            <a:ext cx="12802" cy="110352"/>
          </a:xfrm>
          <a:prstGeom prst="rect">
            <a:avLst/>
          </a:prstGeom>
          <a:solidFill>
            <a:srgbClr val="12A566"/>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550711"/>
            <a:ext cx="1280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4790606"/>
            <a:ext cx="59812"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030502"/>
            <a:ext cx="63965"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270397"/>
            <a:ext cx="112695"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510293"/>
            <a:ext cx="27054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28 of 33 stores improved parts margin, led by Acura at +6.1 pts to 44.9%. 5 declined; Audi Henderson fell most at −2.1 pts.</a:t>
            </a:r>
            <a:endParaRPr lang="en-US" sz="1600" dirty="0"/>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Shape 51"/>
          <p:cNvSpPr/>
          <p:nvPr/>
        </p:nvSpPr>
        <p:spPr>
          <a:xfrm>
            <a:off x="11466576" y="2139696"/>
            <a:ext cx="64008" cy="682142"/>
          </a:xfrm>
          <a:prstGeom prst="rect">
            <a:avLst/>
          </a:prstGeom>
          <a:solidFill>
            <a:srgbClr val="12A566"/>
          </a:solidFill>
          <a:ln/>
        </p:spPr>
      </p:sp>
      <p:sp>
        <p:nvSpPr>
          <p:cNvPr id="54" name="Text 5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Nissan and Subaru Prescott what changed. Ask Audi Henderson, Toyota Spokane and Hyundai Prescott what got in the way. Ask Acura, VW St George and GMC Prescott what they started this year.</a:t>
            </a:r>
            <a:endParaRPr lang="en-US" sz="16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Road To The Sale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Every advisor, every customer: timely meet and greet at the vehicle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Walk-around with the customer: hood, tires and wipers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Review history and previously declined items</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Time and mileage recommendations from an accurate, available menu</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MPI mandate: every car, every time</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Consistency is key: trained, documented and actively managed</a:t>
            </a:r>
            <a:endParaRPr lang="en-US" sz="1600" dirty="0"/>
          </a:p>
          <a:p>
            <a:pPr marL="228600" indent="-228600">
              <a:spcAft>
                <a:spcPts val="800"/>
              </a:spcAft>
              <a:buSzPct val="100000"/>
              <a:buChar char="•"/>
            </a:pPr>
            <a:r>
              <a:rPr lang="en-US" sz="1600" dirty="0">
                <a:solidFill>
                  <a:srgbClr val="1A1A1A"/>
                </a:solidFill>
                <a:latin typeface="Inter" pitchFamily="34" charset="0"/>
                <a:ea typeface="Inter" pitchFamily="34" charset="-122"/>
                <a:cs typeface="Inter" pitchFamily="34" charset="-120"/>
              </a:rPr>
              <a:t>We produce hours. A service not recommended is an hour a technician never gets the chance to turn</a:t>
            </a:r>
            <a:endParaRPr lang="en-US" sz="16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Up in all four</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 balance, brake fluid and fuel service each rose 1.2-1.4 pts and beat 2025 every month.</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Balances short of the 15% benchmark. The group is at 8.3%.</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4,821</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Alignments short of 15%; the group is at 13.2%. Brake fluid is 0.7 pts from its 10%.</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every car gets the walk-around and the menu. The benchmarks are where that process lands.</a:t>
            </a:r>
            <a:endParaRPr lang="en-US" sz="1600" dirty="0"/>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Basic Maintenance Service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On-demand maintenance appointments: get cars in quickly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complete, comprehensive multi-point inspection on every visit, with the right recommendations at that time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Experienced eyes on every car: entry-level staff alone won't know what to look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A quick cleaning that misses the cavity starting to form is a disservice to the customer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More cars in the door is great, and we want both. Capitalize on the opportunities we already have</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Processes and policies that make it happen: every car, every time</a:t>
            </a:r>
            <a:endParaRPr lang="en-US" sz="1800" dirty="0"/>
          </a:p>
        </p:txBody>
      </p:sp>
      <p:sp>
        <p:nvSpPr>
          <p:cNvPr id="10" name="Shape 8"/>
          <p:cNvSpPr/>
          <p:nvPr/>
        </p:nvSpPr>
        <p:spPr>
          <a:xfrm>
            <a:off x="7269480" y="1920240"/>
            <a:ext cx="54864" cy="379476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54.3%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Maintenance share of customer-pay labor across the group; repair 30.5%. Depending on work mix, maintenance runs 25% to 75% of a store's service.</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capitalize on every maintenance visit: in quickly, inspected completely by someone who knows what to look for, and every finding recommended.</a:t>
            </a:r>
            <a:endParaRPr lang="en-US" sz="1600"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MPI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MPI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90.0%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81.3%</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 name="Shape 16"/>
          <p:cNvSpPr/>
          <p:nvPr/>
        </p:nvSpPr>
        <p:spPr>
          <a:xfrm>
            <a:off x="3008376" y="2401107"/>
            <a:ext cx="868680"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99.0%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3" name="Shape 21"/>
          <p:cNvSpPr/>
          <p:nvPr/>
        </p:nvSpPr>
        <p:spPr>
          <a:xfrm>
            <a:off x="3008376" y="2624866"/>
            <a:ext cx="861660"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8" name="Shape 26"/>
          <p:cNvSpPr/>
          <p:nvPr/>
        </p:nvSpPr>
        <p:spPr>
          <a:xfrm>
            <a:off x="3008376" y="2848625"/>
            <a:ext cx="859905"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3" name="Shape 31"/>
          <p:cNvSpPr/>
          <p:nvPr/>
        </p:nvSpPr>
        <p:spPr>
          <a:xfrm>
            <a:off x="3008376" y="3072384"/>
            <a:ext cx="851131"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296143"/>
            <a:ext cx="851131"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843234"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96.1%</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8" name="Shape 46"/>
          <p:cNvSpPr/>
          <p:nvPr/>
        </p:nvSpPr>
        <p:spPr>
          <a:xfrm>
            <a:off x="3008376" y="3743661"/>
            <a:ext cx="830949"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94.7%</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3967420"/>
            <a:ext cx="822175"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93.7%</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191179"/>
            <a:ext cx="817788"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93.2%</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3" name="Shape 61"/>
          <p:cNvSpPr/>
          <p:nvPr/>
        </p:nvSpPr>
        <p:spPr>
          <a:xfrm>
            <a:off x="3008376" y="4414938"/>
            <a:ext cx="805503"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91.8%</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8" name="Shape 66"/>
          <p:cNvSpPr/>
          <p:nvPr/>
        </p:nvSpPr>
        <p:spPr>
          <a:xfrm>
            <a:off x="3008376" y="4638697"/>
            <a:ext cx="80462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91.7%</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3" name="Shape 71"/>
          <p:cNvSpPr/>
          <p:nvPr/>
        </p:nvSpPr>
        <p:spPr>
          <a:xfrm>
            <a:off x="3008376" y="4862456"/>
            <a:ext cx="780935" cy="111880"/>
          </a:xfrm>
          <a:prstGeom prst="rect">
            <a:avLst/>
          </a:prstGeom>
          <a:solidFill>
            <a:srgbClr val="C2352F"/>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89.0%</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8" name="Shape 76"/>
          <p:cNvSpPr/>
          <p:nvPr/>
        </p:nvSpPr>
        <p:spPr>
          <a:xfrm>
            <a:off x="3008376" y="5086216"/>
            <a:ext cx="768650" cy="111880"/>
          </a:xfrm>
          <a:prstGeom prst="rect">
            <a:avLst/>
          </a:prstGeom>
          <a:solidFill>
            <a:srgbClr val="C2352F"/>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87.6%</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3" name="Shape 81"/>
          <p:cNvSpPr/>
          <p:nvPr/>
        </p:nvSpPr>
        <p:spPr>
          <a:xfrm>
            <a:off x="3008376" y="5309975"/>
            <a:ext cx="757243" cy="111880"/>
          </a:xfrm>
          <a:prstGeom prst="rect">
            <a:avLst/>
          </a:prstGeom>
          <a:solidFill>
            <a:srgbClr val="C2352F"/>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86.3%</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8" name="Shape 86"/>
          <p:cNvSpPr/>
          <p:nvPr/>
        </p:nvSpPr>
        <p:spPr>
          <a:xfrm>
            <a:off x="3008376" y="5533734"/>
            <a:ext cx="741449" cy="111880"/>
          </a:xfrm>
          <a:prstGeom prst="rect">
            <a:avLst/>
          </a:prstGeom>
          <a:solidFill>
            <a:srgbClr val="C2352F"/>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84.5%</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3" name="Shape 91"/>
          <p:cNvSpPr/>
          <p:nvPr/>
        </p:nvSpPr>
        <p:spPr>
          <a:xfrm>
            <a:off x="3008376" y="5757493"/>
            <a:ext cx="731797" cy="111880"/>
          </a:xfrm>
          <a:prstGeom prst="rect">
            <a:avLst/>
          </a:prstGeom>
          <a:solidFill>
            <a:srgbClr val="C2352F"/>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83.4%</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8" name="Shape 96"/>
          <p:cNvSpPr/>
          <p:nvPr/>
        </p:nvSpPr>
        <p:spPr>
          <a:xfrm>
            <a:off x="8558784" y="2177348"/>
            <a:ext cx="723900"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82.5%</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3" name="Shape 101"/>
          <p:cNvSpPr/>
          <p:nvPr/>
        </p:nvSpPr>
        <p:spPr>
          <a:xfrm>
            <a:off x="8558784" y="2401107"/>
            <a:ext cx="716880"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81.7%</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8" name="Shape 106"/>
          <p:cNvSpPr/>
          <p:nvPr/>
        </p:nvSpPr>
        <p:spPr>
          <a:xfrm>
            <a:off x="8558784" y="2624866"/>
            <a:ext cx="715125"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3" name="Shape 111"/>
          <p:cNvSpPr/>
          <p:nvPr/>
        </p:nvSpPr>
        <p:spPr>
          <a:xfrm>
            <a:off x="8558784" y="2848625"/>
            <a:ext cx="714248"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8" name="Shape 116"/>
          <p:cNvSpPr/>
          <p:nvPr/>
        </p:nvSpPr>
        <p:spPr>
          <a:xfrm>
            <a:off x="8558784" y="3072384"/>
            <a:ext cx="713371"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81.3%</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3" name="Shape 121"/>
          <p:cNvSpPr/>
          <p:nvPr/>
        </p:nvSpPr>
        <p:spPr>
          <a:xfrm>
            <a:off x="8558784" y="3296143"/>
            <a:ext cx="693189"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79.0%</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8" name="Shape 126"/>
          <p:cNvSpPr/>
          <p:nvPr/>
        </p:nvSpPr>
        <p:spPr>
          <a:xfrm>
            <a:off x="8558784" y="3519902"/>
            <a:ext cx="667743"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76.1%</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3" name="Shape 131"/>
          <p:cNvSpPr/>
          <p:nvPr/>
        </p:nvSpPr>
        <p:spPr>
          <a:xfrm>
            <a:off x="8558784" y="3743661"/>
            <a:ext cx="64054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73.0%</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8" name="Shape 136"/>
          <p:cNvSpPr/>
          <p:nvPr/>
        </p:nvSpPr>
        <p:spPr>
          <a:xfrm>
            <a:off x="8558784" y="3967420"/>
            <a:ext cx="624748"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43" name="Shape 141"/>
          <p:cNvSpPr/>
          <p:nvPr/>
        </p:nvSpPr>
        <p:spPr>
          <a:xfrm>
            <a:off x="8558784" y="4191179"/>
            <a:ext cx="62387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71.1%</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8" name="Shape 146"/>
          <p:cNvSpPr/>
          <p:nvPr/>
        </p:nvSpPr>
        <p:spPr>
          <a:xfrm>
            <a:off x="8558784" y="4414938"/>
            <a:ext cx="601056"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8558784" y="4638697"/>
            <a:ext cx="550164"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8" name="Shape 156"/>
          <p:cNvSpPr/>
          <p:nvPr/>
        </p:nvSpPr>
        <p:spPr>
          <a:xfrm>
            <a:off x="8558784" y="4862456"/>
            <a:ext cx="534370"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60.9%</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63" name="Shape 161"/>
          <p:cNvSpPr/>
          <p:nvPr/>
        </p:nvSpPr>
        <p:spPr>
          <a:xfrm>
            <a:off x="8558784" y="5086216"/>
            <a:ext cx="435217"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Service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68" name="Shape 166"/>
          <p:cNvSpPr/>
          <p:nvPr/>
        </p:nvSpPr>
        <p:spPr>
          <a:xfrm>
            <a:off x="8558784" y="5309975"/>
            <a:ext cx="400997"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45.7%</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3" name="Shape 171"/>
          <p:cNvSpPr/>
          <p:nvPr/>
        </p:nvSpPr>
        <p:spPr>
          <a:xfrm>
            <a:off x="8558784" y="5533734"/>
            <a:ext cx="355369"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40.5%</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790770" y="2121408"/>
            <a:ext cx="14630" cy="3803904"/>
          </a:xfrm>
          <a:prstGeom prst="rect">
            <a:avLst/>
          </a:prstGeom>
          <a:solidFill>
            <a:srgbClr val="0B2C4A"/>
          </a:solidFill>
          <a:ln/>
        </p:spPr>
      </p:sp>
      <p:sp>
        <p:nvSpPr>
          <p:cNvPr id="181" name="Shape 179"/>
          <p:cNvSpPr/>
          <p:nvPr/>
        </p:nvSpPr>
        <p:spPr>
          <a:xfrm>
            <a:off x="9341178"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DF4FA"/>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the 90.0% benchmark; the group is at 81.3%. LR Reno and VW Henderson lead at 99.0%; Cadillac is lowest at 40.5%.</a:t>
            </a:r>
            <a:endParaRPr lang="en-US" sz="16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Video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VIDEO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57.8%</a:t>
            </a:r>
            <a:endParaRPr lang="en-US" sz="2000" dirty="0"/>
          </a:p>
        </p:txBody>
      </p:sp>
      <p:sp>
        <p:nvSpPr>
          <p:cNvPr id="11" name="Text 9"/>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 name="Shape 11"/>
          <p:cNvSpPr/>
          <p:nvPr/>
        </p:nvSpPr>
        <p:spPr>
          <a:xfrm>
            <a:off x="3008376" y="2177348"/>
            <a:ext cx="868680" cy="111880"/>
          </a:xfrm>
          <a:prstGeom prst="rect">
            <a:avLst/>
          </a:prstGeom>
          <a:solidFill>
            <a:srgbClr val="12A566"/>
          </a:solidFill>
          <a:ln/>
        </p:spPr>
      </p:sp>
      <p:sp>
        <p:nvSpPr>
          <p:cNvPr id="14" name="Text 12"/>
          <p:cNvSpPr txBox="1"/>
          <p:nvPr/>
        </p:nvSpPr>
        <p:spPr>
          <a:xfrm>
            <a:off x="3931920" y="212140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96.0%</a:t>
            </a:r>
            <a:endParaRPr lang="en-US" sz="1200" dirty="0"/>
          </a:p>
        </p:txBody>
      </p:sp>
      <p:sp>
        <p:nvSpPr>
          <p:cNvPr id="15" name="Text 13"/>
          <p:cNvSpPr txBox="1"/>
          <p:nvPr/>
        </p:nvSpPr>
        <p:spPr>
          <a:xfrm>
            <a:off x="4608576"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16" name="Text 14"/>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8" name="Shape 16"/>
          <p:cNvSpPr/>
          <p:nvPr/>
        </p:nvSpPr>
        <p:spPr>
          <a:xfrm>
            <a:off x="3008376" y="2401107"/>
            <a:ext cx="832485" cy="111880"/>
          </a:xfrm>
          <a:prstGeom prst="rect">
            <a:avLst/>
          </a:prstGeom>
          <a:solidFill>
            <a:srgbClr val="12A566"/>
          </a:solidFill>
          <a:ln/>
        </p:spPr>
      </p:sp>
      <p:sp>
        <p:nvSpPr>
          <p:cNvPr id="19" name="Text 17"/>
          <p:cNvSpPr txBox="1"/>
          <p:nvPr/>
        </p:nvSpPr>
        <p:spPr>
          <a:xfrm>
            <a:off x="3931920" y="234516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92.0%</a:t>
            </a:r>
            <a:endParaRPr lang="en-US" sz="1200" dirty="0"/>
          </a:p>
        </p:txBody>
      </p:sp>
      <p:sp>
        <p:nvSpPr>
          <p:cNvPr id="20" name="Text 18"/>
          <p:cNvSpPr txBox="1"/>
          <p:nvPr/>
        </p:nvSpPr>
        <p:spPr>
          <a:xfrm>
            <a:off x="4608576"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21" name="Text 19"/>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3" name="Shape 21"/>
          <p:cNvSpPr/>
          <p:nvPr/>
        </p:nvSpPr>
        <p:spPr>
          <a:xfrm>
            <a:off x="3008376" y="2624866"/>
            <a:ext cx="825246" cy="111880"/>
          </a:xfrm>
          <a:prstGeom prst="rect">
            <a:avLst/>
          </a:prstGeom>
          <a:solidFill>
            <a:srgbClr val="12A566"/>
          </a:solidFill>
          <a:ln/>
        </p:spPr>
      </p:sp>
      <p:sp>
        <p:nvSpPr>
          <p:cNvPr id="24" name="Text 22"/>
          <p:cNvSpPr txBox="1"/>
          <p:nvPr/>
        </p:nvSpPr>
        <p:spPr>
          <a:xfrm>
            <a:off x="3931920" y="256892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25" name="Text 23"/>
          <p:cNvSpPr txBox="1"/>
          <p:nvPr/>
        </p:nvSpPr>
        <p:spPr>
          <a:xfrm>
            <a:off x="4608576"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8" name="Shape 26"/>
          <p:cNvSpPr/>
          <p:nvPr/>
        </p:nvSpPr>
        <p:spPr>
          <a:xfrm>
            <a:off x="3008376" y="2848625"/>
            <a:ext cx="805339" cy="111880"/>
          </a:xfrm>
          <a:prstGeom prst="rect">
            <a:avLst/>
          </a:prstGeom>
          <a:solidFill>
            <a:srgbClr val="12A566"/>
          </a:solidFill>
          <a:ln/>
        </p:spPr>
      </p:sp>
      <p:sp>
        <p:nvSpPr>
          <p:cNvPr id="29" name="Text 27"/>
          <p:cNvSpPr txBox="1"/>
          <p:nvPr/>
        </p:nvSpPr>
        <p:spPr>
          <a:xfrm>
            <a:off x="3931920" y="279268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0" name="Text 28"/>
          <p:cNvSpPr txBox="1"/>
          <p:nvPr/>
        </p:nvSpPr>
        <p:spPr>
          <a:xfrm>
            <a:off x="4608576"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072384"/>
            <a:ext cx="805339" cy="111880"/>
          </a:xfrm>
          <a:prstGeom prst="rect">
            <a:avLst/>
          </a:prstGeom>
          <a:solidFill>
            <a:srgbClr val="12A566"/>
          </a:solidFill>
          <a:ln/>
        </p:spPr>
      </p:sp>
      <p:sp>
        <p:nvSpPr>
          <p:cNvPr id="34" name="Text 32"/>
          <p:cNvSpPr txBox="1"/>
          <p:nvPr/>
        </p:nvSpPr>
        <p:spPr>
          <a:xfrm>
            <a:off x="3931920" y="301644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35" name="Text 33"/>
          <p:cNvSpPr txBox="1"/>
          <p:nvPr/>
        </p:nvSpPr>
        <p:spPr>
          <a:xfrm>
            <a:off x="4608576"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myKaarma</a:t>
            </a:r>
            <a:endParaRPr lang="en-US" sz="1200" dirty="0"/>
          </a:p>
        </p:txBody>
      </p:sp>
      <p:sp>
        <p:nvSpPr>
          <p:cNvPr id="36" name="Text 34"/>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8" name="Shape 36"/>
          <p:cNvSpPr/>
          <p:nvPr/>
        </p:nvSpPr>
        <p:spPr>
          <a:xfrm>
            <a:off x="3008376" y="3296143"/>
            <a:ext cx="805339" cy="111880"/>
          </a:xfrm>
          <a:prstGeom prst="rect">
            <a:avLst/>
          </a:prstGeom>
          <a:solidFill>
            <a:srgbClr val="12A566"/>
          </a:solidFill>
          <a:ln/>
        </p:spPr>
      </p:sp>
      <p:sp>
        <p:nvSpPr>
          <p:cNvPr id="39" name="Text 37"/>
          <p:cNvSpPr txBox="1"/>
          <p:nvPr/>
        </p:nvSpPr>
        <p:spPr>
          <a:xfrm>
            <a:off x="3931920" y="324020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40" name="Text 38"/>
          <p:cNvSpPr txBox="1"/>
          <p:nvPr/>
        </p:nvSpPr>
        <p:spPr>
          <a:xfrm>
            <a:off x="4608576"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1" name="Text 39"/>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3" name="Shape 41"/>
          <p:cNvSpPr/>
          <p:nvPr/>
        </p:nvSpPr>
        <p:spPr>
          <a:xfrm>
            <a:off x="3008376" y="3519902"/>
            <a:ext cx="786336" cy="111880"/>
          </a:xfrm>
          <a:prstGeom prst="rect">
            <a:avLst/>
          </a:prstGeom>
          <a:solidFill>
            <a:srgbClr val="12A566"/>
          </a:solidFill>
          <a:ln/>
        </p:spPr>
      </p:sp>
      <p:sp>
        <p:nvSpPr>
          <p:cNvPr id="44" name="Text 42"/>
          <p:cNvSpPr txBox="1"/>
          <p:nvPr/>
        </p:nvSpPr>
        <p:spPr>
          <a:xfrm>
            <a:off x="3931920" y="3463962"/>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86.9%</a:t>
            </a:r>
            <a:endParaRPr lang="en-US" sz="1200" dirty="0"/>
          </a:p>
        </p:txBody>
      </p:sp>
      <p:sp>
        <p:nvSpPr>
          <p:cNvPr id="45" name="Text 43"/>
          <p:cNvSpPr txBox="1"/>
          <p:nvPr/>
        </p:nvSpPr>
        <p:spPr>
          <a:xfrm>
            <a:off x="4608576"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46" name="Text 44"/>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8" name="Shape 46"/>
          <p:cNvSpPr/>
          <p:nvPr/>
        </p:nvSpPr>
        <p:spPr>
          <a:xfrm>
            <a:off x="3008376" y="3743661"/>
            <a:ext cx="773668" cy="111880"/>
          </a:xfrm>
          <a:prstGeom prst="rect">
            <a:avLst/>
          </a:prstGeom>
          <a:solidFill>
            <a:srgbClr val="12A566"/>
          </a:solidFill>
          <a:ln/>
        </p:spPr>
      </p:sp>
      <p:sp>
        <p:nvSpPr>
          <p:cNvPr id="49" name="Text 47"/>
          <p:cNvSpPr txBox="1"/>
          <p:nvPr/>
        </p:nvSpPr>
        <p:spPr>
          <a:xfrm>
            <a:off x="3931920" y="3687721"/>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85.5%</a:t>
            </a:r>
            <a:endParaRPr lang="en-US" sz="1200" dirty="0"/>
          </a:p>
        </p:txBody>
      </p:sp>
      <p:sp>
        <p:nvSpPr>
          <p:cNvPr id="50" name="Text 48"/>
          <p:cNvSpPr txBox="1"/>
          <p:nvPr/>
        </p:nvSpPr>
        <p:spPr>
          <a:xfrm>
            <a:off x="4608576"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1" name="Text 49"/>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3967420"/>
            <a:ext cx="740188" cy="111880"/>
          </a:xfrm>
          <a:prstGeom prst="rect">
            <a:avLst/>
          </a:prstGeom>
          <a:solidFill>
            <a:srgbClr val="12A566"/>
          </a:solidFill>
          <a:ln/>
        </p:spPr>
      </p:sp>
      <p:sp>
        <p:nvSpPr>
          <p:cNvPr id="54" name="Text 52"/>
          <p:cNvSpPr txBox="1"/>
          <p:nvPr/>
        </p:nvSpPr>
        <p:spPr>
          <a:xfrm>
            <a:off x="3931920" y="391148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81.8%</a:t>
            </a:r>
            <a:endParaRPr lang="en-US" sz="1200" dirty="0"/>
          </a:p>
        </p:txBody>
      </p:sp>
      <p:sp>
        <p:nvSpPr>
          <p:cNvPr id="55" name="Text 53"/>
          <p:cNvSpPr txBox="1"/>
          <p:nvPr/>
        </p:nvSpPr>
        <p:spPr>
          <a:xfrm>
            <a:off x="4608576"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191179"/>
            <a:ext cx="735663" cy="111880"/>
          </a:xfrm>
          <a:prstGeom prst="rect">
            <a:avLst/>
          </a:prstGeom>
          <a:solidFill>
            <a:srgbClr val="12A566"/>
          </a:solidFill>
          <a:ln/>
        </p:spPr>
      </p:sp>
      <p:sp>
        <p:nvSpPr>
          <p:cNvPr id="59" name="Text 57"/>
          <p:cNvSpPr txBox="1"/>
          <p:nvPr/>
        </p:nvSpPr>
        <p:spPr>
          <a:xfrm>
            <a:off x="3931920" y="4135240"/>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81.3%</a:t>
            </a:r>
            <a:endParaRPr lang="en-US" sz="1200" dirty="0"/>
          </a:p>
        </p:txBody>
      </p:sp>
      <p:sp>
        <p:nvSpPr>
          <p:cNvPr id="60" name="Text 58"/>
          <p:cNvSpPr txBox="1"/>
          <p:nvPr/>
        </p:nvSpPr>
        <p:spPr>
          <a:xfrm>
            <a:off x="4608576"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3" name="Shape 61"/>
          <p:cNvSpPr/>
          <p:nvPr/>
        </p:nvSpPr>
        <p:spPr>
          <a:xfrm>
            <a:off x="3008376" y="4414938"/>
            <a:ext cx="718471" cy="111880"/>
          </a:xfrm>
          <a:prstGeom prst="rect">
            <a:avLst/>
          </a:prstGeom>
          <a:solidFill>
            <a:srgbClr val="12A566"/>
          </a:solidFill>
          <a:ln/>
        </p:spPr>
      </p:sp>
      <p:sp>
        <p:nvSpPr>
          <p:cNvPr id="64" name="Text 62"/>
          <p:cNvSpPr txBox="1"/>
          <p:nvPr/>
        </p:nvSpPr>
        <p:spPr>
          <a:xfrm>
            <a:off x="3931920" y="4358999"/>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79.4%</a:t>
            </a:r>
            <a:endParaRPr lang="en-US" sz="1200" dirty="0"/>
          </a:p>
        </p:txBody>
      </p:sp>
      <p:sp>
        <p:nvSpPr>
          <p:cNvPr id="65" name="Text 63"/>
          <p:cNvSpPr txBox="1"/>
          <p:nvPr/>
        </p:nvSpPr>
        <p:spPr>
          <a:xfrm>
            <a:off x="4608576"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66" name="Text 64"/>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68" name="Shape 66"/>
          <p:cNvSpPr/>
          <p:nvPr/>
        </p:nvSpPr>
        <p:spPr>
          <a:xfrm>
            <a:off x="3008376" y="4638697"/>
            <a:ext cx="713946" cy="111880"/>
          </a:xfrm>
          <a:prstGeom prst="rect">
            <a:avLst/>
          </a:prstGeom>
          <a:solidFill>
            <a:srgbClr val="12A566"/>
          </a:solidFill>
          <a:ln/>
        </p:spPr>
      </p:sp>
      <p:sp>
        <p:nvSpPr>
          <p:cNvPr id="69" name="Text 67"/>
          <p:cNvSpPr txBox="1"/>
          <p:nvPr/>
        </p:nvSpPr>
        <p:spPr>
          <a:xfrm>
            <a:off x="3931920" y="4582758"/>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70" name="Text 68"/>
          <p:cNvSpPr txBox="1"/>
          <p:nvPr/>
        </p:nvSpPr>
        <p:spPr>
          <a:xfrm>
            <a:off x="4608576"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71" name="Text 69"/>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3" name="Shape 71"/>
          <p:cNvSpPr/>
          <p:nvPr/>
        </p:nvSpPr>
        <p:spPr>
          <a:xfrm>
            <a:off x="3008376" y="4862456"/>
            <a:ext cx="702183" cy="111880"/>
          </a:xfrm>
          <a:prstGeom prst="rect">
            <a:avLst/>
          </a:prstGeom>
          <a:solidFill>
            <a:srgbClr val="12A566"/>
          </a:solidFill>
          <a:ln/>
        </p:spPr>
      </p:sp>
      <p:sp>
        <p:nvSpPr>
          <p:cNvPr id="74" name="Text 72"/>
          <p:cNvSpPr txBox="1"/>
          <p:nvPr/>
        </p:nvSpPr>
        <p:spPr>
          <a:xfrm>
            <a:off x="3931920" y="4806517"/>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77.6%</a:t>
            </a:r>
            <a:endParaRPr lang="en-US" sz="1200" dirty="0"/>
          </a:p>
        </p:txBody>
      </p:sp>
      <p:sp>
        <p:nvSpPr>
          <p:cNvPr id="75" name="Text 73"/>
          <p:cNvSpPr txBox="1"/>
          <p:nvPr/>
        </p:nvSpPr>
        <p:spPr>
          <a:xfrm>
            <a:off x="4608576"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086216"/>
            <a:ext cx="668703" cy="111880"/>
          </a:xfrm>
          <a:prstGeom prst="rect">
            <a:avLst/>
          </a:prstGeom>
          <a:solidFill>
            <a:srgbClr val="12A566"/>
          </a:solidFill>
          <a:ln/>
        </p:spPr>
      </p:sp>
      <p:sp>
        <p:nvSpPr>
          <p:cNvPr id="79" name="Text 77"/>
          <p:cNvSpPr txBox="1"/>
          <p:nvPr/>
        </p:nvSpPr>
        <p:spPr>
          <a:xfrm>
            <a:off x="3931920" y="5030276"/>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73.9%</a:t>
            </a:r>
            <a:endParaRPr lang="en-US" sz="1200" dirty="0"/>
          </a:p>
        </p:txBody>
      </p:sp>
      <p:sp>
        <p:nvSpPr>
          <p:cNvPr id="80" name="Text 78"/>
          <p:cNvSpPr txBox="1"/>
          <p:nvPr/>
        </p:nvSpPr>
        <p:spPr>
          <a:xfrm>
            <a:off x="4608576"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3" name="Shape 81"/>
          <p:cNvSpPr/>
          <p:nvPr/>
        </p:nvSpPr>
        <p:spPr>
          <a:xfrm>
            <a:off x="3008376" y="5309975"/>
            <a:ext cx="637937" cy="111880"/>
          </a:xfrm>
          <a:prstGeom prst="rect">
            <a:avLst/>
          </a:prstGeom>
          <a:solidFill>
            <a:srgbClr val="12A566"/>
          </a:solidFill>
          <a:ln/>
        </p:spPr>
      </p:sp>
      <p:sp>
        <p:nvSpPr>
          <p:cNvPr id="84" name="Text 82"/>
          <p:cNvSpPr txBox="1"/>
          <p:nvPr/>
        </p:nvSpPr>
        <p:spPr>
          <a:xfrm>
            <a:off x="3931920" y="5254035"/>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70.5%</a:t>
            </a:r>
            <a:endParaRPr lang="en-US" sz="1200" dirty="0"/>
          </a:p>
        </p:txBody>
      </p:sp>
      <p:sp>
        <p:nvSpPr>
          <p:cNvPr id="85" name="Text 83"/>
          <p:cNvSpPr txBox="1"/>
          <p:nvPr/>
        </p:nvSpPr>
        <p:spPr>
          <a:xfrm>
            <a:off x="4608576"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8" name="Shape 86"/>
          <p:cNvSpPr/>
          <p:nvPr/>
        </p:nvSpPr>
        <p:spPr>
          <a:xfrm>
            <a:off x="3008376" y="5533734"/>
            <a:ext cx="606266" cy="111880"/>
          </a:xfrm>
          <a:prstGeom prst="rect">
            <a:avLst/>
          </a:prstGeom>
          <a:solidFill>
            <a:srgbClr val="12A566"/>
          </a:solidFill>
          <a:ln/>
        </p:spPr>
      </p:sp>
      <p:sp>
        <p:nvSpPr>
          <p:cNvPr id="89" name="Text 87"/>
          <p:cNvSpPr txBox="1"/>
          <p:nvPr/>
        </p:nvSpPr>
        <p:spPr>
          <a:xfrm>
            <a:off x="3931920" y="5477794"/>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67.0%</a:t>
            </a:r>
            <a:endParaRPr lang="en-US" sz="1200" dirty="0"/>
          </a:p>
        </p:txBody>
      </p:sp>
      <p:sp>
        <p:nvSpPr>
          <p:cNvPr id="90" name="Text 88"/>
          <p:cNvSpPr txBox="1"/>
          <p:nvPr/>
        </p:nvSpPr>
        <p:spPr>
          <a:xfrm>
            <a:off x="4608576"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91" name="Text 89"/>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3008376" y="5757493"/>
            <a:ext cx="602647" cy="111880"/>
          </a:xfrm>
          <a:prstGeom prst="rect">
            <a:avLst/>
          </a:prstGeom>
          <a:solidFill>
            <a:srgbClr val="12A566"/>
          </a:solidFill>
          <a:ln/>
        </p:spPr>
      </p:sp>
      <p:sp>
        <p:nvSpPr>
          <p:cNvPr id="94" name="Text 92"/>
          <p:cNvSpPr txBox="1"/>
          <p:nvPr/>
        </p:nvSpPr>
        <p:spPr>
          <a:xfrm>
            <a:off x="3931920" y="5701553"/>
            <a:ext cx="676656"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66.6%</a:t>
            </a:r>
            <a:endParaRPr lang="en-US" sz="1200" dirty="0"/>
          </a:p>
        </p:txBody>
      </p:sp>
      <p:sp>
        <p:nvSpPr>
          <p:cNvPr id="95" name="Text 93"/>
          <p:cNvSpPr txBox="1"/>
          <p:nvPr/>
        </p:nvSpPr>
        <p:spPr>
          <a:xfrm>
            <a:off x="4608576" y="570155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8" name="Shape 96"/>
          <p:cNvSpPr/>
          <p:nvPr/>
        </p:nvSpPr>
        <p:spPr>
          <a:xfrm>
            <a:off x="8558784" y="2177348"/>
            <a:ext cx="490442" cy="111880"/>
          </a:xfrm>
          <a:prstGeom prst="rect">
            <a:avLst/>
          </a:prstGeom>
          <a:solidFill>
            <a:srgbClr val="C2352F"/>
          </a:solidFill>
          <a:ln/>
        </p:spPr>
      </p:sp>
      <p:sp>
        <p:nvSpPr>
          <p:cNvPr id="99" name="Text 97"/>
          <p:cNvSpPr txBox="1"/>
          <p:nvPr/>
        </p:nvSpPr>
        <p:spPr>
          <a:xfrm>
            <a:off x="9482328" y="212140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54.2%</a:t>
            </a:r>
            <a:endParaRPr lang="en-US" sz="1200" dirty="0"/>
          </a:p>
        </p:txBody>
      </p:sp>
      <p:sp>
        <p:nvSpPr>
          <p:cNvPr id="100" name="Text 98"/>
          <p:cNvSpPr txBox="1"/>
          <p:nvPr/>
        </p:nvSpPr>
        <p:spPr>
          <a:xfrm>
            <a:off x="10158984" y="212140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01" name="Text 99"/>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3" name="Shape 101"/>
          <p:cNvSpPr/>
          <p:nvPr/>
        </p:nvSpPr>
        <p:spPr>
          <a:xfrm>
            <a:off x="8558784" y="2401107"/>
            <a:ext cx="480489" cy="111880"/>
          </a:xfrm>
          <a:prstGeom prst="rect">
            <a:avLst/>
          </a:prstGeom>
          <a:solidFill>
            <a:srgbClr val="C2352F"/>
          </a:solidFill>
          <a:ln/>
        </p:spPr>
      </p:sp>
      <p:sp>
        <p:nvSpPr>
          <p:cNvPr id="104" name="Text 102"/>
          <p:cNvSpPr txBox="1"/>
          <p:nvPr/>
        </p:nvSpPr>
        <p:spPr>
          <a:xfrm>
            <a:off x="9482328" y="234516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53.1%</a:t>
            </a:r>
            <a:endParaRPr lang="en-US" sz="1200" dirty="0"/>
          </a:p>
        </p:txBody>
      </p:sp>
      <p:sp>
        <p:nvSpPr>
          <p:cNvPr id="105" name="Text 103"/>
          <p:cNvSpPr txBox="1"/>
          <p:nvPr/>
        </p:nvSpPr>
        <p:spPr>
          <a:xfrm>
            <a:off x="10158984" y="234516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8" name="Shape 106"/>
          <p:cNvSpPr/>
          <p:nvPr/>
        </p:nvSpPr>
        <p:spPr>
          <a:xfrm>
            <a:off x="8558784" y="2624866"/>
            <a:ext cx="475059" cy="111880"/>
          </a:xfrm>
          <a:prstGeom prst="rect">
            <a:avLst/>
          </a:prstGeom>
          <a:solidFill>
            <a:srgbClr val="C2352F"/>
          </a:solidFill>
          <a:ln/>
        </p:spPr>
      </p:sp>
      <p:sp>
        <p:nvSpPr>
          <p:cNvPr id="109" name="Text 107"/>
          <p:cNvSpPr txBox="1"/>
          <p:nvPr/>
        </p:nvSpPr>
        <p:spPr>
          <a:xfrm>
            <a:off x="9482328" y="256892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52.5%</a:t>
            </a:r>
            <a:endParaRPr lang="en-US" sz="1200" dirty="0"/>
          </a:p>
        </p:txBody>
      </p:sp>
      <p:sp>
        <p:nvSpPr>
          <p:cNvPr id="110" name="Text 108"/>
          <p:cNvSpPr txBox="1"/>
          <p:nvPr/>
        </p:nvSpPr>
        <p:spPr>
          <a:xfrm>
            <a:off x="10158984" y="256892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11" name="Text 109"/>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3" name="Shape 111"/>
          <p:cNvSpPr/>
          <p:nvPr/>
        </p:nvSpPr>
        <p:spPr>
          <a:xfrm>
            <a:off x="8558784" y="2848625"/>
            <a:ext cx="452437" cy="111880"/>
          </a:xfrm>
          <a:prstGeom prst="rect">
            <a:avLst/>
          </a:prstGeom>
          <a:solidFill>
            <a:srgbClr val="C2352F"/>
          </a:solidFill>
          <a:ln/>
        </p:spPr>
      </p:sp>
      <p:sp>
        <p:nvSpPr>
          <p:cNvPr id="114" name="Text 112"/>
          <p:cNvSpPr txBox="1"/>
          <p:nvPr/>
        </p:nvSpPr>
        <p:spPr>
          <a:xfrm>
            <a:off x="9482328" y="279268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50.0%</a:t>
            </a:r>
            <a:endParaRPr lang="en-US" sz="1200" dirty="0"/>
          </a:p>
        </p:txBody>
      </p:sp>
      <p:sp>
        <p:nvSpPr>
          <p:cNvPr id="115" name="Text 113"/>
          <p:cNvSpPr txBox="1"/>
          <p:nvPr/>
        </p:nvSpPr>
        <p:spPr>
          <a:xfrm>
            <a:off x="10158984" y="279268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8" name="Shape 116"/>
          <p:cNvSpPr/>
          <p:nvPr/>
        </p:nvSpPr>
        <p:spPr>
          <a:xfrm>
            <a:off x="8558784" y="3072384"/>
            <a:ext cx="448818" cy="111880"/>
          </a:xfrm>
          <a:prstGeom prst="rect">
            <a:avLst/>
          </a:prstGeom>
          <a:solidFill>
            <a:srgbClr val="C2352F"/>
          </a:solidFill>
          <a:ln/>
        </p:spPr>
      </p:sp>
      <p:sp>
        <p:nvSpPr>
          <p:cNvPr id="119" name="Text 117"/>
          <p:cNvSpPr txBox="1"/>
          <p:nvPr/>
        </p:nvSpPr>
        <p:spPr>
          <a:xfrm>
            <a:off x="9482328" y="301644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49.6%</a:t>
            </a:r>
            <a:endParaRPr lang="en-US" sz="1200" dirty="0"/>
          </a:p>
        </p:txBody>
      </p:sp>
      <p:sp>
        <p:nvSpPr>
          <p:cNvPr id="120" name="Text 118"/>
          <p:cNvSpPr txBox="1"/>
          <p:nvPr/>
        </p:nvSpPr>
        <p:spPr>
          <a:xfrm>
            <a:off x="10158984" y="301644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121" name="Text 11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3" name="Shape 121"/>
          <p:cNvSpPr/>
          <p:nvPr/>
        </p:nvSpPr>
        <p:spPr>
          <a:xfrm>
            <a:off x="8558784" y="3296143"/>
            <a:ext cx="438864" cy="111880"/>
          </a:xfrm>
          <a:prstGeom prst="rect">
            <a:avLst/>
          </a:prstGeom>
          <a:solidFill>
            <a:srgbClr val="C2352F"/>
          </a:solidFill>
          <a:ln/>
        </p:spPr>
      </p:sp>
      <p:sp>
        <p:nvSpPr>
          <p:cNvPr id="124" name="Text 122"/>
          <p:cNvSpPr txBox="1"/>
          <p:nvPr/>
        </p:nvSpPr>
        <p:spPr>
          <a:xfrm>
            <a:off x="9482328" y="3240203"/>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48.5%</a:t>
            </a:r>
            <a:endParaRPr lang="en-US" sz="1200" dirty="0"/>
          </a:p>
        </p:txBody>
      </p:sp>
      <p:sp>
        <p:nvSpPr>
          <p:cNvPr id="125" name="Text 123"/>
          <p:cNvSpPr txBox="1"/>
          <p:nvPr/>
        </p:nvSpPr>
        <p:spPr>
          <a:xfrm>
            <a:off x="10158984" y="3240203"/>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8" name="Shape 126"/>
          <p:cNvSpPr/>
          <p:nvPr/>
        </p:nvSpPr>
        <p:spPr>
          <a:xfrm>
            <a:off x="8558784" y="3519902"/>
            <a:ext cx="386382" cy="111880"/>
          </a:xfrm>
          <a:prstGeom prst="rect">
            <a:avLst/>
          </a:prstGeom>
          <a:solidFill>
            <a:srgbClr val="C2352F"/>
          </a:solidFill>
          <a:ln/>
        </p:spPr>
      </p:sp>
      <p:sp>
        <p:nvSpPr>
          <p:cNvPr id="129" name="Text 127"/>
          <p:cNvSpPr txBox="1"/>
          <p:nvPr/>
        </p:nvSpPr>
        <p:spPr>
          <a:xfrm>
            <a:off x="9482328" y="3463962"/>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0" name="Text 128"/>
          <p:cNvSpPr txBox="1"/>
          <p:nvPr/>
        </p:nvSpPr>
        <p:spPr>
          <a:xfrm>
            <a:off x="10158984" y="3463962"/>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33" name="Shape 131"/>
          <p:cNvSpPr/>
          <p:nvPr/>
        </p:nvSpPr>
        <p:spPr>
          <a:xfrm>
            <a:off x="8558784" y="3743661"/>
            <a:ext cx="386382" cy="111880"/>
          </a:xfrm>
          <a:prstGeom prst="rect">
            <a:avLst/>
          </a:prstGeom>
          <a:solidFill>
            <a:srgbClr val="C2352F"/>
          </a:solidFill>
          <a:ln/>
        </p:spPr>
      </p:sp>
      <p:sp>
        <p:nvSpPr>
          <p:cNvPr id="134" name="Text 132"/>
          <p:cNvSpPr txBox="1"/>
          <p:nvPr/>
        </p:nvSpPr>
        <p:spPr>
          <a:xfrm>
            <a:off x="9482328" y="3687721"/>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42.7%</a:t>
            </a:r>
            <a:endParaRPr lang="en-US" sz="1200" dirty="0"/>
          </a:p>
        </p:txBody>
      </p:sp>
      <p:sp>
        <p:nvSpPr>
          <p:cNvPr id="135" name="Text 133"/>
          <p:cNvSpPr txBox="1"/>
          <p:nvPr/>
        </p:nvSpPr>
        <p:spPr>
          <a:xfrm>
            <a:off x="10158984" y="3687721"/>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8" name="Shape 136"/>
          <p:cNvSpPr/>
          <p:nvPr/>
        </p:nvSpPr>
        <p:spPr>
          <a:xfrm>
            <a:off x="8558784" y="3967420"/>
            <a:ext cx="379143" cy="111880"/>
          </a:xfrm>
          <a:prstGeom prst="rect">
            <a:avLst/>
          </a:prstGeom>
          <a:solidFill>
            <a:srgbClr val="C2352F"/>
          </a:solidFill>
          <a:ln/>
        </p:spPr>
      </p:sp>
      <p:sp>
        <p:nvSpPr>
          <p:cNvPr id="139" name="Text 137"/>
          <p:cNvSpPr txBox="1"/>
          <p:nvPr/>
        </p:nvSpPr>
        <p:spPr>
          <a:xfrm>
            <a:off x="9482328" y="391148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41.9%</a:t>
            </a:r>
            <a:endParaRPr lang="en-US" sz="1200" dirty="0"/>
          </a:p>
        </p:txBody>
      </p:sp>
      <p:sp>
        <p:nvSpPr>
          <p:cNvPr id="140" name="Text 138"/>
          <p:cNvSpPr txBox="1"/>
          <p:nvPr/>
        </p:nvSpPr>
        <p:spPr>
          <a:xfrm>
            <a:off x="10158984" y="391148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41" name="Text 13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3" name="Shape 141"/>
          <p:cNvSpPr/>
          <p:nvPr/>
        </p:nvSpPr>
        <p:spPr>
          <a:xfrm>
            <a:off x="8558784" y="4191179"/>
            <a:ext cx="363760" cy="111880"/>
          </a:xfrm>
          <a:prstGeom prst="rect">
            <a:avLst/>
          </a:prstGeom>
          <a:solidFill>
            <a:srgbClr val="C2352F"/>
          </a:solidFill>
          <a:ln/>
        </p:spPr>
      </p:sp>
      <p:sp>
        <p:nvSpPr>
          <p:cNvPr id="144" name="Text 142"/>
          <p:cNvSpPr txBox="1"/>
          <p:nvPr/>
        </p:nvSpPr>
        <p:spPr>
          <a:xfrm>
            <a:off x="9482328" y="4135240"/>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145" name="Text 143"/>
          <p:cNvSpPr txBox="1"/>
          <p:nvPr/>
        </p:nvSpPr>
        <p:spPr>
          <a:xfrm>
            <a:off x="10158984" y="4135240"/>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4414938"/>
            <a:ext cx="317611" cy="111880"/>
          </a:xfrm>
          <a:prstGeom prst="rect">
            <a:avLst/>
          </a:prstGeom>
          <a:solidFill>
            <a:srgbClr val="C2352F"/>
          </a:solidFill>
          <a:ln/>
        </p:spPr>
      </p:sp>
      <p:sp>
        <p:nvSpPr>
          <p:cNvPr id="149" name="Text 147"/>
          <p:cNvSpPr txBox="1"/>
          <p:nvPr/>
        </p:nvSpPr>
        <p:spPr>
          <a:xfrm>
            <a:off x="9482328" y="4358999"/>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50" name="Text 148"/>
          <p:cNvSpPr txBox="1"/>
          <p:nvPr/>
        </p:nvSpPr>
        <p:spPr>
          <a:xfrm>
            <a:off x="10158984" y="4358999"/>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2" name="Text 150"/>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3" name="Shape 151"/>
          <p:cNvSpPr/>
          <p:nvPr/>
        </p:nvSpPr>
        <p:spPr>
          <a:xfrm>
            <a:off x="8558784" y="4638697"/>
            <a:ext cx="286845" cy="111880"/>
          </a:xfrm>
          <a:prstGeom prst="rect">
            <a:avLst/>
          </a:prstGeom>
          <a:solidFill>
            <a:srgbClr val="C2352F"/>
          </a:solidFill>
          <a:ln/>
        </p:spPr>
      </p:sp>
      <p:sp>
        <p:nvSpPr>
          <p:cNvPr id="154" name="Text 152"/>
          <p:cNvSpPr txBox="1"/>
          <p:nvPr/>
        </p:nvSpPr>
        <p:spPr>
          <a:xfrm>
            <a:off x="9482328" y="4582758"/>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31.7%</a:t>
            </a:r>
            <a:endParaRPr lang="en-US" sz="1200" dirty="0"/>
          </a:p>
        </p:txBody>
      </p:sp>
      <p:sp>
        <p:nvSpPr>
          <p:cNvPr id="155" name="Text 153"/>
          <p:cNvSpPr txBox="1"/>
          <p:nvPr/>
        </p:nvSpPr>
        <p:spPr>
          <a:xfrm>
            <a:off x="10158984" y="4582758"/>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56" name="Text 154"/>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7" name="Text 155"/>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58" name="Shape 156"/>
          <p:cNvSpPr/>
          <p:nvPr/>
        </p:nvSpPr>
        <p:spPr>
          <a:xfrm>
            <a:off x="8558784" y="4862456"/>
            <a:ext cx="285036" cy="111880"/>
          </a:xfrm>
          <a:prstGeom prst="rect">
            <a:avLst/>
          </a:prstGeom>
          <a:solidFill>
            <a:srgbClr val="C2352F"/>
          </a:solidFill>
          <a:ln/>
        </p:spPr>
      </p:sp>
      <p:sp>
        <p:nvSpPr>
          <p:cNvPr id="159" name="Text 157"/>
          <p:cNvSpPr txBox="1"/>
          <p:nvPr/>
        </p:nvSpPr>
        <p:spPr>
          <a:xfrm>
            <a:off x="9482328" y="4806517"/>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31.5%</a:t>
            </a:r>
            <a:endParaRPr lang="en-US" sz="1200" dirty="0"/>
          </a:p>
        </p:txBody>
      </p:sp>
      <p:sp>
        <p:nvSpPr>
          <p:cNvPr id="160" name="Text 158"/>
          <p:cNvSpPr txBox="1"/>
          <p:nvPr/>
        </p:nvSpPr>
        <p:spPr>
          <a:xfrm>
            <a:off x="10158984" y="4806517"/>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1" name="Text 159"/>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2" name="Text 160"/>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63" name="Shape 161"/>
          <p:cNvSpPr/>
          <p:nvPr/>
        </p:nvSpPr>
        <p:spPr>
          <a:xfrm>
            <a:off x="8558784" y="5086216"/>
            <a:ext cx="197263" cy="111880"/>
          </a:xfrm>
          <a:prstGeom prst="rect">
            <a:avLst/>
          </a:prstGeom>
          <a:solidFill>
            <a:srgbClr val="C2352F"/>
          </a:solidFill>
          <a:ln/>
        </p:spPr>
      </p:sp>
      <p:sp>
        <p:nvSpPr>
          <p:cNvPr id="164" name="Text 162"/>
          <p:cNvSpPr txBox="1"/>
          <p:nvPr/>
        </p:nvSpPr>
        <p:spPr>
          <a:xfrm>
            <a:off x="9482328" y="5030276"/>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21.8%</a:t>
            </a:r>
            <a:endParaRPr lang="en-US" sz="1200" dirty="0"/>
          </a:p>
        </p:txBody>
      </p:sp>
      <p:sp>
        <p:nvSpPr>
          <p:cNvPr id="165" name="Text 163"/>
          <p:cNvSpPr txBox="1"/>
          <p:nvPr/>
        </p:nvSpPr>
        <p:spPr>
          <a:xfrm>
            <a:off x="10158984" y="5030276"/>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66" name="Text 164"/>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7" name="Text 165"/>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8" name="Shape 166"/>
          <p:cNvSpPr/>
          <p:nvPr/>
        </p:nvSpPr>
        <p:spPr>
          <a:xfrm>
            <a:off x="8558784" y="5309975"/>
            <a:ext cx="144780" cy="111880"/>
          </a:xfrm>
          <a:prstGeom prst="rect">
            <a:avLst/>
          </a:prstGeom>
          <a:solidFill>
            <a:srgbClr val="C2352F"/>
          </a:solidFill>
          <a:ln/>
        </p:spPr>
      </p:sp>
      <p:sp>
        <p:nvSpPr>
          <p:cNvPr id="169" name="Text 167"/>
          <p:cNvSpPr txBox="1"/>
          <p:nvPr/>
        </p:nvSpPr>
        <p:spPr>
          <a:xfrm>
            <a:off x="9482328" y="5254035"/>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70" name="Text 168"/>
          <p:cNvSpPr txBox="1"/>
          <p:nvPr/>
        </p:nvSpPr>
        <p:spPr>
          <a:xfrm>
            <a:off x="10158984" y="5254035"/>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71" name="Text 169"/>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2" name="Text 170"/>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3" name="Shape 171"/>
          <p:cNvSpPr/>
          <p:nvPr/>
        </p:nvSpPr>
        <p:spPr>
          <a:xfrm>
            <a:off x="8558784" y="5533734"/>
            <a:ext cx="47053" cy="111880"/>
          </a:xfrm>
          <a:prstGeom prst="rect">
            <a:avLst/>
          </a:prstGeom>
          <a:solidFill>
            <a:srgbClr val="C2352F"/>
          </a:solidFill>
          <a:ln/>
        </p:spPr>
      </p:sp>
      <p:sp>
        <p:nvSpPr>
          <p:cNvPr id="174" name="Text 172"/>
          <p:cNvSpPr txBox="1"/>
          <p:nvPr/>
        </p:nvSpPr>
        <p:spPr>
          <a:xfrm>
            <a:off x="9482328" y="5477794"/>
            <a:ext cx="676656"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175" name="Text 173"/>
          <p:cNvSpPr txBox="1"/>
          <p:nvPr/>
        </p:nvSpPr>
        <p:spPr>
          <a:xfrm>
            <a:off x="10158984" y="5477794"/>
            <a:ext cx="1188720" cy="223759"/>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76" name="Text 174"/>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7" name="Text 175"/>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78" name="Text 176"/>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79" name="Text 177"/>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80" name="Shape 178"/>
          <p:cNvSpPr/>
          <p:nvPr/>
        </p:nvSpPr>
        <p:spPr>
          <a:xfrm>
            <a:off x="3524446" y="2121408"/>
            <a:ext cx="14630" cy="3803904"/>
          </a:xfrm>
          <a:prstGeom prst="rect">
            <a:avLst/>
          </a:prstGeom>
          <a:solidFill>
            <a:srgbClr val="0B2C4A"/>
          </a:solidFill>
          <a:ln/>
        </p:spPr>
      </p:sp>
      <p:sp>
        <p:nvSpPr>
          <p:cNvPr id="181" name="Shape 179"/>
          <p:cNvSpPr/>
          <p:nvPr/>
        </p:nvSpPr>
        <p:spPr>
          <a:xfrm>
            <a:off x="9074854" y="2121408"/>
            <a:ext cx="14630" cy="3803904"/>
          </a:xfrm>
          <a:prstGeom prst="rect">
            <a:avLst/>
          </a:prstGeom>
          <a:solidFill>
            <a:srgbClr val="0B2C4A"/>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356616"/>
          </a:xfrm>
          <a:prstGeom prst="rect">
            <a:avLst/>
          </a:prstGeom>
          <a:solidFill>
            <a:srgbClr val="EDF4FA"/>
          </a:solidFill>
          <a:ln/>
        </p:spPr>
      </p:sp>
      <p:sp>
        <p:nvSpPr>
          <p:cNvPr id="184" name="Text 182"/>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17 of 33 stores at or above the 57.8% group. VW Henderson leads at 96.0%; Kia St George is lowest at 5.2%.</a:t>
            </a:r>
            <a:endParaRPr lang="en-US" sz="1500" dirty="0"/>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Photo Completion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PHOTO COMPLETION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JULY–SEPTEMBER 2026</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45.3%</a:t>
            </a:r>
            <a:endParaRPr lang="en-US" sz="2000" dirty="0"/>
          </a:p>
        </p:txBody>
      </p:sp>
      <p:sp>
        <p:nvSpPr>
          <p:cNvPr id="11" name="Text 9"/>
          <p:cNvSpPr txBox="1"/>
          <p:nvPr/>
        </p:nvSpPr>
        <p:spPr>
          <a:xfrm>
            <a:off x="658368"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008376" y="2189335"/>
            <a:ext cx="868680" cy="135854"/>
          </a:xfrm>
          <a:prstGeom prst="rect">
            <a:avLst/>
          </a:prstGeom>
          <a:solidFill>
            <a:srgbClr val="12A566"/>
          </a:solidFill>
          <a:ln/>
        </p:spPr>
      </p:sp>
      <p:sp>
        <p:nvSpPr>
          <p:cNvPr id="14" name="Text 12"/>
          <p:cNvSpPr txBox="1"/>
          <p:nvPr/>
        </p:nvSpPr>
        <p:spPr>
          <a:xfrm>
            <a:off x="3931920" y="212140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15" name="Text 13"/>
          <p:cNvSpPr txBox="1"/>
          <p:nvPr/>
        </p:nvSpPr>
        <p:spPr>
          <a:xfrm>
            <a:off x="4608576"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16" name="Text 14"/>
          <p:cNvSpPr txBox="1"/>
          <p:nvPr/>
        </p:nvSpPr>
        <p:spPr>
          <a:xfrm>
            <a:off x="658368"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7" name="Text 15"/>
          <p:cNvSpPr txBox="1"/>
          <p:nvPr/>
        </p:nvSpPr>
        <p:spPr>
          <a:xfrm>
            <a:off x="1014984"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 name="Shape 16"/>
          <p:cNvSpPr/>
          <p:nvPr/>
        </p:nvSpPr>
        <p:spPr>
          <a:xfrm>
            <a:off x="3008376" y="2461042"/>
            <a:ext cx="862965" cy="135854"/>
          </a:xfrm>
          <a:prstGeom prst="rect">
            <a:avLst/>
          </a:prstGeom>
          <a:solidFill>
            <a:srgbClr val="12A566"/>
          </a:solidFill>
          <a:ln/>
        </p:spPr>
      </p:sp>
      <p:sp>
        <p:nvSpPr>
          <p:cNvPr id="19" name="Text 17"/>
          <p:cNvSpPr txBox="1"/>
          <p:nvPr/>
        </p:nvSpPr>
        <p:spPr>
          <a:xfrm>
            <a:off x="3931920" y="239311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90.6%</a:t>
            </a:r>
            <a:endParaRPr lang="en-US" sz="1200" dirty="0"/>
          </a:p>
        </p:txBody>
      </p:sp>
      <p:sp>
        <p:nvSpPr>
          <p:cNvPr id="20" name="Text 18"/>
          <p:cNvSpPr txBox="1"/>
          <p:nvPr/>
        </p:nvSpPr>
        <p:spPr>
          <a:xfrm>
            <a:off x="4608576"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UpdatePromise</a:t>
            </a:r>
            <a:endParaRPr lang="en-US" sz="1200" dirty="0"/>
          </a:p>
        </p:txBody>
      </p:sp>
      <p:sp>
        <p:nvSpPr>
          <p:cNvPr id="21" name="Text 19"/>
          <p:cNvSpPr txBox="1"/>
          <p:nvPr/>
        </p:nvSpPr>
        <p:spPr>
          <a:xfrm>
            <a:off x="658368"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3" name="Shape 21"/>
          <p:cNvSpPr/>
          <p:nvPr/>
        </p:nvSpPr>
        <p:spPr>
          <a:xfrm>
            <a:off x="3008376" y="2732750"/>
            <a:ext cx="847725" cy="135854"/>
          </a:xfrm>
          <a:prstGeom prst="rect">
            <a:avLst/>
          </a:prstGeom>
          <a:solidFill>
            <a:srgbClr val="12A566"/>
          </a:solidFill>
          <a:ln/>
        </p:spPr>
      </p:sp>
      <p:sp>
        <p:nvSpPr>
          <p:cNvPr id="24" name="Text 22"/>
          <p:cNvSpPr txBox="1"/>
          <p:nvPr/>
        </p:nvSpPr>
        <p:spPr>
          <a:xfrm>
            <a:off x="3931920" y="266482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89.0%</a:t>
            </a:r>
            <a:endParaRPr lang="en-US" sz="1200" dirty="0"/>
          </a:p>
        </p:txBody>
      </p:sp>
      <p:sp>
        <p:nvSpPr>
          <p:cNvPr id="25" name="Text 23"/>
          <p:cNvSpPr txBox="1"/>
          <p:nvPr/>
        </p:nvSpPr>
        <p:spPr>
          <a:xfrm>
            <a:off x="4608576"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26" name="Text 24"/>
          <p:cNvSpPr txBox="1"/>
          <p:nvPr/>
        </p:nvSpPr>
        <p:spPr>
          <a:xfrm>
            <a:off x="658368"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7" name="Text 25"/>
          <p:cNvSpPr txBox="1"/>
          <p:nvPr/>
        </p:nvSpPr>
        <p:spPr>
          <a:xfrm>
            <a:off x="1014984"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8" name="Shape 26"/>
          <p:cNvSpPr/>
          <p:nvPr/>
        </p:nvSpPr>
        <p:spPr>
          <a:xfrm>
            <a:off x="3008376" y="3004457"/>
            <a:ext cx="845820" cy="135854"/>
          </a:xfrm>
          <a:prstGeom prst="rect">
            <a:avLst/>
          </a:prstGeom>
          <a:solidFill>
            <a:srgbClr val="12A566"/>
          </a:solidFill>
          <a:ln/>
        </p:spPr>
      </p:sp>
      <p:sp>
        <p:nvSpPr>
          <p:cNvPr id="29" name="Text 27"/>
          <p:cNvSpPr txBox="1"/>
          <p:nvPr/>
        </p:nvSpPr>
        <p:spPr>
          <a:xfrm>
            <a:off x="3931920" y="293653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88.8%</a:t>
            </a:r>
            <a:endParaRPr lang="en-US" sz="1200" dirty="0"/>
          </a:p>
        </p:txBody>
      </p:sp>
      <p:sp>
        <p:nvSpPr>
          <p:cNvPr id="30" name="Text 28"/>
          <p:cNvSpPr txBox="1"/>
          <p:nvPr/>
        </p:nvSpPr>
        <p:spPr>
          <a:xfrm>
            <a:off x="4608576"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31" name="Text 29"/>
          <p:cNvSpPr txBox="1"/>
          <p:nvPr/>
        </p:nvSpPr>
        <p:spPr>
          <a:xfrm>
            <a:off x="658368"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2" name="Text 30"/>
          <p:cNvSpPr txBox="1"/>
          <p:nvPr/>
        </p:nvSpPr>
        <p:spPr>
          <a:xfrm>
            <a:off x="1014984"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008376" y="3276165"/>
            <a:ext cx="755333" cy="135854"/>
          </a:xfrm>
          <a:prstGeom prst="rect">
            <a:avLst/>
          </a:prstGeom>
          <a:solidFill>
            <a:srgbClr val="12A566"/>
          </a:solidFill>
          <a:ln/>
        </p:spPr>
      </p:sp>
      <p:sp>
        <p:nvSpPr>
          <p:cNvPr id="34" name="Text 32"/>
          <p:cNvSpPr txBox="1"/>
          <p:nvPr/>
        </p:nvSpPr>
        <p:spPr>
          <a:xfrm>
            <a:off x="3931920" y="3208238"/>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79.3%</a:t>
            </a:r>
            <a:endParaRPr lang="en-US" sz="1200" dirty="0"/>
          </a:p>
        </p:txBody>
      </p:sp>
      <p:sp>
        <p:nvSpPr>
          <p:cNvPr id="35" name="Text 33"/>
          <p:cNvSpPr txBox="1"/>
          <p:nvPr/>
        </p:nvSpPr>
        <p:spPr>
          <a:xfrm>
            <a:off x="4608576"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36" name="Text 34"/>
          <p:cNvSpPr txBox="1"/>
          <p:nvPr/>
        </p:nvSpPr>
        <p:spPr>
          <a:xfrm>
            <a:off x="658368"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7" name="Text 35"/>
          <p:cNvSpPr txBox="1"/>
          <p:nvPr/>
        </p:nvSpPr>
        <p:spPr>
          <a:xfrm>
            <a:off x="1014984"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8" name="Shape 36"/>
          <p:cNvSpPr/>
          <p:nvPr/>
        </p:nvSpPr>
        <p:spPr>
          <a:xfrm>
            <a:off x="3008376" y="3547872"/>
            <a:ext cx="687705" cy="135854"/>
          </a:xfrm>
          <a:prstGeom prst="rect">
            <a:avLst/>
          </a:prstGeom>
          <a:solidFill>
            <a:srgbClr val="12A566"/>
          </a:solidFill>
          <a:ln/>
        </p:spPr>
      </p:sp>
      <p:sp>
        <p:nvSpPr>
          <p:cNvPr id="39" name="Text 37"/>
          <p:cNvSpPr txBox="1"/>
          <p:nvPr/>
        </p:nvSpPr>
        <p:spPr>
          <a:xfrm>
            <a:off x="3931920" y="347994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72.2%</a:t>
            </a:r>
            <a:endParaRPr lang="en-US" sz="1200" dirty="0"/>
          </a:p>
        </p:txBody>
      </p:sp>
      <p:sp>
        <p:nvSpPr>
          <p:cNvPr id="40" name="Text 38"/>
          <p:cNvSpPr txBox="1"/>
          <p:nvPr/>
        </p:nvSpPr>
        <p:spPr>
          <a:xfrm>
            <a:off x="4608576"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41" name="Text 39"/>
          <p:cNvSpPr txBox="1"/>
          <p:nvPr/>
        </p:nvSpPr>
        <p:spPr>
          <a:xfrm>
            <a:off x="658368"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2" name="Text 40"/>
          <p:cNvSpPr txBox="1"/>
          <p:nvPr/>
        </p:nvSpPr>
        <p:spPr>
          <a:xfrm>
            <a:off x="1014984"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3" name="Shape 41"/>
          <p:cNvSpPr/>
          <p:nvPr/>
        </p:nvSpPr>
        <p:spPr>
          <a:xfrm>
            <a:off x="3008376" y="3819579"/>
            <a:ext cx="666750" cy="135854"/>
          </a:xfrm>
          <a:prstGeom prst="rect">
            <a:avLst/>
          </a:prstGeom>
          <a:solidFill>
            <a:srgbClr val="12A566"/>
          </a:solidFill>
          <a:ln/>
        </p:spPr>
      </p:sp>
      <p:sp>
        <p:nvSpPr>
          <p:cNvPr id="44" name="Text 42"/>
          <p:cNvSpPr txBox="1"/>
          <p:nvPr/>
        </p:nvSpPr>
        <p:spPr>
          <a:xfrm>
            <a:off x="3931920" y="3751653"/>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70.0%</a:t>
            </a:r>
            <a:endParaRPr lang="en-US" sz="1200" dirty="0"/>
          </a:p>
        </p:txBody>
      </p:sp>
      <p:sp>
        <p:nvSpPr>
          <p:cNvPr id="45" name="Text 43"/>
          <p:cNvSpPr txBox="1"/>
          <p:nvPr/>
        </p:nvSpPr>
        <p:spPr>
          <a:xfrm>
            <a:off x="4608576"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46" name="Text 44"/>
          <p:cNvSpPr txBox="1"/>
          <p:nvPr/>
        </p:nvSpPr>
        <p:spPr>
          <a:xfrm>
            <a:off x="658368"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7" name="Text 45"/>
          <p:cNvSpPr txBox="1"/>
          <p:nvPr/>
        </p:nvSpPr>
        <p:spPr>
          <a:xfrm>
            <a:off x="1014984"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3008376" y="4091287"/>
            <a:ext cx="658178" cy="135854"/>
          </a:xfrm>
          <a:prstGeom prst="rect">
            <a:avLst/>
          </a:prstGeom>
          <a:solidFill>
            <a:srgbClr val="12A566"/>
          </a:solidFill>
          <a:ln/>
        </p:spPr>
      </p:sp>
      <p:sp>
        <p:nvSpPr>
          <p:cNvPr id="49" name="Text 47"/>
          <p:cNvSpPr txBox="1"/>
          <p:nvPr/>
        </p:nvSpPr>
        <p:spPr>
          <a:xfrm>
            <a:off x="3931920" y="4023360"/>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69.1%</a:t>
            </a:r>
            <a:endParaRPr lang="en-US" sz="1200" dirty="0"/>
          </a:p>
        </p:txBody>
      </p:sp>
      <p:sp>
        <p:nvSpPr>
          <p:cNvPr id="50" name="Text 48"/>
          <p:cNvSpPr txBox="1"/>
          <p:nvPr/>
        </p:nvSpPr>
        <p:spPr>
          <a:xfrm>
            <a:off x="4608576"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51" name="Text 49"/>
          <p:cNvSpPr txBox="1"/>
          <p:nvPr/>
        </p:nvSpPr>
        <p:spPr>
          <a:xfrm>
            <a:off x="658368"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2" name="Text 50"/>
          <p:cNvSpPr txBox="1"/>
          <p:nvPr/>
        </p:nvSpPr>
        <p:spPr>
          <a:xfrm>
            <a:off x="1014984"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3" name="Shape 51"/>
          <p:cNvSpPr/>
          <p:nvPr/>
        </p:nvSpPr>
        <p:spPr>
          <a:xfrm>
            <a:off x="3008376" y="4362994"/>
            <a:ext cx="578168" cy="135854"/>
          </a:xfrm>
          <a:prstGeom prst="rect">
            <a:avLst/>
          </a:prstGeom>
          <a:solidFill>
            <a:srgbClr val="12A566"/>
          </a:solidFill>
          <a:ln/>
        </p:spPr>
      </p:sp>
      <p:sp>
        <p:nvSpPr>
          <p:cNvPr id="54" name="Text 52"/>
          <p:cNvSpPr txBox="1"/>
          <p:nvPr/>
        </p:nvSpPr>
        <p:spPr>
          <a:xfrm>
            <a:off x="3931920" y="4295067"/>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60.7%</a:t>
            </a:r>
            <a:endParaRPr lang="en-US" sz="1200" dirty="0"/>
          </a:p>
        </p:txBody>
      </p:sp>
      <p:sp>
        <p:nvSpPr>
          <p:cNvPr id="55" name="Text 53"/>
          <p:cNvSpPr txBox="1"/>
          <p:nvPr/>
        </p:nvSpPr>
        <p:spPr>
          <a:xfrm>
            <a:off x="4608576"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56" name="Text 54"/>
          <p:cNvSpPr txBox="1"/>
          <p:nvPr/>
        </p:nvSpPr>
        <p:spPr>
          <a:xfrm>
            <a:off x="658368"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7" name="Text 55"/>
          <p:cNvSpPr txBox="1"/>
          <p:nvPr/>
        </p:nvSpPr>
        <p:spPr>
          <a:xfrm>
            <a:off x="1014984"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8" name="Shape 56"/>
          <p:cNvSpPr/>
          <p:nvPr/>
        </p:nvSpPr>
        <p:spPr>
          <a:xfrm>
            <a:off x="3008376" y="4634702"/>
            <a:ext cx="571500" cy="135854"/>
          </a:xfrm>
          <a:prstGeom prst="rect">
            <a:avLst/>
          </a:prstGeom>
          <a:solidFill>
            <a:srgbClr val="12A566"/>
          </a:solidFill>
          <a:ln/>
        </p:spPr>
      </p:sp>
      <p:sp>
        <p:nvSpPr>
          <p:cNvPr id="59" name="Text 57"/>
          <p:cNvSpPr txBox="1"/>
          <p:nvPr/>
        </p:nvSpPr>
        <p:spPr>
          <a:xfrm>
            <a:off x="3931920" y="4566775"/>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60.0%</a:t>
            </a:r>
            <a:endParaRPr lang="en-US" sz="1200" dirty="0"/>
          </a:p>
        </p:txBody>
      </p:sp>
      <p:sp>
        <p:nvSpPr>
          <p:cNvPr id="60" name="Text 58"/>
          <p:cNvSpPr txBox="1"/>
          <p:nvPr/>
        </p:nvSpPr>
        <p:spPr>
          <a:xfrm>
            <a:off x="4608576"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CDK / TruVideo</a:t>
            </a:r>
            <a:endParaRPr lang="en-US" sz="1200" dirty="0"/>
          </a:p>
        </p:txBody>
      </p:sp>
      <p:sp>
        <p:nvSpPr>
          <p:cNvPr id="61" name="Text 59"/>
          <p:cNvSpPr txBox="1"/>
          <p:nvPr/>
        </p:nvSpPr>
        <p:spPr>
          <a:xfrm>
            <a:off x="658368"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2" name="Text 60"/>
          <p:cNvSpPr txBox="1"/>
          <p:nvPr/>
        </p:nvSpPr>
        <p:spPr>
          <a:xfrm>
            <a:off x="1014984"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3" name="Shape 61"/>
          <p:cNvSpPr/>
          <p:nvPr/>
        </p:nvSpPr>
        <p:spPr>
          <a:xfrm>
            <a:off x="3008376" y="4906409"/>
            <a:ext cx="476250" cy="135854"/>
          </a:xfrm>
          <a:prstGeom prst="rect">
            <a:avLst/>
          </a:prstGeom>
          <a:solidFill>
            <a:srgbClr val="12A566"/>
          </a:solidFill>
          <a:ln/>
        </p:spPr>
      </p:sp>
      <p:sp>
        <p:nvSpPr>
          <p:cNvPr id="64" name="Text 62"/>
          <p:cNvSpPr txBox="1"/>
          <p:nvPr/>
        </p:nvSpPr>
        <p:spPr>
          <a:xfrm>
            <a:off x="3931920" y="4838482"/>
            <a:ext cx="676656" cy="271707"/>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50.0%</a:t>
            </a:r>
            <a:endParaRPr lang="en-US" sz="1200" dirty="0"/>
          </a:p>
        </p:txBody>
      </p:sp>
      <p:sp>
        <p:nvSpPr>
          <p:cNvPr id="65" name="Text 63"/>
          <p:cNvSpPr txBox="1"/>
          <p:nvPr/>
        </p:nvSpPr>
        <p:spPr>
          <a:xfrm>
            <a:off x="4608576"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Xtime</a:t>
            </a:r>
            <a:endParaRPr lang="en-US" sz="1200" dirty="0"/>
          </a:p>
        </p:txBody>
      </p:sp>
      <p:sp>
        <p:nvSpPr>
          <p:cNvPr id="66" name="Text 64"/>
          <p:cNvSpPr txBox="1"/>
          <p:nvPr/>
        </p:nvSpPr>
        <p:spPr>
          <a:xfrm>
            <a:off x="658368"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7" name="Text 65"/>
          <p:cNvSpPr txBox="1"/>
          <p:nvPr/>
        </p:nvSpPr>
        <p:spPr>
          <a:xfrm>
            <a:off x="1014984"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8" name="Shape 66"/>
          <p:cNvSpPr/>
          <p:nvPr/>
        </p:nvSpPr>
        <p:spPr>
          <a:xfrm>
            <a:off x="3008376" y="5178117"/>
            <a:ext cx="419100" cy="135854"/>
          </a:xfrm>
          <a:prstGeom prst="rect">
            <a:avLst/>
          </a:prstGeom>
          <a:solidFill>
            <a:srgbClr val="C2352F"/>
          </a:solidFill>
          <a:ln/>
        </p:spPr>
      </p:sp>
      <p:sp>
        <p:nvSpPr>
          <p:cNvPr id="69" name="Text 67"/>
          <p:cNvSpPr txBox="1"/>
          <p:nvPr/>
        </p:nvSpPr>
        <p:spPr>
          <a:xfrm>
            <a:off x="3931920"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44.0%</a:t>
            </a:r>
            <a:endParaRPr lang="en-US" sz="1200" dirty="0"/>
          </a:p>
        </p:txBody>
      </p:sp>
      <p:sp>
        <p:nvSpPr>
          <p:cNvPr id="70" name="Text 68"/>
          <p:cNvSpPr txBox="1"/>
          <p:nvPr/>
        </p:nvSpPr>
        <p:spPr>
          <a:xfrm>
            <a:off x="4608576"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1" name="Text 69"/>
          <p:cNvSpPr txBox="1"/>
          <p:nvPr/>
        </p:nvSpPr>
        <p:spPr>
          <a:xfrm>
            <a:off x="658368"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2" name="Text 70"/>
          <p:cNvSpPr txBox="1"/>
          <p:nvPr/>
        </p:nvSpPr>
        <p:spPr>
          <a:xfrm>
            <a:off x="1014984"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3008376" y="5449824"/>
            <a:ext cx="416338" cy="135854"/>
          </a:xfrm>
          <a:prstGeom prst="rect">
            <a:avLst/>
          </a:prstGeom>
          <a:solidFill>
            <a:srgbClr val="C2352F"/>
          </a:solidFill>
          <a:ln/>
        </p:spPr>
      </p:sp>
      <p:sp>
        <p:nvSpPr>
          <p:cNvPr id="74" name="Text 72"/>
          <p:cNvSpPr txBox="1"/>
          <p:nvPr/>
        </p:nvSpPr>
        <p:spPr>
          <a:xfrm>
            <a:off x="3931920"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43.7%</a:t>
            </a:r>
            <a:endParaRPr lang="en-US" sz="1200" dirty="0"/>
          </a:p>
        </p:txBody>
      </p:sp>
      <p:sp>
        <p:nvSpPr>
          <p:cNvPr id="75" name="Text 73"/>
          <p:cNvSpPr txBox="1"/>
          <p:nvPr/>
        </p:nvSpPr>
        <p:spPr>
          <a:xfrm>
            <a:off x="4608576"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76" name="Text 74"/>
          <p:cNvSpPr txBox="1"/>
          <p:nvPr/>
        </p:nvSpPr>
        <p:spPr>
          <a:xfrm>
            <a:off x="658368"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7" name="Text 75"/>
          <p:cNvSpPr txBox="1"/>
          <p:nvPr/>
        </p:nvSpPr>
        <p:spPr>
          <a:xfrm>
            <a:off x="1014984"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5721531"/>
            <a:ext cx="375285" cy="135854"/>
          </a:xfrm>
          <a:prstGeom prst="rect">
            <a:avLst/>
          </a:prstGeom>
          <a:solidFill>
            <a:srgbClr val="C2352F"/>
          </a:solidFill>
          <a:ln/>
        </p:spPr>
      </p:sp>
      <p:sp>
        <p:nvSpPr>
          <p:cNvPr id="79" name="Text 77"/>
          <p:cNvSpPr txBox="1"/>
          <p:nvPr/>
        </p:nvSpPr>
        <p:spPr>
          <a:xfrm>
            <a:off x="3931920"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80" name="Text 78"/>
          <p:cNvSpPr txBox="1"/>
          <p:nvPr/>
        </p:nvSpPr>
        <p:spPr>
          <a:xfrm>
            <a:off x="4608576"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1" name="Text 79"/>
          <p:cNvSpPr txBox="1"/>
          <p:nvPr/>
        </p:nvSpPr>
        <p:spPr>
          <a:xfrm>
            <a:off x="6208776" y="212140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2" name="Text 80"/>
          <p:cNvSpPr txBox="1"/>
          <p:nvPr/>
        </p:nvSpPr>
        <p:spPr>
          <a:xfrm>
            <a:off x="6565392" y="212140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3" name="Shape 81"/>
          <p:cNvSpPr/>
          <p:nvPr/>
        </p:nvSpPr>
        <p:spPr>
          <a:xfrm>
            <a:off x="8558784" y="2189335"/>
            <a:ext cx="348615" cy="135854"/>
          </a:xfrm>
          <a:prstGeom prst="rect">
            <a:avLst/>
          </a:prstGeom>
          <a:solidFill>
            <a:srgbClr val="C2352F"/>
          </a:solidFill>
          <a:ln/>
        </p:spPr>
      </p:sp>
      <p:sp>
        <p:nvSpPr>
          <p:cNvPr id="84" name="Text 82"/>
          <p:cNvSpPr txBox="1"/>
          <p:nvPr/>
        </p:nvSpPr>
        <p:spPr>
          <a:xfrm>
            <a:off x="9482328" y="212140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36.6%</a:t>
            </a:r>
            <a:endParaRPr lang="en-US" sz="1200" dirty="0"/>
          </a:p>
        </p:txBody>
      </p:sp>
      <p:sp>
        <p:nvSpPr>
          <p:cNvPr id="85" name="Text 83"/>
          <p:cNvSpPr txBox="1"/>
          <p:nvPr/>
        </p:nvSpPr>
        <p:spPr>
          <a:xfrm>
            <a:off x="10158984" y="212140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86" name="Text 84"/>
          <p:cNvSpPr txBox="1"/>
          <p:nvPr/>
        </p:nvSpPr>
        <p:spPr>
          <a:xfrm>
            <a:off x="6208776" y="239311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7" name="Text 85"/>
          <p:cNvSpPr txBox="1"/>
          <p:nvPr/>
        </p:nvSpPr>
        <p:spPr>
          <a:xfrm>
            <a:off x="6565392" y="239311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88" name="Shape 86"/>
          <p:cNvSpPr/>
          <p:nvPr/>
        </p:nvSpPr>
        <p:spPr>
          <a:xfrm>
            <a:off x="8558784" y="2461042"/>
            <a:ext cx="332422" cy="135854"/>
          </a:xfrm>
          <a:prstGeom prst="rect">
            <a:avLst/>
          </a:prstGeom>
          <a:solidFill>
            <a:srgbClr val="C2352F"/>
          </a:solidFill>
          <a:ln/>
        </p:spPr>
      </p:sp>
      <p:sp>
        <p:nvSpPr>
          <p:cNvPr id="89" name="Text 87"/>
          <p:cNvSpPr txBox="1"/>
          <p:nvPr/>
        </p:nvSpPr>
        <p:spPr>
          <a:xfrm>
            <a:off x="9482328" y="239311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34.9%</a:t>
            </a:r>
            <a:endParaRPr lang="en-US" sz="1200" dirty="0"/>
          </a:p>
        </p:txBody>
      </p:sp>
      <p:sp>
        <p:nvSpPr>
          <p:cNvPr id="90" name="Text 88"/>
          <p:cNvSpPr txBox="1"/>
          <p:nvPr/>
        </p:nvSpPr>
        <p:spPr>
          <a:xfrm>
            <a:off x="10158984" y="239311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1" name="Text 89"/>
          <p:cNvSpPr txBox="1"/>
          <p:nvPr/>
        </p:nvSpPr>
        <p:spPr>
          <a:xfrm>
            <a:off x="6208776" y="266482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2" name="Text 90"/>
          <p:cNvSpPr txBox="1"/>
          <p:nvPr/>
        </p:nvSpPr>
        <p:spPr>
          <a:xfrm>
            <a:off x="6565392" y="266482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732750"/>
            <a:ext cx="329565" cy="135854"/>
          </a:xfrm>
          <a:prstGeom prst="rect">
            <a:avLst/>
          </a:prstGeom>
          <a:solidFill>
            <a:srgbClr val="C2352F"/>
          </a:solidFill>
          <a:ln/>
        </p:spPr>
      </p:sp>
      <p:sp>
        <p:nvSpPr>
          <p:cNvPr id="94" name="Text 92"/>
          <p:cNvSpPr txBox="1"/>
          <p:nvPr/>
        </p:nvSpPr>
        <p:spPr>
          <a:xfrm>
            <a:off x="9482328" y="266482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34.6%</a:t>
            </a:r>
            <a:endParaRPr lang="en-US" sz="1200" dirty="0"/>
          </a:p>
        </p:txBody>
      </p:sp>
      <p:sp>
        <p:nvSpPr>
          <p:cNvPr id="95" name="Text 93"/>
          <p:cNvSpPr txBox="1"/>
          <p:nvPr/>
        </p:nvSpPr>
        <p:spPr>
          <a:xfrm>
            <a:off x="10158984" y="266482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96" name="Text 94"/>
          <p:cNvSpPr txBox="1"/>
          <p:nvPr/>
        </p:nvSpPr>
        <p:spPr>
          <a:xfrm>
            <a:off x="6208776" y="293653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7" name="Text 95"/>
          <p:cNvSpPr txBox="1"/>
          <p:nvPr/>
        </p:nvSpPr>
        <p:spPr>
          <a:xfrm>
            <a:off x="6565392" y="293653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8" name="Shape 96"/>
          <p:cNvSpPr/>
          <p:nvPr/>
        </p:nvSpPr>
        <p:spPr>
          <a:xfrm>
            <a:off x="8558784" y="3004457"/>
            <a:ext cx="304800" cy="135854"/>
          </a:xfrm>
          <a:prstGeom prst="rect">
            <a:avLst/>
          </a:prstGeom>
          <a:solidFill>
            <a:srgbClr val="C2352F"/>
          </a:solidFill>
          <a:ln/>
        </p:spPr>
      </p:sp>
      <p:sp>
        <p:nvSpPr>
          <p:cNvPr id="99" name="Text 97"/>
          <p:cNvSpPr txBox="1"/>
          <p:nvPr/>
        </p:nvSpPr>
        <p:spPr>
          <a:xfrm>
            <a:off x="9482328" y="293653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32.0%</a:t>
            </a:r>
            <a:endParaRPr lang="en-US" sz="1200" dirty="0"/>
          </a:p>
        </p:txBody>
      </p:sp>
      <p:sp>
        <p:nvSpPr>
          <p:cNvPr id="100" name="Text 98"/>
          <p:cNvSpPr txBox="1"/>
          <p:nvPr/>
        </p:nvSpPr>
        <p:spPr>
          <a:xfrm>
            <a:off x="10158984" y="293653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WiAdvisor</a:t>
            </a:r>
            <a:endParaRPr lang="en-US" sz="1200" dirty="0"/>
          </a:p>
        </p:txBody>
      </p:sp>
      <p:sp>
        <p:nvSpPr>
          <p:cNvPr id="101" name="Text 99"/>
          <p:cNvSpPr txBox="1"/>
          <p:nvPr/>
        </p:nvSpPr>
        <p:spPr>
          <a:xfrm>
            <a:off x="6208776" y="3208238"/>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2" name="Text 100"/>
          <p:cNvSpPr txBox="1"/>
          <p:nvPr/>
        </p:nvSpPr>
        <p:spPr>
          <a:xfrm>
            <a:off x="6565392" y="3208238"/>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3" name="Shape 101"/>
          <p:cNvSpPr/>
          <p:nvPr/>
        </p:nvSpPr>
        <p:spPr>
          <a:xfrm>
            <a:off x="8558784" y="3276165"/>
            <a:ext cx="297180" cy="135854"/>
          </a:xfrm>
          <a:prstGeom prst="rect">
            <a:avLst/>
          </a:prstGeom>
          <a:solidFill>
            <a:srgbClr val="C2352F"/>
          </a:solidFill>
          <a:ln/>
        </p:spPr>
      </p:sp>
      <p:sp>
        <p:nvSpPr>
          <p:cNvPr id="104" name="Text 102"/>
          <p:cNvSpPr txBox="1"/>
          <p:nvPr/>
        </p:nvSpPr>
        <p:spPr>
          <a:xfrm>
            <a:off x="9482328" y="3208238"/>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31.2%</a:t>
            </a:r>
            <a:endParaRPr lang="en-US" sz="1200" dirty="0"/>
          </a:p>
        </p:txBody>
      </p:sp>
      <p:sp>
        <p:nvSpPr>
          <p:cNvPr id="105" name="Text 103"/>
          <p:cNvSpPr txBox="1"/>
          <p:nvPr/>
        </p:nvSpPr>
        <p:spPr>
          <a:xfrm>
            <a:off x="10158984" y="3208238"/>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06" name="Text 104"/>
          <p:cNvSpPr txBox="1"/>
          <p:nvPr/>
        </p:nvSpPr>
        <p:spPr>
          <a:xfrm>
            <a:off x="6208776" y="347994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7" name="Text 105"/>
          <p:cNvSpPr txBox="1"/>
          <p:nvPr/>
        </p:nvSpPr>
        <p:spPr>
          <a:xfrm>
            <a:off x="6565392" y="347994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8" name="Shape 106"/>
          <p:cNvSpPr/>
          <p:nvPr/>
        </p:nvSpPr>
        <p:spPr>
          <a:xfrm>
            <a:off x="8558784" y="3547872"/>
            <a:ext cx="240983" cy="135854"/>
          </a:xfrm>
          <a:prstGeom prst="rect">
            <a:avLst/>
          </a:prstGeom>
          <a:solidFill>
            <a:srgbClr val="C2352F"/>
          </a:solidFill>
          <a:ln/>
        </p:spPr>
      </p:sp>
      <p:sp>
        <p:nvSpPr>
          <p:cNvPr id="109" name="Text 107"/>
          <p:cNvSpPr txBox="1"/>
          <p:nvPr/>
        </p:nvSpPr>
        <p:spPr>
          <a:xfrm>
            <a:off x="9482328" y="347994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25.3%</a:t>
            </a:r>
            <a:endParaRPr lang="en-US" sz="1200" dirty="0"/>
          </a:p>
        </p:txBody>
      </p:sp>
      <p:sp>
        <p:nvSpPr>
          <p:cNvPr id="110" name="Text 108"/>
          <p:cNvSpPr txBox="1"/>
          <p:nvPr/>
        </p:nvSpPr>
        <p:spPr>
          <a:xfrm>
            <a:off x="10158984" y="347994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11" name="Text 109"/>
          <p:cNvSpPr txBox="1"/>
          <p:nvPr/>
        </p:nvSpPr>
        <p:spPr>
          <a:xfrm>
            <a:off x="6208776" y="3751653"/>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2" name="Text 110"/>
          <p:cNvSpPr txBox="1"/>
          <p:nvPr/>
        </p:nvSpPr>
        <p:spPr>
          <a:xfrm>
            <a:off x="6565392" y="3751653"/>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8558784" y="3819579"/>
            <a:ext cx="222885" cy="135854"/>
          </a:xfrm>
          <a:prstGeom prst="rect">
            <a:avLst/>
          </a:prstGeom>
          <a:solidFill>
            <a:srgbClr val="C2352F"/>
          </a:solidFill>
          <a:ln/>
        </p:spPr>
      </p:sp>
      <p:sp>
        <p:nvSpPr>
          <p:cNvPr id="114" name="Text 112"/>
          <p:cNvSpPr txBox="1"/>
          <p:nvPr/>
        </p:nvSpPr>
        <p:spPr>
          <a:xfrm>
            <a:off x="9482328" y="3751653"/>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5" name="Text 113"/>
          <p:cNvSpPr txBox="1"/>
          <p:nvPr/>
        </p:nvSpPr>
        <p:spPr>
          <a:xfrm>
            <a:off x="10158984" y="3751653"/>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16" name="Text 114"/>
          <p:cNvSpPr txBox="1"/>
          <p:nvPr/>
        </p:nvSpPr>
        <p:spPr>
          <a:xfrm>
            <a:off x="6208776" y="402336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7" name="Text 115"/>
          <p:cNvSpPr txBox="1"/>
          <p:nvPr/>
        </p:nvSpPr>
        <p:spPr>
          <a:xfrm>
            <a:off x="6565392" y="402336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8" name="Shape 116"/>
          <p:cNvSpPr/>
          <p:nvPr/>
        </p:nvSpPr>
        <p:spPr>
          <a:xfrm>
            <a:off x="8558784" y="4091287"/>
            <a:ext cx="216217" cy="135854"/>
          </a:xfrm>
          <a:prstGeom prst="rect">
            <a:avLst/>
          </a:prstGeom>
          <a:solidFill>
            <a:srgbClr val="C2352F"/>
          </a:solidFill>
          <a:ln/>
        </p:spPr>
      </p:sp>
      <p:sp>
        <p:nvSpPr>
          <p:cNvPr id="119" name="Text 117"/>
          <p:cNvSpPr txBox="1"/>
          <p:nvPr/>
        </p:nvSpPr>
        <p:spPr>
          <a:xfrm>
            <a:off x="9482328" y="402336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0" name="Text 118"/>
          <p:cNvSpPr txBox="1"/>
          <p:nvPr/>
        </p:nvSpPr>
        <p:spPr>
          <a:xfrm>
            <a:off x="10158984" y="402336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1" name="Text 119"/>
          <p:cNvSpPr txBox="1"/>
          <p:nvPr/>
        </p:nvSpPr>
        <p:spPr>
          <a:xfrm>
            <a:off x="6208776" y="429506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2" name="Text 120"/>
          <p:cNvSpPr txBox="1"/>
          <p:nvPr/>
        </p:nvSpPr>
        <p:spPr>
          <a:xfrm>
            <a:off x="6565392" y="429506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3" name="Shape 121"/>
          <p:cNvSpPr/>
          <p:nvPr/>
        </p:nvSpPr>
        <p:spPr>
          <a:xfrm>
            <a:off x="8558784" y="4362994"/>
            <a:ext cx="216217" cy="135854"/>
          </a:xfrm>
          <a:prstGeom prst="rect">
            <a:avLst/>
          </a:prstGeom>
          <a:solidFill>
            <a:srgbClr val="C2352F"/>
          </a:solidFill>
          <a:ln/>
        </p:spPr>
      </p:sp>
      <p:sp>
        <p:nvSpPr>
          <p:cNvPr id="124" name="Text 122"/>
          <p:cNvSpPr txBox="1"/>
          <p:nvPr/>
        </p:nvSpPr>
        <p:spPr>
          <a:xfrm>
            <a:off x="9482328" y="429506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5" name="Text 123"/>
          <p:cNvSpPr txBox="1"/>
          <p:nvPr/>
        </p:nvSpPr>
        <p:spPr>
          <a:xfrm>
            <a:off x="10158984" y="429506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26" name="Text 124"/>
          <p:cNvSpPr txBox="1"/>
          <p:nvPr/>
        </p:nvSpPr>
        <p:spPr>
          <a:xfrm>
            <a:off x="6208776" y="456677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7" name="Text 125"/>
          <p:cNvSpPr txBox="1"/>
          <p:nvPr/>
        </p:nvSpPr>
        <p:spPr>
          <a:xfrm>
            <a:off x="6565392" y="456677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558784" y="4634702"/>
            <a:ext cx="183833" cy="135854"/>
          </a:xfrm>
          <a:prstGeom prst="rect">
            <a:avLst/>
          </a:prstGeom>
          <a:solidFill>
            <a:srgbClr val="C2352F"/>
          </a:solidFill>
          <a:ln/>
        </p:spPr>
      </p:sp>
      <p:sp>
        <p:nvSpPr>
          <p:cNvPr id="129" name="Text 127"/>
          <p:cNvSpPr txBox="1"/>
          <p:nvPr/>
        </p:nvSpPr>
        <p:spPr>
          <a:xfrm>
            <a:off x="9482328" y="456677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30" name="Text 128"/>
          <p:cNvSpPr txBox="1"/>
          <p:nvPr/>
        </p:nvSpPr>
        <p:spPr>
          <a:xfrm>
            <a:off x="10158984" y="456677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1" name="Text 129"/>
          <p:cNvSpPr txBox="1"/>
          <p:nvPr/>
        </p:nvSpPr>
        <p:spPr>
          <a:xfrm>
            <a:off x="6208776" y="4838482"/>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2" name="Text 130"/>
          <p:cNvSpPr txBox="1"/>
          <p:nvPr/>
        </p:nvSpPr>
        <p:spPr>
          <a:xfrm>
            <a:off x="6565392" y="4838482"/>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3" name="Shape 131"/>
          <p:cNvSpPr/>
          <p:nvPr/>
        </p:nvSpPr>
        <p:spPr>
          <a:xfrm>
            <a:off x="8558784" y="4906409"/>
            <a:ext cx="150495" cy="135854"/>
          </a:xfrm>
          <a:prstGeom prst="rect">
            <a:avLst/>
          </a:prstGeom>
          <a:solidFill>
            <a:srgbClr val="C2352F"/>
          </a:solidFill>
          <a:ln/>
        </p:spPr>
      </p:sp>
      <p:sp>
        <p:nvSpPr>
          <p:cNvPr id="134" name="Text 132"/>
          <p:cNvSpPr txBox="1"/>
          <p:nvPr/>
        </p:nvSpPr>
        <p:spPr>
          <a:xfrm>
            <a:off x="9482328" y="4838482"/>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15.8%</a:t>
            </a:r>
            <a:endParaRPr lang="en-US" sz="1200" dirty="0"/>
          </a:p>
        </p:txBody>
      </p:sp>
      <p:sp>
        <p:nvSpPr>
          <p:cNvPr id="135" name="Text 133"/>
          <p:cNvSpPr txBox="1"/>
          <p:nvPr/>
        </p:nvSpPr>
        <p:spPr>
          <a:xfrm>
            <a:off x="10158984" y="4838482"/>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36" name="Text 134"/>
          <p:cNvSpPr txBox="1"/>
          <p:nvPr/>
        </p:nvSpPr>
        <p:spPr>
          <a:xfrm>
            <a:off x="6208776" y="5110190"/>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7" name="Text 135"/>
          <p:cNvSpPr txBox="1"/>
          <p:nvPr/>
        </p:nvSpPr>
        <p:spPr>
          <a:xfrm>
            <a:off x="6565392" y="5110190"/>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8" name="Shape 136"/>
          <p:cNvSpPr/>
          <p:nvPr/>
        </p:nvSpPr>
        <p:spPr>
          <a:xfrm>
            <a:off x="8558784" y="5178117"/>
            <a:ext cx="137160" cy="135854"/>
          </a:xfrm>
          <a:prstGeom prst="rect">
            <a:avLst/>
          </a:prstGeom>
          <a:solidFill>
            <a:srgbClr val="C2352F"/>
          </a:solidFill>
          <a:ln/>
        </p:spPr>
      </p:sp>
      <p:sp>
        <p:nvSpPr>
          <p:cNvPr id="139" name="Text 137"/>
          <p:cNvSpPr txBox="1"/>
          <p:nvPr/>
        </p:nvSpPr>
        <p:spPr>
          <a:xfrm>
            <a:off x="9482328" y="5110190"/>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40" name="Text 138"/>
          <p:cNvSpPr txBox="1"/>
          <p:nvPr/>
        </p:nvSpPr>
        <p:spPr>
          <a:xfrm>
            <a:off x="10158984" y="5110190"/>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1" name="Text 139"/>
          <p:cNvSpPr txBox="1"/>
          <p:nvPr/>
        </p:nvSpPr>
        <p:spPr>
          <a:xfrm>
            <a:off x="6208776" y="5381897"/>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2" name="Text 140"/>
          <p:cNvSpPr txBox="1"/>
          <p:nvPr/>
        </p:nvSpPr>
        <p:spPr>
          <a:xfrm>
            <a:off x="6565392" y="5381897"/>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3" name="Shape 141"/>
          <p:cNvSpPr/>
          <p:nvPr/>
        </p:nvSpPr>
        <p:spPr>
          <a:xfrm>
            <a:off x="8558784" y="5449824"/>
            <a:ext cx="135255" cy="135854"/>
          </a:xfrm>
          <a:prstGeom prst="rect">
            <a:avLst/>
          </a:prstGeom>
          <a:solidFill>
            <a:srgbClr val="C2352F"/>
          </a:solidFill>
          <a:ln/>
        </p:spPr>
      </p:sp>
      <p:sp>
        <p:nvSpPr>
          <p:cNvPr id="144" name="Text 142"/>
          <p:cNvSpPr txBox="1"/>
          <p:nvPr/>
        </p:nvSpPr>
        <p:spPr>
          <a:xfrm>
            <a:off x="9482328" y="5381897"/>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45" name="Text 143"/>
          <p:cNvSpPr txBox="1"/>
          <p:nvPr/>
        </p:nvSpPr>
        <p:spPr>
          <a:xfrm>
            <a:off x="10158984" y="5381897"/>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Auto.live</a:t>
            </a:r>
            <a:endParaRPr lang="en-US" sz="1200" dirty="0"/>
          </a:p>
        </p:txBody>
      </p:sp>
      <p:sp>
        <p:nvSpPr>
          <p:cNvPr id="146" name="Text 144"/>
          <p:cNvSpPr txBox="1"/>
          <p:nvPr/>
        </p:nvSpPr>
        <p:spPr>
          <a:xfrm>
            <a:off x="6208776" y="5653605"/>
            <a:ext cx="310896" cy="271707"/>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7" name="Text 145"/>
          <p:cNvSpPr txBox="1"/>
          <p:nvPr/>
        </p:nvSpPr>
        <p:spPr>
          <a:xfrm>
            <a:off x="6565392" y="5653605"/>
            <a:ext cx="1920240" cy="271707"/>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5721531"/>
            <a:ext cx="112395" cy="135854"/>
          </a:xfrm>
          <a:prstGeom prst="rect">
            <a:avLst/>
          </a:prstGeom>
          <a:solidFill>
            <a:srgbClr val="C2352F"/>
          </a:solidFill>
          <a:ln/>
        </p:spPr>
      </p:sp>
      <p:sp>
        <p:nvSpPr>
          <p:cNvPr id="149" name="Text 147"/>
          <p:cNvSpPr txBox="1"/>
          <p:nvPr/>
        </p:nvSpPr>
        <p:spPr>
          <a:xfrm>
            <a:off x="9482328" y="5653605"/>
            <a:ext cx="676656" cy="271707"/>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50" name="Text 148"/>
          <p:cNvSpPr txBox="1"/>
          <p:nvPr/>
        </p:nvSpPr>
        <p:spPr>
          <a:xfrm>
            <a:off x="10158984" y="5653605"/>
            <a:ext cx="1188720" cy="271707"/>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DealerLogix</a:t>
            </a:r>
            <a:endParaRPr lang="en-US" sz="1200" dirty="0"/>
          </a:p>
        </p:txBody>
      </p:sp>
      <p:sp>
        <p:nvSpPr>
          <p:cNvPr id="151" name="Text 149"/>
          <p:cNvSpPr txBox="1"/>
          <p:nvPr/>
        </p:nvSpPr>
        <p:spPr>
          <a:xfrm>
            <a:off x="393192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2" name="Text 150"/>
          <p:cNvSpPr txBox="1"/>
          <p:nvPr/>
        </p:nvSpPr>
        <p:spPr>
          <a:xfrm>
            <a:off x="4608576"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3" name="Text 151"/>
          <p:cNvSpPr txBox="1"/>
          <p:nvPr/>
        </p:nvSpPr>
        <p:spPr>
          <a:xfrm>
            <a:off x="948232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54" name="Text 152"/>
          <p:cNvSpPr txBox="1"/>
          <p:nvPr/>
        </p:nvSpPr>
        <p:spPr>
          <a:xfrm>
            <a:off x="10158984" y="1828800"/>
            <a:ext cx="118872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Tool</a:t>
            </a:r>
            <a:endParaRPr lang="en-US" sz="1400" dirty="0"/>
          </a:p>
        </p:txBody>
      </p:sp>
      <p:sp>
        <p:nvSpPr>
          <p:cNvPr id="155" name="Shape 153"/>
          <p:cNvSpPr/>
          <p:nvPr/>
        </p:nvSpPr>
        <p:spPr>
          <a:xfrm>
            <a:off x="3432502" y="2121408"/>
            <a:ext cx="14630" cy="3803904"/>
          </a:xfrm>
          <a:prstGeom prst="rect">
            <a:avLst/>
          </a:prstGeom>
          <a:solidFill>
            <a:srgbClr val="0B2C4A"/>
          </a:solidFill>
          <a:ln/>
        </p:spPr>
      </p:sp>
      <p:sp>
        <p:nvSpPr>
          <p:cNvPr id="156" name="Shape 154"/>
          <p:cNvSpPr/>
          <p:nvPr/>
        </p:nvSpPr>
        <p:spPr>
          <a:xfrm>
            <a:off x="8982910" y="2121408"/>
            <a:ext cx="14630" cy="3803904"/>
          </a:xfrm>
          <a:prstGeom prst="rect">
            <a:avLst/>
          </a:prstGeom>
          <a:solidFill>
            <a:srgbClr val="0B2C4A"/>
          </a:solidFill>
          <a:ln/>
        </p:spPr>
      </p:sp>
      <p:sp>
        <p:nvSpPr>
          <p:cNvPr id="157" name="Shape 155"/>
          <p:cNvSpPr/>
          <p:nvPr/>
        </p:nvSpPr>
        <p:spPr>
          <a:xfrm>
            <a:off x="6085332" y="2121408"/>
            <a:ext cx="10973" cy="3803904"/>
          </a:xfrm>
          <a:prstGeom prst="rect">
            <a:avLst/>
          </a:prstGeom>
          <a:solidFill>
            <a:srgbClr val="D9D9D9"/>
          </a:solidFill>
          <a:ln/>
        </p:spPr>
      </p:sp>
      <p:sp>
        <p:nvSpPr>
          <p:cNvPr id="158" name="Shape 156"/>
          <p:cNvSpPr/>
          <p:nvPr/>
        </p:nvSpPr>
        <p:spPr>
          <a:xfrm>
            <a:off x="457200" y="6126480"/>
            <a:ext cx="11274552" cy="341376"/>
          </a:xfrm>
          <a:prstGeom prst="rect">
            <a:avLst/>
          </a:prstGeom>
          <a:solidFill>
            <a:srgbClr val="EDF4FA"/>
          </a:solidFill>
          <a:ln/>
        </p:spPr>
      </p:sp>
      <p:sp>
        <p:nvSpPr>
          <p:cNvPr id="159" name="Text 15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11 of 28 stores at or above the 45.3% group. Hyundai Prescott leads at 91.2%; Kia St George is lowest at 11.8%.</a:t>
            </a:r>
            <a:endParaRPr lang="en-US" sz="1400" dirty="0"/>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Tracking &amp; Accountability</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Daily review of the Viz 'Op Code' and 'Performance Report'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feedback quickly and often. Trends start early: don't wait until the 15th.</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Tracked metrics improve performance; we are responsible for the knowing</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Scoreboard techs and advisors: CP $ per RO, ELR, MPI completion, closing %, key op codes</a:t>
            </a:r>
            <a:endParaRPr lang="en-US" sz="1800" dirty="0"/>
          </a:p>
        </p:txBody>
      </p:sp>
      <p:sp>
        <p:nvSpPr>
          <p:cNvPr id="10" name="Shape 8"/>
          <p:cNvSpPr/>
          <p:nvPr/>
        </p:nvSpPr>
        <p:spPr>
          <a:xfrm>
            <a:off x="7269480" y="1920240"/>
            <a:ext cx="54864" cy="3794760"/>
          </a:xfrm>
          <a:prstGeom prst="rect">
            <a:avLst/>
          </a:prstGeom>
          <a:solidFill>
            <a:srgbClr val="C2352F"/>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81.3%</a:t>
            </a:r>
            <a:endParaRPr lang="en-US" sz="3000" dirty="0"/>
          </a:p>
        </p:txBody>
      </p:sp>
      <p:sp>
        <p:nvSpPr>
          <p:cNvPr id="12" name="Text 10"/>
          <p:cNvSpPr txBox="1"/>
          <p:nvPr/>
        </p:nvSpPr>
        <p:spPr>
          <a:xfrm>
            <a:off x="7452360" y="2441448"/>
            <a:ext cx="4023360" cy="329184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MPI completion, July to September (store-reported). 12 of 33 stores at the 90% benchmark.</a:t>
            </a:r>
            <a:endParaRPr lang="en-US" sz="1400" dirty="0"/>
          </a:p>
        </p:txBody>
      </p:sp>
      <p:sp>
        <p:nvSpPr>
          <p:cNvPr id="13" name="Shape 11"/>
          <p:cNvSpPr/>
          <p:nvPr/>
        </p:nvSpPr>
        <p:spPr>
          <a:xfrm>
            <a:off x="457200" y="6126480"/>
            <a:ext cx="11274552" cy="615696"/>
          </a:xfrm>
          <a:prstGeom prst="rect">
            <a:avLst/>
          </a:prstGeom>
          <a:solidFill>
            <a:srgbClr val="EDF4FA"/>
          </a:solidFill>
          <a:ln/>
        </p:spPr>
      </p:sp>
      <p:sp>
        <p:nvSpPr>
          <p:cNvPr id="14" name="Text 1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if it isn't described, it can't be tracked. Clean up op code descriptions so the reports show what you sell.</a:t>
            </a:r>
            <a:endParaRPr lang="en-US" sz="1600" dirty="0"/>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Tracked Opcode Closing %</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Closing %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CP ROs with the service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all CP ROs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often a customer-pay visit includes the service.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BENCHMARKS</a:t>
            </a:r>
            <a:endParaRPr lang="en-US" sz="1400" dirty="0"/>
          </a:p>
        </p:txBody>
      </p:sp>
      <p:sp>
        <p:nvSpPr>
          <p:cNvPr id="9" name="Shape 7"/>
          <p:cNvSpPr/>
          <p:nvPr/>
        </p:nvSpPr>
        <p:spPr>
          <a:xfrm>
            <a:off x="2286000" y="2340864"/>
            <a:ext cx="227914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Alignment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1" name="Shape 9"/>
          <p:cNvSpPr/>
          <p:nvPr/>
        </p:nvSpPr>
        <p:spPr>
          <a:xfrm>
            <a:off x="4674870" y="2340864"/>
            <a:ext cx="2279142" cy="457200"/>
          </a:xfrm>
          <a:prstGeom prst="rect">
            <a:avLst/>
          </a:prstGeom>
          <a:solidFill>
            <a:srgbClr val="FFFFFF"/>
          </a:solidFill>
          <a:ln w="9525">
            <a:solidFill>
              <a:srgbClr val="D9D9D9"/>
            </a:solidFill>
            <a:prstDash val="solid"/>
          </a:ln>
        </p:spPr>
      </p:sp>
      <p:sp>
        <p:nvSpPr>
          <p:cNvPr id="12" name="Text 10"/>
          <p:cNvSpPr txBox="1"/>
          <p:nvPr/>
        </p:nvSpPr>
        <p:spPr>
          <a:xfrm>
            <a:off x="474802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Tire balance  </a:t>
            </a:r>
            <a:pPr algn="ctr" indent="0" marL="0">
              <a:buNone/>
            </a:pPr>
            <a:r>
              <a:rPr lang="en-US" sz="1400" b="1" dirty="0">
                <a:solidFill>
                  <a:srgbClr val="0B2C4A"/>
                </a:solidFill>
                <a:latin typeface="Inter" pitchFamily="34" charset="0"/>
                <a:ea typeface="Inter" pitchFamily="34" charset="-122"/>
                <a:cs typeface="Inter" pitchFamily="34" charset="-120"/>
              </a:rPr>
              <a:t>15%</a:t>
            </a:r>
            <a:endParaRPr lang="en-US" sz="1400" dirty="0"/>
          </a:p>
        </p:txBody>
      </p:sp>
      <p:sp>
        <p:nvSpPr>
          <p:cNvPr id="13" name="Shape 11"/>
          <p:cNvSpPr/>
          <p:nvPr/>
        </p:nvSpPr>
        <p:spPr>
          <a:xfrm>
            <a:off x="7063740" y="2340864"/>
            <a:ext cx="2279142" cy="457200"/>
          </a:xfrm>
          <a:prstGeom prst="rect">
            <a:avLst/>
          </a:prstGeom>
          <a:solidFill>
            <a:srgbClr val="FFFFFF"/>
          </a:solidFill>
          <a:ln w="9525">
            <a:solidFill>
              <a:srgbClr val="D9D9D9"/>
            </a:solidFill>
            <a:prstDash val="solid"/>
          </a:ln>
        </p:spPr>
      </p:sp>
      <p:sp>
        <p:nvSpPr>
          <p:cNvPr id="14" name="Text 12"/>
          <p:cNvSpPr txBox="1"/>
          <p:nvPr/>
        </p:nvSpPr>
        <p:spPr>
          <a:xfrm>
            <a:off x="713689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Brake fluid  </a:t>
            </a:r>
            <a:pPr algn="ctr" indent="0" marL="0">
              <a:buNone/>
            </a:pPr>
            <a:r>
              <a:rPr lang="en-US" sz="1400" b="1" dirty="0">
                <a:solidFill>
                  <a:srgbClr val="0B2C4A"/>
                </a:solidFill>
                <a:latin typeface="Inter" pitchFamily="34" charset="0"/>
                <a:ea typeface="Inter" pitchFamily="34" charset="-122"/>
                <a:cs typeface="Inter" pitchFamily="34" charset="-120"/>
              </a:rPr>
              <a:t>10%</a:t>
            </a:r>
            <a:endParaRPr lang="en-US" sz="1400" dirty="0"/>
          </a:p>
        </p:txBody>
      </p:sp>
      <p:sp>
        <p:nvSpPr>
          <p:cNvPr id="15" name="Shape 13"/>
          <p:cNvSpPr/>
          <p:nvPr/>
        </p:nvSpPr>
        <p:spPr>
          <a:xfrm>
            <a:off x="9452610" y="2340864"/>
            <a:ext cx="2279142" cy="457200"/>
          </a:xfrm>
          <a:prstGeom prst="rect">
            <a:avLst/>
          </a:prstGeom>
          <a:solidFill>
            <a:srgbClr val="FFFFFF"/>
          </a:solidFill>
          <a:ln w="9525">
            <a:solidFill>
              <a:srgbClr val="D9D9D9"/>
            </a:solidFill>
            <a:prstDash val="solid"/>
          </a:ln>
        </p:spPr>
      </p:sp>
      <p:sp>
        <p:nvSpPr>
          <p:cNvPr id="16" name="Text 14"/>
          <p:cNvSpPr txBox="1"/>
          <p:nvPr/>
        </p:nvSpPr>
        <p:spPr>
          <a:xfrm>
            <a:off x="9525762" y="2340864"/>
            <a:ext cx="213283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Fuel service  </a:t>
            </a:r>
            <a:pPr algn="ctr" indent="0" marL="0">
              <a:buNone/>
            </a:pPr>
            <a:r>
              <a:rPr lang="en-US" sz="1400" b="1" dirty="0">
                <a:solidFill>
                  <a:srgbClr val="0B2C4A"/>
                </a:solidFill>
                <a:latin typeface="Inter" pitchFamily="34" charset="0"/>
                <a:ea typeface="Inter" pitchFamily="34" charset="-122"/>
                <a:cs typeface="Inter" pitchFamily="34" charset="-120"/>
              </a:rPr>
              <a:t>7.5%</a:t>
            </a:r>
            <a:endParaRPr lang="en-US" sz="1400" dirty="0"/>
          </a:p>
        </p:txBody>
      </p:sp>
      <p:sp>
        <p:nvSpPr>
          <p:cNvPr id="17" name="Shape 15"/>
          <p:cNvSpPr/>
          <p:nvPr/>
        </p:nvSpPr>
        <p:spPr>
          <a:xfrm>
            <a:off x="457200" y="2907792"/>
            <a:ext cx="4343400" cy="3081528"/>
          </a:xfrm>
          <a:prstGeom prst="rect">
            <a:avLst/>
          </a:prstGeom>
          <a:solidFill>
            <a:srgbClr val="FFFFFF"/>
          </a:solidFill>
          <a:ln/>
        </p:spPr>
      </p:sp>
      <p:sp>
        <p:nvSpPr>
          <p:cNvPr id="18" name="Shape 16"/>
          <p:cNvSpPr/>
          <p:nvPr/>
        </p:nvSpPr>
        <p:spPr>
          <a:xfrm>
            <a:off x="4937760" y="2907792"/>
            <a:ext cx="6793992" cy="3081528"/>
          </a:xfrm>
          <a:prstGeom prst="rect">
            <a:avLst/>
          </a:prstGeom>
          <a:solidFill>
            <a:srgbClr val="FFFFFF"/>
          </a:solidFill>
          <a:ln/>
        </p:spPr>
      </p:sp>
      <p:sp>
        <p:nvSpPr>
          <p:cNvPr id="19" name="Text 17"/>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20" name="Text 18"/>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21" name="Text 19"/>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These cars are already in our service drives: the rate shows how well we use the opportunities we already have.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Like labor dollars per RO, it is a direct reflection of the job we are doing on every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Each point is worth thousands of services across the group.</a:t>
            </a:r>
            <a:endParaRPr lang="en-US" sz="1500" dirty="0"/>
          </a:p>
        </p:txBody>
      </p:sp>
      <p:sp>
        <p:nvSpPr>
          <p:cNvPr id="22" name="Shape 20"/>
          <p:cNvSpPr/>
          <p:nvPr/>
        </p:nvSpPr>
        <p:spPr>
          <a:xfrm>
            <a:off x="5138928" y="3410712"/>
            <a:ext cx="45720" cy="948641"/>
          </a:xfrm>
          <a:prstGeom prst="rect">
            <a:avLst/>
          </a:prstGeom>
          <a:solidFill>
            <a:srgbClr val="2587C5"/>
          </a:solidFill>
          <a:ln/>
        </p:spPr>
      </p:sp>
      <p:sp>
        <p:nvSpPr>
          <p:cNvPr id="23" name="Text 21"/>
          <p:cNvSpPr txBox="1"/>
          <p:nvPr/>
        </p:nvSpPr>
        <p:spPr>
          <a:xfrm>
            <a:off x="5266944"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MPI on every car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Find the need and show the customer</a:t>
            </a:r>
            <a:endParaRPr lang="en-US" sz="1400" dirty="0"/>
          </a:p>
        </p:txBody>
      </p:sp>
      <p:sp>
        <p:nvSpPr>
          <p:cNvPr id="24" name="Shape 22"/>
          <p:cNvSpPr/>
          <p:nvPr/>
        </p:nvSpPr>
        <p:spPr>
          <a:xfrm>
            <a:off x="8394192" y="3410712"/>
            <a:ext cx="45720" cy="948641"/>
          </a:xfrm>
          <a:prstGeom prst="rect">
            <a:avLst/>
          </a:prstGeom>
          <a:solidFill>
            <a:srgbClr val="2587C5"/>
          </a:solidFill>
          <a:ln/>
        </p:spPr>
      </p:sp>
      <p:sp>
        <p:nvSpPr>
          <p:cNvPr id="25" name="Text 23"/>
          <p:cNvSpPr txBox="1"/>
          <p:nvPr/>
        </p:nvSpPr>
        <p:spPr>
          <a:xfrm>
            <a:off x="8522208" y="3410712"/>
            <a:ext cx="2962656" cy="94864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Menu at write-up</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Time and mileage recommendations, every customer</a:t>
            </a:r>
            <a:endParaRPr lang="en-US" sz="1400" dirty="0"/>
          </a:p>
        </p:txBody>
      </p:sp>
      <p:sp>
        <p:nvSpPr>
          <p:cNvPr id="26" name="Shape 24"/>
          <p:cNvSpPr/>
          <p:nvPr/>
        </p:nvSpPr>
        <p:spPr>
          <a:xfrm>
            <a:off x="5138928" y="4469081"/>
            <a:ext cx="45720" cy="1319071"/>
          </a:xfrm>
          <a:prstGeom prst="rect">
            <a:avLst/>
          </a:prstGeom>
          <a:solidFill>
            <a:srgbClr val="2587C5"/>
          </a:solidFill>
          <a:ln/>
        </p:spPr>
      </p:sp>
      <p:sp>
        <p:nvSpPr>
          <p:cNvPr id="27" name="Text 25"/>
          <p:cNvSpPr txBox="1"/>
          <p:nvPr/>
        </p:nvSpPr>
        <p:spPr>
          <a:xfrm>
            <a:off x="5266944"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Consistency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Present it every visit, no exceptions. Say it once and skip it the next time, and we lose credibility</a:t>
            </a:r>
            <a:endParaRPr lang="en-US" sz="1400" dirty="0"/>
          </a:p>
        </p:txBody>
      </p:sp>
      <p:sp>
        <p:nvSpPr>
          <p:cNvPr id="28" name="Shape 26"/>
          <p:cNvSpPr/>
          <p:nvPr/>
        </p:nvSpPr>
        <p:spPr>
          <a:xfrm>
            <a:off x="8394192" y="4469081"/>
            <a:ext cx="45720" cy="1319071"/>
          </a:xfrm>
          <a:prstGeom prst="rect">
            <a:avLst/>
          </a:prstGeom>
          <a:solidFill>
            <a:srgbClr val="2587C5"/>
          </a:solidFill>
          <a:ln/>
        </p:spPr>
      </p:sp>
      <p:sp>
        <p:nvSpPr>
          <p:cNvPr id="29" name="Text 27"/>
          <p:cNvSpPr txBox="1"/>
          <p:nvPr/>
        </p:nvSpPr>
        <p:spPr>
          <a:xfrm>
            <a:off x="8522208" y="4469081"/>
            <a:ext cx="2962656" cy="1319071"/>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Tracking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Daily Viz Op Code report; feedback before the 15th</a:t>
            </a:r>
            <a:endParaRPr lang="en-US" sz="1400" dirty="0"/>
          </a:p>
        </p:txBody>
      </p:sp>
      <p:sp>
        <p:nvSpPr>
          <p:cNvPr id="30" name="Shape 28"/>
          <p:cNvSpPr/>
          <p:nvPr/>
        </p:nvSpPr>
        <p:spPr>
          <a:xfrm>
            <a:off x="457200" y="6126480"/>
            <a:ext cx="11274552" cy="348996"/>
          </a:xfrm>
          <a:prstGeom prst="rect">
            <a:avLst/>
          </a:prstGeom>
          <a:solidFill>
            <a:srgbClr val="EDF4FA"/>
          </a:solidFill>
          <a:ln/>
        </p:spPr>
      </p:sp>
      <p:sp>
        <p:nvSpPr>
          <p:cNvPr id="31" name="Text 29"/>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All four rose 1.2-1.4 pts and beat 2025 every month. Balance is furthest off, at 8.3%: 18,493 short of 15%.</a:t>
            </a:r>
            <a:endParaRPr lang="en-US" sz="1450" dirty="0"/>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11.9%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Alignment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13.2%, ahead of 2025 in all nine months, but 1.7 pts under the 15% benchmark — 4,821 alignments short.</a:t>
            </a:r>
            <a:endParaRPr lang="en-US" sz="1600" dirty="0"/>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ALIGNMENT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 name="Shape 15"/>
          <p:cNvSpPr/>
          <p:nvPr/>
        </p:nvSpPr>
        <p:spPr>
          <a:xfrm>
            <a:off x="3008376" y="2146957"/>
            <a:ext cx="1502209"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1" name="Shape 19"/>
          <p:cNvSpPr/>
          <p:nvPr/>
        </p:nvSpPr>
        <p:spPr>
          <a:xfrm>
            <a:off x="3008376" y="2386853"/>
            <a:ext cx="1339459"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5" name="Shape 23"/>
          <p:cNvSpPr/>
          <p:nvPr/>
        </p:nvSpPr>
        <p:spPr>
          <a:xfrm>
            <a:off x="3008376" y="2626748"/>
            <a:ext cx="1310026"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076659"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3" name="Shape 31"/>
          <p:cNvSpPr/>
          <p:nvPr/>
        </p:nvSpPr>
        <p:spPr>
          <a:xfrm>
            <a:off x="3008376" y="3106540"/>
            <a:ext cx="106901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026449"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1" name="Shape 39"/>
          <p:cNvSpPr/>
          <p:nvPr/>
        </p:nvSpPr>
        <p:spPr>
          <a:xfrm>
            <a:off x="3008376" y="3586331"/>
            <a:ext cx="995062"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008376" y="3826226"/>
            <a:ext cx="91220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9" name="Shape 47"/>
          <p:cNvSpPr/>
          <p:nvPr/>
        </p:nvSpPr>
        <p:spPr>
          <a:xfrm>
            <a:off x="3008376" y="4066122"/>
            <a:ext cx="895065"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893702"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853471"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4785808"/>
            <a:ext cx="85282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83630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9" name="Shape 67"/>
          <p:cNvSpPr/>
          <p:nvPr/>
        </p:nvSpPr>
        <p:spPr>
          <a:xfrm>
            <a:off x="3008376" y="5265599"/>
            <a:ext cx="791605"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3" name="Shape 71"/>
          <p:cNvSpPr/>
          <p:nvPr/>
        </p:nvSpPr>
        <p:spPr>
          <a:xfrm>
            <a:off x="3008376" y="5505495"/>
            <a:ext cx="79071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77302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1" name="Shape 79"/>
          <p:cNvSpPr/>
          <p:nvPr/>
        </p:nvSpPr>
        <p:spPr>
          <a:xfrm>
            <a:off x="8558784" y="1907062"/>
            <a:ext cx="770247"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5" name="Shape 83"/>
          <p:cNvSpPr/>
          <p:nvPr/>
        </p:nvSpPr>
        <p:spPr>
          <a:xfrm>
            <a:off x="8558784" y="2146957"/>
            <a:ext cx="758672"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8558784" y="2386853"/>
            <a:ext cx="72614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72211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8558784" y="2866644"/>
            <a:ext cx="698534"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8558784" y="3106540"/>
            <a:ext cx="68493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681795"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9" name="Shape 107"/>
          <p:cNvSpPr/>
          <p:nvPr/>
        </p:nvSpPr>
        <p:spPr>
          <a:xfrm>
            <a:off x="8558784" y="3586331"/>
            <a:ext cx="680768"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60009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7" name="Shape 115"/>
          <p:cNvSpPr/>
          <p:nvPr/>
        </p:nvSpPr>
        <p:spPr>
          <a:xfrm>
            <a:off x="8558784" y="4066122"/>
            <a:ext cx="59759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1" name="Shape 119"/>
          <p:cNvSpPr/>
          <p:nvPr/>
        </p:nvSpPr>
        <p:spPr>
          <a:xfrm>
            <a:off x="8558784" y="4306017"/>
            <a:ext cx="51885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5" name="Shape 123"/>
          <p:cNvSpPr/>
          <p:nvPr/>
        </p:nvSpPr>
        <p:spPr>
          <a:xfrm>
            <a:off x="8558784" y="4545913"/>
            <a:ext cx="491810"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9" name="Shape 127"/>
          <p:cNvSpPr/>
          <p:nvPr/>
        </p:nvSpPr>
        <p:spPr>
          <a:xfrm>
            <a:off x="8558784" y="4785808"/>
            <a:ext cx="45927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345940"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5.6%</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8558784" y="5265599"/>
            <a:ext cx="26142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1" name="Shape 139"/>
          <p:cNvSpPr/>
          <p:nvPr/>
        </p:nvSpPr>
        <p:spPr>
          <a:xfrm>
            <a:off x="8558784" y="5505495"/>
            <a:ext cx="259273"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43" name="Shape 141"/>
          <p:cNvSpPr/>
          <p:nvPr/>
        </p:nvSpPr>
        <p:spPr>
          <a:xfrm>
            <a:off x="3923086" y="1847088"/>
            <a:ext cx="14630" cy="4078224"/>
          </a:xfrm>
          <a:prstGeom prst="rect">
            <a:avLst/>
          </a:prstGeom>
          <a:solidFill>
            <a:srgbClr val="0B2C4A"/>
          </a:solidFill>
          <a:ln/>
        </p:spPr>
      </p:sp>
      <p:sp>
        <p:nvSpPr>
          <p:cNvPr id="144" name="Shape 142"/>
          <p:cNvSpPr/>
          <p:nvPr/>
        </p:nvSpPr>
        <p:spPr>
          <a:xfrm>
            <a:off x="9473494"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8 of 33 stores at or above 15%, led by Audi Henderson at 27.5%. The group sits at 13.2%.</a:t>
            </a:r>
            <a:endParaRPr lang="en-US" sz="1600" dirty="0"/>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602724"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153132"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608210" y="1756697"/>
            <a:ext cx="515734"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+$229K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21.3%</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9" name="Shape 17"/>
          <p:cNvSpPr/>
          <p:nvPr/>
        </p:nvSpPr>
        <p:spPr>
          <a:xfrm>
            <a:off x="3608210" y="2005199"/>
            <a:ext cx="368621"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+$163K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4" name="Shape 22"/>
          <p:cNvSpPr/>
          <p:nvPr/>
        </p:nvSpPr>
        <p:spPr>
          <a:xfrm>
            <a:off x="3608210" y="2253700"/>
            <a:ext cx="93661"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+$42K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608210" y="2502202"/>
            <a:ext cx="92519"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+$41K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34" name="Shape 32"/>
          <p:cNvSpPr/>
          <p:nvPr/>
        </p:nvSpPr>
        <p:spPr>
          <a:xfrm>
            <a:off x="3608210" y="2750703"/>
            <a:ext cx="60439"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+$27K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39" name="Shape 37"/>
          <p:cNvSpPr/>
          <p:nvPr/>
        </p:nvSpPr>
        <p:spPr>
          <a:xfrm>
            <a:off x="3608210" y="2999205"/>
            <a:ext cx="52903"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17.3%</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608210" y="3247707"/>
            <a:ext cx="38422"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+$17K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608210" y="3496208"/>
            <a:ext cx="32407"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4" name="Shape 52"/>
          <p:cNvSpPr/>
          <p:nvPr/>
        </p:nvSpPr>
        <p:spPr>
          <a:xfrm>
            <a:off x="3606258" y="3744710"/>
            <a:ext cx="18288"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−$865</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59" name="Shape 57"/>
          <p:cNvSpPr/>
          <p:nvPr/>
        </p:nvSpPr>
        <p:spPr>
          <a:xfrm>
            <a:off x="3591832" y="3993212"/>
            <a:ext cx="18288"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64" name="Shape 62"/>
          <p:cNvSpPr/>
          <p:nvPr/>
        </p:nvSpPr>
        <p:spPr>
          <a:xfrm>
            <a:off x="3587605" y="4241713"/>
            <a:ext cx="20606"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9" name="Shape 67"/>
          <p:cNvSpPr/>
          <p:nvPr/>
        </p:nvSpPr>
        <p:spPr>
          <a:xfrm>
            <a:off x="3586165" y="4490215"/>
            <a:ext cx="22045"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74" name="Shape 72"/>
          <p:cNvSpPr/>
          <p:nvPr/>
        </p:nvSpPr>
        <p:spPr>
          <a:xfrm>
            <a:off x="3584721" y="4738717"/>
            <a:ext cx="23489"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9" name="Shape 77"/>
          <p:cNvSpPr/>
          <p:nvPr/>
        </p:nvSpPr>
        <p:spPr>
          <a:xfrm>
            <a:off x="3582272" y="4987218"/>
            <a:ext cx="2593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3580943" y="5235720"/>
            <a:ext cx="27268"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568116" y="5484222"/>
            <a:ext cx="4009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94" name="Shape 92"/>
          <p:cNvSpPr/>
          <p:nvPr/>
        </p:nvSpPr>
        <p:spPr>
          <a:xfrm>
            <a:off x="3560947" y="5732723"/>
            <a:ext cx="47264"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99" name="Shape 97"/>
          <p:cNvSpPr/>
          <p:nvPr/>
        </p:nvSpPr>
        <p:spPr>
          <a:xfrm>
            <a:off x="9107541" y="1756697"/>
            <a:ext cx="51077"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04" name="Shape 102"/>
          <p:cNvSpPr/>
          <p:nvPr/>
        </p:nvSpPr>
        <p:spPr>
          <a:xfrm>
            <a:off x="9105708" y="2005199"/>
            <a:ext cx="52910"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09" name="Shape 107"/>
          <p:cNvSpPr/>
          <p:nvPr/>
        </p:nvSpPr>
        <p:spPr>
          <a:xfrm>
            <a:off x="9101403" y="2253700"/>
            <a:ext cx="57215"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4" name="Shape 112"/>
          <p:cNvSpPr/>
          <p:nvPr/>
        </p:nvSpPr>
        <p:spPr>
          <a:xfrm>
            <a:off x="9099265" y="2502202"/>
            <a:ext cx="5935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19" name="Shape 117"/>
          <p:cNvSpPr/>
          <p:nvPr/>
        </p:nvSpPr>
        <p:spPr>
          <a:xfrm>
            <a:off x="9084954" y="2750703"/>
            <a:ext cx="73665"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4" name="Shape 122"/>
          <p:cNvSpPr/>
          <p:nvPr/>
        </p:nvSpPr>
        <p:spPr>
          <a:xfrm>
            <a:off x="9083815" y="2999205"/>
            <a:ext cx="74803"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14.5%</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29" name="Shape 127"/>
          <p:cNvSpPr/>
          <p:nvPr/>
        </p:nvSpPr>
        <p:spPr>
          <a:xfrm>
            <a:off x="9081129" y="3247707"/>
            <a:ext cx="7749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34" name="Shape 132"/>
          <p:cNvSpPr/>
          <p:nvPr/>
        </p:nvSpPr>
        <p:spPr>
          <a:xfrm>
            <a:off x="9076646" y="3496208"/>
            <a:ext cx="81973"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39" name="Shape 137"/>
          <p:cNvSpPr/>
          <p:nvPr/>
        </p:nvSpPr>
        <p:spPr>
          <a:xfrm>
            <a:off x="9072387" y="3744710"/>
            <a:ext cx="86231"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4" name="Shape 142"/>
          <p:cNvSpPr/>
          <p:nvPr/>
        </p:nvSpPr>
        <p:spPr>
          <a:xfrm>
            <a:off x="9047176" y="3993212"/>
            <a:ext cx="111443"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9" name="Shape 147"/>
          <p:cNvSpPr/>
          <p:nvPr/>
        </p:nvSpPr>
        <p:spPr>
          <a:xfrm>
            <a:off x="9029635" y="4241713"/>
            <a:ext cx="128983"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54" name="Shape 152"/>
          <p:cNvSpPr/>
          <p:nvPr/>
        </p:nvSpPr>
        <p:spPr>
          <a:xfrm>
            <a:off x="8988331" y="4490215"/>
            <a:ext cx="170287"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12.8%</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9" name="Shape 157"/>
          <p:cNvSpPr/>
          <p:nvPr/>
        </p:nvSpPr>
        <p:spPr>
          <a:xfrm>
            <a:off x="8985336" y="4738717"/>
            <a:ext cx="173282"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64" name="Shape 162"/>
          <p:cNvSpPr/>
          <p:nvPr/>
        </p:nvSpPr>
        <p:spPr>
          <a:xfrm>
            <a:off x="8971042" y="4987218"/>
            <a:ext cx="187577"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9" name="Shape 167"/>
          <p:cNvSpPr/>
          <p:nvPr/>
        </p:nvSpPr>
        <p:spPr>
          <a:xfrm>
            <a:off x="8955629" y="5235720"/>
            <a:ext cx="202990"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508394"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−$225K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25 stores under 15% leave $1,029,276 a year; 8 are at or above it. Toyota Spokane is furthest below at −$225K.</a:t>
            </a:r>
            <a:endParaRPr lang="en-US" sz="1400" dirty="0"/>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Alignment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 pts</a:t>
            </a:r>
            <a:endParaRPr lang="en-US" sz="1600" dirty="0"/>
          </a:p>
        </p:txBody>
      </p:sp>
      <p:sp>
        <p:nvSpPr>
          <p:cNvPr id="14" name="Shape 12"/>
          <p:cNvSpPr/>
          <p:nvPr/>
        </p:nvSpPr>
        <p:spPr>
          <a:xfrm>
            <a:off x="4084320" y="2894990"/>
            <a:ext cx="64008" cy="682142"/>
          </a:xfrm>
          <a:prstGeom prst="rect">
            <a:avLst/>
          </a:prstGeom>
          <a:solidFill>
            <a:srgbClr val="12A566"/>
          </a:solidFill>
          <a:ln/>
        </p:spPr>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21.7%</a:t>
            </a:r>
            <a:endParaRPr lang="en-US" sz="1400" dirty="0"/>
          </a:p>
        </p:txBody>
      </p:sp>
      <p:sp>
        <p:nvSpPr>
          <p:cNvPr id="17" name="Text 15"/>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18" name="Shape 16"/>
          <p:cNvSpPr/>
          <p:nvPr/>
        </p:nvSpPr>
        <p:spPr>
          <a:xfrm>
            <a:off x="658368" y="3613709"/>
            <a:ext cx="3489960" cy="755294"/>
          </a:xfrm>
          <a:prstGeom prst="rect">
            <a:avLst/>
          </a:prstGeom>
          <a:solidFill>
            <a:srgbClr val="F7F7F7"/>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+6.8 pts</a:t>
            </a:r>
            <a:endParaRPr lang="en-US" sz="1600" dirty="0"/>
          </a:p>
        </p:txBody>
      </p:sp>
      <p:sp>
        <p:nvSpPr>
          <p:cNvPr id="22" name="Shape 20"/>
          <p:cNvSpPr/>
          <p:nvPr/>
        </p:nvSpPr>
        <p:spPr>
          <a:xfrm>
            <a:off x="4084320" y="4405579"/>
            <a:ext cx="64008" cy="682142"/>
          </a:xfrm>
          <a:prstGeom prst="rect">
            <a:avLst/>
          </a:prstGeom>
          <a:solidFill>
            <a:srgbClr val="12A566"/>
          </a:solidFill>
          <a:ln/>
        </p:spPr>
      </p:sp>
      <p:sp>
        <p:nvSpPr>
          <p:cNvPr id="23" name="Text 21"/>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4" name="Text 22"/>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5" name="Text 23"/>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6" name="Shape 24"/>
          <p:cNvSpPr/>
          <p:nvPr/>
        </p:nvSpPr>
        <p:spPr>
          <a:xfrm>
            <a:off x="658368" y="5124298"/>
            <a:ext cx="3489960" cy="755294"/>
          </a:xfrm>
          <a:prstGeom prst="rect">
            <a:avLst/>
          </a:prstGeom>
          <a:solidFill>
            <a:srgbClr val="F7F7F7"/>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17.3%</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+5.9 pts</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12.8%</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−4.9 pts</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9.7%</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 pts</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14.5%</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31.7%</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+10.7 pts</a:t>
            </a:r>
            <a:endParaRPr lang="en-US" sz="1600" dirty="0"/>
          </a:p>
        </p:txBody>
      </p:sp>
      <p:sp>
        <p:nvSpPr>
          <p:cNvPr id="58" name="Shape 56"/>
          <p:cNvSpPr/>
          <p:nvPr/>
        </p:nvSpPr>
        <p:spPr>
          <a:xfrm>
            <a:off x="11466576" y="2894990"/>
            <a:ext cx="64008" cy="682142"/>
          </a:xfrm>
          <a:prstGeom prst="rect">
            <a:avLst/>
          </a:prstGeom>
          <a:solidFill>
            <a:srgbClr val="12A566"/>
          </a:solidFill>
          <a:ln/>
        </p:spPr>
      </p:sp>
      <p:sp>
        <p:nvSpPr>
          <p:cNvPr id="59" name="Text 5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0" name="Text 5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22.8%</a:t>
            </a:r>
            <a:endParaRPr lang="en-US" sz="1400" dirty="0"/>
          </a:p>
        </p:txBody>
      </p:sp>
      <p:sp>
        <p:nvSpPr>
          <p:cNvPr id="61" name="Text 59"/>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+10.2 pts</a:t>
            </a:r>
            <a:endParaRPr lang="en-US" sz="1600" dirty="0"/>
          </a:p>
        </p:txBody>
      </p:sp>
      <p:sp>
        <p:nvSpPr>
          <p:cNvPr id="62" name="Shape 60"/>
          <p:cNvSpPr/>
          <p:nvPr/>
        </p:nvSpPr>
        <p:spPr>
          <a:xfrm>
            <a:off x="8040624" y="3613709"/>
            <a:ext cx="3489960" cy="755294"/>
          </a:xfrm>
          <a:prstGeom prst="rect">
            <a:avLst/>
          </a:prstGeom>
          <a:solidFill>
            <a:srgbClr val="F7F7F7"/>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66" name="Shape 64"/>
          <p:cNvSpPr/>
          <p:nvPr/>
        </p:nvSpPr>
        <p:spPr>
          <a:xfrm>
            <a:off x="11466576" y="4405579"/>
            <a:ext cx="64008" cy="682142"/>
          </a:xfrm>
          <a:prstGeom prst="rect">
            <a:avLst/>
          </a:prstGeom>
          <a:solidFill>
            <a:srgbClr val="12A566"/>
          </a:solidFill>
          <a:ln/>
        </p:spPr>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25.7%</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 pts</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75" name="Shape 73"/>
          <p:cNvSpPr/>
          <p:nvPr/>
        </p:nvSpPr>
        <p:spPr>
          <a:xfrm>
            <a:off x="457200" y="6126480"/>
            <a:ext cx="11274552" cy="615696"/>
          </a:xfrm>
          <a:prstGeom prst="rect">
            <a:avLst/>
          </a:prstGeom>
          <a:solidFill>
            <a:srgbClr val="EDF4FA"/>
          </a:solidFill>
          <a:ln/>
        </p:spPr>
      </p:sp>
      <p:sp>
        <p:nvSpPr>
          <p:cNvPr id="76" name="Text 74"/>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Hyundai Prescott and GMC Prescott what changed. Ask LR Reno, Kia LV and Subaru LV what got in the way. Ask Audi Henderson, Mazda and Kia St George what they started this year.</a:t>
            </a:r>
            <a:endParaRPr lang="en-US" sz="1600" dirty="0"/>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6.9%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8.3%</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+20.0%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Balance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8.3%, ahead of 2025 in all nine months, but 6.6 pts under the 15% benchmark — 18,493 balances short.</a:t>
            </a:r>
            <a:endParaRPr lang="en-US" sz="1600" dirty="0"/>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BALANCE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15347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1" name="Shape 19"/>
          <p:cNvSpPr/>
          <p:nvPr/>
        </p:nvSpPr>
        <p:spPr>
          <a:xfrm>
            <a:off x="3008376" y="2386853"/>
            <a:ext cx="1064356"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5" name="Shape 23"/>
          <p:cNvSpPr/>
          <p:nvPr/>
        </p:nvSpPr>
        <p:spPr>
          <a:xfrm>
            <a:off x="3008376" y="2626748"/>
            <a:ext cx="10624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9" name="Shape 27"/>
          <p:cNvSpPr/>
          <p:nvPr/>
        </p:nvSpPr>
        <p:spPr>
          <a:xfrm>
            <a:off x="3008376" y="2866644"/>
            <a:ext cx="938723" cy="119948"/>
          </a:xfrm>
          <a:prstGeom prst="rect">
            <a:avLst/>
          </a:prstGeom>
          <a:solidFill>
            <a:srgbClr val="C2352F"/>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3" name="Shape 31"/>
          <p:cNvSpPr/>
          <p:nvPr/>
        </p:nvSpPr>
        <p:spPr>
          <a:xfrm>
            <a:off x="3008376" y="3106540"/>
            <a:ext cx="883929" cy="119948"/>
          </a:xfrm>
          <a:prstGeom prst="rect">
            <a:avLst/>
          </a:prstGeom>
          <a:solidFill>
            <a:srgbClr val="C2352F"/>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7" name="Shape 35"/>
          <p:cNvSpPr/>
          <p:nvPr/>
        </p:nvSpPr>
        <p:spPr>
          <a:xfrm>
            <a:off x="3008376" y="3346435"/>
            <a:ext cx="847705" cy="119948"/>
          </a:xfrm>
          <a:prstGeom prst="rect">
            <a:avLst/>
          </a:prstGeom>
          <a:solidFill>
            <a:srgbClr val="C2352F"/>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008376" y="3586331"/>
            <a:ext cx="826302"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3826226"/>
            <a:ext cx="752231"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9" name="Shape 47"/>
          <p:cNvSpPr/>
          <p:nvPr/>
        </p:nvSpPr>
        <p:spPr>
          <a:xfrm>
            <a:off x="3008376" y="4066122"/>
            <a:ext cx="734701"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03205"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11.2%</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7" name="Shape 55"/>
          <p:cNvSpPr/>
          <p:nvPr/>
        </p:nvSpPr>
        <p:spPr>
          <a:xfrm>
            <a:off x="3008376" y="4545913"/>
            <a:ext cx="640057"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1" name="Shape 59"/>
          <p:cNvSpPr/>
          <p:nvPr/>
        </p:nvSpPr>
        <p:spPr>
          <a:xfrm>
            <a:off x="3008376" y="4785808"/>
            <a:ext cx="569932"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519894"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9" name="Shape 67"/>
          <p:cNvSpPr/>
          <p:nvPr/>
        </p:nvSpPr>
        <p:spPr>
          <a:xfrm>
            <a:off x="3008376" y="5265599"/>
            <a:ext cx="485901"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505495"/>
            <a:ext cx="483593"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008376" y="5745390"/>
            <a:ext cx="457948"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07062"/>
            <a:ext cx="38588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46957"/>
            <a:ext cx="37393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9" name="Shape 87"/>
          <p:cNvSpPr/>
          <p:nvPr/>
        </p:nvSpPr>
        <p:spPr>
          <a:xfrm>
            <a:off x="8558784" y="2386853"/>
            <a:ext cx="328119"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309470"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4.9%</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2312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1" name="Shape 99"/>
          <p:cNvSpPr/>
          <p:nvPr/>
        </p:nvSpPr>
        <p:spPr>
          <a:xfrm>
            <a:off x="8558784" y="3106540"/>
            <a:ext cx="13679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05" name="Shape 103"/>
          <p:cNvSpPr/>
          <p:nvPr/>
        </p:nvSpPr>
        <p:spPr>
          <a:xfrm>
            <a:off x="8558784" y="3346435"/>
            <a:ext cx="10480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9" name="Shape 107"/>
          <p:cNvSpPr/>
          <p:nvPr/>
        </p:nvSpPr>
        <p:spPr>
          <a:xfrm>
            <a:off x="8558784" y="3586331"/>
            <a:ext cx="82384"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3" name="Shape 111"/>
          <p:cNvSpPr/>
          <p:nvPr/>
        </p:nvSpPr>
        <p:spPr>
          <a:xfrm>
            <a:off x="8558784" y="3826226"/>
            <a:ext cx="79502"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58784" y="4066122"/>
            <a:ext cx="76690"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8558784" y="4306017"/>
            <a:ext cx="66479"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545913"/>
            <a:ext cx="3100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9" name="Shape 127"/>
          <p:cNvSpPr/>
          <p:nvPr/>
        </p:nvSpPr>
        <p:spPr>
          <a:xfrm>
            <a:off x="8558784" y="4785808"/>
            <a:ext cx="2611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40705" y="1847088"/>
            <a:ext cx="14630" cy="4078224"/>
          </a:xfrm>
          <a:prstGeom prst="rect">
            <a:avLst/>
          </a:prstGeom>
          <a:solidFill>
            <a:srgbClr val="0B2C4A"/>
          </a:solidFill>
          <a:ln/>
        </p:spPr>
      </p:sp>
      <p:sp>
        <p:nvSpPr>
          <p:cNvPr id="144" name="Shape 142"/>
          <p:cNvSpPr/>
          <p:nvPr/>
        </p:nvSpPr>
        <p:spPr>
          <a:xfrm>
            <a:off x="9491113"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4 of 33 stores at or above 15%, led by LR Henderson at 27.0%. The group sits at 8.3%.</a:t>
            </a:r>
            <a:endParaRPr lang="en-US" sz="1600" dirty="0"/>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Tire Balance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831949"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382357"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837435" y="1756697"/>
            <a:ext cx="286509"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18.4%</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9" name="Shape 17"/>
          <p:cNvSpPr/>
          <p:nvPr/>
        </p:nvSpPr>
        <p:spPr>
          <a:xfrm>
            <a:off x="3837435" y="2005199"/>
            <a:ext cx="125398"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27.0%</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24" name="Shape 22"/>
          <p:cNvSpPr/>
          <p:nvPr/>
        </p:nvSpPr>
        <p:spPr>
          <a:xfrm>
            <a:off x="3837435" y="2253700"/>
            <a:ext cx="56794"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+$14K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29" name="Shape 27"/>
          <p:cNvSpPr/>
          <p:nvPr/>
        </p:nvSpPr>
        <p:spPr>
          <a:xfrm>
            <a:off x="3837435" y="2502202"/>
            <a:ext cx="22738"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34" name="Shape 32"/>
          <p:cNvSpPr/>
          <p:nvPr/>
        </p:nvSpPr>
        <p:spPr>
          <a:xfrm>
            <a:off x="3837294" y="2750703"/>
            <a:ext cx="18288" cy="136676"/>
          </a:xfrm>
          <a:prstGeom prst="rect">
            <a:avLst/>
          </a:prstGeom>
          <a:solidFill>
            <a:srgbClr val="C2352F"/>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9" name="Shape 37"/>
          <p:cNvSpPr/>
          <p:nvPr/>
        </p:nvSpPr>
        <p:spPr>
          <a:xfrm>
            <a:off x="3826086" y="2999205"/>
            <a:ext cx="18288" cy="136676"/>
          </a:xfrm>
          <a:prstGeom prst="rect">
            <a:avLst/>
          </a:prstGeom>
          <a:solidFill>
            <a:srgbClr val="C2352F"/>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14.1%</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4" name="Shape 42"/>
          <p:cNvSpPr/>
          <p:nvPr/>
        </p:nvSpPr>
        <p:spPr>
          <a:xfrm>
            <a:off x="3813350" y="3247707"/>
            <a:ext cx="24085" cy="136676"/>
          </a:xfrm>
          <a:prstGeom prst="rect">
            <a:avLst/>
          </a:prstGeom>
          <a:solidFill>
            <a:srgbClr val="C2352F"/>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9" name="Shape 47"/>
          <p:cNvSpPr/>
          <p:nvPr/>
        </p:nvSpPr>
        <p:spPr>
          <a:xfrm>
            <a:off x="3806604" y="3496208"/>
            <a:ext cx="30831"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54" name="Shape 52"/>
          <p:cNvSpPr/>
          <p:nvPr/>
        </p:nvSpPr>
        <p:spPr>
          <a:xfrm>
            <a:off x="3792816" y="3744710"/>
            <a:ext cx="4461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59" name="Shape 57"/>
          <p:cNvSpPr/>
          <p:nvPr/>
        </p:nvSpPr>
        <p:spPr>
          <a:xfrm>
            <a:off x="3778841" y="3993212"/>
            <a:ext cx="58594"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62034" y="4241713"/>
            <a:ext cx="7540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9" name="Shape 67"/>
          <p:cNvSpPr/>
          <p:nvPr/>
        </p:nvSpPr>
        <p:spPr>
          <a:xfrm>
            <a:off x="3751798" y="4490215"/>
            <a:ext cx="85637"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9.0%</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727198" y="4738717"/>
            <a:ext cx="110237"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725070" y="4987218"/>
            <a:ext cx="11236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4" name="Shape 82"/>
          <p:cNvSpPr/>
          <p:nvPr/>
        </p:nvSpPr>
        <p:spPr>
          <a:xfrm>
            <a:off x="3723194" y="5235720"/>
            <a:ext cx="11424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9" name="Shape 87"/>
          <p:cNvSpPr/>
          <p:nvPr/>
        </p:nvSpPr>
        <p:spPr>
          <a:xfrm>
            <a:off x="3710862" y="5484222"/>
            <a:ext cx="126574"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94" name="Shape 92"/>
          <p:cNvSpPr/>
          <p:nvPr/>
        </p:nvSpPr>
        <p:spPr>
          <a:xfrm>
            <a:off x="3690964" y="5732723"/>
            <a:ext cx="1464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−$36K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99" name="Shape 97"/>
          <p:cNvSpPr/>
          <p:nvPr/>
        </p:nvSpPr>
        <p:spPr>
          <a:xfrm>
            <a:off x="9230771" y="1756697"/>
            <a:ext cx="157072"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4" name="Shape 102"/>
          <p:cNvSpPr/>
          <p:nvPr/>
        </p:nvSpPr>
        <p:spPr>
          <a:xfrm>
            <a:off x="9175412" y="2005199"/>
            <a:ext cx="21243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9174770" y="2253700"/>
            <a:ext cx="21307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0.1%</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4" name="Shape 112"/>
          <p:cNvSpPr/>
          <p:nvPr/>
        </p:nvSpPr>
        <p:spPr>
          <a:xfrm>
            <a:off x="9156849" y="2502202"/>
            <a:ext cx="230994"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19" name="Shape 117"/>
          <p:cNvSpPr/>
          <p:nvPr/>
        </p:nvSpPr>
        <p:spPr>
          <a:xfrm>
            <a:off x="9109512" y="2750703"/>
            <a:ext cx="278331"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4" name="Shape 122"/>
          <p:cNvSpPr/>
          <p:nvPr/>
        </p:nvSpPr>
        <p:spPr>
          <a:xfrm>
            <a:off x="9109414" y="2999205"/>
            <a:ext cx="278430"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9" name="Shape 127"/>
          <p:cNvSpPr/>
          <p:nvPr/>
        </p:nvSpPr>
        <p:spPr>
          <a:xfrm>
            <a:off x="9093262" y="3247707"/>
            <a:ext cx="294581"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4" name="Shape 132"/>
          <p:cNvSpPr/>
          <p:nvPr/>
        </p:nvSpPr>
        <p:spPr>
          <a:xfrm>
            <a:off x="9087005" y="3496208"/>
            <a:ext cx="300838"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−$73K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9073146" y="3744710"/>
            <a:ext cx="314698"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4" name="Shape 142"/>
          <p:cNvSpPr/>
          <p:nvPr/>
        </p:nvSpPr>
        <p:spPr>
          <a:xfrm>
            <a:off x="9059221" y="3993212"/>
            <a:ext cx="328622"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49" name="Shape 147"/>
          <p:cNvSpPr/>
          <p:nvPr/>
        </p:nvSpPr>
        <p:spPr>
          <a:xfrm>
            <a:off x="8951542" y="4241713"/>
            <a:ext cx="436301"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940210" y="4490215"/>
            <a:ext cx="447633"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59" name="Shape 157"/>
          <p:cNvSpPr/>
          <p:nvPr/>
        </p:nvSpPr>
        <p:spPr>
          <a:xfrm>
            <a:off x="8875154" y="4738717"/>
            <a:ext cx="512690"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4" name="Shape 162"/>
          <p:cNvSpPr/>
          <p:nvPr/>
        </p:nvSpPr>
        <p:spPr>
          <a:xfrm>
            <a:off x="8844728" y="4987218"/>
            <a:ext cx="543115"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−$132K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6.1%</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783012" y="5235720"/>
            <a:ext cx="604831"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4" name="Shape 172"/>
          <p:cNvSpPr/>
          <p:nvPr/>
        </p:nvSpPr>
        <p:spPr>
          <a:xfrm>
            <a:off x="8650224" y="5484222"/>
            <a:ext cx="737619"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−$180K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0.4%</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41376"/>
          </a:xfrm>
          <a:prstGeom prst="rect">
            <a:avLst/>
          </a:prstGeom>
          <a:solidFill>
            <a:srgbClr val="FBEBEA"/>
          </a:solidFill>
          <a:ln/>
        </p:spPr>
      </p:sp>
      <p:sp>
        <p:nvSpPr>
          <p:cNvPr id="179" name="Text 177"/>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A82B26"/>
                </a:solidFill>
                <a:latin typeface="Inter" pitchFamily="34" charset="0"/>
                <a:ea typeface="Inter" pitchFamily="34" charset="-122"/>
                <a:cs typeface="Inter" pitchFamily="34" charset="-120"/>
              </a:rPr>
              <a:t>29 stores under 15% leave $1,664,385 a year; 4 are at or above it. Toyota Spokane is furthest below at −$180K.</a:t>
            </a:r>
            <a:endParaRPr lang="en-US" sz="1400" dirty="0"/>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Balance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14.9%</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+13.6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Shape 15"/>
          <p:cNvSpPr/>
          <p:nvPr/>
        </p:nvSpPr>
        <p:spPr>
          <a:xfrm>
            <a:off x="4084320" y="3650285"/>
            <a:ext cx="64008" cy="682142"/>
          </a:xfrm>
          <a:prstGeom prst="rect">
            <a:avLst/>
          </a:prstGeom>
          <a:solidFill>
            <a:srgbClr val="12A566"/>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13.1%</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+6.7 pts</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+6.6 pts</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−1.6 pts</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−1.5 pts</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5.2%</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 pts</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10.2%</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11.2%</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 pts</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Text 60"/>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a:t>
            </a:r>
            <a:endParaRPr lang="en-US" sz="1400" dirty="0"/>
          </a:p>
        </p:txBody>
      </p:sp>
      <p:sp>
        <p:nvSpPr>
          <p:cNvPr id="64" name="Text 62"/>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65" name="Shape 63"/>
          <p:cNvSpPr/>
          <p:nvPr/>
        </p:nvSpPr>
        <p:spPr>
          <a:xfrm>
            <a:off x="11466576" y="4405579"/>
            <a:ext cx="64008" cy="682142"/>
          </a:xfrm>
          <a:prstGeom prst="rect">
            <a:avLst/>
          </a:prstGeom>
          <a:solidFill>
            <a:srgbClr val="12A566"/>
          </a:solidFill>
          <a:ln/>
        </p:spPr>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3" name="Shape 71"/>
          <p:cNvSpPr/>
          <p:nvPr/>
        </p:nvSpPr>
        <p:spPr>
          <a:xfrm>
            <a:off x="457200" y="6126480"/>
            <a:ext cx="11274552" cy="615696"/>
          </a:xfrm>
          <a:prstGeom prst="rect">
            <a:avLst/>
          </a:prstGeom>
          <a:solidFill>
            <a:srgbClr val="EDF4FA"/>
          </a:solidFill>
          <a:ln/>
        </p:spPr>
      </p:sp>
      <p:sp>
        <p:nvSpPr>
          <p:cNvPr id="74" name="Text 7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Subaru Prescott, LR LV and Mazda what changed. Ask Subaru St George, Nissan and Kia LV what got in the way. Ask Mazda, Hyundai Prescott and Honda Spokane what they started this year.</a:t>
            </a:r>
            <a:endParaRPr lang="en-US" sz="1600" dirty="0"/>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9.2%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Brake Fluid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10%</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1.4 pts to 9.2%, ahead of 2025 in all nine months, but 0.7 pts under the 10% benchmark — 1,985 brake fluid services short.</a:t>
            </a:r>
            <a:endParaRPr lang="en-US" sz="1600" dirty="0"/>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BRAKE FLUID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10.0%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9.2%</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20.6%</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27737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171658"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14.3%</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042017"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008376" y="2866644"/>
            <a:ext cx="991227"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008376" y="3106540"/>
            <a:ext cx="975131"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11.9%</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008376" y="3346435"/>
            <a:ext cx="95384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880621"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5" name="Shape 43"/>
          <p:cNvSpPr/>
          <p:nvPr/>
        </p:nvSpPr>
        <p:spPr>
          <a:xfrm>
            <a:off x="3008376" y="3826226"/>
            <a:ext cx="86965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9" name="Shape 47"/>
          <p:cNvSpPr/>
          <p:nvPr/>
        </p:nvSpPr>
        <p:spPr>
          <a:xfrm>
            <a:off x="3008376" y="4066122"/>
            <a:ext cx="846628"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53" name="Shape 51"/>
          <p:cNvSpPr/>
          <p:nvPr/>
        </p:nvSpPr>
        <p:spPr>
          <a:xfrm>
            <a:off x="3008376" y="4306017"/>
            <a:ext cx="830606"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7" name="Shape 55"/>
          <p:cNvSpPr/>
          <p:nvPr/>
        </p:nvSpPr>
        <p:spPr>
          <a:xfrm>
            <a:off x="3008376" y="4545913"/>
            <a:ext cx="824603"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008376" y="4785808"/>
            <a:ext cx="790584"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9.6%</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008376" y="5025704"/>
            <a:ext cx="78010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69540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5505495"/>
            <a:ext cx="688562"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8.4%</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008376" y="5745390"/>
            <a:ext cx="686926"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81" name="Shape 79"/>
          <p:cNvSpPr/>
          <p:nvPr/>
        </p:nvSpPr>
        <p:spPr>
          <a:xfrm>
            <a:off x="8558784" y="1907062"/>
            <a:ext cx="677808"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58784" y="2146957"/>
            <a:ext cx="661087"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58784" y="2386853"/>
            <a:ext cx="616668"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3" name="Shape 91"/>
          <p:cNvSpPr/>
          <p:nvPr/>
        </p:nvSpPr>
        <p:spPr>
          <a:xfrm>
            <a:off x="8558784" y="2626748"/>
            <a:ext cx="59372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7" name="Shape 95"/>
          <p:cNvSpPr/>
          <p:nvPr/>
        </p:nvSpPr>
        <p:spPr>
          <a:xfrm>
            <a:off x="8558784" y="2866644"/>
            <a:ext cx="58034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1" name="Shape 99"/>
          <p:cNvSpPr/>
          <p:nvPr/>
        </p:nvSpPr>
        <p:spPr>
          <a:xfrm>
            <a:off x="8558784" y="3106540"/>
            <a:ext cx="57746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5" name="Shape 103"/>
          <p:cNvSpPr/>
          <p:nvPr/>
        </p:nvSpPr>
        <p:spPr>
          <a:xfrm>
            <a:off x="8558784" y="3346435"/>
            <a:ext cx="49826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558784" y="3586331"/>
            <a:ext cx="487865"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8558784" y="3826226"/>
            <a:ext cx="47501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7" name="Shape 115"/>
          <p:cNvSpPr/>
          <p:nvPr/>
        </p:nvSpPr>
        <p:spPr>
          <a:xfrm>
            <a:off x="8558784" y="4066122"/>
            <a:ext cx="443916"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5.4%</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58784" y="4306017"/>
            <a:ext cx="3888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558784" y="4545913"/>
            <a:ext cx="38319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347029"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3" name="Shape 131"/>
          <p:cNvSpPr/>
          <p:nvPr/>
        </p:nvSpPr>
        <p:spPr>
          <a:xfrm>
            <a:off x="8558784" y="5025704"/>
            <a:ext cx="260164"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3.1%</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201580"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1" name="Shape 139"/>
          <p:cNvSpPr/>
          <p:nvPr/>
        </p:nvSpPr>
        <p:spPr>
          <a:xfrm>
            <a:off x="8558784" y="5505495"/>
            <a:ext cx="158552"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a:t>
            </a:r>
            <a:endParaRPr lang="en-US" sz="1200" dirty="0"/>
          </a:p>
        </p:txBody>
      </p:sp>
      <p:sp>
        <p:nvSpPr>
          <p:cNvPr id="143" name="Shape 141"/>
          <p:cNvSpPr/>
          <p:nvPr/>
        </p:nvSpPr>
        <p:spPr>
          <a:xfrm>
            <a:off x="3820171" y="1847088"/>
            <a:ext cx="14630" cy="4078224"/>
          </a:xfrm>
          <a:prstGeom prst="rect">
            <a:avLst/>
          </a:prstGeom>
          <a:solidFill>
            <a:srgbClr val="0B2C4A"/>
          </a:solidFill>
          <a:ln/>
        </p:spPr>
      </p:sp>
      <p:sp>
        <p:nvSpPr>
          <p:cNvPr id="144" name="Shape 142"/>
          <p:cNvSpPr/>
          <p:nvPr/>
        </p:nvSpPr>
        <p:spPr>
          <a:xfrm>
            <a:off x="9370579"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12 of 33 stores at or above 10%, led by LR LV at 20.6%. The group sits at 9.2%.</a:t>
            </a:r>
            <a:endParaRPr lang="en-US" sz="1600" dirty="0"/>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470240"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20648"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475726" y="1756697"/>
            <a:ext cx="648218"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+$260K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 name="Shape 17"/>
          <p:cNvSpPr/>
          <p:nvPr/>
        </p:nvSpPr>
        <p:spPr>
          <a:xfrm>
            <a:off x="3475726" y="2005199"/>
            <a:ext cx="467053"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+$187K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20.6%</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475726" y="2253700"/>
            <a:ext cx="168095"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+$67K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9" name="Shape 27"/>
          <p:cNvSpPr/>
          <p:nvPr/>
        </p:nvSpPr>
        <p:spPr>
          <a:xfrm>
            <a:off x="3475726" y="2502202"/>
            <a:ext cx="84155"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+$34K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34" name="Shape 32"/>
          <p:cNvSpPr/>
          <p:nvPr/>
        </p:nvSpPr>
        <p:spPr>
          <a:xfrm>
            <a:off x="3475726" y="2750703"/>
            <a:ext cx="8127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+$33K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9" name="Shape 37"/>
          <p:cNvSpPr/>
          <p:nvPr/>
        </p:nvSpPr>
        <p:spPr>
          <a:xfrm>
            <a:off x="3475726" y="2999205"/>
            <a:ext cx="58927"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44" name="Shape 42"/>
          <p:cNvSpPr/>
          <p:nvPr/>
        </p:nvSpPr>
        <p:spPr>
          <a:xfrm>
            <a:off x="3475726" y="3247707"/>
            <a:ext cx="52299"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+$21K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49" name="Shape 47"/>
          <p:cNvSpPr/>
          <p:nvPr/>
        </p:nvSpPr>
        <p:spPr>
          <a:xfrm>
            <a:off x="3475726" y="3496208"/>
            <a:ext cx="48881" cy="136676"/>
          </a:xfrm>
          <a:prstGeom prst="rect">
            <a:avLst/>
          </a:prstGeom>
          <a:solidFill>
            <a:srgbClr val="12A566"/>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3475726" y="3744710"/>
            <a:ext cx="39506" cy="136676"/>
          </a:xfrm>
          <a:prstGeom prst="rect">
            <a:avLst/>
          </a:prstGeom>
          <a:solidFill>
            <a:srgbClr val="12A566"/>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+$16K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9" name="Shape 57"/>
          <p:cNvSpPr/>
          <p:nvPr/>
        </p:nvSpPr>
        <p:spPr>
          <a:xfrm>
            <a:off x="3475726" y="3993212"/>
            <a:ext cx="22119" cy="136676"/>
          </a:xfrm>
          <a:prstGeom prst="rect">
            <a:avLst/>
          </a:prstGeom>
          <a:solidFill>
            <a:srgbClr val="12A566"/>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64" name="Shape 62"/>
          <p:cNvSpPr/>
          <p:nvPr/>
        </p:nvSpPr>
        <p:spPr>
          <a:xfrm>
            <a:off x="3475726" y="4241713"/>
            <a:ext cx="18288" cy="136676"/>
          </a:xfrm>
          <a:prstGeom prst="rect">
            <a:avLst/>
          </a:prstGeom>
          <a:solidFill>
            <a:srgbClr val="12A566"/>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9" name="Shape 67"/>
          <p:cNvSpPr/>
          <p:nvPr/>
        </p:nvSpPr>
        <p:spPr>
          <a:xfrm>
            <a:off x="3475726" y="4490215"/>
            <a:ext cx="18288" cy="136676"/>
          </a:xfrm>
          <a:prstGeom prst="rect">
            <a:avLst/>
          </a:prstGeom>
          <a:solidFill>
            <a:srgbClr val="12A566"/>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74" name="Shape 72"/>
          <p:cNvSpPr/>
          <p:nvPr/>
        </p:nvSpPr>
        <p:spPr>
          <a:xfrm>
            <a:off x="3467487" y="4738717"/>
            <a:ext cx="18288"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79" name="Shape 77"/>
          <p:cNvSpPr/>
          <p:nvPr/>
        </p:nvSpPr>
        <p:spPr>
          <a:xfrm>
            <a:off x="3464806" y="4987218"/>
            <a:ext cx="18288"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4" name="Shape 82"/>
          <p:cNvSpPr/>
          <p:nvPr/>
        </p:nvSpPr>
        <p:spPr>
          <a:xfrm>
            <a:off x="3448532" y="5235720"/>
            <a:ext cx="27195"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9" name="Shape 87"/>
          <p:cNvSpPr/>
          <p:nvPr/>
        </p:nvSpPr>
        <p:spPr>
          <a:xfrm>
            <a:off x="3443206" y="5484222"/>
            <a:ext cx="32520"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4" name="Shape 92"/>
          <p:cNvSpPr/>
          <p:nvPr/>
        </p:nvSpPr>
        <p:spPr>
          <a:xfrm>
            <a:off x="3438055" y="5732723"/>
            <a:ext cx="37671"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99" name="Shape 97"/>
          <p:cNvSpPr/>
          <p:nvPr/>
        </p:nvSpPr>
        <p:spPr>
          <a:xfrm>
            <a:off x="8982059" y="1756697"/>
            <a:ext cx="44076"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4" name="Shape 102"/>
          <p:cNvSpPr/>
          <p:nvPr/>
        </p:nvSpPr>
        <p:spPr>
          <a:xfrm>
            <a:off x="8977096" y="2005199"/>
            <a:ext cx="49038"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09" name="Shape 107"/>
          <p:cNvSpPr/>
          <p:nvPr/>
        </p:nvSpPr>
        <p:spPr>
          <a:xfrm>
            <a:off x="8974752" y="2253700"/>
            <a:ext cx="51383"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14" name="Shape 112"/>
          <p:cNvSpPr/>
          <p:nvPr/>
        </p:nvSpPr>
        <p:spPr>
          <a:xfrm>
            <a:off x="8973015" y="2502202"/>
            <a:ext cx="53119"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19" name="Shape 117"/>
          <p:cNvSpPr/>
          <p:nvPr/>
        </p:nvSpPr>
        <p:spPr>
          <a:xfrm>
            <a:off x="8970285" y="2750703"/>
            <a:ext cx="5585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24" name="Shape 122"/>
          <p:cNvSpPr/>
          <p:nvPr/>
        </p:nvSpPr>
        <p:spPr>
          <a:xfrm>
            <a:off x="8963737" y="2999205"/>
            <a:ext cx="62398"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29" name="Shape 127"/>
          <p:cNvSpPr/>
          <p:nvPr/>
        </p:nvSpPr>
        <p:spPr>
          <a:xfrm>
            <a:off x="8947585" y="3247707"/>
            <a:ext cx="78550"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4" name="Shape 132"/>
          <p:cNvSpPr/>
          <p:nvPr/>
        </p:nvSpPr>
        <p:spPr>
          <a:xfrm>
            <a:off x="8946049" y="3496208"/>
            <a:ext cx="80086"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8.4%</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9" name="Shape 137"/>
          <p:cNvSpPr/>
          <p:nvPr/>
        </p:nvSpPr>
        <p:spPr>
          <a:xfrm>
            <a:off x="8907086" y="3744710"/>
            <a:ext cx="119049"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8.0%</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4" name="Shape 142"/>
          <p:cNvSpPr/>
          <p:nvPr/>
        </p:nvSpPr>
        <p:spPr>
          <a:xfrm>
            <a:off x="8895233" y="3993212"/>
            <a:ext cx="130901"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−$53K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49" name="Shape 147"/>
          <p:cNvSpPr/>
          <p:nvPr/>
        </p:nvSpPr>
        <p:spPr>
          <a:xfrm>
            <a:off x="8884789" y="4241713"/>
            <a:ext cx="141346"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54" name="Shape 152"/>
          <p:cNvSpPr/>
          <p:nvPr/>
        </p:nvSpPr>
        <p:spPr>
          <a:xfrm>
            <a:off x="8858308" y="4490215"/>
            <a:ext cx="16782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59" name="Shape 157"/>
          <p:cNvSpPr/>
          <p:nvPr/>
        </p:nvSpPr>
        <p:spPr>
          <a:xfrm>
            <a:off x="8840630" y="4738717"/>
            <a:ext cx="185505"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64" name="Shape 162"/>
          <p:cNvSpPr/>
          <p:nvPr/>
        </p:nvSpPr>
        <p:spPr>
          <a:xfrm>
            <a:off x="8831965" y="4987218"/>
            <a:ext cx="1941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9" name="Shape 167"/>
          <p:cNvSpPr/>
          <p:nvPr/>
        </p:nvSpPr>
        <p:spPr>
          <a:xfrm>
            <a:off x="8826849" y="5235720"/>
            <a:ext cx="199286"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375910"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−$151K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21 stores under 10% leave $844,657 a year; 12 are at or above it. Chevy LV is furthest below at −$151K.</a:t>
            </a:r>
            <a:endParaRPr lang="en-US" sz="1500" dirty="0"/>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Brake Fluid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+7.9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20.6%</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+5.5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7.5%</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+5.1 pts</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−1.8 pts</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10.7%</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−0.3 pts</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11.9%</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+0.2 pts</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14.1%</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+9.0 pts</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11.7%</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Nissan, LR LV and LR Henderson what changed. Ask CDJR Post Falls, Honda North and Subaru St George what got in the way. Ask Mazda, Audi Reno and Kia St George what they started this year.</a:t>
            </a:r>
            <a:endParaRPr lang="en-US" sz="1600" dirty="0"/>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+27.3%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Fuel Service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3762756" y="3049524"/>
            <a:ext cx="310896" cy="45720"/>
          </a:xfrm>
          <a:prstGeom prst="rect">
            <a:avLst/>
          </a:prstGeom>
          <a:solidFill>
            <a:srgbClr val="9AA3AD"/>
          </a:solidFill>
          <a:ln/>
        </p:spPr>
      </p:sp>
      <p:sp>
        <p:nvSpPr>
          <p:cNvPr id="24" name="Shape 16"/>
          <p:cNvSpPr/>
          <p:nvPr/>
        </p:nvSpPr>
        <p:spPr>
          <a:xfrm>
            <a:off x="3863340" y="3017520"/>
            <a:ext cx="109728" cy="109728"/>
          </a:xfrm>
          <a:prstGeom prst="ellipse">
            <a:avLst/>
          </a:prstGeom>
          <a:solidFill>
            <a:srgbClr val="9AA3AD"/>
          </a:solidFill>
          <a:ln/>
        </p:spPr>
      </p:sp>
      <p:sp>
        <p:nvSpPr>
          <p:cNvPr id="25"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4997196" y="3049524"/>
            <a:ext cx="310896" cy="45720"/>
          </a:xfrm>
          <a:prstGeom prst="rect">
            <a:avLst/>
          </a:prstGeom>
          <a:solidFill>
            <a:srgbClr val="2587C5"/>
          </a:solidFill>
          <a:ln/>
        </p:spPr>
      </p:sp>
      <p:sp>
        <p:nvSpPr>
          <p:cNvPr id="27" name="Shape 19"/>
          <p:cNvSpPr/>
          <p:nvPr/>
        </p:nvSpPr>
        <p:spPr>
          <a:xfrm>
            <a:off x="5097780" y="3017520"/>
            <a:ext cx="109728" cy="109728"/>
          </a:xfrm>
          <a:prstGeom prst="ellipse">
            <a:avLst/>
          </a:prstGeom>
          <a:solidFill>
            <a:srgbClr val="2587C5"/>
          </a:solidFill>
          <a:ln/>
        </p:spPr>
      </p:sp>
      <p:sp>
        <p:nvSpPr>
          <p:cNvPr id="28"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6231636" y="3049524"/>
            <a:ext cx="73152" cy="36576"/>
          </a:xfrm>
          <a:prstGeom prst="rect">
            <a:avLst/>
          </a:prstGeom>
          <a:solidFill>
            <a:srgbClr val="595959"/>
          </a:solidFill>
          <a:ln/>
        </p:spPr>
      </p:sp>
      <p:sp>
        <p:nvSpPr>
          <p:cNvPr id="30" name="Shape 22"/>
          <p:cNvSpPr/>
          <p:nvPr/>
        </p:nvSpPr>
        <p:spPr>
          <a:xfrm>
            <a:off x="6350508" y="3049524"/>
            <a:ext cx="73152" cy="36576"/>
          </a:xfrm>
          <a:prstGeom prst="rect">
            <a:avLst/>
          </a:prstGeom>
          <a:solidFill>
            <a:srgbClr val="595959"/>
          </a:solidFill>
          <a:ln/>
        </p:spPr>
      </p:sp>
      <p:sp>
        <p:nvSpPr>
          <p:cNvPr id="31" name="Shape 23"/>
          <p:cNvSpPr/>
          <p:nvPr/>
        </p:nvSpPr>
        <p:spPr>
          <a:xfrm>
            <a:off x="6469380" y="3049524"/>
            <a:ext cx="73152" cy="36576"/>
          </a:xfrm>
          <a:prstGeom prst="rect">
            <a:avLst/>
          </a:prstGeom>
          <a:solidFill>
            <a:srgbClr val="595959"/>
          </a:solidFill>
          <a:ln/>
        </p:spPr>
      </p:sp>
      <p:sp>
        <p:nvSpPr>
          <p:cNvPr id="32"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Benchmark 7.5%</a:t>
            </a:r>
            <a:endParaRPr lang="en-US" sz="1400" dirty="0"/>
          </a:p>
        </p:txBody>
      </p:sp>
      <p:sp>
        <p:nvSpPr>
          <p:cNvPr id="33" name="Shape 25"/>
          <p:cNvSpPr/>
          <p:nvPr/>
        </p:nvSpPr>
        <p:spPr>
          <a:xfrm>
            <a:off x="457200" y="6126480"/>
            <a:ext cx="11274552" cy="615696"/>
          </a:xfrm>
          <a:prstGeom prst="rect">
            <a:avLst/>
          </a:prstGeom>
          <a:solidFill>
            <a:srgbClr val="E6F6EE"/>
          </a:solidFill>
          <a:ln/>
        </p:spPr>
      </p:sp>
      <p:sp>
        <p:nvSpPr>
          <p:cNvPr id="34"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5.8%, ahead of 2025 in all nine months, but 1.7 pts under the 7.5% benchmark — 4,731 fuel services short.</a:t>
            </a:r>
            <a:endParaRPr lang="en-US" sz="1600" dirty="0"/>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FUEL SERVICE %</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46957"/>
            <a:ext cx="1471688"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008376" y="2386853"/>
            <a:ext cx="119642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26748"/>
            <a:ext cx="114467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008376" y="2866644"/>
            <a:ext cx="1092895"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008376" y="3106540"/>
            <a:ext cx="1003246"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7" name="Shape 35"/>
          <p:cNvSpPr/>
          <p:nvPr/>
        </p:nvSpPr>
        <p:spPr>
          <a:xfrm>
            <a:off x="3008376" y="3346435"/>
            <a:ext cx="93677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1" name="Shape 39"/>
          <p:cNvSpPr/>
          <p:nvPr/>
        </p:nvSpPr>
        <p:spPr>
          <a:xfrm>
            <a:off x="3008376" y="3586331"/>
            <a:ext cx="899446" cy="119948"/>
          </a:xfrm>
          <a:prstGeom prst="rect">
            <a:avLst/>
          </a:prstGeom>
          <a:solidFill>
            <a:srgbClr val="C2352F"/>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5" name="Shape 43"/>
          <p:cNvSpPr/>
          <p:nvPr/>
        </p:nvSpPr>
        <p:spPr>
          <a:xfrm>
            <a:off x="3008376" y="3826226"/>
            <a:ext cx="865796" cy="119948"/>
          </a:xfrm>
          <a:prstGeom prst="rect">
            <a:avLst/>
          </a:prstGeom>
          <a:solidFill>
            <a:srgbClr val="C2352F"/>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9" name="Shape 47"/>
          <p:cNvSpPr/>
          <p:nvPr/>
        </p:nvSpPr>
        <p:spPr>
          <a:xfrm>
            <a:off x="3008376" y="4066122"/>
            <a:ext cx="789612" cy="119948"/>
          </a:xfrm>
          <a:prstGeom prst="rect">
            <a:avLst/>
          </a:prstGeom>
          <a:solidFill>
            <a:srgbClr val="C2352F"/>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3" name="Shape 51"/>
          <p:cNvSpPr/>
          <p:nvPr/>
        </p:nvSpPr>
        <p:spPr>
          <a:xfrm>
            <a:off x="3008376" y="4306017"/>
            <a:ext cx="733838" cy="119948"/>
          </a:xfrm>
          <a:prstGeom prst="rect">
            <a:avLst/>
          </a:prstGeom>
          <a:solidFill>
            <a:srgbClr val="C2352F"/>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3008376" y="4545913"/>
            <a:ext cx="718556" cy="119948"/>
          </a:xfrm>
          <a:prstGeom prst="rect">
            <a:avLst/>
          </a:prstGeom>
          <a:solidFill>
            <a:srgbClr val="C2352F"/>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1" name="Shape 59"/>
          <p:cNvSpPr/>
          <p:nvPr/>
        </p:nvSpPr>
        <p:spPr>
          <a:xfrm>
            <a:off x="3008376" y="4785808"/>
            <a:ext cx="712146" cy="119948"/>
          </a:xfrm>
          <a:prstGeom prst="rect">
            <a:avLst/>
          </a:prstGeom>
          <a:solidFill>
            <a:srgbClr val="C2352F"/>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008376" y="5025704"/>
            <a:ext cx="674365"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5.5%</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9" name="Shape 67"/>
          <p:cNvSpPr/>
          <p:nvPr/>
        </p:nvSpPr>
        <p:spPr>
          <a:xfrm>
            <a:off x="3008376" y="5265599"/>
            <a:ext cx="641436"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3" name="Shape 71"/>
          <p:cNvSpPr/>
          <p:nvPr/>
        </p:nvSpPr>
        <p:spPr>
          <a:xfrm>
            <a:off x="3008376" y="5505495"/>
            <a:ext cx="636377"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7" name="Shape 75"/>
          <p:cNvSpPr/>
          <p:nvPr/>
        </p:nvSpPr>
        <p:spPr>
          <a:xfrm>
            <a:off x="3008376" y="5745390"/>
            <a:ext cx="62403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1" name="Shape 79"/>
          <p:cNvSpPr/>
          <p:nvPr/>
        </p:nvSpPr>
        <p:spPr>
          <a:xfrm>
            <a:off x="8558784" y="1907062"/>
            <a:ext cx="558764"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58784" y="2146957"/>
            <a:ext cx="524245"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511532"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8558784" y="2626748"/>
            <a:ext cx="444269"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8558784" y="2866644"/>
            <a:ext cx="393958"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1" name="Shape 99"/>
          <p:cNvSpPr/>
          <p:nvPr/>
        </p:nvSpPr>
        <p:spPr>
          <a:xfrm>
            <a:off x="8558784" y="3106540"/>
            <a:ext cx="393514"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36705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586331"/>
            <a:ext cx="33496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3" name="Shape 111"/>
          <p:cNvSpPr/>
          <p:nvPr/>
        </p:nvSpPr>
        <p:spPr>
          <a:xfrm>
            <a:off x="8558784" y="3826226"/>
            <a:ext cx="331007"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8558784" y="4066122"/>
            <a:ext cx="313417"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206535"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5" name="Shape 123"/>
          <p:cNvSpPr/>
          <p:nvPr/>
        </p:nvSpPr>
        <p:spPr>
          <a:xfrm>
            <a:off x="8558784" y="4545913"/>
            <a:ext cx="100839"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58784" y="4785808"/>
            <a:ext cx="8790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0.7%</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18288"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7" name="Shape 135"/>
          <p:cNvSpPr/>
          <p:nvPr/>
        </p:nvSpPr>
        <p:spPr>
          <a:xfrm>
            <a:off x="8558784" y="5265599"/>
            <a:ext cx="18288"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41" name="Shape 139"/>
          <p:cNvSpPr/>
          <p:nvPr/>
        </p:nvSpPr>
        <p:spPr>
          <a:xfrm>
            <a:off x="8558784" y="5505495"/>
            <a:ext cx="1828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a:t>
            </a:r>
            <a:endParaRPr lang="en-US" sz="1200" dirty="0"/>
          </a:p>
        </p:txBody>
      </p:sp>
      <p:sp>
        <p:nvSpPr>
          <p:cNvPr id="143" name="Shape 141"/>
          <p:cNvSpPr/>
          <p:nvPr/>
        </p:nvSpPr>
        <p:spPr>
          <a:xfrm>
            <a:off x="3917219" y="1847088"/>
            <a:ext cx="14630" cy="4078224"/>
          </a:xfrm>
          <a:prstGeom prst="rect">
            <a:avLst/>
          </a:prstGeom>
          <a:solidFill>
            <a:srgbClr val="0B2C4A"/>
          </a:solidFill>
          <a:ln/>
        </p:spPr>
      </p:sp>
      <p:sp>
        <p:nvSpPr>
          <p:cNvPr id="144" name="Shape 142"/>
          <p:cNvSpPr/>
          <p:nvPr/>
        </p:nvSpPr>
        <p:spPr>
          <a:xfrm>
            <a:off x="9467627"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7 of 33 stores at or above 7.5%, led by Subaru St George at 13.8%. The group sits at 5.8%.</a:t>
            </a:r>
            <a:endParaRPr lang="en-US" sz="1600" dirty="0"/>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System Service Variance from Benchmark</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17880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Text 5"/>
          <p:cNvSpPr txBox="1"/>
          <p:nvPr/>
        </p:nvSpPr>
        <p:spPr>
          <a:xfrm>
            <a:off x="5276088"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8" name="Shape 6"/>
          <p:cNvSpPr/>
          <p:nvPr/>
        </p:nvSpPr>
        <p:spPr>
          <a:xfrm>
            <a:off x="3540063" y="1700784"/>
            <a:ext cx="10973" cy="4224528"/>
          </a:xfrm>
          <a:prstGeom prst="rect">
            <a:avLst/>
          </a:prstGeom>
          <a:solidFill>
            <a:srgbClr val="9AA3AD"/>
          </a:solidFill>
          <a:ln/>
        </p:spPr>
      </p:sp>
      <p:sp>
        <p:nvSpPr>
          <p:cNvPr id="9" name="Text 7"/>
          <p:cNvSpPr txBox="1"/>
          <p:nvPr/>
        </p:nvSpPr>
        <p:spPr>
          <a:xfrm>
            <a:off x="972921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10" name="Text 8"/>
          <p:cNvSpPr txBox="1"/>
          <p:nvPr/>
        </p:nvSpPr>
        <p:spPr>
          <a:xfrm>
            <a:off x="10826496" y="1316736"/>
            <a:ext cx="6400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Rate</a:t>
            </a:r>
            <a:endParaRPr lang="en-US" sz="1400" dirty="0"/>
          </a:p>
        </p:txBody>
      </p:sp>
      <p:sp>
        <p:nvSpPr>
          <p:cNvPr id="11" name="Shape 9"/>
          <p:cNvSpPr/>
          <p:nvPr/>
        </p:nvSpPr>
        <p:spPr>
          <a:xfrm>
            <a:off x="9090471" y="1700784"/>
            <a:ext cx="10973" cy="3976026"/>
          </a:xfrm>
          <a:prstGeom prst="rect">
            <a:avLst/>
          </a:prstGeom>
          <a:solidFill>
            <a:srgbClr val="9AA3AD"/>
          </a:solidFill>
          <a:ln/>
        </p:spPr>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4" name="Shape 12"/>
          <p:cNvSpPr/>
          <p:nvPr/>
        </p:nvSpPr>
        <p:spPr>
          <a:xfrm>
            <a:off x="3545549" y="1756697"/>
            <a:ext cx="578395" cy="136676"/>
          </a:xfrm>
          <a:prstGeom prst="rect">
            <a:avLst/>
          </a:prstGeom>
          <a:solidFill>
            <a:srgbClr val="12A566"/>
          </a:solidFill>
          <a:ln/>
        </p:spPr>
      </p:sp>
      <p:sp>
        <p:nvSpPr>
          <p:cNvPr id="15" name="Text 13"/>
          <p:cNvSpPr txBox="1"/>
          <p:nvPr/>
        </p:nvSpPr>
        <p:spPr>
          <a:xfrm>
            <a:off x="417880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+$185K</a:t>
            </a:r>
            <a:endParaRPr lang="en-US" sz="1300" dirty="0"/>
          </a:p>
        </p:txBody>
      </p:sp>
      <p:sp>
        <p:nvSpPr>
          <p:cNvPr id="16" name="Text 14"/>
          <p:cNvSpPr txBox="1"/>
          <p:nvPr/>
        </p:nvSpPr>
        <p:spPr>
          <a:xfrm>
            <a:off x="5276088"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a:t>
            </a:r>
            <a:endParaRPr lang="en-US" sz="1300" dirty="0"/>
          </a:p>
        </p:txBody>
      </p:sp>
      <p:sp>
        <p:nvSpPr>
          <p:cNvPr id="17" name="Text 15"/>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9" name="Shape 17"/>
          <p:cNvSpPr/>
          <p:nvPr/>
        </p:nvSpPr>
        <p:spPr>
          <a:xfrm>
            <a:off x="3545549" y="2005199"/>
            <a:ext cx="224689" cy="136676"/>
          </a:xfrm>
          <a:prstGeom prst="rect">
            <a:avLst/>
          </a:prstGeom>
          <a:solidFill>
            <a:srgbClr val="12A566"/>
          </a:solidFill>
          <a:ln/>
        </p:spPr>
      </p:sp>
      <p:sp>
        <p:nvSpPr>
          <p:cNvPr id="20" name="Text 18"/>
          <p:cNvSpPr txBox="1"/>
          <p:nvPr/>
        </p:nvSpPr>
        <p:spPr>
          <a:xfrm>
            <a:off x="417880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1" name="Text 19"/>
          <p:cNvSpPr txBox="1"/>
          <p:nvPr/>
        </p:nvSpPr>
        <p:spPr>
          <a:xfrm>
            <a:off x="5276088"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13.8%</a:t>
            </a:r>
            <a:endParaRPr lang="en-US" sz="1300" dirty="0"/>
          </a:p>
        </p:txBody>
      </p:sp>
      <p:sp>
        <p:nvSpPr>
          <p:cNvPr id="22" name="Text 20"/>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3" name="Text 21"/>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4" name="Shape 22"/>
          <p:cNvSpPr/>
          <p:nvPr/>
        </p:nvSpPr>
        <p:spPr>
          <a:xfrm>
            <a:off x="3545549" y="2253700"/>
            <a:ext cx="160950" cy="136676"/>
          </a:xfrm>
          <a:prstGeom prst="rect">
            <a:avLst/>
          </a:prstGeom>
          <a:solidFill>
            <a:srgbClr val="12A566"/>
          </a:solidFill>
          <a:ln/>
        </p:spPr>
      </p:sp>
      <p:sp>
        <p:nvSpPr>
          <p:cNvPr id="25" name="Text 23"/>
          <p:cNvSpPr txBox="1"/>
          <p:nvPr/>
        </p:nvSpPr>
        <p:spPr>
          <a:xfrm>
            <a:off x="417880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+$51K</a:t>
            </a:r>
            <a:endParaRPr lang="en-US" sz="1300" dirty="0"/>
          </a:p>
        </p:txBody>
      </p:sp>
      <p:sp>
        <p:nvSpPr>
          <p:cNvPr id="26" name="Text 24"/>
          <p:cNvSpPr txBox="1"/>
          <p:nvPr/>
        </p:nvSpPr>
        <p:spPr>
          <a:xfrm>
            <a:off x="5276088"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9.7%</a:t>
            </a:r>
            <a:endParaRPr lang="en-US" sz="1300" dirty="0"/>
          </a:p>
        </p:txBody>
      </p:sp>
      <p:sp>
        <p:nvSpPr>
          <p:cNvPr id="27" name="Text 25"/>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8" name="Text 26"/>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9" name="Shape 27"/>
          <p:cNvSpPr/>
          <p:nvPr/>
        </p:nvSpPr>
        <p:spPr>
          <a:xfrm>
            <a:off x="3545549" y="2502202"/>
            <a:ext cx="41697" cy="136676"/>
          </a:xfrm>
          <a:prstGeom prst="rect">
            <a:avLst/>
          </a:prstGeom>
          <a:solidFill>
            <a:srgbClr val="12A566"/>
          </a:solidFill>
          <a:ln/>
        </p:spPr>
      </p:sp>
      <p:sp>
        <p:nvSpPr>
          <p:cNvPr id="30" name="Text 28"/>
          <p:cNvSpPr txBox="1"/>
          <p:nvPr/>
        </p:nvSpPr>
        <p:spPr>
          <a:xfrm>
            <a:off x="417880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+$13K</a:t>
            </a:r>
            <a:endParaRPr lang="en-US" sz="1300" dirty="0"/>
          </a:p>
        </p:txBody>
      </p:sp>
      <p:sp>
        <p:nvSpPr>
          <p:cNvPr id="31" name="Text 29"/>
          <p:cNvSpPr txBox="1"/>
          <p:nvPr/>
        </p:nvSpPr>
        <p:spPr>
          <a:xfrm>
            <a:off x="5276088"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9.3%</a:t>
            </a:r>
            <a:endParaRPr lang="en-US" sz="1300" dirty="0"/>
          </a:p>
        </p:txBody>
      </p:sp>
      <p:sp>
        <p:nvSpPr>
          <p:cNvPr id="32" name="Text 30"/>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3" name="Text 31"/>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34" name="Shape 32"/>
          <p:cNvSpPr/>
          <p:nvPr/>
        </p:nvSpPr>
        <p:spPr>
          <a:xfrm>
            <a:off x="3545549" y="2750703"/>
            <a:ext cx="36360" cy="136676"/>
          </a:xfrm>
          <a:prstGeom prst="rect">
            <a:avLst/>
          </a:prstGeom>
          <a:solidFill>
            <a:srgbClr val="12A566"/>
          </a:solidFill>
          <a:ln/>
        </p:spPr>
      </p:sp>
      <p:sp>
        <p:nvSpPr>
          <p:cNvPr id="35" name="Text 33"/>
          <p:cNvSpPr txBox="1"/>
          <p:nvPr/>
        </p:nvSpPr>
        <p:spPr>
          <a:xfrm>
            <a:off x="417880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+$12K</a:t>
            </a:r>
            <a:endParaRPr lang="en-US" sz="1300" dirty="0"/>
          </a:p>
        </p:txBody>
      </p:sp>
      <p:sp>
        <p:nvSpPr>
          <p:cNvPr id="36" name="Text 34"/>
          <p:cNvSpPr txBox="1"/>
          <p:nvPr/>
        </p:nvSpPr>
        <p:spPr>
          <a:xfrm>
            <a:off x="5276088"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8.9%</a:t>
            </a:r>
            <a:endParaRPr lang="en-US" sz="1300" dirty="0"/>
          </a:p>
        </p:txBody>
      </p:sp>
      <p:sp>
        <p:nvSpPr>
          <p:cNvPr id="37" name="Text 35"/>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8" name="Text 36"/>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39" name="Shape 37"/>
          <p:cNvSpPr/>
          <p:nvPr/>
        </p:nvSpPr>
        <p:spPr>
          <a:xfrm>
            <a:off x="3545549" y="2999205"/>
            <a:ext cx="18288" cy="136676"/>
          </a:xfrm>
          <a:prstGeom prst="rect">
            <a:avLst/>
          </a:prstGeom>
          <a:solidFill>
            <a:srgbClr val="12A566"/>
          </a:solidFill>
          <a:ln/>
        </p:spPr>
      </p:sp>
      <p:sp>
        <p:nvSpPr>
          <p:cNvPr id="40" name="Text 38"/>
          <p:cNvSpPr txBox="1"/>
          <p:nvPr/>
        </p:nvSpPr>
        <p:spPr>
          <a:xfrm>
            <a:off x="417880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1" name="Text 39"/>
          <p:cNvSpPr txBox="1"/>
          <p:nvPr/>
        </p:nvSpPr>
        <p:spPr>
          <a:xfrm>
            <a:off x="5276088"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42" name="Text 40"/>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3" name="Text 41"/>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4" name="Shape 42"/>
          <p:cNvSpPr/>
          <p:nvPr/>
        </p:nvSpPr>
        <p:spPr>
          <a:xfrm>
            <a:off x="3545549" y="3247707"/>
            <a:ext cx="18288" cy="136676"/>
          </a:xfrm>
          <a:prstGeom prst="rect">
            <a:avLst/>
          </a:prstGeom>
          <a:solidFill>
            <a:srgbClr val="12A566"/>
          </a:solidFill>
          <a:ln/>
        </p:spPr>
      </p:sp>
      <p:sp>
        <p:nvSpPr>
          <p:cNvPr id="45" name="Text 43"/>
          <p:cNvSpPr txBox="1"/>
          <p:nvPr/>
        </p:nvSpPr>
        <p:spPr>
          <a:xfrm>
            <a:off x="417880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+$4K</a:t>
            </a:r>
            <a:endParaRPr lang="en-US" sz="1300" dirty="0"/>
          </a:p>
        </p:txBody>
      </p:sp>
      <p:sp>
        <p:nvSpPr>
          <p:cNvPr id="46" name="Text 44"/>
          <p:cNvSpPr txBox="1"/>
          <p:nvPr/>
        </p:nvSpPr>
        <p:spPr>
          <a:xfrm>
            <a:off x="5276088"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a:t>
            </a:r>
            <a:endParaRPr lang="en-US" sz="1300" dirty="0"/>
          </a:p>
        </p:txBody>
      </p:sp>
      <p:sp>
        <p:nvSpPr>
          <p:cNvPr id="47" name="Text 45"/>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8" name="Text 46"/>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9" name="Shape 47"/>
          <p:cNvSpPr/>
          <p:nvPr/>
        </p:nvSpPr>
        <p:spPr>
          <a:xfrm>
            <a:off x="3541770" y="3496208"/>
            <a:ext cx="18288" cy="136676"/>
          </a:xfrm>
          <a:prstGeom prst="rect">
            <a:avLst/>
          </a:prstGeom>
          <a:solidFill>
            <a:srgbClr val="C2352F"/>
          </a:solidFill>
          <a:ln/>
        </p:spPr>
      </p:sp>
      <p:sp>
        <p:nvSpPr>
          <p:cNvPr id="50" name="Text 48"/>
          <p:cNvSpPr txBox="1"/>
          <p:nvPr/>
        </p:nvSpPr>
        <p:spPr>
          <a:xfrm>
            <a:off x="417880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51" name="Text 49"/>
          <p:cNvSpPr txBox="1"/>
          <p:nvPr/>
        </p:nvSpPr>
        <p:spPr>
          <a:xfrm>
            <a:off x="5276088"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a:t>
            </a:r>
            <a:endParaRPr lang="en-US" sz="1300" dirty="0"/>
          </a:p>
        </p:txBody>
      </p:sp>
      <p:sp>
        <p:nvSpPr>
          <p:cNvPr id="52" name="Text 5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3" name="Text 5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54" name="Shape 52"/>
          <p:cNvSpPr/>
          <p:nvPr/>
        </p:nvSpPr>
        <p:spPr>
          <a:xfrm>
            <a:off x="3513580" y="3744710"/>
            <a:ext cx="31969" cy="136676"/>
          </a:xfrm>
          <a:prstGeom prst="rect">
            <a:avLst/>
          </a:prstGeom>
          <a:solidFill>
            <a:srgbClr val="C2352F"/>
          </a:solidFill>
          <a:ln/>
        </p:spPr>
      </p:sp>
      <p:sp>
        <p:nvSpPr>
          <p:cNvPr id="55" name="Text 53"/>
          <p:cNvSpPr txBox="1"/>
          <p:nvPr/>
        </p:nvSpPr>
        <p:spPr>
          <a:xfrm>
            <a:off x="417880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56" name="Text 54"/>
          <p:cNvSpPr txBox="1"/>
          <p:nvPr/>
        </p:nvSpPr>
        <p:spPr>
          <a:xfrm>
            <a:off x="5276088"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a:t>
            </a:r>
            <a:endParaRPr lang="en-US" sz="1300" dirty="0"/>
          </a:p>
        </p:txBody>
      </p:sp>
      <p:sp>
        <p:nvSpPr>
          <p:cNvPr id="57" name="Text 55"/>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58" name="Text 56"/>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9" name="Shape 57"/>
          <p:cNvSpPr/>
          <p:nvPr/>
        </p:nvSpPr>
        <p:spPr>
          <a:xfrm>
            <a:off x="3505684" y="3993212"/>
            <a:ext cx="39865" cy="136676"/>
          </a:xfrm>
          <a:prstGeom prst="rect">
            <a:avLst/>
          </a:prstGeom>
          <a:solidFill>
            <a:srgbClr val="C2352F"/>
          </a:solidFill>
          <a:ln/>
        </p:spPr>
      </p:sp>
      <p:sp>
        <p:nvSpPr>
          <p:cNvPr id="60" name="Text 58"/>
          <p:cNvSpPr txBox="1"/>
          <p:nvPr/>
        </p:nvSpPr>
        <p:spPr>
          <a:xfrm>
            <a:off x="417880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61" name="Text 59"/>
          <p:cNvSpPr txBox="1"/>
          <p:nvPr/>
        </p:nvSpPr>
        <p:spPr>
          <a:xfrm>
            <a:off x="5276088"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62" name="Text 6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3" name="Text 61"/>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4" name="Shape 62"/>
          <p:cNvSpPr/>
          <p:nvPr/>
        </p:nvSpPr>
        <p:spPr>
          <a:xfrm>
            <a:off x="3488418" y="4241713"/>
            <a:ext cx="57131" cy="136676"/>
          </a:xfrm>
          <a:prstGeom prst="rect">
            <a:avLst/>
          </a:prstGeom>
          <a:solidFill>
            <a:srgbClr val="C2352F"/>
          </a:solidFill>
          <a:ln/>
        </p:spPr>
      </p:sp>
      <p:sp>
        <p:nvSpPr>
          <p:cNvPr id="65" name="Text 63"/>
          <p:cNvSpPr txBox="1"/>
          <p:nvPr/>
        </p:nvSpPr>
        <p:spPr>
          <a:xfrm>
            <a:off x="417880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−$18K</a:t>
            </a:r>
            <a:endParaRPr lang="en-US" sz="1300" dirty="0"/>
          </a:p>
        </p:txBody>
      </p:sp>
      <p:sp>
        <p:nvSpPr>
          <p:cNvPr id="66" name="Text 64"/>
          <p:cNvSpPr txBox="1"/>
          <p:nvPr/>
        </p:nvSpPr>
        <p:spPr>
          <a:xfrm>
            <a:off x="5276088"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a:t>
            </a:r>
            <a:endParaRPr lang="en-US" sz="1300" dirty="0"/>
          </a:p>
        </p:txBody>
      </p:sp>
      <p:sp>
        <p:nvSpPr>
          <p:cNvPr id="67" name="Text 65"/>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68" name="Text 66"/>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69" name="Shape 67"/>
          <p:cNvSpPr/>
          <p:nvPr/>
        </p:nvSpPr>
        <p:spPr>
          <a:xfrm>
            <a:off x="3486400" y="4490215"/>
            <a:ext cx="59150" cy="136676"/>
          </a:xfrm>
          <a:prstGeom prst="rect">
            <a:avLst/>
          </a:prstGeom>
          <a:solidFill>
            <a:srgbClr val="C2352F"/>
          </a:solidFill>
          <a:ln/>
        </p:spPr>
      </p:sp>
      <p:sp>
        <p:nvSpPr>
          <p:cNvPr id="70" name="Text 68"/>
          <p:cNvSpPr txBox="1"/>
          <p:nvPr/>
        </p:nvSpPr>
        <p:spPr>
          <a:xfrm>
            <a:off x="417880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−$19K</a:t>
            </a:r>
            <a:endParaRPr lang="en-US" sz="1300" dirty="0"/>
          </a:p>
        </p:txBody>
      </p:sp>
      <p:sp>
        <p:nvSpPr>
          <p:cNvPr id="71" name="Text 69"/>
          <p:cNvSpPr txBox="1"/>
          <p:nvPr/>
        </p:nvSpPr>
        <p:spPr>
          <a:xfrm>
            <a:off x="5276088"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a:t>
            </a:r>
            <a:endParaRPr lang="en-US" sz="1300" dirty="0"/>
          </a:p>
        </p:txBody>
      </p:sp>
      <p:sp>
        <p:nvSpPr>
          <p:cNvPr id="72" name="Text 70"/>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3" name="Text 71"/>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4" name="Shape 72"/>
          <p:cNvSpPr/>
          <p:nvPr/>
        </p:nvSpPr>
        <p:spPr>
          <a:xfrm>
            <a:off x="3479069" y="4738717"/>
            <a:ext cx="66480" cy="136676"/>
          </a:xfrm>
          <a:prstGeom prst="rect">
            <a:avLst/>
          </a:prstGeom>
          <a:solidFill>
            <a:srgbClr val="C2352F"/>
          </a:solidFill>
          <a:ln/>
        </p:spPr>
      </p:sp>
      <p:sp>
        <p:nvSpPr>
          <p:cNvPr id="75" name="Text 73"/>
          <p:cNvSpPr txBox="1"/>
          <p:nvPr/>
        </p:nvSpPr>
        <p:spPr>
          <a:xfrm>
            <a:off x="417880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76" name="Text 74"/>
          <p:cNvSpPr txBox="1"/>
          <p:nvPr/>
        </p:nvSpPr>
        <p:spPr>
          <a:xfrm>
            <a:off x="5276088"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3.6%</a:t>
            </a:r>
            <a:endParaRPr lang="en-US" sz="1300" dirty="0"/>
          </a:p>
        </p:txBody>
      </p:sp>
      <p:sp>
        <p:nvSpPr>
          <p:cNvPr id="77" name="Text 75"/>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78" name="Text 76"/>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79" name="Shape 77"/>
          <p:cNvSpPr/>
          <p:nvPr/>
        </p:nvSpPr>
        <p:spPr>
          <a:xfrm>
            <a:off x="3470893" y="4987218"/>
            <a:ext cx="74656" cy="136676"/>
          </a:xfrm>
          <a:prstGeom prst="rect">
            <a:avLst/>
          </a:prstGeom>
          <a:solidFill>
            <a:srgbClr val="C2352F"/>
          </a:solidFill>
          <a:ln/>
        </p:spPr>
      </p:sp>
      <p:sp>
        <p:nvSpPr>
          <p:cNvPr id="80" name="Text 78"/>
          <p:cNvSpPr txBox="1"/>
          <p:nvPr/>
        </p:nvSpPr>
        <p:spPr>
          <a:xfrm>
            <a:off x="417880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81" name="Text 79"/>
          <p:cNvSpPr txBox="1"/>
          <p:nvPr/>
        </p:nvSpPr>
        <p:spPr>
          <a:xfrm>
            <a:off x="5276088"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5.5%</a:t>
            </a:r>
            <a:endParaRPr lang="en-US" sz="1300" dirty="0"/>
          </a:p>
        </p:txBody>
      </p:sp>
      <p:sp>
        <p:nvSpPr>
          <p:cNvPr id="82" name="Text 80"/>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3" name="Text 81"/>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84" name="Shape 82"/>
          <p:cNvSpPr/>
          <p:nvPr/>
        </p:nvSpPr>
        <p:spPr>
          <a:xfrm>
            <a:off x="3467487" y="5235720"/>
            <a:ext cx="78062" cy="136676"/>
          </a:xfrm>
          <a:prstGeom prst="rect">
            <a:avLst/>
          </a:prstGeom>
          <a:solidFill>
            <a:srgbClr val="C2352F"/>
          </a:solidFill>
          <a:ln/>
        </p:spPr>
      </p:sp>
      <p:sp>
        <p:nvSpPr>
          <p:cNvPr id="85" name="Text 83"/>
          <p:cNvSpPr txBox="1"/>
          <p:nvPr/>
        </p:nvSpPr>
        <p:spPr>
          <a:xfrm>
            <a:off x="417880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86" name="Text 84"/>
          <p:cNvSpPr txBox="1"/>
          <p:nvPr/>
        </p:nvSpPr>
        <p:spPr>
          <a:xfrm>
            <a:off x="5276088"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a:t>
            </a:r>
            <a:endParaRPr lang="en-US" sz="1300" dirty="0"/>
          </a:p>
        </p:txBody>
      </p:sp>
      <p:sp>
        <p:nvSpPr>
          <p:cNvPr id="87" name="Text 85"/>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88" name="Text 86"/>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89" name="Shape 87"/>
          <p:cNvSpPr/>
          <p:nvPr/>
        </p:nvSpPr>
        <p:spPr>
          <a:xfrm>
            <a:off x="3463887" y="5484222"/>
            <a:ext cx="81662" cy="136676"/>
          </a:xfrm>
          <a:prstGeom prst="rect">
            <a:avLst/>
          </a:prstGeom>
          <a:solidFill>
            <a:srgbClr val="C2352F"/>
          </a:solidFill>
          <a:ln/>
        </p:spPr>
      </p:sp>
      <p:sp>
        <p:nvSpPr>
          <p:cNvPr id="90" name="Text 88"/>
          <p:cNvSpPr txBox="1"/>
          <p:nvPr/>
        </p:nvSpPr>
        <p:spPr>
          <a:xfrm>
            <a:off x="417880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−$26K</a:t>
            </a:r>
            <a:endParaRPr lang="en-US" sz="1300" dirty="0"/>
          </a:p>
        </p:txBody>
      </p:sp>
      <p:sp>
        <p:nvSpPr>
          <p:cNvPr id="91" name="Text 89"/>
          <p:cNvSpPr txBox="1"/>
          <p:nvPr/>
        </p:nvSpPr>
        <p:spPr>
          <a:xfrm>
            <a:off x="5276088"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92" name="Text 90"/>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3" name="Text 91"/>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4" name="Shape 92"/>
          <p:cNvSpPr/>
          <p:nvPr/>
        </p:nvSpPr>
        <p:spPr>
          <a:xfrm>
            <a:off x="3455112" y="5732723"/>
            <a:ext cx="90437" cy="136676"/>
          </a:xfrm>
          <a:prstGeom prst="rect">
            <a:avLst/>
          </a:prstGeom>
          <a:solidFill>
            <a:srgbClr val="C2352F"/>
          </a:solidFill>
          <a:ln/>
        </p:spPr>
      </p:sp>
      <p:sp>
        <p:nvSpPr>
          <p:cNvPr id="95" name="Text 93"/>
          <p:cNvSpPr txBox="1"/>
          <p:nvPr/>
        </p:nvSpPr>
        <p:spPr>
          <a:xfrm>
            <a:off x="417880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−$29K</a:t>
            </a:r>
            <a:endParaRPr lang="en-US" sz="1300" dirty="0"/>
          </a:p>
        </p:txBody>
      </p:sp>
      <p:sp>
        <p:nvSpPr>
          <p:cNvPr id="96" name="Text 94"/>
          <p:cNvSpPr txBox="1"/>
          <p:nvPr/>
        </p:nvSpPr>
        <p:spPr>
          <a:xfrm>
            <a:off x="5276088" y="567681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97" name="Text 95"/>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98" name="Text 96"/>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99" name="Shape 97"/>
          <p:cNvSpPr/>
          <p:nvPr/>
        </p:nvSpPr>
        <p:spPr>
          <a:xfrm>
            <a:off x="8990249" y="1756697"/>
            <a:ext cx="105708" cy="136676"/>
          </a:xfrm>
          <a:prstGeom prst="rect">
            <a:avLst/>
          </a:prstGeom>
          <a:solidFill>
            <a:srgbClr val="C2352F"/>
          </a:solidFill>
          <a:ln/>
        </p:spPr>
      </p:sp>
      <p:sp>
        <p:nvSpPr>
          <p:cNvPr id="100" name="Text 98"/>
          <p:cNvSpPr txBox="1"/>
          <p:nvPr/>
        </p:nvSpPr>
        <p:spPr>
          <a:xfrm>
            <a:off x="972921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01" name="Text 99"/>
          <p:cNvSpPr txBox="1"/>
          <p:nvPr/>
        </p:nvSpPr>
        <p:spPr>
          <a:xfrm>
            <a:off x="10826496" y="170078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a:t>
            </a:r>
            <a:endParaRPr lang="en-US" sz="1300" dirty="0"/>
          </a:p>
        </p:txBody>
      </p:sp>
      <p:sp>
        <p:nvSpPr>
          <p:cNvPr id="102" name="Text 10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3" name="Text 10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4" name="Shape 102"/>
          <p:cNvSpPr/>
          <p:nvPr/>
        </p:nvSpPr>
        <p:spPr>
          <a:xfrm>
            <a:off x="8952406" y="2005199"/>
            <a:ext cx="143551" cy="136676"/>
          </a:xfrm>
          <a:prstGeom prst="rect">
            <a:avLst/>
          </a:prstGeom>
          <a:solidFill>
            <a:srgbClr val="C2352F"/>
          </a:solidFill>
          <a:ln/>
        </p:spPr>
      </p:sp>
      <p:sp>
        <p:nvSpPr>
          <p:cNvPr id="105" name="Text 103"/>
          <p:cNvSpPr txBox="1"/>
          <p:nvPr/>
        </p:nvSpPr>
        <p:spPr>
          <a:xfrm>
            <a:off x="972921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−$46K</a:t>
            </a:r>
            <a:endParaRPr lang="en-US" sz="1300" dirty="0"/>
          </a:p>
        </p:txBody>
      </p:sp>
      <p:sp>
        <p:nvSpPr>
          <p:cNvPr id="106" name="Text 104"/>
          <p:cNvSpPr txBox="1"/>
          <p:nvPr/>
        </p:nvSpPr>
        <p:spPr>
          <a:xfrm>
            <a:off x="10826496" y="194928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107" name="Text 105"/>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08" name="Text 106"/>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09" name="Shape 107"/>
          <p:cNvSpPr/>
          <p:nvPr/>
        </p:nvSpPr>
        <p:spPr>
          <a:xfrm>
            <a:off x="8934853" y="2253700"/>
            <a:ext cx="161104" cy="136676"/>
          </a:xfrm>
          <a:prstGeom prst="rect">
            <a:avLst/>
          </a:prstGeom>
          <a:solidFill>
            <a:srgbClr val="C2352F"/>
          </a:solidFill>
          <a:ln/>
        </p:spPr>
      </p:sp>
      <p:sp>
        <p:nvSpPr>
          <p:cNvPr id="110" name="Text 108"/>
          <p:cNvSpPr txBox="1"/>
          <p:nvPr/>
        </p:nvSpPr>
        <p:spPr>
          <a:xfrm>
            <a:off x="972921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−$51K</a:t>
            </a:r>
            <a:endParaRPr lang="en-US" sz="1300" dirty="0"/>
          </a:p>
        </p:txBody>
      </p:sp>
      <p:sp>
        <p:nvSpPr>
          <p:cNvPr id="111" name="Text 109"/>
          <p:cNvSpPr txBox="1"/>
          <p:nvPr/>
        </p:nvSpPr>
        <p:spPr>
          <a:xfrm>
            <a:off x="10826496" y="219778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0.8%</a:t>
            </a:r>
            <a:endParaRPr lang="en-US" sz="1300" dirty="0"/>
          </a:p>
        </p:txBody>
      </p:sp>
      <p:sp>
        <p:nvSpPr>
          <p:cNvPr id="112" name="Text 11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3" name="Text 111"/>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4" name="Shape 112"/>
          <p:cNvSpPr/>
          <p:nvPr/>
        </p:nvSpPr>
        <p:spPr>
          <a:xfrm>
            <a:off x="8920647" y="2502202"/>
            <a:ext cx="175310" cy="136676"/>
          </a:xfrm>
          <a:prstGeom prst="rect">
            <a:avLst/>
          </a:prstGeom>
          <a:solidFill>
            <a:srgbClr val="C2352F"/>
          </a:solidFill>
          <a:ln/>
        </p:spPr>
      </p:sp>
      <p:sp>
        <p:nvSpPr>
          <p:cNvPr id="115" name="Text 113"/>
          <p:cNvSpPr txBox="1"/>
          <p:nvPr/>
        </p:nvSpPr>
        <p:spPr>
          <a:xfrm>
            <a:off x="972921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16" name="Text 114"/>
          <p:cNvSpPr txBox="1"/>
          <p:nvPr/>
        </p:nvSpPr>
        <p:spPr>
          <a:xfrm>
            <a:off x="10826496" y="244628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17" name="Text 115"/>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18" name="Text 116"/>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19" name="Shape 117"/>
          <p:cNvSpPr/>
          <p:nvPr/>
        </p:nvSpPr>
        <p:spPr>
          <a:xfrm>
            <a:off x="8920267" y="2750703"/>
            <a:ext cx="175690" cy="136676"/>
          </a:xfrm>
          <a:prstGeom prst="rect">
            <a:avLst/>
          </a:prstGeom>
          <a:solidFill>
            <a:srgbClr val="C2352F"/>
          </a:solidFill>
          <a:ln/>
        </p:spPr>
      </p:sp>
      <p:sp>
        <p:nvSpPr>
          <p:cNvPr id="120" name="Text 118"/>
          <p:cNvSpPr txBox="1"/>
          <p:nvPr/>
        </p:nvSpPr>
        <p:spPr>
          <a:xfrm>
            <a:off x="972921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−$56K</a:t>
            </a:r>
            <a:endParaRPr lang="en-US" sz="1300" dirty="0"/>
          </a:p>
        </p:txBody>
      </p:sp>
      <p:sp>
        <p:nvSpPr>
          <p:cNvPr id="121" name="Text 119"/>
          <p:cNvSpPr txBox="1"/>
          <p:nvPr/>
        </p:nvSpPr>
        <p:spPr>
          <a:xfrm>
            <a:off x="10826496" y="2694791"/>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a:t>
            </a:r>
            <a:endParaRPr lang="en-US" sz="1300" dirty="0"/>
          </a:p>
        </p:txBody>
      </p:sp>
      <p:sp>
        <p:nvSpPr>
          <p:cNvPr id="122" name="Text 120"/>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3" name="Text 121"/>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4" name="Shape 122"/>
          <p:cNvSpPr/>
          <p:nvPr/>
        </p:nvSpPr>
        <p:spPr>
          <a:xfrm>
            <a:off x="8908211" y="2999205"/>
            <a:ext cx="187746" cy="136676"/>
          </a:xfrm>
          <a:prstGeom prst="rect">
            <a:avLst/>
          </a:prstGeom>
          <a:solidFill>
            <a:srgbClr val="C2352F"/>
          </a:solidFill>
          <a:ln/>
        </p:spPr>
      </p:sp>
      <p:sp>
        <p:nvSpPr>
          <p:cNvPr id="125" name="Text 123"/>
          <p:cNvSpPr txBox="1"/>
          <p:nvPr/>
        </p:nvSpPr>
        <p:spPr>
          <a:xfrm>
            <a:off x="972921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−$60K</a:t>
            </a:r>
            <a:endParaRPr lang="en-US" sz="1300" dirty="0"/>
          </a:p>
        </p:txBody>
      </p:sp>
      <p:sp>
        <p:nvSpPr>
          <p:cNvPr id="126" name="Text 124"/>
          <p:cNvSpPr txBox="1"/>
          <p:nvPr/>
        </p:nvSpPr>
        <p:spPr>
          <a:xfrm>
            <a:off x="10826496" y="294329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0.7%</a:t>
            </a:r>
            <a:endParaRPr lang="en-US" sz="1300" dirty="0"/>
          </a:p>
        </p:txBody>
      </p:sp>
      <p:sp>
        <p:nvSpPr>
          <p:cNvPr id="127" name="Text 125"/>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28" name="Text 126"/>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9" name="Shape 127"/>
          <p:cNvSpPr/>
          <p:nvPr/>
        </p:nvSpPr>
        <p:spPr>
          <a:xfrm>
            <a:off x="8902495" y="3247707"/>
            <a:ext cx="193462" cy="136676"/>
          </a:xfrm>
          <a:prstGeom prst="rect">
            <a:avLst/>
          </a:prstGeom>
          <a:solidFill>
            <a:srgbClr val="C2352F"/>
          </a:solidFill>
          <a:ln/>
        </p:spPr>
      </p:sp>
      <p:sp>
        <p:nvSpPr>
          <p:cNvPr id="130" name="Text 128"/>
          <p:cNvSpPr txBox="1"/>
          <p:nvPr/>
        </p:nvSpPr>
        <p:spPr>
          <a:xfrm>
            <a:off x="972921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1" name="Text 129"/>
          <p:cNvSpPr txBox="1"/>
          <p:nvPr/>
        </p:nvSpPr>
        <p:spPr>
          <a:xfrm>
            <a:off x="10826496" y="319179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132" name="Text 130"/>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3" name="Text 131"/>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4" name="Shape 132"/>
          <p:cNvSpPr/>
          <p:nvPr/>
        </p:nvSpPr>
        <p:spPr>
          <a:xfrm>
            <a:off x="8901220" y="3496208"/>
            <a:ext cx="194737" cy="136676"/>
          </a:xfrm>
          <a:prstGeom prst="rect">
            <a:avLst/>
          </a:prstGeom>
          <a:solidFill>
            <a:srgbClr val="C2352F"/>
          </a:solidFill>
          <a:ln/>
        </p:spPr>
      </p:sp>
      <p:sp>
        <p:nvSpPr>
          <p:cNvPr id="135" name="Text 133"/>
          <p:cNvSpPr txBox="1"/>
          <p:nvPr/>
        </p:nvSpPr>
        <p:spPr>
          <a:xfrm>
            <a:off x="972921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136" name="Text 134"/>
          <p:cNvSpPr txBox="1"/>
          <p:nvPr/>
        </p:nvSpPr>
        <p:spPr>
          <a:xfrm>
            <a:off x="10826496" y="3440296"/>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37" name="Text 135"/>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38" name="Text 136"/>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39" name="Shape 137"/>
          <p:cNvSpPr/>
          <p:nvPr/>
        </p:nvSpPr>
        <p:spPr>
          <a:xfrm>
            <a:off x="8896811" y="3744710"/>
            <a:ext cx="199146" cy="136676"/>
          </a:xfrm>
          <a:prstGeom prst="rect">
            <a:avLst/>
          </a:prstGeom>
          <a:solidFill>
            <a:srgbClr val="C2352F"/>
          </a:solidFill>
          <a:ln/>
        </p:spPr>
      </p:sp>
      <p:sp>
        <p:nvSpPr>
          <p:cNvPr id="140" name="Text 138"/>
          <p:cNvSpPr txBox="1"/>
          <p:nvPr/>
        </p:nvSpPr>
        <p:spPr>
          <a:xfrm>
            <a:off x="972921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141" name="Text 139"/>
          <p:cNvSpPr txBox="1"/>
          <p:nvPr/>
        </p:nvSpPr>
        <p:spPr>
          <a:xfrm>
            <a:off x="10826496" y="368879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42" name="Text 140"/>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3" name="Text 141"/>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44" name="Shape 142"/>
          <p:cNvSpPr/>
          <p:nvPr/>
        </p:nvSpPr>
        <p:spPr>
          <a:xfrm>
            <a:off x="8891747" y="3993212"/>
            <a:ext cx="204210" cy="136676"/>
          </a:xfrm>
          <a:prstGeom prst="rect">
            <a:avLst/>
          </a:prstGeom>
          <a:solidFill>
            <a:srgbClr val="C2352F"/>
          </a:solidFill>
          <a:ln/>
        </p:spPr>
      </p:sp>
      <p:sp>
        <p:nvSpPr>
          <p:cNvPr id="145" name="Text 143"/>
          <p:cNvSpPr txBox="1"/>
          <p:nvPr/>
        </p:nvSpPr>
        <p:spPr>
          <a:xfrm>
            <a:off x="972921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−$65K</a:t>
            </a:r>
            <a:endParaRPr lang="en-US" sz="1300" dirty="0"/>
          </a:p>
        </p:txBody>
      </p:sp>
      <p:sp>
        <p:nvSpPr>
          <p:cNvPr id="146" name="Text 144"/>
          <p:cNvSpPr txBox="1"/>
          <p:nvPr/>
        </p:nvSpPr>
        <p:spPr>
          <a:xfrm>
            <a:off x="10826496" y="393729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47" name="Text 145"/>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48" name="Text 146"/>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49" name="Shape 147"/>
          <p:cNvSpPr/>
          <p:nvPr/>
        </p:nvSpPr>
        <p:spPr>
          <a:xfrm>
            <a:off x="8860792" y="4241713"/>
            <a:ext cx="235165" cy="136676"/>
          </a:xfrm>
          <a:prstGeom prst="rect">
            <a:avLst/>
          </a:prstGeom>
          <a:solidFill>
            <a:srgbClr val="C2352F"/>
          </a:solidFill>
          <a:ln/>
        </p:spPr>
      </p:sp>
      <p:sp>
        <p:nvSpPr>
          <p:cNvPr id="150" name="Text 148"/>
          <p:cNvSpPr txBox="1"/>
          <p:nvPr/>
        </p:nvSpPr>
        <p:spPr>
          <a:xfrm>
            <a:off x="972921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−$75K</a:t>
            </a:r>
            <a:endParaRPr lang="en-US" sz="1300" dirty="0"/>
          </a:p>
        </p:txBody>
      </p:sp>
      <p:sp>
        <p:nvSpPr>
          <p:cNvPr id="151" name="Text 149"/>
          <p:cNvSpPr txBox="1"/>
          <p:nvPr/>
        </p:nvSpPr>
        <p:spPr>
          <a:xfrm>
            <a:off x="10826496" y="4185800"/>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2" name="Text 15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3" name="Text 15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54" name="Shape 152"/>
          <p:cNvSpPr/>
          <p:nvPr/>
        </p:nvSpPr>
        <p:spPr>
          <a:xfrm>
            <a:off x="8859151" y="4490215"/>
            <a:ext cx="236806" cy="136676"/>
          </a:xfrm>
          <a:prstGeom prst="rect">
            <a:avLst/>
          </a:prstGeom>
          <a:solidFill>
            <a:srgbClr val="C2352F"/>
          </a:solidFill>
          <a:ln/>
        </p:spPr>
      </p:sp>
      <p:sp>
        <p:nvSpPr>
          <p:cNvPr id="155" name="Text 153"/>
          <p:cNvSpPr txBox="1"/>
          <p:nvPr/>
        </p:nvSpPr>
        <p:spPr>
          <a:xfrm>
            <a:off x="972921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156" name="Text 154"/>
          <p:cNvSpPr txBox="1"/>
          <p:nvPr/>
        </p:nvSpPr>
        <p:spPr>
          <a:xfrm>
            <a:off x="10826496" y="4434302"/>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a:t>
            </a:r>
            <a:endParaRPr lang="en-US" sz="1300" dirty="0"/>
          </a:p>
        </p:txBody>
      </p:sp>
      <p:sp>
        <p:nvSpPr>
          <p:cNvPr id="157" name="Text 155"/>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58" name="Text 156"/>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9" name="Shape 157"/>
          <p:cNvSpPr/>
          <p:nvPr/>
        </p:nvSpPr>
        <p:spPr>
          <a:xfrm>
            <a:off x="8830828" y="4738717"/>
            <a:ext cx="265129" cy="136676"/>
          </a:xfrm>
          <a:prstGeom prst="rect">
            <a:avLst/>
          </a:prstGeom>
          <a:solidFill>
            <a:srgbClr val="C2352F"/>
          </a:solidFill>
          <a:ln/>
        </p:spPr>
      </p:sp>
      <p:sp>
        <p:nvSpPr>
          <p:cNvPr id="160" name="Text 158"/>
          <p:cNvSpPr txBox="1"/>
          <p:nvPr/>
        </p:nvSpPr>
        <p:spPr>
          <a:xfrm>
            <a:off x="972921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−$85K</a:t>
            </a:r>
            <a:endParaRPr lang="en-US" sz="1300" dirty="0"/>
          </a:p>
        </p:txBody>
      </p:sp>
      <p:sp>
        <p:nvSpPr>
          <p:cNvPr id="161" name="Text 159"/>
          <p:cNvSpPr txBox="1"/>
          <p:nvPr/>
        </p:nvSpPr>
        <p:spPr>
          <a:xfrm>
            <a:off x="10826496" y="4682804"/>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0.0%</a:t>
            </a:r>
            <a:endParaRPr lang="en-US" sz="1300" dirty="0"/>
          </a:p>
        </p:txBody>
      </p:sp>
      <p:sp>
        <p:nvSpPr>
          <p:cNvPr id="162" name="Text 16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3" name="Text 161"/>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4" name="Shape 162"/>
          <p:cNvSpPr/>
          <p:nvPr/>
        </p:nvSpPr>
        <p:spPr>
          <a:xfrm>
            <a:off x="8754888" y="4987218"/>
            <a:ext cx="341069" cy="136676"/>
          </a:xfrm>
          <a:prstGeom prst="rect">
            <a:avLst/>
          </a:prstGeom>
          <a:solidFill>
            <a:srgbClr val="C2352F"/>
          </a:solidFill>
          <a:ln/>
        </p:spPr>
      </p:sp>
      <p:sp>
        <p:nvSpPr>
          <p:cNvPr id="165" name="Text 163"/>
          <p:cNvSpPr txBox="1"/>
          <p:nvPr/>
        </p:nvSpPr>
        <p:spPr>
          <a:xfrm>
            <a:off x="972921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−$109K</a:t>
            </a:r>
            <a:endParaRPr lang="en-US" sz="1300" dirty="0"/>
          </a:p>
        </p:txBody>
      </p:sp>
      <p:sp>
        <p:nvSpPr>
          <p:cNvPr id="166" name="Text 164"/>
          <p:cNvSpPr txBox="1"/>
          <p:nvPr/>
        </p:nvSpPr>
        <p:spPr>
          <a:xfrm>
            <a:off x="10826496" y="4931305"/>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167" name="Text 165"/>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68" name="Text 166"/>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69" name="Shape 167"/>
          <p:cNvSpPr/>
          <p:nvPr/>
        </p:nvSpPr>
        <p:spPr>
          <a:xfrm>
            <a:off x="8693205" y="5235720"/>
            <a:ext cx="402752" cy="136676"/>
          </a:xfrm>
          <a:prstGeom prst="rect">
            <a:avLst/>
          </a:prstGeom>
          <a:solidFill>
            <a:srgbClr val="C2352F"/>
          </a:solidFill>
          <a:ln/>
        </p:spPr>
      </p:sp>
      <p:sp>
        <p:nvSpPr>
          <p:cNvPr id="170" name="Text 168"/>
          <p:cNvSpPr txBox="1"/>
          <p:nvPr/>
        </p:nvSpPr>
        <p:spPr>
          <a:xfrm>
            <a:off x="972921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−$129K</a:t>
            </a:r>
            <a:endParaRPr lang="en-US" sz="1300" dirty="0"/>
          </a:p>
        </p:txBody>
      </p:sp>
      <p:sp>
        <p:nvSpPr>
          <p:cNvPr id="171" name="Text 169"/>
          <p:cNvSpPr txBox="1"/>
          <p:nvPr/>
        </p:nvSpPr>
        <p:spPr>
          <a:xfrm>
            <a:off x="10826496" y="5179807"/>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172" name="Text 170"/>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3" name="Text 171"/>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74" name="Shape 172"/>
          <p:cNvSpPr/>
          <p:nvPr/>
        </p:nvSpPr>
        <p:spPr>
          <a:xfrm>
            <a:off x="8650224" y="5484222"/>
            <a:ext cx="445733" cy="136676"/>
          </a:xfrm>
          <a:prstGeom prst="rect">
            <a:avLst/>
          </a:prstGeom>
          <a:solidFill>
            <a:srgbClr val="C2352F"/>
          </a:solidFill>
          <a:ln/>
        </p:spPr>
      </p:sp>
      <p:sp>
        <p:nvSpPr>
          <p:cNvPr id="175" name="Text 173"/>
          <p:cNvSpPr txBox="1"/>
          <p:nvPr/>
        </p:nvSpPr>
        <p:spPr>
          <a:xfrm>
            <a:off x="972921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−$142K</a:t>
            </a:r>
            <a:endParaRPr lang="en-US" sz="1300" dirty="0"/>
          </a:p>
        </p:txBody>
      </p:sp>
      <p:sp>
        <p:nvSpPr>
          <p:cNvPr id="176" name="Text 174"/>
          <p:cNvSpPr txBox="1"/>
          <p:nvPr/>
        </p:nvSpPr>
        <p:spPr>
          <a:xfrm>
            <a:off x="10826496" y="5428309"/>
            <a:ext cx="6400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5.2%</a:t>
            </a:r>
            <a:endParaRPr lang="en-US" sz="1300" dirty="0"/>
          </a:p>
        </p:txBody>
      </p:sp>
      <p:sp>
        <p:nvSpPr>
          <p:cNvPr id="177" name="Shape 175"/>
          <p:cNvSpPr/>
          <p:nvPr/>
        </p:nvSpPr>
        <p:spPr>
          <a:xfrm>
            <a:off x="6085332" y="1700784"/>
            <a:ext cx="10973" cy="4224528"/>
          </a:xfrm>
          <a:prstGeom prst="rect">
            <a:avLst/>
          </a:prstGeom>
          <a:solidFill>
            <a:srgbClr val="D9D9D9"/>
          </a:solidFill>
          <a:ln/>
        </p:spPr>
      </p:sp>
      <p:sp>
        <p:nvSpPr>
          <p:cNvPr id="178" name="Shape 176"/>
          <p:cNvSpPr/>
          <p:nvPr/>
        </p:nvSpPr>
        <p:spPr>
          <a:xfrm>
            <a:off x="457200" y="6126480"/>
            <a:ext cx="11274552" cy="356616"/>
          </a:xfrm>
          <a:prstGeom prst="rect">
            <a:avLst/>
          </a:prstGeom>
          <a:solidFill>
            <a:srgbClr val="FBEBEA"/>
          </a:solidFill>
          <a:ln/>
        </p:spPr>
      </p:sp>
      <p:sp>
        <p:nvSpPr>
          <p:cNvPr id="179" name="Text 177"/>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A82B26"/>
                </a:solidFill>
                <a:latin typeface="Inter" pitchFamily="34" charset="0"/>
                <a:ea typeface="Inter" pitchFamily="34" charset="-122"/>
                <a:cs typeface="Inter" pitchFamily="34" charset="-120"/>
              </a:rPr>
              <a:t>26 stores under 7.5% leave $1,356,881 a year; 7 are at or above it. Chevy LV is furthest below at −$142K.</a:t>
            </a:r>
            <a:endParaRPr lang="en-US" sz="1500" dirty="0"/>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 BENCHMARKS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Fuel Service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 pts</a:t>
            </a:r>
            <a:endParaRPr lang="en-US" sz="1600" dirty="0"/>
          </a:p>
        </p:txBody>
      </p:sp>
      <p:sp>
        <p:nvSpPr>
          <p:cNvPr id="13" name="Shape 11"/>
          <p:cNvSpPr/>
          <p:nvPr/>
        </p:nvSpPr>
        <p:spPr>
          <a:xfrm>
            <a:off x="4084320" y="2894990"/>
            <a:ext cx="64008" cy="682142"/>
          </a:xfrm>
          <a:prstGeom prst="rect">
            <a:avLst/>
          </a:prstGeom>
          <a:solidFill>
            <a:srgbClr val="12A566"/>
          </a:solidFill>
          <a:ln/>
        </p:spPr>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5.8%</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−0.2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6.0%</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0.0%</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4.8%</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10.0%</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71" name="Shape 69"/>
          <p:cNvSpPr/>
          <p:nvPr/>
        </p:nvSpPr>
        <p:spPr>
          <a:xfrm>
            <a:off x="457200" y="6126480"/>
            <a:ext cx="11274552" cy="600456"/>
          </a:xfrm>
          <a:prstGeom prst="rect">
            <a:avLst/>
          </a:prstGeom>
          <a:solidFill>
            <a:srgbClr val="EDF4FA"/>
          </a:solidFill>
          <a:ln/>
        </p:spPr>
      </p:sp>
      <p:sp>
        <p:nvSpPr>
          <p:cNvPr id="72" name="Text 70"/>
          <p:cNvSpPr txBox="1"/>
          <p:nvPr/>
        </p:nvSpPr>
        <p:spPr>
          <a:xfrm>
            <a:off x="658368" y="6144768"/>
            <a:ext cx="10927080" cy="56388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Ask Subaru St George, Lincoln and LR LV what changed. Ask Subaru LV, CDJR Post Falls and Toyota Spokane what got in the way. Ask Mazda, Hyundai St George and Honda Spokane what they started this year.</a:t>
            </a:r>
            <a:endParaRPr lang="en-US" sz="1550" dirty="0"/>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Variance from Benchmark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4818888"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7" name="Shape 5"/>
          <p:cNvSpPr/>
          <p:nvPr/>
        </p:nvSpPr>
        <p:spPr>
          <a:xfrm>
            <a:off x="3795511" y="1700784"/>
            <a:ext cx="10973" cy="4224528"/>
          </a:xfrm>
          <a:prstGeom prst="rect">
            <a:avLst/>
          </a:prstGeom>
          <a:solidFill>
            <a:srgbClr val="9AA3AD"/>
          </a:solidFill>
          <a:ln/>
        </p:spPr>
      </p:sp>
      <p:sp>
        <p:nvSpPr>
          <p:cNvPr id="8" name="Text 6"/>
          <p:cNvSpPr txBox="1"/>
          <p:nvPr/>
        </p:nvSpPr>
        <p:spPr>
          <a:xfrm>
            <a:off x="10369296" y="1316736"/>
            <a:ext cx="10972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Variance</a:t>
            </a:r>
            <a:endParaRPr lang="en-US" sz="1400" dirty="0"/>
          </a:p>
        </p:txBody>
      </p:sp>
      <p:sp>
        <p:nvSpPr>
          <p:cNvPr id="9" name="Shape 7"/>
          <p:cNvSpPr/>
          <p:nvPr/>
        </p:nvSpPr>
        <p:spPr>
          <a:xfrm>
            <a:off x="9345919" y="1700784"/>
            <a:ext cx="10973" cy="3976026"/>
          </a:xfrm>
          <a:prstGeom prst="rect">
            <a:avLst/>
          </a:prstGeom>
          <a:solidFill>
            <a:srgbClr val="9AA3AD"/>
          </a:solidFill>
          <a:ln/>
        </p:spPr>
      </p:sp>
      <p:sp>
        <p:nvSpPr>
          <p:cNvPr id="10" name="Text 8"/>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1" name="Text 9"/>
          <p:cNvSpPr txBox="1"/>
          <p:nvPr/>
        </p:nvSpPr>
        <p:spPr>
          <a:xfrm>
            <a:off x="1014984"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2" name="Shape 10"/>
          <p:cNvSpPr/>
          <p:nvPr/>
        </p:nvSpPr>
        <p:spPr>
          <a:xfrm>
            <a:off x="3800997" y="1756697"/>
            <a:ext cx="963027" cy="136676"/>
          </a:xfrm>
          <a:prstGeom prst="rect">
            <a:avLst/>
          </a:prstGeom>
          <a:solidFill>
            <a:srgbClr val="12A566"/>
          </a:solidFill>
          <a:ln/>
        </p:spPr>
      </p:sp>
      <p:sp>
        <p:nvSpPr>
          <p:cNvPr id="13" name="Text 11"/>
          <p:cNvSpPr txBox="1"/>
          <p:nvPr/>
        </p:nvSpPr>
        <p:spPr>
          <a:xfrm>
            <a:off x="4818888" y="170078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+$743K</a:t>
            </a:r>
            <a:endParaRPr lang="en-US" sz="1300" dirty="0"/>
          </a:p>
        </p:txBody>
      </p:sp>
      <p:sp>
        <p:nvSpPr>
          <p:cNvPr id="14" name="Text 12"/>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5" name="Text 13"/>
          <p:cNvSpPr txBox="1"/>
          <p:nvPr/>
        </p:nvSpPr>
        <p:spPr>
          <a:xfrm>
            <a:off x="1014984"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3800997" y="2005199"/>
            <a:ext cx="260306" cy="136676"/>
          </a:xfrm>
          <a:prstGeom prst="rect">
            <a:avLst/>
          </a:prstGeom>
          <a:solidFill>
            <a:srgbClr val="12A566"/>
          </a:solidFill>
          <a:ln/>
        </p:spPr>
      </p:sp>
      <p:sp>
        <p:nvSpPr>
          <p:cNvPr id="17" name="Text 15"/>
          <p:cNvSpPr txBox="1"/>
          <p:nvPr/>
        </p:nvSpPr>
        <p:spPr>
          <a:xfrm>
            <a:off x="4818888" y="1949286"/>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+$201K</a:t>
            </a:r>
            <a:endParaRPr lang="en-US" sz="1300" dirty="0"/>
          </a:p>
        </p:txBody>
      </p:sp>
      <p:sp>
        <p:nvSpPr>
          <p:cNvPr id="18" name="Text 16"/>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19" name="Text 17"/>
          <p:cNvSpPr txBox="1"/>
          <p:nvPr/>
        </p:nvSpPr>
        <p:spPr>
          <a:xfrm>
            <a:off x="1014984"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0" name="Shape 18"/>
          <p:cNvSpPr/>
          <p:nvPr/>
        </p:nvSpPr>
        <p:spPr>
          <a:xfrm>
            <a:off x="3800997" y="2253700"/>
            <a:ext cx="92755" cy="136676"/>
          </a:xfrm>
          <a:prstGeom prst="rect">
            <a:avLst/>
          </a:prstGeom>
          <a:solidFill>
            <a:srgbClr val="12A566"/>
          </a:solidFill>
          <a:ln/>
        </p:spPr>
      </p:sp>
      <p:sp>
        <p:nvSpPr>
          <p:cNvPr id="21" name="Text 19"/>
          <p:cNvSpPr txBox="1"/>
          <p:nvPr/>
        </p:nvSpPr>
        <p:spPr>
          <a:xfrm>
            <a:off x="4818888" y="2197787"/>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+$72K</a:t>
            </a:r>
            <a:endParaRPr lang="en-US" sz="1300" dirty="0"/>
          </a:p>
        </p:txBody>
      </p:sp>
      <p:sp>
        <p:nvSpPr>
          <p:cNvPr id="22" name="Text 20"/>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1014984"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4" name="Shape 22"/>
          <p:cNvSpPr/>
          <p:nvPr/>
        </p:nvSpPr>
        <p:spPr>
          <a:xfrm>
            <a:off x="3800997" y="2502202"/>
            <a:ext cx="77707" cy="136676"/>
          </a:xfrm>
          <a:prstGeom prst="rect">
            <a:avLst/>
          </a:prstGeom>
          <a:solidFill>
            <a:srgbClr val="12A566"/>
          </a:solidFill>
          <a:ln/>
        </p:spPr>
      </p:sp>
      <p:sp>
        <p:nvSpPr>
          <p:cNvPr id="25" name="Text 23"/>
          <p:cNvSpPr txBox="1"/>
          <p:nvPr/>
        </p:nvSpPr>
        <p:spPr>
          <a:xfrm>
            <a:off x="4818888" y="2446289"/>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+$60K</a:t>
            </a:r>
            <a:endParaRPr lang="en-US" sz="1300" dirty="0"/>
          </a:p>
        </p:txBody>
      </p:sp>
      <p:sp>
        <p:nvSpPr>
          <p:cNvPr id="26" name="Text 2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7" name="Text 25"/>
          <p:cNvSpPr txBox="1"/>
          <p:nvPr/>
        </p:nvSpPr>
        <p:spPr>
          <a:xfrm>
            <a:off x="1014984"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800997" y="2750703"/>
            <a:ext cx="71427" cy="136676"/>
          </a:xfrm>
          <a:prstGeom prst="rect">
            <a:avLst/>
          </a:prstGeom>
          <a:solidFill>
            <a:srgbClr val="12A566"/>
          </a:solidFill>
          <a:ln/>
        </p:spPr>
      </p:sp>
      <p:sp>
        <p:nvSpPr>
          <p:cNvPr id="29" name="Text 27"/>
          <p:cNvSpPr txBox="1"/>
          <p:nvPr/>
        </p:nvSpPr>
        <p:spPr>
          <a:xfrm>
            <a:off x="4818888" y="2694791"/>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+$55K</a:t>
            </a:r>
            <a:endParaRPr lang="en-US" sz="1300" dirty="0"/>
          </a:p>
        </p:txBody>
      </p:sp>
      <p:sp>
        <p:nvSpPr>
          <p:cNvPr id="30" name="Text 28"/>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1" name="Text 29"/>
          <p:cNvSpPr txBox="1"/>
          <p:nvPr/>
        </p:nvSpPr>
        <p:spPr>
          <a:xfrm>
            <a:off x="1014984"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2" name="Shape 30"/>
          <p:cNvSpPr/>
          <p:nvPr/>
        </p:nvSpPr>
        <p:spPr>
          <a:xfrm>
            <a:off x="3800997" y="2999205"/>
            <a:ext cx="57698" cy="136676"/>
          </a:xfrm>
          <a:prstGeom prst="rect">
            <a:avLst/>
          </a:prstGeom>
          <a:solidFill>
            <a:srgbClr val="12A566"/>
          </a:solidFill>
          <a:ln/>
        </p:spPr>
      </p:sp>
      <p:sp>
        <p:nvSpPr>
          <p:cNvPr id="33" name="Text 31"/>
          <p:cNvSpPr txBox="1"/>
          <p:nvPr/>
        </p:nvSpPr>
        <p:spPr>
          <a:xfrm>
            <a:off x="4818888" y="2943292"/>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+$45K</a:t>
            </a:r>
            <a:endParaRPr lang="en-US" sz="1300" dirty="0"/>
          </a:p>
        </p:txBody>
      </p:sp>
      <p:sp>
        <p:nvSpPr>
          <p:cNvPr id="34" name="Text 32"/>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5" name="Text 33"/>
          <p:cNvSpPr txBox="1"/>
          <p:nvPr/>
        </p:nvSpPr>
        <p:spPr>
          <a:xfrm>
            <a:off x="1014984"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36" name="Shape 34"/>
          <p:cNvSpPr/>
          <p:nvPr/>
        </p:nvSpPr>
        <p:spPr>
          <a:xfrm>
            <a:off x="3800997" y="3247707"/>
            <a:ext cx="40337" cy="136676"/>
          </a:xfrm>
          <a:prstGeom prst="rect">
            <a:avLst/>
          </a:prstGeom>
          <a:solidFill>
            <a:srgbClr val="12A566"/>
          </a:solidFill>
          <a:ln/>
        </p:spPr>
      </p:sp>
      <p:sp>
        <p:nvSpPr>
          <p:cNvPr id="37" name="Text 35"/>
          <p:cNvSpPr txBox="1"/>
          <p:nvPr/>
        </p:nvSpPr>
        <p:spPr>
          <a:xfrm>
            <a:off x="4818888" y="3191794"/>
            <a:ext cx="1097280" cy="248502"/>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+$31K</a:t>
            </a:r>
            <a:endParaRPr lang="en-US" sz="1300" dirty="0"/>
          </a:p>
        </p:txBody>
      </p:sp>
      <p:sp>
        <p:nvSpPr>
          <p:cNvPr id="38" name="Text 36"/>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39" name="Text 37"/>
          <p:cNvSpPr txBox="1"/>
          <p:nvPr/>
        </p:nvSpPr>
        <p:spPr>
          <a:xfrm>
            <a:off x="1014984"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40" name="Shape 38"/>
          <p:cNvSpPr/>
          <p:nvPr/>
        </p:nvSpPr>
        <p:spPr>
          <a:xfrm>
            <a:off x="3762731" y="3496208"/>
            <a:ext cx="38266" cy="136676"/>
          </a:xfrm>
          <a:prstGeom prst="rect">
            <a:avLst/>
          </a:prstGeom>
          <a:solidFill>
            <a:srgbClr val="C2352F"/>
          </a:solidFill>
          <a:ln/>
        </p:spPr>
      </p:sp>
      <p:sp>
        <p:nvSpPr>
          <p:cNvPr id="41" name="Text 39"/>
          <p:cNvSpPr txBox="1"/>
          <p:nvPr/>
        </p:nvSpPr>
        <p:spPr>
          <a:xfrm>
            <a:off x="4818888"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−$30K</a:t>
            </a:r>
            <a:endParaRPr lang="en-US" sz="1300" dirty="0"/>
          </a:p>
        </p:txBody>
      </p:sp>
      <p:sp>
        <p:nvSpPr>
          <p:cNvPr id="42" name="Text 40"/>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3" name="Text 41"/>
          <p:cNvSpPr txBox="1"/>
          <p:nvPr/>
        </p:nvSpPr>
        <p:spPr>
          <a:xfrm>
            <a:off x="1014984"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4" name="Shape 42"/>
          <p:cNvSpPr/>
          <p:nvPr/>
        </p:nvSpPr>
        <p:spPr>
          <a:xfrm>
            <a:off x="3752270" y="3744710"/>
            <a:ext cx="48727" cy="136676"/>
          </a:xfrm>
          <a:prstGeom prst="rect">
            <a:avLst/>
          </a:prstGeom>
          <a:solidFill>
            <a:srgbClr val="C2352F"/>
          </a:solidFill>
          <a:ln/>
        </p:spPr>
      </p:sp>
      <p:sp>
        <p:nvSpPr>
          <p:cNvPr id="45" name="Text 43"/>
          <p:cNvSpPr txBox="1"/>
          <p:nvPr/>
        </p:nvSpPr>
        <p:spPr>
          <a:xfrm>
            <a:off x="4818888"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46" name="Text 4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7" name="Text 45"/>
          <p:cNvSpPr txBox="1"/>
          <p:nvPr/>
        </p:nvSpPr>
        <p:spPr>
          <a:xfrm>
            <a:off x="1014984"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8" name="Shape 46"/>
          <p:cNvSpPr/>
          <p:nvPr/>
        </p:nvSpPr>
        <p:spPr>
          <a:xfrm>
            <a:off x="3751591" y="3993212"/>
            <a:ext cx="49407" cy="136676"/>
          </a:xfrm>
          <a:prstGeom prst="rect">
            <a:avLst/>
          </a:prstGeom>
          <a:solidFill>
            <a:srgbClr val="C2352F"/>
          </a:solidFill>
          <a:ln/>
        </p:spPr>
      </p:sp>
      <p:sp>
        <p:nvSpPr>
          <p:cNvPr id="49" name="Text 47"/>
          <p:cNvSpPr txBox="1"/>
          <p:nvPr/>
        </p:nvSpPr>
        <p:spPr>
          <a:xfrm>
            <a:off x="4818888"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−$38K</a:t>
            </a:r>
            <a:endParaRPr lang="en-US" sz="1300" dirty="0"/>
          </a:p>
        </p:txBody>
      </p:sp>
      <p:sp>
        <p:nvSpPr>
          <p:cNvPr id="50" name="Text 48"/>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1" name="Text 49"/>
          <p:cNvSpPr txBox="1"/>
          <p:nvPr/>
        </p:nvSpPr>
        <p:spPr>
          <a:xfrm>
            <a:off x="1014984"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52" name="Shape 50"/>
          <p:cNvSpPr/>
          <p:nvPr/>
        </p:nvSpPr>
        <p:spPr>
          <a:xfrm>
            <a:off x="3745550" y="4241713"/>
            <a:ext cx="55448" cy="136676"/>
          </a:xfrm>
          <a:prstGeom prst="rect">
            <a:avLst/>
          </a:prstGeom>
          <a:solidFill>
            <a:srgbClr val="C2352F"/>
          </a:solidFill>
          <a:ln/>
        </p:spPr>
      </p:sp>
      <p:sp>
        <p:nvSpPr>
          <p:cNvPr id="53" name="Text 51"/>
          <p:cNvSpPr txBox="1"/>
          <p:nvPr/>
        </p:nvSpPr>
        <p:spPr>
          <a:xfrm>
            <a:off x="4818888"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−$43K</a:t>
            </a:r>
            <a:endParaRPr lang="en-US" sz="1300" dirty="0"/>
          </a:p>
        </p:txBody>
      </p:sp>
      <p:sp>
        <p:nvSpPr>
          <p:cNvPr id="54" name="Text 52"/>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5" name="Text 53"/>
          <p:cNvSpPr txBox="1"/>
          <p:nvPr/>
        </p:nvSpPr>
        <p:spPr>
          <a:xfrm>
            <a:off x="1014984"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6" name="Shape 54"/>
          <p:cNvSpPr/>
          <p:nvPr/>
        </p:nvSpPr>
        <p:spPr>
          <a:xfrm>
            <a:off x="3729945" y="4490215"/>
            <a:ext cx="71053" cy="136676"/>
          </a:xfrm>
          <a:prstGeom prst="rect">
            <a:avLst/>
          </a:prstGeom>
          <a:solidFill>
            <a:srgbClr val="C2352F"/>
          </a:solidFill>
          <a:ln/>
        </p:spPr>
      </p:sp>
      <p:sp>
        <p:nvSpPr>
          <p:cNvPr id="57" name="Text 55"/>
          <p:cNvSpPr txBox="1"/>
          <p:nvPr/>
        </p:nvSpPr>
        <p:spPr>
          <a:xfrm>
            <a:off x="4818888"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−$55K</a:t>
            </a:r>
            <a:endParaRPr lang="en-US" sz="1300" dirty="0"/>
          </a:p>
        </p:txBody>
      </p:sp>
      <p:sp>
        <p:nvSpPr>
          <p:cNvPr id="58" name="Text 56"/>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59" name="Text 57"/>
          <p:cNvSpPr txBox="1"/>
          <p:nvPr/>
        </p:nvSpPr>
        <p:spPr>
          <a:xfrm>
            <a:off x="1014984"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0" name="Shape 58"/>
          <p:cNvSpPr/>
          <p:nvPr/>
        </p:nvSpPr>
        <p:spPr>
          <a:xfrm>
            <a:off x="3718481" y="4738717"/>
            <a:ext cx="82517" cy="136676"/>
          </a:xfrm>
          <a:prstGeom prst="rect">
            <a:avLst/>
          </a:prstGeom>
          <a:solidFill>
            <a:srgbClr val="C2352F"/>
          </a:solidFill>
          <a:ln/>
        </p:spPr>
      </p:sp>
      <p:sp>
        <p:nvSpPr>
          <p:cNvPr id="61" name="Text 59"/>
          <p:cNvSpPr txBox="1"/>
          <p:nvPr/>
        </p:nvSpPr>
        <p:spPr>
          <a:xfrm>
            <a:off x="4818888"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−$64K</a:t>
            </a:r>
            <a:endParaRPr lang="en-US" sz="1300" dirty="0"/>
          </a:p>
        </p:txBody>
      </p:sp>
      <p:sp>
        <p:nvSpPr>
          <p:cNvPr id="62" name="Text 60"/>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1014984"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4" name="Shape 62"/>
          <p:cNvSpPr/>
          <p:nvPr/>
        </p:nvSpPr>
        <p:spPr>
          <a:xfrm>
            <a:off x="3710263" y="4987218"/>
            <a:ext cx="90735" cy="136676"/>
          </a:xfrm>
          <a:prstGeom prst="rect">
            <a:avLst/>
          </a:prstGeom>
          <a:solidFill>
            <a:srgbClr val="C2352F"/>
          </a:solidFill>
          <a:ln/>
        </p:spPr>
      </p:sp>
      <p:sp>
        <p:nvSpPr>
          <p:cNvPr id="65" name="Text 63"/>
          <p:cNvSpPr txBox="1"/>
          <p:nvPr/>
        </p:nvSpPr>
        <p:spPr>
          <a:xfrm>
            <a:off x="4818888"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66" name="Text 6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7" name="Text 65"/>
          <p:cNvSpPr txBox="1"/>
          <p:nvPr/>
        </p:nvSpPr>
        <p:spPr>
          <a:xfrm>
            <a:off x="1014984"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68" name="Shape 66"/>
          <p:cNvSpPr/>
          <p:nvPr/>
        </p:nvSpPr>
        <p:spPr>
          <a:xfrm>
            <a:off x="3698735" y="5235720"/>
            <a:ext cx="102262" cy="136676"/>
          </a:xfrm>
          <a:prstGeom prst="rect">
            <a:avLst/>
          </a:prstGeom>
          <a:solidFill>
            <a:srgbClr val="C2352F"/>
          </a:solidFill>
          <a:ln/>
        </p:spPr>
      </p:sp>
      <p:sp>
        <p:nvSpPr>
          <p:cNvPr id="69" name="Text 67"/>
          <p:cNvSpPr txBox="1"/>
          <p:nvPr/>
        </p:nvSpPr>
        <p:spPr>
          <a:xfrm>
            <a:off x="4818888"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−$79K</a:t>
            </a:r>
            <a:endParaRPr lang="en-US" sz="1300" dirty="0"/>
          </a:p>
        </p:txBody>
      </p:sp>
      <p:sp>
        <p:nvSpPr>
          <p:cNvPr id="70" name="Text 68"/>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1" name="Text 69"/>
          <p:cNvSpPr txBox="1"/>
          <p:nvPr/>
        </p:nvSpPr>
        <p:spPr>
          <a:xfrm>
            <a:off x="1014984"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2" name="Shape 70"/>
          <p:cNvSpPr/>
          <p:nvPr/>
        </p:nvSpPr>
        <p:spPr>
          <a:xfrm>
            <a:off x="3697071" y="5484222"/>
            <a:ext cx="103926" cy="136676"/>
          </a:xfrm>
          <a:prstGeom prst="rect">
            <a:avLst/>
          </a:prstGeom>
          <a:solidFill>
            <a:srgbClr val="C2352F"/>
          </a:solidFill>
          <a:ln/>
        </p:spPr>
      </p:sp>
      <p:sp>
        <p:nvSpPr>
          <p:cNvPr id="73" name="Text 71"/>
          <p:cNvSpPr txBox="1"/>
          <p:nvPr/>
        </p:nvSpPr>
        <p:spPr>
          <a:xfrm>
            <a:off x="4818888"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−$80K</a:t>
            </a:r>
            <a:endParaRPr lang="en-US" sz="1300" dirty="0"/>
          </a:p>
        </p:txBody>
      </p:sp>
      <p:sp>
        <p:nvSpPr>
          <p:cNvPr id="74" name="Text 72"/>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1014984" y="567681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76" name="Shape 74"/>
          <p:cNvSpPr/>
          <p:nvPr/>
        </p:nvSpPr>
        <p:spPr>
          <a:xfrm>
            <a:off x="3696290" y="5732723"/>
            <a:ext cx="104707" cy="136676"/>
          </a:xfrm>
          <a:prstGeom prst="rect">
            <a:avLst/>
          </a:prstGeom>
          <a:solidFill>
            <a:srgbClr val="C2352F"/>
          </a:solidFill>
          <a:ln/>
        </p:spPr>
      </p:sp>
      <p:sp>
        <p:nvSpPr>
          <p:cNvPr id="77" name="Text 75"/>
          <p:cNvSpPr txBox="1"/>
          <p:nvPr/>
        </p:nvSpPr>
        <p:spPr>
          <a:xfrm>
            <a:off x="4818888" y="567681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−$81K</a:t>
            </a:r>
            <a:endParaRPr lang="en-US" sz="1300" dirty="0"/>
          </a:p>
        </p:txBody>
      </p:sp>
      <p:sp>
        <p:nvSpPr>
          <p:cNvPr id="78" name="Text 76"/>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79" name="Text 77"/>
          <p:cNvSpPr txBox="1"/>
          <p:nvPr/>
        </p:nvSpPr>
        <p:spPr>
          <a:xfrm>
            <a:off x="6565392" y="170078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80" name="Shape 78"/>
          <p:cNvSpPr/>
          <p:nvPr/>
        </p:nvSpPr>
        <p:spPr>
          <a:xfrm>
            <a:off x="9237983" y="1756697"/>
            <a:ext cx="113423" cy="136676"/>
          </a:xfrm>
          <a:prstGeom prst="rect">
            <a:avLst/>
          </a:prstGeom>
          <a:solidFill>
            <a:srgbClr val="C2352F"/>
          </a:solidFill>
          <a:ln/>
        </p:spPr>
      </p:sp>
      <p:sp>
        <p:nvSpPr>
          <p:cNvPr id="81" name="Text 79"/>
          <p:cNvSpPr txBox="1"/>
          <p:nvPr/>
        </p:nvSpPr>
        <p:spPr>
          <a:xfrm>
            <a:off x="10369296" y="170078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82" name="Text 80"/>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3" name="Text 81"/>
          <p:cNvSpPr txBox="1"/>
          <p:nvPr/>
        </p:nvSpPr>
        <p:spPr>
          <a:xfrm>
            <a:off x="6565392" y="194928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84" name="Shape 82"/>
          <p:cNvSpPr/>
          <p:nvPr/>
        </p:nvSpPr>
        <p:spPr>
          <a:xfrm>
            <a:off x="9188179" y="2005199"/>
            <a:ext cx="163227" cy="136676"/>
          </a:xfrm>
          <a:prstGeom prst="rect">
            <a:avLst/>
          </a:prstGeom>
          <a:solidFill>
            <a:srgbClr val="C2352F"/>
          </a:solidFill>
          <a:ln/>
        </p:spPr>
      </p:sp>
      <p:sp>
        <p:nvSpPr>
          <p:cNvPr id="85" name="Text 83"/>
          <p:cNvSpPr txBox="1"/>
          <p:nvPr/>
        </p:nvSpPr>
        <p:spPr>
          <a:xfrm>
            <a:off x="10369296" y="194928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−$126K</a:t>
            </a:r>
            <a:endParaRPr lang="en-US" sz="1300" dirty="0"/>
          </a:p>
        </p:txBody>
      </p:sp>
      <p:sp>
        <p:nvSpPr>
          <p:cNvPr id="86" name="Text 8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7" name="Text 85"/>
          <p:cNvSpPr txBox="1"/>
          <p:nvPr/>
        </p:nvSpPr>
        <p:spPr>
          <a:xfrm>
            <a:off x="6565392" y="219778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88" name="Shape 86"/>
          <p:cNvSpPr/>
          <p:nvPr/>
        </p:nvSpPr>
        <p:spPr>
          <a:xfrm>
            <a:off x="9179400" y="2253700"/>
            <a:ext cx="172006" cy="136676"/>
          </a:xfrm>
          <a:prstGeom prst="rect">
            <a:avLst/>
          </a:prstGeom>
          <a:solidFill>
            <a:srgbClr val="C2352F"/>
          </a:solidFill>
          <a:ln/>
        </p:spPr>
      </p:sp>
      <p:sp>
        <p:nvSpPr>
          <p:cNvPr id="89" name="Text 87"/>
          <p:cNvSpPr txBox="1"/>
          <p:nvPr/>
        </p:nvSpPr>
        <p:spPr>
          <a:xfrm>
            <a:off x="10369296" y="219778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−$133K</a:t>
            </a:r>
            <a:endParaRPr lang="en-US" sz="1300" dirty="0"/>
          </a:p>
        </p:txBody>
      </p:sp>
      <p:sp>
        <p:nvSpPr>
          <p:cNvPr id="90" name="Text 88"/>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1" name="Text 89"/>
          <p:cNvSpPr txBox="1"/>
          <p:nvPr/>
        </p:nvSpPr>
        <p:spPr>
          <a:xfrm>
            <a:off x="6565392" y="244628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92" name="Shape 90"/>
          <p:cNvSpPr/>
          <p:nvPr/>
        </p:nvSpPr>
        <p:spPr>
          <a:xfrm>
            <a:off x="9170174" y="2502202"/>
            <a:ext cx="181231" cy="136676"/>
          </a:xfrm>
          <a:prstGeom prst="rect">
            <a:avLst/>
          </a:prstGeom>
          <a:solidFill>
            <a:srgbClr val="C2352F"/>
          </a:solidFill>
          <a:ln/>
        </p:spPr>
      </p:sp>
      <p:sp>
        <p:nvSpPr>
          <p:cNvPr id="93" name="Text 91"/>
          <p:cNvSpPr txBox="1"/>
          <p:nvPr/>
        </p:nvSpPr>
        <p:spPr>
          <a:xfrm>
            <a:off x="10369296" y="244628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−$140K</a:t>
            </a:r>
            <a:endParaRPr lang="en-US" sz="1300" dirty="0"/>
          </a:p>
        </p:txBody>
      </p:sp>
      <p:sp>
        <p:nvSpPr>
          <p:cNvPr id="94" name="Text 92"/>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5" name="Text 93"/>
          <p:cNvSpPr txBox="1"/>
          <p:nvPr/>
        </p:nvSpPr>
        <p:spPr>
          <a:xfrm>
            <a:off x="6565392" y="2694791"/>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96" name="Shape 94"/>
          <p:cNvSpPr/>
          <p:nvPr/>
        </p:nvSpPr>
        <p:spPr>
          <a:xfrm>
            <a:off x="9169305" y="2750703"/>
            <a:ext cx="182101" cy="136676"/>
          </a:xfrm>
          <a:prstGeom prst="rect">
            <a:avLst/>
          </a:prstGeom>
          <a:solidFill>
            <a:srgbClr val="C2352F"/>
          </a:solidFill>
          <a:ln/>
        </p:spPr>
      </p:sp>
      <p:sp>
        <p:nvSpPr>
          <p:cNvPr id="97" name="Text 95"/>
          <p:cNvSpPr txBox="1"/>
          <p:nvPr/>
        </p:nvSpPr>
        <p:spPr>
          <a:xfrm>
            <a:off x="10369296" y="2694791"/>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−$141K</a:t>
            </a:r>
            <a:endParaRPr lang="en-US" sz="1300" dirty="0"/>
          </a:p>
        </p:txBody>
      </p:sp>
      <p:sp>
        <p:nvSpPr>
          <p:cNvPr id="98" name="Text 96"/>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99" name="Text 97"/>
          <p:cNvSpPr txBox="1"/>
          <p:nvPr/>
        </p:nvSpPr>
        <p:spPr>
          <a:xfrm>
            <a:off x="6565392" y="294329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00" name="Shape 98"/>
          <p:cNvSpPr/>
          <p:nvPr/>
        </p:nvSpPr>
        <p:spPr>
          <a:xfrm>
            <a:off x="9109792" y="2999205"/>
            <a:ext cx="241613" cy="136676"/>
          </a:xfrm>
          <a:prstGeom prst="rect">
            <a:avLst/>
          </a:prstGeom>
          <a:solidFill>
            <a:srgbClr val="C2352F"/>
          </a:solidFill>
          <a:ln/>
        </p:spPr>
      </p:sp>
      <p:sp>
        <p:nvSpPr>
          <p:cNvPr id="101" name="Text 99"/>
          <p:cNvSpPr txBox="1"/>
          <p:nvPr/>
        </p:nvSpPr>
        <p:spPr>
          <a:xfrm>
            <a:off x="10369296" y="294329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−$186K</a:t>
            </a:r>
            <a:endParaRPr lang="en-US" sz="1300" dirty="0"/>
          </a:p>
        </p:txBody>
      </p:sp>
      <p:sp>
        <p:nvSpPr>
          <p:cNvPr id="102" name="Text 100"/>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3" name="Text 101"/>
          <p:cNvSpPr txBox="1"/>
          <p:nvPr/>
        </p:nvSpPr>
        <p:spPr>
          <a:xfrm>
            <a:off x="6565392" y="319179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04" name="Shape 102"/>
          <p:cNvSpPr/>
          <p:nvPr/>
        </p:nvSpPr>
        <p:spPr>
          <a:xfrm>
            <a:off x="9092573" y="3247707"/>
            <a:ext cx="258833" cy="136676"/>
          </a:xfrm>
          <a:prstGeom prst="rect">
            <a:avLst/>
          </a:prstGeom>
          <a:solidFill>
            <a:srgbClr val="C2352F"/>
          </a:solidFill>
          <a:ln/>
        </p:spPr>
      </p:sp>
      <p:sp>
        <p:nvSpPr>
          <p:cNvPr id="105" name="Text 103"/>
          <p:cNvSpPr txBox="1"/>
          <p:nvPr/>
        </p:nvSpPr>
        <p:spPr>
          <a:xfrm>
            <a:off x="10369296" y="319179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06" name="Text 10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7" name="Text 105"/>
          <p:cNvSpPr txBox="1"/>
          <p:nvPr/>
        </p:nvSpPr>
        <p:spPr>
          <a:xfrm>
            <a:off x="6565392" y="3440296"/>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8" name="Shape 106"/>
          <p:cNvSpPr/>
          <p:nvPr/>
        </p:nvSpPr>
        <p:spPr>
          <a:xfrm>
            <a:off x="9092243" y="3496208"/>
            <a:ext cx="259162" cy="136676"/>
          </a:xfrm>
          <a:prstGeom prst="rect">
            <a:avLst/>
          </a:prstGeom>
          <a:solidFill>
            <a:srgbClr val="C2352F"/>
          </a:solidFill>
          <a:ln/>
        </p:spPr>
      </p:sp>
      <p:sp>
        <p:nvSpPr>
          <p:cNvPr id="109" name="Text 107"/>
          <p:cNvSpPr txBox="1"/>
          <p:nvPr/>
        </p:nvSpPr>
        <p:spPr>
          <a:xfrm>
            <a:off x="10369296" y="3440296"/>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−$200K</a:t>
            </a:r>
            <a:endParaRPr lang="en-US" sz="1300" dirty="0"/>
          </a:p>
        </p:txBody>
      </p:sp>
      <p:sp>
        <p:nvSpPr>
          <p:cNvPr id="110" name="Text 108"/>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1" name="Text 109"/>
          <p:cNvSpPr txBox="1"/>
          <p:nvPr/>
        </p:nvSpPr>
        <p:spPr>
          <a:xfrm>
            <a:off x="6565392" y="368879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2" name="Shape 110"/>
          <p:cNvSpPr/>
          <p:nvPr/>
        </p:nvSpPr>
        <p:spPr>
          <a:xfrm>
            <a:off x="9072005" y="3744710"/>
            <a:ext cx="279401" cy="136676"/>
          </a:xfrm>
          <a:prstGeom prst="rect">
            <a:avLst/>
          </a:prstGeom>
          <a:solidFill>
            <a:srgbClr val="C2352F"/>
          </a:solidFill>
          <a:ln/>
        </p:spPr>
      </p:sp>
      <p:sp>
        <p:nvSpPr>
          <p:cNvPr id="113" name="Text 111"/>
          <p:cNvSpPr txBox="1"/>
          <p:nvPr/>
        </p:nvSpPr>
        <p:spPr>
          <a:xfrm>
            <a:off x="10369296" y="368879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−$216K</a:t>
            </a:r>
            <a:endParaRPr lang="en-US" sz="1300" dirty="0"/>
          </a:p>
        </p:txBody>
      </p:sp>
      <p:sp>
        <p:nvSpPr>
          <p:cNvPr id="114" name="Text 112"/>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5" name="Text 113"/>
          <p:cNvSpPr txBox="1"/>
          <p:nvPr/>
        </p:nvSpPr>
        <p:spPr>
          <a:xfrm>
            <a:off x="6565392" y="393729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6" name="Shape 114"/>
          <p:cNvSpPr/>
          <p:nvPr/>
        </p:nvSpPr>
        <p:spPr>
          <a:xfrm>
            <a:off x="9049807" y="3993212"/>
            <a:ext cx="301599" cy="136676"/>
          </a:xfrm>
          <a:prstGeom prst="rect">
            <a:avLst/>
          </a:prstGeom>
          <a:solidFill>
            <a:srgbClr val="C2352F"/>
          </a:solidFill>
          <a:ln/>
        </p:spPr>
      </p:sp>
      <p:sp>
        <p:nvSpPr>
          <p:cNvPr id="117" name="Text 115"/>
          <p:cNvSpPr txBox="1"/>
          <p:nvPr/>
        </p:nvSpPr>
        <p:spPr>
          <a:xfrm>
            <a:off x="10369296" y="393729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−$233K</a:t>
            </a:r>
            <a:endParaRPr lang="en-US" sz="1300" dirty="0"/>
          </a:p>
        </p:txBody>
      </p:sp>
      <p:sp>
        <p:nvSpPr>
          <p:cNvPr id="118" name="Text 116"/>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19" name="Text 117"/>
          <p:cNvSpPr txBox="1"/>
          <p:nvPr/>
        </p:nvSpPr>
        <p:spPr>
          <a:xfrm>
            <a:off x="6565392" y="4185800"/>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20" name="Shape 118"/>
          <p:cNvSpPr/>
          <p:nvPr/>
        </p:nvSpPr>
        <p:spPr>
          <a:xfrm>
            <a:off x="9034236" y="4241713"/>
            <a:ext cx="317170" cy="136676"/>
          </a:xfrm>
          <a:prstGeom prst="rect">
            <a:avLst/>
          </a:prstGeom>
          <a:solidFill>
            <a:srgbClr val="C2352F"/>
          </a:solidFill>
          <a:ln/>
        </p:spPr>
      </p:sp>
      <p:sp>
        <p:nvSpPr>
          <p:cNvPr id="121" name="Text 119"/>
          <p:cNvSpPr txBox="1"/>
          <p:nvPr/>
        </p:nvSpPr>
        <p:spPr>
          <a:xfrm>
            <a:off x="10369296" y="4185800"/>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−$245K</a:t>
            </a:r>
            <a:endParaRPr lang="en-US" sz="1300" dirty="0"/>
          </a:p>
        </p:txBody>
      </p:sp>
      <p:sp>
        <p:nvSpPr>
          <p:cNvPr id="122" name="Text 120"/>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3" name="Text 121"/>
          <p:cNvSpPr txBox="1"/>
          <p:nvPr/>
        </p:nvSpPr>
        <p:spPr>
          <a:xfrm>
            <a:off x="6565392" y="4434302"/>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24" name="Shape 122"/>
          <p:cNvSpPr/>
          <p:nvPr/>
        </p:nvSpPr>
        <p:spPr>
          <a:xfrm>
            <a:off x="9031867" y="4490215"/>
            <a:ext cx="319539" cy="136676"/>
          </a:xfrm>
          <a:prstGeom prst="rect">
            <a:avLst/>
          </a:prstGeom>
          <a:solidFill>
            <a:srgbClr val="C2352F"/>
          </a:solidFill>
          <a:ln/>
        </p:spPr>
      </p:sp>
      <p:sp>
        <p:nvSpPr>
          <p:cNvPr id="125" name="Text 123"/>
          <p:cNvSpPr txBox="1"/>
          <p:nvPr/>
        </p:nvSpPr>
        <p:spPr>
          <a:xfrm>
            <a:off x="10369296" y="4434302"/>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−$247K</a:t>
            </a:r>
            <a:endParaRPr lang="en-US" sz="1300" dirty="0"/>
          </a:p>
        </p:txBody>
      </p:sp>
      <p:sp>
        <p:nvSpPr>
          <p:cNvPr id="126" name="Text 12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7" name="Text 125"/>
          <p:cNvSpPr txBox="1"/>
          <p:nvPr/>
        </p:nvSpPr>
        <p:spPr>
          <a:xfrm>
            <a:off x="6565392" y="4682804"/>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128" name="Shape 126"/>
          <p:cNvSpPr/>
          <p:nvPr/>
        </p:nvSpPr>
        <p:spPr>
          <a:xfrm>
            <a:off x="8959526" y="4738717"/>
            <a:ext cx="391880" cy="136676"/>
          </a:xfrm>
          <a:prstGeom prst="rect">
            <a:avLst/>
          </a:prstGeom>
          <a:solidFill>
            <a:srgbClr val="C2352F"/>
          </a:solidFill>
          <a:ln/>
        </p:spPr>
      </p:sp>
      <p:sp>
        <p:nvSpPr>
          <p:cNvPr id="129" name="Text 127"/>
          <p:cNvSpPr txBox="1"/>
          <p:nvPr/>
        </p:nvSpPr>
        <p:spPr>
          <a:xfrm>
            <a:off x="10369296" y="4682804"/>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−$302K</a:t>
            </a:r>
            <a:endParaRPr lang="en-US" sz="1300" dirty="0"/>
          </a:p>
        </p:txBody>
      </p:sp>
      <p:sp>
        <p:nvSpPr>
          <p:cNvPr id="130" name="Text 128"/>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1" name="Text 129"/>
          <p:cNvSpPr txBox="1"/>
          <p:nvPr/>
        </p:nvSpPr>
        <p:spPr>
          <a:xfrm>
            <a:off x="6565392" y="4931305"/>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32" name="Shape 130"/>
          <p:cNvSpPr/>
          <p:nvPr/>
        </p:nvSpPr>
        <p:spPr>
          <a:xfrm>
            <a:off x="8890482" y="4987218"/>
            <a:ext cx="460924" cy="136676"/>
          </a:xfrm>
          <a:prstGeom prst="rect">
            <a:avLst/>
          </a:prstGeom>
          <a:solidFill>
            <a:srgbClr val="C2352F"/>
          </a:solidFill>
          <a:ln/>
        </p:spPr>
      </p:sp>
      <p:sp>
        <p:nvSpPr>
          <p:cNvPr id="133" name="Text 131"/>
          <p:cNvSpPr txBox="1"/>
          <p:nvPr/>
        </p:nvSpPr>
        <p:spPr>
          <a:xfrm>
            <a:off x="10369296" y="4931305"/>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−$356K</a:t>
            </a:r>
            <a:endParaRPr lang="en-US" sz="1300" dirty="0"/>
          </a:p>
        </p:txBody>
      </p:sp>
      <p:sp>
        <p:nvSpPr>
          <p:cNvPr id="134" name="Text 132"/>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5" name="Text 133"/>
          <p:cNvSpPr txBox="1"/>
          <p:nvPr/>
        </p:nvSpPr>
        <p:spPr>
          <a:xfrm>
            <a:off x="6565392" y="5179807"/>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36" name="Shape 134"/>
          <p:cNvSpPr/>
          <p:nvPr/>
        </p:nvSpPr>
        <p:spPr>
          <a:xfrm>
            <a:off x="8735965" y="5235720"/>
            <a:ext cx="615441" cy="136676"/>
          </a:xfrm>
          <a:prstGeom prst="rect">
            <a:avLst/>
          </a:prstGeom>
          <a:solidFill>
            <a:srgbClr val="C2352F"/>
          </a:solidFill>
          <a:ln/>
        </p:spPr>
      </p:sp>
      <p:sp>
        <p:nvSpPr>
          <p:cNvPr id="137" name="Text 135"/>
          <p:cNvSpPr txBox="1"/>
          <p:nvPr/>
        </p:nvSpPr>
        <p:spPr>
          <a:xfrm>
            <a:off x="10369296" y="5179807"/>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−$475K</a:t>
            </a:r>
            <a:endParaRPr lang="en-US" sz="1300" dirty="0"/>
          </a:p>
        </p:txBody>
      </p:sp>
      <p:sp>
        <p:nvSpPr>
          <p:cNvPr id="138" name="Text 136"/>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39" name="Text 137"/>
          <p:cNvSpPr txBox="1"/>
          <p:nvPr/>
        </p:nvSpPr>
        <p:spPr>
          <a:xfrm>
            <a:off x="6565392" y="5428309"/>
            <a:ext cx="2011680" cy="24850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40" name="Shape 138"/>
          <p:cNvSpPr/>
          <p:nvPr/>
        </p:nvSpPr>
        <p:spPr>
          <a:xfrm>
            <a:off x="8650224" y="5484222"/>
            <a:ext cx="701181" cy="136676"/>
          </a:xfrm>
          <a:prstGeom prst="rect">
            <a:avLst/>
          </a:prstGeom>
          <a:solidFill>
            <a:srgbClr val="C2352F"/>
          </a:solidFill>
          <a:ln/>
        </p:spPr>
      </p:sp>
      <p:sp>
        <p:nvSpPr>
          <p:cNvPr id="141" name="Text 139"/>
          <p:cNvSpPr txBox="1"/>
          <p:nvPr/>
        </p:nvSpPr>
        <p:spPr>
          <a:xfrm>
            <a:off x="10369296" y="5428309"/>
            <a:ext cx="1097280"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−$541K</a:t>
            </a:r>
            <a:endParaRPr lang="en-US" sz="1300" dirty="0"/>
          </a:p>
        </p:txBody>
      </p:sp>
      <p:sp>
        <p:nvSpPr>
          <p:cNvPr id="142" name="Shape 140"/>
          <p:cNvSpPr/>
          <p:nvPr/>
        </p:nvSpPr>
        <p:spPr>
          <a:xfrm>
            <a:off x="6085332" y="1700784"/>
            <a:ext cx="10973" cy="4224528"/>
          </a:xfrm>
          <a:prstGeom prst="rect">
            <a:avLst/>
          </a:prstGeom>
          <a:solidFill>
            <a:srgbClr val="D9D9D9"/>
          </a:solidFill>
          <a:ln/>
        </p:spPr>
      </p:sp>
      <p:sp>
        <p:nvSpPr>
          <p:cNvPr id="143" name="Shape 141"/>
          <p:cNvSpPr/>
          <p:nvPr/>
        </p:nvSpPr>
        <p:spPr>
          <a:xfrm>
            <a:off x="457200" y="6126480"/>
            <a:ext cx="11274552" cy="615696"/>
          </a:xfrm>
          <a:prstGeom prst="rect">
            <a:avLst/>
          </a:prstGeom>
          <a:solidFill>
            <a:srgbClr val="FBEBEA"/>
          </a:solidFill>
          <a:ln/>
        </p:spPr>
      </p:sp>
      <p:sp>
        <p:nvSpPr>
          <p:cNvPr id="144" name="Text 14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Toyota Spokane is furthest below at −$541K a year; 7 of 33 stores are ahead of benchmark across the four services. 15 stores are under all four.</a:t>
            </a:r>
            <a:endParaRPr lang="en-US" sz="1600" dirty="0"/>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OPCODES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Every Store at Benchmark</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31520" y="1481328"/>
            <a:ext cx="10725912" cy="329184"/>
          </a:xfrm>
          <a:prstGeom prst="rect">
            <a:avLst/>
          </a:prstGeom>
          <a:noFill/>
          <a:ln/>
        </p:spPr>
        <p:txBody>
          <a:bodyPr wrap="square" lIns="0" tIns="0" rIns="0" bIns="0" rtlCol="0" anchor="ctr"/>
          <a:lstStyle/>
          <a:p>
            <a:pPr algn="ctr" indent="0" marL="0">
              <a:buNone/>
            </a:pPr>
            <a:r>
              <a:rPr lang="en-US" sz="1600" b="1" spc="140" kern="0" dirty="0">
                <a:solidFill>
                  <a:srgbClr val="0B2C4A"/>
                </a:solidFill>
                <a:latin typeface="Inter" pitchFamily="34" charset="0"/>
                <a:ea typeface="Inter" pitchFamily="34" charset="-122"/>
                <a:cs typeface="Inter" pitchFamily="34" charset="-120"/>
              </a:rPr>
              <a:t>IF EVERY STORE REACHED ALL FOUR BENCHMARKS</a:t>
            </a:r>
            <a:endParaRPr lang="en-US" sz="1600" dirty="0"/>
          </a:p>
        </p:txBody>
      </p:sp>
      <p:sp>
        <p:nvSpPr>
          <p:cNvPr id="7" name="Text 5"/>
          <p:cNvSpPr txBox="1"/>
          <p:nvPr/>
        </p:nvSpPr>
        <p:spPr>
          <a:xfrm>
            <a:off x="731520" y="1874520"/>
            <a:ext cx="10725912" cy="1234440"/>
          </a:xfrm>
          <a:prstGeom prst="rect">
            <a:avLst/>
          </a:prstGeom>
          <a:noFill/>
          <a:ln/>
        </p:spPr>
        <p:txBody>
          <a:bodyPr wrap="square" lIns="0" tIns="0" rIns="0" bIns="0" rtlCol="0" anchor="ctr"/>
          <a:lstStyle/>
          <a:p>
            <a:pPr algn="ctr" indent="0" marL="0">
              <a:buNone/>
            </a:pPr>
            <a:r>
              <a:rPr lang="en-US" sz="8000" b="1" dirty="0">
                <a:solidFill>
                  <a:srgbClr val="0B7A4A"/>
                </a:solidFill>
                <a:latin typeface="Inter" pitchFamily="34" charset="0"/>
                <a:ea typeface="Inter" pitchFamily="34" charset="-122"/>
                <a:cs typeface="Inter" pitchFamily="34" charset="-120"/>
              </a:rPr>
              <a:t>$4,895,199</a:t>
            </a:r>
            <a:endParaRPr lang="en-US" sz="8000" dirty="0"/>
          </a:p>
        </p:txBody>
      </p:sp>
      <p:sp>
        <p:nvSpPr>
          <p:cNvPr id="8" name="Text 6"/>
          <p:cNvSpPr txBox="1"/>
          <p:nvPr/>
        </p:nvSpPr>
        <p:spPr>
          <a:xfrm>
            <a:off x="731520" y="3090672"/>
            <a:ext cx="10725912" cy="411480"/>
          </a:xfrm>
          <a:prstGeom prst="rect">
            <a:avLst/>
          </a:prstGeom>
          <a:noFill/>
          <a:ln/>
        </p:spPr>
        <p:txBody>
          <a:bodyPr wrap="square" lIns="0" tIns="0" rIns="0" bIns="0" rtlCol="0" anchor="ctr"/>
          <a:lstStyle/>
          <a:p>
            <a:pPr algn="ctr" indent="0" marL="0">
              <a:buNone/>
            </a:pPr>
            <a:r>
              <a:rPr lang="en-US" sz="2000" dirty="0">
                <a:solidFill>
                  <a:srgbClr val="595959"/>
                </a:solidFill>
                <a:latin typeface="Inter" pitchFamily="34" charset="0"/>
                <a:ea typeface="Inter" pitchFamily="34" charset="-122"/>
                <a:cs typeface="Inter" pitchFamily="34" charset="-120"/>
              </a:rPr>
              <a:t>a year in labor and parts gross · about $407,933 a month</a:t>
            </a:r>
            <a:endParaRPr lang="en-US" sz="2000" dirty="0"/>
          </a:p>
        </p:txBody>
      </p:sp>
      <p:sp>
        <p:nvSpPr>
          <p:cNvPr id="9" name="Shape 7"/>
          <p:cNvSpPr/>
          <p:nvPr/>
        </p:nvSpPr>
        <p:spPr>
          <a:xfrm>
            <a:off x="736092" y="3794760"/>
            <a:ext cx="2542032" cy="1691640"/>
          </a:xfrm>
          <a:prstGeom prst="rect">
            <a:avLst/>
          </a:prstGeom>
          <a:solidFill>
            <a:srgbClr val="F7F7F7"/>
          </a:solidFill>
          <a:ln/>
        </p:spPr>
      </p:sp>
      <p:sp>
        <p:nvSpPr>
          <p:cNvPr id="10" name="Shape 8"/>
          <p:cNvSpPr/>
          <p:nvPr/>
        </p:nvSpPr>
        <p:spPr>
          <a:xfrm>
            <a:off x="736092" y="3794760"/>
            <a:ext cx="2542032" cy="64008"/>
          </a:xfrm>
          <a:prstGeom prst="rect">
            <a:avLst/>
          </a:prstGeom>
          <a:solidFill>
            <a:srgbClr val="12A566"/>
          </a:solidFill>
          <a:ln/>
        </p:spPr>
      </p:sp>
      <p:sp>
        <p:nvSpPr>
          <p:cNvPr id="11" name="Text 9"/>
          <p:cNvSpPr txBox="1"/>
          <p:nvPr/>
        </p:nvSpPr>
        <p:spPr>
          <a:xfrm>
            <a:off x="827532"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ALIGNMENT · 15%</a:t>
            </a:r>
            <a:endParaRPr lang="en-US" sz="1400" dirty="0"/>
          </a:p>
        </p:txBody>
      </p:sp>
      <p:sp>
        <p:nvSpPr>
          <p:cNvPr id="12" name="Text 10"/>
          <p:cNvSpPr txBox="1"/>
          <p:nvPr/>
        </p:nvSpPr>
        <p:spPr>
          <a:xfrm>
            <a:off x="827532"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$1,029,276</a:t>
            </a:r>
            <a:endParaRPr lang="en-US" sz="2600" dirty="0"/>
          </a:p>
        </p:txBody>
      </p:sp>
      <p:sp>
        <p:nvSpPr>
          <p:cNvPr id="13" name="Text 11"/>
          <p:cNvSpPr txBox="1"/>
          <p:nvPr/>
        </p:nvSpPr>
        <p:spPr>
          <a:xfrm>
            <a:off x="827532"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9,935 more services a year</a:t>
            </a:r>
            <a:endParaRPr lang="en-US" sz="1400" dirty="0"/>
          </a:p>
        </p:txBody>
      </p:sp>
      <p:sp>
        <p:nvSpPr>
          <p:cNvPr id="14" name="Shape 12"/>
          <p:cNvSpPr/>
          <p:nvPr/>
        </p:nvSpPr>
        <p:spPr>
          <a:xfrm>
            <a:off x="3461004" y="3794760"/>
            <a:ext cx="2542032" cy="1691640"/>
          </a:xfrm>
          <a:prstGeom prst="rect">
            <a:avLst/>
          </a:prstGeom>
          <a:solidFill>
            <a:srgbClr val="F7F7F7"/>
          </a:solidFill>
          <a:ln/>
        </p:spPr>
      </p:sp>
      <p:sp>
        <p:nvSpPr>
          <p:cNvPr id="15" name="Shape 13"/>
          <p:cNvSpPr/>
          <p:nvPr/>
        </p:nvSpPr>
        <p:spPr>
          <a:xfrm>
            <a:off x="3461004" y="3794760"/>
            <a:ext cx="2542032" cy="64008"/>
          </a:xfrm>
          <a:prstGeom prst="rect">
            <a:avLst/>
          </a:prstGeom>
          <a:solidFill>
            <a:srgbClr val="12A566"/>
          </a:solidFill>
          <a:ln/>
        </p:spPr>
      </p:sp>
      <p:sp>
        <p:nvSpPr>
          <p:cNvPr id="16" name="Text 14"/>
          <p:cNvSpPr txBox="1"/>
          <p:nvPr/>
        </p:nvSpPr>
        <p:spPr>
          <a:xfrm>
            <a:off x="3552444"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TIRE BALANCE · 15%</a:t>
            </a:r>
            <a:endParaRPr lang="en-US" sz="1400" dirty="0"/>
          </a:p>
        </p:txBody>
      </p:sp>
      <p:sp>
        <p:nvSpPr>
          <p:cNvPr id="17" name="Text 15"/>
          <p:cNvSpPr txBox="1"/>
          <p:nvPr/>
        </p:nvSpPr>
        <p:spPr>
          <a:xfrm>
            <a:off x="3552444"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$1,664,385</a:t>
            </a:r>
            <a:endParaRPr lang="en-US" sz="2600" dirty="0"/>
          </a:p>
        </p:txBody>
      </p:sp>
      <p:sp>
        <p:nvSpPr>
          <p:cNvPr id="18" name="Text 16"/>
          <p:cNvSpPr txBox="1"/>
          <p:nvPr/>
        </p:nvSpPr>
        <p:spPr>
          <a:xfrm>
            <a:off x="3552444"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26,062 more services a year</a:t>
            </a:r>
            <a:endParaRPr lang="en-US" sz="1400" dirty="0"/>
          </a:p>
        </p:txBody>
      </p:sp>
      <p:sp>
        <p:nvSpPr>
          <p:cNvPr id="19" name="Shape 17"/>
          <p:cNvSpPr/>
          <p:nvPr/>
        </p:nvSpPr>
        <p:spPr>
          <a:xfrm>
            <a:off x="6185916" y="3794760"/>
            <a:ext cx="2542032" cy="1691640"/>
          </a:xfrm>
          <a:prstGeom prst="rect">
            <a:avLst/>
          </a:prstGeom>
          <a:solidFill>
            <a:srgbClr val="F7F7F7"/>
          </a:solidFill>
          <a:ln/>
        </p:spPr>
      </p:sp>
      <p:sp>
        <p:nvSpPr>
          <p:cNvPr id="20" name="Shape 18"/>
          <p:cNvSpPr/>
          <p:nvPr/>
        </p:nvSpPr>
        <p:spPr>
          <a:xfrm>
            <a:off x="6185916" y="3794760"/>
            <a:ext cx="2542032" cy="64008"/>
          </a:xfrm>
          <a:prstGeom prst="rect">
            <a:avLst/>
          </a:prstGeom>
          <a:solidFill>
            <a:srgbClr val="12A566"/>
          </a:solidFill>
          <a:ln/>
        </p:spPr>
      </p:sp>
      <p:sp>
        <p:nvSpPr>
          <p:cNvPr id="21" name="Text 19"/>
          <p:cNvSpPr txBox="1"/>
          <p:nvPr/>
        </p:nvSpPr>
        <p:spPr>
          <a:xfrm>
            <a:off x="6277356"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BRAKE FLUID · 10%</a:t>
            </a:r>
            <a:endParaRPr lang="en-US" sz="1400" dirty="0"/>
          </a:p>
        </p:txBody>
      </p:sp>
      <p:sp>
        <p:nvSpPr>
          <p:cNvPr id="22" name="Text 20"/>
          <p:cNvSpPr txBox="1"/>
          <p:nvPr/>
        </p:nvSpPr>
        <p:spPr>
          <a:xfrm>
            <a:off x="6277356"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$844,657</a:t>
            </a:r>
            <a:endParaRPr lang="en-US" sz="2600" dirty="0"/>
          </a:p>
        </p:txBody>
      </p:sp>
      <p:sp>
        <p:nvSpPr>
          <p:cNvPr id="23" name="Text 21"/>
          <p:cNvSpPr txBox="1"/>
          <p:nvPr/>
        </p:nvSpPr>
        <p:spPr>
          <a:xfrm>
            <a:off x="6277356"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5,919 more services a year</a:t>
            </a:r>
            <a:endParaRPr lang="en-US" sz="1400" dirty="0"/>
          </a:p>
        </p:txBody>
      </p:sp>
      <p:sp>
        <p:nvSpPr>
          <p:cNvPr id="24" name="Shape 22"/>
          <p:cNvSpPr/>
          <p:nvPr/>
        </p:nvSpPr>
        <p:spPr>
          <a:xfrm>
            <a:off x="8910828" y="3794760"/>
            <a:ext cx="2542032" cy="1691640"/>
          </a:xfrm>
          <a:prstGeom prst="rect">
            <a:avLst/>
          </a:prstGeom>
          <a:solidFill>
            <a:srgbClr val="F7F7F7"/>
          </a:solidFill>
          <a:ln/>
        </p:spPr>
      </p:sp>
      <p:sp>
        <p:nvSpPr>
          <p:cNvPr id="25" name="Shape 23"/>
          <p:cNvSpPr/>
          <p:nvPr/>
        </p:nvSpPr>
        <p:spPr>
          <a:xfrm>
            <a:off x="8910828" y="3794760"/>
            <a:ext cx="2542032" cy="64008"/>
          </a:xfrm>
          <a:prstGeom prst="rect">
            <a:avLst/>
          </a:prstGeom>
          <a:solidFill>
            <a:srgbClr val="12A566"/>
          </a:solidFill>
          <a:ln/>
        </p:spPr>
      </p:sp>
      <p:sp>
        <p:nvSpPr>
          <p:cNvPr id="26" name="Text 24"/>
          <p:cNvSpPr txBox="1"/>
          <p:nvPr/>
        </p:nvSpPr>
        <p:spPr>
          <a:xfrm>
            <a:off x="9002268" y="3950208"/>
            <a:ext cx="2359152" cy="329184"/>
          </a:xfrm>
          <a:prstGeom prst="rect">
            <a:avLst/>
          </a:prstGeom>
          <a:noFill/>
          <a:ln/>
        </p:spPr>
        <p:txBody>
          <a:bodyPr wrap="square" lIns="0" tIns="0" rIns="0" bIns="0" rtlCol="0" anchor="ctr"/>
          <a:lstStyle/>
          <a:p>
            <a:pPr algn="ctr" indent="0" marL="0">
              <a:buNone/>
            </a:pPr>
            <a:r>
              <a:rPr lang="en-US" sz="1400" b="1" spc="60" kern="0" dirty="0">
                <a:solidFill>
                  <a:srgbClr val="595959"/>
                </a:solidFill>
                <a:latin typeface="Inter" pitchFamily="34" charset="0"/>
                <a:ea typeface="Inter" pitchFamily="34" charset="-122"/>
                <a:cs typeface="Inter" pitchFamily="34" charset="-120"/>
              </a:rPr>
              <a:t>FUEL SERVICE · 7.5%</a:t>
            </a:r>
            <a:endParaRPr lang="en-US" sz="1400" dirty="0"/>
          </a:p>
        </p:txBody>
      </p:sp>
      <p:sp>
        <p:nvSpPr>
          <p:cNvPr id="27" name="Text 25"/>
          <p:cNvSpPr txBox="1"/>
          <p:nvPr/>
        </p:nvSpPr>
        <p:spPr>
          <a:xfrm>
            <a:off x="9002268" y="4315968"/>
            <a:ext cx="2359152" cy="548640"/>
          </a:xfrm>
          <a:prstGeom prst="rect">
            <a:avLst/>
          </a:prstGeom>
          <a:noFill/>
          <a:ln/>
        </p:spPr>
        <p:txBody>
          <a:bodyPr wrap="square" lIns="0" tIns="0" rIns="0" bIns="0" rtlCol="0" anchor="ctr"/>
          <a:lstStyle/>
          <a:p>
            <a:pPr algn="ctr" indent="0" marL="0">
              <a:buNone/>
            </a:pPr>
            <a:r>
              <a:rPr lang="en-US" sz="2600" b="1" dirty="0">
                <a:solidFill>
                  <a:srgbClr val="0B2C4A"/>
                </a:solidFill>
                <a:latin typeface="Inter" pitchFamily="34" charset="0"/>
                <a:ea typeface="Inter" pitchFamily="34" charset="-122"/>
                <a:cs typeface="Inter" pitchFamily="34" charset="-120"/>
              </a:rPr>
              <a:t>$1,356,881</a:t>
            </a:r>
            <a:endParaRPr lang="en-US" sz="2600" dirty="0"/>
          </a:p>
        </p:txBody>
      </p:sp>
      <p:sp>
        <p:nvSpPr>
          <p:cNvPr id="28" name="Text 26"/>
          <p:cNvSpPr txBox="1"/>
          <p:nvPr/>
        </p:nvSpPr>
        <p:spPr>
          <a:xfrm>
            <a:off x="9002268" y="4892040"/>
            <a:ext cx="2359152" cy="365760"/>
          </a:xfrm>
          <a:prstGeom prst="rect">
            <a:avLst/>
          </a:prstGeom>
          <a:noFill/>
          <a:ln/>
        </p:spPr>
        <p:txBody>
          <a:bodyPr wrap="square" lIns="0" tIns="0" rIns="0" bIns="0" rtlCol="0" anchor="ctr"/>
          <a:lstStyle/>
          <a:p>
            <a:pPr algn="ctr" indent="0" marL="0">
              <a:buNone/>
            </a:pPr>
            <a:r>
              <a:rPr lang="en-US" sz="1400" dirty="0">
                <a:solidFill>
                  <a:srgbClr val="1A1A1A"/>
                </a:solidFill>
                <a:latin typeface="Inter" pitchFamily="34" charset="0"/>
                <a:ea typeface="Inter" pitchFamily="34" charset="-122"/>
                <a:cs typeface="Inter" pitchFamily="34" charset="-120"/>
              </a:rPr>
              <a:t>8,527 more services a year</a:t>
            </a:r>
            <a:endParaRPr lang="en-US" sz="1400" dirty="0"/>
          </a:p>
        </p:txBody>
      </p:sp>
      <p:sp>
        <p:nvSpPr>
          <p:cNvPr id="29" name="Shape 27"/>
          <p:cNvSpPr/>
          <p:nvPr/>
        </p:nvSpPr>
        <p:spPr>
          <a:xfrm>
            <a:off x="457200" y="6126480"/>
            <a:ext cx="11274552" cy="371856"/>
          </a:xfrm>
          <a:prstGeom prst="rect">
            <a:avLst/>
          </a:prstGeom>
          <a:solidFill>
            <a:srgbClr val="E6F6EE"/>
          </a:solidFill>
          <a:ln/>
        </p:spPr>
      </p:sp>
      <p:sp>
        <p:nvSpPr>
          <p:cNvPr id="30" name="Text 2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50,442 more services a year on cars already in our drives. No new customers needed.</a:t>
            </a:r>
            <a:endParaRPr lang="en-US" sz="1600" dirty="0"/>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Yourself First</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Internal work isn't service making money off sales: it is gross the store earns on its own cars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Sales prices a car off what it costs, within reason. A fair internal charge is part of that cost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Service and parts keep far more of every gross dollar than vehicle sales does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gross dollar in sales carries commissions, pay and expense that fixed ops doesn't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Price internal labor and parts like customer pay: pay yourself first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27¢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keeps of every gross dollar after its own expenses: $50.4M of $188.8M.</a:t>
            </a:r>
            <a:endParaRPr lang="en-US" sz="1400" dirty="0"/>
          </a:p>
        </p:txBody>
      </p:sp>
      <p:sp>
        <p:nvSpPr>
          <p:cNvPr id="13" name="Shape 11"/>
          <p:cNvSpPr/>
          <p:nvPr/>
        </p:nvSpPr>
        <p:spPr>
          <a:xfrm>
            <a:off x="7269480" y="3261360"/>
            <a:ext cx="54864" cy="1112520"/>
          </a:xfrm>
          <a:prstGeom prst="rect">
            <a:avLst/>
          </a:prstGeom>
          <a:solidFill>
            <a:srgbClr val="2587C5"/>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New, used and F&amp;I keep of every gross dollar: $12.9M of $179.1M, before other income such as doc fees, packs and factory money.</a:t>
            </a:r>
            <a:endParaRPr lang="en-US" sz="1400" dirty="0"/>
          </a:p>
        </p:txBody>
      </p:sp>
      <p:sp>
        <p:nvSpPr>
          <p:cNvPr id="16" name="Shape 14"/>
          <p:cNvSpPr/>
          <p:nvPr/>
        </p:nvSpPr>
        <p:spPr>
          <a:xfrm>
            <a:off x="7269480" y="4602480"/>
            <a:ext cx="54864" cy="1112520"/>
          </a:xfrm>
          <a:prstGeom prst="rect">
            <a:avLst/>
          </a:prstGeom>
          <a:solidFill>
            <a:srgbClr val="2587C5"/>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45¢ vs 62¢</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Of every gross dollar spent on people and commissions: fixed ops vs vehicle sales.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hold internal labor and parts margins to customer pay. Every internal dollar is gross in the department that keeps the most of it.</a:t>
            </a:r>
            <a:endParaRPr lang="en-US" sz="1600" dirty="0"/>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$126.09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$129.84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+$3.75</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$3.75 to $129.84, ahead of 2025 in seven of nine months.</a:t>
            </a:r>
            <a:endParaRPr lang="en-US" sz="1600" dirty="0"/>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$130</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$207</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008376" y="2146957"/>
            <a:ext cx="1676174"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1" name="Shape 19"/>
          <p:cNvSpPr/>
          <p:nvPr/>
        </p:nvSpPr>
        <p:spPr>
          <a:xfrm>
            <a:off x="3008376" y="2386853"/>
            <a:ext cx="1535097"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5" name="Shape 23"/>
          <p:cNvSpPr/>
          <p:nvPr/>
        </p:nvSpPr>
        <p:spPr>
          <a:xfrm>
            <a:off x="3008376" y="2626748"/>
            <a:ext cx="1440950"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008376" y="2866644"/>
            <a:ext cx="1416843"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3008376" y="3106540"/>
            <a:ext cx="1364170"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7" name="Shape 35"/>
          <p:cNvSpPr/>
          <p:nvPr/>
        </p:nvSpPr>
        <p:spPr>
          <a:xfrm>
            <a:off x="3008376" y="3346435"/>
            <a:ext cx="1354753"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3008376" y="3586331"/>
            <a:ext cx="1334617"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45" name="Shape 43"/>
          <p:cNvSpPr/>
          <p:nvPr/>
        </p:nvSpPr>
        <p:spPr>
          <a:xfrm>
            <a:off x="3008376" y="3826226"/>
            <a:ext cx="1326282"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$162</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9" name="Shape 47"/>
          <p:cNvSpPr/>
          <p:nvPr/>
        </p:nvSpPr>
        <p:spPr>
          <a:xfrm>
            <a:off x="3008376" y="4066122"/>
            <a:ext cx="1298491"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008376" y="4306017"/>
            <a:ext cx="1265243"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7" name="Shape 55"/>
          <p:cNvSpPr/>
          <p:nvPr/>
        </p:nvSpPr>
        <p:spPr>
          <a:xfrm>
            <a:off x="3008376" y="4545913"/>
            <a:ext cx="123804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008376" y="4785808"/>
            <a:ext cx="1199792"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5" name="Shape 63"/>
          <p:cNvSpPr/>
          <p:nvPr/>
        </p:nvSpPr>
        <p:spPr>
          <a:xfrm>
            <a:off x="3008376" y="5025704"/>
            <a:ext cx="1199589"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$147</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008376" y="5265599"/>
            <a:ext cx="1158201"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008376" y="5505495"/>
            <a:ext cx="1138632"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$139</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7" name="Shape 75"/>
          <p:cNvSpPr/>
          <p:nvPr/>
        </p:nvSpPr>
        <p:spPr>
          <a:xfrm>
            <a:off x="3008376" y="5745390"/>
            <a:ext cx="112261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1" name="Shape 79"/>
          <p:cNvSpPr/>
          <p:nvPr/>
        </p:nvSpPr>
        <p:spPr>
          <a:xfrm>
            <a:off x="8558784" y="1907062"/>
            <a:ext cx="112102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5" name="Shape 83"/>
          <p:cNvSpPr/>
          <p:nvPr/>
        </p:nvSpPr>
        <p:spPr>
          <a:xfrm>
            <a:off x="8558784" y="2146957"/>
            <a:ext cx="1118529"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9" name="Shape 87"/>
          <p:cNvSpPr/>
          <p:nvPr/>
        </p:nvSpPr>
        <p:spPr>
          <a:xfrm>
            <a:off x="8558784" y="2386853"/>
            <a:ext cx="1098819"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3" name="Shape 91"/>
          <p:cNvSpPr/>
          <p:nvPr/>
        </p:nvSpPr>
        <p:spPr>
          <a:xfrm>
            <a:off x="8558784" y="2626748"/>
            <a:ext cx="1098580"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8558784" y="2866644"/>
            <a:ext cx="1047559"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1" name="Shape 99"/>
          <p:cNvSpPr/>
          <p:nvPr/>
        </p:nvSpPr>
        <p:spPr>
          <a:xfrm>
            <a:off x="8558784" y="3106540"/>
            <a:ext cx="1040989"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$127</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58784" y="3346435"/>
            <a:ext cx="1016832"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9" name="Shape 107"/>
          <p:cNvSpPr/>
          <p:nvPr/>
        </p:nvSpPr>
        <p:spPr>
          <a:xfrm>
            <a:off x="8558784" y="3586331"/>
            <a:ext cx="100231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13" name="Shape 111"/>
          <p:cNvSpPr/>
          <p:nvPr/>
        </p:nvSpPr>
        <p:spPr>
          <a:xfrm>
            <a:off x="8558784" y="3826226"/>
            <a:ext cx="975333"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066122"/>
            <a:ext cx="9574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1" name="Shape 119"/>
          <p:cNvSpPr/>
          <p:nvPr/>
        </p:nvSpPr>
        <p:spPr>
          <a:xfrm>
            <a:off x="8558784" y="4306017"/>
            <a:ext cx="939310"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5" name="Shape 123"/>
          <p:cNvSpPr/>
          <p:nvPr/>
        </p:nvSpPr>
        <p:spPr>
          <a:xfrm>
            <a:off x="8558784" y="4545913"/>
            <a:ext cx="892374"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9" name="Shape 127"/>
          <p:cNvSpPr/>
          <p:nvPr/>
        </p:nvSpPr>
        <p:spPr>
          <a:xfrm>
            <a:off x="8558784" y="4785808"/>
            <a:ext cx="857012"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3" name="Shape 131"/>
          <p:cNvSpPr/>
          <p:nvPr/>
        </p:nvSpPr>
        <p:spPr>
          <a:xfrm>
            <a:off x="8558784" y="5025704"/>
            <a:ext cx="838677"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7" name="Shape 135"/>
          <p:cNvSpPr/>
          <p:nvPr/>
        </p:nvSpPr>
        <p:spPr>
          <a:xfrm>
            <a:off x="8558784" y="5265599"/>
            <a:ext cx="815241"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05495"/>
            <a:ext cx="7125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$87</a:t>
            </a:r>
            <a:endParaRPr lang="en-US" sz="1200" dirty="0"/>
          </a:p>
        </p:txBody>
      </p:sp>
      <p:sp>
        <p:nvSpPr>
          <p:cNvPr id="143" name="Shape 141"/>
          <p:cNvSpPr/>
          <p:nvPr/>
        </p:nvSpPr>
        <p:spPr>
          <a:xfrm>
            <a:off x="4061880" y="1847088"/>
            <a:ext cx="14630" cy="4078224"/>
          </a:xfrm>
          <a:prstGeom prst="rect">
            <a:avLst/>
          </a:prstGeom>
          <a:solidFill>
            <a:srgbClr val="0B2C4A"/>
          </a:solidFill>
          <a:ln/>
        </p:spPr>
      </p:sp>
      <p:sp>
        <p:nvSpPr>
          <p:cNvPr id="144" name="Shape 142"/>
          <p:cNvSpPr/>
          <p:nvPr/>
        </p:nvSpPr>
        <p:spPr>
          <a:xfrm>
            <a:off x="961228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21 of 33 stores at or above the $130 group, led by LR Reno at $207. Nissan is lowest at $87.</a:t>
            </a:r>
            <a:endParaRPr lang="en-US" sz="1600" dirty="0"/>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+3.0%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+29.5%</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2" name="Shape 20"/>
          <p:cNvSpPr/>
          <p:nvPr/>
        </p:nvSpPr>
        <p:spPr>
          <a:xfrm>
            <a:off x="3579876" y="2405582"/>
            <a:ext cx="458290"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+23.6%</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+$40</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29341"/>
            <a:ext cx="378989"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2" name="Shape 30"/>
          <p:cNvSpPr/>
          <p:nvPr/>
        </p:nvSpPr>
        <p:spPr>
          <a:xfrm>
            <a:off x="3579876" y="2853100"/>
            <a:ext cx="355006"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a:t>
            </a:r>
            <a:endParaRPr lang="en-US" sz="1200" dirty="0"/>
          </a:p>
        </p:txBody>
      </p:sp>
      <p:sp>
        <p:nvSpPr>
          <p:cNvPr id="35" name="Text 33"/>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579876" y="3076859"/>
            <a:ext cx="346724" cy="102929"/>
          </a:xfrm>
          <a:prstGeom prst="rect">
            <a:avLst/>
          </a:prstGeom>
          <a:solidFill>
            <a:srgbClr val="12A566"/>
          </a:solidFill>
          <a:ln/>
        </p:spPr>
      </p:sp>
      <p:sp>
        <p:nvSpPr>
          <p:cNvPr id="38" name="Text 36"/>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+17.9%</a:t>
            </a:r>
            <a:endParaRPr lang="en-US" sz="1200" dirty="0"/>
          </a:p>
        </p:txBody>
      </p:sp>
      <p:sp>
        <p:nvSpPr>
          <p:cNvPr id="39" name="Text 37"/>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2" name="Shape 40"/>
          <p:cNvSpPr/>
          <p:nvPr/>
        </p:nvSpPr>
        <p:spPr>
          <a:xfrm>
            <a:off x="3579876" y="3300618"/>
            <a:ext cx="266633" cy="102929"/>
          </a:xfrm>
          <a:prstGeom prst="rect">
            <a:avLst/>
          </a:prstGeom>
          <a:solidFill>
            <a:srgbClr val="12A566"/>
          </a:solidFill>
          <a:ln/>
        </p:spPr>
      </p:sp>
      <p:sp>
        <p:nvSpPr>
          <p:cNvPr id="43" name="Text 41"/>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44" name="Text 42"/>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45" name="Text 43"/>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7" name="Shape 45"/>
          <p:cNvSpPr/>
          <p:nvPr/>
        </p:nvSpPr>
        <p:spPr>
          <a:xfrm>
            <a:off x="3579876" y="3524377"/>
            <a:ext cx="215058" cy="102929"/>
          </a:xfrm>
          <a:prstGeom prst="rect">
            <a:avLst/>
          </a:prstGeom>
          <a:solidFill>
            <a:srgbClr val="12A566"/>
          </a:solidFill>
          <a:ln/>
        </p:spPr>
      </p:sp>
      <p:sp>
        <p:nvSpPr>
          <p:cNvPr id="48" name="Text 46"/>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+11.1%</a:t>
            </a:r>
            <a:endParaRPr lang="en-US" sz="1200" dirty="0"/>
          </a:p>
        </p:txBody>
      </p:sp>
      <p:sp>
        <p:nvSpPr>
          <p:cNvPr id="49" name="Text 47"/>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50" name="Text 48"/>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2" name="Shape 50"/>
          <p:cNvSpPr/>
          <p:nvPr/>
        </p:nvSpPr>
        <p:spPr>
          <a:xfrm>
            <a:off x="3579876" y="3748136"/>
            <a:ext cx="185543" cy="102929"/>
          </a:xfrm>
          <a:prstGeom prst="rect">
            <a:avLst/>
          </a:prstGeom>
          <a:solidFill>
            <a:srgbClr val="12A566"/>
          </a:solidFill>
          <a:ln/>
        </p:spPr>
      </p:sp>
      <p:sp>
        <p:nvSpPr>
          <p:cNvPr id="53" name="Text 51"/>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a:t>
            </a:r>
            <a:endParaRPr lang="en-US" sz="1200" dirty="0"/>
          </a:p>
        </p:txBody>
      </p:sp>
      <p:sp>
        <p:nvSpPr>
          <p:cNvPr id="54" name="Text 52"/>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55" name="Text 53"/>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57" name="Shape 55"/>
          <p:cNvSpPr/>
          <p:nvPr/>
        </p:nvSpPr>
        <p:spPr>
          <a:xfrm>
            <a:off x="3579876" y="3971895"/>
            <a:ext cx="173131" cy="102929"/>
          </a:xfrm>
          <a:prstGeom prst="rect">
            <a:avLst/>
          </a:prstGeom>
          <a:solidFill>
            <a:srgbClr val="12A566"/>
          </a:solidFill>
          <a:ln/>
        </p:spPr>
      </p:sp>
      <p:sp>
        <p:nvSpPr>
          <p:cNvPr id="58" name="Text 56"/>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+8.9%</a:t>
            </a:r>
            <a:endParaRPr lang="en-US" sz="1200" dirty="0"/>
          </a:p>
        </p:txBody>
      </p:sp>
      <p:sp>
        <p:nvSpPr>
          <p:cNvPr id="59" name="Text 57"/>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579876" y="4195654"/>
            <a:ext cx="84555" cy="102929"/>
          </a:xfrm>
          <a:prstGeom prst="rect">
            <a:avLst/>
          </a:prstGeom>
          <a:solidFill>
            <a:srgbClr val="12A566"/>
          </a:solidFill>
          <a:ln/>
        </p:spPr>
      </p:sp>
      <p:sp>
        <p:nvSpPr>
          <p:cNvPr id="63" name="Text 61"/>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64" name="Text 62"/>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65" name="Text 63"/>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67" name="Shape 65"/>
          <p:cNvSpPr/>
          <p:nvPr/>
        </p:nvSpPr>
        <p:spPr>
          <a:xfrm>
            <a:off x="3579876" y="4419414"/>
            <a:ext cx="79737" cy="102929"/>
          </a:xfrm>
          <a:prstGeom prst="rect">
            <a:avLst/>
          </a:prstGeom>
          <a:solidFill>
            <a:srgbClr val="12A566"/>
          </a:solidFill>
          <a:ln/>
        </p:spPr>
      </p:sp>
      <p:sp>
        <p:nvSpPr>
          <p:cNvPr id="68" name="Text 66"/>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69" name="Text 67"/>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2" name="Shape 70"/>
          <p:cNvSpPr/>
          <p:nvPr/>
        </p:nvSpPr>
        <p:spPr>
          <a:xfrm>
            <a:off x="3579876" y="4643173"/>
            <a:ext cx="78983" cy="102929"/>
          </a:xfrm>
          <a:prstGeom prst="rect">
            <a:avLst/>
          </a:prstGeom>
          <a:solidFill>
            <a:srgbClr val="12A566"/>
          </a:solidFill>
          <a:ln/>
        </p:spPr>
      </p:sp>
      <p:sp>
        <p:nvSpPr>
          <p:cNvPr id="73" name="Text 71"/>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a:t>
            </a:r>
            <a:endParaRPr lang="en-US" sz="1200" dirty="0"/>
          </a:p>
        </p:txBody>
      </p:sp>
      <p:sp>
        <p:nvSpPr>
          <p:cNvPr id="74" name="Text 72"/>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5" name="Text 73"/>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7" name="Shape 75"/>
          <p:cNvSpPr/>
          <p:nvPr/>
        </p:nvSpPr>
        <p:spPr>
          <a:xfrm>
            <a:off x="3579876" y="4866932"/>
            <a:ext cx="77026" cy="102929"/>
          </a:xfrm>
          <a:prstGeom prst="rect">
            <a:avLst/>
          </a:prstGeom>
          <a:solidFill>
            <a:srgbClr val="12A566"/>
          </a:solidFill>
          <a:ln/>
        </p:spPr>
      </p:sp>
      <p:sp>
        <p:nvSpPr>
          <p:cNvPr id="78" name="Text 76"/>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79" name="Text 77"/>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0" name="Text 78"/>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2" name="Shape 80"/>
          <p:cNvSpPr/>
          <p:nvPr/>
        </p:nvSpPr>
        <p:spPr>
          <a:xfrm>
            <a:off x="3579876" y="5090691"/>
            <a:ext cx="63122" cy="102929"/>
          </a:xfrm>
          <a:prstGeom prst="rect">
            <a:avLst/>
          </a:prstGeom>
          <a:solidFill>
            <a:srgbClr val="12A566"/>
          </a:solidFill>
          <a:ln/>
        </p:spPr>
      </p:sp>
      <p:sp>
        <p:nvSpPr>
          <p:cNvPr id="83" name="Text 81"/>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84" name="Text 82"/>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85" name="Text 83"/>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7" name="Shape 85"/>
          <p:cNvSpPr/>
          <p:nvPr/>
        </p:nvSpPr>
        <p:spPr>
          <a:xfrm>
            <a:off x="3579876" y="5314450"/>
            <a:ext cx="59886" cy="102929"/>
          </a:xfrm>
          <a:prstGeom prst="rect">
            <a:avLst/>
          </a:prstGeom>
          <a:solidFill>
            <a:srgbClr val="12A566"/>
          </a:solidFill>
          <a:ln/>
        </p:spPr>
      </p:sp>
      <p:sp>
        <p:nvSpPr>
          <p:cNvPr id="88" name="Text 86"/>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89" name="Text 87"/>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90" name="Text 88"/>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2" name="Shape 90"/>
          <p:cNvSpPr/>
          <p:nvPr/>
        </p:nvSpPr>
        <p:spPr>
          <a:xfrm>
            <a:off x="3579876" y="5538209"/>
            <a:ext cx="50878" cy="102929"/>
          </a:xfrm>
          <a:prstGeom prst="rect">
            <a:avLst/>
          </a:prstGeom>
          <a:solidFill>
            <a:srgbClr val="12A566"/>
          </a:solidFill>
          <a:ln/>
        </p:spPr>
      </p:sp>
      <p:sp>
        <p:nvSpPr>
          <p:cNvPr id="93" name="Text 91"/>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94" name="Text 92"/>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a:t>
            </a:r>
            <a:endParaRPr lang="en-US" sz="1200" dirty="0"/>
          </a:p>
        </p:txBody>
      </p:sp>
      <p:sp>
        <p:nvSpPr>
          <p:cNvPr id="95" name="Text 93"/>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97" name="Shape 95"/>
          <p:cNvSpPr/>
          <p:nvPr/>
        </p:nvSpPr>
        <p:spPr>
          <a:xfrm>
            <a:off x="3579876" y="5761968"/>
            <a:ext cx="48098" cy="102929"/>
          </a:xfrm>
          <a:prstGeom prst="rect">
            <a:avLst/>
          </a:prstGeom>
          <a:solidFill>
            <a:srgbClr val="12A566"/>
          </a:solidFill>
          <a:ln/>
        </p:spPr>
      </p:sp>
      <p:sp>
        <p:nvSpPr>
          <p:cNvPr id="98" name="Text 96"/>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99" name="Text 97"/>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0" name="Text 98"/>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2" name="Shape 100"/>
          <p:cNvSpPr/>
          <p:nvPr/>
        </p:nvSpPr>
        <p:spPr>
          <a:xfrm>
            <a:off x="9130284" y="2181823"/>
            <a:ext cx="40236" cy="102929"/>
          </a:xfrm>
          <a:prstGeom prst="rect">
            <a:avLst/>
          </a:prstGeom>
          <a:solidFill>
            <a:srgbClr val="12A566"/>
          </a:solidFill>
          <a:ln/>
        </p:spPr>
      </p:sp>
      <p:sp>
        <p:nvSpPr>
          <p:cNvPr id="103" name="Text 101"/>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04" name="Text 102"/>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05" name="Text 103"/>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405582"/>
            <a:ext cx="27776" cy="102929"/>
          </a:xfrm>
          <a:prstGeom prst="rect">
            <a:avLst/>
          </a:prstGeom>
          <a:solidFill>
            <a:srgbClr val="12A566"/>
          </a:solidFill>
          <a:ln/>
        </p:spPr>
      </p:sp>
      <p:sp>
        <p:nvSpPr>
          <p:cNvPr id="108" name="Text 106"/>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109" name="Text 107"/>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10" name="Text 108"/>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12" name="Shape 110"/>
          <p:cNvSpPr/>
          <p:nvPr/>
        </p:nvSpPr>
        <p:spPr>
          <a:xfrm>
            <a:off x="9130284" y="2629341"/>
            <a:ext cx="12802" cy="102929"/>
          </a:xfrm>
          <a:prstGeom prst="rect">
            <a:avLst/>
          </a:prstGeom>
          <a:solidFill>
            <a:srgbClr val="12A566"/>
          </a:solidFill>
          <a:ln/>
        </p:spPr>
      </p:sp>
      <p:sp>
        <p:nvSpPr>
          <p:cNvPr id="113" name="Text 111"/>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114" name="Text 112"/>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5" name="Text 113"/>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9116275" y="2853100"/>
            <a:ext cx="14009" cy="102929"/>
          </a:xfrm>
          <a:prstGeom prst="rect">
            <a:avLst/>
          </a:prstGeom>
          <a:solidFill>
            <a:srgbClr val="C2352F"/>
          </a:solidFill>
          <a:ln/>
        </p:spPr>
      </p:sp>
      <p:sp>
        <p:nvSpPr>
          <p:cNvPr id="118" name="Text 116"/>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19" name="Text 117"/>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9109610" y="3076859"/>
            <a:ext cx="20674" cy="102929"/>
          </a:xfrm>
          <a:prstGeom prst="rect">
            <a:avLst/>
          </a:prstGeom>
          <a:solidFill>
            <a:srgbClr val="C2352F"/>
          </a:solidFill>
          <a:ln/>
        </p:spPr>
      </p:sp>
      <p:sp>
        <p:nvSpPr>
          <p:cNvPr id="123" name="Text 121"/>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4" name="Text 122"/>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25" name="Text 123"/>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7" name="Shape 125"/>
          <p:cNvSpPr/>
          <p:nvPr/>
        </p:nvSpPr>
        <p:spPr>
          <a:xfrm>
            <a:off x="9102480" y="3300618"/>
            <a:ext cx="27804" cy="102929"/>
          </a:xfrm>
          <a:prstGeom prst="rect">
            <a:avLst/>
          </a:prstGeom>
          <a:solidFill>
            <a:srgbClr val="C2352F"/>
          </a:solidFill>
          <a:ln/>
        </p:spPr>
      </p:sp>
      <p:sp>
        <p:nvSpPr>
          <p:cNvPr id="128" name="Text 126"/>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9" name="Text 127"/>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30" name="Text 128"/>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9068832" y="3524377"/>
            <a:ext cx="61452" cy="102929"/>
          </a:xfrm>
          <a:prstGeom prst="rect">
            <a:avLst/>
          </a:prstGeom>
          <a:solidFill>
            <a:srgbClr val="C2352F"/>
          </a:solidFill>
          <a:ln/>
        </p:spPr>
      </p:sp>
      <p:sp>
        <p:nvSpPr>
          <p:cNvPr id="133" name="Text 131"/>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34" name="Text 132"/>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35" name="Text 133"/>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9047246" y="3748136"/>
            <a:ext cx="83038" cy="102929"/>
          </a:xfrm>
          <a:prstGeom prst="rect">
            <a:avLst/>
          </a:prstGeom>
          <a:solidFill>
            <a:srgbClr val="C2352F"/>
          </a:solidFill>
          <a:ln/>
        </p:spPr>
      </p:sp>
      <p:sp>
        <p:nvSpPr>
          <p:cNvPr id="138" name="Text 136"/>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9" name="Text 137"/>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a:t>
            </a:r>
            <a:endParaRPr lang="en-US" sz="1200" dirty="0"/>
          </a:p>
        </p:txBody>
      </p:sp>
      <p:sp>
        <p:nvSpPr>
          <p:cNvPr id="140" name="Text 138"/>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34692" y="3971895"/>
            <a:ext cx="95592" cy="102929"/>
          </a:xfrm>
          <a:prstGeom prst="rect">
            <a:avLst/>
          </a:prstGeom>
          <a:solidFill>
            <a:srgbClr val="C2352F"/>
          </a:solidFill>
          <a:ln/>
        </p:spPr>
      </p:sp>
      <p:sp>
        <p:nvSpPr>
          <p:cNvPr id="143" name="Text 141"/>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44" name="Text 142"/>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45" name="Text 143"/>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7" name="Shape 145"/>
          <p:cNvSpPr/>
          <p:nvPr/>
        </p:nvSpPr>
        <p:spPr>
          <a:xfrm>
            <a:off x="9016533" y="4195654"/>
            <a:ext cx="113751" cy="102929"/>
          </a:xfrm>
          <a:prstGeom prst="rect">
            <a:avLst/>
          </a:prstGeom>
          <a:solidFill>
            <a:srgbClr val="C2352F"/>
          </a:solidFill>
          <a:ln/>
        </p:spPr>
      </p:sp>
      <p:sp>
        <p:nvSpPr>
          <p:cNvPr id="148" name="Text 146"/>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9" name="Text 147"/>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52" name="Shape 150"/>
          <p:cNvSpPr/>
          <p:nvPr/>
        </p:nvSpPr>
        <p:spPr>
          <a:xfrm>
            <a:off x="9003546" y="4419414"/>
            <a:ext cx="126738" cy="102929"/>
          </a:xfrm>
          <a:prstGeom prst="rect">
            <a:avLst/>
          </a:prstGeom>
          <a:solidFill>
            <a:srgbClr val="C2352F"/>
          </a:solidFill>
          <a:ln/>
        </p:spPr>
      </p:sp>
      <p:sp>
        <p:nvSpPr>
          <p:cNvPr id="153" name="Text 151"/>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−6.5%</a:t>
            </a:r>
            <a:endParaRPr lang="en-US" sz="1200" dirty="0"/>
          </a:p>
        </p:txBody>
      </p:sp>
      <p:sp>
        <p:nvSpPr>
          <p:cNvPr id="154" name="Text 152"/>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55" name="Text 153"/>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7" name="Shape 155"/>
          <p:cNvSpPr/>
          <p:nvPr/>
        </p:nvSpPr>
        <p:spPr>
          <a:xfrm>
            <a:off x="8911359" y="4643173"/>
            <a:ext cx="218925" cy="102929"/>
          </a:xfrm>
          <a:prstGeom prst="rect">
            <a:avLst/>
          </a:prstGeom>
          <a:solidFill>
            <a:srgbClr val="C2352F"/>
          </a:solidFill>
          <a:ln/>
        </p:spPr>
      </p:sp>
      <p:sp>
        <p:nvSpPr>
          <p:cNvPr id="158" name="Text 156"/>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−11.3%</a:t>
            </a:r>
            <a:endParaRPr lang="en-US" sz="1200" dirty="0"/>
          </a:p>
        </p:txBody>
      </p:sp>
      <p:sp>
        <p:nvSpPr>
          <p:cNvPr id="159" name="Text 157"/>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60" name="Text 158"/>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2" name="Shape 160"/>
          <p:cNvSpPr/>
          <p:nvPr/>
        </p:nvSpPr>
        <p:spPr>
          <a:xfrm>
            <a:off x="8896761" y="4866932"/>
            <a:ext cx="233523" cy="102929"/>
          </a:xfrm>
          <a:prstGeom prst="rect">
            <a:avLst/>
          </a:prstGeom>
          <a:solidFill>
            <a:srgbClr val="C2352F"/>
          </a:solidFill>
          <a:ln/>
        </p:spPr>
      </p:sp>
      <p:sp>
        <p:nvSpPr>
          <p:cNvPr id="163" name="Text 161"/>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−12.0%</a:t>
            </a:r>
            <a:endParaRPr lang="en-US" sz="1200" dirty="0"/>
          </a:p>
        </p:txBody>
      </p:sp>
      <p:sp>
        <p:nvSpPr>
          <p:cNvPr id="164" name="Text 162"/>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a:t>
            </a:r>
            <a:endParaRPr lang="en-US" sz="1200" dirty="0"/>
          </a:p>
        </p:txBody>
      </p:sp>
      <p:sp>
        <p:nvSpPr>
          <p:cNvPr id="165" name="Text 163"/>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67" name="Shape 165"/>
          <p:cNvSpPr/>
          <p:nvPr/>
        </p:nvSpPr>
        <p:spPr>
          <a:xfrm>
            <a:off x="8696152" y="5090691"/>
            <a:ext cx="434132" cy="102929"/>
          </a:xfrm>
          <a:prstGeom prst="rect">
            <a:avLst/>
          </a:prstGeom>
          <a:solidFill>
            <a:srgbClr val="C2352F"/>
          </a:solidFill>
          <a:ln/>
        </p:spPr>
      </p:sp>
      <p:sp>
        <p:nvSpPr>
          <p:cNvPr id="168" name="Text 166"/>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−22.4%</a:t>
            </a:r>
            <a:endParaRPr lang="en-US" sz="1200" dirty="0"/>
          </a:p>
        </p:txBody>
      </p:sp>
      <p:sp>
        <p:nvSpPr>
          <p:cNvPr id="169" name="Text 167"/>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a:t>
            </a:r>
            <a:endParaRPr lang="en-US" sz="1200" dirty="0"/>
          </a:p>
        </p:txBody>
      </p:sp>
      <p:sp>
        <p:nvSpPr>
          <p:cNvPr id="170" name="Text 168"/>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2" name="Shape 170"/>
          <p:cNvSpPr/>
          <p:nvPr/>
        </p:nvSpPr>
        <p:spPr>
          <a:xfrm>
            <a:off x="8615154" y="5314450"/>
            <a:ext cx="515130" cy="102929"/>
          </a:xfrm>
          <a:prstGeom prst="rect">
            <a:avLst/>
          </a:prstGeom>
          <a:solidFill>
            <a:srgbClr val="C2352F"/>
          </a:solidFill>
          <a:ln/>
        </p:spPr>
      </p:sp>
      <p:sp>
        <p:nvSpPr>
          <p:cNvPr id="173" name="Text 171"/>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−26.6%</a:t>
            </a:r>
            <a:endParaRPr lang="en-US" sz="1200" dirty="0"/>
          </a:p>
        </p:txBody>
      </p:sp>
      <p:sp>
        <p:nvSpPr>
          <p:cNvPr id="174" name="Text 172"/>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−$60</a:t>
            </a:r>
            <a:endParaRPr lang="en-US" sz="1200" dirty="0"/>
          </a:p>
        </p:txBody>
      </p:sp>
      <p:sp>
        <p:nvSpPr>
          <p:cNvPr id="175" name="Text 17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7" name="Shape 175"/>
          <p:cNvSpPr/>
          <p:nvPr/>
        </p:nvSpPr>
        <p:spPr>
          <a:xfrm>
            <a:off x="8602803" y="5538209"/>
            <a:ext cx="527481" cy="102929"/>
          </a:xfrm>
          <a:prstGeom prst="rect">
            <a:avLst/>
          </a:prstGeom>
          <a:solidFill>
            <a:srgbClr val="C2352F"/>
          </a:solidFill>
          <a:ln/>
        </p:spPr>
      </p:sp>
      <p:sp>
        <p:nvSpPr>
          <p:cNvPr id="178" name="Text 17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−27.2%</a:t>
            </a:r>
            <a:endParaRPr lang="en-US" sz="1200" dirty="0"/>
          </a:p>
        </p:txBody>
      </p:sp>
      <p:sp>
        <p:nvSpPr>
          <p:cNvPr id="179" name="Text 17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a:t>
            </a:r>
            <a:endParaRPr lang="en-US" sz="1200" dirty="0"/>
          </a:p>
        </p:txBody>
      </p:sp>
      <p:sp>
        <p:nvSpPr>
          <p:cNvPr id="180" name="Shape 178"/>
          <p:cNvSpPr/>
          <p:nvPr/>
        </p:nvSpPr>
        <p:spPr>
          <a:xfrm>
            <a:off x="3574390" y="2121408"/>
            <a:ext cx="10973" cy="3803904"/>
          </a:xfrm>
          <a:prstGeom prst="rect">
            <a:avLst/>
          </a:prstGeom>
          <a:solidFill>
            <a:srgbClr val="9AA3AD"/>
          </a:solidFill>
          <a:ln/>
        </p:spPr>
      </p:sp>
      <p:sp>
        <p:nvSpPr>
          <p:cNvPr id="181" name="Shape 179"/>
          <p:cNvSpPr/>
          <p:nvPr/>
        </p:nvSpPr>
        <p:spPr>
          <a:xfrm>
            <a:off x="9124798" y="2121408"/>
            <a:ext cx="10973" cy="3803904"/>
          </a:xfrm>
          <a:prstGeom prst="rect">
            <a:avLst/>
          </a:prstGeom>
          <a:solidFill>
            <a:srgbClr val="9AA3AD"/>
          </a:solidFill>
          <a:ln/>
        </p:spPr>
      </p:sp>
      <p:sp>
        <p:nvSpPr>
          <p:cNvPr id="182" name="Shape 180"/>
          <p:cNvSpPr/>
          <p:nvPr/>
        </p:nvSpPr>
        <p:spPr>
          <a:xfrm>
            <a:off x="6085332" y="2121408"/>
            <a:ext cx="10973" cy="3803904"/>
          </a:xfrm>
          <a:prstGeom prst="rect">
            <a:avLst/>
          </a:prstGeom>
          <a:solidFill>
            <a:srgbClr val="D9D9D9"/>
          </a:solidFill>
          <a:ln/>
        </p:spPr>
      </p:sp>
      <p:sp>
        <p:nvSpPr>
          <p:cNvPr id="183" name="Shape 181"/>
          <p:cNvSpPr/>
          <p:nvPr/>
        </p:nvSpPr>
        <p:spPr>
          <a:xfrm>
            <a:off x="457200" y="6126480"/>
            <a:ext cx="11274552" cy="615696"/>
          </a:xfrm>
          <a:prstGeom prst="rect">
            <a:avLst/>
          </a:prstGeom>
          <a:solidFill>
            <a:srgbClr val="E6F6EE"/>
          </a:solidFill>
          <a:ln/>
        </p:spPr>
      </p:sp>
      <p:sp>
        <p:nvSpPr>
          <p:cNvPr id="184" name="Text 18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 of 33 stores raised internal ELR, led by Hyundai St George at +29.5% (+$47) to $205. 13 declined; Nissan fell most at −27.2%.</a:t>
            </a:r>
            <a:endParaRPr lang="en-US" sz="1600" dirty="0"/>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ELR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$205</a:t>
            </a:r>
            <a:endParaRPr lang="en-US" sz="1400" dirty="0"/>
          </a:p>
        </p:txBody>
      </p:sp>
      <p:sp>
        <p:nvSpPr>
          <p:cNvPr id="13" name="Text 11"/>
          <p:cNvSpPr txBox="1"/>
          <p:nvPr/>
        </p:nvSpPr>
        <p:spPr>
          <a:xfrm>
            <a:off x="2941320"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+29.5%</a:t>
            </a:r>
            <a:endParaRPr lang="en-US" sz="1600" dirty="0"/>
          </a:p>
        </p:txBody>
      </p:sp>
      <p:sp>
        <p:nvSpPr>
          <p:cNvPr id="14" name="Text 12"/>
          <p:cNvSpPr txBox="1"/>
          <p:nvPr/>
        </p:nvSpPr>
        <p:spPr>
          <a:xfrm>
            <a:off x="2941320"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+$47</a:t>
            </a:r>
            <a:endParaRPr lang="en-US" sz="1300" dirty="0"/>
          </a:p>
        </p:txBody>
      </p:sp>
      <p:sp>
        <p:nvSpPr>
          <p:cNvPr id="15" name="Text 13"/>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a:t>
            </a:r>
            <a:endParaRPr lang="en-US" sz="1400" dirty="0"/>
          </a:p>
        </p:txBody>
      </p:sp>
      <p:sp>
        <p:nvSpPr>
          <p:cNvPr id="17" name="Text 15"/>
          <p:cNvSpPr txBox="1"/>
          <p:nvPr/>
        </p:nvSpPr>
        <p:spPr>
          <a:xfrm>
            <a:off x="2941320"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+23.6%</a:t>
            </a:r>
            <a:endParaRPr lang="en-US" sz="1600" dirty="0"/>
          </a:p>
        </p:txBody>
      </p:sp>
      <p:sp>
        <p:nvSpPr>
          <p:cNvPr id="18" name="Text 16"/>
          <p:cNvSpPr txBox="1"/>
          <p:nvPr/>
        </p:nvSpPr>
        <p:spPr>
          <a:xfrm>
            <a:off x="2941320"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+$40</a:t>
            </a:r>
            <a:endParaRPr lang="en-US" sz="1300" dirty="0"/>
          </a:p>
        </p:txBody>
      </p:sp>
      <p:sp>
        <p:nvSpPr>
          <p:cNvPr id="19" name="Shape 17"/>
          <p:cNvSpPr/>
          <p:nvPr/>
        </p:nvSpPr>
        <p:spPr>
          <a:xfrm>
            <a:off x="658368" y="3613709"/>
            <a:ext cx="3489960" cy="755294"/>
          </a:xfrm>
          <a:prstGeom prst="rect">
            <a:avLst/>
          </a:prstGeom>
          <a:solidFill>
            <a:srgbClr val="F7F7F7"/>
          </a:solidFill>
          <a:ln/>
        </p:spPr>
      </p:sp>
      <p:sp>
        <p:nvSpPr>
          <p:cNvPr id="20" name="Text 18"/>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$166</a:t>
            </a:r>
            <a:endParaRPr lang="en-US" sz="1400" dirty="0"/>
          </a:p>
        </p:txBody>
      </p:sp>
      <p:sp>
        <p:nvSpPr>
          <p:cNvPr id="22" name="Text 20"/>
          <p:cNvSpPr txBox="1"/>
          <p:nvPr/>
        </p:nvSpPr>
        <p:spPr>
          <a:xfrm>
            <a:off x="2941320"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3" name="Text 21"/>
          <p:cNvSpPr txBox="1"/>
          <p:nvPr/>
        </p:nvSpPr>
        <p:spPr>
          <a:xfrm>
            <a:off x="2941320"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24" name="Text 22"/>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$134</a:t>
            </a:r>
            <a:endParaRPr lang="en-US" sz="1400" dirty="0"/>
          </a:p>
        </p:txBody>
      </p:sp>
      <p:sp>
        <p:nvSpPr>
          <p:cNvPr id="26" name="Text 24"/>
          <p:cNvSpPr txBox="1"/>
          <p:nvPr/>
        </p:nvSpPr>
        <p:spPr>
          <a:xfrm>
            <a:off x="2941320"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+18.3%</a:t>
            </a:r>
            <a:endParaRPr lang="en-US" sz="1600" dirty="0"/>
          </a:p>
        </p:txBody>
      </p:sp>
      <p:sp>
        <p:nvSpPr>
          <p:cNvPr id="27" name="Text 25"/>
          <p:cNvSpPr txBox="1"/>
          <p:nvPr/>
        </p:nvSpPr>
        <p:spPr>
          <a:xfrm>
            <a:off x="2941320"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28" name="Shape 26"/>
          <p:cNvSpPr/>
          <p:nvPr/>
        </p:nvSpPr>
        <p:spPr>
          <a:xfrm>
            <a:off x="658368" y="5124298"/>
            <a:ext cx="3489960" cy="755294"/>
          </a:xfrm>
          <a:prstGeom prst="rect">
            <a:avLst/>
          </a:prstGeom>
          <a:solidFill>
            <a:srgbClr val="F7F7F7"/>
          </a:solidFill>
          <a:ln/>
        </p:spPr>
      </p:sp>
      <p:sp>
        <p:nvSpPr>
          <p:cNvPr id="29" name="Shape 27"/>
          <p:cNvSpPr/>
          <p:nvPr/>
        </p:nvSpPr>
        <p:spPr>
          <a:xfrm>
            <a:off x="4084320" y="5160874"/>
            <a:ext cx="64008" cy="682142"/>
          </a:xfrm>
          <a:prstGeom prst="rect">
            <a:avLst/>
          </a:prstGeom>
          <a:solidFill>
            <a:srgbClr val="12A566"/>
          </a:solidFill>
          <a:ln/>
        </p:spPr>
      </p:sp>
      <p:sp>
        <p:nvSpPr>
          <p:cNvPr id="30" name="Text 28"/>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$115</a:t>
            </a:r>
            <a:endParaRPr lang="en-US" sz="1400" dirty="0"/>
          </a:p>
        </p:txBody>
      </p:sp>
      <p:sp>
        <p:nvSpPr>
          <p:cNvPr id="32" name="Text 30"/>
          <p:cNvSpPr txBox="1"/>
          <p:nvPr/>
        </p:nvSpPr>
        <p:spPr>
          <a:xfrm>
            <a:off x="2941320"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+17.9%</a:t>
            </a:r>
            <a:endParaRPr lang="en-US" sz="1600" dirty="0"/>
          </a:p>
        </p:txBody>
      </p:sp>
      <p:sp>
        <p:nvSpPr>
          <p:cNvPr id="33" name="Text 31"/>
          <p:cNvSpPr txBox="1"/>
          <p:nvPr/>
        </p:nvSpPr>
        <p:spPr>
          <a:xfrm>
            <a:off x="2941320"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755294"/>
          </a:xfrm>
          <a:prstGeom prst="rect">
            <a:avLst/>
          </a:prstGeom>
          <a:solidFill>
            <a:srgbClr val="F7F7F7"/>
          </a:solidFill>
          <a:ln/>
        </p:spPr>
      </p:sp>
      <p:sp>
        <p:nvSpPr>
          <p:cNvPr id="38" name="Text 36"/>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$87</a:t>
            </a:r>
            <a:endParaRPr lang="en-US" sz="1400" dirty="0"/>
          </a:p>
        </p:txBody>
      </p:sp>
      <p:sp>
        <p:nvSpPr>
          <p:cNvPr id="40" name="Text 38"/>
          <p:cNvSpPr txBox="1"/>
          <p:nvPr/>
        </p:nvSpPr>
        <p:spPr>
          <a:xfrm>
            <a:off x="6632448" y="2193755"/>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−27.2%</a:t>
            </a:r>
            <a:endParaRPr lang="en-US" sz="1600" dirty="0"/>
          </a:p>
        </p:txBody>
      </p:sp>
      <p:sp>
        <p:nvSpPr>
          <p:cNvPr id="41" name="Text 39"/>
          <p:cNvSpPr txBox="1"/>
          <p:nvPr/>
        </p:nvSpPr>
        <p:spPr>
          <a:xfrm>
            <a:off x="6632448"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42" name="Text 40"/>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$167</a:t>
            </a:r>
            <a:endParaRPr lang="en-US" sz="1400" dirty="0"/>
          </a:p>
        </p:txBody>
      </p:sp>
      <p:sp>
        <p:nvSpPr>
          <p:cNvPr id="44" name="Text 42"/>
          <p:cNvSpPr txBox="1"/>
          <p:nvPr/>
        </p:nvSpPr>
        <p:spPr>
          <a:xfrm>
            <a:off x="6632448" y="2949050"/>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−26.6%</a:t>
            </a:r>
            <a:endParaRPr lang="en-US" sz="1600" dirty="0"/>
          </a:p>
        </p:txBody>
      </p:sp>
      <p:sp>
        <p:nvSpPr>
          <p:cNvPr id="45" name="Text 43"/>
          <p:cNvSpPr txBox="1"/>
          <p:nvPr/>
        </p:nvSpPr>
        <p:spPr>
          <a:xfrm>
            <a:off x="6632448"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−$60</a:t>
            </a:r>
            <a:endParaRPr lang="en-US" sz="1300" dirty="0"/>
          </a:p>
        </p:txBody>
      </p:sp>
      <p:sp>
        <p:nvSpPr>
          <p:cNvPr id="46" name="Shape 44"/>
          <p:cNvSpPr/>
          <p:nvPr/>
        </p:nvSpPr>
        <p:spPr>
          <a:xfrm>
            <a:off x="4349496" y="3613709"/>
            <a:ext cx="3489960" cy="755294"/>
          </a:xfrm>
          <a:prstGeom prst="rect">
            <a:avLst/>
          </a:prstGeom>
          <a:solidFill>
            <a:srgbClr val="F7F7F7"/>
          </a:solidFill>
          <a:ln/>
        </p:spPr>
      </p:sp>
      <p:sp>
        <p:nvSpPr>
          <p:cNvPr id="47" name="Text 45"/>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a:t>
            </a:r>
            <a:endParaRPr lang="en-US" sz="1400" dirty="0"/>
          </a:p>
        </p:txBody>
      </p:sp>
      <p:sp>
        <p:nvSpPr>
          <p:cNvPr id="49" name="Text 47"/>
          <p:cNvSpPr txBox="1"/>
          <p:nvPr/>
        </p:nvSpPr>
        <p:spPr>
          <a:xfrm>
            <a:off x="6632448" y="3704344"/>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−22.4%</a:t>
            </a:r>
            <a:endParaRPr lang="en-US" sz="1600" dirty="0"/>
          </a:p>
        </p:txBody>
      </p:sp>
      <p:sp>
        <p:nvSpPr>
          <p:cNvPr id="50" name="Text 48"/>
          <p:cNvSpPr txBox="1"/>
          <p:nvPr/>
        </p:nvSpPr>
        <p:spPr>
          <a:xfrm>
            <a:off x="6632448"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51" name="Text 4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a:t>
            </a:r>
            <a:endParaRPr lang="en-US" sz="1400" dirty="0"/>
          </a:p>
        </p:txBody>
      </p:sp>
      <p:sp>
        <p:nvSpPr>
          <p:cNvPr id="53" name="Text 51"/>
          <p:cNvSpPr txBox="1"/>
          <p:nvPr/>
        </p:nvSpPr>
        <p:spPr>
          <a:xfrm>
            <a:off x="6632448" y="4459639"/>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−12.0%</a:t>
            </a:r>
            <a:endParaRPr lang="en-US" sz="1600" dirty="0"/>
          </a:p>
        </p:txBody>
      </p:sp>
      <p:sp>
        <p:nvSpPr>
          <p:cNvPr id="54" name="Text 52"/>
          <p:cNvSpPr txBox="1"/>
          <p:nvPr/>
        </p:nvSpPr>
        <p:spPr>
          <a:xfrm>
            <a:off x="6632448"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−$21</a:t>
            </a:r>
            <a:endParaRPr lang="en-US" sz="1300" dirty="0"/>
          </a:p>
        </p:txBody>
      </p:sp>
      <p:sp>
        <p:nvSpPr>
          <p:cNvPr id="55" name="Shape 53"/>
          <p:cNvSpPr/>
          <p:nvPr/>
        </p:nvSpPr>
        <p:spPr>
          <a:xfrm>
            <a:off x="4349496" y="5124298"/>
            <a:ext cx="3489960" cy="755294"/>
          </a:xfrm>
          <a:prstGeom prst="rect">
            <a:avLst/>
          </a:prstGeom>
          <a:solidFill>
            <a:srgbClr val="F7F7F7"/>
          </a:solidFill>
          <a:ln/>
        </p:spPr>
      </p:sp>
      <p:sp>
        <p:nvSpPr>
          <p:cNvPr id="56" name="Text 5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58" name="Text 56"/>
          <p:cNvSpPr txBox="1"/>
          <p:nvPr/>
        </p:nvSpPr>
        <p:spPr>
          <a:xfrm>
            <a:off x="6632448" y="5214933"/>
            <a:ext cx="1115568" cy="377647"/>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−11.3%</a:t>
            </a:r>
            <a:endParaRPr lang="en-US" sz="1600" dirty="0"/>
          </a:p>
        </p:txBody>
      </p:sp>
      <p:sp>
        <p:nvSpPr>
          <p:cNvPr id="59" name="Text 57"/>
          <p:cNvSpPr txBox="1"/>
          <p:nvPr/>
        </p:nvSpPr>
        <p:spPr>
          <a:xfrm>
            <a:off x="6632448"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755294"/>
          </a:xfrm>
          <a:prstGeom prst="rect">
            <a:avLst/>
          </a:prstGeom>
          <a:solidFill>
            <a:srgbClr val="F7F7F7"/>
          </a:solidFill>
          <a:ln/>
        </p:spPr>
      </p:sp>
      <p:sp>
        <p:nvSpPr>
          <p:cNvPr id="64" name="Text 62"/>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$183</a:t>
            </a:r>
            <a:endParaRPr lang="en-US" sz="1400" dirty="0"/>
          </a:p>
        </p:txBody>
      </p:sp>
      <p:sp>
        <p:nvSpPr>
          <p:cNvPr id="66" name="Text 64"/>
          <p:cNvSpPr txBox="1"/>
          <p:nvPr/>
        </p:nvSpPr>
        <p:spPr>
          <a:xfrm>
            <a:off x="10323576" y="2193755"/>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67" name="Text 65"/>
          <p:cNvSpPr txBox="1"/>
          <p:nvPr/>
        </p:nvSpPr>
        <p:spPr>
          <a:xfrm>
            <a:off x="10323576" y="2541191"/>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8" name="Shape 66"/>
          <p:cNvSpPr/>
          <p:nvPr/>
        </p:nvSpPr>
        <p:spPr>
          <a:xfrm>
            <a:off x="11466576" y="2894990"/>
            <a:ext cx="64008" cy="682142"/>
          </a:xfrm>
          <a:prstGeom prst="rect">
            <a:avLst/>
          </a:prstGeom>
          <a:solidFill>
            <a:srgbClr val="12A566"/>
          </a:solidFill>
          <a:ln/>
        </p:spPr>
      </p:sp>
      <p:sp>
        <p:nvSpPr>
          <p:cNvPr id="69" name="Text 67"/>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70" name="Text 68"/>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$233</a:t>
            </a:r>
            <a:endParaRPr lang="en-US" sz="1400" dirty="0"/>
          </a:p>
        </p:txBody>
      </p:sp>
      <p:sp>
        <p:nvSpPr>
          <p:cNvPr id="71" name="Text 69"/>
          <p:cNvSpPr txBox="1"/>
          <p:nvPr/>
        </p:nvSpPr>
        <p:spPr>
          <a:xfrm>
            <a:off x="10323576" y="2949050"/>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+31.8%</a:t>
            </a:r>
            <a:endParaRPr lang="en-US" sz="1600" dirty="0"/>
          </a:p>
        </p:txBody>
      </p:sp>
      <p:sp>
        <p:nvSpPr>
          <p:cNvPr id="72" name="Text 70"/>
          <p:cNvSpPr txBox="1"/>
          <p:nvPr/>
        </p:nvSpPr>
        <p:spPr>
          <a:xfrm>
            <a:off x="10323576" y="3296485"/>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+$56</a:t>
            </a:r>
            <a:endParaRPr lang="en-US" sz="1300" dirty="0"/>
          </a:p>
        </p:txBody>
      </p:sp>
      <p:sp>
        <p:nvSpPr>
          <p:cNvPr id="73" name="Shape 71"/>
          <p:cNvSpPr/>
          <p:nvPr/>
        </p:nvSpPr>
        <p:spPr>
          <a:xfrm>
            <a:off x="8040624" y="3613709"/>
            <a:ext cx="3489960" cy="755294"/>
          </a:xfrm>
          <a:prstGeom prst="rect">
            <a:avLst/>
          </a:prstGeom>
          <a:solidFill>
            <a:srgbClr val="F7F7F7"/>
          </a:solidFill>
          <a:ln/>
        </p:spPr>
      </p:sp>
      <p:sp>
        <p:nvSpPr>
          <p:cNvPr id="74" name="Shape 72"/>
          <p:cNvSpPr/>
          <p:nvPr/>
        </p:nvSpPr>
        <p:spPr>
          <a:xfrm>
            <a:off x="11466576" y="3650285"/>
            <a:ext cx="64008" cy="682142"/>
          </a:xfrm>
          <a:prstGeom prst="rect">
            <a:avLst/>
          </a:prstGeom>
          <a:solidFill>
            <a:srgbClr val="12A566"/>
          </a:solidFill>
          <a:ln/>
        </p:spPr>
      </p:sp>
      <p:sp>
        <p:nvSpPr>
          <p:cNvPr id="75" name="Text 73"/>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6" name="Text 74"/>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77" name="Text 75"/>
          <p:cNvSpPr txBox="1"/>
          <p:nvPr/>
        </p:nvSpPr>
        <p:spPr>
          <a:xfrm>
            <a:off x="10323576" y="3704344"/>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+25.2%</a:t>
            </a:r>
            <a:endParaRPr lang="en-US" sz="1600" dirty="0"/>
          </a:p>
        </p:txBody>
      </p:sp>
      <p:sp>
        <p:nvSpPr>
          <p:cNvPr id="78" name="Text 76"/>
          <p:cNvSpPr txBox="1"/>
          <p:nvPr/>
        </p:nvSpPr>
        <p:spPr>
          <a:xfrm>
            <a:off x="10323576" y="4051780"/>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+$26</a:t>
            </a:r>
            <a:endParaRPr lang="en-US" sz="1300" dirty="0"/>
          </a:p>
        </p:txBody>
      </p:sp>
      <p:sp>
        <p:nvSpPr>
          <p:cNvPr id="79" name="Text 77"/>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$119</a:t>
            </a:r>
            <a:endParaRPr lang="en-US" sz="1400" dirty="0"/>
          </a:p>
        </p:txBody>
      </p:sp>
      <p:sp>
        <p:nvSpPr>
          <p:cNvPr id="81" name="Text 79"/>
          <p:cNvSpPr txBox="1"/>
          <p:nvPr/>
        </p:nvSpPr>
        <p:spPr>
          <a:xfrm>
            <a:off x="10323576" y="4459639"/>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+23.3%</a:t>
            </a:r>
            <a:endParaRPr lang="en-US" sz="1600" dirty="0"/>
          </a:p>
        </p:txBody>
      </p:sp>
      <p:sp>
        <p:nvSpPr>
          <p:cNvPr id="82" name="Text 80"/>
          <p:cNvSpPr txBox="1"/>
          <p:nvPr/>
        </p:nvSpPr>
        <p:spPr>
          <a:xfrm>
            <a:off x="10323576" y="4807074"/>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83" name="Shape 81"/>
          <p:cNvSpPr/>
          <p:nvPr/>
        </p:nvSpPr>
        <p:spPr>
          <a:xfrm>
            <a:off x="8040624" y="5124298"/>
            <a:ext cx="3489960" cy="755294"/>
          </a:xfrm>
          <a:prstGeom prst="rect">
            <a:avLst/>
          </a:prstGeom>
          <a:solidFill>
            <a:srgbClr val="F7F7F7"/>
          </a:solidFill>
          <a:ln/>
        </p:spPr>
      </p:sp>
      <p:sp>
        <p:nvSpPr>
          <p:cNvPr id="84" name="Text 82"/>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86" name="Text 84"/>
          <p:cNvSpPr txBox="1"/>
          <p:nvPr/>
        </p:nvSpPr>
        <p:spPr>
          <a:xfrm>
            <a:off x="10323576" y="5214933"/>
            <a:ext cx="1115568" cy="377647"/>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+17.6%</a:t>
            </a:r>
            <a:endParaRPr lang="en-US" sz="1600" dirty="0"/>
          </a:p>
        </p:txBody>
      </p:sp>
      <p:sp>
        <p:nvSpPr>
          <p:cNvPr id="87" name="Text 85"/>
          <p:cNvSpPr txBox="1"/>
          <p:nvPr/>
        </p:nvSpPr>
        <p:spPr>
          <a:xfrm>
            <a:off x="10323576" y="5562368"/>
            <a:ext cx="1115568" cy="241694"/>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8" name="Shape 86"/>
          <p:cNvSpPr/>
          <p:nvPr/>
        </p:nvSpPr>
        <p:spPr>
          <a:xfrm>
            <a:off x="457200" y="6126480"/>
            <a:ext cx="11274552" cy="615696"/>
          </a:xfrm>
          <a:prstGeom prst="rect">
            <a:avLst/>
          </a:prstGeom>
          <a:solidFill>
            <a:srgbClr val="EDF4FA"/>
          </a:solidFill>
          <a:ln/>
        </p:spPr>
      </p:sp>
      <p:sp>
        <p:nvSpPr>
          <p:cNvPr id="89" name="Text 87"/>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Hyundai St George, LR Reno and Lincoln what changed. Ask Nissan, Kia LV and Mazda what got in the way. Ask Acura, Hyundai St George and Toyota Henderson what they started this year.</a:t>
            </a:r>
            <a:endParaRPr lang="en-US" sz="1600" dirty="0"/>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77.9%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78.1%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0.3 pts to 78.1%, ahead of 2025 in six of nine months.</a:t>
            </a:r>
            <a:endParaRPr lang="en-US" sz="1600" dirty="0"/>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80.8%      INTERNAL 78.1%      GAP </a:t>
            </a:r>
            <a:pPr indent="0" marL="0">
              <a:buNone/>
            </a:pPr>
            <a:r>
              <a:rPr lang="en-US" sz="1500" b="1" dirty="0">
                <a:solidFill>
                  <a:srgbClr val="0B2C4A"/>
                </a:solidFill>
                <a:latin typeface="Inter" pitchFamily="34" charset="0"/>
                <a:ea typeface="Inter" pitchFamily="34" charset="-122"/>
                <a:cs typeface="Inter" pitchFamily="34" charset="-120"/>
              </a:rPr>
              <a:t>−2.7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83188"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733596"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22" name="Shape 20"/>
          <p:cNvSpPr/>
          <p:nvPr/>
        </p:nvSpPr>
        <p:spPr>
          <a:xfrm>
            <a:off x="3255264" y="2153708"/>
            <a:ext cx="13011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77.3%</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28" name="Shape 26"/>
          <p:cNvSpPr/>
          <p:nvPr/>
        </p:nvSpPr>
        <p:spPr>
          <a:xfrm>
            <a:off x="3255264" y="2378543"/>
            <a:ext cx="129665"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67.7%</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72.5%</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+4.8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Shape 31"/>
          <p:cNvSpPr/>
          <p:nvPr/>
        </p:nvSpPr>
        <p:spPr>
          <a:xfrm>
            <a:off x="3255264" y="2603377"/>
            <a:ext cx="104292"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+3.9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39" name="Shape 37"/>
          <p:cNvSpPr/>
          <p:nvPr/>
        </p:nvSpPr>
        <p:spPr>
          <a:xfrm>
            <a:off x="3255264" y="2828212"/>
            <a:ext cx="96492"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72.2%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+3.6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44" name="Shape 42"/>
          <p:cNvSpPr/>
          <p:nvPr/>
        </p:nvSpPr>
        <p:spPr>
          <a:xfrm>
            <a:off x="3255264" y="3053047"/>
            <a:ext cx="77376"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78.7%</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81.5%</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+2.9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0" name="Shape 48"/>
          <p:cNvSpPr/>
          <p:nvPr/>
        </p:nvSpPr>
        <p:spPr>
          <a:xfrm>
            <a:off x="3255264" y="3277882"/>
            <a:ext cx="65728" cy="123659"/>
          </a:xfrm>
          <a:prstGeom prst="rect">
            <a:avLst/>
          </a:prstGeom>
          <a:solidFill>
            <a:srgbClr val="12A566"/>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82.9%</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85.3%</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5" name="Shape 53"/>
          <p:cNvSpPr/>
          <p:nvPr/>
        </p:nvSpPr>
        <p:spPr>
          <a:xfrm>
            <a:off x="3255264" y="3502717"/>
            <a:ext cx="65019" cy="123659"/>
          </a:xfrm>
          <a:prstGeom prst="rect">
            <a:avLst/>
          </a:prstGeom>
          <a:solidFill>
            <a:srgbClr val="12A566"/>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81.9%</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+2.4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61" name="Shape 59"/>
          <p:cNvSpPr/>
          <p:nvPr/>
        </p:nvSpPr>
        <p:spPr>
          <a:xfrm>
            <a:off x="3255264" y="3727552"/>
            <a:ext cx="23117" cy="123659"/>
          </a:xfrm>
          <a:prstGeom prst="rect">
            <a:avLst/>
          </a:prstGeom>
          <a:solidFill>
            <a:srgbClr val="12A566"/>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80.2%</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+0.9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66" name="Shape 64"/>
          <p:cNvSpPr/>
          <p:nvPr/>
        </p:nvSpPr>
        <p:spPr>
          <a:xfrm>
            <a:off x="3253849" y="3952386"/>
            <a:ext cx="9144"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79.8%</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79.8%</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−0.1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2" name="Shape 70"/>
          <p:cNvSpPr/>
          <p:nvPr/>
        </p:nvSpPr>
        <p:spPr>
          <a:xfrm>
            <a:off x="3250197" y="4177221"/>
            <a:ext cx="9144"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86.1%</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85.9%</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7" name="Shape 75"/>
          <p:cNvSpPr/>
          <p:nvPr/>
        </p:nvSpPr>
        <p:spPr>
          <a:xfrm>
            <a:off x="3245953" y="4402056"/>
            <a:ext cx="9311"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82.8%</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−0.3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3" name="Shape 81"/>
          <p:cNvSpPr/>
          <p:nvPr/>
        </p:nvSpPr>
        <p:spPr>
          <a:xfrm>
            <a:off x="3244900" y="4626891"/>
            <a:ext cx="10364"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74.1%</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73.8%</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−0.4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88" name="Shape 86"/>
          <p:cNvSpPr/>
          <p:nvPr/>
        </p:nvSpPr>
        <p:spPr>
          <a:xfrm>
            <a:off x="3221879" y="4851726"/>
            <a:ext cx="33385"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79.4%</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78.2%</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94" name="Shape 92"/>
          <p:cNvSpPr/>
          <p:nvPr/>
        </p:nvSpPr>
        <p:spPr>
          <a:xfrm>
            <a:off x="3198494" y="5076561"/>
            <a:ext cx="56770"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79.3%</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77.2%</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9" name="Shape 97"/>
          <p:cNvSpPr/>
          <p:nvPr/>
        </p:nvSpPr>
        <p:spPr>
          <a:xfrm>
            <a:off x="3198327" y="5301395"/>
            <a:ext cx="56937"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5" name="Shape 103"/>
          <p:cNvSpPr/>
          <p:nvPr/>
        </p:nvSpPr>
        <p:spPr>
          <a:xfrm>
            <a:off x="3197693" y="5526230"/>
            <a:ext cx="5757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82.3%</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10" name="Shape 108"/>
          <p:cNvSpPr/>
          <p:nvPr/>
        </p:nvSpPr>
        <p:spPr>
          <a:xfrm>
            <a:off x="3195970" y="5751065"/>
            <a:ext cx="59294"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73.9%</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71.7%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115" name="Shape 113"/>
          <p:cNvSpPr/>
          <p:nvPr/>
        </p:nvSpPr>
        <p:spPr>
          <a:xfrm>
            <a:off x="8734848" y="2153708"/>
            <a:ext cx="70824"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76.0%</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−2.6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730906" y="2378543"/>
            <a:ext cx="74766"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85.0%</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82.2%</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6" name="Shape 124"/>
          <p:cNvSpPr/>
          <p:nvPr/>
        </p:nvSpPr>
        <p:spPr>
          <a:xfrm>
            <a:off x="8716961" y="2603377"/>
            <a:ext cx="88711"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75.7%</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72.4%</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−3.3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32" name="Shape 130"/>
          <p:cNvSpPr/>
          <p:nvPr/>
        </p:nvSpPr>
        <p:spPr>
          <a:xfrm>
            <a:off x="8711353" y="2828212"/>
            <a:ext cx="94319"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84.3%</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80.8%</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37" name="Shape 135"/>
          <p:cNvSpPr/>
          <p:nvPr/>
        </p:nvSpPr>
        <p:spPr>
          <a:xfrm>
            <a:off x="8703971" y="3053047"/>
            <a:ext cx="101701"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88.6%</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84.8%</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701890" y="3277882"/>
            <a:ext cx="103782"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79.5%</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75.7%</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148" name="Shape 146"/>
          <p:cNvSpPr/>
          <p:nvPr/>
        </p:nvSpPr>
        <p:spPr>
          <a:xfrm>
            <a:off x="8679444" y="3502717"/>
            <a:ext cx="12622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84.4%</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79.7%</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−4.7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4" name="Shape 152"/>
          <p:cNvSpPr/>
          <p:nvPr/>
        </p:nvSpPr>
        <p:spPr>
          <a:xfrm>
            <a:off x="8672194" y="3727552"/>
            <a:ext cx="133478"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79.1%</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74.2%</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−4.9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159" name="Shape 157"/>
          <p:cNvSpPr/>
          <p:nvPr/>
        </p:nvSpPr>
        <p:spPr>
          <a:xfrm>
            <a:off x="8624168" y="3952386"/>
            <a:ext cx="181504"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82.0%</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75.2%</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65" name="Shape 163"/>
          <p:cNvSpPr/>
          <p:nvPr/>
        </p:nvSpPr>
        <p:spPr>
          <a:xfrm>
            <a:off x="8616775" y="4177221"/>
            <a:ext cx="188897"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86.0%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79.0%</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70" name="Shape 168"/>
          <p:cNvSpPr/>
          <p:nvPr/>
        </p:nvSpPr>
        <p:spPr>
          <a:xfrm>
            <a:off x="8590345" y="4402056"/>
            <a:ext cx="215327"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83.5%</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75.5%</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6" name="Shape 174"/>
          <p:cNvSpPr/>
          <p:nvPr/>
        </p:nvSpPr>
        <p:spPr>
          <a:xfrm>
            <a:off x="8562958" y="4626891"/>
            <a:ext cx="242714"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77.8%</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68.8%</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81" name="Shape 179"/>
          <p:cNvSpPr/>
          <p:nvPr/>
        </p:nvSpPr>
        <p:spPr>
          <a:xfrm>
            <a:off x="8514572" y="4851726"/>
            <a:ext cx="29110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78.5%</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67.8%</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87" name="Shape 185"/>
          <p:cNvSpPr/>
          <p:nvPr/>
        </p:nvSpPr>
        <p:spPr>
          <a:xfrm>
            <a:off x="8475849" y="5076561"/>
            <a:ext cx="329823"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82.4%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70.2%</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−12.2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2" name="Shape 190"/>
          <p:cNvSpPr/>
          <p:nvPr/>
        </p:nvSpPr>
        <p:spPr>
          <a:xfrm>
            <a:off x="8430963" y="5301395"/>
            <a:ext cx="374709"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83.9%</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70.0%</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−13.9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78.8%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58.8%</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25 of 33 stores collect less labor margin on internal work than on customer pay; the group is −2.7 pts. Widest: Audi Reno (−20.0 pts), LR LV (−13.9 pts) and LR Henderson (−12.2 pts).</a:t>
            </a:r>
            <a:endParaRPr lang="en-US" sz="1600" dirty="0"/>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LABOR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+0.3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495495"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51755"/>
            <a:ext cx="322622"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1" name="Shape 19"/>
          <p:cNvSpPr/>
          <p:nvPr/>
        </p:nvSpPr>
        <p:spPr>
          <a:xfrm>
            <a:off x="3785616" y="2391651"/>
            <a:ext cx="30333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785616" y="2631546"/>
            <a:ext cx="263778"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9" name="Shape 27"/>
          <p:cNvSpPr/>
          <p:nvPr/>
        </p:nvSpPr>
        <p:spPr>
          <a:xfrm>
            <a:off x="3785616" y="2871442"/>
            <a:ext cx="214318"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3" name="Shape 31"/>
          <p:cNvSpPr/>
          <p:nvPr/>
        </p:nvSpPr>
        <p:spPr>
          <a:xfrm>
            <a:off x="3785616" y="3111337"/>
            <a:ext cx="19209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188815"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1" name="Shape 39"/>
          <p:cNvSpPr/>
          <p:nvPr/>
        </p:nvSpPr>
        <p:spPr>
          <a:xfrm>
            <a:off x="3785616" y="3591128"/>
            <a:ext cx="160577"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3831024"/>
            <a:ext cx="1427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3216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310815"/>
            <a:ext cx="13148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85616" y="4550711"/>
            <a:ext cx="11730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9508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65" name="Shape 63"/>
          <p:cNvSpPr/>
          <p:nvPr/>
        </p:nvSpPr>
        <p:spPr>
          <a:xfrm>
            <a:off x="3785616" y="5030502"/>
            <a:ext cx="688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69" name="Shape 67"/>
          <p:cNvSpPr/>
          <p:nvPr/>
        </p:nvSpPr>
        <p:spPr>
          <a:xfrm>
            <a:off x="3785616" y="5270397"/>
            <a:ext cx="36133"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3" name="Shape 71"/>
          <p:cNvSpPr/>
          <p:nvPr/>
        </p:nvSpPr>
        <p:spPr>
          <a:xfrm>
            <a:off x="3785616" y="5510293"/>
            <a:ext cx="34356"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5750188"/>
            <a:ext cx="2654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+0.0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300490" y="2391651"/>
            <a:ext cx="35534"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93" name="Shape 91"/>
          <p:cNvSpPr/>
          <p:nvPr/>
        </p:nvSpPr>
        <p:spPr>
          <a:xfrm>
            <a:off x="9251253" y="2631546"/>
            <a:ext cx="84771"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9226020" y="2871442"/>
            <a:ext cx="110004"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11478" y="3111337"/>
            <a:ext cx="124546"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01170" y="3351233"/>
            <a:ext cx="134854"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9" name="Shape 107"/>
          <p:cNvSpPr/>
          <p:nvPr/>
        </p:nvSpPr>
        <p:spPr>
          <a:xfrm>
            <a:off x="9108753" y="3591128"/>
            <a:ext cx="22727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91564" y="3831024"/>
            <a:ext cx="244460"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7" name="Shape 115"/>
          <p:cNvSpPr/>
          <p:nvPr/>
        </p:nvSpPr>
        <p:spPr>
          <a:xfrm>
            <a:off x="9060005" y="4070920"/>
            <a:ext cx="2760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1" name="Shape 119"/>
          <p:cNvSpPr/>
          <p:nvPr/>
        </p:nvSpPr>
        <p:spPr>
          <a:xfrm>
            <a:off x="9035101" y="4310815"/>
            <a:ext cx="300923"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5" name="Shape 123"/>
          <p:cNvSpPr/>
          <p:nvPr/>
        </p:nvSpPr>
        <p:spPr>
          <a:xfrm>
            <a:off x="8954892" y="4550711"/>
            <a:ext cx="38113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929245" y="4790606"/>
            <a:ext cx="40677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3" name="Shape 131"/>
          <p:cNvSpPr/>
          <p:nvPr/>
        </p:nvSpPr>
        <p:spPr>
          <a:xfrm>
            <a:off x="8865948" y="5030502"/>
            <a:ext cx="470076"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7" name="Shape 135"/>
          <p:cNvSpPr/>
          <p:nvPr/>
        </p:nvSpPr>
        <p:spPr>
          <a:xfrm>
            <a:off x="8842326" y="5270397"/>
            <a:ext cx="493698"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19 of 33 stores raised internal labor GP%, led by Acura at +5.6 pts to 77.2%. 14 declined; Nissan fell most at −8.8 pts.</a:t>
            </a:r>
            <a:endParaRPr lang="en-US" sz="1600" dirty="0"/>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Labor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77.2%</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+5.6 pts</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20" name="Shape 18"/>
          <p:cNvSpPr/>
          <p:nvPr/>
        </p:nvSpPr>
        <p:spPr>
          <a:xfrm>
            <a:off x="4084320" y="4405579"/>
            <a:ext cx="64008" cy="682142"/>
          </a:xfrm>
          <a:prstGeom prst="rect">
            <a:avLst/>
          </a:prstGeom>
          <a:solidFill>
            <a:srgbClr val="12A566"/>
          </a:solidFill>
          <a:ln/>
        </p:spPr>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85.3%</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82.8%</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70.0%</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79.7%</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−5.3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73.8%</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72.5%</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72.6%</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+6.4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82.0%</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Shape 58"/>
          <p:cNvSpPr/>
          <p:nvPr/>
        </p:nvSpPr>
        <p:spPr>
          <a:xfrm>
            <a:off x="11466576" y="3650285"/>
            <a:ext cx="64008" cy="682142"/>
          </a:xfrm>
          <a:prstGeom prst="rect">
            <a:avLst/>
          </a:prstGeom>
          <a:solidFill>
            <a:srgbClr val="12A566"/>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87.1%</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Honda Spokane and LR Reno what changed. Ask Nissan, LR LV and Mazda what got in the way. Ask LR Henderson, Kia St George and Hyundai St George what they started this year.</a:t>
            </a:r>
            <a:endParaRPr lang="en-US" sz="1600" dirty="0"/>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36.5%</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+0.5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+1.4%</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Internal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0.5 pts to 36.5%, ahead of 2025 in eight of nine months.</a:t>
            </a:r>
            <a:endParaRPr lang="en-US" sz="1600" dirty="0"/>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vs Customer-Pay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16736"/>
            <a:ext cx="10872216" cy="384048"/>
          </a:xfrm>
          <a:prstGeom prst="rect">
            <a:avLst/>
          </a:prstGeom>
          <a:solidFill>
            <a:srgbClr val="EDF4FA"/>
          </a:solidFill>
          <a:ln/>
        </p:spPr>
      </p:sp>
      <p:sp>
        <p:nvSpPr>
          <p:cNvPr id="7" name="Shape 5"/>
          <p:cNvSpPr/>
          <p:nvPr/>
        </p:nvSpPr>
        <p:spPr>
          <a:xfrm>
            <a:off x="658368" y="1316736"/>
            <a:ext cx="54864" cy="384048"/>
          </a:xfrm>
          <a:prstGeom prst="rect">
            <a:avLst/>
          </a:prstGeom>
          <a:solidFill>
            <a:srgbClr val="0B2C4A"/>
          </a:solidFill>
          <a:ln/>
        </p:spPr>
      </p:sp>
      <p:sp>
        <p:nvSpPr>
          <p:cNvPr id="8" name="Text 6"/>
          <p:cNvSpPr txBox="1"/>
          <p:nvPr/>
        </p:nvSpPr>
        <p:spPr>
          <a:xfrm>
            <a:off x="841248" y="1316736"/>
            <a:ext cx="1060704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pPr indent="0" marL="0">
              <a:buNone/>
            </a:pPr>
            <a:r>
              <a:rPr lang="en-US" sz="1500" dirty="0">
                <a:solidFill>
                  <a:srgbClr val="1A1A1A"/>
                </a:solidFill>
                <a:latin typeface="Inter" pitchFamily="34" charset="0"/>
                <a:ea typeface="Inter" pitchFamily="34" charset="-122"/>
                <a:cs typeface="Inter" pitchFamily="34" charset="-120"/>
              </a:rPr>
              <a:t>      CUSTOMER PAY 40.7%      INTERNAL 36.5%      GAP </a:t>
            </a:r>
            <a:pPr indent="0" marL="0">
              <a:buNone/>
            </a:pPr>
            <a:r>
              <a:rPr lang="en-US" sz="1500" b="1" dirty="0">
                <a:solidFill>
                  <a:srgbClr val="0B2C4A"/>
                </a:solidFill>
                <a:latin typeface="Inter" pitchFamily="34" charset="0"/>
                <a:ea typeface="Inter" pitchFamily="34" charset="-122"/>
                <a:cs typeface="Inter" pitchFamily="34" charset="-120"/>
              </a:rPr>
              <a:t>−4.2 pts</a:t>
            </a:r>
            <a:pPr indent="0" marL="0">
              <a:buNone/>
            </a:pPr>
            <a:r>
              <a:rPr lang="en-US" sz="1500" dirty="0">
                <a:solidFill>
                  <a:srgbClr val="595959"/>
                </a:solidFill>
                <a:latin typeface="Inter" pitchFamily="34" charset="0"/>
                <a:ea typeface="Inter" pitchFamily="34" charset="-122"/>
                <a:cs typeface="Inter" pitchFamily="34" charset="-120"/>
              </a:rPr>
              <a:t>      gap = internal minus own CP</a:t>
            </a:r>
            <a:endParaRPr lang="en-US" sz="1500" dirty="0"/>
          </a:p>
        </p:txBody>
      </p:sp>
      <p:sp>
        <p:nvSpPr>
          <p:cNvPr id="9" name="Text 7"/>
          <p:cNvSpPr txBox="1"/>
          <p:nvPr/>
        </p:nvSpPr>
        <p:spPr>
          <a:xfrm>
            <a:off x="2715768"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0" name="Text 8"/>
          <p:cNvSpPr txBox="1"/>
          <p:nvPr/>
        </p:nvSpPr>
        <p:spPr>
          <a:xfrm>
            <a:off x="3840480"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1" name="Text 9"/>
          <p:cNvSpPr txBox="1"/>
          <p:nvPr/>
        </p:nvSpPr>
        <p:spPr>
          <a:xfrm>
            <a:off x="440740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2" name="Text 10"/>
          <p:cNvSpPr txBox="1"/>
          <p:nvPr/>
        </p:nvSpPr>
        <p:spPr>
          <a:xfrm>
            <a:off x="4974336"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3" name="Shape 11"/>
          <p:cNvSpPr/>
          <p:nvPr/>
        </p:nvSpPr>
        <p:spPr>
          <a:xfrm>
            <a:off x="3249778" y="2103120"/>
            <a:ext cx="10973" cy="3822192"/>
          </a:xfrm>
          <a:prstGeom prst="rect">
            <a:avLst/>
          </a:prstGeom>
          <a:solidFill>
            <a:srgbClr val="9AA3AD"/>
          </a:solidFill>
          <a:ln/>
        </p:spPr>
      </p:sp>
      <p:sp>
        <p:nvSpPr>
          <p:cNvPr id="14" name="Shape 12"/>
          <p:cNvSpPr/>
          <p:nvPr/>
        </p:nvSpPr>
        <p:spPr>
          <a:xfrm>
            <a:off x="3125947" y="2103120"/>
            <a:ext cx="0" cy="3822192"/>
          </a:xfrm>
          <a:prstGeom prst="line">
            <a:avLst/>
          </a:prstGeom>
          <a:noFill/>
          <a:ln w="12700">
            <a:solidFill>
              <a:srgbClr val="0B2C4A"/>
            </a:solidFill>
            <a:prstDash val="dash"/>
          </a:ln>
        </p:spPr>
      </p:sp>
      <p:sp>
        <p:nvSpPr>
          <p:cNvPr id="15" name="Text 13"/>
          <p:cNvSpPr txBox="1"/>
          <p:nvPr/>
        </p:nvSpPr>
        <p:spPr>
          <a:xfrm>
            <a:off x="8266176" y="1773936"/>
            <a:ext cx="1078992" cy="274320"/>
          </a:xfrm>
          <a:prstGeom prst="rect">
            <a:avLst/>
          </a:prstGeom>
          <a:noFill/>
          <a:ln/>
        </p:spPr>
        <p:txBody>
          <a:bodyPr wrap="square" lIns="0" tIns="0" rIns="0" bIns="0" rtlCol="0" anchor="ctr"/>
          <a:lstStyle/>
          <a:p>
            <a:pPr algn="ctr" indent="0" marL="0">
              <a:buNone/>
            </a:pPr>
            <a:endParaRPr lang="en-US" sz="1400" dirty="0"/>
          </a:p>
        </p:txBody>
      </p:sp>
      <p:sp>
        <p:nvSpPr>
          <p:cNvPr id="16" name="Text 14"/>
          <p:cNvSpPr txBox="1"/>
          <p:nvPr/>
        </p:nvSpPr>
        <p:spPr>
          <a:xfrm>
            <a:off x="9390888"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CP</a:t>
            </a:r>
            <a:endParaRPr lang="en-US" sz="1400" dirty="0"/>
          </a:p>
        </p:txBody>
      </p:sp>
      <p:sp>
        <p:nvSpPr>
          <p:cNvPr id="17" name="Text 15"/>
          <p:cNvSpPr txBox="1"/>
          <p:nvPr/>
        </p:nvSpPr>
        <p:spPr>
          <a:xfrm>
            <a:off x="9957816" y="1773936"/>
            <a:ext cx="566928"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INT</a:t>
            </a:r>
            <a:endParaRPr lang="en-US" sz="1400" dirty="0"/>
          </a:p>
        </p:txBody>
      </p:sp>
      <p:sp>
        <p:nvSpPr>
          <p:cNvPr id="18" name="Text 16"/>
          <p:cNvSpPr txBox="1"/>
          <p:nvPr/>
        </p:nvSpPr>
        <p:spPr>
          <a:xfrm>
            <a:off x="10524744" y="1773936"/>
            <a:ext cx="859536"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GAP</a:t>
            </a:r>
            <a:endParaRPr lang="en-US" sz="1400" dirty="0"/>
          </a:p>
        </p:txBody>
      </p:sp>
      <p:sp>
        <p:nvSpPr>
          <p:cNvPr id="19" name="Shape 17"/>
          <p:cNvSpPr/>
          <p:nvPr/>
        </p:nvSpPr>
        <p:spPr>
          <a:xfrm>
            <a:off x="8800186" y="2103120"/>
            <a:ext cx="10973" cy="3597357"/>
          </a:xfrm>
          <a:prstGeom prst="rect">
            <a:avLst/>
          </a:prstGeom>
          <a:solidFill>
            <a:srgbClr val="9AA3AD"/>
          </a:solidFill>
          <a:ln/>
        </p:spPr>
      </p:sp>
      <p:sp>
        <p:nvSpPr>
          <p:cNvPr id="20" name="Shape 18"/>
          <p:cNvSpPr/>
          <p:nvPr/>
        </p:nvSpPr>
        <p:spPr>
          <a:xfrm>
            <a:off x="8676355" y="2103120"/>
            <a:ext cx="0" cy="3597357"/>
          </a:xfrm>
          <a:prstGeom prst="line">
            <a:avLst/>
          </a:prstGeom>
          <a:noFill/>
          <a:ln w="12700">
            <a:solidFill>
              <a:srgbClr val="0B2C4A"/>
            </a:solidFill>
            <a:prstDash val="dash"/>
          </a:ln>
        </p:spPr>
      </p:sp>
      <p:sp>
        <p:nvSpPr>
          <p:cNvPr id="21" name="Text 19"/>
          <p:cNvSpPr txBox="1"/>
          <p:nvPr/>
        </p:nvSpPr>
        <p:spPr>
          <a:xfrm>
            <a:off x="658368"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22" name="Shape 20"/>
          <p:cNvSpPr/>
          <p:nvPr/>
        </p:nvSpPr>
        <p:spPr>
          <a:xfrm>
            <a:off x="3255264" y="2153708"/>
            <a:ext cx="150363" cy="123659"/>
          </a:xfrm>
          <a:prstGeom prst="rect">
            <a:avLst/>
          </a:prstGeom>
          <a:solidFill>
            <a:srgbClr val="12A566"/>
          </a:solidFill>
          <a:ln/>
        </p:spPr>
      </p:sp>
      <p:sp>
        <p:nvSpPr>
          <p:cNvPr id="23" name="Text 21"/>
          <p:cNvSpPr txBox="1"/>
          <p:nvPr/>
        </p:nvSpPr>
        <p:spPr>
          <a:xfrm>
            <a:off x="3840480"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24" name="Text 22"/>
          <p:cNvSpPr txBox="1"/>
          <p:nvPr/>
        </p:nvSpPr>
        <p:spPr>
          <a:xfrm>
            <a:off x="4407408"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45.1%</a:t>
            </a:r>
            <a:endParaRPr lang="en-US" sz="1300" dirty="0"/>
          </a:p>
        </p:txBody>
      </p:sp>
      <p:sp>
        <p:nvSpPr>
          <p:cNvPr id="25" name="Text 23"/>
          <p:cNvSpPr txBox="1"/>
          <p:nvPr/>
        </p:nvSpPr>
        <p:spPr>
          <a:xfrm>
            <a:off x="4974336" y="210312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+4.9 pts</a:t>
            </a:r>
            <a:endParaRPr lang="en-US" sz="1300" dirty="0"/>
          </a:p>
        </p:txBody>
      </p:sp>
      <p:sp>
        <p:nvSpPr>
          <p:cNvPr id="26" name="Shape 24"/>
          <p:cNvSpPr/>
          <p:nvPr/>
        </p:nvSpPr>
        <p:spPr>
          <a:xfrm>
            <a:off x="585216" y="2327955"/>
            <a:ext cx="5394960" cy="224835"/>
          </a:xfrm>
          <a:prstGeom prst="rect">
            <a:avLst/>
          </a:prstGeom>
          <a:solidFill>
            <a:srgbClr val="F7F7F7"/>
          </a:solidFill>
          <a:ln/>
        </p:spPr>
      </p:sp>
      <p:sp>
        <p:nvSpPr>
          <p:cNvPr id="27" name="Text 25"/>
          <p:cNvSpPr txBox="1"/>
          <p:nvPr/>
        </p:nvSpPr>
        <p:spPr>
          <a:xfrm>
            <a:off x="658368"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28" name="Shape 26"/>
          <p:cNvSpPr/>
          <p:nvPr/>
        </p:nvSpPr>
        <p:spPr>
          <a:xfrm>
            <a:off x="3255264" y="2378543"/>
            <a:ext cx="70154" cy="123659"/>
          </a:xfrm>
          <a:prstGeom prst="rect">
            <a:avLst/>
          </a:prstGeom>
          <a:solidFill>
            <a:srgbClr val="12A566"/>
          </a:solidFill>
          <a:ln/>
        </p:spPr>
      </p:sp>
      <p:sp>
        <p:nvSpPr>
          <p:cNvPr id="29" name="Text 27"/>
          <p:cNvSpPr txBox="1"/>
          <p:nvPr/>
        </p:nvSpPr>
        <p:spPr>
          <a:xfrm>
            <a:off x="3840480"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34.8%</a:t>
            </a:r>
            <a:endParaRPr lang="en-US" sz="1300" dirty="0"/>
          </a:p>
        </p:txBody>
      </p:sp>
      <p:sp>
        <p:nvSpPr>
          <p:cNvPr id="30" name="Text 28"/>
          <p:cNvSpPr txBox="1"/>
          <p:nvPr/>
        </p:nvSpPr>
        <p:spPr>
          <a:xfrm>
            <a:off x="4407408"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31" name="Text 29"/>
          <p:cNvSpPr txBox="1"/>
          <p:nvPr/>
        </p:nvSpPr>
        <p:spPr>
          <a:xfrm>
            <a:off x="4974336" y="2327955"/>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+2.3 pts</a:t>
            </a:r>
            <a:endParaRPr lang="en-US" sz="1300" dirty="0"/>
          </a:p>
        </p:txBody>
      </p:sp>
      <p:sp>
        <p:nvSpPr>
          <p:cNvPr id="32" name="Text 30"/>
          <p:cNvSpPr txBox="1"/>
          <p:nvPr/>
        </p:nvSpPr>
        <p:spPr>
          <a:xfrm>
            <a:off x="658368"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33" name="Shape 31"/>
          <p:cNvSpPr/>
          <p:nvPr/>
        </p:nvSpPr>
        <p:spPr>
          <a:xfrm>
            <a:off x="3255264" y="2603377"/>
            <a:ext cx="38107" cy="123659"/>
          </a:xfrm>
          <a:prstGeom prst="rect">
            <a:avLst/>
          </a:prstGeom>
          <a:solidFill>
            <a:srgbClr val="12A566"/>
          </a:solidFill>
          <a:ln/>
        </p:spPr>
      </p:sp>
      <p:sp>
        <p:nvSpPr>
          <p:cNvPr id="34" name="Text 32"/>
          <p:cNvSpPr txBox="1"/>
          <p:nvPr/>
        </p:nvSpPr>
        <p:spPr>
          <a:xfrm>
            <a:off x="3840480"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42.1%</a:t>
            </a:r>
            <a:endParaRPr lang="en-US" sz="1300" dirty="0"/>
          </a:p>
        </p:txBody>
      </p:sp>
      <p:sp>
        <p:nvSpPr>
          <p:cNvPr id="35" name="Text 33"/>
          <p:cNvSpPr txBox="1"/>
          <p:nvPr/>
        </p:nvSpPr>
        <p:spPr>
          <a:xfrm>
            <a:off x="4407408"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43.3%</a:t>
            </a:r>
            <a:endParaRPr lang="en-US" sz="1300" dirty="0"/>
          </a:p>
        </p:txBody>
      </p:sp>
      <p:sp>
        <p:nvSpPr>
          <p:cNvPr id="36" name="Text 34"/>
          <p:cNvSpPr txBox="1"/>
          <p:nvPr/>
        </p:nvSpPr>
        <p:spPr>
          <a:xfrm>
            <a:off x="4974336" y="2552790"/>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+1.2 pts</a:t>
            </a:r>
            <a:endParaRPr lang="en-US" sz="1300" dirty="0"/>
          </a:p>
        </p:txBody>
      </p:sp>
      <p:sp>
        <p:nvSpPr>
          <p:cNvPr id="37" name="Shape 35"/>
          <p:cNvSpPr/>
          <p:nvPr/>
        </p:nvSpPr>
        <p:spPr>
          <a:xfrm>
            <a:off x="585216" y="2777624"/>
            <a:ext cx="5394960" cy="224835"/>
          </a:xfrm>
          <a:prstGeom prst="rect">
            <a:avLst/>
          </a:prstGeom>
          <a:solidFill>
            <a:srgbClr val="F7F7F7"/>
          </a:solidFill>
          <a:ln/>
        </p:spPr>
      </p:sp>
      <p:sp>
        <p:nvSpPr>
          <p:cNvPr id="38" name="Text 36"/>
          <p:cNvSpPr txBox="1"/>
          <p:nvPr/>
        </p:nvSpPr>
        <p:spPr>
          <a:xfrm>
            <a:off x="658368"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9" name="Shape 37"/>
          <p:cNvSpPr/>
          <p:nvPr/>
        </p:nvSpPr>
        <p:spPr>
          <a:xfrm>
            <a:off x="3255264" y="2828212"/>
            <a:ext cx="20517" cy="123659"/>
          </a:xfrm>
          <a:prstGeom prst="rect">
            <a:avLst/>
          </a:prstGeom>
          <a:solidFill>
            <a:srgbClr val="12A566"/>
          </a:solidFill>
          <a:ln/>
        </p:spPr>
      </p:sp>
      <p:sp>
        <p:nvSpPr>
          <p:cNvPr id="40" name="Text 38"/>
          <p:cNvSpPr txBox="1"/>
          <p:nvPr/>
        </p:nvSpPr>
        <p:spPr>
          <a:xfrm>
            <a:off x="3840480"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36.2%</a:t>
            </a:r>
            <a:endParaRPr lang="en-US" sz="1300" dirty="0"/>
          </a:p>
        </p:txBody>
      </p:sp>
      <p:sp>
        <p:nvSpPr>
          <p:cNvPr id="41" name="Text 39"/>
          <p:cNvSpPr txBox="1"/>
          <p:nvPr/>
        </p:nvSpPr>
        <p:spPr>
          <a:xfrm>
            <a:off x="4407408"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36.8%</a:t>
            </a:r>
            <a:endParaRPr lang="en-US" sz="1300" dirty="0"/>
          </a:p>
        </p:txBody>
      </p:sp>
      <p:sp>
        <p:nvSpPr>
          <p:cNvPr id="42" name="Text 40"/>
          <p:cNvSpPr txBox="1"/>
          <p:nvPr/>
        </p:nvSpPr>
        <p:spPr>
          <a:xfrm>
            <a:off x="4974336" y="2777624"/>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+0.7 pts</a:t>
            </a:r>
            <a:endParaRPr lang="en-US" sz="1300" dirty="0"/>
          </a:p>
        </p:txBody>
      </p:sp>
      <p:sp>
        <p:nvSpPr>
          <p:cNvPr id="43" name="Text 41"/>
          <p:cNvSpPr txBox="1"/>
          <p:nvPr/>
        </p:nvSpPr>
        <p:spPr>
          <a:xfrm>
            <a:off x="658368"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44" name="Shape 42"/>
          <p:cNvSpPr/>
          <p:nvPr/>
        </p:nvSpPr>
        <p:spPr>
          <a:xfrm>
            <a:off x="3255264" y="3053047"/>
            <a:ext cx="9144" cy="123659"/>
          </a:xfrm>
          <a:prstGeom prst="rect">
            <a:avLst/>
          </a:prstGeom>
          <a:solidFill>
            <a:srgbClr val="12A566"/>
          </a:solidFill>
          <a:ln/>
        </p:spPr>
      </p:sp>
      <p:sp>
        <p:nvSpPr>
          <p:cNvPr id="45" name="Text 43"/>
          <p:cNvSpPr txBox="1"/>
          <p:nvPr/>
        </p:nvSpPr>
        <p:spPr>
          <a:xfrm>
            <a:off x="3840480"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46" name="Text 44"/>
          <p:cNvSpPr txBox="1"/>
          <p:nvPr/>
        </p:nvSpPr>
        <p:spPr>
          <a:xfrm>
            <a:off x="4407408"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42.7%</a:t>
            </a:r>
            <a:endParaRPr lang="en-US" sz="1300" dirty="0"/>
          </a:p>
        </p:txBody>
      </p:sp>
      <p:sp>
        <p:nvSpPr>
          <p:cNvPr id="47" name="Text 45"/>
          <p:cNvSpPr txBox="1"/>
          <p:nvPr/>
        </p:nvSpPr>
        <p:spPr>
          <a:xfrm>
            <a:off x="4974336" y="3002459"/>
            <a:ext cx="859536" cy="224835"/>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+0.1 pts</a:t>
            </a:r>
            <a:endParaRPr lang="en-US" sz="1300" dirty="0"/>
          </a:p>
        </p:txBody>
      </p:sp>
      <p:sp>
        <p:nvSpPr>
          <p:cNvPr id="48" name="Shape 46"/>
          <p:cNvSpPr/>
          <p:nvPr/>
        </p:nvSpPr>
        <p:spPr>
          <a:xfrm>
            <a:off x="585216" y="3227294"/>
            <a:ext cx="5394960" cy="224835"/>
          </a:xfrm>
          <a:prstGeom prst="rect">
            <a:avLst/>
          </a:prstGeom>
          <a:solidFill>
            <a:srgbClr val="F7F7F7"/>
          </a:solidFill>
          <a:ln/>
        </p:spPr>
      </p:sp>
      <p:sp>
        <p:nvSpPr>
          <p:cNvPr id="49" name="Text 47"/>
          <p:cNvSpPr txBox="1"/>
          <p:nvPr/>
        </p:nvSpPr>
        <p:spPr>
          <a:xfrm>
            <a:off x="658368"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50" name="Shape 48"/>
          <p:cNvSpPr/>
          <p:nvPr/>
        </p:nvSpPr>
        <p:spPr>
          <a:xfrm>
            <a:off x="3222182" y="3277882"/>
            <a:ext cx="33082" cy="123659"/>
          </a:xfrm>
          <a:prstGeom prst="rect">
            <a:avLst/>
          </a:prstGeom>
          <a:solidFill>
            <a:srgbClr val="C2352F"/>
          </a:solidFill>
          <a:ln/>
        </p:spPr>
      </p:sp>
      <p:sp>
        <p:nvSpPr>
          <p:cNvPr id="51" name="Text 49"/>
          <p:cNvSpPr txBox="1"/>
          <p:nvPr/>
        </p:nvSpPr>
        <p:spPr>
          <a:xfrm>
            <a:off x="3840480"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37.2%</a:t>
            </a:r>
            <a:endParaRPr lang="en-US" sz="1300" dirty="0"/>
          </a:p>
        </p:txBody>
      </p:sp>
      <p:sp>
        <p:nvSpPr>
          <p:cNvPr id="52" name="Text 50"/>
          <p:cNvSpPr txBox="1"/>
          <p:nvPr/>
        </p:nvSpPr>
        <p:spPr>
          <a:xfrm>
            <a:off x="4407408"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36.1%</a:t>
            </a:r>
            <a:endParaRPr lang="en-US" sz="1300" dirty="0"/>
          </a:p>
        </p:txBody>
      </p:sp>
      <p:sp>
        <p:nvSpPr>
          <p:cNvPr id="53" name="Text 51"/>
          <p:cNvSpPr txBox="1"/>
          <p:nvPr/>
        </p:nvSpPr>
        <p:spPr>
          <a:xfrm>
            <a:off x="4974336"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 pts</a:t>
            </a:r>
            <a:endParaRPr lang="en-US" sz="1300" dirty="0"/>
          </a:p>
        </p:txBody>
      </p:sp>
      <p:sp>
        <p:nvSpPr>
          <p:cNvPr id="54" name="Text 52"/>
          <p:cNvSpPr txBox="1"/>
          <p:nvPr/>
        </p:nvSpPr>
        <p:spPr>
          <a:xfrm>
            <a:off x="658368"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3179597" y="3502717"/>
            <a:ext cx="75667" cy="123659"/>
          </a:xfrm>
          <a:prstGeom prst="rect">
            <a:avLst/>
          </a:prstGeom>
          <a:solidFill>
            <a:srgbClr val="C2352F"/>
          </a:solidFill>
          <a:ln/>
        </p:spPr>
      </p:sp>
      <p:sp>
        <p:nvSpPr>
          <p:cNvPr id="56" name="Text 54"/>
          <p:cNvSpPr txBox="1"/>
          <p:nvPr/>
        </p:nvSpPr>
        <p:spPr>
          <a:xfrm>
            <a:off x="3840480"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57" name="Text 55"/>
          <p:cNvSpPr txBox="1"/>
          <p:nvPr/>
        </p:nvSpPr>
        <p:spPr>
          <a:xfrm>
            <a:off x="4407408"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37.0%</a:t>
            </a:r>
            <a:endParaRPr lang="en-US" sz="1300" dirty="0"/>
          </a:p>
        </p:txBody>
      </p:sp>
      <p:sp>
        <p:nvSpPr>
          <p:cNvPr id="58" name="Text 56"/>
          <p:cNvSpPr txBox="1"/>
          <p:nvPr/>
        </p:nvSpPr>
        <p:spPr>
          <a:xfrm>
            <a:off x="4974336"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59" name="Shape 57"/>
          <p:cNvSpPr/>
          <p:nvPr/>
        </p:nvSpPr>
        <p:spPr>
          <a:xfrm>
            <a:off x="585216" y="3676964"/>
            <a:ext cx="5394960" cy="224835"/>
          </a:xfrm>
          <a:prstGeom prst="rect">
            <a:avLst/>
          </a:prstGeom>
          <a:solidFill>
            <a:srgbClr val="F7F7F7"/>
          </a:solidFill>
          <a:ln/>
        </p:spPr>
      </p:sp>
      <p:sp>
        <p:nvSpPr>
          <p:cNvPr id="60" name="Text 58"/>
          <p:cNvSpPr txBox="1"/>
          <p:nvPr/>
        </p:nvSpPr>
        <p:spPr>
          <a:xfrm>
            <a:off x="658368"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61" name="Shape 59"/>
          <p:cNvSpPr/>
          <p:nvPr/>
        </p:nvSpPr>
        <p:spPr>
          <a:xfrm>
            <a:off x="3178337" y="3727552"/>
            <a:ext cx="76927" cy="123659"/>
          </a:xfrm>
          <a:prstGeom prst="rect">
            <a:avLst/>
          </a:prstGeom>
          <a:solidFill>
            <a:srgbClr val="C2352F"/>
          </a:solidFill>
          <a:ln/>
        </p:spPr>
      </p:sp>
      <p:sp>
        <p:nvSpPr>
          <p:cNvPr id="62" name="Text 60"/>
          <p:cNvSpPr txBox="1"/>
          <p:nvPr/>
        </p:nvSpPr>
        <p:spPr>
          <a:xfrm>
            <a:off x="3840480"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63" name="Text 61"/>
          <p:cNvSpPr txBox="1"/>
          <p:nvPr/>
        </p:nvSpPr>
        <p:spPr>
          <a:xfrm>
            <a:off x="4407408"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64" name="Text 62"/>
          <p:cNvSpPr txBox="1"/>
          <p:nvPr/>
        </p:nvSpPr>
        <p:spPr>
          <a:xfrm>
            <a:off x="4974336"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65" name="Text 63"/>
          <p:cNvSpPr txBox="1"/>
          <p:nvPr/>
        </p:nvSpPr>
        <p:spPr>
          <a:xfrm>
            <a:off x="658368"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6" name="Shape 64"/>
          <p:cNvSpPr/>
          <p:nvPr/>
        </p:nvSpPr>
        <p:spPr>
          <a:xfrm>
            <a:off x="3177426" y="3952386"/>
            <a:ext cx="77838" cy="123659"/>
          </a:xfrm>
          <a:prstGeom prst="rect">
            <a:avLst/>
          </a:prstGeom>
          <a:solidFill>
            <a:srgbClr val="C2352F"/>
          </a:solidFill>
          <a:ln/>
        </p:spPr>
      </p:sp>
      <p:sp>
        <p:nvSpPr>
          <p:cNvPr id="67" name="Text 65"/>
          <p:cNvSpPr txBox="1"/>
          <p:nvPr/>
        </p:nvSpPr>
        <p:spPr>
          <a:xfrm>
            <a:off x="3840480"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68" name="Text 66"/>
          <p:cNvSpPr txBox="1"/>
          <p:nvPr/>
        </p:nvSpPr>
        <p:spPr>
          <a:xfrm>
            <a:off x="4407408"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40.9%</a:t>
            </a:r>
            <a:endParaRPr lang="en-US" sz="1300" dirty="0"/>
          </a:p>
        </p:txBody>
      </p:sp>
      <p:sp>
        <p:nvSpPr>
          <p:cNvPr id="69" name="Text 67"/>
          <p:cNvSpPr txBox="1"/>
          <p:nvPr/>
        </p:nvSpPr>
        <p:spPr>
          <a:xfrm>
            <a:off x="4974336"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 pts</a:t>
            </a:r>
            <a:endParaRPr lang="en-US" sz="1300" dirty="0"/>
          </a:p>
        </p:txBody>
      </p:sp>
      <p:sp>
        <p:nvSpPr>
          <p:cNvPr id="70" name="Shape 68"/>
          <p:cNvSpPr/>
          <p:nvPr/>
        </p:nvSpPr>
        <p:spPr>
          <a:xfrm>
            <a:off x="585216" y="4126633"/>
            <a:ext cx="5394960" cy="224835"/>
          </a:xfrm>
          <a:prstGeom prst="rect">
            <a:avLst/>
          </a:prstGeom>
          <a:solidFill>
            <a:srgbClr val="F7F7F7"/>
          </a:solidFill>
          <a:ln/>
        </p:spPr>
      </p:sp>
      <p:sp>
        <p:nvSpPr>
          <p:cNvPr id="71" name="Text 69"/>
          <p:cNvSpPr txBox="1"/>
          <p:nvPr/>
        </p:nvSpPr>
        <p:spPr>
          <a:xfrm>
            <a:off x="658368"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2" name="Shape 70"/>
          <p:cNvSpPr/>
          <p:nvPr/>
        </p:nvSpPr>
        <p:spPr>
          <a:xfrm>
            <a:off x="3137487" y="4177221"/>
            <a:ext cx="117777" cy="123659"/>
          </a:xfrm>
          <a:prstGeom prst="rect">
            <a:avLst/>
          </a:prstGeom>
          <a:solidFill>
            <a:srgbClr val="C2352F"/>
          </a:solidFill>
          <a:ln/>
        </p:spPr>
      </p:sp>
      <p:sp>
        <p:nvSpPr>
          <p:cNvPr id="73" name="Text 71"/>
          <p:cNvSpPr txBox="1"/>
          <p:nvPr/>
        </p:nvSpPr>
        <p:spPr>
          <a:xfrm>
            <a:off x="3840480"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40.3%</a:t>
            </a:r>
            <a:endParaRPr lang="en-US" sz="1300" dirty="0"/>
          </a:p>
        </p:txBody>
      </p:sp>
      <p:sp>
        <p:nvSpPr>
          <p:cNvPr id="74" name="Text 72"/>
          <p:cNvSpPr txBox="1"/>
          <p:nvPr/>
        </p:nvSpPr>
        <p:spPr>
          <a:xfrm>
            <a:off x="4407408"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36.5%</a:t>
            </a:r>
            <a:endParaRPr lang="en-US" sz="1300" dirty="0"/>
          </a:p>
        </p:txBody>
      </p:sp>
      <p:sp>
        <p:nvSpPr>
          <p:cNvPr id="75" name="Text 73"/>
          <p:cNvSpPr txBox="1"/>
          <p:nvPr/>
        </p:nvSpPr>
        <p:spPr>
          <a:xfrm>
            <a:off x="4974336"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−3.8 pts</a:t>
            </a:r>
            <a:endParaRPr lang="en-US" sz="1300" dirty="0"/>
          </a:p>
        </p:txBody>
      </p:sp>
      <p:sp>
        <p:nvSpPr>
          <p:cNvPr id="76" name="Text 74"/>
          <p:cNvSpPr txBox="1"/>
          <p:nvPr/>
        </p:nvSpPr>
        <p:spPr>
          <a:xfrm>
            <a:off x="658368"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7" name="Shape 75"/>
          <p:cNvSpPr/>
          <p:nvPr/>
        </p:nvSpPr>
        <p:spPr>
          <a:xfrm>
            <a:off x="3136637" y="4402056"/>
            <a:ext cx="118627" cy="123659"/>
          </a:xfrm>
          <a:prstGeom prst="rect">
            <a:avLst/>
          </a:prstGeom>
          <a:solidFill>
            <a:srgbClr val="C2352F"/>
          </a:solidFill>
          <a:ln/>
        </p:spPr>
      </p:sp>
      <p:sp>
        <p:nvSpPr>
          <p:cNvPr id="78" name="Text 76"/>
          <p:cNvSpPr txBox="1"/>
          <p:nvPr/>
        </p:nvSpPr>
        <p:spPr>
          <a:xfrm>
            <a:off x="3840480"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40.2%</a:t>
            </a:r>
            <a:endParaRPr lang="en-US" sz="1300" dirty="0"/>
          </a:p>
        </p:txBody>
      </p:sp>
      <p:sp>
        <p:nvSpPr>
          <p:cNvPr id="79" name="Text 77"/>
          <p:cNvSpPr txBox="1"/>
          <p:nvPr/>
        </p:nvSpPr>
        <p:spPr>
          <a:xfrm>
            <a:off x="4407408"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36.3%</a:t>
            </a:r>
            <a:endParaRPr lang="en-US" sz="1300" dirty="0"/>
          </a:p>
        </p:txBody>
      </p:sp>
      <p:sp>
        <p:nvSpPr>
          <p:cNvPr id="80" name="Text 78"/>
          <p:cNvSpPr txBox="1"/>
          <p:nvPr/>
        </p:nvSpPr>
        <p:spPr>
          <a:xfrm>
            <a:off x="4974336"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 pts</a:t>
            </a:r>
            <a:endParaRPr lang="en-US" sz="1300" dirty="0"/>
          </a:p>
        </p:txBody>
      </p:sp>
      <p:sp>
        <p:nvSpPr>
          <p:cNvPr id="81" name="Shape 79"/>
          <p:cNvSpPr/>
          <p:nvPr/>
        </p:nvSpPr>
        <p:spPr>
          <a:xfrm>
            <a:off x="585216" y="4576303"/>
            <a:ext cx="5394960" cy="224835"/>
          </a:xfrm>
          <a:prstGeom prst="rect">
            <a:avLst/>
          </a:prstGeom>
          <a:solidFill>
            <a:srgbClr val="F7F7F7"/>
          </a:solidFill>
          <a:ln/>
        </p:spPr>
      </p:sp>
      <p:sp>
        <p:nvSpPr>
          <p:cNvPr id="82" name="Text 80"/>
          <p:cNvSpPr txBox="1"/>
          <p:nvPr/>
        </p:nvSpPr>
        <p:spPr>
          <a:xfrm>
            <a:off x="658368"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83" name="Shape 81"/>
          <p:cNvSpPr/>
          <p:nvPr/>
        </p:nvSpPr>
        <p:spPr>
          <a:xfrm>
            <a:off x="3096612" y="4626891"/>
            <a:ext cx="158652" cy="123659"/>
          </a:xfrm>
          <a:prstGeom prst="rect">
            <a:avLst/>
          </a:prstGeom>
          <a:solidFill>
            <a:srgbClr val="C2352F"/>
          </a:solidFill>
          <a:ln/>
        </p:spPr>
      </p:sp>
      <p:sp>
        <p:nvSpPr>
          <p:cNvPr id="84" name="Text 82"/>
          <p:cNvSpPr txBox="1"/>
          <p:nvPr/>
        </p:nvSpPr>
        <p:spPr>
          <a:xfrm>
            <a:off x="3840480"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85" name="Text 83"/>
          <p:cNvSpPr txBox="1"/>
          <p:nvPr/>
        </p:nvSpPr>
        <p:spPr>
          <a:xfrm>
            <a:off x="4407408"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36.7%</a:t>
            </a:r>
            <a:endParaRPr lang="en-US" sz="1300" dirty="0"/>
          </a:p>
        </p:txBody>
      </p:sp>
      <p:sp>
        <p:nvSpPr>
          <p:cNvPr id="86" name="Text 84"/>
          <p:cNvSpPr txBox="1"/>
          <p:nvPr/>
        </p:nvSpPr>
        <p:spPr>
          <a:xfrm>
            <a:off x="4974336"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 pts</a:t>
            </a:r>
            <a:endParaRPr lang="en-US" sz="1300" dirty="0"/>
          </a:p>
        </p:txBody>
      </p:sp>
      <p:sp>
        <p:nvSpPr>
          <p:cNvPr id="87" name="Text 85"/>
          <p:cNvSpPr txBox="1"/>
          <p:nvPr/>
        </p:nvSpPr>
        <p:spPr>
          <a:xfrm>
            <a:off x="658368"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88" name="Shape 86"/>
          <p:cNvSpPr/>
          <p:nvPr/>
        </p:nvSpPr>
        <p:spPr>
          <a:xfrm>
            <a:off x="3081235" y="4851726"/>
            <a:ext cx="174029" cy="123659"/>
          </a:xfrm>
          <a:prstGeom prst="rect">
            <a:avLst/>
          </a:prstGeom>
          <a:solidFill>
            <a:srgbClr val="C2352F"/>
          </a:solidFill>
          <a:ln/>
        </p:spPr>
      </p:sp>
      <p:sp>
        <p:nvSpPr>
          <p:cNvPr id="89" name="Text 87"/>
          <p:cNvSpPr txBox="1"/>
          <p:nvPr/>
        </p:nvSpPr>
        <p:spPr>
          <a:xfrm>
            <a:off x="3840480"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37.0%</a:t>
            </a:r>
            <a:endParaRPr lang="en-US" sz="1300" dirty="0"/>
          </a:p>
        </p:txBody>
      </p:sp>
      <p:sp>
        <p:nvSpPr>
          <p:cNvPr id="90" name="Text 88"/>
          <p:cNvSpPr txBox="1"/>
          <p:nvPr/>
        </p:nvSpPr>
        <p:spPr>
          <a:xfrm>
            <a:off x="4407408"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31.3%</a:t>
            </a:r>
            <a:endParaRPr lang="en-US" sz="1300" dirty="0"/>
          </a:p>
        </p:txBody>
      </p:sp>
      <p:sp>
        <p:nvSpPr>
          <p:cNvPr id="91" name="Text 89"/>
          <p:cNvSpPr txBox="1"/>
          <p:nvPr/>
        </p:nvSpPr>
        <p:spPr>
          <a:xfrm>
            <a:off x="4974336"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−5.7 pts</a:t>
            </a:r>
            <a:endParaRPr lang="en-US" sz="1300" dirty="0"/>
          </a:p>
        </p:txBody>
      </p:sp>
      <p:sp>
        <p:nvSpPr>
          <p:cNvPr id="92" name="Shape 90"/>
          <p:cNvSpPr/>
          <p:nvPr/>
        </p:nvSpPr>
        <p:spPr>
          <a:xfrm>
            <a:off x="585216" y="5025973"/>
            <a:ext cx="5394960" cy="224835"/>
          </a:xfrm>
          <a:prstGeom prst="rect">
            <a:avLst/>
          </a:prstGeom>
          <a:solidFill>
            <a:srgbClr val="F7F7F7"/>
          </a:solidFill>
          <a:ln/>
        </p:spPr>
      </p:sp>
      <p:sp>
        <p:nvSpPr>
          <p:cNvPr id="93" name="Text 91"/>
          <p:cNvSpPr txBox="1"/>
          <p:nvPr/>
        </p:nvSpPr>
        <p:spPr>
          <a:xfrm>
            <a:off x="658368"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4" name="Shape 92"/>
          <p:cNvSpPr/>
          <p:nvPr/>
        </p:nvSpPr>
        <p:spPr>
          <a:xfrm>
            <a:off x="3077450" y="5076561"/>
            <a:ext cx="177814" cy="123659"/>
          </a:xfrm>
          <a:prstGeom prst="rect">
            <a:avLst/>
          </a:prstGeom>
          <a:solidFill>
            <a:srgbClr val="C2352F"/>
          </a:solidFill>
          <a:ln/>
        </p:spPr>
      </p:sp>
      <p:sp>
        <p:nvSpPr>
          <p:cNvPr id="95" name="Text 93"/>
          <p:cNvSpPr txBox="1"/>
          <p:nvPr/>
        </p:nvSpPr>
        <p:spPr>
          <a:xfrm>
            <a:off x="3840480"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42.7%</a:t>
            </a:r>
            <a:endParaRPr lang="en-US" sz="1300" dirty="0"/>
          </a:p>
        </p:txBody>
      </p:sp>
      <p:sp>
        <p:nvSpPr>
          <p:cNvPr id="96" name="Text 94"/>
          <p:cNvSpPr txBox="1"/>
          <p:nvPr/>
        </p:nvSpPr>
        <p:spPr>
          <a:xfrm>
            <a:off x="4407408"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36.9%</a:t>
            </a:r>
            <a:endParaRPr lang="en-US" sz="1300" dirty="0"/>
          </a:p>
        </p:txBody>
      </p:sp>
      <p:sp>
        <p:nvSpPr>
          <p:cNvPr id="97" name="Text 95"/>
          <p:cNvSpPr txBox="1"/>
          <p:nvPr/>
        </p:nvSpPr>
        <p:spPr>
          <a:xfrm>
            <a:off x="4974336"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 pts</a:t>
            </a:r>
            <a:endParaRPr lang="en-US" sz="1300" dirty="0"/>
          </a:p>
        </p:txBody>
      </p:sp>
      <p:sp>
        <p:nvSpPr>
          <p:cNvPr id="98" name="Text 96"/>
          <p:cNvSpPr txBox="1"/>
          <p:nvPr/>
        </p:nvSpPr>
        <p:spPr>
          <a:xfrm>
            <a:off x="658368"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99" name="Shape 97"/>
          <p:cNvSpPr/>
          <p:nvPr/>
        </p:nvSpPr>
        <p:spPr>
          <a:xfrm>
            <a:off x="3070973" y="5301395"/>
            <a:ext cx="184291" cy="123659"/>
          </a:xfrm>
          <a:prstGeom prst="rect">
            <a:avLst/>
          </a:prstGeom>
          <a:solidFill>
            <a:srgbClr val="C2352F"/>
          </a:solidFill>
          <a:ln/>
        </p:spPr>
      </p:sp>
      <p:sp>
        <p:nvSpPr>
          <p:cNvPr id="100" name="Text 98"/>
          <p:cNvSpPr txBox="1"/>
          <p:nvPr/>
        </p:nvSpPr>
        <p:spPr>
          <a:xfrm>
            <a:off x="3840480"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39.4%</a:t>
            </a:r>
            <a:endParaRPr lang="en-US" sz="1300" dirty="0"/>
          </a:p>
        </p:txBody>
      </p:sp>
      <p:sp>
        <p:nvSpPr>
          <p:cNvPr id="101" name="Text 99"/>
          <p:cNvSpPr txBox="1"/>
          <p:nvPr/>
        </p:nvSpPr>
        <p:spPr>
          <a:xfrm>
            <a:off x="4407408"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33.4%</a:t>
            </a:r>
            <a:endParaRPr lang="en-US" sz="1300" dirty="0"/>
          </a:p>
        </p:txBody>
      </p:sp>
      <p:sp>
        <p:nvSpPr>
          <p:cNvPr id="102" name="Text 100"/>
          <p:cNvSpPr txBox="1"/>
          <p:nvPr/>
        </p:nvSpPr>
        <p:spPr>
          <a:xfrm>
            <a:off x="4974336"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−6.0 pts</a:t>
            </a:r>
            <a:endParaRPr lang="en-US" sz="1300" dirty="0"/>
          </a:p>
        </p:txBody>
      </p:sp>
      <p:sp>
        <p:nvSpPr>
          <p:cNvPr id="103" name="Shape 101"/>
          <p:cNvSpPr/>
          <p:nvPr/>
        </p:nvSpPr>
        <p:spPr>
          <a:xfrm>
            <a:off x="585216" y="5475642"/>
            <a:ext cx="5394960" cy="224835"/>
          </a:xfrm>
          <a:prstGeom prst="rect">
            <a:avLst/>
          </a:prstGeom>
          <a:solidFill>
            <a:srgbClr val="F7F7F7"/>
          </a:solidFill>
          <a:ln/>
        </p:spPr>
      </p:sp>
      <p:sp>
        <p:nvSpPr>
          <p:cNvPr id="104" name="Text 102"/>
          <p:cNvSpPr txBox="1"/>
          <p:nvPr/>
        </p:nvSpPr>
        <p:spPr>
          <a:xfrm>
            <a:off x="658368"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5" name="Shape 103"/>
          <p:cNvSpPr/>
          <p:nvPr/>
        </p:nvSpPr>
        <p:spPr>
          <a:xfrm>
            <a:off x="3060053" y="5526230"/>
            <a:ext cx="195211" cy="123659"/>
          </a:xfrm>
          <a:prstGeom prst="rect">
            <a:avLst/>
          </a:prstGeom>
          <a:solidFill>
            <a:srgbClr val="C2352F"/>
          </a:solidFill>
          <a:ln/>
        </p:spPr>
      </p:sp>
      <p:sp>
        <p:nvSpPr>
          <p:cNvPr id="106" name="Text 104"/>
          <p:cNvSpPr txBox="1"/>
          <p:nvPr/>
        </p:nvSpPr>
        <p:spPr>
          <a:xfrm>
            <a:off x="3840480"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07" name="Text 105"/>
          <p:cNvSpPr txBox="1"/>
          <p:nvPr/>
        </p:nvSpPr>
        <p:spPr>
          <a:xfrm>
            <a:off x="4407408"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30.5%</a:t>
            </a:r>
            <a:endParaRPr lang="en-US" sz="1300" dirty="0"/>
          </a:p>
        </p:txBody>
      </p:sp>
      <p:sp>
        <p:nvSpPr>
          <p:cNvPr id="108" name="Text 106"/>
          <p:cNvSpPr txBox="1"/>
          <p:nvPr/>
        </p:nvSpPr>
        <p:spPr>
          <a:xfrm>
            <a:off x="4974336"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−6.4 pts</a:t>
            </a:r>
            <a:endParaRPr lang="en-US" sz="1300" dirty="0"/>
          </a:p>
        </p:txBody>
      </p:sp>
      <p:sp>
        <p:nvSpPr>
          <p:cNvPr id="109" name="Text 107"/>
          <p:cNvSpPr txBox="1"/>
          <p:nvPr/>
        </p:nvSpPr>
        <p:spPr>
          <a:xfrm>
            <a:off x="658368" y="5700477"/>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0" name="Shape 108"/>
          <p:cNvSpPr/>
          <p:nvPr/>
        </p:nvSpPr>
        <p:spPr>
          <a:xfrm>
            <a:off x="3033339" y="5751065"/>
            <a:ext cx="221925" cy="123659"/>
          </a:xfrm>
          <a:prstGeom prst="rect">
            <a:avLst/>
          </a:prstGeom>
          <a:solidFill>
            <a:srgbClr val="C2352F"/>
          </a:solidFill>
          <a:ln/>
        </p:spPr>
      </p:sp>
      <p:sp>
        <p:nvSpPr>
          <p:cNvPr id="111" name="Text 109"/>
          <p:cNvSpPr txBox="1"/>
          <p:nvPr/>
        </p:nvSpPr>
        <p:spPr>
          <a:xfrm>
            <a:off x="3840480" y="5700477"/>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47.0%</a:t>
            </a:r>
            <a:endParaRPr lang="en-US" sz="1300" dirty="0"/>
          </a:p>
        </p:txBody>
      </p:sp>
      <p:sp>
        <p:nvSpPr>
          <p:cNvPr id="112" name="Text 110"/>
          <p:cNvSpPr txBox="1"/>
          <p:nvPr/>
        </p:nvSpPr>
        <p:spPr>
          <a:xfrm>
            <a:off x="4407408" y="5700477"/>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39.7%</a:t>
            </a:r>
            <a:endParaRPr lang="en-US" sz="1300" dirty="0"/>
          </a:p>
        </p:txBody>
      </p:sp>
      <p:sp>
        <p:nvSpPr>
          <p:cNvPr id="113" name="Text 111"/>
          <p:cNvSpPr txBox="1"/>
          <p:nvPr/>
        </p:nvSpPr>
        <p:spPr>
          <a:xfrm>
            <a:off x="4974336" y="5700477"/>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 pts</a:t>
            </a:r>
            <a:endParaRPr lang="en-US" sz="1300" dirty="0"/>
          </a:p>
        </p:txBody>
      </p:sp>
      <p:sp>
        <p:nvSpPr>
          <p:cNvPr id="114" name="Text 112"/>
          <p:cNvSpPr txBox="1"/>
          <p:nvPr/>
        </p:nvSpPr>
        <p:spPr>
          <a:xfrm>
            <a:off x="6208776" y="210312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5" name="Shape 113"/>
          <p:cNvSpPr/>
          <p:nvPr/>
        </p:nvSpPr>
        <p:spPr>
          <a:xfrm>
            <a:off x="8575710" y="2153708"/>
            <a:ext cx="229962" cy="123659"/>
          </a:xfrm>
          <a:prstGeom prst="rect">
            <a:avLst/>
          </a:prstGeom>
          <a:solidFill>
            <a:srgbClr val="C2352F"/>
          </a:solidFill>
          <a:ln/>
        </p:spPr>
      </p:sp>
      <p:sp>
        <p:nvSpPr>
          <p:cNvPr id="116" name="Text 114"/>
          <p:cNvSpPr txBox="1"/>
          <p:nvPr/>
        </p:nvSpPr>
        <p:spPr>
          <a:xfrm>
            <a:off x="9390888" y="210312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33.6%</a:t>
            </a:r>
            <a:endParaRPr lang="en-US" sz="1300" dirty="0"/>
          </a:p>
        </p:txBody>
      </p:sp>
      <p:sp>
        <p:nvSpPr>
          <p:cNvPr id="117" name="Text 115"/>
          <p:cNvSpPr txBox="1"/>
          <p:nvPr/>
        </p:nvSpPr>
        <p:spPr>
          <a:xfrm>
            <a:off x="9957816" y="210312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26.2%</a:t>
            </a:r>
            <a:endParaRPr lang="en-US" sz="1300" dirty="0"/>
          </a:p>
        </p:txBody>
      </p:sp>
      <p:sp>
        <p:nvSpPr>
          <p:cNvPr id="118" name="Text 116"/>
          <p:cNvSpPr txBox="1"/>
          <p:nvPr/>
        </p:nvSpPr>
        <p:spPr>
          <a:xfrm>
            <a:off x="10524744" y="210312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−7.5 pts</a:t>
            </a:r>
            <a:endParaRPr lang="en-US" sz="1300" dirty="0"/>
          </a:p>
        </p:txBody>
      </p:sp>
      <p:sp>
        <p:nvSpPr>
          <p:cNvPr id="119" name="Shape 117"/>
          <p:cNvSpPr/>
          <p:nvPr/>
        </p:nvSpPr>
        <p:spPr>
          <a:xfrm>
            <a:off x="6135624" y="2327955"/>
            <a:ext cx="5394960" cy="224835"/>
          </a:xfrm>
          <a:prstGeom prst="rect">
            <a:avLst/>
          </a:prstGeom>
          <a:solidFill>
            <a:srgbClr val="F7F7F7"/>
          </a:solidFill>
          <a:ln/>
        </p:spPr>
      </p:sp>
      <p:sp>
        <p:nvSpPr>
          <p:cNvPr id="120" name="Text 118"/>
          <p:cNvSpPr txBox="1"/>
          <p:nvPr/>
        </p:nvSpPr>
        <p:spPr>
          <a:xfrm>
            <a:off x="6208776" y="2327955"/>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21" name="Shape 119"/>
          <p:cNvSpPr/>
          <p:nvPr/>
        </p:nvSpPr>
        <p:spPr>
          <a:xfrm>
            <a:off x="8565630" y="2378543"/>
            <a:ext cx="240042" cy="123659"/>
          </a:xfrm>
          <a:prstGeom prst="rect">
            <a:avLst/>
          </a:prstGeom>
          <a:solidFill>
            <a:srgbClr val="C2352F"/>
          </a:solidFill>
          <a:ln/>
        </p:spPr>
      </p:sp>
      <p:sp>
        <p:nvSpPr>
          <p:cNvPr id="122" name="Text 120"/>
          <p:cNvSpPr txBox="1"/>
          <p:nvPr/>
        </p:nvSpPr>
        <p:spPr>
          <a:xfrm>
            <a:off x="9390888" y="2327955"/>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44.5%</a:t>
            </a:r>
            <a:endParaRPr lang="en-US" sz="1300" dirty="0"/>
          </a:p>
        </p:txBody>
      </p:sp>
      <p:sp>
        <p:nvSpPr>
          <p:cNvPr id="123" name="Text 121"/>
          <p:cNvSpPr txBox="1"/>
          <p:nvPr/>
        </p:nvSpPr>
        <p:spPr>
          <a:xfrm>
            <a:off x="9957816" y="2327955"/>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36.6%</a:t>
            </a:r>
            <a:endParaRPr lang="en-US" sz="1300" dirty="0"/>
          </a:p>
        </p:txBody>
      </p:sp>
      <p:sp>
        <p:nvSpPr>
          <p:cNvPr id="124" name="Text 122"/>
          <p:cNvSpPr txBox="1"/>
          <p:nvPr/>
        </p:nvSpPr>
        <p:spPr>
          <a:xfrm>
            <a:off x="10524744" y="2327955"/>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25" name="Text 123"/>
          <p:cNvSpPr txBox="1"/>
          <p:nvPr/>
        </p:nvSpPr>
        <p:spPr>
          <a:xfrm>
            <a:off x="6208776" y="2552790"/>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6" name="Shape 124"/>
          <p:cNvSpPr/>
          <p:nvPr/>
        </p:nvSpPr>
        <p:spPr>
          <a:xfrm>
            <a:off x="8564916" y="2603377"/>
            <a:ext cx="240756" cy="123659"/>
          </a:xfrm>
          <a:prstGeom prst="rect">
            <a:avLst/>
          </a:prstGeom>
          <a:solidFill>
            <a:srgbClr val="C2352F"/>
          </a:solidFill>
          <a:ln/>
        </p:spPr>
      </p:sp>
      <p:sp>
        <p:nvSpPr>
          <p:cNvPr id="127" name="Text 125"/>
          <p:cNvSpPr txBox="1"/>
          <p:nvPr/>
        </p:nvSpPr>
        <p:spPr>
          <a:xfrm>
            <a:off x="9390888" y="2552790"/>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49.0%</a:t>
            </a:r>
            <a:endParaRPr lang="en-US" sz="1300" dirty="0"/>
          </a:p>
        </p:txBody>
      </p:sp>
      <p:sp>
        <p:nvSpPr>
          <p:cNvPr id="128" name="Text 126"/>
          <p:cNvSpPr txBox="1"/>
          <p:nvPr/>
        </p:nvSpPr>
        <p:spPr>
          <a:xfrm>
            <a:off x="9957816" y="2552790"/>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41.2%</a:t>
            </a:r>
            <a:endParaRPr lang="en-US" sz="1300" dirty="0"/>
          </a:p>
        </p:txBody>
      </p:sp>
      <p:sp>
        <p:nvSpPr>
          <p:cNvPr id="129" name="Text 127"/>
          <p:cNvSpPr txBox="1"/>
          <p:nvPr/>
        </p:nvSpPr>
        <p:spPr>
          <a:xfrm>
            <a:off x="10524744" y="2552790"/>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−7.8 pts</a:t>
            </a:r>
            <a:endParaRPr lang="en-US" sz="1300" dirty="0"/>
          </a:p>
        </p:txBody>
      </p:sp>
      <p:sp>
        <p:nvSpPr>
          <p:cNvPr id="130" name="Shape 128"/>
          <p:cNvSpPr/>
          <p:nvPr/>
        </p:nvSpPr>
        <p:spPr>
          <a:xfrm>
            <a:off x="6135624" y="2777624"/>
            <a:ext cx="5394960" cy="224835"/>
          </a:xfrm>
          <a:prstGeom prst="rect">
            <a:avLst/>
          </a:prstGeom>
          <a:solidFill>
            <a:srgbClr val="F7F7F7"/>
          </a:solidFill>
          <a:ln/>
        </p:spPr>
      </p:sp>
      <p:sp>
        <p:nvSpPr>
          <p:cNvPr id="131" name="Text 129"/>
          <p:cNvSpPr txBox="1"/>
          <p:nvPr/>
        </p:nvSpPr>
        <p:spPr>
          <a:xfrm>
            <a:off x="6208776" y="277762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32" name="Shape 130"/>
          <p:cNvSpPr/>
          <p:nvPr/>
        </p:nvSpPr>
        <p:spPr>
          <a:xfrm>
            <a:off x="8545748" y="2828212"/>
            <a:ext cx="259924" cy="123659"/>
          </a:xfrm>
          <a:prstGeom prst="rect">
            <a:avLst/>
          </a:prstGeom>
          <a:solidFill>
            <a:srgbClr val="C2352F"/>
          </a:solidFill>
          <a:ln/>
        </p:spPr>
      </p:sp>
      <p:sp>
        <p:nvSpPr>
          <p:cNvPr id="133" name="Text 131"/>
          <p:cNvSpPr txBox="1"/>
          <p:nvPr/>
        </p:nvSpPr>
        <p:spPr>
          <a:xfrm>
            <a:off x="9390888" y="277762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43.6%</a:t>
            </a:r>
            <a:endParaRPr lang="en-US" sz="1300" dirty="0"/>
          </a:p>
        </p:txBody>
      </p:sp>
      <p:sp>
        <p:nvSpPr>
          <p:cNvPr id="134" name="Text 132"/>
          <p:cNvSpPr txBox="1"/>
          <p:nvPr/>
        </p:nvSpPr>
        <p:spPr>
          <a:xfrm>
            <a:off x="9957816" y="277762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35.1%</a:t>
            </a:r>
            <a:endParaRPr lang="en-US" sz="1300" dirty="0"/>
          </a:p>
        </p:txBody>
      </p:sp>
      <p:sp>
        <p:nvSpPr>
          <p:cNvPr id="135" name="Text 133"/>
          <p:cNvSpPr txBox="1"/>
          <p:nvPr/>
        </p:nvSpPr>
        <p:spPr>
          <a:xfrm>
            <a:off x="10524744" y="277762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−8.5 pts</a:t>
            </a:r>
            <a:endParaRPr lang="en-US" sz="1300" dirty="0"/>
          </a:p>
        </p:txBody>
      </p:sp>
      <p:sp>
        <p:nvSpPr>
          <p:cNvPr id="136" name="Text 134"/>
          <p:cNvSpPr txBox="1"/>
          <p:nvPr/>
        </p:nvSpPr>
        <p:spPr>
          <a:xfrm>
            <a:off x="6208776" y="300245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37" name="Shape 135"/>
          <p:cNvSpPr/>
          <p:nvPr/>
        </p:nvSpPr>
        <p:spPr>
          <a:xfrm>
            <a:off x="8541222" y="3053047"/>
            <a:ext cx="264450" cy="123659"/>
          </a:xfrm>
          <a:prstGeom prst="rect">
            <a:avLst/>
          </a:prstGeom>
          <a:solidFill>
            <a:srgbClr val="C2352F"/>
          </a:solidFill>
          <a:ln/>
        </p:spPr>
      </p:sp>
      <p:sp>
        <p:nvSpPr>
          <p:cNvPr id="138" name="Text 136"/>
          <p:cNvSpPr txBox="1"/>
          <p:nvPr/>
        </p:nvSpPr>
        <p:spPr>
          <a:xfrm>
            <a:off x="9390888" y="300245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43.1%</a:t>
            </a:r>
            <a:endParaRPr lang="en-US" sz="1300" dirty="0"/>
          </a:p>
        </p:txBody>
      </p:sp>
      <p:sp>
        <p:nvSpPr>
          <p:cNvPr id="139" name="Text 137"/>
          <p:cNvSpPr txBox="1"/>
          <p:nvPr/>
        </p:nvSpPr>
        <p:spPr>
          <a:xfrm>
            <a:off x="9957816" y="300245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34.5%</a:t>
            </a:r>
            <a:endParaRPr lang="en-US" sz="1300" dirty="0"/>
          </a:p>
        </p:txBody>
      </p:sp>
      <p:sp>
        <p:nvSpPr>
          <p:cNvPr id="140" name="Text 138"/>
          <p:cNvSpPr txBox="1"/>
          <p:nvPr/>
        </p:nvSpPr>
        <p:spPr>
          <a:xfrm>
            <a:off x="10524744" y="300245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−8.6 pts</a:t>
            </a:r>
            <a:endParaRPr lang="en-US" sz="1300" dirty="0"/>
          </a:p>
        </p:txBody>
      </p:sp>
      <p:sp>
        <p:nvSpPr>
          <p:cNvPr id="141" name="Shape 139"/>
          <p:cNvSpPr/>
          <p:nvPr/>
        </p:nvSpPr>
        <p:spPr>
          <a:xfrm>
            <a:off x="6135624" y="3227294"/>
            <a:ext cx="5394960" cy="224835"/>
          </a:xfrm>
          <a:prstGeom prst="rect">
            <a:avLst/>
          </a:prstGeom>
          <a:solidFill>
            <a:srgbClr val="F7F7F7"/>
          </a:solidFill>
          <a:ln/>
        </p:spPr>
      </p:sp>
      <p:sp>
        <p:nvSpPr>
          <p:cNvPr id="142" name="Text 140"/>
          <p:cNvSpPr txBox="1"/>
          <p:nvPr/>
        </p:nvSpPr>
        <p:spPr>
          <a:xfrm>
            <a:off x="6208776" y="322729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43" name="Shape 141"/>
          <p:cNvSpPr/>
          <p:nvPr/>
        </p:nvSpPr>
        <p:spPr>
          <a:xfrm>
            <a:off x="8534757" y="3277882"/>
            <a:ext cx="270915" cy="123659"/>
          </a:xfrm>
          <a:prstGeom prst="rect">
            <a:avLst/>
          </a:prstGeom>
          <a:solidFill>
            <a:srgbClr val="C2352F"/>
          </a:solidFill>
          <a:ln/>
        </p:spPr>
      </p:sp>
      <p:sp>
        <p:nvSpPr>
          <p:cNvPr id="144" name="Text 142"/>
          <p:cNvSpPr txBox="1"/>
          <p:nvPr/>
        </p:nvSpPr>
        <p:spPr>
          <a:xfrm>
            <a:off x="9390888" y="322729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41.7%</a:t>
            </a:r>
            <a:endParaRPr lang="en-US" sz="1300" dirty="0"/>
          </a:p>
        </p:txBody>
      </p:sp>
      <p:sp>
        <p:nvSpPr>
          <p:cNvPr id="145" name="Text 143"/>
          <p:cNvSpPr txBox="1"/>
          <p:nvPr/>
        </p:nvSpPr>
        <p:spPr>
          <a:xfrm>
            <a:off x="9957816" y="322729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32.8%</a:t>
            </a:r>
            <a:endParaRPr lang="en-US" sz="1300" dirty="0"/>
          </a:p>
        </p:txBody>
      </p:sp>
      <p:sp>
        <p:nvSpPr>
          <p:cNvPr id="146" name="Text 144"/>
          <p:cNvSpPr txBox="1"/>
          <p:nvPr/>
        </p:nvSpPr>
        <p:spPr>
          <a:xfrm>
            <a:off x="10524744" y="322729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 pts</a:t>
            </a:r>
            <a:endParaRPr lang="en-US" sz="1300" dirty="0"/>
          </a:p>
        </p:txBody>
      </p:sp>
      <p:sp>
        <p:nvSpPr>
          <p:cNvPr id="147" name="Text 145"/>
          <p:cNvSpPr txBox="1"/>
          <p:nvPr/>
        </p:nvSpPr>
        <p:spPr>
          <a:xfrm>
            <a:off x="6208776" y="345212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48" name="Shape 146"/>
          <p:cNvSpPr/>
          <p:nvPr/>
        </p:nvSpPr>
        <p:spPr>
          <a:xfrm>
            <a:off x="8499284" y="3502717"/>
            <a:ext cx="306388" cy="123659"/>
          </a:xfrm>
          <a:prstGeom prst="rect">
            <a:avLst/>
          </a:prstGeom>
          <a:solidFill>
            <a:srgbClr val="C2352F"/>
          </a:solidFill>
          <a:ln/>
        </p:spPr>
      </p:sp>
      <p:sp>
        <p:nvSpPr>
          <p:cNvPr id="149" name="Text 147"/>
          <p:cNvSpPr txBox="1"/>
          <p:nvPr/>
        </p:nvSpPr>
        <p:spPr>
          <a:xfrm>
            <a:off x="9390888" y="345212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42.5%</a:t>
            </a:r>
            <a:endParaRPr lang="en-US" sz="1300" dirty="0"/>
          </a:p>
        </p:txBody>
      </p:sp>
      <p:sp>
        <p:nvSpPr>
          <p:cNvPr id="150" name="Text 148"/>
          <p:cNvSpPr txBox="1"/>
          <p:nvPr/>
        </p:nvSpPr>
        <p:spPr>
          <a:xfrm>
            <a:off x="9957816" y="345212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32.5%</a:t>
            </a:r>
            <a:endParaRPr lang="en-US" sz="1300" dirty="0"/>
          </a:p>
        </p:txBody>
      </p:sp>
      <p:sp>
        <p:nvSpPr>
          <p:cNvPr id="151" name="Text 149"/>
          <p:cNvSpPr txBox="1"/>
          <p:nvPr/>
        </p:nvSpPr>
        <p:spPr>
          <a:xfrm>
            <a:off x="10524744" y="345212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 pts</a:t>
            </a:r>
            <a:endParaRPr lang="en-US" sz="1300" dirty="0"/>
          </a:p>
        </p:txBody>
      </p:sp>
      <p:sp>
        <p:nvSpPr>
          <p:cNvPr id="152" name="Shape 150"/>
          <p:cNvSpPr/>
          <p:nvPr/>
        </p:nvSpPr>
        <p:spPr>
          <a:xfrm>
            <a:off x="6135624" y="3676964"/>
            <a:ext cx="5394960" cy="224835"/>
          </a:xfrm>
          <a:prstGeom prst="rect">
            <a:avLst/>
          </a:prstGeom>
          <a:solidFill>
            <a:srgbClr val="F7F7F7"/>
          </a:solidFill>
          <a:ln/>
        </p:spPr>
      </p:sp>
      <p:sp>
        <p:nvSpPr>
          <p:cNvPr id="153" name="Text 151"/>
          <p:cNvSpPr txBox="1"/>
          <p:nvPr/>
        </p:nvSpPr>
        <p:spPr>
          <a:xfrm>
            <a:off x="6208776" y="3676964"/>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54" name="Shape 152"/>
          <p:cNvSpPr/>
          <p:nvPr/>
        </p:nvSpPr>
        <p:spPr>
          <a:xfrm>
            <a:off x="8496238" y="3727552"/>
            <a:ext cx="309434" cy="123659"/>
          </a:xfrm>
          <a:prstGeom prst="rect">
            <a:avLst/>
          </a:prstGeom>
          <a:solidFill>
            <a:srgbClr val="C2352F"/>
          </a:solidFill>
          <a:ln/>
        </p:spPr>
      </p:sp>
      <p:sp>
        <p:nvSpPr>
          <p:cNvPr id="155" name="Text 153"/>
          <p:cNvSpPr txBox="1"/>
          <p:nvPr/>
        </p:nvSpPr>
        <p:spPr>
          <a:xfrm>
            <a:off x="9390888" y="3676964"/>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36.9%</a:t>
            </a:r>
            <a:endParaRPr lang="en-US" sz="1300" dirty="0"/>
          </a:p>
        </p:txBody>
      </p:sp>
      <p:sp>
        <p:nvSpPr>
          <p:cNvPr id="156" name="Text 154"/>
          <p:cNvSpPr txBox="1"/>
          <p:nvPr/>
        </p:nvSpPr>
        <p:spPr>
          <a:xfrm>
            <a:off x="9957816" y="3676964"/>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26.8%</a:t>
            </a:r>
            <a:endParaRPr lang="en-US" sz="1300" dirty="0"/>
          </a:p>
        </p:txBody>
      </p:sp>
      <p:sp>
        <p:nvSpPr>
          <p:cNvPr id="157" name="Text 155"/>
          <p:cNvSpPr txBox="1"/>
          <p:nvPr/>
        </p:nvSpPr>
        <p:spPr>
          <a:xfrm>
            <a:off x="10524744" y="3676964"/>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−10.1 pts</a:t>
            </a:r>
            <a:endParaRPr lang="en-US" sz="1300" dirty="0"/>
          </a:p>
        </p:txBody>
      </p:sp>
      <p:sp>
        <p:nvSpPr>
          <p:cNvPr id="158" name="Text 156"/>
          <p:cNvSpPr txBox="1"/>
          <p:nvPr/>
        </p:nvSpPr>
        <p:spPr>
          <a:xfrm>
            <a:off x="6208776" y="3901799"/>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9" name="Shape 157"/>
          <p:cNvSpPr/>
          <p:nvPr/>
        </p:nvSpPr>
        <p:spPr>
          <a:xfrm>
            <a:off x="8493166" y="3952386"/>
            <a:ext cx="312506" cy="123659"/>
          </a:xfrm>
          <a:prstGeom prst="rect">
            <a:avLst/>
          </a:prstGeom>
          <a:solidFill>
            <a:srgbClr val="C2352F"/>
          </a:solidFill>
          <a:ln/>
        </p:spPr>
      </p:sp>
      <p:sp>
        <p:nvSpPr>
          <p:cNvPr id="160" name="Text 158"/>
          <p:cNvSpPr txBox="1"/>
          <p:nvPr/>
        </p:nvSpPr>
        <p:spPr>
          <a:xfrm>
            <a:off x="9390888" y="3901799"/>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41.9%</a:t>
            </a:r>
            <a:endParaRPr lang="en-US" sz="1300" dirty="0"/>
          </a:p>
        </p:txBody>
      </p:sp>
      <p:sp>
        <p:nvSpPr>
          <p:cNvPr id="161" name="Text 159"/>
          <p:cNvSpPr txBox="1"/>
          <p:nvPr/>
        </p:nvSpPr>
        <p:spPr>
          <a:xfrm>
            <a:off x="9957816" y="3901799"/>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31.7%</a:t>
            </a:r>
            <a:endParaRPr lang="en-US" sz="1300" dirty="0"/>
          </a:p>
        </p:txBody>
      </p:sp>
      <p:sp>
        <p:nvSpPr>
          <p:cNvPr id="162" name="Text 160"/>
          <p:cNvSpPr txBox="1"/>
          <p:nvPr/>
        </p:nvSpPr>
        <p:spPr>
          <a:xfrm>
            <a:off x="10524744" y="3901799"/>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3" name="Shape 161"/>
          <p:cNvSpPr/>
          <p:nvPr/>
        </p:nvSpPr>
        <p:spPr>
          <a:xfrm>
            <a:off x="6135624" y="4126633"/>
            <a:ext cx="5394960" cy="224835"/>
          </a:xfrm>
          <a:prstGeom prst="rect">
            <a:avLst/>
          </a:prstGeom>
          <a:solidFill>
            <a:srgbClr val="F7F7F7"/>
          </a:solidFill>
          <a:ln/>
        </p:spPr>
      </p:sp>
      <p:sp>
        <p:nvSpPr>
          <p:cNvPr id="164" name="Text 162"/>
          <p:cNvSpPr txBox="1"/>
          <p:nvPr/>
        </p:nvSpPr>
        <p:spPr>
          <a:xfrm>
            <a:off x="6208776" y="412663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65" name="Shape 163"/>
          <p:cNvSpPr/>
          <p:nvPr/>
        </p:nvSpPr>
        <p:spPr>
          <a:xfrm>
            <a:off x="8491434" y="4177221"/>
            <a:ext cx="314238" cy="123659"/>
          </a:xfrm>
          <a:prstGeom prst="rect">
            <a:avLst/>
          </a:prstGeom>
          <a:solidFill>
            <a:srgbClr val="C2352F"/>
          </a:solidFill>
          <a:ln/>
        </p:spPr>
      </p:sp>
      <p:sp>
        <p:nvSpPr>
          <p:cNvPr id="166" name="Text 164"/>
          <p:cNvSpPr txBox="1"/>
          <p:nvPr/>
        </p:nvSpPr>
        <p:spPr>
          <a:xfrm>
            <a:off x="9390888" y="412663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41.0%</a:t>
            </a:r>
            <a:endParaRPr lang="en-US" sz="1300" dirty="0"/>
          </a:p>
        </p:txBody>
      </p:sp>
      <p:sp>
        <p:nvSpPr>
          <p:cNvPr id="167" name="Text 165"/>
          <p:cNvSpPr txBox="1"/>
          <p:nvPr/>
        </p:nvSpPr>
        <p:spPr>
          <a:xfrm>
            <a:off x="9957816" y="412663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30.8%</a:t>
            </a:r>
            <a:endParaRPr lang="en-US" sz="1300" dirty="0"/>
          </a:p>
        </p:txBody>
      </p:sp>
      <p:sp>
        <p:nvSpPr>
          <p:cNvPr id="168" name="Text 166"/>
          <p:cNvSpPr txBox="1"/>
          <p:nvPr/>
        </p:nvSpPr>
        <p:spPr>
          <a:xfrm>
            <a:off x="10524744" y="412663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 pts</a:t>
            </a:r>
            <a:endParaRPr lang="en-US" sz="1300" dirty="0"/>
          </a:p>
        </p:txBody>
      </p:sp>
      <p:sp>
        <p:nvSpPr>
          <p:cNvPr id="169" name="Text 167"/>
          <p:cNvSpPr txBox="1"/>
          <p:nvPr/>
        </p:nvSpPr>
        <p:spPr>
          <a:xfrm>
            <a:off x="6208776" y="435146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0" name="Shape 168"/>
          <p:cNvSpPr/>
          <p:nvPr/>
        </p:nvSpPr>
        <p:spPr>
          <a:xfrm>
            <a:off x="8472728" y="4402056"/>
            <a:ext cx="332944" cy="123659"/>
          </a:xfrm>
          <a:prstGeom prst="rect">
            <a:avLst/>
          </a:prstGeom>
          <a:solidFill>
            <a:srgbClr val="C2352F"/>
          </a:solidFill>
          <a:ln/>
        </p:spPr>
      </p:sp>
      <p:sp>
        <p:nvSpPr>
          <p:cNvPr id="171" name="Text 169"/>
          <p:cNvSpPr txBox="1"/>
          <p:nvPr/>
        </p:nvSpPr>
        <p:spPr>
          <a:xfrm>
            <a:off x="9390888" y="435146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44.9%</a:t>
            </a:r>
            <a:endParaRPr lang="en-US" sz="1300" dirty="0"/>
          </a:p>
        </p:txBody>
      </p:sp>
      <p:sp>
        <p:nvSpPr>
          <p:cNvPr id="172" name="Text 170"/>
          <p:cNvSpPr txBox="1"/>
          <p:nvPr/>
        </p:nvSpPr>
        <p:spPr>
          <a:xfrm>
            <a:off x="9957816" y="435146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34.0%</a:t>
            </a:r>
            <a:endParaRPr lang="en-US" sz="1300" dirty="0"/>
          </a:p>
        </p:txBody>
      </p:sp>
      <p:sp>
        <p:nvSpPr>
          <p:cNvPr id="173" name="Text 171"/>
          <p:cNvSpPr txBox="1"/>
          <p:nvPr/>
        </p:nvSpPr>
        <p:spPr>
          <a:xfrm>
            <a:off x="10524744" y="435146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−10.8 pts</a:t>
            </a:r>
            <a:endParaRPr lang="en-US" sz="1300" dirty="0"/>
          </a:p>
        </p:txBody>
      </p:sp>
      <p:sp>
        <p:nvSpPr>
          <p:cNvPr id="174" name="Shape 172"/>
          <p:cNvSpPr/>
          <p:nvPr/>
        </p:nvSpPr>
        <p:spPr>
          <a:xfrm>
            <a:off x="6135624" y="4576303"/>
            <a:ext cx="5394960" cy="224835"/>
          </a:xfrm>
          <a:prstGeom prst="rect">
            <a:avLst/>
          </a:prstGeom>
          <a:solidFill>
            <a:srgbClr val="F7F7F7"/>
          </a:solidFill>
          <a:ln/>
        </p:spPr>
      </p:sp>
      <p:sp>
        <p:nvSpPr>
          <p:cNvPr id="175" name="Text 173"/>
          <p:cNvSpPr txBox="1"/>
          <p:nvPr/>
        </p:nvSpPr>
        <p:spPr>
          <a:xfrm>
            <a:off x="6208776" y="457630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76" name="Shape 174"/>
          <p:cNvSpPr/>
          <p:nvPr/>
        </p:nvSpPr>
        <p:spPr>
          <a:xfrm>
            <a:off x="8461553" y="4626891"/>
            <a:ext cx="344119" cy="123659"/>
          </a:xfrm>
          <a:prstGeom prst="rect">
            <a:avLst/>
          </a:prstGeom>
          <a:solidFill>
            <a:srgbClr val="C2352F"/>
          </a:solidFill>
          <a:ln/>
        </p:spPr>
      </p:sp>
      <p:sp>
        <p:nvSpPr>
          <p:cNvPr id="177" name="Text 175"/>
          <p:cNvSpPr txBox="1"/>
          <p:nvPr/>
        </p:nvSpPr>
        <p:spPr>
          <a:xfrm>
            <a:off x="9390888" y="457630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35.6%</a:t>
            </a:r>
            <a:endParaRPr lang="en-US" sz="1300" dirty="0"/>
          </a:p>
        </p:txBody>
      </p:sp>
      <p:sp>
        <p:nvSpPr>
          <p:cNvPr id="178" name="Text 176"/>
          <p:cNvSpPr txBox="1"/>
          <p:nvPr/>
        </p:nvSpPr>
        <p:spPr>
          <a:xfrm>
            <a:off x="9957816" y="457630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24.4%</a:t>
            </a:r>
            <a:endParaRPr lang="en-US" sz="1300" dirty="0"/>
          </a:p>
        </p:txBody>
      </p:sp>
      <p:sp>
        <p:nvSpPr>
          <p:cNvPr id="179" name="Text 177"/>
          <p:cNvSpPr txBox="1"/>
          <p:nvPr/>
        </p:nvSpPr>
        <p:spPr>
          <a:xfrm>
            <a:off x="10524744" y="457630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 pts</a:t>
            </a:r>
            <a:endParaRPr lang="en-US" sz="1300" dirty="0"/>
          </a:p>
        </p:txBody>
      </p:sp>
      <p:sp>
        <p:nvSpPr>
          <p:cNvPr id="180" name="Text 178"/>
          <p:cNvSpPr txBox="1"/>
          <p:nvPr/>
        </p:nvSpPr>
        <p:spPr>
          <a:xfrm>
            <a:off x="6208776" y="480113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1" name="Shape 179"/>
          <p:cNvSpPr/>
          <p:nvPr/>
        </p:nvSpPr>
        <p:spPr>
          <a:xfrm>
            <a:off x="8358802" y="4851726"/>
            <a:ext cx="446870" cy="123659"/>
          </a:xfrm>
          <a:prstGeom prst="rect">
            <a:avLst/>
          </a:prstGeom>
          <a:solidFill>
            <a:srgbClr val="C2352F"/>
          </a:solidFill>
          <a:ln/>
        </p:spPr>
      </p:sp>
      <p:sp>
        <p:nvSpPr>
          <p:cNvPr id="182" name="Text 180"/>
          <p:cNvSpPr txBox="1"/>
          <p:nvPr/>
        </p:nvSpPr>
        <p:spPr>
          <a:xfrm>
            <a:off x="9390888" y="480113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44.6%</a:t>
            </a:r>
            <a:endParaRPr lang="en-US" sz="1300" dirty="0"/>
          </a:p>
        </p:txBody>
      </p:sp>
      <p:sp>
        <p:nvSpPr>
          <p:cNvPr id="183" name="Text 181"/>
          <p:cNvSpPr txBox="1"/>
          <p:nvPr/>
        </p:nvSpPr>
        <p:spPr>
          <a:xfrm>
            <a:off x="9957816" y="480113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30.1%</a:t>
            </a:r>
            <a:endParaRPr lang="en-US" sz="1300" dirty="0"/>
          </a:p>
        </p:txBody>
      </p:sp>
      <p:sp>
        <p:nvSpPr>
          <p:cNvPr id="184" name="Text 182"/>
          <p:cNvSpPr txBox="1"/>
          <p:nvPr/>
        </p:nvSpPr>
        <p:spPr>
          <a:xfrm>
            <a:off x="10524744" y="480113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−14.5 pts</a:t>
            </a:r>
            <a:endParaRPr lang="en-US" sz="1300" dirty="0"/>
          </a:p>
        </p:txBody>
      </p:sp>
      <p:sp>
        <p:nvSpPr>
          <p:cNvPr id="185" name="Shape 183"/>
          <p:cNvSpPr/>
          <p:nvPr/>
        </p:nvSpPr>
        <p:spPr>
          <a:xfrm>
            <a:off x="6135624" y="5025973"/>
            <a:ext cx="5394960" cy="224835"/>
          </a:xfrm>
          <a:prstGeom prst="rect">
            <a:avLst/>
          </a:prstGeom>
          <a:solidFill>
            <a:srgbClr val="F7F7F7"/>
          </a:solidFill>
          <a:ln/>
        </p:spPr>
      </p:sp>
      <p:sp>
        <p:nvSpPr>
          <p:cNvPr id="186" name="Text 184"/>
          <p:cNvSpPr txBox="1"/>
          <p:nvPr/>
        </p:nvSpPr>
        <p:spPr>
          <a:xfrm>
            <a:off x="6208776" y="5025973"/>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7" name="Shape 185"/>
          <p:cNvSpPr/>
          <p:nvPr/>
        </p:nvSpPr>
        <p:spPr>
          <a:xfrm>
            <a:off x="8352988" y="5076561"/>
            <a:ext cx="452684" cy="123659"/>
          </a:xfrm>
          <a:prstGeom prst="rect">
            <a:avLst/>
          </a:prstGeom>
          <a:solidFill>
            <a:srgbClr val="C2352F"/>
          </a:solidFill>
          <a:ln/>
        </p:spPr>
      </p:sp>
      <p:sp>
        <p:nvSpPr>
          <p:cNvPr id="188" name="Text 186"/>
          <p:cNvSpPr txBox="1"/>
          <p:nvPr/>
        </p:nvSpPr>
        <p:spPr>
          <a:xfrm>
            <a:off x="9390888" y="5025973"/>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43.4%</a:t>
            </a:r>
            <a:endParaRPr lang="en-US" sz="1300" dirty="0"/>
          </a:p>
        </p:txBody>
      </p:sp>
      <p:sp>
        <p:nvSpPr>
          <p:cNvPr id="189" name="Text 187"/>
          <p:cNvSpPr txBox="1"/>
          <p:nvPr/>
        </p:nvSpPr>
        <p:spPr>
          <a:xfrm>
            <a:off x="9957816" y="5025973"/>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28.7%</a:t>
            </a:r>
            <a:endParaRPr lang="en-US" sz="1300" dirty="0"/>
          </a:p>
        </p:txBody>
      </p:sp>
      <p:sp>
        <p:nvSpPr>
          <p:cNvPr id="190" name="Text 188"/>
          <p:cNvSpPr txBox="1"/>
          <p:nvPr/>
        </p:nvSpPr>
        <p:spPr>
          <a:xfrm>
            <a:off x="10524744" y="5025973"/>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−14.7 pts</a:t>
            </a:r>
            <a:endParaRPr lang="en-US" sz="1300" dirty="0"/>
          </a:p>
        </p:txBody>
      </p:sp>
      <p:sp>
        <p:nvSpPr>
          <p:cNvPr id="191" name="Text 189"/>
          <p:cNvSpPr txBox="1"/>
          <p:nvPr/>
        </p:nvSpPr>
        <p:spPr>
          <a:xfrm>
            <a:off x="6208776" y="5250808"/>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92" name="Shape 190"/>
          <p:cNvSpPr/>
          <p:nvPr/>
        </p:nvSpPr>
        <p:spPr>
          <a:xfrm>
            <a:off x="8331777" y="5301395"/>
            <a:ext cx="473895" cy="123659"/>
          </a:xfrm>
          <a:prstGeom prst="rect">
            <a:avLst/>
          </a:prstGeom>
          <a:solidFill>
            <a:srgbClr val="C2352F"/>
          </a:solidFill>
          <a:ln/>
        </p:spPr>
      </p:sp>
      <p:sp>
        <p:nvSpPr>
          <p:cNvPr id="193" name="Text 191"/>
          <p:cNvSpPr txBox="1"/>
          <p:nvPr/>
        </p:nvSpPr>
        <p:spPr>
          <a:xfrm>
            <a:off x="9390888" y="5250808"/>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45.1%</a:t>
            </a:r>
            <a:endParaRPr lang="en-US" sz="1300" dirty="0"/>
          </a:p>
        </p:txBody>
      </p:sp>
      <p:sp>
        <p:nvSpPr>
          <p:cNvPr id="194" name="Text 192"/>
          <p:cNvSpPr txBox="1"/>
          <p:nvPr/>
        </p:nvSpPr>
        <p:spPr>
          <a:xfrm>
            <a:off x="9957816" y="5250808"/>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29.7%</a:t>
            </a:r>
            <a:endParaRPr lang="en-US" sz="1300" dirty="0"/>
          </a:p>
        </p:txBody>
      </p:sp>
      <p:sp>
        <p:nvSpPr>
          <p:cNvPr id="195" name="Text 193"/>
          <p:cNvSpPr txBox="1"/>
          <p:nvPr/>
        </p:nvSpPr>
        <p:spPr>
          <a:xfrm>
            <a:off x="10524744" y="5250808"/>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−15.4 pts</a:t>
            </a:r>
            <a:endParaRPr lang="en-US" sz="1300" dirty="0"/>
          </a:p>
        </p:txBody>
      </p:sp>
      <p:sp>
        <p:nvSpPr>
          <p:cNvPr id="196" name="Shape 194"/>
          <p:cNvSpPr/>
          <p:nvPr/>
        </p:nvSpPr>
        <p:spPr>
          <a:xfrm>
            <a:off x="6135624" y="5475642"/>
            <a:ext cx="5394960" cy="224835"/>
          </a:xfrm>
          <a:prstGeom prst="rect">
            <a:avLst/>
          </a:prstGeom>
          <a:solidFill>
            <a:srgbClr val="F7F7F7"/>
          </a:solidFill>
          <a:ln/>
        </p:spPr>
      </p:sp>
      <p:sp>
        <p:nvSpPr>
          <p:cNvPr id="197" name="Text 195"/>
          <p:cNvSpPr txBox="1"/>
          <p:nvPr/>
        </p:nvSpPr>
        <p:spPr>
          <a:xfrm>
            <a:off x="6208776" y="5475642"/>
            <a:ext cx="2011680" cy="224835"/>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98" name="Shape 196"/>
          <p:cNvSpPr/>
          <p:nvPr/>
        </p:nvSpPr>
        <p:spPr>
          <a:xfrm>
            <a:off x="8266176" y="5526230"/>
            <a:ext cx="539496" cy="123659"/>
          </a:xfrm>
          <a:prstGeom prst="rect">
            <a:avLst/>
          </a:prstGeom>
          <a:solidFill>
            <a:srgbClr val="C2352F"/>
          </a:solidFill>
          <a:ln/>
        </p:spPr>
      </p:sp>
      <p:sp>
        <p:nvSpPr>
          <p:cNvPr id="199" name="Text 197"/>
          <p:cNvSpPr txBox="1"/>
          <p:nvPr/>
        </p:nvSpPr>
        <p:spPr>
          <a:xfrm>
            <a:off x="9390888" y="5475642"/>
            <a:ext cx="566928" cy="224835"/>
          </a:xfrm>
          <a:prstGeom prst="rect">
            <a:avLst/>
          </a:prstGeom>
          <a:noFill/>
          <a:ln/>
        </p:spPr>
        <p:txBody>
          <a:bodyPr wrap="square" lIns="0" tIns="0" rIns="0" bIns="0" rtlCol="0" anchor="ctr"/>
          <a:lstStyle/>
          <a:p>
            <a:pPr algn="r" indent="0" marL="0">
              <a:buNone/>
            </a:pPr>
            <a:r>
              <a:rPr lang="en-US" sz="1300" dirty="0">
                <a:solidFill>
                  <a:srgbClr val="0B2C4A"/>
                </a:solidFill>
                <a:latin typeface="Inter" pitchFamily="34" charset="0"/>
                <a:ea typeface="Inter" pitchFamily="34" charset="-122"/>
                <a:cs typeface="Inter" pitchFamily="34" charset="-120"/>
              </a:rPr>
              <a:t>42.8%</a:t>
            </a:r>
            <a:endParaRPr lang="en-US" sz="1300" dirty="0"/>
          </a:p>
        </p:txBody>
      </p:sp>
      <p:sp>
        <p:nvSpPr>
          <p:cNvPr id="200" name="Text 198"/>
          <p:cNvSpPr txBox="1"/>
          <p:nvPr/>
        </p:nvSpPr>
        <p:spPr>
          <a:xfrm>
            <a:off x="9957816" y="5475642"/>
            <a:ext cx="566928" cy="224835"/>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25.2%</a:t>
            </a:r>
            <a:endParaRPr lang="en-US" sz="1300" dirty="0"/>
          </a:p>
        </p:txBody>
      </p:sp>
      <p:sp>
        <p:nvSpPr>
          <p:cNvPr id="201" name="Text 199"/>
          <p:cNvSpPr txBox="1"/>
          <p:nvPr/>
        </p:nvSpPr>
        <p:spPr>
          <a:xfrm>
            <a:off x="10524744" y="5475642"/>
            <a:ext cx="859536" cy="224835"/>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−17.6 pts</a:t>
            </a:r>
            <a:endParaRPr lang="en-US" sz="1300" dirty="0"/>
          </a:p>
        </p:txBody>
      </p:sp>
      <p:sp>
        <p:nvSpPr>
          <p:cNvPr id="202" name="Shape 200"/>
          <p:cNvSpPr/>
          <p:nvPr/>
        </p:nvSpPr>
        <p:spPr>
          <a:xfrm>
            <a:off x="457200" y="6126480"/>
            <a:ext cx="11274552" cy="615696"/>
          </a:xfrm>
          <a:prstGeom prst="rect">
            <a:avLst/>
          </a:prstGeom>
          <a:solidFill>
            <a:srgbClr val="EDF4FA"/>
          </a:solidFill>
          <a:ln/>
        </p:spPr>
      </p:sp>
      <p:sp>
        <p:nvSpPr>
          <p:cNvPr id="203" name="Text 20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28 of 33 stores collect less parts margin on internal work than on customer pay; the group is −4.2 pts. Widest: LR LV (−17.6 pts), Honda Flagstaff (−15.4 pts) and Audi Reno (−14.7 pts).</a:t>
            </a:r>
            <a:endParaRPr lang="en-US" sz="1600" dirty="0"/>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INTERNAL PARTS GROSS PROFIT %</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+0.5 pts</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 pts</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746935"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 pts</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785616" y="2391651"/>
            <a:ext cx="544841"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 pts</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5" name="Shape 23"/>
          <p:cNvSpPr/>
          <p:nvPr/>
        </p:nvSpPr>
        <p:spPr>
          <a:xfrm>
            <a:off x="3785616" y="2631546"/>
            <a:ext cx="411845"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785616" y="2871442"/>
            <a:ext cx="41006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366175"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785616" y="3351233"/>
            <a:ext cx="321691"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 pts</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1" name="Shape 39"/>
          <p:cNvSpPr/>
          <p:nvPr/>
        </p:nvSpPr>
        <p:spPr>
          <a:xfrm>
            <a:off x="3785616" y="3591128"/>
            <a:ext cx="314225"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5" name="Shape 43"/>
          <p:cNvSpPr/>
          <p:nvPr/>
        </p:nvSpPr>
        <p:spPr>
          <a:xfrm>
            <a:off x="3785616" y="3831024"/>
            <a:ext cx="301280"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 pts</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070920"/>
            <a:ext cx="260605"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 pts</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253666"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 pts</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7" name="Shape 55"/>
          <p:cNvSpPr/>
          <p:nvPr/>
        </p:nvSpPr>
        <p:spPr>
          <a:xfrm>
            <a:off x="3785616" y="4550711"/>
            <a:ext cx="211088"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1" name="Shape 59"/>
          <p:cNvSpPr/>
          <p:nvPr/>
        </p:nvSpPr>
        <p:spPr>
          <a:xfrm>
            <a:off x="3785616" y="4790606"/>
            <a:ext cx="192231"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5" name="Shape 63"/>
          <p:cNvSpPr/>
          <p:nvPr/>
        </p:nvSpPr>
        <p:spPr>
          <a:xfrm>
            <a:off x="3785616" y="5030502"/>
            <a:ext cx="190854"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9" name="Shape 67"/>
          <p:cNvSpPr/>
          <p:nvPr/>
        </p:nvSpPr>
        <p:spPr>
          <a:xfrm>
            <a:off x="3785616" y="5270397"/>
            <a:ext cx="19084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3" name="Shape 71"/>
          <p:cNvSpPr/>
          <p:nvPr/>
        </p:nvSpPr>
        <p:spPr>
          <a:xfrm>
            <a:off x="3785616" y="5510293"/>
            <a:ext cx="158978"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85616" y="5750188"/>
            <a:ext cx="145538"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1" name="Shape 79"/>
          <p:cNvSpPr/>
          <p:nvPr/>
        </p:nvSpPr>
        <p:spPr>
          <a:xfrm>
            <a:off x="9336024" y="1911860"/>
            <a:ext cx="118014"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51755"/>
            <a:ext cx="112861"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9" name="Shape 87"/>
          <p:cNvSpPr/>
          <p:nvPr/>
        </p:nvSpPr>
        <p:spPr>
          <a:xfrm>
            <a:off x="9336024" y="2391651"/>
            <a:ext cx="51131"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9336024" y="2631546"/>
            <a:ext cx="42573"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7" name="Shape 95"/>
          <p:cNvSpPr/>
          <p:nvPr/>
        </p:nvSpPr>
        <p:spPr>
          <a:xfrm>
            <a:off x="9306469" y="2871442"/>
            <a:ext cx="295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 pts</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1" name="Shape 99"/>
          <p:cNvSpPr/>
          <p:nvPr/>
        </p:nvSpPr>
        <p:spPr>
          <a:xfrm>
            <a:off x="9293325" y="3111337"/>
            <a:ext cx="42699"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214515" y="3351233"/>
            <a:ext cx="121509"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 pts</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9" name="Shape 107"/>
          <p:cNvSpPr/>
          <p:nvPr/>
        </p:nvSpPr>
        <p:spPr>
          <a:xfrm>
            <a:off x="9050201" y="3591128"/>
            <a:ext cx="285823"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−2.3 pts</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13" name="Shape 111"/>
          <p:cNvSpPr/>
          <p:nvPr/>
        </p:nvSpPr>
        <p:spPr>
          <a:xfrm>
            <a:off x="9011711" y="3831024"/>
            <a:ext cx="324313"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 pts</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7" name="Shape 115"/>
          <p:cNvSpPr/>
          <p:nvPr/>
        </p:nvSpPr>
        <p:spPr>
          <a:xfrm>
            <a:off x="8964654" y="4070920"/>
            <a:ext cx="371370"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1" name="Shape 119"/>
          <p:cNvSpPr/>
          <p:nvPr/>
        </p:nvSpPr>
        <p:spPr>
          <a:xfrm>
            <a:off x="8964060" y="4310815"/>
            <a:ext cx="371964"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8958532" y="4550711"/>
            <a:ext cx="377492"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 pts</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9" name="Shape 127"/>
          <p:cNvSpPr/>
          <p:nvPr/>
        </p:nvSpPr>
        <p:spPr>
          <a:xfrm>
            <a:off x="8881593" y="4790606"/>
            <a:ext cx="454431"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 pts</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33" name="Shape 131"/>
          <p:cNvSpPr/>
          <p:nvPr/>
        </p:nvSpPr>
        <p:spPr>
          <a:xfrm>
            <a:off x="8875241" y="5030502"/>
            <a:ext cx="46078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−3.7 pts</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7" name="Shape 135"/>
          <p:cNvSpPr/>
          <p:nvPr/>
        </p:nvSpPr>
        <p:spPr>
          <a:xfrm>
            <a:off x="8760254" y="5270397"/>
            <a:ext cx="57577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 pts</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731990" y="5510293"/>
            <a:ext cx="604034"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−4.8 pts</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21 of 33 stores raised internal parts GP%, led by Acura at +6.2 pts to 34.0%. 12 declined; VW St George fell most at −4.8 pts.</a:t>
            </a:r>
            <a:endParaRPr lang="en-US" sz="1600" dirty="0"/>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INTERNAL</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Internal Parts Gross Profit %</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34.0%</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33.4%</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 pts</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29.7%</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+4.4 pts</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26.8%</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31.7%</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−4.8 pts</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32.5%</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−4.6 pts</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25.2%</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−3.7 pts</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31.3%</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 pts</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−3.0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 pts</a:t>
            </a:r>
            <a:endParaRPr lang="en-US" sz="1600" dirty="0"/>
          </a:p>
        </p:txBody>
      </p:sp>
      <p:sp>
        <p:nvSpPr>
          <p:cNvPr id="56" name="Text 54"/>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7" name="Text 55"/>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58" name="Text 56"/>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+6.2 pts</a:t>
            </a:r>
            <a:endParaRPr lang="en-US" sz="1600" dirty="0"/>
          </a:p>
        </p:txBody>
      </p:sp>
      <p:sp>
        <p:nvSpPr>
          <p:cNvPr id="59" name="Shape 57"/>
          <p:cNvSpPr/>
          <p:nvPr/>
        </p:nvSpPr>
        <p:spPr>
          <a:xfrm>
            <a:off x="8040624" y="3613709"/>
            <a:ext cx="3489960" cy="755294"/>
          </a:xfrm>
          <a:prstGeom prst="rect">
            <a:avLst/>
          </a:prstGeom>
          <a:solidFill>
            <a:srgbClr val="F7F7F7"/>
          </a:solidFill>
          <a:ln/>
        </p:spPr>
      </p:sp>
      <p:sp>
        <p:nvSpPr>
          <p:cNvPr id="60" name="Text 58"/>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1" name="Text 59"/>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35.6%</a:t>
            </a:r>
            <a:endParaRPr lang="en-US" sz="1400" dirty="0"/>
          </a:p>
        </p:txBody>
      </p:sp>
      <p:sp>
        <p:nvSpPr>
          <p:cNvPr id="62" name="Text 60"/>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 pts</a:t>
            </a:r>
            <a:endParaRPr lang="en-US" sz="1600" dirty="0"/>
          </a:p>
        </p:txBody>
      </p:sp>
      <p:sp>
        <p:nvSpPr>
          <p:cNvPr id="63" name="Shape 61"/>
          <p:cNvSpPr/>
          <p:nvPr/>
        </p:nvSpPr>
        <p:spPr>
          <a:xfrm>
            <a:off x="11466576" y="4405579"/>
            <a:ext cx="64008" cy="682142"/>
          </a:xfrm>
          <a:prstGeom prst="rect">
            <a:avLst/>
          </a:prstGeom>
          <a:solidFill>
            <a:srgbClr val="12A566"/>
          </a:solidFill>
          <a:ln/>
        </p:spPr>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34.5%</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37.9%</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71" name="Shape 69"/>
          <p:cNvSpPr/>
          <p:nvPr/>
        </p:nvSpPr>
        <p:spPr>
          <a:xfrm>
            <a:off x="457200" y="6126480"/>
            <a:ext cx="11274552" cy="615696"/>
          </a:xfrm>
          <a:prstGeom prst="rect">
            <a:avLst/>
          </a:prstGeom>
          <a:solidFill>
            <a:srgbClr val="EDF4FA"/>
          </a:solidFill>
          <a:ln/>
        </p:spPr>
      </p:sp>
      <p:sp>
        <p:nvSpPr>
          <p:cNvPr id="72" name="Text 7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Acura, Hyundai Prescott and Honda Flagstaff what changed. Ask VW St George, Kia LV and LR LV what got in the way. Ask LR Reno, CDJR Post Falls and LR Henderson what they started this year.</a:t>
            </a:r>
            <a:endParaRPr lang="en-US" sz="1600" dirty="0"/>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People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Our most valuable asset: this is what separates us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Invest in training and a defined career path. Be the best place to work.</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Grow your own: apprentice programs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does being short-handed cost? Limited scheduling, lost opportunities, missed MPIs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pay plans, job descriptions and expectations</a:t>
            </a:r>
            <a:endParaRPr lang="en-US" sz="1800" dirty="0"/>
          </a:p>
        </p:txBody>
      </p:sp>
      <p:sp>
        <p:nvSpPr>
          <p:cNvPr id="10" name="Shape 8"/>
          <p:cNvSpPr/>
          <p:nvPr/>
        </p:nvSpPr>
        <p:spPr>
          <a:xfrm>
            <a:off x="7269480" y="1920240"/>
            <a:ext cx="54864" cy="1112520"/>
          </a:xfrm>
          <a:prstGeom prst="rect">
            <a:avLst/>
          </a:prstGeom>
          <a:solidFill>
            <a:srgbClr val="2587C5"/>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2C4A"/>
                </a:solidFill>
                <a:latin typeface="Inter" pitchFamily="34" charset="0"/>
                <a:ea typeface="Inter" pitchFamily="34" charset="-122"/>
                <a:cs typeface="Inter" pitchFamily="34" charset="-120"/>
              </a:rPr>
              <a:t>−76</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ops staff, Sep to Sep, to 1,540 (−4.7%): technicians −17, advisors −7, managers −3.</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$13,617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Fixed gross per fixed employee a month, up $1,207. Gross grew 4.1% with 5.1% fewer people.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−2.3%</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&amp; W ROs year to date. Fewer people and fewer cars: the next gain has to come from car count.</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keep every seat filled with someone who adds hours. Being short-handed costs appointments, MPIs and sold hours.</a:t>
            </a:r>
            <a:endParaRPr lang="en-US" sz="1600" dirty="0"/>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Pay Plans Are Work Instructions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Clear and easily understood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Based on customer-pay performance: CP labor or gross per RO, maintenance penetration, total sales or gross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Drive the results you are looking for</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Base versus bonus: a 50/50 ratio</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Every system is perfectly designed to get the results it gets</a:t>
            </a:r>
            <a:endParaRPr lang="en-US" sz="1800" dirty="0"/>
          </a:p>
        </p:txBody>
      </p:sp>
      <p:sp>
        <p:nvSpPr>
          <p:cNvPr id="10" name="Shape 8"/>
          <p:cNvSpPr/>
          <p:nvPr/>
        </p:nvSpPr>
        <p:spPr>
          <a:xfrm>
            <a:off x="7269480" y="1920240"/>
            <a:ext cx="54864" cy="178308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$304</a:t>
            </a:r>
            <a:endParaRPr lang="en-US" sz="3000" dirty="0"/>
          </a:p>
        </p:txBody>
      </p:sp>
      <p:sp>
        <p:nvSpPr>
          <p:cNvPr id="12" name="Text 10"/>
          <p:cNvSpPr txBox="1"/>
          <p:nvPr/>
        </p:nvSpPr>
        <p:spPr>
          <a:xfrm>
            <a:off x="7452360" y="244144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CP labor per RO, the number the plans should pay on. Up $17.</a:t>
            </a:r>
            <a:endParaRPr lang="en-US" sz="1400" dirty="0"/>
          </a:p>
        </p:txBody>
      </p:sp>
      <p:sp>
        <p:nvSpPr>
          <p:cNvPr id="13" name="Shape 11"/>
          <p:cNvSpPr/>
          <p:nvPr/>
        </p:nvSpPr>
        <p:spPr>
          <a:xfrm>
            <a:off x="7269480" y="3931920"/>
            <a:ext cx="54864" cy="1783080"/>
          </a:xfrm>
          <a:prstGeom prst="rect">
            <a:avLst/>
          </a:prstGeom>
          <a:solidFill>
            <a:srgbClr val="12A566"/>
          </a:solidFill>
          <a:ln/>
        </p:spPr>
      </p:sp>
      <p:sp>
        <p:nvSpPr>
          <p:cNvPr id="14" name="Text 12"/>
          <p:cNvSpPr txBox="1"/>
          <p:nvPr/>
        </p:nvSpPr>
        <p:spPr>
          <a:xfrm>
            <a:off x="7452360" y="388620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5" name="Text 13"/>
          <p:cNvSpPr txBox="1"/>
          <p:nvPr/>
        </p:nvSpPr>
        <p:spPr>
          <a:xfrm>
            <a:off x="7452360" y="4453128"/>
            <a:ext cx="4023360" cy="128016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Jan-Sep: 20 of 33 stores at or above 85%. Flat-rate pay rewards what techs produce.</a:t>
            </a:r>
            <a:endParaRPr lang="en-US" sz="1400" dirty="0"/>
          </a:p>
        </p:txBody>
      </p:sp>
      <p:sp>
        <p:nvSpPr>
          <p:cNvPr id="16" name="Shape 14"/>
          <p:cNvSpPr/>
          <p:nvPr/>
        </p:nvSpPr>
        <p:spPr>
          <a:xfrm>
            <a:off x="457200" y="6126480"/>
            <a:ext cx="11274552" cy="371856"/>
          </a:xfrm>
          <a:prstGeom prst="rect">
            <a:avLst/>
          </a:prstGeom>
          <a:solidFill>
            <a:srgbClr val="EDF4FA"/>
          </a:solidFill>
          <a:ln/>
        </p:spPr>
      </p:sp>
      <p:sp>
        <p:nvSpPr>
          <p:cNvPr id="17" name="Text 1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check that every advisor and tech pay plan pays for the numbers on these slides.</a:t>
            </a:r>
            <a:endParaRPr lang="en-US" sz="1600" dirty="0"/>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1,541</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−83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2C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employees at month end,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DF4FA"/>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Fixed ops headcount fell 76 to 1,540 (−4.7%), Sep to Sep; CP &amp; W ROs fell 2.3% year to date.</a:t>
            </a:r>
            <a:endParaRPr lang="en-US" sz="1600" dirty="0"/>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Headcount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812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HEADCOUNT</a:t>
            </a:r>
            <a:endParaRPr lang="en-US" sz="1500" dirty="0"/>
          </a:p>
        </p:txBody>
      </p:sp>
      <p:sp>
        <p:nvSpPr>
          <p:cNvPr id="9" name="Text 7"/>
          <p:cNvSpPr txBox="1"/>
          <p:nvPr/>
        </p:nvSpPr>
        <p:spPr>
          <a:xfrm>
            <a:off x="3295650" y="1335024"/>
            <a:ext cx="47510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 2026 VS SEP 2025</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−76</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 name="Shape 11"/>
          <p:cNvSpPr/>
          <p:nvPr/>
        </p:nvSpPr>
        <p:spPr>
          <a:xfrm>
            <a:off x="3785616" y="1911860"/>
            <a:ext cx="185057" cy="110352"/>
          </a:xfrm>
          <a:prstGeom prst="rect">
            <a:avLst/>
          </a:prstGeom>
          <a:solidFill>
            <a:srgbClr val="2587C5"/>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7" name="Shape 15"/>
          <p:cNvSpPr/>
          <p:nvPr/>
        </p:nvSpPr>
        <p:spPr>
          <a:xfrm>
            <a:off x="3785616" y="2151755"/>
            <a:ext cx="148046" cy="110352"/>
          </a:xfrm>
          <a:prstGeom prst="rect">
            <a:avLst/>
          </a:prstGeom>
          <a:solidFill>
            <a:srgbClr val="2587C5"/>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1" name="Shape 19"/>
          <p:cNvSpPr/>
          <p:nvPr/>
        </p:nvSpPr>
        <p:spPr>
          <a:xfrm>
            <a:off x="3785616" y="2391651"/>
            <a:ext cx="148046" cy="110352"/>
          </a:xfrm>
          <a:prstGeom prst="rect">
            <a:avLst/>
          </a:prstGeom>
          <a:solidFill>
            <a:srgbClr val="2587C5"/>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5" name="Shape 23"/>
          <p:cNvSpPr/>
          <p:nvPr/>
        </p:nvSpPr>
        <p:spPr>
          <a:xfrm>
            <a:off x="3785616" y="2631546"/>
            <a:ext cx="111034" cy="110352"/>
          </a:xfrm>
          <a:prstGeom prst="rect">
            <a:avLst/>
          </a:prstGeom>
          <a:solidFill>
            <a:srgbClr val="2587C5"/>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9" name="Shape 27"/>
          <p:cNvSpPr/>
          <p:nvPr/>
        </p:nvSpPr>
        <p:spPr>
          <a:xfrm>
            <a:off x="3785616" y="2871442"/>
            <a:ext cx="111034" cy="110352"/>
          </a:xfrm>
          <a:prstGeom prst="rect">
            <a:avLst/>
          </a:prstGeom>
          <a:solidFill>
            <a:srgbClr val="2587C5"/>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3" name="Shape 31"/>
          <p:cNvSpPr/>
          <p:nvPr/>
        </p:nvSpPr>
        <p:spPr>
          <a:xfrm>
            <a:off x="3785616" y="3111337"/>
            <a:ext cx="74023" cy="110352"/>
          </a:xfrm>
          <a:prstGeom prst="rect">
            <a:avLst/>
          </a:prstGeom>
          <a:solidFill>
            <a:srgbClr val="2587C5"/>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785616" y="3351233"/>
            <a:ext cx="37011" cy="110352"/>
          </a:xfrm>
          <a:prstGeom prst="rect">
            <a:avLst/>
          </a:prstGeom>
          <a:solidFill>
            <a:srgbClr val="2587C5"/>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785616" y="3591128"/>
            <a:ext cx="37011" cy="110352"/>
          </a:xfrm>
          <a:prstGeom prst="rect">
            <a:avLst/>
          </a:prstGeom>
          <a:solidFill>
            <a:srgbClr val="2587C5"/>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3831024"/>
            <a:ext cx="37011" cy="110352"/>
          </a:xfrm>
          <a:prstGeom prst="rect">
            <a:avLst/>
          </a:prstGeom>
          <a:solidFill>
            <a:srgbClr val="2587C5"/>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9" name="Shape 47"/>
          <p:cNvSpPr/>
          <p:nvPr/>
        </p:nvSpPr>
        <p:spPr>
          <a:xfrm>
            <a:off x="3785616" y="4070920"/>
            <a:ext cx="37011" cy="110352"/>
          </a:xfrm>
          <a:prstGeom prst="rect">
            <a:avLst/>
          </a:prstGeom>
          <a:solidFill>
            <a:srgbClr val="2587C5"/>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3" name="Shape 51"/>
          <p:cNvSpPr/>
          <p:nvPr/>
        </p:nvSpPr>
        <p:spPr>
          <a:xfrm>
            <a:off x="3748605" y="4310815"/>
            <a:ext cx="37011" cy="110352"/>
          </a:xfrm>
          <a:prstGeom prst="rect">
            <a:avLst/>
          </a:prstGeom>
          <a:solidFill>
            <a:srgbClr val="2587C5"/>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7" name="Shape 55"/>
          <p:cNvSpPr/>
          <p:nvPr/>
        </p:nvSpPr>
        <p:spPr>
          <a:xfrm>
            <a:off x="3748605" y="4550711"/>
            <a:ext cx="37011" cy="110352"/>
          </a:xfrm>
          <a:prstGeom prst="rect">
            <a:avLst/>
          </a:prstGeom>
          <a:solidFill>
            <a:srgbClr val="2587C5"/>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48605" y="4790606"/>
            <a:ext cx="37011" cy="110352"/>
          </a:xfrm>
          <a:prstGeom prst="rect">
            <a:avLst/>
          </a:prstGeom>
          <a:solidFill>
            <a:srgbClr val="2587C5"/>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5" name="Shape 63"/>
          <p:cNvSpPr/>
          <p:nvPr/>
        </p:nvSpPr>
        <p:spPr>
          <a:xfrm>
            <a:off x="3748605" y="5030502"/>
            <a:ext cx="37011" cy="110352"/>
          </a:xfrm>
          <a:prstGeom prst="rect">
            <a:avLst/>
          </a:prstGeom>
          <a:solidFill>
            <a:srgbClr val="2587C5"/>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48605" y="5270397"/>
            <a:ext cx="37011" cy="110352"/>
          </a:xfrm>
          <a:prstGeom prst="rect">
            <a:avLst/>
          </a:prstGeom>
          <a:solidFill>
            <a:srgbClr val="2587C5"/>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3" name="Shape 71"/>
          <p:cNvSpPr/>
          <p:nvPr/>
        </p:nvSpPr>
        <p:spPr>
          <a:xfrm>
            <a:off x="3748605" y="5510293"/>
            <a:ext cx="37011" cy="110352"/>
          </a:xfrm>
          <a:prstGeom prst="rect">
            <a:avLst/>
          </a:prstGeom>
          <a:solidFill>
            <a:srgbClr val="2587C5"/>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7" name="Shape 75"/>
          <p:cNvSpPr/>
          <p:nvPr/>
        </p:nvSpPr>
        <p:spPr>
          <a:xfrm>
            <a:off x="3748605" y="5750188"/>
            <a:ext cx="37011" cy="110352"/>
          </a:xfrm>
          <a:prstGeom prst="rect">
            <a:avLst/>
          </a:prstGeom>
          <a:solidFill>
            <a:srgbClr val="2587C5"/>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9299013" y="1911860"/>
            <a:ext cx="37011" cy="110352"/>
          </a:xfrm>
          <a:prstGeom prst="rect">
            <a:avLst/>
          </a:prstGeom>
          <a:solidFill>
            <a:srgbClr val="2587C5"/>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5" name="Shape 83"/>
          <p:cNvSpPr/>
          <p:nvPr/>
        </p:nvSpPr>
        <p:spPr>
          <a:xfrm>
            <a:off x="9299013" y="2151755"/>
            <a:ext cx="37011" cy="110352"/>
          </a:xfrm>
          <a:prstGeom prst="rect">
            <a:avLst/>
          </a:prstGeom>
          <a:solidFill>
            <a:srgbClr val="2587C5"/>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89" name="Shape 87"/>
          <p:cNvSpPr/>
          <p:nvPr/>
        </p:nvSpPr>
        <p:spPr>
          <a:xfrm>
            <a:off x="9262001" y="2391651"/>
            <a:ext cx="74023" cy="110352"/>
          </a:xfrm>
          <a:prstGeom prst="rect">
            <a:avLst/>
          </a:prstGeom>
          <a:solidFill>
            <a:srgbClr val="2587C5"/>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3" name="Shape 91"/>
          <p:cNvSpPr/>
          <p:nvPr/>
        </p:nvSpPr>
        <p:spPr>
          <a:xfrm>
            <a:off x="9262001" y="2631546"/>
            <a:ext cx="74023" cy="110352"/>
          </a:xfrm>
          <a:prstGeom prst="rect">
            <a:avLst/>
          </a:prstGeom>
          <a:solidFill>
            <a:srgbClr val="2587C5"/>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97" name="Shape 95"/>
          <p:cNvSpPr/>
          <p:nvPr/>
        </p:nvSpPr>
        <p:spPr>
          <a:xfrm>
            <a:off x="9224990" y="2871442"/>
            <a:ext cx="111034" cy="110352"/>
          </a:xfrm>
          <a:prstGeom prst="rect">
            <a:avLst/>
          </a:prstGeom>
          <a:solidFill>
            <a:srgbClr val="2587C5"/>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224990" y="3111337"/>
            <a:ext cx="111034" cy="110352"/>
          </a:xfrm>
          <a:prstGeom prst="rect">
            <a:avLst/>
          </a:prstGeom>
          <a:solidFill>
            <a:srgbClr val="2587C5"/>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5" name="Shape 103"/>
          <p:cNvSpPr/>
          <p:nvPr/>
        </p:nvSpPr>
        <p:spPr>
          <a:xfrm>
            <a:off x="9224990" y="3351233"/>
            <a:ext cx="111034" cy="110352"/>
          </a:xfrm>
          <a:prstGeom prst="rect">
            <a:avLst/>
          </a:prstGeom>
          <a:solidFill>
            <a:srgbClr val="2587C5"/>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187978" y="3591128"/>
            <a:ext cx="148046" cy="110352"/>
          </a:xfrm>
          <a:prstGeom prst="rect">
            <a:avLst/>
          </a:prstGeom>
          <a:solidFill>
            <a:srgbClr val="2587C5"/>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187978" y="3831024"/>
            <a:ext cx="148046" cy="110352"/>
          </a:xfrm>
          <a:prstGeom prst="rect">
            <a:avLst/>
          </a:prstGeom>
          <a:solidFill>
            <a:srgbClr val="2587C5"/>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7" name="Shape 115"/>
          <p:cNvSpPr/>
          <p:nvPr/>
        </p:nvSpPr>
        <p:spPr>
          <a:xfrm>
            <a:off x="9113955" y="4070920"/>
            <a:ext cx="222069" cy="110352"/>
          </a:xfrm>
          <a:prstGeom prst="rect">
            <a:avLst/>
          </a:prstGeom>
          <a:solidFill>
            <a:srgbClr val="2587C5"/>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−6</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1" name="Shape 119"/>
          <p:cNvSpPr/>
          <p:nvPr/>
        </p:nvSpPr>
        <p:spPr>
          <a:xfrm>
            <a:off x="9076944" y="4310815"/>
            <a:ext cx="259080" cy="110352"/>
          </a:xfrm>
          <a:prstGeom prst="rect">
            <a:avLst/>
          </a:prstGeom>
          <a:solidFill>
            <a:srgbClr val="2587C5"/>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9039933" y="4550711"/>
            <a:ext cx="296091" cy="110352"/>
          </a:xfrm>
          <a:prstGeom prst="rect">
            <a:avLst/>
          </a:prstGeom>
          <a:solidFill>
            <a:srgbClr val="2587C5"/>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9933" y="4790606"/>
            <a:ext cx="296091" cy="110352"/>
          </a:xfrm>
          <a:prstGeom prst="rect">
            <a:avLst/>
          </a:prstGeom>
          <a:solidFill>
            <a:srgbClr val="2587C5"/>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−8</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9002921" y="5030502"/>
            <a:ext cx="333103" cy="110352"/>
          </a:xfrm>
          <a:prstGeom prst="rect">
            <a:avLst/>
          </a:prstGeom>
          <a:solidFill>
            <a:srgbClr val="2587C5"/>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−9</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37" name="Shape 135"/>
          <p:cNvSpPr/>
          <p:nvPr/>
        </p:nvSpPr>
        <p:spPr>
          <a:xfrm>
            <a:off x="8891887" y="5270397"/>
            <a:ext cx="444137" cy="110352"/>
          </a:xfrm>
          <a:prstGeom prst="rect">
            <a:avLst/>
          </a:prstGeom>
          <a:solidFill>
            <a:srgbClr val="2587C5"/>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−12</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1" name="Shape 139"/>
          <p:cNvSpPr/>
          <p:nvPr/>
        </p:nvSpPr>
        <p:spPr>
          <a:xfrm>
            <a:off x="8558784" y="5510293"/>
            <a:ext cx="777240" cy="110352"/>
          </a:xfrm>
          <a:prstGeom prst="rect">
            <a:avLst/>
          </a:prstGeom>
          <a:solidFill>
            <a:srgbClr val="2587C5"/>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1A1A1A"/>
                </a:solidFill>
                <a:latin typeface="Inter" pitchFamily="34" charset="0"/>
                <a:ea typeface="Inter" pitchFamily="34" charset="-122"/>
                <a:cs typeface="Inter" pitchFamily="34" charset="-120"/>
              </a:rPr>
              <a:t>−21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371856"/>
          </a:xfrm>
          <a:prstGeom prst="rect">
            <a:avLst/>
          </a:prstGeom>
          <a:solidFill>
            <a:srgbClr val="EDF4FA"/>
          </a:solidFill>
          <a:ln/>
        </p:spPr>
      </p:sp>
      <p:sp>
        <p:nvSpPr>
          <p:cNvPr id="147" name="Text 14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10 stores added fixed staff, led by Mazda (+5); 23 reduced, led by Chevy LV (−21).</a:t>
            </a:r>
            <a:endParaRPr lang="en-US" sz="1600" dirty="0"/>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$12,410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$13,617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+9.7%</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Gross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$1,207 to $13,617, ahead of 2025 in all nine months. Gross grew 4.1%; headcount fell 5.1%.</a:t>
            </a:r>
            <a:endParaRPr lang="en-US" sz="1600" dirty="0"/>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$13,617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$23,461</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457"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$18,549</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1" name="Shape 19"/>
          <p:cNvSpPr/>
          <p:nvPr/>
        </p:nvSpPr>
        <p:spPr>
          <a:xfrm>
            <a:off x="3008376" y="2386853"/>
            <a:ext cx="131724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$18,268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25" name="Shape 23"/>
          <p:cNvSpPr/>
          <p:nvPr/>
        </p:nvSpPr>
        <p:spPr>
          <a:xfrm>
            <a:off x="3008376" y="2626748"/>
            <a:ext cx="1308608"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$18,148</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9" name="Shape 27"/>
          <p:cNvSpPr/>
          <p:nvPr/>
        </p:nvSpPr>
        <p:spPr>
          <a:xfrm>
            <a:off x="3008376" y="2866644"/>
            <a:ext cx="1219968"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$16,919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3" name="Shape 31"/>
          <p:cNvSpPr/>
          <p:nvPr/>
        </p:nvSpPr>
        <p:spPr>
          <a:xfrm>
            <a:off x="3008376" y="3106540"/>
            <a:ext cx="1158109"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$16,061</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7" name="Shape 35"/>
          <p:cNvSpPr/>
          <p:nvPr/>
        </p:nvSpPr>
        <p:spPr>
          <a:xfrm>
            <a:off x="3008376" y="3346435"/>
            <a:ext cx="1151261"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$15,966</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41" name="Shape 39"/>
          <p:cNvSpPr/>
          <p:nvPr/>
        </p:nvSpPr>
        <p:spPr>
          <a:xfrm>
            <a:off x="3008376" y="3586331"/>
            <a:ext cx="1121653"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$15,556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008376" y="3826226"/>
            <a:ext cx="1097901"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$15,226</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9" name="Shape 47"/>
          <p:cNvSpPr/>
          <p:nvPr/>
        </p:nvSpPr>
        <p:spPr>
          <a:xfrm>
            <a:off x="3008376" y="4066122"/>
            <a:ext cx="1075517"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$14,916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3" name="Shape 51"/>
          <p:cNvSpPr/>
          <p:nvPr/>
        </p:nvSpPr>
        <p:spPr>
          <a:xfrm>
            <a:off x="3008376" y="4306017"/>
            <a:ext cx="1053034"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$14,604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57" name="Shape 55"/>
          <p:cNvSpPr/>
          <p:nvPr/>
        </p:nvSpPr>
        <p:spPr>
          <a:xfrm>
            <a:off x="3008376" y="4545913"/>
            <a:ext cx="1028227"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$14,260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61" name="Shape 59"/>
          <p:cNvSpPr/>
          <p:nvPr/>
        </p:nvSpPr>
        <p:spPr>
          <a:xfrm>
            <a:off x="3008376" y="4785808"/>
            <a:ext cx="1022027"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$14,174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025704"/>
            <a:ext cx="958239" cy="119948"/>
          </a:xfrm>
          <a:prstGeom prst="rect">
            <a:avLst/>
          </a:prstGeom>
          <a:solidFill>
            <a:srgbClr val="C2352F"/>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$13,289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008376" y="5265599"/>
            <a:ext cx="928293" cy="119948"/>
          </a:xfrm>
          <a:prstGeom prst="rect">
            <a:avLst/>
          </a:prstGeom>
          <a:solidFill>
            <a:srgbClr val="C2352F"/>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$12,874</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008376" y="5505495"/>
            <a:ext cx="928044" cy="119948"/>
          </a:xfrm>
          <a:prstGeom prst="rect">
            <a:avLst/>
          </a:prstGeom>
          <a:solidFill>
            <a:srgbClr val="C2352F"/>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$12,871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7" name="Shape 75"/>
          <p:cNvSpPr/>
          <p:nvPr/>
        </p:nvSpPr>
        <p:spPr>
          <a:xfrm>
            <a:off x="3008376" y="5745390"/>
            <a:ext cx="901400" cy="119948"/>
          </a:xfrm>
          <a:prstGeom prst="rect">
            <a:avLst/>
          </a:prstGeom>
          <a:solidFill>
            <a:srgbClr val="C2352F"/>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$12,501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1" name="Shape 79"/>
          <p:cNvSpPr/>
          <p:nvPr/>
        </p:nvSpPr>
        <p:spPr>
          <a:xfrm>
            <a:off x="8558784" y="1907062"/>
            <a:ext cx="891506" cy="119948"/>
          </a:xfrm>
          <a:prstGeom prst="rect">
            <a:avLst/>
          </a:prstGeom>
          <a:solidFill>
            <a:srgbClr val="C2352F"/>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$12,364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46957"/>
            <a:ext cx="872721" cy="119948"/>
          </a:xfrm>
          <a:prstGeom prst="rect">
            <a:avLst/>
          </a:prstGeom>
          <a:solidFill>
            <a:srgbClr val="C2352F"/>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$12,103</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8558784" y="2386853"/>
            <a:ext cx="868263" cy="119948"/>
          </a:xfrm>
          <a:prstGeom prst="rect">
            <a:avLst/>
          </a:prstGeom>
          <a:solidFill>
            <a:srgbClr val="C2352F"/>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$12,042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8558784" y="2626748"/>
            <a:ext cx="865684"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$12,006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8558784" y="2866644"/>
            <a:ext cx="862196"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$11,957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86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$11,631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5" name="Shape 103"/>
          <p:cNvSpPr/>
          <p:nvPr/>
        </p:nvSpPr>
        <p:spPr>
          <a:xfrm>
            <a:off x="8558784" y="3346435"/>
            <a:ext cx="832186"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$11,541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9" name="Shape 107"/>
          <p:cNvSpPr/>
          <p:nvPr/>
        </p:nvSpPr>
        <p:spPr>
          <a:xfrm>
            <a:off x="8558784" y="3586331"/>
            <a:ext cx="802409"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3826226"/>
            <a:ext cx="796340"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$11,044</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9051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$10,963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1" name="Shape 119"/>
          <p:cNvSpPr/>
          <p:nvPr/>
        </p:nvSpPr>
        <p:spPr>
          <a:xfrm>
            <a:off x="8558784" y="4306017"/>
            <a:ext cx="778288"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$10,794</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5" name="Shape 123"/>
          <p:cNvSpPr/>
          <p:nvPr/>
        </p:nvSpPr>
        <p:spPr>
          <a:xfrm>
            <a:off x="8558784" y="4545913"/>
            <a:ext cx="749257"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$10,391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9" name="Shape 127"/>
          <p:cNvSpPr/>
          <p:nvPr/>
        </p:nvSpPr>
        <p:spPr>
          <a:xfrm>
            <a:off x="8558784" y="4785808"/>
            <a:ext cx="717653"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$9,953</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58784" y="5025704"/>
            <a:ext cx="71224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$9,878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265599"/>
            <a:ext cx="684854"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$9,498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58784" y="5505495"/>
            <a:ext cx="659710"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$9,149</a:t>
            </a:r>
            <a:endParaRPr lang="en-US" sz="1200" dirty="0"/>
          </a:p>
        </p:txBody>
      </p:sp>
      <p:sp>
        <p:nvSpPr>
          <p:cNvPr id="143" name="Shape 141"/>
          <p:cNvSpPr/>
          <p:nvPr/>
        </p:nvSpPr>
        <p:spPr>
          <a:xfrm>
            <a:off x="3982924" y="1847088"/>
            <a:ext cx="14630" cy="4078224"/>
          </a:xfrm>
          <a:prstGeom prst="rect">
            <a:avLst/>
          </a:prstGeom>
          <a:solidFill>
            <a:srgbClr val="0B2C4A"/>
          </a:solidFill>
          <a:ln/>
        </p:spPr>
      </p:sp>
      <p:sp>
        <p:nvSpPr>
          <p:cNvPr id="144" name="Shape 142"/>
          <p:cNvSpPr/>
          <p:nvPr/>
        </p:nvSpPr>
        <p:spPr>
          <a:xfrm>
            <a:off x="9533332"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13 of 33 stores at or above the $13,617 group, led by Audi Henderson at $23,461. Honda Flagstaff is lowest at $9,149.</a:t>
            </a:r>
            <a:endParaRPr lang="en-US" sz="1600" dirty="0"/>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GROSS PER FIXED EMPLOYEE</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+$1,207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+$4,158</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548170"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+$2,933</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3785616" y="2391651"/>
            <a:ext cx="475660"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+$2,545</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25" name="Shape 23"/>
          <p:cNvSpPr/>
          <p:nvPr/>
        </p:nvSpPr>
        <p:spPr>
          <a:xfrm>
            <a:off x="3785616" y="2631546"/>
            <a:ext cx="450223"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+$2,409</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9" name="Shape 27"/>
          <p:cNvSpPr/>
          <p:nvPr/>
        </p:nvSpPr>
        <p:spPr>
          <a:xfrm>
            <a:off x="3785616" y="2871442"/>
            <a:ext cx="44088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+$2,359</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33" name="Shape 31"/>
          <p:cNvSpPr/>
          <p:nvPr/>
        </p:nvSpPr>
        <p:spPr>
          <a:xfrm>
            <a:off x="3785616" y="3111337"/>
            <a:ext cx="427536"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+$2,287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7" name="Shape 35"/>
          <p:cNvSpPr/>
          <p:nvPr/>
        </p:nvSpPr>
        <p:spPr>
          <a:xfrm>
            <a:off x="3785616" y="3351233"/>
            <a:ext cx="390960"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+$2,092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1" name="Shape 39"/>
          <p:cNvSpPr/>
          <p:nvPr/>
        </p:nvSpPr>
        <p:spPr>
          <a:xfrm>
            <a:off x="3785616" y="3591128"/>
            <a:ext cx="330873"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+$1,770</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3785616" y="3831024"/>
            <a:ext cx="31945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+$1,709</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070920"/>
            <a:ext cx="307782"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+$1,647</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310815"/>
            <a:ext cx="299645"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+$1,603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7" name="Shape 55"/>
          <p:cNvSpPr/>
          <p:nvPr/>
        </p:nvSpPr>
        <p:spPr>
          <a:xfrm>
            <a:off x="3785616" y="4550711"/>
            <a:ext cx="276949"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+$1,482</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4790606"/>
            <a:ext cx="274963"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+$1,471</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5" name="Shape 63"/>
          <p:cNvSpPr/>
          <p:nvPr/>
        </p:nvSpPr>
        <p:spPr>
          <a:xfrm>
            <a:off x="3785616" y="5030502"/>
            <a:ext cx="236325"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+$1,264</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9" name="Shape 67"/>
          <p:cNvSpPr/>
          <p:nvPr/>
        </p:nvSpPr>
        <p:spPr>
          <a:xfrm>
            <a:off x="3785616" y="5270397"/>
            <a:ext cx="22022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3" name="Shape 71"/>
          <p:cNvSpPr/>
          <p:nvPr/>
        </p:nvSpPr>
        <p:spPr>
          <a:xfrm>
            <a:off x="3785616" y="5510293"/>
            <a:ext cx="205895"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+$1,101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77" name="Shape 75"/>
          <p:cNvSpPr/>
          <p:nvPr/>
        </p:nvSpPr>
        <p:spPr>
          <a:xfrm>
            <a:off x="3785616" y="5750188"/>
            <a:ext cx="201986"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+$1,081</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9758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+$1,057</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5" name="Shape 83"/>
          <p:cNvSpPr/>
          <p:nvPr/>
        </p:nvSpPr>
        <p:spPr>
          <a:xfrm>
            <a:off x="9336024" y="2151755"/>
            <a:ext cx="184443"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+$987</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9" name="Shape 87"/>
          <p:cNvSpPr/>
          <p:nvPr/>
        </p:nvSpPr>
        <p:spPr>
          <a:xfrm>
            <a:off x="9336024" y="2391651"/>
            <a:ext cx="173399"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+$928</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3" name="Shape 91"/>
          <p:cNvSpPr/>
          <p:nvPr/>
        </p:nvSpPr>
        <p:spPr>
          <a:xfrm>
            <a:off x="9336024" y="2631546"/>
            <a:ext cx="172997"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+$925</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97" name="Shape 95"/>
          <p:cNvSpPr/>
          <p:nvPr/>
        </p:nvSpPr>
        <p:spPr>
          <a:xfrm>
            <a:off x="9336024" y="2871442"/>
            <a:ext cx="17218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1" name="Shape 99"/>
          <p:cNvSpPr/>
          <p:nvPr/>
        </p:nvSpPr>
        <p:spPr>
          <a:xfrm>
            <a:off x="9336024" y="3111337"/>
            <a:ext cx="164612" cy="110352"/>
          </a:xfrm>
          <a:prstGeom prst="rect">
            <a:avLst/>
          </a:prstGeom>
          <a:solidFill>
            <a:srgbClr val="12A566"/>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+$881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5" name="Shape 103"/>
          <p:cNvSpPr/>
          <p:nvPr/>
        </p:nvSpPr>
        <p:spPr>
          <a:xfrm>
            <a:off x="9336024" y="3351233"/>
            <a:ext cx="136163" cy="110352"/>
          </a:xfrm>
          <a:prstGeom prst="rect">
            <a:avLst/>
          </a:prstGeom>
          <a:solidFill>
            <a:srgbClr val="12A566"/>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+$728</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9336024" y="3591128"/>
            <a:ext cx="126601" cy="110352"/>
          </a:xfrm>
          <a:prstGeom prst="rect">
            <a:avLst/>
          </a:prstGeom>
          <a:solidFill>
            <a:srgbClr val="12A566"/>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+$677</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13" name="Shape 111"/>
          <p:cNvSpPr/>
          <p:nvPr/>
        </p:nvSpPr>
        <p:spPr>
          <a:xfrm>
            <a:off x="9336024" y="3831024"/>
            <a:ext cx="78291" cy="110352"/>
          </a:xfrm>
          <a:prstGeom prst="rect">
            <a:avLst/>
          </a:prstGeom>
          <a:solidFill>
            <a:srgbClr val="12A566"/>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336024" y="4070920"/>
            <a:ext cx="34218" cy="110352"/>
          </a:xfrm>
          <a:prstGeom prst="rect">
            <a:avLst/>
          </a:prstGeom>
          <a:solidFill>
            <a:srgbClr val="12A566"/>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9333892" y="4310815"/>
            <a:ext cx="1280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313319" y="4550711"/>
            <a:ext cx="2270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−$121</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9" name="Shape 127"/>
          <p:cNvSpPr/>
          <p:nvPr/>
        </p:nvSpPr>
        <p:spPr>
          <a:xfrm>
            <a:off x="9258696" y="4790606"/>
            <a:ext cx="77328"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−$414</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3" name="Shape 131"/>
          <p:cNvSpPr/>
          <p:nvPr/>
        </p:nvSpPr>
        <p:spPr>
          <a:xfrm>
            <a:off x="9241624" y="5030502"/>
            <a:ext cx="94400"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−$505</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106061" y="5270397"/>
            <a:ext cx="22996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−$1,230</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9089478" y="5510293"/>
            <a:ext cx="246546"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−$1,319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 of 33 stores raised gross per employee, led by Subaru St George at +$4,158 to $15,556. 6 declined; VW St George fell most at −$1,319.</a:t>
            </a:r>
            <a:endParaRPr lang="en-US" sz="1600" dirty="0"/>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$11,398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$15,556</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+$4,158</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$8,698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$11,631</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+$2,933</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$10,963</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+$2,545</a:t>
            </a:r>
            <a:endParaRPr lang="en-US" sz="1600" dirty="0"/>
          </a:p>
        </p:txBody>
      </p:sp>
      <p:sp>
        <p:nvSpPr>
          <p:cNvPr id="21" name="Text 19"/>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$10,881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$13,289</a:t>
            </a:r>
            <a:endParaRPr lang="en-US" sz="1400" dirty="0"/>
          </a:p>
        </p:txBody>
      </p:sp>
      <p:sp>
        <p:nvSpPr>
          <p:cNvPr id="23" name="Text 21"/>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+$2,409</a:t>
            </a:r>
            <a:endParaRPr lang="en-US" sz="1600" dirty="0"/>
          </a:p>
        </p:txBody>
      </p:sp>
      <p:sp>
        <p:nvSpPr>
          <p:cNvPr id="24" name="Shape 22"/>
          <p:cNvSpPr/>
          <p:nvPr/>
        </p:nvSpPr>
        <p:spPr>
          <a:xfrm>
            <a:off x="658368" y="5124298"/>
            <a:ext cx="3489960" cy="755294"/>
          </a:xfrm>
          <a:prstGeom prst="rect">
            <a:avLst/>
          </a:prstGeom>
          <a:solidFill>
            <a:srgbClr val="F7F7F7"/>
          </a:solidFill>
          <a:ln/>
        </p:spPr>
      </p:sp>
      <p:sp>
        <p:nvSpPr>
          <p:cNvPr id="25" name="Text 23"/>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$21,102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$23,461</a:t>
            </a:r>
            <a:endParaRPr lang="en-US" sz="1400" dirty="0"/>
          </a:p>
        </p:txBody>
      </p:sp>
      <p:sp>
        <p:nvSpPr>
          <p:cNvPr id="27" name="Text 25"/>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+$2,359</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755294"/>
          </a:xfrm>
          <a:prstGeom prst="rect">
            <a:avLst/>
          </a:prstGeom>
          <a:solidFill>
            <a:srgbClr val="F7F7F7"/>
          </a:solidFill>
          <a:ln/>
        </p:spPr>
      </p:sp>
      <p:sp>
        <p:nvSpPr>
          <p:cNvPr id="32" name="Text 30"/>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$9,878</a:t>
            </a:r>
            <a:endParaRPr lang="en-US" sz="1400" dirty="0"/>
          </a:p>
        </p:txBody>
      </p:sp>
      <p:sp>
        <p:nvSpPr>
          <p:cNvPr id="34" name="Text 32"/>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−$1,319</a:t>
            </a:r>
            <a:endParaRPr lang="en-US" sz="1600" dirty="0"/>
          </a:p>
        </p:txBody>
      </p:sp>
      <p:sp>
        <p:nvSpPr>
          <p:cNvPr id="35" name="Text 33"/>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$13,334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$12,103</a:t>
            </a:r>
            <a:endParaRPr lang="en-US" sz="1400" dirty="0"/>
          </a:p>
        </p:txBody>
      </p:sp>
      <p:sp>
        <p:nvSpPr>
          <p:cNvPr id="37" name="Text 35"/>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−$1,230</a:t>
            </a:r>
            <a:endParaRPr lang="en-US" sz="1600" dirty="0"/>
          </a:p>
        </p:txBody>
      </p:sp>
      <p:sp>
        <p:nvSpPr>
          <p:cNvPr id="38" name="Shape 36"/>
          <p:cNvSpPr/>
          <p:nvPr/>
        </p:nvSpPr>
        <p:spPr>
          <a:xfrm>
            <a:off x="4349496" y="3613709"/>
            <a:ext cx="3489960" cy="755294"/>
          </a:xfrm>
          <a:prstGeom prst="rect">
            <a:avLst/>
          </a:prstGeom>
          <a:solidFill>
            <a:srgbClr val="F7F7F7"/>
          </a:solidFill>
          <a:ln/>
        </p:spPr>
      </p:sp>
      <p:sp>
        <p:nvSpPr>
          <p:cNvPr id="39" name="Text 37"/>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$14,765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$14,260</a:t>
            </a:r>
            <a:endParaRPr lang="en-US" sz="1400" dirty="0"/>
          </a:p>
        </p:txBody>
      </p:sp>
      <p:sp>
        <p:nvSpPr>
          <p:cNvPr id="41" name="Text 39"/>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−$505</a:t>
            </a:r>
            <a:endParaRPr lang="en-US" sz="1600" dirty="0"/>
          </a:p>
        </p:txBody>
      </p:sp>
      <p:sp>
        <p:nvSpPr>
          <p:cNvPr id="42" name="Text 40"/>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$12,419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$12,006</a:t>
            </a:r>
            <a:endParaRPr lang="en-US" sz="1400" dirty="0"/>
          </a:p>
        </p:txBody>
      </p:sp>
      <p:sp>
        <p:nvSpPr>
          <p:cNvPr id="44" name="Text 42"/>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−$414</a:t>
            </a:r>
            <a:endParaRPr lang="en-US" sz="1600" dirty="0"/>
          </a:p>
        </p:txBody>
      </p:sp>
      <p:sp>
        <p:nvSpPr>
          <p:cNvPr id="45" name="Shape 43"/>
          <p:cNvSpPr/>
          <p:nvPr/>
        </p:nvSpPr>
        <p:spPr>
          <a:xfrm>
            <a:off x="4349496" y="5124298"/>
            <a:ext cx="3489960" cy="755294"/>
          </a:xfrm>
          <a:prstGeom prst="rect">
            <a:avLst/>
          </a:prstGeom>
          <a:solidFill>
            <a:srgbClr val="F7F7F7"/>
          </a:solidFill>
          <a:ln/>
        </p:spPr>
      </p:sp>
      <p:sp>
        <p:nvSpPr>
          <p:cNvPr id="46" name="Text 44"/>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$16,088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$15,966</a:t>
            </a:r>
            <a:endParaRPr lang="en-US" sz="1400" dirty="0"/>
          </a:p>
        </p:txBody>
      </p:sp>
      <p:sp>
        <p:nvSpPr>
          <p:cNvPr id="48" name="Text 46"/>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−$121</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755294"/>
          </a:xfrm>
          <a:prstGeom prst="rect">
            <a:avLst/>
          </a:prstGeom>
          <a:solidFill>
            <a:srgbClr val="F7F7F7"/>
          </a:solidFill>
          <a:ln/>
        </p:spPr>
      </p:sp>
      <p:sp>
        <p:nvSpPr>
          <p:cNvPr id="53" name="Text 51"/>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$20,761</a:t>
            </a:r>
            <a:endParaRPr lang="en-US" sz="1400" dirty="0"/>
          </a:p>
        </p:txBody>
      </p:sp>
      <p:sp>
        <p:nvSpPr>
          <p:cNvPr id="55" name="Text 53"/>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+$4,936</a:t>
            </a:r>
            <a:endParaRPr lang="en-US" sz="1600" dirty="0"/>
          </a:p>
        </p:txBody>
      </p:sp>
      <p:sp>
        <p:nvSpPr>
          <p:cNvPr id="56" name="Shape 54"/>
          <p:cNvSpPr/>
          <p:nvPr/>
        </p:nvSpPr>
        <p:spPr>
          <a:xfrm>
            <a:off x="11466576" y="2894990"/>
            <a:ext cx="64008" cy="682142"/>
          </a:xfrm>
          <a:prstGeom prst="rect">
            <a:avLst/>
          </a:prstGeom>
          <a:solidFill>
            <a:srgbClr val="12A566"/>
          </a:solidFill>
          <a:ln/>
        </p:spPr>
      </p:sp>
      <p:sp>
        <p:nvSpPr>
          <p:cNvPr id="57" name="Text 55"/>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$12,440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59" name="Text 57"/>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+$4,856</a:t>
            </a:r>
            <a:endParaRPr lang="en-US" sz="1600" dirty="0"/>
          </a:p>
        </p:txBody>
      </p:sp>
      <p:sp>
        <p:nvSpPr>
          <p:cNvPr id="60" name="Shape 58"/>
          <p:cNvSpPr/>
          <p:nvPr/>
        </p:nvSpPr>
        <p:spPr>
          <a:xfrm>
            <a:off x="8040624" y="3613709"/>
            <a:ext cx="3489960" cy="755294"/>
          </a:xfrm>
          <a:prstGeom prst="rect">
            <a:avLst/>
          </a:prstGeom>
          <a:solidFill>
            <a:srgbClr val="F7F7F7"/>
          </a:solidFill>
          <a:ln/>
        </p:spPr>
      </p:sp>
      <p:sp>
        <p:nvSpPr>
          <p:cNvPr id="61" name="Text 59"/>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$13,709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$17,296</a:t>
            </a:r>
            <a:endParaRPr lang="en-US" sz="1400" dirty="0"/>
          </a:p>
        </p:txBody>
      </p:sp>
      <p:sp>
        <p:nvSpPr>
          <p:cNvPr id="63" name="Text 61"/>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+$3,587</a:t>
            </a:r>
            <a:endParaRPr lang="en-US" sz="1600" dirty="0"/>
          </a:p>
        </p:txBody>
      </p:sp>
      <p:sp>
        <p:nvSpPr>
          <p:cNvPr id="64" name="Text 62"/>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$12,004</a:t>
            </a:r>
            <a:endParaRPr lang="en-US" sz="1400" dirty="0"/>
          </a:p>
        </p:txBody>
      </p:sp>
      <p:sp>
        <p:nvSpPr>
          <p:cNvPr id="66" name="Text 64"/>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+$3,479</a:t>
            </a:r>
            <a:endParaRPr lang="en-US" sz="1600" dirty="0"/>
          </a:p>
        </p:txBody>
      </p:sp>
      <p:sp>
        <p:nvSpPr>
          <p:cNvPr id="67" name="Shape 65"/>
          <p:cNvSpPr/>
          <p:nvPr/>
        </p:nvSpPr>
        <p:spPr>
          <a:xfrm>
            <a:off x="8040624" y="5124298"/>
            <a:ext cx="3489960" cy="755294"/>
          </a:xfrm>
          <a:prstGeom prst="rect">
            <a:avLst/>
          </a:prstGeom>
          <a:solidFill>
            <a:srgbClr val="F7F7F7"/>
          </a:solidFill>
          <a:ln/>
        </p:spPr>
      </p:sp>
      <p:sp>
        <p:nvSpPr>
          <p:cNvPr id="68" name="Text 66"/>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$16,995</a:t>
            </a:r>
            <a:endParaRPr lang="en-US" sz="1400" dirty="0"/>
          </a:p>
        </p:txBody>
      </p:sp>
      <p:sp>
        <p:nvSpPr>
          <p:cNvPr id="70" name="Text 68"/>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+$2,972</a:t>
            </a:r>
            <a:endParaRPr lang="en-US" sz="1600" dirty="0"/>
          </a:p>
        </p:txBody>
      </p:sp>
      <p:sp>
        <p:nvSpPr>
          <p:cNvPr id="71" name="Shape 69"/>
          <p:cNvSpPr/>
          <p:nvPr/>
        </p:nvSpPr>
        <p:spPr>
          <a:xfrm>
            <a:off x="457200" y="6126480"/>
            <a:ext cx="11274552" cy="585216"/>
          </a:xfrm>
          <a:prstGeom prst="rect">
            <a:avLst/>
          </a:prstGeom>
          <a:solidFill>
            <a:srgbClr val="EDF4FA"/>
          </a:solidFill>
          <a:ln/>
        </p:spPr>
      </p:sp>
      <p:sp>
        <p:nvSpPr>
          <p:cNvPr id="72" name="Text 70"/>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Subaru St George, Hyundai Prescott and Lincoln what changed. Ask VW St George, Kia St George and Cadillac what got in the way. Ask LR Henderson, Subaru St George and LR Reno what they started this year.</a:t>
            </a:r>
            <a:endParaRPr lang="en-US" sz="1500" dirty="0"/>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Technicians &amp; Stalls</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1:1 tech to stall unless you run on-demand appointments</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Tech level in line with job skill: right tech, right job</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5/6 of staff on schedule at all times, Saturdays included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90%+ MPI completion; track and report technician efficiency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Use scoreboarding and teams to show techs where they stand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Set clear objectives and give feedback: no one can be held to a goal they don't know. We're responsible for the knowing</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94.7%</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Group technician proficiency (sold hours / worked hours). 20 of 33 stores at or above 85%.</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262 of 583</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Counted technicians under 85%. Every store has at least one.</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Gross missed if each of them reached 85%: no extra hours, techs or bays.</a:t>
            </a:r>
            <a:endParaRPr lang="en-US" sz="1400" dirty="0"/>
          </a:p>
        </p:txBody>
      </p:sp>
      <p:sp>
        <p:nvSpPr>
          <p:cNvPr id="19" name="Shape 17"/>
          <p:cNvSpPr/>
          <p:nvPr/>
        </p:nvSpPr>
        <p:spPr>
          <a:xfrm>
            <a:off x="457200" y="6126480"/>
            <a:ext cx="11274552" cy="615696"/>
          </a:xfrm>
          <a:prstGeom prst="rect">
            <a:avLst/>
          </a:prstGeom>
          <a:solidFill>
            <a:srgbClr val="EDF4FA"/>
          </a:solidFill>
          <a:ln/>
        </p:spPr>
      </p:sp>
      <p:sp>
        <p:nvSpPr>
          <p:cNvPr id="20" name="Text 1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set clear goals, show every tech where they stand every week, and give feedback. The best techs in each store already prove 85% is possible.</a:t>
            </a:r>
            <a:endParaRPr lang="en-US" sz="1600" dirty="0"/>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Is Technician Proficiency?</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Proficiency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sold (flagged)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hours worked (clocked)</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many hours a technician produces for every hour they are on the clock. 85% is on target; 100% or more is above.</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A 40-HOUR WEEK</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Works 40 hours  </a:t>
            </a:r>
            <a:pPr algn="ctr" indent="0" marL="0">
              <a:buNone/>
            </a:pPr>
            <a:r>
              <a:rPr lang="en-US" sz="1400" b="1" dirty="0">
                <a:solidFill>
                  <a:srgbClr val="0B2C4A"/>
                </a:solidFill>
                <a:latin typeface="Inter" pitchFamily="34" charset="0"/>
                <a:ea typeface="Inter" pitchFamily="34" charset="-122"/>
                <a:cs typeface="Inter" pitchFamily="34" charset="-120"/>
              </a:rPr>
              <a:t>sells 34</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Proficiency  </a:t>
            </a:r>
            <a:pPr algn="ctr" indent="0" marL="0">
              <a:buNone/>
            </a:pPr>
            <a:r>
              <a:rPr lang="en-US" sz="1400" b="1" dirty="0">
                <a:solidFill>
                  <a:srgbClr val="0B2C4A"/>
                </a:solidFill>
                <a:latin typeface="Inter" pitchFamily="34" charset="0"/>
                <a:ea typeface="Inter" pitchFamily="34" charset="-122"/>
                <a:cs typeface="Inter" pitchFamily="34" charset="-120"/>
              </a:rPr>
              <a:t>85%</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Sells 40  </a:t>
            </a:r>
            <a:pPr algn="ctr" indent="0" marL="0">
              <a:buNone/>
            </a:pPr>
            <a:r>
              <a:rPr lang="en-US" sz="1400" b="1" dirty="0">
                <a:solidFill>
                  <a:srgbClr val="0B2C4A"/>
                </a:solidFill>
                <a:latin typeface="Inter" pitchFamily="34" charset="0"/>
                <a:ea typeface="Inter" pitchFamily="34" charset="-122"/>
                <a:cs typeface="Inter" pitchFamily="34" charset="-120"/>
              </a:rPr>
              <a:t>100%</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 service department is a production facility. What we produce is hours.</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Any production floor knows what it made today and what each person made. So should we.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takes someone actively managing production, every day.</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Dispatch</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 waiting at the bay; the right job to the right tech</a:t>
            </a:r>
            <a:endParaRPr lang="en-US" sz="1400" dirty="0"/>
          </a:p>
        </p:txBody>
      </p:sp>
      <p:sp>
        <p:nvSpPr>
          <p:cNvPr id="22" name="Shape 20"/>
          <p:cNvSpPr/>
          <p:nvPr/>
        </p:nvSpPr>
        <p:spPr>
          <a:xfrm>
            <a:off x="7309104" y="3410712"/>
            <a:ext cx="45720" cy="1133856"/>
          </a:xfrm>
          <a:prstGeom prst="rect">
            <a:avLst/>
          </a:prstGeom>
          <a:solidFill>
            <a:srgbClr val="2587C5"/>
          </a:solidFill>
          <a:ln/>
        </p:spPr>
      </p:sp>
      <p:sp>
        <p:nvSpPr>
          <p:cNvPr id="23" name="Text 21"/>
          <p:cNvSpPr txBox="1"/>
          <p:nvPr/>
        </p:nvSpPr>
        <p:spPr>
          <a:xfrm>
            <a:off x="7437120"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Car count</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Not enough work leaves techs waiting</a:t>
            </a:r>
            <a:endParaRPr lang="en-US" sz="1400" dirty="0"/>
          </a:p>
        </p:txBody>
      </p:sp>
      <p:sp>
        <p:nvSpPr>
          <p:cNvPr id="24" name="Shape 22"/>
          <p:cNvSpPr/>
          <p:nvPr/>
        </p:nvSpPr>
        <p:spPr>
          <a:xfrm>
            <a:off x="9479280" y="3410712"/>
            <a:ext cx="45720" cy="1133856"/>
          </a:xfrm>
          <a:prstGeom prst="rect">
            <a:avLst/>
          </a:prstGeom>
          <a:solidFill>
            <a:srgbClr val="2587C5"/>
          </a:solidFill>
          <a:ln/>
        </p:spPr>
      </p:sp>
      <p:sp>
        <p:nvSpPr>
          <p:cNvPr id="25" name="Text 23"/>
          <p:cNvSpPr txBox="1"/>
          <p:nvPr/>
        </p:nvSpPr>
        <p:spPr>
          <a:xfrm>
            <a:off x="9607296" y="3410712"/>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Parts staging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Parts at the bay before the tech needs them</a:t>
            </a:r>
            <a:endParaRPr lang="en-US" sz="1400" dirty="0"/>
          </a:p>
        </p:txBody>
      </p:sp>
      <p:sp>
        <p:nvSpPr>
          <p:cNvPr id="26" name="Shape 24"/>
          <p:cNvSpPr/>
          <p:nvPr/>
        </p:nvSpPr>
        <p:spPr>
          <a:xfrm>
            <a:off x="5138928" y="4654296"/>
            <a:ext cx="45720" cy="1133856"/>
          </a:xfrm>
          <a:prstGeom prst="rect">
            <a:avLst/>
          </a:prstGeom>
          <a:solidFill>
            <a:srgbClr val="2587C5"/>
          </a:solidFill>
          <a:ln/>
        </p:spPr>
      </p:sp>
      <p:sp>
        <p:nvSpPr>
          <p:cNvPr id="27" name="Text 25"/>
          <p:cNvSpPr txBox="1"/>
          <p:nvPr/>
        </p:nvSpPr>
        <p:spPr>
          <a:xfrm>
            <a:off x="5266944"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Approvals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Fast customer approval on the inspection</a:t>
            </a:r>
            <a:endParaRPr lang="en-US" sz="1400" dirty="0"/>
          </a:p>
        </p:txBody>
      </p:sp>
      <p:sp>
        <p:nvSpPr>
          <p:cNvPr id="28" name="Shape 26"/>
          <p:cNvSpPr/>
          <p:nvPr/>
        </p:nvSpPr>
        <p:spPr>
          <a:xfrm>
            <a:off x="7309104" y="4654296"/>
            <a:ext cx="45720" cy="1133856"/>
          </a:xfrm>
          <a:prstGeom prst="rect">
            <a:avLst/>
          </a:prstGeom>
          <a:solidFill>
            <a:srgbClr val="2587C5"/>
          </a:solidFill>
          <a:ln/>
        </p:spPr>
      </p:sp>
      <p:sp>
        <p:nvSpPr>
          <p:cNvPr id="29" name="Text 27"/>
          <p:cNvSpPr txBox="1"/>
          <p:nvPr/>
        </p:nvSpPr>
        <p:spPr>
          <a:xfrm>
            <a:off x="7437120"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Skill and training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Tech level in line with job skill</a:t>
            </a:r>
            <a:endParaRPr lang="en-US" sz="1400" dirty="0"/>
          </a:p>
        </p:txBody>
      </p:sp>
      <p:sp>
        <p:nvSpPr>
          <p:cNvPr id="30" name="Shape 28"/>
          <p:cNvSpPr/>
          <p:nvPr/>
        </p:nvSpPr>
        <p:spPr>
          <a:xfrm>
            <a:off x="9479280" y="4654296"/>
            <a:ext cx="45720" cy="1133856"/>
          </a:xfrm>
          <a:prstGeom prst="rect">
            <a:avLst/>
          </a:prstGeom>
          <a:solidFill>
            <a:srgbClr val="2587C5"/>
          </a:solidFill>
          <a:ln/>
        </p:spPr>
      </p:sp>
      <p:sp>
        <p:nvSpPr>
          <p:cNvPr id="31" name="Text 29"/>
          <p:cNvSpPr txBox="1"/>
          <p:nvPr/>
        </p:nvSpPr>
        <p:spPr>
          <a:xfrm>
            <a:off x="9607296" y="4654296"/>
            <a:ext cx="1877568"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Proficiency vs efficiency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Efficiency divides by time clocked on ROs, not all hours worked</a:t>
            </a:r>
            <a:endParaRPr lang="en-US" sz="1400" dirty="0"/>
          </a:p>
        </p:txBody>
      </p:sp>
      <p:sp>
        <p:nvSpPr>
          <p:cNvPr id="32" name="Shape 30"/>
          <p:cNvSpPr/>
          <p:nvPr/>
        </p:nvSpPr>
        <p:spPr>
          <a:xfrm>
            <a:off x="457200" y="6126480"/>
            <a:ext cx="11274552" cy="371856"/>
          </a:xfrm>
          <a:prstGeom prst="rect">
            <a:avLst/>
          </a:prstGeom>
          <a:solidFill>
            <a:srgbClr val="EDF4FA"/>
          </a:solidFill>
          <a:ln/>
        </p:spPr>
      </p:sp>
      <p:sp>
        <p:nvSpPr>
          <p:cNvPr id="33" name="Text 31"/>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Group: 94.7%. 20 of 33 stores at or above 85%; 262 of 583 counted techs below it.</a:t>
            </a:r>
            <a:endParaRPr lang="en-US" sz="1600" dirty="0"/>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How We Measured 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Sold hours (Qlik)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worked hours (ADP, regular + overtime)</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Matched by tech number, all pay types, Dec 25, 2025 to Oct 9, 2026. Store = total sold hours / total worked hours.</a:t>
            </a:r>
            <a:endParaRPr lang="en-US" sz="1500" dirty="0"/>
          </a:p>
        </p:txBody>
      </p:sp>
      <p:sp>
        <p:nvSpPr>
          <p:cNvPr id="8" name="Shape 6"/>
          <p:cNvSpPr/>
          <p:nvPr/>
        </p:nvSpPr>
        <p:spPr>
          <a:xfrm>
            <a:off x="457200" y="2340864"/>
            <a:ext cx="4343400" cy="3648456"/>
          </a:xfrm>
          <a:prstGeom prst="rect">
            <a:avLst/>
          </a:prstGeom>
          <a:solidFill>
            <a:srgbClr val="FFFFFF"/>
          </a:solidFill>
          <a:ln/>
        </p:spPr>
      </p:sp>
      <p:sp>
        <p:nvSpPr>
          <p:cNvPr id="9" name="Shape 7"/>
          <p:cNvSpPr/>
          <p:nvPr/>
        </p:nvSpPr>
        <p:spPr>
          <a:xfrm>
            <a:off x="4937760" y="2340864"/>
            <a:ext cx="6793992" cy="3648456"/>
          </a:xfrm>
          <a:prstGeom prst="rect">
            <a:avLst/>
          </a:prstGeom>
          <a:solidFill>
            <a:srgbClr val="FFFFFF"/>
          </a:solidFill>
          <a:ln/>
        </p:spPr>
      </p:sp>
      <p:sp>
        <p:nvSpPr>
          <p:cNvPr id="10" name="Text 8"/>
          <p:cNvSpPr txBox="1"/>
          <p:nvPr/>
        </p:nvSpPr>
        <p:spPr>
          <a:xfrm>
            <a:off x="658368" y="2468880"/>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WHO COUNTS</a:t>
            </a:r>
            <a:endParaRPr lang="en-US" sz="1400" dirty="0"/>
          </a:p>
        </p:txBody>
      </p:sp>
      <p:sp>
        <p:nvSpPr>
          <p:cNvPr id="11" name="Text 9"/>
          <p:cNvSpPr txBox="1"/>
          <p:nvPr/>
        </p:nvSpPr>
        <p:spPr>
          <a:xfrm>
            <a:off x="5138928" y="2468880"/>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THE RULES</a:t>
            </a:r>
            <a:endParaRPr lang="en-US" sz="1400" dirty="0"/>
          </a:p>
        </p:txBody>
      </p:sp>
      <p:sp>
        <p:nvSpPr>
          <p:cNvPr id="12" name="Text 10"/>
          <p:cNvSpPr txBox="1"/>
          <p:nvPr/>
        </p:nvSpPr>
        <p:spPr>
          <a:xfrm>
            <a:off x="658368" y="2843784"/>
            <a:ext cx="3977640" cy="3008376"/>
          </a:xfrm>
          <a:prstGeom prst="rect">
            <a:avLst/>
          </a:prstGeom>
          <a:noFill/>
          <a:ln/>
        </p:spPr>
        <p:txBody>
          <a:bodyPr wrap="square" lIns="0" tIns="0" rIns="0" bIns="0" rtlCol="0" anchor="t"/>
          <a:lstStyle/>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Service technicians, express technicians, service team leaders and shop foremen: everyone whose job is to flag hours on the line</a:t>
            </a:r>
            <a:endParaRPr lang="en-US" sz="1600" dirty="0"/>
          </a:p>
          <a:p>
            <a:pPr marL="203200" indent="-203200">
              <a:spcAft>
                <a:spcPts val="600"/>
              </a:spcAft>
              <a:buSzPct val="100000"/>
              <a:buChar char="•"/>
            </a:pPr>
            <a:r>
              <a:rPr lang="en-US" sz="1600" dirty="0">
                <a:solidFill>
                  <a:srgbClr val="1A1A1A"/>
                </a:solidFill>
                <a:latin typeface="Inter" pitchFamily="34" charset="0"/>
                <a:ea typeface="Inter" pitchFamily="34" charset="-122"/>
                <a:cs typeface="Inter" pitchFamily="34" charset="-120"/>
              </a:rPr>
              <a:t>Not counted: body shop, detail and tint</a:t>
            </a:r>
            <a:endParaRPr lang="en-US" sz="1600" dirty="0"/>
          </a:p>
        </p:txBody>
      </p:sp>
      <p:sp>
        <p:nvSpPr>
          <p:cNvPr id="13" name="Shape 11"/>
          <p:cNvSpPr/>
          <p:nvPr/>
        </p:nvSpPr>
        <p:spPr>
          <a:xfrm>
            <a:off x="5138928" y="2843784"/>
            <a:ext cx="45720" cy="908304"/>
          </a:xfrm>
          <a:prstGeom prst="rect">
            <a:avLst/>
          </a:prstGeom>
          <a:solidFill>
            <a:srgbClr val="2587C5"/>
          </a:solidFill>
          <a:ln/>
        </p:spPr>
      </p:sp>
      <p:sp>
        <p:nvSpPr>
          <p:cNvPr id="14" name="Text 12"/>
          <p:cNvSpPr txBox="1"/>
          <p:nvPr/>
        </p:nvSpPr>
        <p:spPr>
          <a:xfrm>
            <a:off x="5266944"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Shop foremen above 30%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a foreman is mainly dispatching</a:t>
            </a:r>
            <a:endParaRPr lang="en-US" sz="1400" dirty="0"/>
          </a:p>
        </p:txBody>
      </p:sp>
      <p:sp>
        <p:nvSpPr>
          <p:cNvPr id="15" name="Shape 13"/>
          <p:cNvSpPr/>
          <p:nvPr/>
        </p:nvSpPr>
        <p:spPr>
          <a:xfrm>
            <a:off x="8394192" y="2843784"/>
            <a:ext cx="45720" cy="908304"/>
          </a:xfrm>
          <a:prstGeom prst="rect">
            <a:avLst/>
          </a:prstGeom>
          <a:solidFill>
            <a:srgbClr val="2587C5"/>
          </a:solidFill>
          <a:ln/>
        </p:spPr>
      </p:sp>
      <p:sp>
        <p:nvSpPr>
          <p:cNvPr id="16" name="Text 14"/>
          <p:cNvSpPr txBox="1"/>
          <p:nvPr/>
        </p:nvSpPr>
        <p:spPr>
          <a:xfrm>
            <a:off x="8522208" y="2843784"/>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Techs above 10%</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Below that, they are not working as a line tech</a:t>
            </a:r>
            <a:endParaRPr lang="en-US" sz="1400" dirty="0"/>
          </a:p>
        </p:txBody>
      </p:sp>
      <p:sp>
        <p:nvSpPr>
          <p:cNvPr id="17" name="Shape 15"/>
          <p:cNvSpPr/>
          <p:nvPr/>
        </p:nvSpPr>
        <p:spPr>
          <a:xfrm>
            <a:off x="5138928" y="3861816"/>
            <a:ext cx="45720" cy="908304"/>
          </a:xfrm>
          <a:prstGeom prst="rect">
            <a:avLst/>
          </a:prstGeom>
          <a:solidFill>
            <a:srgbClr val="2587C5"/>
          </a:solidFill>
          <a:ln/>
        </p:spPr>
      </p:sp>
      <p:sp>
        <p:nvSpPr>
          <p:cNvPr id="18" name="Text 16"/>
          <p:cNvSpPr txBox="1"/>
          <p:nvPr/>
        </p:nvSpPr>
        <p:spPr>
          <a:xfrm>
            <a:off x="5266944"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Role changes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Worked hours trimmed to the months a tech actually flagged</a:t>
            </a:r>
            <a:endParaRPr lang="en-US" sz="1400" dirty="0"/>
          </a:p>
        </p:txBody>
      </p:sp>
      <p:sp>
        <p:nvSpPr>
          <p:cNvPr id="19" name="Shape 17"/>
          <p:cNvSpPr/>
          <p:nvPr/>
        </p:nvSpPr>
        <p:spPr>
          <a:xfrm>
            <a:off x="8394192" y="3861816"/>
            <a:ext cx="45720" cy="908304"/>
          </a:xfrm>
          <a:prstGeom prst="rect">
            <a:avLst/>
          </a:prstGeom>
          <a:solidFill>
            <a:srgbClr val="2587C5"/>
          </a:solidFill>
          <a:ln/>
        </p:spPr>
      </p:sp>
      <p:sp>
        <p:nvSpPr>
          <p:cNvPr id="20" name="Text 18"/>
          <p:cNvSpPr txBox="1"/>
          <p:nvPr/>
        </p:nvSpPr>
        <p:spPr>
          <a:xfrm>
            <a:off x="8522208" y="3861816"/>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Keying errors removed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45 lines, such as 940 hours keyed on one $0 line</a:t>
            </a:r>
            <a:endParaRPr lang="en-US" sz="1400" dirty="0"/>
          </a:p>
        </p:txBody>
      </p:sp>
      <p:sp>
        <p:nvSpPr>
          <p:cNvPr id="21" name="Shape 19"/>
          <p:cNvSpPr/>
          <p:nvPr/>
        </p:nvSpPr>
        <p:spPr>
          <a:xfrm>
            <a:off x="5138928" y="4879848"/>
            <a:ext cx="45720" cy="908304"/>
          </a:xfrm>
          <a:prstGeom prst="rect">
            <a:avLst/>
          </a:prstGeom>
          <a:solidFill>
            <a:srgbClr val="2587C5"/>
          </a:solidFill>
          <a:ln/>
        </p:spPr>
      </p:sp>
      <p:sp>
        <p:nvSpPr>
          <p:cNvPr id="22" name="Text 20"/>
          <p:cNvSpPr txBox="1"/>
          <p:nvPr/>
        </p:nvSpPr>
        <p:spPr>
          <a:xfrm>
            <a:off x="5266944"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Shared codes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Pooled codes (MULT, 999, 77777) aren't credited to anyone</a:t>
            </a:r>
            <a:endParaRPr lang="en-US" sz="1400" dirty="0"/>
          </a:p>
        </p:txBody>
      </p:sp>
      <p:sp>
        <p:nvSpPr>
          <p:cNvPr id="23" name="Shape 21"/>
          <p:cNvSpPr/>
          <p:nvPr/>
        </p:nvSpPr>
        <p:spPr>
          <a:xfrm>
            <a:off x="8394192" y="4879848"/>
            <a:ext cx="45720" cy="908304"/>
          </a:xfrm>
          <a:prstGeom prst="rect">
            <a:avLst/>
          </a:prstGeom>
          <a:solidFill>
            <a:srgbClr val="2587C5"/>
          </a:solidFill>
          <a:ln/>
        </p:spPr>
      </p:sp>
      <p:sp>
        <p:nvSpPr>
          <p:cNvPr id="24" name="Text 22"/>
          <p:cNvSpPr txBox="1"/>
          <p:nvPr/>
        </p:nvSpPr>
        <p:spPr>
          <a:xfrm>
            <a:off x="8522208" y="4879848"/>
            <a:ext cx="2962656" cy="908304"/>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Opportunity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Each tech under 85% raised to 85% of their own worked hours</a:t>
            </a:r>
            <a:endParaRPr lang="en-US" sz="1400" dirty="0"/>
          </a:p>
        </p:txBody>
      </p:sp>
      <p:sp>
        <p:nvSpPr>
          <p:cNvPr id="25" name="Shape 23"/>
          <p:cNvSpPr/>
          <p:nvPr/>
        </p:nvSpPr>
        <p:spPr>
          <a:xfrm>
            <a:off x="457200" y="6126480"/>
            <a:ext cx="11274552" cy="356616"/>
          </a:xfrm>
          <a:prstGeom prst="rect">
            <a:avLst/>
          </a:prstGeom>
          <a:solidFill>
            <a:srgbClr val="EDF4FA"/>
          </a:solidFill>
          <a:ln/>
        </p:spPr>
      </p:sp>
      <p:sp>
        <p:nvSpPr>
          <p:cNvPr id="26" name="Text 24"/>
          <p:cNvSpPr txBox="1"/>
          <p:nvPr/>
        </p:nvSpPr>
        <p:spPr>
          <a:xfrm>
            <a:off x="658368" y="6144768"/>
            <a:ext cx="10927080" cy="3200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The rules keep non-tech time and data errors out of the numbers, and every store is measured the same way.</a:t>
            </a:r>
            <a:endParaRPr lang="en-US" sz="1500" dirty="0"/>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73558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TECHNICIAN PROFICIENCY</a:t>
            </a:r>
            <a:endParaRPr lang="en-US" sz="1500" dirty="0"/>
          </a:p>
        </p:txBody>
      </p:sp>
      <p:sp>
        <p:nvSpPr>
          <p:cNvPr id="9" name="Text 7"/>
          <p:cNvSpPr txBox="1"/>
          <p:nvPr/>
        </p:nvSpPr>
        <p:spPr>
          <a:xfrm>
            <a:off x="3649980" y="1335024"/>
            <a:ext cx="439674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85.0%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94.7%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118.5%</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7" name="Shape 15"/>
          <p:cNvSpPr/>
          <p:nvPr/>
        </p:nvSpPr>
        <p:spPr>
          <a:xfrm>
            <a:off x="3008376" y="2146957"/>
            <a:ext cx="1663031"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117.1%</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1" name="Shape 19"/>
          <p:cNvSpPr/>
          <p:nvPr/>
        </p:nvSpPr>
        <p:spPr>
          <a:xfrm>
            <a:off x="3008376" y="2386853"/>
            <a:ext cx="1503694"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109.7%</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3008376" y="2626748"/>
            <a:ext cx="1493335"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109.3%</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9" name="Shape 27"/>
          <p:cNvSpPr/>
          <p:nvPr/>
        </p:nvSpPr>
        <p:spPr>
          <a:xfrm>
            <a:off x="3008376" y="2866644"/>
            <a:ext cx="1488550"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109.0%</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106540"/>
            <a:ext cx="1465805"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108.0%</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7" name="Shape 35"/>
          <p:cNvSpPr/>
          <p:nvPr/>
        </p:nvSpPr>
        <p:spPr>
          <a:xfrm>
            <a:off x="3008376" y="3346435"/>
            <a:ext cx="1423787"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106.0%</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1" name="Shape 39"/>
          <p:cNvSpPr/>
          <p:nvPr/>
        </p:nvSpPr>
        <p:spPr>
          <a:xfrm>
            <a:off x="3008376" y="3586331"/>
            <a:ext cx="139459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5" name="Shape 43"/>
          <p:cNvSpPr/>
          <p:nvPr/>
        </p:nvSpPr>
        <p:spPr>
          <a:xfrm>
            <a:off x="3008376" y="3826226"/>
            <a:ext cx="1387136"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104.3%</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008376" y="4066122"/>
            <a:ext cx="1366169"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3" name="Shape 51"/>
          <p:cNvSpPr/>
          <p:nvPr/>
        </p:nvSpPr>
        <p:spPr>
          <a:xfrm>
            <a:off x="3008376" y="4306017"/>
            <a:ext cx="1345338"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102.4%</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008376" y="4545913"/>
            <a:ext cx="1328569"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101.6%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1" name="Shape 59"/>
          <p:cNvSpPr/>
          <p:nvPr/>
        </p:nvSpPr>
        <p:spPr>
          <a:xfrm>
            <a:off x="3008376" y="4785808"/>
            <a:ext cx="1259696"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98.4%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008376" y="5025704"/>
            <a:ext cx="1227504"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96.9%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9" name="Shape 67"/>
          <p:cNvSpPr/>
          <p:nvPr/>
        </p:nvSpPr>
        <p:spPr>
          <a:xfrm>
            <a:off x="3008376" y="5265599"/>
            <a:ext cx="1183546"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94.9%</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3" name="Shape 71"/>
          <p:cNvSpPr/>
          <p:nvPr/>
        </p:nvSpPr>
        <p:spPr>
          <a:xfrm>
            <a:off x="3008376" y="5505495"/>
            <a:ext cx="1125838"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7" name="Shape 75"/>
          <p:cNvSpPr/>
          <p:nvPr/>
        </p:nvSpPr>
        <p:spPr>
          <a:xfrm>
            <a:off x="3008376" y="5745390"/>
            <a:ext cx="1103246"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91.2%</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8558784" y="1907062"/>
            <a:ext cx="1102256"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91.1%</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5" name="Shape 83"/>
          <p:cNvSpPr/>
          <p:nvPr/>
        </p:nvSpPr>
        <p:spPr>
          <a:xfrm>
            <a:off x="8558784" y="2146957"/>
            <a:ext cx="1100233"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91.0%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9" name="Shape 87"/>
          <p:cNvSpPr/>
          <p:nvPr/>
        </p:nvSpPr>
        <p:spPr>
          <a:xfrm>
            <a:off x="8558784" y="2386853"/>
            <a:ext cx="1028587"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87.7%</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58784" y="2626748"/>
            <a:ext cx="940185" cy="119948"/>
          </a:xfrm>
          <a:prstGeom prst="rect">
            <a:avLst/>
          </a:prstGeom>
          <a:solidFill>
            <a:srgbClr val="C2352F"/>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83.6%</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7" name="Shape 95"/>
          <p:cNvSpPr/>
          <p:nvPr/>
        </p:nvSpPr>
        <p:spPr>
          <a:xfrm>
            <a:off x="8558784" y="2866644"/>
            <a:ext cx="892570" cy="119948"/>
          </a:xfrm>
          <a:prstGeom prst="rect">
            <a:avLst/>
          </a:prstGeom>
          <a:solidFill>
            <a:srgbClr val="C2352F"/>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81.4%</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1" name="Shape 99"/>
          <p:cNvSpPr/>
          <p:nvPr/>
        </p:nvSpPr>
        <p:spPr>
          <a:xfrm>
            <a:off x="8558784" y="3106540"/>
            <a:ext cx="836550" cy="119948"/>
          </a:xfrm>
          <a:prstGeom prst="rect">
            <a:avLst/>
          </a:prstGeom>
          <a:solidFill>
            <a:srgbClr val="C2352F"/>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5" name="Shape 103"/>
          <p:cNvSpPr/>
          <p:nvPr/>
        </p:nvSpPr>
        <p:spPr>
          <a:xfrm>
            <a:off x="8558784" y="3346435"/>
            <a:ext cx="830598" cy="119948"/>
          </a:xfrm>
          <a:prstGeom prst="rect">
            <a:avLst/>
          </a:prstGeom>
          <a:solidFill>
            <a:srgbClr val="C2352F"/>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9" name="Shape 107"/>
          <p:cNvSpPr/>
          <p:nvPr/>
        </p:nvSpPr>
        <p:spPr>
          <a:xfrm>
            <a:off x="8558784" y="3586331"/>
            <a:ext cx="794181" cy="119948"/>
          </a:xfrm>
          <a:prstGeom prst="rect">
            <a:avLst/>
          </a:prstGeom>
          <a:solidFill>
            <a:srgbClr val="C2352F"/>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76.8%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3826226"/>
            <a:ext cx="724094"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73.6%</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7" name="Shape 115"/>
          <p:cNvSpPr/>
          <p:nvPr/>
        </p:nvSpPr>
        <p:spPr>
          <a:xfrm>
            <a:off x="8558784" y="4066122"/>
            <a:ext cx="697908"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72.3%</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1" name="Shape 119"/>
          <p:cNvSpPr/>
          <p:nvPr/>
        </p:nvSpPr>
        <p:spPr>
          <a:xfrm>
            <a:off x="8558784" y="4306017"/>
            <a:ext cx="672256"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5" name="Shape 123"/>
          <p:cNvSpPr/>
          <p:nvPr/>
        </p:nvSpPr>
        <p:spPr>
          <a:xfrm>
            <a:off x="8558784" y="4545913"/>
            <a:ext cx="647056"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70.0%</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9" name="Shape 127"/>
          <p:cNvSpPr/>
          <p:nvPr/>
        </p:nvSpPr>
        <p:spPr>
          <a:xfrm>
            <a:off x="8558784" y="4785808"/>
            <a:ext cx="625345"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69.0%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3" name="Shape 131"/>
          <p:cNvSpPr/>
          <p:nvPr/>
        </p:nvSpPr>
        <p:spPr>
          <a:xfrm>
            <a:off x="8558784" y="5025704"/>
            <a:ext cx="612255"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68.4%</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8558784" y="5265599"/>
            <a:ext cx="59280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1" name="Shape 139"/>
          <p:cNvSpPr/>
          <p:nvPr/>
        </p:nvSpPr>
        <p:spPr>
          <a:xfrm>
            <a:off x="8558784" y="5505495"/>
            <a:ext cx="591028"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67.4%</a:t>
            </a:r>
            <a:endParaRPr lang="en-US" sz="1200" dirty="0"/>
          </a:p>
        </p:txBody>
      </p:sp>
      <p:sp>
        <p:nvSpPr>
          <p:cNvPr id="143" name="Shape 141"/>
          <p:cNvSpPr/>
          <p:nvPr/>
        </p:nvSpPr>
        <p:spPr>
          <a:xfrm>
            <a:off x="3970620" y="1847088"/>
            <a:ext cx="14630" cy="4078224"/>
          </a:xfrm>
          <a:prstGeom prst="rect">
            <a:avLst/>
          </a:prstGeom>
          <a:solidFill>
            <a:srgbClr val="0B2C4A"/>
          </a:solidFill>
          <a:ln/>
        </p:spPr>
      </p:sp>
      <p:sp>
        <p:nvSpPr>
          <p:cNvPr id="144" name="Shape 142"/>
          <p:cNvSpPr/>
          <p:nvPr/>
        </p:nvSpPr>
        <p:spPr>
          <a:xfrm>
            <a:off x="9521028"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20 of 33 stores at or above the 85% target and 12 above 100%. Group 94.7%, led by Honda Henderson at 118.5%; Acura lowest at 67.4%.</a:t>
            </a:r>
            <a:endParaRPr lang="en-US" sz="1600" dirty="0"/>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Technician Proficiency Status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201168" cy="201168"/>
          </a:xfrm>
          <a:prstGeom prst="rect">
            <a:avLst/>
          </a:prstGeom>
          <a:solidFill>
            <a:srgbClr val="12A566"/>
          </a:solidFill>
          <a:ln/>
        </p:spPr>
      </p:sp>
      <p:sp>
        <p:nvSpPr>
          <p:cNvPr id="7" name="Text 5"/>
          <p:cNvSpPr txBox="1"/>
          <p:nvPr/>
        </p:nvSpPr>
        <p:spPr>
          <a:xfrm>
            <a:off x="93268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Above 100 %</a:t>
            </a:r>
            <a:endParaRPr lang="en-US" sz="1400" dirty="0"/>
          </a:p>
        </p:txBody>
      </p:sp>
      <p:sp>
        <p:nvSpPr>
          <p:cNvPr id="8" name="Shape 6"/>
          <p:cNvSpPr/>
          <p:nvPr/>
        </p:nvSpPr>
        <p:spPr>
          <a:xfrm>
            <a:off x="2624328" y="1371600"/>
            <a:ext cx="201168" cy="201168"/>
          </a:xfrm>
          <a:prstGeom prst="rect">
            <a:avLst/>
          </a:prstGeom>
          <a:solidFill>
            <a:srgbClr val="5B9BD5"/>
          </a:solidFill>
          <a:ln/>
        </p:spPr>
      </p:sp>
      <p:sp>
        <p:nvSpPr>
          <p:cNvPr id="9" name="Text 7"/>
          <p:cNvSpPr txBox="1"/>
          <p:nvPr/>
        </p:nvSpPr>
        <p:spPr>
          <a:xfrm>
            <a:off x="289864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 to 99.9 %</a:t>
            </a:r>
            <a:endParaRPr lang="en-US" sz="1400" dirty="0"/>
          </a:p>
        </p:txBody>
      </p:sp>
      <p:sp>
        <p:nvSpPr>
          <p:cNvPr id="10" name="Shape 8"/>
          <p:cNvSpPr/>
          <p:nvPr/>
        </p:nvSpPr>
        <p:spPr>
          <a:xfrm>
            <a:off x="4590288" y="1371600"/>
            <a:ext cx="201168" cy="201168"/>
          </a:xfrm>
          <a:prstGeom prst="rect">
            <a:avLst/>
          </a:prstGeom>
          <a:solidFill>
            <a:srgbClr val="C2352F"/>
          </a:solidFill>
          <a:ln/>
        </p:spPr>
      </p:sp>
      <p:sp>
        <p:nvSpPr>
          <p:cNvPr id="11" name="Text 9"/>
          <p:cNvSpPr txBox="1"/>
          <p:nvPr/>
        </p:nvSpPr>
        <p:spPr>
          <a:xfrm>
            <a:off x="4864608" y="1298448"/>
            <a:ext cx="1691640" cy="347472"/>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Under 85 %</a:t>
            </a:r>
            <a:endParaRPr lang="en-US" sz="1400" dirty="0"/>
          </a:p>
        </p:txBody>
      </p:sp>
      <p:sp>
        <p:nvSpPr>
          <p:cNvPr id="12" name="Shape 10"/>
          <p:cNvSpPr/>
          <p:nvPr/>
        </p:nvSpPr>
        <p:spPr>
          <a:xfrm>
            <a:off x="6675120" y="1298448"/>
            <a:ext cx="4855464" cy="384048"/>
          </a:xfrm>
          <a:prstGeom prst="rect">
            <a:avLst/>
          </a:prstGeom>
          <a:solidFill>
            <a:srgbClr val="EDF4FA"/>
          </a:solidFill>
          <a:ln/>
        </p:spPr>
      </p:sp>
      <p:sp>
        <p:nvSpPr>
          <p:cNvPr id="13" name="Text 11"/>
          <p:cNvSpPr txBox="1"/>
          <p:nvPr/>
        </p:nvSpPr>
        <p:spPr>
          <a:xfrm>
            <a:off x="6766560" y="1298448"/>
            <a:ext cx="914400" cy="384048"/>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GROUP</a:t>
            </a:r>
            <a:endParaRPr lang="en-US" sz="1500" dirty="0"/>
          </a:p>
        </p:txBody>
      </p:sp>
      <p:sp>
        <p:nvSpPr>
          <p:cNvPr id="14" name="Shape 12"/>
          <p:cNvSpPr/>
          <p:nvPr/>
        </p:nvSpPr>
        <p:spPr>
          <a:xfrm>
            <a:off x="7726680" y="1344168"/>
            <a:ext cx="1260837" cy="292608"/>
          </a:xfrm>
          <a:prstGeom prst="rect">
            <a:avLst/>
          </a:prstGeom>
          <a:solidFill>
            <a:srgbClr val="12A566"/>
          </a:solidFill>
          <a:ln w="6350">
            <a:solidFill>
              <a:srgbClr val="FFFFFF"/>
            </a:solidFill>
            <a:prstDash val="solid"/>
          </a:ln>
        </p:spPr>
      </p:sp>
      <p:sp>
        <p:nvSpPr>
          <p:cNvPr id="15" name="Text 13"/>
          <p:cNvSpPr txBox="1"/>
          <p:nvPr/>
        </p:nvSpPr>
        <p:spPr>
          <a:xfrm>
            <a:off x="7726680" y="1344168"/>
            <a:ext cx="126083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34</a:t>
            </a:r>
            <a:endParaRPr lang="en-US" sz="1400" dirty="0"/>
          </a:p>
        </p:txBody>
      </p:sp>
      <p:sp>
        <p:nvSpPr>
          <p:cNvPr id="16" name="Shape 14"/>
          <p:cNvSpPr/>
          <p:nvPr/>
        </p:nvSpPr>
        <p:spPr>
          <a:xfrm>
            <a:off x="8987517" y="1344168"/>
            <a:ext cx="783247" cy="292608"/>
          </a:xfrm>
          <a:prstGeom prst="rect">
            <a:avLst/>
          </a:prstGeom>
          <a:solidFill>
            <a:srgbClr val="5B9BD5"/>
          </a:solidFill>
          <a:ln w="6350">
            <a:solidFill>
              <a:srgbClr val="FFFFFF"/>
            </a:solidFill>
            <a:prstDash val="solid"/>
          </a:ln>
        </p:spPr>
      </p:sp>
      <p:sp>
        <p:nvSpPr>
          <p:cNvPr id="17" name="Text 15"/>
          <p:cNvSpPr txBox="1"/>
          <p:nvPr/>
        </p:nvSpPr>
        <p:spPr>
          <a:xfrm>
            <a:off x="8987517" y="1344168"/>
            <a:ext cx="783247"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21</a:t>
            </a:r>
            <a:endParaRPr lang="en-US" sz="1400" dirty="0"/>
          </a:p>
        </p:txBody>
      </p:sp>
      <p:sp>
        <p:nvSpPr>
          <p:cNvPr id="18" name="Shape 16"/>
          <p:cNvSpPr/>
          <p:nvPr/>
        </p:nvSpPr>
        <p:spPr>
          <a:xfrm>
            <a:off x="9770764" y="1344168"/>
            <a:ext cx="1668380" cy="292608"/>
          </a:xfrm>
          <a:prstGeom prst="rect">
            <a:avLst/>
          </a:prstGeom>
          <a:solidFill>
            <a:srgbClr val="C2352F"/>
          </a:solidFill>
          <a:ln w="6350">
            <a:solidFill>
              <a:srgbClr val="FFFFFF"/>
            </a:solidFill>
            <a:prstDash val="solid"/>
          </a:ln>
        </p:spPr>
      </p:sp>
      <p:sp>
        <p:nvSpPr>
          <p:cNvPr id="19" name="Text 17"/>
          <p:cNvSpPr txBox="1"/>
          <p:nvPr/>
        </p:nvSpPr>
        <p:spPr>
          <a:xfrm>
            <a:off x="9770764" y="1344168"/>
            <a:ext cx="1668380" cy="292608"/>
          </a:xfrm>
          <a:prstGeom prst="rect">
            <a:avLst/>
          </a:prstGeom>
          <a:noFill/>
          <a:ln/>
        </p:spPr>
        <p:txBody>
          <a:bodyPr wrap="non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45</a:t>
            </a:r>
            <a:endParaRPr lang="en-US" sz="1400" dirty="0"/>
          </a:p>
        </p:txBody>
      </p:sp>
      <p:sp>
        <p:nvSpPr>
          <p:cNvPr id="20" name="Text 18"/>
          <p:cNvSpPr txBox="1"/>
          <p:nvPr/>
        </p:nvSpPr>
        <p:spPr>
          <a:xfrm>
            <a:off x="658368"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1" name="Shape 19"/>
          <p:cNvSpPr/>
          <p:nvPr/>
        </p:nvSpPr>
        <p:spPr>
          <a:xfrm>
            <a:off x="2807208" y="1857717"/>
            <a:ext cx="2366010" cy="183138"/>
          </a:xfrm>
          <a:prstGeom prst="rect">
            <a:avLst/>
          </a:prstGeom>
          <a:solidFill>
            <a:srgbClr val="12A566"/>
          </a:solidFill>
          <a:ln w="6350">
            <a:solidFill>
              <a:srgbClr val="FFFFFF"/>
            </a:solidFill>
            <a:prstDash val="solid"/>
          </a:ln>
        </p:spPr>
      </p:sp>
      <p:sp>
        <p:nvSpPr>
          <p:cNvPr id="22" name="Text 20"/>
          <p:cNvSpPr txBox="1"/>
          <p:nvPr/>
        </p:nvSpPr>
        <p:spPr>
          <a:xfrm>
            <a:off x="2807208" y="1857717"/>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3" name="Shape 21"/>
          <p:cNvSpPr/>
          <p:nvPr/>
        </p:nvSpPr>
        <p:spPr>
          <a:xfrm>
            <a:off x="5173218" y="1857717"/>
            <a:ext cx="914" cy="183138"/>
          </a:xfrm>
          <a:prstGeom prst="rect">
            <a:avLst/>
          </a:prstGeom>
          <a:solidFill>
            <a:srgbClr val="5B9BD5"/>
          </a:solidFill>
          <a:ln w="6350">
            <a:solidFill>
              <a:srgbClr val="FFFFFF"/>
            </a:solidFill>
            <a:prstDash val="solid"/>
          </a:ln>
        </p:spPr>
      </p:sp>
      <p:sp>
        <p:nvSpPr>
          <p:cNvPr id="24" name="Shape 22"/>
          <p:cNvSpPr/>
          <p:nvPr/>
        </p:nvSpPr>
        <p:spPr>
          <a:xfrm>
            <a:off x="5173218" y="1857717"/>
            <a:ext cx="788670" cy="183138"/>
          </a:xfrm>
          <a:prstGeom prst="rect">
            <a:avLst/>
          </a:prstGeom>
          <a:solidFill>
            <a:srgbClr val="C2352F"/>
          </a:solidFill>
          <a:ln w="6350">
            <a:solidFill>
              <a:srgbClr val="FFFFFF"/>
            </a:solidFill>
            <a:prstDash val="solid"/>
          </a:ln>
        </p:spPr>
      </p:sp>
      <p:sp>
        <p:nvSpPr>
          <p:cNvPr id="25" name="Text 23"/>
          <p:cNvSpPr txBox="1"/>
          <p:nvPr/>
        </p:nvSpPr>
        <p:spPr>
          <a:xfrm>
            <a:off x="5173218" y="1857717"/>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26" name="Text 24"/>
          <p:cNvSpPr txBox="1"/>
          <p:nvPr/>
        </p:nvSpPr>
        <p:spPr>
          <a:xfrm>
            <a:off x="658368"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27" name="Shape 25"/>
          <p:cNvSpPr/>
          <p:nvPr/>
        </p:nvSpPr>
        <p:spPr>
          <a:xfrm>
            <a:off x="2807208" y="2098688"/>
            <a:ext cx="2103120" cy="183138"/>
          </a:xfrm>
          <a:prstGeom prst="rect">
            <a:avLst/>
          </a:prstGeom>
          <a:solidFill>
            <a:srgbClr val="12A566"/>
          </a:solidFill>
          <a:ln w="6350">
            <a:solidFill>
              <a:srgbClr val="FFFFFF"/>
            </a:solidFill>
            <a:prstDash val="solid"/>
          </a:ln>
        </p:spPr>
      </p:sp>
      <p:sp>
        <p:nvSpPr>
          <p:cNvPr id="28" name="Text 26"/>
          <p:cNvSpPr txBox="1"/>
          <p:nvPr/>
        </p:nvSpPr>
        <p:spPr>
          <a:xfrm>
            <a:off x="2807208" y="2098688"/>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29" name="Shape 27"/>
          <p:cNvSpPr/>
          <p:nvPr/>
        </p:nvSpPr>
        <p:spPr>
          <a:xfrm>
            <a:off x="4910328" y="2098688"/>
            <a:ext cx="630936" cy="183138"/>
          </a:xfrm>
          <a:prstGeom prst="rect">
            <a:avLst/>
          </a:prstGeom>
          <a:solidFill>
            <a:srgbClr val="5B9BD5"/>
          </a:solidFill>
          <a:ln w="6350">
            <a:solidFill>
              <a:srgbClr val="FFFFFF"/>
            </a:solidFill>
            <a:prstDash val="solid"/>
          </a:ln>
        </p:spPr>
      </p:sp>
      <p:sp>
        <p:nvSpPr>
          <p:cNvPr id="30" name="Text 28"/>
          <p:cNvSpPr txBox="1"/>
          <p:nvPr/>
        </p:nvSpPr>
        <p:spPr>
          <a:xfrm>
            <a:off x="4910328" y="2098688"/>
            <a:ext cx="6309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20</a:t>
            </a:r>
            <a:endParaRPr lang="en-US" sz="1300" dirty="0"/>
          </a:p>
        </p:txBody>
      </p:sp>
      <p:sp>
        <p:nvSpPr>
          <p:cNvPr id="31" name="Shape 29"/>
          <p:cNvSpPr/>
          <p:nvPr/>
        </p:nvSpPr>
        <p:spPr>
          <a:xfrm>
            <a:off x="5541264" y="2098688"/>
            <a:ext cx="420624" cy="183138"/>
          </a:xfrm>
          <a:prstGeom prst="rect">
            <a:avLst/>
          </a:prstGeom>
          <a:solidFill>
            <a:srgbClr val="C2352F"/>
          </a:solidFill>
          <a:ln w="6350">
            <a:solidFill>
              <a:srgbClr val="FFFFFF"/>
            </a:solidFill>
            <a:prstDash val="solid"/>
          </a:ln>
        </p:spPr>
      </p:sp>
      <p:sp>
        <p:nvSpPr>
          <p:cNvPr id="32" name="Text 30"/>
          <p:cNvSpPr txBox="1"/>
          <p:nvPr/>
        </p:nvSpPr>
        <p:spPr>
          <a:xfrm>
            <a:off x="5541264" y="2098688"/>
            <a:ext cx="42062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13</a:t>
            </a:r>
            <a:endParaRPr lang="en-US" sz="1300" dirty="0"/>
          </a:p>
        </p:txBody>
      </p:sp>
      <p:sp>
        <p:nvSpPr>
          <p:cNvPr id="33" name="Text 31"/>
          <p:cNvSpPr txBox="1"/>
          <p:nvPr/>
        </p:nvSpPr>
        <p:spPr>
          <a:xfrm>
            <a:off x="658368"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4" name="Shape 32"/>
          <p:cNvSpPr/>
          <p:nvPr/>
        </p:nvSpPr>
        <p:spPr>
          <a:xfrm>
            <a:off x="2807208" y="2339659"/>
            <a:ext cx="1892808" cy="183138"/>
          </a:xfrm>
          <a:prstGeom prst="rect">
            <a:avLst/>
          </a:prstGeom>
          <a:solidFill>
            <a:srgbClr val="12A566"/>
          </a:solidFill>
          <a:ln w="6350">
            <a:solidFill>
              <a:srgbClr val="FFFFFF"/>
            </a:solidFill>
            <a:prstDash val="solid"/>
          </a:ln>
        </p:spPr>
      </p:sp>
      <p:sp>
        <p:nvSpPr>
          <p:cNvPr id="35" name="Text 33"/>
          <p:cNvSpPr txBox="1"/>
          <p:nvPr/>
        </p:nvSpPr>
        <p:spPr>
          <a:xfrm>
            <a:off x="2807208" y="2339659"/>
            <a:ext cx="18928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60</a:t>
            </a:r>
            <a:endParaRPr lang="en-US" sz="1300" dirty="0"/>
          </a:p>
        </p:txBody>
      </p:sp>
      <p:sp>
        <p:nvSpPr>
          <p:cNvPr id="36" name="Shape 34"/>
          <p:cNvSpPr/>
          <p:nvPr/>
        </p:nvSpPr>
        <p:spPr>
          <a:xfrm>
            <a:off x="4700016" y="2339659"/>
            <a:ext cx="914" cy="183138"/>
          </a:xfrm>
          <a:prstGeom prst="rect">
            <a:avLst/>
          </a:prstGeom>
          <a:solidFill>
            <a:srgbClr val="5B9BD5"/>
          </a:solidFill>
          <a:ln w="6350">
            <a:solidFill>
              <a:srgbClr val="FFFFFF"/>
            </a:solidFill>
            <a:prstDash val="solid"/>
          </a:ln>
        </p:spPr>
      </p:sp>
      <p:sp>
        <p:nvSpPr>
          <p:cNvPr id="37" name="Shape 35"/>
          <p:cNvSpPr/>
          <p:nvPr/>
        </p:nvSpPr>
        <p:spPr>
          <a:xfrm>
            <a:off x="4700016" y="2339659"/>
            <a:ext cx="1261872" cy="183138"/>
          </a:xfrm>
          <a:prstGeom prst="rect">
            <a:avLst/>
          </a:prstGeom>
          <a:solidFill>
            <a:srgbClr val="C2352F"/>
          </a:solidFill>
          <a:ln w="6350">
            <a:solidFill>
              <a:srgbClr val="FFFFFF"/>
            </a:solidFill>
            <a:prstDash val="solid"/>
          </a:ln>
        </p:spPr>
      </p:sp>
      <p:sp>
        <p:nvSpPr>
          <p:cNvPr id="38" name="Text 36"/>
          <p:cNvSpPr txBox="1"/>
          <p:nvPr/>
        </p:nvSpPr>
        <p:spPr>
          <a:xfrm>
            <a:off x="4700016" y="2339659"/>
            <a:ext cx="1261872"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40</a:t>
            </a:r>
            <a:endParaRPr lang="en-US" sz="1300" dirty="0"/>
          </a:p>
        </p:txBody>
      </p:sp>
      <p:sp>
        <p:nvSpPr>
          <p:cNvPr id="39" name="Text 37"/>
          <p:cNvSpPr txBox="1"/>
          <p:nvPr/>
        </p:nvSpPr>
        <p:spPr>
          <a:xfrm>
            <a:off x="658368"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807208" y="2580630"/>
            <a:ext cx="1802674" cy="183138"/>
          </a:xfrm>
          <a:prstGeom prst="rect">
            <a:avLst/>
          </a:prstGeom>
          <a:solidFill>
            <a:srgbClr val="12A566"/>
          </a:solidFill>
          <a:ln w="6350">
            <a:solidFill>
              <a:srgbClr val="FFFFFF"/>
            </a:solidFill>
            <a:prstDash val="solid"/>
          </a:ln>
        </p:spPr>
      </p:sp>
      <p:sp>
        <p:nvSpPr>
          <p:cNvPr id="41" name="Text 39"/>
          <p:cNvSpPr txBox="1"/>
          <p:nvPr/>
        </p:nvSpPr>
        <p:spPr>
          <a:xfrm>
            <a:off x="2807208" y="2580630"/>
            <a:ext cx="180267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42" name="Shape 40"/>
          <p:cNvSpPr/>
          <p:nvPr/>
        </p:nvSpPr>
        <p:spPr>
          <a:xfrm>
            <a:off x="4609882" y="2580630"/>
            <a:ext cx="788670" cy="183138"/>
          </a:xfrm>
          <a:prstGeom prst="rect">
            <a:avLst/>
          </a:prstGeom>
          <a:solidFill>
            <a:srgbClr val="5B9BD5"/>
          </a:solidFill>
          <a:ln w="6350">
            <a:solidFill>
              <a:srgbClr val="FFFFFF"/>
            </a:solidFill>
            <a:prstDash val="solid"/>
          </a:ln>
        </p:spPr>
      </p:sp>
      <p:sp>
        <p:nvSpPr>
          <p:cNvPr id="43" name="Text 41"/>
          <p:cNvSpPr txBox="1"/>
          <p:nvPr/>
        </p:nvSpPr>
        <p:spPr>
          <a:xfrm>
            <a:off x="4609882" y="2580630"/>
            <a:ext cx="78867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25</a:t>
            </a:r>
            <a:endParaRPr lang="en-US" sz="1300" dirty="0"/>
          </a:p>
        </p:txBody>
      </p:sp>
      <p:sp>
        <p:nvSpPr>
          <p:cNvPr id="44" name="Shape 42"/>
          <p:cNvSpPr/>
          <p:nvPr/>
        </p:nvSpPr>
        <p:spPr>
          <a:xfrm>
            <a:off x="5398552" y="2580630"/>
            <a:ext cx="563336" cy="183138"/>
          </a:xfrm>
          <a:prstGeom prst="rect">
            <a:avLst/>
          </a:prstGeom>
          <a:solidFill>
            <a:srgbClr val="C2352F"/>
          </a:solidFill>
          <a:ln w="6350">
            <a:solidFill>
              <a:srgbClr val="FFFFFF"/>
            </a:solidFill>
            <a:prstDash val="solid"/>
          </a:ln>
        </p:spPr>
      </p:sp>
      <p:sp>
        <p:nvSpPr>
          <p:cNvPr id="45" name="Text 43"/>
          <p:cNvSpPr txBox="1"/>
          <p:nvPr/>
        </p:nvSpPr>
        <p:spPr>
          <a:xfrm>
            <a:off x="5398552" y="2580630"/>
            <a:ext cx="56333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46" name="Text 44"/>
          <p:cNvSpPr txBox="1"/>
          <p:nvPr/>
        </p:nvSpPr>
        <p:spPr>
          <a:xfrm>
            <a:off x="658368"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47" name="Shape 45"/>
          <p:cNvSpPr/>
          <p:nvPr/>
        </p:nvSpPr>
        <p:spPr>
          <a:xfrm>
            <a:off x="2807208" y="2821602"/>
            <a:ext cx="1690007" cy="183138"/>
          </a:xfrm>
          <a:prstGeom prst="rect">
            <a:avLst/>
          </a:prstGeom>
          <a:solidFill>
            <a:srgbClr val="12A566"/>
          </a:solidFill>
          <a:ln w="6350">
            <a:solidFill>
              <a:srgbClr val="FFFFFF"/>
            </a:solidFill>
            <a:prstDash val="solid"/>
          </a:ln>
        </p:spPr>
      </p:sp>
      <p:sp>
        <p:nvSpPr>
          <p:cNvPr id="48" name="Text 46"/>
          <p:cNvSpPr txBox="1"/>
          <p:nvPr/>
        </p:nvSpPr>
        <p:spPr>
          <a:xfrm>
            <a:off x="2807208" y="2821602"/>
            <a:ext cx="169000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54</a:t>
            </a:r>
            <a:endParaRPr lang="en-US" sz="1300" dirty="0"/>
          </a:p>
        </p:txBody>
      </p:sp>
      <p:sp>
        <p:nvSpPr>
          <p:cNvPr id="49" name="Shape 47"/>
          <p:cNvSpPr/>
          <p:nvPr/>
        </p:nvSpPr>
        <p:spPr>
          <a:xfrm>
            <a:off x="4497215" y="2821602"/>
            <a:ext cx="1014004" cy="183138"/>
          </a:xfrm>
          <a:prstGeom prst="rect">
            <a:avLst/>
          </a:prstGeom>
          <a:solidFill>
            <a:srgbClr val="5B9BD5"/>
          </a:solidFill>
          <a:ln w="6350">
            <a:solidFill>
              <a:srgbClr val="FFFFFF"/>
            </a:solidFill>
            <a:prstDash val="solid"/>
          </a:ln>
        </p:spPr>
      </p:sp>
      <p:sp>
        <p:nvSpPr>
          <p:cNvPr id="50" name="Text 48"/>
          <p:cNvSpPr txBox="1"/>
          <p:nvPr/>
        </p:nvSpPr>
        <p:spPr>
          <a:xfrm>
            <a:off x="4497215" y="2821602"/>
            <a:ext cx="10140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51" name="Shape 49"/>
          <p:cNvSpPr/>
          <p:nvPr/>
        </p:nvSpPr>
        <p:spPr>
          <a:xfrm>
            <a:off x="5511219" y="2821602"/>
            <a:ext cx="450669" cy="183138"/>
          </a:xfrm>
          <a:prstGeom prst="rect">
            <a:avLst/>
          </a:prstGeom>
          <a:solidFill>
            <a:srgbClr val="C2352F"/>
          </a:solidFill>
          <a:ln w="6350">
            <a:solidFill>
              <a:srgbClr val="FFFFFF"/>
            </a:solidFill>
            <a:prstDash val="solid"/>
          </a:ln>
        </p:spPr>
      </p:sp>
      <p:sp>
        <p:nvSpPr>
          <p:cNvPr id="52" name="Text 50"/>
          <p:cNvSpPr txBox="1"/>
          <p:nvPr/>
        </p:nvSpPr>
        <p:spPr>
          <a:xfrm>
            <a:off x="5511219" y="2821602"/>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53" name="Text 51"/>
          <p:cNvSpPr txBox="1"/>
          <p:nvPr/>
        </p:nvSpPr>
        <p:spPr>
          <a:xfrm>
            <a:off x="658368"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54" name="Shape 52"/>
          <p:cNvSpPr/>
          <p:nvPr/>
        </p:nvSpPr>
        <p:spPr>
          <a:xfrm>
            <a:off x="2807208" y="3062573"/>
            <a:ext cx="1577340" cy="183138"/>
          </a:xfrm>
          <a:prstGeom prst="rect">
            <a:avLst/>
          </a:prstGeom>
          <a:solidFill>
            <a:srgbClr val="12A566"/>
          </a:solidFill>
          <a:ln w="6350">
            <a:solidFill>
              <a:srgbClr val="FFFFFF"/>
            </a:solidFill>
            <a:prstDash val="solid"/>
          </a:ln>
        </p:spPr>
      </p:sp>
      <p:sp>
        <p:nvSpPr>
          <p:cNvPr id="55" name="Text 53"/>
          <p:cNvSpPr txBox="1"/>
          <p:nvPr/>
        </p:nvSpPr>
        <p:spPr>
          <a:xfrm>
            <a:off x="280720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6" name="Shape 54"/>
          <p:cNvSpPr/>
          <p:nvPr/>
        </p:nvSpPr>
        <p:spPr>
          <a:xfrm>
            <a:off x="4384548" y="3062573"/>
            <a:ext cx="914" cy="183138"/>
          </a:xfrm>
          <a:prstGeom prst="rect">
            <a:avLst/>
          </a:prstGeom>
          <a:solidFill>
            <a:srgbClr val="5B9BD5"/>
          </a:solidFill>
          <a:ln w="6350">
            <a:solidFill>
              <a:srgbClr val="FFFFFF"/>
            </a:solidFill>
            <a:prstDash val="solid"/>
          </a:ln>
        </p:spPr>
      </p:sp>
      <p:sp>
        <p:nvSpPr>
          <p:cNvPr id="57" name="Shape 55"/>
          <p:cNvSpPr/>
          <p:nvPr/>
        </p:nvSpPr>
        <p:spPr>
          <a:xfrm>
            <a:off x="4384548" y="3062573"/>
            <a:ext cx="1577340" cy="183138"/>
          </a:xfrm>
          <a:prstGeom prst="rect">
            <a:avLst/>
          </a:prstGeom>
          <a:solidFill>
            <a:srgbClr val="C2352F"/>
          </a:solidFill>
          <a:ln w="6350">
            <a:solidFill>
              <a:srgbClr val="FFFFFF"/>
            </a:solidFill>
            <a:prstDash val="solid"/>
          </a:ln>
        </p:spPr>
      </p:sp>
      <p:sp>
        <p:nvSpPr>
          <p:cNvPr id="58" name="Text 56"/>
          <p:cNvSpPr txBox="1"/>
          <p:nvPr/>
        </p:nvSpPr>
        <p:spPr>
          <a:xfrm>
            <a:off x="4384548" y="3062573"/>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59" name="Text 57"/>
          <p:cNvSpPr txBox="1"/>
          <p:nvPr/>
        </p:nvSpPr>
        <p:spPr>
          <a:xfrm>
            <a:off x="658368"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0" name="Shape 58"/>
          <p:cNvSpPr/>
          <p:nvPr/>
        </p:nvSpPr>
        <p:spPr>
          <a:xfrm>
            <a:off x="2807208" y="3303544"/>
            <a:ext cx="1433945" cy="183138"/>
          </a:xfrm>
          <a:prstGeom prst="rect">
            <a:avLst/>
          </a:prstGeom>
          <a:solidFill>
            <a:srgbClr val="12A566"/>
          </a:solidFill>
          <a:ln w="6350">
            <a:solidFill>
              <a:srgbClr val="FFFFFF"/>
            </a:solidFill>
            <a:prstDash val="solid"/>
          </a:ln>
        </p:spPr>
      </p:sp>
      <p:sp>
        <p:nvSpPr>
          <p:cNvPr id="61" name="Text 59"/>
          <p:cNvSpPr txBox="1"/>
          <p:nvPr/>
        </p:nvSpPr>
        <p:spPr>
          <a:xfrm>
            <a:off x="2807208" y="3303544"/>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2" name="Shape 60"/>
          <p:cNvSpPr/>
          <p:nvPr/>
        </p:nvSpPr>
        <p:spPr>
          <a:xfrm>
            <a:off x="4241153" y="3303544"/>
            <a:ext cx="1147156" cy="183138"/>
          </a:xfrm>
          <a:prstGeom prst="rect">
            <a:avLst/>
          </a:prstGeom>
          <a:solidFill>
            <a:srgbClr val="5B9BD5"/>
          </a:solidFill>
          <a:ln w="6350">
            <a:solidFill>
              <a:srgbClr val="FFFFFF"/>
            </a:solidFill>
            <a:prstDash val="solid"/>
          </a:ln>
        </p:spPr>
      </p:sp>
      <p:sp>
        <p:nvSpPr>
          <p:cNvPr id="63" name="Text 61"/>
          <p:cNvSpPr txBox="1"/>
          <p:nvPr/>
        </p:nvSpPr>
        <p:spPr>
          <a:xfrm>
            <a:off x="4241153" y="3303544"/>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64" name="Shape 62"/>
          <p:cNvSpPr/>
          <p:nvPr/>
        </p:nvSpPr>
        <p:spPr>
          <a:xfrm>
            <a:off x="5388310" y="3303544"/>
            <a:ext cx="573578" cy="183138"/>
          </a:xfrm>
          <a:prstGeom prst="rect">
            <a:avLst/>
          </a:prstGeom>
          <a:solidFill>
            <a:srgbClr val="C2352F"/>
          </a:solidFill>
          <a:ln w="6350">
            <a:solidFill>
              <a:srgbClr val="FFFFFF"/>
            </a:solidFill>
            <a:prstDash val="solid"/>
          </a:ln>
        </p:spPr>
      </p:sp>
      <p:sp>
        <p:nvSpPr>
          <p:cNvPr id="65" name="Text 63"/>
          <p:cNvSpPr txBox="1"/>
          <p:nvPr/>
        </p:nvSpPr>
        <p:spPr>
          <a:xfrm>
            <a:off x="5388310" y="3303544"/>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66" name="Text 64"/>
          <p:cNvSpPr txBox="1"/>
          <p:nvPr/>
        </p:nvSpPr>
        <p:spPr>
          <a:xfrm>
            <a:off x="658368"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7" name="Shape 65"/>
          <p:cNvSpPr/>
          <p:nvPr/>
        </p:nvSpPr>
        <p:spPr>
          <a:xfrm>
            <a:off x="2807208" y="3544516"/>
            <a:ext cx="1433945" cy="183138"/>
          </a:xfrm>
          <a:prstGeom prst="rect">
            <a:avLst/>
          </a:prstGeom>
          <a:solidFill>
            <a:srgbClr val="12A566"/>
          </a:solidFill>
          <a:ln w="6350">
            <a:solidFill>
              <a:srgbClr val="FFFFFF"/>
            </a:solidFill>
            <a:prstDash val="solid"/>
          </a:ln>
        </p:spPr>
      </p:sp>
      <p:sp>
        <p:nvSpPr>
          <p:cNvPr id="68" name="Text 66"/>
          <p:cNvSpPr txBox="1"/>
          <p:nvPr/>
        </p:nvSpPr>
        <p:spPr>
          <a:xfrm>
            <a:off x="2807208" y="3544516"/>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69" name="Shape 67"/>
          <p:cNvSpPr/>
          <p:nvPr/>
        </p:nvSpPr>
        <p:spPr>
          <a:xfrm>
            <a:off x="4241153" y="3544516"/>
            <a:ext cx="573578" cy="183138"/>
          </a:xfrm>
          <a:prstGeom prst="rect">
            <a:avLst/>
          </a:prstGeom>
          <a:solidFill>
            <a:srgbClr val="5B9BD5"/>
          </a:solidFill>
          <a:ln w="6350">
            <a:solidFill>
              <a:srgbClr val="FFFFFF"/>
            </a:solidFill>
            <a:prstDash val="solid"/>
          </a:ln>
        </p:spPr>
      </p:sp>
      <p:sp>
        <p:nvSpPr>
          <p:cNvPr id="70" name="Text 68"/>
          <p:cNvSpPr txBox="1"/>
          <p:nvPr/>
        </p:nvSpPr>
        <p:spPr>
          <a:xfrm>
            <a:off x="4241153" y="3544516"/>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71" name="Shape 69"/>
          <p:cNvSpPr/>
          <p:nvPr/>
        </p:nvSpPr>
        <p:spPr>
          <a:xfrm>
            <a:off x="4814732" y="3544516"/>
            <a:ext cx="1147156" cy="183138"/>
          </a:xfrm>
          <a:prstGeom prst="rect">
            <a:avLst/>
          </a:prstGeom>
          <a:solidFill>
            <a:srgbClr val="C2352F"/>
          </a:solidFill>
          <a:ln w="6350">
            <a:solidFill>
              <a:srgbClr val="FFFFFF"/>
            </a:solidFill>
            <a:prstDash val="solid"/>
          </a:ln>
        </p:spPr>
      </p:sp>
      <p:sp>
        <p:nvSpPr>
          <p:cNvPr id="72" name="Text 70"/>
          <p:cNvSpPr txBox="1"/>
          <p:nvPr/>
        </p:nvSpPr>
        <p:spPr>
          <a:xfrm>
            <a:off x="4814732" y="3544516"/>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73" name="Text 71"/>
          <p:cNvSpPr txBox="1"/>
          <p:nvPr/>
        </p:nvSpPr>
        <p:spPr>
          <a:xfrm>
            <a:off x="658368"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74" name="Shape 72"/>
          <p:cNvSpPr/>
          <p:nvPr/>
        </p:nvSpPr>
        <p:spPr>
          <a:xfrm>
            <a:off x="2807208" y="3785487"/>
            <a:ext cx="1352006" cy="183138"/>
          </a:xfrm>
          <a:prstGeom prst="rect">
            <a:avLst/>
          </a:prstGeom>
          <a:solidFill>
            <a:srgbClr val="12A566"/>
          </a:solidFill>
          <a:ln w="6350">
            <a:solidFill>
              <a:srgbClr val="FFFFFF"/>
            </a:solidFill>
            <a:prstDash val="solid"/>
          </a:ln>
        </p:spPr>
      </p:sp>
      <p:sp>
        <p:nvSpPr>
          <p:cNvPr id="75" name="Text 73"/>
          <p:cNvSpPr txBox="1"/>
          <p:nvPr/>
        </p:nvSpPr>
        <p:spPr>
          <a:xfrm>
            <a:off x="2807208"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76" name="Shape 74"/>
          <p:cNvSpPr/>
          <p:nvPr/>
        </p:nvSpPr>
        <p:spPr>
          <a:xfrm>
            <a:off x="4159214" y="3785487"/>
            <a:ext cx="450669" cy="183138"/>
          </a:xfrm>
          <a:prstGeom prst="rect">
            <a:avLst/>
          </a:prstGeom>
          <a:solidFill>
            <a:srgbClr val="5B9BD5"/>
          </a:solidFill>
          <a:ln w="6350">
            <a:solidFill>
              <a:srgbClr val="FFFFFF"/>
            </a:solidFill>
            <a:prstDash val="solid"/>
          </a:ln>
        </p:spPr>
      </p:sp>
      <p:sp>
        <p:nvSpPr>
          <p:cNvPr id="77" name="Text 75"/>
          <p:cNvSpPr txBox="1"/>
          <p:nvPr/>
        </p:nvSpPr>
        <p:spPr>
          <a:xfrm>
            <a:off x="4159214" y="3785487"/>
            <a:ext cx="45066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14</a:t>
            </a:r>
            <a:endParaRPr lang="en-US" sz="1300" dirty="0"/>
          </a:p>
        </p:txBody>
      </p:sp>
      <p:sp>
        <p:nvSpPr>
          <p:cNvPr id="78" name="Shape 76"/>
          <p:cNvSpPr/>
          <p:nvPr/>
        </p:nvSpPr>
        <p:spPr>
          <a:xfrm>
            <a:off x="4609882" y="3785487"/>
            <a:ext cx="1352006" cy="183138"/>
          </a:xfrm>
          <a:prstGeom prst="rect">
            <a:avLst/>
          </a:prstGeom>
          <a:solidFill>
            <a:srgbClr val="C2352F"/>
          </a:solidFill>
          <a:ln w="6350">
            <a:solidFill>
              <a:srgbClr val="FFFFFF"/>
            </a:solidFill>
            <a:prstDash val="solid"/>
          </a:ln>
        </p:spPr>
      </p:sp>
      <p:sp>
        <p:nvSpPr>
          <p:cNvPr id="79" name="Text 77"/>
          <p:cNvSpPr txBox="1"/>
          <p:nvPr/>
        </p:nvSpPr>
        <p:spPr>
          <a:xfrm>
            <a:off x="4609882" y="3785487"/>
            <a:ext cx="135200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43</a:t>
            </a:r>
            <a:endParaRPr lang="en-US" sz="1300" dirty="0"/>
          </a:p>
        </p:txBody>
      </p:sp>
      <p:sp>
        <p:nvSpPr>
          <p:cNvPr id="80" name="Text 78"/>
          <p:cNvSpPr txBox="1"/>
          <p:nvPr/>
        </p:nvSpPr>
        <p:spPr>
          <a:xfrm>
            <a:off x="658368"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81" name="Shape 79"/>
          <p:cNvSpPr/>
          <p:nvPr/>
        </p:nvSpPr>
        <p:spPr>
          <a:xfrm>
            <a:off x="2807208" y="4026458"/>
            <a:ext cx="1298986" cy="183138"/>
          </a:xfrm>
          <a:prstGeom prst="rect">
            <a:avLst/>
          </a:prstGeom>
          <a:solidFill>
            <a:srgbClr val="12A566"/>
          </a:solidFill>
          <a:ln w="6350">
            <a:solidFill>
              <a:srgbClr val="FFFFFF"/>
            </a:solidFill>
            <a:prstDash val="solid"/>
          </a:ln>
        </p:spPr>
      </p:sp>
      <p:sp>
        <p:nvSpPr>
          <p:cNvPr id="82" name="Text 80"/>
          <p:cNvSpPr txBox="1"/>
          <p:nvPr/>
        </p:nvSpPr>
        <p:spPr>
          <a:xfrm>
            <a:off x="2807208" y="4026458"/>
            <a:ext cx="129898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83" name="Shape 81"/>
          <p:cNvSpPr/>
          <p:nvPr/>
        </p:nvSpPr>
        <p:spPr>
          <a:xfrm>
            <a:off x="4106194" y="4026458"/>
            <a:ext cx="865991" cy="183138"/>
          </a:xfrm>
          <a:prstGeom prst="rect">
            <a:avLst/>
          </a:prstGeom>
          <a:solidFill>
            <a:srgbClr val="5B9BD5"/>
          </a:solidFill>
          <a:ln w="6350">
            <a:solidFill>
              <a:srgbClr val="FFFFFF"/>
            </a:solidFill>
            <a:prstDash val="solid"/>
          </a:ln>
        </p:spPr>
      </p:sp>
      <p:sp>
        <p:nvSpPr>
          <p:cNvPr id="84" name="Text 82"/>
          <p:cNvSpPr txBox="1"/>
          <p:nvPr/>
        </p:nvSpPr>
        <p:spPr>
          <a:xfrm>
            <a:off x="4106194" y="4026458"/>
            <a:ext cx="86599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85" name="Shape 83"/>
          <p:cNvSpPr/>
          <p:nvPr/>
        </p:nvSpPr>
        <p:spPr>
          <a:xfrm>
            <a:off x="4972184" y="4026458"/>
            <a:ext cx="989704" cy="183138"/>
          </a:xfrm>
          <a:prstGeom prst="rect">
            <a:avLst/>
          </a:prstGeom>
          <a:solidFill>
            <a:srgbClr val="C2352F"/>
          </a:solidFill>
          <a:ln w="6350">
            <a:solidFill>
              <a:srgbClr val="FFFFFF"/>
            </a:solidFill>
            <a:prstDash val="solid"/>
          </a:ln>
        </p:spPr>
      </p:sp>
      <p:sp>
        <p:nvSpPr>
          <p:cNvPr id="86" name="Text 84"/>
          <p:cNvSpPr txBox="1"/>
          <p:nvPr/>
        </p:nvSpPr>
        <p:spPr>
          <a:xfrm>
            <a:off x="4972184" y="4026458"/>
            <a:ext cx="98970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87" name="Text 85"/>
          <p:cNvSpPr txBox="1"/>
          <p:nvPr/>
        </p:nvSpPr>
        <p:spPr>
          <a:xfrm>
            <a:off x="658368"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88" name="Shape 86"/>
          <p:cNvSpPr/>
          <p:nvPr/>
        </p:nvSpPr>
        <p:spPr>
          <a:xfrm>
            <a:off x="2807208" y="4267429"/>
            <a:ext cx="1226820" cy="183138"/>
          </a:xfrm>
          <a:prstGeom prst="rect">
            <a:avLst/>
          </a:prstGeom>
          <a:solidFill>
            <a:srgbClr val="12A566"/>
          </a:solidFill>
          <a:ln w="6350">
            <a:solidFill>
              <a:srgbClr val="FFFFFF"/>
            </a:solidFill>
            <a:prstDash val="solid"/>
          </a:ln>
        </p:spPr>
      </p:sp>
      <p:sp>
        <p:nvSpPr>
          <p:cNvPr id="89" name="Text 87"/>
          <p:cNvSpPr txBox="1"/>
          <p:nvPr/>
        </p:nvSpPr>
        <p:spPr>
          <a:xfrm>
            <a:off x="2807208" y="4267429"/>
            <a:ext cx="12268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39</a:t>
            </a:r>
            <a:endParaRPr lang="en-US" sz="1300" dirty="0"/>
          </a:p>
        </p:txBody>
      </p:sp>
      <p:sp>
        <p:nvSpPr>
          <p:cNvPr id="90" name="Shape 88"/>
          <p:cNvSpPr/>
          <p:nvPr/>
        </p:nvSpPr>
        <p:spPr>
          <a:xfrm>
            <a:off x="4034028" y="4267429"/>
            <a:ext cx="876300" cy="183138"/>
          </a:xfrm>
          <a:prstGeom prst="rect">
            <a:avLst/>
          </a:prstGeom>
          <a:solidFill>
            <a:srgbClr val="5B9BD5"/>
          </a:solidFill>
          <a:ln w="6350">
            <a:solidFill>
              <a:srgbClr val="FFFFFF"/>
            </a:solidFill>
            <a:prstDash val="solid"/>
          </a:ln>
        </p:spPr>
      </p:sp>
      <p:sp>
        <p:nvSpPr>
          <p:cNvPr id="91" name="Text 89"/>
          <p:cNvSpPr txBox="1"/>
          <p:nvPr/>
        </p:nvSpPr>
        <p:spPr>
          <a:xfrm>
            <a:off x="4034028" y="4267429"/>
            <a:ext cx="87630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92" name="Shape 90"/>
          <p:cNvSpPr/>
          <p:nvPr/>
        </p:nvSpPr>
        <p:spPr>
          <a:xfrm>
            <a:off x="4910328" y="4267429"/>
            <a:ext cx="1051560" cy="183138"/>
          </a:xfrm>
          <a:prstGeom prst="rect">
            <a:avLst/>
          </a:prstGeom>
          <a:solidFill>
            <a:srgbClr val="C2352F"/>
          </a:solidFill>
          <a:ln w="6350">
            <a:solidFill>
              <a:srgbClr val="FFFFFF"/>
            </a:solidFill>
            <a:prstDash val="solid"/>
          </a:ln>
        </p:spPr>
      </p:sp>
      <p:sp>
        <p:nvSpPr>
          <p:cNvPr id="93" name="Text 91"/>
          <p:cNvSpPr txBox="1"/>
          <p:nvPr/>
        </p:nvSpPr>
        <p:spPr>
          <a:xfrm>
            <a:off x="4910328" y="4267429"/>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94" name="Text 92"/>
          <p:cNvSpPr txBox="1"/>
          <p:nvPr/>
        </p:nvSpPr>
        <p:spPr>
          <a:xfrm>
            <a:off x="658368"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95" name="Shape 93"/>
          <p:cNvSpPr/>
          <p:nvPr/>
        </p:nvSpPr>
        <p:spPr>
          <a:xfrm>
            <a:off x="2807208" y="4508401"/>
            <a:ext cx="1176321" cy="183138"/>
          </a:xfrm>
          <a:prstGeom prst="rect">
            <a:avLst/>
          </a:prstGeom>
          <a:solidFill>
            <a:srgbClr val="12A566"/>
          </a:solidFill>
          <a:ln w="6350">
            <a:solidFill>
              <a:srgbClr val="FFFFFF"/>
            </a:solidFill>
            <a:prstDash val="solid"/>
          </a:ln>
        </p:spPr>
      </p:sp>
      <p:sp>
        <p:nvSpPr>
          <p:cNvPr id="96" name="Text 94"/>
          <p:cNvSpPr txBox="1"/>
          <p:nvPr/>
        </p:nvSpPr>
        <p:spPr>
          <a:xfrm>
            <a:off x="2807208" y="4508401"/>
            <a:ext cx="117632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97" name="Shape 95"/>
          <p:cNvSpPr/>
          <p:nvPr/>
        </p:nvSpPr>
        <p:spPr>
          <a:xfrm>
            <a:off x="3983529" y="4508401"/>
            <a:ext cx="908976" cy="183138"/>
          </a:xfrm>
          <a:prstGeom prst="rect">
            <a:avLst/>
          </a:prstGeom>
          <a:solidFill>
            <a:srgbClr val="5B9BD5"/>
          </a:solidFill>
          <a:ln w="6350">
            <a:solidFill>
              <a:srgbClr val="FFFFFF"/>
            </a:solidFill>
            <a:prstDash val="solid"/>
          </a:ln>
        </p:spPr>
      </p:sp>
      <p:sp>
        <p:nvSpPr>
          <p:cNvPr id="98" name="Text 96"/>
          <p:cNvSpPr txBox="1"/>
          <p:nvPr/>
        </p:nvSpPr>
        <p:spPr>
          <a:xfrm>
            <a:off x="3983529" y="4508401"/>
            <a:ext cx="90897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99" name="Shape 97"/>
          <p:cNvSpPr/>
          <p:nvPr/>
        </p:nvSpPr>
        <p:spPr>
          <a:xfrm>
            <a:off x="4892505" y="4508401"/>
            <a:ext cx="1069383" cy="183138"/>
          </a:xfrm>
          <a:prstGeom prst="rect">
            <a:avLst/>
          </a:prstGeom>
          <a:solidFill>
            <a:srgbClr val="C2352F"/>
          </a:solidFill>
          <a:ln w="6350">
            <a:solidFill>
              <a:srgbClr val="FFFFFF"/>
            </a:solidFill>
            <a:prstDash val="solid"/>
          </a:ln>
        </p:spPr>
      </p:sp>
      <p:sp>
        <p:nvSpPr>
          <p:cNvPr id="100" name="Text 98"/>
          <p:cNvSpPr txBox="1"/>
          <p:nvPr/>
        </p:nvSpPr>
        <p:spPr>
          <a:xfrm>
            <a:off x="4892505" y="4508401"/>
            <a:ext cx="106938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34</a:t>
            </a:r>
            <a:endParaRPr lang="en-US" sz="1300" dirty="0"/>
          </a:p>
        </p:txBody>
      </p:sp>
      <p:sp>
        <p:nvSpPr>
          <p:cNvPr id="101" name="Text 99"/>
          <p:cNvSpPr txBox="1"/>
          <p:nvPr/>
        </p:nvSpPr>
        <p:spPr>
          <a:xfrm>
            <a:off x="658368"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02" name="Shape 100"/>
          <p:cNvSpPr/>
          <p:nvPr/>
        </p:nvSpPr>
        <p:spPr>
          <a:xfrm>
            <a:off x="2807208" y="4749372"/>
            <a:ext cx="1147156" cy="183138"/>
          </a:xfrm>
          <a:prstGeom prst="rect">
            <a:avLst/>
          </a:prstGeom>
          <a:solidFill>
            <a:srgbClr val="12A566"/>
          </a:solidFill>
          <a:ln w="6350">
            <a:solidFill>
              <a:srgbClr val="FFFFFF"/>
            </a:solidFill>
            <a:prstDash val="solid"/>
          </a:ln>
        </p:spPr>
      </p:sp>
      <p:sp>
        <p:nvSpPr>
          <p:cNvPr id="103" name="Text 101"/>
          <p:cNvSpPr txBox="1"/>
          <p:nvPr/>
        </p:nvSpPr>
        <p:spPr>
          <a:xfrm>
            <a:off x="2807208" y="4749372"/>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04" name="Shape 102"/>
          <p:cNvSpPr/>
          <p:nvPr/>
        </p:nvSpPr>
        <p:spPr>
          <a:xfrm>
            <a:off x="3954364" y="4749372"/>
            <a:ext cx="286789" cy="183138"/>
          </a:xfrm>
          <a:prstGeom prst="rect">
            <a:avLst/>
          </a:prstGeom>
          <a:solidFill>
            <a:srgbClr val="5B9BD5"/>
          </a:solidFill>
          <a:ln w="6350">
            <a:solidFill>
              <a:srgbClr val="FFFFFF"/>
            </a:solidFill>
            <a:prstDash val="solid"/>
          </a:ln>
        </p:spPr>
      </p:sp>
      <p:sp>
        <p:nvSpPr>
          <p:cNvPr id="105" name="Text 103"/>
          <p:cNvSpPr txBox="1"/>
          <p:nvPr/>
        </p:nvSpPr>
        <p:spPr>
          <a:xfrm>
            <a:off x="3954364" y="4749372"/>
            <a:ext cx="28678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9</a:t>
            </a:r>
            <a:endParaRPr lang="en-US" sz="1300" dirty="0"/>
          </a:p>
        </p:txBody>
      </p:sp>
      <p:sp>
        <p:nvSpPr>
          <p:cNvPr id="106" name="Shape 104"/>
          <p:cNvSpPr/>
          <p:nvPr/>
        </p:nvSpPr>
        <p:spPr>
          <a:xfrm>
            <a:off x="4241153" y="4749372"/>
            <a:ext cx="1720735" cy="183138"/>
          </a:xfrm>
          <a:prstGeom prst="rect">
            <a:avLst/>
          </a:prstGeom>
          <a:solidFill>
            <a:srgbClr val="C2352F"/>
          </a:solidFill>
          <a:ln w="6350">
            <a:solidFill>
              <a:srgbClr val="FFFFFF"/>
            </a:solidFill>
            <a:prstDash val="solid"/>
          </a:ln>
        </p:spPr>
      </p:sp>
      <p:sp>
        <p:nvSpPr>
          <p:cNvPr id="107" name="Text 105"/>
          <p:cNvSpPr txBox="1"/>
          <p:nvPr/>
        </p:nvSpPr>
        <p:spPr>
          <a:xfrm>
            <a:off x="4241153" y="4749372"/>
            <a:ext cx="172073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08" name="Text 106"/>
          <p:cNvSpPr txBox="1"/>
          <p:nvPr/>
        </p:nvSpPr>
        <p:spPr>
          <a:xfrm>
            <a:off x="658368"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09" name="Shape 107"/>
          <p:cNvSpPr/>
          <p:nvPr/>
        </p:nvSpPr>
        <p:spPr>
          <a:xfrm>
            <a:off x="2807208" y="4990343"/>
            <a:ext cx="1147156" cy="183138"/>
          </a:xfrm>
          <a:prstGeom prst="rect">
            <a:avLst/>
          </a:prstGeom>
          <a:solidFill>
            <a:srgbClr val="12A566"/>
          </a:solidFill>
          <a:ln w="6350">
            <a:solidFill>
              <a:srgbClr val="FFFFFF"/>
            </a:solidFill>
            <a:prstDash val="solid"/>
          </a:ln>
        </p:spPr>
      </p:sp>
      <p:sp>
        <p:nvSpPr>
          <p:cNvPr id="110" name="Text 108"/>
          <p:cNvSpPr txBox="1"/>
          <p:nvPr/>
        </p:nvSpPr>
        <p:spPr>
          <a:xfrm>
            <a:off x="2807208" y="4990343"/>
            <a:ext cx="114715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36</a:t>
            </a:r>
            <a:endParaRPr lang="en-US" sz="1300" dirty="0"/>
          </a:p>
        </p:txBody>
      </p:sp>
      <p:sp>
        <p:nvSpPr>
          <p:cNvPr id="111" name="Shape 109"/>
          <p:cNvSpPr/>
          <p:nvPr/>
        </p:nvSpPr>
        <p:spPr>
          <a:xfrm>
            <a:off x="3954364" y="4990343"/>
            <a:ext cx="573578" cy="183138"/>
          </a:xfrm>
          <a:prstGeom prst="rect">
            <a:avLst/>
          </a:prstGeom>
          <a:solidFill>
            <a:srgbClr val="5B9BD5"/>
          </a:solidFill>
          <a:ln w="6350">
            <a:solidFill>
              <a:srgbClr val="FFFFFF"/>
            </a:solidFill>
            <a:prstDash val="solid"/>
          </a:ln>
        </p:spPr>
      </p:sp>
      <p:sp>
        <p:nvSpPr>
          <p:cNvPr id="112" name="Text 110"/>
          <p:cNvSpPr txBox="1"/>
          <p:nvPr/>
        </p:nvSpPr>
        <p:spPr>
          <a:xfrm>
            <a:off x="3954364" y="4990343"/>
            <a:ext cx="57357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13" name="Shape 111"/>
          <p:cNvSpPr/>
          <p:nvPr/>
        </p:nvSpPr>
        <p:spPr>
          <a:xfrm>
            <a:off x="4527943" y="4990343"/>
            <a:ext cx="1433945" cy="183138"/>
          </a:xfrm>
          <a:prstGeom prst="rect">
            <a:avLst/>
          </a:prstGeom>
          <a:solidFill>
            <a:srgbClr val="C2352F"/>
          </a:solidFill>
          <a:ln w="6350">
            <a:solidFill>
              <a:srgbClr val="FFFFFF"/>
            </a:solidFill>
            <a:prstDash val="solid"/>
          </a:ln>
        </p:spPr>
      </p:sp>
      <p:sp>
        <p:nvSpPr>
          <p:cNvPr id="114" name="Text 112"/>
          <p:cNvSpPr txBox="1"/>
          <p:nvPr/>
        </p:nvSpPr>
        <p:spPr>
          <a:xfrm>
            <a:off x="4527943" y="4990343"/>
            <a:ext cx="143394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45</a:t>
            </a:r>
            <a:endParaRPr lang="en-US" sz="1300" dirty="0"/>
          </a:p>
        </p:txBody>
      </p:sp>
      <p:sp>
        <p:nvSpPr>
          <p:cNvPr id="115" name="Text 113"/>
          <p:cNvSpPr txBox="1"/>
          <p:nvPr/>
        </p:nvSpPr>
        <p:spPr>
          <a:xfrm>
            <a:off x="658368"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6" name="Shape 114"/>
          <p:cNvSpPr/>
          <p:nvPr/>
        </p:nvSpPr>
        <p:spPr>
          <a:xfrm>
            <a:off x="2807208" y="5231315"/>
            <a:ext cx="1051560" cy="183138"/>
          </a:xfrm>
          <a:prstGeom prst="rect">
            <a:avLst/>
          </a:prstGeom>
          <a:solidFill>
            <a:srgbClr val="12A566"/>
          </a:solidFill>
          <a:ln w="6350">
            <a:solidFill>
              <a:srgbClr val="FFFFFF"/>
            </a:solidFill>
            <a:prstDash val="solid"/>
          </a:ln>
        </p:spPr>
      </p:sp>
      <p:sp>
        <p:nvSpPr>
          <p:cNvPr id="117" name="Text 115"/>
          <p:cNvSpPr txBox="1"/>
          <p:nvPr/>
        </p:nvSpPr>
        <p:spPr>
          <a:xfrm>
            <a:off x="2807208" y="5231315"/>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18" name="Shape 116"/>
          <p:cNvSpPr/>
          <p:nvPr/>
        </p:nvSpPr>
        <p:spPr>
          <a:xfrm>
            <a:off x="3858768" y="5231315"/>
            <a:ext cx="914" cy="183138"/>
          </a:xfrm>
          <a:prstGeom prst="rect">
            <a:avLst/>
          </a:prstGeom>
          <a:solidFill>
            <a:srgbClr val="5B9BD5"/>
          </a:solidFill>
          <a:ln w="6350">
            <a:solidFill>
              <a:srgbClr val="FFFFFF"/>
            </a:solidFill>
            <a:prstDash val="solid"/>
          </a:ln>
        </p:spPr>
      </p:sp>
      <p:sp>
        <p:nvSpPr>
          <p:cNvPr id="119" name="Shape 117"/>
          <p:cNvSpPr/>
          <p:nvPr/>
        </p:nvSpPr>
        <p:spPr>
          <a:xfrm>
            <a:off x="3858768" y="5231315"/>
            <a:ext cx="2103120" cy="183138"/>
          </a:xfrm>
          <a:prstGeom prst="rect">
            <a:avLst/>
          </a:prstGeom>
          <a:solidFill>
            <a:srgbClr val="C2352F"/>
          </a:solidFill>
          <a:ln w="6350">
            <a:solidFill>
              <a:srgbClr val="FFFFFF"/>
            </a:solidFill>
            <a:prstDash val="solid"/>
          </a:ln>
        </p:spPr>
      </p:sp>
      <p:sp>
        <p:nvSpPr>
          <p:cNvPr id="120" name="Text 118"/>
          <p:cNvSpPr txBox="1"/>
          <p:nvPr/>
        </p:nvSpPr>
        <p:spPr>
          <a:xfrm>
            <a:off x="3858768" y="5231315"/>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21" name="Text 119"/>
          <p:cNvSpPr txBox="1"/>
          <p:nvPr/>
        </p:nvSpPr>
        <p:spPr>
          <a:xfrm>
            <a:off x="658368"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22" name="Shape 120"/>
          <p:cNvSpPr/>
          <p:nvPr/>
        </p:nvSpPr>
        <p:spPr>
          <a:xfrm>
            <a:off x="2807208" y="5472286"/>
            <a:ext cx="1051560" cy="183138"/>
          </a:xfrm>
          <a:prstGeom prst="rect">
            <a:avLst/>
          </a:prstGeom>
          <a:solidFill>
            <a:srgbClr val="12A566"/>
          </a:solidFill>
          <a:ln w="6350">
            <a:solidFill>
              <a:srgbClr val="FFFFFF"/>
            </a:solidFill>
            <a:prstDash val="solid"/>
          </a:ln>
        </p:spPr>
      </p:sp>
      <p:sp>
        <p:nvSpPr>
          <p:cNvPr id="123" name="Text 121"/>
          <p:cNvSpPr txBox="1"/>
          <p:nvPr/>
        </p:nvSpPr>
        <p:spPr>
          <a:xfrm>
            <a:off x="2807208" y="547228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24" name="Shape 122"/>
          <p:cNvSpPr/>
          <p:nvPr/>
        </p:nvSpPr>
        <p:spPr>
          <a:xfrm>
            <a:off x="3858768" y="5472286"/>
            <a:ext cx="817880" cy="183138"/>
          </a:xfrm>
          <a:prstGeom prst="rect">
            <a:avLst/>
          </a:prstGeom>
          <a:solidFill>
            <a:srgbClr val="5B9BD5"/>
          </a:solidFill>
          <a:ln w="6350">
            <a:solidFill>
              <a:srgbClr val="FFFFFF"/>
            </a:solidFill>
            <a:prstDash val="solid"/>
          </a:ln>
        </p:spPr>
      </p:sp>
      <p:sp>
        <p:nvSpPr>
          <p:cNvPr id="125" name="Text 123"/>
          <p:cNvSpPr txBox="1"/>
          <p:nvPr/>
        </p:nvSpPr>
        <p:spPr>
          <a:xfrm>
            <a:off x="3858768" y="5472286"/>
            <a:ext cx="8178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26" name="Shape 124"/>
          <p:cNvSpPr/>
          <p:nvPr/>
        </p:nvSpPr>
        <p:spPr>
          <a:xfrm>
            <a:off x="4676648" y="5472286"/>
            <a:ext cx="1285240" cy="183138"/>
          </a:xfrm>
          <a:prstGeom prst="rect">
            <a:avLst/>
          </a:prstGeom>
          <a:solidFill>
            <a:srgbClr val="C2352F"/>
          </a:solidFill>
          <a:ln w="6350">
            <a:solidFill>
              <a:srgbClr val="FFFFFF"/>
            </a:solidFill>
            <a:prstDash val="solid"/>
          </a:ln>
        </p:spPr>
      </p:sp>
      <p:sp>
        <p:nvSpPr>
          <p:cNvPr id="127" name="Text 125"/>
          <p:cNvSpPr txBox="1"/>
          <p:nvPr/>
        </p:nvSpPr>
        <p:spPr>
          <a:xfrm>
            <a:off x="4676648" y="5472286"/>
            <a:ext cx="12852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41</a:t>
            </a:r>
            <a:endParaRPr lang="en-US" sz="1300" dirty="0"/>
          </a:p>
        </p:txBody>
      </p:sp>
      <p:sp>
        <p:nvSpPr>
          <p:cNvPr id="128" name="Text 126"/>
          <p:cNvSpPr txBox="1"/>
          <p:nvPr/>
        </p:nvSpPr>
        <p:spPr>
          <a:xfrm>
            <a:off x="658368" y="568434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129" name="Shape 127"/>
          <p:cNvSpPr/>
          <p:nvPr/>
        </p:nvSpPr>
        <p:spPr>
          <a:xfrm>
            <a:off x="2807208" y="5713257"/>
            <a:ext cx="996215" cy="183138"/>
          </a:xfrm>
          <a:prstGeom prst="rect">
            <a:avLst/>
          </a:prstGeom>
          <a:solidFill>
            <a:srgbClr val="12A566"/>
          </a:solidFill>
          <a:ln w="6350">
            <a:solidFill>
              <a:srgbClr val="FFFFFF"/>
            </a:solidFill>
            <a:prstDash val="solid"/>
          </a:ln>
        </p:spPr>
      </p:sp>
      <p:sp>
        <p:nvSpPr>
          <p:cNvPr id="130" name="Text 128"/>
          <p:cNvSpPr txBox="1"/>
          <p:nvPr/>
        </p:nvSpPr>
        <p:spPr>
          <a:xfrm>
            <a:off x="2807208"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1" name="Shape 129"/>
          <p:cNvSpPr/>
          <p:nvPr/>
        </p:nvSpPr>
        <p:spPr>
          <a:xfrm>
            <a:off x="3803423" y="5713257"/>
            <a:ext cx="1162251" cy="183138"/>
          </a:xfrm>
          <a:prstGeom prst="rect">
            <a:avLst/>
          </a:prstGeom>
          <a:solidFill>
            <a:srgbClr val="5B9BD5"/>
          </a:solidFill>
          <a:ln w="6350">
            <a:solidFill>
              <a:srgbClr val="FFFFFF"/>
            </a:solidFill>
            <a:prstDash val="solid"/>
          </a:ln>
        </p:spPr>
      </p:sp>
      <p:sp>
        <p:nvSpPr>
          <p:cNvPr id="132" name="Text 130"/>
          <p:cNvSpPr txBox="1"/>
          <p:nvPr/>
        </p:nvSpPr>
        <p:spPr>
          <a:xfrm>
            <a:off x="3803423" y="5713257"/>
            <a:ext cx="1162251"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37</a:t>
            </a:r>
            <a:endParaRPr lang="en-US" sz="1300" dirty="0"/>
          </a:p>
        </p:txBody>
      </p:sp>
      <p:sp>
        <p:nvSpPr>
          <p:cNvPr id="133" name="Shape 131"/>
          <p:cNvSpPr/>
          <p:nvPr/>
        </p:nvSpPr>
        <p:spPr>
          <a:xfrm>
            <a:off x="4965673" y="5713257"/>
            <a:ext cx="996215" cy="183138"/>
          </a:xfrm>
          <a:prstGeom prst="rect">
            <a:avLst/>
          </a:prstGeom>
          <a:solidFill>
            <a:srgbClr val="C2352F"/>
          </a:solidFill>
          <a:ln w="6350">
            <a:solidFill>
              <a:srgbClr val="FFFFFF"/>
            </a:solidFill>
            <a:prstDash val="solid"/>
          </a:ln>
        </p:spPr>
      </p:sp>
      <p:sp>
        <p:nvSpPr>
          <p:cNvPr id="134" name="Text 132"/>
          <p:cNvSpPr txBox="1"/>
          <p:nvPr/>
        </p:nvSpPr>
        <p:spPr>
          <a:xfrm>
            <a:off x="4965673" y="5713257"/>
            <a:ext cx="99621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32</a:t>
            </a:r>
            <a:endParaRPr lang="en-US" sz="1300" dirty="0"/>
          </a:p>
        </p:txBody>
      </p:sp>
      <p:sp>
        <p:nvSpPr>
          <p:cNvPr id="135" name="Text 133"/>
          <p:cNvSpPr txBox="1"/>
          <p:nvPr/>
        </p:nvSpPr>
        <p:spPr>
          <a:xfrm>
            <a:off x="6208776" y="182880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36" name="Shape 134"/>
          <p:cNvSpPr/>
          <p:nvPr/>
        </p:nvSpPr>
        <p:spPr>
          <a:xfrm>
            <a:off x="8357616" y="1857717"/>
            <a:ext cx="985838" cy="183138"/>
          </a:xfrm>
          <a:prstGeom prst="rect">
            <a:avLst/>
          </a:prstGeom>
          <a:solidFill>
            <a:srgbClr val="12A566"/>
          </a:solidFill>
          <a:ln w="6350">
            <a:solidFill>
              <a:srgbClr val="FFFFFF"/>
            </a:solidFill>
            <a:prstDash val="solid"/>
          </a:ln>
        </p:spPr>
      </p:sp>
      <p:sp>
        <p:nvSpPr>
          <p:cNvPr id="137" name="Text 135"/>
          <p:cNvSpPr txBox="1"/>
          <p:nvPr/>
        </p:nvSpPr>
        <p:spPr>
          <a:xfrm>
            <a:off x="8357616" y="1857717"/>
            <a:ext cx="98583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31</a:t>
            </a:r>
            <a:endParaRPr lang="en-US" sz="1300" dirty="0"/>
          </a:p>
        </p:txBody>
      </p:sp>
      <p:sp>
        <p:nvSpPr>
          <p:cNvPr id="138" name="Shape 136"/>
          <p:cNvSpPr/>
          <p:nvPr/>
        </p:nvSpPr>
        <p:spPr>
          <a:xfrm>
            <a:off x="9343454" y="1857717"/>
            <a:ext cx="591503" cy="183138"/>
          </a:xfrm>
          <a:prstGeom prst="rect">
            <a:avLst/>
          </a:prstGeom>
          <a:solidFill>
            <a:srgbClr val="5B9BD5"/>
          </a:solidFill>
          <a:ln w="6350">
            <a:solidFill>
              <a:srgbClr val="FFFFFF"/>
            </a:solidFill>
            <a:prstDash val="solid"/>
          </a:ln>
        </p:spPr>
      </p:sp>
      <p:sp>
        <p:nvSpPr>
          <p:cNvPr id="139" name="Text 137"/>
          <p:cNvSpPr txBox="1"/>
          <p:nvPr/>
        </p:nvSpPr>
        <p:spPr>
          <a:xfrm>
            <a:off x="9343454" y="1857717"/>
            <a:ext cx="59150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19</a:t>
            </a:r>
            <a:endParaRPr lang="en-US" sz="1300" dirty="0"/>
          </a:p>
        </p:txBody>
      </p:sp>
      <p:sp>
        <p:nvSpPr>
          <p:cNvPr id="140" name="Shape 138"/>
          <p:cNvSpPr/>
          <p:nvPr/>
        </p:nvSpPr>
        <p:spPr>
          <a:xfrm>
            <a:off x="9934956" y="1857717"/>
            <a:ext cx="1577340" cy="183138"/>
          </a:xfrm>
          <a:prstGeom prst="rect">
            <a:avLst/>
          </a:prstGeom>
          <a:solidFill>
            <a:srgbClr val="C2352F"/>
          </a:solidFill>
          <a:ln w="6350">
            <a:solidFill>
              <a:srgbClr val="FFFFFF"/>
            </a:solidFill>
            <a:prstDash val="solid"/>
          </a:ln>
        </p:spPr>
      </p:sp>
      <p:sp>
        <p:nvSpPr>
          <p:cNvPr id="141" name="Text 139"/>
          <p:cNvSpPr txBox="1"/>
          <p:nvPr/>
        </p:nvSpPr>
        <p:spPr>
          <a:xfrm>
            <a:off x="9934956" y="1857717"/>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42" name="Text 140"/>
          <p:cNvSpPr txBox="1"/>
          <p:nvPr/>
        </p:nvSpPr>
        <p:spPr>
          <a:xfrm>
            <a:off x="6208776" y="2069771"/>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3" name="Shape 141"/>
          <p:cNvSpPr/>
          <p:nvPr/>
        </p:nvSpPr>
        <p:spPr>
          <a:xfrm>
            <a:off x="8357616" y="2098688"/>
            <a:ext cx="901337" cy="183138"/>
          </a:xfrm>
          <a:prstGeom prst="rect">
            <a:avLst/>
          </a:prstGeom>
          <a:solidFill>
            <a:srgbClr val="12A566"/>
          </a:solidFill>
          <a:ln w="6350">
            <a:solidFill>
              <a:srgbClr val="FFFFFF"/>
            </a:solidFill>
            <a:prstDash val="solid"/>
          </a:ln>
        </p:spPr>
      </p:sp>
      <p:sp>
        <p:nvSpPr>
          <p:cNvPr id="144" name="Text 142"/>
          <p:cNvSpPr txBox="1"/>
          <p:nvPr/>
        </p:nvSpPr>
        <p:spPr>
          <a:xfrm>
            <a:off x="8357616" y="2098688"/>
            <a:ext cx="90133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29</a:t>
            </a:r>
            <a:endParaRPr lang="en-US" sz="1300" dirty="0"/>
          </a:p>
        </p:txBody>
      </p:sp>
      <p:sp>
        <p:nvSpPr>
          <p:cNvPr id="145" name="Shape 143"/>
          <p:cNvSpPr/>
          <p:nvPr/>
        </p:nvSpPr>
        <p:spPr>
          <a:xfrm>
            <a:off x="9258953" y="2098688"/>
            <a:ext cx="225334" cy="183138"/>
          </a:xfrm>
          <a:prstGeom prst="rect">
            <a:avLst/>
          </a:prstGeom>
          <a:solidFill>
            <a:srgbClr val="5B9BD5"/>
          </a:solidFill>
          <a:ln w="6350">
            <a:solidFill>
              <a:srgbClr val="FFFFFF"/>
            </a:solidFill>
            <a:prstDash val="solid"/>
          </a:ln>
        </p:spPr>
      </p:sp>
      <p:sp>
        <p:nvSpPr>
          <p:cNvPr id="146" name="Text 144"/>
          <p:cNvSpPr txBox="1"/>
          <p:nvPr/>
        </p:nvSpPr>
        <p:spPr>
          <a:xfrm>
            <a:off x="9258953" y="2098688"/>
            <a:ext cx="22533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a:t>
            </a:r>
            <a:endParaRPr lang="en-US" sz="1300" dirty="0"/>
          </a:p>
        </p:txBody>
      </p:sp>
      <p:sp>
        <p:nvSpPr>
          <p:cNvPr id="147" name="Shape 145"/>
          <p:cNvSpPr/>
          <p:nvPr/>
        </p:nvSpPr>
        <p:spPr>
          <a:xfrm>
            <a:off x="9484287" y="2098688"/>
            <a:ext cx="2028009" cy="183138"/>
          </a:xfrm>
          <a:prstGeom prst="rect">
            <a:avLst/>
          </a:prstGeom>
          <a:solidFill>
            <a:srgbClr val="C2352F"/>
          </a:solidFill>
          <a:ln w="6350">
            <a:solidFill>
              <a:srgbClr val="FFFFFF"/>
            </a:solidFill>
            <a:prstDash val="solid"/>
          </a:ln>
        </p:spPr>
      </p:sp>
      <p:sp>
        <p:nvSpPr>
          <p:cNvPr id="148" name="Text 146"/>
          <p:cNvSpPr txBox="1"/>
          <p:nvPr/>
        </p:nvSpPr>
        <p:spPr>
          <a:xfrm>
            <a:off x="9484287" y="2098688"/>
            <a:ext cx="2028009"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64</a:t>
            </a:r>
            <a:endParaRPr lang="en-US" sz="1300" dirty="0"/>
          </a:p>
        </p:txBody>
      </p:sp>
      <p:sp>
        <p:nvSpPr>
          <p:cNvPr id="149" name="Text 147"/>
          <p:cNvSpPr txBox="1"/>
          <p:nvPr/>
        </p:nvSpPr>
        <p:spPr>
          <a:xfrm>
            <a:off x="6208776" y="231074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50" name="Shape 148"/>
          <p:cNvSpPr/>
          <p:nvPr/>
        </p:nvSpPr>
        <p:spPr>
          <a:xfrm>
            <a:off x="8357616" y="2339659"/>
            <a:ext cx="870257" cy="183138"/>
          </a:xfrm>
          <a:prstGeom prst="rect">
            <a:avLst/>
          </a:prstGeom>
          <a:solidFill>
            <a:srgbClr val="12A566"/>
          </a:solidFill>
          <a:ln w="6350">
            <a:solidFill>
              <a:srgbClr val="FFFFFF"/>
            </a:solidFill>
            <a:prstDash val="solid"/>
          </a:ln>
        </p:spPr>
      </p:sp>
      <p:sp>
        <p:nvSpPr>
          <p:cNvPr id="151" name="Text 149"/>
          <p:cNvSpPr txBox="1"/>
          <p:nvPr/>
        </p:nvSpPr>
        <p:spPr>
          <a:xfrm>
            <a:off x="8357616" y="2339659"/>
            <a:ext cx="87025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28</a:t>
            </a:r>
            <a:endParaRPr lang="en-US" sz="1300" dirty="0"/>
          </a:p>
        </p:txBody>
      </p:sp>
      <p:sp>
        <p:nvSpPr>
          <p:cNvPr id="152" name="Shape 150"/>
          <p:cNvSpPr/>
          <p:nvPr/>
        </p:nvSpPr>
        <p:spPr>
          <a:xfrm>
            <a:off x="9227873" y="2339659"/>
            <a:ext cx="543910" cy="183138"/>
          </a:xfrm>
          <a:prstGeom prst="rect">
            <a:avLst/>
          </a:prstGeom>
          <a:solidFill>
            <a:srgbClr val="5B9BD5"/>
          </a:solidFill>
          <a:ln w="6350">
            <a:solidFill>
              <a:srgbClr val="FFFFFF"/>
            </a:solidFill>
            <a:prstDash val="solid"/>
          </a:ln>
        </p:spPr>
      </p:sp>
      <p:sp>
        <p:nvSpPr>
          <p:cNvPr id="153" name="Text 151"/>
          <p:cNvSpPr txBox="1"/>
          <p:nvPr/>
        </p:nvSpPr>
        <p:spPr>
          <a:xfrm>
            <a:off x="9227873" y="2339659"/>
            <a:ext cx="5439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54" name="Shape 152"/>
          <p:cNvSpPr/>
          <p:nvPr/>
        </p:nvSpPr>
        <p:spPr>
          <a:xfrm>
            <a:off x="9771783" y="2339659"/>
            <a:ext cx="1740513" cy="183138"/>
          </a:xfrm>
          <a:prstGeom prst="rect">
            <a:avLst/>
          </a:prstGeom>
          <a:solidFill>
            <a:srgbClr val="C2352F"/>
          </a:solidFill>
          <a:ln w="6350">
            <a:solidFill>
              <a:srgbClr val="FFFFFF"/>
            </a:solidFill>
            <a:prstDash val="solid"/>
          </a:ln>
        </p:spPr>
      </p:sp>
      <p:sp>
        <p:nvSpPr>
          <p:cNvPr id="155" name="Text 153"/>
          <p:cNvSpPr txBox="1"/>
          <p:nvPr/>
        </p:nvSpPr>
        <p:spPr>
          <a:xfrm>
            <a:off x="9771783" y="2339659"/>
            <a:ext cx="17405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55</a:t>
            </a:r>
            <a:endParaRPr lang="en-US" sz="1300" dirty="0"/>
          </a:p>
        </p:txBody>
      </p:sp>
      <p:sp>
        <p:nvSpPr>
          <p:cNvPr id="156" name="Text 154"/>
          <p:cNvSpPr txBox="1"/>
          <p:nvPr/>
        </p:nvSpPr>
        <p:spPr>
          <a:xfrm>
            <a:off x="6208776" y="255171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7" name="Shape 155"/>
          <p:cNvSpPr/>
          <p:nvPr/>
        </p:nvSpPr>
        <p:spPr>
          <a:xfrm>
            <a:off x="8357616" y="2580630"/>
            <a:ext cx="860367" cy="183138"/>
          </a:xfrm>
          <a:prstGeom prst="rect">
            <a:avLst/>
          </a:prstGeom>
          <a:solidFill>
            <a:srgbClr val="12A566"/>
          </a:solidFill>
          <a:ln w="6350">
            <a:solidFill>
              <a:srgbClr val="FFFFFF"/>
            </a:solidFill>
            <a:prstDash val="solid"/>
          </a:ln>
        </p:spPr>
      </p:sp>
      <p:sp>
        <p:nvSpPr>
          <p:cNvPr id="158" name="Text 156"/>
          <p:cNvSpPr txBox="1"/>
          <p:nvPr/>
        </p:nvSpPr>
        <p:spPr>
          <a:xfrm>
            <a:off x="8357616" y="2580630"/>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59" name="Shape 157"/>
          <p:cNvSpPr/>
          <p:nvPr/>
        </p:nvSpPr>
        <p:spPr>
          <a:xfrm>
            <a:off x="9217983" y="2580630"/>
            <a:ext cx="914" cy="183138"/>
          </a:xfrm>
          <a:prstGeom prst="rect">
            <a:avLst/>
          </a:prstGeom>
          <a:solidFill>
            <a:srgbClr val="5B9BD5"/>
          </a:solidFill>
          <a:ln w="6350">
            <a:solidFill>
              <a:srgbClr val="FFFFFF"/>
            </a:solidFill>
            <a:prstDash val="solid"/>
          </a:ln>
        </p:spPr>
      </p:sp>
      <p:sp>
        <p:nvSpPr>
          <p:cNvPr id="160" name="Shape 158"/>
          <p:cNvSpPr/>
          <p:nvPr/>
        </p:nvSpPr>
        <p:spPr>
          <a:xfrm>
            <a:off x="9217983" y="2580630"/>
            <a:ext cx="2294313" cy="183138"/>
          </a:xfrm>
          <a:prstGeom prst="rect">
            <a:avLst/>
          </a:prstGeom>
          <a:solidFill>
            <a:srgbClr val="C2352F"/>
          </a:solidFill>
          <a:ln w="6350">
            <a:solidFill>
              <a:srgbClr val="FFFFFF"/>
            </a:solidFill>
            <a:prstDash val="solid"/>
          </a:ln>
        </p:spPr>
      </p:sp>
      <p:sp>
        <p:nvSpPr>
          <p:cNvPr id="161" name="Text 159"/>
          <p:cNvSpPr txBox="1"/>
          <p:nvPr/>
        </p:nvSpPr>
        <p:spPr>
          <a:xfrm>
            <a:off x="9217983" y="2580630"/>
            <a:ext cx="229431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73</a:t>
            </a:r>
            <a:endParaRPr lang="en-US" sz="1300" dirty="0"/>
          </a:p>
        </p:txBody>
      </p:sp>
      <p:sp>
        <p:nvSpPr>
          <p:cNvPr id="162" name="Text 160"/>
          <p:cNvSpPr txBox="1"/>
          <p:nvPr/>
        </p:nvSpPr>
        <p:spPr>
          <a:xfrm>
            <a:off x="6208776" y="2792685"/>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63" name="Shape 161"/>
          <p:cNvSpPr/>
          <p:nvPr/>
        </p:nvSpPr>
        <p:spPr>
          <a:xfrm>
            <a:off x="8357616" y="2821602"/>
            <a:ext cx="860367" cy="183138"/>
          </a:xfrm>
          <a:prstGeom prst="rect">
            <a:avLst/>
          </a:prstGeom>
          <a:solidFill>
            <a:srgbClr val="12A566"/>
          </a:solidFill>
          <a:ln w="6350">
            <a:solidFill>
              <a:srgbClr val="FFFFFF"/>
            </a:solidFill>
            <a:prstDash val="solid"/>
          </a:ln>
        </p:spPr>
      </p:sp>
      <p:sp>
        <p:nvSpPr>
          <p:cNvPr id="164" name="Text 162"/>
          <p:cNvSpPr txBox="1"/>
          <p:nvPr/>
        </p:nvSpPr>
        <p:spPr>
          <a:xfrm>
            <a:off x="8357616" y="2821602"/>
            <a:ext cx="860367"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27</a:t>
            </a:r>
            <a:endParaRPr lang="en-US" sz="1300" dirty="0"/>
          </a:p>
        </p:txBody>
      </p:sp>
      <p:sp>
        <p:nvSpPr>
          <p:cNvPr id="165" name="Shape 163"/>
          <p:cNvSpPr/>
          <p:nvPr/>
        </p:nvSpPr>
        <p:spPr>
          <a:xfrm>
            <a:off x="9217983" y="2821602"/>
            <a:ext cx="716973" cy="183138"/>
          </a:xfrm>
          <a:prstGeom prst="rect">
            <a:avLst/>
          </a:prstGeom>
          <a:solidFill>
            <a:srgbClr val="5B9BD5"/>
          </a:solidFill>
          <a:ln w="6350">
            <a:solidFill>
              <a:srgbClr val="FFFFFF"/>
            </a:solidFill>
            <a:prstDash val="solid"/>
          </a:ln>
        </p:spPr>
      </p:sp>
      <p:sp>
        <p:nvSpPr>
          <p:cNvPr id="166" name="Text 164"/>
          <p:cNvSpPr txBox="1"/>
          <p:nvPr/>
        </p:nvSpPr>
        <p:spPr>
          <a:xfrm>
            <a:off x="9217983" y="2821602"/>
            <a:ext cx="716973"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23</a:t>
            </a:r>
            <a:endParaRPr lang="en-US" sz="1300" dirty="0"/>
          </a:p>
        </p:txBody>
      </p:sp>
      <p:sp>
        <p:nvSpPr>
          <p:cNvPr id="167" name="Shape 165"/>
          <p:cNvSpPr/>
          <p:nvPr/>
        </p:nvSpPr>
        <p:spPr>
          <a:xfrm>
            <a:off x="9934956" y="2821602"/>
            <a:ext cx="1577340" cy="183138"/>
          </a:xfrm>
          <a:prstGeom prst="rect">
            <a:avLst/>
          </a:prstGeom>
          <a:solidFill>
            <a:srgbClr val="C2352F"/>
          </a:solidFill>
          <a:ln w="6350">
            <a:solidFill>
              <a:srgbClr val="FFFFFF"/>
            </a:solidFill>
            <a:prstDash val="solid"/>
          </a:ln>
        </p:spPr>
      </p:sp>
      <p:sp>
        <p:nvSpPr>
          <p:cNvPr id="168" name="Text 166"/>
          <p:cNvSpPr txBox="1"/>
          <p:nvPr/>
        </p:nvSpPr>
        <p:spPr>
          <a:xfrm>
            <a:off x="9934956" y="2821602"/>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69" name="Text 167"/>
          <p:cNvSpPr txBox="1"/>
          <p:nvPr/>
        </p:nvSpPr>
        <p:spPr>
          <a:xfrm>
            <a:off x="6208776" y="30336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70" name="Shape 168"/>
          <p:cNvSpPr/>
          <p:nvPr/>
        </p:nvSpPr>
        <p:spPr>
          <a:xfrm>
            <a:off x="8357616" y="3062573"/>
            <a:ext cx="822960" cy="183138"/>
          </a:xfrm>
          <a:prstGeom prst="rect">
            <a:avLst/>
          </a:prstGeom>
          <a:solidFill>
            <a:srgbClr val="12A566"/>
          </a:solidFill>
          <a:ln w="6350">
            <a:solidFill>
              <a:srgbClr val="FFFFFF"/>
            </a:solidFill>
            <a:prstDash val="solid"/>
          </a:ln>
        </p:spPr>
      </p:sp>
      <p:sp>
        <p:nvSpPr>
          <p:cNvPr id="171" name="Text 169"/>
          <p:cNvSpPr txBox="1"/>
          <p:nvPr/>
        </p:nvSpPr>
        <p:spPr>
          <a:xfrm>
            <a:off x="8357616" y="3062573"/>
            <a:ext cx="8229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26</a:t>
            </a:r>
            <a:endParaRPr lang="en-US" sz="1300" dirty="0"/>
          </a:p>
        </p:txBody>
      </p:sp>
      <p:sp>
        <p:nvSpPr>
          <p:cNvPr id="172" name="Shape 170"/>
          <p:cNvSpPr/>
          <p:nvPr/>
        </p:nvSpPr>
        <p:spPr>
          <a:xfrm>
            <a:off x="9180576" y="3062573"/>
            <a:ext cx="548640" cy="183138"/>
          </a:xfrm>
          <a:prstGeom prst="rect">
            <a:avLst/>
          </a:prstGeom>
          <a:solidFill>
            <a:srgbClr val="5B9BD5"/>
          </a:solidFill>
          <a:ln w="6350">
            <a:solidFill>
              <a:srgbClr val="FFFFFF"/>
            </a:solidFill>
            <a:prstDash val="solid"/>
          </a:ln>
        </p:spPr>
      </p:sp>
      <p:sp>
        <p:nvSpPr>
          <p:cNvPr id="173" name="Text 171"/>
          <p:cNvSpPr txBox="1"/>
          <p:nvPr/>
        </p:nvSpPr>
        <p:spPr>
          <a:xfrm>
            <a:off x="9180576" y="3062573"/>
            <a:ext cx="5486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74" name="Shape 172"/>
          <p:cNvSpPr/>
          <p:nvPr/>
        </p:nvSpPr>
        <p:spPr>
          <a:xfrm>
            <a:off x="9729216" y="3062573"/>
            <a:ext cx="1783080" cy="183138"/>
          </a:xfrm>
          <a:prstGeom prst="rect">
            <a:avLst/>
          </a:prstGeom>
          <a:solidFill>
            <a:srgbClr val="C2352F"/>
          </a:solidFill>
          <a:ln w="6350">
            <a:solidFill>
              <a:srgbClr val="FFFFFF"/>
            </a:solidFill>
            <a:prstDash val="solid"/>
          </a:ln>
        </p:spPr>
      </p:sp>
      <p:sp>
        <p:nvSpPr>
          <p:cNvPr id="175" name="Text 173"/>
          <p:cNvSpPr txBox="1"/>
          <p:nvPr/>
        </p:nvSpPr>
        <p:spPr>
          <a:xfrm>
            <a:off x="9729216" y="3062573"/>
            <a:ext cx="17830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57</a:t>
            </a:r>
            <a:endParaRPr lang="en-US" sz="1300" dirty="0"/>
          </a:p>
        </p:txBody>
      </p:sp>
      <p:sp>
        <p:nvSpPr>
          <p:cNvPr id="176" name="Text 174"/>
          <p:cNvSpPr txBox="1"/>
          <p:nvPr/>
        </p:nvSpPr>
        <p:spPr>
          <a:xfrm>
            <a:off x="6208776" y="327462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177" name="Shape 175"/>
          <p:cNvSpPr/>
          <p:nvPr/>
        </p:nvSpPr>
        <p:spPr>
          <a:xfrm>
            <a:off x="8357616" y="3303544"/>
            <a:ext cx="556708" cy="183138"/>
          </a:xfrm>
          <a:prstGeom prst="rect">
            <a:avLst/>
          </a:prstGeom>
          <a:solidFill>
            <a:srgbClr val="12A566"/>
          </a:solidFill>
          <a:ln w="6350">
            <a:solidFill>
              <a:srgbClr val="FFFFFF"/>
            </a:solidFill>
            <a:prstDash val="solid"/>
          </a:ln>
        </p:spPr>
      </p:sp>
      <p:sp>
        <p:nvSpPr>
          <p:cNvPr id="178" name="Text 176"/>
          <p:cNvSpPr txBox="1"/>
          <p:nvPr/>
        </p:nvSpPr>
        <p:spPr>
          <a:xfrm>
            <a:off x="8357616" y="3303544"/>
            <a:ext cx="55670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18</a:t>
            </a:r>
            <a:endParaRPr lang="en-US" sz="1300" dirty="0"/>
          </a:p>
        </p:txBody>
      </p:sp>
      <p:sp>
        <p:nvSpPr>
          <p:cNvPr id="179" name="Shape 177"/>
          <p:cNvSpPr/>
          <p:nvPr/>
        </p:nvSpPr>
        <p:spPr>
          <a:xfrm>
            <a:off x="8914324" y="3303544"/>
            <a:ext cx="1113416" cy="183138"/>
          </a:xfrm>
          <a:prstGeom prst="rect">
            <a:avLst/>
          </a:prstGeom>
          <a:solidFill>
            <a:srgbClr val="5B9BD5"/>
          </a:solidFill>
          <a:ln w="6350">
            <a:solidFill>
              <a:srgbClr val="FFFFFF"/>
            </a:solidFill>
            <a:prstDash val="solid"/>
          </a:ln>
        </p:spPr>
      </p:sp>
      <p:sp>
        <p:nvSpPr>
          <p:cNvPr id="180" name="Text 178"/>
          <p:cNvSpPr txBox="1"/>
          <p:nvPr/>
        </p:nvSpPr>
        <p:spPr>
          <a:xfrm>
            <a:off x="8914324" y="3303544"/>
            <a:ext cx="1113416"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35</a:t>
            </a:r>
            <a:endParaRPr lang="en-US" sz="1300" dirty="0"/>
          </a:p>
        </p:txBody>
      </p:sp>
      <p:sp>
        <p:nvSpPr>
          <p:cNvPr id="181" name="Shape 179"/>
          <p:cNvSpPr/>
          <p:nvPr/>
        </p:nvSpPr>
        <p:spPr>
          <a:xfrm>
            <a:off x="10027741" y="3303544"/>
            <a:ext cx="1484555" cy="183138"/>
          </a:xfrm>
          <a:prstGeom prst="rect">
            <a:avLst/>
          </a:prstGeom>
          <a:solidFill>
            <a:srgbClr val="C2352F"/>
          </a:solidFill>
          <a:ln w="6350">
            <a:solidFill>
              <a:srgbClr val="FFFFFF"/>
            </a:solidFill>
            <a:prstDash val="solid"/>
          </a:ln>
        </p:spPr>
      </p:sp>
      <p:sp>
        <p:nvSpPr>
          <p:cNvPr id="182" name="Text 180"/>
          <p:cNvSpPr txBox="1"/>
          <p:nvPr/>
        </p:nvSpPr>
        <p:spPr>
          <a:xfrm>
            <a:off x="10027741" y="3303544"/>
            <a:ext cx="1484555"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47</a:t>
            </a:r>
            <a:endParaRPr lang="en-US" sz="1300" dirty="0"/>
          </a:p>
        </p:txBody>
      </p:sp>
      <p:sp>
        <p:nvSpPr>
          <p:cNvPr id="183" name="Text 181"/>
          <p:cNvSpPr txBox="1"/>
          <p:nvPr/>
        </p:nvSpPr>
        <p:spPr>
          <a:xfrm>
            <a:off x="6208776" y="351559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84" name="Shape 182"/>
          <p:cNvSpPr/>
          <p:nvPr/>
        </p:nvSpPr>
        <p:spPr>
          <a:xfrm>
            <a:off x="8357616" y="3544516"/>
            <a:ext cx="525780" cy="183138"/>
          </a:xfrm>
          <a:prstGeom prst="rect">
            <a:avLst/>
          </a:prstGeom>
          <a:solidFill>
            <a:srgbClr val="12A566"/>
          </a:solidFill>
          <a:ln w="6350">
            <a:solidFill>
              <a:srgbClr val="FFFFFF"/>
            </a:solidFill>
            <a:prstDash val="solid"/>
          </a:ln>
        </p:spPr>
      </p:sp>
      <p:sp>
        <p:nvSpPr>
          <p:cNvPr id="185" name="Text 183"/>
          <p:cNvSpPr txBox="1"/>
          <p:nvPr/>
        </p:nvSpPr>
        <p:spPr>
          <a:xfrm>
            <a:off x="8357616" y="3544516"/>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186" name="Shape 184"/>
          <p:cNvSpPr/>
          <p:nvPr/>
        </p:nvSpPr>
        <p:spPr>
          <a:xfrm>
            <a:off x="8883396" y="3544516"/>
            <a:ext cx="1577340" cy="183138"/>
          </a:xfrm>
          <a:prstGeom prst="rect">
            <a:avLst/>
          </a:prstGeom>
          <a:solidFill>
            <a:srgbClr val="5B9BD5"/>
          </a:solidFill>
          <a:ln w="6350">
            <a:solidFill>
              <a:srgbClr val="FFFFFF"/>
            </a:solidFill>
            <a:prstDash val="solid"/>
          </a:ln>
        </p:spPr>
      </p:sp>
      <p:sp>
        <p:nvSpPr>
          <p:cNvPr id="187" name="Text 185"/>
          <p:cNvSpPr txBox="1"/>
          <p:nvPr/>
        </p:nvSpPr>
        <p:spPr>
          <a:xfrm>
            <a:off x="8883396" y="3544516"/>
            <a:ext cx="15773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50</a:t>
            </a:r>
            <a:endParaRPr lang="en-US" sz="1300" dirty="0"/>
          </a:p>
        </p:txBody>
      </p:sp>
      <p:sp>
        <p:nvSpPr>
          <p:cNvPr id="188" name="Shape 186"/>
          <p:cNvSpPr/>
          <p:nvPr/>
        </p:nvSpPr>
        <p:spPr>
          <a:xfrm>
            <a:off x="10460736" y="3544516"/>
            <a:ext cx="1051560" cy="183138"/>
          </a:xfrm>
          <a:prstGeom prst="rect">
            <a:avLst/>
          </a:prstGeom>
          <a:solidFill>
            <a:srgbClr val="C2352F"/>
          </a:solidFill>
          <a:ln w="6350">
            <a:solidFill>
              <a:srgbClr val="FFFFFF"/>
            </a:solidFill>
            <a:prstDash val="solid"/>
          </a:ln>
        </p:spPr>
      </p:sp>
      <p:sp>
        <p:nvSpPr>
          <p:cNvPr id="189" name="Text 187"/>
          <p:cNvSpPr txBox="1"/>
          <p:nvPr/>
        </p:nvSpPr>
        <p:spPr>
          <a:xfrm>
            <a:off x="10460736" y="3544516"/>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190" name="Text 188"/>
          <p:cNvSpPr txBox="1"/>
          <p:nvPr/>
        </p:nvSpPr>
        <p:spPr>
          <a:xfrm>
            <a:off x="6208776" y="3756570"/>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91" name="Shape 189"/>
          <p:cNvSpPr/>
          <p:nvPr/>
        </p:nvSpPr>
        <p:spPr>
          <a:xfrm>
            <a:off x="8357616" y="3785487"/>
            <a:ext cx="350520" cy="183138"/>
          </a:xfrm>
          <a:prstGeom prst="rect">
            <a:avLst/>
          </a:prstGeom>
          <a:solidFill>
            <a:srgbClr val="12A566"/>
          </a:solidFill>
          <a:ln w="6350">
            <a:solidFill>
              <a:srgbClr val="FFFFFF"/>
            </a:solidFill>
            <a:prstDash val="solid"/>
          </a:ln>
        </p:spPr>
      </p:sp>
      <p:sp>
        <p:nvSpPr>
          <p:cNvPr id="192" name="Text 190"/>
          <p:cNvSpPr txBox="1"/>
          <p:nvPr/>
        </p:nvSpPr>
        <p:spPr>
          <a:xfrm>
            <a:off x="8357616" y="3785487"/>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193" name="Shape 191"/>
          <p:cNvSpPr/>
          <p:nvPr/>
        </p:nvSpPr>
        <p:spPr>
          <a:xfrm>
            <a:off x="8708136" y="3785487"/>
            <a:ext cx="701040" cy="183138"/>
          </a:xfrm>
          <a:prstGeom prst="rect">
            <a:avLst/>
          </a:prstGeom>
          <a:solidFill>
            <a:srgbClr val="5B9BD5"/>
          </a:solidFill>
          <a:ln w="6350">
            <a:solidFill>
              <a:srgbClr val="FFFFFF"/>
            </a:solidFill>
            <a:prstDash val="solid"/>
          </a:ln>
        </p:spPr>
      </p:sp>
      <p:sp>
        <p:nvSpPr>
          <p:cNvPr id="194" name="Text 192"/>
          <p:cNvSpPr txBox="1"/>
          <p:nvPr/>
        </p:nvSpPr>
        <p:spPr>
          <a:xfrm>
            <a:off x="8708136" y="3785487"/>
            <a:ext cx="70104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22</a:t>
            </a:r>
            <a:endParaRPr lang="en-US" sz="1300" dirty="0"/>
          </a:p>
        </p:txBody>
      </p:sp>
      <p:sp>
        <p:nvSpPr>
          <p:cNvPr id="195" name="Shape 193"/>
          <p:cNvSpPr/>
          <p:nvPr/>
        </p:nvSpPr>
        <p:spPr>
          <a:xfrm>
            <a:off x="9409176" y="3785487"/>
            <a:ext cx="2103120" cy="183138"/>
          </a:xfrm>
          <a:prstGeom prst="rect">
            <a:avLst/>
          </a:prstGeom>
          <a:solidFill>
            <a:srgbClr val="C2352F"/>
          </a:solidFill>
          <a:ln w="6350">
            <a:solidFill>
              <a:srgbClr val="FFFFFF"/>
            </a:solidFill>
            <a:prstDash val="solid"/>
          </a:ln>
        </p:spPr>
      </p:sp>
      <p:sp>
        <p:nvSpPr>
          <p:cNvPr id="196" name="Text 194"/>
          <p:cNvSpPr txBox="1"/>
          <p:nvPr/>
        </p:nvSpPr>
        <p:spPr>
          <a:xfrm>
            <a:off x="9409176" y="3785487"/>
            <a:ext cx="21031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67</a:t>
            </a:r>
            <a:endParaRPr lang="en-US" sz="1300" dirty="0"/>
          </a:p>
        </p:txBody>
      </p:sp>
      <p:sp>
        <p:nvSpPr>
          <p:cNvPr id="197" name="Text 195"/>
          <p:cNvSpPr txBox="1"/>
          <p:nvPr/>
        </p:nvSpPr>
        <p:spPr>
          <a:xfrm>
            <a:off x="6208776" y="3997542"/>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98" name="Shape 196"/>
          <p:cNvSpPr/>
          <p:nvPr/>
        </p:nvSpPr>
        <p:spPr>
          <a:xfrm>
            <a:off x="8357616" y="4026458"/>
            <a:ext cx="315468" cy="183138"/>
          </a:xfrm>
          <a:prstGeom prst="rect">
            <a:avLst/>
          </a:prstGeom>
          <a:solidFill>
            <a:srgbClr val="12A566"/>
          </a:solidFill>
          <a:ln w="6350">
            <a:solidFill>
              <a:srgbClr val="FFFFFF"/>
            </a:solidFill>
            <a:prstDash val="solid"/>
          </a:ln>
        </p:spPr>
      </p:sp>
      <p:sp>
        <p:nvSpPr>
          <p:cNvPr id="199" name="Text 197"/>
          <p:cNvSpPr txBox="1"/>
          <p:nvPr/>
        </p:nvSpPr>
        <p:spPr>
          <a:xfrm>
            <a:off x="8357616"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0" name="Shape 198"/>
          <p:cNvSpPr/>
          <p:nvPr/>
        </p:nvSpPr>
        <p:spPr>
          <a:xfrm>
            <a:off x="8673084" y="4026458"/>
            <a:ext cx="315468" cy="183138"/>
          </a:xfrm>
          <a:prstGeom prst="rect">
            <a:avLst/>
          </a:prstGeom>
          <a:solidFill>
            <a:srgbClr val="5B9BD5"/>
          </a:solidFill>
          <a:ln w="6350">
            <a:solidFill>
              <a:srgbClr val="FFFFFF"/>
            </a:solidFill>
            <a:prstDash val="solid"/>
          </a:ln>
        </p:spPr>
      </p:sp>
      <p:sp>
        <p:nvSpPr>
          <p:cNvPr id="201" name="Text 199"/>
          <p:cNvSpPr txBox="1"/>
          <p:nvPr/>
        </p:nvSpPr>
        <p:spPr>
          <a:xfrm>
            <a:off x="8673084" y="4026458"/>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2" name="Shape 200"/>
          <p:cNvSpPr/>
          <p:nvPr/>
        </p:nvSpPr>
        <p:spPr>
          <a:xfrm>
            <a:off x="8988552" y="4026458"/>
            <a:ext cx="2523744" cy="183138"/>
          </a:xfrm>
          <a:prstGeom prst="rect">
            <a:avLst/>
          </a:prstGeom>
          <a:solidFill>
            <a:srgbClr val="C2352F"/>
          </a:solidFill>
          <a:ln w="6350">
            <a:solidFill>
              <a:srgbClr val="FFFFFF"/>
            </a:solidFill>
            <a:prstDash val="solid"/>
          </a:ln>
        </p:spPr>
      </p:sp>
      <p:sp>
        <p:nvSpPr>
          <p:cNvPr id="203" name="Text 201"/>
          <p:cNvSpPr txBox="1"/>
          <p:nvPr/>
        </p:nvSpPr>
        <p:spPr>
          <a:xfrm>
            <a:off x="8988552" y="4026458"/>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04" name="Text 202"/>
          <p:cNvSpPr txBox="1"/>
          <p:nvPr/>
        </p:nvSpPr>
        <p:spPr>
          <a:xfrm>
            <a:off x="6208776" y="4238513"/>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205" name="Shape 203"/>
          <p:cNvSpPr/>
          <p:nvPr/>
        </p:nvSpPr>
        <p:spPr>
          <a:xfrm>
            <a:off x="8357616" y="4267429"/>
            <a:ext cx="315468" cy="183138"/>
          </a:xfrm>
          <a:prstGeom prst="rect">
            <a:avLst/>
          </a:prstGeom>
          <a:solidFill>
            <a:srgbClr val="12A566"/>
          </a:solidFill>
          <a:ln w="6350">
            <a:solidFill>
              <a:srgbClr val="FFFFFF"/>
            </a:solidFill>
            <a:prstDash val="solid"/>
          </a:ln>
        </p:spPr>
      </p:sp>
      <p:sp>
        <p:nvSpPr>
          <p:cNvPr id="206" name="Text 204"/>
          <p:cNvSpPr txBox="1"/>
          <p:nvPr/>
        </p:nvSpPr>
        <p:spPr>
          <a:xfrm>
            <a:off x="8357616"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7" name="Shape 205"/>
          <p:cNvSpPr/>
          <p:nvPr/>
        </p:nvSpPr>
        <p:spPr>
          <a:xfrm>
            <a:off x="8673084" y="4267429"/>
            <a:ext cx="315468" cy="183138"/>
          </a:xfrm>
          <a:prstGeom prst="rect">
            <a:avLst/>
          </a:prstGeom>
          <a:solidFill>
            <a:srgbClr val="5B9BD5"/>
          </a:solidFill>
          <a:ln w="6350">
            <a:solidFill>
              <a:srgbClr val="FFFFFF"/>
            </a:solidFill>
            <a:prstDash val="solid"/>
          </a:ln>
        </p:spPr>
      </p:sp>
      <p:sp>
        <p:nvSpPr>
          <p:cNvPr id="208" name="Text 206"/>
          <p:cNvSpPr txBox="1"/>
          <p:nvPr/>
        </p:nvSpPr>
        <p:spPr>
          <a:xfrm>
            <a:off x="8673084" y="4267429"/>
            <a:ext cx="315468"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a:t>
            </a:r>
            <a:endParaRPr lang="en-US" sz="1300" dirty="0"/>
          </a:p>
        </p:txBody>
      </p:sp>
      <p:sp>
        <p:nvSpPr>
          <p:cNvPr id="209" name="Shape 207"/>
          <p:cNvSpPr/>
          <p:nvPr/>
        </p:nvSpPr>
        <p:spPr>
          <a:xfrm>
            <a:off x="8988552" y="4267429"/>
            <a:ext cx="2523744" cy="183138"/>
          </a:xfrm>
          <a:prstGeom prst="rect">
            <a:avLst/>
          </a:prstGeom>
          <a:solidFill>
            <a:srgbClr val="C2352F"/>
          </a:solidFill>
          <a:ln w="6350">
            <a:solidFill>
              <a:srgbClr val="FFFFFF"/>
            </a:solidFill>
            <a:prstDash val="solid"/>
          </a:ln>
        </p:spPr>
      </p:sp>
      <p:sp>
        <p:nvSpPr>
          <p:cNvPr id="210" name="Text 208"/>
          <p:cNvSpPr txBox="1"/>
          <p:nvPr/>
        </p:nvSpPr>
        <p:spPr>
          <a:xfrm>
            <a:off x="8988552" y="4267429"/>
            <a:ext cx="2523744"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80</a:t>
            </a:r>
            <a:endParaRPr lang="en-US" sz="1300" dirty="0"/>
          </a:p>
        </p:txBody>
      </p:sp>
      <p:sp>
        <p:nvSpPr>
          <p:cNvPr id="211" name="Text 209"/>
          <p:cNvSpPr txBox="1"/>
          <p:nvPr/>
        </p:nvSpPr>
        <p:spPr>
          <a:xfrm>
            <a:off x="6208776" y="4479484"/>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212" name="Shape 210"/>
          <p:cNvSpPr/>
          <p:nvPr/>
        </p:nvSpPr>
        <p:spPr>
          <a:xfrm>
            <a:off x="8357616" y="4508401"/>
            <a:ext cx="262890" cy="183138"/>
          </a:xfrm>
          <a:prstGeom prst="rect">
            <a:avLst/>
          </a:prstGeom>
          <a:solidFill>
            <a:srgbClr val="12A566"/>
          </a:solidFill>
          <a:ln w="6350">
            <a:solidFill>
              <a:srgbClr val="FFFFFF"/>
            </a:solidFill>
            <a:prstDash val="solid"/>
          </a:ln>
        </p:spPr>
      </p:sp>
      <p:sp>
        <p:nvSpPr>
          <p:cNvPr id="213" name="Text 211"/>
          <p:cNvSpPr txBox="1"/>
          <p:nvPr/>
        </p:nvSpPr>
        <p:spPr>
          <a:xfrm>
            <a:off x="8357616" y="4508401"/>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14" name="Shape 212"/>
          <p:cNvSpPr/>
          <p:nvPr/>
        </p:nvSpPr>
        <p:spPr>
          <a:xfrm>
            <a:off x="8620506" y="4508401"/>
            <a:ext cx="1051560" cy="183138"/>
          </a:xfrm>
          <a:prstGeom prst="rect">
            <a:avLst/>
          </a:prstGeom>
          <a:solidFill>
            <a:srgbClr val="5B9BD5"/>
          </a:solidFill>
          <a:ln w="6350">
            <a:solidFill>
              <a:srgbClr val="FFFFFF"/>
            </a:solidFill>
            <a:prstDash val="solid"/>
          </a:ln>
        </p:spPr>
      </p:sp>
      <p:sp>
        <p:nvSpPr>
          <p:cNvPr id="215" name="Text 213"/>
          <p:cNvSpPr txBox="1"/>
          <p:nvPr/>
        </p:nvSpPr>
        <p:spPr>
          <a:xfrm>
            <a:off x="8620506" y="4508401"/>
            <a:ext cx="10515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33</a:t>
            </a:r>
            <a:endParaRPr lang="en-US" sz="1300" dirty="0"/>
          </a:p>
        </p:txBody>
      </p:sp>
      <p:sp>
        <p:nvSpPr>
          <p:cNvPr id="216" name="Shape 214"/>
          <p:cNvSpPr/>
          <p:nvPr/>
        </p:nvSpPr>
        <p:spPr>
          <a:xfrm>
            <a:off x="9672066" y="4508401"/>
            <a:ext cx="1840230" cy="183138"/>
          </a:xfrm>
          <a:prstGeom prst="rect">
            <a:avLst/>
          </a:prstGeom>
          <a:solidFill>
            <a:srgbClr val="C2352F"/>
          </a:solidFill>
          <a:ln w="6350">
            <a:solidFill>
              <a:srgbClr val="FFFFFF"/>
            </a:solidFill>
            <a:prstDash val="solid"/>
          </a:ln>
        </p:spPr>
      </p:sp>
      <p:sp>
        <p:nvSpPr>
          <p:cNvPr id="217" name="Text 215"/>
          <p:cNvSpPr txBox="1"/>
          <p:nvPr/>
        </p:nvSpPr>
        <p:spPr>
          <a:xfrm>
            <a:off x="9672066" y="4508401"/>
            <a:ext cx="184023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58</a:t>
            </a:r>
            <a:endParaRPr lang="en-US" sz="1300" dirty="0"/>
          </a:p>
        </p:txBody>
      </p:sp>
      <p:sp>
        <p:nvSpPr>
          <p:cNvPr id="218" name="Text 216"/>
          <p:cNvSpPr txBox="1"/>
          <p:nvPr/>
        </p:nvSpPr>
        <p:spPr>
          <a:xfrm>
            <a:off x="6208776" y="4720456"/>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219" name="Shape 217"/>
          <p:cNvSpPr/>
          <p:nvPr/>
        </p:nvSpPr>
        <p:spPr>
          <a:xfrm>
            <a:off x="8357616" y="4749372"/>
            <a:ext cx="262890" cy="183138"/>
          </a:xfrm>
          <a:prstGeom prst="rect">
            <a:avLst/>
          </a:prstGeom>
          <a:solidFill>
            <a:srgbClr val="12A566"/>
          </a:solidFill>
          <a:ln w="6350">
            <a:solidFill>
              <a:srgbClr val="FFFFFF"/>
            </a:solidFill>
            <a:prstDash val="solid"/>
          </a:ln>
        </p:spPr>
      </p:sp>
      <p:sp>
        <p:nvSpPr>
          <p:cNvPr id="220" name="Text 218"/>
          <p:cNvSpPr txBox="1"/>
          <p:nvPr/>
        </p:nvSpPr>
        <p:spPr>
          <a:xfrm>
            <a:off x="8357616" y="4749372"/>
            <a:ext cx="26289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a:t>
            </a:r>
            <a:endParaRPr lang="en-US" sz="1300" dirty="0"/>
          </a:p>
        </p:txBody>
      </p:sp>
      <p:sp>
        <p:nvSpPr>
          <p:cNvPr id="221" name="Shape 219"/>
          <p:cNvSpPr/>
          <p:nvPr/>
        </p:nvSpPr>
        <p:spPr>
          <a:xfrm>
            <a:off x="8620506" y="4749372"/>
            <a:ext cx="525780" cy="183138"/>
          </a:xfrm>
          <a:prstGeom prst="rect">
            <a:avLst/>
          </a:prstGeom>
          <a:solidFill>
            <a:srgbClr val="5B9BD5"/>
          </a:solidFill>
          <a:ln w="6350">
            <a:solidFill>
              <a:srgbClr val="FFFFFF"/>
            </a:solidFill>
            <a:prstDash val="solid"/>
          </a:ln>
        </p:spPr>
      </p:sp>
      <p:sp>
        <p:nvSpPr>
          <p:cNvPr id="222" name="Text 220"/>
          <p:cNvSpPr txBox="1"/>
          <p:nvPr/>
        </p:nvSpPr>
        <p:spPr>
          <a:xfrm>
            <a:off x="8620506" y="4749372"/>
            <a:ext cx="5257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17</a:t>
            </a:r>
            <a:endParaRPr lang="en-US" sz="1300" dirty="0"/>
          </a:p>
        </p:txBody>
      </p:sp>
      <p:sp>
        <p:nvSpPr>
          <p:cNvPr id="223" name="Shape 221"/>
          <p:cNvSpPr/>
          <p:nvPr/>
        </p:nvSpPr>
        <p:spPr>
          <a:xfrm>
            <a:off x="9146286" y="4749372"/>
            <a:ext cx="2366010" cy="183138"/>
          </a:xfrm>
          <a:prstGeom prst="rect">
            <a:avLst/>
          </a:prstGeom>
          <a:solidFill>
            <a:srgbClr val="C2352F"/>
          </a:solidFill>
          <a:ln w="6350">
            <a:solidFill>
              <a:srgbClr val="FFFFFF"/>
            </a:solidFill>
            <a:prstDash val="solid"/>
          </a:ln>
        </p:spPr>
      </p:sp>
      <p:sp>
        <p:nvSpPr>
          <p:cNvPr id="224" name="Text 222"/>
          <p:cNvSpPr txBox="1"/>
          <p:nvPr/>
        </p:nvSpPr>
        <p:spPr>
          <a:xfrm>
            <a:off x="9146286" y="4749372"/>
            <a:ext cx="236601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75</a:t>
            </a:r>
            <a:endParaRPr lang="en-US" sz="1300" dirty="0"/>
          </a:p>
        </p:txBody>
      </p:sp>
      <p:sp>
        <p:nvSpPr>
          <p:cNvPr id="225" name="Text 223"/>
          <p:cNvSpPr txBox="1"/>
          <p:nvPr/>
        </p:nvSpPr>
        <p:spPr>
          <a:xfrm>
            <a:off x="6208776" y="4961427"/>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26" name="Shape 224"/>
          <p:cNvSpPr/>
          <p:nvPr/>
        </p:nvSpPr>
        <p:spPr>
          <a:xfrm>
            <a:off x="8357616" y="4990343"/>
            <a:ext cx="914" cy="183138"/>
          </a:xfrm>
          <a:prstGeom prst="rect">
            <a:avLst/>
          </a:prstGeom>
          <a:solidFill>
            <a:srgbClr val="12A566"/>
          </a:solidFill>
          <a:ln w="6350">
            <a:solidFill>
              <a:srgbClr val="FFFFFF"/>
            </a:solidFill>
            <a:prstDash val="solid"/>
          </a:ln>
        </p:spPr>
      </p:sp>
      <p:sp>
        <p:nvSpPr>
          <p:cNvPr id="227" name="Shape 225"/>
          <p:cNvSpPr/>
          <p:nvPr/>
        </p:nvSpPr>
        <p:spPr>
          <a:xfrm>
            <a:off x="8357616" y="4990343"/>
            <a:ext cx="914" cy="183138"/>
          </a:xfrm>
          <a:prstGeom prst="rect">
            <a:avLst/>
          </a:prstGeom>
          <a:solidFill>
            <a:srgbClr val="5B9BD5"/>
          </a:solidFill>
          <a:ln w="6350">
            <a:solidFill>
              <a:srgbClr val="FFFFFF"/>
            </a:solidFill>
            <a:prstDash val="solid"/>
          </a:ln>
        </p:spPr>
      </p:sp>
      <p:sp>
        <p:nvSpPr>
          <p:cNvPr id="228" name="Shape 226"/>
          <p:cNvSpPr/>
          <p:nvPr/>
        </p:nvSpPr>
        <p:spPr>
          <a:xfrm>
            <a:off x="8357616" y="4990343"/>
            <a:ext cx="3154680" cy="183138"/>
          </a:xfrm>
          <a:prstGeom prst="rect">
            <a:avLst/>
          </a:prstGeom>
          <a:solidFill>
            <a:srgbClr val="C2352F"/>
          </a:solidFill>
          <a:ln w="6350">
            <a:solidFill>
              <a:srgbClr val="FFFFFF"/>
            </a:solidFill>
            <a:prstDash val="solid"/>
          </a:ln>
        </p:spPr>
      </p:sp>
      <p:sp>
        <p:nvSpPr>
          <p:cNvPr id="229" name="Text 227"/>
          <p:cNvSpPr txBox="1"/>
          <p:nvPr/>
        </p:nvSpPr>
        <p:spPr>
          <a:xfrm>
            <a:off x="8357616" y="4990343"/>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30" name="Text 228"/>
          <p:cNvSpPr txBox="1"/>
          <p:nvPr/>
        </p:nvSpPr>
        <p:spPr>
          <a:xfrm>
            <a:off x="6208776" y="5202398"/>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231" name="Shape 229"/>
          <p:cNvSpPr/>
          <p:nvPr/>
        </p:nvSpPr>
        <p:spPr>
          <a:xfrm>
            <a:off x="8357616" y="5231315"/>
            <a:ext cx="914" cy="183138"/>
          </a:xfrm>
          <a:prstGeom prst="rect">
            <a:avLst/>
          </a:prstGeom>
          <a:solidFill>
            <a:srgbClr val="12A566"/>
          </a:solidFill>
          <a:ln w="6350">
            <a:solidFill>
              <a:srgbClr val="FFFFFF"/>
            </a:solidFill>
            <a:prstDash val="solid"/>
          </a:ln>
        </p:spPr>
      </p:sp>
      <p:sp>
        <p:nvSpPr>
          <p:cNvPr id="232" name="Shape 230"/>
          <p:cNvSpPr/>
          <p:nvPr/>
        </p:nvSpPr>
        <p:spPr>
          <a:xfrm>
            <a:off x="8357616" y="5231315"/>
            <a:ext cx="350520" cy="183138"/>
          </a:xfrm>
          <a:prstGeom prst="rect">
            <a:avLst/>
          </a:prstGeom>
          <a:solidFill>
            <a:srgbClr val="5B9BD5"/>
          </a:solidFill>
          <a:ln w="6350">
            <a:solidFill>
              <a:srgbClr val="FFFFFF"/>
            </a:solidFill>
            <a:prstDash val="solid"/>
          </a:ln>
        </p:spPr>
      </p:sp>
      <p:sp>
        <p:nvSpPr>
          <p:cNvPr id="233" name="Text 231"/>
          <p:cNvSpPr txBox="1"/>
          <p:nvPr/>
        </p:nvSpPr>
        <p:spPr>
          <a:xfrm>
            <a:off x="8357616" y="5231315"/>
            <a:ext cx="35052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11</a:t>
            </a:r>
            <a:endParaRPr lang="en-US" sz="1300" dirty="0"/>
          </a:p>
        </p:txBody>
      </p:sp>
      <p:sp>
        <p:nvSpPr>
          <p:cNvPr id="234" name="Shape 232"/>
          <p:cNvSpPr/>
          <p:nvPr/>
        </p:nvSpPr>
        <p:spPr>
          <a:xfrm>
            <a:off x="8708136" y="5231315"/>
            <a:ext cx="2804160" cy="183138"/>
          </a:xfrm>
          <a:prstGeom prst="rect">
            <a:avLst/>
          </a:prstGeom>
          <a:solidFill>
            <a:srgbClr val="C2352F"/>
          </a:solidFill>
          <a:ln w="6350">
            <a:solidFill>
              <a:srgbClr val="FFFFFF"/>
            </a:solidFill>
            <a:prstDash val="solid"/>
          </a:ln>
        </p:spPr>
      </p:sp>
      <p:sp>
        <p:nvSpPr>
          <p:cNvPr id="235" name="Text 233"/>
          <p:cNvSpPr txBox="1"/>
          <p:nvPr/>
        </p:nvSpPr>
        <p:spPr>
          <a:xfrm>
            <a:off x="8708136" y="5231315"/>
            <a:ext cx="280416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89</a:t>
            </a:r>
            <a:endParaRPr lang="en-US" sz="1300" dirty="0"/>
          </a:p>
        </p:txBody>
      </p:sp>
      <p:sp>
        <p:nvSpPr>
          <p:cNvPr id="236" name="Text 234"/>
          <p:cNvSpPr txBox="1"/>
          <p:nvPr/>
        </p:nvSpPr>
        <p:spPr>
          <a:xfrm>
            <a:off x="6208776" y="5443369"/>
            <a:ext cx="2103120" cy="240971"/>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237" name="Shape 235"/>
          <p:cNvSpPr/>
          <p:nvPr/>
        </p:nvSpPr>
        <p:spPr>
          <a:xfrm>
            <a:off x="8357616" y="5472286"/>
            <a:ext cx="914" cy="183138"/>
          </a:xfrm>
          <a:prstGeom prst="rect">
            <a:avLst/>
          </a:prstGeom>
          <a:solidFill>
            <a:srgbClr val="12A566"/>
          </a:solidFill>
          <a:ln w="6350">
            <a:solidFill>
              <a:srgbClr val="FFFFFF"/>
            </a:solidFill>
            <a:prstDash val="solid"/>
          </a:ln>
        </p:spPr>
      </p:sp>
      <p:sp>
        <p:nvSpPr>
          <p:cNvPr id="238" name="Shape 236"/>
          <p:cNvSpPr/>
          <p:nvPr/>
        </p:nvSpPr>
        <p:spPr>
          <a:xfrm>
            <a:off x="8357616" y="5472286"/>
            <a:ext cx="914" cy="183138"/>
          </a:xfrm>
          <a:prstGeom prst="rect">
            <a:avLst/>
          </a:prstGeom>
          <a:solidFill>
            <a:srgbClr val="5B9BD5"/>
          </a:solidFill>
          <a:ln w="6350">
            <a:solidFill>
              <a:srgbClr val="FFFFFF"/>
            </a:solidFill>
            <a:prstDash val="solid"/>
          </a:ln>
        </p:spPr>
      </p:sp>
      <p:sp>
        <p:nvSpPr>
          <p:cNvPr id="239" name="Shape 237"/>
          <p:cNvSpPr/>
          <p:nvPr/>
        </p:nvSpPr>
        <p:spPr>
          <a:xfrm>
            <a:off x="8357616" y="5472286"/>
            <a:ext cx="3154680" cy="183138"/>
          </a:xfrm>
          <a:prstGeom prst="rect">
            <a:avLst/>
          </a:prstGeom>
          <a:solidFill>
            <a:srgbClr val="C2352F"/>
          </a:solidFill>
          <a:ln w="6350">
            <a:solidFill>
              <a:srgbClr val="FFFFFF"/>
            </a:solidFill>
            <a:prstDash val="solid"/>
          </a:ln>
        </p:spPr>
      </p:sp>
      <p:sp>
        <p:nvSpPr>
          <p:cNvPr id="240" name="Text 238"/>
          <p:cNvSpPr txBox="1"/>
          <p:nvPr/>
        </p:nvSpPr>
        <p:spPr>
          <a:xfrm>
            <a:off x="8357616" y="5472286"/>
            <a:ext cx="3154680" cy="183138"/>
          </a:xfrm>
          <a:prstGeom prst="rect">
            <a:avLst/>
          </a:prstGeom>
          <a:noFill/>
          <a:ln/>
        </p:spPr>
        <p:txBody>
          <a:bodyPr wrap="non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100</a:t>
            </a:r>
            <a:endParaRPr lang="en-US" sz="1300" dirty="0"/>
          </a:p>
        </p:txBody>
      </p:sp>
      <p:sp>
        <p:nvSpPr>
          <p:cNvPr id="241" name="Shape 239"/>
          <p:cNvSpPr/>
          <p:nvPr/>
        </p:nvSpPr>
        <p:spPr>
          <a:xfrm>
            <a:off x="457200" y="6126480"/>
            <a:ext cx="11274552" cy="615696"/>
          </a:xfrm>
          <a:prstGeom prst="rect">
            <a:avLst/>
          </a:prstGeom>
          <a:solidFill>
            <a:srgbClr val="EDF4FA"/>
          </a:solidFill>
          <a:ln/>
        </p:spPr>
      </p:sp>
      <p:sp>
        <p:nvSpPr>
          <p:cNvPr id="242" name="Text 24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Of 583 technicians, 198 are above 100% and 262 (45%) are under 85%. 14 stores have more than half their technicians under target.</a:t>
            </a:r>
            <a:endParaRPr lang="en-US" sz="1600" dirty="0"/>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The Proficiency Opportunity</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C2352F"/>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GROSS MISSED A MONTH</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$1.65M</a:t>
            </a:r>
            <a:endParaRPr lang="en-US" sz="40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Labor $1.13M + parts $514K: 8.1% of the $20.44M a month our ROs generate.</a:t>
            </a:r>
            <a:endParaRPr lang="en-US" sz="15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C2352F"/>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 PAY MISSED A MONTH</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$282K</a:t>
            </a:r>
            <a:endParaRPr lang="en-US" sz="40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$1,080 a month for each tech under 85%. Same hours, bigger checks.</a:t>
            </a:r>
            <a:endParaRPr lang="en-US" sz="15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C2352F"/>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HOURS NOT PRODUCED YTD</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A82B26"/>
                </a:solidFill>
                <a:latin typeface="Inter" pitchFamily="34" charset="0"/>
                <a:ea typeface="Inter" pitchFamily="34" charset="-122"/>
                <a:cs typeface="Inter" pitchFamily="34" charset="-120"/>
              </a:rPr>
              <a:t>79K</a:t>
            </a:r>
            <a:endParaRPr lang="en-US" sz="40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About 8.3K hours a month on the clock and not flagged, below the 85% line alone. 48 full-time techs of capacity.</a:t>
            </a:r>
            <a:endParaRPr lang="en-US" sz="15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TECHS UNDER 85%</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4000" b="1" dirty="0">
                <a:solidFill>
                  <a:srgbClr val="0B2C4A"/>
                </a:solidFill>
                <a:latin typeface="Inter" pitchFamily="34" charset="0"/>
                <a:ea typeface="Inter" pitchFamily="34" charset="-122"/>
                <a:cs typeface="Inter" pitchFamily="34" charset="-120"/>
              </a:rPr>
              <a:t>262</a:t>
            </a:r>
            <a:endParaRPr lang="en-US" sz="40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500" dirty="0">
                <a:solidFill>
                  <a:srgbClr val="1A1A1A"/>
                </a:solidFill>
                <a:latin typeface="Inter" pitchFamily="34" charset="0"/>
                <a:ea typeface="Inter" pitchFamily="34" charset="-122"/>
                <a:cs typeface="Inter" pitchFamily="34" charset="-120"/>
              </a:rPr>
              <a:t>Of 583 technicians (45%). Every store has at least one.</a:t>
            </a:r>
            <a:endParaRPr lang="en-US" sz="15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 extra hours, no extra techs, no extra bays. The techs, bays and lifts are already here; the hour is spent whether it is flagged or not. An hour not produced today cannot be sold tomorrow.</a:t>
            </a:r>
            <a:endParaRPr lang="en-US" sz="1700" dirty="0"/>
          </a:p>
        </p:txBody>
      </p:sp>
      <p:sp>
        <p:nvSpPr>
          <p:cNvPr id="27" name="Shape 25"/>
          <p:cNvSpPr/>
          <p:nvPr/>
        </p:nvSpPr>
        <p:spPr>
          <a:xfrm>
            <a:off x="457200" y="6126480"/>
            <a:ext cx="11274552" cy="371856"/>
          </a:xfrm>
          <a:prstGeom prst="rect">
            <a:avLst/>
          </a:prstGeom>
          <a:solidFill>
            <a:srgbClr val="FBEBEA"/>
          </a:solidFill>
          <a:ln/>
        </p:spPr>
      </p:sp>
      <p:sp>
        <p:nvSpPr>
          <p:cNvPr id="28"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Lifting each tech under 85% to 85% is worth $1.65M a month in gross and $282K a month in tech pay.</a:t>
            </a:r>
            <a:endParaRPr lang="en-US" sz="1600" dirty="0"/>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Proficiency Opportunity by Store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2044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7" name="Text 5"/>
          <p:cNvSpPr txBox="1"/>
          <p:nvPr/>
        </p:nvSpPr>
        <p:spPr>
          <a:xfrm>
            <a:off x="4306824"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8" name="Text 6"/>
          <p:cNvSpPr txBox="1"/>
          <p:nvPr/>
        </p:nvSpPr>
        <p:spPr>
          <a:xfrm>
            <a:off x="5239512"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9" name="Text 7"/>
          <p:cNvSpPr txBox="1"/>
          <p:nvPr/>
        </p:nvSpPr>
        <p:spPr>
          <a:xfrm>
            <a:off x="907084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mo</a:t>
            </a:r>
            <a:endParaRPr lang="en-US" sz="1400" dirty="0"/>
          </a:p>
        </p:txBody>
      </p:sp>
      <p:sp>
        <p:nvSpPr>
          <p:cNvPr id="10" name="Text 8"/>
          <p:cNvSpPr txBox="1"/>
          <p:nvPr/>
        </p:nvSpPr>
        <p:spPr>
          <a:xfrm>
            <a:off x="9857232" y="1316736"/>
            <a:ext cx="93268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Under 85%</a:t>
            </a:r>
            <a:endParaRPr lang="en-US" sz="1400" dirty="0"/>
          </a:p>
        </p:txBody>
      </p:sp>
      <p:sp>
        <p:nvSpPr>
          <p:cNvPr id="11" name="Text 9"/>
          <p:cNvSpPr txBox="1"/>
          <p:nvPr/>
        </p:nvSpPr>
        <p:spPr>
          <a:xfrm>
            <a:off x="10789920" y="1316736"/>
            <a:ext cx="67665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56697"/>
            <a:ext cx="594360" cy="136676"/>
          </a:xfrm>
          <a:prstGeom prst="rect">
            <a:avLst/>
          </a:prstGeom>
          <a:solidFill>
            <a:srgbClr val="C2352F"/>
          </a:solidFill>
          <a:ln/>
        </p:spPr>
      </p:sp>
      <p:sp>
        <p:nvSpPr>
          <p:cNvPr id="15" name="Text 13"/>
          <p:cNvSpPr txBox="1"/>
          <p:nvPr/>
        </p:nvSpPr>
        <p:spPr>
          <a:xfrm>
            <a:off x="3520440"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$158K</a:t>
            </a:r>
            <a:endParaRPr lang="en-US" sz="1300" dirty="0"/>
          </a:p>
        </p:txBody>
      </p:sp>
      <p:sp>
        <p:nvSpPr>
          <p:cNvPr id="16" name="Text 14"/>
          <p:cNvSpPr txBox="1"/>
          <p:nvPr/>
        </p:nvSpPr>
        <p:spPr>
          <a:xfrm>
            <a:off x="4306824"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29</a:t>
            </a:r>
            <a:endParaRPr lang="en-US" sz="1300" dirty="0"/>
          </a:p>
        </p:txBody>
      </p:sp>
      <p:sp>
        <p:nvSpPr>
          <p:cNvPr id="17" name="Text 15"/>
          <p:cNvSpPr txBox="1"/>
          <p:nvPr/>
        </p:nvSpPr>
        <p:spPr>
          <a:xfrm>
            <a:off x="5239512"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87.7%</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0" name="Shape 18"/>
          <p:cNvSpPr/>
          <p:nvPr/>
        </p:nvSpPr>
        <p:spPr>
          <a:xfrm>
            <a:off x="2871216" y="2005199"/>
            <a:ext cx="423252" cy="136676"/>
          </a:xfrm>
          <a:prstGeom prst="rect">
            <a:avLst/>
          </a:prstGeom>
          <a:solidFill>
            <a:srgbClr val="C2352F"/>
          </a:solidFill>
          <a:ln/>
        </p:spPr>
      </p:sp>
      <p:sp>
        <p:nvSpPr>
          <p:cNvPr id="21" name="Text 19"/>
          <p:cNvSpPr txBox="1"/>
          <p:nvPr/>
        </p:nvSpPr>
        <p:spPr>
          <a:xfrm>
            <a:off x="3520440"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$112K</a:t>
            </a:r>
            <a:endParaRPr lang="en-US" sz="1300" dirty="0"/>
          </a:p>
        </p:txBody>
      </p:sp>
      <p:sp>
        <p:nvSpPr>
          <p:cNvPr id="22" name="Text 20"/>
          <p:cNvSpPr txBox="1"/>
          <p:nvPr/>
        </p:nvSpPr>
        <p:spPr>
          <a:xfrm>
            <a:off x="4306824"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23" name="Text 21"/>
          <p:cNvSpPr txBox="1"/>
          <p:nvPr/>
        </p:nvSpPr>
        <p:spPr>
          <a:xfrm>
            <a:off x="5239512"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68.4%</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6" name="Shape 24"/>
          <p:cNvSpPr/>
          <p:nvPr/>
        </p:nvSpPr>
        <p:spPr>
          <a:xfrm>
            <a:off x="2871216" y="2253700"/>
            <a:ext cx="383101" cy="136676"/>
          </a:xfrm>
          <a:prstGeom prst="rect">
            <a:avLst/>
          </a:prstGeom>
          <a:solidFill>
            <a:srgbClr val="C2352F"/>
          </a:solidFill>
          <a:ln/>
        </p:spPr>
      </p:sp>
      <p:sp>
        <p:nvSpPr>
          <p:cNvPr id="27" name="Text 25"/>
          <p:cNvSpPr txBox="1"/>
          <p:nvPr/>
        </p:nvSpPr>
        <p:spPr>
          <a:xfrm>
            <a:off x="3520440"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$102K</a:t>
            </a:r>
            <a:endParaRPr lang="en-US" sz="1300" dirty="0"/>
          </a:p>
        </p:txBody>
      </p:sp>
      <p:sp>
        <p:nvSpPr>
          <p:cNvPr id="28" name="Text 26"/>
          <p:cNvSpPr txBox="1"/>
          <p:nvPr/>
        </p:nvSpPr>
        <p:spPr>
          <a:xfrm>
            <a:off x="4306824"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 of 23</a:t>
            </a:r>
            <a:endParaRPr lang="en-US" sz="1300" dirty="0"/>
          </a:p>
        </p:txBody>
      </p:sp>
      <p:sp>
        <p:nvSpPr>
          <p:cNvPr id="29" name="Text 27"/>
          <p:cNvSpPr txBox="1"/>
          <p:nvPr/>
        </p:nvSpPr>
        <p:spPr>
          <a:xfrm>
            <a:off x="5239512"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91.0%</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77643" cy="136676"/>
          </a:xfrm>
          <a:prstGeom prst="rect">
            <a:avLst/>
          </a:prstGeom>
          <a:solidFill>
            <a:srgbClr val="C2352F"/>
          </a:solidFill>
          <a:ln/>
        </p:spPr>
      </p:sp>
      <p:sp>
        <p:nvSpPr>
          <p:cNvPr id="33" name="Text 31"/>
          <p:cNvSpPr txBox="1"/>
          <p:nvPr/>
        </p:nvSpPr>
        <p:spPr>
          <a:xfrm>
            <a:off x="3520440"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$100K</a:t>
            </a:r>
            <a:endParaRPr lang="en-US" sz="1300" dirty="0"/>
          </a:p>
        </p:txBody>
      </p:sp>
      <p:sp>
        <p:nvSpPr>
          <p:cNvPr id="34" name="Text 32"/>
          <p:cNvSpPr txBox="1"/>
          <p:nvPr/>
        </p:nvSpPr>
        <p:spPr>
          <a:xfrm>
            <a:off x="4306824"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14</a:t>
            </a:r>
            <a:endParaRPr lang="en-US" sz="1300" dirty="0"/>
          </a:p>
        </p:txBody>
      </p:sp>
      <p:sp>
        <p:nvSpPr>
          <p:cNvPr id="35" name="Text 33"/>
          <p:cNvSpPr txBox="1"/>
          <p:nvPr/>
        </p:nvSpPr>
        <p:spPr>
          <a:xfrm>
            <a:off x="5239512"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71.2%</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8" name="Shape 36"/>
          <p:cNvSpPr/>
          <p:nvPr/>
        </p:nvSpPr>
        <p:spPr>
          <a:xfrm>
            <a:off x="2871216" y="2750703"/>
            <a:ext cx="332905" cy="136676"/>
          </a:xfrm>
          <a:prstGeom prst="rect">
            <a:avLst/>
          </a:prstGeom>
          <a:solidFill>
            <a:srgbClr val="C2352F"/>
          </a:solidFill>
          <a:ln/>
        </p:spPr>
      </p:sp>
      <p:sp>
        <p:nvSpPr>
          <p:cNvPr id="39" name="Text 37"/>
          <p:cNvSpPr txBox="1"/>
          <p:nvPr/>
        </p:nvSpPr>
        <p:spPr>
          <a:xfrm>
            <a:off x="3520440"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$88K</a:t>
            </a:r>
            <a:endParaRPr lang="en-US" sz="1300" dirty="0"/>
          </a:p>
        </p:txBody>
      </p:sp>
      <p:sp>
        <p:nvSpPr>
          <p:cNvPr id="40" name="Text 38"/>
          <p:cNvSpPr txBox="1"/>
          <p:nvPr/>
        </p:nvSpPr>
        <p:spPr>
          <a:xfrm>
            <a:off x="4306824"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11</a:t>
            </a:r>
            <a:endParaRPr lang="en-US" sz="1300" dirty="0"/>
          </a:p>
        </p:txBody>
      </p:sp>
      <p:sp>
        <p:nvSpPr>
          <p:cNvPr id="41" name="Text 39"/>
          <p:cNvSpPr txBox="1"/>
          <p:nvPr/>
        </p:nvSpPr>
        <p:spPr>
          <a:xfrm>
            <a:off x="5239512"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69.0%</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4" name="Shape 42"/>
          <p:cNvSpPr/>
          <p:nvPr/>
        </p:nvSpPr>
        <p:spPr>
          <a:xfrm>
            <a:off x="2871216" y="2999205"/>
            <a:ext cx="329038" cy="136676"/>
          </a:xfrm>
          <a:prstGeom prst="rect">
            <a:avLst/>
          </a:prstGeom>
          <a:solidFill>
            <a:srgbClr val="C2352F"/>
          </a:solidFill>
          <a:ln/>
        </p:spPr>
      </p:sp>
      <p:sp>
        <p:nvSpPr>
          <p:cNvPr id="45" name="Text 43"/>
          <p:cNvSpPr txBox="1"/>
          <p:nvPr/>
        </p:nvSpPr>
        <p:spPr>
          <a:xfrm>
            <a:off x="3520440"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$87K</a:t>
            </a:r>
            <a:endParaRPr lang="en-US" sz="1300" dirty="0"/>
          </a:p>
        </p:txBody>
      </p:sp>
      <p:sp>
        <p:nvSpPr>
          <p:cNvPr id="46" name="Text 44"/>
          <p:cNvSpPr txBox="1"/>
          <p:nvPr/>
        </p:nvSpPr>
        <p:spPr>
          <a:xfrm>
            <a:off x="4306824"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51</a:t>
            </a:r>
            <a:endParaRPr lang="en-US" sz="1300" dirty="0"/>
          </a:p>
        </p:txBody>
      </p:sp>
      <p:sp>
        <p:nvSpPr>
          <p:cNvPr id="47" name="Text 45"/>
          <p:cNvSpPr txBox="1"/>
          <p:nvPr/>
        </p:nvSpPr>
        <p:spPr>
          <a:xfrm>
            <a:off x="5239512"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103.4%</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0" name="Shape 48"/>
          <p:cNvSpPr/>
          <p:nvPr/>
        </p:nvSpPr>
        <p:spPr>
          <a:xfrm>
            <a:off x="2871216" y="3247707"/>
            <a:ext cx="291475" cy="136676"/>
          </a:xfrm>
          <a:prstGeom prst="rect">
            <a:avLst/>
          </a:prstGeom>
          <a:solidFill>
            <a:srgbClr val="C2352F"/>
          </a:solidFill>
          <a:ln/>
        </p:spPr>
      </p:sp>
      <p:sp>
        <p:nvSpPr>
          <p:cNvPr id="51" name="Text 49"/>
          <p:cNvSpPr txBox="1"/>
          <p:nvPr/>
        </p:nvSpPr>
        <p:spPr>
          <a:xfrm>
            <a:off x="3520440"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2" name="Text 50"/>
          <p:cNvSpPr txBox="1"/>
          <p:nvPr/>
        </p:nvSpPr>
        <p:spPr>
          <a:xfrm>
            <a:off x="4306824"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22</a:t>
            </a:r>
            <a:endParaRPr lang="en-US" sz="1300" dirty="0"/>
          </a:p>
        </p:txBody>
      </p:sp>
      <p:sp>
        <p:nvSpPr>
          <p:cNvPr id="53" name="Text 51"/>
          <p:cNvSpPr txBox="1"/>
          <p:nvPr/>
        </p:nvSpPr>
        <p:spPr>
          <a:xfrm>
            <a:off x="5239512"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83.6%</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6" name="Shape 54"/>
          <p:cNvSpPr/>
          <p:nvPr/>
        </p:nvSpPr>
        <p:spPr>
          <a:xfrm>
            <a:off x="2871216" y="3496208"/>
            <a:ext cx="288910" cy="136676"/>
          </a:xfrm>
          <a:prstGeom prst="rect">
            <a:avLst/>
          </a:prstGeom>
          <a:solidFill>
            <a:srgbClr val="C2352F"/>
          </a:solidFill>
          <a:ln/>
        </p:spPr>
      </p:sp>
      <p:sp>
        <p:nvSpPr>
          <p:cNvPr id="57" name="Text 55"/>
          <p:cNvSpPr txBox="1"/>
          <p:nvPr/>
        </p:nvSpPr>
        <p:spPr>
          <a:xfrm>
            <a:off x="3520440"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$77K</a:t>
            </a:r>
            <a:endParaRPr lang="en-US" sz="1300" dirty="0"/>
          </a:p>
        </p:txBody>
      </p:sp>
      <p:sp>
        <p:nvSpPr>
          <p:cNvPr id="58" name="Text 56"/>
          <p:cNvSpPr txBox="1"/>
          <p:nvPr/>
        </p:nvSpPr>
        <p:spPr>
          <a:xfrm>
            <a:off x="4306824"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 of 12</a:t>
            </a:r>
            <a:endParaRPr lang="en-US" sz="1300" dirty="0"/>
          </a:p>
        </p:txBody>
      </p:sp>
      <p:sp>
        <p:nvSpPr>
          <p:cNvPr id="59" name="Text 57"/>
          <p:cNvSpPr txBox="1"/>
          <p:nvPr/>
        </p:nvSpPr>
        <p:spPr>
          <a:xfrm>
            <a:off x="5239512"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67.5%</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2" name="Shape 60"/>
          <p:cNvSpPr/>
          <p:nvPr/>
        </p:nvSpPr>
        <p:spPr>
          <a:xfrm>
            <a:off x="2871216" y="3744710"/>
            <a:ext cx="286162" cy="136676"/>
          </a:xfrm>
          <a:prstGeom prst="rect">
            <a:avLst/>
          </a:prstGeom>
          <a:solidFill>
            <a:srgbClr val="C2352F"/>
          </a:solidFill>
          <a:ln/>
        </p:spPr>
      </p:sp>
      <p:sp>
        <p:nvSpPr>
          <p:cNvPr id="63" name="Text 61"/>
          <p:cNvSpPr txBox="1"/>
          <p:nvPr/>
        </p:nvSpPr>
        <p:spPr>
          <a:xfrm>
            <a:off x="3520440"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$76K</a:t>
            </a:r>
            <a:endParaRPr lang="en-US" sz="1300" dirty="0"/>
          </a:p>
        </p:txBody>
      </p:sp>
      <p:sp>
        <p:nvSpPr>
          <p:cNvPr id="64" name="Text 62"/>
          <p:cNvSpPr txBox="1"/>
          <p:nvPr/>
        </p:nvSpPr>
        <p:spPr>
          <a:xfrm>
            <a:off x="4306824"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11</a:t>
            </a:r>
            <a:endParaRPr lang="en-US" sz="1300" dirty="0"/>
          </a:p>
        </p:txBody>
      </p:sp>
      <p:sp>
        <p:nvSpPr>
          <p:cNvPr id="65" name="Text 63"/>
          <p:cNvSpPr txBox="1"/>
          <p:nvPr/>
        </p:nvSpPr>
        <p:spPr>
          <a:xfrm>
            <a:off x="5239512"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67.4%</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280027" cy="136676"/>
          </a:xfrm>
          <a:prstGeom prst="rect">
            <a:avLst/>
          </a:prstGeom>
          <a:solidFill>
            <a:srgbClr val="C2352F"/>
          </a:solidFill>
          <a:ln/>
        </p:spPr>
      </p:sp>
      <p:sp>
        <p:nvSpPr>
          <p:cNvPr id="69" name="Text 67"/>
          <p:cNvSpPr txBox="1"/>
          <p:nvPr/>
        </p:nvSpPr>
        <p:spPr>
          <a:xfrm>
            <a:off x="3520440"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$74K</a:t>
            </a:r>
            <a:endParaRPr lang="en-US" sz="1300" dirty="0"/>
          </a:p>
        </p:txBody>
      </p:sp>
      <p:sp>
        <p:nvSpPr>
          <p:cNvPr id="70" name="Text 68"/>
          <p:cNvSpPr txBox="1"/>
          <p:nvPr/>
        </p:nvSpPr>
        <p:spPr>
          <a:xfrm>
            <a:off x="4306824"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 of 20</a:t>
            </a:r>
            <a:endParaRPr lang="en-US" sz="1300" dirty="0"/>
          </a:p>
        </p:txBody>
      </p:sp>
      <p:sp>
        <p:nvSpPr>
          <p:cNvPr id="71" name="Text 69"/>
          <p:cNvSpPr txBox="1"/>
          <p:nvPr/>
        </p:nvSpPr>
        <p:spPr>
          <a:xfrm>
            <a:off x="5239512"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76.8%</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4" name="Shape 72"/>
          <p:cNvSpPr/>
          <p:nvPr/>
        </p:nvSpPr>
        <p:spPr>
          <a:xfrm>
            <a:off x="2871216" y="4241713"/>
            <a:ext cx="264542" cy="136676"/>
          </a:xfrm>
          <a:prstGeom prst="rect">
            <a:avLst/>
          </a:prstGeom>
          <a:solidFill>
            <a:srgbClr val="C2352F"/>
          </a:solidFill>
          <a:ln/>
        </p:spPr>
      </p:sp>
      <p:sp>
        <p:nvSpPr>
          <p:cNvPr id="75" name="Text 73"/>
          <p:cNvSpPr txBox="1"/>
          <p:nvPr/>
        </p:nvSpPr>
        <p:spPr>
          <a:xfrm>
            <a:off x="3520440"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$70K</a:t>
            </a:r>
            <a:endParaRPr lang="en-US" sz="1300" dirty="0"/>
          </a:p>
        </p:txBody>
      </p:sp>
      <p:sp>
        <p:nvSpPr>
          <p:cNvPr id="76" name="Text 74"/>
          <p:cNvSpPr txBox="1"/>
          <p:nvPr/>
        </p:nvSpPr>
        <p:spPr>
          <a:xfrm>
            <a:off x="4306824"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 of 59</a:t>
            </a:r>
            <a:endParaRPr lang="en-US" sz="1300" dirty="0"/>
          </a:p>
        </p:txBody>
      </p:sp>
      <p:sp>
        <p:nvSpPr>
          <p:cNvPr id="77" name="Text 75"/>
          <p:cNvSpPr txBox="1"/>
          <p:nvPr/>
        </p:nvSpPr>
        <p:spPr>
          <a:xfrm>
            <a:off x="5239512"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104.3%</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0" name="Shape 78"/>
          <p:cNvSpPr/>
          <p:nvPr/>
        </p:nvSpPr>
        <p:spPr>
          <a:xfrm>
            <a:off x="2871216" y="4490215"/>
            <a:ext cx="238147" cy="136676"/>
          </a:xfrm>
          <a:prstGeom prst="rect">
            <a:avLst/>
          </a:prstGeom>
          <a:solidFill>
            <a:srgbClr val="C2352F"/>
          </a:solidFill>
          <a:ln/>
        </p:spPr>
      </p:sp>
      <p:sp>
        <p:nvSpPr>
          <p:cNvPr id="81" name="Text 79"/>
          <p:cNvSpPr txBox="1"/>
          <p:nvPr/>
        </p:nvSpPr>
        <p:spPr>
          <a:xfrm>
            <a:off x="3520440"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$63K</a:t>
            </a:r>
            <a:endParaRPr lang="en-US" sz="1300" dirty="0"/>
          </a:p>
        </p:txBody>
      </p:sp>
      <p:sp>
        <p:nvSpPr>
          <p:cNvPr id="82" name="Text 80"/>
          <p:cNvSpPr txBox="1"/>
          <p:nvPr/>
        </p:nvSpPr>
        <p:spPr>
          <a:xfrm>
            <a:off x="4306824"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16</a:t>
            </a:r>
            <a:endParaRPr lang="en-US" sz="1300" dirty="0"/>
          </a:p>
        </p:txBody>
      </p:sp>
      <p:sp>
        <p:nvSpPr>
          <p:cNvPr id="83" name="Text 81"/>
          <p:cNvSpPr txBox="1"/>
          <p:nvPr/>
        </p:nvSpPr>
        <p:spPr>
          <a:xfrm>
            <a:off x="5239512"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91.2%</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6" name="Shape 84"/>
          <p:cNvSpPr/>
          <p:nvPr/>
        </p:nvSpPr>
        <p:spPr>
          <a:xfrm>
            <a:off x="2871216" y="4738717"/>
            <a:ext cx="233408" cy="136676"/>
          </a:xfrm>
          <a:prstGeom prst="rect">
            <a:avLst/>
          </a:prstGeom>
          <a:solidFill>
            <a:srgbClr val="C2352F"/>
          </a:solidFill>
          <a:ln/>
        </p:spPr>
      </p:sp>
      <p:sp>
        <p:nvSpPr>
          <p:cNvPr id="87" name="Text 85"/>
          <p:cNvSpPr txBox="1"/>
          <p:nvPr/>
        </p:nvSpPr>
        <p:spPr>
          <a:xfrm>
            <a:off x="3520440"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$62K</a:t>
            </a:r>
            <a:endParaRPr lang="en-US" sz="1300" dirty="0"/>
          </a:p>
        </p:txBody>
      </p:sp>
      <p:sp>
        <p:nvSpPr>
          <p:cNvPr id="88" name="Text 86"/>
          <p:cNvSpPr txBox="1"/>
          <p:nvPr/>
        </p:nvSpPr>
        <p:spPr>
          <a:xfrm>
            <a:off x="4306824"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9</a:t>
            </a:r>
            <a:endParaRPr lang="en-US" sz="1300" dirty="0"/>
          </a:p>
        </p:txBody>
      </p:sp>
      <p:sp>
        <p:nvSpPr>
          <p:cNvPr id="89" name="Text 87"/>
          <p:cNvSpPr txBox="1"/>
          <p:nvPr/>
        </p:nvSpPr>
        <p:spPr>
          <a:xfrm>
            <a:off x="5239512"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72.3%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92" name="Shape 90"/>
          <p:cNvSpPr/>
          <p:nvPr/>
        </p:nvSpPr>
        <p:spPr>
          <a:xfrm>
            <a:off x="2871216" y="4987218"/>
            <a:ext cx="217057" cy="136676"/>
          </a:xfrm>
          <a:prstGeom prst="rect">
            <a:avLst/>
          </a:prstGeom>
          <a:solidFill>
            <a:srgbClr val="C2352F"/>
          </a:solidFill>
          <a:ln/>
        </p:spPr>
      </p:sp>
      <p:sp>
        <p:nvSpPr>
          <p:cNvPr id="93" name="Text 91"/>
          <p:cNvSpPr txBox="1"/>
          <p:nvPr/>
        </p:nvSpPr>
        <p:spPr>
          <a:xfrm>
            <a:off x="3520440"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$58K</a:t>
            </a:r>
            <a:endParaRPr lang="en-US" sz="1300" dirty="0"/>
          </a:p>
        </p:txBody>
      </p:sp>
      <p:sp>
        <p:nvSpPr>
          <p:cNvPr id="94" name="Text 92"/>
          <p:cNvSpPr txBox="1"/>
          <p:nvPr/>
        </p:nvSpPr>
        <p:spPr>
          <a:xfrm>
            <a:off x="4306824"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12</a:t>
            </a:r>
            <a:endParaRPr lang="en-US" sz="1300" dirty="0"/>
          </a:p>
        </p:txBody>
      </p:sp>
      <p:sp>
        <p:nvSpPr>
          <p:cNvPr id="95" name="Text 93"/>
          <p:cNvSpPr txBox="1"/>
          <p:nvPr/>
        </p:nvSpPr>
        <p:spPr>
          <a:xfrm>
            <a:off x="5239512"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98.4%</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8" name="Shape 96"/>
          <p:cNvSpPr/>
          <p:nvPr/>
        </p:nvSpPr>
        <p:spPr>
          <a:xfrm>
            <a:off x="2871216" y="5235720"/>
            <a:ext cx="180426" cy="136676"/>
          </a:xfrm>
          <a:prstGeom prst="rect">
            <a:avLst/>
          </a:prstGeom>
          <a:solidFill>
            <a:srgbClr val="C2352F"/>
          </a:solidFill>
          <a:ln/>
        </p:spPr>
      </p:sp>
      <p:sp>
        <p:nvSpPr>
          <p:cNvPr id="99" name="Text 97"/>
          <p:cNvSpPr txBox="1"/>
          <p:nvPr/>
        </p:nvSpPr>
        <p:spPr>
          <a:xfrm>
            <a:off x="3520440"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$48K</a:t>
            </a:r>
            <a:endParaRPr lang="en-US" sz="1300" dirty="0"/>
          </a:p>
        </p:txBody>
      </p:sp>
      <p:sp>
        <p:nvSpPr>
          <p:cNvPr id="100" name="Text 98"/>
          <p:cNvSpPr txBox="1"/>
          <p:nvPr/>
        </p:nvSpPr>
        <p:spPr>
          <a:xfrm>
            <a:off x="4306824"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 of 12</a:t>
            </a:r>
            <a:endParaRPr lang="en-US" sz="1300" dirty="0"/>
          </a:p>
        </p:txBody>
      </p:sp>
      <p:sp>
        <p:nvSpPr>
          <p:cNvPr id="101" name="Text 99"/>
          <p:cNvSpPr txBox="1"/>
          <p:nvPr/>
        </p:nvSpPr>
        <p:spPr>
          <a:xfrm>
            <a:off x="5239512"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73.6%</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4" name="Shape 102"/>
          <p:cNvSpPr/>
          <p:nvPr/>
        </p:nvSpPr>
        <p:spPr>
          <a:xfrm>
            <a:off x="2871216" y="5484222"/>
            <a:ext cx="164601" cy="136676"/>
          </a:xfrm>
          <a:prstGeom prst="rect">
            <a:avLst/>
          </a:prstGeom>
          <a:solidFill>
            <a:srgbClr val="C2352F"/>
          </a:solidFill>
          <a:ln/>
        </p:spPr>
      </p:sp>
      <p:sp>
        <p:nvSpPr>
          <p:cNvPr id="105" name="Text 103"/>
          <p:cNvSpPr txBox="1"/>
          <p:nvPr/>
        </p:nvSpPr>
        <p:spPr>
          <a:xfrm>
            <a:off x="3520440"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$44K</a:t>
            </a:r>
            <a:endParaRPr lang="en-US" sz="1300" dirty="0"/>
          </a:p>
        </p:txBody>
      </p:sp>
      <p:sp>
        <p:nvSpPr>
          <p:cNvPr id="106" name="Text 104"/>
          <p:cNvSpPr txBox="1"/>
          <p:nvPr/>
        </p:nvSpPr>
        <p:spPr>
          <a:xfrm>
            <a:off x="4306824"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 of 27</a:t>
            </a:r>
            <a:endParaRPr lang="en-US" sz="1300" dirty="0"/>
          </a:p>
        </p:txBody>
      </p:sp>
      <p:sp>
        <p:nvSpPr>
          <p:cNvPr id="107" name="Text 105"/>
          <p:cNvSpPr txBox="1"/>
          <p:nvPr/>
        </p:nvSpPr>
        <p:spPr>
          <a:xfrm>
            <a:off x="5239512"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0" name="Shape 108"/>
          <p:cNvSpPr/>
          <p:nvPr/>
        </p:nvSpPr>
        <p:spPr>
          <a:xfrm>
            <a:off x="2871216" y="5732723"/>
            <a:ext cx="159807" cy="136676"/>
          </a:xfrm>
          <a:prstGeom prst="rect">
            <a:avLst/>
          </a:prstGeom>
          <a:solidFill>
            <a:srgbClr val="C2352F"/>
          </a:solidFill>
          <a:ln/>
        </p:spPr>
      </p:sp>
      <p:sp>
        <p:nvSpPr>
          <p:cNvPr id="111" name="Text 109"/>
          <p:cNvSpPr txBox="1"/>
          <p:nvPr/>
        </p:nvSpPr>
        <p:spPr>
          <a:xfrm>
            <a:off x="3520440"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$42K</a:t>
            </a:r>
            <a:endParaRPr lang="en-US" sz="1300" dirty="0"/>
          </a:p>
        </p:txBody>
      </p:sp>
      <p:sp>
        <p:nvSpPr>
          <p:cNvPr id="112" name="Text 110"/>
          <p:cNvSpPr txBox="1"/>
          <p:nvPr/>
        </p:nvSpPr>
        <p:spPr>
          <a:xfrm>
            <a:off x="4306824" y="567681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 of 17</a:t>
            </a:r>
            <a:endParaRPr lang="en-US" sz="1300" dirty="0"/>
          </a:p>
        </p:txBody>
      </p:sp>
      <p:sp>
        <p:nvSpPr>
          <p:cNvPr id="113" name="Text 111"/>
          <p:cNvSpPr txBox="1"/>
          <p:nvPr/>
        </p:nvSpPr>
        <p:spPr>
          <a:xfrm>
            <a:off x="5239512" y="567681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91.1%</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421624" y="1756697"/>
            <a:ext cx="148734" cy="136676"/>
          </a:xfrm>
          <a:prstGeom prst="rect">
            <a:avLst/>
          </a:prstGeom>
          <a:solidFill>
            <a:srgbClr val="C2352F"/>
          </a:solidFill>
          <a:ln/>
        </p:spPr>
      </p:sp>
      <p:sp>
        <p:nvSpPr>
          <p:cNvPr id="117" name="Text 115"/>
          <p:cNvSpPr txBox="1"/>
          <p:nvPr/>
        </p:nvSpPr>
        <p:spPr>
          <a:xfrm>
            <a:off x="9070848"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$39K</a:t>
            </a:r>
            <a:endParaRPr lang="en-US" sz="1300" dirty="0"/>
          </a:p>
        </p:txBody>
      </p:sp>
      <p:sp>
        <p:nvSpPr>
          <p:cNvPr id="118" name="Text 116"/>
          <p:cNvSpPr txBox="1"/>
          <p:nvPr/>
        </p:nvSpPr>
        <p:spPr>
          <a:xfrm>
            <a:off x="9857232" y="170078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6</a:t>
            </a:r>
            <a:endParaRPr lang="en-US" sz="1300" dirty="0"/>
          </a:p>
        </p:txBody>
      </p:sp>
      <p:sp>
        <p:nvSpPr>
          <p:cNvPr id="119" name="Text 117"/>
          <p:cNvSpPr txBox="1"/>
          <p:nvPr/>
        </p:nvSpPr>
        <p:spPr>
          <a:xfrm>
            <a:off x="10789920" y="170078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78.5%</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2" name="Shape 120"/>
          <p:cNvSpPr/>
          <p:nvPr/>
        </p:nvSpPr>
        <p:spPr>
          <a:xfrm>
            <a:off x="8421624" y="2005199"/>
            <a:ext cx="129329" cy="136676"/>
          </a:xfrm>
          <a:prstGeom prst="rect">
            <a:avLst/>
          </a:prstGeom>
          <a:solidFill>
            <a:srgbClr val="C2352F"/>
          </a:solidFill>
          <a:ln/>
        </p:spPr>
      </p:sp>
      <p:sp>
        <p:nvSpPr>
          <p:cNvPr id="123" name="Text 121"/>
          <p:cNvSpPr txBox="1"/>
          <p:nvPr/>
        </p:nvSpPr>
        <p:spPr>
          <a:xfrm>
            <a:off x="9070848"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$34K</a:t>
            </a:r>
            <a:endParaRPr lang="en-US" sz="1300" dirty="0"/>
          </a:p>
        </p:txBody>
      </p:sp>
      <p:sp>
        <p:nvSpPr>
          <p:cNvPr id="124" name="Text 122"/>
          <p:cNvSpPr txBox="1"/>
          <p:nvPr/>
        </p:nvSpPr>
        <p:spPr>
          <a:xfrm>
            <a:off x="9857232" y="194928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9</a:t>
            </a:r>
            <a:endParaRPr lang="en-US" sz="1300" dirty="0"/>
          </a:p>
        </p:txBody>
      </p:sp>
      <p:sp>
        <p:nvSpPr>
          <p:cNvPr id="125" name="Text 123"/>
          <p:cNvSpPr txBox="1"/>
          <p:nvPr/>
        </p:nvSpPr>
        <p:spPr>
          <a:xfrm>
            <a:off x="10789920" y="194928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78.8%</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19109" cy="136676"/>
          </a:xfrm>
          <a:prstGeom prst="rect">
            <a:avLst/>
          </a:prstGeom>
          <a:solidFill>
            <a:srgbClr val="C2352F"/>
          </a:solidFill>
          <a:ln/>
        </p:spPr>
      </p:sp>
      <p:sp>
        <p:nvSpPr>
          <p:cNvPr id="129" name="Text 127"/>
          <p:cNvSpPr txBox="1"/>
          <p:nvPr/>
        </p:nvSpPr>
        <p:spPr>
          <a:xfrm>
            <a:off x="9070848"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$32K</a:t>
            </a:r>
            <a:endParaRPr lang="en-US" sz="1300" dirty="0"/>
          </a:p>
        </p:txBody>
      </p:sp>
      <p:sp>
        <p:nvSpPr>
          <p:cNvPr id="130" name="Text 128"/>
          <p:cNvSpPr txBox="1"/>
          <p:nvPr/>
        </p:nvSpPr>
        <p:spPr>
          <a:xfrm>
            <a:off x="9857232" y="219778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11</a:t>
            </a:r>
            <a:endParaRPr lang="en-US" sz="1300" dirty="0"/>
          </a:p>
        </p:txBody>
      </p:sp>
      <p:sp>
        <p:nvSpPr>
          <p:cNvPr id="131" name="Text 129"/>
          <p:cNvSpPr txBox="1"/>
          <p:nvPr/>
        </p:nvSpPr>
        <p:spPr>
          <a:xfrm>
            <a:off x="10789920" y="219778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104.7%</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4" name="Shape 132"/>
          <p:cNvSpPr/>
          <p:nvPr/>
        </p:nvSpPr>
        <p:spPr>
          <a:xfrm>
            <a:off x="8421624" y="2502202"/>
            <a:ext cx="92701" cy="136676"/>
          </a:xfrm>
          <a:prstGeom prst="rect">
            <a:avLst/>
          </a:prstGeom>
          <a:solidFill>
            <a:srgbClr val="C2352F"/>
          </a:solidFill>
          <a:ln/>
        </p:spPr>
      </p:sp>
      <p:sp>
        <p:nvSpPr>
          <p:cNvPr id="135" name="Text 133"/>
          <p:cNvSpPr txBox="1"/>
          <p:nvPr/>
        </p:nvSpPr>
        <p:spPr>
          <a:xfrm>
            <a:off x="9070848"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$25K</a:t>
            </a:r>
            <a:endParaRPr lang="en-US" sz="1300" dirty="0"/>
          </a:p>
        </p:txBody>
      </p:sp>
      <p:sp>
        <p:nvSpPr>
          <p:cNvPr id="136" name="Text 134"/>
          <p:cNvSpPr txBox="1"/>
          <p:nvPr/>
        </p:nvSpPr>
        <p:spPr>
          <a:xfrm>
            <a:off x="9857232" y="244628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19</a:t>
            </a:r>
            <a:endParaRPr lang="en-US" sz="1300" dirty="0"/>
          </a:p>
        </p:txBody>
      </p:sp>
      <p:sp>
        <p:nvSpPr>
          <p:cNvPr id="137" name="Text 135"/>
          <p:cNvSpPr txBox="1"/>
          <p:nvPr/>
        </p:nvSpPr>
        <p:spPr>
          <a:xfrm>
            <a:off x="10789920" y="244628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92.2%</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0" name="Shape 138"/>
          <p:cNvSpPr/>
          <p:nvPr/>
        </p:nvSpPr>
        <p:spPr>
          <a:xfrm>
            <a:off x="8421624" y="2750703"/>
            <a:ext cx="89382" cy="136676"/>
          </a:xfrm>
          <a:prstGeom prst="rect">
            <a:avLst/>
          </a:prstGeom>
          <a:solidFill>
            <a:srgbClr val="C2352F"/>
          </a:solidFill>
          <a:ln/>
        </p:spPr>
      </p:sp>
      <p:sp>
        <p:nvSpPr>
          <p:cNvPr id="141" name="Text 139"/>
          <p:cNvSpPr txBox="1"/>
          <p:nvPr/>
        </p:nvSpPr>
        <p:spPr>
          <a:xfrm>
            <a:off x="9070848"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$24K</a:t>
            </a:r>
            <a:endParaRPr lang="en-US" sz="1300" dirty="0"/>
          </a:p>
        </p:txBody>
      </p:sp>
      <p:sp>
        <p:nvSpPr>
          <p:cNvPr id="142" name="Text 140"/>
          <p:cNvSpPr txBox="1"/>
          <p:nvPr/>
        </p:nvSpPr>
        <p:spPr>
          <a:xfrm>
            <a:off x="9857232" y="2694791"/>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11</a:t>
            </a:r>
            <a:endParaRPr lang="en-US" sz="1300" dirty="0"/>
          </a:p>
        </p:txBody>
      </p:sp>
      <p:sp>
        <p:nvSpPr>
          <p:cNvPr id="143" name="Text 141"/>
          <p:cNvSpPr txBox="1"/>
          <p:nvPr/>
        </p:nvSpPr>
        <p:spPr>
          <a:xfrm>
            <a:off x="10789920" y="2694791"/>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46" name="Shape 144"/>
          <p:cNvSpPr/>
          <p:nvPr/>
        </p:nvSpPr>
        <p:spPr>
          <a:xfrm>
            <a:off x="8421624" y="2999205"/>
            <a:ext cx="83365" cy="136676"/>
          </a:xfrm>
          <a:prstGeom prst="rect">
            <a:avLst/>
          </a:prstGeom>
          <a:solidFill>
            <a:srgbClr val="C2352F"/>
          </a:solidFill>
          <a:ln/>
        </p:spPr>
      </p:sp>
      <p:sp>
        <p:nvSpPr>
          <p:cNvPr id="147" name="Text 145"/>
          <p:cNvSpPr txBox="1"/>
          <p:nvPr/>
        </p:nvSpPr>
        <p:spPr>
          <a:xfrm>
            <a:off x="9070848"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$22K</a:t>
            </a:r>
            <a:endParaRPr lang="en-US" sz="1300" dirty="0"/>
          </a:p>
        </p:txBody>
      </p:sp>
      <p:sp>
        <p:nvSpPr>
          <p:cNvPr id="148" name="Text 146"/>
          <p:cNvSpPr txBox="1"/>
          <p:nvPr/>
        </p:nvSpPr>
        <p:spPr>
          <a:xfrm>
            <a:off x="9857232" y="294329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12</a:t>
            </a:r>
            <a:endParaRPr lang="en-US" sz="1300" dirty="0"/>
          </a:p>
        </p:txBody>
      </p:sp>
      <p:sp>
        <p:nvSpPr>
          <p:cNvPr id="149" name="Text 147"/>
          <p:cNvSpPr txBox="1"/>
          <p:nvPr/>
        </p:nvSpPr>
        <p:spPr>
          <a:xfrm>
            <a:off x="10789920" y="294329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109.7%</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52" name="Shape 150"/>
          <p:cNvSpPr/>
          <p:nvPr/>
        </p:nvSpPr>
        <p:spPr>
          <a:xfrm>
            <a:off x="8421624" y="3247707"/>
            <a:ext cx="78085" cy="136676"/>
          </a:xfrm>
          <a:prstGeom prst="rect">
            <a:avLst/>
          </a:prstGeom>
          <a:solidFill>
            <a:srgbClr val="C2352F"/>
          </a:solidFill>
          <a:ln/>
        </p:spPr>
      </p:sp>
      <p:sp>
        <p:nvSpPr>
          <p:cNvPr id="153" name="Text 151"/>
          <p:cNvSpPr txBox="1"/>
          <p:nvPr/>
        </p:nvSpPr>
        <p:spPr>
          <a:xfrm>
            <a:off x="9070848"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54" name="Text 152"/>
          <p:cNvSpPr txBox="1"/>
          <p:nvPr/>
        </p:nvSpPr>
        <p:spPr>
          <a:xfrm>
            <a:off x="9857232" y="319179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5</a:t>
            </a:r>
            <a:endParaRPr lang="en-US" sz="1300" dirty="0"/>
          </a:p>
        </p:txBody>
      </p:sp>
      <p:sp>
        <p:nvSpPr>
          <p:cNvPr id="155" name="Text 153"/>
          <p:cNvSpPr txBox="1"/>
          <p:nvPr/>
        </p:nvSpPr>
        <p:spPr>
          <a:xfrm>
            <a:off x="10789920" y="319179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70.0%</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58" name="Shape 156"/>
          <p:cNvSpPr/>
          <p:nvPr/>
        </p:nvSpPr>
        <p:spPr>
          <a:xfrm>
            <a:off x="8421624" y="3496208"/>
            <a:ext cx="77498" cy="136676"/>
          </a:xfrm>
          <a:prstGeom prst="rect">
            <a:avLst/>
          </a:prstGeom>
          <a:solidFill>
            <a:srgbClr val="C2352F"/>
          </a:solidFill>
          <a:ln/>
        </p:spPr>
      </p:sp>
      <p:sp>
        <p:nvSpPr>
          <p:cNvPr id="159" name="Text 157"/>
          <p:cNvSpPr txBox="1"/>
          <p:nvPr/>
        </p:nvSpPr>
        <p:spPr>
          <a:xfrm>
            <a:off x="9070848"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$21K</a:t>
            </a:r>
            <a:endParaRPr lang="en-US" sz="1300" dirty="0"/>
          </a:p>
        </p:txBody>
      </p:sp>
      <p:sp>
        <p:nvSpPr>
          <p:cNvPr id="160" name="Text 158"/>
          <p:cNvSpPr txBox="1"/>
          <p:nvPr/>
        </p:nvSpPr>
        <p:spPr>
          <a:xfrm>
            <a:off x="9857232" y="3440296"/>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6</a:t>
            </a:r>
            <a:endParaRPr lang="en-US" sz="1300" dirty="0"/>
          </a:p>
        </p:txBody>
      </p:sp>
      <p:sp>
        <p:nvSpPr>
          <p:cNvPr id="161" name="Text 159"/>
          <p:cNvSpPr txBox="1"/>
          <p:nvPr/>
        </p:nvSpPr>
        <p:spPr>
          <a:xfrm>
            <a:off x="10789920" y="3440296"/>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81.4%</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75663" cy="136676"/>
          </a:xfrm>
          <a:prstGeom prst="rect">
            <a:avLst/>
          </a:prstGeom>
          <a:solidFill>
            <a:srgbClr val="C2352F"/>
          </a:solidFill>
          <a:ln/>
        </p:spPr>
      </p:sp>
      <p:sp>
        <p:nvSpPr>
          <p:cNvPr id="165" name="Text 163"/>
          <p:cNvSpPr txBox="1"/>
          <p:nvPr/>
        </p:nvSpPr>
        <p:spPr>
          <a:xfrm>
            <a:off x="9070848"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$20K</a:t>
            </a:r>
            <a:endParaRPr lang="en-US" sz="1300" dirty="0"/>
          </a:p>
        </p:txBody>
      </p:sp>
      <p:sp>
        <p:nvSpPr>
          <p:cNvPr id="166" name="Text 164"/>
          <p:cNvSpPr txBox="1"/>
          <p:nvPr/>
        </p:nvSpPr>
        <p:spPr>
          <a:xfrm>
            <a:off x="9857232" y="368879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10</a:t>
            </a:r>
            <a:endParaRPr lang="en-US" sz="1300" dirty="0"/>
          </a:p>
        </p:txBody>
      </p:sp>
      <p:sp>
        <p:nvSpPr>
          <p:cNvPr id="167" name="Text 165"/>
          <p:cNvSpPr txBox="1"/>
          <p:nvPr/>
        </p:nvSpPr>
        <p:spPr>
          <a:xfrm>
            <a:off x="10789920" y="368879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117.1%</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0" name="Shape 168"/>
          <p:cNvSpPr/>
          <p:nvPr/>
        </p:nvSpPr>
        <p:spPr>
          <a:xfrm>
            <a:off x="8421624" y="3993212"/>
            <a:ext cx="56358" cy="136676"/>
          </a:xfrm>
          <a:prstGeom prst="rect">
            <a:avLst/>
          </a:prstGeom>
          <a:solidFill>
            <a:srgbClr val="C2352F"/>
          </a:solidFill>
          <a:ln/>
        </p:spPr>
      </p:sp>
      <p:sp>
        <p:nvSpPr>
          <p:cNvPr id="171" name="Text 169"/>
          <p:cNvSpPr txBox="1"/>
          <p:nvPr/>
        </p:nvSpPr>
        <p:spPr>
          <a:xfrm>
            <a:off x="9070848"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$15K</a:t>
            </a:r>
            <a:endParaRPr lang="en-US" sz="1300" dirty="0"/>
          </a:p>
        </p:txBody>
      </p:sp>
      <p:sp>
        <p:nvSpPr>
          <p:cNvPr id="172" name="Text 170"/>
          <p:cNvSpPr txBox="1"/>
          <p:nvPr/>
        </p:nvSpPr>
        <p:spPr>
          <a:xfrm>
            <a:off x="9857232" y="393729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 of 7</a:t>
            </a:r>
            <a:endParaRPr lang="en-US" sz="1300" dirty="0"/>
          </a:p>
        </p:txBody>
      </p:sp>
      <p:sp>
        <p:nvSpPr>
          <p:cNvPr id="173" name="Text 171"/>
          <p:cNvSpPr txBox="1"/>
          <p:nvPr/>
        </p:nvSpPr>
        <p:spPr>
          <a:xfrm>
            <a:off x="10789920" y="393729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106.0%</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6" name="Shape 174"/>
          <p:cNvSpPr/>
          <p:nvPr/>
        </p:nvSpPr>
        <p:spPr>
          <a:xfrm>
            <a:off x="8421624" y="4241713"/>
            <a:ext cx="48801" cy="136676"/>
          </a:xfrm>
          <a:prstGeom prst="rect">
            <a:avLst/>
          </a:prstGeom>
          <a:solidFill>
            <a:srgbClr val="C2352F"/>
          </a:solidFill>
          <a:ln/>
        </p:spPr>
      </p:sp>
      <p:sp>
        <p:nvSpPr>
          <p:cNvPr id="177" name="Text 175"/>
          <p:cNvSpPr txBox="1"/>
          <p:nvPr/>
        </p:nvSpPr>
        <p:spPr>
          <a:xfrm>
            <a:off x="9070848"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78" name="Text 176"/>
          <p:cNvSpPr txBox="1"/>
          <p:nvPr/>
        </p:nvSpPr>
        <p:spPr>
          <a:xfrm>
            <a:off x="9857232" y="4185800"/>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 of 28</a:t>
            </a:r>
            <a:endParaRPr lang="en-US" sz="1300" dirty="0"/>
          </a:p>
        </p:txBody>
      </p:sp>
      <p:sp>
        <p:nvSpPr>
          <p:cNvPr id="179" name="Text 177"/>
          <p:cNvSpPr txBox="1"/>
          <p:nvPr/>
        </p:nvSpPr>
        <p:spPr>
          <a:xfrm>
            <a:off x="10789920" y="4185800"/>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118.5%</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82" name="Shape 180"/>
          <p:cNvSpPr/>
          <p:nvPr/>
        </p:nvSpPr>
        <p:spPr>
          <a:xfrm>
            <a:off x="8421624" y="4490215"/>
            <a:ext cx="48716" cy="136676"/>
          </a:xfrm>
          <a:prstGeom prst="rect">
            <a:avLst/>
          </a:prstGeom>
          <a:solidFill>
            <a:srgbClr val="C2352F"/>
          </a:solidFill>
          <a:ln/>
        </p:spPr>
      </p:sp>
      <p:sp>
        <p:nvSpPr>
          <p:cNvPr id="183" name="Text 181"/>
          <p:cNvSpPr txBox="1"/>
          <p:nvPr/>
        </p:nvSpPr>
        <p:spPr>
          <a:xfrm>
            <a:off x="9070848"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$13K</a:t>
            </a:r>
            <a:endParaRPr lang="en-US" sz="1300" dirty="0"/>
          </a:p>
        </p:txBody>
      </p:sp>
      <p:sp>
        <p:nvSpPr>
          <p:cNvPr id="184" name="Text 182"/>
          <p:cNvSpPr txBox="1"/>
          <p:nvPr/>
        </p:nvSpPr>
        <p:spPr>
          <a:xfrm>
            <a:off x="9857232" y="4434302"/>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22</a:t>
            </a:r>
            <a:endParaRPr lang="en-US" sz="1300" dirty="0"/>
          </a:p>
        </p:txBody>
      </p:sp>
      <p:sp>
        <p:nvSpPr>
          <p:cNvPr id="185" name="Text 183"/>
          <p:cNvSpPr txBox="1"/>
          <p:nvPr/>
        </p:nvSpPr>
        <p:spPr>
          <a:xfrm>
            <a:off x="10789920" y="4434302"/>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109.3%</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42835" cy="136676"/>
          </a:xfrm>
          <a:prstGeom prst="rect">
            <a:avLst/>
          </a:prstGeom>
          <a:solidFill>
            <a:srgbClr val="C2352F"/>
          </a:solidFill>
          <a:ln/>
        </p:spPr>
      </p:sp>
      <p:sp>
        <p:nvSpPr>
          <p:cNvPr id="189" name="Text 187"/>
          <p:cNvSpPr txBox="1"/>
          <p:nvPr/>
        </p:nvSpPr>
        <p:spPr>
          <a:xfrm>
            <a:off x="9070848"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$11K</a:t>
            </a:r>
            <a:endParaRPr lang="en-US" sz="1300" dirty="0"/>
          </a:p>
        </p:txBody>
      </p:sp>
      <p:sp>
        <p:nvSpPr>
          <p:cNvPr id="190" name="Text 188"/>
          <p:cNvSpPr txBox="1"/>
          <p:nvPr/>
        </p:nvSpPr>
        <p:spPr>
          <a:xfrm>
            <a:off x="9857232" y="4682804"/>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28</a:t>
            </a:r>
            <a:endParaRPr lang="en-US" sz="1300" dirty="0"/>
          </a:p>
        </p:txBody>
      </p:sp>
      <p:sp>
        <p:nvSpPr>
          <p:cNvPr id="191" name="Text 189"/>
          <p:cNvSpPr txBox="1"/>
          <p:nvPr/>
        </p:nvSpPr>
        <p:spPr>
          <a:xfrm>
            <a:off x="10789920" y="4682804"/>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108.0%</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94" name="Shape 192"/>
          <p:cNvSpPr/>
          <p:nvPr/>
        </p:nvSpPr>
        <p:spPr>
          <a:xfrm>
            <a:off x="8421624" y="4987218"/>
            <a:ext cx="39448" cy="136676"/>
          </a:xfrm>
          <a:prstGeom prst="rect">
            <a:avLst/>
          </a:prstGeom>
          <a:solidFill>
            <a:srgbClr val="C2352F"/>
          </a:solidFill>
          <a:ln/>
        </p:spPr>
      </p:sp>
      <p:sp>
        <p:nvSpPr>
          <p:cNvPr id="195" name="Text 193"/>
          <p:cNvSpPr txBox="1"/>
          <p:nvPr/>
        </p:nvSpPr>
        <p:spPr>
          <a:xfrm>
            <a:off x="9070848"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$10K</a:t>
            </a:r>
            <a:endParaRPr lang="en-US" sz="1300" dirty="0"/>
          </a:p>
        </p:txBody>
      </p:sp>
      <p:sp>
        <p:nvSpPr>
          <p:cNvPr id="196" name="Text 194"/>
          <p:cNvSpPr txBox="1"/>
          <p:nvPr/>
        </p:nvSpPr>
        <p:spPr>
          <a:xfrm>
            <a:off x="9857232" y="4931305"/>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 of 18</a:t>
            </a:r>
            <a:endParaRPr lang="en-US" sz="1300" dirty="0"/>
          </a:p>
        </p:txBody>
      </p:sp>
      <p:sp>
        <p:nvSpPr>
          <p:cNvPr id="197" name="Text 195"/>
          <p:cNvSpPr txBox="1"/>
          <p:nvPr/>
        </p:nvSpPr>
        <p:spPr>
          <a:xfrm>
            <a:off x="10789920" y="4931305"/>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102.4%</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00" name="Shape 198"/>
          <p:cNvSpPr/>
          <p:nvPr/>
        </p:nvSpPr>
        <p:spPr>
          <a:xfrm>
            <a:off x="8421624" y="5235720"/>
            <a:ext cx="32291" cy="136676"/>
          </a:xfrm>
          <a:prstGeom prst="rect">
            <a:avLst/>
          </a:prstGeom>
          <a:solidFill>
            <a:srgbClr val="C2352F"/>
          </a:solidFill>
          <a:ln/>
        </p:spPr>
      </p:sp>
      <p:sp>
        <p:nvSpPr>
          <p:cNvPr id="201" name="Text 199"/>
          <p:cNvSpPr txBox="1"/>
          <p:nvPr/>
        </p:nvSpPr>
        <p:spPr>
          <a:xfrm>
            <a:off x="9070848"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$9K</a:t>
            </a:r>
            <a:endParaRPr lang="en-US" sz="1300" dirty="0"/>
          </a:p>
        </p:txBody>
      </p:sp>
      <p:sp>
        <p:nvSpPr>
          <p:cNvPr id="202" name="Text 200"/>
          <p:cNvSpPr txBox="1"/>
          <p:nvPr/>
        </p:nvSpPr>
        <p:spPr>
          <a:xfrm>
            <a:off x="9857232" y="5179807"/>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 of 11</a:t>
            </a:r>
            <a:endParaRPr lang="en-US" sz="1300" dirty="0"/>
          </a:p>
        </p:txBody>
      </p:sp>
      <p:sp>
        <p:nvSpPr>
          <p:cNvPr id="203" name="Text 201"/>
          <p:cNvSpPr txBox="1"/>
          <p:nvPr/>
        </p:nvSpPr>
        <p:spPr>
          <a:xfrm>
            <a:off x="10789920" y="5179807"/>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101.6%</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9070848"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$1K</a:t>
            </a:r>
            <a:endParaRPr lang="en-US" sz="1300" dirty="0"/>
          </a:p>
        </p:txBody>
      </p:sp>
      <p:sp>
        <p:nvSpPr>
          <p:cNvPr id="208" name="Text 206"/>
          <p:cNvSpPr txBox="1"/>
          <p:nvPr/>
        </p:nvSpPr>
        <p:spPr>
          <a:xfrm>
            <a:off x="9857232" y="5428309"/>
            <a:ext cx="93268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 of 15</a:t>
            </a:r>
            <a:endParaRPr lang="en-US" sz="1300" dirty="0"/>
          </a:p>
        </p:txBody>
      </p:sp>
      <p:sp>
        <p:nvSpPr>
          <p:cNvPr id="209" name="Text 207"/>
          <p:cNvSpPr txBox="1"/>
          <p:nvPr/>
        </p:nvSpPr>
        <p:spPr>
          <a:xfrm>
            <a:off x="10789920" y="5428309"/>
            <a:ext cx="676656"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109.0%</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8996"/>
          </a:xfrm>
          <a:prstGeom prst="rect">
            <a:avLst/>
          </a:prstGeom>
          <a:solidFill>
            <a:srgbClr val="FBEBEA"/>
          </a:solidFill>
          <a:ln/>
        </p:spPr>
      </p:sp>
      <p:sp>
        <p:nvSpPr>
          <p:cNvPr id="212" name="Text 210"/>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A82B26"/>
                </a:solidFill>
                <a:latin typeface="Inter" pitchFamily="34" charset="0"/>
                <a:ea typeface="Inter" pitchFamily="34" charset="-122"/>
                <a:cs typeface="Inter" pitchFamily="34" charset="-120"/>
              </a:rPr>
              <a:t>Six stores hold $647K a month, led by Cadillac at $158K. 6 stores at or above 85% still leave $537K a month.</a:t>
            </a:r>
            <a:endParaRPr lang="en-US" sz="1450" dirty="0"/>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PRODUCTIVITY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Opportunity as a Share of Gross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9242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7" name="Text 5"/>
          <p:cNvSpPr txBox="1"/>
          <p:nvPr/>
        </p:nvSpPr>
        <p:spPr>
          <a:xfrm>
            <a:off x="417880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8" name="Text 6"/>
          <p:cNvSpPr txBox="1"/>
          <p:nvPr/>
        </p:nvSpPr>
        <p:spPr>
          <a:xfrm>
            <a:off x="5047488"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9" name="Text 7"/>
          <p:cNvSpPr txBox="1"/>
          <p:nvPr/>
        </p:nvSpPr>
        <p:spPr>
          <a:xfrm>
            <a:off x="894283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Share</a:t>
            </a:r>
            <a:endParaRPr lang="en-US" sz="1400" dirty="0"/>
          </a:p>
        </p:txBody>
      </p:sp>
      <p:sp>
        <p:nvSpPr>
          <p:cNvPr id="10" name="Text 8"/>
          <p:cNvSpPr txBox="1"/>
          <p:nvPr/>
        </p:nvSpPr>
        <p:spPr>
          <a:xfrm>
            <a:off x="972921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Missed</a:t>
            </a:r>
            <a:endParaRPr lang="en-US" sz="1400" dirty="0"/>
          </a:p>
        </p:txBody>
      </p:sp>
      <p:sp>
        <p:nvSpPr>
          <p:cNvPr id="11" name="Text 9"/>
          <p:cNvSpPr txBox="1"/>
          <p:nvPr/>
        </p:nvSpPr>
        <p:spPr>
          <a:xfrm>
            <a:off x="10597896" y="1316736"/>
            <a:ext cx="86868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4" name="Shape 12"/>
          <p:cNvSpPr/>
          <p:nvPr/>
        </p:nvSpPr>
        <p:spPr>
          <a:xfrm>
            <a:off x="2871216" y="1756697"/>
            <a:ext cx="466344" cy="136676"/>
          </a:xfrm>
          <a:prstGeom prst="rect">
            <a:avLst/>
          </a:prstGeom>
          <a:solidFill>
            <a:srgbClr val="C2352F"/>
          </a:solidFill>
          <a:ln/>
        </p:spPr>
      </p:sp>
      <p:sp>
        <p:nvSpPr>
          <p:cNvPr id="15" name="Text 13"/>
          <p:cNvSpPr txBox="1"/>
          <p:nvPr/>
        </p:nvSpPr>
        <p:spPr>
          <a:xfrm>
            <a:off x="3392424"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31.9%</a:t>
            </a:r>
            <a:endParaRPr lang="en-US" sz="1300" dirty="0"/>
          </a:p>
        </p:txBody>
      </p:sp>
      <p:sp>
        <p:nvSpPr>
          <p:cNvPr id="16" name="Text 14"/>
          <p:cNvSpPr txBox="1"/>
          <p:nvPr/>
        </p:nvSpPr>
        <p:spPr>
          <a:xfrm>
            <a:off x="417880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$88K</a:t>
            </a:r>
            <a:endParaRPr lang="en-US" sz="1300" dirty="0"/>
          </a:p>
        </p:txBody>
      </p:sp>
      <p:sp>
        <p:nvSpPr>
          <p:cNvPr id="17" name="Text 15"/>
          <p:cNvSpPr txBox="1"/>
          <p:nvPr/>
        </p:nvSpPr>
        <p:spPr>
          <a:xfrm>
            <a:off x="5047488"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$277K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0" name="Shape 18"/>
          <p:cNvSpPr/>
          <p:nvPr/>
        </p:nvSpPr>
        <p:spPr>
          <a:xfrm>
            <a:off x="2871216" y="2005199"/>
            <a:ext cx="435113" cy="136676"/>
          </a:xfrm>
          <a:prstGeom prst="rect">
            <a:avLst/>
          </a:prstGeom>
          <a:solidFill>
            <a:srgbClr val="C2352F"/>
          </a:solidFill>
          <a:ln/>
        </p:spPr>
      </p:sp>
      <p:sp>
        <p:nvSpPr>
          <p:cNvPr id="21" name="Text 19"/>
          <p:cNvSpPr txBox="1"/>
          <p:nvPr/>
        </p:nvSpPr>
        <p:spPr>
          <a:xfrm>
            <a:off x="3392424"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29.7%</a:t>
            </a:r>
            <a:endParaRPr lang="en-US" sz="1300" dirty="0"/>
          </a:p>
        </p:txBody>
      </p:sp>
      <p:sp>
        <p:nvSpPr>
          <p:cNvPr id="22" name="Text 20"/>
          <p:cNvSpPr txBox="1"/>
          <p:nvPr/>
        </p:nvSpPr>
        <p:spPr>
          <a:xfrm>
            <a:off x="417880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23" name="Text 21"/>
          <p:cNvSpPr txBox="1"/>
          <p:nvPr/>
        </p:nvSpPr>
        <p:spPr>
          <a:xfrm>
            <a:off x="5047488"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$258K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6" name="Shape 24"/>
          <p:cNvSpPr/>
          <p:nvPr/>
        </p:nvSpPr>
        <p:spPr>
          <a:xfrm>
            <a:off x="2871216" y="2253700"/>
            <a:ext cx="371948" cy="136676"/>
          </a:xfrm>
          <a:prstGeom prst="rect">
            <a:avLst/>
          </a:prstGeom>
          <a:solidFill>
            <a:srgbClr val="C2352F"/>
          </a:solidFill>
          <a:ln/>
        </p:spPr>
      </p:sp>
      <p:sp>
        <p:nvSpPr>
          <p:cNvPr id="27" name="Text 25"/>
          <p:cNvSpPr txBox="1"/>
          <p:nvPr/>
        </p:nvSpPr>
        <p:spPr>
          <a:xfrm>
            <a:off x="3392424"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25.4%</a:t>
            </a:r>
            <a:endParaRPr lang="en-US" sz="1300" dirty="0"/>
          </a:p>
        </p:txBody>
      </p:sp>
      <p:sp>
        <p:nvSpPr>
          <p:cNvPr id="28" name="Text 26"/>
          <p:cNvSpPr txBox="1"/>
          <p:nvPr/>
        </p:nvSpPr>
        <p:spPr>
          <a:xfrm>
            <a:off x="417880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$76K</a:t>
            </a:r>
            <a:endParaRPr lang="en-US" sz="1300" dirty="0"/>
          </a:p>
        </p:txBody>
      </p:sp>
      <p:sp>
        <p:nvSpPr>
          <p:cNvPr id="29" name="Text 27"/>
          <p:cNvSpPr txBox="1"/>
          <p:nvPr/>
        </p:nvSpPr>
        <p:spPr>
          <a:xfrm>
            <a:off x="5047488"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502202"/>
            <a:ext cx="359385" cy="136676"/>
          </a:xfrm>
          <a:prstGeom prst="rect">
            <a:avLst/>
          </a:prstGeom>
          <a:solidFill>
            <a:srgbClr val="C2352F"/>
          </a:solidFill>
          <a:ln/>
        </p:spPr>
      </p:sp>
      <p:sp>
        <p:nvSpPr>
          <p:cNvPr id="33" name="Text 31"/>
          <p:cNvSpPr txBox="1"/>
          <p:nvPr/>
        </p:nvSpPr>
        <p:spPr>
          <a:xfrm>
            <a:off x="3392424"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24.6%</a:t>
            </a:r>
            <a:endParaRPr lang="en-US" sz="1300" dirty="0"/>
          </a:p>
        </p:txBody>
      </p:sp>
      <p:sp>
        <p:nvSpPr>
          <p:cNvPr id="34" name="Text 32"/>
          <p:cNvSpPr txBox="1"/>
          <p:nvPr/>
        </p:nvSpPr>
        <p:spPr>
          <a:xfrm>
            <a:off x="417880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35" name="Text 33"/>
          <p:cNvSpPr txBox="1"/>
          <p:nvPr/>
        </p:nvSpPr>
        <p:spPr>
          <a:xfrm>
            <a:off x="5047488"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$408K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38" name="Shape 36"/>
          <p:cNvSpPr/>
          <p:nvPr/>
        </p:nvSpPr>
        <p:spPr>
          <a:xfrm>
            <a:off x="2871216" y="2750703"/>
            <a:ext cx="339754" cy="136676"/>
          </a:xfrm>
          <a:prstGeom prst="rect">
            <a:avLst/>
          </a:prstGeom>
          <a:solidFill>
            <a:srgbClr val="C2352F"/>
          </a:solidFill>
          <a:ln/>
        </p:spPr>
      </p:sp>
      <p:sp>
        <p:nvSpPr>
          <p:cNvPr id="39" name="Text 37"/>
          <p:cNvSpPr txBox="1"/>
          <p:nvPr/>
        </p:nvSpPr>
        <p:spPr>
          <a:xfrm>
            <a:off x="3392424"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23.2%</a:t>
            </a:r>
            <a:endParaRPr lang="en-US" sz="1300" dirty="0"/>
          </a:p>
        </p:txBody>
      </p:sp>
      <p:sp>
        <p:nvSpPr>
          <p:cNvPr id="40" name="Text 38"/>
          <p:cNvSpPr txBox="1"/>
          <p:nvPr/>
        </p:nvSpPr>
        <p:spPr>
          <a:xfrm>
            <a:off x="417880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$112K</a:t>
            </a:r>
            <a:endParaRPr lang="en-US" sz="1300" dirty="0"/>
          </a:p>
        </p:txBody>
      </p:sp>
      <p:sp>
        <p:nvSpPr>
          <p:cNvPr id="41" name="Text 39"/>
          <p:cNvSpPr txBox="1"/>
          <p:nvPr/>
        </p:nvSpPr>
        <p:spPr>
          <a:xfrm>
            <a:off x="5047488"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$483K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4" name="Shape 42"/>
          <p:cNvSpPr/>
          <p:nvPr/>
        </p:nvSpPr>
        <p:spPr>
          <a:xfrm>
            <a:off x="2871216" y="2999205"/>
            <a:ext cx="292285" cy="136676"/>
          </a:xfrm>
          <a:prstGeom prst="rect">
            <a:avLst/>
          </a:prstGeom>
          <a:solidFill>
            <a:srgbClr val="C2352F"/>
          </a:solidFill>
          <a:ln/>
        </p:spPr>
      </p:sp>
      <p:sp>
        <p:nvSpPr>
          <p:cNvPr id="45" name="Text 43"/>
          <p:cNvSpPr txBox="1"/>
          <p:nvPr/>
        </p:nvSpPr>
        <p:spPr>
          <a:xfrm>
            <a:off x="3392424"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20.0%</a:t>
            </a:r>
            <a:endParaRPr lang="en-US" sz="1300" dirty="0"/>
          </a:p>
        </p:txBody>
      </p:sp>
      <p:sp>
        <p:nvSpPr>
          <p:cNvPr id="46" name="Text 44"/>
          <p:cNvSpPr txBox="1"/>
          <p:nvPr/>
        </p:nvSpPr>
        <p:spPr>
          <a:xfrm>
            <a:off x="417880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$58K</a:t>
            </a:r>
            <a:endParaRPr lang="en-US" sz="1300" dirty="0"/>
          </a:p>
        </p:txBody>
      </p:sp>
      <p:sp>
        <p:nvSpPr>
          <p:cNvPr id="47" name="Text 45"/>
          <p:cNvSpPr txBox="1"/>
          <p:nvPr/>
        </p:nvSpPr>
        <p:spPr>
          <a:xfrm>
            <a:off x="5047488"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$288K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50" name="Shape 48"/>
          <p:cNvSpPr/>
          <p:nvPr/>
        </p:nvSpPr>
        <p:spPr>
          <a:xfrm>
            <a:off x="2871216" y="3247707"/>
            <a:ext cx="286413" cy="136676"/>
          </a:xfrm>
          <a:prstGeom prst="rect">
            <a:avLst/>
          </a:prstGeom>
          <a:solidFill>
            <a:srgbClr val="C2352F"/>
          </a:solidFill>
          <a:ln/>
        </p:spPr>
      </p:sp>
      <p:sp>
        <p:nvSpPr>
          <p:cNvPr id="51" name="Text 49"/>
          <p:cNvSpPr txBox="1"/>
          <p:nvPr/>
        </p:nvSpPr>
        <p:spPr>
          <a:xfrm>
            <a:off x="3392424"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19.6%</a:t>
            </a:r>
            <a:endParaRPr lang="en-US" sz="1300" dirty="0"/>
          </a:p>
        </p:txBody>
      </p:sp>
      <p:sp>
        <p:nvSpPr>
          <p:cNvPr id="52" name="Text 50"/>
          <p:cNvSpPr txBox="1"/>
          <p:nvPr/>
        </p:nvSpPr>
        <p:spPr>
          <a:xfrm>
            <a:off x="417880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$39K</a:t>
            </a:r>
            <a:endParaRPr lang="en-US" sz="1300" dirty="0"/>
          </a:p>
        </p:txBody>
      </p:sp>
      <p:sp>
        <p:nvSpPr>
          <p:cNvPr id="53" name="Text 51"/>
          <p:cNvSpPr txBox="1"/>
          <p:nvPr/>
        </p:nvSpPr>
        <p:spPr>
          <a:xfrm>
            <a:off x="5047488"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$202K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6" name="Shape 54"/>
          <p:cNvSpPr/>
          <p:nvPr/>
        </p:nvSpPr>
        <p:spPr>
          <a:xfrm>
            <a:off x="2871216" y="3496208"/>
            <a:ext cx="277524" cy="136676"/>
          </a:xfrm>
          <a:prstGeom prst="rect">
            <a:avLst/>
          </a:prstGeom>
          <a:solidFill>
            <a:srgbClr val="C2352F"/>
          </a:solidFill>
          <a:ln/>
        </p:spPr>
      </p:sp>
      <p:sp>
        <p:nvSpPr>
          <p:cNvPr id="57" name="Text 55"/>
          <p:cNvSpPr txBox="1"/>
          <p:nvPr/>
        </p:nvSpPr>
        <p:spPr>
          <a:xfrm>
            <a:off x="3392424"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a:t>
            </a:r>
            <a:endParaRPr lang="en-US" sz="1300" dirty="0"/>
          </a:p>
        </p:txBody>
      </p:sp>
      <p:sp>
        <p:nvSpPr>
          <p:cNvPr id="58" name="Text 56"/>
          <p:cNvSpPr txBox="1"/>
          <p:nvPr/>
        </p:nvSpPr>
        <p:spPr>
          <a:xfrm>
            <a:off x="417880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59" name="Text 57"/>
          <p:cNvSpPr txBox="1"/>
          <p:nvPr/>
        </p:nvSpPr>
        <p:spPr>
          <a:xfrm>
            <a:off x="5047488"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2" name="Shape 60"/>
          <p:cNvSpPr/>
          <p:nvPr/>
        </p:nvSpPr>
        <p:spPr>
          <a:xfrm>
            <a:off x="2871216" y="3744710"/>
            <a:ext cx="270873" cy="136676"/>
          </a:xfrm>
          <a:prstGeom prst="rect">
            <a:avLst/>
          </a:prstGeom>
          <a:solidFill>
            <a:srgbClr val="C2352F"/>
          </a:solidFill>
          <a:ln/>
        </p:spPr>
      </p:sp>
      <p:sp>
        <p:nvSpPr>
          <p:cNvPr id="63" name="Text 61"/>
          <p:cNvSpPr txBox="1"/>
          <p:nvPr/>
        </p:nvSpPr>
        <p:spPr>
          <a:xfrm>
            <a:off x="3392424"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18.5%</a:t>
            </a:r>
            <a:endParaRPr lang="en-US" sz="1300" dirty="0"/>
          </a:p>
        </p:txBody>
      </p:sp>
      <p:sp>
        <p:nvSpPr>
          <p:cNvPr id="64" name="Text 62"/>
          <p:cNvSpPr txBox="1"/>
          <p:nvPr/>
        </p:nvSpPr>
        <p:spPr>
          <a:xfrm>
            <a:off x="417880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$34K</a:t>
            </a:r>
            <a:endParaRPr lang="en-US" sz="1300" dirty="0"/>
          </a:p>
        </p:txBody>
      </p:sp>
      <p:sp>
        <p:nvSpPr>
          <p:cNvPr id="65" name="Text 63"/>
          <p:cNvSpPr txBox="1"/>
          <p:nvPr/>
        </p:nvSpPr>
        <p:spPr>
          <a:xfrm>
            <a:off x="5047488"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8" name="Shape 66"/>
          <p:cNvSpPr/>
          <p:nvPr/>
        </p:nvSpPr>
        <p:spPr>
          <a:xfrm>
            <a:off x="2871216" y="3993212"/>
            <a:ext cx="217136" cy="136676"/>
          </a:xfrm>
          <a:prstGeom prst="rect">
            <a:avLst/>
          </a:prstGeom>
          <a:solidFill>
            <a:srgbClr val="C2352F"/>
          </a:solidFill>
          <a:ln/>
        </p:spPr>
      </p:sp>
      <p:sp>
        <p:nvSpPr>
          <p:cNvPr id="69" name="Text 67"/>
          <p:cNvSpPr txBox="1"/>
          <p:nvPr/>
        </p:nvSpPr>
        <p:spPr>
          <a:xfrm>
            <a:off x="3392424"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14.8%</a:t>
            </a:r>
            <a:endParaRPr lang="en-US" sz="1300" dirty="0"/>
          </a:p>
        </p:txBody>
      </p:sp>
      <p:sp>
        <p:nvSpPr>
          <p:cNvPr id="70" name="Text 68"/>
          <p:cNvSpPr txBox="1"/>
          <p:nvPr/>
        </p:nvSpPr>
        <p:spPr>
          <a:xfrm>
            <a:off x="417880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$62K</a:t>
            </a:r>
            <a:endParaRPr lang="en-US" sz="1300" dirty="0"/>
          </a:p>
        </p:txBody>
      </p:sp>
      <p:sp>
        <p:nvSpPr>
          <p:cNvPr id="71" name="Text 69"/>
          <p:cNvSpPr txBox="1"/>
          <p:nvPr/>
        </p:nvSpPr>
        <p:spPr>
          <a:xfrm>
            <a:off x="5047488"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4" name="Shape 72"/>
          <p:cNvSpPr/>
          <p:nvPr/>
        </p:nvSpPr>
        <p:spPr>
          <a:xfrm>
            <a:off x="2871216" y="4241713"/>
            <a:ext cx="210283" cy="136676"/>
          </a:xfrm>
          <a:prstGeom prst="rect">
            <a:avLst/>
          </a:prstGeom>
          <a:solidFill>
            <a:srgbClr val="C2352F"/>
          </a:solidFill>
          <a:ln/>
        </p:spPr>
      </p:sp>
      <p:sp>
        <p:nvSpPr>
          <p:cNvPr id="75" name="Text 73"/>
          <p:cNvSpPr txBox="1"/>
          <p:nvPr/>
        </p:nvSpPr>
        <p:spPr>
          <a:xfrm>
            <a:off x="3392424"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14.4%</a:t>
            </a:r>
            <a:endParaRPr lang="en-US" sz="1300" dirty="0"/>
          </a:p>
        </p:txBody>
      </p:sp>
      <p:sp>
        <p:nvSpPr>
          <p:cNvPr id="76" name="Text 74"/>
          <p:cNvSpPr txBox="1"/>
          <p:nvPr/>
        </p:nvSpPr>
        <p:spPr>
          <a:xfrm>
            <a:off x="417880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$48K</a:t>
            </a:r>
            <a:endParaRPr lang="en-US" sz="1300" dirty="0"/>
          </a:p>
        </p:txBody>
      </p:sp>
      <p:sp>
        <p:nvSpPr>
          <p:cNvPr id="77" name="Text 75"/>
          <p:cNvSpPr txBox="1"/>
          <p:nvPr/>
        </p:nvSpPr>
        <p:spPr>
          <a:xfrm>
            <a:off x="5047488"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$333K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0" name="Shape 78"/>
          <p:cNvSpPr/>
          <p:nvPr/>
        </p:nvSpPr>
        <p:spPr>
          <a:xfrm>
            <a:off x="2871216" y="4490215"/>
            <a:ext cx="199373" cy="136676"/>
          </a:xfrm>
          <a:prstGeom prst="rect">
            <a:avLst/>
          </a:prstGeom>
          <a:solidFill>
            <a:srgbClr val="C2352F"/>
          </a:solidFill>
          <a:ln/>
        </p:spPr>
      </p:sp>
      <p:sp>
        <p:nvSpPr>
          <p:cNvPr id="81" name="Text 79"/>
          <p:cNvSpPr txBox="1"/>
          <p:nvPr/>
        </p:nvSpPr>
        <p:spPr>
          <a:xfrm>
            <a:off x="3392424"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13.6%</a:t>
            </a:r>
            <a:endParaRPr lang="en-US" sz="1300" dirty="0"/>
          </a:p>
        </p:txBody>
      </p:sp>
      <p:sp>
        <p:nvSpPr>
          <p:cNvPr id="82" name="Text 80"/>
          <p:cNvSpPr txBox="1"/>
          <p:nvPr/>
        </p:nvSpPr>
        <p:spPr>
          <a:xfrm>
            <a:off x="417880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$158K</a:t>
            </a:r>
            <a:endParaRPr lang="en-US" sz="1300" dirty="0"/>
          </a:p>
        </p:txBody>
      </p:sp>
      <p:sp>
        <p:nvSpPr>
          <p:cNvPr id="83" name="Text 81"/>
          <p:cNvSpPr txBox="1"/>
          <p:nvPr/>
        </p:nvSpPr>
        <p:spPr>
          <a:xfrm>
            <a:off x="5047488"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$1.16M</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6" name="Shape 84"/>
          <p:cNvSpPr/>
          <p:nvPr/>
        </p:nvSpPr>
        <p:spPr>
          <a:xfrm>
            <a:off x="2871216" y="4738717"/>
            <a:ext cx="197385" cy="136676"/>
          </a:xfrm>
          <a:prstGeom prst="rect">
            <a:avLst/>
          </a:prstGeom>
          <a:solidFill>
            <a:srgbClr val="C2352F"/>
          </a:solidFill>
          <a:ln/>
        </p:spPr>
      </p:sp>
      <p:sp>
        <p:nvSpPr>
          <p:cNvPr id="87" name="Text 85"/>
          <p:cNvSpPr txBox="1"/>
          <p:nvPr/>
        </p:nvSpPr>
        <p:spPr>
          <a:xfrm>
            <a:off x="3392424"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a:t>
            </a:r>
            <a:endParaRPr lang="en-US" sz="1300" dirty="0"/>
          </a:p>
        </p:txBody>
      </p:sp>
      <p:sp>
        <p:nvSpPr>
          <p:cNvPr id="88" name="Text 86"/>
          <p:cNvSpPr txBox="1"/>
          <p:nvPr/>
        </p:nvSpPr>
        <p:spPr>
          <a:xfrm>
            <a:off x="417880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$77K</a:t>
            </a:r>
            <a:endParaRPr lang="en-US" sz="1300" dirty="0"/>
          </a:p>
        </p:txBody>
      </p:sp>
      <p:sp>
        <p:nvSpPr>
          <p:cNvPr id="89" name="Text 87"/>
          <p:cNvSpPr txBox="1"/>
          <p:nvPr/>
        </p:nvSpPr>
        <p:spPr>
          <a:xfrm>
            <a:off x="5047488"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$573K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92" name="Shape 90"/>
          <p:cNvSpPr/>
          <p:nvPr/>
        </p:nvSpPr>
        <p:spPr>
          <a:xfrm>
            <a:off x="2871216" y="4987218"/>
            <a:ext cx="169024" cy="136676"/>
          </a:xfrm>
          <a:prstGeom prst="rect">
            <a:avLst/>
          </a:prstGeom>
          <a:solidFill>
            <a:srgbClr val="C2352F"/>
          </a:solidFill>
          <a:ln/>
        </p:spPr>
      </p:sp>
      <p:sp>
        <p:nvSpPr>
          <p:cNvPr id="93" name="Text 91"/>
          <p:cNvSpPr txBox="1"/>
          <p:nvPr/>
        </p:nvSpPr>
        <p:spPr>
          <a:xfrm>
            <a:off x="3392424"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11.6%</a:t>
            </a:r>
            <a:endParaRPr lang="en-US" sz="1300" dirty="0"/>
          </a:p>
        </p:txBody>
      </p:sp>
      <p:sp>
        <p:nvSpPr>
          <p:cNvPr id="94" name="Text 92"/>
          <p:cNvSpPr txBox="1"/>
          <p:nvPr/>
        </p:nvSpPr>
        <p:spPr>
          <a:xfrm>
            <a:off x="417880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$74K</a:t>
            </a:r>
            <a:endParaRPr lang="en-US" sz="1300" dirty="0"/>
          </a:p>
        </p:txBody>
      </p:sp>
      <p:sp>
        <p:nvSpPr>
          <p:cNvPr id="95" name="Text 93"/>
          <p:cNvSpPr txBox="1"/>
          <p:nvPr/>
        </p:nvSpPr>
        <p:spPr>
          <a:xfrm>
            <a:off x="5047488"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$643K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8" name="Shape 96"/>
          <p:cNvSpPr/>
          <p:nvPr/>
        </p:nvSpPr>
        <p:spPr>
          <a:xfrm>
            <a:off x="2871216" y="5235720"/>
            <a:ext cx="131586" cy="136676"/>
          </a:xfrm>
          <a:prstGeom prst="rect">
            <a:avLst/>
          </a:prstGeom>
          <a:solidFill>
            <a:srgbClr val="C2352F"/>
          </a:solidFill>
          <a:ln/>
        </p:spPr>
      </p:sp>
      <p:sp>
        <p:nvSpPr>
          <p:cNvPr id="99" name="Text 97"/>
          <p:cNvSpPr txBox="1"/>
          <p:nvPr/>
        </p:nvSpPr>
        <p:spPr>
          <a:xfrm>
            <a:off x="3392424"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9.0%</a:t>
            </a:r>
            <a:endParaRPr lang="en-US" sz="1300" dirty="0"/>
          </a:p>
        </p:txBody>
      </p:sp>
      <p:sp>
        <p:nvSpPr>
          <p:cNvPr id="100" name="Text 98"/>
          <p:cNvSpPr txBox="1"/>
          <p:nvPr/>
        </p:nvSpPr>
        <p:spPr>
          <a:xfrm>
            <a:off x="417880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$63K</a:t>
            </a:r>
            <a:endParaRPr lang="en-US" sz="1300" dirty="0"/>
          </a:p>
        </p:txBody>
      </p:sp>
      <p:sp>
        <p:nvSpPr>
          <p:cNvPr id="101" name="Text 99"/>
          <p:cNvSpPr txBox="1"/>
          <p:nvPr/>
        </p:nvSpPr>
        <p:spPr>
          <a:xfrm>
            <a:off x="5047488"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$702K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4" name="Shape 102"/>
          <p:cNvSpPr/>
          <p:nvPr/>
        </p:nvSpPr>
        <p:spPr>
          <a:xfrm>
            <a:off x="2871216" y="5484222"/>
            <a:ext cx="120839" cy="136676"/>
          </a:xfrm>
          <a:prstGeom prst="rect">
            <a:avLst/>
          </a:prstGeom>
          <a:solidFill>
            <a:srgbClr val="C2352F"/>
          </a:solidFill>
          <a:ln/>
        </p:spPr>
      </p:sp>
      <p:sp>
        <p:nvSpPr>
          <p:cNvPr id="105" name="Text 103"/>
          <p:cNvSpPr txBox="1"/>
          <p:nvPr/>
        </p:nvSpPr>
        <p:spPr>
          <a:xfrm>
            <a:off x="3392424"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a:t>
            </a:r>
            <a:endParaRPr lang="en-US" sz="1300" dirty="0"/>
          </a:p>
        </p:txBody>
      </p:sp>
      <p:sp>
        <p:nvSpPr>
          <p:cNvPr id="106" name="Text 104"/>
          <p:cNvSpPr txBox="1"/>
          <p:nvPr/>
        </p:nvSpPr>
        <p:spPr>
          <a:xfrm>
            <a:off x="417880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$102K</a:t>
            </a:r>
            <a:endParaRPr lang="en-US" sz="1300" dirty="0"/>
          </a:p>
        </p:txBody>
      </p:sp>
      <p:sp>
        <p:nvSpPr>
          <p:cNvPr id="107" name="Text 105"/>
          <p:cNvSpPr txBox="1"/>
          <p:nvPr/>
        </p:nvSpPr>
        <p:spPr>
          <a:xfrm>
            <a:off x="5047488"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$1.23M</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0" name="Shape 108"/>
          <p:cNvSpPr/>
          <p:nvPr/>
        </p:nvSpPr>
        <p:spPr>
          <a:xfrm>
            <a:off x="2871216" y="5732723"/>
            <a:ext cx="116857" cy="136676"/>
          </a:xfrm>
          <a:prstGeom prst="rect">
            <a:avLst/>
          </a:prstGeom>
          <a:solidFill>
            <a:srgbClr val="C2352F"/>
          </a:solidFill>
          <a:ln/>
        </p:spPr>
      </p:sp>
      <p:sp>
        <p:nvSpPr>
          <p:cNvPr id="111" name="Text 109"/>
          <p:cNvSpPr txBox="1"/>
          <p:nvPr/>
        </p:nvSpPr>
        <p:spPr>
          <a:xfrm>
            <a:off x="3392424" y="567681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2" name="Text 110"/>
          <p:cNvSpPr txBox="1"/>
          <p:nvPr/>
        </p:nvSpPr>
        <p:spPr>
          <a:xfrm>
            <a:off x="417880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$21K</a:t>
            </a:r>
            <a:endParaRPr lang="en-US" sz="1300" dirty="0"/>
          </a:p>
        </p:txBody>
      </p:sp>
      <p:sp>
        <p:nvSpPr>
          <p:cNvPr id="113" name="Text 111"/>
          <p:cNvSpPr txBox="1"/>
          <p:nvPr/>
        </p:nvSpPr>
        <p:spPr>
          <a:xfrm>
            <a:off x="5047488" y="567681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$257K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6" name="Shape 114"/>
          <p:cNvSpPr/>
          <p:nvPr/>
        </p:nvSpPr>
        <p:spPr>
          <a:xfrm>
            <a:off x="8421624" y="1756697"/>
            <a:ext cx="116484" cy="136676"/>
          </a:xfrm>
          <a:prstGeom prst="rect">
            <a:avLst/>
          </a:prstGeom>
          <a:solidFill>
            <a:srgbClr val="C2352F"/>
          </a:solidFill>
          <a:ln/>
        </p:spPr>
      </p:sp>
      <p:sp>
        <p:nvSpPr>
          <p:cNvPr id="117" name="Text 115"/>
          <p:cNvSpPr txBox="1"/>
          <p:nvPr/>
        </p:nvSpPr>
        <p:spPr>
          <a:xfrm>
            <a:off x="8942832" y="170078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8.0%</a:t>
            </a:r>
            <a:endParaRPr lang="en-US" sz="1300" dirty="0"/>
          </a:p>
        </p:txBody>
      </p:sp>
      <p:sp>
        <p:nvSpPr>
          <p:cNvPr id="118" name="Text 116"/>
          <p:cNvSpPr txBox="1"/>
          <p:nvPr/>
        </p:nvSpPr>
        <p:spPr>
          <a:xfrm>
            <a:off x="972921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$42K</a:t>
            </a:r>
            <a:endParaRPr lang="en-US" sz="1300" dirty="0"/>
          </a:p>
        </p:txBody>
      </p:sp>
      <p:sp>
        <p:nvSpPr>
          <p:cNvPr id="119" name="Text 117"/>
          <p:cNvSpPr txBox="1"/>
          <p:nvPr/>
        </p:nvSpPr>
        <p:spPr>
          <a:xfrm>
            <a:off x="10597896" y="170078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$532K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2" name="Shape 120"/>
          <p:cNvSpPr/>
          <p:nvPr/>
        </p:nvSpPr>
        <p:spPr>
          <a:xfrm>
            <a:off x="8421624" y="2005199"/>
            <a:ext cx="115541" cy="136676"/>
          </a:xfrm>
          <a:prstGeom prst="rect">
            <a:avLst/>
          </a:prstGeom>
          <a:solidFill>
            <a:srgbClr val="C2352F"/>
          </a:solidFill>
          <a:ln/>
        </p:spPr>
      </p:sp>
      <p:sp>
        <p:nvSpPr>
          <p:cNvPr id="123" name="Text 121"/>
          <p:cNvSpPr txBox="1"/>
          <p:nvPr/>
        </p:nvSpPr>
        <p:spPr>
          <a:xfrm>
            <a:off x="8942832" y="194928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endParaRPr lang="en-US" sz="1300" dirty="0"/>
          </a:p>
        </p:txBody>
      </p:sp>
      <p:sp>
        <p:nvSpPr>
          <p:cNvPr id="124" name="Text 122"/>
          <p:cNvSpPr txBox="1"/>
          <p:nvPr/>
        </p:nvSpPr>
        <p:spPr>
          <a:xfrm>
            <a:off x="972921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$32K</a:t>
            </a:r>
            <a:endParaRPr lang="en-US" sz="1300" dirty="0"/>
          </a:p>
        </p:txBody>
      </p:sp>
      <p:sp>
        <p:nvSpPr>
          <p:cNvPr id="125" name="Text 123"/>
          <p:cNvSpPr txBox="1"/>
          <p:nvPr/>
        </p:nvSpPr>
        <p:spPr>
          <a:xfrm>
            <a:off x="10597896" y="194928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$400K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8" name="Shape 126"/>
          <p:cNvSpPr/>
          <p:nvPr/>
        </p:nvSpPr>
        <p:spPr>
          <a:xfrm>
            <a:off x="8421624" y="2253700"/>
            <a:ext cx="111161" cy="136676"/>
          </a:xfrm>
          <a:prstGeom prst="rect">
            <a:avLst/>
          </a:prstGeom>
          <a:solidFill>
            <a:srgbClr val="C2352F"/>
          </a:solidFill>
          <a:ln/>
        </p:spPr>
      </p:sp>
      <p:sp>
        <p:nvSpPr>
          <p:cNvPr id="129" name="Text 127"/>
          <p:cNvSpPr txBox="1"/>
          <p:nvPr/>
        </p:nvSpPr>
        <p:spPr>
          <a:xfrm>
            <a:off x="8942832" y="219778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7.6%</a:t>
            </a:r>
            <a:endParaRPr lang="en-US" sz="1300" dirty="0"/>
          </a:p>
        </p:txBody>
      </p:sp>
      <p:sp>
        <p:nvSpPr>
          <p:cNvPr id="130" name="Text 128"/>
          <p:cNvSpPr txBox="1"/>
          <p:nvPr/>
        </p:nvSpPr>
        <p:spPr>
          <a:xfrm>
            <a:off x="972921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$24K</a:t>
            </a:r>
            <a:endParaRPr lang="en-US" sz="1300" dirty="0"/>
          </a:p>
        </p:txBody>
      </p:sp>
      <p:sp>
        <p:nvSpPr>
          <p:cNvPr id="131" name="Text 129"/>
          <p:cNvSpPr txBox="1"/>
          <p:nvPr/>
        </p:nvSpPr>
        <p:spPr>
          <a:xfrm>
            <a:off x="10597896" y="219778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$312K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4754" cy="136676"/>
          </a:xfrm>
          <a:prstGeom prst="rect">
            <a:avLst/>
          </a:prstGeom>
          <a:solidFill>
            <a:srgbClr val="C2352F"/>
          </a:solidFill>
          <a:ln/>
        </p:spPr>
      </p:sp>
      <p:sp>
        <p:nvSpPr>
          <p:cNvPr id="135" name="Text 133"/>
          <p:cNvSpPr txBox="1"/>
          <p:nvPr/>
        </p:nvSpPr>
        <p:spPr>
          <a:xfrm>
            <a:off x="8942832" y="244628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5.8%</a:t>
            </a:r>
            <a:endParaRPr lang="en-US" sz="1300" dirty="0"/>
          </a:p>
        </p:txBody>
      </p:sp>
      <p:sp>
        <p:nvSpPr>
          <p:cNvPr id="136" name="Text 134"/>
          <p:cNvSpPr txBox="1"/>
          <p:nvPr/>
        </p:nvSpPr>
        <p:spPr>
          <a:xfrm>
            <a:off x="972921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$22K</a:t>
            </a:r>
            <a:endParaRPr lang="en-US" sz="1300" dirty="0"/>
          </a:p>
        </p:txBody>
      </p:sp>
      <p:sp>
        <p:nvSpPr>
          <p:cNvPr id="137" name="Text 135"/>
          <p:cNvSpPr txBox="1"/>
          <p:nvPr/>
        </p:nvSpPr>
        <p:spPr>
          <a:xfrm>
            <a:off x="10597896" y="244628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$382K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421624" y="2750703"/>
            <a:ext cx="75701" cy="136676"/>
          </a:xfrm>
          <a:prstGeom prst="rect">
            <a:avLst/>
          </a:prstGeom>
          <a:solidFill>
            <a:srgbClr val="C2352F"/>
          </a:solidFill>
          <a:ln/>
        </p:spPr>
      </p:sp>
      <p:sp>
        <p:nvSpPr>
          <p:cNvPr id="141" name="Text 139"/>
          <p:cNvSpPr txBox="1"/>
          <p:nvPr/>
        </p:nvSpPr>
        <p:spPr>
          <a:xfrm>
            <a:off x="8942832" y="2694791"/>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5.2%</a:t>
            </a:r>
            <a:endParaRPr lang="en-US" sz="1300" dirty="0"/>
          </a:p>
        </p:txBody>
      </p:sp>
      <p:sp>
        <p:nvSpPr>
          <p:cNvPr id="142" name="Text 140"/>
          <p:cNvSpPr txBox="1"/>
          <p:nvPr/>
        </p:nvSpPr>
        <p:spPr>
          <a:xfrm>
            <a:off x="972921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$87K</a:t>
            </a:r>
            <a:endParaRPr lang="en-US" sz="1300" dirty="0"/>
          </a:p>
        </p:txBody>
      </p:sp>
      <p:sp>
        <p:nvSpPr>
          <p:cNvPr id="143" name="Text 141"/>
          <p:cNvSpPr txBox="1"/>
          <p:nvPr/>
        </p:nvSpPr>
        <p:spPr>
          <a:xfrm>
            <a:off x="10597896" y="2694791"/>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$1.69M</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46" name="Shape 144"/>
          <p:cNvSpPr/>
          <p:nvPr/>
        </p:nvSpPr>
        <p:spPr>
          <a:xfrm>
            <a:off x="8421624" y="2999205"/>
            <a:ext cx="69750" cy="136676"/>
          </a:xfrm>
          <a:prstGeom prst="rect">
            <a:avLst/>
          </a:prstGeom>
          <a:solidFill>
            <a:srgbClr val="C2352F"/>
          </a:solidFill>
          <a:ln/>
        </p:spPr>
      </p:sp>
      <p:sp>
        <p:nvSpPr>
          <p:cNvPr id="147" name="Text 145"/>
          <p:cNvSpPr txBox="1"/>
          <p:nvPr/>
        </p:nvSpPr>
        <p:spPr>
          <a:xfrm>
            <a:off x="8942832" y="294329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4.8%</a:t>
            </a:r>
            <a:endParaRPr lang="en-US" sz="1300" dirty="0"/>
          </a:p>
        </p:txBody>
      </p:sp>
      <p:sp>
        <p:nvSpPr>
          <p:cNvPr id="148" name="Text 146"/>
          <p:cNvSpPr txBox="1"/>
          <p:nvPr/>
        </p:nvSpPr>
        <p:spPr>
          <a:xfrm>
            <a:off x="972921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$25K</a:t>
            </a:r>
            <a:endParaRPr lang="en-US" sz="1300" dirty="0"/>
          </a:p>
        </p:txBody>
      </p:sp>
      <p:sp>
        <p:nvSpPr>
          <p:cNvPr id="149" name="Text 147"/>
          <p:cNvSpPr txBox="1"/>
          <p:nvPr/>
        </p:nvSpPr>
        <p:spPr>
          <a:xfrm>
            <a:off x="10597896" y="294329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$516K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2" name="Shape 150"/>
          <p:cNvSpPr/>
          <p:nvPr/>
        </p:nvSpPr>
        <p:spPr>
          <a:xfrm>
            <a:off x="8421624" y="3247707"/>
            <a:ext cx="61333" cy="136676"/>
          </a:xfrm>
          <a:prstGeom prst="rect">
            <a:avLst/>
          </a:prstGeom>
          <a:solidFill>
            <a:srgbClr val="C2352F"/>
          </a:solidFill>
          <a:ln/>
        </p:spPr>
      </p:sp>
      <p:sp>
        <p:nvSpPr>
          <p:cNvPr id="153" name="Text 151"/>
          <p:cNvSpPr txBox="1"/>
          <p:nvPr/>
        </p:nvSpPr>
        <p:spPr>
          <a:xfrm>
            <a:off x="8942832" y="319179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4.2%</a:t>
            </a:r>
            <a:endParaRPr lang="en-US" sz="1300" dirty="0"/>
          </a:p>
        </p:txBody>
      </p:sp>
      <p:sp>
        <p:nvSpPr>
          <p:cNvPr id="154" name="Text 152"/>
          <p:cNvSpPr txBox="1"/>
          <p:nvPr/>
        </p:nvSpPr>
        <p:spPr>
          <a:xfrm>
            <a:off x="972921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$15K</a:t>
            </a:r>
            <a:endParaRPr lang="en-US" sz="1300" dirty="0"/>
          </a:p>
        </p:txBody>
      </p:sp>
      <p:sp>
        <p:nvSpPr>
          <p:cNvPr id="155" name="Text 153"/>
          <p:cNvSpPr txBox="1"/>
          <p:nvPr/>
        </p:nvSpPr>
        <p:spPr>
          <a:xfrm>
            <a:off x="10597896" y="319179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$357K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8" name="Shape 156"/>
          <p:cNvSpPr/>
          <p:nvPr/>
        </p:nvSpPr>
        <p:spPr>
          <a:xfrm>
            <a:off x="8421624" y="3496208"/>
            <a:ext cx="59486" cy="136676"/>
          </a:xfrm>
          <a:prstGeom prst="rect">
            <a:avLst/>
          </a:prstGeom>
          <a:solidFill>
            <a:srgbClr val="C2352F"/>
          </a:solidFill>
          <a:ln/>
        </p:spPr>
      </p:sp>
      <p:sp>
        <p:nvSpPr>
          <p:cNvPr id="159" name="Text 157"/>
          <p:cNvSpPr txBox="1"/>
          <p:nvPr/>
        </p:nvSpPr>
        <p:spPr>
          <a:xfrm>
            <a:off x="8942832" y="3440296"/>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4.1%</a:t>
            </a:r>
            <a:endParaRPr lang="en-US" sz="1300" dirty="0"/>
          </a:p>
        </p:txBody>
      </p:sp>
      <p:sp>
        <p:nvSpPr>
          <p:cNvPr id="160" name="Text 158"/>
          <p:cNvSpPr txBox="1"/>
          <p:nvPr/>
        </p:nvSpPr>
        <p:spPr>
          <a:xfrm>
            <a:off x="972921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$44K</a:t>
            </a:r>
            <a:endParaRPr lang="en-US" sz="1300" dirty="0"/>
          </a:p>
        </p:txBody>
      </p:sp>
      <p:sp>
        <p:nvSpPr>
          <p:cNvPr id="161" name="Text 159"/>
          <p:cNvSpPr txBox="1"/>
          <p:nvPr/>
        </p:nvSpPr>
        <p:spPr>
          <a:xfrm>
            <a:off x="10597896" y="3440296"/>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$1.07M</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8421624" y="3744710"/>
            <a:ext cx="58291" cy="136676"/>
          </a:xfrm>
          <a:prstGeom prst="rect">
            <a:avLst/>
          </a:prstGeom>
          <a:solidFill>
            <a:srgbClr val="C2352F"/>
          </a:solidFill>
          <a:ln/>
        </p:spPr>
      </p:sp>
      <p:sp>
        <p:nvSpPr>
          <p:cNvPr id="165" name="Text 163"/>
          <p:cNvSpPr txBox="1"/>
          <p:nvPr/>
        </p:nvSpPr>
        <p:spPr>
          <a:xfrm>
            <a:off x="8942832" y="368879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a:t>
            </a:r>
            <a:endParaRPr lang="en-US" sz="1300" dirty="0"/>
          </a:p>
        </p:txBody>
      </p:sp>
      <p:sp>
        <p:nvSpPr>
          <p:cNvPr id="166" name="Text 164"/>
          <p:cNvSpPr txBox="1"/>
          <p:nvPr/>
        </p:nvSpPr>
        <p:spPr>
          <a:xfrm>
            <a:off x="972921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$20K</a:t>
            </a:r>
            <a:endParaRPr lang="en-US" sz="1300" dirty="0"/>
          </a:p>
        </p:txBody>
      </p:sp>
      <p:sp>
        <p:nvSpPr>
          <p:cNvPr id="167" name="Text 165"/>
          <p:cNvSpPr txBox="1"/>
          <p:nvPr/>
        </p:nvSpPr>
        <p:spPr>
          <a:xfrm>
            <a:off x="10597896" y="368879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$504K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0" name="Shape 168"/>
          <p:cNvSpPr/>
          <p:nvPr/>
        </p:nvSpPr>
        <p:spPr>
          <a:xfrm>
            <a:off x="8421624" y="3993212"/>
            <a:ext cx="42032" cy="136676"/>
          </a:xfrm>
          <a:prstGeom prst="rect">
            <a:avLst/>
          </a:prstGeom>
          <a:solidFill>
            <a:srgbClr val="C2352F"/>
          </a:solidFill>
          <a:ln/>
        </p:spPr>
      </p:sp>
      <p:sp>
        <p:nvSpPr>
          <p:cNvPr id="171" name="Text 169"/>
          <p:cNvSpPr txBox="1"/>
          <p:nvPr/>
        </p:nvSpPr>
        <p:spPr>
          <a:xfrm>
            <a:off x="8942832" y="393729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2.9%</a:t>
            </a:r>
            <a:endParaRPr lang="en-US" sz="1300" dirty="0"/>
          </a:p>
        </p:txBody>
      </p:sp>
      <p:sp>
        <p:nvSpPr>
          <p:cNvPr id="172" name="Text 170"/>
          <p:cNvSpPr txBox="1"/>
          <p:nvPr/>
        </p:nvSpPr>
        <p:spPr>
          <a:xfrm>
            <a:off x="972921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$70K</a:t>
            </a:r>
            <a:endParaRPr lang="en-US" sz="1300" dirty="0"/>
          </a:p>
        </p:txBody>
      </p:sp>
      <p:sp>
        <p:nvSpPr>
          <p:cNvPr id="173" name="Text 171"/>
          <p:cNvSpPr txBox="1"/>
          <p:nvPr/>
        </p:nvSpPr>
        <p:spPr>
          <a:xfrm>
            <a:off x="10597896" y="393729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$2.44M</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76" name="Shape 174"/>
          <p:cNvSpPr/>
          <p:nvPr/>
        </p:nvSpPr>
        <p:spPr>
          <a:xfrm>
            <a:off x="8421624" y="4241713"/>
            <a:ext cx="38916" cy="136676"/>
          </a:xfrm>
          <a:prstGeom prst="rect">
            <a:avLst/>
          </a:prstGeom>
          <a:solidFill>
            <a:srgbClr val="C2352F"/>
          </a:solidFill>
          <a:ln/>
        </p:spPr>
      </p:sp>
      <p:sp>
        <p:nvSpPr>
          <p:cNvPr id="177" name="Text 175"/>
          <p:cNvSpPr txBox="1"/>
          <p:nvPr/>
        </p:nvSpPr>
        <p:spPr>
          <a:xfrm>
            <a:off x="8942832" y="4185800"/>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2.7%</a:t>
            </a:r>
            <a:endParaRPr lang="en-US" sz="1300" dirty="0"/>
          </a:p>
        </p:txBody>
      </p:sp>
      <p:sp>
        <p:nvSpPr>
          <p:cNvPr id="178" name="Text 176"/>
          <p:cNvSpPr txBox="1"/>
          <p:nvPr/>
        </p:nvSpPr>
        <p:spPr>
          <a:xfrm>
            <a:off x="972921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$9K</a:t>
            </a:r>
            <a:endParaRPr lang="en-US" sz="1300" dirty="0"/>
          </a:p>
        </p:txBody>
      </p:sp>
      <p:sp>
        <p:nvSpPr>
          <p:cNvPr id="179" name="Text 177"/>
          <p:cNvSpPr txBox="1"/>
          <p:nvPr/>
        </p:nvSpPr>
        <p:spPr>
          <a:xfrm>
            <a:off x="10597896" y="4185800"/>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$322K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82" name="Shape 180"/>
          <p:cNvSpPr/>
          <p:nvPr/>
        </p:nvSpPr>
        <p:spPr>
          <a:xfrm>
            <a:off x="8421624" y="4490215"/>
            <a:ext cx="28242" cy="136676"/>
          </a:xfrm>
          <a:prstGeom prst="rect">
            <a:avLst/>
          </a:prstGeom>
          <a:solidFill>
            <a:srgbClr val="C2352F"/>
          </a:solidFill>
          <a:ln/>
        </p:spPr>
      </p:sp>
      <p:sp>
        <p:nvSpPr>
          <p:cNvPr id="183" name="Text 181"/>
          <p:cNvSpPr txBox="1"/>
          <p:nvPr/>
        </p:nvSpPr>
        <p:spPr>
          <a:xfrm>
            <a:off x="8942832" y="4434302"/>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84" name="Text 182"/>
          <p:cNvSpPr txBox="1"/>
          <p:nvPr/>
        </p:nvSpPr>
        <p:spPr>
          <a:xfrm>
            <a:off x="972921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$10K</a:t>
            </a:r>
            <a:endParaRPr lang="en-US" sz="1300" dirty="0"/>
          </a:p>
        </p:txBody>
      </p:sp>
      <p:sp>
        <p:nvSpPr>
          <p:cNvPr id="185" name="Text 183"/>
          <p:cNvSpPr txBox="1"/>
          <p:nvPr/>
        </p:nvSpPr>
        <p:spPr>
          <a:xfrm>
            <a:off x="10597896" y="4434302"/>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$542K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88" name="Shape 186"/>
          <p:cNvSpPr/>
          <p:nvPr/>
        </p:nvSpPr>
        <p:spPr>
          <a:xfrm>
            <a:off x="8421624" y="4738717"/>
            <a:ext cx="27287" cy="136676"/>
          </a:xfrm>
          <a:prstGeom prst="rect">
            <a:avLst/>
          </a:prstGeom>
          <a:solidFill>
            <a:srgbClr val="C2352F"/>
          </a:solidFill>
          <a:ln/>
        </p:spPr>
      </p:sp>
      <p:sp>
        <p:nvSpPr>
          <p:cNvPr id="189" name="Text 187"/>
          <p:cNvSpPr txBox="1"/>
          <p:nvPr/>
        </p:nvSpPr>
        <p:spPr>
          <a:xfrm>
            <a:off x="8942832" y="4682804"/>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a:t>
            </a:r>
            <a:endParaRPr lang="en-US" sz="1300" dirty="0"/>
          </a:p>
        </p:txBody>
      </p:sp>
      <p:sp>
        <p:nvSpPr>
          <p:cNvPr id="190" name="Text 188"/>
          <p:cNvSpPr txBox="1"/>
          <p:nvPr/>
        </p:nvSpPr>
        <p:spPr>
          <a:xfrm>
            <a:off x="972921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$11K</a:t>
            </a:r>
            <a:endParaRPr lang="en-US" sz="1300" dirty="0"/>
          </a:p>
        </p:txBody>
      </p:sp>
      <p:sp>
        <p:nvSpPr>
          <p:cNvPr id="191" name="Text 189"/>
          <p:cNvSpPr txBox="1"/>
          <p:nvPr/>
        </p:nvSpPr>
        <p:spPr>
          <a:xfrm>
            <a:off x="10597896" y="4682804"/>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$609K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94" name="Shape 192"/>
          <p:cNvSpPr/>
          <p:nvPr/>
        </p:nvSpPr>
        <p:spPr>
          <a:xfrm>
            <a:off x="8421624" y="4987218"/>
            <a:ext cx="19910" cy="136676"/>
          </a:xfrm>
          <a:prstGeom prst="rect">
            <a:avLst/>
          </a:prstGeom>
          <a:solidFill>
            <a:srgbClr val="C2352F"/>
          </a:solidFill>
          <a:ln/>
        </p:spPr>
      </p:sp>
      <p:sp>
        <p:nvSpPr>
          <p:cNvPr id="195" name="Text 193"/>
          <p:cNvSpPr txBox="1"/>
          <p:nvPr/>
        </p:nvSpPr>
        <p:spPr>
          <a:xfrm>
            <a:off x="8942832" y="4931305"/>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1.4%</a:t>
            </a:r>
            <a:endParaRPr lang="en-US" sz="1300" dirty="0"/>
          </a:p>
        </p:txBody>
      </p:sp>
      <p:sp>
        <p:nvSpPr>
          <p:cNvPr id="196" name="Text 194"/>
          <p:cNvSpPr txBox="1"/>
          <p:nvPr/>
        </p:nvSpPr>
        <p:spPr>
          <a:xfrm>
            <a:off x="972921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197" name="Text 195"/>
          <p:cNvSpPr txBox="1"/>
          <p:nvPr/>
        </p:nvSpPr>
        <p:spPr>
          <a:xfrm>
            <a:off x="10597896" y="4931305"/>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00" name="Shape 198"/>
          <p:cNvSpPr/>
          <p:nvPr/>
        </p:nvSpPr>
        <p:spPr>
          <a:xfrm>
            <a:off x="8421624" y="5235720"/>
            <a:ext cx="18288" cy="136676"/>
          </a:xfrm>
          <a:prstGeom prst="rect">
            <a:avLst/>
          </a:prstGeom>
          <a:solidFill>
            <a:srgbClr val="C2352F"/>
          </a:solidFill>
          <a:ln/>
        </p:spPr>
      </p:sp>
      <p:sp>
        <p:nvSpPr>
          <p:cNvPr id="201" name="Text 199"/>
          <p:cNvSpPr txBox="1"/>
          <p:nvPr/>
        </p:nvSpPr>
        <p:spPr>
          <a:xfrm>
            <a:off x="8942832" y="5179807"/>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0.8%</a:t>
            </a:r>
            <a:endParaRPr lang="en-US" sz="1300" dirty="0"/>
          </a:p>
        </p:txBody>
      </p:sp>
      <p:sp>
        <p:nvSpPr>
          <p:cNvPr id="202" name="Text 200"/>
          <p:cNvSpPr txBox="1"/>
          <p:nvPr/>
        </p:nvSpPr>
        <p:spPr>
          <a:xfrm>
            <a:off x="972921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$13K</a:t>
            </a:r>
            <a:endParaRPr lang="en-US" sz="1300" dirty="0"/>
          </a:p>
        </p:txBody>
      </p:sp>
      <p:sp>
        <p:nvSpPr>
          <p:cNvPr id="203" name="Text 201"/>
          <p:cNvSpPr txBox="1"/>
          <p:nvPr/>
        </p:nvSpPr>
        <p:spPr>
          <a:xfrm>
            <a:off x="10597896" y="5179807"/>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$1.54M</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206" name="Shape 204"/>
          <p:cNvSpPr/>
          <p:nvPr/>
        </p:nvSpPr>
        <p:spPr>
          <a:xfrm>
            <a:off x="8421624" y="5484222"/>
            <a:ext cx="18288" cy="136676"/>
          </a:xfrm>
          <a:prstGeom prst="rect">
            <a:avLst/>
          </a:prstGeom>
          <a:solidFill>
            <a:srgbClr val="C2352F"/>
          </a:solidFill>
          <a:ln/>
        </p:spPr>
      </p:sp>
      <p:sp>
        <p:nvSpPr>
          <p:cNvPr id="207" name="Text 205"/>
          <p:cNvSpPr txBox="1"/>
          <p:nvPr/>
        </p:nvSpPr>
        <p:spPr>
          <a:xfrm>
            <a:off x="8942832" y="5428309"/>
            <a:ext cx="786384" cy="248502"/>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0.2%</a:t>
            </a:r>
            <a:endParaRPr lang="en-US" sz="1300" dirty="0"/>
          </a:p>
        </p:txBody>
      </p:sp>
      <p:sp>
        <p:nvSpPr>
          <p:cNvPr id="208" name="Text 206"/>
          <p:cNvSpPr txBox="1"/>
          <p:nvPr/>
        </p:nvSpPr>
        <p:spPr>
          <a:xfrm>
            <a:off x="972921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$1K</a:t>
            </a:r>
            <a:endParaRPr lang="en-US" sz="1300" dirty="0"/>
          </a:p>
        </p:txBody>
      </p:sp>
      <p:sp>
        <p:nvSpPr>
          <p:cNvPr id="209" name="Text 207"/>
          <p:cNvSpPr txBox="1"/>
          <p:nvPr/>
        </p:nvSpPr>
        <p:spPr>
          <a:xfrm>
            <a:off x="10597896" y="5428309"/>
            <a:ext cx="868680"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$453K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FBEBEA"/>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Group-wide the gap is 8.1% of RO gross. 5 stores are missing a fifth or more, led by Hyundai St George at 32% ($88K of $277K a month).</a:t>
            </a:r>
            <a:endParaRPr lang="en-US" sz="1600" dirty="0"/>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4572000" cy="4645152"/>
          </a:xfrm>
          <a:prstGeom prst="rect">
            <a:avLst/>
          </a:prstGeom>
          <a:solidFill>
            <a:srgbClr val="FFFFFF"/>
          </a:solidFill>
          <a:ln/>
        </p:spPr>
      </p:sp>
      <p:sp>
        <p:nvSpPr>
          <p:cNvPr id="6" name="Shape 4"/>
          <p:cNvSpPr/>
          <p:nvPr/>
        </p:nvSpPr>
        <p:spPr>
          <a:xfrm>
            <a:off x="5166360" y="1207008"/>
            <a:ext cx="6565392" cy="4645152"/>
          </a:xfrm>
          <a:prstGeom prst="rect">
            <a:avLst/>
          </a:prstGeom>
          <a:solidFill>
            <a:srgbClr val="FFFFFF"/>
          </a:solidFill>
          <a:ln/>
        </p:spPr>
      </p:sp>
      <p:sp>
        <p:nvSpPr>
          <p:cNvPr id="7" name="Text 5"/>
          <p:cNvSpPr txBox="1"/>
          <p:nvPr/>
        </p:nvSpPr>
        <p:spPr>
          <a:xfrm>
            <a:off x="713232" y="14173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HOUR</a:t>
            </a:r>
            <a:endParaRPr lang="en-US" sz="1400" dirty="0"/>
          </a:p>
        </p:txBody>
      </p:sp>
      <p:sp>
        <p:nvSpPr>
          <p:cNvPr id="8" name="Text 6"/>
          <p:cNvSpPr txBox="1"/>
          <p:nvPr/>
        </p:nvSpPr>
        <p:spPr>
          <a:xfrm>
            <a:off x="713232" y="1737360"/>
            <a:ext cx="4114800" cy="822960"/>
          </a:xfrm>
          <a:prstGeom prst="rect">
            <a:avLst/>
          </a:prstGeom>
          <a:noFill/>
          <a:ln/>
        </p:spPr>
        <p:txBody>
          <a:bodyPr wrap="square" lIns="0" tIns="0" rIns="0" bIns="0" rtlCol="0" anchor="ctr"/>
          <a:lstStyle/>
          <a:p>
            <a:pPr indent="0" marL="0">
              <a:buNone/>
            </a:pPr>
            <a:r>
              <a:rPr lang="en-US" sz="5400" b="1" dirty="0">
                <a:solidFill>
                  <a:srgbClr val="0B2C4A"/>
                </a:solidFill>
                <a:latin typeface="Inter" pitchFamily="34" charset="0"/>
                <a:ea typeface="Inter" pitchFamily="34" charset="-122"/>
                <a:cs typeface="Inter" pitchFamily="34" charset="-120"/>
              </a:rPr>
              <a:t>$188</a:t>
            </a:r>
            <a:endParaRPr lang="en-US" sz="5400" dirty="0"/>
          </a:p>
        </p:txBody>
      </p:sp>
      <p:sp>
        <p:nvSpPr>
          <p:cNvPr id="9" name="Text 7"/>
          <p:cNvSpPr txBox="1"/>
          <p:nvPr/>
        </p:nvSpPr>
        <p:spPr>
          <a:xfrm>
            <a:off x="713232" y="2560320"/>
            <a:ext cx="4114800" cy="32918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in labor and parts gross, group average</a:t>
            </a:r>
            <a:endParaRPr lang="en-US" sz="1500" dirty="0"/>
          </a:p>
        </p:txBody>
      </p:sp>
      <p:sp>
        <p:nvSpPr>
          <p:cNvPr id="10" name="Shape 8"/>
          <p:cNvSpPr/>
          <p:nvPr/>
        </p:nvSpPr>
        <p:spPr>
          <a:xfrm>
            <a:off x="713232" y="3063240"/>
            <a:ext cx="4069080" cy="10973"/>
          </a:xfrm>
          <a:prstGeom prst="rect">
            <a:avLst/>
          </a:prstGeom>
          <a:solidFill>
            <a:srgbClr val="D9D9D9"/>
          </a:solidFill>
          <a:ln/>
        </p:spPr>
      </p:sp>
      <p:sp>
        <p:nvSpPr>
          <p:cNvPr id="11" name="Text 9"/>
          <p:cNvSpPr txBox="1"/>
          <p:nvPr/>
        </p:nvSpPr>
        <p:spPr>
          <a:xfrm>
            <a:off x="713232" y="3246120"/>
            <a:ext cx="4114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ONE TECHNICIAN MINUTE</a:t>
            </a:r>
            <a:endParaRPr lang="en-US" sz="1400" dirty="0"/>
          </a:p>
        </p:txBody>
      </p:sp>
      <p:sp>
        <p:nvSpPr>
          <p:cNvPr id="12" name="Text 10"/>
          <p:cNvSpPr txBox="1"/>
          <p:nvPr/>
        </p:nvSpPr>
        <p:spPr>
          <a:xfrm>
            <a:off x="713232" y="3566160"/>
            <a:ext cx="4114800" cy="822960"/>
          </a:xfrm>
          <a:prstGeom prst="rect">
            <a:avLst/>
          </a:prstGeom>
          <a:noFill/>
          <a:ln/>
        </p:spPr>
        <p:txBody>
          <a:bodyPr wrap="square" lIns="0" tIns="0" rIns="0" bIns="0" rtlCol="0" anchor="ctr"/>
          <a:lstStyle/>
          <a:p>
            <a:pPr indent="0" marL="0">
              <a:buNone/>
            </a:pPr>
            <a:r>
              <a:rPr lang="en-US" sz="5400" b="1" dirty="0">
                <a:solidFill>
                  <a:srgbClr val="0B7A4A"/>
                </a:solidFill>
                <a:latin typeface="Inter" pitchFamily="34" charset="0"/>
                <a:ea typeface="Inter" pitchFamily="34" charset="-122"/>
                <a:cs typeface="Inter" pitchFamily="34" charset="-120"/>
              </a:rPr>
              <a:t>$3.13</a:t>
            </a:r>
            <a:endParaRPr lang="en-US" sz="5400" dirty="0"/>
          </a:p>
        </p:txBody>
      </p:sp>
      <p:sp>
        <p:nvSpPr>
          <p:cNvPr id="13" name="Text 11"/>
          <p:cNvSpPr txBox="1"/>
          <p:nvPr/>
        </p:nvSpPr>
        <p:spPr>
          <a:xfrm>
            <a:off x="713232" y="4389120"/>
            <a:ext cx="4114800" cy="64008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About $762 a year for each tech, one minute a day</a:t>
            </a:r>
            <a:endParaRPr lang="en-US" sz="1500" dirty="0"/>
          </a:p>
        </p:txBody>
      </p:sp>
      <p:sp>
        <p:nvSpPr>
          <p:cNvPr id="14" name="Text 12"/>
          <p:cNvSpPr txBox="1"/>
          <p:nvPr/>
        </p:nvSpPr>
        <p:spPr>
          <a:xfrm>
            <a:off x="5422392" y="1417320"/>
            <a:ext cx="612648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MINUTES SAVED PER TECH, EVERY DAY · 583 TECHNICIANS</a:t>
            </a:r>
            <a:endParaRPr lang="en-US" sz="14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5422392" y="1828800"/>
          <a:ext cx="6053328" cy="914400"/>
        </p:xfrm>
        <a:graphic>
          <a:graphicData uri="http://schemas.openxmlformats.org/drawingml/2006/table">
            <a:tbl>
              <a:tblPr/>
              <a:tblGrid>
                <a:gridCol w="2212848"/>
                <a:gridCol w="1920240"/>
                <a:gridCol w="1920240"/>
              </a:tblGrid>
              <a:tr h="475488">
                <a:tc>
                  <a:txBody>
                    <a:bodyPr/>
                    <a:lstStyle/>
                    <a:p>
                      <a:pPr algn="l" indent="0" marL="0">
                        <a:buNone/>
                      </a:pPr>
                      <a:r>
                        <a:rPr lang="en-US" sz="2000" b="1" dirty="0">
                          <a:solidFill>
                            <a:srgbClr val="FFFFFF"/>
                          </a:solidFill>
                          <a:latin typeface="Inter" pitchFamily="34" charset="0"/>
                          <a:ea typeface="Inter" pitchFamily="34" charset="-122"/>
                          <a:cs typeface="Inter" pitchFamily="34" charset="-120"/>
                        </a:rPr>
                        <a:t>Minutes a day</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month</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c>
                  <a:txBody>
                    <a:bodyPr/>
                    <a:lstStyle/>
                    <a:p>
                      <a:pPr algn="r" indent="0" marL="0">
                        <a:buNone/>
                      </a:pPr>
                      <a:r>
                        <a:rPr lang="en-US" sz="2000" b="1" dirty="0">
                          <a:solidFill>
                            <a:srgbClr val="FFFFFF"/>
                          </a:solidFill>
                          <a:latin typeface="Inter" pitchFamily="34" charset="0"/>
                          <a:ea typeface="Inter" pitchFamily="34" charset="-122"/>
                          <a:cs typeface="Inter" pitchFamily="34" charset="-120"/>
                        </a:rPr>
                        <a:t>A year</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0B2C4A"/>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 minute</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$185K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$2.22M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10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$370K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$4.44M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7F7F7"/>
                    </a:solidFill>
                  </a:tcPr>
                </a:tc>
              </a:tr>
              <a:tr h="475488">
                <a:tc>
                  <a:txBody>
                    <a:bodyPr/>
                    <a:lstStyle/>
                    <a:p>
                      <a:pPr indent="0" marL="0">
                        <a:buNone/>
                      </a:pPr>
                      <a:r>
                        <a:rPr lang="en-US" sz="2000" b="1" dirty="0">
                          <a:solidFill>
                            <a:srgbClr val="1A1A1A"/>
                          </a:solidFill>
                          <a:latin typeface="Inter" pitchFamily="34" charset="0"/>
                          <a:ea typeface="Inter" pitchFamily="34" charset="-122"/>
                          <a:cs typeface="Inter" pitchFamily="34" charset="-120"/>
                        </a:rPr>
                        <a:t>15 minutes</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dirty="0">
                          <a:solidFill>
                            <a:srgbClr val="1A1A1A"/>
                          </a:solidFill>
                          <a:latin typeface="Inter" pitchFamily="34" charset="0"/>
                          <a:ea typeface="Inter" pitchFamily="34" charset="-122"/>
                          <a:cs typeface="Inter" pitchFamily="34" charset="-120"/>
                        </a:rPr>
                        <a:t>$555K</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c>
                  <a:txBody>
                    <a:bodyPr/>
                    <a:lstStyle/>
                    <a:p>
                      <a:pPr algn="r" indent="0" marL="0">
                        <a:buNone/>
                      </a:pPr>
                      <a:r>
                        <a:rPr lang="en-US" sz="2000" b="1" dirty="0">
                          <a:solidFill>
                            <a:srgbClr val="0B7A4A"/>
                          </a:solidFill>
                          <a:latin typeface="Inter" pitchFamily="34" charset="0"/>
                          <a:ea typeface="Inter" pitchFamily="34" charset="-122"/>
                          <a:cs typeface="Inter" pitchFamily="34" charset="-120"/>
                        </a:rPr>
                        <a:t>$6.67M</a:t>
                      </a:r>
                      <a:endParaRPr lang="en-US" sz="2000" dirty="0">
                        <a:latin typeface="Inter" charset="0"/>
                        <a:ea typeface="Inter" charset="0"/>
                        <a:cs typeface="Inter" charset="0"/>
                      </a:endParaRPr>
                    </a:p>
                  </a:txBody>
                  <a:tcPr marL="109728" marR="109728" marT="0" marB="0" anchor="ctr">
                    <a:lnL w="0" cap="flat" cmpd="sng" algn="ctr">
                      <a:noFill/>
                    </a:lnL>
                    <a:lnR w="0" cap="flat" cmpd="sng" algn="ctr">
                      <a:noFill/>
                    </a:lnR>
                    <a:lnT w="0" cap="flat" cmpd="sng" algn="ctr">
                      <a:noFill/>
                    </a:lnT>
                    <a:lnB w="0" cap="flat" cmpd="sng" algn="ctr">
                      <a:noFill/>
                    </a:lnB>
                    <a:solidFill>
                      <a:srgbClr val="FFFFFF"/>
                    </a:solidFill>
                  </a:tcPr>
                </a:tc>
              </a:tr>
            </a:tbl>
          </a:graphicData>
        </a:graphic>
      </p:graphicFrame>
      <p:sp>
        <p:nvSpPr>
          <p:cNvPr id="16" name="Text 13"/>
          <p:cNvSpPr txBox="1"/>
          <p:nvPr/>
        </p:nvSpPr>
        <p:spPr>
          <a:xfrm>
            <a:off x="5422392" y="4434840"/>
            <a:ext cx="6053328" cy="1234440"/>
          </a:xfrm>
          <a:prstGeom prst="rect">
            <a:avLst/>
          </a:prstGeom>
          <a:noFill/>
          <a:ln/>
        </p:spPr>
        <p:txBody>
          <a:bodyPr wrap="square" lIns="0" tIns="0" rIns="0" bIns="0" rtlCol="0" anchor="t"/>
          <a:lstStyle/>
          <a:p>
            <a:pPr indent="0" marL="0">
              <a:buNone/>
            </a:pPr>
            <a:r>
              <a:rPr lang="en-US" sz="1600" dirty="0">
                <a:solidFill>
                  <a:srgbClr val="1A1A1A"/>
                </a:solidFill>
                <a:latin typeface="Inter" pitchFamily="34" charset="0"/>
                <a:ea typeface="Inter" pitchFamily="34" charset="-122"/>
                <a:cs typeface="Inter" pitchFamily="34" charset="-120"/>
              </a:rPr>
              <a:t>Where the minutes go: walking to the parts counter, waiting on dispatch or a customer approval, hunting for tools, chasing a key or a car.</a:t>
            </a:r>
            <a:endParaRPr lang="en-US" sz="1600" dirty="0"/>
          </a:p>
        </p:txBody>
      </p:sp>
      <p:sp>
        <p:nvSpPr>
          <p:cNvPr id="17" name="Shape 14"/>
          <p:cNvSpPr/>
          <p:nvPr/>
        </p:nvSpPr>
        <p:spPr>
          <a:xfrm>
            <a:off x="457200" y="6126480"/>
            <a:ext cx="11274552" cy="364236"/>
          </a:xfrm>
          <a:prstGeom prst="rect">
            <a:avLst/>
          </a:prstGeom>
          <a:solidFill>
            <a:srgbClr val="E6F6EE"/>
          </a:solidFill>
          <a:ln/>
        </p:spPr>
      </p:sp>
      <p:sp>
        <p:nvSpPr>
          <p:cNvPr id="18" name="Text 15"/>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One minute a day for every tech is worth $37,032 a month, $444,380 a year. No new techs, no new bays.</a:t>
            </a:r>
            <a:endParaRPr lang="en-US" sz="1550" dirty="0"/>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TECHNICIAN PROFICIENCY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a Tech Minute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813048"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7" name="Text 5"/>
          <p:cNvSpPr txBox="1"/>
          <p:nvPr/>
        </p:nvSpPr>
        <p:spPr>
          <a:xfrm>
            <a:off x="4599432"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9" name="Text 7"/>
          <p:cNvSpPr txBox="1"/>
          <p:nvPr/>
        </p:nvSpPr>
        <p:spPr>
          <a:xfrm>
            <a:off x="9363456" y="1316736"/>
            <a:ext cx="786384" cy="329184"/>
          </a:xfrm>
          <a:prstGeom prst="rect">
            <a:avLst/>
          </a:prstGeom>
          <a:noFill/>
          <a:ln/>
        </p:spPr>
        <p:txBody>
          <a:bodyPr wrap="square" lIns="0" tIns="0" rIns="0" bIns="0" rtlCol="0" anchor="ctr"/>
          <a:lstStyle/>
          <a:p>
            <a:pPr algn="r" indent="0" marL="0">
              <a:buNone/>
            </a:pPr>
            <a:endParaRPr lang="en-US" sz="1400" dirty="0"/>
          </a:p>
        </p:txBody>
      </p:sp>
      <p:sp>
        <p:nvSpPr>
          <p:cNvPr id="10" name="Text 8"/>
          <p:cNvSpPr txBox="1"/>
          <p:nvPr/>
        </p:nvSpPr>
        <p:spPr>
          <a:xfrm>
            <a:off x="10149840" y="1316736"/>
            <a:ext cx="5669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Techs</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min</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886968" cy="136676"/>
          </a:xfrm>
          <a:prstGeom prst="rect">
            <a:avLst/>
          </a:prstGeom>
          <a:solidFill>
            <a:srgbClr val="2587C5"/>
          </a:solidFill>
          <a:ln/>
        </p:spPr>
      </p:sp>
      <p:sp>
        <p:nvSpPr>
          <p:cNvPr id="15" name="Text 13"/>
          <p:cNvSpPr txBox="1"/>
          <p:nvPr/>
        </p:nvSpPr>
        <p:spPr>
          <a:xfrm>
            <a:off x="3813048"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$43.3K</a:t>
            </a:r>
            <a:endParaRPr lang="en-US" sz="1300" dirty="0"/>
          </a:p>
        </p:txBody>
      </p:sp>
      <p:sp>
        <p:nvSpPr>
          <p:cNvPr id="16" name="Text 14"/>
          <p:cNvSpPr txBox="1"/>
          <p:nvPr/>
        </p:nvSpPr>
        <p:spPr>
          <a:xfrm>
            <a:off x="4599432"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$2.74</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692398" cy="136676"/>
          </a:xfrm>
          <a:prstGeom prst="rect">
            <a:avLst/>
          </a:prstGeom>
          <a:solidFill>
            <a:srgbClr val="2587C5"/>
          </a:solidFill>
          <a:ln/>
        </p:spPr>
      </p:sp>
      <p:sp>
        <p:nvSpPr>
          <p:cNvPr id="21" name="Text 19"/>
          <p:cNvSpPr txBox="1"/>
          <p:nvPr/>
        </p:nvSpPr>
        <p:spPr>
          <a:xfrm>
            <a:off x="3813048"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$33.8K</a:t>
            </a:r>
            <a:endParaRPr lang="en-US" sz="1300" dirty="0"/>
          </a:p>
        </p:txBody>
      </p:sp>
      <p:sp>
        <p:nvSpPr>
          <p:cNvPr id="22" name="Text 20"/>
          <p:cNvSpPr txBox="1"/>
          <p:nvPr/>
        </p:nvSpPr>
        <p:spPr>
          <a:xfrm>
            <a:off x="4599432"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51</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$2.71</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6" name="Shape 24"/>
          <p:cNvSpPr/>
          <p:nvPr/>
        </p:nvSpPr>
        <p:spPr>
          <a:xfrm>
            <a:off x="2871216" y="2253700"/>
            <a:ext cx="581679" cy="136676"/>
          </a:xfrm>
          <a:prstGeom prst="rect">
            <a:avLst/>
          </a:prstGeom>
          <a:solidFill>
            <a:srgbClr val="2587C5"/>
          </a:solidFill>
          <a:ln/>
        </p:spPr>
      </p:sp>
      <p:sp>
        <p:nvSpPr>
          <p:cNvPr id="27" name="Text 25"/>
          <p:cNvSpPr txBox="1"/>
          <p:nvPr/>
        </p:nvSpPr>
        <p:spPr>
          <a:xfrm>
            <a:off x="3813048"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$28.4K</a:t>
            </a:r>
            <a:endParaRPr lang="en-US" sz="1300" dirty="0"/>
          </a:p>
        </p:txBody>
      </p:sp>
      <p:sp>
        <p:nvSpPr>
          <p:cNvPr id="28" name="Text 26"/>
          <p:cNvSpPr txBox="1"/>
          <p:nvPr/>
        </p:nvSpPr>
        <p:spPr>
          <a:xfrm>
            <a:off x="4599432"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$3.72</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558837" cy="136676"/>
          </a:xfrm>
          <a:prstGeom prst="rect">
            <a:avLst/>
          </a:prstGeom>
          <a:solidFill>
            <a:srgbClr val="2587C5"/>
          </a:solidFill>
          <a:ln/>
        </p:spPr>
      </p:sp>
      <p:sp>
        <p:nvSpPr>
          <p:cNvPr id="33" name="Text 31"/>
          <p:cNvSpPr txBox="1"/>
          <p:nvPr/>
        </p:nvSpPr>
        <p:spPr>
          <a:xfrm>
            <a:off x="3813048"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$27.3K</a:t>
            </a:r>
            <a:endParaRPr lang="en-US" sz="1300" dirty="0"/>
          </a:p>
        </p:txBody>
      </p:sp>
      <p:sp>
        <p:nvSpPr>
          <p:cNvPr id="34" name="Text 32"/>
          <p:cNvSpPr txBox="1"/>
          <p:nvPr/>
        </p:nvSpPr>
        <p:spPr>
          <a:xfrm>
            <a:off x="4599432"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$4.69</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8" name="Shape 36"/>
          <p:cNvSpPr/>
          <p:nvPr/>
        </p:nvSpPr>
        <p:spPr>
          <a:xfrm>
            <a:off x="2871216" y="2750703"/>
            <a:ext cx="510915" cy="136676"/>
          </a:xfrm>
          <a:prstGeom prst="rect">
            <a:avLst/>
          </a:prstGeom>
          <a:solidFill>
            <a:srgbClr val="2587C5"/>
          </a:solidFill>
          <a:ln/>
        </p:spPr>
      </p:sp>
      <p:sp>
        <p:nvSpPr>
          <p:cNvPr id="39" name="Text 37"/>
          <p:cNvSpPr txBox="1"/>
          <p:nvPr/>
        </p:nvSpPr>
        <p:spPr>
          <a:xfrm>
            <a:off x="3813048"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$24.9K</a:t>
            </a:r>
            <a:endParaRPr lang="en-US" sz="1300" dirty="0"/>
          </a:p>
        </p:txBody>
      </p:sp>
      <p:sp>
        <p:nvSpPr>
          <p:cNvPr id="40" name="Text 38"/>
          <p:cNvSpPr txBox="1"/>
          <p:nvPr/>
        </p:nvSpPr>
        <p:spPr>
          <a:xfrm>
            <a:off x="4599432"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4" name="Shape 42"/>
          <p:cNvSpPr/>
          <p:nvPr/>
        </p:nvSpPr>
        <p:spPr>
          <a:xfrm>
            <a:off x="2871216" y="2999205"/>
            <a:ext cx="467039" cy="136676"/>
          </a:xfrm>
          <a:prstGeom prst="rect">
            <a:avLst/>
          </a:prstGeom>
          <a:solidFill>
            <a:srgbClr val="2587C5"/>
          </a:solidFill>
          <a:ln/>
        </p:spPr>
      </p:sp>
      <p:sp>
        <p:nvSpPr>
          <p:cNvPr id="45" name="Text 43"/>
          <p:cNvSpPr txBox="1"/>
          <p:nvPr/>
        </p:nvSpPr>
        <p:spPr>
          <a:xfrm>
            <a:off x="3813048"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$22.8K</a:t>
            </a:r>
            <a:endParaRPr lang="en-US" sz="1300" dirty="0"/>
          </a:p>
        </p:txBody>
      </p:sp>
      <p:sp>
        <p:nvSpPr>
          <p:cNvPr id="46" name="Text 44"/>
          <p:cNvSpPr txBox="1"/>
          <p:nvPr/>
        </p:nvSpPr>
        <p:spPr>
          <a:xfrm>
            <a:off x="4599432"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$3.37</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0" name="Shape 48"/>
          <p:cNvSpPr/>
          <p:nvPr/>
        </p:nvSpPr>
        <p:spPr>
          <a:xfrm>
            <a:off x="2871216" y="3247707"/>
            <a:ext cx="334545" cy="136676"/>
          </a:xfrm>
          <a:prstGeom prst="rect">
            <a:avLst/>
          </a:prstGeom>
          <a:solidFill>
            <a:srgbClr val="2587C5"/>
          </a:solidFill>
          <a:ln/>
        </p:spPr>
      </p:sp>
      <p:sp>
        <p:nvSpPr>
          <p:cNvPr id="51" name="Text 49"/>
          <p:cNvSpPr txBox="1"/>
          <p:nvPr/>
        </p:nvSpPr>
        <p:spPr>
          <a:xfrm>
            <a:off x="3813048"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$16.3K</a:t>
            </a:r>
            <a:endParaRPr lang="en-US" sz="1300" dirty="0"/>
          </a:p>
        </p:txBody>
      </p:sp>
      <p:sp>
        <p:nvSpPr>
          <p:cNvPr id="52" name="Text 50"/>
          <p:cNvSpPr txBox="1"/>
          <p:nvPr/>
        </p:nvSpPr>
        <p:spPr>
          <a:xfrm>
            <a:off x="4599432"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$4.64</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6" name="Shape 54"/>
          <p:cNvSpPr/>
          <p:nvPr/>
        </p:nvSpPr>
        <p:spPr>
          <a:xfrm>
            <a:off x="2871216" y="3496208"/>
            <a:ext cx="333005" cy="136676"/>
          </a:xfrm>
          <a:prstGeom prst="rect">
            <a:avLst/>
          </a:prstGeom>
          <a:solidFill>
            <a:srgbClr val="2587C5"/>
          </a:solidFill>
          <a:ln/>
        </p:spPr>
      </p:sp>
      <p:sp>
        <p:nvSpPr>
          <p:cNvPr id="57" name="Text 55"/>
          <p:cNvSpPr txBox="1"/>
          <p:nvPr/>
        </p:nvSpPr>
        <p:spPr>
          <a:xfrm>
            <a:off x="3813048"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$16.2K</a:t>
            </a:r>
            <a:endParaRPr lang="en-US" sz="1300" dirty="0"/>
          </a:p>
        </p:txBody>
      </p:sp>
      <p:sp>
        <p:nvSpPr>
          <p:cNvPr id="58" name="Text 56"/>
          <p:cNvSpPr txBox="1"/>
          <p:nvPr/>
        </p:nvSpPr>
        <p:spPr>
          <a:xfrm>
            <a:off x="4599432"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2" name="Shape 60"/>
          <p:cNvSpPr/>
          <p:nvPr/>
        </p:nvSpPr>
        <p:spPr>
          <a:xfrm>
            <a:off x="2871216" y="3744710"/>
            <a:ext cx="312594" cy="136676"/>
          </a:xfrm>
          <a:prstGeom prst="rect">
            <a:avLst/>
          </a:prstGeom>
          <a:solidFill>
            <a:srgbClr val="2587C5"/>
          </a:solidFill>
          <a:ln/>
        </p:spPr>
      </p:sp>
      <p:sp>
        <p:nvSpPr>
          <p:cNvPr id="63" name="Text 61"/>
          <p:cNvSpPr txBox="1"/>
          <p:nvPr/>
        </p:nvSpPr>
        <p:spPr>
          <a:xfrm>
            <a:off x="3813048"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$15.2K</a:t>
            </a:r>
            <a:endParaRPr lang="en-US" sz="1300" dirty="0"/>
          </a:p>
        </p:txBody>
      </p:sp>
      <p:sp>
        <p:nvSpPr>
          <p:cNvPr id="64" name="Text 62"/>
          <p:cNvSpPr txBox="1"/>
          <p:nvPr/>
        </p:nvSpPr>
        <p:spPr>
          <a:xfrm>
            <a:off x="4599432"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$2.68</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8" name="Shape 66"/>
          <p:cNvSpPr/>
          <p:nvPr/>
        </p:nvSpPr>
        <p:spPr>
          <a:xfrm>
            <a:off x="2871216" y="3993212"/>
            <a:ext cx="302272" cy="136676"/>
          </a:xfrm>
          <a:prstGeom prst="rect">
            <a:avLst/>
          </a:prstGeom>
          <a:solidFill>
            <a:srgbClr val="2587C5"/>
          </a:solidFill>
          <a:ln/>
        </p:spPr>
      </p:sp>
      <p:sp>
        <p:nvSpPr>
          <p:cNvPr id="69" name="Text 67"/>
          <p:cNvSpPr txBox="1"/>
          <p:nvPr/>
        </p:nvSpPr>
        <p:spPr>
          <a:xfrm>
            <a:off x="3813048"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$14.7K</a:t>
            </a:r>
            <a:endParaRPr lang="en-US" sz="1300" dirty="0"/>
          </a:p>
        </p:txBody>
      </p:sp>
      <p:sp>
        <p:nvSpPr>
          <p:cNvPr id="70" name="Text 68"/>
          <p:cNvSpPr txBox="1"/>
          <p:nvPr/>
        </p:nvSpPr>
        <p:spPr>
          <a:xfrm>
            <a:off x="4599432"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$3.47</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2871216" y="4241713"/>
            <a:ext cx="288162" cy="136676"/>
          </a:xfrm>
          <a:prstGeom prst="rect">
            <a:avLst/>
          </a:prstGeom>
          <a:solidFill>
            <a:srgbClr val="2587C5"/>
          </a:solidFill>
          <a:ln/>
        </p:spPr>
      </p:sp>
      <p:sp>
        <p:nvSpPr>
          <p:cNvPr id="75" name="Text 73"/>
          <p:cNvSpPr txBox="1"/>
          <p:nvPr/>
        </p:nvSpPr>
        <p:spPr>
          <a:xfrm>
            <a:off x="3813048"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$14.1K</a:t>
            </a:r>
            <a:endParaRPr lang="en-US" sz="1300" dirty="0"/>
          </a:p>
        </p:txBody>
      </p:sp>
      <p:sp>
        <p:nvSpPr>
          <p:cNvPr id="76" name="Text 74"/>
          <p:cNvSpPr txBox="1"/>
          <p:nvPr/>
        </p:nvSpPr>
        <p:spPr>
          <a:xfrm>
            <a:off x="4599432"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$3.06</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80" name="Shape 78"/>
          <p:cNvSpPr/>
          <p:nvPr/>
        </p:nvSpPr>
        <p:spPr>
          <a:xfrm>
            <a:off x="2871216" y="4490215"/>
            <a:ext cx="260095" cy="136676"/>
          </a:xfrm>
          <a:prstGeom prst="rect">
            <a:avLst/>
          </a:prstGeom>
          <a:solidFill>
            <a:srgbClr val="2587C5"/>
          </a:solidFill>
          <a:ln/>
        </p:spPr>
      </p:sp>
      <p:sp>
        <p:nvSpPr>
          <p:cNvPr id="81" name="Text 79"/>
          <p:cNvSpPr txBox="1"/>
          <p:nvPr/>
        </p:nvSpPr>
        <p:spPr>
          <a:xfrm>
            <a:off x="3813048"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$12.7K</a:t>
            </a:r>
            <a:endParaRPr lang="en-US" sz="1300" dirty="0"/>
          </a:p>
        </p:txBody>
      </p:sp>
      <p:sp>
        <p:nvSpPr>
          <p:cNvPr id="82" name="Text 80"/>
          <p:cNvSpPr txBox="1"/>
          <p:nvPr/>
        </p:nvSpPr>
        <p:spPr>
          <a:xfrm>
            <a:off x="4599432"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$2.41</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257823" cy="136676"/>
          </a:xfrm>
          <a:prstGeom prst="rect">
            <a:avLst/>
          </a:prstGeom>
          <a:solidFill>
            <a:srgbClr val="2587C5"/>
          </a:solidFill>
          <a:ln/>
        </p:spPr>
      </p:sp>
      <p:sp>
        <p:nvSpPr>
          <p:cNvPr id="87" name="Text 85"/>
          <p:cNvSpPr txBox="1"/>
          <p:nvPr/>
        </p:nvSpPr>
        <p:spPr>
          <a:xfrm>
            <a:off x="3813048"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$12.6K</a:t>
            </a:r>
            <a:endParaRPr lang="en-US" sz="1300" dirty="0"/>
          </a:p>
        </p:txBody>
      </p:sp>
      <p:sp>
        <p:nvSpPr>
          <p:cNvPr id="88" name="Text 86"/>
          <p:cNvSpPr txBox="1"/>
          <p:nvPr/>
        </p:nvSpPr>
        <p:spPr>
          <a:xfrm>
            <a:off x="4599432"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$2.93</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2" name="Shape 90"/>
          <p:cNvSpPr/>
          <p:nvPr/>
        </p:nvSpPr>
        <p:spPr>
          <a:xfrm>
            <a:off x="2871216" y="4987218"/>
            <a:ext cx="252824" cy="136676"/>
          </a:xfrm>
          <a:prstGeom prst="rect">
            <a:avLst/>
          </a:prstGeom>
          <a:solidFill>
            <a:srgbClr val="2587C5"/>
          </a:solidFill>
          <a:ln/>
        </p:spPr>
      </p:sp>
      <p:sp>
        <p:nvSpPr>
          <p:cNvPr id="93" name="Text 91"/>
          <p:cNvSpPr txBox="1"/>
          <p:nvPr/>
        </p:nvSpPr>
        <p:spPr>
          <a:xfrm>
            <a:off x="3813048"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$12.3K</a:t>
            </a:r>
            <a:endParaRPr lang="en-US" sz="1300" dirty="0"/>
          </a:p>
        </p:txBody>
      </p:sp>
      <p:sp>
        <p:nvSpPr>
          <p:cNvPr id="94" name="Text 92"/>
          <p:cNvSpPr txBox="1"/>
          <p:nvPr/>
        </p:nvSpPr>
        <p:spPr>
          <a:xfrm>
            <a:off x="4599432"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8" name="Shape 96"/>
          <p:cNvSpPr/>
          <p:nvPr/>
        </p:nvSpPr>
        <p:spPr>
          <a:xfrm>
            <a:off x="2871216" y="5235720"/>
            <a:ext cx="244879" cy="136676"/>
          </a:xfrm>
          <a:prstGeom prst="rect">
            <a:avLst/>
          </a:prstGeom>
          <a:solidFill>
            <a:srgbClr val="2587C5"/>
          </a:solidFill>
          <a:ln/>
        </p:spPr>
      </p:sp>
      <p:sp>
        <p:nvSpPr>
          <p:cNvPr id="99" name="Text 97"/>
          <p:cNvSpPr txBox="1"/>
          <p:nvPr/>
        </p:nvSpPr>
        <p:spPr>
          <a:xfrm>
            <a:off x="3813048"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$11.9K</a:t>
            </a:r>
            <a:endParaRPr lang="en-US" sz="1300" dirty="0"/>
          </a:p>
        </p:txBody>
      </p:sp>
      <p:sp>
        <p:nvSpPr>
          <p:cNvPr id="100" name="Text 98"/>
          <p:cNvSpPr txBox="1"/>
          <p:nvPr/>
        </p:nvSpPr>
        <p:spPr>
          <a:xfrm>
            <a:off x="4599432"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4" name="Shape 102"/>
          <p:cNvSpPr/>
          <p:nvPr/>
        </p:nvSpPr>
        <p:spPr>
          <a:xfrm>
            <a:off x="2871216" y="5484222"/>
            <a:ext cx="233938" cy="136676"/>
          </a:xfrm>
          <a:prstGeom prst="rect">
            <a:avLst/>
          </a:prstGeom>
          <a:solidFill>
            <a:srgbClr val="2587C5"/>
          </a:solidFill>
          <a:ln/>
        </p:spPr>
      </p:sp>
      <p:sp>
        <p:nvSpPr>
          <p:cNvPr id="105" name="Text 103"/>
          <p:cNvSpPr txBox="1"/>
          <p:nvPr/>
        </p:nvSpPr>
        <p:spPr>
          <a:xfrm>
            <a:off x="3813048"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$11.4K</a:t>
            </a:r>
            <a:endParaRPr lang="en-US" sz="1300" dirty="0"/>
          </a:p>
        </p:txBody>
      </p:sp>
      <p:sp>
        <p:nvSpPr>
          <p:cNvPr id="106" name="Text 104"/>
          <p:cNvSpPr txBox="1"/>
          <p:nvPr/>
        </p:nvSpPr>
        <p:spPr>
          <a:xfrm>
            <a:off x="4599432"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$4.99</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0" name="Shape 108"/>
          <p:cNvSpPr/>
          <p:nvPr/>
        </p:nvSpPr>
        <p:spPr>
          <a:xfrm>
            <a:off x="2871216" y="5732723"/>
            <a:ext cx="221407" cy="136676"/>
          </a:xfrm>
          <a:prstGeom prst="rect">
            <a:avLst/>
          </a:prstGeom>
          <a:solidFill>
            <a:srgbClr val="2587C5"/>
          </a:solidFill>
          <a:ln/>
        </p:spPr>
      </p:sp>
      <p:sp>
        <p:nvSpPr>
          <p:cNvPr id="111" name="Text 109"/>
          <p:cNvSpPr txBox="1"/>
          <p:nvPr/>
        </p:nvSpPr>
        <p:spPr>
          <a:xfrm>
            <a:off x="3813048" y="567681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$10.8K</a:t>
            </a:r>
            <a:endParaRPr lang="en-US" sz="1300" dirty="0"/>
          </a:p>
        </p:txBody>
      </p:sp>
      <p:sp>
        <p:nvSpPr>
          <p:cNvPr id="112" name="Text 110"/>
          <p:cNvSpPr txBox="1"/>
          <p:nvPr/>
        </p:nvSpPr>
        <p:spPr>
          <a:xfrm>
            <a:off x="4599432" y="567681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$4.06</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6" name="Shape 114"/>
          <p:cNvSpPr/>
          <p:nvPr/>
        </p:nvSpPr>
        <p:spPr>
          <a:xfrm>
            <a:off x="8421624" y="1756697"/>
            <a:ext cx="209398" cy="136676"/>
          </a:xfrm>
          <a:prstGeom prst="rect">
            <a:avLst/>
          </a:prstGeom>
          <a:solidFill>
            <a:srgbClr val="2587C5"/>
          </a:solidFill>
          <a:ln/>
        </p:spPr>
      </p:sp>
      <p:sp>
        <p:nvSpPr>
          <p:cNvPr id="117" name="Text 115"/>
          <p:cNvSpPr txBox="1"/>
          <p:nvPr/>
        </p:nvSpPr>
        <p:spPr>
          <a:xfrm>
            <a:off x="9363456" y="170078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$10.2K</a:t>
            </a:r>
            <a:endParaRPr lang="en-US" sz="1300" dirty="0"/>
          </a:p>
        </p:txBody>
      </p:sp>
      <p:sp>
        <p:nvSpPr>
          <p:cNvPr id="118" name="Text 116"/>
          <p:cNvSpPr txBox="1"/>
          <p:nvPr/>
        </p:nvSpPr>
        <p:spPr>
          <a:xfrm>
            <a:off x="10149840" y="170078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$3.17</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2" name="Shape 120"/>
          <p:cNvSpPr/>
          <p:nvPr/>
        </p:nvSpPr>
        <p:spPr>
          <a:xfrm>
            <a:off x="8421624" y="2005199"/>
            <a:ext cx="187702" cy="136676"/>
          </a:xfrm>
          <a:prstGeom prst="rect">
            <a:avLst/>
          </a:prstGeom>
          <a:solidFill>
            <a:srgbClr val="2587C5"/>
          </a:solidFill>
          <a:ln/>
        </p:spPr>
      </p:sp>
      <p:sp>
        <p:nvSpPr>
          <p:cNvPr id="123" name="Text 121"/>
          <p:cNvSpPr txBox="1"/>
          <p:nvPr/>
        </p:nvSpPr>
        <p:spPr>
          <a:xfrm>
            <a:off x="9363456" y="194928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$9.2K</a:t>
            </a:r>
            <a:endParaRPr lang="en-US" sz="1300" dirty="0"/>
          </a:p>
        </p:txBody>
      </p:sp>
      <p:sp>
        <p:nvSpPr>
          <p:cNvPr id="124" name="Text 122"/>
          <p:cNvSpPr txBox="1"/>
          <p:nvPr/>
        </p:nvSpPr>
        <p:spPr>
          <a:xfrm>
            <a:off x="10149840" y="194928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8" name="Shape 126"/>
          <p:cNvSpPr/>
          <p:nvPr/>
        </p:nvSpPr>
        <p:spPr>
          <a:xfrm>
            <a:off x="8421624" y="2253700"/>
            <a:ext cx="180536" cy="136676"/>
          </a:xfrm>
          <a:prstGeom prst="rect">
            <a:avLst/>
          </a:prstGeom>
          <a:solidFill>
            <a:srgbClr val="2587C5"/>
          </a:solidFill>
          <a:ln/>
        </p:spPr>
      </p:sp>
      <p:sp>
        <p:nvSpPr>
          <p:cNvPr id="129" name="Text 127"/>
          <p:cNvSpPr txBox="1"/>
          <p:nvPr/>
        </p:nvSpPr>
        <p:spPr>
          <a:xfrm>
            <a:off x="9363456" y="219778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$8.8K</a:t>
            </a:r>
            <a:endParaRPr lang="en-US" sz="1300" dirty="0"/>
          </a:p>
        </p:txBody>
      </p:sp>
      <p:sp>
        <p:nvSpPr>
          <p:cNvPr id="130" name="Text 128"/>
          <p:cNvSpPr txBox="1"/>
          <p:nvPr/>
        </p:nvSpPr>
        <p:spPr>
          <a:xfrm>
            <a:off x="10149840" y="219778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$3.45</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173314" cy="136676"/>
          </a:xfrm>
          <a:prstGeom prst="rect">
            <a:avLst/>
          </a:prstGeom>
          <a:solidFill>
            <a:srgbClr val="2587C5"/>
          </a:solidFill>
          <a:ln/>
        </p:spPr>
      </p:sp>
      <p:sp>
        <p:nvSpPr>
          <p:cNvPr id="135" name="Text 133"/>
          <p:cNvSpPr txBox="1"/>
          <p:nvPr/>
        </p:nvSpPr>
        <p:spPr>
          <a:xfrm>
            <a:off x="9363456" y="244628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$8.5K</a:t>
            </a:r>
            <a:endParaRPr lang="en-US" sz="1300" dirty="0"/>
          </a:p>
        </p:txBody>
      </p:sp>
      <p:sp>
        <p:nvSpPr>
          <p:cNvPr id="136" name="Text 134"/>
          <p:cNvSpPr txBox="1"/>
          <p:nvPr/>
        </p:nvSpPr>
        <p:spPr>
          <a:xfrm>
            <a:off x="10149840" y="244628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$2.80</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0" name="Shape 138"/>
          <p:cNvSpPr/>
          <p:nvPr/>
        </p:nvSpPr>
        <p:spPr>
          <a:xfrm>
            <a:off x="8421624" y="2750703"/>
            <a:ext cx="169896" cy="136676"/>
          </a:xfrm>
          <a:prstGeom prst="rect">
            <a:avLst/>
          </a:prstGeom>
          <a:solidFill>
            <a:srgbClr val="2587C5"/>
          </a:solidFill>
          <a:ln/>
        </p:spPr>
      </p:sp>
      <p:sp>
        <p:nvSpPr>
          <p:cNvPr id="141" name="Text 139"/>
          <p:cNvSpPr txBox="1"/>
          <p:nvPr/>
        </p:nvSpPr>
        <p:spPr>
          <a:xfrm>
            <a:off x="9363456" y="2694791"/>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$8.3K</a:t>
            </a:r>
            <a:endParaRPr lang="en-US" sz="1300" dirty="0"/>
          </a:p>
        </p:txBody>
      </p:sp>
      <p:sp>
        <p:nvSpPr>
          <p:cNvPr id="142" name="Text 140"/>
          <p:cNvSpPr txBox="1"/>
          <p:nvPr/>
        </p:nvSpPr>
        <p:spPr>
          <a:xfrm>
            <a:off x="10149840" y="2694791"/>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$3.84</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46" name="Shape 144"/>
          <p:cNvSpPr/>
          <p:nvPr/>
        </p:nvSpPr>
        <p:spPr>
          <a:xfrm>
            <a:off x="8421624" y="2999205"/>
            <a:ext cx="165457" cy="136676"/>
          </a:xfrm>
          <a:prstGeom prst="rect">
            <a:avLst/>
          </a:prstGeom>
          <a:solidFill>
            <a:srgbClr val="2587C5"/>
          </a:solidFill>
          <a:ln/>
        </p:spPr>
      </p:sp>
      <p:sp>
        <p:nvSpPr>
          <p:cNvPr id="147" name="Text 145"/>
          <p:cNvSpPr txBox="1"/>
          <p:nvPr/>
        </p:nvSpPr>
        <p:spPr>
          <a:xfrm>
            <a:off x="9363456" y="294329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$8.1K</a:t>
            </a:r>
            <a:endParaRPr lang="en-US" sz="1300" dirty="0"/>
          </a:p>
        </p:txBody>
      </p:sp>
      <p:sp>
        <p:nvSpPr>
          <p:cNvPr id="148" name="Text 146"/>
          <p:cNvSpPr txBox="1"/>
          <p:nvPr/>
        </p:nvSpPr>
        <p:spPr>
          <a:xfrm>
            <a:off x="10149840" y="294329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$3.03</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2" name="Shape 150"/>
          <p:cNvSpPr/>
          <p:nvPr/>
        </p:nvSpPr>
        <p:spPr>
          <a:xfrm>
            <a:off x="8421624" y="3247707"/>
            <a:ext cx="154758" cy="136676"/>
          </a:xfrm>
          <a:prstGeom prst="rect">
            <a:avLst/>
          </a:prstGeom>
          <a:solidFill>
            <a:srgbClr val="2587C5"/>
          </a:solidFill>
          <a:ln/>
        </p:spPr>
      </p:sp>
      <p:sp>
        <p:nvSpPr>
          <p:cNvPr id="153" name="Text 151"/>
          <p:cNvSpPr txBox="1"/>
          <p:nvPr/>
        </p:nvSpPr>
        <p:spPr>
          <a:xfrm>
            <a:off x="9363456" y="319179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$7.5K</a:t>
            </a:r>
            <a:endParaRPr lang="en-US" sz="1300" dirty="0"/>
          </a:p>
        </p:txBody>
      </p:sp>
      <p:sp>
        <p:nvSpPr>
          <p:cNvPr id="154" name="Text 152"/>
          <p:cNvSpPr txBox="1"/>
          <p:nvPr/>
        </p:nvSpPr>
        <p:spPr>
          <a:xfrm>
            <a:off x="10149840" y="319179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$3.53</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58" name="Shape 156"/>
          <p:cNvSpPr/>
          <p:nvPr/>
        </p:nvSpPr>
        <p:spPr>
          <a:xfrm>
            <a:off x="8421624" y="3496208"/>
            <a:ext cx="151615" cy="136676"/>
          </a:xfrm>
          <a:prstGeom prst="rect">
            <a:avLst/>
          </a:prstGeom>
          <a:solidFill>
            <a:srgbClr val="2587C5"/>
          </a:solidFill>
          <a:ln/>
        </p:spPr>
      </p:sp>
      <p:sp>
        <p:nvSpPr>
          <p:cNvPr id="159" name="Text 157"/>
          <p:cNvSpPr txBox="1"/>
          <p:nvPr/>
        </p:nvSpPr>
        <p:spPr>
          <a:xfrm>
            <a:off x="9363456" y="3440296"/>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$7.4K</a:t>
            </a:r>
            <a:endParaRPr lang="en-US" sz="1300" dirty="0"/>
          </a:p>
        </p:txBody>
      </p:sp>
      <p:sp>
        <p:nvSpPr>
          <p:cNvPr id="160" name="Text 158"/>
          <p:cNvSpPr txBox="1"/>
          <p:nvPr/>
        </p:nvSpPr>
        <p:spPr>
          <a:xfrm>
            <a:off x="10149840" y="3440296"/>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$3.27</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148645" cy="136676"/>
          </a:xfrm>
          <a:prstGeom prst="rect">
            <a:avLst/>
          </a:prstGeom>
          <a:solidFill>
            <a:srgbClr val="2587C5"/>
          </a:solidFill>
          <a:ln/>
        </p:spPr>
      </p:sp>
      <p:sp>
        <p:nvSpPr>
          <p:cNvPr id="165" name="Text 163"/>
          <p:cNvSpPr txBox="1"/>
          <p:nvPr/>
        </p:nvSpPr>
        <p:spPr>
          <a:xfrm>
            <a:off x="9363456" y="368879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66" name="Text 164"/>
          <p:cNvSpPr txBox="1"/>
          <p:nvPr/>
        </p:nvSpPr>
        <p:spPr>
          <a:xfrm>
            <a:off x="10149840" y="368879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$2.59</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0" name="Shape 168"/>
          <p:cNvSpPr/>
          <p:nvPr/>
        </p:nvSpPr>
        <p:spPr>
          <a:xfrm>
            <a:off x="8421624" y="3993212"/>
            <a:ext cx="148155" cy="136676"/>
          </a:xfrm>
          <a:prstGeom prst="rect">
            <a:avLst/>
          </a:prstGeom>
          <a:solidFill>
            <a:srgbClr val="2587C5"/>
          </a:solidFill>
          <a:ln/>
        </p:spPr>
      </p:sp>
      <p:sp>
        <p:nvSpPr>
          <p:cNvPr id="171" name="Text 169"/>
          <p:cNvSpPr txBox="1"/>
          <p:nvPr/>
        </p:nvSpPr>
        <p:spPr>
          <a:xfrm>
            <a:off x="9363456" y="393729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$7.2K</a:t>
            </a:r>
            <a:endParaRPr lang="en-US" sz="1300" dirty="0"/>
          </a:p>
        </p:txBody>
      </p:sp>
      <p:sp>
        <p:nvSpPr>
          <p:cNvPr id="172" name="Text 170"/>
          <p:cNvSpPr txBox="1"/>
          <p:nvPr/>
        </p:nvSpPr>
        <p:spPr>
          <a:xfrm>
            <a:off x="10149840" y="393729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$2.83</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76" name="Shape 174"/>
          <p:cNvSpPr/>
          <p:nvPr/>
        </p:nvSpPr>
        <p:spPr>
          <a:xfrm>
            <a:off x="8421624" y="4241713"/>
            <a:ext cx="146434" cy="136676"/>
          </a:xfrm>
          <a:prstGeom prst="rect">
            <a:avLst/>
          </a:prstGeom>
          <a:solidFill>
            <a:srgbClr val="2587C5"/>
          </a:solidFill>
          <a:ln/>
        </p:spPr>
      </p:sp>
      <p:sp>
        <p:nvSpPr>
          <p:cNvPr id="177" name="Text 175"/>
          <p:cNvSpPr txBox="1"/>
          <p:nvPr/>
        </p:nvSpPr>
        <p:spPr>
          <a:xfrm>
            <a:off x="9363456" y="4185800"/>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$7.1K</a:t>
            </a:r>
            <a:endParaRPr lang="en-US" sz="1300" dirty="0"/>
          </a:p>
        </p:txBody>
      </p:sp>
      <p:sp>
        <p:nvSpPr>
          <p:cNvPr id="178" name="Text 176"/>
          <p:cNvSpPr txBox="1"/>
          <p:nvPr/>
        </p:nvSpPr>
        <p:spPr>
          <a:xfrm>
            <a:off x="10149840" y="4185800"/>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$4.17</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2" name="Shape 180"/>
          <p:cNvSpPr/>
          <p:nvPr/>
        </p:nvSpPr>
        <p:spPr>
          <a:xfrm>
            <a:off x="8421624" y="4490215"/>
            <a:ext cx="134976" cy="136676"/>
          </a:xfrm>
          <a:prstGeom prst="rect">
            <a:avLst/>
          </a:prstGeom>
          <a:solidFill>
            <a:srgbClr val="2587C5"/>
          </a:solidFill>
          <a:ln/>
        </p:spPr>
      </p:sp>
      <p:sp>
        <p:nvSpPr>
          <p:cNvPr id="183" name="Text 181"/>
          <p:cNvSpPr txBox="1"/>
          <p:nvPr/>
        </p:nvSpPr>
        <p:spPr>
          <a:xfrm>
            <a:off x="9363456" y="4434302"/>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$6.6K</a:t>
            </a:r>
            <a:endParaRPr lang="en-US" sz="1300" dirty="0"/>
          </a:p>
        </p:txBody>
      </p:sp>
      <p:sp>
        <p:nvSpPr>
          <p:cNvPr id="184" name="Text 182"/>
          <p:cNvSpPr txBox="1"/>
          <p:nvPr/>
        </p:nvSpPr>
        <p:spPr>
          <a:xfrm>
            <a:off x="10149840" y="4434302"/>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$4.49</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8" name="Shape 186"/>
          <p:cNvSpPr/>
          <p:nvPr/>
        </p:nvSpPr>
        <p:spPr>
          <a:xfrm>
            <a:off x="8421624" y="4738717"/>
            <a:ext cx="133528" cy="136676"/>
          </a:xfrm>
          <a:prstGeom prst="rect">
            <a:avLst/>
          </a:prstGeom>
          <a:solidFill>
            <a:srgbClr val="2587C5"/>
          </a:solidFill>
          <a:ln/>
        </p:spPr>
      </p:sp>
      <p:sp>
        <p:nvSpPr>
          <p:cNvPr id="189" name="Text 187"/>
          <p:cNvSpPr txBox="1"/>
          <p:nvPr/>
        </p:nvSpPr>
        <p:spPr>
          <a:xfrm>
            <a:off x="9363456" y="4682804"/>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$6.5K</a:t>
            </a:r>
            <a:endParaRPr lang="en-US" sz="1300" dirty="0"/>
          </a:p>
        </p:txBody>
      </p:sp>
      <p:sp>
        <p:nvSpPr>
          <p:cNvPr id="190" name="Text 188"/>
          <p:cNvSpPr txBox="1"/>
          <p:nvPr/>
        </p:nvSpPr>
        <p:spPr>
          <a:xfrm>
            <a:off x="10149840" y="4682804"/>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$2.76</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4" name="Shape 192"/>
          <p:cNvSpPr/>
          <p:nvPr/>
        </p:nvSpPr>
        <p:spPr>
          <a:xfrm>
            <a:off x="8421624" y="4987218"/>
            <a:ext cx="108545" cy="136676"/>
          </a:xfrm>
          <a:prstGeom prst="rect">
            <a:avLst/>
          </a:prstGeom>
          <a:solidFill>
            <a:srgbClr val="2587C5"/>
          </a:solidFill>
          <a:ln/>
        </p:spPr>
      </p:sp>
      <p:sp>
        <p:nvSpPr>
          <p:cNvPr id="195" name="Text 193"/>
          <p:cNvSpPr txBox="1"/>
          <p:nvPr/>
        </p:nvSpPr>
        <p:spPr>
          <a:xfrm>
            <a:off x="9363456" y="4931305"/>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$5.3K</a:t>
            </a:r>
            <a:endParaRPr lang="en-US" sz="1300" dirty="0"/>
          </a:p>
        </p:txBody>
      </p:sp>
      <p:sp>
        <p:nvSpPr>
          <p:cNvPr id="196" name="Text 194"/>
          <p:cNvSpPr txBox="1"/>
          <p:nvPr/>
        </p:nvSpPr>
        <p:spPr>
          <a:xfrm>
            <a:off x="10149840" y="4931305"/>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$2.90</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00" name="Shape 198"/>
          <p:cNvSpPr/>
          <p:nvPr/>
        </p:nvSpPr>
        <p:spPr>
          <a:xfrm>
            <a:off x="8421624" y="5235720"/>
            <a:ext cx="88865" cy="136676"/>
          </a:xfrm>
          <a:prstGeom prst="rect">
            <a:avLst/>
          </a:prstGeom>
          <a:solidFill>
            <a:srgbClr val="2587C5"/>
          </a:solidFill>
          <a:ln/>
        </p:spPr>
      </p:sp>
      <p:sp>
        <p:nvSpPr>
          <p:cNvPr id="201" name="Text 199"/>
          <p:cNvSpPr txBox="1"/>
          <p:nvPr/>
        </p:nvSpPr>
        <p:spPr>
          <a:xfrm>
            <a:off x="9363456" y="5179807"/>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$4.3K</a:t>
            </a:r>
            <a:endParaRPr lang="en-US" sz="1300" dirty="0"/>
          </a:p>
        </p:txBody>
      </p:sp>
      <p:sp>
        <p:nvSpPr>
          <p:cNvPr id="202" name="Text 200"/>
          <p:cNvSpPr txBox="1"/>
          <p:nvPr/>
        </p:nvSpPr>
        <p:spPr>
          <a:xfrm>
            <a:off x="10149840" y="5179807"/>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$2.82</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70911" cy="136676"/>
          </a:xfrm>
          <a:prstGeom prst="rect">
            <a:avLst/>
          </a:prstGeom>
          <a:solidFill>
            <a:srgbClr val="2587C5"/>
          </a:solidFill>
          <a:ln/>
        </p:spPr>
      </p:sp>
      <p:sp>
        <p:nvSpPr>
          <p:cNvPr id="207" name="Text 205"/>
          <p:cNvSpPr txBox="1"/>
          <p:nvPr/>
        </p:nvSpPr>
        <p:spPr>
          <a:xfrm>
            <a:off x="9363456" y="5428309"/>
            <a:ext cx="786384" cy="248502"/>
          </a:xfrm>
          <a:prstGeom prst="rect">
            <a:avLst/>
          </a:prstGeom>
          <a:noFill/>
          <a:ln/>
        </p:spPr>
        <p:txBody>
          <a:bodyPr wrap="square" lIns="0" tIns="0" rIns="0" bIns="0" rtlCol="0" anchor="ctr"/>
          <a:lstStyle/>
          <a:p>
            <a:pPr algn="r" indent="0" marL="0">
              <a:buNone/>
            </a:pPr>
            <a:r>
              <a:rPr lang="en-US" sz="1300" b="1" dirty="0">
                <a:solidFill>
                  <a:srgbClr val="1A1A1A"/>
                </a:solidFill>
                <a:latin typeface="Inter" pitchFamily="34" charset="0"/>
                <a:ea typeface="Inter" pitchFamily="34" charset="-122"/>
                <a:cs typeface="Inter" pitchFamily="34" charset="-120"/>
              </a:rPr>
              <a:t>$3.5K</a:t>
            </a:r>
            <a:endParaRPr lang="en-US" sz="1300" dirty="0"/>
          </a:p>
        </p:txBody>
      </p:sp>
      <p:sp>
        <p:nvSpPr>
          <p:cNvPr id="208" name="Text 206"/>
          <p:cNvSpPr txBox="1"/>
          <p:nvPr/>
        </p:nvSpPr>
        <p:spPr>
          <a:xfrm>
            <a:off x="10149840" y="5428309"/>
            <a:ext cx="56692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5</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341376"/>
          </a:xfrm>
          <a:prstGeom prst="rect">
            <a:avLst/>
          </a:prstGeom>
          <a:solidFill>
            <a:srgbClr val="EDF4FA"/>
          </a:solidFill>
          <a:ln/>
        </p:spPr>
      </p:sp>
      <p:sp>
        <p:nvSpPr>
          <p:cNvPr id="212" name="Text 210"/>
          <p:cNvSpPr txBox="1"/>
          <p:nvPr/>
        </p:nvSpPr>
        <p:spPr>
          <a:xfrm>
            <a:off x="658368" y="6144768"/>
            <a:ext cx="10927080" cy="30480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One minute a day per tech: Toyota Henderson $43,256 a year. Volvo techs are worth the most per minute at $4.99.</a:t>
            </a:r>
            <a:endParaRPr lang="en-US" sz="1400" dirty="0"/>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Compliance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WE ARE · JAN–SEP 2026</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Higher labor rates, higher parts reimbursement and tariffs are driving up OEM scrutiny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Six audits cost over $400,000</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Primary causes: written documentation, manager signatures on add-ons and in-stock units, out mileage, punch times, manufacturer authorization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The general manager is responsible for warranty policy being followed</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Spot-check repair orders and self-audit</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$3,788,200</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Added gross profit from warranty labor and parts rate increases approved this year, 19 stores.</a:t>
            </a:r>
            <a:endParaRPr lang="en-US" sz="1400" dirty="0"/>
          </a:p>
        </p:txBody>
      </p:sp>
      <p:sp>
        <p:nvSpPr>
          <p:cNvPr id="13" name="Shape 11"/>
          <p:cNvSpPr/>
          <p:nvPr/>
        </p:nvSpPr>
        <p:spPr>
          <a:xfrm>
            <a:off x="7269480" y="3261360"/>
            <a:ext cx="54864" cy="1112520"/>
          </a:xfrm>
          <a:prstGeom prst="rect">
            <a:avLst/>
          </a:prstGeom>
          <a:solidFill>
            <a:srgbClr val="12A566"/>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$197.17</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ELR, up $16.93; 30 of 33 stores raised it.</a:t>
            </a:r>
            <a:endParaRPr lang="en-US" sz="1400" dirty="0"/>
          </a:p>
        </p:txBody>
      </p:sp>
      <p:sp>
        <p:nvSpPr>
          <p:cNvPr id="16" name="Shape 14"/>
          <p:cNvSpPr/>
          <p:nvPr/>
        </p:nvSpPr>
        <p:spPr>
          <a:xfrm>
            <a:off x="7269480" y="4602480"/>
            <a:ext cx="54864" cy="1112520"/>
          </a:xfrm>
          <a:prstGeom prst="rect">
            <a:avLst/>
          </a:prstGeom>
          <a:solidFill>
            <a:srgbClr val="12A566"/>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44.7%</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Warranty parts gross profit, up 2.1 pts and ahead of 2025 in all nine months.</a:t>
            </a:r>
            <a:endParaRPr lang="en-US" sz="1400" dirty="0"/>
          </a:p>
        </p:txBody>
      </p:sp>
      <p:sp>
        <p:nvSpPr>
          <p:cNvPr id="19" name="Shape 17"/>
          <p:cNvSpPr/>
          <p:nvPr/>
        </p:nvSpPr>
        <p:spPr>
          <a:xfrm>
            <a:off x="457200" y="6126480"/>
            <a:ext cx="11274552" cy="371856"/>
          </a:xfrm>
          <a:prstGeom prst="rect">
            <a:avLst/>
          </a:prstGeom>
          <a:solidFill>
            <a:srgbClr val="EDF4FA"/>
          </a:solidFill>
          <a:ln/>
        </p:spPr>
      </p:sp>
      <p:sp>
        <p:nvSpPr>
          <p:cNvPr id="20" name="Text 1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ask: a higher warranty rate brings more scrutiny. Self-audit before the factory does.</a:t>
            </a:r>
            <a:endParaRPr lang="en-US" sz="1600" dirty="0"/>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Rates Are Rising</a:t>
            </a:r>
            <a:endParaRPr lang="en-US" sz="2800" dirty="0"/>
          </a:p>
        </p:txBody>
      </p:sp>
      <p:sp>
        <p:nvSpPr>
          <p:cNvPr id="5" name="Shape 3"/>
          <p:cNvSpPr/>
          <p:nvPr/>
        </p:nvSpPr>
        <p:spPr>
          <a:xfrm>
            <a:off x="457200" y="1207008"/>
            <a:ext cx="5257800" cy="4782312"/>
          </a:xfrm>
          <a:prstGeom prst="rect">
            <a:avLst/>
          </a:prstGeom>
          <a:solidFill>
            <a:srgbClr val="FFFFFF"/>
          </a:solidFill>
          <a:ln/>
        </p:spPr>
      </p:sp>
      <p:sp>
        <p:nvSpPr>
          <p:cNvPr id="6" name="Text 4"/>
          <p:cNvSpPr txBox="1"/>
          <p:nvPr/>
        </p:nvSpPr>
        <p:spPr>
          <a:xfrm>
            <a:off x="658368" y="1316736"/>
            <a:ext cx="329184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RATE INCREASES IN 2026</a:t>
            </a:r>
            <a:endParaRPr lang="en-US" sz="1400" dirty="0"/>
          </a:p>
        </p:txBody>
      </p:sp>
      <p:sp>
        <p:nvSpPr>
          <p:cNvPr id="7" name="Text 5"/>
          <p:cNvSpPr txBox="1"/>
          <p:nvPr/>
        </p:nvSpPr>
        <p:spPr>
          <a:xfrm>
            <a:off x="3886200" y="1280160"/>
            <a:ext cx="1627632" cy="365760"/>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$3.79M GP</a:t>
            </a:r>
            <a:endParaRPr lang="en-US" sz="2000" dirty="0"/>
          </a:p>
        </p:txBody>
      </p:sp>
      <p:sp>
        <p:nvSpPr>
          <p:cNvPr id="8" name="Text 6"/>
          <p:cNvSpPr txBox="1"/>
          <p:nvPr/>
        </p:nvSpPr>
        <p:spPr>
          <a:xfrm>
            <a:off x="658368" y="173736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 name="Shape 7"/>
          <p:cNvSpPr/>
          <p:nvPr/>
        </p:nvSpPr>
        <p:spPr>
          <a:xfrm>
            <a:off x="2697480" y="1785323"/>
            <a:ext cx="1965960" cy="122087"/>
          </a:xfrm>
          <a:prstGeom prst="rect">
            <a:avLst/>
          </a:prstGeom>
          <a:solidFill>
            <a:srgbClr val="2587C5"/>
          </a:solidFill>
          <a:ln/>
        </p:spPr>
      </p:sp>
      <p:sp>
        <p:nvSpPr>
          <p:cNvPr id="10" name="Text 8"/>
          <p:cNvSpPr txBox="1"/>
          <p:nvPr/>
        </p:nvSpPr>
        <p:spPr>
          <a:xfrm>
            <a:off x="4709160" y="173736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$798K</a:t>
            </a:r>
            <a:endParaRPr lang="en-US" sz="1200" dirty="0"/>
          </a:p>
        </p:txBody>
      </p:sp>
      <p:sp>
        <p:nvSpPr>
          <p:cNvPr id="11" name="Text 9"/>
          <p:cNvSpPr txBox="1"/>
          <p:nvPr/>
        </p:nvSpPr>
        <p:spPr>
          <a:xfrm>
            <a:off x="658368" y="195537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2" name="Shape 10"/>
          <p:cNvSpPr/>
          <p:nvPr/>
        </p:nvSpPr>
        <p:spPr>
          <a:xfrm>
            <a:off x="2697480" y="2003335"/>
            <a:ext cx="1141730" cy="122087"/>
          </a:xfrm>
          <a:prstGeom prst="rect">
            <a:avLst/>
          </a:prstGeom>
          <a:solidFill>
            <a:srgbClr val="2587C5"/>
          </a:solidFill>
          <a:ln/>
        </p:spPr>
      </p:sp>
      <p:sp>
        <p:nvSpPr>
          <p:cNvPr id="13" name="Text 11"/>
          <p:cNvSpPr txBox="1"/>
          <p:nvPr/>
        </p:nvSpPr>
        <p:spPr>
          <a:xfrm>
            <a:off x="4709160" y="195537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$463K</a:t>
            </a:r>
            <a:endParaRPr lang="en-US" sz="1200" dirty="0"/>
          </a:p>
        </p:txBody>
      </p:sp>
      <p:sp>
        <p:nvSpPr>
          <p:cNvPr id="14" name="Text 12"/>
          <p:cNvSpPr txBox="1"/>
          <p:nvPr/>
        </p:nvSpPr>
        <p:spPr>
          <a:xfrm>
            <a:off x="658368" y="217338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5" name="Shape 13"/>
          <p:cNvSpPr/>
          <p:nvPr/>
        </p:nvSpPr>
        <p:spPr>
          <a:xfrm>
            <a:off x="2697480" y="2221347"/>
            <a:ext cx="847479" cy="122087"/>
          </a:xfrm>
          <a:prstGeom prst="rect">
            <a:avLst/>
          </a:prstGeom>
          <a:solidFill>
            <a:srgbClr val="2587C5"/>
          </a:solidFill>
          <a:ln/>
        </p:spPr>
      </p:sp>
      <p:sp>
        <p:nvSpPr>
          <p:cNvPr id="16" name="Text 14"/>
          <p:cNvSpPr txBox="1"/>
          <p:nvPr/>
        </p:nvSpPr>
        <p:spPr>
          <a:xfrm>
            <a:off x="4709160" y="217338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$344K</a:t>
            </a:r>
            <a:endParaRPr lang="en-US" sz="1200" dirty="0"/>
          </a:p>
        </p:txBody>
      </p:sp>
      <p:sp>
        <p:nvSpPr>
          <p:cNvPr id="17" name="Text 15"/>
          <p:cNvSpPr txBox="1"/>
          <p:nvPr/>
        </p:nvSpPr>
        <p:spPr>
          <a:xfrm>
            <a:off x="658368" y="239139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8" name="Shape 16"/>
          <p:cNvSpPr/>
          <p:nvPr/>
        </p:nvSpPr>
        <p:spPr>
          <a:xfrm>
            <a:off x="2697480" y="2439359"/>
            <a:ext cx="802598" cy="122087"/>
          </a:xfrm>
          <a:prstGeom prst="rect">
            <a:avLst/>
          </a:prstGeom>
          <a:solidFill>
            <a:srgbClr val="2587C5"/>
          </a:solidFill>
          <a:ln/>
        </p:spPr>
      </p:sp>
      <p:sp>
        <p:nvSpPr>
          <p:cNvPr id="19" name="Text 17"/>
          <p:cNvSpPr txBox="1"/>
          <p:nvPr/>
        </p:nvSpPr>
        <p:spPr>
          <a:xfrm>
            <a:off x="4709160" y="239139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$326K</a:t>
            </a:r>
            <a:endParaRPr lang="en-US" sz="1200" dirty="0"/>
          </a:p>
        </p:txBody>
      </p:sp>
      <p:sp>
        <p:nvSpPr>
          <p:cNvPr id="20" name="Text 18"/>
          <p:cNvSpPr txBox="1"/>
          <p:nvPr/>
        </p:nvSpPr>
        <p:spPr>
          <a:xfrm>
            <a:off x="658368" y="260940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1" name="Shape 19"/>
          <p:cNvSpPr/>
          <p:nvPr/>
        </p:nvSpPr>
        <p:spPr>
          <a:xfrm>
            <a:off x="2697480" y="2657372"/>
            <a:ext cx="719577" cy="122087"/>
          </a:xfrm>
          <a:prstGeom prst="rect">
            <a:avLst/>
          </a:prstGeom>
          <a:solidFill>
            <a:srgbClr val="2587C5"/>
          </a:solidFill>
          <a:ln/>
        </p:spPr>
      </p:sp>
      <p:sp>
        <p:nvSpPr>
          <p:cNvPr id="22" name="Text 20"/>
          <p:cNvSpPr txBox="1"/>
          <p:nvPr/>
        </p:nvSpPr>
        <p:spPr>
          <a:xfrm>
            <a:off x="4709160" y="260940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$292K</a:t>
            </a:r>
            <a:endParaRPr lang="en-US" sz="1200" dirty="0"/>
          </a:p>
        </p:txBody>
      </p:sp>
      <p:sp>
        <p:nvSpPr>
          <p:cNvPr id="23" name="Text 21"/>
          <p:cNvSpPr txBox="1"/>
          <p:nvPr/>
        </p:nvSpPr>
        <p:spPr>
          <a:xfrm>
            <a:off x="658368" y="282742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4" name="Shape 22"/>
          <p:cNvSpPr/>
          <p:nvPr/>
        </p:nvSpPr>
        <p:spPr>
          <a:xfrm>
            <a:off x="2697480" y="2875384"/>
            <a:ext cx="698703" cy="122087"/>
          </a:xfrm>
          <a:prstGeom prst="rect">
            <a:avLst/>
          </a:prstGeom>
          <a:solidFill>
            <a:srgbClr val="2587C5"/>
          </a:solidFill>
          <a:ln/>
        </p:spPr>
      </p:sp>
      <p:sp>
        <p:nvSpPr>
          <p:cNvPr id="25" name="Text 23"/>
          <p:cNvSpPr txBox="1"/>
          <p:nvPr/>
        </p:nvSpPr>
        <p:spPr>
          <a:xfrm>
            <a:off x="4709160" y="282742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$284K</a:t>
            </a:r>
            <a:endParaRPr lang="en-US" sz="1200" dirty="0"/>
          </a:p>
        </p:txBody>
      </p:sp>
      <p:sp>
        <p:nvSpPr>
          <p:cNvPr id="26" name="Text 24"/>
          <p:cNvSpPr txBox="1"/>
          <p:nvPr/>
        </p:nvSpPr>
        <p:spPr>
          <a:xfrm>
            <a:off x="658368" y="304543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2697480" y="3093396"/>
            <a:ext cx="555249" cy="122087"/>
          </a:xfrm>
          <a:prstGeom prst="rect">
            <a:avLst/>
          </a:prstGeom>
          <a:solidFill>
            <a:srgbClr val="2587C5"/>
          </a:solidFill>
          <a:ln/>
        </p:spPr>
      </p:sp>
      <p:sp>
        <p:nvSpPr>
          <p:cNvPr id="28" name="Text 26"/>
          <p:cNvSpPr txBox="1"/>
          <p:nvPr/>
        </p:nvSpPr>
        <p:spPr>
          <a:xfrm>
            <a:off x="4709160" y="304543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$225K</a:t>
            </a:r>
            <a:endParaRPr lang="en-US" sz="1200" dirty="0"/>
          </a:p>
        </p:txBody>
      </p:sp>
      <p:sp>
        <p:nvSpPr>
          <p:cNvPr id="29" name="Text 27"/>
          <p:cNvSpPr txBox="1"/>
          <p:nvPr/>
        </p:nvSpPr>
        <p:spPr>
          <a:xfrm>
            <a:off x="658368" y="326344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0" name="Shape 28"/>
          <p:cNvSpPr/>
          <p:nvPr/>
        </p:nvSpPr>
        <p:spPr>
          <a:xfrm>
            <a:off x="2697480" y="3311408"/>
            <a:ext cx="515601" cy="122087"/>
          </a:xfrm>
          <a:prstGeom prst="rect">
            <a:avLst/>
          </a:prstGeom>
          <a:solidFill>
            <a:srgbClr val="2587C5"/>
          </a:solidFill>
          <a:ln/>
        </p:spPr>
      </p:sp>
      <p:sp>
        <p:nvSpPr>
          <p:cNvPr id="31" name="Text 29"/>
          <p:cNvSpPr txBox="1"/>
          <p:nvPr/>
        </p:nvSpPr>
        <p:spPr>
          <a:xfrm>
            <a:off x="4709160" y="326344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$209K</a:t>
            </a:r>
            <a:endParaRPr lang="en-US" sz="1200" dirty="0"/>
          </a:p>
        </p:txBody>
      </p:sp>
      <p:sp>
        <p:nvSpPr>
          <p:cNvPr id="32" name="Text 30"/>
          <p:cNvSpPr txBox="1"/>
          <p:nvPr/>
        </p:nvSpPr>
        <p:spPr>
          <a:xfrm>
            <a:off x="658368" y="348145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33" name="Shape 31"/>
          <p:cNvSpPr/>
          <p:nvPr/>
        </p:nvSpPr>
        <p:spPr>
          <a:xfrm>
            <a:off x="2697480" y="3529420"/>
            <a:ext cx="359936" cy="122087"/>
          </a:xfrm>
          <a:prstGeom prst="rect">
            <a:avLst/>
          </a:prstGeom>
          <a:solidFill>
            <a:srgbClr val="2587C5"/>
          </a:solidFill>
          <a:ln/>
        </p:spPr>
      </p:sp>
      <p:sp>
        <p:nvSpPr>
          <p:cNvPr id="34" name="Text 32"/>
          <p:cNvSpPr txBox="1"/>
          <p:nvPr/>
        </p:nvSpPr>
        <p:spPr>
          <a:xfrm>
            <a:off x="4709160" y="348145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$146K</a:t>
            </a:r>
            <a:endParaRPr lang="en-US" sz="1200" dirty="0"/>
          </a:p>
        </p:txBody>
      </p:sp>
      <p:sp>
        <p:nvSpPr>
          <p:cNvPr id="35" name="Text 33"/>
          <p:cNvSpPr txBox="1"/>
          <p:nvPr/>
        </p:nvSpPr>
        <p:spPr>
          <a:xfrm>
            <a:off x="658368" y="369947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36" name="Shape 34"/>
          <p:cNvSpPr/>
          <p:nvPr/>
        </p:nvSpPr>
        <p:spPr>
          <a:xfrm>
            <a:off x="2697480" y="3747433"/>
            <a:ext cx="329395" cy="122087"/>
          </a:xfrm>
          <a:prstGeom prst="rect">
            <a:avLst/>
          </a:prstGeom>
          <a:solidFill>
            <a:srgbClr val="2587C5"/>
          </a:solidFill>
          <a:ln/>
        </p:spPr>
      </p:sp>
      <p:sp>
        <p:nvSpPr>
          <p:cNvPr id="37" name="Text 35"/>
          <p:cNvSpPr txBox="1"/>
          <p:nvPr/>
        </p:nvSpPr>
        <p:spPr>
          <a:xfrm>
            <a:off x="4709160" y="369947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$134K</a:t>
            </a:r>
            <a:endParaRPr lang="en-US" sz="1200" dirty="0"/>
          </a:p>
        </p:txBody>
      </p:sp>
      <p:sp>
        <p:nvSpPr>
          <p:cNvPr id="38" name="Text 36"/>
          <p:cNvSpPr txBox="1"/>
          <p:nvPr/>
        </p:nvSpPr>
        <p:spPr>
          <a:xfrm>
            <a:off x="658368" y="3917482"/>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9" name="Shape 37"/>
          <p:cNvSpPr/>
          <p:nvPr/>
        </p:nvSpPr>
        <p:spPr>
          <a:xfrm>
            <a:off x="2697480" y="3965445"/>
            <a:ext cx="237178" cy="122087"/>
          </a:xfrm>
          <a:prstGeom prst="rect">
            <a:avLst/>
          </a:prstGeom>
          <a:solidFill>
            <a:srgbClr val="2587C5"/>
          </a:solidFill>
          <a:ln/>
        </p:spPr>
      </p:sp>
      <p:sp>
        <p:nvSpPr>
          <p:cNvPr id="40" name="Text 38"/>
          <p:cNvSpPr txBox="1"/>
          <p:nvPr/>
        </p:nvSpPr>
        <p:spPr>
          <a:xfrm>
            <a:off x="4709160" y="3917482"/>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$96K</a:t>
            </a:r>
            <a:endParaRPr lang="en-US" sz="1200" dirty="0"/>
          </a:p>
        </p:txBody>
      </p:sp>
      <p:sp>
        <p:nvSpPr>
          <p:cNvPr id="41" name="Text 39"/>
          <p:cNvSpPr txBox="1"/>
          <p:nvPr/>
        </p:nvSpPr>
        <p:spPr>
          <a:xfrm>
            <a:off x="658368" y="4135494"/>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2697480" y="4183457"/>
            <a:ext cx="233128" cy="122087"/>
          </a:xfrm>
          <a:prstGeom prst="rect">
            <a:avLst/>
          </a:prstGeom>
          <a:solidFill>
            <a:srgbClr val="2587C5"/>
          </a:solidFill>
          <a:ln/>
        </p:spPr>
      </p:sp>
      <p:sp>
        <p:nvSpPr>
          <p:cNvPr id="43" name="Text 41"/>
          <p:cNvSpPr txBox="1"/>
          <p:nvPr/>
        </p:nvSpPr>
        <p:spPr>
          <a:xfrm>
            <a:off x="4709160" y="4135494"/>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$95K</a:t>
            </a:r>
            <a:endParaRPr lang="en-US" sz="1200" dirty="0"/>
          </a:p>
        </p:txBody>
      </p:sp>
      <p:sp>
        <p:nvSpPr>
          <p:cNvPr id="44" name="Text 42"/>
          <p:cNvSpPr txBox="1"/>
          <p:nvPr/>
        </p:nvSpPr>
        <p:spPr>
          <a:xfrm>
            <a:off x="658368" y="4353507"/>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2697480" y="4401469"/>
            <a:ext cx="229669" cy="122087"/>
          </a:xfrm>
          <a:prstGeom prst="rect">
            <a:avLst/>
          </a:prstGeom>
          <a:solidFill>
            <a:srgbClr val="2587C5"/>
          </a:solidFill>
          <a:ln/>
        </p:spPr>
      </p:sp>
      <p:sp>
        <p:nvSpPr>
          <p:cNvPr id="46" name="Text 44"/>
          <p:cNvSpPr txBox="1"/>
          <p:nvPr/>
        </p:nvSpPr>
        <p:spPr>
          <a:xfrm>
            <a:off x="4709160" y="4353507"/>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$93K</a:t>
            </a:r>
            <a:endParaRPr lang="en-US" sz="1200" dirty="0"/>
          </a:p>
        </p:txBody>
      </p:sp>
      <p:sp>
        <p:nvSpPr>
          <p:cNvPr id="47" name="Text 45"/>
          <p:cNvSpPr txBox="1"/>
          <p:nvPr/>
        </p:nvSpPr>
        <p:spPr>
          <a:xfrm>
            <a:off x="658368" y="4571519"/>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8" name="Shape 46"/>
          <p:cNvSpPr/>
          <p:nvPr/>
        </p:nvSpPr>
        <p:spPr>
          <a:xfrm>
            <a:off x="2697480" y="4619481"/>
            <a:ext cx="223401" cy="122087"/>
          </a:xfrm>
          <a:prstGeom prst="rect">
            <a:avLst/>
          </a:prstGeom>
          <a:solidFill>
            <a:srgbClr val="2587C5"/>
          </a:solidFill>
          <a:ln/>
        </p:spPr>
      </p:sp>
      <p:sp>
        <p:nvSpPr>
          <p:cNvPr id="49" name="Text 47"/>
          <p:cNvSpPr txBox="1"/>
          <p:nvPr/>
        </p:nvSpPr>
        <p:spPr>
          <a:xfrm>
            <a:off x="4709160" y="4571519"/>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$91K</a:t>
            </a:r>
            <a:endParaRPr lang="en-US" sz="1200" dirty="0"/>
          </a:p>
        </p:txBody>
      </p:sp>
      <p:sp>
        <p:nvSpPr>
          <p:cNvPr id="50" name="Text 48"/>
          <p:cNvSpPr txBox="1"/>
          <p:nvPr/>
        </p:nvSpPr>
        <p:spPr>
          <a:xfrm>
            <a:off x="658368" y="4789531"/>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1" name="Shape 49"/>
          <p:cNvSpPr/>
          <p:nvPr/>
        </p:nvSpPr>
        <p:spPr>
          <a:xfrm>
            <a:off x="2697480" y="4837494"/>
            <a:ext cx="184669" cy="122087"/>
          </a:xfrm>
          <a:prstGeom prst="rect">
            <a:avLst/>
          </a:prstGeom>
          <a:solidFill>
            <a:srgbClr val="2587C5"/>
          </a:solidFill>
          <a:ln/>
        </p:spPr>
      </p:sp>
      <p:sp>
        <p:nvSpPr>
          <p:cNvPr id="52" name="Text 50"/>
          <p:cNvSpPr txBox="1"/>
          <p:nvPr/>
        </p:nvSpPr>
        <p:spPr>
          <a:xfrm>
            <a:off x="4709160" y="4789531"/>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$75K</a:t>
            </a:r>
            <a:endParaRPr lang="en-US" sz="1200" dirty="0"/>
          </a:p>
        </p:txBody>
      </p:sp>
      <p:sp>
        <p:nvSpPr>
          <p:cNvPr id="53" name="Text 51"/>
          <p:cNvSpPr txBox="1"/>
          <p:nvPr/>
        </p:nvSpPr>
        <p:spPr>
          <a:xfrm>
            <a:off x="658368" y="5007543"/>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2697480" y="5055506"/>
            <a:ext cx="151614" cy="122087"/>
          </a:xfrm>
          <a:prstGeom prst="rect">
            <a:avLst/>
          </a:prstGeom>
          <a:solidFill>
            <a:srgbClr val="2587C5"/>
          </a:solidFill>
          <a:ln/>
        </p:spPr>
      </p:sp>
      <p:sp>
        <p:nvSpPr>
          <p:cNvPr id="55" name="Text 53"/>
          <p:cNvSpPr txBox="1"/>
          <p:nvPr/>
        </p:nvSpPr>
        <p:spPr>
          <a:xfrm>
            <a:off x="4709160" y="5007543"/>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$62K</a:t>
            </a:r>
            <a:endParaRPr lang="en-US" sz="1200" dirty="0"/>
          </a:p>
        </p:txBody>
      </p:sp>
      <p:sp>
        <p:nvSpPr>
          <p:cNvPr id="56" name="Text 54"/>
          <p:cNvSpPr txBox="1"/>
          <p:nvPr/>
        </p:nvSpPr>
        <p:spPr>
          <a:xfrm>
            <a:off x="658368" y="5225555"/>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2697480" y="5273518"/>
            <a:ext cx="86983" cy="122087"/>
          </a:xfrm>
          <a:prstGeom prst="rect">
            <a:avLst/>
          </a:prstGeom>
          <a:solidFill>
            <a:srgbClr val="2587C5"/>
          </a:solidFill>
          <a:ln/>
        </p:spPr>
      </p:sp>
      <p:sp>
        <p:nvSpPr>
          <p:cNvPr id="58" name="Text 56"/>
          <p:cNvSpPr txBox="1"/>
          <p:nvPr/>
        </p:nvSpPr>
        <p:spPr>
          <a:xfrm>
            <a:off x="4709160" y="5225555"/>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$35K</a:t>
            </a:r>
            <a:endParaRPr lang="en-US" sz="1200" dirty="0"/>
          </a:p>
        </p:txBody>
      </p:sp>
      <p:sp>
        <p:nvSpPr>
          <p:cNvPr id="59" name="Text 57"/>
          <p:cNvSpPr txBox="1"/>
          <p:nvPr/>
        </p:nvSpPr>
        <p:spPr>
          <a:xfrm>
            <a:off x="658368" y="5443568"/>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0" name="Shape 58"/>
          <p:cNvSpPr/>
          <p:nvPr/>
        </p:nvSpPr>
        <p:spPr>
          <a:xfrm>
            <a:off x="2697480" y="5491530"/>
            <a:ext cx="37460" cy="122087"/>
          </a:xfrm>
          <a:prstGeom prst="rect">
            <a:avLst/>
          </a:prstGeom>
          <a:solidFill>
            <a:srgbClr val="2587C5"/>
          </a:solidFill>
          <a:ln/>
        </p:spPr>
      </p:sp>
      <p:sp>
        <p:nvSpPr>
          <p:cNvPr id="61" name="Text 59"/>
          <p:cNvSpPr txBox="1"/>
          <p:nvPr/>
        </p:nvSpPr>
        <p:spPr>
          <a:xfrm>
            <a:off x="4709160" y="5443568"/>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$15K</a:t>
            </a:r>
            <a:endParaRPr lang="en-US" sz="1200" dirty="0"/>
          </a:p>
        </p:txBody>
      </p:sp>
      <p:sp>
        <p:nvSpPr>
          <p:cNvPr id="62" name="Text 60"/>
          <p:cNvSpPr txBox="1"/>
          <p:nvPr/>
        </p:nvSpPr>
        <p:spPr>
          <a:xfrm>
            <a:off x="658368" y="5661580"/>
            <a:ext cx="2011680" cy="21801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3" name="Shape 61"/>
          <p:cNvSpPr/>
          <p:nvPr/>
        </p:nvSpPr>
        <p:spPr>
          <a:xfrm>
            <a:off x="2697480" y="5709542"/>
            <a:ext cx="18288" cy="122087"/>
          </a:xfrm>
          <a:prstGeom prst="rect">
            <a:avLst/>
          </a:prstGeom>
          <a:solidFill>
            <a:srgbClr val="2587C5"/>
          </a:solidFill>
          <a:ln/>
        </p:spPr>
      </p:sp>
      <p:sp>
        <p:nvSpPr>
          <p:cNvPr id="64" name="Text 62"/>
          <p:cNvSpPr txBox="1"/>
          <p:nvPr/>
        </p:nvSpPr>
        <p:spPr>
          <a:xfrm>
            <a:off x="4709160" y="5661580"/>
            <a:ext cx="804672" cy="218012"/>
          </a:xfrm>
          <a:prstGeom prst="rect">
            <a:avLst/>
          </a:prstGeom>
          <a:noFill/>
          <a:ln/>
        </p:spPr>
        <p:txBody>
          <a:bodyPr wrap="square" lIns="0" tIns="0" rIns="0" bIns="0" rtlCol="0" anchor="ctr"/>
          <a:lstStyle/>
          <a:p>
            <a:pPr algn="r" indent="0" marL="0">
              <a:buNone/>
            </a:pPr>
            <a:r>
              <a:rPr lang="en-US" sz="1200" b="1" dirty="0">
                <a:solidFill>
                  <a:srgbClr val="0B2C4A"/>
                </a:solidFill>
                <a:latin typeface="Inter" pitchFamily="34" charset="0"/>
                <a:ea typeface="Inter" pitchFamily="34" charset="-122"/>
                <a:cs typeface="Inter" pitchFamily="34" charset="-120"/>
              </a:rPr>
              <a:t>$5K</a:t>
            </a:r>
            <a:endParaRPr lang="en-US" sz="1200" dirty="0"/>
          </a:p>
        </p:txBody>
      </p:sp>
      <p:sp>
        <p:nvSpPr>
          <p:cNvPr id="65" name="Shape 63"/>
          <p:cNvSpPr/>
          <p:nvPr/>
        </p:nvSpPr>
        <p:spPr>
          <a:xfrm>
            <a:off x="5870448" y="1207008"/>
            <a:ext cx="5861304" cy="2336292"/>
          </a:xfrm>
          <a:prstGeom prst="rect">
            <a:avLst/>
          </a:prstGeom>
          <a:solidFill>
            <a:srgbClr val="FFFFFF"/>
          </a:solidFill>
          <a:ln/>
        </p:spPr>
      </p:sp>
      <p:sp>
        <p:nvSpPr>
          <p:cNvPr id="66" name="Text 64"/>
          <p:cNvSpPr txBox="1"/>
          <p:nvPr/>
        </p:nvSpPr>
        <p:spPr>
          <a:xfrm>
            <a:off x="6053328" y="128016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ELR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$180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$197</a:t>
            </a:r>
            <a:endParaRPr lang="en-US" sz="1400" dirty="0"/>
          </a:p>
        </p:txBody>
      </p:sp>
      <p:graphicFrame>
        <p:nvGraphicFramePr>
          <p:cNvPr id="67" name="Chart 0" descr=""/>
          <p:cNvGraphicFramePr/>
          <p:nvPr/>
        </p:nvGraphicFramePr>
        <p:xfrm>
          <a:off x="5916168" y="1591056"/>
          <a:ext cx="5769864" cy="1897380"/>
        </p:xfrm>
        <a:graphic>
          <a:graphicData uri="http://schemas.openxmlformats.org/drawingml/2006/chart">
            <c:chart xmlns:c="http://schemas.openxmlformats.org/drawingml/2006/chart" r:id="rId2"/>
          </a:graphicData>
        </a:graphic>
      </p:graphicFrame>
      <p:sp>
        <p:nvSpPr>
          <p:cNvPr id="68" name="Shape 65"/>
          <p:cNvSpPr/>
          <p:nvPr/>
        </p:nvSpPr>
        <p:spPr>
          <a:xfrm>
            <a:off x="5870448" y="3653028"/>
            <a:ext cx="5861304" cy="2336292"/>
          </a:xfrm>
          <a:prstGeom prst="rect">
            <a:avLst/>
          </a:prstGeom>
          <a:solidFill>
            <a:srgbClr val="FFFFFF"/>
          </a:solidFill>
          <a:ln/>
        </p:spPr>
      </p:sp>
      <p:sp>
        <p:nvSpPr>
          <p:cNvPr id="69" name="Text 66"/>
          <p:cNvSpPr txBox="1"/>
          <p:nvPr/>
        </p:nvSpPr>
        <p:spPr>
          <a:xfrm>
            <a:off x="6053328" y="3726180"/>
            <a:ext cx="5495544" cy="329184"/>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WARRANTY PARTS GP %    </a:t>
            </a:r>
            <a:pPr indent="0" marL="0">
              <a:buNone/>
            </a:pPr>
            <a:r>
              <a:rPr lang="en-US" sz="1400" dirty="0">
                <a:solidFill>
                  <a:srgbClr val="9AA3AD"/>
                </a:solidFill>
                <a:latin typeface="Inter" pitchFamily="34" charset="0"/>
                <a:ea typeface="Inter" pitchFamily="34" charset="-122"/>
                <a:cs typeface="Inter" pitchFamily="34" charset="-120"/>
              </a:rPr>
              <a:t>2025 </a:t>
            </a:r>
            <a:pPr indent="0" marL="0">
              <a:buNone/>
            </a:pPr>
            <a:r>
              <a:rPr lang="en-US" sz="1600" b="1" dirty="0">
                <a:solidFill>
                  <a:srgbClr val="9AA3AD"/>
                </a:solidFill>
                <a:latin typeface="Inter" pitchFamily="34" charset="0"/>
                <a:ea typeface="Inter" pitchFamily="34" charset="-122"/>
                <a:cs typeface="Inter" pitchFamily="34" charset="-120"/>
              </a:rPr>
              <a:t>42.6%    </a:t>
            </a:r>
            <a:pPr indent="0" marL="0">
              <a:buNone/>
            </a:pPr>
            <a:r>
              <a:rPr lang="en-US" sz="1400" dirty="0">
                <a:solidFill>
                  <a:srgbClr val="2587C5"/>
                </a:solidFill>
                <a:latin typeface="Inter" pitchFamily="34" charset="0"/>
                <a:ea typeface="Inter" pitchFamily="34" charset="-122"/>
                <a:cs typeface="Inter" pitchFamily="34" charset="-120"/>
              </a:rPr>
              <a:t>2026 </a:t>
            </a:r>
            <a:pPr indent="0" marL="0">
              <a:buNone/>
            </a:pPr>
            <a:r>
              <a:rPr lang="en-US" sz="1600" b="1" dirty="0">
                <a:solidFill>
                  <a:srgbClr val="2587C5"/>
                </a:solidFill>
                <a:latin typeface="Inter" pitchFamily="34" charset="0"/>
                <a:ea typeface="Inter" pitchFamily="34" charset="-122"/>
                <a:cs typeface="Inter" pitchFamily="34" charset="-120"/>
              </a:rPr>
              <a:t>44.7%</a:t>
            </a:r>
            <a:endParaRPr lang="en-US" sz="1400" dirty="0"/>
          </a:p>
        </p:txBody>
      </p:sp>
      <p:graphicFrame>
        <p:nvGraphicFramePr>
          <p:cNvPr id="70" name="Chart 1" descr=""/>
          <p:cNvGraphicFramePr/>
          <p:nvPr/>
        </p:nvGraphicFramePr>
        <p:xfrm>
          <a:off x="5916168" y="4037076"/>
          <a:ext cx="5769864" cy="1897380"/>
        </p:xfrm>
        <a:graphic>
          <a:graphicData uri="http://schemas.openxmlformats.org/drawingml/2006/chart">
            <c:chart xmlns:c="http://schemas.openxmlformats.org/drawingml/2006/chart" r:id="rId3"/>
          </a:graphicData>
        </a:graphic>
      </p:graphicFrame>
      <p:sp>
        <p:nvSpPr>
          <p:cNvPr id="71" name="Shape 67"/>
          <p:cNvSpPr/>
          <p:nvPr/>
        </p:nvSpPr>
        <p:spPr>
          <a:xfrm>
            <a:off x="457200" y="6126480"/>
            <a:ext cx="11274552" cy="615696"/>
          </a:xfrm>
          <a:prstGeom prst="rect">
            <a:avLst/>
          </a:prstGeom>
          <a:solidFill>
            <a:srgbClr val="EDF4FA"/>
          </a:solidFill>
          <a:ln/>
        </p:spPr>
      </p:sp>
      <p:sp>
        <p:nvSpPr>
          <p:cNvPr id="72"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$3,788,200 in gross profit added by rate increases approved at 19 stores this year. Warranty ELR is up $17 and parts margin 2.1 pts: higher rates draw more audits, so every claim has to hold up.</a:t>
            </a:r>
            <a:endParaRPr lang="en-US" sz="1600" dirty="0"/>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Gets Claims Debited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What auditors check: the causes in the six audits, plus supporting evidence</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3496056" cy="1888236"/>
          </a:xfrm>
          <a:prstGeom prst="rect">
            <a:avLst/>
          </a:prstGeom>
          <a:solidFill>
            <a:srgbClr val="F7F7F7"/>
          </a:solidFill>
          <a:ln/>
        </p:spPr>
      </p:sp>
      <p:sp>
        <p:nvSpPr>
          <p:cNvPr id="9" name="Shape 7"/>
          <p:cNvSpPr/>
          <p:nvPr/>
        </p:nvSpPr>
        <p:spPr>
          <a:xfrm>
            <a:off x="685800" y="1865376"/>
            <a:ext cx="54864" cy="1888236"/>
          </a:xfrm>
          <a:prstGeom prst="rect">
            <a:avLst/>
          </a:prstGeom>
          <a:solidFill>
            <a:srgbClr val="C2352F"/>
          </a:solidFill>
          <a:ln/>
        </p:spPr>
      </p:sp>
      <p:sp>
        <p:nvSpPr>
          <p:cNvPr id="10" name="Text 8"/>
          <p:cNvSpPr txBox="1"/>
          <p:nvPr/>
        </p:nvSpPr>
        <p:spPr>
          <a:xfrm>
            <a:off x="886968"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Written documentation</a:t>
            </a:r>
            <a:endParaRPr lang="en-US" sz="1800" dirty="0"/>
          </a:p>
        </p:txBody>
      </p:sp>
      <p:sp>
        <p:nvSpPr>
          <p:cNvPr id="11" name="Text 9"/>
          <p:cNvSpPr txBox="1"/>
          <p:nvPr/>
        </p:nvSpPr>
        <p:spPr>
          <a:xfrm>
            <a:off x="886968"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Complaint, cause and correction written on the RO, and matching what was claimed</a:t>
            </a:r>
            <a:endParaRPr lang="en-US" sz="1500" dirty="0"/>
          </a:p>
        </p:txBody>
      </p:sp>
      <p:sp>
        <p:nvSpPr>
          <p:cNvPr id="12" name="Shape 10"/>
          <p:cNvSpPr/>
          <p:nvPr/>
        </p:nvSpPr>
        <p:spPr>
          <a:xfrm>
            <a:off x="4346448" y="1865376"/>
            <a:ext cx="3496056" cy="1888236"/>
          </a:xfrm>
          <a:prstGeom prst="rect">
            <a:avLst/>
          </a:prstGeom>
          <a:solidFill>
            <a:srgbClr val="F7F7F7"/>
          </a:solidFill>
          <a:ln/>
        </p:spPr>
      </p:sp>
      <p:sp>
        <p:nvSpPr>
          <p:cNvPr id="13" name="Shape 11"/>
          <p:cNvSpPr/>
          <p:nvPr/>
        </p:nvSpPr>
        <p:spPr>
          <a:xfrm>
            <a:off x="4346448" y="1865376"/>
            <a:ext cx="54864" cy="1888236"/>
          </a:xfrm>
          <a:prstGeom prst="rect">
            <a:avLst/>
          </a:prstGeom>
          <a:solidFill>
            <a:srgbClr val="C2352F"/>
          </a:solidFill>
          <a:ln/>
        </p:spPr>
      </p:sp>
      <p:sp>
        <p:nvSpPr>
          <p:cNvPr id="14" name="Text 12"/>
          <p:cNvSpPr txBox="1"/>
          <p:nvPr/>
        </p:nvSpPr>
        <p:spPr>
          <a:xfrm>
            <a:off x="4547616"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Required signatures</a:t>
            </a:r>
            <a:endParaRPr lang="en-US" sz="1800" dirty="0"/>
          </a:p>
        </p:txBody>
      </p:sp>
      <p:sp>
        <p:nvSpPr>
          <p:cNvPr id="15" name="Text 13"/>
          <p:cNvSpPr txBox="1"/>
          <p:nvPr/>
        </p:nvSpPr>
        <p:spPr>
          <a:xfrm>
            <a:off x="4547616"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Manager sign-off on added repairs; customer and manager signatures on in-stock units</a:t>
            </a:r>
            <a:endParaRPr lang="en-US" sz="1500" dirty="0"/>
          </a:p>
        </p:txBody>
      </p:sp>
      <p:sp>
        <p:nvSpPr>
          <p:cNvPr id="16" name="Shape 14"/>
          <p:cNvSpPr/>
          <p:nvPr/>
        </p:nvSpPr>
        <p:spPr>
          <a:xfrm>
            <a:off x="8007096" y="1865376"/>
            <a:ext cx="3496056" cy="1888236"/>
          </a:xfrm>
          <a:prstGeom prst="rect">
            <a:avLst/>
          </a:prstGeom>
          <a:solidFill>
            <a:srgbClr val="F7F7F7"/>
          </a:solidFill>
          <a:ln/>
        </p:spPr>
      </p:sp>
      <p:sp>
        <p:nvSpPr>
          <p:cNvPr id="17" name="Shape 15"/>
          <p:cNvSpPr/>
          <p:nvPr/>
        </p:nvSpPr>
        <p:spPr>
          <a:xfrm>
            <a:off x="8007096" y="1865376"/>
            <a:ext cx="54864" cy="1888236"/>
          </a:xfrm>
          <a:prstGeom prst="rect">
            <a:avLst/>
          </a:prstGeom>
          <a:solidFill>
            <a:srgbClr val="C2352F"/>
          </a:solidFill>
          <a:ln/>
        </p:spPr>
      </p:sp>
      <p:sp>
        <p:nvSpPr>
          <p:cNvPr id="18" name="Text 16"/>
          <p:cNvSpPr txBox="1"/>
          <p:nvPr/>
        </p:nvSpPr>
        <p:spPr>
          <a:xfrm>
            <a:off x="8208264" y="1993392"/>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Supporting evidence</a:t>
            </a:r>
            <a:endParaRPr lang="en-US" sz="1800" dirty="0"/>
          </a:p>
        </p:txBody>
      </p:sp>
      <p:sp>
        <p:nvSpPr>
          <p:cNvPr id="19" name="Text 17"/>
          <p:cNvSpPr txBox="1"/>
          <p:nvPr/>
        </p:nvSpPr>
        <p:spPr>
          <a:xfrm>
            <a:off x="8208264" y="2724912"/>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Photos of the failed part, test results and proof the required procedure was followed, where the manufacturer asks for it</a:t>
            </a:r>
            <a:endParaRPr lang="en-US" sz="1500" dirty="0"/>
          </a:p>
        </p:txBody>
      </p:sp>
      <p:sp>
        <p:nvSpPr>
          <p:cNvPr id="20" name="Shape 18"/>
          <p:cNvSpPr/>
          <p:nvPr/>
        </p:nvSpPr>
        <p:spPr>
          <a:xfrm>
            <a:off x="685800" y="3918204"/>
            <a:ext cx="3496056" cy="1888236"/>
          </a:xfrm>
          <a:prstGeom prst="rect">
            <a:avLst/>
          </a:prstGeom>
          <a:solidFill>
            <a:srgbClr val="F7F7F7"/>
          </a:solidFill>
          <a:ln/>
        </p:spPr>
      </p:sp>
      <p:sp>
        <p:nvSpPr>
          <p:cNvPr id="21" name="Shape 19"/>
          <p:cNvSpPr/>
          <p:nvPr/>
        </p:nvSpPr>
        <p:spPr>
          <a:xfrm>
            <a:off x="685800" y="3918204"/>
            <a:ext cx="54864" cy="1888236"/>
          </a:xfrm>
          <a:prstGeom prst="rect">
            <a:avLst/>
          </a:prstGeom>
          <a:solidFill>
            <a:srgbClr val="C2352F"/>
          </a:solidFill>
          <a:ln/>
        </p:spPr>
      </p:sp>
      <p:sp>
        <p:nvSpPr>
          <p:cNvPr id="22" name="Text 20"/>
          <p:cNvSpPr txBox="1"/>
          <p:nvPr/>
        </p:nvSpPr>
        <p:spPr>
          <a:xfrm>
            <a:off x="886968"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Out mileage</a:t>
            </a:r>
            <a:endParaRPr lang="en-US" sz="1800" dirty="0"/>
          </a:p>
        </p:txBody>
      </p:sp>
      <p:sp>
        <p:nvSpPr>
          <p:cNvPr id="23" name="Text 21"/>
          <p:cNvSpPr txBox="1"/>
          <p:nvPr/>
        </p:nvSpPr>
        <p:spPr>
          <a:xfrm>
            <a:off x="886968"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Recorded on every RO and consistent with the mileage in</a:t>
            </a:r>
            <a:endParaRPr lang="en-US" sz="1500" dirty="0"/>
          </a:p>
        </p:txBody>
      </p:sp>
      <p:sp>
        <p:nvSpPr>
          <p:cNvPr id="24" name="Shape 22"/>
          <p:cNvSpPr/>
          <p:nvPr/>
        </p:nvSpPr>
        <p:spPr>
          <a:xfrm>
            <a:off x="4346448" y="3918204"/>
            <a:ext cx="3496056" cy="1888236"/>
          </a:xfrm>
          <a:prstGeom prst="rect">
            <a:avLst/>
          </a:prstGeom>
          <a:solidFill>
            <a:srgbClr val="F7F7F7"/>
          </a:solidFill>
          <a:ln/>
        </p:spPr>
      </p:sp>
      <p:sp>
        <p:nvSpPr>
          <p:cNvPr id="25" name="Shape 23"/>
          <p:cNvSpPr/>
          <p:nvPr/>
        </p:nvSpPr>
        <p:spPr>
          <a:xfrm>
            <a:off x="4346448" y="3918204"/>
            <a:ext cx="54864" cy="1888236"/>
          </a:xfrm>
          <a:prstGeom prst="rect">
            <a:avLst/>
          </a:prstGeom>
          <a:solidFill>
            <a:srgbClr val="C2352F"/>
          </a:solidFill>
          <a:ln/>
        </p:spPr>
      </p:sp>
      <p:sp>
        <p:nvSpPr>
          <p:cNvPr id="26" name="Text 24"/>
          <p:cNvSpPr txBox="1"/>
          <p:nvPr/>
        </p:nvSpPr>
        <p:spPr>
          <a:xfrm>
            <a:off x="4547616"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Punch times</a:t>
            </a:r>
            <a:endParaRPr lang="en-US" sz="1800" dirty="0"/>
          </a:p>
        </p:txBody>
      </p:sp>
      <p:sp>
        <p:nvSpPr>
          <p:cNvPr id="27" name="Text 25"/>
          <p:cNvSpPr txBox="1"/>
          <p:nvPr/>
        </p:nvSpPr>
        <p:spPr>
          <a:xfrm>
            <a:off x="4547616"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Technician clock times on the RO support the hours claimed</a:t>
            </a:r>
            <a:endParaRPr lang="en-US" sz="1500" dirty="0"/>
          </a:p>
        </p:txBody>
      </p:sp>
      <p:sp>
        <p:nvSpPr>
          <p:cNvPr id="28" name="Shape 26"/>
          <p:cNvSpPr/>
          <p:nvPr/>
        </p:nvSpPr>
        <p:spPr>
          <a:xfrm>
            <a:off x="8007096" y="3918204"/>
            <a:ext cx="3496056" cy="1888236"/>
          </a:xfrm>
          <a:prstGeom prst="rect">
            <a:avLst/>
          </a:prstGeom>
          <a:solidFill>
            <a:srgbClr val="F7F7F7"/>
          </a:solidFill>
          <a:ln/>
        </p:spPr>
      </p:sp>
      <p:sp>
        <p:nvSpPr>
          <p:cNvPr id="29" name="Shape 27"/>
          <p:cNvSpPr/>
          <p:nvPr/>
        </p:nvSpPr>
        <p:spPr>
          <a:xfrm>
            <a:off x="8007096" y="3918204"/>
            <a:ext cx="54864" cy="1888236"/>
          </a:xfrm>
          <a:prstGeom prst="rect">
            <a:avLst/>
          </a:prstGeom>
          <a:solidFill>
            <a:srgbClr val="C2352F"/>
          </a:solidFill>
          <a:ln/>
        </p:spPr>
      </p:sp>
      <p:sp>
        <p:nvSpPr>
          <p:cNvPr id="30" name="Text 28"/>
          <p:cNvSpPr txBox="1"/>
          <p:nvPr/>
        </p:nvSpPr>
        <p:spPr>
          <a:xfrm>
            <a:off x="8208264" y="4046220"/>
            <a:ext cx="3166872"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Manufacturer authorization</a:t>
            </a:r>
            <a:endParaRPr lang="en-US" sz="1800" dirty="0"/>
          </a:p>
        </p:txBody>
      </p:sp>
      <p:sp>
        <p:nvSpPr>
          <p:cNvPr id="31" name="Text 29"/>
          <p:cNvSpPr txBox="1"/>
          <p:nvPr/>
        </p:nvSpPr>
        <p:spPr>
          <a:xfrm>
            <a:off x="8208264" y="4777740"/>
            <a:ext cx="3166872" cy="918972"/>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Prior approval on file wherever the manufacturer requires it</a:t>
            </a:r>
            <a:endParaRPr lang="en-US" sz="1500" dirty="0"/>
          </a:p>
        </p:txBody>
      </p:sp>
      <p:sp>
        <p:nvSpPr>
          <p:cNvPr id="32" name="Shape 30"/>
          <p:cNvSpPr/>
          <p:nvPr/>
        </p:nvSpPr>
        <p:spPr>
          <a:xfrm>
            <a:off x="457200" y="6126480"/>
            <a:ext cx="11274552" cy="615696"/>
          </a:xfrm>
          <a:prstGeom prst="rect">
            <a:avLst/>
          </a:prstGeom>
          <a:solidFill>
            <a:srgbClr val="FBEBEA"/>
          </a:solidFill>
          <a:ln/>
        </p:spPr>
      </p:sp>
      <p:sp>
        <p:nvSpPr>
          <p:cNvPr id="33" name="Text 31"/>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Six audits took back over $400,000, more than a tenth of what rate increases brought in this year. Every cause here is documentation the store controls.</a:t>
            </a:r>
            <a:endParaRPr lang="en-US" sz="1600" dirty="0"/>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Keep the Claim Paid</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85800" y="1344168"/>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compliance, in five steps</a:t>
            </a:r>
            <a:endParaRPr lang="en-US" sz="1500" dirty="0"/>
          </a:p>
        </p:txBody>
      </p:sp>
      <p:sp>
        <p:nvSpPr>
          <p:cNvPr id="7" name="Shape 5"/>
          <p:cNvSpPr/>
          <p:nvPr/>
        </p:nvSpPr>
        <p:spPr>
          <a:xfrm>
            <a:off x="685800" y="1691640"/>
            <a:ext cx="10817352" cy="10973"/>
          </a:xfrm>
          <a:prstGeom prst="rect">
            <a:avLst/>
          </a:prstGeom>
          <a:solidFill>
            <a:srgbClr val="1A1A1A"/>
          </a:solidFill>
          <a:ln/>
        </p:spPr>
      </p:sp>
      <p:sp>
        <p:nvSpPr>
          <p:cNvPr id="8" name="Shape 6"/>
          <p:cNvSpPr/>
          <p:nvPr/>
        </p:nvSpPr>
        <p:spPr>
          <a:xfrm>
            <a:off x="685800" y="1865376"/>
            <a:ext cx="2031797" cy="3941064"/>
          </a:xfrm>
          <a:prstGeom prst="rect">
            <a:avLst/>
          </a:prstGeom>
          <a:solidFill>
            <a:srgbClr val="F7F7F7"/>
          </a:solidFill>
          <a:ln/>
        </p:spPr>
      </p:sp>
      <p:sp>
        <p:nvSpPr>
          <p:cNvPr id="9" name="Shape 7"/>
          <p:cNvSpPr/>
          <p:nvPr/>
        </p:nvSpPr>
        <p:spPr>
          <a:xfrm>
            <a:off x="685800" y="1865376"/>
            <a:ext cx="54864" cy="3941064"/>
          </a:xfrm>
          <a:prstGeom prst="rect">
            <a:avLst/>
          </a:prstGeom>
          <a:solidFill>
            <a:srgbClr val="2587C5"/>
          </a:solidFill>
          <a:ln/>
        </p:spPr>
      </p:sp>
      <p:sp>
        <p:nvSpPr>
          <p:cNvPr id="10" name="Text 8"/>
          <p:cNvSpPr txBox="1"/>
          <p:nvPr/>
        </p:nvSpPr>
        <p:spPr>
          <a:xfrm>
            <a:off x="886968"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1  Documented policies</a:t>
            </a:r>
            <a:endParaRPr lang="en-US" sz="1800" dirty="0"/>
          </a:p>
        </p:txBody>
      </p:sp>
      <p:sp>
        <p:nvSpPr>
          <p:cNvPr id="11" name="Text 9"/>
          <p:cNvSpPr txBox="1"/>
          <p:nvPr/>
        </p:nvSpPr>
        <p:spPr>
          <a:xfrm>
            <a:off x="886968"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Each manufacturer's current warranty policy manual, where the team can reach it</a:t>
            </a:r>
            <a:endParaRPr lang="en-US" sz="1500" dirty="0"/>
          </a:p>
        </p:txBody>
      </p:sp>
      <p:sp>
        <p:nvSpPr>
          <p:cNvPr id="12" name="Shape 10"/>
          <p:cNvSpPr/>
          <p:nvPr/>
        </p:nvSpPr>
        <p:spPr>
          <a:xfrm>
            <a:off x="2882189" y="1865376"/>
            <a:ext cx="2031797" cy="3941064"/>
          </a:xfrm>
          <a:prstGeom prst="rect">
            <a:avLst/>
          </a:prstGeom>
          <a:solidFill>
            <a:srgbClr val="F7F7F7"/>
          </a:solidFill>
          <a:ln/>
        </p:spPr>
      </p:sp>
      <p:sp>
        <p:nvSpPr>
          <p:cNvPr id="13" name="Shape 11"/>
          <p:cNvSpPr/>
          <p:nvPr/>
        </p:nvSpPr>
        <p:spPr>
          <a:xfrm>
            <a:off x="2882189" y="1865376"/>
            <a:ext cx="54864" cy="3941064"/>
          </a:xfrm>
          <a:prstGeom prst="rect">
            <a:avLst/>
          </a:prstGeom>
          <a:solidFill>
            <a:srgbClr val="2587C5"/>
          </a:solidFill>
          <a:ln/>
        </p:spPr>
      </p:sp>
      <p:sp>
        <p:nvSpPr>
          <p:cNvPr id="14" name="Text 12"/>
          <p:cNvSpPr txBox="1"/>
          <p:nvPr/>
        </p:nvSpPr>
        <p:spPr>
          <a:xfrm>
            <a:off x="3083357"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2  Defined process</a:t>
            </a:r>
            <a:endParaRPr lang="en-US" sz="1800" dirty="0"/>
          </a:p>
        </p:txBody>
      </p:sp>
      <p:sp>
        <p:nvSpPr>
          <p:cNvPr id="15" name="Text 13"/>
          <p:cNvSpPr txBox="1"/>
          <p:nvPr/>
        </p:nvSpPr>
        <p:spPr>
          <a:xfrm>
            <a:off x="3083357"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Who writes, who approves, who submits: every claim handled the same way</a:t>
            </a:r>
            <a:endParaRPr lang="en-US" sz="1500" dirty="0"/>
          </a:p>
        </p:txBody>
      </p:sp>
      <p:sp>
        <p:nvSpPr>
          <p:cNvPr id="16" name="Shape 14"/>
          <p:cNvSpPr/>
          <p:nvPr/>
        </p:nvSpPr>
        <p:spPr>
          <a:xfrm>
            <a:off x="5078578" y="1865376"/>
            <a:ext cx="2031797" cy="3941064"/>
          </a:xfrm>
          <a:prstGeom prst="rect">
            <a:avLst/>
          </a:prstGeom>
          <a:solidFill>
            <a:srgbClr val="F7F7F7"/>
          </a:solidFill>
          <a:ln/>
        </p:spPr>
      </p:sp>
      <p:sp>
        <p:nvSpPr>
          <p:cNvPr id="17" name="Shape 15"/>
          <p:cNvSpPr/>
          <p:nvPr/>
        </p:nvSpPr>
        <p:spPr>
          <a:xfrm>
            <a:off x="5078578" y="1865376"/>
            <a:ext cx="54864" cy="3941064"/>
          </a:xfrm>
          <a:prstGeom prst="rect">
            <a:avLst/>
          </a:prstGeom>
          <a:solidFill>
            <a:srgbClr val="2587C5"/>
          </a:solidFill>
          <a:ln/>
        </p:spPr>
      </p:sp>
      <p:sp>
        <p:nvSpPr>
          <p:cNvPr id="18" name="Text 16"/>
          <p:cNvSpPr txBox="1"/>
          <p:nvPr/>
        </p:nvSpPr>
        <p:spPr>
          <a:xfrm>
            <a:off x="5279746"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3  Create awareness</a:t>
            </a:r>
            <a:endParaRPr lang="en-US" sz="1800" dirty="0"/>
          </a:p>
        </p:txBody>
      </p:sp>
      <p:sp>
        <p:nvSpPr>
          <p:cNvPr id="19" name="Text 17"/>
          <p:cNvSpPr txBox="1"/>
          <p:nvPr/>
        </p:nvSpPr>
        <p:spPr>
          <a:xfrm>
            <a:off x="5279746"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Advisors, technicians and warranty admins know what an auditor checks</a:t>
            </a:r>
            <a:endParaRPr lang="en-US" sz="1500" dirty="0"/>
          </a:p>
        </p:txBody>
      </p:sp>
      <p:sp>
        <p:nvSpPr>
          <p:cNvPr id="20" name="Shape 18"/>
          <p:cNvSpPr/>
          <p:nvPr/>
        </p:nvSpPr>
        <p:spPr>
          <a:xfrm>
            <a:off x="7274966" y="1865376"/>
            <a:ext cx="2031797" cy="3941064"/>
          </a:xfrm>
          <a:prstGeom prst="rect">
            <a:avLst/>
          </a:prstGeom>
          <a:solidFill>
            <a:srgbClr val="F7F7F7"/>
          </a:solidFill>
          <a:ln/>
        </p:spPr>
      </p:sp>
      <p:sp>
        <p:nvSpPr>
          <p:cNvPr id="21" name="Shape 19"/>
          <p:cNvSpPr/>
          <p:nvPr/>
        </p:nvSpPr>
        <p:spPr>
          <a:xfrm>
            <a:off x="7274966" y="1865376"/>
            <a:ext cx="54864" cy="3941064"/>
          </a:xfrm>
          <a:prstGeom prst="rect">
            <a:avLst/>
          </a:prstGeom>
          <a:solidFill>
            <a:srgbClr val="2587C5"/>
          </a:solidFill>
          <a:ln/>
        </p:spPr>
      </p:sp>
      <p:sp>
        <p:nvSpPr>
          <p:cNvPr id="22" name="Text 20"/>
          <p:cNvSpPr txBox="1"/>
          <p:nvPr/>
        </p:nvSpPr>
        <p:spPr>
          <a:xfrm>
            <a:off x="7476134"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4  Safety nets</a:t>
            </a:r>
            <a:endParaRPr lang="en-US" sz="1800" dirty="0"/>
          </a:p>
        </p:txBody>
      </p:sp>
      <p:sp>
        <p:nvSpPr>
          <p:cNvPr id="23" name="Text 21"/>
          <p:cNvSpPr txBox="1"/>
          <p:nvPr/>
        </p:nvSpPr>
        <p:spPr>
          <a:xfrm>
            <a:off x="7476134"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Signatures, out mileage, punch times and authorizations checked before the claim goes in</a:t>
            </a:r>
            <a:endParaRPr lang="en-US" sz="1500" dirty="0"/>
          </a:p>
        </p:txBody>
      </p:sp>
      <p:sp>
        <p:nvSpPr>
          <p:cNvPr id="24" name="Shape 22"/>
          <p:cNvSpPr/>
          <p:nvPr/>
        </p:nvSpPr>
        <p:spPr>
          <a:xfrm>
            <a:off x="9471355" y="1865376"/>
            <a:ext cx="2031797" cy="3941064"/>
          </a:xfrm>
          <a:prstGeom prst="rect">
            <a:avLst/>
          </a:prstGeom>
          <a:solidFill>
            <a:srgbClr val="F7F7F7"/>
          </a:solidFill>
          <a:ln/>
        </p:spPr>
      </p:sp>
      <p:sp>
        <p:nvSpPr>
          <p:cNvPr id="25" name="Shape 23"/>
          <p:cNvSpPr/>
          <p:nvPr/>
        </p:nvSpPr>
        <p:spPr>
          <a:xfrm>
            <a:off x="9471355" y="1865376"/>
            <a:ext cx="54864" cy="3941064"/>
          </a:xfrm>
          <a:prstGeom prst="rect">
            <a:avLst/>
          </a:prstGeom>
          <a:solidFill>
            <a:srgbClr val="2587C5"/>
          </a:solidFill>
          <a:ln/>
        </p:spPr>
      </p:sp>
      <p:sp>
        <p:nvSpPr>
          <p:cNvPr id="26" name="Text 24"/>
          <p:cNvSpPr txBox="1"/>
          <p:nvPr/>
        </p:nvSpPr>
        <p:spPr>
          <a:xfrm>
            <a:off x="9672523" y="1993392"/>
            <a:ext cx="1702613" cy="640080"/>
          </a:xfrm>
          <a:prstGeom prst="rect">
            <a:avLst/>
          </a:prstGeom>
          <a:noFill/>
          <a:ln/>
        </p:spPr>
        <p:txBody>
          <a:bodyPr wrap="square" lIns="0" tIns="0" rIns="0" bIns="0" rtlCol="0" anchor="t"/>
          <a:lstStyle/>
          <a:p>
            <a:pPr indent="0" marL="0">
              <a:buNone/>
            </a:pPr>
            <a:r>
              <a:rPr lang="en-US" sz="1800" b="1" dirty="0">
                <a:solidFill>
                  <a:srgbClr val="1A1A1A"/>
                </a:solidFill>
                <a:latin typeface="Inter" pitchFamily="34" charset="0"/>
                <a:ea typeface="Inter" pitchFamily="34" charset="-122"/>
                <a:cs typeface="Inter" pitchFamily="34" charset="-120"/>
              </a:rPr>
              <a:t>5  Spot-check and self-audit</a:t>
            </a:r>
            <a:endParaRPr lang="en-US" sz="1800" dirty="0"/>
          </a:p>
        </p:txBody>
      </p:sp>
      <p:sp>
        <p:nvSpPr>
          <p:cNvPr id="27" name="Text 25"/>
          <p:cNvSpPr txBox="1"/>
          <p:nvPr/>
        </p:nvSpPr>
        <p:spPr>
          <a:xfrm>
            <a:off x="9672523" y="2724912"/>
            <a:ext cx="1702613" cy="2971800"/>
          </a:xfrm>
          <a:prstGeom prst="rect">
            <a:avLst/>
          </a:prstGeom>
          <a:noFill/>
          <a:ln/>
        </p:spPr>
        <p:txBody>
          <a:bodyPr wrap="square" lIns="0" tIns="0" rIns="0" bIns="0" rtlCol="0" anchor="t"/>
          <a:lstStyle/>
          <a:p>
            <a:pPr indent="0" marL="0">
              <a:buNone/>
            </a:pPr>
            <a:r>
              <a:rPr lang="en-US" sz="1500" dirty="0">
                <a:solidFill>
                  <a:srgbClr val="595959"/>
                </a:solidFill>
                <a:latin typeface="Inter" pitchFamily="34" charset="0"/>
                <a:ea typeface="Inter" pitchFamily="34" charset="-122"/>
                <a:cs typeface="Inter" pitchFamily="34" charset="-120"/>
              </a:rPr>
              <a:t>Pull warranty ROs every month and audit them the way the factory will</a:t>
            </a:r>
            <a:endParaRPr lang="en-US" sz="1500" dirty="0"/>
          </a:p>
        </p:txBody>
      </p:sp>
      <p:sp>
        <p:nvSpPr>
          <p:cNvPr id="28" name="Shape 26"/>
          <p:cNvSpPr/>
          <p:nvPr/>
        </p:nvSpPr>
        <p:spPr>
          <a:xfrm>
            <a:off x="457200" y="6126480"/>
            <a:ext cx="11274552" cy="371856"/>
          </a:xfrm>
          <a:prstGeom prst="rect">
            <a:avLst/>
          </a:prstGeom>
          <a:solidFill>
            <a:srgbClr val="EDF4FA"/>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The General Manager is responsible for making sure warranty policies and procedures are followed.</a:t>
            </a:r>
            <a:endParaRPr lang="en-US" sz="1600" dirty="0"/>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$44.78M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$47.07M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+$2.29M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Warranty gross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+$2.29M (+5.1%) of warranty gross year to date; 6 of nine months ahead of 2025, best September at +$877K. This is money the manufacturer owes us: process keeps it.</a:t>
            </a:r>
            <a:endParaRPr lang="en-US" sz="1600" dirty="0"/>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$47.07M</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3" name="Shape 11"/>
          <p:cNvSpPr/>
          <p:nvPr/>
        </p:nvSpPr>
        <p:spPr>
          <a:xfrm>
            <a:off x="2980944" y="1911860"/>
            <a:ext cx="1828800" cy="110352"/>
          </a:xfrm>
          <a:prstGeom prst="rect">
            <a:avLst/>
          </a:prstGeom>
          <a:solidFill>
            <a:srgbClr val="2587C5"/>
          </a:solidFill>
          <a:ln/>
        </p:spPr>
      </p:sp>
      <p:sp>
        <p:nvSpPr>
          <p:cNvPr id="14" name="Text 12"/>
          <p:cNvSpPr txBox="1"/>
          <p:nvPr/>
        </p:nvSpPr>
        <p:spPr>
          <a:xfrm>
            <a:off x="4855464"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$6.13M</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7" name="Shape 15"/>
          <p:cNvSpPr/>
          <p:nvPr/>
        </p:nvSpPr>
        <p:spPr>
          <a:xfrm>
            <a:off x="2980944" y="2151755"/>
            <a:ext cx="1575158" cy="110352"/>
          </a:xfrm>
          <a:prstGeom prst="rect">
            <a:avLst/>
          </a:prstGeom>
          <a:solidFill>
            <a:srgbClr val="2587C5"/>
          </a:solidFill>
          <a:ln/>
        </p:spPr>
      </p:sp>
      <p:sp>
        <p:nvSpPr>
          <p:cNvPr id="18" name="Text 16"/>
          <p:cNvSpPr txBox="1"/>
          <p:nvPr/>
        </p:nvSpPr>
        <p:spPr>
          <a:xfrm>
            <a:off x="4855464"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$5.28M</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391651"/>
            <a:ext cx="1260145" cy="110352"/>
          </a:xfrm>
          <a:prstGeom prst="rect">
            <a:avLst/>
          </a:prstGeom>
          <a:solidFill>
            <a:srgbClr val="2587C5"/>
          </a:solidFill>
          <a:ln/>
        </p:spPr>
      </p:sp>
      <p:sp>
        <p:nvSpPr>
          <p:cNvPr id="22" name="Text 20"/>
          <p:cNvSpPr txBox="1"/>
          <p:nvPr/>
        </p:nvSpPr>
        <p:spPr>
          <a:xfrm>
            <a:off x="4855464"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$4.23M</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5" name="Shape 23"/>
          <p:cNvSpPr/>
          <p:nvPr/>
        </p:nvSpPr>
        <p:spPr>
          <a:xfrm>
            <a:off x="2980944" y="2631546"/>
            <a:ext cx="1234738" cy="110352"/>
          </a:xfrm>
          <a:prstGeom prst="rect">
            <a:avLst/>
          </a:prstGeom>
          <a:solidFill>
            <a:srgbClr val="2587C5"/>
          </a:solidFill>
          <a:ln/>
        </p:spPr>
      </p:sp>
      <p:sp>
        <p:nvSpPr>
          <p:cNvPr id="26" name="Text 24"/>
          <p:cNvSpPr txBox="1"/>
          <p:nvPr/>
        </p:nvSpPr>
        <p:spPr>
          <a:xfrm>
            <a:off x="4855464"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$4.14M</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871442"/>
            <a:ext cx="916344" cy="110352"/>
          </a:xfrm>
          <a:prstGeom prst="rect">
            <a:avLst/>
          </a:prstGeom>
          <a:solidFill>
            <a:srgbClr val="2587C5"/>
          </a:solidFill>
          <a:ln/>
        </p:spPr>
      </p:sp>
      <p:sp>
        <p:nvSpPr>
          <p:cNvPr id="30" name="Text 28"/>
          <p:cNvSpPr txBox="1"/>
          <p:nvPr/>
        </p:nvSpPr>
        <p:spPr>
          <a:xfrm>
            <a:off x="4855464"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$3.07M</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3" name="Shape 31"/>
          <p:cNvSpPr/>
          <p:nvPr/>
        </p:nvSpPr>
        <p:spPr>
          <a:xfrm>
            <a:off x="2980944" y="3111337"/>
            <a:ext cx="608663" cy="110352"/>
          </a:xfrm>
          <a:prstGeom prst="rect">
            <a:avLst/>
          </a:prstGeom>
          <a:solidFill>
            <a:srgbClr val="2587C5"/>
          </a:solidFill>
          <a:ln/>
        </p:spPr>
      </p:sp>
      <p:sp>
        <p:nvSpPr>
          <p:cNvPr id="34" name="Text 32"/>
          <p:cNvSpPr txBox="1"/>
          <p:nvPr/>
        </p:nvSpPr>
        <p:spPr>
          <a:xfrm>
            <a:off x="4855464"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7" name="Shape 35"/>
          <p:cNvSpPr/>
          <p:nvPr/>
        </p:nvSpPr>
        <p:spPr>
          <a:xfrm>
            <a:off x="2980944" y="3351233"/>
            <a:ext cx="539977" cy="110352"/>
          </a:xfrm>
          <a:prstGeom prst="rect">
            <a:avLst/>
          </a:prstGeom>
          <a:solidFill>
            <a:srgbClr val="2587C5"/>
          </a:solidFill>
          <a:ln/>
        </p:spPr>
      </p:sp>
      <p:sp>
        <p:nvSpPr>
          <p:cNvPr id="38" name="Text 36"/>
          <p:cNvSpPr txBox="1"/>
          <p:nvPr/>
        </p:nvSpPr>
        <p:spPr>
          <a:xfrm>
            <a:off x="4855464"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$1.81M</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1" name="Shape 39"/>
          <p:cNvSpPr/>
          <p:nvPr/>
        </p:nvSpPr>
        <p:spPr>
          <a:xfrm>
            <a:off x="2980944" y="3591128"/>
            <a:ext cx="454485" cy="110352"/>
          </a:xfrm>
          <a:prstGeom prst="rect">
            <a:avLst/>
          </a:prstGeom>
          <a:solidFill>
            <a:srgbClr val="2587C5"/>
          </a:solidFill>
          <a:ln/>
        </p:spPr>
      </p:sp>
      <p:sp>
        <p:nvSpPr>
          <p:cNvPr id="42" name="Text 40"/>
          <p:cNvSpPr txBox="1"/>
          <p:nvPr/>
        </p:nvSpPr>
        <p:spPr>
          <a:xfrm>
            <a:off x="4855464"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$1.52M</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45" name="Shape 43"/>
          <p:cNvSpPr/>
          <p:nvPr/>
        </p:nvSpPr>
        <p:spPr>
          <a:xfrm>
            <a:off x="2980944" y="3831024"/>
            <a:ext cx="447286" cy="110352"/>
          </a:xfrm>
          <a:prstGeom prst="rect">
            <a:avLst/>
          </a:prstGeom>
          <a:solidFill>
            <a:srgbClr val="2587C5"/>
          </a:solidFill>
          <a:ln/>
        </p:spPr>
      </p:sp>
      <p:sp>
        <p:nvSpPr>
          <p:cNvPr id="46" name="Text 44"/>
          <p:cNvSpPr txBox="1"/>
          <p:nvPr/>
        </p:nvSpPr>
        <p:spPr>
          <a:xfrm>
            <a:off x="4855464"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$1.50M</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2980944" y="4070920"/>
            <a:ext cx="326866" cy="110352"/>
          </a:xfrm>
          <a:prstGeom prst="rect">
            <a:avLst/>
          </a:prstGeom>
          <a:solidFill>
            <a:srgbClr val="2587C5"/>
          </a:solidFill>
          <a:ln/>
        </p:spPr>
      </p:sp>
      <p:sp>
        <p:nvSpPr>
          <p:cNvPr id="50" name="Text 48"/>
          <p:cNvSpPr txBox="1"/>
          <p:nvPr/>
        </p:nvSpPr>
        <p:spPr>
          <a:xfrm>
            <a:off x="4855464"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$1.10M</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3" name="Shape 51"/>
          <p:cNvSpPr/>
          <p:nvPr/>
        </p:nvSpPr>
        <p:spPr>
          <a:xfrm>
            <a:off x="2980944" y="4310815"/>
            <a:ext cx="311228" cy="110352"/>
          </a:xfrm>
          <a:prstGeom prst="rect">
            <a:avLst/>
          </a:prstGeom>
          <a:solidFill>
            <a:srgbClr val="2587C5"/>
          </a:solidFill>
          <a:ln/>
        </p:spPr>
      </p:sp>
      <p:sp>
        <p:nvSpPr>
          <p:cNvPr id="54" name="Text 52"/>
          <p:cNvSpPr txBox="1"/>
          <p:nvPr/>
        </p:nvSpPr>
        <p:spPr>
          <a:xfrm>
            <a:off x="4855464"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$1.04M</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7" name="Shape 55"/>
          <p:cNvSpPr/>
          <p:nvPr/>
        </p:nvSpPr>
        <p:spPr>
          <a:xfrm>
            <a:off x="2980944" y="4550711"/>
            <a:ext cx="305091" cy="110352"/>
          </a:xfrm>
          <a:prstGeom prst="rect">
            <a:avLst/>
          </a:prstGeom>
          <a:solidFill>
            <a:srgbClr val="2587C5"/>
          </a:solidFill>
          <a:ln/>
        </p:spPr>
      </p:sp>
      <p:sp>
        <p:nvSpPr>
          <p:cNvPr id="58" name="Text 56"/>
          <p:cNvSpPr txBox="1"/>
          <p:nvPr/>
        </p:nvSpPr>
        <p:spPr>
          <a:xfrm>
            <a:off x="4855464"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$1.02M</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1" name="Shape 59"/>
          <p:cNvSpPr/>
          <p:nvPr/>
        </p:nvSpPr>
        <p:spPr>
          <a:xfrm>
            <a:off x="2980944" y="4790606"/>
            <a:ext cx="301867" cy="110352"/>
          </a:xfrm>
          <a:prstGeom prst="rect">
            <a:avLst/>
          </a:prstGeom>
          <a:solidFill>
            <a:srgbClr val="2587C5"/>
          </a:solidFill>
          <a:ln/>
        </p:spPr>
      </p:sp>
      <p:sp>
        <p:nvSpPr>
          <p:cNvPr id="62" name="Text 60"/>
          <p:cNvSpPr txBox="1"/>
          <p:nvPr/>
        </p:nvSpPr>
        <p:spPr>
          <a:xfrm>
            <a:off x="4855464"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$1.01M</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2980944" y="5030502"/>
            <a:ext cx="298327" cy="110352"/>
          </a:xfrm>
          <a:prstGeom prst="rect">
            <a:avLst/>
          </a:prstGeom>
          <a:solidFill>
            <a:srgbClr val="2587C5"/>
          </a:solidFill>
          <a:ln/>
        </p:spPr>
      </p:sp>
      <p:sp>
        <p:nvSpPr>
          <p:cNvPr id="66" name="Text 64"/>
          <p:cNvSpPr txBox="1"/>
          <p:nvPr/>
        </p:nvSpPr>
        <p:spPr>
          <a:xfrm>
            <a:off x="4855464"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$1.00M</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2980944" y="5270397"/>
            <a:ext cx="286844" cy="110352"/>
          </a:xfrm>
          <a:prstGeom prst="rect">
            <a:avLst/>
          </a:prstGeom>
          <a:solidFill>
            <a:srgbClr val="2587C5"/>
          </a:solidFill>
          <a:ln/>
        </p:spPr>
      </p:sp>
      <p:sp>
        <p:nvSpPr>
          <p:cNvPr id="70" name="Text 68"/>
          <p:cNvSpPr txBox="1"/>
          <p:nvPr/>
        </p:nvSpPr>
        <p:spPr>
          <a:xfrm>
            <a:off x="4855464"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$962,206</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2980944" y="5510293"/>
            <a:ext cx="274516" cy="110352"/>
          </a:xfrm>
          <a:prstGeom prst="rect">
            <a:avLst/>
          </a:prstGeom>
          <a:solidFill>
            <a:srgbClr val="2587C5"/>
          </a:solidFill>
          <a:ln/>
        </p:spPr>
      </p:sp>
      <p:sp>
        <p:nvSpPr>
          <p:cNvPr id="74" name="Text 72"/>
          <p:cNvSpPr txBox="1"/>
          <p:nvPr/>
        </p:nvSpPr>
        <p:spPr>
          <a:xfrm>
            <a:off x="4855464"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$920,852</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77" name="Shape 75"/>
          <p:cNvSpPr/>
          <p:nvPr/>
        </p:nvSpPr>
        <p:spPr>
          <a:xfrm>
            <a:off x="2980944" y="5750188"/>
            <a:ext cx="268967" cy="110352"/>
          </a:xfrm>
          <a:prstGeom prst="rect">
            <a:avLst/>
          </a:prstGeom>
          <a:solidFill>
            <a:srgbClr val="2587C5"/>
          </a:solidFill>
          <a:ln/>
        </p:spPr>
      </p:sp>
      <p:sp>
        <p:nvSpPr>
          <p:cNvPr id="78" name="Text 76"/>
          <p:cNvSpPr txBox="1"/>
          <p:nvPr/>
        </p:nvSpPr>
        <p:spPr>
          <a:xfrm>
            <a:off x="4855464" y="568541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$902,240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1" name="Shape 79"/>
          <p:cNvSpPr/>
          <p:nvPr/>
        </p:nvSpPr>
        <p:spPr>
          <a:xfrm>
            <a:off x="8531352" y="1911860"/>
            <a:ext cx="260447" cy="110352"/>
          </a:xfrm>
          <a:prstGeom prst="rect">
            <a:avLst/>
          </a:prstGeom>
          <a:solidFill>
            <a:srgbClr val="2587C5"/>
          </a:solidFill>
          <a:ln/>
        </p:spPr>
      </p:sp>
      <p:sp>
        <p:nvSpPr>
          <p:cNvPr id="82" name="Text 80"/>
          <p:cNvSpPr txBox="1"/>
          <p:nvPr/>
        </p:nvSpPr>
        <p:spPr>
          <a:xfrm>
            <a:off x="10405872" y="184708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$873,658</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8531352" y="2151755"/>
            <a:ext cx="257699" cy="110352"/>
          </a:xfrm>
          <a:prstGeom prst="rect">
            <a:avLst/>
          </a:prstGeom>
          <a:solidFill>
            <a:srgbClr val="2587C5"/>
          </a:solidFill>
          <a:ln/>
        </p:spPr>
      </p:sp>
      <p:sp>
        <p:nvSpPr>
          <p:cNvPr id="86" name="Text 84"/>
          <p:cNvSpPr txBox="1"/>
          <p:nvPr/>
        </p:nvSpPr>
        <p:spPr>
          <a:xfrm>
            <a:off x="10405872" y="208698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$864,440</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9" name="Shape 87"/>
          <p:cNvSpPr/>
          <p:nvPr/>
        </p:nvSpPr>
        <p:spPr>
          <a:xfrm>
            <a:off x="8531352" y="2391651"/>
            <a:ext cx="249576" cy="110352"/>
          </a:xfrm>
          <a:prstGeom prst="rect">
            <a:avLst/>
          </a:prstGeom>
          <a:solidFill>
            <a:srgbClr val="2587C5"/>
          </a:solidFill>
          <a:ln/>
        </p:spPr>
      </p:sp>
      <p:sp>
        <p:nvSpPr>
          <p:cNvPr id="90" name="Text 88"/>
          <p:cNvSpPr txBox="1"/>
          <p:nvPr/>
        </p:nvSpPr>
        <p:spPr>
          <a:xfrm>
            <a:off x="10405872" y="232687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$837,192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3" name="Shape 91"/>
          <p:cNvSpPr/>
          <p:nvPr/>
        </p:nvSpPr>
        <p:spPr>
          <a:xfrm>
            <a:off x="8531352" y="2631546"/>
            <a:ext cx="242561" cy="110352"/>
          </a:xfrm>
          <a:prstGeom prst="rect">
            <a:avLst/>
          </a:prstGeom>
          <a:solidFill>
            <a:srgbClr val="2587C5"/>
          </a:solidFill>
          <a:ln/>
        </p:spPr>
      </p:sp>
      <p:sp>
        <p:nvSpPr>
          <p:cNvPr id="94" name="Text 92"/>
          <p:cNvSpPr txBox="1"/>
          <p:nvPr/>
        </p:nvSpPr>
        <p:spPr>
          <a:xfrm>
            <a:off x="10405872" y="256677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$813,660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8531352" y="2871442"/>
            <a:ext cx="224764" cy="110352"/>
          </a:xfrm>
          <a:prstGeom prst="rect">
            <a:avLst/>
          </a:prstGeom>
          <a:solidFill>
            <a:srgbClr val="2587C5"/>
          </a:solidFill>
          <a:ln/>
        </p:spPr>
      </p:sp>
      <p:sp>
        <p:nvSpPr>
          <p:cNvPr id="98" name="Text 96"/>
          <p:cNvSpPr txBox="1"/>
          <p:nvPr/>
        </p:nvSpPr>
        <p:spPr>
          <a:xfrm>
            <a:off x="10405872" y="280667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$753,963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01" name="Shape 99"/>
          <p:cNvSpPr/>
          <p:nvPr/>
        </p:nvSpPr>
        <p:spPr>
          <a:xfrm>
            <a:off x="8531352" y="3111337"/>
            <a:ext cx="209887" cy="110352"/>
          </a:xfrm>
          <a:prstGeom prst="rect">
            <a:avLst/>
          </a:prstGeom>
          <a:solidFill>
            <a:srgbClr val="2587C5"/>
          </a:solidFill>
          <a:ln/>
        </p:spPr>
      </p:sp>
      <p:sp>
        <p:nvSpPr>
          <p:cNvPr id="102" name="Text 100"/>
          <p:cNvSpPr txBox="1"/>
          <p:nvPr/>
        </p:nvSpPr>
        <p:spPr>
          <a:xfrm>
            <a:off x="10405872" y="3046566"/>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$704,059</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5" name="Shape 103"/>
          <p:cNvSpPr/>
          <p:nvPr/>
        </p:nvSpPr>
        <p:spPr>
          <a:xfrm>
            <a:off x="8531352" y="3351233"/>
            <a:ext cx="197473" cy="110352"/>
          </a:xfrm>
          <a:prstGeom prst="rect">
            <a:avLst/>
          </a:prstGeom>
          <a:solidFill>
            <a:srgbClr val="2587C5"/>
          </a:solidFill>
          <a:ln/>
        </p:spPr>
      </p:sp>
      <p:sp>
        <p:nvSpPr>
          <p:cNvPr id="106" name="Text 104"/>
          <p:cNvSpPr txBox="1"/>
          <p:nvPr/>
        </p:nvSpPr>
        <p:spPr>
          <a:xfrm>
            <a:off x="10405872" y="328646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$662,414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9" name="Shape 107"/>
          <p:cNvSpPr/>
          <p:nvPr/>
        </p:nvSpPr>
        <p:spPr>
          <a:xfrm>
            <a:off x="8531352" y="3591128"/>
            <a:ext cx="172153" cy="110352"/>
          </a:xfrm>
          <a:prstGeom prst="rect">
            <a:avLst/>
          </a:prstGeom>
          <a:solidFill>
            <a:srgbClr val="2587C5"/>
          </a:solidFill>
          <a:ln/>
        </p:spPr>
      </p:sp>
      <p:sp>
        <p:nvSpPr>
          <p:cNvPr id="110" name="Text 108"/>
          <p:cNvSpPr txBox="1"/>
          <p:nvPr/>
        </p:nvSpPr>
        <p:spPr>
          <a:xfrm>
            <a:off x="10405872" y="3526357"/>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$577,479</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13" name="Shape 111"/>
          <p:cNvSpPr/>
          <p:nvPr/>
        </p:nvSpPr>
        <p:spPr>
          <a:xfrm>
            <a:off x="8531352" y="3831024"/>
            <a:ext cx="170825" cy="110352"/>
          </a:xfrm>
          <a:prstGeom prst="rect">
            <a:avLst/>
          </a:prstGeom>
          <a:solidFill>
            <a:srgbClr val="2587C5"/>
          </a:solidFill>
          <a:ln/>
        </p:spPr>
      </p:sp>
      <p:sp>
        <p:nvSpPr>
          <p:cNvPr id="114" name="Text 112"/>
          <p:cNvSpPr txBox="1"/>
          <p:nvPr/>
        </p:nvSpPr>
        <p:spPr>
          <a:xfrm>
            <a:off x="10405872" y="3766252"/>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$573,025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8531352" y="4070920"/>
            <a:ext cx="170412" cy="110352"/>
          </a:xfrm>
          <a:prstGeom prst="rect">
            <a:avLst/>
          </a:prstGeom>
          <a:solidFill>
            <a:srgbClr val="2587C5"/>
          </a:solidFill>
          <a:ln/>
        </p:spPr>
      </p:sp>
      <p:sp>
        <p:nvSpPr>
          <p:cNvPr id="118" name="Text 116"/>
          <p:cNvSpPr txBox="1"/>
          <p:nvPr/>
        </p:nvSpPr>
        <p:spPr>
          <a:xfrm>
            <a:off x="10405872" y="4006148"/>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$571,642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310815"/>
            <a:ext cx="152644" cy="110352"/>
          </a:xfrm>
          <a:prstGeom prst="rect">
            <a:avLst/>
          </a:prstGeom>
          <a:solidFill>
            <a:srgbClr val="2587C5"/>
          </a:solidFill>
          <a:ln/>
        </p:spPr>
      </p:sp>
      <p:sp>
        <p:nvSpPr>
          <p:cNvPr id="122" name="Text 120"/>
          <p:cNvSpPr txBox="1"/>
          <p:nvPr/>
        </p:nvSpPr>
        <p:spPr>
          <a:xfrm>
            <a:off x="10405872" y="4246043"/>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$512,039</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8531352" y="4550711"/>
            <a:ext cx="144143" cy="110352"/>
          </a:xfrm>
          <a:prstGeom prst="rect">
            <a:avLst/>
          </a:prstGeom>
          <a:solidFill>
            <a:srgbClr val="2587C5"/>
          </a:solidFill>
          <a:ln/>
        </p:spPr>
      </p:sp>
      <p:sp>
        <p:nvSpPr>
          <p:cNvPr id="126" name="Text 124"/>
          <p:cNvSpPr txBox="1"/>
          <p:nvPr/>
        </p:nvSpPr>
        <p:spPr>
          <a:xfrm>
            <a:off x="10405872" y="4485939"/>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$483,524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531352" y="4790606"/>
            <a:ext cx="120127" cy="110352"/>
          </a:xfrm>
          <a:prstGeom prst="rect">
            <a:avLst/>
          </a:prstGeom>
          <a:solidFill>
            <a:srgbClr val="2587C5"/>
          </a:solidFill>
          <a:ln/>
        </p:spPr>
      </p:sp>
      <p:sp>
        <p:nvSpPr>
          <p:cNvPr id="130" name="Text 128"/>
          <p:cNvSpPr txBox="1"/>
          <p:nvPr/>
        </p:nvSpPr>
        <p:spPr>
          <a:xfrm>
            <a:off x="10405872" y="4725834"/>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$402,960</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33" name="Shape 131"/>
          <p:cNvSpPr/>
          <p:nvPr/>
        </p:nvSpPr>
        <p:spPr>
          <a:xfrm>
            <a:off x="8531352" y="5030502"/>
            <a:ext cx="113234" cy="110352"/>
          </a:xfrm>
          <a:prstGeom prst="rect">
            <a:avLst/>
          </a:prstGeom>
          <a:solidFill>
            <a:srgbClr val="2587C5"/>
          </a:solidFill>
          <a:ln/>
        </p:spPr>
      </p:sp>
      <p:sp>
        <p:nvSpPr>
          <p:cNvPr id="134" name="Text 132"/>
          <p:cNvSpPr txBox="1"/>
          <p:nvPr/>
        </p:nvSpPr>
        <p:spPr>
          <a:xfrm>
            <a:off x="10405872" y="4965730"/>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$379,838</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270397"/>
            <a:ext cx="65139" cy="110352"/>
          </a:xfrm>
          <a:prstGeom prst="rect">
            <a:avLst/>
          </a:prstGeom>
          <a:solidFill>
            <a:srgbClr val="2587C5"/>
          </a:solidFill>
          <a:ln/>
        </p:spPr>
      </p:sp>
      <p:sp>
        <p:nvSpPr>
          <p:cNvPr id="138" name="Text 136"/>
          <p:cNvSpPr txBox="1"/>
          <p:nvPr/>
        </p:nvSpPr>
        <p:spPr>
          <a:xfrm>
            <a:off x="10405872" y="5205625"/>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$218,505</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1" name="Shape 139"/>
          <p:cNvSpPr/>
          <p:nvPr/>
        </p:nvSpPr>
        <p:spPr>
          <a:xfrm>
            <a:off x="8531352" y="5510293"/>
            <a:ext cx="40300" cy="110352"/>
          </a:xfrm>
          <a:prstGeom prst="rect">
            <a:avLst/>
          </a:prstGeom>
          <a:solidFill>
            <a:srgbClr val="2587C5"/>
          </a:solidFill>
          <a:ln/>
        </p:spPr>
      </p:sp>
      <p:sp>
        <p:nvSpPr>
          <p:cNvPr id="142" name="Text 140"/>
          <p:cNvSpPr txBox="1"/>
          <p:nvPr/>
        </p:nvSpPr>
        <p:spPr>
          <a:xfrm>
            <a:off x="10405872" y="5445521"/>
            <a:ext cx="1097280" cy="239896"/>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$135,184</a:t>
            </a:r>
            <a:endParaRPr lang="en-US" sz="1200" dirty="0"/>
          </a:p>
        </p:txBody>
      </p:sp>
      <p:sp>
        <p:nvSpPr>
          <p:cNvPr id="143" name="Shape 141"/>
          <p:cNvSpPr/>
          <p:nvPr/>
        </p:nvSpPr>
        <p:spPr>
          <a:xfrm>
            <a:off x="6085332" y="1847088"/>
            <a:ext cx="10973" cy="4078224"/>
          </a:xfrm>
          <a:prstGeom prst="rect">
            <a:avLst/>
          </a:prstGeom>
          <a:solidFill>
            <a:srgbClr val="D9D9D9"/>
          </a:solidFill>
          <a:ln/>
        </p:spPr>
      </p:sp>
      <p:sp>
        <p:nvSpPr>
          <p:cNvPr id="144" name="Shape 142"/>
          <p:cNvSpPr/>
          <p:nvPr/>
        </p:nvSpPr>
        <p:spPr>
          <a:xfrm>
            <a:off x="457200" y="6126480"/>
            <a:ext cx="11274552" cy="371856"/>
          </a:xfrm>
          <a:prstGeom prst="rect">
            <a:avLst/>
          </a:prstGeom>
          <a:solidFill>
            <a:srgbClr val="EDF4FA"/>
          </a:solidFill>
          <a:ln/>
        </p:spPr>
      </p:sp>
      <p:sp>
        <p:nvSpPr>
          <p:cNvPr id="145" name="Text 143"/>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Cadillac leads at $6.13M of the group's $47.07M; Honda Flagstaff is smallest at $135,184.</a:t>
            </a:r>
            <a:endParaRPr lang="en-US" sz="1600" dirty="0"/>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WARRANTY GROSS</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+$2.29M  ·  +5.1%</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+$2.03M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+49.5%</a:t>
            </a:r>
            <a:endParaRPr lang="en-US" sz="1200" dirty="0"/>
          </a:p>
        </p:txBody>
      </p:sp>
      <p:sp>
        <p:nvSpPr>
          <p:cNvPr id="20" name="Shape 18"/>
          <p:cNvSpPr/>
          <p:nvPr/>
        </p:nvSpPr>
        <p:spPr>
          <a:xfrm>
            <a:off x="5907024" y="2167128"/>
            <a:ext cx="54864" cy="132319"/>
          </a:xfrm>
          <a:prstGeom prst="rect">
            <a:avLst/>
          </a:prstGeom>
          <a:solidFill>
            <a:srgbClr val="12A566"/>
          </a:solidFill>
          <a:ln/>
        </p:spPr>
      </p:sp>
      <p:sp>
        <p:nvSpPr>
          <p:cNvPr id="21" name="Text 19"/>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2" name="Text 20"/>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579876" y="2405582"/>
            <a:ext cx="277267" cy="102929"/>
          </a:xfrm>
          <a:prstGeom prst="rect">
            <a:avLst/>
          </a:prstGeom>
          <a:solidFill>
            <a:srgbClr val="12A566"/>
          </a:solidFill>
          <a:ln/>
        </p:spPr>
      </p:sp>
      <p:sp>
        <p:nvSpPr>
          <p:cNvPr id="24" name="Text 22"/>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+$985K</a:t>
            </a:r>
            <a:endParaRPr lang="en-US" sz="1200" dirty="0"/>
          </a:p>
        </p:txBody>
      </p:sp>
      <p:sp>
        <p:nvSpPr>
          <p:cNvPr id="25" name="Text 23"/>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+30.4%</a:t>
            </a:r>
            <a:endParaRPr lang="en-US" sz="1200" dirty="0"/>
          </a:p>
        </p:txBody>
      </p:sp>
      <p:sp>
        <p:nvSpPr>
          <p:cNvPr id="26" name="Shape 24"/>
          <p:cNvSpPr/>
          <p:nvPr/>
        </p:nvSpPr>
        <p:spPr>
          <a:xfrm>
            <a:off x="5907024" y="2390887"/>
            <a:ext cx="54864" cy="132319"/>
          </a:xfrm>
          <a:prstGeom prst="rect">
            <a:avLst/>
          </a:prstGeom>
          <a:solidFill>
            <a:srgbClr val="12A566"/>
          </a:solidFill>
          <a:ln/>
        </p:spPr>
      </p:sp>
      <p:sp>
        <p:nvSpPr>
          <p:cNvPr id="27" name="Text 25"/>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8" name="Text 26"/>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29" name="Shape 27"/>
          <p:cNvSpPr/>
          <p:nvPr/>
        </p:nvSpPr>
        <p:spPr>
          <a:xfrm>
            <a:off x="3579876" y="2629341"/>
            <a:ext cx="159416" cy="102929"/>
          </a:xfrm>
          <a:prstGeom prst="rect">
            <a:avLst/>
          </a:prstGeom>
          <a:solidFill>
            <a:srgbClr val="12A566"/>
          </a:solidFill>
          <a:ln/>
        </p:spPr>
      </p:sp>
      <p:sp>
        <p:nvSpPr>
          <p:cNvPr id="30" name="Text 28"/>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+$566K</a:t>
            </a:r>
            <a:endParaRPr lang="en-US" sz="1200" dirty="0"/>
          </a:p>
        </p:txBody>
      </p:sp>
      <p:sp>
        <p:nvSpPr>
          <p:cNvPr id="31" name="Text 29"/>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+15.8%</a:t>
            </a:r>
            <a:endParaRPr lang="en-US" sz="1200" dirty="0"/>
          </a:p>
        </p:txBody>
      </p:sp>
      <p:sp>
        <p:nvSpPr>
          <p:cNvPr id="32" name="Text 30"/>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3" name="Text 31"/>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4" name="Shape 32"/>
          <p:cNvSpPr/>
          <p:nvPr/>
        </p:nvSpPr>
        <p:spPr>
          <a:xfrm>
            <a:off x="3579876" y="2853100"/>
            <a:ext cx="142804" cy="102929"/>
          </a:xfrm>
          <a:prstGeom prst="rect">
            <a:avLst/>
          </a:prstGeom>
          <a:solidFill>
            <a:srgbClr val="12A566"/>
          </a:solidFill>
          <a:ln/>
        </p:spPr>
      </p:sp>
      <p:sp>
        <p:nvSpPr>
          <p:cNvPr id="35" name="Text 33"/>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+$507K</a:t>
            </a:r>
            <a:endParaRPr lang="en-US" sz="1200" dirty="0"/>
          </a:p>
        </p:txBody>
      </p:sp>
      <p:sp>
        <p:nvSpPr>
          <p:cNvPr id="36" name="Text 34"/>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+10.6%</a:t>
            </a:r>
            <a:endParaRPr lang="en-US" sz="1200" dirty="0"/>
          </a:p>
        </p:txBody>
      </p:sp>
      <p:sp>
        <p:nvSpPr>
          <p:cNvPr id="37" name="Text 35"/>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8" name="Text 36"/>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579876" y="3076859"/>
            <a:ext cx="89161" cy="102929"/>
          </a:xfrm>
          <a:prstGeom prst="rect">
            <a:avLst/>
          </a:prstGeom>
          <a:solidFill>
            <a:srgbClr val="12A566"/>
          </a:solidFill>
          <a:ln/>
        </p:spPr>
      </p:sp>
      <p:sp>
        <p:nvSpPr>
          <p:cNvPr id="40" name="Text 38"/>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+$317K</a:t>
            </a:r>
            <a:endParaRPr lang="en-US" sz="1200" dirty="0"/>
          </a:p>
        </p:txBody>
      </p:sp>
      <p:sp>
        <p:nvSpPr>
          <p:cNvPr id="41" name="Text 39"/>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42" name="Text 40"/>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4" name="Shape 42"/>
          <p:cNvSpPr/>
          <p:nvPr/>
        </p:nvSpPr>
        <p:spPr>
          <a:xfrm>
            <a:off x="3579876" y="3300618"/>
            <a:ext cx="54587" cy="102929"/>
          </a:xfrm>
          <a:prstGeom prst="rect">
            <a:avLst/>
          </a:prstGeom>
          <a:solidFill>
            <a:srgbClr val="12A566"/>
          </a:solidFill>
          <a:ln/>
        </p:spPr>
      </p:sp>
      <p:sp>
        <p:nvSpPr>
          <p:cNvPr id="45" name="Text 43"/>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+$194K</a:t>
            </a:r>
            <a:endParaRPr lang="en-US" sz="1200" dirty="0"/>
          </a:p>
        </p:txBody>
      </p:sp>
      <p:sp>
        <p:nvSpPr>
          <p:cNvPr id="46" name="Text 44"/>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+38.0%</a:t>
            </a:r>
            <a:endParaRPr lang="en-US" sz="1200" dirty="0"/>
          </a:p>
        </p:txBody>
      </p:sp>
      <p:sp>
        <p:nvSpPr>
          <p:cNvPr id="47" name="Shape 45"/>
          <p:cNvSpPr/>
          <p:nvPr/>
        </p:nvSpPr>
        <p:spPr>
          <a:xfrm>
            <a:off x="5907024" y="3285923"/>
            <a:ext cx="54864" cy="132319"/>
          </a:xfrm>
          <a:prstGeom prst="rect">
            <a:avLst/>
          </a:prstGeom>
          <a:solidFill>
            <a:srgbClr val="12A566"/>
          </a:solidFill>
          <a:ln/>
        </p:spPr>
      </p:sp>
      <p:sp>
        <p:nvSpPr>
          <p:cNvPr id="48" name="Text 46"/>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50" name="Shape 48"/>
          <p:cNvSpPr/>
          <p:nvPr/>
        </p:nvSpPr>
        <p:spPr>
          <a:xfrm>
            <a:off x="3579876" y="3524377"/>
            <a:ext cx="47745" cy="102929"/>
          </a:xfrm>
          <a:prstGeom prst="rect">
            <a:avLst/>
          </a:prstGeom>
          <a:solidFill>
            <a:srgbClr val="12A566"/>
          </a:solidFill>
          <a:ln/>
        </p:spPr>
      </p:sp>
      <p:sp>
        <p:nvSpPr>
          <p:cNvPr id="51" name="Text 49"/>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+$170K</a:t>
            </a:r>
            <a:endParaRPr lang="en-US" sz="1200" dirty="0"/>
          </a:p>
        </p:txBody>
      </p:sp>
      <p:sp>
        <p:nvSpPr>
          <p:cNvPr id="52" name="Text 50"/>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+25.4%</a:t>
            </a:r>
            <a:endParaRPr lang="en-US" sz="1200" dirty="0"/>
          </a:p>
        </p:txBody>
      </p:sp>
      <p:sp>
        <p:nvSpPr>
          <p:cNvPr id="53" name="Text 51"/>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55" name="Shape 53"/>
          <p:cNvSpPr/>
          <p:nvPr/>
        </p:nvSpPr>
        <p:spPr>
          <a:xfrm>
            <a:off x="3579876" y="3748136"/>
            <a:ext cx="41257" cy="102929"/>
          </a:xfrm>
          <a:prstGeom prst="rect">
            <a:avLst/>
          </a:prstGeom>
          <a:solidFill>
            <a:srgbClr val="12A566"/>
          </a:solidFill>
          <a:ln/>
        </p:spPr>
      </p:sp>
      <p:sp>
        <p:nvSpPr>
          <p:cNvPr id="56" name="Text 54"/>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+$147K</a:t>
            </a:r>
            <a:endParaRPr lang="en-US" sz="1200" dirty="0"/>
          </a:p>
        </p:txBody>
      </p:sp>
      <p:sp>
        <p:nvSpPr>
          <p:cNvPr id="57" name="Text 55"/>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+7.7%</a:t>
            </a:r>
            <a:endParaRPr lang="en-US" sz="1200" dirty="0"/>
          </a:p>
        </p:txBody>
      </p:sp>
      <p:sp>
        <p:nvSpPr>
          <p:cNvPr id="58" name="Text 56"/>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9" name="Text 57"/>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0" name="Shape 58"/>
          <p:cNvSpPr/>
          <p:nvPr/>
        </p:nvSpPr>
        <p:spPr>
          <a:xfrm>
            <a:off x="3579876" y="3971895"/>
            <a:ext cx="36189" cy="102929"/>
          </a:xfrm>
          <a:prstGeom prst="rect">
            <a:avLst/>
          </a:prstGeom>
          <a:solidFill>
            <a:srgbClr val="12A566"/>
          </a:solidFill>
          <a:ln/>
        </p:spPr>
      </p:sp>
      <p:sp>
        <p:nvSpPr>
          <p:cNvPr id="61" name="Text 59"/>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+$129K</a:t>
            </a:r>
            <a:endParaRPr lang="en-US" sz="1200" dirty="0"/>
          </a:p>
        </p:txBody>
      </p:sp>
      <p:sp>
        <p:nvSpPr>
          <p:cNvPr id="62" name="Text 60"/>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3" name="Text 61"/>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4" name="Text 62"/>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5" name="Shape 63"/>
          <p:cNvSpPr/>
          <p:nvPr/>
        </p:nvSpPr>
        <p:spPr>
          <a:xfrm>
            <a:off x="3579876" y="4195654"/>
            <a:ext cx="33030" cy="102929"/>
          </a:xfrm>
          <a:prstGeom prst="rect">
            <a:avLst/>
          </a:prstGeom>
          <a:solidFill>
            <a:srgbClr val="12A566"/>
          </a:solidFill>
          <a:ln/>
        </p:spPr>
      </p:sp>
      <p:sp>
        <p:nvSpPr>
          <p:cNvPr id="66" name="Text 64"/>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+$117K</a:t>
            </a:r>
            <a:endParaRPr lang="en-US" sz="1200" dirty="0"/>
          </a:p>
        </p:txBody>
      </p:sp>
      <p:sp>
        <p:nvSpPr>
          <p:cNvPr id="67" name="Text 65"/>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+13.1%</a:t>
            </a:r>
            <a:endParaRPr lang="en-US" sz="1200" dirty="0"/>
          </a:p>
        </p:txBody>
      </p:sp>
      <p:sp>
        <p:nvSpPr>
          <p:cNvPr id="68" name="Text 66"/>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9" name="Text 67"/>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579876" y="4419414"/>
            <a:ext cx="32509" cy="102929"/>
          </a:xfrm>
          <a:prstGeom prst="rect">
            <a:avLst/>
          </a:prstGeom>
          <a:solidFill>
            <a:srgbClr val="12A566"/>
          </a:solidFill>
          <a:ln/>
        </p:spPr>
      </p:sp>
      <p:sp>
        <p:nvSpPr>
          <p:cNvPr id="71" name="Text 69"/>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+$115K</a:t>
            </a:r>
            <a:endParaRPr lang="en-US" sz="1200" dirty="0"/>
          </a:p>
        </p:txBody>
      </p:sp>
      <p:sp>
        <p:nvSpPr>
          <p:cNvPr id="72" name="Text 70"/>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5" name="Shape 73"/>
          <p:cNvSpPr/>
          <p:nvPr/>
        </p:nvSpPr>
        <p:spPr>
          <a:xfrm>
            <a:off x="3579876" y="4643173"/>
            <a:ext cx="13097"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+5.3%</a:t>
            </a:r>
            <a:endParaRPr lang="en-US" sz="1200" dirty="0"/>
          </a:p>
        </p:txBody>
      </p:sp>
      <p:sp>
        <p:nvSpPr>
          <p:cNvPr id="78" name="Text 76"/>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9" name="Text 77"/>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80" name="Shape 78"/>
          <p:cNvSpPr/>
          <p:nvPr/>
        </p:nvSpPr>
        <p:spPr>
          <a:xfrm>
            <a:off x="3579876" y="4866932"/>
            <a:ext cx="12802" cy="102929"/>
          </a:xfrm>
          <a:prstGeom prst="rect">
            <a:avLst/>
          </a:prstGeom>
          <a:solidFill>
            <a:srgbClr val="12A566"/>
          </a:solidFill>
          <a:ln/>
        </p:spPr>
      </p:sp>
      <p:sp>
        <p:nvSpPr>
          <p:cNvPr id="81" name="Text 79"/>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+$43K</a:t>
            </a:r>
            <a:endParaRPr lang="en-US" sz="1200" dirty="0"/>
          </a:p>
        </p:txBody>
      </p:sp>
      <p:sp>
        <p:nvSpPr>
          <p:cNvPr id="82" name="Text 80"/>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+5.2%</a:t>
            </a:r>
            <a:endParaRPr lang="en-US" sz="1200" dirty="0"/>
          </a:p>
        </p:txBody>
      </p:sp>
      <p:sp>
        <p:nvSpPr>
          <p:cNvPr id="83" name="Text 81"/>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4" name="Text 82"/>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85" name="Shape 83"/>
          <p:cNvSpPr/>
          <p:nvPr/>
        </p:nvSpPr>
        <p:spPr>
          <a:xfrm>
            <a:off x="3579876" y="5090691"/>
            <a:ext cx="12802" cy="102929"/>
          </a:xfrm>
          <a:prstGeom prst="rect">
            <a:avLst/>
          </a:prstGeom>
          <a:solidFill>
            <a:srgbClr val="12A566"/>
          </a:solidFill>
          <a:ln/>
        </p:spPr>
      </p:sp>
      <p:sp>
        <p:nvSpPr>
          <p:cNvPr id="86" name="Text 84"/>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+$41K</a:t>
            </a:r>
            <a:endParaRPr lang="en-US" sz="1200" dirty="0"/>
          </a:p>
        </p:txBody>
      </p:sp>
      <p:sp>
        <p:nvSpPr>
          <p:cNvPr id="87" name="Text 85"/>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+12.1%</a:t>
            </a:r>
            <a:endParaRPr lang="en-US" sz="1200" dirty="0"/>
          </a:p>
        </p:txBody>
      </p:sp>
      <p:sp>
        <p:nvSpPr>
          <p:cNvPr id="88" name="Text 86"/>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9" name="Text 87"/>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0" name="Shape 88"/>
          <p:cNvSpPr/>
          <p:nvPr/>
        </p:nvSpPr>
        <p:spPr>
          <a:xfrm>
            <a:off x="3579876" y="5314450"/>
            <a:ext cx="12802" cy="102929"/>
          </a:xfrm>
          <a:prstGeom prst="rect">
            <a:avLst/>
          </a:prstGeom>
          <a:solidFill>
            <a:srgbClr val="12A566"/>
          </a:solidFill>
          <a:ln/>
        </p:spPr>
      </p:sp>
      <p:sp>
        <p:nvSpPr>
          <p:cNvPr id="91" name="Text 89"/>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+$31K</a:t>
            </a:r>
            <a:endParaRPr lang="en-US" sz="1200" dirty="0"/>
          </a:p>
        </p:txBody>
      </p:sp>
      <p:sp>
        <p:nvSpPr>
          <p:cNvPr id="92" name="Text 90"/>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93" name="Text 91"/>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4" name="Text 92"/>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5" name="Shape 93"/>
          <p:cNvSpPr/>
          <p:nvPr/>
        </p:nvSpPr>
        <p:spPr>
          <a:xfrm>
            <a:off x="3579876" y="5538209"/>
            <a:ext cx="12802" cy="102929"/>
          </a:xfrm>
          <a:prstGeom prst="rect">
            <a:avLst/>
          </a:prstGeom>
          <a:solidFill>
            <a:srgbClr val="12A566"/>
          </a:solidFill>
          <a:ln/>
        </p:spPr>
      </p:sp>
      <p:sp>
        <p:nvSpPr>
          <p:cNvPr id="96" name="Text 94"/>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+$19K</a:t>
            </a:r>
            <a:endParaRPr lang="en-US" sz="1200" dirty="0"/>
          </a:p>
        </p:txBody>
      </p:sp>
      <p:sp>
        <p:nvSpPr>
          <p:cNvPr id="97" name="Text 95"/>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a:t>
            </a:r>
            <a:endParaRPr lang="en-US" sz="1200" dirty="0"/>
          </a:p>
        </p:txBody>
      </p:sp>
      <p:sp>
        <p:nvSpPr>
          <p:cNvPr id="98" name="Text 96"/>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00" name="Shape 98"/>
          <p:cNvSpPr/>
          <p:nvPr/>
        </p:nvSpPr>
        <p:spPr>
          <a:xfrm>
            <a:off x="3579876" y="5761968"/>
            <a:ext cx="12802" cy="102929"/>
          </a:xfrm>
          <a:prstGeom prst="rect">
            <a:avLst/>
          </a:prstGeom>
          <a:solidFill>
            <a:srgbClr val="12A566"/>
          </a:solidFill>
          <a:ln/>
        </p:spPr>
      </p:sp>
      <p:sp>
        <p:nvSpPr>
          <p:cNvPr id="101" name="Text 99"/>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+$17K</a:t>
            </a:r>
            <a:endParaRPr lang="en-US" sz="1200" dirty="0"/>
          </a:p>
        </p:txBody>
      </p:sp>
      <p:sp>
        <p:nvSpPr>
          <p:cNvPr id="102" name="Text 100"/>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103" name="Text 101"/>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4" name="Text 102"/>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9130284" y="2181823"/>
            <a:ext cx="12802" cy="102929"/>
          </a:xfrm>
          <a:prstGeom prst="rect">
            <a:avLst/>
          </a:prstGeom>
          <a:solidFill>
            <a:srgbClr val="12A566"/>
          </a:solidFill>
          <a:ln/>
        </p:spPr>
      </p:sp>
      <p:sp>
        <p:nvSpPr>
          <p:cNvPr id="106" name="Text 104"/>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+$12K</a:t>
            </a:r>
            <a:endParaRPr lang="en-US" sz="1200" dirty="0"/>
          </a:p>
        </p:txBody>
      </p:sp>
      <p:sp>
        <p:nvSpPr>
          <p:cNvPr id="107" name="Text 105"/>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a:t>
            </a:r>
            <a:endParaRPr lang="en-US" sz="1200" dirty="0"/>
          </a:p>
        </p:txBody>
      </p:sp>
      <p:sp>
        <p:nvSpPr>
          <p:cNvPr id="108" name="Text 106"/>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9" name="Text 107"/>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0" name="Shape 108"/>
          <p:cNvSpPr/>
          <p:nvPr/>
        </p:nvSpPr>
        <p:spPr>
          <a:xfrm>
            <a:off x="9127747" y="2405582"/>
            <a:ext cx="12802" cy="102929"/>
          </a:xfrm>
          <a:prstGeom prst="rect">
            <a:avLst/>
          </a:prstGeom>
          <a:solidFill>
            <a:srgbClr val="C2352F"/>
          </a:solidFill>
          <a:ln/>
        </p:spPr>
      </p:sp>
      <p:sp>
        <p:nvSpPr>
          <p:cNvPr id="111" name="Text 109"/>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2" name="Text 110"/>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13" name="Text 111"/>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4" name="Text 112"/>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5" name="Shape 113"/>
          <p:cNvSpPr/>
          <p:nvPr/>
        </p:nvSpPr>
        <p:spPr>
          <a:xfrm>
            <a:off x="9127670" y="2629341"/>
            <a:ext cx="12802" cy="102929"/>
          </a:xfrm>
          <a:prstGeom prst="rect">
            <a:avLst/>
          </a:prstGeom>
          <a:solidFill>
            <a:srgbClr val="C2352F"/>
          </a:solidFill>
          <a:ln/>
        </p:spPr>
      </p:sp>
      <p:sp>
        <p:nvSpPr>
          <p:cNvPr id="116" name="Text 114"/>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17" name="Text 115"/>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18" name="Text 116"/>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9" name="Text 117"/>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9127631" y="2853100"/>
            <a:ext cx="12802" cy="102929"/>
          </a:xfrm>
          <a:prstGeom prst="rect">
            <a:avLst/>
          </a:prstGeom>
          <a:solidFill>
            <a:srgbClr val="C2352F"/>
          </a:solidFill>
          <a:ln/>
        </p:spPr>
      </p:sp>
      <p:sp>
        <p:nvSpPr>
          <p:cNvPr id="121" name="Text 119"/>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−$9K</a:t>
            </a:r>
            <a:endParaRPr lang="en-US" sz="1200" dirty="0"/>
          </a:p>
        </p:txBody>
      </p:sp>
      <p:sp>
        <p:nvSpPr>
          <p:cNvPr id="122" name="Text 120"/>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4" name="Text 122"/>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5" name="Shape 123"/>
          <p:cNvSpPr/>
          <p:nvPr/>
        </p:nvSpPr>
        <p:spPr>
          <a:xfrm>
            <a:off x="9121264" y="3076859"/>
            <a:ext cx="12802" cy="102929"/>
          </a:xfrm>
          <a:prstGeom prst="rect">
            <a:avLst/>
          </a:prstGeom>
          <a:solidFill>
            <a:srgbClr val="C2352F"/>
          </a:solidFill>
          <a:ln/>
        </p:spPr>
      </p:sp>
      <p:sp>
        <p:nvSpPr>
          <p:cNvPr id="126" name="Text 124"/>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−$32K</a:t>
            </a:r>
            <a:endParaRPr lang="en-US" sz="1200" dirty="0"/>
          </a:p>
        </p:txBody>
      </p:sp>
      <p:sp>
        <p:nvSpPr>
          <p:cNvPr id="127" name="Text 125"/>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−6.2%</a:t>
            </a:r>
            <a:endParaRPr lang="en-US" sz="1200" dirty="0"/>
          </a:p>
        </p:txBody>
      </p:sp>
      <p:sp>
        <p:nvSpPr>
          <p:cNvPr id="128" name="Text 126"/>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9" name="Text 127"/>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30" name="Shape 128"/>
          <p:cNvSpPr/>
          <p:nvPr/>
        </p:nvSpPr>
        <p:spPr>
          <a:xfrm>
            <a:off x="9119676" y="3300618"/>
            <a:ext cx="12802" cy="102929"/>
          </a:xfrm>
          <a:prstGeom prst="rect">
            <a:avLst/>
          </a:prstGeom>
          <a:solidFill>
            <a:srgbClr val="C2352F"/>
          </a:solidFill>
          <a:ln/>
        </p:spPr>
      </p:sp>
      <p:sp>
        <p:nvSpPr>
          <p:cNvPr id="131" name="Text 129"/>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−$38K</a:t>
            </a:r>
            <a:endParaRPr lang="en-US" sz="1200" dirty="0"/>
          </a:p>
        </p:txBody>
      </p:sp>
      <p:sp>
        <p:nvSpPr>
          <p:cNvPr id="132" name="Text 130"/>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−4.2%</a:t>
            </a:r>
            <a:endParaRPr lang="en-US" sz="1200" dirty="0"/>
          </a:p>
        </p:txBody>
      </p:sp>
      <p:sp>
        <p:nvSpPr>
          <p:cNvPr id="133" name="Text 131"/>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4" name="Text 132"/>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5" name="Shape 133"/>
          <p:cNvSpPr/>
          <p:nvPr/>
        </p:nvSpPr>
        <p:spPr>
          <a:xfrm>
            <a:off x="9119152" y="3524377"/>
            <a:ext cx="12802" cy="102929"/>
          </a:xfrm>
          <a:prstGeom prst="rect">
            <a:avLst/>
          </a:prstGeom>
          <a:solidFill>
            <a:srgbClr val="C2352F"/>
          </a:solidFill>
          <a:ln/>
        </p:spPr>
      </p:sp>
      <p:sp>
        <p:nvSpPr>
          <p:cNvPr id="136" name="Text 134"/>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−$40K</a:t>
            </a:r>
            <a:endParaRPr lang="en-US" sz="1200" dirty="0"/>
          </a:p>
        </p:txBody>
      </p:sp>
      <p:sp>
        <p:nvSpPr>
          <p:cNvPr id="137" name="Text 135"/>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38" name="Text 136"/>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9" name="Text 137"/>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9113768" y="3748136"/>
            <a:ext cx="16516" cy="102929"/>
          </a:xfrm>
          <a:prstGeom prst="rect">
            <a:avLst/>
          </a:prstGeom>
          <a:solidFill>
            <a:srgbClr val="C2352F"/>
          </a:solidFill>
          <a:ln/>
        </p:spPr>
      </p:sp>
      <p:sp>
        <p:nvSpPr>
          <p:cNvPr id="141" name="Text 139"/>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−$59K</a:t>
            </a:r>
            <a:endParaRPr lang="en-US" sz="1200" dirty="0"/>
          </a:p>
        </p:txBody>
      </p:sp>
      <p:sp>
        <p:nvSpPr>
          <p:cNvPr id="142" name="Text 140"/>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−21.2%</a:t>
            </a:r>
            <a:endParaRPr lang="en-US" sz="1200" dirty="0"/>
          </a:p>
        </p:txBody>
      </p:sp>
      <p:sp>
        <p:nvSpPr>
          <p:cNvPr id="143" name="Text 141"/>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4" name="Text 142"/>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5" name="Shape 143"/>
          <p:cNvSpPr/>
          <p:nvPr/>
        </p:nvSpPr>
        <p:spPr>
          <a:xfrm>
            <a:off x="9106887" y="3971895"/>
            <a:ext cx="23397" cy="102929"/>
          </a:xfrm>
          <a:prstGeom prst="rect">
            <a:avLst/>
          </a:prstGeom>
          <a:solidFill>
            <a:srgbClr val="C2352F"/>
          </a:solidFill>
          <a:ln/>
        </p:spPr>
      </p:sp>
      <p:sp>
        <p:nvSpPr>
          <p:cNvPr id="146" name="Text 144"/>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−$83K</a:t>
            </a:r>
            <a:endParaRPr lang="en-US" sz="1200" dirty="0"/>
          </a:p>
        </p:txBody>
      </p:sp>
      <p:sp>
        <p:nvSpPr>
          <p:cNvPr id="147" name="Text 145"/>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−38.1%</a:t>
            </a:r>
            <a:endParaRPr lang="en-US" sz="1200" dirty="0"/>
          </a:p>
        </p:txBody>
      </p:sp>
      <p:sp>
        <p:nvSpPr>
          <p:cNvPr id="148" name="Shape 146"/>
          <p:cNvSpPr/>
          <p:nvPr/>
        </p:nvSpPr>
        <p:spPr>
          <a:xfrm>
            <a:off x="11457432" y="3957200"/>
            <a:ext cx="54864" cy="132319"/>
          </a:xfrm>
          <a:prstGeom prst="rect">
            <a:avLst/>
          </a:prstGeom>
          <a:solidFill>
            <a:srgbClr val="C2352F"/>
          </a:solidFill>
          <a:ln/>
        </p:spPr>
      </p:sp>
      <p:sp>
        <p:nvSpPr>
          <p:cNvPr id="149" name="Text 147"/>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0" name="Text 148"/>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51" name="Shape 149"/>
          <p:cNvSpPr/>
          <p:nvPr/>
        </p:nvSpPr>
        <p:spPr>
          <a:xfrm>
            <a:off x="9084919" y="4195654"/>
            <a:ext cx="45365" cy="102929"/>
          </a:xfrm>
          <a:prstGeom prst="rect">
            <a:avLst/>
          </a:prstGeom>
          <a:solidFill>
            <a:srgbClr val="C2352F"/>
          </a:solidFill>
          <a:ln/>
        </p:spPr>
      </p:sp>
      <p:sp>
        <p:nvSpPr>
          <p:cNvPr id="152" name="Text 150"/>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−$161K</a:t>
            </a:r>
            <a:endParaRPr lang="en-US" sz="1200" dirty="0"/>
          </a:p>
        </p:txBody>
      </p:sp>
      <p:sp>
        <p:nvSpPr>
          <p:cNvPr id="153" name="Text 151"/>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a:t>
            </a:r>
            <a:endParaRPr lang="en-US" sz="1200" dirty="0"/>
          </a:p>
        </p:txBody>
      </p:sp>
      <p:sp>
        <p:nvSpPr>
          <p:cNvPr id="154" name="Text 152"/>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5" name="Text 153"/>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56" name="Shape 154"/>
          <p:cNvSpPr/>
          <p:nvPr/>
        </p:nvSpPr>
        <p:spPr>
          <a:xfrm>
            <a:off x="9084120" y="4419414"/>
            <a:ext cx="46164" cy="102929"/>
          </a:xfrm>
          <a:prstGeom prst="rect">
            <a:avLst/>
          </a:prstGeom>
          <a:solidFill>
            <a:srgbClr val="C2352F"/>
          </a:solidFill>
          <a:ln/>
        </p:spPr>
      </p:sp>
      <p:sp>
        <p:nvSpPr>
          <p:cNvPr id="157" name="Text 155"/>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−$164K</a:t>
            </a:r>
            <a:endParaRPr lang="en-US" sz="1200" dirty="0"/>
          </a:p>
        </p:txBody>
      </p:sp>
      <p:sp>
        <p:nvSpPr>
          <p:cNvPr id="158" name="Text 156"/>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−28.9%</a:t>
            </a:r>
            <a:endParaRPr lang="en-US" sz="1200" dirty="0"/>
          </a:p>
        </p:txBody>
      </p:sp>
      <p:sp>
        <p:nvSpPr>
          <p:cNvPr id="159" name="Text 157"/>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0" name="Text 158"/>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61" name="Shape 159"/>
          <p:cNvSpPr/>
          <p:nvPr/>
        </p:nvSpPr>
        <p:spPr>
          <a:xfrm>
            <a:off x="9071585" y="4643173"/>
            <a:ext cx="58699" cy="102929"/>
          </a:xfrm>
          <a:prstGeom prst="rect">
            <a:avLst/>
          </a:prstGeom>
          <a:solidFill>
            <a:srgbClr val="C2352F"/>
          </a:solidFill>
          <a:ln/>
        </p:spPr>
      </p:sp>
      <p:sp>
        <p:nvSpPr>
          <p:cNvPr id="162" name="Text 160"/>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−$209K</a:t>
            </a:r>
            <a:endParaRPr lang="en-US" sz="1200" dirty="0"/>
          </a:p>
        </p:txBody>
      </p:sp>
      <p:sp>
        <p:nvSpPr>
          <p:cNvPr id="163" name="Text 161"/>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−23.9%</a:t>
            </a:r>
            <a:endParaRPr lang="en-US" sz="1200" dirty="0"/>
          </a:p>
        </p:txBody>
      </p:sp>
      <p:sp>
        <p:nvSpPr>
          <p:cNvPr id="164" name="Text 162"/>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5" name="Text 163"/>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6" name="Shape 164"/>
          <p:cNvSpPr/>
          <p:nvPr/>
        </p:nvSpPr>
        <p:spPr>
          <a:xfrm>
            <a:off x="9014745" y="4866932"/>
            <a:ext cx="115539" cy="102929"/>
          </a:xfrm>
          <a:prstGeom prst="rect">
            <a:avLst/>
          </a:prstGeom>
          <a:solidFill>
            <a:srgbClr val="C2352F"/>
          </a:solidFill>
          <a:ln/>
        </p:spPr>
      </p:sp>
      <p:sp>
        <p:nvSpPr>
          <p:cNvPr id="167" name="Text 165"/>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−$410K</a:t>
            </a:r>
            <a:endParaRPr lang="en-US" sz="1200" dirty="0"/>
          </a:p>
        </p:txBody>
      </p:sp>
      <p:sp>
        <p:nvSpPr>
          <p:cNvPr id="168" name="Text 166"/>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−41.7%</a:t>
            </a:r>
            <a:endParaRPr lang="en-US" sz="1200" dirty="0"/>
          </a:p>
        </p:txBody>
      </p:sp>
      <p:sp>
        <p:nvSpPr>
          <p:cNvPr id="169" name="Shape 167"/>
          <p:cNvSpPr/>
          <p:nvPr/>
        </p:nvSpPr>
        <p:spPr>
          <a:xfrm>
            <a:off x="11457432" y="4852237"/>
            <a:ext cx="54864" cy="132319"/>
          </a:xfrm>
          <a:prstGeom prst="rect">
            <a:avLst/>
          </a:prstGeom>
          <a:solidFill>
            <a:srgbClr val="C2352F"/>
          </a:solidFill>
          <a:ln/>
        </p:spPr>
      </p:sp>
      <p:sp>
        <p:nvSpPr>
          <p:cNvPr id="170" name="Text 168"/>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1" name="Text 169"/>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2" name="Shape 170"/>
          <p:cNvSpPr/>
          <p:nvPr/>
        </p:nvSpPr>
        <p:spPr>
          <a:xfrm>
            <a:off x="8970632" y="5090691"/>
            <a:ext cx="159652" cy="102929"/>
          </a:xfrm>
          <a:prstGeom prst="rect">
            <a:avLst/>
          </a:prstGeom>
          <a:solidFill>
            <a:srgbClr val="C2352F"/>
          </a:solidFill>
          <a:ln/>
        </p:spPr>
      </p:sp>
      <p:sp>
        <p:nvSpPr>
          <p:cNvPr id="173" name="Text 171"/>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−$567K</a:t>
            </a:r>
            <a:endParaRPr lang="en-US" sz="1200" dirty="0"/>
          </a:p>
        </p:txBody>
      </p:sp>
      <p:sp>
        <p:nvSpPr>
          <p:cNvPr id="174" name="Text 172"/>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−27.4%</a:t>
            </a:r>
            <a:endParaRPr lang="en-US" sz="1200" dirty="0"/>
          </a:p>
        </p:txBody>
      </p:sp>
      <p:sp>
        <p:nvSpPr>
          <p:cNvPr id="175" name="Text 173"/>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6" name="Text 174"/>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77" name="Shape 175"/>
          <p:cNvSpPr/>
          <p:nvPr/>
        </p:nvSpPr>
        <p:spPr>
          <a:xfrm>
            <a:off x="8965208" y="5314450"/>
            <a:ext cx="165076" cy="102929"/>
          </a:xfrm>
          <a:prstGeom prst="rect">
            <a:avLst/>
          </a:prstGeom>
          <a:solidFill>
            <a:srgbClr val="C2352F"/>
          </a:solidFill>
          <a:ln/>
        </p:spPr>
      </p:sp>
      <p:sp>
        <p:nvSpPr>
          <p:cNvPr id="178" name="Text 176"/>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−$586K</a:t>
            </a:r>
            <a:endParaRPr lang="en-US" sz="1200" dirty="0"/>
          </a:p>
        </p:txBody>
      </p:sp>
      <p:sp>
        <p:nvSpPr>
          <p:cNvPr id="179" name="Text 177"/>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80" name="Text 178"/>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1" name="Text 179"/>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2" name="Shape 180"/>
          <p:cNvSpPr/>
          <p:nvPr/>
        </p:nvSpPr>
        <p:spPr>
          <a:xfrm>
            <a:off x="8898849" y="5538209"/>
            <a:ext cx="231435" cy="102929"/>
          </a:xfrm>
          <a:prstGeom prst="rect">
            <a:avLst/>
          </a:prstGeom>
          <a:solidFill>
            <a:srgbClr val="C2352F"/>
          </a:solidFill>
          <a:ln/>
        </p:spPr>
      </p:sp>
      <p:sp>
        <p:nvSpPr>
          <p:cNvPr id="183" name="Text 181"/>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−$822K</a:t>
            </a:r>
            <a:endParaRPr lang="en-US" sz="1200" dirty="0"/>
          </a:p>
        </p:txBody>
      </p:sp>
      <p:sp>
        <p:nvSpPr>
          <p:cNvPr id="184" name="Text 182"/>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185" name="Shape 183"/>
          <p:cNvSpPr/>
          <p:nvPr/>
        </p:nvSpPr>
        <p:spPr>
          <a:xfrm>
            <a:off x="11457432" y="5523514"/>
            <a:ext cx="54864" cy="132319"/>
          </a:xfrm>
          <a:prstGeom prst="rect">
            <a:avLst/>
          </a:prstGeom>
          <a:solidFill>
            <a:srgbClr val="C2352F"/>
          </a:solidFill>
          <a:ln/>
        </p:spPr>
      </p:sp>
      <p:sp>
        <p:nvSpPr>
          <p:cNvPr id="186" name="Shape 184"/>
          <p:cNvSpPr/>
          <p:nvPr/>
        </p:nvSpPr>
        <p:spPr>
          <a:xfrm>
            <a:off x="3574390" y="2121408"/>
            <a:ext cx="10973" cy="3803904"/>
          </a:xfrm>
          <a:prstGeom prst="rect">
            <a:avLst/>
          </a:prstGeom>
          <a:solidFill>
            <a:srgbClr val="9AA3AD"/>
          </a:solidFill>
          <a:ln/>
        </p:spPr>
      </p:sp>
      <p:sp>
        <p:nvSpPr>
          <p:cNvPr id="187" name="Shape 185"/>
          <p:cNvSpPr/>
          <p:nvPr/>
        </p:nvSpPr>
        <p:spPr>
          <a:xfrm>
            <a:off x="9124798" y="2121408"/>
            <a:ext cx="10973" cy="3803904"/>
          </a:xfrm>
          <a:prstGeom prst="rect">
            <a:avLst/>
          </a:prstGeom>
          <a:solidFill>
            <a:srgbClr val="9AA3AD"/>
          </a:solidFill>
          <a:ln/>
        </p:spPr>
      </p:sp>
      <p:sp>
        <p:nvSpPr>
          <p:cNvPr id="188" name="Shape 186"/>
          <p:cNvSpPr/>
          <p:nvPr/>
        </p:nvSpPr>
        <p:spPr>
          <a:xfrm>
            <a:off x="6085332" y="2121408"/>
            <a:ext cx="10973" cy="3803904"/>
          </a:xfrm>
          <a:prstGeom prst="rect">
            <a:avLst/>
          </a:prstGeom>
          <a:solidFill>
            <a:srgbClr val="D9D9D9"/>
          </a:solidFill>
          <a:ln/>
        </p:spPr>
      </p:sp>
      <p:sp>
        <p:nvSpPr>
          <p:cNvPr id="189" name="Shape 187"/>
          <p:cNvSpPr/>
          <p:nvPr/>
        </p:nvSpPr>
        <p:spPr>
          <a:xfrm>
            <a:off x="457200" y="6126480"/>
            <a:ext cx="11274552" cy="615696"/>
          </a:xfrm>
          <a:prstGeom prst="rect">
            <a:avLst/>
          </a:prstGeom>
          <a:solidFill>
            <a:srgbClr val="E6F6EE"/>
          </a:solidFill>
          <a:ln/>
        </p:spPr>
      </p:sp>
      <p:sp>
        <p:nvSpPr>
          <p:cNvPr id="190" name="Text 18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 of 33 stores grew warranty gross. Cadillac added the most at +$2.03M (+49.5%); VW Henderson fell most at −$822K (−35.0%).</a:t>
            </a:r>
            <a:endParaRPr lang="en-US" sz="1600" dirty="0"/>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WARRANTY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Warranty Gross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$4.10M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$6.13M</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+49.5%</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$510K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$704K</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+38.0%</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$3.24M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$4.23M</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+30.4%</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$572K</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$668K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$837K</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$983K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$573K</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−41.7%</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$218K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$135K</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−38.1%</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$1.52M</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−35.0%</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$1.68M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$1.10M</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−34.8%</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$403K</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−28.9%</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$156K</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+57.0%</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$244K</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+49.6%</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$135K</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$139K</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+38.2%</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$125K</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+32.4%</a:t>
            </a:r>
            <a:endParaRPr lang="en-US" sz="1600" dirty="0"/>
          </a:p>
        </p:txBody>
      </p:sp>
      <p:sp>
        <p:nvSpPr>
          <p:cNvPr id="69" name="Shape 67"/>
          <p:cNvSpPr/>
          <p:nvPr/>
        </p:nvSpPr>
        <p:spPr>
          <a:xfrm>
            <a:off x="457200" y="6126480"/>
            <a:ext cx="11274552" cy="615696"/>
          </a:xfrm>
          <a:prstGeom prst="rect">
            <a:avLst/>
          </a:prstGeom>
          <a:solidFill>
            <a:srgbClr val="EDF4FA"/>
          </a:solidFill>
          <a:ln/>
        </p:spPr>
      </p:sp>
      <p:sp>
        <p:nvSpPr>
          <p:cNvPr id="70" name="Text 6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Ask Cadillac, Lexus and Audi Henderson what changed. Ask Acura, Honda Flagstaff and VW Henderson what got in the way. Ask Honda North, LR LV and Nissan what they started this year.</a:t>
            </a:r>
            <a:endParaRPr lang="en-US" sz="1600" dirty="0"/>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Better Than Last Year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Jan–Sep 2026 vs Jan–Sep 2025</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+46.0%</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+33.8%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−4.4%</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−14.1%</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−20.1%</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+13.6%</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+10.5%</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−10.5%</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−11.4%</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+30.7%</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Reno</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Volvo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−5.0%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−6.9%</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LV</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−19.0%</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Nissan</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Toyota Spokane</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Lincoln, Subaru Prescott and Subaru St George (2 of 5). Most bottom-three: VW St George (3 of 5).</a:t>
            </a:r>
            <a:endParaRPr lang="en-US" sz="1600" dirty="0"/>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80160"/>
            <a:ext cx="10762488" cy="2560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and bottom three stores on each measure, Q3 2026 vs Q1 2026 (gross and ROs per month). Group change = the season.</a:t>
            </a:r>
            <a:endParaRPr lang="en-US" sz="1400" dirty="0"/>
          </a:p>
        </p:txBody>
      </p:sp>
      <p:sp>
        <p:nvSpPr>
          <p:cNvPr id="7" name="Shape 5"/>
          <p:cNvSpPr/>
          <p:nvPr/>
        </p:nvSpPr>
        <p:spPr>
          <a:xfrm>
            <a:off x="621792" y="2331720"/>
            <a:ext cx="45720" cy="1591056"/>
          </a:xfrm>
          <a:prstGeom prst="rect">
            <a:avLst/>
          </a:prstGeom>
          <a:solidFill>
            <a:srgbClr val="12A566"/>
          </a:solidFill>
          <a:ln/>
        </p:spPr>
      </p:sp>
      <p:sp>
        <p:nvSpPr>
          <p:cNvPr id="8" name="Shape 6"/>
          <p:cNvSpPr/>
          <p:nvPr/>
        </p:nvSpPr>
        <p:spPr>
          <a:xfrm>
            <a:off x="685800" y="2331720"/>
            <a:ext cx="10881360" cy="530352"/>
          </a:xfrm>
          <a:prstGeom prst="rect">
            <a:avLst/>
          </a:prstGeom>
          <a:solidFill>
            <a:srgbClr val="F7F7F7"/>
          </a:solidFill>
          <a:ln/>
        </p:spPr>
      </p:sp>
      <p:sp>
        <p:nvSpPr>
          <p:cNvPr id="9" name="Text 7"/>
          <p:cNvSpPr txBox="1"/>
          <p:nvPr/>
        </p:nvSpPr>
        <p:spPr>
          <a:xfrm>
            <a:off x="676656" y="2331720"/>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1</a:t>
            </a:r>
            <a:endParaRPr lang="en-US" sz="1600" dirty="0"/>
          </a:p>
        </p:txBody>
      </p:sp>
      <p:sp>
        <p:nvSpPr>
          <p:cNvPr id="10" name="Text 8"/>
          <p:cNvSpPr txBox="1"/>
          <p:nvPr/>
        </p:nvSpPr>
        <p:spPr>
          <a:xfrm>
            <a:off x="676656" y="2862072"/>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11" name="Shape 9"/>
          <p:cNvSpPr/>
          <p:nvPr/>
        </p:nvSpPr>
        <p:spPr>
          <a:xfrm>
            <a:off x="685800" y="3392424"/>
            <a:ext cx="10881360" cy="530352"/>
          </a:xfrm>
          <a:prstGeom prst="rect">
            <a:avLst/>
          </a:prstGeom>
          <a:solidFill>
            <a:srgbClr val="F7F7F7"/>
          </a:solidFill>
          <a:ln/>
        </p:spPr>
      </p:sp>
      <p:sp>
        <p:nvSpPr>
          <p:cNvPr id="12" name="Text 10"/>
          <p:cNvSpPr txBox="1"/>
          <p:nvPr/>
        </p:nvSpPr>
        <p:spPr>
          <a:xfrm>
            <a:off x="676656" y="3392424"/>
            <a:ext cx="274320" cy="530352"/>
          </a:xfrm>
          <a:prstGeom prst="rect">
            <a:avLst/>
          </a:prstGeom>
          <a:noFill/>
          <a:ln/>
        </p:spPr>
        <p:txBody>
          <a:bodyPr wrap="square" lIns="0" tIns="0" rIns="0" bIns="0" rtlCol="0" anchor="ctr"/>
          <a:lstStyle/>
          <a:p>
            <a:pPr algn="ct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13" name="Shape 11"/>
          <p:cNvSpPr/>
          <p:nvPr/>
        </p:nvSpPr>
        <p:spPr>
          <a:xfrm>
            <a:off x="621792" y="4078224"/>
            <a:ext cx="45720" cy="1591056"/>
          </a:xfrm>
          <a:prstGeom prst="rect">
            <a:avLst/>
          </a:prstGeom>
          <a:solidFill>
            <a:srgbClr val="C2352F"/>
          </a:solidFill>
          <a:ln/>
        </p:spPr>
      </p:sp>
      <p:sp>
        <p:nvSpPr>
          <p:cNvPr id="14" name="Shape 12"/>
          <p:cNvSpPr/>
          <p:nvPr/>
        </p:nvSpPr>
        <p:spPr>
          <a:xfrm>
            <a:off x="685800" y="4078224"/>
            <a:ext cx="10881360" cy="530352"/>
          </a:xfrm>
          <a:prstGeom prst="rect">
            <a:avLst/>
          </a:prstGeom>
          <a:solidFill>
            <a:srgbClr val="F7F7F7"/>
          </a:solidFill>
          <a:ln/>
        </p:spPr>
      </p:sp>
      <p:sp>
        <p:nvSpPr>
          <p:cNvPr id="15" name="Text 13"/>
          <p:cNvSpPr txBox="1"/>
          <p:nvPr/>
        </p:nvSpPr>
        <p:spPr>
          <a:xfrm>
            <a:off x="676656" y="4078224"/>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16" name="Text 14"/>
          <p:cNvSpPr txBox="1"/>
          <p:nvPr/>
        </p:nvSpPr>
        <p:spPr>
          <a:xfrm>
            <a:off x="676656" y="4608576"/>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32</a:t>
            </a:r>
            <a:endParaRPr lang="en-US" sz="1600" dirty="0"/>
          </a:p>
        </p:txBody>
      </p:sp>
      <p:sp>
        <p:nvSpPr>
          <p:cNvPr id="17" name="Shape 15"/>
          <p:cNvSpPr/>
          <p:nvPr/>
        </p:nvSpPr>
        <p:spPr>
          <a:xfrm>
            <a:off x="685800" y="5138928"/>
            <a:ext cx="10881360" cy="530352"/>
          </a:xfrm>
          <a:prstGeom prst="rect">
            <a:avLst/>
          </a:prstGeom>
          <a:solidFill>
            <a:srgbClr val="F7F7F7"/>
          </a:solidFill>
          <a:ln/>
        </p:spPr>
      </p:sp>
      <p:sp>
        <p:nvSpPr>
          <p:cNvPr id="18" name="Text 16"/>
          <p:cNvSpPr txBox="1"/>
          <p:nvPr/>
        </p:nvSpPr>
        <p:spPr>
          <a:xfrm>
            <a:off x="676656" y="5138928"/>
            <a:ext cx="274320" cy="530352"/>
          </a:xfrm>
          <a:prstGeom prst="rect">
            <a:avLst/>
          </a:prstGeom>
          <a:noFill/>
          <a:ln/>
        </p:spPr>
        <p:txBody>
          <a:bodyPr wrap="square" lIns="0" tIns="0" rIns="0" bIns="0" rtlCol="0" anchor="ctr"/>
          <a:lstStyle/>
          <a:p>
            <a:pPr algn="ctr" indent="0" marL="0">
              <a:buNone/>
            </a:pPr>
            <a:r>
              <a:rPr lang="en-US" sz="1600" b="1" dirty="0">
                <a:solidFill>
                  <a:srgbClr val="A82B26"/>
                </a:solidFill>
                <a:latin typeface="Inter" pitchFamily="34" charset="0"/>
                <a:ea typeface="Inter" pitchFamily="34" charset="-122"/>
                <a:cs typeface="Inter" pitchFamily="34" charset="-120"/>
              </a:rPr>
              <a:t>33</a:t>
            </a:r>
            <a:endParaRPr lang="en-US" sz="1600" dirty="0"/>
          </a:p>
        </p:txBody>
      </p:sp>
      <p:sp>
        <p:nvSpPr>
          <p:cNvPr id="19" name="Shape 17"/>
          <p:cNvSpPr/>
          <p:nvPr/>
        </p:nvSpPr>
        <p:spPr>
          <a:xfrm>
            <a:off x="969264" y="1691640"/>
            <a:ext cx="2026310" cy="45720"/>
          </a:xfrm>
          <a:prstGeom prst="rect">
            <a:avLst/>
          </a:prstGeom>
          <a:solidFill>
            <a:srgbClr val="12A566"/>
          </a:solidFill>
          <a:ln/>
        </p:spPr>
      </p:sp>
      <p:sp>
        <p:nvSpPr>
          <p:cNvPr id="20" name="Text 18"/>
          <p:cNvSpPr txBox="1"/>
          <p:nvPr/>
        </p:nvSpPr>
        <p:spPr>
          <a:xfrm>
            <a:off x="987552"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GROSS</a:t>
            </a:r>
            <a:endParaRPr lang="en-US" sz="1300" dirty="0"/>
          </a:p>
        </p:txBody>
      </p:sp>
      <p:sp>
        <p:nvSpPr>
          <p:cNvPr id="21" name="Text 19"/>
          <p:cNvSpPr txBox="1"/>
          <p:nvPr/>
        </p:nvSpPr>
        <p:spPr>
          <a:xfrm>
            <a:off x="987552"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22" name="Text 20"/>
          <p:cNvSpPr txBox="1"/>
          <p:nvPr/>
        </p:nvSpPr>
        <p:spPr>
          <a:xfrm>
            <a:off x="987552"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23" name="Text 21"/>
          <p:cNvSpPr txBox="1"/>
          <p:nvPr/>
        </p:nvSpPr>
        <p:spPr>
          <a:xfrm>
            <a:off x="987552"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24" name="Text 22"/>
          <p:cNvSpPr txBox="1"/>
          <p:nvPr/>
        </p:nvSpPr>
        <p:spPr>
          <a:xfrm>
            <a:off x="987552"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Kia St George</a:t>
            </a:r>
            <a:endParaRPr lang="en-US" sz="1300" dirty="0"/>
          </a:p>
        </p:txBody>
      </p:sp>
      <p:sp>
        <p:nvSpPr>
          <p:cNvPr id="25" name="Text 23"/>
          <p:cNvSpPr txBox="1"/>
          <p:nvPr/>
        </p:nvSpPr>
        <p:spPr>
          <a:xfrm>
            <a:off x="987552"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6" name="Text 24"/>
          <p:cNvSpPr txBox="1"/>
          <p:nvPr/>
        </p:nvSpPr>
        <p:spPr>
          <a:xfrm>
            <a:off x="987552"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27" name="Text 25"/>
          <p:cNvSpPr txBox="1"/>
          <p:nvPr/>
        </p:nvSpPr>
        <p:spPr>
          <a:xfrm>
            <a:off x="987552"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28" name="Text 26"/>
          <p:cNvSpPr txBox="1"/>
          <p:nvPr/>
        </p:nvSpPr>
        <p:spPr>
          <a:xfrm>
            <a:off x="987552"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9" name="Text 27"/>
          <p:cNvSpPr txBox="1"/>
          <p:nvPr/>
        </p:nvSpPr>
        <p:spPr>
          <a:xfrm>
            <a:off x="987552"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−0.9%</a:t>
            </a:r>
            <a:endParaRPr lang="en-US" sz="1600" dirty="0"/>
          </a:p>
        </p:txBody>
      </p:sp>
      <p:sp>
        <p:nvSpPr>
          <p:cNvPr id="30" name="Text 28"/>
          <p:cNvSpPr txBox="1"/>
          <p:nvPr/>
        </p:nvSpPr>
        <p:spPr>
          <a:xfrm>
            <a:off x="987552"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31" name="Text 29"/>
          <p:cNvSpPr txBox="1"/>
          <p:nvPr/>
        </p:nvSpPr>
        <p:spPr>
          <a:xfrm>
            <a:off x="987552"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32" name="Text 30"/>
          <p:cNvSpPr txBox="1"/>
          <p:nvPr/>
        </p:nvSpPr>
        <p:spPr>
          <a:xfrm>
            <a:off x="987552"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33" name="Text 31"/>
          <p:cNvSpPr txBox="1"/>
          <p:nvPr/>
        </p:nvSpPr>
        <p:spPr>
          <a:xfrm>
            <a:off x="987552"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−10.7%</a:t>
            </a:r>
            <a:endParaRPr lang="en-US" sz="1600" dirty="0"/>
          </a:p>
        </p:txBody>
      </p:sp>
      <p:sp>
        <p:nvSpPr>
          <p:cNvPr id="34" name="Shape 32"/>
          <p:cNvSpPr/>
          <p:nvPr/>
        </p:nvSpPr>
        <p:spPr>
          <a:xfrm>
            <a:off x="3105302" y="1691640"/>
            <a:ext cx="2026310" cy="45720"/>
          </a:xfrm>
          <a:prstGeom prst="rect">
            <a:avLst/>
          </a:prstGeom>
          <a:solidFill>
            <a:srgbClr val="12A566"/>
          </a:solidFill>
          <a:ln/>
        </p:spPr>
      </p:sp>
      <p:sp>
        <p:nvSpPr>
          <p:cNvPr id="35" name="Text 33"/>
          <p:cNvSpPr txBox="1"/>
          <p:nvPr/>
        </p:nvSpPr>
        <p:spPr>
          <a:xfrm>
            <a:off x="3123590"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ROS</a:t>
            </a:r>
            <a:endParaRPr lang="en-US" sz="1300" dirty="0"/>
          </a:p>
        </p:txBody>
      </p:sp>
      <p:sp>
        <p:nvSpPr>
          <p:cNvPr id="36" name="Text 34"/>
          <p:cNvSpPr txBox="1"/>
          <p:nvPr/>
        </p:nvSpPr>
        <p:spPr>
          <a:xfrm>
            <a:off x="3123590"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+7.5%</a:t>
            </a:r>
            <a:endParaRPr lang="en-US" sz="1300" dirty="0"/>
          </a:p>
        </p:txBody>
      </p:sp>
      <p:sp>
        <p:nvSpPr>
          <p:cNvPr id="37" name="Text 35"/>
          <p:cNvSpPr txBox="1"/>
          <p:nvPr/>
        </p:nvSpPr>
        <p:spPr>
          <a:xfrm>
            <a:off x="3123590"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38" name="Text 36"/>
          <p:cNvSpPr txBox="1"/>
          <p:nvPr/>
        </p:nvSpPr>
        <p:spPr>
          <a:xfrm>
            <a:off x="3123590"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39" name="Text 37"/>
          <p:cNvSpPr txBox="1"/>
          <p:nvPr/>
        </p:nvSpPr>
        <p:spPr>
          <a:xfrm>
            <a:off x="3123590"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CDJR Post Falls</a:t>
            </a:r>
            <a:endParaRPr lang="en-US" sz="1300" dirty="0"/>
          </a:p>
        </p:txBody>
      </p:sp>
      <p:sp>
        <p:nvSpPr>
          <p:cNvPr id="40" name="Text 38"/>
          <p:cNvSpPr txBox="1"/>
          <p:nvPr/>
        </p:nvSpPr>
        <p:spPr>
          <a:xfrm>
            <a:off x="3123590"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41" name="Text 39"/>
          <p:cNvSpPr txBox="1"/>
          <p:nvPr/>
        </p:nvSpPr>
        <p:spPr>
          <a:xfrm>
            <a:off x="3123590"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LR LV</a:t>
            </a:r>
            <a:endParaRPr lang="en-US" sz="1300" dirty="0"/>
          </a:p>
        </p:txBody>
      </p:sp>
      <p:sp>
        <p:nvSpPr>
          <p:cNvPr id="42" name="Text 40"/>
          <p:cNvSpPr txBox="1"/>
          <p:nvPr/>
        </p:nvSpPr>
        <p:spPr>
          <a:xfrm>
            <a:off x="3123590"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43" name="Text 41"/>
          <p:cNvSpPr txBox="1"/>
          <p:nvPr/>
        </p:nvSpPr>
        <p:spPr>
          <a:xfrm>
            <a:off x="3123590"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44" name="Text 42"/>
          <p:cNvSpPr txBox="1"/>
          <p:nvPr/>
        </p:nvSpPr>
        <p:spPr>
          <a:xfrm>
            <a:off x="3123590"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−2.0%</a:t>
            </a:r>
            <a:endParaRPr lang="en-US" sz="1600" dirty="0"/>
          </a:p>
        </p:txBody>
      </p:sp>
      <p:sp>
        <p:nvSpPr>
          <p:cNvPr id="45" name="Text 43"/>
          <p:cNvSpPr txBox="1"/>
          <p:nvPr/>
        </p:nvSpPr>
        <p:spPr>
          <a:xfrm>
            <a:off x="3123590"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46" name="Text 44"/>
          <p:cNvSpPr txBox="1"/>
          <p:nvPr/>
        </p:nvSpPr>
        <p:spPr>
          <a:xfrm>
            <a:off x="3123590"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47" name="Text 45"/>
          <p:cNvSpPr txBox="1"/>
          <p:nvPr/>
        </p:nvSpPr>
        <p:spPr>
          <a:xfrm>
            <a:off x="3123590"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48" name="Text 46"/>
          <p:cNvSpPr txBox="1"/>
          <p:nvPr/>
        </p:nvSpPr>
        <p:spPr>
          <a:xfrm>
            <a:off x="3123590"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9" name="Shape 47"/>
          <p:cNvSpPr/>
          <p:nvPr/>
        </p:nvSpPr>
        <p:spPr>
          <a:xfrm>
            <a:off x="5241341" y="1691640"/>
            <a:ext cx="2026310" cy="45720"/>
          </a:xfrm>
          <a:prstGeom prst="rect">
            <a:avLst/>
          </a:prstGeom>
          <a:solidFill>
            <a:srgbClr val="12A566"/>
          </a:solidFill>
          <a:ln/>
        </p:spPr>
      </p:sp>
      <p:sp>
        <p:nvSpPr>
          <p:cNvPr id="50" name="Text 48"/>
          <p:cNvSpPr txBox="1"/>
          <p:nvPr/>
        </p:nvSpPr>
        <p:spPr>
          <a:xfrm>
            <a:off x="5259629"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HOURS PER RO</a:t>
            </a:r>
            <a:endParaRPr lang="en-US" sz="1300" dirty="0"/>
          </a:p>
        </p:txBody>
      </p:sp>
      <p:sp>
        <p:nvSpPr>
          <p:cNvPr id="51" name="Text 49"/>
          <p:cNvSpPr txBox="1"/>
          <p:nvPr/>
        </p:nvSpPr>
        <p:spPr>
          <a:xfrm>
            <a:off x="5259629"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−1.8%</a:t>
            </a:r>
            <a:endParaRPr lang="en-US" sz="1300" dirty="0"/>
          </a:p>
        </p:txBody>
      </p:sp>
      <p:sp>
        <p:nvSpPr>
          <p:cNvPr id="52" name="Text 50"/>
          <p:cNvSpPr txBox="1"/>
          <p:nvPr/>
        </p:nvSpPr>
        <p:spPr>
          <a:xfrm>
            <a:off x="5259629"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Mazda</a:t>
            </a:r>
            <a:endParaRPr lang="en-US" sz="1300" dirty="0"/>
          </a:p>
        </p:txBody>
      </p:sp>
      <p:sp>
        <p:nvSpPr>
          <p:cNvPr id="53" name="Text 51"/>
          <p:cNvSpPr txBox="1"/>
          <p:nvPr/>
        </p:nvSpPr>
        <p:spPr>
          <a:xfrm>
            <a:off x="5259629"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54" name="Text 52"/>
          <p:cNvSpPr txBox="1"/>
          <p:nvPr/>
        </p:nvSpPr>
        <p:spPr>
          <a:xfrm>
            <a:off x="5259629"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Prescott</a:t>
            </a:r>
            <a:endParaRPr lang="en-US" sz="1300" dirty="0"/>
          </a:p>
        </p:txBody>
      </p:sp>
      <p:sp>
        <p:nvSpPr>
          <p:cNvPr id="55" name="Text 53"/>
          <p:cNvSpPr txBox="1"/>
          <p:nvPr/>
        </p:nvSpPr>
        <p:spPr>
          <a:xfrm>
            <a:off x="5259629"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56" name="Text 54"/>
          <p:cNvSpPr txBox="1"/>
          <p:nvPr/>
        </p:nvSpPr>
        <p:spPr>
          <a:xfrm>
            <a:off x="5259629"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7" name="Text 55"/>
          <p:cNvSpPr txBox="1"/>
          <p:nvPr/>
        </p:nvSpPr>
        <p:spPr>
          <a:xfrm>
            <a:off x="5259629"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58" name="Text 56"/>
          <p:cNvSpPr txBox="1"/>
          <p:nvPr/>
        </p:nvSpPr>
        <p:spPr>
          <a:xfrm>
            <a:off x="5259629"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59" name="Text 57"/>
          <p:cNvSpPr txBox="1"/>
          <p:nvPr/>
        </p:nvSpPr>
        <p:spPr>
          <a:xfrm>
            <a:off x="5259629"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−9.9%</a:t>
            </a:r>
            <a:endParaRPr lang="en-US" sz="1600" dirty="0"/>
          </a:p>
        </p:txBody>
      </p:sp>
      <p:sp>
        <p:nvSpPr>
          <p:cNvPr id="60" name="Text 58"/>
          <p:cNvSpPr txBox="1"/>
          <p:nvPr/>
        </p:nvSpPr>
        <p:spPr>
          <a:xfrm>
            <a:off x="5259629"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Henderson</a:t>
            </a:r>
            <a:endParaRPr lang="en-US" sz="1300" dirty="0"/>
          </a:p>
        </p:txBody>
      </p:sp>
      <p:sp>
        <p:nvSpPr>
          <p:cNvPr id="61" name="Text 59"/>
          <p:cNvSpPr txBox="1"/>
          <p:nvPr/>
        </p:nvSpPr>
        <p:spPr>
          <a:xfrm>
            <a:off x="5259629"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62" name="Text 60"/>
          <p:cNvSpPr txBox="1"/>
          <p:nvPr/>
        </p:nvSpPr>
        <p:spPr>
          <a:xfrm>
            <a:off x="5259629"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Cadillac</a:t>
            </a:r>
            <a:endParaRPr lang="en-US" sz="1300" dirty="0"/>
          </a:p>
        </p:txBody>
      </p:sp>
      <p:sp>
        <p:nvSpPr>
          <p:cNvPr id="63" name="Text 61"/>
          <p:cNvSpPr txBox="1"/>
          <p:nvPr/>
        </p:nvSpPr>
        <p:spPr>
          <a:xfrm>
            <a:off x="5259629"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−14.0%</a:t>
            </a:r>
            <a:endParaRPr lang="en-US" sz="1600" dirty="0"/>
          </a:p>
        </p:txBody>
      </p:sp>
      <p:sp>
        <p:nvSpPr>
          <p:cNvPr id="64" name="Shape 62"/>
          <p:cNvSpPr/>
          <p:nvPr/>
        </p:nvSpPr>
        <p:spPr>
          <a:xfrm>
            <a:off x="7377379" y="1691640"/>
            <a:ext cx="2026310" cy="45720"/>
          </a:xfrm>
          <a:prstGeom prst="rect">
            <a:avLst/>
          </a:prstGeom>
          <a:solidFill>
            <a:srgbClr val="12A566"/>
          </a:solidFill>
          <a:ln/>
        </p:spPr>
      </p:sp>
      <p:sp>
        <p:nvSpPr>
          <p:cNvPr id="65" name="Text 63"/>
          <p:cNvSpPr txBox="1"/>
          <p:nvPr/>
        </p:nvSpPr>
        <p:spPr>
          <a:xfrm>
            <a:off x="7395667"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ELR</a:t>
            </a:r>
            <a:endParaRPr lang="en-US" sz="1300" dirty="0"/>
          </a:p>
        </p:txBody>
      </p:sp>
      <p:sp>
        <p:nvSpPr>
          <p:cNvPr id="66" name="Text 64"/>
          <p:cNvSpPr txBox="1"/>
          <p:nvPr/>
        </p:nvSpPr>
        <p:spPr>
          <a:xfrm>
            <a:off x="7395667"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+1.1%</a:t>
            </a:r>
            <a:endParaRPr lang="en-US" sz="1300" dirty="0"/>
          </a:p>
        </p:txBody>
      </p:sp>
      <p:sp>
        <p:nvSpPr>
          <p:cNvPr id="67" name="Text 65"/>
          <p:cNvSpPr txBox="1"/>
          <p:nvPr/>
        </p:nvSpPr>
        <p:spPr>
          <a:xfrm>
            <a:off x="7395667"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68" name="Text 66"/>
          <p:cNvSpPr txBox="1"/>
          <p:nvPr/>
        </p:nvSpPr>
        <p:spPr>
          <a:xfrm>
            <a:off x="7395667"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9" name="Text 67"/>
          <p:cNvSpPr txBox="1"/>
          <p:nvPr/>
        </p:nvSpPr>
        <p:spPr>
          <a:xfrm>
            <a:off x="7395667"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Audi Reno</a:t>
            </a:r>
            <a:endParaRPr lang="en-US" sz="1300" dirty="0"/>
          </a:p>
        </p:txBody>
      </p:sp>
      <p:sp>
        <p:nvSpPr>
          <p:cNvPr id="70" name="Text 68"/>
          <p:cNvSpPr txBox="1"/>
          <p:nvPr/>
        </p:nvSpPr>
        <p:spPr>
          <a:xfrm>
            <a:off x="7395667"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71" name="Text 69"/>
          <p:cNvSpPr txBox="1"/>
          <p:nvPr/>
        </p:nvSpPr>
        <p:spPr>
          <a:xfrm>
            <a:off x="7395667"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Spokane</a:t>
            </a:r>
            <a:endParaRPr lang="en-US" sz="1300" dirty="0"/>
          </a:p>
        </p:txBody>
      </p:sp>
      <p:sp>
        <p:nvSpPr>
          <p:cNvPr id="72" name="Text 70"/>
          <p:cNvSpPr txBox="1"/>
          <p:nvPr/>
        </p:nvSpPr>
        <p:spPr>
          <a:xfrm>
            <a:off x="7395667"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3" name="Text 71"/>
          <p:cNvSpPr txBox="1"/>
          <p:nvPr/>
        </p:nvSpPr>
        <p:spPr>
          <a:xfrm>
            <a:off x="7395667"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Subaru St George</a:t>
            </a:r>
            <a:endParaRPr lang="en-US" sz="1300" dirty="0"/>
          </a:p>
        </p:txBody>
      </p:sp>
      <p:sp>
        <p:nvSpPr>
          <p:cNvPr id="74" name="Text 72"/>
          <p:cNvSpPr txBox="1"/>
          <p:nvPr/>
        </p:nvSpPr>
        <p:spPr>
          <a:xfrm>
            <a:off x="7395667"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−3.0%</a:t>
            </a:r>
            <a:endParaRPr lang="en-US" sz="1600" dirty="0"/>
          </a:p>
        </p:txBody>
      </p:sp>
      <p:sp>
        <p:nvSpPr>
          <p:cNvPr id="75" name="Text 73"/>
          <p:cNvSpPr txBox="1"/>
          <p:nvPr/>
        </p:nvSpPr>
        <p:spPr>
          <a:xfrm>
            <a:off x="7395667"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Lexus</a:t>
            </a:r>
            <a:endParaRPr lang="en-US" sz="1300" dirty="0"/>
          </a:p>
        </p:txBody>
      </p:sp>
      <p:sp>
        <p:nvSpPr>
          <p:cNvPr id="76" name="Text 74"/>
          <p:cNvSpPr txBox="1"/>
          <p:nvPr/>
        </p:nvSpPr>
        <p:spPr>
          <a:xfrm>
            <a:off x="7395667"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−4.7%</a:t>
            </a:r>
            <a:endParaRPr lang="en-US" sz="1600" dirty="0"/>
          </a:p>
        </p:txBody>
      </p:sp>
      <p:sp>
        <p:nvSpPr>
          <p:cNvPr id="77" name="Text 75"/>
          <p:cNvSpPr txBox="1"/>
          <p:nvPr/>
        </p:nvSpPr>
        <p:spPr>
          <a:xfrm>
            <a:off x="7395667"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78" name="Text 76"/>
          <p:cNvSpPr txBox="1"/>
          <p:nvPr/>
        </p:nvSpPr>
        <p:spPr>
          <a:xfrm>
            <a:off x="7395667"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−14.2%</a:t>
            </a:r>
            <a:endParaRPr lang="en-US" sz="1600" dirty="0"/>
          </a:p>
        </p:txBody>
      </p:sp>
      <p:sp>
        <p:nvSpPr>
          <p:cNvPr id="79" name="Shape 77"/>
          <p:cNvSpPr/>
          <p:nvPr/>
        </p:nvSpPr>
        <p:spPr>
          <a:xfrm>
            <a:off x="9513418" y="1691640"/>
            <a:ext cx="2026310" cy="45720"/>
          </a:xfrm>
          <a:prstGeom prst="rect">
            <a:avLst/>
          </a:prstGeom>
          <a:solidFill>
            <a:srgbClr val="12A566"/>
          </a:solidFill>
          <a:ln/>
        </p:spPr>
      </p:sp>
      <p:sp>
        <p:nvSpPr>
          <p:cNvPr id="80" name="Text 78"/>
          <p:cNvSpPr txBox="1"/>
          <p:nvPr/>
        </p:nvSpPr>
        <p:spPr>
          <a:xfrm>
            <a:off x="9531706" y="1773936"/>
            <a:ext cx="1989734" cy="237744"/>
          </a:xfrm>
          <a:prstGeom prst="rect">
            <a:avLst/>
          </a:prstGeom>
          <a:noFill/>
          <a:ln/>
        </p:spPr>
        <p:txBody>
          <a:bodyPr wrap="square" lIns="0" tIns="0" rIns="0" bIns="0" rtlCol="0" anchor="ctr">
            <a:normAutofit/>
          </a:bodyPr>
          <a:lstStyle/>
          <a:p>
            <a:pPr indent="0" marL="0">
              <a:buNone/>
            </a:pPr>
            <a:r>
              <a:rPr lang="en-US" sz="1300" b="1" spc="30" kern="0" dirty="0">
                <a:solidFill>
                  <a:srgbClr val="595959"/>
                </a:solidFill>
                <a:latin typeface="Inter" pitchFamily="34" charset="0"/>
                <a:ea typeface="Inter" pitchFamily="34" charset="-122"/>
                <a:cs typeface="Inter" pitchFamily="34" charset="-120"/>
              </a:rPr>
              <a:t>CP PARTS GP %</a:t>
            </a:r>
            <a:endParaRPr lang="en-US" sz="1300" dirty="0"/>
          </a:p>
        </p:txBody>
      </p:sp>
      <p:sp>
        <p:nvSpPr>
          <p:cNvPr id="81" name="Text 79"/>
          <p:cNvSpPr txBox="1"/>
          <p:nvPr/>
        </p:nvSpPr>
        <p:spPr>
          <a:xfrm>
            <a:off x="9531706" y="1993392"/>
            <a:ext cx="1989734" cy="201168"/>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Group 0.0 pts</a:t>
            </a:r>
            <a:endParaRPr lang="en-US" sz="1300" dirty="0"/>
          </a:p>
        </p:txBody>
      </p:sp>
      <p:sp>
        <p:nvSpPr>
          <p:cNvPr id="82" name="Text 80"/>
          <p:cNvSpPr txBox="1"/>
          <p:nvPr/>
        </p:nvSpPr>
        <p:spPr>
          <a:xfrm>
            <a:off x="9531706" y="2377440"/>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Acura</a:t>
            </a:r>
            <a:endParaRPr lang="en-US" sz="1300" dirty="0"/>
          </a:p>
        </p:txBody>
      </p:sp>
      <p:sp>
        <p:nvSpPr>
          <p:cNvPr id="83" name="Text 81"/>
          <p:cNvSpPr txBox="1"/>
          <p:nvPr/>
        </p:nvSpPr>
        <p:spPr>
          <a:xfrm>
            <a:off x="9531706" y="2596896"/>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84" name="Text 82"/>
          <p:cNvSpPr txBox="1"/>
          <p:nvPr/>
        </p:nvSpPr>
        <p:spPr>
          <a:xfrm>
            <a:off x="9531706" y="2907792"/>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VW St George</a:t>
            </a:r>
            <a:endParaRPr lang="en-US" sz="1300" dirty="0"/>
          </a:p>
        </p:txBody>
      </p:sp>
      <p:sp>
        <p:nvSpPr>
          <p:cNvPr id="85" name="Text 83"/>
          <p:cNvSpPr txBox="1"/>
          <p:nvPr/>
        </p:nvSpPr>
        <p:spPr>
          <a:xfrm>
            <a:off x="9531706" y="3127248"/>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86" name="Text 84"/>
          <p:cNvSpPr txBox="1"/>
          <p:nvPr/>
        </p:nvSpPr>
        <p:spPr>
          <a:xfrm>
            <a:off x="9531706" y="34381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GMC Prescott</a:t>
            </a:r>
            <a:endParaRPr lang="en-US" sz="1300" dirty="0"/>
          </a:p>
        </p:txBody>
      </p:sp>
      <p:sp>
        <p:nvSpPr>
          <p:cNvPr id="87" name="Text 85"/>
          <p:cNvSpPr txBox="1"/>
          <p:nvPr/>
        </p:nvSpPr>
        <p:spPr>
          <a:xfrm>
            <a:off x="9531706" y="3657600"/>
            <a:ext cx="2026310" cy="22860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88" name="Text 86"/>
          <p:cNvSpPr txBox="1"/>
          <p:nvPr/>
        </p:nvSpPr>
        <p:spPr>
          <a:xfrm>
            <a:off x="9531706" y="4123944"/>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Chevy LV</a:t>
            </a:r>
            <a:endParaRPr lang="en-US" sz="1300" dirty="0"/>
          </a:p>
        </p:txBody>
      </p:sp>
      <p:sp>
        <p:nvSpPr>
          <p:cNvPr id="89" name="Text 87"/>
          <p:cNvSpPr txBox="1"/>
          <p:nvPr/>
        </p:nvSpPr>
        <p:spPr>
          <a:xfrm>
            <a:off x="9531706" y="4343400"/>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−3.1 pts</a:t>
            </a:r>
            <a:endParaRPr lang="en-US" sz="1600" dirty="0"/>
          </a:p>
        </p:txBody>
      </p:sp>
      <p:sp>
        <p:nvSpPr>
          <p:cNvPr id="90" name="Text 88"/>
          <p:cNvSpPr txBox="1"/>
          <p:nvPr/>
        </p:nvSpPr>
        <p:spPr>
          <a:xfrm>
            <a:off x="9531706" y="4654296"/>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Lincoln</a:t>
            </a:r>
            <a:endParaRPr lang="en-US" sz="1300" dirty="0"/>
          </a:p>
        </p:txBody>
      </p:sp>
      <p:sp>
        <p:nvSpPr>
          <p:cNvPr id="91" name="Text 89"/>
          <p:cNvSpPr txBox="1"/>
          <p:nvPr/>
        </p:nvSpPr>
        <p:spPr>
          <a:xfrm>
            <a:off x="9531706" y="4873752"/>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−3.8 pts</a:t>
            </a:r>
            <a:endParaRPr lang="en-US" sz="1600" dirty="0"/>
          </a:p>
        </p:txBody>
      </p:sp>
      <p:sp>
        <p:nvSpPr>
          <p:cNvPr id="92" name="Text 90"/>
          <p:cNvSpPr txBox="1"/>
          <p:nvPr/>
        </p:nvSpPr>
        <p:spPr>
          <a:xfrm>
            <a:off x="9531706" y="5184648"/>
            <a:ext cx="2044598" cy="219456"/>
          </a:xfrm>
          <a:prstGeom prst="rect">
            <a:avLst/>
          </a:prstGeom>
          <a:noFill/>
          <a:ln/>
        </p:spPr>
        <p:txBody>
          <a:bodyPr wrap="square" lIns="0" tIns="0" rIns="0" bIns="0" rtlCol="0" anchor="ctr"/>
          <a:lstStyle/>
          <a:p>
            <a:pPr indent="0" marL="0">
              <a:buNone/>
            </a:pPr>
            <a:r>
              <a:rPr lang="en-US" sz="1300" b="1" dirty="0">
                <a:solidFill>
                  <a:srgbClr val="1A1A1A"/>
                </a:solidFill>
                <a:latin typeface="Inter" pitchFamily="34" charset="0"/>
                <a:ea typeface="Inter" pitchFamily="34" charset="-122"/>
                <a:cs typeface="Inter" pitchFamily="34" charset="-120"/>
              </a:rPr>
              <a:t>Honda Henderson</a:t>
            </a:r>
            <a:endParaRPr lang="en-US" sz="1300" dirty="0"/>
          </a:p>
        </p:txBody>
      </p:sp>
      <p:sp>
        <p:nvSpPr>
          <p:cNvPr id="93" name="Text 91"/>
          <p:cNvSpPr txBox="1"/>
          <p:nvPr/>
        </p:nvSpPr>
        <p:spPr>
          <a:xfrm>
            <a:off x="9531706" y="5404104"/>
            <a:ext cx="2026310" cy="22860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−4.2 pts</a:t>
            </a:r>
            <a:endParaRPr lang="en-US" sz="1600" dirty="0"/>
          </a:p>
        </p:txBody>
      </p:sp>
      <p:sp>
        <p:nvSpPr>
          <p:cNvPr id="95" name="Shape 92"/>
          <p:cNvSpPr/>
          <p:nvPr/>
        </p:nvSpPr>
        <p:spPr>
          <a:xfrm>
            <a:off x="457200" y="6126480"/>
            <a:ext cx="11274552" cy="615696"/>
          </a:xfrm>
          <a:prstGeom prst="rect">
            <a:avLst/>
          </a:prstGeom>
          <a:solidFill>
            <a:srgbClr val="EDF4FA"/>
          </a:solidFill>
          <a:ln/>
        </p:spPr>
      </p:sp>
      <p:sp>
        <p:nvSpPr>
          <p:cNvPr id="96" name="Text 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Most top-three finishes: Mazda, CDJR Post Falls and VW St George (2 of 5). Most bottom-three: Honda Henderson and Cadillac (3 of 5).</a:t>
            </a:r>
            <a:endParaRPr lang="en-US" sz="1600" dirty="0"/>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Two Ways to Read Improvement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Better than last year · Jan–Sep 2026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9" name="Shape 7"/>
          <p:cNvSpPr/>
          <p:nvPr/>
        </p:nvSpPr>
        <p:spPr>
          <a:xfrm>
            <a:off x="621792" y="2176272"/>
            <a:ext cx="5230368" cy="585216"/>
          </a:xfrm>
          <a:prstGeom prst="rect">
            <a:avLst/>
          </a:prstGeom>
          <a:solidFill>
            <a:srgbClr val="F7F7F7"/>
          </a:solidFill>
          <a:ln/>
        </p:spPr>
      </p:sp>
      <p:sp>
        <p:nvSpPr>
          <p:cNvPr id="10" name="Text 8"/>
          <p:cNvSpPr txBox="1"/>
          <p:nvPr/>
        </p:nvSpPr>
        <p:spPr>
          <a:xfrm>
            <a:off x="731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1" name="Text 9"/>
          <p:cNvSpPr txBox="1"/>
          <p:nvPr/>
        </p:nvSpPr>
        <p:spPr>
          <a:xfrm>
            <a:off x="731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 parts GP%</a:t>
            </a:r>
            <a:endParaRPr lang="en-US" sz="1300" dirty="0"/>
          </a:p>
        </p:txBody>
      </p:sp>
      <p:sp>
        <p:nvSpPr>
          <p:cNvPr id="12" name="Shape 10"/>
          <p:cNvSpPr/>
          <p:nvPr/>
        </p:nvSpPr>
        <p:spPr>
          <a:xfrm>
            <a:off x="4343400" y="2351837"/>
            <a:ext cx="960120" cy="234086"/>
          </a:xfrm>
          <a:prstGeom prst="rect">
            <a:avLst/>
          </a:prstGeom>
          <a:solidFill>
            <a:srgbClr val="12A566"/>
          </a:solidFill>
          <a:ln/>
        </p:spPr>
      </p:sp>
      <p:sp>
        <p:nvSpPr>
          <p:cNvPr id="13" name="Text 11"/>
          <p:cNvSpPr txBox="1"/>
          <p:nvPr/>
        </p:nvSpPr>
        <p:spPr>
          <a:xfrm>
            <a:off x="5330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a:t>
            </a:r>
            <a:endParaRPr lang="en-US" sz="1800" dirty="0"/>
          </a:p>
        </p:txBody>
      </p:sp>
      <p:sp>
        <p:nvSpPr>
          <p:cNvPr id="14" name="Text 12"/>
          <p:cNvSpPr txBox="1"/>
          <p:nvPr/>
        </p:nvSpPr>
        <p:spPr>
          <a:xfrm>
            <a:off x="731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5" name="Text 13"/>
          <p:cNvSpPr txBox="1"/>
          <p:nvPr/>
        </p:nvSpPr>
        <p:spPr>
          <a:xfrm>
            <a:off x="731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16" name="Shape 14"/>
          <p:cNvSpPr/>
          <p:nvPr/>
        </p:nvSpPr>
        <p:spPr>
          <a:xfrm>
            <a:off x="4343400" y="2937053"/>
            <a:ext cx="720090" cy="234086"/>
          </a:xfrm>
          <a:prstGeom prst="rect">
            <a:avLst/>
          </a:prstGeom>
          <a:solidFill>
            <a:srgbClr val="12A566"/>
          </a:solidFill>
          <a:ln/>
        </p:spPr>
      </p:sp>
      <p:sp>
        <p:nvSpPr>
          <p:cNvPr id="17" name="Text 15"/>
          <p:cNvSpPr txBox="1"/>
          <p:nvPr/>
        </p:nvSpPr>
        <p:spPr>
          <a:xfrm>
            <a:off x="5330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18" name="Shape 16"/>
          <p:cNvSpPr/>
          <p:nvPr/>
        </p:nvSpPr>
        <p:spPr>
          <a:xfrm>
            <a:off x="621792" y="3346704"/>
            <a:ext cx="5230368" cy="585216"/>
          </a:xfrm>
          <a:prstGeom prst="rect">
            <a:avLst/>
          </a:prstGeom>
          <a:solidFill>
            <a:srgbClr val="F7F7F7"/>
          </a:solidFill>
          <a:ln/>
        </p:spPr>
      </p:sp>
      <p:sp>
        <p:nvSpPr>
          <p:cNvPr id="19" name="Text 17"/>
          <p:cNvSpPr txBox="1"/>
          <p:nvPr/>
        </p:nvSpPr>
        <p:spPr>
          <a:xfrm>
            <a:off x="731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0" name="Text 18"/>
          <p:cNvSpPr txBox="1"/>
          <p:nvPr/>
        </p:nvSpPr>
        <p:spPr>
          <a:xfrm>
            <a:off x="731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21" name="Shape 19"/>
          <p:cNvSpPr/>
          <p:nvPr/>
        </p:nvSpPr>
        <p:spPr>
          <a:xfrm>
            <a:off x="4343400" y="3522269"/>
            <a:ext cx="720090" cy="234086"/>
          </a:xfrm>
          <a:prstGeom prst="rect">
            <a:avLst/>
          </a:prstGeom>
          <a:solidFill>
            <a:srgbClr val="12A566"/>
          </a:solidFill>
          <a:ln/>
        </p:spPr>
      </p:sp>
      <p:sp>
        <p:nvSpPr>
          <p:cNvPr id="22" name="Text 20"/>
          <p:cNvSpPr txBox="1"/>
          <p:nvPr/>
        </p:nvSpPr>
        <p:spPr>
          <a:xfrm>
            <a:off x="5330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23" name="Text 21"/>
          <p:cNvSpPr txBox="1"/>
          <p:nvPr/>
        </p:nvSpPr>
        <p:spPr>
          <a:xfrm>
            <a:off x="731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4" name="Text 22"/>
          <p:cNvSpPr txBox="1"/>
          <p:nvPr/>
        </p:nvSpPr>
        <p:spPr>
          <a:xfrm>
            <a:off x="731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25" name="Shape 23"/>
          <p:cNvSpPr/>
          <p:nvPr/>
        </p:nvSpPr>
        <p:spPr>
          <a:xfrm>
            <a:off x="4343400" y="4107485"/>
            <a:ext cx="480060" cy="234086"/>
          </a:xfrm>
          <a:prstGeom prst="rect">
            <a:avLst/>
          </a:prstGeom>
          <a:solidFill>
            <a:srgbClr val="12A566"/>
          </a:solidFill>
          <a:ln/>
        </p:spPr>
      </p:sp>
      <p:sp>
        <p:nvSpPr>
          <p:cNvPr id="26" name="Text 24"/>
          <p:cNvSpPr txBox="1"/>
          <p:nvPr/>
        </p:nvSpPr>
        <p:spPr>
          <a:xfrm>
            <a:off x="5330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27" name="Shape 25"/>
          <p:cNvSpPr/>
          <p:nvPr/>
        </p:nvSpPr>
        <p:spPr>
          <a:xfrm>
            <a:off x="621792" y="4517136"/>
            <a:ext cx="5230368" cy="585216"/>
          </a:xfrm>
          <a:prstGeom prst="rect">
            <a:avLst/>
          </a:prstGeom>
          <a:solidFill>
            <a:srgbClr val="F7F7F7"/>
          </a:solidFill>
          <a:ln/>
        </p:spPr>
      </p:sp>
      <p:sp>
        <p:nvSpPr>
          <p:cNvPr id="28" name="Text 26"/>
          <p:cNvSpPr txBox="1"/>
          <p:nvPr/>
        </p:nvSpPr>
        <p:spPr>
          <a:xfrm>
            <a:off x="731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731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hours/RO</a:t>
            </a:r>
            <a:endParaRPr lang="en-US" sz="1300" dirty="0"/>
          </a:p>
        </p:txBody>
      </p:sp>
      <p:sp>
        <p:nvSpPr>
          <p:cNvPr id="30" name="Shape 28"/>
          <p:cNvSpPr/>
          <p:nvPr/>
        </p:nvSpPr>
        <p:spPr>
          <a:xfrm>
            <a:off x="4343400" y="4692701"/>
            <a:ext cx="480060" cy="234086"/>
          </a:xfrm>
          <a:prstGeom prst="rect">
            <a:avLst/>
          </a:prstGeom>
          <a:solidFill>
            <a:srgbClr val="12A566"/>
          </a:solidFill>
          <a:ln/>
        </p:spPr>
      </p:sp>
      <p:sp>
        <p:nvSpPr>
          <p:cNvPr id="31" name="Text 29"/>
          <p:cNvSpPr txBox="1"/>
          <p:nvPr/>
        </p:nvSpPr>
        <p:spPr>
          <a:xfrm>
            <a:off x="5330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2" name="Text 30"/>
          <p:cNvSpPr txBox="1"/>
          <p:nvPr/>
        </p:nvSpPr>
        <p:spPr>
          <a:xfrm>
            <a:off x="731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33" name="Text 31"/>
          <p:cNvSpPr txBox="1"/>
          <p:nvPr/>
        </p:nvSpPr>
        <p:spPr>
          <a:xfrm>
            <a:off x="731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ROs, parts GP%</a:t>
            </a:r>
            <a:endParaRPr lang="en-US" sz="1300" dirty="0"/>
          </a:p>
        </p:txBody>
      </p:sp>
      <p:sp>
        <p:nvSpPr>
          <p:cNvPr id="34" name="Shape 32"/>
          <p:cNvSpPr/>
          <p:nvPr/>
        </p:nvSpPr>
        <p:spPr>
          <a:xfrm>
            <a:off x="4343400" y="5277917"/>
            <a:ext cx="480060" cy="234086"/>
          </a:xfrm>
          <a:prstGeom prst="rect">
            <a:avLst/>
          </a:prstGeom>
          <a:solidFill>
            <a:srgbClr val="12A566"/>
          </a:solidFill>
          <a:ln/>
        </p:spPr>
      </p:sp>
      <p:sp>
        <p:nvSpPr>
          <p:cNvPr id="35" name="Text 33"/>
          <p:cNvSpPr txBox="1"/>
          <p:nvPr/>
        </p:nvSpPr>
        <p:spPr>
          <a:xfrm>
            <a:off x="5330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36" name="Shape 34"/>
          <p:cNvSpPr/>
          <p:nvPr/>
        </p:nvSpPr>
        <p:spPr>
          <a:xfrm>
            <a:off x="6172200" y="1207008"/>
            <a:ext cx="5559552" cy="4645152"/>
          </a:xfrm>
          <a:prstGeom prst="rect">
            <a:avLst/>
          </a:prstGeom>
          <a:solidFill>
            <a:srgbClr val="FFFFFF"/>
          </a:solidFill>
          <a:ln/>
        </p:spPr>
      </p:sp>
      <p:sp>
        <p:nvSpPr>
          <p:cNvPr id="37" name="Text 35"/>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Moving now · Q3 vs Q1, this year</a:t>
            </a:r>
            <a:endParaRPr lang="en-US" sz="1500" dirty="0"/>
          </a:p>
        </p:txBody>
      </p:sp>
      <p:sp>
        <p:nvSpPr>
          <p:cNvPr id="38" name="Shape 36"/>
          <p:cNvSpPr/>
          <p:nvPr/>
        </p:nvSpPr>
        <p:spPr>
          <a:xfrm>
            <a:off x="6400800" y="1691640"/>
            <a:ext cx="5102352" cy="10973"/>
          </a:xfrm>
          <a:prstGeom prst="rect">
            <a:avLst/>
          </a:prstGeom>
          <a:solidFill>
            <a:srgbClr val="1A1A1A"/>
          </a:solidFill>
          <a:ln/>
        </p:spPr>
      </p:sp>
      <p:sp>
        <p:nvSpPr>
          <p:cNvPr id="39" name="Text 37"/>
          <p:cNvSpPr txBox="1"/>
          <p:nvPr/>
        </p:nvSpPr>
        <p:spPr>
          <a:xfrm>
            <a:off x="6400800" y="1792224"/>
            <a:ext cx="5102352" cy="2743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Top-5 finishes, of five measures</a:t>
            </a:r>
            <a:endParaRPr lang="en-US" sz="1400" dirty="0"/>
          </a:p>
        </p:txBody>
      </p:sp>
      <p:sp>
        <p:nvSpPr>
          <p:cNvPr id="40" name="Shape 38"/>
          <p:cNvSpPr/>
          <p:nvPr/>
        </p:nvSpPr>
        <p:spPr>
          <a:xfrm>
            <a:off x="6336792" y="2176272"/>
            <a:ext cx="5230368" cy="585216"/>
          </a:xfrm>
          <a:prstGeom prst="rect">
            <a:avLst/>
          </a:prstGeom>
          <a:solidFill>
            <a:srgbClr val="F7F7F7"/>
          </a:solidFill>
          <a:ln/>
        </p:spPr>
      </p:sp>
      <p:sp>
        <p:nvSpPr>
          <p:cNvPr id="41" name="Text 39"/>
          <p:cNvSpPr txBox="1"/>
          <p:nvPr/>
        </p:nvSpPr>
        <p:spPr>
          <a:xfrm>
            <a:off x="6446520" y="222199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42" name="Text 40"/>
          <p:cNvSpPr txBox="1"/>
          <p:nvPr/>
        </p:nvSpPr>
        <p:spPr>
          <a:xfrm>
            <a:off x="6446520" y="247802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 hours/RO</a:t>
            </a:r>
            <a:endParaRPr lang="en-US" sz="1300" dirty="0"/>
          </a:p>
        </p:txBody>
      </p:sp>
      <p:sp>
        <p:nvSpPr>
          <p:cNvPr id="43" name="Shape 41"/>
          <p:cNvSpPr/>
          <p:nvPr/>
        </p:nvSpPr>
        <p:spPr>
          <a:xfrm>
            <a:off x="10058400" y="2351837"/>
            <a:ext cx="960120" cy="234086"/>
          </a:xfrm>
          <a:prstGeom prst="rect">
            <a:avLst/>
          </a:prstGeom>
          <a:solidFill>
            <a:srgbClr val="12A566"/>
          </a:solidFill>
          <a:ln/>
        </p:spPr>
      </p:sp>
      <p:sp>
        <p:nvSpPr>
          <p:cNvPr id="44" name="Text 42"/>
          <p:cNvSpPr txBox="1"/>
          <p:nvPr/>
        </p:nvSpPr>
        <p:spPr>
          <a:xfrm>
            <a:off x="11045952" y="217627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5" name="Text 43"/>
          <p:cNvSpPr txBox="1"/>
          <p:nvPr/>
        </p:nvSpPr>
        <p:spPr>
          <a:xfrm>
            <a:off x="6446520" y="2807208"/>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44"/>
          <p:cNvSpPr txBox="1"/>
          <p:nvPr/>
        </p:nvSpPr>
        <p:spPr>
          <a:xfrm>
            <a:off x="6446520" y="3063240"/>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 ELR</a:t>
            </a:r>
            <a:endParaRPr lang="en-US" sz="1300" dirty="0"/>
          </a:p>
        </p:txBody>
      </p:sp>
      <p:sp>
        <p:nvSpPr>
          <p:cNvPr id="47" name="Shape 45"/>
          <p:cNvSpPr/>
          <p:nvPr/>
        </p:nvSpPr>
        <p:spPr>
          <a:xfrm>
            <a:off x="10058400" y="2937053"/>
            <a:ext cx="960120" cy="234086"/>
          </a:xfrm>
          <a:prstGeom prst="rect">
            <a:avLst/>
          </a:prstGeom>
          <a:solidFill>
            <a:srgbClr val="12A566"/>
          </a:solidFill>
          <a:ln/>
        </p:spPr>
      </p:sp>
      <p:sp>
        <p:nvSpPr>
          <p:cNvPr id="48" name="Text 46"/>
          <p:cNvSpPr txBox="1"/>
          <p:nvPr/>
        </p:nvSpPr>
        <p:spPr>
          <a:xfrm>
            <a:off x="11045952" y="2761488"/>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49" name="Shape 47"/>
          <p:cNvSpPr/>
          <p:nvPr/>
        </p:nvSpPr>
        <p:spPr>
          <a:xfrm>
            <a:off x="6336792" y="3346704"/>
            <a:ext cx="5230368" cy="585216"/>
          </a:xfrm>
          <a:prstGeom prst="rect">
            <a:avLst/>
          </a:prstGeom>
          <a:solidFill>
            <a:srgbClr val="F7F7F7"/>
          </a:solidFill>
          <a:ln/>
        </p:spPr>
      </p:sp>
      <p:sp>
        <p:nvSpPr>
          <p:cNvPr id="50" name="Text 48"/>
          <p:cNvSpPr txBox="1"/>
          <p:nvPr/>
        </p:nvSpPr>
        <p:spPr>
          <a:xfrm>
            <a:off x="6446520" y="3392424"/>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51" name="Text 49"/>
          <p:cNvSpPr txBox="1"/>
          <p:nvPr/>
        </p:nvSpPr>
        <p:spPr>
          <a:xfrm>
            <a:off x="6446520" y="3648456"/>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ELR, parts GP%</a:t>
            </a:r>
            <a:endParaRPr lang="en-US" sz="1300" dirty="0"/>
          </a:p>
        </p:txBody>
      </p:sp>
      <p:sp>
        <p:nvSpPr>
          <p:cNvPr id="52" name="Shape 50"/>
          <p:cNvSpPr/>
          <p:nvPr/>
        </p:nvSpPr>
        <p:spPr>
          <a:xfrm>
            <a:off x="10058400" y="3522269"/>
            <a:ext cx="960120" cy="234086"/>
          </a:xfrm>
          <a:prstGeom prst="rect">
            <a:avLst/>
          </a:prstGeom>
          <a:solidFill>
            <a:srgbClr val="12A566"/>
          </a:solidFill>
          <a:ln/>
        </p:spPr>
      </p:sp>
      <p:sp>
        <p:nvSpPr>
          <p:cNvPr id="53" name="Text 51"/>
          <p:cNvSpPr txBox="1"/>
          <p:nvPr/>
        </p:nvSpPr>
        <p:spPr>
          <a:xfrm>
            <a:off x="11045952" y="3346704"/>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446520" y="3977640"/>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5" name="Text 53"/>
          <p:cNvSpPr txBox="1"/>
          <p:nvPr/>
        </p:nvSpPr>
        <p:spPr>
          <a:xfrm>
            <a:off x="6446520" y="4233672"/>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CP ROs</a:t>
            </a:r>
            <a:endParaRPr lang="en-US" sz="1300" dirty="0"/>
          </a:p>
        </p:txBody>
      </p:sp>
      <p:sp>
        <p:nvSpPr>
          <p:cNvPr id="56" name="Shape 54"/>
          <p:cNvSpPr/>
          <p:nvPr/>
        </p:nvSpPr>
        <p:spPr>
          <a:xfrm>
            <a:off x="10058400" y="4107485"/>
            <a:ext cx="640080" cy="234086"/>
          </a:xfrm>
          <a:prstGeom prst="rect">
            <a:avLst/>
          </a:prstGeom>
          <a:solidFill>
            <a:srgbClr val="12A566"/>
          </a:solidFill>
          <a:ln/>
        </p:spPr>
      </p:sp>
      <p:sp>
        <p:nvSpPr>
          <p:cNvPr id="57" name="Text 55"/>
          <p:cNvSpPr txBox="1"/>
          <p:nvPr/>
        </p:nvSpPr>
        <p:spPr>
          <a:xfrm>
            <a:off x="11045952" y="3931920"/>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58" name="Shape 56"/>
          <p:cNvSpPr/>
          <p:nvPr/>
        </p:nvSpPr>
        <p:spPr>
          <a:xfrm>
            <a:off x="6336792" y="4517136"/>
            <a:ext cx="5230368" cy="585216"/>
          </a:xfrm>
          <a:prstGeom prst="rect">
            <a:avLst/>
          </a:prstGeom>
          <a:solidFill>
            <a:srgbClr val="F7F7F7"/>
          </a:solidFill>
          <a:ln/>
        </p:spPr>
      </p:sp>
      <p:sp>
        <p:nvSpPr>
          <p:cNvPr id="59" name="Text 57"/>
          <p:cNvSpPr txBox="1"/>
          <p:nvPr/>
        </p:nvSpPr>
        <p:spPr>
          <a:xfrm>
            <a:off x="6446520" y="4562856"/>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60" name="Text 58"/>
          <p:cNvSpPr txBox="1"/>
          <p:nvPr/>
        </p:nvSpPr>
        <p:spPr>
          <a:xfrm>
            <a:off x="6446520" y="4818888"/>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CP gross, hours/RO</a:t>
            </a:r>
            <a:endParaRPr lang="en-US" sz="1300" dirty="0"/>
          </a:p>
        </p:txBody>
      </p:sp>
      <p:sp>
        <p:nvSpPr>
          <p:cNvPr id="61" name="Shape 59"/>
          <p:cNvSpPr/>
          <p:nvPr/>
        </p:nvSpPr>
        <p:spPr>
          <a:xfrm>
            <a:off x="10058400" y="4692701"/>
            <a:ext cx="640080" cy="234086"/>
          </a:xfrm>
          <a:prstGeom prst="rect">
            <a:avLst/>
          </a:prstGeom>
          <a:solidFill>
            <a:srgbClr val="12A566"/>
          </a:solidFill>
          <a:ln/>
        </p:spPr>
      </p:sp>
      <p:sp>
        <p:nvSpPr>
          <p:cNvPr id="62" name="Text 60"/>
          <p:cNvSpPr txBox="1"/>
          <p:nvPr/>
        </p:nvSpPr>
        <p:spPr>
          <a:xfrm>
            <a:off x="11045952" y="4517136"/>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3" name="Text 61"/>
          <p:cNvSpPr txBox="1"/>
          <p:nvPr/>
        </p:nvSpPr>
        <p:spPr>
          <a:xfrm>
            <a:off x="6446520" y="5148072"/>
            <a:ext cx="2377440" cy="2743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4" name="Text 62"/>
          <p:cNvSpPr txBox="1"/>
          <p:nvPr/>
        </p:nvSpPr>
        <p:spPr>
          <a:xfrm>
            <a:off x="6446520" y="5404104"/>
            <a:ext cx="352044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ELR, parts GP%</a:t>
            </a:r>
            <a:endParaRPr lang="en-US" sz="1300" dirty="0"/>
          </a:p>
        </p:txBody>
      </p:sp>
      <p:sp>
        <p:nvSpPr>
          <p:cNvPr id="65" name="Shape 63"/>
          <p:cNvSpPr/>
          <p:nvPr/>
        </p:nvSpPr>
        <p:spPr>
          <a:xfrm>
            <a:off x="10058400" y="5277917"/>
            <a:ext cx="640080" cy="234086"/>
          </a:xfrm>
          <a:prstGeom prst="rect">
            <a:avLst/>
          </a:prstGeom>
          <a:solidFill>
            <a:srgbClr val="12A566"/>
          </a:solidFill>
          <a:ln/>
        </p:spPr>
      </p:sp>
      <p:sp>
        <p:nvSpPr>
          <p:cNvPr id="66" name="Text 64"/>
          <p:cNvSpPr txBox="1"/>
          <p:nvPr/>
        </p:nvSpPr>
        <p:spPr>
          <a:xfrm>
            <a:off x="11045952" y="5102352"/>
            <a:ext cx="411480" cy="585216"/>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a:t>
            </a:r>
            <a:endParaRPr lang="en-US" sz="1800" dirty="0"/>
          </a:p>
        </p:txBody>
      </p:sp>
      <p:sp>
        <p:nvSpPr>
          <p:cNvPr id="67" name="Shape 65"/>
          <p:cNvSpPr/>
          <p:nvPr/>
        </p:nvSpPr>
        <p:spPr>
          <a:xfrm>
            <a:off x="457200" y="6126480"/>
            <a:ext cx="11274552" cy="371856"/>
          </a:xfrm>
          <a:prstGeom prst="rect">
            <a:avLst/>
          </a:prstGeom>
          <a:solidFill>
            <a:srgbClr val="E6F6EE"/>
          </a:solidFill>
          <a:ln/>
        </p:spPr>
      </p:sp>
      <p:sp>
        <p:nvSpPr>
          <p:cNvPr id="68" name="Text 6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Last year: Subaru Prescott leads. Moving now: Three stores tie. Eight stores make both views.</a:t>
            </a:r>
            <a:endParaRPr lang="en-US" sz="1600" dirty="0"/>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 MOST IMPROVED</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Changed?</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49808"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Store</a:t>
            </a:r>
            <a:endParaRPr lang="en-US" sz="1400" dirty="0"/>
          </a:p>
        </p:txBody>
      </p:sp>
      <p:sp>
        <p:nvSpPr>
          <p:cNvPr id="7" name="Text 5"/>
          <p:cNvSpPr txBox="1"/>
          <p:nvPr/>
        </p:nvSpPr>
        <p:spPr>
          <a:xfrm>
            <a:off x="352044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Moved on</a:t>
            </a:r>
            <a:endParaRPr lang="en-US" sz="1400" dirty="0"/>
          </a:p>
        </p:txBody>
      </p:sp>
      <p:sp>
        <p:nvSpPr>
          <p:cNvPr id="8" name="Text 6"/>
          <p:cNvSpPr txBox="1"/>
          <p:nvPr/>
        </p:nvSpPr>
        <p:spPr>
          <a:xfrm>
            <a:off x="56692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9" name="Text 7"/>
          <p:cNvSpPr txBox="1"/>
          <p:nvPr/>
        </p:nvSpPr>
        <p:spPr>
          <a:xfrm>
            <a:off x="77266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9326880" y="1371600"/>
            <a:ext cx="2011680" cy="292608"/>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1" name="Shape 9"/>
          <p:cNvSpPr/>
          <p:nvPr/>
        </p:nvSpPr>
        <p:spPr>
          <a:xfrm>
            <a:off x="621792" y="1773936"/>
            <a:ext cx="10945368" cy="548640"/>
          </a:xfrm>
          <a:prstGeom prst="rect">
            <a:avLst/>
          </a:prstGeom>
          <a:solidFill>
            <a:srgbClr val="F7F7F7"/>
          </a:solidFill>
          <a:ln/>
        </p:spPr>
      </p:sp>
      <p:sp>
        <p:nvSpPr>
          <p:cNvPr id="12" name="Text 10"/>
          <p:cNvSpPr txBox="1"/>
          <p:nvPr/>
        </p:nvSpPr>
        <p:spPr>
          <a:xfrm>
            <a:off x="749808" y="17739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13" name="Text 11"/>
          <p:cNvSpPr txBox="1"/>
          <p:nvPr/>
        </p:nvSpPr>
        <p:spPr>
          <a:xfrm>
            <a:off x="3520440" y="17739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Gross per Month</a:t>
            </a:r>
            <a:endParaRPr lang="en-US" sz="1500" dirty="0"/>
          </a:p>
        </p:txBody>
      </p:sp>
      <p:sp>
        <p:nvSpPr>
          <p:cNvPr id="14" name="Text 12"/>
          <p:cNvSpPr txBox="1"/>
          <p:nvPr/>
        </p:nvSpPr>
        <p:spPr>
          <a:xfrm>
            <a:off x="5669280" y="17739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$155K → $209K</a:t>
            </a:r>
            <a:endParaRPr lang="en-US" sz="1500" dirty="0"/>
          </a:p>
        </p:txBody>
      </p:sp>
      <p:sp>
        <p:nvSpPr>
          <p:cNvPr id="15" name="Text 13"/>
          <p:cNvSpPr txBox="1"/>
          <p:nvPr/>
        </p:nvSpPr>
        <p:spPr>
          <a:xfrm>
            <a:off x="7726680" y="17739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16" name="Text 14"/>
          <p:cNvSpPr txBox="1"/>
          <p:nvPr/>
        </p:nvSpPr>
        <p:spPr>
          <a:xfrm>
            <a:off x="9326880" y="17739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+34.6%</a:t>
            </a:r>
            <a:endParaRPr lang="en-US" sz="1500" dirty="0"/>
          </a:p>
        </p:txBody>
      </p:sp>
      <p:sp>
        <p:nvSpPr>
          <p:cNvPr id="17" name="Text 15"/>
          <p:cNvSpPr txBox="1"/>
          <p:nvPr/>
        </p:nvSpPr>
        <p:spPr>
          <a:xfrm>
            <a:off x="749808" y="232257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8" name="Text 16"/>
          <p:cNvSpPr txBox="1"/>
          <p:nvPr/>
        </p:nvSpPr>
        <p:spPr>
          <a:xfrm>
            <a:off x="3520440" y="232257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ROs per Month</a:t>
            </a:r>
            <a:endParaRPr lang="en-US" sz="1500" dirty="0"/>
          </a:p>
        </p:txBody>
      </p:sp>
      <p:sp>
        <p:nvSpPr>
          <p:cNvPr id="19" name="Text 17"/>
          <p:cNvSpPr txBox="1"/>
          <p:nvPr/>
        </p:nvSpPr>
        <p:spPr>
          <a:xfrm>
            <a:off x="5669280" y="232257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425 → 570</a:t>
            </a:r>
            <a:endParaRPr lang="en-US" sz="1500" dirty="0"/>
          </a:p>
        </p:txBody>
      </p:sp>
      <p:sp>
        <p:nvSpPr>
          <p:cNvPr id="20" name="Text 18"/>
          <p:cNvSpPr txBox="1"/>
          <p:nvPr/>
        </p:nvSpPr>
        <p:spPr>
          <a:xfrm>
            <a:off x="7726680" y="232257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21" name="Text 19"/>
          <p:cNvSpPr txBox="1"/>
          <p:nvPr/>
        </p:nvSpPr>
        <p:spPr>
          <a:xfrm>
            <a:off x="9326880" y="232257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+34.0%</a:t>
            </a:r>
            <a:endParaRPr lang="en-US" sz="1500" dirty="0"/>
          </a:p>
        </p:txBody>
      </p:sp>
      <p:sp>
        <p:nvSpPr>
          <p:cNvPr id="22" name="Shape 20"/>
          <p:cNvSpPr/>
          <p:nvPr/>
        </p:nvSpPr>
        <p:spPr>
          <a:xfrm>
            <a:off x="621792" y="2871216"/>
            <a:ext cx="10945368" cy="548640"/>
          </a:xfrm>
          <a:prstGeom prst="rect">
            <a:avLst/>
          </a:prstGeom>
          <a:solidFill>
            <a:srgbClr val="F7F7F7"/>
          </a:solidFill>
          <a:ln/>
        </p:spPr>
      </p:sp>
      <p:sp>
        <p:nvSpPr>
          <p:cNvPr id="23" name="Text 21"/>
          <p:cNvSpPr txBox="1"/>
          <p:nvPr/>
        </p:nvSpPr>
        <p:spPr>
          <a:xfrm>
            <a:off x="749808" y="287121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24" name="Text 22"/>
          <p:cNvSpPr txBox="1"/>
          <p:nvPr/>
        </p:nvSpPr>
        <p:spPr>
          <a:xfrm>
            <a:off x="3520440" y="287121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a:t>
            </a:r>
            <a:endParaRPr lang="en-US" sz="1500" dirty="0"/>
          </a:p>
        </p:txBody>
      </p:sp>
      <p:sp>
        <p:nvSpPr>
          <p:cNvPr id="25" name="Text 23"/>
          <p:cNvSpPr txBox="1"/>
          <p:nvPr/>
        </p:nvSpPr>
        <p:spPr>
          <a:xfrm>
            <a:off x="5669280" y="287121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1.35 → 1.65</a:t>
            </a:r>
            <a:endParaRPr lang="en-US" sz="1500" dirty="0"/>
          </a:p>
        </p:txBody>
      </p:sp>
      <p:sp>
        <p:nvSpPr>
          <p:cNvPr id="26" name="Text 24"/>
          <p:cNvSpPr txBox="1"/>
          <p:nvPr/>
        </p:nvSpPr>
        <p:spPr>
          <a:xfrm>
            <a:off x="7726680" y="287121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27" name="Text 25"/>
          <p:cNvSpPr txBox="1"/>
          <p:nvPr/>
        </p:nvSpPr>
        <p:spPr>
          <a:xfrm>
            <a:off x="9326880" y="287121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+22.1%</a:t>
            </a:r>
            <a:endParaRPr lang="en-US" sz="1500" dirty="0"/>
          </a:p>
        </p:txBody>
      </p:sp>
      <p:sp>
        <p:nvSpPr>
          <p:cNvPr id="28" name="Text 26"/>
          <p:cNvSpPr txBox="1"/>
          <p:nvPr/>
        </p:nvSpPr>
        <p:spPr>
          <a:xfrm>
            <a:off x="749808" y="341985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29" name="Text 27"/>
          <p:cNvSpPr txBox="1"/>
          <p:nvPr/>
        </p:nvSpPr>
        <p:spPr>
          <a:xfrm>
            <a:off x="3520440" y="341985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a:t>
            </a:r>
            <a:endParaRPr lang="en-US" sz="1500" dirty="0"/>
          </a:p>
        </p:txBody>
      </p:sp>
      <p:sp>
        <p:nvSpPr>
          <p:cNvPr id="30" name="Text 28"/>
          <p:cNvSpPr txBox="1"/>
          <p:nvPr/>
        </p:nvSpPr>
        <p:spPr>
          <a:xfrm>
            <a:off x="5669280" y="341985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$128.27 → $141.89</a:t>
            </a:r>
            <a:endParaRPr lang="en-US" sz="1500" dirty="0"/>
          </a:p>
        </p:txBody>
      </p:sp>
      <p:sp>
        <p:nvSpPr>
          <p:cNvPr id="31" name="Text 29"/>
          <p:cNvSpPr txBox="1"/>
          <p:nvPr/>
        </p:nvSpPr>
        <p:spPr>
          <a:xfrm>
            <a:off x="7726680" y="341985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June</a:t>
            </a:r>
            <a:endParaRPr lang="en-US" sz="1500" dirty="0"/>
          </a:p>
        </p:txBody>
      </p:sp>
      <p:sp>
        <p:nvSpPr>
          <p:cNvPr id="32" name="Text 30"/>
          <p:cNvSpPr txBox="1"/>
          <p:nvPr/>
        </p:nvSpPr>
        <p:spPr>
          <a:xfrm>
            <a:off x="9326880" y="341985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+10.6%</a:t>
            </a:r>
            <a:endParaRPr lang="en-US" sz="1500" dirty="0"/>
          </a:p>
        </p:txBody>
      </p:sp>
      <p:sp>
        <p:nvSpPr>
          <p:cNvPr id="33" name="Shape 31"/>
          <p:cNvSpPr/>
          <p:nvPr/>
        </p:nvSpPr>
        <p:spPr>
          <a:xfrm>
            <a:off x="621792" y="3968496"/>
            <a:ext cx="10945368" cy="548640"/>
          </a:xfrm>
          <a:prstGeom prst="rect">
            <a:avLst/>
          </a:prstGeom>
          <a:solidFill>
            <a:srgbClr val="F7F7F7"/>
          </a:solidFill>
          <a:ln/>
        </p:spPr>
      </p:sp>
      <p:sp>
        <p:nvSpPr>
          <p:cNvPr id="34" name="Text 32"/>
          <p:cNvSpPr txBox="1"/>
          <p:nvPr/>
        </p:nvSpPr>
        <p:spPr>
          <a:xfrm>
            <a:off x="749808" y="396849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35" name="Text 33"/>
          <p:cNvSpPr txBox="1"/>
          <p:nvPr/>
        </p:nvSpPr>
        <p:spPr>
          <a:xfrm>
            <a:off x="3520440" y="396849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GP %</a:t>
            </a:r>
            <a:endParaRPr lang="en-US" sz="1500" dirty="0"/>
          </a:p>
        </p:txBody>
      </p:sp>
      <p:sp>
        <p:nvSpPr>
          <p:cNvPr id="36" name="Text 34"/>
          <p:cNvSpPr txBox="1"/>
          <p:nvPr/>
        </p:nvSpPr>
        <p:spPr>
          <a:xfrm>
            <a:off x="5669280" y="396849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39.4% → 46.6%</a:t>
            </a:r>
            <a:endParaRPr lang="en-US" sz="1500" dirty="0"/>
          </a:p>
        </p:txBody>
      </p:sp>
      <p:sp>
        <p:nvSpPr>
          <p:cNvPr id="37" name="Text 35"/>
          <p:cNvSpPr txBox="1"/>
          <p:nvPr/>
        </p:nvSpPr>
        <p:spPr>
          <a:xfrm>
            <a:off x="7726680" y="396849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April</a:t>
            </a:r>
            <a:endParaRPr lang="en-US" sz="1500" dirty="0"/>
          </a:p>
        </p:txBody>
      </p:sp>
      <p:sp>
        <p:nvSpPr>
          <p:cNvPr id="38" name="Text 36"/>
          <p:cNvSpPr txBox="1"/>
          <p:nvPr/>
        </p:nvSpPr>
        <p:spPr>
          <a:xfrm>
            <a:off x="9326880" y="396849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+7.2 pts</a:t>
            </a:r>
            <a:endParaRPr lang="en-US" sz="1500" dirty="0"/>
          </a:p>
        </p:txBody>
      </p:sp>
      <p:sp>
        <p:nvSpPr>
          <p:cNvPr id="39" name="Text 37"/>
          <p:cNvSpPr txBox="1"/>
          <p:nvPr/>
        </p:nvSpPr>
        <p:spPr>
          <a:xfrm>
            <a:off x="749808" y="4517136"/>
            <a:ext cx="2651760" cy="54864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40" name="Text 38"/>
          <p:cNvSpPr txBox="1"/>
          <p:nvPr/>
        </p:nvSpPr>
        <p:spPr>
          <a:xfrm>
            <a:off x="3520440" y="4517136"/>
            <a:ext cx="210312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Opcodes · alignment</a:t>
            </a:r>
            <a:endParaRPr lang="en-US" sz="1500" dirty="0"/>
          </a:p>
        </p:txBody>
      </p:sp>
      <p:sp>
        <p:nvSpPr>
          <p:cNvPr id="41" name="Text 39"/>
          <p:cNvSpPr txBox="1"/>
          <p:nvPr/>
        </p:nvSpPr>
        <p:spPr>
          <a:xfrm>
            <a:off x="5669280" y="4517136"/>
            <a:ext cx="2011680" cy="548640"/>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12.6% → 22.8%</a:t>
            </a:r>
            <a:endParaRPr lang="en-US" sz="1500" dirty="0"/>
          </a:p>
        </p:txBody>
      </p:sp>
      <p:sp>
        <p:nvSpPr>
          <p:cNvPr id="42" name="Text 40"/>
          <p:cNvSpPr txBox="1"/>
          <p:nvPr/>
        </p:nvSpPr>
        <p:spPr>
          <a:xfrm>
            <a:off x="7726680" y="4517136"/>
            <a:ext cx="15544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August</a:t>
            </a:r>
            <a:endParaRPr lang="en-US" sz="1500" dirty="0"/>
          </a:p>
        </p:txBody>
      </p:sp>
      <p:sp>
        <p:nvSpPr>
          <p:cNvPr id="43" name="Text 41"/>
          <p:cNvSpPr txBox="1"/>
          <p:nvPr/>
        </p:nvSpPr>
        <p:spPr>
          <a:xfrm>
            <a:off x="9326880" y="4517136"/>
            <a:ext cx="1280160" cy="548640"/>
          </a:xfrm>
          <a:prstGeom prst="rect">
            <a:avLst/>
          </a:prstGeom>
          <a:noFill/>
          <a:ln/>
        </p:spPr>
        <p:txBody>
          <a:bodyPr wrap="square" lIns="0" tIns="0" rIns="0" bIns="0" rtlCol="0" anchor="ctr"/>
          <a:lstStyle/>
          <a:p>
            <a:pPr indent="0" marL="0">
              <a:buNone/>
            </a:pPr>
            <a:r>
              <a:rPr lang="en-US" sz="1500" b="1" dirty="0">
                <a:solidFill>
                  <a:srgbClr val="0B7A4A"/>
                </a:solidFill>
                <a:latin typeface="Inter" pitchFamily="34" charset="0"/>
                <a:ea typeface="Inter" pitchFamily="34" charset="-122"/>
                <a:cs typeface="Inter" pitchFamily="34" charset="-120"/>
              </a:rPr>
              <a:t>+10.1 pts</a:t>
            </a:r>
            <a:endParaRPr lang="en-US" sz="1500" dirty="0"/>
          </a:p>
        </p:txBody>
      </p:sp>
      <p:sp>
        <p:nvSpPr>
          <p:cNvPr id="44" name="Shape 42"/>
          <p:cNvSpPr/>
          <p:nvPr/>
        </p:nvSpPr>
        <p:spPr>
          <a:xfrm>
            <a:off x="457200" y="6126480"/>
            <a:ext cx="11274552" cy="364236"/>
          </a:xfrm>
          <a:prstGeom prst="rect">
            <a:avLst/>
          </a:prstGeom>
          <a:solidFill>
            <a:srgbClr val="EDF4FA"/>
          </a:solidFill>
          <a:ln/>
        </p:spPr>
      </p:sp>
      <p:sp>
        <p:nvSpPr>
          <p:cNvPr id="45" name="Text 43"/>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2C4A"/>
                </a:solidFill>
                <a:latin typeface="Inter" pitchFamily="34" charset="0"/>
                <a:ea typeface="Inter" pitchFamily="34" charset="-122"/>
                <a:cs typeface="Inter" pitchFamily="34" charset="-120"/>
              </a:rPr>
              <a:t>Four stores, one question each: what did you start doing that month? One sentence, before you leave.</a:t>
            </a:r>
            <a:endParaRPr lang="en-US" sz="1550" dirty="0"/>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Where the Money Is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353312"/>
            <a:ext cx="40233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THE LEVER</a:t>
            </a:r>
            <a:endParaRPr lang="en-US" sz="1400" dirty="0"/>
          </a:p>
        </p:txBody>
      </p:sp>
      <p:sp>
        <p:nvSpPr>
          <p:cNvPr id="7" name="Text 5"/>
          <p:cNvSpPr txBox="1"/>
          <p:nvPr/>
        </p:nvSpPr>
        <p:spPr>
          <a:xfrm>
            <a:off x="4754880" y="1353312"/>
            <a:ext cx="2103120" cy="310896"/>
          </a:xfrm>
          <a:prstGeom prst="rect">
            <a:avLst/>
          </a:prstGeom>
          <a:noFill/>
          <a:ln/>
        </p:spPr>
        <p:txBody>
          <a:bodyPr wrap="square" lIns="0" tIns="0" rIns="0" bIns="0" rtlCol="0" anchor="ctr"/>
          <a:lstStyle/>
          <a:p>
            <a:pPr algn="r" indent="0" marL="0">
              <a:buNone/>
            </a:pPr>
            <a:r>
              <a:rPr lang="en-US" sz="1400" b="1" spc="100" kern="0" dirty="0">
                <a:solidFill>
                  <a:srgbClr val="0B2C4A"/>
                </a:solidFill>
                <a:latin typeface="Inter" pitchFamily="34" charset="0"/>
                <a:ea typeface="Inter" pitchFamily="34" charset="-122"/>
                <a:cs typeface="Inter" pitchFamily="34" charset="-120"/>
              </a:rPr>
              <a:t>GROSS A YEAR</a:t>
            </a:r>
            <a:endParaRPr lang="en-US" sz="1400" dirty="0"/>
          </a:p>
        </p:txBody>
      </p:sp>
      <p:sp>
        <p:nvSpPr>
          <p:cNvPr id="8" name="Text 6"/>
          <p:cNvSpPr txBox="1"/>
          <p:nvPr/>
        </p:nvSpPr>
        <p:spPr>
          <a:xfrm>
            <a:off x="7178040" y="1353312"/>
            <a:ext cx="265176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HOW</a:t>
            </a:r>
            <a:endParaRPr lang="en-US" sz="1400" dirty="0"/>
          </a:p>
        </p:txBody>
      </p:sp>
      <p:sp>
        <p:nvSpPr>
          <p:cNvPr id="9" name="Text 7"/>
          <p:cNvSpPr txBox="1"/>
          <p:nvPr/>
        </p:nvSpPr>
        <p:spPr>
          <a:xfrm>
            <a:off x="9875520" y="1353312"/>
            <a:ext cx="1691640" cy="310896"/>
          </a:xfrm>
          <a:prstGeom prst="rect">
            <a:avLst/>
          </a:prstGeom>
          <a:noFill/>
          <a:ln/>
        </p:spPr>
        <p:txBody>
          <a:bodyPr wrap="square" lIns="0" tIns="0" rIns="0" bIns="0" rtlCol="0" anchor="ctr"/>
          <a:lstStyle/>
          <a:p>
            <a:pPr algn="l" indent="0" marL="0">
              <a:buNone/>
            </a:pPr>
            <a:r>
              <a:rPr lang="en-US" sz="1400" b="1" spc="100" kern="0" dirty="0">
                <a:solidFill>
                  <a:srgbClr val="0B2C4A"/>
                </a:solidFill>
                <a:latin typeface="Inter" pitchFamily="34" charset="0"/>
                <a:ea typeface="Inter" pitchFamily="34" charset="-122"/>
                <a:cs typeface="Inter" pitchFamily="34" charset="-120"/>
              </a:rPr>
              <a:t>WHO OWNS IT</a:t>
            </a:r>
            <a:endParaRPr lang="en-US" sz="1400" dirty="0"/>
          </a:p>
        </p:txBody>
      </p:sp>
      <p:sp>
        <p:nvSpPr>
          <p:cNvPr id="10" name="Shape 8"/>
          <p:cNvSpPr/>
          <p:nvPr/>
        </p:nvSpPr>
        <p:spPr>
          <a:xfrm>
            <a:off x="548640" y="1755648"/>
            <a:ext cx="11091672" cy="713232"/>
          </a:xfrm>
          <a:prstGeom prst="rect">
            <a:avLst/>
          </a:prstGeom>
          <a:solidFill>
            <a:srgbClr val="F7F7F7"/>
          </a:solidFill>
          <a:ln/>
        </p:spPr>
      </p:sp>
      <p:sp>
        <p:nvSpPr>
          <p:cNvPr id="11" name="Shape 9"/>
          <p:cNvSpPr/>
          <p:nvPr/>
        </p:nvSpPr>
        <p:spPr>
          <a:xfrm>
            <a:off x="548640" y="1755648"/>
            <a:ext cx="64008" cy="713232"/>
          </a:xfrm>
          <a:prstGeom prst="rect">
            <a:avLst/>
          </a:prstGeom>
          <a:solidFill>
            <a:srgbClr val="12A566"/>
          </a:solidFill>
          <a:ln/>
        </p:spPr>
      </p:sp>
      <p:sp>
        <p:nvSpPr>
          <p:cNvPr id="12" name="Text 10"/>
          <p:cNvSpPr txBox="1"/>
          <p:nvPr/>
        </p:nvSpPr>
        <p:spPr>
          <a:xfrm>
            <a:off x="749808" y="1755648"/>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tech under 85% reaches 85%</a:t>
            </a:r>
            <a:endParaRPr lang="en-US" sz="1700" dirty="0"/>
          </a:p>
        </p:txBody>
      </p:sp>
      <p:sp>
        <p:nvSpPr>
          <p:cNvPr id="13" name="Text 11"/>
          <p:cNvSpPr txBox="1"/>
          <p:nvPr/>
        </p:nvSpPr>
        <p:spPr>
          <a:xfrm>
            <a:off x="4754880" y="1755648"/>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$19,763,184</a:t>
            </a:r>
            <a:endParaRPr lang="en-US" sz="2400" dirty="0"/>
          </a:p>
        </p:txBody>
      </p:sp>
      <p:sp>
        <p:nvSpPr>
          <p:cNvPr id="14" name="Text 12"/>
          <p:cNvSpPr txBox="1"/>
          <p:nvPr/>
        </p:nvSpPr>
        <p:spPr>
          <a:xfrm>
            <a:off x="7178040" y="1755648"/>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Dispatch, parts staging, approvals, coaching</a:t>
            </a:r>
            <a:endParaRPr lang="en-US" sz="1400" dirty="0"/>
          </a:p>
        </p:txBody>
      </p:sp>
      <p:sp>
        <p:nvSpPr>
          <p:cNvPr id="15" name="Shape 13"/>
          <p:cNvSpPr/>
          <p:nvPr/>
        </p:nvSpPr>
        <p:spPr>
          <a:xfrm>
            <a:off x="9875520" y="1810512"/>
            <a:ext cx="1691640" cy="274320"/>
          </a:xfrm>
          <a:prstGeom prst="roundRect">
            <a:avLst>
              <a:gd name="adj" fmla="val 20000"/>
            </a:avLst>
          </a:prstGeom>
          <a:solidFill>
            <a:srgbClr val="EDF4FA"/>
          </a:solidFill>
          <a:ln w="9525">
            <a:solidFill>
              <a:srgbClr val="0B2C4A"/>
            </a:solidFill>
            <a:prstDash val="solid"/>
          </a:ln>
        </p:spPr>
      </p:sp>
      <p:sp>
        <p:nvSpPr>
          <p:cNvPr id="16" name="Text 14"/>
          <p:cNvSpPr txBox="1"/>
          <p:nvPr/>
        </p:nvSpPr>
        <p:spPr>
          <a:xfrm>
            <a:off x="9875520" y="181051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17" name="Shape 15"/>
          <p:cNvSpPr/>
          <p:nvPr/>
        </p:nvSpPr>
        <p:spPr>
          <a:xfrm>
            <a:off x="9875520" y="2139696"/>
            <a:ext cx="566928" cy="274320"/>
          </a:xfrm>
          <a:prstGeom prst="roundRect">
            <a:avLst>
              <a:gd name="adj" fmla="val 20000"/>
            </a:avLst>
          </a:prstGeom>
          <a:solidFill>
            <a:srgbClr val="0B2C4A"/>
          </a:solidFill>
          <a:ln w="9525">
            <a:solidFill>
              <a:srgbClr val="0B2C4A"/>
            </a:solidFill>
            <a:prstDash val="solid"/>
          </a:ln>
        </p:spPr>
      </p:sp>
      <p:sp>
        <p:nvSpPr>
          <p:cNvPr id="18" name="Text 16"/>
          <p:cNvSpPr txBox="1"/>
          <p:nvPr/>
        </p:nvSpPr>
        <p:spPr>
          <a:xfrm>
            <a:off x="9875520" y="2139696"/>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19" name="Shape 17"/>
          <p:cNvSpPr/>
          <p:nvPr/>
        </p:nvSpPr>
        <p:spPr>
          <a:xfrm>
            <a:off x="548640" y="2542032"/>
            <a:ext cx="11091672" cy="713232"/>
          </a:xfrm>
          <a:prstGeom prst="rect">
            <a:avLst/>
          </a:prstGeom>
          <a:solidFill>
            <a:srgbClr val="FFFFFF"/>
          </a:solidFill>
          <a:ln/>
        </p:spPr>
      </p:sp>
      <p:sp>
        <p:nvSpPr>
          <p:cNvPr id="20" name="Shape 18"/>
          <p:cNvSpPr/>
          <p:nvPr/>
        </p:nvSpPr>
        <p:spPr>
          <a:xfrm>
            <a:off x="548640" y="2542032"/>
            <a:ext cx="64008" cy="713232"/>
          </a:xfrm>
          <a:prstGeom prst="rect">
            <a:avLst/>
          </a:prstGeom>
          <a:solidFill>
            <a:srgbClr val="12A566"/>
          </a:solidFill>
          <a:ln/>
        </p:spPr>
      </p:sp>
      <p:sp>
        <p:nvSpPr>
          <p:cNvPr id="21" name="Text 19"/>
          <p:cNvSpPr txBox="1"/>
          <p:nvPr/>
        </p:nvSpPr>
        <p:spPr>
          <a:xfrm>
            <a:off x="749808" y="2542032"/>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0.1 more hours on every CP RO</a:t>
            </a:r>
            <a:endParaRPr lang="en-US" sz="1700" dirty="0"/>
          </a:p>
        </p:txBody>
      </p:sp>
      <p:sp>
        <p:nvSpPr>
          <p:cNvPr id="22" name="Text 20"/>
          <p:cNvSpPr txBox="1"/>
          <p:nvPr/>
        </p:nvSpPr>
        <p:spPr>
          <a:xfrm>
            <a:off x="4754880" y="2542032"/>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$6,602,564</a:t>
            </a:r>
            <a:endParaRPr lang="en-US" sz="2400" dirty="0"/>
          </a:p>
        </p:txBody>
      </p:sp>
      <p:sp>
        <p:nvSpPr>
          <p:cNvPr id="23" name="Text 21"/>
          <p:cNvSpPr txBox="1"/>
          <p:nvPr/>
        </p:nvSpPr>
        <p:spPr>
          <a:xfrm>
            <a:off x="7178040" y="2542032"/>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MPI on every car, the menu, Road to the Sale</a:t>
            </a:r>
            <a:endParaRPr lang="en-US" sz="1400" dirty="0"/>
          </a:p>
        </p:txBody>
      </p:sp>
      <p:sp>
        <p:nvSpPr>
          <p:cNvPr id="24" name="Shape 22"/>
          <p:cNvSpPr/>
          <p:nvPr/>
        </p:nvSpPr>
        <p:spPr>
          <a:xfrm>
            <a:off x="9875520" y="2761488"/>
            <a:ext cx="1691640" cy="274320"/>
          </a:xfrm>
          <a:prstGeom prst="roundRect">
            <a:avLst>
              <a:gd name="adj" fmla="val 20000"/>
            </a:avLst>
          </a:prstGeom>
          <a:solidFill>
            <a:srgbClr val="EDF4FA"/>
          </a:solidFill>
          <a:ln w="9525">
            <a:solidFill>
              <a:srgbClr val="0B2C4A"/>
            </a:solidFill>
            <a:prstDash val="solid"/>
          </a:ln>
        </p:spPr>
      </p:sp>
      <p:sp>
        <p:nvSpPr>
          <p:cNvPr id="25" name="Text 23"/>
          <p:cNvSpPr txBox="1"/>
          <p:nvPr/>
        </p:nvSpPr>
        <p:spPr>
          <a:xfrm>
            <a:off x="9875520" y="276148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26" name="Shape 24"/>
          <p:cNvSpPr/>
          <p:nvPr/>
        </p:nvSpPr>
        <p:spPr>
          <a:xfrm>
            <a:off x="548640" y="3328416"/>
            <a:ext cx="11091672" cy="713232"/>
          </a:xfrm>
          <a:prstGeom prst="rect">
            <a:avLst/>
          </a:prstGeom>
          <a:solidFill>
            <a:srgbClr val="F7F7F7"/>
          </a:solidFill>
          <a:ln/>
        </p:spPr>
      </p:sp>
      <p:sp>
        <p:nvSpPr>
          <p:cNvPr id="27" name="Shape 25"/>
          <p:cNvSpPr/>
          <p:nvPr/>
        </p:nvSpPr>
        <p:spPr>
          <a:xfrm>
            <a:off x="548640" y="3328416"/>
            <a:ext cx="64008" cy="713232"/>
          </a:xfrm>
          <a:prstGeom prst="rect">
            <a:avLst/>
          </a:prstGeom>
          <a:solidFill>
            <a:srgbClr val="12A566"/>
          </a:solidFill>
          <a:ln/>
        </p:spPr>
      </p:sp>
      <p:sp>
        <p:nvSpPr>
          <p:cNvPr id="28" name="Text 26"/>
          <p:cNvSpPr txBox="1"/>
          <p:nvPr/>
        </p:nvSpPr>
        <p:spPr>
          <a:xfrm>
            <a:off x="749808" y="3328416"/>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Every store at the four op code benchmarks</a:t>
            </a:r>
            <a:endParaRPr lang="en-US" sz="1700" dirty="0"/>
          </a:p>
        </p:txBody>
      </p:sp>
      <p:sp>
        <p:nvSpPr>
          <p:cNvPr id="29" name="Text 27"/>
          <p:cNvSpPr txBox="1"/>
          <p:nvPr/>
        </p:nvSpPr>
        <p:spPr>
          <a:xfrm>
            <a:off x="4754880" y="3328416"/>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$4,895,199</a:t>
            </a:r>
            <a:endParaRPr lang="en-US" sz="2400" dirty="0"/>
          </a:p>
        </p:txBody>
      </p:sp>
      <p:sp>
        <p:nvSpPr>
          <p:cNvPr id="30" name="Text 28"/>
          <p:cNvSpPr txBox="1"/>
          <p:nvPr/>
        </p:nvSpPr>
        <p:spPr>
          <a:xfrm>
            <a:off x="7178040" y="3328416"/>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Alignment, balance, brake fluid, fuel service</a:t>
            </a:r>
            <a:endParaRPr lang="en-US" sz="1400" dirty="0"/>
          </a:p>
        </p:txBody>
      </p:sp>
      <p:sp>
        <p:nvSpPr>
          <p:cNvPr id="31" name="Shape 29"/>
          <p:cNvSpPr/>
          <p:nvPr/>
        </p:nvSpPr>
        <p:spPr>
          <a:xfrm>
            <a:off x="9875520" y="3547872"/>
            <a:ext cx="1691640" cy="274320"/>
          </a:xfrm>
          <a:prstGeom prst="roundRect">
            <a:avLst>
              <a:gd name="adj" fmla="val 20000"/>
            </a:avLst>
          </a:prstGeom>
          <a:solidFill>
            <a:srgbClr val="EDF4FA"/>
          </a:solidFill>
          <a:ln w="9525">
            <a:solidFill>
              <a:srgbClr val="0B2C4A"/>
            </a:solidFill>
            <a:prstDash val="solid"/>
          </a:ln>
        </p:spPr>
      </p:sp>
      <p:sp>
        <p:nvSpPr>
          <p:cNvPr id="32" name="Text 30"/>
          <p:cNvSpPr txBox="1"/>
          <p:nvPr/>
        </p:nvSpPr>
        <p:spPr>
          <a:xfrm>
            <a:off x="9875520" y="3547872"/>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33" name="Shape 31"/>
          <p:cNvSpPr/>
          <p:nvPr/>
        </p:nvSpPr>
        <p:spPr>
          <a:xfrm>
            <a:off x="548640" y="4114800"/>
            <a:ext cx="11091672" cy="713232"/>
          </a:xfrm>
          <a:prstGeom prst="rect">
            <a:avLst/>
          </a:prstGeom>
          <a:solidFill>
            <a:srgbClr val="FFFFFF"/>
          </a:solidFill>
          <a:ln/>
        </p:spPr>
      </p:sp>
      <p:sp>
        <p:nvSpPr>
          <p:cNvPr id="34" name="Shape 32"/>
          <p:cNvSpPr/>
          <p:nvPr/>
        </p:nvSpPr>
        <p:spPr>
          <a:xfrm>
            <a:off x="548640" y="4114800"/>
            <a:ext cx="64008" cy="713232"/>
          </a:xfrm>
          <a:prstGeom prst="rect">
            <a:avLst/>
          </a:prstGeom>
          <a:solidFill>
            <a:srgbClr val="12A566"/>
          </a:solidFill>
          <a:ln/>
        </p:spPr>
      </p:sp>
      <p:sp>
        <p:nvSpPr>
          <p:cNvPr id="35" name="Text 33"/>
          <p:cNvSpPr txBox="1"/>
          <p:nvPr/>
        </p:nvSpPr>
        <p:spPr>
          <a:xfrm>
            <a:off x="749808" y="4114800"/>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more customer-pay RO a day</a:t>
            </a:r>
            <a:endParaRPr lang="en-US" sz="1700" dirty="0"/>
          </a:p>
        </p:txBody>
      </p:sp>
      <p:sp>
        <p:nvSpPr>
          <p:cNvPr id="36" name="Text 34"/>
          <p:cNvSpPr txBox="1"/>
          <p:nvPr/>
        </p:nvSpPr>
        <p:spPr>
          <a:xfrm>
            <a:off x="4754880" y="4114800"/>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$4,473,284</a:t>
            </a:r>
            <a:endParaRPr lang="en-US" sz="2400" dirty="0"/>
          </a:p>
        </p:txBody>
      </p:sp>
      <p:sp>
        <p:nvSpPr>
          <p:cNvPr id="37" name="Text 35"/>
          <p:cNvSpPr txBox="1"/>
          <p:nvPr/>
        </p:nvSpPr>
        <p:spPr>
          <a:xfrm>
            <a:off x="7178040" y="4114800"/>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Phones, scheduler, retention, marketing</a:t>
            </a:r>
            <a:endParaRPr lang="en-US" sz="1400" dirty="0"/>
          </a:p>
        </p:txBody>
      </p:sp>
      <p:sp>
        <p:nvSpPr>
          <p:cNvPr id="38" name="Shape 36"/>
          <p:cNvSpPr/>
          <p:nvPr/>
        </p:nvSpPr>
        <p:spPr>
          <a:xfrm>
            <a:off x="9875520" y="4169664"/>
            <a:ext cx="566928" cy="274320"/>
          </a:xfrm>
          <a:prstGeom prst="roundRect">
            <a:avLst>
              <a:gd name="adj" fmla="val 20000"/>
            </a:avLst>
          </a:prstGeom>
          <a:solidFill>
            <a:srgbClr val="0B2C4A"/>
          </a:solidFill>
          <a:ln w="9525">
            <a:solidFill>
              <a:srgbClr val="0B2C4A"/>
            </a:solidFill>
            <a:prstDash val="solid"/>
          </a:ln>
        </p:spPr>
      </p:sp>
      <p:sp>
        <p:nvSpPr>
          <p:cNvPr id="39" name="Text 37"/>
          <p:cNvSpPr txBox="1"/>
          <p:nvPr/>
        </p:nvSpPr>
        <p:spPr>
          <a:xfrm>
            <a:off x="9875520" y="4169664"/>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40" name="Shape 38"/>
          <p:cNvSpPr/>
          <p:nvPr/>
        </p:nvSpPr>
        <p:spPr>
          <a:xfrm>
            <a:off x="9875520" y="4498848"/>
            <a:ext cx="1691640" cy="274320"/>
          </a:xfrm>
          <a:prstGeom prst="roundRect">
            <a:avLst>
              <a:gd name="adj" fmla="val 20000"/>
            </a:avLst>
          </a:prstGeom>
          <a:solidFill>
            <a:srgbClr val="EDF4FA"/>
          </a:solidFill>
          <a:ln w="9525">
            <a:solidFill>
              <a:srgbClr val="0B2C4A"/>
            </a:solidFill>
            <a:prstDash val="solid"/>
          </a:ln>
        </p:spPr>
      </p:sp>
      <p:sp>
        <p:nvSpPr>
          <p:cNvPr id="41" name="Text 39"/>
          <p:cNvSpPr txBox="1"/>
          <p:nvPr/>
        </p:nvSpPr>
        <p:spPr>
          <a:xfrm>
            <a:off x="9875520" y="44988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2" name="Shape 40"/>
          <p:cNvSpPr/>
          <p:nvPr/>
        </p:nvSpPr>
        <p:spPr>
          <a:xfrm>
            <a:off x="548640" y="4901184"/>
            <a:ext cx="11091672" cy="713232"/>
          </a:xfrm>
          <a:prstGeom prst="rect">
            <a:avLst/>
          </a:prstGeom>
          <a:solidFill>
            <a:srgbClr val="F7F7F7"/>
          </a:solidFill>
          <a:ln/>
        </p:spPr>
      </p:sp>
      <p:sp>
        <p:nvSpPr>
          <p:cNvPr id="43" name="Shape 41"/>
          <p:cNvSpPr/>
          <p:nvPr/>
        </p:nvSpPr>
        <p:spPr>
          <a:xfrm>
            <a:off x="548640" y="4901184"/>
            <a:ext cx="64008" cy="713232"/>
          </a:xfrm>
          <a:prstGeom prst="rect">
            <a:avLst/>
          </a:prstGeom>
          <a:solidFill>
            <a:srgbClr val="12A566"/>
          </a:solidFill>
          <a:ln/>
        </p:spPr>
      </p:sp>
      <p:sp>
        <p:nvSpPr>
          <p:cNvPr id="44" name="Text 42"/>
          <p:cNvSpPr txBox="1"/>
          <p:nvPr/>
        </p:nvSpPr>
        <p:spPr>
          <a:xfrm>
            <a:off x="749808" y="4901184"/>
            <a:ext cx="3931920" cy="713232"/>
          </a:xfrm>
          <a:prstGeom prst="rect">
            <a:avLst/>
          </a:prstGeom>
          <a:noFill/>
          <a:ln/>
        </p:spPr>
        <p:txBody>
          <a:bodyPr wrap="square" lIns="0" tIns="0" rIns="0" bIns="0" rtlCol="0" anchor="ctr"/>
          <a:lstStyle/>
          <a:p>
            <a:pPr indent="0" marL="0">
              <a:buNone/>
            </a:pPr>
            <a:r>
              <a:rPr lang="en-US" sz="1700" b="1" dirty="0">
                <a:solidFill>
                  <a:srgbClr val="1A1A1A"/>
                </a:solidFill>
                <a:latin typeface="Inter" pitchFamily="34" charset="0"/>
                <a:ea typeface="Inter" pitchFamily="34" charset="-122"/>
                <a:cs typeface="Inter" pitchFamily="34" charset="-120"/>
              </a:rPr>
              <a:t>One minute a day saved for every tech</a:t>
            </a:r>
            <a:endParaRPr lang="en-US" sz="1700" dirty="0"/>
          </a:p>
        </p:txBody>
      </p:sp>
      <p:sp>
        <p:nvSpPr>
          <p:cNvPr id="45" name="Text 43"/>
          <p:cNvSpPr txBox="1"/>
          <p:nvPr/>
        </p:nvSpPr>
        <p:spPr>
          <a:xfrm>
            <a:off x="4754880" y="4901184"/>
            <a:ext cx="2103120" cy="713232"/>
          </a:xfrm>
          <a:prstGeom prst="rect">
            <a:avLst/>
          </a:prstGeom>
          <a:noFill/>
          <a:ln/>
        </p:spPr>
        <p:txBody>
          <a:bodyPr wrap="square" lIns="0" tIns="0" rIns="0" bIns="0" rtlCol="0" anchor="ctr"/>
          <a:lstStyle/>
          <a:p>
            <a:pPr algn="r" indent="0" marL="0">
              <a:buNone/>
            </a:pPr>
            <a:r>
              <a:rPr lang="en-US" sz="2400" b="1" dirty="0">
                <a:solidFill>
                  <a:srgbClr val="0B7A4A"/>
                </a:solidFill>
                <a:latin typeface="Inter" pitchFamily="34" charset="0"/>
                <a:ea typeface="Inter" pitchFamily="34" charset="-122"/>
                <a:cs typeface="Inter" pitchFamily="34" charset="-120"/>
              </a:rPr>
              <a:t>$444,380</a:t>
            </a:r>
            <a:endParaRPr lang="en-US" sz="2400" dirty="0"/>
          </a:p>
        </p:txBody>
      </p:sp>
      <p:sp>
        <p:nvSpPr>
          <p:cNvPr id="46" name="Text 44"/>
          <p:cNvSpPr txBox="1"/>
          <p:nvPr/>
        </p:nvSpPr>
        <p:spPr>
          <a:xfrm>
            <a:off x="7178040" y="4901184"/>
            <a:ext cx="2606040" cy="713232"/>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Parts to the bay, tools and keys in place</a:t>
            </a:r>
            <a:endParaRPr lang="en-US" sz="1400" dirty="0"/>
          </a:p>
        </p:txBody>
      </p:sp>
      <p:sp>
        <p:nvSpPr>
          <p:cNvPr id="47" name="Shape 45"/>
          <p:cNvSpPr/>
          <p:nvPr/>
        </p:nvSpPr>
        <p:spPr>
          <a:xfrm>
            <a:off x="9875520" y="4956048"/>
            <a:ext cx="1691640" cy="274320"/>
          </a:xfrm>
          <a:prstGeom prst="roundRect">
            <a:avLst>
              <a:gd name="adj" fmla="val 20000"/>
            </a:avLst>
          </a:prstGeom>
          <a:solidFill>
            <a:srgbClr val="EDF4FA"/>
          </a:solidFill>
          <a:ln w="9525">
            <a:solidFill>
              <a:srgbClr val="0B2C4A"/>
            </a:solidFill>
            <a:prstDash val="solid"/>
          </a:ln>
        </p:spPr>
      </p:sp>
      <p:sp>
        <p:nvSpPr>
          <p:cNvPr id="48" name="Text 46"/>
          <p:cNvSpPr txBox="1"/>
          <p:nvPr/>
        </p:nvSpPr>
        <p:spPr>
          <a:xfrm>
            <a:off x="9875520" y="4956048"/>
            <a:ext cx="1691640" cy="274320"/>
          </a:xfrm>
          <a:prstGeom prst="rect">
            <a:avLst/>
          </a:prstGeom>
          <a:noFill/>
          <a:ln/>
        </p:spPr>
        <p:txBody>
          <a:bodyPr wrap="square" lIns="0" tIns="0" rIns="0" bIns="0" rtlCol="0" anchor="ctr"/>
          <a:lstStyle/>
          <a:p>
            <a:pPr algn="ctr" indent="0" marL="0">
              <a:buNone/>
            </a:pPr>
            <a:r>
              <a:rPr lang="en-US" sz="1400" b="1" dirty="0">
                <a:solidFill>
                  <a:srgbClr val="0B2C4A"/>
                </a:solidFill>
                <a:latin typeface="Inter" pitchFamily="34" charset="0"/>
                <a:ea typeface="Inter" pitchFamily="34" charset="-122"/>
                <a:cs typeface="Inter" pitchFamily="34" charset="-120"/>
              </a:rPr>
              <a:t>Service manager</a:t>
            </a:r>
            <a:endParaRPr lang="en-US" sz="1400" dirty="0"/>
          </a:p>
        </p:txBody>
      </p:sp>
      <p:sp>
        <p:nvSpPr>
          <p:cNvPr id="49" name="Shape 47"/>
          <p:cNvSpPr/>
          <p:nvPr/>
        </p:nvSpPr>
        <p:spPr>
          <a:xfrm>
            <a:off x="9875520" y="5285232"/>
            <a:ext cx="566928" cy="274320"/>
          </a:xfrm>
          <a:prstGeom prst="roundRect">
            <a:avLst>
              <a:gd name="adj" fmla="val 20000"/>
            </a:avLst>
          </a:prstGeom>
          <a:solidFill>
            <a:srgbClr val="0B2C4A"/>
          </a:solidFill>
          <a:ln w="9525">
            <a:solidFill>
              <a:srgbClr val="0B2C4A"/>
            </a:solidFill>
            <a:prstDash val="solid"/>
          </a:ln>
        </p:spPr>
      </p:sp>
      <p:sp>
        <p:nvSpPr>
          <p:cNvPr id="50" name="Text 48"/>
          <p:cNvSpPr txBox="1"/>
          <p:nvPr/>
        </p:nvSpPr>
        <p:spPr>
          <a:xfrm>
            <a:off x="9875520" y="5285232"/>
            <a:ext cx="566928" cy="274320"/>
          </a:xfrm>
          <a:prstGeom prst="rect">
            <a:avLst/>
          </a:prstGeom>
          <a:noFill/>
          <a:ln/>
        </p:spPr>
        <p:txBody>
          <a:bodyPr wrap="square" lIns="0" tIns="0" rIns="0" bIns="0" rtlCol="0" anchor="ctr"/>
          <a:lstStyle/>
          <a:p>
            <a:pPr algn="ctr" indent="0" marL="0">
              <a:buNone/>
            </a:pPr>
            <a:r>
              <a:rPr lang="en-US" sz="1400" b="1" dirty="0">
                <a:solidFill>
                  <a:srgbClr val="FFFFFF"/>
                </a:solidFill>
                <a:latin typeface="Inter" pitchFamily="34" charset="0"/>
                <a:ea typeface="Inter" pitchFamily="34" charset="-122"/>
                <a:cs typeface="Inter" pitchFamily="34" charset="-120"/>
              </a:rPr>
              <a:t>GM</a:t>
            </a:r>
            <a:endParaRPr lang="en-US" sz="1400" dirty="0"/>
          </a:p>
        </p:txBody>
      </p:sp>
      <p:sp>
        <p:nvSpPr>
          <p:cNvPr id="51" name="Shape 49"/>
          <p:cNvSpPr/>
          <p:nvPr/>
        </p:nvSpPr>
        <p:spPr>
          <a:xfrm>
            <a:off x="457200" y="6126480"/>
            <a:ext cx="11274552" cy="615696"/>
          </a:xfrm>
          <a:prstGeom prst="rect">
            <a:avLst/>
          </a:prstGeom>
          <a:solidFill>
            <a:srgbClr val="E6F6EE"/>
          </a:solidFill>
          <a:ln/>
        </p:spPr>
      </p:sp>
      <p:sp>
        <p:nvSpPr>
          <p:cNvPr id="52" name="Text 5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Every number is gross on cars, bays and techs we already have, except one more RO a day. They overlap, so read each on its own.</a:t>
            </a:r>
            <a:endParaRPr lang="en-US" sz="1600" dirty="0"/>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Before You Leave</a:t>
            </a:r>
            <a:endParaRPr lang="en-US" sz="2800" dirty="0"/>
          </a:p>
        </p:txBody>
      </p:sp>
      <p:sp>
        <p:nvSpPr>
          <p:cNvPr id="5" name="Shape 3"/>
          <p:cNvSpPr/>
          <p:nvPr/>
        </p:nvSpPr>
        <p:spPr>
          <a:xfrm>
            <a:off x="457200" y="1207008"/>
            <a:ext cx="6400800" cy="4782312"/>
          </a:xfrm>
          <a:prstGeom prst="rect">
            <a:avLst/>
          </a:prstGeom>
          <a:solidFill>
            <a:srgbClr val="FFFFFF"/>
          </a:solidFill>
          <a:ln/>
        </p:spPr>
      </p:sp>
      <p:sp>
        <p:nvSpPr>
          <p:cNvPr id="6" name="Shape 4"/>
          <p:cNvSpPr/>
          <p:nvPr/>
        </p:nvSpPr>
        <p:spPr>
          <a:xfrm>
            <a:off x="7022592" y="1207008"/>
            <a:ext cx="4709160" cy="4782312"/>
          </a:xfrm>
          <a:prstGeom prst="rect">
            <a:avLst/>
          </a:prstGeom>
          <a:solidFill>
            <a:srgbClr val="FFFFFF"/>
          </a:solidFill>
          <a:ln/>
        </p:spPr>
      </p:sp>
      <p:sp>
        <p:nvSpPr>
          <p:cNvPr id="7" name="Text 5"/>
          <p:cNvSpPr txBox="1"/>
          <p:nvPr/>
        </p:nvSpPr>
        <p:spPr>
          <a:xfrm>
            <a:off x="7269480" y="1371600"/>
            <a:ext cx="4297680" cy="310896"/>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WHERE THE MONEY IS</a:t>
            </a:r>
            <a:endParaRPr lang="en-US" sz="1400" dirty="0"/>
          </a:p>
        </p:txBody>
      </p:sp>
      <p:sp>
        <p:nvSpPr>
          <p:cNvPr id="8" name="Shape 6"/>
          <p:cNvSpPr/>
          <p:nvPr/>
        </p:nvSpPr>
        <p:spPr>
          <a:xfrm>
            <a:off x="7269480" y="1737360"/>
            <a:ext cx="4224528" cy="10973"/>
          </a:xfrm>
          <a:prstGeom prst="rect">
            <a:avLst/>
          </a:prstGeom>
          <a:solidFill>
            <a:srgbClr val="D9D9D9"/>
          </a:solidFill>
          <a:ln/>
        </p:spPr>
      </p:sp>
      <p:sp>
        <p:nvSpPr>
          <p:cNvPr id="9" name="Text 7"/>
          <p:cNvSpPr txBox="1"/>
          <p:nvPr/>
        </p:nvSpPr>
        <p:spPr>
          <a:xfrm>
            <a:off x="713232" y="1417320"/>
            <a:ext cx="5897880" cy="4434840"/>
          </a:xfrm>
          <a:prstGeom prst="rect">
            <a:avLst/>
          </a:prstGeom>
          <a:noFill/>
          <a:ln/>
        </p:spPr>
        <p:txBody>
          <a:bodyPr wrap="square" lIns="0" tIns="0" rIns="0" bIns="0" rtlCol="0" anchor="t"/>
          <a:lstStyle/>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What did you learn today?</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Give us one or two things you are going to act on and implement</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Do you want to do this again?</a:t>
            </a:r>
            <a:endParaRPr lang="en-US" sz="1800" dirty="0"/>
          </a:p>
          <a:p>
            <a:pPr marL="228600" indent="-228600">
              <a:spcAft>
                <a:spcPts val="800"/>
              </a:spcAft>
              <a:buSzPct val="100000"/>
              <a:buChar char="•"/>
            </a:pPr>
            <a:r>
              <a:rPr lang="en-US" sz="1800" dirty="0">
                <a:solidFill>
                  <a:srgbClr val="1A1A1A"/>
                </a:solidFill>
                <a:latin typeface="Inter" pitchFamily="34" charset="0"/>
                <a:ea typeface="Inter" pitchFamily="34" charset="-122"/>
                <a:cs typeface="Inter" pitchFamily="34" charset="-120"/>
              </a:rPr>
              <a:t>Reach this room in FMGSVCMGR</a:t>
            </a:r>
            <a:endParaRPr lang="en-US" sz="1800" dirty="0"/>
          </a:p>
        </p:txBody>
      </p:sp>
      <p:sp>
        <p:nvSpPr>
          <p:cNvPr id="10" name="Shape 8"/>
          <p:cNvSpPr/>
          <p:nvPr/>
        </p:nvSpPr>
        <p:spPr>
          <a:xfrm>
            <a:off x="7269480" y="1920240"/>
            <a:ext cx="54864" cy="1112520"/>
          </a:xfrm>
          <a:prstGeom prst="rect">
            <a:avLst/>
          </a:prstGeom>
          <a:solidFill>
            <a:srgbClr val="12A566"/>
          </a:solidFill>
          <a:ln/>
        </p:spPr>
      </p:sp>
      <p:sp>
        <p:nvSpPr>
          <p:cNvPr id="11" name="Text 9"/>
          <p:cNvSpPr txBox="1"/>
          <p:nvPr/>
        </p:nvSpPr>
        <p:spPr>
          <a:xfrm>
            <a:off x="7452360" y="1874520"/>
            <a:ext cx="4023360" cy="566928"/>
          </a:xfrm>
          <a:prstGeom prst="rect">
            <a:avLst/>
          </a:prstGeom>
          <a:noFill/>
          <a:ln/>
        </p:spPr>
        <p:txBody>
          <a:bodyPr wrap="square" lIns="0" tIns="0" rIns="0" bIns="0" rtlCol="0" anchor="ctr">
            <a:normAutofit/>
          </a:bodyPr>
          <a:lstStyle/>
          <a:p>
            <a:pPr indent="0" marL="0">
              <a:buNone/>
            </a:pPr>
            <a:r>
              <a:rPr lang="en-US" sz="3000" b="1" dirty="0">
                <a:solidFill>
                  <a:srgbClr val="0B7A4A"/>
                </a:solidFill>
                <a:latin typeface="Inter" pitchFamily="34" charset="0"/>
                <a:ea typeface="Inter" pitchFamily="34" charset="-122"/>
                <a:cs typeface="Inter" pitchFamily="34" charset="-120"/>
              </a:rPr>
              <a:t>0.1 hr per RO</a:t>
            </a:r>
            <a:endParaRPr lang="en-US" sz="3000" dirty="0"/>
          </a:p>
        </p:txBody>
      </p:sp>
      <p:sp>
        <p:nvSpPr>
          <p:cNvPr id="12" name="Text 10"/>
          <p:cNvSpPr txBox="1"/>
          <p:nvPr/>
        </p:nvSpPr>
        <p:spPr>
          <a:xfrm>
            <a:off x="7452360" y="244144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Worth $4,543,691 of labor at today's ELR.</a:t>
            </a:r>
            <a:endParaRPr lang="en-US" sz="1400" dirty="0"/>
          </a:p>
        </p:txBody>
      </p:sp>
      <p:sp>
        <p:nvSpPr>
          <p:cNvPr id="13" name="Shape 11"/>
          <p:cNvSpPr/>
          <p:nvPr/>
        </p:nvSpPr>
        <p:spPr>
          <a:xfrm>
            <a:off x="7269480" y="3261360"/>
            <a:ext cx="54864" cy="1112520"/>
          </a:xfrm>
          <a:prstGeom prst="rect">
            <a:avLst/>
          </a:prstGeom>
          <a:solidFill>
            <a:srgbClr val="C2352F"/>
          </a:solidFill>
          <a:ln/>
        </p:spPr>
      </p:sp>
      <p:sp>
        <p:nvSpPr>
          <p:cNvPr id="14" name="Text 12"/>
          <p:cNvSpPr txBox="1"/>
          <p:nvPr/>
        </p:nvSpPr>
        <p:spPr>
          <a:xfrm>
            <a:off x="7452360" y="321564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18,493 balances</a:t>
            </a:r>
            <a:endParaRPr lang="en-US" sz="3000" dirty="0"/>
          </a:p>
        </p:txBody>
      </p:sp>
      <p:sp>
        <p:nvSpPr>
          <p:cNvPr id="15" name="Text 13"/>
          <p:cNvSpPr txBox="1"/>
          <p:nvPr/>
        </p:nvSpPr>
        <p:spPr>
          <a:xfrm>
            <a:off x="7452360" y="378256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The largest benchmark gap, at 8.3% against 15%.</a:t>
            </a:r>
            <a:endParaRPr lang="en-US" sz="1400" dirty="0"/>
          </a:p>
        </p:txBody>
      </p:sp>
      <p:sp>
        <p:nvSpPr>
          <p:cNvPr id="16" name="Shape 14"/>
          <p:cNvSpPr/>
          <p:nvPr/>
        </p:nvSpPr>
        <p:spPr>
          <a:xfrm>
            <a:off x="7269480" y="4602480"/>
            <a:ext cx="54864" cy="1112520"/>
          </a:xfrm>
          <a:prstGeom prst="rect">
            <a:avLst/>
          </a:prstGeom>
          <a:solidFill>
            <a:srgbClr val="C2352F"/>
          </a:solidFill>
          <a:ln/>
        </p:spPr>
      </p:sp>
      <p:sp>
        <p:nvSpPr>
          <p:cNvPr id="17" name="Text 15"/>
          <p:cNvSpPr txBox="1"/>
          <p:nvPr/>
        </p:nvSpPr>
        <p:spPr>
          <a:xfrm>
            <a:off x="7452360" y="4556760"/>
            <a:ext cx="4023360" cy="566928"/>
          </a:xfrm>
          <a:prstGeom prst="rect">
            <a:avLst/>
          </a:prstGeom>
          <a:noFill/>
          <a:ln/>
        </p:spPr>
        <p:txBody>
          <a:bodyPr wrap="square" lIns="0" tIns="0" rIns="0" bIns="0" rtlCol="0" anchor="ctr">
            <a:normAutofit/>
          </a:bodyPr>
          <a:lstStyle/>
          <a:p>
            <a:pPr indent="0" marL="0">
              <a:buNone/>
            </a:pPr>
            <a:r>
              <a:rPr lang="en-US" sz="3000" b="1" dirty="0">
                <a:solidFill>
                  <a:srgbClr val="A82B26"/>
                </a:solidFill>
                <a:latin typeface="Inter" pitchFamily="34" charset="0"/>
                <a:ea typeface="Inter" pitchFamily="34" charset="-122"/>
                <a:cs typeface="Inter" pitchFamily="34" charset="-120"/>
              </a:rPr>
              <a:t>$1.65M a month</a:t>
            </a:r>
            <a:endParaRPr lang="en-US" sz="3000" dirty="0"/>
          </a:p>
        </p:txBody>
      </p:sp>
      <p:sp>
        <p:nvSpPr>
          <p:cNvPr id="18" name="Text 16"/>
          <p:cNvSpPr txBox="1"/>
          <p:nvPr/>
        </p:nvSpPr>
        <p:spPr>
          <a:xfrm>
            <a:off x="7452360" y="5123688"/>
            <a:ext cx="4023360" cy="60960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Technician proficiency, lifting each tech under 85% to 85%.</a:t>
            </a:r>
            <a:endParaRPr lang="en-US" sz="1400" dirty="0"/>
          </a:p>
        </p:txBody>
      </p:sp>
      <p:sp>
        <p:nvSpPr>
          <p:cNvPr id="19" name="Shape 17"/>
          <p:cNvSpPr/>
          <p:nvPr/>
        </p:nvSpPr>
        <p:spPr>
          <a:xfrm>
            <a:off x="457200" y="6126480"/>
            <a:ext cx="11274552" cy="364236"/>
          </a:xfrm>
          <a:prstGeom prst="rect">
            <a:avLst/>
          </a:prstGeom>
          <a:solidFill>
            <a:srgbClr val="E6F6EE"/>
          </a:solidFill>
          <a:ln/>
        </p:spPr>
      </p:sp>
      <p:sp>
        <p:nvSpPr>
          <p:cNvPr id="20" name="Text 18"/>
          <p:cNvSpPr txBox="1"/>
          <p:nvPr/>
        </p:nvSpPr>
        <p:spPr>
          <a:xfrm>
            <a:off x="658368" y="6144768"/>
            <a:ext cx="10927080" cy="327660"/>
          </a:xfrm>
          <a:prstGeom prst="rect">
            <a:avLst/>
          </a:prstGeom>
          <a:noFill/>
          <a:ln/>
        </p:spPr>
        <p:txBody>
          <a:bodyPr wrap="square" lIns="0" tIns="0" rIns="0" bIns="0" rtlCol="0" anchor="ctr"/>
          <a:lstStyle/>
          <a:p>
            <a:pPr indent="0" marL="0">
              <a:buNone/>
            </a:pPr>
            <a:r>
              <a:rPr lang="en-US" sz="1550" b="1" dirty="0">
                <a:solidFill>
                  <a:srgbClr val="0B7A4A"/>
                </a:solidFill>
                <a:latin typeface="Inter" pitchFamily="34" charset="0"/>
                <a:ea typeface="Inter" pitchFamily="34" charset="-122"/>
                <a:cs typeface="Inter" pitchFamily="34" charset="-120"/>
              </a:rPr>
              <a:t>The ask: name your one or two commitments out loud, with a number attached, before you leave the room.</a:t>
            </a:r>
            <a:endParaRPr lang="en-US" sz="1550" dirty="0"/>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STORE DOOR RATES</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DOOR RATE · ELR % OF DOOR RATE, BARS ONLY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07062"/>
            <a:ext cx="1691640" cy="119948"/>
          </a:xfrm>
          <a:prstGeom prst="rect">
            <a:avLst/>
          </a:prstGeom>
          <a:solidFill>
            <a:srgbClr val="12A566"/>
          </a:solidFill>
          <a:ln/>
        </p:spPr>
      </p:sp>
      <p:sp>
        <p:nvSpPr>
          <p:cNvPr id="14" name="Text 12"/>
          <p:cNvSpPr txBox="1"/>
          <p:nvPr/>
        </p:nvSpPr>
        <p:spPr>
          <a:xfrm>
            <a:off x="4754880"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46957"/>
            <a:ext cx="1337833" cy="119948"/>
          </a:xfrm>
          <a:prstGeom prst="rect">
            <a:avLst/>
          </a:prstGeom>
          <a:solidFill>
            <a:srgbClr val="12A566"/>
          </a:solidFill>
          <a:ln/>
        </p:spPr>
      </p:sp>
      <p:sp>
        <p:nvSpPr>
          <p:cNvPr id="18" name="Text 16"/>
          <p:cNvSpPr txBox="1"/>
          <p:nvPr/>
        </p:nvSpPr>
        <p:spPr>
          <a:xfrm>
            <a:off x="4754880"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386853"/>
            <a:ext cx="1330750" cy="119948"/>
          </a:xfrm>
          <a:prstGeom prst="rect">
            <a:avLst/>
          </a:prstGeom>
          <a:solidFill>
            <a:srgbClr val="12A566"/>
          </a:solidFill>
          <a:ln/>
        </p:spPr>
      </p:sp>
      <p:sp>
        <p:nvSpPr>
          <p:cNvPr id="22" name="Text 20"/>
          <p:cNvSpPr txBox="1"/>
          <p:nvPr/>
        </p:nvSpPr>
        <p:spPr>
          <a:xfrm>
            <a:off x="4754880"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26748"/>
            <a:ext cx="1325919" cy="119948"/>
          </a:xfrm>
          <a:prstGeom prst="rect">
            <a:avLst/>
          </a:prstGeom>
          <a:solidFill>
            <a:srgbClr val="12A566"/>
          </a:solidFill>
          <a:ln/>
        </p:spPr>
      </p:sp>
      <p:sp>
        <p:nvSpPr>
          <p:cNvPr id="26" name="Text 24"/>
          <p:cNvSpPr txBox="1"/>
          <p:nvPr/>
        </p:nvSpPr>
        <p:spPr>
          <a:xfrm>
            <a:off x="4754880"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866644"/>
            <a:ext cx="1292406" cy="119948"/>
          </a:xfrm>
          <a:prstGeom prst="rect">
            <a:avLst/>
          </a:prstGeom>
          <a:solidFill>
            <a:srgbClr val="12A566"/>
          </a:solidFill>
          <a:ln/>
        </p:spPr>
      </p:sp>
      <p:sp>
        <p:nvSpPr>
          <p:cNvPr id="30" name="Text 28"/>
          <p:cNvSpPr txBox="1"/>
          <p:nvPr/>
        </p:nvSpPr>
        <p:spPr>
          <a:xfrm>
            <a:off x="4754880"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106540"/>
            <a:ext cx="1245988" cy="119948"/>
          </a:xfrm>
          <a:prstGeom prst="rect">
            <a:avLst/>
          </a:prstGeom>
          <a:solidFill>
            <a:srgbClr val="12A566"/>
          </a:solidFill>
          <a:ln/>
        </p:spPr>
      </p:sp>
      <p:sp>
        <p:nvSpPr>
          <p:cNvPr id="34" name="Text 32"/>
          <p:cNvSpPr txBox="1"/>
          <p:nvPr/>
        </p:nvSpPr>
        <p:spPr>
          <a:xfrm>
            <a:off x="4754880"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346435"/>
            <a:ext cx="1233940" cy="119948"/>
          </a:xfrm>
          <a:prstGeom prst="rect">
            <a:avLst/>
          </a:prstGeom>
          <a:solidFill>
            <a:srgbClr val="12A566"/>
          </a:solidFill>
          <a:ln/>
        </p:spPr>
      </p:sp>
      <p:sp>
        <p:nvSpPr>
          <p:cNvPr id="38" name="Text 36"/>
          <p:cNvSpPr txBox="1"/>
          <p:nvPr/>
        </p:nvSpPr>
        <p:spPr>
          <a:xfrm>
            <a:off x="4754880"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586331"/>
            <a:ext cx="1135970" cy="119948"/>
          </a:xfrm>
          <a:prstGeom prst="rect">
            <a:avLst/>
          </a:prstGeom>
          <a:solidFill>
            <a:srgbClr val="12A566"/>
          </a:solidFill>
          <a:ln/>
        </p:spPr>
      </p:sp>
      <p:sp>
        <p:nvSpPr>
          <p:cNvPr id="42" name="Text 40"/>
          <p:cNvSpPr txBox="1"/>
          <p:nvPr/>
        </p:nvSpPr>
        <p:spPr>
          <a:xfrm>
            <a:off x="4754880"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3826226"/>
            <a:ext cx="1105695" cy="119948"/>
          </a:xfrm>
          <a:prstGeom prst="rect">
            <a:avLst/>
          </a:prstGeom>
          <a:solidFill>
            <a:srgbClr val="12A566"/>
          </a:solidFill>
          <a:ln/>
        </p:spPr>
      </p:sp>
      <p:sp>
        <p:nvSpPr>
          <p:cNvPr id="46" name="Text 44"/>
          <p:cNvSpPr txBox="1"/>
          <p:nvPr/>
        </p:nvSpPr>
        <p:spPr>
          <a:xfrm>
            <a:off x="4754880" y="3766252"/>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066122"/>
            <a:ext cx="1091852" cy="119948"/>
          </a:xfrm>
          <a:prstGeom prst="rect">
            <a:avLst/>
          </a:prstGeom>
          <a:solidFill>
            <a:srgbClr val="12A566"/>
          </a:solidFill>
          <a:ln/>
        </p:spPr>
      </p:sp>
      <p:sp>
        <p:nvSpPr>
          <p:cNvPr id="50" name="Text 48"/>
          <p:cNvSpPr txBox="1"/>
          <p:nvPr/>
        </p:nvSpPr>
        <p:spPr>
          <a:xfrm>
            <a:off x="4754880" y="400614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306017"/>
            <a:ext cx="1062579" cy="119948"/>
          </a:xfrm>
          <a:prstGeom prst="rect">
            <a:avLst/>
          </a:prstGeom>
          <a:solidFill>
            <a:srgbClr val="12A566"/>
          </a:solidFill>
          <a:ln/>
        </p:spPr>
      </p:sp>
      <p:sp>
        <p:nvSpPr>
          <p:cNvPr id="54" name="Text 52"/>
          <p:cNvSpPr txBox="1"/>
          <p:nvPr/>
        </p:nvSpPr>
        <p:spPr>
          <a:xfrm>
            <a:off x="4754880" y="4246043"/>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545913"/>
            <a:ext cx="1052866" cy="119948"/>
          </a:xfrm>
          <a:prstGeom prst="rect">
            <a:avLst/>
          </a:prstGeom>
          <a:solidFill>
            <a:srgbClr val="12A566"/>
          </a:solidFill>
          <a:ln/>
        </p:spPr>
      </p:sp>
      <p:sp>
        <p:nvSpPr>
          <p:cNvPr id="58" name="Text 56"/>
          <p:cNvSpPr txBox="1"/>
          <p:nvPr/>
        </p:nvSpPr>
        <p:spPr>
          <a:xfrm>
            <a:off x="4754880" y="448593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4785808"/>
            <a:ext cx="1037454" cy="119948"/>
          </a:xfrm>
          <a:prstGeom prst="rect">
            <a:avLst/>
          </a:prstGeom>
          <a:solidFill>
            <a:srgbClr val="12A566"/>
          </a:solidFill>
          <a:ln/>
        </p:spPr>
      </p:sp>
      <p:sp>
        <p:nvSpPr>
          <p:cNvPr id="62" name="Text 60"/>
          <p:cNvSpPr txBox="1"/>
          <p:nvPr/>
        </p:nvSpPr>
        <p:spPr>
          <a:xfrm>
            <a:off x="4754880" y="472583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025704"/>
            <a:ext cx="1037318" cy="119948"/>
          </a:xfrm>
          <a:prstGeom prst="rect">
            <a:avLst/>
          </a:prstGeom>
          <a:solidFill>
            <a:srgbClr val="12A566"/>
          </a:solidFill>
          <a:ln/>
        </p:spPr>
      </p:sp>
      <p:sp>
        <p:nvSpPr>
          <p:cNvPr id="66" name="Text 64"/>
          <p:cNvSpPr txBox="1"/>
          <p:nvPr/>
        </p:nvSpPr>
        <p:spPr>
          <a:xfrm>
            <a:off x="4754880" y="496573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265599"/>
            <a:ext cx="1025918" cy="119948"/>
          </a:xfrm>
          <a:prstGeom prst="rect">
            <a:avLst/>
          </a:prstGeom>
          <a:solidFill>
            <a:srgbClr val="12A566"/>
          </a:solidFill>
          <a:ln/>
        </p:spPr>
      </p:sp>
      <p:sp>
        <p:nvSpPr>
          <p:cNvPr id="70" name="Text 68"/>
          <p:cNvSpPr txBox="1"/>
          <p:nvPr/>
        </p:nvSpPr>
        <p:spPr>
          <a:xfrm>
            <a:off x="4754880" y="520562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505495"/>
            <a:ext cx="979141" cy="119948"/>
          </a:xfrm>
          <a:prstGeom prst="rect">
            <a:avLst/>
          </a:prstGeom>
          <a:solidFill>
            <a:srgbClr val="12A566"/>
          </a:solidFill>
          <a:ln/>
        </p:spPr>
      </p:sp>
      <p:sp>
        <p:nvSpPr>
          <p:cNvPr id="74" name="Text 72"/>
          <p:cNvSpPr txBox="1"/>
          <p:nvPr/>
        </p:nvSpPr>
        <p:spPr>
          <a:xfrm>
            <a:off x="4754880" y="544552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5745390"/>
            <a:ext cx="971152" cy="119948"/>
          </a:xfrm>
          <a:prstGeom prst="rect">
            <a:avLst/>
          </a:prstGeom>
          <a:solidFill>
            <a:srgbClr val="12A566"/>
          </a:solidFill>
          <a:ln/>
        </p:spPr>
      </p:sp>
      <p:sp>
        <p:nvSpPr>
          <p:cNvPr id="78" name="Text 76"/>
          <p:cNvSpPr txBox="1"/>
          <p:nvPr/>
        </p:nvSpPr>
        <p:spPr>
          <a:xfrm>
            <a:off x="4754880" y="568541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07062"/>
            <a:ext cx="944283" cy="119948"/>
          </a:xfrm>
          <a:prstGeom prst="rect">
            <a:avLst/>
          </a:prstGeom>
          <a:solidFill>
            <a:srgbClr val="12A566"/>
          </a:solidFill>
          <a:ln/>
        </p:spPr>
      </p:sp>
      <p:sp>
        <p:nvSpPr>
          <p:cNvPr id="82" name="Text 80"/>
          <p:cNvSpPr txBox="1"/>
          <p:nvPr/>
        </p:nvSpPr>
        <p:spPr>
          <a:xfrm>
            <a:off x="10305288" y="1847088"/>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46957"/>
            <a:ext cx="939782" cy="119948"/>
          </a:xfrm>
          <a:prstGeom prst="rect">
            <a:avLst/>
          </a:prstGeom>
          <a:solidFill>
            <a:srgbClr val="12A566"/>
          </a:solidFill>
          <a:ln/>
        </p:spPr>
      </p:sp>
      <p:sp>
        <p:nvSpPr>
          <p:cNvPr id="86" name="Text 84"/>
          <p:cNvSpPr txBox="1"/>
          <p:nvPr/>
        </p:nvSpPr>
        <p:spPr>
          <a:xfrm>
            <a:off x="10305288" y="2086984"/>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386853"/>
            <a:ext cx="935092" cy="119948"/>
          </a:xfrm>
          <a:prstGeom prst="rect">
            <a:avLst/>
          </a:prstGeom>
          <a:solidFill>
            <a:srgbClr val="12A566"/>
          </a:solidFill>
          <a:ln/>
        </p:spPr>
      </p:sp>
      <p:sp>
        <p:nvSpPr>
          <p:cNvPr id="90" name="Text 88"/>
          <p:cNvSpPr txBox="1"/>
          <p:nvPr/>
        </p:nvSpPr>
        <p:spPr>
          <a:xfrm>
            <a:off x="10305288" y="2326879"/>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26748"/>
            <a:ext cx="932611" cy="119948"/>
          </a:xfrm>
          <a:prstGeom prst="rect">
            <a:avLst/>
          </a:prstGeom>
          <a:solidFill>
            <a:srgbClr val="12A566"/>
          </a:solidFill>
          <a:ln/>
        </p:spPr>
      </p:sp>
      <p:sp>
        <p:nvSpPr>
          <p:cNvPr id="94" name="Text 92"/>
          <p:cNvSpPr txBox="1"/>
          <p:nvPr/>
        </p:nvSpPr>
        <p:spPr>
          <a:xfrm>
            <a:off x="10305288" y="2566775"/>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866644"/>
            <a:ext cx="903003" cy="119948"/>
          </a:xfrm>
          <a:prstGeom prst="rect">
            <a:avLst/>
          </a:prstGeom>
          <a:solidFill>
            <a:srgbClr val="12A566"/>
          </a:solidFill>
          <a:ln/>
        </p:spPr>
      </p:sp>
      <p:sp>
        <p:nvSpPr>
          <p:cNvPr id="98" name="Text 96"/>
          <p:cNvSpPr txBox="1"/>
          <p:nvPr/>
        </p:nvSpPr>
        <p:spPr>
          <a:xfrm>
            <a:off x="10305288" y="2806670"/>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106540"/>
            <a:ext cx="883327" cy="119948"/>
          </a:xfrm>
          <a:prstGeom prst="rect">
            <a:avLst/>
          </a:prstGeom>
          <a:solidFill>
            <a:srgbClr val="12A566"/>
          </a:solidFill>
          <a:ln/>
        </p:spPr>
      </p:sp>
      <p:sp>
        <p:nvSpPr>
          <p:cNvPr id="102" name="Text 100"/>
          <p:cNvSpPr txBox="1"/>
          <p:nvPr/>
        </p:nvSpPr>
        <p:spPr>
          <a:xfrm>
            <a:off x="10305288" y="3046566"/>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346435"/>
            <a:ext cx="863903" cy="119948"/>
          </a:xfrm>
          <a:prstGeom prst="rect">
            <a:avLst/>
          </a:prstGeom>
          <a:solidFill>
            <a:srgbClr val="12A566"/>
          </a:solidFill>
          <a:ln/>
        </p:spPr>
      </p:sp>
      <p:sp>
        <p:nvSpPr>
          <p:cNvPr id="106" name="Text 104"/>
          <p:cNvSpPr txBox="1"/>
          <p:nvPr/>
        </p:nvSpPr>
        <p:spPr>
          <a:xfrm>
            <a:off x="10305288" y="3286461"/>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586331"/>
            <a:ext cx="816673" cy="119948"/>
          </a:xfrm>
          <a:prstGeom prst="rect">
            <a:avLst/>
          </a:prstGeom>
          <a:solidFill>
            <a:srgbClr val="12A566"/>
          </a:solidFill>
          <a:ln/>
        </p:spPr>
      </p:sp>
      <p:sp>
        <p:nvSpPr>
          <p:cNvPr id="110" name="Text 108"/>
          <p:cNvSpPr txBox="1"/>
          <p:nvPr/>
        </p:nvSpPr>
        <p:spPr>
          <a:xfrm>
            <a:off x="10305288" y="3526357"/>
            <a:ext cx="1143000" cy="239896"/>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3826226"/>
            <a:ext cx="760618" cy="119948"/>
          </a:xfrm>
          <a:prstGeom prst="rect">
            <a:avLst/>
          </a:prstGeom>
          <a:solidFill>
            <a:srgbClr val="C2352F"/>
          </a:solidFill>
          <a:ln/>
        </p:spPr>
      </p:sp>
      <p:sp>
        <p:nvSpPr>
          <p:cNvPr id="114" name="Text 112"/>
          <p:cNvSpPr txBox="1"/>
          <p:nvPr/>
        </p:nvSpPr>
        <p:spPr>
          <a:xfrm>
            <a:off x="10305288" y="3766252"/>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066122"/>
            <a:ext cx="753672" cy="119948"/>
          </a:xfrm>
          <a:prstGeom prst="rect">
            <a:avLst/>
          </a:prstGeom>
          <a:solidFill>
            <a:srgbClr val="C2352F"/>
          </a:solidFill>
          <a:ln/>
        </p:spPr>
      </p:sp>
      <p:sp>
        <p:nvSpPr>
          <p:cNvPr id="118" name="Text 116"/>
          <p:cNvSpPr txBox="1"/>
          <p:nvPr/>
        </p:nvSpPr>
        <p:spPr>
          <a:xfrm>
            <a:off x="10305288" y="4006148"/>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306017"/>
            <a:ext cx="733304" cy="119948"/>
          </a:xfrm>
          <a:prstGeom prst="rect">
            <a:avLst/>
          </a:prstGeom>
          <a:solidFill>
            <a:srgbClr val="C2352F"/>
          </a:solidFill>
          <a:ln/>
        </p:spPr>
      </p:sp>
      <p:sp>
        <p:nvSpPr>
          <p:cNvPr id="122" name="Text 120"/>
          <p:cNvSpPr txBox="1"/>
          <p:nvPr/>
        </p:nvSpPr>
        <p:spPr>
          <a:xfrm>
            <a:off x="10305288" y="4246043"/>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545913"/>
            <a:ext cx="713521" cy="119948"/>
          </a:xfrm>
          <a:prstGeom prst="rect">
            <a:avLst/>
          </a:prstGeom>
          <a:solidFill>
            <a:srgbClr val="C2352F"/>
          </a:solidFill>
          <a:ln/>
        </p:spPr>
      </p:sp>
      <p:sp>
        <p:nvSpPr>
          <p:cNvPr id="126" name="Text 124"/>
          <p:cNvSpPr txBox="1"/>
          <p:nvPr/>
        </p:nvSpPr>
        <p:spPr>
          <a:xfrm>
            <a:off x="10305288" y="4485939"/>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4785808"/>
            <a:ext cx="707954" cy="119948"/>
          </a:xfrm>
          <a:prstGeom prst="rect">
            <a:avLst/>
          </a:prstGeom>
          <a:solidFill>
            <a:srgbClr val="C2352F"/>
          </a:solidFill>
          <a:ln/>
        </p:spPr>
      </p:sp>
      <p:sp>
        <p:nvSpPr>
          <p:cNvPr id="130" name="Text 128"/>
          <p:cNvSpPr txBox="1"/>
          <p:nvPr/>
        </p:nvSpPr>
        <p:spPr>
          <a:xfrm>
            <a:off x="10305288" y="4725834"/>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025704"/>
            <a:ext cx="666961" cy="119948"/>
          </a:xfrm>
          <a:prstGeom prst="rect">
            <a:avLst/>
          </a:prstGeom>
          <a:solidFill>
            <a:srgbClr val="C2352F"/>
          </a:solidFill>
          <a:ln/>
        </p:spPr>
      </p:sp>
      <p:sp>
        <p:nvSpPr>
          <p:cNvPr id="134" name="Text 132"/>
          <p:cNvSpPr txBox="1"/>
          <p:nvPr/>
        </p:nvSpPr>
        <p:spPr>
          <a:xfrm>
            <a:off x="10305288" y="4965730"/>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265599"/>
            <a:ext cx="661223" cy="119948"/>
          </a:xfrm>
          <a:prstGeom prst="rect">
            <a:avLst/>
          </a:prstGeom>
          <a:solidFill>
            <a:srgbClr val="C2352F"/>
          </a:solidFill>
          <a:ln/>
        </p:spPr>
      </p:sp>
      <p:sp>
        <p:nvSpPr>
          <p:cNvPr id="138" name="Text 136"/>
          <p:cNvSpPr txBox="1"/>
          <p:nvPr/>
        </p:nvSpPr>
        <p:spPr>
          <a:xfrm>
            <a:off x="10305288" y="5205625"/>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505495"/>
            <a:ext cx="574635" cy="119948"/>
          </a:xfrm>
          <a:prstGeom prst="rect">
            <a:avLst/>
          </a:prstGeom>
          <a:solidFill>
            <a:srgbClr val="C2352F"/>
          </a:solidFill>
          <a:ln/>
        </p:spPr>
      </p:sp>
      <p:sp>
        <p:nvSpPr>
          <p:cNvPr id="142" name="Text 140"/>
          <p:cNvSpPr txBox="1"/>
          <p:nvPr/>
        </p:nvSpPr>
        <p:spPr>
          <a:xfrm>
            <a:off x="10305288" y="5445521"/>
            <a:ext cx="1143000" cy="239896"/>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078224"/>
          </a:xfrm>
          <a:prstGeom prst="rect">
            <a:avLst/>
          </a:prstGeom>
          <a:solidFill>
            <a:srgbClr val="0B2C4A"/>
          </a:solidFill>
          <a:ln/>
        </p:spPr>
      </p:sp>
      <p:sp>
        <p:nvSpPr>
          <p:cNvPr id="144" name="Shape 142"/>
          <p:cNvSpPr/>
          <p:nvPr/>
        </p:nvSpPr>
        <p:spPr>
          <a:xfrm>
            <a:off x="9350686" y="1847088"/>
            <a:ext cx="14630" cy="4078224"/>
          </a:xfrm>
          <a:prstGeom prst="rect">
            <a:avLst/>
          </a:prstGeom>
          <a:solidFill>
            <a:srgbClr val="0B2C4A"/>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DF4F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25 of 33 stores realize at least 70% of door rate; the group is at 74.7%. Audi Reno leads at 103.4%; Cadillac is lowest at 61.5%.</a:t>
            </a:r>
            <a:endParaRPr lang="en-US" sz="1600" dirty="0"/>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GROSS PER EMPLOYEE GAP</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Gross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355848"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379976"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8" name="Text 6"/>
          <p:cNvSpPr txBox="1"/>
          <p:nvPr/>
        </p:nvSpPr>
        <p:spPr>
          <a:xfrm>
            <a:off x="5148072"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9" name="Text 7"/>
          <p:cNvSpPr txBox="1"/>
          <p:nvPr/>
        </p:nvSpPr>
        <p:spPr>
          <a:xfrm>
            <a:off x="8906256" y="1316736"/>
            <a:ext cx="102412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30384"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Per emp</a:t>
            </a:r>
            <a:endParaRPr lang="en-US" sz="1400" dirty="0"/>
          </a:p>
        </p:txBody>
      </p:sp>
      <p:sp>
        <p:nvSpPr>
          <p:cNvPr id="11" name="Text 9"/>
          <p:cNvSpPr txBox="1"/>
          <p:nvPr/>
        </p:nvSpPr>
        <p:spPr>
          <a:xfrm>
            <a:off x="10698480" y="1316736"/>
            <a:ext cx="768096"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Seg avg</a:t>
            </a:r>
            <a:endParaRPr lang="en-US" sz="1400" dirty="0"/>
          </a:p>
        </p:txBody>
      </p:sp>
      <p:sp>
        <p:nvSpPr>
          <p:cNvPr id="12" name="Text 10"/>
          <p:cNvSpPr txBox="1"/>
          <p:nvPr/>
        </p:nvSpPr>
        <p:spPr>
          <a:xfrm>
            <a:off x="658368"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 name="Shape 12"/>
          <p:cNvSpPr/>
          <p:nvPr/>
        </p:nvSpPr>
        <p:spPr>
          <a:xfrm>
            <a:off x="2871216" y="1787195"/>
            <a:ext cx="429768" cy="211226"/>
          </a:xfrm>
          <a:prstGeom prst="rect">
            <a:avLst/>
          </a:prstGeom>
          <a:solidFill>
            <a:srgbClr val="C2352F"/>
          </a:solidFill>
          <a:ln/>
        </p:spPr>
      </p:sp>
      <p:sp>
        <p:nvSpPr>
          <p:cNvPr id="15" name="Text 13"/>
          <p:cNvSpPr txBox="1"/>
          <p:nvPr/>
        </p:nvSpPr>
        <p:spPr>
          <a:xfrm>
            <a:off x="3355848"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$2,456,862</a:t>
            </a:r>
            <a:endParaRPr lang="en-US" sz="1300" dirty="0"/>
          </a:p>
        </p:txBody>
      </p:sp>
      <p:sp>
        <p:nvSpPr>
          <p:cNvPr id="16" name="Text 14"/>
          <p:cNvSpPr txBox="1"/>
          <p:nvPr/>
        </p:nvSpPr>
        <p:spPr>
          <a:xfrm>
            <a:off x="4379976"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$14,260</a:t>
            </a:r>
            <a:endParaRPr lang="en-US" sz="1300" dirty="0"/>
          </a:p>
        </p:txBody>
      </p:sp>
      <p:sp>
        <p:nvSpPr>
          <p:cNvPr id="17" name="Text 15"/>
          <p:cNvSpPr txBox="1"/>
          <p:nvPr/>
        </p:nvSpPr>
        <p:spPr>
          <a:xfrm>
            <a:off x="5148072"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8" name="Text 16"/>
          <p:cNvSpPr txBox="1"/>
          <p:nvPr/>
        </p:nvSpPr>
        <p:spPr>
          <a:xfrm>
            <a:off x="658368"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0" name="Shape 18"/>
          <p:cNvSpPr/>
          <p:nvPr/>
        </p:nvSpPr>
        <p:spPr>
          <a:xfrm>
            <a:off x="2871216" y="2171243"/>
            <a:ext cx="382835" cy="211226"/>
          </a:xfrm>
          <a:prstGeom prst="rect">
            <a:avLst/>
          </a:prstGeom>
          <a:solidFill>
            <a:srgbClr val="C2352F"/>
          </a:solidFill>
          <a:ln/>
        </p:spPr>
      </p:sp>
      <p:sp>
        <p:nvSpPr>
          <p:cNvPr id="21" name="Text 19"/>
          <p:cNvSpPr txBox="1"/>
          <p:nvPr/>
        </p:nvSpPr>
        <p:spPr>
          <a:xfrm>
            <a:off x="3355848"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$2,188,561</a:t>
            </a:r>
            <a:endParaRPr lang="en-US" sz="1300" dirty="0"/>
          </a:p>
        </p:txBody>
      </p:sp>
      <p:sp>
        <p:nvSpPr>
          <p:cNvPr id="22" name="Text 20"/>
          <p:cNvSpPr txBox="1"/>
          <p:nvPr/>
        </p:nvSpPr>
        <p:spPr>
          <a:xfrm>
            <a:off x="4379976"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$10,963</a:t>
            </a:r>
            <a:endParaRPr lang="en-US" sz="1300" dirty="0"/>
          </a:p>
        </p:txBody>
      </p:sp>
      <p:sp>
        <p:nvSpPr>
          <p:cNvPr id="23" name="Text 21"/>
          <p:cNvSpPr txBox="1"/>
          <p:nvPr/>
        </p:nvSpPr>
        <p:spPr>
          <a:xfrm>
            <a:off x="5148072"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24" name="Text 22"/>
          <p:cNvSpPr txBox="1"/>
          <p:nvPr/>
        </p:nvSpPr>
        <p:spPr>
          <a:xfrm>
            <a:off x="658368"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6" name="Shape 24"/>
          <p:cNvSpPr/>
          <p:nvPr/>
        </p:nvSpPr>
        <p:spPr>
          <a:xfrm>
            <a:off x="2871216" y="2555291"/>
            <a:ext cx="236238" cy="211226"/>
          </a:xfrm>
          <a:prstGeom prst="rect">
            <a:avLst/>
          </a:prstGeom>
          <a:solidFill>
            <a:srgbClr val="C2352F"/>
          </a:solidFill>
          <a:ln/>
        </p:spPr>
      </p:sp>
      <p:sp>
        <p:nvSpPr>
          <p:cNvPr id="27" name="Text 25"/>
          <p:cNvSpPr txBox="1"/>
          <p:nvPr/>
        </p:nvSpPr>
        <p:spPr>
          <a:xfrm>
            <a:off x="3355848"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$1,350,504</a:t>
            </a:r>
            <a:endParaRPr lang="en-US" sz="1300" dirty="0"/>
          </a:p>
        </p:txBody>
      </p:sp>
      <p:sp>
        <p:nvSpPr>
          <p:cNvPr id="28" name="Text 26"/>
          <p:cNvSpPr txBox="1"/>
          <p:nvPr/>
        </p:nvSpPr>
        <p:spPr>
          <a:xfrm>
            <a:off x="4379976"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$10,391</a:t>
            </a:r>
            <a:endParaRPr lang="en-US" sz="1300" dirty="0"/>
          </a:p>
        </p:txBody>
      </p:sp>
      <p:sp>
        <p:nvSpPr>
          <p:cNvPr id="29" name="Text 27"/>
          <p:cNvSpPr txBox="1"/>
          <p:nvPr/>
        </p:nvSpPr>
        <p:spPr>
          <a:xfrm>
            <a:off x="5148072"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0" name="Text 28"/>
          <p:cNvSpPr txBox="1"/>
          <p:nvPr/>
        </p:nvSpPr>
        <p:spPr>
          <a:xfrm>
            <a:off x="658368"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2" name="Shape 30"/>
          <p:cNvSpPr/>
          <p:nvPr/>
        </p:nvSpPr>
        <p:spPr>
          <a:xfrm>
            <a:off x="2871216" y="2939339"/>
            <a:ext cx="229928" cy="211226"/>
          </a:xfrm>
          <a:prstGeom prst="rect">
            <a:avLst/>
          </a:prstGeom>
          <a:solidFill>
            <a:srgbClr val="C2352F"/>
          </a:solidFill>
          <a:ln/>
        </p:spPr>
      </p:sp>
      <p:sp>
        <p:nvSpPr>
          <p:cNvPr id="33" name="Text 31"/>
          <p:cNvSpPr txBox="1"/>
          <p:nvPr/>
        </p:nvSpPr>
        <p:spPr>
          <a:xfrm>
            <a:off x="3355848"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$1,314,435</a:t>
            </a:r>
            <a:endParaRPr lang="en-US" sz="1300" dirty="0"/>
          </a:p>
        </p:txBody>
      </p:sp>
      <p:sp>
        <p:nvSpPr>
          <p:cNvPr id="34" name="Text 32"/>
          <p:cNvSpPr txBox="1"/>
          <p:nvPr/>
        </p:nvSpPr>
        <p:spPr>
          <a:xfrm>
            <a:off x="4379976"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$9,953</a:t>
            </a:r>
            <a:endParaRPr lang="en-US" sz="1300" dirty="0"/>
          </a:p>
        </p:txBody>
      </p:sp>
      <p:sp>
        <p:nvSpPr>
          <p:cNvPr id="35" name="Text 33"/>
          <p:cNvSpPr txBox="1"/>
          <p:nvPr/>
        </p:nvSpPr>
        <p:spPr>
          <a:xfrm>
            <a:off x="5148072"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36" name="Text 34"/>
          <p:cNvSpPr txBox="1"/>
          <p:nvPr/>
        </p:nvSpPr>
        <p:spPr>
          <a:xfrm>
            <a:off x="658368"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8" name="Shape 36"/>
          <p:cNvSpPr/>
          <p:nvPr/>
        </p:nvSpPr>
        <p:spPr>
          <a:xfrm>
            <a:off x="2871216" y="3323387"/>
            <a:ext cx="215568" cy="211226"/>
          </a:xfrm>
          <a:prstGeom prst="rect">
            <a:avLst/>
          </a:prstGeom>
          <a:solidFill>
            <a:srgbClr val="C2352F"/>
          </a:solidFill>
          <a:ln/>
        </p:spPr>
      </p:sp>
      <p:sp>
        <p:nvSpPr>
          <p:cNvPr id="39" name="Text 37"/>
          <p:cNvSpPr txBox="1"/>
          <p:nvPr/>
        </p:nvSpPr>
        <p:spPr>
          <a:xfrm>
            <a:off x="3355848"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$1,232,343</a:t>
            </a:r>
            <a:endParaRPr lang="en-US" sz="1300" dirty="0"/>
          </a:p>
        </p:txBody>
      </p:sp>
      <p:sp>
        <p:nvSpPr>
          <p:cNvPr id="40" name="Text 38"/>
          <p:cNvSpPr txBox="1"/>
          <p:nvPr/>
        </p:nvSpPr>
        <p:spPr>
          <a:xfrm>
            <a:off x="4379976"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$12,042</a:t>
            </a:r>
            <a:endParaRPr lang="en-US" sz="1300" dirty="0"/>
          </a:p>
        </p:txBody>
      </p:sp>
      <p:sp>
        <p:nvSpPr>
          <p:cNvPr id="41" name="Text 39"/>
          <p:cNvSpPr txBox="1"/>
          <p:nvPr/>
        </p:nvSpPr>
        <p:spPr>
          <a:xfrm>
            <a:off x="5148072"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2" name="Text 40"/>
          <p:cNvSpPr txBox="1"/>
          <p:nvPr/>
        </p:nvSpPr>
        <p:spPr>
          <a:xfrm>
            <a:off x="658368"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4" name="Shape 42"/>
          <p:cNvSpPr/>
          <p:nvPr/>
        </p:nvSpPr>
        <p:spPr>
          <a:xfrm>
            <a:off x="2871216" y="3707435"/>
            <a:ext cx="197159" cy="211226"/>
          </a:xfrm>
          <a:prstGeom prst="rect">
            <a:avLst/>
          </a:prstGeom>
          <a:solidFill>
            <a:srgbClr val="C2352F"/>
          </a:solidFill>
          <a:ln/>
        </p:spPr>
      </p:sp>
      <p:sp>
        <p:nvSpPr>
          <p:cNvPr id="45" name="Text 43"/>
          <p:cNvSpPr txBox="1"/>
          <p:nvPr/>
        </p:nvSpPr>
        <p:spPr>
          <a:xfrm>
            <a:off x="3355848"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$1,127,104</a:t>
            </a:r>
            <a:endParaRPr lang="en-US" sz="1300" dirty="0"/>
          </a:p>
        </p:txBody>
      </p:sp>
      <p:sp>
        <p:nvSpPr>
          <p:cNvPr id="46" name="Text 44"/>
          <p:cNvSpPr txBox="1"/>
          <p:nvPr/>
        </p:nvSpPr>
        <p:spPr>
          <a:xfrm>
            <a:off x="4379976"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$11,128</a:t>
            </a:r>
            <a:endParaRPr lang="en-US" sz="1300" dirty="0"/>
          </a:p>
        </p:txBody>
      </p:sp>
      <p:sp>
        <p:nvSpPr>
          <p:cNvPr id="47" name="Text 45"/>
          <p:cNvSpPr txBox="1"/>
          <p:nvPr/>
        </p:nvSpPr>
        <p:spPr>
          <a:xfrm>
            <a:off x="5148072"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48" name="Text 46"/>
          <p:cNvSpPr txBox="1"/>
          <p:nvPr/>
        </p:nvSpPr>
        <p:spPr>
          <a:xfrm>
            <a:off x="658368"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0" name="Shape 48"/>
          <p:cNvSpPr/>
          <p:nvPr/>
        </p:nvSpPr>
        <p:spPr>
          <a:xfrm>
            <a:off x="2871216" y="4091483"/>
            <a:ext cx="185442" cy="211226"/>
          </a:xfrm>
          <a:prstGeom prst="rect">
            <a:avLst/>
          </a:prstGeom>
          <a:solidFill>
            <a:srgbClr val="C2352F"/>
          </a:solidFill>
          <a:ln/>
        </p:spPr>
      </p:sp>
      <p:sp>
        <p:nvSpPr>
          <p:cNvPr id="51" name="Text 49"/>
          <p:cNvSpPr txBox="1"/>
          <p:nvPr/>
        </p:nvSpPr>
        <p:spPr>
          <a:xfrm>
            <a:off x="3355848"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$1,060,118</a:t>
            </a:r>
            <a:endParaRPr lang="en-US" sz="1300" dirty="0"/>
          </a:p>
        </p:txBody>
      </p:sp>
      <p:sp>
        <p:nvSpPr>
          <p:cNvPr id="52" name="Text 50"/>
          <p:cNvSpPr txBox="1"/>
          <p:nvPr/>
        </p:nvSpPr>
        <p:spPr>
          <a:xfrm>
            <a:off x="4379976"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$10,794</a:t>
            </a:r>
            <a:endParaRPr lang="en-US" sz="1300" dirty="0"/>
          </a:p>
        </p:txBody>
      </p:sp>
      <p:sp>
        <p:nvSpPr>
          <p:cNvPr id="53" name="Text 51"/>
          <p:cNvSpPr txBox="1"/>
          <p:nvPr/>
        </p:nvSpPr>
        <p:spPr>
          <a:xfrm>
            <a:off x="5148072"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54" name="Text 52"/>
          <p:cNvSpPr txBox="1"/>
          <p:nvPr/>
        </p:nvSpPr>
        <p:spPr>
          <a:xfrm>
            <a:off x="658368"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6" name="Shape 54"/>
          <p:cNvSpPr/>
          <p:nvPr/>
        </p:nvSpPr>
        <p:spPr>
          <a:xfrm>
            <a:off x="2871216" y="4475531"/>
            <a:ext cx="179286" cy="211226"/>
          </a:xfrm>
          <a:prstGeom prst="rect">
            <a:avLst/>
          </a:prstGeom>
          <a:solidFill>
            <a:srgbClr val="C2352F"/>
          </a:solidFill>
          <a:ln/>
        </p:spPr>
      </p:sp>
      <p:sp>
        <p:nvSpPr>
          <p:cNvPr id="57" name="Text 55"/>
          <p:cNvSpPr txBox="1"/>
          <p:nvPr/>
        </p:nvSpPr>
        <p:spPr>
          <a:xfrm>
            <a:off x="3355848"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$1,024,925</a:t>
            </a:r>
            <a:endParaRPr lang="en-US" sz="1300" dirty="0"/>
          </a:p>
        </p:txBody>
      </p:sp>
      <p:sp>
        <p:nvSpPr>
          <p:cNvPr id="58" name="Text 56"/>
          <p:cNvSpPr txBox="1"/>
          <p:nvPr/>
        </p:nvSpPr>
        <p:spPr>
          <a:xfrm>
            <a:off x="4379976"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$9,498</a:t>
            </a:r>
            <a:endParaRPr lang="en-US" sz="1300" dirty="0"/>
          </a:p>
        </p:txBody>
      </p:sp>
      <p:sp>
        <p:nvSpPr>
          <p:cNvPr id="59" name="Text 57"/>
          <p:cNvSpPr txBox="1"/>
          <p:nvPr/>
        </p:nvSpPr>
        <p:spPr>
          <a:xfrm>
            <a:off x="5148072"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0" name="Text 58"/>
          <p:cNvSpPr txBox="1"/>
          <p:nvPr/>
        </p:nvSpPr>
        <p:spPr>
          <a:xfrm>
            <a:off x="658368"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2871216" y="4859579"/>
            <a:ext cx="179186" cy="211226"/>
          </a:xfrm>
          <a:prstGeom prst="rect">
            <a:avLst/>
          </a:prstGeom>
          <a:solidFill>
            <a:srgbClr val="C2352F"/>
          </a:solidFill>
          <a:ln/>
        </p:spPr>
      </p:sp>
      <p:sp>
        <p:nvSpPr>
          <p:cNvPr id="63" name="Text 61"/>
          <p:cNvSpPr txBox="1"/>
          <p:nvPr/>
        </p:nvSpPr>
        <p:spPr>
          <a:xfrm>
            <a:off x="3355848"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$1,024,357</a:t>
            </a:r>
            <a:endParaRPr lang="en-US" sz="1300" dirty="0"/>
          </a:p>
        </p:txBody>
      </p:sp>
      <p:sp>
        <p:nvSpPr>
          <p:cNvPr id="64" name="Text 62"/>
          <p:cNvSpPr txBox="1"/>
          <p:nvPr/>
        </p:nvSpPr>
        <p:spPr>
          <a:xfrm>
            <a:off x="4379976"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$11,044</a:t>
            </a:r>
            <a:endParaRPr lang="en-US" sz="1300" dirty="0"/>
          </a:p>
        </p:txBody>
      </p:sp>
      <p:sp>
        <p:nvSpPr>
          <p:cNvPr id="65" name="Text 63"/>
          <p:cNvSpPr txBox="1"/>
          <p:nvPr/>
        </p:nvSpPr>
        <p:spPr>
          <a:xfrm>
            <a:off x="5148072"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66" name="Text 64"/>
          <p:cNvSpPr txBox="1"/>
          <p:nvPr/>
        </p:nvSpPr>
        <p:spPr>
          <a:xfrm>
            <a:off x="658368"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8" name="Shape 66"/>
          <p:cNvSpPr/>
          <p:nvPr/>
        </p:nvSpPr>
        <p:spPr>
          <a:xfrm>
            <a:off x="2871216" y="5243627"/>
            <a:ext cx="145201" cy="211226"/>
          </a:xfrm>
          <a:prstGeom prst="rect">
            <a:avLst/>
          </a:prstGeom>
          <a:solidFill>
            <a:srgbClr val="C2352F"/>
          </a:solidFill>
          <a:ln/>
        </p:spPr>
      </p:sp>
      <p:sp>
        <p:nvSpPr>
          <p:cNvPr id="69" name="Text 67"/>
          <p:cNvSpPr txBox="1"/>
          <p:nvPr/>
        </p:nvSpPr>
        <p:spPr>
          <a:xfrm>
            <a:off x="3355848"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$830,073</a:t>
            </a:r>
            <a:endParaRPr lang="en-US" sz="1300" dirty="0"/>
          </a:p>
        </p:txBody>
      </p:sp>
      <p:sp>
        <p:nvSpPr>
          <p:cNvPr id="70" name="Text 68"/>
          <p:cNvSpPr txBox="1"/>
          <p:nvPr/>
        </p:nvSpPr>
        <p:spPr>
          <a:xfrm>
            <a:off x="4379976"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$14,916</a:t>
            </a:r>
            <a:endParaRPr lang="en-US" sz="1300" dirty="0"/>
          </a:p>
        </p:txBody>
      </p:sp>
      <p:sp>
        <p:nvSpPr>
          <p:cNvPr id="71" name="Text 69"/>
          <p:cNvSpPr txBox="1"/>
          <p:nvPr/>
        </p:nvSpPr>
        <p:spPr>
          <a:xfrm>
            <a:off x="5148072"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72" name="Text 70"/>
          <p:cNvSpPr txBox="1"/>
          <p:nvPr/>
        </p:nvSpPr>
        <p:spPr>
          <a:xfrm>
            <a:off x="658368" y="554126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554126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4" name="Shape 72"/>
          <p:cNvSpPr/>
          <p:nvPr/>
        </p:nvSpPr>
        <p:spPr>
          <a:xfrm>
            <a:off x="2871216" y="5627675"/>
            <a:ext cx="144678" cy="211226"/>
          </a:xfrm>
          <a:prstGeom prst="rect">
            <a:avLst/>
          </a:prstGeom>
          <a:solidFill>
            <a:srgbClr val="C2352F"/>
          </a:solidFill>
          <a:ln/>
        </p:spPr>
      </p:sp>
      <p:sp>
        <p:nvSpPr>
          <p:cNvPr id="75" name="Text 73"/>
          <p:cNvSpPr txBox="1"/>
          <p:nvPr/>
        </p:nvSpPr>
        <p:spPr>
          <a:xfrm>
            <a:off x="3355848" y="554126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$827,082</a:t>
            </a:r>
            <a:endParaRPr lang="en-US" sz="1300" dirty="0"/>
          </a:p>
        </p:txBody>
      </p:sp>
      <p:sp>
        <p:nvSpPr>
          <p:cNvPr id="76" name="Text 74"/>
          <p:cNvSpPr txBox="1"/>
          <p:nvPr/>
        </p:nvSpPr>
        <p:spPr>
          <a:xfrm>
            <a:off x="4379976"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$9,149</a:t>
            </a:r>
            <a:endParaRPr lang="en-US" sz="1300" dirty="0"/>
          </a:p>
        </p:txBody>
      </p:sp>
      <p:sp>
        <p:nvSpPr>
          <p:cNvPr id="77" name="Text 75"/>
          <p:cNvSpPr txBox="1"/>
          <p:nvPr/>
        </p:nvSpPr>
        <p:spPr>
          <a:xfrm>
            <a:off x="5148072" y="554126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78" name="Text 76"/>
          <p:cNvSpPr txBox="1"/>
          <p:nvPr/>
        </p:nvSpPr>
        <p:spPr>
          <a:xfrm>
            <a:off x="6208776" y="170078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565392" y="170078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0" name="Shape 78"/>
          <p:cNvSpPr/>
          <p:nvPr/>
        </p:nvSpPr>
        <p:spPr>
          <a:xfrm>
            <a:off x="8421624" y="1787195"/>
            <a:ext cx="70607" cy="211226"/>
          </a:xfrm>
          <a:prstGeom prst="rect">
            <a:avLst/>
          </a:prstGeom>
          <a:solidFill>
            <a:srgbClr val="C2352F"/>
          </a:solidFill>
          <a:ln/>
        </p:spPr>
      </p:sp>
      <p:sp>
        <p:nvSpPr>
          <p:cNvPr id="81" name="Text 79"/>
          <p:cNvSpPr txBox="1"/>
          <p:nvPr/>
        </p:nvSpPr>
        <p:spPr>
          <a:xfrm>
            <a:off x="8906256" y="170078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$403,638</a:t>
            </a:r>
            <a:endParaRPr lang="en-US" sz="1300" dirty="0"/>
          </a:p>
        </p:txBody>
      </p:sp>
      <p:sp>
        <p:nvSpPr>
          <p:cNvPr id="82" name="Text 80"/>
          <p:cNvSpPr txBox="1"/>
          <p:nvPr/>
        </p:nvSpPr>
        <p:spPr>
          <a:xfrm>
            <a:off x="9930384"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$11,957</a:t>
            </a:r>
            <a:endParaRPr lang="en-US" sz="1300" dirty="0"/>
          </a:p>
        </p:txBody>
      </p:sp>
      <p:sp>
        <p:nvSpPr>
          <p:cNvPr id="83" name="Text 81"/>
          <p:cNvSpPr txBox="1"/>
          <p:nvPr/>
        </p:nvSpPr>
        <p:spPr>
          <a:xfrm>
            <a:off x="10698480" y="170078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84" name="Text 82"/>
          <p:cNvSpPr txBox="1"/>
          <p:nvPr/>
        </p:nvSpPr>
        <p:spPr>
          <a:xfrm>
            <a:off x="6208776" y="208483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6565392" y="208483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6" name="Shape 84"/>
          <p:cNvSpPr/>
          <p:nvPr/>
        </p:nvSpPr>
        <p:spPr>
          <a:xfrm>
            <a:off x="8421624" y="2171243"/>
            <a:ext cx="65929" cy="211226"/>
          </a:xfrm>
          <a:prstGeom prst="rect">
            <a:avLst/>
          </a:prstGeom>
          <a:solidFill>
            <a:srgbClr val="C2352F"/>
          </a:solidFill>
          <a:ln/>
        </p:spPr>
      </p:sp>
      <p:sp>
        <p:nvSpPr>
          <p:cNvPr id="87" name="Text 85"/>
          <p:cNvSpPr txBox="1"/>
          <p:nvPr/>
        </p:nvSpPr>
        <p:spPr>
          <a:xfrm>
            <a:off x="8906256" y="208483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$376,895</a:t>
            </a:r>
            <a:endParaRPr lang="en-US" sz="1300" dirty="0"/>
          </a:p>
        </p:txBody>
      </p:sp>
      <p:sp>
        <p:nvSpPr>
          <p:cNvPr id="88" name="Text 86"/>
          <p:cNvSpPr txBox="1"/>
          <p:nvPr/>
        </p:nvSpPr>
        <p:spPr>
          <a:xfrm>
            <a:off x="9930384"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$12,006</a:t>
            </a:r>
            <a:endParaRPr lang="en-US" sz="1300" dirty="0"/>
          </a:p>
        </p:txBody>
      </p:sp>
      <p:sp>
        <p:nvSpPr>
          <p:cNvPr id="89" name="Text 87"/>
          <p:cNvSpPr txBox="1"/>
          <p:nvPr/>
        </p:nvSpPr>
        <p:spPr>
          <a:xfrm>
            <a:off x="10698480" y="208483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0" name="Text 88"/>
          <p:cNvSpPr txBox="1"/>
          <p:nvPr/>
        </p:nvSpPr>
        <p:spPr>
          <a:xfrm>
            <a:off x="6208776" y="246888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565392" y="246888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92" name="Shape 90"/>
          <p:cNvSpPr/>
          <p:nvPr/>
        </p:nvSpPr>
        <p:spPr>
          <a:xfrm>
            <a:off x="8421624" y="2555291"/>
            <a:ext cx="64833" cy="211226"/>
          </a:xfrm>
          <a:prstGeom prst="rect">
            <a:avLst/>
          </a:prstGeom>
          <a:solidFill>
            <a:srgbClr val="C2352F"/>
          </a:solidFill>
          <a:ln/>
        </p:spPr>
      </p:sp>
      <p:sp>
        <p:nvSpPr>
          <p:cNvPr id="93" name="Text 91"/>
          <p:cNvSpPr txBox="1"/>
          <p:nvPr/>
        </p:nvSpPr>
        <p:spPr>
          <a:xfrm>
            <a:off x="8906256" y="246888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$370,634</a:t>
            </a:r>
            <a:endParaRPr lang="en-US" sz="1300" dirty="0"/>
          </a:p>
        </p:txBody>
      </p:sp>
      <p:sp>
        <p:nvSpPr>
          <p:cNvPr id="94" name="Text 92"/>
          <p:cNvSpPr txBox="1"/>
          <p:nvPr/>
        </p:nvSpPr>
        <p:spPr>
          <a:xfrm>
            <a:off x="9930384"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$9,878</a:t>
            </a:r>
            <a:endParaRPr lang="en-US" sz="1300" dirty="0"/>
          </a:p>
        </p:txBody>
      </p:sp>
      <p:sp>
        <p:nvSpPr>
          <p:cNvPr id="95" name="Text 93"/>
          <p:cNvSpPr txBox="1"/>
          <p:nvPr/>
        </p:nvSpPr>
        <p:spPr>
          <a:xfrm>
            <a:off x="10698480" y="246888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96" name="Text 94"/>
          <p:cNvSpPr txBox="1"/>
          <p:nvPr/>
        </p:nvSpPr>
        <p:spPr>
          <a:xfrm>
            <a:off x="6208776" y="285292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6565392" y="285292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98" name="Shape 96"/>
          <p:cNvSpPr/>
          <p:nvPr/>
        </p:nvSpPr>
        <p:spPr>
          <a:xfrm>
            <a:off x="8421624" y="2939339"/>
            <a:ext cx="59917" cy="211226"/>
          </a:xfrm>
          <a:prstGeom prst="rect">
            <a:avLst/>
          </a:prstGeom>
          <a:solidFill>
            <a:srgbClr val="C2352F"/>
          </a:solidFill>
          <a:ln/>
        </p:spPr>
      </p:sp>
      <p:sp>
        <p:nvSpPr>
          <p:cNvPr id="99" name="Text 97"/>
          <p:cNvSpPr txBox="1"/>
          <p:nvPr/>
        </p:nvSpPr>
        <p:spPr>
          <a:xfrm>
            <a:off x="8906256" y="285292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$342,526</a:t>
            </a:r>
            <a:endParaRPr lang="en-US" sz="1300" dirty="0"/>
          </a:p>
        </p:txBody>
      </p:sp>
      <p:sp>
        <p:nvSpPr>
          <p:cNvPr id="100" name="Text 98"/>
          <p:cNvSpPr txBox="1"/>
          <p:nvPr/>
        </p:nvSpPr>
        <p:spPr>
          <a:xfrm>
            <a:off x="9930384"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$15,226</a:t>
            </a:r>
            <a:endParaRPr lang="en-US" sz="1300" dirty="0"/>
          </a:p>
        </p:txBody>
      </p:sp>
      <p:sp>
        <p:nvSpPr>
          <p:cNvPr id="101" name="Text 99"/>
          <p:cNvSpPr txBox="1"/>
          <p:nvPr/>
        </p:nvSpPr>
        <p:spPr>
          <a:xfrm>
            <a:off x="10698480" y="285292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02" name="Text 100"/>
          <p:cNvSpPr txBox="1"/>
          <p:nvPr/>
        </p:nvSpPr>
        <p:spPr>
          <a:xfrm>
            <a:off x="6208776" y="323697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6565392" y="323697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4" name="Shape 102"/>
          <p:cNvSpPr/>
          <p:nvPr/>
        </p:nvSpPr>
        <p:spPr>
          <a:xfrm>
            <a:off x="8421624" y="3323387"/>
            <a:ext cx="54171" cy="211226"/>
          </a:xfrm>
          <a:prstGeom prst="rect">
            <a:avLst/>
          </a:prstGeom>
          <a:solidFill>
            <a:srgbClr val="C2352F"/>
          </a:solidFill>
          <a:ln/>
        </p:spPr>
      </p:sp>
      <p:sp>
        <p:nvSpPr>
          <p:cNvPr id="105" name="Text 103"/>
          <p:cNvSpPr txBox="1"/>
          <p:nvPr/>
        </p:nvSpPr>
        <p:spPr>
          <a:xfrm>
            <a:off x="8906256" y="323697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$309,678</a:t>
            </a:r>
            <a:endParaRPr lang="en-US" sz="1300" dirty="0"/>
          </a:p>
        </p:txBody>
      </p:sp>
      <p:sp>
        <p:nvSpPr>
          <p:cNvPr id="106" name="Text 104"/>
          <p:cNvSpPr txBox="1"/>
          <p:nvPr/>
        </p:nvSpPr>
        <p:spPr>
          <a:xfrm>
            <a:off x="9930384"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$11,541</a:t>
            </a:r>
            <a:endParaRPr lang="en-US" sz="1300" dirty="0"/>
          </a:p>
        </p:txBody>
      </p:sp>
      <p:sp>
        <p:nvSpPr>
          <p:cNvPr id="107" name="Text 105"/>
          <p:cNvSpPr txBox="1"/>
          <p:nvPr/>
        </p:nvSpPr>
        <p:spPr>
          <a:xfrm>
            <a:off x="10698480" y="323697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08" name="Text 106"/>
          <p:cNvSpPr txBox="1"/>
          <p:nvPr/>
        </p:nvSpPr>
        <p:spPr>
          <a:xfrm>
            <a:off x="6208776" y="3621024"/>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6565392" y="3621024"/>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0" name="Shape 108"/>
          <p:cNvSpPr/>
          <p:nvPr/>
        </p:nvSpPr>
        <p:spPr>
          <a:xfrm>
            <a:off x="8421624" y="3707435"/>
            <a:ext cx="33354" cy="211226"/>
          </a:xfrm>
          <a:prstGeom prst="rect">
            <a:avLst/>
          </a:prstGeom>
          <a:solidFill>
            <a:srgbClr val="C2352F"/>
          </a:solidFill>
          <a:ln/>
        </p:spPr>
      </p:sp>
      <p:sp>
        <p:nvSpPr>
          <p:cNvPr id="111" name="Text 109"/>
          <p:cNvSpPr txBox="1"/>
          <p:nvPr/>
        </p:nvSpPr>
        <p:spPr>
          <a:xfrm>
            <a:off x="8906256" y="3621024"/>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$190,674</a:t>
            </a:r>
            <a:endParaRPr lang="en-US" sz="1300" dirty="0"/>
          </a:p>
        </p:txBody>
      </p:sp>
      <p:sp>
        <p:nvSpPr>
          <p:cNvPr id="112" name="Text 110"/>
          <p:cNvSpPr txBox="1"/>
          <p:nvPr/>
        </p:nvSpPr>
        <p:spPr>
          <a:xfrm>
            <a:off x="9930384"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$11,631</a:t>
            </a:r>
            <a:endParaRPr lang="en-US" sz="1300" dirty="0"/>
          </a:p>
        </p:txBody>
      </p:sp>
      <p:sp>
        <p:nvSpPr>
          <p:cNvPr id="113" name="Text 111"/>
          <p:cNvSpPr txBox="1"/>
          <p:nvPr/>
        </p:nvSpPr>
        <p:spPr>
          <a:xfrm>
            <a:off x="10698480" y="3621024"/>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14" name="Text 112"/>
          <p:cNvSpPr txBox="1"/>
          <p:nvPr/>
        </p:nvSpPr>
        <p:spPr>
          <a:xfrm>
            <a:off x="6208776" y="4005072"/>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4005072"/>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16" name="Shape 114"/>
          <p:cNvSpPr/>
          <p:nvPr/>
        </p:nvSpPr>
        <p:spPr>
          <a:xfrm>
            <a:off x="8421624" y="4091483"/>
            <a:ext cx="27497" cy="211226"/>
          </a:xfrm>
          <a:prstGeom prst="rect">
            <a:avLst/>
          </a:prstGeom>
          <a:solidFill>
            <a:srgbClr val="C2352F"/>
          </a:solidFill>
          <a:ln/>
        </p:spPr>
      </p:sp>
      <p:sp>
        <p:nvSpPr>
          <p:cNvPr id="117" name="Text 115"/>
          <p:cNvSpPr txBox="1"/>
          <p:nvPr/>
        </p:nvSpPr>
        <p:spPr>
          <a:xfrm>
            <a:off x="8906256" y="4005072"/>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$157,193</a:t>
            </a:r>
            <a:endParaRPr lang="en-US" sz="1300" dirty="0"/>
          </a:p>
        </p:txBody>
      </p:sp>
      <p:sp>
        <p:nvSpPr>
          <p:cNvPr id="118" name="Text 116"/>
          <p:cNvSpPr txBox="1"/>
          <p:nvPr/>
        </p:nvSpPr>
        <p:spPr>
          <a:xfrm>
            <a:off x="9930384"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$12,103</a:t>
            </a:r>
            <a:endParaRPr lang="en-US" sz="1300" dirty="0"/>
          </a:p>
        </p:txBody>
      </p:sp>
      <p:sp>
        <p:nvSpPr>
          <p:cNvPr id="119" name="Text 117"/>
          <p:cNvSpPr txBox="1"/>
          <p:nvPr/>
        </p:nvSpPr>
        <p:spPr>
          <a:xfrm>
            <a:off x="10698480" y="4005072"/>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0" name="Text 118"/>
          <p:cNvSpPr txBox="1"/>
          <p:nvPr/>
        </p:nvSpPr>
        <p:spPr>
          <a:xfrm>
            <a:off x="6208776" y="4389120"/>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4389120"/>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2" name="Shape 120"/>
          <p:cNvSpPr/>
          <p:nvPr/>
        </p:nvSpPr>
        <p:spPr>
          <a:xfrm>
            <a:off x="8421624" y="4475531"/>
            <a:ext cx="19120" cy="211226"/>
          </a:xfrm>
          <a:prstGeom prst="rect">
            <a:avLst/>
          </a:prstGeom>
          <a:solidFill>
            <a:srgbClr val="C2352F"/>
          </a:solidFill>
          <a:ln/>
        </p:spPr>
      </p:sp>
      <p:sp>
        <p:nvSpPr>
          <p:cNvPr id="123" name="Text 121"/>
          <p:cNvSpPr txBox="1"/>
          <p:nvPr/>
        </p:nvSpPr>
        <p:spPr>
          <a:xfrm>
            <a:off x="8906256" y="4389120"/>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$109,303</a:t>
            </a:r>
            <a:endParaRPr lang="en-US" sz="1300" dirty="0"/>
          </a:p>
        </p:txBody>
      </p:sp>
      <p:sp>
        <p:nvSpPr>
          <p:cNvPr id="124" name="Text 122"/>
          <p:cNvSpPr txBox="1"/>
          <p:nvPr/>
        </p:nvSpPr>
        <p:spPr>
          <a:xfrm>
            <a:off x="9930384"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$12,364</a:t>
            </a:r>
            <a:endParaRPr lang="en-US" sz="1300" dirty="0"/>
          </a:p>
        </p:txBody>
      </p:sp>
      <p:sp>
        <p:nvSpPr>
          <p:cNvPr id="125" name="Text 123"/>
          <p:cNvSpPr txBox="1"/>
          <p:nvPr/>
        </p:nvSpPr>
        <p:spPr>
          <a:xfrm>
            <a:off x="10698480" y="4389120"/>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26" name="Text 124"/>
          <p:cNvSpPr txBox="1"/>
          <p:nvPr/>
        </p:nvSpPr>
        <p:spPr>
          <a:xfrm>
            <a:off x="6208776" y="4773168"/>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4773168"/>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421624" y="4859579"/>
            <a:ext cx="18288" cy="211226"/>
          </a:xfrm>
          <a:prstGeom prst="rect">
            <a:avLst/>
          </a:prstGeom>
          <a:solidFill>
            <a:srgbClr val="C2352F"/>
          </a:solidFill>
          <a:ln/>
        </p:spPr>
      </p:sp>
      <p:sp>
        <p:nvSpPr>
          <p:cNvPr id="129" name="Text 127"/>
          <p:cNvSpPr txBox="1"/>
          <p:nvPr/>
        </p:nvSpPr>
        <p:spPr>
          <a:xfrm>
            <a:off x="8906256" y="4773168"/>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$61,379</a:t>
            </a:r>
            <a:endParaRPr lang="en-US" sz="1300" dirty="0"/>
          </a:p>
        </p:txBody>
      </p:sp>
      <p:sp>
        <p:nvSpPr>
          <p:cNvPr id="130" name="Text 128"/>
          <p:cNvSpPr txBox="1"/>
          <p:nvPr/>
        </p:nvSpPr>
        <p:spPr>
          <a:xfrm>
            <a:off x="9930384"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$12,501</a:t>
            </a:r>
            <a:endParaRPr lang="en-US" sz="1300" dirty="0"/>
          </a:p>
        </p:txBody>
      </p:sp>
      <p:sp>
        <p:nvSpPr>
          <p:cNvPr id="131" name="Text 129"/>
          <p:cNvSpPr txBox="1"/>
          <p:nvPr/>
        </p:nvSpPr>
        <p:spPr>
          <a:xfrm>
            <a:off x="10698480" y="4773168"/>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$12,714</a:t>
            </a:r>
            <a:endParaRPr lang="en-US" sz="1300" dirty="0"/>
          </a:p>
        </p:txBody>
      </p:sp>
      <p:sp>
        <p:nvSpPr>
          <p:cNvPr id="132" name="Text 130"/>
          <p:cNvSpPr txBox="1"/>
          <p:nvPr/>
        </p:nvSpPr>
        <p:spPr>
          <a:xfrm>
            <a:off x="6208776" y="5157216"/>
            <a:ext cx="310896" cy="38404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5157216"/>
            <a:ext cx="1783080" cy="38404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4" name="Shape 132"/>
          <p:cNvSpPr/>
          <p:nvPr/>
        </p:nvSpPr>
        <p:spPr>
          <a:xfrm>
            <a:off x="8421624" y="5243627"/>
            <a:ext cx="18288" cy="211226"/>
          </a:xfrm>
          <a:prstGeom prst="rect">
            <a:avLst/>
          </a:prstGeom>
          <a:solidFill>
            <a:srgbClr val="C2352F"/>
          </a:solidFill>
          <a:ln/>
        </p:spPr>
      </p:sp>
      <p:sp>
        <p:nvSpPr>
          <p:cNvPr id="135" name="Text 133"/>
          <p:cNvSpPr txBox="1"/>
          <p:nvPr/>
        </p:nvSpPr>
        <p:spPr>
          <a:xfrm>
            <a:off x="8906256" y="5157216"/>
            <a:ext cx="1024128" cy="384048"/>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$25,739</a:t>
            </a:r>
            <a:endParaRPr lang="en-US" sz="1300" dirty="0"/>
          </a:p>
        </p:txBody>
      </p:sp>
      <p:sp>
        <p:nvSpPr>
          <p:cNvPr id="136" name="Text 134"/>
          <p:cNvSpPr txBox="1"/>
          <p:nvPr/>
        </p:nvSpPr>
        <p:spPr>
          <a:xfrm>
            <a:off x="9930384"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$16,919</a:t>
            </a:r>
            <a:endParaRPr lang="en-US" sz="1300" dirty="0"/>
          </a:p>
        </p:txBody>
      </p:sp>
      <p:sp>
        <p:nvSpPr>
          <p:cNvPr id="137" name="Text 135"/>
          <p:cNvSpPr txBox="1"/>
          <p:nvPr/>
        </p:nvSpPr>
        <p:spPr>
          <a:xfrm>
            <a:off x="10698480" y="5157216"/>
            <a:ext cx="768096" cy="3840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$16,998</a:t>
            </a:r>
            <a:endParaRPr lang="en-US" sz="1300" dirty="0"/>
          </a:p>
        </p:txBody>
      </p:sp>
      <p:sp>
        <p:nvSpPr>
          <p:cNvPr id="138" name="Shape 136"/>
          <p:cNvSpPr/>
          <p:nvPr/>
        </p:nvSpPr>
        <p:spPr>
          <a:xfrm>
            <a:off x="6085332" y="1700784"/>
            <a:ext cx="10973" cy="4224528"/>
          </a:xfrm>
          <a:prstGeom prst="rect">
            <a:avLst/>
          </a:prstGeom>
          <a:solidFill>
            <a:srgbClr val="D9D9D9"/>
          </a:solidFill>
          <a:ln/>
        </p:spPr>
      </p:sp>
      <p:sp>
        <p:nvSpPr>
          <p:cNvPr id="139" name="Shape 137"/>
          <p:cNvSpPr/>
          <p:nvPr/>
        </p:nvSpPr>
        <p:spPr>
          <a:xfrm>
            <a:off x="457200" y="6126480"/>
            <a:ext cx="11274552" cy="615696"/>
          </a:xfrm>
          <a:prstGeom prst="rect">
            <a:avLst/>
          </a:prstGeom>
          <a:solidFill>
            <a:srgbClr val="FBEBEA"/>
          </a:solidFill>
          <a:ln/>
        </p:spPr>
      </p:sp>
      <p:sp>
        <p:nvSpPr>
          <p:cNvPr id="140" name="Text 138"/>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Luxury stores are compared with $16,998 a month, non-luxury with $12,714. 21 stores below their average leave $16,784,025 a year with the same staff.</a:t>
            </a:r>
            <a:endParaRPr lang="en-US" sz="1600" dirty="0"/>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5% MORE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What 5% More per Employee Is Worth</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3502152"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7" name="Text 5"/>
          <p:cNvSpPr txBox="1"/>
          <p:nvPr/>
        </p:nvSpPr>
        <p:spPr>
          <a:xfrm>
            <a:off x="441655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8" name="Text 6"/>
          <p:cNvSpPr txBox="1"/>
          <p:nvPr/>
        </p:nvSpPr>
        <p:spPr>
          <a:xfrm>
            <a:off x="51663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9" name="Text 7"/>
          <p:cNvSpPr txBox="1"/>
          <p:nvPr/>
        </p:nvSpPr>
        <p:spPr>
          <a:xfrm>
            <a:off x="9052560" y="1316736"/>
            <a:ext cx="914400"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Gross/yr</a:t>
            </a:r>
            <a:endParaRPr lang="en-US" sz="1400" dirty="0"/>
          </a:p>
        </p:txBody>
      </p:sp>
      <p:sp>
        <p:nvSpPr>
          <p:cNvPr id="10" name="Text 8"/>
          <p:cNvSpPr txBox="1"/>
          <p:nvPr/>
        </p:nvSpPr>
        <p:spPr>
          <a:xfrm>
            <a:off x="996696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Today</a:t>
            </a:r>
            <a:endParaRPr lang="en-US" sz="1400" dirty="0"/>
          </a:p>
        </p:txBody>
      </p:sp>
      <p:sp>
        <p:nvSpPr>
          <p:cNvPr id="11" name="Text 9"/>
          <p:cNvSpPr txBox="1"/>
          <p:nvPr/>
        </p:nvSpPr>
        <p:spPr>
          <a:xfrm>
            <a:off x="1071676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Target</a:t>
            </a:r>
            <a:endParaRPr lang="en-US" sz="1400" dirty="0"/>
          </a:p>
        </p:txBody>
      </p:sp>
      <p:sp>
        <p:nvSpPr>
          <p:cNvPr id="12" name="Text 10"/>
          <p:cNvSpPr txBox="1"/>
          <p:nvPr/>
        </p:nvSpPr>
        <p:spPr>
          <a:xfrm>
            <a:off x="658368"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3" name="Text 11"/>
          <p:cNvSpPr txBox="1"/>
          <p:nvPr/>
        </p:nvSpPr>
        <p:spPr>
          <a:xfrm>
            <a:off x="1014984"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 name="Shape 12"/>
          <p:cNvSpPr/>
          <p:nvPr/>
        </p:nvSpPr>
        <p:spPr>
          <a:xfrm>
            <a:off x="2871216" y="1756697"/>
            <a:ext cx="576072" cy="136676"/>
          </a:xfrm>
          <a:prstGeom prst="rect">
            <a:avLst/>
          </a:prstGeom>
          <a:solidFill>
            <a:srgbClr val="2587C5"/>
          </a:solidFill>
          <a:ln/>
        </p:spPr>
      </p:sp>
      <p:sp>
        <p:nvSpPr>
          <p:cNvPr id="15" name="Text 13"/>
          <p:cNvSpPr txBox="1"/>
          <p:nvPr/>
        </p:nvSpPr>
        <p:spPr>
          <a:xfrm>
            <a:off x="3502152"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$1.51M</a:t>
            </a:r>
            <a:endParaRPr lang="en-US" sz="1300" dirty="0"/>
          </a:p>
        </p:txBody>
      </p:sp>
      <p:sp>
        <p:nvSpPr>
          <p:cNvPr id="16" name="Text 14"/>
          <p:cNvSpPr txBox="1"/>
          <p:nvPr/>
        </p:nvSpPr>
        <p:spPr>
          <a:xfrm>
            <a:off x="4416552"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$14.2K</a:t>
            </a:r>
            <a:endParaRPr lang="en-US" sz="1300" dirty="0"/>
          </a:p>
        </p:txBody>
      </p:sp>
      <p:sp>
        <p:nvSpPr>
          <p:cNvPr id="17" name="Text 15"/>
          <p:cNvSpPr txBox="1"/>
          <p:nvPr/>
        </p:nvSpPr>
        <p:spPr>
          <a:xfrm>
            <a:off x="51663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8" name="Text 16"/>
          <p:cNvSpPr txBox="1"/>
          <p:nvPr/>
        </p:nvSpPr>
        <p:spPr>
          <a:xfrm>
            <a:off x="658368"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9" name="Text 17"/>
          <p:cNvSpPr txBox="1"/>
          <p:nvPr/>
        </p:nvSpPr>
        <p:spPr>
          <a:xfrm>
            <a:off x="1014984"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0" name="Shape 18"/>
          <p:cNvSpPr/>
          <p:nvPr/>
        </p:nvSpPr>
        <p:spPr>
          <a:xfrm>
            <a:off x="2871216" y="2005199"/>
            <a:ext cx="421856" cy="136676"/>
          </a:xfrm>
          <a:prstGeom prst="rect">
            <a:avLst/>
          </a:prstGeom>
          <a:solidFill>
            <a:srgbClr val="2587C5"/>
          </a:solidFill>
          <a:ln/>
        </p:spPr>
      </p:sp>
      <p:sp>
        <p:nvSpPr>
          <p:cNvPr id="21" name="Text 19"/>
          <p:cNvSpPr txBox="1"/>
          <p:nvPr/>
        </p:nvSpPr>
        <p:spPr>
          <a:xfrm>
            <a:off x="3502152"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$1.10M</a:t>
            </a:r>
            <a:endParaRPr lang="en-US" sz="1300" dirty="0"/>
          </a:p>
        </p:txBody>
      </p:sp>
      <p:sp>
        <p:nvSpPr>
          <p:cNvPr id="22" name="Text 20"/>
          <p:cNvSpPr txBox="1"/>
          <p:nvPr/>
        </p:nvSpPr>
        <p:spPr>
          <a:xfrm>
            <a:off x="4416552"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23" name="Text 21"/>
          <p:cNvSpPr txBox="1"/>
          <p:nvPr/>
        </p:nvSpPr>
        <p:spPr>
          <a:xfrm>
            <a:off x="51663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24" name="Text 22"/>
          <p:cNvSpPr txBox="1"/>
          <p:nvPr/>
        </p:nvSpPr>
        <p:spPr>
          <a:xfrm>
            <a:off x="658368"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5" name="Text 23"/>
          <p:cNvSpPr txBox="1"/>
          <p:nvPr/>
        </p:nvSpPr>
        <p:spPr>
          <a:xfrm>
            <a:off x="1014984"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26" name="Shape 24"/>
          <p:cNvSpPr/>
          <p:nvPr/>
        </p:nvSpPr>
        <p:spPr>
          <a:xfrm>
            <a:off x="2871216" y="2253700"/>
            <a:ext cx="367749" cy="136676"/>
          </a:xfrm>
          <a:prstGeom prst="rect">
            <a:avLst/>
          </a:prstGeom>
          <a:solidFill>
            <a:srgbClr val="2587C5"/>
          </a:solidFill>
          <a:ln/>
        </p:spPr>
      </p:sp>
      <p:sp>
        <p:nvSpPr>
          <p:cNvPr id="27" name="Text 25"/>
          <p:cNvSpPr txBox="1"/>
          <p:nvPr/>
        </p:nvSpPr>
        <p:spPr>
          <a:xfrm>
            <a:off x="3502152"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$962K</a:t>
            </a:r>
            <a:endParaRPr lang="en-US" sz="1300" dirty="0"/>
          </a:p>
        </p:txBody>
      </p:sp>
      <p:sp>
        <p:nvSpPr>
          <p:cNvPr id="28" name="Text 26"/>
          <p:cNvSpPr txBox="1"/>
          <p:nvPr/>
        </p:nvSpPr>
        <p:spPr>
          <a:xfrm>
            <a:off x="4416552"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$16.1K</a:t>
            </a:r>
            <a:endParaRPr lang="en-US" sz="1300" dirty="0"/>
          </a:p>
        </p:txBody>
      </p:sp>
      <p:sp>
        <p:nvSpPr>
          <p:cNvPr id="29" name="Text 27"/>
          <p:cNvSpPr txBox="1"/>
          <p:nvPr/>
        </p:nvSpPr>
        <p:spPr>
          <a:xfrm>
            <a:off x="51663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30" name="Text 28"/>
          <p:cNvSpPr txBox="1"/>
          <p:nvPr/>
        </p:nvSpPr>
        <p:spPr>
          <a:xfrm>
            <a:off x="658368"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2" name="Shape 30"/>
          <p:cNvSpPr/>
          <p:nvPr/>
        </p:nvSpPr>
        <p:spPr>
          <a:xfrm>
            <a:off x="2871216" y="2502202"/>
            <a:ext cx="314644" cy="136676"/>
          </a:xfrm>
          <a:prstGeom prst="rect">
            <a:avLst/>
          </a:prstGeom>
          <a:solidFill>
            <a:srgbClr val="2587C5"/>
          </a:solidFill>
          <a:ln/>
        </p:spPr>
      </p:sp>
      <p:sp>
        <p:nvSpPr>
          <p:cNvPr id="33" name="Text 31"/>
          <p:cNvSpPr txBox="1"/>
          <p:nvPr/>
        </p:nvSpPr>
        <p:spPr>
          <a:xfrm>
            <a:off x="3502152"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$823K</a:t>
            </a:r>
            <a:endParaRPr lang="en-US" sz="1300" dirty="0"/>
          </a:p>
        </p:txBody>
      </p:sp>
      <p:sp>
        <p:nvSpPr>
          <p:cNvPr id="34" name="Text 32"/>
          <p:cNvSpPr txBox="1"/>
          <p:nvPr/>
        </p:nvSpPr>
        <p:spPr>
          <a:xfrm>
            <a:off x="4416552"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$23.5K</a:t>
            </a:r>
            <a:endParaRPr lang="en-US" sz="1300" dirty="0"/>
          </a:p>
        </p:txBody>
      </p:sp>
      <p:sp>
        <p:nvSpPr>
          <p:cNvPr id="35" name="Text 33"/>
          <p:cNvSpPr txBox="1"/>
          <p:nvPr/>
        </p:nvSpPr>
        <p:spPr>
          <a:xfrm>
            <a:off x="51663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$24.6K</a:t>
            </a:r>
            <a:endParaRPr lang="en-US" sz="1300" dirty="0"/>
          </a:p>
        </p:txBody>
      </p:sp>
      <p:sp>
        <p:nvSpPr>
          <p:cNvPr id="36" name="Text 34"/>
          <p:cNvSpPr txBox="1"/>
          <p:nvPr/>
        </p:nvSpPr>
        <p:spPr>
          <a:xfrm>
            <a:off x="658368"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8" name="Shape 36"/>
          <p:cNvSpPr/>
          <p:nvPr/>
        </p:nvSpPr>
        <p:spPr>
          <a:xfrm>
            <a:off x="2871216" y="2750703"/>
            <a:ext cx="257024" cy="136676"/>
          </a:xfrm>
          <a:prstGeom prst="rect">
            <a:avLst/>
          </a:prstGeom>
          <a:solidFill>
            <a:srgbClr val="2587C5"/>
          </a:solidFill>
          <a:ln/>
        </p:spPr>
      </p:sp>
      <p:sp>
        <p:nvSpPr>
          <p:cNvPr id="39" name="Text 37"/>
          <p:cNvSpPr txBox="1"/>
          <p:nvPr/>
        </p:nvSpPr>
        <p:spPr>
          <a:xfrm>
            <a:off x="3502152"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$672K</a:t>
            </a:r>
            <a:endParaRPr lang="en-US" sz="1300" dirty="0"/>
          </a:p>
        </p:txBody>
      </p:sp>
      <p:sp>
        <p:nvSpPr>
          <p:cNvPr id="40" name="Text 38"/>
          <p:cNvSpPr txBox="1"/>
          <p:nvPr/>
        </p:nvSpPr>
        <p:spPr>
          <a:xfrm>
            <a:off x="4416552"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41" name="Text 39"/>
          <p:cNvSpPr txBox="1"/>
          <p:nvPr/>
        </p:nvSpPr>
        <p:spPr>
          <a:xfrm>
            <a:off x="51663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42" name="Text 40"/>
          <p:cNvSpPr txBox="1"/>
          <p:nvPr/>
        </p:nvSpPr>
        <p:spPr>
          <a:xfrm>
            <a:off x="658368"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3" name="Text 41"/>
          <p:cNvSpPr txBox="1"/>
          <p:nvPr/>
        </p:nvSpPr>
        <p:spPr>
          <a:xfrm>
            <a:off x="1014984"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4" name="Shape 42"/>
          <p:cNvSpPr/>
          <p:nvPr/>
        </p:nvSpPr>
        <p:spPr>
          <a:xfrm>
            <a:off x="2871216" y="2999205"/>
            <a:ext cx="244698" cy="136676"/>
          </a:xfrm>
          <a:prstGeom prst="rect">
            <a:avLst/>
          </a:prstGeom>
          <a:solidFill>
            <a:srgbClr val="2587C5"/>
          </a:solidFill>
          <a:ln/>
        </p:spPr>
      </p:sp>
      <p:sp>
        <p:nvSpPr>
          <p:cNvPr id="45" name="Text 43"/>
          <p:cNvSpPr txBox="1"/>
          <p:nvPr/>
        </p:nvSpPr>
        <p:spPr>
          <a:xfrm>
            <a:off x="3502152"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$640K</a:t>
            </a:r>
            <a:endParaRPr lang="en-US" sz="1300" dirty="0"/>
          </a:p>
        </p:txBody>
      </p:sp>
      <p:sp>
        <p:nvSpPr>
          <p:cNvPr id="46" name="Text 44"/>
          <p:cNvSpPr txBox="1"/>
          <p:nvPr/>
        </p:nvSpPr>
        <p:spPr>
          <a:xfrm>
            <a:off x="4416552"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$14.3K</a:t>
            </a:r>
            <a:endParaRPr lang="en-US" sz="1300" dirty="0"/>
          </a:p>
        </p:txBody>
      </p:sp>
      <p:sp>
        <p:nvSpPr>
          <p:cNvPr id="47" name="Text 45"/>
          <p:cNvSpPr txBox="1"/>
          <p:nvPr/>
        </p:nvSpPr>
        <p:spPr>
          <a:xfrm>
            <a:off x="51663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$15.0K</a:t>
            </a:r>
            <a:endParaRPr lang="en-US" sz="1300" dirty="0"/>
          </a:p>
        </p:txBody>
      </p:sp>
      <p:sp>
        <p:nvSpPr>
          <p:cNvPr id="48" name="Text 46"/>
          <p:cNvSpPr txBox="1"/>
          <p:nvPr/>
        </p:nvSpPr>
        <p:spPr>
          <a:xfrm>
            <a:off x="658368"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9" name="Text 47"/>
          <p:cNvSpPr txBox="1"/>
          <p:nvPr/>
        </p:nvSpPr>
        <p:spPr>
          <a:xfrm>
            <a:off x="1014984"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0" name="Shape 48"/>
          <p:cNvSpPr/>
          <p:nvPr/>
        </p:nvSpPr>
        <p:spPr>
          <a:xfrm>
            <a:off x="2871216" y="3247707"/>
            <a:ext cx="219695" cy="136676"/>
          </a:xfrm>
          <a:prstGeom prst="rect">
            <a:avLst/>
          </a:prstGeom>
          <a:solidFill>
            <a:srgbClr val="2587C5"/>
          </a:solidFill>
          <a:ln/>
        </p:spPr>
      </p:sp>
      <p:sp>
        <p:nvSpPr>
          <p:cNvPr id="51" name="Text 49"/>
          <p:cNvSpPr txBox="1"/>
          <p:nvPr/>
        </p:nvSpPr>
        <p:spPr>
          <a:xfrm>
            <a:off x="3502152"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$574K</a:t>
            </a:r>
            <a:endParaRPr lang="en-US" sz="1300" dirty="0"/>
          </a:p>
        </p:txBody>
      </p:sp>
      <p:sp>
        <p:nvSpPr>
          <p:cNvPr id="52" name="Text 50"/>
          <p:cNvSpPr txBox="1"/>
          <p:nvPr/>
        </p:nvSpPr>
        <p:spPr>
          <a:xfrm>
            <a:off x="4416552"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$14.6K</a:t>
            </a:r>
            <a:endParaRPr lang="en-US" sz="1300" dirty="0"/>
          </a:p>
        </p:txBody>
      </p:sp>
      <p:sp>
        <p:nvSpPr>
          <p:cNvPr id="53" name="Text 51"/>
          <p:cNvSpPr txBox="1"/>
          <p:nvPr/>
        </p:nvSpPr>
        <p:spPr>
          <a:xfrm>
            <a:off x="51663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$15.3K</a:t>
            </a:r>
            <a:endParaRPr lang="en-US" sz="1300" dirty="0"/>
          </a:p>
        </p:txBody>
      </p:sp>
      <p:sp>
        <p:nvSpPr>
          <p:cNvPr id="54" name="Text 52"/>
          <p:cNvSpPr txBox="1"/>
          <p:nvPr/>
        </p:nvSpPr>
        <p:spPr>
          <a:xfrm>
            <a:off x="658368"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5" name="Text 53"/>
          <p:cNvSpPr txBox="1"/>
          <p:nvPr/>
        </p:nvSpPr>
        <p:spPr>
          <a:xfrm>
            <a:off x="1014984"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6" name="Shape 54"/>
          <p:cNvSpPr/>
          <p:nvPr/>
        </p:nvSpPr>
        <p:spPr>
          <a:xfrm>
            <a:off x="2871216" y="3496208"/>
            <a:ext cx="168437" cy="136676"/>
          </a:xfrm>
          <a:prstGeom prst="rect">
            <a:avLst/>
          </a:prstGeom>
          <a:solidFill>
            <a:srgbClr val="2587C5"/>
          </a:solidFill>
          <a:ln/>
        </p:spPr>
      </p:sp>
      <p:sp>
        <p:nvSpPr>
          <p:cNvPr id="57" name="Text 55"/>
          <p:cNvSpPr txBox="1"/>
          <p:nvPr/>
        </p:nvSpPr>
        <p:spPr>
          <a:xfrm>
            <a:off x="3502152"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$440K</a:t>
            </a:r>
            <a:endParaRPr lang="en-US" sz="1300" dirty="0"/>
          </a:p>
        </p:txBody>
      </p:sp>
      <p:sp>
        <p:nvSpPr>
          <p:cNvPr id="58" name="Text 56"/>
          <p:cNvSpPr txBox="1"/>
          <p:nvPr/>
        </p:nvSpPr>
        <p:spPr>
          <a:xfrm>
            <a:off x="4416552"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$18.1K</a:t>
            </a:r>
            <a:endParaRPr lang="en-US" sz="1300" dirty="0"/>
          </a:p>
        </p:txBody>
      </p:sp>
      <p:sp>
        <p:nvSpPr>
          <p:cNvPr id="59" name="Text 57"/>
          <p:cNvSpPr txBox="1"/>
          <p:nvPr/>
        </p:nvSpPr>
        <p:spPr>
          <a:xfrm>
            <a:off x="51663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$19.1K</a:t>
            </a:r>
            <a:endParaRPr lang="en-US" sz="1300" dirty="0"/>
          </a:p>
        </p:txBody>
      </p:sp>
      <p:sp>
        <p:nvSpPr>
          <p:cNvPr id="60" name="Text 58"/>
          <p:cNvSpPr txBox="1"/>
          <p:nvPr/>
        </p:nvSpPr>
        <p:spPr>
          <a:xfrm>
            <a:off x="658368"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1" name="Text 59"/>
          <p:cNvSpPr txBox="1"/>
          <p:nvPr/>
        </p:nvSpPr>
        <p:spPr>
          <a:xfrm>
            <a:off x="1014984"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2" name="Shape 60"/>
          <p:cNvSpPr/>
          <p:nvPr/>
        </p:nvSpPr>
        <p:spPr>
          <a:xfrm>
            <a:off x="2871216" y="3744710"/>
            <a:ext cx="156885" cy="136676"/>
          </a:xfrm>
          <a:prstGeom prst="rect">
            <a:avLst/>
          </a:prstGeom>
          <a:solidFill>
            <a:srgbClr val="2587C5"/>
          </a:solidFill>
          <a:ln/>
        </p:spPr>
      </p:sp>
      <p:sp>
        <p:nvSpPr>
          <p:cNvPr id="63" name="Text 61"/>
          <p:cNvSpPr txBox="1"/>
          <p:nvPr/>
        </p:nvSpPr>
        <p:spPr>
          <a:xfrm>
            <a:off x="3502152"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$410K</a:t>
            </a:r>
            <a:endParaRPr lang="en-US" sz="1300" dirty="0"/>
          </a:p>
        </p:txBody>
      </p:sp>
      <p:sp>
        <p:nvSpPr>
          <p:cNvPr id="64" name="Text 62"/>
          <p:cNvSpPr txBox="1"/>
          <p:nvPr/>
        </p:nvSpPr>
        <p:spPr>
          <a:xfrm>
            <a:off x="4416552"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$13.3K</a:t>
            </a:r>
            <a:endParaRPr lang="en-US" sz="1300" dirty="0"/>
          </a:p>
        </p:txBody>
      </p:sp>
      <p:sp>
        <p:nvSpPr>
          <p:cNvPr id="65" name="Text 63"/>
          <p:cNvSpPr txBox="1"/>
          <p:nvPr/>
        </p:nvSpPr>
        <p:spPr>
          <a:xfrm>
            <a:off x="51663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$14.0K</a:t>
            </a:r>
            <a:endParaRPr lang="en-US" sz="1300" dirty="0"/>
          </a:p>
        </p:txBody>
      </p:sp>
      <p:sp>
        <p:nvSpPr>
          <p:cNvPr id="66" name="Text 64"/>
          <p:cNvSpPr txBox="1"/>
          <p:nvPr/>
        </p:nvSpPr>
        <p:spPr>
          <a:xfrm>
            <a:off x="658368"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7" name="Text 65"/>
          <p:cNvSpPr txBox="1"/>
          <p:nvPr/>
        </p:nvSpPr>
        <p:spPr>
          <a:xfrm>
            <a:off x="1014984"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8" name="Shape 66"/>
          <p:cNvSpPr/>
          <p:nvPr/>
        </p:nvSpPr>
        <p:spPr>
          <a:xfrm>
            <a:off x="2871216" y="3993212"/>
            <a:ext cx="151234" cy="136676"/>
          </a:xfrm>
          <a:prstGeom prst="rect">
            <a:avLst/>
          </a:prstGeom>
          <a:solidFill>
            <a:srgbClr val="2587C5"/>
          </a:solidFill>
          <a:ln/>
        </p:spPr>
      </p:sp>
      <p:sp>
        <p:nvSpPr>
          <p:cNvPr id="69" name="Text 67"/>
          <p:cNvSpPr txBox="1"/>
          <p:nvPr/>
        </p:nvSpPr>
        <p:spPr>
          <a:xfrm>
            <a:off x="3502152"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$395K</a:t>
            </a:r>
            <a:endParaRPr lang="en-US" sz="1300" dirty="0"/>
          </a:p>
        </p:txBody>
      </p:sp>
      <p:sp>
        <p:nvSpPr>
          <p:cNvPr id="70" name="Text 68"/>
          <p:cNvSpPr txBox="1"/>
          <p:nvPr/>
        </p:nvSpPr>
        <p:spPr>
          <a:xfrm>
            <a:off x="4416552"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$11.1K</a:t>
            </a:r>
            <a:endParaRPr lang="en-US" sz="1300" dirty="0"/>
          </a:p>
        </p:txBody>
      </p:sp>
      <p:sp>
        <p:nvSpPr>
          <p:cNvPr id="71" name="Text 69"/>
          <p:cNvSpPr txBox="1"/>
          <p:nvPr/>
        </p:nvSpPr>
        <p:spPr>
          <a:xfrm>
            <a:off x="51663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$11.7K</a:t>
            </a:r>
            <a:endParaRPr lang="en-US" sz="1300" dirty="0"/>
          </a:p>
        </p:txBody>
      </p:sp>
      <p:sp>
        <p:nvSpPr>
          <p:cNvPr id="72" name="Text 70"/>
          <p:cNvSpPr txBox="1"/>
          <p:nvPr/>
        </p:nvSpPr>
        <p:spPr>
          <a:xfrm>
            <a:off x="658368"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3" name="Text 71"/>
          <p:cNvSpPr txBox="1"/>
          <p:nvPr/>
        </p:nvSpPr>
        <p:spPr>
          <a:xfrm>
            <a:off x="1014984"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4" name="Shape 72"/>
          <p:cNvSpPr/>
          <p:nvPr/>
        </p:nvSpPr>
        <p:spPr>
          <a:xfrm>
            <a:off x="2871216" y="4241713"/>
            <a:ext cx="129534" cy="136676"/>
          </a:xfrm>
          <a:prstGeom prst="rect">
            <a:avLst/>
          </a:prstGeom>
          <a:solidFill>
            <a:srgbClr val="2587C5"/>
          </a:solidFill>
          <a:ln/>
        </p:spPr>
      </p:sp>
      <p:sp>
        <p:nvSpPr>
          <p:cNvPr id="75" name="Text 73"/>
          <p:cNvSpPr txBox="1"/>
          <p:nvPr/>
        </p:nvSpPr>
        <p:spPr>
          <a:xfrm>
            <a:off x="3502152"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$339K</a:t>
            </a:r>
            <a:endParaRPr lang="en-US" sz="1300" dirty="0"/>
          </a:p>
        </p:txBody>
      </p:sp>
      <p:sp>
        <p:nvSpPr>
          <p:cNvPr id="76" name="Text 74"/>
          <p:cNvSpPr txBox="1"/>
          <p:nvPr/>
        </p:nvSpPr>
        <p:spPr>
          <a:xfrm>
            <a:off x="4416552"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77" name="Text 75"/>
          <p:cNvSpPr txBox="1"/>
          <p:nvPr/>
        </p:nvSpPr>
        <p:spPr>
          <a:xfrm>
            <a:off x="51663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78" name="Text 76"/>
          <p:cNvSpPr txBox="1"/>
          <p:nvPr/>
        </p:nvSpPr>
        <p:spPr>
          <a:xfrm>
            <a:off x="658368"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1014984"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0" name="Shape 78"/>
          <p:cNvSpPr/>
          <p:nvPr/>
        </p:nvSpPr>
        <p:spPr>
          <a:xfrm>
            <a:off x="2871216" y="4490215"/>
            <a:ext cx="122140" cy="136676"/>
          </a:xfrm>
          <a:prstGeom prst="rect">
            <a:avLst/>
          </a:prstGeom>
          <a:solidFill>
            <a:srgbClr val="2587C5"/>
          </a:solidFill>
          <a:ln/>
        </p:spPr>
      </p:sp>
      <p:sp>
        <p:nvSpPr>
          <p:cNvPr id="81" name="Text 79"/>
          <p:cNvSpPr txBox="1"/>
          <p:nvPr/>
        </p:nvSpPr>
        <p:spPr>
          <a:xfrm>
            <a:off x="3502152"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2" name="Text 80"/>
          <p:cNvSpPr txBox="1"/>
          <p:nvPr/>
        </p:nvSpPr>
        <p:spPr>
          <a:xfrm>
            <a:off x="4416552"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3" name="Text 81"/>
          <p:cNvSpPr txBox="1"/>
          <p:nvPr/>
        </p:nvSpPr>
        <p:spPr>
          <a:xfrm>
            <a:off x="51663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84" name="Text 82"/>
          <p:cNvSpPr txBox="1"/>
          <p:nvPr/>
        </p:nvSpPr>
        <p:spPr>
          <a:xfrm>
            <a:off x="658368"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5" name="Text 83"/>
          <p:cNvSpPr txBox="1"/>
          <p:nvPr/>
        </p:nvSpPr>
        <p:spPr>
          <a:xfrm>
            <a:off x="1014984"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6" name="Shape 84"/>
          <p:cNvSpPr/>
          <p:nvPr/>
        </p:nvSpPr>
        <p:spPr>
          <a:xfrm>
            <a:off x="2871216" y="4738717"/>
            <a:ext cx="121953" cy="136676"/>
          </a:xfrm>
          <a:prstGeom prst="rect">
            <a:avLst/>
          </a:prstGeom>
          <a:solidFill>
            <a:srgbClr val="2587C5"/>
          </a:solidFill>
          <a:ln/>
        </p:spPr>
      </p:sp>
      <p:sp>
        <p:nvSpPr>
          <p:cNvPr id="87" name="Text 85"/>
          <p:cNvSpPr txBox="1"/>
          <p:nvPr/>
        </p:nvSpPr>
        <p:spPr>
          <a:xfrm>
            <a:off x="3502152"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$319K</a:t>
            </a:r>
            <a:endParaRPr lang="en-US" sz="1300" dirty="0"/>
          </a:p>
        </p:txBody>
      </p:sp>
      <p:sp>
        <p:nvSpPr>
          <p:cNvPr id="88" name="Text 86"/>
          <p:cNvSpPr txBox="1"/>
          <p:nvPr/>
        </p:nvSpPr>
        <p:spPr>
          <a:xfrm>
            <a:off x="4416552"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$12.0K</a:t>
            </a:r>
            <a:endParaRPr lang="en-US" sz="1300" dirty="0"/>
          </a:p>
        </p:txBody>
      </p:sp>
      <p:sp>
        <p:nvSpPr>
          <p:cNvPr id="89" name="Text 87"/>
          <p:cNvSpPr txBox="1"/>
          <p:nvPr/>
        </p:nvSpPr>
        <p:spPr>
          <a:xfrm>
            <a:off x="51663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$12.6K</a:t>
            </a:r>
            <a:endParaRPr lang="en-US" sz="1300" dirty="0"/>
          </a:p>
        </p:txBody>
      </p:sp>
      <p:sp>
        <p:nvSpPr>
          <p:cNvPr id="90" name="Text 88"/>
          <p:cNvSpPr txBox="1"/>
          <p:nvPr/>
        </p:nvSpPr>
        <p:spPr>
          <a:xfrm>
            <a:off x="658368"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1014984"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2871216" y="4987218"/>
            <a:ext cx="115516" cy="136676"/>
          </a:xfrm>
          <a:prstGeom prst="rect">
            <a:avLst/>
          </a:prstGeom>
          <a:solidFill>
            <a:srgbClr val="2587C5"/>
          </a:solidFill>
          <a:ln/>
        </p:spPr>
      </p:sp>
      <p:sp>
        <p:nvSpPr>
          <p:cNvPr id="93" name="Text 91"/>
          <p:cNvSpPr txBox="1"/>
          <p:nvPr/>
        </p:nvSpPr>
        <p:spPr>
          <a:xfrm>
            <a:off x="3502152"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$302K</a:t>
            </a:r>
            <a:endParaRPr lang="en-US" sz="1300" dirty="0"/>
          </a:p>
        </p:txBody>
      </p:sp>
      <p:sp>
        <p:nvSpPr>
          <p:cNvPr id="94" name="Text 92"/>
          <p:cNvSpPr txBox="1"/>
          <p:nvPr/>
        </p:nvSpPr>
        <p:spPr>
          <a:xfrm>
            <a:off x="4416552"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95" name="Text 93"/>
          <p:cNvSpPr txBox="1"/>
          <p:nvPr/>
        </p:nvSpPr>
        <p:spPr>
          <a:xfrm>
            <a:off x="51663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$10.9K</a:t>
            </a:r>
            <a:endParaRPr lang="en-US" sz="1300" dirty="0"/>
          </a:p>
        </p:txBody>
      </p:sp>
      <p:sp>
        <p:nvSpPr>
          <p:cNvPr id="96" name="Text 94"/>
          <p:cNvSpPr txBox="1"/>
          <p:nvPr/>
        </p:nvSpPr>
        <p:spPr>
          <a:xfrm>
            <a:off x="658368"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7" name="Text 95"/>
          <p:cNvSpPr txBox="1"/>
          <p:nvPr/>
        </p:nvSpPr>
        <p:spPr>
          <a:xfrm>
            <a:off x="1014984"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8" name="Shape 96"/>
          <p:cNvSpPr/>
          <p:nvPr/>
        </p:nvSpPr>
        <p:spPr>
          <a:xfrm>
            <a:off x="2871216" y="5235720"/>
            <a:ext cx="113938" cy="136676"/>
          </a:xfrm>
          <a:prstGeom prst="rect">
            <a:avLst/>
          </a:prstGeom>
          <a:solidFill>
            <a:srgbClr val="2587C5"/>
          </a:solidFill>
          <a:ln/>
        </p:spPr>
      </p:sp>
      <p:sp>
        <p:nvSpPr>
          <p:cNvPr id="99" name="Text 97"/>
          <p:cNvSpPr txBox="1"/>
          <p:nvPr/>
        </p:nvSpPr>
        <p:spPr>
          <a:xfrm>
            <a:off x="3502152"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$298K</a:t>
            </a:r>
            <a:endParaRPr lang="en-US" sz="1300" dirty="0"/>
          </a:p>
        </p:txBody>
      </p:sp>
      <p:sp>
        <p:nvSpPr>
          <p:cNvPr id="100" name="Text 98"/>
          <p:cNvSpPr txBox="1"/>
          <p:nvPr/>
        </p:nvSpPr>
        <p:spPr>
          <a:xfrm>
            <a:off x="4416552"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$10.8K</a:t>
            </a:r>
            <a:endParaRPr lang="en-US" sz="1300" dirty="0"/>
          </a:p>
        </p:txBody>
      </p:sp>
      <p:sp>
        <p:nvSpPr>
          <p:cNvPr id="101" name="Text 99"/>
          <p:cNvSpPr txBox="1"/>
          <p:nvPr/>
        </p:nvSpPr>
        <p:spPr>
          <a:xfrm>
            <a:off x="51663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$11.3K</a:t>
            </a:r>
            <a:endParaRPr lang="en-US" sz="1300" dirty="0"/>
          </a:p>
        </p:txBody>
      </p:sp>
      <p:sp>
        <p:nvSpPr>
          <p:cNvPr id="102" name="Text 100"/>
          <p:cNvSpPr txBox="1"/>
          <p:nvPr/>
        </p:nvSpPr>
        <p:spPr>
          <a:xfrm>
            <a:off x="658368"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3" name="Text 101"/>
          <p:cNvSpPr txBox="1"/>
          <p:nvPr/>
        </p:nvSpPr>
        <p:spPr>
          <a:xfrm>
            <a:off x="1014984"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04" name="Shape 102"/>
          <p:cNvSpPr/>
          <p:nvPr/>
        </p:nvSpPr>
        <p:spPr>
          <a:xfrm>
            <a:off x="2871216" y="5484222"/>
            <a:ext cx="113714" cy="136676"/>
          </a:xfrm>
          <a:prstGeom prst="rect">
            <a:avLst/>
          </a:prstGeom>
          <a:solidFill>
            <a:srgbClr val="2587C5"/>
          </a:solidFill>
          <a:ln/>
        </p:spPr>
      </p:sp>
      <p:sp>
        <p:nvSpPr>
          <p:cNvPr id="105" name="Text 103"/>
          <p:cNvSpPr txBox="1"/>
          <p:nvPr/>
        </p:nvSpPr>
        <p:spPr>
          <a:xfrm>
            <a:off x="3502152"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$297K</a:t>
            </a:r>
            <a:endParaRPr lang="en-US" sz="1300" dirty="0"/>
          </a:p>
        </p:txBody>
      </p:sp>
      <p:sp>
        <p:nvSpPr>
          <p:cNvPr id="106" name="Text 104"/>
          <p:cNvSpPr txBox="1"/>
          <p:nvPr/>
        </p:nvSpPr>
        <p:spPr>
          <a:xfrm>
            <a:off x="4416552"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$14.9K</a:t>
            </a:r>
            <a:endParaRPr lang="en-US" sz="1300" dirty="0"/>
          </a:p>
        </p:txBody>
      </p:sp>
      <p:sp>
        <p:nvSpPr>
          <p:cNvPr id="107" name="Text 105"/>
          <p:cNvSpPr txBox="1"/>
          <p:nvPr/>
        </p:nvSpPr>
        <p:spPr>
          <a:xfrm>
            <a:off x="51663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$15.7K</a:t>
            </a:r>
            <a:endParaRPr lang="en-US" sz="1300" dirty="0"/>
          </a:p>
        </p:txBody>
      </p:sp>
      <p:sp>
        <p:nvSpPr>
          <p:cNvPr id="108" name="Text 106"/>
          <p:cNvSpPr txBox="1"/>
          <p:nvPr/>
        </p:nvSpPr>
        <p:spPr>
          <a:xfrm>
            <a:off x="658368" y="567681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9" name="Text 107"/>
          <p:cNvSpPr txBox="1"/>
          <p:nvPr/>
        </p:nvSpPr>
        <p:spPr>
          <a:xfrm>
            <a:off x="1014984" y="567681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0" name="Shape 108"/>
          <p:cNvSpPr/>
          <p:nvPr/>
        </p:nvSpPr>
        <p:spPr>
          <a:xfrm>
            <a:off x="2871216" y="5732723"/>
            <a:ext cx="106654" cy="136676"/>
          </a:xfrm>
          <a:prstGeom prst="rect">
            <a:avLst/>
          </a:prstGeom>
          <a:solidFill>
            <a:srgbClr val="2587C5"/>
          </a:solidFill>
          <a:ln/>
        </p:spPr>
      </p:sp>
      <p:sp>
        <p:nvSpPr>
          <p:cNvPr id="111" name="Text 109"/>
          <p:cNvSpPr txBox="1"/>
          <p:nvPr/>
        </p:nvSpPr>
        <p:spPr>
          <a:xfrm>
            <a:off x="3502152" y="567681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$279K</a:t>
            </a:r>
            <a:endParaRPr lang="en-US" sz="1300" dirty="0"/>
          </a:p>
        </p:txBody>
      </p:sp>
      <p:sp>
        <p:nvSpPr>
          <p:cNvPr id="112" name="Text 110"/>
          <p:cNvSpPr txBox="1"/>
          <p:nvPr/>
        </p:nvSpPr>
        <p:spPr>
          <a:xfrm>
            <a:off x="4416552"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$12.9K</a:t>
            </a:r>
            <a:endParaRPr lang="en-US" sz="1300" dirty="0"/>
          </a:p>
        </p:txBody>
      </p:sp>
      <p:sp>
        <p:nvSpPr>
          <p:cNvPr id="113" name="Text 111"/>
          <p:cNvSpPr txBox="1"/>
          <p:nvPr/>
        </p:nvSpPr>
        <p:spPr>
          <a:xfrm>
            <a:off x="5166360" y="567681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$13.5K</a:t>
            </a:r>
            <a:endParaRPr lang="en-US" sz="1300" dirty="0"/>
          </a:p>
        </p:txBody>
      </p:sp>
      <p:sp>
        <p:nvSpPr>
          <p:cNvPr id="114" name="Text 112"/>
          <p:cNvSpPr txBox="1"/>
          <p:nvPr/>
        </p:nvSpPr>
        <p:spPr>
          <a:xfrm>
            <a:off x="6208776" y="170078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5" name="Text 113"/>
          <p:cNvSpPr txBox="1"/>
          <p:nvPr/>
        </p:nvSpPr>
        <p:spPr>
          <a:xfrm>
            <a:off x="6565392" y="170078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16" name="Shape 114"/>
          <p:cNvSpPr/>
          <p:nvPr/>
        </p:nvSpPr>
        <p:spPr>
          <a:xfrm>
            <a:off x="8421624" y="1756697"/>
            <a:ext cx="105692" cy="136676"/>
          </a:xfrm>
          <a:prstGeom prst="rect">
            <a:avLst/>
          </a:prstGeom>
          <a:solidFill>
            <a:srgbClr val="2587C5"/>
          </a:solidFill>
          <a:ln/>
        </p:spPr>
      </p:sp>
      <p:sp>
        <p:nvSpPr>
          <p:cNvPr id="117" name="Text 115"/>
          <p:cNvSpPr txBox="1"/>
          <p:nvPr/>
        </p:nvSpPr>
        <p:spPr>
          <a:xfrm>
            <a:off x="9052560" y="170078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$276K</a:t>
            </a:r>
            <a:endParaRPr lang="en-US" sz="1300" dirty="0"/>
          </a:p>
        </p:txBody>
      </p:sp>
      <p:sp>
        <p:nvSpPr>
          <p:cNvPr id="118" name="Text 116"/>
          <p:cNvSpPr txBox="1"/>
          <p:nvPr/>
        </p:nvSpPr>
        <p:spPr>
          <a:xfrm>
            <a:off x="9966960"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$16.9K</a:t>
            </a:r>
            <a:endParaRPr lang="en-US" sz="1300" dirty="0"/>
          </a:p>
        </p:txBody>
      </p:sp>
      <p:sp>
        <p:nvSpPr>
          <p:cNvPr id="119" name="Text 117"/>
          <p:cNvSpPr txBox="1"/>
          <p:nvPr/>
        </p:nvSpPr>
        <p:spPr>
          <a:xfrm>
            <a:off x="10716768" y="170078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$17.8K</a:t>
            </a:r>
            <a:endParaRPr lang="en-US" sz="1300" dirty="0"/>
          </a:p>
        </p:txBody>
      </p:sp>
      <p:sp>
        <p:nvSpPr>
          <p:cNvPr id="120" name="Text 118"/>
          <p:cNvSpPr txBox="1"/>
          <p:nvPr/>
        </p:nvSpPr>
        <p:spPr>
          <a:xfrm>
            <a:off x="6208776" y="194928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1" name="Text 119"/>
          <p:cNvSpPr txBox="1"/>
          <p:nvPr/>
        </p:nvSpPr>
        <p:spPr>
          <a:xfrm>
            <a:off x="6565392" y="194928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2" name="Shape 120"/>
          <p:cNvSpPr/>
          <p:nvPr/>
        </p:nvSpPr>
        <p:spPr>
          <a:xfrm>
            <a:off x="8421624" y="2005199"/>
            <a:ext cx="99790" cy="136676"/>
          </a:xfrm>
          <a:prstGeom prst="rect">
            <a:avLst/>
          </a:prstGeom>
          <a:solidFill>
            <a:srgbClr val="2587C5"/>
          </a:solidFill>
          <a:ln/>
        </p:spPr>
      </p:sp>
      <p:sp>
        <p:nvSpPr>
          <p:cNvPr id="123" name="Text 121"/>
          <p:cNvSpPr txBox="1"/>
          <p:nvPr/>
        </p:nvSpPr>
        <p:spPr>
          <a:xfrm>
            <a:off x="9052560" y="194928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$261K</a:t>
            </a:r>
            <a:endParaRPr lang="en-US" sz="1300" dirty="0"/>
          </a:p>
        </p:txBody>
      </p:sp>
      <p:sp>
        <p:nvSpPr>
          <p:cNvPr id="124" name="Text 122"/>
          <p:cNvSpPr txBox="1"/>
          <p:nvPr/>
        </p:nvSpPr>
        <p:spPr>
          <a:xfrm>
            <a:off x="9966960"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$18.5K</a:t>
            </a:r>
            <a:endParaRPr lang="en-US" sz="1300" dirty="0"/>
          </a:p>
        </p:txBody>
      </p:sp>
      <p:sp>
        <p:nvSpPr>
          <p:cNvPr id="125" name="Text 123"/>
          <p:cNvSpPr txBox="1"/>
          <p:nvPr/>
        </p:nvSpPr>
        <p:spPr>
          <a:xfrm>
            <a:off x="10716768" y="194928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$19.5K</a:t>
            </a:r>
            <a:endParaRPr lang="en-US" sz="1300" dirty="0"/>
          </a:p>
        </p:txBody>
      </p:sp>
      <p:sp>
        <p:nvSpPr>
          <p:cNvPr id="126" name="Text 124"/>
          <p:cNvSpPr txBox="1"/>
          <p:nvPr/>
        </p:nvSpPr>
        <p:spPr>
          <a:xfrm>
            <a:off x="6208776" y="219778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7" name="Text 125"/>
          <p:cNvSpPr txBox="1"/>
          <p:nvPr/>
        </p:nvSpPr>
        <p:spPr>
          <a:xfrm>
            <a:off x="6565392" y="219778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421624" y="2253700"/>
            <a:ext cx="90596" cy="136676"/>
          </a:xfrm>
          <a:prstGeom prst="rect">
            <a:avLst/>
          </a:prstGeom>
          <a:solidFill>
            <a:srgbClr val="2587C5"/>
          </a:solidFill>
          <a:ln/>
        </p:spPr>
      </p:sp>
      <p:sp>
        <p:nvSpPr>
          <p:cNvPr id="129" name="Text 127"/>
          <p:cNvSpPr txBox="1"/>
          <p:nvPr/>
        </p:nvSpPr>
        <p:spPr>
          <a:xfrm>
            <a:off x="9052560" y="219778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$237K</a:t>
            </a:r>
            <a:endParaRPr lang="en-US" sz="1300" dirty="0"/>
          </a:p>
        </p:txBody>
      </p:sp>
      <p:sp>
        <p:nvSpPr>
          <p:cNvPr id="130" name="Text 128"/>
          <p:cNvSpPr txBox="1"/>
          <p:nvPr/>
        </p:nvSpPr>
        <p:spPr>
          <a:xfrm>
            <a:off x="9966960"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31" name="Text 129"/>
          <p:cNvSpPr txBox="1"/>
          <p:nvPr/>
        </p:nvSpPr>
        <p:spPr>
          <a:xfrm>
            <a:off x="10716768" y="219778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$10.5K</a:t>
            </a:r>
            <a:endParaRPr lang="en-US" sz="1300" dirty="0"/>
          </a:p>
        </p:txBody>
      </p:sp>
      <p:sp>
        <p:nvSpPr>
          <p:cNvPr id="132" name="Text 130"/>
          <p:cNvSpPr txBox="1"/>
          <p:nvPr/>
        </p:nvSpPr>
        <p:spPr>
          <a:xfrm>
            <a:off x="6208776" y="244628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3" name="Text 131"/>
          <p:cNvSpPr txBox="1"/>
          <p:nvPr/>
        </p:nvSpPr>
        <p:spPr>
          <a:xfrm>
            <a:off x="6565392" y="244628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4" name="Shape 132"/>
          <p:cNvSpPr/>
          <p:nvPr/>
        </p:nvSpPr>
        <p:spPr>
          <a:xfrm>
            <a:off x="8421624" y="2502202"/>
            <a:ext cx="89638" cy="136676"/>
          </a:xfrm>
          <a:prstGeom prst="rect">
            <a:avLst/>
          </a:prstGeom>
          <a:solidFill>
            <a:srgbClr val="2587C5"/>
          </a:solidFill>
          <a:ln/>
        </p:spPr>
      </p:sp>
      <p:sp>
        <p:nvSpPr>
          <p:cNvPr id="135" name="Text 133"/>
          <p:cNvSpPr txBox="1"/>
          <p:nvPr/>
        </p:nvSpPr>
        <p:spPr>
          <a:xfrm>
            <a:off x="9052560" y="244628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$234K</a:t>
            </a:r>
            <a:endParaRPr lang="en-US" sz="1300" dirty="0"/>
          </a:p>
        </p:txBody>
      </p:sp>
      <p:sp>
        <p:nvSpPr>
          <p:cNvPr id="136" name="Text 134"/>
          <p:cNvSpPr txBox="1"/>
          <p:nvPr/>
        </p:nvSpPr>
        <p:spPr>
          <a:xfrm>
            <a:off x="9966960"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$15.6K</a:t>
            </a:r>
            <a:endParaRPr lang="en-US" sz="1300" dirty="0"/>
          </a:p>
        </p:txBody>
      </p:sp>
      <p:sp>
        <p:nvSpPr>
          <p:cNvPr id="137" name="Text 135"/>
          <p:cNvSpPr txBox="1"/>
          <p:nvPr/>
        </p:nvSpPr>
        <p:spPr>
          <a:xfrm>
            <a:off x="10716768" y="244628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$16.3K</a:t>
            </a:r>
            <a:endParaRPr lang="en-US" sz="1300" dirty="0"/>
          </a:p>
        </p:txBody>
      </p:sp>
      <p:sp>
        <p:nvSpPr>
          <p:cNvPr id="138" name="Text 136"/>
          <p:cNvSpPr txBox="1"/>
          <p:nvPr/>
        </p:nvSpPr>
        <p:spPr>
          <a:xfrm>
            <a:off x="6208776" y="2694791"/>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2694791"/>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40" name="Shape 138"/>
          <p:cNvSpPr/>
          <p:nvPr/>
        </p:nvSpPr>
        <p:spPr>
          <a:xfrm>
            <a:off x="8421624" y="2750703"/>
            <a:ext cx="87103" cy="136676"/>
          </a:xfrm>
          <a:prstGeom prst="rect">
            <a:avLst/>
          </a:prstGeom>
          <a:solidFill>
            <a:srgbClr val="2587C5"/>
          </a:solidFill>
          <a:ln/>
        </p:spPr>
      </p:sp>
      <p:sp>
        <p:nvSpPr>
          <p:cNvPr id="141" name="Text 139"/>
          <p:cNvSpPr txBox="1"/>
          <p:nvPr/>
        </p:nvSpPr>
        <p:spPr>
          <a:xfrm>
            <a:off x="9052560" y="2694791"/>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$228K</a:t>
            </a:r>
            <a:endParaRPr lang="en-US" sz="1300" dirty="0"/>
          </a:p>
        </p:txBody>
      </p:sp>
      <p:sp>
        <p:nvSpPr>
          <p:cNvPr id="142" name="Text 140"/>
          <p:cNvSpPr txBox="1"/>
          <p:nvPr/>
        </p:nvSpPr>
        <p:spPr>
          <a:xfrm>
            <a:off x="9966960"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$18.3K</a:t>
            </a:r>
            <a:endParaRPr lang="en-US" sz="1300" dirty="0"/>
          </a:p>
        </p:txBody>
      </p:sp>
      <p:sp>
        <p:nvSpPr>
          <p:cNvPr id="143" name="Text 141"/>
          <p:cNvSpPr txBox="1"/>
          <p:nvPr/>
        </p:nvSpPr>
        <p:spPr>
          <a:xfrm>
            <a:off x="10716768" y="2694791"/>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$19.2K</a:t>
            </a:r>
            <a:endParaRPr lang="en-US" sz="1300" dirty="0"/>
          </a:p>
        </p:txBody>
      </p:sp>
      <p:sp>
        <p:nvSpPr>
          <p:cNvPr id="144" name="Text 142"/>
          <p:cNvSpPr txBox="1"/>
          <p:nvPr/>
        </p:nvSpPr>
        <p:spPr>
          <a:xfrm>
            <a:off x="6208776" y="294329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5" name="Text 143"/>
          <p:cNvSpPr txBox="1"/>
          <p:nvPr/>
        </p:nvSpPr>
        <p:spPr>
          <a:xfrm>
            <a:off x="6565392" y="294329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6" name="Shape 144"/>
          <p:cNvSpPr/>
          <p:nvPr/>
        </p:nvSpPr>
        <p:spPr>
          <a:xfrm>
            <a:off x="8421624" y="2999205"/>
            <a:ext cx="84269" cy="136676"/>
          </a:xfrm>
          <a:prstGeom prst="rect">
            <a:avLst/>
          </a:prstGeom>
          <a:solidFill>
            <a:srgbClr val="2587C5"/>
          </a:solidFill>
          <a:ln/>
        </p:spPr>
      </p:sp>
      <p:sp>
        <p:nvSpPr>
          <p:cNvPr id="147" name="Text 145"/>
          <p:cNvSpPr txBox="1"/>
          <p:nvPr/>
        </p:nvSpPr>
        <p:spPr>
          <a:xfrm>
            <a:off x="9052560" y="294329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$220K</a:t>
            </a:r>
            <a:endParaRPr lang="en-US" sz="1300" dirty="0"/>
          </a:p>
        </p:txBody>
      </p:sp>
      <p:sp>
        <p:nvSpPr>
          <p:cNvPr id="148" name="Text 146"/>
          <p:cNvSpPr txBox="1"/>
          <p:nvPr/>
        </p:nvSpPr>
        <p:spPr>
          <a:xfrm>
            <a:off x="9966960"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49" name="Text 147"/>
          <p:cNvSpPr txBox="1"/>
          <p:nvPr/>
        </p:nvSpPr>
        <p:spPr>
          <a:xfrm>
            <a:off x="10716768" y="294329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$16.8K</a:t>
            </a:r>
            <a:endParaRPr lang="en-US" sz="1300" dirty="0"/>
          </a:p>
        </p:txBody>
      </p:sp>
      <p:sp>
        <p:nvSpPr>
          <p:cNvPr id="150" name="Text 148"/>
          <p:cNvSpPr txBox="1"/>
          <p:nvPr/>
        </p:nvSpPr>
        <p:spPr>
          <a:xfrm>
            <a:off x="6208776" y="319179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1" name="Text 149"/>
          <p:cNvSpPr txBox="1"/>
          <p:nvPr/>
        </p:nvSpPr>
        <p:spPr>
          <a:xfrm>
            <a:off x="6565392" y="319179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52" name="Shape 150"/>
          <p:cNvSpPr/>
          <p:nvPr/>
        </p:nvSpPr>
        <p:spPr>
          <a:xfrm>
            <a:off x="8421624" y="3247707"/>
            <a:ext cx="76034" cy="136676"/>
          </a:xfrm>
          <a:prstGeom prst="rect">
            <a:avLst/>
          </a:prstGeom>
          <a:solidFill>
            <a:srgbClr val="2587C5"/>
          </a:solidFill>
          <a:ln/>
        </p:spPr>
      </p:sp>
      <p:sp>
        <p:nvSpPr>
          <p:cNvPr id="153" name="Text 151"/>
          <p:cNvSpPr txBox="1"/>
          <p:nvPr/>
        </p:nvSpPr>
        <p:spPr>
          <a:xfrm>
            <a:off x="9052560" y="319179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$199K</a:t>
            </a:r>
            <a:endParaRPr lang="en-US" sz="1300" dirty="0"/>
          </a:p>
        </p:txBody>
      </p:sp>
      <p:sp>
        <p:nvSpPr>
          <p:cNvPr id="154" name="Text 152"/>
          <p:cNvSpPr txBox="1"/>
          <p:nvPr/>
        </p:nvSpPr>
        <p:spPr>
          <a:xfrm>
            <a:off x="9966960"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$11.0K</a:t>
            </a:r>
            <a:endParaRPr lang="en-US" sz="1300" dirty="0"/>
          </a:p>
        </p:txBody>
      </p:sp>
      <p:sp>
        <p:nvSpPr>
          <p:cNvPr id="155" name="Text 153"/>
          <p:cNvSpPr txBox="1"/>
          <p:nvPr/>
        </p:nvSpPr>
        <p:spPr>
          <a:xfrm>
            <a:off x="10716768" y="319179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56" name="Text 154"/>
          <p:cNvSpPr txBox="1"/>
          <p:nvPr/>
        </p:nvSpPr>
        <p:spPr>
          <a:xfrm>
            <a:off x="6208776" y="3440296"/>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7" name="Text 155"/>
          <p:cNvSpPr txBox="1"/>
          <p:nvPr/>
        </p:nvSpPr>
        <p:spPr>
          <a:xfrm>
            <a:off x="6565392" y="3440296"/>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58" name="Shape 156"/>
          <p:cNvSpPr/>
          <p:nvPr/>
        </p:nvSpPr>
        <p:spPr>
          <a:xfrm>
            <a:off x="8421624" y="3496208"/>
            <a:ext cx="73768" cy="136676"/>
          </a:xfrm>
          <a:prstGeom prst="rect">
            <a:avLst/>
          </a:prstGeom>
          <a:solidFill>
            <a:srgbClr val="2587C5"/>
          </a:solidFill>
          <a:ln/>
        </p:spPr>
      </p:sp>
      <p:sp>
        <p:nvSpPr>
          <p:cNvPr id="159" name="Text 157"/>
          <p:cNvSpPr txBox="1"/>
          <p:nvPr/>
        </p:nvSpPr>
        <p:spPr>
          <a:xfrm>
            <a:off x="9052560" y="3440296"/>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$193K</a:t>
            </a:r>
            <a:endParaRPr lang="en-US" sz="1300" dirty="0"/>
          </a:p>
        </p:txBody>
      </p:sp>
      <p:sp>
        <p:nvSpPr>
          <p:cNvPr id="160" name="Text 158"/>
          <p:cNvSpPr txBox="1"/>
          <p:nvPr/>
        </p:nvSpPr>
        <p:spPr>
          <a:xfrm>
            <a:off x="9966960"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$12.4K</a:t>
            </a:r>
            <a:endParaRPr lang="en-US" sz="1300" dirty="0"/>
          </a:p>
        </p:txBody>
      </p:sp>
      <p:sp>
        <p:nvSpPr>
          <p:cNvPr id="161" name="Text 159"/>
          <p:cNvSpPr txBox="1"/>
          <p:nvPr/>
        </p:nvSpPr>
        <p:spPr>
          <a:xfrm>
            <a:off x="10716768" y="3440296"/>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$13.0K</a:t>
            </a:r>
            <a:endParaRPr lang="en-US" sz="1300" dirty="0"/>
          </a:p>
        </p:txBody>
      </p:sp>
      <p:sp>
        <p:nvSpPr>
          <p:cNvPr id="162" name="Text 160"/>
          <p:cNvSpPr txBox="1"/>
          <p:nvPr/>
        </p:nvSpPr>
        <p:spPr>
          <a:xfrm>
            <a:off x="6208776" y="368879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3" name="Text 161"/>
          <p:cNvSpPr txBox="1"/>
          <p:nvPr/>
        </p:nvSpPr>
        <p:spPr>
          <a:xfrm>
            <a:off x="6565392" y="368879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64" name="Shape 162"/>
          <p:cNvSpPr/>
          <p:nvPr/>
        </p:nvSpPr>
        <p:spPr>
          <a:xfrm>
            <a:off x="8421624" y="3744710"/>
            <a:ext cx="68849" cy="136676"/>
          </a:xfrm>
          <a:prstGeom prst="rect">
            <a:avLst/>
          </a:prstGeom>
          <a:solidFill>
            <a:srgbClr val="2587C5"/>
          </a:solidFill>
          <a:ln/>
        </p:spPr>
      </p:sp>
      <p:sp>
        <p:nvSpPr>
          <p:cNvPr id="165" name="Text 163"/>
          <p:cNvSpPr txBox="1"/>
          <p:nvPr/>
        </p:nvSpPr>
        <p:spPr>
          <a:xfrm>
            <a:off x="9052560" y="368879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$180K</a:t>
            </a:r>
            <a:endParaRPr lang="en-US" sz="1300" dirty="0"/>
          </a:p>
        </p:txBody>
      </p:sp>
      <p:sp>
        <p:nvSpPr>
          <p:cNvPr id="166" name="Text 164"/>
          <p:cNvSpPr txBox="1"/>
          <p:nvPr/>
        </p:nvSpPr>
        <p:spPr>
          <a:xfrm>
            <a:off x="9966960"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$12.5K</a:t>
            </a:r>
            <a:endParaRPr lang="en-US" sz="1300" dirty="0"/>
          </a:p>
        </p:txBody>
      </p:sp>
      <p:sp>
        <p:nvSpPr>
          <p:cNvPr id="167" name="Text 165"/>
          <p:cNvSpPr txBox="1"/>
          <p:nvPr/>
        </p:nvSpPr>
        <p:spPr>
          <a:xfrm>
            <a:off x="10716768" y="368879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$13.1K</a:t>
            </a:r>
            <a:endParaRPr lang="en-US" sz="1300" dirty="0"/>
          </a:p>
        </p:txBody>
      </p:sp>
      <p:sp>
        <p:nvSpPr>
          <p:cNvPr id="168" name="Text 166"/>
          <p:cNvSpPr txBox="1"/>
          <p:nvPr/>
        </p:nvSpPr>
        <p:spPr>
          <a:xfrm>
            <a:off x="6208776" y="393729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9" name="Text 167"/>
          <p:cNvSpPr txBox="1"/>
          <p:nvPr/>
        </p:nvSpPr>
        <p:spPr>
          <a:xfrm>
            <a:off x="6565392" y="393729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70" name="Shape 168"/>
          <p:cNvSpPr/>
          <p:nvPr/>
        </p:nvSpPr>
        <p:spPr>
          <a:xfrm>
            <a:off x="8421624" y="3993212"/>
            <a:ext cx="59561" cy="136676"/>
          </a:xfrm>
          <a:prstGeom prst="rect">
            <a:avLst/>
          </a:prstGeom>
          <a:solidFill>
            <a:srgbClr val="2587C5"/>
          </a:solidFill>
          <a:ln/>
        </p:spPr>
      </p:sp>
      <p:sp>
        <p:nvSpPr>
          <p:cNvPr id="171" name="Text 169"/>
          <p:cNvSpPr txBox="1"/>
          <p:nvPr/>
        </p:nvSpPr>
        <p:spPr>
          <a:xfrm>
            <a:off x="9052560" y="393729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$156K</a:t>
            </a:r>
            <a:endParaRPr lang="en-US" sz="1300" dirty="0"/>
          </a:p>
        </p:txBody>
      </p:sp>
      <p:sp>
        <p:nvSpPr>
          <p:cNvPr id="172" name="Text 170"/>
          <p:cNvSpPr txBox="1"/>
          <p:nvPr/>
        </p:nvSpPr>
        <p:spPr>
          <a:xfrm>
            <a:off x="9966960"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73" name="Text 171"/>
          <p:cNvSpPr txBox="1"/>
          <p:nvPr/>
        </p:nvSpPr>
        <p:spPr>
          <a:xfrm>
            <a:off x="10716768" y="393729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$12.7K</a:t>
            </a:r>
            <a:endParaRPr lang="en-US" sz="1300" dirty="0"/>
          </a:p>
        </p:txBody>
      </p:sp>
      <p:sp>
        <p:nvSpPr>
          <p:cNvPr id="174" name="Text 172"/>
          <p:cNvSpPr txBox="1"/>
          <p:nvPr/>
        </p:nvSpPr>
        <p:spPr>
          <a:xfrm>
            <a:off x="6208776" y="4185800"/>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5" name="Text 173"/>
          <p:cNvSpPr txBox="1"/>
          <p:nvPr/>
        </p:nvSpPr>
        <p:spPr>
          <a:xfrm>
            <a:off x="6565392" y="4185800"/>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6" name="Shape 174"/>
          <p:cNvSpPr/>
          <p:nvPr/>
        </p:nvSpPr>
        <p:spPr>
          <a:xfrm>
            <a:off x="8421624" y="4241713"/>
            <a:ext cx="58266" cy="136676"/>
          </a:xfrm>
          <a:prstGeom prst="rect">
            <a:avLst/>
          </a:prstGeom>
          <a:solidFill>
            <a:srgbClr val="2587C5"/>
          </a:solidFill>
          <a:ln/>
        </p:spPr>
      </p:sp>
      <p:sp>
        <p:nvSpPr>
          <p:cNvPr id="177" name="Text 175"/>
          <p:cNvSpPr txBox="1"/>
          <p:nvPr/>
        </p:nvSpPr>
        <p:spPr>
          <a:xfrm>
            <a:off x="9052560" y="4185800"/>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$152K</a:t>
            </a:r>
            <a:endParaRPr lang="en-US" sz="1300" dirty="0"/>
          </a:p>
        </p:txBody>
      </p:sp>
      <p:sp>
        <p:nvSpPr>
          <p:cNvPr id="178" name="Text 176"/>
          <p:cNvSpPr txBox="1"/>
          <p:nvPr/>
        </p:nvSpPr>
        <p:spPr>
          <a:xfrm>
            <a:off x="9966960"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$11.5K</a:t>
            </a:r>
            <a:endParaRPr lang="en-US" sz="1300" dirty="0"/>
          </a:p>
        </p:txBody>
      </p:sp>
      <p:sp>
        <p:nvSpPr>
          <p:cNvPr id="179" name="Text 177"/>
          <p:cNvSpPr txBox="1"/>
          <p:nvPr/>
        </p:nvSpPr>
        <p:spPr>
          <a:xfrm>
            <a:off x="10716768" y="4185800"/>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$12.1K</a:t>
            </a:r>
            <a:endParaRPr lang="en-US" sz="1300" dirty="0"/>
          </a:p>
        </p:txBody>
      </p:sp>
      <p:sp>
        <p:nvSpPr>
          <p:cNvPr id="180" name="Text 178"/>
          <p:cNvSpPr txBox="1"/>
          <p:nvPr/>
        </p:nvSpPr>
        <p:spPr>
          <a:xfrm>
            <a:off x="6208776" y="4434302"/>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1" name="Text 179"/>
          <p:cNvSpPr txBox="1"/>
          <p:nvPr/>
        </p:nvSpPr>
        <p:spPr>
          <a:xfrm>
            <a:off x="6565392" y="4434302"/>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2" name="Shape 180"/>
          <p:cNvSpPr/>
          <p:nvPr/>
        </p:nvSpPr>
        <p:spPr>
          <a:xfrm>
            <a:off x="8421624" y="4490215"/>
            <a:ext cx="57879" cy="136676"/>
          </a:xfrm>
          <a:prstGeom prst="rect">
            <a:avLst/>
          </a:prstGeom>
          <a:solidFill>
            <a:srgbClr val="2587C5"/>
          </a:solidFill>
          <a:ln/>
        </p:spPr>
      </p:sp>
      <p:sp>
        <p:nvSpPr>
          <p:cNvPr id="183" name="Text 181"/>
          <p:cNvSpPr txBox="1"/>
          <p:nvPr/>
        </p:nvSpPr>
        <p:spPr>
          <a:xfrm>
            <a:off x="9052560" y="4434302"/>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$151K</a:t>
            </a:r>
            <a:endParaRPr lang="en-US" sz="1300" dirty="0"/>
          </a:p>
        </p:txBody>
      </p:sp>
      <p:sp>
        <p:nvSpPr>
          <p:cNvPr id="184" name="Text 182"/>
          <p:cNvSpPr txBox="1"/>
          <p:nvPr/>
        </p:nvSpPr>
        <p:spPr>
          <a:xfrm>
            <a:off x="9966960"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$9.5K</a:t>
            </a:r>
            <a:endParaRPr lang="en-US" sz="1300" dirty="0"/>
          </a:p>
        </p:txBody>
      </p:sp>
      <p:sp>
        <p:nvSpPr>
          <p:cNvPr id="185" name="Text 183"/>
          <p:cNvSpPr txBox="1"/>
          <p:nvPr/>
        </p:nvSpPr>
        <p:spPr>
          <a:xfrm>
            <a:off x="10716768" y="4434302"/>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$10.0K</a:t>
            </a:r>
            <a:endParaRPr lang="en-US" sz="1300" dirty="0"/>
          </a:p>
        </p:txBody>
      </p:sp>
      <p:sp>
        <p:nvSpPr>
          <p:cNvPr id="186" name="Text 184"/>
          <p:cNvSpPr txBox="1"/>
          <p:nvPr/>
        </p:nvSpPr>
        <p:spPr>
          <a:xfrm>
            <a:off x="6208776" y="4682804"/>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7" name="Text 185"/>
          <p:cNvSpPr txBox="1"/>
          <p:nvPr/>
        </p:nvSpPr>
        <p:spPr>
          <a:xfrm>
            <a:off x="6565392" y="4682804"/>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88" name="Shape 186"/>
          <p:cNvSpPr/>
          <p:nvPr/>
        </p:nvSpPr>
        <p:spPr>
          <a:xfrm>
            <a:off x="8421624" y="4738717"/>
            <a:ext cx="56293" cy="136676"/>
          </a:xfrm>
          <a:prstGeom prst="rect">
            <a:avLst/>
          </a:prstGeom>
          <a:solidFill>
            <a:srgbClr val="2587C5"/>
          </a:solidFill>
          <a:ln/>
        </p:spPr>
      </p:sp>
      <p:sp>
        <p:nvSpPr>
          <p:cNvPr id="189" name="Text 187"/>
          <p:cNvSpPr txBox="1"/>
          <p:nvPr/>
        </p:nvSpPr>
        <p:spPr>
          <a:xfrm>
            <a:off x="9052560" y="4682804"/>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$147K</a:t>
            </a:r>
            <a:endParaRPr lang="en-US" sz="1300" dirty="0"/>
          </a:p>
        </p:txBody>
      </p:sp>
      <p:sp>
        <p:nvSpPr>
          <p:cNvPr id="190" name="Text 188"/>
          <p:cNvSpPr txBox="1"/>
          <p:nvPr/>
        </p:nvSpPr>
        <p:spPr>
          <a:xfrm>
            <a:off x="9966960"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$15.2K</a:t>
            </a:r>
            <a:endParaRPr lang="en-US" sz="1300" dirty="0"/>
          </a:p>
        </p:txBody>
      </p:sp>
      <p:sp>
        <p:nvSpPr>
          <p:cNvPr id="191" name="Text 189"/>
          <p:cNvSpPr txBox="1"/>
          <p:nvPr/>
        </p:nvSpPr>
        <p:spPr>
          <a:xfrm>
            <a:off x="10716768" y="4682804"/>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$16.0K</a:t>
            </a:r>
            <a:endParaRPr lang="en-US" sz="1300" dirty="0"/>
          </a:p>
        </p:txBody>
      </p:sp>
      <p:sp>
        <p:nvSpPr>
          <p:cNvPr id="192" name="Text 190"/>
          <p:cNvSpPr txBox="1"/>
          <p:nvPr/>
        </p:nvSpPr>
        <p:spPr>
          <a:xfrm>
            <a:off x="6208776" y="4931305"/>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3" name="Text 191"/>
          <p:cNvSpPr txBox="1"/>
          <p:nvPr/>
        </p:nvSpPr>
        <p:spPr>
          <a:xfrm>
            <a:off x="6565392" y="4931305"/>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94" name="Shape 192"/>
          <p:cNvSpPr/>
          <p:nvPr/>
        </p:nvSpPr>
        <p:spPr>
          <a:xfrm>
            <a:off x="8421624" y="4987218"/>
            <a:ext cx="40591" cy="136676"/>
          </a:xfrm>
          <a:prstGeom prst="rect">
            <a:avLst/>
          </a:prstGeom>
          <a:solidFill>
            <a:srgbClr val="2587C5"/>
          </a:solidFill>
          <a:ln/>
        </p:spPr>
      </p:sp>
      <p:sp>
        <p:nvSpPr>
          <p:cNvPr id="195" name="Text 193"/>
          <p:cNvSpPr txBox="1"/>
          <p:nvPr/>
        </p:nvSpPr>
        <p:spPr>
          <a:xfrm>
            <a:off x="9052560" y="4931305"/>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$106K</a:t>
            </a:r>
            <a:endParaRPr lang="en-US" sz="1300" dirty="0"/>
          </a:p>
        </p:txBody>
      </p:sp>
      <p:sp>
        <p:nvSpPr>
          <p:cNvPr id="196" name="Text 194"/>
          <p:cNvSpPr txBox="1"/>
          <p:nvPr/>
        </p:nvSpPr>
        <p:spPr>
          <a:xfrm>
            <a:off x="9966960"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$9.1K</a:t>
            </a:r>
            <a:endParaRPr lang="en-US" sz="1300" dirty="0"/>
          </a:p>
        </p:txBody>
      </p:sp>
      <p:sp>
        <p:nvSpPr>
          <p:cNvPr id="197" name="Text 195"/>
          <p:cNvSpPr txBox="1"/>
          <p:nvPr/>
        </p:nvSpPr>
        <p:spPr>
          <a:xfrm>
            <a:off x="10716768" y="4931305"/>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$9.6K</a:t>
            </a:r>
            <a:endParaRPr lang="en-US" sz="1300" dirty="0"/>
          </a:p>
        </p:txBody>
      </p:sp>
      <p:sp>
        <p:nvSpPr>
          <p:cNvPr id="198" name="Text 196"/>
          <p:cNvSpPr txBox="1"/>
          <p:nvPr/>
        </p:nvSpPr>
        <p:spPr>
          <a:xfrm>
            <a:off x="6208776" y="5179807"/>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9" name="Text 197"/>
          <p:cNvSpPr txBox="1"/>
          <p:nvPr/>
        </p:nvSpPr>
        <p:spPr>
          <a:xfrm>
            <a:off x="6565392" y="5179807"/>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200" name="Shape 198"/>
          <p:cNvSpPr/>
          <p:nvPr/>
        </p:nvSpPr>
        <p:spPr>
          <a:xfrm>
            <a:off x="8421624" y="5235720"/>
            <a:ext cx="39145" cy="136676"/>
          </a:xfrm>
          <a:prstGeom prst="rect">
            <a:avLst/>
          </a:prstGeom>
          <a:solidFill>
            <a:srgbClr val="2587C5"/>
          </a:solidFill>
          <a:ln/>
        </p:spPr>
      </p:sp>
      <p:sp>
        <p:nvSpPr>
          <p:cNvPr id="201" name="Text 199"/>
          <p:cNvSpPr txBox="1"/>
          <p:nvPr/>
        </p:nvSpPr>
        <p:spPr>
          <a:xfrm>
            <a:off x="9052560" y="5179807"/>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$102K</a:t>
            </a:r>
            <a:endParaRPr lang="en-US" sz="1300" dirty="0"/>
          </a:p>
        </p:txBody>
      </p:sp>
      <p:sp>
        <p:nvSpPr>
          <p:cNvPr id="202" name="Text 200"/>
          <p:cNvSpPr txBox="1"/>
          <p:nvPr/>
        </p:nvSpPr>
        <p:spPr>
          <a:xfrm>
            <a:off x="9966960"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$11.6K</a:t>
            </a:r>
            <a:endParaRPr lang="en-US" sz="1300" dirty="0"/>
          </a:p>
        </p:txBody>
      </p:sp>
      <p:sp>
        <p:nvSpPr>
          <p:cNvPr id="203" name="Text 201"/>
          <p:cNvSpPr txBox="1"/>
          <p:nvPr/>
        </p:nvSpPr>
        <p:spPr>
          <a:xfrm>
            <a:off x="10716768" y="5179807"/>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$12.2K</a:t>
            </a:r>
            <a:endParaRPr lang="en-US" sz="1300" dirty="0"/>
          </a:p>
        </p:txBody>
      </p:sp>
      <p:sp>
        <p:nvSpPr>
          <p:cNvPr id="204" name="Text 202"/>
          <p:cNvSpPr txBox="1"/>
          <p:nvPr/>
        </p:nvSpPr>
        <p:spPr>
          <a:xfrm>
            <a:off x="6208776" y="5428309"/>
            <a:ext cx="310896" cy="248502"/>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5" name="Text 203"/>
          <p:cNvSpPr txBox="1"/>
          <p:nvPr/>
        </p:nvSpPr>
        <p:spPr>
          <a:xfrm>
            <a:off x="6565392" y="5428309"/>
            <a:ext cx="1783080" cy="248502"/>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06" name="Shape 204"/>
          <p:cNvSpPr/>
          <p:nvPr/>
        </p:nvSpPr>
        <p:spPr>
          <a:xfrm>
            <a:off x="8421624" y="5484222"/>
            <a:ext cx="24682" cy="136676"/>
          </a:xfrm>
          <a:prstGeom prst="rect">
            <a:avLst/>
          </a:prstGeom>
          <a:solidFill>
            <a:srgbClr val="2587C5"/>
          </a:solidFill>
          <a:ln/>
        </p:spPr>
      </p:sp>
      <p:sp>
        <p:nvSpPr>
          <p:cNvPr id="207" name="Text 205"/>
          <p:cNvSpPr txBox="1"/>
          <p:nvPr/>
        </p:nvSpPr>
        <p:spPr>
          <a:xfrm>
            <a:off x="9052560" y="5428309"/>
            <a:ext cx="914400" cy="248502"/>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$65K</a:t>
            </a:r>
            <a:endParaRPr lang="en-US" sz="1300" dirty="0"/>
          </a:p>
        </p:txBody>
      </p:sp>
      <p:sp>
        <p:nvSpPr>
          <p:cNvPr id="208" name="Text 206"/>
          <p:cNvSpPr txBox="1"/>
          <p:nvPr/>
        </p:nvSpPr>
        <p:spPr>
          <a:xfrm>
            <a:off x="9966960"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$9.9K</a:t>
            </a:r>
            <a:endParaRPr lang="en-US" sz="1300" dirty="0"/>
          </a:p>
        </p:txBody>
      </p:sp>
      <p:sp>
        <p:nvSpPr>
          <p:cNvPr id="209" name="Text 207"/>
          <p:cNvSpPr txBox="1"/>
          <p:nvPr/>
        </p:nvSpPr>
        <p:spPr>
          <a:xfrm>
            <a:off x="10716768" y="5428309"/>
            <a:ext cx="749808" cy="248502"/>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$10.4K</a:t>
            </a:r>
            <a:endParaRPr lang="en-US" sz="1300" dirty="0"/>
          </a:p>
        </p:txBody>
      </p:sp>
      <p:sp>
        <p:nvSpPr>
          <p:cNvPr id="210" name="Shape 208"/>
          <p:cNvSpPr/>
          <p:nvPr/>
        </p:nvSpPr>
        <p:spPr>
          <a:xfrm>
            <a:off x="6085332" y="1700784"/>
            <a:ext cx="10973" cy="4224528"/>
          </a:xfrm>
          <a:prstGeom prst="rect">
            <a:avLst/>
          </a:prstGeom>
          <a:solidFill>
            <a:srgbClr val="D9D9D9"/>
          </a:solidFill>
          <a:ln/>
        </p:spPr>
      </p:sp>
      <p:sp>
        <p:nvSpPr>
          <p:cNvPr id="211" name="Shape 209"/>
          <p:cNvSpPr/>
          <p:nvPr/>
        </p:nvSpPr>
        <p:spPr>
          <a:xfrm>
            <a:off x="457200" y="6126480"/>
            <a:ext cx="11274552" cy="615696"/>
          </a:xfrm>
          <a:prstGeom prst="rect">
            <a:avLst/>
          </a:prstGeom>
          <a:solidFill>
            <a:srgbClr val="E6F6EE"/>
          </a:solidFill>
          <a:ln/>
        </p:spPr>
      </p:sp>
      <p:sp>
        <p:nvSpPr>
          <p:cNvPr id="212" name="Text 210"/>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 more gross from the people already on staff is worth $12,586,648 a year. For the average employee that is $681 more a month, about $27 a working day.</a:t>
            </a:r>
            <a:endParaRPr lang="en-US" sz="1600" dirty="0"/>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173</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−3.8%</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Service Advisor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FBEBEA"/>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7 to 166, behind 2025 in six of nine months. Advisors grew 1.5%; ROs fell 2.3%.</a:t>
            </a:r>
            <a:endParaRPr lang="en-US" sz="1600" dirty="0"/>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166</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123</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9" name="Shape 17"/>
          <p:cNvSpPr/>
          <p:nvPr/>
        </p:nvSpPr>
        <p:spPr>
          <a:xfrm>
            <a:off x="3008376" y="2402586"/>
            <a:ext cx="1636341"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192</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373312"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7" name="Shape 25"/>
          <p:cNvSpPr/>
          <p:nvPr/>
        </p:nvSpPr>
        <p:spPr>
          <a:xfrm>
            <a:off x="3008376" y="2896362"/>
            <a:ext cx="113639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133</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062404"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5" name="Shape 33"/>
          <p:cNvSpPr/>
          <p:nvPr/>
        </p:nvSpPr>
        <p:spPr>
          <a:xfrm>
            <a:off x="3008376" y="3390138"/>
            <a:ext cx="949294"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111</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76224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883914"/>
            <a:ext cx="72895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85</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60509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71</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4" name="Shape 52"/>
          <p:cNvSpPr/>
          <p:nvPr/>
        </p:nvSpPr>
        <p:spPr>
          <a:xfrm>
            <a:off x="3008376" y="4624578"/>
            <a:ext cx="1503240"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253</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58" name="Shape 56"/>
          <p:cNvSpPr/>
          <p:nvPr/>
        </p:nvSpPr>
        <p:spPr>
          <a:xfrm>
            <a:off x="3008376" y="4871466"/>
            <a:ext cx="1447357"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244</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373578"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6" name="Shape 64"/>
          <p:cNvSpPr/>
          <p:nvPr/>
        </p:nvSpPr>
        <p:spPr>
          <a:xfrm>
            <a:off x="3008376" y="5365242"/>
            <a:ext cx="1343443"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0" name="Shape 68"/>
          <p:cNvSpPr/>
          <p:nvPr/>
        </p:nvSpPr>
        <p:spPr>
          <a:xfrm>
            <a:off x="3008376" y="5612130"/>
            <a:ext cx="1341602"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226</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4" name="Shape 72"/>
          <p:cNvSpPr/>
          <p:nvPr/>
        </p:nvSpPr>
        <p:spPr>
          <a:xfrm>
            <a:off x="3008376" y="5859018"/>
            <a:ext cx="1333815"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225</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164283"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176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4" name="Shape 82"/>
          <p:cNvSpPr/>
          <p:nvPr/>
        </p:nvSpPr>
        <p:spPr>
          <a:xfrm>
            <a:off x="8558784" y="2155698"/>
            <a:ext cx="113426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191</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8" name="Shape 86"/>
          <p:cNvSpPr/>
          <p:nvPr/>
        </p:nvSpPr>
        <p:spPr>
          <a:xfrm>
            <a:off x="8558784" y="2402586"/>
            <a:ext cx="1095681"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07317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181</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6" name="Shape 94"/>
          <p:cNvSpPr/>
          <p:nvPr/>
        </p:nvSpPr>
        <p:spPr>
          <a:xfrm>
            <a:off x="8558784" y="2896362"/>
            <a:ext cx="1070012"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105728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178</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04201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175</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08" name="Shape 106"/>
          <p:cNvSpPr/>
          <p:nvPr/>
        </p:nvSpPr>
        <p:spPr>
          <a:xfrm>
            <a:off x="8558784" y="3637026"/>
            <a:ext cx="1021645"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172</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98175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165</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43933"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0" name="Shape 118"/>
          <p:cNvSpPr/>
          <p:nvPr/>
        </p:nvSpPr>
        <p:spPr>
          <a:xfrm>
            <a:off x="8558784" y="4377690"/>
            <a:ext cx="91208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4" name="Shape 122"/>
          <p:cNvSpPr/>
          <p:nvPr/>
        </p:nvSpPr>
        <p:spPr>
          <a:xfrm>
            <a:off x="8558784" y="4624578"/>
            <a:ext cx="84888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8" name="Shape 126"/>
          <p:cNvSpPr/>
          <p:nvPr/>
        </p:nvSpPr>
        <p:spPr>
          <a:xfrm>
            <a:off x="8558784" y="4871466"/>
            <a:ext cx="823202"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2" name="Shape 130"/>
          <p:cNvSpPr/>
          <p:nvPr/>
        </p:nvSpPr>
        <p:spPr>
          <a:xfrm>
            <a:off x="8558784" y="5118354"/>
            <a:ext cx="75953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128</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7297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0" name="Shape 138"/>
          <p:cNvSpPr/>
          <p:nvPr/>
        </p:nvSpPr>
        <p:spPr>
          <a:xfrm>
            <a:off x="8558784" y="5612130"/>
            <a:ext cx="709976"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120</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4" name="Shape 142"/>
          <p:cNvSpPr/>
          <p:nvPr/>
        </p:nvSpPr>
        <p:spPr>
          <a:xfrm>
            <a:off x="8558784" y="5859018"/>
            <a:ext cx="703612"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48" name="Shape 146"/>
          <p:cNvSpPr/>
          <p:nvPr/>
        </p:nvSpPr>
        <p:spPr>
          <a:xfrm>
            <a:off x="8558784" y="6105906"/>
            <a:ext cx="692411"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117</a:t>
            </a:r>
            <a:endParaRPr lang="en-US" sz="1200" dirty="0"/>
          </a:p>
        </p:txBody>
      </p:sp>
      <p:sp>
        <p:nvSpPr>
          <p:cNvPr id="150" name="Shape 148"/>
          <p:cNvSpPr/>
          <p:nvPr/>
        </p:nvSpPr>
        <p:spPr>
          <a:xfrm>
            <a:off x="4047207" y="2093976"/>
            <a:ext cx="14630" cy="2221992"/>
          </a:xfrm>
          <a:prstGeom prst="rect">
            <a:avLst/>
          </a:prstGeom>
          <a:solidFill>
            <a:srgbClr val="0B2C4A"/>
          </a:solidFill>
          <a:ln/>
        </p:spPr>
      </p:sp>
      <p:sp>
        <p:nvSpPr>
          <p:cNvPr id="151" name="Shape 149"/>
          <p:cNvSpPr/>
          <p:nvPr/>
        </p:nvSpPr>
        <p:spPr>
          <a:xfrm>
            <a:off x="4047207" y="4562856"/>
            <a:ext cx="14630" cy="1728216"/>
          </a:xfrm>
          <a:prstGeom prst="rect">
            <a:avLst/>
          </a:prstGeom>
          <a:solidFill>
            <a:srgbClr val="0B2C4A"/>
          </a:solidFill>
          <a:ln/>
        </p:spPr>
      </p:sp>
      <p:sp>
        <p:nvSpPr>
          <p:cNvPr id="152" name="Shape 150"/>
          <p:cNvSpPr/>
          <p:nvPr/>
        </p:nvSpPr>
        <p:spPr>
          <a:xfrm>
            <a:off x="9597615"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6804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SERVICE ADVISOR</a:t>
            </a:r>
            <a:endParaRPr lang="en-US" sz="1500" dirty="0"/>
          </a:p>
        </p:txBody>
      </p:sp>
      <p:sp>
        <p:nvSpPr>
          <p:cNvPr id="9" name="Text 7"/>
          <p:cNvSpPr txBox="1"/>
          <p:nvPr/>
        </p:nvSpPr>
        <p:spPr>
          <a:xfrm>
            <a:off x="4594860" y="1335024"/>
            <a:ext cx="34518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−7</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3" name="Shape 11"/>
          <p:cNvSpPr/>
          <p:nvPr/>
        </p:nvSpPr>
        <p:spPr>
          <a:xfrm>
            <a:off x="3785616" y="1911860"/>
            <a:ext cx="52524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51755"/>
            <a:ext cx="46752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1" name="Shape 19"/>
          <p:cNvSpPr/>
          <p:nvPr/>
        </p:nvSpPr>
        <p:spPr>
          <a:xfrm>
            <a:off x="3785616" y="2391651"/>
            <a:ext cx="415619"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5" name="Shape 23"/>
          <p:cNvSpPr/>
          <p:nvPr/>
        </p:nvSpPr>
        <p:spPr>
          <a:xfrm>
            <a:off x="3785616" y="2631546"/>
            <a:ext cx="265194"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29" name="Shape 27"/>
          <p:cNvSpPr/>
          <p:nvPr/>
        </p:nvSpPr>
        <p:spPr>
          <a:xfrm>
            <a:off x="3785616" y="2871442"/>
            <a:ext cx="190549"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3" name="Shape 31"/>
          <p:cNvSpPr/>
          <p:nvPr/>
        </p:nvSpPr>
        <p:spPr>
          <a:xfrm>
            <a:off x="3785616" y="3111337"/>
            <a:ext cx="17953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351233"/>
            <a:ext cx="174904"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1" name="Shape 39"/>
          <p:cNvSpPr/>
          <p:nvPr/>
        </p:nvSpPr>
        <p:spPr>
          <a:xfrm>
            <a:off x="3785616" y="3591128"/>
            <a:ext cx="157180"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45" name="Shape 43"/>
          <p:cNvSpPr/>
          <p:nvPr/>
        </p:nvSpPr>
        <p:spPr>
          <a:xfrm>
            <a:off x="3785616" y="3831024"/>
            <a:ext cx="146799"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49" name="Shape 47"/>
          <p:cNvSpPr/>
          <p:nvPr/>
        </p:nvSpPr>
        <p:spPr>
          <a:xfrm>
            <a:off x="3785616" y="4070920"/>
            <a:ext cx="136967"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3" name="Shape 51"/>
          <p:cNvSpPr/>
          <p:nvPr/>
        </p:nvSpPr>
        <p:spPr>
          <a:xfrm>
            <a:off x="3785616" y="4310815"/>
            <a:ext cx="76979"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7" name="Shape 55"/>
          <p:cNvSpPr/>
          <p:nvPr/>
        </p:nvSpPr>
        <p:spPr>
          <a:xfrm>
            <a:off x="3785616" y="4550711"/>
            <a:ext cx="75062"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61" name="Shape 59"/>
          <p:cNvSpPr/>
          <p:nvPr/>
        </p:nvSpPr>
        <p:spPr>
          <a:xfrm>
            <a:off x="3785616" y="4790606"/>
            <a:ext cx="60320"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5" name="Shape 63"/>
          <p:cNvSpPr/>
          <p:nvPr/>
        </p:nvSpPr>
        <p:spPr>
          <a:xfrm>
            <a:off x="3785616" y="5030502"/>
            <a:ext cx="3557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9" name="Shape 67"/>
          <p:cNvSpPr/>
          <p:nvPr/>
        </p:nvSpPr>
        <p:spPr>
          <a:xfrm>
            <a:off x="3785616" y="5270397"/>
            <a:ext cx="21435"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785616" y="5510293"/>
            <a:ext cx="12802"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06884" y="1911860"/>
            <a:ext cx="29140" cy="110352"/>
          </a:xfrm>
          <a:prstGeom prst="rect">
            <a:avLst/>
          </a:prstGeom>
          <a:solidFill>
            <a:srgbClr val="C2352F"/>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9216705" y="2151755"/>
            <a:ext cx="119319" cy="110352"/>
          </a:xfrm>
          <a:prstGeom prst="rect">
            <a:avLst/>
          </a:prstGeom>
          <a:solidFill>
            <a:srgbClr val="C2352F"/>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9" name="Shape 87"/>
          <p:cNvSpPr/>
          <p:nvPr/>
        </p:nvSpPr>
        <p:spPr>
          <a:xfrm>
            <a:off x="9155707" y="2391651"/>
            <a:ext cx="180317" cy="110352"/>
          </a:xfrm>
          <a:prstGeom prst="rect">
            <a:avLst/>
          </a:prstGeom>
          <a:solidFill>
            <a:srgbClr val="C2352F"/>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9144900" y="2631546"/>
            <a:ext cx="191124" cy="110352"/>
          </a:xfrm>
          <a:prstGeom prst="rect">
            <a:avLst/>
          </a:prstGeom>
          <a:solidFill>
            <a:srgbClr val="C2352F"/>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7" name="Shape 95"/>
          <p:cNvSpPr/>
          <p:nvPr/>
        </p:nvSpPr>
        <p:spPr>
          <a:xfrm>
            <a:off x="9113369" y="2871442"/>
            <a:ext cx="222655" cy="110352"/>
          </a:xfrm>
          <a:prstGeom prst="rect">
            <a:avLst/>
          </a:prstGeom>
          <a:solidFill>
            <a:srgbClr val="C2352F"/>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01" name="Shape 99"/>
          <p:cNvSpPr/>
          <p:nvPr/>
        </p:nvSpPr>
        <p:spPr>
          <a:xfrm>
            <a:off x="9069301" y="3111337"/>
            <a:ext cx="266723"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5" name="Shape 103"/>
          <p:cNvSpPr/>
          <p:nvPr/>
        </p:nvSpPr>
        <p:spPr>
          <a:xfrm>
            <a:off x="9051012" y="3351233"/>
            <a:ext cx="285012"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−22</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9" name="Shape 107"/>
          <p:cNvSpPr/>
          <p:nvPr/>
        </p:nvSpPr>
        <p:spPr>
          <a:xfrm>
            <a:off x="8963630" y="3591128"/>
            <a:ext cx="372394"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3" name="Shape 111"/>
          <p:cNvSpPr/>
          <p:nvPr/>
        </p:nvSpPr>
        <p:spPr>
          <a:xfrm>
            <a:off x="8947862" y="3831024"/>
            <a:ext cx="388162"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7" name="Shape 115"/>
          <p:cNvSpPr/>
          <p:nvPr/>
        </p:nvSpPr>
        <p:spPr>
          <a:xfrm>
            <a:off x="8941405" y="4070920"/>
            <a:ext cx="39461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−30</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1" name="Shape 119"/>
          <p:cNvSpPr/>
          <p:nvPr/>
        </p:nvSpPr>
        <p:spPr>
          <a:xfrm>
            <a:off x="8905154" y="4310815"/>
            <a:ext cx="43087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−33</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5" name="Shape 123"/>
          <p:cNvSpPr/>
          <p:nvPr/>
        </p:nvSpPr>
        <p:spPr>
          <a:xfrm>
            <a:off x="8863913" y="4550711"/>
            <a:ext cx="472111"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−36</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29" name="Shape 127"/>
          <p:cNvSpPr/>
          <p:nvPr/>
        </p:nvSpPr>
        <p:spPr>
          <a:xfrm>
            <a:off x="8798725" y="4790606"/>
            <a:ext cx="537299"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−41</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3" name="Shape 131"/>
          <p:cNvSpPr/>
          <p:nvPr/>
        </p:nvSpPr>
        <p:spPr>
          <a:xfrm>
            <a:off x="8761661" y="5030502"/>
            <a:ext cx="5743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−43</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66984" y="5270397"/>
            <a:ext cx="769040"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−59</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FBEBEA"/>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17 of 33 stores raised ROs per advisor, led by Honda Flagstaff at +40 to 175. 16 declined; Toyota Spokane fell most at −59.</a:t>
            </a:r>
            <a:endParaRPr lang="en-US" sz="1600" dirty="0"/>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ADVISOR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Service Advisor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Text 8"/>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12" name="Text 10"/>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13" name="Text 11"/>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15" name="Text 13"/>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16" name="Shape 14"/>
          <p:cNvSpPr/>
          <p:nvPr/>
        </p:nvSpPr>
        <p:spPr>
          <a:xfrm>
            <a:off x="658368" y="3613709"/>
            <a:ext cx="3489960" cy="755294"/>
          </a:xfrm>
          <a:prstGeom prst="rect">
            <a:avLst/>
          </a:prstGeom>
          <a:solidFill>
            <a:srgbClr val="F7F7F7"/>
          </a:solidFill>
          <a:ln/>
        </p:spPr>
      </p:sp>
      <p:sp>
        <p:nvSpPr>
          <p:cNvPr id="17" name="Text 15"/>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253</a:t>
            </a:r>
            <a:endParaRPr lang="en-US" sz="1400" dirty="0"/>
          </a:p>
        </p:txBody>
      </p:sp>
      <p:sp>
        <p:nvSpPr>
          <p:cNvPr id="19" name="Text 17"/>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a:t>
            </a:r>
            <a:endParaRPr lang="en-US" sz="1600" dirty="0"/>
          </a:p>
        </p:txBody>
      </p:sp>
      <p:sp>
        <p:nvSpPr>
          <p:cNvPr id="20" name="Text 18"/>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194</a:t>
            </a:r>
            <a:endParaRPr lang="en-US" sz="1400" dirty="0"/>
          </a:p>
        </p:txBody>
      </p:sp>
      <p:sp>
        <p:nvSpPr>
          <p:cNvPr id="22" name="Text 20"/>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a:t>
            </a:r>
            <a:endParaRPr lang="en-US" sz="1600" dirty="0"/>
          </a:p>
        </p:txBody>
      </p:sp>
      <p:sp>
        <p:nvSpPr>
          <p:cNvPr id="23" name="Shape 21"/>
          <p:cNvSpPr/>
          <p:nvPr/>
        </p:nvSpPr>
        <p:spPr>
          <a:xfrm>
            <a:off x="658368" y="5124298"/>
            <a:ext cx="3489960" cy="755294"/>
          </a:xfrm>
          <a:prstGeom prst="rect">
            <a:avLst/>
          </a:prstGeom>
          <a:solidFill>
            <a:srgbClr val="F7F7F7"/>
          </a:solidFill>
          <a:ln/>
        </p:spPr>
      </p:sp>
      <p:sp>
        <p:nvSpPr>
          <p:cNvPr id="24" name="Text 22"/>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180</a:t>
            </a:r>
            <a:endParaRPr lang="en-US" sz="1400" dirty="0"/>
          </a:p>
        </p:txBody>
      </p:sp>
      <p:sp>
        <p:nvSpPr>
          <p:cNvPr id="26" name="Text 24"/>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755294"/>
          </a:xfrm>
          <a:prstGeom prst="rect">
            <a:avLst/>
          </a:prstGeom>
          <a:solidFill>
            <a:srgbClr val="F7F7F7"/>
          </a:solidFill>
          <a:ln/>
        </p:spPr>
      </p:sp>
      <p:sp>
        <p:nvSpPr>
          <p:cNvPr id="31" name="Text 29"/>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244</a:t>
            </a:r>
            <a:endParaRPr lang="en-US" sz="1400" dirty="0"/>
          </a:p>
        </p:txBody>
      </p:sp>
      <p:sp>
        <p:nvSpPr>
          <p:cNvPr id="33" name="Text 31"/>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−59</a:t>
            </a:r>
            <a:endParaRPr lang="en-US" sz="1600" dirty="0"/>
          </a:p>
        </p:txBody>
      </p:sp>
      <p:sp>
        <p:nvSpPr>
          <p:cNvPr id="34" name="Text 32"/>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139</a:t>
            </a:r>
            <a:endParaRPr lang="en-US" sz="1400" dirty="0"/>
          </a:p>
        </p:txBody>
      </p:sp>
      <p:sp>
        <p:nvSpPr>
          <p:cNvPr id="36" name="Text 34"/>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7" name="Shape 35"/>
          <p:cNvSpPr/>
          <p:nvPr/>
        </p:nvSpPr>
        <p:spPr>
          <a:xfrm>
            <a:off x="4349496" y="3613709"/>
            <a:ext cx="3489960" cy="755294"/>
          </a:xfrm>
          <a:prstGeom prst="rect">
            <a:avLst/>
          </a:prstGeom>
          <a:solidFill>
            <a:srgbClr val="F7F7F7"/>
          </a:solidFill>
          <a:ln/>
        </p:spPr>
      </p:sp>
      <p:sp>
        <p:nvSpPr>
          <p:cNvPr id="38" name="Text 36"/>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123</a:t>
            </a:r>
            <a:endParaRPr lang="en-US" sz="1400" dirty="0"/>
          </a:p>
        </p:txBody>
      </p:sp>
      <p:sp>
        <p:nvSpPr>
          <p:cNvPr id="40" name="Text 38"/>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−43</a:t>
            </a:r>
            <a:endParaRPr lang="en-US" sz="1600" dirty="0"/>
          </a:p>
        </p:txBody>
      </p:sp>
      <p:sp>
        <p:nvSpPr>
          <p:cNvPr id="41" name="Text 39"/>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161</a:t>
            </a:r>
            <a:endParaRPr lang="en-US" sz="1400" dirty="0"/>
          </a:p>
        </p:txBody>
      </p:sp>
      <p:sp>
        <p:nvSpPr>
          <p:cNvPr id="43" name="Text 41"/>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−41</a:t>
            </a:r>
            <a:endParaRPr lang="en-US" sz="1600" dirty="0"/>
          </a:p>
        </p:txBody>
      </p:sp>
      <p:sp>
        <p:nvSpPr>
          <p:cNvPr id="44" name="Shape 42"/>
          <p:cNvSpPr/>
          <p:nvPr/>
        </p:nvSpPr>
        <p:spPr>
          <a:xfrm>
            <a:off x="4349496" y="5124298"/>
            <a:ext cx="3489960" cy="755294"/>
          </a:xfrm>
          <a:prstGeom prst="rect">
            <a:avLst/>
          </a:prstGeom>
          <a:solidFill>
            <a:srgbClr val="F7F7F7"/>
          </a:solidFill>
          <a:ln/>
        </p:spPr>
      </p:sp>
      <p:sp>
        <p:nvSpPr>
          <p:cNvPr id="45" name="Text 43"/>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225</a:t>
            </a:r>
            <a:endParaRPr lang="en-US" sz="1400" dirty="0"/>
          </a:p>
        </p:txBody>
      </p:sp>
      <p:sp>
        <p:nvSpPr>
          <p:cNvPr id="47" name="Text 45"/>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−36</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755294"/>
          </a:xfrm>
          <a:prstGeom prst="rect">
            <a:avLst/>
          </a:prstGeom>
          <a:solidFill>
            <a:srgbClr val="F7F7F7"/>
          </a:solidFill>
          <a:ln/>
        </p:spPr>
      </p:sp>
      <p:sp>
        <p:nvSpPr>
          <p:cNvPr id="52" name="Text 50"/>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175</a:t>
            </a:r>
            <a:endParaRPr lang="en-US" sz="1400" dirty="0"/>
          </a:p>
        </p:txBody>
      </p:sp>
      <p:sp>
        <p:nvSpPr>
          <p:cNvPr id="54" name="Text 52"/>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55" name="Text 53"/>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203</a:t>
            </a:r>
            <a:endParaRPr lang="en-US" sz="1400" dirty="0"/>
          </a:p>
        </p:txBody>
      </p:sp>
      <p:sp>
        <p:nvSpPr>
          <p:cNvPr id="57" name="Text 55"/>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58" name="Shape 56"/>
          <p:cNvSpPr/>
          <p:nvPr/>
        </p:nvSpPr>
        <p:spPr>
          <a:xfrm>
            <a:off x="8040624" y="3613709"/>
            <a:ext cx="3489960" cy="755294"/>
          </a:xfrm>
          <a:prstGeom prst="rect">
            <a:avLst/>
          </a:prstGeom>
          <a:solidFill>
            <a:srgbClr val="F7F7F7"/>
          </a:solidFill>
          <a:ln/>
        </p:spPr>
      </p:sp>
      <p:sp>
        <p:nvSpPr>
          <p:cNvPr id="59" name="Text 57"/>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237</a:t>
            </a:r>
            <a:endParaRPr lang="en-US" sz="1400" dirty="0"/>
          </a:p>
        </p:txBody>
      </p:sp>
      <p:sp>
        <p:nvSpPr>
          <p:cNvPr id="61" name="Text 59"/>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2" name="Text 60"/>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186</a:t>
            </a:r>
            <a:endParaRPr lang="en-US" sz="1400" dirty="0"/>
          </a:p>
        </p:txBody>
      </p:sp>
      <p:sp>
        <p:nvSpPr>
          <p:cNvPr id="64" name="Text 62"/>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5" name="Shape 63"/>
          <p:cNvSpPr/>
          <p:nvPr/>
        </p:nvSpPr>
        <p:spPr>
          <a:xfrm>
            <a:off x="8040624" y="5124298"/>
            <a:ext cx="3489960" cy="755294"/>
          </a:xfrm>
          <a:prstGeom prst="rect">
            <a:avLst/>
          </a:prstGeom>
          <a:solidFill>
            <a:srgbClr val="F7F7F7"/>
          </a:solidFill>
          <a:ln/>
        </p:spPr>
      </p:sp>
      <p:sp>
        <p:nvSpPr>
          <p:cNvPr id="66" name="Text 64"/>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187</a:t>
            </a:r>
            <a:endParaRPr lang="en-US" sz="1400" dirty="0"/>
          </a:p>
        </p:txBody>
      </p:sp>
      <p:sp>
        <p:nvSpPr>
          <p:cNvPr id="68" name="Text 66"/>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a:t>
            </a:r>
            <a:endParaRPr lang="en-US" sz="1600" dirty="0"/>
          </a:p>
        </p:txBody>
      </p:sp>
      <p:sp>
        <p:nvSpPr>
          <p:cNvPr id="69" name="Shape 67"/>
          <p:cNvSpPr/>
          <p:nvPr/>
        </p:nvSpPr>
        <p:spPr>
          <a:xfrm>
            <a:off x="457200" y="6126480"/>
            <a:ext cx="11274552" cy="585216"/>
          </a:xfrm>
          <a:prstGeom prst="rect">
            <a:avLst/>
          </a:prstGeom>
          <a:solidFill>
            <a:srgbClr val="EDF4FA"/>
          </a:solidFill>
          <a:ln/>
        </p:spPr>
      </p:sp>
      <p:sp>
        <p:nvSpPr>
          <p:cNvPr id="70" name="Text 68"/>
          <p:cNvSpPr txBox="1"/>
          <p:nvPr/>
        </p:nvSpPr>
        <p:spPr>
          <a:xfrm>
            <a:off x="658368" y="6144768"/>
            <a:ext cx="10927080" cy="54864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Ask Honda Flagstaff, Hyundai Prescott and Toyota Flagstaff what changed. Ask Toyota Spokane, VW St George and Nissan what got in the way. Ask Mazda, Honda North and Honda Spokane what they started this year.</a:t>
            </a:r>
            <a:endParaRPr lang="en-US" sz="1500" dirty="0"/>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377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390</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+13</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Manager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13 to 390, ahead of 2025 in eight of nine months. Managers fell 5.6%.</a:t>
            </a:r>
            <a:endParaRPr lang="en-US" sz="1600" dirty="0"/>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390</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276</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208610"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491</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9" name="Shape 17"/>
          <p:cNvSpPr/>
          <p:nvPr/>
        </p:nvSpPr>
        <p:spPr>
          <a:xfrm>
            <a:off x="3008376" y="2402586"/>
            <a:ext cx="90248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367</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3" name="Shape 21"/>
          <p:cNvSpPr/>
          <p:nvPr/>
        </p:nvSpPr>
        <p:spPr>
          <a:xfrm>
            <a:off x="3008376" y="2649474"/>
            <a:ext cx="81937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333</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7" name="Shape 25"/>
          <p:cNvSpPr/>
          <p:nvPr/>
        </p:nvSpPr>
        <p:spPr>
          <a:xfrm>
            <a:off x="3008376" y="2896362"/>
            <a:ext cx="717480"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291</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1" name="Shape 29"/>
          <p:cNvSpPr/>
          <p:nvPr/>
        </p:nvSpPr>
        <p:spPr>
          <a:xfrm>
            <a:off x="3008376" y="3143250"/>
            <a:ext cx="70790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619947"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488532"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3" name="Shape 41"/>
          <p:cNvSpPr/>
          <p:nvPr/>
        </p:nvSpPr>
        <p:spPr>
          <a:xfrm>
            <a:off x="3008376" y="3883914"/>
            <a:ext cx="3490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7" name="Shape 45"/>
          <p:cNvSpPr/>
          <p:nvPr/>
        </p:nvSpPr>
        <p:spPr>
          <a:xfrm>
            <a:off x="3008376" y="4130802"/>
            <a:ext cx="291998"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119</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1,022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58" name="Shape 56"/>
          <p:cNvSpPr/>
          <p:nvPr/>
        </p:nvSpPr>
        <p:spPr>
          <a:xfrm>
            <a:off x="3008376" y="4871466"/>
            <a:ext cx="124195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008376" y="5118354"/>
            <a:ext cx="1113250"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686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6" name="Shape 64"/>
          <p:cNvSpPr/>
          <p:nvPr/>
        </p:nvSpPr>
        <p:spPr>
          <a:xfrm>
            <a:off x="3008376" y="5365242"/>
            <a:ext cx="106636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657</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0" name="Shape 68"/>
          <p:cNvSpPr/>
          <p:nvPr/>
        </p:nvSpPr>
        <p:spPr>
          <a:xfrm>
            <a:off x="3008376" y="5612130"/>
            <a:ext cx="95845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74" name="Shape 72"/>
          <p:cNvSpPr/>
          <p:nvPr/>
        </p:nvSpPr>
        <p:spPr>
          <a:xfrm>
            <a:off x="3008376" y="5859018"/>
            <a:ext cx="908517"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560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8" name="Shape 76"/>
          <p:cNvSpPr/>
          <p:nvPr/>
        </p:nvSpPr>
        <p:spPr>
          <a:xfrm>
            <a:off x="3008376" y="6105906"/>
            <a:ext cx="693414"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418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84" name="Shape 82"/>
          <p:cNvSpPr/>
          <p:nvPr/>
        </p:nvSpPr>
        <p:spPr>
          <a:xfrm>
            <a:off x="8558784" y="2155698"/>
            <a:ext cx="647677" cy="123444"/>
          </a:xfrm>
          <a:prstGeom prst="rect">
            <a:avLst/>
          </a:prstGeom>
          <a:solidFill>
            <a:srgbClr val="C2352F"/>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636291" cy="123444"/>
          </a:xfrm>
          <a:prstGeom prst="rect">
            <a:avLst/>
          </a:prstGeom>
          <a:solidFill>
            <a:srgbClr val="C2352F"/>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392</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610998" cy="123444"/>
          </a:xfrm>
          <a:prstGeom prst="rect">
            <a:avLst/>
          </a:prstGeom>
          <a:solidFill>
            <a:srgbClr val="C2352F"/>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6" name="Shape 94"/>
          <p:cNvSpPr/>
          <p:nvPr/>
        </p:nvSpPr>
        <p:spPr>
          <a:xfrm>
            <a:off x="8558784" y="2896362"/>
            <a:ext cx="599576"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0" name="Shape 98"/>
          <p:cNvSpPr/>
          <p:nvPr/>
        </p:nvSpPr>
        <p:spPr>
          <a:xfrm>
            <a:off x="8558784" y="3143250"/>
            <a:ext cx="577815"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570170"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08" name="Shape 106"/>
          <p:cNvSpPr/>
          <p:nvPr/>
        </p:nvSpPr>
        <p:spPr>
          <a:xfrm>
            <a:off x="8558784" y="3637026"/>
            <a:ext cx="530626"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327</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12" name="Shape 110"/>
          <p:cNvSpPr/>
          <p:nvPr/>
        </p:nvSpPr>
        <p:spPr>
          <a:xfrm>
            <a:off x="8558784" y="3883914"/>
            <a:ext cx="500448"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308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485961"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299</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0" name="Shape 118"/>
          <p:cNvSpPr/>
          <p:nvPr/>
        </p:nvSpPr>
        <p:spPr>
          <a:xfrm>
            <a:off x="8558784" y="4377690"/>
            <a:ext cx="442919"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4" name="Shape 122"/>
          <p:cNvSpPr/>
          <p:nvPr/>
        </p:nvSpPr>
        <p:spPr>
          <a:xfrm>
            <a:off x="8558784" y="4624578"/>
            <a:ext cx="44147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272</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8" name="Shape 126"/>
          <p:cNvSpPr/>
          <p:nvPr/>
        </p:nvSpPr>
        <p:spPr>
          <a:xfrm>
            <a:off x="8558784" y="4871466"/>
            <a:ext cx="37723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2" name="Shape 130"/>
          <p:cNvSpPr/>
          <p:nvPr/>
        </p:nvSpPr>
        <p:spPr>
          <a:xfrm>
            <a:off x="8558784" y="5118354"/>
            <a:ext cx="373849"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36" name="Shape 134"/>
          <p:cNvSpPr/>
          <p:nvPr/>
        </p:nvSpPr>
        <p:spPr>
          <a:xfrm>
            <a:off x="8558784" y="5365242"/>
            <a:ext cx="35707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32991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44" name="Shape 142"/>
          <p:cNvSpPr/>
          <p:nvPr/>
        </p:nvSpPr>
        <p:spPr>
          <a:xfrm>
            <a:off x="8558784" y="5859018"/>
            <a:ext cx="312404"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249232"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50" name="Shape 148"/>
          <p:cNvSpPr/>
          <p:nvPr/>
        </p:nvSpPr>
        <p:spPr>
          <a:xfrm>
            <a:off x="3679521" y="2093976"/>
            <a:ext cx="14630" cy="2221992"/>
          </a:xfrm>
          <a:prstGeom prst="rect">
            <a:avLst/>
          </a:prstGeom>
          <a:solidFill>
            <a:srgbClr val="0B2C4A"/>
          </a:solidFill>
          <a:ln/>
        </p:spPr>
      </p:sp>
      <p:sp>
        <p:nvSpPr>
          <p:cNvPr id="151" name="Shape 149"/>
          <p:cNvSpPr/>
          <p:nvPr/>
        </p:nvSpPr>
        <p:spPr>
          <a:xfrm>
            <a:off x="3679521" y="4562856"/>
            <a:ext cx="14630" cy="1728216"/>
          </a:xfrm>
          <a:prstGeom prst="rect">
            <a:avLst/>
          </a:prstGeom>
          <a:solidFill>
            <a:srgbClr val="0B2C4A"/>
          </a:solidFill>
          <a:ln/>
        </p:spPr>
      </p:sp>
      <p:sp>
        <p:nvSpPr>
          <p:cNvPr id="152" name="Shape 150"/>
          <p:cNvSpPr/>
          <p:nvPr/>
        </p:nvSpPr>
        <p:spPr>
          <a:xfrm>
            <a:off x="9229929"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4442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MANAGER</a:t>
            </a:r>
            <a:endParaRPr lang="en-US" sz="1500" dirty="0"/>
          </a:p>
        </p:txBody>
      </p:sp>
      <p:sp>
        <p:nvSpPr>
          <p:cNvPr id="9" name="Text 7"/>
          <p:cNvSpPr txBox="1"/>
          <p:nvPr/>
        </p:nvSpPr>
        <p:spPr>
          <a:xfrm>
            <a:off x="4358640" y="1335024"/>
            <a:ext cx="36880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+13</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3785616" y="1911860"/>
            <a:ext cx="503191"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+182</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 name="Shape 15"/>
          <p:cNvSpPr/>
          <p:nvPr/>
        </p:nvSpPr>
        <p:spPr>
          <a:xfrm>
            <a:off x="3785616" y="2151755"/>
            <a:ext cx="469619"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+170</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21" name="Shape 19"/>
          <p:cNvSpPr/>
          <p:nvPr/>
        </p:nvSpPr>
        <p:spPr>
          <a:xfrm>
            <a:off x="3785616" y="2391651"/>
            <a:ext cx="335572"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+121</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5" name="Shape 23"/>
          <p:cNvSpPr/>
          <p:nvPr/>
        </p:nvSpPr>
        <p:spPr>
          <a:xfrm>
            <a:off x="3785616" y="2631546"/>
            <a:ext cx="330812"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+120</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9" name="Shape 27"/>
          <p:cNvSpPr/>
          <p:nvPr/>
        </p:nvSpPr>
        <p:spPr>
          <a:xfrm>
            <a:off x="3785616" y="2871442"/>
            <a:ext cx="322124"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+116</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33" name="Shape 31"/>
          <p:cNvSpPr/>
          <p:nvPr/>
        </p:nvSpPr>
        <p:spPr>
          <a:xfrm>
            <a:off x="3785616" y="3111337"/>
            <a:ext cx="146890"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785616" y="3351233"/>
            <a:ext cx="13212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41" name="Shape 39"/>
          <p:cNvSpPr/>
          <p:nvPr/>
        </p:nvSpPr>
        <p:spPr>
          <a:xfrm>
            <a:off x="3785616" y="3591128"/>
            <a:ext cx="129359"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+47</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45" name="Shape 43"/>
          <p:cNvSpPr/>
          <p:nvPr/>
        </p:nvSpPr>
        <p:spPr>
          <a:xfrm>
            <a:off x="3785616" y="3831024"/>
            <a:ext cx="122411"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+44</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785616" y="4070920"/>
            <a:ext cx="105953"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3" name="Shape 51"/>
          <p:cNvSpPr/>
          <p:nvPr/>
        </p:nvSpPr>
        <p:spPr>
          <a:xfrm>
            <a:off x="3785616" y="4310815"/>
            <a:ext cx="63458"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550711"/>
            <a:ext cx="48093"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61" name="Shape 59"/>
          <p:cNvSpPr/>
          <p:nvPr/>
        </p:nvSpPr>
        <p:spPr>
          <a:xfrm>
            <a:off x="3785616" y="4790606"/>
            <a:ext cx="39795"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5" name="Shape 63"/>
          <p:cNvSpPr/>
          <p:nvPr/>
        </p:nvSpPr>
        <p:spPr>
          <a:xfrm>
            <a:off x="3785616" y="5030502"/>
            <a:ext cx="29040"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270397"/>
            <a:ext cx="28477"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510293"/>
            <a:ext cx="14904"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7" name="Shape 75"/>
          <p:cNvSpPr/>
          <p:nvPr/>
        </p:nvSpPr>
        <p:spPr>
          <a:xfrm>
            <a:off x="3785616" y="5750188"/>
            <a:ext cx="12802"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1" name="Shape 79"/>
          <p:cNvSpPr/>
          <p:nvPr/>
        </p:nvSpPr>
        <p:spPr>
          <a:xfrm>
            <a:off x="9336024" y="1911860"/>
            <a:ext cx="12802"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5" name="Shape 83"/>
          <p:cNvSpPr/>
          <p:nvPr/>
        </p:nvSpPr>
        <p:spPr>
          <a:xfrm>
            <a:off x="9336024" y="2151755"/>
            <a:ext cx="12802"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9" name="Shape 87"/>
          <p:cNvSpPr/>
          <p:nvPr/>
        </p:nvSpPr>
        <p:spPr>
          <a:xfrm>
            <a:off x="9336024" y="2391651"/>
            <a:ext cx="12802"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3" name="Shape 91"/>
          <p:cNvSpPr/>
          <p:nvPr/>
        </p:nvSpPr>
        <p:spPr>
          <a:xfrm>
            <a:off x="9336024" y="2631546"/>
            <a:ext cx="12802"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871442"/>
            <a:ext cx="12802"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1" name="Shape 99"/>
          <p:cNvSpPr/>
          <p:nvPr/>
        </p:nvSpPr>
        <p:spPr>
          <a:xfrm>
            <a:off x="9321794" y="3111337"/>
            <a:ext cx="14230"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9260296" y="3351233"/>
            <a:ext cx="75728"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−27</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09" name="Shape 107"/>
          <p:cNvSpPr/>
          <p:nvPr/>
        </p:nvSpPr>
        <p:spPr>
          <a:xfrm>
            <a:off x="9258738" y="3591128"/>
            <a:ext cx="77286"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3" name="Shape 111"/>
          <p:cNvSpPr/>
          <p:nvPr/>
        </p:nvSpPr>
        <p:spPr>
          <a:xfrm>
            <a:off x="9257048" y="3831024"/>
            <a:ext cx="78976"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17" name="Shape 115"/>
          <p:cNvSpPr/>
          <p:nvPr/>
        </p:nvSpPr>
        <p:spPr>
          <a:xfrm>
            <a:off x="9246915" y="4070920"/>
            <a:ext cx="89109"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−32</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9238712" y="4310815"/>
            <a:ext cx="97312"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−35</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5" name="Shape 123"/>
          <p:cNvSpPr/>
          <p:nvPr/>
        </p:nvSpPr>
        <p:spPr>
          <a:xfrm>
            <a:off x="9192589" y="4550711"/>
            <a:ext cx="143435"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181874" y="4790606"/>
            <a:ext cx="154150"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−56</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3" name="Shape 131"/>
          <p:cNvSpPr/>
          <p:nvPr/>
        </p:nvSpPr>
        <p:spPr>
          <a:xfrm>
            <a:off x="9137803" y="5030502"/>
            <a:ext cx="198221"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−72</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7" name="Shape 135"/>
          <p:cNvSpPr/>
          <p:nvPr/>
        </p:nvSpPr>
        <p:spPr>
          <a:xfrm>
            <a:off x="9074707" y="5270397"/>
            <a:ext cx="261317"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−94</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1" name="Shape 139"/>
          <p:cNvSpPr/>
          <p:nvPr/>
        </p:nvSpPr>
        <p:spPr>
          <a:xfrm>
            <a:off x="8558784" y="5510293"/>
            <a:ext cx="777240"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−281</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manager, led by Toyota Henderson at +182 to 1,022. 11 declined; Mazda fell most at −281.</a:t>
            </a:r>
            <a:endParaRPr lang="en-US" sz="1600" dirty="0"/>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MANAGER</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Manager</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1,022</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+182</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686</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+170</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Shape 16"/>
          <p:cNvSpPr/>
          <p:nvPr/>
        </p:nvSpPr>
        <p:spPr>
          <a:xfrm>
            <a:off x="4084320" y="3650285"/>
            <a:ext cx="64008" cy="682142"/>
          </a:xfrm>
          <a:prstGeom prst="rect">
            <a:avLst/>
          </a:prstGeom>
          <a:solidFill>
            <a:srgbClr val="12A566"/>
          </a:solidFill>
          <a:ln/>
        </p:spPr>
      </p:sp>
      <p:sp>
        <p:nvSpPr>
          <p:cNvPr id="19" name="Text 17"/>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657</a:t>
            </a:r>
            <a:endParaRPr lang="en-US" sz="1400" dirty="0"/>
          </a:p>
        </p:txBody>
      </p:sp>
      <p:sp>
        <p:nvSpPr>
          <p:cNvPr id="21" name="Text 19"/>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+121</a:t>
            </a:r>
            <a:endParaRPr lang="en-US" sz="1600" dirty="0"/>
          </a:p>
        </p:txBody>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591</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+120</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Shape 24"/>
          <p:cNvSpPr/>
          <p:nvPr/>
        </p:nvSpPr>
        <p:spPr>
          <a:xfrm>
            <a:off x="4084320" y="5160874"/>
            <a:ext cx="64008" cy="682142"/>
          </a:xfrm>
          <a:prstGeom prst="rect">
            <a:avLst/>
          </a:prstGeom>
          <a:solidFill>
            <a:srgbClr val="12A566"/>
          </a:solidFill>
          <a:ln/>
        </p:spPr>
      </p:sp>
      <p:sp>
        <p:nvSpPr>
          <p:cNvPr id="27" name="Text 25"/>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8" name="Text 26"/>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765</a:t>
            </a:r>
            <a:endParaRPr lang="en-US" sz="1400" dirty="0"/>
          </a:p>
        </p:txBody>
      </p:sp>
      <p:sp>
        <p:nvSpPr>
          <p:cNvPr id="29" name="Text 27"/>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+116</a:t>
            </a:r>
            <a:endParaRPr lang="en-US" sz="1600" dirty="0"/>
          </a:p>
        </p:txBody>
      </p:sp>
      <p:sp>
        <p:nvSpPr>
          <p:cNvPr id="30" name="Shape 28"/>
          <p:cNvSpPr/>
          <p:nvPr/>
        </p:nvSpPr>
        <p:spPr>
          <a:xfrm>
            <a:off x="4349496" y="1371600"/>
            <a:ext cx="3489960" cy="45720"/>
          </a:xfrm>
          <a:prstGeom prst="rect">
            <a:avLst/>
          </a:prstGeom>
          <a:solidFill>
            <a:srgbClr val="C2352F"/>
          </a:solidFill>
          <a:ln/>
        </p:spPr>
      </p:sp>
      <p:sp>
        <p:nvSpPr>
          <p:cNvPr id="31" name="Text 29"/>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2" name="Text 30"/>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3" name="Shape 31"/>
          <p:cNvSpPr/>
          <p:nvPr/>
        </p:nvSpPr>
        <p:spPr>
          <a:xfrm>
            <a:off x="4349496" y="2103120"/>
            <a:ext cx="3489960" cy="755294"/>
          </a:xfrm>
          <a:prstGeom prst="rect">
            <a:avLst/>
          </a:prstGeom>
          <a:solidFill>
            <a:srgbClr val="F7F7F7"/>
          </a:solidFill>
          <a:ln/>
        </p:spPr>
      </p:sp>
      <p:sp>
        <p:nvSpPr>
          <p:cNvPr id="34" name="Text 32"/>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560</a:t>
            </a:r>
            <a:endParaRPr lang="en-US" sz="1400" dirty="0"/>
          </a:p>
        </p:txBody>
      </p:sp>
      <p:sp>
        <p:nvSpPr>
          <p:cNvPr id="36" name="Text 34"/>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−281</a:t>
            </a:r>
            <a:endParaRPr lang="en-US" sz="1600" dirty="0"/>
          </a:p>
        </p:txBody>
      </p:sp>
      <p:sp>
        <p:nvSpPr>
          <p:cNvPr id="37" name="Text 35"/>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308</a:t>
            </a:r>
            <a:endParaRPr lang="en-US" sz="1400" dirty="0"/>
          </a:p>
        </p:txBody>
      </p:sp>
      <p:sp>
        <p:nvSpPr>
          <p:cNvPr id="39" name="Text 37"/>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−94</a:t>
            </a:r>
            <a:endParaRPr lang="en-US" sz="1600" dirty="0"/>
          </a:p>
        </p:txBody>
      </p:sp>
      <p:sp>
        <p:nvSpPr>
          <p:cNvPr id="40" name="Shape 38"/>
          <p:cNvSpPr/>
          <p:nvPr/>
        </p:nvSpPr>
        <p:spPr>
          <a:xfrm>
            <a:off x="4349496" y="3613709"/>
            <a:ext cx="3489960" cy="755294"/>
          </a:xfrm>
          <a:prstGeom prst="rect">
            <a:avLst/>
          </a:prstGeom>
          <a:solidFill>
            <a:srgbClr val="F7F7F7"/>
          </a:solidFill>
          <a:ln/>
        </p:spPr>
      </p:sp>
      <p:sp>
        <p:nvSpPr>
          <p:cNvPr id="41" name="Text 39"/>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376</a:t>
            </a:r>
            <a:endParaRPr lang="en-US" sz="1400" dirty="0"/>
          </a:p>
        </p:txBody>
      </p:sp>
      <p:sp>
        <p:nvSpPr>
          <p:cNvPr id="43" name="Text 41"/>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−72</a:t>
            </a:r>
            <a:endParaRPr lang="en-US" sz="1600" dirty="0"/>
          </a:p>
        </p:txBody>
      </p:sp>
      <p:sp>
        <p:nvSpPr>
          <p:cNvPr id="44" name="Text 42"/>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448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392</a:t>
            </a:r>
            <a:endParaRPr lang="en-US" sz="1400" dirty="0"/>
          </a:p>
        </p:txBody>
      </p:sp>
      <p:sp>
        <p:nvSpPr>
          <p:cNvPr id="46" name="Text 44"/>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−56</a:t>
            </a:r>
            <a:endParaRPr lang="en-US" sz="1600" dirty="0"/>
          </a:p>
        </p:txBody>
      </p:sp>
      <p:sp>
        <p:nvSpPr>
          <p:cNvPr id="47" name="Shape 45"/>
          <p:cNvSpPr/>
          <p:nvPr/>
        </p:nvSpPr>
        <p:spPr>
          <a:xfrm>
            <a:off x="4349496" y="5124298"/>
            <a:ext cx="3489960" cy="755294"/>
          </a:xfrm>
          <a:prstGeom prst="rect">
            <a:avLst/>
          </a:prstGeom>
          <a:solidFill>
            <a:srgbClr val="F7F7F7"/>
          </a:solidFill>
          <a:ln/>
        </p:spPr>
      </p:sp>
      <p:sp>
        <p:nvSpPr>
          <p:cNvPr id="48" name="Text 46"/>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351</a:t>
            </a:r>
            <a:endParaRPr lang="en-US" sz="1400" dirty="0"/>
          </a:p>
        </p:txBody>
      </p:sp>
      <p:sp>
        <p:nvSpPr>
          <p:cNvPr id="50" name="Text 48"/>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4" name="Shape 52"/>
          <p:cNvSpPr/>
          <p:nvPr/>
        </p:nvSpPr>
        <p:spPr>
          <a:xfrm>
            <a:off x="8040624" y="2103120"/>
            <a:ext cx="3489960" cy="755294"/>
          </a:xfrm>
          <a:prstGeom prst="rect">
            <a:avLst/>
          </a:prstGeom>
          <a:solidFill>
            <a:srgbClr val="F7F7F7"/>
          </a:solidFill>
          <a:ln/>
        </p:spPr>
      </p:sp>
      <p:sp>
        <p:nvSpPr>
          <p:cNvPr id="55" name="Shape 53"/>
          <p:cNvSpPr/>
          <p:nvPr/>
        </p:nvSpPr>
        <p:spPr>
          <a:xfrm>
            <a:off x="11466576" y="2139696"/>
            <a:ext cx="64008" cy="682142"/>
          </a:xfrm>
          <a:prstGeom prst="rect">
            <a:avLst/>
          </a:prstGeom>
          <a:solidFill>
            <a:srgbClr val="12A566"/>
          </a:solidFill>
          <a:ln/>
        </p:spPr>
      </p:sp>
      <p:sp>
        <p:nvSpPr>
          <p:cNvPr id="56" name="Text 54"/>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854</a:t>
            </a:r>
            <a:endParaRPr lang="en-US" sz="1400" dirty="0"/>
          </a:p>
        </p:txBody>
      </p:sp>
      <p:sp>
        <p:nvSpPr>
          <p:cNvPr id="58" name="Text 56"/>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+339</a:t>
            </a:r>
            <a:endParaRPr lang="en-US" sz="1600" dirty="0"/>
          </a:p>
        </p:txBody>
      </p:sp>
      <p:sp>
        <p:nvSpPr>
          <p:cNvPr id="59" name="Shape 57"/>
          <p:cNvSpPr/>
          <p:nvPr/>
        </p:nvSpPr>
        <p:spPr>
          <a:xfrm>
            <a:off x="11466576" y="2894990"/>
            <a:ext cx="64008" cy="682142"/>
          </a:xfrm>
          <a:prstGeom prst="rect">
            <a:avLst/>
          </a:prstGeom>
          <a:solidFill>
            <a:srgbClr val="12A566"/>
          </a:solidFill>
          <a:ln/>
        </p:spPr>
      </p:sp>
      <p:sp>
        <p:nvSpPr>
          <p:cNvPr id="60" name="Text 58"/>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1,134</a:t>
            </a:r>
            <a:endParaRPr lang="en-US" sz="1400" dirty="0"/>
          </a:p>
        </p:txBody>
      </p:sp>
      <p:sp>
        <p:nvSpPr>
          <p:cNvPr id="62" name="Text 60"/>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+235</a:t>
            </a:r>
            <a:endParaRPr lang="en-US" sz="1600" dirty="0"/>
          </a:p>
        </p:txBody>
      </p:sp>
      <p:sp>
        <p:nvSpPr>
          <p:cNvPr id="63" name="Shape 61"/>
          <p:cNvSpPr/>
          <p:nvPr/>
        </p:nvSpPr>
        <p:spPr>
          <a:xfrm>
            <a:off x="8040624" y="3613709"/>
            <a:ext cx="3489960" cy="755294"/>
          </a:xfrm>
          <a:prstGeom prst="rect">
            <a:avLst/>
          </a:prstGeom>
          <a:solidFill>
            <a:srgbClr val="F7F7F7"/>
          </a:solidFill>
          <a:ln/>
        </p:spPr>
      </p:sp>
      <p:sp>
        <p:nvSpPr>
          <p:cNvPr id="64" name="Text 62"/>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5" name="Text 63"/>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326</a:t>
            </a:r>
            <a:endParaRPr lang="en-US" sz="1400" dirty="0"/>
          </a:p>
        </p:txBody>
      </p:sp>
      <p:sp>
        <p:nvSpPr>
          <p:cNvPr id="66" name="Text 64"/>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+168</a:t>
            </a:r>
            <a:endParaRPr lang="en-US" sz="1600" dirty="0"/>
          </a:p>
        </p:txBody>
      </p:sp>
      <p:sp>
        <p:nvSpPr>
          <p:cNvPr id="67" name="Text 65"/>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8" name="Text 66"/>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264</a:t>
            </a:r>
            <a:endParaRPr lang="en-US" sz="1400" dirty="0"/>
          </a:p>
        </p:txBody>
      </p:sp>
      <p:sp>
        <p:nvSpPr>
          <p:cNvPr id="69" name="Text 67"/>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0" name="Shape 68"/>
          <p:cNvSpPr/>
          <p:nvPr/>
        </p:nvSpPr>
        <p:spPr>
          <a:xfrm>
            <a:off x="8040624" y="5124298"/>
            <a:ext cx="3489960" cy="755294"/>
          </a:xfrm>
          <a:prstGeom prst="rect">
            <a:avLst/>
          </a:prstGeom>
          <a:solidFill>
            <a:srgbClr val="F7F7F7"/>
          </a:solidFill>
          <a:ln/>
        </p:spPr>
      </p:sp>
      <p:sp>
        <p:nvSpPr>
          <p:cNvPr id="71" name="Shape 69"/>
          <p:cNvSpPr/>
          <p:nvPr/>
        </p:nvSpPr>
        <p:spPr>
          <a:xfrm>
            <a:off x="11466576" y="5160874"/>
            <a:ext cx="64008" cy="682142"/>
          </a:xfrm>
          <a:prstGeom prst="rect">
            <a:avLst/>
          </a:prstGeom>
          <a:solidFill>
            <a:srgbClr val="12A566"/>
          </a:solidFill>
          <a:ln/>
        </p:spPr>
      </p:sp>
      <p:sp>
        <p:nvSpPr>
          <p:cNvPr id="72" name="Text 70"/>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814</a:t>
            </a:r>
            <a:endParaRPr lang="en-US" sz="1400" dirty="0"/>
          </a:p>
        </p:txBody>
      </p:sp>
      <p:sp>
        <p:nvSpPr>
          <p:cNvPr id="74" name="Text 72"/>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+97</a:t>
            </a:r>
            <a:endParaRPr lang="en-US" sz="1600" dirty="0"/>
          </a:p>
        </p:txBody>
      </p:sp>
      <p:sp>
        <p:nvSpPr>
          <p:cNvPr id="75" name="Shape 73"/>
          <p:cNvSpPr/>
          <p:nvPr/>
        </p:nvSpPr>
        <p:spPr>
          <a:xfrm>
            <a:off x="457200" y="6126480"/>
            <a:ext cx="11274552" cy="554736"/>
          </a:xfrm>
          <a:prstGeom prst="rect">
            <a:avLst/>
          </a:prstGeom>
          <a:solidFill>
            <a:srgbClr val="EDF4FA"/>
          </a:solidFill>
          <a:ln/>
        </p:spPr>
      </p:sp>
      <p:sp>
        <p:nvSpPr>
          <p:cNvPr id="76" name="Text 74"/>
          <p:cNvSpPr txBox="1"/>
          <p:nvPr/>
        </p:nvSpPr>
        <p:spPr>
          <a:xfrm>
            <a:off x="658368" y="6144768"/>
            <a:ext cx="10927080" cy="51816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Ask Toyota Henderson, Toyota Spokane and Toyota Prescott what changed. Ask Mazda, Subaru St George and Honda Spokane what got in the way. Ask Toyota Prescott, Toyota Henderson and VW St George what they started this year.</a:t>
            </a:r>
            <a:endParaRPr lang="en-US" sz="1400" dirty="0"/>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26.8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+0.8</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+3.0%</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&amp; W ROs per Fixed Employee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a:graphicData uri="http://schemas.openxmlformats.org/drawingml/2006/chart">
            <c:chart xmlns:c="http://schemas.openxmlformats.org/drawingml/2006/chart" r:id="rId2"/>
          </a:graphicData>
        </a:graphic>
      </p:graphicFrame>
      <p:graphicFrame>
        <p:nvGraphicFramePr>
          <p:cNvPr id="18" name="Chart 1" descr=""/>
          <p:cNvGraphicFramePr/>
          <p:nvPr/>
        </p:nvGraphicFramePr>
        <p:xfrm>
          <a:off x="621792" y="3218688"/>
          <a:ext cx="10945368" cy="2679192"/>
        </p:xfrm>
        <a:graphic>
          <a:graphicData uri="http://schemas.openxmlformats.org/drawingml/2006/chart">
            <c:chart xmlns:c="http://schemas.openxmlformats.org/drawingml/2006/chart" r:id="rId3"/>
          </a:graphicData>
        </a:graphic>
      </p:graphicFrame>
      <p:graphicFrame>
        <p:nvGraphicFramePr>
          <p:cNvPr id="19" name="Chart 2" descr=""/>
          <p:cNvGraphicFramePr/>
          <p:nvPr/>
        </p:nvGraphicFramePr>
        <p:xfrm>
          <a:off x="621792" y="3218688"/>
          <a:ext cx="10945368" cy="2679192"/>
        </p:xfrm>
        <a:graphic>
          <a:graphicData uri="http://schemas.openxmlformats.org/drawingml/2006/chart">
            <c:chart xmlns:c="http://schemas.openxmlformats.org/drawingml/2006/chart" r:id="rId4"/>
          </a:graphicData>
        </a:graphic>
      </p:graphicFrame>
      <p:graphicFrame>
        <p:nvGraphicFramePr>
          <p:cNvPr id="20" name="Chart 3" descr=""/>
          <p:cNvGraphicFramePr/>
          <p:nvPr/>
        </p:nvGraphicFramePr>
        <p:xfrm>
          <a:off x="621792" y="3218688"/>
          <a:ext cx="10945368" cy="2679192"/>
        </p:xfrm>
        <a:graphic>
          <a:graphicData uri="http://schemas.openxmlformats.org/drawingml/2006/chart">
            <c:chart xmlns:c="http://schemas.openxmlformats.org/drawingml/2006/chart" r:id="rId5"/>
          </a:graphicData>
        </a:graphic>
      </p:graphicFrame>
      <p:graphicFrame>
        <p:nvGraphicFramePr>
          <p:cNvPr id="21" name="Chart 4" descr=""/>
          <p:cNvGraphicFramePr/>
          <p:nvPr/>
        </p:nvGraphicFramePr>
        <p:xfrm>
          <a:off x="621792" y="3218688"/>
          <a:ext cx="10945368" cy="2679192"/>
        </p:xfrm>
        <a:graphic>
          <a:graphicData uri="http://schemas.openxmlformats.org/drawingml/2006/chart">
            <c:chart xmlns:c="http://schemas.openxmlformats.org/drawingml/2006/chart" r:id="rId6"/>
          </a:graphicData>
        </a:graphic>
      </p:graphicFrame>
      <p:graphicFrame>
        <p:nvGraphicFramePr>
          <p:cNvPr id="22" name="Chart 5" descr=""/>
          <p:cNvGraphicFramePr/>
          <p:nvPr/>
        </p:nvGraphicFramePr>
        <p:xfrm>
          <a:off x="621792" y="3218688"/>
          <a:ext cx="10945368" cy="2679192"/>
        </p:xfrm>
        <a:graphic>
          <a:graphicData uri="http://schemas.openxmlformats.org/drawingml/2006/chart">
            <c:chart xmlns:c="http://schemas.openxmlformats.org/drawingml/2006/chart" r:id="rId7"/>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0.8 to 26.8, ahead of 2025 in eight of nine months. Headcount fell 5.1%; ROs fell 2.3%.</a:t>
            </a:r>
            <a:endParaRPr lang="en-US" sz="1600" dirty="0"/>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26.8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17.4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9" name="Shape 17"/>
          <p:cNvSpPr/>
          <p:nvPr/>
        </p:nvSpPr>
        <p:spPr>
          <a:xfrm>
            <a:off x="3008376" y="2402586"/>
            <a:ext cx="163115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23" name="Shape 21"/>
          <p:cNvSpPr/>
          <p:nvPr/>
        </p:nvSpPr>
        <p:spPr>
          <a:xfrm>
            <a:off x="3008376" y="2649474"/>
            <a:ext cx="129216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008376" y="2896362"/>
            <a:ext cx="1269367"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19.0</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1" name="Shape 29"/>
          <p:cNvSpPr/>
          <p:nvPr/>
        </p:nvSpPr>
        <p:spPr>
          <a:xfrm>
            <a:off x="3008376" y="3143250"/>
            <a:ext cx="1120679"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5" name="Shape 33"/>
          <p:cNvSpPr/>
          <p:nvPr/>
        </p:nvSpPr>
        <p:spPr>
          <a:xfrm>
            <a:off x="3008376" y="3390138"/>
            <a:ext cx="98218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9" name="Shape 37"/>
          <p:cNvSpPr/>
          <p:nvPr/>
        </p:nvSpPr>
        <p:spPr>
          <a:xfrm>
            <a:off x="3008376" y="3637026"/>
            <a:ext cx="981891"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81057"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7" name="Shape 45"/>
          <p:cNvSpPr/>
          <p:nvPr/>
        </p:nvSpPr>
        <p:spPr>
          <a:xfrm>
            <a:off x="3008376" y="4130802"/>
            <a:ext cx="910335"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4" name="Shape 52"/>
          <p:cNvSpPr/>
          <p:nvPr/>
        </p:nvSpPr>
        <p:spPr>
          <a:xfrm>
            <a:off x="3008376" y="4624578"/>
            <a:ext cx="1584948"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39.8</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8" name="Shape 56"/>
          <p:cNvSpPr/>
          <p:nvPr/>
        </p:nvSpPr>
        <p:spPr>
          <a:xfrm>
            <a:off x="3008376" y="4871466"/>
            <a:ext cx="1531944"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38.5</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62" name="Shape 60"/>
          <p:cNvSpPr/>
          <p:nvPr/>
        </p:nvSpPr>
        <p:spPr>
          <a:xfrm>
            <a:off x="3008376" y="5118354"/>
            <a:ext cx="148873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465284"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36.8</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70" name="Shape 68"/>
          <p:cNvSpPr/>
          <p:nvPr/>
        </p:nvSpPr>
        <p:spPr>
          <a:xfrm>
            <a:off x="3008376" y="5612130"/>
            <a:ext cx="1453454"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36.5</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92914"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35.0</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78" name="Shape 76"/>
          <p:cNvSpPr/>
          <p:nvPr/>
        </p:nvSpPr>
        <p:spPr>
          <a:xfrm>
            <a:off x="3008376" y="6105906"/>
            <a:ext cx="138209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34.7</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29.3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4" name="Shape 82"/>
          <p:cNvSpPr/>
          <p:nvPr/>
        </p:nvSpPr>
        <p:spPr>
          <a:xfrm>
            <a:off x="8558784" y="2155698"/>
            <a:ext cx="1290776"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8" name="Shape 86"/>
          <p:cNvSpPr/>
          <p:nvPr/>
        </p:nvSpPr>
        <p:spPr>
          <a:xfrm>
            <a:off x="8558784" y="2402586"/>
            <a:ext cx="1250314"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2" name="Shape 90"/>
          <p:cNvSpPr/>
          <p:nvPr/>
        </p:nvSpPr>
        <p:spPr>
          <a:xfrm>
            <a:off x="8558784" y="2649474"/>
            <a:ext cx="124990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6" name="Shape 94"/>
          <p:cNvSpPr/>
          <p:nvPr/>
        </p:nvSpPr>
        <p:spPr>
          <a:xfrm>
            <a:off x="8558784" y="2896362"/>
            <a:ext cx="124940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0" name="Shape 98"/>
          <p:cNvSpPr/>
          <p:nvPr/>
        </p:nvSpPr>
        <p:spPr>
          <a:xfrm>
            <a:off x="8558784" y="3143250"/>
            <a:ext cx="1244020"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4" name="Shape 102"/>
          <p:cNvSpPr/>
          <p:nvPr/>
        </p:nvSpPr>
        <p:spPr>
          <a:xfrm>
            <a:off x="8558784" y="3390138"/>
            <a:ext cx="123759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8" name="Shape 106"/>
          <p:cNvSpPr/>
          <p:nvPr/>
        </p:nvSpPr>
        <p:spPr>
          <a:xfrm>
            <a:off x="8558784" y="3637026"/>
            <a:ext cx="1215849"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30.6</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2" name="Shape 110"/>
          <p:cNvSpPr/>
          <p:nvPr/>
        </p:nvSpPr>
        <p:spPr>
          <a:xfrm>
            <a:off x="8558784" y="3883914"/>
            <a:ext cx="114686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6" name="Shape 114"/>
          <p:cNvSpPr/>
          <p:nvPr/>
        </p:nvSpPr>
        <p:spPr>
          <a:xfrm>
            <a:off x="8558784" y="4130802"/>
            <a:ext cx="112293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28.2</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0" name="Shape 118"/>
          <p:cNvSpPr/>
          <p:nvPr/>
        </p:nvSpPr>
        <p:spPr>
          <a:xfrm>
            <a:off x="8558784" y="4377690"/>
            <a:ext cx="1013406"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25.5</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4" name="Shape 122"/>
          <p:cNvSpPr/>
          <p:nvPr/>
        </p:nvSpPr>
        <p:spPr>
          <a:xfrm>
            <a:off x="8558784" y="4624578"/>
            <a:ext cx="940756"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23.6</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8" name="Shape 126"/>
          <p:cNvSpPr/>
          <p:nvPr/>
        </p:nvSpPr>
        <p:spPr>
          <a:xfrm>
            <a:off x="8558784" y="4871466"/>
            <a:ext cx="900750"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32" name="Shape 130"/>
          <p:cNvSpPr/>
          <p:nvPr/>
        </p:nvSpPr>
        <p:spPr>
          <a:xfrm>
            <a:off x="8558784" y="5118354"/>
            <a:ext cx="880007"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83228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20.9</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0" name="Shape 138"/>
          <p:cNvSpPr/>
          <p:nvPr/>
        </p:nvSpPr>
        <p:spPr>
          <a:xfrm>
            <a:off x="8558784" y="5612130"/>
            <a:ext cx="808680"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20.3</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44" name="Shape 142"/>
          <p:cNvSpPr/>
          <p:nvPr/>
        </p:nvSpPr>
        <p:spPr>
          <a:xfrm>
            <a:off x="8558784" y="5859018"/>
            <a:ext cx="763360"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19.2</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48" name="Shape 146"/>
          <p:cNvSpPr/>
          <p:nvPr/>
        </p:nvSpPr>
        <p:spPr>
          <a:xfrm>
            <a:off x="8558784" y="6105906"/>
            <a:ext cx="690045"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17.3</a:t>
            </a:r>
            <a:endParaRPr lang="en-US" sz="1200" dirty="0"/>
          </a:p>
        </p:txBody>
      </p:sp>
      <p:sp>
        <p:nvSpPr>
          <p:cNvPr id="150" name="Shape 148"/>
          <p:cNvSpPr/>
          <p:nvPr/>
        </p:nvSpPr>
        <p:spPr>
          <a:xfrm>
            <a:off x="4164984" y="2093976"/>
            <a:ext cx="14630" cy="2221992"/>
          </a:xfrm>
          <a:prstGeom prst="rect">
            <a:avLst/>
          </a:prstGeom>
          <a:solidFill>
            <a:srgbClr val="0B2C4A"/>
          </a:solidFill>
          <a:ln/>
        </p:spPr>
      </p:sp>
      <p:sp>
        <p:nvSpPr>
          <p:cNvPr id="151" name="Shape 149"/>
          <p:cNvSpPr/>
          <p:nvPr/>
        </p:nvSpPr>
        <p:spPr>
          <a:xfrm>
            <a:off x="4164984" y="4562856"/>
            <a:ext cx="14630" cy="1728216"/>
          </a:xfrm>
          <a:prstGeom prst="rect">
            <a:avLst/>
          </a:prstGeom>
          <a:solidFill>
            <a:srgbClr val="0B2C4A"/>
          </a:solidFill>
          <a:ln/>
        </p:spPr>
      </p:sp>
      <p:sp>
        <p:nvSpPr>
          <p:cNvPr id="152" name="Shape 150"/>
          <p:cNvSpPr/>
          <p:nvPr/>
        </p:nvSpPr>
        <p:spPr>
          <a:xfrm>
            <a:off x="9715392"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356235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&amp; W ROS PER FIXED EMPLOYEE</a:t>
            </a:r>
            <a:endParaRPr lang="en-US" sz="1500" dirty="0"/>
          </a:p>
        </p:txBody>
      </p:sp>
      <p:sp>
        <p:nvSpPr>
          <p:cNvPr id="9" name="Text 7"/>
          <p:cNvSpPr txBox="1"/>
          <p:nvPr/>
        </p:nvSpPr>
        <p:spPr>
          <a:xfrm>
            <a:off x="4476750" y="1335024"/>
            <a:ext cx="356997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+0.8</a:t>
            </a:r>
            <a:endParaRPr lang="en-US" sz="2000" dirty="0"/>
          </a:p>
        </p:txBody>
      </p:sp>
      <p:sp>
        <p:nvSpPr>
          <p:cNvPr id="11" name="Text 9"/>
          <p:cNvSpPr txBox="1"/>
          <p:nvPr/>
        </p:nvSpPr>
        <p:spPr>
          <a:xfrm>
            <a:off x="658368"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 name="Shape 11"/>
          <p:cNvSpPr/>
          <p:nvPr/>
        </p:nvSpPr>
        <p:spPr>
          <a:xfrm>
            <a:off x="3785616" y="1911860"/>
            <a:ext cx="777240" cy="110352"/>
          </a:xfrm>
          <a:prstGeom prst="rect">
            <a:avLst/>
          </a:prstGeom>
          <a:solidFill>
            <a:srgbClr val="12A566"/>
          </a:solidFill>
          <a:ln/>
        </p:spPr>
      </p:sp>
      <p:sp>
        <p:nvSpPr>
          <p:cNvPr id="14" name="Text 12"/>
          <p:cNvSpPr txBox="1"/>
          <p:nvPr/>
        </p:nvSpPr>
        <p:spPr>
          <a:xfrm>
            <a:off x="4617720"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15" name="Text 13"/>
          <p:cNvSpPr txBox="1"/>
          <p:nvPr/>
        </p:nvSpPr>
        <p:spPr>
          <a:xfrm>
            <a:off x="658368"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 name="Shape 15"/>
          <p:cNvSpPr/>
          <p:nvPr/>
        </p:nvSpPr>
        <p:spPr>
          <a:xfrm>
            <a:off x="3785616" y="2151755"/>
            <a:ext cx="544934" cy="110352"/>
          </a:xfrm>
          <a:prstGeom prst="rect">
            <a:avLst/>
          </a:prstGeom>
          <a:solidFill>
            <a:srgbClr val="12A566"/>
          </a:solidFill>
          <a:ln/>
        </p:spPr>
      </p:sp>
      <p:sp>
        <p:nvSpPr>
          <p:cNvPr id="18" name="Text 16"/>
          <p:cNvSpPr txBox="1"/>
          <p:nvPr/>
        </p:nvSpPr>
        <p:spPr>
          <a:xfrm>
            <a:off x="4617720"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19" name="Text 17"/>
          <p:cNvSpPr txBox="1"/>
          <p:nvPr/>
        </p:nvSpPr>
        <p:spPr>
          <a:xfrm>
            <a:off x="658368"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1" name="Shape 19"/>
          <p:cNvSpPr/>
          <p:nvPr/>
        </p:nvSpPr>
        <p:spPr>
          <a:xfrm>
            <a:off x="3785616" y="2391651"/>
            <a:ext cx="430045" cy="110352"/>
          </a:xfrm>
          <a:prstGeom prst="rect">
            <a:avLst/>
          </a:prstGeom>
          <a:solidFill>
            <a:srgbClr val="12A566"/>
          </a:solidFill>
          <a:ln/>
        </p:spPr>
      </p:sp>
      <p:sp>
        <p:nvSpPr>
          <p:cNvPr id="22" name="Text 20"/>
          <p:cNvSpPr txBox="1"/>
          <p:nvPr/>
        </p:nvSpPr>
        <p:spPr>
          <a:xfrm>
            <a:off x="4617720"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23" name="Text 21"/>
          <p:cNvSpPr txBox="1"/>
          <p:nvPr/>
        </p:nvSpPr>
        <p:spPr>
          <a:xfrm>
            <a:off x="658368"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631546"/>
            <a:ext cx="412371" cy="110352"/>
          </a:xfrm>
          <a:prstGeom prst="rect">
            <a:avLst/>
          </a:prstGeom>
          <a:solidFill>
            <a:srgbClr val="12A566"/>
          </a:solidFill>
          <a:ln/>
        </p:spPr>
      </p:sp>
      <p:sp>
        <p:nvSpPr>
          <p:cNvPr id="26" name="Text 24"/>
          <p:cNvSpPr txBox="1"/>
          <p:nvPr/>
        </p:nvSpPr>
        <p:spPr>
          <a:xfrm>
            <a:off x="4617720"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a:t>
            </a:r>
            <a:endParaRPr lang="en-US" sz="1200" dirty="0"/>
          </a:p>
        </p:txBody>
      </p:sp>
      <p:sp>
        <p:nvSpPr>
          <p:cNvPr id="27" name="Text 25"/>
          <p:cNvSpPr txBox="1"/>
          <p:nvPr/>
        </p:nvSpPr>
        <p:spPr>
          <a:xfrm>
            <a:off x="658368"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9" name="Shape 27"/>
          <p:cNvSpPr/>
          <p:nvPr/>
        </p:nvSpPr>
        <p:spPr>
          <a:xfrm>
            <a:off x="3785616" y="2871442"/>
            <a:ext cx="368727" cy="110352"/>
          </a:xfrm>
          <a:prstGeom prst="rect">
            <a:avLst/>
          </a:prstGeom>
          <a:solidFill>
            <a:srgbClr val="12A566"/>
          </a:solidFill>
          <a:ln/>
        </p:spPr>
      </p:sp>
      <p:sp>
        <p:nvSpPr>
          <p:cNvPr id="30" name="Text 28"/>
          <p:cNvSpPr txBox="1"/>
          <p:nvPr/>
        </p:nvSpPr>
        <p:spPr>
          <a:xfrm>
            <a:off x="4617720"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31" name="Text 29"/>
          <p:cNvSpPr txBox="1"/>
          <p:nvPr/>
        </p:nvSpPr>
        <p:spPr>
          <a:xfrm>
            <a:off x="658368"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33" name="Shape 31"/>
          <p:cNvSpPr/>
          <p:nvPr/>
        </p:nvSpPr>
        <p:spPr>
          <a:xfrm>
            <a:off x="3785616" y="3111337"/>
            <a:ext cx="313981" cy="110352"/>
          </a:xfrm>
          <a:prstGeom prst="rect">
            <a:avLst/>
          </a:prstGeom>
          <a:solidFill>
            <a:srgbClr val="12A566"/>
          </a:solidFill>
          <a:ln/>
        </p:spPr>
      </p:sp>
      <p:sp>
        <p:nvSpPr>
          <p:cNvPr id="34" name="Text 32"/>
          <p:cNvSpPr txBox="1"/>
          <p:nvPr/>
        </p:nvSpPr>
        <p:spPr>
          <a:xfrm>
            <a:off x="4617720" y="304656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35" name="Text 33"/>
          <p:cNvSpPr txBox="1"/>
          <p:nvPr/>
        </p:nvSpPr>
        <p:spPr>
          <a:xfrm>
            <a:off x="658368"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37" name="Shape 35"/>
          <p:cNvSpPr/>
          <p:nvPr/>
        </p:nvSpPr>
        <p:spPr>
          <a:xfrm>
            <a:off x="3785616" y="3351233"/>
            <a:ext cx="246169" cy="110352"/>
          </a:xfrm>
          <a:prstGeom prst="rect">
            <a:avLst/>
          </a:prstGeom>
          <a:solidFill>
            <a:srgbClr val="12A566"/>
          </a:solidFill>
          <a:ln/>
        </p:spPr>
      </p:sp>
      <p:sp>
        <p:nvSpPr>
          <p:cNvPr id="38" name="Text 36"/>
          <p:cNvSpPr txBox="1"/>
          <p:nvPr/>
        </p:nvSpPr>
        <p:spPr>
          <a:xfrm>
            <a:off x="4617720" y="328646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39" name="Text 37"/>
          <p:cNvSpPr txBox="1"/>
          <p:nvPr/>
        </p:nvSpPr>
        <p:spPr>
          <a:xfrm>
            <a:off x="658368"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1" name="Shape 39"/>
          <p:cNvSpPr/>
          <p:nvPr/>
        </p:nvSpPr>
        <p:spPr>
          <a:xfrm>
            <a:off x="3785616" y="3591128"/>
            <a:ext cx="243244" cy="110352"/>
          </a:xfrm>
          <a:prstGeom prst="rect">
            <a:avLst/>
          </a:prstGeom>
          <a:solidFill>
            <a:srgbClr val="12A566"/>
          </a:solidFill>
          <a:ln/>
        </p:spPr>
      </p:sp>
      <p:sp>
        <p:nvSpPr>
          <p:cNvPr id="42" name="Text 40"/>
          <p:cNvSpPr txBox="1"/>
          <p:nvPr/>
        </p:nvSpPr>
        <p:spPr>
          <a:xfrm>
            <a:off x="4617720" y="3526357"/>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43" name="Text 41"/>
          <p:cNvSpPr txBox="1"/>
          <p:nvPr/>
        </p:nvSpPr>
        <p:spPr>
          <a:xfrm>
            <a:off x="658368"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5" name="Shape 43"/>
          <p:cNvSpPr/>
          <p:nvPr/>
        </p:nvSpPr>
        <p:spPr>
          <a:xfrm>
            <a:off x="3785616" y="3831024"/>
            <a:ext cx="202065" cy="110352"/>
          </a:xfrm>
          <a:prstGeom prst="rect">
            <a:avLst/>
          </a:prstGeom>
          <a:solidFill>
            <a:srgbClr val="12A566"/>
          </a:solidFill>
          <a:ln/>
        </p:spPr>
      </p:sp>
      <p:sp>
        <p:nvSpPr>
          <p:cNvPr id="46" name="Text 44"/>
          <p:cNvSpPr txBox="1"/>
          <p:nvPr/>
        </p:nvSpPr>
        <p:spPr>
          <a:xfrm>
            <a:off x="4617720" y="3766252"/>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a:t>
            </a:r>
            <a:endParaRPr lang="en-US" sz="1200" dirty="0"/>
          </a:p>
        </p:txBody>
      </p:sp>
      <p:sp>
        <p:nvSpPr>
          <p:cNvPr id="47" name="Text 45"/>
          <p:cNvSpPr txBox="1"/>
          <p:nvPr/>
        </p:nvSpPr>
        <p:spPr>
          <a:xfrm>
            <a:off x="658368"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9" name="Shape 47"/>
          <p:cNvSpPr/>
          <p:nvPr/>
        </p:nvSpPr>
        <p:spPr>
          <a:xfrm>
            <a:off x="3785616" y="4070920"/>
            <a:ext cx="178519" cy="110352"/>
          </a:xfrm>
          <a:prstGeom prst="rect">
            <a:avLst/>
          </a:prstGeom>
          <a:solidFill>
            <a:srgbClr val="12A566"/>
          </a:solidFill>
          <a:ln/>
        </p:spPr>
      </p:sp>
      <p:sp>
        <p:nvSpPr>
          <p:cNvPr id="50" name="Text 48"/>
          <p:cNvSpPr txBox="1"/>
          <p:nvPr/>
        </p:nvSpPr>
        <p:spPr>
          <a:xfrm>
            <a:off x="4617720" y="400614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a:t>
            </a:r>
            <a:endParaRPr lang="en-US" sz="1200" dirty="0"/>
          </a:p>
        </p:txBody>
      </p:sp>
      <p:sp>
        <p:nvSpPr>
          <p:cNvPr id="51" name="Text 49"/>
          <p:cNvSpPr txBox="1"/>
          <p:nvPr/>
        </p:nvSpPr>
        <p:spPr>
          <a:xfrm>
            <a:off x="658368"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785616" y="4310815"/>
            <a:ext cx="170934" cy="110352"/>
          </a:xfrm>
          <a:prstGeom prst="rect">
            <a:avLst/>
          </a:prstGeom>
          <a:solidFill>
            <a:srgbClr val="12A566"/>
          </a:solidFill>
          <a:ln/>
        </p:spPr>
      </p:sp>
      <p:sp>
        <p:nvSpPr>
          <p:cNvPr id="54" name="Text 52"/>
          <p:cNvSpPr txBox="1"/>
          <p:nvPr/>
        </p:nvSpPr>
        <p:spPr>
          <a:xfrm>
            <a:off x="4617720" y="4246043"/>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57" name="Shape 55"/>
          <p:cNvSpPr/>
          <p:nvPr/>
        </p:nvSpPr>
        <p:spPr>
          <a:xfrm>
            <a:off x="3785616" y="4550711"/>
            <a:ext cx="116180" cy="110352"/>
          </a:xfrm>
          <a:prstGeom prst="rect">
            <a:avLst/>
          </a:prstGeom>
          <a:solidFill>
            <a:srgbClr val="12A566"/>
          </a:solidFill>
          <a:ln/>
        </p:spPr>
      </p:sp>
      <p:sp>
        <p:nvSpPr>
          <p:cNvPr id="58" name="Text 56"/>
          <p:cNvSpPr txBox="1"/>
          <p:nvPr/>
        </p:nvSpPr>
        <p:spPr>
          <a:xfrm>
            <a:off x="4617720" y="448593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59" name="Text 57"/>
          <p:cNvSpPr txBox="1"/>
          <p:nvPr/>
        </p:nvSpPr>
        <p:spPr>
          <a:xfrm>
            <a:off x="658368"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1" name="Shape 59"/>
          <p:cNvSpPr/>
          <p:nvPr/>
        </p:nvSpPr>
        <p:spPr>
          <a:xfrm>
            <a:off x="3785616" y="4790606"/>
            <a:ext cx="109258" cy="110352"/>
          </a:xfrm>
          <a:prstGeom prst="rect">
            <a:avLst/>
          </a:prstGeom>
          <a:solidFill>
            <a:srgbClr val="12A566"/>
          </a:solidFill>
          <a:ln/>
        </p:spPr>
      </p:sp>
      <p:sp>
        <p:nvSpPr>
          <p:cNvPr id="62" name="Text 60"/>
          <p:cNvSpPr txBox="1"/>
          <p:nvPr/>
        </p:nvSpPr>
        <p:spPr>
          <a:xfrm>
            <a:off x="4617720" y="472583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658368"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65" name="Shape 63"/>
          <p:cNvSpPr/>
          <p:nvPr/>
        </p:nvSpPr>
        <p:spPr>
          <a:xfrm>
            <a:off x="3785616" y="5030502"/>
            <a:ext cx="99898" cy="110352"/>
          </a:xfrm>
          <a:prstGeom prst="rect">
            <a:avLst/>
          </a:prstGeom>
          <a:solidFill>
            <a:srgbClr val="12A566"/>
          </a:solidFill>
          <a:ln/>
        </p:spPr>
      </p:sp>
      <p:sp>
        <p:nvSpPr>
          <p:cNvPr id="66" name="Text 64"/>
          <p:cNvSpPr txBox="1"/>
          <p:nvPr/>
        </p:nvSpPr>
        <p:spPr>
          <a:xfrm>
            <a:off x="4617720" y="496573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a:t>
            </a:r>
            <a:endParaRPr lang="en-US" sz="1200" dirty="0"/>
          </a:p>
        </p:txBody>
      </p:sp>
      <p:sp>
        <p:nvSpPr>
          <p:cNvPr id="67" name="Text 65"/>
          <p:cNvSpPr txBox="1"/>
          <p:nvPr/>
        </p:nvSpPr>
        <p:spPr>
          <a:xfrm>
            <a:off x="658368"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69" name="Shape 67"/>
          <p:cNvSpPr/>
          <p:nvPr/>
        </p:nvSpPr>
        <p:spPr>
          <a:xfrm>
            <a:off x="3785616" y="5270397"/>
            <a:ext cx="89782" cy="110352"/>
          </a:xfrm>
          <a:prstGeom prst="rect">
            <a:avLst/>
          </a:prstGeom>
          <a:solidFill>
            <a:srgbClr val="12A566"/>
          </a:solidFill>
          <a:ln/>
        </p:spPr>
      </p:sp>
      <p:sp>
        <p:nvSpPr>
          <p:cNvPr id="70" name="Text 68"/>
          <p:cNvSpPr txBox="1"/>
          <p:nvPr/>
        </p:nvSpPr>
        <p:spPr>
          <a:xfrm>
            <a:off x="4617720" y="520562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a:t>
            </a:r>
            <a:endParaRPr lang="en-US" sz="1200" dirty="0"/>
          </a:p>
        </p:txBody>
      </p:sp>
      <p:sp>
        <p:nvSpPr>
          <p:cNvPr id="71" name="Text 69"/>
          <p:cNvSpPr txBox="1"/>
          <p:nvPr/>
        </p:nvSpPr>
        <p:spPr>
          <a:xfrm>
            <a:off x="658368"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3" name="Shape 71"/>
          <p:cNvSpPr/>
          <p:nvPr/>
        </p:nvSpPr>
        <p:spPr>
          <a:xfrm>
            <a:off x="3785616" y="5510293"/>
            <a:ext cx="81310" cy="110352"/>
          </a:xfrm>
          <a:prstGeom prst="rect">
            <a:avLst/>
          </a:prstGeom>
          <a:solidFill>
            <a:srgbClr val="12A566"/>
          </a:solidFill>
          <a:ln/>
        </p:spPr>
      </p:sp>
      <p:sp>
        <p:nvSpPr>
          <p:cNvPr id="74" name="Text 72"/>
          <p:cNvSpPr txBox="1"/>
          <p:nvPr/>
        </p:nvSpPr>
        <p:spPr>
          <a:xfrm>
            <a:off x="4617720" y="5445521"/>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a:t>
            </a:r>
            <a:endParaRPr lang="en-US" sz="1200" dirty="0"/>
          </a:p>
        </p:txBody>
      </p:sp>
      <p:sp>
        <p:nvSpPr>
          <p:cNvPr id="75" name="Text 73"/>
          <p:cNvSpPr txBox="1"/>
          <p:nvPr/>
        </p:nvSpPr>
        <p:spPr>
          <a:xfrm>
            <a:off x="658368" y="568541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568541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5750188"/>
            <a:ext cx="73463" cy="110352"/>
          </a:xfrm>
          <a:prstGeom prst="rect">
            <a:avLst/>
          </a:prstGeom>
          <a:solidFill>
            <a:srgbClr val="12A566"/>
          </a:solidFill>
          <a:ln/>
        </p:spPr>
      </p:sp>
      <p:sp>
        <p:nvSpPr>
          <p:cNvPr id="78" name="Text 76"/>
          <p:cNvSpPr txBox="1"/>
          <p:nvPr/>
        </p:nvSpPr>
        <p:spPr>
          <a:xfrm>
            <a:off x="4617720" y="5685416"/>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a:t>
            </a:r>
            <a:endParaRPr lang="en-US" sz="1200" dirty="0"/>
          </a:p>
        </p:txBody>
      </p:sp>
      <p:sp>
        <p:nvSpPr>
          <p:cNvPr id="79" name="Text 77"/>
          <p:cNvSpPr txBox="1"/>
          <p:nvPr/>
        </p:nvSpPr>
        <p:spPr>
          <a:xfrm>
            <a:off x="6208776" y="184708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1" name="Shape 79"/>
          <p:cNvSpPr/>
          <p:nvPr/>
        </p:nvSpPr>
        <p:spPr>
          <a:xfrm>
            <a:off x="9336024" y="1911860"/>
            <a:ext cx="61540" cy="110352"/>
          </a:xfrm>
          <a:prstGeom prst="rect">
            <a:avLst/>
          </a:prstGeom>
          <a:solidFill>
            <a:srgbClr val="12A566"/>
          </a:solidFill>
          <a:ln/>
        </p:spPr>
      </p:sp>
      <p:sp>
        <p:nvSpPr>
          <p:cNvPr id="82" name="Text 80"/>
          <p:cNvSpPr txBox="1"/>
          <p:nvPr/>
        </p:nvSpPr>
        <p:spPr>
          <a:xfrm>
            <a:off x="10168128" y="1847088"/>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3" name="Text 81"/>
          <p:cNvSpPr txBox="1"/>
          <p:nvPr/>
        </p:nvSpPr>
        <p:spPr>
          <a:xfrm>
            <a:off x="6208776" y="208698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08698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85" name="Shape 83"/>
          <p:cNvSpPr/>
          <p:nvPr/>
        </p:nvSpPr>
        <p:spPr>
          <a:xfrm>
            <a:off x="9336024" y="2151755"/>
            <a:ext cx="55474" cy="110352"/>
          </a:xfrm>
          <a:prstGeom prst="rect">
            <a:avLst/>
          </a:prstGeom>
          <a:solidFill>
            <a:srgbClr val="12A566"/>
          </a:solidFill>
          <a:ln/>
        </p:spPr>
      </p:sp>
      <p:sp>
        <p:nvSpPr>
          <p:cNvPr id="86" name="Text 84"/>
          <p:cNvSpPr txBox="1"/>
          <p:nvPr/>
        </p:nvSpPr>
        <p:spPr>
          <a:xfrm>
            <a:off x="10168128" y="2086984"/>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a:t>
            </a:r>
            <a:endParaRPr lang="en-US" sz="1200" dirty="0"/>
          </a:p>
        </p:txBody>
      </p:sp>
      <p:sp>
        <p:nvSpPr>
          <p:cNvPr id="87" name="Text 85"/>
          <p:cNvSpPr txBox="1"/>
          <p:nvPr/>
        </p:nvSpPr>
        <p:spPr>
          <a:xfrm>
            <a:off x="6208776" y="232687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2687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391651"/>
            <a:ext cx="45730" cy="110352"/>
          </a:xfrm>
          <a:prstGeom prst="rect">
            <a:avLst/>
          </a:prstGeom>
          <a:solidFill>
            <a:srgbClr val="12A566"/>
          </a:solidFill>
          <a:ln/>
        </p:spPr>
      </p:sp>
      <p:sp>
        <p:nvSpPr>
          <p:cNvPr id="90" name="Text 88"/>
          <p:cNvSpPr txBox="1"/>
          <p:nvPr/>
        </p:nvSpPr>
        <p:spPr>
          <a:xfrm>
            <a:off x="10168128" y="2326879"/>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91" name="Text 89"/>
          <p:cNvSpPr txBox="1"/>
          <p:nvPr/>
        </p:nvSpPr>
        <p:spPr>
          <a:xfrm>
            <a:off x="6208776" y="256677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56677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3" name="Shape 91"/>
          <p:cNvSpPr/>
          <p:nvPr/>
        </p:nvSpPr>
        <p:spPr>
          <a:xfrm>
            <a:off x="9336024" y="2631546"/>
            <a:ext cx="33279" cy="110352"/>
          </a:xfrm>
          <a:prstGeom prst="rect">
            <a:avLst/>
          </a:prstGeom>
          <a:solidFill>
            <a:srgbClr val="12A566"/>
          </a:solidFill>
          <a:ln/>
        </p:spPr>
      </p:sp>
      <p:sp>
        <p:nvSpPr>
          <p:cNvPr id="94" name="Text 92"/>
          <p:cNvSpPr txBox="1"/>
          <p:nvPr/>
        </p:nvSpPr>
        <p:spPr>
          <a:xfrm>
            <a:off x="10168128" y="2566775"/>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5" name="Text 93"/>
          <p:cNvSpPr txBox="1"/>
          <p:nvPr/>
        </p:nvSpPr>
        <p:spPr>
          <a:xfrm>
            <a:off x="6208776" y="280667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0667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336024" y="2871442"/>
            <a:ext cx="28318" cy="110352"/>
          </a:xfrm>
          <a:prstGeom prst="rect">
            <a:avLst/>
          </a:prstGeom>
          <a:solidFill>
            <a:srgbClr val="12A566"/>
          </a:solidFill>
          <a:ln/>
        </p:spPr>
      </p:sp>
      <p:sp>
        <p:nvSpPr>
          <p:cNvPr id="98" name="Text 96"/>
          <p:cNvSpPr txBox="1"/>
          <p:nvPr/>
        </p:nvSpPr>
        <p:spPr>
          <a:xfrm>
            <a:off x="10168128" y="2806670"/>
            <a:ext cx="1234440" cy="239896"/>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a:t>
            </a:r>
            <a:endParaRPr lang="en-US" sz="1200" dirty="0"/>
          </a:p>
        </p:txBody>
      </p:sp>
      <p:sp>
        <p:nvSpPr>
          <p:cNvPr id="99" name="Text 97"/>
          <p:cNvSpPr txBox="1"/>
          <p:nvPr/>
        </p:nvSpPr>
        <p:spPr>
          <a:xfrm>
            <a:off x="6208776" y="3046566"/>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046566"/>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9331623" y="3111337"/>
            <a:ext cx="12802" cy="110352"/>
          </a:xfrm>
          <a:prstGeom prst="rect">
            <a:avLst/>
          </a:prstGeom>
          <a:solidFill>
            <a:srgbClr val="C2352F"/>
          </a:solidFill>
          <a:ln/>
        </p:spPr>
      </p:sp>
      <p:sp>
        <p:nvSpPr>
          <p:cNvPr id="102" name="Text 100"/>
          <p:cNvSpPr txBox="1"/>
          <p:nvPr/>
        </p:nvSpPr>
        <p:spPr>
          <a:xfrm>
            <a:off x="10168128" y="3046566"/>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−0.0</a:t>
            </a:r>
            <a:endParaRPr lang="en-US" sz="1200" dirty="0"/>
          </a:p>
        </p:txBody>
      </p:sp>
      <p:sp>
        <p:nvSpPr>
          <p:cNvPr id="103" name="Text 101"/>
          <p:cNvSpPr txBox="1"/>
          <p:nvPr/>
        </p:nvSpPr>
        <p:spPr>
          <a:xfrm>
            <a:off x="6208776" y="328646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28646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320203" y="3351233"/>
            <a:ext cx="15821" cy="110352"/>
          </a:xfrm>
          <a:prstGeom prst="rect">
            <a:avLst/>
          </a:prstGeom>
          <a:solidFill>
            <a:srgbClr val="C2352F"/>
          </a:solidFill>
          <a:ln/>
        </p:spPr>
      </p:sp>
      <p:sp>
        <p:nvSpPr>
          <p:cNvPr id="106" name="Text 104"/>
          <p:cNvSpPr txBox="1"/>
          <p:nvPr/>
        </p:nvSpPr>
        <p:spPr>
          <a:xfrm>
            <a:off x="10168128" y="328646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107" name="Text 105"/>
          <p:cNvSpPr txBox="1"/>
          <p:nvPr/>
        </p:nvSpPr>
        <p:spPr>
          <a:xfrm>
            <a:off x="6208776" y="3526357"/>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526357"/>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9316313" y="3591128"/>
            <a:ext cx="19711" cy="110352"/>
          </a:xfrm>
          <a:prstGeom prst="rect">
            <a:avLst/>
          </a:prstGeom>
          <a:solidFill>
            <a:srgbClr val="C2352F"/>
          </a:solidFill>
          <a:ln/>
        </p:spPr>
      </p:sp>
      <p:sp>
        <p:nvSpPr>
          <p:cNvPr id="110" name="Text 108"/>
          <p:cNvSpPr txBox="1"/>
          <p:nvPr/>
        </p:nvSpPr>
        <p:spPr>
          <a:xfrm>
            <a:off x="10168128" y="3526357"/>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−0.2</a:t>
            </a:r>
            <a:endParaRPr lang="en-US" sz="1200" dirty="0"/>
          </a:p>
        </p:txBody>
      </p:sp>
      <p:sp>
        <p:nvSpPr>
          <p:cNvPr id="111" name="Text 109"/>
          <p:cNvSpPr txBox="1"/>
          <p:nvPr/>
        </p:nvSpPr>
        <p:spPr>
          <a:xfrm>
            <a:off x="6208776" y="3766252"/>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766252"/>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13" name="Shape 111"/>
          <p:cNvSpPr/>
          <p:nvPr/>
        </p:nvSpPr>
        <p:spPr>
          <a:xfrm>
            <a:off x="9221677" y="3831024"/>
            <a:ext cx="114347" cy="110352"/>
          </a:xfrm>
          <a:prstGeom prst="rect">
            <a:avLst/>
          </a:prstGeom>
          <a:solidFill>
            <a:srgbClr val="C2352F"/>
          </a:solidFill>
          <a:ln/>
        </p:spPr>
      </p:sp>
      <p:sp>
        <p:nvSpPr>
          <p:cNvPr id="114" name="Text 112"/>
          <p:cNvSpPr txBox="1"/>
          <p:nvPr/>
        </p:nvSpPr>
        <p:spPr>
          <a:xfrm>
            <a:off x="10168128" y="3766252"/>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15" name="Text 113"/>
          <p:cNvSpPr txBox="1"/>
          <p:nvPr/>
        </p:nvSpPr>
        <p:spPr>
          <a:xfrm>
            <a:off x="6208776" y="4006148"/>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006148"/>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7" name="Shape 115"/>
          <p:cNvSpPr/>
          <p:nvPr/>
        </p:nvSpPr>
        <p:spPr>
          <a:xfrm>
            <a:off x="9212713" y="4070920"/>
            <a:ext cx="123311" cy="110352"/>
          </a:xfrm>
          <a:prstGeom prst="rect">
            <a:avLst/>
          </a:prstGeom>
          <a:solidFill>
            <a:srgbClr val="C2352F"/>
          </a:solidFill>
          <a:ln/>
        </p:spPr>
      </p:sp>
      <p:sp>
        <p:nvSpPr>
          <p:cNvPr id="118" name="Text 116"/>
          <p:cNvSpPr txBox="1"/>
          <p:nvPr/>
        </p:nvSpPr>
        <p:spPr>
          <a:xfrm>
            <a:off x="10168128" y="4006148"/>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a:t>
            </a:r>
            <a:endParaRPr lang="en-US" sz="1200" dirty="0"/>
          </a:p>
        </p:txBody>
      </p:sp>
      <p:sp>
        <p:nvSpPr>
          <p:cNvPr id="119" name="Text 117"/>
          <p:cNvSpPr txBox="1"/>
          <p:nvPr/>
        </p:nvSpPr>
        <p:spPr>
          <a:xfrm>
            <a:off x="6208776" y="4246043"/>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246043"/>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1" name="Shape 119"/>
          <p:cNvSpPr/>
          <p:nvPr/>
        </p:nvSpPr>
        <p:spPr>
          <a:xfrm>
            <a:off x="9201004" y="4310815"/>
            <a:ext cx="135020" cy="110352"/>
          </a:xfrm>
          <a:prstGeom prst="rect">
            <a:avLst/>
          </a:prstGeom>
          <a:solidFill>
            <a:srgbClr val="C2352F"/>
          </a:solidFill>
          <a:ln/>
        </p:spPr>
      </p:sp>
      <p:sp>
        <p:nvSpPr>
          <p:cNvPr id="122" name="Text 120"/>
          <p:cNvSpPr txBox="1"/>
          <p:nvPr/>
        </p:nvSpPr>
        <p:spPr>
          <a:xfrm>
            <a:off x="10168128" y="4246043"/>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a:t>
            </a:r>
            <a:endParaRPr lang="en-US" sz="1200" dirty="0"/>
          </a:p>
        </p:txBody>
      </p:sp>
      <p:sp>
        <p:nvSpPr>
          <p:cNvPr id="123" name="Text 121"/>
          <p:cNvSpPr txBox="1"/>
          <p:nvPr/>
        </p:nvSpPr>
        <p:spPr>
          <a:xfrm>
            <a:off x="6208776" y="4485939"/>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485939"/>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25" name="Shape 123"/>
          <p:cNvSpPr/>
          <p:nvPr/>
        </p:nvSpPr>
        <p:spPr>
          <a:xfrm>
            <a:off x="9180928" y="4550711"/>
            <a:ext cx="155096" cy="110352"/>
          </a:xfrm>
          <a:prstGeom prst="rect">
            <a:avLst/>
          </a:prstGeom>
          <a:solidFill>
            <a:srgbClr val="C2352F"/>
          </a:solidFill>
          <a:ln/>
        </p:spPr>
      </p:sp>
      <p:sp>
        <p:nvSpPr>
          <p:cNvPr id="126" name="Text 124"/>
          <p:cNvSpPr txBox="1"/>
          <p:nvPr/>
        </p:nvSpPr>
        <p:spPr>
          <a:xfrm>
            <a:off x="10168128" y="4485939"/>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a:t>
            </a:r>
            <a:endParaRPr lang="en-US" sz="1200" dirty="0"/>
          </a:p>
        </p:txBody>
      </p:sp>
      <p:sp>
        <p:nvSpPr>
          <p:cNvPr id="127" name="Text 125"/>
          <p:cNvSpPr txBox="1"/>
          <p:nvPr/>
        </p:nvSpPr>
        <p:spPr>
          <a:xfrm>
            <a:off x="6208776" y="4725834"/>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725834"/>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9" name="Shape 127"/>
          <p:cNvSpPr/>
          <p:nvPr/>
        </p:nvSpPr>
        <p:spPr>
          <a:xfrm>
            <a:off x="9011951" y="4790606"/>
            <a:ext cx="324073" cy="110352"/>
          </a:xfrm>
          <a:prstGeom prst="rect">
            <a:avLst/>
          </a:prstGeom>
          <a:solidFill>
            <a:srgbClr val="C2352F"/>
          </a:solidFill>
          <a:ln/>
        </p:spPr>
      </p:sp>
      <p:sp>
        <p:nvSpPr>
          <p:cNvPr id="130" name="Text 128"/>
          <p:cNvSpPr txBox="1"/>
          <p:nvPr/>
        </p:nvSpPr>
        <p:spPr>
          <a:xfrm>
            <a:off x="10168128" y="4725834"/>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31" name="Text 129"/>
          <p:cNvSpPr txBox="1"/>
          <p:nvPr/>
        </p:nvSpPr>
        <p:spPr>
          <a:xfrm>
            <a:off x="6208776" y="4965730"/>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4965730"/>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887261" y="5030502"/>
            <a:ext cx="448763" cy="110352"/>
          </a:xfrm>
          <a:prstGeom prst="rect">
            <a:avLst/>
          </a:prstGeom>
          <a:solidFill>
            <a:srgbClr val="C2352F"/>
          </a:solidFill>
          <a:ln/>
        </p:spPr>
      </p:sp>
      <p:sp>
        <p:nvSpPr>
          <p:cNvPr id="134" name="Text 132"/>
          <p:cNvSpPr txBox="1"/>
          <p:nvPr/>
        </p:nvSpPr>
        <p:spPr>
          <a:xfrm>
            <a:off x="10168128" y="4965730"/>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−4.0</a:t>
            </a:r>
            <a:endParaRPr lang="en-US" sz="1200" dirty="0"/>
          </a:p>
        </p:txBody>
      </p:sp>
      <p:sp>
        <p:nvSpPr>
          <p:cNvPr id="135" name="Text 133"/>
          <p:cNvSpPr txBox="1"/>
          <p:nvPr/>
        </p:nvSpPr>
        <p:spPr>
          <a:xfrm>
            <a:off x="6208776" y="5205625"/>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205625"/>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37" name="Shape 135"/>
          <p:cNvSpPr/>
          <p:nvPr/>
        </p:nvSpPr>
        <p:spPr>
          <a:xfrm>
            <a:off x="8683531" y="5270397"/>
            <a:ext cx="652493" cy="110352"/>
          </a:xfrm>
          <a:prstGeom prst="rect">
            <a:avLst/>
          </a:prstGeom>
          <a:solidFill>
            <a:srgbClr val="C2352F"/>
          </a:solidFill>
          <a:ln/>
        </p:spPr>
      </p:sp>
      <p:sp>
        <p:nvSpPr>
          <p:cNvPr id="138" name="Text 136"/>
          <p:cNvSpPr txBox="1"/>
          <p:nvPr/>
        </p:nvSpPr>
        <p:spPr>
          <a:xfrm>
            <a:off x="10168128" y="5205625"/>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39" name="Text 137"/>
          <p:cNvSpPr txBox="1"/>
          <p:nvPr/>
        </p:nvSpPr>
        <p:spPr>
          <a:xfrm>
            <a:off x="6208776" y="5445521"/>
            <a:ext cx="310896" cy="239896"/>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445521"/>
            <a:ext cx="1920240" cy="239896"/>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1" name="Shape 139"/>
          <p:cNvSpPr/>
          <p:nvPr/>
        </p:nvSpPr>
        <p:spPr>
          <a:xfrm>
            <a:off x="8594867" y="5510293"/>
            <a:ext cx="741157" cy="110352"/>
          </a:xfrm>
          <a:prstGeom prst="rect">
            <a:avLst/>
          </a:prstGeom>
          <a:solidFill>
            <a:srgbClr val="C2352F"/>
          </a:solidFill>
          <a:ln/>
        </p:spPr>
      </p:sp>
      <p:sp>
        <p:nvSpPr>
          <p:cNvPr id="142" name="Text 140"/>
          <p:cNvSpPr txBox="1"/>
          <p:nvPr/>
        </p:nvSpPr>
        <p:spPr>
          <a:xfrm>
            <a:off x="10168128" y="5445521"/>
            <a:ext cx="1234440" cy="239896"/>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−6.6</a:t>
            </a:r>
            <a:endParaRPr lang="en-US" sz="1200" dirty="0"/>
          </a:p>
        </p:txBody>
      </p:sp>
      <p:sp>
        <p:nvSpPr>
          <p:cNvPr id="143" name="Shape 141"/>
          <p:cNvSpPr/>
          <p:nvPr/>
        </p:nvSpPr>
        <p:spPr>
          <a:xfrm>
            <a:off x="3780130" y="1847088"/>
            <a:ext cx="10973" cy="4078224"/>
          </a:xfrm>
          <a:prstGeom prst="rect">
            <a:avLst/>
          </a:prstGeom>
          <a:solidFill>
            <a:srgbClr val="9AA3AD"/>
          </a:solidFill>
          <a:ln/>
        </p:spPr>
      </p:sp>
      <p:sp>
        <p:nvSpPr>
          <p:cNvPr id="144" name="Shape 142"/>
          <p:cNvSpPr/>
          <p:nvPr/>
        </p:nvSpPr>
        <p:spPr>
          <a:xfrm>
            <a:off x="9330538" y="1847088"/>
            <a:ext cx="10973" cy="4078224"/>
          </a:xfrm>
          <a:prstGeom prst="rect">
            <a:avLst/>
          </a:prstGeom>
          <a:solidFill>
            <a:srgbClr val="9AA3AD"/>
          </a:solidFill>
          <a:ln/>
        </p:spPr>
      </p:sp>
      <p:sp>
        <p:nvSpPr>
          <p:cNvPr id="145" name="Shape 143"/>
          <p:cNvSpPr/>
          <p:nvPr/>
        </p:nvSpPr>
        <p:spPr>
          <a:xfrm>
            <a:off x="6085332" y="1847088"/>
            <a:ext cx="10973" cy="4078224"/>
          </a:xfrm>
          <a:prstGeom prst="rect">
            <a:avLst/>
          </a:prstGeom>
          <a:solidFill>
            <a:srgbClr val="D9D9D9"/>
          </a:solidFill>
          <a:ln/>
        </p:spPr>
      </p:sp>
      <p:sp>
        <p:nvSpPr>
          <p:cNvPr id="146" name="Shape 144"/>
          <p:cNvSpPr/>
          <p:nvPr/>
        </p:nvSpPr>
        <p:spPr>
          <a:xfrm>
            <a:off x="457200" y="6126480"/>
            <a:ext cx="11274552" cy="615696"/>
          </a:xfrm>
          <a:prstGeom prst="rect">
            <a:avLst/>
          </a:prstGeom>
          <a:solidFill>
            <a:srgbClr val="E6F6EE"/>
          </a:solidFill>
          <a:ln/>
        </p:spPr>
      </p:sp>
      <p:sp>
        <p:nvSpPr>
          <p:cNvPr id="147" name="Text 145"/>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22 of 33 stores raised ROs per fixed employee, led by Hyundai Prescott at +6.9 to 31.4. 11 declined; Kia St George fell most at −6.6.</a:t>
            </a:r>
            <a:endParaRPr lang="en-US" sz="1600" dirty="0"/>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PRODUCTIVITY · ROS PER EMPLOYEE</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&amp; W ROs per Fixed Employee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755294"/>
          </a:xfrm>
          <a:prstGeom prst="rect">
            <a:avLst/>
          </a:prstGeom>
          <a:solidFill>
            <a:srgbClr val="F7F7F7"/>
          </a:solidFill>
          <a:ln/>
        </p:spPr>
      </p:sp>
      <p:sp>
        <p:nvSpPr>
          <p:cNvPr id="10" name="Shape 8"/>
          <p:cNvSpPr/>
          <p:nvPr/>
        </p:nvSpPr>
        <p:spPr>
          <a:xfrm>
            <a:off x="4084320" y="2139696"/>
            <a:ext cx="64008" cy="682142"/>
          </a:xfrm>
          <a:prstGeom prst="rect">
            <a:avLst/>
          </a:prstGeom>
          <a:solidFill>
            <a:srgbClr val="12A566"/>
          </a:solidFill>
          <a:ln/>
        </p:spPr>
      </p:sp>
      <p:sp>
        <p:nvSpPr>
          <p:cNvPr id="11" name="Text 9"/>
          <p:cNvSpPr txBox="1"/>
          <p:nvPr/>
        </p:nvSpPr>
        <p:spPr>
          <a:xfrm>
            <a:off x="749808"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31.4</a:t>
            </a:r>
            <a:endParaRPr lang="en-US" sz="1400" dirty="0"/>
          </a:p>
        </p:txBody>
      </p:sp>
      <p:sp>
        <p:nvSpPr>
          <p:cNvPr id="13" name="Text 11"/>
          <p:cNvSpPr txBox="1"/>
          <p:nvPr/>
        </p:nvSpPr>
        <p:spPr>
          <a:xfrm>
            <a:off x="2941320"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a:t>
            </a:r>
            <a:endParaRPr lang="en-US" sz="1600" dirty="0"/>
          </a:p>
        </p:txBody>
      </p:sp>
      <p:sp>
        <p:nvSpPr>
          <p:cNvPr id="14" name="Text 12"/>
          <p:cNvSpPr txBox="1"/>
          <p:nvPr/>
        </p:nvSpPr>
        <p:spPr>
          <a:xfrm>
            <a:off x="749808"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28.8</a:t>
            </a:r>
            <a:endParaRPr lang="en-US" sz="1400" dirty="0"/>
          </a:p>
        </p:txBody>
      </p:sp>
      <p:sp>
        <p:nvSpPr>
          <p:cNvPr id="16" name="Text 14"/>
          <p:cNvSpPr txBox="1"/>
          <p:nvPr/>
        </p:nvSpPr>
        <p:spPr>
          <a:xfrm>
            <a:off x="2941320"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17" name="Shape 15"/>
          <p:cNvSpPr/>
          <p:nvPr/>
        </p:nvSpPr>
        <p:spPr>
          <a:xfrm>
            <a:off x="658368" y="3613709"/>
            <a:ext cx="3489960" cy="755294"/>
          </a:xfrm>
          <a:prstGeom prst="rect">
            <a:avLst/>
          </a:prstGeom>
          <a:solidFill>
            <a:srgbClr val="F7F7F7"/>
          </a:solidFill>
          <a:ln/>
        </p:spPr>
      </p:sp>
      <p:sp>
        <p:nvSpPr>
          <p:cNvPr id="18" name="Text 16"/>
          <p:cNvSpPr txBox="1"/>
          <p:nvPr/>
        </p:nvSpPr>
        <p:spPr>
          <a:xfrm>
            <a:off x="749808"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30.6</a:t>
            </a:r>
            <a:endParaRPr lang="en-US" sz="1400" dirty="0"/>
          </a:p>
        </p:txBody>
      </p:sp>
      <p:sp>
        <p:nvSpPr>
          <p:cNvPr id="20" name="Text 18"/>
          <p:cNvSpPr txBox="1"/>
          <p:nvPr/>
        </p:nvSpPr>
        <p:spPr>
          <a:xfrm>
            <a:off x="2941320"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1" name="Shape 19"/>
          <p:cNvSpPr/>
          <p:nvPr/>
        </p:nvSpPr>
        <p:spPr>
          <a:xfrm>
            <a:off x="4084320" y="4405579"/>
            <a:ext cx="64008" cy="682142"/>
          </a:xfrm>
          <a:prstGeom prst="rect">
            <a:avLst/>
          </a:prstGeom>
          <a:solidFill>
            <a:srgbClr val="12A566"/>
          </a:solidFill>
          <a:ln/>
        </p:spPr>
      </p:sp>
      <p:sp>
        <p:nvSpPr>
          <p:cNvPr id="22" name="Text 20"/>
          <p:cNvSpPr txBox="1"/>
          <p:nvPr/>
        </p:nvSpPr>
        <p:spPr>
          <a:xfrm>
            <a:off x="749808"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36.8</a:t>
            </a:r>
            <a:endParaRPr lang="en-US" sz="1400" dirty="0"/>
          </a:p>
        </p:txBody>
      </p:sp>
      <p:sp>
        <p:nvSpPr>
          <p:cNvPr id="24" name="Text 22"/>
          <p:cNvSpPr txBox="1"/>
          <p:nvPr/>
        </p:nvSpPr>
        <p:spPr>
          <a:xfrm>
            <a:off x="2941320"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a:t>
            </a:r>
            <a:endParaRPr lang="en-US" sz="1600" dirty="0"/>
          </a:p>
        </p:txBody>
      </p:sp>
      <p:sp>
        <p:nvSpPr>
          <p:cNvPr id="25" name="Shape 23"/>
          <p:cNvSpPr/>
          <p:nvPr/>
        </p:nvSpPr>
        <p:spPr>
          <a:xfrm>
            <a:off x="658368" y="5124298"/>
            <a:ext cx="3489960" cy="755294"/>
          </a:xfrm>
          <a:prstGeom prst="rect">
            <a:avLst/>
          </a:prstGeom>
          <a:solidFill>
            <a:srgbClr val="F7F7F7"/>
          </a:solidFill>
          <a:ln/>
        </p:spPr>
      </p:sp>
      <p:sp>
        <p:nvSpPr>
          <p:cNvPr id="26" name="Text 24"/>
          <p:cNvSpPr txBox="1"/>
          <p:nvPr/>
        </p:nvSpPr>
        <p:spPr>
          <a:xfrm>
            <a:off x="749808"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19.2</a:t>
            </a:r>
            <a:endParaRPr lang="en-US" sz="1400" dirty="0"/>
          </a:p>
        </p:txBody>
      </p:sp>
      <p:sp>
        <p:nvSpPr>
          <p:cNvPr id="28" name="Text 26"/>
          <p:cNvSpPr txBox="1"/>
          <p:nvPr/>
        </p:nvSpPr>
        <p:spPr>
          <a:xfrm>
            <a:off x="2941320"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755294"/>
          </a:xfrm>
          <a:prstGeom prst="rect">
            <a:avLst/>
          </a:prstGeom>
          <a:solidFill>
            <a:srgbClr val="F7F7F7"/>
          </a:solidFill>
          <a:ln/>
        </p:spPr>
      </p:sp>
      <p:sp>
        <p:nvSpPr>
          <p:cNvPr id="33" name="Text 31"/>
          <p:cNvSpPr txBox="1"/>
          <p:nvPr/>
        </p:nvSpPr>
        <p:spPr>
          <a:xfrm>
            <a:off x="4440936"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46.4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39.8</a:t>
            </a:r>
            <a:endParaRPr lang="en-US" sz="1400" dirty="0"/>
          </a:p>
        </p:txBody>
      </p:sp>
      <p:sp>
        <p:nvSpPr>
          <p:cNvPr id="35" name="Text 33"/>
          <p:cNvSpPr txBox="1"/>
          <p:nvPr/>
        </p:nvSpPr>
        <p:spPr>
          <a:xfrm>
            <a:off x="6632448" y="2103120"/>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−6.6</a:t>
            </a:r>
            <a:endParaRPr lang="en-US" sz="1600" dirty="0"/>
          </a:p>
        </p:txBody>
      </p:sp>
      <p:sp>
        <p:nvSpPr>
          <p:cNvPr id="36" name="Text 34"/>
          <p:cNvSpPr txBox="1"/>
          <p:nvPr/>
        </p:nvSpPr>
        <p:spPr>
          <a:xfrm>
            <a:off x="4440936"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32.4</a:t>
            </a:r>
            <a:endParaRPr lang="en-US" sz="1400" dirty="0"/>
          </a:p>
        </p:txBody>
      </p:sp>
      <p:sp>
        <p:nvSpPr>
          <p:cNvPr id="38" name="Text 36"/>
          <p:cNvSpPr txBox="1"/>
          <p:nvPr/>
        </p:nvSpPr>
        <p:spPr>
          <a:xfrm>
            <a:off x="6632448" y="2858414"/>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−5.8</a:t>
            </a:r>
            <a:endParaRPr lang="en-US" sz="1600" dirty="0"/>
          </a:p>
        </p:txBody>
      </p:sp>
      <p:sp>
        <p:nvSpPr>
          <p:cNvPr id="39" name="Shape 37"/>
          <p:cNvSpPr/>
          <p:nvPr/>
        </p:nvSpPr>
        <p:spPr>
          <a:xfrm>
            <a:off x="4349496" y="3613709"/>
            <a:ext cx="3489960" cy="755294"/>
          </a:xfrm>
          <a:prstGeom prst="rect">
            <a:avLst/>
          </a:prstGeom>
          <a:solidFill>
            <a:srgbClr val="F7F7F7"/>
          </a:solidFill>
          <a:ln/>
        </p:spPr>
      </p:sp>
      <p:sp>
        <p:nvSpPr>
          <p:cNvPr id="40" name="Text 38"/>
          <p:cNvSpPr txBox="1"/>
          <p:nvPr/>
        </p:nvSpPr>
        <p:spPr>
          <a:xfrm>
            <a:off x="4440936"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31.1</a:t>
            </a:r>
            <a:endParaRPr lang="en-US" sz="1400" dirty="0"/>
          </a:p>
        </p:txBody>
      </p:sp>
      <p:sp>
        <p:nvSpPr>
          <p:cNvPr id="42" name="Text 40"/>
          <p:cNvSpPr txBox="1"/>
          <p:nvPr/>
        </p:nvSpPr>
        <p:spPr>
          <a:xfrm>
            <a:off x="6632448" y="3613709"/>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−4.0</a:t>
            </a:r>
            <a:endParaRPr lang="en-US" sz="1600" dirty="0"/>
          </a:p>
        </p:txBody>
      </p:sp>
      <p:sp>
        <p:nvSpPr>
          <p:cNvPr id="43" name="Text 41"/>
          <p:cNvSpPr txBox="1"/>
          <p:nvPr/>
        </p:nvSpPr>
        <p:spPr>
          <a:xfrm>
            <a:off x="4440936"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34.3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31.4</a:t>
            </a:r>
            <a:endParaRPr lang="en-US" sz="1400" dirty="0"/>
          </a:p>
        </p:txBody>
      </p:sp>
      <p:sp>
        <p:nvSpPr>
          <p:cNvPr id="45" name="Text 43"/>
          <p:cNvSpPr txBox="1"/>
          <p:nvPr/>
        </p:nvSpPr>
        <p:spPr>
          <a:xfrm>
            <a:off x="6632448" y="4369003"/>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46" name="Shape 44"/>
          <p:cNvSpPr/>
          <p:nvPr/>
        </p:nvSpPr>
        <p:spPr>
          <a:xfrm>
            <a:off x="4349496" y="5124298"/>
            <a:ext cx="3489960" cy="755294"/>
          </a:xfrm>
          <a:prstGeom prst="rect">
            <a:avLst/>
          </a:prstGeom>
          <a:solidFill>
            <a:srgbClr val="F7F7F7"/>
          </a:solidFill>
          <a:ln/>
        </p:spPr>
      </p:sp>
      <p:sp>
        <p:nvSpPr>
          <p:cNvPr id="47" name="Text 45"/>
          <p:cNvSpPr txBox="1"/>
          <p:nvPr/>
        </p:nvSpPr>
        <p:spPr>
          <a:xfrm>
            <a:off x="4440936"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24.5</a:t>
            </a:r>
            <a:endParaRPr lang="en-US" sz="1400" dirty="0"/>
          </a:p>
        </p:txBody>
      </p:sp>
      <p:sp>
        <p:nvSpPr>
          <p:cNvPr id="49" name="Text 47"/>
          <p:cNvSpPr txBox="1"/>
          <p:nvPr/>
        </p:nvSpPr>
        <p:spPr>
          <a:xfrm>
            <a:off x="6632448" y="5124298"/>
            <a:ext cx="1115568" cy="755294"/>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755294"/>
          </a:xfrm>
          <a:prstGeom prst="rect">
            <a:avLst/>
          </a:prstGeom>
          <a:solidFill>
            <a:srgbClr val="F7F7F7"/>
          </a:solidFill>
          <a:ln/>
        </p:spPr>
      </p:sp>
      <p:sp>
        <p:nvSpPr>
          <p:cNvPr id="54" name="Shape 52"/>
          <p:cNvSpPr/>
          <p:nvPr/>
        </p:nvSpPr>
        <p:spPr>
          <a:xfrm>
            <a:off x="11466576" y="2139696"/>
            <a:ext cx="64008" cy="682142"/>
          </a:xfrm>
          <a:prstGeom prst="rect">
            <a:avLst/>
          </a:prstGeom>
          <a:solidFill>
            <a:srgbClr val="12A566"/>
          </a:solidFill>
          <a:ln/>
        </p:spPr>
      </p:sp>
      <p:sp>
        <p:nvSpPr>
          <p:cNvPr id="55" name="Text 53"/>
          <p:cNvSpPr txBox="1"/>
          <p:nvPr/>
        </p:nvSpPr>
        <p:spPr>
          <a:xfrm>
            <a:off x="8132064" y="2103120"/>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6" name="Text 54"/>
          <p:cNvSpPr txBox="1"/>
          <p:nvPr/>
        </p:nvSpPr>
        <p:spPr>
          <a:xfrm>
            <a:off x="8479536" y="2103120"/>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40.3</a:t>
            </a:r>
            <a:endParaRPr lang="en-US" sz="1400" dirty="0"/>
          </a:p>
        </p:txBody>
      </p:sp>
      <p:sp>
        <p:nvSpPr>
          <p:cNvPr id="57" name="Text 55"/>
          <p:cNvSpPr txBox="1"/>
          <p:nvPr/>
        </p:nvSpPr>
        <p:spPr>
          <a:xfrm>
            <a:off x="10323576" y="2103120"/>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+10.4</a:t>
            </a:r>
            <a:endParaRPr lang="en-US" sz="1600" dirty="0"/>
          </a:p>
        </p:txBody>
      </p:sp>
      <p:sp>
        <p:nvSpPr>
          <p:cNvPr id="58" name="Text 56"/>
          <p:cNvSpPr txBox="1"/>
          <p:nvPr/>
        </p:nvSpPr>
        <p:spPr>
          <a:xfrm>
            <a:off x="8132064" y="2858414"/>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858414"/>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28.3</a:t>
            </a:r>
            <a:endParaRPr lang="en-US" sz="1400" dirty="0"/>
          </a:p>
        </p:txBody>
      </p:sp>
      <p:sp>
        <p:nvSpPr>
          <p:cNvPr id="60" name="Text 58"/>
          <p:cNvSpPr txBox="1"/>
          <p:nvPr/>
        </p:nvSpPr>
        <p:spPr>
          <a:xfrm>
            <a:off x="10323576" y="2858414"/>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+9.4</a:t>
            </a:r>
            <a:endParaRPr lang="en-US" sz="1600" dirty="0"/>
          </a:p>
        </p:txBody>
      </p:sp>
      <p:sp>
        <p:nvSpPr>
          <p:cNvPr id="61" name="Shape 59"/>
          <p:cNvSpPr/>
          <p:nvPr/>
        </p:nvSpPr>
        <p:spPr>
          <a:xfrm>
            <a:off x="8040624" y="3613709"/>
            <a:ext cx="3489960" cy="755294"/>
          </a:xfrm>
          <a:prstGeom prst="rect">
            <a:avLst/>
          </a:prstGeom>
          <a:solidFill>
            <a:srgbClr val="F7F7F7"/>
          </a:solidFill>
          <a:ln/>
        </p:spPr>
      </p:sp>
      <p:sp>
        <p:nvSpPr>
          <p:cNvPr id="62" name="Shape 60"/>
          <p:cNvSpPr/>
          <p:nvPr/>
        </p:nvSpPr>
        <p:spPr>
          <a:xfrm>
            <a:off x="11466576" y="3650285"/>
            <a:ext cx="64008" cy="682142"/>
          </a:xfrm>
          <a:prstGeom prst="rect">
            <a:avLst/>
          </a:prstGeom>
          <a:solidFill>
            <a:srgbClr val="12A566"/>
          </a:solidFill>
          <a:ln/>
        </p:spPr>
      </p:sp>
      <p:sp>
        <p:nvSpPr>
          <p:cNvPr id="63" name="Text 61"/>
          <p:cNvSpPr txBox="1"/>
          <p:nvPr/>
        </p:nvSpPr>
        <p:spPr>
          <a:xfrm>
            <a:off x="8132064" y="3613709"/>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4" name="Text 62"/>
          <p:cNvSpPr txBox="1"/>
          <p:nvPr/>
        </p:nvSpPr>
        <p:spPr>
          <a:xfrm>
            <a:off x="8479536" y="3613709"/>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33.1</a:t>
            </a:r>
            <a:endParaRPr lang="en-US" sz="1400" dirty="0"/>
          </a:p>
        </p:txBody>
      </p:sp>
      <p:sp>
        <p:nvSpPr>
          <p:cNvPr id="65" name="Text 63"/>
          <p:cNvSpPr txBox="1"/>
          <p:nvPr/>
        </p:nvSpPr>
        <p:spPr>
          <a:xfrm>
            <a:off x="10323576" y="3613709"/>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+6.0</a:t>
            </a:r>
            <a:endParaRPr lang="en-US" sz="1600" dirty="0"/>
          </a:p>
        </p:txBody>
      </p:sp>
      <p:sp>
        <p:nvSpPr>
          <p:cNvPr id="66" name="Text 64"/>
          <p:cNvSpPr txBox="1"/>
          <p:nvPr/>
        </p:nvSpPr>
        <p:spPr>
          <a:xfrm>
            <a:off x="8132064" y="4369003"/>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369003"/>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37.4</a:t>
            </a:r>
            <a:endParaRPr lang="en-US" sz="1400" dirty="0"/>
          </a:p>
        </p:txBody>
      </p:sp>
      <p:sp>
        <p:nvSpPr>
          <p:cNvPr id="68" name="Text 66"/>
          <p:cNvSpPr txBox="1"/>
          <p:nvPr/>
        </p:nvSpPr>
        <p:spPr>
          <a:xfrm>
            <a:off x="10323576" y="4369003"/>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69" name="Shape 67"/>
          <p:cNvSpPr/>
          <p:nvPr/>
        </p:nvSpPr>
        <p:spPr>
          <a:xfrm>
            <a:off x="8040624" y="5124298"/>
            <a:ext cx="3489960" cy="755294"/>
          </a:xfrm>
          <a:prstGeom prst="rect">
            <a:avLst/>
          </a:prstGeom>
          <a:solidFill>
            <a:srgbClr val="F7F7F7"/>
          </a:solidFill>
          <a:ln/>
        </p:spPr>
      </p:sp>
      <p:sp>
        <p:nvSpPr>
          <p:cNvPr id="70" name="Text 68"/>
          <p:cNvSpPr txBox="1"/>
          <p:nvPr/>
        </p:nvSpPr>
        <p:spPr>
          <a:xfrm>
            <a:off x="8132064" y="5124298"/>
            <a:ext cx="365760" cy="75529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124298"/>
            <a:ext cx="1825752" cy="755294"/>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17.2</a:t>
            </a:r>
            <a:endParaRPr lang="en-US" sz="1400" dirty="0"/>
          </a:p>
        </p:txBody>
      </p:sp>
      <p:sp>
        <p:nvSpPr>
          <p:cNvPr id="72" name="Text 70"/>
          <p:cNvSpPr txBox="1"/>
          <p:nvPr/>
        </p:nvSpPr>
        <p:spPr>
          <a:xfrm>
            <a:off x="10323576" y="5124298"/>
            <a:ext cx="1115568" cy="755294"/>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73" name="Shape 71"/>
          <p:cNvSpPr/>
          <p:nvPr/>
        </p:nvSpPr>
        <p:spPr>
          <a:xfrm>
            <a:off x="457200" y="6126480"/>
            <a:ext cx="11274552" cy="569976"/>
          </a:xfrm>
          <a:prstGeom prst="rect">
            <a:avLst/>
          </a:prstGeom>
          <a:solidFill>
            <a:srgbClr val="EDF4FA"/>
          </a:solidFill>
          <a:ln/>
        </p:spPr>
      </p:sp>
      <p:sp>
        <p:nvSpPr>
          <p:cNvPr id="74" name="Text 72"/>
          <p:cNvSpPr txBox="1"/>
          <p:nvPr/>
        </p:nvSpPr>
        <p:spPr>
          <a:xfrm>
            <a:off x="658368" y="6144768"/>
            <a:ext cx="10927080" cy="53340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Ask Hyundai Prescott, Kia LV and Hyundai St George what changed. Ask Kia St George, Mazda and VW St George what got in the way. Ask Subaru St George, CDJR Post Falls and Hyundai Prescott what they started this year.</a:t>
            </a:r>
            <a:endParaRPr lang="en-US" sz="1450" dirty="0"/>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TECHNICIAN PROFICIENCY · YOUR BEST TECHS PROVE 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Your Best Techs Prove 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71600"/>
            <a:ext cx="182880" cy="182880"/>
          </a:xfrm>
          <a:prstGeom prst="ellipse">
            <a:avLst/>
          </a:prstGeom>
          <a:solidFill>
            <a:srgbClr val="C2352F"/>
          </a:solidFill>
          <a:ln/>
        </p:spPr>
      </p:sp>
      <p:sp>
        <p:nvSpPr>
          <p:cNvPr id="7" name="Text 5"/>
          <p:cNvSpPr txBox="1"/>
          <p:nvPr/>
        </p:nvSpPr>
        <p:spPr>
          <a:xfrm>
            <a:off x="932688"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Store proficiency (green at or above 85%)</a:t>
            </a:r>
            <a:endParaRPr lang="en-US" sz="1400" dirty="0"/>
          </a:p>
        </p:txBody>
      </p:sp>
      <p:sp>
        <p:nvSpPr>
          <p:cNvPr id="8" name="Shape 6"/>
          <p:cNvSpPr/>
          <p:nvPr/>
        </p:nvSpPr>
        <p:spPr>
          <a:xfrm>
            <a:off x="6208776" y="1371600"/>
            <a:ext cx="182880" cy="182880"/>
          </a:xfrm>
          <a:prstGeom prst="ellipse">
            <a:avLst/>
          </a:prstGeom>
          <a:solidFill>
            <a:srgbClr val="0B2C4A"/>
          </a:solidFill>
          <a:ln/>
        </p:spPr>
      </p:sp>
      <p:sp>
        <p:nvSpPr>
          <p:cNvPr id="9" name="Text 7"/>
          <p:cNvSpPr txBox="1"/>
          <p:nvPr/>
        </p:nvSpPr>
        <p:spPr>
          <a:xfrm>
            <a:off x="6483096" y="1298448"/>
            <a:ext cx="5120640" cy="329184"/>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Top quarter of that store's techs</a:t>
            </a:r>
            <a:endParaRPr lang="en-US" sz="1400" dirty="0"/>
          </a:p>
        </p:txBody>
      </p:sp>
      <p:sp>
        <p:nvSpPr>
          <p:cNvPr id="10" name="Shape 8"/>
          <p:cNvSpPr/>
          <p:nvPr/>
        </p:nvSpPr>
        <p:spPr>
          <a:xfrm>
            <a:off x="3099359" y="1737360"/>
            <a:ext cx="14630" cy="4187952"/>
          </a:xfrm>
          <a:prstGeom prst="rect">
            <a:avLst/>
          </a:prstGeom>
          <a:solidFill>
            <a:srgbClr val="9AA3AD"/>
          </a:solidFill>
          <a:ln/>
        </p:spPr>
      </p:sp>
      <p:sp>
        <p:nvSpPr>
          <p:cNvPr id="11" name="Shape 9"/>
          <p:cNvSpPr/>
          <p:nvPr/>
        </p:nvSpPr>
        <p:spPr>
          <a:xfrm>
            <a:off x="8649767" y="1737360"/>
            <a:ext cx="14630" cy="3941602"/>
          </a:xfrm>
          <a:prstGeom prst="rect">
            <a:avLst/>
          </a:prstGeom>
          <a:solidFill>
            <a:srgbClr val="9AA3AD"/>
          </a:solidFill>
          <a:ln/>
        </p:spPr>
      </p:sp>
      <p:sp>
        <p:nvSpPr>
          <p:cNvPr id="12" name="Text 10"/>
          <p:cNvSpPr txBox="1"/>
          <p:nvPr/>
        </p:nvSpPr>
        <p:spPr>
          <a:xfrm>
            <a:off x="658368"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13" name="Shape 11"/>
          <p:cNvSpPr/>
          <p:nvPr/>
        </p:nvSpPr>
        <p:spPr>
          <a:xfrm>
            <a:off x="3507248" y="1846819"/>
            <a:ext cx="645269" cy="27432"/>
          </a:xfrm>
          <a:prstGeom prst="rect">
            <a:avLst/>
          </a:prstGeom>
          <a:solidFill>
            <a:srgbClr val="D9D9D9"/>
          </a:solidFill>
          <a:ln/>
        </p:spPr>
      </p:sp>
      <p:sp>
        <p:nvSpPr>
          <p:cNvPr id="14" name="Shape 12"/>
          <p:cNvSpPr/>
          <p:nvPr/>
        </p:nvSpPr>
        <p:spPr>
          <a:xfrm>
            <a:off x="4074793" y="1782811"/>
            <a:ext cx="155448" cy="155448"/>
          </a:xfrm>
          <a:prstGeom prst="ellipse">
            <a:avLst/>
          </a:prstGeom>
          <a:solidFill>
            <a:srgbClr val="0B2C4A"/>
          </a:solidFill>
          <a:ln/>
        </p:spPr>
      </p:sp>
      <p:sp>
        <p:nvSpPr>
          <p:cNvPr id="15" name="Shape 13"/>
          <p:cNvSpPr/>
          <p:nvPr/>
        </p:nvSpPr>
        <p:spPr>
          <a:xfrm>
            <a:off x="3429524" y="1782811"/>
            <a:ext cx="155448" cy="155448"/>
          </a:xfrm>
          <a:prstGeom prst="ellipse">
            <a:avLst/>
          </a:prstGeom>
          <a:solidFill>
            <a:srgbClr val="12A566"/>
          </a:solidFill>
          <a:ln/>
        </p:spPr>
      </p:sp>
      <p:sp>
        <p:nvSpPr>
          <p:cNvPr id="16" name="Text 14"/>
          <p:cNvSpPr txBox="1"/>
          <p:nvPr/>
        </p:nvSpPr>
        <p:spPr>
          <a:xfrm>
            <a:off x="4498848"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119%</a:t>
            </a:r>
            <a:pPr algn="r" indent="0" marL="0">
              <a:buNone/>
            </a:pPr>
            <a:r>
              <a:rPr lang="en-US" sz="1300" dirty="0">
                <a:solidFill>
                  <a:srgbClr val="0B2C4A"/>
                </a:solidFill>
                <a:latin typeface="Inter" pitchFamily="34" charset="0"/>
                <a:ea typeface="Inter" pitchFamily="34" charset="-122"/>
                <a:cs typeface="Inter" pitchFamily="34" charset="-120"/>
              </a:rPr>
              <a:t>  172%</a:t>
            </a:r>
            <a:endParaRPr lang="en-US" sz="1300" dirty="0"/>
          </a:p>
        </p:txBody>
      </p:sp>
      <p:sp>
        <p:nvSpPr>
          <p:cNvPr id="17" name="Text 15"/>
          <p:cNvSpPr txBox="1"/>
          <p:nvPr/>
        </p:nvSpPr>
        <p:spPr>
          <a:xfrm>
            <a:off x="658368"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8" name="Shape 16"/>
          <p:cNvSpPr/>
          <p:nvPr/>
        </p:nvSpPr>
        <p:spPr>
          <a:xfrm>
            <a:off x="3491377" y="2093169"/>
            <a:ext cx="870311" cy="27432"/>
          </a:xfrm>
          <a:prstGeom prst="rect">
            <a:avLst/>
          </a:prstGeom>
          <a:solidFill>
            <a:srgbClr val="D9D9D9"/>
          </a:solidFill>
          <a:ln/>
        </p:spPr>
      </p:sp>
      <p:sp>
        <p:nvSpPr>
          <p:cNvPr id="19" name="Shape 17"/>
          <p:cNvSpPr/>
          <p:nvPr/>
        </p:nvSpPr>
        <p:spPr>
          <a:xfrm>
            <a:off x="4283964" y="2029161"/>
            <a:ext cx="155448" cy="155448"/>
          </a:xfrm>
          <a:prstGeom prst="ellipse">
            <a:avLst/>
          </a:prstGeom>
          <a:solidFill>
            <a:srgbClr val="0B2C4A"/>
          </a:solidFill>
          <a:ln/>
        </p:spPr>
      </p:sp>
      <p:sp>
        <p:nvSpPr>
          <p:cNvPr id="20" name="Shape 18"/>
          <p:cNvSpPr/>
          <p:nvPr/>
        </p:nvSpPr>
        <p:spPr>
          <a:xfrm>
            <a:off x="3413653" y="2029161"/>
            <a:ext cx="155448" cy="155448"/>
          </a:xfrm>
          <a:prstGeom prst="ellipse">
            <a:avLst/>
          </a:prstGeom>
          <a:solidFill>
            <a:srgbClr val="12A566"/>
          </a:solidFill>
          <a:ln/>
        </p:spPr>
      </p:sp>
      <p:sp>
        <p:nvSpPr>
          <p:cNvPr id="21" name="Text 19"/>
          <p:cNvSpPr txBox="1"/>
          <p:nvPr/>
        </p:nvSpPr>
        <p:spPr>
          <a:xfrm>
            <a:off x="4498848"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117%</a:t>
            </a:r>
            <a:pPr algn="r" indent="0" marL="0">
              <a:buNone/>
            </a:pPr>
            <a:r>
              <a:rPr lang="en-US" sz="1300" dirty="0">
                <a:solidFill>
                  <a:srgbClr val="0B2C4A"/>
                </a:solidFill>
                <a:latin typeface="Inter" pitchFamily="34" charset="0"/>
                <a:ea typeface="Inter" pitchFamily="34" charset="-122"/>
                <a:cs typeface="Inter" pitchFamily="34" charset="-120"/>
              </a:rPr>
              <a:t>  194%</a:t>
            </a:r>
            <a:endParaRPr lang="en-US" sz="1300" dirty="0"/>
          </a:p>
        </p:txBody>
      </p:sp>
      <p:sp>
        <p:nvSpPr>
          <p:cNvPr id="22" name="Text 20"/>
          <p:cNvSpPr txBox="1"/>
          <p:nvPr/>
        </p:nvSpPr>
        <p:spPr>
          <a:xfrm>
            <a:off x="658368"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23" name="Shape 21"/>
          <p:cNvSpPr/>
          <p:nvPr/>
        </p:nvSpPr>
        <p:spPr>
          <a:xfrm>
            <a:off x="3402985" y="2339519"/>
            <a:ext cx="434135" cy="27432"/>
          </a:xfrm>
          <a:prstGeom prst="rect">
            <a:avLst/>
          </a:prstGeom>
          <a:solidFill>
            <a:srgbClr val="D9D9D9"/>
          </a:solidFill>
          <a:ln/>
        </p:spPr>
      </p:sp>
      <p:sp>
        <p:nvSpPr>
          <p:cNvPr id="24" name="Shape 22"/>
          <p:cNvSpPr/>
          <p:nvPr/>
        </p:nvSpPr>
        <p:spPr>
          <a:xfrm>
            <a:off x="3759396" y="2275511"/>
            <a:ext cx="155448" cy="155448"/>
          </a:xfrm>
          <a:prstGeom prst="ellipse">
            <a:avLst/>
          </a:prstGeom>
          <a:solidFill>
            <a:srgbClr val="0B2C4A"/>
          </a:solidFill>
          <a:ln/>
        </p:spPr>
      </p:sp>
      <p:sp>
        <p:nvSpPr>
          <p:cNvPr id="25" name="Shape 23"/>
          <p:cNvSpPr/>
          <p:nvPr/>
        </p:nvSpPr>
        <p:spPr>
          <a:xfrm>
            <a:off x="3325261" y="2275511"/>
            <a:ext cx="155448" cy="155448"/>
          </a:xfrm>
          <a:prstGeom prst="ellipse">
            <a:avLst/>
          </a:prstGeom>
          <a:solidFill>
            <a:srgbClr val="12A566"/>
          </a:solidFill>
          <a:ln/>
        </p:spPr>
      </p:sp>
      <p:sp>
        <p:nvSpPr>
          <p:cNvPr id="26" name="Text 24"/>
          <p:cNvSpPr txBox="1"/>
          <p:nvPr/>
        </p:nvSpPr>
        <p:spPr>
          <a:xfrm>
            <a:off x="4498848"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110%</a:t>
            </a:r>
            <a:pPr algn="r" indent="0" marL="0">
              <a:buNone/>
            </a:pPr>
            <a:r>
              <a:rPr lang="en-US" sz="1300" dirty="0">
                <a:solidFill>
                  <a:srgbClr val="0B2C4A"/>
                </a:solidFill>
                <a:latin typeface="Inter" pitchFamily="34" charset="0"/>
                <a:ea typeface="Inter" pitchFamily="34" charset="-122"/>
                <a:cs typeface="Inter" pitchFamily="34" charset="-120"/>
              </a:rPr>
              <a:t>  146%</a:t>
            </a:r>
            <a:endParaRPr lang="en-US" sz="1300" dirty="0"/>
          </a:p>
        </p:txBody>
      </p:sp>
      <p:sp>
        <p:nvSpPr>
          <p:cNvPr id="27" name="Text 25"/>
          <p:cNvSpPr txBox="1"/>
          <p:nvPr/>
        </p:nvSpPr>
        <p:spPr>
          <a:xfrm>
            <a:off x="658368"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28" name="Shape 26"/>
          <p:cNvSpPr/>
          <p:nvPr/>
        </p:nvSpPr>
        <p:spPr>
          <a:xfrm>
            <a:off x="3397238" y="2585869"/>
            <a:ext cx="510500" cy="27432"/>
          </a:xfrm>
          <a:prstGeom prst="rect">
            <a:avLst/>
          </a:prstGeom>
          <a:solidFill>
            <a:srgbClr val="D9D9D9"/>
          </a:solidFill>
          <a:ln/>
        </p:spPr>
      </p:sp>
      <p:sp>
        <p:nvSpPr>
          <p:cNvPr id="29" name="Shape 27"/>
          <p:cNvSpPr/>
          <p:nvPr/>
        </p:nvSpPr>
        <p:spPr>
          <a:xfrm>
            <a:off x="3830014" y="2521861"/>
            <a:ext cx="155448" cy="155448"/>
          </a:xfrm>
          <a:prstGeom prst="ellipse">
            <a:avLst/>
          </a:prstGeom>
          <a:solidFill>
            <a:srgbClr val="0B2C4A"/>
          </a:solidFill>
          <a:ln/>
        </p:spPr>
      </p:sp>
      <p:sp>
        <p:nvSpPr>
          <p:cNvPr id="30" name="Shape 28"/>
          <p:cNvSpPr/>
          <p:nvPr/>
        </p:nvSpPr>
        <p:spPr>
          <a:xfrm>
            <a:off x="3319514" y="2521861"/>
            <a:ext cx="155448" cy="155448"/>
          </a:xfrm>
          <a:prstGeom prst="ellipse">
            <a:avLst/>
          </a:prstGeom>
          <a:solidFill>
            <a:srgbClr val="12A566"/>
          </a:solidFill>
          <a:ln/>
        </p:spPr>
      </p:sp>
      <p:sp>
        <p:nvSpPr>
          <p:cNvPr id="31" name="Text 29"/>
          <p:cNvSpPr txBox="1"/>
          <p:nvPr/>
        </p:nvSpPr>
        <p:spPr>
          <a:xfrm>
            <a:off x="4498848" y="24764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152%</a:t>
            </a:r>
            <a:endParaRPr lang="en-US" sz="1300" dirty="0"/>
          </a:p>
        </p:txBody>
      </p:sp>
      <p:sp>
        <p:nvSpPr>
          <p:cNvPr id="32" name="Text 30"/>
          <p:cNvSpPr txBox="1"/>
          <p:nvPr/>
        </p:nvSpPr>
        <p:spPr>
          <a:xfrm>
            <a:off x="658368"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33" name="Shape 31"/>
          <p:cNvSpPr/>
          <p:nvPr/>
        </p:nvSpPr>
        <p:spPr>
          <a:xfrm>
            <a:off x="3394584" y="2832220"/>
            <a:ext cx="248054" cy="27432"/>
          </a:xfrm>
          <a:prstGeom prst="rect">
            <a:avLst/>
          </a:prstGeom>
          <a:solidFill>
            <a:srgbClr val="D9D9D9"/>
          </a:solidFill>
          <a:ln/>
        </p:spPr>
      </p:sp>
      <p:sp>
        <p:nvSpPr>
          <p:cNvPr id="34" name="Shape 32"/>
          <p:cNvSpPr/>
          <p:nvPr/>
        </p:nvSpPr>
        <p:spPr>
          <a:xfrm>
            <a:off x="3564914" y="2768212"/>
            <a:ext cx="155448" cy="155448"/>
          </a:xfrm>
          <a:prstGeom prst="ellipse">
            <a:avLst/>
          </a:prstGeom>
          <a:solidFill>
            <a:srgbClr val="0B2C4A"/>
          </a:solidFill>
          <a:ln/>
        </p:spPr>
      </p:sp>
      <p:sp>
        <p:nvSpPr>
          <p:cNvPr id="35" name="Shape 33"/>
          <p:cNvSpPr/>
          <p:nvPr/>
        </p:nvSpPr>
        <p:spPr>
          <a:xfrm>
            <a:off x="3316860" y="2768212"/>
            <a:ext cx="155448" cy="155448"/>
          </a:xfrm>
          <a:prstGeom prst="ellipse">
            <a:avLst/>
          </a:prstGeom>
          <a:solidFill>
            <a:srgbClr val="12A566"/>
          </a:solidFill>
          <a:ln/>
        </p:spPr>
      </p:sp>
      <p:sp>
        <p:nvSpPr>
          <p:cNvPr id="36" name="Text 34"/>
          <p:cNvSpPr txBox="1"/>
          <p:nvPr/>
        </p:nvSpPr>
        <p:spPr>
          <a:xfrm>
            <a:off x="4498848" y="27227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109%</a:t>
            </a:r>
            <a:pPr algn="r" indent="0" marL="0">
              <a:buNone/>
            </a:pPr>
            <a:r>
              <a:rPr lang="en-US" sz="1300" dirty="0">
                <a:solidFill>
                  <a:srgbClr val="0B2C4A"/>
                </a:solidFill>
                <a:latin typeface="Inter" pitchFamily="34" charset="0"/>
                <a:ea typeface="Inter" pitchFamily="34" charset="-122"/>
                <a:cs typeface="Inter" pitchFamily="34" charset="-120"/>
              </a:rPr>
              <a:t>  130%</a:t>
            </a:r>
            <a:endParaRPr lang="en-US" sz="1300" dirty="0"/>
          </a:p>
        </p:txBody>
      </p:sp>
      <p:sp>
        <p:nvSpPr>
          <p:cNvPr id="37" name="Text 35"/>
          <p:cNvSpPr txBox="1"/>
          <p:nvPr/>
        </p:nvSpPr>
        <p:spPr>
          <a:xfrm>
            <a:off x="658368"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38" name="Shape 36"/>
          <p:cNvSpPr/>
          <p:nvPr/>
        </p:nvSpPr>
        <p:spPr>
          <a:xfrm>
            <a:off x="3381966" y="3078570"/>
            <a:ext cx="305207" cy="27432"/>
          </a:xfrm>
          <a:prstGeom prst="rect">
            <a:avLst/>
          </a:prstGeom>
          <a:solidFill>
            <a:srgbClr val="D9D9D9"/>
          </a:solidFill>
          <a:ln/>
        </p:spPr>
      </p:sp>
      <p:sp>
        <p:nvSpPr>
          <p:cNvPr id="39" name="Shape 37"/>
          <p:cNvSpPr/>
          <p:nvPr/>
        </p:nvSpPr>
        <p:spPr>
          <a:xfrm>
            <a:off x="3609449" y="3014562"/>
            <a:ext cx="155448" cy="155448"/>
          </a:xfrm>
          <a:prstGeom prst="ellipse">
            <a:avLst/>
          </a:prstGeom>
          <a:solidFill>
            <a:srgbClr val="0B2C4A"/>
          </a:solidFill>
          <a:ln/>
        </p:spPr>
      </p:sp>
      <p:sp>
        <p:nvSpPr>
          <p:cNvPr id="40" name="Shape 38"/>
          <p:cNvSpPr/>
          <p:nvPr/>
        </p:nvSpPr>
        <p:spPr>
          <a:xfrm>
            <a:off x="3304242" y="3014562"/>
            <a:ext cx="155448" cy="155448"/>
          </a:xfrm>
          <a:prstGeom prst="ellipse">
            <a:avLst/>
          </a:prstGeom>
          <a:solidFill>
            <a:srgbClr val="12A566"/>
          </a:solidFill>
          <a:ln/>
        </p:spPr>
      </p:sp>
      <p:sp>
        <p:nvSpPr>
          <p:cNvPr id="41" name="Text 39"/>
          <p:cNvSpPr txBox="1"/>
          <p:nvPr/>
        </p:nvSpPr>
        <p:spPr>
          <a:xfrm>
            <a:off x="4498848" y="29691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108%</a:t>
            </a:r>
            <a:pPr algn="r" indent="0" marL="0">
              <a:buNone/>
            </a:pPr>
            <a:r>
              <a:rPr lang="en-US" sz="1300" dirty="0">
                <a:solidFill>
                  <a:srgbClr val="0B2C4A"/>
                </a:solidFill>
                <a:latin typeface="Inter" pitchFamily="34" charset="0"/>
                <a:ea typeface="Inter" pitchFamily="34" charset="-122"/>
                <a:cs typeface="Inter" pitchFamily="34" charset="-120"/>
              </a:rPr>
              <a:t>  134%</a:t>
            </a:r>
            <a:endParaRPr lang="en-US" sz="1300" dirty="0"/>
          </a:p>
        </p:txBody>
      </p:sp>
      <p:sp>
        <p:nvSpPr>
          <p:cNvPr id="42" name="Text 40"/>
          <p:cNvSpPr txBox="1"/>
          <p:nvPr/>
        </p:nvSpPr>
        <p:spPr>
          <a:xfrm>
            <a:off x="658368"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43" name="Shape 41"/>
          <p:cNvSpPr/>
          <p:nvPr/>
        </p:nvSpPr>
        <p:spPr>
          <a:xfrm>
            <a:off x="3358657" y="3324920"/>
            <a:ext cx="461897" cy="27432"/>
          </a:xfrm>
          <a:prstGeom prst="rect">
            <a:avLst/>
          </a:prstGeom>
          <a:solidFill>
            <a:srgbClr val="D9D9D9"/>
          </a:solidFill>
          <a:ln/>
        </p:spPr>
      </p:sp>
      <p:sp>
        <p:nvSpPr>
          <p:cNvPr id="44" name="Shape 42"/>
          <p:cNvSpPr/>
          <p:nvPr/>
        </p:nvSpPr>
        <p:spPr>
          <a:xfrm>
            <a:off x="3742830" y="3260912"/>
            <a:ext cx="155448" cy="155448"/>
          </a:xfrm>
          <a:prstGeom prst="ellipse">
            <a:avLst/>
          </a:prstGeom>
          <a:solidFill>
            <a:srgbClr val="0B2C4A"/>
          </a:solidFill>
          <a:ln/>
        </p:spPr>
      </p:sp>
      <p:sp>
        <p:nvSpPr>
          <p:cNvPr id="45" name="Shape 43"/>
          <p:cNvSpPr/>
          <p:nvPr/>
        </p:nvSpPr>
        <p:spPr>
          <a:xfrm>
            <a:off x="3280933" y="3260912"/>
            <a:ext cx="155448" cy="155448"/>
          </a:xfrm>
          <a:prstGeom prst="ellipse">
            <a:avLst/>
          </a:prstGeom>
          <a:solidFill>
            <a:srgbClr val="12A566"/>
          </a:solidFill>
          <a:ln/>
        </p:spPr>
      </p:sp>
      <p:sp>
        <p:nvSpPr>
          <p:cNvPr id="46" name="Text 44"/>
          <p:cNvSpPr txBox="1"/>
          <p:nvPr/>
        </p:nvSpPr>
        <p:spPr>
          <a:xfrm>
            <a:off x="4498848" y="32154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106%</a:t>
            </a:r>
            <a:pPr algn="r" indent="0" marL="0">
              <a:buNone/>
            </a:pPr>
            <a:r>
              <a:rPr lang="en-US" sz="1300" dirty="0">
                <a:solidFill>
                  <a:srgbClr val="0B2C4A"/>
                </a:solidFill>
                <a:latin typeface="Inter" pitchFamily="34" charset="0"/>
                <a:ea typeface="Inter" pitchFamily="34" charset="-122"/>
                <a:cs typeface="Inter" pitchFamily="34" charset="-120"/>
              </a:rPr>
              <a:t>  145%</a:t>
            </a:r>
            <a:endParaRPr lang="en-US" sz="1300" dirty="0"/>
          </a:p>
        </p:txBody>
      </p:sp>
      <p:sp>
        <p:nvSpPr>
          <p:cNvPr id="47" name="Text 45"/>
          <p:cNvSpPr txBox="1"/>
          <p:nvPr/>
        </p:nvSpPr>
        <p:spPr>
          <a:xfrm>
            <a:off x="658368"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48" name="Shape 46"/>
          <p:cNvSpPr/>
          <p:nvPr/>
        </p:nvSpPr>
        <p:spPr>
          <a:xfrm>
            <a:off x="3342460" y="3571270"/>
            <a:ext cx="879840" cy="27432"/>
          </a:xfrm>
          <a:prstGeom prst="rect">
            <a:avLst/>
          </a:prstGeom>
          <a:solidFill>
            <a:srgbClr val="D9D9D9"/>
          </a:solidFill>
          <a:ln/>
        </p:spPr>
      </p:sp>
      <p:sp>
        <p:nvSpPr>
          <p:cNvPr id="49" name="Shape 47"/>
          <p:cNvSpPr/>
          <p:nvPr/>
        </p:nvSpPr>
        <p:spPr>
          <a:xfrm>
            <a:off x="4144576" y="3507262"/>
            <a:ext cx="155448" cy="155448"/>
          </a:xfrm>
          <a:prstGeom prst="ellipse">
            <a:avLst/>
          </a:prstGeom>
          <a:solidFill>
            <a:srgbClr val="0B2C4A"/>
          </a:solidFill>
          <a:ln/>
        </p:spPr>
      </p:sp>
      <p:sp>
        <p:nvSpPr>
          <p:cNvPr id="50" name="Shape 48"/>
          <p:cNvSpPr/>
          <p:nvPr/>
        </p:nvSpPr>
        <p:spPr>
          <a:xfrm>
            <a:off x="3264736" y="3507262"/>
            <a:ext cx="155448" cy="155448"/>
          </a:xfrm>
          <a:prstGeom prst="ellipse">
            <a:avLst/>
          </a:prstGeom>
          <a:solidFill>
            <a:srgbClr val="12A566"/>
          </a:solidFill>
          <a:ln/>
        </p:spPr>
      </p:sp>
      <p:sp>
        <p:nvSpPr>
          <p:cNvPr id="51" name="Text 49"/>
          <p:cNvSpPr txBox="1"/>
          <p:nvPr/>
        </p:nvSpPr>
        <p:spPr>
          <a:xfrm>
            <a:off x="4498848" y="34618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105%</a:t>
            </a:r>
            <a:pPr algn="r" indent="0" marL="0">
              <a:buNone/>
            </a:pPr>
            <a:r>
              <a:rPr lang="en-US" sz="1300" dirty="0">
                <a:solidFill>
                  <a:srgbClr val="0B2C4A"/>
                </a:solidFill>
                <a:latin typeface="Inter" pitchFamily="34" charset="0"/>
                <a:ea typeface="Inter" pitchFamily="34" charset="-122"/>
                <a:cs typeface="Inter" pitchFamily="34" charset="-120"/>
              </a:rPr>
              <a:t>  178%</a:t>
            </a:r>
            <a:endParaRPr lang="en-US" sz="1300" dirty="0"/>
          </a:p>
        </p:txBody>
      </p:sp>
      <p:sp>
        <p:nvSpPr>
          <p:cNvPr id="52" name="Text 50"/>
          <p:cNvSpPr txBox="1"/>
          <p:nvPr/>
        </p:nvSpPr>
        <p:spPr>
          <a:xfrm>
            <a:off x="658368"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53" name="Shape 51"/>
          <p:cNvSpPr/>
          <p:nvPr/>
        </p:nvSpPr>
        <p:spPr>
          <a:xfrm>
            <a:off x="3338325" y="3817620"/>
            <a:ext cx="578029" cy="27432"/>
          </a:xfrm>
          <a:prstGeom prst="rect">
            <a:avLst/>
          </a:prstGeom>
          <a:solidFill>
            <a:srgbClr val="D9D9D9"/>
          </a:solidFill>
          <a:ln/>
        </p:spPr>
      </p:sp>
      <p:sp>
        <p:nvSpPr>
          <p:cNvPr id="54" name="Shape 52"/>
          <p:cNvSpPr/>
          <p:nvPr/>
        </p:nvSpPr>
        <p:spPr>
          <a:xfrm>
            <a:off x="3838629" y="3753612"/>
            <a:ext cx="155448" cy="155448"/>
          </a:xfrm>
          <a:prstGeom prst="ellipse">
            <a:avLst/>
          </a:prstGeom>
          <a:solidFill>
            <a:srgbClr val="0B2C4A"/>
          </a:solidFill>
          <a:ln/>
        </p:spPr>
      </p:sp>
      <p:sp>
        <p:nvSpPr>
          <p:cNvPr id="55" name="Shape 53"/>
          <p:cNvSpPr/>
          <p:nvPr/>
        </p:nvSpPr>
        <p:spPr>
          <a:xfrm>
            <a:off x="3260601" y="3753612"/>
            <a:ext cx="155448" cy="155448"/>
          </a:xfrm>
          <a:prstGeom prst="ellipse">
            <a:avLst/>
          </a:prstGeom>
          <a:solidFill>
            <a:srgbClr val="12A566"/>
          </a:solidFill>
          <a:ln/>
        </p:spPr>
      </p:sp>
      <p:sp>
        <p:nvSpPr>
          <p:cNvPr id="56" name="Text 54"/>
          <p:cNvSpPr txBox="1"/>
          <p:nvPr/>
        </p:nvSpPr>
        <p:spPr>
          <a:xfrm>
            <a:off x="4498848" y="37081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104%</a:t>
            </a:r>
            <a:pPr algn="r" indent="0" marL="0">
              <a:buNone/>
            </a:pPr>
            <a:r>
              <a:rPr lang="en-US" sz="1300" dirty="0">
                <a:solidFill>
                  <a:srgbClr val="0B2C4A"/>
                </a:solidFill>
                <a:latin typeface="Inter" pitchFamily="34" charset="0"/>
                <a:ea typeface="Inter" pitchFamily="34" charset="-122"/>
                <a:cs typeface="Inter" pitchFamily="34" charset="-120"/>
              </a:rPr>
              <a:t>  153%</a:t>
            </a:r>
            <a:endParaRPr lang="en-US" sz="1300" dirty="0"/>
          </a:p>
        </p:txBody>
      </p:sp>
      <p:sp>
        <p:nvSpPr>
          <p:cNvPr id="57" name="Text 55"/>
          <p:cNvSpPr txBox="1"/>
          <p:nvPr/>
        </p:nvSpPr>
        <p:spPr>
          <a:xfrm>
            <a:off x="658368"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58" name="Shape 56"/>
          <p:cNvSpPr/>
          <p:nvPr/>
        </p:nvSpPr>
        <p:spPr>
          <a:xfrm>
            <a:off x="3326693" y="4063970"/>
            <a:ext cx="718840" cy="27432"/>
          </a:xfrm>
          <a:prstGeom prst="rect">
            <a:avLst/>
          </a:prstGeom>
          <a:solidFill>
            <a:srgbClr val="D9D9D9"/>
          </a:solidFill>
          <a:ln/>
        </p:spPr>
      </p:sp>
      <p:sp>
        <p:nvSpPr>
          <p:cNvPr id="59" name="Shape 57"/>
          <p:cNvSpPr/>
          <p:nvPr/>
        </p:nvSpPr>
        <p:spPr>
          <a:xfrm>
            <a:off x="3967809" y="3999962"/>
            <a:ext cx="155448" cy="155448"/>
          </a:xfrm>
          <a:prstGeom prst="ellipse">
            <a:avLst/>
          </a:prstGeom>
          <a:solidFill>
            <a:srgbClr val="0B2C4A"/>
          </a:solidFill>
          <a:ln/>
        </p:spPr>
      </p:sp>
      <p:sp>
        <p:nvSpPr>
          <p:cNvPr id="60" name="Shape 58"/>
          <p:cNvSpPr/>
          <p:nvPr/>
        </p:nvSpPr>
        <p:spPr>
          <a:xfrm>
            <a:off x="3248969" y="3999962"/>
            <a:ext cx="155448" cy="155448"/>
          </a:xfrm>
          <a:prstGeom prst="ellipse">
            <a:avLst/>
          </a:prstGeom>
          <a:solidFill>
            <a:srgbClr val="12A566"/>
          </a:solidFill>
          <a:ln/>
        </p:spPr>
      </p:sp>
      <p:sp>
        <p:nvSpPr>
          <p:cNvPr id="61" name="Text 59"/>
          <p:cNvSpPr txBox="1"/>
          <p:nvPr/>
        </p:nvSpPr>
        <p:spPr>
          <a:xfrm>
            <a:off x="4498848" y="39545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103%</a:t>
            </a:r>
            <a:pPr algn="r" indent="0" marL="0">
              <a:buNone/>
            </a:pPr>
            <a:r>
              <a:rPr lang="en-US" sz="1300" dirty="0">
                <a:solidFill>
                  <a:srgbClr val="0B2C4A"/>
                </a:solidFill>
                <a:latin typeface="Inter" pitchFamily="34" charset="0"/>
                <a:ea typeface="Inter" pitchFamily="34" charset="-122"/>
                <a:cs typeface="Inter" pitchFamily="34" charset="-120"/>
              </a:rPr>
              <a:t>  164%</a:t>
            </a:r>
            <a:endParaRPr lang="en-US" sz="1300" dirty="0"/>
          </a:p>
        </p:txBody>
      </p:sp>
      <p:sp>
        <p:nvSpPr>
          <p:cNvPr id="62" name="Text 60"/>
          <p:cNvSpPr txBox="1"/>
          <p:nvPr/>
        </p:nvSpPr>
        <p:spPr>
          <a:xfrm>
            <a:off x="658368"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63" name="Shape 61"/>
          <p:cNvSpPr/>
          <p:nvPr/>
        </p:nvSpPr>
        <p:spPr>
          <a:xfrm>
            <a:off x="3315137" y="4310320"/>
            <a:ext cx="576560" cy="27432"/>
          </a:xfrm>
          <a:prstGeom prst="rect">
            <a:avLst/>
          </a:prstGeom>
          <a:solidFill>
            <a:srgbClr val="D9D9D9"/>
          </a:solidFill>
          <a:ln/>
        </p:spPr>
      </p:sp>
      <p:sp>
        <p:nvSpPr>
          <p:cNvPr id="64" name="Shape 62"/>
          <p:cNvSpPr/>
          <p:nvPr/>
        </p:nvSpPr>
        <p:spPr>
          <a:xfrm>
            <a:off x="3813973" y="4246312"/>
            <a:ext cx="155448" cy="155448"/>
          </a:xfrm>
          <a:prstGeom prst="ellipse">
            <a:avLst/>
          </a:prstGeom>
          <a:solidFill>
            <a:srgbClr val="0B2C4A"/>
          </a:solidFill>
          <a:ln/>
        </p:spPr>
      </p:sp>
      <p:sp>
        <p:nvSpPr>
          <p:cNvPr id="65" name="Shape 63"/>
          <p:cNvSpPr/>
          <p:nvPr/>
        </p:nvSpPr>
        <p:spPr>
          <a:xfrm>
            <a:off x="3237413" y="4246312"/>
            <a:ext cx="155448" cy="155448"/>
          </a:xfrm>
          <a:prstGeom prst="ellipse">
            <a:avLst/>
          </a:prstGeom>
          <a:solidFill>
            <a:srgbClr val="12A566"/>
          </a:solidFill>
          <a:ln/>
        </p:spPr>
      </p:sp>
      <p:sp>
        <p:nvSpPr>
          <p:cNvPr id="66" name="Text 64"/>
          <p:cNvSpPr txBox="1"/>
          <p:nvPr/>
        </p:nvSpPr>
        <p:spPr>
          <a:xfrm>
            <a:off x="4498848" y="42008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151%</a:t>
            </a:r>
            <a:endParaRPr lang="en-US" sz="1300" dirty="0"/>
          </a:p>
        </p:txBody>
      </p:sp>
      <p:sp>
        <p:nvSpPr>
          <p:cNvPr id="67" name="Text 65"/>
          <p:cNvSpPr txBox="1"/>
          <p:nvPr/>
        </p:nvSpPr>
        <p:spPr>
          <a:xfrm>
            <a:off x="658368"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68" name="Shape 66"/>
          <p:cNvSpPr/>
          <p:nvPr/>
        </p:nvSpPr>
        <p:spPr>
          <a:xfrm>
            <a:off x="3305834" y="4556670"/>
            <a:ext cx="253206" cy="27432"/>
          </a:xfrm>
          <a:prstGeom prst="rect">
            <a:avLst/>
          </a:prstGeom>
          <a:solidFill>
            <a:srgbClr val="D9D9D9"/>
          </a:solidFill>
          <a:ln/>
        </p:spPr>
      </p:sp>
      <p:sp>
        <p:nvSpPr>
          <p:cNvPr id="69" name="Shape 67"/>
          <p:cNvSpPr/>
          <p:nvPr/>
        </p:nvSpPr>
        <p:spPr>
          <a:xfrm>
            <a:off x="3481317" y="4492662"/>
            <a:ext cx="155448" cy="155448"/>
          </a:xfrm>
          <a:prstGeom prst="ellipse">
            <a:avLst/>
          </a:prstGeom>
          <a:solidFill>
            <a:srgbClr val="0B2C4A"/>
          </a:solidFill>
          <a:ln/>
        </p:spPr>
      </p:sp>
      <p:sp>
        <p:nvSpPr>
          <p:cNvPr id="70" name="Shape 68"/>
          <p:cNvSpPr/>
          <p:nvPr/>
        </p:nvSpPr>
        <p:spPr>
          <a:xfrm>
            <a:off x="3228110" y="4492662"/>
            <a:ext cx="155448" cy="155448"/>
          </a:xfrm>
          <a:prstGeom prst="ellipse">
            <a:avLst/>
          </a:prstGeom>
          <a:solidFill>
            <a:srgbClr val="12A566"/>
          </a:solidFill>
          <a:ln/>
        </p:spPr>
      </p:sp>
      <p:sp>
        <p:nvSpPr>
          <p:cNvPr id="71" name="Text 69"/>
          <p:cNvSpPr txBox="1"/>
          <p:nvPr/>
        </p:nvSpPr>
        <p:spPr>
          <a:xfrm>
            <a:off x="4498848" y="444721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102%</a:t>
            </a:r>
            <a:pPr algn="r" indent="0" marL="0">
              <a:buNone/>
            </a:pPr>
            <a:r>
              <a:rPr lang="en-US" sz="1300" dirty="0">
                <a:solidFill>
                  <a:srgbClr val="0B2C4A"/>
                </a:solidFill>
                <a:latin typeface="Inter" pitchFamily="34" charset="0"/>
                <a:ea typeface="Inter" pitchFamily="34" charset="-122"/>
                <a:cs typeface="Inter" pitchFamily="34" charset="-120"/>
              </a:rPr>
              <a:t>  123%</a:t>
            </a:r>
            <a:endParaRPr lang="en-US" sz="1300" dirty="0"/>
          </a:p>
        </p:txBody>
      </p:sp>
      <p:sp>
        <p:nvSpPr>
          <p:cNvPr id="72" name="Text 70"/>
          <p:cNvSpPr txBox="1"/>
          <p:nvPr/>
        </p:nvSpPr>
        <p:spPr>
          <a:xfrm>
            <a:off x="658368"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73" name="Shape 71"/>
          <p:cNvSpPr/>
          <p:nvPr/>
        </p:nvSpPr>
        <p:spPr>
          <a:xfrm>
            <a:off x="3267627" y="4803020"/>
            <a:ext cx="968031" cy="27432"/>
          </a:xfrm>
          <a:prstGeom prst="rect">
            <a:avLst/>
          </a:prstGeom>
          <a:solidFill>
            <a:srgbClr val="D9D9D9"/>
          </a:solidFill>
          <a:ln/>
        </p:spPr>
      </p:sp>
      <p:sp>
        <p:nvSpPr>
          <p:cNvPr id="74" name="Shape 72"/>
          <p:cNvSpPr/>
          <p:nvPr/>
        </p:nvSpPr>
        <p:spPr>
          <a:xfrm>
            <a:off x="4157934" y="4739012"/>
            <a:ext cx="155448" cy="155448"/>
          </a:xfrm>
          <a:prstGeom prst="ellipse">
            <a:avLst/>
          </a:prstGeom>
          <a:solidFill>
            <a:srgbClr val="0B2C4A"/>
          </a:solidFill>
          <a:ln/>
        </p:spPr>
      </p:sp>
      <p:sp>
        <p:nvSpPr>
          <p:cNvPr id="75" name="Shape 73"/>
          <p:cNvSpPr/>
          <p:nvPr/>
        </p:nvSpPr>
        <p:spPr>
          <a:xfrm>
            <a:off x="3189903" y="4739012"/>
            <a:ext cx="155448" cy="155448"/>
          </a:xfrm>
          <a:prstGeom prst="ellipse">
            <a:avLst/>
          </a:prstGeom>
          <a:solidFill>
            <a:srgbClr val="12A566"/>
          </a:solidFill>
          <a:ln/>
        </p:spPr>
      </p:sp>
      <p:sp>
        <p:nvSpPr>
          <p:cNvPr id="76" name="Text 74"/>
          <p:cNvSpPr txBox="1"/>
          <p:nvPr/>
        </p:nvSpPr>
        <p:spPr>
          <a:xfrm>
            <a:off x="4498848" y="4693561"/>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98%</a:t>
            </a:r>
            <a:pPr algn="r" indent="0" marL="0">
              <a:buNone/>
            </a:pPr>
            <a:r>
              <a:rPr lang="en-US" sz="1300" dirty="0">
                <a:solidFill>
                  <a:srgbClr val="0B2C4A"/>
                </a:solidFill>
                <a:latin typeface="Inter" pitchFamily="34" charset="0"/>
                <a:ea typeface="Inter" pitchFamily="34" charset="-122"/>
                <a:cs typeface="Inter" pitchFamily="34" charset="-120"/>
              </a:rPr>
              <a:t>  179%</a:t>
            </a:r>
            <a:endParaRPr lang="en-US" sz="1300" dirty="0"/>
          </a:p>
        </p:txBody>
      </p:sp>
      <p:sp>
        <p:nvSpPr>
          <p:cNvPr id="77" name="Text 75"/>
          <p:cNvSpPr txBox="1"/>
          <p:nvPr/>
        </p:nvSpPr>
        <p:spPr>
          <a:xfrm>
            <a:off x="658368"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78" name="Shape 76"/>
          <p:cNvSpPr/>
          <p:nvPr/>
        </p:nvSpPr>
        <p:spPr>
          <a:xfrm>
            <a:off x="3249769" y="5049371"/>
            <a:ext cx="416296" cy="27432"/>
          </a:xfrm>
          <a:prstGeom prst="rect">
            <a:avLst/>
          </a:prstGeom>
          <a:solidFill>
            <a:srgbClr val="D9D9D9"/>
          </a:solidFill>
          <a:ln/>
        </p:spPr>
      </p:sp>
      <p:sp>
        <p:nvSpPr>
          <p:cNvPr id="79" name="Shape 77"/>
          <p:cNvSpPr/>
          <p:nvPr/>
        </p:nvSpPr>
        <p:spPr>
          <a:xfrm>
            <a:off x="3588341" y="4985363"/>
            <a:ext cx="155448" cy="155448"/>
          </a:xfrm>
          <a:prstGeom prst="ellipse">
            <a:avLst/>
          </a:prstGeom>
          <a:solidFill>
            <a:srgbClr val="0B2C4A"/>
          </a:solidFill>
          <a:ln/>
        </p:spPr>
      </p:sp>
      <p:sp>
        <p:nvSpPr>
          <p:cNvPr id="80" name="Shape 78"/>
          <p:cNvSpPr/>
          <p:nvPr/>
        </p:nvSpPr>
        <p:spPr>
          <a:xfrm>
            <a:off x="3172045" y="4985363"/>
            <a:ext cx="155448" cy="155448"/>
          </a:xfrm>
          <a:prstGeom prst="ellipse">
            <a:avLst/>
          </a:prstGeom>
          <a:solidFill>
            <a:srgbClr val="12A566"/>
          </a:solidFill>
          <a:ln/>
        </p:spPr>
      </p:sp>
      <p:sp>
        <p:nvSpPr>
          <p:cNvPr id="81" name="Text 79"/>
          <p:cNvSpPr txBox="1"/>
          <p:nvPr/>
        </p:nvSpPr>
        <p:spPr>
          <a:xfrm>
            <a:off x="4498848" y="49399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97%</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82" name="Text 80"/>
          <p:cNvSpPr txBox="1"/>
          <p:nvPr/>
        </p:nvSpPr>
        <p:spPr>
          <a:xfrm>
            <a:off x="658368"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83" name="Shape 81"/>
          <p:cNvSpPr/>
          <p:nvPr/>
        </p:nvSpPr>
        <p:spPr>
          <a:xfrm>
            <a:off x="3225383" y="5295721"/>
            <a:ext cx="363571" cy="27432"/>
          </a:xfrm>
          <a:prstGeom prst="rect">
            <a:avLst/>
          </a:prstGeom>
          <a:solidFill>
            <a:srgbClr val="D9D9D9"/>
          </a:solidFill>
          <a:ln/>
        </p:spPr>
      </p:sp>
      <p:sp>
        <p:nvSpPr>
          <p:cNvPr id="84" name="Shape 82"/>
          <p:cNvSpPr/>
          <p:nvPr/>
        </p:nvSpPr>
        <p:spPr>
          <a:xfrm>
            <a:off x="3511230" y="5231713"/>
            <a:ext cx="155448" cy="155448"/>
          </a:xfrm>
          <a:prstGeom prst="ellipse">
            <a:avLst/>
          </a:prstGeom>
          <a:solidFill>
            <a:srgbClr val="0B2C4A"/>
          </a:solidFill>
          <a:ln/>
        </p:spPr>
      </p:sp>
      <p:sp>
        <p:nvSpPr>
          <p:cNvPr id="85" name="Shape 83"/>
          <p:cNvSpPr/>
          <p:nvPr/>
        </p:nvSpPr>
        <p:spPr>
          <a:xfrm>
            <a:off x="3147659" y="5231713"/>
            <a:ext cx="155448" cy="155448"/>
          </a:xfrm>
          <a:prstGeom prst="ellipse">
            <a:avLst/>
          </a:prstGeom>
          <a:solidFill>
            <a:srgbClr val="12A566"/>
          </a:solidFill>
          <a:ln/>
        </p:spPr>
      </p:sp>
      <p:sp>
        <p:nvSpPr>
          <p:cNvPr id="86" name="Text 84"/>
          <p:cNvSpPr txBox="1"/>
          <p:nvPr/>
        </p:nvSpPr>
        <p:spPr>
          <a:xfrm>
            <a:off x="4498848" y="51862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95%</a:t>
            </a:r>
            <a:pPr algn="r" indent="0" marL="0">
              <a:buNone/>
            </a:pPr>
            <a:r>
              <a:rPr lang="en-US" sz="1300" dirty="0">
                <a:solidFill>
                  <a:srgbClr val="0B2C4A"/>
                </a:solidFill>
                <a:latin typeface="Inter" pitchFamily="34" charset="0"/>
                <a:ea typeface="Inter" pitchFamily="34" charset="-122"/>
                <a:cs typeface="Inter" pitchFamily="34" charset="-120"/>
              </a:rPr>
              <a:t>  125%</a:t>
            </a:r>
            <a:endParaRPr lang="en-US" sz="1300" dirty="0"/>
          </a:p>
        </p:txBody>
      </p:sp>
      <p:sp>
        <p:nvSpPr>
          <p:cNvPr id="87" name="Text 85"/>
          <p:cNvSpPr txBox="1"/>
          <p:nvPr/>
        </p:nvSpPr>
        <p:spPr>
          <a:xfrm>
            <a:off x="658368"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8" name="Shape 86"/>
          <p:cNvSpPr/>
          <p:nvPr/>
        </p:nvSpPr>
        <p:spPr>
          <a:xfrm>
            <a:off x="3193370" y="5542071"/>
            <a:ext cx="267102" cy="27432"/>
          </a:xfrm>
          <a:prstGeom prst="rect">
            <a:avLst/>
          </a:prstGeom>
          <a:solidFill>
            <a:srgbClr val="D9D9D9"/>
          </a:solidFill>
          <a:ln/>
        </p:spPr>
      </p:sp>
      <p:sp>
        <p:nvSpPr>
          <p:cNvPr id="89" name="Shape 87"/>
          <p:cNvSpPr/>
          <p:nvPr/>
        </p:nvSpPr>
        <p:spPr>
          <a:xfrm>
            <a:off x="3382748" y="5478063"/>
            <a:ext cx="155448" cy="155448"/>
          </a:xfrm>
          <a:prstGeom prst="ellipse">
            <a:avLst/>
          </a:prstGeom>
          <a:solidFill>
            <a:srgbClr val="0B2C4A"/>
          </a:solidFill>
          <a:ln/>
        </p:spPr>
      </p:sp>
      <p:sp>
        <p:nvSpPr>
          <p:cNvPr id="90" name="Shape 88"/>
          <p:cNvSpPr/>
          <p:nvPr/>
        </p:nvSpPr>
        <p:spPr>
          <a:xfrm>
            <a:off x="3115646" y="5478063"/>
            <a:ext cx="155448" cy="155448"/>
          </a:xfrm>
          <a:prstGeom prst="ellipse">
            <a:avLst/>
          </a:prstGeom>
          <a:solidFill>
            <a:srgbClr val="12A566"/>
          </a:solidFill>
          <a:ln/>
        </p:spPr>
      </p:sp>
      <p:sp>
        <p:nvSpPr>
          <p:cNvPr id="91" name="Text 89"/>
          <p:cNvSpPr txBox="1"/>
          <p:nvPr/>
        </p:nvSpPr>
        <p:spPr>
          <a:xfrm>
            <a:off x="4498848" y="543261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92%</a:t>
            </a:r>
            <a:pPr algn="r" indent="0" marL="0">
              <a:buNone/>
            </a:pPr>
            <a:r>
              <a:rPr lang="en-US" sz="1300" dirty="0">
                <a:solidFill>
                  <a:srgbClr val="0B2C4A"/>
                </a:solidFill>
                <a:latin typeface="Inter" pitchFamily="34" charset="0"/>
                <a:ea typeface="Inter" pitchFamily="34" charset="-122"/>
                <a:cs typeface="Inter" pitchFamily="34" charset="-120"/>
              </a:rPr>
              <a:t>  115%</a:t>
            </a:r>
            <a:endParaRPr lang="en-US" sz="1300" dirty="0"/>
          </a:p>
        </p:txBody>
      </p:sp>
      <p:sp>
        <p:nvSpPr>
          <p:cNvPr id="92" name="Text 90"/>
          <p:cNvSpPr txBox="1"/>
          <p:nvPr/>
        </p:nvSpPr>
        <p:spPr>
          <a:xfrm>
            <a:off x="658368" y="56789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93" name="Shape 91"/>
          <p:cNvSpPr/>
          <p:nvPr/>
        </p:nvSpPr>
        <p:spPr>
          <a:xfrm>
            <a:off x="3180836" y="5788421"/>
            <a:ext cx="479504" cy="27432"/>
          </a:xfrm>
          <a:prstGeom prst="rect">
            <a:avLst/>
          </a:prstGeom>
          <a:solidFill>
            <a:srgbClr val="D9D9D9"/>
          </a:solidFill>
          <a:ln/>
        </p:spPr>
      </p:sp>
      <p:sp>
        <p:nvSpPr>
          <p:cNvPr id="94" name="Shape 92"/>
          <p:cNvSpPr/>
          <p:nvPr/>
        </p:nvSpPr>
        <p:spPr>
          <a:xfrm>
            <a:off x="3582616" y="5724413"/>
            <a:ext cx="155448" cy="155448"/>
          </a:xfrm>
          <a:prstGeom prst="ellipse">
            <a:avLst/>
          </a:prstGeom>
          <a:solidFill>
            <a:srgbClr val="0B2C4A"/>
          </a:solidFill>
          <a:ln/>
        </p:spPr>
      </p:sp>
      <p:sp>
        <p:nvSpPr>
          <p:cNvPr id="95" name="Shape 93"/>
          <p:cNvSpPr/>
          <p:nvPr/>
        </p:nvSpPr>
        <p:spPr>
          <a:xfrm>
            <a:off x="3103112" y="5724413"/>
            <a:ext cx="155448" cy="155448"/>
          </a:xfrm>
          <a:prstGeom prst="ellipse">
            <a:avLst/>
          </a:prstGeom>
          <a:solidFill>
            <a:srgbClr val="12A566"/>
          </a:solidFill>
          <a:ln/>
        </p:spPr>
      </p:sp>
      <p:sp>
        <p:nvSpPr>
          <p:cNvPr id="96" name="Text 94"/>
          <p:cNvSpPr txBox="1"/>
          <p:nvPr/>
        </p:nvSpPr>
        <p:spPr>
          <a:xfrm>
            <a:off x="4498848" y="5678962"/>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97" name="Text 95"/>
          <p:cNvSpPr txBox="1"/>
          <p:nvPr/>
        </p:nvSpPr>
        <p:spPr>
          <a:xfrm>
            <a:off x="6208776" y="17373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98" name="Shape 96"/>
          <p:cNvSpPr/>
          <p:nvPr/>
        </p:nvSpPr>
        <p:spPr>
          <a:xfrm>
            <a:off x="8730696" y="1846819"/>
            <a:ext cx="492337" cy="27432"/>
          </a:xfrm>
          <a:prstGeom prst="rect">
            <a:avLst/>
          </a:prstGeom>
          <a:solidFill>
            <a:srgbClr val="D9D9D9"/>
          </a:solidFill>
          <a:ln/>
        </p:spPr>
      </p:sp>
      <p:sp>
        <p:nvSpPr>
          <p:cNvPr id="99" name="Shape 97"/>
          <p:cNvSpPr/>
          <p:nvPr/>
        </p:nvSpPr>
        <p:spPr>
          <a:xfrm>
            <a:off x="9145308" y="1782811"/>
            <a:ext cx="155448" cy="155448"/>
          </a:xfrm>
          <a:prstGeom prst="ellipse">
            <a:avLst/>
          </a:prstGeom>
          <a:solidFill>
            <a:srgbClr val="0B2C4A"/>
          </a:solidFill>
          <a:ln/>
        </p:spPr>
      </p:sp>
      <p:sp>
        <p:nvSpPr>
          <p:cNvPr id="100" name="Shape 98"/>
          <p:cNvSpPr/>
          <p:nvPr/>
        </p:nvSpPr>
        <p:spPr>
          <a:xfrm>
            <a:off x="8652972" y="1782811"/>
            <a:ext cx="155448" cy="155448"/>
          </a:xfrm>
          <a:prstGeom prst="ellipse">
            <a:avLst/>
          </a:prstGeom>
          <a:solidFill>
            <a:srgbClr val="12A566"/>
          </a:solidFill>
          <a:ln/>
        </p:spPr>
      </p:sp>
      <p:sp>
        <p:nvSpPr>
          <p:cNvPr id="101" name="Text 99"/>
          <p:cNvSpPr txBox="1"/>
          <p:nvPr/>
        </p:nvSpPr>
        <p:spPr>
          <a:xfrm>
            <a:off x="10049256" y="17373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132%</a:t>
            </a:r>
            <a:endParaRPr lang="en-US" sz="1300" dirty="0"/>
          </a:p>
        </p:txBody>
      </p:sp>
      <p:sp>
        <p:nvSpPr>
          <p:cNvPr id="102" name="Text 100"/>
          <p:cNvSpPr txBox="1"/>
          <p:nvPr/>
        </p:nvSpPr>
        <p:spPr>
          <a:xfrm>
            <a:off x="6208776" y="19837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03" name="Shape 101"/>
          <p:cNvSpPr/>
          <p:nvPr/>
        </p:nvSpPr>
        <p:spPr>
          <a:xfrm>
            <a:off x="8729573" y="2093169"/>
            <a:ext cx="521449" cy="27432"/>
          </a:xfrm>
          <a:prstGeom prst="rect">
            <a:avLst/>
          </a:prstGeom>
          <a:solidFill>
            <a:srgbClr val="D9D9D9"/>
          </a:solidFill>
          <a:ln/>
        </p:spPr>
      </p:sp>
      <p:sp>
        <p:nvSpPr>
          <p:cNvPr id="104" name="Shape 102"/>
          <p:cNvSpPr/>
          <p:nvPr/>
        </p:nvSpPr>
        <p:spPr>
          <a:xfrm>
            <a:off x="9173299" y="2029161"/>
            <a:ext cx="155448" cy="155448"/>
          </a:xfrm>
          <a:prstGeom prst="ellipse">
            <a:avLst/>
          </a:prstGeom>
          <a:solidFill>
            <a:srgbClr val="0B2C4A"/>
          </a:solidFill>
          <a:ln/>
        </p:spPr>
      </p:sp>
      <p:sp>
        <p:nvSpPr>
          <p:cNvPr id="105" name="Shape 103"/>
          <p:cNvSpPr/>
          <p:nvPr/>
        </p:nvSpPr>
        <p:spPr>
          <a:xfrm>
            <a:off x="8651849" y="2029161"/>
            <a:ext cx="155448" cy="155448"/>
          </a:xfrm>
          <a:prstGeom prst="ellipse">
            <a:avLst/>
          </a:prstGeom>
          <a:solidFill>
            <a:srgbClr val="12A566"/>
          </a:solidFill>
          <a:ln/>
        </p:spPr>
      </p:sp>
      <p:sp>
        <p:nvSpPr>
          <p:cNvPr id="106" name="Text 104"/>
          <p:cNvSpPr txBox="1"/>
          <p:nvPr/>
        </p:nvSpPr>
        <p:spPr>
          <a:xfrm>
            <a:off x="10049256" y="198371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91%</a:t>
            </a:r>
            <a:pPr algn="r" indent="0" marL="0">
              <a:buNone/>
            </a:pPr>
            <a:r>
              <a:rPr lang="en-US" sz="1300" dirty="0">
                <a:solidFill>
                  <a:srgbClr val="0B2C4A"/>
                </a:solidFill>
                <a:latin typeface="Inter" pitchFamily="34" charset="0"/>
                <a:ea typeface="Inter" pitchFamily="34" charset="-122"/>
                <a:cs typeface="Inter" pitchFamily="34" charset="-120"/>
              </a:rPr>
              <a:t>  135%</a:t>
            </a:r>
            <a:endParaRPr lang="en-US" sz="1300" dirty="0"/>
          </a:p>
        </p:txBody>
      </p:sp>
      <p:sp>
        <p:nvSpPr>
          <p:cNvPr id="107" name="Text 105"/>
          <p:cNvSpPr txBox="1"/>
          <p:nvPr/>
        </p:nvSpPr>
        <p:spPr>
          <a:xfrm>
            <a:off x="6208776" y="22300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08" name="Shape 106"/>
          <p:cNvSpPr/>
          <p:nvPr/>
        </p:nvSpPr>
        <p:spPr>
          <a:xfrm>
            <a:off x="8689828" y="2339519"/>
            <a:ext cx="659446" cy="27432"/>
          </a:xfrm>
          <a:prstGeom prst="rect">
            <a:avLst/>
          </a:prstGeom>
          <a:solidFill>
            <a:srgbClr val="D9D9D9"/>
          </a:solidFill>
          <a:ln/>
        </p:spPr>
      </p:sp>
      <p:sp>
        <p:nvSpPr>
          <p:cNvPr id="109" name="Shape 107"/>
          <p:cNvSpPr/>
          <p:nvPr/>
        </p:nvSpPr>
        <p:spPr>
          <a:xfrm>
            <a:off x="9271550" y="2275511"/>
            <a:ext cx="155448" cy="155448"/>
          </a:xfrm>
          <a:prstGeom prst="ellipse">
            <a:avLst/>
          </a:prstGeom>
          <a:solidFill>
            <a:srgbClr val="0B2C4A"/>
          </a:solidFill>
          <a:ln/>
        </p:spPr>
      </p:sp>
      <p:sp>
        <p:nvSpPr>
          <p:cNvPr id="110" name="Shape 108"/>
          <p:cNvSpPr/>
          <p:nvPr/>
        </p:nvSpPr>
        <p:spPr>
          <a:xfrm>
            <a:off x="8612104" y="2275511"/>
            <a:ext cx="155448" cy="155448"/>
          </a:xfrm>
          <a:prstGeom prst="ellipse">
            <a:avLst/>
          </a:prstGeom>
          <a:solidFill>
            <a:srgbClr val="12A566"/>
          </a:solidFill>
          <a:ln/>
        </p:spPr>
      </p:sp>
      <p:sp>
        <p:nvSpPr>
          <p:cNvPr id="111" name="Text 109"/>
          <p:cNvSpPr txBox="1"/>
          <p:nvPr/>
        </p:nvSpPr>
        <p:spPr>
          <a:xfrm>
            <a:off x="10049256" y="2230060"/>
            <a:ext cx="1325880" cy="246350"/>
          </a:xfrm>
          <a:prstGeom prst="rect">
            <a:avLst/>
          </a:prstGeom>
          <a:noFill/>
          <a:ln/>
        </p:spPr>
        <p:txBody>
          <a:bodyPr wrap="square" lIns="0" tIns="0" rIns="0" bIns="0" rtlCol="0" anchor="ctr"/>
          <a:lstStyle/>
          <a:p>
            <a:pPr algn="r" indent="0" marL="0">
              <a:buNone/>
            </a:pPr>
            <a:r>
              <a:rPr lang="en-US" sz="1300" b="1" dirty="0">
                <a:solidFill>
                  <a:srgbClr val="0B7A4A"/>
                </a:solidFill>
                <a:latin typeface="Inter" pitchFamily="34" charset="0"/>
                <a:ea typeface="Inter" pitchFamily="34" charset="-122"/>
                <a:cs typeface="Inter" pitchFamily="34" charset="-120"/>
              </a:rPr>
              <a:t>88%</a:t>
            </a:r>
            <a:pPr algn="r" indent="0" marL="0">
              <a:buNone/>
            </a:pPr>
            <a:r>
              <a:rPr lang="en-US" sz="1300" dirty="0">
                <a:solidFill>
                  <a:srgbClr val="0B2C4A"/>
                </a:solidFill>
                <a:latin typeface="Inter" pitchFamily="34" charset="0"/>
                <a:ea typeface="Inter" pitchFamily="34" charset="-122"/>
                <a:cs typeface="Inter" pitchFamily="34" charset="-120"/>
              </a:rPr>
              <a:t>  143%</a:t>
            </a:r>
            <a:endParaRPr lang="en-US" sz="1300" dirty="0"/>
          </a:p>
        </p:txBody>
      </p:sp>
      <p:sp>
        <p:nvSpPr>
          <p:cNvPr id="112" name="Text 110"/>
          <p:cNvSpPr txBox="1"/>
          <p:nvPr/>
        </p:nvSpPr>
        <p:spPr>
          <a:xfrm>
            <a:off x="6208776" y="247641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13" name="Shape 111"/>
          <p:cNvSpPr/>
          <p:nvPr/>
        </p:nvSpPr>
        <p:spPr>
          <a:xfrm>
            <a:off x="8640786" y="2585869"/>
            <a:ext cx="406163" cy="27432"/>
          </a:xfrm>
          <a:prstGeom prst="rect">
            <a:avLst/>
          </a:prstGeom>
          <a:solidFill>
            <a:srgbClr val="D9D9D9"/>
          </a:solidFill>
          <a:ln/>
        </p:spPr>
      </p:sp>
      <p:sp>
        <p:nvSpPr>
          <p:cNvPr id="114" name="Shape 112"/>
          <p:cNvSpPr/>
          <p:nvPr/>
        </p:nvSpPr>
        <p:spPr>
          <a:xfrm>
            <a:off x="8969225" y="2521861"/>
            <a:ext cx="155448" cy="155448"/>
          </a:xfrm>
          <a:prstGeom prst="ellipse">
            <a:avLst/>
          </a:prstGeom>
          <a:solidFill>
            <a:srgbClr val="0B2C4A"/>
          </a:solidFill>
          <a:ln/>
        </p:spPr>
      </p:sp>
      <p:sp>
        <p:nvSpPr>
          <p:cNvPr id="115" name="Shape 113"/>
          <p:cNvSpPr/>
          <p:nvPr/>
        </p:nvSpPr>
        <p:spPr>
          <a:xfrm>
            <a:off x="8563062" y="2521861"/>
            <a:ext cx="155448" cy="155448"/>
          </a:xfrm>
          <a:prstGeom prst="ellipse">
            <a:avLst/>
          </a:prstGeom>
          <a:solidFill>
            <a:srgbClr val="C2352F"/>
          </a:solidFill>
          <a:ln/>
        </p:spPr>
      </p:sp>
      <p:sp>
        <p:nvSpPr>
          <p:cNvPr id="116" name="Text 114"/>
          <p:cNvSpPr txBox="1"/>
          <p:nvPr/>
        </p:nvSpPr>
        <p:spPr>
          <a:xfrm>
            <a:off x="10049256" y="247641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84%</a:t>
            </a:r>
            <a:pPr algn="r" indent="0" marL="0">
              <a:buNone/>
            </a:pPr>
            <a:r>
              <a:rPr lang="en-US" sz="1300" dirty="0">
                <a:solidFill>
                  <a:srgbClr val="0B2C4A"/>
                </a:solidFill>
                <a:latin typeface="Inter" pitchFamily="34" charset="0"/>
                <a:ea typeface="Inter" pitchFamily="34" charset="-122"/>
                <a:cs typeface="Inter" pitchFamily="34" charset="-120"/>
              </a:rPr>
              <a:t>  118%</a:t>
            </a:r>
            <a:endParaRPr lang="en-US" sz="1300" dirty="0"/>
          </a:p>
        </p:txBody>
      </p:sp>
      <p:sp>
        <p:nvSpPr>
          <p:cNvPr id="117" name="Text 115"/>
          <p:cNvSpPr txBox="1"/>
          <p:nvPr/>
        </p:nvSpPr>
        <p:spPr>
          <a:xfrm>
            <a:off x="6208776" y="2722760"/>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8" name="Shape 116"/>
          <p:cNvSpPr/>
          <p:nvPr/>
        </p:nvSpPr>
        <p:spPr>
          <a:xfrm>
            <a:off x="8614372" y="2832220"/>
            <a:ext cx="174890" cy="27432"/>
          </a:xfrm>
          <a:prstGeom prst="rect">
            <a:avLst/>
          </a:prstGeom>
          <a:solidFill>
            <a:srgbClr val="D9D9D9"/>
          </a:solidFill>
          <a:ln/>
        </p:spPr>
      </p:sp>
      <p:sp>
        <p:nvSpPr>
          <p:cNvPr id="119" name="Shape 117"/>
          <p:cNvSpPr/>
          <p:nvPr/>
        </p:nvSpPr>
        <p:spPr>
          <a:xfrm>
            <a:off x="8711538" y="2768212"/>
            <a:ext cx="155448" cy="155448"/>
          </a:xfrm>
          <a:prstGeom prst="ellipse">
            <a:avLst/>
          </a:prstGeom>
          <a:solidFill>
            <a:srgbClr val="0B2C4A"/>
          </a:solidFill>
          <a:ln/>
        </p:spPr>
      </p:sp>
      <p:sp>
        <p:nvSpPr>
          <p:cNvPr id="120" name="Shape 118"/>
          <p:cNvSpPr/>
          <p:nvPr/>
        </p:nvSpPr>
        <p:spPr>
          <a:xfrm>
            <a:off x="8536648" y="2768212"/>
            <a:ext cx="155448" cy="155448"/>
          </a:xfrm>
          <a:prstGeom prst="ellipse">
            <a:avLst/>
          </a:prstGeom>
          <a:solidFill>
            <a:srgbClr val="C2352F"/>
          </a:solidFill>
          <a:ln/>
        </p:spPr>
      </p:sp>
      <p:sp>
        <p:nvSpPr>
          <p:cNvPr id="121" name="Text 119"/>
          <p:cNvSpPr txBox="1"/>
          <p:nvPr/>
        </p:nvSpPr>
        <p:spPr>
          <a:xfrm>
            <a:off x="10049256" y="2722760"/>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81%</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22" name="Text 120"/>
          <p:cNvSpPr txBox="1"/>
          <p:nvPr/>
        </p:nvSpPr>
        <p:spPr>
          <a:xfrm>
            <a:off x="6208776" y="29691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23" name="Shape 121"/>
          <p:cNvSpPr/>
          <p:nvPr/>
        </p:nvSpPr>
        <p:spPr>
          <a:xfrm>
            <a:off x="8583295" y="3078570"/>
            <a:ext cx="403087" cy="27432"/>
          </a:xfrm>
          <a:prstGeom prst="rect">
            <a:avLst/>
          </a:prstGeom>
          <a:solidFill>
            <a:srgbClr val="D9D9D9"/>
          </a:solidFill>
          <a:ln/>
        </p:spPr>
      </p:sp>
      <p:sp>
        <p:nvSpPr>
          <p:cNvPr id="124" name="Shape 122"/>
          <p:cNvSpPr/>
          <p:nvPr/>
        </p:nvSpPr>
        <p:spPr>
          <a:xfrm>
            <a:off x="8908658" y="3014562"/>
            <a:ext cx="155448" cy="155448"/>
          </a:xfrm>
          <a:prstGeom prst="ellipse">
            <a:avLst/>
          </a:prstGeom>
          <a:solidFill>
            <a:srgbClr val="0B2C4A"/>
          </a:solidFill>
          <a:ln/>
        </p:spPr>
      </p:sp>
      <p:sp>
        <p:nvSpPr>
          <p:cNvPr id="125" name="Shape 123"/>
          <p:cNvSpPr/>
          <p:nvPr/>
        </p:nvSpPr>
        <p:spPr>
          <a:xfrm>
            <a:off x="8505571" y="3014562"/>
            <a:ext cx="155448" cy="155448"/>
          </a:xfrm>
          <a:prstGeom prst="ellipse">
            <a:avLst/>
          </a:prstGeom>
          <a:solidFill>
            <a:srgbClr val="C2352F"/>
          </a:solidFill>
          <a:ln/>
        </p:spPr>
      </p:sp>
      <p:sp>
        <p:nvSpPr>
          <p:cNvPr id="126" name="Text 124"/>
          <p:cNvSpPr txBox="1"/>
          <p:nvPr/>
        </p:nvSpPr>
        <p:spPr>
          <a:xfrm>
            <a:off x="10049256" y="29691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113%</a:t>
            </a:r>
            <a:endParaRPr lang="en-US" sz="1300" dirty="0"/>
          </a:p>
        </p:txBody>
      </p:sp>
      <p:sp>
        <p:nvSpPr>
          <p:cNvPr id="127" name="Text 125"/>
          <p:cNvSpPr txBox="1"/>
          <p:nvPr/>
        </p:nvSpPr>
        <p:spPr>
          <a:xfrm>
            <a:off x="6208776" y="32154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28" name="Shape 126"/>
          <p:cNvSpPr/>
          <p:nvPr/>
        </p:nvSpPr>
        <p:spPr>
          <a:xfrm>
            <a:off x="8579993" y="3324920"/>
            <a:ext cx="626069" cy="27432"/>
          </a:xfrm>
          <a:prstGeom prst="rect">
            <a:avLst/>
          </a:prstGeom>
          <a:solidFill>
            <a:srgbClr val="D9D9D9"/>
          </a:solidFill>
          <a:ln/>
        </p:spPr>
      </p:sp>
      <p:sp>
        <p:nvSpPr>
          <p:cNvPr id="129" name="Shape 127"/>
          <p:cNvSpPr/>
          <p:nvPr/>
        </p:nvSpPr>
        <p:spPr>
          <a:xfrm>
            <a:off x="9128338" y="3260912"/>
            <a:ext cx="155448" cy="155448"/>
          </a:xfrm>
          <a:prstGeom prst="ellipse">
            <a:avLst/>
          </a:prstGeom>
          <a:solidFill>
            <a:srgbClr val="0B2C4A"/>
          </a:solidFill>
          <a:ln/>
        </p:spPr>
      </p:sp>
      <p:sp>
        <p:nvSpPr>
          <p:cNvPr id="130" name="Shape 128"/>
          <p:cNvSpPr/>
          <p:nvPr/>
        </p:nvSpPr>
        <p:spPr>
          <a:xfrm>
            <a:off x="8502269" y="3260912"/>
            <a:ext cx="155448" cy="155448"/>
          </a:xfrm>
          <a:prstGeom prst="ellipse">
            <a:avLst/>
          </a:prstGeom>
          <a:solidFill>
            <a:srgbClr val="C2352F"/>
          </a:solidFill>
          <a:ln/>
        </p:spPr>
      </p:sp>
      <p:sp>
        <p:nvSpPr>
          <p:cNvPr id="131" name="Text 129"/>
          <p:cNvSpPr txBox="1"/>
          <p:nvPr/>
        </p:nvSpPr>
        <p:spPr>
          <a:xfrm>
            <a:off x="10049256" y="32154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79%</a:t>
            </a:r>
            <a:pPr algn="r" indent="0" marL="0">
              <a:buNone/>
            </a:pPr>
            <a:r>
              <a:rPr lang="en-US" sz="1300" dirty="0">
                <a:solidFill>
                  <a:srgbClr val="0B2C4A"/>
                </a:solidFill>
                <a:latin typeface="Inter" pitchFamily="34" charset="0"/>
                <a:ea typeface="Inter" pitchFamily="34" charset="-122"/>
                <a:cs typeface="Inter" pitchFamily="34" charset="-120"/>
              </a:rPr>
              <a:t>  131%</a:t>
            </a:r>
            <a:endParaRPr lang="en-US" sz="1300" dirty="0"/>
          </a:p>
        </p:txBody>
      </p:sp>
      <p:sp>
        <p:nvSpPr>
          <p:cNvPr id="132" name="Text 130"/>
          <p:cNvSpPr txBox="1"/>
          <p:nvPr/>
        </p:nvSpPr>
        <p:spPr>
          <a:xfrm>
            <a:off x="6208776" y="34618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133" name="Shape 131"/>
          <p:cNvSpPr/>
          <p:nvPr/>
        </p:nvSpPr>
        <p:spPr>
          <a:xfrm>
            <a:off x="8559791" y="3571270"/>
            <a:ext cx="285552" cy="27432"/>
          </a:xfrm>
          <a:prstGeom prst="rect">
            <a:avLst/>
          </a:prstGeom>
          <a:solidFill>
            <a:srgbClr val="D9D9D9"/>
          </a:solidFill>
          <a:ln/>
        </p:spPr>
      </p:sp>
      <p:sp>
        <p:nvSpPr>
          <p:cNvPr id="134" name="Shape 132"/>
          <p:cNvSpPr/>
          <p:nvPr/>
        </p:nvSpPr>
        <p:spPr>
          <a:xfrm>
            <a:off x="8767619" y="3507262"/>
            <a:ext cx="155448" cy="155448"/>
          </a:xfrm>
          <a:prstGeom prst="ellipse">
            <a:avLst/>
          </a:prstGeom>
          <a:solidFill>
            <a:srgbClr val="0B2C4A"/>
          </a:solidFill>
          <a:ln/>
        </p:spPr>
      </p:sp>
      <p:sp>
        <p:nvSpPr>
          <p:cNvPr id="135" name="Shape 133"/>
          <p:cNvSpPr/>
          <p:nvPr/>
        </p:nvSpPr>
        <p:spPr>
          <a:xfrm>
            <a:off x="8482067" y="3507262"/>
            <a:ext cx="155448" cy="155448"/>
          </a:xfrm>
          <a:prstGeom prst="ellipse">
            <a:avLst/>
          </a:prstGeom>
          <a:solidFill>
            <a:srgbClr val="C2352F"/>
          </a:solidFill>
          <a:ln/>
        </p:spPr>
      </p:sp>
      <p:sp>
        <p:nvSpPr>
          <p:cNvPr id="136" name="Text 134"/>
          <p:cNvSpPr txBox="1"/>
          <p:nvPr/>
        </p:nvSpPr>
        <p:spPr>
          <a:xfrm>
            <a:off x="10049256" y="34618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77%</a:t>
            </a:r>
            <a:pPr algn="r" indent="0" marL="0">
              <a:buNone/>
            </a:pPr>
            <a:r>
              <a:rPr lang="en-US" sz="1300" dirty="0">
                <a:solidFill>
                  <a:srgbClr val="0B2C4A"/>
                </a:solidFill>
                <a:latin typeface="Inter" pitchFamily="34" charset="0"/>
                <a:ea typeface="Inter" pitchFamily="34" charset="-122"/>
                <a:cs typeface="Inter" pitchFamily="34" charset="-120"/>
              </a:rPr>
              <a:t>  101%</a:t>
            </a:r>
            <a:endParaRPr lang="en-US" sz="1300" dirty="0"/>
          </a:p>
        </p:txBody>
      </p:sp>
      <p:sp>
        <p:nvSpPr>
          <p:cNvPr id="137" name="Text 135"/>
          <p:cNvSpPr txBox="1"/>
          <p:nvPr/>
        </p:nvSpPr>
        <p:spPr>
          <a:xfrm>
            <a:off x="6208776" y="37081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38" name="Shape 136"/>
          <p:cNvSpPr/>
          <p:nvPr/>
        </p:nvSpPr>
        <p:spPr>
          <a:xfrm>
            <a:off x="8520910" y="3817620"/>
            <a:ext cx="360320" cy="27432"/>
          </a:xfrm>
          <a:prstGeom prst="rect">
            <a:avLst/>
          </a:prstGeom>
          <a:solidFill>
            <a:srgbClr val="D9D9D9"/>
          </a:solidFill>
          <a:ln/>
        </p:spPr>
      </p:sp>
      <p:sp>
        <p:nvSpPr>
          <p:cNvPr id="139" name="Shape 137"/>
          <p:cNvSpPr/>
          <p:nvPr/>
        </p:nvSpPr>
        <p:spPr>
          <a:xfrm>
            <a:off x="8803506" y="3753612"/>
            <a:ext cx="155448" cy="155448"/>
          </a:xfrm>
          <a:prstGeom prst="ellipse">
            <a:avLst/>
          </a:prstGeom>
          <a:solidFill>
            <a:srgbClr val="0B2C4A"/>
          </a:solidFill>
          <a:ln/>
        </p:spPr>
      </p:sp>
      <p:sp>
        <p:nvSpPr>
          <p:cNvPr id="140" name="Shape 138"/>
          <p:cNvSpPr/>
          <p:nvPr/>
        </p:nvSpPr>
        <p:spPr>
          <a:xfrm>
            <a:off x="8443186" y="3753612"/>
            <a:ext cx="155448" cy="155448"/>
          </a:xfrm>
          <a:prstGeom prst="ellipse">
            <a:avLst/>
          </a:prstGeom>
          <a:solidFill>
            <a:srgbClr val="C2352F"/>
          </a:solidFill>
          <a:ln/>
        </p:spPr>
      </p:sp>
      <p:sp>
        <p:nvSpPr>
          <p:cNvPr id="141" name="Text 139"/>
          <p:cNvSpPr txBox="1"/>
          <p:nvPr/>
        </p:nvSpPr>
        <p:spPr>
          <a:xfrm>
            <a:off x="10049256" y="37081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74%</a:t>
            </a:r>
            <a:pPr algn="r" indent="0" marL="0">
              <a:buNone/>
            </a:pPr>
            <a:r>
              <a:rPr lang="en-US" sz="1300" dirty="0">
                <a:solidFill>
                  <a:srgbClr val="0B2C4A"/>
                </a:solidFill>
                <a:latin typeface="Inter" pitchFamily="34" charset="0"/>
                <a:ea typeface="Inter" pitchFamily="34" charset="-122"/>
                <a:cs typeface="Inter" pitchFamily="34" charset="-120"/>
              </a:rPr>
              <a:t>  104%</a:t>
            </a:r>
            <a:endParaRPr lang="en-US" sz="1300" dirty="0"/>
          </a:p>
        </p:txBody>
      </p:sp>
      <p:sp>
        <p:nvSpPr>
          <p:cNvPr id="142" name="Text 140"/>
          <p:cNvSpPr txBox="1"/>
          <p:nvPr/>
        </p:nvSpPr>
        <p:spPr>
          <a:xfrm>
            <a:off x="6208776" y="39545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43" name="Shape 141"/>
          <p:cNvSpPr/>
          <p:nvPr/>
        </p:nvSpPr>
        <p:spPr>
          <a:xfrm>
            <a:off x="8506383" y="4063970"/>
            <a:ext cx="198400" cy="27432"/>
          </a:xfrm>
          <a:prstGeom prst="rect">
            <a:avLst/>
          </a:prstGeom>
          <a:solidFill>
            <a:srgbClr val="D9D9D9"/>
          </a:solidFill>
          <a:ln/>
        </p:spPr>
      </p:sp>
      <p:sp>
        <p:nvSpPr>
          <p:cNvPr id="144" name="Shape 142"/>
          <p:cNvSpPr/>
          <p:nvPr/>
        </p:nvSpPr>
        <p:spPr>
          <a:xfrm>
            <a:off x="8627059" y="3999962"/>
            <a:ext cx="155448" cy="155448"/>
          </a:xfrm>
          <a:prstGeom prst="ellipse">
            <a:avLst/>
          </a:prstGeom>
          <a:solidFill>
            <a:srgbClr val="0B2C4A"/>
          </a:solidFill>
          <a:ln/>
        </p:spPr>
      </p:sp>
      <p:sp>
        <p:nvSpPr>
          <p:cNvPr id="145" name="Shape 143"/>
          <p:cNvSpPr/>
          <p:nvPr/>
        </p:nvSpPr>
        <p:spPr>
          <a:xfrm>
            <a:off x="8428659" y="3999962"/>
            <a:ext cx="155448" cy="155448"/>
          </a:xfrm>
          <a:prstGeom prst="ellipse">
            <a:avLst/>
          </a:prstGeom>
          <a:solidFill>
            <a:srgbClr val="C2352F"/>
          </a:solidFill>
          <a:ln/>
        </p:spPr>
      </p:sp>
      <p:sp>
        <p:nvSpPr>
          <p:cNvPr id="146" name="Text 144"/>
          <p:cNvSpPr txBox="1"/>
          <p:nvPr/>
        </p:nvSpPr>
        <p:spPr>
          <a:xfrm>
            <a:off x="10049256" y="39545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72%</a:t>
            </a:r>
            <a:pPr algn="r" indent="0" marL="0">
              <a:buNone/>
            </a:pPr>
            <a:r>
              <a:rPr lang="en-US" sz="1300" dirty="0">
                <a:solidFill>
                  <a:srgbClr val="0B2C4A"/>
                </a:solidFill>
                <a:latin typeface="Inter" pitchFamily="34" charset="0"/>
                <a:ea typeface="Inter" pitchFamily="34" charset="-122"/>
                <a:cs typeface="Inter" pitchFamily="34" charset="-120"/>
              </a:rPr>
              <a:t>  89%</a:t>
            </a:r>
            <a:endParaRPr lang="en-US" sz="1300" dirty="0"/>
          </a:p>
        </p:txBody>
      </p:sp>
      <p:sp>
        <p:nvSpPr>
          <p:cNvPr id="147" name="Text 145"/>
          <p:cNvSpPr txBox="1"/>
          <p:nvPr/>
        </p:nvSpPr>
        <p:spPr>
          <a:xfrm>
            <a:off x="6208776" y="42008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48" name="Shape 146"/>
          <p:cNvSpPr/>
          <p:nvPr/>
        </p:nvSpPr>
        <p:spPr>
          <a:xfrm>
            <a:off x="8492153" y="4310320"/>
            <a:ext cx="689844" cy="27432"/>
          </a:xfrm>
          <a:prstGeom prst="rect">
            <a:avLst/>
          </a:prstGeom>
          <a:solidFill>
            <a:srgbClr val="D9D9D9"/>
          </a:solidFill>
          <a:ln/>
        </p:spPr>
      </p:sp>
      <p:sp>
        <p:nvSpPr>
          <p:cNvPr id="149" name="Shape 147"/>
          <p:cNvSpPr/>
          <p:nvPr/>
        </p:nvSpPr>
        <p:spPr>
          <a:xfrm>
            <a:off x="9104273" y="4246312"/>
            <a:ext cx="155448" cy="155448"/>
          </a:xfrm>
          <a:prstGeom prst="ellipse">
            <a:avLst/>
          </a:prstGeom>
          <a:solidFill>
            <a:srgbClr val="0B2C4A"/>
          </a:solidFill>
          <a:ln/>
        </p:spPr>
      </p:sp>
      <p:sp>
        <p:nvSpPr>
          <p:cNvPr id="150" name="Shape 148"/>
          <p:cNvSpPr/>
          <p:nvPr/>
        </p:nvSpPr>
        <p:spPr>
          <a:xfrm>
            <a:off x="8414429" y="4246312"/>
            <a:ext cx="155448" cy="155448"/>
          </a:xfrm>
          <a:prstGeom prst="ellipse">
            <a:avLst/>
          </a:prstGeom>
          <a:solidFill>
            <a:srgbClr val="C2352F"/>
          </a:solidFill>
          <a:ln/>
        </p:spPr>
      </p:sp>
      <p:sp>
        <p:nvSpPr>
          <p:cNvPr id="151" name="Text 149"/>
          <p:cNvSpPr txBox="1"/>
          <p:nvPr/>
        </p:nvSpPr>
        <p:spPr>
          <a:xfrm>
            <a:off x="10049256" y="42008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71%</a:t>
            </a:r>
            <a:pPr algn="r" indent="0" marL="0">
              <a:buNone/>
            </a:pPr>
            <a:r>
              <a:rPr lang="en-US" sz="1300" dirty="0">
                <a:solidFill>
                  <a:srgbClr val="0B2C4A"/>
                </a:solidFill>
                <a:latin typeface="Inter" pitchFamily="34" charset="0"/>
                <a:ea typeface="Inter" pitchFamily="34" charset="-122"/>
                <a:cs typeface="Inter" pitchFamily="34" charset="-120"/>
              </a:rPr>
              <a:t>  129%</a:t>
            </a:r>
            <a:endParaRPr lang="en-US" sz="1300" dirty="0"/>
          </a:p>
        </p:txBody>
      </p:sp>
      <p:sp>
        <p:nvSpPr>
          <p:cNvPr id="152" name="Text 150"/>
          <p:cNvSpPr txBox="1"/>
          <p:nvPr/>
        </p:nvSpPr>
        <p:spPr>
          <a:xfrm>
            <a:off x="6208776" y="444721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153" name="Shape 151"/>
          <p:cNvSpPr/>
          <p:nvPr/>
        </p:nvSpPr>
        <p:spPr>
          <a:xfrm>
            <a:off x="8478173" y="4556670"/>
            <a:ext cx="73001" cy="27432"/>
          </a:xfrm>
          <a:prstGeom prst="rect">
            <a:avLst/>
          </a:prstGeom>
          <a:solidFill>
            <a:srgbClr val="D9D9D9"/>
          </a:solidFill>
          <a:ln/>
        </p:spPr>
      </p:sp>
      <p:sp>
        <p:nvSpPr>
          <p:cNvPr id="154" name="Shape 152"/>
          <p:cNvSpPr/>
          <p:nvPr/>
        </p:nvSpPr>
        <p:spPr>
          <a:xfrm>
            <a:off x="8473450" y="4492662"/>
            <a:ext cx="155448" cy="155448"/>
          </a:xfrm>
          <a:prstGeom prst="ellipse">
            <a:avLst/>
          </a:prstGeom>
          <a:solidFill>
            <a:srgbClr val="0B2C4A"/>
          </a:solidFill>
          <a:ln/>
        </p:spPr>
      </p:sp>
      <p:sp>
        <p:nvSpPr>
          <p:cNvPr id="155" name="Shape 153"/>
          <p:cNvSpPr/>
          <p:nvPr/>
        </p:nvSpPr>
        <p:spPr>
          <a:xfrm>
            <a:off x="8400449" y="4492662"/>
            <a:ext cx="155448" cy="155448"/>
          </a:xfrm>
          <a:prstGeom prst="ellipse">
            <a:avLst/>
          </a:prstGeom>
          <a:solidFill>
            <a:srgbClr val="C2352F"/>
          </a:solidFill>
          <a:ln/>
        </p:spPr>
      </p:sp>
      <p:sp>
        <p:nvSpPr>
          <p:cNvPr id="156" name="Text 154"/>
          <p:cNvSpPr txBox="1"/>
          <p:nvPr/>
        </p:nvSpPr>
        <p:spPr>
          <a:xfrm>
            <a:off x="10049256" y="444721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70%</a:t>
            </a:r>
            <a:pPr algn="r" indent="0" marL="0">
              <a:buNone/>
            </a:pPr>
            <a:r>
              <a:rPr lang="en-US" sz="1300" dirty="0">
                <a:solidFill>
                  <a:srgbClr val="0B2C4A"/>
                </a:solidFill>
                <a:latin typeface="Inter" pitchFamily="34" charset="0"/>
                <a:ea typeface="Inter" pitchFamily="34" charset="-122"/>
                <a:cs typeface="Inter" pitchFamily="34" charset="-120"/>
              </a:rPr>
              <a:t>  76%</a:t>
            </a:r>
            <a:endParaRPr lang="en-US" sz="1300" dirty="0"/>
          </a:p>
        </p:txBody>
      </p:sp>
      <p:sp>
        <p:nvSpPr>
          <p:cNvPr id="157" name="Text 155"/>
          <p:cNvSpPr txBox="1"/>
          <p:nvPr/>
        </p:nvSpPr>
        <p:spPr>
          <a:xfrm>
            <a:off x="6208776" y="4693561"/>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158" name="Shape 156"/>
          <p:cNvSpPr/>
          <p:nvPr/>
        </p:nvSpPr>
        <p:spPr>
          <a:xfrm>
            <a:off x="8466129" y="4803020"/>
            <a:ext cx="635814" cy="27432"/>
          </a:xfrm>
          <a:prstGeom prst="rect">
            <a:avLst/>
          </a:prstGeom>
          <a:solidFill>
            <a:srgbClr val="D9D9D9"/>
          </a:solidFill>
          <a:ln/>
        </p:spPr>
      </p:sp>
      <p:sp>
        <p:nvSpPr>
          <p:cNvPr id="159" name="Shape 157"/>
          <p:cNvSpPr/>
          <p:nvPr/>
        </p:nvSpPr>
        <p:spPr>
          <a:xfrm>
            <a:off x="9024219" y="4739012"/>
            <a:ext cx="155448" cy="155448"/>
          </a:xfrm>
          <a:prstGeom prst="ellipse">
            <a:avLst/>
          </a:prstGeom>
          <a:solidFill>
            <a:srgbClr val="0B2C4A"/>
          </a:solidFill>
          <a:ln/>
        </p:spPr>
      </p:sp>
      <p:sp>
        <p:nvSpPr>
          <p:cNvPr id="160" name="Shape 158"/>
          <p:cNvSpPr/>
          <p:nvPr/>
        </p:nvSpPr>
        <p:spPr>
          <a:xfrm>
            <a:off x="8388405" y="4739012"/>
            <a:ext cx="155448" cy="155448"/>
          </a:xfrm>
          <a:prstGeom prst="ellipse">
            <a:avLst/>
          </a:prstGeom>
          <a:solidFill>
            <a:srgbClr val="C2352F"/>
          </a:solidFill>
          <a:ln/>
        </p:spPr>
      </p:sp>
      <p:sp>
        <p:nvSpPr>
          <p:cNvPr id="161" name="Text 159"/>
          <p:cNvSpPr txBox="1"/>
          <p:nvPr/>
        </p:nvSpPr>
        <p:spPr>
          <a:xfrm>
            <a:off x="10049256" y="4693561"/>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69%</a:t>
            </a:r>
            <a:pPr algn="r" indent="0" marL="0">
              <a:buNone/>
            </a:pPr>
            <a:r>
              <a:rPr lang="en-US" sz="1300" dirty="0">
                <a:solidFill>
                  <a:srgbClr val="0B2C4A"/>
                </a:solidFill>
                <a:latin typeface="Inter" pitchFamily="34" charset="0"/>
                <a:ea typeface="Inter" pitchFamily="34" charset="-122"/>
                <a:cs typeface="Inter" pitchFamily="34" charset="-120"/>
              </a:rPr>
              <a:t>  122%</a:t>
            </a:r>
            <a:endParaRPr lang="en-US" sz="1300" dirty="0"/>
          </a:p>
        </p:txBody>
      </p:sp>
      <p:sp>
        <p:nvSpPr>
          <p:cNvPr id="162" name="Text 160"/>
          <p:cNvSpPr txBox="1"/>
          <p:nvPr/>
        </p:nvSpPr>
        <p:spPr>
          <a:xfrm>
            <a:off x="6208776" y="49399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3" name="Shape 161"/>
          <p:cNvSpPr/>
          <p:nvPr/>
        </p:nvSpPr>
        <p:spPr>
          <a:xfrm>
            <a:off x="8458867" y="5049371"/>
            <a:ext cx="335577" cy="27432"/>
          </a:xfrm>
          <a:prstGeom prst="rect">
            <a:avLst/>
          </a:prstGeom>
          <a:solidFill>
            <a:srgbClr val="D9D9D9"/>
          </a:solidFill>
          <a:ln/>
        </p:spPr>
      </p:sp>
      <p:sp>
        <p:nvSpPr>
          <p:cNvPr id="164" name="Shape 162"/>
          <p:cNvSpPr/>
          <p:nvPr/>
        </p:nvSpPr>
        <p:spPr>
          <a:xfrm>
            <a:off x="8716721" y="4985363"/>
            <a:ext cx="155448" cy="155448"/>
          </a:xfrm>
          <a:prstGeom prst="ellipse">
            <a:avLst/>
          </a:prstGeom>
          <a:solidFill>
            <a:srgbClr val="0B2C4A"/>
          </a:solidFill>
          <a:ln/>
        </p:spPr>
      </p:sp>
      <p:sp>
        <p:nvSpPr>
          <p:cNvPr id="165" name="Shape 163"/>
          <p:cNvSpPr/>
          <p:nvPr/>
        </p:nvSpPr>
        <p:spPr>
          <a:xfrm>
            <a:off x="8381143" y="4985363"/>
            <a:ext cx="155448" cy="155448"/>
          </a:xfrm>
          <a:prstGeom prst="ellipse">
            <a:avLst/>
          </a:prstGeom>
          <a:solidFill>
            <a:srgbClr val="C2352F"/>
          </a:solidFill>
          <a:ln/>
        </p:spPr>
      </p:sp>
      <p:sp>
        <p:nvSpPr>
          <p:cNvPr id="166" name="Text 164"/>
          <p:cNvSpPr txBox="1"/>
          <p:nvPr/>
        </p:nvSpPr>
        <p:spPr>
          <a:xfrm>
            <a:off x="10049256" y="49399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96%</a:t>
            </a:r>
            <a:endParaRPr lang="en-US" sz="1300" dirty="0"/>
          </a:p>
        </p:txBody>
      </p:sp>
      <p:sp>
        <p:nvSpPr>
          <p:cNvPr id="167" name="Text 165"/>
          <p:cNvSpPr txBox="1"/>
          <p:nvPr/>
        </p:nvSpPr>
        <p:spPr>
          <a:xfrm>
            <a:off x="6208776" y="518626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68" name="Shape 166"/>
          <p:cNvSpPr/>
          <p:nvPr/>
        </p:nvSpPr>
        <p:spPr>
          <a:xfrm>
            <a:off x="8448076" y="5295721"/>
            <a:ext cx="363217" cy="27432"/>
          </a:xfrm>
          <a:prstGeom prst="rect">
            <a:avLst/>
          </a:prstGeom>
          <a:solidFill>
            <a:srgbClr val="D9D9D9"/>
          </a:solidFill>
          <a:ln/>
        </p:spPr>
      </p:sp>
      <p:sp>
        <p:nvSpPr>
          <p:cNvPr id="169" name="Shape 167"/>
          <p:cNvSpPr/>
          <p:nvPr/>
        </p:nvSpPr>
        <p:spPr>
          <a:xfrm>
            <a:off x="8733569" y="5231713"/>
            <a:ext cx="155448" cy="155448"/>
          </a:xfrm>
          <a:prstGeom prst="ellipse">
            <a:avLst/>
          </a:prstGeom>
          <a:solidFill>
            <a:srgbClr val="0B2C4A"/>
          </a:solidFill>
          <a:ln/>
        </p:spPr>
      </p:sp>
      <p:sp>
        <p:nvSpPr>
          <p:cNvPr id="170" name="Shape 168"/>
          <p:cNvSpPr/>
          <p:nvPr/>
        </p:nvSpPr>
        <p:spPr>
          <a:xfrm>
            <a:off x="8370352" y="5231713"/>
            <a:ext cx="155448" cy="155448"/>
          </a:xfrm>
          <a:prstGeom prst="ellipse">
            <a:avLst/>
          </a:prstGeom>
          <a:solidFill>
            <a:srgbClr val="C2352F"/>
          </a:solidFill>
          <a:ln/>
        </p:spPr>
      </p:sp>
      <p:sp>
        <p:nvSpPr>
          <p:cNvPr id="171" name="Text 169"/>
          <p:cNvSpPr txBox="1"/>
          <p:nvPr/>
        </p:nvSpPr>
        <p:spPr>
          <a:xfrm>
            <a:off x="10049256" y="518626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68%</a:t>
            </a:r>
            <a:pPr algn="r" indent="0" marL="0">
              <a:buNone/>
            </a:pPr>
            <a:r>
              <a:rPr lang="en-US" sz="1300" dirty="0">
                <a:solidFill>
                  <a:srgbClr val="0B2C4A"/>
                </a:solidFill>
                <a:latin typeface="Inter" pitchFamily="34" charset="0"/>
                <a:ea typeface="Inter" pitchFamily="34" charset="-122"/>
                <a:cs typeface="Inter" pitchFamily="34" charset="-120"/>
              </a:rPr>
              <a:t>  98%</a:t>
            </a:r>
            <a:endParaRPr lang="en-US" sz="1300" dirty="0"/>
          </a:p>
        </p:txBody>
      </p:sp>
      <p:sp>
        <p:nvSpPr>
          <p:cNvPr id="172" name="Text 170"/>
          <p:cNvSpPr txBox="1"/>
          <p:nvPr/>
        </p:nvSpPr>
        <p:spPr>
          <a:xfrm>
            <a:off x="6208776" y="5432612"/>
            <a:ext cx="1938528" cy="246350"/>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173" name="Shape 171"/>
          <p:cNvSpPr/>
          <p:nvPr/>
        </p:nvSpPr>
        <p:spPr>
          <a:xfrm>
            <a:off x="8447091" y="5542071"/>
            <a:ext cx="75203" cy="27432"/>
          </a:xfrm>
          <a:prstGeom prst="rect">
            <a:avLst/>
          </a:prstGeom>
          <a:solidFill>
            <a:srgbClr val="D9D9D9"/>
          </a:solidFill>
          <a:ln/>
        </p:spPr>
      </p:sp>
      <p:sp>
        <p:nvSpPr>
          <p:cNvPr id="174" name="Shape 172"/>
          <p:cNvSpPr/>
          <p:nvPr/>
        </p:nvSpPr>
        <p:spPr>
          <a:xfrm>
            <a:off x="8444570" y="5478063"/>
            <a:ext cx="155448" cy="155448"/>
          </a:xfrm>
          <a:prstGeom prst="ellipse">
            <a:avLst/>
          </a:prstGeom>
          <a:solidFill>
            <a:srgbClr val="0B2C4A"/>
          </a:solidFill>
          <a:ln/>
        </p:spPr>
      </p:sp>
      <p:sp>
        <p:nvSpPr>
          <p:cNvPr id="175" name="Shape 173"/>
          <p:cNvSpPr/>
          <p:nvPr/>
        </p:nvSpPr>
        <p:spPr>
          <a:xfrm>
            <a:off x="8369367" y="5478063"/>
            <a:ext cx="155448" cy="155448"/>
          </a:xfrm>
          <a:prstGeom prst="ellipse">
            <a:avLst/>
          </a:prstGeom>
          <a:solidFill>
            <a:srgbClr val="C2352F"/>
          </a:solidFill>
          <a:ln/>
        </p:spPr>
      </p:sp>
      <p:sp>
        <p:nvSpPr>
          <p:cNvPr id="176" name="Text 174"/>
          <p:cNvSpPr txBox="1"/>
          <p:nvPr/>
        </p:nvSpPr>
        <p:spPr>
          <a:xfrm>
            <a:off x="10049256" y="5432612"/>
            <a:ext cx="1325880" cy="246350"/>
          </a:xfrm>
          <a:prstGeom prst="rect">
            <a:avLst/>
          </a:prstGeom>
          <a:noFill/>
          <a:ln/>
        </p:spPr>
        <p:txBody>
          <a:bodyPr wrap="square" lIns="0" tIns="0" rIns="0" bIns="0" rtlCol="0" anchor="ctr"/>
          <a:lstStyle/>
          <a:p>
            <a:pPr algn="r" indent="0" marL="0">
              <a:buNone/>
            </a:pPr>
            <a:r>
              <a:rPr lang="en-US" sz="1300" b="1" dirty="0">
                <a:solidFill>
                  <a:srgbClr val="A82B26"/>
                </a:solidFill>
                <a:latin typeface="Inter" pitchFamily="34" charset="0"/>
                <a:ea typeface="Inter" pitchFamily="34" charset="-122"/>
                <a:cs typeface="Inter" pitchFamily="34" charset="-120"/>
              </a:rPr>
              <a:t>67%</a:t>
            </a:r>
            <a:pPr algn="r" indent="0" marL="0">
              <a:buNone/>
            </a:pPr>
            <a:r>
              <a:rPr lang="en-US" sz="1300" dirty="0">
                <a:solidFill>
                  <a:srgbClr val="0B2C4A"/>
                </a:solidFill>
                <a:latin typeface="Inter" pitchFamily="34" charset="0"/>
                <a:ea typeface="Inter" pitchFamily="34" charset="-122"/>
                <a:cs typeface="Inter" pitchFamily="34" charset="-120"/>
              </a:rPr>
              <a:t>  74%</a:t>
            </a:r>
            <a:endParaRPr lang="en-US" sz="1300" dirty="0"/>
          </a:p>
        </p:txBody>
      </p:sp>
      <p:sp>
        <p:nvSpPr>
          <p:cNvPr id="177" name="Shape 175"/>
          <p:cNvSpPr/>
          <p:nvPr/>
        </p:nvSpPr>
        <p:spPr>
          <a:xfrm>
            <a:off x="457200" y="6126480"/>
            <a:ext cx="11274552" cy="615696"/>
          </a:xfrm>
          <a:prstGeom prst="rect">
            <a:avLst/>
          </a:prstGeom>
          <a:solidFill>
            <a:srgbClr val="EDF4FA"/>
          </a:solidFill>
          <a:ln/>
        </p:spPr>
      </p:sp>
      <p:sp>
        <p:nvSpPr>
          <p:cNvPr id="178" name="Text 17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At 11 of the 13 stores under 85%, the top quarter of techs already run above 85%. Same bays, same dispatch, same car count.</a:t>
            </a:r>
            <a:endParaRPr lang="en-US" sz="1600" dirty="0"/>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$155K → $209K</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$85K → $112K</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$218K → $279K</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$54K → $66K</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$49K → $60K</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$202K → $246K</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+21.9%</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$311K → $375K</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+20.4%</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$148K → $177K</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+19.1%</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$100K → $119K</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$294K → $345K</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+17.3%</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425 → 570</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543 → 667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350 → 415</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578 → 669</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397 → 459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545 → 617</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+13.0%</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1,561 → 1,759</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330 → 370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1,788 → 1,992</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582 → 641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1.35 → 1.65</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1.56 → 1.76</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1.37 → 1.54</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1.23 → 1.38</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1.65 → 1.79</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1.29 → 1.40</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+8.2%</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1.33 → 1.40</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2.19 → 2.30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+4.9%</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2.60 → 2.73</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3.25 → 3.41</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$128.27 → $141.89</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$227.34 → $244.12</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$139.40 → $147.93</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$142.56 → $150.72</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$139.09 → $146.04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$172.35 → $180.14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$140.89 → $146.92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$216.72 → $225.50</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$155.72 → $161.80</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CADILLAC</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$169.51 → $175.47</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+3.5%</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$230 → $242, +5.1%: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$224 → $298</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+32.9%</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$692 → $877</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+26.6%</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$229 → $282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$200 → $234</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+16.9%</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$204 → $234</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+15.0%</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$136 → $156</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+14.6%</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$257 → $292</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$728 → $811</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+11.4%</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$897 → $988</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$235 → $258</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+9.8%</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$224 to $298, stepping up in June. Ask what changed that month.</a:t>
            </a:r>
            <a:endParaRPr lang="en-US" sz="1600" dirty="0"/>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ALTERNATE VERSION</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382219"/>
          </a:xfrm>
          <a:prstGeom prst="rect">
            <a:avLst/>
          </a:prstGeom>
          <a:solidFill>
            <a:srgbClr val="F7F7F7"/>
          </a:solidFill>
          <a:ln/>
        </p:spPr>
      </p:sp>
      <p:sp>
        <p:nvSpPr>
          <p:cNvPr id="12" name="Text 10"/>
          <p:cNvSpPr txBox="1"/>
          <p:nvPr/>
        </p:nvSpPr>
        <p:spPr>
          <a:xfrm>
            <a:off x="749808" y="1993392"/>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46.6%</a:t>
            </a:r>
            <a:endParaRPr lang="en-US" sz="1400" dirty="0"/>
          </a:p>
        </p:txBody>
      </p:sp>
      <p:graphicFrame>
        <p:nvGraphicFramePr>
          <p:cNvPr id="15" name="Chart 0" descr=""/>
          <p:cNvGraphicFramePr/>
          <p:nvPr/>
        </p:nvGraphicFramePr>
        <p:xfrm>
          <a:off x="5276088" y="2011680"/>
          <a:ext cx="2697480" cy="345643"/>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375611"/>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375611"/>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375611"/>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39.1% → 43.8%</a:t>
            </a:r>
            <a:endParaRPr lang="en-US" sz="1400" dirty="0"/>
          </a:p>
        </p:txBody>
      </p:sp>
      <p:graphicFrame>
        <p:nvGraphicFramePr>
          <p:cNvPr id="21" name="Chart 1" descr=""/>
          <p:cNvGraphicFramePr/>
          <p:nvPr/>
        </p:nvGraphicFramePr>
        <p:xfrm>
          <a:off x="5276088" y="2393899"/>
          <a:ext cx="2697480" cy="345643"/>
        </p:xfrm>
        <a:graphic>
          <a:graphicData uri="http://schemas.openxmlformats.org/drawingml/2006/chart">
            <c:chart xmlns:c="http://schemas.openxmlformats.org/drawingml/2006/chart" r:id="rId3"/>
          </a:graphicData>
        </a:graphic>
      </p:graphicFrame>
      <p:sp>
        <p:nvSpPr>
          <p:cNvPr id="22" name="Text 18"/>
          <p:cNvSpPr txBox="1"/>
          <p:nvPr/>
        </p:nvSpPr>
        <p:spPr>
          <a:xfrm>
            <a:off x="8183880" y="2375611"/>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375611"/>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2757830"/>
            <a:ext cx="10945368" cy="382219"/>
          </a:xfrm>
          <a:prstGeom prst="rect">
            <a:avLst/>
          </a:prstGeom>
          <a:solidFill>
            <a:srgbClr val="F7F7F7"/>
          </a:solidFill>
          <a:ln/>
        </p:spPr>
      </p:sp>
      <p:sp>
        <p:nvSpPr>
          <p:cNvPr id="25" name="Text 21"/>
          <p:cNvSpPr txBox="1"/>
          <p:nvPr/>
        </p:nvSpPr>
        <p:spPr>
          <a:xfrm>
            <a:off x="749808" y="275783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275783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275783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35.3% → 39.2%</a:t>
            </a:r>
            <a:endParaRPr lang="en-US" sz="1400" dirty="0"/>
          </a:p>
        </p:txBody>
      </p:sp>
      <p:graphicFrame>
        <p:nvGraphicFramePr>
          <p:cNvPr id="28" name="Chart 2" descr=""/>
          <p:cNvGraphicFramePr/>
          <p:nvPr/>
        </p:nvGraphicFramePr>
        <p:xfrm>
          <a:off x="5276088" y="2776118"/>
          <a:ext cx="2697480" cy="345643"/>
        </p:xfrm>
        <a:graphic>
          <a:graphicData uri="http://schemas.openxmlformats.org/drawingml/2006/chart">
            <c:chart xmlns:c="http://schemas.openxmlformats.org/drawingml/2006/chart" r:id="rId4"/>
          </a:graphicData>
        </a:graphic>
      </p:graphicFrame>
      <p:sp>
        <p:nvSpPr>
          <p:cNvPr id="29" name="Text 24"/>
          <p:cNvSpPr txBox="1"/>
          <p:nvPr/>
        </p:nvSpPr>
        <p:spPr>
          <a:xfrm>
            <a:off x="8183880" y="275783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275783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3140050"/>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3140050"/>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3140050"/>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41.1% → 44.0%</a:t>
            </a:r>
            <a:endParaRPr lang="en-US" sz="1400" dirty="0"/>
          </a:p>
        </p:txBody>
      </p:sp>
      <p:graphicFrame>
        <p:nvGraphicFramePr>
          <p:cNvPr id="34" name="Chart 3" descr=""/>
          <p:cNvGraphicFramePr/>
          <p:nvPr/>
        </p:nvGraphicFramePr>
        <p:xfrm>
          <a:off x="5276088" y="3158338"/>
          <a:ext cx="2697480" cy="345643"/>
        </p:xfrm>
        <a:graphic>
          <a:graphicData uri="http://schemas.openxmlformats.org/drawingml/2006/chart">
            <c:chart xmlns:c="http://schemas.openxmlformats.org/drawingml/2006/chart" r:id="rId5"/>
          </a:graphicData>
        </a:graphic>
      </p:graphicFrame>
      <p:sp>
        <p:nvSpPr>
          <p:cNvPr id="35" name="Text 29"/>
          <p:cNvSpPr txBox="1"/>
          <p:nvPr/>
        </p:nvSpPr>
        <p:spPr>
          <a:xfrm>
            <a:off x="8183880" y="3140050"/>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3140050"/>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3522269"/>
            <a:ext cx="10945368" cy="382219"/>
          </a:xfrm>
          <a:prstGeom prst="rect">
            <a:avLst/>
          </a:prstGeom>
          <a:solidFill>
            <a:srgbClr val="F7F7F7"/>
          </a:solidFill>
          <a:ln/>
        </p:spPr>
      </p:sp>
      <p:sp>
        <p:nvSpPr>
          <p:cNvPr id="38" name="Text 32"/>
          <p:cNvSpPr txBox="1"/>
          <p:nvPr/>
        </p:nvSpPr>
        <p:spPr>
          <a:xfrm>
            <a:off x="749808" y="3522269"/>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3522269"/>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3522269"/>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39.4% → 41.7%</a:t>
            </a:r>
            <a:endParaRPr lang="en-US" sz="1400" dirty="0"/>
          </a:p>
        </p:txBody>
      </p:sp>
      <p:graphicFrame>
        <p:nvGraphicFramePr>
          <p:cNvPr id="41" name="Chart 4" descr=""/>
          <p:cNvGraphicFramePr/>
          <p:nvPr/>
        </p:nvGraphicFramePr>
        <p:xfrm>
          <a:off x="5276088" y="3540557"/>
          <a:ext cx="2697480" cy="345643"/>
        </p:xfrm>
        <a:graphic>
          <a:graphicData uri="http://schemas.openxmlformats.org/drawingml/2006/chart">
            <c:chart xmlns:c="http://schemas.openxmlformats.org/drawingml/2006/chart" r:id="rId6"/>
          </a:graphicData>
        </a:graphic>
      </p:graphicFrame>
      <p:sp>
        <p:nvSpPr>
          <p:cNvPr id="42" name="Text 35"/>
          <p:cNvSpPr txBox="1"/>
          <p:nvPr/>
        </p:nvSpPr>
        <p:spPr>
          <a:xfrm>
            <a:off x="8183880" y="3522269"/>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3522269"/>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Text 37"/>
          <p:cNvSpPr txBox="1"/>
          <p:nvPr/>
        </p:nvSpPr>
        <p:spPr>
          <a:xfrm>
            <a:off x="749808" y="3904488"/>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6</a:t>
            </a:r>
            <a:endParaRPr lang="en-US" sz="1500" dirty="0"/>
          </a:p>
        </p:txBody>
      </p:sp>
      <p:sp>
        <p:nvSpPr>
          <p:cNvPr id="45" name="Text 38"/>
          <p:cNvSpPr txBox="1"/>
          <p:nvPr/>
        </p:nvSpPr>
        <p:spPr>
          <a:xfrm>
            <a:off x="1097280" y="3904488"/>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6" name="Text 39"/>
          <p:cNvSpPr txBox="1"/>
          <p:nvPr/>
        </p:nvSpPr>
        <p:spPr>
          <a:xfrm>
            <a:off x="3657600" y="3904488"/>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40.1% → 42.4%</a:t>
            </a:r>
            <a:endParaRPr lang="en-US" sz="1400" dirty="0"/>
          </a:p>
        </p:txBody>
      </p:sp>
      <p:graphicFrame>
        <p:nvGraphicFramePr>
          <p:cNvPr id="47" name="Chart 5" descr=""/>
          <p:cNvGraphicFramePr/>
          <p:nvPr/>
        </p:nvGraphicFramePr>
        <p:xfrm>
          <a:off x="5276088" y="3922776"/>
          <a:ext cx="2697480" cy="345643"/>
        </p:xfrm>
        <a:graphic>
          <a:graphicData uri="http://schemas.openxmlformats.org/drawingml/2006/chart">
            <c:chart xmlns:c="http://schemas.openxmlformats.org/drawingml/2006/chart" r:id="rId7"/>
          </a:graphicData>
        </a:graphic>
      </p:graphicFrame>
      <p:sp>
        <p:nvSpPr>
          <p:cNvPr id="48" name="Text 40"/>
          <p:cNvSpPr txBox="1"/>
          <p:nvPr/>
        </p:nvSpPr>
        <p:spPr>
          <a:xfrm>
            <a:off x="8183880" y="3904488"/>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9" name="Text 41"/>
          <p:cNvSpPr txBox="1"/>
          <p:nvPr/>
        </p:nvSpPr>
        <p:spPr>
          <a:xfrm>
            <a:off x="10195560" y="3904488"/>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50" name="Shape 42"/>
          <p:cNvSpPr/>
          <p:nvPr/>
        </p:nvSpPr>
        <p:spPr>
          <a:xfrm>
            <a:off x="621792" y="4286707"/>
            <a:ext cx="10945368" cy="382219"/>
          </a:xfrm>
          <a:prstGeom prst="rect">
            <a:avLst/>
          </a:prstGeom>
          <a:solidFill>
            <a:srgbClr val="F7F7F7"/>
          </a:solidFill>
          <a:ln/>
        </p:spPr>
      </p:sp>
      <p:sp>
        <p:nvSpPr>
          <p:cNvPr id="51" name="Text 43"/>
          <p:cNvSpPr txBox="1"/>
          <p:nvPr/>
        </p:nvSpPr>
        <p:spPr>
          <a:xfrm>
            <a:off x="749808" y="4286707"/>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7</a:t>
            </a:r>
            <a:endParaRPr lang="en-US" sz="1500" dirty="0"/>
          </a:p>
        </p:txBody>
      </p:sp>
      <p:sp>
        <p:nvSpPr>
          <p:cNvPr id="52" name="Text 44"/>
          <p:cNvSpPr txBox="1"/>
          <p:nvPr/>
        </p:nvSpPr>
        <p:spPr>
          <a:xfrm>
            <a:off x="1097280" y="4286707"/>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53" name="Text 45"/>
          <p:cNvSpPr txBox="1"/>
          <p:nvPr/>
        </p:nvSpPr>
        <p:spPr>
          <a:xfrm>
            <a:off x="3657600" y="4286707"/>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34.4% → 36.3%</a:t>
            </a:r>
            <a:endParaRPr lang="en-US" sz="1400" dirty="0"/>
          </a:p>
        </p:txBody>
      </p:sp>
      <p:graphicFrame>
        <p:nvGraphicFramePr>
          <p:cNvPr id="54" name="Chart 6" descr=""/>
          <p:cNvGraphicFramePr/>
          <p:nvPr/>
        </p:nvGraphicFramePr>
        <p:xfrm>
          <a:off x="5276088" y="4304995"/>
          <a:ext cx="2697480" cy="345643"/>
        </p:xfrm>
        <a:graphic>
          <a:graphicData uri="http://schemas.openxmlformats.org/drawingml/2006/chart">
            <c:chart xmlns:c="http://schemas.openxmlformats.org/drawingml/2006/chart" r:id="rId8"/>
          </a:graphicData>
        </a:graphic>
      </p:graphicFrame>
      <p:sp>
        <p:nvSpPr>
          <p:cNvPr id="55" name="Text 46"/>
          <p:cNvSpPr txBox="1"/>
          <p:nvPr/>
        </p:nvSpPr>
        <p:spPr>
          <a:xfrm>
            <a:off x="8183880" y="4286707"/>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56" name="Text 47"/>
          <p:cNvSpPr txBox="1"/>
          <p:nvPr/>
        </p:nvSpPr>
        <p:spPr>
          <a:xfrm>
            <a:off x="10195560" y="4286707"/>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57" name="Text 48"/>
          <p:cNvSpPr txBox="1"/>
          <p:nvPr/>
        </p:nvSpPr>
        <p:spPr>
          <a:xfrm>
            <a:off x="749808" y="466892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8</a:t>
            </a:r>
            <a:endParaRPr lang="en-US" sz="1500" dirty="0"/>
          </a:p>
        </p:txBody>
      </p:sp>
      <p:sp>
        <p:nvSpPr>
          <p:cNvPr id="58" name="Text 49"/>
          <p:cNvSpPr txBox="1"/>
          <p:nvPr/>
        </p:nvSpPr>
        <p:spPr>
          <a:xfrm>
            <a:off x="1097280" y="466892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p:txBody>
      </p:sp>
      <p:sp>
        <p:nvSpPr>
          <p:cNvPr id="59" name="Text 50"/>
          <p:cNvSpPr txBox="1"/>
          <p:nvPr/>
        </p:nvSpPr>
        <p:spPr>
          <a:xfrm>
            <a:off x="3657600" y="466892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40.9% → 42.2%</a:t>
            </a:r>
            <a:endParaRPr lang="en-US" sz="1400" dirty="0"/>
          </a:p>
        </p:txBody>
      </p:sp>
      <p:graphicFrame>
        <p:nvGraphicFramePr>
          <p:cNvPr id="60" name="Chart 7" descr=""/>
          <p:cNvGraphicFramePr/>
          <p:nvPr/>
        </p:nvGraphicFramePr>
        <p:xfrm>
          <a:off x="5276088" y="4687214"/>
          <a:ext cx="2697480" cy="345643"/>
        </p:xfrm>
        <a:graphic>
          <a:graphicData uri="http://schemas.openxmlformats.org/drawingml/2006/chart">
            <c:chart xmlns:c="http://schemas.openxmlformats.org/drawingml/2006/chart" r:id="rId9"/>
          </a:graphicData>
        </a:graphic>
      </p:graphicFrame>
      <p:sp>
        <p:nvSpPr>
          <p:cNvPr id="61" name="Text 51"/>
          <p:cNvSpPr txBox="1"/>
          <p:nvPr/>
        </p:nvSpPr>
        <p:spPr>
          <a:xfrm>
            <a:off x="8183880" y="466892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2" name="Text 52"/>
          <p:cNvSpPr txBox="1"/>
          <p:nvPr/>
        </p:nvSpPr>
        <p:spPr>
          <a:xfrm>
            <a:off x="10195560" y="466892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 pts</a:t>
            </a:r>
            <a:endParaRPr lang="en-US" sz="1600" dirty="0"/>
          </a:p>
        </p:txBody>
      </p:sp>
      <p:sp>
        <p:nvSpPr>
          <p:cNvPr id="63" name="Shape 53"/>
          <p:cNvSpPr/>
          <p:nvPr/>
        </p:nvSpPr>
        <p:spPr>
          <a:xfrm>
            <a:off x="621792" y="5051146"/>
            <a:ext cx="10945368" cy="382219"/>
          </a:xfrm>
          <a:prstGeom prst="rect">
            <a:avLst/>
          </a:prstGeom>
          <a:solidFill>
            <a:srgbClr val="F7F7F7"/>
          </a:solidFill>
          <a:ln/>
        </p:spPr>
      </p:sp>
      <p:sp>
        <p:nvSpPr>
          <p:cNvPr id="64" name="Text 54"/>
          <p:cNvSpPr txBox="1"/>
          <p:nvPr/>
        </p:nvSpPr>
        <p:spPr>
          <a:xfrm>
            <a:off x="749808" y="5051146"/>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9</a:t>
            </a:r>
            <a:endParaRPr lang="en-US" sz="1500" dirty="0"/>
          </a:p>
        </p:txBody>
      </p:sp>
      <p:sp>
        <p:nvSpPr>
          <p:cNvPr id="65" name="Text 55"/>
          <p:cNvSpPr txBox="1"/>
          <p:nvPr/>
        </p:nvSpPr>
        <p:spPr>
          <a:xfrm>
            <a:off x="1097280" y="5051146"/>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66" name="Text 56"/>
          <p:cNvSpPr txBox="1"/>
          <p:nvPr/>
        </p:nvSpPr>
        <p:spPr>
          <a:xfrm>
            <a:off x="3657600" y="5051146"/>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44.4% → 45.7%</a:t>
            </a:r>
            <a:endParaRPr lang="en-US" sz="1400" dirty="0"/>
          </a:p>
        </p:txBody>
      </p:sp>
      <p:graphicFrame>
        <p:nvGraphicFramePr>
          <p:cNvPr id="67" name="Chart 8" descr=""/>
          <p:cNvGraphicFramePr/>
          <p:nvPr/>
        </p:nvGraphicFramePr>
        <p:xfrm>
          <a:off x="5276088" y="5069434"/>
          <a:ext cx="2697480" cy="345643"/>
        </p:xfrm>
        <a:graphic>
          <a:graphicData uri="http://schemas.openxmlformats.org/drawingml/2006/chart">
            <c:chart xmlns:c="http://schemas.openxmlformats.org/drawingml/2006/chart" r:id="rId10"/>
          </a:graphicData>
        </a:graphic>
      </p:graphicFrame>
      <p:sp>
        <p:nvSpPr>
          <p:cNvPr id="68" name="Text 57"/>
          <p:cNvSpPr txBox="1"/>
          <p:nvPr/>
        </p:nvSpPr>
        <p:spPr>
          <a:xfrm>
            <a:off x="8183880" y="5051146"/>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69" name="Text 58"/>
          <p:cNvSpPr txBox="1"/>
          <p:nvPr/>
        </p:nvSpPr>
        <p:spPr>
          <a:xfrm>
            <a:off x="10195560" y="5051146"/>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 pts</a:t>
            </a:r>
            <a:endParaRPr lang="en-US" sz="1600" dirty="0"/>
          </a:p>
        </p:txBody>
      </p:sp>
      <p:sp>
        <p:nvSpPr>
          <p:cNvPr id="70" name="Text 59"/>
          <p:cNvSpPr txBox="1"/>
          <p:nvPr/>
        </p:nvSpPr>
        <p:spPr>
          <a:xfrm>
            <a:off x="749808" y="5433365"/>
            <a:ext cx="310896" cy="382219"/>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10</a:t>
            </a:r>
            <a:endParaRPr lang="en-US" sz="1500" dirty="0"/>
          </a:p>
        </p:txBody>
      </p:sp>
      <p:sp>
        <p:nvSpPr>
          <p:cNvPr id="71" name="Text 60"/>
          <p:cNvSpPr txBox="1"/>
          <p:nvPr/>
        </p:nvSpPr>
        <p:spPr>
          <a:xfrm>
            <a:off x="1097280" y="5433365"/>
            <a:ext cx="2468880" cy="382219"/>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72" name="Text 61"/>
          <p:cNvSpPr txBox="1"/>
          <p:nvPr/>
        </p:nvSpPr>
        <p:spPr>
          <a:xfrm>
            <a:off x="3657600" y="5433365"/>
            <a:ext cx="1645920" cy="382219"/>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36.8% → 37.9%</a:t>
            </a:r>
            <a:endParaRPr lang="en-US" sz="1400" dirty="0"/>
          </a:p>
        </p:txBody>
      </p:sp>
      <p:graphicFrame>
        <p:nvGraphicFramePr>
          <p:cNvPr id="73" name="Chart 9" descr=""/>
          <p:cNvGraphicFramePr/>
          <p:nvPr/>
        </p:nvGraphicFramePr>
        <p:xfrm>
          <a:off x="5276088" y="5451653"/>
          <a:ext cx="2697480" cy="345643"/>
        </p:xfrm>
        <a:graphic>
          <a:graphicData uri="http://schemas.openxmlformats.org/drawingml/2006/chart">
            <c:chart xmlns:c="http://schemas.openxmlformats.org/drawingml/2006/chart" r:id="rId11"/>
          </a:graphicData>
        </a:graphic>
      </p:graphicFrame>
      <p:sp>
        <p:nvSpPr>
          <p:cNvPr id="74" name="Text 62"/>
          <p:cNvSpPr txBox="1"/>
          <p:nvPr/>
        </p:nvSpPr>
        <p:spPr>
          <a:xfrm>
            <a:off x="8183880" y="5433365"/>
            <a:ext cx="1737360" cy="382219"/>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75" name="Text 63"/>
          <p:cNvSpPr txBox="1"/>
          <p:nvPr/>
        </p:nvSpPr>
        <p:spPr>
          <a:xfrm>
            <a:off x="10195560" y="5433365"/>
            <a:ext cx="1371600" cy="382219"/>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 pts</a:t>
            </a:r>
            <a:endParaRPr lang="en-US" sz="1600" dirty="0"/>
          </a:p>
        </p:txBody>
      </p:sp>
      <p:sp>
        <p:nvSpPr>
          <p:cNvPr id="76" name="Shape 64"/>
          <p:cNvSpPr/>
          <p:nvPr/>
        </p:nvSpPr>
        <p:spPr>
          <a:xfrm>
            <a:off x="457200" y="6126480"/>
            <a:ext cx="11274552" cy="371856"/>
          </a:xfrm>
          <a:prstGeom prst="rect">
            <a:avLst/>
          </a:prstGeom>
          <a:solidFill>
            <a:srgbClr val="E6F6EE"/>
          </a:solidFill>
          <a:ln/>
        </p:spPr>
      </p:sp>
      <p:sp>
        <p:nvSpPr>
          <p:cNvPr id="77" name="Text 6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ROs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29,846 → 32,085, +7.5%: that is the season. 17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570</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667</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415</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+18.6%</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578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669</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459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Lexus went 425 to 570, stepping up in April. Ask what changed that month.</a:t>
            </a:r>
            <a:endParaRPr lang="en-US" sz="1600" dirty="0"/>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Hours per RO</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1.87 → 1.84, −1.8%: that is the season. 22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1.65</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+22.1%</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1.76</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+13.1%</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1.54</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1.38</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1.65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1.79</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1.35 to 1.65, stepping up in August. Ask what changed that month.</a:t>
            </a:r>
            <a:endParaRPr lang="en-US" sz="1600" dirty="0"/>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ELR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$161.81 → $163.67, +1.1%: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$128.27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$141.89</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$227.34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$244.12</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$139.40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$147.93</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$142.56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$150.72</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$139.09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$146.04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VW St George went $128.27 to $141.89, stepping up in June. Ask what changed that month.</a:t>
            </a:r>
            <a:endParaRPr lang="en-US" sz="1600" dirty="0"/>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Parts GP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40.6% → 40.6%, 0.0 pts: that is the season. 18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46.6%</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43.8%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39.2%</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44.0%</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39.4%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41.7%</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went 39.4% to 46.6%, stepping up in April. Ask what changed that month.</a:t>
            </a:r>
            <a:endParaRPr lang="en-US" sz="1600" dirty="0"/>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CP Gross per Month</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$10.10M → $10.96M, +8.4%: that is the season. 21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$155K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$209K</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+34.6%</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$85K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$112K</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$218K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$279K</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+27.8%</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$54K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$66K</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+23.2%</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$49K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$60K</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+22.0%</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$155K to $209K, stepping up in August. Ask what changed that month.</a:t>
            </a:r>
            <a:endParaRPr lang="en-US" sz="1600" dirty="0"/>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Alignment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12.9% → 13.1%, +0.1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21.1%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31.7%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May</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12.6%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22.8%</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11.8%</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+7.7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19.4%</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Audi Henderson went 21.1% to 31.7%, stepping up in May. Ask what changed that month.</a:t>
            </a:r>
            <a:endParaRPr lang="en-US" sz="1600" dirty="0"/>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Balance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8.2% → 8.3%,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19.3%</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10.8%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16.1%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+5.2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4.0%</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+3.2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8.5%</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+3.1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9.7%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12.2%</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+2.5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10.1% to 19.3%, stepping up in August. Ask what changed that month.</a:t>
            </a:r>
            <a:endParaRPr lang="en-US" sz="1600" dirty="0"/>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Brake Fluid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9.1% → 9.1%, 0.0 pts: that is the season. 15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5.2%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14.1%</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+8.9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5.3%</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3.9%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7.9%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8.3%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11.7%</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8.1%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10.3%</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July</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+2.1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5.2% to 14.1%, stepping up in August. Ask what changed that month.</a:t>
            </a:r>
            <a:endParaRPr lang="en-US" sz="1600" dirty="0"/>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WHO'S MOVING NOW · LINE CHART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Who's Moving Now: Fuel Service %</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310896"/>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Q1 → Q3 2026. Group 5.8% → 5.6%, −0.2 pts: that is the season. 19 of 33 stores beat it.</a:t>
            </a:r>
            <a:endParaRPr lang="en-US" sz="1400" dirty="0"/>
          </a:p>
        </p:txBody>
      </p:sp>
      <p:sp>
        <p:nvSpPr>
          <p:cNvPr id="7" name="Text 5"/>
          <p:cNvSpPr txBox="1"/>
          <p:nvPr/>
        </p:nvSpPr>
        <p:spPr>
          <a:xfrm>
            <a:off x="3657600" y="1682496"/>
            <a:ext cx="155448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8" name="Text 6"/>
          <p:cNvSpPr txBox="1"/>
          <p:nvPr/>
        </p:nvSpPr>
        <p:spPr>
          <a:xfrm>
            <a:off x="5349240" y="1682496"/>
            <a:ext cx="26517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Jan – Sep 2026, by month</a:t>
            </a:r>
            <a:endParaRPr lang="en-US" sz="1400" dirty="0"/>
          </a:p>
        </p:txBody>
      </p:sp>
      <p:sp>
        <p:nvSpPr>
          <p:cNvPr id="9" name="Text 7"/>
          <p:cNvSpPr txBox="1"/>
          <p:nvPr/>
        </p:nvSpPr>
        <p:spPr>
          <a:xfrm>
            <a:off x="8183880" y="1682496"/>
            <a:ext cx="1737360" cy="274320"/>
          </a:xfrm>
          <a:prstGeom prst="rect">
            <a:avLst/>
          </a:prstGeom>
          <a:noFill/>
          <a:ln/>
        </p:spPr>
        <p:txBody>
          <a:bodyPr wrap="square" lIns="0" tIns="0" rIns="0" bIns="0" rtlCol="0" anchor="ctr"/>
          <a:lstStyle/>
          <a:p>
            <a:pPr algn="l" indent="0" marL="0">
              <a:buNone/>
            </a:pPr>
            <a:r>
              <a:rPr lang="en-US" sz="1400" b="1" dirty="0">
                <a:solidFill>
                  <a:srgbClr val="595959"/>
                </a:solidFill>
                <a:latin typeface="Inter" pitchFamily="34" charset="0"/>
                <a:ea typeface="Inter" pitchFamily="34" charset="-122"/>
                <a:cs typeface="Inter" pitchFamily="34" charset="-120"/>
              </a:rPr>
              <a:t>Stepped up in</a:t>
            </a:r>
            <a:endParaRPr lang="en-US" sz="1400" dirty="0"/>
          </a:p>
        </p:txBody>
      </p:sp>
      <p:sp>
        <p:nvSpPr>
          <p:cNvPr id="10" name="Text 8"/>
          <p:cNvSpPr txBox="1"/>
          <p:nvPr/>
        </p:nvSpPr>
        <p:spPr>
          <a:xfrm>
            <a:off x="10195560" y="1682496"/>
            <a:ext cx="1371600" cy="274320"/>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Q1 → Q3</a:t>
            </a:r>
            <a:endParaRPr lang="en-US" sz="1400" dirty="0"/>
          </a:p>
        </p:txBody>
      </p:sp>
      <p:sp>
        <p:nvSpPr>
          <p:cNvPr id="11" name="Shape 9"/>
          <p:cNvSpPr/>
          <p:nvPr/>
        </p:nvSpPr>
        <p:spPr>
          <a:xfrm>
            <a:off x="621792" y="1993392"/>
            <a:ext cx="10945368" cy="731520"/>
          </a:xfrm>
          <a:prstGeom prst="rect">
            <a:avLst/>
          </a:prstGeom>
          <a:solidFill>
            <a:srgbClr val="F7F7F7"/>
          </a:solidFill>
          <a:ln/>
        </p:spPr>
      </p:sp>
      <p:sp>
        <p:nvSpPr>
          <p:cNvPr id="12" name="Text 10"/>
          <p:cNvSpPr txBox="1"/>
          <p:nvPr/>
        </p:nvSpPr>
        <p:spPr>
          <a:xfrm>
            <a:off x="749808" y="199339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3" name="Text 11"/>
          <p:cNvSpPr txBox="1"/>
          <p:nvPr/>
        </p:nvSpPr>
        <p:spPr>
          <a:xfrm>
            <a:off x="1097280" y="199339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14" name="Text 12"/>
          <p:cNvSpPr txBox="1"/>
          <p:nvPr/>
        </p:nvSpPr>
        <p:spPr>
          <a:xfrm>
            <a:off x="3657600" y="199339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2.5%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10.7%</a:t>
            </a:r>
            <a:endParaRPr lang="en-US" sz="1400" dirty="0"/>
          </a:p>
        </p:txBody>
      </p:sp>
      <p:graphicFrame>
        <p:nvGraphicFramePr>
          <p:cNvPr id="15" name="Chart 0" descr=""/>
          <p:cNvGraphicFramePr/>
          <p:nvPr/>
        </p:nvGraphicFramePr>
        <p:xfrm>
          <a:off x="5276088" y="2011680"/>
          <a:ext cx="2697480" cy="694944"/>
        </p:xfrm>
        <a:graphic>
          <a:graphicData uri="http://schemas.openxmlformats.org/drawingml/2006/chart">
            <c:chart xmlns:c="http://schemas.openxmlformats.org/drawingml/2006/chart" r:id="rId2"/>
          </a:graphicData>
        </a:graphic>
      </p:graphicFrame>
      <p:sp>
        <p:nvSpPr>
          <p:cNvPr id="16" name="Text 13"/>
          <p:cNvSpPr txBox="1"/>
          <p:nvPr/>
        </p:nvSpPr>
        <p:spPr>
          <a:xfrm>
            <a:off x="8183880" y="199339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17" name="Text 14"/>
          <p:cNvSpPr txBox="1"/>
          <p:nvPr/>
        </p:nvSpPr>
        <p:spPr>
          <a:xfrm>
            <a:off x="10195560" y="199339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 pts</a:t>
            </a:r>
            <a:endParaRPr lang="en-US" sz="1600" dirty="0"/>
          </a:p>
        </p:txBody>
      </p:sp>
      <p:sp>
        <p:nvSpPr>
          <p:cNvPr id="18" name="Text 15"/>
          <p:cNvSpPr txBox="1"/>
          <p:nvPr/>
        </p:nvSpPr>
        <p:spPr>
          <a:xfrm>
            <a:off x="749808" y="272491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9" name="Text 16"/>
          <p:cNvSpPr txBox="1"/>
          <p:nvPr/>
        </p:nvSpPr>
        <p:spPr>
          <a:xfrm>
            <a:off x="1097280" y="272491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0" name="Text 17"/>
          <p:cNvSpPr txBox="1"/>
          <p:nvPr/>
        </p:nvSpPr>
        <p:spPr>
          <a:xfrm>
            <a:off x="3657600" y="272491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4.2%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8.1%</a:t>
            </a:r>
            <a:endParaRPr lang="en-US" sz="1400" dirty="0"/>
          </a:p>
        </p:txBody>
      </p:sp>
      <p:graphicFrame>
        <p:nvGraphicFramePr>
          <p:cNvPr id="21" name="Chart 1" descr=""/>
          <p:cNvGraphicFramePr/>
          <p:nvPr/>
        </p:nvGraphicFramePr>
        <p:xfrm>
          <a:off x="5276088" y="2743200"/>
          <a:ext cx="2697480" cy="694944"/>
        </p:xfrm>
        <a:graphic>
          <a:graphicData uri="http://schemas.openxmlformats.org/drawingml/2006/chart">
            <c:chart xmlns:c="http://schemas.openxmlformats.org/drawingml/2006/chart" r:id="rId3"/>
          </a:graphicData>
        </a:graphic>
      </p:graphicFrame>
      <p:sp>
        <p:nvSpPr>
          <p:cNvPr id="22" name="Text 18"/>
          <p:cNvSpPr txBox="1"/>
          <p:nvPr/>
        </p:nvSpPr>
        <p:spPr>
          <a:xfrm>
            <a:off x="8183880" y="272491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23" name="Text 19"/>
          <p:cNvSpPr txBox="1"/>
          <p:nvPr/>
        </p:nvSpPr>
        <p:spPr>
          <a:xfrm>
            <a:off x="10195560" y="272491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+3.9 pts</a:t>
            </a:r>
            <a:endParaRPr lang="en-US" sz="1600" dirty="0"/>
          </a:p>
        </p:txBody>
      </p:sp>
      <p:sp>
        <p:nvSpPr>
          <p:cNvPr id="24" name="Shape 20"/>
          <p:cNvSpPr/>
          <p:nvPr/>
        </p:nvSpPr>
        <p:spPr>
          <a:xfrm>
            <a:off x="621792" y="3456432"/>
            <a:ext cx="10945368" cy="731520"/>
          </a:xfrm>
          <a:prstGeom prst="rect">
            <a:avLst/>
          </a:prstGeom>
          <a:solidFill>
            <a:srgbClr val="F7F7F7"/>
          </a:solidFill>
          <a:ln/>
        </p:spPr>
      </p:sp>
      <p:sp>
        <p:nvSpPr>
          <p:cNvPr id="25" name="Text 21"/>
          <p:cNvSpPr txBox="1"/>
          <p:nvPr/>
        </p:nvSpPr>
        <p:spPr>
          <a:xfrm>
            <a:off x="749808" y="345643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6" name="Text 22"/>
          <p:cNvSpPr txBox="1"/>
          <p:nvPr/>
        </p:nvSpPr>
        <p:spPr>
          <a:xfrm>
            <a:off x="1097280" y="345643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27" name="Text 23"/>
          <p:cNvSpPr txBox="1"/>
          <p:nvPr/>
        </p:nvSpPr>
        <p:spPr>
          <a:xfrm>
            <a:off x="3657600" y="345643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1.2%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4.9%</a:t>
            </a:r>
            <a:endParaRPr lang="en-US" sz="1400" dirty="0"/>
          </a:p>
        </p:txBody>
      </p:sp>
      <p:graphicFrame>
        <p:nvGraphicFramePr>
          <p:cNvPr id="28" name="Chart 2" descr=""/>
          <p:cNvGraphicFramePr/>
          <p:nvPr/>
        </p:nvGraphicFramePr>
        <p:xfrm>
          <a:off x="5276088" y="3474720"/>
          <a:ext cx="2697480" cy="694944"/>
        </p:xfrm>
        <a:graphic>
          <a:graphicData uri="http://schemas.openxmlformats.org/drawingml/2006/chart">
            <c:chart xmlns:c="http://schemas.openxmlformats.org/drawingml/2006/chart" r:id="rId4"/>
          </a:graphicData>
        </a:graphic>
      </p:graphicFrame>
      <p:sp>
        <p:nvSpPr>
          <p:cNvPr id="29" name="Text 24"/>
          <p:cNvSpPr txBox="1"/>
          <p:nvPr/>
        </p:nvSpPr>
        <p:spPr>
          <a:xfrm>
            <a:off x="8183880" y="345643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April</a:t>
            </a:r>
            <a:endParaRPr lang="en-US" sz="1400" dirty="0"/>
          </a:p>
        </p:txBody>
      </p:sp>
      <p:sp>
        <p:nvSpPr>
          <p:cNvPr id="30" name="Text 25"/>
          <p:cNvSpPr txBox="1"/>
          <p:nvPr/>
        </p:nvSpPr>
        <p:spPr>
          <a:xfrm>
            <a:off x="10195560" y="345643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+3.6 pts</a:t>
            </a:r>
            <a:endParaRPr lang="en-US" sz="1600" dirty="0"/>
          </a:p>
        </p:txBody>
      </p:sp>
      <p:sp>
        <p:nvSpPr>
          <p:cNvPr id="31" name="Text 26"/>
          <p:cNvSpPr txBox="1"/>
          <p:nvPr/>
        </p:nvSpPr>
        <p:spPr>
          <a:xfrm>
            <a:off x="749808" y="418795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32" name="Text 27"/>
          <p:cNvSpPr txBox="1"/>
          <p:nvPr/>
        </p:nvSpPr>
        <p:spPr>
          <a:xfrm>
            <a:off x="1097280" y="418795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33" name="Text 28"/>
          <p:cNvSpPr txBox="1"/>
          <p:nvPr/>
        </p:nvSpPr>
        <p:spPr>
          <a:xfrm>
            <a:off x="3657600" y="418795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6.7%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10.1%</a:t>
            </a:r>
            <a:endParaRPr lang="en-US" sz="1400" dirty="0"/>
          </a:p>
        </p:txBody>
      </p:sp>
      <p:graphicFrame>
        <p:nvGraphicFramePr>
          <p:cNvPr id="34" name="Chart 3" descr=""/>
          <p:cNvGraphicFramePr/>
          <p:nvPr/>
        </p:nvGraphicFramePr>
        <p:xfrm>
          <a:off x="5276088" y="4206240"/>
          <a:ext cx="2697480" cy="694944"/>
        </p:xfrm>
        <a:graphic>
          <a:graphicData uri="http://schemas.openxmlformats.org/drawingml/2006/chart">
            <c:chart xmlns:c="http://schemas.openxmlformats.org/drawingml/2006/chart" r:id="rId5"/>
          </a:graphicData>
        </a:graphic>
      </p:graphicFrame>
      <p:sp>
        <p:nvSpPr>
          <p:cNvPr id="35" name="Text 29"/>
          <p:cNvSpPr txBox="1"/>
          <p:nvPr/>
        </p:nvSpPr>
        <p:spPr>
          <a:xfrm>
            <a:off x="8183880" y="418795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June</a:t>
            </a:r>
            <a:endParaRPr lang="en-US" sz="1400" dirty="0"/>
          </a:p>
        </p:txBody>
      </p:sp>
      <p:sp>
        <p:nvSpPr>
          <p:cNvPr id="36" name="Text 30"/>
          <p:cNvSpPr txBox="1"/>
          <p:nvPr/>
        </p:nvSpPr>
        <p:spPr>
          <a:xfrm>
            <a:off x="10195560" y="418795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37" name="Shape 31"/>
          <p:cNvSpPr/>
          <p:nvPr/>
        </p:nvSpPr>
        <p:spPr>
          <a:xfrm>
            <a:off x="621792" y="4919472"/>
            <a:ext cx="10945368" cy="731520"/>
          </a:xfrm>
          <a:prstGeom prst="rect">
            <a:avLst/>
          </a:prstGeom>
          <a:solidFill>
            <a:srgbClr val="F7F7F7"/>
          </a:solidFill>
          <a:ln/>
        </p:spPr>
      </p:sp>
      <p:sp>
        <p:nvSpPr>
          <p:cNvPr id="38" name="Text 32"/>
          <p:cNvSpPr txBox="1"/>
          <p:nvPr/>
        </p:nvSpPr>
        <p:spPr>
          <a:xfrm>
            <a:off x="749808" y="4919472"/>
            <a:ext cx="310896" cy="731520"/>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9" name="Text 33"/>
          <p:cNvSpPr txBox="1"/>
          <p:nvPr/>
        </p:nvSpPr>
        <p:spPr>
          <a:xfrm>
            <a:off x="1097280" y="4919472"/>
            <a:ext cx="2468880" cy="731520"/>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AUDI RENO</a:t>
            </a:r>
            <a:endParaRPr lang="en-US" sz="1400" dirty="0"/>
          </a:p>
        </p:txBody>
      </p:sp>
      <p:sp>
        <p:nvSpPr>
          <p:cNvPr id="40" name="Text 34"/>
          <p:cNvSpPr txBox="1"/>
          <p:nvPr/>
        </p:nvSpPr>
        <p:spPr>
          <a:xfrm>
            <a:off x="3657600" y="4919472"/>
            <a:ext cx="1783080" cy="731520"/>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0.0%  </a:t>
            </a:r>
            <a:pPr indent="0" marL="0">
              <a:buNone/>
            </a:pPr>
            <a:r>
              <a:rPr lang="en-US" sz="1400" b="1" dirty="0">
                <a:solidFill>
                  <a:srgbClr val="0B7A4A"/>
                </a:solidFill>
                <a:latin typeface="Inter" pitchFamily="34" charset="0"/>
                <a:ea typeface="Inter" pitchFamily="34" charset="-122"/>
                <a:cs typeface="Inter" pitchFamily="34" charset="-120"/>
              </a:rPr>
              <a:t>→  </a:t>
            </a:r>
            <a:pPr indent="0" marL="0">
              <a:buNone/>
            </a:pPr>
            <a:r>
              <a:rPr lang="en-US" sz="1400" b="1" dirty="0">
                <a:solidFill>
                  <a:srgbClr val="0B7A4A"/>
                </a:solidFill>
                <a:latin typeface="Inter" pitchFamily="34" charset="0"/>
                <a:ea typeface="Inter" pitchFamily="34" charset="-122"/>
                <a:cs typeface="Inter" pitchFamily="34" charset="-120"/>
              </a:rPr>
              <a:t>2.5%</a:t>
            </a:r>
            <a:endParaRPr lang="en-US" sz="1400" dirty="0"/>
          </a:p>
        </p:txBody>
      </p:sp>
      <p:graphicFrame>
        <p:nvGraphicFramePr>
          <p:cNvPr id="41" name="Chart 4" descr=""/>
          <p:cNvGraphicFramePr/>
          <p:nvPr/>
        </p:nvGraphicFramePr>
        <p:xfrm>
          <a:off x="5276088" y="4937760"/>
          <a:ext cx="2697480" cy="694944"/>
        </p:xfrm>
        <a:graphic>
          <a:graphicData uri="http://schemas.openxmlformats.org/drawingml/2006/chart">
            <c:chart xmlns:c="http://schemas.openxmlformats.org/drawingml/2006/chart" r:id="rId6"/>
          </a:graphicData>
        </a:graphic>
      </p:graphicFrame>
      <p:sp>
        <p:nvSpPr>
          <p:cNvPr id="42" name="Text 35"/>
          <p:cNvSpPr txBox="1"/>
          <p:nvPr/>
        </p:nvSpPr>
        <p:spPr>
          <a:xfrm>
            <a:off x="8183880" y="4919472"/>
            <a:ext cx="1737360" cy="731520"/>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August</a:t>
            </a:r>
            <a:endParaRPr lang="en-US" sz="1400" dirty="0"/>
          </a:p>
        </p:txBody>
      </p:sp>
      <p:sp>
        <p:nvSpPr>
          <p:cNvPr id="43" name="Text 36"/>
          <p:cNvSpPr txBox="1"/>
          <p:nvPr/>
        </p:nvSpPr>
        <p:spPr>
          <a:xfrm>
            <a:off x="10195560" y="4919472"/>
            <a:ext cx="1371600" cy="731520"/>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+2.4 pts</a:t>
            </a:r>
            <a:endParaRPr lang="en-US" sz="1600" dirty="0"/>
          </a:p>
        </p:txBody>
      </p:sp>
      <p:sp>
        <p:nvSpPr>
          <p:cNvPr id="44" name="Shape 37"/>
          <p:cNvSpPr/>
          <p:nvPr/>
        </p:nvSpPr>
        <p:spPr>
          <a:xfrm>
            <a:off x="457200" y="6126480"/>
            <a:ext cx="11274552" cy="371856"/>
          </a:xfrm>
          <a:prstGeom prst="rect">
            <a:avLst/>
          </a:prstGeom>
          <a:solidFill>
            <a:srgbClr val="E6F6EE"/>
          </a:solidFill>
          <a:ln/>
        </p:spPr>
      </p:sp>
      <p:sp>
        <p:nvSpPr>
          <p:cNvPr id="45" name="Text 3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Mazda went 2.5% to 10.7%, stepping up in August. Ask what changed that month.</a:t>
            </a:r>
            <a:endParaRPr lang="en-US" sz="1600" dirty="0"/>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January–September</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vs Jan–Sep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+6.4%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+46.0%</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+45.3%</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+33.8%</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+0.1%</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LV</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+13.6%</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+12.6%</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+10.5%</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+3.6%</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+39.1%</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+31.3%</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+30.7%</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+2.2%</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+20.1%</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+4.1%</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+28.9%</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LEXUS</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+21.0%</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+6.1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NISSAN</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+4.5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+3.8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makes three of six lists; three stores make two.</a:t>
            </a:r>
            <a:endParaRPr lang="en-US" sz="1600" dirty="0"/>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Stores · Last 90 Days</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713232" y="1298448"/>
            <a:ext cx="10762488"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Top three stores on each measure, Jul–Sep vs Jul–Sep 2025</a:t>
            </a:r>
            <a:endParaRPr lang="en-US" sz="1400" dirty="0"/>
          </a:p>
        </p:txBody>
      </p:sp>
      <p:sp>
        <p:nvSpPr>
          <p:cNvPr id="7" name="Shape 5"/>
          <p:cNvSpPr/>
          <p:nvPr/>
        </p:nvSpPr>
        <p:spPr>
          <a:xfrm>
            <a:off x="713232" y="1682496"/>
            <a:ext cx="3453384" cy="1938528"/>
          </a:xfrm>
          <a:prstGeom prst="rect">
            <a:avLst/>
          </a:prstGeom>
          <a:solidFill>
            <a:srgbClr val="F7F7F7"/>
          </a:solidFill>
          <a:ln/>
        </p:spPr>
      </p:sp>
      <p:sp>
        <p:nvSpPr>
          <p:cNvPr id="8" name="Shape 6"/>
          <p:cNvSpPr/>
          <p:nvPr/>
        </p:nvSpPr>
        <p:spPr>
          <a:xfrm>
            <a:off x="713232" y="1682496"/>
            <a:ext cx="3453384" cy="54864"/>
          </a:xfrm>
          <a:prstGeom prst="rect">
            <a:avLst/>
          </a:prstGeom>
          <a:solidFill>
            <a:srgbClr val="12A566"/>
          </a:solidFill>
          <a:ln/>
        </p:spPr>
      </p:sp>
      <p:sp>
        <p:nvSpPr>
          <p:cNvPr id="9" name="Text 7"/>
          <p:cNvSpPr txBox="1"/>
          <p:nvPr/>
        </p:nvSpPr>
        <p:spPr>
          <a:xfrm>
            <a:off x="859536"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GROSS</a:t>
            </a:r>
            <a:endParaRPr lang="en-US" sz="1400" dirty="0"/>
          </a:p>
        </p:txBody>
      </p:sp>
      <p:sp>
        <p:nvSpPr>
          <p:cNvPr id="10" name="Text 8"/>
          <p:cNvSpPr txBox="1"/>
          <p:nvPr/>
        </p:nvSpPr>
        <p:spPr>
          <a:xfrm>
            <a:off x="2795016"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+8.4%</a:t>
            </a:r>
            <a:endParaRPr lang="en-US" sz="1300" dirty="0"/>
          </a:p>
        </p:txBody>
      </p:sp>
      <p:sp>
        <p:nvSpPr>
          <p:cNvPr id="11" name="Text 9"/>
          <p:cNvSpPr txBox="1"/>
          <p:nvPr/>
        </p:nvSpPr>
        <p:spPr>
          <a:xfrm>
            <a:off x="859536"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12" name="Text 10"/>
          <p:cNvSpPr txBox="1"/>
          <p:nvPr/>
        </p:nvSpPr>
        <p:spPr>
          <a:xfrm>
            <a:off x="1115568"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3" name="Text 11"/>
          <p:cNvSpPr txBox="1"/>
          <p:nvPr/>
        </p:nvSpPr>
        <p:spPr>
          <a:xfrm>
            <a:off x="1115568"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14" name="Text 12"/>
          <p:cNvSpPr txBox="1"/>
          <p:nvPr/>
        </p:nvSpPr>
        <p:spPr>
          <a:xfrm>
            <a:off x="2886456"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+72.1%</a:t>
            </a:r>
            <a:endParaRPr lang="en-US" sz="1800" dirty="0"/>
          </a:p>
        </p:txBody>
      </p:sp>
      <p:sp>
        <p:nvSpPr>
          <p:cNvPr id="15" name="Text 13"/>
          <p:cNvSpPr txBox="1"/>
          <p:nvPr/>
        </p:nvSpPr>
        <p:spPr>
          <a:xfrm>
            <a:off x="859536"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16" name="Text 14"/>
          <p:cNvSpPr txBox="1"/>
          <p:nvPr/>
        </p:nvSpPr>
        <p:spPr>
          <a:xfrm>
            <a:off x="1115568"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7" name="Text 15"/>
          <p:cNvSpPr txBox="1"/>
          <p:nvPr/>
        </p:nvSpPr>
        <p:spPr>
          <a:xfrm>
            <a:off x="1115568"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18" name="Text 16"/>
          <p:cNvSpPr txBox="1"/>
          <p:nvPr/>
        </p:nvSpPr>
        <p:spPr>
          <a:xfrm>
            <a:off x="2886456"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+41.5%</a:t>
            </a:r>
            <a:endParaRPr lang="en-US" sz="1800" dirty="0"/>
          </a:p>
        </p:txBody>
      </p:sp>
      <p:sp>
        <p:nvSpPr>
          <p:cNvPr id="19" name="Text 17"/>
          <p:cNvSpPr txBox="1"/>
          <p:nvPr/>
        </p:nvSpPr>
        <p:spPr>
          <a:xfrm>
            <a:off x="859536"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20" name="Text 18"/>
          <p:cNvSpPr txBox="1"/>
          <p:nvPr/>
        </p:nvSpPr>
        <p:spPr>
          <a:xfrm>
            <a:off x="1115568"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1" name="Text 19"/>
          <p:cNvSpPr txBox="1"/>
          <p:nvPr/>
        </p:nvSpPr>
        <p:spPr>
          <a:xfrm>
            <a:off x="1115568"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22" name="Text 20"/>
          <p:cNvSpPr txBox="1"/>
          <p:nvPr/>
        </p:nvSpPr>
        <p:spPr>
          <a:xfrm>
            <a:off x="2886456"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+41.0%</a:t>
            </a:r>
            <a:endParaRPr lang="en-US" sz="1800" dirty="0"/>
          </a:p>
        </p:txBody>
      </p:sp>
      <p:sp>
        <p:nvSpPr>
          <p:cNvPr id="23" name="Shape 21"/>
          <p:cNvSpPr/>
          <p:nvPr/>
        </p:nvSpPr>
        <p:spPr>
          <a:xfrm>
            <a:off x="4367784" y="1682496"/>
            <a:ext cx="3453384" cy="1938528"/>
          </a:xfrm>
          <a:prstGeom prst="rect">
            <a:avLst/>
          </a:prstGeom>
          <a:solidFill>
            <a:srgbClr val="F7F7F7"/>
          </a:solidFill>
          <a:ln/>
        </p:spPr>
      </p:sp>
      <p:sp>
        <p:nvSpPr>
          <p:cNvPr id="24" name="Shape 22"/>
          <p:cNvSpPr/>
          <p:nvPr/>
        </p:nvSpPr>
        <p:spPr>
          <a:xfrm>
            <a:off x="4367784" y="1682496"/>
            <a:ext cx="3453384" cy="54864"/>
          </a:xfrm>
          <a:prstGeom prst="rect">
            <a:avLst/>
          </a:prstGeom>
          <a:solidFill>
            <a:srgbClr val="12A566"/>
          </a:solidFill>
          <a:ln/>
        </p:spPr>
      </p:sp>
      <p:sp>
        <p:nvSpPr>
          <p:cNvPr id="25" name="Text 23"/>
          <p:cNvSpPr txBox="1"/>
          <p:nvPr/>
        </p:nvSpPr>
        <p:spPr>
          <a:xfrm>
            <a:off x="4514088"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RO COUNT</a:t>
            </a:r>
            <a:endParaRPr lang="en-US" sz="1400" dirty="0"/>
          </a:p>
        </p:txBody>
      </p:sp>
      <p:sp>
        <p:nvSpPr>
          <p:cNvPr id="26" name="Text 24"/>
          <p:cNvSpPr txBox="1"/>
          <p:nvPr/>
        </p:nvSpPr>
        <p:spPr>
          <a:xfrm>
            <a:off x="6449568"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+2.0%</a:t>
            </a:r>
            <a:endParaRPr lang="en-US" sz="1300" dirty="0"/>
          </a:p>
        </p:txBody>
      </p:sp>
      <p:sp>
        <p:nvSpPr>
          <p:cNvPr id="27" name="Text 25"/>
          <p:cNvSpPr txBox="1"/>
          <p:nvPr/>
        </p:nvSpPr>
        <p:spPr>
          <a:xfrm>
            <a:off x="4514088"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28" name="Text 26"/>
          <p:cNvSpPr txBox="1"/>
          <p:nvPr/>
        </p:nvSpPr>
        <p:spPr>
          <a:xfrm>
            <a:off x="4770120"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RENO</a:t>
            </a:r>
            <a:endParaRPr lang="en-US" sz="1400" dirty="0"/>
          </a:p>
        </p:txBody>
      </p:sp>
      <p:sp>
        <p:nvSpPr>
          <p:cNvPr id="29" name="Text 27"/>
          <p:cNvSpPr txBox="1"/>
          <p:nvPr/>
        </p:nvSpPr>
        <p:spPr>
          <a:xfrm>
            <a:off x="4770120"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30" name="Text 28"/>
          <p:cNvSpPr txBox="1"/>
          <p:nvPr/>
        </p:nvSpPr>
        <p:spPr>
          <a:xfrm>
            <a:off x="6541008"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+20.4%</a:t>
            </a:r>
            <a:endParaRPr lang="en-US" sz="1800" dirty="0"/>
          </a:p>
        </p:txBody>
      </p:sp>
      <p:sp>
        <p:nvSpPr>
          <p:cNvPr id="31" name="Text 29"/>
          <p:cNvSpPr txBox="1"/>
          <p:nvPr/>
        </p:nvSpPr>
        <p:spPr>
          <a:xfrm>
            <a:off x="4514088"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32" name="Text 30"/>
          <p:cNvSpPr txBox="1"/>
          <p:nvPr/>
        </p:nvSpPr>
        <p:spPr>
          <a:xfrm>
            <a:off x="4770120"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Text 31"/>
          <p:cNvSpPr txBox="1"/>
          <p:nvPr/>
        </p:nvSpPr>
        <p:spPr>
          <a:xfrm>
            <a:off x="4770120"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34" name="Text 32"/>
          <p:cNvSpPr txBox="1"/>
          <p:nvPr/>
        </p:nvSpPr>
        <p:spPr>
          <a:xfrm>
            <a:off x="6541008"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+19.2%</a:t>
            </a:r>
            <a:endParaRPr lang="en-US" sz="1800" dirty="0"/>
          </a:p>
        </p:txBody>
      </p:sp>
      <p:sp>
        <p:nvSpPr>
          <p:cNvPr id="35" name="Text 33"/>
          <p:cNvSpPr txBox="1"/>
          <p:nvPr/>
        </p:nvSpPr>
        <p:spPr>
          <a:xfrm>
            <a:off x="4514088"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36" name="Text 34"/>
          <p:cNvSpPr txBox="1"/>
          <p:nvPr/>
        </p:nvSpPr>
        <p:spPr>
          <a:xfrm>
            <a:off x="4770120"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LV</a:t>
            </a:r>
            <a:endParaRPr lang="en-US" sz="1400" dirty="0"/>
          </a:p>
        </p:txBody>
      </p:sp>
      <p:sp>
        <p:nvSpPr>
          <p:cNvPr id="37" name="Text 35"/>
          <p:cNvSpPr txBox="1"/>
          <p:nvPr/>
        </p:nvSpPr>
        <p:spPr>
          <a:xfrm>
            <a:off x="4770120"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38" name="Text 36"/>
          <p:cNvSpPr txBox="1"/>
          <p:nvPr/>
        </p:nvSpPr>
        <p:spPr>
          <a:xfrm>
            <a:off x="6541008"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+17.4%</a:t>
            </a:r>
            <a:endParaRPr lang="en-US" sz="1800" dirty="0"/>
          </a:p>
        </p:txBody>
      </p:sp>
      <p:sp>
        <p:nvSpPr>
          <p:cNvPr id="39" name="Shape 37"/>
          <p:cNvSpPr/>
          <p:nvPr/>
        </p:nvSpPr>
        <p:spPr>
          <a:xfrm>
            <a:off x="8022336" y="1682496"/>
            <a:ext cx="3453384" cy="1938528"/>
          </a:xfrm>
          <a:prstGeom prst="rect">
            <a:avLst/>
          </a:prstGeom>
          <a:solidFill>
            <a:srgbClr val="F7F7F7"/>
          </a:solidFill>
          <a:ln/>
        </p:spPr>
      </p:sp>
      <p:sp>
        <p:nvSpPr>
          <p:cNvPr id="40" name="Shape 38"/>
          <p:cNvSpPr/>
          <p:nvPr/>
        </p:nvSpPr>
        <p:spPr>
          <a:xfrm>
            <a:off x="8022336" y="1682496"/>
            <a:ext cx="3453384" cy="54864"/>
          </a:xfrm>
          <a:prstGeom prst="rect">
            <a:avLst/>
          </a:prstGeom>
          <a:solidFill>
            <a:srgbClr val="12A566"/>
          </a:solidFill>
          <a:ln/>
        </p:spPr>
      </p:sp>
      <p:sp>
        <p:nvSpPr>
          <p:cNvPr id="41" name="Text 39"/>
          <p:cNvSpPr txBox="1"/>
          <p:nvPr/>
        </p:nvSpPr>
        <p:spPr>
          <a:xfrm>
            <a:off x="8168640" y="1810512"/>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HOURS PER RO</a:t>
            </a:r>
            <a:endParaRPr lang="en-US" sz="1400" dirty="0"/>
          </a:p>
        </p:txBody>
      </p:sp>
      <p:sp>
        <p:nvSpPr>
          <p:cNvPr id="42" name="Text 40"/>
          <p:cNvSpPr txBox="1"/>
          <p:nvPr/>
        </p:nvSpPr>
        <p:spPr>
          <a:xfrm>
            <a:off x="10104120" y="1810512"/>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+3.1%</a:t>
            </a:r>
            <a:endParaRPr lang="en-US" sz="1300" dirty="0"/>
          </a:p>
        </p:txBody>
      </p:sp>
      <p:sp>
        <p:nvSpPr>
          <p:cNvPr id="43" name="Text 41"/>
          <p:cNvSpPr txBox="1"/>
          <p:nvPr/>
        </p:nvSpPr>
        <p:spPr>
          <a:xfrm>
            <a:off x="8168640" y="2121408"/>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44" name="Text 42"/>
          <p:cNvSpPr txBox="1"/>
          <p:nvPr/>
        </p:nvSpPr>
        <p:spPr>
          <a:xfrm>
            <a:off x="8424672" y="2121408"/>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45" name="Text 43"/>
          <p:cNvSpPr txBox="1"/>
          <p:nvPr/>
        </p:nvSpPr>
        <p:spPr>
          <a:xfrm>
            <a:off x="8424672" y="2368296"/>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6" name="Text 44"/>
          <p:cNvSpPr txBox="1"/>
          <p:nvPr/>
        </p:nvSpPr>
        <p:spPr>
          <a:xfrm>
            <a:off x="10195560" y="2121408"/>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+44.7%</a:t>
            </a:r>
            <a:endParaRPr lang="en-US" sz="1800" dirty="0"/>
          </a:p>
        </p:txBody>
      </p:sp>
      <p:sp>
        <p:nvSpPr>
          <p:cNvPr id="47" name="Text 45"/>
          <p:cNvSpPr txBox="1"/>
          <p:nvPr/>
        </p:nvSpPr>
        <p:spPr>
          <a:xfrm>
            <a:off x="8168640" y="2606040"/>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48" name="Text 46"/>
          <p:cNvSpPr txBox="1"/>
          <p:nvPr/>
        </p:nvSpPr>
        <p:spPr>
          <a:xfrm>
            <a:off x="8424672" y="2606040"/>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49" name="Text 47"/>
          <p:cNvSpPr txBox="1"/>
          <p:nvPr/>
        </p:nvSpPr>
        <p:spPr>
          <a:xfrm>
            <a:off x="8424672" y="2852928"/>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Text 48"/>
          <p:cNvSpPr txBox="1"/>
          <p:nvPr/>
        </p:nvSpPr>
        <p:spPr>
          <a:xfrm>
            <a:off x="10195560" y="2606040"/>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+41.1%</a:t>
            </a:r>
            <a:endParaRPr lang="en-US" sz="1800" dirty="0"/>
          </a:p>
        </p:txBody>
      </p:sp>
      <p:sp>
        <p:nvSpPr>
          <p:cNvPr id="51" name="Text 49"/>
          <p:cNvSpPr txBox="1"/>
          <p:nvPr/>
        </p:nvSpPr>
        <p:spPr>
          <a:xfrm>
            <a:off x="8168640" y="309067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52" name="Text 50"/>
          <p:cNvSpPr txBox="1"/>
          <p:nvPr/>
        </p:nvSpPr>
        <p:spPr>
          <a:xfrm>
            <a:off x="8424672" y="309067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MAZDA</a:t>
            </a:r>
            <a:endParaRPr lang="en-US" sz="1400" dirty="0"/>
          </a:p>
        </p:txBody>
      </p:sp>
      <p:sp>
        <p:nvSpPr>
          <p:cNvPr id="53" name="Text 51"/>
          <p:cNvSpPr txBox="1"/>
          <p:nvPr/>
        </p:nvSpPr>
        <p:spPr>
          <a:xfrm>
            <a:off x="8424672" y="333756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4" name="Text 52"/>
          <p:cNvSpPr txBox="1"/>
          <p:nvPr/>
        </p:nvSpPr>
        <p:spPr>
          <a:xfrm>
            <a:off x="10195560" y="309067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+27.5%</a:t>
            </a:r>
            <a:endParaRPr lang="en-US" sz="1800" dirty="0"/>
          </a:p>
        </p:txBody>
      </p:sp>
      <p:sp>
        <p:nvSpPr>
          <p:cNvPr id="55" name="Shape 53"/>
          <p:cNvSpPr/>
          <p:nvPr/>
        </p:nvSpPr>
        <p:spPr>
          <a:xfrm>
            <a:off x="713232" y="3749040"/>
            <a:ext cx="3453384" cy="1938528"/>
          </a:xfrm>
          <a:prstGeom prst="rect">
            <a:avLst/>
          </a:prstGeom>
          <a:solidFill>
            <a:srgbClr val="F7F7F7"/>
          </a:solidFill>
          <a:ln/>
        </p:spPr>
      </p:sp>
      <p:sp>
        <p:nvSpPr>
          <p:cNvPr id="56" name="Shape 54"/>
          <p:cNvSpPr/>
          <p:nvPr/>
        </p:nvSpPr>
        <p:spPr>
          <a:xfrm>
            <a:off x="713232" y="3749040"/>
            <a:ext cx="3453384" cy="54864"/>
          </a:xfrm>
          <a:prstGeom prst="rect">
            <a:avLst/>
          </a:prstGeom>
          <a:solidFill>
            <a:srgbClr val="12A566"/>
          </a:solidFill>
          <a:ln/>
        </p:spPr>
      </p:sp>
      <p:sp>
        <p:nvSpPr>
          <p:cNvPr id="57" name="Text 55"/>
          <p:cNvSpPr txBox="1"/>
          <p:nvPr/>
        </p:nvSpPr>
        <p:spPr>
          <a:xfrm>
            <a:off x="859536"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ELR</a:t>
            </a:r>
            <a:endParaRPr lang="en-US" sz="1400" dirty="0"/>
          </a:p>
        </p:txBody>
      </p:sp>
      <p:sp>
        <p:nvSpPr>
          <p:cNvPr id="58" name="Text 56"/>
          <p:cNvSpPr txBox="1"/>
          <p:nvPr/>
        </p:nvSpPr>
        <p:spPr>
          <a:xfrm>
            <a:off x="2795016"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+2.5%</a:t>
            </a:r>
            <a:endParaRPr lang="en-US" sz="1300" dirty="0"/>
          </a:p>
        </p:txBody>
      </p:sp>
      <p:sp>
        <p:nvSpPr>
          <p:cNvPr id="59" name="Text 57"/>
          <p:cNvSpPr txBox="1"/>
          <p:nvPr/>
        </p:nvSpPr>
        <p:spPr>
          <a:xfrm>
            <a:off x="859536"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60" name="Text 58"/>
          <p:cNvSpPr txBox="1"/>
          <p:nvPr/>
        </p:nvSpPr>
        <p:spPr>
          <a:xfrm>
            <a:off x="1115568"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61" name="Text 59"/>
          <p:cNvSpPr txBox="1"/>
          <p:nvPr/>
        </p:nvSpPr>
        <p:spPr>
          <a:xfrm>
            <a:off x="1115568"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62" name="Text 60"/>
          <p:cNvSpPr txBox="1"/>
          <p:nvPr/>
        </p:nvSpPr>
        <p:spPr>
          <a:xfrm>
            <a:off x="2886456"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+23.9%</a:t>
            </a:r>
            <a:endParaRPr lang="en-US" sz="1800" dirty="0"/>
          </a:p>
        </p:txBody>
      </p:sp>
      <p:sp>
        <p:nvSpPr>
          <p:cNvPr id="63" name="Text 61"/>
          <p:cNvSpPr txBox="1"/>
          <p:nvPr/>
        </p:nvSpPr>
        <p:spPr>
          <a:xfrm>
            <a:off x="859536"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64" name="Text 62"/>
          <p:cNvSpPr txBox="1"/>
          <p:nvPr/>
        </p:nvSpPr>
        <p:spPr>
          <a:xfrm>
            <a:off x="1115568"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65" name="Text 63"/>
          <p:cNvSpPr txBox="1"/>
          <p:nvPr/>
        </p:nvSpPr>
        <p:spPr>
          <a:xfrm>
            <a:off x="1115568"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66" name="Text 64"/>
          <p:cNvSpPr txBox="1"/>
          <p:nvPr/>
        </p:nvSpPr>
        <p:spPr>
          <a:xfrm>
            <a:off x="2886456"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+23.3%</a:t>
            </a:r>
            <a:endParaRPr lang="en-US" sz="1800" dirty="0"/>
          </a:p>
        </p:txBody>
      </p:sp>
      <p:sp>
        <p:nvSpPr>
          <p:cNvPr id="67" name="Text 65"/>
          <p:cNvSpPr txBox="1"/>
          <p:nvPr/>
        </p:nvSpPr>
        <p:spPr>
          <a:xfrm>
            <a:off x="859536"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68" name="Text 66"/>
          <p:cNvSpPr txBox="1"/>
          <p:nvPr/>
        </p:nvSpPr>
        <p:spPr>
          <a:xfrm>
            <a:off x="1115568"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69" name="Text 67"/>
          <p:cNvSpPr txBox="1"/>
          <p:nvPr/>
        </p:nvSpPr>
        <p:spPr>
          <a:xfrm>
            <a:off x="1115568"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70" name="Text 68"/>
          <p:cNvSpPr txBox="1"/>
          <p:nvPr/>
        </p:nvSpPr>
        <p:spPr>
          <a:xfrm>
            <a:off x="2886456"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+22.5%</a:t>
            </a:r>
            <a:endParaRPr lang="en-US" sz="1800" dirty="0"/>
          </a:p>
        </p:txBody>
      </p:sp>
      <p:sp>
        <p:nvSpPr>
          <p:cNvPr id="71" name="Shape 69"/>
          <p:cNvSpPr/>
          <p:nvPr/>
        </p:nvSpPr>
        <p:spPr>
          <a:xfrm>
            <a:off x="4367784" y="3749040"/>
            <a:ext cx="3453384" cy="1938528"/>
          </a:xfrm>
          <a:prstGeom prst="rect">
            <a:avLst/>
          </a:prstGeom>
          <a:solidFill>
            <a:srgbClr val="F7F7F7"/>
          </a:solidFill>
          <a:ln/>
        </p:spPr>
      </p:sp>
      <p:sp>
        <p:nvSpPr>
          <p:cNvPr id="72" name="Shape 70"/>
          <p:cNvSpPr/>
          <p:nvPr/>
        </p:nvSpPr>
        <p:spPr>
          <a:xfrm>
            <a:off x="4367784" y="3749040"/>
            <a:ext cx="3453384" cy="54864"/>
          </a:xfrm>
          <a:prstGeom prst="rect">
            <a:avLst/>
          </a:prstGeom>
          <a:solidFill>
            <a:srgbClr val="12A566"/>
          </a:solidFill>
          <a:ln/>
        </p:spPr>
      </p:sp>
      <p:sp>
        <p:nvSpPr>
          <p:cNvPr id="73" name="Text 71"/>
          <p:cNvSpPr txBox="1"/>
          <p:nvPr/>
        </p:nvSpPr>
        <p:spPr>
          <a:xfrm>
            <a:off x="4514088"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 PER RO</a:t>
            </a:r>
            <a:endParaRPr lang="en-US" sz="1400" dirty="0"/>
          </a:p>
        </p:txBody>
      </p:sp>
      <p:sp>
        <p:nvSpPr>
          <p:cNvPr id="74" name="Text 72"/>
          <p:cNvSpPr txBox="1"/>
          <p:nvPr/>
        </p:nvSpPr>
        <p:spPr>
          <a:xfrm>
            <a:off x="6449568"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+3.8%</a:t>
            </a:r>
            <a:endParaRPr lang="en-US" sz="1300" dirty="0"/>
          </a:p>
        </p:txBody>
      </p:sp>
      <p:sp>
        <p:nvSpPr>
          <p:cNvPr id="75" name="Text 73"/>
          <p:cNvSpPr txBox="1"/>
          <p:nvPr/>
        </p:nvSpPr>
        <p:spPr>
          <a:xfrm>
            <a:off x="4514088"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76" name="Text 74"/>
          <p:cNvSpPr txBox="1"/>
          <p:nvPr/>
        </p:nvSpPr>
        <p:spPr>
          <a:xfrm>
            <a:off x="4770120"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77" name="Text 75"/>
          <p:cNvSpPr txBox="1"/>
          <p:nvPr/>
        </p:nvSpPr>
        <p:spPr>
          <a:xfrm>
            <a:off x="4770120"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78" name="Text 76"/>
          <p:cNvSpPr txBox="1"/>
          <p:nvPr/>
        </p:nvSpPr>
        <p:spPr>
          <a:xfrm>
            <a:off x="6541008"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+40.0%</a:t>
            </a:r>
            <a:endParaRPr lang="en-US" sz="1800" dirty="0"/>
          </a:p>
        </p:txBody>
      </p:sp>
      <p:sp>
        <p:nvSpPr>
          <p:cNvPr id="79" name="Text 77"/>
          <p:cNvSpPr txBox="1"/>
          <p:nvPr/>
        </p:nvSpPr>
        <p:spPr>
          <a:xfrm>
            <a:off x="4514088"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80" name="Text 78"/>
          <p:cNvSpPr txBox="1"/>
          <p:nvPr/>
        </p:nvSpPr>
        <p:spPr>
          <a:xfrm>
            <a:off x="4770120"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p:txBody>
      </p:sp>
      <p:sp>
        <p:nvSpPr>
          <p:cNvPr id="81" name="Text 79"/>
          <p:cNvSpPr txBox="1"/>
          <p:nvPr/>
        </p:nvSpPr>
        <p:spPr>
          <a:xfrm>
            <a:off x="4770120"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82" name="Text 80"/>
          <p:cNvSpPr txBox="1"/>
          <p:nvPr/>
        </p:nvSpPr>
        <p:spPr>
          <a:xfrm>
            <a:off x="6541008"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+28.7%</a:t>
            </a:r>
            <a:endParaRPr lang="en-US" sz="1800" dirty="0"/>
          </a:p>
        </p:txBody>
      </p:sp>
      <p:sp>
        <p:nvSpPr>
          <p:cNvPr id="83" name="Text 81"/>
          <p:cNvSpPr txBox="1"/>
          <p:nvPr/>
        </p:nvSpPr>
        <p:spPr>
          <a:xfrm>
            <a:off x="4514088"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84" name="Text 82"/>
          <p:cNvSpPr txBox="1"/>
          <p:nvPr/>
        </p:nvSpPr>
        <p:spPr>
          <a:xfrm>
            <a:off x="4770120"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p:txBody>
      </p:sp>
      <p:sp>
        <p:nvSpPr>
          <p:cNvPr id="85" name="Text 83"/>
          <p:cNvSpPr txBox="1"/>
          <p:nvPr/>
        </p:nvSpPr>
        <p:spPr>
          <a:xfrm>
            <a:off x="4770120"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86" name="Text 84"/>
          <p:cNvSpPr txBox="1"/>
          <p:nvPr/>
        </p:nvSpPr>
        <p:spPr>
          <a:xfrm>
            <a:off x="6541008"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+24.6%</a:t>
            </a:r>
            <a:endParaRPr lang="en-US" sz="1800" dirty="0"/>
          </a:p>
        </p:txBody>
      </p:sp>
      <p:sp>
        <p:nvSpPr>
          <p:cNvPr id="87" name="Shape 85"/>
          <p:cNvSpPr/>
          <p:nvPr/>
        </p:nvSpPr>
        <p:spPr>
          <a:xfrm>
            <a:off x="8022336" y="3749040"/>
            <a:ext cx="3453384" cy="1938528"/>
          </a:xfrm>
          <a:prstGeom prst="rect">
            <a:avLst/>
          </a:prstGeom>
          <a:solidFill>
            <a:srgbClr val="F7F7F7"/>
          </a:solidFill>
          <a:ln/>
        </p:spPr>
      </p:sp>
      <p:sp>
        <p:nvSpPr>
          <p:cNvPr id="88" name="Shape 86"/>
          <p:cNvSpPr/>
          <p:nvPr/>
        </p:nvSpPr>
        <p:spPr>
          <a:xfrm>
            <a:off x="8022336" y="3749040"/>
            <a:ext cx="3453384" cy="54864"/>
          </a:xfrm>
          <a:prstGeom prst="rect">
            <a:avLst/>
          </a:prstGeom>
          <a:solidFill>
            <a:srgbClr val="12A566"/>
          </a:solidFill>
          <a:ln/>
        </p:spPr>
      </p:sp>
      <p:sp>
        <p:nvSpPr>
          <p:cNvPr id="89" name="Text 87"/>
          <p:cNvSpPr txBox="1"/>
          <p:nvPr/>
        </p:nvSpPr>
        <p:spPr>
          <a:xfrm>
            <a:off x="8168640" y="3877056"/>
            <a:ext cx="1990344" cy="274320"/>
          </a:xfrm>
          <a:prstGeom prst="rect">
            <a:avLst/>
          </a:prstGeom>
          <a:noFill/>
          <a:ln/>
        </p:spPr>
        <p:txBody>
          <a:bodyPr wrap="square" lIns="0" tIns="0" rIns="0" bIns="0" rtlCol="0" anchor="ctr"/>
          <a:lstStyle/>
          <a:p>
            <a:pPr indent="0" marL="0">
              <a:buNone/>
            </a:pPr>
            <a:r>
              <a:rPr lang="en-US" sz="1400" b="1" spc="60" kern="0" dirty="0">
                <a:solidFill>
                  <a:srgbClr val="595959"/>
                </a:solidFill>
                <a:latin typeface="Inter" pitchFamily="34" charset="0"/>
                <a:ea typeface="Inter" pitchFamily="34" charset="-122"/>
                <a:cs typeface="Inter" pitchFamily="34" charset="-120"/>
              </a:rPr>
              <a:t>CP PARTS GP %</a:t>
            </a:r>
            <a:endParaRPr lang="en-US" sz="1400" dirty="0"/>
          </a:p>
        </p:txBody>
      </p:sp>
      <p:sp>
        <p:nvSpPr>
          <p:cNvPr id="90" name="Text 88"/>
          <p:cNvSpPr txBox="1"/>
          <p:nvPr/>
        </p:nvSpPr>
        <p:spPr>
          <a:xfrm>
            <a:off x="10104120" y="3877056"/>
            <a:ext cx="1225296" cy="274320"/>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Group +1.2 pts</a:t>
            </a:r>
            <a:endParaRPr lang="en-US" sz="1300" dirty="0"/>
          </a:p>
        </p:txBody>
      </p:sp>
      <p:sp>
        <p:nvSpPr>
          <p:cNvPr id="91" name="Text 89"/>
          <p:cNvSpPr txBox="1"/>
          <p:nvPr/>
        </p:nvSpPr>
        <p:spPr>
          <a:xfrm>
            <a:off x="8168640" y="4187952"/>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1</a:t>
            </a:r>
            <a:endParaRPr lang="en-US" sz="1400" dirty="0"/>
          </a:p>
        </p:txBody>
      </p:sp>
      <p:sp>
        <p:nvSpPr>
          <p:cNvPr id="92" name="Text 90"/>
          <p:cNvSpPr txBox="1"/>
          <p:nvPr/>
        </p:nvSpPr>
        <p:spPr>
          <a:xfrm>
            <a:off x="8424672" y="4187952"/>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93" name="Text 91"/>
          <p:cNvSpPr txBox="1"/>
          <p:nvPr/>
        </p:nvSpPr>
        <p:spPr>
          <a:xfrm>
            <a:off x="8424672" y="4434840"/>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94" name="Text 92"/>
          <p:cNvSpPr txBox="1"/>
          <p:nvPr/>
        </p:nvSpPr>
        <p:spPr>
          <a:xfrm>
            <a:off x="10195560" y="4187952"/>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+7.7 pts</a:t>
            </a:r>
            <a:endParaRPr lang="en-US" sz="1800" dirty="0"/>
          </a:p>
        </p:txBody>
      </p:sp>
      <p:sp>
        <p:nvSpPr>
          <p:cNvPr id="95" name="Text 93"/>
          <p:cNvSpPr txBox="1"/>
          <p:nvPr/>
        </p:nvSpPr>
        <p:spPr>
          <a:xfrm>
            <a:off x="8168640" y="4672584"/>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2</a:t>
            </a:r>
            <a:endParaRPr lang="en-US" sz="1400" dirty="0"/>
          </a:p>
        </p:txBody>
      </p:sp>
      <p:sp>
        <p:nvSpPr>
          <p:cNvPr id="96" name="Text 94"/>
          <p:cNvSpPr txBox="1"/>
          <p:nvPr/>
        </p:nvSpPr>
        <p:spPr>
          <a:xfrm>
            <a:off x="8424672" y="4672584"/>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97" name="Text 95"/>
          <p:cNvSpPr txBox="1"/>
          <p:nvPr/>
        </p:nvSpPr>
        <p:spPr>
          <a:xfrm>
            <a:off x="8424672" y="4919472"/>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98" name="Text 96"/>
          <p:cNvSpPr txBox="1"/>
          <p:nvPr/>
        </p:nvSpPr>
        <p:spPr>
          <a:xfrm>
            <a:off x="10195560" y="4672584"/>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+4.1 pts</a:t>
            </a:r>
            <a:endParaRPr lang="en-US" sz="1800" dirty="0"/>
          </a:p>
        </p:txBody>
      </p:sp>
      <p:sp>
        <p:nvSpPr>
          <p:cNvPr id="99" name="Text 97"/>
          <p:cNvSpPr txBox="1"/>
          <p:nvPr/>
        </p:nvSpPr>
        <p:spPr>
          <a:xfrm>
            <a:off x="8168640" y="5157216"/>
            <a:ext cx="237744" cy="256032"/>
          </a:xfrm>
          <a:prstGeom prst="rect">
            <a:avLst/>
          </a:prstGeom>
          <a:noFill/>
          <a:ln/>
        </p:spPr>
        <p:txBody>
          <a:bodyPr wrap="square" lIns="0" tIns="0" rIns="0" bIns="0" rtlCol="0" anchor="ctr"/>
          <a:lstStyle/>
          <a:p>
            <a:pPr indent="0" marL="0">
              <a:buNone/>
            </a:pPr>
            <a:r>
              <a:rPr lang="en-US" sz="1400" b="1" dirty="0">
                <a:solidFill>
                  <a:srgbClr val="0B2C4A"/>
                </a:solidFill>
                <a:latin typeface="Inter" pitchFamily="34" charset="0"/>
                <a:ea typeface="Inter" pitchFamily="34" charset="-122"/>
                <a:cs typeface="Inter" pitchFamily="34" charset="-120"/>
              </a:rPr>
              <a:t>3</a:t>
            </a:r>
            <a:endParaRPr lang="en-US" sz="1400" dirty="0"/>
          </a:p>
        </p:txBody>
      </p:sp>
      <p:sp>
        <p:nvSpPr>
          <p:cNvPr id="100" name="Text 98"/>
          <p:cNvSpPr txBox="1"/>
          <p:nvPr/>
        </p:nvSpPr>
        <p:spPr>
          <a:xfrm>
            <a:off x="8424672" y="5157216"/>
            <a:ext cx="1898904" cy="2560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p:txBody>
      </p:sp>
      <p:sp>
        <p:nvSpPr>
          <p:cNvPr id="101" name="Text 99"/>
          <p:cNvSpPr txBox="1"/>
          <p:nvPr/>
        </p:nvSpPr>
        <p:spPr>
          <a:xfrm>
            <a:off x="8424672" y="5404104"/>
            <a:ext cx="1898904" cy="219456"/>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102" name="Text 100"/>
          <p:cNvSpPr txBox="1"/>
          <p:nvPr/>
        </p:nvSpPr>
        <p:spPr>
          <a:xfrm>
            <a:off x="10195560" y="5157216"/>
            <a:ext cx="1133856" cy="457200"/>
          </a:xfrm>
          <a:prstGeom prst="rect">
            <a:avLst/>
          </a:prstGeom>
          <a:noFill/>
          <a:ln/>
        </p:spPr>
        <p:txBody>
          <a:bodyPr wrap="square" lIns="0" tIns="0" rIns="0" bIns="0" rtlCol="0" anchor="ctr"/>
          <a:lstStyle/>
          <a:p>
            <a:pPr algn="r" indent="0" marL="0">
              <a:buNone/>
            </a:pPr>
            <a:r>
              <a:rPr lang="en-US" sz="1800" b="1" dirty="0">
                <a:solidFill>
                  <a:srgbClr val="0B7A4A"/>
                </a:solidFill>
                <a:latin typeface="Inter" pitchFamily="34" charset="0"/>
                <a:ea typeface="Inter" pitchFamily="34" charset="-122"/>
                <a:cs typeface="Inter" pitchFamily="34" charset="-120"/>
              </a:rPr>
              <a:t>+4.0 pts</a:t>
            </a:r>
            <a:endParaRPr lang="en-US" sz="1800" dirty="0"/>
          </a:p>
        </p:txBody>
      </p:sp>
      <p:sp>
        <p:nvSpPr>
          <p:cNvPr id="103" name="Shape 101"/>
          <p:cNvSpPr/>
          <p:nvPr/>
        </p:nvSpPr>
        <p:spPr>
          <a:xfrm>
            <a:off x="457200" y="6126480"/>
            <a:ext cx="11274552" cy="371856"/>
          </a:xfrm>
          <a:prstGeom prst="rect">
            <a:avLst/>
          </a:prstGeom>
          <a:solidFill>
            <a:srgbClr val="E6F6EE"/>
          </a:solidFill>
          <a:ln/>
        </p:spPr>
      </p:sp>
      <p:sp>
        <p:nvSpPr>
          <p:cNvPr id="104" name="Text 10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and Kia St George each make three of six lists.</a:t>
            </a:r>
            <a:endParaRPr lang="en-US" sz="1600" dirty="0"/>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Who Shows Up Most</a:t>
            </a:r>
            <a:endParaRPr lang="en-US" sz="2800" dirty="0"/>
          </a:p>
        </p:txBody>
      </p:sp>
      <p:sp>
        <p:nvSpPr>
          <p:cNvPr id="5" name="Shape 3"/>
          <p:cNvSpPr/>
          <p:nvPr/>
        </p:nvSpPr>
        <p:spPr>
          <a:xfrm>
            <a:off x="457200" y="1207008"/>
            <a:ext cx="11274552" cy="4645152"/>
          </a:xfrm>
          <a:prstGeom prst="rect">
            <a:avLst/>
          </a:prstGeom>
          <a:solidFill>
            <a:srgbClr val="FFFFFF"/>
          </a:solidFill>
          <a:ln/>
        </p:spPr>
      </p:sp>
      <p:sp>
        <p:nvSpPr>
          <p:cNvPr id="6" name="Text 4"/>
          <p:cNvSpPr txBox="1"/>
          <p:nvPr/>
        </p:nvSpPr>
        <p:spPr>
          <a:xfrm>
            <a:off x="292608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Top-3 finishes of 12</a:t>
            </a:r>
            <a:endParaRPr lang="en-US" sz="1400" dirty="0"/>
          </a:p>
        </p:txBody>
      </p:sp>
      <p:sp>
        <p:nvSpPr>
          <p:cNvPr id="7" name="Text 5"/>
          <p:cNvSpPr txBox="1"/>
          <p:nvPr/>
        </p:nvSpPr>
        <p:spPr>
          <a:xfrm>
            <a:off x="617220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Jan–Sep</a:t>
            </a:r>
            <a:endParaRPr lang="en-US" sz="1400" dirty="0"/>
          </a:p>
        </p:txBody>
      </p:sp>
      <p:sp>
        <p:nvSpPr>
          <p:cNvPr id="8" name="Text 6"/>
          <p:cNvSpPr txBox="1"/>
          <p:nvPr/>
        </p:nvSpPr>
        <p:spPr>
          <a:xfrm>
            <a:off x="8823960" y="1335024"/>
            <a:ext cx="2560320" cy="310896"/>
          </a:xfrm>
          <a:prstGeom prst="rect">
            <a:avLst/>
          </a:prstGeom>
          <a:noFill/>
          <a:ln/>
        </p:spPr>
        <p:txBody>
          <a:bodyPr wrap="square" lIns="0" tIns="0" rIns="0" bIns="0" rtlCol="0" anchor="ctr"/>
          <a:lstStyle/>
          <a:p>
            <a:pPr indent="0" marL="0">
              <a:buNone/>
            </a:pPr>
            <a:r>
              <a:rPr lang="en-US" sz="1400" b="1" dirty="0">
                <a:solidFill>
                  <a:srgbClr val="595959"/>
                </a:solidFill>
                <a:latin typeface="Inter" pitchFamily="34" charset="0"/>
                <a:ea typeface="Inter" pitchFamily="34" charset="-122"/>
                <a:cs typeface="Inter" pitchFamily="34" charset="-120"/>
              </a:rPr>
              <a:t>Last 90 days</a:t>
            </a:r>
            <a:endParaRPr lang="en-US" sz="1400" dirty="0"/>
          </a:p>
        </p:txBody>
      </p:sp>
      <p:sp>
        <p:nvSpPr>
          <p:cNvPr id="9" name="Shape 7"/>
          <p:cNvSpPr/>
          <p:nvPr/>
        </p:nvSpPr>
        <p:spPr>
          <a:xfrm>
            <a:off x="621792" y="1792224"/>
            <a:ext cx="10945368" cy="484632"/>
          </a:xfrm>
          <a:prstGeom prst="rect">
            <a:avLst/>
          </a:prstGeom>
          <a:solidFill>
            <a:srgbClr val="F7F7F7"/>
          </a:solidFill>
          <a:ln/>
        </p:spPr>
      </p:sp>
      <p:sp>
        <p:nvSpPr>
          <p:cNvPr id="10" name="Text 8"/>
          <p:cNvSpPr txBox="1"/>
          <p:nvPr/>
        </p:nvSpPr>
        <p:spPr>
          <a:xfrm>
            <a:off x="713232" y="179222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LINCOLN</a:t>
            </a:r>
            <a:endParaRPr lang="en-US" sz="1400" dirty="0"/>
          </a:p>
        </p:txBody>
      </p:sp>
      <p:sp>
        <p:nvSpPr>
          <p:cNvPr id="11" name="Shape 9"/>
          <p:cNvSpPr/>
          <p:nvPr/>
        </p:nvSpPr>
        <p:spPr>
          <a:xfrm>
            <a:off x="2926080" y="1913382"/>
            <a:ext cx="2651760" cy="242316"/>
          </a:xfrm>
          <a:prstGeom prst="rect">
            <a:avLst/>
          </a:prstGeom>
          <a:solidFill>
            <a:srgbClr val="12A566"/>
          </a:solidFill>
          <a:ln/>
        </p:spPr>
      </p:sp>
      <p:sp>
        <p:nvSpPr>
          <p:cNvPr id="12" name="Text 10"/>
          <p:cNvSpPr txBox="1"/>
          <p:nvPr/>
        </p:nvSpPr>
        <p:spPr>
          <a:xfrm>
            <a:off x="5486400" y="179222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a:t>
            </a:r>
            <a:endParaRPr lang="en-US" sz="1600" dirty="0"/>
          </a:p>
        </p:txBody>
      </p:sp>
      <p:sp>
        <p:nvSpPr>
          <p:cNvPr id="13" name="Text 11"/>
          <p:cNvSpPr txBox="1"/>
          <p:nvPr/>
        </p:nvSpPr>
        <p:spPr>
          <a:xfrm>
            <a:off x="617220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4" name="Text 12"/>
          <p:cNvSpPr txBox="1"/>
          <p:nvPr/>
        </p:nvSpPr>
        <p:spPr>
          <a:xfrm>
            <a:off x="8823960" y="179222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ELR, parts $/RO</a:t>
            </a:r>
            <a:endParaRPr lang="en-US" sz="1300" dirty="0"/>
          </a:p>
        </p:txBody>
      </p:sp>
      <p:sp>
        <p:nvSpPr>
          <p:cNvPr id="15" name="Text 13"/>
          <p:cNvSpPr txBox="1"/>
          <p:nvPr/>
        </p:nvSpPr>
        <p:spPr>
          <a:xfrm>
            <a:off x="713232" y="227685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p:txBody>
      </p:sp>
      <p:sp>
        <p:nvSpPr>
          <p:cNvPr id="16" name="Shape 14"/>
          <p:cNvSpPr/>
          <p:nvPr/>
        </p:nvSpPr>
        <p:spPr>
          <a:xfrm>
            <a:off x="2926080" y="2398014"/>
            <a:ext cx="1767840" cy="242316"/>
          </a:xfrm>
          <a:prstGeom prst="rect">
            <a:avLst/>
          </a:prstGeom>
          <a:solidFill>
            <a:srgbClr val="12A566"/>
          </a:solidFill>
          <a:ln/>
        </p:spPr>
      </p:sp>
      <p:sp>
        <p:nvSpPr>
          <p:cNvPr id="17" name="Text 15"/>
          <p:cNvSpPr txBox="1"/>
          <p:nvPr/>
        </p:nvSpPr>
        <p:spPr>
          <a:xfrm>
            <a:off x="5486400" y="227685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a:t>
            </a:r>
            <a:endParaRPr lang="en-US" sz="1600" dirty="0"/>
          </a:p>
        </p:txBody>
      </p:sp>
      <p:sp>
        <p:nvSpPr>
          <p:cNvPr id="18" name="Text 16"/>
          <p:cNvSpPr txBox="1"/>
          <p:nvPr/>
        </p:nvSpPr>
        <p:spPr>
          <a:xfrm>
            <a:off x="617220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19" name="Text 17"/>
          <p:cNvSpPr txBox="1"/>
          <p:nvPr/>
        </p:nvSpPr>
        <p:spPr>
          <a:xfrm>
            <a:off x="8823960" y="227685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hours/RO, parts GP%</a:t>
            </a:r>
            <a:endParaRPr lang="en-US" sz="1300" dirty="0"/>
          </a:p>
        </p:txBody>
      </p:sp>
      <p:sp>
        <p:nvSpPr>
          <p:cNvPr id="20" name="Shape 18"/>
          <p:cNvSpPr/>
          <p:nvPr/>
        </p:nvSpPr>
        <p:spPr>
          <a:xfrm>
            <a:off x="621792" y="2761488"/>
            <a:ext cx="10945368" cy="484632"/>
          </a:xfrm>
          <a:prstGeom prst="rect">
            <a:avLst/>
          </a:prstGeom>
          <a:solidFill>
            <a:srgbClr val="F7F7F7"/>
          </a:solidFill>
          <a:ln/>
        </p:spPr>
      </p:sp>
      <p:sp>
        <p:nvSpPr>
          <p:cNvPr id="21" name="Text 19"/>
          <p:cNvSpPr txBox="1"/>
          <p:nvPr/>
        </p:nvSpPr>
        <p:spPr>
          <a:xfrm>
            <a:off x="713232" y="276148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p:txBody>
      </p:sp>
      <p:sp>
        <p:nvSpPr>
          <p:cNvPr id="22" name="Shape 20"/>
          <p:cNvSpPr/>
          <p:nvPr/>
        </p:nvSpPr>
        <p:spPr>
          <a:xfrm>
            <a:off x="2926080" y="2882646"/>
            <a:ext cx="1325880" cy="242316"/>
          </a:xfrm>
          <a:prstGeom prst="rect">
            <a:avLst/>
          </a:prstGeom>
          <a:solidFill>
            <a:srgbClr val="12A566"/>
          </a:solidFill>
          <a:ln/>
        </p:spPr>
      </p:sp>
      <p:sp>
        <p:nvSpPr>
          <p:cNvPr id="23" name="Text 21"/>
          <p:cNvSpPr txBox="1"/>
          <p:nvPr/>
        </p:nvSpPr>
        <p:spPr>
          <a:xfrm>
            <a:off x="5486400" y="276148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4" name="Text 22"/>
          <p:cNvSpPr txBox="1"/>
          <p:nvPr/>
        </p:nvSpPr>
        <p:spPr>
          <a:xfrm>
            <a:off x="617220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 parts GP%</a:t>
            </a:r>
            <a:endParaRPr lang="en-US" sz="1300" dirty="0"/>
          </a:p>
        </p:txBody>
      </p:sp>
      <p:sp>
        <p:nvSpPr>
          <p:cNvPr id="25" name="Text 23"/>
          <p:cNvSpPr txBox="1"/>
          <p:nvPr/>
        </p:nvSpPr>
        <p:spPr>
          <a:xfrm>
            <a:off x="8823960" y="276148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gross</a:t>
            </a:r>
            <a:endParaRPr lang="en-US" sz="1300" dirty="0"/>
          </a:p>
        </p:txBody>
      </p:sp>
      <p:sp>
        <p:nvSpPr>
          <p:cNvPr id="26" name="Text 24"/>
          <p:cNvSpPr txBox="1"/>
          <p:nvPr/>
        </p:nvSpPr>
        <p:spPr>
          <a:xfrm>
            <a:off x="713232" y="3246120"/>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p:txBody>
      </p:sp>
      <p:sp>
        <p:nvSpPr>
          <p:cNvPr id="27" name="Shape 25"/>
          <p:cNvSpPr/>
          <p:nvPr/>
        </p:nvSpPr>
        <p:spPr>
          <a:xfrm>
            <a:off x="2926080" y="3367278"/>
            <a:ext cx="1325880" cy="242316"/>
          </a:xfrm>
          <a:prstGeom prst="rect">
            <a:avLst/>
          </a:prstGeom>
          <a:solidFill>
            <a:srgbClr val="12A566"/>
          </a:solidFill>
          <a:ln/>
        </p:spPr>
      </p:sp>
      <p:sp>
        <p:nvSpPr>
          <p:cNvPr id="28" name="Text 26"/>
          <p:cNvSpPr txBox="1"/>
          <p:nvPr/>
        </p:nvSpPr>
        <p:spPr>
          <a:xfrm>
            <a:off x="5486400" y="3246120"/>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a:t>
            </a:r>
            <a:endParaRPr lang="en-US" sz="1600" dirty="0"/>
          </a:p>
        </p:txBody>
      </p:sp>
      <p:sp>
        <p:nvSpPr>
          <p:cNvPr id="29" name="Text 27"/>
          <p:cNvSpPr txBox="1"/>
          <p:nvPr/>
        </p:nvSpPr>
        <p:spPr>
          <a:xfrm>
            <a:off x="617220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 parts $/RO</a:t>
            </a:r>
            <a:endParaRPr lang="en-US" sz="1300" dirty="0"/>
          </a:p>
        </p:txBody>
      </p:sp>
      <p:sp>
        <p:nvSpPr>
          <p:cNvPr id="30" name="Text 28"/>
          <p:cNvSpPr txBox="1"/>
          <p:nvPr/>
        </p:nvSpPr>
        <p:spPr>
          <a:xfrm>
            <a:off x="8823960" y="3246120"/>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hours/RO</a:t>
            </a:r>
            <a:endParaRPr lang="en-US" sz="1300" dirty="0"/>
          </a:p>
        </p:txBody>
      </p:sp>
      <p:sp>
        <p:nvSpPr>
          <p:cNvPr id="31" name="Shape 29"/>
          <p:cNvSpPr/>
          <p:nvPr/>
        </p:nvSpPr>
        <p:spPr>
          <a:xfrm>
            <a:off x="621792" y="3730752"/>
            <a:ext cx="10945368" cy="484632"/>
          </a:xfrm>
          <a:prstGeom prst="rect">
            <a:avLst/>
          </a:prstGeom>
          <a:solidFill>
            <a:srgbClr val="F7F7F7"/>
          </a:solidFill>
          <a:ln/>
        </p:spPr>
      </p:sp>
      <p:sp>
        <p:nvSpPr>
          <p:cNvPr id="32" name="Text 30"/>
          <p:cNvSpPr txBox="1"/>
          <p:nvPr/>
        </p:nvSpPr>
        <p:spPr>
          <a:xfrm>
            <a:off x="713232" y="3730752"/>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p:txBody>
      </p:sp>
      <p:sp>
        <p:nvSpPr>
          <p:cNvPr id="33" name="Shape 31"/>
          <p:cNvSpPr/>
          <p:nvPr/>
        </p:nvSpPr>
        <p:spPr>
          <a:xfrm>
            <a:off x="2926080" y="3851910"/>
            <a:ext cx="883920" cy="242316"/>
          </a:xfrm>
          <a:prstGeom prst="rect">
            <a:avLst/>
          </a:prstGeom>
          <a:solidFill>
            <a:srgbClr val="12A566"/>
          </a:solidFill>
          <a:ln/>
        </p:spPr>
      </p:sp>
      <p:sp>
        <p:nvSpPr>
          <p:cNvPr id="34" name="Text 32"/>
          <p:cNvSpPr txBox="1"/>
          <p:nvPr/>
        </p:nvSpPr>
        <p:spPr>
          <a:xfrm>
            <a:off x="5486400" y="3730752"/>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35" name="Text 33"/>
          <p:cNvSpPr txBox="1"/>
          <p:nvPr/>
        </p:nvSpPr>
        <p:spPr>
          <a:xfrm>
            <a:off x="617220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6" name="Text 34"/>
          <p:cNvSpPr txBox="1"/>
          <p:nvPr/>
        </p:nvSpPr>
        <p:spPr>
          <a:xfrm>
            <a:off x="8823960" y="3730752"/>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CP RO count</a:t>
            </a:r>
            <a:endParaRPr lang="en-US" sz="1300" dirty="0"/>
          </a:p>
        </p:txBody>
      </p:sp>
      <p:sp>
        <p:nvSpPr>
          <p:cNvPr id="37" name="Text 35"/>
          <p:cNvSpPr txBox="1"/>
          <p:nvPr/>
        </p:nvSpPr>
        <p:spPr>
          <a:xfrm>
            <a:off x="713232" y="4215384"/>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p:txBody>
      </p:sp>
      <p:sp>
        <p:nvSpPr>
          <p:cNvPr id="38" name="Shape 36"/>
          <p:cNvSpPr/>
          <p:nvPr/>
        </p:nvSpPr>
        <p:spPr>
          <a:xfrm>
            <a:off x="2926080" y="4336542"/>
            <a:ext cx="883920" cy="242316"/>
          </a:xfrm>
          <a:prstGeom prst="rect">
            <a:avLst/>
          </a:prstGeom>
          <a:solidFill>
            <a:srgbClr val="12A566"/>
          </a:solidFill>
          <a:ln/>
        </p:spPr>
      </p:sp>
      <p:sp>
        <p:nvSpPr>
          <p:cNvPr id="39" name="Text 37"/>
          <p:cNvSpPr txBox="1"/>
          <p:nvPr/>
        </p:nvSpPr>
        <p:spPr>
          <a:xfrm>
            <a:off x="5486400" y="4215384"/>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0" name="Text 38"/>
          <p:cNvSpPr txBox="1"/>
          <p:nvPr/>
        </p:nvSpPr>
        <p:spPr>
          <a:xfrm>
            <a:off x="617220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1" name="Text 39"/>
          <p:cNvSpPr txBox="1"/>
          <p:nvPr/>
        </p:nvSpPr>
        <p:spPr>
          <a:xfrm>
            <a:off x="8823960" y="4215384"/>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2" name="Shape 40"/>
          <p:cNvSpPr/>
          <p:nvPr/>
        </p:nvSpPr>
        <p:spPr>
          <a:xfrm>
            <a:off x="621792" y="4700016"/>
            <a:ext cx="10945368" cy="484632"/>
          </a:xfrm>
          <a:prstGeom prst="rect">
            <a:avLst/>
          </a:prstGeom>
          <a:solidFill>
            <a:srgbClr val="F7F7F7"/>
          </a:solidFill>
          <a:ln/>
        </p:spPr>
      </p:sp>
      <p:sp>
        <p:nvSpPr>
          <p:cNvPr id="43" name="Text 41"/>
          <p:cNvSpPr txBox="1"/>
          <p:nvPr/>
        </p:nvSpPr>
        <p:spPr>
          <a:xfrm>
            <a:off x="713232" y="4700016"/>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VOLVO</a:t>
            </a:r>
            <a:endParaRPr lang="en-US" sz="1400" dirty="0"/>
          </a:p>
        </p:txBody>
      </p:sp>
      <p:sp>
        <p:nvSpPr>
          <p:cNvPr id="44" name="Shape 42"/>
          <p:cNvSpPr/>
          <p:nvPr/>
        </p:nvSpPr>
        <p:spPr>
          <a:xfrm>
            <a:off x="2926080" y="4821174"/>
            <a:ext cx="883920" cy="242316"/>
          </a:xfrm>
          <a:prstGeom prst="rect">
            <a:avLst/>
          </a:prstGeom>
          <a:solidFill>
            <a:srgbClr val="12A566"/>
          </a:solidFill>
          <a:ln/>
        </p:spPr>
      </p:sp>
      <p:sp>
        <p:nvSpPr>
          <p:cNvPr id="45" name="Text 43"/>
          <p:cNvSpPr txBox="1"/>
          <p:nvPr/>
        </p:nvSpPr>
        <p:spPr>
          <a:xfrm>
            <a:off x="5486400" y="4700016"/>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46" name="Text 44"/>
          <p:cNvSpPr txBox="1"/>
          <p:nvPr/>
        </p:nvSpPr>
        <p:spPr>
          <a:xfrm>
            <a:off x="617220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7" name="Text 45"/>
          <p:cNvSpPr txBox="1"/>
          <p:nvPr/>
        </p:nvSpPr>
        <p:spPr>
          <a:xfrm>
            <a:off x="8823960" y="4700016"/>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ELR</a:t>
            </a:r>
            <a:endParaRPr lang="en-US" sz="1300" dirty="0"/>
          </a:p>
        </p:txBody>
      </p:sp>
      <p:sp>
        <p:nvSpPr>
          <p:cNvPr id="48" name="Text 46"/>
          <p:cNvSpPr txBox="1"/>
          <p:nvPr/>
        </p:nvSpPr>
        <p:spPr>
          <a:xfrm>
            <a:off x="713232" y="5184648"/>
            <a:ext cx="2103120" cy="484632"/>
          </a:xfrm>
          <a:prstGeom prst="rect">
            <a:avLst/>
          </a:prstGeom>
          <a:noFill/>
          <a:ln/>
        </p:spPr>
        <p:txBody>
          <a:bodyPr wrap="square" lIns="0" tIns="0" rIns="0" bIns="0" rtlCol="0" anchor="ctr"/>
          <a:lstStyle/>
          <a:p>
            <a:pPr indent="0" marL="0">
              <a:buNone/>
            </a:pPr>
            <a:r>
              <a:rPr lang="en-US" sz="1400" b="1" dirty="0">
                <a:solidFill>
                  <a:srgbClr val="1A1A1A"/>
                </a:solidFill>
                <a:latin typeface="Inter" pitchFamily="34" charset="0"/>
                <a:ea typeface="Inter" pitchFamily="34" charset="-122"/>
                <a:cs typeface="Inter" pitchFamily="34" charset="-120"/>
              </a:rPr>
              <a:t>ACURA</a:t>
            </a:r>
            <a:endParaRPr lang="en-US" sz="1400" dirty="0"/>
          </a:p>
        </p:txBody>
      </p:sp>
      <p:sp>
        <p:nvSpPr>
          <p:cNvPr id="49" name="Shape 47"/>
          <p:cNvSpPr/>
          <p:nvPr/>
        </p:nvSpPr>
        <p:spPr>
          <a:xfrm>
            <a:off x="2926080" y="5305806"/>
            <a:ext cx="883920" cy="242316"/>
          </a:xfrm>
          <a:prstGeom prst="rect">
            <a:avLst/>
          </a:prstGeom>
          <a:solidFill>
            <a:srgbClr val="12A566"/>
          </a:solidFill>
          <a:ln/>
        </p:spPr>
      </p:sp>
      <p:sp>
        <p:nvSpPr>
          <p:cNvPr id="50" name="Text 48"/>
          <p:cNvSpPr txBox="1"/>
          <p:nvPr/>
        </p:nvSpPr>
        <p:spPr>
          <a:xfrm>
            <a:off x="5486400" y="5184648"/>
            <a:ext cx="457200" cy="484632"/>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a:t>
            </a:r>
            <a:endParaRPr lang="en-US" sz="1600" dirty="0"/>
          </a:p>
        </p:txBody>
      </p:sp>
      <p:sp>
        <p:nvSpPr>
          <p:cNvPr id="51" name="Text 49"/>
          <p:cNvSpPr txBox="1"/>
          <p:nvPr/>
        </p:nvSpPr>
        <p:spPr>
          <a:xfrm>
            <a:off x="617220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2" name="Text 50"/>
          <p:cNvSpPr txBox="1"/>
          <p:nvPr/>
        </p:nvSpPr>
        <p:spPr>
          <a:xfrm>
            <a:off x="8823960" y="5184648"/>
            <a:ext cx="2743200" cy="484632"/>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parts GP%</a:t>
            </a:r>
            <a:endParaRPr lang="en-US" sz="1300" dirty="0"/>
          </a:p>
        </p:txBody>
      </p:sp>
      <p:sp>
        <p:nvSpPr>
          <p:cNvPr id="53" name="Shape 51"/>
          <p:cNvSpPr/>
          <p:nvPr/>
        </p:nvSpPr>
        <p:spPr>
          <a:xfrm>
            <a:off x="457200" y="6126480"/>
            <a:ext cx="11274552" cy="371856"/>
          </a:xfrm>
          <a:prstGeom prst="rect">
            <a:avLst/>
          </a:prstGeom>
          <a:solidFill>
            <a:srgbClr val="E6F6EE"/>
          </a:solidFill>
          <a:ln/>
        </p:spPr>
      </p:sp>
      <p:sp>
        <p:nvSpPr>
          <p:cNvPr id="54" name="Text 5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has 6 top-3 finishes of 12. 8 stores make a top-3 list in both periods.</a:t>
            </a:r>
            <a:endParaRPr lang="en-US" sz="1600" dirty="0"/>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Gross</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+6.4% · 27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$865K → $1.26M</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+46.0%</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$832K → $1.21M</a:t>
            </a:r>
            <a:endParaRPr lang="en-US" sz="1300" dirty="0"/>
          </a:p>
        </p:txBody>
      </p:sp>
      <p:sp>
        <p:nvSpPr>
          <p:cNvPr id="18" name="Shape 16"/>
          <p:cNvSpPr/>
          <p:nvPr/>
        </p:nvSpPr>
        <p:spPr>
          <a:xfrm>
            <a:off x="3383280" y="3127248"/>
            <a:ext cx="126095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$1.48M → $1.98M</a:t>
            </a:r>
            <a:endParaRPr lang="en-US" sz="1300" dirty="0"/>
          </a:p>
        </p:txBody>
      </p:sp>
      <p:sp>
        <p:nvSpPr>
          <p:cNvPr id="24" name="Shape 22"/>
          <p:cNvSpPr/>
          <p:nvPr/>
        </p:nvSpPr>
        <p:spPr>
          <a:xfrm>
            <a:off x="3383280" y="3785616"/>
            <a:ext cx="939340"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+33.8%</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$657K → $862K</a:t>
            </a:r>
            <a:endParaRPr lang="en-US" sz="1300" dirty="0"/>
          </a:p>
        </p:txBody>
      </p:sp>
      <p:sp>
        <p:nvSpPr>
          <p:cNvPr id="29" name="Shape 27"/>
          <p:cNvSpPr/>
          <p:nvPr/>
        </p:nvSpPr>
        <p:spPr>
          <a:xfrm>
            <a:off x="3383280" y="4443984"/>
            <a:ext cx="862566"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+31.0%</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$1.63M → $2.10M</a:t>
            </a:r>
            <a:endParaRPr lang="en-US" sz="1300" dirty="0"/>
          </a:p>
        </p:txBody>
      </p:sp>
      <p:sp>
        <p:nvSpPr>
          <p:cNvPr id="35" name="Shape 33"/>
          <p:cNvSpPr/>
          <p:nvPr/>
        </p:nvSpPr>
        <p:spPr>
          <a:xfrm>
            <a:off x="3383280" y="5102352"/>
            <a:ext cx="80027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+8.4% · 29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$243K → $418K</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+72.1%</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$237K → $336K</a:t>
            </a:r>
            <a:endParaRPr lang="en-US" sz="1300" dirty="0"/>
          </a:p>
        </p:txBody>
      </p:sp>
      <p:sp>
        <p:nvSpPr>
          <p:cNvPr id="50" name="Shape 48"/>
          <p:cNvSpPr/>
          <p:nvPr/>
        </p:nvSpPr>
        <p:spPr>
          <a:xfrm>
            <a:off x="9098280" y="3127248"/>
            <a:ext cx="738338"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+41.5%</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$291K → $410K</a:t>
            </a:r>
            <a:endParaRPr lang="en-US" sz="1300" dirty="0"/>
          </a:p>
        </p:txBody>
      </p:sp>
      <p:sp>
        <p:nvSpPr>
          <p:cNvPr id="56" name="Shape 54"/>
          <p:cNvSpPr/>
          <p:nvPr/>
        </p:nvSpPr>
        <p:spPr>
          <a:xfrm>
            <a:off x="9098280" y="3785616"/>
            <a:ext cx="72918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+41.0%</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$268K → $358K</a:t>
            </a:r>
            <a:endParaRPr lang="en-US" sz="1300" dirty="0"/>
          </a:p>
        </p:txBody>
      </p:sp>
      <p:sp>
        <p:nvSpPr>
          <p:cNvPr id="61" name="Shape 59"/>
          <p:cNvSpPr/>
          <p:nvPr/>
        </p:nvSpPr>
        <p:spPr>
          <a:xfrm>
            <a:off x="9098280" y="4443984"/>
            <a:ext cx="592350"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+33.3%</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$473K → $626K</a:t>
            </a:r>
            <a:endParaRPr lang="en-US" sz="1300" dirty="0"/>
          </a:p>
        </p:txBody>
      </p:sp>
      <p:sp>
        <p:nvSpPr>
          <p:cNvPr id="67" name="Shape 65"/>
          <p:cNvSpPr/>
          <p:nvPr/>
        </p:nvSpPr>
        <p:spPr>
          <a:xfrm>
            <a:off x="9098280" y="5102352"/>
            <a:ext cx="57469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+32.3%</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RO Count</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+0.1% · 20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7,156 → 8,133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+13.6%</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PRESCOTT</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1,784 → 2,010</a:t>
            </a:r>
            <a:endParaRPr lang="en-US" sz="1300" dirty="0"/>
          </a:p>
        </p:txBody>
      </p:sp>
      <p:sp>
        <p:nvSpPr>
          <p:cNvPr id="18" name="Shape 16"/>
          <p:cNvSpPr/>
          <p:nvPr/>
        </p:nvSpPr>
        <p:spPr>
          <a:xfrm>
            <a:off x="3383280" y="3127248"/>
            <a:ext cx="118782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+12.6%</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2,810 → 3,107</a:t>
            </a:r>
            <a:endParaRPr lang="en-US" sz="1300" dirty="0"/>
          </a:p>
        </p:txBody>
      </p:sp>
      <p:sp>
        <p:nvSpPr>
          <p:cNvPr id="24" name="Shape 22"/>
          <p:cNvSpPr/>
          <p:nvPr/>
        </p:nvSpPr>
        <p:spPr>
          <a:xfrm>
            <a:off x="3383280" y="3785616"/>
            <a:ext cx="9910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+10.5%</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5,042 → 5,553</a:t>
            </a:r>
            <a:endParaRPr lang="en-US" sz="1300" dirty="0"/>
          </a:p>
        </p:txBody>
      </p:sp>
      <p:sp>
        <p:nvSpPr>
          <p:cNvPr id="29" name="Shape 27"/>
          <p:cNvSpPr/>
          <p:nvPr/>
        </p:nvSpPr>
        <p:spPr>
          <a:xfrm>
            <a:off x="3383280" y="4443984"/>
            <a:ext cx="95029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+10.1%</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1,303 → 1,421</a:t>
            </a:r>
            <a:endParaRPr lang="en-US" sz="1300" dirty="0"/>
          </a:p>
        </p:txBody>
      </p:sp>
      <p:sp>
        <p:nvSpPr>
          <p:cNvPr id="35" name="Shape 33"/>
          <p:cNvSpPr/>
          <p:nvPr/>
        </p:nvSpPr>
        <p:spPr>
          <a:xfrm>
            <a:off x="3383280" y="5102352"/>
            <a:ext cx="849137"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+9.0%</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+2.0% · 20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406 → 489</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+20.4%</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GMC PRESCOTT</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930 → 1,109</a:t>
            </a:r>
            <a:endParaRPr lang="en-US" sz="1300" dirty="0"/>
          </a:p>
        </p:txBody>
      </p:sp>
      <p:sp>
        <p:nvSpPr>
          <p:cNvPr id="50" name="Shape 48"/>
          <p:cNvSpPr/>
          <p:nvPr/>
        </p:nvSpPr>
        <p:spPr>
          <a:xfrm>
            <a:off x="9098280" y="3127248"/>
            <a:ext cx="1205264"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+19.2%</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1,061 → 1,246</a:t>
            </a:r>
            <a:endParaRPr lang="en-US" sz="1300" dirty="0"/>
          </a:p>
        </p:txBody>
      </p:sp>
      <p:sp>
        <p:nvSpPr>
          <p:cNvPr id="56" name="Shape 54"/>
          <p:cNvSpPr/>
          <p:nvPr/>
        </p:nvSpPr>
        <p:spPr>
          <a:xfrm>
            <a:off x="9098280" y="3785616"/>
            <a:ext cx="1091864"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+17.4%</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AUDI HENDERSON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1,144 → 1,304</a:t>
            </a:r>
            <a:endParaRPr lang="en-US" sz="1300" dirty="0"/>
          </a:p>
        </p:txBody>
      </p:sp>
      <p:sp>
        <p:nvSpPr>
          <p:cNvPr id="61" name="Shape 59"/>
          <p:cNvSpPr/>
          <p:nvPr/>
        </p:nvSpPr>
        <p:spPr>
          <a:xfrm>
            <a:off x="9098280" y="4443984"/>
            <a:ext cx="87580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+13.9%</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2,374 → 2,700</a:t>
            </a:r>
            <a:endParaRPr lang="en-US" sz="1300" dirty="0"/>
          </a:p>
        </p:txBody>
      </p:sp>
      <p:sp>
        <p:nvSpPr>
          <p:cNvPr id="67" name="Shape 65"/>
          <p:cNvSpPr/>
          <p:nvPr/>
        </p:nvSpPr>
        <p:spPr>
          <a:xfrm>
            <a:off x="9098280" y="5102352"/>
            <a:ext cx="859902"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Kia LV leads Jan–Sep; LR Reno leads the last 90 days. Three stores are top five in both.</a:t>
            </a:r>
            <a:endParaRPr lang="en-US" sz="1600" dirty="0"/>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Hours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+3.6% · 26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1.03 → 1.43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+39.1%</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1.75 → 2.30</a:t>
            </a:r>
            <a:endParaRPr lang="en-US" sz="1300" dirty="0"/>
          </a:p>
        </p:txBody>
      </p:sp>
      <p:sp>
        <p:nvSpPr>
          <p:cNvPr id="18" name="Shape 16"/>
          <p:cNvSpPr/>
          <p:nvPr/>
        </p:nvSpPr>
        <p:spPr>
          <a:xfrm>
            <a:off x="3383280" y="3127248"/>
            <a:ext cx="1023826"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+31.3%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0.99 → 1.29</a:t>
            </a:r>
            <a:endParaRPr lang="en-US" sz="1300" dirty="0"/>
          </a:p>
        </p:txBody>
      </p:sp>
      <p:sp>
        <p:nvSpPr>
          <p:cNvPr id="24" name="Shape 22"/>
          <p:cNvSpPr/>
          <p:nvPr/>
        </p:nvSpPr>
        <p:spPr>
          <a:xfrm>
            <a:off x="3383280" y="3785616"/>
            <a:ext cx="1005399"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+30.7%</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 → 1.60</a:t>
            </a:r>
            <a:endParaRPr lang="en-US" sz="1300" dirty="0"/>
          </a:p>
        </p:txBody>
      </p:sp>
      <p:sp>
        <p:nvSpPr>
          <p:cNvPr id="29" name="Shape 27"/>
          <p:cNvSpPr/>
          <p:nvPr/>
        </p:nvSpPr>
        <p:spPr>
          <a:xfrm>
            <a:off x="3383280" y="4443984"/>
            <a:ext cx="6405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+19.5%</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LV</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1.32 → 1.57</a:t>
            </a:r>
            <a:endParaRPr lang="en-US" sz="1300" dirty="0"/>
          </a:p>
        </p:txBody>
      </p:sp>
      <p:sp>
        <p:nvSpPr>
          <p:cNvPr id="35" name="Shape 33"/>
          <p:cNvSpPr/>
          <p:nvPr/>
        </p:nvSpPr>
        <p:spPr>
          <a:xfrm>
            <a:off x="3383280" y="5102352"/>
            <a:ext cx="612671"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+3.1% · 23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1.07 → 1.54</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+44.7%</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0.98 → 1.38</a:t>
            </a:r>
            <a:endParaRPr lang="en-US" sz="1300" dirty="0"/>
          </a:p>
        </p:txBody>
      </p:sp>
      <p:sp>
        <p:nvSpPr>
          <p:cNvPr id="50" name="Shape 48"/>
          <p:cNvSpPr/>
          <p:nvPr/>
        </p:nvSpPr>
        <p:spPr>
          <a:xfrm>
            <a:off x="9098280" y="3127248"/>
            <a:ext cx="1177847"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+41.1%</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MAZDA</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1.29 → 1.65</a:t>
            </a:r>
            <a:endParaRPr lang="en-US" sz="1300" dirty="0"/>
          </a:p>
        </p:txBody>
      </p:sp>
      <p:sp>
        <p:nvSpPr>
          <p:cNvPr id="56" name="Shape 54"/>
          <p:cNvSpPr/>
          <p:nvPr/>
        </p:nvSpPr>
        <p:spPr>
          <a:xfrm>
            <a:off x="9098280" y="3785616"/>
            <a:ext cx="788509"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+27.5%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3.39 → 4.07</a:t>
            </a:r>
            <a:endParaRPr lang="en-US" sz="1300" dirty="0"/>
          </a:p>
        </p:txBody>
      </p:sp>
      <p:sp>
        <p:nvSpPr>
          <p:cNvPr id="61" name="Shape 59"/>
          <p:cNvSpPr/>
          <p:nvPr/>
        </p:nvSpPr>
        <p:spPr>
          <a:xfrm>
            <a:off x="9098280" y="4443984"/>
            <a:ext cx="576271"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2.07 → 2.44</a:t>
            </a:r>
            <a:endParaRPr lang="en-US" sz="1300" dirty="0"/>
          </a:p>
        </p:txBody>
      </p:sp>
      <p:sp>
        <p:nvSpPr>
          <p:cNvPr id="67" name="Shape 65"/>
          <p:cNvSpPr/>
          <p:nvPr/>
        </p:nvSpPr>
        <p:spPr>
          <a:xfrm>
            <a:off x="9098280" y="5102352"/>
            <a:ext cx="504347"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Hyundai St George leads both periods. Hyundai St George and Kia St George are top five in both.</a:t>
            </a:r>
            <a:endParaRPr lang="en-US" sz="1600" dirty="0"/>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ELR</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+2.2% · 19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$117.05 → $143.89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$181.59 → $222.12</a:t>
            </a:r>
            <a:endParaRPr lang="en-US" sz="1300" dirty="0"/>
          </a:p>
        </p:txBody>
      </p:sp>
      <p:sp>
        <p:nvSpPr>
          <p:cNvPr id="18" name="Shape 16"/>
          <p:cNvSpPr/>
          <p:nvPr/>
        </p:nvSpPr>
        <p:spPr>
          <a:xfrm>
            <a:off x="3383280" y="3127248"/>
            <a:ext cx="1246113"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+22.3%</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$139.55 → $167.64</a:t>
            </a:r>
            <a:endParaRPr lang="en-US" sz="1300" dirty="0"/>
          </a:p>
        </p:txBody>
      </p:sp>
      <p:sp>
        <p:nvSpPr>
          <p:cNvPr id="24" name="Shape 22"/>
          <p:cNvSpPr/>
          <p:nvPr/>
        </p:nvSpPr>
        <p:spPr>
          <a:xfrm>
            <a:off x="3383280" y="3785616"/>
            <a:ext cx="1123401"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+20.1%</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$153.87 → $175.90</a:t>
            </a:r>
            <a:endParaRPr lang="en-US" sz="1300" dirty="0"/>
          </a:p>
        </p:txBody>
      </p:sp>
      <p:sp>
        <p:nvSpPr>
          <p:cNvPr id="29" name="Shape 27"/>
          <p:cNvSpPr/>
          <p:nvPr/>
        </p:nvSpPr>
        <p:spPr>
          <a:xfrm>
            <a:off x="3383280" y="4443984"/>
            <a:ext cx="799074"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+14.3%</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$122.25 → $139.13</a:t>
            </a:r>
            <a:endParaRPr lang="en-US" sz="1300" dirty="0"/>
          </a:p>
        </p:txBody>
      </p:sp>
      <p:sp>
        <p:nvSpPr>
          <p:cNvPr id="35" name="Shape 33"/>
          <p:cNvSpPr/>
          <p:nvPr/>
        </p:nvSpPr>
        <p:spPr>
          <a:xfrm>
            <a:off x="3383280" y="5102352"/>
            <a:ext cx="770788"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+13.8%</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+2.5% · 22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$134.86 → $167.22</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+23.9%</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SPOKANE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$119.95 → $147.93</a:t>
            </a:r>
            <a:endParaRPr lang="en-US" sz="1300" dirty="0"/>
          </a:p>
        </p:txBody>
      </p:sp>
      <p:sp>
        <p:nvSpPr>
          <p:cNvPr id="50" name="Shape 48"/>
          <p:cNvSpPr/>
          <p:nvPr/>
        </p:nvSpPr>
        <p:spPr>
          <a:xfrm>
            <a:off x="9098280" y="3127248"/>
            <a:ext cx="1244425"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+23.3%</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VOLVO</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$183.95 → $225.50</a:t>
            </a:r>
            <a:endParaRPr lang="en-US" sz="1300" dirty="0"/>
          </a:p>
        </p:txBody>
      </p:sp>
      <p:sp>
        <p:nvSpPr>
          <p:cNvPr id="56" name="Shape 54"/>
          <p:cNvSpPr/>
          <p:nvPr/>
        </p:nvSpPr>
        <p:spPr>
          <a:xfrm>
            <a:off x="9098280" y="3785616"/>
            <a:ext cx="1205012"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+22.5%</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$160.07 → $180.14</a:t>
            </a:r>
            <a:endParaRPr lang="en-US" sz="1300" dirty="0"/>
          </a:p>
        </p:txBody>
      </p:sp>
      <p:sp>
        <p:nvSpPr>
          <p:cNvPr id="61" name="Shape 59"/>
          <p:cNvSpPr/>
          <p:nvPr/>
        </p:nvSpPr>
        <p:spPr>
          <a:xfrm>
            <a:off x="9098280" y="4443984"/>
            <a:ext cx="669135"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+12.5%</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$125.74 → $139.81</a:t>
            </a:r>
            <a:endParaRPr lang="en-US" sz="1300" dirty="0"/>
          </a:p>
        </p:txBody>
      </p:sp>
      <p:sp>
        <p:nvSpPr>
          <p:cNvPr id="67" name="Shape 65"/>
          <p:cNvSpPr/>
          <p:nvPr/>
        </p:nvSpPr>
        <p:spPr>
          <a:xfrm>
            <a:off x="9098280" y="5102352"/>
            <a:ext cx="596701"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+11.1%</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Honda Spokane leads Jan–Sep; Lincoln leads the last 90 days. Five stores are top five in both.</a:t>
            </a:r>
            <a:endParaRPr lang="en-US" sz="1600" dirty="0"/>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 per RO</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+4.1% · 24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$281 → $363</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+28.9%</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LEXUS</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$193 → $240</a:t>
            </a:r>
            <a:endParaRPr lang="en-US" sz="1300" dirty="0"/>
          </a:p>
        </p:txBody>
      </p:sp>
      <p:sp>
        <p:nvSpPr>
          <p:cNvPr id="18" name="Shape 16"/>
          <p:cNvSpPr/>
          <p:nvPr/>
        </p:nvSpPr>
        <p:spPr>
          <a:xfrm>
            <a:off x="3383280" y="3127248"/>
            <a:ext cx="1095538"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+24.7%</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$181 → $219</a:t>
            </a:r>
            <a:endParaRPr lang="en-US" sz="1300" dirty="0"/>
          </a:p>
        </p:txBody>
      </p:sp>
      <p:sp>
        <p:nvSpPr>
          <p:cNvPr id="24" name="Shape 22"/>
          <p:cNvSpPr/>
          <p:nvPr/>
        </p:nvSpPr>
        <p:spPr>
          <a:xfrm>
            <a:off x="3383280" y="3785616"/>
            <a:ext cx="930538"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+21.0%</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$179 → $212</a:t>
            </a:r>
            <a:endParaRPr lang="en-US" sz="1300" dirty="0"/>
          </a:p>
        </p:txBody>
      </p:sp>
      <p:sp>
        <p:nvSpPr>
          <p:cNvPr id="29" name="Shape 27"/>
          <p:cNvSpPr/>
          <p:nvPr/>
        </p:nvSpPr>
        <p:spPr>
          <a:xfrm>
            <a:off x="3383280" y="4443984"/>
            <a:ext cx="829801"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ST GEORGE</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$238 → $280</a:t>
            </a:r>
            <a:endParaRPr lang="en-US" sz="1300" dirty="0"/>
          </a:p>
        </p:txBody>
      </p:sp>
      <p:sp>
        <p:nvSpPr>
          <p:cNvPr id="35" name="Shape 33"/>
          <p:cNvSpPr/>
          <p:nvPr/>
        </p:nvSpPr>
        <p:spPr>
          <a:xfrm>
            <a:off x="3383280" y="5102352"/>
            <a:ext cx="78160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+17.6%</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+3.8% · 24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$266 → $373</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+40.0%</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HONDA FLAGSTAFF</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$182 → $234</a:t>
            </a:r>
            <a:endParaRPr lang="en-US" sz="1300" dirty="0"/>
          </a:p>
        </p:txBody>
      </p:sp>
      <p:sp>
        <p:nvSpPr>
          <p:cNvPr id="50" name="Shape 48"/>
          <p:cNvSpPr/>
          <p:nvPr/>
        </p:nvSpPr>
        <p:spPr>
          <a:xfrm>
            <a:off x="9098280" y="3127248"/>
            <a:ext cx="919791"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+28.7%</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HENDERSON</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$793 → $988</a:t>
            </a:r>
            <a:endParaRPr lang="en-US" sz="1300" dirty="0"/>
          </a:p>
        </p:txBody>
      </p:sp>
      <p:sp>
        <p:nvSpPr>
          <p:cNvPr id="56" name="Shape 54"/>
          <p:cNvSpPr/>
          <p:nvPr/>
        </p:nvSpPr>
        <p:spPr>
          <a:xfrm>
            <a:off x="9098280" y="3785616"/>
            <a:ext cx="786898"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+24.6%</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$234 → $285</a:t>
            </a:r>
            <a:endParaRPr lang="en-US" sz="1300" dirty="0"/>
          </a:p>
        </p:txBody>
      </p:sp>
      <p:sp>
        <p:nvSpPr>
          <p:cNvPr id="61" name="Shape 59"/>
          <p:cNvSpPr/>
          <p:nvPr/>
        </p:nvSpPr>
        <p:spPr>
          <a:xfrm>
            <a:off x="9098280" y="4443984"/>
            <a:ext cx="697812"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+21.8%</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HYUNDAI ST GEORGE</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$197 → $234</a:t>
            </a:r>
            <a:endParaRPr lang="en-US" sz="1300" dirty="0"/>
          </a:p>
        </p:txBody>
      </p:sp>
      <p:sp>
        <p:nvSpPr>
          <p:cNvPr id="67" name="Shape 65"/>
          <p:cNvSpPr/>
          <p:nvPr/>
        </p:nvSpPr>
        <p:spPr>
          <a:xfrm>
            <a:off x="9098280" y="5102352"/>
            <a:ext cx="597749"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+18.7%</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Lincoln leads both periods. Three stores are top five in both.</a:t>
            </a:r>
            <a:endParaRPr lang="en-US" sz="1600" dirty="0"/>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txBody>
          <a:bodyPr/>
          <a:p/>
        </p:txBody>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OPEN DECISIONS · MOST IMPROVED · V1, SUPERSEDED BY V2</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Most Improved: CP Parts GP %</a:t>
            </a:r>
            <a:endParaRPr lang="en-US" sz="2800" dirty="0"/>
          </a:p>
        </p:txBody>
      </p:sp>
      <p:sp>
        <p:nvSpPr>
          <p:cNvPr id="5" name="Shape 3"/>
          <p:cNvSpPr/>
          <p:nvPr/>
        </p:nvSpPr>
        <p:spPr>
          <a:xfrm>
            <a:off x="457200" y="1207008"/>
            <a:ext cx="5559552" cy="4645152"/>
          </a:xfrm>
          <a:prstGeom prst="rect">
            <a:avLst/>
          </a:prstGeom>
          <a:solidFill>
            <a:srgbClr val="FFFFFF"/>
          </a:solidFill>
          <a:ln/>
        </p:spPr>
      </p:sp>
      <p:sp>
        <p:nvSpPr>
          <p:cNvPr id="6" name="Text 4"/>
          <p:cNvSpPr txBox="1"/>
          <p:nvPr/>
        </p:nvSpPr>
        <p:spPr>
          <a:xfrm>
            <a:off x="685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January–September · vs Jan–Sep 2025</a:t>
            </a:r>
            <a:endParaRPr lang="en-US" sz="1500" dirty="0"/>
          </a:p>
        </p:txBody>
      </p:sp>
      <p:sp>
        <p:nvSpPr>
          <p:cNvPr id="7" name="Shape 5"/>
          <p:cNvSpPr/>
          <p:nvPr/>
        </p:nvSpPr>
        <p:spPr>
          <a:xfrm>
            <a:off x="685800" y="1691640"/>
            <a:ext cx="5102352" cy="10973"/>
          </a:xfrm>
          <a:prstGeom prst="rect">
            <a:avLst/>
          </a:prstGeom>
          <a:solidFill>
            <a:srgbClr val="1A1A1A"/>
          </a:solidFill>
          <a:ln/>
        </p:spPr>
      </p:sp>
      <p:sp>
        <p:nvSpPr>
          <p:cNvPr id="8" name="Text 6"/>
          <p:cNvSpPr txBox="1"/>
          <p:nvPr/>
        </p:nvSpPr>
        <p:spPr>
          <a:xfrm>
            <a:off x="685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28 of 33 stores improved</a:t>
            </a:r>
            <a:endParaRPr lang="en-US" sz="1400" dirty="0"/>
          </a:p>
        </p:txBody>
      </p:sp>
      <p:sp>
        <p:nvSpPr>
          <p:cNvPr id="9" name="Shape 7"/>
          <p:cNvSpPr/>
          <p:nvPr/>
        </p:nvSpPr>
        <p:spPr>
          <a:xfrm>
            <a:off x="621792" y="2249424"/>
            <a:ext cx="5230368" cy="658368"/>
          </a:xfrm>
          <a:prstGeom prst="rect">
            <a:avLst/>
          </a:prstGeom>
          <a:solidFill>
            <a:srgbClr val="F7F7F7"/>
          </a:solidFill>
          <a:ln/>
        </p:spPr>
      </p:sp>
      <p:sp>
        <p:nvSpPr>
          <p:cNvPr id="10" name="Text 8"/>
          <p:cNvSpPr txBox="1"/>
          <p:nvPr/>
        </p:nvSpPr>
        <p:spPr>
          <a:xfrm>
            <a:off x="731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11" name="Text 9"/>
          <p:cNvSpPr txBox="1"/>
          <p:nvPr/>
        </p:nvSpPr>
        <p:spPr>
          <a:xfrm>
            <a:off x="1051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12" name="Text 10"/>
          <p:cNvSpPr txBox="1"/>
          <p:nvPr/>
        </p:nvSpPr>
        <p:spPr>
          <a:xfrm>
            <a:off x="1051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38.7% → 44.9%</a:t>
            </a:r>
            <a:endParaRPr lang="en-US" sz="1300" dirty="0"/>
          </a:p>
        </p:txBody>
      </p:sp>
      <p:sp>
        <p:nvSpPr>
          <p:cNvPr id="13" name="Shape 11"/>
          <p:cNvSpPr/>
          <p:nvPr/>
        </p:nvSpPr>
        <p:spPr>
          <a:xfrm>
            <a:off x="3383280" y="2468880"/>
            <a:ext cx="1280160" cy="219456"/>
          </a:xfrm>
          <a:prstGeom prst="rect">
            <a:avLst/>
          </a:prstGeom>
          <a:solidFill>
            <a:srgbClr val="12A566"/>
          </a:solidFill>
          <a:ln/>
        </p:spPr>
      </p:sp>
      <p:sp>
        <p:nvSpPr>
          <p:cNvPr id="14" name="Text 12"/>
          <p:cNvSpPr txBox="1"/>
          <p:nvPr/>
        </p:nvSpPr>
        <p:spPr>
          <a:xfrm>
            <a:off x="4718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+6.1 pts</a:t>
            </a:r>
            <a:endParaRPr lang="en-US" sz="1700" dirty="0"/>
          </a:p>
        </p:txBody>
      </p:sp>
      <p:sp>
        <p:nvSpPr>
          <p:cNvPr id="15" name="Text 13"/>
          <p:cNvSpPr txBox="1"/>
          <p:nvPr/>
        </p:nvSpPr>
        <p:spPr>
          <a:xfrm>
            <a:off x="731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16" name="Text 14"/>
          <p:cNvSpPr txBox="1"/>
          <p:nvPr/>
        </p:nvSpPr>
        <p:spPr>
          <a:xfrm>
            <a:off x="1051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NISSAN</a:t>
            </a:r>
            <a:endParaRPr lang="en-US" sz="1500" dirty="0"/>
          </a:p>
        </p:txBody>
      </p:sp>
      <p:sp>
        <p:nvSpPr>
          <p:cNvPr id="17" name="Text 15"/>
          <p:cNvSpPr txBox="1"/>
          <p:nvPr/>
        </p:nvSpPr>
        <p:spPr>
          <a:xfrm>
            <a:off x="1051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42.7%</a:t>
            </a:r>
            <a:endParaRPr lang="en-US" sz="1300" dirty="0"/>
          </a:p>
        </p:txBody>
      </p:sp>
      <p:sp>
        <p:nvSpPr>
          <p:cNvPr id="18" name="Shape 16"/>
          <p:cNvSpPr/>
          <p:nvPr/>
        </p:nvSpPr>
        <p:spPr>
          <a:xfrm>
            <a:off x="3383280" y="3127248"/>
            <a:ext cx="943982" cy="219456"/>
          </a:xfrm>
          <a:prstGeom prst="rect">
            <a:avLst/>
          </a:prstGeom>
          <a:solidFill>
            <a:srgbClr val="12A566"/>
          </a:solidFill>
          <a:ln/>
        </p:spPr>
      </p:sp>
      <p:sp>
        <p:nvSpPr>
          <p:cNvPr id="19" name="Text 17"/>
          <p:cNvSpPr txBox="1"/>
          <p:nvPr/>
        </p:nvSpPr>
        <p:spPr>
          <a:xfrm>
            <a:off x="4718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+4.5 pts</a:t>
            </a:r>
            <a:endParaRPr lang="en-US" sz="1700" dirty="0"/>
          </a:p>
        </p:txBody>
      </p:sp>
      <p:sp>
        <p:nvSpPr>
          <p:cNvPr id="20" name="Shape 18"/>
          <p:cNvSpPr/>
          <p:nvPr/>
        </p:nvSpPr>
        <p:spPr>
          <a:xfrm>
            <a:off x="621792" y="3566160"/>
            <a:ext cx="5230368" cy="658368"/>
          </a:xfrm>
          <a:prstGeom prst="rect">
            <a:avLst/>
          </a:prstGeom>
          <a:solidFill>
            <a:srgbClr val="F7F7F7"/>
          </a:solidFill>
          <a:ln/>
        </p:spPr>
      </p:sp>
      <p:sp>
        <p:nvSpPr>
          <p:cNvPr id="21" name="Text 19"/>
          <p:cNvSpPr txBox="1"/>
          <p:nvPr/>
        </p:nvSpPr>
        <p:spPr>
          <a:xfrm>
            <a:off x="731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22" name="Text 20"/>
          <p:cNvSpPr txBox="1"/>
          <p:nvPr/>
        </p:nvSpPr>
        <p:spPr>
          <a:xfrm>
            <a:off x="1051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23" name="Text 21"/>
          <p:cNvSpPr txBox="1"/>
          <p:nvPr/>
        </p:nvSpPr>
        <p:spPr>
          <a:xfrm>
            <a:off x="1051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34.8%</a:t>
            </a:r>
            <a:endParaRPr lang="en-US" sz="1300" dirty="0"/>
          </a:p>
        </p:txBody>
      </p:sp>
      <p:sp>
        <p:nvSpPr>
          <p:cNvPr id="24" name="Shape 22"/>
          <p:cNvSpPr/>
          <p:nvPr/>
        </p:nvSpPr>
        <p:spPr>
          <a:xfrm>
            <a:off x="3383280" y="3785616"/>
            <a:ext cx="796646" cy="219456"/>
          </a:xfrm>
          <a:prstGeom prst="rect">
            <a:avLst/>
          </a:prstGeom>
          <a:solidFill>
            <a:srgbClr val="12A566"/>
          </a:solidFill>
          <a:ln/>
        </p:spPr>
      </p:sp>
      <p:sp>
        <p:nvSpPr>
          <p:cNvPr id="25" name="Text 23"/>
          <p:cNvSpPr txBox="1"/>
          <p:nvPr/>
        </p:nvSpPr>
        <p:spPr>
          <a:xfrm>
            <a:off x="4718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26" name="Text 24"/>
          <p:cNvSpPr txBox="1"/>
          <p:nvPr/>
        </p:nvSpPr>
        <p:spPr>
          <a:xfrm>
            <a:off x="731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27" name="Text 25"/>
          <p:cNvSpPr txBox="1"/>
          <p:nvPr/>
        </p:nvSpPr>
        <p:spPr>
          <a:xfrm>
            <a:off x="1051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LINCOLN</a:t>
            </a:r>
            <a:endParaRPr lang="en-US" sz="1500" dirty="0"/>
          </a:p>
        </p:txBody>
      </p:sp>
      <p:sp>
        <p:nvSpPr>
          <p:cNvPr id="28" name="Text 26"/>
          <p:cNvSpPr txBox="1"/>
          <p:nvPr/>
        </p:nvSpPr>
        <p:spPr>
          <a:xfrm>
            <a:off x="1051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33.7% → 37.0%</a:t>
            </a:r>
            <a:endParaRPr lang="en-US" sz="1300" dirty="0"/>
          </a:p>
        </p:txBody>
      </p:sp>
      <p:sp>
        <p:nvSpPr>
          <p:cNvPr id="29" name="Shape 27"/>
          <p:cNvSpPr/>
          <p:nvPr/>
        </p:nvSpPr>
        <p:spPr>
          <a:xfrm>
            <a:off x="3383280" y="4443984"/>
            <a:ext cx="692935" cy="219456"/>
          </a:xfrm>
          <a:prstGeom prst="rect">
            <a:avLst/>
          </a:prstGeom>
          <a:solidFill>
            <a:srgbClr val="12A566"/>
          </a:solidFill>
          <a:ln/>
        </p:spPr>
      </p:sp>
      <p:sp>
        <p:nvSpPr>
          <p:cNvPr id="30" name="Text 28"/>
          <p:cNvSpPr txBox="1"/>
          <p:nvPr/>
        </p:nvSpPr>
        <p:spPr>
          <a:xfrm>
            <a:off x="4718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31" name="Shape 29"/>
          <p:cNvSpPr/>
          <p:nvPr/>
        </p:nvSpPr>
        <p:spPr>
          <a:xfrm>
            <a:off x="621792" y="4882896"/>
            <a:ext cx="5230368" cy="658368"/>
          </a:xfrm>
          <a:prstGeom prst="rect">
            <a:avLst/>
          </a:prstGeom>
          <a:solidFill>
            <a:srgbClr val="F7F7F7"/>
          </a:solidFill>
          <a:ln/>
        </p:spPr>
      </p:sp>
      <p:sp>
        <p:nvSpPr>
          <p:cNvPr id="32" name="Text 30"/>
          <p:cNvSpPr txBox="1"/>
          <p:nvPr/>
        </p:nvSpPr>
        <p:spPr>
          <a:xfrm>
            <a:off x="731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33" name="Text 31"/>
          <p:cNvSpPr txBox="1"/>
          <p:nvPr/>
        </p:nvSpPr>
        <p:spPr>
          <a:xfrm>
            <a:off x="1051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RENO</a:t>
            </a:r>
            <a:endParaRPr lang="en-US" sz="1500" dirty="0"/>
          </a:p>
        </p:txBody>
      </p:sp>
      <p:sp>
        <p:nvSpPr>
          <p:cNvPr id="34" name="Text 32"/>
          <p:cNvSpPr txBox="1"/>
          <p:nvPr/>
        </p:nvSpPr>
        <p:spPr>
          <a:xfrm>
            <a:off x="1051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41.3% → 44.6%</a:t>
            </a:r>
            <a:endParaRPr lang="en-US" sz="1300" dirty="0"/>
          </a:p>
        </p:txBody>
      </p:sp>
      <p:sp>
        <p:nvSpPr>
          <p:cNvPr id="35" name="Shape 33"/>
          <p:cNvSpPr/>
          <p:nvPr/>
        </p:nvSpPr>
        <p:spPr>
          <a:xfrm>
            <a:off x="3383280" y="5102352"/>
            <a:ext cx="687685" cy="219456"/>
          </a:xfrm>
          <a:prstGeom prst="rect">
            <a:avLst/>
          </a:prstGeom>
          <a:solidFill>
            <a:srgbClr val="12A566"/>
          </a:solidFill>
          <a:ln/>
        </p:spPr>
      </p:sp>
      <p:sp>
        <p:nvSpPr>
          <p:cNvPr id="36" name="Text 34"/>
          <p:cNvSpPr txBox="1"/>
          <p:nvPr/>
        </p:nvSpPr>
        <p:spPr>
          <a:xfrm>
            <a:off x="4718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+3.2 pts</a:t>
            </a:r>
            <a:endParaRPr lang="en-US" sz="1700" dirty="0"/>
          </a:p>
        </p:txBody>
      </p:sp>
      <p:sp>
        <p:nvSpPr>
          <p:cNvPr id="37" name="Shape 35"/>
          <p:cNvSpPr/>
          <p:nvPr/>
        </p:nvSpPr>
        <p:spPr>
          <a:xfrm>
            <a:off x="6172200" y="1207008"/>
            <a:ext cx="5559552" cy="4645152"/>
          </a:xfrm>
          <a:prstGeom prst="rect">
            <a:avLst/>
          </a:prstGeom>
          <a:solidFill>
            <a:srgbClr val="FFFFFF"/>
          </a:solidFill>
          <a:ln/>
        </p:spPr>
      </p:sp>
      <p:sp>
        <p:nvSpPr>
          <p:cNvPr id="38" name="Text 36"/>
          <p:cNvSpPr txBox="1"/>
          <p:nvPr/>
        </p:nvSpPr>
        <p:spPr>
          <a:xfrm>
            <a:off x="6400800" y="1344168"/>
            <a:ext cx="5102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Last 90 Days · Jul–Sep vs Jul–Sep 2025</a:t>
            </a:r>
            <a:endParaRPr lang="en-US" sz="1500" dirty="0"/>
          </a:p>
        </p:txBody>
      </p:sp>
      <p:sp>
        <p:nvSpPr>
          <p:cNvPr id="39" name="Shape 37"/>
          <p:cNvSpPr/>
          <p:nvPr/>
        </p:nvSpPr>
        <p:spPr>
          <a:xfrm>
            <a:off x="6400800" y="1691640"/>
            <a:ext cx="5102352" cy="10973"/>
          </a:xfrm>
          <a:prstGeom prst="rect">
            <a:avLst/>
          </a:prstGeom>
          <a:solidFill>
            <a:srgbClr val="1A1A1A"/>
          </a:solidFill>
          <a:ln/>
        </p:spPr>
      </p:sp>
      <p:sp>
        <p:nvSpPr>
          <p:cNvPr id="40" name="Text 38"/>
          <p:cNvSpPr txBox="1"/>
          <p:nvPr/>
        </p:nvSpPr>
        <p:spPr>
          <a:xfrm>
            <a:off x="6400800" y="1810512"/>
            <a:ext cx="5102352" cy="292608"/>
          </a:xfrm>
          <a:prstGeom prst="rect">
            <a:avLst/>
          </a:prstGeom>
          <a:noFill/>
          <a:ln/>
        </p:spPr>
        <p:txBody>
          <a:bodyPr wrap="square" lIns="0" tIns="0" rIns="0" bIns="0" rtlCol="0" anchor="ctr"/>
          <a:lstStyle/>
          <a:p>
            <a:pPr indent="0" marL="0">
              <a:buNone/>
            </a:pPr>
            <a:r>
              <a:rPr lang="en-US" sz="1400" dirty="0">
                <a:solidFill>
                  <a:srgbClr val="595959"/>
                </a:solidFill>
                <a:latin typeface="Inter" pitchFamily="34" charset="0"/>
                <a:ea typeface="Inter" pitchFamily="34" charset="-122"/>
                <a:cs typeface="Inter" pitchFamily="34" charset="-120"/>
              </a:rPr>
              <a:t>Group +1.2 pts · 27 of 33 stores improved</a:t>
            </a:r>
            <a:endParaRPr lang="en-US" sz="1400" dirty="0"/>
          </a:p>
        </p:txBody>
      </p:sp>
      <p:sp>
        <p:nvSpPr>
          <p:cNvPr id="41" name="Shape 39"/>
          <p:cNvSpPr/>
          <p:nvPr/>
        </p:nvSpPr>
        <p:spPr>
          <a:xfrm>
            <a:off x="6336792" y="2249424"/>
            <a:ext cx="5230368" cy="658368"/>
          </a:xfrm>
          <a:prstGeom prst="rect">
            <a:avLst/>
          </a:prstGeom>
          <a:solidFill>
            <a:srgbClr val="F7F7F7"/>
          </a:solidFill>
          <a:ln/>
        </p:spPr>
      </p:sp>
      <p:sp>
        <p:nvSpPr>
          <p:cNvPr id="42" name="Text 40"/>
          <p:cNvSpPr txBox="1"/>
          <p:nvPr/>
        </p:nvSpPr>
        <p:spPr>
          <a:xfrm>
            <a:off x="6446520" y="2249424"/>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1</a:t>
            </a:r>
            <a:endParaRPr lang="en-US" sz="1800" dirty="0"/>
          </a:p>
        </p:txBody>
      </p:sp>
      <p:sp>
        <p:nvSpPr>
          <p:cNvPr id="43" name="Text 41"/>
          <p:cNvSpPr txBox="1"/>
          <p:nvPr/>
        </p:nvSpPr>
        <p:spPr>
          <a:xfrm>
            <a:off x="6766560" y="2322576"/>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ACURA</a:t>
            </a:r>
            <a:endParaRPr lang="en-US" sz="1500" dirty="0"/>
          </a:p>
        </p:txBody>
      </p:sp>
      <p:sp>
        <p:nvSpPr>
          <p:cNvPr id="44" name="Text 42"/>
          <p:cNvSpPr txBox="1"/>
          <p:nvPr/>
        </p:nvSpPr>
        <p:spPr>
          <a:xfrm>
            <a:off x="6766560" y="2596896"/>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38.8% → 46.6%</a:t>
            </a:r>
            <a:endParaRPr lang="en-US" sz="1300" dirty="0"/>
          </a:p>
        </p:txBody>
      </p:sp>
      <p:sp>
        <p:nvSpPr>
          <p:cNvPr id="45" name="Shape 43"/>
          <p:cNvSpPr/>
          <p:nvPr/>
        </p:nvSpPr>
        <p:spPr>
          <a:xfrm>
            <a:off x="9098280" y="2468880"/>
            <a:ext cx="1280160" cy="219456"/>
          </a:xfrm>
          <a:prstGeom prst="rect">
            <a:avLst/>
          </a:prstGeom>
          <a:solidFill>
            <a:srgbClr val="12A566"/>
          </a:solidFill>
          <a:ln/>
        </p:spPr>
      </p:sp>
      <p:sp>
        <p:nvSpPr>
          <p:cNvPr id="46" name="Text 44"/>
          <p:cNvSpPr txBox="1"/>
          <p:nvPr/>
        </p:nvSpPr>
        <p:spPr>
          <a:xfrm>
            <a:off x="10433304" y="2249424"/>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+7.7 pts</a:t>
            </a:r>
            <a:endParaRPr lang="en-US" sz="1700" dirty="0"/>
          </a:p>
        </p:txBody>
      </p:sp>
      <p:sp>
        <p:nvSpPr>
          <p:cNvPr id="47" name="Text 45"/>
          <p:cNvSpPr txBox="1"/>
          <p:nvPr/>
        </p:nvSpPr>
        <p:spPr>
          <a:xfrm>
            <a:off x="6446520" y="2907792"/>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2</a:t>
            </a:r>
            <a:endParaRPr lang="en-US" sz="1800" dirty="0"/>
          </a:p>
        </p:txBody>
      </p:sp>
      <p:sp>
        <p:nvSpPr>
          <p:cNvPr id="48" name="Text 46"/>
          <p:cNvSpPr txBox="1"/>
          <p:nvPr/>
        </p:nvSpPr>
        <p:spPr>
          <a:xfrm>
            <a:off x="6766560" y="2980944"/>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KIA ST GEORGE</a:t>
            </a:r>
            <a:endParaRPr lang="en-US" sz="1500" dirty="0"/>
          </a:p>
        </p:txBody>
      </p:sp>
      <p:sp>
        <p:nvSpPr>
          <p:cNvPr id="49" name="Text 47"/>
          <p:cNvSpPr txBox="1"/>
          <p:nvPr/>
        </p:nvSpPr>
        <p:spPr>
          <a:xfrm>
            <a:off x="6766560" y="3255264"/>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38.2% → 42.4%</a:t>
            </a:r>
            <a:endParaRPr lang="en-US" sz="1300" dirty="0"/>
          </a:p>
        </p:txBody>
      </p:sp>
      <p:sp>
        <p:nvSpPr>
          <p:cNvPr id="50" name="Shape 48"/>
          <p:cNvSpPr/>
          <p:nvPr/>
        </p:nvSpPr>
        <p:spPr>
          <a:xfrm>
            <a:off x="9098280" y="3127248"/>
            <a:ext cx="686566" cy="219456"/>
          </a:xfrm>
          <a:prstGeom prst="rect">
            <a:avLst/>
          </a:prstGeom>
          <a:solidFill>
            <a:srgbClr val="12A566"/>
          </a:solidFill>
          <a:ln/>
        </p:spPr>
      </p:sp>
      <p:sp>
        <p:nvSpPr>
          <p:cNvPr id="51" name="Text 49"/>
          <p:cNvSpPr txBox="1"/>
          <p:nvPr/>
        </p:nvSpPr>
        <p:spPr>
          <a:xfrm>
            <a:off x="10433304" y="2907792"/>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+4.1 pts</a:t>
            </a:r>
            <a:endParaRPr lang="en-US" sz="1700" dirty="0"/>
          </a:p>
        </p:txBody>
      </p:sp>
      <p:sp>
        <p:nvSpPr>
          <p:cNvPr id="52" name="Shape 50"/>
          <p:cNvSpPr/>
          <p:nvPr/>
        </p:nvSpPr>
        <p:spPr>
          <a:xfrm>
            <a:off x="6336792" y="3566160"/>
            <a:ext cx="5230368" cy="658368"/>
          </a:xfrm>
          <a:prstGeom prst="rect">
            <a:avLst/>
          </a:prstGeom>
          <a:solidFill>
            <a:srgbClr val="F7F7F7"/>
          </a:solidFill>
          <a:ln/>
        </p:spPr>
      </p:sp>
      <p:sp>
        <p:nvSpPr>
          <p:cNvPr id="53" name="Text 51"/>
          <p:cNvSpPr txBox="1"/>
          <p:nvPr/>
        </p:nvSpPr>
        <p:spPr>
          <a:xfrm>
            <a:off x="6446520" y="3566160"/>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3</a:t>
            </a:r>
            <a:endParaRPr lang="en-US" sz="1800" dirty="0"/>
          </a:p>
        </p:txBody>
      </p:sp>
      <p:sp>
        <p:nvSpPr>
          <p:cNvPr id="54" name="Text 52"/>
          <p:cNvSpPr txBox="1"/>
          <p:nvPr/>
        </p:nvSpPr>
        <p:spPr>
          <a:xfrm>
            <a:off x="6766560" y="3639312"/>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VW ST GEORGE</a:t>
            </a:r>
            <a:endParaRPr lang="en-US" sz="1500" dirty="0"/>
          </a:p>
        </p:txBody>
      </p:sp>
      <p:sp>
        <p:nvSpPr>
          <p:cNvPr id="55" name="Text 53"/>
          <p:cNvSpPr txBox="1"/>
          <p:nvPr/>
        </p:nvSpPr>
        <p:spPr>
          <a:xfrm>
            <a:off x="6766560" y="3913632"/>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39.7% → 43.8%</a:t>
            </a:r>
            <a:endParaRPr lang="en-US" sz="1300" dirty="0"/>
          </a:p>
        </p:txBody>
      </p:sp>
      <p:sp>
        <p:nvSpPr>
          <p:cNvPr id="56" name="Shape 54"/>
          <p:cNvSpPr/>
          <p:nvPr/>
        </p:nvSpPr>
        <p:spPr>
          <a:xfrm>
            <a:off x="9098280" y="3785616"/>
            <a:ext cx="670906" cy="219456"/>
          </a:xfrm>
          <a:prstGeom prst="rect">
            <a:avLst/>
          </a:prstGeom>
          <a:solidFill>
            <a:srgbClr val="12A566"/>
          </a:solidFill>
          <a:ln/>
        </p:spPr>
      </p:sp>
      <p:sp>
        <p:nvSpPr>
          <p:cNvPr id="57" name="Text 55"/>
          <p:cNvSpPr txBox="1"/>
          <p:nvPr/>
        </p:nvSpPr>
        <p:spPr>
          <a:xfrm>
            <a:off x="10433304" y="3566160"/>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+4.0 pts</a:t>
            </a:r>
            <a:endParaRPr lang="en-US" sz="1700" dirty="0"/>
          </a:p>
        </p:txBody>
      </p:sp>
      <p:sp>
        <p:nvSpPr>
          <p:cNvPr id="58" name="Text 56"/>
          <p:cNvSpPr txBox="1"/>
          <p:nvPr/>
        </p:nvSpPr>
        <p:spPr>
          <a:xfrm>
            <a:off x="6446520" y="4224528"/>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4</a:t>
            </a:r>
            <a:endParaRPr lang="en-US" sz="1800" dirty="0"/>
          </a:p>
        </p:txBody>
      </p:sp>
      <p:sp>
        <p:nvSpPr>
          <p:cNvPr id="59" name="Text 57"/>
          <p:cNvSpPr txBox="1"/>
          <p:nvPr/>
        </p:nvSpPr>
        <p:spPr>
          <a:xfrm>
            <a:off x="6766560" y="4297680"/>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SUBARU PRESCOTT</a:t>
            </a:r>
            <a:endParaRPr lang="en-US" sz="1500" dirty="0"/>
          </a:p>
        </p:txBody>
      </p:sp>
      <p:sp>
        <p:nvSpPr>
          <p:cNvPr id="60" name="Text 58"/>
          <p:cNvSpPr txBox="1"/>
          <p:nvPr/>
        </p:nvSpPr>
        <p:spPr>
          <a:xfrm>
            <a:off x="6766560" y="4572000"/>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31.0% → 34.9%</a:t>
            </a:r>
            <a:endParaRPr lang="en-US" sz="1300" dirty="0"/>
          </a:p>
        </p:txBody>
      </p:sp>
      <p:sp>
        <p:nvSpPr>
          <p:cNvPr id="61" name="Shape 59"/>
          <p:cNvSpPr/>
          <p:nvPr/>
        </p:nvSpPr>
        <p:spPr>
          <a:xfrm>
            <a:off x="9098280" y="4443984"/>
            <a:ext cx="632324" cy="219456"/>
          </a:xfrm>
          <a:prstGeom prst="rect">
            <a:avLst/>
          </a:prstGeom>
          <a:solidFill>
            <a:srgbClr val="12A566"/>
          </a:solidFill>
          <a:ln/>
        </p:spPr>
      </p:sp>
      <p:sp>
        <p:nvSpPr>
          <p:cNvPr id="62" name="Text 60"/>
          <p:cNvSpPr txBox="1"/>
          <p:nvPr/>
        </p:nvSpPr>
        <p:spPr>
          <a:xfrm>
            <a:off x="10433304" y="4224528"/>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+3.8 pts</a:t>
            </a:r>
            <a:endParaRPr lang="en-US" sz="1700" dirty="0"/>
          </a:p>
        </p:txBody>
      </p:sp>
      <p:sp>
        <p:nvSpPr>
          <p:cNvPr id="63" name="Shape 61"/>
          <p:cNvSpPr/>
          <p:nvPr/>
        </p:nvSpPr>
        <p:spPr>
          <a:xfrm>
            <a:off x="6336792" y="4882896"/>
            <a:ext cx="5230368" cy="658368"/>
          </a:xfrm>
          <a:prstGeom prst="rect">
            <a:avLst/>
          </a:prstGeom>
          <a:solidFill>
            <a:srgbClr val="F7F7F7"/>
          </a:solidFill>
          <a:ln/>
        </p:spPr>
      </p:sp>
      <p:sp>
        <p:nvSpPr>
          <p:cNvPr id="64" name="Text 62"/>
          <p:cNvSpPr txBox="1"/>
          <p:nvPr/>
        </p:nvSpPr>
        <p:spPr>
          <a:xfrm>
            <a:off x="6446520" y="4882896"/>
            <a:ext cx="274320" cy="658368"/>
          </a:xfrm>
          <a:prstGeom prst="rect">
            <a:avLst/>
          </a:prstGeom>
          <a:noFill/>
          <a:ln/>
        </p:spPr>
        <p:txBody>
          <a:bodyPr wrap="square" lIns="0" tIns="0" rIns="0" bIns="0" rtlCol="0" anchor="ctr"/>
          <a:lstStyle/>
          <a:p>
            <a:pPr indent="0" marL="0">
              <a:buNone/>
            </a:pPr>
            <a:r>
              <a:rPr lang="en-US" sz="1800" b="1" dirty="0">
                <a:solidFill>
                  <a:srgbClr val="0B2C4A"/>
                </a:solidFill>
                <a:latin typeface="Inter" pitchFamily="34" charset="0"/>
                <a:ea typeface="Inter" pitchFamily="34" charset="-122"/>
                <a:cs typeface="Inter" pitchFamily="34" charset="-120"/>
              </a:rPr>
              <a:t>5</a:t>
            </a:r>
            <a:endParaRPr lang="en-US" sz="1800" dirty="0"/>
          </a:p>
        </p:txBody>
      </p:sp>
      <p:sp>
        <p:nvSpPr>
          <p:cNvPr id="65" name="Text 63"/>
          <p:cNvSpPr txBox="1"/>
          <p:nvPr/>
        </p:nvSpPr>
        <p:spPr>
          <a:xfrm>
            <a:off x="6766560" y="4956048"/>
            <a:ext cx="2286000" cy="274320"/>
          </a:xfrm>
          <a:prstGeom prst="rect">
            <a:avLst/>
          </a:prstGeom>
          <a:noFill/>
          <a:ln/>
        </p:spPr>
        <p:txBody>
          <a:bodyPr wrap="square" lIns="0" tIns="0" rIns="0" bIns="0" rtlCol="0" anchor="ctr"/>
          <a:lstStyle/>
          <a:p>
            <a:pPr indent="0" marL="0">
              <a:buNone/>
            </a:pPr>
            <a:r>
              <a:rPr lang="en-US" sz="1500" b="1" dirty="0">
                <a:solidFill>
                  <a:srgbClr val="1A1A1A"/>
                </a:solidFill>
                <a:latin typeface="Inter" pitchFamily="34" charset="0"/>
                <a:ea typeface="Inter" pitchFamily="34" charset="-122"/>
                <a:cs typeface="Inter" pitchFamily="34" charset="-120"/>
              </a:rPr>
              <a:t>LR LV</a:t>
            </a:r>
            <a:endParaRPr lang="en-US" sz="1500" dirty="0"/>
          </a:p>
        </p:txBody>
      </p:sp>
      <p:sp>
        <p:nvSpPr>
          <p:cNvPr id="66" name="Text 64"/>
          <p:cNvSpPr txBox="1"/>
          <p:nvPr/>
        </p:nvSpPr>
        <p:spPr>
          <a:xfrm>
            <a:off x="6766560" y="5230368"/>
            <a:ext cx="2286000" cy="237744"/>
          </a:xfrm>
          <a:prstGeom prst="rect">
            <a:avLst/>
          </a:prstGeom>
          <a:noFill/>
          <a:ln/>
        </p:spPr>
        <p:txBody>
          <a:bodyPr wrap="square" lIns="0" tIns="0" rIns="0" bIns="0" rtlCol="0" anchor="ctr"/>
          <a:lstStyle/>
          <a:p>
            <a:pPr indent="0" marL="0">
              <a:buNone/>
            </a:pPr>
            <a:r>
              <a:rPr lang="en-US" sz="1300" dirty="0">
                <a:solidFill>
                  <a:srgbClr val="595959"/>
                </a:solidFill>
                <a:latin typeface="Inter" pitchFamily="34" charset="0"/>
                <a:ea typeface="Inter" pitchFamily="34" charset="-122"/>
                <a:cs typeface="Inter" pitchFamily="34" charset="-120"/>
              </a:rPr>
              <a:t>39.3% → 42.6%</a:t>
            </a:r>
            <a:endParaRPr lang="en-US" sz="1300" dirty="0"/>
          </a:p>
        </p:txBody>
      </p:sp>
      <p:sp>
        <p:nvSpPr>
          <p:cNvPr id="67" name="Shape 65"/>
          <p:cNvSpPr/>
          <p:nvPr/>
        </p:nvSpPr>
        <p:spPr>
          <a:xfrm>
            <a:off x="9098280" y="5102352"/>
            <a:ext cx="546860" cy="219456"/>
          </a:xfrm>
          <a:prstGeom prst="rect">
            <a:avLst/>
          </a:prstGeom>
          <a:solidFill>
            <a:srgbClr val="12A566"/>
          </a:solidFill>
          <a:ln/>
        </p:spPr>
      </p:sp>
      <p:sp>
        <p:nvSpPr>
          <p:cNvPr id="68" name="Text 66"/>
          <p:cNvSpPr txBox="1"/>
          <p:nvPr/>
        </p:nvSpPr>
        <p:spPr>
          <a:xfrm>
            <a:off x="10433304" y="4882896"/>
            <a:ext cx="1024128" cy="658368"/>
          </a:xfrm>
          <a:prstGeom prst="rect">
            <a:avLst/>
          </a:prstGeom>
          <a:noFill/>
          <a:ln/>
        </p:spPr>
        <p:txBody>
          <a:bodyPr wrap="square" lIns="0" tIns="0" rIns="0" bIns="0" rtlCol="0" anchor="ctr"/>
          <a:lstStyle/>
          <a:p>
            <a:pPr algn="r" indent="0" marL="0">
              <a:buNone/>
            </a:pPr>
            <a:r>
              <a:rPr lang="en-US" sz="1700" b="1" dirty="0">
                <a:solidFill>
                  <a:srgbClr val="0B7A4A"/>
                </a:solidFill>
                <a:latin typeface="Inter" pitchFamily="34" charset="0"/>
                <a:ea typeface="Inter" pitchFamily="34" charset="-122"/>
                <a:cs typeface="Inter" pitchFamily="34" charset="-120"/>
              </a:rPr>
              <a:t>+3.3 pts</a:t>
            </a:r>
            <a:endParaRPr lang="en-US" sz="1700" dirty="0"/>
          </a:p>
        </p:txBody>
      </p:sp>
      <p:sp>
        <p:nvSpPr>
          <p:cNvPr id="69" name="Shape 67"/>
          <p:cNvSpPr/>
          <p:nvPr/>
        </p:nvSpPr>
        <p:spPr>
          <a:xfrm>
            <a:off x="457200" y="6126480"/>
            <a:ext cx="11274552" cy="371856"/>
          </a:xfrm>
          <a:prstGeom prst="rect">
            <a:avLst/>
          </a:prstGeom>
          <a:solidFill>
            <a:srgbClr val="E6F6EE"/>
          </a:solidFill>
          <a:ln/>
        </p:spPr>
      </p:sp>
      <p:sp>
        <p:nvSpPr>
          <p:cNvPr id="70" name="Text 68"/>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Acura leads both periods. Acura and Subaru Prescott are top five in both.</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2026-10-26T20:24:03Z</dcterms:created>
  <dcterms:modified xsi:type="dcterms:W3CDTF">2026-10-26T20:24:03Z</dcterms:modified>
</cp:coreProperties>
</file>