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266" r:id="rId12"/>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78.2</c:v>
                </c:pt>
                <c:pt idx="3">
                  <c:v>79.2</c:v>
                </c:pt>
                <c:pt idx="4">
                  <c:v>75.2</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78.2</c:v>
                </c:pt>
                <c:pt idx="3">
                  <c:v>79.2</c:v>
                </c:pt>
                <c:pt idx="4">
                  <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
                </c:pt>
                <c:pt idx="3">
                  <c:v/>
                </c:pt>
                <c:pt idx="4">
                  <c:v>75.2</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
                </c:pt>
                <c:pt idx="3">
                  <c:v/>
                </c:pt>
                <c:pt idx="4">
                  <c:v>76.7</c:v>
                </c:pt>
                <c:pt idx="5">
                  <c:v/>
                </c:pt>
                <c:pt idx="6">
                  <c:v/>
                </c:pt>
                <c:pt idx="7">
                  <c:v/>
                </c:pt>
                <c:pt idx="8">
                  <c:v/>
                </c:pt>
                <c:pt idx="9">
                  <c:v>81.6</c:v>
                </c:pt>
                <c:pt idx="10">
                  <c:v/>
                </c:pt>
                <c:pt idx="11">
                  <c:v>74.5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c:v>
                </c:pt>
                <c:pt idx="3">
                  <c:v>76</c:v>
                </c:pt>
                <c:pt idx="4">
                  <c:v/>
                </c:pt>
                <c:pt idx="5">
                  <c:v>77.6</c:v>
                </c:pt>
                <c:pt idx="6">
                  <c:v>78.2</c:v>
                </c:pt>
                <c:pt idx="7">
                  <c:v>75.6</c:v>
                </c:pt>
                <c:pt idx="8">
                  <c:v>72.4</c:v>
                </c:pt>
                <c:pt idx="9">
                  <c:v/>
                </c:pt>
                <c:pt idx="10">
                  <c:v>73.1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74</c:v>
                </c:pt>
                <c:pt idx="3">
                  <c:v>76</c:v>
                </c:pt>
                <c:pt idx="4">
                  <c:v>76.7</c:v>
                </c:pt>
                <c:pt idx="5">
                  <c:v>77.6</c:v>
                </c:pt>
                <c:pt idx="6">
                  <c:v>78.2</c:v>
                </c:pt>
                <c:pt idx="7">
                  <c:v>75.6</c:v>
                </c:pt>
                <c:pt idx="8">
                  <c:v>72.4</c:v>
                </c:pt>
                <c:pt idx="9">
                  <c:v>81.6</c:v>
                </c:pt>
                <c:pt idx="10">
                  <c:v>73.1</c:v>
                </c:pt>
                <c:pt idx="11">
                  <c:v>74.5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GMC Prescott body shop out.PLACE: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and parts; the GMC Prescott body shop is taken out, as everywhere in the deck)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$242,385,781 of fixed expenses out of $304,576,351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body shop taken out (its gross and its body shop fixed expenses), as everywhere in the deck (Noah, Oct 28).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77.9% group, led by Audi Henderson at 106.6%. Hyundai Prescott is lowest at 46.2%.Source: Qlik - Profit &amp; Loss. Jan-Sep. Same-store, INEOS excluded (opened 2026). P&amp;L line Fixed Ops Absorption % = Total Gross Profit - Fixed Ops / Fixed Expenses. GMC Prescott body shop taken out (its gross and its body shop fixed expenses), as everywhere in the deck (Noah, Oct 28).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body shop taken out (its gross and its body shop fixed expenses), as everywhere in the deck (Noah, Oct 28). Top and bottom five stores by change in Fixed Ops Absorption %, Jan-Sep 2026 vs 2025. Moving now: Jul-Sep 2026 vs Jan-Mar 2026, each store against itself; the group moved +4.4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GMC Prescott body shop out.PLACE: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the biggest of those moves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$20.98M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January through September 2026.</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77.9%</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77.9% absorption, up 2.1 pts. Fixed gross grew 4.1%; fixed expenses 1.4%.</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75.8%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77.9%, ahead of 2025 in six of nine months. Fixed gross grew 4.1%; fixed expenses 1.4%.</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77.9%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1007915"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9751"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8558784" y="2146957"/>
            <a:ext cx="95643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89755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903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58784" y="2866644"/>
            <a:ext cx="88351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1" name="Shape 99"/>
          <p:cNvSpPr/>
          <p:nvPr/>
        </p:nvSpPr>
        <p:spPr>
          <a:xfrm>
            <a:off x="8558784" y="3106540"/>
            <a:ext cx="86012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58784" y="3346435"/>
            <a:ext cx="79139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7743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8558784" y="3826226"/>
            <a:ext cx="743729"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58784" y="4066122"/>
            <a:ext cx="730224"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58784" y="4306017"/>
            <a:ext cx="69829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59032" y="1847088"/>
            <a:ext cx="14630" cy="4078224"/>
          </a:xfrm>
          <a:prstGeom prst="rect">
            <a:avLst/>
          </a:prstGeom>
          <a:solidFill>
            <a:srgbClr val="0B2C4A"/>
          </a:solidFill>
          <a:ln/>
        </p:spPr>
      </p:sp>
      <p:sp>
        <p:nvSpPr>
          <p:cNvPr id="144" name="Shape 142"/>
          <p:cNvSpPr/>
          <p:nvPr/>
        </p:nvSpPr>
        <p:spPr>
          <a:xfrm>
            <a:off x="96094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77.9%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567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JUL 26 – OCT 26, 2026</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Jul 26 – Oct 26, 2026.</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JUL 26 – OCT 26, 2026</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4320"/>
          </a:xfrm>
          <a:prstGeom prst="rect">
            <a:avLst/>
          </a:prstGeom>
          <a:solidFill>
            <a:srgbClr val="12A566"/>
          </a:solidFill>
          <a:ln/>
        </p:spPr>
      </p:sp>
      <p:sp>
        <p:nvSpPr>
          <p:cNvPr id="16" name="Text 14"/>
          <p:cNvSpPr txBox="1"/>
          <p:nvPr/>
        </p:nvSpPr>
        <p:spPr>
          <a:xfrm>
            <a:off x="621792" y="251460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4600"/>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460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6207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62072"/>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6207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8648"/>
            <a:ext cx="54864" cy="274320"/>
          </a:xfrm>
          <a:prstGeom prst="rect">
            <a:avLst/>
          </a:prstGeom>
          <a:solidFill>
            <a:srgbClr val="12A566"/>
          </a:solidFill>
          <a:ln/>
        </p:spPr>
      </p:sp>
      <p:sp>
        <p:nvSpPr>
          <p:cNvPr id="23" name="Text 21"/>
          <p:cNvSpPr txBox="1"/>
          <p:nvPr/>
        </p:nvSpPr>
        <p:spPr>
          <a:xfrm>
            <a:off x="621792" y="320954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9544"/>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954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6120"/>
            <a:ext cx="54864" cy="274320"/>
          </a:xfrm>
          <a:prstGeom prst="rect">
            <a:avLst/>
          </a:prstGeom>
          <a:solidFill>
            <a:srgbClr val="12A566"/>
          </a:solidFill>
          <a:ln/>
        </p:spPr>
      </p:sp>
      <p:sp>
        <p:nvSpPr>
          <p:cNvPr id="27" name="Text 25"/>
          <p:cNvSpPr txBox="1"/>
          <p:nvPr/>
        </p:nvSpPr>
        <p:spPr>
          <a:xfrm>
            <a:off x="621792" y="355701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57016"/>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5701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93592"/>
            <a:ext cx="54864" cy="274320"/>
          </a:xfrm>
          <a:prstGeom prst="rect">
            <a:avLst/>
          </a:prstGeom>
          <a:solidFill>
            <a:srgbClr val="12A566"/>
          </a:solidFill>
          <a:ln/>
        </p:spPr>
      </p:sp>
      <p:sp>
        <p:nvSpPr>
          <p:cNvPr id="31" name="Shape 29"/>
          <p:cNvSpPr/>
          <p:nvPr/>
        </p:nvSpPr>
        <p:spPr>
          <a:xfrm>
            <a:off x="621792" y="4270248"/>
            <a:ext cx="3355848" cy="22860"/>
          </a:xfrm>
          <a:prstGeom prst="rect">
            <a:avLst/>
          </a:prstGeom>
          <a:solidFill>
            <a:srgbClr val="C2352F"/>
          </a:solidFill>
          <a:ln/>
        </p:spPr>
      </p:sp>
      <p:sp>
        <p:nvSpPr>
          <p:cNvPr id="32" name="Text 30"/>
          <p:cNvSpPr txBox="1"/>
          <p:nvPr/>
        </p:nvSpPr>
        <p:spPr>
          <a:xfrm>
            <a:off x="621792" y="4297680"/>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297680"/>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297680"/>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52628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526280"/>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52628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562856"/>
            <a:ext cx="54864" cy="274320"/>
          </a:xfrm>
          <a:prstGeom prst="rect">
            <a:avLst/>
          </a:prstGeom>
          <a:solidFill>
            <a:srgbClr val="C2352F"/>
          </a:solidFill>
          <a:ln/>
        </p:spPr>
      </p:sp>
      <p:sp>
        <p:nvSpPr>
          <p:cNvPr id="39" name="Text 37"/>
          <p:cNvSpPr txBox="1"/>
          <p:nvPr/>
        </p:nvSpPr>
        <p:spPr>
          <a:xfrm>
            <a:off x="621792" y="487375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873752"/>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87375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910328"/>
            <a:ext cx="54864" cy="274320"/>
          </a:xfrm>
          <a:prstGeom prst="rect">
            <a:avLst/>
          </a:prstGeom>
          <a:solidFill>
            <a:srgbClr val="C2352F"/>
          </a:solidFill>
          <a:ln/>
        </p:spPr>
      </p:sp>
      <p:sp>
        <p:nvSpPr>
          <p:cNvPr id="43" name="Text 41"/>
          <p:cNvSpPr txBox="1"/>
          <p:nvPr/>
        </p:nvSpPr>
        <p:spPr>
          <a:xfrm>
            <a:off x="621792" y="522122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221224"/>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22122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56869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568696"/>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56869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605272"/>
            <a:ext cx="54864" cy="274320"/>
          </a:xfrm>
          <a:prstGeom prst="rect">
            <a:avLst/>
          </a:prstGeom>
          <a:solidFill>
            <a:srgbClr val="C2352F"/>
          </a:solidFill>
          <a:ln/>
        </p:spPr>
      </p:sp>
      <p:sp>
        <p:nvSpPr>
          <p:cNvPr id="50" name="Text 48"/>
          <p:cNvSpPr txBox="1"/>
          <p:nvPr/>
        </p:nvSpPr>
        <p:spPr>
          <a:xfrm>
            <a:off x="621792" y="591616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916168"/>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91616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52744"/>
            <a:ext cx="54864" cy="274320"/>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4320"/>
          </a:xfrm>
          <a:prstGeom prst="rect">
            <a:avLst/>
          </a:prstGeom>
          <a:solidFill>
            <a:srgbClr val="12A566"/>
          </a:solidFill>
          <a:ln/>
        </p:spPr>
      </p:sp>
      <p:sp>
        <p:nvSpPr>
          <p:cNvPr id="65" name="Text 63"/>
          <p:cNvSpPr txBox="1"/>
          <p:nvPr/>
        </p:nvSpPr>
        <p:spPr>
          <a:xfrm>
            <a:off x="4416552" y="251460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4600"/>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460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51176"/>
            <a:ext cx="54864" cy="274320"/>
          </a:xfrm>
          <a:prstGeom prst="rect">
            <a:avLst/>
          </a:prstGeom>
          <a:solidFill>
            <a:srgbClr val="12A566"/>
          </a:solidFill>
          <a:ln/>
        </p:spPr>
      </p:sp>
      <p:sp>
        <p:nvSpPr>
          <p:cNvPr id="69" name="Text 67"/>
          <p:cNvSpPr txBox="1"/>
          <p:nvPr/>
        </p:nvSpPr>
        <p:spPr>
          <a:xfrm>
            <a:off x="4416552" y="286207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62072"/>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6207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8648"/>
            <a:ext cx="54864" cy="274320"/>
          </a:xfrm>
          <a:prstGeom prst="rect">
            <a:avLst/>
          </a:prstGeom>
          <a:solidFill>
            <a:srgbClr val="12A566"/>
          </a:solidFill>
          <a:ln/>
        </p:spPr>
      </p:sp>
      <p:sp>
        <p:nvSpPr>
          <p:cNvPr id="73" name="Text 71"/>
          <p:cNvSpPr txBox="1"/>
          <p:nvPr/>
        </p:nvSpPr>
        <p:spPr>
          <a:xfrm>
            <a:off x="4416552" y="320954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9544"/>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954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6120"/>
            <a:ext cx="54864" cy="274320"/>
          </a:xfrm>
          <a:prstGeom prst="rect">
            <a:avLst/>
          </a:prstGeom>
          <a:solidFill>
            <a:srgbClr val="12A566"/>
          </a:solidFill>
          <a:ln/>
        </p:spPr>
      </p:sp>
      <p:sp>
        <p:nvSpPr>
          <p:cNvPr id="77" name="Text 75"/>
          <p:cNvSpPr txBox="1"/>
          <p:nvPr/>
        </p:nvSpPr>
        <p:spPr>
          <a:xfrm>
            <a:off x="4416552" y="355701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57016"/>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5701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270248"/>
            <a:ext cx="3355848" cy="22860"/>
          </a:xfrm>
          <a:prstGeom prst="rect">
            <a:avLst/>
          </a:prstGeom>
          <a:solidFill>
            <a:srgbClr val="C2352F"/>
          </a:solidFill>
          <a:ln/>
        </p:spPr>
      </p:sp>
      <p:sp>
        <p:nvSpPr>
          <p:cNvPr id="81" name="Text 79"/>
          <p:cNvSpPr txBox="1"/>
          <p:nvPr/>
        </p:nvSpPr>
        <p:spPr>
          <a:xfrm>
            <a:off x="4416552" y="4297680"/>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297680"/>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297680"/>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52628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526280"/>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52628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562856"/>
            <a:ext cx="54864" cy="274320"/>
          </a:xfrm>
          <a:prstGeom prst="rect">
            <a:avLst/>
          </a:prstGeom>
          <a:solidFill>
            <a:srgbClr val="C2352F"/>
          </a:solidFill>
          <a:ln/>
        </p:spPr>
      </p:sp>
      <p:sp>
        <p:nvSpPr>
          <p:cNvPr id="88" name="Text 86"/>
          <p:cNvSpPr txBox="1"/>
          <p:nvPr/>
        </p:nvSpPr>
        <p:spPr>
          <a:xfrm>
            <a:off x="4416552" y="487375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873752"/>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87375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22122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221224"/>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22122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56869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568696"/>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56869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605272"/>
            <a:ext cx="54864" cy="274320"/>
          </a:xfrm>
          <a:prstGeom prst="rect">
            <a:avLst/>
          </a:prstGeom>
          <a:solidFill>
            <a:srgbClr val="C2352F"/>
          </a:solidFill>
          <a:ln/>
        </p:spPr>
      </p:sp>
      <p:sp>
        <p:nvSpPr>
          <p:cNvPr id="98" name="Text 96"/>
          <p:cNvSpPr txBox="1"/>
          <p:nvPr/>
        </p:nvSpPr>
        <p:spPr>
          <a:xfrm>
            <a:off x="4416552" y="591616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916168"/>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91616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52744"/>
            <a:ext cx="54864" cy="274320"/>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460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4600"/>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460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6207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62072"/>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6207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954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9544"/>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954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5701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57016"/>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5701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Text 122"/>
          <p:cNvSpPr txBox="1"/>
          <p:nvPr/>
        </p:nvSpPr>
        <p:spPr>
          <a:xfrm>
            <a:off x="8211312" y="390448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904488"/>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90448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376</a:t>
            </a:r>
            <a:endParaRPr lang="en-US" sz="1200" dirty="0"/>
          </a:p>
        </p:txBody>
      </p:sp>
      <p:sp>
        <p:nvSpPr>
          <p:cNvPr id="127" name="Shape 125"/>
          <p:cNvSpPr/>
          <p:nvPr/>
        </p:nvSpPr>
        <p:spPr>
          <a:xfrm>
            <a:off x="8211312" y="4270248"/>
            <a:ext cx="3355848" cy="22860"/>
          </a:xfrm>
          <a:prstGeom prst="rect">
            <a:avLst/>
          </a:prstGeom>
          <a:solidFill>
            <a:srgbClr val="C2352F"/>
          </a:solidFill>
          <a:ln/>
        </p:spPr>
      </p:sp>
      <p:sp>
        <p:nvSpPr>
          <p:cNvPr id="128" name="Text 126"/>
          <p:cNvSpPr txBox="1"/>
          <p:nvPr/>
        </p:nvSpPr>
        <p:spPr>
          <a:xfrm>
            <a:off x="8211312" y="4297680"/>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297680"/>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297680"/>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52628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526280"/>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52628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87375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873752"/>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87375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522122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5221224"/>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522122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5257800"/>
            <a:ext cx="54864" cy="274320"/>
          </a:xfrm>
          <a:prstGeom prst="rect">
            <a:avLst/>
          </a:prstGeom>
          <a:solidFill>
            <a:srgbClr val="C2352F"/>
          </a:solidFill>
          <a:ln/>
        </p:spPr>
      </p:sp>
      <p:sp>
        <p:nvSpPr>
          <p:cNvPr id="141" name="Text 139"/>
          <p:cNvSpPr txBox="1"/>
          <p:nvPr/>
        </p:nvSpPr>
        <p:spPr>
          <a:xfrm>
            <a:off x="8211312" y="556869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568696"/>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56869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605272"/>
            <a:ext cx="54864" cy="274320"/>
          </a:xfrm>
          <a:prstGeom prst="rect">
            <a:avLst/>
          </a:prstGeom>
          <a:solidFill>
            <a:srgbClr val="C2352F"/>
          </a:solidFill>
          <a:ln/>
        </p:spPr>
      </p:sp>
      <p:sp>
        <p:nvSpPr>
          <p:cNvPr id="145" name="Text 143"/>
          <p:cNvSpPr txBox="1"/>
          <p:nvPr/>
        </p:nvSpPr>
        <p:spPr>
          <a:xfrm>
            <a:off x="8211312" y="591616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916168"/>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91616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64236"/>
          </a:xfrm>
          <a:prstGeom prst="rect">
            <a:avLst/>
          </a:prstGeom>
          <a:solidFill>
            <a:srgbClr val="FBEBEA"/>
          </a:solidFill>
          <a:ln/>
        </p:spPr>
      </p:sp>
      <p:sp>
        <p:nvSpPr>
          <p:cNvPr id="186" name="Text 18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7 of 33 stores are ahead of benchmark on net across the four services. 15 stores are under all four.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+22.2%</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balance</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10.1% → 19.3%</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+9.2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2026-10-28T15:29:21Z</dcterms:created>
  <dcterms:modified xsi:type="dcterms:W3CDTF">2026-10-28T15:29:21Z</dcterms:modified>
</cp:coreProperties>
</file>