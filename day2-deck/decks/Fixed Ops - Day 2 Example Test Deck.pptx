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260" r:id="rId6"/>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261" r:id="rId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2" r:id="rId8"/>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263" r:id="rId9"/>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264" r:id="rId10"/>
    <p:sldId id="404" r:id="rId155"/>
    <p:sldId id="405" r:id="rId156"/>
    <p:sldId id="406" r:id="rId157"/>
    <p:sldId id="407" r:id="rId158"/>
    <p:sldId id="408" r:id="rId159"/>
    <p:sldId id="409" r:id="rId160"/>
    <p:sldId id="410" r:id="rId161"/>
    <p:sldId id="411" r:id="rId162"/>
    <p:sldId id="265" r:id="rId11"/>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266" r:id="rId12"/>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74.5</c:v>
                </c:pt>
                <c:pt idx="1">
                  <c:v>74.2</c:v>
                </c:pt>
                <c:pt idx="2">
                  <c:v>78.2</c:v>
                </c:pt>
                <c:pt idx="3">
                  <c:v>79.2</c:v>
                </c:pt>
                <c:pt idx="4">
                  <c:v>75.2</c:v>
                </c:pt>
                <c:pt idx="5">
                  <c:v>79</c:v>
                </c:pt>
                <c:pt idx="6">
                  <c:v>82.9</c:v>
                </c:pt>
                <c:pt idx="7">
                  <c:v>79.8</c:v>
                </c:pt>
                <c:pt idx="8">
                  <c:v>77.5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78.2</c:v>
                </c:pt>
                <c:pt idx="3">
                  <c:v>79.2</c:v>
                </c:pt>
                <c:pt idx="4">
                  <c:v/>
                </c:pt>
                <c:pt idx="5">
                  <c:v>79</c:v>
                </c:pt>
                <c:pt idx="6">
                  <c:v>82.9</c:v>
                </c:pt>
                <c:pt idx="7">
                  <c:v>79.8</c:v>
                </c:pt>
                <c:pt idx="8">
                  <c:v>77.5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74.5</c:v>
                </c:pt>
                <c:pt idx="1">
                  <c:v>74.2</c:v>
                </c:pt>
                <c:pt idx="2">
                  <c:v/>
                </c:pt>
                <c:pt idx="3">
                  <c:v/>
                </c:pt>
                <c:pt idx="4">
                  <c:v>75.2</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76.9</c:v>
                </c:pt>
                <c:pt idx="1">
                  <c:v>74.9</c:v>
                </c:pt>
                <c:pt idx="2">
                  <c:v/>
                </c:pt>
                <c:pt idx="3">
                  <c:v/>
                </c:pt>
                <c:pt idx="4">
                  <c:v>76.7</c:v>
                </c:pt>
                <c:pt idx="5">
                  <c:v/>
                </c:pt>
                <c:pt idx="6">
                  <c:v/>
                </c:pt>
                <c:pt idx="7">
                  <c:v/>
                </c:pt>
                <c:pt idx="8">
                  <c:v/>
                </c:pt>
                <c:pt idx="9">
                  <c:v>81.6</c:v>
                </c:pt>
                <c:pt idx="10">
                  <c:v/>
                </c:pt>
                <c:pt idx="11">
                  <c:v>74.5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c:v>
                </c:pt>
                <c:pt idx="3">
                  <c:v>76</c:v>
                </c:pt>
                <c:pt idx="4">
                  <c:v/>
                </c:pt>
                <c:pt idx="5">
                  <c:v>77.6</c:v>
                </c:pt>
                <c:pt idx="6">
                  <c:v>78.2</c:v>
                </c:pt>
                <c:pt idx="7">
                  <c:v>75.6</c:v>
                </c:pt>
                <c:pt idx="8">
                  <c:v>72.4</c:v>
                </c:pt>
                <c:pt idx="9">
                  <c:v/>
                </c:pt>
                <c:pt idx="10">
                  <c:v>73.1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76.9</c:v>
                </c:pt>
                <c:pt idx="1">
                  <c:v>74.9</c:v>
                </c:pt>
                <c:pt idx="2">
                  <c:v>74</c:v>
                </c:pt>
                <c:pt idx="3">
                  <c:v>76</c:v>
                </c:pt>
                <c:pt idx="4">
                  <c:v>76.7</c:v>
                </c:pt>
                <c:pt idx="5">
                  <c:v>77.6</c:v>
                </c:pt>
                <c:pt idx="6">
                  <c:v>78.2</c:v>
                </c:pt>
                <c:pt idx="7">
                  <c:v>75.6</c:v>
                </c:pt>
                <c:pt idx="8">
                  <c:v>72.4</c:v>
                </c:pt>
                <c:pt idx="9">
                  <c:v>81.6</c:v>
                </c:pt>
                <c:pt idx="10">
                  <c:v>73.1</c:v>
                </c:pt>
                <c:pt idx="11">
                  <c:v>74.5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Subaru Prescott and GMC Prescott turned a 2025 loss into a profit (green rows); VW St George went from a profit to a loss (red row). 24 of 33 stores grew fixed ops net profit, January through September year to date.Source: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stores set 98 all-time monthly records in 2026. Honda Spokane and Nissan lead with 9 each.Source: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$22.59M of the group's $188.80M; VW St George is smallest at $968,018.Source: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$16.38M of the group's $126.87M; VW St George is smallest at $588,480.Source: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$6.21M of the group's $61.93M; VW St George is smallest at $379,537.Source: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and parts; the GMC Prescott body shop is taken out, as everywhere in the deck)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$242,385,781 of fixed expenses out of $304,576,351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body shop taken out (its gross and its body shop fixed expenses), as everywhere in the deck (Noah, Oct 28).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77.9% group, led by Audi Henderson at 106.6%. Hyundai Prescott is lowest at 46.2%.Source: Qlik - Profit &amp; Loss. Jan-Sep. Same-store, INEOS excluded (opened 2026). P&amp;L line Fixed Ops Absorption % = Total Gross Profit - Fixed Ops / Fixed Expenses. GMC Prescott body shop taken out (its gross and its body shop fixed expenses), as everywhere in the deck (Noah, Oct 28).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body shop taken out (its gross and its body shop fixed expenses), as everywhere in the deck (Noah, Oct 28). Top and bottom five stores by change in Fixed Ops Absorption %, Jan-Sep 2026 vs 2025. Moving now: Jul-Sep 2026 vs Jan-Mar 2026, each store against itself; the group moved +4.4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$6,602,564 a year = 0.1 x each store's CP RO count x its own CP labor + parts gross per sold hour, Jan-Sep x 12/9 (279,756 CP ROs: 27,976 hours Jan-Sep, 37,301 a year; about $177 an hour on that mix). Same figure as What 0.1 Hour per RO Is Worth and Where the Money Is (Oct 28 audit; was $4,543,691 Jan-Sep labor sale).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0.1 hour more on every CP RO is worth $6,602,564 a year in added gross. Toyota Henderson leads at $1,164,334.Source: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Cadillac is lowest at 61.5%.Source: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improved parts margin, led by Acura at +6.2 pts to 44.9%. 5 declined; Audi Henderson fell most at −2.2 pts.Source: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the 90.0% benchmark; the group is at 81.3%. LR Reno and VW Henderson lead at 99.0%; Cadillac is lowest at 40.5%.Source: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at or above the 57.8% group. VW Henderson leads at 96.0%; Kia St George is lowest at 5.2%.Source: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11 of 28 stores at or above the 45.3% group. Hyundai Prescott leads at 91.2%; Kia St George is lowest at 11.8%.Source: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21.7% (2025 14.9%)</a:t>
            </a:r>
          </a:p>
          <a:p>
            <a:r>
              <a:t>HONDA HENDERSON: 21.3% (2025 20.7%)</a:t>
            </a:r>
          </a:p>
          <a:p>
            <a:r>
              <a:t>ACURA: 17.5% (2025 14.1%)</a:t>
            </a:r>
          </a:p>
          <a:p>
            <a:r>
              <a:t>LR LV: 17.3% (2025 11.4%)</a:t>
            </a:r>
          </a:p>
          <a:p>
            <a:r>
              <a:t>MAZDA: 16.6% (2025 9.9%)</a:t>
            </a:r>
          </a:p>
          <a:p>
            <a:r>
              <a:t>HONDA NORTH: 16.1% (2025 14.9%)</a:t>
            </a:r>
          </a:p>
          <a:p>
            <a:r>
              <a:t>HYUNDAI ST GEORGE: 14.8% (2025 5.1%)</a:t>
            </a:r>
          </a:p>
          <a:p>
            <a:r>
              <a:t>SUBARU LV: 14.5% (2025 16.0%)</a:t>
            </a:r>
          </a:p>
          <a:p>
            <a:r>
              <a:t>TOYOTA HENDERSON: 14.5% (2025 15.0%)</a:t>
            </a:r>
          </a:p>
          <a:p>
            <a:r>
              <a:t>CADILLAC: 13.8% (2025 9.7%)</a:t>
            </a:r>
          </a:p>
          <a:p>
            <a:r>
              <a:t>VOLVO: 13.8% (2025 13.4%)</a:t>
            </a:r>
          </a:p>
          <a:p>
            <a:r>
              <a:t>VW HENDERSON: 13.6% (2025 13.4%)</a:t>
            </a:r>
          </a:p>
          <a:p>
            <a:r>
              <a:t>LR RENO: 12.8% (2025 17.7%)</a:t>
            </a:r>
          </a:p>
          <a:p>
            <a:r>
              <a:t>CHEVY LV: 12.8% (2025 13.3%)</a:t>
            </a:r>
          </a:p>
          <a:p>
            <a:r>
              <a:t>SUBARU PRESCOTT: 12.5% (2025 7.0%)</a:t>
            </a:r>
          </a:p>
          <a:p>
            <a:r>
              <a:t>HONDA SPOKANE: 12.5% (2025 10.7%)</a:t>
            </a:r>
          </a:p>
          <a:p>
            <a:r>
              <a:t>TOYOTA PRESCOTT: 12.3% (2025 9.4%)</a:t>
            </a:r>
          </a:p>
          <a:p>
            <a:r>
              <a:t>AUDI RENO: 11.8% (2025 11.7%)</a:t>
            </a:r>
          </a:p>
          <a:p>
            <a:r>
              <a:t>GMC PRESCOTT: 11.7% (2025 4.9%)</a:t>
            </a:r>
          </a:p>
          <a:p>
            <a:r>
              <a:t>LEXUS: 11.3% (2025 8.2%)</a:t>
            </a:r>
          </a:p>
          <a:p>
            <a:r>
              <a:t>CHEVY GMC BULLHEAD: 11.1% (2025 11.1%)</a:t>
            </a:r>
          </a:p>
          <a:p>
            <a:r>
              <a:t>HONDA FLAGSTAFF: 11.0% (2025 5.5%)</a:t>
            </a:r>
          </a:p>
          <a:p>
            <a:r>
              <a:t>SUBARU ST GEORGE: 11.0% (2025 11.9%)</a:t>
            </a:r>
          </a:p>
          <a:p>
            <a:r>
              <a:t>KIA LV: 9.7% (2025 13.3%)</a:t>
            </a:r>
          </a:p>
          <a:p>
            <a:r>
              <a:t>TOYOTA FLAGSTAFF: 9.7% (2025 6.3%)</a:t>
            </a:r>
          </a:p>
          <a:p>
            <a:r>
              <a:t>LINCOLN: 8.4% (2025 2.7%)</a:t>
            </a:r>
          </a:p>
          <a:p>
            <a:r>
              <a:t>KIA ST GEORGE: 8.0% (2025 2.4%)</a:t>
            </a:r>
          </a:p>
          <a:p>
            <a:r>
              <a:t>NISSAN: 7.4% (2025 5.2%)</a:t>
            </a:r>
          </a:p>
          <a:p>
            <a:r>
              <a:t>VW ST GEORGE: 5.6% (2025 3.9%)</a:t>
            </a:r>
          </a:p>
          <a:p>
            <a:r>
              <a:t>TOYOTA SPOKANE: 4.2%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 Near zero in 2025, so year-over-year gain may be mapping: HONDA SPOKANE, SUBARU PRESCOTT.</a:t>
            </a:r>
          </a:p>
          <a:p>
            <a:r>
              <a:t>LR HENDERSON: 27.0% (2025 22.8%)</a:t>
            </a:r>
          </a:p>
          <a:p>
            <a:r>
              <a:t>HONDA HENDERSON: 18.4% (2025 17.6%)</a:t>
            </a:r>
          </a:p>
          <a:p>
            <a:r>
              <a:t>LR LV: 16.9% (2025 3.4%)</a:t>
            </a:r>
          </a:p>
          <a:p>
            <a:r>
              <a:t>LR RENO: 16.9% (2025 16.3%)</a:t>
            </a:r>
          </a:p>
          <a:p>
            <a:r>
              <a:t>SUBARU PRESCOTT: 14.9% (2025 0.1%)</a:t>
            </a:r>
          </a:p>
          <a:p>
            <a:r>
              <a:t>ACURA: 14.1% (2025 10.2%)</a:t>
            </a:r>
          </a:p>
          <a:p>
            <a:r>
              <a:t>HYUNDAI PRESCOTT: 13.5% (2025 8.8%)</a:t>
            </a:r>
          </a:p>
          <a:p>
            <a:r>
              <a:t>MAZDA: 13.1% (2025 6.5%)</a:t>
            </a:r>
          </a:p>
          <a:p>
            <a:r>
              <a:t>HONDA NORTH: 12.0% (2025 11.3%)</a:t>
            </a:r>
          </a:p>
          <a:p>
            <a:r>
              <a:t>VOLVO: 11.7% (2025 10.9%)</a:t>
            </a:r>
          </a:p>
          <a:p>
            <a:r>
              <a:t>TOYOTA HENDERSON: 11.2% (2025 11.7%)</a:t>
            </a:r>
          </a:p>
          <a:p>
            <a:r>
              <a:t>SUBARU LV: 10.2% (2025 11.3%)</a:t>
            </a:r>
          </a:p>
          <a:p>
            <a:r>
              <a:t>CHEVY GMC BULLHEAD: 9.0% (2025 6.5%)</a:t>
            </a:r>
          </a:p>
          <a:p>
            <a:r>
              <a:t>VW HENDERSON: 8.2% (2025 7.0%)</a:t>
            </a:r>
          </a:p>
          <a:p>
            <a:r>
              <a:t>GMC PRESCOTT: 7.7% (2025 2.0%)</a:t>
            </a:r>
          </a:p>
          <a:p>
            <a:r>
              <a:t>KIA ST GEORGE: 7.7% (2025 1.1%)</a:t>
            </a:r>
          </a:p>
          <a:p>
            <a:r>
              <a:t>CHEVY LV: 7.3% (2025 4.2%)</a:t>
            </a:r>
          </a:p>
          <a:p>
            <a:r>
              <a:t>TOYOTA PRESCOTT: 6.1% (2025 3.3%)</a:t>
            </a:r>
          </a:p>
          <a:p>
            <a:r>
              <a:t>CADILLAC: 5.9% (2025 2.6%)</a:t>
            </a:r>
          </a:p>
          <a:p>
            <a:r>
              <a:t>KIA LV: 5.2% (2025 6.5%)</a:t>
            </a:r>
          </a:p>
          <a:p>
            <a:r>
              <a:t>TOYOTA FLAGSTAFF: 4.9% (2025 3.6%)</a:t>
            </a:r>
          </a:p>
          <a:p>
            <a:r>
              <a:t>SUBARU ST GEORGE: 3.6% (2025 5.3%)</a:t>
            </a:r>
          </a:p>
          <a:p>
            <a:r>
              <a:t>HONDA SPOKANE: 2.1% (2025 0.1%)</a:t>
            </a:r>
          </a:p>
          <a:p>
            <a:r>
              <a:t>LINCOLN: 1.6% (2025 0.0%)</a:t>
            </a:r>
          </a:p>
          <a:p>
            <a:r>
              <a:t>HONDA FLAGSTAFF: 1.3% (2025 0.1%)</a:t>
            </a:r>
          </a:p>
          <a:p>
            <a:r>
              <a:t>CDJR POST FALLS: 1.2% (2025 0.2%)</a:t>
            </a:r>
          </a:p>
          <a:p>
            <a:r>
              <a:t>HYUNDAI ST GEORGE: 1.2% (2025 0.4%)</a:t>
            </a:r>
          </a:p>
          <a:p>
            <a:r>
              <a:t>NISSAN: 1.0% (2025 2.6%)</a:t>
            </a:r>
          </a:p>
          <a:p>
            <a:r>
              <a:t>TOYOTA SPOKANE: 0.4% (2025 0.2%)</a:t>
            </a:r>
          </a:p>
          <a:p>
            <a:r>
              <a:t>VW ST GEORGE: 0.4% (2025 0.7%)</a:t>
            </a:r>
          </a:p>
          <a:p>
            <a:r>
              <a:t>AUDI RENO: 0.1% (2025 0.1%)</a:t>
            </a:r>
          </a:p>
          <a:p>
            <a:r>
              <a:t>LEXUS: 0.0% (2025 0.0%)</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a:t>
            </a:r>
          </a:p>
          <a:p>
            <a:r>
              <a:t>LR LV: 20.6% (2025 15.1%)</a:t>
            </a:r>
          </a:p>
          <a:p>
            <a:r>
              <a:t>HONDA HENDERSON: 15.5% (2025 12.9%)</a:t>
            </a:r>
          </a:p>
          <a:p>
            <a:r>
              <a:t>LR HENDERSON: 14.3% (2025 9.0%)</a:t>
            </a:r>
          </a:p>
          <a:p>
            <a:r>
              <a:t>ACURA: 12.7% (2025 8.5%)</a:t>
            </a:r>
          </a:p>
          <a:p>
            <a:r>
              <a:t>HONDA NORTH: 12.1% (2025 13.1%)</a:t>
            </a:r>
          </a:p>
          <a:p>
            <a:r>
              <a:t>VOLVO: 11.9% (2025 12.0%)</a:t>
            </a:r>
          </a:p>
          <a:p>
            <a:r>
              <a:t>NISSAN: 11.6% (2025 3.7%)</a:t>
            </a:r>
          </a:p>
          <a:p>
            <a:r>
              <a:t>SUBARU ST GEORGE: 10.7% (2025 11.0%)</a:t>
            </a:r>
          </a:p>
          <a:p>
            <a:r>
              <a:t>SUBARU PRESCOTT: 10.6% (2025 6.4%)</a:t>
            </a:r>
          </a:p>
          <a:p>
            <a:r>
              <a:t>HONDA SPOKANE: 10.3% (2025 9.7%)</a:t>
            </a:r>
          </a:p>
          <a:p>
            <a:r>
              <a:t>SUBARU LV: 10.1% (2025 9.2%)</a:t>
            </a:r>
          </a:p>
          <a:p>
            <a:r>
              <a:t>TOYOTA HENDERSON: 10.0% (2025 9.7%)</a:t>
            </a:r>
          </a:p>
          <a:p>
            <a:r>
              <a:t>HYUNDAI PRESCOTT: 9.6% (2025 8.1%)</a:t>
            </a:r>
          </a:p>
          <a:p>
            <a:r>
              <a:t>VW HENDERSON: 9.5% (2025 7.8%)</a:t>
            </a:r>
          </a:p>
          <a:p>
            <a:r>
              <a:t>MAZDA: 8.4% (2025 4.5%)</a:t>
            </a:r>
          </a:p>
          <a:p>
            <a:r>
              <a:t>TOYOTA PRESCOTT: 8.4% (2025 6.0%)</a:t>
            </a:r>
          </a:p>
          <a:p>
            <a:r>
              <a:t>LEXUS: 8.3% (2025 4.9%)</a:t>
            </a:r>
          </a:p>
          <a:p>
            <a:r>
              <a:t>KIA LV: 8.2% (2025 7.2%)</a:t>
            </a:r>
          </a:p>
          <a:p>
            <a:r>
              <a:t>TOYOTA FLAGSTAFF: 8.0% (2025 7.3%)</a:t>
            </a:r>
          </a:p>
          <a:p>
            <a:r>
              <a:t>LINCOLN: 7.5% (2025 2.4%)</a:t>
            </a:r>
          </a:p>
          <a:p>
            <a:r>
              <a:t>LR RENO: 7.2% (2025 2.4%)</a:t>
            </a:r>
          </a:p>
          <a:p>
            <a:r>
              <a:t>CHEVY GMC BULLHEAD: 7.0% (2025 3.7%)</a:t>
            </a:r>
          </a:p>
          <a:p>
            <a:r>
              <a:t>TOYOTA SPOKANE: 7.0% (2025 6.8%)</a:t>
            </a:r>
          </a:p>
          <a:p>
            <a:r>
              <a:t>GMC PRESCOTT: 6.0% (2025 4.5%)</a:t>
            </a:r>
          </a:p>
          <a:p>
            <a:r>
              <a:t>KIA ST GEORGE: 5.9% (2025 3.7%)</a:t>
            </a:r>
          </a:p>
          <a:p>
            <a:r>
              <a:t>CHEVY LV: 5.7% (2025 5.3%)</a:t>
            </a:r>
          </a:p>
          <a:p>
            <a:r>
              <a:t>VW ST GEORGE: 5.4% (2025 3.9%)</a:t>
            </a:r>
          </a:p>
          <a:p>
            <a:r>
              <a:t>HYUNDAI ST GEORGE: 4.7% (2025 1.6%)</a:t>
            </a:r>
          </a:p>
          <a:p>
            <a:r>
              <a:t>CADILLAC: 4.6% (2025 4.1%)</a:t>
            </a:r>
          </a:p>
          <a:p>
            <a:r>
              <a:t>CDJR POST FALLS: 4.2% (2025 5.9%)</a:t>
            </a:r>
          </a:p>
          <a:p>
            <a:r>
              <a:t>HONDA FLAGSTAFF: 3.1% (2025 2.3%)</a:t>
            </a:r>
          </a:p>
          <a:p>
            <a:r>
              <a:t>AUDI HENDERSON: 2.4% (2025 1.8%)</a:t>
            </a:r>
          </a:p>
          <a:p>
            <a:r>
              <a:t>AUDI RENO: 1.9% (2025 0.4%)</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 Near zero in 2025, so year-over-year gain may be mapping: HONDA SPOKANE, SUBARU ST GEORGE, LR LV, LR RENO.</a:t>
            </a:r>
          </a:p>
          <a:p>
            <a:r>
              <a:t>SUBARU ST GEORGE: 13.8% (2025 0.0%)</a:t>
            </a:r>
          </a:p>
          <a:p>
            <a:r>
              <a:t>HONDA HENDERSON: 12.0% (2025 10.4%)</a:t>
            </a:r>
          </a:p>
          <a:p>
            <a:r>
              <a:t>SUBARU PRESCOTT: 9.7% (2025 5.9%)</a:t>
            </a:r>
          </a:p>
          <a:p>
            <a:r>
              <a:t>ACURA: 9.3% (2025 5.3%)</a:t>
            </a:r>
          </a:p>
          <a:p>
            <a:r>
              <a:t>KIA ST GEORGE: 8.9% (2025 5.6%)</a:t>
            </a:r>
          </a:p>
          <a:p>
            <a:r>
              <a:t>LINCOLN: 8.2% (2025 2.1%)</a:t>
            </a:r>
          </a:p>
          <a:p>
            <a:r>
              <a:t>HONDA NORTH: 7.6% (2025 5.3%)</a:t>
            </a:r>
          </a:p>
          <a:p>
            <a:r>
              <a:t>HYUNDAI PRESCOTT: 7.3% (2025 6.6%)</a:t>
            </a:r>
          </a:p>
          <a:p>
            <a:r>
              <a:t>SUBARU LV: 7.0% (2025 8.2%)</a:t>
            </a:r>
          </a:p>
          <a:p>
            <a:r>
              <a:t>TOYOTA PRESCOTT: 6.4% (2025 5.0%)</a:t>
            </a:r>
          </a:p>
          <a:p>
            <a:r>
              <a:t>TOYOTA HENDERSON: 6.0% (2025 6.0%)</a:t>
            </a:r>
          </a:p>
          <a:p>
            <a:r>
              <a:t>HYUNDAI ST GEORGE: 5.8% (2025 2.3%)</a:t>
            </a:r>
          </a:p>
          <a:p>
            <a:r>
              <a:t>TOYOTA SPOKANE: 5.8% (2025 6.0%)</a:t>
            </a:r>
          </a:p>
          <a:p>
            <a:r>
              <a:t>LR LV: 5.5% (2025 0.2%)</a:t>
            </a:r>
          </a:p>
          <a:p>
            <a:r>
              <a:t>CHEVY LV: 5.2% (2025 4.8%)</a:t>
            </a:r>
          </a:p>
          <a:p>
            <a:r>
              <a:t>MAZDA: 5.2% (2025 1.4%)</a:t>
            </a:r>
          </a:p>
          <a:p>
            <a:r>
              <a:t>CADILLAC: 5.1% (2025 4.3%)</a:t>
            </a:r>
          </a:p>
          <a:p>
            <a:r>
              <a:t>LR RENO: 4.5% (2025 0.0%)</a:t>
            </a:r>
          </a:p>
          <a:p>
            <a:r>
              <a:t>LEXUS: 4.2% (2025 1.9%)</a:t>
            </a:r>
          </a:p>
          <a:p>
            <a:r>
              <a:t>NISSAN: 4.1% (2025 0.8%)</a:t>
            </a:r>
          </a:p>
          <a:p>
            <a:r>
              <a:t>GMC PRESCOTT: 3.6% (2025 2.9%)</a:t>
            </a:r>
          </a:p>
          <a:p>
            <a:r>
              <a:t>HONDA SPOKANE: 3.2% (2025 0.0%)</a:t>
            </a:r>
          </a:p>
          <a:p>
            <a:r>
              <a:t>KIA LV: 3.2% (2025 2.9%)</a:t>
            </a:r>
          </a:p>
          <a:p>
            <a:r>
              <a:t>CDJR POST FALLS: 3.0% (2025 3.9%)</a:t>
            </a:r>
          </a:p>
          <a:p>
            <a:r>
              <a:t>CHEVY GMC BULLHEAD: 2.7% (2025 1.8%)</a:t>
            </a:r>
          </a:p>
          <a:p>
            <a:r>
              <a:t>VW ST GEORGE: 2.7% (2025 2.3%)</a:t>
            </a:r>
          </a:p>
          <a:p>
            <a:r>
              <a:t>LR HENDERSON: 2.5% (2025 2.4%)</a:t>
            </a:r>
          </a:p>
          <a:p>
            <a:r>
              <a:t>TOYOTA FLAGSTAFF: 1.6% (2025 1.6%)</a:t>
            </a:r>
          </a:p>
          <a:p>
            <a:r>
              <a:t>AUDI RENO: 0.8% (2025 0.0%)</a:t>
            </a:r>
          </a:p>
          <a:p>
            <a:r>
              <a:t>HONDA FLAGSTAFF: 0.7% (2025 0.6%)</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Spokane is furthest below at −$406K so far this year; 7 of 33 stores are ahead of benchmark across the four services. 15 stores are under all four.Source: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Below-benchmark services count against above-benchmark ones here.TOYOTA SPOKANE: −$406K, −5,191 opcodes Jan-Sep against the four benchmarks; under 4 of 4</a:t>
            </a:r>
          </a:p>
          <a:p>
            <a:r>
              <a:t>CHEVY LV: −$356K, −3,177 opcodes Jan-Sep against the four benchmarks; under 4 of 4</a:t>
            </a:r>
          </a:p>
          <a:p>
            <a:r>
              <a:t>TOYOTA FLAGSTAFF: −$267K, −3,494 opcodes Jan-Sep against the four benchmarks; under 4 of 4</a:t>
            </a:r>
          </a:p>
          <a:p>
            <a:r>
              <a:t>TOYOTA HENDERSON: −$227K, −3,005 opcodes Jan-Sep against the four benchmarks; under 3 of 4</a:t>
            </a:r>
          </a:p>
          <a:p>
            <a:r>
              <a:t>KIA LV: −$185K, −1,708 opcodes Jan-Sep against the four benchmarks; under 4 of 4</a:t>
            </a:r>
          </a:p>
          <a:p>
            <a:r>
              <a:t>CDJR POST FALLS: −$184K, −1,863 opcodes Jan-Sep against the four benchmarks; under 4 of 4</a:t>
            </a:r>
          </a:p>
          <a:p>
            <a:r>
              <a:t>TOYOTA PRESCOTT: −$175K, −1,906 opcodes Jan-Sep against the four benchmarks; under 4 of 4</a:t>
            </a:r>
          </a:p>
          <a:p>
            <a:r>
              <a:t>AUDI RENO: −$162K, −1,152 opcodes Jan-Sep against the four benchmarks; under 4 of 4</a:t>
            </a:r>
          </a:p>
          <a:p>
            <a:r>
              <a:t>HONDA FLAGSTAFF: −$150K, −1,257 opcodes Jan-Sep against the four benchmarks; under 4 of 4</a:t>
            </a:r>
          </a:p>
          <a:p>
            <a:r>
              <a:t>NISSAN: −$150K, −1,613 opcodes Jan-Sep against the four benchmarks; under 3 of 4</a:t>
            </a:r>
          </a:p>
          <a:p>
            <a:r>
              <a:t>HONDA SPOKANE: −$140K, −1,717 opcodes Jan-Sep against the four benchmarks; under 3 of 4</a:t>
            </a:r>
          </a:p>
          <a:p>
            <a:r>
              <a:t>LEXUS: −$105K, −1,068 opcodes Jan-Sep against the four benchmarks; under 4 of 4</a:t>
            </a:r>
          </a:p>
          <a:p>
            <a:r>
              <a:t>VW HENDERSON: −$105K, −827 opcodes Jan-Sep against the four benchmarks; under 4 of 4</a:t>
            </a:r>
          </a:p>
          <a:p>
            <a:r>
              <a:t>CHEVY GMC BULLHEAD: −$100K, −1,100 opcodes Jan-Sep against the four benchmarks; under 4 of 4</a:t>
            </a:r>
          </a:p>
          <a:p>
            <a:r>
              <a:t>CADILLAC: −$94K, −954 opcodes Jan-Sep against the four benchmarks; under 4 of 4</a:t>
            </a:r>
          </a:p>
          <a:p>
            <a:r>
              <a:t>VW ST GEORGE: −$66K, −640 opcodes Jan-Sep against the four benchmarks; under 4 of 4</a:t>
            </a:r>
          </a:p>
          <a:p>
            <a:r>
              <a:t>HYUNDAI ST GEORGE: −$61K, −697 opcodes Jan-Sep against the four benchmarks; under 4 of 4</a:t>
            </a:r>
          </a:p>
          <a:p>
            <a:r>
              <a:t>GMC PRESCOTT: −$60K, −568 opcodes Jan-Sep against the four benchmarks; under 4 of 4</a:t>
            </a:r>
          </a:p>
          <a:p>
            <a:r>
              <a:t>SUBARU LV: −$59K, −783 opcodes Jan-Sep against the four benchmarks; under 3 of 4</a:t>
            </a:r>
          </a:p>
          <a:p>
            <a:r>
              <a:t>KIA ST GEORGE: −$53K, −660 opcodes Jan-Sep against the four benchmarks; under 3 of 4</a:t>
            </a:r>
          </a:p>
          <a:p>
            <a:r>
              <a:t>LINCOLN: −$48K, −569 opcodes Jan-Sep against the four benchmarks; under 3 of 4</a:t>
            </a:r>
          </a:p>
          <a:p>
            <a:r>
              <a:t>SUBARU ST GEORGE: −$41K, −452 opcodes Jan-Sep against the four benchmarks; under 2 of 4</a:t>
            </a:r>
          </a:p>
          <a:p>
            <a:r>
              <a:t>LR RENO: −$32K, −83 opcodes Jan-Sep against the four benchmarks; under 3 of 4</a:t>
            </a:r>
          </a:p>
          <a:p>
            <a:r>
              <a:t>VOLVO: −$29K, −340 opcodes Jan-Sep against the four benchmarks; under 3 of 4</a:t>
            </a:r>
          </a:p>
          <a:p>
            <a:r>
              <a:t>MAZDA: −$28K, −223 opcodes Jan-Sep against the four benchmarks; under 3 of 4</a:t>
            </a:r>
          </a:p>
          <a:p>
            <a:r>
              <a:t>AUDI HENDERSON: −$22K, −661 opcodes Jan-Sep against the four benchmarks; under 3 of 4</a:t>
            </a:r>
          </a:p>
          <a:p>
            <a:r>
              <a:t>HYUNDAI PRESCOTT: +$23K, +97 opcodes Jan-Sep against the four benchmarks; under 3 of 4</a:t>
            </a:r>
          </a:p>
          <a:p>
            <a:r>
              <a:t>ACURA: +$33K, +228 opcodes Jan-Sep against the four benchmarks; under 1 of 4</a:t>
            </a:r>
          </a:p>
          <a:p>
            <a:r>
              <a:t>SUBARU PRESCOTT: +$41K, +24 opcodes Jan-Sep against the four benchmarks; under 2 of 4</a:t>
            </a:r>
          </a:p>
          <a:p>
            <a:r>
              <a:t>HONDA NORTH: +$45K, +70 opcodes Jan-Sep against the four benchmarks; under 1 of 4</a:t>
            </a:r>
          </a:p>
          <a:p>
            <a:r>
              <a:t>LR HENDERSON: +$54K, +324 opcodes Jan-Sep against the four benchmarks; under 1 of 4</a:t>
            </a:r>
          </a:p>
          <a:p>
            <a:r>
              <a:t>LR LV: +$151K, +456 opcodes Jan-Sep against the four benchmarks; under 1 of 4</a:t>
            </a:r>
          </a:p>
          <a:p>
            <a:r>
              <a:t>HONDA HENDERSON: +$557K, +4,476 opcodes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collect less labor margin on internal work than on customer pay; the group is −2.7 pts. Widest: Audi Reno (−20.0 pts), LR LV (−13.9 pts) and LR Henderson (−12.2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collect less parts margin on internal work than on customer pay; the group is −4.2 pts. Widest: LR LV (−17.6 pts), Honda Flagstaff (−15.4 pts) and Audi Reno (−14.7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Hyundai Prescott and Honda Flagstaff what changed. Ask VW St George, Kia LV and GMC Prescott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service-department definitions. On the store slides, proficiency = Qlik hours flagged (sold hours) ÷ ADP regular + overtime hours, = clocked hours (vacation, PTO and holiday pay excluded).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a:t>
            </a:r>
          </a:p>
          <a:p>
            <a:r>
              <a:t>Talk track: walk the example left to right. The tech was on repair orders 6 of 8 hours (75% productive) and flagged 7.5 hours in those 6 (125% efficient), so 7.5 flagged hours for 8 clocked (93.75% proficient). Proficiency is the one we measure: 85% target, group 94.7%. 'Productivity' here is the technician measure, not the Fixed Ops Productivity section (gross and ROs per employee).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Six stores hold $647K a month, led by Cadillac at $158K. 20 stores at or above 85% still leave $818K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Group-wide the gap is 8.1% of RO gross. 5 stores are missing a fifth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One minute a day per tech: Toyota Henderson $43,256 a year. Volvo techs are worth the most per minute at $4.99.Source: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33.6%.Takeaway with the store call-outs (off the slide): Most top-three finishes: Lincoln, Subaru Prescott and Subaru St George (2 of 5). Most bottom-three: VW St George (3 of 5).Source: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40.0%.Takeaway with the store call-outs (off the slide): Most top-three finishes: Mazda, CDJR Post Falls and VW St George (2 of 5). Most bottom-three: Honda Henderson and Cadillac (3 of 5).Source: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Last year: Subaru Prescott leads. Moving now: Three stores tie. One store is on both lists (green bar).Source: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(ten minutes per tech per day). Jan-Sep 2026, same-store, 33 stores. The levers overlap - op code services are part of hours per RO, and selling more hours needs tech time - so they are not added together.Talk track: every line is the GM's and the service manager's together (Noah, Oct 27).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$911K a year. Store proficiency 67%. Each tech under 85% raised to 85% of their own clocked hours, valued at the store's labor + parts gross per flagged hour: $76K a month x 12.</a:t>
            </a:r>
          </a:p>
          <a:p/>
          <a:p>
            <a:r>
              <a:t>2. Service gross - $584K a year. Service gross $1,887,657 vs $2,325,579 Jan–Sep 2025, x 12/9. Overlaps the CP lines.</a:t>
            </a:r>
          </a:p>
          <a:p/>
          <a:p>
            <a:r>
              <a:t>3. CP hours per RO - $292K a year. 1.42 vs the non-luxury 1.75: gap x 3,671 CP ROs x $183 an hour x 12/9.</a:t>
            </a:r>
          </a:p>
          <a:p/>
          <a:p>
            <a:r>
              <a:t>4. CP RO count - $109K a year. 239 fewer CP ROs than Jan–Sep 2025 x $342 a RO x 12/9.</a:t>
            </a:r>
          </a:p>
          <a:p/>
          <a:p>
            <a:r>
              <a:t>5. Parts gross - $105K a year. Parts gross $1,005,492 vs $1,084,358 Jan–Sep 2025, x 12/9. Overlaps CP parts GP.</a:t>
            </a:r>
          </a:p>
          <a:p/>
          <a:p>
            <a:r>
              <a:t>6. MPI completion - not priced. 83.4% of 1,611 CP &amp; W ROs Jul–Sep vs 90%: 425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$1.22M a year. Store proficiency 91%. Each tech under 85% raised to 85% of their own clocked hours, valued at the store's labor + parts gross per flagged hour: $102K a month x 12.</a:t>
            </a:r>
          </a:p>
          <a:p/>
          <a:p>
            <a:r>
              <a:t>2. CP parts GP % - $284K a year. 33.6% vs the luxury 41.3% x $2.78M CP parts sale x 12/9.</a:t>
            </a:r>
          </a:p>
          <a:p/>
          <a:p>
            <a:r>
              <a:t>3. Brake fluid - $74K a year. Brake fluid 2.4% vs 10%: 380 more a year (Jan–Sep x 12/9) x $196 gross a service.</a:t>
            </a:r>
          </a:p>
          <a:p/>
          <a:p>
            <a:r>
              <a:t>4. MPI completion - not priced. 79.0% of 2,891 CP &amp; W ROs Jul–Sep vs 90%: 1,272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Parts gross - $437K a year. Parts gross $1,419,540 vs $1,747,458 Jan–Sep 2025, x 12/9. Overlaps CP parts GP.</a:t>
            </a:r>
          </a:p>
          <a:p/>
          <a:p>
            <a:r>
              <a:t>2. Service gross - $256K a year. Service gross $3,040,297 vs $3,232,223 Jan–Sep 2025, x 12/9. Overlaps the CP lines.</a:t>
            </a:r>
          </a:p>
          <a:p/>
          <a:p>
            <a:r>
              <a:t>3. Techs under 85% - $241K a year. Store proficiency 117%. Each tech under 85% raised to 85% of their own clocked hours, valued at the store's labor + parts gross per flagged hour: $20K a month x 12.</a:t>
            </a:r>
          </a:p>
          <a:p/>
          <a:p>
            <a:r>
              <a:t>4. CP RO count - $211K a year. 462 fewer CP ROs than Jan–Sep 2025 x $342 a RO x 12/9.</a:t>
            </a:r>
          </a:p>
          <a:p/>
          <a:p>
            <a:r>
              <a:t>5. CP hours per RO - $165K a year. 2.73 vs the luxury 2.90: gap x 3,917 CP ROs x $183 an hour x 12/9.</a:t>
            </a:r>
          </a:p>
          <a:p/>
          <a:p>
            <a:r>
              <a:t>6. Brake fluid - $78K a year. Brake fluid 1.9% vs 10%: 378 more a year (Jan–Sep x 12/9) x $206 gross a service.</a:t>
            </a:r>
          </a:p>
          <a:p/>
          <a:p>
            <a:r>
              <a:t>7. Alignment - $34K a year. Alignment 11.8% vs 15%: 149 more a year (Jan–Sep x 12/9) x $230 gross a service.</a:t>
            </a:r>
          </a:p>
          <a:p/>
          <a:p>
            <a:r>
              <a:t>8. Fixed gross/head - not priced. $14,916 a month (Jan–Sep gross ÷ 299 head-months, ADP) vs the luxury $16,998: 4.1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$1.89M a year. Store proficiency 87%. Each tech under 85% raised to 85% of their own clocked hours, valued at the store's labor + parts gross per flagged hour: $158K a month x 12.</a:t>
            </a:r>
          </a:p>
          <a:p/>
          <a:p>
            <a:r>
              <a:t>2. CP labor $ per RO - $939K a year. $464 vs the luxury $632: gap x 5,344 CP ROs x the store's 78.7% labor GP x 12/9. Overlaps hours per RO and ELR.</a:t>
            </a:r>
          </a:p>
          <a:p/>
          <a:p>
            <a:r>
              <a:t>3. CP ELR - $411K a year. Jul–Sep CP ELR $175 vs 70% of the $285 door rate = $200; gap x 4,275 CP hours x 4.</a:t>
            </a:r>
          </a:p>
          <a:p/>
          <a:p>
            <a:r>
              <a:t>4. CP hours per RO - $222K a year. 2.73 vs the luxury 2.90: gap x 5,344 CP ROs x $183 an hour x 12/9.</a:t>
            </a:r>
          </a:p>
          <a:p/>
          <a:p>
            <a:r>
              <a:t>5. Brake fluid - $57K a year. Brake fluid 4.6% vs 10%: 379 more a year (Jan–Sep x 12/9) x $150 gross a service.</a:t>
            </a:r>
          </a:p>
          <a:p/>
          <a:p>
            <a:r>
              <a:t>6. Fuel service - $46K a year. Fuel service 5.1% vs 7.5%: 170 more a year (Jan–Sep x 12/9) x $269 gross a service.</a:t>
            </a:r>
          </a:p>
          <a:p/>
          <a:p>
            <a:r>
              <a:t>7. Service gross - $32K a year. Service gross $6,489,716 vs $6,513,640 Jan–Sep 2025, x 12/9. Overlaps the CP lines.</a:t>
            </a:r>
          </a:p>
          <a:p/>
          <a:p>
            <a:r>
              <a:t>8. Tire balance - $14K a year. Tire balance 5.9% vs 15%: 643 more a year (Jan–Sep x 12/9) x $22 gross a service.</a:t>
            </a:r>
          </a:p>
          <a:p/>
          <a:p>
            <a:r>
              <a:t>9. MPI completion - not priced. 40.5% of 3,311 CP &amp; W ROs Jul–Sep vs 90%: 6,556 more a year (x 4). Not priced.</a:t>
            </a:r>
          </a:p>
          <a:p/>
          <a:p>
            <a:r>
              <a:t>10. Video completion - not priced. 42.7% vs the group's 57.8% on 3,311 CP &amp; W ROs Jul–Sep: 2,005 more a year (x 4). Not priced.</a:t>
            </a:r>
          </a:p>
          <a:p/>
          <a:p>
            <a:r>
              <a:t>11. Fixed gross/head - not priced. $14,260 a month (Jan–Sep gross ÷ 673 head-months, ADP) vs the luxury $16,998: 12.0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$1.20M a year. Store proficiency 71%. Each tech under 85% raised to 85% of their own clocked hours, valued at the store's labor + parts gross per flagged hour: $100K a month x 12.</a:t>
            </a:r>
          </a:p>
          <a:p/>
          <a:p>
            <a:r>
              <a:t>2. Parts gross - $195K a year. Parts gross $1,257,877 vs $1,403,787 Jan–Sep 2025, x 12/9. Overlaps CP parts GP.</a:t>
            </a:r>
          </a:p>
          <a:p/>
          <a:p>
            <a:r>
              <a:t>3. CP RO count - $126K a year. 277 fewer CP ROs than Jan–Sep 2025 x $342 a RO x 12/9.</a:t>
            </a:r>
          </a:p>
          <a:p/>
          <a:p>
            <a:r>
              <a:t>4. CP parts GP % - $114K a year. 35.6% vs the non-luxury 40.5% x $1.78M CP parts sale x 12/9.</a:t>
            </a:r>
          </a:p>
          <a:p/>
          <a:p>
            <a:r>
              <a:t>5. Service gross - $77K a year. Service gross $2,295,272 vs $2,353,006 Jan–Sep 2025, x 12/9. Overlaps the CP lines.</a:t>
            </a:r>
          </a:p>
          <a:p/>
          <a:p>
            <a:r>
              <a:t>6. Tire balance - $73K a year. Tire balance 1.2% vs 15%: 981 more a year (Jan–Sep x 12/9) x $75 gross a service.</a:t>
            </a:r>
          </a:p>
          <a:p/>
          <a:p>
            <a:r>
              <a:t>7. Fuel service - $62K a year. Fuel service 3.0% vs 7.5%: 321 more a year (Jan–Sep x 12/9) x $192 gross a service.</a:t>
            </a:r>
          </a:p>
          <a:p/>
          <a:p>
            <a:r>
              <a:t>8. Alignment - $57K a year. Alignment 4.2% vs 15%: 770 more a year (Jan–Sep x 12/9) x $74 gross a service.</a:t>
            </a:r>
          </a:p>
          <a:p/>
          <a:p>
            <a:r>
              <a:t>9. Brake fluid - $53K a year. Brake fluid 4.2% vs 10%: 412 more a year (Jan–Sep x 12/9) x $128 gross a service.</a:t>
            </a:r>
          </a:p>
          <a:p/>
          <a:p>
            <a:r>
              <a:t>10. Video completion - not priced. 16.0% vs the group's 57.8% on 3,168 CP &amp; W ROs Jul–Sep: 5,302 more a year (x 4). Not priced.</a:t>
            </a:r>
          </a:p>
          <a:p/>
          <a:p>
            <a:r>
              <a:t>11. Fixed gross/head - not priced. $9,953 a month (Jan–Sep gross ÷ 357 head-months, ADP) vs the non-luxury $12,714: 8.6 heads over. Counted, not priced: no store personnel cost in the data.</a:t>
            </a:r>
          </a:p>
          <a:p/>
          <a:p>
            <a:r>
              <a:t>12. MPI completion - not priced. 81.7% of 3,168 CP &amp; W ROs Jul–Sep vs 90%: 1,052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$1.35M a year. Store proficiency 68%. Each tech under 85% raised to 85% of their own clocked hours, valued at the store's labor + parts gross per flagged hour: $112K a month x 12.</a:t>
            </a:r>
          </a:p>
          <a:p/>
          <a:p>
            <a:r>
              <a:t>2. CP parts GP % - $77K a year. 37.2% vs the non-luxury 40.5% x $1.74M CP parts sale x 12/9.</a:t>
            </a:r>
          </a:p>
          <a:p/>
          <a:p>
            <a:r>
              <a:t>3. Fuel service - $65K a year. Fuel service 2.7% vs 7.5%: 400 more a year (Jan–Sep x 12/9) x $163 gross a service.</a:t>
            </a:r>
          </a:p>
          <a:p/>
          <a:p>
            <a:r>
              <a:t>4. Alignment - $25K a year. Alignment 11.1% vs 15%: 324 more a year (Jan–Sep x 12/9) x $78 gross a service.</a:t>
            </a:r>
          </a:p>
          <a:p/>
          <a:p>
            <a:r>
              <a:t>5. Brake fluid - $21K a year. Brake fluid 7.0% vs 10%: 245 more a year (Jan–Sep x 12/9) x $87 gross a service.</a:t>
            </a:r>
          </a:p>
          <a:p/>
          <a:p>
            <a:r>
              <a:t>6. Tire balance - $21K a year. Tire balance 9.0% vs 15%: 496 more a year (Jan–Sep x 12/9) x $42 gross a service.</a:t>
            </a:r>
          </a:p>
          <a:p/>
          <a:p>
            <a:r>
              <a:t>7. CP labor GP % - $17K a year. 77.3% vs 78% (bottom of the 78-80% range) x $1.73M CP labor sale x 12/9.</a:t>
            </a:r>
          </a:p>
          <a:p/>
          <a:p>
            <a:r>
              <a:t>8. Video completion - not priced. 21.8% vs the group's 57.8% on 2,779 CP &amp; W ROs Jul–Sep: 4,006 more a year (x 4). Not priced.</a:t>
            </a:r>
          </a:p>
          <a:p/>
          <a:p>
            <a:r>
              <a:t>9. Fixed gross/head - not priced. $10,391 a month (Jan–Sep gross ÷ 436 head-months, ADP) vs the non-luxury $12,714: 8.9 heads over. Counted, not priced: no store personnel cost in the data.</a:t>
            </a:r>
          </a:p>
          <a:p/>
          <a:p>
            <a:r>
              <a:t>10. MPI completion - not priced. 87.6% of 2,779 CP &amp; W ROs Jul–Sep vs 90%: 267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$1.05M a year. Store proficiency 103%. Each tech under 85% raised to 85% of their own clocked hours, valued at the store's labor + parts gross per flagged hour: $87K a month x 12.</a:t>
            </a:r>
          </a:p>
          <a:p/>
          <a:p>
            <a:r>
              <a:t>2. CP ELR - $671K a year. Jul–Sep CP ELR $146 vs 70% of the $225 door rate = $157; gap x 15,019 CP hours x 4.</a:t>
            </a:r>
          </a:p>
          <a:p/>
          <a:p>
            <a:r>
              <a:t>3. Service gross - $526K a year. Service gross $10,497,259 vs $10,892,101 Jan–Sep 2025, x 12/9. Overlaps the CP lines.</a:t>
            </a:r>
          </a:p>
          <a:p/>
          <a:p>
            <a:r>
              <a:t>4. CP RO count - $434K a year. 952 fewer CP ROs than Jan–Sep 2025 x $342 a RO x 12/9.</a:t>
            </a:r>
          </a:p>
          <a:p/>
          <a:p>
            <a:r>
              <a:t>5. CP parts GP % - $314K a year. 36.2% vs the non-luxury 40.5% x $5.47M CP parts sale x 12/9.</a:t>
            </a:r>
          </a:p>
          <a:p/>
          <a:p>
            <a:r>
              <a:t>6. Brake fluid - $151K a year. Brake fluid 5.7% vs 10%: 1,093 more a year (Jan–Sep x 12/9) x $138 gross a service.</a:t>
            </a:r>
          </a:p>
          <a:p/>
          <a:p>
            <a:r>
              <a:t>7. Fuel service - $142K a year. Fuel service 5.2% vs 7.5%: 585 more a year (Jan–Sep x 12/9) x $243 gross a service.</a:t>
            </a:r>
          </a:p>
          <a:p/>
          <a:p>
            <a:r>
              <a:t>8. Tire balance - $106K a year. Tire balance 7.3% vs 15%: 2,001 more a year (Jan–Sep x 12/9) x $53 gross a service.</a:t>
            </a:r>
          </a:p>
          <a:p/>
          <a:p>
            <a:r>
              <a:t>9. Alignment - $75K a year. Alignment 12.8% vs 15%: 556 more a year (Jan–Sep x 12/9) x $136 gross a service.</a:t>
            </a:r>
          </a:p>
          <a:p/>
          <a:p>
            <a:r>
              <a:t>10. Parts gross - $56K a year. Parts gross $6,047,818 vs $6,089,964 Jan–Sep 2025, x 12/9. Overlaps CP parts GP.</a:t>
            </a:r>
          </a:p>
          <a:p/>
          <a:p>
            <a:r>
              <a:t>11. Video completion - not priced. 40.2% vs the group's 57.8% on 9,387 CP &amp; W ROs Jul–Sep: 6,624 more a year (x 4). Not priced.</a:t>
            </a:r>
          </a:p>
          <a:p/>
          <a:p>
            <a:r>
              <a:t>12. MPI completion - not priced. 84.5% of 9,387 CP &amp; W ROs Jul–Sep vs 90%: 2,065 more a year (x 4). Not priced.</a:t>
            </a:r>
          </a:p>
          <a:p/>
          <a:p>
            <a:r>
              <a:t>13. Fixed gross/head - not priced. $12,042 a month (Jan–Sep gross ÷ 1,374 head-months, ADP) vs the non-luxury $12,714: 8.1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$574K a year. Store proficiency 73%. Each tech under 85% raised to 85% of their own clocked hours, valued at the store's labor + parts gross per flagged hour: $48K a month x 12.</a:t>
            </a:r>
          </a:p>
          <a:p/>
          <a:p>
            <a:r>
              <a:t>2. CP labor GP % - $67K a year. 72.2% vs 78% (bottom of the 78-80% range) x $870K CP labor sale x 12/9.</a:t>
            </a:r>
          </a:p>
          <a:p/>
          <a:p>
            <a:r>
              <a:t>3. CP ELR - $63K a year. Jul–Sep CP ELR $147 vs 70% of the $220 door rate = $154; gap x 2,219 CP hours x 4.</a:t>
            </a:r>
          </a:p>
          <a:p/>
          <a:p>
            <a:r>
              <a:t>4. CP parts GP % - $42K a year. 37.0% vs the non-luxury 40.5% x $902K CP parts sale x 12/9.</a:t>
            </a:r>
          </a:p>
          <a:p/>
          <a:p>
            <a:r>
              <a:t>5. Tire balance - $27K a year. Tire balance 7.7% vs 15%: 300 more a year (Jan–Sep x 12/9) x $90 gross a service.</a:t>
            </a:r>
          </a:p>
          <a:p/>
          <a:p>
            <a:r>
              <a:t>6. Fuel service - $21K a year. Fuel service 3.6% vs 7.5%: 160 more a year (Jan–Sep x 12/9) x $133 gross a service.</a:t>
            </a:r>
          </a:p>
          <a:p/>
          <a:p>
            <a:r>
              <a:t>7. Brake fluid - $21K a year. Brake fluid 6.0% vs 10%: 162 more a year (Jan–Sep x 12/9) x $127 gross a service.</a:t>
            </a:r>
          </a:p>
          <a:p/>
          <a:p>
            <a:r>
              <a:t>8. Alignment - $11K a year. Alignment 11.7% vs 15%: 135 more a year (Jan–Sep x 12/9) x $85 gross a service.</a:t>
            </a:r>
          </a:p>
          <a:p/>
          <a:p>
            <a:r>
              <a:t>9. Video completion - not priced. 35.1% vs the group's 57.8% on 1,656 CP &amp; W ROs Jul–Sep: 1,506 more a year (x 4). Not priced.</a:t>
            </a:r>
          </a:p>
          <a:p/>
          <a:p>
            <a:r>
              <a:t>10. Fixed gross/head - not priced. $9,498 a month (Jan–Sep gross ÷ 239 head-months, ADP) vs the non-luxury $12,714: 6.7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$473K a year. Store proficiency 78%. Each tech under 85% raised to 85% of their own clocked hours, valued at the store's labor + parts gross per flagged hour: $39K a month x 12.</a:t>
            </a:r>
          </a:p>
          <a:p/>
          <a:p>
            <a:r>
              <a:t>2. CP hours per RO - $79K a year. 1.67 vs the non-luxury 1.75: gap x 4,030 CP ROs x $183 an hour x 12/9.</a:t>
            </a:r>
          </a:p>
          <a:p/>
          <a:p>
            <a:r>
              <a:t>3. Brake fluid - $67K a year. Brake fluid 3.1% vs 10%: 367 more a year (Jan–Sep x 12/9) x $184 gross a service.</a:t>
            </a:r>
          </a:p>
          <a:p/>
          <a:p>
            <a:r>
              <a:t>4. Fuel service - $60K a year. Fuel service 0.7% vs 7.5%: 364 more a year (Jan–Sep x 12/9) x $165 gross a service.</a:t>
            </a:r>
          </a:p>
          <a:p/>
          <a:p>
            <a:r>
              <a:t>5. Tire balance - $52K a year. Tire balance 1.3% vs 15%: 735 more a year (Jan–Sep x 12/9) x $70 gross a service.</a:t>
            </a:r>
          </a:p>
          <a:p/>
          <a:p>
            <a:r>
              <a:t>6. Service gross - $37K a year. Service gross $1,044,098 vs $1,071,808 Jan–Sep 2025, x 12/9. Overlaps the CP lines.</a:t>
            </a:r>
          </a:p>
          <a:p/>
          <a:p>
            <a:r>
              <a:t>7. Alignment - $21K a year. Alignment 11.0% vs 15%: 210 more a year (Jan–Sep x 12/9) x $100 gross a service.</a:t>
            </a:r>
          </a:p>
          <a:p/>
          <a:p>
            <a:r>
              <a:t>8. CP RO count - $14K a year. 30 fewer CP ROs than Jan–Sep 2025 x $342 a RO x 12/9.</a:t>
            </a:r>
          </a:p>
          <a:p/>
          <a:p>
            <a:r>
              <a:t>9. Fixed gross/head - not priced. $9,149 a month (Jan–Sep gross ÷ 174 head-months, ADP) vs the non-luxury $12,714: 5.4 heads over. Counted, not priced: no store personnel cost in the data.</a:t>
            </a:r>
          </a:p>
          <a:p/>
          <a:p>
            <a:r>
              <a:t>10. MPI completion - not priced. 86.3% of 1,655 CP &amp; W ROs Jul–Sep vs 90%: 245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$155K a year. Store proficiency 118%. Each tech under 85% raised to 85% of their own clocked hours, valued at the store's labor + parts gross per flagged hour: $13K a month x 12.</a:t>
            </a:r>
          </a:p>
          <a:p/>
          <a:p>
            <a:r>
              <a:t>2. CP RO count - $87K a year. 190 fewer CP ROs than Jan–Sep 2025 x $342 a RO x 12/9.</a:t>
            </a:r>
          </a:p>
          <a:p/>
          <a:p>
            <a:r>
              <a:t>3. MPI completion - not priced. 82.5% of 9,816 CP &amp; W ROs Jul–Sep vs 90%: 2,945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$926K a year. Service gross $5,919,248 vs $6,613,864 Jan–Sep 2025, x 12/9. Overlaps the CP lines.</a:t>
            </a:r>
          </a:p>
          <a:p/>
          <a:p>
            <a:r>
              <a:t>2. Parts gross - $194K a year. Parts gross $2,697,134 vs $2,842,409 Jan–Sep 2025, x 12/9. Overlaps CP parts GP.</a:t>
            </a:r>
          </a:p>
          <a:p/>
          <a:p>
            <a:r>
              <a:t>3. Techs under 85% - $155K a year. Store proficiency 109%. Each tech under 85% raised to 85% of their own clocked hours, valued at the store's labor + parts gross per flagged hour: $13K a month x 12.</a:t>
            </a:r>
          </a:p>
          <a:p/>
          <a:p>
            <a:r>
              <a:t>4. Tire balance - $38K a year. Tire balance 12.0% vs 15%: 600 more a year (Jan–Sep x 12/9) x $64 gross a service.</a:t>
            </a:r>
          </a:p>
          <a:p/>
          <a:p>
            <a:r>
              <a:t>5. MPI completion - not priced. 81.4% of 7,325 CP &amp; W ROs Jul–Sep vs 90%: 2,520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RO count - $456K a year. 999 fewer CP ROs than Jan–Sep 2025 x $342 a RO x 12/9.</a:t>
            </a:r>
          </a:p>
          <a:p/>
          <a:p>
            <a:r>
              <a:t>2. Tire balance - $80K a year. Tire balance 2.1% vs 15%: 1,526 more a year (Jan–Sep x 12/9) x $52 gross a service.</a:t>
            </a:r>
          </a:p>
          <a:p/>
          <a:p>
            <a:r>
              <a:t>3. Fuel service - $75K a year. Fuel service 3.2% vs 7.5%: 509 more a year (Jan–Sep x 12/9) x $147 gross a service.</a:t>
            </a:r>
          </a:p>
          <a:p/>
          <a:p>
            <a:r>
              <a:t>4. Alignment - $36K a year. Alignment 12.5% vs 15%: 294 more a year (Jan–Sep x 12/9) x $124 gross a service.</a:t>
            </a:r>
          </a:p>
          <a:p/>
          <a:p>
            <a:r>
              <a:t>5. Parts gross - $15K a year. Parts gross $1,394,258 vs $1,405,777 Jan–Sep 2025, x 12/9. Overlaps CP parts GP.</a:t>
            </a:r>
          </a:p>
          <a:p/>
          <a:p>
            <a:r>
              <a:t>6. Techs under 85% - $12K a year. Store proficiency 109%. Each tech under 85% raised to 85% of their own clocked hours, valued at the store's labor + parts gross per flagged hour: $1K a month x 12.</a:t>
            </a:r>
          </a:p>
          <a:p/>
          <a:p>
            <a:r>
              <a:t>7. MPI completion - not priced. 49.6% of 3,553 CP &amp; W ROs Jul–Sep vs 90%: 5,742 more a year (x 4). Not priced.</a:t>
            </a:r>
          </a:p>
          <a:p/>
          <a:p>
            <a:r>
              <a:t>8. Video completion - not priced. 49.6% vs the group's 57.8% on 3,553 CP &amp; W ROs Jul–Sep: 1,171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$412K a year. Store proficiency 78%. Each tech under 85% raised to 85% of their own clocked hours, valued at the store's labor + parts gross per flagged hour: $34K a month x 12.</a:t>
            </a:r>
          </a:p>
          <a:p/>
          <a:p>
            <a:r>
              <a:t>2. CP labor $ per RO - $92K a year. $213 vs the non-luxury $264: gap x 2,010 CP ROs x the store's 67.7% labor GP x 12/9. Overlaps hours per RO and ELR.</a:t>
            </a:r>
          </a:p>
          <a:p/>
          <a:p>
            <a:r>
              <a:t>3. CP labor GP % - $59K a year. 67.7% vs 78% (bottom of the 78-80% range) x $429K CP labor sale x 12/9.</a:t>
            </a:r>
          </a:p>
          <a:p/>
          <a:p>
            <a:r>
              <a:t>4. CP hours per RO - $54K a year. 1.64 vs the non-luxury 1.75: gap x 2,010 CP ROs x $183 an hour x 12/9.</a:t>
            </a:r>
          </a:p>
          <a:p/>
          <a:p>
            <a:r>
              <a:t>5. CP ELR - $51K a year. Jul–Sep CP ELR $136 vs 70% of the $210 door rate = $147; gap x 1,173 CP hours x 4.</a:t>
            </a:r>
          </a:p>
          <a:p/>
          <a:p>
            <a:r>
              <a:t>6. Fixed gross/head - not priced. $11,631 a month (Jan–Sep gross ÷ 132 head-months, ADP) vs the non-luxury $12,714: 1.2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$1.06M a year. Store proficiency 69%. Each tech under 85% raised to 85% of their own clocked hours, valued at the store's labor + parts gross per flagged hour: $88K a month x 12.</a:t>
            </a:r>
          </a:p>
          <a:p/>
          <a:p>
            <a:r>
              <a:t>2. Parts gross - $302K a year. Parts gross $826,662 vs $1,053,439 Jan–Sep 2025, x 12/9. Overlaps CP parts GP.</a:t>
            </a:r>
          </a:p>
          <a:p/>
          <a:p>
            <a:r>
              <a:t>3. CP hours per RO - $259K a year. 1.43 vs the non-luxury 1.75: gap x 3,349 CP ROs x $183 an hour x 12/9.</a:t>
            </a:r>
          </a:p>
          <a:p/>
          <a:p>
            <a:r>
              <a:t>4. CP RO count - $198K a year. 435 fewer CP ROs than Jan–Sep 2025 x $342 a RO x 12/9.</a:t>
            </a:r>
          </a:p>
          <a:p/>
          <a:p>
            <a:r>
              <a:t>5. CP labor $ per RO - $98K a year. $238 vs the non-luxury $264: gap x 3,349 CP ROs x the store's 82.9% labor GP x 12/9. Overlaps hours per RO and ELR.</a:t>
            </a:r>
          </a:p>
          <a:p/>
          <a:p>
            <a:r>
              <a:t>6. Tire balance - $36K a year. Tire balance 1.2% vs 15%: 615 more a year (Jan–Sep x 12/9) x $58 gross a service.</a:t>
            </a:r>
          </a:p>
          <a:p/>
          <a:p>
            <a:r>
              <a:t>7. Brake fluid - $32K a year. Brake fluid 4.7% vs 10%: 235 more a year (Jan–Sep x 12/9) x $134 gross a service.</a:t>
            </a:r>
          </a:p>
          <a:p/>
          <a:p>
            <a:r>
              <a:t>8. Fuel service - $13K a year. Fuel service 5.8% vs 7.5%: 72 more a year (Jan–Sep x 12/9) x $176 gross a service.</a:t>
            </a:r>
          </a:p>
          <a:p/>
          <a:p>
            <a:r>
              <a:t>9. CP parts GP % - $10K a year. 39.4% vs the non-luxury 40.5% x $732K CP parts sale x 12/9.</a:t>
            </a:r>
          </a:p>
          <a:p/>
          <a:p>
            <a:r>
              <a:t>10. MPI completion - not priced. 62.7% of 2,058 CP &amp; W ROs Jul–Sep vs 90%: 2,247 more a year (x 4). Not priced.</a:t>
            </a:r>
          </a:p>
          <a:p/>
          <a:p>
            <a:r>
              <a:t>11. Fixed gross/head - not priced. $11,541 a month (Jan–Sep gross ÷ 198 head-months, ADP) vs the non-luxury $12,714: 2.0 heads over. Counted, not priced: no store personnel cost in the data.</a:t>
            </a:r>
          </a:p>
          <a:p/>
          <a:p>
            <a:r>
              <a:t>12. Video completion - not priced. 53.1% vs the group's 57.8% on 2,058 CP &amp; W ROs Jul–Sep: 390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$891K a year. Store proficiency 76%. Each tech under 85% raised to 85% of their own clocked hours, valued at the store's labor + parts gross per flagged hour: $74K a month x 12.</a:t>
            </a:r>
          </a:p>
          <a:p/>
          <a:p>
            <a:r>
              <a:t>2. CP hours per RO - $351K a year. 1.57 vs the non-luxury 1.75: gap x 8,133 CP ROs x $183 an hour x 12/9.</a:t>
            </a:r>
          </a:p>
          <a:p/>
          <a:p>
            <a:r>
              <a:t>3. CP labor $ per RO - $259K a year. $234 vs the non-luxury $264: gap x 8,133 CP ROs x the store's 79.5% labor GP x 12/9. Overlaps hours per RO and ELR.</a:t>
            </a:r>
          </a:p>
          <a:p/>
          <a:p>
            <a:r>
              <a:t>4. Parts gross - $223K a year. Parts gross $2,101,307 vs $2,268,483 Jan–Sep 2025, x 12/9. Overlaps CP parts GP.</a:t>
            </a:r>
          </a:p>
          <a:p/>
          <a:p>
            <a:r>
              <a:t>5. Alignment - $77K a year. Alignment 9.7% vs 15%: 568 more a year (Jan–Sep x 12/9) x $135 gross a service.</a:t>
            </a:r>
          </a:p>
          <a:p/>
          <a:p>
            <a:r>
              <a:t>6. Fuel service - $76K a year. Fuel service 3.2% vs 7.5%: 464 more a year (Jan–Sep x 12/9) x $163 gross a service.</a:t>
            </a:r>
          </a:p>
          <a:p/>
          <a:p>
            <a:r>
              <a:t>7. Tire balance - $72K a year. Tire balance 5.2% vs 15%: 1,059 more a year (Jan–Sep x 12/9) x $68 gross a service.</a:t>
            </a:r>
          </a:p>
          <a:p/>
          <a:p>
            <a:r>
              <a:t>8. CP ELR - $55K a year. Jul–Sep CP ELR $151 vs 70% of the $220 door rate = $154; gap x 4,292 CP hours x 4.</a:t>
            </a:r>
          </a:p>
          <a:p/>
          <a:p>
            <a:r>
              <a:t>9. Brake fluid - $22K a year. Brake fluid 8.2% vs 10%: 187 more a year (Jan–Sep x 12/9) x $120 gross a service.</a:t>
            </a:r>
          </a:p>
          <a:p/>
          <a:p>
            <a:r>
              <a:t>10. Video completion - not priced. 31.5% vs the group's 57.8% on 4,474 CP &amp; W ROs Jul–Sep: 4,714 more a year (x 4). Not priced.</a:t>
            </a:r>
          </a:p>
          <a:p/>
          <a:p>
            <a:r>
              <a:t>11. MPI completion - not priced. 71.2% of 4,474 CP &amp; W ROs Jul–Sep vs 90%: 3,364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$919K a year. Store proficiency 67%. Each tech under 85% raised to 85% of their own clocked hours, valued at the store's labor + parts gross per flagged hour: $77K a month x 12.</a:t>
            </a:r>
          </a:p>
          <a:p/>
          <a:p>
            <a:r>
              <a:t>2. CP hours per RO - $435K a year. 1.29 vs the non-luxury 1.75: gap x 3,912 CP ROs x $183 an hour x 12/9.</a:t>
            </a:r>
          </a:p>
          <a:p/>
          <a:p>
            <a:r>
              <a:t>3. CP labor $ per RO - $340K a year. $182 vs the non-luxury $264: gap x 3,912 CP ROs x the store's 79.4% labor GP x 12/9. Overlaps hours per RO and ELR.</a:t>
            </a:r>
          </a:p>
          <a:p/>
          <a:p>
            <a:r>
              <a:t>4. Alignment - $38K a year. Alignment 8.0% vs 15%: 365 more a year (Jan–Sep x 12/9) x $105 gross a service.</a:t>
            </a:r>
          </a:p>
          <a:p/>
          <a:p>
            <a:r>
              <a:t>5. Brake fluid - $25K a year. Brake fluid 5.9% vs 10%: 211 more a year (Jan–Sep x 12/9) x $119 gross a service.</a:t>
            </a:r>
          </a:p>
          <a:p/>
          <a:p>
            <a:r>
              <a:t>6. Tire balance - $18K a year. Tire balance 7.7% vs 15%: 380 more a year (Jan–Sep x 12/9) x $48 gross a service.</a:t>
            </a:r>
          </a:p>
          <a:p/>
          <a:p>
            <a:r>
              <a:t>7. Video completion - not priced. 5.2% vs the group's 57.8% on 2,672 CP &amp; W ROs Jul–Sep: 5,626 more a year (x 4). Not priced.</a:t>
            </a:r>
          </a:p>
          <a:p/>
          <a:p>
            <a:r>
              <a:t>8. MPI completion - not priced. 60.9% of 2,672 CP &amp; W ROs Jul–Sep vs 90%: 3,110 more a year (x 4). Not priced.</a:t>
            </a:r>
          </a:p>
          <a:p/>
          <a:p>
            <a:r>
              <a:t>9. Fixed gross/head - not priced. $12,103 a month (Jan–Sep gross ÷ 193 head-months, ADP) vs the non-luxury $12,714: 1.0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$1.18M a year. $403 vs the luxury $632: gap x 4,567 CP ROs x the store's 85.0% labor GP x 12/9. Overlaps hours per RO and ELR.</a:t>
            </a:r>
          </a:p>
          <a:p/>
          <a:p>
            <a:r>
              <a:t>2. CP hours per RO - $911K a year. 2.08 vs the luxury 2.90: gap x 4,567 CP ROs x $183 an hour x 12/9.</a:t>
            </a:r>
          </a:p>
          <a:p/>
          <a:p>
            <a:r>
              <a:t>3. Techs under 85% - $379K a year. Store proficiency 104%. Each tech under 85% raised to 85% of their own clocked hours, valued at the store's labor + parts gross per flagged hour: $32K a month x 12.</a:t>
            </a:r>
          </a:p>
          <a:p/>
          <a:p>
            <a:r>
              <a:t>4. Tire balance - $68K a year. Tire balance 0.0% vs 15%: 909 more a year (Jan–Sep x 12/9) x $75 gross a service.</a:t>
            </a:r>
          </a:p>
          <a:p/>
          <a:p>
            <a:r>
              <a:t>5. Alignment - $33K a year. Alignment 11.3% vs 15%: 221 more a year (Jan–Sep x 12/9) x $147 gross a service.</a:t>
            </a:r>
          </a:p>
          <a:p/>
          <a:p>
            <a:r>
              <a:t>6. Fuel service - $25K a year. Fuel service 4.2% vs 7.5%: 195 more a year (Jan–Sep x 12/9) x $128 gross a service.</a:t>
            </a:r>
          </a:p>
          <a:p/>
          <a:p>
            <a:r>
              <a:t>7. Brake fluid - $15K a year. Brake fluid 8.3% vs 10%: 98 more a year (Jan–Sep x 12/9) x $154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$628K a year. $416 vs the luxury $632: gap x 2,630 CP ROs x the store's 83.2% labor GP x 12/9. Overlaps hours per RO and ELR.</a:t>
            </a:r>
          </a:p>
          <a:p/>
          <a:p>
            <a:r>
              <a:t>2. Techs under 85% - $284K a year. Store proficiency 94%. Each tech under 85% raised to 85% of their own clocked hours, valued at the store's labor + parts gross per flagged hour: $24K a month x 12.</a:t>
            </a:r>
          </a:p>
          <a:p/>
          <a:p>
            <a:r>
              <a:t>3. CP hours per RO - $267K a year. 2.48 vs the luxury 2.90: gap x 2,630 CP ROs x $183 an hour x 12/9.</a:t>
            </a:r>
          </a:p>
          <a:p/>
          <a:p>
            <a:r>
              <a:t>4. CP parts GP % - $55K a year. 37.0% vs the luxury 41.3% x $954K CP parts sale x 12/9.</a:t>
            </a:r>
          </a:p>
          <a:p/>
          <a:p>
            <a:r>
              <a:t>5. CP ELR - $36K a year. Jul–Sep CP ELR $167 vs 70% of the $245 door rate = $171; gap x 2,154 CP hours x 4.</a:t>
            </a:r>
          </a:p>
          <a:p/>
          <a:p>
            <a:r>
              <a:t>6. Tire balance - $31K a year. Tire balance 1.6% vs 15%: 467 more a year (Jan–Sep x 12/9) x $66 gross a service.</a:t>
            </a:r>
          </a:p>
          <a:p/>
          <a:p>
            <a:r>
              <a:t>7. Alignment - $26K a year. Alignment 8.4% vs 15%: 230 more a year (Jan–Sep x 12/9) x $114 gross a service.</a:t>
            </a:r>
          </a:p>
          <a:p/>
          <a:p>
            <a:r>
              <a:t>8. Brake fluid - $11K a year. Brake fluid 7.5% vs 10%: 87 more a year (Jan–Sep x 12/9) x $126 gross a service.</a:t>
            </a:r>
          </a:p>
          <a:p/>
          <a:p>
            <a:r>
              <a:t>9. Fixed gross/head - not priced. $10,963 a month (Jan–Sep gross ÷ 272 head-months, ADP) vs the luxury $16,998: 10.7 heads over. Counted, not priced: no store personnel cost in the data.</a:t>
            </a:r>
          </a:p>
          <a:p/>
          <a:p>
            <a:r>
              <a:t>10. Video completion - not priced. 42.7% vs the group's 57.8% on 1,829 CP &amp; W ROs Jul–Sep: 1,108 more a year (x 4). Not priced.</a:t>
            </a:r>
          </a:p>
          <a:p/>
          <a:p>
            <a:r>
              <a:t>11. MPI completion - not priced. 68.5% of 1,829 CP &amp; W ROs Jul–Sep vs 90%: 1,573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$179K a year. Store proficiency 106%. Each tech under 85% raised to 85% of their own clocked hours, valued at the store's labor + parts gross per flagged hour: $15K a month x 12.</a:t>
            </a:r>
          </a:p>
          <a:p/>
          <a:p>
            <a:r>
              <a:t>2. Fuel service - $34K a year. Fuel service 2.5% vs 7.5%: 103 more a year (Jan–Sep x 12/9) x $329 gross a service.</a:t>
            </a:r>
          </a:p>
          <a:p/>
          <a:p>
            <a:r>
              <a:t>3. MPI completion - not priced. 73.0% of 953 CP &amp; W ROs Jul–Sep vs 90%: 648 more a year (x 4). Not priced.</a:t>
            </a:r>
          </a:p>
          <a:p/>
          <a:p>
            <a:r>
              <a:t>4. Video completion - not priced. 50.0% vs the group's 57.8% on 953 CP &amp; W ROs Jul–Sep: 299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$758K a year. Store proficiency 91%. Each tech under 85% raised to 85% of their own clocked hours, valued at the store's labor + parts gross per flagged hour: $63K a month x 12.</a:t>
            </a:r>
          </a:p>
          <a:p/>
          <a:p>
            <a:r>
              <a:t>2. Parts gross - $81K a year. Parts gross $2,524,684 vs $2,585,236 Jan–Sep 2025, x 12/9. Overlaps CP parts GP.</a:t>
            </a:r>
          </a:p>
          <a:p/>
          <a:p>
            <a:r>
              <a:t>3. Fuel service - $24K a year. Fuel service 5.5% vs 7.5%: 92 more a year (Jan–Sep x 12/9) x $258 gross a service.</a:t>
            </a:r>
          </a:p>
          <a:p/>
          <a:p>
            <a:r>
              <a:t>4. MPI completion - not priced. 71.1% of 2,073 CP &amp; W ROs Jul–Sep vs 90%: 1,567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$247K a year. Store proficiency 81%. Each tech under 85% raised to 85% of their own clocked hours, valued at the store's labor + parts gross per flagged hour: $21K a month x 12.</a:t>
            </a:r>
          </a:p>
          <a:p/>
          <a:p>
            <a:r>
              <a:t>2. Brake fluid - $20K a year. Brake fluid 7.2% vs 10%: 52 more a year (Jan–Sep x 12/9) x $377 gross a service.</a:t>
            </a:r>
          </a:p>
          <a:p/>
          <a:p>
            <a:r>
              <a:t>3. Fuel service - $18K a year. Fuel service 4.5% vs 7.5%: 55 more a year (Jan–Sep x 12/9) x $329 gross a service.</a:t>
            </a:r>
          </a:p>
          <a:p/>
          <a:p>
            <a:r>
              <a:t>4. Alignment - $10K a year. Alignment 12.8% vs 15%: 40 more a year (Jan–Sep x 12/9) x $259 gross a service.</a:t>
            </a:r>
          </a:p>
          <a:p/>
          <a:p>
            <a:r>
              <a:t>5. Fixed gross/head - not priced. $15,226 a month (Jan–Sep gross ÷ 145 head-months, ADP) vs the luxury $16,998: 1.7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$403K a year. 1.46 vs the non-luxury 1.75: gap x 5,701 CP ROs x $183 an hour x 12/9.</a:t>
            </a:r>
          </a:p>
          <a:p/>
          <a:p>
            <a:r>
              <a:t>2. CP labor $ per RO - $167K a year. $238 vs the non-luxury $264: gap x 5,701 CP ROs x the store's 84.4% labor GP x 12/9. Overlaps hours per RO and ELR.</a:t>
            </a:r>
          </a:p>
          <a:p/>
          <a:p>
            <a:r>
              <a:t>3. Techs under 85% - $103K a year. Store proficiency 101%. Each tech under 85% raised to 85% of their own clocked hours, valued at the store's labor + parts gross per flagged hour: $9K a month x 12.</a:t>
            </a:r>
          </a:p>
          <a:p/>
          <a:p>
            <a:r>
              <a:t>4. Fuel service - $26K a year. Fuel service 5.2% vs 7.5%: 174 more a year (Jan–Sep x 12/9) x $150 gross a service.</a:t>
            </a:r>
          </a:p>
          <a:p/>
          <a:p>
            <a:r>
              <a:t>5. Brake fluid - $18K a year. Brake fluid 8.4% vs 10%: 115 more a year (Jan–Sep x 12/9) x $154 gross a service.</a:t>
            </a:r>
          </a:p>
          <a:p/>
          <a:p>
            <a:r>
              <a:t>6. Tire balance - $11K a year. Tire balance 13.1% vs 15%: 138 more a year (Jan–Sep x 12/9) x $79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$509K a year. Store proficiency 91%. Each tech under 85% raised to 85% of their own clocked hours, valued at the store's labor + parts gross per flagged hour: $42K a month x 12.</a:t>
            </a:r>
          </a:p>
          <a:p/>
          <a:p>
            <a:r>
              <a:t>2. CP RO count - $196K a year. 430 fewer CP ROs than Jan–Sep 2025 x $342 a RO x 12/9.</a:t>
            </a:r>
          </a:p>
          <a:p/>
          <a:p>
            <a:r>
              <a:t>3. Alignment - $83K a year. Alignment 7.4% vs 15%: 700 more a year (Jan–Sep x 12/9) x $119 gross a service.</a:t>
            </a:r>
          </a:p>
          <a:p/>
          <a:p>
            <a:r>
              <a:t>4. Tire balance - $77K a year. Tire balance 1.0% vs 15%: 1,296 more a year (Jan–Sep x 12/9) x $59 gross a service.</a:t>
            </a:r>
          </a:p>
          <a:p/>
          <a:p>
            <a:r>
              <a:t>5. Fuel service - $64K a year. Fuel service 4.1% vs 7.5%: 308 more a year (Jan–Sep x 12/9) x $206 gross a service.</a:t>
            </a:r>
          </a:p>
          <a:p/>
          <a:p>
            <a:r>
              <a:t>6. Video completion - not priced. 41.9% vs the group's 57.8% on 3,129 CP &amp; W ROs Jul–Sep: 1,995 more a year (x 4). Not priced.</a:t>
            </a:r>
          </a:p>
          <a:p/>
          <a:p>
            <a:r>
              <a:t>7. Fixed gross/head - not priced. $11,957 a month (Jan–Sep gross ÷ 400 head-months, ADP) vs the non-luxury $12,714: 2.6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$524K a year. Store proficiency 96%. Each tech under 85% raised to 85% of their own clocked hours, valued at the store's labor + parts gross per flagged hour: $44K a month x 12.</a:t>
            </a:r>
          </a:p>
          <a:p/>
          <a:p>
            <a:r>
              <a:t>2. Parts gross - $383K a year. Parts gross $3,825,122 vs $4,112,388 Jan–Sep 2025, x 12/9. Overlaps CP parts GP.</a:t>
            </a:r>
          </a:p>
          <a:p/>
          <a:p>
            <a:r>
              <a:t>3. Service gross - $282K a year. Service gross $6,255,269 vs $6,466,581 Jan–Sep 2025, x 12/9. Overlaps the CP lines.</a:t>
            </a:r>
          </a:p>
          <a:p/>
          <a:p>
            <a:r>
              <a:t>4. CP RO count - $262K a year. 574 fewer CP ROs than Jan–Sep 2025 x $342 a RO x 12/9.</a:t>
            </a:r>
          </a:p>
          <a:p/>
          <a:p>
            <a:r>
              <a:t>5. Tire balance - $68K a year. Tire balance 10.2% vs 15%: 909 more a year (Jan–Sep x 12/9) x $75 gross a service.</a:t>
            </a:r>
          </a:p>
          <a:p/>
          <a:p>
            <a:r>
              <a:t>6. CP parts GP % - $13K a year. 40.2% vs the non-luxury 40.5% x $3.09M CP parts sale x 12/9.</a:t>
            </a:r>
          </a:p>
          <a:p/>
          <a:p>
            <a:r>
              <a:t>7. Fuel service - $10K a year. Fuel service 7.0% vs 7.5%: 78 more a year (Jan–Sep x 12/9) x $130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$691K a year. Store proficiency 98%. Each tech under 85% raised to 85% of their own clocked hours, valued at the store's labor + parts gross per flagged hour: $58K a month x 12.</a:t>
            </a:r>
          </a:p>
          <a:p/>
          <a:p>
            <a:r>
              <a:t>2. CP labor $ per RO - $212K a year. $222 vs the non-luxury $264: gap x 5,105 CP ROs x the store's 74.1% labor GP x 12/9. Overlaps hours per RO and ELR.</a:t>
            </a:r>
          </a:p>
          <a:p/>
          <a:p>
            <a:r>
              <a:t>3. CP hours per RO - $185K a year. 1.60 vs the non-luxury 1.75: gap x 5,105 CP ROs x $183 an hour x 12/9.</a:t>
            </a:r>
          </a:p>
          <a:p/>
          <a:p>
            <a:r>
              <a:t>4. CP parts GP % - $81K a year. 34.8% vs the non-luxury 40.5% x $1.06M CP parts sale x 12/9.</a:t>
            </a:r>
          </a:p>
          <a:p/>
          <a:p>
            <a:r>
              <a:t>5. CP ELR - $78K a year. Jul–Sep CP ELR $140 vs 70% of the $210 door rate = $147; gap x 2,722 CP hours x 4.</a:t>
            </a:r>
          </a:p>
          <a:p/>
          <a:p>
            <a:r>
              <a:t>6. CP labor GP % - $58K a year. 74.1% vs 78% (bottom of the 78-80% range) x $1.13M CP labor sale x 12/9.</a:t>
            </a:r>
          </a:p>
          <a:p/>
          <a:p>
            <a:r>
              <a:t>7. Alignment - $12K a year. Alignment 12.5% vs 15%: 165 more a year (Jan–Sep x 12/9) x $73 gross a service.</a:t>
            </a:r>
          </a:p>
          <a:p/>
          <a:p>
            <a:r>
              <a:t>8. Video completion - not priced. 54.2% vs the group's 57.8% on 2,709 CP &amp; W ROs Jul–Sep: 395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$265K a year. Store proficiency 109%. Each tech under 85% raised to 85% of their own clocked hours, valued at the store's labor + parts gross per flagged hour: $22K a month x 12.</a:t>
            </a:r>
          </a:p>
          <a:p/>
          <a:p>
            <a:r>
              <a:t>2. Tire balance - $125K a year. Tire balance 3.6% vs 15%: 837 more a year (Jan–Sep x 12/9) x $149 gross a service.</a:t>
            </a:r>
          </a:p>
          <a:p/>
          <a:p>
            <a:r>
              <a:t>3. CP labor GP % - $98K a year. 73.9% vs 78% (bottom of the 78-80% range) x $1.77M CP labor sale x 12/9.</a:t>
            </a:r>
          </a:p>
          <a:p/>
          <a:p>
            <a:r>
              <a:t>4. Alignment - $23K a year. Alignment 11.0% vs 15%: 291 more a year (Jan–Sep x 12/9) x $78 gross a service.</a:t>
            </a:r>
          </a:p>
          <a:p/>
          <a:p>
            <a:r>
              <a:t>5. MPI completion - not priced. 89.0% of 2,659 CP &amp; W ROs Jul–Sep vs 90%: 106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$1.26M a year. 1.41 vs the non-luxury 1.75: gap x 15,141 CP ROs x $183 an hour x 12/9.</a:t>
            </a:r>
          </a:p>
          <a:p/>
          <a:p>
            <a:r>
              <a:t>2. CP labor $ per RO - $1.01M a year. $201 vs the non-luxury $264: gap x 15,141 CP ROs x the store's 79.1% labor GP x 12/9. Overlaps hours per RO and ELR.</a:t>
            </a:r>
          </a:p>
          <a:p/>
          <a:p>
            <a:r>
              <a:t>3. Techs under 85% - $126K a year. Store proficiency 102%. Each tech under 85% raised to 85% of their own clocked hours, valued at the store's labor + parts gross per flagged hour: $10K a month x 12.</a:t>
            </a:r>
          </a:p>
          <a:p/>
          <a:p>
            <a:r>
              <a:t>4. Tire balance - $109K a year. Tire balance 4.9% vs 15%: 2,031 more a year (Jan–Sep x 12/9) x $54 gross a service.</a:t>
            </a:r>
          </a:p>
          <a:p/>
          <a:p>
            <a:r>
              <a:t>5. Fuel service - $109K a year. Fuel service 1.6% vs 7.5%: 1,173 more a year (Jan–Sep x 12/9) x $93 gross a service.</a:t>
            </a:r>
          </a:p>
          <a:p/>
          <a:p>
            <a:r>
              <a:t>6. CP parts GP % - $108K a year. 36.9% vs the non-luxury 40.5% x $2.25M CP parts sale x 12/9.</a:t>
            </a:r>
          </a:p>
          <a:p/>
          <a:p>
            <a:r>
              <a:t>7. Alignment - $90K a year. Alignment 9.7% vs 15%: 1,066 more a year (Jan–Sep x 12/9) x $84 gross a service.</a:t>
            </a:r>
          </a:p>
          <a:p/>
          <a:p>
            <a:r>
              <a:t>8. Brake fluid - $48K a year. Brake fluid 8.0% vs 10%: 389 more a year (Jan–Sep x 12/9) x $123 gross a service.</a:t>
            </a:r>
          </a:p>
          <a:p/>
          <a:p>
            <a:r>
              <a:t>9. Fixed gross/head - not priced. $10,794 a month (Jan–Sep gross ÷ 414 head-months, ADP) vs the non-luxury $12,714: 6.9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$3.55M a year. 1.47 vs the non-luxury 1.75: gap x 53,084 CP ROs x $183 an hour x 12/9.</a:t>
            </a:r>
          </a:p>
          <a:p/>
          <a:p>
            <a:r>
              <a:t>2. CP labor $ per RO - $2.07M a year. $227 vs the non-luxury $264: gap x 53,084 CP ROs x the store's 79.4% labor GP x 12/9. Overlaps hours per RO and ELR.</a:t>
            </a:r>
          </a:p>
          <a:p/>
          <a:p>
            <a:r>
              <a:t>3. Techs under 85% - $842K a year. Store proficiency 104%. Each tech under 85% raised to 85% of their own clocked hours, valued at the store's labor + parts gross per flagged hour: $70K a month x 12.</a:t>
            </a:r>
          </a:p>
          <a:p/>
          <a:p>
            <a:r>
              <a:t>4. Tire balance - $147K a year. Tire balance 11.2% vs 15%: 2,671 more a year (Jan–Sep x 12/9) x $55 gross a service.</a:t>
            </a:r>
          </a:p>
          <a:p/>
          <a:p>
            <a:r>
              <a:t>5. Fuel service - $129K a year. Fuel service 6.0% vs 7.5%: 1,056 more a year (Jan–Sep x 12/9) x $122 gross a service.</a:t>
            </a:r>
          </a:p>
          <a:p/>
          <a:p>
            <a:r>
              <a:t>6. Alignment - $33K a year. Alignment 14.5% vs 15%: 326 more a year (Jan–Sep x 12/9) x $102 gross a service.</a:t>
            </a:r>
          </a:p>
          <a:p/>
          <a:p>
            <a:r>
              <a:t>7. CP parts GP % - $27K a year. 40.2% vs the non-luxury 40.5% x $8.12M CP parts sale x 12/9.</a:t>
            </a:r>
          </a:p>
          <a:p/>
          <a:p>
            <a:r>
              <a:t>8. Video completion - not priced. 31.7% vs the group's 57.8% on 20,413 CP &amp; W ROs Jul–Sep: 21,344 more a year (x 4). Not priced.</a:t>
            </a:r>
          </a:p>
          <a:p/>
          <a:p>
            <a:r>
              <a:t>9. MPI completion - not priced. 76.1% of 20,413 CP &amp; W ROs Jul–Sep vs 90%: 11,350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$1.19M a year. 1.38 vs the non-luxury 1.75: gap x 13,490 CP ROs x $183 an hour x 12/9.</a:t>
            </a:r>
          </a:p>
          <a:p/>
          <a:p>
            <a:r>
              <a:t>2. Techs under 85% - $927K a year. Store proficiency 83%. Each tech under 85% raised to 85% of their own clocked hours, valued at the store's labor + parts gross per flagged hour: $77K a month x 12.</a:t>
            </a:r>
          </a:p>
          <a:p/>
          <a:p>
            <a:r>
              <a:t>3. CP labor $ per RO - $617K a year. $220 vs the non-luxury $264: gap x 13,490 CP ROs x the store's 78.5% labor GP x 12/9. Overlaps hours per RO and ELR.</a:t>
            </a:r>
          </a:p>
          <a:p/>
          <a:p>
            <a:r>
              <a:t>4. Tire balance - $132K a year. Tire balance 6.1% vs 15%: 1,590 more a year (Jan–Sep x 12/9) x $83 gross a service.</a:t>
            </a:r>
          </a:p>
          <a:p/>
          <a:p>
            <a:r>
              <a:t>5. Alignment - $49K a year. Alignment 12.3% vs 15%: 478 more a year (Jan–Sep x 12/9) x $103 gross a service.</a:t>
            </a:r>
          </a:p>
          <a:p/>
          <a:p>
            <a:r>
              <a:t>6. Parts gross - $44K a year. Parts gross $1,447,980 vs $1,481,187 Jan–Sep 2025, x 12/9. Overlaps CP parts GP.</a:t>
            </a:r>
          </a:p>
          <a:p/>
          <a:p>
            <a:r>
              <a:t>7. CP RO count - $36K a year. 80 fewer CP ROs than Jan–Sep 2025 x $342 a RO x 12/9.</a:t>
            </a:r>
          </a:p>
          <a:p/>
          <a:p>
            <a:r>
              <a:t>8. Brake fluid - $32K a year. Brake fluid 8.4% vs 10%: 287 more a year (Jan–Sep x 12/9) x $112 gross a service.</a:t>
            </a:r>
          </a:p>
          <a:p/>
          <a:p>
            <a:r>
              <a:t>9. Fuel service - $19K a year. Fuel service 6.4% vs 7.5%: 186 more a year (Jan–Sep x 12/9) x $101 gross a service.</a:t>
            </a:r>
          </a:p>
          <a:p/>
          <a:p>
            <a:r>
              <a:t>10. Fixed gross/head - not priced. $11,044 a month (Jan–Sep gross ÷ 460 head-months, ADP) vs the non-luxury $12,714: 6.7 heads over. Counted, not priced: no store personnel cost in the data.</a:t>
            </a:r>
          </a:p>
          <a:p/>
          <a:p>
            <a:r>
              <a:t>11. MPI completion - not priced. 81.5% of 5,128 CP &amp; W ROs Jul–Sep vs 90%: 1,744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$1.35M a year. $187 vs the non-luxury $264: gap x 17,376 CP ROs x the store's 75.7% labor GP x 12/9. Overlaps hours per RO and ELR.</a:t>
            </a:r>
          </a:p>
          <a:p/>
          <a:p>
            <a:r>
              <a:t>2. CP hours per RO - $1.12M a year. 1.48 vs the non-luxury 1.75: gap x 17,376 CP ROs x $183 an hour x 12/9.</a:t>
            </a:r>
          </a:p>
          <a:p/>
          <a:p>
            <a:r>
              <a:t>3. Alignment - $225K a year. Alignment 4.2% vs 15%: 2,490 more a year (Jan–Sep x 12/9) x $90 gross a service.</a:t>
            </a:r>
          </a:p>
          <a:p/>
          <a:p>
            <a:r>
              <a:t>4. Tire balance - $180K a year. Tire balance 0.4% vs 15%: 3,361 more a year (Jan–Sep x 12/9) x $53 gross a service.</a:t>
            </a:r>
          </a:p>
          <a:p/>
          <a:p>
            <a:r>
              <a:t>5. CP ELR - $157K a year. Jul–Sep CP ELR $125 vs 70% of the $185 door rate = $130; gap x 8,601 CP hours x 4.</a:t>
            </a:r>
          </a:p>
          <a:p/>
          <a:p>
            <a:r>
              <a:t>6. Techs under 85% - $136K a year. Store proficiency 108%. Each tech under 85% raised to 85% of their own clocked hours, valued at the store's labor + parts gross per flagged hour: $11K a month x 12.</a:t>
            </a:r>
          </a:p>
          <a:p/>
          <a:p>
            <a:r>
              <a:t>7. CP labor GP % - $102K a year. 75.7% vs 78% (bottom of the 78-80% range) x $3.25M CP labor sale x 12/9.</a:t>
            </a:r>
          </a:p>
          <a:p/>
          <a:p>
            <a:r>
              <a:t>8. Brake fluid - $80K a year. Brake fluid 7.0% vs 10%: 683 more a year (Jan–Sep x 12/9) x $117 gross a service.</a:t>
            </a:r>
          </a:p>
          <a:p/>
          <a:p>
            <a:r>
              <a:t>9. Parts gross - $76K a year. Parts gross $2,250,197 vs $2,307,440 Jan–Sep 2025, x 12/9. Overlaps CP parts GP.</a:t>
            </a:r>
          </a:p>
          <a:p/>
          <a:p>
            <a:r>
              <a:t>10. Fuel service - $56K a year. Fuel service 5.8% vs 7.5%: 387 more a year (Jan–Sep x 12/9) x $145 gross a service.</a:t>
            </a:r>
          </a:p>
          <a:p/>
          <a:p>
            <a:r>
              <a:t>11. Fixed gross/head - not priced. $11,128 a month (Jan–Sep gross ÷ 533 head-months, ADP) vs the non-luxury $12,714: 7.4 heads over. Counted, not priced: no store personnel cost in the data.</a:t>
            </a:r>
          </a:p>
          <a:p/>
          <a:p>
            <a:r>
              <a:t>12. MPI completion - not priced. 81.3% of 6,415 CP &amp; W ROs Jul–Sep vs 90%: 2,232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$743K a year. Store proficiency 72%. Each tech under 85% raised to 85% of their own clocked hours, valued at the store's labor + parts gross per flagged hour: $62K a month x 12.</a:t>
            </a:r>
          </a:p>
          <a:p/>
          <a:p>
            <a:r>
              <a:t>2. CP hours per RO - $517K a year. 2.28 vs the luxury 2.90: gap x 3,402 CP ROs x $183 an hour x 12/9.</a:t>
            </a:r>
          </a:p>
          <a:p/>
          <a:p>
            <a:r>
              <a:t>3. CP labor $ per RO - $505K a year. $506 vs the luxury $632: gap x 3,402 CP ROs x the store's 88.6% labor GP x 12/9. Overlaps hours per RO and ELR.</a:t>
            </a:r>
          </a:p>
          <a:p/>
          <a:p>
            <a:r>
              <a:t>4. Parts gross - $67K a year. Parts gross $1,492,527 vs $1,542,570 Jan–Sep 2025, x 12/9. Overlaps CP parts GP.</a:t>
            </a:r>
          </a:p>
          <a:p/>
          <a:p>
            <a:r>
              <a:t>5. Video completion - not priced. 52.5% vs the group's 57.8% on 1,711 CP &amp; W ROs Jul–Sep: 366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$730K a year. Service gross $3,502,514 vs $4,049,724 Jan–Sep 2025, x 12/9. Overlaps the CP lines.</a:t>
            </a:r>
          </a:p>
          <a:p/>
          <a:p>
            <a:r>
              <a:t>2. Techs under 85% - $295K a year. Store proficiency 92%. Each tech under 85% raised to 85% of their own clocked hours, valued at the store's labor + parts gross per flagged hour: $25K a month x 12.</a:t>
            </a:r>
          </a:p>
          <a:p/>
          <a:p>
            <a:r>
              <a:t>3. Parts gross - $285K a year. Parts gross $1,287,787 vs $1,501,770 Jan–Sep 2025, x 12/9. Overlaps CP parts GP.</a:t>
            </a:r>
          </a:p>
          <a:p/>
          <a:p>
            <a:r>
              <a:t>4. CP parts GP % - $69K a year. 36.9% vs the non-luxury 40.5% x $1.45M CP parts sale x 12/9.</a:t>
            </a:r>
          </a:p>
          <a:p/>
          <a:p>
            <a:r>
              <a:t>5. Tire balance - $27K a year. Tire balance 8.2% vs 15%: 460 more a year (Jan–Sep x 12/9) x $60 gross a service.</a:t>
            </a:r>
          </a:p>
          <a:p/>
          <a:p>
            <a:r>
              <a:t>6. Alignment - $23K a year. Alignment 13.6% vs 15%: 96 more a year (Jan–Sep x 12/9) x $245 gross a service.</a:t>
            </a:r>
          </a:p>
          <a:p/>
          <a:p>
            <a:r>
              <a:t>7. Fixed gross/head - not priced. $12,006 a month (Jan–Sep gross ÷ 399 head-months, ADP) vs the non-luxury $12,714: 2.5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$248K a year. Store proficiency 70%. Each tech under 85% raised to 85% of their own clocked hours, valued at the store's labor + parts gross per flagged hour: $21K a month x 12.</a:t>
            </a:r>
          </a:p>
          <a:p/>
          <a:p>
            <a:r>
              <a:t>2. Service gross - $180K a year. Service gross $588,480 vs $723,516 Jan–Sep 2025, x 12/9. Overlaps the CP lines.</a:t>
            </a:r>
          </a:p>
          <a:p/>
          <a:p>
            <a:r>
              <a:t>3. CP RO count - $151K a year. 332 fewer CP ROs than Jan–Sep 2025 x $342 a RO x 12/9.</a:t>
            </a:r>
          </a:p>
          <a:p/>
          <a:p>
            <a:r>
              <a:t>4. CP labor $ per RO - $68K a year. $231 vs the non-luxury $264: gap x 1,919 CP ROs x the store's 79.4% labor GP x 12/9. Overlaps hours per RO and ELR.</a:t>
            </a:r>
          </a:p>
          <a:p/>
          <a:p>
            <a:r>
              <a:t>5. Parts gross - $37K a year. Parts gross $379,537 vs $407,348 Jan–Sep 2025, x 12/9. Overlaps CP parts GP.</a:t>
            </a:r>
          </a:p>
          <a:p/>
          <a:p>
            <a:r>
              <a:t>6. Fuel service - $29K a year. Fuel service 2.7% vs 7.5%: 123 more a year (Jan–Sep x 12/9) x $236 gross a service.</a:t>
            </a:r>
          </a:p>
          <a:p/>
          <a:p>
            <a:r>
              <a:t>7. Tire balance - $28K a year. Tire balance 0.4% vs 15%: 373 more a year (Jan–Sep x 12/9) x $75 gross a service.</a:t>
            </a:r>
          </a:p>
          <a:p/>
          <a:p>
            <a:r>
              <a:t>8. CP hours per RO - $18K a year. 1.71 vs the non-luxury 1.75: gap x 1,919 CP ROs x $183 an hour x 12/9.</a:t>
            </a:r>
          </a:p>
          <a:p/>
          <a:p>
            <a:r>
              <a:t>9. Alignment - $18K a year. Alignment 5.6% vs 15%: 240 more a year (Jan–Sep x 12/9) x $74 gross a service.</a:t>
            </a:r>
          </a:p>
          <a:p/>
          <a:p>
            <a:r>
              <a:t>10. Brake fluid - $13K a year. Brake fluid 5.4% vs 10%: 117 more a year (Jan–Sep x 12/9) x $111 gross a service.</a:t>
            </a:r>
          </a:p>
          <a:p/>
          <a:p>
            <a:r>
              <a:t>11. MPI completion - not priced. 45.7% of 978 CP &amp; W ROs Jul–Sep vs 90%: 1,733 more a year (x 4). Not priced.</a:t>
            </a:r>
          </a:p>
          <a:p/>
          <a:p>
            <a:r>
              <a:t>12. Fixed gross/head - not priced. $9,878 a month (Jan–Sep gross ÷ 98 head-months, ADP) vs the non-luxury $12,714: 2.4 heads over. Counted, not priced: no store personnel cost in the data.</a:t>
            </a:r>
          </a:p>
          <a:p/>
          <a:p>
            <a:r>
              <a:t>13. Video completion - not priced. 48.5% vs the group's 57.8% on 978 CP &amp; W ROs Jul–Sep: 365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$224 to $298,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Audi Henderson went 21.1% to 31.7%, stepping up in May.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10.1% to 19.3%,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5.2% to 14.1%,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2.5% to 10.7%,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makes three of six lists; three stores make two.Source: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and Kia St George each make three of six lists.Source: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has 6 top-3 finishes of 12. 8 stores make a top-3 list in both periods.Source: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Kia LV leads Jan–Sep; LR Reno leads the last 90 days.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Hyundai St George leads both periods. Hyundai St George and Kia St George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Honda Spokane leads Jan–Sep; Lincoln leads the last 90 days. Five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leads both periods. Acura and Subaru Prescott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are reviewed at the next meeting (Noah, Oct 27): keep a list of what each store names.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1969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54907"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7588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86722"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60690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486134"/>
            <a:ext cx="529462"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77227"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4008956"/>
            <a:ext cx="42403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42149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531777"/>
            <a:ext cx="31069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308094"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5054599"/>
            <a:ext cx="27993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273031"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577420"/>
            <a:ext cx="272418"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838831"/>
            <a:ext cx="261785"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25469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7669"/>
            <a:ext cx="230085"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79080"/>
            <a:ext cx="210561"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186954"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701901"/>
            <a:ext cx="16468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963312"/>
            <a:ext cx="163331"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15818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486134"/>
            <a:ext cx="1172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11120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4008956"/>
            <a:ext cx="99951"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270366"/>
            <a:ext cx="3002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2519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22055"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5054599"/>
            <a:ext cx="1856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316010"/>
            <a:ext cx="18288"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18288"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31883"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fixed ops net profit, January through September year to date.</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Shape 31"/>
          <p:cNvSpPr/>
          <p:nvPr/>
        </p:nvSpPr>
        <p:spPr>
          <a:xfrm>
            <a:off x="7775448" y="2139696"/>
            <a:ext cx="64008" cy="755294"/>
          </a:xfrm>
          <a:prstGeom prst="rect">
            <a:avLst/>
          </a:prstGeom>
          <a:solidFill>
            <a:srgbClr val="2587C5"/>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2587C5"/>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8" name="Text 66"/>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9" name="Text 67"/>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70" name="Text 68"/>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71" name="Shape 69"/>
          <p:cNvSpPr/>
          <p:nvPr/>
        </p:nvSpPr>
        <p:spPr>
          <a:xfrm>
            <a:off x="8040624" y="5416906"/>
            <a:ext cx="3489960" cy="828446"/>
          </a:xfrm>
          <a:prstGeom prst="rect">
            <a:avLst/>
          </a:prstGeom>
          <a:solidFill>
            <a:srgbClr val="F7F7F7"/>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ALL-TIME RECORD MONTHS</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 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WHO SET A RECORD AND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71856"/>
          </a:xfrm>
          <a:prstGeom prst="rect">
            <a:avLst/>
          </a:prstGeom>
          <a:solidFill>
            <a:srgbClr val="E6F6EE"/>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Jul alone brought 11 combined store records.</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7" name="Shape 174"/>
          <p:cNvSpPr/>
          <p:nvPr/>
        </p:nvSpPr>
        <p:spPr>
          <a:xfrm>
            <a:off x="457200" y="6126480"/>
            <a:ext cx="11274552" cy="371856"/>
          </a:xfrm>
          <a:prstGeom prst="rect">
            <a:avLst/>
          </a:prstGeom>
          <a:solidFill>
            <a:srgbClr val="E6F6EE"/>
          </a:solidFill>
          <a:ln/>
        </p:spPr>
      </p:sp>
      <p:sp>
        <p:nvSpPr>
          <p:cNvPr id="178"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77.9%</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77.9% absorption, up 2.1 pts. Fixed gross grew 4.1%; fixed expenses 1.4%.</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75.8%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77.9%, ahead of 2025 in six of nine months. Fixed gross grew 4.1%; fixed expenses 1.4%.</a:t>
            </a:r>
            <a:endParaRPr lang="en-US" sz="15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77.9%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1007915"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9751"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5" name="Shape 83"/>
          <p:cNvSpPr/>
          <p:nvPr/>
        </p:nvSpPr>
        <p:spPr>
          <a:xfrm>
            <a:off x="8558784" y="2146957"/>
            <a:ext cx="95643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89755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903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58784" y="2866644"/>
            <a:ext cx="88351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1" name="Shape 99"/>
          <p:cNvSpPr/>
          <p:nvPr/>
        </p:nvSpPr>
        <p:spPr>
          <a:xfrm>
            <a:off x="8558784" y="3106540"/>
            <a:ext cx="86012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58784" y="3346435"/>
            <a:ext cx="79139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7743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8558784" y="3826226"/>
            <a:ext cx="743729"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7" name="Shape 115"/>
          <p:cNvSpPr/>
          <p:nvPr/>
        </p:nvSpPr>
        <p:spPr>
          <a:xfrm>
            <a:off x="8558784" y="4066122"/>
            <a:ext cx="730224"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58784" y="4306017"/>
            <a:ext cx="69829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59032" y="1847088"/>
            <a:ext cx="14630" cy="4078224"/>
          </a:xfrm>
          <a:prstGeom prst="rect">
            <a:avLst/>
          </a:prstGeom>
          <a:solidFill>
            <a:srgbClr val="0B2C4A"/>
          </a:solidFill>
          <a:ln/>
        </p:spPr>
      </p:sp>
      <p:sp>
        <p:nvSpPr>
          <p:cNvPr id="144" name="Shape 142"/>
          <p:cNvSpPr/>
          <p:nvPr/>
        </p:nvSpPr>
        <p:spPr>
          <a:xfrm>
            <a:off x="96094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77.9% group.</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917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88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43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5014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567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3674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3227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227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8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33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1887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441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67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5" name="Shape 63"/>
          <p:cNvSpPr/>
          <p:nvPr/>
        </p:nvSpPr>
        <p:spPr>
          <a:xfrm>
            <a:off x="3785616" y="5030502"/>
            <a:ext cx="1742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17420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740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29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67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593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47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6801"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40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9331557"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331557"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7090"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6888" y="4070920"/>
            <a:ext cx="491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888" y="4310815"/>
            <a:ext cx="49136"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3285" y="4550711"/>
            <a:ext cx="10273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543" y="4790606"/>
            <a:ext cx="2724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2735" y="5030502"/>
            <a:ext cx="433289"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867" y="5270397"/>
            <a:ext cx="45115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Shape 33"/>
          <p:cNvSpPr/>
          <p:nvPr/>
        </p:nvSpPr>
        <p:spPr>
          <a:xfrm>
            <a:off x="7775448" y="2968142"/>
            <a:ext cx="64008" cy="755294"/>
          </a:xfrm>
          <a:prstGeom prst="rect">
            <a:avLst/>
          </a:prstGeom>
          <a:solidFill>
            <a:srgbClr val="2587C5"/>
          </a:solidFill>
          <a:ln/>
        </p:spPr>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2587C5"/>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02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34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785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609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2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36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7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16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84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20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36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904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40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9512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7" name="Shape 75"/>
          <p:cNvSpPr/>
          <p:nvPr/>
        </p:nvSpPr>
        <p:spPr>
          <a:xfrm>
            <a:off x="3785616" y="5750188"/>
            <a:ext cx="951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48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816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5683"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104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552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74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222" y="3831024"/>
            <a:ext cx="34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2661" y="4070920"/>
            <a:ext cx="53363"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1780" y="4310815"/>
            <a:ext cx="7424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3219" y="4550711"/>
            <a:ext cx="928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7698" y="4790606"/>
            <a:ext cx="1183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41134" y="5030502"/>
            <a:ext cx="1948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3131" y="5270397"/>
            <a:ext cx="2528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4232" y="5510293"/>
            <a:ext cx="621792"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Shape 17"/>
          <p:cNvSpPr/>
          <p:nvPr/>
        </p:nvSpPr>
        <p:spPr>
          <a:xfrm>
            <a:off x="4084320" y="3796589"/>
            <a:ext cx="64008" cy="755294"/>
          </a:xfrm>
          <a:prstGeom prst="rect">
            <a:avLst/>
          </a:prstGeom>
          <a:solidFill>
            <a:srgbClr val="12A566"/>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Shape 39"/>
          <p:cNvSpPr/>
          <p:nvPr/>
        </p:nvSpPr>
        <p:spPr>
          <a:xfrm>
            <a:off x="7775448" y="3796589"/>
            <a:ext cx="64008" cy="755294"/>
          </a:xfrm>
          <a:prstGeom prst="rect">
            <a:avLst/>
          </a:prstGeom>
          <a:solidFill>
            <a:srgbClr val="2587C5"/>
          </a:solidFill>
          <a:ln/>
        </p:spPr>
      </p:sp>
      <p:sp>
        <p:nvSpPr>
          <p:cNvPr id="42" name="Text 40"/>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3" name="Text 41"/>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4" name="Text 42"/>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5" name="Text 43"/>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6" name="Text 44"/>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7" name="Text 45"/>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−5.1 pts</a:t>
            </a:r>
            <a:endParaRPr lang="en-US" sz="1600" dirty="0"/>
          </a:p>
        </p:txBody>
      </p:sp>
      <p:sp>
        <p:nvSpPr>
          <p:cNvPr id="48" name="Shape 46"/>
          <p:cNvSpPr/>
          <p:nvPr/>
        </p:nvSpPr>
        <p:spPr>
          <a:xfrm>
            <a:off x="4349496" y="5416906"/>
            <a:ext cx="3489960" cy="828446"/>
          </a:xfrm>
          <a:prstGeom prst="rect">
            <a:avLst/>
          </a:prstGeom>
          <a:solidFill>
            <a:srgbClr val="F7F7F7"/>
          </a:solidFill>
          <a:ln/>
        </p:spPr>
      </p:sp>
      <p:sp>
        <p:nvSpPr>
          <p:cNvPr id="49" name="Text 47"/>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0" name="Text 48"/>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1" name="Text 49"/>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2" name="Shape 50"/>
          <p:cNvSpPr/>
          <p:nvPr/>
        </p:nvSpPr>
        <p:spPr>
          <a:xfrm>
            <a:off x="8040624" y="1371600"/>
            <a:ext cx="3489960" cy="45720"/>
          </a:xfrm>
          <a:prstGeom prst="rect">
            <a:avLst/>
          </a:prstGeom>
          <a:solidFill>
            <a:srgbClr val="2587C5"/>
          </a:solidFill>
          <a:ln/>
        </p:spPr>
      </p:sp>
      <p:sp>
        <p:nvSpPr>
          <p:cNvPr id="53" name="Text 51"/>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4" name="Text 52"/>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5" name="Shape 53"/>
          <p:cNvSpPr/>
          <p:nvPr/>
        </p:nvSpPr>
        <p:spPr>
          <a:xfrm>
            <a:off x="8040624" y="2103120"/>
            <a:ext cx="3489960" cy="828446"/>
          </a:xfrm>
          <a:prstGeom prst="rect">
            <a:avLst/>
          </a:prstGeom>
          <a:solidFill>
            <a:srgbClr val="F7F7F7"/>
          </a:solidFill>
          <a:ln/>
        </p:spPr>
      </p:sp>
      <p:sp>
        <p:nvSpPr>
          <p:cNvPr id="56" name="Shape 54"/>
          <p:cNvSpPr/>
          <p:nvPr/>
        </p:nvSpPr>
        <p:spPr>
          <a:xfrm>
            <a:off x="11466576" y="2139696"/>
            <a:ext cx="64008" cy="755294"/>
          </a:xfrm>
          <a:prstGeom prst="rect">
            <a:avLst/>
          </a:prstGeom>
          <a:solidFill>
            <a:srgbClr val="12A566"/>
          </a:solidFill>
          <a:ln/>
        </p:spPr>
      </p:sp>
      <p:sp>
        <p:nvSpPr>
          <p:cNvPr id="57" name="Text 55"/>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8" name="Text 56"/>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9" name="Text 57"/>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+23.7 pts</a:t>
            </a:r>
            <a:endParaRPr lang="en-US" sz="1600" dirty="0"/>
          </a:p>
        </p:txBody>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12A566"/>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 pts</a:t>
            </a:r>
            <a:endParaRPr lang="en-US" sz="1600" dirty="0"/>
          </a:p>
        </p:txBody>
      </p:sp>
      <p:sp>
        <p:nvSpPr>
          <p:cNvPr id="68" name="Shape 66"/>
          <p:cNvSpPr/>
          <p:nvPr/>
        </p:nvSpPr>
        <p:spPr>
          <a:xfrm>
            <a:off x="11466576" y="4625035"/>
            <a:ext cx="64008" cy="755294"/>
          </a:xfrm>
          <a:prstGeom prst="rect">
            <a:avLst/>
          </a:prstGeom>
          <a:solidFill>
            <a:srgbClr val="2587C5"/>
          </a:solidFill>
          <a:ln/>
        </p:spPr>
      </p:sp>
      <p:sp>
        <p:nvSpPr>
          <p:cNvPr id="69" name="Text 6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0" name="Text 6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71" name="Text 69"/>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2" name="Shape 70"/>
          <p:cNvSpPr/>
          <p:nvPr/>
        </p:nvSpPr>
        <p:spPr>
          <a:xfrm>
            <a:off x="8040624" y="5416906"/>
            <a:ext cx="3489960" cy="828446"/>
          </a:xfrm>
          <a:prstGeom prst="rect">
            <a:avLst/>
          </a:prstGeom>
          <a:solidFill>
            <a:srgbClr val="F7F7F7"/>
          </a:solidFill>
          <a:ln/>
        </p:spPr>
      </p:sp>
      <p:sp>
        <p:nvSpPr>
          <p:cNvPr id="73" name="Shape 71"/>
          <p:cNvSpPr/>
          <p:nvPr/>
        </p:nvSpPr>
        <p:spPr>
          <a:xfrm>
            <a:off x="11466576" y="5453482"/>
            <a:ext cx="64008" cy="755294"/>
          </a:xfrm>
          <a:prstGeom prst="rect">
            <a:avLst/>
          </a:prstGeom>
          <a:solidFill>
            <a:srgbClr val="12A566"/>
          </a:solidFill>
          <a:ln/>
        </p:spPr>
      </p:sp>
      <p:sp>
        <p:nvSpPr>
          <p:cNvPr id="74" name="Text 7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5" name="Text 7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6" name="Text 74"/>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703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856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051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86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4832"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8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841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630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51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696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41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4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210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7115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780142"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5815" y="1911860"/>
            <a:ext cx="60209"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4868" y="2151755"/>
            <a:ext cx="71156"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765" y="2391651"/>
            <a:ext cx="15325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49924" y="2631546"/>
            <a:ext cx="18610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97" name="Shape 95"/>
          <p:cNvSpPr/>
          <p:nvPr/>
        </p:nvSpPr>
        <p:spPr>
          <a:xfrm>
            <a:off x="9106136" y="2871442"/>
            <a:ext cx="22988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1" name="Shape 99"/>
          <p:cNvSpPr/>
          <p:nvPr/>
        </p:nvSpPr>
        <p:spPr>
          <a:xfrm>
            <a:off x="9106136" y="3111337"/>
            <a:ext cx="2298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3295" y="3351233"/>
            <a:ext cx="26272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40454" y="3591128"/>
            <a:ext cx="29557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4980" y="3831024"/>
            <a:ext cx="30104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60" y="4070920"/>
            <a:ext cx="317464"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825" y="4310815"/>
            <a:ext cx="3721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1722" y="4550711"/>
            <a:ext cx="4543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4145" y="4790606"/>
            <a:ext cx="5418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2990" y="5030502"/>
            <a:ext cx="61303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0149" y="5270397"/>
            <a:ext cx="6458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1834" y="5510293"/>
            <a:ext cx="68419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Shape 37"/>
          <p:cNvSpPr/>
          <p:nvPr/>
        </p:nvSpPr>
        <p:spPr>
          <a:xfrm>
            <a:off x="7775448" y="3796589"/>
            <a:ext cx="64008" cy="755294"/>
          </a:xfrm>
          <a:prstGeom prst="rect">
            <a:avLst/>
          </a:prstGeom>
          <a:solidFill>
            <a:srgbClr val="2587C5"/>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Shape 45"/>
          <p:cNvSpPr/>
          <p:nvPr/>
        </p:nvSpPr>
        <p:spPr>
          <a:xfrm>
            <a:off x="7775448" y="5453482"/>
            <a:ext cx="64008" cy="755294"/>
          </a:xfrm>
          <a:prstGeom prst="rect">
            <a:avLst/>
          </a:prstGeom>
          <a:solidFill>
            <a:srgbClr val="2587C5"/>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8" name="Shape 56"/>
          <p:cNvSpPr/>
          <p:nvPr/>
        </p:nvSpPr>
        <p:spPr>
          <a:xfrm>
            <a:off x="11466576" y="2968142"/>
            <a:ext cx="64008" cy="755294"/>
          </a:xfrm>
          <a:prstGeom prst="rect">
            <a:avLst/>
          </a:prstGeom>
          <a:solidFill>
            <a:srgbClr val="2587C5"/>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2587C5"/>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$6.6M a year in gross.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11125"/>
          </a:xfrm>
          <a:prstGeom prst="rect">
            <a:avLst/>
          </a:prstGeom>
          <a:solidFill>
            <a:srgbClr val="2587C5"/>
          </a:solidFill>
          <a:ln/>
        </p:spPr>
      </p:sp>
      <p:sp>
        <p:nvSpPr>
          <p:cNvPr id="14" name="Text 12"/>
          <p:cNvSpPr txBox="1"/>
          <p:nvPr/>
        </p:nvSpPr>
        <p:spPr>
          <a:xfrm>
            <a:off x="5266944"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11125"/>
          </a:xfrm>
          <a:prstGeom prst="rect">
            <a:avLst/>
          </a:prstGeom>
          <a:solidFill>
            <a:srgbClr val="2587C5"/>
          </a:solidFill>
          <a:ln/>
        </p:spPr>
      </p:sp>
      <p:sp>
        <p:nvSpPr>
          <p:cNvPr id="16" name="Text 14"/>
          <p:cNvSpPr txBox="1"/>
          <p:nvPr/>
        </p:nvSpPr>
        <p:spPr>
          <a:xfrm>
            <a:off x="8522208"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4637"/>
            <a:ext cx="45720" cy="1268423"/>
          </a:xfrm>
          <a:prstGeom prst="rect">
            <a:avLst/>
          </a:prstGeom>
          <a:solidFill>
            <a:srgbClr val="2587C5"/>
          </a:solidFill>
          <a:ln/>
        </p:spPr>
      </p:sp>
      <p:sp>
        <p:nvSpPr>
          <p:cNvPr id="18" name="Text 16"/>
          <p:cNvSpPr txBox="1"/>
          <p:nvPr/>
        </p:nvSpPr>
        <p:spPr>
          <a:xfrm>
            <a:off x="5266944"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864637"/>
            <a:ext cx="45720" cy="1268423"/>
          </a:xfrm>
          <a:prstGeom prst="rect">
            <a:avLst/>
          </a:prstGeom>
          <a:solidFill>
            <a:srgbClr val="2587C5"/>
          </a:solidFill>
          <a:ln/>
        </p:spPr>
      </p:sp>
      <p:sp>
        <p:nvSpPr>
          <p:cNvPr id="20" name="Text 18"/>
          <p:cNvSpPr txBox="1"/>
          <p:nvPr/>
        </p:nvSpPr>
        <p:spPr>
          <a:xfrm>
            <a:off x="8522208"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5242787"/>
            <a:ext cx="45720" cy="911125"/>
          </a:xfrm>
          <a:prstGeom prst="rect">
            <a:avLst/>
          </a:prstGeom>
          <a:solidFill>
            <a:srgbClr val="2587C5"/>
          </a:solidFill>
          <a:ln/>
        </p:spPr>
      </p:sp>
      <p:sp>
        <p:nvSpPr>
          <p:cNvPr id="22" name="Text 20"/>
          <p:cNvSpPr txBox="1"/>
          <p:nvPr/>
        </p:nvSpPr>
        <p:spPr>
          <a:xfrm>
            <a:off x="5266944"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5242787"/>
            <a:ext cx="45720" cy="911125"/>
          </a:xfrm>
          <a:prstGeom prst="rect">
            <a:avLst/>
          </a:prstGeom>
          <a:solidFill>
            <a:srgbClr val="2587C5"/>
          </a:solidFill>
          <a:ln/>
        </p:spPr>
      </p:sp>
      <p:sp>
        <p:nvSpPr>
          <p:cNvPr id="24" name="Text 22"/>
          <p:cNvSpPr txBox="1"/>
          <p:nvPr/>
        </p:nvSpPr>
        <p:spPr>
          <a:xfrm>
            <a:off x="8522208"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37,301 hours a year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each store's gross per hour  </a:t>
            </a:r>
            <a:pPr algn="ctr" indent="0" marL="0">
              <a:buNone/>
            </a:pPr>
            <a:r>
              <a:rPr lang="en-US" sz="1400" b="1" dirty="0">
                <a:solidFill>
                  <a:srgbClr val="0B2C4A"/>
                </a:solidFill>
                <a:latin typeface="Inter" pitchFamily="34" charset="0"/>
                <a:ea typeface="Inter" pitchFamily="34" charset="-122"/>
                <a:cs typeface="Inter" pitchFamily="34" charset="-120"/>
              </a:rPr>
              <a:t>= $6.6M a year</a:t>
            </a:r>
            <a:endParaRPr lang="en-US" sz="1400" dirty="0"/>
          </a:p>
        </p:txBody>
      </p:sp>
      <p:sp>
        <p:nvSpPr>
          <p:cNvPr id="13" name="Shape 11"/>
          <p:cNvSpPr/>
          <p:nvPr/>
        </p:nvSpPr>
        <p:spPr>
          <a:xfrm>
            <a:off x="457200" y="2907792"/>
            <a:ext cx="4343400" cy="3447288"/>
          </a:xfrm>
          <a:prstGeom prst="rect">
            <a:avLst/>
          </a:prstGeom>
          <a:solidFill>
            <a:srgbClr val="FFFFFF"/>
          </a:solidFill>
          <a:ln/>
        </p:spPr>
      </p:sp>
      <p:sp>
        <p:nvSpPr>
          <p:cNvPr id="14" name="Shape 12"/>
          <p:cNvSpPr/>
          <p:nvPr/>
        </p:nvSpPr>
        <p:spPr>
          <a:xfrm>
            <a:off x="4937760" y="2907792"/>
            <a:ext cx="6793992" cy="344728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807208"/>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cannot be manipulated: it is the work we sell.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Selling more hours also sells parts.</a:t>
            </a:r>
            <a:endParaRPr lang="en-US" sz="1600" dirty="0"/>
          </a:p>
        </p:txBody>
      </p:sp>
      <p:sp>
        <p:nvSpPr>
          <p:cNvPr id="18" name="Shape 16"/>
          <p:cNvSpPr/>
          <p:nvPr/>
        </p:nvSpPr>
        <p:spPr>
          <a:xfrm>
            <a:off x="5138928" y="3410712"/>
            <a:ext cx="45720" cy="841248"/>
          </a:xfrm>
          <a:prstGeom prst="rect">
            <a:avLst/>
          </a:prstGeom>
          <a:solidFill>
            <a:srgbClr val="2587C5"/>
          </a:solidFill>
          <a:ln/>
        </p:spPr>
      </p:sp>
      <p:sp>
        <p:nvSpPr>
          <p:cNvPr id="19" name="Text 17"/>
          <p:cNvSpPr txBox="1"/>
          <p:nvPr/>
        </p:nvSpPr>
        <p:spPr>
          <a:xfrm>
            <a:off x="5266944"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8394192" y="3410712"/>
            <a:ext cx="45720" cy="841248"/>
          </a:xfrm>
          <a:prstGeom prst="rect">
            <a:avLst/>
          </a:prstGeom>
          <a:solidFill>
            <a:srgbClr val="2587C5"/>
          </a:solidFill>
          <a:ln/>
        </p:spPr>
      </p:sp>
      <p:sp>
        <p:nvSpPr>
          <p:cNvPr id="21" name="Text 19"/>
          <p:cNvSpPr txBox="1"/>
          <p:nvPr/>
        </p:nvSpPr>
        <p:spPr>
          <a:xfrm>
            <a:off x="8522208"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5138928" y="4361688"/>
            <a:ext cx="45720" cy="841248"/>
          </a:xfrm>
          <a:prstGeom prst="rect">
            <a:avLst/>
          </a:prstGeom>
          <a:solidFill>
            <a:srgbClr val="2587C5"/>
          </a:solidFill>
          <a:ln/>
        </p:spPr>
      </p:sp>
      <p:sp>
        <p:nvSpPr>
          <p:cNvPr id="23" name="Text 21"/>
          <p:cNvSpPr txBox="1"/>
          <p:nvPr/>
        </p:nvSpPr>
        <p:spPr>
          <a:xfrm>
            <a:off x="5266944"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8394192" y="4361688"/>
            <a:ext cx="45720" cy="841248"/>
          </a:xfrm>
          <a:prstGeom prst="rect">
            <a:avLst/>
          </a:prstGeom>
          <a:solidFill>
            <a:srgbClr val="2587C5"/>
          </a:solidFill>
          <a:ln/>
        </p:spPr>
      </p:sp>
      <p:sp>
        <p:nvSpPr>
          <p:cNvPr id="25" name="Text 23"/>
          <p:cNvSpPr txBox="1"/>
          <p:nvPr/>
        </p:nvSpPr>
        <p:spPr>
          <a:xfrm>
            <a:off x="8522208"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5138928" y="5312664"/>
            <a:ext cx="45720" cy="841248"/>
          </a:xfrm>
          <a:prstGeom prst="rect">
            <a:avLst/>
          </a:prstGeom>
          <a:solidFill>
            <a:srgbClr val="2587C5"/>
          </a:solidFill>
          <a:ln/>
        </p:spPr>
      </p:sp>
      <p:sp>
        <p:nvSpPr>
          <p:cNvPr id="27" name="Text 25"/>
          <p:cNvSpPr txBox="1"/>
          <p:nvPr/>
        </p:nvSpPr>
        <p:spPr>
          <a:xfrm>
            <a:off x="5266944"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8394192" y="5312664"/>
            <a:ext cx="45720" cy="841248"/>
          </a:xfrm>
          <a:prstGeom prst="rect">
            <a:avLst/>
          </a:prstGeom>
          <a:solidFill>
            <a:srgbClr val="2587C5"/>
          </a:solidFill>
          <a:ln/>
        </p:spPr>
      </p:sp>
      <p:sp>
        <p:nvSpPr>
          <p:cNvPr id="29" name="Text 27"/>
          <p:cNvSpPr txBox="1"/>
          <p:nvPr/>
        </p:nvSpPr>
        <p:spPr>
          <a:xfrm>
            <a:off x="8522208"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0.07 to 1.87, ahead of 2025 in all nine months. Each 0.1 hour per RO is worth $6.6M a year in gross.</a:t>
            </a:r>
            <a:endParaRPr lang="en-US" sz="15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2" name="Shape 139"/>
          <p:cNvSpPr/>
          <p:nvPr/>
        </p:nvSpPr>
        <p:spPr>
          <a:xfrm>
            <a:off x="457200" y="6126480"/>
            <a:ext cx="11274552" cy="371856"/>
          </a:xfrm>
          <a:prstGeom prst="rect">
            <a:avLst/>
          </a:prstGeom>
          <a:solidFill>
            <a:srgbClr val="E6F6EE"/>
          </a:solidFill>
          <a:ln/>
        </p:spPr>
      </p:sp>
      <p:sp>
        <p:nvSpPr>
          <p:cNvPr id="143" name="Text 14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added gross.</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Shape 18"/>
          <p:cNvSpPr/>
          <p:nvPr/>
        </p:nvSpPr>
        <p:spPr>
          <a:xfrm>
            <a:off x="4084320" y="3796589"/>
            <a:ext cx="64008" cy="755294"/>
          </a:xfrm>
          <a:prstGeom prst="rect">
            <a:avLst/>
          </a:prstGeom>
          <a:solidFill>
            <a:srgbClr val="12A566"/>
          </a:solidFill>
          <a:ln/>
        </p:spPr>
      </p:sp>
      <p:sp>
        <p:nvSpPr>
          <p:cNvPr id="21" name="Text 19"/>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416906"/>
            <a:ext cx="3489960" cy="828446"/>
          </a:xfrm>
          <a:prstGeom prst="rect">
            <a:avLst/>
          </a:prstGeom>
          <a:solidFill>
            <a:srgbClr val="F7F7F7"/>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625035"/>
            <a:ext cx="64008" cy="755294"/>
          </a:xfrm>
          <a:prstGeom prst="rect">
            <a:avLst/>
          </a:prstGeom>
          <a:solidFill>
            <a:srgbClr val="12A566"/>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205601"/>
          </a:xfrm>
          <a:prstGeom prst="rect">
            <a:avLst/>
          </a:prstGeom>
          <a:solidFill>
            <a:srgbClr val="2587C5"/>
          </a:solidFill>
          <a:ln/>
        </p:spPr>
      </p:sp>
      <p:sp>
        <p:nvSpPr>
          <p:cNvPr id="14" name="Text 12"/>
          <p:cNvSpPr txBox="1"/>
          <p:nvPr/>
        </p:nvSpPr>
        <p:spPr>
          <a:xfrm>
            <a:off x="5266944"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205601"/>
          </a:xfrm>
          <a:prstGeom prst="rect">
            <a:avLst/>
          </a:prstGeom>
          <a:solidFill>
            <a:srgbClr val="2587C5"/>
          </a:solidFill>
          <a:ln/>
        </p:spPr>
      </p:sp>
      <p:sp>
        <p:nvSpPr>
          <p:cNvPr id="16" name="Text 14"/>
          <p:cNvSpPr txBox="1"/>
          <p:nvPr/>
        </p:nvSpPr>
        <p:spPr>
          <a:xfrm>
            <a:off x="8522208"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159113"/>
            <a:ext cx="45720" cy="942535"/>
          </a:xfrm>
          <a:prstGeom prst="rect">
            <a:avLst/>
          </a:prstGeom>
          <a:solidFill>
            <a:srgbClr val="2587C5"/>
          </a:solidFill>
          <a:ln/>
        </p:spPr>
      </p:sp>
      <p:sp>
        <p:nvSpPr>
          <p:cNvPr id="18" name="Text 16"/>
          <p:cNvSpPr txBox="1"/>
          <p:nvPr/>
        </p:nvSpPr>
        <p:spPr>
          <a:xfrm>
            <a:off x="5266944"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159113"/>
            <a:ext cx="45720" cy="942535"/>
          </a:xfrm>
          <a:prstGeom prst="rect">
            <a:avLst/>
          </a:prstGeom>
          <a:solidFill>
            <a:srgbClr val="2587C5"/>
          </a:solidFill>
          <a:ln/>
        </p:spPr>
      </p:sp>
      <p:sp>
        <p:nvSpPr>
          <p:cNvPr id="20" name="Text 18"/>
          <p:cNvSpPr txBox="1"/>
          <p:nvPr/>
        </p:nvSpPr>
        <p:spPr>
          <a:xfrm>
            <a:off x="8522208"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5211377"/>
            <a:ext cx="45720" cy="942535"/>
          </a:xfrm>
          <a:prstGeom prst="rect">
            <a:avLst/>
          </a:prstGeom>
          <a:solidFill>
            <a:srgbClr val="2587C5"/>
          </a:solidFill>
          <a:ln/>
        </p:spPr>
      </p:sp>
      <p:sp>
        <p:nvSpPr>
          <p:cNvPr id="22" name="Text 20"/>
          <p:cNvSpPr txBox="1"/>
          <p:nvPr/>
        </p:nvSpPr>
        <p:spPr>
          <a:xfrm>
            <a:off x="5266944"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5211377"/>
            <a:ext cx="45720" cy="942535"/>
          </a:xfrm>
          <a:prstGeom prst="rect">
            <a:avLst/>
          </a:prstGeom>
          <a:solidFill>
            <a:srgbClr val="2587C5"/>
          </a:solidFill>
          <a:ln/>
        </p:spPr>
      </p:sp>
      <p:sp>
        <p:nvSpPr>
          <p:cNvPr id="24" name="Text 22"/>
          <p:cNvSpPr txBox="1"/>
          <p:nvPr/>
        </p:nvSpPr>
        <p:spPr>
          <a:xfrm>
            <a:off x="8522208"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403250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304495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304495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304495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304495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304495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Shape 35"/>
          <p:cNvSpPr/>
          <p:nvPr/>
        </p:nvSpPr>
        <p:spPr>
          <a:xfrm>
            <a:off x="7775448" y="2139696"/>
            <a:ext cx="64008" cy="755294"/>
          </a:xfrm>
          <a:prstGeom prst="rect">
            <a:avLst/>
          </a:prstGeom>
          <a:solidFill>
            <a:srgbClr val="2587C5"/>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8" name="Shape 76"/>
          <p:cNvSpPr/>
          <p:nvPr/>
        </p:nvSpPr>
        <p:spPr>
          <a:xfrm>
            <a:off x="11466576" y="4625035"/>
            <a:ext cx="64008" cy="755294"/>
          </a:xfrm>
          <a:prstGeom prst="rect">
            <a:avLst/>
          </a:prstGeom>
          <a:solidFill>
            <a:srgbClr val="2587C5"/>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625035"/>
            <a:ext cx="64008" cy="755294"/>
          </a:xfrm>
          <a:prstGeom prst="rect">
            <a:avLst/>
          </a:prstGeom>
          <a:solidFill>
            <a:srgbClr val="12A566"/>
          </a:solidFill>
          <a:ln/>
        </p:spPr>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968142"/>
            <a:ext cx="64008" cy="755294"/>
          </a:xfrm>
          <a:prstGeom prst="rect">
            <a:avLst/>
          </a:prstGeom>
          <a:solidFill>
            <a:srgbClr val="12A566"/>
          </a:solidFill>
          <a:ln/>
        </p:spPr>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8755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26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3346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356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420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0925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179363"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1" name="Shape 39"/>
          <p:cNvSpPr/>
          <p:nvPr/>
        </p:nvSpPr>
        <p:spPr>
          <a:xfrm>
            <a:off x="3785616" y="3591128"/>
            <a:ext cx="17936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644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94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0462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968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978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978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9" name="Shape 67"/>
          <p:cNvSpPr/>
          <p:nvPr/>
        </p:nvSpPr>
        <p:spPr>
          <a:xfrm>
            <a:off x="3785616" y="5270397"/>
            <a:ext cx="44841"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484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7" name="Shape 75"/>
          <p:cNvSpPr/>
          <p:nvPr/>
        </p:nvSpPr>
        <p:spPr>
          <a:xfrm>
            <a:off x="3785616" y="5750188"/>
            <a:ext cx="448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9336024" y="1911860"/>
            <a:ext cx="2989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9336024" y="2151755"/>
            <a:ext cx="2989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4947"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06130" y="2631546"/>
            <a:ext cx="2989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91183" y="2871442"/>
            <a:ext cx="44841"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76236" y="3111337"/>
            <a:ext cx="597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31396" y="3351233"/>
            <a:ext cx="1046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1608" y="3591128"/>
            <a:ext cx="16441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6767" y="3831024"/>
            <a:ext cx="20925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6767" y="4070920"/>
            <a:ext cx="2092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1820" y="4310815"/>
            <a:ext cx="22420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5" name="Shape 123"/>
          <p:cNvSpPr/>
          <p:nvPr/>
        </p:nvSpPr>
        <p:spPr>
          <a:xfrm>
            <a:off x="9037086" y="4550711"/>
            <a:ext cx="29893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9037086" y="4790606"/>
            <a:ext cx="2989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902563" y="5030502"/>
            <a:ext cx="43346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3519" y="5270397"/>
            <a:ext cx="70250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Shape 23"/>
          <p:cNvSpPr/>
          <p:nvPr/>
        </p:nvSpPr>
        <p:spPr>
          <a:xfrm>
            <a:off x="4084320" y="5453482"/>
            <a:ext cx="64008" cy="755294"/>
          </a:xfrm>
          <a:prstGeom prst="rect">
            <a:avLst/>
          </a:prstGeom>
          <a:solidFill>
            <a:srgbClr val="12A566"/>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40.7%,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641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7637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8862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6354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384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7579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3818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2565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1" name="Shape 59"/>
          <p:cNvSpPr/>
          <p:nvPr/>
        </p:nvSpPr>
        <p:spPr>
          <a:xfrm>
            <a:off x="3785616" y="4790606"/>
            <a:ext cx="22565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297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043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789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536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1282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028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10028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775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21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268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268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9336024" y="3591128"/>
            <a:ext cx="37608"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37608"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25072"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3488"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3343" y="4790606"/>
            <a:ext cx="626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3343" y="5030502"/>
            <a:ext cx="626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35735" y="5270397"/>
            <a:ext cx="10028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0229" y="5510293"/>
            <a:ext cx="275795"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12A566"/>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1.3-1.4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0.8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at or above the 57.8% group.</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9" name="Shape 156"/>
          <p:cNvSpPr/>
          <p:nvPr/>
        </p:nvSpPr>
        <p:spPr>
          <a:xfrm>
            <a:off x="457200" y="6126480"/>
            <a:ext cx="11274552" cy="371856"/>
          </a:xfrm>
          <a:prstGeom prst="rect">
            <a:avLst/>
          </a:prstGeom>
          <a:solidFill>
            <a:srgbClr val="EDF4FA"/>
          </a:solidFill>
          <a:ln/>
        </p:spPr>
      </p:sp>
      <p:sp>
        <p:nvSpPr>
          <p:cNvPr id="160" name="Text 15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11 of 28 stores at or above the 45.3% group.</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13.2%, ahead of 2025 in all nine months, but 1.8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625035"/>
            <a:ext cx="64008" cy="755294"/>
          </a:xfrm>
          <a:prstGeom prst="rect">
            <a:avLst/>
          </a:prstGeom>
          <a:solidFill>
            <a:srgbClr val="12A566"/>
          </a:solidFill>
          <a:ln/>
        </p:spPr>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6.7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 pts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9.2%, ahead of 2025 in all nine months, but 0.8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0.0%</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8.8%</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9502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Shape 6"/>
          <p:cNvSpPr/>
          <p:nvPr/>
        </p:nvSpPr>
        <p:spPr>
          <a:xfrm>
            <a:off x="3429510" y="1700784"/>
            <a:ext cx="10973" cy="4224528"/>
          </a:xfrm>
          <a:prstGeom prst="rect">
            <a:avLst/>
          </a:prstGeom>
          <a:solidFill>
            <a:srgbClr val="9AA3AD"/>
          </a:solidFill>
          <a:ln/>
        </p:spPr>
      </p:sp>
      <p:sp>
        <p:nvSpPr>
          <p:cNvPr id="9" name="Text 7"/>
          <p:cNvSpPr txBox="1"/>
          <p:nvPr/>
        </p:nvSpPr>
        <p:spPr>
          <a:xfrm>
            <a:off x="95006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1" name="Shape 9"/>
          <p:cNvSpPr/>
          <p:nvPr/>
        </p:nvSpPr>
        <p:spPr>
          <a:xfrm>
            <a:off x="897991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34996" y="1756697"/>
            <a:ext cx="460348" cy="136676"/>
          </a:xfrm>
          <a:prstGeom prst="rect">
            <a:avLst/>
          </a:prstGeom>
          <a:solidFill>
            <a:srgbClr val="12A566"/>
          </a:solidFill>
          <a:ln/>
        </p:spPr>
      </p:sp>
      <p:sp>
        <p:nvSpPr>
          <p:cNvPr id="15" name="Text 13"/>
          <p:cNvSpPr txBox="1"/>
          <p:nvPr/>
        </p:nvSpPr>
        <p:spPr>
          <a:xfrm>
            <a:off x="39502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6" name="Text 14"/>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17" name="Shape 15"/>
          <p:cNvSpPr/>
          <p:nvPr/>
        </p:nvSpPr>
        <p:spPr>
          <a:xfrm>
            <a:off x="5971032" y="1746504"/>
            <a:ext cx="54864" cy="157062"/>
          </a:xfrm>
          <a:prstGeom prst="rect">
            <a:avLst/>
          </a:prstGeom>
          <a:solidFill>
            <a:srgbClr val="12A566"/>
          </a:solidFill>
          <a:ln/>
        </p:spPr>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3434996" y="2005199"/>
            <a:ext cx="124432" cy="136676"/>
          </a:xfrm>
          <a:prstGeom prst="rect">
            <a:avLst/>
          </a:prstGeom>
          <a:solidFill>
            <a:srgbClr val="12A566"/>
          </a:solidFill>
          <a:ln/>
        </p:spPr>
      </p:sp>
      <p:sp>
        <p:nvSpPr>
          <p:cNvPr id="21" name="Text 19"/>
          <p:cNvSpPr txBox="1"/>
          <p:nvPr/>
        </p:nvSpPr>
        <p:spPr>
          <a:xfrm>
            <a:off x="39502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2" name="Text 20"/>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3" name="Shape 21"/>
          <p:cNvSpPr/>
          <p:nvPr/>
        </p:nvSpPr>
        <p:spPr>
          <a:xfrm>
            <a:off x="5971032" y="1995006"/>
            <a:ext cx="54864" cy="157062"/>
          </a:xfrm>
          <a:prstGeom prst="rect">
            <a:avLst/>
          </a:prstGeom>
          <a:solidFill>
            <a:srgbClr val="12A566"/>
          </a:solidFill>
          <a:ln/>
        </p:spPr>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6" name="Shape 24"/>
          <p:cNvSpPr/>
          <p:nvPr/>
        </p:nvSpPr>
        <p:spPr>
          <a:xfrm>
            <a:off x="3434996" y="2253700"/>
            <a:ext cx="44339" cy="136676"/>
          </a:xfrm>
          <a:prstGeom prst="rect">
            <a:avLst/>
          </a:prstGeom>
          <a:solidFill>
            <a:srgbClr val="12A566"/>
          </a:solidFill>
          <a:ln/>
        </p:spPr>
      </p:sp>
      <p:sp>
        <p:nvSpPr>
          <p:cNvPr id="27" name="Text 25"/>
          <p:cNvSpPr txBox="1"/>
          <p:nvPr/>
        </p:nvSpPr>
        <p:spPr>
          <a:xfrm>
            <a:off x="39502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8" name="Text 26"/>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29" name="Shape 27"/>
          <p:cNvSpPr/>
          <p:nvPr/>
        </p:nvSpPr>
        <p:spPr>
          <a:xfrm>
            <a:off x="5971032" y="2243507"/>
            <a:ext cx="54864" cy="157062"/>
          </a:xfrm>
          <a:prstGeom prst="rect">
            <a:avLst/>
          </a:prstGeom>
          <a:solidFill>
            <a:srgbClr val="12A566"/>
          </a:solidFill>
          <a:ln/>
        </p:spPr>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2" name="Shape 30"/>
          <p:cNvSpPr/>
          <p:nvPr/>
        </p:nvSpPr>
        <p:spPr>
          <a:xfrm>
            <a:off x="3434996" y="2502202"/>
            <a:ext cx="37145" cy="136676"/>
          </a:xfrm>
          <a:prstGeom prst="rect">
            <a:avLst/>
          </a:prstGeom>
          <a:solidFill>
            <a:srgbClr val="12A566"/>
          </a:solidFill>
          <a:ln/>
        </p:spPr>
      </p:sp>
      <p:sp>
        <p:nvSpPr>
          <p:cNvPr id="33" name="Text 31"/>
          <p:cNvSpPr txBox="1"/>
          <p:nvPr/>
        </p:nvSpPr>
        <p:spPr>
          <a:xfrm>
            <a:off x="39502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5" name="Text 33"/>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7" name="Shape 35"/>
          <p:cNvSpPr/>
          <p:nvPr/>
        </p:nvSpPr>
        <p:spPr>
          <a:xfrm>
            <a:off x="3434996" y="2750703"/>
            <a:ext cx="34144" cy="136676"/>
          </a:xfrm>
          <a:prstGeom prst="rect">
            <a:avLst/>
          </a:prstGeom>
          <a:solidFill>
            <a:srgbClr val="12A566"/>
          </a:solidFill>
          <a:ln/>
        </p:spPr>
      </p:sp>
      <p:sp>
        <p:nvSpPr>
          <p:cNvPr id="38" name="Text 36"/>
          <p:cNvSpPr txBox="1"/>
          <p:nvPr/>
        </p:nvSpPr>
        <p:spPr>
          <a:xfrm>
            <a:off x="39502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9" name="Text 37"/>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0" name="Text 3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2" name="Shape 40"/>
          <p:cNvSpPr/>
          <p:nvPr/>
        </p:nvSpPr>
        <p:spPr>
          <a:xfrm>
            <a:off x="3434996" y="2999205"/>
            <a:ext cx="27581" cy="136676"/>
          </a:xfrm>
          <a:prstGeom prst="rect">
            <a:avLst/>
          </a:prstGeom>
          <a:solidFill>
            <a:srgbClr val="12A566"/>
          </a:solidFill>
          <a:ln/>
        </p:spPr>
      </p:sp>
      <p:sp>
        <p:nvSpPr>
          <p:cNvPr id="43" name="Text 41"/>
          <p:cNvSpPr txBox="1"/>
          <p:nvPr/>
        </p:nvSpPr>
        <p:spPr>
          <a:xfrm>
            <a:off x="39502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44" name="Text 42"/>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45" name="Text 43"/>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7" name="Shape 45"/>
          <p:cNvSpPr/>
          <p:nvPr/>
        </p:nvSpPr>
        <p:spPr>
          <a:xfrm>
            <a:off x="3434996" y="3247707"/>
            <a:ext cx="19282" cy="136676"/>
          </a:xfrm>
          <a:prstGeom prst="rect">
            <a:avLst/>
          </a:prstGeom>
          <a:solidFill>
            <a:srgbClr val="12A566"/>
          </a:solidFill>
          <a:ln/>
        </p:spPr>
      </p:sp>
      <p:sp>
        <p:nvSpPr>
          <p:cNvPr id="48" name="Text 46"/>
          <p:cNvSpPr txBox="1"/>
          <p:nvPr/>
        </p:nvSpPr>
        <p:spPr>
          <a:xfrm>
            <a:off x="39502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9" name="Text 47"/>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0" name="Text 48"/>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2" name="Shape 50"/>
          <p:cNvSpPr/>
          <p:nvPr/>
        </p:nvSpPr>
        <p:spPr>
          <a:xfrm>
            <a:off x="3416704" y="3496208"/>
            <a:ext cx="18292" cy="136676"/>
          </a:xfrm>
          <a:prstGeom prst="rect">
            <a:avLst/>
          </a:prstGeom>
          <a:solidFill>
            <a:srgbClr val="C2352F"/>
          </a:solidFill>
          <a:ln/>
        </p:spPr>
      </p:sp>
      <p:sp>
        <p:nvSpPr>
          <p:cNvPr id="53" name="Text 51"/>
          <p:cNvSpPr txBox="1"/>
          <p:nvPr/>
        </p:nvSpPr>
        <p:spPr>
          <a:xfrm>
            <a:off x="39502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54" name="Text 5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55" name="Text 5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7" name="Shape 55"/>
          <p:cNvSpPr/>
          <p:nvPr/>
        </p:nvSpPr>
        <p:spPr>
          <a:xfrm>
            <a:off x="3411703" y="3744710"/>
            <a:ext cx="23293" cy="136676"/>
          </a:xfrm>
          <a:prstGeom prst="rect">
            <a:avLst/>
          </a:prstGeom>
          <a:solidFill>
            <a:srgbClr val="C2352F"/>
          </a:solidFill>
          <a:ln/>
        </p:spPr>
      </p:sp>
      <p:sp>
        <p:nvSpPr>
          <p:cNvPr id="58" name="Text 56"/>
          <p:cNvSpPr txBox="1"/>
          <p:nvPr/>
        </p:nvSpPr>
        <p:spPr>
          <a:xfrm>
            <a:off x="39502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59" name="Text 57"/>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60" name="Text 58"/>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2" name="Shape 60"/>
          <p:cNvSpPr/>
          <p:nvPr/>
        </p:nvSpPr>
        <p:spPr>
          <a:xfrm>
            <a:off x="3411379" y="3993212"/>
            <a:ext cx="23618" cy="136676"/>
          </a:xfrm>
          <a:prstGeom prst="rect">
            <a:avLst/>
          </a:prstGeom>
          <a:solidFill>
            <a:srgbClr val="C2352F"/>
          </a:solidFill>
          <a:ln/>
        </p:spPr>
      </p:sp>
      <p:sp>
        <p:nvSpPr>
          <p:cNvPr id="63" name="Text 61"/>
          <p:cNvSpPr txBox="1"/>
          <p:nvPr/>
        </p:nvSpPr>
        <p:spPr>
          <a:xfrm>
            <a:off x="39502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64" name="Text 62"/>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65" name="Text 63"/>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7" name="Shape 65"/>
          <p:cNvSpPr/>
          <p:nvPr/>
        </p:nvSpPr>
        <p:spPr>
          <a:xfrm>
            <a:off x="3408491" y="4241713"/>
            <a:ext cx="26505" cy="136676"/>
          </a:xfrm>
          <a:prstGeom prst="rect">
            <a:avLst/>
          </a:prstGeom>
          <a:solidFill>
            <a:srgbClr val="C2352F"/>
          </a:solidFill>
          <a:ln/>
        </p:spPr>
      </p:sp>
      <p:sp>
        <p:nvSpPr>
          <p:cNvPr id="68" name="Text 66"/>
          <p:cNvSpPr txBox="1"/>
          <p:nvPr/>
        </p:nvSpPr>
        <p:spPr>
          <a:xfrm>
            <a:off x="39502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9" name="Text 67"/>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70" name="Text 68"/>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2" name="Shape 70"/>
          <p:cNvSpPr/>
          <p:nvPr/>
        </p:nvSpPr>
        <p:spPr>
          <a:xfrm>
            <a:off x="3401031" y="4490215"/>
            <a:ext cx="33965" cy="136676"/>
          </a:xfrm>
          <a:prstGeom prst="rect">
            <a:avLst/>
          </a:prstGeom>
          <a:solidFill>
            <a:srgbClr val="C2352F"/>
          </a:solidFill>
          <a:ln/>
        </p:spPr>
      </p:sp>
      <p:sp>
        <p:nvSpPr>
          <p:cNvPr id="73" name="Text 71"/>
          <p:cNvSpPr txBox="1"/>
          <p:nvPr/>
        </p:nvSpPr>
        <p:spPr>
          <a:xfrm>
            <a:off x="39502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74" name="Text 72"/>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75" name="Text 73"/>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395551" y="4738717"/>
            <a:ext cx="39445" cy="136676"/>
          </a:xfrm>
          <a:prstGeom prst="rect">
            <a:avLst/>
          </a:prstGeom>
          <a:solidFill>
            <a:srgbClr val="C2352F"/>
          </a:solidFill>
          <a:ln/>
        </p:spPr>
      </p:sp>
      <p:sp>
        <p:nvSpPr>
          <p:cNvPr id="78" name="Text 76"/>
          <p:cNvSpPr txBox="1"/>
          <p:nvPr/>
        </p:nvSpPr>
        <p:spPr>
          <a:xfrm>
            <a:off x="39502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79" name="Text 7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80" name="Text 7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2" name="Shape 80"/>
          <p:cNvSpPr/>
          <p:nvPr/>
        </p:nvSpPr>
        <p:spPr>
          <a:xfrm>
            <a:off x="3391623" y="4987218"/>
            <a:ext cx="43373" cy="136676"/>
          </a:xfrm>
          <a:prstGeom prst="rect">
            <a:avLst/>
          </a:prstGeom>
          <a:solidFill>
            <a:srgbClr val="C2352F"/>
          </a:solidFill>
          <a:ln/>
        </p:spPr>
      </p:sp>
      <p:sp>
        <p:nvSpPr>
          <p:cNvPr id="83" name="Text 81"/>
          <p:cNvSpPr txBox="1"/>
          <p:nvPr/>
        </p:nvSpPr>
        <p:spPr>
          <a:xfrm>
            <a:off x="39502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84" name="Text 82"/>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85" name="Text 83"/>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7" name="Shape 85"/>
          <p:cNvSpPr/>
          <p:nvPr/>
        </p:nvSpPr>
        <p:spPr>
          <a:xfrm>
            <a:off x="3386113" y="5235720"/>
            <a:ext cx="48884" cy="136676"/>
          </a:xfrm>
          <a:prstGeom prst="rect">
            <a:avLst/>
          </a:prstGeom>
          <a:solidFill>
            <a:srgbClr val="C2352F"/>
          </a:solidFill>
          <a:ln/>
        </p:spPr>
      </p:sp>
      <p:sp>
        <p:nvSpPr>
          <p:cNvPr id="88" name="Text 86"/>
          <p:cNvSpPr txBox="1"/>
          <p:nvPr/>
        </p:nvSpPr>
        <p:spPr>
          <a:xfrm>
            <a:off x="39502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89" name="Text 87"/>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90" name="Text 8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2" name="Shape 90"/>
          <p:cNvSpPr/>
          <p:nvPr/>
        </p:nvSpPr>
        <p:spPr>
          <a:xfrm>
            <a:off x="3385317" y="5484222"/>
            <a:ext cx="49679" cy="136676"/>
          </a:xfrm>
          <a:prstGeom prst="rect">
            <a:avLst/>
          </a:prstGeom>
          <a:solidFill>
            <a:srgbClr val="C2352F"/>
          </a:solidFill>
          <a:ln/>
        </p:spPr>
      </p:sp>
      <p:sp>
        <p:nvSpPr>
          <p:cNvPr id="93" name="Text 91"/>
          <p:cNvSpPr txBox="1"/>
          <p:nvPr/>
        </p:nvSpPr>
        <p:spPr>
          <a:xfrm>
            <a:off x="39502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94" name="Text 92"/>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95" name="Text 93"/>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7" name="Shape 95"/>
          <p:cNvSpPr/>
          <p:nvPr/>
        </p:nvSpPr>
        <p:spPr>
          <a:xfrm>
            <a:off x="3384944" y="5732723"/>
            <a:ext cx="50052" cy="136676"/>
          </a:xfrm>
          <a:prstGeom prst="rect">
            <a:avLst/>
          </a:prstGeom>
          <a:solidFill>
            <a:srgbClr val="C2352F"/>
          </a:solidFill>
          <a:ln/>
        </p:spPr>
      </p:sp>
      <p:sp>
        <p:nvSpPr>
          <p:cNvPr id="98" name="Text 96"/>
          <p:cNvSpPr txBox="1"/>
          <p:nvPr/>
        </p:nvSpPr>
        <p:spPr>
          <a:xfrm>
            <a:off x="39502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99" name="Text 97"/>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00" name="Text 9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2" name="Shape 100"/>
          <p:cNvSpPr/>
          <p:nvPr/>
        </p:nvSpPr>
        <p:spPr>
          <a:xfrm>
            <a:off x="8931186" y="1756697"/>
            <a:ext cx="54219" cy="136676"/>
          </a:xfrm>
          <a:prstGeom prst="rect">
            <a:avLst/>
          </a:prstGeom>
          <a:solidFill>
            <a:srgbClr val="C2352F"/>
          </a:solidFill>
          <a:ln/>
        </p:spPr>
      </p:sp>
      <p:sp>
        <p:nvSpPr>
          <p:cNvPr id="103" name="Text 101"/>
          <p:cNvSpPr txBox="1"/>
          <p:nvPr/>
        </p:nvSpPr>
        <p:spPr>
          <a:xfrm>
            <a:off x="95006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04" name="Text 10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05" name="Text 10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7" name="Shape 105"/>
          <p:cNvSpPr/>
          <p:nvPr/>
        </p:nvSpPr>
        <p:spPr>
          <a:xfrm>
            <a:off x="8907378" y="2005199"/>
            <a:ext cx="78026" cy="136676"/>
          </a:xfrm>
          <a:prstGeom prst="rect">
            <a:avLst/>
          </a:prstGeom>
          <a:solidFill>
            <a:srgbClr val="C2352F"/>
          </a:solidFill>
          <a:ln/>
        </p:spPr>
      </p:sp>
      <p:sp>
        <p:nvSpPr>
          <p:cNvPr id="108" name="Text 106"/>
          <p:cNvSpPr txBox="1"/>
          <p:nvPr/>
        </p:nvSpPr>
        <p:spPr>
          <a:xfrm>
            <a:off x="95006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09" name="Text 107"/>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10" name="Text 108"/>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2" name="Shape 110"/>
          <p:cNvSpPr/>
          <p:nvPr/>
        </p:nvSpPr>
        <p:spPr>
          <a:xfrm>
            <a:off x="8903182" y="2253700"/>
            <a:ext cx="82223" cy="136676"/>
          </a:xfrm>
          <a:prstGeom prst="rect">
            <a:avLst/>
          </a:prstGeom>
          <a:solidFill>
            <a:srgbClr val="C2352F"/>
          </a:solidFill>
          <a:ln/>
        </p:spPr>
      </p:sp>
      <p:sp>
        <p:nvSpPr>
          <p:cNvPr id="113" name="Text 111"/>
          <p:cNvSpPr txBox="1"/>
          <p:nvPr/>
        </p:nvSpPr>
        <p:spPr>
          <a:xfrm>
            <a:off x="95006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14" name="Text 112"/>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15" name="Text 113"/>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7" name="Shape 115"/>
          <p:cNvSpPr/>
          <p:nvPr/>
        </p:nvSpPr>
        <p:spPr>
          <a:xfrm>
            <a:off x="8898772" y="2502202"/>
            <a:ext cx="86632" cy="136676"/>
          </a:xfrm>
          <a:prstGeom prst="rect">
            <a:avLst/>
          </a:prstGeom>
          <a:solidFill>
            <a:srgbClr val="C2352F"/>
          </a:solidFill>
          <a:ln/>
        </p:spPr>
      </p:sp>
      <p:sp>
        <p:nvSpPr>
          <p:cNvPr id="118" name="Text 116"/>
          <p:cNvSpPr txBox="1"/>
          <p:nvPr/>
        </p:nvSpPr>
        <p:spPr>
          <a:xfrm>
            <a:off x="95006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19" name="Text 117"/>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20" name="Text 118"/>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2" name="Shape 120"/>
          <p:cNvSpPr/>
          <p:nvPr/>
        </p:nvSpPr>
        <p:spPr>
          <a:xfrm>
            <a:off x="8898356" y="2750703"/>
            <a:ext cx="87048" cy="136676"/>
          </a:xfrm>
          <a:prstGeom prst="rect">
            <a:avLst/>
          </a:prstGeom>
          <a:solidFill>
            <a:srgbClr val="C2352F"/>
          </a:solidFill>
          <a:ln/>
        </p:spPr>
      </p:sp>
      <p:sp>
        <p:nvSpPr>
          <p:cNvPr id="123" name="Text 121"/>
          <p:cNvSpPr txBox="1"/>
          <p:nvPr/>
        </p:nvSpPr>
        <p:spPr>
          <a:xfrm>
            <a:off x="95006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24" name="Text 122"/>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25" name="Text 123"/>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7" name="Shape 125"/>
          <p:cNvSpPr/>
          <p:nvPr/>
        </p:nvSpPr>
        <p:spPr>
          <a:xfrm>
            <a:off x="8869908" y="2999205"/>
            <a:ext cx="115496" cy="136676"/>
          </a:xfrm>
          <a:prstGeom prst="rect">
            <a:avLst/>
          </a:prstGeom>
          <a:solidFill>
            <a:srgbClr val="C2352F"/>
          </a:solidFill>
          <a:ln/>
        </p:spPr>
      </p:sp>
      <p:sp>
        <p:nvSpPr>
          <p:cNvPr id="128" name="Text 126"/>
          <p:cNvSpPr txBox="1"/>
          <p:nvPr/>
        </p:nvSpPr>
        <p:spPr>
          <a:xfrm>
            <a:off x="95006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29" name="Text 12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30" name="Text 12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Shape 130"/>
          <p:cNvSpPr/>
          <p:nvPr/>
        </p:nvSpPr>
        <p:spPr>
          <a:xfrm>
            <a:off x="8861676" y="3247707"/>
            <a:ext cx="123728" cy="136676"/>
          </a:xfrm>
          <a:prstGeom prst="rect">
            <a:avLst/>
          </a:prstGeom>
          <a:solidFill>
            <a:srgbClr val="C2352F"/>
          </a:solidFill>
          <a:ln/>
        </p:spPr>
      </p:sp>
      <p:sp>
        <p:nvSpPr>
          <p:cNvPr id="133" name="Text 131"/>
          <p:cNvSpPr txBox="1"/>
          <p:nvPr/>
        </p:nvSpPr>
        <p:spPr>
          <a:xfrm>
            <a:off x="95006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4" name="Text 132"/>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35" name="Text 13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7" name="Shape 135"/>
          <p:cNvSpPr/>
          <p:nvPr/>
        </p:nvSpPr>
        <p:spPr>
          <a:xfrm>
            <a:off x="8861519" y="3496208"/>
            <a:ext cx="123885" cy="136676"/>
          </a:xfrm>
          <a:prstGeom prst="rect">
            <a:avLst/>
          </a:prstGeom>
          <a:solidFill>
            <a:srgbClr val="C2352F"/>
          </a:solidFill>
          <a:ln/>
        </p:spPr>
      </p:sp>
      <p:sp>
        <p:nvSpPr>
          <p:cNvPr id="138" name="Text 136"/>
          <p:cNvSpPr txBox="1"/>
          <p:nvPr/>
        </p:nvSpPr>
        <p:spPr>
          <a:xfrm>
            <a:off x="95006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9" name="Text 137"/>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40" name="Text 13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2" name="Shape 140"/>
          <p:cNvSpPr/>
          <p:nvPr/>
        </p:nvSpPr>
        <p:spPr>
          <a:xfrm>
            <a:off x="8851844" y="3744710"/>
            <a:ext cx="133560" cy="136676"/>
          </a:xfrm>
          <a:prstGeom prst="rect">
            <a:avLst/>
          </a:prstGeom>
          <a:solidFill>
            <a:srgbClr val="C2352F"/>
          </a:solidFill>
          <a:ln/>
        </p:spPr>
      </p:sp>
      <p:sp>
        <p:nvSpPr>
          <p:cNvPr id="143" name="Text 141"/>
          <p:cNvSpPr txBox="1"/>
          <p:nvPr/>
        </p:nvSpPr>
        <p:spPr>
          <a:xfrm>
            <a:off x="95006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44" name="Text 142"/>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45" name="Text 143"/>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7" name="Shape 145"/>
          <p:cNvSpPr/>
          <p:nvPr/>
        </p:nvSpPr>
        <p:spPr>
          <a:xfrm>
            <a:off x="8841233" y="3993212"/>
            <a:ext cx="144171" cy="136676"/>
          </a:xfrm>
          <a:prstGeom prst="rect">
            <a:avLst/>
          </a:prstGeom>
          <a:solidFill>
            <a:srgbClr val="C2352F"/>
          </a:solidFill>
          <a:ln/>
        </p:spPr>
      </p:sp>
      <p:sp>
        <p:nvSpPr>
          <p:cNvPr id="148" name="Text 146"/>
          <p:cNvSpPr txBox="1"/>
          <p:nvPr/>
        </p:nvSpPr>
        <p:spPr>
          <a:xfrm>
            <a:off x="95006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49" name="Text 147"/>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50" name="Text 14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833790" y="4241713"/>
            <a:ext cx="151614" cy="136676"/>
          </a:xfrm>
          <a:prstGeom prst="rect">
            <a:avLst/>
          </a:prstGeom>
          <a:solidFill>
            <a:srgbClr val="C2352F"/>
          </a:solidFill>
          <a:ln/>
        </p:spPr>
      </p:sp>
      <p:sp>
        <p:nvSpPr>
          <p:cNvPr id="153" name="Text 151"/>
          <p:cNvSpPr txBox="1"/>
          <p:nvPr/>
        </p:nvSpPr>
        <p:spPr>
          <a:xfrm>
            <a:off x="95006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54" name="Text 15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55" name="Text 15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7" name="Shape 155"/>
          <p:cNvSpPr/>
          <p:nvPr/>
        </p:nvSpPr>
        <p:spPr>
          <a:xfrm>
            <a:off x="8832658" y="4490215"/>
            <a:ext cx="152747" cy="136676"/>
          </a:xfrm>
          <a:prstGeom prst="rect">
            <a:avLst/>
          </a:prstGeom>
          <a:solidFill>
            <a:srgbClr val="C2352F"/>
          </a:solidFill>
          <a:ln/>
        </p:spPr>
      </p:sp>
      <p:sp>
        <p:nvSpPr>
          <p:cNvPr id="158" name="Text 156"/>
          <p:cNvSpPr txBox="1"/>
          <p:nvPr/>
        </p:nvSpPr>
        <p:spPr>
          <a:xfrm>
            <a:off x="95006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59" name="Text 157"/>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60" name="Text 158"/>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2" name="Shape 160"/>
          <p:cNvSpPr/>
          <p:nvPr/>
        </p:nvSpPr>
        <p:spPr>
          <a:xfrm>
            <a:off x="8798077" y="4738717"/>
            <a:ext cx="187327" cy="136676"/>
          </a:xfrm>
          <a:prstGeom prst="rect">
            <a:avLst/>
          </a:prstGeom>
          <a:solidFill>
            <a:srgbClr val="C2352F"/>
          </a:solidFill>
          <a:ln/>
        </p:spPr>
      </p:sp>
      <p:sp>
        <p:nvSpPr>
          <p:cNvPr id="163" name="Text 161"/>
          <p:cNvSpPr txBox="1"/>
          <p:nvPr/>
        </p:nvSpPr>
        <p:spPr>
          <a:xfrm>
            <a:off x="95006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64" name="Text 162"/>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65" name="Text 163"/>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7" name="Shape 165"/>
          <p:cNvSpPr/>
          <p:nvPr/>
        </p:nvSpPr>
        <p:spPr>
          <a:xfrm>
            <a:off x="8765072" y="4987218"/>
            <a:ext cx="220332" cy="136676"/>
          </a:xfrm>
          <a:prstGeom prst="rect">
            <a:avLst/>
          </a:prstGeom>
          <a:solidFill>
            <a:srgbClr val="C2352F"/>
          </a:solidFill>
          <a:ln/>
        </p:spPr>
      </p:sp>
      <p:sp>
        <p:nvSpPr>
          <p:cNvPr id="168" name="Text 166"/>
          <p:cNvSpPr txBox="1"/>
          <p:nvPr/>
        </p:nvSpPr>
        <p:spPr>
          <a:xfrm>
            <a:off x="95006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169" name="Text 167"/>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170" name="Shape 168"/>
          <p:cNvSpPr/>
          <p:nvPr/>
        </p:nvSpPr>
        <p:spPr>
          <a:xfrm>
            <a:off x="11521440" y="4977025"/>
            <a:ext cx="54864" cy="157062"/>
          </a:xfrm>
          <a:prstGeom prst="rect">
            <a:avLst/>
          </a:prstGeom>
          <a:solidFill>
            <a:srgbClr val="C2352F"/>
          </a:solidFill>
          <a:ln/>
        </p:spPr>
      </p:sp>
      <p:sp>
        <p:nvSpPr>
          <p:cNvPr id="171" name="Text 169"/>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2" name="Text 170"/>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3" name="Shape 171"/>
          <p:cNvSpPr/>
          <p:nvPr/>
        </p:nvSpPr>
        <p:spPr>
          <a:xfrm>
            <a:off x="8691210" y="5235720"/>
            <a:ext cx="294194" cy="136676"/>
          </a:xfrm>
          <a:prstGeom prst="rect">
            <a:avLst/>
          </a:prstGeom>
          <a:solidFill>
            <a:srgbClr val="C2352F"/>
          </a:solidFill>
          <a:ln/>
        </p:spPr>
      </p:sp>
      <p:sp>
        <p:nvSpPr>
          <p:cNvPr id="174" name="Text 172"/>
          <p:cNvSpPr txBox="1"/>
          <p:nvPr/>
        </p:nvSpPr>
        <p:spPr>
          <a:xfrm>
            <a:off x="95006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75" name="Text 173"/>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176" name="Shape 174"/>
          <p:cNvSpPr/>
          <p:nvPr/>
        </p:nvSpPr>
        <p:spPr>
          <a:xfrm>
            <a:off x="11521440" y="5225527"/>
            <a:ext cx="54864" cy="157062"/>
          </a:xfrm>
          <a:prstGeom prst="rect">
            <a:avLst/>
          </a:prstGeom>
          <a:solidFill>
            <a:srgbClr val="C2352F"/>
          </a:solidFill>
          <a:ln/>
        </p:spPr>
      </p:sp>
      <p:sp>
        <p:nvSpPr>
          <p:cNvPr id="177" name="Text 175"/>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8" name="Text 176"/>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9" name="Shape 177"/>
          <p:cNvSpPr/>
          <p:nvPr/>
        </p:nvSpPr>
        <p:spPr>
          <a:xfrm>
            <a:off x="8650224" y="5484222"/>
            <a:ext cx="335180" cy="136676"/>
          </a:xfrm>
          <a:prstGeom prst="rect">
            <a:avLst/>
          </a:prstGeom>
          <a:solidFill>
            <a:srgbClr val="C2352F"/>
          </a:solidFill>
          <a:ln/>
        </p:spPr>
      </p:sp>
      <p:sp>
        <p:nvSpPr>
          <p:cNvPr id="180" name="Text 178"/>
          <p:cNvSpPr txBox="1"/>
          <p:nvPr/>
        </p:nvSpPr>
        <p:spPr>
          <a:xfrm>
            <a:off x="95006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181" name="Text 179"/>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182" name="Shape 180"/>
          <p:cNvSpPr/>
          <p:nvPr/>
        </p:nvSpPr>
        <p:spPr>
          <a:xfrm>
            <a:off x="11521440" y="5474029"/>
            <a:ext cx="54864" cy="157062"/>
          </a:xfrm>
          <a:prstGeom prst="rect">
            <a:avLst/>
          </a:prstGeom>
          <a:solidFill>
            <a:srgbClr val="C2352F"/>
          </a:solidFill>
          <a:ln/>
        </p:spPr>
      </p:sp>
      <p:sp>
        <p:nvSpPr>
          <p:cNvPr id="183" name="Shape 181"/>
          <p:cNvSpPr/>
          <p:nvPr/>
        </p:nvSpPr>
        <p:spPr>
          <a:xfrm>
            <a:off x="6085332" y="1700784"/>
            <a:ext cx="10973" cy="4224528"/>
          </a:xfrm>
          <a:prstGeom prst="rect">
            <a:avLst/>
          </a:prstGeom>
          <a:solidFill>
            <a:srgbClr val="D9D9D9"/>
          </a:solidFill>
          <a:ln/>
        </p:spPr>
      </p:sp>
      <p:sp>
        <p:nvSpPr>
          <p:cNvPr id="185" name="Shape 182"/>
          <p:cNvSpPr/>
          <p:nvPr/>
        </p:nvSpPr>
        <p:spPr>
          <a:xfrm>
            <a:off x="457200" y="6126480"/>
            <a:ext cx="11274552" cy="371856"/>
          </a:xfrm>
          <a:prstGeom prst="rect">
            <a:avLst/>
          </a:prstGeom>
          <a:solidFill>
            <a:srgbClr val="FBEBEA"/>
          </a:solidFill>
          <a:ln/>
        </p:spPr>
      </p:sp>
      <p:sp>
        <p:nvSpPr>
          <p:cNvPr id="186" name="Text 18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 of 33 stores are ahead of benchmark across the four services. 15 stores are under all four.</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Shape 27"/>
          <p:cNvSpPr/>
          <p:nvPr/>
        </p:nvSpPr>
        <p:spPr>
          <a:xfrm>
            <a:off x="4084320" y="5453482"/>
            <a:ext cx="64008" cy="755294"/>
          </a:xfrm>
          <a:prstGeom prst="rect">
            <a:avLst/>
          </a:prstGeom>
          <a:solidFill>
            <a:srgbClr val="12A566"/>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Shape 49"/>
          <p:cNvSpPr/>
          <p:nvPr/>
        </p:nvSpPr>
        <p:spPr>
          <a:xfrm>
            <a:off x="7775448" y="4625035"/>
            <a:ext cx="64008" cy="755294"/>
          </a:xfrm>
          <a:prstGeom prst="rect">
            <a:avLst/>
          </a:prstGeom>
          <a:solidFill>
            <a:srgbClr val="2587C5"/>
          </a:solidFill>
          <a:ln/>
        </p:spPr>
      </p:sp>
      <p:sp>
        <p:nvSpPr>
          <p:cNvPr id="52" name="Text 5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4" name="Text 52"/>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5" name="Text 53"/>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6" name="Shape 54"/>
          <p:cNvSpPr/>
          <p:nvPr/>
        </p:nvSpPr>
        <p:spPr>
          <a:xfrm>
            <a:off x="4349496" y="5416906"/>
            <a:ext cx="3489960" cy="828446"/>
          </a:xfrm>
          <a:prstGeom prst="rect">
            <a:avLst/>
          </a:prstGeom>
          <a:solidFill>
            <a:srgbClr val="F7F7F7"/>
          </a:solidFill>
          <a:ln/>
        </p:spPr>
      </p:sp>
      <p:sp>
        <p:nvSpPr>
          <p:cNvPr id="57" name="Text 5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9" name="Text 57"/>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60" name="Text 58"/>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1" name="Shape 59"/>
          <p:cNvSpPr/>
          <p:nvPr/>
        </p:nvSpPr>
        <p:spPr>
          <a:xfrm>
            <a:off x="8040624" y="1371600"/>
            <a:ext cx="3489960" cy="45720"/>
          </a:xfrm>
          <a:prstGeom prst="rect">
            <a:avLst/>
          </a:prstGeom>
          <a:solidFill>
            <a:srgbClr val="2587C5"/>
          </a:solidFill>
          <a:ln/>
        </p:spPr>
      </p:sp>
      <p:sp>
        <p:nvSpPr>
          <p:cNvPr id="62" name="Text 6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Text 6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4" name="Shape 62"/>
          <p:cNvSpPr/>
          <p:nvPr/>
        </p:nvSpPr>
        <p:spPr>
          <a:xfrm>
            <a:off x="8040624" y="2103120"/>
            <a:ext cx="3489960" cy="828446"/>
          </a:xfrm>
          <a:prstGeom prst="rect">
            <a:avLst/>
          </a:prstGeom>
          <a:solidFill>
            <a:srgbClr val="F7F7F7"/>
          </a:solidFill>
          <a:ln/>
        </p:spPr>
      </p:sp>
      <p:sp>
        <p:nvSpPr>
          <p:cNvPr id="65" name="Shape 63"/>
          <p:cNvSpPr/>
          <p:nvPr/>
        </p:nvSpPr>
        <p:spPr>
          <a:xfrm>
            <a:off x="11466576" y="2139696"/>
            <a:ext cx="64008" cy="755294"/>
          </a:xfrm>
          <a:prstGeom prst="rect">
            <a:avLst/>
          </a:prstGeom>
          <a:solidFill>
            <a:srgbClr val="2587C5"/>
          </a:solidFill>
          <a:ln/>
        </p:spPr>
      </p:sp>
      <p:sp>
        <p:nvSpPr>
          <p:cNvPr id="66" name="Text 6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7" name="Text 6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8" name="Text 66"/>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9" name="Text 67"/>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Shape 68"/>
          <p:cNvSpPr/>
          <p:nvPr/>
        </p:nvSpPr>
        <p:spPr>
          <a:xfrm>
            <a:off x="11466576" y="2968142"/>
            <a:ext cx="64008" cy="755294"/>
          </a:xfrm>
          <a:prstGeom prst="rect">
            <a:avLst/>
          </a:prstGeom>
          <a:solidFill>
            <a:srgbClr val="12A566"/>
          </a:solidFill>
          <a:ln/>
        </p:spPr>
      </p:sp>
      <p:sp>
        <p:nvSpPr>
          <p:cNvPr id="71" name="Text 69"/>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2" name="Text 70"/>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3" name="Text 71"/>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4" name="Text 72"/>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5" name="Shape 73"/>
          <p:cNvSpPr/>
          <p:nvPr/>
        </p:nvSpPr>
        <p:spPr>
          <a:xfrm>
            <a:off x="8040624" y="3760013"/>
            <a:ext cx="3489960" cy="828446"/>
          </a:xfrm>
          <a:prstGeom prst="rect">
            <a:avLst/>
          </a:prstGeom>
          <a:solidFill>
            <a:srgbClr val="F7F7F7"/>
          </a:solidFill>
          <a:ln/>
        </p:spPr>
      </p:sp>
      <p:sp>
        <p:nvSpPr>
          <p:cNvPr id="76" name="Shape 74"/>
          <p:cNvSpPr/>
          <p:nvPr/>
        </p:nvSpPr>
        <p:spPr>
          <a:xfrm>
            <a:off x="11466576" y="3796589"/>
            <a:ext cx="64008" cy="755294"/>
          </a:xfrm>
          <a:prstGeom prst="rect">
            <a:avLst/>
          </a:prstGeom>
          <a:solidFill>
            <a:srgbClr val="12A566"/>
          </a:solidFill>
          <a:ln/>
        </p:spPr>
      </p:sp>
      <p:sp>
        <p:nvSpPr>
          <p:cNvPr id="77" name="Text 75"/>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76"/>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9" name="Text 77"/>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80" name="Text 78"/>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81" name="Text 79"/>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80"/>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3" name="Text 81"/>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4" name="Text 82"/>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5" name="Shape 83"/>
          <p:cNvSpPr/>
          <p:nvPr/>
        </p:nvSpPr>
        <p:spPr>
          <a:xfrm>
            <a:off x="8040624" y="5416906"/>
            <a:ext cx="3489960" cy="828446"/>
          </a:xfrm>
          <a:prstGeom prst="rect">
            <a:avLst/>
          </a:prstGeom>
          <a:solidFill>
            <a:srgbClr val="F7F7F7"/>
          </a:solidFill>
          <a:ln/>
        </p:spPr>
      </p:sp>
      <p:sp>
        <p:nvSpPr>
          <p:cNvPr id="86" name="Text 8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8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8" name="Text 86"/>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9" name="Text 87"/>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0.2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a:t>
            </a:r>
            <a:endParaRPr lang="en-US" sz="15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46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679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913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496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197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785616" y="3111337"/>
            <a:ext cx="19431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18547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89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13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48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24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236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715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7065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532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532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4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695" y="2391651"/>
            <a:ext cx="3532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47701" y="2631546"/>
            <a:ext cx="8832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30037" y="2871442"/>
            <a:ext cx="10598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2372" y="3111337"/>
            <a:ext cx="12365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3540" y="3351233"/>
            <a:ext cx="13248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6385" y="3591128"/>
            <a:ext cx="2296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7553" y="3831024"/>
            <a:ext cx="23847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2224" y="4070920"/>
            <a:ext cx="2738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727" y="4310815"/>
            <a:ext cx="3002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47404" y="4550711"/>
            <a:ext cx="38862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−4.4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739" y="4790606"/>
            <a:ext cx="4062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59081" y="5030502"/>
            <a:ext cx="47694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1417" y="5270397"/>
            <a:ext cx="49460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20" name="Shape 18"/>
          <p:cNvSpPr/>
          <p:nvPr/>
        </p:nvSpPr>
        <p:spPr>
          <a:xfrm>
            <a:off x="4084320" y="4625035"/>
            <a:ext cx="64008" cy="755294"/>
          </a:xfrm>
          <a:prstGeom prst="rect">
            <a:avLst/>
          </a:prstGeom>
          <a:solidFill>
            <a:srgbClr val="12A566"/>
          </a:solidFill>
          <a:ln/>
        </p:spPr>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−4.4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a:t>
            </a:r>
            <a:endParaRPr lang="en-US" sz="15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5216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5159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354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59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1" name="Shape 39"/>
          <p:cNvSpPr/>
          <p:nvPr/>
        </p:nvSpPr>
        <p:spPr>
          <a:xfrm>
            <a:off x="3785616" y="3591128"/>
            <a:ext cx="31340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5072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5072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3114"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785616" y="4790606"/>
            <a:ext cx="18804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5" name="Shape 63"/>
          <p:cNvSpPr/>
          <p:nvPr/>
        </p:nvSpPr>
        <p:spPr>
          <a:xfrm>
            <a:off x="3785616" y="5030502"/>
            <a:ext cx="18804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880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043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50434"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1" name="Shape 79"/>
          <p:cNvSpPr/>
          <p:nvPr/>
        </p:nvSpPr>
        <p:spPr>
          <a:xfrm>
            <a:off x="9336024" y="1911860"/>
            <a:ext cx="12536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5" name="Shape 83"/>
          <p:cNvSpPr/>
          <p:nvPr/>
        </p:nvSpPr>
        <p:spPr>
          <a:xfrm>
            <a:off x="9336024" y="2151755"/>
            <a:ext cx="11282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01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376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98416" y="2871442"/>
            <a:ext cx="3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8416" y="3111337"/>
            <a:ext cx="3760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0663" y="3351233"/>
            <a:ext cx="1253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47693" y="3591128"/>
            <a:ext cx="28833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0085" y="3831024"/>
            <a:ext cx="325939"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7" name="Shape 115"/>
          <p:cNvSpPr/>
          <p:nvPr/>
        </p:nvSpPr>
        <p:spPr>
          <a:xfrm>
            <a:off x="8972476" y="4070920"/>
            <a:ext cx="36354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972476" y="4310815"/>
            <a:ext cx="36354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9940" y="4550711"/>
            <a:ext cx="37608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872187" y="4790606"/>
            <a:ext cx="463837"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872187" y="5030502"/>
            <a:ext cx="4638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59362" y="5270397"/>
            <a:ext cx="57666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4290" y="5510293"/>
            <a:ext cx="6017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Shape 62"/>
          <p:cNvSpPr/>
          <p:nvPr/>
        </p:nvSpPr>
        <p:spPr>
          <a:xfrm>
            <a:off x="11466576" y="4625035"/>
            <a:ext cx="64008" cy="755294"/>
          </a:xfrm>
          <a:prstGeom prst="rect">
            <a:avLst/>
          </a:prstGeom>
          <a:solidFill>
            <a:srgbClr val="12A566"/>
          </a:solidFill>
          <a:ln/>
        </p:spPr>
      </p:sp>
      <p:sp>
        <p:nvSpPr>
          <p:cNvPr id="65" name="Text 6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6" name="Text 6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7" name="Text 65"/>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8" name="Shape 66"/>
          <p:cNvSpPr/>
          <p:nvPr/>
        </p:nvSpPr>
        <p:spPr>
          <a:xfrm>
            <a:off x="8040624" y="5416906"/>
            <a:ext cx="3489960" cy="828446"/>
          </a:xfrm>
          <a:prstGeom prst="rect">
            <a:avLst/>
          </a:prstGeom>
          <a:solidFill>
            <a:srgbClr val="F7F7F7"/>
          </a:solidFill>
          <a:ln/>
        </p:spPr>
      </p:sp>
      <p:sp>
        <p:nvSpPr>
          <p:cNvPr id="69" name="Shape 67"/>
          <p:cNvSpPr/>
          <p:nvPr/>
        </p:nvSpPr>
        <p:spPr>
          <a:xfrm>
            <a:off x="11466576" y="5453482"/>
            <a:ext cx="64008" cy="755294"/>
          </a:xfrm>
          <a:prstGeom prst="rect">
            <a:avLst/>
          </a:prstGeom>
          <a:solidFill>
            <a:srgbClr val="12A566"/>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44.7%</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Always be teaching, training and educating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Shape 44"/>
          <p:cNvSpPr/>
          <p:nvPr/>
        </p:nvSpPr>
        <p:spPr>
          <a:xfrm>
            <a:off x="7775448" y="5453482"/>
            <a:ext cx="64008" cy="755294"/>
          </a:xfrm>
          <a:prstGeom prst="rect">
            <a:avLst/>
          </a:prstGeom>
          <a:solidFill>
            <a:srgbClr val="2587C5"/>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5" name="Text 6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6" name="Text 6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7" name="Text 65"/>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8" name="Shape 66"/>
          <p:cNvSpPr/>
          <p:nvPr/>
        </p:nvSpPr>
        <p:spPr>
          <a:xfrm>
            <a:off x="8040624" y="5416906"/>
            <a:ext cx="3489960" cy="828446"/>
          </a:xfrm>
          <a:prstGeom prst="rect">
            <a:avLst/>
          </a:prstGeom>
          <a:solidFill>
            <a:srgbClr val="F7F7F7"/>
          </a:solidFill>
          <a:ln/>
        </p:spPr>
      </p:sp>
      <p:sp>
        <p:nvSpPr>
          <p:cNvPr id="69" name="Shape 67"/>
          <p:cNvSpPr/>
          <p:nvPr/>
        </p:nvSpPr>
        <p:spPr>
          <a:xfrm>
            <a:off x="11466576" y="5453482"/>
            <a:ext cx="64008" cy="755294"/>
          </a:xfrm>
          <a:prstGeom prst="rect">
            <a:avLst/>
          </a:prstGeom>
          <a:solidFill>
            <a:srgbClr val="2587C5"/>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clocked hours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Clocks 40 hours  </a:t>
            </a:r>
            <a:pPr algn="ctr" indent="0" marL="0">
              <a:buNone/>
            </a:pPr>
            <a:r>
              <a:rPr lang="en-US" sz="1400" b="1" dirty="0">
                <a:solidFill>
                  <a:srgbClr val="0B2C4A"/>
                </a:solidFill>
                <a:latin typeface="Inter" pitchFamily="34" charset="0"/>
                <a:ea typeface="Inter" pitchFamily="34" charset="-122"/>
                <a:cs typeface="Inter" pitchFamily="34" charset="-120"/>
              </a:rPr>
              <a:t>flags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Flags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to ROs, not all clocked hours</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clocked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clocked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clocked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clocked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09160"/>
            <a:ext cx="10762488" cy="1572768"/>
          </a:xfrm>
          <a:prstGeom prst="rect">
            <a:avLst/>
          </a:prstGeom>
          <a:solidFill>
            <a:srgbClr val="EDF4FA"/>
          </a:solidFill>
          <a:ln/>
        </p:spPr>
      </p:sp>
      <p:sp>
        <p:nvSpPr>
          <p:cNvPr id="28" name="Text 26"/>
          <p:cNvSpPr txBox="1"/>
          <p:nvPr/>
        </p:nvSpPr>
        <p:spPr>
          <a:xfrm>
            <a:off x="896112" y="485546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16636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clocks in for 8 hours, clocks 6 of them to repair orders and flags 7.5 hours.</a:t>
            </a:r>
            <a:endParaRPr lang="en-US" sz="1800" dirty="0"/>
          </a:p>
        </p:txBody>
      </p:sp>
      <p:sp>
        <p:nvSpPr>
          <p:cNvPr id="30" name="Text 28"/>
          <p:cNvSpPr txBox="1"/>
          <p:nvPr/>
        </p:nvSpPr>
        <p:spPr>
          <a:xfrm>
            <a:off x="896112" y="553212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
        <p:nvSpPr>
          <p:cNvPr id="31" name="Text 29"/>
          <p:cNvSpPr txBox="1"/>
          <p:nvPr/>
        </p:nvSpPr>
        <p:spPr>
          <a:xfrm>
            <a:off x="896112" y="5897880"/>
            <a:ext cx="10396728" cy="292608"/>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Clocked hours exclude vacation, paid time off and holiday pay.</a:t>
            </a:r>
            <a:endParaRPr lang="en-US" sz="15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Hours flagged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clocked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January through September 2026, year to date. Vacation, paid time off and holiday pay are excluded from clocked hours. Store = total hours flagged ÷ total clocked hours.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flagged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Clocked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clocked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20 stores at or above 85% still leave $818K a month.</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61538"/>
            <a:ext cx="548640" cy="148509"/>
          </a:xfrm>
          <a:prstGeom prst="rect">
            <a:avLst/>
          </a:prstGeom>
          <a:solidFill>
            <a:srgbClr val="2587C5"/>
          </a:solidFill>
          <a:ln/>
        </p:spPr>
      </p:sp>
      <p:sp>
        <p:nvSpPr>
          <p:cNvPr id="15" name="Text 13"/>
          <p:cNvSpPr txBox="1"/>
          <p:nvPr/>
        </p:nvSpPr>
        <p:spPr>
          <a:xfrm>
            <a:off x="3474720"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31555"/>
            <a:ext cx="428287" cy="148509"/>
          </a:xfrm>
          <a:prstGeom prst="rect">
            <a:avLst/>
          </a:prstGeom>
          <a:solidFill>
            <a:srgbClr val="2587C5"/>
          </a:solidFill>
          <a:ln/>
        </p:spPr>
      </p:sp>
      <p:sp>
        <p:nvSpPr>
          <p:cNvPr id="21" name="Text 19"/>
          <p:cNvSpPr txBox="1"/>
          <p:nvPr/>
        </p:nvSpPr>
        <p:spPr>
          <a:xfrm>
            <a:off x="3474720"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301572"/>
            <a:ext cx="359802" cy="148509"/>
          </a:xfrm>
          <a:prstGeom prst="rect">
            <a:avLst/>
          </a:prstGeom>
          <a:solidFill>
            <a:srgbClr val="2587C5"/>
          </a:solidFill>
          <a:ln/>
        </p:spPr>
      </p:sp>
      <p:sp>
        <p:nvSpPr>
          <p:cNvPr id="27" name="Text 25"/>
          <p:cNvSpPr txBox="1"/>
          <p:nvPr/>
        </p:nvSpPr>
        <p:spPr>
          <a:xfrm>
            <a:off x="3474720"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71589"/>
            <a:ext cx="345673" cy="148509"/>
          </a:xfrm>
          <a:prstGeom prst="rect">
            <a:avLst/>
          </a:prstGeom>
          <a:solidFill>
            <a:srgbClr val="2587C5"/>
          </a:solidFill>
          <a:ln/>
        </p:spPr>
      </p:sp>
      <p:sp>
        <p:nvSpPr>
          <p:cNvPr id="33" name="Text 31"/>
          <p:cNvSpPr txBox="1"/>
          <p:nvPr/>
        </p:nvSpPr>
        <p:spPr>
          <a:xfrm>
            <a:off x="3474720"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841606"/>
            <a:ext cx="316030" cy="148509"/>
          </a:xfrm>
          <a:prstGeom prst="rect">
            <a:avLst/>
          </a:prstGeom>
          <a:solidFill>
            <a:srgbClr val="2587C5"/>
          </a:solidFill>
          <a:ln/>
        </p:spPr>
      </p:sp>
      <p:sp>
        <p:nvSpPr>
          <p:cNvPr id="39" name="Text 37"/>
          <p:cNvSpPr txBox="1"/>
          <p:nvPr/>
        </p:nvSpPr>
        <p:spPr>
          <a:xfrm>
            <a:off x="3474720"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3111623"/>
            <a:ext cx="288890" cy="148509"/>
          </a:xfrm>
          <a:prstGeom prst="rect">
            <a:avLst/>
          </a:prstGeom>
          <a:solidFill>
            <a:srgbClr val="2587C5"/>
          </a:solidFill>
          <a:ln/>
        </p:spPr>
      </p:sp>
      <p:sp>
        <p:nvSpPr>
          <p:cNvPr id="45" name="Text 43"/>
          <p:cNvSpPr txBox="1"/>
          <p:nvPr/>
        </p:nvSpPr>
        <p:spPr>
          <a:xfrm>
            <a:off x="3474720"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381639"/>
            <a:ext cx="206935" cy="148509"/>
          </a:xfrm>
          <a:prstGeom prst="rect">
            <a:avLst/>
          </a:prstGeom>
          <a:solidFill>
            <a:srgbClr val="2587C5"/>
          </a:solidFill>
          <a:ln/>
        </p:spPr>
      </p:sp>
      <p:sp>
        <p:nvSpPr>
          <p:cNvPr id="51" name="Text 49"/>
          <p:cNvSpPr txBox="1"/>
          <p:nvPr/>
        </p:nvSpPr>
        <p:spPr>
          <a:xfrm>
            <a:off x="3474720"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651656"/>
            <a:ext cx="205982" cy="148509"/>
          </a:xfrm>
          <a:prstGeom prst="rect">
            <a:avLst/>
          </a:prstGeom>
          <a:solidFill>
            <a:srgbClr val="2587C5"/>
          </a:solidFill>
          <a:ln/>
        </p:spPr>
      </p:sp>
      <p:sp>
        <p:nvSpPr>
          <p:cNvPr id="57" name="Text 55"/>
          <p:cNvSpPr txBox="1"/>
          <p:nvPr/>
        </p:nvSpPr>
        <p:spPr>
          <a:xfrm>
            <a:off x="3474720"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921673"/>
            <a:ext cx="193357" cy="148509"/>
          </a:xfrm>
          <a:prstGeom prst="rect">
            <a:avLst/>
          </a:prstGeom>
          <a:solidFill>
            <a:srgbClr val="2587C5"/>
          </a:solidFill>
          <a:ln/>
        </p:spPr>
      </p:sp>
      <p:sp>
        <p:nvSpPr>
          <p:cNvPr id="63" name="Text 61"/>
          <p:cNvSpPr txBox="1"/>
          <p:nvPr/>
        </p:nvSpPr>
        <p:spPr>
          <a:xfrm>
            <a:off x="3474720"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4191690"/>
            <a:ext cx="186973" cy="148509"/>
          </a:xfrm>
          <a:prstGeom prst="rect">
            <a:avLst/>
          </a:prstGeom>
          <a:solidFill>
            <a:srgbClr val="2587C5"/>
          </a:solidFill>
          <a:ln/>
        </p:spPr>
      </p:sp>
      <p:sp>
        <p:nvSpPr>
          <p:cNvPr id="69" name="Text 67"/>
          <p:cNvSpPr txBox="1"/>
          <p:nvPr/>
        </p:nvSpPr>
        <p:spPr>
          <a:xfrm>
            <a:off x="3474720"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461707"/>
            <a:ext cx="178245" cy="148509"/>
          </a:xfrm>
          <a:prstGeom prst="rect">
            <a:avLst/>
          </a:prstGeom>
          <a:solidFill>
            <a:srgbClr val="2587C5"/>
          </a:solidFill>
          <a:ln/>
        </p:spPr>
      </p:sp>
      <p:sp>
        <p:nvSpPr>
          <p:cNvPr id="75" name="Text 73"/>
          <p:cNvSpPr txBox="1"/>
          <p:nvPr/>
        </p:nvSpPr>
        <p:spPr>
          <a:xfrm>
            <a:off x="3474720"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731724"/>
            <a:ext cx="160884" cy="148509"/>
          </a:xfrm>
          <a:prstGeom prst="rect">
            <a:avLst/>
          </a:prstGeom>
          <a:solidFill>
            <a:srgbClr val="2587C5"/>
          </a:solidFill>
          <a:ln/>
        </p:spPr>
      </p:sp>
      <p:sp>
        <p:nvSpPr>
          <p:cNvPr id="81" name="Text 79"/>
          <p:cNvSpPr txBox="1"/>
          <p:nvPr/>
        </p:nvSpPr>
        <p:spPr>
          <a:xfrm>
            <a:off x="3474720"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5001741"/>
            <a:ext cx="159478" cy="148509"/>
          </a:xfrm>
          <a:prstGeom prst="rect">
            <a:avLst/>
          </a:prstGeom>
          <a:solidFill>
            <a:srgbClr val="2587C5"/>
          </a:solidFill>
          <a:ln/>
        </p:spPr>
      </p:sp>
      <p:sp>
        <p:nvSpPr>
          <p:cNvPr id="87" name="Text 85"/>
          <p:cNvSpPr txBox="1"/>
          <p:nvPr/>
        </p:nvSpPr>
        <p:spPr>
          <a:xfrm>
            <a:off x="3474720"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5271758"/>
            <a:ext cx="156386" cy="148509"/>
          </a:xfrm>
          <a:prstGeom prst="rect">
            <a:avLst/>
          </a:prstGeom>
          <a:solidFill>
            <a:srgbClr val="2587C5"/>
          </a:solidFill>
          <a:ln/>
        </p:spPr>
      </p:sp>
      <p:sp>
        <p:nvSpPr>
          <p:cNvPr id="93" name="Text 91"/>
          <p:cNvSpPr txBox="1"/>
          <p:nvPr/>
        </p:nvSpPr>
        <p:spPr>
          <a:xfrm>
            <a:off x="3474720"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541775"/>
            <a:ext cx="151472" cy="148509"/>
          </a:xfrm>
          <a:prstGeom prst="rect">
            <a:avLst/>
          </a:prstGeom>
          <a:solidFill>
            <a:srgbClr val="2587C5"/>
          </a:solidFill>
          <a:ln/>
        </p:spPr>
      </p:sp>
      <p:sp>
        <p:nvSpPr>
          <p:cNvPr id="99" name="Text 97"/>
          <p:cNvSpPr txBox="1"/>
          <p:nvPr/>
        </p:nvSpPr>
        <p:spPr>
          <a:xfrm>
            <a:off x="3474720"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811792"/>
            <a:ext cx="144704" cy="148509"/>
          </a:xfrm>
          <a:prstGeom prst="rect">
            <a:avLst/>
          </a:prstGeom>
          <a:solidFill>
            <a:srgbClr val="2587C5"/>
          </a:solidFill>
          <a:ln/>
        </p:spPr>
      </p:sp>
      <p:sp>
        <p:nvSpPr>
          <p:cNvPr id="105" name="Text 103"/>
          <p:cNvSpPr txBox="1"/>
          <p:nvPr/>
        </p:nvSpPr>
        <p:spPr>
          <a:xfrm>
            <a:off x="3474720"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6081809"/>
            <a:ext cx="136953" cy="148509"/>
          </a:xfrm>
          <a:prstGeom prst="rect">
            <a:avLst/>
          </a:prstGeom>
          <a:solidFill>
            <a:srgbClr val="2587C5"/>
          </a:solidFill>
          <a:ln/>
        </p:spPr>
      </p:sp>
      <p:sp>
        <p:nvSpPr>
          <p:cNvPr id="111" name="Text 109"/>
          <p:cNvSpPr txBox="1"/>
          <p:nvPr/>
        </p:nvSpPr>
        <p:spPr>
          <a:xfrm>
            <a:off x="3474720" y="602105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602105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602105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61538"/>
            <a:ext cx="129525" cy="148509"/>
          </a:xfrm>
          <a:prstGeom prst="rect">
            <a:avLst/>
          </a:prstGeom>
          <a:solidFill>
            <a:srgbClr val="2587C5"/>
          </a:solidFill>
          <a:ln/>
        </p:spPr>
      </p:sp>
      <p:sp>
        <p:nvSpPr>
          <p:cNvPr id="117" name="Text 115"/>
          <p:cNvSpPr txBox="1"/>
          <p:nvPr/>
        </p:nvSpPr>
        <p:spPr>
          <a:xfrm>
            <a:off x="9025128"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31555"/>
            <a:ext cx="116104" cy="148509"/>
          </a:xfrm>
          <a:prstGeom prst="rect">
            <a:avLst/>
          </a:prstGeom>
          <a:solidFill>
            <a:srgbClr val="2587C5"/>
          </a:solidFill>
          <a:ln/>
        </p:spPr>
      </p:sp>
      <p:sp>
        <p:nvSpPr>
          <p:cNvPr id="123" name="Text 121"/>
          <p:cNvSpPr txBox="1"/>
          <p:nvPr/>
        </p:nvSpPr>
        <p:spPr>
          <a:xfrm>
            <a:off x="9025128"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301572"/>
            <a:ext cx="111671" cy="148509"/>
          </a:xfrm>
          <a:prstGeom prst="rect">
            <a:avLst/>
          </a:prstGeom>
          <a:solidFill>
            <a:srgbClr val="2587C5"/>
          </a:solidFill>
          <a:ln/>
        </p:spPr>
      </p:sp>
      <p:sp>
        <p:nvSpPr>
          <p:cNvPr id="129" name="Text 127"/>
          <p:cNvSpPr txBox="1"/>
          <p:nvPr/>
        </p:nvSpPr>
        <p:spPr>
          <a:xfrm>
            <a:off x="9025128"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71589"/>
            <a:ext cx="107204" cy="148509"/>
          </a:xfrm>
          <a:prstGeom prst="rect">
            <a:avLst/>
          </a:prstGeom>
          <a:solidFill>
            <a:srgbClr val="2587C5"/>
          </a:solidFill>
          <a:ln/>
        </p:spPr>
      </p:sp>
      <p:sp>
        <p:nvSpPr>
          <p:cNvPr id="135" name="Text 133"/>
          <p:cNvSpPr txBox="1"/>
          <p:nvPr/>
        </p:nvSpPr>
        <p:spPr>
          <a:xfrm>
            <a:off x="9025128"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841606"/>
            <a:ext cx="105090" cy="148509"/>
          </a:xfrm>
          <a:prstGeom prst="rect">
            <a:avLst/>
          </a:prstGeom>
          <a:solidFill>
            <a:srgbClr val="2587C5"/>
          </a:solidFill>
          <a:ln/>
        </p:spPr>
      </p:sp>
      <p:sp>
        <p:nvSpPr>
          <p:cNvPr id="141" name="Text 139"/>
          <p:cNvSpPr txBox="1"/>
          <p:nvPr/>
        </p:nvSpPr>
        <p:spPr>
          <a:xfrm>
            <a:off x="9025128"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3111623"/>
            <a:ext cx="102344" cy="148509"/>
          </a:xfrm>
          <a:prstGeom prst="rect">
            <a:avLst/>
          </a:prstGeom>
          <a:solidFill>
            <a:srgbClr val="2587C5"/>
          </a:solidFill>
          <a:ln/>
        </p:spPr>
      </p:sp>
      <p:sp>
        <p:nvSpPr>
          <p:cNvPr id="147" name="Text 145"/>
          <p:cNvSpPr txBox="1"/>
          <p:nvPr/>
        </p:nvSpPr>
        <p:spPr>
          <a:xfrm>
            <a:off x="9025128"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381639"/>
            <a:ext cx="95727" cy="148509"/>
          </a:xfrm>
          <a:prstGeom prst="rect">
            <a:avLst/>
          </a:prstGeom>
          <a:solidFill>
            <a:srgbClr val="2587C5"/>
          </a:solidFill>
          <a:ln/>
        </p:spPr>
      </p:sp>
      <p:sp>
        <p:nvSpPr>
          <p:cNvPr id="153" name="Text 151"/>
          <p:cNvSpPr txBox="1"/>
          <p:nvPr/>
        </p:nvSpPr>
        <p:spPr>
          <a:xfrm>
            <a:off x="9025128"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651656"/>
            <a:ext cx="93782" cy="148509"/>
          </a:xfrm>
          <a:prstGeom prst="rect">
            <a:avLst/>
          </a:prstGeom>
          <a:solidFill>
            <a:srgbClr val="2587C5"/>
          </a:solidFill>
          <a:ln/>
        </p:spPr>
      </p:sp>
      <p:sp>
        <p:nvSpPr>
          <p:cNvPr id="159" name="Text 157"/>
          <p:cNvSpPr txBox="1"/>
          <p:nvPr/>
        </p:nvSpPr>
        <p:spPr>
          <a:xfrm>
            <a:off x="9025128"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921673"/>
            <a:ext cx="91945" cy="148509"/>
          </a:xfrm>
          <a:prstGeom prst="rect">
            <a:avLst/>
          </a:prstGeom>
          <a:solidFill>
            <a:srgbClr val="2587C5"/>
          </a:solidFill>
          <a:ln/>
        </p:spPr>
      </p:sp>
      <p:sp>
        <p:nvSpPr>
          <p:cNvPr id="165" name="Text 163"/>
          <p:cNvSpPr txBox="1"/>
          <p:nvPr/>
        </p:nvSpPr>
        <p:spPr>
          <a:xfrm>
            <a:off x="9025128"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4191690"/>
            <a:ext cx="91642" cy="148509"/>
          </a:xfrm>
          <a:prstGeom prst="rect">
            <a:avLst/>
          </a:prstGeom>
          <a:solidFill>
            <a:srgbClr val="2587C5"/>
          </a:solidFill>
          <a:ln/>
        </p:spPr>
      </p:sp>
      <p:sp>
        <p:nvSpPr>
          <p:cNvPr id="171" name="Text 169"/>
          <p:cNvSpPr txBox="1"/>
          <p:nvPr/>
        </p:nvSpPr>
        <p:spPr>
          <a:xfrm>
            <a:off x="9025128"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461707"/>
            <a:ext cx="90578" cy="148509"/>
          </a:xfrm>
          <a:prstGeom prst="rect">
            <a:avLst/>
          </a:prstGeom>
          <a:solidFill>
            <a:srgbClr val="2587C5"/>
          </a:solidFill>
          <a:ln/>
        </p:spPr>
      </p:sp>
      <p:sp>
        <p:nvSpPr>
          <p:cNvPr id="177" name="Text 175"/>
          <p:cNvSpPr txBox="1"/>
          <p:nvPr/>
        </p:nvSpPr>
        <p:spPr>
          <a:xfrm>
            <a:off x="9025128"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731724"/>
            <a:ext cx="83490" cy="148509"/>
          </a:xfrm>
          <a:prstGeom prst="rect">
            <a:avLst/>
          </a:prstGeom>
          <a:solidFill>
            <a:srgbClr val="2587C5"/>
          </a:solidFill>
          <a:ln/>
        </p:spPr>
      </p:sp>
      <p:sp>
        <p:nvSpPr>
          <p:cNvPr id="183" name="Text 181"/>
          <p:cNvSpPr txBox="1"/>
          <p:nvPr/>
        </p:nvSpPr>
        <p:spPr>
          <a:xfrm>
            <a:off x="9025128"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5001741"/>
            <a:ext cx="82594" cy="148509"/>
          </a:xfrm>
          <a:prstGeom prst="rect">
            <a:avLst/>
          </a:prstGeom>
          <a:solidFill>
            <a:srgbClr val="2587C5"/>
          </a:solidFill>
          <a:ln/>
        </p:spPr>
      </p:sp>
      <p:sp>
        <p:nvSpPr>
          <p:cNvPr id="189" name="Text 187"/>
          <p:cNvSpPr txBox="1"/>
          <p:nvPr/>
        </p:nvSpPr>
        <p:spPr>
          <a:xfrm>
            <a:off x="9025128"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5271758"/>
            <a:ext cx="67141" cy="148509"/>
          </a:xfrm>
          <a:prstGeom prst="rect">
            <a:avLst/>
          </a:prstGeom>
          <a:solidFill>
            <a:srgbClr val="2587C5"/>
          </a:solidFill>
          <a:ln/>
        </p:spPr>
      </p:sp>
      <p:sp>
        <p:nvSpPr>
          <p:cNvPr id="195" name="Text 193"/>
          <p:cNvSpPr txBox="1"/>
          <p:nvPr/>
        </p:nvSpPr>
        <p:spPr>
          <a:xfrm>
            <a:off x="9025128"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541775"/>
            <a:ext cx="54968" cy="148509"/>
          </a:xfrm>
          <a:prstGeom prst="rect">
            <a:avLst/>
          </a:prstGeom>
          <a:solidFill>
            <a:srgbClr val="2587C5"/>
          </a:solidFill>
          <a:ln/>
        </p:spPr>
      </p:sp>
      <p:sp>
        <p:nvSpPr>
          <p:cNvPr id="201" name="Text 199"/>
          <p:cNvSpPr txBox="1"/>
          <p:nvPr/>
        </p:nvSpPr>
        <p:spPr>
          <a:xfrm>
            <a:off x="9025128"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811792"/>
            <a:ext cx="43862" cy="148509"/>
          </a:xfrm>
          <a:prstGeom prst="rect">
            <a:avLst/>
          </a:prstGeom>
          <a:solidFill>
            <a:srgbClr val="2587C5"/>
          </a:solidFill>
          <a:ln/>
        </p:spPr>
      </p:sp>
      <p:sp>
        <p:nvSpPr>
          <p:cNvPr id="207" name="Text 205"/>
          <p:cNvSpPr txBox="1"/>
          <p:nvPr/>
        </p:nvSpPr>
        <p:spPr>
          <a:xfrm>
            <a:off x="9025128"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590288"/>
          </a:xfrm>
          <a:prstGeom prst="rect">
            <a:avLst/>
          </a:prstGeom>
          <a:solidFill>
            <a:srgbClr val="D9D9D9"/>
          </a:solidFill>
          <a:ln/>
        </p:spPr>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371856"/>
          </a:xfrm>
          <a:prstGeom prst="rect">
            <a:avLst/>
          </a:prstGeom>
          <a:solidFill>
            <a:srgbClr val="EDF4FA"/>
          </a:solidFill>
          <a:ln/>
        </p:spPr>
      </p:sp>
      <p:sp>
        <p:nvSpPr>
          <p:cNvPr id="72"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Protect that money: higher rates draw more audits, so document every claim to hold up.</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Shape 39"/>
          <p:cNvSpPr/>
          <p:nvPr/>
        </p:nvSpPr>
        <p:spPr>
          <a:xfrm>
            <a:off x="7775448" y="4625035"/>
            <a:ext cx="64008" cy="755294"/>
          </a:xfrm>
          <a:prstGeom prst="rect">
            <a:avLst/>
          </a:prstGeom>
          <a:solidFill>
            <a:srgbClr val="2587C5"/>
          </a:solidFill>
          <a:ln/>
        </p:spPr>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2587C5"/>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+6.5%</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+46.1%</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+45.4%</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+0.2%</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+1.3 pts</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−1.9%</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−10.0%</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−4.8%</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−3.2 pts</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 pts</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5788152" y="3968496"/>
            <a:ext cx="64008" cy="512064"/>
          </a:xfrm>
          <a:prstGeom prst="rect">
            <a:avLst/>
          </a:prstGeom>
          <a:solidFill>
            <a:srgbClr val="12A566"/>
          </a:solidFill>
          <a:ln/>
        </p:spPr>
      </p:sp>
      <p:sp>
        <p:nvSpPr>
          <p:cNvPr id="28" name="Shape 26"/>
          <p:cNvSpPr/>
          <p:nvPr/>
        </p:nvSpPr>
        <p:spPr>
          <a:xfrm>
            <a:off x="621792" y="4517136"/>
            <a:ext cx="5230368" cy="585216"/>
          </a:xfrm>
          <a:prstGeom prst="rect">
            <a:avLst/>
          </a:prstGeom>
          <a:solidFill>
            <a:srgbClr val="F7F7F7"/>
          </a:solidFill>
          <a:ln/>
        </p:spPr>
      </p:sp>
      <p:sp>
        <p:nvSpPr>
          <p:cNvPr id="29" name="Text 27"/>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0" name="Text 28"/>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1" name="Shape 29"/>
          <p:cNvSpPr/>
          <p:nvPr/>
        </p:nvSpPr>
        <p:spPr>
          <a:xfrm>
            <a:off x="4343400" y="4692701"/>
            <a:ext cx="480060" cy="234086"/>
          </a:xfrm>
          <a:prstGeom prst="rect">
            <a:avLst/>
          </a:prstGeom>
          <a:solidFill>
            <a:srgbClr val="12A566"/>
          </a:solidFill>
          <a:ln/>
        </p:spPr>
      </p:sp>
      <p:sp>
        <p:nvSpPr>
          <p:cNvPr id="32" name="Text 30"/>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3" name="Text 31"/>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4" name="Text 32"/>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5" name="Shape 33"/>
          <p:cNvSpPr/>
          <p:nvPr/>
        </p:nvSpPr>
        <p:spPr>
          <a:xfrm>
            <a:off x="4343400" y="5277917"/>
            <a:ext cx="480060" cy="234086"/>
          </a:xfrm>
          <a:prstGeom prst="rect">
            <a:avLst/>
          </a:prstGeom>
          <a:solidFill>
            <a:srgbClr val="12A566"/>
          </a:solidFill>
          <a:ln/>
        </p:spPr>
      </p:sp>
      <p:sp>
        <p:nvSpPr>
          <p:cNvPr id="36" name="Text 34"/>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1" name="Shape 39"/>
          <p:cNvSpPr/>
          <p:nvPr/>
        </p:nvSpPr>
        <p:spPr>
          <a:xfrm>
            <a:off x="6336792" y="2176272"/>
            <a:ext cx="5230368" cy="585216"/>
          </a:xfrm>
          <a:prstGeom prst="rect">
            <a:avLst/>
          </a:prstGeom>
          <a:solidFill>
            <a:srgbClr val="F7F7F7"/>
          </a:solidFill>
          <a:ln/>
        </p:spPr>
      </p:sp>
      <p:sp>
        <p:nvSpPr>
          <p:cNvPr id="42" name="Text 40"/>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3" name="Text 41"/>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4" name="Shape 42"/>
          <p:cNvSpPr/>
          <p:nvPr/>
        </p:nvSpPr>
        <p:spPr>
          <a:xfrm>
            <a:off x="10058400" y="2351837"/>
            <a:ext cx="960120" cy="234086"/>
          </a:xfrm>
          <a:prstGeom prst="rect">
            <a:avLst/>
          </a:prstGeom>
          <a:solidFill>
            <a:srgbClr val="12A566"/>
          </a:solidFill>
          <a:ln/>
        </p:spPr>
      </p:sp>
      <p:sp>
        <p:nvSpPr>
          <p:cNvPr id="45" name="Text 43"/>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6" name="Text 44"/>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7" name="Text 45"/>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8" name="Shape 46"/>
          <p:cNvSpPr/>
          <p:nvPr/>
        </p:nvSpPr>
        <p:spPr>
          <a:xfrm>
            <a:off x="10058400" y="2937053"/>
            <a:ext cx="960120" cy="234086"/>
          </a:xfrm>
          <a:prstGeom prst="rect">
            <a:avLst/>
          </a:prstGeom>
          <a:solidFill>
            <a:srgbClr val="12A566"/>
          </a:solidFill>
          <a:ln/>
        </p:spPr>
      </p:sp>
      <p:sp>
        <p:nvSpPr>
          <p:cNvPr id="49" name="Text 47"/>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0" name="Shape 48"/>
          <p:cNvSpPr/>
          <p:nvPr/>
        </p:nvSpPr>
        <p:spPr>
          <a:xfrm>
            <a:off x="11503152" y="2798064"/>
            <a:ext cx="64008" cy="512064"/>
          </a:xfrm>
          <a:prstGeom prst="rect">
            <a:avLst/>
          </a:prstGeom>
          <a:solidFill>
            <a:srgbClr val="12A566"/>
          </a:solidFill>
          <a:ln/>
        </p:spPr>
      </p:sp>
      <p:sp>
        <p:nvSpPr>
          <p:cNvPr id="51" name="Shape 49"/>
          <p:cNvSpPr/>
          <p:nvPr/>
        </p:nvSpPr>
        <p:spPr>
          <a:xfrm>
            <a:off x="6336792" y="3346704"/>
            <a:ext cx="5230368" cy="585216"/>
          </a:xfrm>
          <a:prstGeom prst="rect">
            <a:avLst/>
          </a:prstGeom>
          <a:solidFill>
            <a:srgbClr val="F7F7F7"/>
          </a:solidFill>
          <a:ln/>
        </p:spPr>
      </p:sp>
      <p:sp>
        <p:nvSpPr>
          <p:cNvPr id="52" name="Text 50"/>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3" name="Text 51"/>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4" name="Shape 52"/>
          <p:cNvSpPr/>
          <p:nvPr/>
        </p:nvSpPr>
        <p:spPr>
          <a:xfrm>
            <a:off x="10058400" y="3522269"/>
            <a:ext cx="960120" cy="234086"/>
          </a:xfrm>
          <a:prstGeom prst="rect">
            <a:avLst/>
          </a:prstGeom>
          <a:solidFill>
            <a:srgbClr val="12A566"/>
          </a:solidFill>
          <a:ln/>
        </p:spPr>
      </p:sp>
      <p:sp>
        <p:nvSpPr>
          <p:cNvPr id="55" name="Text 53"/>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6" name="Text 54"/>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7" name="Text 55"/>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8" name="Shape 56"/>
          <p:cNvSpPr/>
          <p:nvPr/>
        </p:nvSpPr>
        <p:spPr>
          <a:xfrm>
            <a:off x="10058400" y="4107485"/>
            <a:ext cx="640080" cy="234086"/>
          </a:xfrm>
          <a:prstGeom prst="rect">
            <a:avLst/>
          </a:prstGeom>
          <a:solidFill>
            <a:srgbClr val="12A566"/>
          </a:solidFill>
          <a:ln/>
        </p:spPr>
      </p:sp>
      <p:sp>
        <p:nvSpPr>
          <p:cNvPr id="59" name="Text 57"/>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0" name="Shape 58"/>
          <p:cNvSpPr/>
          <p:nvPr/>
        </p:nvSpPr>
        <p:spPr>
          <a:xfrm>
            <a:off x="6336792" y="4517136"/>
            <a:ext cx="5230368" cy="585216"/>
          </a:xfrm>
          <a:prstGeom prst="rect">
            <a:avLst/>
          </a:prstGeom>
          <a:solidFill>
            <a:srgbClr val="F7F7F7"/>
          </a:solidFill>
          <a:ln/>
        </p:spPr>
      </p:sp>
      <p:sp>
        <p:nvSpPr>
          <p:cNvPr id="61" name="Text 59"/>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2" name="Text 60"/>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3" name="Shape 61"/>
          <p:cNvSpPr/>
          <p:nvPr/>
        </p:nvSpPr>
        <p:spPr>
          <a:xfrm>
            <a:off x="10058400" y="4692701"/>
            <a:ext cx="640080" cy="234086"/>
          </a:xfrm>
          <a:prstGeom prst="rect">
            <a:avLst/>
          </a:prstGeom>
          <a:solidFill>
            <a:srgbClr val="12A566"/>
          </a:solidFill>
          <a:ln/>
        </p:spPr>
      </p:sp>
      <p:sp>
        <p:nvSpPr>
          <p:cNvPr id="64" name="Text 62"/>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5" name="Text 63"/>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64"/>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7" name="Shape 65"/>
          <p:cNvSpPr/>
          <p:nvPr/>
        </p:nvSpPr>
        <p:spPr>
          <a:xfrm>
            <a:off x="10058400" y="5277917"/>
            <a:ext cx="640080" cy="234086"/>
          </a:xfrm>
          <a:prstGeom prst="rect">
            <a:avLst/>
          </a:prstGeom>
          <a:solidFill>
            <a:srgbClr val="12A566"/>
          </a:solidFill>
          <a:ln/>
        </p:spPr>
      </p:sp>
      <p:sp>
        <p:nvSpPr>
          <p:cNvPr id="68" name="Text 66"/>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Moving now: Three stores tie. One store is on both lists (green bar).</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+22.2%</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+10.2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438912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Shape 7"/>
          <p:cNvSpPr/>
          <p:nvPr/>
        </p:nvSpPr>
        <p:spPr>
          <a:xfrm>
            <a:off x="548640" y="1755648"/>
            <a:ext cx="11091672" cy="713232"/>
          </a:xfrm>
          <a:prstGeom prst="rect">
            <a:avLst/>
          </a:prstGeom>
          <a:solidFill>
            <a:srgbClr val="F7F7F7"/>
          </a:solidFill>
          <a:ln/>
        </p:spPr>
      </p:sp>
      <p:sp>
        <p:nvSpPr>
          <p:cNvPr id="10" name="Shape 8"/>
          <p:cNvSpPr/>
          <p:nvPr/>
        </p:nvSpPr>
        <p:spPr>
          <a:xfrm>
            <a:off x="548640" y="1755648"/>
            <a:ext cx="64008" cy="713232"/>
          </a:xfrm>
          <a:prstGeom prst="rect">
            <a:avLst/>
          </a:prstGeom>
          <a:solidFill>
            <a:srgbClr val="12A566"/>
          </a:solidFill>
          <a:ln/>
        </p:spPr>
      </p:sp>
      <p:sp>
        <p:nvSpPr>
          <p:cNvPr id="11" name="Text 9"/>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2" name="Text 10"/>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3" name="Text 11"/>
          <p:cNvSpPr txBox="1"/>
          <p:nvPr/>
        </p:nvSpPr>
        <p:spPr>
          <a:xfrm>
            <a:off x="7178040" y="1755648"/>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Manage it daily: dispatch, parts staging, approvals, coaching</a:t>
            </a:r>
            <a:endParaRPr lang="en-US" sz="1500" dirty="0"/>
          </a:p>
        </p:txBody>
      </p:sp>
      <p:sp>
        <p:nvSpPr>
          <p:cNvPr id="14" name="Shape 12"/>
          <p:cNvSpPr/>
          <p:nvPr/>
        </p:nvSpPr>
        <p:spPr>
          <a:xfrm>
            <a:off x="548640" y="2542032"/>
            <a:ext cx="11091672" cy="713232"/>
          </a:xfrm>
          <a:prstGeom prst="rect">
            <a:avLst/>
          </a:prstGeom>
          <a:solidFill>
            <a:srgbClr val="FFFFFF"/>
          </a:solidFill>
          <a:ln/>
        </p:spPr>
      </p:sp>
      <p:sp>
        <p:nvSpPr>
          <p:cNvPr id="15" name="Shape 13"/>
          <p:cNvSpPr/>
          <p:nvPr/>
        </p:nvSpPr>
        <p:spPr>
          <a:xfrm>
            <a:off x="548640" y="2542032"/>
            <a:ext cx="64008" cy="713232"/>
          </a:xfrm>
          <a:prstGeom prst="rect">
            <a:avLst/>
          </a:prstGeom>
          <a:solidFill>
            <a:srgbClr val="12A566"/>
          </a:solidFill>
          <a:ln/>
        </p:spPr>
      </p:sp>
      <p:sp>
        <p:nvSpPr>
          <p:cNvPr id="16" name="Text 14"/>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17" name="Text 15"/>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18" name="Text 16"/>
          <p:cNvSpPr txBox="1"/>
          <p:nvPr/>
        </p:nvSpPr>
        <p:spPr>
          <a:xfrm>
            <a:off x="7178040" y="2542032"/>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consistent: MPI and Road to the Sale on every car</a:t>
            </a:r>
            <a:endParaRPr lang="en-US" sz="1500" dirty="0"/>
          </a:p>
        </p:txBody>
      </p:sp>
      <p:sp>
        <p:nvSpPr>
          <p:cNvPr id="19" name="Shape 17"/>
          <p:cNvSpPr/>
          <p:nvPr/>
        </p:nvSpPr>
        <p:spPr>
          <a:xfrm>
            <a:off x="548640" y="3328416"/>
            <a:ext cx="11091672" cy="713232"/>
          </a:xfrm>
          <a:prstGeom prst="rect">
            <a:avLst/>
          </a:prstGeom>
          <a:solidFill>
            <a:srgbClr val="F7F7F7"/>
          </a:solidFill>
          <a:ln/>
        </p:spPr>
      </p:sp>
      <p:sp>
        <p:nvSpPr>
          <p:cNvPr id="20" name="Shape 18"/>
          <p:cNvSpPr/>
          <p:nvPr/>
        </p:nvSpPr>
        <p:spPr>
          <a:xfrm>
            <a:off x="548640" y="3328416"/>
            <a:ext cx="64008" cy="713232"/>
          </a:xfrm>
          <a:prstGeom prst="rect">
            <a:avLst/>
          </a:prstGeom>
          <a:solidFill>
            <a:srgbClr val="12A566"/>
          </a:solidFill>
          <a:ln/>
        </p:spPr>
      </p:sp>
      <p:sp>
        <p:nvSpPr>
          <p:cNvPr id="21" name="Text 19"/>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2" name="Text 20"/>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23" name="Text 21"/>
          <p:cNvSpPr txBox="1"/>
          <p:nvPr/>
        </p:nvSpPr>
        <p:spPr>
          <a:xfrm>
            <a:off x="7178040" y="3328416"/>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Track where you are, ask for the sale on every car, every time, hold people accountable</a:t>
            </a:r>
            <a:endParaRPr lang="en-US" sz="1500" dirty="0"/>
          </a:p>
        </p:txBody>
      </p:sp>
      <p:sp>
        <p:nvSpPr>
          <p:cNvPr id="24" name="Shape 22"/>
          <p:cNvSpPr/>
          <p:nvPr/>
        </p:nvSpPr>
        <p:spPr>
          <a:xfrm>
            <a:off x="548640" y="4114800"/>
            <a:ext cx="11091672" cy="713232"/>
          </a:xfrm>
          <a:prstGeom prst="rect">
            <a:avLst/>
          </a:prstGeom>
          <a:solidFill>
            <a:srgbClr val="FFFFFF"/>
          </a:solidFill>
          <a:ln/>
        </p:spPr>
      </p:sp>
      <p:sp>
        <p:nvSpPr>
          <p:cNvPr id="25" name="Shape 23"/>
          <p:cNvSpPr/>
          <p:nvPr/>
        </p:nvSpPr>
        <p:spPr>
          <a:xfrm>
            <a:off x="548640" y="4114800"/>
            <a:ext cx="64008" cy="713232"/>
          </a:xfrm>
          <a:prstGeom prst="rect">
            <a:avLst/>
          </a:prstGeom>
          <a:solidFill>
            <a:srgbClr val="12A566"/>
          </a:solidFill>
          <a:ln/>
        </p:spPr>
      </p:sp>
      <p:sp>
        <p:nvSpPr>
          <p:cNvPr id="26" name="Text 24"/>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27" name="Text 25"/>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28" name="Text 26"/>
          <p:cNvSpPr txBox="1"/>
          <p:nvPr/>
        </p:nvSpPr>
        <p:spPr>
          <a:xfrm>
            <a:off x="7178040" y="4114800"/>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available when they call; proactive outreach to lapsed and inactive customers</a:t>
            </a:r>
            <a:endParaRPr lang="en-US" sz="1500" dirty="0"/>
          </a:p>
        </p:txBody>
      </p:sp>
      <p:sp>
        <p:nvSpPr>
          <p:cNvPr id="29" name="Shape 27"/>
          <p:cNvSpPr/>
          <p:nvPr/>
        </p:nvSpPr>
        <p:spPr>
          <a:xfrm>
            <a:off x="548640" y="4901184"/>
            <a:ext cx="11091672" cy="713232"/>
          </a:xfrm>
          <a:prstGeom prst="rect">
            <a:avLst/>
          </a:prstGeom>
          <a:solidFill>
            <a:srgbClr val="F7F7F7"/>
          </a:solidFill>
          <a:ln/>
        </p:spPr>
      </p:sp>
      <p:sp>
        <p:nvSpPr>
          <p:cNvPr id="30" name="Shape 28"/>
          <p:cNvSpPr/>
          <p:nvPr/>
        </p:nvSpPr>
        <p:spPr>
          <a:xfrm>
            <a:off x="548640" y="4901184"/>
            <a:ext cx="64008" cy="713232"/>
          </a:xfrm>
          <a:prstGeom prst="rect">
            <a:avLst/>
          </a:prstGeom>
          <a:solidFill>
            <a:srgbClr val="12A566"/>
          </a:solidFill>
          <a:ln/>
        </p:spPr>
      </p:sp>
      <p:sp>
        <p:nvSpPr>
          <p:cNvPr id="31" name="Text 29"/>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Ten minutes a day saved for every tech</a:t>
            </a:r>
            <a:endParaRPr lang="en-US" sz="1700" dirty="0"/>
          </a:p>
        </p:txBody>
      </p:sp>
      <p:sp>
        <p:nvSpPr>
          <p:cNvPr id="32" name="Text 30"/>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$4,443,804</a:t>
            </a:r>
            <a:endParaRPr lang="en-US" sz="2400" dirty="0"/>
          </a:p>
        </p:txBody>
      </p:sp>
      <p:sp>
        <p:nvSpPr>
          <p:cNvPr id="33" name="Text 31"/>
          <p:cNvSpPr txBox="1"/>
          <p:nvPr/>
        </p:nvSpPr>
        <p:spPr>
          <a:xfrm>
            <a:off x="7178040" y="4901184"/>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Streamline the process, remove inefficiencies: parts to the bay, tools and keys in place</a:t>
            </a:r>
            <a:endParaRPr lang="en-US" sz="1500" dirty="0"/>
          </a:p>
        </p:txBody>
      </p:sp>
      <p:sp>
        <p:nvSpPr>
          <p:cNvPr id="34" name="Shape 32"/>
          <p:cNvSpPr/>
          <p:nvPr/>
        </p:nvSpPr>
        <p:spPr>
          <a:xfrm>
            <a:off x="457200" y="6126480"/>
            <a:ext cx="11274552" cy="371856"/>
          </a:xfrm>
          <a:prstGeom prst="rect">
            <a:avLst/>
          </a:prstGeom>
          <a:solidFill>
            <a:srgbClr val="E6F6EE"/>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Other than one more RO a day, every number here comes from customers already coming in for service.</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to Read Your Prescription</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536192"/>
            <a:ext cx="50292" cy="590702"/>
          </a:xfrm>
          <a:prstGeom prst="rect">
            <a:avLst/>
          </a:prstGeom>
          <a:solidFill>
            <a:srgbClr val="2587C5"/>
          </a:solidFill>
          <a:ln/>
        </p:spPr>
      </p:sp>
      <p:sp>
        <p:nvSpPr>
          <p:cNvPr id="7" name="Text 5"/>
          <p:cNvSpPr txBox="1"/>
          <p:nvPr/>
        </p:nvSpPr>
        <p:spPr>
          <a:xfrm>
            <a:off x="914400" y="148132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Your vitals</a:t>
            </a:r>
            <a:endParaRPr lang="en-US" sz="1800" dirty="0"/>
          </a:p>
        </p:txBody>
      </p:sp>
      <p:sp>
        <p:nvSpPr>
          <p:cNvPr id="8" name="Text 6"/>
          <p:cNvSpPr txBox="1"/>
          <p:nvPr/>
        </p:nvSpPr>
        <p:spPr>
          <a:xfrm>
            <a:off x="3200400" y="148132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2026 year to date, with the change on 2025. Absorption reads against the group.</a:t>
            </a:r>
            <a:endParaRPr lang="en-US" sz="1700" dirty="0"/>
          </a:p>
        </p:txBody>
      </p:sp>
      <p:sp>
        <p:nvSpPr>
          <p:cNvPr id="9" name="Shape 7"/>
          <p:cNvSpPr/>
          <p:nvPr/>
        </p:nvSpPr>
        <p:spPr>
          <a:xfrm>
            <a:off x="713232" y="2401214"/>
            <a:ext cx="50292" cy="590702"/>
          </a:xfrm>
          <a:prstGeom prst="rect">
            <a:avLst/>
          </a:prstGeom>
          <a:solidFill>
            <a:srgbClr val="2587C5"/>
          </a:solidFill>
          <a:ln/>
        </p:spPr>
      </p:sp>
      <p:sp>
        <p:nvSpPr>
          <p:cNvPr id="10" name="Text 8"/>
          <p:cNvSpPr txBox="1"/>
          <p:nvPr/>
        </p:nvSpPr>
        <p:spPr>
          <a:xfrm>
            <a:off x="914400" y="2346350"/>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The bar</a:t>
            </a:r>
            <a:endParaRPr lang="en-US" sz="1800" dirty="0"/>
          </a:p>
        </p:txBody>
      </p:sp>
      <p:sp>
        <p:nvSpPr>
          <p:cNvPr id="11" name="Text 9"/>
          <p:cNvSpPr txBox="1"/>
          <p:nvPr/>
        </p:nvSpPr>
        <p:spPr>
          <a:xfrm>
            <a:off x="3200400" y="2346350"/>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Our benchmarks; else your peers' average (luxury or non-luxury), the group, or your 2025.</a:t>
            </a:r>
            <a:endParaRPr lang="en-US" sz="1700" dirty="0"/>
          </a:p>
        </p:txBody>
      </p:sp>
      <p:sp>
        <p:nvSpPr>
          <p:cNvPr id="12" name="Shape 10"/>
          <p:cNvSpPr/>
          <p:nvPr/>
        </p:nvSpPr>
        <p:spPr>
          <a:xfrm>
            <a:off x="713232" y="3266237"/>
            <a:ext cx="50292" cy="590702"/>
          </a:xfrm>
          <a:prstGeom prst="rect">
            <a:avLst/>
          </a:prstGeom>
          <a:solidFill>
            <a:srgbClr val="2587C5"/>
          </a:solidFill>
          <a:ln/>
        </p:spPr>
      </p:sp>
      <p:sp>
        <p:nvSpPr>
          <p:cNvPr id="13" name="Text 11"/>
          <p:cNvSpPr txBox="1"/>
          <p:nvPr/>
        </p:nvSpPr>
        <p:spPr>
          <a:xfrm>
            <a:off x="914400" y="3211373"/>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A year</a:t>
            </a:r>
            <a:endParaRPr lang="en-US" sz="1800" dirty="0"/>
          </a:p>
        </p:txBody>
      </p:sp>
      <p:sp>
        <p:nvSpPr>
          <p:cNvPr id="14" name="Text 12"/>
          <p:cNvSpPr txBox="1"/>
          <p:nvPr/>
        </p:nvSpPr>
        <p:spPr>
          <a:xfrm>
            <a:off x="3200400" y="3211373"/>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Jan–Sep gaps x 12/9; ELR, MPI and video Jul–Sep x 4. A CP RO is worth $342, an hour $183.</a:t>
            </a:r>
            <a:endParaRPr lang="en-US" sz="1700" dirty="0"/>
          </a:p>
        </p:txBody>
      </p:sp>
      <p:sp>
        <p:nvSpPr>
          <p:cNvPr id="15" name="Shape 13"/>
          <p:cNvSpPr/>
          <p:nvPr/>
        </p:nvSpPr>
        <p:spPr>
          <a:xfrm>
            <a:off x="713232" y="4131259"/>
            <a:ext cx="50292" cy="590702"/>
          </a:xfrm>
          <a:prstGeom prst="rect">
            <a:avLst/>
          </a:prstGeom>
          <a:solidFill>
            <a:srgbClr val="2587C5"/>
          </a:solidFill>
          <a:ln/>
        </p:spPr>
      </p:sp>
      <p:sp>
        <p:nvSpPr>
          <p:cNvPr id="16" name="Text 14"/>
          <p:cNvSpPr txBox="1"/>
          <p:nvPr/>
        </p:nvSpPr>
        <p:spPr>
          <a:xfrm>
            <a:off x="914400" y="4076395"/>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Opcodes</a:t>
            </a:r>
            <a:endParaRPr lang="en-US" sz="1800" dirty="0"/>
          </a:p>
        </p:txBody>
      </p:sp>
      <p:sp>
        <p:nvSpPr>
          <p:cNvPr id="17" name="Text 15"/>
          <p:cNvSpPr txBox="1"/>
          <p:nvPr/>
        </p:nvSpPr>
        <p:spPr>
          <a:xfrm>
            <a:off x="3200400" y="4076395"/>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Valued at your own gross per service, as the benchmark slides show them.</a:t>
            </a:r>
            <a:endParaRPr lang="en-US" sz="1700" dirty="0"/>
          </a:p>
        </p:txBody>
      </p:sp>
      <p:sp>
        <p:nvSpPr>
          <p:cNvPr id="18" name="Shape 16"/>
          <p:cNvSpPr/>
          <p:nvPr/>
        </p:nvSpPr>
        <p:spPr>
          <a:xfrm>
            <a:off x="713232" y="4996282"/>
            <a:ext cx="50292" cy="590702"/>
          </a:xfrm>
          <a:prstGeom prst="rect">
            <a:avLst/>
          </a:prstGeom>
          <a:solidFill>
            <a:srgbClr val="2587C5"/>
          </a:solidFill>
          <a:ln/>
        </p:spPr>
      </p:sp>
      <p:sp>
        <p:nvSpPr>
          <p:cNvPr id="19" name="Text 17"/>
          <p:cNvSpPr txBox="1"/>
          <p:nvPr/>
        </p:nvSpPr>
        <p:spPr>
          <a:xfrm>
            <a:off x="914400" y="494141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Ranked</a:t>
            </a:r>
            <a:endParaRPr lang="en-US" sz="1800" dirty="0"/>
          </a:p>
        </p:txBody>
      </p:sp>
      <p:sp>
        <p:nvSpPr>
          <p:cNvPr id="20" name="Text 18"/>
          <p:cNvSpPr txBox="1"/>
          <p:nvPr/>
        </p:nvSpPr>
        <p:spPr>
          <a:xfrm>
            <a:off x="3200400" y="494141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Biggest first, down to $10K a year. Lines overlap: rank them, don't add them. A dash means counted, not priced.</a:t>
            </a:r>
            <a:endParaRPr lang="en-US" sz="17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Pick the two lines you will own by the next meeting.</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Acura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$2.89M</a:t>
            </a:r>
            <a:pPr indent="0" marL="0">
              <a:buNone/>
            </a:pPr>
            <a:r>
              <a:rPr lang="en-US" sz="1400" b="1" dirty="0">
                <a:solidFill>
                  <a:srgbClr val="A82B26"/>
                </a:solidFill>
                <a:latin typeface="Inter" pitchFamily="34" charset="0"/>
                <a:ea typeface="Inter" pitchFamily="34" charset="-122"/>
                <a:cs typeface="Inter" pitchFamily="34" charset="-120"/>
              </a:rPr>
              <a:t>  −$517K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$476,154</a:t>
            </a:r>
            <a:pPr indent="0" marL="0">
              <a:buNone/>
            </a:pPr>
            <a:r>
              <a:rPr lang="en-US" sz="1400" b="1" dirty="0">
                <a:solidFill>
                  <a:srgbClr val="0B7A4A"/>
                </a:solidFill>
                <a:latin typeface="Inter" pitchFamily="34" charset="0"/>
                <a:ea typeface="Inter" pitchFamily="34" charset="-122"/>
                <a:cs typeface="Inter" pitchFamily="34" charset="-120"/>
              </a:rPr>
              <a:t>  +$217K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3,671</a:t>
            </a:r>
            <a:pPr indent="0" marL="0">
              <a:buNone/>
            </a:pPr>
            <a:r>
              <a:rPr lang="en-US" sz="1400" b="1" dirty="0">
                <a:solidFill>
                  <a:srgbClr val="A82B26"/>
                </a:solidFill>
                <a:latin typeface="Inter" pitchFamily="34" charset="0"/>
                <a:ea typeface="Inter" pitchFamily="34" charset="-122"/>
                <a:cs typeface="Inter" pitchFamily="34" charset="-120"/>
              </a:rPr>
              <a:t>  −239</a:t>
            </a:r>
            <a:endParaRPr lang="en-US" sz="2200" dirty="0"/>
          </a:p>
        </p:txBody>
      </p:sp>
      <p:sp>
        <p:nvSpPr>
          <p:cNvPr id="19" name="Shape 17"/>
          <p:cNvSpPr/>
          <p:nvPr/>
        </p:nvSpPr>
        <p:spPr>
          <a:xfrm>
            <a:off x="3845560" y="658368"/>
            <a:ext cx="7886192" cy="475488"/>
          </a:xfrm>
          <a:prstGeom prst="rect">
            <a:avLst/>
          </a:prstGeom>
          <a:solidFill>
            <a:srgbClr val="EDF4FA"/>
          </a:solidFill>
          <a:ln/>
        </p:spPr>
      </p:sp>
      <p:sp>
        <p:nvSpPr>
          <p:cNvPr id="20" name="Text 18"/>
          <p:cNvSpPr txBox="1"/>
          <p:nvPr/>
        </p:nvSpPr>
        <p:spPr>
          <a:xfrm>
            <a:off x="3973576" y="658368"/>
            <a:ext cx="763016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Parts GP 44.9%   ·   4th · Brake fluid 12.7%   ·   4th · Fuel service 9.3%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11 of 11</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$911K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Service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$1.89M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$2.33M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$584K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Sell the MPI; price menus to market.</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hours per RO</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1.42</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1.75</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$292K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Present every MPI finding: +0.33 hr per RO.</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RO count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3,671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3,910</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$109K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Win back lapsed customers: 319 more ROs.</a:t>
            </a:r>
            <a:endParaRPr lang="en-US" sz="15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$1.01M</a:t>
            </a:r>
            <a:endParaRPr lang="en-US" sz="15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$1.08M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$105K</a:t>
            </a:r>
            <a:endParaRPr lang="en-US" sz="15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6</a:t>
            </a:r>
            <a:endParaRPr lang="en-US" sz="15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83.4%</a:t>
            </a:r>
            <a:endParaRPr lang="en-US" sz="15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425 more a year.</a:t>
            </a:r>
            <a:endParaRPr lang="en-US" sz="15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$12.34M</a:t>
            </a:r>
            <a:pPr indent="0" marL="0">
              <a:buNone/>
            </a:pPr>
            <a:r>
              <a:rPr lang="en-US" sz="1400" b="1" dirty="0">
                <a:solidFill>
                  <a:srgbClr val="0B7A4A"/>
                </a:solidFill>
                <a:latin typeface="Inter" pitchFamily="34" charset="0"/>
                <a:ea typeface="Inter" pitchFamily="34" charset="-122"/>
                <a:cs typeface="Inter" pitchFamily="34" charset="-120"/>
              </a:rPr>
              <a:t>  +$1.70M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$4.94M</a:t>
            </a:r>
            <a:pPr indent="0" marL="0">
              <a:buNone/>
            </a:pPr>
            <a:r>
              <a:rPr lang="en-US" sz="1400" b="1" dirty="0">
                <a:solidFill>
                  <a:srgbClr val="0B7A4A"/>
                </a:solidFill>
                <a:latin typeface="Inter" pitchFamily="34" charset="0"/>
                <a:ea typeface="Inter" pitchFamily="34" charset="-122"/>
                <a:cs typeface="Inter" pitchFamily="34" charset="-120"/>
              </a:rPr>
              <a:t>  +$838K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106.6%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3,779</a:t>
            </a:r>
            <a:pPr indent="0" marL="0">
              <a:buNone/>
            </a:pPr>
            <a:r>
              <a:rPr lang="en-US" sz="1400" b="1" dirty="0">
                <a:solidFill>
                  <a:srgbClr val="0B7A4A"/>
                </a:solidFill>
                <a:latin typeface="Inter" pitchFamily="34" charset="0"/>
                <a:ea typeface="Inter" pitchFamily="34" charset="-122"/>
                <a:cs typeface="Inter" pitchFamily="34" charset="-120"/>
              </a:rPr>
              <a:t>  +126</a:t>
            </a:r>
            <a:endParaRPr lang="en-US" sz="2200" dirty="0"/>
          </a:p>
        </p:txBody>
      </p:sp>
      <p:sp>
        <p:nvSpPr>
          <p:cNvPr id="19" name="Shape 17"/>
          <p:cNvSpPr/>
          <p:nvPr/>
        </p:nvSpPr>
        <p:spPr>
          <a:xfrm>
            <a:off x="4034028" y="658368"/>
            <a:ext cx="7697724" cy="475488"/>
          </a:xfrm>
          <a:prstGeom prst="rect">
            <a:avLst/>
          </a:prstGeom>
          <a:solidFill>
            <a:srgbClr val="EDF4FA"/>
          </a:solidFill>
          <a:ln/>
        </p:spPr>
      </p:sp>
      <p:sp>
        <p:nvSpPr>
          <p:cNvPr id="20" name="Text 18"/>
          <p:cNvSpPr txBox="1"/>
          <p:nvPr/>
        </p:nvSpPr>
        <p:spPr>
          <a:xfrm>
            <a:off x="4162044" y="658368"/>
            <a:ext cx="744169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Absorption 106.6%   ·   1st · CP ELR $266   ·   1st · Gross/head $23,461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 of 23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$1.22M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79.0%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1,272 more a year.</a:t>
            </a:r>
            <a:endParaRPr lang="en-US" sz="14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$4.46M</a:t>
            </a:r>
            <a:pPr indent="0" marL="0">
              <a:buNone/>
            </a:pPr>
            <a:r>
              <a:rPr lang="en-US" sz="1400" b="1" dirty="0">
                <a:solidFill>
                  <a:srgbClr val="A82B26"/>
                </a:solidFill>
                <a:latin typeface="Inter" pitchFamily="34" charset="0"/>
                <a:ea typeface="Inter" pitchFamily="34" charset="-122"/>
                <a:cs typeface="Inter" pitchFamily="34" charset="-120"/>
              </a:rPr>
              <a:t>  −$520K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$1.82M</a:t>
            </a:r>
            <a:pPr indent="0" marL="0">
              <a:buNone/>
            </a:pPr>
            <a:r>
              <a:rPr lang="en-US" sz="1400" b="1" dirty="0">
                <a:solidFill>
                  <a:srgbClr val="A82B26"/>
                </a:solidFill>
                <a:latin typeface="Inter" pitchFamily="34" charset="0"/>
                <a:ea typeface="Inter" pitchFamily="34" charset="-122"/>
                <a:cs typeface="Inter" pitchFamily="34" charset="-120"/>
              </a:rPr>
              <a:t>  −$178K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103.6%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3,917</a:t>
            </a:r>
            <a:pPr indent="0" marL="0">
              <a:buNone/>
            </a:pPr>
            <a:r>
              <a:rPr lang="en-US" sz="1400" b="1" dirty="0">
                <a:solidFill>
                  <a:srgbClr val="A82B26"/>
                </a:solidFill>
                <a:latin typeface="Inter" pitchFamily="34" charset="0"/>
                <a:ea typeface="Inter" pitchFamily="34" charset="-122"/>
                <a:cs typeface="Inter" pitchFamily="34" charset="-120"/>
              </a:rPr>
              <a:t>  −462</a:t>
            </a:r>
            <a:endParaRPr lang="en-US" sz="2200" dirty="0"/>
          </a:p>
        </p:txBody>
      </p:sp>
      <p:sp>
        <p:nvSpPr>
          <p:cNvPr id="19" name="Shape 17"/>
          <p:cNvSpPr/>
          <p:nvPr/>
        </p:nvSpPr>
        <p:spPr>
          <a:xfrm>
            <a:off x="4222496" y="658368"/>
            <a:ext cx="7509256" cy="475488"/>
          </a:xfrm>
          <a:prstGeom prst="rect">
            <a:avLst/>
          </a:prstGeom>
          <a:solidFill>
            <a:srgbClr val="EDF4FA"/>
          </a:solidFill>
          <a:ln/>
        </p:spPr>
      </p:sp>
      <p:sp>
        <p:nvSpPr>
          <p:cNvPr id="20" name="Text 18"/>
          <p:cNvSpPr txBox="1"/>
          <p:nvPr/>
        </p:nvSpPr>
        <p:spPr>
          <a:xfrm>
            <a:off x="4350512" y="658368"/>
            <a:ext cx="72532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Absorption 103.6%   ·   2nd · CP ELR $235   ·   2nd · Proficiency 117%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$437K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$3.04M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$3.23M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3,917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4,379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616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378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11.8%</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149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$14,916</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4.1 heads over peer avg.</a:t>
            </a:r>
            <a:endParaRPr lang="en-US" sz="14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Cadillac</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$9.60M</a:t>
            </a:r>
            <a:pPr indent="0" marL="0">
              <a:buNone/>
            </a:pPr>
            <a:r>
              <a:rPr lang="en-US" sz="1400" b="1" dirty="0">
                <a:solidFill>
                  <a:srgbClr val="0B7A4A"/>
                </a:solidFill>
                <a:latin typeface="Inter" pitchFamily="34" charset="0"/>
                <a:ea typeface="Inter" pitchFamily="34" charset="-122"/>
                <a:cs typeface="Inter" pitchFamily="34" charset="-120"/>
              </a:rPr>
              <a:t>  +$664K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$2.60M</a:t>
            </a:r>
            <a:pPr indent="0" marL="0">
              <a:buNone/>
            </a:pPr>
            <a:r>
              <a:rPr lang="en-US" sz="1400" b="1" dirty="0">
                <a:solidFill>
                  <a:srgbClr val="0B7A4A"/>
                </a:solidFill>
                <a:latin typeface="Inter" pitchFamily="34" charset="0"/>
                <a:ea typeface="Inter" pitchFamily="34" charset="-122"/>
                <a:cs typeface="Inter" pitchFamily="34" charset="-120"/>
              </a:rPr>
              <a:t>  +$766K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86.1%</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5,344</a:t>
            </a:r>
            <a:pPr indent="0" marL="0">
              <a:buNone/>
            </a:pPr>
            <a:r>
              <a:rPr lang="en-US" sz="1400" b="1" dirty="0">
                <a:solidFill>
                  <a:srgbClr val="0B7A4A"/>
                </a:solidFill>
                <a:latin typeface="Inter" pitchFamily="34" charset="0"/>
                <a:ea typeface="Inter" pitchFamily="34" charset="-122"/>
                <a:cs typeface="Inter" pitchFamily="34" charset="-120"/>
              </a:rPr>
              <a:t>  +137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Net profit +$766K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$464</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$939K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$175</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$6.49M</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$6.51M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643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40.5%</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6,556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2,005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$14,260</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12.0 heads over peer avg.</a:t>
            </a:r>
            <a:endParaRPr lang="en-US" sz="14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CDJR Post Falls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$3.55M</a:t>
            </a:r>
            <a:pPr indent="0" marL="0">
              <a:buNone/>
            </a:pPr>
            <a:r>
              <a:rPr lang="en-US" sz="1400" b="1" dirty="0">
                <a:solidFill>
                  <a:srgbClr val="A82B26"/>
                </a:solidFill>
                <a:latin typeface="Inter" pitchFamily="34" charset="0"/>
                <a:ea typeface="Inter" pitchFamily="34" charset="-122"/>
                <a:cs typeface="Inter" pitchFamily="34" charset="-120"/>
              </a:rPr>
              <a:t>  −$204K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$800,469</a:t>
            </a:r>
            <a:pPr indent="0" marL="0">
              <a:buNone/>
            </a:pPr>
            <a:r>
              <a:rPr lang="en-US" sz="1400" b="1" dirty="0">
                <a:solidFill>
                  <a:srgbClr val="0B7A4A"/>
                </a:solidFill>
                <a:latin typeface="Inter" pitchFamily="34" charset="0"/>
                <a:ea typeface="Inter" pitchFamily="34" charset="-122"/>
                <a:cs typeface="Inter" pitchFamily="34" charset="-120"/>
              </a:rPr>
              <a:t>  +$54K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5,358</a:t>
            </a:r>
            <a:pPr indent="0" marL="0">
              <a:buNone/>
            </a:pPr>
            <a:r>
              <a:rPr lang="en-US" sz="1400" b="1" dirty="0">
                <a:solidFill>
                  <a:srgbClr val="A82B26"/>
                </a:solidFill>
                <a:latin typeface="Inter" pitchFamily="34" charset="0"/>
                <a:ea typeface="Inter" pitchFamily="34" charset="-122"/>
                <a:cs typeface="Inter" pitchFamily="34" charset="-120"/>
              </a:rPr>
              <a:t>  −277</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14</a:t>
            </a:r>
            <a:endParaRPr lang="en-US" sz="1400" dirty="0"/>
          </a:p>
        </p:txBody>
      </p:sp>
      <p:sp>
        <p:nvSpPr>
          <p:cNvPr id="30" name="Text 28"/>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$1.20M</a:t>
            </a:r>
            <a:endParaRPr lang="en-US" sz="1400" dirty="0"/>
          </a:p>
        </p:txBody>
      </p:sp>
      <p:sp>
        <p:nvSpPr>
          <p:cNvPr id="32" name="Text 30"/>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37866"/>
            <a:ext cx="10872216" cy="323850"/>
          </a:xfrm>
          <a:prstGeom prst="rect">
            <a:avLst/>
          </a:prstGeom>
          <a:solidFill>
            <a:srgbClr val="F7F7F7"/>
          </a:solidFill>
          <a:ln/>
        </p:spPr>
      </p:sp>
      <p:sp>
        <p:nvSpPr>
          <p:cNvPr id="34" name="Text 32"/>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$1.26M</a:t>
            </a:r>
            <a:endParaRPr lang="en-US" sz="1400" dirty="0"/>
          </a:p>
        </p:txBody>
      </p:sp>
      <p:sp>
        <p:nvSpPr>
          <p:cNvPr id="37" name="Text 35"/>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$195K</a:t>
            </a:r>
            <a:endParaRPr lang="en-US" sz="1400" dirty="0"/>
          </a:p>
        </p:txBody>
      </p:sp>
      <p:sp>
        <p:nvSpPr>
          <p:cNvPr id="39" name="Text 37"/>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5,358</a:t>
            </a:r>
            <a:endParaRPr lang="en-US" sz="1400" dirty="0"/>
          </a:p>
        </p:txBody>
      </p:sp>
      <p:sp>
        <p:nvSpPr>
          <p:cNvPr id="43" name="Text 41"/>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5,635</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5" name="Text 43"/>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369 more ROs.</a:t>
            </a:r>
            <a:endParaRPr lang="en-US" sz="1400" dirty="0"/>
          </a:p>
        </p:txBody>
      </p:sp>
      <p:sp>
        <p:nvSpPr>
          <p:cNvPr id="46" name="Shape 44"/>
          <p:cNvSpPr/>
          <p:nvPr/>
        </p:nvSpPr>
        <p:spPr>
          <a:xfrm>
            <a:off x="658368" y="3385566"/>
            <a:ext cx="10872216" cy="323850"/>
          </a:xfrm>
          <a:prstGeom prst="rect">
            <a:avLst/>
          </a:prstGeom>
          <a:solidFill>
            <a:srgbClr val="F7F7F7"/>
          </a:solidFill>
          <a:ln/>
        </p:spPr>
      </p:sp>
      <p:sp>
        <p:nvSpPr>
          <p:cNvPr id="47" name="Text 45"/>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35.6%</a:t>
            </a:r>
            <a:endParaRPr lang="en-US" sz="1400" dirty="0"/>
          </a:p>
        </p:txBody>
      </p:sp>
      <p:sp>
        <p:nvSpPr>
          <p:cNvPr id="50" name="Text 48"/>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$114K</a:t>
            </a:r>
            <a:endParaRPr lang="en-US" sz="1400" dirty="0"/>
          </a:p>
        </p:txBody>
      </p:sp>
      <p:sp>
        <p:nvSpPr>
          <p:cNvPr id="52" name="Text 50"/>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55" name="Text 53"/>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$2.30M</a:t>
            </a:r>
            <a:endParaRPr lang="en-US" sz="1400" dirty="0"/>
          </a:p>
        </p:txBody>
      </p:sp>
      <p:sp>
        <p:nvSpPr>
          <p:cNvPr id="56" name="Text 54"/>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8" name="Text 56"/>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59" name="Shape 57"/>
          <p:cNvSpPr/>
          <p:nvPr/>
        </p:nvSpPr>
        <p:spPr>
          <a:xfrm>
            <a:off x="658368" y="4033266"/>
            <a:ext cx="10872216" cy="323850"/>
          </a:xfrm>
          <a:prstGeom prst="rect">
            <a:avLst/>
          </a:prstGeom>
          <a:solidFill>
            <a:srgbClr val="F7F7F7"/>
          </a:solidFill>
          <a:ln/>
        </p:spPr>
      </p:sp>
      <p:sp>
        <p:nvSpPr>
          <p:cNvPr id="60" name="Text 58"/>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3" name="Text 61"/>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$73K</a:t>
            </a:r>
            <a:endParaRPr lang="en-US" sz="1400" dirty="0"/>
          </a:p>
        </p:txBody>
      </p:sp>
      <p:sp>
        <p:nvSpPr>
          <p:cNvPr id="65" name="Text 63"/>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981 more a year.</a:t>
            </a:r>
            <a:endParaRPr lang="en-US" sz="1400" dirty="0"/>
          </a:p>
        </p:txBody>
      </p:sp>
      <p:sp>
        <p:nvSpPr>
          <p:cNvPr id="66" name="Text 64"/>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8" name="Text 66"/>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a:t>
            </a:r>
            <a:endParaRPr lang="en-US" sz="1400" dirty="0"/>
          </a:p>
        </p:txBody>
      </p:sp>
      <p:sp>
        <p:nvSpPr>
          <p:cNvPr id="69" name="Text 67"/>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$62K</a:t>
            </a:r>
            <a:endParaRPr lang="en-US" sz="1400" dirty="0"/>
          </a:p>
        </p:txBody>
      </p:sp>
      <p:sp>
        <p:nvSpPr>
          <p:cNvPr id="71" name="Text 69"/>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321 more a year.</a:t>
            </a:r>
            <a:endParaRPr lang="en-US" sz="1400" dirty="0"/>
          </a:p>
        </p:txBody>
      </p:sp>
      <p:sp>
        <p:nvSpPr>
          <p:cNvPr id="72" name="Shape 70"/>
          <p:cNvSpPr/>
          <p:nvPr/>
        </p:nvSpPr>
        <p:spPr>
          <a:xfrm>
            <a:off x="658368" y="4680966"/>
            <a:ext cx="10872216" cy="323850"/>
          </a:xfrm>
          <a:prstGeom prst="rect">
            <a:avLst/>
          </a:prstGeom>
          <a:solidFill>
            <a:srgbClr val="F7F7F7"/>
          </a:solidFill>
          <a:ln/>
        </p:spPr>
      </p:sp>
      <p:sp>
        <p:nvSpPr>
          <p:cNvPr id="73" name="Text 71"/>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5" name="Text 73"/>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76" name="Text 74"/>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78" name="Text 76"/>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770 more a year.</a:t>
            </a:r>
            <a:endParaRPr lang="en-US" sz="1400" dirty="0"/>
          </a:p>
        </p:txBody>
      </p:sp>
      <p:sp>
        <p:nvSpPr>
          <p:cNvPr id="79" name="Text 77"/>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1" name="Text 79"/>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82" name="Text 80"/>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$53K</a:t>
            </a:r>
            <a:endParaRPr lang="en-US" sz="1400" dirty="0"/>
          </a:p>
        </p:txBody>
      </p:sp>
      <p:sp>
        <p:nvSpPr>
          <p:cNvPr id="84" name="Text 82"/>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412 more a year.</a:t>
            </a:r>
            <a:endParaRPr lang="en-US" sz="1400" dirty="0"/>
          </a:p>
        </p:txBody>
      </p:sp>
      <p:sp>
        <p:nvSpPr>
          <p:cNvPr id="85" name="Shape 83"/>
          <p:cNvSpPr/>
          <p:nvPr/>
        </p:nvSpPr>
        <p:spPr>
          <a:xfrm>
            <a:off x="658368" y="5323180"/>
            <a:ext cx="10872216" cy="10973"/>
          </a:xfrm>
          <a:prstGeom prst="rect">
            <a:avLst/>
          </a:prstGeom>
          <a:solidFill>
            <a:srgbClr val="9AA3AD"/>
          </a:solidFill>
          <a:ln/>
        </p:spPr>
      </p:sp>
      <p:sp>
        <p:nvSpPr>
          <p:cNvPr id="86" name="Text 84"/>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8" name="Text 86"/>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89" name="Text 87"/>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0" name="Text 88"/>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5,302 more a year.</a:t>
            </a:r>
            <a:endParaRPr lang="en-US" sz="1400" dirty="0"/>
          </a:p>
        </p:txBody>
      </p:sp>
      <p:sp>
        <p:nvSpPr>
          <p:cNvPr id="92" name="Text 90"/>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4" name="Text 92"/>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$9,953</a:t>
            </a:r>
            <a:endParaRPr lang="en-US" sz="1400" dirty="0"/>
          </a:p>
        </p:txBody>
      </p:sp>
      <p:sp>
        <p:nvSpPr>
          <p:cNvPr id="95" name="Text 93"/>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6" name="Text 94"/>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8.6 heads over peer avg.</a:t>
            </a:r>
            <a:endParaRPr lang="en-US" sz="1400" dirty="0"/>
          </a:p>
        </p:txBody>
      </p:sp>
      <p:sp>
        <p:nvSpPr>
          <p:cNvPr id="98" name="Shape 96"/>
          <p:cNvSpPr/>
          <p:nvPr/>
        </p:nvSpPr>
        <p:spPr>
          <a:xfrm>
            <a:off x="658368" y="5976366"/>
            <a:ext cx="10872216" cy="323850"/>
          </a:xfrm>
          <a:prstGeom prst="rect">
            <a:avLst/>
          </a:prstGeom>
          <a:solidFill>
            <a:srgbClr val="F7F7F7"/>
          </a:solidFill>
          <a:ln/>
        </p:spPr>
      </p:sp>
      <p:sp>
        <p:nvSpPr>
          <p:cNvPr id="99" name="Text 97"/>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0" name="Text 98"/>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1" name="Text 99"/>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81.7%</a:t>
            </a:r>
            <a:endParaRPr lang="en-US" sz="1400" dirty="0"/>
          </a:p>
        </p:txBody>
      </p:sp>
      <p:sp>
        <p:nvSpPr>
          <p:cNvPr id="102" name="Text 100"/>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3" name="Text 101"/>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1,052 more a year.</a:t>
            </a:r>
            <a:endParaRPr lang="en-US" sz="14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GMC Bullhead</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$4.53M</a:t>
            </a:r>
            <a:pPr indent="0" marL="0">
              <a:buNone/>
            </a:pPr>
            <a:r>
              <a:rPr lang="en-US" sz="1400" b="1" dirty="0">
                <a:solidFill>
                  <a:srgbClr val="0B7A4A"/>
                </a:solidFill>
                <a:latin typeface="Inter" pitchFamily="34" charset="0"/>
                <a:ea typeface="Inter" pitchFamily="34" charset="-122"/>
                <a:cs typeface="Inter" pitchFamily="34" charset="-120"/>
              </a:rPr>
              <a:t>  +$39K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$1.12M</a:t>
            </a:r>
            <a:pPr indent="0" marL="0">
              <a:buNone/>
            </a:pPr>
            <a:r>
              <a:rPr lang="en-US" sz="1400" b="1" dirty="0">
                <a:solidFill>
                  <a:srgbClr val="0B7A4A"/>
                </a:solidFill>
                <a:latin typeface="Inter" pitchFamily="34" charset="0"/>
                <a:ea typeface="Inter" pitchFamily="34" charset="-122"/>
                <a:cs typeface="Inter" pitchFamily="34" charset="-120"/>
              </a:rPr>
              <a:t>  +$337K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6,309</a:t>
            </a:r>
            <a:pPr indent="0" marL="0">
              <a:buNone/>
            </a:pPr>
            <a:r>
              <a:rPr lang="en-US" sz="1400" b="1" dirty="0">
                <a:solidFill>
                  <a:srgbClr val="0B7A4A"/>
                </a:solidFill>
                <a:latin typeface="Inter" pitchFamily="34" charset="0"/>
                <a:ea typeface="Inter" pitchFamily="34" charset="-122"/>
                <a:cs typeface="Inter" pitchFamily="34" charset="-120"/>
              </a:rPr>
              <a:t>  +212</a:t>
            </a:r>
            <a:endParaRPr lang="en-US" sz="2200" dirty="0"/>
          </a:p>
        </p:txBody>
      </p:sp>
      <p:sp>
        <p:nvSpPr>
          <p:cNvPr id="19" name="Shape 17"/>
          <p:cNvSpPr/>
          <p:nvPr/>
        </p:nvSpPr>
        <p:spPr>
          <a:xfrm>
            <a:off x="6955282" y="658368"/>
            <a:ext cx="4776470" cy="475488"/>
          </a:xfrm>
          <a:prstGeom prst="rect">
            <a:avLst/>
          </a:prstGeom>
          <a:solidFill>
            <a:srgbClr val="EDF4FA"/>
          </a:solidFill>
          <a:ln/>
        </p:spPr>
      </p:sp>
      <p:sp>
        <p:nvSpPr>
          <p:cNvPr id="20" name="Text 18"/>
          <p:cNvSpPr txBox="1"/>
          <p:nvPr/>
        </p:nvSpPr>
        <p:spPr>
          <a:xfrm>
            <a:off x="7083298" y="658368"/>
            <a:ext cx="4520438"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Net profit +$337K   ·   8th · CP ROs +212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9.0%</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496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21.8%</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4,006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$10,391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8.9 heads over peer avg.</a:t>
            </a:r>
            <a:endParaRPr lang="en-US" sz="1400" dirty="0"/>
          </a:p>
        </p:txBody>
      </p:sp>
      <p:sp>
        <p:nvSpPr>
          <p:cNvPr id="87" name="Shape 85"/>
          <p:cNvSpPr/>
          <p:nvPr/>
        </p:nvSpPr>
        <p:spPr>
          <a:xfrm>
            <a:off x="658368" y="5376672"/>
            <a:ext cx="10872216" cy="329184"/>
          </a:xfrm>
          <a:prstGeom prst="rect">
            <a:avLst/>
          </a:prstGeom>
          <a:solidFill>
            <a:srgbClr val="F7F7F7"/>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87.6%</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267 more a year.</a:t>
            </a:r>
            <a:endParaRPr lang="en-US" sz="14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$16.55M</a:t>
            </a:r>
            <a:pPr indent="0" marL="0">
              <a:buNone/>
            </a:pPr>
            <a:r>
              <a:rPr lang="en-US" sz="1400" b="1" dirty="0">
                <a:solidFill>
                  <a:srgbClr val="A82B26"/>
                </a:solidFill>
                <a:latin typeface="Inter" pitchFamily="34" charset="0"/>
                <a:ea typeface="Inter" pitchFamily="34" charset="-122"/>
                <a:cs typeface="Inter" pitchFamily="34" charset="-120"/>
              </a:rPr>
              <a:t>  −$437K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A82B26"/>
                </a:solidFill>
                <a:latin typeface="Inter" pitchFamily="34" charset="0"/>
                <a:ea typeface="Inter" pitchFamily="34" charset="-122"/>
                <a:cs typeface="Inter" pitchFamily="34" charset="-120"/>
              </a:rPr>
              <a:t>  −$643K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68.9%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19,520</a:t>
            </a:r>
            <a:pPr indent="0" marL="0">
              <a:buNone/>
            </a:pPr>
            <a:r>
              <a:rPr lang="en-US" sz="1400" b="1" dirty="0">
                <a:solidFill>
                  <a:srgbClr val="A82B26"/>
                </a:solidFill>
                <a:latin typeface="Inter" pitchFamily="34" charset="0"/>
                <a:ea typeface="Inter" pitchFamily="34" charset="-122"/>
                <a:cs typeface="Inter" pitchFamily="34" charset="-120"/>
              </a:rPr>
              <a:t>  −952</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9th · Hours per RO 2.30   ·   10th · Proficiency 103%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51</a:t>
            </a:r>
            <a:endParaRPr lang="en-US" sz="1400" dirty="0"/>
          </a:p>
        </p:txBody>
      </p:sp>
      <p:sp>
        <p:nvSpPr>
          <p:cNvPr id="32" name="Text 30"/>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$1.05M</a:t>
            </a:r>
            <a:endParaRPr lang="en-US" sz="1400" dirty="0"/>
          </a:p>
        </p:txBody>
      </p:sp>
      <p:sp>
        <p:nvSpPr>
          <p:cNvPr id="34" name="Text 32"/>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12954"/>
            <a:ext cx="10872216" cy="298938"/>
          </a:xfrm>
          <a:prstGeom prst="rect">
            <a:avLst/>
          </a:prstGeom>
          <a:solidFill>
            <a:srgbClr val="F7F7F7"/>
          </a:solidFill>
          <a:ln/>
        </p:spPr>
      </p:sp>
      <p:sp>
        <p:nvSpPr>
          <p:cNvPr id="36" name="Text 34"/>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38" name="Text 36"/>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9" name="Text 37"/>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0" name="Text 38"/>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$671K</a:t>
            </a:r>
            <a:endParaRPr lang="en-US" sz="1400" dirty="0"/>
          </a:p>
        </p:txBody>
      </p:sp>
      <p:sp>
        <p:nvSpPr>
          <p:cNvPr id="41" name="Text 39"/>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2" name="Text 40"/>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$10.50M</a:t>
            </a:r>
            <a:endParaRPr lang="en-US" sz="1400" dirty="0"/>
          </a:p>
        </p:txBody>
      </p:sp>
      <p:sp>
        <p:nvSpPr>
          <p:cNvPr id="45" name="Text 43"/>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$10.89M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$526K</a:t>
            </a:r>
            <a:endParaRPr lang="en-US" sz="1400" dirty="0"/>
          </a:p>
        </p:txBody>
      </p:sp>
      <p:sp>
        <p:nvSpPr>
          <p:cNvPr id="47" name="Text 45"/>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310831"/>
            <a:ext cx="10872216" cy="298938"/>
          </a:xfrm>
          <a:prstGeom prst="rect">
            <a:avLst/>
          </a:prstGeom>
          <a:solidFill>
            <a:srgbClr val="F7F7F7"/>
          </a:solidFill>
          <a:ln/>
        </p:spPr>
      </p:sp>
      <p:sp>
        <p:nvSpPr>
          <p:cNvPr id="49" name="Text 47"/>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19,520</a:t>
            </a:r>
            <a:endParaRPr lang="en-US" sz="1400" dirty="0"/>
          </a:p>
        </p:txBody>
      </p:sp>
      <p:sp>
        <p:nvSpPr>
          <p:cNvPr id="52" name="Text 50"/>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20,472</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$434K</a:t>
            </a:r>
            <a:endParaRPr lang="en-US" sz="1400" dirty="0"/>
          </a:p>
        </p:txBody>
      </p:sp>
      <p:sp>
        <p:nvSpPr>
          <p:cNvPr id="54" name="Text 52"/>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1,269 more ROs.</a:t>
            </a:r>
            <a:endParaRPr lang="en-US" sz="1400" dirty="0"/>
          </a:p>
        </p:txBody>
      </p:sp>
      <p:sp>
        <p:nvSpPr>
          <p:cNvPr id="55" name="Text 53"/>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7" name="Text 55"/>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36.2%</a:t>
            </a:r>
            <a:endParaRPr lang="en-US" sz="1400" dirty="0"/>
          </a:p>
        </p:txBody>
      </p:sp>
      <p:sp>
        <p:nvSpPr>
          <p:cNvPr id="58" name="Text 56"/>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$314K</a:t>
            </a:r>
            <a:endParaRPr lang="en-US" sz="1400" dirty="0"/>
          </a:p>
        </p:txBody>
      </p:sp>
      <p:sp>
        <p:nvSpPr>
          <p:cNvPr id="60" name="Text 58"/>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1" name="Shape 59"/>
          <p:cNvSpPr/>
          <p:nvPr/>
        </p:nvSpPr>
        <p:spPr>
          <a:xfrm>
            <a:off x="658368" y="3908708"/>
            <a:ext cx="10872216" cy="298938"/>
          </a:xfrm>
          <a:prstGeom prst="rect">
            <a:avLst/>
          </a:prstGeom>
          <a:solidFill>
            <a:srgbClr val="F7F7F7"/>
          </a:solidFill>
          <a:ln/>
        </p:spPr>
      </p:sp>
      <p:sp>
        <p:nvSpPr>
          <p:cNvPr id="62" name="Text 60"/>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5.7%</a:t>
            </a:r>
            <a:endParaRPr lang="en-US" sz="1400" dirty="0"/>
          </a:p>
        </p:txBody>
      </p:sp>
      <p:sp>
        <p:nvSpPr>
          <p:cNvPr id="65" name="Text 63"/>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67" name="Text 65"/>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1,093 more a year.</a:t>
            </a:r>
            <a:endParaRPr lang="en-US" sz="1400" dirty="0"/>
          </a:p>
        </p:txBody>
      </p:sp>
      <p:sp>
        <p:nvSpPr>
          <p:cNvPr id="68" name="Text 66"/>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$142K</a:t>
            </a:r>
            <a:endParaRPr lang="en-US" sz="1400" dirty="0"/>
          </a:p>
        </p:txBody>
      </p:sp>
      <p:sp>
        <p:nvSpPr>
          <p:cNvPr id="73" name="Text 71"/>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585 more a year.</a:t>
            </a:r>
            <a:endParaRPr lang="en-US" sz="1400" dirty="0"/>
          </a:p>
        </p:txBody>
      </p:sp>
      <p:sp>
        <p:nvSpPr>
          <p:cNvPr id="74" name="Shape 72"/>
          <p:cNvSpPr/>
          <p:nvPr/>
        </p:nvSpPr>
        <p:spPr>
          <a:xfrm>
            <a:off x="658368" y="4506585"/>
            <a:ext cx="10872216" cy="298938"/>
          </a:xfrm>
          <a:prstGeom prst="rect">
            <a:avLst/>
          </a:prstGeom>
          <a:solidFill>
            <a:srgbClr val="F7F7F7"/>
          </a:solidFill>
          <a:ln/>
        </p:spPr>
      </p:sp>
      <p:sp>
        <p:nvSpPr>
          <p:cNvPr id="75" name="Text 73"/>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a:t>
            </a:r>
            <a:endParaRPr lang="en-US" sz="1400" dirty="0"/>
          </a:p>
        </p:txBody>
      </p:sp>
      <p:sp>
        <p:nvSpPr>
          <p:cNvPr id="78" name="Text 76"/>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$106K</a:t>
            </a:r>
            <a:endParaRPr lang="en-US" sz="1400" dirty="0"/>
          </a:p>
        </p:txBody>
      </p:sp>
      <p:sp>
        <p:nvSpPr>
          <p:cNvPr id="80" name="Text 78"/>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2,001 more a year.</a:t>
            </a:r>
            <a:endParaRPr lang="en-US" sz="1400" dirty="0"/>
          </a:p>
        </p:txBody>
      </p:sp>
      <p:sp>
        <p:nvSpPr>
          <p:cNvPr id="81" name="Text 79"/>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3" name="Text 81"/>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12.8%</a:t>
            </a:r>
            <a:endParaRPr lang="en-US" sz="1400" dirty="0"/>
          </a:p>
        </p:txBody>
      </p:sp>
      <p:sp>
        <p:nvSpPr>
          <p:cNvPr id="84" name="Text 82"/>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86" name="Text 84"/>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556 more a year.</a:t>
            </a:r>
            <a:endParaRPr lang="en-US" sz="1400" dirty="0"/>
          </a:p>
        </p:txBody>
      </p:sp>
      <p:sp>
        <p:nvSpPr>
          <p:cNvPr id="87" name="Shape 85"/>
          <p:cNvSpPr/>
          <p:nvPr/>
        </p:nvSpPr>
        <p:spPr>
          <a:xfrm>
            <a:off x="658368" y="5104462"/>
            <a:ext cx="10872216" cy="298938"/>
          </a:xfrm>
          <a:prstGeom prst="rect">
            <a:avLst/>
          </a:prstGeom>
          <a:solidFill>
            <a:srgbClr val="F7F7F7"/>
          </a:solidFill>
          <a:ln/>
        </p:spPr>
      </p:sp>
      <p:sp>
        <p:nvSpPr>
          <p:cNvPr id="88" name="Text 86"/>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90" name="Text 88"/>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$6.05M</a:t>
            </a:r>
            <a:endParaRPr lang="en-US" sz="1400" dirty="0"/>
          </a:p>
        </p:txBody>
      </p:sp>
      <p:sp>
        <p:nvSpPr>
          <p:cNvPr id="91" name="Text 89"/>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$6.09M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92" name="Text 90"/>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94" name="Shape 92"/>
          <p:cNvSpPr/>
          <p:nvPr/>
        </p:nvSpPr>
        <p:spPr>
          <a:xfrm>
            <a:off x="658368" y="5397914"/>
            <a:ext cx="10872216" cy="10973"/>
          </a:xfrm>
          <a:prstGeom prst="rect">
            <a:avLst/>
          </a:prstGeom>
          <a:solidFill>
            <a:srgbClr val="9AA3AD"/>
          </a:solidFill>
          <a:ln/>
        </p:spPr>
      </p:sp>
      <p:sp>
        <p:nvSpPr>
          <p:cNvPr id="95" name="Text 93"/>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7" name="Text 95"/>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98" name="Text 96"/>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9" name="Text 97"/>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6,624 more a year.</a:t>
            </a:r>
            <a:endParaRPr lang="en-US" sz="1400" dirty="0"/>
          </a:p>
        </p:txBody>
      </p:sp>
      <p:sp>
        <p:nvSpPr>
          <p:cNvPr id="101" name="Shape 99"/>
          <p:cNvSpPr/>
          <p:nvPr/>
        </p:nvSpPr>
        <p:spPr>
          <a:xfrm>
            <a:off x="658368" y="5702339"/>
            <a:ext cx="10872216" cy="298938"/>
          </a:xfrm>
          <a:prstGeom prst="rect">
            <a:avLst/>
          </a:prstGeom>
          <a:solidFill>
            <a:srgbClr val="F7F7F7"/>
          </a:solidFill>
          <a:ln/>
        </p:spPr>
      </p:sp>
      <p:sp>
        <p:nvSpPr>
          <p:cNvPr id="102" name="Text 100"/>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84.5%</a:t>
            </a:r>
            <a:endParaRPr lang="en-US" sz="1400" dirty="0"/>
          </a:p>
        </p:txBody>
      </p:sp>
      <p:sp>
        <p:nvSpPr>
          <p:cNvPr id="105" name="Text 103"/>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2,065 more a year.</a:t>
            </a:r>
            <a:endParaRPr lang="en-US" sz="1400" dirty="0"/>
          </a:p>
        </p:txBody>
      </p:sp>
      <p:sp>
        <p:nvSpPr>
          <p:cNvPr id="108" name="Text 106"/>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9" name="Text 107"/>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10" name="Text 108"/>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$12,042</a:t>
            </a:r>
            <a:endParaRPr lang="en-US" sz="1400" dirty="0"/>
          </a:p>
        </p:txBody>
      </p:sp>
      <p:sp>
        <p:nvSpPr>
          <p:cNvPr id="111" name="Text 109"/>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12" name="Text 110"/>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3" name="Text 111"/>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8.1 heads over peer avg.</a:t>
            </a:r>
            <a:endParaRPr lang="en-US" sz="14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GMC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0B7A4A"/>
                </a:solidFill>
                <a:latin typeface="Inter" pitchFamily="34" charset="0"/>
                <a:ea typeface="Inter" pitchFamily="34" charset="-122"/>
                <a:cs typeface="Inter" pitchFamily="34" charset="-120"/>
              </a:rPr>
              <a:t>  +$178K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$19,561</a:t>
            </a:r>
            <a:pPr indent="0" marL="0">
              <a:buNone/>
            </a:pPr>
            <a:r>
              <a:rPr lang="en-US" sz="1400" b="1" dirty="0">
                <a:solidFill>
                  <a:srgbClr val="0B7A4A"/>
                </a:solidFill>
                <a:latin typeface="Inter" pitchFamily="34" charset="0"/>
                <a:ea typeface="Inter" pitchFamily="34" charset="-122"/>
                <a:cs typeface="Inter" pitchFamily="34" charset="-120"/>
              </a:rPr>
              <a:t>  +$144K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61.6%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3,107</a:t>
            </a:r>
            <a:pPr indent="0" marL="0">
              <a:buNone/>
            </a:pPr>
            <a:r>
              <a:rPr lang="en-US" sz="1400" b="1" dirty="0">
                <a:solidFill>
                  <a:srgbClr val="0B7A4A"/>
                </a:solidFill>
                <a:latin typeface="Inter" pitchFamily="34" charset="0"/>
                <a:ea typeface="Inter" pitchFamily="34" charset="-122"/>
                <a:cs typeface="Inter" pitchFamily="34" charset="-120"/>
              </a:rPr>
              <a:t>  +297</a:t>
            </a:r>
            <a:endParaRPr lang="en-US" sz="2200" dirty="0"/>
          </a:p>
        </p:txBody>
      </p:sp>
      <p:sp>
        <p:nvSpPr>
          <p:cNvPr id="19" name="Shape 17"/>
          <p:cNvSpPr/>
          <p:nvPr/>
        </p:nvSpPr>
        <p:spPr>
          <a:xfrm>
            <a:off x="4693666" y="658368"/>
            <a:ext cx="7038086" cy="475488"/>
          </a:xfrm>
          <a:prstGeom prst="rect">
            <a:avLst/>
          </a:prstGeom>
          <a:solidFill>
            <a:srgbClr val="EDF4FA"/>
          </a:solidFill>
          <a:ln/>
        </p:spPr>
      </p:sp>
      <p:sp>
        <p:nvSpPr>
          <p:cNvPr id="20" name="Text 18"/>
          <p:cNvSpPr txBox="1"/>
          <p:nvPr/>
        </p:nvSpPr>
        <p:spPr>
          <a:xfrm>
            <a:off x="4821682" y="658368"/>
            <a:ext cx="678205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6th · CP ROs +297   ·   8th · Hours per RO +0.26   ·   10th · MPI 93.2%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162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135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35.1%</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1,506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$9,498</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$1.59M</a:t>
            </a:r>
            <a:pPr indent="0" marL="0">
              <a:buNone/>
            </a:pPr>
            <a:r>
              <a:rPr lang="en-US" sz="1400" b="1" dirty="0">
                <a:solidFill>
                  <a:srgbClr val="0B7A4A"/>
                </a:solidFill>
                <a:latin typeface="Inter" pitchFamily="34" charset="0"/>
                <a:ea typeface="Inter" pitchFamily="34" charset="-122"/>
                <a:cs typeface="Inter" pitchFamily="34" charset="-120"/>
              </a:rPr>
              <a:t>  +$23K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$79,496</a:t>
            </a:r>
            <a:pPr indent="0" marL="0">
              <a:buNone/>
            </a:pPr>
            <a:r>
              <a:rPr lang="en-US" sz="1400" b="1" dirty="0">
                <a:solidFill>
                  <a:srgbClr val="0B7A4A"/>
                </a:solidFill>
                <a:latin typeface="Inter" pitchFamily="34" charset="0"/>
                <a:ea typeface="Inter" pitchFamily="34" charset="-122"/>
                <a:cs typeface="Inter" pitchFamily="34" charset="-120"/>
              </a:rPr>
              <a:t>  +$53K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63.7%</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4,030</a:t>
            </a:r>
            <a:pPr indent="0" marL="0">
              <a:buNone/>
            </a:pPr>
            <a:r>
              <a:rPr lang="en-US" sz="1400" b="1" dirty="0">
                <a:solidFill>
                  <a:srgbClr val="A82B26"/>
                </a:solidFill>
                <a:latin typeface="Inter" pitchFamily="34" charset="0"/>
                <a:ea typeface="Inter" pitchFamily="34" charset="-122"/>
                <a:cs typeface="Inter" pitchFamily="34" charset="-120"/>
              </a:rPr>
              <a:t>  −30</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Parts GP 45.1%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$473K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367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$60K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735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$1.04M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4,060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40 more ROs.</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$9,149</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5.4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86.3%</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245 more a year.</a:t>
            </a:r>
            <a:endParaRPr lang="en-US" sz="14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$14.42M</a:t>
            </a:r>
            <a:pPr indent="0" marL="0">
              <a:buNone/>
            </a:pPr>
            <a:r>
              <a:rPr lang="en-US" sz="1400" b="1" dirty="0">
                <a:solidFill>
                  <a:srgbClr val="0B7A4A"/>
                </a:solidFill>
                <a:latin typeface="Inter" pitchFamily="34" charset="0"/>
                <a:ea typeface="Inter" pitchFamily="34" charset="-122"/>
                <a:cs typeface="Inter" pitchFamily="34" charset="-120"/>
              </a:rPr>
              <a:t>  +$932K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$6.08M</a:t>
            </a:r>
            <a:pPr indent="0" marL="0">
              <a:buNone/>
            </a:pPr>
            <a:r>
              <a:rPr lang="en-US" sz="1400" b="1" dirty="0">
                <a:solidFill>
                  <a:srgbClr val="0B7A4A"/>
                </a:solidFill>
                <a:latin typeface="Inter" pitchFamily="34" charset="0"/>
                <a:ea typeface="Inter" pitchFamily="34" charset="-122"/>
                <a:cs typeface="Inter" pitchFamily="34" charset="-120"/>
              </a:rPr>
              <a:t>  +$692K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86.3%</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22,527</a:t>
            </a:r>
            <a:pPr indent="0" marL="0">
              <a:buNone/>
            </a:pPr>
            <a:r>
              <a:rPr lang="en-US" sz="1400" b="1" dirty="0">
                <a:solidFill>
                  <a:srgbClr val="A82B26"/>
                </a:solidFill>
                <a:latin typeface="Inter" pitchFamily="34" charset="0"/>
                <a:ea typeface="Inter" pitchFamily="34" charset="-122"/>
                <a:cs typeface="Inter" pitchFamily="34" charset="-120"/>
              </a:rPr>
              <a:t>  −190</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Proficiency 118%   ·   2nd · Tire balance 18.4%</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1</a:t>
            </a:r>
            <a:endParaRPr lang="en-US" sz="16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Techs under 85%</a:t>
            </a:r>
            <a:endParaRPr lang="en-US" sz="16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5 of 28</a:t>
            </a:r>
            <a:endParaRPr lang="en-US" sz="16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85%</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$155K</a:t>
            </a:r>
            <a:endParaRPr lang="en-US" sz="16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Lift the 5 under 85%: dispatch, parts.</a:t>
            </a:r>
            <a:endParaRPr lang="en-US" sz="16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2</a:t>
            </a:r>
            <a:endParaRPr lang="en-US" sz="16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CP RO count</a:t>
            </a:r>
            <a:endParaRPr lang="en-US" sz="16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22,527</a:t>
            </a:r>
            <a:endParaRPr lang="en-US" sz="16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22,717</a:t>
            </a:r>
            <a:pPr indent="0" marL="0">
              <a:buNone/>
            </a:pPr>
            <a:r>
              <a:rPr lang="en-US" sz="1600" dirty="0">
                <a:solidFill>
                  <a:srgbClr val="595959"/>
                </a:solidFill>
                <a:latin typeface="Inter" pitchFamily="34" charset="0"/>
                <a:ea typeface="Inter" pitchFamily="34" charset="-122"/>
                <a:cs typeface="Inter" pitchFamily="34" charset="-120"/>
              </a:rPr>
              <a:t> in 2025</a:t>
            </a:r>
            <a:endParaRPr lang="en-US" sz="16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$87K</a:t>
            </a:r>
            <a:endParaRPr lang="en-US" sz="16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Win back lapsed customers: 253 more ROs.</a:t>
            </a:r>
            <a:endParaRPr lang="en-US" sz="16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3</a:t>
            </a:r>
            <a:endParaRPr lang="en-US" sz="16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MPI completion</a:t>
            </a:r>
            <a:endParaRPr lang="en-US" sz="16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82.5%</a:t>
            </a:r>
            <a:endParaRPr lang="en-US" sz="16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90%</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600" dirty="0">
                <a:solidFill>
                  <a:srgbClr val="9AA3AD"/>
                </a:solidFill>
                <a:latin typeface="Inter" pitchFamily="34" charset="0"/>
                <a:ea typeface="Inter" pitchFamily="34" charset="-122"/>
                <a:cs typeface="Inter" pitchFamily="34" charset="-120"/>
              </a:rPr>
              <a:t>—</a:t>
            </a:r>
            <a:endParaRPr lang="en-US" sz="16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MPI every car: 2,945 more a year.</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North</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$8.62M</a:t>
            </a:r>
            <a:pPr indent="0" marL="0">
              <a:buNone/>
            </a:pPr>
            <a:r>
              <a:rPr lang="en-US" sz="1400" b="1" dirty="0">
                <a:solidFill>
                  <a:srgbClr val="A82B26"/>
                </a:solidFill>
                <a:latin typeface="Inter" pitchFamily="34" charset="0"/>
                <a:ea typeface="Inter" pitchFamily="34" charset="-122"/>
                <a:cs typeface="Inter" pitchFamily="34" charset="-120"/>
              </a:rPr>
              <a:t>  −$840K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$3.32M</a:t>
            </a:r>
            <a:pPr indent="0" marL="0">
              <a:buNone/>
            </a:pPr>
            <a:r>
              <a:rPr lang="en-US" sz="1400" b="1" dirty="0">
                <a:solidFill>
                  <a:srgbClr val="A82B26"/>
                </a:solidFill>
                <a:latin typeface="Inter" pitchFamily="34" charset="0"/>
                <a:ea typeface="Inter" pitchFamily="34" charset="-122"/>
                <a:cs typeface="Inter" pitchFamily="34" charset="-120"/>
              </a:rPr>
              <a:t>  −$76K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89.9%</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15,048</a:t>
            </a:r>
            <a:pPr indent="0" marL="0">
              <a:buNone/>
            </a:pPr>
            <a:r>
              <a:rPr lang="en-US" sz="1400" b="1" dirty="0">
                <a:solidFill>
                  <a:srgbClr val="0B7A4A"/>
                </a:solidFill>
                <a:latin typeface="Inter" pitchFamily="34" charset="0"/>
                <a:ea typeface="Inter" pitchFamily="34" charset="-122"/>
                <a:cs typeface="Inter" pitchFamily="34" charset="-120"/>
              </a:rPr>
              <a:t>  +28</a:t>
            </a:r>
            <a:endParaRPr lang="en-US" sz="2200" dirty="0"/>
          </a:p>
        </p:txBody>
      </p:sp>
      <p:sp>
        <p:nvSpPr>
          <p:cNvPr id="19" name="Shape 17"/>
          <p:cNvSpPr/>
          <p:nvPr/>
        </p:nvSpPr>
        <p:spPr>
          <a:xfrm>
            <a:off x="3751326" y="658368"/>
            <a:ext cx="7980426" cy="475488"/>
          </a:xfrm>
          <a:prstGeom prst="rect">
            <a:avLst/>
          </a:prstGeom>
          <a:solidFill>
            <a:srgbClr val="EDF4FA"/>
          </a:solidFill>
          <a:ln/>
        </p:spPr>
      </p:sp>
      <p:sp>
        <p:nvSpPr>
          <p:cNvPr id="20" name="Text 18"/>
          <p:cNvSpPr txBox="1"/>
          <p:nvPr/>
        </p:nvSpPr>
        <p:spPr>
          <a:xfrm>
            <a:off x="3879342" y="658368"/>
            <a:ext cx="772439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Absorption 89.9%   ·   4th · Proficiency 109%   ·   5th · Brake fluid 12.1%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$6.61M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$2.70M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$2.84M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600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81.4%</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2,520 more a year.</a:t>
            </a:r>
            <a:endParaRPr lang="en-US" sz="14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$4.18M</a:t>
            </a:r>
            <a:pPr indent="0" marL="0">
              <a:buNone/>
            </a:pPr>
            <a:r>
              <a:rPr lang="en-US" sz="1400" b="1" dirty="0">
                <a:solidFill>
                  <a:srgbClr val="0B7A4A"/>
                </a:solidFill>
                <a:latin typeface="Inter" pitchFamily="34" charset="0"/>
                <a:ea typeface="Inter" pitchFamily="34" charset="-122"/>
                <a:cs typeface="Inter" pitchFamily="34" charset="-120"/>
              </a:rPr>
              <a:t>  +$373K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$1.32M</a:t>
            </a:r>
            <a:pPr indent="0" marL="0">
              <a:buNone/>
            </a:pPr>
            <a:r>
              <a:rPr lang="en-US" sz="1400" b="1" dirty="0">
                <a:solidFill>
                  <a:srgbClr val="0B7A4A"/>
                </a:solidFill>
                <a:latin typeface="Inter" pitchFamily="34" charset="0"/>
                <a:ea typeface="Inter" pitchFamily="34" charset="-122"/>
                <a:cs typeface="Inter" pitchFamily="34" charset="-120"/>
              </a:rPr>
              <a:t>  +$3K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87.6%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8,930</a:t>
            </a:r>
            <a:pPr indent="0" marL="0">
              <a:buNone/>
            </a:pPr>
            <a:r>
              <a:rPr lang="en-US" sz="1400" b="1" dirty="0">
                <a:solidFill>
                  <a:srgbClr val="A82B26"/>
                </a:solidFill>
                <a:latin typeface="Inter" pitchFamily="34" charset="0"/>
                <a:ea typeface="Inter" pitchFamily="34" charset="-122"/>
                <a:cs typeface="Inter" pitchFamily="34" charset="-120"/>
              </a:rPr>
              <a:t>  −999</a:t>
            </a:r>
            <a:endParaRPr lang="en-US" sz="2200" dirty="0"/>
          </a:p>
        </p:txBody>
      </p:sp>
      <p:sp>
        <p:nvSpPr>
          <p:cNvPr id="19" name="Shape 17"/>
          <p:cNvSpPr/>
          <p:nvPr/>
        </p:nvSpPr>
        <p:spPr>
          <a:xfrm>
            <a:off x="7237984" y="658368"/>
            <a:ext cx="4493768" cy="475488"/>
          </a:xfrm>
          <a:prstGeom prst="rect">
            <a:avLst/>
          </a:prstGeom>
          <a:solidFill>
            <a:srgbClr val="EDF4FA"/>
          </a:solidFill>
          <a:ln/>
        </p:spPr>
      </p:sp>
      <p:sp>
        <p:nvSpPr>
          <p:cNvPr id="20" name="Text 18"/>
          <p:cNvSpPr txBox="1"/>
          <p:nvPr/>
        </p:nvSpPr>
        <p:spPr>
          <a:xfrm>
            <a:off x="7366000" y="658368"/>
            <a:ext cx="423773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Parts GP 47.0%   ·   3rd · CP ELR +$27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8,930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9,929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$456K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1,332 more ROs.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1,526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509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$1.39M</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 of 15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 under 85%: dispatch, parts.</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5,742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1,171 more a year.</a:t>
            </a:r>
            <a:endParaRPr lang="en-US" sz="14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$1.54M</a:t>
            </a:r>
            <a:pPr indent="0" marL="0">
              <a:buNone/>
            </a:pPr>
            <a:r>
              <a:rPr lang="en-US" sz="1400" b="1" dirty="0">
                <a:solidFill>
                  <a:srgbClr val="0B7A4A"/>
                </a:solidFill>
                <a:latin typeface="Inter" pitchFamily="34" charset="0"/>
                <a:ea typeface="Inter" pitchFamily="34" charset="-122"/>
                <a:cs typeface="Inter" pitchFamily="34" charset="-120"/>
              </a:rPr>
              <a:t>  +$404K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−$136,511</a:t>
            </a:r>
            <a:pPr indent="0" marL="0">
              <a:buNone/>
            </a:pPr>
            <a:r>
              <a:rPr lang="en-US" sz="1400" b="1" dirty="0">
                <a:solidFill>
                  <a:srgbClr val="0B7A4A"/>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46.2%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2,010</a:t>
            </a:r>
            <a:pPr indent="0" marL="0">
              <a:buNone/>
            </a:pPr>
            <a:r>
              <a:rPr lang="en-US" sz="1400" b="1" dirty="0">
                <a:solidFill>
                  <a:srgbClr val="0B7A4A"/>
                </a:solidFill>
                <a:latin typeface="Inter" pitchFamily="34" charset="0"/>
                <a:ea typeface="Inter" pitchFamily="34" charset="-122"/>
                <a:cs typeface="Inter" pitchFamily="34" charset="-120"/>
              </a:rPr>
              <a:t>  +226</a:t>
            </a:r>
            <a:endParaRPr lang="en-US" sz="2200" dirty="0"/>
          </a:p>
        </p:txBody>
      </p:sp>
      <p:sp>
        <p:nvSpPr>
          <p:cNvPr id="19" name="Shape 17"/>
          <p:cNvSpPr/>
          <p:nvPr/>
        </p:nvSpPr>
        <p:spPr>
          <a:xfrm>
            <a:off x="7143750" y="658368"/>
            <a:ext cx="4588002" cy="475488"/>
          </a:xfrm>
          <a:prstGeom prst="rect">
            <a:avLst/>
          </a:prstGeom>
          <a:solidFill>
            <a:srgbClr val="EDF4FA"/>
          </a:solidFill>
          <a:ln/>
        </p:spPr>
      </p:sp>
      <p:sp>
        <p:nvSpPr>
          <p:cNvPr id="20" name="Text 18"/>
          <p:cNvSpPr txBox="1"/>
          <p:nvPr/>
        </p:nvSpPr>
        <p:spPr>
          <a:xfrm>
            <a:off x="7271766" y="658368"/>
            <a:ext cx="433197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Video 91.2%   ·   3rd · Alignment 21.7%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$412K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67.7%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1.64</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$54K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+0.11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$11,631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 heads over peer avg.</a:t>
            </a:r>
            <a:endParaRPr lang="en-US" sz="14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$2.29M</a:t>
            </a:r>
            <a:pPr indent="0" marL="0">
              <a:buNone/>
            </a:pPr>
            <a:r>
              <a:rPr lang="en-US" sz="1400" b="1" dirty="0">
                <a:solidFill>
                  <a:srgbClr val="0B7A4A"/>
                </a:solidFill>
                <a:latin typeface="Inter" pitchFamily="34" charset="0"/>
                <a:ea typeface="Inter" pitchFamily="34" charset="-122"/>
                <a:cs typeface="Inter" pitchFamily="34" charset="-120"/>
              </a:rPr>
              <a:t>  +$88K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$107,886</a:t>
            </a:r>
            <a:pPr indent="0" marL="0">
              <a:buNone/>
            </a:pPr>
            <a:r>
              <a:rPr lang="en-US" sz="1400" b="1" dirty="0">
                <a:solidFill>
                  <a:srgbClr val="A82B26"/>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3,349</a:t>
            </a:r>
            <a:pPr indent="0" marL="0">
              <a:buNone/>
            </a:pPr>
            <a:r>
              <a:rPr lang="en-US" sz="1400" b="1" dirty="0">
                <a:solidFill>
                  <a:srgbClr val="A82B26"/>
                </a:solidFill>
                <a:latin typeface="Inter" pitchFamily="34" charset="0"/>
                <a:ea typeface="Inter" pitchFamily="34" charset="-122"/>
                <a:cs typeface="Inter" pitchFamily="34" charset="-120"/>
              </a:rPr>
              <a:t>  −435</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Hours per RO +0.40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11</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$827K</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$302K</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1.43</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+0.32 hr per RO.</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3,349</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3,784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$198K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580 more ROs.</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615 more a year.</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235 more a year.</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72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39.4%</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87" name="Shape 85"/>
          <p:cNvSpPr/>
          <p:nvPr/>
        </p:nvSpPr>
        <p:spPr>
          <a:xfrm>
            <a:off x="658368" y="5323180"/>
            <a:ext cx="10872216" cy="10973"/>
          </a:xfrm>
          <a:prstGeom prst="rect">
            <a:avLst/>
          </a:prstGeom>
          <a:solidFill>
            <a:srgbClr val="9AA3AD"/>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62.7%</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2,247 more a year.</a:t>
            </a:r>
            <a:endParaRPr lang="en-US" sz="1400" dirty="0"/>
          </a:p>
        </p:txBody>
      </p:sp>
      <p:sp>
        <p:nvSpPr>
          <p:cNvPr id="94" name="Text 92"/>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6" name="Text 94"/>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$11,541</a:t>
            </a:r>
            <a:endParaRPr lang="en-US" sz="1400" dirty="0"/>
          </a:p>
        </p:txBody>
      </p:sp>
      <p:sp>
        <p:nvSpPr>
          <p:cNvPr id="97" name="Text 95"/>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8" name="Text 96"/>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2.0 heads over peer avg.</a:t>
            </a:r>
            <a:endParaRPr lang="en-US" sz="1400" dirty="0"/>
          </a:p>
        </p:txBody>
      </p:sp>
      <p:sp>
        <p:nvSpPr>
          <p:cNvPr id="100" name="Shape 98"/>
          <p:cNvSpPr/>
          <p:nvPr/>
        </p:nvSpPr>
        <p:spPr>
          <a:xfrm>
            <a:off x="658368" y="5976366"/>
            <a:ext cx="10872216" cy="323850"/>
          </a:xfrm>
          <a:prstGeom prst="rect">
            <a:avLst/>
          </a:prstGeom>
          <a:solidFill>
            <a:srgbClr val="F7F7F7"/>
          </a:solidFill>
          <a:ln/>
        </p:spPr>
      </p:sp>
      <p:sp>
        <p:nvSpPr>
          <p:cNvPr id="101" name="Text 99"/>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2" name="Text 100"/>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3" name="Text 101"/>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53.1%</a:t>
            </a:r>
            <a:endParaRPr lang="en-US" sz="1400" dirty="0"/>
          </a:p>
        </p:txBody>
      </p:sp>
      <p:sp>
        <p:nvSpPr>
          <p:cNvPr id="104" name="Text 102"/>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05" name="Text 103"/>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6" name="Text 104"/>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390 more a year.</a:t>
            </a:r>
            <a:endParaRPr lang="en-US" sz="14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$6.15M</a:t>
            </a:r>
            <a:pPr indent="0" marL="0">
              <a:buNone/>
            </a:pPr>
            <a:r>
              <a:rPr lang="en-US" sz="1400" b="1" dirty="0">
                <a:solidFill>
                  <a:srgbClr val="0B7A4A"/>
                </a:solidFill>
                <a:latin typeface="Inter" pitchFamily="34" charset="0"/>
                <a:ea typeface="Inter" pitchFamily="34" charset="-122"/>
                <a:cs typeface="Inter" pitchFamily="34" charset="-120"/>
              </a:rPr>
              <a:t>  +$125K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$1.80M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8,133</a:t>
            </a:r>
            <a:pPr indent="0" marL="0">
              <a:buNone/>
            </a:pPr>
            <a:r>
              <a:rPr lang="en-US" sz="1400" b="1" dirty="0">
                <a:solidFill>
                  <a:srgbClr val="0B7A4A"/>
                </a:solidFill>
                <a:latin typeface="Inter" pitchFamily="34" charset="0"/>
                <a:ea typeface="Inter" pitchFamily="34" charset="-122"/>
                <a:cs typeface="Inter" pitchFamily="34" charset="-120"/>
              </a:rPr>
              <a:t>  +977</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ROs +977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$2.10M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568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464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1,059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$151</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187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31.5%</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4,714 more a year.</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71.2%</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3,364 more a year.</a:t>
            </a:r>
            <a:endParaRPr lang="en-US" sz="14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$2.34M</a:t>
            </a:r>
            <a:pPr indent="0" marL="0">
              <a:buNone/>
            </a:pPr>
            <a:r>
              <a:rPr lang="en-US" sz="1400" b="1" dirty="0">
                <a:solidFill>
                  <a:srgbClr val="0B7A4A"/>
                </a:solidFill>
                <a:latin typeface="Inter" pitchFamily="34" charset="0"/>
                <a:ea typeface="Inter" pitchFamily="34" charset="-122"/>
                <a:cs typeface="Inter" pitchFamily="34" charset="-120"/>
              </a:rPr>
              <a:t>  +$216K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$502,109</a:t>
            </a:r>
            <a:pPr indent="0" marL="0">
              <a:buNone/>
            </a:pPr>
            <a:r>
              <a:rPr lang="en-US" sz="1400" b="1" dirty="0">
                <a:solidFill>
                  <a:srgbClr val="A82B26"/>
                </a:solidFill>
                <a:latin typeface="Inter" pitchFamily="34" charset="0"/>
                <a:ea typeface="Inter" pitchFamily="34" charset="-122"/>
                <a:cs typeface="Inter" pitchFamily="34" charset="-120"/>
              </a:rPr>
              <a:t>  −$147K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65.8%</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3,912</a:t>
            </a:r>
            <a:pPr indent="0" marL="0">
              <a:buNone/>
            </a:pPr>
            <a:r>
              <a:rPr lang="en-US" sz="1400" b="1" dirty="0">
                <a:solidFill>
                  <a:srgbClr val="0B7A4A"/>
                </a:solidFill>
                <a:latin typeface="Inter" pitchFamily="34" charset="0"/>
                <a:ea typeface="Inter" pitchFamily="34" charset="-122"/>
                <a:cs typeface="Inter" pitchFamily="34" charset="-120"/>
              </a:rPr>
              <a:t>  +91</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Hours per RO +0.30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+0.46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$340K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365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5,626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60.9%</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3,110 more a year.</a:t>
            </a:r>
            <a:endParaRPr lang="en-US" sz="1400" dirty="0"/>
          </a:p>
        </p:txBody>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$12,103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 heads over peer avg.</a:t>
            </a:r>
            <a:endParaRPr lang="en-US" sz="14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Lexus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$4.15M</a:t>
            </a:r>
            <a:pPr indent="0" marL="0">
              <a:buNone/>
            </a:pPr>
            <a:r>
              <a:rPr lang="en-US" sz="1400" b="1" dirty="0">
                <a:solidFill>
                  <a:srgbClr val="0B7A4A"/>
                </a:solidFill>
                <a:latin typeface="Inter" pitchFamily="34" charset="0"/>
                <a:ea typeface="Inter" pitchFamily="34" charset="-122"/>
                <a:cs typeface="Inter" pitchFamily="34" charset="-120"/>
              </a:rPr>
              <a:t>  +$764K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$1.20M</a:t>
            </a:r>
            <a:pPr indent="0" marL="0">
              <a:buNone/>
            </a:pPr>
            <a:r>
              <a:rPr lang="en-US" sz="1400" b="1" dirty="0">
                <a:solidFill>
                  <a:srgbClr val="0B7A4A"/>
                </a:solidFill>
                <a:latin typeface="Inter" pitchFamily="34" charset="0"/>
                <a:ea typeface="Inter" pitchFamily="34" charset="-122"/>
                <a:cs typeface="Inter" pitchFamily="34" charset="-120"/>
              </a:rPr>
              <a:t>  +$206K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4,567</a:t>
            </a:r>
            <a:pPr indent="0" marL="0">
              <a:buNone/>
            </a:pPr>
            <a:r>
              <a:rPr lang="en-US" sz="1400" b="1" dirty="0">
                <a:solidFill>
                  <a:srgbClr val="0B7A4A"/>
                </a:solidFill>
                <a:latin typeface="Inter" pitchFamily="34" charset="0"/>
                <a:ea typeface="Inter" pitchFamily="34" charset="-122"/>
                <a:cs typeface="Inter" pitchFamily="34" charset="-120"/>
              </a:rPr>
              <a:t>  +66</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Parts GP 49.0%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$1.18M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+0.82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221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 more a year.</a:t>
            </a:r>
            <a:endParaRPr lang="en-US" sz="14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Lincoln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$2.98M</a:t>
            </a:r>
            <a:pPr indent="0" marL="0">
              <a:buNone/>
            </a:pPr>
            <a:r>
              <a:rPr lang="en-US" sz="1400" b="1" dirty="0">
                <a:solidFill>
                  <a:srgbClr val="0B7A4A"/>
                </a:solidFill>
                <a:latin typeface="Inter" pitchFamily="34" charset="0"/>
                <a:ea typeface="Inter" pitchFamily="34" charset="-122"/>
                <a:cs typeface="Inter" pitchFamily="34" charset="-120"/>
              </a:rPr>
              <a:t>  +$717K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$94,430</a:t>
            </a:r>
            <a:pPr indent="0" marL="0">
              <a:buNone/>
            </a:pPr>
            <a:r>
              <a:rPr lang="en-US" sz="1400" b="1" dirty="0">
                <a:solidFill>
                  <a:srgbClr val="0B7A4A"/>
                </a:solidFill>
                <a:latin typeface="Inter" pitchFamily="34" charset="0"/>
                <a:ea typeface="Inter" pitchFamily="34" charset="-122"/>
                <a:cs typeface="Inter" pitchFamily="34" charset="-120"/>
              </a:rPr>
              <a:t>  +$484K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2,630</a:t>
            </a:r>
            <a:pPr indent="0" marL="0">
              <a:buNone/>
            </a:pPr>
            <a:r>
              <a:rPr lang="en-US" sz="1400" b="1" dirty="0">
                <a:solidFill>
                  <a:srgbClr val="0B7A4A"/>
                </a:solidFill>
                <a:latin typeface="Inter" pitchFamily="34" charset="0"/>
                <a:ea typeface="Inter" pitchFamily="34" charset="-122"/>
                <a:cs typeface="Inter" pitchFamily="34" charset="-120"/>
              </a:rPr>
              <a:t>  +93</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ELR +$28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$628K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11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5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+0.42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$171</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467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87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$10,963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10.7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1,108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68.5%</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1,573 more a year.</a:t>
            </a:r>
            <a:endParaRPr lang="en-US" sz="14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$3.42M</a:t>
            </a:r>
            <a:pPr indent="0" marL="0">
              <a:buNone/>
            </a:pPr>
            <a:r>
              <a:rPr lang="en-US" sz="1400" b="1" dirty="0">
                <a:solidFill>
                  <a:srgbClr val="0B7A4A"/>
                </a:solidFill>
                <a:latin typeface="Inter" pitchFamily="34" charset="0"/>
                <a:ea typeface="Inter" pitchFamily="34" charset="-122"/>
                <a:cs typeface="Inter" pitchFamily="34" charset="-120"/>
              </a:rPr>
              <a:t>  +$95K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$705,121</a:t>
            </a:r>
            <a:pPr indent="0" marL="0">
              <a:buNone/>
            </a:pPr>
            <a:r>
              <a:rPr lang="en-US" sz="1400" b="1" dirty="0">
                <a:solidFill>
                  <a:srgbClr val="0B7A4A"/>
                </a:solidFill>
                <a:latin typeface="Inter" pitchFamily="34" charset="0"/>
                <a:ea typeface="Inter" pitchFamily="34" charset="-122"/>
                <a:cs typeface="Inter" pitchFamily="34" charset="-120"/>
              </a:rPr>
              <a:t>  +$98K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74.4%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1,559</a:t>
            </a:r>
            <a:pPr indent="0" marL="0">
              <a:buNone/>
            </a:pPr>
            <a:r>
              <a:rPr lang="en-US" sz="1400" b="1" dirty="0">
                <a:solidFill>
                  <a:srgbClr val="0B7A4A"/>
                </a:solidFill>
                <a:latin typeface="Inter" pitchFamily="34" charset="0"/>
                <a:ea typeface="Inter" pitchFamily="34" charset="-122"/>
                <a:cs typeface="Inter" pitchFamily="34" charset="-120"/>
              </a:rPr>
              <a:t>  +26</a:t>
            </a:r>
            <a:endParaRPr lang="en-US" sz="2200" dirty="0"/>
          </a:p>
        </p:txBody>
      </p:sp>
      <p:sp>
        <p:nvSpPr>
          <p:cNvPr id="19" name="Shape 17"/>
          <p:cNvSpPr/>
          <p:nvPr/>
        </p:nvSpPr>
        <p:spPr>
          <a:xfrm>
            <a:off x="3374390" y="658368"/>
            <a:ext cx="8357362" cy="475488"/>
          </a:xfrm>
          <a:prstGeom prst="rect">
            <a:avLst/>
          </a:prstGeom>
          <a:solidFill>
            <a:srgbClr val="EDF4FA"/>
          </a:solidFill>
          <a:ln/>
        </p:spPr>
      </p:sp>
      <p:sp>
        <p:nvSpPr>
          <p:cNvPr id="20" name="Text 18"/>
          <p:cNvSpPr txBox="1"/>
          <p:nvPr/>
        </p:nvSpPr>
        <p:spPr>
          <a:xfrm>
            <a:off x="3502406" y="658368"/>
            <a:ext cx="810133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Hours per RO 3.99   ·   1st · CP labor $/RO $933   ·   1st · Tire balance 27.0%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2.5%</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103 more a year.</a:t>
            </a:r>
            <a:endParaRPr lang="en-US" sz="14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73.0%</a:t>
            </a:r>
            <a:endParaRPr lang="en-US" sz="14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648 more a year.</a:t>
            </a:r>
            <a:endParaRPr lang="en-US" sz="1400" dirty="0"/>
          </a:p>
        </p:txBody>
      </p:sp>
      <p:sp>
        <p:nvSpPr>
          <p:cNvPr id="49" name="Shape 47"/>
          <p:cNvSpPr/>
          <p:nvPr/>
        </p:nvSpPr>
        <p:spPr>
          <a:xfrm>
            <a:off x="658368" y="3401568"/>
            <a:ext cx="10872216" cy="329184"/>
          </a:xfrm>
          <a:prstGeom prst="rect">
            <a:avLst/>
          </a:prstGeom>
          <a:solidFill>
            <a:srgbClr val="F7F7F7"/>
          </a:solidFill>
          <a:ln/>
        </p:spPr>
      </p:sp>
      <p:sp>
        <p:nvSpPr>
          <p:cNvPr id="50" name="Text 48"/>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1" name="Text 49"/>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2" name="Text 50"/>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50.0%</a:t>
            </a:r>
            <a:endParaRPr lang="en-US" sz="1400" dirty="0"/>
          </a:p>
        </p:txBody>
      </p:sp>
      <p:sp>
        <p:nvSpPr>
          <p:cNvPr id="53" name="Text 51"/>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54" name="Text 52"/>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5" name="Text 53"/>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299 more a year.</a:t>
            </a:r>
            <a:endParaRPr lang="en-US" sz="14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$6.61M</a:t>
            </a:r>
            <a:pPr indent="0" marL="0">
              <a:buNone/>
            </a:pPr>
            <a:r>
              <a:rPr lang="en-US" sz="1400" b="1" dirty="0">
                <a:solidFill>
                  <a:srgbClr val="0B7A4A"/>
                </a:solidFill>
                <a:latin typeface="Inter" pitchFamily="34" charset="0"/>
                <a:ea typeface="Inter" pitchFamily="34" charset="-122"/>
                <a:cs typeface="Inter" pitchFamily="34" charset="-120"/>
              </a:rPr>
              <a:t>  +$135K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$2.04M</a:t>
            </a:r>
            <a:pPr indent="0" marL="0">
              <a:buNone/>
            </a:pPr>
            <a:r>
              <a:rPr lang="en-US" sz="1400" b="1" dirty="0">
                <a:solidFill>
                  <a:srgbClr val="0B7A4A"/>
                </a:solidFill>
                <a:latin typeface="Inter" pitchFamily="34" charset="0"/>
                <a:ea typeface="Inter" pitchFamily="34" charset="-122"/>
                <a:cs typeface="Inter" pitchFamily="34" charset="-120"/>
              </a:rPr>
              <a:t>  +$152K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93.7%</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3,496</a:t>
            </a:r>
            <a:pPr indent="0" marL="0">
              <a:buNone/>
            </a:pPr>
            <a:r>
              <a:rPr lang="en-US" sz="1400" b="1" dirty="0">
                <a:solidFill>
                  <a:srgbClr val="0B7A4A"/>
                </a:solidFill>
                <a:latin typeface="Inter" pitchFamily="34" charset="0"/>
                <a:ea typeface="Inter" pitchFamily="34" charset="-122"/>
                <a:cs typeface="Inter" pitchFamily="34" charset="-120"/>
              </a:rPr>
              <a:t>  +88</a:t>
            </a:r>
            <a:endParaRPr lang="en-US" sz="2200" dirty="0"/>
          </a:p>
        </p:txBody>
      </p:sp>
      <p:sp>
        <p:nvSpPr>
          <p:cNvPr id="19" name="Shape 17"/>
          <p:cNvSpPr/>
          <p:nvPr/>
        </p:nvSpPr>
        <p:spPr>
          <a:xfrm>
            <a:off x="3468624" y="658368"/>
            <a:ext cx="8263128" cy="475488"/>
          </a:xfrm>
          <a:prstGeom prst="rect">
            <a:avLst/>
          </a:prstGeom>
          <a:solidFill>
            <a:srgbClr val="EDF4FA"/>
          </a:solidFill>
          <a:ln/>
        </p:spPr>
      </p:sp>
      <p:sp>
        <p:nvSpPr>
          <p:cNvPr id="20" name="Text 18"/>
          <p:cNvSpPr txBox="1"/>
          <p:nvPr/>
        </p:nvSpPr>
        <p:spPr>
          <a:xfrm>
            <a:off x="3596640" y="658368"/>
            <a:ext cx="800709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Brake fluid 20.6%   ·   2nd · Hours per RO 3.99   ·   2nd · CP labor $/RO $931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 of 16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$758K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Lift the 8 under 85%: dispatch, parts.</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$2.52M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$2.59M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$81K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5.5%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92 more a year.</a:t>
            </a:r>
            <a:endParaRPr lang="en-US" sz="15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71.1%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1,567 more a year.</a:t>
            </a:r>
            <a:endParaRPr lang="en-US" sz="15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$2.21M</a:t>
            </a:r>
            <a:pPr indent="0" marL="0">
              <a:buNone/>
            </a:pPr>
            <a:r>
              <a:rPr lang="en-US" sz="1400" b="1" dirty="0">
                <a:solidFill>
                  <a:srgbClr val="0B7A4A"/>
                </a:solidFill>
                <a:latin typeface="Inter" pitchFamily="34" charset="0"/>
                <a:ea typeface="Inter" pitchFamily="34" charset="-122"/>
                <a:cs typeface="Inter" pitchFamily="34" charset="-120"/>
              </a:rPr>
              <a:t>  +$157K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$427,953</a:t>
            </a:r>
            <a:pPr indent="0" marL="0">
              <a:buNone/>
            </a:pPr>
            <a:r>
              <a:rPr lang="en-US" sz="1400" b="1" dirty="0">
                <a:solidFill>
                  <a:srgbClr val="0B7A4A"/>
                </a:solidFill>
                <a:latin typeface="Inter" pitchFamily="34" charset="0"/>
                <a:ea typeface="Inter" pitchFamily="34" charset="-122"/>
                <a:cs typeface="Inter" pitchFamily="34" charset="-120"/>
              </a:rPr>
              <a:t>  +$292K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77.3%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1,421</a:t>
            </a:r>
            <a:pPr indent="0" marL="0">
              <a:buNone/>
            </a:pPr>
            <a:r>
              <a:rPr lang="en-US" sz="1400" b="1" dirty="0">
                <a:solidFill>
                  <a:srgbClr val="0B7A4A"/>
                </a:solidFill>
                <a:latin typeface="Inter" pitchFamily="34" charset="0"/>
                <a:ea typeface="Inter" pitchFamily="34" charset="-122"/>
                <a:cs typeface="Inter" pitchFamily="34" charset="-120"/>
              </a:rPr>
              <a:t>  +118</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3rd · CP ELR $235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 of 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$247K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Brake fluid</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7.2%</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$20K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52 more a year.</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4.5%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$18K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55 more a year.</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Alignment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12.8%</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40 more a year.</a:t>
            </a:r>
            <a:endParaRPr lang="en-US" sz="15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Fixed gross/head</a:t>
            </a:r>
            <a:endParaRPr lang="en-US" sz="15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$15,226</a:t>
            </a:r>
            <a:endParaRPr lang="en-US" sz="15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$16,998</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Staff to gross: 1.7 heads over peer avg.</a:t>
            </a:r>
            <a:endParaRPr lang="en-US" sz="15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Mazda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$3.31M</a:t>
            </a:r>
            <a:pPr indent="0" marL="0">
              <a:buNone/>
            </a:pPr>
            <a:r>
              <a:rPr lang="en-US" sz="1400" b="1" dirty="0">
                <a:solidFill>
                  <a:srgbClr val="0B7A4A"/>
                </a:solidFill>
                <a:latin typeface="Inter" pitchFamily="34" charset="0"/>
                <a:ea typeface="Inter" pitchFamily="34" charset="-122"/>
                <a:cs typeface="Inter" pitchFamily="34" charset="-120"/>
              </a:rPr>
              <a:t>  +$120K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$985,141</a:t>
            </a:r>
            <a:pPr indent="0" marL="0">
              <a:buNone/>
            </a:pPr>
            <a:r>
              <a:rPr lang="en-US" sz="1400" b="1" dirty="0">
                <a:solidFill>
                  <a:srgbClr val="A82B26"/>
                </a:solidFill>
                <a:latin typeface="Inter" pitchFamily="34" charset="0"/>
                <a:ea typeface="Inter" pitchFamily="34" charset="-122"/>
                <a:cs typeface="Inter" pitchFamily="34" charset="-120"/>
              </a:rPr>
              <a:t>  −$87K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78.4%</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5,701</a:t>
            </a:r>
            <a:pPr indent="0" marL="0">
              <a:buNone/>
            </a:pPr>
            <a:r>
              <a:rPr lang="en-US" sz="1400" b="1" dirty="0">
                <a:solidFill>
                  <a:srgbClr val="0B7A4A"/>
                </a:solidFill>
                <a:latin typeface="Inter" pitchFamily="34" charset="0"/>
                <a:ea typeface="Inter" pitchFamily="34" charset="-122"/>
                <a:cs typeface="Inter" pitchFamily="34" charset="-120"/>
              </a:rPr>
              <a:t>  +180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Video 89.0%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$403K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+0.29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138 more a year.</a:t>
            </a:r>
            <a:endParaRPr lang="en-US" sz="14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Nissan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$4.78M</a:t>
            </a:r>
            <a:pPr indent="0" marL="0">
              <a:buNone/>
            </a:pPr>
            <a:r>
              <a:rPr lang="en-US" sz="1400" b="1" dirty="0">
                <a:solidFill>
                  <a:srgbClr val="0B7A4A"/>
                </a:solidFill>
                <a:latin typeface="Inter" pitchFamily="34" charset="0"/>
                <a:ea typeface="Inter" pitchFamily="34" charset="-122"/>
                <a:cs typeface="Inter" pitchFamily="34" charset="-120"/>
              </a:rPr>
              <a:t>  +$445K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$677,269</a:t>
            </a:r>
            <a:pPr indent="0" marL="0">
              <a:buNone/>
            </a:pPr>
            <a:r>
              <a:rPr lang="en-US" sz="1400" b="1" dirty="0">
                <a:solidFill>
                  <a:srgbClr val="0B7A4A"/>
                </a:solidFill>
                <a:latin typeface="Inter" pitchFamily="34" charset="0"/>
                <a:ea typeface="Inter" pitchFamily="34" charset="-122"/>
                <a:cs typeface="Inter" pitchFamily="34" charset="-120"/>
              </a:rPr>
              <a:t>  +$134K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6,973</a:t>
            </a:r>
            <a:pPr indent="0" marL="0">
              <a:buNone/>
            </a:pPr>
            <a:r>
              <a:rPr lang="en-US" sz="1400" b="1" dirty="0">
                <a:solidFill>
                  <a:srgbClr val="A82B26"/>
                </a:solidFill>
                <a:latin typeface="Inter" pitchFamily="34" charset="0"/>
                <a:ea typeface="Inter" pitchFamily="34" charset="-122"/>
                <a:cs typeface="Inter" pitchFamily="34" charset="-120"/>
              </a:rPr>
              <a:t>  −430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CP ELR +$22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8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6,973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7,403</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573 more ROs.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1,296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$64K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308 more a year.</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1,995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$11,957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2.6 heads over peer avg.</a:t>
            </a:r>
            <a:endParaRPr lang="en-US" sz="14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$10.08M</a:t>
            </a:r>
            <a:pPr indent="0" marL="0">
              <a:buNone/>
            </a:pPr>
            <a:r>
              <a:rPr lang="en-US" sz="1400" b="1" dirty="0">
                <a:solidFill>
                  <a:srgbClr val="A82B26"/>
                </a:solidFill>
                <a:latin typeface="Inter" pitchFamily="34" charset="0"/>
                <a:ea typeface="Inter" pitchFamily="34" charset="-122"/>
                <a:cs typeface="Inter" pitchFamily="34" charset="-120"/>
              </a:rPr>
              <a:t>  −$499K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$2.94M</a:t>
            </a:r>
            <a:pPr indent="0" marL="0">
              <a:buNone/>
            </a:pPr>
            <a:r>
              <a:rPr lang="en-US" sz="1400" b="1" dirty="0">
                <a:solidFill>
                  <a:srgbClr val="0B7A4A"/>
                </a:solidFill>
                <a:latin typeface="Inter" pitchFamily="34" charset="0"/>
                <a:ea typeface="Inter" pitchFamily="34" charset="-122"/>
                <a:cs typeface="Inter" pitchFamily="34" charset="-120"/>
              </a:rPr>
              <a:t>  +$6K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86.0%</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14,250</a:t>
            </a:r>
            <a:pPr indent="0" marL="0">
              <a:buNone/>
            </a:pPr>
            <a:r>
              <a:rPr lang="en-US" sz="1400" b="1" dirty="0">
                <a:solidFill>
                  <a:srgbClr val="A82B26"/>
                </a:solidFill>
                <a:latin typeface="Inter" pitchFamily="34" charset="0"/>
                <a:ea typeface="Inter" pitchFamily="34" charset="-122"/>
                <a:cs typeface="Inter" pitchFamily="34" charset="-120"/>
              </a:rPr>
              <a:t>  −574</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Video 92.0%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11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$3.83M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$383K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$6.26M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$6.47M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14,250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14,824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765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78 more a year.</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$2.70M</a:t>
            </a:r>
            <a:pPr indent="0" marL="0">
              <a:buNone/>
            </a:pPr>
            <a:r>
              <a:rPr lang="en-US" sz="1400" b="1" dirty="0">
                <a:solidFill>
                  <a:srgbClr val="0B7A4A"/>
                </a:solidFill>
                <a:latin typeface="Inter" pitchFamily="34" charset="0"/>
                <a:ea typeface="Inter" pitchFamily="34" charset="-122"/>
                <a:cs typeface="Inter" pitchFamily="34" charset="-120"/>
              </a:rPr>
              <a:t>  +$368K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$128,541</a:t>
            </a:r>
            <a:pPr indent="0" marL="0">
              <a:buNone/>
            </a:pPr>
            <a:r>
              <a:rPr lang="en-US" sz="1400" b="1" dirty="0">
                <a:solidFill>
                  <a:srgbClr val="0B7A4A"/>
                </a:solidFill>
                <a:latin typeface="Inter" pitchFamily="34" charset="0"/>
                <a:ea typeface="Inter" pitchFamily="34" charset="-122"/>
                <a:cs typeface="Inter" pitchFamily="34" charset="-120"/>
              </a:rPr>
              <a:t>  +$183K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5,105</a:t>
            </a:r>
            <a:pPr indent="0" marL="0">
              <a:buNone/>
            </a:pPr>
            <a:r>
              <a:rPr lang="en-US" sz="1400" b="1" dirty="0">
                <a:solidFill>
                  <a:srgbClr val="0B7A4A"/>
                </a:solidFill>
                <a:latin typeface="Inter" pitchFamily="34" charset="0"/>
                <a:ea typeface="Inter" pitchFamily="34" charset="-122"/>
                <a:cs typeface="Inter" pitchFamily="34" charset="-120"/>
              </a:rPr>
              <a:t>  +367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Fuel service 9.7%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+0.15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34.8%</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165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54.2%</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395 more a year.</a:t>
            </a:r>
            <a:endParaRPr lang="en-US" sz="14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$3.52M</a:t>
            </a:r>
            <a:pPr indent="0" marL="0">
              <a:buNone/>
            </a:pPr>
            <a:r>
              <a:rPr lang="en-US" sz="1400" b="1" dirty="0">
                <a:solidFill>
                  <a:srgbClr val="0B7A4A"/>
                </a:solidFill>
                <a:latin typeface="Inter" pitchFamily="34" charset="0"/>
                <a:ea typeface="Inter" pitchFamily="34" charset="-122"/>
                <a:cs typeface="Inter" pitchFamily="34" charset="-120"/>
              </a:rPr>
              <a:t>  +$472K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+$113K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84.5%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5,553</a:t>
            </a:r>
            <a:pPr indent="0" marL="0">
              <a:buNone/>
            </a:pPr>
            <a:r>
              <a:rPr lang="en-US" sz="1400" b="1" dirty="0">
                <a:solidFill>
                  <a:srgbClr val="0B7A4A"/>
                </a:solidFill>
                <a:latin typeface="Inter" pitchFamily="34" charset="0"/>
                <a:ea typeface="Inter" pitchFamily="34" charset="-122"/>
                <a:cs typeface="Inter" pitchFamily="34" charset="-120"/>
              </a:rPr>
              <a:t>  +511</a:t>
            </a:r>
            <a:endParaRPr lang="en-US" sz="2200" dirty="0"/>
          </a:p>
        </p:txBody>
      </p:sp>
      <p:sp>
        <p:nvSpPr>
          <p:cNvPr id="19" name="Shape 17"/>
          <p:cNvSpPr/>
          <p:nvPr/>
        </p:nvSpPr>
        <p:spPr>
          <a:xfrm>
            <a:off x="6201410" y="658368"/>
            <a:ext cx="5530342" cy="475488"/>
          </a:xfrm>
          <a:prstGeom prst="rect">
            <a:avLst/>
          </a:prstGeom>
          <a:solidFill>
            <a:srgbClr val="EDF4FA"/>
          </a:solidFill>
          <a:ln/>
        </p:spPr>
      </p:sp>
      <p:sp>
        <p:nvSpPr>
          <p:cNvPr id="20" name="Text 18"/>
          <p:cNvSpPr txBox="1"/>
          <p:nvPr/>
        </p:nvSpPr>
        <p:spPr>
          <a:xfrm>
            <a:off x="6329426" y="658368"/>
            <a:ext cx="527431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Fuel service 13.8%   ·   1st · Hours per RO +0.55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$265K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837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291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89.0%</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106 more a year.</a:t>
            </a:r>
            <a:endParaRPr lang="en-US" sz="14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$4.47M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$901,549</a:t>
            </a:r>
            <a:pPr indent="0" marL="0">
              <a:buNone/>
            </a:pPr>
            <a:r>
              <a:rPr lang="en-US" sz="1400" b="1" dirty="0">
                <a:solidFill>
                  <a:srgbClr val="0B7A4A"/>
                </a:solidFill>
                <a:latin typeface="Inter" pitchFamily="34" charset="0"/>
                <a:ea typeface="Inter" pitchFamily="34" charset="-122"/>
                <a:cs typeface="Inter" pitchFamily="34" charset="-120"/>
              </a:rPr>
              <a:t>  +$131K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70.0%</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15,141</a:t>
            </a:r>
            <a:pPr indent="0" marL="0">
              <a:buNone/>
            </a:pPr>
            <a:r>
              <a:rPr lang="en-US" sz="1400" b="1" dirty="0">
                <a:solidFill>
                  <a:srgbClr val="0B7A4A"/>
                </a:solidFill>
                <a:latin typeface="Inter" pitchFamily="34" charset="0"/>
                <a:ea typeface="Inter" pitchFamily="34" charset="-122"/>
                <a:cs typeface="Inter" pitchFamily="34" charset="-120"/>
              </a:rPr>
              <a:t>  +798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CP ROs +798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1.41</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+0.34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$1.01M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2,031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1,173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1,066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$48K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389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$10,794</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6.9 heads over peer avg.</a:t>
            </a:r>
            <a:endParaRPr lang="en-US" sz="14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$22.59M</a:t>
            </a:r>
            <a:pPr indent="0" marL="0">
              <a:buNone/>
            </a:pPr>
            <a:r>
              <a:rPr lang="en-US" sz="1400" b="1" dirty="0">
                <a:solidFill>
                  <a:srgbClr val="0B7A4A"/>
                </a:solidFill>
                <a:latin typeface="Inter" pitchFamily="34" charset="0"/>
                <a:ea typeface="Inter" pitchFamily="34" charset="-122"/>
                <a:cs typeface="Inter" pitchFamily="34" charset="-120"/>
              </a:rPr>
              <a:t>  +$1.77M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$7.83M</a:t>
            </a:r>
            <a:pPr indent="0" marL="0">
              <a:buNone/>
            </a:pPr>
            <a:r>
              <a:rPr lang="en-US" sz="1400" b="1" dirty="0">
                <a:solidFill>
                  <a:srgbClr val="0B7A4A"/>
                </a:solidFill>
                <a:latin typeface="Inter" pitchFamily="34" charset="0"/>
                <a:ea typeface="Inter" pitchFamily="34" charset="-122"/>
                <a:cs typeface="Inter" pitchFamily="34" charset="-120"/>
              </a:rPr>
              <a:t>  +$1.42M</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53,084</a:t>
            </a:r>
            <a:pPr indent="0" marL="0">
              <a:buNone/>
            </a:pPr>
            <a:r>
              <a:rPr lang="en-US" sz="1400" b="1" dirty="0">
                <a:solidFill>
                  <a:srgbClr val="0B7A4A"/>
                </a:solidFill>
                <a:latin typeface="Inter" pitchFamily="34" charset="0"/>
                <a:ea typeface="Inter" pitchFamily="34" charset="-122"/>
                <a:cs typeface="Inter" pitchFamily="34" charset="-120"/>
              </a:rPr>
              <a:t>  +65</a:t>
            </a:r>
            <a:endParaRPr lang="en-US" sz="2200" dirty="0"/>
          </a:p>
        </p:txBody>
      </p:sp>
      <p:sp>
        <p:nvSpPr>
          <p:cNvPr id="19" name="Shape 17"/>
          <p:cNvSpPr/>
          <p:nvPr/>
        </p:nvSpPr>
        <p:spPr>
          <a:xfrm>
            <a:off x="6107176" y="658368"/>
            <a:ext cx="5624576" cy="475488"/>
          </a:xfrm>
          <a:prstGeom prst="rect">
            <a:avLst/>
          </a:prstGeom>
          <a:solidFill>
            <a:srgbClr val="EDF4FA"/>
          </a:solidFill>
          <a:ln/>
        </p:spPr>
      </p:sp>
      <p:sp>
        <p:nvSpPr>
          <p:cNvPr id="20" name="Text 18"/>
          <p:cNvSpPr txBox="1"/>
          <p:nvPr/>
        </p:nvSpPr>
        <p:spPr>
          <a:xfrm>
            <a:off x="6235192" y="658368"/>
            <a:ext cx="536854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Fixed gross +$1.77M   ·   1st · Net profit +$1.42M</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+0.27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$2.07M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 of 59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$842K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20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2,671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1,056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21,344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76.1%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11,350 more a year.</a:t>
            </a:r>
            <a:endParaRPr lang="en-US" sz="14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$5.08M</a:t>
            </a:r>
            <a:pPr indent="0" marL="0">
              <a:buNone/>
            </a:pPr>
            <a:r>
              <a:rPr lang="en-US" sz="1400" b="1" dirty="0">
                <a:solidFill>
                  <a:srgbClr val="0B7A4A"/>
                </a:solidFill>
                <a:latin typeface="Inter" pitchFamily="34" charset="0"/>
                <a:ea typeface="Inter" pitchFamily="34" charset="-122"/>
                <a:cs typeface="Inter" pitchFamily="34" charset="-120"/>
              </a:rPr>
              <a:t>  +$586K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+$285K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13,490</a:t>
            </a:r>
            <a:pPr indent="0" marL="0">
              <a:buNone/>
            </a:pPr>
            <a:r>
              <a:rPr lang="en-US" sz="1400" b="1" dirty="0">
                <a:solidFill>
                  <a:srgbClr val="A82B26"/>
                </a:solidFill>
                <a:latin typeface="Inter" pitchFamily="34" charset="0"/>
                <a:ea typeface="Inter" pitchFamily="34" charset="-122"/>
                <a:cs typeface="Inter" pitchFamily="34" charset="-120"/>
              </a:rPr>
              <a:t>  −80</a:t>
            </a:r>
            <a:endParaRPr lang="en-US" sz="2200" dirty="0"/>
          </a:p>
        </p:txBody>
      </p:sp>
      <p:sp>
        <p:nvSpPr>
          <p:cNvPr id="19" name="Shape 17"/>
          <p:cNvSpPr/>
          <p:nvPr/>
        </p:nvSpPr>
        <p:spPr>
          <a:xfrm>
            <a:off x="6295644" y="658368"/>
            <a:ext cx="5436108" cy="475488"/>
          </a:xfrm>
          <a:prstGeom prst="rect">
            <a:avLst/>
          </a:prstGeom>
          <a:solidFill>
            <a:srgbClr val="EDF4FA"/>
          </a:solidFill>
          <a:ln/>
        </p:spPr>
      </p:sp>
      <p:sp>
        <p:nvSpPr>
          <p:cNvPr id="20" name="Text 18"/>
          <p:cNvSpPr txBox="1"/>
          <p:nvPr/>
        </p:nvSpPr>
        <p:spPr>
          <a:xfrm>
            <a:off x="6423660" y="658368"/>
            <a:ext cx="518007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Fixed gross +$586K   ·   9th · Net profit +$285K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1.38</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+0.36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$617K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1,590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478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$44K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13,490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13,570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107 more ROs.</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287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186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$11,044</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81.5%</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1,744 more a year.</a:t>
            </a:r>
            <a:endParaRPr lang="en-US" sz="14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$5.93M</a:t>
            </a:r>
            <a:pPr indent="0" marL="0">
              <a:buNone/>
            </a:pPr>
            <a:r>
              <a:rPr lang="en-US" sz="1400" b="1" dirty="0">
                <a:solidFill>
                  <a:srgbClr val="0B7A4A"/>
                </a:solidFill>
                <a:latin typeface="Inter" pitchFamily="34" charset="0"/>
                <a:ea typeface="Inter" pitchFamily="34" charset="-122"/>
                <a:cs typeface="Inter" pitchFamily="34" charset="-120"/>
              </a:rPr>
              <a:t>  +$545K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$699,325</a:t>
            </a:r>
            <a:pPr indent="0" marL="0">
              <a:buNone/>
            </a:pPr>
            <a:r>
              <a:rPr lang="en-US" sz="1400" b="1" dirty="0">
                <a:solidFill>
                  <a:srgbClr val="A82B26"/>
                </a:solidFill>
                <a:latin typeface="Inter" pitchFamily="34" charset="0"/>
                <a:ea typeface="Inter" pitchFamily="34" charset="-122"/>
                <a:cs typeface="Inter" pitchFamily="34" charset="-120"/>
              </a:rPr>
              <a:t>  −$268K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73.3%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17,376</a:t>
            </a:r>
            <a:pPr indent="0" marL="0">
              <a:buNone/>
            </a:pPr>
            <a:r>
              <a:rPr lang="en-US" sz="1400" b="1" dirty="0">
                <a:solidFill>
                  <a:srgbClr val="0B7A4A"/>
                </a:solidFill>
                <a:latin typeface="Inter" pitchFamily="34" charset="0"/>
                <a:ea typeface="Inter" pitchFamily="34" charset="-122"/>
                <a:cs typeface="Inter" pitchFamily="34" charset="-120"/>
              </a:rPr>
              <a:t>  +1,008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ROs +1,008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$187</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1.48</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$1.12M</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+0.26 hr per RO.</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$225K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2,490 more a year.</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3,361 more a year.</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$157K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28</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683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$2.25M</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87" name="Shape 85"/>
          <p:cNvSpPr/>
          <p:nvPr/>
        </p:nvSpPr>
        <p:spPr>
          <a:xfrm>
            <a:off x="658368" y="5328666"/>
            <a:ext cx="10872216" cy="323850"/>
          </a:xfrm>
          <a:prstGeom prst="rect">
            <a:avLst/>
          </a:prstGeom>
          <a:solidFill>
            <a:srgbClr val="F7F7F7"/>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387 more a year.</a:t>
            </a:r>
            <a:endParaRPr lang="en-US" sz="1400" dirty="0"/>
          </a:p>
        </p:txBody>
      </p:sp>
      <p:sp>
        <p:nvSpPr>
          <p:cNvPr id="94" name="Shape 92"/>
          <p:cNvSpPr/>
          <p:nvPr/>
        </p:nvSpPr>
        <p:spPr>
          <a:xfrm>
            <a:off x="658368" y="5647030"/>
            <a:ext cx="10872216" cy="10973"/>
          </a:xfrm>
          <a:prstGeom prst="rect">
            <a:avLst/>
          </a:prstGeom>
          <a:solidFill>
            <a:srgbClr val="9AA3AD"/>
          </a:solidFill>
          <a:ln/>
        </p:spPr>
      </p:sp>
      <p:sp>
        <p:nvSpPr>
          <p:cNvPr id="95" name="Text 93"/>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$11,128</a:t>
            </a:r>
            <a:endParaRPr lang="en-US" sz="1400" dirty="0"/>
          </a:p>
        </p:txBody>
      </p:sp>
      <p:sp>
        <p:nvSpPr>
          <p:cNvPr id="98" name="Text 96"/>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7.4 heads over peer avg.</a:t>
            </a:r>
            <a:endParaRPr lang="en-US" sz="1400" dirty="0"/>
          </a:p>
        </p:txBody>
      </p:sp>
      <p:sp>
        <p:nvSpPr>
          <p:cNvPr id="101" name="Shape 99"/>
          <p:cNvSpPr/>
          <p:nvPr/>
        </p:nvSpPr>
        <p:spPr>
          <a:xfrm>
            <a:off x="658368" y="5976366"/>
            <a:ext cx="10872216" cy="323850"/>
          </a:xfrm>
          <a:prstGeom prst="rect">
            <a:avLst/>
          </a:prstGeom>
          <a:solidFill>
            <a:srgbClr val="F7F7F7"/>
          </a:solidFill>
          <a:ln/>
        </p:spPr>
      </p:sp>
      <p:sp>
        <p:nvSpPr>
          <p:cNvPr id="102" name="Text 100"/>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81.3%</a:t>
            </a:r>
            <a:endParaRPr lang="en-US" sz="1400" dirty="0"/>
          </a:p>
        </p:txBody>
      </p:sp>
      <p:sp>
        <p:nvSpPr>
          <p:cNvPr id="105" name="Text 103"/>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2,232 more a year.</a:t>
            </a:r>
            <a:endParaRPr lang="en-US" sz="14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Volvo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$3.91M</a:t>
            </a:r>
            <a:pPr indent="0" marL="0">
              <a:buNone/>
            </a:pPr>
            <a:r>
              <a:rPr lang="en-US" sz="1400" b="1" dirty="0">
                <a:solidFill>
                  <a:srgbClr val="0B7A4A"/>
                </a:solidFill>
                <a:latin typeface="Inter" pitchFamily="34" charset="0"/>
                <a:ea typeface="Inter" pitchFamily="34" charset="-122"/>
                <a:cs typeface="Inter" pitchFamily="34" charset="-120"/>
              </a:rPr>
              <a:t>  +$63K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$1.33M</a:t>
            </a:r>
            <a:pPr indent="0" marL="0">
              <a:buNone/>
            </a:pPr>
            <a:r>
              <a:rPr lang="en-US" sz="1400" b="1" dirty="0">
                <a:solidFill>
                  <a:srgbClr val="0B7A4A"/>
                </a:solidFill>
                <a:latin typeface="Inter" pitchFamily="34" charset="0"/>
                <a:ea typeface="Inter" pitchFamily="34" charset="-122"/>
                <a:cs typeface="Inter" pitchFamily="34" charset="-120"/>
              </a:rPr>
              <a:t>  +$155K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3,402</a:t>
            </a:r>
            <a:pPr indent="0" marL="0">
              <a:buNone/>
            </a:pPr>
            <a:r>
              <a:rPr lang="en-US" sz="1400" b="1" dirty="0">
                <a:solidFill>
                  <a:srgbClr val="0B7A4A"/>
                </a:solidFill>
                <a:latin typeface="Inter" pitchFamily="34" charset="0"/>
                <a:ea typeface="Inter" pitchFamily="34" charset="-122"/>
                <a:cs typeface="Inter" pitchFamily="34" charset="-120"/>
              </a:rPr>
              <a:t>  +46</a:t>
            </a:r>
            <a:endParaRPr lang="en-US" sz="2200" dirty="0"/>
          </a:p>
        </p:txBody>
      </p:sp>
      <p:sp>
        <p:nvSpPr>
          <p:cNvPr id="19" name="Shape 17"/>
          <p:cNvSpPr/>
          <p:nvPr/>
        </p:nvSpPr>
        <p:spPr>
          <a:xfrm>
            <a:off x="4787900" y="658368"/>
            <a:ext cx="6943852" cy="475488"/>
          </a:xfrm>
          <a:prstGeom prst="rect">
            <a:avLst/>
          </a:prstGeom>
          <a:solidFill>
            <a:srgbClr val="EDF4FA"/>
          </a:solidFill>
          <a:ln/>
        </p:spPr>
      </p:sp>
      <p:sp>
        <p:nvSpPr>
          <p:cNvPr id="20" name="Text 18"/>
          <p:cNvSpPr txBox="1"/>
          <p:nvPr/>
        </p:nvSpPr>
        <p:spPr>
          <a:xfrm>
            <a:off x="4915916" y="658368"/>
            <a:ext cx="668782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ELR +$41   ·   2nd · Gross/head $18,549   ·   3rd · MPI 98.2%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+0.62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$506</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52.5%</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366 more a year.</a:t>
            </a:r>
            <a:endParaRPr lang="en-US" sz="14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$4.79M</a:t>
            </a:r>
            <a:pPr indent="0" marL="0">
              <a:buNone/>
            </a:pPr>
            <a:r>
              <a:rPr lang="en-US" sz="1400" b="1" dirty="0">
                <a:solidFill>
                  <a:srgbClr val="A82B26"/>
                </a:solidFill>
                <a:latin typeface="Inter" pitchFamily="34" charset="0"/>
                <a:ea typeface="Inter" pitchFamily="34" charset="-122"/>
                <a:cs typeface="Inter" pitchFamily="34" charset="-120"/>
              </a:rPr>
              <a:t>  −$761K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$1.09M</a:t>
            </a:r>
            <a:pPr indent="0" marL="0">
              <a:buNone/>
            </a:pPr>
            <a:r>
              <a:rPr lang="en-US" sz="1400" b="1" dirty="0">
                <a:solidFill>
                  <a:srgbClr val="A82B26"/>
                </a:solidFill>
                <a:latin typeface="Inter" pitchFamily="34" charset="0"/>
                <a:ea typeface="Inter" pitchFamily="34" charset="-122"/>
                <a:cs typeface="Inter" pitchFamily="34" charset="-120"/>
              </a:rPr>
              <a:t>  −$457K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83.8%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5,145</a:t>
            </a:r>
            <a:pPr indent="0" marL="0">
              <a:buNone/>
            </a:pPr>
            <a:r>
              <a:rPr lang="en-US" sz="1400" b="1" dirty="0">
                <a:solidFill>
                  <a:srgbClr val="A82B26"/>
                </a:solidFill>
                <a:latin typeface="Inter" pitchFamily="34" charset="0"/>
                <a:ea typeface="Inter" pitchFamily="34" charset="-122"/>
                <a:cs typeface="Inter" pitchFamily="34" charset="-120"/>
              </a:rPr>
              <a:t>  −4</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1st · Video 96.0%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$3.50M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$730K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96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$12,006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2.5 heads over peer avg.</a:t>
            </a:r>
            <a:endParaRPr lang="en-US" sz="14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$968,018</a:t>
            </a:r>
            <a:pPr indent="0" marL="0">
              <a:buNone/>
            </a:pPr>
            <a:r>
              <a:rPr lang="en-US" sz="1400" b="1" dirty="0">
                <a:solidFill>
                  <a:srgbClr val="A82B26"/>
                </a:solidFill>
                <a:latin typeface="Inter" pitchFamily="34" charset="0"/>
                <a:ea typeface="Inter" pitchFamily="34" charset="-122"/>
                <a:cs typeface="Inter" pitchFamily="34" charset="-120"/>
              </a:rPr>
              <a:t>  −$163K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−$58,644</a:t>
            </a:r>
            <a:pPr indent="0" marL="0">
              <a:buNone/>
            </a:pPr>
            <a:r>
              <a:rPr lang="en-US" sz="1400" b="1" dirty="0">
                <a:solidFill>
                  <a:srgbClr val="A82B26"/>
                </a:solidFill>
                <a:latin typeface="Inter" pitchFamily="34" charset="0"/>
                <a:ea typeface="Inter" pitchFamily="34" charset="-122"/>
                <a:cs typeface="Inter" pitchFamily="34" charset="-120"/>
              </a:rPr>
              <a:t>  −$212K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54.1%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77.9%</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1,919</a:t>
            </a:r>
            <a:pPr indent="0" marL="0">
              <a:buNone/>
            </a:pPr>
            <a:r>
              <a:rPr lang="en-US" sz="1400" b="1" dirty="0">
                <a:solidFill>
                  <a:srgbClr val="A82B26"/>
                </a:solidFill>
                <a:latin typeface="Inter" pitchFamily="34" charset="0"/>
                <a:ea typeface="Inter" pitchFamily="34" charset="-122"/>
                <a:cs typeface="Inter" pitchFamily="34" charset="-120"/>
              </a:rPr>
              <a:t>  −332</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5</a:t>
            </a:r>
            <a:endParaRPr lang="en-US" sz="1400" dirty="0"/>
          </a:p>
        </p:txBody>
      </p:sp>
      <p:sp>
        <p:nvSpPr>
          <p:cNvPr id="30" name="Text 28"/>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$248K</a:t>
            </a:r>
            <a:endParaRPr lang="en-US" sz="1400" dirty="0"/>
          </a:p>
        </p:txBody>
      </p:sp>
      <p:sp>
        <p:nvSpPr>
          <p:cNvPr id="32" name="Text 30"/>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12954"/>
            <a:ext cx="10872216" cy="298938"/>
          </a:xfrm>
          <a:prstGeom prst="rect">
            <a:avLst/>
          </a:prstGeom>
          <a:solidFill>
            <a:srgbClr val="F7F7F7"/>
          </a:solidFill>
          <a:ln/>
        </p:spPr>
      </p:sp>
      <p:sp>
        <p:nvSpPr>
          <p:cNvPr id="34" name="Text 32"/>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6" name="Text 34"/>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$724K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39" name="Text 37"/>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0" name="Text 38"/>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1,919</a:t>
            </a:r>
            <a:endParaRPr lang="en-US" sz="1400" dirty="0"/>
          </a:p>
        </p:txBody>
      </p:sp>
      <p:sp>
        <p:nvSpPr>
          <p:cNvPr id="43" name="Text 41"/>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2,251</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45" name="Text 43"/>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443 more ROs.</a:t>
            </a:r>
            <a:endParaRPr lang="en-US" sz="1400" dirty="0"/>
          </a:p>
        </p:txBody>
      </p:sp>
      <p:sp>
        <p:nvSpPr>
          <p:cNvPr id="46" name="Shape 44"/>
          <p:cNvSpPr/>
          <p:nvPr/>
        </p:nvSpPr>
        <p:spPr>
          <a:xfrm>
            <a:off x="658368" y="3310831"/>
            <a:ext cx="10872216" cy="298938"/>
          </a:xfrm>
          <a:prstGeom prst="rect">
            <a:avLst/>
          </a:prstGeom>
          <a:solidFill>
            <a:srgbClr val="F7F7F7"/>
          </a:solidFill>
          <a:ln/>
        </p:spPr>
      </p:sp>
      <p:sp>
        <p:nvSpPr>
          <p:cNvPr id="47" name="Text 45"/>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9" name="Text 47"/>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$231</a:t>
            </a:r>
            <a:endParaRPr lang="en-US" sz="1400" dirty="0"/>
          </a:p>
        </p:txBody>
      </p:sp>
      <p:sp>
        <p:nvSpPr>
          <p:cNvPr id="50" name="Text 48"/>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2" name="Text 50"/>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53" name="Text 51"/>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5" name="Text 53"/>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$380K</a:t>
            </a:r>
            <a:endParaRPr lang="en-US" sz="1400" dirty="0"/>
          </a:p>
        </p:txBody>
      </p:sp>
      <p:sp>
        <p:nvSpPr>
          <p:cNvPr id="56" name="Text 54"/>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$407K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58" name="Text 56"/>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9" name="Shape 57"/>
          <p:cNvSpPr/>
          <p:nvPr/>
        </p:nvSpPr>
        <p:spPr>
          <a:xfrm>
            <a:off x="658368" y="3908708"/>
            <a:ext cx="10872216" cy="298938"/>
          </a:xfrm>
          <a:prstGeom prst="rect">
            <a:avLst/>
          </a:prstGeom>
          <a:solidFill>
            <a:srgbClr val="F7F7F7"/>
          </a:solidFill>
          <a:ln/>
        </p:spPr>
      </p:sp>
      <p:sp>
        <p:nvSpPr>
          <p:cNvPr id="60" name="Text 58"/>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63" name="Text 61"/>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$29K</a:t>
            </a:r>
            <a:endParaRPr lang="en-US" sz="1400" dirty="0"/>
          </a:p>
        </p:txBody>
      </p:sp>
      <p:sp>
        <p:nvSpPr>
          <p:cNvPr id="65" name="Text 63"/>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123 more a year.</a:t>
            </a:r>
            <a:endParaRPr lang="en-US" sz="1400" dirty="0"/>
          </a:p>
        </p:txBody>
      </p:sp>
      <p:sp>
        <p:nvSpPr>
          <p:cNvPr id="66" name="Text 64"/>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8" name="Text 66"/>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69" name="Text 67"/>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$28K</a:t>
            </a:r>
            <a:endParaRPr lang="en-US" sz="1400" dirty="0"/>
          </a:p>
        </p:txBody>
      </p:sp>
      <p:sp>
        <p:nvSpPr>
          <p:cNvPr id="71" name="Text 69"/>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373 more a year.</a:t>
            </a:r>
            <a:endParaRPr lang="en-US" sz="1400" dirty="0"/>
          </a:p>
        </p:txBody>
      </p:sp>
      <p:sp>
        <p:nvSpPr>
          <p:cNvPr id="72" name="Shape 70"/>
          <p:cNvSpPr/>
          <p:nvPr/>
        </p:nvSpPr>
        <p:spPr>
          <a:xfrm>
            <a:off x="658368" y="4506585"/>
            <a:ext cx="10872216" cy="298938"/>
          </a:xfrm>
          <a:prstGeom prst="rect">
            <a:avLst/>
          </a:prstGeom>
          <a:solidFill>
            <a:srgbClr val="F7F7F7"/>
          </a:solidFill>
          <a:ln/>
        </p:spPr>
      </p:sp>
      <p:sp>
        <p:nvSpPr>
          <p:cNvPr id="73" name="Text 71"/>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75" name="Text 73"/>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1.71</a:t>
            </a:r>
            <a:endParaRPr lang="en-US" sz="1400" dirty="0"/>
          </a:p>
        </p:txBody>
      </p:sp>
      <p:sp>
        <p:nvSpPr>
          <p:cNvPr id="76" name="Text 74"/>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7" name="Text 75"/>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78" name="Text 76"/>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+0.04 hr per RO.</a:t>
            </a:r>
            <a:endParaRPr lang="en-US" sz="1400" dirty="0"/>
          </a:p>
        </p:txBody>
      </p:sp>
      <p:sp>
        <p:nvSpPr>
          <p:cNvPr id="79" name="Text 77"/>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1" name="Text 79"/>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5.6%</a:t>
            </a:r>
            <a:endParaRPr lang="en-US" sz="1400" dirty="0"/>
          </a:p>
        </p:txBody>
      </p:sp>
      <p:sp>
        <p:nvSpPr>
          <p:cNvPr id="82" name="Text 80"/>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84" name="Text 82"/>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240 more a year.</a:t>
            </a:r>
            <a:endParaRPr lang="en-US" sz="1400" dirty="0"/>
          </a:p>
        </p:txBody>
      </p:sp>
      <p:sp>
        <p:nvSpPr>
          <p:cNvPr id="85" name="Shape 83"/>
          <p:cNvSpPr/>
          <p:nvPr/>
        </p:nvSpPr>
        <p:spPr>
          <a:xfrm>
            <a:off x="658368" y="5104462"/>
            <a:ext cx="10872216" cy="298938"/>
          </a:xfrm>
          <a:prstGeom prst="rect">
            <a:avLst/>
          </a:prstGeom>
          <a:solidFill>
            <a:srgbClr val="F7F7F7"/>
          </a:solidFill>
          <a:ln/>
        </p:spPr>
      </p:sp>
      <p:sp>
        <p:nvSpPr>
          <p:cNvPr id="86" name="Text 84"/>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8" name="Text 86"/>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a:t>
            </a:r>
            <a:endParaRPr lang="en-US" sz="1400" dirty="0"/>
          </a:p>
        </p:txBody>
      </p:sp>
      <p:sp>
        <p:nvSpPr>
          <p:cNvPr id="89" name="Text 87"/>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91" name="Text 89"/>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 more a year.</a:t>
            </a:r>
            <a:endParaRPr lang="en-US" sz="1400" dirty="0"/>
          </a:p>
        </p:txBody>
      </p:sp>
      <p:sp>
        <p:nvSpPr>
          <p:cNvPr id="92" name="Shape 90"/>
          <p:cNvSpPr/>
          <p:nvPr/>
        </p:nvSpPr>
        <p:spPr>
          <a:xfrm>
            <a:off x="658368" y="5397914"/>
            <a:ext cx="10872216" cy="10973"/>
          </a:xfrm>
          <a:prstGeom prst="rect">
            <a:avLst/>
          </a:prstGeom>
          <a:solidFill>
            <a:srgbClr val="9AA3AD"/>
          </a:solidFill>
          <a:ln/>
        </p:spPr>
      </p:sp>
      <p:sp>
        <p:nvSpPr>
          <p:cNvPr id="93" name="Text 91"/>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5" name="Text 93"/>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45.7%</a:t>
            </a:r>
            <a:endParaRPr lang="en-US" sz="1400" dirty="0"/>
          </a:p>
        </p:txBody>
      </p:sp>
      <p:sp>
        <p:nvSpPr>
          <p:cNvPr id="96" name="Text 94"/>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7" name="Text 95"/>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1,733 more a year.</a:t>
            </a:r>
            <a:endParaRPr lang="en-US" sz="1400" dirty="0"/>
          </a:p>
        </p:txBody>
      </p:sp>
      <p:sp>
        <p:nvSpPr>
          <p:cNvPr id="99" name="Shape 97"/>
          <p:cNvSpPr/>
          <p:nvPr/>
        </p:nvSpPr>
        <p:spPr>
          <a:xfrm>
            <a:off x="658368" y="5702339"/>
            <a:ext cx="10872216" cy="298938"/>
          </a:xfrm>
          <a:prstGeom prst="rect">
            <a:avLst/>
          </a:prstGeom>
          <a:solidFill>
            <a:srgbClr val="F7F7F7"/>
          </a:solidFill>
          <a:ln/>
        </p:spPr>
      </p:sp>
      <p:sp>
        <p:nvSpPr>
          <p:cNvPr id="100" name="Text 98"/>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1" name="Text 99"/>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02" name="Text 100"/>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$9,878</a:t>
            </a:r>
            <a:endParaRPr lang="en-US" sz="1400" dirty="0"/>
          </a:p>
        </p:txBody>
      </p:sp>
      <p:sp>
        <p:nvSpPr>
          <p:cNvPr id="103" name="Text 101"/>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04" name="Text 102"/>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5" name="Text 103"/>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2.4 heads over peer avg.</a:t>
            </a:r>
            <a:endParaRPr lang="en-US" sz="1400" dirty="0"/>
          </a:p>
        </p:txBody>
      </p:sp>
      <p:sp>
        <p:nvSpPr>
          <p:cNvPr id="106" name="Text 104"/>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7" name="Text 105"/>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8" name="Text 106"/>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48.5%</a:t>
            </a:r>
            <a:endParaRPr lang="en-US" sz="1400" dirty="0"/>
          </a:p>
        </p:txBody>
      </p:sp>
      <p:sp>
        <p:nvSpPr>
          <p:cNvPr id="109" name="Text 107"/>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10" name="Text 108"/>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1" name="Text 109"/>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365 more a year.</a:t>
            </a:r>
            <a:endParaRPr lang="en-US" sz="14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16 declined.</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11 declined.</a:t>
            </a:r>
            <a:endParaRPr lang="en-US" sz="160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Shape 16"/>
          <p:cNvSpPr/>
          <p:nvPr/>
        </p:nvSpPr>
        <p:spPr>
          <a:xfrm>
            <a:off x="4084320" y="3796589"/>
            <a:ext cx="64008" cy="755294"/>
          </a:xfrm>
          <a:prstGeom prst="rect">
            <a:avLst/>
          </a:prstGeom>
          <a:solidFill>
            <a:srgbClr val="12A566"/>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Shape 24"/>
          <p:cNvSpPr/>
          <p:nvPr/>
        </p:nvSpPr>
        <p:spPr>
          <a:xfrm>
            <a:off x="4084320" y="5453482"/>
            <a:ext cx="64008" cy="755294"/>
          </a:xfrm>
          <a:prstGeom prst="rect">
            <a:avLst/>
          </a:prstGeom>
          <a:solidFill>
            <a:srgbClr val="12A566"/>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11 declined.</a:t>
            </a:r>
            <a:endParaRPr lang="en-US" sz="1600" dirty="0"/>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12A566"/>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−1.9%: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+5.2%: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+26.7%</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4" name="Shape 101"/>
          <p:cNvSpPr/>
          <p:nvPr/>
        </p:nvSpPr>
        <p:spPr>
          <a:xfrm>
            <a:off x="457200" y="6126480"/>
            <a:ext cx="11274552" cy="371856"/>
          </a:xfrm>
          <a:prstGeom prst="rect">
            <a:avLst/>
          </a:prstGeom>
          <a:solidFill>
            <a:srgbClr val="E6F6EE"/>
          </a:solidFill>
          <a:ln/>
        </p:spPr>
      </p:sp>
      <p:sp>
        <p:nvSpPr>
          <p:cNvPr id="105"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make two.</a:t>
            </a:r>
            <a:endParaRPr lang="en-US" sz="1600" dirty="0"/>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4" name="Shape 51"/>
          <p:cNvSpPr/>
          <p:nvPr/>
        </p:nvSpPr>
        <p:spPr>
          <a:xfrm>
            <a:off x="457200" y="6126480"/>
            <a:ext cx="11274552" cy="371856"/>
          </a:xfrm>
          <a:prstGeom prst="rect">
            <a:avLst/>
          </a:prstGeom>
          <a:solidFill>
            <a:srgbClr val="E6F6EE"/>
          </a:solidFill>
          <a:ln/>
        </p:spPr>
      </p:sp>
      <p:sp>
        <p:nvSpPr>
          <p:cNvPr id="55"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 stores make a top-3 list in both periods.</a:t>
            </a:r>
            <a:endParaRPr lang="en-US" sz="1600" dirty="0"/>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are top five in both.</a:t>
            </a:r>
            <a:endParaRPr lang="en-US" sz="1600" dirty="0"/>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CLOSE · BEFORE YOU LEAVE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$6,602,564 a year in labor and parts gross.</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2026-10-28T15:29:21Z</dcterms:created>
  <dcterms:modified xsi:type="dcterms:W3CDTF">2026-10-28T15:29:21Z</dcterms:modified>
</cp:coreProperties>
</file>