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00.xml" ContentType="application/vnd.openxmlformats-officedocument.drawingml.chart+xml"/>
  <Override PartName="/ppt/charts/chart101.xml" ContentType="application/vnd.openxmlformats-officedocument.drawingml.chart+xml"/>
  <Override PartName="/ppt/charts/chart102.xml" ContentType="application/vnd.openxmlformats-officedocument.drawingml.chart+xml"/>
  <Override PartName="/ppt/charts/chart103.xml" ContentType="application/vnd.openxmlformats-officedocument.drawingml.chart+xml"/>
  <Override PartName="/ppt/charts/chart104.xml" ContentType="application/vnd.openxmlformats-officedocument.drawingml.chart+xml"/>
  <Override PartName="/ppt/charts/chart105.xml" ContentType="application/vnd.openxmlformats-officedocument.drawingml.chart+xml"/>
  <Override PartName="/ppt/charts/chart106.xml" ContentType="application/vnd.openxmlformats-officedocument.drawingml.chart+xml"/>
  <Override PartName="/ppt/charts/chart107.xml" ContentType="application/vnd.openxmlformats-officedocument.drawingml.chart+xml"/>
  <Override PartName="/ppt/charts/chart108.xml" ContentType="application/vnd.openxmlformats-officedocument.drawingml.chart+xml"/>
  <Override PartName="/ppt/charts/chart109.xml" ContentType="application/vnd.openxmlformats-officedocument.drawingml.chart+xml"/>
  <Override PartName="/ppt/charts/chart11.xml" ContentType="application/vnd.openxmlformats-officedocument.drawingml.chart+xml"/>
  <Override PartName="/ppt/charts/chart110.xml" ContentType="application/vnd.openxmlformats-officedocument.drawingml.chart+xml"/>
  <Override PartName="/ppt/charts/chart111.xml" ContentType="application/vnd.openxmlformats-officedocument.drawingml.chart+xml"/>
  <Override PartName="/ppt/charts/chart112.xml" ContentType="application/vnd.openxmlformats-officedocument.drawingml.chart+xml"/>
  <Override PartName="/ppt/charts/chart113.xml" ContentType="application/vnd.openxmlformats-officedocument.drawingml.chart+xml"/>
  <Override PartName="/ppt/charts/chart114.xml" ContentType="application/vnd.openxmlformats-officedocument.drawingml.chart+xml"/>
  <Override PartName="/ppt/charts/chart115.xml" ContentType="application/vnd.openxmlformats-officedocument.drawingml.chart+xml"/>
  <Override PartName="/ppt/charts/chart116.xml" ContentType="application/vnd.openxmlformats-officedocument.drawingml.chart+xml"/>
  <Override PartName="/ppt/charts/chart117.xml" ContentType="application/vnd.openxmlformats-officedocument.drawingml.chart+xml"/>
  <Override PartName="/ppt/charts/chart118.xml" ContentType="application/vnd.openxmlformats-officedocument.drawingml.chart+xml"/>
  <Override PartName="/ppt/charts/chart119.xml" ContentType="application/vnd.openxmlformats-officedocument.drawingml.chart+xml"/>
  <Override PartName="/ppt/charts/chart12.xml" ContentType="application/vnd.openxmlformats-officedocument.drawingml.chart+xml"/>
  <Override PartName="/ppt/charts/chart120.xml" ContentType="application/vnd.openxmlformats-officedocument.drawingml.chart+xml"/>
  <Override PartName="/ppt/charts/chart121.xml" ContentType="application/vnd.openxmlformats-officedocument.drawingml.chart+xml"/>
  <Override PartName="/ppt/charts/chart122.xml" ContentType="application/vnd.openxmlformats-officedocument.drawingml.chart+xml"/>
  <Override PartName="/ppt/charts/chart123.xml" ContentType="application/vnd.openxmlformats-officedocument.drawingml.chart+xml"/>
  <Override PartName="/ppt/charts/chart124.xml" ContentType="application/vnd.openxmlformats-officedocument.drawingml.chart+xml"/>
  <Override PartName="/ppt/charts/chart125.xml" ContentType="application/vnd.openxmlformats-officedocument.drawingml.chart+xml"/>
  <Override PartName="/ppt/charts/chart126.xml" ContentType="application/vnd.openxmlformats-officedocument.drawingml.chart+xml"/>
  <Override PartName="/ppt/charts/chart127.xml" ContentType="application/vnd.openxmlformats-officedocument.drawingml.chart+xml"/>
  <Override PartName="/ppt/charts/chart128.xml" ContentType="application/vnd.openxmlformats-officedocument.drawingml.chart+xml"/>
  <Override PartName="/ppt/charts/chart129.xml" ContentType="application/vnd.openxmlformats-officedocument.drawingml.chart+xml"/>
  <Override PartName="/ppt/charts/chart13.xml" ContentType="application/vnd.openxmlformats-officedocument.drawingml.chart+xml"/>
  <Override PartName="/ppt/charts/chart130.xml" ContentType="application/vnd.openxmlformats-officedocument.drawingml.chart+xml"/>
  <Override PartName="/ppt/charts/chart131.xml" ContentType="application/vnd.openxmlformats-officedocument.drawingml.chart+xml"/>
  <Override PartName="/ppt/charts/chart132.xml" ContentType="application/vnd.openxmlformats-officedocument.drawingml.chart+xml"/>
  <Override PartName="/ppt/charts/chart133.xml" ContentType="application/vnd.openxmlformats-officedocument.drawingml.chart+xml"/>
  <Override PartName="/ppt/charts/chart134.xml" ContentType="application/vnd.openxmlformats-officedocument.drawingml.chart+xml"/>
  <Override PartName="/ppt/charts/chart135.xml" ContentType="application/vnd.openxmlformats-officedocument.drawingml.chart+xml"/>
  <Override PartName="/ppt/charts/chart136.xml" ContentType="application/vnd.openxmlformats-officedocument.drawingml.chart+xml"/>
  <Override PartName="/ppt/charts/chart137.xml" ContentType="application/vnd.openxmlformats-officedocument.drawingml.chart+xml"/>
  <Override PartName="/ppt/charts/chart138.xml" ContentType="application/vnd.openxmlformats-officedocument.drawingml.chart+xml"/>
  <Override PartName="/ppt/charts/chart139.xml" ContentType="application/vnd.openxmlformats-officedocument.drawingml.chart+xml"/>
  <Override PartName="/ppt/charts/chart14.xml" ContentType="application/vnd.openxmlformats-officedocument.drawingml.chart+xml"/>
  <Override PartName="/ppt/charts/chart140.xml" ContentType="application/vnd.openxmlformats-officedocument.drawingml.chart+xml"/>
  <Override PartName="/ppt/charts/chart141.xml" ContentType="application/vnd.openxmlformats-officedocument.drawingml.chart+xml"/>
  <Override PartName="/ppt/charts/chart142.xml" ContentType="application/vnd.openxmlformats-officedocument.drawingml.chart+xml"/>
  <Override PartName="/ppt/charts/chart143.xml" ContentType="application/vnd.openxmlformats-officedocument.drawingml.chart+xml"/>
  <Override PartName="/ppt/charts/chart144.xml" ContentType="application/vnd.openxmlformats-officedocument.drawingml.chart+xml"/>
  <Override PartName="/ppt/charts/chart145.xml" ContentType="application/vnd.openxmlformats-officedocument.drawingml.chart+xml"/>
  <Override PartName="/ppt/charts/chart146.xml" ContentType="application/vnd.openxmlformats-officedocument.drawingml.chart+xml"/>
  <Override PartName="/ppt/charts/chart147.xml" ContentType="application/vnd.openxmlformats-officedocument.drawingml.chart+xml"/>
  <Override PartName="/ppt/charts/chart148.xml" ContentType="application/vnd.openxmlformats-officedocument.drawingml.chart+xml"/>
  <Override PartName="/ppt/charts/chart149.xml" ContentType="application/vnd.openxmlformats-officedocument.drawingml.chart+xml"/>
  <Override PartName="/ppt/charts/chart15.xml" ContentType="application/vnd.openxmlformats-officedocument.drawingml.chart+xml"/>
  <Override PartName="/ppt/charts/chart150.xml" ContentType="application/vnd.openxmlformats-officedocument.drawingml.chart+xml"/>
  <Override PartName="/ppt/charts/chart151.xml" ContentType="application/vnd.openxmlformats-officedocument.drawingml.chart+xml"/>
  <Override PartName="/ppt/charts/chart152.xml" ContentType="application/vnd.openxmlformats-officedocument.drawingml.chart+xml"/>
  <Override PartName="/ppt/charts/chart153.xml" ContentType="application/vnd.openxmlformats-officedocument.drawingml.chart+xml"/>
  <Override PartName="/ppt/charts/chart154.xml" ContentType="application/vnd.openxmlformats-officedocument.drawingml.chart+xml"/>
  <Override PartName="/ppt/charts/chart155.xml" ContentType="application/vnd.openxmlformats-officedocument.drawingml.chart+xml"/>
  <Override PartName="/ppt/charts/chart156.xml" ContentType="application/vnd.openxmlformats-officedocument.drawingml.chart+xml"/>
  <Override PartName="/ppt/charts/chart157.xml" ContentType="application/vnd.openxmlformats-officedocument.drawingml.chart+xml"/>
  <Override PartName="/ppt/charts/chart158.xml" ContentType="application/vnd.openxmlformats-officedocument.drawingml.chart+xml"/>
  <Override PartName="/ppt/charts/chart159.xml" ContentType="application/vnd.openxmlformats-officedocument.drawingml.chart+xml"/>
  <Override PartName="/ppt/charts/chart16.xml" ContentType="application/vnd.openxmlformats-officedocument.drawingml.chart+xml"/>
  <Override PartName="/ppt/charts/chart160.xml" ContentType="application/vnd.openxmlformats-officedocument.drawingml.chart+xml"/>
  <Override PartName="/ppt/charts/chart161.xml" ContentType="application/vnd.openxmlformats-officedocument.drawingml.chart+xml"/>
  <Override PartName="/ppt/charts/chart162.xml" ContentType="application/vnd.openxmlformats-officedocument.drawingml.chart+xml"/>
  <Override PartName="/ppt/charts/chart163.xml" ContentType="application/vnd.openxmlformats-officedocument.drawingml.chart+xml"/>
  <Override PartName="/ppt/charts/chart164.xml" ContentType="application/vnd.openxmlformats-officedocument.drawingml.chart+xml"/>
  <Override PartName="/ppt/charts/chart165.xml" ContentType="application/vnd.openxmlformats-officedocument.drawingml.chart+xml"/>
  <Override PartName="/ppt/charts/chart166.xml" ContentType="application/vnd.openxmlformats-officedocument.drawingml.chart+xml"/>
  <Override PartName="/ppt/charts/chart167.xml" ContentType="application/vnd.openxmlformats-officedocument.drawingml.chart+xml"/>
  <Override PartName="/ppt/charts/chart168.xml" ContentType="application/vnd.openxmlformats-officedocument.drawingml.chart+xml"/>
  <Override PartName="/ppt/charts/chart169.xml" ContentType="application/vnd.openxmlformats-officedocument.drawingml.chart+xml"/>
  <Override PartName="/ppt/charts/chart17.xml" ContentType="application/vnd.openxmlformats-officedocument.drawingml.chart+xml"/>
  <Override PartName="/ppt/charts/chart170.xml" ContentType="application/vnd.openxmlformats-officedocument.drawingml.chart+xml"/>
  <Override PartName="/ppt/charts/chart171.xml" ContentType="application/vnd.openxmlformats-officedocument.drawingml.chart+xml"/>
  <Override PartName="/ppt/charts/chart172.xml" ContentType="application/vnd.openxmlformats-officedocument.drawingml.chart+xml"/>
  <Override PartName="/ppt/charts/chart173.xml" ContentType="application/vnd.openxmlformats-officedocument.drawingml.chart+xml"/>
  <Override PartName="/ppt/charts/chart174.xml" ContentType="application/vnd.openxmlformats-officedocument.drawingml.chart+xml"/>
  <Override PartName="/ppt/charts/chart175.xml" ContentType="application/vnd.openxmlformats-officedocument.drawingml.chart+xml"/>
  <Override PartName="/ppt/charts/chart176.xml" ContentType="application/vnd.openxmlformats-officedocument.drawingml.chart+xml"/>
  <Override PartName="/ppt/charts/chart177.xml" ContentType="application/vnd.openxmlformats-officedocument.drawingml.chart+xml"/>
  <Override PartName="/ppt/charts/chart178.xml" ContentType="application/vnd.openxmlformats-officedocument.drawingml.chart+xml"/>
  <Override PartName="/ppt/charts/chart179.xml" ContentType="application/vnd.openxmlformats-officedocument.drawingml.chart+xml"/>
  <Override PartName="/ppt/charts/chart18.xml" ContentType="application/vnd.openxmlformats-officedocument.drawingml.chart+xml"/>
  <Override PartName="/ppt/charts/chart180.xml" ContentType="application/vnd.openxmlformats-officedocument.drawingml.chart+xml"/>
  <Override PartName="/ppt/charts/chart181.xml" ContentType="application/vnd.openxmlformats-officedocument.drawingml.chart+xml"/>
  <Override PartName="/ppt/charts/chart182.xml" ContentType="application/vnd.openxmlformats-officedocument.drawingml.chart+xml"/>
  <Override PartName="/ppt/charts/chart183.xml" ContentType="application/vnd.openxmlformats-officedocument.drawingml.chart+xml"/>
  <Override PartName="/ppt/charts/chart184.xml" ContentType="application/vnd.openxmlformats-officedocument.drawingml.chart+xml"/>
  <Override PartName="/ppt/charts/chart185.xml" ContentType="application/vnd.openxmlformats-officedocument.drawingml.chart+xml"/>
  <Override PartName="/ppt/charts/chart186.xml" ContentType="application/vnd.openxmlformats-officedocument.drawingml.chart+xml"/>
  <Override PartName="/ppt/charts/chart187.xml" ContentType="application/vnd.openxmlformats-officedocument.drawingml.chart+xml"/>
  <Override PartName="/ppt/charts/chart188.xml" ContentType="application/vnd.openxmlformats-officedocument.drawingml.chart+xml"/>
  <Override PartName="/ppt/charts/chart189.xml" ContentType="application/vnd.openxmlformats-officedocument.drawingml.chart+xml"/>
  <Override PartName="/ppt/charts/chart19.xml" ContentType="application/vnd.openxmlformats-officedocument.drawingml.chart+xml"/>
  <Override PartName="/ppt/charts/chart190.xml" ContentType="application/vnd.openxmlformats-officedocument.drawingml.chart+xml"/>
  <Override PartName="/ppt/charts/chart191.xml" ContentType="application/vnd.openxmlformats-officedocument.drawingml.chart+xml"/>
  <Override PartName="/ppt/charts/chart192.xml" ContentType="application/vnd.openxmlformats-officedocument.drawingml.chart+xml"/>
  <Override PartName="/ppt/charts/chart193.xml" ContentType="application/vnd.openxmlformats-officedocument.drawingml.chart+xml"/>
  <Override PartName="/ppt/charts/chart194.xml" ContentType="application/vnd.openxmlformats-officedocument.drawingml.chart+xml"/>
  <Override PartName="/ppt/charts/chart195.xml" ContentType="application/vnd.openxmlformats-officedocument.drawingml.chart+xml"/>
  <Override PartName="/ppt/charts/chart196.xml" ContentType="application/vnd.openxmlformats-officedocument.drawingml.chart+xml"/>
  <Override PartName="/ppt/charts/chart197.xml" ContentType="application/vnd.openxmlformats-officedocument.drawingml.chart+xml"/>
  <Override PartName="/ppt/charts/chart198.xml" ContentType="application/vnd.openxmlformats-officedocument.drawingml.chart+xml"/>
  <Override PartName="/ppt/charts/chart19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00.xml" ContentType="application/vnd.openxmlformats-officedocument.drawingml.chart+xml"/>
  <Override PartName="/ppt/charts/chart201.xml" ContentType="application/vnd.openxmlformats-officedocument.drawingml.chart+xml"/>
  <Override PartName="/ppt/charts/chart202.xml" ContentType="application/vnd.openxmlformats-officedocument.drawingml.chart+xml"/>
  <Override PartName="/ppt/charts/chart203.xml" ContentType="application/vnd.openxmlformats-officedocument.drawingml.chart+xml"/>
  <Override PartName="/ppt/charts/chart204.xml" ContentType="application/vnd.openxmlformats-officedocument.drawingml.chart+xml"/>
  <Override PartName="/ppt/charts/chart205.xml" ContentType="application/vnd.openxmlformats-officedocument.drawingml.chart+xml"/>
  <Override PartName="/ppt/charts/chart206.xml" ContentType="application/vnd.openxmlformats-officedocument.drawingml.chart+xml"/>
  <Override PartName="/ppt/charts/chart207.xml" ContentType="application/vnd.openxmlformats-officedocument.drawingml.chart+xml"/>
  <Override PartName="/ppt/charts/chart208.xml" ContentType="application/vnd.openxmlformats-officedocument.drawingml.chart+xml"/>
  <Override PartName="/ppt/charts/chart209.xml" ContentType="application/vnd.openxmlformats-officedocument.drawingml.chart+xml"/>
  <Override PartName="/ppt/charts/chart21.xml" ContentType="application/vnd.openxmlformats-officedocument.drawingml.chart+xml"/>
  <Override PartName="/ppt/charts/chart210.xml" ContentType="application/vnd.openxmlformats-officedocument.drawingml.chart+xml"/>
  <Override PartName="/ppt/charts/chart211.xml" ContentType="application/vnd.openxmlformats-officedocument.drawingml.chart+xml"/>
  <Override PartName="/ppt/charts/chart212.xml" ContentType="application/vnd.openxmlformats-officedocument.drawingml.chart+xml"/>
  <Override PartName="/ppt/charts/chart213.xml" ContentType="application/vnd.openxmlformats-officedocument.drawingml.chart+xml"/>
  <Override PartName="/ppt/charts/chart214.xml" ContentType="application/vnd.openxmlformats-officedocument.drawingml.chart+xml"/>
  <Override PartName="/ppt/charts/chart215.xml" ContentType="application/vnd.openxmlformats-officedocument.drawingml.chart+xml"/>
  <Override PartName="/ppt/charts/chart216.xml" ContentType="application/vnd.openxmlformats-officedocument.drawingml.chart+xml"/>
  <Override PartName="/ppt/charts/chart217.xml" ContentType="application/vnd.openxmlformats-officedocument.drawingml.chart+xml"/>
  <Override PartName="/ppt/charts/chart218.xml" ContentType="application/vnd.openxmlformats-officedocument.drawingml.chart+xml"/>
  <Override PartName="/ppt/charts/chart219.xml" ContentType="application/vnd.openxmlformats-officedocument.drawingml.chart+xml"/>
  <Override PartName="/ppt/charts/chart22.xml" ContentType="application/vnd.openxmlformats-officedocument.drawingml.chart+xml"/>
  <Override PartName="/ppt/charts/chart220.xml" ContentType="application/vnd.openxmlformats-officedocument.drawingml.chart+xml"/>
  <Override PartName="/ppt/charts/chart221.xml" ContentType="application/vnd.openxmlformats-officedocument.drawingml.chart+xml"/>
  <Override PartName="/ppt/charts/chart222.xml" ContentType="application/vnd.openxmlformats-officedocument.drawingml.chart+xml"/>
  <Override PartName="/ppt/charts/chart223.xml" ContentType="application/vnd.openxmlformats-officedocument.drawingml.chart+xml"/>
  <Override PartName="/ppt/charts/chart224.xml" ContentType="application/vnd.openxmlformats-officedocument.drawingml.chart+xml"/>
  <Override PartName="/ppt/charts/chart225.xml" ContentType="application/vnd.openxmlformats-officedocument.drawingml.chart+xml"/>
  <Override PartName="/ppt/charts/chart226.xml" ContentType="application/vnd.openxmlformats-officedocument.drawingml.chart+xml"/>
  <Override PartName="/ppt/charts/chart227.xml" ContentType="application/vnd.openxmlformats-officedocument.drawingml.chart+xml"/>
  <Override PartName="/ppt/charts/chart228.xml" ContentType="application/vnd.openxmlformats-officedocument.drawingml.chart+xml"/>
  <Override PartName="/ppt/charts/chart229.xml" ContentType="application/vnd.openxmlformats-officedocument.drawingml.chart+xml"/>
  <Override PartName="/ppt/charts/chart23.xml" ContentType="application/vnd.openxmlformats-officedocument.drawingml.chart+xml"/>
  <Override PartName="/ppt/charts/chart230.xml" ContentType="application/vnd.openxmlformats-officedocument.drawingml.chart+xml"/>
  <Override PartName="/ppt/charts/chart231.xml" ContentType="application/vnd.openxmlformats-officedocument.drawingml.chart+xml"/>
  <Override PartName="/ppt/charts/chart232.xml" ContentType="application/vnd.openxmlformats-officedocument.drawingml.chart+xml"/>
  <Override PartName="/ppt/charts/chart233.xml" ContentType="application/vnd.openxmlformats-officedocument.drawingml.chart+xml"/>
  <Override PartName="/ppt/charts/chart234.xml" ContentType="application/vnd.openxmlformats-officedocument.drawingml.chart+xml"/>
  <Override PartName="/ppt/charts/chart24.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charts/chart55.xml" ContentType="application/vnd.openxmlformats-officedocument.drawingml.chart+xml"/>
  <Override PartName="/ppt/charts/chart56.xml" ContentType="application/vnd.openxmlformats-officedocument.drawingml.chart+xml"/>
  <Override PartName="/ppt/charts/chart57.xml" ContentType="application/vnd.openxmlformats-officedocument.drawingml.chart+xml"/>
  <Override PartName="/ppt/charts/chart58.xml" ContentType="application/vnd.openxmlformats-officedocument.drawingml.chart+xml"/>
  <Override PartName="/ppt/charts/chart59.xml" ContentType="application/vnd.openxmlformats-officedocument.drawingml.chart+xml"/>
  <Override PartName="/ppt/charts/chart6.xml" ContentType="application/vnd.openxmlformats-officedocument.drawingml.chart+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63.xml" ContentType="application/vnd.openxmlformats-officedocument.drawingml.chart+xml"/>
  <Override PartName="/ppt/charts/chart64.xml" ContentType="application/vnd.openxmlformats-officedocument.drawingml.chart+xml"/>
  <Override PartName="/ppt/charts/chart65.xml" ContentType="application/vnd.openxmlformats-officedocument.drawingml.chart+xml"/>
  <Override PartName="/ppt/charts/chart66.xml" ContentType="application/vnd.openxmlformats-officedocument.drawingml.chart+xml"/>
  <Override PartName="/ppt/charts/chart67.xml" ContentType="application/vnd.openxmlformats-officedocument.drawingml.chart+xml"/>
  <Override PartName="/ppt/charts/chart68.xml" ContentType="application/vnd.openxmlformats-officedocument.drawingml.chart+xml"/>
  <Override PartName="/ppt/charts/chart69.xml" ContentType="application/vnd.openxmlformats-officedocument.drawingml.chart+xml"/>
  <Override PartName="/ppt/charts/chart7.xml" ContentType="application/vnd.openxmlformats-officedocument.drawingml.chart+xml"/>
  <Override PartName="/ppt/charts/chart70.xml" ContentType="application/vnd.openxmlformats-officedocument.drawingml.chart+xml"/>
  <Override PartName="/ppt/charts/chart71.xml" ContentType="application/vnd.openxmlformats-officedocument.drawingml.chart+xml"/>
  <Override PartName="/ppt/charts/chart72.xml" ContentType="application/vnd.openxmlformats-officedocument.drawingml.chart+xml"/>
  <Override PartName="/ppt/charts/chart73.xml" ContentType="application/vnd.openxmlformats-officedocument.drawingml.chart+xml"/>
  <Override PartName="/ppt/charts/chart74.xml" ContentType="application/vnd.openxmlformats-officedocument.drawingml.chart+xml"/>
  <Override PartName="/ppt/charts/chart75.xml" ContentType="application/vnd.openxmlformats-officedocument.drawingml.chart+xml"/>
  <Override PartName="/ppt/charts/chart76.xml" ContentType="application/vnd.openxmlformats-officedocument.drawingml.chart+xml"/>
  <Override PartName="/ppt/charts/chart77.xml" ContentType="application/vnd.openxmlformats-officedocument.drawingml.chart+xml"/>
  <Override PartName="/ppt/charts/chart78.xml" ContentType="application/vnd.openxmlformats-officedocument.drawingml.chart+xml"/>
  <Override PartName="/ppt/charts/chart79.xml" ContentType="application/vnd.openxmlformats-officedocument.drawingml.chart+xml"/>
  <Override PartName="/ppt/charts/chart8.xml" ContentType="application/vnd.openxmlformats-officedocument.drawingml.chart+xml"/>
  <Override PartName="/ppt/charts/chart80.xml" ContentType="application/vnd.openxmlformats-officedocument.drawingml.chart+xml"/>
  <Override PartName="/ppt/charts/chart81.xml" ContentType="application/vnd.openxmlformats-officedocument.drawingml.chart+xml"/>
  <Override PartName="/ppt/charts/chart82.xml" ContentType="application/vnd.openxmlformats-officedocument.drawingml.chart+xml"/>
  <Override PartName="/ppt/charts/chart83.xml" ContentType="application/vnd.openxmlformats-officedocument.drawingml.chart+xml"/>
  <Override PartName="/ppt/charts/chart84.xml" ContentType="application/vnd.openxmlformats-officedocument.drawingml.chart+xml"/>
  <Override PartName="/ppt/charts/chart85.xml" ContentType="application/vnd.openxmlformats-officedocument.drawingml.chart+xml"/>
  <Override PartName="/ppt/charts/chart86.xml" ContentType="application/vnd.openxmlformats-officedocument.drawingml.chart+xml"/>
  <Override PartName="/ppt/charts/chart87.xml" ContentType="application/vnd.openxmlformats-officedocument.drawingml.chart+xml"/>
  <Override PartName="/ppt/charts/chart88.xml" ContentType="application/vnd.openxmlformats-officedocument.drawingml.chart+xml"/>
  <Override PartName="/ppt/charts/chart89.xml" ContentType="application/vnd.openxmlformats-officedocument.drawingml.chart+xml"/>
  <Override PartName="/ppt/charts/chart9.xml" ContentType="application/vnd.openxmlformats-officedocument.drawingml.chart+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charts/chart97.xml" ContentType="application/vnd.openxmlformats-officedocument.drawingml.chart+xml"/>
  <Override PartName="/ppt/charts/chart98.xml" ContentType="application/vnd.openxmlformats-officedocument.drawingml.chart+xml"/>
  <Override PartName="/ppt/charts/chart9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7" r:id="rId18"/>
    <p:sldId id="258" r:id="rId4"/>
    <p:sldId id="268" r:id="rId19"/>
    <p:sldId id="269" r:id="rId20"/>
    <p:sldId id="270" r:id="rId21"/>
    <p:sldId id="271" r:id="rId22"/>
    <p:sldId id="272" r:id="rId23"/>
    <p:sldId id="273" r:id="rId24"/>
    <p:sldId id="274" r:id="rId25"/>
    <p:sldId id="275" r:id="rId26"/>
    <p:sldId id="276" r:id="rId27"/>
    <p:sldId id="277" r:id="rId28"/>
    <p:sldId id="278" r:id="rId29"/>
    <p:sldId id="259" r:id="rId5"/>
    <p:sldId id="279" r:id="rId30"/>
    <p:sldId id="280" r:id="rId31"/>
    <p:sldId id="281" r:id="rId32"/>
    <p:sldId id="282" r:id="rId33"/>
    <p:sldId id="283" r:id="rId34"/>
    <p:sldId id="284" r:id="rId35"/>
    <p:sldId id="285" r:id="rId36"/>
    <p:sldId id="286" r:id="rId37"/>
    <p:sldId id="287" r:id="rId38"/>
    <p:sldId id="288" r:id="rId39"/>
    <p:sldId id="289" r:id="rId40"/>
    <p:sldId id="260" r:id="rId6"/>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261" r:id="rId7"/>
    <p:sldId id="336" r:id="rId87"/>
    <p:sldId id="337" r:id="rId88"/>
    <p:sldId id="338" r:id="rId89"/>
    <p:sldId id="339" r:id="rId90"/>
    <p:sldId id="340" r:id="rId91"/>
    <p:sldId id="341" r:id="rId92"/>
    <p:sldId id="342" r:id="rId93"/>
    <p:sldId id="262" r:id="rId8"/>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263" r:id="rId9"/>
    <p:sldId id="363" r:id="rId114"/>
    <p:sldId id="364" r:id="rId115"/>
    <p:sldId id="365" r:id="rId116"/>
    <p:sldId id="366" r:id="rId117"/>
    <p:sldId id="367" r:id="rId118"/>
    <p:sldId id="368" r:id="rId119"/>
    <p:sldId id="369" r:id="rId120"/>
    <p:sldId id="370" r:id="rId121"/>
    <p:sldId id="371" r:id="rId122"/>
    <p:sldId id="372" r:id="rId123"/>
    <p:sldId id="264" r:id="rId10"/>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265" r:id="rId11"/>
    <p:sldId id="403" r:id="rId154"/>
    <p:sldId id="404" r:id="rId155"/>
    <p:sldId id="405" r:id="rId156"/>
    <p:sldId id="406" r:id="rId157"/>
    <p:sldId id="407" r:id="rId158"/>
    <p:sldId id="408" r:id="rId159"/>
    <p:sldId id="266" r:id="rId12"/>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
<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
<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
<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
<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
<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
<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
<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
<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
<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
<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
<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
<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
<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
<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
<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
<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
<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
<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
<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
<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
<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
<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
<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
<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
<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
<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
<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
<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
<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
<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
<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
<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
<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
<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
<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
<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
<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
<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
<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
<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
<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
<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
<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
<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
<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
<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
<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
<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
<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
<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
<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
<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
<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
<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
<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
<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
<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
<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
<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
<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
<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
<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
<Relationships xmlns="http://schemas.openxmlformats.org/package/2006/relationships"><Relationship Id="rId1" Type="http://schemas.openxmlformats.org/officeDocument/2006/relationships/package" Target="../embeddings/Microsoft_Excel_Worksheet104.xlsx"/></Relationships>
</file>

<file path=ppt/charts/_rels/chart105.xml.rels><?xml version='1.0' encoding='UTF-8' standalone='yes'?>
<Relationships xmlns="http://schemas.openxmlformats.org/package/2006/relationships"><Relationship Id="rId1" Type="http://schemas.openxmlformats.org/officeDocument/2006/relationships/package" Target="../embeddings/Microsoft_Excel_Worksheet105.xlsx"/></Relationships>
</file>

<file path=ppt/charts/_rels/chart106.xml.rels><?xml version='1.0' encoding='UTF-8' standalone='yes'?>
<Relationships xmlns="http://schemas.openxmlformats.org/package/2006/relationships"><Relationship Id="rId1" Type="http://schemas.openxmlformats.org/officeDocument/2006/relationships/package" Target="../embeddings/Microsoft_Excel_Worksheet106.xlsx"/></Relationships>
</file>

<file path=ppt/charts/_rels/chart107.xml.rels><?xml version='1.0' encoding='UTF-8' standalone='yes'?>
<Relationships xmlns="http://schemas.openxmlformats.org/package/2006/relationships"><Relationship Id="rId1" Type="http://schemas.openxmlformats.org/officeDocument/2006/relationships/package" Target="../embeddings/Microsoft_Excel_Worksheet107.xlsx"/></Relationships>
</file>

<file path=ppt/charts/_rels/chart108.xml.rels><?xml version='1.0' encoding='UTF-8' standalone='yes'?>
<Relationships xmlns="http://schemas.openxmlformats.org/package/2006/relationships"><Relationship Id="rId1" Type="http://schemas.openxmlformats.org/officeDocument/2006/relationships/package" Target="../embeddings/Microsoft_Excel_Worksheet108.xlsx"/></Relationships>
</file>

<file path=ppt/charts/_rels/chart109.xml.rels><?xml version='1.0' encoding='UTF-8' standalone='yes'?>
<Relationships xmlns="http://schemas.openxmlformats.org/package/2006/relationships"><Relationship Id="rId1" Type="http://schemas.openxmlformats.org/officeDocument/2006/relationships/package" Target="../embeddings/Microsoft_Excel_Worksheet109.xlsx"/></Relationships>
</file>

<file path=ppt/charts/_rels/chart110.xml.rels><?xml version='1.0' encoding='UTF-8' standalone='yes'?>
<Relationships xmlns="http://schemas.openxmlformats.org/package/2006/relationships"><Relationship Id="rId1" Type="http://schemas.openxmlformats.org/officeDocument/2006/relationships/package" Target="../embeddings/Microsoft_Excel_Worksheet110.xlsx"/></Relationships>
</file>

<file path=ppt/charts/_rels/chart111.xml.rels><?xml version='1.0' encoding='UTF-8' standalone='yes'?>
<Relationships xmlns="http://schemas.openxmlformats.org/package/2006/relationships"><Relationship Id="rId1" Type="http://schemas.openxmlformats.org/officeDocument/2006/relationships/package" Target="../embeddings/Microsoft_Excel_Worksheet111.xlsx"/></Relationships>
</file>

<file path=ppt/charts/_rels/chart112.xml.rels><?xml version='1.0' encoding='UTF-8' standalone='yes'?>
<Relationships xmlns="http://schemas.openxmlformats.org/package/2006/relationships"><Relationship Id="rId1" Type="http://schemas.openxmlformats.org/officeDocument/2006/relationships/package" Target="../embeddings/Microsoft_Excel_Worksheet112.xlsx"/></Relationships>
</file>

<file path=ppt/charts/_rels/chart113.xml.rels><?xml version='1.0' encoding='UTF-8' standalone='yes'?>
<Relationships xmlns="http://schemas.openxmlformats.org/package/2006/relationships"><Relationship Id="rId1" Type="http://schemas.openxmlformats.org/officeDocument/2006/relationships/package" Target="../embeddings/Microsoft_Excel_Worksheet113.xlsx"/></Relationships>
</file>

<file path=ppt/charts/_rels/chart114.xml.rels><?xml version='1.0' encoding='UTF-8' standalone='yes'?>
<Relationships xmlns="http://schemas.openxmlformats.org/package/2006/relationships"><Relationship Id="rId1" Type="http://schemas.openxmlformats.org/officeDocument/2006/relationships/package" Target="../embeddings/Microsoft_Excel_Worksheet114.xlsx"/></Relationships>
</file>

<file path=ppt/charts/_rels/chart115.xml.rels><?xml version='1.0' encoding='UTF-8' standalone='yes'?>
<Relationships xmlns="http://schemas.openxmlformats.org/package/2006/relationships"><Relationship Id="rId1" Type="http://schemas.openxmlformats.org/officeDocument/2006/relationships/package" Target="../embeddings/Microsoft_Excel_Worksheet115.xlsx"/></Relationships>
</file>

<file path=ppt/charts/_rels/chart116.xml.rels><?xml version='1.0' encoding='UTF-8' standalone='yes'?>
<Relationships xmlns="http://schemas.openxmlformats.org/package/2006/relationships"><Relationship Id="rId1" Type="http://schemas.openxmlformats.org/officeDocument/2006/relationships/package" Target="../embeddings/Microsoft_Excel_Worksheet116.xlsx"/></Relationships>
</file>

<file path=ppt/charts/_rels/chart117.xml.rels><?xml version='1.0' encoding='UTF-8' standalone='yes'?>
<Relationships xmlns="http://schemas.openxmlformats.org/package/2006/relationships"><Relationship Id="rId1" Type="http://schemas.openxmlformats.org/officeDocument/2006/relationships/package" Target="../embeddings/Microsoft_Excel_Worksheet117.xlsx"/></Relationships>
</file>

<file path=ppt/charts/_rels/chart118.xml.rels><?xml version='1.0' encoding='UTF-8' standalone='yes'?>
<Relationships xmlns="http://schemas.openxmlformats.org/package/2006/relationships"><Relationship Id="rId1" Type="http://schemas.openxmlformats.org/officeDocument/2006/relationships/package" Target="../embeddings/Microsoft_Excel_Worksheet118.xlsx"/></Relationships>
</file>

<file path=ppt/charts/_rels/chart119.xml.rels><?xml version='1.0' encoding='UTF-8' standalone='yes'?>
<Relationships xmlns="http://schemas.openxmlformats.org/package/2006/relationships"><Relationship Id="rId1" Type="http://schemas.openxmlformats.org/officeDocument/2006/relationships/package" Target="../embeddings/Microsoft_Excel_Worksheet119.xlsx"/></Relationships>
</file>

<file path=ppt/charts/_rels/chart120.xml.rels><?xml version='1.0' encoding='UTF-8' standalone='yes'?>
<Relationships xmlns="http://schemas.openxmlformats.org/package/2006/relationships"><Relationship Id="rId1" Type="http://schemas.openxmlformats.org/officeDocument/2006/relationships/package" Target="../embeddings/Microsoft_Excel_Worksheet120.xlsx"/></Relationships>
</file>

<file path=ppt/charts/_rels/chart121.xml.rels><?xml version='1.0' encoding='UTF-8' standalone='yes'?>
<Relationships xmlns="http://schemas.openxmlformats.org/package/2006/relationships"><Relationship Id="rId1" Type="http://schemas.openxmlformats.org/officeDocument/2006/relationships/package" Target="../embeddings/Microsoft_Excel_Worksheet121.xlsx"/></Relationships>
</file>

<file path=ppt/charts/_rels/chart122.xml.rels><?xml version='1.0' encoding='UTF-8' standalone='yes'?>
<Relationships xmlns="http://schemas.openxmlformats.org/package/2006/relationships"><Relationship Id="rId1" Type="http://schemas.openxmlformats.org/officeDocument/2006/relationships/package" Target="../embeddings/Microsoft_Excel_Worksheet122.xlsx"/></Relationships>
</file>

<file path=ppt/charts/_rels/chart123.xml.rels><?xml version='1.0' encoding='UTF-8' standalone='yes'?>
<Relationships xmlns="http://schemas.openxmlformats.org/package/2006/relationships"><Relationship Id="rId1" Type="http://schemas.openxmlformats.org/officeDocument/2006/relationships/package" Target="../embeddings/Microsoft_Excel_Worksheet123.xlsx"/></Relationships>
</file>

<file path=ppt/charts/_rels/chart124.xml.rels><?xml version='1.0' encoding='UTF-8' standalone='yes'?>
<Relationships xmlns="http://schemas.openxmlformats.org/package/2006/relationships"><Relationship Id="rId1" Type="http://schemas.openxmlformats.org/officeDocument/2006/relationships/package" Target="../embeddings/Microsoft_Excel_Worksheet124.xlsx"/></Relationships>
</file>

<file path=ppt/charts/_rels/chart125.xml.rels><?xml version='1.0' encoding='UTF-8' standalone='yes'?>
<Relationships xmlns="http://schemas.openxmlformats.org/package/2006/relationships"><Relationship Id="rId1" Type="http://schemas.openxmlformats.org/officeDocument/2006/relationships/package" Target="../embeddings/Microsoft_Excel_Worksheet125.xlsx"/></Relationships>
</file>

<file path=ppt/charts/_rels/chart126.xml.rels><?xml version='1.0' encoding='UTF-8' standalone='yes'?>
<Relationships xmlns="http://schemas.openxmlformats.org/package/2006/relationships"><Relationship Id="rId1" Type="http://schemas.openxmlformats.org/officeDocument/2006/relationships/package" Target="../embeddings/Microsoft_Excel_Worksheet126.xlsx"/></Relationships>
</file>

<file path=ppt/charts/_rels/chart127.xml.rels><?xml version='1.0' encoding='UTF-8' standalone='yes'?>
<Relationships xmlns="http://schemas.openxmlformats.org/package/2006/relationships"><Relationship Id="rId1" Type="http://schemas.openxmlformats.org/officeDocument/2006/relationships/package" Target="../embeddings/Microsoft_Excel_Worksheet127.xlsx"/></Relationships>
</file>

<file path=ppt/charts/_rels/chart128.xml.rels><?xml version='1.0' encoding='UTF-8' standalone='yes'?>
<Relationships xmlns="http://schemas.openxmlformats.org/package/2006/relationships"><Relationship Id="rId1" Type="http://schemas.openxmlformats.org/officeDocument/2006/relationships/package" Target="../embeddings/Microsoft_Excel_Worksheet128.xlsx"/></Relationships>
</file>

<file path=ppt/charts/_rels/chart129.xml.rels><?xml version='1.0' encoding='UTF-8' standalone='yes'?>
<Relationships xmlns="http://schemas.openxmlformats.org/package/2006/relationships"><Relationship Id="rId1" Type="http://schemas.openxmlformats.org/officeDocument/2006/relationships/package" Target="../embeddings/Microsoft_Excel_Worksheet129.xlsx"/></Relationships>
</file>

<file path=ppt/charts/_rels/chart130.xml.rels><?xml version='1.0' encoding='UTF-8' standalone='yes'?>
<Relationships xmlns="http://schemas.openxmlformats.org/package/2006/relationships"><Relationship Id="rId1" Type="http://schemas.openxmlformats.org/officeDocument/2006/relationships/package" Target="../embeddings/Microsoft_Excel_Worksheet130.xlsx"/></Relationships>
</file>

<file path=ppt/charts/_rels/chart131.xml.rels><?xml version='1.0' encoding='UTF-8' standalone='yes'?>
<Relationships xmlns="http://schemas.openxmlformats.org/package/2006/relationships"><Relationship Id="rId1" Type="http://schemas.openxmlformats.org/officeDocument/2006/relationships/package" Target="../embeddings/Microsoft_Excel_Worksheet131.xlsx"/></Relationships>
</file>

<file path=ppt/charts/_rels/chart132.xml.rels><?xml version='1.0' encoding='UTF-8' standalone='yes'?>
<Relationships xmlns="http://schemas.openxmlformats.org/package/2006/relationships"><Relationship Id="rId1" Type="http://schemas.openxmlformats.org/officeDocument/2006/relationships/package" Target="../embeddings/Microsoft_Excel_Worksheet132.xlsx"/></Relationships>
</file>

<file path=ppt/charts/_rels/chart133.xml.rels><?xml version='1.0' encoding='UTF-8' standalone='yes'?>
<Relationships xmlns="http://schemas.openxmlformats.org/package/2006/relationships"><Relationship Id="rId1" Type="http://schemas.openxmlformats.org/officeDocument/2006/relationships/package" Target="../embeddings/Microsoft_Excel_Worksheet133.xlsx"/></Relationships>
</file>

<file path=ppt/charts/_rels/chart134.xml.rels><?xml version='1.0' encoding='UTF-8' standalone='yes'?>
<Relationships xmlns="http://schemas.openxmlformats.org/package/2006/relationships"><Relationship Id="rId1" Type="http://schemas.openxmlformats.org/officeDocument/2006/relationships/package" Target="../embeddings/Microsoft_Excel_Worksheet134.xlsx"/></Relationships>
</file>

<file path=ppt/charts/_rels/chart135.xml.rels><?xml version='1.0' encoding='UTF-8' standalone='yes'?>
<Relationships xmlns="http://schemas.openxmlformats.org/package/2006/relationships"><Relationship Id="rId1" Type="http://schemas.openxmlformats.org/officeDocument/2006/relationships/package" Target="../embeddings/Microsoft_Excel_Worksheet135.xlsx"/></Relationships>
</file>

<file path=ppt/charts/_rels/chart136.xml.rels><?xml version='1.0' encoding='UTF-8' standalone='yes'?>
<Relationships xmlns="http://schemas.openxmlformats.org/package/2006/relationships"><Relationship Id="rId1" Type="http://schemas.openxmlformats.org/officeDocument/2006/relationships/package" Target="../embeddings/Microsoft_Excel_Worksheet136.xlsx"/></Relationships>
</file>

<file path=ppt/charts/_rels/chart137.xml.rels><?xml version='1.0' encoding='UTF-8' standalone='yes'?>
<Relationships xmlns="http://schemas.openxmlformats.org/package/2006/relationships"><Relationship Id="rId1" Type="http://schemas.openxmlformats.org/officeDocument/2006/relationships/package" Target="../embeddings/Microsoft_Excel_Worksheet137.xlsx"/></Relationships>
</file>

<file path=ppt/charts/_rels/chart138.xml.rels><?xml version='1.0' encoding='UTF-8' standalone='yes'?>
<Relationships xmlns="http://schemas.openxmlformats.org/package/2006/relationships"><Relationship Id="rId1" Type="http://schemas.openxmlformats.org/officeDocument/2006/relationships/package" Target="../embeddings/Microsoft_Excel_Worksheet138.xlsx"/></Relationships>
</file>

<file path=ppt/charts/_rels/chart139.xml.rels><?xml version='1.0' encoding='UTF-8' standalone='yes'?>
<Relationships xmlns="http://schemas.openxmlformats.org/package/2006/relationships"><Relationship Id="rId1" Type="http://schemas.openxmlformats.org/officeDocument/2006/relationships/package" Target="../embeddings/Microsoft_Excel_Worksheet139.xlsx"/></Relationships>
</file>

<file path=ppt/charts/_rels/chart140.xml.rels><?xml version='1.0' encoding='UTF-8' standalone='yes'?>
<Relationships xmlns="http://schemas.openxmlformats.org/package/2006/relationships"><Relationship Id="rId1" Type="http://schemas.openxmlformats.org/officeDocument/2006/relationships/package" Target="../embeddings/Microsoft_Excel_Worksheet140.xlsx"/></Relationships>
</file>

<file path=ppt/charts/_rels/chart141.xml.rels><?xml version='1.0' encoding='UTF-8' standalone='yes'?>
<Relationships xmlns="http://schemas.openxmlformats.org/package/2006/relationships"><Relationship Id="rId1" Type="http://schemas.openxmlformats.org/officeDocument/2006/relationships/package" Target="../embeddings/Microsoft_Excel_Worksheet141.xlsx"/></Relationships>
</file>

<file path=ppt/charts/_rels/chart142.xml.rels><?xml version='1.0' encoding='UTF-8' standalone='yes'?>
<Relationships xmlns="http://schemas.openxmlformats.org/package/2006/relationships"><Relationship Id="rId1" Type="http://schemas.openxmlformats.org/officeDocument/2006/relationships/package" Target="../embeddings/Microsoft_Excel_Worksheet142.xlsx"/></Relationships>
</file>

<file path=ppt/charts/_rels/chart143.xml.rels><?xml version='1.0' encoding='UTF-8' standalone='yes'?>
<Relationships xmlns="http://schemas.openxmlformats.org/package/2006/relationships"><Relationship Id="rId1" Type="http://schemas.openxmlformats.org/officeDocument/2006/relationships/package" Target="../embeddings/Microsoft_Excel_Worksheet143.xlsx"/></Relationships>
</file>

<file path=ppt/charts/_rels/chart144.xml.rels><?xml version='1.0' encoding='UTF-8' standalone='yes'?>
<Relationships xmlns="http://schemas.openxmlformats.org/package/2006/relationships"><Relationship Id="rId1" Type="http://schemas.openxmlformats.org/officeDocument/2006/relationships/package" Target="../embeddings/Microsoft_Excel_Worksheet144.xlsx"/></Relationships>
</file>

<file path=ppt/charts/_rels/chart145.xml.rels><?xml version='1.0' encoding='UTF-8' standalone='yes'?>
<Relationships xmlns="http://schemas.openxmlformats.org/package/2006/relationships"><Relationship Id="rId1" Type="http://schemas.openxmlformats.org/officeDocument/2006/relationships/package" Target="../embeddings/Microsoft_Excel_Worksheet145.xlsx"/></Relationships>
</file>

<file path=ppt/charts/_rels/chart146.xml.rels><?xml version='1.0' encoding='UTF-8' standalone='yes'?>
<Relationships xmlns="http://schemas.openxmlformats.org/package/2006/relationships"><Relationship Id="rId1" Type="http://schemas.openxmlformats.org/officeDocument/2006/relationships/package" Target="../embeddings/Microsoft_Excel_Worksheet146.xlsx"/></Relationships>
</file>

<file path=ppt/charts/_rels/chart147.xml.rels><?xml version='1.0' encoding='UTF-8' standalone='yes'?>
<Relationships xmlns="http://schemas.openxmlformats.org/package/2006/relationships"><Relationship Id="rId1" Type="http://schemas.openxmlformats.org/officeDocument/2006/relationships/package" Target="../embeddings/Microsoft_Excel_Worksheet147.xlsx"/></Relationships>
</file>

<file path=ppt/charts/_rels/chart148.xml.rels><?xml version='1.0' encoding='UTF-8' standalone='yes'?>
<Relationships xmlns="http://schemas.openxmlformats.org/package/2006/relationships"><Relationship Id="rId1" Type="http://schemas.openxmlformats.org/officeDocument/2006/relationships/package" Target="../embeddings/Microsoft_Excel_Worksheet148.xlsx"/></Relationships>
</file>

<file path=ppt/charts/_rels/chart149.xml.rels><?xml version='1.0' encoding='UTF-8' standalone='yes'?>
<Relationships xmlns="http://schemas.openxmlformats.org/package/2006/relationships"><Relationship Id="rId1" Type="http://schemas.openxmlformats.org/officeDocument/2006/relationships/package" Target="../embeddings/Microsoft_Excel_Worksheet149.xlsx"/></Relationships>
</file>

<file path=ppt/charts/_rels/chart150.xml.rels><?xml version='1.0' encoding='UTF-8' standalone='yes'?>
<Relationships xmlns="http://schemas.openxmlformats.org/package/2006/relationships"><Relationship Id="rId1" Type="http://schemas.openxmlformats.org/officeDocument/2006/relationships/package" Target="../embeddings/Microsoft_Excel_Worksheet150.xlsx"/></Relationships>
</file>

<file path=ppt/charts/_rels/chart151.xml.rels><?xml version='1.0' encoding='UTF-8' standalone='yes'?>
<Relationships xmlns="http://schemas.openxmlformats.org/package/2006/relationships"><Relationship Id="rId1" Type="http://schemas.openxmlformats.org/officeDocument/2006/relationships/package" Target="../embeddings/Microsoft_Excel_Worksheet151.xlsx"/></Relationships>
</file>

<file path=ppt/charts/_rels/chart152.xml.rels><?xml version='1.0' encoding='UTF-8' standalone='yes'?>
<Relationships xmlns="http://schemas.openxmlformats.org/package/2006/relationships"><Relationship Id="rId1" Type="http://schemas.openxmlformats.org/officeDocument/2006/relationships/package" Target="../embeddings/Microsoft_Excel_Worksheet152.xlsx"/></Relationships>
</file>

<file path=ppt/charts/_rels/chart153.xml.rels><?xml version='1.0' encoding='UTF-8' standalone='yes'?>
<Relationships xmlns="http://schemas.openxmlformats.org/package/2006/relationships"><Relationship Id="rId1" Type="http://schemas.openxmlformats.org/officeDocument/2006/relationships/package" Target="../embeddings/Microsoft_Excel_Worksheet153.xlsx"/></Relationships>
</file>

<file path=ppt/charts/_rels/chart154.xml.rels><?xml version='1.0' encoding='UTF-8' standalone='yes'?>
<Relationships xmlns="http://schemas.openxmlformats.org/package/2006/relationships"><Relationship Id="rId1" Type="http://schemas.openxmlformats.org/officeDocument/2006/relationships/package" Target="../embeddings/Microsoft_Excel_Worksheet154.xlsx"/></Relationships>
</file>

<file path=ppt/charts/_rels/chart155.xml.rels><?xml version='1.0' encoding='UTF-8' standalone='yes'?>
<Relationships xmlns="http://schemas.openxmlformats.org/package/2006/relationships"><Relationship Id="rId1" Type="http://schemas.openxmlformats.org/officeDocument/2006/relationships/package" Target="../embeddings/Microsoft_Excel_Worksheet155.xlsx"/></Relationships>
</file>

<file path=ppt/charts/_rels/chart156.xml.rels><?xml version='1.0' encoding='UTF-8' standalone='yes'?>
<Relationships xmlns="http://schemas.openxmlformats.org/package/2006/relationships"><Relationship Id="rId1" Type="http://schemas.openxmlformats.org/officeDocument/2006/relationships/package" Target="../embeddings/Microsoft_Excel_Worksheet156.xlsx"/></Relationships>
</file>

<file path=ppt/charts/_rels/chart157.xml.rels><?xml version='1.0' encoding='UTF-8' standalone='yes'?>
<Relationships xmlns="http://schemas.openxmlformats.org/package/2006/relationships"><Relationship Id="rId1" Type="http://schemas.openxmlformats.org/officeDocument/2006/relationships/package" Target="../embeddings/Microsoft_Excel_Worksheet157.xlsx"/></Relationships>
</file>

<file path=ppt/charts/_rels/chart158.xml.rels><?xml version='1.0' encoding='UTF-8' standalone='yes'?>
<Relationships xmlns="http://schemas.openxmlformats.org/package/2006/relationships"><Relationship Id="rId1" Type="http://schemas.openxmlformats.org/officeDocument/2006/relationships/package" Target="../embeddings/Microsoft_Excel_Worksheet158.xlsx"/></Relationships>
</file>

<file path=ppt/charts/_rels/chart159.xml.rels><?xml version='1.0' encoding='UTF-8' standalone='yes'?>
<Relationships xmlns="http://schemas.openxmlformats.org/package/2006/relationships"><Relationship Id="rId1" Type="http://schemas.openxmlformats.org/officeDocument/2006/relationships/package" Target="../embeddings/Microsoft_Excel_Worksheet159.xlsx"/></Relationships>
</file>

<file path=ppt/charts/_rels/chart160.xml.rels><?xml version='1.0' encoding='UTF-8' standalone='yes'?>
<Relationships xmlns="http://schemas.openxmlformats.org/package/2006/relationships"><Relationship Id="rId1" Type="http://schemas.openxmlformats.org/officeDocument/2006/relationships/package" Target="../embeddings/Microsoft_Excel_Worksheet160.xlsx"/></Relationships>
</file>

<file path=ppt/charts/_rels/chart161.xml.rels><?xml version='1.0' encoding='UTF-8' standalone='yes'?>
<Relationships xmlns="http://schemas.openxmlformats.org/package/2006/relationships"><Relationship Id="rId1" Type="http://schemas.openxmlformats.org/officeDocument/2006/relationships/package" Target="../embeddings/Microsoft_Excel_Worksheet161.xlsx"/></Relationships>
</file>

<file path=ppt/charts/_rels/chart162.xml.rels><?xml version='1.0' encoding='UTF-8' standalone='yes'?>
<Relationships xmlns="http://schemas.openxmlformats.org/package/2006/relationships"><Relationship Id="rId1" Type="http://schemas.openxmlformats.org/officeDocument/2006/relationships/package" Target="../embeddings/Microsoft_Excel_Worksheet162.xlsx"/></Relationships>
</file>

<file path=ppt/charts/_rels/chart163.xml.rels><?xml version='1.0' encoding='UTF-8' standalone='yes'?>
<Relationships xmlns="http://schemas.openxmlformats.org/package/2006/relationships"><Relationship Id="rId1" Type="http://schemas.openxmlformats.org/officeDocument/2006/relationships/package" Target="../embeddings/Microsoft_Excel_Worksheet163.xlsx"/></Relationships>
</file>

<file path=ppt/charts/_rels/chart164.xml.rels><?xml version='1.0' encoding='UTF-8' standalone='yes'?>
<Relationships xmlns="http://schemas.openxmlformats.org/package/2006/relationships"><Relationship Id="rId1" Type="http://schemas.openxmlformats.org/officeDocument/2006/relationships/package" Target="../embeddings/Microsoft_Excel_Worksheet164.xlsx"/></Relationships>
</file>

<file path=ppt/charts/_rels/chart165.xml.rels><?xml version='1.0' encoding='UTF-8' standalone='yes'?>
<Relationships xmlns="http://schemas.openxmlformats.org/package/2006/relationships"><Relationship Id="rId1" Type="http://schemas.openxmlformats.org/officeDocument/2006/relationships/package" Target="../embeddings/Microsoft_Excel_Worksheet165.xlsx"/></Relationships>
</file>

<file path=ppt/charts/_rels/chart166.xml.rels><?xml version='1.0' encoding='UTF-8' standalone='yes'?>
<Relationships xmlns="http://schemas.openxmlformats.org/package/2006/relationships"><Relationship Id="rId1" Type="http://schemas.openxmlformats.org/officeDocument/2006/relationships/package" Target="../embeddings/Microsoft_Excel_Worksheet166.xlsx"/></Relationships>
</file>

<file path=ppt/charts/_rels/chart167.xml.rels><?xml version='1.0' encoding='UTF-8' standalone='yes'?>
<Relationships xmlns="http://schemas.openxmlformats.org/package/2006/relationships"><Relationship Id="rId1" Type="http://schemas.openxmlformats.org/officeDocument/2006/relationships/package" Target="../embeddings/Microsoft_Excel_Worksheet167.xlsx"/></Relationships>
</file>

<file path=ppt/charts/_rels/chart168.xml.rels><?xml version='1.0' encoding='UTF-8' standalone='yes'?>
<Relationships xmlns="http://schemas.openxmlformats.org/package/2006/relationships"><Relationship Id="rId1" Type="http://schemas.openxmlformats.org/officeDocument/2006/relationships/package" Target="../embeddings/Microsoft_Excel_Worksheet168.xlsx"/></Relationships>
</file>

<file path=ppt/charts/_rels/chart169.xml.rels><?xml version='1.0' encoding='UTF-8' standalone='yes'?>
<Relationships xmlns="http://schemas.openxmlformats.org/package/2006/relationships"><Relationship Id="rId1" Type="http://schemas.openxmlformats.org/officeDocument/2006/relationships/package" Target="../embeddings/Microsoft_Excel_Worksheet169.xlsx"/></Relationships>
</file>

<file path=ppt/charts/_rels/chart170.xml.rels><?xml version='1.0' encoding='UTF-8' standalone='yes'?>
<Relationships xmlns="http://schemas.openxmlformats.org/package/2006/relationships"><Relationship Id="rId1" Type="http://schemas.openxmlformats.org/officeDocument/2006/relationships/package" Target="../embeddings/Microsoft_Excel_Worksheet170.xlsx"/></Relationships>
</file>

<file path=ppt/charts/_rels/chart171.xml.rels><?xml version='1.0' encoding='UTF-8' standalone='yes'?>
<Relationships xmlns="http://schemas.openxmlformats.org/package/2006/relationships"><Relationship Id="rId1" Type="http://schemas.openxmlformats.org/officeDocument/2006/relationships/package" Target="../embeddings/Microsoft_Excel_Worksheet171.xlsx"/></Relationships>
</file>

<file path=ppt/charts/_rels/chart172.xml.rels><?xml version='1.0' encoding='UTF-8' standalone='yes'?>
<Relationships xmlns="http://schemas.openxmlformats.org/package/2006/relationships"><Relationship Id="rId1" Type="http://schemas.openxmlformats.org/officeDocument/2006/relationships/package" Target="../embeddings/Microsoft_Excel_Worksheet172.xlsx"/></Relationships>
</file>

<file path=ppt/charts/_rels/chart173.xml.rels><?xml version='1.0' encoding='UTF-8' standalone='yes'?>
<Relationships xmlns="http://schemas.openxmlformats.org/package/2006/relationships"><Relationship Id="rId1" Type="http://schemas.openxmlformats.org/officeDocument/2006/relationships/package" Target="../embeddings/Microsoft_Excel_Worksheet173.xlsx"/></Relationships>
</file>

<file path=ppt/charts/_rels/chart174.xml.rels><?xml version='1.0' encoding='UTF-8' standalone='yes'?>
<Relationships xmlns="http://schemas.openxmlformats.org/package/2006/relationships"><Relationship Id="rId1" Type="http://schemas.openxmlformats.org/officeDocument/2006/relationships/package" Target="../embeddings/Microsoft_Excel_Worksheet174.xlsx"/></Relationships>
</file>

<file path=ppt/charts/_rels/chart175.xml.rels><?xml version='1.0' encoding='UTF-8' standalone='yes'?>
<Relationships xmlns="http://schemas.openxmlformats.org/package/2006/relationships"><Relationship Id="rId1" Type="http://schemas.openxmlformats.org/officeDocument/2006/relationships/package" Target="../embeddings/Microsoft_Excel_Worksheet175.xlsx"/></Relationships>
</file>

<file path=ppt/charts/_rels/chart176.xml.rels><?xml version='1.0' encoding='UTF-8' standalone='yes'?>
<Relationships xmlns="http://schemas.openxmlformats.org/package/2006/relationships"><Relationship Id="rId1" Type="http://schemas.openxmlformats.org/officeDocument/2006/relationships/package" Target="../embeddings/Microsoft_Excel_Worksheet176.xlsx"/></Relationships>
</file>

<file path=ppt/charts/_rels/chart177.xml.rels><?xml version='1.0' encoding='UTF-8' standalone='yes'?>
<Relationships xmlns="http://schemas.openxmlformats.org/package/2006/relationships"><Relationship Id="rId1" Type="http://schemas.openxmlformats.org/officeDocument/2006/relationships/package" Target="../embeddings/Microsoft_Excel_Worksheet177.xlsx"/></Relationships>
</file>

<file path=ppt/charts/_rels/chart178.xml.rels><?xml version='1.0' encoding='UTF-8' standalone='yes'?>
<Relationships xmlns="http://schemas.openxmlformats.org/package/2006/relationships"><Relationship Id="rId1" Type="http://schemas.openxmlformats.org/officeDocument/2006/relationships/package" Target="../embeddings/Microsoft_Excel_Worksheet178.xlsx"/></Relationships>
</file>

<file path=ppt/charts/_rels/chart179.xml.rels><?xml version='1.0' encoding='UTF-8' standalone='yes'?>
<Relationships xmlns="http://schemas.openxmlformats.org/package/2006/relationships"><Relationship Id="rId1" Type="http://schemas.openxmlformats.org/officeDocument/2006/relationships/package" Target="../embeddings/Microsoft_Excel_Worksheet179.xlsx"/></Relationships>
</file>

<file path=ppt/charts/_rels/chart180.xml.rels><?xml version='1.0' encoding='UTF-8' standalone='yes'?>
<Relationships xmlns="http://schemas.openxmlformats.org/package/2006/relationships"><Relationship Id="rId1" Type="http://schemas.openxmlformats.org/officeDocument/2006/relationships/package" Target="../embeddings/Microsoft_Excel_Worksheet180.xlsx"/></Relationships>
</file>

<file path=ppt/charts/_rels/chart181.xml.rels><?xml version='1.0' encoding='UTF-8' standalone='yes'?>
<Relationships xmlns="http://schemas.openxmlformats.org/package/2006/relationships"><Relationship Id="rId1" Type="http://schemas.openxmlformats.org/officeDocument/2006/relationships/package" Target="../embeddings/Microsoft_Excel_Worksheet181.xlsx"/></Relationships>
</file>

<file path=ppt/charts/_rels/chart182.xml.rels><?xml version='1.0' encoding='UTF-8' standalone='yes'?>
<Relationships xmlns="http://schemas.openxmlformats.org/package/2006/relationships"><Relationship Id="rId1" Type="http://schemas.openxmlformats.org/officeDocument/2006/relationships/package" Target="../embeddings/Microsoft_Excel_Worksheet182.xlsx"/></Relationships>
</file>

<file path=ppt/charts/_rels/chart183.xml.rels><?xml version='1.0' encoding='UTF-8' standalone='yes'?>
<Relationships xmlns="http://schemas.openxmlformats.org/package/2006/relationships"><Relationship Id="rId1" Type="http://schemas.openxmlformats.org/officeDocument/2006/relationships/package" Target="../embeddings/Microsoft_Excel_Worksheet183.xlsx"/></Relationships>
</file>

<file path=ppt/charts/_rels/chart184.xml.rels><?xml version='1.0' encoding='UTF-8' standalone='yes'?>
<Relationships xmlns="http://schemas.openxmlformats.org/package/2006/relationships"><Relationship Id="rId1" Type="http://schemas.openxmlformats.org/officeDocument/2006/relationships/package" Target="../embeddings/Microsoft_Excel_Worksheet184.xlsx"/></Relationships>
</file>

<file path=ppt/charts/_rels/chart185.xml.rels><?xml version='1.0' encoding='UTF-8' standalone='yes'?>
<Relationships xmlns="http://schemas.openxmlformats.org/package/2006/relationships"><Relationship Id="rId1" Type="http://schemas.openxmlformats.org/officeDocument/2006/relationships/package" Target="../embeddings/Microsoft_Excel_Worksheet185.xlsx"/></Relationships>
</file>

<file path=ppt/charts/_rels/chart186.xml.rels><?xml version='1.0' encoding='UTF-8' standalone='yes'?>
<Relationships xmlns="http://schemas.openxmlformats.org/package/2006/relationships"><Relationship Id="rId1" Type="http://schemas.openxmlformats.org/officeDocument/2006/relationships/package" Target="../embeddings/Microsoft_Excel_Worksheet186.xlsx"/></Relationships>
</file>

<file path=ppt/charts/_rels/chart187.xml.rels><?xml version='1.0' encoding='UTF-8' standalone='yes'?>
<Relationships xmlns="http://schemas.openxmlformats.org/package/2006/relationships"><Relationship Id="rId1" Type="http://schemas.openxmlformats.org/officeDocument/2006/relationships/package" Target="../embeddings/Microsoft_Excel_Worksheet187.xlsx"/></Relationships>
</file>

<file path=ppt/charts/_rels/chart188.xml.rels><?xml version='1.0' encoding='UTF-8' standalone='yes'?>
<Relationships xmlns="http://schemas.openxmlformats.org/package/2006/relationships"><Relationship Id="rId1" Type="http://schemas.openxmlformats.org/officeDocument/2006/relationships/package" Target="../embeddings/Microsoft_Excel_Worksheet188.xlsx"/></Relationships>
</file>

<file path=ppt/charts/_rels/chart189.xml.rels><?xml version='1.0' encoding='UTF-8' standalone='yes'?>
<Relationships xmlns="http://schemas.openxmlformats.org/package/2006/relationships"><Relationship Id="rId1" Type="http://schemas.openxmlformats.org/officeDocument/2006/relationships/package" Target="../embeddings/Microsoft_Excel_Worksheet189.xlsx"/></Relationships>
</file>

<file path=ppt/charts/_rels/chart190.xml.rels><?xml version='1.0' encoding='UTF-8' standalone='yes'?>
<Relationships xmlns="http://schemas.openxmlformats.org/package/2006/relationships"><Relationship Id="rId1" Type="http://schemas.openxmlformats.org/officeDocument/2006/relationships/package" Target="../embeddings/Microsoft_Excel_Worksheet190.xlsx"/></Relationships>
</file>

<file path=ppt/charts/_rels/chart191.xml.rels><?xml version='1.0' encoding='UTF-8' standalone='yes'?>
<Relationships xmlns="http://schemas.openxmlformats.org/package/2006/relationships"><Relationship Id="rId1" Type="http://schemas.openxmlformats.org/officeDocument/2006/relationships/package" Target="../embeddings/Microsoft_Excel_Worksheet191.xlsx"/></Relationships>
</file>

<file path=ppt/charts/_rels/chart192.xml.rels><?xml version='1.0' encoding='UTF-8' standalone='yes'?>
<Relationships xmlns="http://schemas.openxmlformats.org/package/2006/relationships"><Relationship Id="rId1" Type="http://schemas.openxmlformats.org/officeDocument/2006/relationships/package" Target="../embeddings/Microsoft_Excel_Worksheet192.xlsx"/></Relationships>
</file>

<file path=ppt/charts/_rels/chart193.xml.rels><?xml version='1.0' encoding='UTF-8' standalone='yes'?>
<Relationships xmlns="http://schemas.openxmlformats.org/package/2006/relationships"><Relationship Id="rId1" Type="http://schemas.openxmlformats.org/officeDocument/2006/relationships/package" Target="../embeddings/Microsoft_Excel_Worksheet193.xlsx"/></Relationships>
</file>

<file path=ppt/charts/_rels/chart194.xml.rels><?xml version='1.0' encoding='UTF-8' standalone='yes'?>
<Relationships xmlns="http://schemas.openxmlformats.org/package/2006/relationships"><Relationship Id="rId1" Type="http://schemas.openxmlformats.org/officeDocument/2006/relationships/package" Target="../embeddings/Microsoft_Excel_Worksheet194.xlsx"/></Relationships>
</file>

<file path=ppt/charts/_rels/chart195.xml.rels><?xml version='1.0' encoding='UTF-8' standalone='yes'?>
<Relationships xmlns="http://schemas.openxmlformats.org/package/2006/relationships"><Relationship Id="rId1" Type="http://schemas.openxmlformats.org/officeDocument/2006/relationships/package" Target="../embeddings/Microsoft_Excel_Worksheet195.xlsx"/></Relationships>
</file>

<file path=ppt/charts/_rels/chart196.xml.rels><?xml version='1.0' encoding='UTF-8' standalone='yes'?>
<Relationships xmlns="http://schemas.openxmlformats.org/package/2006/relationships"><Relationship Id="rId1" Type="http://schemas.openxmlformats.org/officeDocument/2006/relationships/package" Target="../embeddings/Microsoft_Excel_Worksheet196.xlsx"/></Relationships>
</file>

<file path=ppt/charts/_rels/chart197.xml.rels><?xml version='1.0' encoding='UTF-8' standalone='yes'?>
<Relationships xmlns="http://schemas.openxmlformats.org/package/2006/relationships"><Relationship Id="rId1" Type="http://schemas.openxmlformats.org/officeDocument/2006/relationships/package" Target="../embeddings/Microsoft_Excel_Worksheet197.xlsx"/></Relationships>
</file>

<file path=ppt/charts/_rels/chart198.xml.rels><?xml version='1.0' encoding='UTF-8' standalone='yes'?>
<Relationships xmlns="http://schemas.openxmlformats.org/package/2006/relationships"><Relationship Id="rId1" Type="http://schemas.openxmlformats.org/officeDocument/2006/relationships/package" Target="../embeddings/Microsoft_Excel_Worksheet198.xlsx"/></Relationships>
</file>

<file path=ppt/charts/_rels/chart199.xml.rels><?xml version='1.0' encoding='UTF-8' standalone='yes'?>
<Relationships xmlns="http://schemas.openxmlformats.org/package/2006/relationships"><Relationship Id="rId1" Type="http://schemas.openxmlformats.org/officeDocument/2006/relationships/package" Target="../embeddings/Microsoft_Excel_Worksheet199.xlsx"/></Relationships>
</file>

<file path=ppt/charts/_rels/chart200.xml.rels><?xml version='1.0' encoding='UTF-8' standalone='yes'?>
<Relationships xmlns="http://schemas.openxmlformats.org/package/2006/relationships"><Relationship Id="rId1" Type="http://schemas.openxmlformats.org/officeDocument/2006/relationships/package" Target="../embeddings/Microsoft_Excel_Worksheet200.xlsx"/></Relationships>
</file>

<file path=ppt/charts/_rels/chart201.xml.rels><?xml version='1.0' encoding='UTF-8' standalone='yes'?>
<Relationships xmlns="http://schemas.openxmlformats.org/package/2006/relationships"><Relationship Id="rId1" Type="http://schemas.openxmlformats.org/officeDocument/2006/relationships/package" Target="../embeddings/Microsoft_Excel_Worksheet201.xlsx"/></Relationships>
</file>

<file path=ppt/charts/_rels/chart202.xml.rels><?xml version='1.0' encoding='UTF-8' standalone='yes'?>
<Relationships xmlns="http://schemas.openxmlformats.org/package/2006/relationships"><Relationship Id="rId1" Type="http://schemas.openxmlformats.org/officeDocument/2006/relationships/package" Target="../embeddings/Microsoft_Excel_Worksheet202.xlsx"/></Relationships>
</file>

<file path=ppt/charts/_rels/chart203.xml.rels><?xml version='1.0' encoding='UTF-8' standalone='yes'?>
<Relationships xmlns="http://schemas.openxmlformats.org/package/2006/relationships"><Relationship Id="rId1" Type="http://schemas.openxmlformats.org/officeDocument/2006/relationships/package" Target="../embeddings/Microsoft_Excel_Worksheet203.xlsx"/></Relationships>
</file>

<file path=ppt/charts/_rels/chart204.xml.rels><?xml version='1.0' encoding='UTF-8' standalone='yes'?>
<Relationships xmlns="http://schemas.openxmlformats.org/package/2006/relationships"><Relationship Id="rId1" Type="http://schemas.openxmlformats.org/officeDocument/2006/relationships/package" Target="../embeddings/Microsoft_Excel_Worksheet204.xlsx"/></Relationships>
</file>

<file path=ppt/charts/_rels/chart205.xml.rels><?xml version='1.0' encoding='UTF-8' standalone='yes'?>
<Relationships xmlns="http://schemas.openxmlformats.org/package/2006/relationships"><Relationship Id="rId1" Type="http://schemas.openxmlformats.org/officeDocument/2006/relationships/package" Target="../embeddings/Microsoft_Excel_Worksheet205.xlsx"/></Relationships>
</file>

<file path=ppt/charts/_rels/chart206.xml.rels><?xml version='1.0' encoding='UTF-8' standalone='yes'?>
<Relationships xmlns="http://schemas.openxmlformats.org/package/2006/relationships"><Relationship Id="rId1" Type="http://schemas.openxmlformats.org/officeDocument/2006/relationships/package" Target="../embeddings/Microsoft_Excel_Worksheet206.xlsx"/></Relationships>
</file>

<file path=ppt/charts/_rels/chart207.xml.rels><?xml version='1.0' encoding='UTF-8' standalone='yes'?>
<Relationships xmlns="http://schemas.openxmlformats.org/package/2006/relationships"><Relationship Id="rId1" Type="http://schemas.openxmlformats.org/officeDocument/2006/relationships/package" Target="../embeddings/Microsoft_Excel_Worksheet207.xlsx"/></Relationships>
</file>

<file path=ppt/charts/_rels/chart208.xml.rels><?xml version='1.0' encoding='UTF-8' standalone='yes'?>
<Relationships xmlns="http://schemas.openxmlformats.org/package/2006/relationships"><Relationship Id="rId1" Type="http://schemas.openxmlformats.org/officeDocument/2006/relationships/package" Target="../embeddings/Microsoft_Excel_Worksheet208.xlsx"/></Relationships>
</file>

<file path=ppt/charts/_rels/chart209.xml.rels><?xml version='1.0' encoding='UTF-8' standalone='yes'?>
<Relationships xmlns="http://schemas.openxmlformats.org/package/2006/relationships"><Relationship Id="rId1" Type="http://schemas.openxmlformats.org/officeDocument/2006/relationships/package" Target="../embeddings/Microsoft_Excel_Worksheet209.xlsx"/></Relationships>
</file>

<file path=ppt/charts/_rels/chart210.xml.rels><?xml version='1.0' encoding='UTF-8' standalone='yes'?>
<Relationships xmlns="http://schemas.openxmlformats.org/package/2006/relationships"><Relationship Id="rId1" Type="http://schemas.openxmlformats.org/officeDocument/2006/relationships/package" Target="../embeddings/Microsoft_Excel_Worksheet210.xlsx"/></Relationships>
</file>

<file path=ppt/charts/_rels/chart211.xml.rels><?xml version='1.0' encoding='UTF-8' standalone='yes'?>
<Relationships xmlns="http://schemas.openxmlformats.org/package/2006/relationships"><Relationship Id="rId1" Type="http://schemas.openxmlformats.org/officeDocument/2006/relationships/package" Target="../embeddings/Microsoft_Excel_Worksheet211.xlsx"/></Relationships>
</file>

<file path=ppt/charts/_rels/chart212.xml.rels><?xml version='1.0' encoding='UTF-8' standalone='yes'?>
<Relationships xmlns="http://schemas.openxmlformats.org/package/2006/relationships"><Relationship Id="rId1" Type="http://schemas.openxmlformats.org/officeDocument/2006/relationships/package" Target="../embeddings/Microsoft_Excel_Worksheet212.xlsx"/></Relationships>
</file>

<file path=ppt/charts/_rels/chart213.xml.rels><?xml version='1.0' encoding='UTF-8' standalone='yes'?>
<Relationships xmlns="http://schemas.openxmlformats.org/package/2006/relationships"><Relationship Id="rId1" Type="http://schemas.openxmlformats.org/officeDocument/2006/relationships/package" Target="../embeddings/Microsoft_Excel_Worksheet213.xlsx"/></Relationships>
</file>

<file path=ppt/charts/_rels/chart214.xml.rels><?xml version='1.0' encoding='UTF-8' standalone='yes'?>
<Relationships xmlns="http://schemas.openxmlformats.org/package/2006/relationships"><Relationship Id="rId1" Type="http://schemas.openxmlformats.org/officeDocument/2006/relationships/package" Target="../embeddings/Microsoft_Excel_Worksheet214.xlsx"/></Relationships>
</file>

<file path=ppt/charts/_rels/chart215.xml.rels><?xml version='1.0' encoding='UTF-8' standalone='yes'?>
<Relationships xmlns="http://schemas.openxmlformats.org/package/2006/relationships"><Relationship Id="rId1" Type="http://schemas.openxmlformats.org/officeDocument/2006/relationships/package" Target="../embeddings/Microsoft_Excel_Worksheet215.xlsx"/></Relationships>
</file>

<file path=ppt/charts/_rels/chart216.xml.rels><?xml version='1.0' encoding='UTF-8' standalone='yes'?>
<Relationships xmlns="http://schemas.openxmlformats.org/package/2006/relationships"><Relationship Id="rId1" Type="http://schemas.openxmlformats.org/officeDocument/2006/relationships/package" Target="../embeddings/Microsoft_Excel_Worksheet216.xlsx"/></Relationships>
</file>

<file path=ppt/charts/_rels/chart217.xml.rels><?xml version='1.0' encoding='UTF-8' standalone='yes'?>
<Relationships xmlns="http://schemas.openxmlformats.org/package/2006/relationships"><Relationship Id="rId1" Type="http://schemas.openxmlformats.org/officeDocument/2006/relationships/package" Target="../embeddings/Microsoft_Excel_Worksheet217.xlsx"/></Relationships>
</file>

<file path=ppt/charts/_rels/chart218.xml.rels><?xml version='1.0' encoding='UTF-8' standalone='yes'?>
<Relationships xmlns="http://schemas.openxmlformats.org/package/2006/relationships"><Relationship Id="rId1" Type="http://schemas.openxmlformats.org/officeDocument/2006/relationships/package" Target="../embeddings/Microsoft_Excel_Worksheet218.xlsx"/></Relationships>
</file>

<file path=ppt/charts/_rels/chart219.xml.rels><?xml version='1.0' encoding='UTF-8' standalone='yes'?>
<Relationships xmlns="http://schemas.openxmlformats.org/package/2006/relationships"><Relationship Id="rId1" Type="http://schemas.openxmlformats.org/officeDocument/2006/relationships/package" Target="../embeddings/Microsoft_Excel_Worksheet219.xlsx"/></Relationships>
</file>

<file path=ppt/charts/_rels/chart220.xml.rels><?xml version='1.0' encoding='UTF-8' standalone='yes'?>
<Relationships xmlns="http://schemas.openxmlformats.org/package/2006/relationships"><Relationship Id="rId1" Type="http://schemas.openxmlformats.org/officeDocument/2006/relationships/package" Target="../embeddings/Microsoft_Excel_Worksheet220.xlsx"/></Relationships>
</file>

<file path=ppt/charts/_rels/chart221.xml.rels><?xml version='1.0' encoding='UTF-8' standalone='yes'?>
<Relationships xmlns="http://schemas.openxmlformats.org/package/2006/relationships"><Relationship Id="rId1" Type="http://schemas.openxmlformats.org/officeDocument/2006/relationships/package" Target="../embeddings/Microsoft_Excel_Worksheet221.xlsx"/></Relationships>
</file>

<file path=ppt/charts/_rels/chart222.xml.rels><?xml version='1.0' encoding='UTF-8' standalone='yes'?>
<Relationships xmlns="http://schemas.openxmlformats.org/package/2006/relationships"><Relationship Id="rId1" Type="http://schemas.openxmlformats.org/officeDocument/2006/relationships/package" Target="../embeddings/Microsoft_Excel_Worksheet222.xlsx"/></Relationships>
</file>

<file path=ppt/charts/_rels/chart223.xml.rels><?xml version='1.0' encoding='UTF-8' standalone='yes'?>
<Relationships xmlns="http://schemas.openxmlformats.org/package/2006/relationships"><Relationship Id="rId1" Type="http://schemas.openxmlformats.org/officeDocument/2006/relationships/package" Target="../embeddings/Microsoft_Excel_Worksheet223.xlsx"/></Relationships>
</file>

<file path=ppt/charts/_rels/chart224.xml.rels><?xml version='1.0' encoding='UTF-8' standalone='yes'?>
<Relationships xmlns="http://schemas.openxmlformats.org/package/2006/relationships"><Relationship Id="rId1" Type="http://schemas.openxmlformats.org/officeDocument/2006/relationships/package" Target="../embeddings/Microsoft_Excel_Worksheet224.xlsx"/></Relationships>
</file>

<file path=ppt/charts/_rels/chart225.xml.rels><?xml version='1.0' encoding='UTF-8' standalone='yes'?>
<Relationships xmlns="http://schemas.openxmlformats.org/package/2006/relationships"><Relationship Id="rId1" Type="http://schemas.openxmlformats.org/officeDocument/2006/relationships/package" Target="../embeddings/Microsoft_Excel_Worksheet225.xlsx"/></Relationships>
</file>

<file path=ppt/charts/_rels/chart226.xml.rels><?xml version='1.0' encoding='UTF-8' standalone='yes'?>
<Relationships xmlns="http://schemas.openxmlformats.org/package/2006/relationships"><Relationship Id="rId1" Type="http://schemas.openxmlformats.org/officeDocument/2006/relationships/package" Target="../embeddings/Microsoft_Excel_Worksheet226.xlsx"/></Relationships>
</file>

<file path=ppt/charts/_rels/chart227.xml.rels><?xml version='1.0' encoding='UTF-8' standalone='yes'?>
<Relationships xmlns="http://schemas.openxmlformats.org/package/2006/relationships"><Relationship Id="rId1" Type="http://schemas.openxmlformats.org/officeDocument/2006/relationships/package" Target="../embeddings/Microsoft_Excel_Worksheet227.xlsx"/></Relationships>
</file>

<file path=ppt/charts/_rels/chart228.xml.rels><?xml version='1.0' encoding='UTF-8' standalone='yes'?>
<Relationships xmlns="http://schemas.openxmlformats.org/package/2006/relationships"><Relationship Id="rId1" Type="http://schemas.openxmlformats.org/officeDocument/2006/relationships/package" Target="../embeddings/Microsoft_Excel_Worksheet228.xlsx"/></Relationships>
</file>

<file path=ppt/charts/_rels/chart229.xml.rels><?xml version='1.0' encoding='UTF-8' standalone='yes'?>
<Relationships xmlns="http://schemas.openxmlformats.org/package/2006/relationships"><Relationship Id="rId1" Type="http://schemas.openxmlformats.org/officeDocument/2006/relationships/package" Target="../embeddings/Microsoft_Excel_Worksheet229.xlsx"/></Relationships>
</file>

<file path=ppt/charts/_rels/chart230.xml.rels><?xml version='1.0' encoding='UTF-8' standalone='yes'?>
<Relationships xmlns="http://schemas.openxmlformats.org/package/2006/relationships"><Relationship Id="rId1" Type="http://schemas.openxmlformats.org/officeDocument/2006/relationships/package" Target="../embeddings/Microsoft_Excel_Worksheet230.xlsx"/></Relationships>
</file>

<file path=ppt/charts/_rels/chart231.xml.rels><?xml version='1.0' encoding='UTF-8' standalone='yes'?>
<Relationships xmlns="http://schemas.openxmlformats.org/package/2006/relationships"><Relationship Id="rId1" Type="http://schemas.openxmlformats.org/officeDocument/2006/relationships/package" Target="../embeddings/Microsoft_Excel_Worksheet231.xlsx"/></Relationships>
</file>

<file path=ppt/charts/_rels/chart232.xml.rels><?xml version='1.0' encoding='UTF-8' standalone='yes'?>
<Relationships xmlns="http://schemas.openxmlformats.org/package/2006/relationships"><Relationship Id="rId1" Type="http://schemas.openxmlformats.org/officeDocument/2006/relationships/package" Target="../embeddings/Microsoft_Excel_Worksheet232.xlsx"/></Relationships>
</file>

<file path=ppt/charts/_rels/chart233.xml.rels><?xml version='1.0' encoding='UTF-8' standalone='yes'?>
<Relationships xmlns="http://schemas.openxmlformats.org/package/2006/relationships"><Relationship Id="rId1" Type="http://schemas.openxmlformats.org/officeDocument/2006/relationships/package" Target="../embeddings/Microsoft_Excel_Worksheet233.xlsx"/></Relationships>
</file>

<file path=ppt/charts/_rels/chart234.xml.rels><?xml version='1.0' encoding='UTF-8' standalone='yes'?>
<Relationships xmlns="http://schemas.openxmlformats.org/package/2006/relationships"><Relationship Id="rId1" Type="http://schemas.openxmlformats.org/officeDocument/2006/relationships/package" Target="../embeddings/Microsoft_Excel_Worksheet23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2025</c:v>
                </c:pt>
              </c:strCache>
            </c:strRef>
          </c:tx>
          <c:spPr>
            <a:solidFill>
              <a:srgbClr val="9AA3AD"/>
            </a:solidFill>
            <a:effectLst/>
          </c:spPr>
          <c:invertIfNegative val="0"/>
          <c:dLbls>
            <c:numFmt formatCode="0.0"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er>
        <c:ser>
          <c:idx val="1"/>
          <c:order val="1"/>
          <c:tx>
            <c:strRef>
              <c:f>Sheet1!$C$1</c:f>
              <c:strCache>
                <c:ptCount val="1"/>
                <c:pt idx="0">
                  <c:v>2026</c:v>
                </c:pt>
              </c:strCache>
            </c:strRef>
          </c:tx>
          <c:spPr>
            <a:solidFill>
              <a:srgbClr val="2587C5"/>
            </a:solidFill>
            <a:effectLst/>
          </c:spPr>
          <c:invertIfNegative val="0"/>
          <c:dLbls>
            <c:numFmt formatCode="0.0"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er>
        <c:dLbls>
          <c:numFmt formatCode="0.0"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gapWidth val="35"/>
        <c:overlap val="-35"/>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2025</c:v>
                </c:pt>
              </c:strCache>
            </c:strRef>
          </c:tx>
          <c:spPr>
            <a:solidFill>
              <a:srgbClr val="9AA3AD"/>
            </a:solidFill>
            <a:effectLst/>
          </c:spPr>
          <c:invertIfNegative val="0"/>
          <c:dLbls>
            <c:numFmt formatCode="0.0"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er>
        <c:ser>
          <c:idx val="1"/>
          <c:order val="1"/>
          <c:tx>
            <c:strRef>
              <c:f>Sheet1!$C$1</c:f>
              <c:strCache>
                <c:ptCount val="1"/>
                <c:pt idx="0">
                  <c:v>2026</c:v>
                </c:pt>
              </c:strCache>
            </c:strRef>
          </c:tx>
          <c:spPr>
            <a:solidFill>
              <a:srgbClr val="2587C5"/>
            </a:solidFill>
            <a:effectLst/>
          </c:spPr>
          <c:invertIfNegative val="0"/>
          <c:dLbls>
            <c:numFmt formatCode="0.0"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er>
        <c:dLbls>
          <c:numFmt formatCode="0.0"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gapWidth val="35"/>
        <c:overlap val="-35"/>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2025</c:v>
                </c:pt>
              </c:strCache>
            </c:strRef>
          </c:tx>
          <c:spPr>
            <a:solidFill>
              <a:srgbClr val="9AA3AD"/>
            </a:solidFill>
            <a:effectLst/>
          </c:spPr>
          <c:invertIfNegative val="0"/>
          <c:dLbls>
            <c:numFmt formatCode="0.0"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er>
        <c:ser>
          <c:idx val="1"/>
          <c:order val="1"/>
          <c:tx>
            <c:strRef>
              <c:f>Sheet1!$C$1</c:f>
              <c:strCache>
                <c:ptCount val="1"/>
                <c:pt idx="0">
                  <c:v>2026</c:v>
                </c:pt>
              </c:strCache>
            </c:strRef>
          </c:tx>
          <c:spPr>
            <a:solidFill>
              <a:srgbClr val="2587C5"/>
            </a:solidFill>
            <a:effectLst/>
          </c:spPr>
          <c:invertIfNegative val="0"/>
          <c:dLbls>
            <c:numFmt formatCode="0.0"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er>
        <c:dLbls>
          <c:numFmt formatCode="0.0"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gapWidth val="35"/>
        <c:overlap val="-35"/>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0"/>
          <c:min val="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74.8</c:v>
                </c:pt>
                <c:pt idx="1">
                  <c:v>74.5</c:v>
                </c:pt>
                <c:pt idx="2">
                  <c:v>78.5</c:v>
                </c:pt>
                <c:pt idx="3">
                  <c:v>79.6</c:v>
                </c:pt>
                <c:pt idx="4">
                  <c:v>75.4</c:v>
                </c:pt>
                <c:pt idx="5">
                  <c:v>79.2</c:v>
                </c:pt>
                <c:pt idx="6">
                  <c:v>83</c:v>
                </c:pt>
                <c:pt idx="7">
                  <c:v>79.9</c:v>
                </c:pt>
                <c:pt idx="8">
                  <c:v>77.6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78.5</c:v>
                </c:pt>
                <c:pt idx="3">
                  <c:v>79.6</c:v>
                </c:pt>
                <c:pt idx="4">
                  <c:v/>
                </c:pt>
                <c:pt idx="5">
                  <c:v>79.2</c:v>
                </c:pt>
                <c:pt idx="6">
                  <c:v>83</c:v>
                </c:pt>
                <c:pt idx="7">
                  <c:v>79.9</c:v>
                </c:pt>
                <c:pt idx="8">
                  <c:v>77.6</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74.8</c:v>
                </c:pt>
                <c:pt idx="1">
                  <c:v>74.5</c:v>
                </c:pt>
                <c:pt idx="2">
                  <c:v/>
                </c:pt>
                <c:pt idx="3">
                  <c:v/>
                </c:pt>
                <c:pt idx="4">
                  <c:v>75.4</c:v>
                </c:pt>
                <c:pt idx="5">
                  <c:v/>
                </c:pt>
                <c:pt idx="6">
                  <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77</c:v>
                </c:pt>
                <c:pt idx="1">
                  <c:v>75.1</c:v>
                </c:pt>
                <c:pt idx="2">
                  <c:v/>
                </c:pt>
                <c:pt idx="3">
                  <c:v/>
                </c:pt>
                <c:pt idx="4">
                  <c:v>76.9</c:v>
                </c:pt>
                <c:pt idx="5">
                  <c:v/>
                </c:pt>
                <c:pt idx="6">
                  <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74.1</c:v>
                </c:pt>
                <c:pt idx="3">
                  <c:v>76.3</c:v>
                </c:pt>
                <c:pt idx="4">
                  <c:v/>
                </c:pt>
                <c:pt idx="5">
                  <c:v>77.8</c:v>
                </c:pt>
                <c:pt idx="6">
                  <c:v>78.4</c:v>
                </c:pt>
                <c:pt idx="7">
                  <c:v>75.9</c:v>
                </c:pt>
                <c:pt idx="8">
                  <c:v>72.7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77</c:v>
                </c:pt>
                <c:pt idx="1">
                  <c:v>75.1</c:v>
                </c:pt>
                <c:pt idx="2">
                  <c:v>74.1</c:v>
                </c:pt>
                <c:pt idx="3">
                  <c:v>76.3</c:v>
                </c:pt>
                <c:pt idx="4">
                  <c:v>76.9</c:v>
                </c:pt>
                <c:pt idx="5">
                  <c:v>77.8</c:v>
                </c:pt>
                <c:pt idx="6">
                  <c:v>78.4</c:v>
                </c:pt>
                <c:pt idx="7">
                  <c:v>75.9</c:v>
                </c:pt>
                <c:pt idx="8">
                  <c:v>72.7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18.1</c:v>
                </c:pt>
                <c:pt idx="1">
                  <c:v>20.3</c:v>
                </c:pt>
                <c:pt idx="2">
                  <c:v>24.5</c:v>
                </c:pt>
                <c:pt idx="3">
                  <c:v>23.3</c:v>
                </c:pt>
                <c:pt idx="4">
                  <c:v>21.9</c:v>
                </c:pt>
                <c:pt idx="5">
                  <c:v>21.9</c:v>
                </c:pt>
                <c:pt idx="6">
                  <c:v>23.8</c:v>
                </c:pt>
                <c:pt idx="7">
                  <c:v>22.5</c:v>
                </c:pt>
                <c:pt idx="8">
                  <c:v>19.7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18.1</c:v>
                </c:pt>
                <c:pt idx="1">
                  <c:v>20.3</c:v>
                </c:pt>
                <c:pt idx="2">
                  <c:v>24.5</c:v>
                </c:pt>
                <c:pt idx="3">
                  <c:v>23.3</c:v>
                </c:pt>
                <c:pt idx="4">
                  <c:v>21.9</c:v>
                </c:pt>
                <c:pt idx="5">
                  <c:v>21.9</c:v>
                </c:pt>
                <c:pt idx="6">
                  <c:v>23.8</c:v>
                </c:pt>
                <c:pt idx="7">
                  <c:v>22.5</c:v>
                </c:pt>
                <c:pt idx="8">
                  <c:v>19.7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16.9</c:v>
                </c:pt>
                <c:pt idx="1">
                  <c:v>16.1</c:v>
                </c:pt>
                <c:pt idx="2">
                  <c:v>21.2</c:v>
                </c:pt>
                <c:pt idx="3">
                  <c:v>21.2</c:v>
                </c:pt>
                <c:pt idx="4">
                  <c:v>21.5</c:v>
                </c:pt>
                <c:pt idx="5">
                  <c:v>19.4</c:v>
                </c:pt>
                <c:pt idx="6">
                  <c:v>20.3</c:v>
                </c:pt>
                <c:pt idx="7">
                  <c:v>19.6</c:v>
                </c:pt>
                <c:pt idx="8">
                  <c:v>13.1</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16.9</c:v>
                </c:pt>
                <c:pt idx="1">
                  <c:v>16.1</c:v>
                </c:pt>
                <c:pt idx="2">
                  <c:v>21.2</c:v>
                </c:pt>
                <c:pt idx="3">
                  <c:v>21.2</c:v>
                </c:pt>
                <c:pt idx="4">
                  <c:v>21.5</c:v>
                </c:pt>
                <c:pt idx="5">
                  <c:v>19.4</c:v>
                </c:pt>
                <c:pt idx="6">
                  <c:v>20.3</c:v>
                </c:pt>
                <c:pt idx="7">
                  <c:v>19.6</c:v>
                </c:pt>
                <c:pt idx="8">
                  <c:v>13.1</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33.5</c:v>
                </c:pt>
                <c:pt idx="1">
                  <c:v>32</c:v>
                </c:pt>
                <c:pt idx="2">
                  <c:v>36.3</c:v>
                </c:pt>
                <c:pt idx="3">
                  <c:v>38</c:v>
                </c:pt>
                <c:pt idx="4">
                  <c:v>33.6</c:v>
                </c:pt>
                <c:pt idx="5">
                  <c:v>37.7</c:v>
                </c:pt>
                <c:pt idx="6">
                  <c:v>41</c:v>
                </c:pt>
                <c:pt idx="7">
                  <c:v>38.1</c:v>
                </c:pt>
                <c:pt idx="8">
                  <c:v>38.8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36.3</c:v>
                </c:pt>
                <c:pt idx="3">
                  <c:v>38</c:v>
                </c:pt>
                <c:pt idx="4">
                  <c:v/>
                </c:pt>
                <c:pt idx="5">
                  <c:v/>
                </c:pt>
                <c:pt idx="6">
                  <c:v>41</c:v>
                </c:pt>
                <c:pt idx="7">
                  <c:v>38.1</c:v>
                </c:pt>
                <c:pt idx="8">
                  <c:v>38.8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33.5</c:v>
                </c:pt>
                <c:pt idx="1">
                  <c:v>32</c:v>
                </c:pt>
                <c:pt idx="2">
                  <c:v/>
                </c:pt>
                <c:pt idx="3">
                  <c:v/>
                </c:pt>
                <c:pt idx="4">
                  <c:v>33.6</c:v>
                </c:pt>
                <c:pt idx="5">
                  <c:v>37.7</c:v>
                </c:pt>
                <c:pt idx="6">
                  <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39.6</c:v>
                </c:pt>
                <c:pt idx="1">
                  <c:v>36.6</c:v>
                </c:pt>
                <c:pt idx="2">
                  <c:v/>
                </c:pt>
                <c:pt idx="3">
                  <c:v/>
                </c:pt>
                <c:pt idx="4">
                  <c:v>36.7</c:v>
                </c:pt>
                <c:pt idx="5">
                  <c:v>38.1</c:v>
                </c:pt>
                <c:pt idx="6">
                  <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35</c:v>
                </c:pt>
                <c:pt idx="3">
                  <c:v>37.7</c:v>
                </c:pt>
                <c:pt idx="4">
                  <c:v/>
                </c:pt>
                <c:pt idx="5">
                  <c:v/>
                </c:pt>
                <c:pt idx="6">
                  <c:v>39.7</c:v>
                </c:pt>
                <c:pt idx="7">
                  <c:v>35.7</c:v>
                </c:pt>
                <c:pt idx="8">
                  <c:v>34.8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39.6</c:v>
                </c:pt>
                <c:pt idx="1">
                  <c:v>36.6</c:v>
                </c:pt>
                <c:pt idx="2">
                  <c:v>35</c:v>
                </c:pt>
                <c:pt idx="3">
                  <c:v>37.7</c:v>
                </c:pt>
                <c:pt idx="4">
                  <c:v>36.7</c:v>
                </c:pt>
                <c:pt idx="5">
                  <c:v>38.1</c:v>
                </c:pt>
                <c:pt idx="6">
                  <c:v>39.7</c:v>
                </c:pt>
                <c:pt idx="7">
                  <c:v>35.7</c:v>
                </c:pt>
                <c:pt idx="8">
                  <c:v>34.8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2025</c:v>
                </c:pt>
              </c:strCache>
            </c:strRef>
          </c:tx>
          <c:spPr>
            <a:solidFill>
              <a:srgbClr val="9AA3AD"/>
            </a:solidFill>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30872</c:v>
                </c:pt>
                <c:pt idx="1">
                  <c:v>28163</c:v>
                </c:pt>
                <c:pt idx="2">
                  <c:v>31247</c:v>
                </c:pt>
                <c:pt idx="3">
                  <c:v>31754</c:v>
                </c:pt>
                <c:pt idx="4">
                  <c:v>31740</c:v>
                </c:pt>
                <c:pt idx="5">
                  <c:v>31179</c:v>
                </c:pt>
                <c:pt idx="6">
                  <c:v>32360</c:v>
                </c:pt>
                <c:pt idx="7">
                  <c:v>31996</c:v>
                </c:pt>
                <c:pt idx="8">
                  <c:v>29989</c:v>
                </c:pt>
              </c:numCache>
            </c:numRef>
          </c:val>
        </c:ser>
        <c:ser>
          <c:idx val="1"/>
          <c:order val="1"/>
          <c:tx>
            <c:strRef>
              <c:f>Sheet1!$C$1</c:f>
              <c:strCache>
                <c:ptCount val="1"/>
                <c:pt idx="0">
                  <c:v>2026</c:v>
                </c:pt>
              </c:strCache>
            </c:strRef>
          </c:tx>
          <c:spPr>
            <a:solidFill>
              <a:srgbClr val="2587C5"/>
            </a:solidFill>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30678</c:v>
                </c:pt>
                <c:pt idx="1">
                  <c:v>27329</c:v>
                </c:pt>
                <c:pt idx="2">
                  <c:v>31531</c:v>
                </c:pt>
                <c:pt idx="3">
                  <c:v>30786</c:v>
                </c:pt>
                <c:pt idx="4">
                  <c:v>30636</c:v>
                </c:pt>
                <c:pt idx="5">
                  <c:v>32541</c:v>
                </c:pt>
                <c:pt idx="6">
                  <c:v>33097</c:v>
                </c:pt>
                <c:pt idx="7">
                  <c:v>32319</c:v>
                </c:pt>
                <c:pt idx="8">
                  <c:v>30839</c:v>
                </c:pt>
              </c:numCache>
            </c:numRef>
          </c:val>
        </c:ser>
        <c:dLbls>
          <c:numFmt formatCode="#,##0.0,&quot;K&quot;"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gapWidth val="35"/>
        <c:overlap val="-35"/>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0000"/>
          <c:min val="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000"/>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2025</c:v>
                </c:pt>
              </c:strCache>
            </c:strRef>
          </c:tx>
          <c:spPr>
            <a:solidFill>
              <a:srgbClr val="9AA3AD"/>
            </a:solidFill>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55120.88</c:v>
                </c:pt>
                <c:pt idx="1">
                  <c:v>51212.03</c:v>
                </c:pt>
                <c:pt idx="2">
                  <c:v>57205.56</c:v>
                </c:pt>
                <c:pt idx="3">
                  <c:v>58170.14</c:v>
                </c:pt>
                <c:pt idx="4">
                  <c:v>57794.35</c:v>
                </c:pt>
                <c:pt idx="5">
                  <c:v>56468.18</c:v>
                </c:pt>
                <c:pt idx="6">
                  <c:v>57717.31</c:v>
                </c:pt>
                <c:pt idx="7">
                  <c:v>57021.2</c:v>
                </c:pt>
                <c:pt idx="8">
                  <c:v>53309.32</c:v>
                </c:pt>
              </c:numCache>
            </c:numRef>
          </c:val>
        </c:ser>
        <c:ser>
          <c:idx val="1"/>
          <c:order val="1"/>
          <c:tx>
            <c:strRef>
              <c:f>Sheet1!$C$1</c:f>
              <c:strCache>
                <c:ptCount val="1"/>
                <c:pt idx="0">
                  <c:v>2026</c:v>
                </c:pt>
              </c:strCache>
            </c:strRef>
          </c:tx>
          <c:spPr>
            <a:solidFill>
              <a:srgbClr val="2587C5"/>
            </a:solidFill>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55578.46</c:v>
                </c:pt>
                <c:pt idx="1">
                  <c:v>52000.56</c:v>
                </c:pt>
                <c:pt idx="2">
                  <c:v>60175.93</c:v>
                </c:pt>
                <c:pt idx="3">
                  <c:v>59745.97</c:v>
                </c:pt>
                <c:pt idx="4">
                  <c:v>57788.84</c:v>
                </c:pt>
                <c:pt idx="5">
                  <c:v>60916.67</c:v>
                </c:pt>
                <c:pt idx="6">
                  <c:v>61860.58</c:v>
                </c:pt>
                <c:pt idx="7">
                  <c:v>59618.54</c:v>
                </c:pt>
                <c:pt idx="8">
                  <c:v>55456.31</c:v>
                </c:pt>
              </c:numCache>
            </c:numRef>
          </c:val>
        </c:ser>
        <c:dLbls>
          <c:numFmt formatCode="#,##0.0,&quot;K&quot;"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gapWidth val="35"/>
        <c:overlap val="-35"/>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0000"/>
          <c:min val="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0"/>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161</c:v>
                </c:pt>
                <c:pt idx="1">
                  <c:v>162</c:v>
                </c:pt>
                <c:pt idx="2">
                  <c:v>162</c:v>
                </c:pt>
                <c:pt idx="3">
                  <c:v>162</c:v>
                </c:pt>
                <c:pt idx="4">
                  <c:v>161</c:v>
                </c:pt>
                <c:pt idx="5">
                  <c:v>162</c:v>
                </c:pt>
                <c:pt idx="6">
                  <c:v>163</c:v>
                </c:pt>
                <c:pt idx="7">
                  <c:v>165</c:v>
                </c:pt>
                <c:pt idx="8">
                  <c:v>164</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161</c:v>
                </c:pt>
                <c:pt idx="1">
                  <c:v>162</c:v>
                </c:pt>
                <c:pt idx="2">
                  <c:v>162</c:v>
                </c:pt>
                <c:pt idx="3">
                  <c:v>162</c:v>
                </c:pt>
                <c:pt idx="4">
                  <c:v>161</c:v>
                </c:pt>
                <c:pt idx="5">
                  <c:v>162</c:v>
                </c:pt>
                <c:pt idx="6">
                  <c:v>163</c:v>
                </c:pt>
                <c:pt idx="7">
                  <c:v>165</c:v>
                </c:pt>
                <c:pt idx="8">
                  <c:v>164</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157</c:v>
                </c:pt>
                <c:pt idx="1">
                  <c:v>159</c:v>
                </c:pt>
                <c:pt idx="2">
                  <c:v>158</c:v>
                </c:pt>
                <c:pt idx="3">
                  <c:v>159</c:v>
                </c:pt>
                <c:pt idx="4">
                  <c:v>158</c:v>
                </c:pt>
                <c:pt idx="5">
                  <c:v>159</c:v>
                </c:pt>
                <c:pt idx="6">
                  <c:v>159</c:v>
                </c:pt>
                <c:pt idx="7">
                  <c:v>160</c:v>
                </c:pt>
                <c:pt idx="8">
                  <c:v>159</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157</c:v>
                </c:pt>
                <c:pt idx="1">
                  <c:v>159</c:v>
                </c:pt>
                <c:pt idx="2">
                  <c:v>158</c:v>
                </c:pt>
                <c:pt idx="3">
                  <c:v>159</c:v>
                </c:pt>
                <c:pt idx="4">
                  <c:v>158</c:v>
                </c:pt>
                <c:pt idx="5">
                  <c:v>159</c:v>
                </c:pt>
                <c:pt idx="6">
                  <c:v>159</c:v>
                </c:pt>
                <c:pt idx="7">
                  <c:v>160</c:v>
                </c:pt>
                <c:pt idx="8">
                  <c:v>159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292</c:v>
                </c:pt>
                <c:pt idx="1">
                  <c:v>309</c:v>
                </c:pt>
                <c:pt idx="2">
                  <c:v>309</c:v>
                </c:pt>
                <c:pt idx="3">
                  <c:v>315</c:v>
                </c:pt>
                <c:pt idx="4">
                  <c:v>304</c:v>
                </c:pt>
                <c:pt idx="5">
                  <c:v>303</c:v>
                </c:pt>
                <c:pt idx="6">
                  <c:v>304</c:v>
                </c:pt>
                <c:pt idx="7">
                  <c:v>304</c:v>
                </c:pt>
                <c:pt idx="8">
                  <c:v>294</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292</c:v>
                </c:pt>
                <c:pt idx="1">
                  <c:v>309</c:v>
                </c:pt>
                <c:pt idx="2">
                  <c:v>309</c:v>
                </c:pt>
                <c:pt idx="3">
                  <c:v>315</c:v>
                </c:pt>
                <c:pt idx="4">
                  <c:v>304</c:v>
                </c:pt>
                <c:pt idx="5">
                  <c:v>303</c:v>
                </c:pt>
                <c:pt idx="6">
                  <c:v>304</c:v>
                </c:pt>
                <c:pt idx="7">
                  <c:v>304</c:v>
                </c:pt>
                <c:pt idx="8">
                  <c:v>294</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281</c:v>
                </c:pt>
                <c:pt idx="1">
                  <c:v>290</c:v>
                </c:pt>
                <c:pt idx="2">
                  <c:v>290</c:v>
                </c:pt>
                <c:pt idx="3">
                  <c:v>291</c:v>
                </c:pt>
                <c:pt idx="4">
                  <c:v>288</c:v>
                </c:pt>
                <c:pt idx="5">
                  <c:v>288</c:v>
                </c:pt>
                <c:pt idx="6">
                  <c:v>284</c:v>
                </c:pt>
                <c:pt idx="7">
                  <c:v>285</c:v>
                </c:pt>
                <c:pt idx="8">
                  <c:v>283</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281</c:v>
                </c:pt>
                <c:pt idx="1">
                  <c:v>290</c:v>
                </c:pt>
                <c:pt idx="2">
                  <c:v>290</c:v>
                </c:pt>
                <c:pt idx="3">
                  <c:v>291</c:v>
                </c:pt>
                <c:pt idx="4">
                  <c:v>288</c:v>
                </c:pt>
                <c:pt idx="5">
                  <c:v>288</c:v>
                </c:pt>
                <c:pt idx="6">
                  <c:v>284</c:v>
                </c:pt>
                <c:pt idx="7">
                  <c:v>285</c:v>
                </c:pt>
                <c:pt idx="8">
                  <c:v>283</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224</c:v>
                </c:pt>
                <c:pt idx="1">
                  <c:v>237</c:v>
                </c:pt>
                <c:pt idx="2">
                  <c:v>229</c:v>
                </c:pt>
                <c:pt idx="3">
                  <c:v>251</c:v>
                </c:pt>
                <c:pt idx="4">
                  <c:v>237</c:v>
                </c:pt>
                <c:pt idx="5">
                  <c:v>236</c:v>
                </c:pt>
                <c:pt idx="6">
                  <c:v>242</c:v>
                </c:pt>
                <c:pt idx="7">
                  <c:v>242</c:v>
                </c:pt>
                <c:pt idx="8">
                  <c:v>242</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224</c:v>
                </c:pt>
                <c:pt idx="1">
                  <c:v>237</c:v>
                </c:pt>
                <c:pt idx="2">
                  <c:v>229</c:v>
                </c:pt>
                <c:pt idx="3">
                  <c:v>251</c:v>
                </c:pt>
                <c:pt idx="4">
                  <c:v>237</c:v>
                </c:pt>
                <c:pt idx="5">
                  <c:v>236</c:v>
                </c:pt>
                <c:pt idx="6">
                  <c:v>242</c:v>
                </c:pt>
                <c:pt idx="7">
                  <c:v>242</c:v>
                </c:pt>
                <c:pt idx="8">
                  <c:v>242</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222</c:v>
                </c:pt>
                <c:pt idx="1">
                  <c:v>226</c:v>
                </c:pt>
                <c:pt idx="2">
                  <c:v>225</c:v>
                </c:pt>
                <c:pt idx="3">
                  <c:v>228</c:v>
                </c:pt>
                <c:pt idx="4">
                  <c:v>226</c:v>
                </c:pt>
                <c:pt idx="5">
                  <c:v>231</c:v>
                </c:pt>
                <c:pt idx="6">
                  <c:v>233</c:v>
                </c:pt>
                <c:pt idx="7">
                  <c:v>233</c:v>
                </c:pt>
                <c:pt idx="8">
                  <c:v>232</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222</c:v>
                </c:pt>
                <c:pt idx="1">
                  <c:v>226</c:v>
                </c:pt>
                <c:pt idx="2">
                  <c:v>225</c:v>
                </c:pt>
                <c:pt idx="3">
                  <c:v>228</c:v>
                </c:pt>
                <c:pt idx="4">
                  <c:v>226</c:v>
                </c:pt>
                <c:pt idx="5">
                  <c:v>231</c:v>
                </c:pt>
                <c:pt idx="6">
                  <c:v>233</c:v>
                </c:pt>
                <c:pt idx="7">
                  <c:v>233</c:v>
                </c:pt>
                <c:pt idx="8">
                  <c:v>232</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80.9</c:v>
                </c:pt>
                <c:pt idx="1">
                  <c:v>80.7</c:v>
                </c:pt>
                <c:pt idx="2">
                  <c:v>80.8</c:v>
                </c:pt>
                <c:pt idx="3">
                  <c:v>80.7</c:v>
                </c:pt>
                <c:pt idx="4">
                  <c:v>80.7</c:v>
                </c:pt>
                <c:pt idx="5">
                  <c:v>80.8</c:v>
                </c:pt>
                <c:pt idx="6">
                  <c:v>80.8</c:v>
                </c:pt>
                <c:pt idx="7">
                  <c:v>81</c:v>
                </c:pt>
                <c:pt idx="8">
                  <c:v>80.7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80.9</c:v>
                </c:pt>
                <c:pt idx="1">
                  <c:v/>
                </c:pt>
                <c:pt idx="2">
                  <c:v/>
                </c:pt>
                <c:pt idx="3">
                  <c:v/>
                </c:pt>
                <c:pt idx="4">
                  <c:v/>
                </c:pt>
                <c:pt idx="5">
                  <c:v/>
                </c:pt>
                <c:pt idx="6">
                  <c:v/>
                </c:pt>
                <c:pt idx="7">
                  <c:v>81</c:v>
                </c:pt>
                <c:pt idx="8">
                  <c:v>80.7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80.7</c:v>
                </c:pt>
                <c:pt idx="2">
                  <c:v>80.8</c:v>
                </c:pt>
                <c:pt idx="3">
                  <c:v>80.7</c:v>
                </c:pt>
                <c:pt idx="4">
                  <c:v>80.7</c:v>
                </c:pt>
                <c:pt idx="5">
                  <c:v>80.8</c:v>
                </c:pt>
                <c:pt idx="6">
                  <c:v>80.8</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80.9</c:v>
                </c:pt>
                <c:pt idx="2">
                  <c:v>80.9</c:v>
                </c:pt>
                <c:pt idx="3">
                  <c:v>80.8</c:v>
                </c:pt>
                <c:pt idx="4">
                  <c:v>80.8</c:v>
                </c:pt>
                <c:pt idx="5">
                  <c:v>81.1</c:v>
                </c:pt>
                <c:pt idx="6">
                  <c:v>81</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80.7</c:v>
                </c:pt>
                <c:pt idx="1">
                  <c:v/>
                </c:pt>
                <c:pt idx="2">
                  <c:v/>
                </c:pt>
                <c:pt idx="3">
                  <c:v/>
                </c:pt>
                <c:pt idx="4">
                  <c:v/>
                </c:pt>
                <c:pt idx="5">
                  <c:v/>
                </c:pt>
                <c:pt idx="6">
                  <c:v/>
                </c:pt>
                <c:pt idx="7">
                  <c:v>80.8</c:v>
                </c:pt>
                <c:pt idx="8">
                  <c:v>80.7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80.7</c:v>
                </c:pt>
                <c:pt idx="1">
                  <c:v>80.9</c:v>
                </c:pt>
                <c:pt idx="2">
                  <c:v>80.9</c:v>
                </c:pt>
                <c:pt idx="3">
                  <c:v>80.8</c:v>
                </c:pt>
                <c:pt idx="4">
                  <c:v>80.8</c:v>
                </c:pt>
                <c:pt idx="5">
                  <c:v>81.1</c:v>
                </c:pt>
                <c:pt idx="6">
                  <c:v>81</c:v>
                </c:pt>
                <c:pt idx="7">
                  <c:v>80.8</c:v>
                </c:pt>
                <c:pt idx="8">
                  <c:v>80.7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40.5</c:v>
                </c:pt>
                <c:pt idx="1">
                  <c:v>40.3</c:v>
                </c:pt>
                <c:pt idx="2">
                  <c:v>41</c:v>
                </c:pt>
                <c:pt idx="3">
                  <c:v>39.6</c:v>
                </c:pt>
                <c:pt idx="4">
                  <c:v>41.3</c:v>
                </c:pt>
                <c:pt idx="5">
                  <c:v>41.3</c:v>
                </c:pt>
                <c:pt idx="6">
                  <c:v>40.6</c:v>
                </c:pt>
                <c:pt idx="7">
                  <c:v>41.1</c:v>
                </c:pt>
                <c:pt idx="8">
                  <c:v>40.1</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40.5</c:v>
                </c:pt>
                <c:pt idx="1">
                  <c:v>40.3</c:v>
                </c:pt>
                <c:pt idx="2">
                  <c:v>41</c:v>
                </c:pt>
                <c:pt idx="3">
                  <c:v>39.6</c:v>
                </c:pt>
                <c:pt idx="4">
                  <c:v>41.3</c:v>
                </c:pt>
                <c:pt idx="5">
                  <c:v>41.3</c:v>
                </c:pt>
                <c:pt idx="6">
                  <c:v>40.6</c:v>
                </c:pt>
                <c:pt idx="7">
                  <c:v>41.1</c:v>
                </c:pt>
                <c:pt idx="8">
                  <c:v>40.1</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39.4</c:v>
                </c:pt>
                <c:pt idx="1">
                  <c:v>39.4</c:v>
                </c:pt>
                <c:pt idx="2">
                  <c:v>39.6</c:v>
                </c:pt>
                <c:pt idx="3">
                  <c:v>38.3</c:v>
                </c:pt>
                <c:pt idx="4">
                  <c:v>39.9</c:v>
                </c:pt>
                <c:pt idx="5">
                  <c:v>40.3</c:v>
                </c:pt>
                <c:pt idx="6">
                  <c:v>39.5</c:v>
                </c:pt>
                <c:pt idx="7">
                  <c:v>39.4</c:v>
                </c:pt>
                <c:pt idx="8">
                  <c:v>39.2</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39.4</c:v>
                </c:pt>
                <c:pt idx="1">
                  <c:v>39.4</c:v>
                </c:pt>
                <c:pt idx="2">
                  <c:v>39.6</c:v>
                </c:pt>
                <c:pt idx="3">
                  <c:v>38.3</c:v>
                </c:pt>
                <c:pt idx="4">
                  <c:v>39.9</c:v>
                </c:pt>
                <c:pt idx="5">
                  <c:v>40.3</c:v>
                </c:pt>
                <c:pt idx="6">
                  <c:v>39.5</c:v>
                </c:pt>
                <c:pt idx="7">
                  <c:v>39.4</c:v>
                </c:pt>
                <c:pt idx="8">
                  <c:v>39.2</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52.3</c:v>
                </c:pt>
                <c:pt idx="1">
                  <c:v>51.7</c:v>
                </c:pt>
                <c:pt idx="2">
                  <c:v>53.3</c:v>
                </c:pt>
                <c:pt idx="3">
                  <c:v>51.8</c:v>
                </c:pt>
                <c:pt idx="4">
                  <c:v>53.6</c:v>
                </c:pt>
                <c:pt idx="5">
                  <c:v>53.4</c:v>
                </c:pt>
                <c:pt idx="6">
                  <c:v>52.4</c:v>
                </c:pt>
                <c:pt idx="7">
                  <c:v>53.1</c:v>
                </c:pt>
                <c:pt idx="8">
                  <c:v>50.7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52.3</c:v>
                </c:pt>
                <c:pt idx="1">
                  <c:v>51.7</c:v>
                </c:pt>
                <c:pt idx="2">
                  <c:v>53.3</c:v>
                </c:pt>
                <c:pt idx="3">
                  <c:v/>
                </c:pt>
                <c:pt idx="4">
                  <c:v/>
                </c:pt>
                <c:pt idx="5">
                  <c:v>53.4</c:v>
                </c:pt>
                <c:pt idx="6">
                  <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
                </c:pt>
                <c:pt idx="3">
                  <c:v>51.8</c:v>
                </c:pt>
                <c:pt idx="4">
                  <c:v>53.6</c:v>
                </c:pt>
                <c:pt idx="5">
                  <c:v/>
                </c:pt>
                <c:pt idx="6">
                  <c:v>52.4</c:v>
                </c:pt>
                <c:pt idx="7">
                  <c:v>53.1</c:v>
                </c:pt>
                <c:pt idx="8">
                  <c:v>50.7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
                </c:pt>
                <c:pt idx="3">
                  <c:v>52.5</c:v>
                </c:pt>
                <c:pt idx="4">
                  <c:v>53.9</c:v>
                </c:pt>
                <c:pt idx="5">
                  <c:v/>
                </c:pt>
                <c:pt idx="6">
                  <c:v>52.8</c:v>
                </c:pt>
                <c:pt idx="7">
                  <c:v>53.4</c:v>
                </c:pt>
                <c:pt idx="8">
                  <c:v>53.4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51.3</c:v>
                </c:pt>
                <c:pt idx="1">
                  <c:v>51.4</c:v>
                </c:pt>
                <c:pt idx="2">
                  <c:v>52.8</c:v>
                </c:pt>
                <c:pt idx="3">
                  <c:v/>
                </c:pt>
                <c:pt idx="4">
                  <c:v/>
                </c:pt>
                <c:pt idx="5">
                  <c:v>53.3</c:v>
                </c:pt>
                <c:pt idx="6">
                  <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51.3</c:v>
                </c:pt>
                <c:pt idx="1">
                  <c:v>51.4</c:v>
                </c:pt>
                <c:pt idx="2">
                  <c:v>52.8</c:v>
                </c:pt>
                <c:pt idx="3">
                  <c:v>52.5</c:v>
                </c:pt>
                <c:pt idx="4">
                  <c:v>53.9</c:v>
                </c:pt>
                <c:pt idx="5">
                  <c:v>53.3</c:v>
                </c:pt>
                <c:pt idx="6">
                  <c:v>52.8</c:v>
                </c:pt>
                <c:pt idx="7">
                  <c:v>53.4</c:v>
                </c:pt>
                <c:pt idx="8">
                  <c:v>53.4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12.2</c:v>
                </c:pt>
                <c:pt idx="1">
                  <c:v>13.3</c:v>
                </c:pt>
                <c:pt idx="2">
                  <c:v>13.4</c:v>
                </c:pt>
                <c:pt idx="3">
                  <c:v>14.2</c:v>
                </c:pt>
                <c:pt idx="4">
                  <c:v>13.6</c:v>
                </c:pt>
                <c:pt idx="5">
                  <c:v>13.5</c:v>
                </c:pt>
                <c:pt idx="6">
                  <c:v>13.3</c:v>
                </c:pt>
                <c:pt idx="7">
                  <c:v>13</c:v>
                </c:pt>
                <c:pt idx="8">
                  <c:v>13.1</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12.2</c:v>
                </c:pt>
                <c:pt idx="1">
                  <c:v>13.3</c:v>
                </c:pt>
                <c:pt idx="2">
                  <c:v>13.4</c:v>
                </c:pt>
                <c:pt idx="3">
                  <c:v>14.2</c:v>
                </c:pt>
                <c:pt idx="4">
                  <c:v>13.6</c:v>
                </c:pt>
                <c:pt idx="5">
                  <c:v>13.5</c:v>
                </c:pt>
                <c:pt idx="6">
                  <c:v>13.3</c:v>
                </c:pt>
                <c:pt idx="7">
                  <c:v>13</c:v>
                </c:pt>
                <c:pt idx="8">
                  <c:v>13.1</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11.2</c:v>
                </c:pt>
                <c:pt idx="1">
                  <c:v>12.3</c:v>
                </c:pt>
                <c:pt idx="2">
                  <c:v>12.8</c:v>
                </c:pt>
                <c:pt idx="3">
                  <c:v>12.7</c:v>
                </c:pt>
                <c:pt idx="4">
                  <c:v>12.3</c:v>
                </c:pt>
                <c:pt idx="5">
                  <c:v>11.6</c:v>
                </c:pt>
                <c:pt idx="6">
                  <c:v>11.3</c:v>
                </c:pt>
                <c:pt idx="7">
                  <c:v>11.6</c:v>
                </c:pt>
                <c:pt idx="8">
                  <c:v>11.5</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11.2</c:v>
                </c:pt>
                <c:pt idx="1">
                  <c:v>12.3</c:v>
                </c:pt>
                <c:pt idx="2">
                  <c:v>12.8</c:v>
                </c:pt>
                <c:pt idx="3">
                  <c:v>12.7</c:v>
                </c:pt>
                <c:pt idx="4">
                  <c:v>12.3</c:v>
                </c:pt>
                <c:pt idx="5">
                  <c:v>11.6</c:v>
                </c:pt>
                <c:pt idx="6">
                  <c:v>11.3</c:v>
                </c:pt>
                <c:pt idx="7">
                  <c:v>11.6</c:v>
                </c:pt>
                <c:pt idx="8">
                  <c:v>11.5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88714381475427"/>
          <c:min val="0.15535056977879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69078015304967"/>
          <c:min val="0.0453709848161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580734966592428"/>
          <c:min val="0.0011265775798069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4188423260588"/>
          <c:min val="0.13627660998795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994911160945318"/>
          <c:min val="0.08201224771433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7.6</c:v>
                </c:pt>
                <c:pt idx="1">
                  <c:v>8.4</c:v>
                </c:pt>
                <c:pt idx="2">
                  <c:v>8.7</c:v>
                </c:pt>
                <c:pt idx="3">
                  <c:v>8.8</c:v>
                </c:pt>
                <c:pt idx="4">
                  <c:v>8.6</c:v>
                </c:pt>
                <c:pt idx="5">
                  <c:v>8.5</c:v>
                </c:pt>
                <c:pt idx="6">
                  <c:v>8.3</c:v>
                </c:pt>
                <c:pt idx="7">
                  <c:v>8.5</c:v>
                </c:pt>
                <c:pt idx="8">
                  <c:v>8.1</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7.6</c:v>
                </c:pt>
                <c:pt idx="1">
                  <c:v>8.4</c:v>
                </c:pt>
                <c:pt idx="2">
                  <c:v>8.7</c:v>
                </c:pt>
                <c:pt idx="3">
                  <c:v>8.8</c:v>
                </c:pt>
                <c:pt idx="4">
                  <c:v>8.6</c:v>
                </c:pt>
                <c:pt idx="5">
                  <c:v>8.5</c:v>
                </c:pt>
                <c:pt idx="6">
                  <c:v>8.3</c:v>
                </c:pt>
                <c:pt idx="7">
                  <c:v>8.5</c:v>
                </c:pt>
                <c:pt idx="8">
                  <c:v>8.1</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6.3</c:v>
                </c:pt>
                <c:pt idx="1">
                  <c:v>7.1</c:v>
                </c:pt>
                <c:pt idx="2">
                  <c:v>7.6</c:v>
                </c:pt>
                <c:pt idx="3">
                  <c:v>6.9</c:v>
                </c:pt>
                <c:pt idx="4">
                  <c:v>7.1</c:v>
                </c:pt>
                <c:pt idx="5">
                  <c:v>7</c:v>
                </c:pt>
                <c:pt idx="6">
                  <c:v>6.9</c:v>
                </c:pt>
                <c:pt idx="7">
                  <c:v>7</c:v>
                </c:pt>
                <c:pt idx="8">
                  <c:v>6.7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6.3</c:v>
                </c:pt>
                <c:pt idx="1">
                  <c:v>7.1</c:v>
                </c:pt>
                <c:pt idx="2">
                  <c:v>7.6</c:v>
                </c:pt>
                <c:pt idx="3">
                  <c:v>6.9</c:v>
                </c:pt>
                <c:pt idx="4">
                  <c:v>7.1</c:v>
                </c:pt>
                <c:pt idx="5">
                  <c:v>7</c:v>
                </c:pt>
                <c:pt idx="6">
                  <c:v>6.9</c:v>
                </c:pt>
                <c:pt idx="7">
                  <c:v>7</c:v>
                </c:pt>
                <c:pt idx="8">
                  <c:v>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47548624606974"/>
          <c:min val="0.0280513817130397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978845054316754"/>
          <c:min val="0.07667238421955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51492928234678"/>
          <c:min val="-0.0062704124627052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524624918460532"/>
          <c:min val="-0.0054876060013046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656949592817297"/>
          <c:min val="0.078535532175745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8.5</c:v>
                </c:pt>
                <c:pt idx="1">
                  <c:v>9</c:v>
                </c:pt>
                <c:pt idx="2">
                  <c:v>9.8</c:v>
                </c:pt>
                <c:pt idx="3">
                  <c:v>9.9</c:v>
                </c:pt>
                <c:pt idx="4">
                  <c:v>9.8</c:v>
                </c:pt>
                <c:pt idx="5">
                  <c:v>9.4</c:v>
                </c:pt>
                <c:pt idx="6">
                  <c:v>9</c:v>
                </c:pt>
                <c:pt idx="7">
                  <c:v>8.9</c:v>
                </c:pt>
                <c:pt idx="8">
                  <c:v>9.3</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8.5</c:v>
                </c:pt>
                <c:pt idx="1">
                  <c:v>9</c:v>
                </c:pt>
                <c:pt idx="2">
                  <c:v>9.8</c:v>
                </c:pt>
                <c:pt idx="3">
                  <c:v>9.9</c:v>
                </c:pt>
                <c:pt idx="4">
                  <c:v>9.8</c:v>
                </c:pt>
                <c:pt idx="5">
                  <c:v>9.4</c:v>
                </c:pt>
                <c:pt idx="6">
                  <c:v>9</c:v>
                </c:pt>
                <c:pt idx="7">
                  <c:v>8.9</c:v>
                </c:pt>
                <c:pt idx="8">
                  <c:v>9.3</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7.4</c:v>
                </c:pt>
                <c:pt idx="1">
                  <c:v>7.9</c:v>
                </c:pt>
                <c:pt idx="2">
                  <c:v>8.2</c:v>
                </c:pt>
                <c:pt idx="3">
                  <c:v>8.1</c:v>
                </c:pt>
                <c:pt idx="4">
                  <c:v>8.2</c:v>
                </c:pt>
                <c:pt idx="5">
                  <c:v>8</c:v>
                </c:pt>
                <c:pt idx="6">
                  <c:v>7.8</c:v>
                </c:pt>
                <c:pt idx="7">
                  <c:v>8.1</c:v>
                </c:pt>
                <c:pt idx="8">
                  <c:v>7.5</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7.4</c:v>
                </c:pt>
                <c:pt idx="1">
                  <c:v>7.9</c:v>
                </c:pt>
                <c:pt idx="2">
                  <c:v>8.2</c:v>
                </c:pt>
                <c:pt idx="3">
                  <c:v>8.1</c:v>
                </c:pt>
                <c:pt idx="4">
                  <c:v>8.2</c:v>
                </c:pt>
                <c:pt idx="5">
                  <c:v>8</c:v>
                </c:pt>
                <c:pt idx="6">
                  <c:v>7.8</c:v>
                </c:pt>
                <c:pt idx="7">
                  <c:v>8.1</c:v>
                </c:pt>
                <c:pt idx="8">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30967541461923"/>
          <c:min val="0.021201671643677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27011494252873"/>
          <c:min val="-0.0159482758620689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488864142538975"/>
          <c:min val="0.025304380103934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40614287673111"/>
          <c:min val="0.0553270259152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5322429817363"/>
          <c:min val="0.0461123303879845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5.4</c:v>
                </c:pt>
                <c:pt idx="1">
                  <c:v>5.8</c:v>
                </c:pt>
                <c:pt idx="2">
                  <c:v>6.2</c:v>
                </c:pt>
                <c:pt idx="3">
                  <c:v>6</c:v>
                </c:pt>
                <c:pt idx="4">
                  <c:v>6.3</c:v>
                </c:pt>
                <c:pt idx="5">
                  <c:v>5.9</c:v>
                </c:pt>
                <c:pt idx="6">
                  <c:v>5.6</c:v>
                </c:pt>
                <c:pt idx="7">
                  <c:v>5.3</c:v>
                </c:pt>
                <c:pt idx="8">
                  <c:v>5.8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5.4</c:v>
                </c:pt>
                <c:pt idx="1">
                  <c:v>5.8</c:v>
                </c:pt>
                <c:pt idx="2">
                  <c:v>6.2</c:v>
                </c:pt>
                <c:pt idx="3">
                  <c:v>6</c:v>
                </c:pt>
                <c:pt idx="4">
                  <c:v>6.3</c:v>
                </c:pt>
                <c:pt idx="5">
                  <c:v>5.9</c:v>
                </c:pt>
                <c:pt idx="6">
                  <c:v>5.6</c:v>
                </c:pt>
                <c:pt idx="7">
                  <c:v>5.3</c:v>
                </c:pt>
                <c:pt idx="8">
                  <c:v>5.8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3.9</c:v>
                </c:pt>
                <c:pt idx="1">
                  <c:v>4.6</c:v>
                </c:pt>
                <c:pt idx="2">
                  <c:v>4.9</c:v>
                </c:pt>
                <c:pt idx="3">
                  <c:v>4.9</c:v>
                </c:pt>
                <c:pt idx="4">
                  <c:v>4.6</c:v>
                </c:pt>
                <c:pt idx="5">
                  <c:v>4.7</c:v>
                </c:pt>
                <c:pt idx="6">
                  <c:v>4.3</c:v>
                </c:pt>
                <c:pt idx="7">
                  <c:v>4.7</c:v>
                </c:pt>
                <c:pt idx="8">
                  <c:v>4.5</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3.9</c:v>
                </c:pt>
                <c:pt idx="1">
                  <c:v>4.6</c:v>
                </c:pt>
                <c:pt idx="2">
                  <c:v>4.9</c:v>
                </c:pt>
                <c:pt idx="3">
                  <c:v>4.9</c:v>
                </c:pt>
                <c:pt idx="4">
                  <c:v>4.6</c:v>
                </c:pt>
                <c:pt idx="5">
                  <c:v>4.7</c:v>
                </c:pt>
                <c:pt idx="6">
                  <c:v>4.3</c:v>
                </c:pt>
                <c:pt idx="7">
                  <c:v>4.7</c:v>
                </c:pt>
                <c:pt idx="8">
                  <c:v>4.5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521232178515073"/>
          <c:min val="-0.01424322399564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19703026841806"/>
          <c:min val="0.021430611079383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070657507360155"/>
          <c:min val="-0.008096172718351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LINCOLN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48646853727378"/>
          <c:min val="0.038510155514970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c:v>
                </c:pt>
                <c:pt idx="2">
                  <c:v>0</c:v>
                </c:pt>
                <c:pt idx="3">
                  <c:v>0</c:v>
                </c:pt>
                <c:pt idx="4">
                  <c:v>0</c:v>
                </c:pt>
                <c:pt idx="5">
                  <c:v>0</c:v>
                </c:pt>
                <c:pt idx="6">
                  <c:v>0</c:v>
                </c:pt>
                <c:pt idx="7">
                  <c:v>0.023809523809523808</c:v>
                </c:pt>
                <c:pt idx="8">
                  <c:v>0.05459770114942529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78735632183909"/>
          <c:min val="-0.008189655172413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2025</c:v>
                </c:pt>
              </c:strCache>
            </c:strRef>
          </c:tx>
          <c:spPr>
            <a:solidFill>
              <a:srgbClr val="9AA3AD"/>
            </a:solidFill>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16565</c:v>
                </c:pt>
                <c:pt idx="1">
                  <c:v>15707</c:v>
                </c:pt>
                <c:pt idx="2">
                  <c:v>15981</c:v>
                </c:pt>
                <c:pt idx="3">
                  <c:v>14990</c:v>
                </c:pt>
                <c:pt idx="4">
                  <c:v>14527</c:v>
                </c:pt>
                <c:pt idx="5">
                  <c:v>14882</c:v>
                </c:pt>
                <c:pt idx="6">
                  <c:v>15408</c:v>
                </c:pt>
                <c:pt idx="7">
                  <c:v>14622</c:v>
                </c:pt>
                <c:pt idx="8">
                  <c:v>13082</c:v>
                </c:pt>
              </c:numCache>
            </c:numRef>
          </c:val>
        </c:ser>
        <c:ser>
          <c:idx val="1"/>
          <c:order val="1"/>
          <c:tx>
            <c:strRef>
              <c:f>Sheet1!$C$1</c:f>
              <c:strCache>
                <c:ptCount val="1"/>
                <c:pt idx="0">
                  <c:v>2026</c:v>
                </c:pt>
              </c:strCache>
            </c:strRef>
          </c:tx>
          <c:spPr>
            <a:solidFill>
              <a:srgbClr val="2587C5"/>
            </a:solidFill>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14264</c:v>
                </c:pt>
                <c:pt idx="1">
                  <c:v>12746</c:v>
                </c:pt>
                <c:pt idx="2">
                  <c:v>13940</c:v>
                </c:pt>
                <c:pt idx="3">
                  <c:v>13710</c:v>
                </c:pt>
                <c:pt idx="4">
                  <c:v>13121</c:v>
                </c:pt>
                <c:pt idx="5">
                  <c:v>14168</c:v>
                </c:pt>
                <c:pt idx="6">
                  <c:v>14663</c:v>
                </c:pt>
                <c:pt idx="7">
                  <c:v>15204</c:v>
                </c:pt>
                <c:pt idx="8">
                  <c:v>15075</c:v>
                </c:pt>
              </c:numCache>
            </c:numRef>
          </c:val>
        </c:ser>
        <c:dLbls>
          <c:numFmt formatCode="#,##0.0,&quot;K&quot;"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gapWidth val="35"/>
        <c:overlap val="-35"/>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00"/>
          <c:min val="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1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196</c:v>
                </c:pt>
                <c:pt idx="1">
                  <c:v>198</c:v>
                </c:pt>
                <c:pt idx="2">
                  <c:v>197</c:v>
                </c:pt>
                <c:pt idx="3">
                  <c:v>199</c:v>
                </c:pt>
                <c:pt idx="4">
                  <c:v>194</c:v>
                </c:pt>
                <c:pt idx="5">
                  <c:v>194</c:v>
                </c:pt>
                <c:pt idx="6">
                  <c:v>199</c:v>
                </c:pt>
                <c:pt idx="7">
                  <c:v>198</c:v>
                </c:pt>
                <c:pt idx="8">
                  <c:v>199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1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196</c:v>
                </c:pt>
                <c:pt idx="1">
                  <c:v>198</c:v>
                </c:pt>
                <c:pt idx="2">
                  <c:v>197</c:v>
                </c:pt>
                <c:pt idx="3">
                  <c:v>199</c:v>
                </c:pt>
                <c:pt idx="4">
                  <c:v>194</c:v>
                </c:pt>
                <c:pt idx="5">
                  <c:v>194</c:v>
                </c:pt>
                <c:pt idx="6">
                  <c:v>199</c:v>
                </c:pt>
                <c:pt idx="7">
                  <c:v>198</c:v>
                </c:pt>
                <c:pt idx="8">
                  <c:v>199</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175</c:v>
                </c:pt>
                <c:pt idx="1">
                  <c:v>175</c:v>
                </c:pt>
                <c:pt idx="2">
                  <c:v>173</c:v>
                </c:pt>
                <c:pt idx="3">
                  <c:v>176</c:v>
                </c:pt>
                <c:pt idx="4">
                  <c:v>182</c:v>
                </c:pt>
                <c:pt idx="5">
                  <c:v>185</c:v>
                </c:pt>
                <c:pt idx="6">
                  <c:v>187</c:v>
                </c:pt>
                <c:pt idx="7">
                  <c:v>186</c:v>
                </c:pt>
                <c:pt idx="8">
                  <c:v>187</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175</c:v>
                </c:pt>
                <c:pt idx="1">
                  <c:v>175</c:v>
                </c:pt>
                <c:pt idx="2">
                  <c:v>173</c:v>
                </c:pt>
                <c:pt idx="3">
                  <c:v>176</c:v>
                </c:pt>
                <c:pt idx="4">
                  <c:v>182</c:v>
                </c:pt>
                <c:pt idx="5">
                  <c:v>185</c:v>
                </c:pt>
                <c:pt idx="6">
                  <c:v>187</c:v>
                </c:pt>
                <c:pt idx="7">
                  <c:v>186</c:v>
                </c:pt>
                <c:pt idx="8">
                  <c:v>187</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126</c:v>
                </c:pt>
                <c:pt idx="1">
                  <c:v>124</c:v>
                </c:pt>
                <c:pt idx="2">
                  <c:v>131</c:v>
                </c:pt>
                <c:pt idx="3">
                  <c:v>131</c:v>
                </c:pt>
                <c:pt idx="4">
                  <c:v>132</c:v>
                </c:pt>
                <c:pt idx="5">
                  <c:v>128</c:v>
                </c:pt>
                <c:pt idx="6">
                  <c:v>133</c:v>
                </c:pt>
                <c:pt idx="7">
                  <c:v>130</c:v>
                </c:pt>
                <c:pt idx="8">
                  <c:v>134</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126</c:v>
                </c:pt>
                <c:pt idx="1">
                  <c:v/>
                </c:pt>
                <c:pt idx="2">
                  <c:v>131</c:v>
                </c:pt>
                <c:pt idx="3">
                  <c:v>131</c:v>
                </c:pt>
                <c:pt idx="4">
                  <c:v>132</c:v>
                </c:pt>
                <c:pt idx="5">
                  <c:v/>
                </c:pt>
                <c:pt idx="6">
                  <c:v>133</c:v>
                </c:pt>
                <c:pt idx="7">
                  <c:v>130</c:v>
                </c:pt>
                <c:pt idx="8">
                  <c:v>134</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124</c:v>
                </c:pt>
                <c:pt idx="2">
                  <c:v/>
                </c:pt>
                <c:pt idx="3">
                  <c:v/>
                </c:pt>
                <c:pt idx="4">
                  <c:v/>
                </c:pt>
                <c:pt idx="5">
                  <c:v>128</c:v>
                </c:pt>
                <c:pt idx="6">
                  <c:v/>
                </c:pt>
                <c:pt idx="7">
                  <c:v/>
                </c:pt>
                <c:pt idx="8">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125</c:v>
                </c:pt>
                <c:pt idx="2">
                  <c:v/>
                </c:pt>
                <c:pt idx="3">
                  <c:v/>
                </c:pt>
                <c:pt idx="4">
                  <c:v/>
                </c:pt>
                <c:pt idx="5">
                  <c:v>129</c:v>
                </c:pt>
                <c:pt idx="6">
                  <c:v/>
                </c:pt>
                <c:pt idx="7">
                  <c:v/>
                </c:pt>
                <c:pt idx="8">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124</c:v>
                </c:pt>
                <c:pt idx="1">
                  <c:v/>
                </c:pt>
                <c:pt idx="2">
                  <c:v>125</c:v>
                </c:pt>
                <c:pt idx="3">
                  <c:v>126</c:v>
                </c:pt>
                <c:pt idx="4">
                  <c:v>130</c:v>
                </c:pt>
                <c:pt idx="5">
                  <c:v/>
                </c:pt>
                <c:pt idx="6">
                  <c:v>126</c:v>
                </c:pt>
                <c:pt idx="7">
                  <c:v>126</c:v>
                </c:pt>
                <c:pt idx="8">
                  <c:v>124</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124</c:v>
                </c:pt>
                <c:pt idx="1">
                  <c:v>125</c:v>
                </c:pt>
                <c:pt idx="2">
                  <c:v>125</c:v>
                </c:pt>
                <c:pt idx="3">
                  <c:v>126</c:v>
                </c:pt>
                <c:pt idx="4">
                  <c:v>130</c:v>
                </c:pt>
                <c:pt idx="5">
                  <c:v>129</c:v>
                </c:pt>
                <c:pt idx="6">
                  <c:v>126</c:v>
                </c:pt>
                <c:pt idx="7">
                  <c:v>126</c:v>
                </c:pt>
                <c:pt idx="8">
                  <c:v>124</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12996</c:v>
                </c:pt>
                <c:pt idx="1">
                  <c:v>12334</c:v>
                </c:pt>
                <c:pt idx="2">
                  <c:v>13714</c:v>
                </c:pt>
                <c:pt idx="3">
                  <c:v>14108</c:v>
                </c:pt>
                <c:pt idx="4">
                  <c:v>13092</c:v>
                </c:pt>
                <c:pt idx="5">
                  <c:v>13919</c:v>
                </c:pt>
                <c:pt idx="6">
                  <c:v>14673</c:v>
                </c:pt>
                <c:pt idx="7">
                  <c:v>13972</c:v>
                </c:pt>
                <c:pt idx="8">
                  <c:v>13721</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12996</c:v>
                </c:pt>
                <c:pt idx="1">
                  <c:v>12334</c:v>
                </c:pt>
                <c:pt idx="2">
                  <c:v>13714</c:v>
                </c:pt>
                <c:pt idx="3">
                  <c:v>14108</c:v>
                </c:pt>
                <c:pt idx="4">
                  <c:v>13092</c:v>
                </c:pt>
                <c:pt idx="5">
                  <c:v>13919</c:v>
                </c:pt>
                <c:pt idx="6">
                  <c:v>14673</c:v>
                </c:pt>
                <c:pt idx="7">
                  <c:v>13972</c:v>
                </c:pt>
                <c:pt idx="8">
                  <c:v>13721</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12592</c:v>
                </c:pt>
                <c:pt idx="1">
                  <c:v>11705</c:v>
                </c:pt>
                <c:pt idx="2">
                  <c:v>12397</c:v>
                </c:pt>
                <c:pt idx="3">
                  <c:v>12913</c:v>
                </c:pt>
                <c:pt idx="4">
                  <c:v>12494</c:v>
                </c:pt>
                <c:pt idx="5">
                  <c:v>12584</c:v>
                </c:pt>
                <c:pt idx="6">
                  <c:v>12740</c:v>
                </c:pt>
                <c:pt idx="7">
                  <c:v>12488</c:v>
                </c:pt>
                <c:pt idx="8">
                  <c:v>11778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12592</c:v>
                </c:pt>
                <c:pt idx="1">
                  <c:v>11705</c:v>
                </c:pt>
                <c:pt idx="2">
                  <c:v>12397</c:v>
                </c:pt>
                <c:pt idx="3">
                  <c:v>12913</c:v>
                </c:pt>
                <c:pt idx="4">
                  <c:v>12494</c:v>
                </c:pt>
                <c:pt idx="5">
                  <c:v>12584</c:v>
                </c:pt>
                <c:pt idx="6">
                  <c:v>12740</c:v>
                </c:pt>
                <c:pt idx="7">
                  <c:v>12488</c:v>
                </c:pt>
                <c:pt idx="8">
                  <c:v>11778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
                </c:pt>
                <c:pt idx="3">
                  <c:v/>
                </c:pt>
                <c:pt idx="4">
                  <c:v/>
                </c:pt>
                <c:pt idx="5">
                  <c:v>171.412</c:v>
                </c:pt>
                <c:pt idx="6">
                  <c:v/>
                </c:pt>
                <c:pt idx="7">
                  <c:v>176.49180327868854</c:v>
                </c:pt>
                <c:pt idx="8">
                  <c:v>172.46058091286307</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165.0483870967742</c:v>
                </c:pt>
                <c:pt idx="1">
                  <c:v>148.57142857142858</c:v>
                </c:pt>
                <c:pt idx="2">
                  <c:v>165.3531746031746</c:v>
                </c:pt>
                <c:pt idx="3">
                  <c:v>163.812</c:v>
                </c:pt>
                <c:pt idx="4">
                  <c:v>157.87007874015748</c:v>
                </c:pt>
                <c:pt idx="5">
                  <c:v/>
                </c:pt>
                <c:pt idx="6">
                  <c:v>174.588</c:v>
                </c:pt>
                <c:pt idx="7">
                  <c:v/>
                </c:pt>
                <c:pt idx="8">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181.76470588235293</c:v>
                </c:pt>
                <c:pt idx="1">
                  <c:v>167.49789029535864</c:v>
                </c:pt>
                <c:pt idx="2">
                  <c:v>178.79166666666666</c:v>
                </c:pt>
                <c:pt idx="3">
                  <c:v>176.42561983471074</c:v>
                </c:pt>
                <c:pt idx="4">
                  <c:v>169.248</c:v>
                </c:pt>
                <c:pt idx="5">
                  <c:v/>
                </c:pt>
                <c:pt idx="6">
                  <c:v>177.77732793522267</c:v>
                </c:pt>
                <c:pt idx="7">
                  <c:v/>
                </c:pt>
                <c:pt idx="8">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
                </c:pt>
                <c:pt idx="3">
                  <c:v/>
                </c:pt>
                <c:pt idx="4">
                  <c:v/>
                </c:pt>
                <c:pt idx="5">
                  <c:v>171.10526315789474</c:v>
                </c:pt>
                <c:pt idx="6">
                  <c:v/>
                </c:pt>
                <c:pt idx="7">
                  <c:v>171.31075697211156</c:v>
                </c:pt>
                <c:pt idx="8">
                  <c:v>160.78225806451613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23.790849673202615</c:v>
                </c:pt>
                <c:pt idx="2">
                  <c:v/>
                </c:pt>
                <c:pt idx="3">
                  <c:v/>
                </c:pt>
                <c:pt idx="4">
                  <c:v/>
                </c:pt>
                <c:pt idx="5">
                  <c:v/>
                </c:pt>
                <c:pt idx="6">
                  <c:v/>
                </c:pt>
                <c:pt idx="7">
                  <c:v/>
                </c:pt>
                <c:pt idx="8">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24.324142156862745</c:v>
                </c:pt>
                <c:pt idx="2">
                  <c:v/>
                </c:pt>
                <c:pt idx="3">
                  <c:v/>
                </c:pt>
                <c:pt idx="4">
                  <c:v/>
                </c:pt>
                <c:pt idx="5">
                  <c:v/>
                </c:pt>
                <c:pt idx="6">
                  <c:v/>
                </c:pt>
                <c:pt idx="7">
                  <c:v/>
                </c:pt>
                <c:pt idx="8">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337.037037037037</c:v>
                </c:pt>
                <c:pt idx="2">
                  <c:v/>
                </c:pt>
                <c:pt idx="3">
                  <c:v/>
                </c:pt>
                <c:pt idx="4">
                  <c:v/>
                </c:pt>
                <c:pt idx="5">
                  <c:v/>
                </c:pt>
                <c:pt idx="6">
                  <c:v/>
                </c:pt>
                <c:pt idx="7">
                  <c:v/>
                </c:pt>
                <c:pt idx="8">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342.2155172413793</c:v>
                </c:pt>
                <c:pt idx="2">
                  <c:v/>
                </c:pt>
                <c:pt idx="3">
                  <c:v/>
                </c:pt>
                <c:pt idx="4">
                  <c:v/>
                </c:pt>
                <c:pt idx="5">
                  <c:v/>
                </c:pt>
                <c:pt idx="6">
                  <c:v/>
                </c:pt>
                <c:pt idx="7">
                  <c:v/>
                </c:pt>
                <c:pt idx="8">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Fixed employees, trailing 12 months</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circle"/>
            <c:size val="8"/>
            <c:spPr>
              <a:solidFill>
                <a:srgbClr val="2587C5"/>
              </a:solidFill>
              <a:ln w="12700" cap="flat">
                <a:solidFill>
                  <a:srgbClr val="2587C5"/>
                </a:solidFill>
                <a:prstDash val="solid"/>
                <a:round/>
              </a:ln>
              <a:effectLst/>
            </c:spPr>
          </c:marker>
          <c:cat>
            <c:multiLvlStrRef>
              <c:f>Sheet1!$A$2:$A$13</c:f>
              <c:multiLvlStrCache>
                <c:ptCount val="12"/>
                <c:lvl>
                  <c:pt idx="0">
                    <c:v>Oct '25</c:v>
                  </c:pt>
                  <c:pt idx="1">
                    <c:v>Nov '25</c:v>
                  </c:pt>
                  <c:pt idx="2">
                    <c:v>Dec '25</c:v>
                  </c:pt>
                  <c:pt idx="3">
                    <c:v>Jan '26</c:v>
                  </c:pt>
                  <c:pt idx="4">
                    <c:v>Feb '26</c:v>
                  </c:pt>
                  <c:pt idx="5">
                    <c:v>Mar '26</c:v>
                  </c:pt>
                  <c:pt idx="6">
                    <c:v>Apr '26</c:v>
                  </c:pt>
                  <c:pt idx="7">
                    <c:v>May '26</c:v>
                  </c:pt>
                  <c:pt idx="8">
                    <c:v>Jun '26</c:v>
                  </c:pt>
                  <c:pt idx="9">
                    <c:v>Jul '26</c:v>
                  </c:pt>
                  <c:pt idx="10">
                    <c:v>Aug '26</c:v>
                  </c:pt>
                  <c:pt idx="11">
                    <c:v>Sep '26</c:v>
                  </c:pt>
                </c:lvl>
              </c:multiLvlStrCache>
            </c:multiLvlStrRef>
          </c:cat>
          <c:val>
            <c:numRef>
              <c:f>Sheet1!$B$2:$B$13</c:f>
              <c:numCache>
                <c:formatCode>General</c:formatCode>
                <c:ptCount val="12"/>
                <c:pt idx="0">
                  <c:v>1604</c:v>
                </c:pt>
                <c:pt idx="1">
                  <c:v>1582</c:v>
                </c:pt>
                <c:pt idx="2">
                  <c:v>1563</c:v>
                </c:pt>
                <c:pt idx="3">
                  <c:v>1530</c:v>
                </c:pt>
                <c:pt idx="4">
                  <c:v>1530</c:v>
                </c:pt>
                <c:pt idx="5">
                  <c:v>1540</c:v>
                </c:pt>
                <c:pt idx="6">
                  <c:v>1545</c:v>
                </c:pt>
                <c:pt idx="7">
                  <c:v>1537</c:v>
                </c:pt>
                <c:pt idx="8">
                  <c:v>1546</c:v>
                </c:pt>
                <c:pt idx="9">
                  <c:v>1548</c:v>
                </c:pt>
                <c:pt idx="10">
                  <c:v>1549</c:v>
                </c:pt>
                <c:pt idx="11">
                  <c:v>1540</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620"/>
          <c:min val="15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20.46</c:v>
                </c:pt>
                <c:pt idx="1">
                  <c:v>19.1</c:v>
                </c:pt>
                <c:pt idx="2">
                  <c:v>20.19</c:v>
                </c:pt>
                <c:pt idx="3">
                  <c:v>20.85</c:v>
                </c:pt>
                <c:pt idx="4">
                  <c:v>20.28</c:v>
                </c:pt>
                <c:pt idx="5">
                  <c:v>20.34</c:v>
                </c:pt>
                <c:pt idx="6">
                  <c:v>20.75</c:v>
                </c:pt>
                <c:pt idx="7">
                  <c:v>20.32</c:v>
                </c:pt>
                <c:pt idx="8">
                  <c:v>19.03</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19.88</c:v>
                </c:pt>
                <c:pt idx="1">
                  <c:v>18.87</c:v>
                </c:pt>
                <c:pt idx="2">
                  <c:v>21.12</c:v>
                </c:pt>
                <c:pt idx="3">
                  <c:v>21.8</c:v>
                </c:pt>
                <c:pt idx="4">
                  <c:v>20.12</c:v>
                </c:pt>
                <c:pt idx="5">
                  <c:v>21.52</c:v>
                </c:pt>
                <c:pt idx="6">
                  <c:v>22.71</c:v>
                </c:pt>
                <c:pt idx="7">
                  <c:v>21.64</c:v>
                </c:pt>
                <c:pt idx="8">
                  <c:v>21.13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4"/>
          <c:min val="18"/>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1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13.41</c:v>
                </c:pt>
                <c:pt idx="1">
                  <c:v>12.64</c:v>
                </c:pt>
                <c:pt idx="2">
                  <c:v>13.59</c:v>
                </c:pt>
                <c:pt idx="3">
                  <c:v>14.01</c:v>
                </c:pt>
                <c:pt idx="4">
                  <c:v>13.61</c:v>
                </c:pt>
                <c:pt idx="5">
                  <c:v>13.53</c:v>
                </c:pt>
                <c:pt idx="6">
                  <c:v>13.78</c:v>
                </c:pt>
                <c:pt idx="7">
                  <c:v>13.51</c:v>
                </c:pt>
                <c:pt idx="8">
                  <c:v>12.5</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13.47</c:v>
                </c:pt>
                <c:pt idx="1">
                  <c:v>12.79</c:v>
                </c:pt>
                <c:pt idx="2">
                  <c:v>14.35</c:v>
                </c:pt>
                <c:pt idx="3">
                  <c:v>14.65</c:v>
                </c:pt>
                <c:pt idx="4">
                  <c:v>13.71</c:v>
                </c:pt>
                <c:pt idx="5">
                  <c:v>14.45</c:v>
                </c:pt>
                <c:pt idx="6">
                  <c:v>15.06</c:v>
                </c:pt>
                <c:pt idx="7">
                  <c:v>14.43</c:v>
                </c:pt>
                <c:pt idx="8">
                  <c:v>13.96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6"/>
          <c:min val="11"/>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1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7.05</c:v>
                </c:pt>
                <c:pt idx="1">
                  <c:v>6.47</c:v>
                </c:pt>
                <c:pt idx="2">
                  <c:v>6.6</c:v>
                </c:pt>
                <c:pt idx="3">
                  <c:v>6.84</c:v>
                </c:pt>
                <c:pt idx="4">
                  <c:v>6.67</c:v>
                </c:pt>
                <c:pt idx="5">
                  <c:v>6.81</c:v>
                </c:pt>
                <c:pt idx="6">
                  <c:v>6.97</c:v>
                </c:pt>
                <c:pt idx="7">
                  <c:v>6.81</c:v>
                </c:pt>
                <c:pt idx="8">
                  <c:v>6.54</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6.41</c:v>
                </c:pt>
                <c:pt idx="1">
                  <c:v>6.08</c:v>
                </c:pt>
                <c:pt idx="2">
                  <c:v>6.77</c:v>
                </c:pt>
                <c:pt idx="3">
                  <c:v>7.14</c:v>
                </c:pt>
                <c:pt idx="4">
                  <c:v>6.41</c:v>
                </c:pt>
                <c:pt idx="5">
                  <c:v>7.07</c:v>
                </c:pt>
                <c:pt idx="6">
                  <c:v>7.66</c:v>
                </c:pt>
                <c:pt idx="7">
                  <c:v>7.21</c:v>
                </c:pt>
                <c:pt idx="8">
                  <c:v>7.18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1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20.46</c:v>
                </c:pt>
                <c:pt idx="1">
                  <c:v>19.1</c:v>
                </c:pt>
                <c:pt idx="2">
                  <c:v>20.19</c:v>
                </c:pt>
                <c:pt idx="3">
                  <c:v>20.85</c:v>
                </c:pt>
                <c:pt idx="4">
                  <c:v>20.28</c:v>
                </c:pt>
                <c:pt idx="5">
                  <c:v>20.34</c:v>
                </c:pt>
                <c:pt idx="6">
                  <c:v>20.75</c:v>
                </c:pt>
                <c:pt idx="7">
                  <c:v>20.32</c:v>
                </c:pt>
                <c:pt idx="8">
                  <c:v>19.03</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19.88</c:v>
                </c:pt>
                <c:pt idx="1">
                  <c:v>18.87</c:v>
                </c:pt>
                <c:pt idx="2">
                  <c:v>21.12</c:v>
                </c:pt>
                <c:pt idx="3">
                  <c:v>21.8</c:v>
                </c:pt>
                <c:pt idx="4">
                  <c:v>20.12</c:v>
                </c:pt>
                <c:pt idx="5">
                  <c:v>21.52</c:v>
                </c:pt>
                <c:pt idx="6">
                  <c:v>22.71</c:v>
                </c:pt>
                <c:pt idx="7">
                  <c:v>21.64</c:v>
                </c:pt>
                <c:pt idx="8">
                  <c:v>21.13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4"/>
          <c:min val="18"/>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1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13.41</c:v>
                </c:pt>
                <c:pt idx="1">
                  <c:v>12.64</c:v>
                </c:pt>
                <c:pt idx="2">
                  <c:v>13.59</c:v>
                </c:pt>
                <c:pt idx="3">
                  <c:v>14.01</c:v>
                </c:pt>
                <c:pt idx="4">
                  <c:v>13.61</c:v>
                </c:pt>
                <c:pt idx="5">
                  <c:v>13.53</c:v>
                </c:pt>
                <c:pt idx="6">
                  <c:v>13.78</c:v>
                </c:pt>
                <c:pt idx="7">
                  <c:v>13.51</c:v>
                </c:pt>
                <c:pt idx="8">
                  <c:v>12.5</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13.47</c:v>
                </c:pt>
                <c:pt idx="1">
                  <c:v>12.79</c:v>
                </c:pt>
                <c:pt idx="2">
                  <c:v>14.35</c:v>
                </c:pt>
                <c:pt idx="3">
                  <c:v>14.65</c:v>
                </c:pt>
                <c:pt idx="4">
                  <c:v>13.71</c:v>
                </c:pt>
                <c:pt idx="5">
                  <c:v>14.45</c:v>
                </c:pt>
                <c:pt idx="6">
                  <c:v>15.06</c:v>
                </c:pt>
                <c:pt idx="7">
                  <c:v>14.43</c:v>
                </c:pt>
                <c:pt idx="8">
                  <c:v>13.96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6"/>
          <c:min val="11"/>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1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7.05</c:v>
                </c:pt>
                <c:pt idx="1">
                  <c:v>6.47</c:v>
                </c:pt>
                <c:pt idx="2">
                  <c:v>6.6</c:v>
                </c:pt>
                <c:pt idx="3">
                  <c:v>6.84</c:v>
                </c:pt>
                <c:pt idx="4">
                  <c:v>6.67</c:v>
                </c:pt>
                <c:pt idx="5">
                  <c:v>6.81</c:v>
                </c:pt>
                <c:pt idx="6">
                  <c:v>6.97</c:v>
                </c:pt>
                <c:pt idx="7">
                  <c:v>6.81</c:v>
                </c:pt>
                <c:pt idx="8">
                  <c:v>6.54</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6.41</c:v>
                </c:pt>
                <c:pt idx="1">
                  <c:v>6.08</c:v>
                </c:pt>
                <c:pt idx="2">
                  <c:v>6.77</c:v>
                </c:pt>
                <c:pt idx="3">
                  <c:v>7.14</c:v>
                </c:pt>
                <c:pt idx="4">
                  <c:v>6.41</c:v>
                </c:pt>
                <c:pt idx="5">
                  <c:v>7.07</c:v>
                </c:pt>
                <c:pt idx="6">
                  <c:v>7.66</c:v>
                </c:pt>
                <c:pt idx="7">
                  <c:v>7.21</c:v>
                </c:pt>
                <c:pt idx="8">
                  <c:v>7.18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1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4"/>
          <c:min val="17"/>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1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Earlier</c:v>
                </c:pt>
              </c:strCache>
            </c:strRef>
          </c:tx>
          <c:spPr>
            <a:solidFill>
              <a:srgbClr val="9AA3AD"/>
            </a:solidFill>
            <a:effectLst/>
          </c:spPr>
          <c:invertIfNegative val="0"/>
          <c:dLbls>
            <c:numFmt formatCode="$0.0&quot;M&quot;;;" sourceLinked="0"/>
            <c:txPr>
              <a:bodyPr/>
              <a:lstStyle/>
              <a:p>
                <a:pPr>
                  <a:defRPr b="1" i="0" strike="noStrike" sz="14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2021</c:v>
                  </c:pt>
                  <c:pt idx="1">
                    <c:v>2022</c:v>
                  </c:pt>
                  <c:pt idx="2">
                    <c:v>2023</c:v>
                  </c:pt>
                  <c:pt idx="3">
                    <c:v>2024</c:v>
                  </c:pt>
                  <c:pt idx="4">
                    <c:v>2025</c:v>
                  </c:pt>
                  <c:pt idx="5">
                    <c:v>2026</c:v>
                  </c:pt>
                </c:lvl>
              </c:multiLvlStrCache>
            </c:multiLvlStrRef>
          </c:cat>
          <c:val>
            <c:numRef>
              <c:f>Sheet1!$B$2:$B$7</c:f>
              <c:numCache>
                <c:formatCode>General</c:formatCode>
                <c:ptCount val="6"/>
                <c:pt idx="0">
                  <c:v>111.43</c:v>
                </c:pt>
                <c:pt idx="1">
                  <c:v>126.71</c:v>
                </c:pt>
                <c:pt idx="2">
                  <c:v>143.75</c:v>
                </c:pt>
                <c:pt idx="3">
                  <c:v>156.71</c:v>
                </c:pt>
                <c:pt idx="4">
                  <c:v>181.62</c:v>
                </c:pt>
                <c:pt idx="5">
                  <c:v>0</c:v>
                </c:pt>
              </c:numCache>
            </c:numRef>
          </c:val>
        </c:ser>
        <c:ser>
          <c:idx val="1"/>
          <c:order val="1"/>
          <c:tx>
            <c:strRef>
              <c:f>Sheet1!$C$1</c:f>
              <c:strCache>
                <c:ptCount val="1"/>
                <c:pt idx="0">
                  <c:v>Latest</c:v>
                </c:pt>
              </c:strCache>
            </c:strRef>
          </c:tx>
          <c:spPr>
            <a:solidFill>
              <a:srgbClr val="2587C5"/>
            </a:solidFill>
            <a:effectLst/>
          </c:spPr>
          <c:invertIfNegative val="0"/>
          <c:dLbls>
            <c:numFmt formatCode="$0.0&quot;M&quot;;;" sourceLinked="0"/>
            <c:txPr>
              <a:bodyPr/>
              <a:lstStyle/>
              <a:p>
                <a:pPr>
                  <a:defRPr b="1" i="0" strike="noStrike" sz="14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2021</c:v>
                  </c:pt>
                  <c:pt idx="1">
                    <c:v>2022</c:v>
                  </c:pt>
                  <c:pt idx="2">
                    <c:v>2023</c:v>
                  </c:pt>
                  <c:pt idx="3">
                    <c:v>2024</c:v>
                  </c:pt>
                  <c:pt idx="4">
                    <c:v>2025</c:v>
                  </c:pt>
                  <c:pt idx="5">
                    <c:v>2026</c:v>
                  </c:pt>
                </c:lvl>
              </c:multiLvlStrCache>
            </c:multiLvlStrRef>
          </c:cat>
          <c:val>
            <c:numRef>
              <c:f>Sheet1!$C$2:$C$7</c:f>
              <c:numCache>
                <c:formatCode>General</c:formatCode>
                <c:ptCount val="6"/>
                <c:pt idx="0">
                  <c:v>0</c:v>
                </c:pt>
                <c:pt idx="1">
                  <c:v>0</c:v>
                </c:pt>
                <c:pt idx="2">
                  <c:v>0</c:v>
                </c:pt>
                <c:pt idx="3">
                  <c:v>0</c:v>
                </c:pt>
                <c:pt idx="4">
                  <c:v>0</c:v>
                </c:pt>
                <c:pt idx="5">
                  <c:v>188.95</c:v>
                </c:pt>
              </c:numCache>
            </c:numRef>
          </c:val>
        </c:ser>
        <c:dLbls>
          <c:numFmt formatCode="$0.0&quot;M&quot;;;" sourceLinked="0"/>
          <c:txPr>
            <a:bodyPr/>
            <a:lstStyle/>
            <a:p>
              <a:pPr>
                <a:defRPr b="1" i="0" strike="noStrike" sz="1400" u="none">
                  <a:solidFill>
                    <a:srgbClr val="FFFFFF"/>
                  </a:solidFill>
                  <a:latin typeface="+mn-lt"/>
                </a:defRPr>
              </a:pPr>
            </a:p>
          </c:txPr>
          <c:dLblPos val="inEnd"/>
          <c:showLegendKey val="0"/>
          <c:showVal val="1"/>
          <c:showCatName val="0"/>
          <c:showSerName val="0"/>
          <c:showPercent val="0"/>
          <c:showBubbleSize val="0"/>
          <c:showLeaderLines val="0"/>
        </c:dLbls>
        <c:gapWidth val="2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6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77.5</c:v>
                </c:pt>
                <c:pt idx="1">
                  <c:v>77.4</c:v>
                </c:pt>
                <c:pt idx="2">
                  <c:v>78.4</c:v>
                </c:pt>
                <c:pt idx="3">
                  <c:v>78.3</c:v>
                </c:pt>
                <c:pt idx="4">
                  <c:v>78.8</c:v>
                </c:pt>
                <c:pt idx="5">
                  <c:v>77.8</c:v>
                </c:pt>
                <c:pt idx="6">
                  <c:v>78.7</c:v>
                </c:pt>
                <c:pt idx="7">
                  <c:v>77.9</c:v>
                </c:pt>
                <c:pt idx="8">
                  <c:v>78.2</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78.4</c:v>
                </c:pt>
                <c:pt idx="3">
                  <c:v>78.3</c:v>
                </c:pt>
                <c:pt idx="4">
                  <c:v>78.8</c:v>
                </c:pt>
                <c:pt idx="5">
                  <c:v/>
                </c:pt>
                <c:pt idx="6">
                  <c:v>78.7</c:v>
                </c:pt>
                <c:pt idx="7">
                  <c:v>77.9</c:v>
                </c:pt>
                <c:pt idx="8">
                  <c:v>78.2</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77.5</c:v>
                </c:pt>
                <c:pt idx="1">
                  <c:v>77.4</c:v>
                </c:pt>
                <c:pt idx="2">
                  <c:v/>
                </c:pt>
                <c:pt idx="3">
                  <c:v/>
                </c:pt>
                <c:pt idx="4">
                  <c:v/>
                </c:pt>
                <c:pt idx="5">
                  <c:v>77.8</c:v>
                </c:pt>
                <c:pt idx="6">
                  <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77.6</c:v>
                </c:pt>
                <c:pt idx="1">
                  <c:v>78</c:v>
                </c:pt>
                <c:pt idx="2">
                  <c:v/>
                </c:pt>
                <c:pt idx="3">
                  <c:v/>
                </c:pt>
                <c:pt idx="4">
                  <c:v/>
                </c:pt>
                <c:pt idx="5">
                  <c:v>78.3</c:v>
                </c:pt>
                <c:pt idx="6">
                  <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77.9</c:v>
                </c:pt>
                <c:pt idx="3">
                  <c:v>78</c:v>
                </c:pt>
                <c:pt idx="4">
                  <c:v>78.5</c:v>
                </c:pt>
                <c:pt idx="5">
                  <c:v/>
                </c:pt>
                <c:pt idx="6">
                  <c:v>77.7</c:v>
                </c:pt>
                <c:pt idx="7">
                  <c:v>77.4</c:v>
                </c:pt>
                <c:pt idx="8">
                  <c:v>77.3</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77.6</c:v>
                </c:pt>
                <c:pt idx="1">
                  <c:v>78</c:v>
                </c:pt>
                <c:pt idx="2">
                  <c:v>77.9</c:v>
                </c:pt>
                <c:pt idx="3">
                  <c:v>78</c:v>
                </c:pt>
                <c:pt idx="4">
                  <c:v>78.5</c:v>
                </c:pt>
                <c:pt idx="5">
                  <c:v>78.3</c:v>
                </c:pt>
                <c:pt idx="6">
                  <c:v>77.7</c:v>
                </c:pt>
                <c:pt idx="7">
                  <c:v>77.4</c:v>
                </c:pt>
                <c:pt idx="8">
                  <c:v>77.3</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35.9</c:v>
                </c:pt>
                <c:pt idx="1">
                  <c:v>35.9</c:v>
                </c:pt>
                <c:pt idx="2">
                  <c:v>36.3</c:v>
                </c:pt>
                <c:pt idx="3">
                  <c:v>36.4</c:v>
                </c:pt>
                <c:pt idx="4">
                  <c:v>37.2</c:v>
                </c:pt>
                <c:pt idx="5">
                  <c:v>37</c:v>
                </c:pt>
                <c:pt idx="6">
                  <c:v>36.6</c:v>
                </c:pt>
                <c:pt idx="7">
                  <c:v>36.1</c:v>
                </c:pt>
                <c:pt idx="8">
                  <c:v>36.7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35.9</c:v>
                </c:pt>
                <c:pt idx="1">
                  <c:v>35.9</c:v>
                </c:pt>
                <c:pt idx="2">
                  <c:v>36.3</c:v>
                </c:pt>
                <c:pt idx="3">
                  <c:v/>
                </c:pt>
                <c:pt idx="4">
                  <c:v>37.2</c:v>
                </c:pt>
                <c:pt idx="5">
                  <c:v>37</c:v>
                </c:pt>
                <c:pt idx="6">
                  <c:v>36.6</c:v>
                </c:pt>
                <c:pt idx="7">
                  <c:v>36.1</c:v>
                </c:pt>
                <c:pt idx="8">
                  <c:v>36.7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
                </c:pt>
                <c:pt idx="3">
                  <c:v>36.4</c:v>
                </c:pt>
                <c:pt idx="4">
                  <c:v/>
                </c:pt>
                <c:pt idx="5">
                  <c:v/>
                </c:pt>
                <c:pt idx="6">
                  <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
                </c:pt>
                <c:pt idx="3">
                  <c:v>36.7</c:v>
                </c:pt>
                <c:pt idx="4">
                  <c:v/>
                </c:pt>
                <c:pt idx="5">
                  <c:v/>
                </c:pt>
                <c:pt idx="6">
                  <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35.1</c:v>
                </c:pt>
                <c:pt idx="1">
                  <c:v>35.5</c:v>
                </c:pt>
                <c:pt idx="2">
                  <c:v>36.2</c:v>
                </c:pt>
                <c:pt idx="3">
                  <c:v/>
                </c:pt>
                <c:pt idx="4">
                  <c:v>35.5</c:v>
                </c:pt>
                <c:pt idx="5">
                  <c:v>36.7</c:v>
                </c:pt>
                <c:pt idx="6">
                  <c:v>36.4</c:v>
                </c:pt>
                <c:pt idx="7">
                  <c:v>35.3</c:v>
                </c:pt>
                <c:pt idx="8">
                  <c:v>36.1</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35.1</c:v>
                </c:pt>
                <c:pt idx="1">
                  <c:v>35.5</c:v>
                </c:pt>
                <c:pt idx="2">
                  <c:v>36.2</c:v>
                </c:pt>
                <c:pt idx="3">
                  <c:v>36.7</c:v>
                </c:pt>
                <c:pt idx="4">
                  <c:v>35.5</c:v>
                </c:pt>
                <c:pt idx="5">
                  <c:v>36.7</c:v>
                </c:pt>
                <c:pt idx="6">
                  <c:v>36.4</c:v>
                </c:pt>
                <c:pt idx="7">
                  <c:v>35.3</c:v>
                </c:pt>
                <c:pt idx="8">
                  <c:v>36.1</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1625</c:v>
                </c:pt>
                <c:pt idx="1">
                  <c:v>1632</c:v>
                </c:pt>
                <c:pt idx="2">
                  <c:v>1629</c:v>
                </c:pt>
                <c:pt idx="3">
                  <c:v>1615</c:v>
                </c:pt>
                <c:pt idx="4">
                  <c:v>1623</c:v>
                </c:pt>
                <c:pt idx="5">
                  <c:v>1616</c:v>
                </c:pt>
                <c:pt idx="6">
                  <c:v>1629</c:v>
                </c:pt>
                <c:pt idx="7">
                  <c:v>1627</c:v>
                </c:pt>
                <c:pt idx="8">
                  <c:v>1616</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1530</c:v>
                </c:pt>
                <c:pt idx="1">
                  <c:v>1530</c:v>
                </c:pt>
                <c:pt idx="2">
                  <c:v>1540</c:v>
                </c:pt>
                <c:pt idx="3">
                  <c:v>1545</c:v>
                </c:pt>
                <c:pt idx="4">
                  <c:v>1537</c:v>
                </c:pt>
                <c:pt idx="5">
                  <c:v>1546</c:v>
                </c:pt>
                <c:pt idx="6">
                  <c:v>1548</c:v>
                </c:pt>
                <c:pt idx="7">
                  <c:v>1549</c:v>
                </c:pt>
                <c:pt idx="8">
                  <c:v>1540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660"/>
          <c:min val="15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1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176585.11</c:v>
                </c:pt>
                <c:pt idx="1">
                  <c:v>184273.9</c:v>
                </c:pt>
                <c:pt idx="2">
                  <c:v>243873.84</c:v>
                </c:pt>
                <c:pt idx="3">
                  <c:v>231682.97</c:v>
                </c:pt>
                <c:pt idx="4">
                  <c:v>262721.61</c:v>
                </c:pt>
                <c:pt idx="5">
                  <c:v>263340.99</c:v>
                </c:pt>
                <c:pt idx="6">
                  <c:v>244041.77</c:v>
                </c:pt>
                <c:pt idx="7">
                  <c:v>244446.27</c:v>
                </c:pt>
                <c:pt idx="8">
                  <c:v>249281.88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6354.372"/>
          <c:min val="163571.727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294309.57999999996</c:v>
                </c:pt>
                <c:pt idx="1">
                  <c:v>278868.58</c:v>
                </c:pt>
                <c:pt idx="2">
                  <c:v>359908.79</c:v>
                </c:pt>
                <c:pt idx="3">
                  <c:v>393728.92000000004</c:v>
                </c:pt>
                <c:pt idx="4">
                  <c:v>359273.68</c:v>
                </c:pt>
                <c:pt idx="5">
                  <c:v>386316.45</c:v>
                </c:pt>
                <c:pt idx="6">
                  <c:v>384135.08</c:v>
                </c:pt>
                <c:pt idx="7">
                  <c:v>397933.38999999996</c:v>
                </c:pt>
                <c:pt idx="8">
                  <c:v>341938.74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5793.11149999994"/>
          <c:min val="261008.8585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177080.6</c:v>
                </c:pt>
                <c:pt idx="1">
                  <c:v>116317.49</c:v>
                </c:pt>
                <c:pt idx="2">
                  <c:v>151683.66999999998</c:v>
                </c:pt>
                <c:pt idx="3">
                  <c:v>189304.13</c:v>
                </c:pt>
                <c:pt idx="4">
                  <c:v>164925.71000000002</c:v>
                </c:pt>
                <c:pt idx="5">
                  <c:v>166070.51</c:v>
                </c:pt>
                <c:pt idx="6">
                  <c:v>172210.90000000002</c:v>
                </c:pt>
                <c:pt idx="7">
                  <c:v>228828.82</c:v>
                </c:pt>
                <c:pt idx="8">
                  <c:v>129178.53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705.5195"/>
          <c:min val="99440.7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86931.73000000001</c:v>
                </c:pt>
                <c:pt idx="1">
                  <c:v>109867.53</c:v>
                </c:pt>
                <c:pt idx="2">
                  <c:v>104137.82</c:v>
                </c:pt>
                <c:pt idx="3">
                  <c:v>100928.84</c:v>
                </c:pt>
                <c:pt idx="4">
                  <c:v>93945.76000000001</c:v>
                </c:pt>
                <c:pt idx="5">
                  <c:v>108346.47</c:v>
                </c:pt>
                <c:pt idx="6">
                  <c:v>126637.39</c:v>
                </c:pt>
                <c:pt idx="7">
                  <c:v>106298.13999999998</c:v>
                </c:pt>
                <c:pt idx="8">
                  <c:v>124862.66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593.239"/>
          <c:min val="80975.881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293762.4</c:v>
                </c:pt>
                <c:pt idx="1">
                  <c:v>268037.54000000004</c:v>
                </c:pt>
                <c:pt idx="2">
                  <c:v>319668.25</c:v>
                </c:pt>
                <c:pt idx="3">
                  <c:v>349268.96</c:v>
                </c:pt>
                <c:pt idx="4">
                  <c:v>347415.9</c:v>
                </c:pt>
                <c:pt idx="5">
                  <c:v>340633.41000000003</c:v>
                </c:pt>
                <c:pt idx="6">
                  <c:v>373611</c:v>
                </c:pt>
                <c:pt idx="7">
                  <c:v>323504.43</c:v>
                </c:pt>
                <c:pt idx="8">
                  <c:v>336990.87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447.019"/>
          <c:min val="252201.521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549</c:v>
                </c:pt>
                <c:pt idx="1">
                  <c:v>531</c:v>
                </c:pt>
                <c:pt idx="2">
                  <c:v>556</c:v>
                </c:pt>
                <c:pt idx="3">
                  <c:v>544</c:v>
                </c:pt>
                <c:pt idx="4">
                  <c:v>516</c:v>
                </c:pt>
                <c:pt idx="5">
                  <c:v>599</c:v>
                </c:pt>
                <c:pt idx="6">
                  <c:v>622</c:v>
                </c:pt>
                <c:pt idx="7">
                  <c:v>587</c:v>
                </c:pt>
                <c:pt idx="8">
                  <c:v>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9.75"/>
          <c:min val="497.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1576</c:v>
                </c:pt>
                <c:pt idx="1">
                  <c:v>1477</c:v>
                </c:pt>
                <c:pt idx="2">
                  <c:v>1631</c:v>
                </c:pt>
                <c:pt idx="3">
                  <c:v>1610</c:v>
                </c:pt>
                <c:pt idx="4">
                  <c:v>1739</c:v>
                </c:pt>
                <c:pt idx="5">
                  <c:v>1738</c:v>
                </c:pt>
                <c:pt idx="6">
                  <c:v>1723</c:v>
                </c:pt>
                <c:pt idx="7">
                  <c:v>1875</c:v>
                </c:pt>
                <c:pt idx="8">
                  <c:v>1679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4.7"/>
          <c:min val="141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3.1"/>
          <c:min val="29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1764</c:v>
                </c:pt>
                <c:pt idx="1">
                  <c:v>1687</c:v>
                </c:pt>
                <c:pt idx="2">
                  <c:v>1914</c:v>
                </c:pt>
                <c:pt idx="3">
                  <c:v>2057</c:v>
                </c:pt>
                <c:pt idx="4">
                  <c:v>1923</c:v>
                </c:pt>
                <c:pt idx="5">
                  <c:v>2056</c:v>
                </c:pt>
                <c:pt idx="6">
                  <c:v>2095</c:v>
                </c:pt>
                <c:pt idx="7">
                  <c:v>1882</c:v>
                </c:pt>
                <c:pt idx="8">
                  <c:v>1998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6.2"/>
          <c:min val="162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SUBARU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25"/>
          <c:min val="503.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1.188239247311828</c:v>
                </c:pt>
                <c:pt idx="1">
                  <c:v>1.275762195121951</c:v>
                </c:pt>
                <c:pt idx="2">
                  <c:v>1.4099208965062624</c:v>
                </c:pt>
                <c:pt idx="3">
                  <c:v>1.4275265957446808</c:v>
                </c:pt>
                <c:pt idx="4">
                  <c:v>1.4609295570079883</c:v>
                </c:pt>
                <c:pt idx="5">
                  <c:v>1.4721141374837874</c:v>
                </c:pt>
                <c:pt idx="6">
                  <c:v>1.4142063001852996</c:v>
                </c:pt>
                <c:pt idx="7">
                  <c:v>1.4298619824341279</c:v>
                </c:pt>
                <c:pt idx="8">
                  <c:v>1.3524723487312946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46953710095814"/>
          <c:min val="1.1456580137860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1.385793450881612</c:v>
                </c:pt>
                <c:pt idx="1">
                  <c:v>1.3389645776566756</c:v>
                </c:pt>
                <c:pt idx="2">
                  <c:v>1.2803874092009684</c:v>
                </c:pt>
                <c:pt idx="3">
                  <c:v>1.333613231552163</c:v>
                </c:pt>
                <c:pt idx="4">
                  <c:v>1.67296568627451</c:v>
                </c:pt>
                <c:pt idx="5">
                  <c:v>1.5423764705882352</c:v>
                </c:pt>
                <c:pt idx="6">
                  <c:v>1.4005580357142857</c:v>
                </c:pt>
                <c:pt idx="7">
                  <c:v>1.3604513064133017</c:v>
                </c:pt>
                <c:pt idx="8">
                  <c:v>1.4541353383458648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18524278355412"/>
          <c:min val="1.22150066763993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2.221710758377425</c:v>
                </c:pt>
                <c:pt idx="1">
                  <c:v>2.0838986354775826</c:v>
                </c:pt>
                <c:pt idx="2">
                  <c:v>2.2707272727272727</c:v>
                </c:pt>
                <c:pt idx="3">
                  <c:v>2.2252504638218924</c:v>
                </c:pt>
                <c:pt idx="4">
                  <c:v>2.1553717472118956</c:v>
                </c:pt>
                <c:pt idx="5">
                  <c:v>1.9233127889060093</c:v>
                </c:pt>
                <c:pt idx="6">
                  <c:v>2.230418994413408</c:v>
                </c:pt>
                <c:pt idx="7">
                  <c:v>2.2426998491704375</c:v>
                </c:pt>
                <c:pt idx="8">
                  <c:v>2.44900481540931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7858619384805"/>
          <c:min val="1.84445898493051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024299999999998"/>
          <c:min val="2.17542797101449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023743697479"/>
          <c:min val="2.65398697478991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NISSAN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5.36682334904611"/>
          <c:min val="167.274360582920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147.17883416109635</c:v>
                </c:pt>
                <c:pt idx="1">
                  <c:v>135.63777641695583</c:v>
                </c:pt>
                <c:pt idx="2">
                  <c:v>141.64139075345048</c:v>
                </c:pt>
                <c:pt idx="3">
                  <c:v>139.12898539404827</c:v>
                </c:pt>
                <c:pt idx="4">
                  <c:v>140.79767083404693</c:v>
                </c:pt>
                <c:pt idx="5">
                  <c:v>142.24952097083244</c:v>
                </c:pt>
                <c:pt idx="6">
                  <c:v>142.61742003865575</c:v>
                </c:pt>
                <c:pt idx="7">
                  <c:v>143.95335221631723</c:v>
                </c:pt>
                <c:pt idx="8">
                  <c:v>154.41898907103825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361709691506"/>
          <c:min val="132.820594518843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VOLVO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64618185515627"/>
          <c:min val="205.98882789995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153.1491574232082</c:v>
                </c:pt>
                <c:pt idx="1">
                  <c:v>157.95352962362688</c:v>
                </c:pt>
                <c:pt idx="2">
                  <c:v>156.04347791229054</c:v>
                </c:pt>
                <c:pt idx="3">
                  <c:v>157.37133021424003</c:v>
                </c:pt>
                <c:pt idx="4">
                  <c:v>149.20385916225828</c:v>
                </c:pt>
                <c:pt idx="5">
                  <c:v>155.4821624007061</c:v>
                </c:pt>
                <c:pt idx="6">
                  <c:v>158.9620323488045</c:v>
                </c:pt>
                <c:pt idx="7">
                  <c:v>164.2580469341408</c:v>
                </c:pt>
                <c:pt idx="8">
                  <c:v>162.51214652956298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51617509992317"/>
          <c:min val="146.94573099647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CADILLAC</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169.23952076348527</c:v>
                </c:pt>
                <c:pt idx="1">
                  <c:v>171.362331838565</c:v>
                </c:pt>
                <c:pt idx="2">
                  <c:v>168.18649634020764</c:v>
                </c:pt>
                <c:pt idx="3">
                  <c:v>180.00863368961805</c:v>
                </c:pt>
                <c:pt idx="4">
                  <c:v>151.5942152678995</c:v>
                </c:pt>
                <c:pt idx="5">
                  <c:v>163.62502533205532</c:v>
                </c:pt>
                <c:pt idx="6">
                  <c:v>179.30890045543268</c:v>
                </c:pt>
                <c:pt idx="7">
                  <c:v>175.9947113813166</c:v>
                </c:pt>
                <c:pt idx="8">
                  <c:v>169.93955489368741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27079645287583"/>
          <c:min val="147.332052504641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128.18389112903225</c:v>
                </c:pt>
                <c:pt idx="1">
                  <c:v>143.6304268292683</c:v>
                </c:pt>
                <c:pt idx="2">
                  <c:v>136.9080487804878</c:v>
                </c:pt>
                <c:pt idx="3">
                  <c:v>198.15143617021278</c:v>
                </c:pt>
                <c:pt idx="4">
                  <c:v>159.63840958605664</c:v>
                </c:pt>
                <c:pt idx="5">
                  <c:v>147.4817120622568</c:v>
                </c:pt>
                <c:pt idx="6">
                  <c:v>150.852402717727</c:v>
                </c:pt>
                <c:pt idx="7">
                  <c:v>176.80212672521958</c:v>
                </c:pt>
                <c:pt idx="8">
                  <c:v>139.20603773584907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8.64656792638985"/>
          <c:min val="117.688759372855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233.84593837535013</c:v>
                </c:pt>
                <c:pt idx="1">
                  <c:v>272.64770642201836</c:v>
                </c:pt>
                <c:pt idx="2">
                  <c:v>264.5160053619303</c:v>
                </c:pt>
                <c:pt idx="3">
                  <c:v>300.4536959553696</c:v>
                </c:pt>
                <c:pt idx="4">
                  <c:v>288.36308157099694</c:v>
                </c:pt>
                <c:pt idx="5">
                  <c:v>250.08998518518518</c:v>
                </c:pt>
                <c:pt idx="6">
                  <c:v>321.2700792602378</c:v>
                </c:pt>
                <c:pt idx="7">
                  <c:v>293.4214486638537</c:v>
                </c:pt>
                <c:pt idx="8">
                  <c:v>258.24791976225856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383700392971"/>
          <c:min val="220.732317242616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640.6571929824562</c:v>
                </c:pt>
                <c:pt idx="1">
                  <c:v>906.8386104218363</c:v>
                </c:pt>
                <c:pt idx="2">
                  <c:v>634.7025063291139</c:v>
                </c:pt>
                <c:pt idx="3">
                  <c:v>665.1664390243902</c:v>
                </c:pt>
                <c:pt idx="4">
                  <c:v>689.3056844547564</c:v>
                </c:pt>
                <c:pt idx="5">
                  <c:v>652.1006864988558</c:v>
                </c:pt>
                <c:pt idx="6">
                  <c:v>693.769124726477</c:v>
                </c:pt>
                <c:pt idx="7">
                  <c:v>709.0950352941177</c:v>
                </c:pt>
                <c:pt idx="8">
                  <c:v>1041.912085308057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2.9935221548983"/>
          <c:min val="573.62106948227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879.8076687116564</c:v>
                </c:pt>
                <c:pt idx="1">
                  <c:v>925.1433742331288</c:v>
                </c:pt>
                <c:pt idx="2">
                  <c:v>886.3305590062112</c:v>
                </c:pt>
                <c:pt idx="3">
                  <c:v>953.3849523809523</c:v>
                </c:pt>
                <c:pt idx="4">
                  <c:v>911.7989444444445</c:v>
                </c:pt>
                <c:pt idx="5">
                  <c:v>804.3490058479532</c:v>
                </c:pt>
                <c:pt idx="6">
                  <c:v>1035.5124242424242</c:v>
                </c:pt>
                <c:pt idx="7">
                  <c:v>994.8709444444444</c:v>
                </c:pt>
                <c:pt idx="8">
                  <c:v>934.7331325301205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70.186937001595"/>
          <c:min val="769.6744930887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268.8725</c:v>
                </c:pt>
                <c:pt idx="1">
                  <c:v>180.48355670103092</c:v>
                </c:pt>
                <c:pt idx="2">
                  <c:v>249.92049773755656</c:v>
                </c:pt>
                <c:pt idx="3">
                  <c:v>255.83444915254236</c:v>
                </c:pt>
                <c:pt idx="4">
                  <c:v>224.2878260869565</c:v>
                </c:pt>
                <c:pt idx="5">
                  <c:v>167.36384920634922</c:v>
                </c:pt>
                <c:pt idx="6">
                  <c:v>269.1880172413793</c:v>
                </c:pt>
                <c:pt idx="7">
                  <c:v>279.6357425742574</c:v>
                </c:pt>
                <c:pt idx="8">
                  <c:v>227.57493506493506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6.4765265794436"/>
          <c:min val="150.52306520116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0.39385465162077204</c:v>
                </c:pt>
                <c:pt idx="1">
                  <c:v>0.4104798110566934</c:v>
                </c:pt>
                <c:pt idx="2">
                  <c:v>0.39984615107565896</c:v>
                </c:pt>
                <c:pt idx="3">
                  <c:v>0.4242643654011316</c:v>
                </c:pt>
                <c:pt idx="4">
                  <c:v>0.43535929201653073</c:v>
                </c:pt>
                <c:pt idx="5">
                  <c:v>0.4359650422122587</c:v>
                </c:pt>
                <c:pt idx="6">
                  <c:v>0.4310274406950725</c:v>
                </c:pt>
                <c:pt idx="7">
                  <c:v>0.4257261405886852</c:v>
                </c:pt>
                <c:pt idx="8">
                  <c:v>0.4125780793358778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228160080098167"/>
          <c:min val="0.387538093032049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0.34615649425879996</c:v>
                </c:pt>
                <c:pt idx="1">
                  <c:v>0.3553626019087758</c:v>
                </c:pt>
                <c:pt idx="2">
                  <c:v>0.33286088298414096</c:v>
                </c:pt>
                <c:pt idx="3">
                  <c:v>0.33135079455831645</c:v>
                </c:pt>
                <c:pt idx="4">
                  <c:v>0.36466133494564634</c:v>
                </c:pt>
                <c:pt idx="5">
                  <c:v>0.38118653720091344</c:v>
                </c:pt>
                <c:pt idx="6">
                  <c:v>0.3809185720341265</c:v>
                </c:pt>
                <c:pt idx="7">
                  <c:v>0.37479736400081787</c:v>
                </c:pt>
                <c:pt idx="8">
                  <c:v>0.3350495696231172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661898597303"/>
          <c:min val="0.32387543316192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0.414351536191364</c:v>
                </c:pt>
                <c:pt idx="1">
                  <c:v>0.39318087070517616</c:v>
                </c:pt>
                <c:pt idx="2">
                  <c:v>0.4185113634289955</c:v>
                </c:pt>
                <c:pt idx="3">
                  <c:v>0.3984325401778728</c:v>
                </c:pt>
                <c:pt idx="4">
                  <c:v>0.4275287802058474</c:v>
                </c:pt>
                <c:pt idx="5">
                  <c:v>0.4314231842150624</c:v>
                </c:pt>
                <c:pt idx="6">
                  <c:v>0.40647931761383654</c:v>
                </c:pt>
                <c:pt idx="7">
                  <c:v>0.42811568086149515</c:v>
                </c:pt>
                <c:pt idx="8">
                  <c:v>0.4328714643805786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8825053431889"/>
          <c:min val="0.3872272816538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99456441487204"/>
          <c:min val="0.39318373518301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0.3680342105578381</c:v>
                </c:pt>
                <c:pt idx="1">
                  <c:v>0.3691001034144722</c:v>
                </c:pt>
                <c:pt idx="2">
                  <c:v>0.3670958755466887</c:v>
                </c:pt>
                <c:pt idx="3">
                  <c:v>0.37086270739787763</c:v>
                </c:pt>
                <c:pt idx="4">
                  <c:v>0.3526965626793513</c:v>
                </c:pt>
                <c:pt idx="5">
                  <c:v>0.37527049523033906</c:v>
                </c:pt>
                <c:pt idx="6">
                  <c:v>0.3587371292399778</c:v>
                </c:pt>
                <c:pt idx="7">
                  <c:v>0.3863209963060099</c:v>
                </c:pt>
                <c:pt idx="8">
                  <c:v>0.40033452080355186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748021452218197"/>
          <c:min val="0.3455508689607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review with Tommy, not for the room. Every slide built but not placed in the deck: alternate versions of slides already in it, and slides not yet decided on. In deck order: Gross Trend options A / B / B+Q4, Store Records (six designs), Door Rate options A-E, Internal GP %, CP vs Internal GP % options A-B, Headcount trend, Best Techs option C, Who's Moving Now alternate versions, Most Improved v1. Pick what moves into the deck, then delete this section before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right after the cover, before the Gross section.</a:t>
            </a:r>
          </a:p>
          <a:p>
            <a:r>
              <a:t>Said: Roundtable slides 2, 5, 7, 6 (objective; philosophy &amp; culture; 'you get what you tolerate'; collaboration). Ask adapted from Roundtable slide 24 closing questions.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a:t>
            </a:r>
          </a:p>
          <a:p>
            <a:r>
              <a:t>Said: Roundtable slide 9 ('Service Department?'); Jan GM slide 58 (Sales and Service Relationship).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five and bottom four stores by variance.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Fixed Ops Absorption %.</a:t>
            </a:r>
          </a:p>
          <a:p>
            <a:r>
              <a:t>P&amp;L definition: line 254 Total Gross Profit - Fixed Ops / line 258 Fixed Expenses (the stored line 257 returns a dollar value, so the slide derives it). GMC Prescott includes its body shop, as on the P&amp;L.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Jan-Sep 2026 YTD. Green at or above the group, red below. Bars start at 30.0%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Fixed Ops Absorption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Service Net to Gross %.</a:t>
            </a:r>
          </a:p>
          <a:p>
            <a:r>
              <a:t>P&amp;L Detail statement: DEPARTMENT PROFIT OR LOSS / GROSS PROFIT / INCOME, Mechanical Dept (service) and P&amp;A Dept (parts).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Service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Parts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a:t>
            </a:r>
          </a:p>
          <a:p>
            <a:r>
              <a:t>Said: Roundtable slides 18-19 (KPIs; CP Labor $ per RO).</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a:t>
            </a:r>
          </a:p>
          <a:p>
            <a:r>
              <a:t>Said: Jan/May GM slides on Appointment Scheduling, Appointment Discipline, Phone Call Handling and Retention Management (Jan 2, 7, 9, 11; May 2, 4, 8, 9).</a:t>
            </a:r>
          </a:p>
          <a:p>
            <a:r>
              <a:t>Optional: the Flai voice AI service view (Jul 16-Aug 15 pull: 4,368 of 8,351 transfers rang out) fits here, but it is a different source and period; refresh it before use and keep it off any slide with a P&amp;L number.</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a:t>
            </a:r>
          </a:p>
          <a:p>
            <a:r>
              <a:t>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a:t>
            </a:r>
          </a:p>
          <a:p>
            <a:r>
              <a:t>LR HENDERSON: $1,168 gross per RO x 307 days open a year = $358,484; 6.8 CP ROs a day today</a:t>
            </a:r>
          </a:p>
          <a:p>
            <a:r>
              <a:t>LR LV: $1,142 gross per RO x 307 days open a year = $350,585; 15.2 CP ROs a day today</a:t>
            </a:r>
          </a:p>
          <a:p>
            <a:r>
              <a:t>LR RENO: $1,052 gross per RO x 307 days open a year = $323,117; 6.2 CP ROs a day today</a:t>
            </a:r>
          </a:p>
          <a:p>
            <a:r>
              <a:t>AUDI HENDERSON: $1,030 gross per RO x 307 days open a year = $316,136; 16.4 CP ROs a day today</a:t>
            </a:r>
          </a:p>
          <a:p>
            <a:r>
              <a:t>AUDI RENO: $740 gross per RO x 307 days open a year = $227,297; 17.0 CP ROs a day today</a:t>
            </a:r>
          </a:p>
          <a:p>
            <a:r>
              <a:t>VOLVO: $662 gross per RO x 307 days open a year = $203,362; 14.8 CP ROs a day today</a:t>
            </a:r>
          </a:p>
          <a:p>
            <a:r>
              <a:t>CADILLAC: $509 gross per RO x 307 days open a year = $156,140; 23.2 CP ROs a day today</a:t>
            </a:r>
          </a:p>
          <a:p>
            <a:r>
              <a:t>LINCOLN: $480 gross per RO x 307 days open a year = $147,507; 11.4 CP ROs a day today</a:t>
            </a:r>
          </a:p>
          <a:p>
            <a:r>
              <a:t>LEXUS: $460 gross per RO x 307 days open a year = $141,182; 19.8 CP ROs a day today</a:t>
            </a:r>
          </a:p>
          <a:p>
            <a:r>
              <a:t>VW HENDERSON: $429 gross per RO x 307 days open a year = $131,560; 22.3 CP ROs a day today</a:t>
            </a:r>
          </a:p>
          <a:p>
            <a:r>
              <a:t>NISSAN: $406 gross per RO x 307 days open a year = $124,728; 30.3 CP ROs a day today</a:t>
            </a:r>
          </a:p>
          <a:p>
            <a:r>
              <a:t>CDJR POST FALLS: $399 gross per RO x 307 days open a year = $122,626; 23.3 CP ROs a day today</a:t>
            </a:r>
          </a:p>
          <a:p>
            <a:r>
              <a:t>CHEVY LV: $362 gross per RO x 307 days open a year = $111,273; 84.8 CP ROs a day today</a:t>
            </a:r>
          </a:p>
          <a:p>
            <a:r>
              <a:t>SUBARU ST GEORGE: $357 gross per RO x 307 days open a year = $109,693; 24.1 CP ROs a day today</a:t>
            </a:r>
          </a:p>
          <a:p>
            <a:r>
              <a:t>ACURA: $356 gross per RO x 307 days open a year = $109,151; 15.9 CP ROs a day today</a:t>
            </a:r>
          </a:p>
          <a:p>
            <a:r>
              <a:t>SUBARU LV: $354 gross per RO x 307 days open a year = $108,687; 61.9 CP ROs a day today</a:t>
            </a:r>
          </a:p>
          <a:p>
            <a:r>
              <a:t>HONDA NORTH: $338 gross per RO x 307 days open a year = $103,675; 65.4 CP ROs a day today</a:t>
            </a:r>
          </a:p>
          <a:p>
            <a:r>
              <a:t>HONDA HENDERSON: $337 gross per RO x 307 days open a year = $103,382; 97.8 CP ROs a day today</a:t>
            </a:r>
          </a:p>
          <a:p>
            <a:r>
              <a:t>HONDA SPOKANE: $331 gross per RO x 307 days open a year = $101,516; 38.8 CP ROs a day today</a:t>
            </a:r>
          </a:p>
          <a:p>
            <a:r>
              <a:t>CHEVY GMC BULLHEAD: $314 gross per RO x 307 days open a year = $96,545; 27.4 CP ROs a day today</a:t>
            </a:r>
          </a:p>
          <a:p>
            <a:r>
              <a:t>GMC PRESCOTT: $310 gross per RO x 307 days open a year = $95,050; 13.5 CP ROs a day today</a:t>
            </a:r>
          </a:p>
          <a:p>
            <a:r>
              <a:t>HONDA FLAGSTAFF: $307 gross per RO x 307 days open a year = $94,176; 17.5 CP ROs a day today</a:t>
            </a:r>
          </a:p>
          <a:p>
            <a:r>
              <a:t>VW ST GEORGE: $292 gross per RO x 307 days open a year = $89,636; 8.3 CP ROs a day today</a:t>
            </a:r>
          </a:p>
          <a:p>
            <a:r>
              <a:t>HYUNDAI ST GEORGE: $283 gross per RO x 307 days open a year = $86,985; 14.5 CP ROs a day today</a:t>
            </a:r>
          </a:p>
          <a:p>
            <a:r>
              <a:t>MAZDA: $280 gross per RO x 307 days open a year = $86,010; 24.8 CP ROs a day today</a:t>
            </a:r>
          </a:p>
          <a:p>
            <a:r>
              <a:t>KIA LV: $268 gross per RO x 307 days open a year = $82,314; 35.3 CP ROs a day today</a:t>
            </a:r>
          </a:p>
          <a:p>
            <a:r>
              <a:t>TOYOTA HENDERSON: $242 gross per RO x 307 days open a year = $74,324; 230.5 CP ROs a day today</a:t>
            </a:r>
          </a:p>
          <a:p>
            <a:r>
              <a:t>HYUNDAI PRESCOTT: $237 gross per RO x 307 days open a year = $72,795; 8.7 CP ROs a day today</a:t>
            </a:r>
          </a:p>
          <a:p>
            <a:r>
              <a:t>SUBARU PRESCOTT: $237 gross per RO x 307 days open a year = $72,776; 22.2 CP ROs a day today</a:t>
            </a:r>
          </a:p>
          <a:p>
            <a:r>
              <a:t>TOYOTA PRESCOTT: $237 gross per RO x 307 days open a year = $72,743; 58.6 CP ROs a day today</a:t>
            </a:r>
          </a:p>
          <a:p>
            <a:r>
              <a:t>KIA ST GEORGE: $220 gross per RO x 307 days open a year = $67,614; 17.0 CP ROs a day today</a:t>
            </a:r>
          </a:p>
          <a:p>
            <a:r>
              <a:t>TOYOTA SPOKANE: $217 gross per RO x 307 days open a year = $66,622; 75.5 CP ROs a day today</a:t>
            </a:r>
          </a:p>
          <a:p>
            <a:r>
              <a:t>TOYOTA FLAGSTAFF: $214 gross per RO x 307 days open a year = $65,596; 65.8 CP ROs a day today</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Change in customer-pay hours sold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a:t>
            </a:r>
          </a:p>
          <a:p>
            <a:r>
              <a:t>$4,543,691 = 0.1 x 279,756 CP ROs x $162.42 CP ELR (on the Hours per RO data slide).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Hours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all CP ROs, Jan-Sep 2026 by close date. Same-store, INEOS excluded (opened 2026). GMC Prescott body shop labor types excluded. Each store: 0.1 x its CP RO count x its own customer-pay labor gross and parts gross per sold hour; a year = Jan-Sep x 12 / 9. Gross, not sale, so it will not match the $4,543,691 labor sale on the Hours per RO slide. Gross/yr = labor gross + parts gross a year. Parts assumes the extra hours carry the store's average customer-pay parts gross per sold hour.Talk track: 0.1 hour is six minutes of sold time on a visit - one more inspection item sold, one tire rotation, one cabin filter. Parts gross assumes the extra hours carry the store's usual parts.</a:t>
            </a:r>
          </a:p>
          <a:p>
            <a:r>
              <a:t>TOYOTA HENDERSON: 53,084 CP ROs, 1.47 hrs/RO; +0.1 = $97,028 gross a month, $1,164,334 a year (labor $868,256, parts $296,078)</a:t>
            </a:r>
          </a:p>
          <a:p>
            <a:r>
              <a:t>HONDA HENDERSON: 22,527 CP ROs, 1.97 hrs/RO; +0.1 = $42,821 gross a month, $513,852 a year (labor $396,326, parts $117,527)</a:t>
            </a:r>
          </a:p>
          <a:p>
            <a:r>
              <a:t>CHEVY LV: 19,520 CP ROs, 2.30 hrs/RO; +0.1 = $34,189 gross a month, $410,273 a year (labor $295,521, parts $114,751)</a:t>
            </a:r>
          </a:p>
          <a:p>
            <a:r>
              <a:t>TOYOTA SPOKANE: 17,376 CP ROs, 1.48 hrs/RO; +0.1 = $28,273 gross a month, $339,280 a year (labor $220,993, parts $118,287)</a:t>
            </a:r>
          </a:p>
          <a:p>
            <a:r>
              <a:t>TOYOTA FLAGSTAFF: 15,141 CP ROs, 1.41 hrs/RO; +0.1 = $25,581 gross a month, $306,971 a year (labor $228,073, parts $78,899)</a:t>
            </a:r>
          </a:p>
          <a:p>
            <a:r>
              <a:t>HONDA NORTH: 15,048 CP ROs, 2.02 hrs/RO; +0.1 = $27,949 gross a month, $335,387 a year (labor $243,757, parts $91,630)</a:t>
            </a:r>
          </a:p>
          <a:p>
            <a:r>
              <a:t>SUBARU LV: 14,250 CP ROs, 1.95 hrs/RO; +0.1 = $28,789 gross a month, $345,471 a year (labor $260,598, parts $84,873)</a:t>
            </a:r>
          </a:p>
          <a:p>
            <a:r>
              <a:t>TOYOTA PRESCOTT: 13,490 CP ROs, 1.38 hrs/RO; +0.1 = $25,680 gross a month, $308,157 a year (labor $224,917, parts $83,240)</a:t>
            </a:r>
          </a:p>
          <a:p>
            <a:r>
              <a:t>HONDA SPOKANE: 8,930 CP ROs, 2.01 hrs/RO; +0.1 = $16,345 gross a month, $196,138 a year (labor $136,735, parts $59,403)</a:t>
            </a:r>
          </a:p>
          <a:p>
            <a:r>
              <a:t>KIA LV: 8,133 CP ROs, 1.57 hrs/RO; +0.1 = $15,446 gross a month, $185,357 a year (labor $128,599, parts $56,758)</a:t>
            </a:r>
          </a:p>
          <a:p>
            <a:r>
              <a:t>NISSAN: 6,973 CP ROs, 2.11 hrs/RO; +0.1 = $14,916 gross a month, $178,988 a year (labor $128,448, parts $50,540)</a:t>
            </a:r>
          </a:p>
          <a:p>
            <a:r>
              <a:t>CHEVY GMC BULLHEAD: 6,309 CP ROs, 1.74 hrs/RO; +0.1 = $12,652 gross a month, $151,825 a year (labor $102,262, parts $49,564)</a:t>
            </a:r>
          </a:p>
          <a:p>
            <a:r>
              <a:t>MAZDA: 5,701 CP ROs, 1.46 hrs/RO; +0.1 = $12,192 gross a month, $146,304 a year (labor $105,012, parts $41,292)</a:t>
            </a:r>
          </a:p>
          <a:p>
            <a:r>
              <a:t>SUBARU ST GEORGE: 5,553 CP ROs, 2.30 hrs/RO; +0.1 = $9,589 gross a month, $115,073 a year (labor $75,721, parts $39,353)</a:t>
            </a:r>
          </a:p>
          <a:p>
            <a:r>
              <a:t>CDJR POST FALLS: 5,358 CP ROs, 2.20 hrs/RO; +0.1 = $10,803 gross a month, $129,631 a year (labor $91,262, parts $38,370)</a:t>
            </a:r>
          </a:p>
          <a:p>
            <a:r>
              <a:t>CADILLAC: 5,344 CP ROs, 2.73 hrs/RO; +0.1 = $11,060 gross a month, $132,722 a year (labor $95,285, parts $37,436)</a:t>
            </a:r>
          </a:p>
          <a:p>
            <a:r>
              <a:t>VW HENDERSON: 5,145 CP ROs, 2.49 hrs/RO; +0.1 = $9,835 gross a month, $118,025 a year (labor $89,434, parts $28,590)</a:t>
            </a:r>
          </a:p>
          <a:p>
            <a:r>
              <a:t>SUBARU PRESCOTT: 5,105 CP ROs, 1.60 hrs/RO; +0.1 = $8,418 gross a month, $101,015 a year (labor $70,208, parts $30,807)</a:t>
            </a:r>
          </a:p>
          <a:p>
            <a:r>
              <a:t>LEXUS: 4,567 CP ROs, 2.08 hrs/RO; +0.1 = $11,202 gross a month, $134,424 a year (labor $99,999, parts $34,425)</a:t>
            </a:r>
          </a:p>
          <a:p>
            <a:r>
              <a:t>HONDA FLAGSTAFF: 4,030 CP ROs, 1.67 hrs/RO; +0.1 = $8,249 gross a month, $98,985 a year (labor $68,101, parts $30,883)</a:t>
            </a:r>
          </a:p>
          <a:p>
            <a:r>
              <a:t>AUDI RENO: 3,917 CP ROs, 2.73 hrs/RO; +0.1 = $11,814 gross a month, $141,770 a year (labor $96,704, parts $45,066)</a:t>
            </a:r>
          </a:p>
          <a:p>
            <a:r>
              <a:t>KIA ST GEORGE: 3,912 CP ROs, 1.29 hrs/RO; +0.1 = $7,424 gross a month, $89,084 a year (labor $58,429, parts $30,655)</a:t>
            </a:r>
          </a:p>
          <a:p>
            <a:r>
              <a:t>AUDI HENDERSON: 3,779 CP ROs, 3.48 hrs/RO; +0.1 = $12,411 gross a month, $148,928 a year (labor $113,075, parts $35,853)</a:t>
            </a:r>
          </a:p>
          <a:p>
            <a:r>
              <a:t>ACURA: 3,671 CP ROs, 1.42 hrs/RO; +0.1 = $10,212 gross a month, $122,550 a year (labor $81,713, parts $40,837)</a:t>
            </a:r>
          </a:p>
          <a:p>
            <a:r>
              <a:t>LR LV: 3,496 CP ROs, 3.99 hrs/RO; +0.1 = $11,125 gross a month, $133,501 a year (labor $91,287, parts $42,215)</a:t>
            </a:r>
          </a:p>
          <a:p>
            <a:r>
              <a:t>VOLVO: 3,402 CP ROs, 2.28 hrs/RO; +0.1 = $10,992 gross a month, $131,908 a year (labor $89,257, parts $42,652)</a:t>
            </a:r>
          </a:p>
          <a:p>
            <a:r>
              <a:t>HYUNDAI ST GEORGE: 3,349 CP ROs, 1.43 hrs/RO; +0.1 = $7,381 gross a month, $88,568 a year (labor $61,607, parts $26,961)</a:t>
            </a:r>
          </a:p>
          <a:p>
            <a:r>
              <a:t>GMC PRESCOTT: 3,107 CP ROs, 1.96 hrs/RO; +0.1 = $5,461 gross a month, $65,535 a year (labor $42,792, parts $22,743)</a:t>
            </a:r>
          </a:p>
          <a:p>
            <a:r>
              <a:t>LINCOLN: 2,630 CP ROs, 2.48 hrs/RO; +0.1 = $5,651 gross a month, $67,817 a year (labor $48,880, parts $18,937)</a:t>
            </a:r>
          </a:p>
          <a:p>
            <a:r>
              <a:t>HYUNDAI PRESCOTT: 2,010 CP ROs, 1.64 hrs/RO; +0.1 = $3,238 gross a month, $38,856 a year (labor $23,679, parts $15,178)</a:t>
            </a:r>
          </a:p>
          <a:p>
            <a:r>
              <a:t>VW ST GEORGE: 1,919 CP ROs, 1.71 hrs/RO; +0.1 = $3,646 gross a month, $43,756 a year (labor $27,475, parts $16,281)</a:t>
            </a:r>
          </a:p>
          <a:p>
            <a:r>
              <a:t>LR HENDERSON: 1,559 CP ROs, 3.99 hrs/RO; +0.1 = $5,068 gross a month, $60,821 a year (labor $40,050, parts $20,772)</a:t>
            </a:r>
          </a:p>
          <a:p>
            <a:r>
              <a:t>LR RENO: 1,421 CP ROs, 3.48 hrs/RO; +0.1 = $4,771 gross a month, $57,255 a year (labor $37,516, parts $19,739)</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a:t>
            </a:r>
          </a:p>
          <a:p>
            <a:r>
              <a:t>Said: Roundtable slide 15 (Pricing Strategy); Jan/May GM Road to the Sale slide (pricing lines); Jan GM slide 54 (Discounting Discipline); 70% benchmark from the Jan/May door rate slides.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ELR (and ahead of the door-rate slides).</a:t>
            </a:r>
          </a:p>
          <a:p>
            <a:r>
              <a:t>Roundtable worked example removed from the slide (Noah, Oct 21).</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D - door rate by store, split by labor grid, standard rate only. Store door rate sheet (Oct 15 2026); averages weighted by Jul-Sep CP sold hours. Bars start at $100. INEOS on the sheet but excluded (same-store).</a:t>
            </a:r>
          </a:p>
          <a:p>
            <a:r>
              <a:t>CHEVY LV: premium $264.87 (Diesel/Corvette)</a:t>
            </a:r>
          </a:p>
          <a:p>
            <a:r>
              <a:t>AUDI HENDERSON: premium $399.00 (Lambo Non-Grid)</a:t>
            </a:r>
          </a:p>
          <a:p>
            <a:r>
              <a:t>VW HENDERSON: premium $210.00 (EV)</a:t>
            </a:r>
          </a:p>
          <a:p>
            <a:r>
              <a:t>CHEVY GMC BULLHEAD: premium $199.87 (Non-Standard Grid)</a:t>
            </a:r>
          </a:p>
          <a:p>
            <a:r>
              <a:t>SUBARU ST GEORGE: premium $210.00 (EV)</a:t>
            </a:r>
          </a:p>
          <a:p>
            <a:r>
              <a:t>HONDA FLAGSTAFF: premium $215.00 (EV)</a:t>
            </a:r>
          </a:p>
          <a:p>
            <a:r>
              <a:t>GMC PRESCOTT: premium $230.00 (EV)</a:t>
            </a:r>
          </a:p>
          <a:p>
            <a:r>
              <a:t>KIA ST GEORGE: premium $195.00 (EV)</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a:t>
            </a:r>
          </a:p>
          <a:p>
            <a:r>
              <a:t>AUDI RENO: ELR $244.12 / door $235.87 = 103.4%</a:t>
            </a:r>
          </a:p>
          <a:p>
            <a:r>
              <a:t>VOLVO: ELR $225.50 / door $249.95 = 90.2%</a:t>
            </a:r>
          </a:p>
          <a:p>
            <a:r>
              <a:t>CHEVY GMC BULLHEAD: ELR $161.80 / door $179.87 = 89.9%</a:t>
            </a:r>
          </a:p>
          <a:p>
            <a:r>
              <a:t>HYUNDAI ST GEORGE: ELR $165.96 / door $184.87 = 89.7%</a:t>
            </a:r>
          </a:p>
          <a:p>
            <a:r>
              <a:t>ACURA: ELR $199.04 / door $224.87 = 88.5%</a:t>
            </a:r>
          </a:p>
          <a:p>
            <a:r>
              <a:t>LR RENO: ELR $238.62 / door $275.00 = 86.7%</a:t>
            </a:r>
          </a:p>
          <a:p>
            <a:r>
              <a:t>HONDA FLAGSTAFF: ELR $159.69 / door $185.00 = 86.3%</a:t>
            </a:r>
          </a:p>
          <a:p>
            <a:r>
              <a:t>HONDA SPOKANE: ELR $147.93 / door $179.00 = 82.6%</a:t>
            </a:r>
          </a:p>
          <a:p>
            <a:r>
              <a:t>LEXUS: ELR $187.42 / door $229.95 = 81.5%</a:t>
            </a:r>
          </a:p>
          <a:p>
            <a:r>
              <a:t>CDJR POST FALLS: ELR $161.93 / door $199.95 = 80.9%</a:t>
            </a:r>
          </a:p>
          <a:p>
            <a:r>
              <a:t>TOYOTA PRESCOTT: ELR $155.78 / door $195.00 = 79.8%</a:t>
            </a:r>
          </a:p>
          <a:p>
            <a:r>
              <a:t>LR HENDERSON: ELR $234.48 / door $294.87 = 79.5%</a:t>
            </a:r>
          </a:p>
          <a:p>
            <a:r>
              <a:t>KIA ST GEORGE: ELR $146.04 / door $185.00 = 78.9%</a:t>
            </a:r>
          </a:p>
          <a:p>
            <a:r>
              <a:t>MAZDA: ELR $165.67 / door $209.87 = 78.9%</a:t>
            </a:r>
          </a:p>
          <a:p>
            <a:r>
              <a:t>VW HENDERSON: ELR $160.84 / door $204.87 = 78.5%</a:t>
            </a:r>
          </a:p>
          <a:p>
            <a:r>
              <a:t>VW ST GEORGE: ELR $141.89 / door $184.87 = 76.7%</a:t>
            </a:r>
          </a:p>
          <a:p>
            <a:r>
              <a:t>AUDI HENDERSON: ELR $266.72 / door $348.87 = 76.4%</a:t>
            </a:r>
          </a:p>
          <a:p>
            <a:r>
              <a:t>LR LV: ELR $233.88 / door $310.00 = 75.4%</a:t>
            </a:r>
          </a:p>
          <a:p>
            <a:r>
              <a:t>SUBARU LV: ELR $162.12 / door $215.37 = 75.2%</a:t>
            </a:r>
          </a:p>
          <a:p>
            <a:r>
              <a:t>NISSAN: ELR $180.14 / door $239.87 = 75.1%</a:t>
            </a:r>
          </a:p>
          <a:p>
            <a:r>
              <a:t>TOYOTA FLAGSTAFF: ELR $142.51 / door $190.00 = 75.0%</a:t>
            </a:r>
          </a:p>
          <a:p>
            <a:r>
              <a:t>SUBARU ST GEORGE: ELR $136.71 / door $185.00 = 73.8%</a:t>
            </a:r>
          </a:p>
          <a:p>
            <a:r>
              <a:t>TOYOTA HENDERSON: ELR $154.55 / door $211.26 = 73.1%</a:t>
            </a:r>
          </a:p>
          <a:p>
            <a:r>
              <a:t>HONDA HENDERSON: ELR $153.45 / door $211.87 = 72.4%</a:t>
            </a:r>
          </a:p>
          <a:p>
            <a:r>
              <a:t>HONDA NORTH: ELR $149.70 / door $211.87 = 70.6%</a:t>
            </a:r>
          </a:p>
          <a:p>
            <a:r>
              <a:t>KIA LV: ELR $150.72 / door $219.87 = 68.5%</a:t>
            </a:r>
          </a:p>
          <a:p>
            <a:r>
              <a:t>LINCOLN: ELR $167.22 / door $244.87 = 68.2%</a:t>
            </a:r>
          </a:p>
          <a:p>
            <a:r>
              <a:t>TOYOTA SPOKANE: ELR $124.92 / door $185.00 = 67.5%</a:t>
            </a:r>
          </a:p>
          <a:p>
            <a:r>
              <a:t>GMC PRESCOTT: ELR $146.92 / door $220.00 = 66.7%</a:t>
            </a:r>
          </a:p>
          <a:p>
            <a:r>
              <a:t>SUBARU PRESCOTT: ELR $139.81 / door $210.00 = 66.5%</a:t>
            </a:r>
          </a:p>
          <a:p>
            <a:r>
              <a:t>CHEVY LV: ELR $146.25 / door $224.87 = 65.0%</a:t>
            </a:r>
          </a:p>
          <a:p>
            <a:r>
              <a:t>HYUNDAI PRESCOTT: ELR $136.12 / door $210.00 = 64.8%</a:t>
            </a:r>
          </a:p>
          <a:p>
            <a:r>
              <a:t>CADILLAC: ELR $175.47 / door $285.00 = 61.5%</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a:t>
            </a:r>
          </a:p>
          <a:p>
            <a:r>
              <a:t>1.87 x $162.42 = $303.73, which rounds to the $304 on the data slide.</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 per RO.</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sale / all customer-pay ROs (governed Parts Sale/RO).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sale / all customer-pay ROs (governed Parts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Parts $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CP Labor Gross Profit %.</a:t>
            </a:r>
          </a:p>
          <a:p>
            <a:r>
              <a:t>Said: Roundtable slide 21 (Gross Profit %). Above 80% can mean techs are underpaid on the work they do; below 78% means the job mix or the dispatch is off.</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a:t>
            </a:r>
          </a:p>
          <a:p>
            <a:r>
              <a:t>Example: Roundtable slide 21, every job at a $25 tech rate; margins differ because each job's ELR differs.</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Roundtable target 78-80%.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Roundtable target 78-80%. Jan-Sep 2026 YTD. Green at or above the group, red below. Bars start at 60.0%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Labor Mix section, after the section break and before the pay type slides.</a:t>
            </a:r>
          </a:p>
          <a:p>
            <a:r>
              <a:t>Said: Jan GM slide 8 / May GM slide 7 (Express Service).</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Jan-Sep 2026 shares of labor sale; sorted by customer-pay share. Bar labels are percent of labor sale; every value is also listed here.</a:t>
            </a:r>
          </a:p>
          <a:p>
            <a:r>
              <a:t>HONDA SPOKANE: CP 70.3%, W 8.0%, I 21.6%</a:t>
            </a:r>
          </a:p>
          <a:p>
            <a:r>
              <a:t>TOYOTA SPOKANE: CP 65.3%, W 15.5%, I 19.2%</a:t>
            </a:r>
          </a:p>
          <a:p>
            <a:r>
              <a:t>TOYOTA FLAGSTAFF: CP 65.1%, W 11.2%, I 23.7%</a:t>
            </a:r>
          </a:p>
          <a:p>
            <a:r>
              <a:t>HONDA FLAGSTAFF: CP 65.1%, W 11.9%, I 23.0%</a:t>
            </a:r>
          </a:p>
          <a:p>
            <a:r>
              <a:t>LR LV: CP 64.9%, W 25.2%, I 10.0%</a:t>
            </a:r>
          </a:p>
          <a:p>
            <a:r>
              <a:t>VOLVO: CP 62.9%, W 23.1%, I 14.0%</a:t>
            </a:r>
          </a:p>
          <a:p>
            <a:r>
              <a:t>LR RENO: CP 61.5%, W 17.2%, I 21.3%</a:t>
            </a:r>
          </a:p>
          <a:p>
            <a:r>
              <a:t>TOYOTA PRESCOTT: CP 60.5%, W 13.8%, I 25.8%</a:t>
            </a:r>
          </a:p>
          <a:p>
            <a:r>
              <a:t>AUDI RENO: CP 59.7%, W 29.1%, I 11.2%</a:t>
            </a:r>
          </a:p>
          <a:p>
            <a:r>
              <a:t>CDJR POST FALLS: CP 59.5%, W 23.6%, I 16.9%</a:t>
            </a:r>
          </a:p>
          <a:p>
            <a:r>
              <a:t>NISSAN: CP 59.4%, W 17.7%, I 22.9%</a:t>
            </a:r>
          </a:p>
          <a:p>
            <a:r>
              <a:t>SUBARU ST GEORGE: CP 59.0%, W 23.5%, I 17.5%</a:t>
            </a:r>
          </a:p>
          <a:p>
            <a:r>
              <a:t>SUBARU LV: CP 58.0%, W 24.2%, I 17.7%</a:t>
            </a:r>
          </a:p>
          <a:p>
            <a:r>
              <a:t>HONDA NORTH: CP 57.9%, W 13.5%, I 28.6%</a:t>
            </a:r>
          </a:p>
          <a:p>
            <a:r>
              <a:t>TOYOTA HENDERSON: CP 57.3%, W 14.8%, I 27.9%</a:t>
            </a:r>
          </a:p>
          <a:p>
            <a:r>
              <a:t>MAZDA: CP 56.6%, W 12.4%, I 31.0%</a:t>
            </a:r>
          </a:p>
          <a:p>
            <a:r>
              <a:t>HONDA HENDERSON: CP 56.6%, W 10.2%, I 33.3%</a:t>
            </a:r>
          </a:p>
          <a:p>
            <a:r>
              <a:t>VW ST GEORGE: CP 55.8%, W 31.0%, I 13.2%</a:t>
            </a:r>
          </a:p>
          <a:p>
            <a:r>
              <a:t>LR HENDERSON: CP 55.3%, W 20.2%, I 24.5%</a:t>
            </a:r>
          </a:p>
          <a:p>
            <a:r>
              <a:t>LEXUS: CP 54.5%, W 13.1%, I 32.4%</a:t>
            </a:r>
          </a:p>
          <a:p>
            <a:r>
              <a:t>SUBARU PRESCOTT: CP 50.8%, W 19.2%, I 30.0%</a:t>
            </a:r>
          </a:p>
          <a:p>
            <a:r>
              <a:t>ACURA: CP 48.7%, W 15.5%, I 35.8%</a:t>
            </a:r>
          </a:p>
          <a:p>
            <a:r>
              <a:t>GMC PRESCOTT: CP 48.0%, W 23.1%, I 29.0%</a:t>
            </a:r>
          </a:p>
          <a:p>
            <a:r>
              <a:t>VW HENDERSON: CP 47.2%, W 40.1%, I 12.8%</a:t>
            </a:r>
          </a:p>
          <a:p>
            <a:r>
              <a:t>CHEVY LV: CP 47.0%, W 28.1%, I 24.9%</a:t>
            </a:r>
          </a:p>
          <a:p>
            <a:r>
              <a:t>CHEVY GMC BULLHEAD: CP 45.3%, W 14.3%, I 40.4%</a:t>
            </a:r>
          </a:p>
          <a:p>
            <a:r>
              <a:t>LINCOLN: CP 44.6%, W 37.5%, I 17.8%</a:t>
            </a:r>
          </a:p>
          <a:p>
            <a:r>
              <a:t>HYUNDAI ST GEORGE: CP 40.3%, W 34.9%, I 24.8%</a:t>
            </a:r>
          </a:p>
          <a:p>
            <a:r>
              <a:t>KIA ST GEORGE: CP 40.0%, W 38.4%, I 21.7%</a:t>
            </a:r>
          </a:p>
          <a:p>
            <a:r>
              <a:t>KIA LV: CP 39.2%, W 31.5%, I 29.2%</a:t>
            </a:r>
          </a:p>
          <a:p>
            <a:r>
              <a:t>AUDI HENDERSON: CP 34.1%, W 52.2%, I 13.7%</a:t>
            </a:r>
          </a:p>
          <a:p>
            <a:r>
              <a:t>HYUNDAI PRESCOTT: CP 28.5%, W 35.7%, I 35.8%</a:t>
            </a:r>
          </a:p>
          <a:p>
            <a:r>
              <a:t>CADILLAC: CP 27.9%, W 51.3%, I 20.7%</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Customer-pay labor sale / total labor sale (customer pay + warranty + internal).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Change in Customer Pay Share of Labor Sale,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a:p>
            <a:r>
              <a:t>HONDA HENDERSON: M 71.2%, R 24.6%, U 4.2%</a:t>
            </a:r>
          </a:p>
          <a:p>
            <a:r>
              <a:t>TOYOTA PRESCOTT: M 69.4%, R 25.1%, U 5.5%</a:t>
            </a:r>
          </a:p>
          <a:p>
            <a:r>
              <a:t>TOYOTA HENDERSON: M 68.0%, R 24.7%, U 7.3%</a:t>
            </a:r>
          </a:p>
          <a:p>
            <a:r>
              <a:t>LEXUS: M 67.1%, R 22.0%, U 10.9%</a:t>
            </a:r>
          </a:p>
          <a:p>
            <a:r>
              <a:t>HONDA FLAGSTAFF: M 66.4%, R 25.5%, U 8.1%</a:t>
            </a:r>
          </a:p>
          <a:p>
            <a:r>
              <a:t>HONDA NORTH: M 65.9%, R 29.5%, U 4.6%</a:t>
            </a:r>
          </a:p>
          <a:p>
            <a:r>
              <a:t>MAZDA: M 63.9%, R 21.3%, U 14.8%</a:t>
            </a:r>
          </a:p>
          <a:p>
            <a:r>
              <a:t>ACURA: M 62.0%, R 25.6%, U 12.4%</a:t>
            </a:r>
          </a:p>
          <a:p>
            <a:r>
              <a:t>TOYOTA FLAGSTAFF: M 61.6%, R 13.1%, U 25.3%</a:t>
            </a:r>
          </a:p>
          <a:p>
            <a:r>
              <a:t>TOYOTA SPOKANE: M 60.0%, R 26.4%, U 13.6%</a:t>
            </a:r>
          </a:p>
          <a:p>
            <a:r>
              <a:t>KIA LV: M 59.7%, R 31.1%, U 9.2%</a:t>
            </a:r>
          </a:p>
          <a:p>
            <a:r>
              <a:t>SUBARU PRESCOTT: M 59.2%, R 1.5%, U 39.3%</a:t>
            </a:r>
          </a:p>
          <a:p>
            <a:r>
              <a:t>SUBARU ST GEORGE: M 59.0%, R 26.6%, U 14.4%</a:t>
            </a:r>
          </a:p>
          <a:p>
            <a:r>
              <a:t>LR HENDERSON: M 58.8%, R 32.2%, U 9.0%</a:t>
            </a:r>
          </a:p>
          <a:p>
            <a:r>
              <a:t>HYUNDAI ST GEORGE: M 58.3%, R 18.2%, U 23.5%</a:t>
            </a:r>
          </a:p>
          <a:p>
            <a:r>
              <a:t>HYUNDAI PRESCOTT: M 56.8%, R 23.9%, U 19.3%</a:t>
            </a:r>
          </a:p>
          <a:p>
            <a:r>
              <a:t>LR RENO: M 56.8%, R 23.9%, U 19.3%</a:t>
            </a:r>
          </a:p>
          <a:p>
            <a:r>
              <a:t>SUBARU LV: M 55.1%, R 35.4%, U 9.5%</a:t>
            </a:r>
          </a:p>
          <a:p>
            <a:r>
              <a:t>KIA ST GEORGE: M 55.1%, R 29.6%, U 15.3%</a:t>
            </a:r>
          </a:p>
          <a:p>
            <a:r>
              <a:t>HONDA SPOKANE: M 48.6%, R 41.4%, U 10.0%</a:t>
            </a:r>
          </a:p>
          <a:p>
            <a:r>
              <a:t>VOLVO: M 43.9%, R 41.7%, U 14.4%</a:t>
            </a:r>
          </a:p>
          <a:p>
            <a:r>
              <a:t>LR LV: M 43.0%, R 30.0%, U 27.0%</a:t>
            </a:r>
          </a:p>
          <a:p>
            <a:r>
              <a:t>LINCOLN: M 42.8%, R 28.9%, U 28.3%</a:t>
            </a:r>
          </a:p>
          <a:p>
            <a:r>
              <a:t>VW HENDERSON: M 41.0%, R 51.3%, U 7.7%</a:t>
            </a:r>
          </a:p>
          <a:p>
            <a:r>
              <a:t>CHEVY LV: M 40.6%, R 48.3%, U 11.1%</a:t>
            </a:r>
          </a:p>
          <a:p>
            <a:r>
              <a:t>NISSAN: M 40.2%, R 41.9%, U 17.9%</a:t>
            </a:r>
          </a:p>
          <a:p>
            <a:r>
              <a:t>CHEVY GMC BULLHEAD: M 38.4%, R 32.6%, U 29.0%</a:t>
            </a:r>
          </a:p>
          <a:p>
            <a:r>
              <a:t>AUDI HENDERSON: M 35.1%, R 37.8%, U 27.1%</a:t>
            </a:r>
          </a:p>
          <a:p>
            <a:r>
              <a:t>GMC PRESCOTT: M 33.9%, R 2.6%, U 63.5%</a:t>
            </a:r>
          </a:p>
          <a:p>
            <a:r>
              <a:t>CADILLAC: M 32.8%, R 54.6%, U 12.6%</a:t>
            </a:r>
          </a:p>
          <a:p>
            <a:r>
              <a:t>AUDI RENO: M 32.2%, R 29.7%, U 38.1%</a:t>
            </a:r>
          </a:p>
          <a:p>
            <a:r>
              <a:t>VW ST GEORGE: M 27.5%, R 27.4%, U 45.1%</a:t>
            </a:r>
          </a:p>
          <a:p>
            <a:r>
              <a:t>CDJR POST FALLS: M 26.5%, R 21.7%, U 51.8%</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Share of CP labor sale whose op code description matches neither the maintenance nor the repair rules, Jan-Sep 2026. Lower is better: green at or below the group, red above.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Labor Mix section, before the work-type (maintenance / repair / unclassified) slides.</a:t>
            </a:r>
          </a:p>
          <a:p>
            <a:r>
              <a:t>Said: Jan GM slide 19 / May GM slide 15 (Tracking &amp; Accountability); Roundtable slide 16 (Performance Tracking).</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a:t>
            </a:r>
          </a:p>
          <a:p>
            <a:r>
              <a:t>Said: Roundtable slides 11, 12, 14 (Road to the Sale, Maintenance Menus, MPI Mandate); Jan GM slide 15 / May GM slide 11 (Road to the Sale). Fuel service is 5.8% vs 7.5% (4,731 short).</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a:t>
            </a:r>
          </a:p>
          <a:p>
            <a:r>
              <a:t>Denominator: CP ROs on the op code report basis (excluding ROs flagged out of the report).</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ALIGNMENT % = alignment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a:t>
            </a:r>
          </a:p>
          <a:p>
            <a:r>
              <a:t>AUDI HENDERSON: 27.5% (2025 21.8%)</a:t>
            </a:r>
          </a:p>
          <a:p>
            <a:r>
              <a:t>LR HENDERSON: 24.4% (2025 19.4%)</a:t>
            </a:r>
          </a:p>
          <a:p>
            <a:r>
              <a:t>HYUNDAI PRESCOTT: 21.8% (2025 15.0%)</a:t>
            </a:r>
          </a:p>
          <a:p>
            <a:r>
              <a:t>HONDA HENDERSON: 21.3% (2025 20.7%)</a:t>
            </a:r>
          </a:p>
          <a:p>
            <a:r>
              <a:t>ACURA: 17.5% (2025 14.2%)</a:t>
            </a:r>
          </a:p>
          <a:p>
            <a:r>
              <a:t>LR LV: 17.4% (2025 11.4%)</a:t>
            </a:r>
          </a:p>
          <a:p>
            <a:r>
              <a:t>MAZDA: 16.7% (2025 10.0%)</a:t>
            </a:r>
          </a:p>
          <a:p>
            <a:r>
              <a:t>HONDA NORTH: 16.2% (2025 15.0%)</a:t>
            </a:r>
          </a:p>
          <a:p>
            <a:r>
              <a:t>HYUNDAI ST GEORGE: 14.8% (2025 5.2%)</a:t>
            </a:r>
          </a:p>
          <a:p>
            <a:r>
              <a:t>SUBARU LV: 14.6% (2025 16.1%)</a:t>
            </a:r>
          </a:p>
          <a:p>
            <a:r>
              <a:t>TOYOTA HENDERSON: 14.5% (2025 15.1%)</a:t>
            </a:r>
          </a:p>
          <a:p>
            <a:r>
              <a:t>CADILLAC: 13.9% (2025 9.7%)</a:t>
            </a:r>
          </a:p>
          <a:p>
            <a:r>
              <a:t>VOLVO: 13.9% (2025 13.5%)</a:t>
            </a:r>
          </a:p>
          <a:p>
            <a:r>
              <a:t>VW HENDERSON: 13.6% (2025 13.5%)</a:t>
            </a:r>
          </a:p>
          <a:p>
            <a:r>
              <a:t>LR RENO: 12.9% (2025 17.7%)</a:t>
            </a:r>
          </a:p>
          <a:p>
            <a:r>
              <a:t>CHEVY LV: 12.9% (2025 13.4%)</a:t>
            </a:r>
          </a:p>
          <a:p>
            <a:r>
              <a:t>SUBARU PRESCOTT: 12.6% (2025 7.1%)</a:t>
            </a:r>
          </a:p>
          <a:p>
            <a:r>
              <a:t>HONDA SPOKANE: 12.5% (2025 10.8%)</a:t>
            </a:r>
          </a:p>
          <a:p>
            <a:r>
              <a:t>TOYOTA PRESCOTT: 12.3% (2025 9.5%)</a:t>
            </a:r>
          </a:p>
          <a:p>
            <a:r>
              <a:t>AUDI RENO: 11.8% (2025 11.7%)</a:t>
            </a:r>
          </a:p>
          <a:p>
            <a:r>
              <a:t>GMC PRESCOTT: 11.7% (2025 5.0%)</a:t>
            </a:r>
          </a:p>
          <a:p>
            <a:r>
              <a:t>LEXUS: 11.4% (2025 8.3%)</a:t>
            </a:r>
          </a:p>
          <a:p>
            <a:r>
              <a:t>CHEVY GMC BULLHEAD: 11.1% (2025 11.2%)</a:t>
            </a:r>
          </a:p>
          <a:p>
            <a:r>
              <a:t>HONDA FLAGSTAFF: 11.1% (2025 5.6%)</a:t>
            </a:r>
          </a:p>
          <a:p>
            <a:r>
              <a:t>SUBARU ST GEORGE: 11.1% (2025 11.9%)</a:t>
            </a:r>
          </a:p>
          <a:p>
            <a:r>
              <a:t>KIA LV: 9.8% (2025 13.3%)</a:t>
            </a:r>
          </a:p>
          <a:p>
            <a:r>
              <a:t>TOYOTA FLAGSTAFF: 9.7% (2025 6.3%)</a:t>
            </a:r>
          </a:p>
          <a:p>
            <a:r>
              <a:t>LINCOLN: 8.4% (2025 2.7%)</a:t>
            </a:r>
          </a:p>
          <a:p>
            <a:r>
              <a:t>KIA ST GEORGE: 8.0% (2025 2.5%)</a:t>
            </a:r>
          </a:p>
          <a:p>
            <a:r>
              <a:t>NISSAN: 7.5% (2025 5.3%)</a:t>
            </a:r>
          </a:p>
          <a:p>
            <a:r>
              <a:t>VW ST GEORGE: 5.6% (2025 3.9%)</a:t>
            </a:r>
          </a:p>
          <a:p>
            <a:r>
              <a:t>TOYOTA SPOKANE: 4.3% (2025 2.6%)</a:t>
            </a:r>
          </a:p>
          <a:p>
            <a:r>
              <a:t>CDJR POST FALLS: 4.2% (2025 1.8%)</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alignment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BALANCE % = balance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 CHECK OP-CODE MAPPING - under 0.5%: TOYOTA SPOKANE, LEXUS, AUDI RENO, AUDI HENDERSON, VW ST GEORGE. Near zero in 2025, so year-over-year gain may be mapping: HONDA SPOKANE, SUBARU PRESCOTT.</a:t>
            </a:r>
          </a:p>
          <a:p>
            <a:r>
              <a:t>LR HENDERSON: 27.0% (2025 22.9%)</a:t>
            </a:r>
          </a:p>
          <a:p>
            <a:r>
              <a:t>HONDA HENDERSON: 18.4% (2025 17.7%)</a:t>
            </a:r>
          </a:p>
          <a:p>
            <a:r>
              <a:t>LR LV: 17.0% (2025 3.4%)</a:t>
            </a:r>
          </a:p>
          <a:p>
            <a:r>
              <a:t>LR RENO: 17.0% (2025 16.3%)</a:t>
            </a:r>
          </a:p>
          <a:p>
            <a:r>
              <a:t>SUBARU PRESCOTT: 15.0% (2025 0.1%)</a:t>
            </a:r>
          </a:p>
          <a:p>
            <a:r>
              <a:t>ACURA: 14.1% (2025 10.3%)</a:t>
            </a:r>
          </a:p>
          <a:p>
            <a:r>
              <a:t>HYUNDAI PRESCOTT: 13.5% (2025 8.9%)</a:t>
            </a:r>
          </a:p>
          <a:p>
            <a:r>
              <a:t>MAZDA: 13.2% (2025 6.5%)</a:t>
            </a:r>
          </a:p>
          <a:p>
            <a:r>
              <a:t>HONDA NORTH: 12.0% (2025 11.3%)</a:t>
            </a:r>
          </a:p>
          <a:p>
            <a:r>
              <a:t>VOLVO: 11.7% (2025 10.9%)</a:t>
            </a:r>
          </a:p>
          <a:p>
            <a:r>
              <a:t>TOYOTA HENDERSON: 11.2% (2025 11.7%)</a:t>
            </a:r>
          </a:p>
          <a:p>
            <a:r>
              <a:t>SUBARU LV: 10.2% (2025 11.3%)</a:t>
            </a:r>
          </a:p>
          <a:p>
            <a:r>
              <a:t>CHEVY GMC BULLHEAD: 9.1% (2025 6.5%)</a:t>
            </a:r>
          </a:p>
          <a:p>
            <a:r>
              <a:t>VW HENDERSON: 8.3% (2025 7.0%)</a:t>
            </a:r>
          </a:p>
          <a:p>
            <a:r>
              <a:t>GMC PRESCOTT: 7.8% (2025 2.0%)</a:t>
            </a:r>
          </a:p>
          <a:p>
            <a:r>
              <a:t>KIA ST GEORGE: 7.7% (2025 1.1%)</a:t>
            </a:r>
          </a:p>
          <a:p>
            <a:r>
              <a:t>CHEVY LV: 7.3% (2025 4.2%)</a:t>
            </a:r>
          </a:p>
          <a:p>
            <a:r>
              <a:t>TOYOTA PRESCOTT: 6.2% (2025 3.3%)</a:t>
            </a:r>
          </a:p>
          <a:p>
            <a:r>
              <a:t>CADILLAC: 6.0% (2025 2.6%)</a:t>
            </a:r>
          </a:p>
          <a:p>
            <a:r>
              <a:t>KIA LV: 5.2% (2025 6.6%)</a:t>
            </a:r>
          </a:p>
          <a:p>
            <a:r>
              <a:t>TOYOTA FLAGSTAFF: 4.9% (2025 3.7%)</a:t>
            </a:r>
          </a:p>
          <a:p>
            <a:r>
              <a:t>SUBARU ST GEORGE: 3.7% (2025 5.3%)</a:t>
            </a:r>
          </a:p>
          <a:p>
            <a:r>
              <a:t>HONDA SPOKANE: 2.2% (2025 0.1%)</a:t>
            </a:r>
          </a:p>
          <a:p>
            <a:r>
              <a:t>LINCOLN: 1.7% (2025 0.0%)</a:t>
            </a:r>
          </a:p>
          <a:p>
            <a:r>
              <a:t>HONDA FLAGSTAFF: 1.3% (2025 0.2%)</a:t>
            </a:r>
          </a:p>
          <a:p>
            <a:r>
              <a:t>CDJR POST FALLS: 1.3% (2025 0.2%)</a:t>
            </a:r>
          </a:p>
          <a:p>
            <a:r>
              <a:t>HYUNDAI ST GEORGE: 1.2% (2025 0.4%)</a:t>
            </a:r>
          </a:p>
          <a:p>
            <a:r>
              <a:t>NISSAN: 1.1% (2025 2.6%)</a:t>
            </a:r>
          </a:p>
          <a:p>
            <a:r>
              <a:t>TOYOTA SPOKANE: 0.5% (2025 0.3%)</a:t>
            </a:r>
          </a:p>
          <a:p>
            <a:r>
              <a:t>VW ST GEORGE: 0.4% (2025 0.7%)</a:t>
            </a:r>
          </a:p>
          <a:p>
            <a:r>
              <a:t>AUDI RENO: 0.1% (2025 0.2%)</a:t>
            </a:r>
          </a:p>
          <a:p>
            <a:r>
              <a:t>LEXUS: 0.1% (2025 0.1%)</a:t>
            </a:r>
          </a:p>
          <a:p>
            <a:r>
              <a:t>AUDI HENDERSON: 0.0% (2025 0.0%)</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balance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BRAKE FLUID % = brake fluid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10% benchmark, red below.</a:t>
            </a:r>
          </a:p>
          <a:p>
            <a:r>
              <a:t>LR LV: 20.7% (2025 15.2%)</a:t>
            </a:r>
          </a:p>
          <a:p>
            <a:r>
              <a:t>HONDA HENDERSON: 15.6% (2025 12.9%)</a:t>
            </a:r>
          </a:p>
          <a:p>
            <a:r>
              <a:t>LR HENDERSON: 14.3% (2025 9.0%)</a:t>
            </a:r>
          </a:p>
          <a:p>
            <a:r>
              <a:t>ACURA: 12.7% (2025 8.6%)</a:t>
            </a:r>
          </a:p>
          <a:p>
            <a:r>
              <a:t>HONDA NORTH: 12.1% (2025 13.1%)</a:t>
            </a:r>
          </a:p>
          <a:p>
            <a:r>
              <a:t>VOLVO: 11.9% (2025 12.1%)</a:t>
            </a:r>
          </a:p>
          <a:p>
            <a:r>
              <a:t>NISSAN: 11.6% (2025 3.8%)</a:t>
            </a:r>
          </a:p>
          <a:p>
            <a:r>
              <a:t>SUBARU ST GEORGE: 10.8% (2025 11.0%)</a:t>
            </a:r>
          </a:p>
          <a:p>
            <a:r>
              <a:t>SUBARU PRESCOTT: 10.6% (2025 6.4%)</a:t>
            </a:r>
          </a:p>
          <a:p>
            <a:r>
              <a:t>HONDA SPOKANE: 10.3% (2025 9.8%)</a:t>
            </a:r>
          </a:p>
          <a:p>
            <a:r>
              <a:t>SUBARU LV: 10.1% (2025 9.3%)</a:t>
            </a:r>
          </a:p>
          <a:p>
            <a:r>
              <a:t>TOYOTA HENDERSON: 10.1% (2025 9.7%)</a:t>
            </a:r>
          </a:p>
          <a:p>
            <a:r>
              <a:t>HYUNDAI PRESCOTT: 9.7% (2025 8.1%)</a:t>
            </a:r>
          </a:p>
          <a:p>
            <a:r>
              <a:t>VW HENDERSON: 9.5% (2025 7.8%)</a:t>
            </a:r>
          </a:p>
          <a:p>
            <a:r>
              <a:t>MAZDA: 8.5% (2025 4.6%)</a:t>
            </a:r>
          </a:p>
          <a:p>
            <a:r>
              <a:t>TOYOTA PRESCOTT: 8.4% (2025 6.1%)</a:t>
            </a:r>
          </a:p>
          <a:p>
            <a:r>
              <a:t>LEXUS: 8.4% (2025 4.9%)</a:t>
            </a:r>
          </a:p>
          <a:p>
            <a:r>
              <a:t>KIA LV: 8.3% (2025 7.2%)</a:t>
            </a:r>
          </a:p>
          <a:p>
            <a:r>
              <a:t>TOYOTA FLAGSTAFF: 8.1% (2025 7.3%)</a:t>
            </a:r>
          </a:p>
          <a:p>
            <a:r>
              <a:t>LINCOLN: 7.5% (2025 2.4%)</a:t>
            </a:r>
          </a:p>
          <a:p>
            <a:r>
              <a:t>LR RENO: 7.2% (2025 2.5%)</a:t>
            </a:r>
          </a:p>
          <a:p>
            <a:r>
              <a:t>CHEVY GMC BULLHEAD: 7.1% (2025 3.8%)</a:t>
            </a:r>
          </a:p>
          <a:p>
            <a:r>
              <a:t>TOYOTA SPOKANE: 7.0% (2025 6.8%)</a:t>
            </a:r>
          </a:p>
          <a:p>
            <a:r>
              <a:t>GMC PRESCOTT: 6.1% (2025 4.6%)</a:t>
            </a:r>
          </a:p>
          <a:p>
            <a:r>
              <a:t>KIA ST GEORGE: 6.0% (2025 3.8%)</a:t>
            </a:r>
          </a:p>
          <a:p>
            <a:r>
              <a:t>CHEVY LV: 5.8% (2025 5.3%)</a:t>
            </a:r>
          </a:p>
          <a:p>
            <a:r>
              <a:t>VW ST GEORGE: 5.4% (2025 4.0%)</a:t>
            </a:r>
          </a:p>
          <a:p>
            <a:r>
              <a:t>HYUNDAI ST GEORGE: 4.7% (2025 1.6%)</a:t>
            </a:r>
          </a:p>
          <a:p>
            <a:r>
              <a:t>CADILLAC: 4.7% (2025 4.1%)</a:t>
            </a:r>
          </a:p>
          <a:p>
            <a:r>
              <a:t>CDJR POST FALLS: 4.2% (2025 6.0%)</a:t>
            </a:r>
          </a:p>
          <a:p>
            <a:r>
              <a:t>HONDA FLAGSTAFF: 3.2% (2025 2.4%)</a:t>
            </a:r>
          </a:p>
          <a:p>
            <a:r>
              <a:t>AUDI HENDERSON: 2.5% (2025 1.8%)</a:t>
            </a:r>
          </a:p>
          <a:p>
            <a:r>
              <a:t>AUDI RENO: 1.9% (2025 0.5%)</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brake fluid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FUEL SERVICE % = fuel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7.5% benchmark, red below. CHECK OP-CODE MAPPING - under 0.5%: VW HENDERSON, AUDI HENDERSON, VOLVO. Near zero in 2025, so year-over-year gain may be mapping: HONDA SPOKANE, SUBARU ST GEORGE, LR LV, LR RENO.</a:t>
            </a:r>
          </a:p>
          <a:p>
            <a:r>
              <a:t>SUBARU ST GEORGE: 13.8% (2025 0.0%)</a:t>
            </a:r>
          </a:p>
          <a:p>
            <a:r>
              <a:t>HONDA HENDERSON: 12.0% (2025 10.4%)</a:t>
            </a:r>
          </a:p>
          <a:p>
            <a:r>
              <a:t>SUBARU PRESCOTT: 9.8% (2025 5.9%)</a:t>
            </a:r>
          </a:p>
          <a:p>
            <a:r>
              <a:t>ACURA: 9.4% (2025 5.4%)</a:t>
            </a:r>
          </a:p>
          <a:p>
            <a:r>
              <a:t>KIA ST GEORGE: 8.9% (2025 5.6%)</a:t>
            </a:r>
          </a:p>
          <a:p>
            <a:r>
              <a:t>LINCOLN: 8.2% (2025 2.1%)</a:t>
            </a:r>
          </a:p>
          <a:p>
            <a:r>
              <a:t>HONDA NORTH: 7.7% (2025 5.3%)</a:t>
            </a:r>
          </a:p>
          <a:p>
            <a:r>
              <a:t>HYUNDAI PRESCOTT: 7.4% (2025 6.7%)</a:t>
            </a:r>
          </a:p>
          <a:p>
            <a:r>
              <a:t>SUBARU LV: 7.1% (2025 8.2%)</a:t>
            </a:r>
          </a:p>
          <a:p>
            <a:r>
              <a:t>TOYOTA PRESCOTT: 6.5% (2025 5.0%)</a:t>
            </a:r>
          </a:p>
          <a:p>
            <a:r>
              <a:t>TOYOTA HENDERSON: 6.0% (2025 6.1%)</a:t>
            </a:r>
          </a:p>
          <a:p>
            <a:r>
              <a:t>HYUNDAI ST GEORGE: 5.9% (2025 2.4%)</a:t>
            </a:r>
          </a:p>
          <a:p>
            <a:r>
              <a:t>TOYOTA SPOKANE: 5.8% (2025 6.1%)</a:t>
            </a:r>
          </a:p>
          <a:p>
            <a:r>
              <a:t>LR LV: 5.5% (2025 0.2%)</a:t>
            </a:r>
          </a:p>
          <a:p>
            <a:r>
              <a:t>CHEVY LV: 5.3% (2025 4.8%)</a:t>
            </a:r>
          </a:p>
          <a:p>
            <a:r>
              <a:t>MAZDA: 5.2% (2025 1.4%)</a:t>
            </a:r>
          </a:p>
          <a:p>
            <a:r>
              <a:t>CADILLAC: 5.1% (2025 4.4%)</a:t>
            </a:r>
          </a:p>
          <a:p>
            <a:r>
              <a:t>LR RENO: 4.6% (2025 0.0%)</a:t>
            </a:r>
          </a:p>
          <a:p>
            <a:r>
              <a:t>LEXUS: 4.3% (2025 1.9%)</a:t>
            </a:r>
          </a:p>
          <a:p>
            <a:r>
              <a:t>NISSAN: 4.2% (2025 0.8%)</a:t>
            </a:r>
          </a:p>
          <a:p>
            <a:r>
              <a:t>GMC PRESCOTT: 3.6% (2025 3.0%)</a:t>
            </a:r>
          </a:p>
          <a:p>
            <a:r>
              <a:t>HONDA SPOKANE: 3.2% (2025 0.0%)</a:t>
            </a:r>
          </a:p>
          <a:p>
            <a:r>
              <a:t>KIA LV: 3.2% (2025 2.9%)</a:t>
            </a:r>
          </a:p>
          <a:p>
            <a:r>
              <a:t>CDJR POST FALLS: 3.0% (2025 4.0%)</a:t>
            </a:r>
          </a:p>
          <a:p>
            <a:r>
              <a:t>CHEVY GMC BULLHEAD: 2.7% (2025 1.8%)</a:t>
            </a:r>
          </a:p>
          <a:p>
            <a:r>
              <a:t>VW ST GEORGE: 2.7% (2025 2.4%)</a:t>
            </a:r>
          </a:p>
          <a:p>
            <a:r>
              <a:t>LR HENDERSON: 2.6% (2025 2.4%)</a:t>
            </a:r>
          </a:p>
          <a:p>
            <a:r>
              <a:t>TOYOTA FLAGSTAFF: 1.7% (2025 1.7%)</a:t>
            </a:r>
          </a:p>
          <a:p>
            <a:r>
              <a:t>AUDI RENO: 0.8% (2025 0.0%)</a:t>
            </a:r>
          </a:p>
          <a:p>
            <a:r>
              <a:t>HONDA FLAGSTAFF: 0.7% (2025 0.7%)</a:t>
            </a:r>
          </a:p>
          <a:p>
            <a:r>
              <a:t>VW HENDERSON: 0.0% (2025 0.0%)</a:t>
            </a:r>
          </a:p>
          <a:p>
            <a:r>
              <a:t>AUDI HENDERSON: 0.0% (2025 0.0%)</a:t>
            </a:r>
          </a:p>
          <a:p>
            <a:r>
              <a:t>VOLVO: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fuel service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group gross per service $129.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14.5%, 326 services short a year x $102/service = $33,148</a:t>
            </a:r>
          </a:p>
          <a:p>
            <a:r>
              <a:t>CHEVY LV: 12.8%, 556 services short a year x $136/service = $75,460</a:t>
            </a:r>
          </a:p>
          <a:p>
            <a:r>
              <a:t>TOYOTA SPOKANE: 4.2%, 2,490 services short a year x $90/service = $225,288</a:t>
            </a:r>
          </a:p>
          <a:p>
            <a:r>
              <a:t>TOYOTA FLAGSTAFF: 9.7%, 1,066 services short a year x $84/service = $89,952</a:t>
            </a:r>
          </a:p>
          <a:p>
            <a:r>
              <a:t>SUBARU LV: 14.5%, 83 services short a year x $117/service = $9,769</a:t>
            </a:r>
          </a:p>
          <a:p>
            <a:r>
              <a:t>TOYOTA PRESCOTT: 12.3%, 478 services short a year x $103/service = $49,384</a:t>
            </a:r>
          </a:p>
          <a:p>
            <a:r>
              <a:t>HONDA SPOKANE: 12.5%, 294 services short a year x $124/service = $36,325</a:t>
            </a:r>
          </a:p>
          <a:p>
            <a:r>
              <a:t>KIA LV: 9.7%, 568 services short a year x $135/service = $76,788</a:t>
            </a:r>
          </a:p>
          <a:p>
            <a:r>
              <a:t>NISSAN: 7.4%, 700 services short a year x $119/service = $83,122</a:t>
            </a:r>
          </a:p>
          <a:p>
            <a:r>
              <a:t>CHEVY GMC BULLHEAD: 11.1%, 324 services short a year x $78/service = $25,354</a:t>
            </a:r>
          </a:p>
          <a:p>
            <a:r>
              <a:t>SUBARU ST GEORGE: 11.0%, 291 services short a year x $78/service = $22,634</a:t>
            </a:r>
          </a:p>
          <a:p>
            <a:r>
              <a:t>CDJR POST FALLS: 4.2%, 770 services short a year x $74/service = $57,157</a:t>
            </a:r>
          </a:p>
          <a:p>
            <a:r>
              <a:t>CADILLAC: 13.8%, 79 services short a year x $115/service = $9,131</a:t>
            </a:r>
          </a:p>
          <a:p>
            <a:r>
              <a:t>VW HENDERSON: 13.6%, 96 services short a year x $245/service = $23,446</a:t>
            </a:r>
          </a:p>
          <a:p>
            <a:r>
              <a:t>SUBARU PRESCOTT: 12.5%, 165 services short a year x $73/service = $12,083</a:t>
            </a:r>
          </a:p>
          <a:p>
            <a:r>
              <a:t>LEXUS: 11.3%, 221 services short a year x $147/service = $32,644</a:t>
            </a:r>
          </a:p>
          <a:p>
            <a:r>
              <a:t>HONDA FLAGSTAFF: 11.0%, 210 services short a year x $100/service = $20,944</a:t>
            </a:r>
          </a:p>
          <a:p>
            <a:r>
              <a:t>KIA ST GEORGE: 8.0%, 365 services short a year x $105/service = $38,212</a:t>
            </a:r>
          </a:p>
          <a:p>
            <a:r>
              <a:t>AUDI RENO: 11.8%, 149 services short a year x $230/service = $34,339</a:t>
            </a:r>
          </a:p>
          <a:p>
            <a:r>
              <a:t>VOLVO: 13.8%, 51 services short a year x $142/service = $7,258</a:t>
            </a:r>
          </a:p>
          <a:p>
            <a:r>
              <a:t>HYUNDAI ST GEORGE: 14.8%, 7 services short a year x $121/service = $865</a:t>
            </a:r>
          </a:p>
          <a:p>
            <a:r>
              <a:t>GMC PRESCOTT: 11.7%, 135 services short a year x $85/service = $11,494</a:t>
            </a:r>
          </a:p>
          <a:p>
            <a:r>
              <a:t>LINCOLN: 8.4%, 230 services short a year x $114/service = $26,302</a:t>
            </a:r>
          </a:p>
          <a:p>
            <a:r>
              <a:t>VW ST GEORGE: 5.6%, 240 services short a year x $74/service = $17,767</a:t>
            </a:r>
          </a:p>
          <a:p>
            <a:r>
              <a:t>LR RENO: 12.8%, 40 services short a year x $259/service = $10,409 (capped; raw $715/service)</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Tire Balance: group gross per service $75.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11.2%, 2,671 services short a year x $55/service = $147,351</a:t>
            </a:r>
          </a:p>
          <a:p>
            <a:r>
              <a:t>CHEVY LV: 7.3%, 2,001 services short a year x $53/service = $106,293</a:t>
            </a:r>
          </a:p>
          <a:p>
            <a:r>
              <a:t>TOYOTA SPOKANE: 0.4%, 3,361 services short a year x $53/service = $179,701</a:t>
            </a:r>
          </a:p>
          <a:p>
            <a:r>
              <a:t>TOYOTA FLAGSTAFF: 4.9%, 2,031 services short a year x $54/service = $109,054</a:t>
            </a:r>
          </a:p>
          <a:p>
            <a:r>
              <a:t>HONDA NORTH: 12.0%, 600 services short a year x $64/service = $38,266</a:t>
            </a:r>
          </a:p>
          <a:p>
            <a:r>
              <a:t>SUBARU LV: 10.2%, 909 services short a year x $75/service = $67,808</a:t>
            </a:r>
          </a:p>
          <a:p>
            <a:r>
              <a:t>TOYOTA PRESCOTT: 6.1%, 1,590 services short a year x $83/service = $132,315</a:t>
            </a:r>
          </a:p>
          <a:p>
            <a:r>
              <a:t>HONDA SPOKANE: 2.1%, 1,526 services short a year x $52/service = $80,060</a:t>
            </a:r>
          </a:p>
          <a:p>
            <a:r>
              <a:t>KIA LV: 5.2%, 1,059 services short a year x $68/service = $71,767</a:t>
            </a:r>
          </a:p>
          <a:p>
            <a:r>
              <a:t>NISSAN: 1.0%, 1,296 services short a year x $59/service = $76,668</a:t>
            </a:r>
          </a:p>
          <a:p>
            <a:r>
              <a:t>CHEVY GMC BULLHEAD: 9.0%, 496 services short a year x $42/service = $20,863</a:t>
            </a:r>
          </a:p>
          <a:p>
            <a:r>
              <a:t>MAZDA: 13.1%, 138 services short a year x $79/service = $10,870</a:t>
            </a:r>
          </a:p>
          <a:p>
            <a:r>
              <a:t>SUBARU ST GEORGE: 3.6%, 837 services short a year x $149/service = $124,903 (capped; raw $247/service)</a:t>
            </a:r>
          </a:p>
          <a:p>
            <a:r>
              <a:t>CDJR POST FALLS: 1.2%, 981 services short a year x $75/service = $73,291</a:t>
            </a:r>
          </a:p>
          <a:p>
            <a:r>
              <a:t>CADILLAC: 5.9%, 643 services short a year x $22/service = $14,275</a:t>
            </a:r>
          </a:p>
          <a:p>
            <a:r>
              <a:t>VW HENDERSON: 8.2%, 460 services short a year x $60/service = $27,375</a:t>
            </a:r>
          </a:p>
          <a:p>
            <a:r>
              <a:t>SUBARU PRESCOTT: 14.9%, 1 services short a year x $34/service = $34</a:t>
            </a:r>
          </a:p>
          <a:p>
            <a:r>
              <a:t>LEXUS: 0.0%, 909 services short a year x $75/service (group avg) = $67,832</a:t>
            </a:r>
          </a:p>
          <a:p>
            <a:r>
              <a:t>HONDA FLAGSTAFF: 1.3%, 735 services short a year x $70/service = $51,753</a:t>
            </a:r>
          </a:p>
          <a:p>
            <a:r>
              <a:t>KIA ST GEORGE: 7.7%, 380 services short a year x $48/service = $18,369</a:t>
            </a:r>
          </a:p>
          <a:p>
            <a:r>
              <a:t>AUDI HENDERSON: 0.0%, 754 services short a year x $75/service (group avg) = $56,275</a:t>
            </a:r>
          </a:p>
          <a:p>
            <a:r>
              <a:t>ACURA: 14.1%, 44 services short a year x $64/service = $2,765</a:t>
            </a:r>
          </a:p>
          <a:p>
            <a:r>
              <a:t>AUDI RENO: 0.1%, 696 services short a year x $75/service (group avg) = $51,909</a:t>
            </a:r>
          </a:p>
          <a:p>
            <a:r>
              <a:t>VOLVO: 11.7%, 148 services short a year x $51/service = $7,511</a:t>
            </a:r>
          </a:p>
          <a:p>
            <a:r>
              <a:t>HYUNDAI ST GEORGE: 1.2%, 615 services short a year x $58/service = $35,684</a:t>
            </a:r>
          </a:p>
          <a:p>
            <a:r>
              <a:t>GMC PRESCOTT: 7.7%, 300 services short a year x $90/service = $26,856</a:t>
            </a:r>
          </a:p>
          <a:p>
            <a:r>
              <a:t>LINCOLN: 1.6%, 467 services short a year x $66/service = $30,836</a:t>
            </a:r>
          </a:p>
          <a:p>
            <a:r>
              <a:t>HYUNDAI PRESCOTT: 13.5%, 39 services short a year x $149/service = $5,868 (capped; raw $311/service)</a:t>
            </a:r>
          </a:p>
          <a:p>
            <a:r>
              <a:t>VW ST GEORGE: 0.4%, 373 services short a year x $75/service (group avg) = $27,832</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Brake Fluid: group gross per service $189.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5.7%, 1,093 services short a year x $138/service = $150,836</a:t>
            </a:r>
          </a:p>
          <a:p>
            <a:r>
              <a:t>TOYOTA SPOKANE: 7.0%, 683 services short a year x $117/service = $79,964</a:t>
            </a:r>
          </a:p>
          <a:p>
            <a:r>
              <a:t>TOYOTA FLAGSTAFF: 8.0%, 389 services short a year x $123/service = $47,769</a:t>
            </a:r>
          </a:p>
          <a:p>
            <a:r>
              <a:t>TOYOTA PRESCOTT: 8.4%, 287 services short a year x $112/service = $32,135</a:t>
            </a:r>
          </a:p>
          <a:p>
            <a:r>
              <a:t>KIA LV: 8.2%, 187 services short a year x $120/service = $22,410</a:t>
            </a:r>
          </a:p>
          <a:p>
            <a:r>
              <a:t>CHEVY GMC BULLHEAD: 7.0%, 245 services short a year x $87/service = $21,314</a:t>
            </a:r>
          </a:p>
          <a:p>
            <a:r>
              <a:t>MAZDA: 8.4%, 115 services short a year x $154/service = $17,686</a:t>
            </a:r>
          </a:p>
          <a:p>
            <a:r>
              <a:t>CDJR POST FALLS: 4.2%, 412 services short a year x $128/service = $52,525</a:t>
            </a:r>
          </a:p>
          <a:p>
            <a:r>
              <a:t>CADILLAC: 4.6%, 379 services short a year x $150/service = $56,716</a:t>
            </a:r>
          </a:p>
          <a:p>
            <a:r>
              <a:t>VW HENDERSON: 9.5%, 33 services short a year x $134/service = $4,382</a:t>
            </a:r>
          </a:p>
          <a:p>
            <a:r>
              <a:t>LEXUS: 8.3%, 98 services short a year x $154/service = $15,116</a:t>
            </a:r>
          </a:p>
          <a:p>
            <a:r>
              <a:t>HONDA FLAGSTAFF: 3.1%, 367 services short a year x $184/service = $67,341</a:t>
            </a:r>
          </a:p>
          <a:p>
            <a:r>
              <a:t>KIA ST GEORGE: 5.9%, 211 services short a year x $119/service = $25,037</a:t>
            </a:r>
          </a:p>
          <a:p>
            <a:r>
              <a:t>AUDI HENDERSON: 2.4%, 380 services short a year x $196/service = $74,435</a:t>
            </a:r>
          </a:p>
          <a:p>
            <a:r>
              <a:t>AUDI RENO: 1.9%, 378 services short a year x $206/service = $77,911</a:t>
            </a:r>
          </a:p>
          <a:p>
            <a:r>
              <a:t>HYUNDAI ST GEORGE: 4.7%, 235 services short a year x $134/service = $31,519</a:t>
            </a:r>
          </a:p>
          <a:p>
            <a:r>
              <a:t>GMC PRESCOTT: 6.0%, 162 services short a year x $127/service = $20,618</a:t>
            </a:r>
          </a:p>
          <a:p>
            <a:r>
              <a:t>LINCOLN: 7.5%, 87 services short a year x $126/service = $10,912</a:t>
            </a:r>
          </a:p>
          <a:p>
            <a:r>
              <a:t>HYUNDAI PRESCOTT: 9.6%, 9 services short a year x $354/service = $3,306</a:t>
            </a:r>
          </a:p>
          <a:p>
            <a:r>
              <a:t>VW ST GEORGE: 5.4%, 117 services short a year x $111/service = $13,049</a:t>
            </a:r>
          </a:p>
          <a:p>
            <a:r>
              <a:t>LR RENO: 7.2%, 52 services short a year x $377/service = $19,677 (capped; raw $1,380/service)</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Fuel System Service: group gross per service $165.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6.0%, 1,056 services short a year x $122/service = $128,570</a:t>
            </a:r>
          </a:p>
          <a:p>
            <a:r>
              <a:t>CHEVY LV: 5.2%, 585 services short a year x $243/service = $142,290</a:t>
            </a:r>
          </a:p>
          <a:p>
            <a:r>
              <a:t>TOYOTA SPOKANE: 5.8%, 387 services short a year x $145/service = $56,085</a:t>
            </a:r>
          </a:p>
          <a:p>
            <a:r>
              <a:t>TOYOTA FLAGSTAFF: 1.6%, 1,173 services short a year x $93/service = $108,879</a:t>
            </a:r>
          </a:p>
          <a:p>
            <a:r>
              <a:t>SUBARU LV: 7.0%, 78 services short a year x $130/service = $10,205</a:t>
            </a:r>
          </a:p>
          <a:p>
            <a:r>
              <a:t>TOYOTA PRESCOTT: 6.4%, 186 services short a year x $101/service = $18,882</a:t>
            </a:r>
          </a:p>
          <a:p>
            <a:r>
              <a:t>HONDA SPOKANE: 3.2%, 509 services short a year x $147/service = $75,071</a:t>
            </a:r>
          </a:p>
          <a:p>
            <a:r>
              <a:t>KIA LV: 3.2%, 464 services short a year x $163/service = $75,595</a:t>
            </a:r>
          </a:p>
          <a:p>
            <a:r>
              <a:t>NISSAN: 4.1%, 308 services short a year x $206/service = $63,573</a:t>
            </a:r>
          </a:p>
          <a:p>
            <a:r>
              <a:t>CHEVY GMC BULLHEAD: 2.7%, 400 services short a year x $163/service = $65,189</a:t>
            </a:r>
          </a:p>
          <a:p>
            <a:r>
              <a:t>MAZDA: 5.2%, 174 services short a year x $150/service = $26,069</a:t>
            </a:r>
          </a:p>
          <a:p>
            <a:r>
              <a:t>CDJR POST FALLS: 3.0%, 321 services short a year x $192/service = $61,758</a:t>
            </a:r>
          </a:p>
          <a:p>
            <a:r>
              <a:t>CADILLAC: 5.1%, 170 services short a year x $269/service = $45,825</a:t>
            </a:r>
          </a:p>
          <a:p>
            <a:r>
              <a:t>VW HENDERSON: 0.0%, 515 services short a year x $165/service (group avg) = $84,636</a:t>
            </a:r>
          </a:p>
          <a:p>
            <a:r>
              <a:t>LEXUS: 4.2%, 195 services short a year x $128/service = $24,920</a:t>
            </a:r>
          </a:p>
          <a:p>
            <a:r>
              <a:t>HONDA FLAGSTAFF: 0.7%, 364 services short a year x $165/service (group avg) = $59,934</a:t>
            </a:r>
          </a:p>
          <a:p>
            <a:r>
              <a:t>AUDI HENDERSON: 0.0%, 378 services short a year x $165/service (group avg) = $62,165</a:t>
            </a:r>
          </a:p>
          <a:p>
            <a:r>
              <a:t>AUDI RENO: 0.8%, 313 services short a year x $165/service (group avg) = $51,429</a:t>
            </a:r>
          </a:p>
          <a:p>
            <a:r>
              <a:t>LR LV: 5.5%, 92 services short a year x $258/service = $23,832</a:t>
            </a:r>
          </a:p>
          <a:p>
            <a:r>
              <a:t>VOLVO: 0.0%, 340 services short a year x $165/service (group avg) = $55,964</a:t>
            </a:r>
          </a:p>
          <a:p>
            <a:r>
              <a:t>HYUNDAI ST GEORGE: 5.8%, 72 services short a year x $176/service = $12,726</a:t>
            </a:r>
          </a:p>
          <a:p>
            <a:r>
              <a:t>GMC PRESCOTT: 3.6%, 160 services short a year x $133/service = $21,222</a:t>
            </a:r>
          </a:p>
          <a:p>
            <a:r>
              <a:t>HYUNDAI PRESCOTT: 7.3%, 4 services short a year x $329/service = $1,206 (capped; raw $459/service)</a:t>
            </a:r>
          </a:p>
          <a:p>
            <a:r>
              <a:t>VW ST GEORGE: 2.7%, 123 services short a year x $236/service = $28,870</a:t>
            </a:r>
          </a:p>
          <a:p>
            <a:r>
              <a:t>LR HENDERSON: 2.5%, 103 services short a year x $329/service = $33,745 (capped; raw $774/service)</a:t>
            </a:r>
          </a:p>
          <a:p>
            <a:r>
              <a:t>LR RENO: 4.5%, 55 services short a year x $329/service = $18,238 (capped; raw $1,631/service)</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tire balance, brake fluid and fuel system service added together. Below = how many of the four benchmarks the store is under. Services = services short a year.TOYOTA SPOKANE: $541,039 a year, 6,921 services, under 4 of 4</a:t>
            </a:r>
          </a:p>
          <a:p>
            <a:r>
              <a:t>CHEVY LV: $474,880 a year, 4,236 services, under 4 of 4</a:t>
            </a:r>
          </a:p>
          <a:p>
            <a:r>
              <a:t>TOYOTA FLAGSTAFF: $355,653 a year, 4,659 services, under 4 of 4</a:t>
            </a:r>
          </a:p>
          <a:p>
            <a:r>
              <a:t>TOYOTA HENDERSON: $309,068 a year, 4,054 services, under 3 of 4</a:t>
            </a:r>
          </a:p>
          <a:p>
            <a:r>
              <a:t>KIA LV: $246,559 a year, 2,278 services, under 4 of 4</a:t>
            </a:r>
          </a:p>
          <a:p>
            <a:r>
              <a:t>CDJR POST FALLS: $244,731 a year, 2,484 services, under 4 of 4</a:t>
            </a:r>
          </a:p>
          <a:p>
            <a:r>
              <a:t>TOYOTA PRESCOTT: $232,717 a year, 2,541 services, under 4 of 4</a:t>
            </a:r>
          </a:p>
          <a:p>
            <a:r>
              <a:t>NISSAN: $223,362 a year, 2,304 services, under 3 of 4</a:t>
            </a:r>
          </a:p>
          <a:p>
            <a:r>
              <a:t>AUDI RENO: $215,588 a year, 1,536 services, under 4 of 4</a:t>
            </a:r>
          </a:p>
          <a:p>
            <a:r>
              <a:t>HONDA FLAGSTAFF: $199,972 a year, 1,676 services, under 4 of 4</a:t>
            </a:r>
          </a:p>
          <a:p>
            <a:r>
              <a:t>AUDI HENDERSON: $192,876 a year, 1,512 services, under 3 of 4</a:t>
            </a:r>
          </a:p>
          <a:p>
            <a:r>
              <a:t>HONDA SPOKANE: $191,456 a year, 2,329 services, under 3 of 4</a:t>
            </a:r>
          </a:p>
          <a:p>
            <a:r>
              <a:t>SUBARU ST GEORGE: $147,537 a year, 1,128 services, under 2 of 4</a:t>
            </a:r>
          </a:p>
          <a:p>
            <a:r>
              <a:t>LEXUS: $140,511 a year, 1,424 services, under 4 of 4</a:t>
            </a:r>
          </a:p>
          <a:p>
            <a:r>
              <a:t>VW HENDERSON: $139,840 a year, 1,103 services, under 4 of 4</a:t>
            </a:r>
          </a:p>
          <a:p>
            <a:r>
              <a:t>CHEVY GMC BULLHEAD: $132,721 a year, 1,466 services, under 4 of 4</a:t>
            </a:r>
          </a:p>
          <a:p>
            <a:r>
              <a:t>CADILLAC: $125,947 a year, 1,273 services, under 4 of 4</a:t>
            </a:r>
          </a:p>
          <a:p>
            <a:r>
              <a:t>SUBARU LV: $87,782 a year, 1,070 services, under 3 of 4</a:t>
            </a:r>
          </a:p>
          <a:p>
            <a:r>
              <a:t>VW ST GEORGE: $87,518 a year, 853 services, under 4 of 4</a:t>
            </a:r>
          </a:p>
          <a:p>
            <a:r>
              <a:t>KIA ST GEORGE: $81,619 a year, 956 services, under 3 of 4</a:t>
            </a:r>
          </a:p>
          <a:p>
            <a:r>
              <a:t>HYUNDAI ST GEORGE: $80,793 a year, 929 services, under 4 of 4</a:t>
            </a:r>
          </a:p>
          <a:p>
            <a:r>
              <a:t>GMC PRESCOTT: $80,190 a year, 757 services, under 4 of 4</a:t>
            </a:r>
          </a:p>
          <a:p>
            <a:r>
              <a:t>VOLVO: $70,733 a year, 540 services, under 3 of 4</a:t>
            </a:r>
          </a:p>
          <a:p>
            <a:r>
              <a:t>LINCOLN: $68,050 a year, 784 services, under 3 of 4</a:t>
            </a:r>
          </a:p>
          <a:p>
            <a:r>
              <a:t>MAZDA: $54,625 a year, 426 services, under 3 of 4</a:t>
            </a:r>
          </a:p>
          <a:p>
            <a:r>
              <a:t>LR RENO: $48,324 a year, 148 services, under 3 of 4</a:t>
            </a:r>
          </a:p>
          <a:p>
            <a:r>
              <a:t>HONDA NORTH: $38,266 a year, 600 services, under 1 of 4</a:t>
            </a:r>
          </a:p>
          <a:p>
            <a:r>
              <a:t>LR HENDERSON: $33,745 a year, 103 services, under 1 of 4</a:t>
            </a:r>
          </a:p>
          <a:p>
            <a:r>
              <a:t>LR LV: $23,832 a year, 92 services, under 1 of 4</a:t>
            </a:r>
          </a:p>
          <a:p>
            <a:r>
              <a:t>SUBARU PRESCOTT: $12,118 a year, 166 services, under 2 of 4</a:t>
            </a:r>
          </a:p>
          <a:p>
            <a:r>
              <a:t>HYUNDAI PRESCOTT: $10,380 a year, 52 services, under 3 of 4</a:t>
            </a:r>
          </a:p>
          <a:p>
            <a:r>
              <a:t>ACURA: $2,765 a year, 44 services, under 1 of 4</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Warranty &amp; Internal section, after the section break and before Warranty RO Count.</a:t>
            </a:r>
          </a:p>
          <a:p>
            <a:r>
              <a:t>Said: Jan GM slides 13-14 (audit chargebacks; Warranty Compliance). The Jan slide named six stores' chargebacks; kept to the $400,000 total here, in line with no store call-outs from the podium.</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warranty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Warranty labor sale / warranty sold hours.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Warranty labor sale / warranty sold hours.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Warranty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Internal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a:t>
            </a:r>
          </a:p>
          <a:p>
            <a:r>
              <a:t>Said: Roundtable slide 6 (People); Jan GM slide 57 (Technician Pipeline).</a:t>
            </a:r>
          </a:p>
          <a:p>
            <a:r>
              <a:t>Numbers rebuilt 2026-10-20 on ADP headcount (Employee Master extract 10/19/2026); the Qlik headcount history undercounted 2025.</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a:t>
            </a:r>
          </a:p>
          <a:p>
            <a:r>
              <a:t>Said: Jan GM slide 16 / May GM slide 12 (Pay Plans aka Work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compared with its own segment average a month: luxury $16,998, non-luxury $12,714 (luxury = Lexus, Lincoln, Cadillac, Volvo, Audi Reno, Audi Henderson, LR Reno, LR LV, LR Henderson). Gross/yr = (segment average - store) x the store's average fixed employees x 12. Stores at or above their segment average are not shown. Per emp = the store's fixed gross per fixed employee a month. Seg avg = its segment's average.Framing: gross the team already in the building could produce, not a headcount target. Luxury stores are measured against luxury, non-luxury against non-luxury. Audi Henderson ($23,686) lifts the luxury average; Lincoln ($11,127) sits below even the non-luxury average.</a:t>
            </a:r>
          </a:p>
          <a:p>
            <a:r>
              <a:t>CADILLAC (luxury): $14,260 per employee a month vs $16,998; 74.8 fixed employees; $2,456,862 a year</a:t>
            </a:r>
          </a:p>
          <a:p>
            <a:r>
              <a:t>LINCOLN (luxury): $10,963 per employee a month vs $16,998; 30.2 fixed employees; $2,188,561 a year</a:t>
            </a:r>
          </a:p>
          <a:p>
            <a:r>
              <a:t>CHEVY GMC BULLHEAD (non-luxury): $10,391 per employee a month vs $12,714; 48.4 fixed employees; $1,350,504 a year</a:t>
            </a:r>
          </a:p>
          <a:p>
            <a:r>
              <a:t>CDJR POST FALLS (non-luxury): $9,953 per employee a month vs $12,714; 39.7 fixed employees; $1,314,435 a year</a:t>
            </a:r>
          </a:p>
          <a:p>
            <a:r>
              <a:t>CHEVY LV (non-luxury): $12,042 per employee a month vs $12,714; 152.7 fixed employees; $1,232,343 a year</a:t>
            </a:r>
          </a:p>
          <a:p>
            <a:r>
              <a:t>TOYOTA SPOKANE (non-luxury): $11,128 per employee a month vs $12,714; 59.2 fixed employees; $1,127,104 a year</a:t>
            </a:r>
          </a:p>
          <a:p>
            <a:r>
              <a:t>TOYOTA FLAGSTAFF (non-luxury): $10,794 per employee a month vs $12,714; 46.0 fixed employees; $1,060,118 a year</a:t>
            </a:r>
          </a:p>
          <a:p>
            <a:r>
              <a:t>GMC PRESCOTT (non-luxury): $9,498 per employee a month vs $12,714; 26.6 fixed employees; $1,024,925 a year</a:t>
            </a:r>
          </a:p>
          <a:p>
            <a:r>
              <a:t>TOYOTA PRESCOTT (non-luxury): $11,044 per employee a month vs $12,714; 51.1 fixed employees; $1,024,357 a year</a:t>
            </a:r>
          </a:p>
          <a:p>
            <a:r>
              <a:t>AUDI RENO (luxury): $14,916 per employee a month vs $16,998; 33.2 fixed employees; $830,073 a year</a:t>
            </a:r>
          </a:p>
          <a:p>
            <a:r>
              <a:t>HONDA FLAGSTAFF (non-luxury): $9,149 per employee a month vs $12,714; 19.3 fixed employees; $827,082 a year</a:t>
            </a:r>
          </a:p>
          <a:p>
            <a:r>
              <a:t>NISSAN (non-luxury): $11,957 per employee a month vs $12,714; 44.4 fixed employees; $403,638 a year</a:t>
            </a:r>
          </a:p>
          <a:p>
            <a:r>
              <a:t>VW HENDERSON (non-luxury): $12,006 per employee a month vs $12,714; 44.3 fixed employees; $376,895 a year</a:t>
            </a:r>
          </a:p>
          <a:p>
            <a:r>
              <a:t>VW ST GEORGE (non-luxury): $9,878 per employee a month vs $12,714; 10.9 fixed employees; $370,634 a year</a:t>
            </a:r>
          </a:p>
          <a:p>
            <a:r>
              <a:t>LR RENO (luxury): $15,226 per employee a month vs $16,998; 16.1 fixed employees; $342,526 a year</a:t>
            </a:r>
          </a:p>
          <a:p>
            <a:r>
              <a:t>HYUNDAI ST GEORGE (non-luxury): $11,541 per employee a month vs $12,714; 22.0 fixed employees; $309,678 a year</a:t>
            </a:r>
          </a:p>
          <a:p>
            <a:r>
              <a:t>HYUNDAI PRESCOTT (non-luxury): $11,631 per employee a month vs $12,714; 14.7 fixed employees; $190,674 a year</a:t>
            </a:r>
          </a:p>
          <a:p>
            <a:r>
              <a:t>KIA ST GEORGE (non-luxury): $12,103 per employee a month vs $12,714; 21.4 fixed employees; $157,193 a year</a:t>
            </a:r>
          </a:p>
          <a:p>
            <a:r>
              <a:t>ACURA (non-luxury): $12,364 per employee a month vs $12,714; 26.0 fixed employees; $109,303 a year</a:t>
            </a:r>
          </a:p>
          <a:p>
            <a:r>
              <a:t>SUBARU PRESCOTT (non-luxury): $12,501 per employee a month vs $12,714; 24.0 fixed employees; $61,379 a year</a:t>
            </a:r>
          </a:p>
          <a:p>
            <a:r>
              <a:t>LEXUS (luxury): $16,919 per employee a month vs $16,998; 27.2 fixed employees; $25,739 a year</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is measured against its own number: Target = today + 5%. Gross/yr = 5% x the store's gross per employee x its average fixed employees x 12 (the same staff producing 5% more). Per working day uses 307 days open a year (6 days a week less the 6 service holidays). Today and Target = fixed gross per fixed employee a month.Framing: every store is measured against itself, so an Audi store does not set a Lincoln store's target. 5% is roughly one more customer-pay RO a day for a small store, or a few tenths of an hour per RO.</a:t>
            </a:r>
          </a:p>
          <a:p>
            <a:r>
              <a:t>TOYOTA HENDERSON: $14,174 today -&gt; $14,883 target per employee a month; 177.1 fixed employees; $1,506,225 a year</a:t>
            </a:r>
          </a:p>
          <a:p>
            <a:r>
              <a:t>CHEVY LV: $12,042 today -&gt; $12,644 target per employee a month; 152.7 fixed employees; $1,103,005 a year</a:t>
            </a:r>
          </a:p>
          <a:p>
            <a:r>
              <a:t>HONDA HENDERSON: $16,061 today -&gt; $16,864 target per employee a month; 99.8 fixed employees; $961,535 a year</a:t>
            </a:r>
          </a:p>
          <a:p>
            <a:r>
              <a:t>AUDI HENDERSON: $23,461 today -&gt; $24,634 target per employee a month; 58.4 fixed employees; $822,684 a year</a:t>
            </a:r>
          </a:p>
          <a:p>
            <a:r>
              <a:t>SUBARU LV: $12,874 today -&gt; $13,518 target per employee a month; 87.0 fixed employees; $672,026 a year</a:t>
            </a:r>
          </a:p>
          <a:p>
            <a:r>
              <a:t>CADILLAC: $14,260 today -&gt; $14,973 target per employee a month; 74.8 fixed employees; $639,799 a year</a:t>
            </a:r>
          </a:p>
          <a:p>
            <a:r>
              <a:t>HONDA NORTH: $14,604 today -&gt; $15,334 target per employee a month; 65.6 fixed employees; $574,425 a year</a:t>
            </a:r>
          </a:p>
          <a:p>
            <a:r>
              <a:t>LR LV: $18,148 today -&gt; $19,056 target per employee a month; 40.4 fixed employees; $440,403 a year</a:t>
            </a:r>
          </a:p>
          <a:p>
            <a:r>
              <a:t>KIA LV: $13,289 today -&gt; $13,954 target per employee a month; 51.4 fixed employees; $410,199 a year</a:t>
            </a:r>
          </a:p>
          <a:p>
            <a:r>
              <a:t>TOYOTA SPOKANE: $11,128 today -&gt; $11,685 target per employee a month; 59.2 fixed employees; $395,423 a year</a:t>
            </a:r>
          </a:p>
          <a:p>
            <a:r>
              <a:t>TOYOTA PRESCOTT: $11,044 today -&gt; $11,596 target per employee a month; 51.1 fixed employees; $338,685 a year</a:t>
            </a:r>
          </a:p>
          <a:p>
            <a:r>
              <a:t>VW HENDERSON: $12,006 today -&gt; $12,606 target per employee a month; 44.3 fixed employees; $319,353 a year</a:t>
            </a:r>
          </a:p>
          <a:p>
            <a:r>
              <a:t>NISSAN: $11,957 today -&gt; $12,555 target per employee a month; 44.4 fixed employees; $318,864 a year</a:t>
            </a:r>
          </a:p>
          <a:p>
            <a:r>
              <a:t>CHEVY GMC BULLHEAD: $10,391 today -&gt; $10,911 target per employee a month; 48.4 fixed employees; $302,035 a year</a:t>
            </a:r>
          </a:p>
          <a:p>
            <a:r>
              <a:t>TOYOTA FLAGSTAFF: $10,794 today -&gt; $11,333 target per employee a month; 46.0 fixed employees; $297,906 a year</a:t>
            </a:r>
          </a:p>
          <a:p>
            <a:r>
              <a:t>AUDI RENO: $14,916 today -&gt; $15,662 target per employee a month; 33.2 fixed employees; $297,322 a year</a:t>
            </a:r>
          </a:p>
          <a:p>
            <a:r>
              <a:t>HONDA SPOKANE: $12,871 today -&gt; $13,514 target per employee a month; 36.1 fixed employees; $278,863 a year</a:t>
            </a:r>
          </a:p>
          <a:p>
            <a:r>
              <a:t>LEXUS: $16,919 today -&gt; $17,765 target per employee a month; 27.2 fixed employees; $276,346 a year</a:t>
            </a:r>
          </a:p>
          <a:p>
            <a:r>
              <a:t>VOLVO: $18,549 today -&gt; $19,476 target per employee a month; 23.4 fixed employees; $260,917 a year</a:t>
            </a:r>
          </a:p>
          <a:p>
            <a:r>
              <a:t>CDJR POST FALLS: $9,953 today -&gt; $10,450 target per employee a month; 39.7 fixed employees; $236,877 a year</a:t>
            </a:r>
          </a:p>
          <a:p>
            <a:r>
              <a:t>SUBARU ST GEORGE: $15,556 today -&gt; $16,333 target per employee a month; 25.1 fixed employees; $234,372 a year</a:t>
            </a:r>
          </a:p>
          <a:p>
            <a:r>
              <a:t>LR HENDERSON: $18,268 today -&gt; $19,182 target per employee a month; 20.8 fixed employees; $227,743 a year</a:t>
            </a:r>
          </a:p>
          <a:p>
            <a:r>
              <a:t>MAZDA: $15,966 today -&gt; $16,765 target per employee a month; 23.0 fixed employees; $220,335 a year</a:t>
            </a:r>
          </a:p>
          <a:p>
            <a:r>
              <a:t>LINCOLN: $10,963 today -&gt; $11,511 target per employee a month; 30.2 fixed employees; $198,802 a year</a:t>
            </a:r>
          </a:p>
          <a:p>
            <a:r>
              <a:t>ACURA: $12,364 today -&gt; $12,982 target per employee a month; 26.0 fixed employees; $192,877 a year</a:t>
            </a:r>
          </a:p>
          <a:p>
            <a:r>
              <a:t>SUBARU PRESCOTT: $12,501 today -&gt; $13,126 target per employee a month; 24.0 fixed employees; $180,016 a year</a:t>
            </a:r>
          </a:p>
          <a:p>
            <a:r>
              <a:t>KIA ST GEORGE: $12,103 today -&gt; $12,709 target per employee a month; 21.4 fixed employees; $155,730 a year</a:t>
            </a:r>
          </a:p>
          <a:p>
            <a:r>
              <a:t>HYUNDAI ST GEORGE: $11,541 today -&gt; $12,118 target per employee a month; 22.0 fixed employees; $152,344 a year</a:t>
            </a:r>
          </a:p>
          <a:p>
            <a:r>
              <a:t>GMC PRESCOTT: $9,498 today -&gt; $9,973 target per employee a month; 26.6 fixed employees; $151,334 a year</a:t>
            </a:r>
          </a:p>
          <a:p>
            <a:r>
              <a:t>LR RENO: $15,226 today -&gt; $15,988 target per employee a month; 16.1 fixed employees; $147,187 a year</a:t>
            </a:r>
          </a:p>
          <a:p>
            <a:r>
              <a:t>HONDA FLAGSTAFF: $9,149 today -&gt; $9,607 target per employee a month; 19.3 fixed employees; $106,131 a year</a:t>
            </a:r>
          </a:p>
          <a:p>
            <a:r>
              <a:t>HYUNDAI PRESCOTT: $11,631 today -&gt; $12,212 target per employee a month; 14.7 fixed employees; $102,351 a year</a:t>
            </a:r>
          </a:p>
          <a:p>
            <a:r>
              <a:t>VW ST GEORGE: $9,878 today -&gt; $10,372 target per employee a month; 10.9 fixed employees; $64,535 a year</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Fixed employees include managers; technicians = service, express, foreman and team-leader titles.</a:t>
            </a:r>
          </a:p>
          <a:p>
            <a:r>
              <a:t>Jan 25: 1625 fixed, 703 techs, 238 advisors, 117 managers</a:t>
            </a:r>
          </a:p>
          <a:p>
            <a:r>
              <a:t>Feb 25: 1632 fixed, 705 techs, 237 advisors, 116 managers</a:t>
            </a:r>
          </a:p>
          <a:p>
            <a:r>
              <a:t>Mar 25: 1629 fixed, 702 techs, 240 advisors, 116 managers</a:t>
            </a:r>
          </a:p>
          <a:p>
            <a:r>
              <a:t>Apr 25: 1615 fixed, 695 techs, 242 advisors, 111 managers</a:t>
            </a:r>
          </a:p>
          <a:p>
            <a:r>
              <a:t>May 25: 1623 fixed, 699 techs, 250 advisors, 111 managers</a:t>
            </a:r>
          </a:p>
          <a:p>
            <a:r>
              <a:t>Jun 25: 1616 fixed, 695 techs, 247 advisors, 109 managers</a:t>
            </a:r>
          </a:p>
          <a:p>
            <a:r>
              <a:t>Jul 25: 1629 fixed, 705 techs, 247 advisors, 110 managers</a:t>
            </a:r>
          </a:p>
          <a:p>
            <a:r>
              <a:t>Aug 25: 1627 fixed, 701 techs, 251 advisors, 110 managers</a:t>
            </a:r>
          </a:p>
          <a:p>
            <a:r>
              <a:t>Sep 25: 1616 fixed, 701 techs, 248 advisors, 107 managers</a:t>
            </a:r>
          </a:p>
          <a:p>
            <a:r>
              <a:t>Oct 25: 1604 fixed, 688 techs, 249 advisors, 109 managers</a:t>
            </a:r>
          </a:p>
          <a:p>
            <a:r>
              <a:t>Nov 25: 1582 fixed, 685 techs, 247 advisors, 107 managers</a:t>
            </a:r>
          </a:p>
          <a:p>
            <a:r>
              <a:t>Dec 25: 1563 fixed, 674 techs, 249 advisors, 107 managers</a:t>
            </a:r>
          </a:p>
          <a:p>
            <a:r>
              <a:t>Jan 26: 1530 fixed, 657 techs, 248 advisors, 106 managers</a:t>
            </a:r>
          </a:p>
          <a:p>
            <a:r>
              <a:t>Feb 26: 1530 fixed, 670 techs, 245 advisors, 108 managers</a:t>
            </a:r>
          </a:p>
          <a:p>
            <a:r>
              <a:t>Mar 26: 1540 fixed, 669 techs, 252 advisors, 107 managers</a:t>
            </a:r>
          </a:p>
          <a:p>
            <a:r>
              <a:t>Apr 26: 1545 fixed, 687 techs, 250 advisors, 106 managers</a:t>
            </a:r>
          </a:p>
          <a:p>
            <a:r>
              <a:t>May 26: 1537 fixed, 680 techs, 254 advisors, 105 managers</a:t>
            </a:r>
          </a:p>
          <a:p>
            <a:r>
              <a:t>Jun 26: 1546 fixed, 684 techs, 250 advisors, 105 managers</a:t>
            </a:r>
          </a:p>
          <a:p>
            <a:r>
              <a:t>Jul 26: 1548 fixed, 682 techs, 250 advisors, 106 managers</a:t>
            </a:r>
          </a:p>
          <a:p>
            <a:r>
              <a:t>Aug 26: 1549 fixed, 684 techs, 244 advisors, 104 managers</a:t>
            </a:r>
          </a:p>
          <a:p>
            <a:r>
              <a:t>Sep 26: 1540 fixed, 684 techs, 241 advisors, 104 managers</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a:t>
            </a:r>
          </a:p>
          <a:p>
            <a:r>
              <a:t>Said: Roundtable slide 22 (Technicians &amp; Stalls); Jan GM slide 52 / May GM slide 16 (MPI Completion and Tech Efficiency).</a:t>
            </a:r>
          </a:p>
          <a:p>
            <a:r>
              <a:t>Now: proficiency slides (ADP worked hours + Qlik sold hours, Dec 25-Oct 9, with the foreman 30%, tech 10%, role-change and keying-error rules).</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a:t>
            </a:r>
          </a:p>
          <a:p>
            <a:r>
              <a:t>Proficiency uses ADP worked hours (regular + overtime), so it includes time not on an RO. Efficiency would use DMS time punched on jobs, which this data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right after 'What Is Technician Proficiency?'.</a:t>
            </a:r>
          </a:p>
          <a:p>
            <a:r>
              <a:t>Rules as applied on the proficiency slides (Oct 16 2026). Express techs at stores that pool express hours are mostly excluded by the 10% rule.</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Proficiency = sold hours / worked hours, from store totals. Green at or above 85%, red below. Bars start at 40%.ACURA: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worked hours combined. Bars capped at 190%.ACURA: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Stores under 85% only. ROs/day = distinct ROs, all pay types, per counted tech per 8 worked hours. Seg avg = luxury 3.0, non-luxury 4.9 (luxury = Lexus, Lincoln, Cadillac, Volvo, Audi Reno, Audi Henderson, LR Reno, LR LV, LR Henderson). Fewer ROs per tech can mean too few cars for the staff or slow techs turning work away; it starts the conversation rather than settling it.ACURA: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12.Talk track: staged parts delivered to the bay (Roundtable: 'Stage parts, deliver and retrieve'), dispatch with the next job ready, fast MPI approvals, tools and keys where they belong. Ten minutes a day is less than two parts-counter trips.</a:t>
            </a:r>
          </a:p>
          <a:p>
            <a:r>
              <a:t>Assumption to say out loud: a minute saved only counts if it turns into flagged time, so the store needs the work waiting.</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 A year = one minute a day for every counted tech at the store, for a year. Per min = gross per tech minute.</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top LINCOLN $865K → $1.26M; SUBARU PRESCOTT $832K → $1.21M; SUBARU ST GEORGE $1.48M → $1.98M. Bottom CHEVY LV $7.40M → $7.08M; AUDI RENO $3.38M → $2.90M; VW ST GEORGE $702K → $560K.</a:t>
            </a:r>
          </a:p>
          <a:p>
            <a:r>
              <a:t>CP RO Count: top KIA LV 7,156 → 8,133; HYUNDAI PRESCOTT 1,784 → 2,010; GMC PRESCOTT 2,810 → 3,107. Bottom AUDI RENO 4,379 → 3,917; HYUNDAI ST GEORGE 3,784 → 3,349; VW ST GEORGE 2,251 → 1,919.</a:t>
            </a:r>
          </a:p>
          <a:p>
            <a:r>
              <a:t>CP Hours per RO: top HYUNDAI ST GEORGE 1.03 → 1.43; SUBARU ST GEORGE 1.75 → 2.30; KIA ST GEORGE 0.99 → 1.29. Bottom VOLVO 2.58 → 2.28; VW ST GEORGE 1.95 → 1.71; LR RENO 4.04 → 3.48.</a:t>
            </a:r>
          </a:p>
          <a:p>
            <a:r>
              <a:t>CP ELR: top HONDA SPOKANE $117.05 → $143.89; VOLVO $181.59 → $222.12; LINCOLN $139.55 → $167.64. Bottom ACURA $221.78 → $210.50; SUBARU ST GEORGE $148.84 → $138.48; KIA LV $184.36 → $149.23.</a:t>
            </a:r>
          </a:p>
          <a:p>
            <a:r>
              <a:t>CP Parts $ per RO: top LINCOLN $281 → $363; LEXUS $193 → $240; HYUNDAI ST GEORGE $181 → $219. Bottom LR RENO $876 → $814; AUDI RENO $596 → $542; KIA LV $227 → $193.</a:t>
            </a:r>
          </a:p>
          <a:p>
            <a:r>
              <a:t>CP Parts GP %: top ACURA 38.7% → 44.9%; NISSAN 38.2% → 42.7%; SUBARU PRESCOTT 31.0% → 34.8%. Bottom HYUNDAI PRESCOTT 39.9% → 39.4%; TOYOTA SPOKANE 45.3% → 44.5%; AUDI HENDERSON 35.8% → 33.6%.Source: Qlik - Closed Repair Orders. Customer pay, by close date. Same-store, 33 stores (INEOS excluded, opened 2026). GMC Prescott body shop labor types excluded. CP gross = CP labor gross + CP parts gross. Change is Jan-Sep 2026 vs Jan-Sep 2025. Ranked by percent change (points for parts GP %), so store size does not drive the ranking.</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per Month: top MAZDA $155K → $209K; KIA ST GEORGE $85K → $112K; CDJR POST FALLS $218K → $279K. Bottom SUBARU ST GEORGE $220K → $218K; HONDA HENDERSON $841K → $823K; CADILLAC $317K → $283K.</a:t>
            </a:r>
          </a:p>
          <a:p>
            <a:r>
              <a:t>CP ROs per Month: top LEXUS 425 → 570; CDJR POST FALLS 543 → 667; LR LV 350 → 415. Bottom VW ST GEORGE 207 → 203; HYUNDAI ST GEORGE 377 → 365; CADILLAC 609 → 582.</a:t>
            </a:r>
          </a:p>
          <a:p>
            <a:r>
              <a:t>CP Hours per RO: top MAZDA 1.35 → 1.65; HYUNDAI PRESCOTT 1.56 → 1.76; HYUNDAI ST GEORGE 1.37 → 1.54. Bottom HONDA HENDERSON 2.06 → 1.86; VW HENDERSON 2.66 → 2.37; CADILLAC 2.85 → 2.45.</a:t>
            </a:r>
          </a:p>
          <a:p>
            <a:r>
              <a:t>CP ELR: top VW ST GEORGE $128.27 → $141.89; AUDI RENO $227.34 → $244.12; HONDA SPOKANE $139.40 → $147.93. Bottom SUBARU ST GEORGE $141.07 → $136.71; LEXUS $196.84 → $187.42; ACURA $232.02 → $199.04.</a:t>
            </a:r>
          </a:p>
          <a:p>
            <a:r>
              <a:t>CP Parts $ per RO: top VW ST GEORGE $224 → $298; LR RENO $692 → $877; ACURA $229 → $282. Bottom LR LV $873 → $834; GMC PRESCOTT $299 → $282; HONDA HENDERSON $190 → $178.</a:t>
            </a:r>
          </a:p>
          <a:p>
            <a:r>
              <a:t>CP Parts GP %: top ACURA 39.4% → 46.6%; VW ST GEORGE 39.1% → 43.8%; GMC PRESCOTT 35.3% → 39.2%. Bottom CHEVY LV 38.2% → 35.0%; LINCOLN 39.9% → 36.0%; HONDA HENDERSON 44.3% → 40.0%.Source: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Left: Jan-Sep 2026 vs Jan-Sep 2025. Right: Q3 2026 vs Q1 2026. Top-5 finishes counted across six measures; top six stores shown in each view.</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Each row is the top Q1-to-Q3 mover on that measure. Opcode row: MAZDA tops 3 of the four opcode lists; its biggest move is shown. Opcode closing % = ROs with the service ÷ customer-pay ROs on the op-code report basis.</a:t>
            </a:r>
          </a:p>
          <a:p/>
          <a:p>
            <a:r>
              <a:t>MAZDA's August opcode increase was confirmed with the store as a real change (Noah, Oct 19 2026).</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Labor + parts gross a year, each from its own slide: Technician Proficiency (each tech under 85% raised to 85%, monthly x 12), Hours per RO (0.1 hr x CP ROs at each store's gross per hour), Op Codes (stores under each benchmark brought to it), One More CP RO a Day (307 open days), Tech Minute (one minute per tech per day). Jan-Sep 2026, same-store, 33 stores. The levers overlap - op code services are part of hours per RO, and selling more hours needs tech time - so they are not added together.Talk track: the GM owns the conditions - staffing, pay plans, marketing budget, the parts department. The service manager owns the daily process - dispatch, the inspection, the menu, the drive. Each line has its own slide earlier in the day.</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the close, after the last Productivity / Proficiency slide.</a:t>
            </a:r>
          </a:p>
          <a:p>
            <a:r>
              <a:t>Said: Roundtable slide 24 (Misc &amp; Closing). Commitments tracking was dropped for this meeting, so this asks for commitments without a scorecard.</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by month.</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2025.</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by month.</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2025.</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by month.</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2025.</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by month. Replaces the trend and table slides.</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by month. Replaces the trend and table slides.</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by month. Replaces the trend and table slides.</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Card and takeaway are Jan-Sep. 2025 Oct-Dec shown for context: $21.27M, $17.74M, $19.32M; Q4 2025 total $58.33M.</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Group = sum of 33 stores. TB group total differs from the P&amp;L figure used elsewhere in the deck ($188.80M) by the GMC PRESCOTT difference above.</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Record = Jan-Sep 2026 above every prior Jan-Sep for that store. % = combined gain over the previous best Jan-Sep. Stores with shorter histories count the same: HONDA SPOKANE (from 2025), HYUNDAI PRESCOTT (from 2023), LR HENDERSON (from 2022), NISSAN (from 2024). Order: records in all three first, then by % gain.</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Combined service + parts, Jan-Sep 2026 vs the store's best prior Jan-Sep.</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Combined service + parts, Jan-Sep 2026 vs the store's best prior Jan-Sep.</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Count of times a store set a new all-time monthly high in service, parts or combined gross, Jan-Sep 2026. Each new high counts, so a record beaten twice counts twice.</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Month each record was set, by store:</a:t>
            </a:r>
          </a:p>
          <a:p>
            <a:r>
              <a:t>AUDI HENDERSON: parts record reset once (Jul); combined record reset twice (Apr, Jul).</a:t>
            </a:r>
          </a:p>
          <a:p>
            <a:r>
              <a:t>CDJR POST FALLS: service record reset once (Jul); combined record reset once (Jul).</a:t>
            </a:r>
          </a:p>
          <a:p>
            <a:r>
              <a:t>GMC PRESCOTT: parts record reset once (Apr); combined record reset once (Apr).</a:t>
            </a:r>
          </a:p>
          <a:p>
            <a:r>
              <a:t>HONDA HENDERSON: service record reset 3 times (Mar, Jun, Jul); parts record reset once (Jul); combined record reset 3 times (Mar, Jun, Jul).</a:t>
            </a:r>
          </a:p>
          <a:p>
            <a:r>
              <a:t>HONDA SPOKANE: service record reset 4 times (Mar, Apr, Jun, Jul); parts record reset once (Jul); combined record reset 4 times (Mar, Apr, Jun, Jul).</a:t>
            </a:r>
          </a:p>
          <a:p>
            <a:r>
              <a:t>HYUNDAI PRESCOTT: service record reset twice (Mar, Jul); parts record reset once (Feb); combined record reset 3 times (Feb, Mar, Jul).</a:t>
            </a:r>
          </a:p>
          <a:p>
            <a:r>
              <a:t>HYUNDAI ST GEORGE: service record reset 4 times (Jan, Mar, Jul, Sep).</a:t>
            </a:r>
          </a:p>
          <a:p>
            <a:r>
              <a:t>KIA LV: service record reset once (Sep).</a:t>
            </a:r>
          </a:p>
          <a:p>
            <a:r>
              <a:t>KIA ST GEORGE: service record reset twice (Apr, Jul); parts record reset once (Jul); combined record reset once (Jul).</a:t>
            </a:r>
          </a:p>
          <a:p>
            <a:r>
              <a:t>LEXUS: service record reset twice (Mar, May); parts record reset once (May); combined record reset once (May).</a:t>
            </a:r>
          </a:p>
          <a:p>
            <a:r>
              <a:t>LINCOLN: service record reset twice (Aug, Sep); parts record reset once (Mar); combined record reset 3 times (Mar, Aug, Sep).</a:t>
            </a:r>
          </a:p>
          <a:p>
            <a:r>
              <a:t>LR HENDERSON: service record reset twice (Aug, Sep); parts record reset once (Jul); combined record reset once (Jul).</a:t>
            </a:r>
          </a:p>
          <a:p>
            <a:r>
              <a:t>LR LV: service record reset once (Jul); combined record reset once (Jul).</a:t>
            </a:r>
          </a:p>
          <a:p>
            <a:r>
              <a:t>LR RENO: service record reset once (Aug); combined record reset once (Aug).</a:t>
            </a:r>
          </a:p>
          <a:p>
            <a:r>
              <a:t>MAZDA: service record reset twice (Aug, Sep); parts record reset once (Sep); combined record reset twice (Aug, Sep).</a:t>
            </a:r>
          </a:p>
          <a:p>
            <a:r>
              <a:t>NISSAN: service record reset 3 times (Mar, Jun, Sep); parts record reset twice (Jun, Jul); combined record reset 4 times (Mar, Jun, Jul, Sep).</a:t>
            </a:r>
          </a:p>
          <a:p>
            <a:r>
              <a:t>SUBARU PRESCOTT: combined record reset once (Apr).</a:t>
            </a:r>
          </a:p>
          <a:p>
            <a:r>
              <a:t>SUBARU ST GEORGE: service record reset twice (Jan, Mar); parts record reset 3 times (Mar, Apr, Jun); combined record reset twice (Mar, Jun).</a:t>
            </a:r>
          </a:p>
          <a:p>
            <a:r>
              <a:t>TOYOTA FLAGSTAFF: service record reset 3 times (Mar, Apr, May); combined record reset once (Mar).</a:t>
            </a:r>
          </a:p>
          <a:p>
            <a:r>
              <a:t>TOYOTA HENDERSON: service record reset twice (Apr, Jul); parts record reset 3 times (Jun, Aug, Sep); combined record reset 3 times (Apr, Jun, Jul).</a:t>
            </a:r>
          </a:p>
          <a:p>
            <a:r>
              <a:t>TOYOTA PRESCOTT: service record reset twice (Mar, Apr); parts record reset once (Apr); combined record reset once (Apr).</a:t>
            </a:r>
          </a:p>
          <a:p>
            <a:r>
              <a:t>TOYOTA SPOKANE: service record reset once (Jul); combined record reset once (Jul).</a:t>
            </a:r>
          </a:p>
          <a:p>
            <a:r>
              <a:t>VOLVO: service record reset twice (Apr, Jun).</a:t>
            </a:r>
          </a:p>
          <a:p/>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Count of times a store set a new all-time monthly high, Jan-Sep 2026. SVC = service gross, PTS = parts gross, TOT = service + parts combined. Each new high counts, so a record beaten twice counts twice.</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B - ELR and the ELR needed for 70% of door rate (door x 0.70).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Jan-Sep 2026 YTD. Green at or above the group, red below. Bars start at 50.0%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Jan-Sep 2026 YTD. Green at or above the group, red below. Bars start at 20.0%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(−2.7 pts), red below. 8 stores run internal at or above customer pay: CADILLAC, CHEVY GMC BULLHEAD, GMC PRESCOTT, HYUNDAI PRESCOTT, HYUNDAI ST GEORGE, KIA LV, KIA ST GEORGE and VW ST GEORGE.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(−4.2 pts), red below. 5 stores run internal at or above customer pay: CHEVY LV, HONDA HENDERSON, SUBARU PRESCOTT, TOYOTA HENDERSON and VOLVO.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(−2.7 pts), red below. 8 stores run internal at or above customer pay: CADILLAC, CHEVY GMC BULLHEAD, GMC PRESCOTT, HYUNDAI PRESCOTT, HYUNDAI ST GEORGE, KIA LV, KIA ST GEORGE and VW ST GEORGE.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(−4.2 pts), red below. 5 stores run internal at or above customer pay: CHEVY LV, HONDA HENDERSON, SUBARU PRESCOTT, TOYOTA HENDERSON and VOLVO.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Headcount: ADP Employee Master extract, 10/19/2026, month-end snapshots, Qlik's fixed-employee title list (managers included). Each person counted once: someone open at two stores is counted at the old store until that record closes. Same-store, INEOS excluded (opened 2026). GMC Prescott body shop staff excluded.</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Stores under 85% only. Store = sold / worked hours for counted technicians. Best techs = the store's most proficient quarter of counted technicians (at least one), their sold / worked hours combined. Same population and rules as the proficiency slides.</a:t>
            </a:r>
          </a:p>
          <a:p>
            <a:r>
              <a:t>ACURA: store 67%, best 3 of 11 techs 73%</a:t>
            </a:r>
          </a:p>
          <a:p>
            <a:r>
              <a:t>KIA ST GEORGE: store 67%, best 3 of 12 techs 97%</a:t>
            </a:r>
          </a:p>
          <a:p>
            <a:r>
              <a:t>CHEVY GMC BULLHEAD: store 68%, best 5 of 20 techs 96%</a:t>
            </a:r>
          </a:p>
          <a:p>
            <a:r>
              <a:t>HYUNDAI ST GEORGE: store 69%, best 3 of 11 techs 122%</a:t>
            </a:r>
          </a:p>
          <a:p>
            <a:r>
              <a:t>VW ST GEORGE: store 70%, best 1 of 5 techs 76%</a:t>
            </a:r>
          </a:p>
          <a:p>
            <a:r>
              <a:t>CDJR POST FALLS: store 71%, best 4 of 14 techs 128%</a:t>
            </a:r>
          </a:p>
          <a:p>
            <a:r>
              <a:t>VOLVO: store 72%, best 2 of 9 techs 88%</a:t>
            </a:r>
          </a:p>
          <a:p>
            <a:r>
              <a:t>GMC PRESCOTT: store 73%, best 3 of 12 techs 103%</a:t>
            </a:r>
          </a:p>
          <a:p>
            <a:r>
              <a:t>KIA LV: store 76%, best 5 of 20 techs 100%</a:t>
            </a:r>
          </a:p>
          <a:p>
            <a:r>
              <a:t>HONDA FLAGSTAFF: store 78%, best 2 of 6 techs 130%</a:t>
            </a:r>
          </a:p>
          <a:p>
            <a:r>
              <a:t>HYUNDAI PRESCOTT: store 78%, best 2 of 9 techs 112%</a:t>
            </a:r>
          </a:p>
          <a:p>
            <a:r>
              <a:t>LR RENO: store 81%, best 2 of 6 techs 96%</a:t>
            </a:r>
          </a:p>
          <a:p>
            <a:r>
              <a:t>TOYOTA PRESCOTT: store 83%, best 6 of 22 techs 117%</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Jan–Sep 2026 vs Jan–Sep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Jul–Sep 2026 vs Jul–Sep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Top-3 finishes counted across six measures in each of two periods (Jan-Sep and Jul-Sep), 12 lists in all. Top 8 stores shown.</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xml"/><Relationship Id="rId3" Type="http://schemas.openxmlformats.org/officeDocument/2006/relationships/chart" Target="../charts/chart5.xml"/><Relationship Id="rId4" Type="http://schemas.openxmlformats.org/officeDocument/2006/relationships/chart" Target="../charts/chart6.xml"/><Relationship Id="rId5" Type="http://schemas.openxmlformats.org/officeDocument/2006/relationships/chart" Target="../charts/chart7.xml"/><Relationship Id="rId6" Type="http://schemas.openxmlformats.org/officeDocument/2006/relationships/chart" Target="../charts/chart8.xml"/><Relationship Id="rId7" Type="http://schemas.openxmlformats.org/officeDocument/2006/relationships/chart" Target="../charts/chart9.xml"/><Relationship Id="rId8"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xml"/><Relationship Id="rId3" Type="http://schemas.openxmlformats.org/officeDocument/2006/relationships/chart" Target="../charts/chart11.xml"/><Relationship Id="rId4" Type="http://schemas.openxmlformats.org/officeDocument/2006/relationships/chart" Target="../charts/chart12.xml"/><Relationship Id="rId5" Type="http://schemas.openxmlformats.org/officeDocument/2006/relationships/chart" Target="../charts/chart13.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xml"/><Relationship Id="rId3" Type="http://schemas.openxmlformats.org/officeDocument/2006/relationships/chart" Target="../charts/chart15.xml"/><Relationship Id="rId4" Type="http://schemas.openxmlformats.org/officeDocument/2006/relationships/chart" Target="../charts/chart16.xml"/><Relationship Id="rId5" Type="http://schemas.openxmlformats.org/officeDocument/2006/relationships/chart" Target="../charts/chart17.xml"/><Relationship Id="rId6" Type="http://schemas.openxmlformats.org/officeDocument/2006/relationships/chart" Target="../charts/chart18.xml"/><Relationship Id="rId7" Type="http://schemas.openxmlformats.org/officeDocument/2006/relationships/chart" Target="../charts/chart19.xml"/><Relationship Id="rId8"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xml"/><Relationship Id="rId3" Type="http://schemas.openxmlformats.org/officeDocument/2006/relationships/chart" Target="../charts/chart22.xml"/><Relationship Id="rId4" Type="http://schemas.openxmlformats.org/officeDocument/2006/relationships/chart" Target="../charts/chart23.xml"/><Relationship Id="rId5" Type="http://schemas.openxmlformats.org/officeDocument/2006/relationships/chart" Target="../charts/chart24.xml"/><Relationship Id="rId6" Type="http://schemas.openxmlformats.org/officeDocument/2006/relationships/chart" Target="../charts/chart25.xml"/><Relationship Id="rId7"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6.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7.xml"/><Relationship Id="rId3" Type="http://schemas.openxmlformats.org/officeDocument/2006/relationships/chart" Target="../charts/chart28.xml"/><Relationship Id="rId4" Type="http://schemas.openxmlformats.org/officeDocument/2006/relationships/chart" Target="../charts/chart29.xml"/><Relationship Id="rId5" Type="http://schemas.openxmlformats.org/officeDocument/2006/relationships/chart" Target="../charts/chart30.xml"/><Relationship Id="rId6"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1.xml"/><Relationship Id="rId3" Type="http://schemas.openxmlformats.org/officeDocument/2006/relationships/chart" Target="../charts/chart32.xml"/><Relationship Id="rId4" Type="http://schemas.openxmlformats.org/officeDocument/2006/relationships/chart" Target="../charts/chart33.xml"/><Relationship Id="rId5" Type="http://schemas.openxmlformats.org/officeDocument/2006/relationships/chart" Target="../charts/chart34.xml"/><Relationship Id="rId6" Type="http://schemas.openxmlformats.org/officeDocument/2006/relationships/chart" Target="../charts/chart35.xml"/><Relationship Id="rId7"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6.xml"/><Relationship Id="rId3" Type="http://schemas.openxmlformats.org/officeDocument/2006/relationships/chart" Target="../charts/chart37.xml"/><Relationship Id="rId4" Type="http://schemas.openxmlformats.org/officeDocument/2006/relationships/chart" Target="../charts/chart38.xml"/><Relationship Id="rId5" Type="http://schemas.openxmlformats.org/officeDocument/2006/relationships/chart" Target="../charts/chart39.xml"/><Relationship Id="rId6"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0.xml"/><Relationship Id="rId3" Type="http://schemas.openxmlformats.org/officeDocument/2006/relationships/chart" Target="../charts/chart41.xml"/><Relationship Id="rId4" Type="http://schemas.openxmlformats.org/officeDocument/2006/relationships/chart" Target="../charts/chart42.xml"/><Relationship Id="rId5" Type="http://schemas.openxmlformats.org/officeDocument/2006/relationships/chart" Target="../charts/chart43.xml"/><Relationship Id="rId6" Type="http://schemas.openxmlformats.org/officeDocument/2006/relationships/chart" Target="../charts/chart44.xml"/><Relationship Id="rId7"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5.xml"/><Relationship Id="rId3" Type="http://schemas.openxmlformats.org/officeDocument/2006/relationships/chart" Target="../charts/chart46.xml"/><Relationship Id="rId4" Type="http://schemas.openxmlformats.org/officeDocument/2006/relationships/chart" Target="../charts/chart47.xml"/><Relationship Id="rId5" Type="http://schemas.openxmlformats.org/officeDocument/2006/relationships/chart" Target="../charts/chart48.xml"/><Relationship Id="rId6"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9.xml"/><Relationship Id="rId3" Type="http://schemas.openxmlformats.org/officeDocument/2006/relationships/chart" Target="../charts/chart50.xml"/><Relationship Id="rId4" Type="http://schemas.openxmlformats.org/officeDocument/2006/relationships/chart" Target="../charts/chart51.xml"/><Relationship Id="rId5" Type="http://schemas.openxmlformats.org/officeDocument/2006/relationships/chart" Target="../charts/chart52.xml"/><Relationship Id="rId6"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3.xml"/><Relationship Id="rId3" Type="http://schemas.openxmlformats.org/officeDocument/2006/relationships/chart" Target="../charts/chart54.xml"/><Relationship Id="rId4" Type="http://schemas.openxmlformats.org/officeDocument/2006/relationships/chart" Target="../charts/chart55.xml"/><Relationship Id="rId5" Type="http://schemas.openxmlformats.org/officeDocument/2006/relationships/chart" Target="../charts/chart56.xml"/><Relationship Id="rId6" Type="http://schemas.openxmlformats.org/officeDocument/2006/relationships/chart" Target="../charts/chart57.xml"/><Relationship Id="rId7"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8.xml"/><Relationship Id="rId3" Type="http://schemas.openxmlformats.org/officeDocument/2006/relationships/chart" Target="../charts/chart59.xml"/><Relationship Id="rId4" Type="http://schemas.openxmlformats.org/officeDocument/2006/relationships/chart" Target="../charts/chart60.xml"/><Relationship Id="rId5" Type="http://schemas.openxmlformats.org/officeDocument/2006/relationships/chart" Target="../charts/chart61.xml"/><Relationship Id="rId6" Type="http://schemas.openxmlformats.org/officeDocument/2006/relationships/chart" Target="../charts/chart62.xml"/><Relationship Id="rId7" Type="http://schemas.openxmlformats.org/officeDocument/2006/relationships/chart" Target="../charts/chart63.xml"/><Relationship Id="rId8"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4.xml"/><Relationship Id="rId3" Type="http://schemas.openxmlformats.org/officeDocument/2006/relationships/chart" Target="../charts/chart65.xml"/><Relationship Id="rId4" Type="http://schemas.openxmlformats.org/officeDocument/2006/relationships/chart" Target="../charts/chart66.xml"/><Relationship Id="rId5" Type="http://schemas.openxmlformats.org/officeDocument/2006/relationships/chart" Target="../charts/chart67.xml"/><Relationship Id="rId6"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8.xml"/><Relationship Id="rId3" Type="http://schemas.openxmlformats.org/officeDocument/2006/relationships/chart" Target="../charts/chart69.xml"/><Relationship Id="rId4" Type="http://schemas.openxmlformats.org/officeDocument/2006/relationships/chart" Target="../charts/chart70.xml"/><Relationship Id="rId5" Type="http://schemas.openxmlformats.org/officeDocument/2006/relationships/chart" Target="../charts/chart71.xml"/><Relationship Id="rId6" Type="http://schemas.openxmlformats.org/officeDocument/2006/relationships/chart" Target="../charts/chart72.xml"/><Relationship Id="rId7"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3.xml"/><Relationship Id="rId3" Type="http://schemas.openxmlformats.org/officeDocument/2006/relationships/chart" Target="../charts/chart74.xml"/><Relationship Id="rId4" Type="http://schemas.openxmlformats.org/officeDocument/2006/relationships/chart" Target="../charts/chart75.xml"/><Relationship Id="rId5" Type="http://schemas.openxmlformats.org/officeDocument/2006/relationships/chart" Target="../charts/chart76.xml"/><Relationship Id="rId6" Type="http://schemas.openxmlformats.org/officeDocument/2006/relationships/chart" Target="../charts/chart77.xml"/><Relationship Id="rId7"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8.xml"/><Relationship Id="rId3" Type="http://schemas.openxmlformats.org/officeDocument/2006/relationships/chart" Target="../charts/chart79.xml"/><Relationship Id="rId4" Type="http://schemas.openxmlformats.org/officeDocument/2006/relationships/chart" Target="../charts/chart80.xml"/><Relationship Id="rId5" Type="http://schemas.openxmlformats.org/officeDocument/2006/relationships/chart" Target="../charts/chart81.xml"/><Relationship Id="rId6" Type="http://schemas.openxmlformats.org/officeDocument/2006/relationships/chart" Target="../charts/chart82.xml"/><Relationship Id="rId7" Type="http://schemas.openxmlformats.org/officeDocument/2006/relationships/chart" Target="../charts/chart83.xml"/><Relationship Id="rId8"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4.xml"/><Relationship Id="rId3" Type="http://schemas.openxmlformats.org/officeDocument/2006/relationships/chart" Target="../charts/chart85.xml"/><Relationship Id="rId4" Type="http://schemas.openxmlformats.org/officeDocument/2006/relationships/chart" Target="../charts/chart86.xml"/><Relationship Id="rId5" Type="http://schemas.openxmlformats.org/officeDocument/2006/relationships/chart" Target="../charts/chart87.xml"/><Relationship Id="rId6"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8.xml"/><Relationship Id="rId3" Type="http://schemas.openxmlformats.org/officeDocument/2006/relationships/chart" Target="../charts/chart89.xml"/><Relationship Id="rId4" Type="http://schemas.openxmlformats.org/officeDocument/2006/relationships/chart" Target="../charts/chart90.xml"/><Relationship Id="rId5" Type="http://schemas.openxmlformats.org/officeDocument/2006/relationships/chart" Target="../charts/chart91.xml"/><Relationship Id="rId6" Type="http://schemas.openxmlformats.org/officeDocument/2006/relationships/chart" Target="../charts/chart92.xml"/><Relationship Id="rId7"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3.xml"/><Relationship Id="rId3" Type="http://schemas.openxmlformats.org/officeDocument/2006/relationships/chart" Target="../charts/chart94.xml"/><Relationship Id="rId4" Type="http://schemas.openxmlformats.org/officeDocument/2006/relationships/chart" Target="../charts/chart95.xml"/><Relationship Id="rId5" Type="http://schemas.openxmlformats.org/officeDocument/2006/relationships/chart" Target="../charts/chart96.xml"/><Relationship Id="rId6"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7.xml"/><Relationship Id="rId3" Type="http://schemas.openxmlformats.org/officeDocument/2006/relationships/chart" Target="../charts/chart98.xml"/><Relationship Id="rId4" Type="http://schemas.openxmlformats.org/officeDocument/2006/relationships/chart" Target="../charts/chart99.xml"/><Relationship Id="rId5" Type="http://schemas.openxmlformats.org/officeDocument/2006/relationships/chart" Target="../charts/chart100.xml"/><Relationship Id="rId6" Type="http://schemas.openxmlformats.org/officeDocument/2006/relationships/chart" Target="../charts/chart101.xml"/><Relationship Id="rId7"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2.xml"/><Relationship Id="rId3" Type="http://schemas.openxmlformats.org/officeDocument/2006/relationships/chart" Target="../charts/chart103.xml"/><Relationship Id="rId4" Type="http://schemas.openxmlformats.org/officeDocument/2006/relationships/chart" Target="../charts/chart104.xml"/><Relationship Id="rId5" Type="http://schemas.openxmlformats.org/officeDocument/2006/relationships/chart" Target="../charts/chart105.xml"/><Relationship Id="rId6"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6.xml"/><Relationship Id="rId3" Type="http://schemas.openxmlformats.org/officeDocument/2006/relationships/chart" Target="../charts/chart107.xml"/><Relationship Id="rId4" Type="http://schemas.openxmlformats.org/officeDocument/2006/relationships/chart" Target="../charts/chart108.xml"/><Relationship Id="rId5" Type="http://schemas.openxmlformats.org/officeDocument/2006/relationships/chart" Target="../charts/chart109.xml"/><Relationship Id="rId6" Type="http://schemas.openxmlformats.org/officeDocument/2006/relationships/chart" Target="../charts/chart110.xml"/><Relationship Id="rId7"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1.xml"/><Relationship Id="rId3" Type="http://schemas.openxmlformats.org/officeDocument/2006/relationships/chart" Target="../charts/chart112.xml"/><Relationship Id="rId4" Type="http://schemas.openxmlformats.org/officeDocument/2006/relationships/chart" Target="../charts/chart113.xml"/><Relationship Id="rId5" Type="http://schemas.openxmlformats.org/officeDocument/2006/relationships/chart" Target="../charts/chart114.xml"/><Relationship Id="rId6"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5.xml"/><Relationship Id="rId3" Type="http://schemas.openxmlformats.org/officeDocument/2006/relationships/chart" Target="../charts/chart116.xml"/><Relationship Id="rId4" Type="http://schemas.openxmlformats.org/officeDocument/2006/relationships/chart" Target="../charts/chart117.xml"/><Relationship Id="rId5" Type="http://schemas.openxmlformats.org/officeDocument/2006/relationships/chart" Target="../charts/chart118.xml"/><Relationship Id="rId6" Type="http://schemas.openxmlformats.org/officeDocument/2006/relationships/chart" Target="../charts/chart119.xml"/><Relationship Id="rId7"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0.xml"/><Relationship Id="rId3"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1.xml"/><Relationship Id="rId3" Type="http://schemas.openxmlformats.org/officeDocument/2006/relationships/chart" Target="../charts/chart122.xml"/><Relationship Id="rId4" Type="http://schemas.openxmlformats.org/officeDocument/2006/relationships/chart" Target="../charts/chart123.xml"/><Relationship Id="rId5" Type="http://schemas.openxmlformats.org/officeDocument/2006/relationships/chart" Target="../charts/chart124.xml"/><Relationship Id="rId6"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5.xml"/><Relationship Id="rId3" Type="http://schemas.openxmlformats.org/officeDocument/2006/relationships/chart" Target="../charts/chart126.xml"/><Relationship Id="rId4" Type="http://schemas.openxmlformats.org/officeDocument/2006/relationships/chart" Target="../charts/chart127.xml"/><Relationship Id="rId5" Type="http://schemas.openxmlformats.org/officeDocument/2006/relationships/chart" Target="../charts/chart128.xml"/><Relationship Id="rId6" Type="http://schemas.openxmlformats.org/officeDocument/2006/relationships/chart" Target="../charts/chart129.xml"/><Relationship Id="rId7" Type="http://schemas.openxmlformats.org/officeDocument/2006/relationships/chart" Target="../charts/chart130.xml"/><Relationship Id="rId8"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1.xml"/><Relationship Id="rId3" Type="http://schemas.openxmlformats.org/officeDocument/2006/relationships/chart" Target="../charts/chart132.xml"/><Relationship Id="rId4" Type="http://schemas.openxmlformats.org/officeDocument/2006/relationships/chart" Target="../charts/chart133.xml"/><Relationship Id="rId5" Type="http://schemas.openxmlformats.org/officeDocument/2006/relationships/chart" Target="../charts/chart134.xml"/><Relationship Id="rId6"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5.xml"/><Relationship Id="rId3" Type="http://schemas.openxmlformats.org/officeDocument/2006/relationships/chart" Target="../charts/chart136.xml"/><Relationship Id="rId4" Type="http://schemas.openxmlformats.org/officeDocument/2006/relationships/chart" Target="../charts/chart137.xml"/><Relationship Id="rId5" Type="http://schemas.openxmlformats.org/officeDocument/2006/relationships/chart" Target="../charts/chart138.xml"/><Relationship Id="rId6" Type="http://schemas.openxmlformats.org/officeDocument/2006/relationships/chart" Target="../charts/chart139.xml"/><Relationship Id="rId7" Type="http://schemas.openxmlformats.org/officeDocument/2006/relationships/chart" Target="../charts/chart140.xml"/><Relationship Id="rId8"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1.xml"/><Relationship Id="rId3" Type="http://schemas.openxmlformats.org/officeDocument/2006/relationships/chart" Target="../charts/chart142.xml"/><Relationship Id="rId4" Type="http://schemas.openxmlformats.org/officeDocument/2006/relationships/chart" Target="../charts/chart143.xml"/><Relationship Id="rId5" Type="http://schemas.openxmlformats.org/officeDocument/2006/relationships/chart" Target="../charts/chart144.xml"/><Relationship Id="rId6" Type="http://schemas.openxmlformats.org/officeDocument/2006/relationships/chart" Target="../charts/chart145.xml"/><Relationship Id="rId7" Type="http://schemas.openxmlformats.org/officeDocument/2006/relationships/chart" Target="../charts/chart146.xml"/><Relationship Id="rId8"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7.xml"/><Relationship Id="rId3" Type="http://schemas.openxmlformats.org/officeDocument/2006/relationships/chart" Target="../charts/chart148.xml"/><Relationship Id="rId4" Type="http://schemas.openxmlformats.org/officeDocument/2006/relationships/chart" Target="../charts/chart149.xml"/><Relationship Id="rId5" Type="http://schemas.openxmlformats.org/officeDocument/2006/relationships/chart" Target="../charts/chart150.xml"/><Relationship Id="rId6" Type="http://schemas.openxmlformats.org/officeDocument/2006/relationships/chart" Target="../charts/chart151.xml"/><Relationship Id="rId7" Type="http://schemas.openxmlformats.org/officeDocument/2006/relationships/chart" Target="../charts/chart152.xml"/><Relationship Id="rId8"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3.xml"/><Relationship Id="rId3"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4.xml"/><Relationship Id="rId3"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5.xml"/><Relationship Id="rId3"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6.xml"/><Relationship Id="rId3"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7.xml"/><Relationship Id="rId3"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8.xml"/><Relationship Id="rId3"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9.xml"/><Relationship Id="rId3"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0.xml"/><Relationship Id="rId3"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1.xml"/><Relationship Id="rId3"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2.xml"/><Relationship Id="rId3" Type="http://schemas.openxmlformats.org/officeDocument/2006/relationships/chart" Target="../charts/chart163.xml"/><Relationship Id="rId4" Type="http://schemas.openxmlformats.org/officeDocument/2006/relationships/chart" Target="../charts/chart164.xml"/><Relationship Id="rId5" Type="http://schemas.openxmlformats.org/officeDocument/2006/relationships/chart" Target="../charts/chart165.xml"/><Relationship Id="rId6" Type="http://schemas.openxmlformats.org/officeDocument/2006/relationships/chart" Target="../charts/chart166.xml"/><Relationship Id="rId7" Type="http://schemas.openxmlformats.org/officeDocument/2006/relationships/chart" Target="../charts/chart167.xml"/><Relationship Id="rId8"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8.xml"/><Relationship Id="rId3" Type="http://schemas.openxmlformats.org/officeDocument/2006/relationships/chart" Target="../charts/chart169.xml"/><Relationship Id="rId4" Type="http://schemas.openxmlformats.org/officeDocument/2006/relationships/chart" Target="../charts/chart170.xml"/><Relationship Id="rId5" Type="http://schemas.openxmlformats.org/officeDocument/2006/relationships/chart" Target="../charts/chart171.xml"/><Relationship Id="rId6" Type="http://schemas.openxmlformats.org/officeDocument/2006/relationships/chart" Target="../charts/chart172.xml"/><Relationship Id="rId7" Type="http://schemas.openxmlformats.org/officeDocument/2006/relationships/chart" Target="../charts/chart173.xml"/><Relationship Id="rId8"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4.xml"/><Relationship Id="rId3"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5.xml"/><Relationship Id="rId3" Type="http://schemas.openxmlformats.org/officeDocument/2006/relationships/chart" Target="../charts/chart176.xml"/><Relationship Id="rId4" Type="http://schemas.openxmlformats.org/officeDocument/2006/relationships/chart" Target="../charts/chart177.xml"/><Relationship Id="rId5" Type="http://schemas.openxmlformats.org/officeDocument/2006/relationships/chart" Target="../charts/chart178.xml"/><Relationship Id="rId6" Type="http://schemas.openxmlformats.org/officeDocument/2006/relationships/chart" Target="../charts/chart179.xml"/><Relationship Id="rId7" Type="http://schemas.openxmlformats.org/officeDocument/2006/relationships/chart" Target="../charts/chart180.xml"/><Relationship Id="rId8" Type="http://schemas.openxmlformats.org/officeDocument/2006/relationships/chart" Target="../charts/chart181.xml"/><Relationship Id="rId9" Type="http://schemas.openxmlformats.org/officeDocument/2006/relationships/chart" Target="../charts/chart182.xml"/><Relationship Id="rId10" Type="http://schemas.openxmlformats.org/officeDocument/2006/relationships/chart" Target="../charts/chart183.xml"/><Relationship Id="rId11" Type="http://schemas.openxmlformats.org/officeDocument/2006/relationships/chart" Target="../charts/chart184.xml"/><Relationship Id="rId1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5.xml"/><Relationship Id="rId3" Type="http://schemas.openxmlformats.org/officeDocument/2006/relationships/chart" Target="../charts/chart186.xml"/><Relationship Id="rId4" Type="http://schemas.openxmlformats.org/officeDocument/2006/relationships/chart" Target="../charts/chart187.xml"/><Relationship Id="rId5" Type="http://schemas.openxmlformats.org/officeDocument/2006/relationships/chart" Target="../charts/chart188.xml"/><Relationship Id="rId6" Type="http://schemas.openxmlformats.org/officeDocument/2006/relationships/chart" Target="../charts/chart189.xml"/><Relationship Id="rId7" Type="http://schemas.openxmlformats.org/officeDocument/2006/relationships/chart" Target="../charts/chart190.xml"/><Relationship Id="rId8" Type="http://schemas.openxmlformats.org/officeDocument/2006/relationships/chart" Target="../charts/chart191.xml"/><Relationship Id="rId9" Type="http://schemas.openxmlformats.org/officeDocument/2006/relationships/chart" Target="../charts/chart192.xml"/><Relationship Id="rId10" Type="http://schemas.openxmlformats.org/officeDocument/2006/relationships/chart" Target="../charts/chart193.xml"/><Relationship Id="rId11" Type="http://schemas.openxmlformats.org/officeDocument/2006/relationships/chart" Target="../charts/chart194.xml"/><Relationship Id="rId1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5.xml"/><Relationship Id="rId3" Type="http://schemas.openxmlformats.org/officeDocument/2006/relationships/chart" Target="../charts/chart196.xml"/><Relationship Id="rId4" Type="http://schemas.openxmlformats.org/officeDocument/2006/relationships/chart" Target="../charts/chart197.xml"/><Relationship Id="rId5" Type="http://schemas.openxmlformats.org/officeDocument/2006/relationships/chart" Target="../charts/chart198.xml"/><Relationship Id="rId6" Type="http://schemas.openxmlformats.org/officeDocument/2006/relationships/chart" Target="../charts/chart199.xml"/><Relationship Id="rId7" Type="http://schemas.openxmlformats.org/officeDocument/2006/relationships/chart" Target="../charts/chart200.xml"/><Relationship Id="rId8" Type="http://schemas.openxmlformats.org/officeDocument/2006/relationships/chart" Target="../charts/chart201.xml"/><Relationship Id="rId9" Type="http://schemas.openxmlformats.org/officeDocument/2006/relationships/chart" Target="../charts/chart202.xml"/><Relationship Id="rId10" Type="http://schemas.openxmlformats.org/officeDocument/2006/relationships/chart" Target="../charts/chart203.xml"/><Relationship Id="rId11" Type="http://schemas.openxmlformats.org/officeDocument/2006/relationships/chart" Target="../charts/chart204.xml"/><Relationship Id="rId1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5.xml"/><Relationship Id="rId3" Type="http://schemas.openxmlformats.org/officeDocument/2006/relationships/chart" Target="../charts/chart206.xml"/><Relationship Id="rId4" Type="http://schemas.openxmlformats.org/officeDocument/2006/relationships/chart" Target="../charts/chart207.xml"/><Relationship Id="rId5" Type="http://schemas.openxmlformats.org/officeDocument/2006/relationships/chart" Target="../charts/chart208.xml"/><Relationship Id="rId6" Type="http://schemas.openxmlformats.org/officeDocument/2006/relationships/chart" Target="../charts/chart209.xml"/><Relationship Id="rId7" Type="http://schemas.openxmlformats.org/officeDocument/2006/relationships/chart" Target="../charts/chart210.xml"/><Relationship Id="rId8" Type="http://schemas.openxmlformats.org/officeDocument/2006/relationships/chart" Target="../charts/chart211.xml"/><Relationship Id="rId9" Type="http://schemas.openxmlformats.org/officeDocument/2006/relationships/chart" Target="../charts/chart212.xml"/><Relationship Id="rId10" Type="http://schemas.openxmlformats.org/officeDocument/2006/relationships/chart" Target="../charts/chart213.xml"/><Relationship Id="rId11" Type="http://schemas.openxmlformats.org/officeDocument/2006/relationships/chart" Target="../charts/chart214.xml"/><Relationship Id="rId1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5.xml"/><Relationship Id="rId3" Type="http://schemas.openxmlformats.org/officeDocument/2006/relationships/chart" Target="../charts/chart216.xml"/><Relationship Id="rId4" Type="http://schemas.openxmlformats.org/officeDocument/2006/relationships/chart" Target="../charts/chart217.xml"/><Relationship Id="rId5" Type="http://schemas.openxmlformats.org/officeDocument/2006/relationships/chart" Target="../charts/chart218.xml"/><Relationship Id="rId6" Type="http://schemas.openxmlformats.org/officeDocument/2006/relationships/chart" Target="../charts/chart219.xml"/><Relationship Id="rId7" Type="http://schemas.openxmlformats.org/officeDocument/2006/relationships/chart" Target="../charts/chart220.xml"/><Relationship Id="rId8" Type="http://schemas.openxmlformats.org/officeDocument/2006/relationships/chart" Target="../charts/chart221.xml"/><Relationship Id="rId9" Type="http://schemas.openxmlformats.org/officeDocument/2006/relationships/chart" Target="../charts/chart222.xml"/><Relationship Id="rId10" Type="http://schemas.openxmlformats.org/officeDocument/2006/relationships/chart" Target="../charts/chart223.xml"/><Relationship Id="rId11" Type="http://schemas.openxmlformats.org/officeDocument/2006/relationships/chart" Target="../charts/chart224.xml"/><Relationship Id="rId1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5.xml"/><Relationship Id="rId3" Type="http://schemas.openxmlformats.org/officeDocument/2006/relationships/chart" Target="../charts/chart226.xml"/><Relationship Id="rId4" Type="http://schemas.openxmlformats.org/officeDocument/2006/relationships/chart" Target="../charts/chart227.xml"/><Relationship Id="rId5" Type="http://schemas.openxmlformats.org/officeDocument/2006/relationships/chart" Target="../charts/chart228.xml"/><Relationship Id="rId6" Type="http://schemas.openxmlformats.org/officeDocument/2006/relationships/chart" Target="../charts/chart229.xml"/><Relationship Id="rId7" Type="http://schemas.openxmlformats.org/officeDocument/2006/relationships/chart" Target="../charts/chart230.xml"/><Relationship Id="rId8" Type="http://schemas.openxmlformats.org/officeDocument/2006/relationships/chart" Target="../charts/chart231.xml"/><Relationship Id="rId9" Type="http://schemas.openxmlformats.org/officeDocument/2006/relationships/chart" Target="../charts/chart232.xml"/><Relationship Id="rId10" Type="http://schemas.openxmlformats.org/officeDocument/2006/relationships/chart" Target="../charts/chart233.xml"/><Relationship Id="rId11" Type="http://schemas.openxmlformats.org/officeDocument/2006/relationships/chart" Target="../charts/chart234.xml"/><Relationship Id="rId1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2194560" cy="667512"/>
          </a:xfrm>
          <a:prstGeom prst="rect">
            <a:avLst/>
          </a:prstGeom>
        </p:spPr>
      </p:pic>
      <p:sp>
        <p:nvSpPr>
          <p:cNvPr id="3" name="Text 0"/>
          <p:cNvSpPr txBox="1"/>
          <p:nvPr/>
        </p:nvSpPr>
        <p:spPr>
          <a:xfrm>
            <a:off x="667512" y="2377440"/>
            <a:ext cx="10789920" cy="1737360"/>
          </a:xfrm>
          <a:prstGeom prst="rect">
            <a:avLst/>
          </a:prstGeom>
          <a:noFill/>
          <a:ln/>
        </p:spPr>
        <p:txBody>
          <a:bodyPr wrap="squar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Fixed Operations</a:t>
            </a:r>
            <a:endParaRPr lang="en-US" sz="6200" dirty="0"/>
          </a:p>
        </p:txBody>
      </p:sp>
      <p:sp>
        <p:nvSpPr>
          <p:cNvPr id="4" name="Shape 1"/>
          <p:cNvSpPr/>
          <p:nvPr/>
        </p:nvSpPr>
        <p:spPr>
          <a:xfrm>
            <a:off x="713232" y="4224528"/>
            <a:ext cx="1371600" cy="50292"/>
          </a:xfrm>
          <a:prstGeom prst="rect">
            <a:avLst/>
          </a:prstGeom>
          <a:solidFill>
            <a:srgbClr val="2587C5"/>
          </a:solidFill>
          <a:ln/>
        </p:spPr>
      </p:sp>
      <p:sp>
        <p:nvSpPr>
          <p:cNvPr id="5" name="Text 2"/>
          <p:cNvSpPr txBox="1"/>
          <p:nvPr/>
        </p:nvSpPr>
        <p:spPr>
          <a:xfrm>
            <a:off x="694944" y="4462272"/>
            <a:ext cx="10789920" cy="457200"/>
          </a:xfrm>
          <a:prstGeom prst="rect">
            <a:avLst/>
          </a:prstGeom>
          <a:noFill/>
          <a:ln/>
        </p:spPr>
        <p:txBody>
          <a:bodyPr wrap="square" lIns="0" tIns="0" rIns="0" bIns="0" rtlCol="0" anchor="ctr"/>
          <a:lstStyle/>
          <a:p>
            <a:pPr indent="0" marL="0">
              <a:buNone/>
            </a:pPr>
            <a:r>
              <a:rPr lang="en-US" sz="2600" dirty="0">
                <a:solidFill>
                  <a:srgbClr val="2587C5"/>
                </a:solidFill>
                <a:latin typeface="Inter" pitchFamily="34" charset="0"/>
                <a:ea typeface="Inter" pitchFamily="34" charset="-122"/>
                <a:cs typeface="Inter" pitchFamily="34" charset="-120"/>
              </a:rPr>
              <a:t>Day 2  ·  General Managers &amp; Service Managers  ·  October 29, 2026</a:t>
            </a:r>
            <a:endParaRPr lang="en-US" sz="2600" dirty="0"/>
          </a:p>
        </p:txBody>
      </p:sp>
      <p:sp>
        <p:nvSpPr>
          <p:cNvPr id="6" name="Text 3"/>
          <p:cNvSpPr txBox="1"/>
          <p:nvPr/>
        </p:nvSpPr>
        <p:spPr>
          <a:xfrm>
            <a:off x="694944" y="4956048"/>
            <a:ext cx="10789920" cy="411480"/>
          </a:xfrm>
          <a:prstGeom prst="rect">
            <a:avLst/>
          </a:prstGeom>
          <a:noFill/>
          <a:ln/>
        </p:spPr>
        <p:txBody>
          <a:bodyPr wrap="square" lIns="0" tIns="0" rIns="0" bIns="0" rtlCol="0" anchor="ctr"/>
          <a:lstStyle/>
          <a:p>
            <a:pPr indent="0" marL="0">
              <a:buNone/>
            </a:pPr>
            <a:r>
              <a:rPr lang="en-US" sz="2000" dirty="0">
                <a:solidFill>
                  <a:srgbClr val="595959"/>
                </a:solidFill>
                <a:latin typeface="Inter" pitchFamily="34" charset="0"/>
                <a:ea typeface="Inter" pitchFamily="34" charset="-122"/>
                <a:cs typeface="Inter" pitchFamily="34" charset="-120"/>
              </a:rPr>
              <a:t>South Point, Las Vegas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DAY 2 · GENERAL MANAGERS &amp; SERVICE MANAGERS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Agenda</a:t>
            </a:r>
            <a:endParaRPr lang="en-US" sz="2800" dirty="0"/>
          </a:p>
        </p:txBody>
      </p:sp>
      <p:sp>
        <p:nvSpPr>
          <p:cNvPr id="5" name="Shape 3"/>
          <p:cNvSpPr/>
          <p:nvPr/>
        </p:nvSpPr>
        <p:spPr>
          <a:xfrm>
            <a:off x="457200" y="1207008"/>
            <a:ext cx="5586984" cy="1195578"/>
          </a:xfrm>
          <a:prstGeom prst="rect">
            <a:avLst/>
          </a:prstGeom>
          <a:solidFill>
            <a:srgbClr val="FFFFFF"/>
          </a:solidFill>
          <a:ln/>
        </p:spPr>
      </p:sp>
      <p:sp>
        <p:nvSpPr>
          <p:cNvPr id="6" name="Shape 4"/>
          <p:cNvSpPr/>
          <p:nvPr/>
        </p:nvSpPr>
        <p:spPr>
          <a:xfrm>
            <a:off x="457200" y="1207008"/>
            <a:ext cx="50292" cy="1195578"/>
          </a:xfrm>
          <a:prstGeom prst="rect">
            <a:avLst/>
          </a:prstGeom>
          <a:solidFill>
            <a:srgbClr val="2587C5"/>
          </a:solidFill>
          <a:ln/>
        </p:spPr>
      </p:sp>
      <p:sp>
        <p:nvSpPr>
          <p:cNvPr id="7" name="Text 5"/>
          <p:cNvSpPr txBox="1"/>
          <p:nvPr/>
        </p:nvSpPr>
        <p:spPr>
          <a:xfrm>
            <a:off x="694944"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01</a:t>
            </a:r>
            <a:endParaRPr lang="en-US" sz="2000" dirty="0"/>
          </a:p>
        </p:txBody>
      </p:sp>
      <p:sp>
        <p:nvSpPr>
          <p:cNvPr id="8" name="Text 6"/>
          <p:cNvSpPr txBox="1"/>
          <p:nvPr/>
        </p:nvSpPr>
        <p:spPr>
          <a:xfrm>
            <a:off x="1371600"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9" name="Text 7"/>
          <p:cNvSpPr txBox="1"/>
          <p:nvPr/>
        </p:nvSpPr>
        <p:spPr>
          <a:xfrm>
            <a:off x="3703320"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Fixed ops, service and parts gross, and the store records.</a:t>
            </a:r>
            <a:endParaRPr lang="en-US" sz="1400" dirty="0"/>
          </a:p>
        </p:txBody>
      </p:sp>
      <p:sp>
        <p:nvSpPr>
          <p:cNvPr id="10" name="Shape 8"/>
          <p:cNvSpPr/>
          <p:nvPr/>
        </p:nvSpPr>
        <p:spPr>
          <a:xfrm>
            <a:off x="457200" y="2494026"/>
            <a:ext cx="5586984" cy="1195578"/>
          </a:xfrm>
          <a:prstGeom prst="rect">
            <a:avLst/>
          </a:prstGeom>
          <a:solidFill>
            <a:srgbClr val="FFFFFF"/>
          </a:solidFill>
          <a:ln/>
        </p:spPr>
      </p:sp>
      <p:sp>
        <p:nvSpPr>
          <p:cNvPr id="11" name="Shape 9"/>
          <p:cNvSpPr/>
          <p:nvPr/>
        </p:nvSpPr>
        <p:spPr>
          <a:xfrm>
            <a:off x="457200" y="2494026"/>
            <a:ext cx="50292" cy="1195578"/>
          </a:xfrm>
          <a:prstGeom prst="rect">
            <a:avLst/>
          </a:prstGeom>
          <a:solidFill>
            <a:srgbClr val="2587C5"/>
          </a:solidFill>
          <a:ln/>
        </p:spPr>
      </p:sp>
      <p:sp>
        <p:nvSpPr>
          <p:cNvPr id="12" name="Text 10"/>
          <p:cNvSpPr txBox="1"/>
          <p:nvPr/>
        </p:nvSpPr>
        <p:spPr>
          <a:xfrm>
            <a:off x="694944"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02</a:t>
            </a:r>
            <a:endParaRPr lang="en-US" sz="2000" dirty="0"/>
          </a:p>
        </p:txBody>
      </p:sp>
      <p:sp>
        <p:nvSpPr>
          <p:cNvPr id="13" name="Text 11"/>
          <p:cNvSpPr txBox="1"/>
          <p:nvPr/>
        </p:nvSpPr>
        <p:spPr>
          <a:xfrm>
            <a:off x="1371600"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4" name="Text 12"/>
          <p:cNvSpPr txBox="1"/>
          <p:nvPr/>
        </p:nvSpPr>
        <p:spPr>
          <a:xfrm>
            <a:off x="3703320"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Absorption and net to gross.</a:t>
            </a:r>
            <a:endParaRPr lang="en-US" sz="1400" dirty="0"/>
          </a:p>
        </p:txBody>
      </p:sp>
      <p:sp>
        <p:nvSpPr>
          <p:cNvPr id="15" name="Shape 13"/>
          <p:cNvSpPr/>
          <p:nvPr/>
        </p:nvSpPr>
        <p:spPr>
          <a:xfrm>
            <a:off x="457200" y="3781044"/>
            <a:ext cx="5586984" cy="1195578"/>
          </a:xfrm>
          <a:prstGeom prst="rect">
            <a:avLst/>
          </a:prstGeom>
          <a:solidFill>
            <a:srgbClr val="FFFFFF"/>
          </a:solidFill>
          <a:ln/>
        </p:spPr>
      </p:sp>
      <p:sp>
        <p:nvSpPr>
          <p:cNvPr id="16" name="Shape 14"/>
          <p:cNvSpPr/>
          <p:nvPr/>
        </p:nvSpPr>
        <p:spPr>
          <a:xfrm>
            <a:off x="457200" y="3781044"/>
            <a:ext cx="50292" cy="1195578"/>
          </a:xfrm>
          <a:prstGeom prst="rect">
            <a:avLst/>
          </a:prstGeom>
          <a:solidFill>
            <a:srgbClr val="2587C5"/>
          </a:solidFill>
          <a:ln/>
        </p:spPr>
      </p:sp>
      <p:sp>
        <p:nvSpPr>
          <p:cNvPr id="17" name="Text 15"/>
          <p:cNvSpPr txBox="1"/>
          <p:nvPr/>
        </p:nvSpPr>
        <p:spPr>
          <a:xfrm>
            <a:off x="694944"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03</a:t>
            </a:r>
            <a:endParaRPr lang="en-US" sz="2000" dirty="0"/>
          </a:p>
        </p:txBody>
      </p:sp>
      <p:sp>
        <p:nvSpPr>
          <p:cNvPr id="18" name="Text 16"/>
          <p:cNvSpPr txBox="1"/>
          <p:nvPr/>
        </p:nvSpPr>
        <p:spPr>
          <a:xfrm>
            <a:off x="1371600"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The CP Engine</a:t>
            </a:r>
            <a:endParaRPr lang="en-US" sz="1700" dirty="0"/>
          </a:p>
        </p:txBody>
      </p:sp>
      <p:sp>
        <p:nvSpPr>
          <p:cNvPr id="19" name="Text 17"/>
          <p:cNvSpPr txBox="1"/>
          <p:nvPr/>
        </p:nvSpPr>
        <p:spPr>
          <a:xfrm>
            <a:off x="3703320"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ROs, hours per RO, rate and margin.</a:t>
            </a:r>
            <a:endParaRPr lang="en-US" sz="1400" dirty="0"/>
          </a:p>
        </p:txBody>
      </p:sp>
      <p:sp>
        <p:nvSpPr>
          <p:cNvPr id="20" name="Shape 18"/>
          <p:cNvSpPr/>
          <p:nvPr/>
        </p:nvSpPr>
        <p:spPr>
          <a:xfrm>
            <a:off x="457200" y="5068062"/>
            <a:ext cx="5586984" cy="1195578"/>
          </a:xfrm>
          <a:prstGeom prst="rect">
            <a:avLst/>
          </a:prstGeom>
          <a:solidFill>
            <a:srgbClr val="FFFFFF"/>
          </a:solidFill>
          <a:ln/>
        </p:spPr>
      </p:sp>
      <p:sp>
        <p:nvSpPr>
          <p:cNvPr id="21" name="Shape 19"/>
          <p:cNvSpPr/>
          <p:nvPr/>
        </p:nvSpPr>
        <p:spPr>
          <a:xfrm>
            <a:off x="457200" y="5068062"/>
            <a:ext cx="50292" cy="1195578"/>
          </a:xfrm>
          <a:prstGeom prst="rect">
            <a:avLst/>
          </a:prstGeom>
          <a:solidFill>
            <a:srgbClr val="2587C5"/>
          </a:solidFill>
          <a:ln/>
        </p:spPr>
      </p:sp>
      <p:sp>
        <p:nvSpPr>
          <p:cNvPr id="22" name="Text 20"/>
          <p:cNvSpPr txBox="1"/>
          <p:nvPr/>
        </p:nvSpPr>
        <p:spPr>
          <a:xfrm>
            <a:off x="694944"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04</a:t>
            </a:r>
            <a:endParaRPr lang="en-US" sz="2000" dirty="0"/>
          </a:p>
        </p:txBody>
      </p:sp>
      <p:sp>
        <p:nvSpPr>
          <p:cNvPr id="23" name="Text 21"/>
          <p:cNvSpPr txBox="1"/>
          <p:nvPr/>
        </p:nvSpPr>
        <p:spPr>
          <a:xfrm>
            <a:off x="1371600"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Labor Mix</a:t>
            </a:r>
            <a:endParaRPr lang="en-US" sz="1700" dirty="0"/>
          </a:p>
        </p:txBody>
      </p:sp>
      <p:sp>
        <p:nvSpPr>
          <p:cNvPr id="24" name="Text 22"/>
          <p:cNvSpPr txBox="1"/>
          <p:nvPr/>
        </p:nvSpPr>
        <p:spPr>
          <a:xfrm>
            <a:off x="3703320"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Express, maintenance and repair mix.</a:t>
            </a:r>
            <a:endParaRPr lang="en-US" sz="1400" dirty="0"/>
          </a:p>
        </p:txBody>
      </p:sp>
      <p:sp>
        <p:nvSpPr>
          <p:cNvPr id="25" name="Shape 23"/>
          <p:cNvSpPr/>
          <p:nvPr/>
        </p:nvSpPr>
        <p:spPr>
          <a:xfrm>
            <a:off x="6144768" y="1207008"/>
            <a:ext cx="5586984" cy="1195578"/>
          </a:xfrm>
          <a:prstGeom prst="rect">
            <a:avLst/>
          </a:prstGeom>
          <a:solidFill>
            <a:srgbClr val="FFFFFF"/>
          </a:solidFill>
          <a:ln/>
        </p:spPr>
      </p:sp>
      <p:sp>
        <p:nvSpPr>
          <p:cNvPr id="26" name="Shape 24"/>
          <p:cNvSpPr/>
          <p:nvPr/>
        </p:nvSpPr>
        <p:spPr>
          <a:xfrm>
            <a:off x="6144768" y="1207008"/>
            <a:ext cx="50292" cy="1195578"/>
          </a:xfrm>
          <a:prstGeom prst="rect">
            <a:avLst/>
          </a:prstGeom>
          <a:solidFill>
            <a:srgbClr val="2587C5"/>
          </a:solidFill>
          <a:ln/>
        </p:spPr>
      </p:sp>
      <p:sp>
        <p:nvSpPr>
          <p:cNvPr id="27" name="Text 25"/>
          <p:cNvSpPr txBox="1"/>
          <p:nvPr/>
        </p:nvSpPr>
        <p:spPr>
          <a:xfrm>
            <a:off x="6382512"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05</a:t>
            </a:r>
            <a:endParaRPr lang="en-US" sz="2000" dirty="0"/>
          </a:p>
        </p:txBody>
      </p:sp>
      <p:sp>
        <p:nvSpPr>
          <p:cNvPr id="28" name="Text 26"/>
          <p:cNvSpPr txBox="1"/>
          <p:nvPr/>
        </p:nvSpPr>
        <p:spPr>
          <a:xfrm>
            <a:off x="7059168"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 Benchmarks</a:t>
            </a:r>
            <a:endParaRPr lang="en-US" sz="1700" dirty="0"/>
          </a:p>
        </p:txBody>
      </p:sp>
      <p:sp>
        <p:nvSpPr>
          <p:cNvPr id="29" name="Text 27"/>
          <p:cNvSpPr txBox="1"/>
          <p:nvPr/>
        </p:nvSpPr>
        <p:spPr>
          <a:xfrm>
            <a:off x="9390888"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Alignment, balance, brake fluid and fuel.</a:t>
            </a:r>
            <a:endParaRPr lang="en-US" sz="1400" dirty="0"/>
          </a:p>
        </p:txBody>
      </p:sp>
      <p:sp>
        <p:nvSpPr>
          <p:cNvPr id="30" name="Shape 28"/>
          <p:cNvSpPr/>
          <p:nvPr/>
        </p:nvSpPr>
        <p:spPr>
          <a:xfrm>
            <a:off x="6144768" y="2494026"/>
            <a:ext cx="5586984" cy="1195578"/>
          </a:xfrm>
          <a:prstGeom prst="rect">
            <a:avLst/>
          </a:prstGeom>
          <a:solidFill>
            <a:srgbClr val="FFFFFF"/>
          </a:solidFill>
          <a:ln/>
        </p:spPr>
      </p:sp>
      <p:sp>
        <p:nvSpPr>
          <p:cNvPr id="31" name="Shape 29"/>
          <p:cNvSpPr/>
          <p:nvPr/>
        </p:nvSpPr>
        <p:spPr>
          <a:xfrm>
            <a:off x="6144768" y="2494026"/>
            <a:ext cx="50292" cy="1195578"/>
          </a:xfrm>
          <a:prstGeom prst="rect">
            <a:avLst/>
          </a:prstGeom>
          <a:solidFill>
            <a:srgbClr val="2587C5"/>
          </a:solidFill>
          <a:ln/>
        </p:spPr>
      </p:sp>
      <p:sp>
        <p:nvSpPr>
          <p:cNvPr id="32" name="Text 30"/>
          <p:cNvSpPr txBox="1"/>
          <p:nvPr/>
        </p:nvSpPr>
        <p:spPr>
          <a:xfrm>
            <a:off x="6382512"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06</a:t>
            </a:r>
            <a:endParaRPr lang="en-US" sz="2000" dirty="0"/>
          </a:p>
        </p:txBody>
      </p:sp>
      <p:sp>
        <p:nvSpPr>
          <p:cNvPr id="33" name="Text 31"/>
          <p:cNvSpPr txBox="1"/>
          <p:nvPr/>
        </p:nvSpPr>
        <p:spPr>
          <a:xfrm>
            <a:off x="7059168"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 &amp; Internal</a:t>
            </a:r>
            <a:endParaRPr lang="en-US" sz="1700" dirty="0"/>
          </a:p>
        </p:txBody>
      </p:sp>
      <p:sp>
        <p:nvSpPr>
          <p:cNvPr id="34" name="Text 32"/>
          <p:cNvSpPr txBox="1"/>
          <p:nvPr/>
        </p:nvSpPr>
        <p:spPr>
          <a:xfrm>
            <a:off x="9390888"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Warranty ROs and rate, internal rate and margin.</a:t>
            </a:r>
            <a:endParaRPr lang="en-US" sz="1400" dirty="0"/>
          </a:p>
        </p:txBody>
      </p:sp>
      <p:sp>
        <p:nvSpPr>
          <p:cNvPr id="35" name="Shape 33"/>
          <p:cNvSpPr/>
          <p:nvPr/>
        </p:nvSpPr>
        <p:spPr>
          <a:xfrm>
            <a:off x="6144768" y="3781044"/>
            <a:ext cx="5586984" cy="1195578"/>
          </a:xfrm>
          <a:prstGeom prst="rect">
            <a:avLst/>
          </a:prstGeom>
          <a:solidFill>
            <a:srgbClr val="FFFFFF"/>
          </a:solidFill>
          <a:ln/>
        </p:spPr>
      </p:sp>
      <p:sp>
        <p:nvSpPr>
          <p:cNvPr id="36" name="Shape 34"/>
          <p:cNvSpPr/>
          <p:nvPr/>
        </p:nvSpPr>
        <p:spPr>
          <a:xfrm>
            <a:off x="6144768" y="3781044"/>
            <a:ext cx="50292" cy="1195578"/>
          </a:xfrm>
          <a:prstGeom prst="rect">
            <a:avLst/>
          </a:prstGeom>
          <a:solidFill>
            <a:srgbClr val="2587C5"/>
          </a:solidFill>
          <a:ln/>
        </p:spPr>
      </p:sp>
      <p:sp>
        <p:nvSpPr>
          <p:cNvPr id="37" name="Text 35"/>
          <p:cNvSpPr txBox="1"/>
          <p:nvPr/>
        </p:nvSpPr>
        <p:spPr>
          <a:xfrm>
            <a:off x="6382512"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07</a:t>
            </a:r>
            <a:endParaRPr lang="en-US" sz="2000" dirty="0"/>
          </a:p>
        </p:txBody>
      </p:sp>
      <p:sp>
        <p:nvSpPr>
          <p:cNvPr id="38" name="Text 36"/>
          <p:cNvSpPr txBox="1"/>
          <p:nvPr/>
        </p:nvSpPr>
        <p:spPr>
          <a:xfrm>
            <a:off x="7059168"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39" name="Text 37"/>
          <p:cNvSpPr txBox="1"/>
          <p:nvPr/>
        </p:nvSpPr>
        <p:spPr>
          <a:xfrm>
            <a:off x="9390888"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Gross per employee, headcount and technician proficiency.</a:t>
            </a:r>
            <a:endParaRPr lang="en-US" sz="1400" dirty="0"/>
          </a:p>
        </p:txBody>
      </p:sp>
      <p:sp>
        <p:nvSpPr>
          <p:cNvPr id="40" name="Shape 38"/>
          <p:cNvSpPr/>
          <p:nvPr/>
        </p:nvSpPr>
        <p:spPr>
          <a:xfrm>
            <a:off x="6144768" y="5068062"/>
            <a:ext cx="5586984" cy="1195578"/>
          </a:xfrm>
          <a:prstGeom prst="rect">
            <a:avLst/>
          </a:prstGeom>
          <a:solidFill>
            <a:srgbClr val="FFFFFF"/>
          </a:solidFill>
          <a:ln/>
        </p:spPr>
      </p:sp>
      <p:sp>
        <p:nvSpPr>
          <p:cNvPr id="41" name="Shape 39"/>
          <p:cNvSpPr/>
          <p:nvPr/>
        </p:nvSpPr>
        <p:spPr>
          <a:xfrm>
            <a:off x="6144768" y="5068062"/>
            <a:ext cx="50292" cy="1195578"/>
          </a:xfrm>
          <a:prstGeom prst="rect">
            <a:avLst/>
          </a:prstGeom>
          <a:solidFill>
            <a:srgbClr val="2587C5"/>
          </a:solidFill>
          <a:ln/>
        </p:spPr>
      </p:sp>
      <p:sp>
        <p:nvSpPr>
          <p:cNvPr id="42" name="Text 40"/>
          <p:cNvSpPr txBox="1"/>
          <p:nvPr/>
        </p:nvSpPr>
        <p:spPr>
          <a:xfrm>
            <a:off x="6382512"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08</a:t>
            </a:r>
            <a:endParaRPr lang="en-US" sz="2000" dirty="0"/>
          </a:p>
        </p:txBody>
      </p:sp>
      <p:sp>
        <p:nvSpPr>
          <p:cNvPr id="43" name="Text 41"/>
          <p:cNvSpPr txBox="1"/>
          <p:nvPr/>
        </p:nvSpPr>
        <p:spPr>
          <a:xfrm>
            <a:off x="7059168"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
        <p:nvSpPr>
          <p:cNvPr id="44" name="Text 42"/>
          <p:cNvSpPr txBox="1"/>
          <p:nvPr/>
        </p:nvSpPr>
        <p:spPr>
          <a:xfrm>
            <a:off x="9390888"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changed, where the money is, and commitments.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01</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
        <p:nvSpPr>
          <p:cNvPr id="6" name="Shape 3"/>
          <p:cNvSpPr/>
          <p:nvPr/>
        </p:nvSpPr>
        <p:spPr>
          <a:xfrm>
            <a:off x="685800" y="4983480"/>
            <a:ext cx="1956816" cy="91440"/>
          </a:xfrm>
          <a:prstGeom prst="rect">
            <a:avLst/>
          </a:prstGeom>
          <a:solidFill>
            <a:srgbClr val="2587C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550" b="1" dirty="0">
                <a:solidFill>
                  <a:srgbClr val="1A1A1A"/>
                </a:solidFill>
                <a:latin typeface="Inter" pitchFamily="34" charset="0"/>
                <a:ea typeface="Inter" pitchFamily="34" charset="-122"/>
                <a:cs typeface="Inter" pitchFamily="34" charset="-120"/>
              </a:rPr>
              <a:t>Gross</a:t>
            </a:r>
            <a:endParaRPr lang="en-US" sz="1550" dirty="0"/>
          </a:p>
        </p:txBody>
      </p:sp>
      <p:sp>
        <p:nvSpPr>
          <p:cNvPr id="8" name="Shape 5"/>
          <p:cNvSpPr/>
          <p:nvPr/>
        </p:nvSpPr>
        <p:spPr>
          <a:xfrm>
            <a:off x="2843784" y="4983480"/>
            <a:ext cx="1956816" cy="45720"/>
          </a:xfrm>
          <a:prstGeom prst="rect">
            <a:avLst/>
          </a:prstGeom>
          <a:solidFill>
            <a:srgbClr val="D9D9D9"/>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Profitability</a:t>
            </a:r>
            <a:endParaRPr lang="en-US" sz="155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CP Engine</a:t>
            </a:r>
            <a:endParaRPr lang="en-US" sz="155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Labor Mix</a:t>
            </a:r>
            <a:endParaRPr lang="en-US" sz="155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Opcodes</a:t>
            </a:r>
            <a:endParaRPr lang="en-US" sz="155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Warranty &amp; Internal</a:t>
            </a:r>
            <a:endParaRPr lang="en-US" sz="155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Productivity</a:t>
            </a:r>
            <a:endParaRPr lang="en-US" sz="155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Close</a:t>
            </a:r>
            <a:endParaRPr lang="en-US" sz="15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02</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Gross</a:t>
            </a:r>
            <a:endParaRPr lang="en-US" sz="1550" dirty="0"/>
          </a:p>
        </p:txBody>
      </p:sp>
      <p:sp>
        <p:nvSpPr>
          <p:cNvPr id="8" name="Shape 5"/>
          <p:cNvSpPr/>
          <p:nvPr/>
        </p:nvSpPr>
        <p:spPr>
          <a:xfrm>
            <a:off x="2843784" y="4983480"/>
            <a:ext cx="1956816" cy="91440"/>
          </a:xfrm>
          <a:prstGeom prst="rect">
            <a:avLst/>
          </a:prstGeom>
          <a:solidFill>
            <a:srgbClr val="2587C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550" b="1" dirty="0">
                <a:solidFill>
                  <a:srgbClr val="1A1A1A"/>
                </a:solidFill>
                <a:latin typeface="Inter" pitchFamily="34" charset="0"/>
                <a:ea typeface="Inter" pitchFamily="34" charset="-122"/>
                <a:cs typeface="Inter" pitchFamily="34" charset="-120"/>
              </a:rPr>
              <a:t>Profitability</a:t>
            </a:r>
            <a:endParaRPr lang="en-US" sz="155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CP Engine</a:t>
            </a:r>
            <a:endParaRPr lang="en-US" sz="155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Labor Mix</a:t>
            </a:r>
            <a:endParaRPr lang="en-US" sz="155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Opcodes</a:t>
            </a:r>
            <a:endParaRPr lang="en-US" sz="155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Warranty &amp; Internal</a:t>
            </a:r>
            <a:endParaRPr lang="en-US" sz="155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Productivity</a:t>
            </a:r>
            <a:endParaRPr lang="en-US" sz="155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Close</a:t>
            </a:r>
            <a:endParaRPr lang="en-US" sz="15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03</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The CP Engine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ELR   ·   $ per RO   ·   Margin</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Gross</a:t>
            </a:r>
            <a:endParaRPr lang="en-US" sz="155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Profitability</a:t>
            </a:r>
            <a:endParaRPr lang="en-US" sz="1550" dirty="0"/>
          </a:p>
        </p:txBody>
      </p:sp>
      <p:sp>
        <p:nvSpPr>
          <p:cNvPr id="10" name="Shape 7"/>
          <p:cNvSpPr/>
          <p:nvPr/>
        </p:nvSpPr>
        <p:spPr>
          <a:xfrm>
            <a:off x="5001768" y="4983480"/>
            <a:ext cx="1956816" cy="91440"/>
          </a:xfrm>
          <a:prstGeom prst="rect">
            <a:avLst/>
          </a:prstGeom>
          <a:solidFill>
            <a:srgbClr val="2587C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550" b="1" dirty="0">
                <a:solidFill>
                  <a:srgbClr val="1A1A1A"/>
                </a:solidFill>
                <a:latin typeface="Inter" pitchFamily="34" charset="0"/>
                <a:ea typeface="Inter" pitchFamily="34" charset="-122"/>
                <a:cs typeface="Inter" pitchFamily="34" charset="-120"/>
              </a:rPr>
              <a:t>CP Engine</a:t>
            </a:r>
            <a:endParaRPr lang="en-US" sz="155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Labor Mix</a:t>
            </a:r>
            <a:endParaRPr lang="en-US" sz="155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Opcodes</a:t>
            </a:r>
            <a:endParaRPr lang="en-US" sz="155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Warranty &amp; Internal</a:t>
            </a:r>
            <a:endParaRPr lang="en-US" sz="155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Productivity</a:t>
            </a:r>
            <a:endParaRPr lang="en-US" sz="155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Close</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04</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Labor Mix</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Pay type   ·   Work type   ·   Op code descriptions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Gross</a:t>
            </a:r>
            <a:endParaRPr lang="en-US" sz="155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Profitability</a:t>
            </a:r>
            <a:endParaRPr lang="en-US" sz="155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CP Engine</a:t>
            </a:r>
            <a:endParaRPr lang="en-US" sz="1550" dirty="0"/>
          </a:p>
        </p:txBody>
      </p:sp>
      <p:sp>
        <p:nvSpPr>
          <p:cNvPr id="12" name="Shape 9"/>
          <p:cNvSpPr/>
          <p:nvPr/>
        </p:nvSpPr>
        <p:spPr>
          <a:xfrm>
            <a:off x="7159752" y="4983480"/>
            <a:ext cx="1956816" cy="91440"/>
          </a:xfrm>
          <a:prstGeom prst="rect">
            <a:avLst/>
          </a:prstGeom>
          <a:solidFill>
            <a:srgbClr val="2587C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550" b="1" dirty="0">
                <a:solidFill>
                  <a:srgbClr val="1A1A1A"/>
                </a:solidFill>
                <a:latin typeface="Inter" pitchFamily="34" charset="0"/>
                <a:ea typeface="Inter" pitchFamily="34" charset="-122"/>
                <a:cs typeface="Inter" pitchFamily="34" charset="-120"/>
              </a:rPr>
              <a:t>Labor Mix</a:t>
            </a:r>
            <a:endParaRPr lang="en-US" sz="155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Opcodes</a:t>
            </a:r>
            <a:endParaRPr lang="en-US" sz="155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Warranty &amp; Internal</a:t>
            </a:r>
            <a:endParaRPr lang="en-US" sz="155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Productivity</a:t>
            </a:r>
            <a:endParaRPr lang="en-US" sz="155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Close</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05</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Alignment 15%   ·   Balance 15%   ·   Brake fluid 10%   ·   Fuel service 7.5%</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Gross</a:t>
            </a:r>
            <a:endParaRPr lang="en-US" sz="155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Profitability</a:t>
            </a:r>
            <a:endParaRPr lang="en-US" sz="155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CP Engine</a:t>
            </a:r>
            <a:endParaRPr lang="en-US" sz="155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Labor Mix</a:t>
            </a:r>
            <a:endParaRPr lang="en-US" sz="1550" dirty="0"/>
          </a:p>
        </p:txBody>
      </p:sp>
      <p:sp>
        <p:nvSpPr>
          <p:cNvPr id="14" name="Shape 11"/>
          <p:cNvSpPr/>
          <p:nvPr/>
        </p:nvSpPr>
        <p:spPr>
          <a:xfrm>
            <a:off x="9317736" y="4983480"/>
            <a:ext cx="1956816" cy="91440"/>
          </a:xfrm>
          <a:prstGeom prst="rect">
            <a:avLst/>
          </a:prstGeom>
          <a:solidFill>
            <a:srgbClr val="2587C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550" b="1" dirty="0">
                <a:solidFill>
                  <a:srgbClr val="1A1A1A"/>
                </a:solidFill>
                <a:latin typeface="Inter" pitchFamily="34" charset="0"/>
                <a:ea typeface="Inter" pitchFamily="34" charset="-122"/>
                <a:cs typeface="Inter" pitchFamily="34" charset="-120"/>
              </a:rPr>
              <a:t>Opcodes</a:t>
            </a:r>
            <a:endParaRPr lang="en-US" sz="155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Warranty &amp; Internal</a:t>
            </a:r>
            <a:endParaRPr lang="en-US" sz="155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Productivity</a:t>
            </a:r>
            <a:endParaRPr lang="en-US" sz="155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Close</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06</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200" b="1" dirty="0">
                <a:solidFill>
                  <a:srgbClr val="1A1A1A"/>
                </a:solidFill>
                <a:latin typeface="Inter" pitchFamily="34" charset="0"/>
                <a:ea typeface="Inter" pitchFamily="34" charset="-122"/>
                <a:cs typeface="Inter" pitchFamily="34" charset="-120"/>
              </a:rPr>
              <a:t>Warranty &amp; Internal</a:t>
            </a:r>
            <a:endParaRPr lang="en-US" sz="72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Warranty ROs   ·   Warranty ELR   ·   Internal ELR</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Gross</a:t>
            </a:r>
            <a:endParaRPr lang="en-US" sz="155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Profitability</a:t>
            </a:r>
            <a:endParaRPr lang="en-US" sz="155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CP Engine</a:t>
            </a:r>
            <a:endParaRPr lang="en-US" sz="155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Labor Mix</a:t>
            </a:r>
            <a:endParaRPr lang="en-US" sz="155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Opcodes</a:t>
            </a:r>
            <a:endParaRPr lang="en-US" sz="1550" dirty="0"/>
          </a:p>
        </p:txBody>
      </p:sp>
      <p:sp>
        <p:nvSpPr>
          <p:cNvPr id="16" name="Shape 13"/>
          <p:cNvSpPr/>
          <p:nvPr/>
        </p:nvSpPr>
        <p:spPr>
          <a:xfrm>
            <a:off x="685800" y="5696712"/>
            <a:ext cx="1956816" cy="91440"/>
          </a:xfrm>
          <a:prstGeom prst="rect">
            <a:avLst/>
          </a:prstGeom>
          <a:solidFill>
            <a:srgbClr val="2587C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550" b="1" dirty="0">
                <a:solidFill>
                  <a:srgbClr val="1A1A1A"/>
                </a:solidFill>
                <a:latin typeface="Inter" pitchFamily="34" charset="0"/>
                <a:ea typeface="Inter" pitchFamily="34" charset="-122"/>
                <a:cs typeface="Inter" pitchFamily="34" charset="-120"/>
              </a:rPr>
              <a:t>Warranty &amp; Internal</a:t>
            </a:r>
            <a:endParaRPr lang="en-US" sz="155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Productivity</a:t>
            </a:r>
            <a:endParaRPr lang="en-US" sz="155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Close</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07</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Gross per employee   ·   ROs per person   ·   Headcount   ·   Technician proficiency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Gross</a:t>
            </a:r>
            <a:endParaRPr lang="en-US" sz="155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Profitability</a:t>
            </a:r>
            <a:endParaRPr lang="en-US" sz="155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CP Engine</a:t>
            </a:r>
            <a:endParaRPr lang="en-US" sz="155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Labor Mix</a:t>
            </a:r>
            <a:endParaRPr lang="en-US" sz="155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Opcodes</a:t>
            </a:r>
            <a:endParaRPr lang="en-US" sz="155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Warranty &amp; Internal</a:t>
            </a:r>
            <a:endParaRPr lang="en-US" sz="1550" dirty="0"/>
          </a:p>
        </p:txBody>
      </p:sp>
      <p:sp>
        <p:nvSpPr>
          <p:cNvPr id="18" name="Shape 15"/>
          <p:cNvSpPr/>
          <p:nvPr/>
        </p:nvSpPr>
        <p:spPr>
          <a:xfrm>
            <a:off x="2843784" y="5696712"/>
            <a:ext cx="1956816" cy="91440"/>
          </a:xfrm>
          <a:prstGeom prst="rect">
            <a:avLst/>
          </a:prstGeom>
          <a:solidFill>
            <a:srgbClr val="2587C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550" b="1" dirty="0">
                <a:solidFill>
                  <a:srgbClr val="1A1A1A"/>
                </a:solidFill>
                <a:latin typeface="Inter" pitchFamily="34" charset="0"/>
                <a:ea typeface="Inter" pitchFamily="34" charset="-122"/>
                <a:cs typeface="Inter" pitchFamily="34" charset="-120"/>
              </a:rPr>
              <a:t>Productivity</a:t>
            </a:r>
            <a:endParaRPr lang="en-US" sz="155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Close</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08</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Close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Most improved   ·   Where the money is   ·   Before you leave</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Gross</a:t>
            </a:r>
            <a:endParaRPr lang="en-US" sz="155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Profitability</a:t>
            </a:r>
            <a:endParaRPr lang="en-US" sz="155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CP Engine</a:t>
            </a:r>
            <a:endParaRPr lang="en-US" sz="155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Labor Mix</a:t>
            </a:r>
            <a:endParaRPr lang="en-US" sz="155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Opcodes</a:t>
            </a:r>
            <a:endParaRPr lang="en-US" sz="155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Warranty &amp; Internal</a:t>
            </a:r>
            <a:endParaRPr lang="en-US" sz="1550" dirty="0"/>
          </a:p>
        </p:txBody>
      </p:sp>
      <p:sp>
        <p:nvSpPr>
          <p:cNvPr id="18" name="Shape 15"/>
          <p:cNvSpPr/>
          <p:nvPr/>
        </p:nvSpPr>
        <p:spPr>
          <a:xfrm>
            <a:off x="2843784" y="5696712"/>
            <a:ext cx="1956816" cy="45720"/>
          </a:xfrm>
          <a:prstGeom prst="rect">
            <a:avLst/>
          </a:prstGeom>
          <a:solidFill>
            <a:srgbClr val="5B9BD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Productivity</a:t>
            </a:r>
            <a:endParaRPr lang="en-US" sz="1550" dirty="0"/>
          </a:p>
        </p:txBody>
      </p:sp>
      <p:sp>
        <p:nvSpPr>
          <p:cNvPr id="20" name="Shape 17"/>
          <p:cNvSpPr/>
          <p:nvPr/>
        </p:nvSpPr>
        <p:spPr>
          <a:xfrm>
            <a:off x="5001768" y="5696712"/>
            <a:ext cx="1956816" cy="91440"/>
          </a:xfrm>
          <a:prstGeom prst="rect">
            <a:avLst/>
          </a:prstGeom>
          <a:solidFill>
            <a:srgbClr val="2587C5"/>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550" b="1" dirty="0">
                <a:solidFill>
                  <a:srgbClr val="1A1A1A"/>
                </a:solidFill>
                <a:latin typeface="Inter" pitchFamily="34" charset="0"/>
                <a:ea typeface="Inter" pitchFamily="34" charset="-122"/>
                <a:cs typeface="Inter" pitchFamily="34" charset="-120"/>
              </a:rPr>
              <a:t>Close</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NOT PRESENTED · FOR REVIEW</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Open Decisions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Gross &amp; records   ·   Door rate   ·   Internal GP %   ·   Best techs   ·   Most improved</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risk of judgement: your success is our success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Customer first, company second, team third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You get what you tolerate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Leverage the power in this room: collaboration</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+$7,468,567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up 4.1% year to date. 25 of 33 stores grew.</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absorption, up 2.1 pts. Fixed gross grew 4.1%, fixed expenses 1.3%.</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21.8%</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net to gross, up 2.9 pts and ahead of 2025 in all nine months.</a:t>
            </a:r>
            <a:endParaRPr lang="en-US" sz="1400" dirty="0"/>
          </a:p>
        </p:txBody>
      </p:sp>
      <p:sp>
        <p:nvSpPr>
          <p:cNvPr id="19" name="Shape 17"/>
          <p:cNvSpPr/>
          <p:nvPr/>
        </p:nvSpPr>
        <p:spPr>
          <a:xfrm>
            <a:off x="457200" y="6126480"/>
            <a:ext cx="11274552" cy="615696"/>
          </a:xfrm>
          <a:prstGeom prst="rect">
            <a:avLst/>
          </a:prstGeom>
          <a:solidFill>
            <a:srgbClr val="E6F6EE"/>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Sell hours, build value, sell peace of mind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visits: don't say no to dollars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Generate throughput: max out hours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retention and sell cars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sells the first car. Service sells the next six.</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but parts net to gross slipped 0.4 pts to 36.7%.</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$20.59M</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a month over the last twelve months.</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2889504"/>
          <a:ext cx="10945368" cy="3008376"/>
        </p:xfrm>
        <a:graphic>
          <a:graphicData uri="http://schemas.openxmlformats.org/drawingml/2006/chart">
            <c:chart xmlns:c="http://schemas.openxmlformats.org/drawingml/2006/chart" r:id="rId2"/>
          </a:graphicData>
        </a:graphic>
      </p:graphicFrame>
      <p:sp>
        <p:nvSpPr>
          <p:cNvPr id="18" name="Shape 15"/>
          <p:cNvSpPr/>
          <p:nvPr/>
        </p:nvSpPr>
        <p:spPr>
          <a:xfrm>
            <a:off x="457200" y="6126480"/>
            <a:ext cx="11274552" cy="371856"/>
          </a:xfrm>
          <a:prstGeom prst="rect">
            <a:avLst/>
          </a:prstGeom>
          <a:solidFill>
            <a:srgbClr val="E6F6EE"/>
          </a:solidFill>
          <a:ln/>
        </p:spPr>
      </p:sp>
      <p:sp>
        <p:nvSpPr>
          <p:cNvPr id="19" name="Text 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+$7,468,567 (4.1%) year to date; 6 of nine months ahead of 2025, best September at +$2,098,497.</a:t>
            </a:r>
            <a:endParaRPr lang="en-US" sz="16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339226"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67458"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98871"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815948"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776819"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97445"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534720"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98047"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80108"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11218"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87746"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87152"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030502"/>
            <a:ext cx="366719"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270397"/>
            <a:ext cx="361706"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60997"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5750188"/>
            <a:ext cx="338585"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1860"/>
            <a:ext cx="335529"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316795"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87606"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84566"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76517"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67522"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41377"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34183"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218568"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189081"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310815"/>
            <a:ext cx="184970"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550711"/>
            <a:ext cx="183743"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78709"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28860"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24271"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8355"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$22.59M of the group's $188.80M; VW St George is smallest at $968,018.</a:t>
            </a:r>
            <a:endParaRPr lang="en-US" sz="160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+$7.47M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+$1.77M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785616" y="2151755"/>
            <a:ext cx="747497"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3785616" y="2391651"/>
            <a:ext cx="408567"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+$931,844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785616" y="2631546"/>
            <a:ext cx="33486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+$763,736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31454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+$717,392</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29119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+$664,150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7" name="Shape 35"/>
          <p:cNvSpPr/>
          <p:nvPr/>
        </p:nvSpPr>
        <p:spPr>
          <a:xfrm>
            <a:off x="3785616" y="3351233"/>
            <a:ext cx="25688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+$585,903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1" name="Shape 39"/>
          <p:cNvSpPr/>
          <p:nvPr/>
        </p:nvSpPr>
        <p:spPr>
          <a:xfrm>
            <a:off x="3785616" y="3591128"/>
            <a:ext cx="2387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+$544,518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785616" y="3831024"/>
            <a:ext cx="20712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+$472,394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785616" y="4070920"/>
            <a:ext cx="194934"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+$444,598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785616" y="4310815"/>
            <a:ext cx="18518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+$422,352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3785616" y="4550711"/>
            <a:ext cx="17734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+$404,490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1" name="Shape 59"/>
          <p:cNvSpPr/>
          <p:nvPr/>
        </p:nvSpPr>
        <p:spPr>
          <a:xfrm>
            <a:off x="3785616" y="4790606"/>
            <a:ext cx="16350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+$372,910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5" name="Shape 63"/>
          <p:cNvSpPr/>
          <p:nvPr/>
        </p:nvSpPr>
        <p:spPr>
          <a:xfrm>
            <a:off x="3785616" y="5030502"/>
            <a:ext cx="16136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+$368,043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9466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+$215,909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3" name="Shape 71"/>
          <p:cNvSpPr/>
          <p:nvPr/>
        </p:nvSpPr>
        <p:spPr>
          <a:xfrm>
            <a:off x="3785616" y="5510293"/>
            <a:ext cx="7818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+$178,326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6869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+$156,681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9336024" y="1911860"/>
            <a:ext cx="5926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+$135,167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5" name="Shape 83"/>
          <p:cNvSpPr/>
          <p:nvPr/>
        </p:nvSpPr>
        <p:spPr>
          <a:xfrm>
            <a:off x="9336024" y="2151755"/>
            <a:ext cx="5480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+$124,997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9336024" y="2391651"/>
            <a:ext cx="5245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+$119,647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41708"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+$95,125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7" name="Shape 95"/>
          <p:cNvSpPr/>
          <p:nvPr/>
        </p:nvSpPr>
        <p:spPr>
          <a:xfrm>
            <a:off x="9336024" y="2871442"/>
            <a:ext cx="38665"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+$88,186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9336024" y="3111337"/>
            <a:ext cx="2753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+$62,795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5" name="Shape 103"/>
          <p:cNvSpPr/>
          <p:nvPr/>
        </p:nvSpPr>
        <p:spPr>
          <a:xfrm>
            <a:off x="9336024" y="3351233"/>
            <a:ext cx="17080"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+$38,956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336024" y="3591128"/>
            <a:ext cx="12802"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+$22,653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9264624" y="3831024"/>
            <a:ext cx="71400"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−$162,846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246736" y="4070920"/>
            <a:ext cx="89288"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−$203,644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1" name="Shape 119"/>
          <p:cNvSpPr/>
          <p:nvPr/>
        </p:nvSpPr>
        <p:spPr>
          <a:xfrm>
            <a:off x="9144427" y="4310815"/>
            <a:ext cx="19159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−$436,988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5" name="Shape 123"/>
          <p:cNvSpPr/>
          <p:nvPr/>
        </p:nvSpPr>
        <p:spPr>
          <a:xfrm>
            <a:off x="9117423" y="4550711"/>
            <a:ext cx="21860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−$498,577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9" name="Shape 127"/>
          <p:cNvSpPr/>
          <p:nvPr/>
        </p:nvSpPr>
        <p:spPr>
          <a:xfrm>
            <a:off x="9109439" y="4790606"/>
            <a:ext cx="226585"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−$516,788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9108098" y="5030502"/>
            <a:ext cx="227926"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−$519,845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9002279" y="5270397"/>
            <a:ext cx="33374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−$761,192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1" name="Shape 139"/>
          <p:cNvSpPr/>
          <p:nvPr/>
        </p:nvSpPr>
        <p:spPr>
          <a:xfrm>
            <a:off x="8967774" y="5510293"/>
            <a:ext cx="36825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−$839,891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6F6EE"/>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25 of 33 stores grew, led by Toyota Henderson at +$1,772,700; 8 declined, Honda North most at −$839,891.</a:t>
            </a:r>
            <a:endParaRPr lang="en-US" sz="15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5486400" cy="4782312"/>
          </a:xfrm>
          <a:prstGeom prst="rect">
            <a:avLst/>
          </a:prstGeom>
          <a:solidFill>
            <a:srgbClr val="FFFFFF"/>
          </a:solidFill>
          <a:ln/>
        </p:spPr>
      </p:sp>
      <p:sp>
        <p:nvSpPr>
          <p:cNvPr id="6" name="Text 4"/>
          <p:cNvSpPr txBox="1"/>
          <p:nvPr/>
        </p:nvSpPr>
        <p:spPr>
          <a:xfrm>
            <a:off x="685800" y="1344168"/>
            <a:ext cx="502920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How the group got there, Jan–Sep</a:t>
            </a:r>
            <a:endParaRPr lang="en-US" sz="1500" dirty="0"/>
          </a:p>
        </p:txBody>
      </p:sp>
      <p:sp>
        <p:nvSpPr>
          <p:cNvPr id="7" name="Shape 5"/>
          <p:cNvSpPr/>
          <p:nvPr/>
        </p:nvSpPr>
        <p:spPr>
          <a:xfrm>
            <a:off x="685800" y="1691640"/>
            <a:ext cx="5029200" cy="10973"/>
          </a:xfrm>
          <a:prstGeom prst="rect">
            <a:avLst/>
          </a:prstGeom>
          <a:solidFill>
            <a:srgbClr val="1A1A1A"/>
          </a:solidFill>
          <a:ln/>
        </p:spPr>
      </p:sp>
      <p:sp>
        <p:nvSpPr>
          <p:cNvPr id="8" name="Shape 6"/>
          <p:cNvSpPr/>
          <p:nvPr/>
        </p:nvSpPr>
        <p:spPr>
          <a:xfrm>
            <a:off x="713232" y="1700784"/>
            <a:ext cx="4974336" cy="621792"/>
          </a:xfrm>
          <a:prstGeom prst="rect">
            <a:avLst/>
          </a:prstGeom>
          <a:solidFill>
            <a:srgbClr val="F7F7F7"/>
          </a:solidFill>
          <a:ln/>
        </p:spPr>
      </p:sp>
      <p:sp>
        <p:nvSpPr>
          <p:cNvPr id="9" name="Text 7"/>
          <p:cNvSpPr txBox="1"/>
          <p:nvPr/>
        </p:nvSpPr>
        <p:spPr>
          <a:xfrm>
            <a:off x="896112" y="1728216"/>
            <a:ext cx="2743200" cy="457200"/>
          </a:xfrm>
          <a:prstGeom prst="rect">
            <a:avLst/>
          </a:prstGeom>
          <a:noFill/>
          <a:ln/>
        </p:spPr>
        <p:txBody>
          <a:bodyPr wrap="square" lIns="0" tIns="0" rIns="0" bIns="0" rtlCol="0" anchor="ctr"/>
          <a:lstStyle/>
          <a:p>
            <a:pPr indent="0" marL="0">
              <a:buNone/>
            </a:pPr>
            <a:r>
              <a:rPr lang="en-US" sz="2600" b="1" dirty="0">
                <a:solidFill>
                  <a:srgbClr val="1A1A1A"/>
                </a:solidFill>
                <a:latin typeface="Inter" pitchFamily="34" charset="0"/>
                <a:ea typeface="Inter" pitchFamily="34" charset="-122"/>
                <a:cs typeface="Inter" pitchFamily="34" charset="-120"/>
              </a:rPr>
              <a:t>$181.33M</a:t>
            </a:r>
            <a:endParaRPr lang="en-US" sz="2600" dirty="0"/>
          </a:p>
        </p:txBody>
      </p:sp>
      <p:sp>
        <p:nvSpPr>
          <p:cNvPr id="10" name="Text 8"/>
          <p:cNvSpPr txBox="1"/>
          <p:nvPr/>
        </p:nvSpPr>
        <p:spPr>
          <a:xfrm>
            <a:off x="3657600" y="1728216"/>
            <a:ext cx="1874520" cy="585216"/>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2025 group</a:t>
            </a:r>
            <a:endParaRPr lang="en-US" sz="1400" dirty="0"/>
          </a:p>
        </p:txBody>
      </p:sp>
      <p:sp>
        <p:nvSpPr>
          <p:cNvPr id="11" name="Shape 9"/>
          <p:cNvSpPr/>
          <p:nvPr/>
        </p:nvSpPr>
        <p:spPr>
          <a:xfrm>
            <a:off x="987552" y="2395728"/>
            <a:ext cx="292608" cy="292608"/>
          </a:xfrm>
          <a:prstGeom prst="ellipse">
            <a:avLst/>
          </a:prstGeom>
          <a:solidFill>
            <a:srgbClr val="2587C5"/>
          </a:solidFill>
          <a:ln/>
        </p:spPr>
      </p:sp>
      <p:sp>
        <p:nvSpPr>
          <p:cNvPr id="12" name="Text 10"/>
          <p:cNvSpPr txBox="1"/>
          <p:nvPr/>
        </p:nvSpPr>
        <p:spPr>
          <a:xfrm>
            <a:off x="987552" y="2395728"/>
            <a:ext cx="292608" cy="292608"/>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3" name="Shape 11"/>
          <p:cNvSpPr/>
          <p:nvPr/>
        </p:nvSpPr>
        <p:spPr>
          <a:xfrm>
            <a:off x="713232" y="2706624"/>
            <a:ext cx="4974336" cy="621792"/>
          </a:xfrm>
          <a:prstGeom prst="rect">
            <a:avLst/>
          </a:prstGeom>
          <a:solidFill>
            <a:srgbClr val="E6F6EE"/>
          </a:solidFill>
          <a:ln/>
        </p:spPr>
      </p:sp>
      <p:sp>
        <p:nvSpPr>
          <p:cNvPr id="14" name="Text 12"/>
          <p:cNvSpPr txBox="1"/>
          <p:nvPr/>
        </p:nvSpPr>
        <p:spPr>
          <a:xfrm>
            <a:off x="896112" y="2734056"/>
            <a:ext cx="2743200" cy="457200"/>
          </a:xfrm>
          <a:prstGeom prst="rect">
            <a:avLst/>
          </a:prstGeom>
          <a:noFill/>
          <a:ln/>
        </p:spPr>
        <p:txBody>
          <a:bodyPr wrap="square" lIns="0" tIns="0" rIns="0" bIns="0" rtlCol="0" anchor="ctr"/>
          <a:lstStyle/>
          <a:p>
            <a:pPr indent="0" marL="0">
              <a:buNone/>
            </a:pPr>
            <a:r>
              <a:rPr lang="en-US" sz="2600" b="1" dirty="0">
                <a:solidFill>
                  <a:srgbClr val="0B7A4A"/>
                </a:solidFill>
                <a:latin typeface="Inter" pitchFamily="34" charset="0"/>
                <a:ea typeface="Inter" pitchFamily="34" charset="-122"/>
                <a:cs typeface="Inter" pitchFamily="34" charset="-120"/>
              </a:rPr>
              <a:t>+$7,468,567</a:t>
            </a:r>
            <a:endParaRPr lang="en-US" sz="2600" dirty="0"/>
          </a:p>
        </p:txBody>
      </p:sp>
      <p:sp>
        <p:nvSpPr>
          <p:cNvPr id="15" name="Text 13"/>
          <p:cNvSpPr txBox="1"/>
          <p:nvPr/>
        </p:nvSpPr>
        <p:spPr>
          <a:xfrm>
            <a:off x="3657600" y="2734056"/>
            <a:ext cx="1874520" cy="585216"/>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same-store growth</a:t>
            </a:r>
            <a:endParaRPr lang="en-US" sz="1400" dirty="0"/>
          </a:p>
        </p:txBody>
      </p:sp>
      <p:sp>
        <p:nvSpPr>
          <p:cNvPr id="16" name="Shape 14"/>
          <p:cNvSpPr/>
          <p:nvPr/>
        </p:nvSpPr>
        <p:spPr>
          <a:xfrm>
            <a:off x="987552" y="3401568"/>
            <a:ext cx="292608" cy="292608"/>
          </a:xfrm>
          <a:prstGeom prst="ellipse">
            <a:avLst/>
          </a:prstGeom>
          <a:solidFill>
            <a:srgbClr val="0B2C4A"/>
          </a:solidFill>
          <a:ln/>
        </p:spPr>
      </p:sp>
      <p:sp>
        <p:nvSpPr>
          <p:cNvPr id="17" name="Text 15"/>
          <p:cNvSpPr txBox="1"/>
          <p:nvPr/>
        </p:nvSpPr>
        <p:spPr>
          <a:xfrm>
            <a:off x="987552" y="3401568"/>
            <a:ext cx="292608" cy="292608"/>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8" name="Shape 16"/>
          <p:cNvSpPr/>
          <p:nvPr/>
        </p:nvSpPr>
        <p:spPr>
          <a:xfrm>
            <a:off x="713232" y="3712464"/>
            <a:ext cx="4974336" cy="713232"/>
          </a:xfrm>
          <a:prstGeom prst="rect">
            <a:avLst/>
          </a:prstGeom>
          <a:solidFill>
            <a:srgbClr val="EDF4FA"/>
          </a:solidFill>
          <a:ln/>
        </p:spPr>
      </p:sp>
      <p:sp>
        <p:nvSpPr>
          <p:cNvPr id="19" name="Text 17"/>
          <p:cNvSpPr txBox="1"/>
          <p:nvPr/>
        </p:nvSpPr>
        <p:spPr>
          <a:xfrm>
            <a:off x="896112" y="3739896"/>
            <a:ext cx="2743200" cy="512064"/>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$188.80M</a:t>
            </a:r>
            <a:endParaRPr lang="en-US" sz="3000" dirty="0"/>
          </a:p>
        </p:txBody>
      </p:sp>
      <p:sp>
        <p:nvSpPr>
          <p:cNvPr id="20" name="Text 18"/>
          <p:cNvSpPr txBox="1"/>
          <p:nvPr/>
        </p:nvSpPr>
        <p:spPr>
          <a:xfrm>
            <a:off x="3657600" y="3739896"/>
            <a:ext cx="1874520" cy="65836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2026 group</a:t>
            </a:r>
            <a:endParaRPr lang="en-US" sz="1400" dirty="0"/>
          </a:p>
        </p:txBody>
      </p:sp>
      <p:sp>
        <p:nvSpPr>
          <p:cNvPr id="21" name="Shape 19"/>
          <p:cNvSpPr/>
          <p:nvPr/>
        </p:nvSpPr>
        <p:spPr>
          <a:xfrm>
            <a:off x="6126480" y="1207008"/>
            <a:ext cx="5605272" cy="4782312"/>
          </a:xfrm>
          <a:prstGeom prst="rect">
            <a:avLst/>
          </a:prstGeom>
          <a:solidFill>
            <a:srgbClr val="FFFFFF"/>
          </a:solidFill>
          <a:ln/>
        </p:spPr>
      </p:sp>
      <p:sp>
        <p:nvSpPr>
          <p:cNvPr id="22" name="Text 20"/>
          <p:cNvSpPr txBox="1"/>
          <p:nvPr/>
        </p:nvSpPr>
        <p:spPr>
          <a:xfrm>
            <a:off x="6355080" y="1344168"/>
            <a:ext cx="514807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Who moved it</a:t>
            </a:r>
            <a:endParaRPr lang="en-US" sz="1500" dirty="0"/>
          </a:p>
        </p:txBody>
      </p:sp>
      <p:sp>
        <p:nvSpPr>
          <p:cNvPr id="23" name="Shape 21"/>
          <p:cNvSpPr/>
          <p:nvPr/>
        </p:nvSpPr>
        <p:spPr>
          <a:xfrm>
            <a:off x="6355080" y="1691640"/>
            <a:ext cx="5148072" cy="10973"/>
          </a:xfrm>
          <a:prstGeom prst="rect">
            <a:avLst/>
          </a:prstGeom>
          <a:solidFill>
            <a:srgbClr val="1A1A1A"/>
          </a:solidFill>
          <a:ln/>
        </p:spPr>
      </p:sp>
      <p:sp>
        <p:nvSpPr>
          <p:cNvPr id="24" name="Text 22"/>
          <p:cNvSpPr txBox="1"/>
          <p:nvPr/>
        </p:nvSpPr>
        <p:spPr>
          <a:xfrm>
            <a:off x="6355080" y="1828800"/>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TOYOTA HENDERSON</a:t>
            </a:r>
            <a:endParaRPr lang="en-US" sz="1400" dirty="0"/>
          </a:p>
        </p:txBody>
      </p:sp>
      <p:sp>
        <p:nvSpPr>
          <p:cNvPr id="25" name="Shape 23"/>
          <p:cNvSpPr/>
          <p:nvPr/>
        </p:nvSpPr>
        <p:spPr>
          <a:xfrm>
            <a:off x="8595360" y="1929384"/>
            <a:ext cx="1463040" cy="182880"/>
          </a:xfrm>
          <a:prstGeom prst="rect">
            <a:avLst/>
          </a:prstGeom>
          <a:solidFill>
            <a:srgbClr val="12A566"/>
          </a:solidFill>
          <a:ln/>
        </p:spPr>
      </p:sp>
      <p:sp>
        <p:nvSpPr>
          <p:cNvPr id="26" name="Text 24"/>
          <p:cNvSpPr txBox="1"/>
          <p:nvPr/>
        </p:nvSpPr>
        <p:spPr>
          <a:xfrm>
            <a:off x="10149840" y="1828800"/>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+$1,772,700</a:t>
            </a:r>
            <a:endParaRPr lang="en-US" sz="1400" dirty="0"/>
          </a:p>
        </p:txBody>
      </p:sp>
      <p:sp>
        <p:nvSpPr>
          <p:cNvPr id="27" name="Text 25"/>
          <p:cNvSpPr txBox="1"/>
          <p:nvPr/>
        </p:nvSpPr>
        <p:spPr>
          <a:xfrm>
            <a:off x="6355080" y="2258568"/>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AUDI HENDERSON</a:t>
            </a:r>
            <a:endParaRPr lang="en-US" sz="1400" dirty="0"/>
          </a:p>
        </p:txBody>
      </p:sp>
      <p:sp>
        <p:nvSpPr>
          <p:cNvPr id="28" name="Shape 26"/>
          <p:cNvSpPr/>
          <p:nvPr/>
        </p:nvSpPr>
        <p:spPr>
          <a:xfrm>
            <a:off x="8595360" y="2359152"/>
            <a:ext cx="1407053" cy="182880"/>
          </a:xfrm>
          <a:prstGeom prst="rect">
            <a:avLst/>
          </a:prstGeom>
          <a:solidFill>
            <a:srgbClr val="12A566"/>
          </a:solidFill>
          <a:ln/>
        </p:spPr>
      </p:sp>
      <p:sp>
        <p:nvSpPr>
          <p:cNvPr id="29" name="Text 27"/>
          <p:cNvSpPr txBox="1"/>
          <p:nvPr/>
        </p:nvSpPr>
        <p:spPr>
          <a:xfrm>
            <a:off x="10149840" y="2258568"/>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+$1,704,863</a:t>
            </a:r>
            <a:endParaRPr lang="en-US" sz="1400" dirty="0"/>
          </a:p>
        </p:txBody>
      </p:sp>
      <p:sp>
        <p:nvSpPr>
          <p:cNvPr id="30" name="Text 28"/>
          <p:cNvSpPr txBox="1"/>
          <p:nvPr/>
        </p:nvSpPr>
        <p:spPr>
          <a:xfrm>
            <a:off x="6355080" y="2688336"/>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HONDA HENDERSON</a:t>
            </a:r>
            <a:endParaRPr lang="en-US" sz="1400" dirty="0"/>
          </a:p>
        </p:txBody>
      </p:sp>
      <p:sp>
        <p:nvSpPr>
          <p:cNvPr id="31" name="Shape 29"/>
          <p:cNvSpPr/>
          <p:nvPr/>
        </p:nvSpPr>
        <p:spPr>
          <a:xfrm>
            <a:off x="8595360" y="2788920"/>
            <a:ext cx="769067" cy="182880"/>
          </a:xfrm>
          <a:prstGeom prst="rect">
            <a:avLst/>
          </a:prstGeom>
          <a:solidFill>
            <a:srgbClr val="12A566"/>
          </a:solidFill>
          <a:ln/>
        </p:spPr>
      </p:sp>
      <p:sp>
        <p:nvSpPr>
          <p:cNvPr id="32" name="Text 30"/>
          <p:cNvSpPr txBox="1"/>
          <p:nvPr/>
        </p:nvSpPr>
        <p:spPr>
          <a:xfrm>
            <a:off x="10149840" y="2688336"/>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+$931,844</a:t>
            </a:r>
            <a:endParaRPr lang="en-US" sz="1400" dirty="0"/>
          </a:p>
        </p:txBody>
      </p:sp>
      <p:sp>
        <p:nvSpPr>
          <p:cNvPr id="33" name="Text 31"/>
          <p:cNvSpPr txBox="1"/>
          <p:nvPr/>
        </p:nvSpPr>
        <p:spPr>
          <a:xfrm>
            <a:off x="6355080" y="3118104"/>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LEXUS</a:t>
            </a:r>
            <a:endParaRPr lang="en-US" sz="1400" dirty="0"/>
          </a:p>
        </p:txBody>
      </p:sp>
      <p:sp>
        <p:nvSpPr>
          <p:cNvPr id="34" name="Shape 32"/>
          <p:cNvSpPr/>
          <p:nvPr/>
        </p:nvSpPr>
        <p:spPr>
          <a:xfrm>
            <a:off x="8595360" y="3218688"/>
            <a:ext cx="630324" cy="182880"/>
          </a:xfrm>
          <a:prstGeom prst="rect">
            <a:avLst/>
          </a:prstGeom>
          <a:solidFill>
            <a:srgbClr val="12A566"/>
          </a:solidFill>
          <a:ln/>
        </p:spPr>
      </p:sp>
      <p:sp>
        <p:nvSpPr>
          <p:cNvPr id="35" name="Text 33"/>
          <p:cNvSpPr txBox="1"/>
          <p:nvPr/>
        </p:nvSpPr>
        <p:spPr>
          <a:xfrm>
            <a:off x="10149840" y="3118104"/>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+$763,736</a:t>
            </a:r>
            <a:endParaRPr lang="en-US" sz="1400" dirty="0"/>
          </a:p>
        </p:txBody>
      </p:sp>
      <p:sp>
        <p:nvSpPr>
          <p:cNvPr id="36" name="Text 34"/>
          <p:cNvSpPr txBox="1"/>
          <p:nvPr/>
        </p:nvSpPr>
        <p:spPr>
          <a:xfrm>
            <a:off x="6355080" y="3547872"/>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LINCOLN</a:t>
            </a:r>
            <a:endParaRPr lang="en-US" sz="1400" dirty="0"/>
          </a:p>
        </p:txBody>
      </p:sp>
      <p:sp>
        <p:nvSpPr>
          <p:cNvPr id="37" name="Shape 35"/>
          <p:cNvSpPr/>
          <p:nvPr/>
        </p:nvSpPr>
        <p:spPr>
          <a:xfrm>
            <a:off x="8595360" y="3648456"/>
            <a:ext cx="592076" cy="182880"/>
          </a:xfrm>
          <a:prstGeom prst="rect">
            <a:avLst/>
          </a:prstGeom>
          <a:solidFill>
            <a:srgbClr val="12A566"/>
          </a:solidFill>
          <a:ln/>
        </p:spPr>
      </p:sp>
      <p:sp>
        <p:nvSpPr>
          <p:cNvPr id="38" name="Text 36"/>
          <p:cNvSpPr txBox="1"/>
          <p:nvPr/>
        </p:nvSpPr>
        <p:spPr>
          <a:xfrm>
            <a:off x="10149840" y="3547872"/>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+$717,392</a:t>
            </a:r>
            <a:endParaRPr lang="en-US" sz="1400" dirty="0"/>
          </a:p>
        </p:txBody>
      </p:sp>
      <p:sp>
        <p:nvSpPr>
          <p:cNvPr id="39" name="Text 37"/>
          <p:cNvSpPr txBox="1"/>
          <p:nvPr/>
        </p:nvSpPr>
        <p:spPr>
          <a:xfrm>
            <a:off x="6355080" y="3977640"/>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ACURA</a:t>
            </a:r>
            <a:endParaRPr lang="en-US" sz="1400" dirty="0"/>
          </a:p>
        </p:txBody>
      </p:sp>
      <p:sp>
        <p:nvSpPr>
          <p:cNvPr id="40" name="Shape 38"/>
          <p:cNvSpPr/>
          <p:nvPr/>
        </p:nvSpPr>
        <p:spPr>
          <a:xfrm>
            <a:off x="8168846" y="4078224"/>
            <a:ext cx="426514" cy="182880"/>
          </a:xfrm>
          <a:prstGeom prst="rect">
            <a:avLst/>
          </a:prstGeom>
          <a:solidFill>
            <a:srgbClr val="C2352F"/>
          </a:solidFill>
          <a:ln/>
        </p:spPr>
      </p:sp>
      <p:sp>
        <p:nvSpPr>
          <p:cNvPr id="41" name="Text 39"/>
          <p:cNvSpPr txBox="1"/>
          <p:nvPr/>
        </p:nvSpPr>
        <p:spPr>
          <a:xfrm>
            <a:off x="10149840" y="3977640"/>
            <a:ext cx="1371600" cy="384048"/>
          </a:xfrm>
          <a:prstGeom prst="rect">
            <a:avLst/>
          </a:prstGeom>
          <a:noFill/>
          <a:ln/>
        </p:spPr>
        <p:txBody>
          <a:bodyPr wrap="square" lIns="0" tIns="0" rIns="0" bIns="0" rtlCol="0" anchor="ctr"/>
          <a:lstStyle/>
          <a:p>
            <a:pPr algn="r" indent="0" marL="0">
              <a:buNone/>
            </a:pPr>
            <a:r>
              <a:rPr lang="en-US" sz="1400" b="1" dirty="0">
                <a:solidFill>
                  <a:srgbClr val="A82B26"/>
                </a:solidFill>
                <a:latin typeface="Inter" pitchFamily="34" charset="0"/>
                <a:ea typeface="Inter" pitchFamily="34" charset="-122"/>
                <a:cs typeface="Inter" pitchFamily="34" charset="-120"/>
              </a:rPr>
              <a:t>−$516,788</a:t>
            </a:r>
            <a:endParaRPr lang="en-US" sz="1400" dirty="0"/>
          </a:p>
        </p:txBody>
      </p:sp>
      <p:sp>
        <p:nvSpPr>
          <p:cNvPr id="42" name="Text 40"/>
          <p:cNvSpPr txBox="1"/>
          <p:nvPr/>
        </p:nvSpPr>
        <p:spPr>
          <a:xfrm>
            <a:off x="6355080" y="4407408"/>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AUDI RENO</a:t>
            </a:r>
            <a:endParaRPr lang="en-US" sz="1400" dirty="0"/>
          </a:p>
        </p:txBody>
      </p:sp>
      <p:sp>
        <p:nvSpPr>
          <p:cNvPr id="43" name="Shape 41"/>
          <p:cNvSpPr/>
          <p:nvPr/>
        </p:nvSpPr>
        <p:spPr>
          <a:xfrm>
            <a:off x="8166323" y="4507992"/>
            <a:ext cx="429037" cy="182880"/>
          </a:xfrm>
          <a:prstGeom prst="rect">
            <a:avLst/>
          </a:prstGeom>
          <a:solidFill>
            <a:srgbClr val="C2352F"/>
          </a:solidFill>
          <a:ln/>
        </p:spPr>
      </p:sp>
      <p:sp>
        <p:nvSpPr>
          <p:cNvPr id="44" name="Text 42"/>
          <p:cNvSpPr txBox="1"/>
          <p:nvPr/>
        </p:nvSpPr>
        <p:spPr>
          <a:xfrm>
            <a:off x="10149840" y="4407408"/>
            <a:ext cx="1371600" cy="384048"/>
          </a:xfrm>
          <a:prstGeom prst="rect">
            <a:avLst/>
          </a:prstGeom>
          <a:noFill/>
          <a:ln/>
        </p:spPr>
        <p:txBody>
          <a:bodyPr wrap="square" lIns="0" tIns="0" rIns="0" bIns="0" rtlCol="0" anchor="ctr"/>
          <a:lstStyle/>
          <a:p>
            <a:pPr algn="r" indent="0" marL="0">
              <a:buNone/>
            </a:pPr>
            <a:r>
              <a:rPr lang="en-US" sz="1400" b="1" dirty="0">
                <a:solidFill>
                  <a:srgbClr val="A82B26"/>
                </a:solidFill>
                <a:latin typeface="Inter" pitchFamily="34" charset="0"/>
                <a:ea typeface="Inter" pitchFamily="34" charset="-122"/>
                <a:cs typeface="Inter" pitchFamily="34" charset="-120"/>
              </a:rPr>
              <a:t>−$519,845</a:t>
            </a:r>
            <a:endParaRPr lang="en-US" sz="1400" dirty="0"/>
          </a:p>
        </p:txBody>
      </p:sp>
      <p:sp>
        <p:nvSpPr>
          <p:cNvPr id="45" name="Text 43"/>
          <p:cNvSpPr txBox="1"/>
          <p:nvPr/>
        </p:nvSpPr>
        <p:spPr>
          <a:xfrm>
            <a:off x="6355080" y="4837176"/>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Shape 44"/>
          <p:cNvSpPr/>
          <p:nvPr/>
        </p:nvSpPr>
        <p:spPr>
          <a:xfrm>
            <a:off x="7967135" y="4937760"/>
            <a:ext cx="628225" cy="182880"/>
          </a:xfrm>
          <a:prstGeom prst="rect">
            <a:avLst/>
          </a:prstGeom>
          <a:solidFill>
            <a:srgbClr val="C2352F"/>
          </a:solidFill>
          <a:ln/>
        </p:spPr>
      </p:sp>
      <p:sp>
        <p:nvSpPr>
          <p:cNvPr id="47" name="Text 45"/>
          <p:cNvSpPr txBox="1"/>
          <p:nvPr/>
        </p:nvSpPr>
        <p:spPr>
          <a:xfrm>
            <a:off x="10149840" y="4837176"/>
            <a:ext cx="1371600" cy="384048"/>
          </a:xfrm>
          <a:prstGeom prst="rect">
            <a:avLst/>
          </a:prstGeom>
          <a:noFill/>
          <a:ln/>
        </p:spPr>
        <p:txBody>
          <a:bodyPr wrap="square" lIns="0" tIns="0" rIns="0" bIns="0" rtlCol="0" anchor="ctr"/>
          <a:lstStyle/>
          <a:p>
            <a:pPr algn="r" indent="0" marL="0">
              <a:buNone/>
            </a:pPr>
            <a:r>
              <a:rPr lang="en-US" sz="1400" b="1" dirty="0">
                <a:solidFill>
                  <a:srgbClr val="A82B26"/>
                </a:solidFill>
                <a:latin typeface="Inter" pitchFamily="34" charset="0"/>
                <a:ea typeface="Inter" pitchFamily="34" charset="-122"/>
                <a:cs typeface="Inter" pitchFamily="34" charset="-120"/>
              </a:rPr>
              <a:t>−$761,192</a:t>
            </a:r>
            <a:endParaRPr lang="en-US" sz="1400" dirty="0"/>
          </a:p>
        </p:txBody>
      </p:sp>
      <p:sp>
        <p:nvSpPr>
          <p:cNvPr id="48" name="Text 46"/>
          <p:cNvSpPr txBox="1"/>
          <p:nvPr/>
        </p:nvSpPr>
        <p:spPr>
          <a:xfrm>
            <a:off x="6355080" y="5266944"/>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HONDA NORTH</a:t>
            </a:r>
            <a:endParaRPr lang="en-US" sz="1400" dirty="0"/>
          </a:p>
        </p:txBody>
      </p:sp>
      <p:sp>
        <p:nvSpPr>
          <p:cNvPr id="49" name="Shape 47"/>
          <p:cNvSpPr/>
          <p:nvPr/>
        </p:nvSpPr>
        <p:spPr>
          <a:xfrm>
            <a:off x="7902183" y="5367528"/>
            <a:ext cx="693177" cy="182880"/>
          </a:xfrm>
          <a:prstGeom prst="rect">
            <a:avLst/>
          </a:prstGeom>
          <a:solidFill>
            <a:srgbClr val="C2352F"/>
          </a:solidFill>
          <a:ln/>
        </p:spPr>
      </p:sp>
      <p:sp>
        <p:nvSpPr>
          <p:cNvPr id="50" name="Text 48"/>
          <p:cNvSpPr txBox="1"/>
          <p:nvPr/>
        </p:nvSpPr>
        <p:spPr>
          <a:xfrm>
            <a:off x="10149840" y="5266944"/>
            <a:ext cx="1371600" cy="384048"/>
          </a:xfrm>
          <a:prstGeom prst="rect">
            <a:avLst/>
          </a:prstGeom>
          <a:noFill/>
          <a:ln/>
        </p:spPr>
        <p:txBody>
          <a:bodyPr wrap="square" lIns="0" tIns="0" rIns="0" bIns="0" rtlCol="0" anchor="ctr"/>
          <a:lstStyle/>
          <a:p>
            <a:pPr algn="r" indent="0" marL="0">
              <a:buNone/>
            </a:pPr>
            <a:r>
              <a:rPr lang="en-US" sz="1400" b="1" dirty="0">
                <a:solidFill>
                  <a:srgbClr val="A82B26"/>
                </a:solidFill>
                <a:latin typeface="Inter" pitchFamily="34" charset="0"/>
                <a:ea typeface="Inter" pitchFamily="34" charset="-122"/>
                <a:cs typeface="Inter" pitchFamily="34" charset="-120"/>
              </a:rPr>
              <a:t>−$839,891</a:t>
            </a:r>
            <a:endParaRPr lang="en-US" sz="1400" dirty="0"/>
          </a:p>
        </p:txBody>
      </p:sp>
      <p:sp>
        <p:nvSpPr>
          <p:cNvPr id="51" name="Shape 49"/>
          <p:cNvSpPr/>
          <p:nvPr/>
        </p:nvSpPr>
        <p:spPr>
          <a:xfrm>
            <a:off x="8589874" y="1828800"/>
            <a:ext cx="10973" cy="3813048"/>
          </a:xfrm>
          <a:prstGeom prst="rect">
            <a:avLst/>
          </a:prstGeom>
          <a:solidFill>
            <a:srgbClr val="9AA3AD"/>
          </a:solidFill>
          <a:ln/>
        </p:spPr>
      </p:sp>
      <p:sp>
        <p:nvSpPr>
          <p:cNvPr id="52" name="Shape 50"/>
          <p:cNvSpPr/>
          <p:nvPr/>
        </p:nvSpPr>
        <p:spPr>
          <a:xfrm>
            <a:off x="457200" y="6126480"/>
            <a:ext cx="11274552" cy="371856"/>
          </a:xfrm>
          <a:prstGeom prst="rect">
            <a:avLst/>
          </a:prstGeom>
          <a:solidFill>
            <a:srgbClr val="E6F6EE"/>
          </a:solidFill>
          <a:ln/>
        </p:spPr>
      </p:sp>
      <p:sp>
        <p:nvSpPr>
          <p:cNvPr id="53" name="Text 5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Five stores added +$5,890,534; the bottom four gave back $2,637,716.</a:t>
            </a:r>
            <a:endParaRPr lang="en-US" sz="16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2889504"/>
          <a:ext cx="10945368" cy="3008376"/>
        </p:xfrm>
        <a:graphic>
          <a:graphicData uri="http://schemas.openxmlformats.org/drawingml/2006/chart">
            <c:chart xmlns:c="http://schemas.openxmlformats.org/drawingml/2006/chart" r:id="rId2"/>
          </a:graphicData>
        </a:graphic>
      </p:graphicFrame>
      <p:sp>
        <p:nvSpPr>
          <p:cNvPr id="18" name="Shape 15"/>
          <p:cNvSpPr/>
          <p:nvPr/>
        </p:nvSpPr>
        <p:spPr>
          <a:xfrm>
            <a:off x="457200" y="6126480"/>
            <a:ext cx="11274552" cy="371856"/>
          </a:xfrm>
          <a:prstGeom prst="rect">
            <a:avLst/>
          </a:prstGeom>
          <a:solidFill>
            <a:srgbClr val="E6F6EE"/>
          </a:solidFill>
          <a:ln/>
        </p:spPr>
      </p:sp>
      <p:sp>
        <p:nvSpPr>
          <p:cNvPr id="19" name="Text 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+$6,297,386 (5.2%) year to date; 9 of nine months ahead of 2025, best September at +$1,457,847.</a:t>
            </a:r>
            <a:endParaRPr lang="en-US" sz="16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1178132"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1171781"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82405"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871442"/>
            <a:ext cx="724430"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111337"/>
            <a:ext cx="698259"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60750"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455591"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52277"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10917"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05463"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90976"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56124"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030502"/>
            <a:ext cx="352683"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270397"/>
            <a:ext cx="340845"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39380"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5750188"/>
            <a:ext cx="329329"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1860"/>
            <a:ext cx="311294"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270275"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56215"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45763"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38967"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35763"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32807"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10714"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178756"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62808"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310815"/>
            <a:ext cx="160552"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55672"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131649"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16550"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10797"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65691"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$16.38M of the group's $126.87M; VW St George is smallest at $588,480.</a:t>
            </a:r>
            <a:endParaRPr lang="en-US" sz="16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+$6.30M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+$1.50M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785616" y="2151755"/>
            <a:ext cx="73466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33143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+$639,324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5" name="Shape 23"/>
          <p:cNvSpPr/>
          <p:nvPr/>
        </p:nvSpPr>
        <p:spPr>
          <a:xfrm>
            <a:off x="3785616" y="2631546"/>
            <a:ext cx="32096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+$619,111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9" name="Shape 27"/>
          <p:cNvSpPr/>
          <p:nvPr/>
        </p:nvSpPr>
        <p:spPr>
          <a:xfrm>
            <a:off x="3785616" y="2871442"/>
            <a:ext cx="31671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+$610,920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785616" y="3111337"/>
            <a:ext cx="31196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+$601,761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785616" y="3351233"/>
            <a:ext cx="24616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+$474,842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0199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+$389,643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3785616" y="3831024"/>
            <a:ext cx="19929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+$384,429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9" name="Shape 47"/>
          <p:cNvSpPr/>
          <p:nvPr/>
        </p:nvSpPr>
        <p:spPr>
          <a:xfrm>
            <a:off x="3785616" y="4070920"/>
            <a:ext cx="17879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+$344,890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785616" y="4310815"/>
            <a:ext cx="16328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+$314,963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785616" y="4550711"/>
            <a:ext cx="15146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+$292,173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3785616" y="4790606"/>
            <a:ext cx="12125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+$233,897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5" name="Shape 63"/>
          <p:cNvSpPr/>
          <p:nvPr/>
        </p:nvSpPr>
        <p:spPr>
          <a:xfrm>
            <a:off x="3785616" y="5030502"/>
            <a:ext cx="112343"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+$216,701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3785616" y="5270397"/>
            <a:ext cx="10454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+$201,665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3" name="Shape 71"/>
          <p:cNvSpPr/>
          <p:nvPr/>
        </p:nvSpPr>
        <p:spPr>
          <a:xfrm>
            <a:off x="3785616" y="5510293"/>
            <a:ext cx="10146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+$195,719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7" name="Shape 75"/>
          <p:cNvSpPr/>
          <p:nvPr/>
        </p:nvSpPr>
        <p:spPr>
          <a:xfrm>
            <a:off x="3785616" y="5750188"/>
            <a:ext cx="8766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+$169,102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336024" y="1911860"/>
            <a:ext cx="83775"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+$161,597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9336024" y="2151755"/>
            <a:ext cx="58498"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+$112,838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9336024" y="2391651"/>
            <a:ext cx="35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+$68,148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9336024" y="2631546"/>
            <a:ext cx="1616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+$31,186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+$20,233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+$20,119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5" name="Shape 103"/>
          <p:cNvSpPr/>
          <p:nvPr/>
        </p:nvSpPr>
        <p:spPr>
          <a:xfrm>
            <a:off x="9323622"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−$23,923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321659" y="3591128"/>
            <a:ext cx="14365"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−$27,710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306093" y="3831024"/>
            <a:ext cx="29931"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−$57,734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9266019" y="4070920"/>
            <a:ext cx="7000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−$135,036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1" name="Shape 119"/>
          <p:cNvSpPr/>
          <p:nvPr/>
        </p:nvSpPr>
        <p:spPr>
          <a:xfrm>
            <a:off x="9236525" y="4310815"/>
            <a:ext cx="99499"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−$191,926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5" name="Shape 123"/>
          <p:cNvSpPr/>
          <p:nvPr/>
        </p:nvSpPr>
        <p:spPr>
          <a:xfrm>
            <a:off x="9226476" y="4550711"/>
            <a:ext cx="10954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−$211,311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9131329" y="4790606"/>
            <a:ext cx="204695"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−$394,842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3" name="Shape 131"/>
          <p:cNvSpPr/>
          <p:nvPr/>
        </p:nvSpPr>
        <p:spPr>
          <a:xfrm>
            <a:off x="9108996" y="5030502"/>
            <a:ext cx="227028"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−$437,922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9052339" y="5270397"/>
            <a:ext cx="28368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−$547,210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1" name="Shape 139"/>
          <p:cNvSpPr/>
          <p:nvPr/>
        </p:nvSpPr>
        <p:spPr>
          <a:xfrm>
            <a:off x="8975920" y="5510293"/>
            <a:ext cx="36010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−$694,616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6F6EE"/>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23 of 33 stores grew, led by Toyota Henderson at +$1,499,243; 10 declined, Honda North most at −$694,616.</a:t>
            </a:r>
            <a:endParaRPr lang="en-US" sz="150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2889504"/>
          <a:ext cx="10945368" cy="3008376"/>
        </p:xfrm>
        <a:graphic>
          <a:graphicData uri="http://schemas.openxmlformats.org/drawingml/2006/chart">
            <c:chart xmlns:c="http://schemas.openxmlformats.org/drawingml/2006/chart" r:id="rId2"/>
          </a:graphicData>
        </a:graphic>
      </p:graphicFrame>
      <p:sp>
        <p:nvSpPr>
          <p:cNvPr id="18" name="Shape 15"/>
          <p:cNvSpPr/>
          <p:nvPr/>
        </p:nvSpPr>
        <p:spPr>
          <a:xfrm>
            <a:off x="457200" y="6126480"/>
            <a:ext cx="11274552" cy="371856"/>
          </a:xfrm>
          <a:prstGeom prst="rect">
            <a:avLst/>
          </a:prstGeom>
          <a:solidFill>
            <a:srgbClr val="E6F6EE"/>
          </a:solidFill>
          <a:ln/>
        </p:spPr>
      </p:sp>
      <p:sp>
        <p:nvSpPr>
          <p:cNvPr id="19" name="Text 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80953"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39299"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631546"/>
            <a:ext cx="1126417"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871442"/>
            <a:ext cx="1042309"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915024"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794248"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743466"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3831024"/>
            <a:ext cx="662635"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618790"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469006"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550711"/>
            <a:ext cx="439517"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4790606"/>
            <a:ext cx="434974"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030502"/>
            <a:ext cx="426399"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270397"/>
            <a:ext cx="418024"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510293"/>
            <a:ext cx="410579"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5750188"/>
            <a:ext cx="386930"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1860"/>
            <a:ext cx="385510"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51755"/>
            <a:ext cx="379226"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391651"/>
            <a:ext cx="375575"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631546"/>
            <a:ext cx="370418"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871442"/>
            <a:ext cx="351886"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351305"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351233"/>
            <a:ext cx="323594"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591128"/>
            <a:ext cx="321171"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3831024"/>
            <a:ext cx="296096"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277217"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310815"/>
            <a:ext cx="263987"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550711"/>
            <a:ext cx="243434"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226608"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61334"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59817"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111766"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$6.21M of the group's $61.93M; VW St George is smallest at $379,537.</a:t>
            </a:r>
            <a:endParaRPr lang="en-US" sz="16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+$1.17M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+$688,074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785616" y="2151755"/>
            <a:ext cx="36251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+$320,924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3785616" y="2391651"/>
            <a:ext cx="32503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+$287,749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3785616" y="2631546"/>
            <a:ext cx="3088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+$273,457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9" name="Shape 27"/>
          <p:cNvSpPr/>
          <p:nvPr/>
        </p:nvSpPr>
        <p:spPr>
          <a:xfrm>
            <a:off x="3785616" y="2871442"/>
            <a:ext cx="30581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+$270,730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27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+$242,550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785616" y="3351233"/>
            <a:ext cx="238006"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+$210,702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1" name="Shape 39"/>
          <p:cNvSpPr/>
          <p:nvPr/>
        </p:nvSpPr>
        <p:spPr>
          <a:xfrm>
            <a:off x="3785616" y="3591128"/>
            <a:ext cx="17870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+$158,208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785616" y="3831024"/>
            <a:ext cx="170954"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+$151,342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3785616" y="4070920"/>
            <a:ext cx="140534"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+$124,412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9992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+$88,461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3785616" y="4550711"/>
            <a:ext cx="6732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+$59,600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1" name="Shape 59"/>
          <p:cNvSpPr/>
          <p:nvPr/>
        </p:nvSpPr>
        <p:spPr>
          <a:xfrm>
            <a:off x="3785616" y="4790606"/>
            <a:ext cx="5688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+$50,363</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5287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+$46,807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3785616" y="5270397"/>
            <a:ext cx="3694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+$32,709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3047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+$26,978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7" name="Shape 75"/>
          <p:cNvSpPr/>
          <p:nvPr/>
        </p:nvSpPr>
        <p:spPr>
          <a:xfrm>
            <a:off x="3785616" y="5750188"/>
            <a:ext cx="2114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+$18,723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330471" y="1911860"/>
            <a:ext cx="12802"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−$4,916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5" name="Shape 83"/>
          <p:cNvSpPr/>
          <p:nvPr/>
        </p:nvSpPr>
        <p:spPr>
          <a:xfrm>
            <a:off x="9323012" y="2151755"/>
            <a:ext cx="13012"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−$11,519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9" name="Shape 87"/>
          <p:cNvSpPr/>
          <p:nvPr/>
        </p:nvSpPr>
        <p:spPr>
          <a:xfrm>
            <a:off x="9304610" y="2391651"/>
            <a:ext cx="31414"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−$27,810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298513" y="2631546"/>
            <a:ext cx="3751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−$33,207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288416" y="2871442"/>
            <a:ext cx="4760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−$42,146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9279496" y="3111337"/>
            <a:ext cx="56528"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−$50,043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71363" y="3351233"/>
            <a:ext cx="6466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−$57,243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9267626" y="3591128"/>
            <a:ext cx="68398"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−$60,551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9246939" y="3831024"/>
            <a:ext cx="89085"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−$78,865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7" name="Shape 115"/>
          <p:cNvSpPr/>
          <p:nvPr/>
        </p:nvSpPr>
        <p:spPr>
          <a:xfrm>
            <a:off x="9171924" y="4070920"/>
            <a:ext cx="16410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−$145,275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9171206" y="4310815"/>
            <a:ext cx="16481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−$145,910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47184" y="4550711"/>
            <a:ext cx="188840"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−$167,176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094312" y="4790606"/>
            <a:ext cx="2417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−$213,982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9079859" y="5030502"/>
            <a:ext cx="2561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−$226,777</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7" name="Shape 135"/>
          <p:cNvSpPr/>
          <p:nvPr/>
        </p:nvSpPr>
        <p:spPr>
          <a:xfrm>
            <a:off x="9011532" y="5270397"/>
            <a:ext cx="32449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−$287,265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965611" y="5510293"/>
            <a:ext cx="370413"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−$327,919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6F6EE"/>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17 of 33 stores grew, led by Cadillac at +$688,074; 16 declined, Audi Reno most at −$327,919.</a:t>
            </a:r>
            <a:endParaRPr lang="en-US" sz="16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the store's fixed expenses service and parts gross pays for.</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ops 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Everything on the CP engine slides: ROs, hours, ELR, margin</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Rent, facility and the other fixed costs on the P&amp;L</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Warranty and internal</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Gross from warranty and reconditioning counts too</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and wholesale parts gross counts as well</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 led by Audi Henderson at 106.6%. Hyundai Prescott is lowest at 46.2%.</a:t>
            </a:r>
            <a:endParaRPr lang="en-US" sz="16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626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57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392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4978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90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785616" y="3111337"/>
            <a:ext cx="23443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785616" y="3351233"/>
            <a:ext cx="23412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051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41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255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2080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23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08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7197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1707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57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402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94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639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2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786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33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9330933"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9" name="Shape 107"/>
          <p:cNvSpPr/>
          <p:nvPr/>
        </p:nvSpPr>
        <p:spPr>
          <a:xfrm>
            <a:off x="9329910"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5626"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8072" y="4070920"/>
            <a:ext cx="47952"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667" y="4310815"/>
            <a:ext cx="4935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2720" y="4550711"/>
            <a:ext cx="10330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013" y="4790606"/>
            <a:ext cx="27301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3742" y="5030502"/>
            <a:ext cx="43228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924" y="5270397"/>
            <a:ext cx="45110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led by Lincoln at +16.1 pts to 59.9%. 10 declined; VW St George fell most at −17.4 pts.</a:t>
            </a:r>
            <a:endParaRPr lang="en-US" sz="16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 Shown for service and parts.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is what we make; net is what we keep.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can grow while net falls if expenses grow faster.</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ties staffing and pay plans to results.</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policy, training, equipment</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Goodwill and comebacks charged to the department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Grow gross faster than expense</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56616"/>
          </a:xfrm>
          <a:prstGeom prst="rect">
            <a:avLst/>
          </a:prstGeom>
          <a:solidFill>
            <a:srgbClr val="E6F6EE"/>
          </a:solidFill>
          <a:ln/>
        </p:spPr>
      </p:sp>
      <p:sp>
        <p:nvSpPr>
          <p:cNvPr id="28"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8" name="Shape 146"/>
          <p:cNvSpPr/>
          <p:nvPr/>
        </p:nvSpPr>
        <p:spPr>
          <a:xfrm>
            <a:off x="457200" y="6126480"/>
            <a:ext cx="11274552" cy="341376"/>
          </a:xfrm>
          <a:prstGeom prst="rect">
            <a:avLst/>
          </a:prstGeom>
          <a:solidFill>
            <a:srgbClr val="EDF4FA"/>
          </a:solidFill>
          <a:ln/>
        </p:spPr>
      </p:sp>
      <p:sp>
        <p:nvSpPr>
          <p:cNvPr id="149" name="Text 14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10 of 33 stores at or above the 21.8% group, led by Honda Henderson at 43.0%. GMC Prescott is lowest at -38.1%.</a:t>
            </a:r>
            <a:endParaRPr lang="en-US" sz="14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30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0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835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713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0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45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07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4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71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91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31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72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845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88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785616" y="5510293"/>
            <a:ext cx="9571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785616" y="5750188"/>
            <a:ext cx="9517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237"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707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497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2170"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4496"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258"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116" y="3831024"/>
            <a:ext cx="3490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3123" y="4070920"/>
            <a:ext cx="5290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3086" y="4310815"/>
            <a:ext cx="7293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4126" y="4550711"/>
            <a:ext cx="9189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6373" y="4790606"/>
            <a:ext cx="1196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39860" y="5030502"/>
            <a:ext cx="19616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1728" y="5270397"/>
            <a:ext cx="254296"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3274" y="5510293"/>
            <a:ext cx="62275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led by Hyundai Prescott at +33.5 pts to -19.2%. 9 declined; VW St George fell most at −26.8 pts.</a:t>
            </a:r>
            <a:endParaRPr lang="en-US" sz="1600" dirty="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 led by Subaru St George at 58.7%. Hyundai Prescott is lowest at 10.0%.</a:t>
            </a:r>
            <a:endParaRPr lang="en-US" sz="160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25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7930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252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433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51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25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6556"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82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670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7279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83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6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102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69580"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3" name="Shape 71"/>
          <p:cNvSpPr/>
          <p:nvPr/>
        </p:nvSpPr>
        <p:spPr>
          <a:xfrm>
            <a:off x="3783808" y="5510293"/>
            <a:ext cx="12802" cy="110352"/>
          </a:xfrm>
          <a:prstGeom prst="rect">
            <a:avLst/>
          </a:prstGeom>
          <a:solidFill>
            <a:srgbClr val="C2352F"/>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782938"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9706" y="1911860"/>
            <a:ext cx="56318"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1209" y="2151755"/>
            <a:ext cx="74815"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825" y="2391651"/>
            <a:ext cx="15319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50574" y="2631546"/>
            <a:ext cx="18545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9107949" y="2871442"/>
            <a:ext cx="22807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106168" y="3111337"/>
            <a:ext cx="22985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6473" y="3351233"/>
            <a:ext cx="25955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37703" y="3591128"/>
            <a:ext cx="29832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5179" y="3831024"/>
            <a:ext cx="300845"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89" y="4070920"/>
            <a:ext cx="317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304" y="4310815"/>
            <a:ext cx="3727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2230" y="4550711"/>
            <a:ext cx="45379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5705" y="4790606"/>
            <a:ext cx="54031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5604" y="5030502"/>
            <a:ext cx="61042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1636" y="5270397"/>
            <a:ext cx="64438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2415" y="5510293"/>
            <a:ext cx="68360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led by Lincoln at +14.2 pts to 17.9%. 18 declined; Hyundai Prescott fell most at −12.5 pts.</a:t>
            </a:r>
            <a:endParaRPr lang="en-US" sz="160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ROs &gt; Hours per RO &gt; ELR &gt; Mix &gt; GP%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represents how well you execute,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ELR plus hours per RO cannot be manipulated: true performance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Total dollars per RO matters more than any single measure. It's what we sell.</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$4,543,691 of labor.</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75% of visits are basic services.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Mishandled calls cost millions.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Where do calls go after hours and Sundays?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166 ROs per advisor</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per service advisor a month, down 7. Advisors grew 1.5%; ROs fell 2.3%.</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Every RO with a customer-pay line, whether or not labor was charged on it. One RO counts once, however many lines it has.</a:t>
            </a:r>
            <a:endParaRPr lang="en-US" sz="14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top of the engine. Hours, ELR and $ per RO all multiply off it.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clearest read on retention and on whether the front door is open.</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the Close to Losing and Unretained lists; sold-not-serviced vehicles</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Express service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easy maintenance keeps customers coming back</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
        <p:nvSpPr>
          <p:cNvPr id="25" name="Shape 23"/>
          <p:cNvSpPr/>
          <p:nvPr/>
        </p:nvSpPr>
        <p:spPr>
          <a:xfrm>
            <a:off x="457200" y="6126480"/>
            <a:ext cx="11274552" cy="371856"/>
          </a:xfrm>
          <a:prstGeom prst="rect">
            <a:avLst/>
          </a:prstGeom>
          <a:solidFill>
            <a:srgbClr val="EDF4FA"/>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279,756 CP ROs, up 456 from 2025. Volume is flat.</a:t>
            </a:r>
            <a:endParaRPr lang="en-US" sz="160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2889504"/>
          <a:ext cx="10945368" cy="3008376"/>
        </p:xfrm>
        <a:graphic>
          <a:graphicData uri="http://schemas.openxmlformats.org/drawingml/2006/chart">
            <c:chart xmlns:c="http://schemas.openxmlformats.org/drawingml/2006/chart" r:id="rId2"/>
          </a:graphicData>
        </a:graphic>
      </p:graphicFrame>
      <p:sp>
        <p:nvSpPr>
          <p:cNvPr id="18" name="Shape 15"/>
          <p:cNvSpPr/>
          <p:nvPr/>
        </p:nvSpPr>
        <p:spPr>
          <a:xfrm>
            <a:off x="457200" y="6126480"/>
            <a:ext cx="11274552" cy="615696"/>
          </a:xfrm>
          <a:prstGeom prst="rect">
            <a:avLst/>
          </a:prstGeom>
          <a:solidFill>
            <a:srgbClr val="E6F6EE"/>
          </a:solidFill>
          <a:ln/>
        </p:spPr>
      </p:sp>
      <p:sp>
        <p:nvSpPr>
          <p:cNvPr id="19" name="Text 1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776079"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672485"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631546"/>
            <a:ext cx="598622"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871442"/>
            <a:ext cx="521623"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111337"/>
            <a:ext cx="518420"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351233"/>
            <a:ext cx="490928"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64745"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307648"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280190"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240227"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550711"/>
            <a:ext cx="217352"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4790606"/>
            <a:ext cx="196405"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191307"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270397"/>
            <a:ext cx="184589"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510293"/>
            <a:ext cx="184106"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177251"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1860"/>
            <a:ext cx="175873"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51755"/>
            <a:ext cx="157338"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391651"/>
            <a:ext cx="138838"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631546"/>
            <a:ext cx="134945"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871442"/>
            <a:ext cx="134773"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111337"/>
            <a:ext cx="130191"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351233"/>
            <a:ext cx="126470"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591128"/>
            <a:ext cx="120441"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3831024"/>
            <a:ext cx="117203"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15377"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310815"/>
            <a:ext cx="107039"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90606"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4790606"/>
            <a:ext cx="69247"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030502"/>
            <a:ext cx="66112"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270397"/>
            <a:ext cx="53709"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48955"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53,084; LR Reno is smallest at 1,421.</a:t>
            </a:r>
            <a:endParaRPr lang="en-US" sz="160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led by Kia LV at +13.7% to 8,133. 13 declined; VW St George fell most at −14.7%.</a:t>
            </a:r>
            <a:endParaRPr lang="en-US" sz="160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56432"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5254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3892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006840"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0295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68933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 name="Shape 11"/>
          <p:cNvSpPr/>
          <p:nvPr/>
        </p:nvSpPr>
        <p:spPr>
          <a:xfrm>
            <a:off x="2670048" y="1756697"/>
            <a:ext cx="731520" cy="136676"/>
          </a:xfrm>
          <a:prstGeom prst="rect">
            <a:avLst/>
          </a:prstGeom>
          <a:solidFill>
            <a:srgbClr val="2587C5"/>
          </a:solidFill>
          <a:ln/>
        </p:spPr>
      </p:sp>
      <p:sp>
        <p:nvSpPr>
          <p:cNvPr id="14" name="Text 12"/>
          <p:cNvSpPr txBox="1"/>
          <p:nvPr/>
        </p:nvSpPr>
        <p:spPr>
          <a:xfrm>
            <a:off x="3456432" y="1700784"/>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$358,484</a:t>
            </a:r>
            <a:endParaRPr lang="en-US" sz="1300" dirty="0"/>
          </a:p>
        </p:txBody>
      </p:sp>
      <p:sp>
        <p:nvSpPr>
          <p:cNvPr id="15" name="Text 13"/>
          <p:cNvSpPr txBox="1"/>
          <p:nvPr/>
        </p:nvSpPr>
        <p:spPr>
          <a:xfrm>
            <a:off x="435254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6" name="Text 14"/>
          <p:cNvSpPr txBox="1"/>
          <p:nvPr/>
        </p:nvSpPr>
        <p:spPr>
          <a:xfrm>
            <a:off x="513892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8" name="Shape 16"/>
          <p:cNvSpPr/>
          <p:nvPr/>
        </p:nvSpPr>
        <p:spPr>
          <a:xfrm>
            <a:off x="2670048" y="2005199"/>
            <a:ext cx="715403" cy="136676"/>
          </a:xfrm>
          <a:prstGeom prst="rect">
            <a:avLst/>
          </a:prstGeom>
          <a:solidFill>
            <a:srgbClr val="2587C5"/>
          </a:solidFill>
          <a:ln/>
        </p:spPr>
      </p:sp>
      <p:sp>
        <p:nvSpPr>
          <p:cNvPr id="19" name="Text 17"/>
          <p:cNvSpPr txBox="1"/>
          <p:nvPr/>
        </p:nvSpPr>
        <p:spPr>
          <a:xfrm>
            <a:off x="3456432" y="1949286"/>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$350,585</a:t>
            </a:r>
            <a:endParaRPr lang="en-US" sz="1300" dirty="0"/>
          </a:p>
        </p:txBody>
      </p:sp>
      <p:sp>
        <p:nvSpPr>
          <p:cNvPr id="20" name="Text 18"/>
          <p:cNvSpPr txBox="1"/>
          <p:nvPr/>
        </p:nvSpPr>
        <p:spPr>
          <a:xfrm>
            <a:off x="435254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1" name="Text 19"/>
          <p:cNvSpPr txBox="1"/>
          <p:nvPr/>
        </p:nvSpPr>
        <p:spPr>
          <a:xfrm>
            <a:off x="513892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23" name="Shape 21"/>
          <p:cNvSpPr/>
          <p:nvPr/>
        </p:nvSpPr>
        <p:spPr>
          <a:xfrm>
            <a:off x="2670048" y="2253700"/>
            <a:ext cx="659351" cy="136676"/>
          </a:xfrm>
          <a:prstGeom prst="rect">
            <a:avLst/>
          </a:prstGeom>
          <a:solidFill>
            <a:srgbClr val="2587C5"/>
          </a:solidFill>
          <a:ln/>
        </p:spPr>
      </p:sp>
      <p:sp>
        <p:nvSpPr>
          <p:cNvPr id="24" name="Text 22"/>
          <p:cNvSpPr txBox="1"/>
          <p:nvPr/>
        </p:nvSpPr>
        <p:spPr>
          <a:xfrm>
            <a:off x="3456432" y="2197787"/>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$323,117</a:t>
            </a:r>
            <a:endParaRPr lang="en-US" sz="1300" dirty="0"/>
          </a:p>
        </p:txBody>
      </p:sp>
      <p:sp>
        <p:nvSpPr>
          <p:cNvPr id="25" name="Text 23"/>
          <p:cNvSpPr txBox="1"/>
          <p:nvPr/>
        </p:nvSpPr>
        <p:spPr>
          <a:xfrm>
            <a:off x="435254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6" name="Text 24"/>
          <p:cNvSpPr txBox="1"/>
          <p:nvPr/>
        </p:nvSpPr>
        <p:spPr>
          <a:xfrm>
            <a:off x="513892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645107" cy="136676"/>
          </a:xfrm>
          <a:prstGeom prst="rect">
            <a:avLst/>
          </a:prstGeom>
          <a:solidFill>
            <a:srgbClr val="2587C5"/>
          </a:solidFill>
          <a:ln/>
        </p:spPr>
      </p:sp>
      <p:sp>
        <p:nvSpPr>
          <p:cNvPr id="29" name="Text 27"/>
          <p:cNvSpPr txBox="1"/>
          <p:nvPr/>
        </p:nvSpPr>
        <p:spPr>
          <a:xfrm>
            <a:off x="3456432" y="2446289"/>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$316,136</a:t>
            </a:r>
            <a:endParaRPr lang="en-US" sz="1300" dirty="0"/>
          </a:p>
        </p:txBody>
      </p:sp>
      <p:sp>
        <p:nvSpPr>
          <p:cNvPr id="30" name="Text 28"/>
          <p:cNvSpPr txBox="1"/>
          <p:nvPr/>
        </p:nvSpPr>
        <p:spPr>
          <a:xfrm>
            <a:off x="435254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1" name="Text 29"/>
          <p:cNvSpPr txBox="1"/>
          <p:nvPr/>
        </p:nvSpPr>
        <p:spPr>
          <a:xfrm>
            <a:off x="513892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3" name="Shape 31"/>
          <p:cNvSpPr/>
          <p:nvPr/>
        </p:nvSpPr>
        <p:spPr>
          <a:xfrm>
            <a:off x="2670048" y="2750703"/>
            <a:ext cx="463821" cy="136676"/>
          </a:xfrm>
          <a:prstGeom prst="rect">
            <a:avLst/>
          </a:prstGeom>
          <a:solidFill>
            <a:srgbClr val="2587C5"/>
          </a:solidFill>
          <a:ln/>
        </p:spPr>
      </p:sp>
      <p:sp>
        <p:nvSpPr>
          <p:cNvPr id="34" name="Text 32"/>
          <p:cNvSpPr txBox="1"/>
          <p:nvPr/>
        </p:nvSpPr>
        <p:spPr>
          <a:xfrm>
            <a:off x="3456432" y="2694791"/>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$227,297</a:t>
            </a:r>
            <a:endParaRPr lang="en-US" sz="1300" dirty="0"/>
          </a:p>
        </p:txBody>
      </p:sp>
      <p:sp>
        <p:nvSpPr>
          <p:cNvPr id="35" name="Text 33"/>
          <p:cNvSpPr txBox="1"/>
          <p:nvPr/>
        </p:nvSpPr>
        <p:spPr>
          <a:xfrm>
            <a:off x="435254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6" name="Text 34"/>
          <p:cNvSpPr txBox="1"/>
          <p:nvPr/>
        </p:nvSpPr>
        <p:spPr>
          <a:xfrm>
            <a:off x="513892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38" name="Shape 36"/>
          <p:cNvSpPr/>
          <p:nvPr/>
        </p:nvSpPr>
        <p:spPr>
          <a:xfrm>
            <a:off x="2670048" y="2999205"/>
            <a:ext cx="414980" cy="136676"/>
          </a:xfrm>
          <a:prstGeom prst="rect">
            <a:avLst/>
          </a:prstGeom>
          <a:solidFill>
            <a:srgbClr val="2587C5"/>
          </a:solidFill>
          <a:ln/>
        </p:spPr>
      </p:sp>
      <p:sp>
        <p:nvSpPr>
          <p:cNvPr id="39" name="Text 37"/>
          <p:cNvSpPr txBox="1"/>
          <p:nvPr/>
        </p:nvSpPr>
        <p:spPr>
          <a:xfrm>
            <a:off x="3456432" y="2943292"/>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$203,362</a:t>
            </a:r>
            <a:endParaRPr lang="en-US" sz="1300" dirty="0"/>
          </a:p>
        </p:txBody>
      </p:sp>
      <p:sp>
        <p:nvSpPr>
          <p:cNvPr id="40" name="Text 38"/>
          <p:cNvSpPr txBox="1"/>
          <p:nvPr/>
        </p:nvSpPr>
        <p:spPr>
          <a:xfrm>
            <a:off x="435254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1" name="Text 39"/>
          <p:cNvSpPr txBox="1"/>
          <p:nvPr/>
        </p:nvSpPr>
        <p:spPr>
          <a:xfrm>
            <a:off x="513892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3" name="Shape 41"/>
          <p:cNvSpPr/>
          <p:nvPr/>
        </p:nvSpPr>
        <p:spPr>
          <a:xfrm>
            <a:off x="2670048" y="3247707"/>
            <a:ext cx="318618" cy="136676"/>
          </a:xfrm>
          <a:prstGeom prst="rect">
            <a:avLst/>
          </a:prstGeom>
          <a:solidFill>
            <a:srgbClr val="2587C5"/>
          </a:solidFill>
          <a:ln/>
        </p:spPr>
      </p:sp>
      <p:sp>
        <p:nvSpPr>
          <p:cNvPr id="44" name="Text 42"/>
          <p:cNvSpPr txBox="1"/>
          <p:nvPr/>
        </p:nvSpPr>
        <p:spPr>
          <a:xfrm>
            <a:off x="3456432" y="3191794"/>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$156,140</a:t>
            </a:r>
            <a:endParaRPr lang="en-US" sz="1300" dirty="0"/>
          </a:p>
        </p:txBody>
      </p:sp>
      <p:sp>
        <p:nvSpPr>
          <p:cNvPr id="45" name="Text 43"/>
          <p:cNvSpPr txBox="1"/>
          <p:nvPr/>
        </p:nvSpPr>
        <p:spPr>
          <a:xfrm>
            <a:off x="435254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46" name="Text 44"/>
          <p:cNvSpPr txBox="1"/>
          <p:nvPr/>
        </p:nvSpPr>
        <p:spPr>
          <a:xfrm>
            <a:off x="513892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48" name="Shape 46"/>
          <p:cNvSpPr/>
          <p:nvPr/>
        </p:nvSpPr>
        <p:spPr>
          <a:xfrm>
            <a:off x="2670048" y="3496208"/>
            <a:ext cx="301001" cy="136676"/>
          </a:xfrm>
          <a:prstGeom prst="rect">
            <a:avLst/>
          </a:prstGeom>
          <a:solidFill>
            <a:srgbClr val="2587C5"/>
          </a:solidFill>
          <a:ln/>
        </p:spPr>
      </p:sp>
      <p:sp>
        <p:nvSpPr>
          <p:cNvPr id="49" name="Text 47"/>
          <p:cNvSpPr txBox="1"/>
          <p:nvPr/>
        </p:nvSpPr>
        <p:spPr>
          <a:xfrm>
            <a:off x="3456432" y="3440296"/>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$147,507</a:t>
            </a:r>
            <a:endParaRPr lang="en-US" sz="1300" dirty="0"/>
          </a:p>
        </p:txBody>
      </p:sp>
      <p:sp>
        <p:nvSpPr>
          <p:cNvPr id="50" name="Text 48"/>
          <p:cNvSpPr txBox="1"/>
          <p:nvPr/>
        </p:nvSpPr>
        <p:spPr>
          <a:xfrm>
            <a:off x="435254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1" name="Text 49"/>
          <p:cNvSpPr txBox="1"/>
          <p:nvPr/>
        </p:nvSpPr>
        <p:spPr>
          <a:xfrm>
            <a:off x="513892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53" name="Shape 51"/>
          <p:cNvSpPr/>
          <p:nvPr/>
        </p:nvSpPr>
        <p:spPr>
          <a:xfrm>
            <a:off x="2670048" y="3744710"/>
            <a:ext cx="288095" cy="136676"/>
          </a:xfrm>
          <a:prstGeom prst="rect">
            <a:avLst/>
          </a:prstGeom>
          <a:solidFill>
            <a:srgbClr val="2587C5"/>
          </a:solidFill>
          <a:ln/>
        </p:spPr>
      </p:sp>
      <p:sp>
        <p:nvSpPr>
          <p:cNvPr id="54" name="Text 52"/>
          <p:cNvSpPr txBox="1"/>
          <p:nvPr/>
        </p:nvSpPr>
        <p:spPr>
          <a:xfrm>
            <a:off x="3456432" y="3688797"/>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$141,182</a:t>
            </a:r>
            <a:endParaRPr lang="en-US" sz="1300" dirty="0"/>
          </a:p>
        </p:txBody>
      </p:sp>
      <p:sp>
        <p:nvSpPr>
          <p:cNvPr id="55" name="Text 53"/>
          <p:cNvSpPr txBox="1"/>
          <p:nvPr/>
        </p:nvSpPr>
        <p:spPr>
          <a:xfrm>
            <a:off x="435254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56" name="Text 54"/>
          <p:cNvSpPr txBox="1"/>
          <p:nvPr/>
        </p:nvSpPr>
        <p:spPr>
          <a:xfrm>
            <a:off x="513892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8" name="Shape 56"/>
          <p:cNvSpPr/>
          <p:nvPr/>
        </p:nvSpPr>
        <p:spPr>
          <a:xfrm>
            <a:off x="2670048" y="3993212"/>
            <a:ext cx="268462" cy="136676"/>
          </a:xfrm>
          <a:prstGeom prst="rect">
            <a:avLst/>
          </a:prstGeom>
          <a:solidFill>
            <a:srgbClr val="2587C5"/>
          </a:solidFill>
          <a:ln/>
        </p:spPr>
      </p:sp>
      <p:sp>
        <p:nvSpPr>
          <p:cNvPr id="59" name="Text 57"/>
          <p:cNvSpPr txBox="1"/>
          <p:nvPr/>
        </p:nvSpPr>
        <p:spPr>
          <a:xfrm>
            <a:off x="3456432" y="3937299"/>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$131,560</a:t>
            </a:r>
            <a:endParaRPr lang="en-US" sz="1300" dirty="0"/>
          </a:p>
        </p:txBody>
      </p:sp>
      <p:sp>
        <p:nvSpPr>
          <p:cNvPr id="60" name="Text 58"/>
          <p:cNvSpPr txBox="1"/>
          <p:nvPr/>
        </p:nvSpPr>
        <p:spPr>
          <a:xfrm>
            <a:off x="435254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61" name="Text 59"/>
          <p:cNvSpPr txBox="1"/>
          <p:nvPr/>
        </p:nvSpPr>
        <p:spPr>
          <a:xfrm>
            <a:off x="513892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670048" y="4241713"/>
            <a:ext cx="254519" cy="136676"/>
          </a:xfrm>
          <a:prstGeom prst="rect">
            <a:avLst/>
          </a:prstGeom>
          <a:solidFill>
            <a:srgbClr val="2587C5"/>
          </a:solidFill>
          <a:ln/>
        </p:spPr>
      </p:sp>
      <p:sp>
        <p:nvSpPr>
          <p:cNvPr id="64" name="Text 62"/>
          <p:cNvSpPr txBox="1"/>
          <p:nvPr/>
        </p:nvSpPr>
        <p:spPr>
          <a:xfrm>
            <a:off x="3456432" y="4185800"/>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$124,728</a:t>
            </a:r>
            <a:endParaRPr lang="en-US" sz="1300" dirty="0"/>
          </a:p>
        </p:txBody>
      </p:sp>
      <p:sp>
        <p:nvSpPr>
          <p:cNvPr id="65" name="Text 63"/>
          <p:cNvSpPr txBox="1"/>
          <p:nvPr/>
        </p:nvSpPr>
        <p:spPr>
          <a:xfrm>
            <a:off x="435254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66" name="Text 64"/>
          <p:cNvSpPr txBox="1"/>
          <p:nvPr/>
        </p:nvSpPr>
        <p:spPr>
          <a:xfrm>
            <a:off x="513892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68" name="Shape 66"/>
          <p:cNvSpPr/>
          <p:nvPr/>
        </p:nvSpPr>
        <p:spPr>
          <a:xfrm>
            <a:off x="2670048" y="4490215"/>
            <a:ext cx="250231" cy="136676"/>
          </a:xfrm>
          <a:prstGeom prst="rect">
            <a:avLst/>
          </a:prstGeom>
          <a:solidFill>
            <a:srgbClr val="2587C5"/>
          </a:solidFill>
          <a:ln/>
        </p:spPr>
      </p:sp>
      <p:sp>
        <p:nvSpPr>
          <p:cNvPr id="69" name="Text 67"/>
          <p:cNvSpPr txBox="1"/>
          <p:nvPr/>
        </p:nvSpPr>
        <p:spPr>
          <a:xfrm>
            <a:off x="3456432" y="4434302"/>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$122,626</a:t>
            </a:r>
            <a:endParaRPr lang="en-US" sz="1300" dirty="0"/>
          </a:p>
        </p:txBody>
      </p:sp>
      <p:sp>
        <p:nvSpPr>
          <p:cNvPr id="70" name="Text 68"/>
          <p:cNvSpPr txBox="1"/>
          <p:nvPr/>
        </p:nvSpPr>
        <p:spPr>
          <a:xfrm>
            <a:off x="435254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71" name="Text 69"/>
          <p:cNvSpPr txBox="1"/>
          <p:nvPr/>
        </p:nvSpPr>
        <p:spPr>
          <a:xfrm>
            <a:off x="513892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73" name="Shape 71"/>
          <p:cNvSpPr/>
          <p:nvPr/>
        </p:nvSpPr>
        <p:spPr>
          <a:xfrm>
            <a:off x="2670048" y="4738717"/>
            <a:ext cx="227064" cy="136676"/>
          </a:xfrm>
          <a:prstGeom prst="rect">
            <a:avLst/>
          </a:prstGeom>
          <a:solidFill>
            <a:srgbClr val="2587C5"/>
          </a:solidFill>
          <a:ln/>
        </p:spPr>
      </p:sp>
      <p:sp>
        <p:nvSpPr>
          <p:cNvPr id="74" name="Text 72"/>
          <p:cNvSpPr txBox="1"/>
          <p:nvPr/>
        </p:nvSpPr>
        <p:spPr>
          <a:xfrm>
            <a:off x="3456432" y="4682804"/>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$111,273</a:t>
            </a:r>
            <a:endParaRPr lang="en-US" sz="1300" dirty="0"/>
          </a:p>
        </p:txBody>
      </p:sp>
      <p:sp>
        <p:nvSpPr>
          <p:cNvPr id="75" name="Text 73"/>
          <p:cNvSpPr txBox="1"/>
          <p:nvPr/>
        </p:nvSpPr>
        <p:spPr>
          <a:xfrm>
            <a:off x="435254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76" name="Text 74"/>
          <p:cNvSpPr txBox="1"/>
          <p:nvPr/>
        </p:nvSpPr>
        <p:spPr>
          <a:xfrm>
            <a:off x="513892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8" name="Shape 76"/>
          <p:cNvSpPr/>
          <p:nvPr/>
        </p:nvSpPr>
        <p:spPr>
          <a:xfrm>
            <a:off x="2670048" y="4987218"/>
            <a:ext cx="223838" cy="136676"/>
          </a:xfrm>
          <a:prstGeom prst="rect">
            <a:avLst/>
          </a:prstGeom>
          <a:solidFill>
            <a:srgbClr val="2587C5"/>
          </a:solidFill>
          <a:ln/>
        </p:spPr>
      </p:sp>
      <p:sp>
        <p:nvSpPr>
          <p:cNvPr id="79" name="Text 77"/>
          <p:cNvSpPr txBox="1"/>
          <p:nvPr/>
        </p:nvSpPr>
        <p:spPr>
          <a:xfrm>
            <a:off x="3456432" y="4931305"/>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$109,693</a:t>
            </a:r>
            <a:endParaRPr lang="en-US" sz="1300" dirty="0"/>
          </a:p>
        </p:txBody>
      </p:sp>
      <p:sp>
        <p:nvSpPr>
          <p:cNvPr id="80" name="Text 78"/>
          <p:cNvSpPr txBox="1"/>
          <p:nvPr/>
        </p:nvSpPr>
        <p:spPr>
          <a:xfrm>
            <a:off x="435254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81" name="Text 79"/>
          <p:cNvSpPr txBox="1"/>
          <p:nvPr/>
        </p:nvSpPr>
        <p:spPr>
          <a:xfrm>
            <a:off x="513892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83" name="Shape 81"/>
          <p:cNvSpPr/>
          <p:nvPr/>
        </p:nvSpPr>
        <p:spPr>
          <a:xfrm>
            <a:off x="2670048" y="5235720"/>
            <a:ext cx="222732" cy="136676"/>
          </a:xfrm>
          <a:prstGeom prst="rect">
            <a:avLst/>
          </a:prstGeom>
          <a:solidFill>
            <a:srgbClr val="2587C5"/>
          </a:solidFill>
          <a:ln/>
        </p:spPr>
      </p:sp>
      <p:sp>
        <p:nvSpPr>
          <p:cNvPr id="84" name="Text 82"/>
          <p:cNvSpPr txBox="1"/>
          <p:nvPr/>
        </p:nvSpPr>
        <p:spPr>
          <a:xfrm>
            <a:off x="3456432" y="5179807"/>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$109,151</a:t>
            </a:r>
            <a:endParaRPr lang="en-US" sz="1300" dirty="0"/>
          </a:p>
        </p:txBody>
      </p:sp>
      <p:sp>
        <p:nvSpPr>
          <p:cNvPr id="85" name="Text 83"/>
          <p:cNvSpPr txBox="1"/>
          <p:nvPr/>
        </p:nvSpPr>
        <p:spPr>
          <a:xfrm>
            <a:off x="435254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86" name="Text 84"/>
          <p:cNvSpPr txBox="1"/>
          <p:nvPr/>
        </p:nvSpPr>
        <p:spPr>
          <a:xfrm>
            <a:off x="513892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8" name="Shape 86"/>
          <p:cNvSpPr/>
          <p:nvPr/>
        </p:nvSpPr>
        <p:spPr>
          <a:xfrm>
            <a:off x="2670048" y="5484222"/>
            <a:ext cx="221786" cy="136676"/>
          </a:xfrm>
          <a:prstGeom prst="rect">
            <a:avLst/>
          </a:prstGeom>
          <a:solidFill>
            <a:srgbClr val="2587C5"/>
          </a:solidFill>
          <a:ln/>
        </p:spPr>
      </p:sp>
      <p:sp>
        <p:nvSpPr>
          <p:cNvPr id="89" name="Text 87"/>
          <p:cNvSpPr txBox="1"/>
          <p:nvPr/>
        </p:nvSpPr>
        <p:spPr>
          <a:xfrm>
            <a:off x="3456432" y="5428309"/>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$108,687</a:t>
            </a:r>
            <a:endParaRPr lang="en-US" sz="1300" dirty="0"/>
          </a:p>
        </p:txBody>
      </p:sp>
      <p:sp>
        <p:nvSpPr>
          <p:cNvPr id="90" name="Text 88"/>
          <p:cNvSpPr txBox="1"/>
          <p:nvPr/>
        </p:nvSpPr>
        <p:spPr>
          <a:xfrm>
            <a:off x="435254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91" name="Text 89"/>
          <p:cNvSpPr txBox="1"/>
          <p:nvPr/>
        </p:nvSpPr>
        <p:spPr>
          <a:xfrm>
            <a:off x="513892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93" name="Shape 91"/>
          <p:cNvSpPr/>
          <p:nvPr/>
        </p:nvSpPr>
        <p:spPr>
          <a:xfrm>
            <a:off x="2670048" y="5732723"/>
            <a:ext cx="211558" cy="136676"/>
          </a:xfrm>
          <a:prstGeom prst="rect">
            <a:avLst/>
          </a:prstGeom>
          <a:solidFill>
            <a:srgbClr val="2587C5"/>
          </a:solidFill>
          <a:ln/>
        </p:spPr>
      </p:sp>
      <p:sp>
        <p:nvSpPr>
          <p:cNvPr id="94" name="Text 92"/>
          <p:cNvSpPr txBox="1"/>
          <p:nvPr/>
        </p:nvSpPr>
        <p:spPr>
          <a:xfrm>
            <a:off x="3456432" y="5676810"/>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$103,675</a:t>
            </a:r>
            <a:endParaRPr lang="en-US" sz="1300" dirty="0"/>
          </a:p>
        </p:txBody>
      </p:sp>
      <p:sp>
        <p:nvSpPr>
          <p:cNvPr id="95" name="Text 93"/>
          <p:cNvSpPr txBox="1"/>
          <p:nvPr/>
        </p:nvSpPr>
        <p:spPr>
          <a:xfrm>
            <a:off x="435254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96" name="Text 94"/>
          <p:cNvSpPr txBox="1"/>
          <p:nvPr/>
        </p:nvSpPr>
        <p:spPr>
          <a:xfrm>
            <a:off x="513892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98" name="Shape 96"/>
          <p:cNvSpPr/>
          <p:nvPr/>
        </p:nvSpPr>
        <p:spPr>
          <a:xfrm>
            <a:off x="8220456" y="1756697"/>
            <a:ext cx="210961" cy="136676"/>
          </a:xfrm>
          <a:prstGeom prst="rect">
            <a:avLst/>
          </a:prstGeom>
          <a:solidFill>
            <a:srgbClr val="2587C5"/>
          </a:solidFill>
          <a:ln/>
        </p:spPr>
      </p:sp>
      <p:sp>
        <p:nvSpPr>
          <p:cNvPr id="99" name="Text 97"/>
          <p:cNvSpPr txBox="1"/>
          <p:nvPr/>
        </p:nvSpPr>
        <p:spPr>
          <a:xfrm>
            <a:off x="9006840" y="1700784"/>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$103,382</a:t>
            </a:r>
            <a:endParaRPr lang="en-US" sz="1300" dirty="0"/>
          </a:p>
        </p:txBody>
      </p:sp>
      <p:sp>
        <p:nvSpPr>
          <p:cNvPr id="100" name="Text 98"/>
          <p:cNvSpPr txBox="1"/>
          <p:nvPr/>
        </p:nvSpPr>
        <p:spPr>
          <a:xfrm>
            <a:off x="990295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01" name="Text 99"/>
          <p:cNvSpPr txBox="1"/>
          <p:nvPr/>
        </p:nvSpPr>
        <p:spPr>
          <a:xfrm>
            <a:off x="1068933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03" name="Shape 101"/>
          <p:cNvSpPr/>
          <p:nvPr/>
        </p:nvSpPr>
        <p:spPr>
          <a:xfrm>
            <a:off x="8220456" y="2005199"/>
            <a:ext cx="207153" cy="136676"/>
          </a:xfrm>
          <a:prstGeom prst="rect">
            <a:avLst/>
          </a:prstGeom>
          <a:solidFill>
            <a:srgbClr val="2587C5"/>
          </a:solidFill>
          <a:ln/>
        </p:spPr>
      </p:sp>
      <p:sp>
        <p:nvSpPr>
          <p:cNvPr id="104" name="Text 102"/>
          <p:cNvSpPr txBox="1"/>
          <p:nvPr/>
        </p:nvSpPr>
        <p:spPr>
          <a:xfrm>
            <a:off x="9006840" y="1949286"/>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$101,516</a:t>
            </a:r>
            <a:endParaRPr lang="en-US" sz="1300" dirty="0"/>
          </a:p>
        </p:txBody>
      </p:sp>
      <p:sp>
        <p:nvSpPr>
          <p:cNvPr id="105" name="Text 103"/>
          <p:cNvSpPr txBox="1"/>
          <p:nvPr/>
        </p:nvSpPr>
        <p:spPr>
          <a:xfrm>
            <a:off x="990295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06" name="Text 104"/>
          <p:cNvSpPr txBox="1"/>
          <p:nvPr/>
        </p:nvSpPr>
        <p:spPr>
          <a:xfrm>
            <a:off x="1068933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08" name="Shape 106"/>
          <p:cNvSpPr/>
          <p:nvPr/>
        </p:nvSpPr>
        <p:spPr>
          <a:xfrm>
            <a:off x="8220456" y="2253700"/>
            <a:ext cx="197009" cy="136676"/>
          </a:xfrm>
          <a:prstGeom prst="rect">
            <a:avLst/>
          </a:prstGeom>
          <a:solidFill>
            <a:srgbClr val="2587C5"/>
          </a:solidFill>
          <a:ln/>
        </p:spPr>
      </p:sp>
      <p:sp>
        <p:nvSpPr>
          <p:cNvPr id="109" name="Text 107"/>
          <p:cNvSpPr txBox="1"/>
          <p:nvPr/>
        </p:nvSpPr>
        <p:spPr>
          <a:xfrm>
            <a:off x="9006840" y="2197787"/>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$96,545</a:t>
            </a:r>
            <a:endParaRPr lang="en-US" sz="1300" dirty="0"/>
          </a:p>
        </p:txBody>
      </p:sp>
      <p:sp>
        <p:nvSpPr>
          <p:cNvPr id="110" name="Text 108"/>
          <p:cNvSpPr txBox="1"/>
          <p:nvPr/>
        </p:nvSpPr>
        <p:spPr>
          <a:xfrm>
            <a:off x="990295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11" name="Text 109"/>
          <p:cNvSpPr txBox="1"/>
          <p:nvPr/>
        </p:nvSpPr>
        <p:spPr>
          <a:xfrm>
            <a:off x="1068933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2502202"/>
            <a:ext cx="193959" cy="136676"/>
          </a:xfrm>
          <a:prstGeom prst="rect">
            <a:avLst/>
          </a:prstGeom>
          <a:solidFill>
            <a:srgbClr val="2587C5"/>
          </a:solidFill>
          <a:ln/>
        </p:spPr>
      </p:sp>
      <p:sp>
        <p:nvSpPr>
          <p:cNvPr id="114" name="Text 112"/>
          <p:cNvSpPr txBox="1"/>
          <p:nvPr/>
        </p:nvSpPr>
        <p:spPr>
          <a:xfrm>
            <a:off x="9006840" y="2446289"/>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$95,050</a:t>
            </a:r>
            <a:endParaRPr lang="en-US" sz="1300" dirty="0"/>
          </a:p>
        </p:txBody>
      </p:sp>
      <p:sp>
        <p:nvSpPr>
          <p:cNvPr id="115" name="Text 113"/>
          <p:cNvSpPr txBox="1"/>
          <p:nvPr/>
        </p:nvSpPr>
        <p:spPr>
          <a:xfrm>
            <a:off x="990295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16" name="Text 114"/>
          <p:cNvSpPr txBox="1"/>
          <p:nvPr/>
        </p:nvSpPr>
        <p:spPr>
          <a:xfrm>
            <a:off x="1068933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8" name="Shape 116"/>
          <p:cNvSpPr/>
          <p:nvPr/>
        </p:nvSpPr>
        <p:spPr>
          <a:xfrm>
            <a:off x="8220456" y="2750703"/>
            <a:ext cx="192175" cy="136676"/>
          </a:xfrm>
          <a:prstGeom prst="rect">
            <a:avLst/>
          </a:prstGeom>
          <a:solidFill>
            <a:srgbClr val="2587C5"/>
          </a:solidFill>
          <a:ln/>
        </p:spPr>
      </p:sp>
      <p:sp>
        <p:nvSpPr>
          <p:cNvPr id="119" name="Text 117"/>
          <p:cNvSpPr txBox="1"/>
          <p:nvPr/>
        </p:nvSpPr>
        <p:spPr>
          <a:xfrm>
            <a:off x="9006840" y="2694791"/>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$94,176</a:t>
            </a:r>
            <a:endParaRPr lang="en-US" sz="1300" dirty="0"/>
          </a:p>
        </p:txBody>
      </p:sp>
      <p:sp>
        <p:nvSpPr>
          <p:cNvPr id="120" name="Text 118"/>
          <p:cNvSpPr txBox="1"/>
          <p:nvPr/>
        </p:nvSpPr>
        <p:spPr>
          <a:xfrm>
            <a:off x="990295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21" name="Text 119"/>
          <p:cNvSpPr txBox="1"/>
          <p:nvPr/>
        </p:nvSpPr>
        <p:spPr>
          <a:xfrm>
            <a:off x="1068933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23" name="Shape 121"/>
          <p:cNvSpPr/>
          <p:nvPr/>
        </p:nvSpPr>
        <p:spPr>
          <a:xfrm>
            <a:off x="8220456" y="2999205"/>
            <a:ext cx="182910" cy="136676"/>
          </a:xfrm>
          <a:prstGeom prst="rect">
            <a:avLst/>
          </a:prstGeom>
          <a:solidFill>
            <a:srgbClr val="2587C5"/>
          </a:solidFill>
          <a:ln/>
        </p:spPr>
      </p:sp>
      <p:sp>
        <p:nvSpPr>
          <p:cNvPr id="124" name="Text 122"/>
          <p:cNvSpPr txBox="1"/>
          <p:nvPr/>
        </p:nvSpPr>
        <p:spPr>
          <a:xfrm>
            <a:off x="9006840" y="2943292"/>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$89,636</a:t>
            </a:r>
            <a:endParaRPr lang="en-US" sz="1300" dirty="0"/>
          </a:p>
        </p:txBody>
      </p:sp>
      <p:sp>
        <p:nvSpPr>
          <p:cNvPr id="125" name="Text 123"/>
          <p:cNvSpPr txBox="1"/>
          <p:nvPr/>
        </p:nvSpPr>
        <p:spPr>
          <a:xfrm>
            <a:off x="990295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26" name="Text 124"/>
          <p:cNvSpPr txBox="1"/>
          <p:nvPr/>
        </p:nvSpPr>
        <p:spPr>
          <a:xfrm>
            <a:off x="1068933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3247707"/>
            <a:ext cx="177501" cy="136676"/>
          </a:xfrm>
          <a:prstGeom prst="rect">
            <a:avLst/>
          </a:prstGeom>
          <a:solidFill>
            <a:srgbClr val="2587C5"/>
          </a:solidFill>
          <a:ln/>
        </p:spPr>
      </p:sp>
      <p:sp>
        <p:nvSpPr>
          <p:cNvPr id="129" name="Text 127"/>
          <p:cNvSpPr txBox="1"/>
          <p:nvPr/>
        </p:nvSpPr>
        <p:spPr>
          <a:xfrm>
            <a:off x="9006840" y="3191794"/>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$86,985</a:t>
            </a:r>
            <a:endParaRPr lang="en-US" sz="1300" dirty="0"/>
          </a:p>
        </p:txBody>
      </p:sp>
      <p:sp>
        <p:nvSpPr>
          <p:cNvPr id="130" name="Text 128"/>
          <p:cNvSpPr txBox="1"/>
          <p:nvPr/>
        </p:nvSpPr>
        <p:spPr>
          <a:xfrm>
            <a:off x="990295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31" name="Text 129"/>
          <p:cNvSpPr txBox="1"/>
          <p:nvPr/>
        </p:nvSpPr>
        <p:spPr>
          <a:xfrm>
            <a:off x="1068933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496208"/>
            <a:ext cx="175512" cy="136676"/>
          </a:xfrm>
          <a:prstGeom prst="rect">
            <a:avLst/>
          </a:prstGeom>
          <a:solidFill>
            <a:srgbClr val="2587C5"/>
          </a:solidFill>
          <a:ln/>
        </p:spPr>
      </p:sp>
      <p:sp>
        <p:nvSpPr>
          <p:cNvPr id="134" name="Text 132"/>
          <p:cNvSpPr txBox="1"/>
          <p:nvPr/>
        </p:nvSpPr>
        <p:spPr>
          <a:xfrm>
            <a:off x="9006840" y="3440296"/>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$86,010</a:t>
            </a:r>
            <a:endParaRPr lang="en-US" sz="1300" dirty="0"/>
          </a:p>
        </p:txBody>
      </p:sp>
      <p:sp>
        <p:nvSpPr>
          <p:cNvPr id="135" name="Text 133"/>
          <p:cNvSpPr txBox="1"/>
          <p:nvPr/>
        </p:nvSpPr>
        <p:spPr>
          <a:xfrm>
            <a:off x="990295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36" name="Text 134"/>
          <p:cNvSpPr txBox="1"/>
          <p:nvPr/>
        </p:nvSpPr>
        <p:spPr>
          <a:xfrm>
            <a:off x="1068933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8" name="Shape 136"/>
          <p:cNvSpPr/>
          <p:nvPr/>
        </p:nvSpPr>
        <p:spPr>
          <a:xfrm>
            <a:off x="8220456" y="3744710"/>
            <a:ext cx="167969" cy="136676"/>
          </a:xfrm>
          <a:prstGeom prst="rect">
            <a:avLst/>
          </a:prstGeom>
          <a:solidFill>
            <a:srgbClr val="2587C5"/>
          </a:solidFill>
          <a:ln/>
        </p:spPr>
      </p:sp>
      <p:sp>
        <p:nvSpPr>
          <p:cNvPr id="139" name="Text 137"/>
          <p:cNvSpPr txBox="1"/>
          <p:nvPr/>
        </p:nvSpPr>
        <p:spPr>
          <a:xfrm>
            <a:off x="9006840" y="3688797"/>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$82,314</a:t>
            </a:r>
            <a:endParaRPr lang="en-US" sz="1300" dirty="0"/>
          </a:p>
        </p:txBody>
      </p:sp>
      <p:sp>
        <p:nvSpPr>
          <p:cNvPr id="140" name="Text 138"/>
          <p:cNvSpPr txBox="1"/>
          <p:nvPr/>
        </p:nvSpPr>
        <p:spPr>
          <a:xfrm>
            <a:off x="990295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41" name="Text 139"/>
          <p:cNvSpPr txBox="1"/>
          <p:nvPr/>
        </p:nvSpPr>
        <p:spPr>
          <a:xfrm>
            <a:off x="1068933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43" name="Shape 141"/>
          <p:cNvSpPr/>
          <p:nvPr/>
        </p:nvSpPr>
        <p:spPr>
          <a:xfrm>
            <a:off x="8220456" y="3993212"/>
            <a:ext cx="151665" cy="136676"/>
          </a:xfrm>
          <a:prstGeom prst="rect">
            <a:avLst/>
          </a:prstGeom>
          <a:solidFill>
            <a:srgbClr val="2587C5"/>
          </a:solidFill>
          <a:ln/>
        </p:spPr>
      </p:sp>
      <p:sp>
        <p:nvSpPr>
          <p:cNvPr id="144" name="Text 142"/>
          <p:cNvSpPr txBox="1"/>
          <p:nvPr/>
        </p:nvSpPr>
        <p:spPr>
          <a:xfrm>
            <a:off x="9006840" y="3937299"/>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$74,324</a:t>
            </a:r>
            <a:endParaRPr lang="en-US" sz="1300" dirty="0"/>
          </a:p>
        </p:txBody>
      </p:sp>
      <p:sp>
        <p:nvSpPr>
          <p:cNvPr id="145" name="Text 143"/>
          <p:cNvSpPr txBox="1"/>
          <p:nvPr/>
        </p:nvSpPr>
        <p:spPr>
          <a:xfrm>
            <a:off x="990295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46" name="Text 144"/>
          <p:cNvSpPr txBox="1"/>
          <p:nvPr/>
        </p:nvSpPr>
        <p:spPr>
          <a:xfrm>
            <a:off x="1068933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8" name="Shape 146"/>
          <p:cNvSpPr/>
          <p:nvPr/>
        </p:nvSpPr>
        <p:spPr>
          <a:xfrm>
            <a:off x="8220456" y="4241713"/>
            <a:ext cx="148544" cy="136676"/>
          </a:xfrm>
          <a:prstGeom prst="rect">
            <a:avLst/>
          </a:prstGeom>
          <a:solidFill>
            <a:srgbClr val="2587C5"/>
          </a:solidFill>
          <a:ln/>
        </p:spPr>
      </p:sp>
      <p:sp>
        <p:nvSpPr>
          <p:cNvPr id="149" name="Text 147"/>
          <p:cNvSpPr txBox="1"/>
          <p:nvPr/>
        </p:nvSpPr>
        <p:spPr>
          <a:xfrm>
            <a:off x="9006840" y="4185800"/>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$72,795</a:t>
            </a:r>
            <a:endParaRPr lang="en-US" sz="1300" dirty="0"/>
          </a:p>
        </p:txBody>
      </p:sp>
      <p:sp>
        <p:nvSpPr>
          <p:cNvPr id="150" name="Text 148"/>
          <p:cNvSpPr txBox="1"/>
          <p:nvPr/>
        </p:nvSpPr>
        <p:spPr>
          <a:xfrm>
            <a:off x="990295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51" name="Text 149"/>
          <p:cNvSpPr txBox="1"/>
          <p:nvPr/>
        </p:nvSpPr>
        <p:spPr>
          <a:xfrm>
            <a:off x="1068933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3" name="Shape 151"/>
          <p:cNvSpPr/>
          <p:nvPr/>
        </p:nvSpPr>
        <p:spPr>
          <a:xfrm>
            <a:off x="8220456" y="4490215"/>
            <a:ext cx="148506" cy="136676"/>
          </a:xfrm>
          <a:prstGeom prst="rect">
            <a:avLst/>
          </a:prstGeom>
          <a:solidFill>
            <a:srgbClr val="2587C5"/>
          </a:solidFill>
          <a:ln/>
        </p:spPr>
      </p:sp>
      <p:sp>
        <p:nvSpPr>
          <p:cNvPr id="154" name="Text 152"/>
          <p:cNvSpPr txBox="1"/>
          <p:nvPr/>
        </p:nvSpPr>
        <p:spPr>
          <a:xfrm>
            <a:off x="9006840" y="4434302"/>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$72,776</a:t>
            </a:r>
            <a:endParaRPr lang="en-US" sz="1300" dirty="0"/>
          </a:p>
        </p:txBody>
      </p:sp>
      <p:sp>
        <p:nvSpPr>
          <p:cNvPr id="155" name="Text 153"/>
          <p:cNvSpPr txBox="1"/>
          <p:nvPr/>
        </p:nvSpPr>
        <p:spPr>
          <a:xfrm>
            <a:off x="990295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56" name="Text 154"/>
          <p:cNvSpPr txBox="1"/>
          <p:nvPr/>
        </p:nvSpPr>
        <p:spPr>
          <a:xfrm>
            <a:off x="1068933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58" name="Shape 156"/>
          <p:cNvSpPr/>
          <p:nvPr/>
        </p:nvSpPr>
        <p:spPr>
          <a:xfrm>
            <a:off x="8220456" y="4738717"/>
            <a:ext cx="148438" cy="136676"/>
          </a:xfrm>
          <a:prstGeom prst="rect">
            <a:avLst/>
          </a:prstGeom>
          <a:solidFill>
            <a:srgbClr val="2587C5"/>
          </a:solidFill>
          <a:ln/>
        </p:spPr>
      </p:sp>
      <p:sp>
        <p:nvSpPr>
          <p:cNvPr id="159" name="Text 157"/>
          <p:cNvSpPr txBox="1"/>
          <p:nvPr/>
        </p:nvSpPr>
        <p:spPr>
          <a:xfrm>
            <a:off x="9006840" y="4682804"/>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$72,743</a:t>
            </a:r>
            <a:endParaRPr lang="en-US" sz="1300" dirty="0"/>
          </a:p>
        </p:txBody>
      </p:sp>
      <p:sp>
        <p:nvSpPr>
          <p:cNvPr id="160" name="Text 158"/>
          <p:cNvSpPr txBox="1"/>
          <p:nvPr/>
        </p:nvSpPr>
        <p:spPr>
          <a:xfrm>
            <a:off x="990295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61" name="Text 159"/>
          <p:cNvSpPr txBox="1"/>
          <p:nvPr/>
        </p:nvSpPr>
        <p:spPr>
          <a:xfrm>
            <a:off x="1068933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3" name="Shape 161"/>
          <p:cNvSpPr/>
          <p:nvPr/>
        </p:nvSpPr>
        <p:spPr>
          <a:xfrm>
            <a:off x="8220456" y="4987218"/>
            <a:ext cx="137973" cy="136676"/>
          </a:xfrm>
          <a:prstGeom prst="rect">
            <a:avLst/>
          </a:prstGeom>
          <a:solidFill>
            <a:srgbClr val="2587C5"/>
          </a:solidFill>
          <a:ln/>
        </p:spPr>
      </p:sp>
      <p:sp>
        <p:nvSpPr>
          <p:cNvPr id="164" name="Text 162"/>
          <p:cNvSpPr txBox="1"/>
          <p:nvPr/>
        </p:nvSpPr>
        <p:spPr>
          <a:xfrm>
            <a:off x="9006840" y="4931305"/>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$67,614</a:t>
            </a:r>
            <a:endParaRPr lang="en-US" sz="1300" dirty="0"/>
          </a:p>
        </p:txBody>
      </p:sp>
      <p:sp>
        <p:nvSpPr>
          <p:cNvPr id="165" name="Text 163"/>
          <p:cNvSpPr txBox="1"/>
          <p:nvPr/>
        </p:nvSpPr>
        <p:spPr>
          <a:xfrm>
            <a:off x="990295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66" name="Text 164"/>
          <p:cNvSpPr txBox="1"/>
          <p:nvPr/>
        </p:nvSpPr>
        <p:spPr>
          <a:xfrm>
            <a:off x="1068933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8" name="Shape 166"/>
          <p:cNvSpPr/>
          <p:nvPr/>
        </p:nvSpPr>
        <p:spPr>
          <a:xfrm>
            <a:off x="8220456" y="5235720"/>
            <a:ext cx="135948" cy="136676"/>
          </a:xfrm>
          <a:prstGeom prst="rect">
            <a:avLst/>
          </a:prstGeom>
          <a:solidFill>
            <a:srgbClr val="2587C5"/>
          </a:solidFill>
          <a:ln/>
        </p:spPr>
      </p:sp>
      <p:sp>
        <p:nvSpPr>
          <p:cNvPr id="169" name="Text 167"/>
          <p:cNvSpPr txBox="1"/>
          <p:nvPr/>
        </p:nvSpPr>
        <p:spPr>
          <a:xfrm>
            <a:off x="9006840" y="5179807"/>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$66,622</a:t>
            </a:r>
            <a:endParaRPr lang="en-US" sz="1300" dirty="0"/>
          </a:p>
        </p:txBody>
      </p:sp>
      <p:sp>
        <p:nvSpPr>
          <p:cNvPr id="170" name="Text 168"/>
          <p:cNvSpPr txBox="1"/>
          <p:nvPr/>
        </p:nvSpPr>
        <p:spPr>
          <a:xfrm>
            <a:off x="990295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71" name="Text 169"/>
          <p:cNvSpPr txBox="1"/>
          <p:nvPr/>
        </p:nvSpPr>
        <p:spPr>
          <a:xfrm>
            <a:off x="1068933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73" name="Shape 171"/>
          <p:cNvSpPr/>
          <p:nvPr/>
        </p:nvSpPr>
        <p:spPr>
          <a:xfrm>
            <a:off x="8220456" y="5484222"/>
            <a:ext cx="133856" cy="136676"/>
          </a:xfrm>
          <a:prstGeom prst="rect">
            <a:avLst/>
          </a:prstGeom>
          <a:solidFill>
            <a:srgbClr val="2587C5"/>
          </a:solidFill>
          <a:ln/>
        </p:spPr>
      </p:sp>
      <p:sp>
        <p:nvSpPr>
          <p:cNvPr id="174" name="Text 172"/>
          <p:cNvSpPr txBox="1"/>
          <p:nvPr/>
        </p:nvSpPr>
        <p:spPr>
          <a:xfrm>
            <a:off x="9006840" y="5428309"/>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$65,596</a:t>
            </a:r>
            <a:endParaRPr lang="en-US" sz="1300" dirty="0"/>
          </a:p>
        </p:txBody>
      </p:sp>
      <p:sp>
        <p:nvSpPr>
          <p:cNvPr id="175" name="Text 173"/>
          <p:cNvSpPr txBox="1"/>
          <p:nvPr/>
        </p:nvSpPr>
        <p:spPr>
          <a:xfrm>
            <a:off x="990295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76" name="Text 174"/>
          <p:cNvSpPr txBox="1"/>
          <p:nvPr/>
        </p:nvSpPr>
        <p:spPr>
          <a:xfrm>
            <a:off x="1068933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2889504"/>
          <a:ext cx="10945368" cy="3008376"/>
        </p:xfrm>
        <a:graphic>
          <a:graphicData uri="http://schemas.openxmlformats.org/drawingml/2006/chart">
            <c:chart xmlns:c="http://schemas.openxmlformats.org/drawingml/2006/chart" r:id="rId2"/>
          </a:graphicData>
        </a:graphic>
      </p:graphicFrame>
      <p:sp>
        <p:nvSpPr>
          <p:cNvPr id="18" name="Shape 15"/>
          <p:cNvSpPr/>
          <p:nvPr/>
        </p:nvSpPr>
        <p:spPr>
          <a:xfrm>
            <a:off x="457200" y="6126480"/>
            <a:ext cx="11274552" cy="615696"/>
          </a:xfrm>
          <a:prstGeom prst="rect">
            <a:avLst/>
          </a:prstGeom>
          <a:solidFill>
            <a:srgbClr val="E6F6EE"/>
          </a:solidFill>
          <a:ln/>
        </p:spPr>
      </p:sp>
      <p:sp>
        <p:nvSpPr>
          <p:cNvPr id="19" name="Text 1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050673"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038014"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631546"/>
            <a:ext cx="711662"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649509"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111337"/>
            <a:ext cx="602764"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351233"/>
            <a:ext cx="498059"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36748"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419629"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070920"/>
            <a:ext cx="344483"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310815"/>
            <a:ext cx="341580"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550711"/>
            <a:ext cx="326318"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4790606"/>
            <a:ext cx="308206"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030502"/>
            <a:ext cx="299995"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298846"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510293"/>
            <a:ext cx="298644"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5750188"/>
            <a:ext cx="276102"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1860"/>
            <a:ext cx="257333"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51755"/>
            <a:ext cx="250095"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391651"/>
            <a:ext cx="222717"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631546"/>
            <a:ext cx="194260"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871442"/>
            <a:ext cx="190890"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111337"/>
            <a:ext cx="181408"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351233"/>
            <a:ext cx="157098"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591128"/>
            <a:ext cx="152958"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3831024"/>
            <a:ext cx="145645"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070920"/>
            <a:ext cx="142349"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310815"/>
            <a:ext cx="122032"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18093"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15857"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030502"/>
            <a:ext cx="111992"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76952"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6698"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78,123; VW St George is smallest at 3,276.</a:t>
            </a:r>
            <a:endParaRPr lang="en-US" sz="1600" dirty="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led by Subaru St George at +44.6% to 12,766. 10 declined; VW St George fell most at −25.4%.</a:t>
            </a:r>
            <a:endParaRPr lang="en-US" sz="1600" dirty="0"/>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labor time we sell on the average customer-pay visit.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per RO  </a:t>
            </a:r>
            <a:pPr algn="ctr" indent="0" marL="0">
              <a:buNone/>
            </a:pPr>
            <a:r>
              <a:rPr lang="en-US" sz="1400" b="1" dirty="0">
                <a:solidFill>
                  <a:srgbClr val="0B2C4A"/>
                </a:solidFill>
                <a:latin typeface="Inter" pitchFamily="34" charset="0"/>
                <a:ea typeface="Inter" pitchFamily="34" charset="-122"/>
                <a:cs typeface="Inter" pitchFamily="34" charset="-120"/>
              </a:rPr>
              <a:t>= $4,543,691 of labor</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a $162.42 ELR on  </a:t>
            </a:r>
            <a:pPr algn="ctr" indent="0" marL="0">
              <a:buNone/>
            </a:pPr>
            <a:r>
              <a:rPr lang="en-US" sz="1400" b="1" dirty="0">
                <a:solidFill>
                  <a:srgbClr val="0B2C4A"/>
                </a:solidFill>
                <a:latin typeface="Inter" pitchFamily="34" charset="0"/>
                <a:ea typeface="Inter" pitchFamily="34" charset="-122"/>
                <a:cs typeface="Inter" pitchFamily="34" charset="-120"/>
              </a:rPr>
              <a:t>279,756 ROs</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cannot be manipulated: it is work the customer agreed to.</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main lever while car count is flat.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Selling more hours also sells parts.</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7309104" y="3410712"/>
            <a:ext cx="45720" cy="1133856"/>
          </a:xfrm>
          <a:prstGeom prst="rect">
            <a:avLst/>
          </a:prstGeom>
          <a:solidFill>
            <a:srgbClr val="2587C5"/>
          </a:solidFill>
          <a:ln/>
        </p:spPr>
      </p:sp>
      <p:sp>
        <p:nvSpPr>
          <p:cNvPr id="21" name="Text 19"/>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9479280" y="3410712"/>
            <a:ext cx="45720" cy="1133856"/>
          </a:xfrm>
          <a:prstGeom prst="rect">
            <a:avLst/>
          </a:prstGeom>
          <a:solidFill>
            <a:srgbClr val="2587C5"/>
          </a:solidFill>
          <a:ln/>
        </p:spPr>
      </p:sp>
      <p:sp>
        <p:nvSpPr>
          <p:cNvPr id="23" name="Text 21"/>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7309104" y="4654296"/>
            <a:ext cx="45720" cy="1133856"/>
          </a:xfrm>
          <a:prstGeom prst="rect">
            <a:avLst/>
          </a:prstGeom>
          <a:solidFill>
            <a:srgbClr val="2587C5"/>
          </a:solidFill>
          <a:ln/>
        </p:spPr>
      </p:sp>
      <p:sp>
        <p:nvSpPr>
          <p:cNvPr id="27" name="Text 25"/>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9479280" y="4654296"/>
            <a:ext cx="45720" cy="1133856"/>
          </a:xfrm>
          <a:prstGeom prst="rect">
            <a:avLst/>
          </a:prstGeom>
          <a:solidFill>
            <a:srgbClr val="2587C5"/>
          </a:solidFill>
          <a:ln/>
        </p:spPr>
      </p:sp>
      <p:sp>
        <p:nvSpPr>
          <p:cNvPr id="29" name="Text 27"/>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
        <p:nvSpPr>
          <p:cNvPr id="30" name="Shape 28"/>
          <p:cNvSpPr/>
          <p:nvPr/>
        </p:nvSpPr>
        <p:spPr>
          <a:xfrm>
            <a:off x="457200" y="6126480"/>
            <a:ext cx="11274552" cy="371856"/>
          </a:xfrm>
          <a:prstGeom prst="rect">
            <a:avLst/>
          </a:prstGeom>
          <a:solidFill>
            <a:srgbClr val="E6F6EE"/>
          </a:solidFill>
          <a:ln/>
        </p:spPr>
      </p:sp>
      <p:sp>
        <p:nvSpPr>
          <p:cNvPr id="31" name="Text 29"/>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1.87 CP hours per RO, up 0.07 and ahead of 2025 in all nine months.</a:t>
            </a:r>
            <a:endParaRPr lang="en-US" sz="160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0.07 to 1.87, ahead of 2025 in all nine months. Each 0.1 hour per RO is worth $4,543,691 of labor at the 2026 ELR.</a:t>
            </a:r>
            <a:endParaRPr lang="en-US" sz="1600" dirty="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2.90, non-luxury 1.75.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4226889"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451937"/>
            <a:ext cx="1690163" cy="110266"/>
          </a:xfrm>
          <a:prstGeom prst="rect">
            <a:avLst/>
          </a:prstGeom>
          <a:solidFill>
            <a:srgbClr val="12A566"/>
          </a:solidFill>
          <a:ln/>
        </p:spPr>
      </p:sp>
      <p:sp>
        <p:nvSpPr>
          <p:cNvPr id="22" name="Shape 20"/>
          <p:cNvSpPr/>
          <p:nvPr/>
        </p:nvSpPr>
        <p:spPr>
          <a:xfrm>
            <a:off x="4226889"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27" name="Shape 25"/>
          <p:cNvSpPr/>
          <p:nvPr/>
        </p:nvSpPr>
        <p:spPr>
          <a:xfrm>
            <a:off x="3008376" y="2672468"/>
            <a:ext cx="1476808" cy="110266"/>
          </a:xfrm>
          <a:prstGeom prst="rect">
            <a:avLst/>
          </a:prstGeom>
          <a:solidFill>
            <a:srgbClr val="12A566"/>
          </a:solidFill>
          <a:ln/>
        </p:spPr>
      </p:sp>
      <p:sp>
        <p:nvSpPr>
          <p:cNvPr id="28" name="Shape 26"/>
          <p:cNvSpPr/>
          <p:nvPr/>
        </p:nvSpPr>
        <p:spPr>
          <a:xfrm>
            <a:off x="4226889"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2893000"/>
            <a:ext cx="1476344" cy="110266"/>
          </a:xfrm>
          <a:prstGeom prst="rect">
            <a:avLst/>
          </a:prstGeom>
          <a:solidFill>
            <a:srgbClr val="12A566"/>
          </a:solidFill>
          <a:ln/>
        </p:spPr>
      </p:sp>
      <p:sp>
        <p:nvSpPr>
          <p:cNvPr id="34" name="Shape 32"/>
          <p:cNvSpPr/>
          <p:nvPr/>
        </p:nvSpPr>
        <p:spPr>
          <a:xfrm>
            <a:off x="4226889"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39" name="Shape 37"/>
          <p:cNvSpPr/>
          <p:nvPr/>
        </p:nvSpPr>
        <p:spPr>
          <a:xfrm>
            <a:off x="3008376" y="3113532"/>
            <a:ext cx="1157406" cy="110266"/>
          </a:xfrm>
          <a:prstGeom prst="rect">
            <a:avLst/>
          </a:prstGeom>
          <a:solidFill>
            <a:srgbClr val="C2352F"/>
          </a:solidFill>
          <a:ln/>
        </p:spPr>
      </p:sp>
      <p:sp>
        <p:nvSpPr>
          <p:cNvPr id="40" name="Shape 38"/>
          <p:cNvSpPr/>
          <p:nvPr/>
        </p:nvSpPr>
        <p:spPr>
          <a:xfrm>
            <a:off x="4226889"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45" name="Shape 43"/>
          <p:cNvSpPr/>
          <p:nvPr/>
        </p:nvSpPr>
        <p:spPr>
          <a:xfrm>
            <a:off x="3008376" y="3334064"/>
            <a:ext cx="1156140" cy="110266"/>
          </a:xfrm>
          <a:prstGeom prst="rect">
            <a:avLst/>
          </a:prstGeom>
          <a:solidFill>
            <a:srgbClr val="C2352F"/>
          </a:solidFill>
          <a:ln/>
        </p:spPr>
      </p:sp>
      <p:sp>
        <p:nvSpPr>
          <p:cNvPr id="46" name="Shape 44"/>
          <p:cNvSpPr/>
          <p:nvPr/>
        </p:nvSpPr>
        <p:spPr>
          <a:xfrm>
            <a:off x="4226889"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48" name="Text 46"/>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0" name="Shape 48"/>
          <p:cNvSpPr/>
          <p:nvPr/>
        </p:nvSpPr>
        <p:spPr>
          <a:xfrm>
            <a:off x="3008376" y="3554596"/>
            <a:ext cx="1055814" cy="110266"/>
          </a:xfrm>
          <a:prstGeom prst="rect">
            <a:avLst/>
          </a:prstGeom>
          <a:solidFill>
            <a:srgbClr val="12A566"/>
          </a:solidFill>
          <a:ln/>
        </p:spPr>
      </p:sp>
      <p:sp>
        <p:nvSpPr>
          <p:cNvPr id="51" name="Shape 49"/>
          <p:cNvSpPr/>
          <p:nvPr/>
        </p:nvSpPr>
        <p:spPr>
          <a:xfrm>
            <a:off x="3737371" y="3521516"/>
            <a:ext cx="21946" cy="176425"/>
          </a:xfrm>
          <a:prstGeom prst="rect">
            <a:avLst/>
          </a:prstGeom>
          <a:solidFill>
            <a:srgbClr val="0B2C4A"/>
          </a:solidFill>
          <a:ln/>
        </p:spPr>
      </p:sp>
      <p:sp>
        <p:nvSpPr>
          <p:cNvPr id="52" name="Text 50"/>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3" name="Shape 51"/>
          <p:cNvSpPr/>
          <p:nvPr/>
        </p:nvSpPr>
        <p:spPr>
          <a:xfrm>
            <a:off x="603504" y="3719994"/>
            <a:ext cx="5358384" cy="220532"/>
          </a:xfrm>
          <a:prstGeom prst="rect">
            <a:avLst/>
          </a:prstGeom>
          <a:solidFill>
            <a:srgbClr val="EDF4FA"/>
          </a:solidFill>
          <a:ln/>
        </p:spPr>
      </p:sp>
      <p:sp>
        <p:nvSpPr>
          <p:cNvPr id="54" name="Text 52"/>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3008376" y="3775127"/>
            <a:ext cx="1053114" cy="110266"/>
          </a:xfrm>
          <a:prstGeom prst="rect">
            <a:avLst/>
          </a:prstGeom>
          <a:solidFill>
            <a:srgbClr val="C2352F"/>
          </a:solidFill>
          <a:ln/>
        </p:spPr>
      </p:sp>
      <p:sp>
        <p:nvSpPr>
          <p:cNvPr id="57" name="Shape 55"/>
          <p:cNvSpPr/>
          <p:nvPr/>
        </p:nvSpPr>
        <p:spPr>
          <a:xfrm>
            <a:off x="4226889" y="3742048"/>
            <a:ext cx="21946" cy="176425"/>
          </a:xfrm>
          <a:prstGeom prst="rect">
            <a:avLst/>
          </a:prstGeom>
          <a:solidFill>
            <a:srgbClr val="0B2C4A"/>
          </a:solidFill>
          <a:ln/>
        </p:spPr>
      </p:sp>
      <p:sp>
        <p:nvSpPr>
          <p:cNvPr id="58" name="Text 56"/>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59" name="Text 57"/>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008376" y="3995659"/>
            <a:ext cx="974646" cy="110266"/>
          </a:xfrm>
          <a:prstGeom prst="rect">
            <a:avLst/>
          </a:prstGeom>
          <a:solidFill>
            <a:srgbClr val="12A566"/>
          </a:solidFill>
          <a:ln/>
        </p:spPr>
      </p:sp>
      <p:sp>
        <p:nvSpPr>
          <p:cNvPr id="62" name="Shape 60"/>
          <p:cNvSpPr/>
          <p:nvPr/>
        </p:nvSpPr>
        <p:spPr>
          <a:xfrm>
            <a:off x="3737371" y="3962579"/>
            <a:ext cx="21946" cy="176425"/>
          </a:xfrm>
          <a:prstGeom prst="rect">
            <a:avLst/>
          </a:prstGeom>
          <a:solidFill>
            <a:srgbClr val="0B2C4A"/>
          </a:solidFill>
          <a:ln/>
        </p:spPr>
      </p:sp>
      <p:sp>
        <p:nvSpPr>
          <p:cNvPr id="63" name="Text 61"/>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5" name="Text 63"/>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4216191"/>
            <a:ext cx="974494" cy="110266"/>
          </a:xfrm>
          <a:prstGeom prst="rect">
            <a:avLst/>
          </a:prstGeom>
          <a:solidFill>
            <a:srgbClr val="12A566"/>
          </a:solidFill>
          <a:ln/>
        </p:spPr>
      </p:sp>
      <p:sp>
        <p:nvSpPr>
          <p:cNvPr id="67" name="Shape 65"/>
          <p:cNvSpPr/>
          <p:nvPr/>
        </p:nvSpPr>
        <p:spPr>
          <a:xfrm>
            <a:off x="3737371" y="4183111"/>
            <a:ext cx="21946" cy="176425"/>
          </a:xfrm>
          <a:prstGeom prst="rect">
            <a:avLst/>
          </a:prstGeom>
          <a:solidFill>
            <a:srgbClr val="0B2C4A"/>
          </a:solidFill>
          <a:ln/>
        </p:spPr>
      </p:sp>
      <p:sp>
        <p:nvSpPr>
          <p:cNvPr id="68" name="Text 66"/>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9" name="Shape 67"/>
          <p:cNvSpPr/>
          <p:nvPr/>
        </p:nvSpPr>
        <p:spPr>
          <a:xfrm>
            <a:off x="603504" y="4381590"/>
            <a:ext cx="5358384" cy="220532"/>
          </a:xfrm>
          <a:prstGeom prst="rect">
            <a:avLst/>
          </a:prstGeom>
          <a:solidFill>
            <a:srgbClr val="EDF4FA"/>
          </a:solidFill>
          <a:ln/>
        </p:spPr>
      </p:sp>
      <p:sp>
        <p:nvSpPr>
          <p:cNvPr id="70" name="Text 68"/>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1" name="Text 69"/>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72" name="Shape 70"/>
          <p:cNvSpPr/>
          <p:nvPr/>
        </p:nvSpPr>
        <p:spPr>
          <a:xfrm>
            <a:off x="3008376" y="4436723"/>
            <a:ext cx="965563" cy="110266"/>
          </a:xfrm>
          <a:prstGeom prst="rect">
            <a:avLst/>
          </a:prstGeom>
          <a:solidFill>
            <a:srgbClr val="C2352F"/>
          </a:solidFill>
          <a:ln/>
        </p:spPr>
      </p:sp>
      <p:sp>
        <p:nvSpPr>
          <p:cNvPr id="73" name="Shape 71"/>
          <p:cNvSpPr/>
          <p:nvPr/>
        </p:nvSpPr>
        <p:spPr>
          <a:xfrm>
            <a:off x="4226889" y="4403643"/>
            <a:ext cx="21946" cy="176425"/>
          </a:xfrm>
          <a:prstGeom prst="rect">
            <a:avLst/>
          </a:prstGeom>
          <a:solidFill>
            <a:srgbClr val="0B2C4A"/>
          </a:solidFill>
          <a:ln/>
        </p:spPr>
      </p:sp>
      <p:sp>
        <p:nvSpPr>
          <p:cNvPr id="74" name="Text 72"/>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75" name="Text 73"/>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6" name="Text 74"/>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008376" y="4657254"/>
            <a:ext cx="933094" cy="110266"/>
          </a:xfrm>
          <a:prstGeom prst="rect">
            <a:avLst/>
          </a:prstGeom>
          <a:solidFill>
            <a:srgbClr val="12A566"/>
          </a:solidFill>
          <a:ln/>
        </p:spPr>
      </p:sp>
      <p:sp>
        <p:nvSpPr>
          <p:cNvPr id="78" name="Shape 76"/>
          <p:cNvSpPr/>
          <p:nvPr/>
        </p:nvSpPr>
        <p:spPr>
          <a:xfrm>
            <a:off x="3737371" y="4624175"/>
            <a:ext cx="21946" cy="176425"/>
          </a:xfrm>
          <a:prstGeom prst="rect">
            <a:avLst/>
          </a:prstGeom>
          <a:solidFill>
            <a:srgbClr val="0B2C4A"/>
          </a:solidFill>
          <a:ln/>
        </p:spPr>
      </p:sp>
      <p:sp>
        <p:nvSpPr>
          <p:cNvPr id="79" name="Text 77"/>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80" name="Text 78"/>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1" name="Text 79"/>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2" name="Shape 80"/>
          <p:cNvSpPr/>
          <p:nvPr/>
        </p:nvSpPr>
        <p:spPr>
          <a:xfrm>
            <a:off x="3008376" y="4877786"/>
            <a:ext cx="894556" cy="110266"/>
          </a:xfrm>
          <a:prstGeom prst="rect">
            <a:avLst/>
          </a:prstGeom>
          <a:solidFill>
            <a:srgbClr val="12A566"/>
          </a:solidFill>
          <a:ln/>
        </p:spPr>
      </p:sp>
      <p:sp>
        <p:nvSpPr>
          <p:cNvPr id="83" name="Shape 81"/>
          <p:cNvSpPr/>
          <p:nvPr/>
        </p:nvSpPr>
        <p:spPr>
          <a:xfrm>
            <a:off x="3737371" y="4844706"/>
            <a:ext cx="21946" cy="176425"/>
          </a:xfrm>
          <a:prstGeom prst="rect">
            <a:avLst/>
          </a:prstGeom>
          <a:solidFill>
            <a:srgbClr val="0B2C4A"/>
          </a:solidFill>
          <a:ln/>
        </p:spPr>
      </p:sp>
      <p:sp>
        <p:nvSpPr>
          <p:cNvPr id="84" name="Text 82"/>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85" name="Shape 83"/>
          <p:cNvSpPr/>
          <p:nvPr/>
        </p:nvSpPr>
        <p:spPr>
          <a:xfrm>
            <a:off x="603504" y="5043185"/>
            <a:ext cx="5358384" cy="220532"/>
          </a:xfrm>
          <a:prstGeom prst="rect">
            <a:avLst/>
          </a:prstGeom>
          <a:solidFill>
            <a:srgbClr val="EDF4FA"/>
          </a:solidFill>
          <a:ln/>
        </p:spPr>
      </p:sp>
      <p:sp>
        <p:nvSpPr>
          <p:cNvPr id="86" name="Text 84"/>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7" name="Text 85"/>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88" name="Shape 86"/>
          <p:cNvSpPr/>
          <p:nvPr/>
        </p:nvSpPr>
        <p:spPr>
          <a:xfrm>
            <a:off x="3008376" y="5098318"/>
            <a:ext cx="883040" cy="110266"/>
          </a:xfrm>
          <a:prstGeom prst="rect">
            <a:avLst/>
          </a:prstGeom>
          <a:solidFill>
            <a:srgbClr val="C2352F"/>
          </a:solidFill>
          <a:ln/>
        </p:spPr>
      </p:sp>
      <p:sp>
        <p:nvSpPr>
          <p:cNvPr id="89" name="Shape 87"/>
          <p:cNvSpPr/>
          <p:nvPr/>
        </p:nvSpPr>
        <p:spPr>
          <a:xfrm>
            <a:off x="4226889" y="5065238"/>
            <a:ext cx="21946" cy="176425"/>
          </a:xfrm>
          <a:prstGeom prst="rect">
            <a:avLst/>
          </a:prstGeom>
          <a:solidFill>
            <a:srgbClr val="0B2C4A"/>
          </a:solidFill>
          <a:ln/>
        </p:spPr>
      </p:sp>
      <p:sp>
        <p:nvSpPr>
          <p:cNvPr id="90" name="Text 88"/>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91" name="Text 89"/>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2" name="Text 90"/>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318850"/>
            <a:ext cx="856355" cy="110266"/>
          </a:xfrm>
          <a:prstGeom prst="rect">
            <a:avLst/>
          </a:prstGeom>
          <a:solidFill>
            <a:srgbClr val="12A566"/>
          </a:solidFill>
          <a:ln/>
        </p:spPr>
      </p:sp>
      <p:sp>
        <p:nvSpPr>
          <p:cNvPr id="94" name="Shape 92"/>
          <p:cNvSpPr/>
          <p:nvPr/>
        </p:nvSpPr>
        <p:spPr>
          <a:xfrm>
            <a:off x="3737371" y="5285770"/>
            <a:ext cx="21946" cy="176425"/>
          </a:xfrm>
          <a:prstGeom prst="rect">
            <a:avLst/>
          </a:prstGeom>
          <a:solidFill>
            <a:srgbClr val="0B2C4A"/>
          </a:solidFill>
          <a:ln/>
        </p:spPr>
      </p:sp>
      <p:sp>
        <p:nvSpPr>
          <p:cNvPr id="95" name="Text 93"/>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96" name="Text 94"/>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7" name="Text 95"/>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8" name="Shape 96"/>
          <p:cNvSpPr/>
          <p:nvPr/>
        </p:nvSpPr>
        <p:spPr>
          <a:xfrm>
            <a:off x="3008376" y="5539381"/>
            <a:ext cx="850890" cy="110266"/>
          </a:xfrm>
          <a:prstGeom prst="rect">
            <a:avLst/>
          </a:prstGeom>
          <a:solidFill>
            <a:srgbClr val="12A566"/>
          </a:solidFill>
          <a:ln/>
        </p:spPr>
      </p:sp>
      <p:sp>
        <p:nvSpPr>
          <p:cNvPr id="99" name="Shape 97"/>
          <p:cNvSpPr/>
          <p:nvPr/>
        </p:nvSpPr>
        <p:spPr>
          <a:xfrm>
            <a:off x="3737371" y="5506302"/>
            <a:ext cx="21946" cy="176425"/>
          </a:xfrm>
          <a:prstGeom prst="rect">
            <a:avLst/>
          </a:prstGeom>
          <a:solidFill>
            <a:srgbClr val="0B2C4A"/>
          </a:solidFill>
          <a:ln/>
        </p:spPr>
      </p:sp>
      <p:sp>
        <p:nvSpPr>
          <p:cNvPr id="100" name="Text 98"/>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101" name="Text 99"/>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2" name="Text 100"/>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3" name="Shape 101"/>
          <p:cNvSpPr/>
          <p:nvPr/>
        </p:nvSpPr>
        <p:spPr>
          <a:xfrm>
            <a:off x="3008376" y="5759913"/>
            <a:ext cx="834371" cy="110266"/>
          </a:xfrm>
          <a:prstGeom prst="rect">
            <a:avLst/>
          </a:prstGeom>
          <a:solidFill>
            <a:srgbClr val="12A566"/>
          </a:solidFill>
          <a:ln/>
        </p:spPr>
      </p:sp>
      <p:sp>
        <p:nvSpPr>
          <p:cNvPr id="104" name="Shape 102"/>
          <p:cNvSpPr/>
          <p:nvPr/>
        </p:nvSpPr>
        <p:spPr>
          <a:xfrm>
            <a:off x="3737371" y="5726833"/>
            <a:ext cx="21946" cy="176425"/>
          </a:xfrm>
          <a:prstGeom prst="rect">
            <a:avLst/>
          </a:prstGeom>
          <a:solidFill>
            <a:srgbClr val="0B2C4A"/>
          </a:solidFill>
          <a:ln/>
        </p:spPr>
      </p:sp>
      <p:sp>
        <p:nvSpPr>
          <p:cNvPr id="105" name="Text 103"/>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2231405"/>
            <a:ext cx="829605" cy="110266"/>
          </a:xfrm>
          <a:prstGeom prst="rect">
            <a:avLst/>
          </a:prstGeom>
          <a:solidFill>
            <a:srgbClr val="12A566"/>
          </a:solidFill>
          <a:ln/>
        </p:spPr>
      </p:sp>
      <p:sp>
        <p:nvSpPr>
          <p:cNvPr id="109" name="Shape 107"/>
          <p:cNvSpPr/>
          <p:nvPr/>
        </p:nvSpPr>
        <p:spPr>
          <a:xfrm>
            <a:off x="9287779"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8558784" y="2451937"/>
            <a:ext cx="825334" cy="110266"/>
          </a:xfrm>
          <a:prstGeom prst="rect">
            <a:avLst/>
          </a:prstGeom>
          <a:solidFill>
            <a:srgbClr val="12A566"/>
          </a:solidFill>
          <a:ln/>
        </p:spPr>
      </p:sp>
      <p:sp>
        <p:nvSpPr>
          <p:cNvPr id="114" name="Shape 112"/>
          <p:cNvSpPr/>
          <p:nvPr/>
        </p:nvSpPr>
        <p:spPr>
          <a:xfrm>
            <a:off x="9287779"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8" name="Shape 116"/>
          <p:cNvSpPr/>
          <p:nvPr/>
        </p:nvSpPr>
        <p:spPr>
          <a:xfrm>
            <a:off x="8558784" y="2672468"/>
            <a:ext cx="738574" cy="110266"/>
          </a:xfrm>
          <a:prstGeom prst="rect">
            <a:avLst/>
          </a:prstGeom>
          <a:solidFill>
            <a:srgbClr val="C2352F"/>
          </a:solidFill>
          <a:ln/>
        </p:spPr>
      </p:sp>
      <p:sp>
        <p:nvSpPr>
          <p:cNvPr id="119" name="Shape 117"/>
          <p:cNvSpPr/>
          <p:nvPr/>
        </p:nvSpPr>
        <p:spPr>
          <a:xfrm>
            <a:off x="9287779"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2893000"/>
            <a:ext cx="723713" cy="110266"/>
          </a:xfrm>
          <a:prstGeom prst="rect">
            <a:avLst/>
          </a:prstGeom>
          <a:solidFill>
            <a:srgbClr val="C2352F"/>
          </a:solidFill>
          <a:ln/>
        </p:spPr>
      </p:sp>
      <p:sp>
        <p:nvSpPr>
          <p:cNvPr id="124" name="Shape 122"/>
          <p:cNvSpPr/>
          <p:nvPr/>
        </p:nvSpPr>
        <p:spPr>
          <a:xfrm>
            <a:off x="9287779"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558784" y="3113532"/>
            <a:ext cx="705872" cy="110266"/>
          </a:xfrm>
          <a:prstGeom prst="rect">
            <a:avLst/>
          </a:prstGeom>
          <a:solidFill>
            <a:srgbClr val="C2352F"/>
          </a:solidFill>
          <a:ln/>
        </p:spPr>
      </p:sp>
      <p:sp>
        <p:nvSpPr>
          <p:cNvPr id="129" name="Shape 127"/>
          <p:cNvSpPr/>
          <p:nvPr/>
        </p:nvSpPr>
        <p:spPr>
          <a:xfrm>
            <a:off x="9287779"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8558784" y="3334064"/>
            <a:ext cx="693242" cy="110266"/>
          </a:xfrm>
          <a:prstGeom prst="rect">
            <a:avLst/>
          </a:prstGeom>
          <a:solidFill>
            <a:srgbClr val="C2352F"/>
          </a:solidFill>
          <a:ln/>
        </p:spPr>
      </p:sp>
      <p:sp>
        <p:nvSpPr>
          <p:cNvPr id="134" name="Shape 132"/>
          <p:cNvSpPr/>
          <p:nvPr/>
        </p:nvSpPr>
        <p:spPr>
          <a:xfrm>
            <a:off x="9287779"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8" name="Shape 136"/>
          <p:cNvSpPr/>
          <p:nvPr/>
        </p:nvSpPr>
        <p:spPr>
          <a:xfrm>
            <a:off x="8558784" y="3554596"/>
            <a:ext cx="677090" cy="110266"/>
          </a:xfrm>
          <a:prstGeom prst="rect">
            <a:avLst/>
          </a:prstGeom>
          <a:solidFill>
            <a:srgbClr val="C2352F"/>
          </a:solidFill>
          <a:ln/>
        </p:spPr>
      </p:sp>
      <p:sp>
        <p:nvSpPr>
          <p:cNvPr id="139" name="Shape 137"/>
          <p:cNvSpPr/>
          <p:nvPr/>
        </p:nvSpPr>
        <p:spPr>
          <a:xfrm>
            <a:off x="9287779"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3" name="Shape 141"/>
          <p:cNvSpPr/>
          <p:nvPr/>
        </p:nvSpPr>
        <p:spPr>
          <a:xfrm>
            <a:off x="8558784" y="3775127"/>
            <a:ext cx="664910" cy="110266"/>
          </a:xfrm>
          <a:prstGeom prst="rect">
            <a:avLst/>
          </a:prstGeom>
          <a:solidFill>
            <a:srgbClr val="C2352F"/>
          </a:solidFill>
          <a:ln/>
        </p:spPr>
      </p:sp>
      <p:sp>
        <p:nvSpPr>
          <p:cNvPr id="144" name="Shape 142"/>
          <p:cNvSpPr/>
          <p:nvPr/>
        </p:nvSpPr>
        <p:spPr>
          <a:xfrm>
            <a:off x="9287779"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58784" y="3995659"/>
            <a:ext cx="628140" cy="110266"/>
          </a:xfrm>
          <a:prstGeom prst="rect">
            <a:avLst/>
          </a:prstGeom>
          <a:solidFill>
            <a:srgbClr val="C2352F"/>
          </a:solidFill>
          <a:ln/>
        </p:spPr>
      </p:sp>
      <p:sp>
        <p:nvSpPr>
          <p:cNvPr id="149" name="Shape 147"/>
          <p:cNvSpPr/>
          <p:nvPr/>
        </p:nvSpPr>
        <p:spPr>
          <a:xfrm>
            <a:off x="9287779"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216191"/>
            <a:ext cx="623824" cy="110266"/>
          </a:xfrm>
          <a:prstGeom prst="rect">
            <a:avLst/>
          </a:prstGeom>
          <a:solidFill>
            <a:srgbClr val="C2352F"/>
          </a:solidFill>
          <a:ln/>
        </p:spPr>
      </p:sp>
      <p:sp>
        <p:nvSpPr>
          <p:cNvPr id="154" name="Shape 152"/>
          <p:cNvSpPr/>
          <p:nvPr/>
        </p:nvSpPr>
        <p:spPr>
          <a:xfrm>
            <a:off x="9287779"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558784" y="4436723"/>
            <a:ext cx="617009" cy="110266"/>
          </a:xfrm>
          <a:prstGeom prst="rect">
            <a:avLst/>
          </a:prstGeom>
          <a:solidFill>
            <a:srgbClr val="C2352F"/>
          </a:solidFill>
          <a:ln/>
        </p:spPr>
      </p:sp>
      <p:sp>
        <p:nvSpPr>
          <p:cNvPr id="159" name="Shape 157"/>
          <p:cNvSpPr/>
          <p:nvPr/>
        </p:nvSpPr>
        <p:spPr>
          <a:xfrm>
            <a:off x="9287779"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63" name="Shape 161"/>
          <p:cNvSpPr/>
          <p:nvPr/>
        </p:nvSpPr>
        <p:spPr>
          <a:xfrm>
            <a:off x="8558784" y="4657254"/>
            <a:ext cx="605522" cy="110266"/>
          </a:xfrm>
          <a:prstGeom prst="rect">
            <a:avLst/>
          </a:prstGeom>
          <a:solidFill>
            <a:srgbClr val="C2352F"/>
          </a:solidFill>
          <a:ln/>
        </p:spPr>
      </p:sp>
      <p:sp>
        <p:nvSpPr>
          <p:cNvPr id="164" name="Shape 162"/>
          <p:cNvSpPr/>
          <p:nvPr/>
        </p:nvSpPr>
        <p:spPr>
          <a:xfrm>
            <a:off x="9287779"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8" name="Shape 166"/>
          <p:cNvSpPr/>
          <p:nvPr/>
        </p:nvSpPr>
        <p:spPr>
          <a:xfrm>
            <a:off x="8558784" y="4877786"/>
            <a:ext cx="601932" cy="110266"/>
          </a:xfrm>
          <a:prstGeom prst="rect">
            <a:avLst/>
          </a:prstGeom>
          <a:solidFill>
            <a:srgbClr val="C2352F"/>
          </a:solidFill>
          <a:ln/>
        </p:spPr>
      </p:sp>
      <p:sp>
        <p:nvSpPr>
          <p:cNvPr id="169" name="Shape 167"/>
          <p:cNvSpPr/>
          <p:nvPr/>
        </p:nvSpPr>
        <p:spPr>
          <a:xfrm>
            <a:off x="9287779"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73" name="Shape 171"/>
          <p:cNvSpPr/>
          <p:nvPr/>
        </p:nvSpPr>
        <p:spPr>
          <a:xfrm>
            <a:off x="8558784" y="5098318"/>
            <a:ext cx="595642" cy="110266"/>
          </a:xfrm>
          <a:prstGeom prst="rect">
            <a:avLst/>
          </a:prstGeom>
          <a:solidFill>
            <a:srgbClr val="C2352F"/>
          </a:solidFill>
          <a:ln/>
        </p:spPr>
      </p:sp>
      <p:sp>
        <p:nvSpPr>
          <p:cNvPr id="174" name="Shape 172"/>
          <p:cNvSpPr/>
          <p:nvPr/>
        </p:nvSpPr>
        <p:spPr>
          <a:xfrm>
            <a:off x="9287779"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8" name="Shape 176"/>
          <p:cNvSpPr/>
          <p:nvPr/>
        </p:nvSpPr>
        <p:spPr>
          <a:xfrm>
            <a:off x="8558784" y="5318850"/>
            <a:ext cx="586244" cy="110266"/>
          </a:xfrm>
          <a:prstGeom prst="rect">
            <a:avLst/>
          </a:prstGeom>
          <a:solidFill>
            <a:srgbClr val="C2352F"/>
          </a:solidFill>
          <a:ln/>
        </p:spPr>
      </p:sp>
      <p:sp>
        <p:nvSpPr>
          <p:cNvPr id="179" name="Shape 177"/>
          <p:cNvSpPr/>
          <p:nvPr/>
        </p:nvSpPr>
        <p:spPr>
          <a:xfrm>
            <a:off x="9287779"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83" name="Shape 181"/>
          <p:cNvSpPr/>
          <p:nvPr/>
        </p:nvSpPr>
        <p:spPr>
          <a:xfrm>
            <a:off x="8558784" y="5539381"/>
            <a:ext cx="546619" cy="110266"/>
          </a:xfrm>
          <a:prstGeom prst="rect">
            <a:avLst/>
          </a:prstGeom>
          <a:solidFill>
            <a:srgbClr val="C2352F"/>
          </a:solidFill>
          <a:ln/>
        </p:spPr>
      </p:sp>
      <p:sp>
        <p:nvSpPr>
          <p:cNvPr id="184" name="Shape 182"/>
          <p:cNvSpPr/>
          <p:nvPr/>
        </p:nvSpPr>
        <p:spPr>
          <a:xfrm>
            <a:off x="9287779"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4 of 9 luxury stores beat 2.90 and 10 of 24 others beat 1.75. VW Henderson leads non-luxury at 2.49.</a:t>
            </a:r>
            <a:endParaRPr lang="en-US" sz="1600"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0176"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785616" y="2151755"/>
            <a:ext cx="56466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4260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785616" y="2631546"/>
            <a:ext cx="41772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9" name="Shape 27"/>
          <p:cNvSpPr/>
          <p:nvPr/>
        </p:nvSpPr>
        <p:spPr>
          <a:xfrm>
            <a:off x="3785616" y="2871442"/>
            <a:ext cx="41289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41088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3676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1" name="Shape 39"/>
          <p:cNvSpPr/>
          <p:nvPr/>
        </p:nvSpPr>
        <p:spPr>
          <a:xfrm>
            <a:off x="3785616" y="3591128"/>
            <a:ext cx="36177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34777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785616" y="4070920"/>
            <a:ext cx="32378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3" name="Shape 51"/>
          <p:cNvSpPr/>
          <p:nvPr/>
        </p:nvSpPr>
        <p:spPr>
          <a:xfrm>
            <a:off x="3785616" y="4310815"/>
            <a:ext cx="27686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26107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1" name="Shape 59"/>
          <p:cNvSpPr/>
          <p:nvPr/>
        </p:nvSpPr>
        <p:spPr>
          <a:xfrm>
            <a:off x="3785616" y="4790606"/>
            <a:ext cx="22177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181513"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785616" y="5270397"/>
            <a:ext cx="15649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785616" y="5510293"/>
            <a:ext cx="14637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7" name="Shape 75"/>
          <p:cNvSpPr/>
          <p:nvPr/>
        </p:nvSpPr>
        <p:spPr>
          <a:xfrm>
            <a:off x="3785616" y="5750188"/>
            <a:ext cx="14269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32718"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9336024" y="2151755"/>
            <a:ext cx="12854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9" name="Shape 87"/>
          <p:cNvSpPr/>
          <p:nvPr/>
        </p:nvSpPr>
        <p:spPr>
          <a:xfrm>
            <a:off x="9336024" y="2391651"/>
            <a:ext cx="12252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3" name="Shape 91"/>
          <p:cNvSpPr/>
          <p:nvPr/>
        </p:nvSpPr>
        <p:spPr>
          <a:xfrm>
            <a:off x="9336024" y="2631546"/>
            <a:ext cx="11461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9336024" y="2871442"/>
            <a:ext cx="111734"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1" name="Shape 99"/>
          <p:cNvSpPr/>
          <p:nvPr/>
        </p:nvSpPr>
        <p:spPr>
          <a:xfrm>
            <a:off x="9336024" y="3111337"/>
            <a:ext cx="6385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5" name="Shape 103"/>
          <p:cNvSpPr/>
          <p:nvPr/>
        </p:nvSpPr>
        <p:spPr>
          <a:xfrm>
            <a:off x="9336024" y="3351233"/>
            <a:ext cx="58226"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336024" y="3591128"/>
            <a:ext cx="12802"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9336024" y="3831024"/>
            <a:ext cx="12802"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7" name="Shape 115"/>
          <p:cNvSpPr/>
          <p:nvPr/>
        </p:nvSpPr>
        <p:spPr>
          <a:xfrm>
            <a:off x="9297473" y="4070920"/>
            <a:ext cx="3855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292255" y="4310815"/>
            <a:ext cx="43769"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38983" y="4550711"/>
            <a:ext cx="9704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121986" y="4790606"/>
            <a:ext cx="21403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992031" y="5030502"/>
            <a:ext cx="34399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7" name="Shape 135"/>
          <p:cNvSpPr/>
          <p:nvPr/>
        </p:nvSpPr>
        <p:spPr>
          <a:xfrm>
            <a:off x="8911352" y="5270397"/>
            <a:ext cx="42467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led by Subaru St George at +0.55 to 2.30. 7 declined; LR Reno fell most at −0.55.</a:t>
            </a:r>
            <a:endParaRPr lang="en-US" sz="1600" dirty="0"/>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0.1 Hour per RO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108960"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133088"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865936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683496"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384048" cy="136676"/>
          </a:xfrm>
          <a:prstGeom prst="rect">
            <a:avLst/>
          </a:prstGeom>
          <a:solidFill>
            <a:srgbClr val="2587C5"/>
          </a:solidFill>
          <a:ln/>
        </p:spPr>
      </p:sp>
      <p:sp>
        <p:nvSpPr>
          <p:cNvPr id="14" name="Text 12"/>
          <p:cNvSpPr txBox="1"/>
          <p:nvPr/>
        </p:nvSpPr>
        <p:spPr>
          <a:xfrm>
            <a:off x="3108960" y="1700784"/>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$1,164,334</a:t>
            </a:r>
            <a:endParaRPr lang="en-US" sz="1300" dirty="0"/>
          </a:p>
        </p:txBody>
      </p:sp>
      <p:sp>
        <p:nvSpPr>
          <p:cNvPr id="15" name="Text 13"/>
          <p:cNvSpPr txBox="1"/>
          <p:nvPr/>
        </p:nvSpPr>
        <p:spPr>
          <a:xfrm>
            <a:off x="4133088" y="170078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$868,256</a:t>
            </a:r>
            <a:endParaRPr lang="en-US" sz="1300" dirty="0"/>
          </a:p>
        </p:txBody>
      </p:sp>
      <p:sp>
        <p:nvSpPr>
          <p:cNvPr id="16" name="Text 14"/>
          <p:cNvSpPr txBox="1"/>
          <p:nvPr/>
        </p:nvSpPr>
        <p:spPr>
          <a:xfrm>
            <a:off x="5029200" y="170078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$296,078</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8" name="Shape 16"/>
          <p:cNvSpPr/>
          <p:nvPr/>
        </p:nvSpPr>
        <p:spPr>
          <a:xfrm>
            <a:off x="2670048" y="2005199"/>
            <a:ext cx="169491" cy="136676"/>
          </a:xfrm>
          <a:prstGeom prst="rect">
            <a:avLst/>
          </a:prstGeom>
          <a:solidFill>
            <a:srgbClr val="2587C5"/>
          </a:solidFill>
          <a:ln/>
        </p:spPr>
      </p:sp>
      <p:sp>
        <p:nvSpPr>
          <p:cNvPr id="19" name="Text 17"/>
          <p:cNvSpPr txBox="1"/>
          <p:nvPr/>
        </p:nvSpPr>
        <p:spPr>
          <a:xfrm>
            <a:off x="3108960" y="1949286"/>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$513,852</a:t>
            </a:r>
            <a:endParaRPr lang="en-US" sz="1300" dirty="0"/>
          </a:p>
        </p:txBody>
      </p:sp>
      <p:sp>
        <p:nvSpPr>
          <p:cNvPr id="20" name="Text 18"/>
          <p:cNvSpPr txBox="1"/>
          <p:nvPr/>
        </p:nvSpPr>
        <p:spPr>
          <a:xfrm>
            <a:off x="4133088" y="194928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$396,326</a:t>
            </a:r>
            <a:endParaRPr lang="en-US" sz="1300" dirty="0"/>
          </a:p>
        </p:txBody>
      </p:sp>
      <p:sp>
        <p:nvSpPr>
          <p:cNvPr id="21" name="Text 19"/>
          <p:cNvSpPr txBox="1"/>
          <p:nvPr/>
        </p:nvSpPr>
        <p:spPr>
          <a:xfrm>
            <a:off x="5029200" y="194928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$117,527</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23" name="Shape 21"/>
          <p:cNvSpPr/>
          <p:nvPr/>
        </p:nvSpPr>
        <p:spPr>
          <a:xfrm>
            <a:off x="2670048" y="2253700"/>
            <a:ext cx="135326" cy="136676"/>
          </a:xfrm>
          <a:prstGeom prst="rect">
            <a:avLst/>
          </a:prstGeom>
          <a:solidFill>
            <a:srgbClr val="2587C5"/>
          </a:solidFill>
          <a:ln/>
        </p:spPr>
      </p:sp>
      <p:sp>
        <p:nvSpPr>
          <p:cNvPr id="24" name="Text 22"/>
          <p:cNvSpPr txBox="1"/>
          <p:nvPr/>
        </p:nvSpPr>
        <p:spPr>
          <a:xfrm>
            <a:off x="3108960" y="2197787"/>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$410,273</a:t>
            </a:r>
            <a:endParaRPr lang="en-US" sz="1300" dirty="0"/>
          </a:p>
        </p:txBody>
      </p:sp>
      <p:sp>
        <p:nvSpPr>
          <p:cNvPr id="25" name="Text 23"/>
          <p:cNvSpPr txBox="1"/>
          <p:nvPr/>
        </p:nvSpPr>
        <p:spPr>
          <a:xfrm>
            <a:off x="4133088" y="219778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$295,521</a:t>
            </a:r>
            <a:endParaRPr lang="en-US" sz="1300" dirty="0"/>
          </a:p>
        </p:txBody>
      </p:sp>
      <p:sp>
        <p:nvSpPr>
          <p:cNvPr id="26" name="Text 24"/>
          <p:cNvSpPr txBox="1"/>
          <p:nvPr/>
        </p:nvSpPr>
        <p:spPr>
          <a:xfrm>
            <a:off x="5029200" y="219778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$114,751</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8" name="Shape 26"/>
          <p:cNvSpPr/>
          <p:nvPr/>
        </p:nvSpPr>
        <p:spPr>
          <a:xfrm>
            <a:off x="2670048" y="2502202"/>
            <a:ext cx="113951" cy="136676"/>
          </a:xfrm>
          <a:prstGeom prst="rect">
            <a:avLst/>
          </a:prstGeom>
          <a:solidFill>
            <a:srgbClr val="2587C5"/>
          </a:solidFill>
          <a:ln/>
        </p:spPr>
      </p:sp>
      <p:sp>
        <p:nvSpPr>
          <p:cNvPr id="29" name="Text 27"/>
          <p:cNvSpPr txBox="1"/>
          <p:nvPr/>
        </p:nvSpPr>
        <p:spPr>
          <a:xfrm>
            <a:off x="3108960" y="2446289"/>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$345,471</a:t>
            </a:r>
            <a:endParaRPr lang="en-US" sz="1300" dirty="0"/>
          </a:p>
        </p:txBody>
      </p:sp>
      <p:sp>
        <p:nvSpPr>
          <p:cNvPr id="30" name="Text 28"/>
          <p:cNvSpPr txBox="1"/>
          <p:nvPr/>
        </p:nvSpPr>
        <p:spPr>
          <a:xfrm>
            <a:off x="4133088" y="244628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$260,598</a:t>
            </a:r>
            <a:endParaRPr lang="en-US" sz="1300" dirty="0"/>
          </a:p>
        </p:txBody>
      </p:sp>
      <p:sp>
        <p:nvSpPr>
          <p:cNvPr id="31" name="Text 29"/>
          <p:cNvSpPr txBox="1"/>
          <p:nvPr/>
        </p:nvSpPr>
        <p:spPr>
          <a:xfrm>
            <a:off x="5029200" y="244628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$84,873</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3" name="Shape 31"/>
          <p:cNvSpPr/>
          <p:nvPr/>
        </p:nvSpPr>
        <p:spPr>
          <a:xfrm>
            <a:off x="2670048" y="2750703"/>
            <a:ext cx="111909" cy="136676"/>
          </a:xfrm>
          <a:prstGeom prst="rect">
            <a:avLst/>
          </a:prstGeom>
          <a:solidFill>
            <a:srgbClr val="2587C5"/>
          </a:solidFill>
          <a:ln/>
        </p:spPr>
      </p:sp>
      <p:sp>
        <p:nvSpPr>
          <p:cNvPr id="34" name="Text 32"/>
          <p:cNvSpPr txBox="1"/>
          <p:nvPr/>
        </p:nvSpPr>
        <p:spPr>
          <a:xfrm>
            <a:off x="3108960" y="2694791"/>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$339,280</a:t>
            </a:r>
            <a:endParaRPr lang="en-US" sz="1300" dirty="0"/>
          </a:p>
        </p:txBody>
      </p:sp>
      <p:sp>
        <p:nvSpPr>
          <p:cNvPr id="35" name="Text 33"/>
          <p:cNvSpPr txBox="1"/>
          <p:nvPr/>
        </p:nvSpPr>
        <p:spPr>
          <a:xfrm>
            <a:off x="4133088" y="2694791"/>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$220,993</a:t>
            </a:r>
            <a:endParaRPr lang="en-US" sz="1300" dirty="0"/>
          </a:p>
        </p:txBody>
      </p:sp>
      <p:sp>
        <p:nvSpPr>
          <p:cNvPr id="36" name="Text 34"/>
          <p:cNvSpPr txBox="1"/>
          <p:nvPr/>
        </p:nvSpPr>
        <p:spPr>
          <a:xfrm>
            <a:off x="5029200" y="2694791"/>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$118,287</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8" name="Shape 36"/>
          <p:cNvSpPr/>
          <p:nvPr/>
        </p:nvSpPr>
        <p:spPr>
          <a:xfrm>
            <a:off x="2670048" y="2999205"/>
            <a:ext cx="110625" cy="136676"/>
          </a:xfrm>
          <a:prstGeom prst="rect">
            <a:avLst/>
          </a:prstGeom>
          <a:solidFill>
            <a:srgbClr val="2587C5"/>
          </a:solidFill>
          <a:ln/>
        </p:spPr>
      </p:sp>
      <p:sp>
        <p:nvSpPr>
          <p:cNvPr id="39" name="Text 37"/>
          <p:cNvSpPr txBox="1"/>
          <p:nvPr/>
        </p:nvSpPr>
        <p:spPr>
          <a:xfrm>
            <a:off x="3108960" y="2943292"/>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$335,387</a:t>
            </a:r>
            <a:endParaRPr lang="en-US" sz="1300" dirty="0"/>
          </a:p>
        </p:txBody>
      </p:sp>
      <p:sp>
        <p:nvSpPr>
          <p:cNvPr id="40" name="Text 38"/>
          <p:cNvSpPr txBox="1"/>
          <p:nvPr/>
        </p:nvSpPr>
        <p:spPr>
          <a:xfrm>
            <a:off x="4133088" y="294329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$243,757</a:t>
            </a:r>
            <a:endParaRPr lang="en-US" sz="1300" dirty="0"/>
          </a:p>
        </p:txBody>
      </p:sp>
      <p:sp>
        <p:nvSpPr>
          <p:cNvPr id="41" name="Text 39"/>
          <p:cNvSpPr txBox="1"/>
          <p:nvPr/>
        </p:nvSpPr>
        <p:spPr>
          <a:xfrm>
            <a:off x="5029200" y="294329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$91,630</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247707"/>
            <a:ext cx="101643" cy="136676"/>
          </a:xfrm>
          <a:prstGeom prst="rect">
            <a:avLst/>
          </a:prstGeom>
          <a:solidFill>
            <a:srgbClr val="2587C5"/>
          </a:solidFill>
          <a:ln/>
        </p:spPr>
      </p:sp>
      <p:sp>
        <p:nvSpPr>
          <p:cNvPr id="44" name="Text 42"/>
          <p:cNvSpPr txBox="1"/>
          <p:nvPr/>
        </p:nvSpPr>
        <p:spPr>
          <a:xfrm>
            <a:off x="3108960" y="3191794"/>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$308,157</a:t>
            </a:r>
            <a:endParaRPr lang="en-US" sz="1300" dirty="0"/>
          </a:p>
        </p:txBody>
      </p:sp>
      <p:sp>
        <p:nvSpPr>
          <p:cNvPr id="45" name="Text 43"/>
          <p:cNvSpPr txBox="1"/>
          <p:nvPr/>
        </p:nvSpPr>
        <p:spPr>
          <a:xfrm>
            <a:off x="4133088" y="319179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$224,917</a:t>
            </a:r>
            <a:endParaRPr lang="en-US" sz="1300" dirty="0"/>
          </a:p>
        </p:txBody>
      </p:sp>
      <p:sp>
        <p:nvSpPr>
          <p:cNvPr id="46" name="Text 44"/>
          <p:cNvSpPr txBox="1"/>
          <p:nvPr/>
        </p:nvSpPr>
        <p:spPr>
          <a:xfrm>
            <a:off x="5029200" y="319179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$83,240</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8" name="Shape 46"/>
          <p:cNvSpPr/>
          <p:nvPr/>
        </p:nvSpPr>
        <p:spPr>
          <a:xfrm>
            <a:off x="2670048" y="3496208"/>
            <a:ext cx="101252" cy="136676"/>
          </a:xfrm>
          <a:prstGeom prst="rect">
            <a:avLst/>
          </a:prstGeom>
          <a:solidFill>
            <a:srgbClr val="2587C5"/>
          </a:solidFill>
          <a:ln/>
        </p:spPr>
      </p:sp>
      <p:sp>
        <p:nvSpPr>
          <p:cNvPr id="49" name="Text 47"/>
          <p:cNvSpPr txBox="1"/>
          <p:nvPr/>
        </p:nvSpPr>
        <p:spPr>
          <a:xfrm>
            <a:off x="3108960" y="3440296"/>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$306,971</a:t>
            </a:r>
            <a:endParaRPr lang="en-US" sz="1300" dirty="0"/>
          </a:p>
        </p:txBody>
      </p:sp>
      <p:sp>
        <p:nvSpPr>
          <p:cNvPr id="50" name="Text 48"/>
          <p:cNvSpPr txBox="1"/>
          <p:nvPr/>
        </p:nvSpPr>
        <p:spPr>
          <a:xfrm>
            <a:off x="4133088" y="344029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$228,073</a:t>
            </a:r>
            <a:endParaRPr lang="en-US" sz="1300" dirty="0"/>
          </a:p>
        </p:txBody>
      </p:sp>
      <p:sp>
        <p:nvSpPr>
          <p:cNvPr id="51" name="Text 49"/>
          <p:cNvSpPr txBox="1"/>
          <p:nvPr/>
        </p:nvSpPr>
        <p:spPr>
          <a:xfrm>
            <a:off x="5029200" y="344029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$78,899</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53" name="Shape 51"/>
          <p:cNvSpPr/>
          <p:nvPr/>
        </p:nvSpPr>
        <p:spPr>
          <a:xfrm>
            <a:off x="2670048" y="3744710"/>
            <a:ext cx="64695" cy="136676"/>
          </a:xfrm>
          <a:prstGeom prst="rect">
            <a:avLst/>
          </a:prstGeom>
          <a:solidFill>
            <a:srgbClr val="2587C5"/>
          </a:solidFill>
          <a:ln/>
        </p:spPr>
      </p:sp>
      <p:sp>
        <p:nvSpPr>
          <p:cNvPr id="54" name="Text 52"/>
          <p:cNvSpPr txBox="1"/>
          <p:nvPr/>
        </p:nvSpPr>
        <p:spPr>
          <a:xfrm>
            <a:off x="3108960" y="3688797"/>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$196,138</a:t>
            </a:r>
            <a:endParaRPr lang="en-US" sz="1300" dirty="0"/>
          </a:p>
        </p:txBody>
      </p:sp>
      <p:sp>
        <p:nvSpPr>
          <p:cNvPr id="55" name="Text 53"/>
          <p:cNvSpPr txBox="1"/>
          <p:nvPr/>
        </p:nvSpPr>
        <p:spPr>
          <a:xfrm>
            <a:off x="4133088" y="368879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$136,735</a:t>
            </a:r>
            <a:endParaRPr lang="en-US" sz="1300" dirty="0"/>
          </a:p>
        </p:txBody>
      </p:sp>
      <p:sp>
        <p:nvSpPr>
          <p:cNvPr id="56" name="Text 54"/>
          <p:cNvSpPr txBox="1"/>
          <p:nvPr/>
        </p:nvSpPr>
        <p:spPr>
          <a:xfrm>
            <a:off x="5029200" y="368879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$59,403</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61139" cy="136676"/>
          </a:xfrm>
          <a:prstGeom prst="rect">
            <a:avLst/>
          </a:prstGeom>
          <a:solidFill>
            <a:srgbClr val="2587C5"/>
          </a:solidFill>
          <a:ln/>
        </p:spPr>
      </p:sp>
      <p:sp>
        <p:nvSpPr>
          <p:cNvPr id="59" name="Text 57"/>
          <p:cNvSpPr txBox="1"/>
          <p:nvPr/>
        </p:nvSpPr>
        <p:spPr>
          <a:xfrm>
            <a:off x="3108960" y="3937299"/>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$185,357</a:t>
            </a:r>
            <a:endParaRPr lang="en-US" sz="1300" dirty="0"/>
          </a:p>
        </p:txBody>
      </p:sp>
      <p:sp>
        <p:nvSpPr>
          <p:cNvPr id="60" name="Text 58"/>
          <p:cNvSpPr txBox="1"/>
          <p:nvPr/>
        </p:nvSpPr>
        <p:spPr>
          <a:xfrm>
            <a:off x="4133088" y="393729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$128,599</a:t>
            </a:r>
            <a:endParaRPr lang="en-US" sz="1300" dirty="0"/>
          </a:p>
        </p:txBody>
      </p:sp>
      <p:sp>
        <p:nvSpPr>
          <p:cNvPr id="61" name="Text 59"/>
          <p:cNvSpPr txBox="1"/>
          <p:nvPr/>
        </p:nvSpPr>
        <p:spPr>
          <a:xfrm>
            <a:off x="5029200" y="393729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$56,758</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670048" y="4241713"/>
            <a:ext cx="59038" cy="136676"/>
          </a:xfrm>
          <a:prstGeom prst="rect">
            <a:avLst/>
          </a:prstGeom>
          <a:solidFill>
            <a:srgbClr val="2587C5"/>
          </a:solidFill>
          <a:ln/>
        </p:spPr>
      </p:sp>
      <p:sp>
        <p:nvSpPr>
          <p:cNvPr id="64" name="Text 62"/>
          <p:cNvSpPr txBox="1"/>
          <p:nvPr/>
        </p:nvSpPr>
        <p:spPr>
          <a:xfrm>
            <a:off x="3108960" y="4185800"/>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$178,988</a:t>
            </a:r>
            <a:endParaRPr lang="en-US" sz="1300" dirty="0"/>
          </a:p>
        </p:txBody>
      </p:sp>
      <p:sp>
        <p:nvSpPr>
          <p:cNvPr id="65" name="Text 63"/>
          <p:cNvSpPr txBox="1"/>
          <p:nvPr/>
        </p:nvSpPr>
        <p:spPr>
          <a:xfrm>
            <a:off x="4133088" y="418580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$128,448</a:t>
            </a:r>
            <a:endParaRPr lang="en-US" sz="1300" dirty="0"/>
          </a:p>
        </p:txBody>
      </p:sp>
      <p:sp>
        <p:nvSpPr>
          <p:cNvPr id="66" name="Text 64"/>
          <p:cNvSpPr txBox="1"/>
          <p:nvPr/>
        </p:nvSpPr>
        <p:spPr>
          <a:xfrm>
            <a:off x="5029200" y="418580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$50,540</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8" name="Shape 66"/>
          <p:cNvSpPr/>
          <p:nvPr/>
        </p:nvSpPr>
        <p:spPr>
          <a:xfrm>
            <a:off x="2670048" y="4490215"/>
            <a:ext cx="50079" cy="136676"/>
          </a:xfrm>
          <a:prstGeom prst="rect">
            <a:avLst/>
          </a:prstGeom>
          <a:solidFill>
            <a:srgbClr val="2587C5"/>
          </a:solidFill>
          <a:ln/>
        </p:spPr>
      </p:sp>
      <p:sp>
        <p:nvSpPr>
          <p:cNvPr id="69" name="Text 67"/>
          <p:cNvSpPr txBox="1"/>
          <p:nvPr/>
        </p:nvSpPr>
        <p:spPr>
          <a:xfrm>
            <a:off x="3108960" y="4434302"/>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$151,825</a:t>
            </a:r>
            <a:endParaRPr lang="en-US" sz="1300" dirty="0"/>
          </a:p>
        </p:txBody>
      </p:sp>
      <p:sp>
        <p:nvSpPr>
          <p:cNvPr id="70" name="Text 68"/>
          <p:cNvSpPr txBox="1"/>
          <p:nvPr/>
        </p:nvSpPr>
        <p:spPr>
          <a:xfrm>
            <a:off x="4133088" y="443430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$102,262</a:t>
            </a:r>
            <a:endParaRPr lang="en-US" sz="1300" dirty="0"/>
          </a:p>
        </p:txBody>
      </p:sp>
      <p:sp>
        <p:nvSpPr>
          <p:cNvPr id="71" name="Text 69"/>
          <p:cNvSpPr txBox="1"/>
          <p:nvPr/>
        </p:nvSpPr>
        <p:spPr>
          <a:xfrm>
            <a:off x="5029200" y="443430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$49,564</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73" name="Shape 71"/>
          <p:cNvSpPr/>
          <p:nvPr/>
        </p:nvSpPr>
        <p:spPr>
          <a:xfrm>
            <a:off x="2670048" y="4738717"/>
            <a:ext cx="49123" cy="136676"/>
          </a:xfrm>
          <a:prstGeom prst="rect">
            <a:avLst/>
          </a:prstGeom>
          <a:solidFill>
            <a:srgbClr val="2587C5"/>
          </a:solidFill>
          <a:ln/>
        </p:spPr>
      </p:sp>
      <p:sp>
        <p:nvSpPr>
          <p:cNvPr id="74" name="Text 72"/>
          <p:cNvSpPr txBox="1"/>
          <p:nvPr/>
        </p:nvSpPr>
        <p:spPr>
          <a:xfrm>
            <a:off x="3108960" y="4682804"/>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$148,928</a:t>
            </a:r>
            <a:endParaRPr lang="en-US" sz="1300" dirty="0"/>
          </a:p>
        </p:txBody>
      </p:sp>
      <p:sp>
        <p:nvSpPr>
          <p:cNvPr id="75" name="Text 73"/>
          <p:cNvSpPr txBox="1"/>
          <p:nvPr/>
        </p:nvSpPr>
        <p:spPr>
          <a:xfrm>
            <a:off x="4133088" y="468280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$113,075</a:t>
            </a:r>
            <a:endParaRPr lang="en-US" sz="1300" dirty="0"/>
          </a:p>
        </p:txBody>
      </p:sp>
      <p:sp>
        <p:nvSpPr>
          <p:cNvPr id="76" name="Text 74"/>
          <p:cNvSpPr txBox="1"/>
          <p:nvPr/>
        </p:nvSpPr>
        <p:spPr>
          <a:xfrm>
            <a:off x="5029200" y="468280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$35,853</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8" name="Shape 76"/>
          <p:cNvSpPr/>
          <p:nvPr/>
        </p:nvSpPr>
        <p:spPr>
          <a:xfrm>
            <a:off x="2670048" y="4987218"/>
            <a:ext cx="48257" cy="136676"/>
          </a:xfrm>
          <a:prstGeom prst="rect">
            <a:avLst/>
          </a:prstGeom>
          <a:solidFill>
            <a:srgbClr val="2587C5"/>
          </a:solidFill>
          <a:ln/>
        </p:spPr>
      </p:sp>
      <p:sp>
        <p:nvSpPr>
          <p:cNvPr id="79" name="Text 77"/>
          <p:cNvSpPr txBox="1"/>
          <p:nvPr/>
        </p:nvSpPr>
        <p:spPr>
          <a:xfrm>
            <a:off x="3108960" y="4931305"/>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$146,304</a:t>
            </a:r>
            <a:endParaRPr lang="en-US" sz="1300" dirty="0"/>
          </a:p>
        </p:txBody>
      </p:sp>
      <p:sp>
        <p:nvSpPr>
          <p:cNvPr id="80" name="Text 78"/>
          <p:cNvSpPr txBox="1"/>
          <p:nvPr/>
        </p:nvSpPr>
        <p:spPr>
          <a:xfrm>
            <a:off x="4133088" y="4931305"/>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$105,012</a:t>
            </a:r>
            <a:endParaRPr lang="en-US" sz="1300" dirty="0"/>
          </a:p>
        </p:txBody>
      </p:sp>
      <p:sp>
        <p:nvSpPr>
          <p:cNvPr id="81" name="Text 79"/>
          <p:cNvSpPr txBox="1"/>
          <p:nvPr/>
        </p:nvSpPr>
        <p:spPr>
          <a:xfrm>
            <a:off x="5029200" y="4931305"/>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$41,292</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83" name="Shape 81"/>
          <p:cNvSpPr/>
          <p:nvPr/>
        </p:nvSpPr>
        <p:spPr>
          <a:xfrm>
            <a:off x="2670048" y="5235720"/>
            <a:ext cx="46762" cy="136676"/>
          </a:xfrm>
          <a:prstGeom prst="rect">
            <a:avLst/>
          </a:prstGeom>
          <a:solidFill>
            <a:srgbClr val="2587C5"/>
          </a:solidFill>
          <a:ln/>
        </p:spPr>
      </p:sp>
      <p:sp>
        <p:nvSpPr>
          <p:cNvPr id="84" name="Text 82"/>
          <p:cNvSpPr txBox="1"/>
          <p:nvPr/>
        </p:nvSpPr>
        <p:spPr>
          <a:xfrm>
            <a:off x="3108960" y="5179807"/>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$141,770</a:t>
            </a:r>
            <a:endParaRPr lang="en-US" sz="1300" dirty="0"/>
          </a:p>
        </p:txBody>
      </p:sp>
      <p:sp>
        <p:nvSpPr>
          <p:cNvPr id="85" name="Text 83"/>
          <p:cNvSpPr txBox="1"/>
          <p:nvPr/>
        </p:nvSpPr>
        <p:spPr>
          <a:xfrm>
            <a:off x="4133088" y="517980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$96,704</a:t>
            </a:r>
            <a:endParaRPr lang="en-US" sz="1300" dirty="0"/>
          </a:p>
        </p:txBody>
      </p:sp>
      <p:sp>
        <p:nvSpPr>
          <p:cNvPr id="86" name="Text 84"/>
          <p:cNvSpPr txBox="1"/>
          <p:nvPr/>
        </p:nvSpPr>
        <p:spPr>
          <a:xfrm>
            <a:off x="5029200" y="517980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$45,066</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88" name="Shape 86"/>
          <p:cNvSpPr/>
          <p:nvPr/>
        </p:nvSpPr>
        <p:spPr>
          <a:xfrm>
            <a:off x="2670048" y="5484222"/>
            <a:ext cx="44339" cy="136676"/>
          </a:xfrm>
          <a:prstGeom prst="rect">
            <a:avLst/>
          </a:prstGeom>
          <a:solidFill>
            <a:srgbClr val="2587C5"/>
          </a:solidFill>
          <a:ln/>
        </p:spPr>
      </p:sp>
      <p:sp>
        <p:nvSpPr>
          <p:cNvPr id="89" name="Text 87"/>
          <p:cNvSpPr txBox="1"/>
          <p:nvPr/>
        </p:nvSpPr>
        <p:spPr>
          <a:xfrm>
            <a:off x="3108960" y="5428309"/>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$134,424</a:t>
            </a:r>
            <a:endParaRPr lang="en-US" sz="1300" dirty="0"/>
          </a:p>
        </p:txBody>
      </p:sp>
      <p:sp>
        <p:nvSpPr>
          <p:cNvPr id="90" name="Text 88"/>
          <p:cNvSpPr txBox="1"/>
          <p:nvPr/>
        </p:nvSpPr>
        <p:spPr>
          <a:xfrm>
            <a:off x="4133088" y="542830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$99,999</a:t>
            </a:r>
            <a:endParaRPr lang="en-US" sz="1300" dirty="0"/>
          </a:p>
        </p:txBody>
      </p:sp>
      <p:sp>
        <p:nvSpPr>
          <p:cNvPr id="91" name="Text 89"/>
          <p:cNvSpPr txBox="1"/>
          <p:nvPr/>
        </p:nvSpPr>
        <p:spPr>
          <a:xfrm>
            <a:off x="5029200" y="542830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$34,425</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2670048" y="5732723"/>
            <a:ext cx="44034" cy="136676"/>
          </a:xfrm>
          <a:prstGeom prst="rect">
            <a:avLst/>
          </a:prstGeom>
          <a:solidFill>
            <a:srgbClr val="2587C5"/>
          </a:solidFill>
          <a:ln/>
        </p:spPr>
      </p:sp>
      <p:sp>
        <p:nvSpPr>
          <p:cNvPr id="94" name="Text 92"/>
          <p:cNvSpPr txBox="1"/>
          <p:nvPr/>
        </p:nvSpPr>
        <p:spPr>
          <a:xfrm>
            <a:off x="3108960" y="5676810"/>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$133,501</a:t>
            </a:r>
            <a:endParaRPr lang="en-US" sz="1300" dirty="0"/>
          </a:p>
        </p:txBody>
      </p:sp>
      <p:sp>
        <p:nvSpPr>
          <p:cNvPr id="95" name="Text 93"/>
          <p:cNvSpPr txBox="1"/>
          <p:nvPr/>
        </p:nvSpPr>
        <p:spPr>
          <a:xfrm>
            <a:off x="4133088" y="567681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$91,287</a:t>
            </a:r>
            <a:endParaRPr lang="en-US" sz="1300" dirty="0"/>
          </a:p>
        </p:txBody>
      </p:sp>
      <p:sp>
        <p:nvSpPr>
          <p:cNvPr id="96" name="Text 94"/>
          <p:cNvSpPr txBox="1"/>
          <p:nvPr/>
        </p:nvSpPr>
        <p:spPr>
          <a:xfrm>
            <a:off x="5029200" y="567681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$42,215</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8" name="Shape 96"/>
          <p:cNvSpPr/>
          <p:nvPr/>
        </p:nvSpPr>
        <p:spPr>
          <a:xfrm>
            <a:off x="8220456" y="1756697"/>
            <a:ext cx="43777" cy="136676"/>
          </a:xfrm>
          <a:prstGeom prst="rect">
            <a:avLst/>
          </a:prstGeom>
          <a:solidFill>
            <a:srgbClr val="2587C5"/>
          </a:solidFill>
          <a:ln/>
        </p:spPr>
      </p:sp>
      <p:sp>
        <p:nvSpPr>
          <p:cNvPr id="99" name="Text 97"/>
          <p:cNvSpPr txBox="1"/>
          <p:nvPr/>
        </p:nvSpPr>
        <p:spPr>
          <a:xfrm>
            <a:off x="8659368" y="1700784"/>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$132,722</a:t>
            </a:r>
            <a:endParaRPr lang="en-US" sz="1300" dirty="0"/>
          </a:p>
        </p:txBody>
      </p:sp>
      <p:sp>
        <p:nvSpPr>
          <p:cNvPr id="100" name="Text 98"/>
          <p:cNvSpPr txBox="1"/>
          <p:nvPr/>
        </p:nvSpPr>
        <p:spPr>
          <a:xfrm>
            <a:off x="9683496" y="170078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$95,285</a:t>
            </a:r>
            <a:endParaRPr lang="en-US" sz="1300" dirty="0"/>
          </a:p>
        </p:txBody>
      </p:sp>
      <p:sp>
        <p:nvSpPr>
          <p:cNvPr id="101" name="Text 99"/>
          <p:cNvSpPr txBox="1"/>
          <p:nvPr/>
        </p:nvSpPr>
        <p:spPr>
          <a:xfrm>
            <a:off x="10579608" y="170078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$37,436</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3" name="Shape 101"/>
          <p:cNvSpPr/>
          <p:nvPr/>
        </p:nvSpPr>
        <p:spPr>
          <a:xfrm>
            <a:off x="8220456" y="2005199"/>
            <a:ext cx="43509" cy="136676"/>
          </a:xfrm>
          <a:prstGeom prst="rect">
            <a:avLst/>
          </a:prstGeom>
          <a:solidFill>
            <a:srgbClr val="2587C5"/>
          </a:solidFill>
          <a:ln/>
        </p:spPr>
      </p:sp>
      <p:sp>
        <p:nvSpPr>
          <p:cNvPr id="104" name="Text 102"/>
          <p:cNvSpPr txBox="1"/>
          <p:nvPr/>
        </p:nvSpPr>
        <p:spPr>
          <a:xfrm>
            <a:off x="8659368" y="1949286"/>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$131,908</a:t>
            </a:r>
            <a:endParaRPr lang="en-US" sz="1300" dirty="0"/>
          </a:p>
        </p:txBody>
      </p:sp>
      <p:sp>
        <p:nvSpPr>
          <p:cNvPr id="105" name="Text 103"/>
          <p:cNvSpPr txBox="1"/>
          <p:nvPr/>
        </p:nvSpPr>
        <p:spPr>
          <a:xfrm>
            <a:off x="9683496" y="194928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$89,257</a:t>
            </a:r>
            <a:endParaRPr lang="en-US" sz="1300" dirty="0"/>
          </a:p>
        </p:txBody>
      </p:sp>
      <p:sp>
        <p:nvSpPr>
          <p:cNvPr id="106" name="Text 104"/>
          <p:cNvSpPr txBox="1"/>
          <p:nvPr/>
        </p:nvSpPr>
        <p:spPr>
          <a:xfrm>
            <a:off x="10579608" y="194928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$42,652</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08" name="Shape 106"/>
          <p:cNvSpPr/>
          <p:nvPr/>
        </p:nvSpPr>
        <p:spPr>
          <a:xfrm>
            <a:off x="8220456" y="2253700"/>
            <a:ext cx="42758" cy="136676"/>
          </a:xfrm>
          <a:prstGeom prst="rect">
            <a:avLst/>
          </a:prstGeom>
          <a:solidFill>
            <a:srgbClr val="2587C5"/>
          </a:solidFill>
          <a:ln/>
        </p:spPr>
      </p:sp>
      <p:sp>
        <p:nvSpPr>
          <p:cNvPr id="109" name="Text 107"/>
          <p:cNvSpPr txBox="1"/>
          <p:nvPr/>
        </p:nvSpPr>
        <p:spPr>
          <a:xfrm>
            <a:off x="8659368" y="2197787"/>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$129,631</a:t>
            </a:r>
            <a:endParaRPr lang="en-US" sz="1300" dirty="0"/>
          </a:p>
        </p:txBody>
      </p:sp>
      <p:sp>
        <p:nvSpPr>
          <p:cNvPr id="110" name="Text 108"/>
          <p:cNvSpPr txBox="1"/>
          <p:nvPr/>
        </p:nvSpPr>
        <p:spPr>
          <a:xfrm>
            <a:off x="9683496" y="219778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$91,262</a:t>
            </a:r>
            <a:endParaRPr lang="en-US" sz="1300" dirty="0"/>
          </a:p>
        </p:txBody>
      </p:sp>
      <p:sp>
        <p:nvSpPr>
          <p:cNvPr id="111" name="Text 109"/>
          <p:cNvSpPr txBox="1"/>
          <p:nvPr/>
        </p:nvSpPr>
        <p:spPr>
          <a:xfrm>
            <a:off x="10579608" y="219778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$38,370</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13" name="Shape 111"/>
          <p:cNvSpPr/>
          <p:nvPr/>
        </p:nvSpPr>
        <p:spPr>
          <a:xfrm>
            <a:off x="8220456" y="2502202"/>
            <a:ext cx="40422" cy="136676"/>
          </a:xfrm>
          <a:prstGeom prst="rect">
            <a:avLst/>
          </a:prstGeom>
          <a:solidFill>
            <a:srgbClr val="2587C5"/>
          </a:solidFill>
          <a:ln/>
        </p:spPr>
      </p:sp>
      <p:sp>
        <p:nvSpPr>
          <p:cNvPr id="114" name="Text 112"/>
          <p:cNvSpPr txBox="1"/>
          <p:nvPr/>
        </p:nvSpPr>
        <p:spPr>
          <a:xfrm>
            <a:off x="8659368" y="2446289"/>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$122,550</a:t>
            </a:r>
            <a:endParaRPr lang="en-US" sz="1300" dirty="0"/>
          </a:p>
        </p:txBody>
      </p:sp>
      <p:sp>
        <p:nvSpPr>
          <p:cNvPr id="115" name="Text 113"/>
          <p:cNvSpPr txBox="1"/>
          <p:nvPr/>
        </p:nvSpPr>
        <p:spPr>
          <a:xfrm>
            <a:off x="9683496" y="244628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$81,713</a:t>
            </a:r>
            <a:endParaRPr lang="en-US" sz="1300" dirty="0"/>
          </a:p>
        </p:txBody>
      </p:sp>
      <p:sp>
        <p:nvSpPr>
          <p:cNvPr id="116" name="Text 114"/>
          <p:cNvSpPr txBox="1"/>
          <p:nvPr/>
        </p:nvSpPr>
        <p:spPr>
          <a:xfrm>
            <a:off x="10579608" y="244628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$40,837</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8" name="Shape 116"/>
          <p:cNvSpPr/>
          <p:nvPr/>
        </p:nvSpPr>
        <p:spPr>
          <a:xfrm>
            <a:off x="8220456" y="2750703"/>
            <a:ext cx="38930" cy="136676"/>
          </a:xfrm>
          <a:prstGeom prst="rect">
            <a:avLst/>
          </a:prstGeom>
          <a:solidFill>
            <a:srgbClr val="2587C5"/>
          </a:solidFill>
          <a:ln/>
        </p:spPr>
      </p:sp>
      <p:sp>
        <p:nvSpPr>
          <p:cNvPr id="119" name="Text 117"/>
          <p:cNvSpPr txBox="1"/>
          <p:nvPr/>
        </p:nvSpPr>
        <p:spPr>
          <a:xfrm>
            <a:off x="8659368" y="2694791"/>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$118,025</a:t>
            </a:r>
            <a:endParaRPr lang="en-US" sz="1300" dirty="0"/>
          </a:p>
        </p:txBody>
      </p:sp>
      <p:sp>
        <p:nvSpPr>
          <p:cNvPr id="120" name="Text 118"/>
          <p:cNvSpPr txBox="1"/>
          <p:nvPr/>
        </p:nvSpPr>
        <p:spPr>
          <a:xfrm>
            <a:off x="9683496" y="2694791"/>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$89,434</a:t>
            </a:r>
            <a:endParaRPr lang="en-US" sz="1300" dirty="0"/>
          </a:p>
        </p:txBody>
      </p:sp>
      <p:sp>
        <p:nvSpPr>
          <p:cNvPr id="121" name="Text 119"/>
          <p:cNvSpPr txBox="1"/>
          <p:nvPr/>
        </p:nvSpPr>
        <p:spPr>
          <a:xfrm>
            <a:off x="10579608" y="2694791"/>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$28,590</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23" name="Shape 121"/>
          <p:cNvSpPr/>
          <p:nvPr/>
        </p:nvSpPr>
        <p:spPr>
          <a:xfrm>
            <a:off x="8220456" y="2999205"/>
            <a:ext cx="37956" cy="136676"/>
          </a:xfrm>
          <a:prstGeom prst="rect">
            <a:avLst/>
          </a:prstGeom>
          <a:solidFill>
            <a:srgbClr val="2587C5"/>
          </a:solidFill>
          <a:ln/>
        </p:spPr>
      </p:sp>
      <p:sp>
        <p:nvSpPr>
          <p:cNvPr id="124" name="Text 122"/>
          <p:cNvSpPr txBox="1"/>
          <p:nvPr/>
        </p:nvSpPr>
        <p:spPr>
          <a:xfrm>
            <a:off x="8659368" y="2943292"/>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$115,073</a:t>
            </a:r>
            <a:endParaRPr lang="en-US" sz="1300" dirty="0"/>
          </a:p>
        </p:txBody>
      </p:sp>
      <p:sp>
        <p:nvSpPr>
          <p:cNvPr id="125" name="Text 123"/>
          <p:cNvSpPr txBox="1"/>
          <p:nvPr/>
        </p:nvSpPr>
        <p:spPr>
          <a:xfrm>
            <a:off x="9683496" y="294329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$75,721</a:t>
            </a:r>
            <a:endParaRPr lang="en-US" sz="1300" dirty="0"/>
          </a:p>
        </p:txBody>
      </p:sp>
      <p:sp>
        <p:nvSpPr>
          <p:cNvPr id="126" name="Text 124"/>
          <p:cNvSpPr txBox="1"/>
          <p:nvPr/>
        </p:nvSpPr>
        <p:spPr>
          <a:xfrm>
            <a:off x="10579608" y="294329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$39,353</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28" name="Shape 126"/>
          <p:cNvSpPr/>
          <p:nvPr/>
        </p:nvSpPr>
        <p:spPr>
          <a:xfrm>
            <a:off x="8220456" y="3247707"/>
            <a:ext cx="33319" cy="136676"/>
          </a:xfrm>
          <a:prstGeom prst="rect">
            <a:avLst/>
          </a:prstGeom>
          <a:solidFill>
            <a:srgbClr val="2587C5"/>
          </a:solidFill>
          <a:ln/>
        </p:spPr>
      </p:sp>
      <p:sp>
        <p:nvSpPr>
          <p:cNvPr id="129" name="Text 127"/>
          <p:cNvSpPr txBox="1"/>
          <p:nvPr/>
        </p:nvSpPr>
        <p:spPr>
          <a:xfrm>
            <a:off x="8659368" y="3191794"/>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$101,015</a:t>
            </a:r>
            <a:endParaRPr lang="en-US" sz="1300" dirty="0"/>
          </a:p>
        </p:txBody>
      </p:sp>
      <p:sp>
        <p:nvSpPr>
          <p:cNvPr id="130" name="Text 128"/>
          <p:cNvSpPr txBox="1"/>
          <p:nvPr/>
        </p:nvSpPr>
        <p:spPr>
          <a:xfrm>
            <a:off x="9683496" y="319179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$70,208</a:t>
            </a:r>
            <a:endParaRPr lang="en-US" sz="1300" dirty="0"/>
          </a:p>
        </p:txBody>
      </p:sp>
      <p:sp>
        <p:nvSpPr>
          <p:cNvPr id="131" name="Text 129"/>
          <p:cNvSpPr txBox="1"/>
          <p:nvPr/>
        </p:nvSpPr>
        <p:spPr>
          <a:xfrm>
            <a:off x="10579608" y="319179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$30,807</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33" name="Shape 131"/>
          <p:cNvSpPr/>
          <p:nvPr/>
        </p:nvSpPr>
        <p:spPr>
          <a:xfrm>
            <a:off x="8220456" y="3496208"/>
            <a:ext cx="32649" cy="136676"/>
          </a:xfrm>
          <a:prstGeom prst="rect">
            <a:avLst/>
          </a:prstGeom>
          <a:solidFill>
            <a:srgbClr val="2587C5"/>
          </a:solidFill>
          <a:ln/>
        </p:spPr>
      </p:sp>
      <p:sp>
        <p:nvSpPr>
          <p:cNvPr id="134" name="Text 132"/>
          <p:cNvSpPr txBox="1"/>
          <p:nvPr/>
        </p:nvSpPr>
        <p:spPr>
          <a:xfrm>
            <a:off x="8659368" y="3440296"/>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$98,985</a:t>
            </a:r>
            <a:endParaRPr lang="en-US" sz="1300" dirty="0"/>
          </a:p>
        </p:txBody>
      </p:sp>
      <p:sp>
        <p:nvSpPr>
          <p:cNvPr id="135" name="Text 133"/>
          <p:cNvSpPr txBox="1"/>
          <p:nvPr/>
        </p:nvSpPr>
        <p:spPr>
          <a:xfrm>
            <a:off x="9683496" y="344029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$68,101</a:t>
            </a:r>
            <a:endParaRPr lang="en-US" sz="1300" dirty="0"/>
          </a:p>
        </p:txBody>
      </p:sp>
      <p:sp>
        <p:nvSpPr>
          <p:cNvPr id="136" name="Text 134"/>
          <p:cNvSpPr txBox="1"/>
          <p:nvPr/>
        </p:nvSpPr>
        <p:spPr>
          <a:xfrm>
            <a:off x="10579608" y="344029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$30,883</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38" name="Shape 136"/>
          <p:cNvSpPr/>
          <p:nvPr/>
        </p:nvSpPr>
        <p:spPr>
          <a:xfrm>
            <a:off x="8220456" y="3744710"/>
            <a:ext cx="29384" cy="136676"/>
          </a:xfrm>
          <a:prstGeom prst="rect">
            <a:avLst/>
          </a:prstGeom>
          <a:solidFill>
            <a:srgbClr val="2587C5"/>
          </a:solidFill>
          <a:ln/>
        </p:spPr>
      </p:sp>
      <p:sp>
        <p:nvSpPr>
          <p:cNvPr id="139" name="Text 137"/>
          <p:cNvSpPr txBox="1"/>
          <p:nvPr/>
        </p:nvSpPr>
        <p:spPr>
          <a:xfrm>
            <a:off x="8659368" y="3688797"/>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$89,084</a:t>
            </a:r>
            <a:endParaRPr lang="en-US" sz="1300" dirty="0"/>
          </a:p>
        </p:txBody>
      </p:sp>
      <p:sp>
        <p:nvSpPr>
          <p:cNvPr id="140" name="Text 138"/>
          <p:cNvSpPr txBox="1"/>
          <p:nvPr/>
        </p:nvSpPr>
        <p:spPr>
          <a:xfrm>
            <a:off x="9683496" y="368879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$58,429</a:t>
            </a:r>
            <a:endParaRPr lang="en-US" sz="1300" dirty="0"/>
          </a:p>
        </p:txBody>
      </p:sp>
      <p:sp>
        <p:nvSpPr>
          <p:cNvPr id="141" name="Text 139"/>
          <p:cNvSpPr txBox="1"/>
          <p:nvPr/>
        </p:nvSpPr>
        <p:spPr>
          <a:xfrm>
            <a:off x="10579608" y="368879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$30,655</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43" name="Shape 141"/>
          <p:cNvSpPr/>
          <p:nvPr/>
        </p:nvSpPr>
        <p:spPr>
          <a:xfrm>
            <a:off x="8220456" y="3993212"/>
            <a:ext cx="29214" cy="136676"/>
          </a:xfrm>
          <a:prstGeom prst="rect">
            <a:avLst/>
          </a:prstGeom>
          <a:solidFill>
            <a:srgbClr val="2587C5"/>
          </a:solidFill>
          <a:ln/>
        </p:spPr>
      </p:sp>
      <p:sp>
        <p:nvSpPr>
          <p:cNvPr id="144" name="Text 142"/>
          <p:cNvSpPr txBox="1"/>
          <p:nvPr/>
        </p:nvSpPr>
        <p:spPr>
          <a:xfrm>
            <a:off x="8659368" y="3937299"/>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$88,568</a:t>
            </a:r>
            <a:endParaRPr lang="en-US" sz="1300" dirty="0"/>
          </a:p>
        </p:txBody>
      </p:sp>
      <p:sp>
        <p:nvSpPr>
          <p:cNvPr id="145" name="Text 143"/>
          <p:cNvSpPr txBox="1"/>
          <p:nvPr/>
        </p:nvSpPr>
        <p:spPr>
          <a:xfrm>
            <a:off x="9683496" y="393729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$61,607</a:t>
            </a:r>
            <a:endParaRPr lang="en-US" sz="1300" dirty="0"/>
          </a:p>
        </p:txBody>
      </p:sp>
      <p:sp>
        <p:nvSpPr>
          <p:cNvPr id="146" name="Text 144"/>
          <p:cNvSpPr txBox="1"/>
          <p:nvPr/>
        </p:nvSpPr>
        <p:spPr>
          <a:xfrm>
            <a:off x="10579608" y="393729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$26,961</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48" name="Shape 146"/>
          <p:cNvSpPr/>
          <p:nvPr/>
        </p:nvSpPr>
        <p:spPr>
          <a:xfrm>
            <a:off x="8220456" y="4241713"/>
            <a:ext cx="22369" cy="136676"/>
          </a:xfrm>
          <a:prstGeom prst="rect">
            <a:avLst/>
          </a:prstGeom>
          <a:solidFill>
            <a:srgbClr val="2587C5"/>
          </a:solidFill>
          <a:ln/>
        </p:spPr>
      </p:sp>
      <p:sp>
        <p:nvSpPr>
          <p:cNvPr id="149" name="Text 147"/>
          <p:cNvSpPr txBox="1"/>
          <p:nvPr/>
        </p:nvSpPr>
        <p:spPr>
          <a:xfrm>
            <a:off x="8659368" y="4185800"/>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$67,817</a:t>
            </a:r>
            <a:endParaRPr lang="en-US" sz="1300" dirty="0"/>
          </a:p>
        </p:txBody>
      </p:sp>
      <p:sp>
        <p:nvSpPr>
          <p:cNvPr id="150" name="Text 148"/>
          <p:cNvSpPr txBox="1"/>
          <p:nvPr/>
        </p:nvSpPr>
        <p:spPr>
          <a:xfrm>
            <a:off x="9683496" y="418580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$48,880</a:t>
            </a:r>
            <a:endParaRPr lang="en-US" sz="1300" dirty="0"/>
          </a:p>
        </p:txBody>
      </p:sp>
      <p:sp>
        <p:nvSpPr>
          <p:cNvPr id="151" name="Text 149"/>
          <p:cNvSpPr txBox="1"/>
          <p:nvPr/>
        </p:nvSpPr>
        <p:spPr>
          <a:xfrm>
            <a:off x="10579608" y="418580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$18,937</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220456" y="4490215"/>
            <a:ext cx="21616" cy="136676"/>
          </a:xfrm>
          <a:prstGeom prst="rect">
            <a:avLst/>
          </a:prstGeom>
          <a:solidFill>
            <a:srgbClr val="2587C5"/>
          </a:solidFill>
          <a:ln/>
        </p:spPr>
      </p:sp>
      <p:sp>
        <p:nvSpPr>
          <p:cNvPr id="154" name="Text 152"/>
          <p:cNvSpPr txBox="1"/>
          <p:nvPr/>
        </p:nvSpPr>
        <p:spPr>
          <a:xfrm>
            <a:off x="8659368" y="4434302"/>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$65,535</a:t>
            </a:r>
            <a:endParaRPr lang="en-US" sz="1300" dirty="0"/>
          </a:p>
        </p:txBody>
      </p:sp>
      <p:sp>
        <p:nvSpPr>
          <p:cNvPr id="155" name="Text 153"/>
          <p:cNvSpPr txBox="1"/>
          <p:nvPr/>
        </p:nvSpPr>
        <p:spPr>
          <a:xfrm>
            <a:off x="9683496" y="443430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$42,792</a:t>
            </a:r>
            <a:endParaRPr lang="en-US" sz="1300" dirty="0"/>
          </a:p>
        </p:txBody>
      </p:sp>
      <p:sp>
        <p:nvSpPr>
          <p:cNvPr id="156" name="Text 154"/>
          <p:cNvSpPr txBox="1"/>
          <p:nvPr/>
        </p:nvSpPr>
        <p:spPr>
          <a:xfrm>
            <a:off x="10579608" y="443430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$22,743</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8" name="Shape 156"/>
          <p:cNvSpPr/>
          <p:nvPr/>
        </p:nvSpPr>
        <p:spPr>
          <a:xfrm>
            <a:off x="8220456" y="4738717"/>
            <a:ext cx="20062" cy="136676"/>
          </a:xfrm>
          <a:prstGeom prst="rect">
            <a:avLst/>
          </a:prstGeom>
          <a:solidFill>
            <a:srgbClr val="2587C5"/>
          </a:solidFill>
          <a:ln/>
        </p:spPr>
      </p:sp>
      <p:sp>
        <p:nvSpPr>
          <p:cNvPr id="159" name="Text 157"/>
          <p:cNvSpPr txBox="1"/>
          <p:nvPr/>
        </p:nvSpPr>
        <p:spPr>
          <a:xfrm>
            <a:off x="8659368" y="4682804"/>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$60,821</a:t>
            </a:r>
            <a:endParaRPr lang="en-US" sz="1300" dirty="0"/>
          </a:p>
        </p:txBody>
      </p:sp>
      <p:sp>
        <p:nvSpPr>
          <p:cNvPr id="160" name="Text 158"/>
          <p:cNvSpPr txBox="1"/>
          <p:nvPr/>
        </p:nvSpPr>
        <p:spPr>
          <a:xfrm>
            <a:off x="9683496" y="468280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$40,050</a:t>
            </a:r>
            <a:endParaRPr lang="en-US" sz="1300" dirty="0"/>
          </a:p>
        </p:txBody>
      </p:sp>
      <p:sp>
        <p:nvSpPr>
          <p:cNvPr id="161" name="Text 159"/>
          <p:cNvSpPr txBox="1"/>
          <p:nvPr/>
        </p:nvSpPr>
        <p:spPr>
          <a:xfrm>
            <a:off x="10579608" y="468280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$20,772</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3" name="Shape 161"/>
          <p:cNvSpPr/>
          <p:nvPr/>
        </p:nvSpPr>
        <p:spPr>
          <a:xfrm>
            <a:off x="8220456" y="4987218"/>
            <a:ext cx="18885" cy="136676"/>
          </a:xfrm>
          <a:prstGeom prst="rect">
            <a:avLst/>
          </a:prstGeom>
          <a:solidFill>
            <a:srgbClr val="2587C5"/>
          </a:solidFill>
          <a:ln/>
        </p:spPr>
      </p:sp>
      <p:sp>
        <p:nvSpPr>
          <p:cNvPr id="164" name="Text 162"/>
          <p:cNvSpPr txBox="1"/>
          <p:nvPr/>
        </p:nvSpPr>
        <p:spPr>
          <a:xfrm>
            <a:off x="8659368" y="4931305"/>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$57,255</a:t>
            </a:r>
            <a:endParaRPr lang="en-US" sz="1300" dirty="0"/>
          </a:p>
        </p:txBody>
      </p:sp>
      <p:sp>
        <p:nvSpPr>
          <p:cNvPr id="165" name="Text 163"/>
          <p:cNvSpPr txBox="1"/>
          <p:nvPr/>
        </p:nvSpPr>
        <p:spPr>
          <a:xfrm>
            <a:off x="9683496" y="4931305"/>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$37,516</a:t>
            </a:r>
            <a:endParaRPr lang="en-US" sz="1300" dirty="0"/>
          </a:p>
        </p:txBody>
      </p:sp>
      <p:sp>
        <p:nvSpPr>
          <p:cNvPr id="166" name="Text 164"/>
          <p:cNvSpPr txBox="1"/>
          <p:nvPr/>
        </p:nvSpPr>
        <p:spPr>
          <a:xfrm>
            <a:off x="10579608" y="4931305"/>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$19,739</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68" name="Shape 166"/>
          <p:cNvSpPr/>
          <p:nvPr/>
        </p:nvSpPr>
        <p:spPr>
          <a:xfrm>
            <a:off x="8220456" y="5235720"/>
            <a:ext cx="18288" cy="136676"/>
          </a:xfrm>
          <a:prstGeom prst="rect">
            <a:avLst/>
          </a:prstGeom>
          <a:solidFill>
            <a:srgbClr val="2587C5"/>
          </a:solidFill>
          <a:ln/>
        </p:spPr>
      </p:sp>
      <p:sp>
        <p:nvSpPr>
          <p:cNvPr id="169" name="Text 167"/>
          <p:cNvSpPr txBox="1"/>
          <p:nvPr/>
        </p:nvSpPr>
        <p:spPr>
          <a:xfrm>
            <a:off x="8659368" y="5179807"/>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$43,756</a:t>
            </a:r>
            <a:endParaRPr lang="en-US" sz="1300" dirty="0"/>
          </a:p>
        </p:txBody>
      </p:sp>
      <p:sp>
        <p:nvSpPr>
          <p:cNvPr id="170" name="Text 168"/>
          <p:cNvSpPr txBox="1"/>
          <p:nvPr/>
        </p:nvSpPr>
        <p:spPr>
          <a:xfrm>
            <a:off x="9683496" y="517980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$27,475</a:t>
            </a:r>
            <a:endParaRPr lang="en-US" sz="1300" dirty="0"/>
          </a:p>
        </p:txBody>
      </p:sp>
      <p:sp>
        <p:nvSpPr>
          <p:cNvPr id="171" name="Text 169"/>
          <p:cNvSpPr txBox="1"/>
          <p:nvPr/>
        </p:nvSpPr>
        <p:spPr>
          <a:xfrm>
            <a:off x="10579608" y="517980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$16,281</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73" name="Shape 171"/>
          <p:cNvSpPr/>
          <p:nvPr/>
        </p:nvSpPr>
        <p:spPr>
          <a:xfrm>
            <a:off x="8220456" y="5484222"/>
            <a:ext cx="18288" cy="136676"/>
          </a:xfrm>
          <a:prstGeom prst="rect">
            <a:avLst/>
          </a:prstGeom>
          <a:solidFill>
            <a:srgbClr val="2587C5"/>
          </a:solidFill>
          <a:ln/>
        </p:spPr>
      </p:sp>
      <p:sp>
        <p:nvSpPr>
          <p:cNvPr id="174" name="Text 172"/>
          <p:cNvSpPr txBox="1"/>
          <p:nvPr/>
        </p:nvSpPr>
        <p:spPr>
          <a:xfrm>
            <a:off x="8659368" y="5428309"/>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$38,856</a:t>
            </a:r>
            <a:endParaRPr lang="en-US" sz="1300" dirty="0"/>
          </a:p>
        </p:txBody>
      </p:sp>
      <p:sp>
        <p:nvSpPr>
          <p:cNvPr id="175" name="Text 173"/>
          <p:cNvSpPr txBox="1"/>
          <p:nvPr/>
        </p:nvSpPr>
        <p:spPr>
          <a:xfrm>
            <a:off x="9683496" y="542830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$23,679</a:t>
            </a:r>
            <a:endParaRPr lang="en-US" sz="1300" dirty="0"/>
          </a:p>
        </p:txBody>
      </p:sp>
      <p:sp>
        <p:nvSpPr>
          <p:cNvPr id="176" name="Text 174"/>
          <p:cNvSpPr txBox="1"/>
          <p:nvPr/>
        </p:nvSpPr>
        <p:spPr>
          <a:xfrm>
            <a:off x="10579608" y="542830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$15,178</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0.1 hour more on every CP RO is worth $6,602,564 a year in gross: $4,741,969 labor and $1,860,595 parts. Toyota Henderson leads at $1,164,334.</a:t>
            </a:r>
            <a:endParaRPr lang="en-US" sz="16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73.9% vs 76.4%</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Grid stores realize less of their door rate than flat-rate stores, Jul-Sep.</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What we collect for each customer-pay labor hour after menus, discounts and mix. Door rate is what we post.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 hour sold is worth the ELR, so it sets the value of the whole shop.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The gap to door rate is money given away. Our benchmark: CP ELR at least 70% of door rate.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discounting and mix are under control.</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posted rate, set from a market labor study</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Menus and loss leaders below door rate pull ELR down</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work raises ELR; quick maintenance lowers it</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Labor grid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Prices longer jobs differently; should lift ELR on repair work</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charged vs sold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Charging less time than the job pays the tech</a:t>
            </a:r>
            <a:endParaRPr lang="en-US" sz="1400" dirty="0"/>
          </a:p>
        </p:txBody>
      </p:sp>
      <p:sp>
        <p:nvSpPr>
          <p:cNvPr id="25" name="Shape 23"/>
          <p:cNvSpPr/>
          <p:nvPr/>
        </p:nvSpPr>
        <p:spPr>
          <a:xfrm>
            <a:off x="457200" y="6126480"/>
            <a:ext cx="11274552" cy="364236"/>
          </a:xfrm>
          <a:prstGeom prst="rect">
            <a:avLst/>
          </a:prstGeom>
          <a:solidFill>
            <a:srgbClr val="E6F6EE"/>
          </a:solidFill>
          <a:ln/>
        </p:spPr>
      </p:sp>
      <p:sp>
        <p:nvSpPr>
          <p:cNvPr id="26" name="Text 24"/>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Group: $162.42 CP ELR, up $3.56. Jul-Sep it ran 74.7% of door rate; 25 of 33 stores at or above 70%.</a:t>
            </a:r>
            <a:endParaRPr lang="en-US" sz="155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$3.56 to $162.42, ahead of 2025 in all nine months.</a:t>
            </a:r>
            <a:endParaRPr lang="en-US" sz="1600" dirty="0"/>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$162.42</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$217.79, non-luxury $151.32.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4380766"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$266.32</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21" name="Shape 19"/>
          <p:cNvSpPr/>
          <p:nvPr/>
        </p:nvSpPr>
        <p:spPr>
          <a:xfrm>
            <a:off x="3008376" y="2451937"/>
            <a:ext cx="1493088" cy="110266"/>
          </a:xfrm>
          <a:prstGeom prst="rect">
            <a:avLst/>
          </a:prstGeom>
          <a:solidFill>
            <a:srgbClr val="12A566"/>
          </a:solidFill>
          <a:ln/>
        </p:spPr>
      </p:sp>
      <p:sp>
        <p:nvSpPr>
          <p:cNvPr id="22" name="Shape 20"/>
          <p:cNvSpPr/>
          <p:nvPr/>
        </p:nvSpPr>
        <p:spPr>
          <a:xfrm>
            <a:off x="4380766"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$235.07</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672468"/>
            <a:ext cx="1489826" cy="110266"/>
          </a:xfrm>
          <a:prstGeom prst="rect">
            <a:avLst/>
          </a:prstGeom>
          <a:solidFill>
            <a:srgbClr val="12A566"/>
          </a:solidFill>
          <a:ln/>
        </p:spPr>
      </p:sp>
      <p:sp>
        <p:nvSpPr>
          <p:cNvPr id="28" name="Shape 26"/>
          <p:cNvSpPr/>
          <p:nvPr/>
        </p:nvSpPr>
        <p:spPr>
          <a:xfrm>
            <a:off x="4380766"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$234.55</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33" name="Shape 31"/>
          <p:cNvSpPr/>
          <p:nvPr/>
        </p:nvSpPr>
        <p:spPr>
          <a:xfrm>
            <a:off x="3008376" y="2893000"/>
            <a:ext cx="1485001" cy="110266"/>
          </a:xfrm>
          <a:prstGeom prst="rect">
            <a:avLst/>
          </a:prstGeom>
          <a:solidFill>
            <a:srgbClr val="12A566"/>
          </a:solidFill>
          <a:ln/>
        </p:spPr>
      </p:sp>
      <p:sp>
        <p:nvSpPr>
          <p:cNvPr id="34" name="Shape 32"/>
          <p:cNvSpPr/>
          <p:nvPr/>
        </p:nvSpPr>
        <p:spPr>
          <a:xfrm>
            <a:off x="4380766"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$233.79</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113532"/>
            <a:ext cx="1482885" cy="110266"/>
          </a:xfrm>
          <a:prstGeom prst="rect">
            <a:avLst/>
          </a:prstGeom>
          <a:solidFill>
            <a:srgbClr val="12A566"/>
          </a:solidFill>
          <a:ln/>
        </p:spPr>
      </p:sp>
      <p:sp>
        <p:nvSpPr>
          <p:cNvPr id="40" name="Shape 38"/>
          <p:cNvSpPr/>
          <p:nvPr/>
        </p:nvSpPr>
        <p:spPr>
          <a:xfrm>
            <a:off x="4380766"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$233.46</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008376" y="3334064"/>
            <a:ext cx="1410841" cy="110266"/>
          </a:xfrm>
          <a:prstGeom prst="rect">
            <a:avLst/>
          </a:prstGeom>
          <a:solidFill>
            <a:srgbClr val="12A566"/>
          </a:solidFill>
          <a:ln/>
        </p:spPr>
      </p:sp>
      <p:sp>
        <p:nvSpPr>
          <p:cNvPr id="46" name="Shape 44"/>
          <p:cNvSpPr/>
          <p:nvPr/>
        </p:nvSpPr>
        <p:spPr>
          <a:xfrm>
            <a:off x="4380766"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$222.12</a:t>
            </a:r>
            <a:endParaRPr lang="en-US" sz="1200" dirty="0"/>
          </a:p>
        </p:txBody>
      </p:sp>
      <p:sp>
        <p:nvSpPr>
          <p:cNvPr id="48" name="Text 46"/>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0" name="Shape 48"/>
          <p:cNvSpPr/>
          <p:nvPr/>
        </p:nvSpPr>
        <p:spPr>
          <a:xfrm>
            <a:off x="3008376" y="3554596"/>
            <a:ext cx="1337061" cy="110266"/>
          </a:xfrm>
          <a:prstGeom prst="rect">
            <a:avLst/>
          </a:prstGeom>
          <a:solidFill>
            <a:srgbClr val="12A566"/>
          </a:solidFill>
          <a:ln/>
        </p:spPr>
      </p:sp>
      <p:sp>
        <p:nvSpPr>
          <p:cNvPr id="51" name="Shape 49"/>
          <p:cNvSpPr/>
          <p:nvPr/>
        </p:nvSpPr>
        <p:spPr>
          <a:xfrm>
            <a:off x="3958540" y="3521516"/>
            <a:ext cx="21946" cy="176425"/>
          </a:xfrm>
          <a:prstGeom prst="rect">
            <a:avLst/>
          </a:prstGeom>
          <a:solidFill>
            <a:srgbClr val="0B2C4A"/>
          </a:solidFill>
          <a:ln/>
        </p:spPr>
      </p:sp>
      <p:sp>
        <p:nvSpPr>
          <p:cNvPr id="52" name="Text 50"/>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$210.50</a:t>
            </a:r>
            <a:endParaRPr lang="en-US" sz="1200" dirty="0"/>
          </a:p>
        </p:txBody>
      </p:sp>
      <p:sp>
        <p:nvSpPr>
          <p:cNvPr id="53" name="Shape 51"/>
          <p:cNvSpPr/>
          <p:nvPr/>
        </p:nvSpPr>
        <p:spPr>
          <a:xfrm>
            <a:off x="603504" y="3719994"/>
            <a:ext cx="5358384" cy="220532"/>
          </a:xfrm>
          <a:prstGeom prst="rect">
            <a:avLst/>
          </a:prstGeom>
          <a:solidFill>
            <a:srgbClr val="EDF4FA"/>
          </a:solidFill>
          <a:ln/>
        </p:spPr>
      </p:sp>
      <p:sp>
        <p:nvSpPr>
          <p:cNvPr id="54" name="Text 52"/>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56" name="Shape 54"/>
          <p:cNvSpPr/>
          <p:nvPr/>
        </p:nvSpPr>
        <p:spPr>
          <a:xfrm>
            <a:off x="3008376" y="3775127"/>
            <a:ext cx="1227728" cy="110266"/>
          </a:xfrm>
          <a:prstGeom prst="rect">
            <a:avLst/>
          </a:prstGeom>
          <a:solidFill>
            <a:srgbClr val="C2352F"/>
          </a:solidFill>
          <a:ln/>
        </p:spPr>
      </p:sp>
      <p:sp>
        <p:nvSpPr>
          <p:cNvPr id="57" name="Shape 55"/>
          <p:cNvSpPr/>
          <p:nvPr/>
        </p:nvSpPr>
        <p:spPr>
          <a:xfrm>
            <a:off x="4380766" y="3742048"/>
            <a:ext cx="21946" cy="176425"/>
          </a:xfrm>
          <a:prstGeom prst="rect">
            <a:avLst/>
          </a:prstGeom>
          <a:solidFill>
            <a:srgbClr val="0B2C4A"/>
          </a:solidFill>
          <a:ln/>
        </p:spPr>
      </p:sp>
      <p:sp>
        <p:nvSpPr>
          <p:cNvPr id="58" name="Text 56"/>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$193.29</a:t>
            </a:r>
            <a:endParaRPr lang="en-US" sz="1200" dirty="0"/>
          </a:p>
        </p:txBody>
      </p:sp>
      <p:sp>
        <p:nvSpPr>
          <p:cNvPr id="59" name="Text 57"/>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3008376" y="3995659"/>
            <a:ext cx="1117263" cy="110266"/>
          </a:xfrm>
          <a:prstGeom prst="rect">
            <a:avLst/>
          </a:prstGeom>
          <a:solidFill>
            <a:srgbClr val="12A566"/>
          </a:solidFill>
          <a:ln/>
        </p:spPr>
      </p:sp>
      <p:sp>
        <p:nvSpPr>
          <p:cNvPr id="62" name="Shape 60"/>
          <p:cNvSpPr/>
          <p:nvPr/>
        </p:nvSpPr>
        <p:spPr>
          <a:xfrm>
            <a:off x="3958540" y="3962579"/>
            <a:ext cx="21946" cy="176425"/>
          </a:xfrm>
          <a:prstGeom prst="rect">
            <a:avLst/>
          </a:prstGeom>
          <a:solidFill>
            <a:srgbClr val="0B2C4A"/>
          </a:solidFill>
          <a:ln/>
        </p:spPr>
      </p:sp>
      <p:sp>
        <p:nvSpPr>
          <p:cNvPr id="63" name="Text 61"/>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$175.90</a:t>
            </a:r>
            <a:endParaRPr lang="en-US" sz="1200" dirty="0"/>
          </a:p>
        </p:txBody>
      </p:sp>
      <p:sp>
        <p:nvSpPr>
          <p:cNvPr id="64" name="Shape 62"/>
          <p:cNvSpPr/>
          <p:nvPr/>
        </p:nvSpPr>
        <p:spPr>
          <a:xfrm>
            <a:off x="603504" y="4161058"/>
            <a:ext cx="5358384" cy="220532"/>
          </a:xfrm>
          <a:prstGeom prst="rect">
            <a:avLst/>
          </a:prstGeom>
          <a:solidFill>
            <a:srgbClr val="EDF4FA"/>
          </a:solidFill>
          <a:ln/>
        </p:spPr>
      </p:sp>
      <p:sp>
        <p:nvSpPr>
          <p:cNvPr id="65" name="Text 63"/>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67" name="Shape 65"/>
          <p:cNvSpPr/>
          <p:nvPr/>
        </p:nvSpPr>
        <p:spPr>
          <a:xfrm>
            <a:off x="3008376" y="4216191"/>
            <a:ext cx="1079883" cy="110266"/>
          </a:xfrm>
          <a:prstGeom prst="rect">
            <a:avLst/>
          </a:prstGeom>
          <a:solidFill>
            <a:srgbClr val="C2352F"/>
          </a:solidFill>
          <a:ln/>
        </p:spPr>
      </p:sp>
      <p:sp>
        <p:nvSpPr>
          <p:cNvPr id="68" name="Shape 66"/>
          <p:cNvSpPr/>
          <p:nvPr/>
        </p:nvSpPr>
        <p:spPr>
          <a:xfrm>
            <a:off x="4380766" y="4183111"/>
            <a:ext cx="21946" cy="176425"/>
          </a:xfrm>
          <a:prstGeom prst="rect">
            <a:avLst/>
          </a:prstGeom>
          <a:solidFill>
            <a:srgbClr val="0B2C4A"/>
          </a:solidFill>
          <a:ln/>
        </p:spPr>
      </p:sp>
      <p:sp>
        <p:nvSpPr>
          <p:cNvPr id="69" name="Text 67"/>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$170.01</a:t>
            </a:r>
            <a:endParaRPr lang="en-US" sz="1200" dirty="0"/>
          </a:p>
        </p:txBody>
      </p:sp>
      <p:sp>
        <p:nvSpPr>
          <p:cNvPr id="70" name="Shape 68"/>
          <p:cNvSpPr/>
          <p:nvPr/>
        </p:nvSpPr>
        <p:spPr>
          <a:xfrm>
            <a:off x="603504" y="4381590"/>
            <a:ext cx="5358384" cy="220532"/>
          </a:xfrm>
          <a:prstGeom prst="rect">
            <a:avLst/>
          </a:prstGeom>
          <a:solidFill>
            <a:srgbClr val="EDF4FA"/>
          </a:solidFill>
          <a:ln/>
        </p:spPr>
      </p:sp>
      <p:sp>
        <p:nvSpPr>
          <p:cNvPr id="71" name="Text 69"/>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3008376" y="4436723"/>
            <a:ext cx="1064787" cy="110266"/>
          </a:xfrm>
          <a:prstGeom prst="rect">
            <a:avLst/>
          </a:prstGeom>
          <a:solidFill>
            <a:srgbClr val="C2352F"/>
          </a:solidFill>
          <a:ln/>
        </p:spPr>
      </p:sp>
      <p:sp>
        <p:nvSpPr>
          <p:cNvPr id="74" name="Shape 72"/>
          <p:cNvSpPr/>
          <p:nvPr/>
        </p:nvSpPr>
        <p:spPr>
          <a:xfrm>
            <a:off x="4380766" y="4403643"/>
            <a:ext cx="21946" cy="176425"/>
          </a:xfrm>
          <a:prstGeom prst="rect">
            <a:avLst/>
          </a:prstGeom>
          <a:solidFill>
            <a:srgbClr val="0B2C4A"/>
          </a:solidFill>
          <a:ln/>
        </p:spPr>
      </p:sp>
      <p:sp>
        <p:nvSpPr>
          <p:cNvPr id="75" name="Text 73"/>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$167.64</a:t>
            </a:r>
            <a:endParaRPr lang="en-US" sz="1200" dirty="0"/>
          </a:p>
        </p:txBody>
      </p:sp>
      <p:sp>
        <p:nvSpPr>
          <p:cNvPr id="76" name="Text 74"/>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7" name="Text 75"/>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8" name="Shape 76"/>
          <p:cNvSpPr/>
          <p:nvPr/>
        </p:nvSpPr>
        <p:spPr>
          <a:xfrm>
            <a:off x="3008376" y="4657254"/>
            <a:ext cx="1057221" cy="110266"/>
          </a:xfrm>
          <a:prstGeom prst="rect">
            <a:avLst/>
          </a:prstGeom>
          <a:solidFill>
            <a:srgbClr val="12A566"/>
          </a:solidFill>
          <a:ln/>
        </p:spPr>
      </p:sp>
      <p:sp>
        <p:nvSpPr>
          <p:cNvPr id="79" name="Shape 77"/>
          <p:cNvSpPr/>
          <p:nvPr/>
        </p:nvSpPr>
        <p:spPr>
          <a:xfrm>
            <a:off x="3958540" y="4624175"/>
            <a:ext cx="21946" cy="176425"/>
          </a:xfrm>
          <a:prstGeom prst="rect">
            <a:avLst/>
          </a:prstGeom>
          <a:solidFill>
            <a:srgbClr val="0B2C4A"/>
          </a:solidFill>
          <a:ln/>
        </p:spPr>
      </p:sp>
      <p:sp>
        <p:nvSpPr>
          <p:cNvPr id="80" name="Text 78"/>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$166.44</a:t>
            </a:r>
            <a:endParaRPr lang="en-US" sz="1200" dirty="0"/>
          </a:p>
        </p:txBody>
      </p:sp>
      <p:sp>
        <p:nvSpPr>
          <p:cNvPr id="81" name="Text 79"/>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2" name="Text 80"/>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3" name="Shape 81"/>
          <p:cNvSpPr/>
          <p:nvPr/>
        </p:nvSpPr>
        <p:spPr>
          <a:xfrm>
            <a:off x="3008376" y="4877786"/>
            <a:ext cx="1039396" cy="110266"/>
          </a:xfrm>
          <a:prstGeom prst="rect">
            <a:avLst/>
          </a:prstGeom>
          <a:solidFill>
            <a:srgbClr val="12A566"/>
          </a:solidFill>
          <a:ln/>
        </p:spPr>
      </p:sp>
      <p:sp>
        <p:nvSpPr>
          <p:cNvPr id="84" name="Shape 82"/>
          <p:cNvSpPr/>
          <p:nvPr/>
        </p:nvSpPr>
        <p:spPr>
          <a:xfrm>
            <a:off x="3958540" y="4844706"/>
            <a:ext cx="21946" cy="176425"/>
          </a:xfrm>
          <a:prstGeom prst="rect">
            <a:avLst/>
          </a:prstGeom>
          <a:solidFill>
            <a:srgbClr val="0B2C4A"/>
          </a:solidFill>
          <a:ln/>
        </p:spPr>
      </p:sp>
      <p:sp>
        <p:nvSpPr>
          <p:cNvPr id="85" name="Text 83"/>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$163.64</a:t>
            </a:r>
            <a:endParaRPr lang="en-US" sz="1200" dirty="0"/>
          </a:p>
        </p:txBody>
      </p:sp>
      <p:sp>
        <p:nvSpPr>
          <p:cNvPr id="86" name="Text 84"/>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7" name="Text 85"/>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8" name="Shape 86"/>
          <p:cNvSpPr/>
          <p:nvPr/>
        </p:nvSpPr>
        <p:spPr>
          <a:xfrm>
            <a:off x="3008376" y="5098318"/>
            <a:ext cx="1034412" cy="110266"/>
          </a:xfrm>
          <a:prstGeom prst="rect">
            <a:avLst/>
          </a:prstGeom>
          <a:solidFill>
            <a:srgbClr val="12A566"/>
          </a:solidFill>
          <a:ln/>
        </p:spPr>
      </p:sp>
      <p:sp>
        <p:nvSpPr>
          <p:cNvPr id="89" name="Shape 87"/>
          <p:cNvSpPr/>
          <p:nvPr/>
        </p:nvSpPr>
        <p:spPr>
          <a:xfrm>
            <a:off x="3958540" y="5065238"/>
            <a:ext cx="21946" cy="176425"/>
          </a:xfrm>
          <a:prstGeom prst="rect">
            <a:avLst/>
          </a:prstGeom>
          <a:solidFill>
            <a:srgbClr val="0B2C4A"/>
          </a:solidFill>
          <a:ln/>
        </p:spPr>
      </p:sp>
      <p:sp>
        <p:nvSpPr>
          <p:cNvPr id="90" name="Text 88"/>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$162.85</a:t>
            </a:r>
            <a:endParaRPr lang="en-US" sz="1200" dirty="0"/>
          </a:p>
        </p:txBody>
      </p:sp>
      <p:sp>
        <p:nvSpPr>
          <p:cNvPr id="91" name="Text 89"/>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2" name="Text 90"/>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3008376" y="5318850"/>
            <a:ext cx="1020490" cy="110266"/>
          </a:xfrm>
          <a:prstGeom prst="rect">
            <a:avLst/>
          </a:prstGeom>
          <a:solidFill>
            <a:srgbClr val="12A566"/>
          </a:solidFill>
          <a:ln/>
        </p:spPr>
      </p:sp>
      <p:sp>
        <p:nvSpPr>
          <p:cNvPr id="94" name="Shape 92"/>
          <p:cNvSpPr/>
          <p:nvPr/>
        </p:nvSpPr>
        <p:spPr>
          <a:xfrm>
            <a:off x="3958540" y="5285770"/>
            <a:ext cx="21946" cy="176425"/>
          </a:xfrm>
          <a:prstGeom prst="rect">
            <a:avLst/>
          </a:prstGeom>
          <a:solidFill>
            <a:srgbClr val="0B2C4A"/>
          </a:solidFill>
          <a:ln/>
        </p:spPr>
      </p:sp>
      <p:sp>
        <p:nvSpPr>
          <p:cNvPr id="95" name="Text 93"/>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$160.66</a:t>
            </a:r>
            <a:endParaRPr lang="en-US" sz="1200" dirty="0"/>
          </a:p>
        </p:txBody>
      </p:sp>
      <p:sp>
        <p:nvSpPr>
          <p:cNvPr id="96" name="Text 94"/>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7" name="Text 95"/>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8" name="Shape 96"/>
          <p:cNvSpPr/>
          <p:nvPr/>
        </p:nvSpPr>
        <p:spPr>
          <a:xfrm>
            <a:off x="3008376" y="5539381"/>
            <a:ext cx="1013557" cy="110266"/>
          </a:xfrm>
          <a:prstGeom prst="rect">
            <a:avLst/>
          </a:prstGeom>
          <a:solidFill>
            <a:srgbClr val="12A566"/>
          </a:solidFill>
          <a:ln/>
        </p:spPr>
      </p:sp>
      <p:sp>
        <p:nvSpPr>
          <p:cNvPr id="99" name="Shape 97"/>
          <p:cNvSpPr/>
          <p:nvPr/>
        </p:nvSpPr>
        <p:spPr>
          <a:xfrm>
            <a:off x="3958540" y="5506302"/>
            <a:ext cx="21946" cy="176425"/>
          </a:xfrm>
          <a:prstGeom prst="rect">
            <a:avLst/>
          </a:prstGeom>
          <a:solidFill>
            <a:srgbClr val="0B2C4A"/>
          </a:solidFill>
          <a:ln/>
        </p:spPr>
      </p:sp>
      <p:sp>
        <p:nvSpPr>
          <p:cNvPr id="100" name="Text 98"/>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$159.57</a:t>
            </a:r>
            <a:endParaRPr lang="en-US" sz="1200" dirty="0"/>
          </a:p>
        </p:txBody>
      </p:sp>
      <p:sp>
        <p:nvSpPr>
          <p:cNvPr id="101" name="Text 99"/>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2" name="Text 100"/>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3" name="Shape 101"/>
          <p:cNvSpPr/>
          <p:nvPr/>
        </p:nvSpPr>
        <p:spPr>
          <a:xfrm>
            <a:off x="3008376" y="5759913"/>
            <a:ext cx="1012325" cy="110266"/>
          </a:xfrm>
          <a:prstGeom prst="rect">
            <a:avLst/>
          </a:prstGeom>
          <a:solidFill>
            <a:srgbClr val="12A566"/>
          </a:solidFill>
          <a:ln/>
        </p:spPr>
      </p:sp>
      <p:sp>
        <p:nvSpPr>
          <p:cNvPr id="104" name="Shape 102"/>
          <p:cNvSpPr/>
          <p:nvPr/>
        </p:nvSpPr>
        <p:spPr>
          <a:xfrm>
            <a:off x="3958540" y="5726833"/>
            <a:ext cx="21946" cy="176425"/>
          </a:xfrm>
          <a:prstGeom prst="rect">
            <a:avLst/>
          </a:prstGeom>
          <a:solidFill>
            <a:srgbClr val="0B2C4A"/>
          </a:solidFill>
          <a:ln/>
        </p:spPr>
      </p:sp>
      <p:sp>
        <p:nvSpPr>
          <p:cNvPr id="105" name="Text 103"/>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$159.38</a:t>
            </a:r>
            <a:endParaRPr lang="en-US" sz="1200" dirty="0"/>
          </a:p>
        </p:txBody>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8" name="Shape 106"/>
          <p:cNvSpPr/>
          <p:nvPr/>
        </p:nvSpPr>
        <p:spPr>
          <a:xfrm>
            <a:off x="8558784" y="2231405"/>
            <a:ext cx="999384" cy="110266"/>
          </a:xfrm>
          <a:prstGeom prst="rect">
            <a:avLst/>
          </a:prstGeom>
          <a:solidFill>
            <a:srgbClr val="12A566"/>
          </a:solidFill>
          <a:ln/>
        </p:spPr>
      </p:sp>
      <p:sp>
        <p:nvSpPr>
          <p:cNvPr id="109" name="Shape 107"/>
          <p:cNvSpPr/>
          <p:nvPr/>
        </p:nvSpPr>
        <p:spPr>
          <a:xfrm>
            <a:off x="9508948"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$157.34</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8558784" y="2451937"/>
            <a:ext cx="992055" cy="110266"/>
          </a:xfrm>
          <a:prstGeom prst="rect">
            <a:avLst/>
          </a:prstGeom>
          <a:solidFill>
            <a:srgbClr val="12A566"/>
          </a:solidFill>
          <a:ln/>
        </p:spPr>
      </p:sp>
      <p:sp>
        <p:nvSpPr>
          <p:cNvPr id="114" name="Shape 112"/>
          <p:cNvSpPr/>
          <p:nvPr/>
        </p:nvSpPr>
        <p:spPr>
          <a:xfrm>
            <a:off x="9508948"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$156.18</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8" name="Shape 116"/>
          <p:cNvSpPr/>
          <p:nvPr/>
        </p:nvSpPr>
        <p:spPr>
          <a:xfrm>
            <a:off x="8558784" y="2672468"/>
            <a:ext cx="981413" cy="110266"/>
          </a:xfrm>
          <a:prstGeom prst="rect">
            <a:avLst/>
          </a:prstGeom>
          <a:solidFill>
            <a:srgbClr val="12A566"/>
          </a:solidFill>
          <a:ln/>
        </p:spPr>
      </p:sp>
      <p:sp>
        <p:nvSpPr>
          <p:cNvPr id="119" name="Shape 117"/>
          <p:cNvSpPr/>
          <p:nvPr/>
        </p:nvSpPr>
        <p:spPr>
          <a:xfrm>
            <a:off x="9508948"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$154.51</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3" name="Shape 121"/>
          <p:cNvSpPr/>
          <p:nvPr/>
        </p:nvSpPr>
        <p:spPr>
          <a:xfrm>
            <a:off x="8558784" y="2893000"/>
            <a:ext cx="973651" cy="110266"/>
          </a:xfrm>
          <a:prstGeom prst="rect">
            <a:avLst/>
          </a:prstGeom>
          <a:solidFill>
            <a:srgbClr val="12A566"/>
          </a:solidFill>
          <a:ln/>
        </p:spPr>
      </p:sp>
      <p:sp>
        <p:nvSpPr>
          <p:cNvPr id="124" name="Shape 122"/>
          <p:cNvSpPr/>
          <p:nvPr/>
        </p:nvSpPr>
        <p:spPr>
          <a:xfrm>
            <a:off x="9508948"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$153.29</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8" name="Shape 126"/>
          <p:cNvSpPr/>
          <p:nvPr/>
        </p:nvSpPr>
        <p:spPr>
          <a:xfrm>
            <a:off x="8558784" y="3113532"/>
            <a:ext cx="947879" cy="110266"/>
          </a:xfrm>
          <a:prstGeom prst="rect">
            <a:avLst/>
          </a:prstGeom>
          <a:solidFill>
            <a:srgbClr val="C2352F"/>
          </a:solidFill>
          <a:ln/>
        </p:spPr>
      </p:sp>
      <p:sp>
        <p:nvSpPr>
          <p:cNvPr id="129" name="Shape 127"/>
          <p:cNvSpPr/>
          <p:nvPr/>
        </p:nvSpPr>
        <p:spPr>
          <a:xfrm>
            <a:off x="9508948"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$149.23</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3334064"/>
            <a:ext cx="941534" cy="110266"/>
          </a:xfrm>
          <a:prstGeom prst="rect">
            <a:avLst/>
          </a:prstGeom>
          <a:solidFill>
            <a:srgbClr val="C2352F"/>
          </a:solidFill>
          <a:ln/>
        </p:spPr>
      </p:sp>
      <p:sp>
        <p:nvSpPr>
          <p:cNvPr id="134" name="Shape 132"/>
          <p:cNvSpPr/>
          <p:nvPr/>
        </p:nvSpPr>
        <p:spPr>
          <a:xfrm>
            <a:off x="9508948"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$148.23</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8" name="Shape 136"/>
          <p:cNvSpPr/>
          <p:nvPr/>
        </p:nvSpPr>
        <p:spPr>
          <a:xfrm>
            <a:off x="8558784" y="3554596"/>
            <a:ext cx="917807" cy="110266"/>
          </a:xfrm>
          <a:prstGeom prst="rect">
            <a:avLst/>
          </a:prstGeom>
          <a:solidFill>
            <a:srgbClr val="C2352F"/>
          </a:solidFill>
          <a:ln/>
        </p:spPr>
      </p:sp>
      <p:sp>
        <p:nvSpPr>
          <p:cNvPr id="139" name="Shape 137"/>
          <p:cNvSpPr/>
          <p:nvPr/>
        </p:nvSpPr>
        <p:spPr>
          <a:xfrm>
            <a:off x="9508948"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$144.50</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43" name="Shape 141"/>
          <p:cNvSpPr/>
          <p:nvPr/>
        </p:nvSpPr>
        <p:spPr>
          <a:xfrm>
            <a:off x="8558784" y="3775127"/>
            <a:ext cx="913971" cy="110266"/>
          </a:xfrm>
          <a:prstGeom prst="rect">
            <a:avLst/>
          </a:prstGeom>
          <a:solidFill>
            <a:srgbClr val="C2352F"/>
          </a:solidFill>
          <a:ln/>
        </p:spPr>
      </p:sp>
      <p:sp>
        <p:nvSpPr>
          <p:cNvPr id="144" name="Shape 142"/>
          <p:cNvSpPr/>
          <p:nvPr/>
        </p:nvSpPr>
        <p:spPr>
          <a:xfrm>
            <a:off x="9508948"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$143.89</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3995659"/>
            <a:ext cx="908662" cy="110266"/>
          </a:xfrm>
          <a:prstGeom prst="rect">
            <a:avLst/>
          </a:prstGeom>
          <a:solidFill>
            <a:srgbClr val="C2352F"/>
          </a:solidFill>
          <a:ln/>
        </p:spPr>
      </p:sp>
      <p:sp>
        <p:nvSpPr>
          <p:cNvPr id="149" name="Shape 147"/>
          <p:cNvSpPr/>
          <p:nvPr/>
        </p:nvSpPr>
        <p:spPr>
          <a:xfrm>
            <a:off x="9508948"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$143.06</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53" name="Shape 151"/>
          <p:cNvSpPr/>
          <p:nvPr/>
        </p:nvSpPr>
        <p:spPr>
          <a:xfrm>
            <a:off x="8558784" y="4216191"/>
            <a:ext cx="907021" cy="110266"/>
          </a:xfrm>
          <a:prstGeom prst="rect">
            <a:avLst/>
          </a:prstGeom>
          <a:solidFill>
            <a:srgbClr val="C2352F"/>
          </a:solidFill>
          <a:ln/>
        </p:spPr>
      </p:sp>
      <p:sp>
        <p:nvSpPr>
          <p:cNvPr id="154" name="Shape 152"/>
          <p:cNvSpPr/>
          <p:nvPr/>
        </p:nvSpPr>
        <p:spPr>
          <a:xfrm>
            <a:off x="9508948"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$142.80</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436723"/>
            <a:ext cx="896260" cy="110266"/>
          </a:xfrm>
          <a:prstGeom prst="rect">
            <a:avLst/>
          </a:prstGeom>
          <a:solidFill>
            <a:srgbClr val="C2352F"/>
          </a:solidFill>
          <a:ln/>
        </p:spPr>
      </p:sp>
      <p:sp>
        <p:nvSpPr>
          <p:cNvPr id="159" name="Shape 157"/>
          <p:cNvSpPr/>
          <p:nvPr/>
        </p:nvSpPr>
        <p:spPr>
          <a:xfrm>
            <a:off x="9508948"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$141.10</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3" name="Shape 161"/>
          <p:cNvSpPr/>
          <p:nvPr/>
        </p:nvSpPr>
        <p:spPr>
          <a:xfrm>
            <a:off x="8558784" y="4657254"/>
            <a:ext cx="883720" cy="110266"/>
          </a:xfrm>
          <a:prstGeom prst="rect">
            <a:avLst/>
          </a:prstGeom>
          <a:solidFill>
            <a:srgbClr val="C2352F"/>
          </a:solidFill>
          <a:ln/>
        </p:spPr>
      </p:sp>
      <p:sp>
        <p:nvSpPr>
          <p:cNvPr id="164" name="Shape 162"/>
          <p:cNvSpPr/>
          <p:nvPr/>
        </p:nvSpPr>
        <p:spPr>
          <a:xfrm>
            <a:off x="9508948"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$139.13</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68" name="Shape 166"/>
          <p:cNvSpPr/>
          <p:nvPr/>
        </p:nvSpPr>
        <p:spPr>
          <a:xfrm>
            <a:off x="8558784" y="4877786"/>
            <a:ext cx="879615" cy="110266"/>
          </a:xfrm>
          <a:prstGeom prst="rect">
            <a:avLst/>
          </a:prstGeom>
          <a:solidFill>
            <a:srgbClr val="C2352F"/>
          </a:solidFill>
          <a:ln/>
        </p:spPr>
      </p:sp>
      <p:sp>
        <p:nvSpPr>
          <p:cNvPr id="169" name="Shape 167"/>
          <p:cNvSpPr/>
          <p:nvPr/>
        </p:nvSpPr>
        <p:spPr>
          <a:xfrm>
            <a:off x="9508948"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$138.48</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3" name="Shape 171"/>
          <p:cNvSpPr/>
          <p:nvPr/>
        </p:nvSpPr>
        <p:spPr>
          <a:xfrm>
            <a:off x="8558784" y="5098318"/>
            <a:ext cx="858476" cy="110266"/>
          </a:xfrm>
          <a:prstGeom prst="rect">
            <a:avLst/>
          </a:prstGeom>
          <a:solidFill>
            <a:srgbClr val="C2352F"/>
          </a:solidFill>
          <a:ln/>
        </p:spPr>
      </p:sp>
      <p:sp>
        <p:nvSpPr>
          <p:cNvPr id="174" name="Shape 172"/>
          <p:cNvSpPr/>
          <p:nvPr/>
        </p:nvSpPr>
        <p:spPr>
          <a:xfrm>
            <a:off x="9508948"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$135.15</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8" name="Shape 176"/>
          <p:cNvSpPr/>
          <p:nvPr/>
        </p:nvSpPr>
        <p:spPr>
          <a:xfrm>
            <a:off x="8558784" y="5318850"/>
            <a:ext cx="828632" cy="110266"/>
          </a:xfrm>
          <a:prstGeom prst="rect">
            <a:avLst/>
          </a:prstGeom>
          <a:solidFill>
            <a:srgbClr val="C2352F"/>
          </a:solidFill>
          <a:ln/>
        </p:spPr>
      </p:sp>
      <p:sp>
        <p:nvSpPr>
          <p:cNvPr id="179" name="Shape 177"/>
          <p:cNvSpPr/>
          <p:nvPr/>
        </p:nvSpPr>
        <p:spPr>
          <a:xfrm>
            <a:off x="9508948"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$130.46</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3" name="Shape 181"/>
          <p:cNvSpPr/>
          <p:nvPr/>
        </p:nvSpPr>
        <p:spPr>
          <a:xfrm>
            <a:off x="8558784" y="5539381"/>
            <a:ext cx="800888" cy="110266"/>
          </a:xfrm>
          <a:prstGeom prst="rect">
            <a:avLst/>
          </a:prstGeom>
          <a:solidFill>
            <a:srgbClr val="C2352F"/>
          </a:solidFill>
          <a:ln/>
        </p:spPr>
      </p:sp>
      <p:sp>
        <p:nvSpPr>
          <p:cNvPr id="184" name="Shape 182"/>
          <p:cNvSpPr/>
          <p:nvPr/>
        </p:nvSpPr>
        <p:spPr>
          <a:xfrm>
            <a:off x="9508948"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$126.09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6 of 9 luxury stores beat $217.79 and 12 of 24 others beat $151.32. Acura leads non-luxury at $210.50.</a:t>
            </a:r>
            <a:endParaRPr lang="en-US" sz="1600" dirty="0"/>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+$40.53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3850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1" name="Shape 19"/>
          <p:cNvSpPr/>
          <p:nvPr/>
        </p:nvSpPr>
        <p:spPr>
          <a:xfrm>
            <a:off x="3785616" y="2391651"/>
            <a:ext cx="514703"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+$26.84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5" name="Shape 23"/>
          <p:cNvSpPr/>
          <p:nvPr/>
        </p:nvSpPr>
        <p:spPr>
          <a:xfrm>
            <a:off x="3785616" y="2631546"/>
            <a:ext cx="42234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33396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323669"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+$16.88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7" name="Shape 35"/>
          <p:cNvSpPr/>
          <p:nvPr/>
        </p:nvSpPr>
        <p:spPr>
          <a:xfrm>
            <a:off x="3785616" y="3351233"/>
            <a:ext cx="28557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22721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3785616" y="3831024"/>
            <a:ext cx="1759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785616" y="4070920"/>
            <a:ext cx="14332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18282"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+$6.17</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85736"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1" name="Shape 59"/>
          <p:cNvSpPr/>
          <p:nvPr/>
        </p:nvSpPr>
        <p:spPr>
          <a:xfrm>
            <a:off x="3785616" y="4790606"/>
            <a:ext cx="8143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7218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6525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3" name="Shape 71"/>
          <p:cNvSpPr/>
          <p:nvPr/>
        </p:nvSpPr>
        <p:spPr>
          <a:xfrm>
            <a:off x="3785616" y="5510293"/>
            <a:ext cx="6355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7" name="Shape 75"/>
          <p:cNvSpPr/>
          <p:nvPr/>
        </p:nvSpPr>
        <p:spPr>
          <a:xfrm>
            <a:off x="3785616" y="5750188"/>
            <a:ext cx="6175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1" name="Shape 79"/>
          <p:cNvSpPr/>
          <p:nvPr/>
        </p:nvSpPr>
        <p:spPr>
          <a:xfrm>
            <a:off x="9336024" y="1911860"/>
            <a:ext cx="34241"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+$1.79</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9" name="Shape 87"/>
          <p:cNvSpPr/>
          <p:nvPr/>
        </p:nvSpPr>
        <p:spPr>
          <a:xfrm>
            <a:off x="9318854" y="2391651"/>
            <a:ext cx="17170"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17123" y="2631546"/>
            <a:ext cx="1890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7" name="Shape 95"/>
          <p:cNvSpPr/>
          <p:nvPr/>
        </p:nvSpPr>
        <p:spPr>
          <a:xfrm>
            <a:off x="9308306" y="2871442"/>
            <a:ext cx="2771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06754" y="3111337"/>
            <a:ext cx="2927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300755" y="3351233"/>
            <a:ext cx="3526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96965" y="3591128"/>
            <a:ext cx="3905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9296926" y="3831024"/>
            <a:ext cx="3909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9294926" y="4070920"/>
            <a:ext cx="41098"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9266894" y="4310815"/>
            <a:ext cx="6913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9216031" y="4550711"/>
            <a:ext cx="119993"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137473" y="4790606"/>
            <a:ext cx="1985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3" name="Shape 131"/>
          <p:cNvSpPr/>
          <p:nvPr/>
        </p:nvSpPr>
        <p:spPr>
          <a:xfrm>
            <a:off x="9119752" y="5030502"/>
            <a:ext cx="21627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9093546" y="5270397"/>
            <a:ext cx="24247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1" name="Shape 139"/>
          <p:cNvSpPr/>
          <p:nvPr/>
        </p:nvSpPr>
        <p:spPr>
          <a:xfrm>
            <a:off x="8662367" y="5510293"/>
            <a:ext cx="6736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−$35.13</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6F6EE"/>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19 of 33 stores raised CP ELR, led by Volvo at +$40.53 to $222.12. 14 declined; Kia LV fell most at −$35.13.</a:t>
            </a:r>
            <a:endParaRPr lang="en-US" sz="1450" dirty="0"/>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$348.87</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$310.00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$294.87</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$285.00</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$239.87</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$235.87</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$228.55</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$219.87</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$211.26</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$209.87</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$204.87</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$179.87</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$275.00</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$249.95</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$244.87</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$229.95</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$220.00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$215.37</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$202.83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$199.95</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$195.00</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$190.00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$179.00</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1376"/>
          </a:xfrm>
          <a:prstGeom prst="rect">
            <a:avLst/>
          </a:prstGeom>
          <a:solidFill>
            <a:srgbClr val="EDF4FA"/>
          </a:solidFill>
          <a:ln/>
        </p:spPr>
      </p:sp>
      <p:sp>
        <p:nvSpPr>
          <p:cNvPr id="119" name="Text 1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17 stores price labor on a grid, 16 at a flat door rate. Hours-weighted door rate: $228.55 grid, $202.83 no grid.</a:t>
            </a:r>
            <a:endParaRPr lang="en-US" sz="1400" dirty="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 Audi Reno leads at 103.4%; Cadillac is lowest at 61.5%.</a:t>
            </a:r>
            <a:endParaRPr lang="en-US" sz="1600" dirty="0"/>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$235.87</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$249.95</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$179.87</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$275.00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$179.00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$229.95</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$199.95</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$195.00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$294.87</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$209.87</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$204.87</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$348.87</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$215.37</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$239.87</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$211.26</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$219.87</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$244.87</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$285.00</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Total dollars per RO matters more than any single measure. It's what we sell.</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measures execution for the store and for each advisor.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best number to build advisor pay on.</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lever on the hours slide: MPI, menu, Road to the Sale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Pricing, discounts and mix</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customer, every time, from an accurate menu</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 advisors on CP labor or gross per RO</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$632, non-luxury $264.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4142739"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451937"/>
            <a:ext cx="1687755" cy="110266"/>
          </a:xfrm>
          <a:prstGeom prst="rect">
            <a:avLst/>
          </a:prstGeom>
          <a:solidFill>
            <a:srgbClr val="12A566"/>
          </a:solidFill>
          <a:ln/>
        </p:spPr>
      </p:sp>
      <p:sp>
        <p:nvSpPr>
          <p:cNvPr id="22" name="Shape 20"/>
          <p:cNvSpPr/>
          <p:nvPr/>
        </p:nvSpPr>
        <p:spPr>
          <a:xfrm>
            <a:off x="4142739"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27" name="Shape 25"/>
          <p:cNvSpPr/>
          <p:nvPr/>
        </p:nvSpPr>
        <p:spPr>
          <a:xfrm>
            <a:off x="3008376" y="2672468"/>
            <a:ext cx="1682307" cy="110266"/>
          </a:xfrm>
          <a:prstGeom prst="rect">
            <a:avLst/>
          </a:prstGeom>
          <a:solidFill>
            <a:srgbClr val="12A566"/>
          </a:solidFill>
          <a:ln/>
        </p:spPr>
      </p:sp>
      <p:sp>
        <p:nvSpPr>
          <p:cNvPr id="28" name="Shape 26"/>
          <p:cNvSpPr/>
          <p:nvPr/>
        </p:nvSpPr>
        <p:spPr>
          <a:xfrm>
            <a:off x="4142739"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2893000"/>
            <a:ext cx="1481141" cy="110266"/>
          </a:xfrm>
          <a:prstGeom prst="rect">
            <a:avLst/>
          </a:prstGeom>
          <a:solidFill>
            <a:srgbClr val="12A566"/>
          </a:solidFill>
          <a:ln/>
        </p:spPr>
      </p:sp>
      <p:sp>
        <p:nvSpPr>
          <p:cNvPr id="34" name="Shape 32"/>
          <p:cNvSpPr/>
          <p:nvPr/>
        </p:nvSpPr>
        <p:spPr>
          <a:xfrm>
            <a:off x="4142739"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39" name="Shape 37"/>
          <p:cNvSpPr/>
          <p:nvPr/>
        </p:nvSpPr>
        <p:spPr>
          <a:xfrm>
            <a:off x="3008376" y="3113532"/>
            <a:ext cx="1162436" cy="110266"/>
          </a:xfrm>
          <a:prstGeom prst="rect">
            <a:avLst/>
          </a:prstGeom>
          <a:solidFill>
            <a:srgbClr val="12A566"/>
          </a:solidFill>
          <a:ln/>
        </p:spPr>
      </p:sp>
      <p:sp>
        <p:nvSpPr>
          <p:cNvPr id="40" name="Shape 38"/>
          <p:cNvSpPr/>
          <p:nvPr/>
        </p:nvSpPr>
        <p:spPr>
          <a:xfrm>
            <a:off x="4142739"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008376" y="3334064"/>
            <a:ext cx="917343" cy="110266"/>
          </a:xfrm>
          <a:prstGeom prst="rect">
            <a:avLst/>
          </a:prstGeom>
          <a:solidFill>
            <a:srgbClr val="C2352F"/>
          </a:solidFill>
          <a:ln/>
        </p:spPr>
      </p:sp>
      <p:sp>
        <p:nvSpPr>
          <p:cNvPr id="46" name="Shape 44"/>
          <p:cNvSpPr/>
          <p:nvPr/>
        </p:nvSpPr>
        <p:spPr>
          <a:xfrm>
            <a:off x="4142739"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48" name="Shape 46"/>
          <p:cNvSpPr/>
          <p:nvPr/>
        </p:nvSpPr>
        <p:spPr>
          <a:xfrm>
            <a:off x="603504" y="3499463"/>
            <a:ext cx="5358384" cy="220532"/>
          </a:xfrm>
          <a:prstGeom prst="rect">
            <a:avLst/>
          </a:prstGeom>
          <a:solidFill>
            <a:srgbClr val="EDF4FA"/>
          </a:solidFill>
          <a:ln/>
        </p:spPr>
      </p:sp>
      <p:sp>
        <p:nvSpPr>
          <p:cNvPr id="49" name="Text 47"/>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0" name="Text 48"/>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51" name="Shape 49"/>
          <p:cNvSpPr/>
          <p:nvPr/>
        </p:nvSpPr>
        <p:spPr>
          <a:xfrm>
            <a:off x="3008376" y="3554596"/>
            <a:ext cx="841658" cy="110266"/>
          </a:xfrm>
          <a:prstGeom prst="rect">
            <a:avLst/>
          </a:prstGeom>
          <a:solidFill>
            <a:srgbClr val="C2352F"/>
          </a:solidFill>
          <a:ln/>
        </p:spPr>
      </p:sp>
      <p:sp>
        <p:nvSpPr>
          <p:cNvPr id="52" name="Shape 50"/>
          <p:cNvSpPr/>
          <p:nvPr/>
        </p:nvSpPr>
        <p:spPr>
          <a:xfrm>
            <a:off x="4142739" y="3521516"/>
            <a:ext cx="21946" cy="176425"/>
          </a:xfrm>
          <a:prstGeom prst="rect">
            <a:avLst/>
          </a:prstGeom>
          <a:solidFill>
            <a:srgbClr val="0B2C4A"/>
          </a:solidFill>
          <a:ln/>
        </p:spPr>
      </p:sp>
      <p:sp>
        <p:nvSpPr>
          <p:cNvPr id="53" name="Text 51"/>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54" name="Shape 52"/>
          <p:cNvSpPr/>
          <p:nvPr/>
        </p:nvSpPr>
        <p:spPr>
          <a:xfrm>
            <a:off x="603504" y="3719994"/>
            <a:ext cx="5358384" cy="220532"/>
          </a:xfrm>
          <a:prstGeom prst="rect">
            <a:avLst/>
          </a:prstGeom>
          <a:solidFill>
            <a:srgbClr val="EDF4FA"/>
          </a:solidFill>
          <a:ln/>
        </p:spPr>
      </p:sp>
      <p:sp>
        <p:nvSpPr>
          <p:cNvPr id="55" name="Text 53"/>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6" name="Text 54"/>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7" name="Shape 55"/>
          <p:cNvSpPr/>
          <p:nvPr/>
        </p:nvSpPr>
        <p:spPr>
          <a:xfrm>
            <a:off x="3008376" y="3775127"/>
            <a:ext cx="755112" cy="110266"/>
          </a:xfrm>
          <a:prstGeom prst="rect">
            <a:avLst/>
          </a:prstGeom>
          <a:solidFill>
            <a:srgbClr val="C2352F"/>
          </a:solidFill>
          <a:ln/>
        </p:spPr>
      </p:sp>
      <p:sp>
        <p:nvSpPr>
          <p:cNvPr id="58" name="Shape 56"/>
          <p:cNvSpPr/>
          <p:nvPr/>
        </p:nvSpPr>
        <p:spPr>
          <a:xfrm>
            <a:off x="4142739" y="3742048"/>
            <a:ext cx="21946" cy="176425"/>
          </a:xfrm>
          <a:prstGeom prst="rect">
            <a:avLst/>
          </a:prstGeom>
          <a:solidFill>
            <a:srgbClr val="0B2C4A"/>
          </a:solidFill>
          <a:ln/>
        </p:spPr>
      </p:sp>
      <p:sp>
        <p:nvSpPr>
          <p:cNvPr id="59" name="Text 57"/>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60" name="Shape 58"/>
          <p:cNvSpPr/>
          <p:nvPr/>
        </p:nvSpPr>
        <p:spPr>
          <a:xfrm>
            <a:off x="603504" y="3940526"/>
            <a:ext cx="5358384" cy="220532"/>
          </a:xfrm>
          <a:prstGeom prst="rect">
            <a:avLst/>
          </a:prstGeom>
          <a:solidFill>
            <a:srgbClr val="EDF4FA"/>
          </a:solidFill>
          <a:ln/>
        </p:spPr>
      </p:sp>
      <p:sp>
        <p:nvSpPr>
          <p:cNvPr id="61" name="Text 59"/>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2" name="Text 60"/>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63" name="Shape 61"/>
          <p:cNvSpPr/>
          <p:nvPr/>
        </p:nvSpPr>
        <p:spPr>
          <a:xfrm>
            <a:off x="3008376" y="3995659"/>
            <a:ext cx="730056" cy="110266"/>
          </a:xfrm>
          <a:prstGeom prst="rect">
            <a:avLst/>
          </a:prstGeom>
          <a:solidFill>
            <a:srgbClr val="C2352F"/>
          </a:solidFill>
          <a:ln/>
        </p:spPr>
      </p:sp>
      <p:sp>
        <p:nvSpPr>
          <p:cNvPr id="64" name="Shape 62"/>
          <p:cNvSpPr/>
          <p:nvPr/>
        </p:nvSpPr>
        <p:spPr>
          <a:xfrm>
            <a:off x="4142739" y="3962579"/>
            <a:ext cx="21946" cy="176425"/>
          </a:xfrm>
          <a:prstGeom prst="rect">
            <a:avLst/>
          </a:prstGeom>
          <a:solidFill>
            <a:srgbClr val="0B2C4A"/>
          </a:solidFill>
          <a:ln/>
        </p:spPr>
      </p:sp>
      <p:sp>
        <p:nvSpPr>
          <p:cNvPr id="65" name="Text 63"/>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66" name="Text 64"/>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8" name="Shape 66"/>
          <p:cNvSpPr/>
          <p:nvPr/>
        </p:nvSpPr>
        <p:spPr>
          <a:xfrm>
            <a:off x="3008376" y="4216191"/>
            <a:ext cx="705337" cy="110266"/>
          </a:xfrm>
          <a:prstGeom prst="rect">
            <a:avLst/>
          </a:prstGeom>
          <a:solidFill>
            <a:srgbClr val="12A566"/>
          </a:solidFill>
          <a:ln/>
        </p:spPr>
      </p:sp>
      <p:sp>
        <p:nvSpPr>
          <p:cNvPr id="69" name="Shape 67"/>
          <p:cNvSpPr/>
          <p:nvPr/>
        </p:nvSpPr>
        <p:spPr>
          <a:xfrm>
            <a:off x="3476332" y="4183111"/>
            <a:ext cx="21946" cy="176425"/>
          </a:xfrm>
          <a:prstGeom prst="rect">
            <a:avLst/>
          </a:prstGeom>
          <a:solidFill>
            <a:srgbClr val="0B2C4A"/>
          </a:solidFill>
          <a:ln/>
        </p:spPr>
      </p:sp>
      <p:sp>
        <p:nvSpPr>
          <p:cNvPr id="70" name="Text 68"/>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71" name="Text 69"/>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3" name="Shape 71"/>
          <p:cNvSpPr/>
          <p:nvPr/>
        </p:nvSpPr>
        <p:spPr>
          <a:xfrm>
            <a:off x="3008376" y="4436723"/>
            <a:ext cx="673033" cy="110266"/>
          </a:xfrm>
          <a:prstGeom prst="rect">
            <a:avLst/>
          </a:prstGeom>
          <a:solidFill>
            <a:srgbClr val="12A566"/>
          </a:solidFill>
          <a:ln/>
        </p:spPr>
      </p:sp>
      <p:sp>
        <p:nvSpPr>
          <p:cNvPr id="74" name="Shape 72"/>
          <p:cNvSpPr/>
          <p:nvPr/>
        </p:nvSpPr>
        <p:spPr>
          <a:xfrm>
            <a:off x="3476332" y="4403643"/>
            <a:ext cx="21946" cy="176425"/>
          </a:xfrm>
          <a:prstGeom prst="rect">
            <a:avLst/>
          </a:prstGeom>
          <a:solidFill>
            <a:srgbClr val="0B2C4A"/>
          </a:solidFill>
          <a:ln/>
        </p:spPr>
      </p:sp>
      <p:sp>
        <p:nvSpPr>
          <p:cNvPr id="75" name="Text 73"/>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76" name="Text 74"/>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7" name="Text 75"/>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8" name="Shape 76"/>
          <p:cNvSpPr/>
          <p:nvPr/>
        </p:nvSpPr>
        <p:spPr>
          <a:xfrm>
            <a:off x="3008376" y="4657254"/>
            <a:ext cx="641221" cy="110266"/>
          </a:xfrm>
          <a:prstGeom prst="rect">
            <a:avLst/>
          </a:prstGeom>
          <a:solidFill>
            <a:srgbClr val="12A566"/>
          </a:solidFill>
          <a:ln/>
        </p:spPr>
      </p:sp>
      <p:sp>
        <p:nvSpPr>
          <p:cNvPr id="79" name="Shape 77"/>
          <p:cNvSpPr/>
          <p:nvPr/>
        </p:nvSpPr>
        <p:spPr>
          <a:xfrm>
            <a:off x="3476332" y="4624175"/>
            <a:ext cx="21946" cy="176425"/>
          </a:xfrm>
          <a:prstGeom prst="rect">
            <a:avLst/>
          </a:prstGeom>
          <a:solidFill>
            <a:srgbClr val="0B2C4A"/>
          </a:solidFill>
          <a:ln/>
        </p:spPr>
      </p:sp>
      <p:sp>
        <p:nvSpPr>
          <p:cNvPr id="80" name="Text 78"/>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81" name="Text 79"/>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2" name="Text 80"/>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3008376" y="4877786"/>
            <a:ext cx="602381" cy="110266"/>
          </a:xfrm>
          <a:prstGeom prst="rect">
            <a:avLst/>
          </a:prstGeom>
          <a:solidFill>
            <a:srgbClr val="12A566"/>
          </a:solidFill>
          <a:ln/>
        </p:spPr>
      </p:sp>
      <p:sp>
        <p:nvSpPr>
          <p:cNvPr id="84" name="Shape 82"/>
          <p:cNvSpPr/>
          <p:nvPr/>
        </p:nvSpPr>
        <p:spPr>
          <a:xfrm>
            <a:off x="3476332" y="4844706"/>
            <a:ext cx="21946" cy="176425"/>
          </a:xfrm>
          <a:prstGeom prst="rect">
            <a:avLst/>
          </a:prstGeom>
          <a:solidFill>
            <a:srgbClr val="0B2C4A"/>
          </a:solidFill>
          <a:ln/>
        </p:spPr>
      </p:sp>
      <p:sp>
        <p:nvSpPr>
          <p:cNvPr id="85" name="Text 83"/>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86" name="Text 84"/>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7" name="Text 85"/>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098318"/>
            <a:ext cx="577225" cy="110266"/>
          </a:xfrm>
          <a:prstGeom prst="rect">
            <a:avLst/>
          </a:prstGeom>
          <a:solidFill>
            <a:srgbClr val="12A566"/>
          </a:solidFill>
          <a:ln/>
        </p:spPr>
      </p:sp>
      <p:sp>
        <p:nvSpPr>
          <p:cNvPr id="89" name="Shape 87"/>
          <p:cNvSpPr/>
          <p:nvPr/>
        </p:nvSpPr>
        <p:spPr>
          <a:xfrm>
            <a:off x="3476332" y="5065238"/>
            <a:ext cx="21946" cy="176425"/>
          </a:xfrm>
          <a:prstGeom prst="rect">
            <a:avLst/>
          </a:prstGeom>
          <a:solidFill>
            <a:srgbClr val="0B2C4A"/>
          </a:solidFill>
          <a:ln/>
        </p:spPr>
      </p:sp>
      <p:sp>
        <p:nvSpPr>
          <p:cNvPr id="90" name="Text 88"/>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91" name="Text 89"/>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2" name="Text 90"/>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3" name="Shape 91"/>
          <p:cNvSpPr/>
          <p:nvPr/>
        </p:nvSpPr>
        <p:spPr>
          <a:xfrm>
            <a:off x="3008376" y="5318850"/>
            <a:ext cx="563314" cy="110266"/>
          </a:xfrm>
          <a:prstGeom prst="rect">
            <a:avLst/>
          </a:prstGeom>
          <a:solidFill>
            <a:srgbClr val="12A566"/>
          </a:solidFill>
          <a:ln/>
        </p:spPr>
      </p:sp>
      <p:sp>
        <p:nvSpPr>
          <p:cNvPr id="94" name="Shape 92"/>
          <p:cNvSpPr/>
          <p:nvPr/>
        </p:nvSpPr>
        <p:spPr>
          <a:xfrm>
            <a:off x="3476332" y="5285770"/>
            <a:ext cx="21946" cy="176425"/>
          </a:xfrm>
          <a:prstGeom prst="rect">
            <a:avLst/>
          </a:prstGeom>
          <a:solidFill>
            <a:srgbClr val="0B2C4A"/>
          </a:solidFill>
          <a:ln/>
        </p:spPr>
      </p:sp>
      <p:sp>
        <p:nvSpPr>
          <p:cNvPr id="95" name="Text 93"/>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96" name="Text 94"/>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7" name="Text 95"/>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3008376" y="5539381"/>
            <a:ext cx="547061" cy="110266"/>
          </a:xfrm>
          <a:prstGeom prst="rect">
            <a:avLst/>
          </a:prstGeom>
          <a:solidFill>
            <a:srgbClr val="12A566"/>
          </a:solidFill>
          <a:ln/>
        </p:spPr>
      </p:sp>
      <p:sp>
        <p:nvSpPr>
          <p:cNvPr id="99" name="Shape 97"/>
          <p:cNvSpPr/>
          <p:nvPr/>
        </p:nvSpPr>
        <p:spPr>
          <a:xfrm>
            <a:off x="3476332" y="5506302"/>
            <a:ext cx="21946" cy="176425"/>
          </a:xfrm>
          <a:prstGeom prst="rect">
            <a:avLst/>
          </a:prstGeom>
          <a:solidFill>
            <a:srgbClr val="0B2C4A"/>
          </a:solidFill>
          <a:ln/>
        </p:spPr>
      </p:sp>
      <p:sp>
        <p:nvSpPr>
          <p:cNvPr id="100" name="Text 98"/>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101" name="Text 99"/>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2" name="Text 100"/>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3" name="Shape 101"/>
          <p:cNvSpPr/>
          <p:nvPr/>
        </p:nvSpPr>
        <p:spPr>
          <a:xfrm>
            <a:off x="3008376" y="5759913"/>
            <a:ext cx="542954" cy="110266"/>
          </a:xfrm>
          <a:prstGeom prst="rect">
            <a:avLst/>
          </a:prstGeom>
          <a:solidFill>
            <a:srgbClr val="12A566"/>
          </a:solidFill>
          <a:ln/>
        </p:spPr>
      </p:sp>
      <p:sp>
        <p:nvSpPr>
          <p:cNvPr id="104" name="Shape 102"/>
          <p:cNvSpPr/>
          <p:nvPr/>
        </p:nvSpPr>
        <p:spPr>
          <a:xfrm>
            <a:off x="3476332" y="5726833"/>
            <a:ext cx="21946" cy="176425"/>
          </a:xfrm>
          <a:prstGeom prst="rect">
            <a:avLst/>
          </a:prstGeom>
          <a:solidFill>
            <a:srgbClr val="0B2C4A"/>
          </a:solidFill>
          <a:ln/>
        </p:spPr>
      </p:sp>
      <p:sp>
        <p:nvSpPr>
          <p:cNvPr id="105" name="Text 103"/>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8" name="Shape 106"/>
          <p:cNvSpPr/>
          <p:nvPr/>
        </p:nvSpPr>
        <p:spPr>
          <a:xfrm>
            <a:off x="8558784" y="2231405"/>
            <a:ext cx="541966" cy="110266"/>
          </a:xfrm>
          <a:prstGeom prst="rect">
            <a:avLst/>
          </a:prstGeom>
          <a:solidFill>
            <a:srgbClr val="12A566"/>
          </a:solidFill>
          <a:ln/>
        </p:spPr>
      </p:sp>
      <p:sp>
        <p:nvSpPr>
          <p:cNvPr id="109" name="Shape 107"/>
          <p:cNvSpPr/>
          <p:nvPr/>
        </p:nvSpPr>
        <p:spPr>
          <a:xfrm>
            <a:off x="9026740"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3" name="Shape 111"/>
          <p:cNvSpPr/>
          <p:nvPr/>
        </p:nvSpPr>
        <p:spPr>
          <a:xfrm>
            <a:off x="8558784" y="2451937"/>
            <a:ext cx="523696" cy="110266"/>
          </a:xfrm>
          <a:prstGeom prst="rect">
            <a:avLst/>
          </a:prstGeom>
          <a:solidFill>
            <a:srgbClr val="12A566"/>
          </a:solidFill>
          <a:ln/>
        </p:spPr>
      </p:sp>
      <p:sp>
        <p:nvSpPr>
          <p:cNvPr id="114" name="Shape 112"/>
          <p:cNvSpPr/>
          <p:nvPr/>
        </p:nvSpPr>
        <p:spPr>
          <a:xfrm>
            <a:off x="9026740"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8" name="Shape 116"/>
          <p:cNvSpPr/>
          <p:nvPr/>
        </p:nvSpPr>
        <p:spPr>
          <a:xfrm>
            <a:off x="8558784" y="2672468"/>
            <a:ext cx="507630" cy="110266"/>
          </a:xfrm>
          <a:prstGeom prst="rect">
            <a:avLst/>
          </a:prstGeom>
          <a:solidFill>
            <a:srgbClr val="12A566"/>
          </a:solidFill>
          <a:ln/>
        </p:spPr>
      </p:sp>
      <p:sp>
        <p:nvSpPr>
          <p:cNvPr id="119" name="Shape 117"/>
          <p:cNvSpPr/>
          <p:nvPr/>
        </p:nvSpPr>
        <p:spPr>
          <a:xfrm>
            <a:off x="9026740"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3" name="Shape 121"/>
          <p:cNvSpPr/>
          <p:nvPr/>
        </p:nvSpPr>
        <p:spPr>
          <a:xfrm>
            <a:off x="8558784" y="2893000"/>
            <a:ext cx="497050" cy="110266"/>
          </a:xfrm>
          <a:prstGeom prst="rect">
            <a:avLst/>
          </a:prstGeom>
          <a:solidFill>
            <a:srgbClr val="12A566"/>
          </a:solidFill>
          <a:ln/>
        </p:spPr>
      </p:sp>
      <p:sp>
        <p:nvSpPr>
          <p:cNvPr id="124" name="Shape 122"/>
          <p:cNvSpPr/>
          <p:nvPr/>
        </p:nvSpPr>
        <p:spPr>
          <a:xfrm>
            <a:off x="9026740"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558784" y="3113532"/>
            <a:ext cx="491692" cy="110266"/>
          </a:xfrm>
          <a:prstGeom prst="rect">
            <a:avLst/>
          </a:prstGeom>
          <a:solidFill>
            <a:srgbClr val="12A566"/>
          </a:solidFill>
          <a:ln/>
        </p:spPr>
      </p:sp>
      <p:sp>
        <p:nvSpPr>
          <p:cNvPr id="129" name="Shape 127"/>
          <p:cNvSpPr/>
          <p:nvPr/>
        </p:nvSpPr>
        <p:spPr>
          <a:xfrm>
            <a:off x="9026740"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558784" y="3334064"/>
            <a:ext cx="431863" cy="110266"/>
          </a:xfrm>
          <a:prstGeom prst="rect">
            <a:avLst/>
          </a:prstGeom>
          <a:solidFill>
            <a:srgbClr val="C2352F"/>
          </a:solidFill>
          <a:ln/>
        </p:spPr>
      </p:sp>
      <p:sp>
        <p:nvSpPr>
          <p:cNvPr id="134" name="Shape 132"/>
          <p:cNvSpPr/>
          <p:nvPr/>
        </p:nvSpPr>
        <p:spPr>
          <a:xfrm>
            <a:off x="9026740"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8" name="Shape 136"/>
          <p:cNvSpPr/>
          <p:nvPr/>
        </p:nvSpPr>
        <p:spPr>
          <a:xfrm>
            <a:off x="8558784" y="3554596"/>
            <a:ext cx="431091" cy="110266"/>
          </a:xfrm>
          <a:prstGeom prst="rect">
            <a:avLst/>
          </a:prstGeom>
          <a:solidFill>
            <a:srgbClr val="C2352F"/>
          </a:solidFill>
          <a:ln/>
        </p:spPr>
      </p:sp>
      <p:sp>
        <p:nvSpPr>
          <p:cNvPr id="139" name="Shape 137"/>
          <p:cNvSpPr/>
          <p:nvPr/>
        </p:nvSpPr>
        <p:spPr>
          <a:xfrm>
            <a:off x="9026740"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3" name="Shape 141"/>
          <p:cNvSpPr/>
          <p:nvPr/>
        </p:nvSpPr>
        <p:spPr>
          <a:xfrm>
            <a:off x="8558784" y="3775127"/>
            <a:ext cx="424414" cy="110266"/>
          </a:xfrm>
          <a:prstGeom prst="rect">
            <a:avLst/>
          </a:prstGeom>
          <a:solidFill>
            <a:srgbClr val="C2352F"/>
          </a:solidFill>
          <a:ln/>
        </p:spPr>
      </p:sp>
      <p:sp>
        <p:nvSpPr>
          <p:cNvPr id="144" name="Shape 142"/>
          <p:cNvSpPr/>
          <p:nvPr/>
        </p:nvSpPr>
        <p:spPr>
          <a:xfrm>
            <a:off x="9026740"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8" name="Shape 146"/>
          <p:cNvSpPr/>
          <p:nvPr/>
        </p:nvSpPr>
        <p:spPr>
          <a:xfrm>
            <a:off x="8558784" y="3995659"/>
            <a:ext cx="418377" cy="110266"/>
          </a:xfrm>
          <a:prstGeom prst="rect">
            <a:avLst/>
          </a:prstGeom>
          <a:solidFill>
            <a:srgbClr val="C2352F"/>
          </a:solidFill>
          <a:ln/>
        </p:spPr>
      </p:sp>
      <p:sp>
        <p:nvSpPr>
          <p:cNvPr id="149" name="Shape 147"/>
          <p:cNvSpPr/>
          <p:nvPr/>
        </p:nvSpPr>
        <p:spPr>
          <a:xfrm>
            <a:off x="9026740"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216191"/>
            <a:ext cx="412275" cy="110266"/>
          </a:xfrm>
          <a:prstGeom prst="rect">
            <a:avLst/>
          </a:prstGeom>
          <a:solidFill>
            <a:srgbClr val="C2352F"/>
          </a:solidFill>
          <a:ln/>
        </p:spPr>
      </p:sp>
      <p:sp>
        <p:nvSpPr>
          <p:cNvPr id="154" name="Shape 152"/>
          <p:cNvSpPr/>
          <p:nvPr/>
        </p:nvSpPr>
        <p:spPr>
          <a:xfrm>
            <a:off x="9026740"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58" name="Shape 156"/>
          <p:cNvSpPr/>
          <p:nvPr/>
        </p:nvSpPr>
        <p:spPr>
          <a:xfrm>
            <a:off x="8558784" y="4436723"/>
            <a:ext cx="402934" cy="110266"/>
          </a:xfrm>
          <a:prstGeom prst="rect">
            <a:avLst/>
          </a:prstGeom>
          <a:solidFill>
            <a:srgbClr val="C2352F"/>
          </a:solidFill>
          <a:ln/>
        </p:spPr>
      </p:sp>
      <p:sp>
        <p:nvSpPr>
          <p:cNvPr id="159" name="Shape 157"/>
          <p:cNvSpPr/>
          <p:nvPr/>
        </p:nvSpPr>
        <p:spPr>
          <a:xfrm>
            <a:off x="9026740"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63" name="Shape 161"/>
          <p:cNvSpPr/>
          <p:nvPr/>
        </p:nvSpPr>
        <p:spPr>
          <a:xfrm>
            <a:off x="8558784" y="4657254"/>
            <a:ext cx="399642" cy="110266"/>
          </a:xfrm>
          <a:prstGeom prst="rect">
            <a:avLst/>
          </a:prstGeom>
          <a:solidFill>
            <a:srgbClr val="C2352F"/>
          </a:solidFill>
          <a:ln/>
        </p:spPr>
      </p:sp>
      <p:sp>
        <p:nvSpPr>
          <p:cNvPr id="164" name="Shape 162"/>
          <p:cNvSpPr/>
          <p:nvPr/>
        </p:nvSpPr>
        <p:spPr>
          <a:xfrm>
            <a:off x="9026740"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68" name="Shape 166"/>
          <p:cNvSpPr/>
          <p:nvPr/>
        </p:nvSpPr>
        <p:spPr>
          <a:xfrm>
            <a:off x="8558784" y="4877786"/>
            <a:ext cx="386830" cy="110266"/>
          </a:xfrm>
          <a:prstGeom prst="rect">
            <a:avLst/>
          </a:prstGeom>
          <a:solidFill>
            <a:srgbClr val="C2352F"/>
          </a:solidFill>
          <a:ln/>
        </p:spPr>
      </p:sp>
      <p:sp>
        <p:nvSpPr>
          <p:cNvPr id="169" name="Shape 167"/>
          <p:cNvSpPr/>
          <p:nvPr/>
        </p:nvSpPr>
        <p:spPr>
          <a:xfrm>
            <a:off x="9026740"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73" name="Shape 171"/>
          <p:cNvSpPr/>
          <p:nvPr/>
        </p:nvSpPr>
        <p:spPr>
          <a:xfrm>
            <a:off x="8558784" y="5098318"/>
            <a:ext cx="363811" cy="110266"/>
          </a:xfrm>
          <a:prstGeom prst="rect">
            <a:avLst/>
          </a:prstGeom>
          <a:solidFill>
            <a:srgbClr val="C2352F"/>
          </a:solidFill>
          <a:ln/>
        </p:spPr>
      </p:sp>
      <p:sp>
        <p:nvSpPr>
          <p:cNvPr id="174" name="Shape 172"/>
          <p:cNvSpPr/>
          <p:nvPr/>
        </p:nvSpPr>
        <p:spPr>
          <a:xfrm>
            <a:off x="9026740"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8" name="Shape 176"/>
          <p:cNvSpPr/>
          <p:nvPr/>
        </p:nvSpPr>
        <p:spPr>
          <a:xfrm>
            <a:off x="8558784" y="5318850"/>
            <a:ext cx="338767" cy="110266"/>
          </a:xfrm>
          <a:prstGeom prst="rect">
            <a:avLst/>
          </a:prstGeom>
          <a:solidFill>
            <a:srgbClr val="C2352F"/>
          </a:solidFill>
          <a:ln/>
        </p:spPr>
      </p:sp>
      <p:sp>
        <p:nvSpPr>
          <p:cNvPr id="179" name="Shape 177"/>
          <p:cNvSpPr/>
          <p:nvPr/>
        </p:nvSpPr>
        <p:spPr>
          <a:xfrm>
            <a:off x="9026740"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83" name="Shape 181"/>
          <p:cNvSpPr/>
          <p:nvPr/>
        </p:nvSpPr>
        <p:spPr>
          <a:xfrm>
            <a:off x="8558784" y="5539381"/>
            <a:ext cx="329907" cy="110266"/>
          </a:xfrm>
          <a:prstGeom prst="rect">
            <a:avLst/>
          </a:prstGeom>
          <a:solidFill>
            <a:srgbClr val="C2352F"/>
          </a:solidFill>
          <a:ln/>
        </p:spPr>
      </p:sp>
      <p:sp>
        <p:nvSpPr>
          <p:cNvPr id="184" name="Shape 182"/>
          <p:cNvSpPr/>
          <p:nvPr/>
        </p:nvSpPr>
        <p:spPr>
          <a:xfrm>
            <a:off x="9026740"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$632 and 13 of 24 others beat $264. VW Henderson leads non-luxury at $389.</a:t>
            </a:r>
            <a:endParaRPr lang="en-US" sz="1600" dirty="0"/>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594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55269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46378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9" name="Shape 27"/>
          <p:cNvSpPr/>
          <p:nvPr/>
        </p:nvSpPr>
        <p:spPr>
          <a:xfrm>
            <a:off x="3785616" y="2871442"/>
            <a:ext cx="456716"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1435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7" name="Shape 35"/>
          <p:cNvSpPr/>
          <p:nvPr/>
        </p:nvSpPr>
        <p:spPr>
          <a:xfrm>
            <a:off x="3785616" y="3351233"/>
            <a:ext cx="4127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785616" y="3591128"/>
            <a:ext cx="40624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28805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785616" y="4070920"/>
            <a:ext cx="26304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24249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3785616" y="4550711"/>
            <a:ext cx="23502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215884"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785616" y="5030502"/>
            <a:ext cx="1783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3785616" y="5270397"/>
            <a:ext cx="17351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3" name="Shape 71"/>
          <p:cNvSpPr/>
          <p:nvPr/>
        </p:nvSpPr>
        <p:spPr>
          <a:xfrm>
            <a:off x="3785616" y="5510293"/>
            <a:ext cx="16262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7" name="Shape 75"/>
          <p:cNvSpPr/>
          <p:nvPr/>
        </p:nvSpPr>
        <p:spPr>
          <a:xfrm>
            <a:off x="3785616" y="5750188"/>
            <a:ext cx="15704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119398"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5" name="Shape 83"/>
          <p:cNvSpPr/>
          <p:nvPr/>
        </p:nvSpPr>
        <p:spPr>
          <a:xfrm>
            <a:off x="9336024" y="2151755"/>
            <a:ext cx="117460"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9" name="Shape 87"/>
          <p:cNvSpPr/>
          <p:nvPr/>
        </p:nvSpPr>
        <p:spPr>
          <a:xfrm>
            <a:off x="9336024" y="2391651"/>
            <a:ext cx="114434"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9336024" y="2631546"/>
            <a:ext cx="10153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7" name="Shape 95"/>
          <p:cNvSpPr/>
          <p:nvPr/>
        </p:nvSpPr>
        <p:spPr>
          <a:xfrm>
            <a:off x="9336024" y="2871442"/>
            <a:ext cx="97831"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90948"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5" name="Shape 103"/>
          <p:cNvSpPr/>
          <p:nvPr/>
        </p:nvSpPr>
        <p:spPr>
          <a:xfrm>
            <a:off x="9336024" y="3351233"/>
            <a:ext cx="55339"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336024" y="3591128"/>
            <a:ext cx="49679"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9336024" y="3831024"/>
            <a:ext cx="30084"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95589" y="4070920"/>
            <a:ext cx="40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9290140" y="4310815"/>
            <a:ext cx="4588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5" name="Shape 123"/>
          <p:cNvSpPr/>
          <p:nvPr/>
        </p:nvSpPr>
        <p:spPr>
          <a:xfrm>
            <a:off x="9274808" y="4550711"/>
            <a:ext cx="6121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9" name="Shape 127"/>
          <p:cNvSpPr/>
          <p:nvPr/>
        </p:nvSpPr>
        <p:spPr>
          <a:xfrm>
            <a:off x="9269533" y="4790606"/>
            <a:ext cx="6649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3" name="Shape 131"/>
          <p:cNvSpPr/>
          <p:nvPr/>
        </p:nvSpPr>
        <p:spPr>
          <a:xfrm>
            <a:off x="9197430" y="5030502"/>
            <a:ext cx="13859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9075430" y="5270397"/>
            <a:ext cx="260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917914" y="5510293"/>
            <a:ext cx="41811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6F6EE"/>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26 of 33 stores grew CP labor per RO, led by Lincoln at +$111 to $416. 7 declined; LR Reno fell most at −$59.</a:t>
            </a:r>
            <a:endParaRPr lang="en-US" sz="1450" dirty="0"/>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Parts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parts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parts sold through the service drive, per visit.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Parts follow labor: sell the hour and the parts come with it.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adds parts gross on the same car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Luxury stores run more than twice the rest, so compare a store with its own segment.</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repair and maintenance hours carry more parts</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bundles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Group-priced maintenance parts for dealer and customer</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we charge relative to cost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Staging and special orders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ready at the bay; special orders followed up</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$238 CP parts per RO, up $9 and ahead of 2025 in all nine months.</a:t>
            </a:r>
            <a:endParaRPr lang="en-US" sz="1600" dirty="0"/>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$228</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$238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$9 to $238, ahead of 2025 in all nine months. Parts sale grew $2,750,802 on flat RO count.</a:t>
            </a:r>
            <a:endParaRPr lang="en-US" sz="1600" dirty="0"/>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$238</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$534, non-luxury $202.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3973365"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$926</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451937"/>
            <a:ext cx="1541776" cy="110266"/>
          </a:xfrm>
          <a:prstGeom prst="rect">
            <a:avLst/>
          </a:prstGeom>
          <a:solidFill>
            <a:srgbClr val="12A566"/>
          </a:solidFill>
          <a:ln/>
        </p:spPr>
      </p:sp>
      <p:sp>
        <p:nvSpPr>
          <p:cNvPr id="22" name="Shape 20"/>
          <p:cNvSpPr/>
          <p:nvPr/>
        </p:nvSpPr>
        <p:spPr>
          <a:xfrm>
            <a:off x="3973365"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672468"/>
            <a:ext cx="1485880" cy="110266"/>
          </a:xfrm>
          <a:prstGeom prst="rect">
            <a:avLst/>
          </a:prstGeom>
          <a:solidFill>
            <a:srgbClr val="12A566"/>
          </a:solidFill>
          <a:ln/>
        </p:spPr>
      </p:sp>
      <p:sp>
        <p:nvSpPr>
          <p:cNvPr id="28" name="Shape 26"/>
          <p:cNvSpPr/>
          <p:nvPr/>
        </p:nvSpPr>
        <p:spPr>
          <a:xfrm>
            <a:off x="3973365"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$814</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33" name="Shape 31"/>
          <p:cNvSpPr/>
          <p:nvPr/>
        </p:nvSpPr>
        <p:spPr>
          <a:xfrm>
            <a:off x="3008376" y="2893000"/>
            <a:ext cx="1345914" cy="110266"/>
          </a:xfrm>
          <a:prstGeom prst="rect">
            <a:avLst/>
          </a:prstGeom>
          <a:solidFill>
            <a:srgbClr val="12A566"/>
          </a:solidFill>
          <a:ln/>
        </p:spPr>
      </p:sp>
      <p:sp>
        <p:nvSpPr>
          <p:cNvPr id="34" name="Shape 32"/>
          <p:cNvSpPr/>
          <p:nvPr/>
        </p:nvSpPr>
        <p:spPr>
          <a:xfrm>
            <a:off x="3973365"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$737</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39" name="Shape 37"/>
          <p:cNvSpPr/>
          <p:nvPr/>
        </p:nvSpPr>
        <p:spPr>
          <a:xfrm>
            <a:off x="3008376" y="3113532"/>
            <a:ext cx="989488" cy="110266"/>
          </a:xfrm>
          <a:prstGeom prst="rect">
            <a:avLst/>
          </a:prstGeom>
          <a:solidFill>
            <a:srgbClr val="12A566"/>
          </a:solidFill>
          <a:ln/>
        </p:spPr>
      </p:sp>
      <p:sp>
        <p:nvSpPr>
          <p:cNvPr id="40" name="Shape 38"/>
          <p:cNvSpPr/>
          <p:nvPr/>
        </p:nvSpPr>
        <p:spPr>
          <a:xfrm>
            <a:off x="3973365"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$542</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008376" y="3334064"/>
            <a:ext cx="920175" cy="110266"/>
          </a:xfrm>
          <a:prstGeom prst="rect">
            <a:avLst/>
          </a:prstGeom>
          <a:solidFill>
            <a:srgbClr val="C2352F"/>
          </a:solidFill>
          <a:ln/>
        </p:spPr>
      </p:sp>
      <p:sp>
        <p:nvSpPr>
          <p:cNvPr id="46" name="Shape 44"/>
          <p:cNvSpPr/>
          <p:nvPr/>
        </p:nvSpPr>
        <p:spPr>
          <a:xfrm>
            <a:off x="3973365"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$504</a:t>
            </a:r>
            <a:endParaRPr lang="en-US" sz="1200" dirty="0"/>
          </a:p>
        </p:txBody>
      </p:sp>
      <p:sp>
        <p:nvSpPr>
          <p:cNvPr id="48" name="Shape 46"/>
          <p:cNvSpPr/>
          <p:nvPr/>
        </p:nvSpPr>
        <p:spPr>
          <a:xfrm>
            <a:off x="603504" y="3499463"/>
            <a:ext cx="5358384" cy="220532"/>
          </a:xfrm>
          <a:prstGeom prst="rect">
            <a:avLst/>
          </a:prstGeom>
          <a:solidFill>
            <a:srgbClr val="EDF4FA"/>
          </a:solidFill>
          <a:ln/>
        </p:spPr>
      </p:sp>
      <p:sp>
        <p:nvSpPr>
          <p:cNvPr id="49" name="Text 47"/>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0" name="Text 48"/>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1" name="Shape 49"/>
          <p:cNvSpPr/>
          <p:nvPr/>
        </p:nvSpPr>
        <p:spPr>
          <a:xfrm>
            <a:off x="3008376" y="3554596"/>
            <a:ext cx="662639" cy="110266"/>
          </a:xfrm>
          <a:prstGeom prst="rect">
            <a:avLst/>
          </a:prstGeom>
          <a:solidFill>
            <a:srgbClr val="C2352F"/>
          </a:solidFill>
          <a:ln/>
        </p:spPr>
      </p:sp>
      <p:sp>
        <p:nvSpPr>
          <p:cNvPr id="52" name="Shape 50"/>
          <p:cNvSpPr/>
          <p:nvPr/>
        </p:nvSpPr>
        <p:spPr>
          <a:xfrm>
            <a:off x="3973365" y="3521516"/>
            <a:ext cx="21946" cy="176425"/>
          </a:xfrm>
          <a:prstGeom prst="rect">
            <a:avLst/>
          </a:prstGeom>
          <a:solidFill>
            <a:srgbClr val="0B2C4A"/>
          </a:solidFill>
          <a:ln/>
        </p:spPr>
      </p:sp>
      <p:sp>
        <p:nvSpPr>
          <p:cNvPr id="53" name="Text 51"/>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$363</a:t>
            </a:r>
            <a:endParaRPr lang="en-US" sz="1200" dirty="0"/>
          </a:p>
        </p:txBody>
      </p:sp>
      <p:sp>
        <p:nvSpPr>
          <p:cNvPr id="54" name="Shape 52"/>
          <p:cNvSpPr/>
          <p:nvPr/>
        </p:nvSpPr>
        <p:spPr>
          <a:xfrm>
            <a:off x="603504" y="3719994"/>
            <a:ext cx="5358384" cy="220532"/>
          </a:xfrm>
          <a:prstGeom prst="rect">
            <a:avLst/>
          </a:prstGeom>
          <a:solidFill>
            <a:srgbClr val="EDF4FA"/>
          </a:solidFill>
          <a:ln/>
        </p:spPr>
      </p:sp>
      <p:sp>
        <p:nvSpPr>
          <p:cNvPr id="55" name="Text 53"/>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6" name="Text 54"/>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3775127"/>
            <a:ext cx="638712" cy="110266"/>
          </a:xfrm>
          <a:prstGeom prst="rect">
            <a:avLst/>
          </a:prstGeom>
          <a:solidFill>
            <a:srgbClr val="C2352F"/>
          </a:solidFill>
          <a:ln/>
        </p:spPr>
      </p:sp>
      <p:sp>
        <p:nvSpPr>
          <p:cNvPr id="58" name="Shape 56"/>
          <p:cNvSpPr/>
          <p:nvPr/>
        </p:nvSpPr>
        <p:spPr>
          <a:xfrm>
            <a:off x="3973365" y="3742048"/>
            <a:ext cx="21946" cy="176425"/>
          </a:xfrm>
          <a:prstGeom prst="rect">
            <a:avLst/>
          </a:prstGeom>
          <a:solidFill>
            <a:srgbClr val="0B2C4A"/>
          </a:solidFill>
          <a:ln/>
        </p:spPr>
      </p:sp>
      <p:sp>
        <p:nvSpPr>
          <p:cNvPr id="59" name="Text 57"/>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60" name="Text 58"/>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3995659"/>
            <a:ext cx="605911" cy="110266"/>
          </a:xfrm>
          <a:prstGeom prst="rect">
            <a:avLst/>
          </a:prstGeom>
          <a:solidFill>
            <a:srgbClr val="12A566"/>
          </a:solidFill>
          <a:ln/>
        </p:spPr>
      </p:sp>
      <p:sp>
        <p:nvSpPr>
          <p:cNvPr id="63" name="Shape 61"/>
          <p:cNvSpPr/>
          <p:nvPr/>
        </p:nvSpPr>
        <p:spPr>
          <a:xfrm>
            <a:off x="3366736" y="3962579"/>
            <a:ext cx="21946" cy="176425"/>
          </a:xfrm>
          <a:prstGeom prst="rect">
            <a:avLst/>
          </a:prstGeom>
          <a:solidFill>
            <a:srgbClr val="0B2C4A"/>
          </a:solidFill>
          <a:ln/>
        </p:spPr>
      </p:sp>
      <p:sp>
        <p:nvSpPr>
          <p:cNvPr id="64" name="Text 62"/>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5" name="Text 63"/>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7" name="Shape 65"/>
          <p:cNvSpPr/>
          <p:nvPr/>
        </p:nvSpPr>
        <p:spPr>
          <a:xfrm>
            <a:off x="3008376" y="4216191"/>
            <a:ext cx="530367" cy="110266"/>
          </a:xfrm>
          <a:prstGeom prst="rect">
            <a:avLst/>
          </a:prstGeom>
          <a:solidFill>
            <a:srgbClr val="12A566"/>
          </a:solidFill>
          <a:ln/>
        </p:spPr>
      </p:sp>
      <p:sp>
        <p:nvSpPr>
          <p:cNvPr id="68" name="Shape 66"/>
          <p:cNvSpPr/>
          <p:nvPr/>
        </p:nvSpPr>
        <p:spPr>
          <a:xfrm>
            <a:off x="3366736" y="4183111"/>
            <a:ext cx="21946" cy="176425"/>
          </a:xfrm>
          <a:prstGeom prst="rect">
            <a:avLst/>
          </a:prstGeom>
          <a:solidFill>
            <a:srgbClr val="0B2C4A"/>
          </a:solidFill>
          <a:ln/>
        </p:spPr>
      </p:sp>
      <p:sp>
        <p:nvSpPr>
          <p:cNvPr id="69" name="Text 67"/>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70" name="Text 68"/>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1" name="Text 69"/>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2" name="Shape 70"/>
          <p:cNvSpPr/>
          <p:nvPr/>
        </p:nvSpPr>
        <p:spPr>
          <a:xfrm>
            <a:off x="3008376" y="4436723"/>
            <a:ext cx="513720" cy="110266"/>
          </a:xfrm>
          <a:prstGeom prst="rect">
            <a:avLst/>
          </a:prstGeom>
          <a:solidFill>
            <a:srgbClr val="12A566"/>
          </a:solidFill>
          <a:ln/>
        </p:spPr>
      </p:sp>
      <p:sp>
        <p:nvSpPr>
          <p:cNvPr id="73" name="Shape 71"/>
          <p:cNvSpPr/>
          <p:nvPr/>
        </p:nvSpPr>
        <p:spPr>
          <a:xfrm>
            <a:off x="3366736" y="4403643"/>
            <a:ext cx="21946" cy="176425"/>
          </a:xfrm>
          <a:prstGeom prst="rect">
            <a:avLst/>
          </a:prstGeom>
          <a:solidFill>
            <a:srgbClr val="0B2C4A"/>
          </a:solidFill>
          <a:ln/>
        </p:spPr>
      </p:sp>
      <p:sp>
        <p:nvSpPr>
          <p:cNvPr id="74" name="Text 72"/>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75" name="Text 73"/>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6" name="Text 74"/>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4657254"/>
            <a:ext cx="512202" cy="110266"/>
          </a:xfrm>
          <a:prstGeom prst="rect">
            <a:avLst/>
          </a:prstGeom>
          <a:solidFill>
            <a:srgbClr val="12A566"/>
          </a:solidFill>
          <a:ln/>
        </p:spPr>
      </p:sp>
      <p:sp>
        <p:nvSpPr>
          <p:cNvPr id="78" name="Shape 76"/>
          <p:cNvSpPr/>
          <p:nvPr/>
        </p:nvSpPr>
        <p:spPr>
          <a:xfrm>
            <a:off x="3366736" y="4624175"/>
            <a:ext cx="21946" cy="176425"/>
          </a:xfrm>
          <a:prstGeom prst="rect">
            <a:avLst/>
          </a:prstGeom>
          <a:solidFill>
            <a:srgbClr val="0B2C4A"/>
          </a:solidFill>
          <a:ln/>
        </p:spPr>
      </p:sp>
      <p:sp>
        <p:nvSpPr>
          <p:cNvPr id="79" name="Text 77"/>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80" name="Text 78"/>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1" name="Text 79"/>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2" name="Shape 80"/>
          <p:cNvSpPr/>
          <p:nvPr/>
        </p:nvSpPr>
        <p:spPr>
          <a:xfrm>
            <a:off x="3008376" y="4877786"/>
            <a:ext cx="512048" cy="110266"/>
          </a:xfrm>
          <a:prstGeom prst="rect">
            <a:avLst/>
          </a:prstGeom>
          <a:solidFill>
            <a:srgbClr val="12A566"/>
          </a:solidFill>
          <a:ln/>
        </p:spPr>
      </p:sp>
      <p:sp>
        <p:nvSpPr>
          <p:cNvPr id="83" name="Shape 81"/>
          <p:cNvSpPr/>
          <p:nvPr/>
        </p:nvSpPr>
        <p:spPr>
          <a:xfrm>
            <a:off x="3366736" y="4844706"/>
            <a:ext cx="21946" cy="176425"/>
          </a:xfrm>
          <a:prstGeom prst="rect">
            <a:avLst/>
          </a:prstGeom>
          <a:solidFill>
            <a:srgbClr val="0B2C4A"/>
          </a:solidFill>
          <a:ln/>
        </p:spPr>
      </p:sp>
      <p:sp>
        <p:nvSpPr>
          <p:cNvPr id="84" name="Text 82"/>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85" name="Text 83"/>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6" name="Text 84"/>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7" name="Shape 85"/>
          <p:cNvSpPr/>
          <p:nvPr/>
        </p:nvSpPr>
        <p:spPr>
          <a:xfrm>
            <a:off x="3008376" y="5098318"/>
            <a:ext cx="504718" cy="110266"/>
          </a:xfrm>
          <a:prstGeom prst="rect">
            <a:avLst/>
          </a:prstGeom>
          <a:solidFill>
            <a:srgbClr val="12A566"/>
          </a:solidFill>
          <a:ln/>
        </p:spPr>
      </p:sp>
      <p:sp>
        <p:nvSpPr>
          <p:cNvPr id="88" name="Shape 86"/>
          <p:cNvSpPr/>
          <p:nvPr/>
        </p:nvSpPr>
        <p:spPr>
          <a:xfrm>
            <a:off x="3366736" y="5065238"/>
            <a:ext cx="21946" cy="176425"/>
          </a:xfrm>
          <a:prstGeom prst="rect">
            <a:avLst/>
          </a:prstGeom>
          <a:solidFill>
            <a:srgbClr val="0B2C4A"/>
          </a:solidFill>
          <a:ln/>
        </p:spPr>
      </p:sp>
      <p:sp>
        <p:nvSpPr>
          <p:cNvPr id="89" name="Text 87"/>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$276</a:t>
            </a:r>
            <a:endParaRPr lang="en-US" sz="1200" dirty="0"/>
          </a:p>
        </p:txBody>
      </p:sp>
      <p:sp>
        <p:nvSpPr>
          <p:cNvPr id="90" name="Text 88"/>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1" name="Text 89"/>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2" name="Shape 90"/>
          <p:cNvSpPr/>
          <p:nvPr/>
        </p:nvSpPr>
        <p:spPr>
          <a:xfrm>
            <a:off x="3008376" y="5318850"/>
            <a:ext cx="490804" cy="110266"/>
          </a:xfrm>
          <a:prstGeom prst="rect">
            <a:avLst/>
          </a:prstGeom>
          <a:solidFill>
            <a:srgbClr val="12A566"/>
          </a:solidFill>
          <a:ln/>
        </p:spPr>
      </p:sp>
      <p:sp>
        <p:nvSpPr>
          <p:cNvPr id="93" name="Shape 91"/>
          <p:cNvSpPr/>
          <p:nvPr/>
        </p:nvSpPr>
        <p:spPr>
          <a:xfrm>
            <a:off x="3366736" y="5285770"/>
            <a:ext cx="21946" cy="176425"/>
          </a:xfrm>
          <a:prstGeom prst="rect">
            <a:avLst/>
          </a:prstGeom>
          <a:solidFill>
            <a:srgbClr val="0B2C4A"/>
          </a:solidFill>
          <a:ln/>
        </p:spPr>
      </p:sp>
      <p:sp>
        <p:nvSpPr>
          <p:cNvPr id="94" name="Text 92"/>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95" name="Text 93"/>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6" name="Text 94"/>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3008376" y="5539381"/>
            <a:ext cx="482409" cy="110266"/>
          </a:xfrm>
          <a:prstGeom prst="rect">
            <a:avLst/>
          </a:prstGeom>
          <a:solidFill>
            <a:srgbClr val="12A566"/>
          </a:solidFill>
          <a:ln/>
        </p:spPr>
      </p:sp>
      <p:sp>
        <p:nvSpPr>
          <p:cNvPr id="98" name="Shape 96"/>
          <p:cNvSpPr/>
          <p:nvPr/>
        </p:nvSpPr>
        <p:spPr>
          <a:xfrm>
            <a:off x="3366736" y="5506302"/>
            <a:ext cx="21946" cy="176425"/>
          </a:xfrm>
          <a:prstGeom prst="rect">
            <a:avLst/>
          </a:prstGeom>
          <a:solidFill>
            <a:srgbClr val="0B2C4A"/>
          </a:solidFill>
          <a:ln/>
        </p:spPr>
      </p:sp>
      <p:sp>
        <p:nvSpPr>
          <p:cNvPr id="99" name="Text 97"/>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$264</a:t>
            </a:r>
            <a:endParaRPr lang="en-US" sz="1200" dirty="0"/>
          </a:p>
        </p:txBody>
      </p:sp>
      <p:sp>
        <p:nvSpPr>
          <p:cNvPr id="100" name="Text 98"/>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1" name="Text 99"/>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2" name="Shape 100"/>
          <p:cNvSpPr/>
          <p:nvPr/>
        </p:nvSpPr>
        <p:spPr>
          <a:xfrm>
            <a:off x="3008376" y="5759913"/>
            <a:ext cx="473753" cy="110266"/>
          </a:xfrm>
          <a:prstGeom prst="rect">
            <a:avLst/>
          </a:prstGeom>
          <a:solidFill>
            <a:srgbClr val="12A566"/>
          </a:solidFill>
          <a:ln/>
        </p:spPr>
      </p:sp>
      <p:sp>
        <p:nvSpPr>
          <p:cNvPr id="103" name="Shape 101"/>
          <p:cNvSpPr/>
          <p:nvPr/>
        </p:nvSpPr>
        <p:spPr>
          <a:xfrm>
            <a:off x="3366736" y="5726833"/>
            <a:ext cx="21946" cy="176425"/>
          </a:xfrm>
          <a:prstGeom prst="rect">
            <a:avLst/>
          </a:prstGeom>
          <a:solidFill>
            <a:srgbClr val="0B2C4A"/>
          </a:solidFill>
          <a:ln/>
        </p:spPr>
      </p:sp>
      <p:sp>
        <p:nvSpPr>
          <p:cNvPr id="104" name="Text 102"/>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$259</a:t>
            </a:r>
            <a:endParaRPr lang="en-US" sz="1200" dirty="0"/>
          </a:p>
        </p:txBody>
      </p:sp>
      <p:sp>
        <p:nvSpPr>
          <p:cNvPr id="105" name="Shape 103"/>
          <p:cNvSpPr/>
          <p:nvPr/>
        </p:nvSpPr>
        <p:spPr>
          <a:xfrm>
            <a:off x="6153912" y="2176272"/>
            <a:ext cx="5358384" cy="220532"/>
          </a:xfrm>
          <a:prstGeom prst="rect">
            <a:avLst/>
          </a:prstGeom>
          <a:solidFill>
            <a:srgbClr val="EDF4FA"/>
          </a:solidFill>
          <a:ln/>
        </p:spPr>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108" name="Shape 106"/>
          <p:cNvSpPr/>
          <p:nvPr/>
        </p:nvSpPr>
        <p:spPr>
          <a:xfrm>
            <a:off x="8558784" y="2231405"/>
            <a:ext cx="438765" cy="110266"/>
          </a:xfrm>
          <a:prstGeom prst="rect">
            <a:avLst/>
          </a:prstGeom>
          <a:solidFill>
            <a:srgbClr val="C2352F"/>
          </a:solidFill>
          <a:ln/>
        </p:spPr>
      </p:sp>
      <p:sp>
        <p:nvSpPr>
          <p:cNvPr id="109" name="Shape 107"/>
          <p:cNvSpPr/>
          <p:nvPr/>
        </p:nvSpPr>
        <p:spPr>
          <a:xfrm>
            <a:off x="9523773"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$240</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3" name="Shape 111"/>
          <p:cNvSpPr/>
          <p:nvPr/>
        </p:nvSpPr>
        <p:spPr>
          <a:xfrm>
            <a:off x="8558784" y="2451937"/>
            <a:ext cx="429723" cy="110266"/>
          </a:xfrm>
          <a:prstGeom prst="rect">
            <a:avLst/>
          </a:prstGeom>
          <a:solidFill>
            <a:srgbClr val="12A566"/>
          </a:solidFill>
          <a:ln/>
        </p:spPr>
      </p:sp>
      <p:sp>
        <p:nvSpPr>
          <p:cNvPr id="114" name="Shape 112"/>
          <p:cNvSpPr/>
          <p:nvPr/>
        </p:nvSpPr>
        <p:spPr>
          <a:xfrm>
            <a:off x="8917144"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8" name="Shape 116"/>
          <p:cNvSpPr/>
          <p:nvPr/>
        </p:nvSpPr>
        <p:spPr>
          <a:xfrm>
            <a:off x="8558784" y="2672468"/>
            <a:ext cx="399397" cy="110266"/>
          </a:xfrm>
          <a:prstGeom prst="rect">
            <a:avLst/>
          </a:prstGeom>
          <a:solidFill>
            <a:srgbClr val="12A566"/>
          </a:solidFill>
          <a:ln/>
        </p:spPr>
      </p:sp>
      <p:sp>
        <p:nvSpPr>
          <p:cNvPr id="119" name="Shape 117"/>
          <p:cNvSpPr/>
          <p:nvPr/>
        </p:nvSpPr>
        <p:spPr>
          <a:xfrm>
            <a:off x="8917144"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$219</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3" name="Shape 121"/>
          <p:cNvSpPr/>
          <p:nvPr/>
        </p:nvSpPr>
        <p:spPr>
          <a:xfrm>
            <a:off x="8558784" y="2893000"/>
            <a:ext cx="395536" cy="110266"/>
          </a:xfrm>
          <a:prstGeom prst="rect">
            <a:avLst/>
          </a:prstGeom>
          <a:solidFill>
            <a:srgbClr val="12A566"/>
          </a:solidFill>
          <a:ln/>
        </p:spPr>
      </p:sp>
      <p:sp>
        <p:nvSpPr>
          <p:cNvPr id="124" name="Shape 122"/>
          <p:cNvSpPr/>
          <p:nvPr/>
        </p:nvSpPr>
        <p:spPr>
          <a:xfrm>
            <a:off x="8917144"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8" name="Shape 126"/>
          <p:cNvSpPr/>
          <p:nvPr/>
        </p:nvSpPr>
        <p:spPr>
          <a:xfrm>
            <a:off x="8558784" y="3113532"/>
            <a:ext cx="389519" cy="110266"/>
          </a:xfrm>
          <a:prstGeom prst="rect">
            <a:avLst/>
          </a:prstGeom>
          <a:solidFill>
            <a:srgbClr val="12A566"/>
          </a:solidFill>
          <a:ln/>
        </p:spPr>
      </p:sp>
      <p:sp>
        <p:nvSpPr>
          <p:cNvPr id="129" name="Shape 127"/>
          <p:cNvSpPr/>
          <p:nvPr/>
        </p:nvSpPr>
        <p:spPr>
          <a:xfrm>
            <a:off x="8917144"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3334064"/>
            <a:ext cx="388427" cy="110266"/>
          </a:xfrm>
          <a:prstGeom prst="rect">
            <a:avLst/>
          </a:prstGeom>
          <a:solidFill>
            <a:srgbClr val="12A566"/>
          </a:solidFill>
          <a:ln/>
        </p:spPr>
      </p:sp>
      <p:sp>
        <p:nvSpPr>
          <p:cNvPr id="134" name="Shape 132"/>
          <p:cNvSpPr/>
          <p:nvPr/>
        </p:nvSpPr>
        <p:spPr>
          <a:xfrm>
            <a:off x="8917144"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8" name="Shape 136"/>
          <p:cNvSpPr/>
          <p:nvPr/>
        </p:nvSpPr>
        <p:spPr>
          <a:xfrm>
            <a:off x="8558784" y="3554596"/>
            <a:ext cx="387519" cy="110266"/>
          </a:xfrm>
          <a:prstGeom prst="rect">
            <a:avLst/>
          </a:prstGeom>
          <a:solidFill>
            <a:srgbClr val="12A566"/>
          </a:solidFill>
          <a:ln/>
        </p:spPr>
      </p:sp>
      <p:sp>
        <p:nvSpPr>
          <p:cNvPr id="139" name="Shape 137"/>
          <p:cNvSpPr/>
          <p:nvPr/>
        </p:nvSpPr>
        <p:spPr>
          <a:xfrm>
            <a:off x="8917144"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43" name="Shape 141"/>
          <p:cNvSpPr/>
          <p:nvPr/>
        </p:nvSpPr>
        <p:spPr>
          <a:xfrm>
            <a:off x="8558784" y="3775127"/>
            <a:ext cx="379922" cy="110266"/>
          </a:xfrm>
          <a:prstGeom prst="rect">
            <a:avLst/>
          </a:prstGeom>
          <a:solidFill>
            <a:srgbClr val="12A566"/>
          </a:solidFill>
          <a:ln/>
        </p:spPr>
      </p:sp>
      <p:sp>
        <p:nvSpPr>
          <p:cNvPr id="144" name="Shape 142"/>
          <p:cNvSpPr/>
          <p:nvPr/>
        </p:nvSpPr>
        <p:spPr>
          <a:xfrm>
            <a:off x="8917144"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8" name="Shape 146"/>
          <p:cNvSpPr/>
          <p:nvPr/>
        </p:nvSpPr>
        <p:spPr>
          <a:xfrm>
            <a:off x="8558784" y="3995659"/>
            <a:ext cx="358076" cy="110266"/>
          </a:xfrm>
          <a:prstGeom prst="rect">
            <a:avLst/>
          </a:prstGeom>
          <a:solidFill>
            <a:srgbClr val="C2352F"/>
          </a:solidFill>
          <a:ln/>
        </p:spPr>
      </p:sp>
      <p:sp>
        <p:nvSpPr>
          <p:cNvPr id="149" name="Shape 147"/>
          <p:cNvSpPr/>
          <p:nvPr/>
        </p:nvSpPr>
        <p:spPr>
          <a:xfrm>
            <a:off x="8917144"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$196</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3" name="Shape 151"/>
          <p:cNvSpPr/>
          <p:nvPr/>
        </p:nvSpPr>
        <p:spPr>
          <a:xfrm>
            <a:off x="8558784" y="4216191"/>
            <a:ext cx="352758" cy="110266"/>
          </a:xfrm>
          <a:prstGeom prst="rect">
            <a:avLst/>
          </a:prstGeom>
          <a:solidFill>
            <a:srgbClr val="C2352F"/>
          </a:solidFill>
          <a:ln/>
        </p:spPr>
      </p:sp>
      <p:sp>
        <p:nvSpPr>
          <p:cNvPr id="154" name="Shape 152"/>
          <p:cNvSpPr/>
          <p:nvPr/>
        </p:nvSpPr>
        <p:spPr>
          <a:xfrm>
            <a:off x="8917144"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8" name="Shape 156"/>
          <p:cNvSpPr/>
          <p:nvPr/>
        </p:nvSpPr>
        <p:spPr>
          <a:xfrm>
            <a:off x="8558784" y="4436723"/>
            <a:ext cx="334216" cy="110266"/>
          </a:xfrm>
          <a:prstGeom prst="rect">
            <a:avLst/>
          </a:prstGeom>
          <a:solidFill>
            <a:srgbClr val="C2352F"/>
          </a:solidFill>
          <a:ln/>
        </p:spPr>
      </p:sp>
      <p:sp>
        <p:nvSpPr>
          <p:cNvPr id="159" name="Shape 157"/>
          <p:cNvSpPr/>
          <p:nvPr/>
        </p:nvSpPr>
        <p:spPr>
          <a:xfrm>
            <a:off x="8917144"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$183</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63" name="Shape 161"/>
          <p:cNvSpPr/>
          <p:nvPr/>
        </p:nvSpPr>
        <p:spPr>
          <a:xfrm>
            <a:off x="8558784" y="4657254"/>
            <a:ext cx="330484" cy="110266"/>
          </a:xfrm>
          <a:prstGeom prst="rect">
            <a:avLst/>
          </a:prstGeom>
          <a:solidFill>
            <a:srgbClr val="C2352F"/>
          </a:solidFill>
          <a:ln/>
        </p:spPr>
      </p:sp>
      <p:sp>
        <p:nvSpPr>
          <p:cNvPr id="164" name="Shape 162"/>
          <p:cNvSpPr/>
          <p:nvPr/>
        </p:nvSpPr>
        <p:spPr>
          <a:xfrm>
            <a:off x="8917144"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68" name="Shape 166"/>
          <p:cNvSpPr/>
          <p:nvPr/>
        </p:nvSpPr>
        <p:spPr>
          <a:xfrm>
            <a:off x="8558784" y="4877786"/>
            <a:ext cx="310845" cy="110266"/>
          </a:xfrm>
          <a:prstGeom prst="rect">
            <a:avLst/>
          </a:prstGeom>
          <a:solidFill>
            <a:srgbClr val="C2352F"/>
          </a:solidFill>
          <a:ln/>
        </p:spPr>
      </p:sp>
      <p:sp>
        <p:nvSpPr>
          <p:cNvPr id="169" name="Shape 167"/>
          <p:cNvSpPr/>
          <p:nvPr/>
        </p:nvSpPr>
        <p:spPr>
          <a:xfrm>
            <a:off x="8917144"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3" name="Shape 171"/>
          <p:cNvSpPr/>
          <p:nvPr/>
        </p:nvSpPr>
        <p:spPr>
          <a:xfrm>
            <a:off x="8558784" y="5098318"/>
            <a:ext cx="280562" cy="110266"/>
          </a:xfrm>
          <a:prstGeom prst="rect">
            <a:avLst/>
          </a:prstGeom>
          <a:solidFill>
            <a:srgbClr val="C2352F"/>
          </a:solidFill>
          <a:ln/>
        </p:spPr>
      </p:sp>
      <p:sp>
        <p:nvSpPr>
          <p:cNvPr id="174" name="Shape 172"/>
          <p:cNvSpPr/>
          <p:nvPr/>
        </p:nvSpPr>
        <p:spPr>
          <a:xfrm>
            <a:off x="8917144"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8" name="Shape 176"/>
          <p:cNvSpPr/>
          <p:nvPr/>
        </p:nvSpPr>
        <p:spPr>
          <a:xfrm>
            <a:off x="8558784" y="5318850"/>
            <a:ext cx="279550" cy="110266"/>
          </a:xfrm>
          <a:prstGeom prst="rect">
            <a:avLst/>
          </a:prstGeom>
          <a:solidFill>
            <a:srgbClr val="C2352F"/>
          </a:solidFill>
          <a:ln/>
        </p:spPr>
      </p:sp>
      <p:sp>
        <p:nvSpPr>
          <p:cNvPr id="179" name="Shape 177"/>
          <p:cNvSpPr/>
          <p:nvPr/>
        </p:nvSpPr>
        <p:spPr>
          <a:xfrm>
            <a:off x="8917144"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3" name="Shape 181"/>
          <p:cNvSpPr/>
          <p:nvPr/>
        </p:nvSpPr>
        <p:spPr>
          <a:xfrm>
            <a:off x="8558784" y="5539381"/>
            <a:ext cx="271900" cy="110266"/>
          </a:xfrm>
          <a:prstGeom prst="rect">
            <a:avLst/>
          </a:prstGeom>
          <a:solidFill>
            <a:srgbClr val="C2352F"/>
          </a:solidFill>
          <a:ln/>
        </p:spPr>
      </p:sp>
      <p:sp>
        <p:nvSpPr>
          <p:cNvPr id="184" name="Shape 182"/>
          <p:cNvSpPr/>
          <p:nvPr/>
        </p:nvSpPr>
        <p:spPr>
          <a:xfrm>
            <a:off x="8917144"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$534 and 16 of 24 others beat $202. CDJR Post Falls leads non-luxury at $332.</a:t>
            </a:r>
            <a:endParaRPr lang="en-US" sz="160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+$9</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66505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38947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34394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9" name="Shape 27"/>
          <p:cNvSpPr/>
          <p:nvPr/>
        </p:nvSpPr>
        <p:spPr>
          <a:xfrm>
            <a:off x="3785616" y="2871442"/>
            <a:ext cx="31041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3" name="Shape 31"/>
          <p:cNvSpPr/>
          <p:nvPr/>
        </p:nvSpPr>
        <p:spPr>
          <a:xfrm>
            <a:off x="3785616" y="3111337"/>
            <a:ext cx="30872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785616" y="3351233"/>
            <a:ext cx="27372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23756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5" name="Shape 43"/>
          <p:cNvSpPr/>
          <p:nvPr/>
        </p:nvSpPr>
        <p:spPr>
          <a:xfrm>
            <a:off x="3785616" y="3831024"/>
            <a:ext cx="22892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4091"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20509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20425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85616" y="4790606"/>
            <a:ext cx="16960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5467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3785616" y="5270397"/>
            <a:ext cx="11795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3" name="Shape 71"/>
          <p:cNvSpPr/>
          <p:nvPr/>
        </p:nvSpPr>
        <p:spPr>
          <a:xfrm>
            <a:off x="3785616" y="5510293"/>
            <a:ext cx="11559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0163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9899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9336024" y="2151755"/>
            <a:ext cx="93828"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905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9336024" y="2631546"/>
            <a:ext cx="74734"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6812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36024" y="3111337"/>
            <a:ext cx="25513"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9336024" y="3351233"/>
            <a:ext cx="21241"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331304"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327299"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18567" y="4070920"/>
            <a:ext cx="1745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1" name="Shape 119"/>
          <p:cNvSpPr/>
          <p:nvPr/>
        </p:nvSpPr>
        <p:spPr>
          <a:xfrm>
            <a:off x="9280372" y="4310815"/>
            <a:ext cx="5565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9270637" y="4550711"/>
            <a:ext cx="6538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9" name="Shape 127"/>
          <p:cNvSpPr/>
          <p:nvPr/>
        </p:nvSpPr>
        <p:spPr>
          <a:xfrm>
            <a:off x="9252775" y="4790606"/>
            <a:ext cx="8324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3" name="Shape 131"/>
          <p:cNvSpPr/>
          <p:nvPr/>
        </p:nvSpPr>
        <p:spPr>
          <a:xfrm>
            <a:off x="9055699" y="5030502"/>
            <a:ext cx="28032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8893265" y="5270397"/>
            <a:ext cx="442759"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826714" y="5510293"/>
            <a:ext cx="50931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1376"/>
          </a:xfrm>
          <a:prstGeom prst="rect">
            <a:avLst/>
          </a:prstGeom>
          <a:solidFill>
            <a:srgbClr val="E6F6EE"/>
          </a:solidFill>
          <a:ln/>
        </p:spPr>
      </p:sp>
      <p:sp>
        <p:nvSpPr>
          <p:cNvPr id="147" name="Text 14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24 of 33 stores grew CP parts per RO, led by LR Henderson at +$95 to $926. 9 declined; LR Reno fell most at −$62.</a:t>
            </a:r>
            <a:endParaRPr lang="en-US" sz="1400" dirty="0"/>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+5.1%: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$224 to $298, stepping up in June. Ask what changed that month.</a:t>
            </a:r>
            <a:endParaRPr lang="en-US" sz="1600" dirty="0"/>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Goldilocks Margin</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Gross profit % is the share of labor you keep after paying the tech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Not too high, not too low: 78% to 80%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Skill code costing: a hybrid of traditional and percentage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Right tech, right job</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80.8%</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gross profit, down 0.1 pts. Just above the 78-80% target.</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40.7%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parts gross profit, up 1.2 pts and ahead in all nine months.</a:t>
            </a:r>
            <a:endParaRPr lang="en-US" sz="1400" dirty="0"/>
          </a:p>
        </p:txBody>
      </p:sp>
      <p:sp>
        <p:nvSpPr>
          <p:cNvPr id="16" name="Shape 14"/>
          <p:cNvSpPr/>
          <p:nvPr/>
        </p:nvSpPr>
        <p:spPr>
          <a:xfrm>
            <a:off x="457200" y="6126480"/>
            <a:ext cx="11274552" cy="356616"/>
          </a:xfrm>
          <a:prstGeom prst="rect">
            <a:avLst/>
          </a:prstGeom>
          <a:solidFill>
            <a:srgbClr val="EDF4FA"/>
          </a:solidFill>
          <a:ln/>
        </p:spPr>
      </p:sp>
      <p:sp>
        <p:nvSpPr>
          <p:cNvPr id="17" name="Text 1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ask: hold labor margin in the 78-80% band by matching the tech to the job, not by squeezing tech pay.</a:t>
            </a:r>
            <a:endParaRPr lang="en-US" sz="1500" dirty="0"/>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 The Roundtable target is 78% to 80%.</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Roundtable example</a:t>
            </a:r>
            <a:endParaRPr lang="en-US" sz="1400" dirty="0"/>
          </a:p>
        </p:txBody>
      </p:sp>
      <p:sp>
        <p:nvSpPr>
          <p:cNvPr id="9" name="Shape 7"/>
          <p:cNvSpPr/>
          <p:nvPr/>
        </p:nvSpPr>
        <p:spPr>
          <a:xfrm>
            <a:off x="2286000" y="2340864"/>
            <a:ext cx="1801368"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rotation  </a:t>
            </a:r>
            <a:pPr algn="ctr" indent="0" marL="0">
              <a:buNone/>
            </a:pPr>
            <a:r>
              <a:rPr lang="en-US" sz="1400" b="1" dirty="0">
                <a:solidFill>
                  <a:srgbClr val="0B2C4A"/>
                </a:solidFill>
                <a:latin typeface="Inter" pitchFamily="34" charset="0"/>
                <a:ea typeface="Inter" pitchFamily="34" charset="-122"/>
                <a:cs typeface="Inter" pitchFamily="34" charset="-120"/>
              </a:rPr>
              <a:t>62.4%</a:t>
            </a:r>
            <a:endParaRPr lang="en-US" sz="1400" dirty="0"/>
          </a:p>
        </p:txBody>
      </p:sp>
      <p:sp>
        <p:nvSpPr>
          <p:cNvPr id="11" name="Shape 9"/>
          <p:cNvSpPr/>
          <p:nvPr/>
        </p:nvSpPr>
        <p:spPr>
          <a:xfrm>
            <a:off x="4197096" y="2340864"/>
            <a:ext cx="1801368" cy="457200"/>
          </a:xfrm>
          <a:prstGeom prst="rect">
            <a:avLst/>
          </a:prstGeom>
          <a:solidFill>
            <a:srgbClr val="FFFFFF"/>
          </a:solidFill>
          <a:ln w="9525">
            <a:solidFill>
              <a:srgbClr val="D9D9D9"/>
            </a:solidFill>
            <a:prstDash val="solid"/>
          </a:ln>
        </p:spPr>
      </p:sp>
      <p:sp>
        <p:nvSpPr>
          <p:cNvPr id="12" name="Text 10"/>
          <p:cNvSpPr txBox="1"/>
          <p:nvPr/>
        </p:nvSpPr>
        <p:spPr>
          <a:xfrm>
            <a:off x="4270248"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Oil change  </a:t>
            </a:r>
            <a:pPr algn="ctr" indent="0" marL="0">
              <a:buNone/>
            </a:pPr>
            <a:r>
              <a:rPr lang="en-US" sz="1400" b="1" dirty="0">
                <a:solidFill>
                  <a:srgbClr val="0B2C4A"/>
                </a:solidFill>
                <a:latin typeface="Inter" pitchFamily="34" charset="0"/>
                <a:ea typeface="Inter" pitchFamily="34" charset="-122"/>
                <a:cs typeface="Inter" pitchFamily="34" charset="-120"/>
              </a:rPr>
              <a:t>68.8%</a:t>
            </a:r>
            <a:endParaRPr lang="en-US" sz="1400" dirty="0"/>
          </a:p>
        </p:txBody>
      </p:sp>
      <p:sp>
        <p:nvSpPr>
          <p:cNvPr id="13" name="Shape 11"/>
          <p:cNvSpPr/>
          <p:nvPr/>
        </p:nvSpPr>
        <p:spPr>
          <a:xfrm>
            <a:off x="6108192" y="2340864"/>
            <a:ext cx="1801368" cy="457200"/>
          </a:xfrm>
          <a:prstGeom prst="rect">
            <a:avLst/>
          </a:prstGeom>
          <a:solidFill>
            <a:srgbClr val="FFFFFF"/>
          </a:solidFill>
          <a:ln w="9525">
            <a:solidFill>
              <a:srgbClr val="D9D9D9"/>
            </a:solidFill>
            <a:prstDash val="solid"/>
          </a:ln>
        </p:spPr>
      </p:sp>
      <p:sp>
        <p:nvSpPr>
          <p:cNvPr id="14" name="Text 12"/>
          <p:cNvSpPr txBox="1"/>
          <p:nvPr/>
        </p:nvSpPr>
        <p:spPr>
          <a:xfrm>
            <a:off x="6181344"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78.7%</a:t>
            </a:r>
            <a:endParaRPr lang="en-US" sz="1400" dirty="0"/>
          </a:p>
        </p:txBody>
      </p:sp>
      <p:sp>
        <p:nvSpPr>
          <p:cNvPr id="15" name="Shape 13"/>
          <p:cNvSpPr/>
          <p:nvPr/>
        </p:nvSpPr>
        <p:spPr>
          <a:xfrm>
            <a:off x="8019288" y="2340864"/>
            <a:ext cx="1801368" cy="457200"/>
          </a:xfrm>
          <a:prstGeom prst="rect">
            <a:avLst/>
          </a:prstGeom>
          <a:solidFill>
            <a:srgbClr val="FFFFFF"/>
          </a:solidFill>
          <a:ln w="9525">
            <a:solidFill>
              <a:srgbClr val="D9D9D9"/>
            </a:solidFill>
            <a:prstDash val="solid"/>
          </a:ln>
        </p:spPr>
      </p:sp>
      <p:sp>
        <p:nvSpPr>
          <p:cNvPr id="16" name="Text 14"/>
          <p:cNvSpPr txBox="1"/>
          <p:nvPr/>
        </p:nvSpPr>
        <p:spPr>
          <a:xfrm>
            <a:off x="8092440"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Steering rack  </a:t>
            </a:r>
            <a:pPr algn="ctr" indent="0" marL="0">
              <a:buNone/>
            </a:pPr>
            <a:r>
              <a:rPr lang="en-US" sz="1400" b="1" dirty="0">
                <a:solidFill>
                  <a:srgbClr val="0B2C4A"/>
                </a:solidFill>
                <a:latin typeface="Inter" pitchFamily="34" charset="0"/>
                <a:ea typeface="Inter" pitchFamily="34" charset="-122"/>
                <a:cs typeface="Inter" pitchFamily="34" charset="-120"/>
              </a:rPr>
              <a:t>84.4%</a:t>
            </a:r>
            <a:endParaRPr lang="en-US" sz="1400" dirty="0"/>
          </a:p>
        </p:txBody>
      </p:sp>
      <p:sp>
        <p:nvSpPr>
          <p:cNvPr id="17" name="Shape 15"/>
          <p:cNvSpPr/>
          <p:nvPr/>
        </p:nvSpPr>
        <p:spPr>
          <a:xfrm>
            <a:off x="9930384" y="2340864"/>
            <a:ext cx="1801368" cy="457200"/>
          </a:xfrm>
          <a:prstGeom prst="rect">
            <a:avLst/>
          </a:prstGeom>
          <a:solidFill>
            <a:srgbClr val="FFFFFF"/>
          </a:solidFill>
          <a:ln w="9525">
            <a:solidFill>
              <a:srgbClr val="D9D9D9"/>
            </a:solidFill>
            <a:prstDash val="solid"/>
          </a:ln>
        </p:spPr>
      </p:sp>
      <p:sp>
        <p:nvSpPr>
          <p:cNvPr id="18" name="Text 16"/>
          <p:cNvSpPr txBox="1"/>
          <p:nvPr/>
        </p:nvSpPr>
        <p:spPr>
          <a:xfrm>
            <a:off x="10003536"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All 7 jobs  </a:t>
            </a:r>
            <a:pPr algn="ctr" indent="0" marL="0">
              <a:buNone/>
            </a:pPr>
            <a:r>
              <a:rPr lang="en-US" sz="1400" b="1" dirty="0">
                <a:solidFill>
                  <a:srgbClr val="0B2C4A"/>
                </a:solidFill>
                <a:latin typeface="Inter" pitchFamily="34" charset="0"/>
                <a:ea typeface="Inter" pitchFamily="34" charset="-122"/>
                <a:cs typeface="Inter" pitchFamily="34" charset="-120"/>
              </a:rPr>
              <a:t>80.8%</a:t>
            </a:r>
            <a:endParaRPr lang="en-US" sz="1400" dirty="0"/>
          </a:p>
        </p:txBody>
      </p:sp>
      <p:sp>
        <p:nvSpPr>
          <p:cNvPr id="19" name="Shape 17"/>
          <p:cNvSpPr/>
          <p:nvPr/>
        </p:nvSpPr>
        <p:spPr>
          <a:xfrm>
            <a:off x="457200" y="2907792"/>
            <a:ext cx="4343400" cy="3081528"/>
          </a:xfrm>
          <a:prstGeom prst="rect">
            <a:avLst/>
          </a:prstGeom>
          <a:solidFill>
            <a:srgbClr val="FFFFFF"/>
          </a:solidFill>
          <a:ln/>
        </p:spPr>
      </p:sp>
      <p:sp>
        <p:nvSpPr>
          <p:cNvPr id="20" name="Shape 18"/>
          <p:cNvSpPr/>
          <p:nvPr/>
        </p:nvSpPr>
        <p:spPr>
          <a:xfrm>
            <a:off x="4937760" y="2907792"/>
            <a:ext cx="6793992" cy="3081528"/>
          </a:xfrm>
          <a:prstGeom prst="rect">
            <a:avLst/>
          </a:prstGeom>
          <a:solidFill>
            <a:srgbClr val="FFFFFF"/>
          </a:solidFill>
          <a:ln/>
        </p:spPr>
      </p:sp>
      <p:sp>
        <p:nvSpPr>
          <p:cNvPr id="21" name="Text 19"/>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2" name="Text 20"/>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3" name="Text 21"/>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Goldilocks: not too high, not too 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tech cost is out of line with what the job sells for.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on the work they do, which costs us techs.</a:t>
            </a:r>
            <a:endParaRPr lang="en-US" sz="1500" dirty="0"/>
          </a:p>
        </p:txBody>
      </p:sp>
      <p:sp>
        <p:nvSpPr>
          <p:cNvPr id="24" name="Shape 22"/>
          <p:cNvSpPr/>
          <p:nvPr/>
        </p:nvSpPr>
        <p:spPr>
          <a:xfrm>
            <a:off x="5138928" y="3410712"/>
            <a:ext cx="45720" cy="1133856"/>
          </a:xfrm>
          <a:prstGeom prst="rect">
            <a:avLst/>
          </a:prstGeom>
          <a:solidFill>
            <a:srgbClr val="2587C5"/>
          </a:solidFill>
          <a:ln/>
        </p:spPr>
      </p:sp>
      <p:sp>
        <p:nvSpPr>
          <p:cNvPr id="25" name="Text 23"/>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6" name="Shape 24"/>
          <p:cNvSpPr/>
          <p:nvPr/>
        </p:nvSpPr>
        <p:spPr>
          <a:xfrm>
            <a:off x="7309104" y="3410712"/>
            <a:ext cx="45720" cy="1133856"/>
          </a:xfrm>
          <a:prstGeom prst="rect">
            <a:avLst/>
          </a:prstGeom>
          <a:solidFill>
            <a:srgbClr val="2587C5"/>
          </a:solidFill>
          <a:ln/>
        </p:spPr>
      </p:sp>
      <p:sp>
        <p:nvSpPr>
          <p:cNvPr id="27" name="Text 25"/>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8" name="Shape 26"/>
          <p:cNvSpPr/>
          <p:nvPr/>
        </p:nvSpPr>
        <p:spPr>
          <a:xfrm>
            <a:off x="9479280" y="3410712"/>
            <a:ext cx="45720" cy="1133856"/>
          </a:xfrm>
          <a:prstGeom prst="rect">
            <a:avLst/>
          </a:prstGeom>
          <a:solidFill>
            <a:srgbClr val="2587C5"/>
          </a:solidFill>
          <a:ln/>
        </p:spPr>
      </p:sp>
      <p:sp>
        <p:nvSpPr>
          <p:cNvPr id="29" name="Text 27"/>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job</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30" name="Shape 28"/>
          <p:cNvSpPr/>
          <p:nvPr/>
        </p:nvSpPr>
        <p:spPr>
          <a:xfrm>
            <a:off x="5138928" y="4654296"/>
            <a:ext cx="45720" cy="1133856"/>
          </a:xfrm>
          <a:prstGeom prst="rect">
            <a:avLst/>
          </a:prstGeom>
          <a:solidFill>
            <a:srgbClr val="2587C5"/>
          </a:solidFill>
          <a:ln/>
        </p:spPr>
      </p:sp>
      <p:sp>
        <p:nvSpPr>
          <p:cNvPr id="31" name="Text 29"/>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Quick maintenance runs lower margin than repair</a:t>
            </a:r>
            <a:endParaRPr lang="en-US" sz="1400" dirty="0"/>
          </a:p>
        </p:txBody>
      </p:sp>
      <p:sp>
        <p:nvSpPr>
          <p:cNvPr id="32" name="Shape 30"/>
          <p:cNvSpPr/>
          <p:nvPr/>
        </p:nvSpPr>
        <p:spPr>
          <a:xfrm>
            <a:off x="7309104" y="4654296"/>
            <a:ext cx="45720" cy="1133856"/>
          </a:xfrm>
          <a:prstGeom prst="rect">
            <a:avLst/>
          </a:prstGeom>
          <a:solidFill>
            <a:srgbClr val="2587C5"/>
          </a:solidFill>
          <a:ln/>
        </p:spPr>
      </p:sp>
      <p:sp>
        <p:nvSpPr>
          <p:cNvPr id="33" name="Text 31"/>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Comebacks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Paying twice for the same job</a:t>
            </a:r>
            <a:endParaRPr lang="en-US" sz="1400" dirty="0"/>
          </a:p>
        </p:txBody>
      </p:sp>
      <p:sp>
        <p:nvSpPr>
          <p:cNvPr id="34" name="Shape 32"/>
          <p:cNvSpPr/>
          <p:nvPr/>
        </p:nvSpPr>
        <p:spPr>
          <a:xfrm>
            <a:off x="457200" y="6126480"/>
            <a:ext cx="11274552" cy="371856"/>
          </a:xfrm>
          <a:prstGeom prst="rect">
            <a:avLst/>
          </a:prstGeom>
          <a:solidFill>
            <a:srgbClr val="EDF4FA"/>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a:t>
            </a:r>
            <a:endParaRPr lang="en-US" sz="1600" dirty="0"/>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Roundtable target is 78–80%.</a:t>
            </a:r>
            <a:endParaRPr lang="en-US" sz="1600" dirty="0"/>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DF4FA"/>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13 of 33 stores at or above the 80.8% group, led by Volvo at 88.6%. Hyundai Prescott is lowest at 67.7%.</a:t>
            </a:r>
            <a:endParaRPr lang="en-US" sz="1500" dirty="0"/>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917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696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4133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167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1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154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872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18079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536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263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1772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396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721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71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520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563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7" name="Shape 75"/>
          <p:cNvSpPr/>
          <p:nvPr/>
        </p:nvSpPr>
        <p:spPr>
          <a:xfrm>
            <a:off x="3785616" y="5750188"/>
            <a:ext cx="3293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2918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5" name="Shape 83"/>
          <p:cNvSpPr/>
          <p:nvPr/>
        </p:nvSpPr>
        <p:spPr>
          <a:xfrm>
            <a:off x="9336024" y="2151755"/>
            <a:ext cx="2849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74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297900" y="2631546"/>
            <a:ext cx="38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84469" y="2871442"/>
            <a:ext cx="51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66787" y="3111337"/>
            <a:ext cx="69237"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18285" y="3351233"/>
            <a:ext cx="11773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6624" y="3591128"/>
            <a:ext cx="15940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4906" y="3831024"/>
            <a:ext cx="21111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0348" y="4070920"/>
            <a:ext cx="21567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2792" y="4310815"/>
            <a:ext cx="22323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036343" y="4550711"/>
            <a:ext cx="29968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3651" y="4790606"/>
            <a:ext cx="3023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896902" y="5030502"/>
            <a:ext cx="43912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4430" y="5270397"/>
            <a:ext cx="701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led by Toyota Prescott at +4.6 pts to 78.5%. 13 declined; Hyundai Prescott fell most at −5.2 pts.</a:t>
            </a:r>
            <a:endParaRPr lang="en-US" sz="1600" dirty="0"/>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after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other half of the gross on every RO.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Small changes add up across every RO in the group.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and discounting are under control.</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Markup by cost band; set and reviewed</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 direct price changes. ADC-controlled discounting only.</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40.7%, ahead of 2025 in all nine months.</a:t>
            </a:r>
            <a:endParaRPr lang="en-US" sz="1600" dirty="0"/>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19 of 33 stores at or above the 40.7% group, led by Lexus at 49.0%. Audi Henderson is lowest at 33.6%.</a:t>
            </a:r>
            <a:endParaRPr lang="en-US" sz="1550" dirty="0"/>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313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8367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2071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752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9596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7178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5362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1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8771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425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7" name="Shape 55"/>
          <p:cNvSpPr/>
          <p:nvPr/>
        </p:nvSpPr>
        <p:spPr>
          <a:xfrm>
            <a:off x="3785616" y="4550711"/>
            <a:ext cx="22773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2149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540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729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199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249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2133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505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97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666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44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4416"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3134"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9336024" y="3591128"/>
            <a:ext cx="32600"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9336024" y="3831024"/>
            <a:ext cx="28643"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36024" y="4070920"/>
            <a:ext cx="2718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7684"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6212" y="4790606"/>
            <a:ext cx="598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2059" y="5030502"/>
            <a:ext cx="639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23329" y="5270397"/>
            <a:ext cx="11269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5477" y="5510293"/>
            <a:ext cx="27054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led by Acura at +6.1 pts to 44.9%. 5 declined; Audi Henderson fell most at −2.1 pts.</a:t>
            </a:r>
            <a:endParaRPr lang="en-US" sz="1600" dirty="0"/>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Express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Express service is the #1 retention driver and business builder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75% of your business includes some type of maintenance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Express bays are simply MPI bays. Unknown dollars are worth 2.5 times the known.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Minimize labor costs for lower-skilled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If you don't help them, someone else will</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repair 30.5%.</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52.5%</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 pay as a share of labor sale, down 0.3 pts. Warranty labor rose 8.8%, internal 5.8%.</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treat every express visit as an inspection: fast in, inspected, and sold the next service.</a:t>
            </a:r>
            <a:endParaRPr lang="en-US" sz="1600" dirty="0"/>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1" name="Shape 249"/>
          <p:cNvSpPr/>
          <p:nvPr/>
        </p:nvSpPr>
        <p:spPr>
          <a:xfrm>
            <a:off x="457200" y="6126480"/>
            <a:ext cx="11274552" cy="615696"/>
          </a:xfrm>
          <a:prstGeom prst="rect">
            <a:avLst/>
          </a:prstGeom>
          <a:solidFill>
            <a:srgbClr val="EDF4FA"/>
          </a:solidFill>
          <a:ln/>
        </p:spPr>
      </p:sp>
      <p:sp>
        <p:nvSpPr>
          <p:cNvPr id="252" name="Text 2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 Honda Spokane is most customer-pay at 70.3%.</a:t>
            </a:r>
            <a:endParaRPr lang="en-US" sz="1600" dirty="0"/>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52.8%</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Share of Labor Sale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56616"/>
          </a:xfrm>
          <a:prstGeom prst="rect">
            <a:avLst/>
          </a:prstGeom>
          <a:solidFill>
            <a:srgbClr val="FBEBEA"/>
          </a:solidFill>
          <a:ln/>
        </p:spPr>
      </p:sp>
      <p:sp>
        <p:nvSpPr>
          <p:cNvPr id="30"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A82B26"/>
                </a:solidFill>
                <a:latin typeface="Inter" pitchFamily="34" charset="0"/>
                <a:ea typeface="Inter" pitchFamily="34" charset="-122"/>
                <a:cs typeface="Inter" pitchFamily="34" charset="-120"/>
              </a:rPr>
              <a:t>Down 0.3 pts to 52.5%, behind 2025 in five of nine months. Warranty labor rose 8.8%, internal rose 5.8%.</a:t>
            </a:r>
            <a:endParaRPr lang="en-US" sz="1500" dirty="0"/>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9166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SHARE OF LABOR SALE</a:t>
            </a:r>
            <a:endParaRPr lang="en-US" sz="1500" dirty="0"/>
          </a:p>
        </p:txBody>
      </p:sp>
      <p:sp>
        <p:nvSpPr>
          <p:cNvPr id="9" name="Text 7"/>
          <p:cNvSpPr txBox="1"/>
          <p:nvPr/>
        </p:nvSpPr>
        <p:spPr>
          <a:xfrm>
            <a:off x="4831080" y="1335024"/>
            <a:ext cx="32156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 name="Shape 15"/>
          <p:cNvSpPr/>
          <p:nvPr/>
        </p:nvSpPr>
        <p:spPr>
          <a:xfrm>
            <a:off x="3785616" y="2151755"/>
            <a:ext cx="70182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1" name="Shape 19"/>
          <p:cNvSpPr/>
          <p:nvPr/>
        </p:nvSpPr>
        <p:spPr>
          <a:xfrm>
            <a:off x="3785616" y="2391651"/>
            <a:ext cx="68745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6677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64275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5795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7" name="Shape 35"/>
          <p:cNvSpPr/>
          <p:nvPr/>
        </p:nvSpPr>
        <p:spPr>
          <a:xfrm>
            <a:off x="3785616" y="3351233"/>
            <a:ext cx="38589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785616" y="3591128"/>
            <a:ext cx="31168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0560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785616" y="4070920"/>
            <a:ext cx="28414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23156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785616" y="4550711"/>
            <a:ext cx="18196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1" name="Shape 59"/>
          <p:cNvSpPr/>
          <p:nvPr/>
        </p:nvSpPr>
        <p:spPr>
          <a:xfrm>
            <a:off x="3785616" y="4790606"/>
            <a:ext cx="17535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785616" y="5030502"/>
            <a:ext cx="9208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9" name="Shape 67"/>
          <p:cNvSpPr/>
          <p:nvPr/>
        </p:nvSpPr>
        <p:spPr>
          <a:xfrm>
            <a:off x="3785616" y="5270397"/>
            <a:ext cx="740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5436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785616" y="5750188"/>
            <a:ext cx="1662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9331272" y="2391651"/>
            <a:ext cx="12802"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18561" y="2631546"/>
            <a:ext cx="17463"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12447" y="2871442"/>
            <a:ext cx="2357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9255154" y="3111337"/>
            <a:ext cx="8087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9239288" y="3351233"/>
            <a:ext cx="96736"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34185" y="3591128"/>
            <a:ext cx="10183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169807" y="3831024"/>
            <a:ext cx="16621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9092399" y="4070920"/>
            <a:ext cx="24362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1" name="Shape 119"/>
          <p:cNvSpPr/>
          <p:nvPr/>
        </p:nvSpPr>
        <p:spPr>
          <a:xfrm>
            <a:off x="9057340" y="4310815"/>
            <a:ext cx="27868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9043690" y="4550711"/>
            <a:ext cx="29233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9" name="Shape 127"/>
          <p:cNvSpPr/>
          <p:nvPr/>
        </p:nvSpPr>
        <p:spPr>
          <a:xfrm>
            <a:off x="8923753" y="4790606"/>
            <a:ext cx="41227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3" name="Shape 131"/>
          <p:cNvSpPr/>
          <p:nvPr/>
        </p:nvSpPr>
        <p:spPr>
          <a:xfrm>
            <a:off x="8868856" y="5030502"/>
            <a:ext cx="467168"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843092" y="5270397"/>
            <a:ext cx="49293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752645" y="5510293"/>
            <a:ext cx="58337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 of 33 stores raised customer-pay share, led by Mazda at +10.8 pts to 56.6%. 14 declined; LR Reno fell most at −8.1 pts.</a:t>
            </a:r>
            <a:endParaRPr lang="en-US" sz="1600" dirty="0"/>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Unclassified Customer-Pay Labor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7985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UNCLASSIFIED CUSTOMER-PAY LABOR</a:t>
            </a:r>
            <a:endParaRPr lang="en-US" sz="1500" dirty="0"/>
          </a:p>
        </p:txBody>
      </p:sp>
      <p:sp>
        <p:nvSpPr>
          <p:cNvPr id="9" name="Text 7"/>
          <p:cNvSpPr txBox="1"/>
          <p:nvPr/>
        </p:nvSpPr>
        <p:spPr>
          <a:xfrm>
            <a:off x="4712970" y="1335024"/>
            <a:ext cx="333375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15.2%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11888"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7" name="Shape 15"/>
          <p:cNvSpPr/>
          <p:nvPr/>
        </p:nvSpPr>
        <p:spPr>
          <a:xfrm>
            <a:off x="3008376" y="2146957"/>
            <a:ext cx="12254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008376" y="2386853"/>
            <a:ext cx="1465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3008376" y="2626748"/>
            <a:ext cx="19447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008376" y="2866644"/>
            <a:ext cx="20512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008376" y="3106540"/>
            <a:ext cx="215784"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23976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245088"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253080"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266400"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29037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7" name="Shape 55"/>
          <p:cNvSpPr/>
          <p:nvPr/>
        </p:nvSpPr>
        <p:spPr>
          <a:xfrm>
            <a:off x="3008376" y="4545913"/>
            <a:ext cx="29570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008376" y="4785808"/>
            <a:ext cx="33033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5" name="Shape 63"/>
          <p:cNvSpPr/>
          <p:nvPr/>
        </p:nvSpPr>
        <p:spPr>
          <a:xfrm>
            <a:off x="3008376" y="5025704"/>
            <a:ext cx="33566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3008376" y="5265599"/>
            <a:ext cx="362304"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008376" y="5505495"/>
            <a:ext cx="383616"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38361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394272"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40759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47685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3" name="Shape 91"/>
          <p:cNvSpPr/>
          <p:nvPr/>
        </p:nvSpPr>
        <p:spPr>
          <a:xfrm>
            <a:off x="8558784" y="2626748"/>
            <a:ext cx="5141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51415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62604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8558784" y="3346435"/>
            <a:ext cx="67399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58784" y="3586331"/>
            <a:ext cx="7192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13" name="Shape 111"/>
          <p:cNvSpPr/>
          <p:nvPr/>
        </p:nvSpPr>
        <p:spPr>
          <a:xfrm>
            <a:off x="8558784" y="3826226"/>
            <a:ext cx="72194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91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77256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1498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104695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12014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7" name="Shape 135"/>
          <p:cNvSpPr/>
          <p:nvPr/>
        </p:nvSpPr>
        <p:spPr>
          <a:xfrm>
            <a:off x="8558784" y="5265599"/>
            <a:ext cx="13799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558784" y="5505495"/>
            <a:ext cx="169164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63.5%</a:t>
            </a:r>
            <a:endParaRPr lang="en-US" sz="1200" dirty="0"/>
          </a:p>
        </p:txBody>
      </p:sp>
      <p:sp>
        <p:nvSpPr>
          <p:cNvPr id="143" name="Shape 141"/>
          <p:cNvSpPr/>
          <p:nvPr/>
        </p:nvSpPr>
        <p:spPr>
          <a:xfrm>
            <a:off x="3405989" y="1847088"/>
            <a:ext cx="14630" cy="4078224"/>
          </a:xfrm>
          <a:prstGeom prst="rect">
            <a:avLst/>
          </a:prstGeom>
          <a:solidFill>
            <a:srgbClr val="0B2C4A"/>
          </a:solidFill>
          <a:ln/>
        </p:spPr>
      </p:sp>
      <p:sp>
        <p:nvSpPr>
          <p:cNvPr id="144" name="Shape 142"/>
          <p:cNvSpPr/>
          <p:nvPr/>
        </p:nvSpPr>
        <p:spPr>
          <a:xfrm>
            <a:off x="895639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GMC Prescott can't classify 63.5% of its customer-pay labor from the description; Honda Henderson only 4.2%. Vague op code descriptions hide what the shop sells.</a:t>
            </a:r>
            <a:endParaRPr lang="en-US" sz="1600" dirty="0"/>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15.2%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labor whose op code description can't be classified, down from 19.0%.</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4.2% to 63.5%</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The range across stores. Vague descriptions hide what the shop sells.</a:t>
            </a:r>
            <a:endParaRPr lang="en-US" sz="1400" dirty="0"/>
          </a:p>
        </p:txBody>
      </p:sp>
      <p:sp>
        <p:nvSpPr>
          <p:cNvPr id="16" name="Shape 14"/>
          <p:cNvSpPr/>
          <p:nvPr/>
        </p:nvSpPr>
        <p:spPr>
          <a:xfrm>
            <a:off x="457200" y="6126480"/>
            <a:ext cx="11274552" cy="615696"/>
          </a:xfrm>
          <a:prstGeom prst="rect">
            <a:avLst/>
          </a:prstGeom>
          <a:solidFill>
            <a:srgbClr val="EDF4FA"/>
          </a:solidFill>
          <a:ln/>
        </p:spPr>
      </p:sp>
      <p:sp>
        <p:nvSpPr>
          <p:cNvPr id="17" name="Text 1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Walk-around with the customer: hood, tires and wipers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Review history and previously declined items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MPI mandate: every car, every time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Consistency is key: trained, documented and actively managed</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1.2-1.4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0.7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an Op 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are the services every car eventually needs.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rate shows whether the inspection and the menu are happening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jobs across the group.</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1133856"/>
          </a:xfrm>
          <a:prstGeom prst="rect">
            <a:avLst/>
          </a:prstGeom>
          <a:solidFill>
            <a:srgbClr val="2587C5"/>
          </a:solidFill>
          <a:ln/>
        </p:spPr>
      </p:sp>
      <p:sp>
        <p:nvSpPr>
          <p:cNvPr id="25" name="Text 23"/>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price it, ask for it</a:t>
            </a:r>
            <a:endParaRPr lang="en-US" sz="1400" dirty="0"/>
          </a:p>
        </p:txBody>
      </p:sp>
      <p:sp>
        <p:nvSpPr>
          <p:cNvPr id="28" name="Shape 26"/>
          <p:cNvSpPr/>
          <p:nvPr/>
        </p:nvSpPr>
        <p:spPr>
          <a:xfrm>
            <a:off x="8394192" y="4654296"/>
            <a:ext cx="45720" cy="1133856"/>
          </a:xfrm>
          <a:prstGeom prst="rect">
            <a:avLst/>
          </a:prstGeom>
          <a:solidFill>
            <a:srgbClr val="2587C5"/>
          </a:solidFill>
          <a:ln/>
        </p:spPr>
      </p:sp>
      <p:sp>
        <p:nvSpPr>
          <p:cNvPr id="29" name="Text 27"/>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13.2%, ahead of 2025 in all nine months, but 1.7 pts under the 15% benchmark — 4,821 alignments short.</a:t>
            </a:r>
            <a:endParaRPr lang="en-US" sz="1600" dirty="0"/>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led by Audi Henderson at 27.5%. The group sits at 13.2%.</a:t>
            </a:r>
            <a:endParaRPr lang="en-US" sz="1600" dirty="0"/>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Alignment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12.9% → 13.1%, +0.1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21.1% → 31.7%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12.6% → 22.8%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 → 11.8%</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18.3% → 25.7%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 → 19.4%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Audi Henderson went 21.1% to 31.7%, stepping up in May. Ask what changed that month.</a:t>
            </a:r>
            <a:endParaRPr lang="en-US" sz="1600" dirty="0"/>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6.6 pts under the 15% benchmark — 18,493 balances short.</a:t>
            </a:r>
            <a:endParaRPr lang="en-US" sz="1600" dirty="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led by LR Henderson at 27.0%. The group sits at 8.3%.</a:t>
            </a:r>
            <a:endParaRPr lang="en-US" sz="1600" dirty="0"/>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Balance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8.2% → 8.3%,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10.1% → 19.3%</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10.8% → 16.1%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0.7% → 4.0%</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5.3% → 8.5%</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9.7% → 12.2%</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10.1% to 19.3%, stepping up in August. Ask what changed that month.</a:t>
            </a:r>
            <a:endParaRPr lang="en-US" sz="1600" dirty="0"/>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9.2%, ahead of 2025 in all nine months, but 0.7 pts under the 10% benchmark — 1,985 brake fluid services short.</a:t>
            </a:r>
            <a:endParaRPr lang="en-US" sz="1600" dirty="0"/>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led by LR LV at 20.6%. The group sits at 9.2%.</a:t>
            </a:r>
            <a:endParaRPr lang="en-US" sz="1600" dirty="0"/>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Brake Fluid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9.1% → 9.1%,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5.2% → 14.1%</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0.5% → 5.3%</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 → 7.9%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8.3% → 11.7%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8.1% → 10.3%</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5.2% to 14.1%, stepping up in August. Ask what changed that month.</a:t>
            </a:r>
            <a:endParaRPr lang="en-US" sz="1600" dirty="0"/>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5.8%, ahead of 2025 in all nine months, but 1.7 pts under the 7.5% benchmark — 4,731 fuel services short.</a:t>
            </a:r>
            <a:endParaRPr lang="en-US" sz="1600" dirty="0"/>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led by Subaru St George at 13.8%. The group sits at 5.8%.</a:t>
            </a:r>
            <a:endParaRPr lang="en-US" sz="1600" dirty="0"/>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Fuel Service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5.8% → 5.6%, −0.2 pts: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 → 10.7%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 → 8.1%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 → 4.9%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6.7% → 10.1%</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0.0% → 2.5%</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2.5% to 10.7%, stepping up in August. Ask what changed that month.</a:t>
            </a:r>
            <a:endParaRPr lang="en-US" sz="1600" dirty="0"/>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9584"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079992"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73901"/>
            <a:ext cx="804672" cy="178730"/>
          </a:xfrm>
          <a:prstGeom prst="rect">
            <a:avLst/>
          </a:prstGeom>
          <a:solidFill>
            <a:srgbClr val="C2352F"/>
          </a:solidFill>
          <a:ln/>
        </p:spPr>
      </p:sp>
      <p:sp>
        <p:nvSpPr>
          <p:cNvPr id="14" name="Text 12"/>
          <p:cNvSpPr txBox="1"/>
          <p:nvPr/>
        </p:nvSpPr>
        <p:spPr>
          <a:xfrm>
            <a:off x="3529584" y="170078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$225,288</a:t>
            </a:r>
            <a:endParaRPr lang="en-US" sz="1300" dirty="0"/>
          </a:p>
        </p:txBody>
      </p:sp>
      <p:sp>
        <p:nvSpPr>
          <p:cNvPr id="15" name="Text 13"/>
          <p:cNvSpPr txBox="1"/>
          <p:nvPr/>
        </p:nvSpPr>
        <p:spPr>
          <a:xfrm>
            <a:off x="4425696"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6" name="Text 14"/>
          <p:cNvSpPr txBox="1"/>
          <p:nvPr/>
        </p:nvSpPr>
        <p:spPr>
          <a:xfrm>
            <a:off x="4992624"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2,490</a:t>
            </a:r>
            <a:endParaRPr lang="en-US" sz="1300" dirty="0"/>
          </a:p>
        </p:txBody>
      </p:sp>
      <p:sp>
        <p:nvSpPr>
          <p:cNvPr id="17" name="Text 15"/>
          <p:cNvSpPr txBox="1"/>
          <p:nvPr/>
        </p:nvSpPr>
        <p:spPr>
          <a:xfrm>
            <a:off x="658368"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8" name="Shape 16"/>
          <p:cNvSpPr/>
          <p:nvPr/>
        </p:nvSpPr>
        <p:spPr>
          <a:xfrm>
            <a:off x="2670048" y="2098865"/>
            <a:ext cx="321286" cy="178730"/>
          </a:xfrm>
          <a:prstGeom prst="rect">
            <a:avLst/>
          </a:prstGeom>
          <a:solidFill>
            <a:srgbClr val="C2352F"/>
          </a:solidFill>
          <a:ln/>
        </p:spPr>
      </p:sp>
      <p:sp>
        <p:nvSpPr>
          <p:cNvPr id="19" name="Text 17"/>
          <p:cNvSpPr txBox="1"/>
          <p:nvPr/>
        </p:nvSpPr>
        <p:spPr>
          <a:xfrm>
            <a:off x="3529584" y="2025748"/>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$89,952</a:t>
            </a:r>
            <a:endParaRPr lang="en-US" sz="1300" dirty="0"/>
          </a:p>
        </p:txBody>
      </p:sp>
      <p:sp>
        <p:nvSpPr>
          <p:cNvPr id="20" name="Text 18"/>
          <p:cNvSpPr txBox="1"/>
          <p:nvPr/>
        </p:nvSpPr>
        <p:spPr>
          <a:xfrm>
            <a:off x="4425696"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1" name="Text 19"/>
          <p:cNvSpPr txBox="1"/>
          <p:nvPr/>
        </p:nvSpPr>
        <p:spPr>
          <a:xfrm>
            <a:off x="4992624"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1,066</a:t>
            </a:r>
            <a:endParaRPr lang="en-US" sz="1300" dirty="0"/>
          </a:p>
        </p:txBody>
      </p:sp>
      <p:sp>
        <p:nvSpPr>
          <p:cNvPr id="22" name="Text 20"/>
          <p:cNvSpPr txBox="1"/>
          <p:nvPr/>
        </p:nvSpPr>
        <p:spPr>
          <a:xfrm>
            <a:off x="658368"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3" name="Shape 21"/>
          <p:cNvSpPr/>
          <p:nvPr/>
        </p:nvSpPr>
        <p:spPr>
          <a:xfrm>
            <a:off x="2670048" y="2423828"/>
            <a:ext cx="296891" cy="178730"/>
          </a:xfrm>
          <a:prstGeom prst="rect">
            <a:avLst/>
          </a:prstGeom>
          <a:solidFill>
            <a:srgbClr val="C2352F"/>
          </a:solidFill>
          <a:ln/>
        </p:spPr>
      </p:sp>
      <p:sp>
        <p:nvSpPr>
          <p:cNvPr id="24" name="Text 22"/>
          <p:cNvSpPr txBox="1"/>
          <p:nvPr/>
        </p:nvSpPr>
        <p:spPr>
          <a:xfrm>
            <a:off x="3529584" y="235071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$83,122</a:t>
            </a:r>
            <a:endParaRPr lang="en-US" sz="1300" dirty="0"/>
          </a:p>
        </p:txBody>
      </p:sp>
      <p:sp>
        <p:nvSpPr>
          <p:cNvPr id="25" name="Text 23"/>
          <p:cNvSpPr txBox="1"/>
          <p:nvPr/>
        </p:nvSpPr>
        <p:spPr>
          <a:xfrm>
            <a:off x="4425696"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26" name="Text 24"/>
          <p:cNvSpPr txBox="1"/>
          <p:nvPr/>
        </p:nvSpPr>
        <p:spPr>
          <a:xfrm>
            <a:off x="4992624"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700</a:t>
            </a:r>
            <a:endParaRPr lang="en-US" sz="1300" dirty="0"/>
          </a:p>
        </p:txBody>
      </p:sp>
      <p:sp>
        <p:nvSpPr>
          <p:cNvPr id="27" name="Text 25"/>
          <p:cNvSpPr txBox="1"/>
          <p:nvPr/>
        </p:nvSpPr>
        <p:spPr>
          <a:xfrm>
            <a:off x="658368"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8" name="Shape 26"/>
          <p:cNvSpPr/>
          <p:nvPr/>
        </p:nvSpPr>
        <p:spPr>
          <a:xfrm>
            <a:off x="2670048" y="2748792"/>
            <a:ext cx="274266" cy="178730"/>
          </a:xfrm>
          <a:prstGeom prst="rect">
            <a:avLst/>
          </a:prstGeom>
          <a:solidFill>
            <a:srgbClr val="C2352F"/>
          </a:solidFill>
          <a:ln/>
        </p:spPr>
      </p:sp>
      <p:sp>
        <p:nvSpPr>
          <p:cNvPr id="29" name="Text 27"/>
          <p:cNvSpPr txBox="1"/>
          <p:nvPr/>
        </p:nvSpPr>
        <p:spPr>
          <a:xfrm>
            <a:off x="3529584" y="267567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$76,788</a:t>
            </a:r>
            <a:endParaRPr lang="en-US" sz="1300" dirty="0"/>
          </a:p>
        </p:txBody>
      </p:sp>
      <p:sp>
        <p:nvSpPr>
          <p:cNvPr id="30" name="Text 28"/>
          <p:cNvSpPr txBox="1"/>
          <p:nvPr/>
        </p:nvSpPr>
        <p:spPr>
          <a:xfrm>
            <a:off x="4425696"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31" name="Text 29"/>
          <p:cNvSpPr txBox="1"/>
          <p:nvPr/>
        </p:nvSpPr>
        <p:spPr>
          <a:xfrm>
            <a:off x="4992624"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568</a:t>
            </a:r>
            <a:endParaRPr lang="en-US" sz="1300" dirty="0"/>
          </a:p>
        </p:txBody>
      </p:sp>
      <p:sp>
        <p:nvSpPr>
          <p:cNvPr id="32" name="Text 30"/>
          <p:cNvSpPr txBox="1"/>
          <p:nvPr/>
        </p:nvSpPr>
        <p:spPr>
          <a:xfrm>
            <a:off x="658368"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3" name="Shape 31"/>
          <p:cNvSpPr/>
          <p:nvPr/>
        </p:nvSpPr>
        <p:spPr>
          <a:xfrm>
            <a:off x="2670048" y="3073756"/>
            <a:ext cx="269526" cy="178730"/>
          </a:xfrm>
          <a:prstGeom prst="rect">
            <a:avLst/>
          </a:prstGeom>
          <a:solidFill>
            <a:srgbClr val="C2352F"/>
          </a:solidFill>
          <a:ln/>
        </p:spPr>
      </p:sp>
      <p:sp>
        <p:nvSpPr>
          <p:cNvPr id="34" name="Text 32"/>
          <p:cNvSpPr txBox="1"/>
          <p:nvPr/>
        </p:nvSpPr>
        <p:spPr>
          <a:xfrm>
            <a:off x="3529584" y="3000639"/>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$75,460</a:t>
            </a:r>
            <a:endParaRPr lang="en-US" sz="1300" dirty="0"/>
          </a:p>
        </p:txBody>
      </p:sp>
      <p:sp>
        <p:nvSpPr>
          <p:cNvPr id="35" name="Text 33"/>
          <p:cNvSpPr txBox="1"/>
          <p:nvPr/>
        </p:nvSpPr>
        <p:spPr>
          <a:xfrm>
            <a:off x="4425696"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36" name="Text 34"/>
          <p:cNvSpPr txBox="1"/>
          <p:nvPr/>
        </p:nvSpPr>
        <p:spPr>
          <a:xfrm>
            <a:off x="4992624"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556</a:t>
            </a:r>
            <a:endParaRPr lang="en-US" sz="1300" dirty="0"/>
          </a:p>
        </p:txBody>
      </p:sp>
      <p:sp>
        <p:nvSpPr>
          <p:cNvPr id="37" name="Text 35"/>
          <p:cNvSpPr txBox="1"/>
          <p:nvPr/>
        </p:nvSpPr>
        <p:spPr>
          <a:xfrm>
            <a:off x="658368"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8" name="Shape 36"/>
          <p:cNvSpPr/>
          <p:nvPr/>
        </p:nvSpPr>
        <p:spPr>
          <a:xfrm>
            <a:off x="2670048" y="3398719"/>
            <a:ext cx="204151" cy="178730"/>
          </a:xfrm>
          <a:prstGeom prst="rect">
            <a:avLst/>
          </a:prstGeom>
          <a:solidFill>
            <a:srgbClr val="C2352F"/>
          </a:solidFill>
          <a:ln/>
        </p:spPr>
      </p:sp>
      <p:sp>
        <p:nvSpPr>
          <p:cNvPr id="39" name="Text 37"/>
          <p:cNvSpPr txBox="1"/>
          <p:nvPr/>
        </p:nvSpPr>
        <p:spPr>
          <a:xfrm>
            <a:off x="3529584" y="3325602"/>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$57,157</a:t>
            </a:r>
            <a:endParaRPr lang="en-US" sz="1300" dirty="0"/>
          </a:p>
        </p:txBody>
      </p:sp>
      <p:sp>
        <p:nvSpPr>
          <p:cNvPr id="40" name="Text 38"/>
          <p:cNvSpPr txBox="1"/>
          <p:nvPr/>
        </p:nvSpPr>
        <p:spPr>
          <a:xfrm>
            <a:off x="4425696"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1" name="Text 39"/>
          <p:cNvSpPr txBox="1"/>
          <p:nvPr/>
        </p:nvSpPr>
        <p:spPr>
          <a:xfrm>
            <a:off x="4992624"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770</a:t>
            </a:r>
            <a:endParaRPr lang="en-US" sz="1300" dirty="0"/>
          </a:p>
        </p:txBody>
      </p:sp>
      <p:sp>
        <p:nvSpPr>
          <p:cNvPr id="42" name="Text 40"/>
          <p:cNvSpPr txBox="1"/>
          <p:nvPr/>
        </p:nvSpPr>
        <p:spPr>
          <a:xfrm>
            <a:off x="658368"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723683"/>
            <a:ext cx="176388" cy="178730"/>
          </a:xfrm>
          <a:prstGeom prst="rect">
            <a:avLst/>
          </a:prstGeom>
          <a:solidFill>
            <a:srgbClr val="C2352F"/>
          </a:solidFill>
          <a:ln/>
        </p:spPr>
      </p:sp>
      <p:sp>
        <p:nvSpPr>
          <p:cNvPr id="44" name="Text 42"/>
          <p:cNvSpPr txBox="1"/>
          <p:nvPr/>
        </p:nvSpPr>
        <p:spPr>
          <a:xfrm>
            <a:off x="3529584" y="3650566"/>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$49,384</a:t>
            </a:r>
            <a:endParaRPr lang="en-US" sz="1300" dirty="0"/>
          </a:p>
        </p:txBody>
      </p:sp>
      <p:sp>
        <p:nvSpPr>
          <p:cNvPr id="45" name="Text 43"/>
          <p:cNvSpPr txBox="1"/>
          <p:nvPr/>
        </p:nvSpPr>
        <p:spPr>
          <a:xfrm>
            <a:off x="4425696"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46" name="Text 44"/>
          <p:cNvSpPr txBox="1"/>
          <p:nvPr/>
        </p:nvSpPr>
        <p:spPr>
          <a:xfrm>
            <a:off x="4992624"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478</a:t>
            </a:r>
            <a:endParaRPr lang="en-US" sz="1300" dirty="0"/>
          </a:p>
        </p:txBody>
      </p:sp>
      <p:sp>
        <p:nvSpPr>
          <p:cNvPr id="47" name="Text 45"/>
          <p:cNvSpPr txBox="1"/>
          <p:nvPr/>
        </p:nvSpPr>
        <p:spPr>
          <a:xfrm>
            <a:off x="658368"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4048647"/>
            <a:ext cx="136485" cy="178730"/>
          </a:xfrm>
          <a:prstGeom prst="rect">
            <a:avLst/>
          </a:prstGeom>
          <a:solidFill>
            <a:srgbClr val="C2352F"/>
          </a:solidFill>
          <a:ln/>
        </p:spPr>
      </p:sp>
      <p:sp>
        <p:nvSpPr>
          <p:cNvPr id="49" name="Text 47"/>
          <p:cNvSpPr txBox="1"/>
          <p:nvPr/>
        </p:nvSpPr>
        <p:spPr>
          <a:xfrm>
            <a:off x="3529584" y="3975530"/>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$38,212</a:t>
            </a:r>
            <a:endParaRPr lang="en-US" sz="1300" dirty="0"/>
          </a:p>
        </p:txBody>
      </p:sp>
      <p:sp>
        <p:nvSpPr>
          <p:cNvPr id="50" name="Text 48"/>
          <p:cNvSpPr txBox="1"/>
          <p:nvPr/>
        </p:nvSpPr>
        <p:spPr>
          <a:xfrm>
            <a:off x="4425696"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51" name="Text 49"/>
          <p:cNvSpPr txBox="1"/>
          <p:nvPr/>
        </p:nvSpPr>
        <p:spPr>
          <a:xfrm>
            <a:off x="4992624"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365</a:t>
            </a:r>
            <a:endParaRPr lang="en-US" sz="1300" dirty="0"/>
          </a:p>
        </p:txBody>
      </p:sp>
      <p:sp>
        <p:nvSpPr>
          <p:cNvPr id="52" name="Text 50"/>
          <p:cNvSpPr txBox="1"/>
          <p:nvPr/>
        </p:nvSpPr>
        <p:spPr>
          <a:xfrm>
            <a:off x="658368"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53" name="Shape 51"/>
          <p:cNvSpPr/>
          <p:nvPr/>
        </p:nvSpPr>
        <p:spPr>
          <a:xfrm>
            <a:off x="2670048" y="4373610"/>
            <a:ext cx="129744" cy="178730"/>
          </a:xfrm>
          <a:prstGeom prst="rect">
            <a:avLst/>
          </a:prstGeom>
          <a:solidFill>
            <a:srgbClr val="C2352F"/>
          </a:solidFill>
          <a:ln/>
        </p:spPr>
      </p:sp>
      <p:sp>
        <p:nvSpPr>
          <p:cNvPr id="54" name="Text 52"/>
          <p:cNvSpPr txBox="1"/>
          <p:nvPr/>
        </p:nvSpPr>
        <p:spPr>
          <a:xfrm>
            <a:off x="3529584" y="430049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$36,325</a:t>
            </a:r>
            <a:endParaRPr lang="en-US" sz="1300" dirty="0"/>
          </a:p>
        </p:txBody>
      </p:sp>
      <p:sp>
        <p:nvSpPr>
          <p:cNvPr id="55" name="Text 53"/>
          <p:cNvSpPr txBox="1"/>
          <p:nvPr/>
        </p:nvSpPr>
        <p:spPr>
          <a:xfrm>
            <a:off x="4425696"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56" name="Text 54"/>
          <p:cNvSpPr txBox="1"/>
          <p:nvPr/>
        </p:nvSpPr>
        <p:spPr>
          <a:xfrm>
            <a:off x="4992624"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294</a:t>
            </a:r>
            <a:endParaRPr lang="en-US" sz="1300" dirty="0"/>
          </a:p>
        </p:txBody>
      </p:sp>
      <p:sp>
        <p:nvSpPr>
          <p:cNvPr id="57" name="Text 55"/>
          <p:cNvSpPr txBox="1"/>
          <p:nvPr/>
        </p:nvSpPr>
        <p:spPr>
          <a:xfrm>
            <a:off x="658368"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8" name="Shape 56"/>
          <p:cNvSpPr/>
          <p:nvPr/>
        </p:nvSpPr>
        <p:spPr>
          <a:xfrm>
            <a:off x="2670048" y="4698574"/>
            <a:ext cx="122649" cy="178730"/>
          </a:xfrm>
          <a:prstGeom prst="rect">
            <a:avLst/>
          </a:prstGeom>
          <a:solidFill>
            <a:srgbClr val="C2352F"/>
          </a:solidFill>
          <a:ln/>
        </p:spPr>
      </p:sp>
      <p:sp>
        <p:nvSpPr>
          <p:cNvPr id="59" name="Text 57"/>
          <p:cNvSpPr txBox="1"/>
          <p:nvPr/>
        </p:nvSpPr>
        <p:spPr>
          <a:xfrm>
            <a:off x="3529584" y="4625457"/>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$34,339</a:t>
            </a:r>
            <a:endParaRPr lang="en-US" sz="1300" dirty="0"/>
          </a:p>
        </p:txBody>
      </p:sp>
      <p:sp>
        <p:nvSpPr>
          <p:cNvPr id="60" name="Text 58"/>
          <p:cNvSpPr txBox="1"/>
          <p:nvPr/>
        </p:nvSpPr>
        <p:spPr>
          <a:xfrm>
            <a:off x="4425696"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61" name="Text 59"/>
          <p:cNvSpPr txBox="1"/>
          <p:nvPr/>
        </p:nvSpPr>
        <p:spPr>
          <a:xfrm>
            <a:off x="4992624"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62" name="Text 60"/>
          <p:cNvSpPr txBox="1"/>
          <p:nvPr/>
        </p:nvSpPr>
        <p:spPr>
          <a:xfrm>
            <a:off x="658368"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3" name="Shape 61"/>
          <p:cNvSpPr/>
          <p:nvPr/>
        </p:nvSpPr>
        <p:spPr>
          <a:xfrm>
            <a:off x="2670048" y="5023538"/>
            <a:ext cx="118396" cy="178730"/>
          </a:xfrm>
          <a:prstGeom prst="rect">
            <a:avLst/>
          </a:prstGeom>
          <a:solidFill>
            <a:srgbClr val="C2352F"/>
          </a:solidFill>
          <a:ln/>
        </p:spPr>
      </p:sp>
      <p:sp>
        <p:nvSpPr>
          <p:cNvPr id="64" name="Text 62"/>
          <p:cNvSpPr txBox="1"/>
          <p:nvPr/>
        </p:nvSpPr>
        <p:spPr>
          <a:xfrm>
            <a:off x="3529584" y="495042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$33,148</a:t>
            </a:r>
            <a:endParaRPr lang="en-US" sz="1300" dirty="0"/>
          </a:p>
        </p:txBody>
      </p:sp>
      <p:sp>
        <p:nvSpPr>
          <p:cNvPr id="65" name="Text 63"/>
          <p:cNvSpPr txBox="1"/>
          <p:nvPr/>
        </p:nvSpPr>
        <p:spPr>
          <a:xfrm>
            <a:off x="4425696"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66" name="Text 64"/>
          <p:cNvSpPr txBox="1"/>
          <p:nvPr/>
        </p:nvSpPr>
        <p:spPr>
          <a:xfrm>
            <a:off x="4992624"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326</a:t>
            </a:r>
            <a:endParaRPr lang="en-US" sz="1300" dirty="0"/>
          </a:p>
        </p:txBody>
      </p:sp>
      <p:sp>
        <p:nvSpPr>
          <p:cNvPr id="67" name="Text 65"/>
          <p:cNvSpPr txBox="1"/>
          <p:nvPr/>
        </p:nvSpPr>
        <p:spPr>
          <a:xfrm>
            <a:off x="658368"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68" name="Shape 66"/>
          <p:cNvSpPr/>
          <p:nvPr/>
        </p:nvSpPr>
        <p:spPr>
          <a:xfrm>
            <a:off x="2670048" y="5348501"/>
            <a:ext cx="116594" cy="178730"/>
          </a:xfrm>
          <a:prstGeom prst="rect">
            <a:avLst/>
          </a:prstGeom>
          <a:solidFill>
            <a:srgbClr val="C2352F"/>
          </a:solidFill>
          <a:ln/>
        </p:spPr>
      </p:sp>
      <p:sp>
        <p:nvSpPr>
          <p:cNvPr id="69" name="Text 67"/>
          <p:cNvSpPr txBox="1"/>
          <p:nvPr/>
        </p:nvSpPr>
        <p:spPr>
          <a:xfrm>
            <a:off x="3529584" y="527538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$32,644</a:t>
            </a:r>
            <a:endParaRPr lang="en-US" sz="1300" dirty="0"/>
          </a:p>
        </p:txBody>
      </p:sp>
      <p:sp>
        <p:nvSpPr>
          <p:cNvPr id="70" name="Text 68"/>
          <p:cNvSpPr txBox="1"/>
          <p:nvPr/>
        </p:nvSpPr>
        <p:spPr>
          <a:xfrm>
            <a:off x="4425696"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71" name="Text 69"/>
          <p:cNvSpPr txBox="1"/>
          <p:nvPr/>
        </p:nvSpPr>
        <p:spPr>
          <a:xfrm>
            <a:off x="4992624"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72" name="Text 70"/>
          <p:cNvSpPr txBox="1"/>
          <p:nvPr/>
        </p:nvSpPr>
        <p:spPr>
          <a:xfrm>
            <a:off x="658368"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3" name="Shape 71"/>
          <p:cNvSpPr/>
          <p:nvPr/>
        </p:nvSpPr>
        <p:spPr>
          <a:xfrm>
            <a:off x="2670048" y="5673465"/>
            <a:ext cx="93943" cy="178730"/>
          </a:xfrm>
          <a:prstGeom prst="rect">
            <a:avLst/>
          </a:prstGeom>
          <a:solidFill>
            <a:srgbClr val="C2352F"/>
          </a:solidFill>
          <a:ln/>
        </p:spPr>
      </p:sp>
      <p:sp>
        <p:nvSpPr>
          <p:cNvPr id="74" name="Text 72"/>
          <p:cNvSpPr txBox="1"/>
          <p:nvPr/>
        </p:nvSpPr>
        <p:spPr>
          <a:xfrm>
            <a:off x="3529584" y="5600348"/>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$26,302</a:t>
            </a:r>
            <a:endParaRPr lang="en-US" sz="1300" dirty="0"/>
          </a:p>
        </p:txBody>
      </p:sp>
      <p:sp>
        <p:nvSpPr>
          <p:cNvPr id="75" name="Text 73"/>
          <p:cNvSpPr txBox="1"/>
          <p:nvPr/>
        </p:nvSpPr>
        <p:spPr>
          <a:xfrm>
            <a:off x="4425696"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76" name="Text 74"/>
          <p:cNvSpPr txBox="1"/>
          <p:nvPr/>
        </p:nvSpPr>
        <p:spPr>
          <a:xfrm>
            <a:off x="4992624"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8" name="Shape 76"/>
          <p:cNvSpPr/>
          <p:nvPr/>
        </p:nvSpPr>
        <p:spPr>
          <a:xfrm>
            <a:off x="8220456" y="1773901"/>
            <a:ext cx="90559" cy="178730"/>
          </a:xfrm>
          <a:prstGeom prst="rect">
            <a:avLst/>
          </a:prstGeom>
          <a:solidFill>
            <a:srgbClr val="C2352F"/>
          </a:solidFill>
          <a:ln/>
        </p:spPr>
      </p:sp>
      <p:sp>
        <p:nvSpPr>
          <p:cNvPr id="79" name="Text 77"/>
          <p:cNvSpPr txBox="1"/>
          <p:nvPr/>
        </p:nvSpPr>
        <p:spPr>
          <a:xfrm>
            <a:off x="9079992" y="170078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$25,354</a:t>
            </a:r>
            <a:endParaRPr lang="en-US" sz="1300" dirty="0"/>
          </a:p>
        </p:txBody>
      </p:sp>
      <p:sp>
        <p:nvSpPr>
          <p:cNvPr id="80" name="Text 78"/>
          <p:cNvSpPr txBox="1"/>
          <p:nvPr/>
        </p:nvSpPr>
        <p:spPr>
          <a:xfrm>
            <a:off x="9976104"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81" name="Text 79"/>
          <p:cNvSpPr txBox="1"/>
          <p:nvPr/>
        </p:nvSpPr>
        <p:spPr>
          <a:xfrm>
            <a:off x="10543032"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324</a:t>
            </a:r>
            <a:endParaRPr lang="en-US" sz="1300" dirty="0"/>
          </a:p>
        </p:txBody>
      </p:sp>
      <p:sp>
        <p:nvSpPr>
          <p:cNvPr id="82" name="Text 80"/>
          <p:cNvSpPr txBox="1"/>
          <p:nvPr/>
        </p:nvSpPr>
        <p:spPr>
          <a:xfrm>
            <a:off x="6208776"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8220456" y="2098865"/>
            <a:ext cx="83744" cy="178730"/>
          </a:xfrm>
          <a:prstGeom prst="rect">
            <a:avLst/>
          </a:prstGeom>
          <a:solidFill>
            <a:srgbClr val="C2352F"/>
          </a:solidFill>
          <a:ln/>
        </p:spPr>
      </p:sp>
      <p:sp>
        <p:nvSpPr>
          <p:cNvPr id="84" name="Text 82"/>
          <p:cNvSpPr txBox="1"/>
          <p:nvPr/>
        </p:nvSpPr>
        <p:spPr>
          <a:xfrm>
            <a:off x="9079992" y="2025748"/>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$23,446</a:t>
            </a:r>
            <a:endParaRPr lang="en-US" sz="1300" dirty="0"/>
          </a:p>
        </p:txBody>
      </p:sp>
      <p:sp>
        <p:nvSpPr>
          <p:cNvPr id="85" name="Text 83"/>
          <p:cNvSpPr txBox="1"/>
          <p:nvPr/>
        </p:nvSpPr>
        <p:spPr>
          <a:xfrm>
            <a:off x="9976104"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86" name="Text 84"/>
          <p:cNvSpPr txBox="1"/>
          <p:nvPr/>
        </p:nvSpPr>
        <p:spPr>
          <a:xfrm>
            <a:off x="10543032"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87" name="Text 85"/>
          <p:cNvSpPr txBox="1"/>
          <p:nvPr/>
        </p:nvSpPr>
        <p:spPr>
          <a:xfrm>
            <a:off x="6208776"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88" name="Shape 86"/>
          <p:cNvSpPr/>
          <p:nvPr/>
        </p:nvSpPr>
        <p:spPr>
          <a:xfrm>
            <a:off x="8220456" y="2423828"/>
            <a:ext cx="80843" cy="178730"/>
          </a:xfrm>
          <a:prstGeom prst="rect">
            <a:avLst/>
          </a:prstGeom>
          <a:solidFill>
            <a:srgbClr val="C2352F"/>
          </a:solidFill>
          <a:ln/>
        </p:spPr>
      </p:sp>
      <p:sp>
        <p:nvSpPr>
          <p:cNvPr id="89" name="Text 87"/>
          <p:cNvSpPr txBox="1"/>
          <p:nvPr/>
        </p:nvSpPr>
        <p:spPr>
          <a:xfrm>
            <a:off x="9079992" y="235071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$22,634</a:t>
            </a:r>
            <a:endParaRPr lang="en-US" sz="1300" dirty="0"/>
          </a:p>
        </p:txBody>
      </p:sp>
      <p:sp>
        <p:nvSpPr>
          <p:cNvPr id="90" name="Text 88"/>
          <p:cNvSpPr txBox="1"/>
          <p:nvPr/>
        </p:nvSpPr>
        <p:spPr>
          <a:xfrm>
            <a:off x="9976104"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91" name="Text 89"/>
          <p:cNvSpPr txBox="1"/>
          <p:nvPr/>
        </p:nvSpPr>
        <p:spPr>
          <a:xfrm>
            <a:off x="10543032"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291</a:t>
            </a:r>
            <a:endParaRPr lang="en-US" sz="1300" dirty="0"/>
          </a:p>
        </p:txBody>
      </p:sp>
      <p:sp>
        <p:nvSpPr>
          <p:cNvPr id="92" name="Text 90"/>
          <p:cNvSpPr txBox="1"/>
          <p:nvPr/>
        </p:nvSpPr>
        <p:spPr>
          <a:xfrm>
            <a:off x="6208776"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3" name="Shape 91"/>
          <p:cNvSpPr/>
          <p:nvPr/>
        </p:nvSpPr>
        <p:spPr>
          <a:xfrm>
            <a:off x="8220456" y="2748792"/>
            <a:ext cx="74808" cy="178730"/>
          </a:xfrm>
          <a:prstGeom prst="rect">
            <a:avLst/>
          </a:prstGeom>
          <a:solidFill>
            <a:srgbClr val="C2352F"/>
          </a:solidFill>
          <a:ln/>
        </p:spPr>
      </p:sp>
      <p:sp>
        <p:nvSpPr>
          <p:cNvPr id="94" name="Text 92"/>
          <p:cNvSpPr txBox="1"/>
          <p:nvPr/>
        </p:nvSpPr>
        <p:spPr>
          <a:xfrm>
            <a:off x="9079992" y="267567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$20,944</a:t>
            </a:r>
            <a:endParaRPr lang="en-US" sz="1300" dirty="0"/>
          </a:p>
        </p:txBody>
      </p:sp>
      <p:sp>
        <p:nvSpPr>
          <p:cNvPr id="95" name="Text 93"/>
          <p:cNvSpPr txBox="1"/>
          <p:nvPr/>
        </p:nvSpPr>
        <p:spPr>
          <a:xfrm>
            <a:off x="9976104"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96" name="Text 94"/>
          <p:cNvSpPr txBox="1"/>
          <p:nvPr/>
        </p:nvSpPr>
        <p:spPr>
          <a:xfrm>
            <a:off x="10543032"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97" name="Text 95"/>
          <p:cNvSpPr txBox="1"/>
          <p:nvPr/>
        </p:nvSpPr>
        <p:spPr>
          <a:xfrm>
            <a:off x="6208776"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8" name="Shape 96"/>
          <p:cNvSpPr/>
          <p:nvPr/>
        </p:nvSpPr>
        <p:spPr>
          <a:xfrm>
            <a:off x="8220456" y="3073756"/>
            <a:ext cx="63460" cy="178730"/>
          </a:xfrm>
          <a:prstGeom prst="rect">
            <a:avLst/>
          </a:prstGeom>
          <a:solidFill>
            <a:srgbClr val="C2352F"/>
          </a:solidFill>
          <a:ln/>
        </p:spPr>
      </p:sp>
      <p:sp>
        <p:nvSpPr>
          <p:cNvPr id="99" name="Text 97"/>
          <p:cNvSpPr txBox="1"/>
          <p:nvPr/>
        </p:nvSpPr>
        <p:spPr>
          <a:xfrm>
            <a:off x="9079992" y="3000639"/>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$17,767</a:t>
            </a:r>
            <a:endParaRPr lang="en-US" sz="1300" dirty="0"/>
          </a:p>
        </p:txBody>
      </p:sp>
      <p:sp>
        <p:nvSpPr>
          <p:cNvPr id="100" name="Text 98"/>
          <p:cNvSpPr txBox="1"/>
          <p:nvPr/>
        </p:nvSpPr>
        <p:spPr>
          <a:xfrm>
            <a:off x="9976104"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101" name="Text 99"/>
          <p:cNvSpPr txBox="1"/>
          <p:nvPr/>
        </p:nvSpPr>
        <p:spPr>
          <a:xfrm>
            <a:off x="10543032"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240</a:t>
            </a:r>
            <a:endParaRPr lang="en-US" sz="1300" dirty="0"/>
          </a:p>
        </p:txBody>
      </p:sp>
      <p:sp>
        <p:nvSpPr>
          <p:cNvPr id="102" name="Text 100"/>
          <p:cNvSpPr txBox="1"/>
          <p:nvPr/>
        </p:nvSpPr>
        <p:spPr>
          <a:xfrm>
            <a:off x="6208776"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3" name="Shape 101"/>
          <p:cNvSpPr/>
          <p:nvPr/>
        </p:nvSpPr>
        <p:spPr>
          <a:xfrm>
            <a:off x="8220456" y="3398719"/>
            <a:ext cx="43158" cy="178730"/>
          </a:xfrm>
          <a:prstGeom prst="rect">
            <a:avLst/>
          </a:prstGeom>
          <a:solidFill>
            <a:srgbClr val="C2352F"/>
          </a:solidFill>
          <a:ln/>
        </p:spPr>
      </p:sp>
      <p:sp>
        <p:nvSpPr>
          <p:cNvPr id="104" name="Text 102"/>
          <p:cNvSpPr txBox="1"/>
          <p:nvPr/>
        </p:nvSpPr>
        <p:spPr>
          <a:xfrm>
            <a:off x="9079992" y="3325602"/>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$12,083</a:t>
            </a:r>
            <a:endParaRPr lang="en-US" sz="1300" dirty="0"/>
          </a:p>
        </p:txBody>
      </p:sp>
      <p:sp>
        <p:nvSpPr>
          <p:cNvPr id="105" name="Text 103"/>
          <p:cNvSpPr txBox="1"/>
          <p:nvPr/>
        </p:nvSpPr>
        <p:spPr>
          <a:xfrm>
            <a:off x="9976104"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06" name="Text 104"/>
          <p:cNvSpPr txBox="1"/>
          <p:nvPr/>
        </p:nvSpPr>
        <p:spPr>
          <a:xfrm>
            <a:off x="10543032"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a:t>
            </a:r>
            <a:endParaRPr lang="en-US" sz="1300" dirty="0"/>
          </a:p>
        </p:txBody>
      </p:sp>
      <p:sp>
        <p:nvSpPr>
          <p:cNvPr id="107" name="Text 105"/>
          <p:cNvSpPr txBox="1"/>
          <p:nvPr/>
        </p:nvSpPr>
        <p:spPr>
          <a:xfrm>
            <a:off x="6208776"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08" name="Shape 106"/>
          <p:cNvSpPr/>
          <p:nvPr/>
        </p:nvSpPr>
        <p:spPr>
          <a:xfrm>
            <a:off x="8220456" y="3723683"/>
            <a:ext cx="41054" cy="178730"/>
          </a:xfrm>
          <a:prstGeom prst="rect">
            <a:avLst/>
          </a:prstGeom>
          <a:solidFill>
            <a:srgbClr val="C2352F"/>
          </a:solidFill>
          <a:ln/>
        </p:spPr>
      </p:sp>
      <p:sp>
        <p:nvSpPr>
          <p:cNvPr id="109" name="Text 107"/>
          <p:cNvSpPr txBox="1"/>
          <p:nvPr/>
        </p:nvSpPr>
        <p:spPr>
          <a:xfrm>
            <a:off x="9079992" y="3650566"/>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$11,494</a:t>
            </a:r>
            <a:endParaRPr lang="en-US" sz="1300" dirty="0"/>
          </a:p>
        </p:txBody>
      </p:sp>
      <p:sp>
        <p:nvSpPr>
          <p:cNvPr id="110" name="Text 108"/>
          <p:cNvSpPr txBox="1"/>
          <p:nvPr/>
        </p:nvSpPr>
        <p:spPr>
          <a:xfrm>
            <a:off x="9976104"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11" name="Text 109"/>
          <p:cNvSpPr txBox="1"/>
          <p:nvPr/>
        </p:nvSpPr>
        <p:spPr>
          <a:xfrm>
            <a:off x="10543032"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112" name="Text 110"/>
          <p:cNvSpPr txBox="1"/>
          <p:nvPr/>
        </p:nvSpPr>
        <p:spPr>
          <a:xfrm>
            <a:off x="6208776"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3" name="Shape 111"/>
          <p:cNvSpPr/>
          <p:nvPr/>
        </p:nvSpPr>
        <p:spPr>
          <a:xfrm>
            <a:off x="8220456" y="4048647"/>
            <a:ext cx="37178" cy="178730"/>
          </a:xfrm>
          <a:prstGeom prst="rect">
            <a:avLst/>
          </a:prstGeom>
          <a:solidFill>
            <a:srgbClr val="C2352F"/>
          </a:solidFill>
          <a:ln/>
        </p:spPr>
      </p:sp>
      <p:sp>
        <p:nvSpPr>
          <p:cNvPr id="114" name="Text 112"/>
          <p:cNvSpPr txBox="1"/>
          <p:nvPr/>
        </p:nvSpPr>
        <p:spPr>
          <a:xfrm>
            <a:off x="9079992" y="3975530"/>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$10,409</a:t>
            </a:r>
            <a:endParaRPr lang="en-US" sz="1300" dirty="0"/>
          </a:p>
        </p:txBody>
      </p:sp>
      <p:sp>
        <p:nvSpPr>
          <p:cNvPr id="115" name="Text 113"/>
          <p:cNvSpPr txBox="1"/>
          <p:nvPr/>
        </p:nvSpPr>
        <p:spPr>
          <a:xfrm>
            <a:off x="9976104"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16" name="Text 114"/>
          <p:cNvSpPr txBox="1"/>
          <p:nvPr/>
        </p:nvSpPr>
        <p:spPr>
          <a:xfrm>
            <a:off x="10543032"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117" name="Text 115"/>
          <p:cNvSpPr txBox="1"/>
          <p:nvPr/>
        </p:nvSpPr>
        <p:spPr>
          <a:xfrm>
            <a:off x="6208776"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18" name="Shape 116"/>
          <p:cNvSpPr/>
          <p:nvPr/>
        </p:nvSpPr>
        <p:spPr>
          <a:xfrm>
            <a:off x="8220456" y="4373610"/>
            <a:ext cx="34892" cy="178730"/>
          </a:xfrm>
          <a:prstGeom prst="rect">
            <a:avLst/>
          </a:prstGeom>
          <a:solidFill>
            <a:srgbClr val="C2352F"/>
          </a:solidFill>
          <a:ln/>
        </p:spPr>
      </p:sp>
      <p:sp>
        <p:nvSpPr>
          <p:cNvPr id="119" name="Text 117"/>
          <p:cNvSpPr txBox="1"/>
          <p:nvPr/>
        </p:nvSpPr>
        <p:spPr>
          <a:xfrm>
            <a:off x="9079992" y="430049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$9,769</a:t>
            </a:r>
            <a:endParaRPr lang="en-US" sz="1300" dirty="0"/>
          </a:p>
        </p:txBody>
      </p:sp>
      <p:sp>
        <p:nvSpPr>
          <p:cNvPr id="120" name="Text 118"/>
          <p:cNvSpPr txBox="1"/>
          <p:nvPr/>
        </p:nvSpPr>
        <p:spPr>
          <a:xfrm>
            <a:off x="9976104"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21" name="Text 119"/>
          <p:cNvSpPr txBox="1"/>
          <p:nvPr/>
        </p:nvSpPr>
        <p:spPr>
          <a:xfrm>
            <a:off x="10543032"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122" name="Text 120"/>
          <p:cNvSpPr txBox="1"/>
          <p:nvPr/>
        </p:nvSpPr>
        <p:spPr>
          <a:xfrm>
            <a:off x="6208776"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3" name="Shape 121"/>
          <p:cNvSpPr/>
          <p:nvPr/>
        </p:nvSpPr>
        <p:spPr>
          <a:xfrm>
            <a:off x="8220456" y="4698574"/>
            <a:ext cx="32614" cy="178730"/>
          </a:xfrm>
          <a:prstGeom prst="rect">
            <a:avLst/>
          </a:prstGeom>
          <a:solidFill>
            <a:srgbClr val="C2352F"/>
          </a:solidFill>
          <a:ln/>
        </p:spPr>
      </p:sp>
      <p:sp>
        <p:nvSpPr>
          <p:cNvPr id="124" name="Text 122"/>
          <p:cNvSpPr txBox="1"/>
          <p:nvPr/>
        </p:nvSpPr>
        <p:spPr>
          <a:xfrm>
            <a:off x="9079992" y="4625457"/>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$9,131</a:t>
            </a:r>
            <a:endParaRPr lang="en-US" sz="1300" dirty="0"/>
          </a:p>
        </p:txBody>
      </p:sp>
      <p:sp>
        <p:nvSpPr>
          <p:cNvPr id="125" name="Text 123"/>
          <p:cNvSpPr txBox="1"/>
          <p:nvPr/>
        </p:nvSpPr>
        <p:spPr>
          <a:xfrm>
            <a:off x="9976104"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26" name="Text 124"/>
          <p:cNvSpPr txBox="1"/>
          <p:nvPr/>
        </p:nvSpPr>
        <p:spPr>
          <a:xfrm>
            <a:off x="10543032"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a:t>
            </a:r>
            <a:endParaRPr lang="en-US" sz="1300" dirty="0"/>
          </a:p>
        </p:txBody>
      </p:sp>
      <p:sp>
        <p:nvSpPr>
          <p:cNvPr id="127" name="Text 125"/>
          <p:cNvSpPr txBox="1"/>
          <p:nvPr/>
        </p:nvSpPr>
        <p:spPr>
          <a:xfrm>
            <a:off x="6208776"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28" name="Shape 126"/>
          <p:cNvSpPr/>
          <p:nvPr/>
        </p:nvSpPr>
        <p:spPr>
          <a:xfrm>
            <a:off x="8220456" y="5023538"/>
            <a:ext cx="25924" cy="178730"/>
          </a:xfrm>
          <a:prstGeom prst="rect">
            <a:avLst/>
          </a:prstGeom>
          <a:solidFill>
            <a:srgbClr val="C2352F"/>
          </a:solidFill>
          <a:ln/>
        </p:spPr>
      </p:sp>
      <p:sp>
        <p:nvSpPr>
          <p:cNvPr id="129" name="Text 127"/>
          <p:cNvSpPr txBox="1"/>
          <p:nvPr/>
        </p:nvSpPr>
        <p:spPr>
          <a:xfrm>
            <a:off x="9079992" y="495042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$7,258</a:t>
            </a:r>
            <a:endParaRPr lang="en-US" sz="1300" dirty="0"/>
          </a:p>
        </p:txBody>
      </p:sp>
      <p:sp>
        <p:nvSpPr>
          <p:cNvPr id="130" name="Text 128"/>
          <p:cNvSpPr txBox="1"/>
          <p:nvPr/>
        </p:nvSpPr>
        <p:spPr>
          <a:xfrm>
            <a:off x="9976104"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31" name="Text 129"/>
          <p:cNvSpPr txBox="1"/>
          <p:nvPr/>
        </p:nvSpPr>
        <p:spPr>
          <a:xfrm>
            <a:off x="10543032"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32" name="Text 130"/>
          <p:cNvSpPr txBox="1"/>
          <p:nvPr/>
        </p:nvSpPr>
        <p:spPr>
          <a:xfrm>
            <a:off x="6208776"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3" name="Shape 131"/>
          <p:cNvSpPr/>
          <p:nvPr/>
        </p:nvSpPr>
        <p:spPr>
          <a:xfrm>
            <a:off x="8220456" y="5348501"/>
            <a:ext cx="18288" cy="178730"/>
          </a:xfrm>
          <a:prstGeom prst="rect">
            <a:avLst/>
          </a:prstGeom>
          <a:solidFill>
            <a:srgbClr val="C2352F"/>
          </a:solidFill>
          <a:ln/>
        </p:spPr>
      </p:sp>
      <p:sp>
        <p:nvSpPr>
          <p:cNvPr id="134" name="Text 132"/>
          <p:cNvSpPr txBox="1"/>
          <p:nvPr/>
        </p:nvSpPr>
        <p:spPr>
          <a:xfrm>
            <a:off x="9079992" y="527538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$865</a:t>
            </a:r>
            <a:endParaRPr lang="en-US" sz="1300" dirty="0"/>
          </a:p>
        </p:txBody>
      </p:sp>
      <p:sp>
        <p:nvSpPr>
          <p:cNvPr id="135" name="Text 133"/>
          <p:cNvSpPr txBox="1"/>
          <p:nvPr/>
        </p:nvSpPr>
        <p:spPr>
          <a:xfrm>
            <a:off x="9976104"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36" name="Text 134"/>
          <p:cNvSpPr txBox="1"/>
          <p:nvPr/>
        </p:nvSpPr>
        <p:spPr>
          <a:xfrm>
            <a:off x="10543032"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37" name="Shape 135"/>
          <p:cNvSpPr/>
          <p:nvPr/>
        </p:nvSpPr>
        <p:spPr>
          <a:xfrm>
            <a:off x="457200" y="6126480"/>
            <a:ext cx="11274552" cy="364236"/>
          </a:xfrm>
          <a:prstGeom prst="rect">
            <a:avLst/>
          </a:prstGeom>
          <a:solidFill>
            <a:srgbClr val="FBEBEA"/>
          </a:solidFill>
          <a:ln/>
        </p:spPr>
      </p:sp>
      <p:sp>
        <p:nvSpPr>
          <p:cNvPr id="138" name="Text 13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A82B26"/>
                </a:solidFill>
                <a:latin typeface="Inter" pitchFamily="34" charset="0"/>
                <a:ea typeface="Inter" pitchFamily="34" charset="-122"/>
                <a:cs typeface="Inter" pitchFamily="34" charset="-120"/>
              </a:rPr>
              <a:t>25 stores under 15% leave $1,029,276 a year: 9,935 services. Toyota Spokane has the most at $225,288.</a:t>
            </a:r>
            <a:endParaRPr lang="en-US" sz="1550" dirty="0"/>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9584"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079992"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64152"/>
            <a:ext cx="804672" cy="154899"/>
          </a:xfrm>
          <a:prstGeom prst="rect">
            <a:avLst/>
          </a:prstGeom>
          <a:solidFill>
            <a:srgbClr val="C2352F"/>
          </a:solidFill>
          <a:ln/>
        </p:spPr>
      </p:sp>
      <p:sp>
        <p:nvSpPr>
          <p:cNvPr id="14" name="Text 12"/>
          <p:cNvSpPr txBox="1"/>
          <p:nvPr/>
        </p:nvSpPr>
        <p:spPr>
          <a:xfrm>
            <a:off x="3529584" y="1700784"/>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$179,701</a:t>
            </a:r>
            <a:endParaRPr lang="en-US" sz="1300" dirty="0"/>
          </a:p>
        </p:txBody>
      </p:sp>
      <p:sp>
        <p:nvSpPr>
          <p:cNvPr id="15" name="Text 13"/>
          <p:cNvSpPr txBox="1"/>
          <p:nvPr/>
        </p:nvSpPr>
        <p:spPr>
          <a:xfrm>
            <a:off x="4425696" y="170078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6" name="Text 14"/>
          <p:cNvSpPr txBox="1"/>
          <p:nvPr/>
        </p:nvSpPr>
        <p:spPr>
          <a:xfrm>
            <a:off x="4992624" y="170078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3,361</a:t>
            </a:r>
            <a:endParaRPr lang="en-US" sz="1300" dirty="0"/>
          </a:p>
        </p:txBody>
      </p:sp>
      <p:sp>
        <p:nvSpPr>
          <p:cNvPr id="17" name="Text 15"/>
          <p:cNvSpPr txBox="1"/>
          <p:nvPr/>
        </p:nvSpPr>
        <p:spPr>
          <a:xfrm>
            <a:off x="658368" y="1982419"/>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8" name="Shape 16"/>
          <p:cNvSpPr/>
          <p:nvPr/>
        </p:nvSpPr>
        <p:spPr>
          <a:xfrm>
            <a:off x="2670048" y="2045787"/>
            <a:ext cx="659813" cy="154899"/>
          </a:xfrm>
          <a:prstGeom prst="rect">
            <a:avLst/>
          </a:prstGeom>
          <a:solidFill>
            <a:srgbClr val="C2352F"/>
          </a:solidFill>
          <a:ln/>
        </p:spPr>
      </p:sp>
      <p:sp>
        <p:nvSpPr>
          <p:cNvPr id="19" name="Text 17"/>
          <p:cNvSpPr txBox="1"/>
          <p:nvPr/>
        </p:nvSpPr>
        <p:spPr>
          <a:xfrm>
            <a:off x="3529584" y="1982419"/>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$147,351</a:t>
            </a:r>
            <a:endParaRPr lang="en-US" sz="1300" dirty="0"/>
          </a:p>
        </p:txBody>
      </p:sp>
      <p:sp>
        <p:nvSpPr>
          <p:cNvPr id="20" name="Text 18"/>
          <p:cNvSpPr txBox="1"/>
          <p:nvPr/>
        </p:nvSpPr>
        <p:spPr>
          <a:xfrm>
            <a:off x="4425696" y="1982419"/>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21" name="Text 19"/>
          <p:cNvSpPr txBox="1"/>
          <p:nvPr/>
        </p:nvSpPr>
        <p:spPr>
          <a:xfrm>
            <a:off x="4992624" y="1982419"/>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2,671</a:t>
            </a:r>
            <a:endParaRPr lang="en-US" sz="1300" dirty="0"/>
          </a:p>
        </p:txBody>
      </p:sp>
      <p:sp>
        <p:nvSpPr>
          <p:cNvPr id="22" name="Text 20"/>
          <p:cNvSpPr txBox="1"/>
          <p:nvPr/>
        </p:nvSpPr>
        <p:spPr>
          <a:xfrm>
            <a:off x="658368" y="226405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3" name="Shape 21"/>
          <p:cNvSpPr/>
          <p:nvPr/>
        </p:nvSpPr>
        <p:spPr>
          <a:xfrm>
            <a:off x="2670048" y="2327422"/>
            <a:ext cx="592487" cy="154899"/>
          </a:xfrm>
          <a:prstGeom prst="rect">
            <a:avLst/>
          </a:prstGeom>
          <a:solidFill>
            <a:srgbClr val="C2352F"/>
          </a:solidFill>
          <a:ln/>
        </p:spPr>
      </p:sp>
      <p:sp>
        <p:nvSpPr>
          <p:cNvPr id="24" name="Text 22"/>
          <p:cNvSpPr txBox="1"/>
          <p:nvPr/>
        </p:nvSpPr>
        <p:spPr>
          <a:xfrm>
            <a:off x="3529584" y="2264054"/>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$132,315</a:t>
            </a:r>
            <a:endParaRPr lang="en-US" sz="1300" dirty="0"/>
          </a:p>
        </p:txBody>
      </p:sp>
      <p:sp>
        <p:nvSpPr>
          <p:cNvPr id="25" name="Text 23"/>
          <p:cNvSpPr txBox="1"/>
          <p:nvPr/>
        </p:nvSpPr>
        <p:spPr>
          <a:xfrm>
            <a:off x="4425696" y="226405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26" name="Text 24"/>
          <p:cNvSpPr txBox="1"/>
          <p:nvPr/>
        </p:nvSpPr>
        <p:spPr>
          <a:xfrm>
            <a:off x="4992624" y="226405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1,590</a:t>
            </a:r>
            <a:endParaRPr lang="en-US" sz="1300" dirty="0"/>
          </a:p>
        </p:txBody>
      </p:sp>
      <p:sp>
        <p:nvSpPr>
          <p:cNvPr id="27" name="Text 25"/>
          <p:cNvSpPr txBox="1"/>
          <p:nvPr/>
        </p:nvSpPr>
        <p:spPr>
          <a:xfrm>
            <a:off x="658368" y="254569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8" name="Shape 26"/>
          <p:cNvSpPr/>
          <p:nvPr/>
        </p:nvSpPr>
        <p:spPr>
          <a:xfrm>
            <a:off x="2670048" y="2609058"/>
            <a:ext cx="559295" cy="154899"/>
          </a:xfrm>
          <a:prstGeom prst="rect">
            <a:avLst/>
          </a:prstGeom>
          <a:solidFill>
            <a:srgbClr val="C2352F"/>
          </a:solidFill>
          <a:ln/>
        </p:spPr>
      </p:sp>
      <p:sp>
        <p:nvSpPr>
          <p:cNvPr id="29" name="Text 27"/>
          <p:cNvSpPr txBox="1"/>
          <p:nvPr/>
        </p:nvSpPr>
        <p:spPr>
          <a:xfrm>
            <a:off x="3529584" y="2545690"/>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$124,903</a:t>
            </a:r>
            <a:endParaRPr lang="en-US" sz="1300" dirty="0"/>
          </a:p>
        </p:txBody>
      </p:sp>
      <p:sp>
        <p:nvSpPr>
          <p:cNvPr id="30" name="Text 28"/>
          <p:cNvSpPr txBox="1"/>
          <p:nvPr/>
        </p:nvSpPr>
        <p:spPr>
          <a:xfrm>
            <a:off x="4425696" y="254569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31" name="Text 29"/>
          <p:cNvSpPr txBox="1"/>
          <p:nvPr/>
        </p:nvSpPr>
        <p:spPr>
          <a:xfrm>
            <a:off x="4992624" y="254569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837</a:t>
            </a:r>
            <a:endParaRPr lang="en-US" sz="1300" dirty="0"/>
          </a:p>
        </p:txBody>
      </p:sp>
      <p:sp>
        <p:nvSpPr>
          <p:cNvPr id="32" name="Text 30"/>
          <p:cNvSpPr txBox="1"/>
          <p:nvPr/>
        </p:nvSpPr>
        <p:spPr>
          <a:xfrm>
            <a:off x="658368" y="282732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3" name="Shape 31"/>
          <p:cNvSpPr/>
          <p:nvPr/>
        </p:nvSpPr>
        <p:spPr>
          <a:xfrm>
            <a:off x="2670048" y="2890693"/>
            <a:ext cx="488325" cy="154899"/>
          </a:xfrm>
          <a:prstGeom prst="rect">
            <a:avLst/>
          </a:prstGeom>
          <a:solidFill>
            <a:srgbClr val="C2352F"/>
          </a:solidFill>
          <a:ln/>
        </p:spPr>
      </p:sp>
      <p:sp>
        <p:nvSpPr>
          <p:cNvPr id="34" name="Text 32"/>
          <p:cNvSpPr txBox="1"/>
          <p:nvPr/>
        </p:nvSpPr>
        <p:spPr>
          <a:xfrm>
            <a:off x="3529584" y="2827325"/>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$109,054</a:t>
            </a:r>
            <a:endParaRPr lang="en-US" sz="1300" dirty="0"/>
          </a:p>
        </p:txBody>
      </p:sp>
      <p:sp>
        <p:nvSpPr>
          <p:cNvPr id="35" name="Text 33"/>
          <p:cNvSpPr txBox="1"/>
          <p:nvPr/>
        </p:nvSpPr>
        <p:spPr>
          <a:xfrm>
            <a:off x="4425696" y="282732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6" name="Text 34"/>
          <p:cNvSpPr txBox="1"/>
          <p:nvPr/>
        </p:nvSpPr>
        <p:spPr>
          <a:xfrm>
            <a:off x="4992624" y="282732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2,031</a:t>
            </a:r>
            <a:endParaRPr lang="en-US" sz="1300" dirty="0"/>
          </a:p>
        </p:txBody>
      </p:sp>
      <p:sp>
        <p:nvSpPr>
          <p:cNvPr id="37" name="Text 35"/>
          <p:cNvSpPr txBox="1"/>
          <p:nvPr/>
        </p:nvSpPr>
        <p:spPr>
          <a:xfrm>
            <a:off x="658368" y="310896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8" name="Shape 36"/>
          <p:cNvSpPr/>
          <p:nvPr/>
        </p:nvSpPr>
        <p:spPr>
          <a:xfrm>
            <a:off x="2670048" y="3172328"/>
            <a:ext cx="475963" cy="154899"/>
          </a:xfrm>
          <a:prstGeom prst="rect">
            <a:avLst/>
          </a:prstGeom>
          <a:solidFill>
            <a:srgbClr val="C2352F"/>
          </a:solidFill>
          <a:ln/>
        </p:spPr>
      </p:sp>
      <p:sp>
        <p:nvSpPr>
          <p:cNvPr id="39" name="Text 37"/>
          <p:cNvSpPr txBox="1"/>
          <p:nvPr/>
        </p:nvSpPr>
        <p:spPr>
          <a:xfrm>
            <a:off x="3529584" y="3108960"/>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$106,293</a:t>
            </a:r>
            <a:endParaRPr lang="en-US" sz="1300" dirty="0"/>
          </a:p>
        </p:txBody>
      </p:sp>
      <p:sp>
        <p:nvSpPr>
          <p:cNvPr id="40" name="Text 38"/>
          <p:cNvSpPr txBox="1"/>
          <p:nvPr/>
        </p:nvSpPr>
        <p:spPr>
          <a:xfrm>
            <a:off x="4425696" y="310896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41" name="Text 39"/>
          <p:cNvSpPr txBox="1"/>
          <p:nvPr/>
        </p:nvSpPr>
        <p:spPr>
          <a:xfrm>
            <a:off x="4992624" y="310896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2,001</a:t>
            </a:r>
            <a:endParaRPr lang="en-US" sz="1300" dirty="0"/>
          </a:p>
        </p:txBody>
      </p:sp>
      <p:sp>
        <p:nvSpPr>
          <p:cNvPr id="42" name="Text 40"/>
          <p:cNvSpPr txBox="1"/>
          <p:nvPr/>
        </p:nvSpPr>
        <p:spPr>
          <a:xfrm>
            <a:off x="658368" y="339059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43" name="Shape 41"/>
          <p:cNvSpPr/>
          <p:nvPr/>
        </p:nvSpPr>
        <p:spPr>
          <a:xfrm>
            <a:off x="2670048" y="3453963"/>
            <a:ext cx="358495" cy="154899"/>
          </a:xfrm>
          <a:prstGeom prst="rect">
            <a:avLst/>
          </a:prstGeom>
          <a:solidFill>
            <a:srgbClr val="C2352F"/>
          </a:solidFill>
          <a:ln/>
        </p:spPr>
      </p:sp>
      <p:sp>
        <p:nvSpPr>
          <p:cNvPr id="44" name="Text 42"/>
          <p:cNvSpPr txBox="1"/>
          <p:nvPr/>
        </p:nvSpPr>
        <p:spPr>
          <a:xfrm>
            <a:off x="3529584" y="3390595"/>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$80,060</a:t>
            </a:r>
            <a:endParaRPr lang="en-US" sz="1300" dirty="0"/>
          </a:p>
        </p:txBody>
      </p:sp>
      <p:sp>
        <p:nvSpPr>
          <p:cNvPr id="45" name="Text 43"/>
          <p:cNvSpPr txBox="1"/>
          <p:nvPr/>
        </p:nvSpPr>
        <p:spPr>
          <a:xfrm>
            <a:off x="4425696" y="339059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46" name="Text 44"/>
          <p:cNvSpPr txBox="1"/>
          <p:nvPr/>
        </p:nvSpPr>
        <p:spPr>
          <a:xfrm>
            <a:off x="4992624" y="339059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1,526</a:t>
            </a:r>
            <a:endParaRPr lang="en-US" sz="1300" dirty="0"/>
          </a:p>
        </p:txBody>
      </p:sp>
      <p:sp>
        <p:nvSpPr>
          <p:cNvPr id="47" name="Text 45"/>
          <p:cNvSpPr txBox="1"/>
          <p:nvPr/>
        </p:nvSpPr>
        <p:spPr>
          <a:xfrm>
            <a:off x="658368" y="367223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3735598"/>
            <a:ext cx="343305" cy="154899"/>
          </a:xfrm>
          <a:prstGeom prst="rect">
            <a:avLst/>
          </a:prstGeom>
          <a:solidFill>
            <a:srgbClr val="C2352F"/>
          </a:solidFill>
          <a:ln/>
        </p:spPr>
      </p:sp>
      <p:sp>
        <p:nvSpPr>
          <p:cNvPr id="49" name="Text 47"/>
          <p:cNvSpPr txBox="1"/>
          <p:nvPr/>
        </p:nvSpPr>
        <p:spPr>
          <a:xfrm>
            <a:off x="3529584" y="3672230"/>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$76,668</a:t>
            </a:r>
            <a:endParaRPr lang="en-US" sz="1300" dirty="0"/>
          </a:p>
        </p:txBody>
      </p:sp>
      <p:sp>
        <p:nvSpPr>
          <p:cNvPr id="50" name="Text 48"/>
          <p:cNvSpPr txBox="1"/>
          <p:nvPr/>
        </p:nvSpPr>
        <p:spPr>
          <a:xfrm>
            <a:off x="4425696" y="367223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51" name="Text 49"/>
          <p:cNvSpPr txBox="1"/>
          <p:nvPr/>
        </p:nvSpPr>
        <p:spPr>
          <a:xfrm>
            <a:off x="4992624" y="367223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1,296</a:t>
            </a:r>
            <a:endParaRPr lang="en-US" sz="1300" dirty="0"/>
          </a:p>
        </p:txBody>
      </p:sp>
      <p:sp>
        <p:nvSpPr>
          <p:cNvPr id="52" name="Text 50"/>
          <p:cNvSpPr txBox="1"/>
          <p:nvPr/>
        </p:nvSpPr>
        <p:spPr>
          <a:xfrm>
            <a:off x="658368" y="395386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3" name="Shape 51"/>
          <p:cNvSpPr/>
          <p:nvPr/>
        </p:nvSpPr>
        <p:spPr>
          <a:xfrm>
            <a:off x="2670048" y="4017234"/>
            <a:ext cx="328186" cy="154899"/>
          </a:xfrm>
          <a:prstGeom prst="rect">
            <a:avLst/>
          </a:prstGeom>
          <a:solidFill>
            <a:srgbClr val="C2352F"/>
          </a:solidFill>
          <a:ln/>
        </p:spPr>
      </p:sp>
      <p:sp>
        <p:nvSpPr>
          <p:cNvPr id="54" name="Text 52"/>
          <p:cNvSpPr txBox="1"/>
          <p:nvPr/>
        </p:nvSpPr>
        <p:spPr>
          <a:xfrm>
            <a:off x="3529584" y="3953866"/>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$73,291</a:t>
            </a:r>
            <a:endParaRPr lang="en-US" sz="1300" dirty="0"/>
          </a:p>
        </p:txBody>
      </p:sp>
      <p:sp>
        <p:nvSpPr>
          <p:cNvPr id="55" name="Text 53"/>
          <p:cNvSpPr txBox="1"/>
          <p:nvPr/>
        </p:nvSpPr>
        <p:spPr>
          <a:xfrm>
            <a:off x="4425696" y="395386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56" name="Text 54"/>
          <p:cNvSpPr txBox="1"/>
          <p:nvPr/>
        </p:nvSpPr>
        <p:spPr>
          <a:xfrm>
            <a:off x="4992624" y="395386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981</a:t>
            </a:r>
            <a:endParaRPr lang="en-US" sz="1300" dirty="0"/>
          </a:p>
        </p:txBody>
      </p:sp>
      <p:sp>
        <p:nvSpPr>
          <p:cNvPr id="57" name="Text 55"/>
          <p:cNvSpPr txBox="1"/>
          <p:nvPr/>
        </p:nvSpPr>
        <p:spPr>
          <a:xfrm>
            <a:off x="658368" y="423550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4298869"/>
            <a:ext cx="321360" cy="154899"/>
          </a:xfrm>
          <a:prstGeom prst="rect">
            <a:avLst/>
          </a:prstGeom>
          <a:solidFill>
            <a:srgbClr val="C2352F"/>
          </a:solidFill>
          <a:ln/>
        </p:spPr>
      </p:sp>
      <p:sp>
        <p:nvSpPr>
          <p:cNvPr id="59" name="Text 57"/>
          <p:cNvSpPr txBox="1"/>
          <p:nvPr/>
        </p:nvSpPr>
        <p:spPr>
          <a:xfrm>
            <a:off x="3529584" y="4235501"/>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$71,767</a:t>
            </a:r>
            <a:endParaRPr lang="en-US" sz="1300" dirty="0"/>
          </a:p>
        </p:txBody>
      </p:sp>
      <p:sp>
        <p:nvSpPr>
          <p:cNvPr id="60" name="Text 58"/>
          <p:cNvSpPr txBox="1"/>
          <p:nvPr/>
        </p:nvSpPr>
        <p:spPr>
          <a:xfrm>
            <a:off x="4425696" y="423550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61" name="Text 59"/>
          <p:cNvSpPr txBox="1"/>
          <p:nvPr/>
        </p:nvSpPr>
        <p:spPr>
          <a:xfrm>
            <a:off x="4992624" y="423550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1,059</a:t>
            </a:r>
            <a:endParaRPr lang="en-US" sz="1300" dirty="0"/>
          </a:p>
        </p:txBody>
      </p:sp>
      <p:sp>
        <p:nvSpPr>
          <p:cNvPr id="62" name="Text 60"/>
          <p:cNvSpPr txBox="1"/>
          <p:nvPr/>
        </p:nvSpPr>
        <p:spPr>
          <a:xfrm>
            <a:off x="658368" y="451713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63" name="Shape 61"/>
          <p:cNvSpPr/>
          <p:nvPr/>
        </p:nvSpPr>
        <p:spPr>
          <a:xfrm>
            <a:off x="2670048" y="4580504"/>
            <a:ext cx="303740" cy="154899"/>
          </a:xfrm>
          <a:prstGeom prst="rect">
            <a:avLst/>
          </a:prstGeom>
          <a:solidFill>
            <a:srgbClr val="C2352F"/>
          </a:solidFill>
          <a:ln/>
        </p:spPr>
      </p:sp>
      <p:sp>
        <p:nvSpPr>
          <p:cNvPr id="64" name="Text 62"/>
          <p:cNvSpPr txBox="1"/>
          <p:nvPr/>
        </p:nvSpPr>
        <p:spPr>
          <a:xfrm>
            <a:off x="3529584" y="4517136"/>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$67,832</a:t>
            </a:r>
            <a:endParaRPr lang="en-US" sz="1300" dirty="0"/>
          </a:p>
        </p:txBody>
      </p:sp>
      <p:sp>
        <p:nvSpPr>
          <p:cNvPr id="65" name="Text 63"/>
          <p:cNvSpPr txBox="1"/>
          <p:nvPr/>
        </p:nvSpPr>
        <p:spPr>
          <a:xfrm>
            <a:off x="4425696" y="451713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66" name="Text 64"/>
          <p:cNvSpPr txBox="1"/>
          <p:nvPr/>
        </p:nvSpPr>
        <p:spPr>
          <a:xfrm>
            <a:off x="4992624" y="451713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909</a:t>
            </a:r>
            <a:endParaRPr lang="en-US" sz="1300" dirty="0"/>
          </a:p>
        </p:txBody>
      </p:sp>
      <p:sp>
        <p:nvSpPr>
          <p:cNvPr id="67" name="Text 65"/>
          <p:cNvSpPr txBox="1"/>
          <p:nvPr/>
        </p:nvSpPr>
        <p:spPr>
          <a:xfrm>
            <a:off x="658368" y="479877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68" name="Shape 66"/>
          <p:cNvSpPr/>
          <p:nvPr/>
        </p:nvSpPr>
        <p:spPr>
          <a:xfrm>
            <a:off x="2670048" y="4862139"/>
            <a:ext cx="303633" cy="154899"/>
          </a:xfrm>
          <a:prstGeom prst="rect">
            <a:avLst/>
          </a:prstGeom>
          <a:solidFill>
            <a:srgbClr val="C2352F"/>
          </a:solidFill>
          <a:ln/>
        </p:spPr>
      </p:sp>
      <p:sp>
        <p:nvSpPr>
          <p:cNvPr id="69" name="Text 67"/>
          <p:cNvSpPr txBox="1"/>
          <p:nvPr/>
        </p:nvSpPr>
        <p:spPr>
          <a:xfrm>
            <a:off x="3529584" y="4798771"/>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$67,808</a:t>
            </a:r>
            <a:endParaRPr lang="en-US" sz="1300" dirty="0"/>
          </a:p>
        </p:txBody>
      </p:sp>
      <p:sp>
        <p:nvSpPr>
          <p:cNvPr id="70" name="Text 68"/>
          <p:cNvSpPr txBox="1"/>
          <p:nvPr/>
        </p:nvSpPr>
        <p:spPr>
          <a:xfrm>
            <a:off x="4425696" y="479877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71" name="Text 69"/>
          <p:cNvSpPr txBox="1"/>
          <p:nvPr/>
        </p:nvSpPr>
        <p:spPr>
          <a:xfrm>
            <a:off x="4992624" y="479877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909</a:t>
            </a:r>
            <a:endParaRPr lang="en-US" sz="1300" dirty="0"/>
          </a:p>
        </p:txBody>
      </p:sp>
      <p:sp>
        <p:nvSpPr>
          <p:cNvPr id="72" name="Text 70"/>
          <p:cNvSpPr txBox="1"/>
          <p:nvPr/>
        </p:nvSpPr>
        <p:spPr>
          <a:xfrm>
            <a:off x="658368" y="508040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73" name="Shape 71"/>
          <p:cNvSpPr/>
          <p:nvPr/>
        </p:nvSpPr>
        <p:spPr>
          <a:xfrm>
            <a:off x="2670048" y="5143774"/>
            <a:ext cx="251992" cy="154899"/>
          </a:xfrm>
          <a:prstGeom prst="rect">
            <a:avLst/>
          </a:prstGeom>
          <a:solidFill>
            <a:srgbClr val="C2352F"/>
          </a:solidFill>
          <a:ln/>
        </p:spPr>
      </p:sp>
      <p:sp>
        <p:nvSpPr>
          <p:cNvPr id="74" name="Text 72"/>
          <p:cNvSpPr txBox="1"/>
          <p:nvPr/>
        </p:nvSpPr>
        <p:spPr>
          <a:xfrm>
            <a:off x="3529584" y="5080406"/>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$56,275</a:t>
            </a:r>
            <a:endParaRPr lang="en-US" sz="1300" dirty="0"/>
          </a:p>
        </p:txBody>
      </p:sp>
      <p:sp>
        <p:nvSpPr>
          <p:cNvPr id="75" name="Text 73"/>
          <p:cNvSpPr txBox="1"/>
          <p:nvPr/>
        </p:nvSpPr>
        <p:spPr>
          <a:xfrm>
            <a:off x="4425696" y="508040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76" name="Text 74"/>
          <p:cNvSpPr txBox="1"/>
          <p:nvPr/>
        </p:nvSpPr>
        <p:spPr>
          <a:xfrm>
            <a:off x="4992624" y="508040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754</a:t>
            </a:r>
            <a:endParaRPr lang="en-US" sz="1300" dirty="0"/>
          </a:p>
        </p:txBody>
      </p:sp>
      <p:sp>
        <p:nvSpPr>
          <p:cNvPr id="77" name="Text 75"/>
          <p:cNvSpPr txBox="1"/>
          <p:nvPr/>
        </p:nvSpPr>
        <p:spPr>
          <a:xfrm>
            <a:off x="658368" y="5362042"/>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8" name="Shape 76"/>
          <p:cNvSpPr/>
          <p:nvPr/>
        </p:nvSpPr>
        <p:spPr>
          <a:xfrm>
            <a:off x="2670048" y="5425410"/>
            <a:ext cx="232442" cy="154899"/>
          </a:xfrm>
          <a:prstGeom prst="rect">
            <a:avLst/>
          </a:prstGeom>
          <a:solidFill>
            <a:srgbClr val="C2352F"/>
          </a:solidFill>
          <a:ln/>
        </p:spPr>
      </p:sp>
      <p:sp>
        <p:nvSpPr>
          <p:cNvPr id="79" name="Text 77"/>
          <p:cNvSpPr txBox="1"/>
          <p:nvPr/>
        </p:nvSpPr>
        <p:spPr>
          <a:xfrm>
            <a:off x="3529584" y="5362042"/>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$51,909</a:t>
            </a:r>
            <a:endParaRPr lang="en-US" sz="1300" dirty="0"/>
          </a:p>
        </p:txBody>
      </p:sp>
      <p:sp>
        <p:nvSpPr>
          <p:cNvPr id="80" name="Text 78"/>
          <p:cNvSpPr txBox="1"/>
          <p:nvPr/>
        </p:nvSpPr>
        <p:spPr>
          <a:xfrm>
            <a:off x="4425696" y="5362042"/>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81" name="Text 79"/>
          <p:cNvSpPr txBox="1"/>
          <p:nvPr/>
        </p:nvSpPr>
        <p:spPr>
          <a:xfrm>
            <a:off x="4992624" y="5362042"/>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696</a:t>
            </a:r>
            <a:endParaRPr lang="en-US" sz="1300" dirty="0"/>
          </a:p>
        </p:txBody>
      </p:sp>
      <p:sp>
        <p:nvSpPr>
          <p:cNvPr id="82" name="Text 80"/>
          <p:cNvSpPr txBox="1"/>
          <p:nvPr/>
        </p:nvSpPr>
        <p:spPr>
          <a:xfrm>
            <a:off x="658368" y="5643677"/>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83" name="Shape 81"/>
          <p:cNvSpPr/>
          <p:nvPr/>
        </p:nvSpPr>
        <p:spPr>
          <a:xfrm>
            <a:off x="2670048" y="5707045"/>
            <a:ext cx="231742" cy="154899"/>
          </a:xfrm>
          <a:prstGeom prst="rect">
            <a:avLst/>
          </a:prstGeom>
          <a:solidFill>
            <a:srgbClr val="C2352F"/>
          </a:solidFill>
          <a:ln/>
        </p:spPr>
      </p:sp>
      <p:sp>
        <p:nvSpPr>
          <p:cNvPr id="84" name="Text 82"/>
          <p:cNvSpPr txBox="1"/>
          <p:nvPr/>
        </p:nvSpPr>
        <p:spPr>
          <a:xfrm>
            <a:off x="3529584" y="5643677"/>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$51,753</a:t>
            </a:r>
            <a:endParaRPr lang="en-US" sz="1300" dirty="0"/>
          </a:p>
        </p:txBody>
      </p:sp>
      <p:sp>
        <p:nvSpPr>
          <p:cNvPr id="85" name="Text 83"/>
          <p:cNvSpPr txBox="1"/>
          <p:nvPr/>
        </p:nvSpPr>
        <p:spPr>
          <a:xfrm>
            <a:off x="4425696" y="5643677"/>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86" name="Text 84"/>
          <p:cNvSpPr txBox="1"/>
          <p:nvPr/>
        </p:nvSpPr>
        <p:spPr>
          <a:xfrm>
            <a:off x="4992624" y="5643677"/>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735</a:t>
            </a:r>
            <a:endParaRPr lang="en-US" sz="1300" dirty="0"/>
          </a:p>
        </p:txBody>
      </p:sp>
      <p:sp>
        <p:nvSpPr>
          <p:cNvPr id="87" name="Text 85"/>
          <p:cNvSpPr txBox="1"/>
          <p:nvPr/>
        </p:nvSpPr>
        <p:spPr>
          <a:xfrm>
            <a:off x="6208776" y="170078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88" name="Shape 86"/>
          <p:cNvSpPr/>
          <p:nvPr/>
        </p:nvSpPr>
        <p:spPr>
          <a:xfrm>
            <a:off x="8220456" y="1764152"/>
            <a:ext cx="171351" cy="154899"/>
          </a:xfrm>
          <a:prstGeom prst="rect">
            <a:avLst/>
          </a:prstGeom>
          <a:solidFill>
            <a:srgbClr val="C2352F"/>
          </a:solidFill>
          <a:ln/>
        </p:spPr>
      </p:sp>
      <p:sp>
        <p:nvSpPr>
          <p:cNvPr id="89" name="Text 87"/>
          <p:cNvSpPr txBox="1"/>
          <p:nvPr/>
        </p:nvSpPr>
        <p:spPr>
          <a:xfrm>
            <a:off x="9079992" y="1700784"/>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$38,266</a:t>
            </a:r>
            <a:endParaRPr lang="en-US" sz="1300" dirty="0"/>
          </a:p>
        </p:txBody>
      </p:sp>
      <p:sp>
        <p:nvSpPr>
          <p:cNvPr id="90" name="Text 88"/>
          <p:cNvSpPr txBox="1"/>
          <p:nvPr/>
        </p:nvSpPr>
        <p:spPr>
          <a:xfrm>
            <a:off x="9976104" y="170078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91" name="Text 89"/>
          <p:cNvSpPr txBox="1"/>
          <p:nvPr/>
        </p:nvSpPr>
        <p:spPr>
          <a:xfrm>
            <a:off x="10543032" y="170078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600</a:t>
            </a:r>
            <a:endParaRPr lang="en-US" sz="1300" dirty="0"/>
          </a:p>
        </p:txBody>
      </p:sp>
      <p:sp>
        <p:nvSpPr>
          <p:cNvPr id="92" name="Text 90"/>
          <p:cNvSpPr txBox="1"/>
          <p:nvPr/>
        </p:nvSpPr>
        <p:spPr>
          <a:xfrm>
            <a:off x="6208776" y="1982419"/>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93" name="Shape 91"/>
          <p:cNvSpPr/>
          <p:nvPr/>
        </p:nvSpPr>
        <p:spPr>
          <a:xfrm>
            <a:off x="8220456" y="2045787"/>
            <a:ext cx="159786" cy="154899"/>
          </a:xfrm>
          <a:prstGeom prst="rect">
            <a:avLst/>
          </a:prstGeom>
          <a:solidFill>
            <a:srgbClr val="C2352F"/>
          </a:solidFill>
          <a:ln/>
        </p:spPr>
      </p:sp>
      <p:sp>
        <p:nvSpPr>
          <p:cNvPr id="94" name="Text 92"/>
          <p:cNvSpPr txBox="1"/>
          <p:nvPr/>
        </p:nvSpPr>
        <p:spPr>
          <a:xfrm>
            <a:off x="9079992" y="1982419"/>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$35,684</a:t>
            </a:r>
            <a:endParaRPr lang="en-US" sz="1300" dirty="0"/>
          </a:p>
        </p:txBody>
      </p:sp>
      <p:sp>
        <p:nvSpPr>
          <p:cNvPr id="95" name="Text 93"/>
          <p:cNvSpPr txBox="1"/>
          <p:nvPr/>
        </p:nvSpPr>
        <p:spPr>
          <a:xfrm>
            <a:off x="9976104" y="1982419"/>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96" name="Text 94"/>
          <p:cNvSpPr txBox="1"/>
          <p:nvPr/>
        </p:nvSpPr>
        <p:spPr>
          <a:xfrm>
            <a:off x="10543032" y="1982419"/>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615</a:t>
            </a:r>
            <a:endParaRPr lang="en-US" sz="1300" dirty="0"/>
          </a:p>
        </p:txBody>
      </p:sp>
      <p:sp>
        <p:nvSpPr>
          <p:cNvPr id="97" name="Text 95"/>
          <p:cNvSpPr txBox="1"/>
          <p:nvPr/>
        </p:nvSpPr>
        <p:spPr>
          <a:xfrm>
            <a:off x="6208776" y="226405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98" name="Shape 96"/>
          <p:cNvSpPr/>
          <p:nvPr/>
        </p:nvSpPr>
        <p:spPr>
          <a:xfrm>
            <a:off x="8220456" y="2327422"/>
            <a:ext cx="138080" cy="154899"/>
          </a:xfrm>
          <a:prstGeom prst="rect">
            <a:avLst/>
          </a:prstGeom>
          <a:solidFill>
            <a:srgbClr val="C2352F"/>
          </a:solidFill>
          <a:ln/>
        </p:spPr>
      </p:sp>
      <p:sp>
        <p:nvSpPr>
          <p:cNvPr id="99" name="Text 97"/>
          <p:cNvSpPr txBox="1"/>
          <p:nvPr/>
        </p:nvSpPr>
        <p:spPr>
          <a:xfrm>
            <a:off x="9079992" y="2264054"/>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$30,836</a:t>
            </a:r>
            <a:endParaRPr lang="en-US" sz="1300" dirty="0"/>
          </a:p>
        </p:txBody>
      </p:sp>
      <p:sp>
        <p:nvSpPr>
          <p:cNvPr id="100" name="Text 98"/>
          <p:cNvSpPr txBox="1"/>
          <p:nvPr/>
        </p:nvSpPr>
        <p:spPr>
          <a:xfrm>
            <a:off x="9976104" y="226405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10543032" y="226405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467</a:t>
            </a:r>
            <a:endParaRPr lang="en-US" sz="1300" dirty="0"/>
          </a:p>
        </p:txBody>
      </p:sp>
      <p:sp>
        <p:nvSpPr>
          <p:cNvPr id="102" name="Text 100"/>
          <p:cNvSpPr txBox="1"/>
          <p:nvPr/>
        </p:nvSpPr>
        <p:spPr>
          <a:xfrm>
            <a:off x="6208776" y="254569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3" name="Shape 101"/>
          <p:cNvSpPr/>
          <p:nvPr/>
        </p:nvSpPr>
        <p:spPr>
          <a:xfrm>
            <a:off x="8220456" y="2609058"/>
            <a:ext cx="124627" cy="154899"/>
          </a:xfrm>
          <a:prstGeom prst="rect">
            <a:avLst/>
          </a:prstGeom>
          <a:solidFill>
            <a:srgbClr val="C2352F"/>
          </a:solidFill>
          <a:ln/>
        </p:spPr>
      </p:sp>
      <p:sp>
        <p:nvSpPr>
          <p:cNvPr id="104" name="Text 102"/>
          <p:cNvSpPr txBox="1"/>
          <p:nvPr/>
        </p:nvSpPr>
        <p:spPr>
          <a:xfrm>
            <a:off x="9079992" y="2545690"/>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$27,832</a:t>
            </a:r>
            <a:endParaRPr lang="en-US" sz="1300" dirty="0"/>
          </a:p>
        </p:txBody>
      </p:sp>
      <p:sp>
        <p:nvSpPr>
          <p:cNvPr id="105" name="Text 103"/>
          <p:cNvSpPr txBox="1"/>
          <p:nvPr/>
        </p:nvSpPr>
        <p:spPr>
          <a:xfrm>
            <a:off x="9976104" y="254569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06" name="Text 104"/>
          <p:cNvSpPr txBox="1"/>
          <p:nvPr/>
        </p:nvSpPr>
        <p:spPr>
          <a:xfrm>
            <a:off x="10543032" y="254569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373</a:t>
            </a:r>
            <a:endParaRPr lang="en-US" sz="1300" dirty="0"/>
          </a:p>
        </p:txBody>
      </p:sp>
      <p:sp>
        <p:nvSpPr>
          <p:cNvPr id="107" name="Text 105"/>
          <p:cNvSpPr txBox="1"/>
          <p:nvPr/>
        </p:nvSpPr>
        <p:spPr>
          <a:xfrm>
            <a:off x="6208776" y="282732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8" name="Shape 106"/>
          <p:cNvSpPr/>
          <p:nvPr/>
        </p:nvSpPr>
        <p:spPr>
          <a:xfrm>
            <a:off x="8220456" y="2890693"/>
            <a:ext cx="122580" cy="154899"/>
          </a:xfrm>
          <a:prstGeom prst="rect">
            <a:avLst/>
          </a:prstGeom>
          <a:solidFill>
            <a:srgbClr val="C2352F"/>
          </a:solidFill>
          <a:ln/>
        </p:spPr>
      </p:sp>
      <p:sp>
        <p:nvSpPr>
          <p:cNvPr id="109" name="Text 107"/>
          <p:cNvSpPr txBox="1"/>
          <p:nvPr/>
        </p:nvSpPr>
        <p:spPr>
          <a:xfrm>
            <a:off x="9079992" y="2827325"/>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$27,375</a:t>
            </a:r>
            <a:endParaRPr lang="en-US" sz="1300" dirty="0"/>
          </a:p>
        </p:txBody>
      </p:sp>
      <p:sp>
        <p:nvSpPr>
          <p:cNvPr id="110" name="Text 108"/>
          <p:cNvSpPr txBox="1"/>
          <p:nvPr/>
        </p:nvSpPr>
        <p:spPr>
          <a:xfrm>
            <a:off x="9976104" y="282732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11" name="Text 109"/>
          <p:cNvSpPr txBox="1"/>
          <p:nvPr/>
        </p:nvSpPr>
        <p:spPr>
          <a:xfrm>
            <a:off x="10543032" y="282732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112" name="Text 110"/>
          <p:cNvSpPr txBox="1"/>
          <p:nvPr/>
        </p:nvSpPr>
        <p:spPr>
          <a:xfrm>
            <a:off x="6208776" y="310896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3172328"/>
            <a:ext cx="120258" cy="154899"/>
          </a:xfrm>
          <a:prstGeom prst="rect">
            <a:avLst/>
          </a:prstGeom>
          <a:solidFill>
            <a:srgbClr val="C2352F"/>
          </a:solidFill>
          <a:ln/>
        </p:spPr>
      </p:sp>
      <p:sp>
        <p:nvSpPr>
          <p:cNvPr id="114" name="Text 112"/>
          <p:cNvSpPr txBox="1"/>
          <p:nvPr/>
        </p:nvSpPr>
        <p:spPr>
          <a:xfrm>
            <a:off x="9079992" y="3108960"/>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$26,856</a:t>
            </a:r>
            <a:endParaRPr lang="en-US" sz="1300" dirty="0"/>
          </a:p>
        </p:txBody>
      </p:sp>
      <p:sp>
        <p:nvSpPr>
          <p:cNvPr id="115" name="Text 113"/>
          <p:cNvSpPr txBox="1"/>
          <p:nvPr/>
        </p:nvSpPr>
        <p:spPr>
          <a:xfrm>
            <a:off x="9976104" y="310896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16" name="Text 114"/>
          <p:cNvSpPr txBox="1"/>
          <p:nvPr/>
        </p:nvSpPr>
        <p:spPr>
          <a:xfrm>
            <a:off x="10543032" y="310896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a:t>
            </a:r>
            <a:endParaRPr lang="en-US" sz="1300" dirty="0"/>
          </a:p>
        </p:txBody>
      </p:sp>
      <p:sp>
        <p:nvSpPr>
          <p:cNvPr id="117" name="Text 115"/>
          <p:cNvSpPr txBox="1"/>
          <p:nvPr/>
        </p:nvSpPr>
        <p:spPr>
          <a:xfrm>
            <a:off x="6208776" y="339059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18" name="Shape 116"/>
          <p:cNvSpPr/>
          <p:nvPr/>
        </p:nvSpPr>
        <p:spPr>
          <a:xfrm>
            <a:off x="8220456" y="3453963"/>
            <a:ext cx="93422" cy="154899"/>
          </a:xfrm>
          <a:prstGeom prst="rect">
            <a:avLst/>
          </a:prstGeom>
          <a:solidFill>
            <a:srgbClr val="C2352F"/>
          </a:solidFill>
          <a:ln/>
        </p:spPr>
      </p:sp>
      <p:sp>
        <p:nvSpPr>
          <p:cNvPr id="119" name="Text 117"/>
          <p:cNvSpPr txBox="1"/>
          <p:nvPr/>
        </p:nvSpPr>
        <p:spPr>
          <a:xfrm>
            <a:off x="9079992" y="3390595"/>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$20,863</a:t>
            </a:r>
            <a:endParaRPr lang="en-US" sz="1300" dirty="0"/>
          </a:p>
        </p:txBody>
      </p:sp>
      <p:sp>
        <p:nvSpPr>
          <p:cNvPr id="120" name="Text 118"/>
          <p:cNvSpPr txBox="1"/>
          <p:nvPr/>
        </p:nvSpPr>
        <p:spPr>
          <a:xfrm>
            <a:off x="9976104" y="339059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121" name="Text 119"/>
          <p:cNvSpPr txBox="1"/>
          <p:nvPr/>
        </p:nvSpPr>
        <p:spPr>
          <a:xfrm>
            <a:off x="10543032" y="339059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496</a:t>
            </a:r>
            <a:endParaRPr lang="en-US" sz="1300" dirty="0"/>
          </a:p>
        </p:txBody>
      </p:sp>
      <p:sp>
        <p:nvSpPr>
          <p:cNvPr id="122" name="Text 120"/>
          <p:cNvSpPr txBox="1"/>
          <p:nvPr/>
        </p:nvSpPr>
        <p:spPr>
          <a:xfrm>
            <a:off x="6208776" y="367223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23" name="Shape 121"/>
          <p:cNvSpPr/>
          <p:nvPr/>
        </p:nvSpPr>
        <p:spPr>
          <a:xfrm>
            <a:off x="8220456" y="3735598"/>
            <a:ext cx="82255" cy="154899"/>
          </a:xfrm>
          <a:prstGeom prst="rect">
            <a:avLst/>
          </a:prstGeom>
          <a:solidFill>
            <a:srgbClr val="C2352F"/>
          </a:solidFill>
          <a:ln/>
        </p:spPr>
      </p:sp>
      <p:sp>
        <p:nvSpPr>
          <p:cNvPr id="124" name="Text 122"/>
          <p:cNvSpPr txBox="1"/>
          <p:nvPr/>
        </p:nvSpPr>
        <p:spPr>
          <a:xfrm>
            <a:off x="9079992" y="3672230"/>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$18,369</a:t>
            </a:r>
            <a:endParaRPr lang="en-US" sz="1300" dirty="0"/>
          </a:p>
        </p:txBody>
      </p:sp>
      <p:sp>
        <p:nvSpPr>
          <p:cNvPr id="125" name="Text 123"/>
          <p:cNvSpPr txBox="1"/>
          <p:nvPr/>
        </p:nvSpPr>
        <p:spPr>
          <a:xfrm>
            <a:off x="9976104" y="367223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26" name="Text 124"/>
          <p:cNvSpPr txBox="1"/>
          <p:nvPr/>
        </p:nvSpPr>
        <p:spPr>
          <a:xfrm>
            <a:off x="10543032" y="367223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380</a:t>
            </a:r>
            <a:endParaRPr lang="en-US" sz="1300" dirty="0"/>
          </a:p>
        </p:txBody>
      </p:sp>
      <p:sp>
        <p:nvSpPr>
          <p:cNvPr id="127" name="Text 125"/>
          <p:cNvSpPr txBox="1"/>
          <p:nvPr/>
        </p:nvSpPr>
        <p:spPr>
          <a:xfrm>
            <a:off x="6208776" y="395386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8" name="Shape 126"/>
          <p:cNvSpPr/>
          <p:nvPr/>
        </p:nvSpPr>
        <p:spPr>
          <a:xfrm>
            <a:off x="8220456" y="4017234"/>
            <a:ext cx="63920" cy="154899"/>
          </a:xfrm>
          <a:prstGeom prst="rect">
            <a:avLst/>
          </a:prstGeom>
          <a:solidFill>
            <a:srgbClr val="C2352F"/>
          </a:solidFill>
          <a:ln/>
        </p:spPr>
      </p:sp>
      <p:sp>
        <p:nvSpPr>
          <p:cNvPr id="129" name="Text 127"/>
          <p:cNvSpPr txBox="1"/>
          <p:nvPr/>
        </p:nvSpPr>
        <p:spPr>
          <a:xfrm>
            <a:off x="9079992" y="3953866"/>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$14,275</a:t>
            </a:r>
            <a:endParaRPr lang="en-US" sz="1300" dirty="0"/>
          </a:p>
        </p:txBody>
      </p:sp>
      <p:sp>
        <p:nvSpPr>
          <p:cNvPr id="130" name="Text 128"/>
          <p:cNvSpPr txBox="1"/>
          <p:nvPr/>
        </p:nvSpPr>
        <p:spPr>
          <a:xfrm>
            <a:off x="9976104" y="395386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31" name="Text 129"/>
          <p:cNvSpPr txBox="1"/>
          <p:nvPr/>
        </p:nvSpPr>
        <p:spPr>
          <a:xfrm>
            <a:off x="10543032" y="395386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a:t>
            </a:r>
            <a:endParaRPr lang="en-US" sz="1300" dirty="0"/>
          </a:p>
        </p:txBody>
      </p:sp>
      <p:sp>
        <p:nvSpPr>
          <p:cNvPr id="132" name="Text 130"/>
          <p:cNvSpPr txBox="1"/>
          <p:nvPr/>
        </p:nvSpPr>
        <p:spPr>
          <a:xfrm>
            <a:off x="6208776" y="423550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4298869"/>
            <a:ext cx="48675" cy="154899"/>
          </a:xfrm>
          <a:prstGeom prst="rect">
            <a:avLst/>
          </a:prstGeom>
          <a:solidFill>
            <a:srgbClr val="C2352F"/>
          </a:solidFill>
          <a:ln/>
        </p:spPr>
      </p:sp>
      <p:sp>
        <p:nvSpPr>
          <p:cNvPr id="134" name="Text 132"/>
          <p:cNvSpPr txBox="1"/>
          <p:nvPr/>
        </p:nvSpPr>
        <p:spPr>
          <a:xfrm>
            <a:off x="9079992" y="4235501"/>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$10,870</a:t>
            </a:r>
            <a:endParaRPr lang="en-US" sz="1300" dirty="0"/>
          </a:p>
        </p:txBody>
      </p:sp>
      <p:sp>
        <p:nvSpPr>
          <p:cNvPr id="135" name="Text 133"/>
          <p:cNvSpPr txBox="1"/>
          <p:nvPr/>
        </p:nvSpPr>
        <p:spPr>
          <a:xfrm>
            <a:off x="9976104" y="423550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136" name="Text 134"/>
          <p:cNvSpPr txBox="1"/>
          <p:nvPr/>
        </p:nvSpPr>
        <p:spPr>
          <a:xfrm>
            <a:off x="10543032" y="423550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37" name="Text 135"/>
          <p:cNvSpPr txBox="1"/>
          <p:nvPr/>
        </p:nvSpPr>
        <p:spPr>
          <a:xfrm>
            <a:off x="6208776" y="451713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8" name="Shape 136"/>
          <p:cNvSpPr/>
          <p:nvPr/>
        </p:nvSpPr>
        <p:spPr>
          <a:xfrm>
            <a:off x="8220456" y="4580504"/>
            <a:ext cx="33634" cy="154899"/>
          </a:xfrm>
          <a:prstGeom prst="rect">
            <a:avLst/>
          </a:prstGeom>
          <a:solidFill>
            <a:srgbClr val="C2352F"/>
          </a:solidFill>
          <a:ln/>
        </p:spPr>
      </p:sp>
      <p:sp>
        <p:nvSpPr>
          <p:cNvPr id="139" name="Text 137"/>
          <p:cNvSpPr txBox="1"/>
          <p:nvPr/>
        </p:nvSpPr>
        <p:spPr>
          <a:xfrm>
            <a:off x="9079992" y="4517136"/>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$7,511</a:t>
            </a:r>
            <a:endParaRPr lang="en-US" sz="1300" dirty="0"/>
          </a:p>
        </p:txBody>
      </p:sp>
      <p:sp>
        <p:nvSpPr>
          <p:cNvPr id="140" name="Text 138"/>
          <p:cNvSpPr txBox="1"/>
          <p:nvPr/>
        </p:nvSpPr>
        <p:spPr>
          <a:xfrm>
            <a:off x="9976104" y="451713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41" name="Text 139"/>
          <p:cNvSpPr txBox="1"/>
          <p:nvPr/>
        </p:nvSpPr>
        <p:spPr>
          <a:xfrm>
            <a:off x="10543032" y="451713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42" name="Text 140"/>
          <p:cNvSpPr txBox="1"/>
          <p:nvPr/>
        </p:nvSpPr>
        <p:spPr>
          <a:xfrm>
            <a:off x="6208776" y="479877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3" name="Shape 141"/>
          <p:cNvSpPr/>
          <p:nvPr/>
        </p:nvSpPr>
        <p:spPr>
          <a:xfrm>
            <a:off x="8220456" y="4862139"/>
            <a:ext cx="26275" cy="154899"/>
          </a:xfrm>
          <a:prstGeom prst="rect">
            <a:avLst/>
          </a:prstGeom>
          <a:solidFill>
            <a:srgbClr val="C2352F"/>
          </a:solidFill>
          <a:ln/>
        </p:spPr>
      </p:sp>
      <p:sp>
        <p:nvSpPr>
          <p:cNvPr id="144" name="Text 142"/>
          <p:cNvSpPr txBox="1"/>
          <p:nvPr/>
        </p:nvSpPr>
        <p:spPr>
          <a:xfrm>
            <a:off x="9079992" y="4798771"/>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$5,868</a:t>
            </a:r>
            <a:endParaRPr lang="en-US" sz="1300" dirty="0"/>
          </a:p>
        </p:txBody>
      </p:sp>
      <p:sp>
        <p:nvSpPr>
          <p:cNvPr id="145" name="Text 143"/>
          <p:cNvSpPr txBox="1"/>
          <p:nvPr/>
        </p:nvSpPr>
        <p:spPr>
          <a:xfrm>
            <a:off x="9976104" y="479877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146" name="Text 144"/>
          <p:cNvSpPr txBox="1"/>
          <p:nvPr/>
        </p:nvSpPr>
        <p:spPr>
          <a:xfrm>
            <a:off x="10543032" y="479877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47" name="Text 145"/>
          <p:cNvSpPr txBox="1"/>
          <p:nvPr/>
        </p:nvSpPr>
        <p:spPr>
          <a:xfrm>
            <a:off x="6208776" y="508040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48" name="Shape 146"/>
          <p:cNvSpPr/>
          <p:nvPr/>
        </p:nvSpPr>
        <p:spPr>
          <a:xfrm>
            <a:off x="8220456" y="5143774"/>
            <a:ext cx="18288" cy="154899"/>
          </a:xfrm>
          <a:prstGeom prst="rect">
            <a:avLst/>
          </a:prstGeom>
          <a:solidFill>
            <a:srgbClr val="C2352F"/>
          </a:solidFill>
          <a:ln/>
        </p:spPr>
      </p:sp>
      <p:sp>
        <p:nvSpPr>
          <p:cNvPr id="149" name="Text 147"/>
          <p:cNvSpPr txBox="1"/>
          <p:nvPr/>
        </p:nvSpPr>
        <p:spPr>
          <a:xfrm>
            <a:off x="9079992" y="5080406"/>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$2,765</a:t>
            </a:r>
            <a:endParaRPr lang="en-US" sz="1300" dirty="0"/>
          </a:p>
        </p:txBody>
      </p:sp>
      <p:sp>
        <p:nvSpPr>
          <p:cNvPr id="150" name="Text 148"/>
          <p:cNvSpPr txBox="1"/>
          <p:nvPr/>
        </p:nvSpPr>
        <p:spPr>
          <a:xfrm>
            <a:off x="9976104" y="508040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151" name="Text 149"/>
          <p:cNvSpPr txBox="1"/>
          <p:nvPr/>
        </p:nvSpPr>
        <p:spPr>
          <a:xfrm>
            <a:off x="10543032" y="508040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a:t>
            </a:r>
            <a:endParaRPr lang="en-US" sz="1300" dirty="0"/>
          </a:p>
        </p:txBody>
      </p:sp>
      <p:sp>
        <p:nvSpPr>
          <p:cNvPr id="152" name="Text 150"/>
          <p:cNvSpPr txBox="1"/>
          <p:nvPr/>
        </p:nvSpPr>
        <p:spPr>
          <a:xfrm>
            <a:off x="6208776" y="5362042"/>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3" name="Shape 151"/>
          <p:cNvSpPr/>
          <p:nvPr/>
        </p:nvSpPr>
        <p:spPr>
          <a:xfrm>
            <a:off x="8220456" y="5425410"/>
            <a:ext cx="18288" cy="154899"/>
          </a:xfrm>
          <a:prstGeom prst="rect">
            <a:avLst/>
          </a:prstGeom>
          <a:solidFill>
            <a:srgbClr val="C2352F"/>
          </a:solidFill>
          <a:ln/>
        </p:spPr>
      </p:sp>
      <p:sp>
        <p:nvSpPr>
          <p:cNvPr id="154" name="Text 152"/>
          <p:cNvSpPr txBox="1"/>
          <p:nvPr/>
        </p:nvSpPr>
        <p:spPr>
          <a:xfrm>
            <a:off x="9079992" y="5362042"/>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a:t>
            </a:r>
            <a:endParaRPr lang="en-US" sz="1300" dirty="0"/>
          </a:p>
        </p:txBody>
      </p:sp>
      <p:sp>
        <p:nvSpPr>
          <p:cNvPr id="155" name="Text 153"/>
          <p:cNvSpPr txBox="1"/>
          <p:nvPr/>
        </p:nvSpPr>
        <p:spPr>
          <a:xfrm>
            <a:off x="9976104" y="5362042"/>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156" name="Text 154"/>
          <p:cNvSpPr txBox="1"/>
          <p:nvPr/>
        </p:nvSpPr>
        <p:spPr>
          <a:xfrm>
            <a:off x="10543032" y="5362042"/>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7" name="Shape 155"/>
          <p:cNvSpPr/>
          <p:nvPr/>
        </p:nvSpPr>
        <p:spPr>
          <a:xfrm>
            <a:off x="457200" y="6126480"/>
            <a:ext cx="11274552" cy="364236"/>
          </a:xfrm>
          <a:prstGeom prst="rect">
            <a:avLst/>
          </a:prstGeom>
          <a:solidFill>
            <a:srgbClr val="FBEBEA"/>
          </a:solidFill>
          <a:ln/>
        </p:spPr>
      </p:sp>
      <p:sp>
        <p:nvSpPr>
          <p:cNvPr id="158" name="Text 15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A82B26"/>
                </a:solidFill>
                <a:latin typeface="Inter" pitchFamily="34" charset="0"/>
                <a:ea typeface="Inter" pitchFamily="34" charset="-122"/>
                <a:cs typeface="Inter" pitchFamily="34" charset="-120"/>
              </a:rPr>
              <a:t>29 stores under 15% leave $1,664,385 a year: 26,062 services. Toyota Spokane has the most at $179,701.</a:t>
            </a:r>
            <a:endParaRPr lang="en-US" sz="1550" dirty="0"/>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9584"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079992"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87195"/>
            <a:ext cx="804672" cy="211226"/>
          </a:xfrm>
          <a:prstGeom prst="rect">
            <a:avLst/>
          </a:prstGeom>
          <a:solidFill>
            <a:srgbClr val="C2352F"/>
          </a:solidFill>
          <a:ln/>
        </p:spPr>
      </p:sp>
      <p:sp>
        <p:nvSpPr>
          <p:cNvPr id="14" name="Text 12"/>
          <p:cNvSpPr txBox="1"/>
          <p:nvPr/>
        </p:nvSpPr>
        <p:spPr>
          <a:xfrm>
            <a:off x="3529584" y="1700784"/>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$150,836</a:t>
            </a:r>
            <a:endParaRPr lang="en-US" sz="1300" dirty="0"/>
          </a:p>
        </p:txBody>
      </p:sp>
      <p:sp>
        <p:nvSpPr>
          <p:cNvPr id="15" name="Text 13"/>
          <p:cNvSpPr txBox="1"/>
          <p:nvPr/>
        </p:nvSpPr>
        <p:spPr>
          <a:xfrm>
            <a:off x="4425696" y="170078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16" name="Text 14"/>
          <p:cNvSpPr txBox="1"/>
          <p:nvPr/>
        </p:nvSpPr>
        <p:spPr>
          <a:xfrm>
            <a:off x="4992624" y="170078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1,093</a:t>
            </a:r>
            <a:endParaRPr lang="en-US" sz="1300" dirty="0"/>
          </a:p>
        </p:txBody>
      </p:sp>
      <p:sp>
        <p:nvSpPr>
          <p:cNvPr id="17" name="Text 15"/>
          <p:cNvSpPr txBox="1"/>
          <p:nvPr/>
        </p:nvSpPr>
        <p:spPr>
          <a:xfrm>
            <a:off x="658368"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8" name="Shape 16"/>
          <p:cNvSpPr/>
          <p:nvPr/>
        </p:nvSpPr>
        <p:spPr>
          <a:xfrm>
            <a:off x="2670048" y="2171243"/>
            <a:ext cx="426590" cy="211226"/>
          </a:xfrm>
          <a:prstGeom prst="rect">
            <a:avLst/>
          </a:prstGeom>
          <a:solidFill>
            <a:srgbClr val="C2352F"/>
          </a:solidFill>
          <a:ln/>
        </p:spPr>
      </p:sp>
      <p:sp>
        <p:nvSpPr>
          <p:cNvPr id="19" name="Text 17"/>
          <p:cNvSpPr txBox="1"/>
          <p:nvPr/>
        </p:nvSpPr>
        <p:spPr>
          <a:xfrm>
            <a:off x="3529584" y="2084832"/>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$79,964</a:t>
            </a:r>
            <a:endParaRPr lang="en-US" sz="1300" dirty="0"/>
          </a:p>
        </p:txBody>
      </p:sp>
      <p:sp>
        <p:nvSpPr>
          <p:cNvPr id="20" name="Text 18"/>
          <p:cNvSpPr txBox="1"/>
          <p:nvPr/>
        </p:nvSpPr>
        <p:spPr>
          <a:xfrm>
            <a:off x="4425696" y="208483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21" name="Text 19"/>
          <p:cNvSpPr txBox="1"/>
          <p:nvPr/>
        </p:nvSpPr>
        <p:spPr>
          <a:xfrm>
            <a:off x="4992624" y="208483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683</a:t>
            </a:r>
            <a:endParaRPr lang="en-US" sz="1300" dirty="0"/>
          </a:p>
        </p:txBody>
      </p:sp>
      <p:sp>
        <p:nvSpPr>
          <p:cNvPr id="22" name="Text 20"/>
          <p:cNvSpPr txBox="1"/>
          <p:nvPr/>
        </p:nvSpPr>
        <p:spPr>
          <a:xfrm>
            <a:off x="658368"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3" name="Shape 21"/>
          <p:cNvSpPr/>
          <p:nvPr/>
        </p:nvSpPr>
        <p:spPr>
          <a:xfrm>
            <a:off x="2670048" y="2555291"/>
            <a:ext cx="415637" cy="211226"/>
          </a:xfrm>
          <a:prstGeom prst="rect">
            <a:avLst/>
          </a:prstGeom>
          <a:solidFill>
            <a:srgbClr val="C2352F"/>
          </a:solidFill>
          <a:ln/>
        </p:spPr>
      </p:sp>
      <p:sp>
        <p:nvSpPr>
          <p:cNvPr id="24" name="Text 22"/>
          <p:cNvSpPr txBox="1"/>
          <p:nvPr/>
        </p:nvSpPr>
        <p:spPr>
          <a:xfrm>
            <a:off x="3529584" y="2468880"/>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$77,911</a:t>
            </a:r>
            <a:endParaRPr lang="en-US" sz="1300" dirty="0"/>
          </a:p>
        </p:txBody>
      </p:sp>
      <p:sp>
        <p:nvSpPr>
          <p:cNvPr id="25" name="Text 23"/>
          <p:cNvSpPr txBox="1"/>
          <p:nvPr/>
        </p:nvSpPr>
        <p:spPr>
          <a:xfrm>
            <a:off x="4425696" y="246888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26" name="Text 24"/>
          <p:cNvSpPr txBox="1"/>
          <p:nvPr/>
        </p:nvSpPr>
        <p:spPr>
          <a:xfrm>
            <a:off x="4992624" y="246888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a:t>
            </a:r>
            <a:endParaRPr lang="en-US" sz="1300" dirty="0"/>
          </a:p>
        </p:txBody>
      </p:sp>
      <p:sp>
        <p:nvSpPr>
          <p:cNvPr id="27" name="Text 25"/>
          <p:cNvSpPr txBox="1"/>
          <p:nvPr/>
        </p:nvSpPr>
        <p:spPr>
          <a:xfrm>
            <a:off x="658368"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939339"/>
            <a:ext cx="397090" cy="211226"/>
          </a:xfrm>
          <a:prstGeom prst="rect">
            <a:avLst/>
          </a:prstGeom>
          <a:solidFill>
            <a:srgbClr val="C2352F"/>
          </a:solidFill>
          <a:ln/>
        </p:spPr>
      </p:sp>
      <p:sp>
        <p:nvSpPr>
          <p:cNvPr id="29" name="Text 27"/>
          <p:cNvSpPr txBox="1"/>
          <p:nvPr/>
        </p:nvSpPr>
        <p:spPr>
          <a:xfrm>
            <a:off x="3529584" y="2852928"/>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$74,435</a:t>
            </a:r>
            <a:endParaRPr lang="en-US" sz="1300" dirty="0"/>
          </a:p>
        </p:txBody>
      </p:sp>
      <p:sp>
        <p:nvSpPr>
          <p:cNvPr id="30" name="Text 28"/>
          <p:cNvSpPr txBox="1"/>
          <p:nvPr/>
        </p:nvSpPr>
        <p:spPr>
          <a:xfrm>
            <a:off x="4425696" y="285292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31" name="Text 29"/>
          <p:cNvSpPr txBox="1"/>
          <p:nvPr/>
        </p:nvSpPr>
        <p:spPr>
          <a:xfrm>
            <a:off x="4992624" y="285292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380</a:t>
            </a:r>
            <a:endParaRPr lang="en-US" sz="1300" dirty="0"/>
          </a:p>
        </p:txBody>
      </p:sp>
      <p:sp>
        <p:nvSpPr>
          <p:cNvPr id="32" name="Text 30"/>
          <p:cNvSpPr txBox="1"/>
          <p:nvPr/>
        </p:nvSpPr>
        <p:spPr>
          <a:xfrm>
            <a:off x="658368"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33" name="Shape 31"/>
          <p:cNvSpPr/>
          <p:nvPr/>
        </p:nvSpPr>
        <p:spPr>
          <a:xfrm>
            <a:off x="2670048" y="3323387"/>
            <a:ext cx="359248" cy="211226"/>
          </a:xfrm>
          <a:prstGeom prst="rect">
            <a:avLst/>
          </a:prstGeom>
          <a:solidFill>
            <a:srgbClr val="C2352F"/>
          </a:solidFill>
          <a:ln/>
        </p:spPr>
      </p:sp>
      <p:sp>
        <p:nvSpPr>
          <p:cNvPr id="34" name="Text 32"/>
          <p:cNvSpPr txBox="1"/>
          <p:nvPr/>
        </p:nvSpPr>
        <p:spPr>
          <a:xfrm>
            <a:off x="3529584" y="3236976"/>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$67,341</a:t>
            </a:r>
            <a:endParaRPr lang="en-US" sz="1300" dirty="0"/>
          </a:p>
        </p:txBody>
      </p:sp>
      <p:sp>
        <p:nvSpPr>
          <p:cNvPr id="35" name="Text 33"/>
          <p:cNvSpPr txBox="1"/>
          <p:nvPr/>
        </p:nvSpPr>
        <p:spPr>
          <a:xfrm>
            <a:off x="4425696" y="323697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36" name="Text 34"/>
          <p:cNvSpPr txBox="1"/>
          <p:nvPr/>
        </p:nvSpPr>
        <p:spPr>
          <a:xfrm>
            <a:off x="4992624" y="323697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367</a:t>
            </a:r>
            <a:endParaRPr lang="en-US" sz="1300" dirty="0"/>
          </a:p>
        </p:txBody>
      </p:sp>
      <p:sp>
        <p:nvSpPr>
          <p:cNvPr id="37" name="Text 35"/>
          <p:cNvSpPr txBox="1"/>
          <p:nvPr/>
        </p:nvSpPr>
        <p:spPr>
          <a:xfrm>
            <a:off x="658368"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38" name="Shape 36"/>
          <p:cNvSpPr/>
          <p:nvPr/>
        </p:nvSpPr>
        <p:spPr>
          <a:xfrm>
            <a:off x="2670048" y="3707435"/>
            <a:ext cx="302564" cy="211226"/>
          </a:xfrm>
          <a:prstGeom prst="rect">
            <a:avLst/>
          </a:prstGeom>
          <a:solidFill>
            <a:srgbClr val="C2352F"/>
          </a:solidFill>
          <a:ln/>
        </p:spPr>
      </p:sp>
      <p:sp>
        <p:nvSpPr>
          <p:cNvPr id="39" name="Text 37"/>
          <p:cNvSpPr txBox="1"/>
          <p:nvPr/>
        </p:nvSpPr>
        <p:spPr>
          <a:xfrm>
            <a:off x="3529584" y="3621024"/>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$56,716</a:t>
            </a:r>
            <a:endParaRPr lang="en-US" sz="1300" dirty="0"/>
          </a:p>
        </p:txBody>
      </p:sp>
      <p:sp>
        <p:nvSpPr>
          <p:cNvPr id="40" name="Text 38"/>
          <p:cNvSpPr txBox="1"/>
          <p:nvPr/>
        </p:nvSpPr>
        <p:spPr>
          <a:xfrm>
            <a:off x="4425696" y="362102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41" name="Text 39"/>
          <p:cNvSpPr txBox="1"/>
          <p:nvPr/>
        </p:nvSpPr>
        <p:spPr>
          <a:xfrm>
            <a:off x="4992624" y="362102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379</a:t>
            </a:r>
            <a:endParaRPr lang="en-US" sz="1300" dirty="0"/>
          </a:p>
        </p:txBody>
      </p:sp>
      <p:sp>
        <p:nvSpPr>
          <p:cNvPr id="42" name="Text 40"/>
          <p:cNvSpPr txBox="1"/>
          <p:nvPr/>
        </p:nvSpPr>
        <p:spPr>
          <a:xfrm>
            <a:off x="658368"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43" name="Shape 41"/>
          <p:cNvSpPr/>
          <p:nvPr/>
        </p:nvSpPr>
        <p:spPr>
          <a:xfrm>
            <a:off x="2670048" y="4091483"/>
            <a:ext cx="280206" cy="211226"/>
          </a:xfrm>
          <a:prstGeom prst="rect">
            <a:avLst/>
          </a:prstGeom>
          <a:solidFill>
            <a:srgbClr val="C2352F"/>
          </a:solidFill>
          <a:ln/>
        </p:spPr>
      </p:sp>
      <p:sp>
        <p:nvSpPr>
          <p:cNvPr id="44" name="Text 42"/>
          <p:cNvSpPr txBox="1"/>
          <p:nvPr/>
        </p:nvSpPr>
        <p:spPr>
          <a:xfrm>
            <a:off x="3529584" y="4005072"/>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$52,525</a:t>
            </a:r>
            <a:endParaRPr lang="en-US" sz="1300" dirty="0"/>
          </a:p>
        </p:txBody>
      </p:sp>
      <p:sp>
        <p:nvSpPr>
          <p:cNvPr id="45" name="Text 43"/>
          <p:cNvSpPr txBox="1"/>
          <p:nvPr/>
        </p:nvSpPr>
        <p:spPr>
          <a:xfrm>
            <a:off x="4425696" y="400507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6" name="Text 44"/>
          <p:cNvSpPr txBox="1"/>
          <p:nvPr/>
        </p:nvSpPr>
        <p:spPr>
          <a:xfrm>
            <a:off x="4992624" y="400507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412</a:t>
            </a:r>
            <a:endParaRPr lang="en-US" sz="1300" dirty="0"/>
          </a:p>
        </p:txBody>
      </p:sp>
      <p:sp>
        <p:nvSpPr>
          <p:cNvPr id="47" name="Text 45"/>
          <p:cNvSpPr txBox="1"/>
          <p:nvPr/>
        </p:nvSpPr>
        <p:spPr>
          <a:xfrm>
            <a:off x="658368"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8" name="Shape 46"/>
          <p:cNvSpPr/>
          <p:nvPr/>
        </p:nvSpPr>
        <p:spPr>
          <a:xfrm>
            <a:off x="2670048" y="4475531"/>
            <a:ext cx="254835" cy="211226"/>
          </a:xfrm>
          <a:prstGeom prst="rect">
            <a:avLst/>
          </a:prstGeom>
          <a:solidFill>
            <a:srgbClr val="C2352F"/>
          </a:solidFill>
          <a:ln/>
        </p:spPr>
      </p:sp>
      <p:sp>
        <p:nvSpPr>
          <p:cNvPr id="49" name="Text 47"/>
          <p:cNvSpPr txBox="1"/>
          <p:nvPr/>
        </p:nvSpPr>
        <p:spPr>
          <a:xfrm>
            <a:off x="3529584" y="4389120"/>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$47,769</a:t>
            </a:r>
            <a:endParaRPr lang="en-US" sz="1300" dirty="0"/>
          </a:p>
        </p:txBody>
      </p:sp>
      <p:sp>
        <p:nvSpPr>
          <p:cNvPr id="50" name="Text 48"/>
          <p:cNvSpPr txBox="1"/>
          <p:nvPr/>
        </p:nvSpPr>
        <p:spPr>
          <a:xfrm>
            <a:off x="4425696" y="438912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51" name="Text 49"/>
          <p:cNvSpPr txBox="1"/>
          <p:nvPr/>
        </p:nvSpPr>
        <p:spPr>
          <a:xfrm>
            <a:off x="4992624" y="438912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389</a:t>
            </a:r>
            <a:endParaRPr lang="en-US" sz="1300" dirty="0"/>
          </a:p>
        </p:txBody>
      </p:sp>
      <p:sp>
        <p:nvSpPr>
          <p:cNvPr id="52" name="Text 50"/>
          <p:cNvSpPr txBox="1"/>
          <p:nvPr/>
        </p:nvSpPr>
        <p:spPr>
          <a:xfrm>
            <a:off x="658368"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53" name="Shape 51"/>
          <p:cNvSpPr/>
          <p:nvPr/>
        </p:nvSpPr>
        <p:spPr>
          <a:xfrm>
            <a:off x="2670048" y="4859579"/>
            <a:ext cx="171431" cy="211226"/>
          </a:xfrm>
          <a:prstGeom prst="rect">
            <a:avLst/>
          </a:prstGeom>
          <a:solidFill>
            <a:srgbClr val="C2352F"/>
          </a:solidFill>
          <a:ln/>
        </p:spPr>
      </p:sp>
      <p:sp>
        <p:nvSpPr>
          <p:cNvPr id="54" name="Text 52"/>
          <p:cNvSpPr txBox="1"/>
          <p:nvPr/>
        </p:nvSpPr>
        <p:spPr>
          <a:xfrm>
            <a:off x="3529584" y="4773168"/>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$32,135</a:t>
            </a:r>
            <a:endParaRPr lang="en-US" sz="1300" dirty="0"/>
          </a:p>
        </p:txBody>
      </p:sp>
      <p:sp>
        <p:nvSpPr>
          <p:cNvPr id="55" name="Text 53"/>
          <p:cNvSpPr txBox="1"/>
          <p:nvPr/>
        </p:nvSpPr>
        <p:spPr>
          <a:xfrm>
            <a:off x="4425696" y="477316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56" name="Text 54"/>
          <p:cNvSpPr txBox="1"/>
          <p:nvPr/>
        </p:nvSpPr>
        <p:spPr>
          <a:xfrm>
            <a:off x="4992624" y="477316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287</a:t>
            </a:r>
            <a:endParaRPr lang="en-US" sz="1300" dirty="0"/>
          </a:p>
        </p:txBody>
      </p:sp>
      <p:sp>
        <p:nvSpPr>
          <p:cNvPr id="57" name="Text 55"/>
          <p:cNvSpPr txBox="1"/>
          <p:nvPr/>
        </p:nvSpPr>
        <p:spPr>
          <a:xfrm>
            <a:off x="658368"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8" name="Shape 56"/>
          <p:cNvSpPr/>
          <p:nvPr/>
        </p:nvSpPr>
        <p:spPr>
          <a:xfrm>
            <a:off x="2670048" y="5243627"/>
            <a:ext cx="168143" cy="211226"/>
          </a:xfrm>
          <a:prstGeom prst="rect">
            <a:avLst/>
          </a:prstGeom>
          <a:solidFill>
            <a:srgbClr val="C2352F"/>
          </a:solidFill>
          <a:ln/>
        </p:spPr>
      </p:sp>
      <p:sp>
        <p:nvSpPr>
          <p:cNvPr id="59" name="Text 57"/>
          <p:cNvSpPr txBox="1"/>
          <p:nvPr/>
        </p:nvSpPr>
        <p:spPr>
          <a:xfrm>
            <a:off x="3529584" y="5157216"/>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$31,519</a:t>
            </a:r>
            <a:endParaRPr lang="en-US" sz="1300" dirty="0"/>
          </a:p>
        </p:txBody>
      </p:sp>
      <p:sp>
        <p:nvSpPr>
          <p:cNvPr id="60" name="Text 58"/>
          <p:cNvSpPr txBox="1"/>
          <p:nvPr/>
        </p:nvSpPr>
        <p:spPr>
          <a:xfrm>
            <a:off x="4425696" y="515721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61" name="Text 59"/>
          <p:cNvSpPr txBox="1"/>
          <p:nvPr/>
        </p:nvSpPr>
        <p:spPr>
          <a:xfrm>
            <a:off x="4992624" y="515721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a:t>
            </a:r>
            <a:endParaRPr lang="en-US" sz="1300" dirty="0"/>
          </a:p>
        </p:txBody>
      </p:sp>
      <p:sp>
        <p:nvSpPr>
          <p:cNvPr id="62" name="Text 60"/>
          <p:cNvSpPr txBox="1"/>
          <p:nvPr/>
        </p:nvSpPr>
        <p:spPr>
          <a:xfrm>
            <a:off x="658368" y="554126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3" name="Shape 61"/>
          <p:cNvSpPr/>
          <p:nvPr/>
        </p:nvSpPr>
        <p:spPr>
          <a:xfrm>
            <a:off x="2670048" y="5627675"/>
            <a:ext cx="133568" cy="211226"/>
          </a:xfrm>
          <a:prstGeom prst="rect">
            <a:avLst/>
          </a:prstGeom>
          <a:solidFill>
            <a:srgbClr val="C2352F"/>
          </a:solidFill>
          <a:ln/>
        </p:spPr>
      </p:sp>
      <p:sp>
        <p:nvSpPr>
          <p:cNvPr id="64" name="Text 62"/>
          <p:cNvSpPr txBox="1"/>
          <p:nvPr/>
        </p:nvSpPr>
        <p:spPr>
          <a:xfrm>
            <a:off x="3529584" y="5541264"/>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$25,037</a:t>
            </a:r>
            <a:endParaRPr lang="en-US" sz="1300" dirty="0"/>
          </a:p>
        </p:txBody>
      </p:sp>
      <p:sp>
        <p:nvSpPr>
          <p:cNvPr id="65" name="Text 63"/>
          <p:cNvSpPr txBox="1"/>
          <p:nvPr/>
        </p:nvSpPr>
        <p:spPr>
          <a:xfrm>
            <a:off x="4425696" y="554126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66" name="Text 64"/>
          <p:cNvSpPr txBox="1"/>
          <p:nvPr/>
        </p:nvSpPr>
        <p:spPr>
          <a:xfrm>
            <a:off x="4992624" y="554126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211</a:t>
            </a:r>
            <a:endParaRPr lang="en-US" sz="1300" dirty="0"/>
          </a:p>
        </p:txBody>
      </p:sp>
      <p:sp>
        <p:nvSpPr>
          <p:cNvPr id="67" name="Text 65"/>
          <p:cNvSpPr txBox="1"/>
          <p:nvPr/>
        </p:nvSpPr>
        <p:spPr>
          <a:xfrm>
            <a:off x="6208776"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68" name="Shape 66"/>
          <p:cNvSpPr/>
          <p:nvPr/>
        </p:nvSpPr>
        <p:spPr>
          <a:xfrm>
            <a:off x="8220456" y="1787195"/>
            <a:ext cx="119552" cy="211226"/>
          </a:xfrm>
          <a:prstGeom prst="rect">
            <a:avLst/>
          </a:prstGeom>
          <a:solidFill>
            <a:srgbClr val="C2352F"/>
          </a:solidFill>
          <a:ln/>
        </p:spPr>
      </p:sp>
      <p:sp>
        <p:nvSpPr>
          <p:cNvPr id="69" name="Text 67"/>
          <p:cNvSpPr txBox="1"/>
          <p:nvPr/>
        </p:nvSpPr>
        <p:spPr>
          <a:xfrm>
            <a:off x="9079992" y="1700784"/>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$22,410</a:t>
            </a:r>
            <a:endParaRPr lang="en-US" sz="1300" dirty="0"/>
          </a:p>
        </p:txBody>
      </p:sp>
      <p:sp>
        <p:nvSpPr>
          <p:cNvPr id="70" name="Text 68"/>
          <p:cNvSpPr txBox="1"/>
          <p:nvPr/>
        </p:nvSpPr>
        <p:spPr>
          <a:xfrm>
            <a:off x="9976104" y="170078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71" name="Text 69"/>
          <p:cNvSpPr txBox="1"/>
          <p:nvPr/>
        </p:nvSpPr>
        <p:spPr>
          <a:xfrm>
            <a:off x="10543032" y="170078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a:t>
            </a:r>
            <a:endParaRPr lang="en-US" sz="1300" dirty="0"/>
          </a:p>
        </p:txBody>
      </p:sp>
      <p:sp>
        <p:nvSpPr>
          <p:cNvPr id="72" name="Text 70"/>
          <p:cNvSpPr txBox="1"/>
          <p:nvPr/>
        </p:nvSpPr>
        <p:spPr>
          <a:xfrm>
            <a:off x="6208776"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3" name="Shape 71"/>
          <p:cNvSpPr/>
          <p:nvPr/>
        </p:nvSpPr>
        <p:spPr>
          <a:xfrm>
            <a:off x="8220456" y="2171243"/>
            <a:ext cx="113707" cy="211226"/>
          </a:xfrm>
          <a:prstGeom prst="rect">
            <a:avLst/>
          </a:prstGeom>
          <a:solidFill>
            <a:srgbClr val="C2352F"/>
          </a:solidFill>
          <a:ln/>
        </p:spPr>
      </p:sp>
      <p:sp>
        <p:nvSpPr>
          <p:cNvPr id="74" name="Text 72"/>
          <p:cNvSpPr txBox="1"/>
          <p:nvPr/>
        </p:nvSpPr>
        <p:spPr>
          <a:xfrm>
            <a:off x="9079992" y="2084832"/>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$21,314</a:t>
            </a:r>
            <a:endParaRPr lang="en-US" sz="1300" dirty="0"/>
          </a:p>
        </p:txBody>
      </p:sp>
      <p:sp>
        <p:nvSpPr>
          <p:cNvPr id="75" name="Text 73"/>
          <p:cNvSpPr txBox="1"/>
          <p:nvPr/>
        </p:nvSpPr>
        <p:spPr>
          <a:xfrm>
            <a:off x="9976104" y="208483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76" name="Text 74"/>
          <p:cNvSpPr txBox="1"/>
          <p:nvPr/>
        </p:nvSpPr>
        <p:spPr>
          <a:xfrm>
            <a:off x="10543032" y="208483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245</a:t>
            </a:r>
            <a:endParaRPr lang="en-US" sz="1300" dirty="0"/>
          </a:p>
        </p:txBody>
      </p:sp>
      <p:sp>
        <p:nvSpPr>
          <p:cNvPr id="77" name="Text 75"/>
          <p:cNvSpPr txBox="1"/>
          <p:nvPr/>
        </p:nvSpPr>
        <p:spPr>
          <a:xfrm>
            <a:off x="6208776"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20456" y="2555291"/>
            <a:ext cx="109990" cy="211226"/>
          </a:xfrm>
          <a:prstGeom prst="rect">
            <a:avLst/>
          </a:prstGeom>
          <a:solidFill>
            <a:srgbClr val="C2352F"/>
          </a:solidFill>
          <a:ln/>
        </p:spPr>
      </p:sp>
      <p:sp>
        <p:nvSpPr>
          <p:cNvPr id="79" name="Text 77"/>
          <p:cNvSpPr txBox="1"/>
          <p:nvPr/>
        </p:nvSpPr>
        <p:spPr>
          <a:xfrm>
            <a:off x="9079992" y="2468880"/>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$20,618</a:t>
            </a:r>
            <a:endParaRPr lang="en-US" sz="1300" dirty="0"/>
          </a:p>
        </p:txBody>
      </p:sp>
      <p:sp>
        <p:nvSpPr>
          <p:cNvPr id="80" name="Text 78"/>
          <p:cNvSpPr txBox="1"/>
          <p:nvPr/>
        </p:nvSpPr>
        <p:spPr>
          <a:xfrm>
            <a:off x="9976104" y="246888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81" name="Text 79"/>
          <p:cNvSpPr txBox="1"/>
          <p:nvPr/>
        </p:nvSpPr>
        <p:spPr>
          <a:xfrm>
            <a:off x="10543032" y="246888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a:t>
            </a:r>
            <a:endParaRPr lang="en-US" sz="1300" dirty="0"/>
          </a:p>
        </p:txBody>
      </p:sp>
      <p:sp>
        <p:nvSpPr>
          <p:cNvPr id="82" name="Text 80"/>
          <p:cNvSpPr txBox="1"/>
          <p:nvPr/>
        </p:nvSpPr>
        <p:spPr>
          <a:xfrm>
            <a:off x="6208776"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83" name="Shape 81"/>
          <p:cNvSpPr/>
          <p:nvPr/>
        </p:nvSpPr>
        <p:spPr>
          <a:xfrm>
            <a:off x="8220456" y="2939339"/>
            <a:ext cx="104971" cy="211226"/>
          </a:xfrm>
          <a:prstGeom prst="rect">
            <a:avLst/>
          </a:prstGeom>
          <a:solidFill>
            <a:srgbClr val="C2352F"/>
          </a:solidFill>
          <a:ln/>
        </p:spPr>
      </p:sp>
      <p:sp>
        <p:nvSpPr>
          <p:cNvPr id="84" name="Text 82"/>
          <p:cNvSpPr txBox="1"/>
          <p:nvPr/>
        </p:nvSpPr>
        <p:spPr>
          <a:xfrm>
            <a:off x="9079992" y="2852928"/>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$19,677</a:t>
            </a:r>
            <a:endParaRPr lang="en-US" sz="1300" dirty="0"/>
          </a:p>
        </p:txBody>
      </p:sp>
      <p:sp>
        <p:nvSpPr>
          <p:cNvPr id="85" name="Text 83"/>
          <p:cNvSpPr txBox="1"/>
          <p:nvPr/>
        </p:nvSpPr>
        <p:spPr>
          <a:xfrm>
            <a:off x="9976104" y="285292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86" name="Text 84"/>
          <p:cNvSpPr txBox="1"/>
          <p:nvPr/>
        </p:nvSpPr>
        <p:spPr>
          <a:xfrm>
            <a:off x="10543032" y="285292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87" name="Text 85"/>
          <p:cNvSpPr txBox="1"/>
          <p:nvPr/>
        </p:nvSpPr>
        <p:spPr>
          <a:xfrm>
            <a:off x="6208776"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8" name="Shape 86"/>
          <p:cNvSpPr/>
          <p:nvPr/>
        </p:nvSpPr>
        <p:spPr>
          <a:xfrm>
            <a:off x="8220456" y="3323387"/>
            <a:ext cx="94348" cy="211226"/>
          </a:xfrm>
          <a:prstGeom prst="rect">
            <a:avLst/>
          </a:prstGeom>
          <a:solidFill>
            <a:srgbClr val="C2352F"/>
          </a:solidFill>
          <a:ln/>
        </p:spPr>
      </p:sp>
      <p:sp>
        <p:nvSpPr>
          <p:cNvPr id="89" name="Text 87"/>
          <p:cNvSpPr txBox="1"/>
          <p:nvPr/>
        </p:nvSpPr>
        <p:spPr>
          <a:xfrm>
            <a:off x="9079992" y="3236976"/>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$17,686</a:t>
            </a:r>
            <a:endParaRPr lang="en-US" sz="1300" dirty="0"/>
          </a:p>
        </p:txBody>
      </p:sp>
      <p:sp>
        <p:nvSpPr>
          <p:cNvPr id="90" name="Text 88"/>
          <p:cNvSpPr txBox="1"/>
          <p:nvPr/>
        </p:nvSpPr>
        <p:spPr>
          <a:xfrm>
            <a:off x="9976104" y="323697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91" name="Text 89"/>
          <p:cNvSpPr txBox="1"/>
          <p:nvPr/>
        </p:nvSpPr>
        <p:spPr>
          <a:xfrm>
            <a:off x="10543032" y="323697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a:t>
            </a:r>
            <a:endParaRPr lang="en-US" sz="1300" dirty="0"/>
          </a:p>
        </p:txBody>
      </p:sp>
      <p:sp>
        <p:nvSpPr>
          <p:cNvPr id="92" name="Text 90"/>
          <p:cNvSpPr txBox="1"/>
          <p:nvPr/>
        </p:nvSpPr>
        <p:spPr>
          <a:xfrm>
            <a:off x="6208776"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3" name="Shape 91"/>
          <p:cNvSpPr/>
          <p:nvPr/>
        </p:nvSpPr>
        <p:spPr>
          <a:xfrm>
            <a:off x="8220456" y="3707435"/>
            <a:ext cx="80639" cy="211226"/>
          </a:xfrm>
          <a:prstGeom prst="rect">
            <a:avLst/>
          </a:prstGeom>
          <a:solidFill>
            <a:srgbClr val="C2352F"/>
          </a:solidFill>
          <a:ln/>
        </p:spPr>
      </p:sp>
      <p:sp>
        <p:nvSpPr>
          <p:cNvPr id="94" name="Text 92"/>
          <p:cNvSpPr txBox="1"/>
          <p:nvPr/>
        </p:nvSpPr>
        <p:spPr>
          <a:xfrm>
            <a:off x="9079992" y="3621024"/>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$15,116</a:t>
            </a:r>
            <a:endParaRPr lang="en-US" sz="1300" dirty="0"/>
          </a:p>
        </p:txBody>
      </p:sp>
      <p:sp>
        <p:nvSpPr>
          <p:cNvPr id="95" name="Text 93"/>
          <p:cNvSpPr txBox="1"/>
          <p:nvPr/>
        </p:nvSpPr>
        <p:spPr>
          <a:xfrm>
            <a:off x="9976104" y="362102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96" name="Text 94"/>
          <p:cNvSpPr txBox="1"/>
          <p:nvPr/>
        </p:nvSpPr>
        <p:spPr>
          <a:xfrm>
            <a:off x="10543032" y="362102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97" name="Text 95"/>
          <p:cNvSpPr txBox="1"/>
          <p:nvPr/>
        </p:nvSpPr>
        <p:spPr>
          <a:xfrm>
            <a:off x="6208776"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8" name="Shape 96"/>
          <p:cNvSpPr/>
          <p:nvPr/>
        </p:nvSpPr>
        <p:spPr>
          <a:xfrm>
            <a:off x="8220456" y="4091483"/>
            <a:ext cx="69613" cy="211226"/>
          </a:xfrm>
          <a:prstGeom prst="rect">
            <a:avLst/>
          </a:prstGeom>
          <a:solidFill>
            <a:srgbClr val="C2352F"/>
          </a:solidFill>
          <a:ln/>
        </p:spPr>
      </p:sp>
      <p:sp>
        <p:nvSpPr>
          <p:cNvPr id="99" name="Text 97"/>
          <p:cNvSpPr txBox="1"/>
          <p:nvPr/>
        </p:nvSpPr>
        <p:spPr>
          <a:xfrm>
            <a:off x="9079992" y="4005072"/>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$13,049</a:t>
            </a:r>
            <a:endParaRPr lang="en-US" sz="1300" dirty="0"/>
          </a:p>
        </p:txBody>
      </p:sp>
      <p:sp>
        <p:nvSpPr>
          <p:cNvPr id="100" name="Text 98"/>
          <p:cNvSpPr txBox="1"/>
          <p:nvPr/>
        </p:nvSpPr>
        <p:spPr>
          <a:xfrm>
            <a:off x="9976104" y="400507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101" name="Text 99"/>
          <p:cNvSpPr txBox="1"/>
          <p:nvPr/>
        </p:nvSpPr>
        <p:spPr>
          <a:xfrm>
            <a:off x="10543032" y="400507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02" name="Text 100"/>
          <p:cNvSpPr txBox="1"/>
          <p:nvPr/>
        </p:nvSpPr>
        <p:spPr>
          <a:xfrm>
            <a:off x="6208776"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3" name="Shape 101"/>
          <p:cNvSpPr/>
          <p:nvPr/>
        </p:nvSpPr>
        <p:spPr>
          <a:xfrm>
            <a:off x="8220456" y="4475531"/>
            <a:ext cx="58212" cy="211226"/>
          </a:xfrm>
          <a:prstGeom prst="rect">
            <a:avLst/>
          </a:prstGeom>
          <a:solidFill>
            <a:srgbClr val="C2352F"/>
          </a:solidFill>
          <a:ln/>
        </p:spPr>
      </p:sp>
      <p:sp>
        <p:nvSpPr>
          <p:cNvPr id="104" name="Text 102"/>
          <p:cNvSpPr txBox="1"/>
          <p:nvPr/>
        </p:nvSpPr>
        <p:spPr>
          <a:xfrm>
            <a:off x="9079992" y="4389120"/>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$10,912</a:t>
            </a:r>
            <a:endParaRPr lang="en-US" sz="1300" dirty="0"/>
          </a:p>
        </p:txBody>
      </p:sp>
      <p:sp>
        <p:nvSpPr>
          <p:cNvPr id="105" name="Text 103"/>
          <p:cNvSpPr txBox="1"/>
          <p:nvPr/>
        </p:nvSpPr>
        <p:spPr>
          <a:xfrm>
            <a:off x="9976104" y="438912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06" name="Text 104"/>
          <p:cNvSpPr txBox="1"/>
          <p:nvPr/>
        </p:nvSpPr>
        <p:spPr>
          <a:xfrm>
            <a:off x="10543032" y="438912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a:t>
            </a:r>
            <a:endParaRPr lang="en-US" sz="1300" dirty="0"/>
          </a:p>
        </p:txBody>
      </p:sp>
      <p:sp>
        <p:nvSpPr>
          <p:cNvPr id="107" name="Text 105"/>
          <p:cNvSpPr txBox="1"/>
          <p:nvPr/>
        </p:nvSpPr>
        <p:spPr>
          <a:xfrm>
            <a:off x="6208776"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8" name="Shape 106"/>
          <p:cNvSpPr/>
          <p:nvPr/>
        </p:nvSpPr>
        <p:spPr>
          <a:xfrm>
            <a:off x="8220456" y="4859579"/>
            <a:ext cx="23377" cy="211226"/>
          </a:xfrm>
          <a:prstGeom prst="rect">
            <a:avLst/>
          </a:prstGeom>
          <a:solidFill>
            <a:srgbClr val="C2352F"/>
          </a:solidFill>
          <a:ln/>
        </p:spPr>
      </p:sp>
      <p:sp>
        <p:nvSpPr>
          <p:cNvPr id="109" name="Text 107"/>
          <p:cNvSpPr txBox="1"/>
          <p:nvPr/>
        </p:nvSpPr>
        <p:spPr>
          <a:xfrm>
            <a:off x="9079992" y="4773168"/>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$4,382</a:t>
            </a:r>
            <a:endParaRPr lang="en-US" sz="1300" dirty="0"/>
          </a:p>
        </p:txBody>
      </p:sp>
      <p:sp>
        <p:nvSpPr>
          <p:cNvPr id="110" name="Text 108"/>
          <p:cNvSpPr txBox="1"/>
          <p:nvPr/>
        </p:nvSpPr>
        <p:spPr>
          <a:xfrm>
            <a:off x="9976104" y="477316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111" name="Text 109"/>
          <p:cNvSpPr txBox="1"/>
          <p:nvPr/>
        </p:nvSpPr>
        <p:spPr>
          <a:xfrm>
            <a:off x="10543032" y="477316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112" name="Text 110"/>
          <p:cNvSpPr txBox="1"/>
          <p:nvPr/>
        </p:nvSpPr>
        <p:spPr>
          <a:xfrm>
            <a:off x="6208776"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13" name="Shape 111"/>
          <p:cNvSpPr/>
          <p:nvPr/>
        </p:nvSpPr>
        <p:spPr>
          <a:xfrm>
            <a:off x="8220456" y="5243627"/>
            <a:ext cx="18288" cy="211226"/>
          </a:xfrm>
          <a:prstGeom prst="rect">
            <a:avLst/>
          </a:prstGeom>
          <a:solidFill>
            <a:srgbClr val="C2352F"/>
          </a:solidFill>
          <a:ln/>
        </p:spPr>
      </p:sp>
      <p:sp>
        <p:nvSpPr>
          <p:cNvPr id="114" name="Text 112"/>
          <p:cNvSpPr txBox="1"/>
          <p:nvPr/>
        </p:nvSpPr>
        <p:spPr>
          <a:xfrm>
            <a:off x="9079992" y="5157216"/>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$3,306</a:t>
            </a:r>
            <a:endParaRPr lang="en-US" sz="1300" dirty="0"/>
          </a:p>
        </p:txBody>
      </p:sp>
      <p:sp>
        <p:nvSpPr>
          <p:cNvPr id="115" name="Text 113"/>
          <p:cNvSpPr txBox="1"/>
          <p:nvPr/>
        </p:nvSpPr>
        <p:spPr>
          <a:xfrm>
            <a:off x="9976104" y="515721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116" name="Text 114"/>
          <p:cNvSpPr txBox="1"/>
          <p:nvPr/>
        </p:nvSpPr>
        <p:spPr>
          <a:xfrm>
            <a:off x="10543032" y="515721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17" name="Shape 115"/>
          <p:cNvSpPr/>
          <p:nvPr/>
        </p:nvSpPr>
        <p:spPr>
          <a:xfrm>
            <a:off x="457200" y="6126480"/>
            <a:ext cx="11274552" cy="371856"/>
          </a:xfrm>
          <a:prstGeom prst="rect">
            <a:avLst/>
          </a:prstGeom>
          <a:solidFill>
            <a:srgbClr val="FBEBEA"/>
          </a:solidFill>
          <a:ln/>
        </p:spPr>
      </p:sp>
      <p:sp>
        <p:nvSpPr>
          <p:cNvPr id="118" name="Text 1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stores under 10% leave $844,657 a year: 5,919 services. Chevy LV has the most at $150,836.</a:t>
            </a:r>
            <a:endParaRPr lang="en-US" sz="1600" dirty="0"/>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9584"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079992"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73901"/>
            <a:ext cx="804672" cy="178730"/>
          </a:xfrm>
          <a:prstGeom prst="rect">
            <a:avLst/>
          </a:prstGeom>
          <a:solidFill>
            <a:srgbClr val="C2352F"/>
          </a:solidFill>
          <a:ln/>
        </p:spPr>
      </p:sp>
      <p:sp>
        <p:nvSpPr>
          <p:cNvPr id="14" name="Text 12"/>
          <p:cNvSpPr txBox="1"/>
          <p:nvPr/>
        </p:nvSpPr>
        <p:spPr>
          <a:xfrm>
            <a:off x="3529584" y="170078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$142,290</a:t>
            </a:r>
            <a:endParaRPr lang="en-US" sz="1300" dirty="0"/>
          </a:p>
        </p:txBody>
      </p:sp>
      <p:sp>
        <p:nvSpPr>
          <p:cNvPr id="15" name="Text 13"/>
          <p:cNvSpPr txBox="1"/>
          <p:nvPr/>
        </p:nvSpPr>
        <p:spPr>
          <a:xfrm>
            <a:off x="4425696"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 name="Text 14"/>
          <p:cNvSpPr txBox="1"/>
          <p:nvPr/>
        </p:nvSpPr>
        <p:spPr>
          <a:xfrm>
            <a:off x="4992624"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585</a:t>
            </a:r>
            <a:endParaRPr lang="en-US" sz="1300" dirty="0"/>
          </a:p>
        </p:txBody>
      </p:sp>
      <p:sp>
        <p:nvSpPr>
          <p:cNvPr id="17" name="Text 15"/>
          <p:cNvSpPr txBox="1"/>
          <p:nvPr/>
        </p:nvSpPr>
        <p:spPr>
          <a:xfrm>
            <a:off x="658368"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8" name="Shape 16"/>
          <p:cNvSpPr/>
          <p:nvPr/>
        </p:nvSpPr>
        <p:spPr>
          <a:xfrm>
            <a:off x="2670048" y="2098865"/>
            <a:ext cx="727080" cy="178730"/>
          </a:xfrm>
          <a:prstGeom prst="rect">
            <a:avLst/>
          </a:prstGeom>
          <a:solidFill>
            <a:srgbClr val="C2352F"/>
          </a:solidFill>
          <a:ln/>
        </p:spPr>
      </p:sp>
      <p:sp>
        <p:nvSpPr>
          <p:cNvPr id="19" name="Text 17"/>
          <p:cNvSpPr txBox="1"/>
          <p:nvPr/>
        </p:nvSpPr>
        <p:spPr>
          <a:xfrm>
            <a:off x="3529584" y="2025748"/>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$128,570</a:t>
            </a:r>
            <a:endParaRPr lang="en-US" sz="1300" dirty="0"/>
          </a:p>
        </p:txBody>
      </p:sp>
      <p:sp>
        <p:nvSpPr>
          <p:cNvPr id="20" name="Text 18"/>
          <p:cNvSpPr txBox="1"/>
          <p:nvPr/>
        </p:nvSpPr>
        <p:spPr>
          <a:xfrm>
            <a:off x="4425696"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21" name="Text 19"/>
          <p:cNvSpPr txBox="1"/>
          <p:nvPr/>
        </p:nvSpPr>
        <p:spPr>
          <a:xfrm>
            <a:off x="4992624"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1,056</a:t>
            </a:r>
            <a:endParaRPr lang="en-US" sz="1300" dirty="0"/>
          </a:p>
        </p:txBody>
      </p:sp>
      <p:sp>
        <p:nvSpPr>
          <p:cNvPr id="22" name="Text 20"/>
          <p:cNvSpPr txBox="1"/>
          <p:nvPr/>
        </p:nvSpPr>
        <p:spPr>
          <a:xfrm>
            <a:off x="658368"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3" name="Shape 21"/>
          <p:cNvSpPr/>
          <p:nvPr/>
        </p:nvSpPr>
        <p:spPr>
          <a:xfrm>
            <a:off x="2670048" y="2423828"/>
            <a:ext cx="615724" cy="178730"/>
          </a:xfrm>
          <a:prstGeom prst="rect">
            <a:avLst/>
          </a:prstGeom>
          <a:solidFill>
            <a:srgbClr val="C2352F"/>
          </a:solidFill>
          <a:ln/>
        </p:spPr>
      </p:sp>
      <p:sp>
        <p:nvSpPr>
          <p:cNvPr id="24" name="Text 22"/>
          <p:cNvSpPr txBox="1"/>
          <p:nvPr/>
        </p:nvSpPr>
        <p:spPr>
          <a:xfrm>
            <a:off x="3529584" y="235071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$108,879</a:t>
            </a:r>
            <a:endParaRPr lang="en-US" sz="1300" dirty="0"/>
          </a:p>
        </p:txBody>
      </p:sp>
      <p:sp>
        <p:nvSpPr>
          <p:cNvPr id="25" name="Text 23"/>
          <p:cNvSpPr txBox="1"/>
          <p:nvPr/>
        </p:nvSpPr>
        <p:spPr>
          <a:xfrm>
            <a:off x="4425696"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26" name="Text 24"/>
          <p:cNvSpPr txBox="1"/>
          <p:nvPr/>
        </p:nvSpPr>
        <p:spPr>
          <a:xfrm>
            <a:off x="4992624"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1,173</a:t>
            </a:r>
            <a:endParaRPr lang="en-US" sz="1300" dirty="0"/>
          </a:p>
        </p:txBody>
      </p:sp>
      <p:sp>
        <p:nvSpPr>
          <p:cNvPr id="27" name="Text 25"/>
          <p:cNvSpPr txBox="1"/>
          <p:nvPr/>
        </p:nvSpPr>
        <p:spPr>
          <a:xfrm>
            <a:off x="658368"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28" name="Shape 26"/>
          <p:cNvSpPr/>
          <p:nvPr/>
        </p:nvSpPr>
        <p:spPr>
          <a:xfrm>
            <a:off x="2670048" y="2748792"/>
            <a:ext cx="478631" cy="178730"/>
          </a:xfrm>
          <a:prstGeom prst="rect">
            <a:avLst/>
          </a:prstGeom>
          <a:solidFill>
            <a:srgbClr val="C2352F"/>
          </a:solidFill>
          <a:ln/>
        </p:spPr>
      </p:sp>
      <p:sp>
        <p:nvSpPr>
          <p:cNvPr id="29" name="Text 27"/>
          <p:cNvSpPr txBox="1"/>
          <p:nvPr/>
        </p:nvSpPr>
        <p:spPr>
          <a:xfrm>
            <a:off x="3529584" y="267567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$84,636</a:t>
            </a:r>
            <a:endParaRPr lang="en-US" sz="1300" dirty="0"/>
          </a:p>
        </p:txBody>
      </p:sp>
      <p:sp>
        <p:nvSpPr>
          <p:cNvPr id="30" name="Text 28"/>
          <p:cNvSpPr txBox="1"/>
          <p:nvPr/>
        </p:nvSpPr>
        <p:spPr>
          <a:xfrm>
            <a:off x="4425696"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31" name="Text 29"/>
          <p:cNvSpPr txBox="1"/>
          <p:nvPr/>
        </p:nvSpPr>
        <p:spPr>
          <a:xfrm>
            <a:off x="4992624"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515</a:t>
            </a:r>
            <a:endParaRPr lang="en-US" sz="1300" dirty="0"/>
          </a:p>
        </p:txBody>
      </p:sp>
      <p:sp>
        <p:nvSpPr>
          <p:cNvPr id="32" name="Text 30"/>
          <p:cNvSpPr txBox="1"/>
          <p:nvPr/>
        </p:nvSpPr>
        <p:spPr>
          <a:xfrm>
            <a:off x="658368"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3" name="Shape 31"/>
          <p:cNvSpPr/>
          <p:nvPr/>
        </p:nvSpPr>
        <p:spPr>
          <a:xfrm>
            <a:off x="2670048" y="3073756"/>
            <a:ext cx="427501" cy="178730"/>
          </a:xfrm>
          <a:prstGeom prst="rect">
            <a:avLst/>
          </a:prstGeom>
          <a:solidFill>
            <a:srgbClr val="C2352F"/>
          </a:solidFill>
          <a:ln/>
        </p:spPr>
      </p:sp>
      <p:sp>
        <p:nvSpPr>
          <p:cNvPr id="34" name="Text 32"/>
          <p:cNvSpPr txBox="1"/>
          <p:nvPr/>
        </p:nvSpPr>
        <p:spPr>
          <a:xfrm>
            <a:off x="3529584" y="3000639"/>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$75,595</a:t>
            </a:r>
            <a:endParaRPr lang="en-US" sz="1300" dirty="0"/>
          </a:p>
        </p:txBody>
      </p:sp>
      <p:sp>
        <p:nvSpPr>
          <p:cNvPr id="35" name="Text 33"/>
          <p:cNvSpPr txBox="1"/>
          <p:nvPr/>
        </p:nvSpPr>
        <p:spPr>
          <a:xfrm>
            <a:off x="4425696"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36" name="Text 34"/>
          <p:cNvSpPr txBox="1"/>
          <p:nvPr/>
        </p:nvSpPr>
        <p:spPr>
          <a:xfrm>
            <a:off x="4992624"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37" name="Text 35"/>
          <p:cNvSpPr txBox="1"/>
          <p:nvPr/>
        </p:nvSpPr>
        <p:spPr>
          <a:xfrm>
            <a:off x="658368"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8" name="Shape 36"/>
          <p:cNvSpPr/>
          <p:nvPr/>
        </p:nvSpPr>
        <p:spPr>
          <a:xfrm>
            <a:off x="2670048" y="3398719"/>
            <a:ext cx="424538" cy="178730"/>
          </a:xfrm>
          <a:prstGeom prst="rect">
            <a:avLst/>
          </a:prstGeom>
          <a:solidFill>
            <a:srgbClr val="C2352F"/>
          </a:solidFill>
          <a:ln/>
        </p:spPr>
      </p:sp>
      <p:sp>
        <p:nvSpPr>
          <p:cNvPr id="39" name="Text 37"/>
          <p:cNvSpPr txBox="1"/>
          <p:nvPr/>
        </p:nvSpPr>
        <p:spPr>
          <a:xfrm>
            <a:off x="3529584" y="3325602"/>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$75,071</a:t>
            </a:r>
            <a:endParaRPr lang="en-US" sz="1300" dirty="0"/>
          </a:p>
        </p:txBody>
      </p:sp>
      <p:sp>
        <p:nvSpPr>
          <p:cNvPr id="40" name="Text 38"/>
          <p:cNvSpPr txBox="1"/>
          <p:nvPr/>
        </p:nvSpPr>
        <p:spPr>
          <a:xfrm>
            <a:off x="4425696"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41" name="Text 39"/>
          <p:cNvSpPr txBox="1"/>
          <p:nvPr/>
        </p:nvSpPr>
        <p:spPr>
          <a:xfrm>
            <a:off x="4992624"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42" name="Text 40"/>
          <p:cNvSpPr txBox="1"/>
          <p:nvPr/>
        </p:nvSpPr>
        <p:spPr>
          <a:xfrm>
            <a:off x="658368"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43" name="Shape 41"/>
          <p:cNvSpPr/>
          <p:nvPr/>
        </p:nvSpPr>
        <p:spPr>
          <a:xfrm>
            <a:off x="2670048" y="3723683"/>
            <a:ext cx="368655" cy="178730"/>
          </a:xfrm>
          <a:prstGeom prst="rect">
            <a:avLst/>
          </a:prstGeom>
          <a:solidFill>
            <a:srgbClr val="C2352F"/>
          </a:solidFill>
          <a:ln/>
        </p:spPr>
      </p:sp>
      <p:sp>
        <p:nvSpPr>
          <p:cNvPr id="44" name="Text 42"/>
          <p:cNvSpPr txBox="1"/>
          <p:nvPr/>
        </p:nvSpPr>
        <p:spPr>
          <a:xfrm>
            <a:off x="3529584" y="3650566"/>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$65,189</a:t>
            </a:r>
            <a:endParaRPr lang="en-US" sz="1300" dirty="0"/>
          </a:p>
        </p:txBody>
      </p:sp>
      <p:sp>
        <p:nvSpPr>
          <p:cNvPr id="45" name="Text 43"/>
          <p:cNvSpPr txBox="1"/>
          <p:nvPr/>
        </p:nvSpPr>
        <p:spPr>
          <a:xfrm>
            <a:off x="4425696"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6" name="Text 44"/>
          <p:cNvSpPr txBox="1"/>
          <p:nvPr/>
        </p:nvSpPr>
        <p:spPr>
          <a:xfrm>
            <a:off x="4992624"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a:t>
            </a:r>
            <a:endParaRPr lang="en-US" sz="1300" dirty="0"/>
          </a:p>
        </p:txBody>
      </p:sp>
      <p:sp>
        <p:nvSpPr>
          <p:cNvPr id="47" name="Text 45"/>
          <p:cNvSpPr txBox="1"/>
          <p:nvPr/>
        </p:nvSpPr>
        <p:spPr>
          <a:xfrm>
            <a:off x="658368"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4048647"/>
            <a:ext cx="359513" cy="178730"/>
          </a:xfrm>
          <a:prstGeom prst="rect">
            <a:avLst/>
          </a:prstGeom>
          <a:solidFill>
            <a:srgbClr val="C2352F"/>
          </a:solidFill>
          <a:ln/>
        </p:spPr>
      </p:sp>
      <p:sp>
        <p:nvSpPr>
          <p:cNvPr id="49" name="Text 47"/>
          <p:cNvSpPr txBox="1"/>
          <p:nvPr/>
        </p:nvSpPr>
        <p:spPr>
          <a:xfrm>
            <a:off x="3529584" y="3975530"/>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$63,573</a:t>
            </a:r>
            <a:endParaRPr lang="en-US" sz="1300" dirty="0"/>
          </a:p>
        </p:txBody>
      </p:sp>
      <p:sp>
        <p:nvSpPr>
          <p:cNvPr id="50" name="Text 48"/>
          <p:cNvSpPr txBox="1"/>
          <p:nvPr/>
        </p:nvSpPr>
        <p:spPr>
          <a:xfrm>
            <a:off x="4425696"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1" name="Text 49"/>
          <p:cNvSpPr txBox="1"/>
          <p:nvPr/>
        </p:nvSpPr>
        <p:spPr>
          <a:xfrm>
            <a:off x="4992624"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308</a:t>
            </a:r>
            <a:endParaRPr lang="en-US" sz="1300" dirty="0"/>
          </a:p>
        </p:txBody>
      </p:sp>
      <p:sp>
        <p:nvSpPr>
          <p:cNvPr id="52" name="Text 50"/>
          <p:cNvSpPr txBox="1"/>
          <p:nvPr/>
        </p:nvSpPr>
        <p:spPr>
          <a:xfrm>
            <a:off x="658368"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3" name="Shape 51"/>
          <p:cNvSpPr/>
          <p:nvPr/>
        </p:nvSpPr>
        <p:spPr>
          <a:xfrm>
            <a:off x="2670048" y="4373610"/>
            <a:ext cx="351554" cy="178730"/>
          </a:xfrm>
          <a:prstGeom prst="rect">
            <a:avLst/>
          </a:prstGeom>
          <a:solidFill>
            <a:srgbClr val="C2352F"/>
          </a:solidFill>
          <a:ln/>
        </p:spPr>
      </p:sp>
      <p:sp>
        <p:nvSpPr>
          <p:cNvPr id="54" name="Text 52"/>
          <p:cNvSpPr txBox="1"/>
          <p:nvPr/>
        </p:nvSpPr>
        <p:spPr>
          <a:xfrm>
            <a:off x="3529584" y="430049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$62,165</a:t>
            </a:r>
            <a:endParaRPr lang="en-US" sz="1300" dirty="0"/>
          </a:p>
        </p:txBody>
      </p:sp>
      <p:sp>
        <p:nvSpPr>
          <p:cNvPr id="55" name="Text 53"/>
          <p:cNvSpPr txBox="1"/>
          <p:nvPr/>
        </p:nvSpPr>
        <p:spPr>
          <a:xfrm>
            <a:off x="4425696"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56" name="Text 54"/>
          <p:cNvSpPr txBox="1"/>
          <p:nvPr/>
        </p:nvSpPr>
        <p:spPr>
          <a:xfrm>
            <a:off x="4992624"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a:t>
            </a:r>
            <a:endParaRPr lang="en-US" sz="1300" dirty="0"/>
          </a:p>
        </p:txBody>
      </p:sp>
      <p:sp>
        <p:nvSpPr>
          <p:cNvPr id="57" name="Text 55"/>
          <p:cNvSpPr txBox="1"/>
          <p:nvPr/>
        </p:nvSpPr>
        <p:spPr>
          <a:xfrm>
            <a:off x="658368"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8" name="Shape 56"/>
          <p:cNvSpPr/>
          <p:nvPr/>
        </p:nvSpPr>
        <p:spPr>
          <a:xfrm>
            <a:off x="2670048" y="4698574"/>
            <a:ext cx="349253" cy="178730"/>
          </a:xfrm>
          <a:prstGeom prst="rect">
            <a:avLst/>
          </a:prstGeom>
          <a:solidFill>
            <a:srgbClr val="C2352F"/>
          </a:solidFill>
          <a:ln/>
        </p:spPr>
      </p:sp>
      <p:sp>
        <p:nvSpPr>
          <p:cNvPr id="59" name="Text 57"/>
          <p:cNvSpPr txBox="1"/>
          <p:nvPr/>
        </p:nvSpPr>
        <p:spPr>
          <a:xfrm>
            <a:off x="3529584" y="4625457"/>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$61,758</a:t>
            </a:r>
            <a:endParaRPr lang="en-US" sz="1300" dirty="0"/>
          </a:p>
        </p:txBody>
      </p:sp>
      <p:sp>
        <p:nvSpPr>
          <p:cNvPr id="60" name="Text 58"/>
          <p:cNvSpPr txBox="1"/>
          <p:nvPr/>
        </p:nvSpPr>
        <p:spPr>
          <a:xfrm>
            <a:off x="4425696"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61" name="Text 59"/>
          <p:cNvSpPr txBox="1"/>
          <p:nvPr/>
        </p:nvSpPr>
        <p:spPr>
          <a:xfrm>
            <a:off x="4992624"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321</a:t>
            </a:r>
            <a:endParaRPr lang="en-US" sz="1300" dirty="0"/>
          </a:p>
        </p:txBody>
      </p:sp>
      <p:sp>
        <p:nvSpPr>
          <p:cNvPr id="62" name="Text 60"/>
          <p:cNvSpPr txBox="1"/>
          <p:nvPr/>
        </p:nvSpPr>
        <p:spPr>
          <a:xfrm>
            <a:off x="658368"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3" name="Shape 61"/>
          <p:cNvSpPr/>
          <p:nvPr/>
        </p:nvSpPr>
        <p:spPr>
          <a:xfrm>
            <a:off x="2670048" y="5023538"/>
            <a:ext cx="338933" cy="178730"/>
          </a:xfrm>
          <a:prstGeom prst="rect">
            <a:avLst/>
          </a:prstGeom>
          <a:solidFill>
            <a:srgbClr val="C2352F"/>
          </a:solidFill>
          <a:ln/>
        </p:spPr>
      </p:sp>
      <p:sp>
        <p:nvSpPr>
          <p:cNvPr id="64" name="Text 62"/>
          <p:cNvSpPr txBox="1"/>
          <p:nvPr/>
        </p:nvSpPr>
        <p:spPr>
          <a:xfrm>
            <a:off x="3529584" y="495042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$59,934</a:t>
            </a:r>
            <a:endParaRPr lang="en-US" sz="1300" dirty="0"/>
          </a:p>
        </p:txBody>
      </p:sp>
      <p:sp>
        <p:nvSpPr>
          <p:cNvPr id="65" name="Text 63"/>
          <p:cNvSpPr txBox="1"/>
          <p:nvPr/>
        </p:nvSpPr>
        <p:spPr>
          <a:xfrm>
            <a:off x="4425696"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66" name="Text 64"/>
          <p:cNvSpPr txBox="1"/>
          <p:nvPr/>
        </p:nvSpPr>
        <p:spPr>
          <a:xfrm>
            <a:off x="4992624"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364</a:t>
            </a:r>
            <a:endParaRPr lang="en-US" sz="1300" dirty="0"/>
          </a:p>
        </p:txBody>
      </p:sp>
      <p:sp>
        <p:nvSpPr>
          <p:cNvPr id="67" name="Text 65"/>
          <p:cNvSpPr txBox="1"/>
          <p:nvPr/>
        </p:nvSpPr>
        <p:spPr>
          <a:xfrm>
            <a:off x="658368"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8" name="Shape 66"/>
          <p:cNvSpPr/>
          <p:nvPr/>
        </p:nvSpPr>
        <p:spPr>
          <a:xfrm>
            <a:off x="2670048" y="5348501"/>
            <a:ext cx="317170" cy="178730"/>
          </a:xfrm>
          <a:prstGeom prst="rect">
            <a:avLst/>
          </a:prstGeom>
          <a:solidFill>
            <a:srgbClr val="C2352F"/>
          </a:solidFill>
          <a:ln/>
        </p:spPr>
      </p:sp>
      <p:sp>
        <p:nvSpPr>
          <p:cNvPr id="69" name="Text 67"/>
          <p:cNvSpPr txBox="1"/>
          <p:nvPr/>
        </p:nvSpPr>
        <p:spPr>
          <a:xfrm>
            <a:off x="3529584" y="527538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$56,085</a:t>
            </a:r>
            <a:endParaRPr lang="en-US" sz="1300" dirty="0"/>
          </a:p>
        </p:txBody>
      </p:sp>
      <p:sp>
        <p:nvSpPr>
          <p:cNvPr id="70" name="Text 68"/>
          <p:cNvSpPr txBox="1"/>
          <p:nvPr/>
        </p:nvSpPr>
        <p:spPr>
          <a:xfrm>
            <a:off x="4425696"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71" name="Text 69"/>
          <p:cNvSpPr txBox="1"/>
          <p:nvPr/>
        </p:nvSpPr>
        <p:spPr>
          <a:xfrm>
            <a:off x="4992624"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387</a:t>
            </a:r>
            <a:endParaRPr lang="en-US" sz="1300" dirty="0"/>
          </a:p>
        </p:txBody>
      </p:sp>
      <p:sp>
        <p:nvSpPr>
          <p:cNvPr id="72" name="Text 70"/>
          <p:cNvSpPr txBox="1"/>
          <p:nvPr/>
        </p:nvSpPr>
        <p:spPr>
          <a:xfrm>
            <a:off x="658368"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3" name="Shape 71"/>
          <p:cNvSpPr/>
          <p:nvPr/>
        </p:nvSpPr>
        <p:spPr>
          <a:xfrm>
            <a:off x="2670048" y="5673465"/>
            <a:ext cx="316483" cy="178730"/>
          </a:xfrm>
          <a:prstGeom prst="rect">
            <a:avLst/>
          </a:prstGeom>
          <a:solidFill>
            <a:srgbClr val="C2352F"/>
          </a:solidFill>
          <a:ln/>
        </p:spPr>
      </p:sp>
      <p:sp>
        <p:nvSpPr>
          <p:cNvPr id="74" name="Text 72"/>
          <p:cNvSpPr txBox="1"/>
          <p:nvPr/>
        </p:nvSpPr>
        <p:spPr>
          <a:xfrm>
            <a:off x="3529584" y="5600348"/>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$55,964</a:t>
            </a:r>
            <a:endParaRPr lang="en-US" sz="1300" dirty="0"/>
          </a:p>
        </p:txBody>
      </p:sp>
      <p:sp>
        <p:nvSpPr>
          <p:cNvPr id="75" name="Text 73"/>
          <p:cNvSpPr txBox="1"/>
          <p:nvPr/>
        </p:nvSpPr>
        <p:spPr>
          <a:xfrm>
            <a:off x="4425696"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76" name="Text 74"/>
          <p:cNvSpPr txBox="1"/>
          <p:nvPr/>
        </p:nvSpPr>
        <p:spPr>
          <a:xfrm>
            <a:off x="4992624"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340</a:t>
            </a:r>
            <a:endParaRPr lang="en-US" sz="1300" dirty="0"/>
          </a:p>
        </p:txBody>
      </p:sp>
      <p:sp>
        <p:nvSpPr>
          <p:cNvPr id="77" name="Text 75"/>
          <p:cNvSpPr txBox="1"/>
          <p:nvPr/>
        </p:nvSpPr>
        <p:spPr>
          <a:xfrm>
            <a:off x="6208776"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8" name="Shape 76"/>
          <p:cNvSpPr/>
          <p:nvPr/>
        </p:nvSpPr>
        <p:spPr>
          <a:xfrm>
            <a:off x="8220456" y="1773901"/>
            <a:ext cx="290838" cy="178730"/>
          </a:xfrm>
          <a:prstGeom prst="rect">
            <a:avLst/>
          </a:prstGeom>
          <a:solidFill>
            <a:srgbClr val="C2352F"/>
          </a:solidFill>
          <a:ln/>
        </p:spPr>
      </p:sp>
      <p:sp>
        <p:nvSpPr>
          <p:cNvPr id="79" name="Text 77"/>
          <p:cNvSpPr txBox="1"/>
          <p:nvPr/>
        </p:nvSpPr>
        <p:spPr>
          <a:xfrm>
            <a:off x="9079992" y="170078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$51,429</a:t>
            </a:r>
            <a:endParaRPr lang="en-US" sz="1300" dirty="0"/>
          </a:p>
        </p:txBody>
      </p:sp>
      <p:sp>
        <p:nvSpPr>
          <p:cNvPr id="80" name="Text 78"/>
          <p:cNvSpPr txBox="1"/>
          <p:nvPr/>
        </p:nvSpPr>
        <p:spPr>
          <a:xfrm>
            <a:off x="9976104"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81" name="Text 79"/>
          <p:cNvSpPr txBox="1"/>
          <p:nvPr/>
        </p:nvSpPr>
        <p:spPr>
          <a:xfrm>
            <a:off x="10543032"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313</a:t>
            </a:r>
            <a:endParaRPr lang="en-US" sz="1300" dirty="0"/>
          </a:p>
        </p:txBody>
      </p:sp>
      <p:sp>
        <p:nvSpPr>
          <p:cNvPr id="82" name="Text 80"/>
          <p:cNvSpPr txBox="1"/>
          <p:nvPr/>
        </p:nvSpPr>
        <p:spPr>
          <a:xfrm>
            <a:off x="6208776"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83" name="Shape 81"/>
          <p:cNvSpPr/>
          <p:nvPr/>
        </p:nvSpPr>
        <p:spPr>
          <a:xfrm>
            <a:off x="8220456" y="2098865"/>
            <a:ext cx="259149" cy="178730"/>
          </a:xfrm>
          <a:prstGeom prst="rect">
            <a:avLst/>
          </a:prstGeom>
          <a:solidFill>
            <a:srgbClr val="C2352F"/>
          </a:solidFill>
          <a:ln/>
        </p:spPr>
      </p:sp>
      <p:sp>
        <p:nvSpPr>
          <p:cNvPr id="84" name="Text 82"/>
          <p:cNvSpPr txBox="1"/>
          <p:nvPr/>
        </p:nvSpPr>
        <p:spPr>
          <a:xfrm>
            <a:off x="9079992" y="2025748"/>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$45,825</a:t>
            </a:r>
            <a:endParaRPr lang="en-US" sz="1300" dirty="0"/>
          </a:p>
        </p:txBody>
      </p:sp>
      <p:sp>
        <p:nvSpPr>
          <p:cNvPr id="85" name="Text 83"/>
          <p:cNvSpPr txBox="1"/>
          <p:nvPr/>
        </p:nvSpPr>
        <p:spPr>
          <a:xfrm>
            <a:off x="9976104"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86" name="Text 84"/>
          <p:cNvSpPr txBox="1"/>
          <p:nvPr/>
        </p:nvSpPr>
        <p:spPr>
          <a:xfrm>
            <a:off x="10543032"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170</a:t>
            </a:r>
            <a:endParaRPr lang="en-US" sz="1300" dirty="0"/>
          </a:p>
        </p:txBody>
      </p:sp>
      <p:sp>
        <p:nvSpPr>
          <p:cNvPr id="87" name="Text 85"/>
          <p:cNvSpPr txBox="1"/>
          <p:nvPr/>
        </p:nvSpPr>
        <p:spPr>
          <a:xfrm>
            <a:off x="6208776"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88" name="Shape 86"/>
          <p:cNvSpPr/>
          <p:nvPr/>
        </p:nvSpPr>
        <p:spPr>
          <a:xfrm>
            <a:off x="8220456" y="2423828"/>
            <a:ext cx="190832" cy="178730"/>
          </a:xfrm>
          <a:prstGeom prst="rect">
            <a:avLst/>
          </a:prstGeom>
          <a:solidFill>
            <a:srgbClr val="C2352F"/>
          </a:solidFill>
          <a:ln/>
        </p:spPr>
      </p:sp>
      <p:sp>
        <p:nvSpPr>
          <p:cNvPr id="89" name="Text 87"/>
          <p:cNvSpPr txBox="1"/>
          <p:nvPr/>
        </p:nvSpPr>
        <p:spPr>
          <a:xfrm>
            <a:off x="9079992" y="235071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$33,745</a:t>
            </a:r>
            <a:endParaRPr lang="en-US" sz="1300" dirty="0"/>
          </a:p>
        </p:txBody>
      </p:sp>
      <p:sp>
        <p:nvSpPr>
          <p:cNvPr id="90" name="Text 88"/>
          <p:cNvSpPr txBox="1"/>
          <p:nvPr/>
        </p:nvSpPr>
        <p:spPr>
          <a:xfrm>
            <a:off x="9976104"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91" name="Text 89"/>
          <p:cNvSpPr txBox="1"/>
          <p:nvPr/>
        </p:nvSpPr>
        <p:spPr>
          <a:xfrm>
            <a:off x="10543032"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92" name="Text 90"/>
          <p:cNvSpPr txBox="1"/>
          <p:nvPr/>
        </p:nvSpPr>
        <p:spPr>
          <a:xfrm>
            <a:off x="6208776"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3" name="Shape 91"/>
          <p:cNvSpPr/>
          <p:nvPr/>
        </p:nvSpPr>
        <p:spPr>
          <a:xfrm>
            <a:off x="8220456" y="2748792"/>
            <a:ext cx="163264" cy="178730"/>
          </a:xfrm>
          <a:prstGeom prst="rect">
            <a:avLst/>
          </a:prstGeom>
          <a:solidFill>
            <a:srgbClr val="C2352F"/>
          </a:solidFill>
          <a:ln/>
        </p:spPr>
      </p:sp>
      <p:sp>
        <p:nvSpPr>
          <p:cNvPr id="94" name="Text 92"/>
          <p:cNvSpPr txBox="1"/>
          <p:nvPr/>
        </p:nvSpPr>
        <p:spPr>
          <a:xfrm>
            <a:off x="9079992" y="267567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$28,870</a:t>
            </a:r>
            <a:endParaRPr lang="en-US" sz="1300" dirty="0"/>
          </a:p>
        </p:txBody>
      </p:sp>
      <p:sp>
        <p:nvSpPr>
          <p:cNvPr id="95" name="Text 93"/>
          <p:cNvSpPr txBox="1"/>
          <p:nvPr/>
        </p:nvSpPr>
        <p:spPr>
          <a:xfrm>
            <a:off x="9976104"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96" name="Text 94"/>
          <p:cNvSpPr txBox="1"/>
          <p:nvPr/>
        </p:nvSpPr>
        <p:spPr>
          <a:xfrm>
            <a:off x="10543032"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97" name="Text 95"/>
          <p:cNvSpPr txBox="1"/>
          <p:nvPr/>
        </p:nvSpPr>
        <p:spPr>
          <a:xfrm>
            <a:off x="6208776"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98" name="Shape 96"/>
          <p:cNvSpPr/>
          <p:nvPr/>
        </p:nvSpPr>
        <p:spPr>
          <a:xfrm>
            <a:off x="8220456" y="3073756"/>
            <a:ext cx="147423" cy="178730"/>
          </a:xfrm>
          <a:prstGeom prst="rect">
            <a:avLst/>
          </a:prstGeom>
          <a:solidFill>
            <a:srgbClr val="C2352F"/>
          </a:solidFill>
          <a:ln/>
        </p:spPr>
      </p:sp>
      <p:sp>
        <p:nvSpPr>
          <p:cNvPr id="99" name="Text 97"/>
          <p:cNvSpPr txBox="1"/>
          <p:nvPr/>
        </p:nvSpPr>
        <p:spPr>
          <a:xfrm>
            <a:off x="9079992" y="3000639"/>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$26,069</a:t>
            </a:r>
            <a:endParaRPr lang="en-US" sz="1300" dirty="0"/>
          </a:p>
        </p:txBody>
      </p:sp>
      <p:sp>
        <p:nvSpPr>
          <p:cNvPr id="100" name="Text 98"/>
          <p:cNvSpPr txBox="1"/>
          <p:nvPr/>
        </p:nvSpPr>
        <p:spPr>
          <a:xfrm>
            <a:off x="9976104"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01" name="Text 99"/>
          <p:cNvSpPr txBox="1"/>
          <p:nvPr/>
        </p:nvSpPr>
        <p:spPr>
          <a:xfrm>
            <a:off x="10543032"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174</a:t>
            </a:r>
            <a:endParaRPr lang="en-US" sz="1300" dirty="0"/>
          </a:p>
        </p:txBody>
      </p:sp>
      <p:sp>
        <p:nvSpPr>
          <p:cNvPr id="102" name="Text 100"/>
          <p:cNvSpPr txBox="1"/>
          <p:nvPr/>
        </p:nvSpPr>
        <p:spPr>
          <a:xfrm>
            <a:off x="6208776"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3" name="Shape 101"/>
          <p:cNvSpPr/>
          <p:nvPr/>
        </p:nvSpPr>
        <p:spPr>
          <a:xfrm>
            <a:off x="8220456" y="3398719"/>
            <a:ext cx="140924" cy="178730"/>
          </a:xfrm>
          <a:prstGeom prst="rect">
            <a:avLst/>
          </a:prstGeom>
          <a:solidFill>
            <a:srgbClr val="C2352F"/>
          </a:solidFill>
          <a:ln/>
        </p:spPr>
      </p:sp>
      <p:sp>
        <p:nvSpPr>
          <p:cNvPr id="104" name="Text 102"/>
          <p:cNvSpPr txBox="1"/>
          <p:nvPr/>
        </p:nvSpPr>
        <p:spPr>
          <a:xfrm>
            <a:off x="9079992" y="3325602"/>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$24,920</a:t>
            </a:r>
            <a:endParaRPr lang="en-US" sz="1300" dirty="0"/>
          </a:p>
        </p:txBody>
      </p:sp>
      <p:sp>
        <p:nvSpPr>
          <p:cNvPr id="105" name="Text 103"/>
          <p:cNvSpPr txBox="1"/>
          <p:nvPr/>
        </p:nvSpPr>
        <p:spPr>
          <a:xfrm>
            <a:off x="9976104"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06" name="Text 104"/>
          <p:cNvSpPr txBox="1"/>
          <p:nvPr/>
        </p:nvSpPr>
        <p:spPr>
          <a:xfrm>
            <a:off x="10543032"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a:t>
            </a:r>
            <a:endParaRPr lang="en-US" sz="1300" dirty="0"/>
          </a:p>
        </p:txBody>
      </p:sp>
      <p:sp>
        <p:nvSpPr>
          <p:cNvPr id="107" name="Text 105"/>
          <p:cNvSpPr txBox="1"/>
          <p:nvPr/>
        </p:nvSpPr>
        <p:spPr>
          <a:xfrm>
            <a:off x="6208776"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08" name="Shape 106"/>
          <p:cNvSpPr/>
          <p:nvPr/>
        </p:nvSpPr>
        <p:spPr>
          <a:xfrm>
            <a:off x="8220456" y="3723683"/>
            <a:ext cx="134775" cy="178730"/>
          </a:xfrm>
          <a:prstGeom prst="rect">
            <a:avLst/>
          </a:prstGeom>
          <a:solidFill>
            <a:srgbClr val="C2352F"/>
          </a:solidFill>
          <a:ln/>
        </p:spPr>
      </p:sp>
      <p:sp>
        <p:nvSpPr>
          <p:cNvPr id="109" name="Text 107"/>
          <p:cNvSpPr txBox="1"/>
          <p:nvPr/>
        </p:nvSpPr>
        <p:spPr>
          <a:xfrm>
            <a:off x="9079992" y="3650566"/>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$23,832</a:t>
            </a:r>
            <a:endParaRPr lang="en-US" sz="1300" dirty="0"/>
          </a:p>
        </p:txBody>
      </p:sp>
      <p:sp>
        <p:nvSpPr>
          <p:cNvPr id="110" name="Text 108"/>
          <p:cNvSpPr txBox="1"/>
          <p:nvPr/>
        </p:nvSpPr>
        <p:spPr>
          <a:xfrm>
            <a:off x="9976104"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11" name="Text 109"/>
          <p:cNvSpPr txBox="1"/>
          <p:nvPr/>
        </p:nvSpPr>
        <p:spPr>
          <a:xfrm>
            <a:off x="10543032"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12" name="Text 110"/>
          <p:cNvSpPr txBox="1"/>
          <p:nvPr/>
        </p:nvSpPr>
        <p:spPr>
          <a:xfrm>
            <a:off x="6208776"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4048647"/>
            <a:ext cx="120016" cy="178730"/>
          </a:xfrm>
          <a:prstGeom prst="rect">
            <a:avLst/>
          </a:prstGeom>
          <a:solidFill>
            <a:srgbClr val="C2352F"/>
          </a:solidFill>
          <a:ln/>
        </p:spPr>
      </p:sp>
      <p:sp>
        <p:nvSpPr>
          <p:cNvPr id="114" name="Text 112"/>
          <p:cNvSpPr txBox="1"/>
          <p:nvPr/>
        </p:nvSpPr>
        <p:spPr>
          <a:xfrm>
            <a:off x="9079992" y="3975530"/>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$21,222</a:t>
            </a:r>
            <a:endParaRPr lang="en-US" sz="1300" dirty="0"/>
          </a:p>
        </p:txBody>
      </p:sp>
      <p:sp>
        <p:nvSpPr>
          <p:cNvPr id="115" name="Text 113"/>
          <p:cNvSpPr txBox="1"/>
          <p:nvPr/>
        </p:nvSpPr>
        <p:spPr>
          <a:xfrm>
            <a:off x="9976104"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116" name="Text 114"/>
          <p:cNvSpPr txBox="1"/>
          <p:nvPr/>
        </p:nvSpPr>
        <p:spPr>
          <a:xfrm>
            <a:off x="10543032"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a:t>
            </a:r>
            <a:endParaRPr lang="en-US" sz="1300" dirty="0"/>
          </a:p>
        </p:txBody>
      </p:sp>
      <p:sp>
        <p:nvSpPr>
          <p:cNvPr id="117" name="Text 115"/>
          <p:cNvSpPr txBox="1"/>
          <p:nvPr/>
        </p:nvSpPr>
        <p:spPr>
          <a:xfrm>
            <a:off x="6208776"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8" name="Shape 116"/>
          <p:cNvSpPr/>
          <p:nvPr/>
        </p:nvSpPr>
        <p:spPr>
          <a:xfrm>
            <a:off x="8220456" y="4373610"/>
            <a:ext cx="106781" cy="178730"/>
          </a:xfrm>
          <a:prstGeom prst="rect">
            <a:avLst/>
          </a:prstGeom>
          <a:solidFill>
            <a:srgbClr val="C2352F"/>
          </a:solidFill>
          <a:ln/>
        </p:spPr>
      </p:sp>
      <p:sp>
        <p:nvSpPr>
          <p:cNvPr id="119" name="Text 117"/>
          <p:cNvSpPr txBox="1"/>
          <p:nvPr/>
        </p:nvSpPr>
        <p:spPr>
          <a:xfrm>
            <a:off x="9079992" y="430049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$18,882</a:t>
            </a:r>
            <a:endParaRPr lang="en-US" sz="1300" dirty="0"/>
          </a:p>
        </p:txBody>
      </p:sp>
      <p:sp>
        <p:nvSpPr>
          <p:cNvPr id="120" name="Text 118"/>
          <p:cNvSpPr txBox="1"/>
          <p:nvPr/>
        </p:nvSpPr>
        <p:spPr>
          <a:xfrm>
            <a:off x="9976104"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121" name="Text 119"/>
          <p:cNvSpPr txBox="1"/>
          <p:nvPr/>
        </p:nvSpPr>
        <p:spPr>
          <a:xfrm>
            <a:off x="10543032"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a:t>
            </a:r>
            <a:endParaRPr lang="en-US" sz="1300" dirty="0"/>
          </a:p>
        </p:txBody>
      </p:sp>
      <p:sp>
        <p:nvSpPr>
          <p:cNvPr id="122" name="Text 120"/>
          <p:cNvSpPr txBox="1"/>
          <p:nvPr/>
        </p:nvSpPr>
        <p:spPr>
          <a:xfrm>
            <a:off x="6208776"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23" name="Shape 121"/>
          <p:cNvSpPr/>
          <p:nvPr/>
        </p:nvSpPr>
        <p:spPr>
          <a:xfrm>
            <a:off x="8220456" y="4698574"/>
            <a:ext cx="103137" cy="178730"/>
          </a:xfrm>
          <a:prstGeom prst="rect">
            <a:avLst/>
          </a:prstGeom>
          <a:solidFill>
            <a:srgbClr val="C2352F"/>
          </a:solidFill>
          <a:ln/>
        </p:spPr>
      </p:sp>
      <p:sp>
        <p:nvSpPr>
          <p:cNvPr id="124" name="Text 122"/>
          <p:cNvSpPr txBox="1"/>
          <p:nvPr/>
        </p:nvSpPr>
        <p:spPr>
          <a:xfrm>
            <a:off x="9079992" y="4625457"/>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$18,238</a:t>
            </a:r>
            <a:endParaRPr lang="en-US" sz="1300" dirty="0"/>
          </a:p>
        </p:txBody>
      </p:sp>
      <p:sp>
        <p:nvSpPr>
          <p:cNvPr id="125" name="Text 123"/>
          <p:cNvSpPr txBox="1"/>
          <p:nvPr/>
        </p:nvSpPr>
        <p:spPr>
          <a:xfrm>
            <a:off x="9976104"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126" name="Text 124"/>
          <p:cNvSpPr txBox="1"/>
          <p:nvPr/>
        </p:nvSpPr>
        <p:spPr>
          <a:xfrm>
            <a:off x="10543032"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27" name="Text 125"/>
          <p:cNvSpPr txBox="1"/>
          <p:nvPr/>
        </p:nvSpPr>
        <p:spPr>
          <a:xfrm>
            <a:off x="6208776"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5023538"/>
            <a:ext cx="71967" cy="178730"/>
          </a:xfrm>
          <a:prstGeom prst="rect">
            <a:avLst/>
          </a:prstGeom>
          <a:solidFill>
            <a:srgbClr val="C2352F"/>
          </a:solidFill>
          <a:ln/>
        </p:spPr>
      </p:sp>
      <p:sp>
        <p:nvSpPr>
          <p:cNvPr id="129" name="Text 127"/>
          <p:cNvSpPr txBox="1"/>
          <p:nvPr/>
        </p:nvSpPr>
        <p:spPr>
          <a:xfrm>
            <a:off x="9079992" y="495042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$12,726</a:t>
            </a:r>
            <a:endParaRPr lang="en-US" sz="1300" dirty="0"/>
          </a:p>
        </p:txBody>
      </p:sp>
      <p:sp>
        <p:nvSpPr>
          <p:cNvPr id="130" name="Text 128"/>
          <p:cNvSpPr txBox="1"/>
          <p:nvPr/>
        </p:nvSpPr>
        <p:spPr>
          <a:xfrm>
            <a:off x="9976104"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31" name="Text 129"/>
          <p:cNvSpPr txBox="1"/>
          <p:nvPr/>
        </p:nvSpPr>
        <p:spPr>
          <a:xfrm>
            <a:off x="10543032"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2" name="Text 130"/>
          <p:cNvSpPr txBox="1"/>
          <p:nvPr/>
        </p:nvSpPr>
        <p:spPr>
          <a:xfrm>
            <a:off x="6208776"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3" name="Shape 131"/>
          <p:cNvSpPr/>
          <p:nvPr/>
        </p:nvSpPr>
        <p:spPr>
          <a:xfrm>
            <a:off x="8220456" y="5348501"/>
            <a:ext cx="57713" cy="178730"/>
          </a:xfrm>
          <a:prstGeom prst="rect">
            <a:avLst/>
          </a:prstGeom>
          <a:solidFill>
            <a:srgbClr val="C2352F"/>
          </a:solidFill>
          <a:ln/>
        </p:spPr>
      </p:sp>
      <p:sp>
        <p:nvSpPr>
          <p:cNvPr id="134" name="Text 132"/>
          <p:cNvSpPr txBox="1"/>
          <p:nvPr/>
        </p:nvSpPr>
        <p:spPr>
          <a:xfrm>
            <a:off x="9079992" y="527538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$10,205</a:t>
            </a:r>
            <a:endParaRPr lang="en-US" sz="1300" dirty="0"/>
          </a:p>
        </p:txBody>
      </p:sp>
      <p:sp>
        <p:nvSpPr>
          <p:cNvPr id="135" name="Text 133"/>
          <p:cNvSpPr txBox="1"/>
          <p:nvPr/>
        </p:nvSpPr>
        <p:spPr>
          <a:xfrm>
            <a:off x="9976104"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36" name="Text 134"/>
          <p:cNvSpPr txBox="1"/>
          <p:nvPr/>
        </p:nvSpPr>
        <p:spPr>
          <a:xfrm>
            <a:off x="10543032"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37" name="Text 135"/>
          <p:cNvSpPr txBox="1"/>
          <p:nvPr/>
        </p:nvSpPr>
        <p:spPr>
          <a:xfrm>
            <a:off x="6208776"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38" name="Shape 136"/>
          <p:cNvSpPr/>
          <p:nvPr/>
        </p:nvSpPr>
        <p:spPr>
          <a:xfrm>
            <a:off x="8220456" y="5673465"/>
            <a:ext cx="18288" cy="178730"/>
          </a:xfrm>
          <a:prstGeom prst="rect">
            <a:avLst/>
          </a:prstGeom>
          <a:solidFill>
            <a:srgbClr val="C2352F"/>
          </a:solidFill>
          <a:ln/>
        </p:spPr>
      </p:sp>
      <p:sp>
        <p:nvSpPr>
          <p:cNvPr id="139" name="Text 137"/>
          <p:cNvSpPr txBox="1"/>
          <p:nvPr/>
        </p:nvSpPr>
        <p:spPr>
          <a:xfrm>
            <a:off x="9079992" y="5600348"/>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$1,206</a:t>
            </a:r>
            <a:endParaRPr lang="en-US" sz="1300" dirty="0"/>
          </a:p>
        </p:txBody>
      </p:sp>
      <p:sp>
        <p:nvSpPr>
          <p:cNvPr id="140" name="Text 138"/>
          <p:cNvSpPr txBox="1"/>
          <p:nvPr/>
        </p:nvSpPr>
        <p:spPr>
          <a:xfrm>
            <a:off x="9976104"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41" name="Text 139"/>
          <p:cNvSpPr txBox="1"/>
          <p:nvPr/>
        </p:nvSpPr>
        <p:spPr>
          <a:xfrm>
            <a:off x="10543032"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42" name="Shape 140"/>
          <p:cNvSpPr/>
          <p:nvPr/>
        </p:nvSpPr>
        <p:spPr>
          <a:xfrm>
            <a:off x="457200" y="6126480"/>
            <a:ext cx="11274552" cy="371856"/>
          </a:xfrm>
          <a:prstGeom prst="rect">
            <a:avLst/>
          </a:prstGeom>
          <a:solidFill>
            <a:srgbClr val="FBEBEA"/>
          </a:solidFill>
          <a:ln/>
        </p:spPr>
      </p:sp>
      <p:sp>
        <p:nvSpPr>
          <p:cNvPr id="143" name="Text 14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 stores under 7.5% leave $1,356,881 a year: 8,527 services. Chevy LV has the most at $142,290.</a:t>
            </a:r>
            <a:endParaRPr lang="en-US" sz="1600" dirty="0"/>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Missed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9584"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60350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Below</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079992"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60350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Below</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60191"/>
            <a:ext cx="804672" cy="145218"/>
          </a:xfrm>
          <a:prstGeom prst="rect">
            <a:avLst/>
          </a:prstGeom>
          <a:solidFill>
            <a:srgbClr val="C2352F"/>
          </a:solidFill>
          <a:ln/>
        </p:spPr>
      </p:sp>
      <p:sp>
        <p:nvSpPr>
          <p:cNvPr id="14" name="Text 12"/>
          <p:cNvSpPr txBox="1"/>
          <p:nvPr/>
        </p:nvSpPr>
        <p:spPr>
          <a:xfrm>
            <a:off x="3529584" y="1700784"/>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$541,039</a:t>
            </a:r>
            <a:endParaRPr lang="en-US" sz="1300" dirty="0"/>
          </a:p>
        </p:txBody>
      </p:sp>
      <p:sp>
        <p:nvSpPr>
          <p:cNvPr id="15" name="Text 13"/>
          <p:cNvSpPr txBox="1"/>
          <p:nvPr/>
        </p:nvSpPr>
        <p:spPr>
          <a:xfrm>
            <a:off x="4425696" y="170078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6" name="Text 14"/>
          <p:cNvSpPr txBox="1"/>
          <p:nvPr/>
        </p:nvSpPr>
        <p:spPr>
          <a:xfrm>
            <a:off x="5029200" y="170078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6,921</a:t>
            </a:r>
            <a:endParaRPr lang="en-US" sz="1300" dirty="0"/>
          </a:p>
        </p:txBody>
      </p:sp>
      <p:sp>
        <p:nvSpPr>
          <p:cNvPr id="17" name="Text 15"/>
          <p:cNvSpPr txBox="1"/>
          <p:nvPr/>
        </p:nvSpPr>
        <p:spPr>
          <a:xfrm>
            <a:off x="658368" y="196481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24224"/>
            <a:ext cx="706276" cy="145218"/>
          </a:xfrm>
          <a:prstGeom prst="rect">
            <a:avLst/>
          </a:prstGeom>
          <a:solidFill>
            <a:srgbClr val="C2352F"/>
          </a:solidFill>
          <a:ln/>
        </p:spPr>
      </p:sp>
      <p:sp>
        <p:nvSpPr>
          <p:cNvPr id="19" name="Text 17"/>
          <p:cNvSpPr txBox="1"/>
          <p:nvPr/>
        </p:nvSpPr>
        <p:spPr>
          <a:xfrm>
            <a:off x="3529584" y="1964817"/>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$474,880</a:t>
            </a:r>
            <a:endParaRPr lang="en-US" sz="1300" dirty="0"/>
          </a:p>
        </p:txBody>
      </p:sp>
      <p:sp>
        <p:nvSpPr>
          <p:cNvPr id="20" name="Text 18"/>
          <p:cNvSpPr txBox="1"/>
          <p:nvPr/>
        </p:nvSpPr>
        <p:spPr>
          <a:xfrm>
            <a:off x="4425696" y="196481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1" name="Text 19"/>
          <p:cNvSpPr txBox="1"/>
          <p:nvPr/>
        </p:nvSpPr>
        <p:spPr>
          <a:xfrm>
            <a:off x="5029200" y="196481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4,236</a:t>
            </a:r>
            <a:endParaRPr lang="en-US" sz="1300" dirty="0"/>
          </a:p>
        </p:txBody>
      </p:sp>
      <p:sp>
        <p:nvSpPr>
          <p:cNvPr id="22" name="Text 20"/>
          <p:cNvSpPr txBox="1"/>
          <p:nvPr/>
        </p:nvSpPr>
        <p:spPr>
          <a:xfrm>
            <a:off x="658368" y="222885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3" name="Shape 21"/>
          <p:cNvSpPr/>
          <p:nvPr/>
        </p:nvSpPr>
        <p:spPr>
          <a:xfrm>
            <a:off x="2670048" y="2288257"/>
            <a:ext cx="528954" cy="145218"/>
          </a:xfrm>
          <a:prstGeom prst="rect">
            <a:avLst/>
          </a:prstGeom>
          <a:solidFill>
            <a:srgbClr val="C2352F"/>
          </a:solidFill>
          <a:ln/>
        </p:spPr>
      </p:sp>
      <p:sp>
        <p:nvSpPr>
          <p:cNvPr id="24" name="Text 22"/>
          <p:cNvSpPr txBox="1"/>
          <p:nvPr/>
        </p:nvSpPr>
        <p:spPr>
          <a:xfrm>
            <a:off x="3529584" y="2228850"/>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$355,653</a:t>
            </a:r>
            <a:endParaRPr lang="en-US" sz="1300" dirty="0"/>
          </a:p>
        </p:txBody>
      </p:sp>
      <p:sp>
        <p:nvSpPr>
          <p:cNvPr id="25" name="Text 23"/>
          <p:cNvSpPr txBox="1"/>
          <p:nvPr/>
        </p:nvSpPr>
        <p:spPr>
          <a:xfrm>
            <a:off x="4425696" y="222885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6" name="Text 24"/>
          <p:cNvSpPr txBox="1"/>
          <p:nvPr/>
        </p:nvSpPr>
        <p:spPr>
          <a:xfrm>
            <a:off x="5029200" y="222885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4,659</a:t>
            </a:r>
            <a:endParaRPr lang="en-US" sz="1300" dirty="0"/>
          </a:p>
        </p:txBody>
      </p:sp>
      <p:sp>
        <p:nvSpPr>
          <p:cNvPr id="27" name="Text 25"/>
          <p:cNvSpPr txBox="1"/>
          <p:nvPr/>
        </p:nvSpPr>
        <p:spPr>
          <a:xfrm>
            <a:off x="658368" y="249288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8" name="Shape 26"/>
          <p:cNvSpPr/>
          <p:nvPr/>
        </p:nvSpPr>
        <p:spPr>
          <a:xfrm>
            <a:off x="2670048" y="2552290"/>
            <a:ext cx="459669" cy="145218"/>
          </a:xfrm>
          <a:prstGeom prst="rect">
            <a:avLst/>
          </a:prstGeom>
          <a:solidFill>
            <a:srgbClr val="C2352F"/>
          </a:solidFill>
          <a:ln/>
        </p:spPr>
      </p:sp>
      <p:sp>
        <p:nvSpPr>
          <p:cNvPr id="29" name="Text 27"/>
          <p:cNvSpPr txBox="1"/>
          <p:nvPr/>
        </p:nvSpPr>
        <p:spPr>
          <a:xfrm>
            <a:off x="3529584" y="2492883"/>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$309,068</a:t>
            </a:r>
            <a:endParaRPr lang="en-US" sz="1300" dirty="0"/>
          </a:p>
        </p:txBody>
      </p:sp>
      <p:sp>
        <p:nvSpPr>
          <p:cNvPr id="30" name="Text 28"/>
          <p:cNvSpPr txBox="1"/>
          <p:nvPr/>
        </p:nvSpPr>
        <p:spPr>
          <a:xfrm>
            <a:off x="4425696" y="249288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31" name="Text 29"/>
          <p:cNvSpPr txBox="1"/>
          <p:nvPr/>
        </p:nvSpPr>
        <p:spPr>
          <a:xfrm>
            <a:off x="5029200" y="249288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4,054</a:t>
            </a:r>
            <a:endParaRPr lang="en-US" sz="1300" dirty="0"/>
          </a:p>
        </p:txBody>
      </p:sp>
      <p:sp>
        <p:nvSpPr>
          <p:cNvPr id="32" name="Text 30"/>
          <p:cNvSpPr txBox="1"/>
          <p:nvPr/>
        </p:nvSpPr>
        <p:spPr>
          <a:xfrm>
            <a:off x="658368" y="275691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3" name="Shape 31"/>
          <p:cNvSpPr/>
          <p:nvPr/>
        </p:nvSpPr>
        <p:spPr>
          <a:xfrm>
            <a:off x="2670048" y="2816323"/>
            <a:ext cx="366701" cy="145218"/>
          </a:xfrm>
          <a:prstGeom prst="rect">
            <a:avLst/>
          </a:prstGeom>
          <a:solidFill>
            <a:srgbClr val="C2352F"/>
          </a:solidFill>
          <a:ln/>
        </p:spPr>
      </p:sp>
      <p:sp>
        <p:nvSpPr>
          <p:cNvPr id="34" name="Text 32"/>
          <p:cNvSpPr txBox="1"/>
          <p:nvPr/>
        </p:nvSpPr>
        <p:spPr>
          <a:xfrm>
            <a:off x="3529584" y="2756916"/>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$246,559</a:t>
            </a:r>
            <a:endParaRPr lang="en-US" sz="1300" dirty="0"/>
          </a:p>
        </p:txBody>
      </p:sp>
      <p:sp>
        <p:nvSpPr>
          <p:cNvPr id="35" name="Text 33"/>
          <p:cNvSpPr txBox="1"/>
          <p:nvPr/>
        </p:nvSpPr>
        <p:spPr>
          <a:xfrm>
            <a:off x="4425696" y="275691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36" name="Text 34"/>
          <p:cNvSpPr txBox="1"/>
          <p:nvPr/>
        </p:nvSpPr>
        <p:spPr>
          <a:xfrm>
            <a:off x="5029200" y="275691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2,278</a:t>
            </a:r>
            <a:endParaRPr lang="en-US" sz="1300" dirty="0"/>
          </a:p>
        </p:txBody>
      </p:sp>
      <p:sp>
        <p:nvSpPr>
          <p:cNvPr id="37" name="Text 35"/>
          <p:cNvSpPr txBox="1"/>
          <p:nvPr/>
        </p:nvSpPr>
        <p:spPr>
          <a:xfrm>
            <a:off x="658368" y="302094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8" name="Shape 36"/>
          <p:cNvSpPr/>
          <p:nvPr/>
        </p:nvSpPr>
        <p:spPr>
          <a:xfrm>
            <a:off x="2670048" y="3080356"/>
            <a:ext cx="363983" cy="145218"/>
          </a:xfrm>
          <a:prstGeom prst="rect">
            <a:avLst/>
          </a:prstGeom>
          <a:solidFill>
            <a:srgbClr val="C2352F"/>
          </a:solidFill>
          <a:ln/>
        </p:spPr>
      </p:sp>
      <p:sp>
        <p:nvSpPr>
          <p:cNvPr id="39" name="Text 37"/>
          <p:cNvSpPr txBox="1"/>
          <p:nvPr/>
        </p:nvSpPr>
        <p:spPr>
          <a:xfrm>
            <a:off x="3529584" y="3020949"/>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$244,731</a:t>
            </a:r>
            <a:endParaRPr lang="en-US" sz="1300" dirty="0"/>
          </a:p>
        </p:txBody>
      </p:sp>
      <p:sp>
        <p:nvSpPr>
          <p:cNvPr id="40" name="Text 38"/>
          <p:cNvSpPr txBox="1"/>
          <p:nvPr/>
        </p:nvSpPr>
        <p:spPr>
          <a:xfrm>
            <a:off x="4425696" y="302094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41" name="Text 39"/>
          <p:cNvSpPr txBox="1"/>
          <p:nvPr/>
        </p:nvSpPr>
        <p:spPr>
          <a:xfrm>
            <a:off x="5029200" y="302094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2,484</a:t>
            </a:r>
            <a:endParaRPr lang="en-US" sz="1300" dirty="0"/>
          </a:p>
        </p:txBody>
      </p:sp>
      <p:sp>
        <p:nvSpPr>
          <p:cNvPr id="42" name="Text 40"/>
          <p:cNvSpPr txBox="1"/>
          <p:nvPr/>
        </p:nvSpPr>
        <p:spPr>
          <a:xfrm>
            <a:off x="658368" y="3284982"/>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344389"/>
            <a:ext cx="346113" cy="145218"/>
          </a:xfrm>
          <a:prstGeom prst="rect">
            <a:avLst/>
          </a:prstGeom>
          <a:solidFill>
            <a:srgbClr val="C2352F"/>
          </a:solidFill>
          <a:ln/>
        </p:spPr>
      </p:sp>
      <p:sp>
        <p:nvSpPr>
          <p:cNvPr id="44" name="Text 42"/>
          <p:cNvSpPr txBox="1"/>
          <p:nvPr/>
        </p:nvSpPr>
        <p:spPr>
          <a:xfrm>
            <a:off x="3529584" y="3284982"/>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$232,717</a:t>
            </a:r>
            <a:endParaRPr lang="en-US" sz="1300" dirty="0"/>
          </a:p>
        </p:txBody>
      </p:sp>
      <p:sp>
        <p:nvSpPr>
          <p:cNvPr id="45" name="Text 43"/>
          <p:cNvSpPr txBox="1"/>
          <p:nvPr/>
        </p:nvSpPr>
        <p:spPr>
          <a:xfrm>
            <a:off x="4425696" y="3284982"/>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46" name="Text 44"/>
          <p:cNvSpPr txBox="1"/>
          <p:nvPr/>
        </p:nvSpPr>
        <p:spPr>
          <a:xfrm>
            <a:off x="5029200" y="3284982"/>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2,541</a:t>
            </a:r>
            <a:endParaRPr lang="en-US" sz="1300" dirty="0"/>
          </a:p>
        </p:txBody>
      </p:sp>
      <p:sp>
        <p:nvSpPr>
          <p:cNvPr id="47" name="Text 45"/>
          <p:cNvSpPr txBox="1"/>
          <p:nvPr/>
        </p:nvSpPr>
        <p:spPr>
          <a:xfrm>
            <a:off x="658368" y="3549015"/>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3608422"/>
            <a:ext cx="332201" cy="145218"/>
          </a:xfrm>
          <a:prstGeom prst="rect">
            <a:avLst/>
          </a:prstGeom>
          <a:solidFill>
            <a:srgbClr val="C2352F"/>
          </a:solidFill>
          <a:ln/>
        </p:spPr>
      </p:sp>
      <p:sp>
        <p:nvSpPr>
          <p:cNvPr id="49" name="Text 47"/>
          <p:cNvSpPr txBox="1"/>
          <p:nvPr/>
        </p:nvSpPr>
        <p:spPr>
          <a:xfrm>
            <a:off x="3529584" y="3549015"/>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$223,362</a:t>
            </a:r>
            <a:endParaRPr lang="en-US" sz="1300" dirty="0"/>
          </a:p>
        </p:txBody>
      </p:sp>
      <p:sp>
        <p:nvSpPr>
          <p:cNvPr id="50" name="Text 48"/>
          <p:cNvSpPr txBox="1"/>
          <p:nvPr/>
        </p:nvSpPr>
        <p:spPr>
          <a:xfrm>
            <a:off x="4425696" y="3549015"/>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51" name="Text 49"/>
          <p:cNvSpPr txBox="1"/>
          <p:nvPr/>
        </p:nvSpPr>
        <p:spPr>
          <a:xfrm>
            <a:off x="5029200" y="3549015"/>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2,304</a:t>
            </a:r>
            <a:endParaRPr lang="en-US" sz="1300" dirty="0"/>
          </a:p>
        </p:txBody>
      </p:sp>
      <p:sp>
        <p:nvSpPr>
          <p:cNvPr id="52" name="Text 50"/>
          <p:cNvSpPr txBox="1"/>
          <p:nvPr/>
        </p:nvSpPr>
        <p:spPr>
          <a:xfrm>
            <a:off x="658368" y="3813048"/>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3" name="Shape 51"/>
          <p:cNvSpPr/>
          <p:nvPr/>
        </p:nvSpPr>
        <p:spPr>
          <a:xfrm>
            <a:off x="2670048" y="3872455"/>
            <a:ext cx="320639" cy="145218"/>
          </a:xfrm>
          <a:prstGeom prst="rect">
            <a:avLst/>
          </a:prstGeom>
          <a:solidFill>
            <a:srgbClr val="C2352F"/>
          </a:solidFill>
          <a:ln/>
        </p:spPr>
      </p:sp>
      <p:sp>
        <p:nvSpPr>
          <p:cNvPr id="54" name="Text 52"/>
          <p:cNvSpPr txBox="1"/>
          <p:nvPr/>
        </p:nvSpPr>
        <p:spPr>
          <a:xfrm>
            <a:off x="3529584" y="3813048"/>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$215,588</a:t>
            </a:r>
            <a:endParaRPr lang="en-US" sz="1300" dirty="0"/>
          </a:p>
        </p:txBody>
      </p:sp>
      <p:sp>
        <p:nvSpPr>
          <p:cNvPr id="55" name="Text 53"/>
          <p:cNvSpPr txBox="1"/>
          <p:nvPr/>
        </p:nvSpPr>
        <p:spPr>
          <a:xfrm>
            <a:off x="4425696" y="3813048"/>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56" name="Text 54"/>
          <p:cNvSpPr txBox="1"/>
          <p:nvPr/>
        </p:nvSpPr>
        <p:spPr>
          <a:xfrm>
            <a:off x="5029200" y="3813048"/>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1,536</a:t>
            </a:r>
            <a:endParaRPr lang="en-US" sz="1300" dirty="0"/>
          </a:p>
        </p:txBody>
      </p:sp>
      <p:sp>
        <p:nvSpPr>
          <p:cNvPr id="57" name="Text 55"/>
          <p:cNvSpPr txBox="1"/>
          <p:nvPr/>
        </p:nvSpPr>
        <p:spPr>
          <a:xfrm>
            <a:off x="658368" y="4077081"/>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58" name="Shape 56"/>
          <p:cNvSpPr/>
          <p:nvPr/>
        </p:nvSpPr>
        <p:spPr>
          <a:xfrm>
            <a:off x="2670048" y="4136488"/>
            <a:ext cx="297413" cy="145218"/>
          </a:xfrm>
          <a:prstGeom prst="rect">
            <a:avLst/>
          </a:prstGeom>
          <a:solidFill>
            <a:srgbClr val="C2352F"/>
          </a:solidFill>
          <a:ln/>
        </p:spPr>
      </p:sp>
      <p:sp>
        <p:nvSpPr>
          <p:cNvPr id="59" name="Text 57"/>
          <p:cNvSpPr txBox="1"/>
          <p:nvPr/>
        </p:nvSpPr>
        <p:spPr>
          <a:xfrm>
            <a:off x="3529584" y="4077081"/>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$199,972</a:t>
            </a:r>
            <a:endParaRPr lang="en-US" sz="1300" dirty="0"/>
          </a:p>
        </p:txBody>
      </p:sp>
      <p:sp>
        <p:nvSpPr>
          <p:cNvPr id="60" name="Text 58"/>
          <p:cNvSpPr txBox="1"/>
          <p:nvPr/>
        </p:nvSpPr>
        <p:spPr>
          <a:xfrm>
            <a:off x="4425696" y="4077081"/>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61" name="Text 59"/>
          <p:cNvSpPr txBox="1"/>
          <p:nvPr/>
        </p:nvSpPr>
        <p:spPr>
          <a:xfrm>
            <a:off x="5029200" y="4077081"/>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1,676</a:t>
            </a:r>
            <a:endParaRPr lang="en-US" sz="1300" dirty="0"/>
          </a:p>
        </p:txBody>
      </p:sp>
      <p:sp>
        <p:nvSpPr>
          <p:cNvPr id="62" name="Text 60"/>
          <p:cNvSpPr txBox="1"/>
          <p:nvPr/>
        </p:nvSpPr>
        <p:spPr>
          <a:xfrm>
            <a:off x="658368" y="434111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63" name="Shape 61"/>
          <p:cNvSpPr/>
          <p:nvPr/>
        </p:nvSpPr>
        <p:spPr>
          <a:xfrm>
            <a:off x="2670048" y="4400521"/>
            <a:ext cx="286859" cy="145218"/>
          </a:xfrm>
          <a:prstGeom prst="rect">
            <a:avLst/>
          </a:prstGeom>
          <a:solidFill>
            <a:srgbClr val="C2352F"/>
          </a:solidFill>
          <a:ln/>
        </p:spPr>
      </p:sp>
      <p:sp>
        <p:nvSpPr>
          <p:cNvPr id="64" name="Text 62"/>
          <p:cNvSpPr txBox="1"/>
          <p:nvPr/>
        </p:nvSpPr>
        <p:spPr>
          <a:xfrm>
            <a:off x="3529584" y="4341114"/>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$192,876</a:t>
            </a:r>
            <a:endParaRPr lang="en-US" sz="1300" dirty="0"/>
          </a:p>
        </p:txBody>
      </p:sp>
      <p:sp>
        <p:nvSpPr>
          <p:cNvPr id="65" name="Text 63"/>
          <p:cNvSpPr txBox="1"/>
          <p:nvPr/>
        </p:nvSpPr>
        <p:spPr>
          <a:xfrm>
            <a:off x="4425696" y="434111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66" name="Text 64"/>
          <p:cNvSpPr txBox="1"/>
          <p:nvPr/>
        </p:nvSpPr>
        <p:spPr>
          <a:xfrm>
            <a:off x="5029200" y="434111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1,512</a:t>
            </a:r>
            <a:endParaRPr lang="en-US" sz="1300" dirty="0"/>
          </a:p>
        </p:txBody>
      </p:sp>
      <p:sp>
        <p:nvSpPr>
          <p:cNvPr id="67" name="Text 65"/>
          <p:cNvSpPr txBox="1"/>
          <p:nvPr/>
        </p:nvSpPr>
        <p:spPr>
          <a:xfrm>
            <a:off x="658368" y="460514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Shape 66"/>
          <p:cNvSpPr/>
          <p:nvPr/>
        </p:nvSpPr>
        <p:spPr>
          <a:xfrm>
            <a:off x="2670048" y="4664554"/>
            <a:ext cx="284748" cy="145218"/>
          </a:xfrm>
          <a:prstGeom prst="rect">
            <a:avLst/>
          </a:prstGeom>
          <a:solidFill>
            <a:srgbClr val="C2352F"/>
          </a:solidFill>
          <a:ln/>
        </p:spPr>
      </p:sp>
      <p:sp>
        <p:nvSpPr>
          <p:cNvPr id="69" name="Text 67"/>
          <p:cNvSpPr txBox="1"/>
          <p:nvPr/>
        </p:nvSpPr>
        <p:spPr>
          <a:xfrm>
            <a:off x="3529584" y="4605147"/>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$191,456</a:t>
            </a:r>
            <a:endParaRPr lang="en-US" sz="1300" dirty="0"/>
          </a:p>
        </p:txBody>
      </p:sp>
      <p:sp>
        <p:nvSpPr>
          <p:cNvPr id="70" name="Text 68"/>
          <p:cNvSpPr txBox="1"/>
          <p:nvPr/>
        </p:nvSpPr>
        <p:spPr>
          <a:xfrm>
            <a:off x="4425696" y="460514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71" name="Text 69"/>
          <p:cNvSpPr txBox="1"/>
          <p:nvPr/>
        </p:nvSpPr>
        <p:spPr>
          <a:xfrm>
            <a:off x="5029200" y="460514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2,329</a:t>
            </a:r>
            <a:endParaRPr lang="en-US" sz="1300" dirty="0"/>
          </a:p>
        </p:txBody>
      </p:sp>
      <p:sp>
        <p:nvSpPr>
          <p:cNvPr id="72" name="Text 70"/>
          <p:cNvSpPr txBox="1"/>
          <p:nvPr/>
        </p:nvSpPr>
        <p:spPr>
          <a:xfrm>
            <a:off x="658368" y="486918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3" name="Shape 71"/>
          <p:cNvSpPr/>
          <p:nvPr/>
        </p:nvSpPr>
        <p:spPr>
          <a:xfrm>
            <a:off x="2670048" y="4928587"/>
            <a:ext cx="219428" cy="145218"/>
          </a:xfrm>
          <a:prstGeom prst="rect">
            <a:avLst/>
          </a:prstGeom>
          <a:solidFill>
            <a:srgbClr val="C2352F"/>
          </a:solidFill>
          <a:ln/>
        </p:spPr>
      </p:sp>
      <p:sp>
        <p:nvSpPr>
          <p:cNvPr id="74" name="Text 72"/>
          <p:cNvSpPr txBox="1"/>
          <p:nvPr/>
        </p:nvSpPr>
        <p:spPr>
          <a:xfrm>
            <a:off x="3529584" y="4869180"/>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$147,537</a:t>
            </a:r>
            <a:endParaRPr lang="en-US" sz="1300" dirty="0"/>
          </a:p>
        </p:txBody>
      </p:sp>
      <p:sp>
        <p:nvSpPr>
          <p:cNvPr id="75" name="Text 73"/>
          <p:cNvSpPr txBox="1"/>
          <p:nvPr/>
        </p:nvSpPr>
        <p:spPr>
          <a:xfrm>
            <a:off x="4425696" y="486918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76" name="Text 74"/>
          <p:cNvSpPr txBox="1"/>
          <p:nvPr/>
        </p:nvSpPr>
        <p:spPr>
          <a:xfrm>
            <a:off x="5029200" y="486918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1,128</a:t>
            </a:r>
            <a:endParaRPr lang="en-US" sz="1300" dirty="0"/>
          </a:p>
        </p:txBody>
      </p:sp>
      <p:sp>
        <p:nvSpPr>
          <p:cNvPr id="77" name="Text 75"/>
          <p:cNvSpPr txBox="1"/>
          <p:nvPr/>
        </p:nvSpPr>
        <p:spPr>
          <a:xfrm>
            <a:off x="658368" y="513321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8" name="Shape 76"/>
          <p:cNvSpPr/>
          <p:nvPr/>
        </p:nvSpPr>
        <p:spPr>
          <a:xfrm>
            <a:off x="2670048" y="5192620"/>
            <a:ext cx="208978" cy="145218"/>
          </a:xfrm>
          <a:prstGeom prst="rect">
            <a:avLst/>
          </a:prstGeom>
          <a:solidFill>
            <a:srgbClr val="C2352F"/>
          </a:solidFill>
          <a:ln/>
        </p:spPr>
      </p:sp>
      <p:sp>
        <p:nvSpPr>
          <p:cNvPr id="79" name="Text 77"/>
          <p:cNvSpPr txBox="1"/>
          <p:nvPr/>
        </p:nvSpPr>
        <p:spPr>
          <a:xfrm>
            <a:off x="3529584" y="5133213"/>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$140,511</a:t>
            </a:r>
            <a:endParaRPr lang="en-US" sz="1300" dirty="0"/>
          </a:p>
        </p:txBody>
      </p:sp>
      <p:sp>
        <p:nvSpPr>
          <p:cNvPr id="80" name="Text 78"/>
          <p:cNvSpPr txBox="1"/>
          <p:nvPr/>
        </p:nvSpPr>
        <p:spPr>
          <a:xfrm>
            <a:off x="4425696" y="513321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81" name="Text 79"/>
          <p:cNvSpPr txBox="1"/>
          <p:nvPr/>
        </p:nvSpPr>
        <p:spPr>
          <a:xfrm>
            <a:off x="5029200" y="513321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1,424</a:t>
            </a:r>
            <a:endParaRPr lang="en-US" sz="1300" dirty="0"/>
          </a:p>
        </p:txBody>
      </p:sp>
      <p:sp>
        <p:nvSpPr>
          <p:cNvPr id="82" name="Text 80"/>
          <p:cNvSpPr txBox="1"/>
          <p:nvPr/>
        </p:nvSpPr>
        <p:spPr>
          <a:xfrm>
            <a:off x="658368" y="539724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2670048" y="5456653"/>
            <a:ext cx="207980" cy="145218"/>
          </a:xfrm>
          <a:prstGeom prst="rect">
            <a:avLst/>
          </a:prstGeom>
          <a:solidFill>
            <a:srgbClr val="C2352F"/>
          </a:solidFill>
          <a:ln/>
        </p:spPr>
      </p:sp>
      <p:sp>
        <p:nvSpPr>
          <p:cNvPr id="84" name="Text 82"/>
          <p:cNvSpPr txBox="1"/>
          <p:nvPr/>
        </p:nvSpPr>
        <p:spPr>
          <a:xfrm>
            <a:off x="3529584" y="5397246"/>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$139,840</a:t>
            </a:r>
            <a:endParaRPr lang="en-US" sz="1300" dirty="0"/>
          </a:p>
        </p:txBody>
      </p:sp>
      <p:sp>
        <p:nvSpPr>
          <p:cNvPr id="85" name="Text 83"/>
          <p:cNvSpPr txBox="1"/>
          <p:nvPr/>
        </p:nvSpPr>
        <p:spPr>
          <a:xfrm>
            <a:off x="4425696" y="539724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86" name="Text 84"/>
          <p:cNvSpPr txBox="1"/>
          <p:nvPr/>
        </p:nvSpPr>
        <p:spPr>
          <a:xfrm>
            <a:off x="5029200" y="539724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1,103</a:t>
            </a:r>
            <a:endParaRPr lang="en-US" sz="1300" dirty="0"/>
          </a:p>
        </p:txBody>
      </p:sp>
      <p:sp>
        <p:nvSpPr>
          <p:cNvPr id="87" name="Text 85"/>
          <p:cNvSpPr txBox="1"/>
          <p:nvPr/>
        </p:nvSpPr>
        <p:spPr>
          <a:xfrm>
            <a:off x="658368" y="566127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88" name="Shape 86"/>
          <p:cNvSpPr/>
          <p:nvPr/>
        </p:nvSpPr>
        <p:spPr>
          <a:xfrm>
            <a:off x="2670048" y="5720686"/>
            <a:ext cx="197393" cy="145218"/>
          </a:xfrm>
          <a:prstGeom prst="rect">
            <a:avLst/>
          </a:prstGeom>
          <a:solidFill>
            <a:srgbClr val="C2352F"/>
          </a:solidFill>
          <a:ln/>
        </p:spPr>
      </p:sp>
      <p:sp>
        <p:nvSpPr>
          <p:cNvPr id="89" name="Text 87"/>
          <p:cNvSpPr txBox="1"/>
          <p:nvPr/>
        </p:nvSpPr>
        <p:spPr>
          <a:xfrm>
            <a:off x="3529584" y="5661279"/>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$132,721</a:t>
            </a:r>
            <a:endParaRPr lang="en-US" sz="1300" dirty="0"/>
          </a:p>
        </p:txBody>
      </p:sp>
      <p:sp>
        <p:nvSpPr>
          <p:cNvPr id="90" name="Text 88"/>
          <p:cNvSpPr txBox="1"/>
          <p:nvPr/>
        </p:nvSpPr>
        <p:spPr>
          <a:xfrm>
            <a:off x="4425696" y="566127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91" name="Text 89"/>
          <p:cNvSpPr txBox="1"/>
          <p:nvPr/>
        </p:nvSpPr>
        <p:spPr>
          <a:xfrm>
            <a:off x="5029200" y="566127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1,466</a:t>
            </a:r>
            <a:endParaRPr lang="en-US" sz="1300" dirty="0"/>
          </a:p>
        </p:txBody>
      </p:sp>
      <p:sp>
        <p:nvSpPr>
          <p:cNvPr id="92" name="Text 90"/>
          <p:cNvSpPr txBox="1"/>
          <p:nvPr/>
        </p:nvSpPr>
        <p:spPr>
          <a:xfrm>
            <a:off x="6208776" y="170078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3" name="Shape 91"/>
          <p:cNvSpPr/>
          <p:nvPr/>
        </p:nvSpPr>
        <p:spPr>
          <a:xfrm>
            <a:off x="8220456" y="1760191"/>
            <a:ext cx="187318" cy="145218"/>
          </a:xfrm>
          <a:prstGeom prst="rect">
            <a:avLst/>
          </a:prstGeom>
          <a:solidFill>
            <a:srgbClr val="C2352F"/>
          </a:solidFill>
          <a:ln/>
        </p:spPr>
      </p:sp>
      <p:sp>
        <p:nvSpPr>
          <p:cNvPr id="94" name="Text 92"/>
          <p:cNvSpPr txBox="1"/>
          <p:nvPr/>
        </p:nvSpPr>
        <p:spPr>
          <a:xfrm>
            <a:off x="9079992" y="1700784"/>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$125,947</a:t>
            </a:r>
            <a:endParaRPr lang="en-US" sz="1300" dirty="0"/>
          </a:p>
        </p:txBody>
      </p:sp>
      <p:sp>
        <p:nvSpPr>
          <p:cNvPr id="95" name="Text 93"/>
          <p:cNvSpPr txBox="1"/>
          <p:nvPr/>
        </p:nvSpPr>
        <p:spPr>
          <a:xfrm>
            <a:off x="9976104" y="170078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96" name="Text 94"/>
          <p:cNvSpPr txBox="1"/>
          <p:nvPr/>
        </p:nvSpPr>
        <p:spPr>
          <a:xfrm>
            <a:off x="10579608" y="170078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1,273</a:t>
            </a:r>
            <a:endParaRPr lang="en-US" sz="1300" dirty="0"/>
          </a:p>
        </p:txBody>
      </p:sp>
      <p:sp>
        <p:nvSpPr>
          <p:cNvPr id="97" name="Text 95"/>
          <p:cNvSpPr txBox="1"/>
          <p:nvPr/>
        </p:nvSpPr>
        <p:spPr>
          <a:xfrm>
            <a:off x="6208776" y="196481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98" name="Shape 96"/>
          <p:cNvSpPr/>
          <p:nvPr/>
        </p:nvSpPr>
        <p:spPr>
          <a:xfrm>
            <a:off x="8220456" y="2024224"/>
            <a:ext cx="130556" cy="145218"/>
          </a:xfrm>
          <a:prstGeom prst="rect">
            <a:avLst/>
          </a:prstGeom>
          <a:solidFill>
            <a:srgbClr val="C2352F"/>
          </a:solidFill>
          <a:ln/>
        </p:spPr>
      </p:sp>
      <p:sp>
        <p:nvSpPr>
          <p:cNvPr id="99" name="Text 97"/>
          <p:cNvSpPr txBox="1"/>
          <p:nvPr/>
        </p:nvSpPr>
        <p:spPr>
          <a:xfrm>
            <a:off x="9079992" y="1964817"/>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$87,782</a:t>
            </a:r>
            <a:endParaRPr lang="en-US" sz="1300" dirty="0"/>
          </a:p>
        </p:txBody>
      </p:sp>
      <p:sp>
        <p:nvSpPr>
          <p:cNvPr id="100" name="Text 98"/>
          <p:cNvSpPr txBox="1"/>
          <p:nvPr/>
        </p:nvSpPr>
        <p:spPr>
          <a:xfrm>
            <a:off x="9976104" y="196481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01" name="Text 99"/>
          <p:cNvSpPr txBox="1"/>
          <p:nvPr/>
        </p:nvSpPr>
        <p:spPr>
          <a:xfrm>
            <a:off x="10579608" y="196481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1,070</a:t>
            </a:r>
            <a:endParaRPr lang="en-US" sz="1300" dirty="0"/>
          </a:p>
        </p:txBody>
      </p:sp>
      <p:sp>
        <p:nvSpPr>
          <p:cNvPr id="102" name="Text 100"/>
          <p:cNvSpPr txBox="1"/>
          <p:nvPr/>
        </p:nvSpPr>
        <p:spPr>
          <a:xfrm>
            <a:off x="6208776" y="222885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3" name="Shape 101"/>
          <p:cNvSpPr/>
          <p:nvPr/>
        </p:nvSpPr>
        <p:spPr>
          <a:xfrm>
            <a:off x="8220456" y="2288257"/>
            <a:ext cx="130163" cy="145218"/>
          </a:xfrm>
          <a:prstGeom prst="rect">
            <a:avLst/>
          </a:prstGeom>
          <a:solidFill>
            <a:srgbClr val="C2352F"/>
          </a:solidFill>
          <a:ln/>
        </p:spPr>
      </p:sp>
      <p:sp>
        <p:nvSpPr>
          <p:cNvPr id="104" name="Text 102"/>
          <p:cNvSpPr txBox="1"/>
          <p:nvPr/>
        </p:nvSpPr>
        <p:spPr>
          <a:xfrm>
            <a:off x="9079992" y="2228850"/>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$87,518</a:t>
            </a:r>
            <a:endParaRPr lang="en-US" sz="1300" dirty="0"/>
          </a:p>
        </p:txBody>
      </p:sp>
      <p:sp>
        <p:nvSpPr>
          <p:cNvPr id="105" name="Text 103"/>
          <p:cNvSpPr txBox="1"/>
          <p:nvPr/>
        </p:nvSpPr>
        <p:spPr>
          <a:xfrm>
            <a:off x="9976104" y="222885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06" name="Text 104"/>
          <p:cNvSpPr txBox="1"/>
          <p:nvPr/>
        </p:nvSpPr>
        <p:spPr>
          <a:xfrm>
            <a:off x="10579608" y="222885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853</a:t>
            </a:r>
            <a:endParaRPr lang="en-US" sz="1300" dirty="0"/>
          </a:p>
        </p:txBody>
      </p:sp>
      <p:sp>
        <p:nvSpPr>
          <p:cNvPr id="107" name="Text 105"/>
          <p:cNvSpPr txBox="1"/>
          <p:nvPr/>
        </p:nvSpPr>
        <p:spPr>
          <a:xfrm>
            <a:off x="6208776" y="249288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8" name="Shape 106"/>
          <p:cNvSpPr/>
          <p:nvPr/>
        </p:nvSpPr>
        <p:spPr>
          <a:xfrm>
            <a:off x="8220456" y="2552290"/>
            <a:ext cx="121390" cy="145218"/>
          </a:xfrm>
          <a:prstGeom prst="rect">
            <a:avLst/>
          </a:prstGeom>
          <a:solidFill>
            <a:srgbClr val="C2352F"/>
          </a:solidFill>
          <a:ln/>
        </p:spPr>
      </p:sp>
      <p:sp>
        <p:nvSpPr>
          <p:cNvPr id="109" name="Text 107"/>
          <p:cNvSpPr txBox="1"/>
          <p:nvPr/>
        </p:nvSpPr>
        <p:spPr>
          <a:xfrm>
            <a:off x="9079992" y="2492883"/>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$81,619</a:t>
            </a:r>
            <a:endParaRPr lang="en-US" sz="1300" dirty="0"/>
          </a:p>
        </p:txBody>
      </p:sp>
      <p:sp>
        <p:nvSpPr>
          <p:cNvPr id="110" name="Text 108"/>
          <p:cNvSpPr txBox="1"/>
          <p:nvPr/>
        </p:nvSpPr>
        <p:spPr>
          <a:xfrm>
            <a:off x="9976104" y="249288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11" name="Text 109"/>
          <p:cNvSpPr txBox="1"/>
          <p:nvPr/>
        </p:nvSpPr>
        <p:spPr>
          <a:xfrm>
            <a:off x="10579608" y="249288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956</a:t>
            </a:r>
            <a:endParaRPr lang="en-US" sz="1300" dirty="0"/>
          </a:p>
        </p:txBody>
      </p:sp>
      <p:sp>
        <p:nvSpPr>
          <p:cNvPr id="112" name="Text 110"/>
          <p:cNvSpPr txBox="1"/>
          <p:nvPr/>
        </p:nvSpPr>
        <p:spPr>
          <a:xfrm>
            <a:off x="6208776" y="275691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3" name="Shape 111"/>
          <p:cNvSpPr/>
          <p:nvPr/>
        </p:nvSpPr>
        <p:spPr>
          <a:xfrm>
            <a:off x="8220456" y="2816323"/>
            <a:ext cx="120162" cy="145218"/>
          </a:xfrm>
          <a:prstGeom prst="rect">
            <a:avLst/>
          </a:prstGeom>
          <a:solidFill>
            <a:srgbClr val="C2352F"/>
          </a:solidFill>
          <a:ln/>
        </p:spPr>
      </p:sp>
      <p:sp>
        <p:nvSpPr>
          <p:cNvPr id="114" name="Text 112"/>
          <p:cNvSpPr txBox="1"/>
          <p:nvPr/>
        </p:nvSpPr>
        <p:spPr>
          <a:xfrm>
            <a:off x="9079992" y="2756916"/>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$80,793</a:t>
            </a:r>
            <a:endParaRPr lang="en-US" sz="1300" dirty="0"/>
          </a:p>
        </p:txBody>
      </p:sp>
      <p:sp>
        <p:nvSpPr>
          <p:cNvPr id="115" name="Text 113"/>
          <p:cNvSpPr txBox="1"/>
          <p:nvPr/>
        </p:nvSpPr>
        <p:spPr>
          <a:xfrm>
            <a:off x="9976104" y="275691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16" name="Text 114"/>
          <p:cNvSpPr txBox="1"/>
          <p:nvPr/>
        </p:nvSpPr>
        <p:spPr>
          <a:xfrm>
            <a:off x="10579608" y="275691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929</a:t>
            </a:r>
            <a:endParaRPr lang="en-US" sz="1300" dirty="0"/>
          </a:p>
        </p:txBody>
      </p:sp>
      <p:sp>
        <p:nvSpPr>
          <p:cNvPr id="117" name="Text 115"/>
          <p:cNvSpPr txBox="1"/>
          <p:nvPr/>
        </p:nvSpPr>
        <p:spPr>
          <a:xfrm>
            <a:off x="6208776" y="302094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8" name="Shape 116"/>
          <p:cNvSpPr/>
          <p:nvPr/>
        </p:nvSpPr>
        <p:spPr>
          <a:xfrm>
            <a:off x="8220456" y="3080356"/>
            <a:ext cx="119265" cy="145218"/>
          </a:xfrm>
          <a:prstGeom prst="rect">
            <a:avLst/>
          </a:prstGeom>
          <a:solidFill>
            <a:srgbClr val="C2352F"/>
          </a:solidFill>
          <a:ln/>
        </p:spPr>
      </p:sp>
      <p:sp>
        <p:nvSpPr>
          <p:cNvPr id="119" name="Text 117"/>
          <p:cNvSpPr txBox="1"/>
          <p:nvPr/>
        </p:nvSpPr>
        <p:spPr>
          <a:xfrm>
            <a:off x="9079992" y="3020949"/>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$80,190</a:t>
            </a:r>
            <a:endParaRPr lang="en-US" sz="1300" dirty="0"/>
          </a:p>
        </p:txBody>
      </p:sp>
      <p:sp>
        <p:nvSpPr>
          <p:cNvPr id="120" name="Text 118"/>
          <p:cNvSpPr txBox="1"/>
          <p:nvPr/>
        </p:nvSpPr>
        <p:spPr>
          <a:xfrm>
            <a:off x="9976104" y="302094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21" name="Text 119"/>
          <p:cNvSpPr txBox="1"/>
          <p:nvPr/>
        </p:nvSpPr>
        <p:spPr>
          <a:xfrm>
            <a:off x="10579608" y="302094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757</a:t>
            </a:r>
            <a:endParaRPr lang="en-US" sz="1300" dirty="0"/>
          </a:p>
        </p:txBody>
      </p:sp>
      <p:sp>
        <p:nvSpPr>
          <p:cNvPr id="122" name="Text 120"/>
          <p:cNvSpPr txBox="1"/>
          <p:nvPr/>
        </p:nvSpPr>
        <p:spPr>
          <a:xfrm>
            <a:off x="6208776" y="3284982"/>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23" name="Shape 121"/>
          <p:cNvSpPr/>
          <p:nvPr/>
        </p:nvSpPr>
        <p:spPr>
          <a:xfrm>
            <a:off x="8220456" y="3344389"/>
            <a:ext cx="105199" cy="145218"/>
          </a:xfrm>
          <a:prstGeom prst="rect">
            <a:avLst/>
          </a:prstGeom>
          <a:solidFill>
            <a:srgbClr val="C2352F"/>
          </a:solidFill>
          <a:ln/>
        </p:spPr>
      </p:sp>
      <p:sp>
        <p:nvSpPr>
          <p:cNvPr id="124" name="Text 122"/>
          <p:cNvSpPr txBox="1"/>
          <p:nvPr/>
        </p:nvSpPr>
        <p:spPr>
          <a:xfrm>
            <a:off x="9079992" y="3284982"/>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$70,733</a:t>
            </a:r>
            <a:endParaRPr lang="en-US" sz="1300" dirty="0"/>
          </a:p>
        </p:txBody>
      </p:sp>
      <p:sp>
        <p:nvSpPr>
          <p:cNvPr id="125" name="Text 123"/>
          <p:cNvSpPr txBox="1"/>
          <p:nvPr/>
        </p:nvSpPr>
        <p:spPr>
          <a:xfrm>
            <a:off x="9976104" y="3284982"/>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26" name="Text 124"/>
          <p:cNvSpPr txBox="1"/>
          <p:nvPr/>
        </p:nvSpPr>
        <p:spPr>
          <a:xfrm>
            <a:off x="10579608" y="3284982"/>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540</a:t>
            </a:r>
            <a:endParaRPr lang="en-US" sz="1300" dirty="0"/>
          </a:p>
        </p:txBody>
      </p:sp>
      <p:sp>
        <p:nvSpPr>
          <p:cNvPr id="127" name="Text 125"/>
          <p:cNvSpPr txBox="1"/>
          <p:nvPr/>
        </p:nvSpPr>
        <p:spPr>
          <a:xfrm>
            <a:off x="6208776" y="3549015"/>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8" name="Shape 126"/>
          <p:cNvSpPr/>
          <p:nvPr/>
        </p:nvSpPr>
        <p:spPr>
          <a:xfrm>
            <a:off x="8220456" y="3608422"/>
            <a:ext cx="101209" cy="145218"/>
          </a:xfrm>
          <a:prstGeom prst="rect">
            <a:avLst/>
          </a:prstGeom>
          <a:solidFill>
            <a:srgbClr val="C2352F"/>
          </a:solidFill>
          <a:ln/>
        </p:spPr>
      </p:sp>
      <p:sp>
        <p:nvSpPr>
          <p:cNvPr id="129" name="Text 127"/>
          <p:cNvSpPr txBox="1"/>
          <p:nvPr/>
        </p:nvSpPr>
        <p:spPr>
          <a:xfrm>
            <a:off x="9079992" y="3549015"/>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$68,050</a:t>
            </a:r>
            <a:endParaRPr lang="en-US" sz="1300" dirty="0"/>
          </a:p>
        </p:txBody>
      </p:sp>
      <p:sp>
        <p:nvSpPr>
          <p:cNvPr id="130" name="Text 128"/>
          <p:cNvSpPr txBox="1"/>
          <p:nvPr/>
        </p:nvSpPr>
        <p:spPr>
          <a:xfrm>
            <a:off x="9976104" y="3549015"/>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31" name="Text 129"/>
          <p:cNvSpPr txBox="1"/>
          <p:nvPr/>
        </p:nvSpPr>
        <p:spPr>
          <a:xfrm>
            <a:off x="10579608" y="3549015"/>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784</a:t>
            </a:r>
            <a:endParaRPr lang="en-US" sz="1300" dirty="0"/>
          </a:p>
        </p:txBody>
      </p:sp>
      <p:sp>
        <p:nvSpPr>
          <p:cNvPr id="132" name="Text 130"/>
          <p:cNvSpPr txBox="1"/>
          <p:nvPr/>
        </p:nvSpPr>
        <p:spPr>
          <a:xfrm>
            <a:off x="6208776" y="3813048"/>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872455"/>
            <a:ext cx="81242" cy="145218"/>
          </a:xfrm>
          <a:prstGeom prst="rect">
            <a:avLst/>
          </a:prstGeom>
          <a:solidFill>
            <a:srgbClr val="C2352F"/>
          </a:solidFill>
          <a:ln/>
        </p:spPr>
      </p:sp>
      <p:sp>
        <p:nvSpPr>
          <p:cNvPr id="134" name="Text 132"/>
          <p:cNvSpPr txBox="1"/>
          <p:nvPr/>
        </p:nvSpPr>
        <p:spPr>
          <a:xfrm>
            <a:off x="9079992" y="3813048"/>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$54,625</a:t>
            </a:r>
            <a:endParaRPr lang="en-US" sz="1300" dirty="0"/>
          </a:p>
        </p:txBody>
      </p:sp>
      <p:sp>
        <p:nvSpPr>
          <p:cNvPr id="135" name="Text 133"/>
          <p:cNvSpPr txBox="1"/>
          <p:nvPr/>
        </p:nvSpPr>
        <p:spPr>
          <a:xfrm>
            <a:off x="9976104" y="3813048"/>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36" name="Text 134"/>
          <p:cNvSpPr txBox="1"/>
          <p:nvPr/>
        </p:nvSpPr>
        <p:spPr>
          <a:xfrm>
            <a:off x="10579608" y="3813048"/>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426</a:t>
            </a:r>
            <a:endParaRPr lang="en-US" sz="1300" dirty="0"/>
          </a:p>
        </p:txBody>
      </p:sp>
      <p:sp>
        <p:nvSpPr>
          <p:cNvPr id="137" name="Text 135"/>
          <p:cNvSpPr txBox="1"/>
          <p:nvPr/>
        </p:nvSpPr>
        <p:spPr>
          <a:xfrm>
            <a:off x="6208776" y="4077081"/>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8" name="Shape 136"/>
          <p:cNvSpPr/>
          <p:nvPr/>
        </p:nvSpPr>
        <p:spPr>
          <a:xfrm>
            <a:off x="8220456" y="4136488"/>
            <a:ext cx="71870" cy="145218"/>
          </a:xfrm>
          <a:prstGeom prst="rect">
            <a:avLst/>
          </a:prstGeom>
          <a:solidFill>
            <a:srgbClr val="C2352F"/>
          </a:solidFill>
          <a:ln/>
        </p:spPr>
      </p:sp>
      <p:sp>
        <p:nvSpPr>
          <p:cNvPr id="139" name="Text 137"/>
          <p:cNvSpPr txBox="1"/>
          <p:nvPr/>
        </p:nvSpPr>
        <p:spPr>
          <a:xfrm>
            <a:off x="9079992" y="4077081"/>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$48,324</a:t>
            </a:r>
            <a:endParaRPr lang="en-US" sz="1300" dirty="0"/>
          </a:p>
        </p:txBody>
      </p:sp>
      <p:sp>
        <p:nvSpPr>
          <p:cNvPr id="140" name="Text 138"/>
          <p:cNvSpPr txBox="1"/>
          <p:nvPr/>
        </p:nvSpPr>
        <p:spPr>
          <a:xfrm>
            <a:off x="9976104" y="4077081"/>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41" name="Text 139"/>
          <p:cNvSpPr txBox="1"/>
          <p:nvPr/>
        </p:nvSpPr>
        <p:spPr>
          <a:xfrm>
            <a:off x="10579608" y="4077081"/>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42" name="Text 140"/>
          <p:cNvSpPr txBox="1"/>
          <p:nvPr/>
        </p:nvSpPr>
        <p:spPr>
          <a:xfrm>
            <a:off x="6208776" y="434111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43" name="Shape 141"/>
          <p:cNvSpPr/>
          <p:nvPr/>
        </p:nvSpPr>
        <p:spPr>
          <a:xfrm>
            <a:off x="8220456" y="4400521"/>
            <a:ext cx="56913" cy="145218"/>
          </a:xfrm>
          <a:prstGeom prst="rect">
            <a:avLst/>
          </a:prstGeom>
          <a:solidFill>
            <a:srgbClr val="C2352F"/>
          </a:solidFill>
          <a:ln/>
        </p:spPr>
      </p:sp>
      <p:sp>
        <p:nvSpPr>
          <p:cNvPr id="144" name="Text 142"/>
          <p:cNvSpPr txBox="1"/>
          <p:nvPr/>
        </p:nvSpPr>
        <p:spPr>
          <a:xfrm>
            <a:off x="9079992" y="4341114"/>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$38,266</a:t>
            </a:r>
            <a:endParaRPr lang="en-US" sz="1300" dirty="0"/>
          </a:p>
        </p:txBody>
      </p:sp>
      <p:sp>
        <p:nvSpPr>
          <p:cNvPr id="145" name="Text 143"/>
          <p:cNvSpPr txBox="1"/>
          <p:nvPr/>
        </p:nvSpPr>
        <p:spPr>
          <a:xfrm>
            <a:off x="9976104" y="434111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46" name="Text 144"/>
          <p:cNvSpPr txBox="1"/>
          <p:nvPr/>
        </p:nvSpPr>
        <p:spPr>
          <a:xfrm>
            <a:off x="10579608" y="434111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600</a:t>
            </a:r>
            <a:endParaRPr lang="en-US" sz="1300" dirty="0"/>
          </a:p>
        </p:txBody>
      </p:sp>
      <p:sp>
        <p:nvSpPr>
          <p:cNvPr id="147" name="Text 145"/>
          <p:cNvSpPr txBox="1"/>
          <p:nvPr/>
        </p:nvSpPr>
        <p:spPr>
          <a:xfrm>
            <a:off x="6208776" y="460514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8" name="Shape 146"/>
          <p:cNvSpPr/>
          <p:nvPr/>
        </p:nvSpPr>
        <p:spPr>
          <a:xfrm>
            <a:off x="8220456" y="4664554"/>
            <a:ext cx="50188" cy="145218"/>
          </a:xfrm>
          <a:prstGeom prst="rect">
            <a:avLst/>
          </a:prstGeom>
          <a:solidFill>
            <a:srgbClr val="C2352F"/>
          </a:solidFill>
          <a:ln/>
        </p:spPr>
      </p:sp>
      <p:sp>
        <p:nvSpPr>
          <p:cNvPr id="149" name="Text 147"/>
          <p:cNvSpPr txBox="1"/>
          <p:nvPr/>
        </p:nvSpPr>
        <p:spPr>
          <a:xfrm>
            <a:off x="9079992" y="4605147"/>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$33,745</a:t>
            </a:r>
            <a:endParaRPr lang="en-US" sz="1300" dirty="0"/>
          </a:p>
        </p:txBody>
      </p:sp>
      <p:sp>
        <p:nvSpPr>
          <p:cNvPr id="150" name="Text 148"/>
          <p:cNvSpPr txBox="1"/>
          <p:nvPr/>
        </p:nvSpPr>
        <p:spPr>
          <a:xfrm>
            <a:off x="9976104" y="460514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51" name="Text 149"/>
          <p:cNvSpPr txBox="1"/>
          <p:nvPr/>
        </p:nvSpPr>
        <p:spPr>
          <a:xfrm>
            <a:off x="10579608" y="460514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152" name="Text 150"/>
          <p:cNvSpPr txBox="1"/>
          <p:nvPr/>
        </p:nvSpPr>
        <p:spPr>
          <a:xfrm>
            <a:off x="6208776" y="486918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53" name="Shape 151"/>
          <p:cNvSpPr/>
          <p:nvPr/>
        </p:nvSpPr>
        <p:spPr>
          <a:xfrm>
            <a:off x="8220456" y="4928587"/>
            <a:ext cx="35445" cy="145218"/>
          </a:xfrm>
          <a:prstGeom prst="rect">
            <a:avLst/>
          </a:prstGeom>
          <a:solidFill>
            <a:srgbClr val="C2352F"/>
          </a:solidFill>
          <a:ln/>
        </p:spPr>
      </p:sp>
      <p:sp>
        <p:nvSpPr>
          <p:cNvPr id="154" name="Text 152"/>
          <p:cNvSpPr txBox="1"/>
          <p:nvPr/>
        </p:nvSpPr>
        <p:spPr>
          <a:xfrm>
            <a:off x="9079992" y="4869180"/>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$23,832</a:t>
            </a:r>
            <a:endParaRPr lang="en-US" sz="1300" dirty="0"/>
          </a:p>
        </p:txBody>
      </p:sp>
      <p:sp>
        <p:nvSpPr>
          <p:cNvPr id="155" name="Text 153"/>
          <p:cNvSpPr txBox="1"/>
          <p:nvPr/>
        </p:nvSpPr>
        <p:spPr>
          <a:xfrm>
            <a:off x="9976104" y="486918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56" name="Text 154"/>
          <p:cNvSpPr txBox="1"/>
          <p:nvPr/>
        </p:nvSpPr>
        <p:spPr>
          <a:xfrm>
            <a:off x="10579608" y="486918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57" name="Text 155"/>
          <p:cNvSpPr txBox="1"/>
          <p:nvPr/>
        </p:nvSpPr>
        <p:spPr>
          <a:xfrm>
            <a:off x="6208776" y="513321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8" name="Shape 156"/>
          <p:cNvSpPr/>
          <p:nvPr/>
        </p:nvSpPr>
        <p:spPr>
          <a:xfrm>
            <a:off x="8220456" y="5192620"/>
            <a:ext cx="18288" cy="145218"/>
          </a:xfrm>
          <a:prstGeom prst="rect">
            <a:avLst/>
          </a:prstGeom>
          <a:solidFill>
            <a:srgbClr val="C2352F"/>
          </a:solidFill>
          <a:ln/>
        </p:spPr>
      </p:sp>
      <p:sp>
        <p:nvSpPr>
          <p:cNvPr id="159" name="Text 157"/>
          <p:cNvSpPr txBox="1"/>
          <p:nvPr/>
        </p:nvSpPr>
        <p:spPr>
          <a:xfrm>
            <a:off x="9079992" y="5133213"/>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$12,118</a:t>
            </a:r>
            <a:endParaRPr lang="en-US" sz="1300" dirty="0"/>
          </a:p>
        </p:txBody>
      </p:sp>
      <p:sp>
        <p:nvSpPr>
          <p:cNvPr id="160" name="Text 158"/>
          <p:cNvSpPr txBox="1"/>
          <p:nvPr/>
        </p:nvSpPr>
        <p:spPr>
          <a:xfrm>
            <a:off x="9976104" y="513321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161" name="Text 159"/>
          <p:cNvSpPr txBox="1"/>
          <p:nvPr/>
        </p:nvSpPr>
        <p:spPr>
          <a:xfrm>
            <a:off x="10579608" y="513321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162" name="Text 160"/>
          <p:cNvSpPr txBox="1"/>
          <p:nvPr/>
        </p:nvSpPr>
        <p:spPr>
          <a:xfrm>
            <a:off x="6208776" y="539724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3" name="Shape 161"/>
          <p:cNvSpPr/>
          <p:nvPr/>
        </p:nvSpPr>
        <p:spPr>
          <a:xfrm>
            <a:off x="8220456" y="5456653"/>
            <a:ext cx="18288" cy="145218"/>
          </a:xfrm>
          <a:prstGeom prst="rect">
            <a:avLst/>
          </a:prstGeom>
          <a:solidFill>
            <a:srgbClr val="C2352F"/>
          </a:solidFill>
          <a:ln/>
        </p:spPr>
      </p:sp>
      <p:sp>
        <p:nvSpPr>
          <p:cNvPr id="164" name="Text 162"/>
          <p:cNvSpPr txBox="1"/>
          <p:nvPr/>
        </p:nvSpPr>
        <p:spPr>
          <a:xfrm>
            <a:off x="9079992" y="5397246"/>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$10,380</a:t>
            </a:r>
            <a:endParaRPr lang="en-US" sz="1300" dirty="0"/>
          </a:p>
        </p:txBody>
      </p:sp>
      <p:sp>
        <p:nvSpPr>
          <p:cNvPr id="165" name="Text 163"/>
          <p:cNvSpPr txBox="1"/>
          <p:nvPr/>
        </p:nvSpPr>
        <p:spPr>
          <a:xfrm>
            <a:off x="9976104" y="539724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66" name="Text 164"/>
          <p:cNvSpPr txBox="1"/>
          <p:nvPr/>
        </p:nvSpPr>
        <p:spPr>
          <a:xfrm>
            <a:off x="10579608" y="539724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7" name="Text 165"/>
          <p:cNvSpPr txBox="1"/>
          <p:nvPr/>
        </p:nvSpPr>
        <p:spPr>
          <a:xfrm>
            <a:off x="6208776" y="566127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220456" y="5720686"/>
            <a:ext cx="18288" cy="145218"/>
          </a:xfrm>
          <a:prstGeom prst="rect">
            <a:avLst/>
          </a:prstGeom>
          <a:solidFill>
            <a:srgbClr val="C2352F"/>
          </a:solidFill>
          <a:ln/>
        </p:spPr>
      </p:sp>
      <p:sp>
        <p:nvSpPr>
          <p:cNvPr id="169" name="Text 167"/>
          <p:cNvSpPr txBox="1"/>
          <p:nvPr/>
        </p:nvSpPr>
        <p:spPr>
          <a:xfrm>
            <a:off x="9079992" y="5661279"/>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$2,765</a:t>
            </a:r>
            <a:endParaRPr lang="en-US" sz="1300" dirty="0"/>
          </a:p>
        </p:txBody>
      </p:sp>
      <p:sp>
        <p:nvSpPr>
          <p:cNvPr id="170" name="Text 168"/>
          <p:cNvSpPr txBox="1"/>
          <p:nvPr/>
        </p:nvSpPr>
        <p:spPr>
          <a:xfrm>
            <a:off x="9976104" y="566127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71" name="Text 169"/>
          <p:cNvSpPr txBox="1"/>
          <p:nvPr/>
        </p:nvSpPr>
        <p:spPr>
          <a:xfrm>
            <a:off x="10579608" y="566127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a:t>
            </a:r>
            <a:endParaRPr lang="en-US" sz="1300" dirty="0"/>
          </a:p>
        </p:txBody>
      </p:sp>
      <p:sp>
        <p:nvSpPr>
          <p:cNvPr id="172" name="Shape 170"/>
          <p:cNvSpPr/>
          <p:nvPr/>
        </p:nvSpPr>
        <p:spPr>
          <a:xfrm>
            <a:off x="457200" y="6126480"/>
            <a:ext cx="11274552" cy="371856"/>
          </a:xfrm>
          <a:prstGeom prst="rect">
            <a:avLst/>
          </a:prstGeom>
          <a:solidFill>
            <a:srgbClr val="FBEBEA"/>
          </a:solidFill>
          <a:ln/>
        </p:spPr>
      </p:sp>
      <p:sp>
        <p:nvSpPr>
          <p:cNvPr id="173" name="Text 17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Toyota Spokane leaves the most at $541,039 a year. 15 stores are under all four benchmarks.</a:t>
            </a:r>
            <a:endParaRPr lang="en-US" sz="1600" dirty="0"/>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about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50,442 more services a year on cars already in our drives. No new customers needed.</a:t>
            </a:r>
            <a:endParaRPr lang="en-US" sz="1600" dirty="0"/>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−8,873</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ROs, down to 126,891. Volume follows OEM campaigns and recalls.</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135,764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126,891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−8,873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−6.5%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2889504"/>
          <a:ext cx="10945368" cy="3008376"/>
        </p:xfrm>
        <a:graphic>
          <a:graphicData uri="http://schemas.openxmlformats.org/drawingml/2006/chart">
            <c:chart xmlns:c="http://schemas.openxmlformats.org/drawingml/2006/chart" r:id="rId2"/>
          </a:graphicData>
        </a:graphic>
      </p:graphicFrame>
      <p:sp>
        <p:nvSpPr>
          <p:cNvPr id="18" name="Shape 15"/>
          <p:cNvSpPr/>
          <p:nvPr/>
        </p:nvSpPr>
        <p:spPr>
          <a:xfrm>
            <a:off x="457200" y="6126480"/>
            <a:ext cx="11274552" cy="615696"/>
          </a:xfrm>
          <a:prstGeom prst="rect">
            <a:avLst/>
          </a:prstGeom>
          <a:solidFill>
            <a:srgbClr val="FBEBEA"/>
          </a:solidFill>
          <a:ln/>
        </p:spPr>
      </p:sp>
      <p:sp>
        <p:nvSpPr>
          <p:cNvPr id="19" name="Text 1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8,873 to 126,891, behind 2025 in seven of nine months. Warranty volume follows OEM campaigns and recalls as much as store effort.</a:t>
            </a:r>
            <a:endParaRPr lang="en-US" sz="1600" dirty="0"/>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126,891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11,211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22605"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10,560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2980944" y="2391651"/>
            <a:ext cx="1400922"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8,588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2980944" y="2631546"/>
            <a:ext cx="1286245"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2980944" y="2871442"/>
            <a:ext cx="1262755"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111337"/>
            <a:ext cx="1196036"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7,332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2980944" y="3351233"/>
            <a:ext cx="1030953"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6,320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591128"/>
            <a:ext cx="798989"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4,898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2980944" y="3831024"/>
            <a:ext cx="772073"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4,733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2980944" y="4070920"/>
            <a:ext cx="625097"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3" name="Shape 51"/>
          <p:cNvSpPr/>
          <p:nvPr/>
        </p:nvSpPr>
        <p:spPr>
          <a:xfrm>
            <a:off x="2980944" y="4310815"/>
            <a:ext cx="616778"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3,781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550711"/>
            <a:ext cx="596224"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3,655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595571"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3,651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5" name="Shape 63"/>
          <p:cNvSpPr/>
          <p:nvPr/>
        </p:nvSpPr>
        <p:spPr>
          <a:xfrm>
            <a:off x="2980944" y="5030502"/>
            <a:ext cx="552180"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3,385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530647"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3,253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2980944" y="5510293"/>
            <a:ext cx="509930"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3,126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2980944" y="5750188"/>
            <a:ext cx="500632"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3,069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1" name="Shape 79"/>
          <p:cNvSpPr/>
          <p:nvPr/>
        </p:nvSpPr>
        <p:spPr>
          <a:xfrm>
            <a:off x="8531352" y="1911860"/>
            <a:ext cx="457078"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2,802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8531352" y="2151755"/>
            <a:ext cx="444517"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2,725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31352" y="2391651"/>
            <a:ext cx="408466"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3" name="Shape 91"/>
          <p:cNvSpPr/>
          <p:nvPr/>
        </p:nvSpPr>
        <p:spPr>
          <a:xfrm>
            <a:off x="8531352" y="2631546"/>
            <a:ext cx="399331"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2,448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8531352" y="2871442"/>
            <a:ext cx="375026"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2,299</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8531352" y="3111337"/>
            <a:ext cx="369153"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2,263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5" name="Shape 103"/>
          <p:cNvSpPr/>
          <p:nvPr/>
        </p:nvSpPr>
        <p:spPr>
          <a:xfrm>
            <a:off x="8531352" y="3351233"/>
            <a:ext cx="328209"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8531352" y="3591128"/>
            <a:ext cx="325762"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1,997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31352" y="3831024"/>
            <a:ext cx="294768"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7" name="Shape 115"/>
          <p:cNvSpPr/>
          <p:nvPr/>
        </p:nvSpPr>
        <p:spPr>
          <a:xfrm>
            <a:off x="8531352" y="4070920"/>
            <a:ext cx="246646"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8531352" y="4310815"/>
            <a:ext cx="235390"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8531352" y="4550711"/>
            <a:ext cx="222666"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1,365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212389"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1,302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201460"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270397"/>
            <a:ext cx="185147"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1,135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166714"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1,022</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11,211; LR Reno is smallest at 1,022.</a:t>
            </a:r>
            <a:endParaRPr lang="en-US" sz="1600" dirty="0"/>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−6.5%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7" name="Shape 15"/>
          <p:cNvSpPr/>
          <p:nvPr/>
        </p:nvSpPr>
        <p:spPr>
          <a:xfrm>
            <a:off x="3785616" y="2151755"/>
            <a:ext cx="77674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76745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5" name="Shape 23"/>
          <p:cNvSpPr/>
          <p:nvPr/>
        </p:nvSpPr>
        <p:spPr>
          <a:xfrm>
            <a:off x="3785616" y="2631546"/>
            <a:ext cx="58323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53085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3" name="Shape 31"/>
          <p:cNvSpPr/>
          <p:nvPr/>
        </p:nvSpPr>
        <p:spPr>
          <a:xfrm>
            <a:off x="3785616" y="3111337"/>
            <a:ext cx="48565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368446"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+22.7%</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1" name="Shape 39"/>
          <p:cNvSpPr/>
          <p:nvPr/>
        </p:nvSpPr>
        <p:spPr>
          <a:xfrm>
            <a:off x="3785616" y="3591128"/>
            <a:ext cx="3320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5" name="Shape 43"/>
          <p:cNvSpPr/>
          <p:nvPr/>
        </p:nvSpPr>
        <p:spPr>
          <a:xfrm>
            <a:off x="3785616" y="3831024"/>
            <a:ext cx="19401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9" name="Shape 47"/>
          <p:cNvSpPr/>
          <p:nvPr/>
        </p:nvSpPr>
        <p:spPr>
          <a:xfrm>
            <a:off x="3785616" y="4070920"/>
            <a:ext cx="18893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3" name="Shape 51"/>
          <p:cNvSpPr/>
          <p:nvPr/>
        </p:nvSpPr>
        <p:spPr>
          <a:xfrm>
            <a:off x="3785616" y="4310815"/>
            <a:ext cx="164792"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785616" y="4550711"/>
            <a:ext cx="14485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3785616" y="4790606"/>
            <a:ext cx="12062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1091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9" name="Shape 67"/>
          <p:cNvSpPr/>
          <p:nvPr/>
        </p:nvSpPr>
        <p:spPr>
          <a:xfrm>
            <a:off x="3785616" y="5270397"/>
            <a:ext cx="6589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3785616" y="5510293"/>
            <a:ext cx="5428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785616" y="5750188"/>
            <a:ext cx="2176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1" name="Shape 79"/>
          <p:cNvSpPr/>
          <p:nvPr/>
        </p:nvSpPr>
        <p:spPr>
          <a:xfrm>
            <a:off x="9267349" y="1911860"/>
            <a:ext cx="68675"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9226847" y="2151755"/>
            <a:ext cx="109177"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9209036" y="2391651"/>
            <a:ext cx="126988"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157295" y="2631546"/>
            <a:ext cx="178729"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9151411" y="2871442"/>
            <a:ext cx="184613"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132099" y="3111337"/>
            <a:ext cx="203925"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5" name="Shape 103"/>
          <p:cNvSpPr/>
          <p:nvPr/>
        </p:nvSpPr>
        <p:spPr>
          <a:xfrm>
            <a:off x="9091020" y="3351233"/>
            <a:ext cx="24500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9" name="Shape 107"/>
          <p:cNvSpPr/>
          <p:nvPr/>
        </p:nvSpPr>
        <p:spPr>
          <a:xfrm>
            <a:off x="9014543" y="3591128"/>
            <a:ext cx="32148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006870" y="3831024"/>
            <a:ext cx="329154"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967454" y="4070920"/>
            <a:ext cx="3685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1" name="Shape 119"/>
          <p:cNvSpPr/>
          <p:nvPr/>
        </p:nvSpPr>
        <p:spPr>
          <a:xfrm>
            <a:off x="8892133" y="4310815"/>
            <a:ext cx="443891"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5" name="Shape 123"/>
          <p:cNvSpPr/>
          <p:nvPr/>
        </p:nvSpPr>
        <p:spPr>
          <a:xfrm>
            <a:off x="8853570" y="4550711"/>
            <a:ext cx="48245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762298" y="4790606"/>
            <a:ext cx="57372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3" name="Shape 131"/>
          <p:cNvSpPr/>
          <p:nvPr/>
        </p:nvSpPr>
        <p:spPr>
          <a:xfrm>
            <a:off x="8694064" y="5030502"/>
            <a:ext cx="64196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26252" y="5270397"/>
            <a:ext cx="70977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83100" y="5510293"/>
            <a:ext cx="75292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grew warranty RO count, led by Hyundai Prescott at +47.9% to 2,802. 16 declined; Acura fell most at −46.4%.</a:t>
            </a:r>
            <a:endParaRPr lang="en-US" sz="160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$180.25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$197.17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+$16.93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$16.93 to $197.17, ahead of 2025 in all nine months.</a:t>
            </a:r>
            <a:endParaRPr lang="en-US" sz="1600" dirty="0"/>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$197.17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$308.88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505642"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$274.91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414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$263.19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008376" y="2626748"/>
            <a:ext cx="128435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$234.51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25085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$228.39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3" name="Shape 31"/>
          <p:cNvSpPr/>
          <p:nvPr/>
        </p:nvSpPr>
        <p:spPr>
          <a:xfrm>
            <a:off x="3008376" y="3106540"/>
            <a:ext cx="118762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$216.85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163222"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$212.39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11483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$209.67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008376" y="3826226"/>
            <a:ext cx="1147249"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008376" y="4066122"/>
            <a:ext cx="113346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3" name="Shape 51"/>
          <p:cNvSpPr/>
          <p:nvPr/>
        </p:nvSpPr>
        <p:spPr>
          <a:xfrm>
            <a:off x="3008376" y="4306017"/>
            <a:ext cx="1133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10821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$197.59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4785808"/>
            <a:ext cx="1070003"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$195.37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008376" y="5025704"/>
            <a:ext cx="106886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$195.16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101870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$186.00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002048"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$182.96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008376" y="5745390"/>
            <a:ext cx="989419"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$180.66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98896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97270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$177.61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9" name="Shape 87"/>
          <p:cNvSpPr/>
          <p:nvPr/>
        </p:nvSpPr>
        <p:spPr>
          <a:xfrm>
            <a:off x="8558784" y="2386853"/>
            <a:ext cx="9672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$176.60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95047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$173.55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7" name="Shape 95"/>
          <p:cNvSpPr/>
          <p:nvPr/>
        </p:nvSpPr>
        <p:spPr>
          <a:xfrm>
            <a:off x="8558784" y="2866644"/>
            <a:ext cx="93898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58784" y="3106540"/>
            <a:ext cx="937921"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$171.25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936379"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$170.97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93463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$170.65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3" name="Shape 111"/>
          <p:cNvSpPr/>
          <p:nvPr/>
        </p:nvSpPr>
        <p:spPr>
          <a:xfrm>
            <a:off x="8558784" y="3826226"/>
            <a:ext cx="89907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$164.16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8558784" y="4066122"/>
            <a:ext cx="8782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86428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$157.81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853702"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$155.88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9" name="Shape 127"/>
          <p:cNvSpPr/>
          <p:nvPr/>
        </p:nvSpPr>
        <p:spPr>
          <a:xfrm>
            <a:off x="8558784" y="4785808"/>
            <a:ext cx="830028"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$151.55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3" name="Shape 131"/>
          <p:cNvSpPr/>
          <p:nvPr/>
        </p:nvSpPr>
        <p:spPr>
          <a:xfrm>
            <a:off x="8558784" y="5025704"/>
            <a:ext cx="781476"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$142.69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558784" y="5265599"/>
            <a:ext cx="71462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41" name="Shape 139"/>
          <p:cNvSpPr/>
          <p:nvPr/>
        </p:nvSpPr>
        <p:spPr>
          <a:xfrm>
            <a:off x="8558784" y="5505495"/>
            <a:ext cx="665401"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$121.50</a:t>
            </a:r>
            <a:endParaRPr lang="en-US" sz="1200" dirty="0"/>
          </a:p>
        </p:txBody>
      </p:sp>
      <p:sp>
        <p:nvSpPr>
          <p:cNvPr id="143" name="Shape 141"/>
          <p:cNvSpPr/>
          <p:nvPr/>
        </p:nvSpPr>
        <p:spPr>
          <a:xfrm>
            <a:off x="4080932" y="1847088"/>
            <a:ext cx="14630" cy="4078224"/>
          </a:xfrm>
          <a:prstGeom prst="rect">
            <a:avLst/>
          </a:prstGeom>
          <a:solidFill>
            <a:srgbClr val="0B2C4A"/>
          </a:solidFill>
          <a:ln/>
        </p:spPr>
      </p:sp>
      <p:sp>
        <p:nvSpPr>
          <p:cNvPr id="144" name="Shape 142"/>
          <p:cNvSpPr/>
          <p:nvPr/>
        </p:nvSpPr>
        <p:spPr>
          <a:xfrm>
            <a:off x="9631340"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$197.17 group, led by Audi Henderson at $308.88. Subaru Prescott is lowest at $121.50.</a:t>
            </a:r>
            <a:endParaRPr lang="en-US" sz="1600" dirty="0"/>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+$16.93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+$57.74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785616" y="2151755"/>
            <a:ext cx="53645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785616" y="2391651"/>
            <a:ext cx="36840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5" name="Shape 23"/>
          <p:cNvSpPr/>
          <p:nvPr/>
        </p:nvSpPr>
        <p:spPr>
          <a:xfrm>
            <a:off x="3785616" y="2631546"/>
            <a:ext cx="35513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9" name="Shape 27"/>
          <p:cNvSpPr/>
          <p:nvPr/>
        </p:nvSpPr>
        <p:spPr>
          <a:xfrm>
            <a:off x="3785616" y="2871442"/>
            <a:ext cx="27660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25852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785616" y="3351233"/>
            <a:ext cx="25783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1" name="Shape 39"/>
          <p:cNvSpPr/>
          <p:nvPr/>
        </p:nvSpPr>
        <p:spPr>
          <a:xfrm>
            <a:off x="3785616" y="3591128"/>
            <a:ext cx="22818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22572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3785616" y="4070920"/>
            <a:ext cx="22568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785616" y="4310815"/>
            <a:ext cx="21600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3785616" y="4550711"/>
            <a:ext cx="2146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1" name="Shape 59"/>
          <p:cNvSpPr/>
          <p:nvPr/>
        </p:nvSpPr>
        <p:spPr>
          <a:xfrm>
            <a:off x="3785616" y="4790606"/>
            <a:ext cx="1835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17351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3785616" y="5270397"/>
            <a:ext cx="16498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+$12.26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3785616" y="5510293"/>
            <a:ext cx="130019"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7" name="Shape 75"/>
          <p:cNvSpPr/>
          <p:nvPr/>
        </p:nvSpPr>
        <p:spPr>
          <a:xfrm>
            <a:off x="3785616" y="5750188"/>
            <a:ext cx="12973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9336024" y="1911860"/>
            <a:ext cx="123986"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5" name="Shape 83"/>
          <p:cNvSpPr/>
          <p:nvPr/>
        </p:nvSpPr>
        <p:spPr>
          <a:xfrm>
            <a:off x="9336024" y="2151755"/>
            <a:ext cx="115500"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9336024" y="2391651"/>
            <a:ext cx="9359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9336024" y="2631546"/>
            <a:ext cx="9154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9336024" y="2871442"/>
            <a:ext cx="90857"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36024" y="3111337"/>
            <a:ext cx="8371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336024" y="3351233"/>
            <a:ext cx="7134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336024" y="3591128"/>
            <a:ext cx="61183"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336024" y="3831024"/>
            <a:ext cx="57486"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336024" y="4070920"/>
            <a:ext cx="50066"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9336024" y="4310815"/>
            <a:ext cx="33186"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9336024" y="4550711"/>
            <a:ext cx="13817" cy="110352"/>
          </a:xfrm>
          <a:prstGeom prst="rect">
            <a:avLst/>
          </a:prstGeom>
          <a:solidFill>
            <a:srgbClr val="12A566"/>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336024" y="4790606"/>
            <a:ext cx="12802" cy="110352"/>
          </a:xfrm>
          <a:prstGeom prst="rect">
            <a:avLst/>
          </a:prstGeom>
          <a:solidFill>
            <a:srgbClr val="12A566"/>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335137" y="5030502"/>
            <a:ext cx="1280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7" name="Shape 135"/>
          <p:cNvSpPr/>
          <p:nvPr/>
        </p:nvSpPr>
        <p:spPr>
          <a:xfrm>
            <a:off x="9314711" y="5270397"/>
            <a:ext cx="2131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1" name="Shape 139"/>
          <p:cNvSpPr/>
          <p:nvPr/>
        </p:nvSpPr>
        <p:spPr>
          <a:xfrm>
            <a:off x="9171193" y="5510293"/>
            <a:ext cx="16483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−$12.25</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 of 33 stores raised warranty ELR, led by LR LV at +$57.74 to $274.91. 3 declined; Honda North fell most at −$12.25.</a:t>
            </a:r>
            <a:endParaRPr lang="en-US" sz="1600" dirty="0"/>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$129.84</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$207.05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$205.15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$187.89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$166.97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$165.81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$163.35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$162.33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$158.93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$154.86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$151.53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$146.85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$139.36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$137.40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$137.21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$136.90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$134.49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$134.46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$127.41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$124.45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$122.68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$119.37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$117.18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$114.97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$109.22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$104.89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$102.65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$99.78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$87.21</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21 of 33 stores at or above the $129.84 group, led by LR Reno at $207.05. Nissan is lowest at $87.21.</a:t>
            </a:r>
            <a:endParaRPr lang="en-US" sz="1550" dirty="0"/>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+$3.75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 name="Shape 11"/>
          <p:cNvSpPr/>
          <p:nvPr/>
        </p:nvSpPr>
        <p:spPr>
          <a:xfrm>
            <a:off x="3785616" y="1911860"/>
            <a:ext cx="60083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+$46.71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 name="Shape 15"/>
          <p:cNvSpPr/>
          <p:nvPr/>
        </p:nvSpPr>
        <p:spPr>
          <a:xfrm>
            <a:off x="3785616" y="2151755"/>
            <a:ext cx="5092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+$39.59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34878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5" name="Shape 23"/>
          <p:cNvSpPr/>
          <p:nvPr/>
        </p:nvSpPr>
        <p:spPr>
          <a:xfrm>
            <a:off x="3785616" y="2631546"/>
            <a:ext cx="26770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22436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3785616" y="3111337"/>
            <a:ext cx="16313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7" name="Shape 35"/>
          <p:cNvSpPr/>
          <p:nvPr/>
        </p:nvSpPr>
        <p:spPr>
          <a:xfrm>
            <a:off x="3785616" y="3351233"/>
            <a:ext cx="1598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5483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5" name="Shape 43"/>
          <p:cNvSpPr/>
          <p:nvPr/>
        </p:nvSpPr>
        <p:spPr>
          <a:xfrm>
            <a:off x="3785616" y="3831024"/>
            <a:ext cx="14315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785616" y="4070920"/>
            <a:ext cx="8225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8076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7" name="Shape 55"/>
          <p:cNvSpPr/>
          <p:nvPr/>
        </p:nvSpPr>
        <p:spPr>
          <a:xfrm>
            <a:off x="3785616" y="4550711"/>
            <a:ext cx="7359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785616" y="4790606"/>
            <a:ext cx="7034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5" name="Shape 63"/>
          <p:cNvSpPr/>
          <p:nvPr/>
        </p:nvSpPr>
        <p:spPr>
          <a:xfrm>
            <a:off x="3785616" y="5030502"/>
            <a:ext cx="6610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3785616" y="5270397"/>
            <a:ext cx="5801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4914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4822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46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5" name="Shape 83"/>
          <p:cNvSpPr/>
          <p:nvPr/>
        </p:nvSpPr>
        <p:spPr>
          <a:xfrm>
            <a:off x="9336024" y="2151755"/>
            <a:ext cx="2496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24019"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17348" y="2871442"/>
            <a:ext cx="18676"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9313515" y="3111337"/>
            <a:ext cx="2250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278246" y="3351233"/>
            <a:ext cx="5777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73152" y="3591128"/>
            <a:ext cx="6287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842" y="3831024"/>
            <a:ext cx="7818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−$6.08</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253717" y="4070920"/>
            <a:ext cx="8230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3894" y="4310815"/>
            <a:ext cx="13213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5" name="Shape 123"/>
          <p:cNvSpPr/>
          <p:nvPr/>
        </p:nvSpPr>
        <p:spPr>
          <a:xfrm>
            <a:off x="9107808" y="4550711"/>
            <a:ext cx="22821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9" name="Shape 127"/>
          <p:cNvSpPr/>
          <p:nvPr/>
        </p:nvSpPr>
        <p:spPr>
          <a:xfrm>
            <a:off x="9069070" y="4790606"/>
            <a:ext cx="266954"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−$20.75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916687" y="5030502"/>
            <a:ext cx="419337"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809839" y="5270397"/>
            <a:ext cx="52618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−$40.91</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−$60.43</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led by Hyundai St George at +$46.71 to $205.15. 13 declined; Kia LV fell most at −$60.43.</a:t>
            </a:r>
            <a:endParaRPr lang="en-US" sz="1600" dirty="0"/>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Our most valuable asset: this is what separates us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Grow your own: apprentice programs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does being short-handed cost? Limited scheduling, lost opportunities, missed MPIs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pay plans, job descriptions and expectations</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 to Sep,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−2.3%</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year to date. Fewer people and fewer cars: the next gain has to come from car count.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the results you are looking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 versus bonus: a 50/50 ratio</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166</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per advisor a month, down 7. Advisors grew 1.5%; ROs fell 2.3%.</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 led by Audi Henderson at $23,461. Honda Flagstaff is lowest at $9,149.</a:t>
            </a:r>
            <a:endParaRPr lang="en-US" sz="1600" dirty="0"/>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led by Subaru St George at +$4,158 to $15,556. 6 declined; VW St George fell most at −$1,319.</a:t>
            </a:r>
            <a:endParaRPr lang="en-US" sz="1600" dirty="0"/>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1012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34256"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8" name="Text 6"/>
          <p:cNvSpPr txBox="1"/>
          <p:nvPr/>
        </p:nvSpPr>
        <p:spPr>
          <a:xfrm>
            <a:off x="5102352"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9" name="Text 7"/>
          <p:cNvSpPr txBox="1"/>
          <p:nvPr/>
        </p:nvSpPr>
        <p:spPr>
          <a:xfrm>
            <a:off x="8860536"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884664"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11" name="Text 9"/>
          <p:cNvSpPr txBox="1"/>
          <p:nvPr/>
        </p:nvSpPr>
        <p:spPr>
          <a:xfrm>
            <a:off x="10652760"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2" name="Text 10"/>
          <p:cNvSpPr txBox="1"/>
          <p:nvPr/>
        </p:nvSpPr>
        <p:spPr>
          <a:xfrm>
            <a:off x="658368"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3" name="Shape 11"/>
          <p:cNvSpPr/>
          <p:nvPr/>
        </p:nvSpPr>
        <p:spPr>
          <a:xfrm>
            <a:off x="2670048" y="1787195"/>
            <a:ext cx="585216" cy="211226"/>
          </a:xfrm>
          <a:prstGeom prst="rect">
            <a:avLst/>
          </a:prstGeom>
          <a:solidFill>
            <a:srgbClr val="C2352F"/>
          </a:solidFill>
          <a:ln/>
        </p:spPr>
      </p:sp>
      <p:sp>
        <p:nvSpPr>
          <p:cNvPr id="14" name="Text 12"/>
          <p:cNvSpPr txBox="1"/>
          <p:nvPr/>
        </p:nvSpPr>
        <p:spPr>
          <a:xfrm>
            <a:off x="3310128"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$2,456,862</a:t>
            </a:r>
            <a:endParaRPr lang="en-US" sz="1300" dirty="0"/>
          </a:p>
        </p:txBody>
      </p:sp>
      <p:sp>
        <p:nvSpPr>
          <p:cNvPr id="15" name="Text 13"/>
          <p:cNvSpPr txBox="1"/>
          <p:nvPr/>
        </p:nvSpPr>
        <p:spPr>
          <a:xfrm>
            <a:off x="4334256"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16" name="Text 14"/>
          <p:cNvSpPr txBox="1"/>
          <p:nvPr/>
        </p:nvSpPr>
        <p:spPr>
          <a:xfrm>
            <a:off x="5102352"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7" name="Text 15"/>
          <p:cNvSpPr txBox="1"/>
          <p:nvPr/>
        </p:nvSpPr>
        <p:spPr>
          <a:xfrm>
            <a:off x="658368"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8" name="Shape 16"/>
          <p:cNvSpPr/>
          <p:nvPr/>
        </p:nvSpPr>
        <p:spPr>
          <a:xfrm>
            <a:off x="2670048" y="2171243"/>
            <a:ext cx="521308" cy="211226"/>
          </a:xfrm>
          <a:prstGeom prst="rect">
            <a:avLst/>
          </a:prstGeom>
          <a:solidFill>
            <a:srgbClr val="C2352F"/>
          </a:solidFill>
          <a:ln/>
        </p:spPr>
      </p:sp>
      <p:sp>
        <p:nvSpPr>
          <p:cNvPr id="19" name="Text 17"/>
          <p:cNvSpPr txBox="1"/>
          <p:nvPr/>
        </p:nvSpPr>
        <p:spPr>
          <a:xfrm>
            <a:off x="3310128"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$2,188,561</a:t>
            </a:r>
            <a:endParaRPr lang="en-US" sz="1300" dirty="0"/>
          </a:p>
        </p:txBody>
      </p:sp>
      <p:sp>
        <p:nvSpPr>
          <p:cNvPr id="20" name="Text 18"/>
          <p:cNvSpPr txBox="1"/>
          <p:nvPr/>
        </p:nvSpPr>
        <p:spPr>
          <a:xfrm>
            <a:off x="4334256"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21" name="Text 19"/>
          <p:cNvSpPr txBox="1"/>
          <p:nvPr/>
        </p:nvSpPr>
        <p:spPr>
          <a:xfrm>
            <a:off x="5102352"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22" name="Text 20"/>
          <p:cNvSpPr txBox="1"/>
          <p:nvPr/>
        </p:nvSpPr>
        <p:spPr>
          <a:xfrm>
            <a:off x="658368"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3" name="Shape 21"/>
          <p:cNvSpPr/>
          <p:nvPr/>
        </p:nvSpPr>
        <p:spPr>
          <a:xfrm>
            <a:off x="2670048" y="2555291"/>
            <a:ext cx="321685" cy="211226"/>
          </a:xfrm>
          <a:prstGeom prst="rect">
            <a:avLst/>
          </a:prstGeom>
          <a:solidFill>
            <a:srgbClr val="C2352F"/>
          </a:solidFill>
          <a:ln/>
        </p:spPr>
      </p:sp>
      <p:sp>
        <p:nvSpPr>
          <p:cNvPr id="24" name="Text 22"/>
          <p:cNvSpPr txBox="1"/>
          <p:nvPr/>
        </p:nvSpPr>
        <p:spPr>
          <a:xfrm>
            <a:off x="3310128"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$1,350,504</a:t>
            </a:r>
            <a:endParaRPr lang="en-US" sz="1300" dirty="0"/>
          </a:p>
        </p:txBody>
      </p:sp>
      <p:sp>
        <p:nvSpPr>
          <p:cNvPr id="25" name="Text 23"/>
          <p:cNvSpPr txBox="1"/>
          <p:nvPr/>
        </p:nvSpPr>
        <p:spPr>
          <a:xfrm>
            <a:off x="4334256"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26" name="Text 24"/>
          <p:cNvSpPr txBox="1"/>
          <p:nvPr/>
        </p:nvSpPr>
        <p:spPr>
          <a:xfrm>
            <a:off x="5102352"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27" name="Text 25"/>
          <p:cNvSpPr txBox="1"/>
          <p:nvPr/>
        </p:nvSpPr>
        <p:spPr>
          <a:xfrm>
            <a:off x="658368"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939339"/>
            <a:ext cx="313094" cy="211226"/>
          </a:xfrm>
          <a:prstGeom prst="rect">
            <a:avLst/>
          </a:prstGeom>
          <a:solidFill>
            <a:srgbClr val="C2352F"/>
          </a:solidFill>
          <a:ln/>
        </p:spPr>
      </p:sp>
      <p:sp>
        <p:nvSpPr>
          <p:cNvPr id="29" name="Text 27"/>
          <p:cNvSpPr txBox="1"/>
          <p:nvPr/>
        </p:nvSpPr>
        <p:spPr>
          <a:xfrm>
            <a:off x="3310128"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$1,314,435</a:t>
            </a:r>
            <a:endParaRPr lang="en-US" sz="1300" dirty="0"/>
          </a:p>
        </p:txBody>
      </p:sp>
      <p:sp>
        <p:nvSpPr>
          <p:cNvPr id="30" name="Text 28"/>
          <p:cNvSpPr txBox="1"/>
          <p:nvPr/>
        </p:nvSpPr>
        <p:spPr>
          <a:xfrm>
            <a:off x="4334256"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31" name="Text 29"/>
          <p:cNvSpPr txBox="1"/>
          <p:nvPr/>
        </p:nvSpPr>
        <p:spPr>
          <a:xfrm>
            <a:off x="5102352"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2" name="Text 30"/>
          <p:cNvSpPr txBox="1"/>
          <p:nvPr/>
        </p:nvSpPr>
        <p:spPr>
          <a:xfrm>
            <a:off x="658368"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3" name="Shape 31"/>
          <p:cNvSpPr/>
          <p:nvPr/>
        </p:nvSpPr>
        <p:spPr>
          <a:xfrm>
            <a:off x="2670048" y="3323387"/>
            <a:ext cx="293540" cy="211226"/>
          </a:xfrm>
          <a:prstGeom prst="rect">
            <a:avLst/>
          </a:prstGeom>
          <a:solidFill>
            <a:srgbClr val="C2352F"/>
          </a:solidFill>
          <a:ln/>
        </p:spPr>
      </p:sp>
      <p:sp>
        <p:nvSpPr>
          <p:cNvPr id="34" name="Text 32"/>
          <p:cNvSpPr txBox="1"/>
          <p:nvPr/>
        </p:nvSpPr>
        <p:spPr>
          <a:xfrm>
            <a:off x="3310128"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$1,232,343</a:t>
            </a:r>
            <a:endParaRPr lang="en-US" sz="1300" dirty="0"/>
          </a:p>
        </p:txBody>
      </p:sp>
      <p:sp>
        <p:nvSpPr>
          <p:cNvPr id="35" name="Text 33"/>
          <p:cNvSpPr txBox="1"/>
          <p:nvPr/>
        </p:nvSpPr>
        <p:spPr>
          <a:xfrm>
            <a:off x="4334256"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36" name="Text 34"/>
          <p:cNvSpPr txBox="1"/>
          <p:nvPr/>
        </p:nvSpPr>
        <p:spPr>
          <a:xfrm>
            <a:off x="5102352"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7" name="Text 35"/>
          <p:cNvSpPr txBox="1"/>
          <p:nvPr/>
        </p:nvSpPr>
        <p:spPr>
          <a:xfrm>
            <a:off x="658368"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2670048" y="3707435"/>
            <a:ext cx="268472" cy="211226"/>
          </a:xfrm>
          <a:prstGeom prst="rect">
            <a:avLst/>
          </a:prstGeom>
          <a:solidFill>
            <a:srgbClr val="C2352F"/>
          </a:solidFill>
          <a:ln/>
        </p:spPr>
      </p:sp>
      <p:sp>
        <p:nvSpPr>
          <p:cNvPr id="39" name="Text 37"/>
          <p:cNvSpPr txBox="1"/>
          <p:nvPr/>
        </p:nvSpPr>
        <p:spPr>
          <a:xfrm>
            <a:off x="3310128"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$1,127,104</a:t>
            </a:r>
            <a:endParaRPr lang="en-US" sz="1300" dirty="0"/>
          </a:p>
        </p:txBody>
      </p:sp>
      <p:sp>
        <p:nvSpPr>
          <p:cNvPr id="40" name="Text 38"/>
          <p:cNvSpPr txBox="1"/>
          <p:nvPr/>
        </p:nvSpPr>
        <p:spPr>
          <a:xfrm>
            <a:off x="4334256"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41" name="Text 39"/>
          <p:cNvSpPr txBox="1"/>
          <p:nvPr/>
        </p:nvSpPr>
        <p:spPr>
          <a:xfrm>
            <a:off x="5102352"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2" name="Text 40"/>
          <p:cNvSpPr txBox="1"/>
          <p:nvPr/>
        </p:nvSpPr>
        <p:spPr>
          <a:xfrm>
            <a:off x="658368"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3" name="Shape 41"/>
          <p:cNvSpPr/>
          <p:nvPr/>
        </p:nvSpPr>
        <p:spPr>
          <a:xfrm>
            <a:off x="2670048" y="4091483"/>
            <a:ext cx="252516" cy="211226"/>
          </a:xfrm>
          <a:prstGeom prst="rect">
            <a:avLst/>
          </a:prstGeom>
          <a:solidFill>
            <a:srgbClr val="C2352F"/>
          </a:solidFill>
          <a:ln/>
        </p:spPr>
      </p:sp>
      <p:sp>
        <p:nvSpPr>
          <p:cNvPr id="44" name="Text 42"/>
          <p:cNvSpPr txBox="1"/>
          <p:nvPr/>
        </p:nvSpPr>
        <p:spPr>
          <a:xfrm>
            <a:off x="3310128"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$1,060,118</a:t>
            </a:r>
            <a:endParaRPr lang="en-US" sz="1300" dirty="0"/>
          </a:p>
        </p:txBody>
      </p:sp>
      <p:sp>
        <p:nvSpPr>
          <p:cNvPr id="45" name="Text 43"/>
          <p:cNvSpPr txBox="1"/>
          <p:nvPr/>
        </p:nvSpPr>
        <p:spPr>
          <a:xfrm>
            <a:off x="4334256"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46" name="Text 44"/>
          <p:cNvSpPr txBox="1"/>
          <p:nvPr/>
        </p:nvSpPr>
        <p:spPr>
          <a:xfrm>
            <a:off x="5102352"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7" name="Text 45"/>
          <p:cNvSpPr txBox="1"/>
          <p:nvPr/>
        </p:nvSpPr>
        <p:spPr>
          <a:xfrm>
            <a:off x="658368"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48" name="Shape 46"/>
          <p:cNvSpPr/>
          <p:nvPr/>
        </p:nvSpPr>
        <p:spPr>
          <a:xfrm>
            <a:off x="2670048" y="4475531"/>
            <a:ext cx="244133" cy="211226"/>
          </a:xfrm>
          <a:prstGeom prst="rect">
            <a:avLst/>
          </a:prstGeom>
          <a:solidFill>
            <a:srgbClr val="C2352F"/>
          </a:solidFill>
          <a:ln/>
        </p:spPr>
      </p:sp>
      <p:sp>
        <p:nvSpPr>
          <p:cNvPr id="49" name="Text 47"/>
          <p:cNvSpPr txBox="1"/>
          <p:nvPr/>
        </p:nvSpPr>
        <p:spPr>
          <a:xfrm>
            <a:off x="3310128"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$1,024,925</a:t>
            </a:r>
            <a:endParaRPr lang="en-US" sz="1300" dirty="0"/>
          </a:p>
        </p:txBody>
      </p:sp>
      <p:sp>
        <p:nvSpPr>
          <p:cNvPr id="50" name="Text 48"/>
          <p:cNvSpPr txBox="1"/>
          <p:nvPr/>
        </p:nvSpPr>
        <p:spPr>
          <a:xfrm>
            <a:off x="4334256"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51" name="Text 49"/>
          <p:cNvSpPr txBox="1"/>
          <p:nvPr/>
        </p:nvSpPr>
        <p:spPr>
          <a:xfrm>
            <a:off x="5102352"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2" name="Text 50"/>
          <p:cNvSpPr txBox="1"/>
          <p:nvPr/>
        </p:nvSpPr>
        <p:spPr>
          <a:xfrm>
            <a:off x="658368"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53" name="Shape 51"/>
          <p:cNvSpPr/>
          <p:nvPr/>
        </p:nvSpPr>
        <p:spPr>
          <a:xfrm>
            <a:off x="2670048" y="4859579"/>
            <a:ext cx="243998" cy="211226"/>
          </a:xfrm>
          <a:prstGeom prst="rect">
            <a:avLst/>
          </a:prstGeom>
          <a:solidFill>
            <a:srgbClr val="C2352F"/>
          </a:solidFill>
          <a:ln/>
        </p:spPr>
      </p:sp>
      <p:sp>
        <p:nvSpPr>
          <p:cNvPr id="54" name="Text 52"/>
          <p:cNvSpPr txBox="1"/>
          <p:nvPr/>
        </p:nvSpPr>
        <p:spPr>
          <a:xfrm>
            <a:off x="3310128"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$1,024,357</a:t>
            </a:r>
            <a:endParaRPr lang="en-US" sz="1300" dirty="0"/>
          </a:p>
        </p:txBody>
      </p:sp>
      <p:sp>
        <p:nvSpPr>
          <p:cNvPr id="55" name="Text 53"/>
          <p:cNvSpPr txBox="1"/>
          <p:nvPr/>
        </p:nvSpPr>
        <p:spPr>
          <a:xfrm>
            <a:off x="4334256"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56" name="Text 54"/>
          <p:cNvSpPr txBox="1"/>
          <p:nvPr/>
        </p:nvSpPr>
        <p:spPr>
          <a:xfrm>
            <a:off x="5102352"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7" name="Text 55"/>
          <p:cNvSpPr txBox="1"/>
          <p:nvPr/>
        </p:nvSpPr>
        <p:spPr>
          <a:xfrm>
            <a:off x="658368"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8" name="Shape 56"/>
          <p:cNvSpPr/>
          <p:nvPr/>
        </p:nvSpPr>
        <p:spPr>
          <a:xfrm>
            <a:off x="2670048" y="5243627"/>
            <a:ext cx="197721" cy="211226"/>
          </a:xfrm>
          <a:prstGeom prst="rect">
            <a:avLst/>
          </a:prstGeom>
          <a:solidFill>
            <a:srgbClr val="C2352F"/>
          </a:solidFill>
          <a:ln/>
        </p:spPr>
      </p:sp>
      <p:sp>
        <p:nvSpPr>
          <p:cNvPr id="59" name="Text 57"/>
          <p:cNvSpPr txBox="1"/>
          <p:nvPr/>
        </p:nvSpPr>
        <p:spPr>
          <a:xfrm>
            <a:off x="3310128"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$830,073</a:t>
            </a:r>
            <a:endParaRPr lang="en-US" sz="1300" dirty="0"/>
          </a:p>
        </p:txBody>
      </p:sp>
      <p:sp>
        <p:nvSpPr>
          <p:cNvPr id="60" name="Text 58"/>
          <p:cNvSpPr txBox="1"/>
          <p:nvPr/>
        </p:nvSpPr>
        <p:spPr>
          <a:xfrm>
            <a:off x="4334256"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61" name="Text 59"/>
          <p:cNvSpPr txBox="1"/>
          <p:nvPr/>
        </p:nvSpPr>
        <p:spPr>
          <a:xfrm>
            <a:off x="5102352"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62" name="Text 60"/>
          <p:cNvSpPr txBox="1"/>
          <p:nvPr/>
        </p:nvSpPr>
        <p:spPr>
          <a:xfrm>
            <a:off x="658368" y="554126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3" name="Shape 61"/>
          <p:cNvSpPr/>
          <p:nvPr/>
        </p:nvSpPr>
        <p:spPr>
          <a:xfrm>
            <a:off x="2670048" y="5627675"/>
            <a:ext cx="197008" cy="211226"/>
          </a:xfrm>
          <a:prstGeom prst="rect">
            <a:avLst/>
          </a:prstGeom>
          <a:solidFill>
            <a:srgbClr val="C2352F"/>
          </a:solidFill>
          <a:ln/>
        </p:spPr>
      </p:sp>
      <p:sp>
        <p:nvSpPr>
          <p:cNvPr id="64" name="Text 62"/>
          <p:cNvSpPr txBox="1"/>
          <p:nvPr/>
        </p:nvSpPr>
        <p:spPr>
          <a:xfrm>
            <a:off x="3310128" y="554126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$827,082</a:t>
            </a:r>
            <a:endParaRPr lang="en-US" sz="1300" dirty="0"/>
          </a:p>
        </p:txBody>
      </p:sp>
      <p:sp>
        <p:nvSpPr>
          <p:cNvPr id="65" name="Text 63"/>
          <p:cNvSpPr txBox="1"/>
          <p:nvPr/>
        </p:nvSpPr>
        <p:spPr>
          <a:xfrm>
            <a:off x="4334256"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66" name="Text 64"/>
          <p:cNvSpPr txBox="1"/>
          <p:nvPr/>
        </p:nvSpPr>
        <p:spPr>
          <a:xfrm>
            <a:off x="5102352"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7" name="Text 65"/>
          <p:cNvSpPr txBox="1"/>
          <p:nvPr/>
        </p:nvSpPr>
        <p:spPr>
          <a:xfrm>
            <a:off x="6208776"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8" name="Shape 66"/>
          <p:cNvSpPr/>
          <p:nvPr/>
        </p:nvSpPr>
        <p:spPr>
          <a:xfrm>
            <a:off x="8220456" y="1787195"/>
            <a:ext cx="96145" cy="211226"/>
          </a:xfrm>
          <a:prstGeom prst="rect">
            <a:avLst/>
          </a:prstGeom>
          <a:solidFill>
            <a:srgbClr val="C2352F"/>
          </a:solidFill>
          <a:ln/>
        </p:spPr>
      </p:sp>
      <p:sp>
        <p:nvSpPr>
          <p:cNvPr id="69" name="Text 67"/>
          <p:cNvSpPr txBox="1"/>
          <p:nvPr/>
        </p:nvSpPr>
        <p:spPr>
          <a:xfrm>
            <a:off x="8860536"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$403,638</a:t>
            </a:r>
            <a:endParaRPr lang="en-US" sz="1300" dirty="0"/>
          </a:p>
        </p:txBody>
      </p:sp>
      <p:sp>
        <p:nvSpPr>
          <p:cNvPr id="70" name="Text 68"/>
          <p:cNvSpPr txBox="1"/>
          <p:nvPr/>
        </p:nvSpPr>
        <p:spPr>
          <a:xfrm>
            <a:off x="9884664"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71" name="Text 69"/>
          <p:cNvSpPr txBox="1"/>
          <p:nvPr/>
        </p:nvSpPr>
        <p:spPr>
          <a:xfrm>
            <a:off x="10652760"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2" name="Text 70"/>
          <p:cNvSpPr txBox="1"/>
          <p:nvPr/>
        </p:nvSpPr>
        <p:spPr>
          <a:xfrm>
            <a:off x="6208776"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73" name="Shape 71"/>
          <p:cNvSpPr/>
          <p:nvPr/>
        </p:nvSpPr>
        <p:spPr>
          <a:xfrm>
            <a:off x="8220456" y="2171243"/>
            <a:ext cx="89775" cy="211226"/>
          </a:xfrm>
          <a:prstGeom prst="rect">
            <a:avLst/>
          </a:prstGeom>
          <a:solidFill>
            <a:srgbClr val="C2352F"/>
          </a:solidFill>
          <a:ln/>
        </p:spPr>
      </p:sp>
      <p:sp>
        <p:nvSpPr>
          <p:cNvPr id="74" name="Text 72"/>
          <p:cNvSpPr txBox="1"/>
          <p:nvPr/>
        </p:nvSpPr>
        <p:spPr>
          <a:xfrm>
            <a:off x="8860536"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$376,895</a:t>
            </a:r>
            <a:endParaRPr lang="en-US" sz="1300" dirty="0"/>
          </a:p>
        </p:txBody>
      </p:sp>
      <p:sp>
        <p:nvSpPr>
          <p:cNvPr id="75" name="Text 73"/>
          <p:cNvSpPr txBox="1"/>
          <p:nvPr/>
        </p:nvSpPr>
        <p:spPr>
          <a:xfrm>
            <a:off x="9884664"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76" name="Text 74"/>
          <p:cNvSpPr txBox="1"/>
          <p:nvPr/>
        </p:nvSpPr>
        <p:spPr>
          <a:xfrm>
            <a:off x="10652760"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7" name="Text 75"/>
          <p:cNvSpPr txBox="1"/>
          <p:nvPr/>
        </p:nvSpPr>
        <p:spPr>
          <a:xfrm>
            <a:off x="6208776"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78" name="Shape 76"/>
          <p:cNvSpPr/>
          <p:nvPr/>
        </p:nvSpPr>
        <p:spPr>
          <a:xfrm>
            <a:off x="8220456" y="2555291"/>
            <a:ext cx="88284" cy="211226"/>
          </a:xfrm>
          <a:prstGeom prst="rect">
            <a:avLst/>
          </a:prstGeom>
          <a:solidFill>
            <a:srgbClr val="C2352F"/>
          </a:solidFill>
          <a:ln/>
        </p:spPr>
      </p:sp>
      <p:sp>
        <p:nvSpPr>
          <p:cNvPr id="79" name="Text 77"/>
          <p:cNvSpPr txBox="1"/>
          <p:nvPr/>
        </p:nvSpPr>
        <p:spPr>
          <a:xfrm>
            <a:off x="8860536"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$370,634</a:t>
            </a:r>
            <a:endParaRPr lang="en-US" sz="1300" dirty="0"/>
          </a:p>
        </p:txBody>
      </p:sp>
      <p:sp>
        <p:nvSpPr>
          <p:cNvPr id="80" name="Text 78"/>
          <p:cNvSpPr txBox="1"/>
          <p:nvPr/>
        </p:nvSpPr>
        <p:spPr>
          <a:xfrm>
            <a:off x="9884664"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81" name="Text 79"/>
          <p:cNvSpPr txBox="1"/>
          <p:nvPr/>
        </p:nvSpPr>
        <p:spPr>
          <a:xfrm>
            <a:off x="10652760"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82" name="Text 80"/>
          <p:cNvSpPr txBox="1"/>
          <p:nvPr/>
        </p:nvSpPr>
        <p:spPr>
          <a:xfrm>
            <a:off x="6208776"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83" name="Shape 81"/>
          <p:cNvSpPr/>
          <p:nvPr/>
        </p:nvSpPr>
        <p:spPr>
          <a:xfrm>
            <a:off x="8220456" y="2939339"/>
            <a:ext cx="81589" cy="211226"/>
          </a:xfrm>
          <a:prstGeom prst="rect">
            <a:avLst/>
          </a:prstGeom>
          <a:solidFill>
            <a:srgbClr val="C2352F"/>
          </a:solidFill>
          <a:ln/>
        </p:spPr>
      </p:sp>
      <p:sp>
        <p:nvSpPr>
          <p:cNvPr id="84" name="Text 82"/>
          <p:cNvSpPr txBox="1"/>
          <p:nvPr/>
        </p:nvSpPr>
        <p:spPr>
          <a:xfrm>
            <a:off x="8860536"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$342,526</a:t>
            </a:r>
            <a:endParaRPr lang="en-US" sz="1300" dirty="0"/>
          </a:p>
        </p:txBody>
      </p:sp>
      <p:sp>
        <p:nvSpPr>
          <p:cNvPr id="85" name="Text 83"/>
          <p:cNvSpPr txBox="1"/>
          <p:nvPr/>
        </p:nvSpPr>
        <p:spPr>
          <a:xfrm>
            <a:off x="9884664"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86" name="Text 84"/>
          <p:cNvSpPr txBox="1"/>
          <p:nvPr/>
        </p:nvSpPr>
        <p:spPr>
          <a:xfrm>
            <a:off x="10652760"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87" name="Text 85"/>
          <p:cNvSpPr txBox="1"/>
          <p:nvPr/>
        </p:nvSpPr>
        <p:spPr>
          <a:xfrm>
            <a:off x="6208776"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8" name="Shape 86"/>
          <p:cNvSpPr/>
          <p:nvPr/>
        </p:nvSpPr>
        <p:spPr>
          <a:xfrm>
            <a:off x="8220456" y="3323387"/>
            <a:ext cx="73764" cy="211226"/>
          </a:xfrm>
          <a:prstGeom prst="rect">
            <a:avLst/>
          </a:prstGeom>
          <a:solidFill>
            <a:srgbClr val="C2352F"/>
          </a:solidFill>
          <a:ln/>
        </p:spPr>
      </p:sp>
      <p:sp>
        <p:nvSpPr>
          <p:cNvPr id="89" name="Text 87"/>
          <p:cNvSpPr txBox="1"/>
          <p:nvPr/>
        </p:nvSpPr>
        <p:spPr>
          <a:xfrm>
            <a:off x="8860536"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$309,678</a:t>
            </a:r>
            <a:endParaRPr lang="en-US" sz="1300" dirty="0"/>
          </a:p>
        </p:txBody>
      </p:sp>
      <p:sp>
        <p:nvSpPr>
          <p:cNvPr id="90" name="Text 88"/>
          <p:cNvSpPr txBox="1"/>
          <p:nvPr/>
        </p:nvSpPr>
        <p:spPr>
          <a:xfrm>
            <a:off x="9884664"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91" name="Text 89"/>
          <p:cNvSpPr txBox="1"/>
          <p:nvPr/>
        </p:nvSpPr>
        <p:spPr>
          <a:xfrm>
            <a:off x="10652760"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2" name="Text 90"/>
          <p:cNvSpPr txBox="1"/>
          <p:nvPr/>
        </p:nvSpPr>
        <p:spPr>
          <a:xfrm>
            <a:off x="6208776"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3" name="Shape 91"/>
          <p:cNvSpPr/>
          <p:nvPr/>
        </p:nvSpPr>
        <p:spPr>
          <a:xfrm>
            <a:off x="8220456" y="3707435"/>
            <a:ext cx="45418" cy="211226"/>
          </a:xfrm>
          <a:prstGeom prst="rect">
            <a:avLst/>
          </a:prstGeom>
          <a:solidFill>
            <a:srgbClr val="C2352F"/>
          </a:solidFill>
          <a:ln/>
        </p:spPr>
      </p:sp>
      <p:sp>
        <p:nvSpPr>
          <p:cNvPr id="94" name="Text 92"/>
          <p:cNvSpPr txBox="1"/>
          <p:nvPr/>
        </p:nvSpPr>
        <p:spPr>
          <a:xfrm>
            <a:off x="8860536"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$190,674</a:t>
            </a:r>
            <a:endParaRPr lang="en-US" sz="1300" dirty="0"/>
          </a:p>
        </p:txBody>
      </p:sp>
      <p:sp>
        <p:nvSpPr>
          <p:cNvPr id="95" name="Text 93"/>
          <p:cNvSpPr txBox="1"/>
          <p:nvPr/>
        </p:nvSpPr>
        <p:spPr>
          <a:xfrm>
            <a:off x="9884664"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96" name="Text 94"/>
          <p:cNvSpPr txBox="1"/>
          <p:nvPr/>
        </p:nvSpPr>
        <p:spPr>
          <a:xfrm>
            <a:off x="10652760"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7" name="Text 95"/>
          <p:cNvSpPr txBox="1"/>
          <p:nvPr/>
        </p:nvSpPr>
        <p:spPr>
          <a:xfrm>
            <a:off x="6208776"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98" name="Shape 96"/>
          <p:cNvSpPr/>
          <p:nvPr/>
        </p:nvSpPr>
        <p:spPr>
          <a:xfrm>
            <a:off x="8220456" y="4091483"/>
            <a:ext cx="37443" cy="211226"/>
          </a:xfrm>
          <a:prstGeom prst="rect">
            <a:avLst/>
          </a:prstGeom>
          <a:solidFill>
            <a:srgbClr val="C2352F"/>
          </a:solidFill>
          <a:ln/>
        </p:spPr>
      </p:sp>
      <p:sp>
        <p:nvSpPr>
          <p:cNvPr id="99" name="Text 97"/>
          <p:cNvSpPr txBox="1"/>
          <p:nvPr/>
        </p:nvSpPr>
        <p:spPr>
          <a:xfrm>
            <a:off x="8860536"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$157,193</a:t>
            </a:r>
            <a:endParaRPr lang="en-US" sz="1300" dirty="0"/>
          </a:p>
        </p:txBody>
      </p:sp>
      <p:sp>
        <p:nvSpPr>
          <p:cNvPr id="100" name="Text 98"/>
          <p:cNvSpPr txBox="1"/>
          <p:nvPr/>
        </p:nvSpPr>
        <p:spPr>
          <a:xfrm>
            <a:off x="9884664"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01" name="Text 99"/>
          <p:cNvSpPr txBox="1"/>
          <p:nvPr/>
        </p:nvSpPr>
        <p:spPr>
          <a:xfrm>
            <a:off x="10652760"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2" name="Text 100"/>
          <p:cNvSpPr txBox="1"/>
          <p:nvPr/>
        </p:nvSpPr>
        <p:spPr>
          <a:xfrm>
            <a:off x="6208776"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03" name="Shape 101"/>
          <p:cNvSpPr/>
          <p:nvPr/>
        </p:nvSpPr>
        <p:spPr>
          <a:xfrm>
            <a:off x="8220456" y="4475531"/>
            <a:ext cx="26036" cy="211226"/>
          </a:xfrm>
          <a:prstGeom prst="rect">
            <a:avLst/>
          </a:prstGeom>
          <a:solidFill>
            <a:srgbClr val="C2352F"/>
          </a:solidFill>
          <a:ln/>
        </p:spPr>
      </p:sp>
      <p:sp>
        <p:nvSpPr>
          <p:cNvPr id="104" name="Text 102"/>
          <p:cNvSpPr txBox="1"/>
          <p:nvPr/>
        </p:nvSpPr>
        <p:spPr>
          <a:xfrm>
            <a:off x="8860536"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$109,303</a:t>
            </a:r>
            <a:endParaRPr lang="en-US" sz="1300" dirty="0"/>
          </a:p>
        </p:txBody>
      </p:sp>
      <p:sp>
        <p:nvSpPr>
          <p:cNvPr id="105" name="Text 103"/>
          <p:cNvSpPr txBox="1"/>
          <p:nvPr/>
        </p:nvSpPr>
        <p:spPr>
          <a:xfrm>
            <a:off x="9884664"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06" name="Text 104"/>
          <p:cNvSpPr txBox="1"/>
          <p:nvPr/>
        </p:nvSpPr>
        <p:spPr>
          <a:xfrm>
            <a:off x="10652760"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7" name="Text 105"/>
          <p:cNvSpPr txBox="1"/>
          <p:nvPr/>
        </p:nvSpPr>
        <p:spPr>
          <a:xfrm>
            <a:off x="6208776"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8" name="Shape 106"/>
          <p:cNvSpPr/>
          <p:nvPr/>
        </p:nvSpPr>
        <p:spPr>
          <a:xfrm>
            <a:off x="8220456" y="4859579"/>
            <a:ext cx="18288" cy="211226"/>
          </a:xfrm>
          <a:prstGeom prst="rect">
            <a:avLst/>
          </a:prstGeom>
          <a:solidFill>
            <a:srgbClr val="C2352F"/>
          </a:solidFill>
          <a:ln/>
        </p:spPr>
      </p:sp>
      <p:sp>
        <p:nvSpPr>
          <p:cNvPr id="109" name="Text 107"/>
          <p:cNvSpPr txBox="1"/>
          <p:nvPr/>
        </p:nvSpPr>
        <p:spPr>
          <a:xfrm>
            <a:off x="8860536"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$61,379</a:t>
            </a:r>
            <a:endParaRPr lang="en-US" sz="1300" dirty="0"/>
          </a:p>
        </p:txBody>
      </p:sp>
      <p:sp>
        <p:nvSpPr>
          <p:cNvPr id="110" name="Text 108"/>
          <p:cNvSpPr txBox="1"/>
          <p:nvPr/>
        </p:nvSpPr>
        <p:spPr>
          <a:xfrm>
            <a:off x="9884664"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11" name="Text 109"/>
          <p:cNvSpPr txBox="1"/>
          <p:nvPr/>
        </p:nvSpPr>
        <p:spPr>
          <a:xfrm>
            <a:off x="10652760"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12" name="Text 110"/>
          <p:cNvSpPr txBox="1"/>
          <p:nvPr/>
        </p:nvSpPr>
        <p:spPr>
          <a:xfrm>
            <a:off x="6208776"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13" name="Shape 111"/>
          <p:cNvSpPr/>
          <p:nvPr/>
        </p:nvSpPr>
        <p:spPr>
          <a:xfrm>
            <a:off x="8220456" y="5243627"/>
            <a:ext cx="18288" cy="211226"/>
          </a:xfrm>
          <a:prstGeom prst="rect">
            <a:avLst/>
          </a:prstGeom>
          <a:solidFill>
            <a:srgbClr val="C2352F"/>
          </a:solidFill>
          <a:ln/>
        </p:spPr>
      </p:sp>
      <p:sp>
        <p:nvSpPr>
          <p:cNvPr id="114" name="Text 112"/>
          <p:cNvSpPr txBox="1"/>
          <p:nvPr/>
        </p:nvSpPr>
        <p:spPr>
          <a:xfrm>
            <a:off x="8860536"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$25,739</a:t>
            </a:r>
            <a:endParaRPr lang="en-US" sz="1300" dirty="0"/>
          </a:p>
        </p:txBody>
      </p:sp>
      <p:sp>
        <p:nvSpPr>
          <p:cNvPr id="115" name="Text 113"/>
          <p:cNvSpPr txBox="1"/>
          <p:nvPr/>
        </p:nvSpPr>
        <p:spPr>
          <a:xfrm>
            <a:off x="9884664"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16" name="Text 114"/>
          <p:cNvSpPr txBox="1"/>
          <p:nvPr/>
        </p:nvSpPr>
        <p:spPr>
          <a:xfrm>
            <a:off x="10652760"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17" name="Shape 115"/>
          <p:cNvSpPr/>
          <p:nvPr/>
        </p:nvSpPr>
        <p:spPr>
          <a:xfrm>
            <a:off x="457200" y="6126480"/>
            <a:ext cx="11274552" cy="615696"/>
          </a:xfrm>
          <a:prstGeom prst="rect">
            <a:avLst/>
          </a:prstGeom>
          <a:solidFill>
            <a:srgbClr val="FBEBEA"/>
          </a:solidFill>
          <a:ln/>
        </p:spPr>
      </p:sp>
      <p:sp>
        <p:nvSpPr>
          <p:cNvPr id="118" name="Text 11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Luxury stores are compared with $16,998 a month, non-luxury with $12,714. 21 stores below their average leave $16,784,025 a year with the same staff.</a:t>
            </a:r>
            <a:endParaRPr lang="en-US" sz="1600" dirty="0"/>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5% More per Employee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19856" y="1316736"/>
            <a:ext cx="95097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7083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8" name="Text 6"/>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9" name="Text 7"/>
          <p:cNvSpPr txBox="1"/>
          <p:nvPr/>
        </p:nvSpPr>
        <p:spPr>
          <a:xfrm>
            <a:off x="8970264" y="1316736"/>
            <a:ext cx="95097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212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11" name="Text 9"/>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694944" cy="136676"/>
          </a:xfrm>
          <a:prstGeom prst="rect">
            <a:avLst/>
          </a:prstGeom>
          <a:solidFill>
            <a:srgbClr val="2587C5"/>
          </a:solidFill>
          <a:ln/>
        </p:spPr>
      </p:sp>
      <p:sp>
        <p:nvSpPr>
          <p:cNvPr id="14" name="Text 12"/>
          <p:cNvSpPr txBox="1"/>
          <p:nvPr/>
        </p:nvSpPr>
        <p:spPr>
          <a:xfrm>
            <a:off x="3419856" y="1700784"/>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$1,506,225</a:t>
            </a:r>
            <a:endParaRPr lang="en-US" sz="1300" dirty="0"/>
          </a:p>
        </p:txBody>
      </p:sp>
      <p:sp>
        <p:nvSpPr>
          <p:cNvPr id="15" name="Text 13"/>
          <p:cNvSpPr txBox="1"/>
          <p:nvPr/>
        </p:nvSpPr>
        <p:spPr>
          <a:xfrm>
            <a:off x="4370832"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$14,174</a:t>
            </a:r>
            <a:endParaRPr lang="en-US" sz="1300" dirty="0"/>
          </a:p>
        </p:txBody>
      </p:sp>
      <p:sp>
        <p:nvSpPr>
          <p:cNvPr id="16" name="Text 14"/>
          <p:cNvSpPr txBox="1"/>
          <p:nvPr/>
        </p:nvSpPr>
        <p:spPr>
          <a:xfrm>
            <a:off x="51206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$14,883</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05199"/>
            <a:ext cx="508906" cy="136676"/>
          </a:xfrm>
          <a:prstGeom prst="rect">
            <a:avLst/>
          </a:prstGeom>
          <a:solidFill>
            <a:srgbClr val="2587C5"/>
          </a:solidFill>
          <a:ln/>
        </p:spPr>
      </p:sp>
      <p:sp>
        <p:nvSpPr>
          <p:cNvPr id="19" name="Text 17"/>
          <p:cNvSpPr txBox="1"/>
          <p:nvPr/>
        </p:nvSpPr>
        <p:spPr>
          <a:xfrm>
            <a:off x="3419856" y="1949286"/>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$1,103,005</a:t>
            </a:r>
            <a:endParaRPr lang="en-US" sz="1300" dirty="0"/>
          </a:p>
        </p:txBody>
      </p:sp>
      <p:sp>
        <p:nvSpPr>
          <p:cNvPr id="20" name="Text 18"/>
          <p:cNvSpPr txBox="1"/>
          <p:nvPr/>
        </p:nvSpPr>
        <p:spPr>
          <a:xfrm>
            <a:off x="4370832"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21" name="Text 19"/>
          <p:cNvSpPr txBox="1"/>
          <p:nvPr/>
        </p:nvSpPr>
        <p:spPr>
          <a:xfrm>
            <a:off x="51206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$12,644</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3" name="Shape 21"/>
          <p:cNvSpPr/>
          <p:nvPr/>
        </p:nvSpPr>
        <p:spPr>
          <a:xfrm>
            <a:off x="2670048" y="2253700"/>
            <a:ext cx="443634" cy="136676"/>
          </a:xfrm>
          <a:prstGeom prst="rect">
            <a:avLst/>
          </a:prstGeom>
          <a:solidFill>
            <a:srgbClr val="2587C5"/>
          </a:solidFill>
          <a:ln/>
        </p:spPr>
      </p:sp>
      <p:sp>
        <p:nvSpPr>
          <p:cNvPr id="24" name="Text 22"/>
          <p:cNvSpPr txBox="1"/>
          <p:nvPr/>
        </p:nvSpPr>
        <p:spPr>
          <a:xfrm>
            <a:off x="3419856" y="2197787"/>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$961,535</a:t>
            </a:r>
            <a:endParaRPr lang="en-US" sz="1300" dirty="0"/>
          </a:p>
        </p:txBody>
      </p:sp>
      <p:sp>
        <p:nvSpPr>
          <p:cNvPr id="25" name="Text 23"/>
          <p:cNvSpPr txBox="1"/>
          <p:nvPr/>
        </p:nvSpPr>
        <p:spPr>
          <a:xfrm>
            <a:off x="4370832"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$16,061</a:t>
            </a:r>
            <a:endParaRPr lang="en-US" sz="1300" dirty="0"/>
          </a:p>
        </p:txBody>
      </p:sp>
      <p:sp>
        <p:nvSpPr>
          <p:cNvPr id="26" name="Text 24"/>
          <p:cNvSpPr txBox="1"/>
          <p:nvPr/>
        </p:nvSpPr>
        <p:spPr>
          <a:xfrm>
            <a:off x="51206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$16,864</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379571" cy="136676"/>
          </a:xfrm>
          <a:prstGeom prst="rect">
            <a:avLst/>
          </a:prstGeom>
          <a:solidFill>
            <a:srgbClr val="2587C5"/>
          </a:solidFill>
          <a:ln/>
        </p:spPr>
      </p:sp>
      <p:sp>
        <p:nvSpPr>
          <p:cNvPr id="29" name="Text 27"/>
          <p:cNvSpPr txBox="1"/>
          <p:nvPr/>
        </p:nvSpPr>
        <p:spPr>
          <a:xfrm>
            <a:off x="3419856" y="2446289"/>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$822,684</a:t>
            </a:r>
            <a:endParaRPr lang="en-US" sz="1300" dirty="0"/>
          </a:p>
        </p:txBody>
      </p:sp>
      <p:sp>
        <p:nvSpPr>
          <p:cNvPr id="30" name="Text 28"/>
          <p:cNvSpPr txBox="1"/>
          <p:nvPr/>
        </p:nvSpPr>
        <p:spPr>
          <a:xfrm>
            <a:off x="4370832"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$23,461</a:t>
            </a:r>
            <a:endParaRPr lang="en-US" sz="1300" dirty="0"/>
          </a:p>
        </p:txBody>
      </p:sp>
      <p:sp>
        <p:nvSpPr>
          <p:cNvPr id="31" name="Text 29"/>
          <p:cNvSpPr txBox="1"/>
          <p:nvPr/>
        </p:nvSpPr>
        <p:spPr>
          <a:xfrm>
            <a:off x="51206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$24,634</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33" name="Shape 31"/>
          <p:cNvSpPr/>
          <p:nvPr/>
        </p:nvSpPr>
        <p:spPr>
          <a:xfrm>
            <a:off x="2670048" y="2750703"/>
            <a:ext cx="310060" cy="136676"/>
          </a:xfrm>
          <a:prstGeom prst="rect">
            <a:avLst/>
          </a:prstGeom>
          <a:solidFill>
            <a:srgbClr val="2587C5"/>
          </a:solidFill>
          <a:ln/>
        </p:spPr>
      </p:sp>
      <p:sp>
        <p:nvSpPr>
          <p:cNvPr id="34" name="Text 32"/>
          <p:cNvSpPr txBox="1"/>
          <p:nvPr/>
        </p:nvSpPr>
        <p:spPr>
          <a:xfrm>
            <a:off x="3419856" y="2694791"/>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$672,026</a:t>
            </a:r>
            <a:endParaRPr lang="en-US" sz="1300" dirty="0"/>
          </a:p>
        </p:txBody>
      </p:sp>
      <p:sp>
        <p:nvSpPr>
          <p:cNvPr id="35" name="Text 33"/>
          <p:cNvSpPr txBox="1"/>
          <p:nvPr/>
        </p:nvSpPr>
        <p:spPr>
          <a:xfrm>
            <a:off x="4370832"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$12,874</a:t>
            </a:r>
            <a:endParaRPr lang="en-US" sz="1300" dirty="0"/>
          </a:p>
        </p:txBody>
      </p:sp>
      <p:sp>
        <p:nvSpPr>
          <p:cNvPr id="36" name="Text 34"/>
          <p:cNvSpPr txBox="1"/>
          <p:nvPr/>
        </p:nvSpPr>
        <p:spPr>
          <a:xfrm>
            <a:off x="51206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$13,518</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38" name="Shape 36"/>
          <p:cNvSpPr/>
          <p:nvPr/>
        </p:nvSpPr>
        <p:spPr>
          <a:xfrm>
            <a:off x="2670048" y="2999205"/>
            <a:ext cx="295191" cy="136676"/>
          </a:xfrm>
          <a:prstGeom prst="rect">
            <a:avLst/>
          </a:prstGeom>
          <a:solidFill>
            <a:srgbClr val="2587C5"/>
          </a:solidFill>
          <a:ln/>
        </p:spPr>
      </p:sp>
      <p:sp>
        <p:nvSpPr>
          <p:cNvPr id="39" name="Text 37"/>
          <p:cNvSpPr txBox="1"/>
          <p:nvPr/>
        </p:nvSpPr>
        <p:spPr>
          <a:xfrm>
            <a:off x="3419856" y="2943292"/>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$639,799</a:t>
            </a:r>
            <a:endParaRPr lang="en-US" sz="1300" dirty="0"/>
          </a:p>
        </p:txBody>
      </p:sp>
      <p:sp>
        <p:nvSpPr>
          <p:cNvPr id="40" name="Text 38"/>
          <p:cNvSpPr txBox="1"/>
          <p:nvPr/>
        </p:nvSpPr>
        <p:spPr>
          <a:xfrm>
            <a:off x="4370832"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41" name="Text 39"/>
          <p:cNvSpPr txBox="1"/>
          <p:nvPr/>
        </p:nvSpPr>
        <p:spPr>
          <a:xfrm>
            <a:off x="51206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$14,973</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70048" y="3247707"/>
            <a:ext cx="265029" cy="136676"/>
          </a:xfrm>
          <a:prstGeom prst="rect">
            <a:avLst/>
          </a:prstGeom>
          <a:solidFill>
            <a:srgbClr val="2587C5"/>
          </a:solidFill>
          <a:ln/>
        </p:spPr>
      </p:sp>
      <p:sp>
        <p:nvSpPr>
          <p:cNvPr id="44" name="Text 42"/>
          <p:cNvSpPr txBox="1"/>
          <p:nvPr/>
        </p:nvSpPr>
        <p:spPr>
          <a:xfrm>
            <a:off x="3419856" y="3191794"/>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$574,425</a:t>
            </a:r>
            <a:endParaRPr lang="en-US" sz="1300" dirty="0"/>
          </a:p>
        </p:txBody>
      </p:sp>
      <p:sp>
        <p:nvSpPr>
          <p:cNvPr id="45" name="Text 43"/>
          <p:cNvSpPr txBox="1"/>
          <p:nvPr/>
        </p:nvSpPr>
        <p:spPr>
          <a:xfrm>
            <a:off x="4370832"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$14,604</a:t>
            </a:r>
            <a:endParaRPr lang="en-US" sz="1300" dirty="0"/>
          </a:p>
        </p:txBody>
      </p:sp>
      <p:sp>
        <p:nvSpPr>
          <p:cNvPr id="46" name="Text 44"/>
          <p:cNvSpPr txBox="1"/>
          <p:nvPr/>
        </p:nvSpPr>
        <p:spPr>
          <a:xfrm>
            <a:off x="51206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$15,334</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8" name="Shape 46"/>
          <p:cNvSpPr/>
          <p:nvPr/>
        </p:nvSpPr>
        <p:spPr>
          <a:xfrm>
            <a:off x="2670048" y="3496208"/>
            <a:ext cx="203194" cy="136676"/>
          </a:xfrm>
          <a:prstGeom prst="rect">
            <a:avLst/>
          </a:prstGeom>
          <a:solidFill>
            <a:srgbClr val="2587C5"/>
          </a:solidFill>
          <a:ln/>
        </p:spPr>
      </p:sp>
      <p:sp>
        <p:nvSpPr>
          <p:cNvPr id="49" name="Text 47"/>
          <p:cNvSpPr txBox="1"/>
          <p:nvPr/>
        </p:nvSpPr>
        <p:spPr>
          <a:xfrm>
            <a:off x="3419856" y="3440296"/>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$440,403</a:t>
            </a:r>
            <a:endParaRPr lang="en-US" sz="1300" dirty="0"/>
          </a:p>
        </p:txBody>
      </p:sp>
      <p:sp>
        <p:nvSpPr>
          <p:cNvPr id="50" name="Text 48"/>
          <p:cNvSpPr txBox="1"/>
          <p:nvPr/>
        </p:nvSpPr>
        <p:spPr>
          <a:xfrm>
            <a:off x="4370832"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$18,148</a:t>
            </a:r>
            <a:endParaRPr lang="en-US" sz="1300" dirty="0"/>
          </a:p>
        </p:txBody>
      </p:sp>
      <p:sp>
        <p:nvSpPr>
          <p:cNvPr id="51" name="Text 49"/>
          <p:cNvSpPr txBox="1"/>
          <p:nvPr/>
        </p:nvSpPr>
        <p:spPr>
          <a:xfrm>
            <a:off x="51206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$19,056</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3" name="Shape 51"/>
          <p:cNvSpPr/>
          <p:nvPr/>
        </p:nvSpPr>
        <p:spPr>
          <a:xfrm>
            <a:off x="2670048" y="3744710"/>
            <a:ext cx="189258" cy="136676"/>
          </a:xfrm>
          <a:prstGeom prst="rect">
            <a:avLst/>
          </a:prstGeom>
          <a:solidFill>
            <a:srgbClr val="2587C5"/>
          </a:solidFill>
          <a:ln/>
        </p:spPr>
      </p:sp>
      <p:sp>
        <p:nvSpPr>
          <p:cNvPr id="54" name="Text 52"/>
          <p:cNvSpPr txBox="1"/>
          <p:nvPr/>
        </p:nvSpPr>
        <p:spPr>
          <a:xfrm>
            <a:off x="3419856" y="3688797"/>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$410,199</a:t>
            </a:r>
            <a:endParaRPr lang="en-US" sz="1300" dirty="0"/>
          </a:p>
        </p:txBody>
      </p:sp>
      <p:sp>
        <p:nvSpPr>
          <p:cNvPr id="55" name="Text 53"/>
          <p:cNvSpPr txBox="1"/>
          <p:nvPr/>
        </p:nvSpPr>
        <p:spPr>
          <a:xfrm>
            <a:off x="4370832"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$13,289</a:t>
            </a:r>
            <a:endParaRPr lang="en-US" sz="1300" dirty="0"/>
          </a:p>
        </p:txBody>
      </p:sp>
      <p:sp>
        <p:nvSpPr>
          <p:cNvPr id="56" name="Text 54"/>
          <p:cNvSpPr txBox="1"/>
          <p:nvPr/>
        </p:nvSpPr>
        <p:spPr>
          <a:xfrm>
            <a:off x="51206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$13,954</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58" name="Shape 56"/>
          <p:cNvSpPr/>
          <p:nvPr/>
        </p:nvSpPr>
        <p:spPr>
          <a:xfrm>
            <a:off x="2670048" y="3993212"/>
            <a:ext cx="182441" cy="136676"/>
          </a:xfrm>
          <a:prstGeom prst="rect">
            <a:avLst/>
          </a:prstGeom>
          <a:solidFill>
            <a:srgbClr val="2587C5"/>
          </a:solidFill>
          <a:ln/>
        </p:spPr>
      </p:sp>
      <p:sp>
        <p:nvSpPr>
          <p:cNvPr id="59" name="Text 57"/>
          <p:cNvSpPr txBox="1"/>
          <p:nvPr/>
        </p:nvSpPr>
        <p:spPr>
          <a:xfrm>
            <a:off x="3419856" y="3937299"/>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$395,423</a:t>
            </a:r>
            <a:endParaRPr lang="en-US" sz="1300" dirty="0"/>
          </a:p>
        </p:txBody>
      </p:sp>
      <p:sp>
        <p:nvSpPr>
          <p:cNvPr id="60" name="Text 58"/>
          <p:cNvSpPr txBox="1"/>
          <p:nvPr/>
        </p:nvSpPr>
        <p:spPr>
          <a:xfrm>
            <a:off x="4370832"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61" name="Text 59"/>
          <p:cNvSpPr txBox="1"/>
          <p:nvPr/>
        </p:nvSpPr>
        <p:spPr>
          <a:xfrm>
            <a:off x="51206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$11,685</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63" name="Shape 61"/>
          <p:cNvSpPr/>
          <p:nvPr/>
        </p:nvSpPr>
        <p:spPr>
          <a:xfrm>
            <a:off x="2670048" y="4241713"/>
            <a:ext cx="156263" cy="136676"/>
          </a:xfrm>
          <a:prstGeom prst="rect">
            <a:avLst/>
          </a:prstGeom>
          <a:solidFill>
            <a:srgbClr val="2587C5"/>
          </a:solidFill>
          <a:ln/>
        </p:spPr>
      </p:sp>
      <p:sp>
        <p:nvSpPr>
          <p:cNvPr id="64" name="Text 62"/>
          <p:cNvSpPr txBox="1"/>
          <p:nvPr/>
        </p:nvSpPr>
        <p:spPr>
          <a:xfrm>
            <a:off x="3419856" y="4185800"/>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$338,685</a:t>
            </a:r>
            <a:endParaRPr lang="en-US" sz="1300" dirty="0"/>
          </a:p>
        </p:txBody>
      </p:sp>
      <p:sp>
        <p:nvSpPr>
          <p:cNvPr id="65" name="Text 63"/>
          <p:cNvSpPr txBox="1"/>
          <p:nvPr/>
        </p:nvSpPr>
        <p:spPr>
          <a:xfrm>
            <a:off x="4370832"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66" name="Text 64"/>
          <p:cNvSpPr txBox="1"/>
          <p:nvPr/>
        </p:nvSpPr>
        <p:spPr>
          <a:xfrm>
            <a:off x="51206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$11,596</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68" name="Shape 66"/>
          <p:cNvSpPr/>
          <p:nvPr/>
        </p:nvSpPr>
        <p:spPr>
          <a:xfrm>
            <a:off x="2670048" y="4490215"/>
            <a:ext cx="147344" cy="136676"/>
          </a:xfrm>
          <a:prstGeom prst="rect">
            <a:avLst/>
          </a:prstGeom>
          <a:solidFill>
            <a:srgbClr val="2587C5"/>
          </a:solidFill>
          <a:ln/>
        </p:spPr>
      </p:sp>
      <p:sp>
        <p:nvSpPr>
          <p:cNvPr id="69" name="Text 67"/>
          <p:cNvSpPr txBox="1"/>
          <p:nvPr/>
        </p:nvSpPr>
        <p:spPr>
          <a:xfrm>
            <a:off x="3419856" y="4434302"/>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$319,353</a:t>
            </a:r>
            <a:endParaRPr lang="en-US" sz="1300" dirty="0"/>
          </a:p>
        </p:txBody>
      </p:sp>
      <p:sp>
        <p:nvSpPr>
          <p:cNvPr id="70" name="Text 68"/>
          <p:cNvSpPr txBox="1"/>
          <p:nvPr/>
        </p:nvSpPr>
        <p:spPr>
          <a:xfrm>
            <a:off x="4370832"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71" name="Text 69"/>
          <p:cNvSpPr txBox="1"/>
          <p:nvPr/>
        </p:nvSpPr>
        <p:spPr>
          <a:xfrm>
            <a:off x="51206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$12,606</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3" name="Shape 71"/>
          <p:cNvSpPr/>
          <p:nvPr/>
        </p:nvSpPr>
        <p:spPr>
          <a:xfrm>
            <a:off x="2670048" y="4738717"/>
            <a:ext cx="147118" cy="136676"/>
          </a:xfrm>
          <a:prstGeom prst="rect">
            <a:avLst/>
          </a:prstGeom>
          <a:solidFill>
            <a:srgbClr val="2587C5"/>
          </a:solidFill>
          <a:ln/>
        </p:spPr>
      </p:sp>
      <p:sp>
        <p:nvSpPr>
          <p:cNvPr id="74" name="Text 72"/>
          <p:cNvSpPr txBox="1"/>
          <p:nvPr/>
        </p:nvSpPr>
        <p:spPr>
          <a:xfrm>
            <a:off x="3419856" y="4682804"/>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$318,864</a:t>
            </a:r>
            <a:endParaRPr lang="en-US" sz="1300" dirty="0"/>
          </a:p>
        </p:txBody>
      </p:sp>
      <p:sp>
        <p:nvSpPr>
          <p:cNvPr id="75" name="Text 73"/>
          <p:cNvSpPr txBox="1"/>
          <p:nvPr/>
        </p:nvSpPr>
        <p:spPr>
          <a:xfrm>
            <a:off x="4370832"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76" name="Text 74"/>
          <p:cNvSpPr txBox="1"/>
          <p:nvPr/>
        </p:nvSpPr>
        <p:spPr>
          <a:xfrm>
            <a:off x="51206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$12,555</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8" name="Shape 76"/>
          <p:cNvSpPr/>
          <p:nvPr/>
        </p:nvSpPr>
        <p:spPr>
          <a:xfrm>
            <a:off x="2670048" y="4987218"/>
            <a:ext cx="139353" cy="136676"/>
          </a:xfrm>
          <a:prstGeom prst="rect">
            <a:avLst/>
          </a:prstGeom>
          <a:solidFill>
            <a:srgbClr val="2587C5"/>
          </a:solidFill>
          <a:ln/>
        </p:spPr>
      </p:sp>
      <p:sp>
        <p:nvSpPr>
          <p:cNvPr id="79" name="Text 77"/>
          <p:cNvSpPr txBox="1"/>
          <p:nvPr/>
        </p:nvSpPr>
        <p:spPr>
          <a:xfrm>
            <a:off x="3419856" y="4931305"/>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$302,035</a:t>
            </a:r>
            <a:endParaRPr lang="en-US" sz="1300" dirty="0"/>
          </a:p>
        </p:txBody>
      </p:sp>
      <p:sp>
        <p:nvSpPr>
          <p:cNvPr id="80" name="Text 78"/>
          <p:cNvSpPr txBox="1"/>
          <p:nvPr/>
        </p:nvSpPr>
        <p:spPr>
          <a:xfrm>
            <a:off x="4370832"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81" name="Text 79"/>
          <p:cNvSpPr txBox="1"/>
          <p:nvPr/>
        </p:nvSpPr>
        <p:spPr>
          <a:xfrm>
            <a:off x="51206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$10,911</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3" name="Shape 81"/>
          <p:cNvSpPr/>
          <p:nvPr/>
        </p:nvSpPr>
        <p:spPr>
          <a:xfrm>
            <a:off x="2670048" y="5235720"/>
            <a:ext cx="137448" cy="136676"/>
          </a:xfrm>
          <a:prstGeom prst="rect">
            <a:avLst/>
          </a:prstGeom>
          <a:solidFill>
            <a:srgbClr val="2587C5"/>
          </a:solidFill>
          <a:ln/>
        </p:spPr>
      </p:sp>
      <p:sp>
        <p:nvSpPr>
          <p:cNvPr id="84" name="Text 82"/>
          <p:cNvSpPr txBox="1"/>
          <p:nvPr/>
        </p:nvSpPr>
        <p:spPr>
          <a:xfrm>
            <a:off x="3419856" y="5179807"/>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$297,906</a:t>
            </a:r>
            <a:endParaRPr lang="en-US" sz="1300" dirty="0"/>
          </a:p>
        </p:txBody>
      </p:sp>
      <p:sp>
        <p:nvSpPr>
          <p:cNvPr id="85" name="Text 83"/>
          <p:cNvSpPr txBox="1"/>
          <p:nvPr/>
        </p:nvSpPr>
        <p:spPr>
          <a:xfrm>
            <a:off x="4370832"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86" name="Text 84"/>
          <p:cNvSpPr txBox="1"/>
          <p:nvPr/>
        </p:nvSpPr>
        <p:spPr>
          <a:xfrm>
            <a:off x="51206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$11,333</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88" name="Shape 86"/>
          <p:cNvSpPr/>
          <p:nvPr/>
        </p:nvSpPr>
        <p:spPr>
          <a:xfrm>
            <a:off x="2670048" y="5484222"/>
            <a:ext cx="137179" cy="136676"/>
          </a:xfrm>
          <a:prstGeom prst="rect">
            <a:avLst/>
          </a:prstGeom>
          <a:solidFill>
            <a:srgbClr val="2587C5"/>
          </a:solidFill>
          <a:ln/>
        </p:spPr>
      </p:sp>
      <p:sp>
        <p:nvSpPr>
          <p:cNvPr id="89" name="Text 87"/>
          <p:cNvSpPr txBox="1"/>
          <p:nvPr/>
        </p:nvSpPr>
        <p:spPr>
          <a:xfrm>
            <a:off x="3419856" y="5428309"/>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$297,322</a:t>
            </a:r>
            <a:endParaRPr lang="en-US" sz="1300" dirty="0"/>
          </a:p>
        </p:txBody>
      </p:sp>
      <p:sp>
        <p:nvSpPr>
          <p:cNvPr id="90" name="Text 88"/>
          <p:cNvSpPr txBox="1"/>
          <p:nvPr/>
        </p:nvSpPr>
        <p:spPr>
          <a:xfrm>
            <a:off x="4370832"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91" name="Text 89"/>
          <p:cNvSpPr txBox="1"/>
          <p:nvPr/>
        </p:nvSpPr>
        <p:spPr>
          <a:xfrm>
            <a:off x="51206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$15,662</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93" name="Shape 91"/>
          <p:cNvSpPr/>
          <p:nvPr/>
        </p:nvSpPr>
        <p:spPr>
          <a:xfrm>
            <a:off x="2670048" y="5732723"/>
            <a:ext cx="128662" cy="136676"/>
          </a:xfrm>
          <a:prstGeom prst="rect">
            <a:avLst/>
          </a:prstGeom>
          <a:solidFill>
            <a:srgbClr val="2587C5"/>
          </a:solidFill>
          <a:ln/>
        </p:spPr>
      </p:sp>
      <p:sp>
        <p:nvSpPr>
          <p:cNvPr id="94" name="Text 92"/>
          <p:cNvSpPr txBox="1"/>
          <p:nvPr/>
        </p:nvSpPr>
        <p:spPr>
          <a:xfrm>
            <a:off x="3419856" y="5676810"/>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$278,863</a:t>
            </a:r>
            <a:endParaRPr lang="en-US" sz="1300" dirty="0"/>
          </a:p>
        </p:txBody>
      </p:sp>
      <p:sp>
        <p:nvSpPr>
          <p:cNvPr id="95" name="Text 93"/>
          <p:cNvSpPr txBox="1"/>
          <p:nvPr/>
        </p:nvSpPr>
        <p:spPr>
          <a:xfrm>
            <a:off x="4370832"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$12,871</a:t>
            </a:r>
            <a:endParaRPr lang="en-US" sz="1300" dirty="0"/>
          </a:p>
        </p:txBody>
      </p:sp>
      <p:sp>
        <p:nvSpPr>
          <p:cNvPr id="96" name="Text 94"/>
          <p:cNvSpPr txBox="1"/>
          <p:nvPr/>
        </p:nvSpPr>
        <p:spPr>
          <a:xfrm>
            <a:off x="512064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$13,514</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8" name="Shape 96"/>
          <p:cNvSpPr/>
          <p:nvPr/>
        </p:nvSpPr>
        <p:spPr>
          <a:xfrm>
            <a:off x="8220456" y="1756697"/>
            <a:ext cx="127501" cy="136676"/>
          </a:xfrm>
          <a:prstGeom prst="rect">
            <a:avLst/>
          </a:prstGeom>
          <a:solidFill>
            <a:srgbClr val="2587C5"/>
          </a:solidFill>
          <a:ln/>
        </p:spPr>
      </p:sp>
      <p:sp>
        <p:nvSpPr>
          <p:cNvPr id="99" name="Text 97"/>
          <p:cNvSpPr txBox="1"/>
          <p:nvPr/>
        </p:nvSpPr>
        <p:spPr>
          <a:xfrm>
            <a:off x="8970264" y="1700784"/>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$276,346</a:t>
            </a:r>
            <a:endParaRPr lang="en-US" sz="1300" dirty="0"/>
          </a:p>
        </p:txBody>
      </p:sp>
      <p:sp>
        <p:nvSpPr>
          <p:cNvPr id="100" name="Text 98"/>
          <p:cNvSpPr txBox="1"/>
          <p:nvPr/>
        </p:nvSpPr>
        <p:spPr>
          <a:xfrm>
            <a:off x="99212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01" name="Text 99"/>
          <p:cNvSpPr txBox="1"/>
          <p:nvPr/>
        </p:nvSpPr>
        <p:spPr>
          <a:xfrm>
            <a:off x="1067104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$17,765</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3" name="Shape 101"/>
          <p:cNvSpPr/>
          <p:nvPr/>
        </p:nvSpPr>
        <p:spPr>
          <a:xfrm>
            <a:off x="8220456" y="2005199"/>
            <a:ext cx="120382" cy="136676"/>
          </a:xfrm>
          <a:prstGeom prst="rect">
            <a:avLst/>
          </a:prstGeom>
          <a:solidFill>
            <a:srgbClr val="2587C5"/>
          </a:solidFill>
          <a:ln/>
        </p:spPr>
      </p:sp>
      <p:sp>
        <p:nvSpPr>
          <p:cNvPr id="104" name="Text 102"/>
          <p:cNvSpPr txBox="1"/>
          <p:nvPr/>
        </p:nvSpPr>
        <p:spPr>
          <a:xfrm>
            <a:off x="8970264" y="1949286"/>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$260,917</a:t>
            </a:r>
            <a:endParaRPr lang="en-US" sz="1300" dirty="0"/>
          </a:p>
        </p:txBody>
      </p:sp>
      <p:sp>
        <p:nvSpPr>
          <p:cNvPr id="105" name="Text 103"/>
          <p:cNvSpPr txBox="1"/>
          <p:nvPr/>
        </p:nvSpPr>
        <p:spPr>
          <a:xfrm>
            <a:off x="99212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$18,549</a:t>
            </a:r>
            <a:endParaRPr lang="en-US" sz="1300" dirty="0"/>
          </a:p>
        </p:txBody>
      </p:sp>
      <p:sp>
        <p:nvSpPr>
          <p:cNvPr id="106" name="Text 104"/>
          <p:cNvSpPr txBox="1"/>
          <p:nvPr/>
        </p:nvSpPr>
        <p:spPr>
          <a:xfrm>
            <a:off x="1067104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$19,476</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08" name="Shape 106"/>
          <p:cNvSpPr/>
          <p:nvPr/>
        </p:nvSpPr>
        <p:spPr>
          <a:xfrm>
            <a:off x="8220456" y="2253700"/>
            <a:ext cx="109290" cy="136676"/>
          </a:xfrm>
          <a:prstGeom prst="rect">
            <a:avLst/>
          </a:prstGeom>
          <a:solidFill>
            <a:srgbClr val="2587C5"/>
          </a:solidFill>
          <a:ln/>
        </p:spPr>
      </p:sp>
      <p:sp>
        <p:nvSpPr>
          <p:cNvPr id="109" name="Text 107"/>
          <p:cNvSpPr txBox="1"/>
          <p:nvPr/>
        </p:nvSpPr>
        <p:spPr>
          <a:xfrm>
            <a:off x="8970264" y="2197787"/>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$236,877</a:t>
            </a:r>
            <a:endParaRPr lang="en-US" sz="1300" dirty="0"/>
          </a:p>
        </p:txBody>
      </p:sp>
      <p:sp>
        <p:nvSpPr>
          <p:cNvPr id="110" name="Text 108"/>
          <p:cNvSpPr txBox="1"/>
          <p:nvPr/>
        </p:nvSpPr>
        <p:spPr>
          <a:xfrm>
            <a:off x="99212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111" name="Text 109"/>
          <p:cNvSpPr txBox="1"/>
          <p:nvPr/>
        </p:nvSpPr>
        <p:spPr>
          <a:xfrm>
            <a:off x="1067104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$10,450</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108135" cy="136676"/>
          </a:xfrm>
          <a:prstGeom prst="rect">
            <a:avLst/>
          </a:prstGeom>
          <a:solidFill>
            <a:srgbClr val="2587C5"/>
          </a:solidFill>
          <a:ln/>
        </p:spPr>
      </p:sp>
      <p:sp>
        <p:nvSpPr>
          <p:cNvPr id="114" name="Text 112"/>
          <p:cNvSpPr txBox="1"/>
          <p:nvPr/>
        </p:nvSpPr>
        <p:spPr>
          <a:xfrm>
            <a:off x="8970264" y="2446289"/>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$234,372</a:t>
            </a:r>
            <a:endParaRPr lang="en-US" sz="1300" dirty="0"/>
          </a:p>
        </p:txBody>
      </p:sp>
      <p:sp>
        <p:nvSpPr>
          <p:cNvPr id="115" name="Text 113"/>
          <p:cNvSpPr txBox="1"/>
          <p:nvPr/>
        </p:nvSpPr>
        <p:spPr>
          <a:xfrm>
            <a:off x="99212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$15,556</a:t>
            </a:r>
            <a:endParaRPr lang="en-US" sz="1300" dirty="0"/>
          </a:p>
        </p:txBody>
      </p:sp>
      <p:sp>
        <p:nvSpPr>
          <p:cNvPr id="116" name="Text 114"/>
          <p:cNvSpPr txBox="1"/>
          <p:nvPr/>
        </p:nvSpPr>
        <p:spPr>
          <a:xfrm>
            <a:off x="1067104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$16,333</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18" name="Shape 116"/>
          <p:cNvSpPr/>
          <p:nvPr/>
        </p:nvSpPr>
        <p:spPr>
          <a:xfrm>
            <a:off x="8220456" y="2750703"/>
            <a:ext cx="105077" cy="136676"/>
          </a:xfrm>
          <a:prstGeom prst="rect">
            <a:avLst/>
          </a:prstGeom>
          <a:solidFill>
            <a:srgbClr val="2587C5"/>
          </a:solidFill>
          <a:ln/>
        </p:spPr>
      </p:sp>
      <p:sp>
        <p:nvSpPr>
          <p:cNvPr id="119" name="Text 117"/>
          <p:cNvSpPr txBox="1"/>
          <p:nvPr/>
        </p:nvSpPr>
        <p:spPr>
          <a:xfrm>
            <a:off x="8970264" y="2694791"/>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$227,743</a:t>
            </a:r>
            <a:endParaRPr lang="en-US" sz="1300" dirty="0"/>
          </a:p>
        </p:txBody>
      </p:sp>
      <p:sp>
        <p:nvSpPr>
          <p:cNvPr id="120" name="Text 118"/>
          <p:cNvSpPr txBox="1"/>
          <p:nvPr/>
        </p:nvSpPr>
        <p:spPr>
          <a:xfrm>
            <a:off x="99212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$18,268</a:t>
            </a:r>
            <a:endParaRPr lang="en-US" sz="1300" dirty="0"/>
          </a:p>
        </p:txBody>
      </p:sp>
      <p:sp>
        <p:nvSpPr>
          <p:cNvPr id="121" name="Text 119"/>
          <p:cNvSpPr txBox="1"/>
          <p:nvPr/>
        </p:nvSpPr>
        <p:spPr>
          <a:xfrm>
            <a:off x="1067104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$19,182</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3" name="Shape 121"/>
          <p:cNvSpPr/>
          <p:nvPr/>
        </p:nvSpPr>
        <p:spPr>
          <a:xfrm>
            <a:off x="8220456" y="2999205"/>
            <a:ext cx="101658" cy="136676"/>
          </a:xfrm>
          <a:prstGeom prst="rect">
            <a:avLst/>
          </a:prstGeom>
          <a:solidFill>
            <a:srgbClr val="2587C5"/>
          </a:solidFill>
          <a:ln/>
        </p:spPr>
      </p:sp>
      <p:sp>
        <p:nvSpPr>
          <p:cNvPr id="124" name="Text 122"/>
          <p:cNvSpPr txBox="1"/>
          <p:nvPr/>
        </p:nvSpPr>
        <p:spPr>
          <a:xfrm>
            <a:off x="8970264" y="2943292"/>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$220,335</a:t>
            </a:r>
            <a:endParaRPr lang="en-US" sz="1300" dirty="0"/>
          </a:p>
        </p:txBody>
      </p:sp>
      <p:sp>
        <p:nvSpPr>
          <p:cNvPr id="125" name="Text 123"/>
          <p:cNvSpPr txBox="1"/>
          <p:nvPr/>
        </p:nvSpPr>
        <p:spPr>
          <a:xfrm>
            <a:off x="99212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$15,966</a:t>
            </a:r>
            <a:endParaRPr lang="en-US" sz="1300" dirty="0"/>
          </a:p>
        </p:txBody>
      </p:sp>
      <p:sp>
        <p:nvSpPr>
          <p:cNvPr id="126" name="Text 124"/>
          <p:cNvSpPr txBox="1"/>
          <p:nvPr/>
        </p:nvSpPr>
        <p:spPr>
          <a:xfrm>
            <a:off x="1067104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$16,765</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8" name="Shape 126"/>
          <p:cNvSpPr/>
          <p:nvPr/>
        </p:nvSpPr>
        <p:spPr>
          <a:xfrm>
            <a:off x="8220456" y="3247707"/>
            <a:ext cx="91723" cy="136676"/>
          </a:xfrm>
          <a:prstGeom prst="rect">
            <a:avLst/>
          </a:prstGeom>
          <a:solidFill>
            <a:srgbClr val="2587C5"/>
          </a:solidFill>
          <a:ln/>
        </p:spPr>
      </p:sp>
      <p:sp>
        <p:nvSpPr>
          <p:cNvPr id="129" name="Text 127"/>
          <p:cNvSpPr txBox="1"/>
          <p:nvPr/>
        </p:nvSpPr>
        <p:spPr>
          <a:xfrm>
            <a:off x="8970264" y="3191794"/>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$198,802</a:t>
            </a:r>
            <a:endParaRPr lang="en-US" sz="1300" dirty="0"/>
          </a:p>
        </p:txBody>
      </p:sp>
      <p:sp>
        <p:nvSpPr>
          <p:cNvPr id="130" name="Text 128"/>
          <p:cNvSpPr txBox="1"/>
          <p:nvPr/>
        </p:nvSpPr>
        <p:spPr>
          <a:xfrm>
            <a:off x="99212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131" name="Text 129"/>
          <p:cNvSpPr txBox="1"/>
          <p:nvPr/>
        </p:nvSpPr>
        <p:spPr>
          <a:xfrm>
            <a:off x="1067104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$11,511</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33" name="Shape 131"/>
          <p:cNvSpPr/>
          <p:nvPr/>
        </p:nvSpPr>
        <p:spPr>
          <a:xfrm>
            <a:off x="8220456" y="3496208"/>
            <a:ext cx="88990" cy="136676"/>
          </a:xfrm>
          <a:prstGeom prst="rect">
            <a:avLst/>
          </a:prstGeom>
          <a:solidFill>
            <a:srgbClr val="2587C5"/>
          </a:solidFill>
          <a:ln/>
        </p:spPr>
      </p:sp>
      <p:sp>
        <p:nvSpPr>
          <p:cNvPr id="134" name="Text 132"/>
          <p:cNvSpPr txBox="1"/>
          <p:nvPr/>
        </p:nvSpPr>
        <p:spPr>
          <a:xfrm>
            <a:off x="8970264" y="3440296"/>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$192,877</a:t>
            </a:r>
            <a:endParaRPr lang="en-US" sz="1300" dirty="0"/>
          </a:p>
        </p:txBody>
      </p:sp>
      <p:sp>
        <p:nvSpPr>
          <p:cNvPr id="135" name="Text 133"/>
          <p:cNvSpPr txBox="1"/>
          <p:nvPr/>
        </p:nvSpPr>
        <p:spPr>
          <a:xfrm>
            <a:off x="99212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36" name="Text 134"/>
          <p:cNvSpPr txBox="1"/>
          <p:nvPr/>
        </p:nvSpPr>
        <p:spPr>
          <a:xfrm>
            <a:off x="1067104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$12,982</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8" name="Shape 136"/>
          <p:cNvSpPr/>
          <p:nvPr/>
        </p:nvSpPr>
        <p:spPr>
          <a:xfrm>
            <a:off x="8220456" y="3744710"/>
            <a:ext cx="83056" cy="136676"/>
          </a:xfrm>
          <a:prstGeom prst="rect">
            <a:avLst/>
          </a:prstGeom>
          <a:solidFill>
            <a:srgbClr val="2587C5"/>
          </a:solidFill>
          <a:ln/>
        </p:spPr>
      </p:sp>
      <p:sp>
        <p:nvSpPr>
          <p:cNvPr id="139" name="Text 137"/>
          <p:cNvSpPr txBox="1"/>
          <p:nvPr/>
        </p:nvSpPr>
        <p:spPr>
          <a:xfrm>
            <a:off x="8970264" y="3688797"/>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$180,016</a:t>
            </a:r>
            <a:endParaRPr lang="en-US" sz="1300" dirty="0"/>
          </a:p>
        </p:txBody>
      </p:sp>
      <p:sp>
        <p:nvSpPr>
          <p:cNvPr id="140" name="Text 138"/>
          <p:cNvSpPr txBox="1"/>
          <p:nvPr/>
        </p:nvSpPr>
        <p:spPr>
          <a:xfrm>
            <a:off x="99212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41" name="Text 139"/>
          <p:cNvSpPr txBox="1"/>
          <p:nvPr/>
        </p:nvSpPr>
        <p:spPr>
          <a:xfrm>
            <a:off x="1067104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$13,126</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3" name="Shape 141"/>
          <p:cNvSpPr/>
          <p:nvPr/>
        </p:nvSpPr>
        <p:spPr>
          <a:xfrm>
            <a:off x="8220456" y="3993212"/>
            <a:ext cx="71851" cy="136676"/>
          </a:xfrm>
          <a:prstGeom prst="rect">
            <a:avLst/>
          </a:prstGeom>
          <a:solidFill>
            <a:srgbClr val="2587C5"/>
          </a:solidFill>
          <a:ln/>
        </p:spPr>
      </p:sp>
      <p:sp>
        <p:nvSpPr>
          <p:cNvPr id="144" name="Text 142"/>
          <p:cNvSpPr txBox="1"/>
          <p:nvPr/>
        </p:nvSpPr>
        <p:spPr>
          <a:xfrm>
            <a:off x="8970264" y="3937299"/>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$155,730</a:t>
            </a:r>
            <a:endParaRPr lang="en-US" sz="1300" dirty="0"/>
          </a:p>
        </p:txBody>
      </p:sp>
      <p:sp>
        <p:nvSpPr>
          <p:cNvPr id="145" name="Text 143"/>
          <p:cNvSpPr txBox="1"/>
          <p:nvPr/>
        </p:nvSpPr>
        <p:spPr>
          <a:xfrm>
            <a:off x="99212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46" name="Text 144"/>
          <p:cNvSpPr txBox="1"/>
          <p:nvPr/>
        </p:nvSpPr>
        <p:spPr>
          <a:xfrm>
            <a:off x="1067104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$12,709</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48" name="Shape 146"/>
          <p:cNvSpPr/>
          <p:nvPr/>
        </p:nvSpPr>
        <p:spPr>
          <a:xfrm>
            <a:off x="8220456" y="4241713"/>
            <a:ext cx="70289" cy="136676"/>
          </a:xfrm>
          <a:prstGeom prst="rect">
            <a:avLst/>
          </a:prstGeom>
          <a:solidFill>
            <a:srgbClr val="2587C5"/>
          </a:solidFill>
          <a:ln/>
        </p:spPr>
      </p:sp>
      <p:sp>
        <p:nvSpPr>
          <p:cNvPr id="149" name="Text 147"/>
          <p:cNvSpPr txBox="1"/>
          <p:nvPr/>
        </p:nvSpPr>
        <p:spPr>
          <a:xfrm>
            <a:off x="8970264" y="4185800"/>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$152,344</a:t>
            </a:r>
            <a:endParaRPr lang="en-US" sz="1300" dirty="0"/>
          </a:p>
        </p:txBody>
      </p:sp>
      <p:sp>
        <p:nvSpPr>
          <p:cNvPr id="150" name="Text 148"/>
          <p:cNvSpPr txBox="1"/>
          <p:nvPr/>
        </p:nvSpPr>
        <p:spPr>
          <a:xfrm>
            <a:off x="99212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151" name="Text 149"/>
          <p:cNvSpPr txBox="1"/>
          <p:nvPr/>
        </p:nvSpPr>
        <p:spPr>
          <a:xfrm>
            <a:off x="1067104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$12,118</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220456" y="4490215"/>
            <a:ext cx="69822" cy="136676"/>
          </a:xfrm>
          <a:prstGeom prst="rect">
            <a:avLst/>
          </a:prstGeom>
          <a:solidFill>
            <a:srgbClr val="2587C5"/>
          </a:solidFill>
          <a:ln/>
        </p:spPr>
      </p:sp>
      <p:sp>
        <p:nvSpPr>
          <p:cNvPr id="154" name="Text 152"/>
          <p:cNvSpPr txBox="1"/>
          <p:nvPr/>
        </p:nvSpPr>
        <p:spPr>
          <a:xfrm>
            <a:off x="8970264" y="4434302"/>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$151,334</a:t>
            </a:r>
            <a:endParaRPr lang="en-US" sz="1300" dirty="0"/>
          </a:p>
        </p:txBody>
      </p:sp>
      <p:sp>
        <p:nvSpPr>
          <p:cNvPr id="155" name="Text 153"/>
          <p:cNvSpPr txBox="1"/>
          <p:nvPr/>
        </p:nvSpPr>
        <p:spPr>
          <a:xfrm>
            <a:off x="99212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156" name="Text 154"/>
          <p:cNvSpPr txBox="1"/>
          <p:nvPr/>
        </p:nvSpPr>
        <p:spPr>
          <a:xfrm>
            <a:off x="1067104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$9,973</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58" name="Shape 156"/>
          <p:cNvSpPr/>
          <p:nvPr/>
        </p:nvSpPr>
        <p:spPr>
          <a:xfrm>
            <a:off x="8220456" y="4738717"/>
            <a:ext cx="67909" cy="136676"/>
          </a:xfrm>
          <a:prstGeom prst="rect">
            <a:avLst/>
          </a:prstGeom>
          <a:solidFill>
            <a:srgbClr val="2587C5"/>
          </a:solidFill>
          <a:ln/>
        </p:spPr>
      </p:sp>
      <p:sp>
        <p:nvSpPr>
          <p:cNvPr id="159" name="Text 157"/>
          <p:cNvSpPr txBox="1"/>
          <p:nvPr/>
        </p:nvSpPr>
        <p:spPr>
          <a:xfrm>
            <a:off x="8970264" y="4682804"/>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$147,187</a:t>
            </a:r>
            <a:endParaRPr lang="en-US" sz="1300" dirty="0"/>
          </a:p>
        </p:txBody>
      </p:sp>
      <p:sp>
        <p:nvSpPr>
          <p:cNvPr id="160" name="Text 158"/>
          <p:cNvSpPr txBox="1"/>
          <p:nvPr/>
        </p:nvSpPr>
        <p:spPr>
          <a:xfrm>
            <a:off x="99212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161" name="Text 159"/>
          <p:cNvSpPr txBox="1"/>
          <p:nvPr/>
        </p:nvSpPr>
        <p:spPr>
          <a:xfrm>
            <a:off x="1067104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$15,988</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3" name="Shape 161"/>
          <p:cNvSpPr/>
          <p:nvPr/>
        </p:nvSpPr>
        <p:spPr>
          <a:xfrm>
            <a:off x="8220456" y="4987218"/>
            <a:ext cx="48967" cy="136676"/>
          </a:xfrm>
          <a:prstGeom prst="rect">
            <a:avLst/>
          </a:prstGeom>
          <a:solidFill>
            <a:srgbClr val="2587C5"/>
          </a:solidFill>
          <a:ln/>
        </p:spPr>
      </p:sp>
      <p:sp>
        <p:nvSpPr>
          <p:cNvPr id="164" name="Text 162"/>
          <p:cNvSpPr txBox="1"/>
          <p:nvPr/>
        </p:nvSpPr>
        <p:spPr>
          <a:xfrm>
            <a:off x="8970264" y="4931305"/>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$106,131</a:t>
            </a:r>
            <a:endParaRPr lang="en-US" sz="1300" dirty="0"/>
          </a:p>
        </p:txBody>
      </p:sp>
      <p:sp>
        <p:nvSpPr>
          <p:cNvPr id="165" name="Text 163"/>
          <p:cNvSpPr txBox="1"/>
          <p:nvPr/>
        </p:nvSpPr>
        <p:spPr>
          <a:xfrm>
            <a:off x="99212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166" name="Text 164"/>
          <p:cNvSpPr txBox="1"/>
          <p:nvPr/>
        </p:nvSpPr>
        <p:spPr>
          <a:xfrm>
            <a:off x="1067104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$9,607</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8" name="Shape 166"/>
          <p:cNvSpPr/>
          <p:nvPr/>
        </p:nvSpPr>
        <p:spPr>
          <a:xfrm>
            <a:off x="8220456" y="5235720"/>
            <a:ext cx="47223" cy="136676"/>
          </a:xfrm>
          <a:prstGeom prst="rect">
            <a:avLst/>
          </a:prstGeom>
          <a:solidFill>
            <a:srgbClr val="2587C5"/>
          </a:solidFill>
          <a:ln/>
        </p:spPr>
      </p:sp>
      <p:sp>
        <p:nvSpPr>
          <p:cNvPr id="169" name="Text 167"/>
          <p:cNvSpPr txBox="1"/>
          <p:nvPr/>
        </p:nvSpPr>
        <p:spPr>
          <a:xfrm>
            <a:off x="8970264" y="5179807"/>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$102,351</a:t>
            </a:r>
            <a:endParaRPr lang="en-US" sz="1300" dirty="0"/>
          </a:p>
        </p:txBody>
      </p:sp>
      <p:sp>
        <p:nvSpPr>
          <p:cNvPr id="170" name="Text 168"/>
          <p:cNvSpPr txBox="1"/>
          <p:nvPr/>
        </p:nvSpPr>
        <p:spPr>
          <a:xfrm>
            <a:off x="99212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171" name="Text 169"/>
          <p:cNvSpPr txBox="1"/>
          <p:nvPr/>
        </p:nvSpPr>
        <p:spPr>
          <a:xfrm>
            <a:off x="1067104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$12,212</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73" name="Shape 171"/>
          <p:cNvSpPr/>
          <p:nvPr/>
        </p:nvSpPr>
        <p:spPr>
          <a:xfrm>
            <a:off x="8220456" y="5484222"/>
            <a:ext cx="29775" cy="136676"/>
          </a:xfrm>
          <a:prstGeom prst="rect">
            <a:avLst/>
          </a:prstGeom>
          <a:solidFill>
            <a:srgbClr val="2587C5"/>
          </a:solidFill>
          <a:ln/>
        </p:spPr>
      </p:sp>
      <p:sp>
        <p:nvSpPr>
          <p:cNvPr id="174" name="Text 172"/>
          <p:cNvSpPr txBox="1"/>
          <p:nvPr/>
        </p:nvSpPr>
        <p:spPr>
          <a:xfrm>
            <a:off x="8970264" y="5428309"/>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$64,535</a:t>
            </a:r>
            <a:endParaRPr lang="en-US" sz="1300" dirty="0"/>
          </a:p>
        </p:txBody>
      </p:sp>
      <p:sp>
        <p:nvSpPr>
          <p:cNvPr id="175" name="Text 173"/>
          <p:cNvSpPr txBox="1"/>
          <p:nvPr/>
        </p:nvSpPr>
        <p:spPr>
          <a:xfrm>
            <a:off x="99212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176" name="Text 174"/>
          <p:cNvSpPr txBox="1"/>
          <p:nvPr/>
        </p:nvSpPr>
        <p:spPr>
          <a:xfrm>
            <a:off x="1067104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$10,372</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 more gross from the people already on staff is worth $12,586,648 a year. For the average employee that is $681 more a month, about $27 a working day.</a:t>
            </a:r>
            <a:endParaRPr lang="en-US" sz="1600" dirty="0"/>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123, non-luxury 176. Green at or above it.</a:t>
            </a:r>
            <a:endParaRPr lang="en-US" sz="1400" dirty="0"/>
          </a:p>
        </p:txBody>
      </p:sp>
      <p:sp>
        <p:nvSpPr>
          <p:cNvPr id="12" name="Text 10"/>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 name="Shape 12"/>
          <p:cNvSpPr/>
          <p:nvPr/>
        </p:nvSpPr>
        <p:spPr>
          <a:xfrm>
            <a:off x="3008376" y="2231405"/>
            <a:ext cx="1691640" cy="110266"/>
          </a:xfrm>
          <a:prstGeom prst="rect">
            <a:avLst/>
          </a:prstGeom>
          <a:solidFill>
            <a:srgbClr val="12A566"/>
          </a:solidFill>
          <a:ln/>
        </p:spPr>
      </p:sp>
      <p:sp>
        <p:nvSpPr>
          <p:cNvPr id="15" name="Shape 13"/>
          <p:cNvSpPr/>
          <p:nvPr/>
        </p:nvSpPr>
        <p:spPr>
          <a:xfrm>
            <a:off x="4174662" y="2198325"/>
            <a:ext cx="21946" cy="176425"/>
          </a:xfrm>
          <a:prstGeom prst="rect">
            <a:avLst/>
          </a:prstGeom>
          <a:solidFill>
            <a:srgbClr val="0B2C4A"/>
          </a:solidFill>
          <a:ln/>
        </p:spPr>
      </p:sp>
      <p:sp>
        <p:nvSpPr>
          <p:cNvPr id="16" name="Text 14"/>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17" name="Text 15"/>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9" name="Shape 17"/>
          <p:cNvSpPr/>
          <p:nvPr/>
        </p:nvSpPr>
        <p:spPr>
          <a:xfrm>
            <a:off x="3008376" y="2451937"/>
            <a:ext cx="1628753" cy="110266"/>
          </a:xfrm>
          <a:prstGeom prst="rect">
            <a:avLst/>
          </a:prstGeom>
          <a:solidFill>
            <a:srgbClr val="12A566"/>
          </a:solidFill>
          <a:ln/>
        </p:spPr>
      </p:sp>
      <p:sp>
        <p:nvSpPr>
          <p:cNvPr id="20" name="Shape 18"/>
          <p:cNvSpPr/>
          <p:nvPr/>
        </p:nvSpPr>
        <p:spPr>
          <a:xfrm>
            <a:off x="4174662" y="2418857"/>
            <a:ext cx="21946" cy="176425"/>
          </a:xfrm>
          <a:prstGeom prst="rect">
            <a:avLst/>
          </a:prstGeom>
          <a:solidFill>
            <a:srgbClr val="0B2C4A"/>
          </a:solidFill>
          <a:ln/>
        </p:spPr>
      </p:sp>
      <p:sp>
        <p:nvSpPr>
          <p:cNvPr id="21" name="Text 19"/>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22" name="Text 20"/>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4" name="Shape 22"/>
          <p:cNvSpPr/>
          <p:nvPr/>
        </p:nvSpPr>
        <p:spPr>
          <a:xfrm>
            <a:off x="3008376" y="2672468"/>
            <a:ext cx="1545728" cy="110266"/>
          </a:xfrm>
          <a:prstGeom prst="rect">
            <a:avLst/>
          </a:prstGeom>
          <a:solidFill>
            <a:srgbClr val="12A566"/>
          </a:solidFill>
          <a:ln/>
        </p:spPr>
      </p:sp>
      <p:sp>
        <p:nvSpPr>
          <p:cNvPr id="25" name="Shape 23"/>
          <p:cNvSpPr/>
          <p:nvPr/>
        </p:nvSpPr>
        <p:spPr>
          <a:xfrm>
            <a:off x="4174662" y="2639389"/>
            <a:ext cx="21946" cy="176425"/>
          </a:xfrm>
          <a:prstGeom prst="rect">
            <a:avLst/>
          </a:prstGeom>
          <a:solidFill>
            <a:srgbClr val="0B2C4A"/>
          </a:solidFill>
          <a:ln/>
        </p:spPr>
      </p:sp>
      <p:sp>
        <p:nvSpPr>
          <p:cNvPr id="26" name="Text 24"/>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27" name="Text 25"/>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93000"/>
            <a:ext cx="1511815" cy="110266"/>
          </a:xfrm>
          <a:prstGeom prst="rect">
            <a:avLst/>
          </a:prstGeom>
          <a:solidFill>
            <a:srgbClr val="12A566"/>
          </a:solidFill>
          <a:ln/>
        </p:spPr>
      </p:sp>
      <p:sp>
        <p:nvSpPr>
          <p:cNvPr id="30" name="Shape 28"/>
          <p:cNvSpPr/>
          <p:nvPr/>
        </p:nvSpPr>
        <p:spPr>
          <a:xfrm>
            <a:off x="4174662" y="2859920"/>
            <a:ext cx="21946" cy="176425"/>
          </a:xfrm>
          <a:prstGeom prst="rect">
            <a:avLst/>
          </a:prstGeom>
          <a:solidFill>
            <a:srgbClr val="0B2C4A"/>
          </a:solidFill>
          <a:ln/>
        </p:spPr>
      </p:sp>
      <p:sp>
        <p:nvSpPr>
          <p:cNvPr id="31" name="Text 29"/>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2" name="Text 30"/>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4" name="Shape 32"/>
          <p:cNvSpPr/>
          <p:nvPr/>
        </p:nvSpPr>
        <p:spPr>
          <a:xfrm>
            <a:off x="3008376" y="3113532"/>
            <a:ext cx="1509744" cy="110266"/>
          </a:xfrm>
          <a:prstGeom prst="rect">
            <a:avLst/>
          </a:prstGeom>
          <a:solidFill>
            <a:srgbClr val="12A566"/>
          </a:solidFill>
          <a:ln/>
        </p:spPr>
      </p:sp>
      <p:sp>
        <p:nvSpPr>
          <p:cNvPr id="35" name="Shape 33"/>
          <p:cNvSpPr/>
          <p:nvPr/>
        </p:nvSpPr>
        <p:spPr>
          <a:xfrm>
            <a:off x="4174662" y="3080452"/>
            <a:ext cx="21946" cy="176425"/>
          </a:xfrm>
          <a:prstGeom prst="rect">
            <a:avLst/>
          </a:prstGeom>
          <a:solidFill>
            <a:srgbClr val="0B2C4A"/>
          </a:solidFill>
          <a:ln/>
        </p:spPr>
      </p:sp>
      <p:sp>
        <p:nvSpPr>
          <p:cNvPr id="36" name="Text 34"/>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7" name="Text 35"/>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9" name="Shape 37"/>
          <p:cNvSpPr/>
          <p:nvPr/>
        </p:nvSpPr>
        <p:spPr>
          <a:xfrm>
            <a:off x="3008376" y="3334064"/>
            <a:ext cx="1500980" cy="110266"/>
          </a:xfrm>
          <a:prstGeom prst="rect">
            <a:avLst/>
          </a:prstGeom>
          <a:solidFill>
            <a:srgbClr val="12A566"/>
          </a:solidFill>
          <a:ln/>
        </p:spPr>
      </p:sp>
      <p:sp>
        <p:nvSpPr>
          <p:cNvPr id="40" name="Shape 38"/>
          <p:cNvSpPr/>
          <p:nvPr/>
        </p:nvSpPr>
        <p:spPr>
          <a:xfrm>
            <a:off x="4174662" y="3300984"/>
            <a:ext cx="21946" cy="176425"/>
          </a:xfrm>
          <a:prstGeom prst="rect">
            <a:avLst/>
          </a:prstGeom>
          <a:solidFill>
            <a:srgbClr val="0B2C4A"/>
          </a:solidFill>
          <a:ln/>
        </p:spPr>
      </p:sp>
      <p:sp>
        <p:nvSpPr>
          <p:cNvPr id="41" name="Text 39"/>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42" name="Text 40"/>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4" name="Shape 42"/>
          <p:cNvSpPr/>
          <p:nvPr/>
        </p:nvSpPr>
        <p:spPr>
          <a:xfrm>
            <a:off x="3008376" y="3554596"/>
            <a:ext cx="1310201" cy="110266"/>
          </a:xfrm>
          <a:prstGeom prst="rect">
            <a:avLst/>
          </a:prstGeom>
          <a:solidFill>
            <a:srgbClr val="12A566"/>
          </a:solidFill>
          <a:ln/>
        </p:spPr>
      </p:sp>
      <p:sp>
        <p:nvSpPr>
          <p:cNvPr id="45" name="Shape 43"/>
          <p:cNvSpPr/>
          <p:nvPr/>
        </p:nvSpPr>
        <p:spPr>
          <a:xfrm>
            <a:off x="4174662" y="3521516"/>
            <a:ext cx="21946" cy="176425"/>
          </a:xfrm>
          <a:prstGeom prst="rect">
            <a:avLst/>
          </a:prstGeom>
          <a:solidFill>
            <a:srgbClr val="0B2C4A"/>
          </a:solidFill>
          <a:ln/>
        </p:spPr>
      </p:sp>
      <p:sp>
        <p:nvSpPr>
          <p:cNvPr id="46" name="Text 44"/>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47" name="Shape 45"/>
          <p:cNvSpPr/>
          <p:nvPr/>
        </p:nvSpPr>
        <p:spPr>
          <a:xfrm>
            <a:off x="603504" y="3719994"/>
            <a:ext cx="5358384" cy="220532"/>
          </a:xfrm>
          <a:prstGeom prst="rect">
            <a:avLst/>
          </a:prstGeom>
          <a:solidFill>
            <a:srgbClr val="EDF4FA"/>
          </a:solidFill>
          <a:ln/>
        </p:spPr>
      </p:sp>
      <p:sp>
        <p:nvSpPr>
          <p:cNvPr id="48" name="Text 46"/>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9" name="Text 47"/>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50" name="Shape 48"/>
          <p:cNvSpPr/>
          <p:nvPr/>
        </p:nvSpPr>
        <p:spPr>
          <a:xfrm>
            <a:off x="3008376" y="3775127"/>
            <a:ext cx="1298721" cy="110266"/>
          </a:xfrm>
          <a:prstGeom prst="rect">
            <a:avLst/>
          </a:prstGeom>
          <a:solidFill>
            <a:srgbClr val="12A566"/>
          </a:solidFill>
          <a:ln/>
        </p:spPr>
      </p:sp>
      <p:sp>
        <p:nvSpPr>
          <p:cNvPr id="51" name="Shape 49"/>
          <p:cNvSpPr/>
          <p:nvPr/>
        </p:nvSpPr>
        <p:spPr>
          <a:xfrm>
            <a:off x="3816623" y="3742048"/>
            <a:ext cx="21946" cy="176425"/>
          </a:xfrm>
          <a:prstGeom prst="rect">
            <a:avLst/>
          </a:prstGeom>
          <a:solidFill>
            <a:srgbClr val="0B2C4A"/>
          </a:solidFill>
          <a:ln/>
        </p:spPr>
      </p:sp>
      <p:sp>
        <p:nvSpPr>
          <p:cNvPr id="52" name="Text 50"/>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53" name="Shape 51"/>
          <p:cNvSpPr/>
          <p:nvPr/>
        </p:nvSpPr>
        <p:spPr>
          <a:xfrm>
            <a:off x="603504" y="3940526"/>
            <a:ext cx="5358384" cy="220532"/>
          </a:xfrm>
          <a:prstGeom prst="rect">
            <a:avLst/>
          </a:prstGeom>
          <a:solidFill>
            <a:srgbClr val="EDF4FA"/>
          </a:solidFill>
          <a:ln/>
        </p:spPr>
      </p:sp>
      <p:sp>
        <p:nvSpPr>
          <p:cNvPr id="54" name="Text 52"/>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5" name="Text 53"/>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3008376" y="3995659"/>
            <a:ext cx="1281391" cy="110266"/>
          </a:xfrm>
          <a:prstGeom prst="rect">
            <a:avLst/>
          </a:prstGeom>
          <a:solidFill>
            <a:srgbClr val="12A566"/>
          </a:solidFill>
          <a:ln/>
        </p:spPr>
      </p:sp>
      <p:sp>
        <p:nvSpPr>
          <p:cNvPr id="57" name="Shape 55"/>
          <p:cNvSpPr/>
          <p:nvPr/>
        </p:nvSpPr>
        <p:spPr>
          <a:xfrm>
            <a:off x="3816623" y="3962579"/>
            <a:ext cx="21946" cy="176425"/>
          </a:xfrm>
          <a:prstGeom prst="rect">
            <a:avLst/>
          </a:prstGeom>
          <a:solidFill>
            <a:srgbClr val="0B2C4A"/>
          </a:solidFill>
          <a:ln/>
        </p:spPr>
      </p:sp>
      <p:sp>
        <p:nvSpPr>
          <p:cNvPr id="58" name="Text 56"/>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59" name="Text 57"/>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0" name="Text 58"/>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216191"/>
            <a:ext cx="1276424" cy="110266"/>
          </a:xfrm>
          <a:prstGeom prst="rect">
            <a:avLst/>
          </a:prstGeom>
          <a:solidFill>
            <a:srgbClr val="12A566"/>
          </a:solidFill>
          <a:ln/>
        </p:spPr>
      </p:sp>
      <p:sp>
        <p:nvSpPr>
          <p:cNvPr id="62" name="Shape 60"/>
          <p:cNvSpPr/>
          <p:nvPr/>
        </p:nvSpPr>
        <p:spPr>
          <a:xfrm>
            <a:off x="4174662" y="4183111"/>
            <a:ext cx="21946" cy="176425"/>
          </a:xfrm>
          <a:prstGeom prst="rect">
            <a:avLst/>
          </a:prstGeom>
          <a:solidFill>
            <a:srgbClr val="0B2C4A"/>
          </a:solidFill>
          <a:ln/>
        </p:spPr>
      </p:sp>
      <p:sp>
        <p:nvSpPr>
          <p:cNvPr id="63" name="Text 61"/>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64" name="Text 62"/>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5" name="Text 63"/>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6" name="Shape 64"/>
          <p:cNvSpPr/>
          <p:nvPr/>
        </p:nvSpPr>
        <p:spPr>
          <a:xfrm>
            <a:off x="3008376" y="4436723"/>
            <a:ext cx="1233001" cy="110266"/>
          </a:xfrm>
          <a:prstGeom prst="rect">
            <a:avLst/>
          </a:prstGeom>
          <a:solidFill>
            <a:srgbClr val="12A566"/>
          </a:solidFill>
          <a:ln/>
        </p:spPr>
      </p:sp>
      <p:sp>
        <p:nvSpPr>
          <p:cNvPr id="67" name="Shape 65"/>
          <p:cNvSpPr/>
          <p:nvPr/>
        </p:nvSpPr>
        <p:spPr>
          <a:xfrm>
            <a:off x="4174662" y="4403643"/>
            <a:ext cx="21946" cy="176425"/>
          </a:xfrm>
          <a:prstGeom prst="rect">
            <a:avLst/>
          </a:prstGeom>
          <a:solidFill>
            <a:srgbClr val="0B2C4A"/>
          </a:solidFill>
          <a:ln/>
        </p:spPr>
      </p:sp>
      <p:sp>
        <p:nvSpPr>
          <p:cNvPr id="68" name="Text 66"/>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69" name="Text 67"/>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0" name="Text 68"/>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1" name="Shape 69"/>
          <p:cNvSpPr/>
          <p:nvPr/>
        </p:nvSpPr>
        <p:spPr>
          <a:xfrm>
            <a:off x="3008376" y="4657254"/>
            <a:ext cx="1207673" cy="110266"/>
          </a:xfrm>
          <a:prstGeom prst="rect">
            <a:avLst/>
          </a:prstGeom>
          <a:solidFill>
            <a:srgbClr val="12A566"/>
          </a:solidFill>
          <a:ln/>
        </p:spPr>
      </p:sp>
      <p:sp>
        <p:nvSpPr>
          <p:cNvPr id="72" name="Shape 70"/>
          <p:cNvSpPr/>
          <p:nvPr/>
        </p:nvSpPr>
        <p:spPr>
          <a:xfrm>
            <a:off x="4174662" y="4624175"/>
            <a:ext cx="21946" cy="176425"/>
          </a:xfrm>
          <a:prstGeom prst="rect">
            <a:avLst/>
          </a:prstGeom>
          <a:solidFill>
            <a:srgbClr val="0B2C4A"/>
          </a:solidFill>
          <a:ln/>
        </p:spPr>
      </p:sp>
      <p:sp>
        <p:nvSpPr>
          <p:cNvPr id="73" name="Text 71"/>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74" name="Text 72"/>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5" name="Text 73"/>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6" name="Shape 74"/>
          <p:cNvSpPr/>
          <p:nvPr/>
        </p:nvSpPr>
        <p:spPr>
          <a:xfrm>
            <a:off x="3008376" y="4877786"/>
            <a:ext cx="1204116" cy="110266"/>
          </a:xfrm>
          <a:prstGeom prst="rect">
            <a:avLst/>
          </a:prstGeom>
          <a:solidFill>
            <a:srgbClr val="12A566"/>
          </a:solidFill>
          <a:ln/>
        </p:spPr>
      </p:sp>
      <p:sp>
        <p:nvSpPr>
          <p:cNvPr id="77" name="Shape 75"/>
          <p:cNvSpPr/>
          <p:nvPr/>
        </p:nvSpPr>
        <p:spPr>
          <a:xfrm>
            <a:off x="4174662" y="4844706"/>
            <a:ext cx="21946" cy="176425"/>
          </a:xfrm>
          <a:prstGeom prst="rect">
            <a:avLst/>
          </a:prstGeom>
          <a:solidFill>
            <a:srgbClr val="0B2C4A"/>
          </a:solidFill>
          <a:ln/>
        </p:spPr>
      </p:sp>
      <p:sp>
        <p:nvSpPr>
          <p:cNvPr id="78" name="Text 76"/>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79" name="Text 77"/>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0" name="Text 78"/>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1" name="Shape 79"/>
          <p:cNvSpPr/>
          <p:nvPr/>
        </p:nvSpPr>
        <p:spPr>
          <a:xfrm>
            <a:off x="3008376" y="5098318"/>
            <a:ext cx="1189792" cy="110266"/>
          </a:xfrm>
          <a:prstGeom prst="rect">
            <a:avLst/>
          </a:prstGeom>
          <a:solidFill>
            <a:srgbClr val="12A566"/>
          </a:solidFill>
          <a:ln/>
        </p:spPr>
      </p:sp>
      <p:sp>
        <p:nvSpPr>
          <p:cNvPr id="82" name="Shape 80"/>
          <p:cNvSpPr/>
          <p:nvPr/>
        </p:nvSpPr>
        <p:spPr>
          <a:xfrm>
            <a:off x="4174662" y="5065238"/>
            <a:ext cx="21946" cy="176425"/>
          </a:xfrm>
          <a:prstGeom prst="rect">
            <a:avLst/>
          </a:prstGeom>
          <a:solidFill>
            <a:srgbClr val="0B2C4A"/>
          </a:solidFill>
          <a:ln/>
        </p:spPr>
      </p:sp>
      <p:sp>
        <p:nvSpPr>
          <p:cNvPr id="83" name="Text 81"/>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84" name="Text 82"/>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5" name="Text 83"/>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6" name="Shape 84"/>
          <p:cNvSpPr/>
          <p:nvPr/>
        </p:nvSpPr>
        <p:spPr>
          <a:xfrm>
            <a:off x="3008376" y="5318850"/>
            <a:ext cx="1172604" cy="110266"/>
          </a:xfrm>
          <a:prstGeom prst="rect">
            <a:avLst/>
          </a:prstGeom>
          <a:solidFill>
            <a:srgbClr val="C2352F"/>
          </a:solidFill>
          <a:ln/>
        </p:spPr>
      </p:sp>
      <p:sp>
        <p:nvSpPr>
          <p:cNvPr id="87" name="Shape 85"/>
          <p:cNvSpPr/>
          <p:nvPr/>
        </p:nvSpPr>
        <p:spPr>
          <a:xfrm>
            <a:off x="4174662" y="5285770"/>
            <a:ext cx="21946" cy="176425"/>
          </a:xfrm>
          <a:prstGeom prst="rect">
            <a:avLst/>
          </a:prstGeom>
          <a:solidFill>
            <a:srgbClr val="0B2C4A"/>
          </a:solidFill>
          <a:ln/>
        </p:spPr>
      </p:sp>
      <p:sp>
        <p:nvSpPr>
          <p:cNvPr id="88" name="Text 86"/>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89" name="Text 87"/>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0" name="Text 88"/>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1" name="Shape 89"/>
          <p:cNvSpPr/>
          <p:nvPr/>
        </p:nvSpPr>
        <p:spPr>
          <a:xfrm>
            <a:off x="3008376" y="5539381"/>
            <a:ext cx="1149687" cy="110266"/>
          </a:xfrm>
          <a:prstGeom prst="rect">
            <a:avLst/>
          </a:prstGeom>
          <a:solidFill>
            <a:srgbClr val="C2352F"/>
          </a:solidFill>
          <a:ln/>
        </p:spPr>
      </p:sp>
      <p:sp>
        <p:nvSpPr>
          <p:cNvPr id="92" name="Shape 90"/>
          <p:cNvSpPr/>
          <p:nvPr/>
        </p:nvSpPr>
        <p:spPr>
          <a:xfrm>
            <a:off x="4174662" y="5506302"/>
            <a:ext cx="21946" cy="176425"/>
          </a:xfrm>
          <a:prstGeom prst="rect">
            <a:avLst/>
          </a:prstGeom>
          <a:solidFill>
            <a:srgbClr val="0B2C4A"/>
          </a:solidFill>
          <a:ln/>
        </p:spPr>
      </p:sp>
      <p:sp>
        <p:nvSpPr>
          <p:cNvPr id="93" name="Text 91"/>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94" name="Text 92"/>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5" name="Text 93"/>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6" name="Shape 94"/>
          <p:cNvSpPr/>
          <p:nvPr/>
        </p:nvSpPr>
        <p:spPr>
          <a:xfrm>
            <a:off x="3008376" y="5759913"/>
            <a:ext cx="1104796" cy="110266"/>
          </a:xfrm>
          <a:prstGeom prst="rect">
            <a:avLst/>
          </a:prstGeom>
          <a:solidFill>
            <a:srgbClr val="C2352F"/>
          </a:solidFill>
          <a:ln/>
        </p:spPr>
      </p:sp>
      <p:sp>
        <p:nvSpPr>
          <p:cNvPr id="97" name="Shape 95"/>
          <p:cNvSpPr/>
          <p:nvPr/>
        </p:nvSpPr>
        <p:spPr>
          <a:xfrm>
            <a:off x="4174662" y="5726833"/>
            <a:ext cx="21946" cy="176425"/>
          </a:xfrm>
          <a:prstGeom prst="rect">
            <a:avLst/>
          </a:prstGeom>
          <a:solidFill>
            <a:srgbClr val="0B2C4A"/>
          </a:solidFill>
          <a:ln/>
        </p:spPr>
      </p:sp>
      <p:sp>
        <p:nvSpPr>
          <p:cNvPr id="98" name="Text 96"/>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99" name="Shape 97"/>
          <p:cNvSpPr/>
          <p:nvPr/>
        </p:nvSpPr>
        <p:spPr>
          <a:xfrm>
            <a:off x="6153912" y="2176272"/>
            <a:ext cx="5358384" cy="220532"/>
          </a:xfrm>
          <a:prstGeom prst="rect">
            <a:avLst/>
          </a:prstGeom>
          <a:solidFill>
            <a:srgbClr val="EDF4FA"/>
          </a:solidFill>
          <a:ln/>
        </p:spPr>
      </p:sp>
      <p:sp>
        <p:nvSpPr>
          <p:cNvPr id="100" name="Text 98"/>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102" name="Shape 100"/>
          <p:cNvSpPr/>
          <p:nvPr/>
        </p:nvSpPr>
        <p:spPr>
          <a:xfrm>
            <a:off x="8558784" y="2231405"/>
            <a:ext cx="1075418" cy="110266"/>
          </a:xfrm>
          <a:prstGeom prst="rect">
            <a:avLst/>
          </a:prstGeom>
          <a:solidFill>
            <a:srgbClr val="12A566"/>
          </a:solidFill>
          <a:ln/>
        </p:spPr>
      </p:sp>
      <p:sp>
        <p:nvSpPr>
          <p:cNvPr id="103" name="Shape 101"/>
          <p:cNvSpPr/>
          <p:nvPr/>
        </p:nvSpPr>
        <p:spPr>
          <a:xfrm>
            <a:off x="9367031" y="2198325"/>
            <a:ext cx="21946" cy="176425"/>
          </a:xfrm>
          <a:prstGeom prst="rect">
            <a:avLst/>
          </a:prstGeom>
          <a:solidFill>
            <a:srgbClr val="0B2C4A"/>
          </a:solidFill>
          <a:ln/>
        </p:spPr>
      </p:sp>
      <p:sp>
        <p:nvSpPr>
          <p:cNvPr id="104" name="Text 102"/>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105" name="Text 103"/>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7" name="Shape 105"/>
          <p:cNvSpPr/>
          <p:nvPr/>
        </p:nvSpPr>
        <p:spPr>
          <a:xfrm>
            <a:off x="8558784" y="2451937"/>
            <a:ext cx="1062235" cy="110266"/>
          </a:xfrm>
          <a:prstGeom prst="rect">
            <a:avLst/>
          </a:prstGeom>
          <a:solidFill>
            <a:srgbClr val="C2352F"/>
          </a:solidFill>
          <a:ln/>
        </p:spPr>
      </p:sp>
      <p:sp>
        <p:nvSpPr>
          <p:cNvPr id="108" name="Shape 106"/>
          <p:cNvSpPr/>
          <p:nvPr/>
        </p:nvSpPr>
        <p:spPr>
          <a:xfrm>
            <a:off x="9725070" y="2418857"/>
            <a:ext cx="21946" cy="176425"/>
          </a:xfrm>
          <a:prstGeom prst="rect">
            <a:avLst/>
          </a:prstGeom>
          <a:solidFill>
            <a:srgbClr val="0B2C4A"/>
          </a:solidFill>
          <a:ln/>
        </p:spPr>
      </p:sp>
      <p:sp>
        <p:nvSpPr>
          <p:cNvPr id="109" name="Text 107"/>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0" name="Text 108"/>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2" name="Shape 110"/>
          <p:cNvSpPr/>
          <p:nvPr/>
        </p:nvSpPr>
        <p:spPr>
          <a:xfrm>
            <a:off x="8558784" y="2672468"/>
            <a:ext cx="1026400" cy="110266"/>
          </a:xfrm>
          <a:prstGeom prst="rect">
            <a:avLst/>
          </a:prstGeom>
          <a:solidFill>
            <a:srgbClr val="C2352F"/>
          </a:solidFill>
          <a:ln/>
        </p:spPr>
      </p:sp>
      <p:sp>
        <p:nvSpPr>
          <p:cNvPr id="113" name="Shape 111"/>
          <p:cNvSpPr/>
          <p:nvPr/>
        </p:nvSpPr>
        <p:spPr>
          <a:xfrm>
            <a:off x="9725070" y="2639389"/>
            <a:ext cx="21946" cy="176425"/>
          </a:xfrm>
          <a:prstGeom prst="rect">
            <a:avLst/>
          </a:prstGeom>
          <a:solidFill>
            <a:srgbClr val="0B2C4A"/>
          </a:solidFill>
          <a:ln/>
        </p:spPr>
      </p:sp>
      <p:sp>
        <p:nvSpPr>
          <p:cNvPr id="114" name="Text 112"/>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15" name="Text 113"/>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7" name="Shape 115"/>
          <p:cNvSpPr/>
          <p:nvPr/>
        </p:nvSpPr>
        <p:spPr>
          <a:xfrm>
            <a:off x="8558784" y="2893000"/>
            <a:ext cx="955276" cy="110266"/>
          </a:xfrm>
          <a:prstGeom prst="rect">
            <a:avLst/>
          </a:prstGeom>
          <a:solidFill>
            <a:srgbClr val="C2352F"/>
          </a:solidFill>
          <a:ln/>
        </p:spPr>
      </p:sp>
      <p:sp>
        <p:nvSpPr>
          <p:cNvPr id="118" name="Shape 116"/>
          <p:cNvSpPr/>
          <p:nvPr/>
        </p:nvSpPr>
        <p:spPr>
          <a:xfrm>
            <a:off x="9725070" y="2859920"/>
            <a:ext cx="21946" cy="176425"/>
          </a:xfrm>
          <a:prstGeom prst="rect">
            <a:avLst/>
          </a:prstGeom>
          <a:solidFill>
            <a:srgbClr val="0B2C4A"/>
          </a:solidFill>
          <a:ln/>
        </p:spPr>
      </p:sp>
      <p:sp>
        <p:nvSpPr>
          <p:cNvPr id="119" name="Text 117"/>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0" name="Text 118"/>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2" name="Shape 120"/>
          <p:cNvSpPr/>
          <p:nvPr/>
        </p:nvSpPr>
        <p:spPr>
          <a:xfrm>
            <a:off x="8558784" y="3113532"/>
            <a:ext cx="926373" cy="110266"/>
          </a:xfrm>
          <a:prstGeom prst="rect">
            <a:avLst/>
          </a:prstGeom>
          <a:solidFill>
            <a:srgbClr val="C2352F"/>
          </a:solidFill>
          <a:ln/>
        </p:spPr>
      </p:sp>
      <p:sp>
        <p:nvSpPr>
          <p:cNvPr id="123" name="Shape 121"/>
          <p:cNvSpPr/>
          <p:nvPr/>
        </p:nvSpPr>
        <p:spPr>
          <a:xfrm>
            <a:off x="9725070" y="3080452"/>
            <a:ext cx="21946" cy="176425"/>
          </a:xfrm>
          <a:prstGeom prst="rect">
            <a:avLst/>
          </a:prstGeom>
          <a:solidFill>
            <a:srgbClr val="0B2C4A"/>
          </a:solidFill>
          <a:ln/>
        </p:spPr>
      </p:sp>
      <p:sp>
        <p:nvSpPr>
          <p:cNvPr id="124" name="Text 122"/>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25" name="Shape 123"/>
          <p:cNvSpPr/>
          <p:nvPr/>
        </p:nvSpPr>
        <p:spPr>
          <a:xfrm>
            <a:off x="6153912" y="3278931"/>
            <a:ext cx="5358384" cy="220532"/>
          </a:xfrm>
          <a:prstGeom prst="rect">
            <a:avLst/>
          </a:prstGeom>
          <a:solidFill>
            <a:srgbClr val="EDF4FA"/>
          </a:solidFill>
          <a:ln/>
        </p:spPr>
      </p:sp>
      <p:sp>
        <p:nvSpPr>
          <p:cNvPr id="126" name="Text 124"/>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7" name="Text 125"/>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558784" y="3334064"/>
            <a:ext cx="889893" cy="110266"/>
          </a:xfrm>
          <a:prstGeom prst="rect">
            <a:avLst/>
          </a:prstGeom>
          <a:solidFill>
            <a:srgbClr val="12A566"/>
          </a:solidFill>
          <a:ln/>
        </p:spPr>
      </p:sp>
      <p:sp>
        <p:nvSpPr>
          <p:cNvPr id="129" name="Shape 127"/>
          <p:cNvSpPr/>
          <p:nvPr/>
        </p:nvSpPr>
        <p:spPr>
          <a:xfrm>
            <a:off x="9367031" y="3300984"/>
            <a:ext cx="21946" cy="176425"/>
          </a:xfrm>
          <a:prstGeom prst="rect">
            <a:avLst/>
          </a:prstGeom>
          <a:solidFill>
            <a:srgbClr val="0B2C4A"/>
          </a:solidFill>
          <a:ln/>
        </p:spPr>
      </p:sp>
      <p:sp>
        <p:nvSpPr>
          <p:cNvPr id="130" name="Text 128"/>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131" name="Text 129"/>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2" name="Text 130"/>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3" name="Shape 131"/>
          <p:cNvSpPr/>
          <p:nvPr/>
        </p:nvSpPr>
        <p:spPr>
          <a:xfrm>
            <a:off x="8558784" y="3554596"/>
            <a:ext cx="854724" cy="110266"/>
          </a:xfrm>
          <a:prstGeom prst="rect">
            <a:avLst/>
          </a:prstGeom>
          <a:solidFill>
            <a:srgbClr val="C2352F"/>
          </a:solidFill>
          <a:ln/>
        </p:spPr>
      </p:sp>
      <p:sp>
        <p:nvSpPr>
          <p:cNvPr id="134" name="Shape 132"/>
          <p:cNvSpPr/>
          <p:nvPr/>
        </p:nvSpPr>
        <p:spPr>
          <a:xfrm>
            <a:off x="9725070" y="3521516"/>
            <a:ext cx="21946" cy="176425"/>
          </a:xfrm>
          <a:prstGeom prst="rect">
            <a:avLst/>
          </a:prstGeom>
          <a:solidFill>
            <a:srgbClr val="0B2C4A"/>
          </a:solidFill>
          <a:ln/>
        </p:spPr>
      </p:sp>
      <p:sp>
        <p:nvSpPr>
          <p:cNvPr id="135" name="Text 133"/>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6" name="Shape 134"/>
          <p:cNvSpPr/>
          <p:nvPr/>
        </p:nvSpPr>
        <p:spPr>
          <a:xfrm>
            <a:off x="6153912" y="3719994"/>
            <a:ext cx="5358384" cy="220532"/>
          </a:xfrm>
          <a:prstGeom prst="rect">
            <a:avLst/>
          </a:prstGeom>
          <a:solidFill>
            <a:srgbClr val="EDF4FA"/>
          </a:solidFill>
          <a:ln/>
        </p:spPr>
      </p:sp>
      <p:sp>
        <p:nvSpPr>
          <p:cNvPr id="137" name="Text 135"/>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8" name="Text 136"/>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139" name="Shape 137"/>
          <p:cNvSpPr/>
          <p:nvPr/>
        </p:nvSpPr>
        <p:spPr>
          <a:xfrm>
            <a:off x="8558784" y="3775127"/>
            <a:ext cx="831951" cy="110266"/>
          </a:xfrm>
          <a:prstGeom prst="rect">
            <a:avLst/>
          </a:prstGeom>
          <a:solidFill>
            <a:srgbClr val="12A566"/>
          </a:solidFill>
          <a:ln/>
        </p:spPr>
      </p:sp>
      <p:sp>
        <p:nvSpPr>
          <p:cNvPr id="140" name="Shape 138"/>
          <p:cNvSpPr/>
          <p:nvPr/>
        </p:nvSpPr>
        <p:spPr>
          <a:xfrm>
            <a:off x="9367031" y="3742048"/>
            <a:ext cx="21946" cy="176425"/>
          </a:xfrm>
          <a:prstGeom prst="rect">
            <a:avLst/>
          </a:prstGeom>
          <a:solidFill>
            <a:srgbClr val="0B2C4A"/>
          </a:solidFill>
          <a:ln/>
        </p:spPr>
      </p:sp>
      <p:sp>
        <p:nvSpPr>
          <p:cNvPr id="141" name="Text 139"/>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142" name="Text 140"/>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3" name="Text 141"/>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4" name="Shape 142"/>
          <p:cNvSpPr/>
          <p:nvPr/>
        </p:nvSpPr>
        <p:spPr>
          <a:xfrm>
            <a:off x="8558784" y="3995659"/>
            <a:ext cx="821205" cy="110266"/>
          </a:xfrm>
          <a:prstGeom prst="rect">
            <a:avLst/>
          </a:prstGeom>
          <a:solidFill>
            <a:srgbClr val="C2352F"/>
          </a:solidFill>
          <a:ln/>
        </p:spPr>
      </p:sp>
      <p:sp>
        <p:nvSpPr>
          <p:cNvPr id="145" name="Shape 143"/>
          <p:cNvSpPr/>
          <p:nvPr/>
        </p:nvSpPr>
        <p:spPr>
          <a:xfrm>
            <a:off x="9725070" y="3962579"/>
            <a:ext cx="21946" cy="176425"/>
          </a:xfrm>
          <a:prstGeom prst="rect">
            <a:avLst/>
          </a:prstGeom>
          <a:solidFill>
            <a:srgbClr val="0B2C4A"/>
          </a:solidFill>
          <a:ln/>
        </p:spPr>
      </p:sp>
      <p:sp>
        <p:nvSpPr>
          <p:cNvPr id="146" name="Text 144"/>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47" name="Text 145"/>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8" name="Text 146"/>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9" name="Shape 147"/>
          <p:cNvSpPr/>
          <p:nvPr/>
        </p:nvSpPr>
        <p:spPr>
          <a:xfrm>
            <a:off x="8558784" y="4216191"/>
            <a:ext cx="798956" cy="110266"/>
          </a:xfrm>
          <a:prstGeom prst="rect">
            <a:avLst/>
          </a:prstGeom>
          <a:solidFill>
            <a:srgbClr val="C2352F"/>
          </a:solidFill>
          <a:ln/>
        </p:spPr>
      </p:sp>
      <p:sp>
        <p:nvSpPr>
          <p:cNvPr id="150" name="Shape 148"/>
          <p:cNvSpPr/>
          <p:nvPr/>
        </p:nvSpPr>
        <p:spPr>
          <a:xfrm>
            <a:off x="9725070" y="4183111"/>
            <a:ext cx="21946" cy="176425"/>
          </a:xfrm>
          <a:prstGeom prst="rect">
            <a:avLst/>
          </a:prstGeom>
          <a:solidFill>
            <a:srgbClr val="0B2C4A"/>
          </a:solidFill>
          <a:ln/>
        </p:spPr>
      </p:sp>
      <p:sp>
        <p:nvSpPr>
          <p:cNvPr id="151" name="Text 149"/>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52" name="Text 150"/>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3" name="Text 151"/>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4" name="Shape 152"/>
          <p:cNvSpPr/>
          <p:nvPr/>
        </p:nvSpPr>
        <p:spPr>
          <a:xfrm>
            <a:off x="8558784" y="4436723"/>
            <a:ext cx="791794" cy="110266"/>
          </a:xfrm>
          <a:prstGeom prst="rect">
            <a:avLst/>
          </a:prstGeom>
          <a:solidFill>
            <a:srgbClr val="C2352F"/>
          </a:solidFill>
          <a:ln/>
        </p:spPr>
      </p:sp>
      <p:sp>
        <p:nvSpPr>
          <p:cNvPr id="155" name="Shape 153"/>
          <p:cNvSpPr/>
          <p:nvPr/>
        </p:nvSpPr>
        <p:spPr>
          <a:xfrm>
            <a:off x="9725070" y="4403643"/>
            <a:ext cx="21946" cy="176425"/>
          </a:xfrm>
          <a:prstGeom prst="rect">
            <a:avLst/>
          </a:prstGeom>
          <a:solidFill>
            <a:srgbClr val="0B2C4A"/>
          </a:solidFill>
          <a:ln/>
        </p:spPr>
      </p:sp>
      <p:sp>
        <p:nvSpPr>
          <p:cNvPr id="156" name="Text 154"/>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7" name="Text 155"/>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8" name="Text 156"/>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9" name="Shape 157"/>
          <p:cNvSpPr/>
          <p:nvPr/>
        </p:nvSpPr>
        <p:spPr>
          <a:xfrm>
            <a:off x="8558784" y="4657254"/>
            <a:ext cx="779190" cy="110266"/>
          </a:xfrm>
          <a:prstGeom prst="rect">
            <a:avLst/>
          </a:prstGeom>
          <a:solidFill>
            <a:srgbClr val="C2352F"/>
          </a:solidFill>
          <a:ln/>
        </p:spPr>
      </p:sp>
      <p:sp>
        <p:nvSpPr>
          <p:cNvPr id="160" name="Shape 158"/>
          <p:cNvSpPr/>
          <p:nvPr/>
        </p:nvSpPr>
        <p:spPr>
          <a:xfrm>
            <a:off x="9725070" y="4624175"/>
            <a:ext cx="21946" cy="176425"/>
          </a:xfrm>
          <a:prstGeom prst="rect">
            <a:avLst/>
          </a:prstGeom>
          <a:solidFill>
            <a:srgbClr val="0B2C4A"/>
          </a:solidFill>
          <a:ln/>
        </p:spPr>
      </p:sp>
      <p:sp>
        <p:nvSpPr>
          <p:cNvPr id="161" name="Text 159"/>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62" name="Shape 160"/>
          <p:cNvSpPr/>
          <p:nvPr/>
        </p:nvSpPr>
        <p:spPr>
          <a:xfrm>
            <a:off x="6153912" y="4822653"/>
            <a:ext cx="5358384" cy="220532"/>
          </a:xfrm>
          <a:prstGeom prst="rect">
            <a:avLst/>
          </a:prstGeom>
          <a:solidFill>
            <a:srgbClr val="EDF4FA"/>
          </a:solidFill>
          <a:ln/>
        </p:spPr>
      </p:sp>
      <p:sp>
        <p:nvSpPr>
          <p:cNvPr id="163" name="Text 161"/>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165" name="Shape 163"/>
          <p:cNvSpPr/>
          <p:nvPr/>
        </p:nvSpPr>
        <p:spPr>
          <a:xfrm>
            <a:off x="8558784" y="4877786"/>
            <a:ext cx="743376" cy="110266"/>
          </a:xfrm>
          <a:prstGeom prst="rect">
            <a:avLst/>
          </a:prstGeom>
          <a:solidFill>
            <a:srgbClr val="C2352F"/>
          </a:solidFill>
          <a:ln/>
        </p:spPr>
      </p:sp>
      <p:sp>
        <p:nvSpPr>
          <p:cNvPr id="166" name="Shape 164"/>
          <p:cNvSpPr/>
          <p:nvPr/>
        </p:nvSpPr>
        <p:spPr>
          <a:xfrm>
            <a:off x="9367031" y="4844706"/>
            <a:ext cx="21946" cy="176425"/>
          </a:xfrm>
          <a:prstGeom prst="rect">
            <a:avLst/>
          </a:prstGeom>
          <a:solidFill>
            <a:srgbClr val="0B2C4A"/>
          </a:solidFill>
          <a:ln/>
        </p:spPr>
      </p:sp>
      <p:sp>
        <p:nvSpPr>
          <p:cNvPr id="167" name="Text 165"/>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68" name="Shape 166"/>
          <p:cNvSpPr/>
          <p:nvPr/>
        </p:nvSpPr>
        <p:spPr>
          <a:xfrm>
            <a:off x="6153912" y="5043185"/>
            <a:ext cx="5358384" cy="220532"/>
          </a:xfrm>
          <a:prstGeom prst="rect">
            <a:avLst/>
          </a:prstGeom>
          <a:solidFill>
            <a:srgbClr val="EDF4FA"/>
          </a:solidFill>
          <a:ln/>
        </p:spPr>
      </p:sp>
      <p:sp>
        <p:nvSpPr>
          <p:cNvPr id="169" name="Text 167"/>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171" name="Shape 169"/>
          <p:cNvSpPr/>
          <p:nvPr/>
        </p:nvSpPr>
        <p:spPr>
          <a:xfrm>
            <a:off x="8558784" y="5098318"/>
            <a:ext cx="596901" cy="110266"/>
          </a:xfrm>
          <a:prstGeom prst="rect">
            <a:avLst/>
          </a:prstGeom>
          <a:solidFill>
            <a:srgbClr val="C2352F"/>
          </a:solidFill>
          <a:ln/>
        </p:spPr>
      </p:sp>
      <p:sp>
        <p:nvSpPr>
          <p:cNvPr id="172" name="Shape 170"/>
          <p:cNvSpPr/>
          <p:nvPr/>
        </p:nvSpPr>
        <p:spPr>
          <a:xfrm>
            <a:off x="9367031" y="5065238"/>
            <a:ext cx="21946" cy="176425"/>
          </a:xfrm>
          <a:prstGeom prst="rect">
            <a:avLst/>
          </a:prstGeom>
          <a:solidFill>
            <a:srgbClr val="0B2C4A"/>
          </a:solidFill>
          <a:ln/>
        </p:spPr>
      </p:sp>
      <p:sp>
        <p:nvSpPr>
          <p:cNvPr id="173" name="Text 171"/>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74" name="Shape 172"/>
          <p:cNvSpPr/>
          <p:nvPr/>
        </p:nvSpPr>
        <p:spPr>
          <a:xfrm>
            <a:off x="6153912" y="5263717"/>
            <a:ext cx="5358384" cy="220532"/>
          </a:xfrm>
          <a:prstGeom prst="rect">
            <a:avLst/>
          </a:prstGeom>
          <a:solidFill>
            <a:srgbClr val="EDF4FA"/>
          </a:solidFill>
          <a:ln/>
        </p:spPr>
      </p:sp>
      <p:sp>
        <p:nvSpPr>
          <p:cNvPr id="175" name="Text 173"/>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177" name="Shape 175"/>
          <p:cNvSpPr/>
          <p:nvPr/>
        </p:nvSpPr>
        <p:spPr>
          <a:xfrm>
            <a:off x="8558784" y="5318850"/>
            <a:ext cx="570833" cy="110266"/>
          </a:xfrm>
          <a:prstGeom prst="rect">
            <a:avLst/>
          </a:prstGeom>
          <a:solidFill>
            <a:srgbClr val="C2352F"/>
          </a:solidFill>
          <a:ln/>
        </p:spPr>
      </p:sp>
      <p:sp>
        <p:nvSpPr>
          <p:cNvPr id="178" name="Shape 176"/>
          <p:cNvSpPr/>
          <p:nvPr/>
        </p:nvSpPr>
        <p:spPr>
          <a:xfrm>
            <a:off x="9367031" y="5285770"/>
            <a:ext cx="21946" cy="176425"/>
          </a:xfrm>
          <a:prstGeom prst="rect">
            <a:avLst/>
          </a:prstGeom>
          <a:solidFill>
            <a:srgbClr val="0B2C4A"/>
          </a:solidFill>
          <a:ln/>
        </p:spPr>
      </p:sp>
      <p:sp>
        <p:nvSpPr>
          <p:cNvPr id="179" name="Text 177"/>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180" name="Shape 178"/>
          <p:cNvSpPr/>
          <p:nvPr/>
        </p:nvSpPr>
        <p:spPr>
          <a:xfrm>
            <a:off x="6153912" y="5484248"/>
            <a:ext cx="5358384" cy="220532"/>
          </a:xfrm>
          <a:prstGeom prst="rect">
            <a:avLst/>
          </a:prstGeom>
          <a:solidFill>
            <a:srgbClr val="EDF4FA"/>
          </a:solidFill>
          <a:ln/>
        </p:spPr>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83" name="Shape 181"/>
          <p:cNvSpPr/>
          <p:nvPr/>
        </p:nvSpPr>
        <p:spPr>
          <a:xfrm>
            <a:off x="8558784" y="5539381"/>
            <a:ext cx="473837" cy="110266"/>
          </a:xfrm>
          <a:prstGeom prst="rect">
            <a:avLst/>
          </a:prstGeom>
          <a:solidFill>
            <a:srgbClr val="C2352F"/>
          </a:solidFill>
          <a:ln/>
        </p:spPr>
      </p:sp>
      <p:sp>
        <p:nvSpPr>
          <p:cNvPr id="184" name="Shape 182"/>
          <p:cNvSpPr/>
          <p:nvPr/>
        </p:nvSpPr>
        <p:spPr>
          <a:xfrm>
            <a:off x="9367031"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123 and 12 of 24 others beat 176. Toyota Flagstaff leads non-luxury at 253.</a:t>
            </a:r>
            <a:endParaRPr lang="en-US" sz="1600" dirty="0"/>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led by Honda Flagstaff at +40 to 175. 16 declined; Toyota Spokane fell most at −59.</a:t>
            </a:r>
            <a:endParaRPr lang="en-US" sz="1600" dirty="0"/>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17.4, non-luxury 29.3. Green at or above it.</a:t>
            </a:r>
            <a:endParaRPr lang="en-US" sz="1400" dirty="0"/>
          </a:p>
        </p:txBody>
      </p:sp>
      <p:sp>
        <p:nvSpPr>
          <p:cNvPr id="12" name="Text 10"/>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 name="Shape 12"/>
          <p:cNvSpPr/>
          <p:nvPr/>
        </p:nvSpPr>
        <p:spPr>
          <a:xfrm>
            <a:off x="3008376" y="2231405"/>
            <a:ext cx="1691640" cy="110266"/>
          </a:xfrm>
          <a:prstGeom prst="rect">
            <a:avLst/>
          </a:prstGeom>
          <a:solidFill>
            <a:srgbClr val="12A566"/>
          </a:solidFill>
          <a:ln/>
        </p:spPr>
      </p:sp>
      <p:sp>
        <p:nvSpPr>
          <p:cNvPr id="15" name="Shape 13"/>
          <p:cNvSpPr/>
          <p:nvPr/>
        </p:nvSpPr>
        <p:spPr>
          <a:xfrm>
            <a:off x="4239676" y="2198325"/>
            <a:ext cx="21946" cy="176425"/>
          </a:xfrm>
          <a:prstGeom prst="rect">
            <a:avLst/>
          </a:prstGeom>
          <a:solidFill>
            <a:srgbClr val="0B2C4A"/>
          </a:solidFill>
          <a:ln/>
        </p:spPr>
      </p:sp>
      <p:sp>
        <p:nvSpPr>
          <p:cNvPr id="16" name="Text 14"/>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17" name="Text 15"/>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 name="Shape 17"/>
          <p:cNvSpPr/>
          <p:nvPr/>
        </p:nvSpPr>
        <p:spPr>
          <a:xfrm>
            <a:off x="3008376" y="2451937"/>
            <a:ext cx="1635068" cy="110266"/>
          </a:xfrm>
          <a:prstGeom prst="rect">
            <a:avLst/>
          </a:prstGeom>
          <a:solidFill>
            <a:srgbClr val="12A566"/>
          </a:solidFill>
          <a:ln/>
        </p:spPr>
      </p:sp>
      <p:sp>
        <p:nvSpPr>
          <p:cNvPr id="20" name="Shape 18"/>
          <p:cNvSpPr/>
          <p:nvPr/>
        </p:nvSpPr>
        <p:spPr>
          <a:xfrm>
            <a:off x="4239676" y="2418857"/>
            <a:ext cx="21946" cy="176425"/>
          </a:xfrm>
          <a:prstGeom prst="rect">
            <a:avLst/>
          </a:prstGeom>
          <a:solidFill>
            <a:srgbClr val="0B2C4A"/>
          </a:solidFill>
          <a:ln/>
        </p:spPr>
      </p:sp>
      <p:sp>
        <p:nvSpPr>
          <p:cNvPr id="21" name="Text 19"/>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22" name="Text 20"/>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4" name="Shape 22"/>
          <p:cNvSpPr/>
          <p:nvPr/>
        </p:nvSpPr>
        <p:spPr>
          <a:xfrm>
            <a:off x="3008376" y="2672468"/>
            <a:ext cx="1588955" cy="110266"/>
          </a:xfrm>
          <a:prstGeom prst="rect">
            <a:avLst/>
          </a:prstGeom>
          <a:solidFill>
            <a:srgbClr val="12A566"/>
          </a:solidFill>
          <a:ln/>
        </p:spPr>
      </p:sp>
      <p:sp>
        <p:nvSpPr>
          <p:cNvPr id="25" name="Shape 23"/>
          <p:cNvSpPr/>
          <p:nvPr/>
        </p:nvSpPr>
        <p:spPr>
          <a:xfrm>
            <a:off x="4239676" y="2639389"/>
            <a:ext cx="21946" cy="176425"/>
          </a:xfrm>
          <a:prstGeom prst="rect">
            <a:avLst/>
          </a:prstGeom>
          <a:solidFill>
            <a:srgbClr val="0B2C4A"/>
          </a:solidFill>
          <a:ln/>
        </p:spPr>
      </p:sp>
      <p:sp>
        <p:nvSpPr>
          <p:cNvPr id="26" name="Text 24"/>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27" name="Text 25"/>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9" name="Shape 27"/>
          <p:cNvSpPr/>
          <p:nvPr/>
        </p:nvSpPr>
        <p:spPr>
          <a:xfrm>
            <a:off x="3008376" y="2893000"/>
            <a:ext cx="1563921" cy="110266"/>
          </a:xfrm>
          <a:prstGeom prst="rect">
            <a:avLst/>
          </a:prstGeom>
          <a:solidFill>
            <a:srgbClr val="12A566"/>
          </a:solidFill>
          <a:ln/>
        </p:spPr>
      </p:sp>
      <p:sp>
        <p:nvSpPr>
          <p:cNvPr id="30" name="Shape 28"/>
          <p:cNvSpPr/>
          <p:nvPr/>
        </p:nvSpPr>
        <p:spPr>
          <a:xfrm>
            <a:off x="4239676" y="2859920"/>
            <a:ext cx="21946" cy="176425"/>
          </a:xfrm>
          <a:prstGeom prst="rect">
            <a:avLst/>
          </a:prstGeom>
          <a:solidFill>
            <a:srgbClr val="0B2C4A"/>
          </a:solidFill>
          <a:ln/>
        </p:spPr>
      </p:sp>
      <p:sp>
        <p:nvSpPr>
          <p:cNvPr id="31" name="Text 29"/>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32" name="Text 30"/>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4" name="Shape 32"/>
          <p:cNvSpPr/>
          <p:nvPr/>
        </p:nvSpPr>
        <p:spPr>
          <a:xfrm>
            <a:off x="3008376" y="3113532"/>
            <a:ext cx="1551295" cy="110266"/>
          </a:xfrm>
          <a:prstGeom prst="rect">
            <a:avLst/>
          </a:prstGeom>
          <a:solidFill>
            <a:srgbClr val="12A566"/>
          </a:solidFill>
          <a:ln/>
        </p:spPr>
      </p:sp>
      <p:sp>
        <p:nvSpPr>
          <p:cNvPr id="35" name="Shape 33"/>
          <p:cNvSpPr/>
          <p:nvPr/>
        </p:nvSpPr>
        <p:spPr>
          <a:xfrm>
            <a:off x="4239676" y="3080452"/>
            <a:ext cx="21946" cy="176425"/>
          </a:xfrm>
          <a:prstGeom prst="rect">
            <a:avLst/>
          </a:prstGeom>
          <a:solidFill>
            <a:srgbClr val="0B2C4A"/>
          </a:solidFill>
          <a:ln/>
        </p:spPr>
      </p:sp>
      <p:sp>
        <p:nvSpPr>
          <p:cNvPr id="36" name="Text 34"/>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37" name="Text 35"/>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9" name="Shape 37"/>
          <p:cNvSpPr/>
          <p:nvPr/>
        </p:nvSpPr>
        <p:spPr>
          <a:xfrm>
            <a:off x="3008376" y="3334064"/>
            <a:ext cx="1486679" cy="110266"/>
          </a:xfrm>
          <a:prstGeom prst="rect">
            <a:avLst/>
          </a:prstGeom>
          <a:solidFill>
            <a:srgbClr val="12A566"/>
          </a:solidFill>
          <a:ln/>
        </p:spPr>
      </p:sp>
      <p:sp>
        <p:nvSpPr>
          <p:cNvPr id="40" name="Shape 38"/>
          <p:cNvSpPr/>
          <p:nvPr/>
        </p:nvSpPr>
        <p:spPr>
          <a:xfrm>
            <a:off x="4239676" y="3300984"/>
            <a:ext cx="21946" cy="176425"/>
          </a:xfrm>
          <a:prstGeom prst="rect">
            <a:avLst/>
          </a:prstGeom>
          <a:solidFill>
            <a:srgbClr val="0B2C4A"/>
          </a:solidFill>
          <a:ln/>
        </p:spPr>
      </p:sp>
      <p:sp>
        <p:nvSpPr>
          <p:cNvPr id="41" name="Text 39"/>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42" name="Text 40"/>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4" name="Shape 42"/>
          <p:cNvSpPr/>
          <p:nvPr/>
        </p:nvSpPr>
        <p:spPr>
          <a:xfrm>
            <a:off x="3008376" y="3554596"/>
            <a:ext cx="1475126" cy="110266"/>
          </a:xfrm>
          <a:prstGeom prst="rect">
            <a:avLst/>
          </a:prstGeom>
          <a:solidFill>
            <a:srgbClr val="12A566"/>
          </a:solidFill>
          <a:ln/>
        </p:spPr>
      </p:sp>
      <p:sp>
        <p:nvSpPr>
          <p:cNvPr id="45" name="Shape 43"/>
          <p:cNvSpPr/>
          <p:nvPr/>
        </p:nvSpPr>
        <p:spPr>
          <a:xfrm>
            <a:off x="4239676" y="3521516"/>
            <a:ext cx="21946" cy="176425"/>
          </a:xfrm>
          <a:prstGeom prst="rect">
            <a:avLst/>
          </a:prstGeom>
          <a:solidFill>
            <a:srgbClr val="0B2C4A"/>
          </a:solidFill>
          <a:ln/>
        </p:spPr>
      </p:sp>
      <p:sp>
        <p:nvSpPr>
          <p:cNvPr id="46" name="Text 44"/>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47" name="Text 45"/>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9" name="Shape 47"/>
          <p:cNvSpPr/>
          <p:nvPr/>
        </p:nvSpPr>
        <p:spPr>
          <a:xfrm>
            <a:off x="3008376" y="3775127"/>
            <a:ext cx="1377666" cy="110266"/>
          </a:xfrm>
          <a:prstGeom prst="rect">
            <a:avLst/>
          </a:prstGeom>
          <a:solidFill>
            <a:srgbClr val="12A566"/>
          </a:solidFill>
          <a:ln/>
        </p:spPr>
      </p:sp>
      <p:sp>
        <p:nvSpPr>
          <p:cNvPr id="50" name="Shape 48"/>
          <p:cNvSpPr/>
          <p:nvPr/>
        </p:nvSpPr>
        <p:spPr>
          <a:xfrm>
            <a:off x="4239676" y="3742048"/>
            <a:ext cx="21946" cy="176425"/>
          </a:xfrm>
          <a:prstGeom prst="rect">
            <a:avLst/>
          </a:prstGeom>
          <a:solidFill>
            <a:srgbClr val="0B2C4A"/>
          </a:solidFill>
          <a:ln/>
        </p:spPr>
      </p:sp>
      <p:sp>
        <p:nvSpPr>
          <p:cNvPr id="51" name="Text 49"/>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52" name="Text 50"/>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4" name="Shape 52"/>
          <p:cNvSpPr/>
          <p:nvPr/>
        </p:nvSpPr>
        <p:spPr>
          <a:xfrm>
            <a:off x="3008376" y="3995659"/>
            <a:ext cx="1334480" cy="110266"/>
          </a:xfrm>
          <a:prstGeom prst="rect">
            <a:avLst/>
          </a:prstGeom>
          <a:solidFill>
            <a:srgbClr val="12A566"/>
          </a:solidFill>
          <a:ln/>
        </p:spPr>
      </p:sp>
      <p:sp>
        <p:nvSpPr>
          <p:cNvPr id="55" name="Shape 53"/>
          <p:cNvSpPr/>
          <p:nvPr/>
        </p:nvSpPr>
        <p:spPr>
          <a:xfrm>
            <a:off x="4239676" y="3962579"/>
            <a:ext cx="21946" cy="176425"/>
          </a:xfrm>
          <a:prstGeom prst="rect">
            <a:avLst/>
          </a:prstGeom>
          <a:solidFill>
            <a:srgbClr val="0B2C4A"/>
          </a:solidFill>
          <a:ln/>
        </p:spPr>
      </p:sp>
      <p:sp>
        <p:nvSpPr>
          <p:cNvPr id="56" name="Text 54"/>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57" name="Text 55"/>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9" name="Shape 57"/>
          <p:cNvSpPr/>
          <p:nvPr/>
        </p:nvSpPr>
        <p:spPr>
          <a:xfrm>
            <a:off x="3008376" y="4216191"/>
            <a:ext cx="1334041" cy="110266"/>
          </a:xfrm>
          <a:prstGeom prst="rect">
            <a:avLst/>
          </a:prstGeom>
          <a:solidFill>
            <a:srgbClr val="12A566"/>
          </a:solidFill>
          <a:ln/>
        </p:spPr>
      </p:sp>
      <p:sp>
        <p:nvSpPr>
          <p:cNvPr id="60" name="Shape 58"/>
          <p:cNvSpPr/>
          <p:nvPr/>
        </p:nvSpPr>
        <p:spPr>
          <a:xfrm>
            <a:off x="4239676" y="4183111"/>
            <a:ext cx="21946" cy="176425"/>
          </a:xfrm>
          <a:prstGeom prst="rect">
            <a:avLst/>
          </a:prstGeom>
          <a:solidFill>
            <a:srgbClr val="0B2C4A"/>
          </a:solidFill>
          <a:ln/>
        </p:spPr>
      </p:sp>
      <p:sp>
        <p:nvSpPr>
          <p:cNvPr id="61" name="Text 59"/>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62" name="Text 60"/>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4" name="Shape 62"/>
          <p:cNvSpPr/>
          <p:nvPr/>
        </p:nvSpPr>
        <p:spPr>
          <a:xfrm>
            <a:off x="3008376" y="4436723"/>
            <a:ext cx="1333504" cy="110266"/>
          </a:xfrm>
          <a:prstGeom prst="rect">
            <a:avLst/>
          </a:prstGeom>
          <a:solidFill>
            <a:srgbClr val="12A566"/>
          </a:solidFill>
          <a:ln/>
        </p:spPr>
      </p:sp>
      <p:sp>
        <p:nvSpPr>
          <p:cNvPr id="65" name="Shape 63"/>
          <p:cNvSpPr/>
          <p:nvPr/>
        </p:nvSpPr>
        <p:spPr>
          <a:xfrm>
            <a:off x="4239676" y="4403643"/>
            <a:ext cx="21946" cy="176425"/>
          </a:xfrm>
          <a:prstGeom prst="rect">
            <a:avLst/>
          </a:prstGeom>
          <a:solidFill>
            <a:srgbClr val="0B2C4A"/>
          </a:solidFill>
          <a:ln/>
        </p:spPr>
      </p:sp>
      <p:sp>
        <p:nvSpPr>
          <p:cNvPr id="66" name="Text 64"/>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67" name="Text 65"/>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9" name="Shape 67"/>
          <p:cNvSpPr/>
          <p:nvPr/>
        </p:nvSpPr>
        <p:spPr>
          <a:xfrm>
            <a:off x="3008376" y="4657254"/>
            <a:ext cx="1327762" cy="110266"/>
          </a:xfrm>
          <a:prstGeom prst="rect">
            <a:avLst/>
          </a:prstGeom>
          <a:solidFill>
            <a:srgbClr val="12A566"/>
          </a:solidFill>
          <a:ln/>
        </p:spPr>
      </p:sp>
      <p:sp>
        <p:nvSpPr>
          <p:cNvPr id="70" name="Shape 68"/>
          <p:cNvSpPr/>
          <p:nvPr/>
        </p:nvSpPr>
        <p:spPr>
          <a:xfrm>
            <a:off x="4239676" y="4624175"/>
            <a:ext cx="21946" cy="176425"/>
          </a:xfrm>
          <a:prstGeom prst="rect">
            <a:avLst/>
          </a:prstGeom>
          <a:solidFill>
            <a:srgbClr val="0B2C4A"/>
          </a:solidFill>
          <a:ln/>
        </p:spPr>
      </p:sp>
      <p:sp>
        <p:nvSpPr>
          <p:cNvPr id="71" name="Text 69"/>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72" name="Text 70"/>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4" name="Shape 72"/>
          <p:cNvSpPr/>
          <p:nvPr/>
        </p:nvSpPr>
        <p:spPr>
          <a:xfrm>
            <a:off x="3008376" y="4877786"/>
            <a:ext cx="1320901" cy="110266"/>
          </a:xfrm>
          <a:prstGeom prst="rect">
            <a:avLst/>
          </a:prstGeom>
          <a:solidFill>
            <a:srgbClr val="12A566"/>
          </a:solidFill>
          <a:ln/>
        </p:spPr>
      </p:sp>
      <p:sp>
        <p:nvSpPr>
          <p:cNvPr id="75" name="Shape 73"/>
          <p:cNvSpPr/>
          <p:nvPr/>
        </p:nvSpPr>
        <p:spPr>
          <a:xfrm>
            <a:off x="4239676" y="4844706"/>
            <a:ext cx="21946" cy="176425"/>
          </a:xfrm>
          <a:prstGeom prst="rect">
            <a:avLst/>
          </a:prstGeom>
          <a:solidFill>
            <a:srgbClr val="0B2C4A"/>
          </a:solidFill>
          <a:ln/>
        </p:spPr>
      </p:sp>
      <p:sp>
        <p:nvSpPr>
          <p:cNvPr id="76" name="Text 74"/>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7" name="Text 75"/>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9" name="Shape 77"/>
          <p:cNvSpPr/>
          <p:nvPr/>
        </p:nvSpPr>
        <p:spPr>
          <a:xfrm>
            <a:off x="3008376" y="5098318"/>
            <a:ext cx="1297695" cy="110266"/>
          </a:xfrm>
          <a:prstGeom prst="rect">
            <a:avLst/>
          </a:prstGeom>
          <a:solidFill>
            <a:srgbClr val="12A566"/>
          </a:solidFill>
          <a:ln/>
        </p:spPr>
      </p:sp>
      <p:sp>
        <p:nvSpPr>
          <p:cNvPr id="80" name="Shape 78"/>
          <p:cNvSpPr/>
          <p:nvPr/>
        </p:nvSpPr>
        <p:spPr>
          <a:xfrm>
            <a:off x="4239676" y="5065238"/>
            <a:ext cx="21946" cy="176425"/>
          </a:xfrm>
          <a:prstGeom prst="rect">
            <a:avLst/>
          </a:prstGeom>
          <a:solidFill>
            <a:srgbClr val="0B2C4A"/>
          </a:solidFill>
          <a:ln/>
        </p:spPr>
      </p:sp>
      <p:sp>
        <p:nvSpPr>
          <p:cNvPr id="81" name="Text 79"/>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82" name="Text 80"/>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4" name="Shape 82"/>
          <p:cNvSpPr/>
          <p:nvPr/>
        </p:nvSpPr>
        <p:spPr>
          <a:xfrm>
            <a:off x="3008376" y="5318850"/>
            <a:ext cx="1224071" cy="110266"/>
          </a:xfrm>
          <a:prstGeom prst="rect">
            <a:avLst/>
          </a:prstGeom>
          <a:solidFill>
            <a:srgbClr val="C2352F"/>
          </a:solidFill>
          <a:ln/>
        </p:spPr>
      </p:sp>
      <p:sp>
        <p:nvSpPr>
          <p:cNvPr id="85" name="Shape 83"/>
          <p:cNvSpPr/>
          <p:nvPr/>
        </p:nvSpPr>
        <p:spPr>
          <a:xfrm>
            <a:off x="4239676" y="5285770"/>
            <a:ext cx="21946" cy="176425"/>
          </a:xfrm>
          <a:prstGeom prst="rect">
            <a:avLst/>
          </a:prstGeom>
          <a:solidFill>
            <a:srgbClr val="0B2C4A"/>
          </a:solidFill>
          <a:ln/>
        </p:spPr>
      </p:sp>
      <p:sp>
        <p:nvSpPr>
          <p:cNvPr id="86" name="Text 84"/>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87" name="Text 85"/>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3008376" y="5539381"/>
            <a:ext cx="1198528" cy="110266"/>
          </a:xfrm>
          <a:prstGeom prst="rect">
            <a:avLst/>
          </a:prstGeom>
          <a:solidFill>
            <a:srgbClr val="C2352F"/>
          </a:solidFill>
          <a:ln/>
        </p:spPr>
      </p:sp>
      <p:sp>
        <p:nvSpPr>
          <p:cNvPr id="90" name="Shape 88"/>
          <p:cNvSpPr/>
          <p:nvPr/>
        </p:nvSpPr>
        <p:spPr>
          <a:xfrm>
            <a:off x="4239676" y="5506302"/>
            <a:ext cx="21946" cy="176425"/>
          </a:xfrm>
          <a:prstGeom prst="rect">
            <a:avLst/>
          </a:prstGeom>
          <a:solidFill>
            <a:srgbClr val="0B2C4A"/>
          </a:solidFill>
          <a:ln/>
        </p:spPr>
      </p:sp>
      <p:sp>
        <p:nvSpPr>
          <p:cNvPr id="91" name="Text 89"/>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92" name="Text 90"/>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4" name="Shape 92"/>
          <p:cNvSpPr/>
          <p:nvPr/>
        </p:nvSpPr>
        <p:spPr>
          <a:xfrm>
            <a:off x="3008376" y="5759913"/>
            <a:ext cx="1081624" cy="110266"/>
          </a:xfrm>
          <a:prstGeom prst="rect">
            <a:avLst/>
          </a:prstGeom>
          <a:solidFill>
            <a:srgbClr val="C2352F"/>
          </a:solidFill>
          <a:ln/>
        </p:spPr>
      </p:sp>
      <p:sp>
        <p:nvSpPr>
          <p:cNvPr id="95" name="Shape 93"/>
          <p:cNvSpPr/>
          <p:nvPr/>
        </p:nvSpPr>
        <p:spPr>
          <a:xfrm>
            <a:off x="4239676" y="5726833"/>
            <a:ext cx="21946" cy="176425"/>
          </a:xfrm>
          <a:prstGeom prst="rect">
            <a:avLst/>
          </a:prstGeom>
          <a:solidFill>
            <a:srgbClr val="0B2C4A"/>
          </a:solidFill>
          <a:ln/>
        </p:spPr>
      </p:sp>
      <p:sp>
        <p:nvSpPr>
          <p:cNvPr id="96" name="Text 94"/>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97" name="Shape 95"/>
          <p:cNvSpPr/>
          <p:nvPr/>
        </p:nvSpPr>
        <p:spPr>
          <a:xfrm>
            <a:off x="6153912" y="2176272"/>
            <a:ext cx="5358384" cy="220532"/>
          </a:xfrm>
          <a:prstGeom prst="rect">
            <a:avLst/>
          </a:prstGeom>
          <a:solidFill>
            <a:srgbClr val="EDF4FA"/>
          </a:solidFill>
          <a:ln/>
        </p:spPr>
      </p:sp>
      <p:sp>
        <p:nvSpPr>
          <p:cNvPr id="98" name="Text 96"/>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9" name="Text 97"/>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100" name="Shape 98"/>
          <p:cNvSpPr/>
          <p:nvPr/>
        </p:nvSpPr>
        <p:spPr>
          <a:xfrm>
            <a:off x="8558784" y="2231405"/>
            <a:ext cx="1055564" cy="110266"/>
          </a:xfrm>
          <a:prstGeom prst="rect">
            <a:avLst/>
          </a:prstGeom>
          <a:solidFill>
            <a:srgbClr val="12A566"/>
          </a:solidFill>
          <a:ln/>
        </p:spPr>
      </p:sp>
      <p:sp>
        <p:nvSpPr>
          <p:cNvPr id="101" name="Shape 99"/>
          <p:cNvSpPr/>
          <p:nvPr/>
        </p:nvSpPr>
        <p:spPr>
          <a:xfrm>
            <a:off x="9288611" y="2198325"/>
            <a:ext cx="21946" cy="176425"/>
          </a:xfrm>
          <a:prstGeom prst="rect">
            <a:avLst/>
          </a:prstGeom>
          <a:solidFill>
            <a:srgbClr val="0B2C4A"/>
          </a:solidFill>
          <a:ln/>
        </p:spPr>
      </p:sp>
      <p:sp>
        <p:nvSpPr>
          <p:cNvPr id="102" name="Text 100"/>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03" name="Shape 101"/>
          <p:cNvSpPr/>
          <p:nvPr/>
        </p:nvSpPr>
        <p:spPr>
          <a:xfrm>
            <a:off x="6153912" y="2396804"/>
            <a:ext cx="5358384" cy="220532"/>
          </a:xfrm>
          <a:prstGeom prst="rect">
            <a:avLst/>
          </a:prstGeom>
          <a:solidFill>
            <a:srgbClr val="EDF4FA"/>
          </a:solidFill>
          <a:ln/>
        </p:spPr>
      </p:sp>
      <p:sp>
        <p:nvSpPr>
          <p:cNvPr id="104" name="Text 102"/>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5" name="Text 103"/>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106" name="Shape 104"/>
          <p:cNvSpPr/>
          <p:nvPr/>
        </p:nvSpPr>
        <p:spPr>
          <a:xfrm>
            <a:off x="8558784" y="2451937"/>
            <a:ext cx="1038179" cy="110266"/>
          </a:xfrm>
          <a:prstGeom prst="rect">
            <a:avLst/>
          </a:prstGeom>
          <a:solidFill>
            <a:srgbClr val="12A566"/>
          </a:solidFill>
          <a:ln/>
        </p:spPr>
      </p:sp>
      <p:sp>
        <p:nvSpPr>
          <p:cNvPr id="107" name="Shape 105"/>
          <p:cNvSpPr/>
          <p:nvPr/>
        </p:nvSpPr>
        <p:spPr>
          <a:xfrm>
            <a:off x="9288611" y="2418857"/>
            <a:ext cx="21946" cy="176425"/>
          </a:xfrm>
          <a:prstGeom prst="rect">
            <a:avLst/>
          </a:prstGeom>
          <a:solidFill>
            <a:srgbClr val="0B2C4A"/>
          </a:solidFill>
          <a:ln/>
        </p:spPr>
      </p:sp>
      <p:sp>
        <p:nvSpPr>
          <p:cNvPr id="108" name="Text 106"/>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109" name="Text 107"/>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0" name="Text 108"/>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1" name="Shape 109"/>
          <p:cNvSpPr/>
          <p:nvPr/>
        </p:nvSpPr>
        <p:spPr>
          <a:xfrm>
            <a:off x="8558784" y="2672468"/>
            <a:ext cx="1004084" cy="110266"/>
          </a:xfrm>
          <a:prstGeom prst="rect">
            <a:avLst/>
          </a:prstGeom>
          <a:solidFill>
            <a:srgbClr val="C2352F"/>
          </a:solidFill>
          <a:ln/>
        </p:spPr>
      </p:sp>
      <p:sp>
        <p:nvSpPr>
          <p:cNvPr id="112" name="Shape 110"/>
          <p:cNvSpPr/>
          <p:nvPr/>
        </p:nvSpPr>
        <p:spPr>
          <a:xfrm>
            <a:off x="9790084" y="2639389"/>
            <a:ext cx="21946" cy="176425"/>
          </a:xfrm>
          <a:prstGeom prst="rect">
            <a:avLst/>
          </a:prstGeom>
          <a:solidFill>
            <a:srgbClr val="0B2C4A"/>
          </a:solidFill>
          <a:ln/>
        </p:spPr>
      </p:sp>
      <p:sp>
        <p:nvSpPr>
          <p:cNvPr id="113" name="Text 111"/>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14" name="Text 112"/>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5" name="Text 113"/>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6" name="Shape 114"/>
          <p:cNvSpPr/>
          <p:nvPr/>
        </p:nvSpPr>
        <p:spPr>
          <a:xfrm>
            <a:off x="8558784" y="2893000"/>
            <a:ext cx="961384" cy="110266"/>
          </a:xfrm>
          <a:prstGeom prst="rect">
            <a:avLst/>
          </a:prstGeom>
          <a:solidFill>
            <a:srgbClr val="C2352F"/>
          </a:solidFill>
          <a:ln/>
        </p:spPr>
      </p:sp>
      <p:sp>
        <p:nvSpPr>
          <p:cNvPr id="117" name="Shape 115"/>
          <p:cNvSpPr/>
          <p:nvPr/>
        </p:nvSpPr>
        <p:spPr>
          <a:xfrm>
            <a:off x="9790084" y="2859920"/>
            <a:ext cx="21946" cy="176425"/>
          </a:xfrm>
          <a:prstGeom prst="rect">
            <a:avLst/>
          </a:prstGeom>
          <a:solidFill>
            <a:srgbClr val="0B2C4A"/>
          </a:solidFill>
          <a:ln/>
        </p:spPr>
      </p:sp>
      <p:sp>
        <p:nvSpPr>
          <p:cNvPr id="118" name="Text 116"/>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19" name="Text 117"/>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0" name="Text 118"/>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3113532"/>
            <a:ext cx="939246" cy="110266"/>
          </a:xfrm>
          <a:prstGeom prst="rect">
            <a:avLst/>
          </a:prstGeom>
          <a:solidFill>
            <a:srgbClr val="C2352F"/>
          </a:solidFill>
          <a:ln/>
        </p:spPr>
      </p:sp>
      <p:sp>
        <p:nvSpPr>
          <p:cNvPr id="122" name="Shape 120"/>
          <p:cNvSpPr/>
          <p:nvPr/>
        </p:nvSpPr>
        <p:spPr>
          <a:xfrm>
            <a:off x="9790084" y="3080452"/>
            <a:ext cx="21946" cy="176425"/>
          </a:xfrm>
          <a:prstGeom prst="rect">
            <a:avLst/>
          </a:prstGeom>
          <a:solidFill>
            <a:srgbClr val="0B2C4A"/>
          </a:solidFill>
          <a:ln/>
        </p:spPr>
      </p:sp>
      <p:sp>
        <p:nvSpPr>
          <p:cNvPr id="123" name="Text 121"/>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24" name="Text 122"/>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5" name="Text 123"/>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6" name="Shape 124"/>
          <p:cNvSpPr/>
          <p:nvPr/>
        </p:nvSpPr>
        <p:spPr>
          <a:xfrm>
            <a:off x="8558784" y="3334064"/>
            <a:ext cx="888310" cy="110266"/>
          </a:xfrm>
          <a:prstGeom prst="rect">
            <a:avLst/>
          </a:prstGeom>
          <a:solidFill>
            <a:srgbClr val="C2352F"/>
          </a:solidFill>
          <a:ln/>
        </p:spPr>
      </p:sp>
      <p:sp>
        <p:nvSpPr>
          <p:cNvPr id="127" name="Shape 125"/>
          <p:cNvSpPr/>
          <p:nvPr/>
        </p:nvSpPr>
        <p:spPr>
          <a:xfrm>
            <a:off x="9790084" y="3300984"/>
            <a:ext cx="21946" cy="176425"/>
          </a:xfrm>
          <a:prstGeom prst="rect">
            <a:avLst/>
          </a:prstGeom>
          <a:solidFill>
            <a:srgbClr val="0B2C4A"/>
          </a:solidFill>
          <a:ln/>
        </p:spPr>
      </p:sp>
      <p:sp>
        <p:nvSpPr>
          <p:cNvPr id="128" name="Text 126"/>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29" name="Text 127"/>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0" name="Text 128"/>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1" name="Shape 129"/>
          <p:cNvSpPr/>
          <p:nvPr/>
        </p:nvSpPr>
        <p:spPr>
          <a:xfrm>
            <a:off x="8558784" y="3554596"/>
            <a:ext cx="863117" cy="110266"/>
          </a:xfrm>
          <a:prstGeom prst="rect">
            <a:avLst/>
          </a:prstGeom>
          <a:solidFill>
            <a:srgbClr val="C2352F"/>
          </a:solidFill>
          <a:ln/>
        </p:spPr>
      </p:sp>
      <p:sp>
        <p:nvSpPr>
          <p:cNvPr id="132" name="Shape 130"/>
          <p:cNvSpPr/>
          <p:nvPr/>
        </p:nvSpPr>
        <p:spPr>
          <a:xfrm>
            <a:off x="9790084" y="3521516"/>
            <a:ext cx="21946" cy="176425"/>
          </a:xfrm>
          <a:prstGeom prst="rect">
            <a:avLst/>
          </a:prstGeom>
          <a:solidFill>
            <a:srgbClr val="0B2C4A"/>
          </a:solidFill>
          <a:ln/>
        </p:spPr>
      </p:sp>
      <p:sp>
        <p:nvSpPr>
          <p:cNvPr id="133" name="Text 131"/>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34" name="Shape 132"/>
          <p:cNvSpPr/>
          <p:nvPr/>
        </p:nvSpPr>
        <p:spPr>
          <a:xfrm>
            <a:off x="6153912" y="3719994"/>
            <a:ext cx="5358384" cy="220532"/>
          </a:xfrm>
          <a:prstGeom prst="rect">
            <a:avLst/>
          </a:prstGeom>
          <a:solidFill>
            <a:srgbClr val="EDF4FA"/>
          </a:solidFill>
          <a:ln/>
        </p:spPr>
      </p:sp>
      <p:sp>
        <p:nvSpPr>
          <p:cNvPr id="135" name="Text 133"/>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8558784" y="3775127"/>
            <a:ext cx="822425" cy="110266"/>
          </a:xfrm>
          <a:prstGeom prst="rect">
            <a:avLst/>
          </a:prstGeom>
          <a:solidFill>
            <a:srgbClr val="12A566"/>
          </a:solidFill>
          <a:ln/>
        </p:spPr>
      </p:sp>
      <p:sp>
        <p:nvSpPr>
          <p:cNvPr id="138" name="Shape 136"/>
          <p:cNvSpPr/>
          <p:nvPr/>
        </p:nvSpPr>
        <p:spPr>
          <a:xfrm>
            <a:off x="9288611" y="3742048"/>
            <a:ext cx="21946" cy="176425"/>
          </a:xfrm>
          <a:prstGeom prst="rect">
            <a:avLst/>
          </a:prstGeom>
          <a:solidFill>
            <a:srgbClr val="0B2C4A"/>
          </a:solidFill>
          <a:ln/>
        </p:spPr>
      </p:sp>
      <p:sp>
        <p:nvSpPr>
          <p:cNvPr id="139" name="Text 137"/>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40" name="Text 138"/>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2" name="Shape 140"/>
          <p:cNvSpPr/>
          <p:nvPr/>
        </p:nvSpPr>
        <p:spPr>
          <a:xfrm>
            <a:off x="8558784" y="3995659"/>
            <a:ext cx="814746" cy="110266"/>
          </a:xfrm>
          <a:prstGeom prst="rect">
            <a:avLst/>
          </a:prstGeom>
          <a:solidFill>
            <a:srgbClr val="C2352F"/>
          </a:solidFill>
          <a:ln/>
        </p:spPr>
      </p:sp>
      <p:sp>
        <p:nvSpPr>
          <p:cNvPr id="143" name="Shape 141"/>
          <p:cNvSpPr/>
          <p:nvPr/>
        </p:nvSpPr>
        <p:spPr>
          <a:xfrm>
            <a:off x="9790084" y="3962579"/>
            <a:ext cx="21946" cy="176425"/>
          </a:xfrm>
          <a:prstGeom prst="rect">
            <a:avLst/>
          </a:prstGeom>
          <a:solidFill>
            <a:srgbClr val="0B2C4A"/>
          </a:solidFill>
          <a:ln/>
        </p:spPr>
      </p:sp>
      <p:sp>
        <p:nvSpPr>
          <p:cNvPr id="144" name="Text 142"/>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5" name="Shape 143"/>
          <p:cNvSpPr/>
          <p:nvPr/>
        </p:nvSpPr>
        <p:spPr>
          <a:xfrm>
            <a:off x="6153912" y="4161058"/>
            <a:ext cx="5358384" cy="220532"/>
          </a:xfrm>
          <a:prstGeom prst="rect">
            <a:avLst/>
          </a:prstGeom>
          <a:solidFill>
            <a:srgbClr val="EDF4FA"/>
          </a:solidFill>
          <a:ln/>
        </p:spPr>
      </p:sp>
      <p:sp>
        <p:nvSpPr>
          <p:cNvPr id="146" name="Text 144"/>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7" name="Text 145"/>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216191"/>
            <a:ext cx="807912" cy="110266"/>
          </a:xfrm>
          <a:prstGeom prst="rect">
            <a:avLst/>
          </a:prstGeom>
          <a:solidFill>
            <a:srgbClr val="12A566"/>
          </a:solidFill>
          <a:ln/>
        </p:spPr>
      </p:sp>
      <p:sp>
        <p:nvSpPr>
          <p:cNvPr id="149" name="Shape 147"/>
          <p:cNvSpPr/>
          <p:nvPr/>
        </p:nvSpPr>
        <p:spPr>
          <a:xfrm>
            <a:off x="9288611" y="4183111"/>
            <a:ext cx="21946" cy="176425"/>
          </a:xfrm>
          <a:prstGeom prst="rect">
            <a:avLst/>
          </a:prstGeom>
          <a:solidFill>
            <a:srgbClr val="0B2C4A"/>
          </a:solidFill>
          <a:ln/>
        </p:spPr>
      </p:sp>
      <p:sp>
        <p:nvSpPr>
          <p:cNvPr id="150" name="Text 148"/>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151" name="Text 149"/>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2" name="Text 150"/>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3" name="Shape 151"/>
          <p:cNvSpPr/>
          <p:nvPr/>
        </p:nvSpPr>
        <p:spPr>
          <a:xfrm>
            <a:off x="8558784" y="4436723"/>
            <a:ext cx="736496" cy="110266"/>
          </a:xfrm>
          <a:prstGeom prst="rect">
            <a:avLst/>
          </a:prstGeom>
          <a:solidFill>
            <a:srgbClr val="C2352F"/>
          </a:solidFill>
          <a:ln/>
        </p:spPr>
      </p:sp>
      <p:sp>
        <p:nvSpPr>
          <p:cNvPr id="154" name="Shape 152"/>
          <p:cNvSpPr/>
          <p:nvPr/>
        </p:nvSpPr>
        <p:spPr>
          <a:xfrm>
            <a:off x="9790084" y="4403643"/>
            <a:ext cx="21946" cy="176425"/>
          </a:xfrm>
          <a:prstGeom prst="rect">
            <a:avLst/>
          </a:prstGeom>
          <a:solidFill>
            <a:srgbClr val="0B2C4A"/>
          </a:solidFill>
          <a:ln/>
        </p:spPr>
      </p:sp>
      <p:sp>
        <p:nvSpPr>
          <p:cNvPr id="155" name="Text 153"/>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56" name="Shape 154"/>
          <p:cNvSpPr/>
          <p:nvPr/>
        </p:nvSpPr>
        <p:spPr>
          <a:xfrm>
            <a:off x="6153912" y="4602121"/>
            <a:ext cx="5358384" cy="220532"/>
          </a:xfrm>
          <a:prstGeom prst="rect">
            <a:avLst/>
          </a:prstGeom>
          <a:solidFill>
            <a:srgbClr val="EDF4FA"/>
          </a:solidFill>
          <a:ln/>
        </p:spPr>
      </p:sp>
      <p:sp>
        <p:nvSpPr>
          <p:cNvPr id="157" name="Text 155"/>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8" name="Text 156"/>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159" name="Shape 157"/>
          <p:cNvSpPr/>
          <p:nvPr/>
        </p:nvSpPr>
        <p:spPr>
          <a:xfrm>
            <a:off x="8558784" y="4657254"/>
            <a:ext cx="713277" cy="110266"/>
          </a:xfrm>
          <a:prstGeom prst="rect">
            <a:avLst/>
          </a:prstGeom>
          <a:solidFill>
            <a:srgbClr val="C2352F"/>
          </a:solidFill>
          <a:ln/>
        </p:spPr>
      </p:sp>
      <p:sp>
        <p:nvSpPr>
          <p:cNvPr id="160" name="Shape 158"/>
          <p:cNvSpPr/>
          <p:nvPr/>
        </p:nvSpPr>
        <p:spPr>
          <a:xfrm>
            <a:off x="9288611" y="4624175"/>
            <a:ext cx="21946" cy="176425"/>
          </a:xfrm>
          <a:prstGeom prst="rect">
            <a:avLst/>
          </a:prstGeom>
          <a:solidFill>
            <a:srgbClr val="0B2C4A"/>
          </a:solidFill>
          <a:ln/>
        </p:spPr>
      </p:sp>
      <p:sp>
        <p:nvSpPr>
          <p:cNvPr id="161" name="Text 159"/>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162" name="Shape 160"/>
          <p:cNvSpPr/>
          <p:nvPr/>
        </p:nvSpPr>
        <p:spPr>
          <a:xfrm>
            <a:off x="6153912" y="4822653"/>
            <a:ext cx="5358384" cy="220532"/>
          </a:xfrm>
          <a:prstGeom prst="rect">
            <a:avLst/>
          </a:prstGeom>
          <a:solidFill>
            <a:srgbClr val="EDF4FA"/>
          </a:solidFill>
          <a:ln/>
        </p:spPr>
      </p:sp>
      <p:sp>
        <p:nvSpPr>
          <p:cNvPr id="163" name="Text 161"/>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165" name="Shape 163"/>
          <p:cNvSpPr/>
          <p:nvPr/>
        </p:nvSpPr>
        <p:spPr>
          <a:xfrm>
            <a:off x="8558784" y="4877786"/>
            <a:ext cx="625128" cy="110266"/>
          </a:xfrm>
          <a:prstGeom prst="rect">
            <a:avLst/>
          </a:prstGeom>
          <a:solidFill>
            <a:srgbClr val="C2352F"/>
          </a:solidFill>
          <a:ln/>
        </p:spPr>
      </p:sp>
      <p:sp>
        <p:nvSpPr>
          <p:cNvPr id="166" name="Shape 164"/>
          <p:cNvSpPr/>
          <p:nvPr/>
        </p:nvSpPr>
        <p:spPr>
          <a:xfrm>
            <a:off x="9288611" y="4844706"/>
            <a:ext cx="21946" cy="176425"/>
          </a:xfrm>
          <a:prstGeom prst="rect">
            <a:avLst/>
          </a:prstGeom>
          <a:solidFill>
            <a:srgbClr val="0B2C4A"/>
          </a:solidFill>
          <a:ln/>
        </p:spPr>
      </p:sp>
      <p:sp>
        <p:nvSpPr>
          <p:cNvPr id="167" name="Text 165"/>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68" name="Shape 166"/>
          <p:cNvSpPr/>
          <p:nvPr/>
        </p:nvSpPr>
        <p:spPr>
          <a:xfrm>
            <a:off x="6153912" y="5043185"/>
            <a:ext cx="5358384" cy="220532"/>
          </a:xfrm>
          <a:prstGeom prst="rect">
            <a:avLst/>
          </a:prstGeom>
          <a:solidFill>
            <a:srgbClr val="EDF4FA"/>
          </a:solidFill>
          <a:ln/>
        </p:spPr>
      </p:sp>
      <p:sp>
        <p:nvSpPr>
          <p:cNvPr id="169" name="Text 167"/>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171" name="Shape 169"/>
          <p:cNvSpPr/>
          <p:nvPr/>
        </p:nvSpPr>
        <p:spPr>
          <a:xfrm>
            <a:off x="8558784" y="5098318"/>
            <a:ext cx="624943" cy="110266"/>
          </a:xfrm>
          <a:prstGeom prst="rect">
            <a:avLst/>
          </a:prstGeom>
          <a:solidFill>
            <a:srgbClr val="C2352F"/>
          </a:solidFill>
          <a:ln/>
        </p:spPr>
      </p:sp>
      <p:sp>
        <p:nvSpPr>
          <p:cNvPr id="172" name="Shape 170"/>
          <p:cNvSpPr/>
          <p:nvPr/>
        </p:nvSpPr>
        <p:spPr>
          <a:xfrm>
            <a:off x="9288611" y="5065238"/>
            <a:ext cx="21946" cy="176425"/>
          </a:xfrm>
          <a:prstGeom prst="rect">
            <a:avLst/>
          </a:prstGeom>
          <a:solidFill>
            <a:srgbClr val="0B2C4A"/>
          </a:solidFill>
          <a:ln/>
        </p:spPr>
      </p:sp>
      <p:sp>
        <p:nvSpPr>
          <p:cNvPr id="173" name="Text 171"/>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74" name="Shape 172"/>
          <p:cNvSpPr/>
          <p:nvPr/>
        </p:nvSpPr>
        <p:spPr>
          <a:xfrm>
            <a:off x="6153912" y="5263717"/>
            <a:ext cx="5358384" cy="220532"/>
          </a:xfrm>
          <a:prstGeom prst="rect">
            <a:avLst/>
          </a:prstGeom>
          <a:solidFill>
            <a:srgbClr val="EDF4FA"/>
          </a:solidFill>
          <a:ln/>
        </p:spPr>
      </p:sp>
      <p:sp>
        <p:nvSpPr>
          <p:cNvPr id="175" name="Text 173"/>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177" name="Shape 175"/>
          <p:cNvSpPr/>
          <p:nvPr/>
        </p:nvSpPr>
        <p:spPr>
          <a:xfrm>
            <a:off x="8558784" y="5318850"/>
            <a:ext cx="624412" cy="110266"/>
          </a:xfrm>
          <a:prstGeom prst="rect">
            <a:avLst/>
          </a:prstGeom>
          <a:solidFill>
            <a:srgbClr val="C2352F"/>
          </a:solidFill>
          <a:ln/>
        </p:spPr>
      </p:sp>
      <p:sp>
        <p:nvSpPr>
          <p:cNvPr id="178" name="Shape 176"/>
          <p:cNvSpPr/>
          <p:nvPr/>
        </p:nvSpPr>
        <p:spPr>
          <a:xfrm>
            <a:off x="9288611" y="5285770"/>
            <a:ext cx="21946" cy="176425"/>
          </a:xfrm>
          <a:prstGeom prst="rect">
            <a:avLst/>
          </a:prstGeom>
          <a:solidFill>
            <a:srgbClr val="0B2C4A"/>
          </a:solidFill>
          <a:ln/>
        </p:spPr>
      </p:sp>
      <p:sp>
        <p:nvSpPr>
          <p:cNvPr id="179" name="Text 177"/>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80" name="Shape 178"/>
          <p:cNvSpPr/>
          <p:nvPr/>
        </p:nvSpPr>
        <p:spPr>
          <a:xfrm>
            <a:off x="6153912" y="5484248"/>
            <a:ext cx="5358384" cy="220532"/>
          </a:xfrm>
          <a:prstGeom prst="rect">
            <a:avLst/>
          </a:prstGeom>
          <a:solidFill>
            <a:srgbClr val="EDF4FA"/>
          </a:solidFill>
          <a:ln/>
        </p:spPr>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83" name="Shape 181"/>
          <p:cNvSpPr/>
          <p:nvPr/>
        </p:nvSpPr>
        <p:spPr>
          <a:xfrm>
            <a:off x="8558784" y="5539381"/>
            <a:ext cx="579399" cy="110266"/>
          </a:xfrm>
          <a:prstGeom prst="rect">
            <a:avLst/>
          </a:prstGeom>
          <a:solidFill>
            <a:srgbClr val="C2352F"/>
          </a:solidFill>
          <a:ln/>
        </p:spPr>
      </p:sp>
      <p:sp>
        <p:nvSpPr>
          <p:cNvPr id="184" name="Shape 182"/>
          <p:cNvSpPr/>
          <p:nvPr/>
        </p:nvSpPr>
        <p:spPr>
          <a:xfrm>
            <a:off x="9288611"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4 of 9 luxury stores beat 17.4 and 14 of 24 others beat 29.3. Kia St George leads non-luxury at 39.8.</a:t>
            </a:r>
            <a:endParaRPr lang="en-US" sz="1600" dirty="0"/>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led by Hyundai Prescott at +6.9 to 31.4. 11 declined; Kia St George fell most at −6.6.</a:t>
            </a:r>
            <a:endParaRPr lang="en-US" sz="1600" dirty="0"/>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276, non-luxury 418. Green at or above it.</a:t>
            </a:r>
            <a:endParaRPr lang="en-US" sz="1400" dirty="0"/>
          </a:p>
        </p:txBody>
      </p:sp>
      <p:sp>
        <p:nvSpPr>
          <p:cNvPr id="12" name="Text 10"/>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3008376" y="2231405"/>
            <a:ext cx="1691640" cy="110266"/>
          </a:xfrm>
          <a:prstGeom prst="rect">
            <a:avLst/>
          </a:prstGeom>
          <a:solidFill>
            <a:srgbClr val="12A566"/>
          </a:solidFill>
          <a:ln/>
        </p:spPr>
      </p:sp>
      <p:sp>
        <p:nvSpPr>
          <p:cNvPr id="15" name="Shape 13"/>
          <p:cNvSpPr/>
          <p:nvPr/>
        </p:nvSpPr>
        <p:spPr>
          <a:xfrm>
            <a:off x="3689433" y="2198325"/>
            <a:ext cx="21946" cy="176425"/>
          </a:xfrm>
          <a:prstGeom prst="rect">
            <a:avLst/>
          </a:prstGeom>
          <a:solidFill>
            <a:srgbClr val="0B2C4A"/>
          </a:solidFill>
          <a:ln/>
        </p:spPr>
      </p:sp>
      <p:sp>
        <p:nvSpPr>
          <p:cNvPr id="16" name="Text 14"/>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17" name="Text 15"/>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9" name="Shape 17"/>
          <p:cNvSpPr/>
          <p:nvPr/>
        </p:nvSpPr>
        <p:spPr>
          <a:xfrm>
            <a:off x="3008376" y="2451937"/>
            <a:ext cx="1266793" cy="110266"/>
          </a:xfrm>
          <a:prstGeom prst="rect">
            <a:avLst/>
          </a:prstGeom>
          <a:solidFill>
            <a:srgbClr val="12A566"/>
          </a:solidFill>
          <a:ln/>
        </p:spPr>
      </p:sp>
      <p:sp>
        <p:nvSpPr>
          <p:cNvPr id="20" name="Shape 18"/>
          <p:cNvSpPr/>
          <p:nvPr/>
        </p:nvSpPr>
        <p:spPr>
          <a:xfrm>
            <a:off x="3689433" y="2418857"/>
            <a:ext cx="21946" cy="176425"/>
          </a:xfrm>
          <a:prstGeom prst="rect">
            <a:avLst/>
          </a:prstGeom>
          <a:solidFill>
            <a:srgbClr val="0B2C4A"/>
          </a:solidFill>
          <a:ln/>
        </p:spPr>
      </p:sp>
      <p:sp>
        <p:nvSpPr>
          <p:cNvPr id="21" name="Text 19"/>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22" name="Text 20"/>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4" name="Shape 22"/>
          <p:cNvSpPr/>
          <p:nvPr/>
        </p:nvSpPr>
        <p:spPr>
          <a:xfrm>
            <a:off x="3008376" y="2672468"/>
            <a:ext cx="1135515" cy="110266"/>
          </a:xfrm>
          <a:prstGeom prst="rect">
            <a:avLst/>
          </a:prstGeom>
          <a:solidFill>
            <a:srgbClr val="12A566"/>
          </a:solidFill>
          <a:ln/>
        </p:spPr>
      </p:sp>
      <p:sp>
        <p:nvSpPr>
          <p:cNvPr id="25" name="Shape 23"/>
          <p:cNvSpPr/>
          <p:nvPr/>
        </p:nvSpPr>
        <p:spPr>
          <a:xfrm>
            <a:off x="3689433" y="2639389"/>
            <a:ext cx="21946" cy="176425"/>
          </a:xfrm>
          <a:prstGeom prst="rect">
            <a:avLst/>
          </a:prstGeom>
          <a:solidFill>
            <a:srgbClr val="0B2C4A"/>
          </a:solidFill>
          <a:ln/>
        </p:spPr>
      </p:sp>
      <p:sp>
        <p:nvSpPr>
          <p:cNvPr id="26" name="Text 24"/>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27" name="Text 25"/>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9" name="Shape 27"/>
          <p:cNvSpPr/>
          <p:nvPr/>
        </p:nvSpPr>
        <p:spPr>
          <a:xfrm>
            <a:off x="3008376" y="2893000"/>
            <a:ext cx="1087688" cy="110266"/>
          </a:xfrm>
          <a:prstGeom prst="rect">
            <a:avLst/>
          </a:prstGeom>
          <a:solidFill>
            <a:srgbClr val="12A566"/>
          </a:solidFill>
          <a:ln/>
        </p:spPr>
      </p:sp>
      <p:sp>
        <p:nvSpPr>
          <p:cNvPr id="30" name="Shape 28"/>
          <p:cNvSpPr/>
          <p:nvPr/>
        </p:nvSpPr>
        <p:spPr>
          <a:xfrm>
            <a:off x="3689433" y="2859920"/>
            <a:ext cx="21946" cy="176425"/>
          </a:xfrm>
          <a:prstGeom prst="rect">
            <a:avLst/>
          </a:prstGeom>
          <a:solidFill>
            <a:srgbClr val="0B2C4A"/>
          </a:solidFill>
          <a:ln/>
        </p:spPr>
      </p:sp>
      <p:sp>
        <p:nvSpPr>
          <p:cNvPr id="31" name="Text 29"/>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32" name="Text 30"/>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4" name="Shape 32"/>
          <p:cNvSpPr/>
          <p:nvPr/>
        </p:nvSpPr>
        <p:spPr>
          <a:xfrm>
            <a:off x="3008376" y="3113532"/>
            <a:ext cx="977626" cy="110266"/>
          </a:xfrm>
          <a:prstGeom prst="rect">
            <a:avLst/>
          </a:prstGeom>
          <a:solidFill>
            <a:srgbClr val="12A566"/>
          </a:solidFill>
          <a:ln/>
        </p:spPr>
      </p:sp>
      <p:sp>
        <p:nvSpPr>
          <p:cNvPr id="35" name="Shape 33"/>
          <p:cNvSpPr/>
          <p:nvPr/>
        </p:nvSpPr>
        <p:spPr>
          <a:xfrm>
            <a:off x="3689433" y="3080452"/>
            <a:ext cx="21946" cy="176425"/>
          </a:xfrm>
          <a:prstGeom prst="rect">
            <a:avLst/>
          </a:prstGeom>
          <a:solidFill>
            <a:srgbClr val="0B2C4A"/>
          </a:solidFill>
          <a:ln/>
        </p:spPr>
      </p:sp>
      <p:sp>
        <p:nvSpPr>
          <p:cNvPr id="36" name="Text 34"/>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37" name="Text 35"/>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9" name="Shape 37"/>
          <p:cNvSpPr/>
          <p:nvPr/>
        </p:nvSpPr>
        <p:spPr>
          <a:xfrm>
            <a:off x="3008376" y="3334064"/>
            <a:ext cx="926687" cy="110266"/>
          </a:xfrm>
          <a:prstGeom prst="rect">
            <a:avLst/>
          </a:prstGeom>
          <a:solidFill>
            <a:srgbClr val="12A566"/>
          </a:solidFill>
          <a:ln/>
        </p:spPr>
      </p:sp>
      <p:sp>
        <p:nvSpPr>
          <p:cNvPr id="40" name="Shape 38"/>
          <p:cNvSpPr/>
          <p:nvPr/>
        </p:nvSpPr>
        <p:spPr>
          <a:xfrm>
            <a:off x="3689433" y="3300984"/>
            <a:ext cx="21946" cy="176425"/>
          </a:xfrm>
          <a:prstGeom prst="rect">
            <a:avLst/>
          </a:prstGeom>
          <a:solidFill>
            <a:srgbClr val="0B2C4A"/>
          </a:solidFill>
          <a:ln/>
        </p:spPr>
      </p:sp>
      <p:sp>
        <p:nvSpPr>
          <p:cNvPr id="41" name="Text 39"/>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42" name="Shape 40"/>
          <p:cNvSpPr/>
          <p:nvPr/>
        </p:nvSpPr>
        <p:spPr>
          <a:xfrm>
            <a:off x="603504" y="3499463"/>
            <a:ext cx="5358384" cy="220532"/>
          </a:xfrm>
          <a:prstGeom prst="rect">
            <a:avLst/>
          </a:prstGeom>
          <a:solidFill>
            <a:srgbClr val="EDF4FA"/>
          </a:solidFill>
          <a:ln/>
        </p:spPr>
      </p:sp>
      <p:sp>
        <p:nvSpPr>
          <p:cNvPr id="43" name="Text 41"/>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4" name="Text 42"/>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008376" y="3554596"/>
            <a:ext cx="812777" cy="110266"/>
          </a:xfrm>
          <a:prstGeom prst="rect">
            <a:avLst/>
          </a:prstGeom>
          <a:solidFill>
            <a:srgbClr val="12A566"/>
          </a:solidFill>
          <a:ln/>
        </p:spPr>
      </p:sp>
      <p:sp>
        <p:nvSpPr>
          <p:cNvPr id="46" name="Shape 44"/>
          <p:cNvSpPr/>
          <p:nvPr/>
        </p:nvSpPr>
        <p:spPr>
          <a:xfrm>
            <a:off x="3453660" y="3521516"/>
            <a:ext cx="21946" cy="176425"/>
          </a:xfrm>
          <a:prstGeom prst="rect">
            <a:avLst/>
          </a:prstGeom>
          <a:solidFill>
            <a:srgbClr val="0B2C4A"/>
          </a:solidFill>
          <a:ln/>
        </p:spPr>
      </p:sp>
      <p:sp>
        <p:nvSpPr>
          <p:cNvPr id="47" name="Text 45"/>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48" name="Text 46"/>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9" name="Text 47"/>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0" name="Shape 48"/>
          <p:cNvSpPr/>
          <p:nvPr/>
        </p:nvSpPr>
        <p:spPr>
          <a:xfrm>
            <a:off x="3008376" y="3775127"/>
            <a:ext cx="707282" cy="110266"/>
          </a:xfrm>
          <a:prstGeom prst="rect">
            <a:avLst/>
          </a:prstGeom>
          <a:solidFill>
            <a:srgbClr val="12A566"/>
          </a:solidFill>
          <a:ln/>
        </p:spPr>
      </p:sp>
      <p:sp>
        <p:nvSpPr>
          <p:cNvPr id="51" name="Shape 49"/>
          <p:cNvSpPr/>
          <p:nvPr/>
        </p:nvSpPr>
        <p:spPr>
          <a:xfrm>
            <a:off x="3689433" y="3742048"/>
            <a:ext cx="21946" cy="176425"/>
          </a:xfrm>
          <a:prstGeom prst="rect">
            <a:avLst/>
          </a:prstGeom>
          <a:solidFill>
            <a:srgbClr val="0B2C4A"/>
          </a:solidFill>
          <a:ln/>
        </p:spPr>
      </p:sp>
      <p:sp>
        <p:nvSpPr>
          <p:cNvPr id="52" name="Text 50"/>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3" name="Text 51"/>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4" name="Text 52"/>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5" name="Shape 53"/>
          <p:cNvSpPr/>
          <p:nvPr/>
        </p:nvSpPr>
        <p:spPr>
          <a:xfrm>
            <a:off x="3008376" y="3995659"/>
            <a:ext cx="660630" cy="110266"/>
          </a:xfrm>
          <a:prstGeom prst="rect">
            <a:avLst/>
          </a:prstGeom>
          <a:solidFill>
            <a:srgbClr val="C2352F"/>
          </a:solidFill>
          <a:ln/>
        </p:spPr>
      </p:sp>
      <p:sp>
        <p:nvSpPr>
          <p:cNvPr id="56" name="Shape 54"/>
          <p:cNvSpPr/>
          <p:nvPr/>
        </p:nvSpPr>
        <p:spPr>
          <a:xfrm>
            <a:off x="3689433" y="3962579"/>
            <a:ext cx="21946" cy="176425"/>
          </a:xfrm>
          <a:prstGeom prst="rect">
            <a:avLst/>
          </a:prstGeom>
          <a:solidFill>
            <a:srgbClr val="0B2C4A"/>
          </a:solidFill>
          <a:ln/>
        </p:spPr>
      </p:sp>
      <p:sp>
        <p:nvSpPr>
          <p:cNvPr id="57" name="Text 55"/>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58" name="Text 56"/>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0" name="Shape 58"/>
          <p:cNvSpPr/>
          <p:nvPr/>
        </p:nvSpPr>
        <p:spPr>
          <a:xfrm>
            <a:off x="3008376" y="4216191"/>
            <a:ext cx="649017" cy="110266"/>
          </a:xfrm>
          <a:prstGeom prst="rect">
            <a:avLst/>
          </a:prstGeom>
          <a:solidFill>
            <a:srgbClr val="C2352F"/>
          </a:solidFill>
          <a:ln/>
        </p:spPr>
      </p:sp>
      <p:sp>
        <p:nvSpPr>
          <p:cNvPr id="61" name="Shape 59"/>
          <p:cNvSpPr/>
          <p:nvPr/>
        </p:nvSpPr>
        <p:spPr>
          <a:xfrm>
            <a:off x="3689433" y="4183111"/>
            <a:ext cx="21946" cy="176425"/>
          </a:xfrm>
          <a:prstGeom prst="rect">
            <a:avLst/>
          </a:prstGeom>
          <a:solidFill>
            <a:srgbClr val="0B2C4A"/>
          </a:solidFill>
          <a:ln/>
        </p:spPr>
      </p:sp>
      <p:sp>
        <p:nvSpPr>
          <p:cNvPr id="62" name="Text 60"/>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63" name="Text 61"/>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4" name="Text 62"/>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4436723"/>
            <a:ext cx="623218" cy="110266"/>
          </a:xfrm>
          <a:prstGeom prst="rect">
            <a:avLst/>
          </a:prstGeom>
          <a:solidFill>
            <a:srgbClr val="C2352F"/>
          </a:solidFill>
          <a:ln/>
        </p:spPr>
      </p:sp>
      <p:sp>
        <p:nvSpPr>
          <p:cNvPr id="66" name="Shape 64"/>
          <p:cNvSpPr/>
          <p:nvPr/>
        </p:nvSpPr>
        <p:spPr>
          <a:xfrm>
            <a:off x="3689433" y="4403643"/>
            <a:ext cx="21946" cy="176425"/>
          </a:xfrm>
          <a:prstGeom prst="rect">
            <a:avLst/>
          </a:prstGeom>
          <a:solidFill>
            <a:srgbClr val="0B2C4A"/>
          </a:solidFill>
          <a:ln/>
        </p:spPr>
      </p:sp>
      <p:sp>
        <p:nvSpPr>
          <p:cNvPr id="67" name="Text 65"/>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68" name="Text 66"/>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9" name="Text 67"/>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0" name="Shape 68"/>
          <p:cNvSpPr/>
          <p:nvPr/>
        </p:nvSpPr>
        <p:spPr>
          <a:xfrm>
            <a:off x="3008376" y="4657254"/>
            <a:ext cx="611568" cy="110266"/>
          </a:xfrm>
          <a:prstGeom prst="rect">
            <a:avLst/>
          </a:prstGeom>
          <a:solidFill>
            <a:srgbClr val="C2352F"/>
          </a:solidFill>
          <a:ln/>
        </p:spPr>
      </p:sp>
      <p:sp>
        <p:nvSpPr>
          <p:cNvPr id="71" name="Shape 69"/>
          <p:cNvSpPr/>
          <p:nvPr/>
        </p:nvSpPr>
        <p:spPr>
          <a:xfrm>
            <a:off x="3689433" y="4624175"/>
            <a:ext cx="21946" cy="176425"/>
          </a:xfrm>
          <a:prstGeom prst="rect">
            <a:avLst/>
          </a:prstGeom>
          <a:solidFill>
            <a:srgbClr val="0B2C4A"/>
          </a:solidFill>
          <a:ln/>
        </p:spPr>
      </p:sp>
      <p:sp>
        <p:nvSpPr>
          <p:cNvPr id="72" name="Text 70"/>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73" name="Shape 71"/>
          <p:cNvSpPr/>
          <p:nvPr/>
        </p:nvSpPr>
        <p:spPr>
          <a:xfrm>
            <a:off x="603504" y="4822653"/>
            <a:ext cx="5358384" cy="220532"/>
          </a:xfrm>
          <a:prstGeom prst="rect">
            <a:avLst/>
          </a:prstGeom>
          <a:solidFill>
            <a:srgbClr val="EDF4FA"/>
          </a:solidFill>
          <a:ln/>
        </p:spPr>
      </p:sp>
      <p:sp>
        <p:nvSpPr>
          <p:cNvPr id="74" name="Text 72"/>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5" name="Text 73"/>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76" name="Shape 74"/>
          <p:cNvSpPr/>
          <p:nvPr/>
        </p:nvSpPr>
        <p:spPr>
          <a:xfrm>
            <a:off x="3008376" y="4877786"/>
            <a:ext cx="606908" cy="110266"/>
          </a:xfrm>
          <a:prstGeom prst="rect">
            <a:avLst/>
          </a:prstGeom>
          <a:solidFill>
            <a:srgbClr val="12A566"/>
          </a:solidFill>
          <a:ln/>
        </p:spPr>
      </p:sp>
      <p:sp>
        <p:nvSpPr>
          <p:cNvPr id="77" name="Shape 75"/>
          <p:cNvSpPr/>
          <p:nvPr/>
        </p:nvSpPr>
        <p:spPr>
          <a:xfrm>
            <a:off x="3453660" y="4844706"/>
            <a:ext cx="21946" cy="176425"/>
          </a:xfrm>
          <a:prstGeom prst="rect">
            <a:avLst/>
          </a:prstGeom>
          <a:solidFill>
            <a:srgbClr val="0B2C4A"/>
          </a:solidFill>
          <a:ln/>
        </p:spPr>
      </p:sp>
      <p:sp>
        <p:nvSpPr>
          <p:cNvPr id="78" name="Text 76"/>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79" name="Text 77"/>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0" name="Text 78"/>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1" name="Shape 79"/>
          <p:cNvSpPr/>
          <p:nvPr/>
        </p:nvSpPr>
        <p:spPr>
          <a:xfrm>
            <a:off x="3008376" y="5098318"/>
            <a:ext cx="589371" cy="110266"/>
          </a:xfrm>
          <a:prstGeom prst="rect">
            <a:avLst/>
          </a:prstGeom>
          <a:solidFill>
            <a:srgbClr val="C2352F"/>
          </a:solidFill>
          <a:ln/>
        </p:spPr>
      </p:sp>
      <p:sp>
        <p:nvSpPr>
          <p:cNvPr id="82" name="Shape 80"/>
          <p:cNvSpPr/>
          <p:nvPr/>
        </p:nvSpPr>
        <p:spPr>
          <a:xfrm>
            <a:off x="3689433" y="5065238"/>
            <a:ext cx="21946" cy="176425"/>
          </a:xfrm>
          <a:prstGeom prst="rect">
            <a:avLst/>
          </a:prstGeom>
          <a:solidFill>
            <a:srgbClr val="0B2C4A"/>
          </a:solidFill>
          <a:ln/>
        </p:spPr>
      </p:sp>
      <p:sp>
        <p:nvSpPr>
          <p:cNvPr id="83" name="Text 81"/>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84" name="Text 82"/>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5" name="Text 83"/>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6" name="Shape 84"/>
          <p:cNvSpPr/>
          <p:nvPr/>
        </p:nvSpPr>
        <p:spPr>
          <a:xfrm>
            <a:off x="3008376" y="5318850"/>
            <a:ext cx="581573" cy="110266"/>
          </a:xfrm>
          <a:prstGeom prst="rect">
            <a:avLst/>
          </a:prstGeom>
          <a:solidFill>
            <a:srgbClr val="C2352F"/>
          </a:solidFill>
          <a:ln/>
        </p:spPr>
      </p:sp>
      <p:sp>
        <p:nvSpPr>
          <p:cNvPr id="87" name="Shape 85"/>
          <p:cNvSpPr/>
          <p:nvPr/>
        </p:nvSpPr>
        <p:spPr>
          <a:xfrm>
            <a:off x="3689433" y="5285770"/>
            <a:ext cx="21946" cy="176425"/>
          </a:xfrm>
          <a:prstGeom prst="rect">
            <a:avLst/>
          </a:prstGeom>
          <a:solidFill>
            <a:srgbClr val="0B2C4A"/>
          </a:solidFill>
          <a:ln/>
        </p:spPr>
      </p:sp>
      <p:sp>
        <p:nvSpPr>
          <p:cNvPr id="88" name="Text 86"/>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89" name="Shape 87"/>
          <p:cNvSpPr/>
          <p:nvPr/>
        </p:nvSpPr>
        <p:spPr>
          <a:xfrm>
            <a:off x="603504" y="5484248"/>
            <a:ext cx="5358384" cy="220532"/>
          </a:xfrm>
          <a:prstGeom prst="rect">
            <a:avLst/>
          </a:prstGeom>
          <a:solidFill>
            <a:srgbClr val="EDF4FA"/>
          </a:solidFill>
          <a:ln/>
        </p:spPr>
      </p:sp>
      <p:sp>
        <p:nvSpPr>
          <p:cNvPr id="90" name="Text 88"/>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92" name="Shape 90"/>
          <p:cNvSpPr/>
          <p:nvPr/>
        </p:nvSpPr>
        <p:spPr>
          <a:xfrm>
            <a:off x="3008376" y="5539381"/>
            <a:ext cx="551018" cy="110266"/>
          </a:xfrm>
          <a:prstGeom prst="rect">
            <a:avLst/>
          </a:prstGeom>
          <a:solidFill>
            <a:srgbClr val="12A566"/>
          </a:solidFill>
          <a:ln/>
        </p:spPr>
      </p:sp>
      <p:sp>
        <p:nvSpPr>
          <p:cNvPr id="93" name="Shape 91"/>
          <p:cNvSpPr/>
          <p:nvPr/>
        </p:nvSpPr>
        <p:spPr>
          <a:xfrm>
            <a:off x="3453660" y="5506302"/>
            <a:ext cx="21946" cy="176425"/>
          </a:xfrm>
          <a:prstGeom prst="rect">
            <a:avLst/>
          </a:prstGeom>
          <a:solidFill>
            <a:srgbClr val="0B2C4A"/>
          </a:solidFill>
          <a:ln/>
        </p:spPr>
      </p:sp>
      <p:sp>
        <p:nvSpPr>
          <p:cNvPr id="94" name="Text 92"/>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95" name="Text 93"/>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759913"/>
            <a:ext cx="541238" cy="110266"/>
          </a:xfrm>
          <a:prstGeom prst="rect">
            <a:avLst/>
          </a:prstGeom>
          <a:solidFill>
            <a:srgbClr val="C2352F"/>
          </a:solidFill>
          <a:ln/>
        </p:spPr>
      </p:sp>
      <p:sp>
        <p:nvSpPr>
          <p:cNvPr id="98" name="Shape 96"/>
          <p:cNvSpPr/>
          <p:nvPr/>
        </p:nvSpPr>
        <p:spPr>
          <a:xfrm>
            <a:off x="3689433" y="5726833"/>
            <a:ext cx="21946" cy="176425"/>
          </a:xfrm>
          <a:prstGeom prst="rect">
            <a:avLst/>
          </a:prstGeom>
          <a:solidFill>
            <a:srgbClr val="0B2C4A"/>
          </a:solidFill>
          <a:ln/>
        </p:spPr>
      </p:sp>
      <p:sp>
        <p:nvSpPr>
          <p:cNvPr id="99" name="Text 97"/>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00" name="Text 98"/>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2" name="Shape 100"/>
          <p:cNvSpPr/>
          <p:nvPr/>
        </p:nvSpPr>
        <p:spPr>
          <a:xfrm>
            <a:off x="8558784" y="2231405"/>
            <a:ext cx="510457" cy="110266"/>
          </a:xfrm>
          <a:prstGeom prst="rect">
            <a:avLst/>
          </a:prstGeom>
          <a:solidFill>
            <a:srgbClr val="C2352F"/>
          </a:solidFill>
          <a:ln/>
        </p:spPr>
      </p:sp>
      <p:sp>
        <p:nvSpPr>
          <p:cNvPr id="103" name="Shape 101"/>
          <p:cNvSpPr/>
          <p:nvPr/>
        </p:nvSpPr>
        <p:spPr>
          <a:xfrm>
            <a:off x="9239841" y="2198325"/>
            <a:ext cx="21946" cy="176425"/>
          </a:xfrm>
          <a:prstGeom prst="rect">
            <a:avLst/>
          </a:prstGeom>
          <a:solidFill>
            <a:srgbClr val="0B2C4A"/>
          </a:solidFill>
          <a:ln/>
        </p:spPr>
      </p:sp>
      <p:sp>
        <p:nvSpPr>
          <p:cNvPr id="104" name="Text 102"/>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5" name="Text 103"/>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7" name="Shape 105"/>
          <p:cNvSpPr/>
          <p:nvPr/>
        </p:nvSpPr>
        <p:spPr>
          <a:xfrm>
            <a:off x="8558784" y="2451937"/>
            <a:ext cx="495680" cy="110266"/>
          </a:xfrm>
          <a:prstGeom prst="rect">
            <a:avLst/>
          </a:prstGeom>
          <a:solidFill>
            <a:srgbClr val="C2352F"/>
          </a:solidFill>
          <a:ln/>
        </p:spPr>
      </p:sp>
      <p:sp>
        <p:nvSpPr>
          <p:cNvPr id="108" name="Shape 106"/>
          <p:cNvSpPr/>
          <p:nvPr/>
        </p:nvSpPr>
        <p:spPr>
          <a:xfrm>
            <a:off x="9239841" y="2418857"/>
            <a:ext cx="21946" cy="176425"/>
          </a:xfrm>
          <a:prstGeom prst="rect">
            <a:avLst/>
          </a:prstGeom>
          <a:solidFill>
            <a:srgbClr val="0B2C4A"/>
          </a:solidFill>
          <a:ln/>
        </p:spPr>
      </p:sp>
      <p:sp>
        <p:nvSpPr>
          <p:cNvPr id="109" name="Text 107"/>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0" name="Shape 108"/>
          <p:cNvSpPr/>
          <p:nvPr/>
        </p:nvSpPr>
        <p:spPr>
          <a:xfrm>
            <a:off x="6153912" y="2617336"/>
            <a:ext cx="5358384" cy="220532"/>
          </a:xfrm>
          <a:prstGeom prst="rect">
            <a:avLst/>
          </a:prstGeom>
          <a:solidFill>
            <a:srgbClr val="EDF4FA"/>
          </a:solidFill>
          <a:ln/>
        </p:spPr>
      </p:sp>
      <p:sp>
        <p:nvSpPr>
          <p:cNvPr id="111" name="Text 109"/>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2" name="Text 110"/>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58784" y="2672468"/>
            <a:ext cx="482497" cy="110266"/>
          </a:xfrm>
          <a:prstGeom prst="rect">
            <a:avLst/>
          </a:prstGeom>
          <a:solidFill>
            <a:srgbClr val="12A566"/>
          </a:solidFill>
          <a:ln/>
        </p:spPr>
      </p:sp>
      <p:sp>
        <p:nvSpPr>
          <p:cNvPr id="114" name="Shape 112"/>
          <p:cNvSpPr/>
          <p:nvPr/>
        </p:nvSpPr>
        <p:spPr>
          <a:xfrm>
            <a:off x="9004068" y="2639389"/>
            <a:ext cx="21946" cy="176425"/>
          </a:xfrm>
          <a:prstGeom prst="rect">
            <a:avLst/>
          </a:prstGeom>
          <a:solidFill>
            <a:srgbClr val="0B2C4A"/>
          </a:solidFill>
          <a:ln/>
        </p:spPr>
      </p:sp>
      <p:sp>
        <p:nvSpPr>
          <p:cNvPr id="115" name="Text 113"/>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116" name="Shape 114"/>
          <p:cNvSpPr/>
          <p:nvPr/>
        </p:nvSpPr>
        <p:spPr>
          <a:xfrm>
            <a:off x="6153912" y="2837867"/>
            <a:ext cx="5358384" cy="220532"/>
          </a:xfrm>
          <a:prstGeom prst="rect">
            <a:avLst/>
          </a:prstGeom>
          <a:solidFill>
            <a:srgbClr val="EDF4FA"/>
          </a:solidFill>
          <a:ln/>
        </p:spPr>
      </p:sp>
      <p:sp>
        <p:nvSpPr>
          <p:cNvPr id="117" name="Text 115"/>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8" name="Text 116"/>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119" name="Shape 117"/>
          <p:cNvSpPr/>
          <p:nvPr/>
        </p:nvSpPr>
        <p:spPr>
          <a:xfrm>
            <a:off x="8558784" y="2893000"/>
            <a:ext cx="476059" cy="110266"/>
          </a:xfrm>
          <a:prstGeom prst="rect">
            <a:avLst/>
          </a:prstGeom>
          <a:solidFill>
            <a:srgbClr val="12A566"/>
          </a:solidFill>
          <a:ln/>
        </p:spPr>
      </p:sp>
      <p:sp>
        <p:nvSpPr>
          <p:cNvPr id="120" name="Shape 118"/>
          <p:cNvSpPr/>
          <p:nvPr/>
        </p:nvSpPr>
        <p:spPr>
          <a:xfrm>
            <a:off x="9004068" y="2859920"/>
            <a:ext cx="21946" cy="176425"/>
          </a:xfrm>
          <a:prstGeom prst="rect">
            <a:avLst/>
          </a:prstGeom>
          <a:solidFill>
            <a:srgbClr val="0B2C4A"/>
          </a:solidFill>
          <a:ln/>
        </p:spPr>
      </p:sp>
      <p:sp>
        <p:nvSpPr>
          <p:cNvPr id="121" name="Text 119"/>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122" name="Text 120"/>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3" name="Text 121"/>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4" name="Shape 122"/>
          <p:cNvSpPr/>
          <p:nvPr/>
        </p:nvSpPr>
        <p:spPr>
          <a:xfrm>
            <a:off x="8558784" y="3113532"/>
            <a:ext cx="451778" cy="110266"/>
          </a:xfrm>
          <a:prstGeom prst="rect">
            <a:avLst/>
          </a:prstGeom>
          <a:solidFill>
            <a:srgbClr val="C2352F"/>
          </a:solidFill>
          <a:ln/>
        </p:spPr>
      </p:sp>
      <p:sp>
        <p:nvSpPr>
          <p:cNvPr id="125" name="Shape 123"/>
          <p:cNvSpPr/>
          <p:nvPr/>
        </p:nvSpPr>
        <p:spPr>
          <a:xfrm>
            <a:off x="9239841" y="3080452"/>
            <a:ext cx="21946" cy="176425"/>
          </a:xfrm>
          <a:prstGeom prst="rect">
            <a:avLst/>
          </a:prstGeom>
          <a:solidFill>
            <a:srgbClr val="0B2C4A"/>
          </a:solidFill>
          <a:ln/>
        </p:spPr>
      </p:sp>
      <p:sp>
        <p:nvSpPr>
          <p:cNvPr id="126" name="Text 124"/>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7" name="Text 125"/>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8" name="Text 126"/>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9" name="Shape 127"/>
          <p:cNvSpPr/>
          <p:nvPr/>
        </p:nvSpPr>
        <p:spPr>
          <a:xfrm>
            <a:off x="8558784" y="3334064"/>
            <a:ext cx="450306" cy="110266"/>
          </a:xfrm>
          <a:prstGeom prst="rect">
            <a:avLst/>
          </a:prstGeom>
          <a:solidFill>
            <a:srgbClr val="C2352F"/>
          </a:solidFill>
          <a:ln/>
        </p:spPr>
      </p:sp>
      <p:sp>
        <p:nvSpPr>
          <p:cNvPr id="130" name="Shape 128"/>
          <p:cNvSpPr/>
          <p:nvPr/>
        </p:nvSpPr>
        <p:spPr>
          <a:xfrm>
            <a:off x="9239841" y="3300984"/>
            <a:ext cx="21946" cy="176425"/>
          </a:xfrm>
          <a:prstGeom prst="rect">
            <a:avLst/>
          </a:prstGeom>
          <a:solidFill>
            <a:srgbClr val="0B2C4A"/>
          </a:solidFill>
          <a:ln/>
        </p:spPr>
      </p:sp>
      <p:sp>
        <p:nvSpPr>
          <p:cNvPr id="131" name="Text 129"/>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32" name="Shape 130"/>
          <p:cNvSpPr/>
          <p:nvPr/>
        </p:nvSpPr>
        <p:spPr>
          <a:xfrm>
            <a:off x="6153912" y="3499463"/>
            <a:ext cx="5358384" cy="220532"/>
          </a:xfrm>
          <a:prstGeom prst="rect">
            <a:avLst/>
          </a:prstGeom>
          <a:solidFill>
            <a:srgbClr val="EDF4FA"/>
          </a:solidFill>
          <a:ln/>
        </p:spPr>
      </p:sp>
      <p:sp>
        <p:nvSpPr>
          <p:cNvPr id="133" name="Text 131"/>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135" name="Shape 133"/>
          <p:cNvSpPr/>
          <p:nvPr/>
        </p:nvSpPr>
        <p:spPr>
          <a:xfrm>
            <a:off x="8558784" y="3554596"/>
            <a:ext cx="416908" cy="110266"/>
          </a:xfrm>
          <a:prstGeom prst="rect">
            <a:avLst/>
          </a:prstGeom>
          <a:solidFill>
            <a:srgbClr val="C2352F"/>
          </a:solidFill>
          <a:ln/>
        </p:spPr>
      </p:sp>
      <p:sp>
        <p:nvSpPr>
          <p:cNvPr id="136" name="Shape 134"/>
          <p:cNvSpPr/>
          <p:nvPr/>
        </p:nvSpPr>
        <p:spPr>
          <a:xfrm>
            <a:off x="9004068" y="3521516"/>
            <a:ext cx="21946" cy="176425"/>
          </a:xfrm>
          <a:prstGeom prst="rect">
            <a:avLst/>
          </a:prstGeom>
          <a:solidFill>
            <a:srgbClr val="0B2C4A"/>
          </a:solidFill>
          <a:ln/>
        </p:spPr>
      </p:sp>
      <p:sp>
        <p:nvSpPr>
          <p:cNvPr id="137" name="Text 135"/>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8" name="Text 136"/>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0" name="Shape 138"/>
          <p:cNvSpPr/>
          <p:nvPr/>
        </p:nvSpPr>
        <p:spPr>
          <a:xfrm>
            <a:off x="8558784" y="3775127"/>
            <a:ext cx="384775" cy="110266"/>
          </a:xfrm>
          <a:prstGeom prst="rect">
            <a:avLst/>
          </a:prstGeom>
          <a:solidFill>
            <a:srgbClr val="C2352F"/>
          </a:solidFill>
          <a:ln/>
        </p:spPr>
      </p:sp>
      <p:sp>
        <p:nvSpPr>
          <p:cNvPr id="141" name="Shape 139"/>
          <p:cNvSpPr/>
          <p:nvPr/>
        </p:nvSpPr>
        <p:spPr>
          <a:xfrm>
            <a:off x="9239841" y="3742048"/>
            <a:ext cx="21946" cy="176425"/>
          </a:xfrm>
          <a:prstGeom prst="rect">
            <a:avLst/>
          </a:prstGeom>
          <a:solidFill>
            <a:srgbClr val="0B2C4A"/>
          </a:solidFill>
          <a:ln/>
        </p:spPr>
      </p:sp>
      <p:sp>
        <p:nvSpPr>
          <p:cNvPr id="142" name="Text 140"/>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43" name="Text 141"/>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5" name="Shape 143"/>
          <p:cNvSpPr/>
          <p:nvPr/>
        </p:nvSpPr>
        <p:spPr>
          <a:xfrm>
            <a:off x="8558784" y="3995659"/>
            <a:ext cx="381326" cy="110266"/>
          </a:xfrm>
          <a:prstGeom prst="rect">
            <a:avLst/>
          </a:prstGeom>
          <a:solidFill>
            <a:srgbClr val="C2352F"/>
          </a:solidFill>
          <a:ln/>
        </p:spPr>
      </p:sp>
      <p:sp>
        <p:nvSpPr>
          <p:cNvPr id="146" name="Shape 144"/>
          <p:cNvSpPr/>
          <p:nvPr/>
        </p:nvSpPr>
        <p:spPr>
          <a:xfrm>
            <a:off x="9239841" y="3962579"/>
            <a:ext cx="21946" cy="176425"/>
          </a:xfrm>
          <a:prstGeom prst="rect">
            <a:avLst/>
          </a:prstGeom>
          <a:solidFill>
            <a:srgbClr val="0B2C4A"/>
          </a:solidFill>
          <a:ln/>
        </p:spPr>
      </p:sp>
      <p:sp>
        <p:nvSpPr>
          <p:cNvPr id="147" name="Text 145"/>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48" name="Text 146"/>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50" name="Shape 148"/>
          <p:cNvSpPr/>
          <p:nvPr/>
        </p:nvSpPr>
        <p:spPr>
          <a:xfrm>
            <a:off x="8558784" y="4216191"/>
            <a:ext cx="364218" cy="110266"/>
          </a:xfrm>
          <a:prstGeom prst="rect">
            <a:avLst/>
          </a:prstGeom>
          <a:solidFill>
            <a:srgbClr val="C2352F"/>
          </a:solidFill>
          <a:ln/>
        </p:spPr>
      </p:sp>
      <p:sp>
        <p:nvSpPr>
          <p:cNvPr id="151" name="Shape 149"/>
          <p:cNvSpPr/>
          <p:nvPr/>
        </p:nvSpPr>
        <p:spPr>
          <a:xfrm>
            <a:off x="9239841" y="4183111"/>
            <a:ext cx="21946" cy="176425"/>
          </a:xfrm>
          <a:prstGeom prst="rect">
            <a:avLst/>
          </a:prstGeom>
          <a:solidFill>
            <a:srgbClr val="0B2C4A"/>
          </a:solidFill>
          <a:ln/>
        </p:spPr>
      </p:sp>
      <p:sp>
        <p:nvSpPr>
          <p:cNvPr id="152" name="Text 150"/>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53" name="Text 151"/>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4" name="Text 152"/>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5" name="Shape 153"/>
          <p:cNvSpPr/>
          <p:nvPr/>
        </p:nvSpPr>
        <p:spPr>
          <a:xfrm>
            <a:off x="8558784" y="4436723"/>
            <a:ext cx="336516" cy="110266"/>
          </a:xfrm>
          <a:prstGeom prst="rect">
            <a:avLst/>
          </a:prstGeom>
          <a:solidFill>
            <a:srgbClr val="C2352F"/>
          </a:solidFill>
          <a:ln/>
        </p:spPr>
      </p:sp>
      <p:sp>
        <p:nvSpPr>
          <p:cNvPr id="156" name="Shape 154"/>
          <p:cNvSpPr/>
          <p:nvPr/>
        </p:nvSpPr>
        <p:spPr>
          <a:xfrm>
            <a:off x="9239841" y="4403643"/>
            <a:ext cx="21946" cy="176425"/>
          </a:xfrm>
          <a:prstGeom prst="rect">
            <a:avLst/>
          </a:prstGeom>
          <a:solidFill>
            <a:srgbClr val="0B2C4A"/>
          </a:solidFill>
          <a:ln/>
        </p:spPr>
      </p:sp>
      <p:sp>
        <p:nvSpPr>
          <p:cNvPr id="157" name="Text 155"/>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58" name="Shape 156"/>
          <p:cNvSpPr/>
          <p:nvPr/>
        </p:nvSpPr>
        <p:spPr>
          <a:xfrm>
            <a:off x="6153912" y="4602121"/>
            <a:ext cx="5358384" cy="220532"/>
          </a:xfrm>
          <a:prstGeom prst="rect">
            <a:avLst/>
          </a:prstGeom>
          <a:solidFill>
            <a:srgbClr val="EDF4FA"/>
          </a:solidFill>
          <a:ln/>
        </p:spPr>
      </p:sp>
      <p:sp>
        <p:nvSpPr>
          <p:cNvPr id="159" name="Text 157"/>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161" name="Shape 159"/>
          <p:cNvSpPr/>
          <p:nvPr/>
        </p:nvSpPr>
        <p:spPr>
          <a:xfrm>
            <a:off x="8558784" y="4657254"/>
            <a:ext cx="328532" cy="110266"/>
          </a:xfrm>
          <a:prstGeom prst="rect">
            <a:avLst/>
          </a:prstGeom>
          <a:solidFill>
            <a:srgbClr val="C2352F"/>
          </a:solidFill>
          <a:ln/>
        </p:spPr>
      </p:sp>
      <p:sp>
        <p:nvSpPr>
          <p:cNvPr id="162" name="Shape 160"/>
          <p:cNvSpPr/>
          <p:nvPr/>
        </p:nvSpPr>
        <p:spPr>
          <a:xfrm>
            <a:off x="9004068" y="4624175"/>
            <a:ext cx="21946" cy="176425"/>
          </a:xfrm>
          <a:prstGeom prst="rect">
            <a:avLst/>
          </a:prstGeom>
          <a:solidFill>
            <a:srgbClr val="0B2C4A"/>
          </a:solidFill>
          <a:ln/>
        </p:spPr>
      </p:sp>
      <p:sp>
        <p:nvSpPr>
          <p:cNvPr id="163" name="Text 161"/>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164" name="Text 162"/>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6" name="Shape 164"/>
          <p:cNvSpPr/>
          <p:nvPr/>
        </p:nvSpPr>
        <p:spPr>
          <a:xfrm>
            <a:off x="8558784" y="4877786"/>
            <a:ext cx="318652" cy="110266"/>
          </a:xfrm>
          <a:prstGeom prst="rect">
            <a:avLst/>
          </a:prstGeom>
          <a:solidFill>
            <a:srgbClr val="C2352F"/>
          </a:solidFill>
          <a:ln/>
        </p:spPr>
      </p:sp>
      <p:sp>
        <p:nvSpPr>
          <p:cNvPr id="167" name="Shape 165"/>
          <p:cNvSpPr/>
          <p:nvPr/>
        </p:nvSpPr>
        <p:spPr>
          <a:xfrm>
            <a:off x="9239841" y="4844706"/>
            <a:ext cx="21946" cy="176425"/>
          </a:xfrm>
          <a:prstGeom prst="rect">
            <a:avLst/>
          </a:prstGeom>
          <a:solidFill>
            <a:srgbClr val="0B2C4A"/>
          </a:solidFill>
          <a:ln/>
        </p:spPr>
      </p:sp>
      <p:sp>
        <p:nvSpPr>
          <p:cNvPr id="168" name="Text 166"/>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69" name="Text 167"/>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71" name="Shape 169"/>
          <p:cNvSpPr/>
          <p:nvPr/>
        </p:nvSpPr>
        <p:spPr>
          <a:xfrm>
            <a:off x="8558784" y="5098318"/>
            <a:ext cx="254217" cy="110266"/>
          </a:xfrm>
          <a:prstGeom prst="rect">
            <a:avLst/>
          </a:prstGeom>
          <a:solidFill>
            <a:srgbClr val="C2352F"/>
          </a:solidFill>
          <a:ln/>
        </p:spPr>
      </p:sp>
      <p:sp>
        <p:nvSpPr>
          <p:cNvPr id="172" name="Shape 170"/>
          <p:cNvSpPr/>
          <p:nvPr/>
        </p:nvSpPr>
        <p:spPr>
          <a:xfrm>
            <a:off x="9239841" y="5065238"/>
            <a:ext cx="21946" cy="176425"/>
          </a:xfrm>
          <a:prstGeom prst="rect">
            <a:avLst/>
          </a:prstGeom>
          <a:solidFill>
            <a:srgbClr val="0B2C4A"/>
          </a:solidFill>
          <a:ln/>
        </p:spPr>
      </p:sp>
      <p:sp>
        <p:nvSpPr>
          <p:cNvPr id="173" name="Text 171"/>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74" name="Shape 172"/>
          <p:cNvSpPr/>
          <p:nvPr/>
        </p:nvSpPr>
        <p:spPr>
          <a:xfrm>
            <a:off x="6153912" y="5263717"/>
            <a:ext cx="5358384" cy="220532"/>
          </a:xfrm>
          <a:prstGeom prst="rect">
            <a:avLst/>
          </a:prstGeom>
          <a:solidFill>
            <a:srgbClr val="EDF4FA"/>
          </a:solidFill>
          <a:ln/>
        </p:spPr>
      </p:sp>
      <p:sp>
        <p:nvSpPr>
          <p:cNvPr id="175" name="Text 173"/>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77" name="Shape 175"/>
          <p:cNvSpPr/>
          <p:nvPr/>
        </p:nvSpPr>
        <p:spPr>
          <a:xfrm>
            <a:off x="8558784" y="5318850"/>
            <a:ext cx="234718" cy="110266"/>
          </a:xfrm>
          <a:prstGeom prst="rect">
            <a:avLst/>
          </a:prstGeom>
          <a:solidFill>
            <a:srgbClr val="C2352F"/>
          </a:solidFill>
          <a:ln/>
        </p:spPr>
      </p:sp>
      <p:sp>
        <p:nvSpPr>
          <p:cNvPr id="178" name="Shape 176"/>
          <p:cNvSpPr/>
          <p:nvPr/>
        </p:nvSpPr>
        <p:spPr>
          <a:xfrm>
            <a:off x="9004068" y="5285770"/>
            <a:ext cx="21946" cy="176425"/>
          </a:xfrm>
          <a:prstGeom prst="rect">
            <a:avLst/>
          </a:prstGeom>
          <a:solidFill>
            <a:srgbClr val="0B2C4A"/>
          </a:solidFill>
          <a:ln/>
        </p:spPr>
      </p:sp>
      <p:sp>
        <p:nvSpPr>
          <p:cNvPr id="179" name="Text 177"/>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80" name="Shape 178"/>
          <p:cNvSpPr/>
          <p:nvPr/>
        </p:nvSpPr>
        <p:spPr>
          <a:xfrm>
            <a:off x="6153912" y="5484248"/>
            <a:ext cx="5358384" cy="220532"/>
          </a:xfrm>
          <a:prstGeom prst="rect">
            <a:avLst/>
          </a:prstGeom>
          <a:solidFill>
            <a:srgbClr val="EDF4FA"/>
          </a:solidFill>
          <a:ln/>
        </p:spPr>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183" name="Shape 181"/>
          <p:cNvSpPr/>
          <p:nvPr/>
        </p:nvSpPr>
        <p:spPr>
          <a:xfrm>
            <a:off x="8558784" y="5539381"/>
            <a:ext cx="196365" cy="110266"/>
          </a:xfrm>
          <a:prstGeom prst="rect">
            <a:avLst/>
          </a:prstGeom>
          <a:solidFill>
            <a:srgbClr val="C2352F"/>
          </a:solidFill>
          <a:ln/>
        </p:spPr>
      </p:sp>
      <p:sp>
        <p:nvSpPr>
          <p:cNvPr id="184" name="Shape 182"/>
          <p:cNvSpPr/>
          <p:nvPr/>
        </p:nvSpPr>
        <p:spPr>
          <a:xfrm>
            <a:off x="9004068"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276 and 7 of 24 others beat 418. Toyota Henderson leads non-luxury at 1,022.</a:t>
            </a:r>
            <a:endParaRPr lang="en-US" sz="1600" dirty="0"/>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led by Toyota Henderson at +182 to 1,022. 11 declined; Mazda fell most at −281.</a:t>
            </a:r>
            <a:endParaRPr lang="en-US" sz="1600" dirty="0"/>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7589520" cy="4782312"/>
          </a:xfrm>
          <a:prstGeom prst="rect">
            <a:avLst/>
          </a:prstGeom>
          <a:solidFill>
            <a:srgbClr val="FFFFFF"/>
          </a:solidFill>
          <a:ln/>
        </p:spPr>
      </p:sp>
      <p:sp>
        <p:nvSpPr>
          <p:cNvPr id="6" name="Text 4"/>
          <p:cNvSpPr txBox="1"/>
          <p:nvPr/>
        </p:nvSpPr>
        <p:spPr>
          <a:xfrm>
            <a:off x="685800" y="1344168"/>
            <a:ext cx="713232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trailing 12 months</a:t>
            </a:r>
            <a:endParaRPr lang="en-US" sz="1500" dirty="0"/>
          </a:p>
        </p:txBody>
      </p:sp>
      <p:sp>
        <p:nvSpPr>
          <p:cNvPr id="7" name="Shape 5"/>
          <p:cNvSpPr/>
          <p:nvPr/>
        </p:nvSpPr>
        <p:spPr>
          <a:xfrm>
            <a:off x="685800" y="1691640"/>
            <a:ext cx="7132320" cy="10973"/>
          </a:xfrm>
          <a:prstGeom prst="rect">
            <a:avLst/>
          </a:prstGeom>
          <a:solidFill>
            <a:srgbClr val="1A1A1A"/>
          </a:solidFill>
          <a:ln/>
        </p:spPr>
      </p:sp>
      <p:graphicFrame>
        <p:nvGraphicFramePr>
          <p:cNvPr id="8" name="Chart 0" descr=""/>
          <p:cNvGraphicFramePr/>
          <p:nvPr/>
        </p:nvGraphicFramePr>
        <p:xfrm>
          <a:off x="621792" y="1810512"/>
          <a:ext cx="6858000" cy="4023360"/>
        </p:xfrm>
        <a:graphic>
          <a:graphicData uri="http://schemas.openxmlformats.org/drawingml/2006/chart">
            <c:chart xmlns:c="http://schemas.openxmlformats.org/drawingml/2006/chart" r:id="rId2"/>
          </a:graphicData>
        </a:graphic>
      </p:graphicFrame>
      <p:sp>
        <p:nvSpPr>
          <p:cNvPr id="9" name="Shape 6"/>
          <p:cNvSpPr/>
          <p:nvPr/>
        </p:nvSpPr>
        <p:spPr>
          <a:xfrm>
            <a:off x="8229600" y="1207008"/>
            <a:ext cx="3502152" cy="4782312"/>
          </a:xfrm>
          <a:prstGeom prst="rect">
            <a:avLst/>
          </a:prstGeom>
          <a:solidFill>
            <a:srgbClr val="FFFFFF"/>
          </a:solidFill>
          <a:ln/>
        </p:spPr>
      </p:sp>
      <p:sp>
        <p:nvSpPr>
          <p:cNvPr id="10" name="Text 7"/>
          <p:cNvSpPr txBox="1"/>
          <p:nvPr/>
        </p:nvSpPr>
        <p:spPr>
          <a:xfrm>
            <a:off x="8458200" y="1344168"/>
            <a:ext cx="30449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it says</a:t>
            </a:r>
            <a:endParaRPr lang="en-US" sz="1500" dirty="0"/>
          </a:p>
        </p:txBody>
      </p:sp>
      <p:sp>
        <p:nvSpPr>
          <p:cNvPr id="11" name="Shape 8"/>
          <p:cNvSpPr/>
          <p:nvPr/>
        </p:nvSpPr>
        <p:spPr>
          <a:xfrm>
            <a:off x="8458200" y="1691640"/>
            <a:ext cx="3044952" cy="10973"/>
          </a:xfrm>
          <a:prstGeom prst="rect">
            <a:avLst/>
          </a:prstGeom>
          <a:solidFill>
            <a:srgbClr val="1A1A1A"/>
          </a:solidFill>
          <a:ln/>
        </p:spPr>
      </p:sp>
      <p:sp>
        <p:nvSpPr>
          <p:cNvPr id="12" name="Shape 9"/>
          <p:cNvSpPr/>
          <p:nvPr/>
        </p:nvSpPr>
        <p:spPr>
          <a:xfrm>
            <a:off x="8458200" y="1938528"/>
            <a:ext cx="100584" cy="100584"/>
          </a:xfrm>
          <a:prstGeom prst="ellipse">
            <a:avLst/>
          </a:prstGeom>
          <a:solidFill>
            <a:srgbClr val="2587C5"/>
          </a:solidFill>
          <a:ln/>
        </p:spPr>
      </p:sp>
      <p:sp>
        <p:nvSpPr>
          <p:cNvPr id="13" name="Text 10"/>
          <p:cNvSpPr txBox="1"/>
          <p:nvPr/>
        </p:nvSpPr>
        <p:spPr>
          <a:xfrm>
            <a:off x="8705088" y="1810512"/>
            <a:ext cx="2834640" cy="1051560"/>
          </a:xfrm>
          <a:prstGeom prst="rect">
            <a:avLst/>
          </a:prstGeom>
          <a:noFill/>
          <a:ln/>
        </p:spPr>
        <p:txBody>
          <a:bodyPr wrap="square" lIns="0" tIns="0" rIns="0" bIns="0" rtlCol="0" anchor="t"/>
          <a:lstStyle/>
          <a:p>
            <a:pPr indent="0" marL="0">
              <a:buNone/>
            </a:pPr>
            <a:r>
              <a:rPr lang="en-US" sz="1500" b="1" dirty="0">
                <a:solidFill>
                  <a:srgbClr val="2587C5"/>
                </a:solidFill>
                <a:latin typeface="Inter" pitchFamily="34" charset="0"/>
                <a:ea typeface="Inter" pitchFamily="34" charset="-122"/>
                <a:cs typeface="Inter" pitchFamily="34" charset="-120"/>
              </a:rPr>
              <a:t>−76 fixed staff, Sep to Sep, to 1,540.</a:t>
            </a:r>
            <a:endParaRPr lang="en-US" sz="1500" dirty="0"/>
          </a:p>
        </p:txBody>
      </p:sp>
      <p:sp>
        <p:nvSpPr>
          <p:cNvPr id="14" name="Shape 11"/>
          <p:cNvSpPr/>
          <p:nvPr/>
        </p:nvSpPr>
        <p:spPr>
          <a:xfrm>
            <a:off x="8458200" y="3072384"/>
            <a:ext cx="100584" cy="100584"/>
          </a:xfrm>
          <a:prstGeom prst="ellipse">
            <a:avLst/>
          </a:prstGeom>
          <a:solidFill>
            <a:srgbClr val="1A1A1A"/>
          </a:solidFill>
          <a:ln/>
        </p:spPr>
      </p:sp>
      <p:sp>
        <p:nvSpPr>
          <p:cNvPr id="15" name="Text 12"/>
          <p:cNvSpPr txBox="1"/>
          <p:nvPr/>
        </p:nvSpPr>
        <p:spPr>
          <a:xfrm>
            <a:off x="8705088" y="2944368"/>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Technicians −17, advisors −7, managers −3.</a:t>
            </a:r>
            <a:endParaRPr lang="en-US" sz="1500" dirty="0"/>
          </a:p>
        </p:txBody>
      </p:sp>
      <p:sp>
        <p:nvSpPr>
          <p:cNvPr id="16" name="Shape 13"/>
          <p:cNvSpPr/>
          <p:nvPr/>
        </p:nvSpPr>
        <p:spPr>
          <a:xfrm>
            <a:off x="8458200" y="4206240"/>
            <a:ext cx="100584" cy="100584"/>
          </a:xfrm>
          <a:prstGeom prst="ellipse">
            <a:avLst/>
          </a:prstGeom>
          <a:solidFill>
            <a:srgbClr val="1A1A1A"/>
          </a:solidFill>
          <a:ln/>
        </p:spPr>
      </p:sp>
      <p:sp>
        <p:nvSpPr>
          <p:cNvPr id="17" name="Text 14"/>
          <p:cNvSpPr txBox="1"/>
          <p:nvPr/>
        </p:nvSpPr>
        <p:spPr>
          <a:xfrm>
            <a:off x="8705088" y="4078224"/>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Low of 1,530 in Jan 26; up 10 since.</a:t>
            </a:r>
            <a:endParaRPr lang="en-US" sz="1500" dirty="0"/>
          </a:p>
        </p:txBody>
      </p:sp>
      <p:sp>
        <p:nvSpPr>
          <p:cNvPr id="18" name="Shape 15"/>
          <p:cNvSpPr/>
          <p:nvPr/>
        </p:nvSpPr>
        <p:spPr>
          <a:xfrm>
            <a:off x="457200" y="6126480"/>
            <a:ext cx="11274552" cy="371856"/>
          </a:xfrm>
          <a:prstGeom prst="rect">
            <a:avLst/>
          </a:prstGeom>
          <a:solidFill>
            <a:srgbClr val="EDF4FA"/>
          </a:solidFill>
          <a:ln/>
        </p:spPr>
      </p:sp>
      <p:sp>
        <p:nvSpPr>
          <p:cNvPr id="19" name="Text 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 to Sep; CP &amp; W ROs fell 2.3% year to date.</a:t>
            </a:r>
            <a:endParaRPr lang="en-US" sz="1600" dirty="0"/>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led by Mazda (+5); 23 reduced, led by Chevy LV (−21).</a:t>
            </a:r>
            <a:endParaRPr lang="en-US" sz="1600" dirty="0"/>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Teams to show techs where they stand</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(sold hours / worked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show every tech their own proficiency every week. The best techs in each store already prove 85% is possible.</a:t>
            </a:r>
            <a:endParaRPr lang="en-US" sz="1600" dirty="0"/>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sold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worked (clocked)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Works 40 hours  </a:t>
            </a:r>
            <a:pPr algn="ctr" indent="0" marL="0">
              <a:buNone/>
            </a:pPr>
            <a:r>
              <a:rPr lang="en-US" sz="1400" b="1" dirty="0">
                <a:solidFill>
                  <a:srgbClr val="0B2C4A"/>
                </a:solidFill>
                <a:latin typeface="Inter" pitchFamily="34" charset="0"/>
                <a:ea typeface="Inter" pitchFamily="34" charset="-122"/>
                <a:cs typeface="Inter" pitchFamily="34" charset="-120"/>
              </a:rPr>
              <a:t>sells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tech, bay and lift are already here; an unflagged hour can't be sold tomorrow.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Flat-rate techs earn more as they produce more.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where workflow, not effort, is the problem.</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on ROs, not all hours worked</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Sold hours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worked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Matched by tech number, all pay types, Dec 25, 2025 to Oct 9, 2026. Store = total sold hours / total worked hours.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Service technicians, express technicians, service team leaders and shop foremen: everyone whose job is to flag hours on the line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Not counted: body shop, detail and tint</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 removed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45 lines, such as 940 hours keyed on one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codes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Pooled codes (MULT, 999, 77777) aren't credited to anyone</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worked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 led by Honda Henderson at 118.5%; Acura lowest at 67.4%.</a:t>
            </a:r>
            <a:endParaRPr lang="en-US" sz="1600" dirty="0"/>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YEAR TO DATE</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 YTD</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 of 583</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45% of technicians.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7472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26110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19379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2512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1151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4420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3" name="Shape 11"/>
          <p:cNvSpPr/>
          <p:nvPr/>
        </p:nvSpPr>
        <p:spPr>
          <a:xfrm>
            <a:off x="2670048" y="1756697"/>
            <a:ext cx="749808" cy="136676"/>
          </a:xfrm>
          <a:prstGeom prst="rect">
            <a:avLst/>
          </a:prstGeom>
          <a:solidFill>
            <a:srgbClr val="C2352F"/>
          </a:solidFill>
          <a:ln/>
        </p:spPr>
      </p:sp>
      <p:sp>
        <p:nvSpPr>
          <p:cNvPr id="14" name="Text 12"/>
          <p:cNvSpPr txBox="1"/>
          <p:nvPr/>
        </p:nvSpPr>
        <p:spPr>
          <a:xfrm>
            <a:off x="347472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5" name="Text 13"/>
          <p:cNvSpPr txBox="1"/>
          <p:nvPr/>
        </p:nvSpPr>
        <p:spPr>
          <a:xfrm>
            <a:off x="426110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6" name="Text 14"/>
          <p:cNvSpPr txBox="1"/>
          <p:nvPr/>
        </p:nvSpPr>
        <p:spPr>
          <a:xfrm>
            <a:off x="519379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87.7%</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8" name="Shape 16"/>
          <p:cNvSpPr/>
          <p:nvPr/>
        </p:nvSpPr>
        <p:spPr>
          <a:xfrm>
            <a:off x="2670048" y="2005199"/>
            <a:ext cx="533948" cy="136676"/>
          </a:xfrm>
          <a:prstGeom prst="rect">
            <a:avLst/>
          </a:prstGeom>
          <a:solidFill>
            <a:srgbClr val="C2352F"/>
          </a:solidFill>
          <a:ln/>
        </p:spPr>
      </p:sp>
      <p:sp>
        <p:nvSpPr>
          <p:cNvPr id="19" name="Text 17"/>
          <p:cNvSpPr txBox="1"/>
          <p:nvPr/>
        </p:nvSpPr>
        <p:spPr>
          <a:xfrm>
            <a:off x="347472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0" name="Text 18"/>
          <p:cNvSpPr txBox="1"/>
          <p:nvPr/>
        </p:nvSpPr>
        <p:spPr>
          <a:xfrm>
            <a:off x="426110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1" name="Text 19"/>
          <p:cNvSpPr txBox="1"/>
          <p:nvPr/>
        </p:nvSpPr>
        <p:spPr>
          <a:xfrm>
            <a:off x="519379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68.4%</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 name="Shape 21"/>
          <p:cNvSpPr/>
          <p:nvPr/>
        </p:nvSpPr>
        <p:spPr>
          <a:xfrm>
            <a:off x="2670048" y="2253700"/>
            <a:ext cx="483297" cy="136676"/>
          </a:xfrm>
          <a:prstGeom prst="rect">
            <a:avLst/>
          </a:prstGeom>
          <a:solidFill>
            <a:srgbClr val="C2352F"/>
          </a:solidFill>
          <a:ln/>
        </p:spPr>
      </p:sp>
      <p:sp>
        <p:nvSpPr>
          <p:cNvPr id="24" name="Text 22"/>
          <p:cNvSpPr txBox="1"/>
          <p:nvPr/>
        </p:nvSpPr>
        <p:spPr>
          <a:xfrm>
            <a:off x="347472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5" name="Text 23"/>
          <p:cNvSpPr txBox="1"/>
          <p:nvPr/>
        </p:nvSpPr>
        <p:spPr>
          <a:xfrm>
            <a:off x="426110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6" name="Text 24"/>
          <p:cNvSpPr txBox="1"/>
          <p:nvPr/>
        </p:nvSpPr>
        <p:spPr>
          <a:xfrm>
            <a:off x="519379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91.0%</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502202"/>
            <a:ext cx="476411" cy="136676"/>
          </a:xfrm>
          <a:prstGeom prst="rect">
            <a:avLst/>
          </a:prstGeom>
          <a:solidFill>
            <a:srgbClr val="C2352F"/>
          </a:solidFill>
          <a:ln/>
        </p:spPr>
      </p:sp>
      <p:sp>
        <p:nvSpPr>
          <p:cNvPr id="29" name="Text 27"/>
          <p:cNvSpPr txBox="1"/>
          <p:nvPr/>
        </p:nvSpPr>
        <p:spPr>
          <a:xfrm>
            <a:off x="347472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0" name="Text 28"/>
          <p:cNvSpPr txBox="1"/>
          <p:nvPr/>
        </p:nvSpPr>
        <p:spPr>
          <a:xfrm>
            <a:off x="426110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1" name="Text 29"/>
          <p:cNvSpPr txBox="1"/>
          <p:nvPr/>
        </p:nvSpPr>
        <p:spPr>
          <a:xfrm>
            <a:off x="519379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71.2%</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33" name="Shape 31"/>
          <p:cNvSpPr/>
          <p:nvPr/>
        </p:nvSpPr>
        <p:spPr>
          <a:xfrm>
            <a:off x="2670048" y="2750703"/>
            <a:ext cx="419972" cy="136676"/>
          </a:xfrm>
          <a:prstGeom prst="rect">
            <a:avLst/>
          </a:prstGeom>
          <a:solidFill>
            <a:srgbClr val="C2352F"/>
          </a:solidFill>
          <a:ln/>
        </p:spPr>
      </p:sp>
      <p:sp>
        <p:nvSpPr>
          <p:cNvPr id="34" name="Text 32"/>
          <p:cNvSpPr txBox="1"/>
          <p:nvPr/>
        </p:nvSpPr>
        <p:spPr>
          <a:xfrm>
            <a:off x="347472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35" name="Text 33"/>
          <p:cNvSpPr txBox="1"/>
          <p:nvPr/>
        </p:nvSpPr>
        <p:spPr>
          <a:xfrm>
            <a:off x="426110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36" name="Text 34"/>
          <p:cNvSpPr txBox="1"/>
          <p:nvPr/>
        </p:nvSpPr>
        <p:spPr>
          <a:xfrm>
            <a:off x="519379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69.0%</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8" name="Shape 36"/>
          <p:cNvSpPr/>
          <p:nvPr/>
        </p:nvSpPr>
        <p:spPr>
          <a:xfrm>
            <a:off x="2670048" y="2999205"/>
            <a:ext cx="415094" cy="136676"/>
          </a:xfrm>
          <a:prstGeom prst="rect">
            <a:avLst/>
          </a:prstGeom>
          <a:solidFill>
            <a:srgbClr val="C2352F"/>
          </a:solidFill>
          <a:ln/>
        </p:spPr>
      </p:sp>
      <p:sp>
        <p:nvSpPr>
          <p:cNvPr id="39" name="Text 37"/>
          <p:cNvSpPr txBox="1"/>
          <p:nvPr/>
        </p:nvSpPr>
        <p:spPr>
          <a:xfrm>
            <a:off x="347472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0" name="Text 38"/>
          <p:cNvSpPr txBox="1"/>
          <p:nvPr/>
        </p:nvSpPr>
        <p:spPr>
          <a:xfrm>
            <a:off x="426110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1" name="Text 39"/>
          <p:cNvSpPr txBox="1"/>
          <p:nvPr/>
        </p:nvSpPr>
        <p:spPr>
          <a:xfrm>
            <a:off x="519379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103.4%</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247707"/>
            <a:ext cx="367707" cy="136676"/>
          </a:xfrm>
          <a:prstGeom prst="rect">
            <a:avLst/>
          </a:prstGeom>
          <a:solidFill>
            <a:srgbClr val="C2352F"/>
          </a:solidFill>
          <a:ln/>
        </p:spPr>
      </p:sp>
      <p:sp>
        <p:nvSpPr>
          <p:cNvPr id="44" name="Text 42"/>
          <p:cNvSpPr txBox="1"/>
          <p:nvPr/>
        </p:nvSpPr>
        <p:spPr>
          <a:xfrm>
            <a:off x="347472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45" name="Text 43"/>
          <p:cNvSpPr txBox="1"/>
          <p:nvPr/>
        </p:nvSpPr>
        <p:spPr>
          <a:xfrm>
            <a:off x="426110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46" name="Text 44"/>
          <p:cNvSpPr txBox="1"/>
          <p:nvPr/>
        </p:nvSpPr>
        <p:spPr>
          <a:xfrm>
            <a:off x="519379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83.6%</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3496208"/>
            <a:ext cx="364470" cy="136676"/>
          </a:xfrm>
          <a:prstGeom prst="rect">
            <a:avLst/>
          </a:prstGeom>
          <a:solidFill>
            <a:srgbClr val="C2352F"/>
          </a:solidFill>
          <a:ln/>
        </p:spPr>
      </p:sp>
      <p:sp>
        <p:nvSpPr>
          <p:cNvPr id="49" name="Text 47"/>
          <p:cNvSpPr txBox="1"/>
          <p:nvPr/>
        </p:nvSpPr>
        <p:spPr>
          <a:xfrm>
            <a:off x="347472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0" name="Text 48"/>
          <p:cNvSpPr txBox="1"/>
          <p:nvPr/>
        </p:nvSpPr>
        <p:spPr>
          <a:xfrm>
            <a:off x="426110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1" name="Text 49"/>
          <p:cNvSpPr txBox="1"/>
          <p:nvPr/>
        </p:nvSpPr>
        <p:spPr>
          <a:xfrm>
            <a:off x="519379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67.5%</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3" name="Shape 51"/>
          <p:cNvSpPr/>
          <p:nvPr/>
        </p:nvSpPr>
        <p:spPr>
          <a:xfrm>
            <a:off x="2670048" y="3744710"/>
            <a:ext cx="361005" cy="136676"/>
          </a:xfrm>
          <a:prstGeom prst="rect">
            <a:avLst/>
          </a:prstGeom>
          <a:solidFill>
            <a:srgbClr val="C2352F"/>
          </a:solidFill>
          <a:ln/>
        </p:spPr>
      </p:sp>
      <p:sp>
        <p:nvSpPr>
          <p:cNvPr id="54" name="Text 52"/>
          <p:cNvSpPr txBox="1"/>
          <p:nvPr/>
        </p:nvSpPr>
        <p:spPr>
          <a:xfrm>
            <a:off x="347472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55" name="Text 53"/>
          <p:cNvSpPr txBox="1"/>
          <p:nvPr/>
        </p:nvSpPr>
        <p:spPr>
          <a:xfrm>
            <a:off x="426110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56" name="Text 54"/>
          <p:cNvSpPr txBox="1"/>
          <p:nvPr/>
        </p:nvSpPr>
        <p:spPr>
          <a:xfrm>
            <a:off x="519379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67.4%</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353265" cy="136676"/>
          </a:xfrm>
          <a:prstGeom prst="rect">
            <a:avLst/>
          </a:prstGeom>
          <a:solidFill>
            <a:srgbClr val="C2352F"/>
          </a:solidFill>
          <a:ln/>
        </p:spPr>
      </p:sp>
      <p:sp>
        <p:nvSpPr>
          <p:cNvPr id="59" name="Text 57"/>
          <p:cNvSpPr txBox="1"/>
          <p:nvPr/>
        </p:nvSpPr>
        <p:spPr>
          <a:xfrm>
            <a:off x="347472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60" name="Text 58"/>
          <p:cNvSpPr txBox="1"/>
          <p:nvPr/>
        </p:nvSpPr>
        <p:spPr>
          <a:xfrm>
            <a:off x="426110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61" name="Text 59"/>
          <p:cNvSpPr txBox="1"/>
          <p:nvPr/>
        </p:nvSpPr>
        <p:spPr>
          <a:xfrm>
            <a:off x="519379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76.8%</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3" name="Shape 61"/>
          <p:cNvSpPr/>
          <p:nvPr/>
        </p:nvSpPr>
        <p:spPr>
          <a:xfrm>
            <a:off x="2670048" y="4241713"/>
            <a:ext cx="333730" cy="136676"/>
          </a:xfrm>
          <a:prstGeom prst="rect">
            <a:avLst/>
          </a:prstGeom>
          <a:solidFill>
            <a:srgbClr val="C2352F"/>
          </a:solidFill>
          <a:ln/>
        </p:spPr>
      </p:sp>
      <p:sp>
        <p:nvSpPr>
          <p:cNvPr id="64" name="Text 62"/>
          <p:cNvSpPr txBox="1"/>
          <p:nvPr/>
        </p:nvSpPr>
        <p:spPr>
          <a:xfrm>
            <a:off x="347472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65" name="Text 63"/>
          <p:cNvSpPr txBox="1"/>
          <p:nvPr/>
        </p:nvSpPr>
        <p:spPr>
          <a:xfrm>
            <a:off x="426110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66" name="Text 64"/>
          <p:cNvSpPr txBox="1"/>
          <p:nvPr/>
        </p:nvSpPr>
        <p:spPr>
          <a:xfrm>
            <a:off x="519379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104.3%</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68" name="Shape 66"/>
          <p:cNvSpPr/>
          <p:nvPr/>
        </p:nvSpPr>
        <p:spPr>
          <a:xfrm>
            <a:off x="2670048" y="4490215"/>
            <a:ext cx="300431" cy="136676"/>
          </a:xfrm>
          <a:prstGeom prst="rect">
            <a:avLst/>
          </a:prstGeom>
          <a:solidFill>
            <a:srgbClr val="C2352F"/>
          </a:solidFill>
          <a:ln/>
        </p:spPr>
      </p:sp>
      <p:sp>
        <p:nvSpPr>
          <p:cNvPr id="69" name="Text 67"/>
          <p:cNvSpPr txBox="1"/>
          <p:nvPr/>
        </p:nvSpPr>
        <p:spPr>
          <a:xfrm>
            <a:off x="347472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70" name="Text 68"/>
          <p:cNvSpPr txBox="1"/>
          <p:nvPr/>
        </p:nvSpPr>
        <p:spPr>
          <a:xfrm>
            <a:off x="426110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71" name="Text 69"/>
          <p:cNvSpPr txBox="1"/>
          <p:nvPr/>
        </p:nvSpPr>
        <p:spPr>
          <a:xfrm>
            <a:off x="519379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91.2%</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3" name="Shape 71"/>
          <p:cNvSpPr/>
          <p:nvPr/>
        </p:nvSpPr>
        <p:spPr>
          <a:xfrm>
            <a:off x="2670048" y="4738717"/>
            <a:ext cx="294453" cy="136676"/>
          </a:xfrm>
          <a:prstGeom prst="rect">
            <a:avLst/>
          </a:prstGeom>
          <a:solidFill>
            <a:srgbClr val="C2352F"/>
          </a:solidFill>
          <a:ln/>
        </p:spPr>
      </p:sp>
      <p:sp>
        <p:nvSpPr>
          <p:cNvPr id="74" name="Text 72"/>
          <p:cNvSpPr txBox="1"/>
          <p:nvPr/>
        </p:nvSpPr>
        <p:spPr>
          <a:xfrm>
            <a:off x="347472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75" name="Text 73"/>
          <p:cNvSpPr txBox="1"/>
          <p:nvPr/>
        </p:nvSpPr>
        <p:spPr>
          <a:xfrm>
            <a:off x="426110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76" name="Text 74"/>
          <p:cNvSpPr txBox="1"/>
          <p:nvPr/>
        </p:nvSpPr>
        <p:spPr>
          <a:xfrm>
            <a:off x="519379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72.3%</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8" name="Shape 76"/>
          <p:cNvSpPr/>
          <p:nvPr/>
        </p:nvSpPr>
        <p:spPr>
          <a:xfrm>
            <a:off x="2670048" y="4987218"/>
            <a:ext cx="273826" cy="136676"/>
          </a:xfrm>
          <a:prstGeom prst="rect">
            <a:avLst/>
          </a:prstGeom>
          <a:solidFill>
            <a:srgbClr val="C2352F"/>
          </a:solidFill>
          <a:ln/>
        </p:spPr>
      </p:sp>
      <p:sp>
        <p:nvSpPr>
          <p:cNvPr id="79" name="Text 77"/>
          <p:cNvSpPr txBox="1"/>
          <p:nvPr/>
        </p:nvSpPr>
        <p:spPr>
          <a:xfrm>
            <a:off x="347472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80" name="Text 78"/>
          <p:cNvSpPr txBox="1"/>
          <p:nvPr/>
        </p:nvSpPr>
        <p:spPr>
          <a:xfrm>
            <a:off x="426110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81" name="Text 79"/>
          <p:cNvSpPr txBox="1"/>
          <p:nvPr/>
        </p:nvSpPr>
        <p:spPr>
          <a:xfrm>
            <a:off x="519379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98.4%</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3" name="Shape 81"/>
          <p:cNvSpPr/>
          <p:nvPr/>
        </p:nvSpPr>
        <p:spPr>
          <a:xfrm>
            <a:off x="2670048" y="5235720"/>
            <a:ext cx="227614" cy="136676"/>
          </a:xfrm>
          <a:prstGeom prst="rect">
            <a:avLst/>
          </a:prstGeom>
          <a:solidFill>
            <a:srgbClr val="C2352F"/>
          </a:solidFill>
          <a:ln/>
        </p:spPr>
      </p:sp>
      <p:sp>
        <p:nvSpPr>
          <p:cNvPr id="84" name="Text 82"/>
          <p:cNvSpPr txBox="1"/>
          <p:nvPr/>
        </p:nvSpPr>
        <p:spPr>
          <a:xfrm>
            <a:off x="347472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85" name="Text 83"/>
          <p:cNvSpPr txBox="1"/>
          <p:nvPr/>
        </p:nvSpPr>
        <p:spPr>
          <a:xfrm>
            <a:off x="426110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86" name="Text 84"/>
          <p:cNvSpPr txBox="1"/>
          <p:nvPr/>
        </p:nvSpPr>
        <p:spPr>
          <a:xfrm>
            <a:off x="519379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8" name="Shape 86"/>
          <p:cNvSpPr/>
          <p:nvPr/>
        </p:nvSpPr>
        <p:spPr>
          <a:xfrm>
            <a:off x="2670048" y="5484222"/>
            <a:ext cx="207650" cy="136676"/>
          </a:xfrm>
          <a:prstGeom prst="rect">
            <a:avLst/>
          </a:prstGeom>
          <a:solidFill>
            <a:srgbClr val="C2352F"/>
          </a:solidFill>
          <a:ln/>
        </p:spPr>
      </p:sp>
      <p:sp>
        <p:nvSpPr>
          <p:cNvPr id="89" name="Text 87"/>
          <p:cNvSpPr txBox="1"/>
          <p:nvPr/>
        </p:nvSpPr>
        <p:spPr>
          <a:xfrm>
            <a:off x="347472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90" name="Text 88"/>
          <p:cNvSpPr txBox="1"/>
          <p:nvPr/>
        </p:nvSpPr>
        <p:spPr>
          <a:xfrm>
            <a:off x="426110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91" name="Text 89"/>
          <p:cNvSpPr txBox="1"/>
          <p:nvPr/>
        </p:nvSpPr>
        <p:spPr>
          <a:xfrm>
            <a:off x="519379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96.9%</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3" name="Shape 91"/>
          <p:cNvSpPr/>
          <p:nvPr/>
        </p:nvSpPr>
        <p:spPr>
          <a:xfrm>
            <a:off x="2670048" y="5732723"/>
            <a:ext cx="201603" cy="136676"/>
          </a:xfrm>
          <a:prstGeom prst="rect">
            <a:avLst/>
          </a:prstGeom>
          <a:solidFill>
            <a:srgbClr val="C2352F"/>
          </a:solidFill>
          <a:ln/>
        </p:spPr>
      </p:sp>
      <p:sp>
        <p:nvSpPr>
          <p:cNvPr id="94" name="Text 92"/>
          <p:cNvSpPr txBox="1"/>
          <p:nvPr/>
        </p:nvSpPr>
        <p:spPr>
          <a:xfrm>
            <a:off x="347472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95" name="Text 93"/>
          <p:cNvSpPr txBox="1"/>
          <p:nvPr/>
        </p:nvSpPr>
        <p:spPr>
          <a:xfrm>
            <a:off x="426110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96" name="Text 94"/>
          <p:cNvSpPr txBox="1"/>
          <p:nvPr/>
        </p:nvSpPr>
        <p:spPr>
          <a:xfrm>
            <a:off x="519379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91.1%</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8" name="Shape 96"/>
          <p:cNvSpPr/>
          <p:nvPr/>
        </p:nvSpPr>
        <p:spPr>
          <a:xfrm>
            <a:off x="8220456" y="1756697"/>
            <a:ext cx="187634" cy="136676"/>
          </a:xfrm>
          <a:prstGeom prst="rect">
            <a:avLst/>
          </a:prstGeom>
          <a:solidFill>
            <a:srgbClr val="C2352F"/>
          </a:solidFill>
          <a:ln/>
        </p:spPr>
      </p:sp>
      <p:sp>
        <p:nvSpPr>
          <p:cNvPr id="99" name="Text 97"/>
          <p:cNvSpPr txBox="1"/>
          <p:nvPr/>
        </p:nvSpPr>
        <p:spPr>
          <a:xfrm>
            <a:off x="902512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00" name="Text 98"/>
          <p:cNvSpPr txBox="1"/>
          <p:nvPr/>
        </p:nvSpPr>
        <p:spPr>
          <a:xfrm>
            <a:off x="981151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01" name="Text 99"/>
          <p:cNvSpPr txBox="1"/>
          <p:nvPr/>
        </p:nvSpPr>
        <p:spPr>
          <a:xfrm>
            <a:off x="1074420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78.5%</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03" name="Shape 101"/>
          <p:cNvSpPr/>
          <p:nvPr/>
        </p:nvSpPr>
        <p:spPr>
          <a:xfrm>
            <a:off x="8220456" y="2005199"/>
            <a:ext cx="163154" cy="136676"/>
          </a:xfrm>
          <a:prstGeom prst="rect">
            <a:avLst/>
          </a:prstGeom>
          <a:solidFill>
            <a:srgbClr val="C2352F"/>
          </a:solidFill>
          <a:ln/>
        </p:spPr>
      </p:sp>
      <p:sp>
        <p:nvSpPr>
          <p:cNvPr id="104" name="Text 102"/>
          <p:cNvSpPr txBox="1"/>
          <p:nvPr/>
        </p:nvSpPr>
        <p:spPr>
          <a:xfrm>
            <a:off x="902512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05" name="Text 103"/>
          <p:cNvSpPr txBox="1"/>
          <p:nvPr/>
        </p:nvSpPr>
        <p:spPr>
          <a:xfrm>
            <a:off x="981151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06" name="Text 104"/>
          <p:cNvSpPr txBox="1"/>
          <p:nvPr/>
        </p:nvSpPr>
        <p:spPr>
          <a:xfrm>
            <a:off x="1074420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78.8%</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8" name="Shape 106"/>
          <p:cNvSpPr/>
          <p:nvPr/>
        </p:nvSpPr>
        <p:spPr>
          <a:xfrm>
            <a:off x="8220456" y="2253700"/>
            <a:ext cx="150261" cy="136676"/>
          </a:xfrm>
          <a:prstGeom prst="rect">
            <a:avLst/>
          </a:prstGeom>
          <a:solidFill>
            <a:srgbClr val="C2352F"/>
          </a:solidFill>
          <a:ln/>
        </p:spPr>
      </p:sp>
      <p:sp>
        <p:nvSpPr>
          <p:cNvPr id="109" name="Text 107"/>
          <p:cNvSpPr txBox="1"/>
          <p:nvPr/>
        </p:nvSpPr>
        <p:spPr>
          <a:xfrm>
            <a:off x="902512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10" name="Text 108"/>
          <p:cNvSpPr txBox="1"/>
          <p:nvPr/>
        </p:nvSpPr>
        <p:spPr>
          <a:xfrm>
            <a:off x="981151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11" name="Text 109"/>
          <p:cNvSpPr txBox="1"/>
          <p:nvPr/>
        </p:nvSpPr>
        <p:spPr>
          <a:xfrm>
            <a:off x="1074420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104.7%</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3" name="Shape 111"/>
          <p:cNvSpPr/>
          <p:nvPr/>
        </p:nvSpPr>
        <p:spPr>
          <a:xfrm>
            <a:off x="8220456" y="2502202"/>
            <a:ext cx="116946" cy="136676"/>
          </a:xfrm>
          <a:prstGeom prst="rect">
            <a:avLst/>
          </a:prstGeom>
          <a:solidFill>
            <a:srgbClr val="C2352F"/>
          </a:solidFill>
          <a:ln/>
        </p:spPr>
      </p:sp>
      <p:sp>
        <p:nvSpPr>
          <p:cNvPr id="114" name="Text 112"/>
          <p:cNvSpPr txBox="1"/>
          <p:nvPr/>
        </p:nvSpPr>
        <p:spPr>
          <a:xfrm>
            <a:off x="902512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15" name="Text 113"/>
          <p:cNvSpPr txBox="1"/>
          <p:nvPr/>
        </p:nvSpPr>
        <p:spPr>
          <a:xfrm>
            <a:off x="981151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16" name="Text 114"/>
          <p:cNvSpPr txBox="1"/>
          <p:nvPr/>
        </p:nvSpPr>
        <p:spPr>
          <a:xfrm>
            <a:off x="1074420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92.2%</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8" name="Shape 116"/>
          <p:cNvSpPr/>
          <p:nvPr/>
        </p:nvSpPr>
        <p:spPr>
          <a:xfrm>
            <a:off x="8220456" y="2750703"/>
            <a:ext cx="112759" cy="136676"/>
          </a:xfrm>
          <a:prstGeom prst="rect">
            <a:avLst/>
          </a:prstGeom>
          <a:solidFill>
            <a:srgbClr val="C2352F"/>
          </a:solidFill>
          <a:ln/>
        </p:spPr>
      </p:sp>
      <p:sp>
        <p:nvSpPr>
          <p:cNvPr id="119" name="Text 117"/>
          <p:cNvSpPr txBox="1"/>
          <p:nvPr/>
        </p:nvSpPr>
        <p:spPr>
          <a:xfrm>
            <a:off x="902512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20" name="Text 118"/>
          <p:cNvSpPr txBox="1"/>
          <p:nvPr/>
        </p:nvSpPr>
        <p:spPr>
          <a:xfrm>
            <a:off x="981151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21" name="Text 119"/>
          <p:cNvSpPr txBox="1"/>
          <p:nvPr/>
        </p:nvSpPr>
        <p:spPr>
          <a:xfrm>
            <a:off x="1074420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23" name="Shape 121"/>
          <p:cNvSpPr/>
          <p:nvPr/>
        </p:nvSpPr>
        <p:spPr>
          <a:xfrm>
            <a:off x="8220456" y="2999205"/>
            <a:ext cx="105168" cy="136676"/>
          </a:xfrm>
          <a:prstGeom prst="rect">
            <a:avLst/>
          </a:prstGeom>
          <a:solidFill>
            <a:srgbClr val="C2352F"/>
          </a:solidFill>
          <a:ln/>
        </p:spPr>
      </p:sp>
      <p:sp>
        <p:nvSpPr>
          <p:cNvPr id="124" name="Text 122"/>
          <p:cNvSpPr txBox="1"/>
          <p:nvPr/>
        </p:nvSpPr>
        <p:spPr>
          <a:xfrm>
            <a:off x="902512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25" name="Text 123"/>
          <p:cNvSpPr txBox="1"/>
          <p:nvPr/>
        </p:nvSpPr>
        <p:spPr>
          <a:xfrm>
            <a:off x="981151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26" name="Text 124"/>
          <p:cNvSpPr txBox="1"/>
          <p:nvPr/>
        </p:nvSpPr>
        <p:spPr>
          <a:xfrm>
            <a:off x="1074420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109.7%</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28" name="Shape 126"/>
          <p:cNvSpPr/>
          <p:nvPr/>
        </p:nvSpPr>
        <p:spPr>
          <a:xfrm>
            <a:off x="8220456" y="3247707"/>
            <a:ext cx="98507" cy="136676"/>
          </a:xfrm>
          <a:prstGeom prst="rect">
            <a:avLst/>
          </a:prstGeom>
          <a:solidFill>
            <a:srgbClr val="C2352F"/>
          </a:solidFill>
          <a:ln/>
        </p:spPr>
      </p:sp>
      <p:sp>
        <p:nvSpPr>
          <p:cNvPr id="129" name="Text 127"/>
          <p:cNvSpPr txBox="1"/>
          <p:nvPr/>
        </p:nvSpPr>
        <p:spPr>
          <a:xfrm>
            <a:off x="902512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30" name="Text 128"/>
          <p:cNvSpPr txBox="1"/>
          <p:nvPr/>
        </p:nvSpPr>
        <p:spPr>
          <a:xfrm>
            <a:off x="981151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31" name="Text 129"/>
          <p:cNvSpPr txBox="1"/>
          <p:nvPr/>
        </p:nvSpPr>
        <p:spPr>
          <a:xfrm>
            <a:off x="1074420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70.0%</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3" name="Shape 131"/>
          <p:cNvSpPr/>
          <p:nvPr/>
        </p:nvSpPr>
        <p:spPr>
          <a:xfrm>
            <a:off x="8220456" y="3496208"/>
            <a:ext cx="97766" cy="136676"/>
          </a:xfrm>
          <a:prstGeom prst="rect">
            <a:avLst/>
          </a:prstGeom>
          <a:solidFill>
            <a:srgbClr val="C2352F"/>
          </a:solidFill>
          <a:ln/>
        </p:spPr>
      </p:sp>
      <p:sp>
        <p:nvSpPr>
          <p:cNvPr id="134" name="Text 132"/>
          <p:cNvSpPr txBox="1"/>
          <p:nvPr/>
        </p:nvSpPr>
        <p:spPr>
          <a:xfrm>
            <a:off x="902512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35" name="Text 133"/>
          <p:cNvSpPr txBox="1"/>
          <p:nvPr/>
        </p:nvSpPr>
        <p:spPr>
          <a:xfrm>
            <a:off x="981151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36" name="Text 134"/>
          <p:cNvSpPr txBox="1"/>
          <p:nvPr/>
        </p:nvSpPr>
        <p:spPr>
          <a:xfrm>
            <a:off x="1074420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81.4%</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38" name="Shape 136"/>
          <p:cNvSpPr/>
          <p:nvPr/>
        </p:nvSpPr>
        <p:spPr>
          <a:xfrm>
            <a:off x="8220456" y="3744710"/>
            <a:ext cx="95452" cy="136676"/>
          </a:xfrm>
          <a:prstGeom prst="rect">
            <a:avLst/>
          </a:prstGeom>
          <a:solidFill>
            <a:srgbClr val="C2352F"/>
          </a:solidFill>
          <a:ln/>
        </p:spPr>
      </p:sp>
      <p:sp>
        <p:nvSpPr>
          <p:cNvPr id="139" name="Text 137"/>
          <p:cNvSpPr txBox="1"/>
          <p:nvPr/>
        </p:nvSpPr>
        <p:spPr>
          <a:xfrm>
            <a:off x="902512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40" name="Text 138"/>
          <p:cNvSpPr txBox="1"/>
          <p:nvPr/>
        </p:nvSpPr>
        <p:spPr>
          <a:xfrm>
            <a:off x="981151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41" name="Text 139"/>
          <p:cNvSpPr txBox="1"/>
          <p:nvPr/>
        </p:nvSpPr>
        <p:spPr>
          <a:xfrm>
            <a:off x="1074420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117.1%</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3" name="Shape 141"/>
          <p:cNvSpPr/>
          <p:nvPr/>
        </p:nvSpPr>
        <p:spPr>
          <a:xfrm>
            <a:off x="8220456" y="3993212"/>
            <a:ext cx="71097" cy="136676"/>
          </a:xfrm>
          <a:prstGeom prst="rect">
            <a:avLst/>
          </a:prstGeom>
          <a:solidFill>
            <a:srgbClr val="C2352F"/>
          </a:solidFill>
          <a:ln/>
        </p:spPr>
      </p:sp>
      <p:sp>
        <p:nvSpPr>
          <p:cNvPr id="144" name="Text 142"/>
          <p:cNvSpPr txBox="1"/>
          <p:nvPr/>
        </p:nvSpPr>
        <p:spPr>
          <a:xfrm>
            <a:off x="902512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45" name="Text 143"/>
          <p:cNvSpPr txBox="1"/>
          <p:nvPr/>
        </p:nvSpPr>
        <p:spPr>
          <a:xfrm>
            <a:off x="981151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46" name="Text 144"/>
          <p:cNvSpPr txBox="1"/>
          <p:nvPr/>
        </p:nvSpPr>
        <p:spPr>
          <a:xfrm>
            <a:off x="1074420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106.0%</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8" name="Shape 146"/>
          <p:cNvSpPr/>
          <p:nvPr/>
        </p:nvSpPr>
        <p:spPr>
          <a:xfrm>
            <a:off x="8220456" y="4241713"/>
            <a:ext cx="61565" cy="136676"/>
          </a:xfrm>
          <a:prstGeom prst="rect">
            <a:avLst/>
          </a:prstGeom>
          <a:solidFill>
            <a:srgbClr val="C2352F"/>
          </a:solidFill>
          <a:ln/>
        </p:spPr>
      </p:sp>
      <p:sp>
        <p:nvSpPr>
          <p:cNvPr id="149" name="Text 147"/>
          <p:cNvSpPr txBox="1"/>
          <p:nvPr/>
        </p:nvSpPr>
        <p:spPr>
          <a:xfrm>
            <a:off x="902512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50" name="Text 148"/>
          <p:cNvSpPr txBox="1"/>
          <p:nvPr/>
        </p:nvSpPr>
        <p:spPr>
          <a:xfrm>
            <a:off x="981151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51" name="Text 149"/>
          <p:cNvSpPr txBox="1"/>
          <p:nvPr/>
        </p:nvSpPr>
        <p:spPr>
          <a:xfrm>
            <a:off x="1074420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118.5%</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3" name="Shape 151"/>
          <p:cNvSpPr/>
          <p:nvPr/>
        </p:nvSpPr>
        <p:spPr>
          <a:xfrm>
            <a:off x="8220456" y="4490215"/>
            <a:ext cx="61457" cy="136676"/>
          </a:xfrm>
          <a:prstGeom prst="rect">
            <a:avLst/>
          </a:prstGeom>
          <a:solidFill>
            <a:srgbClr val="C2352F"/>
          </a:solidFill>
          <a:ln/>
        </p:spPr>
      </p:sp>
      <p:sp>
        <p:nvSpPr>
          <p:cNvPr id="154" name="Text 152"/>
          <p:cNvSpPr txBox="1"/>
          <p:nvPr/>
        </p:nvSpPr>
        <p:spPr>
          <a:xfrm>
            <a:off x="902512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55" name="Text 153"/>
          <p:cNvSpPr txBox="1"/>
          <p:nvPr/>
        </p:nvSpPr>
        <p:spPr>
          <a:xfrm>
            <a:off x="981151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56" name="Text 154"/>
          <p:cNvSpPr txBox="1"/>
          <p:nvPr/>
        </p:nvSpPr>
        <p:spPr>
          <a:xfrm>
            <a:off x="1074420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109.3%</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58" name="Shape 156"/>
          <p:cNvSpPr/>
          <p:nvPr/>
        </p:nvSpPr>
        <p:spPr>
          <a:xfrm>
            <a:off x="8220456" y="4738717"/>
            <a:ext cx="54038" cy="136676"/>
          </a:xfrm>
          <a:prstGeom prst="rect">
            <a:avLst/>
          </a:prstGeom>
          <a:solidFill>
            <a:srgbClr val="C2352F"/>
          </a:solidFill>
          <a:ln/>
        </p:spPr>
      </p:sp>
      <p:sp>
        <p:nvSpPr>
          <p:cNvPr id="159" name="Text 157"/>
          <p:cNvSpPr txBox="1"/>
          <p:nvPr/>
        </p:nvSpPr>
        <p:spPr>
          <a:xfrm>
            <a:off x="902512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60" name="Text 158"/>
          <p:cNvSpPr txBox="1"/>
          <p:nvPr/>
        </p:nvSpPr>
        <p:spPr>
          <a:xfrm>
            <a:off x="981151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61" name="Text 159"/>
          <p:cNvSpPr txBox="1"/>
          <p:nvPr/>
        </p:nvSpPr>
        <p:spPr>
          <a:xfrm>
            <a:off x="1074420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108.0%</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3" name="Shape 161"/>
          <p:cNvSpPr/>
          <p:nvPr/>
        </p:nvSpPr>
        <p:spPr>
          <a:xfrm>
            <a:off x="8220456" y="4987218"/>
            <a:ext cx="49766" cy="136676"/>
          </a:xfrm>
          <a:prstGeom prst="rect">
            <a:avLst/>
          </a:prstGeom>
          <a:solidFill>
            <a:srgbClr val="C2352F"/>
          </a:solidFill>
          <a:ln/>
        </p:spPr>
      </p:sp>
      <p:sp>
        <p:nvSpPr>
          <p:cNvPr id="164" name="Text 162"/>
          <p:cNvSpPr txBox="1"/>
          <p:nvPr/>
        </p:nvSpPr>
        <p:spPr>
          <a:xfrm>
            <a:off x="902512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65" name="Text 163"/>
          <p:cNvSpPr txBox="1"/>
          <p:nvPr/>
        </p:nvSpPr>
        <p:spPr>
          <a:xfrm>
            <a:off x="981151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66" name="Text 164"/>
          <p:cNvSpPr txBox="1"/>
          <p:nvPr/>
        </p:nvSpPr>
        <p:spPr>
          <a:xfrm>
            <a:off x="1074420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68" name="Shape 166"/>
          <p:cNvSpPr/>
          <p:nvPr/>
        </p:nvSpPr>
        <p:spPr>
          <a:xfrm>
            <a:off x="8220456" y="5235720"/>
            <a:ext cx="40736" cy="136676"/>
          </a:xfrm>
          <a:prstGeom prst="rect">
            <a:avLst/>
          </a:prstGeom>
          <a:solidFill>
            <a:srgbClr val="C2352F"/>
          </a:solidFill>
          <a:ln/>
        </p:spPr>
      </p:sp>
      <p:sp>
        <p:nvSpPr>
          <p:cNvPr id="169" name="Text 167"/>
          <p:cNvSpPr txBox="1"/>
          <p:nvPr/>
        </p:nvSpPr>
        <p:spPr>
          <a:xfrm>
            <a:off x="902512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70" name="Text 168"/>
          <p:cNvSpPr txBox="1"/>
          <p:nvPr/>
        </p:nvSpPr>
        <p:spPr>
          <a:xfrm>
            <a:off x="981151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171" name="Text 169"/>
          <p:cNvSpPr txBox="1"/>
          <p:nvPr/>
        </p:nvSpPr>
        <p:spPr>
          <a:xfrm>
            <a:off x="1074420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101.6%</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73" name="Shape 171"/>
          <p:cNvSpPr/>
          <p:nvPr/>
        </p:nvSpPr>
        <p:spPr>
          <a:xfrm>
            <a:off x="8220456" y="5484222"/>
            <a:ext cx="18288" cy="136676"/>
          </a:xfrm>
          <a:prstGeom prst="rect">
            <a:avLst/>
          </a:prstGeom>
          <a:solidFill>
            <a:srgbClr val="C2352F"/>
          </a:solidFill>
          <a:ln/>
        </p:spPr>
      </p:sp>
      <p:sp>
        <p:nvSpPr>
          <p:cNvPr id="174" name="Text 172"/>
          <p:cNvSpPr txBox="1"/>
          <p:nvPr/>
        </p:nvSpPr>
        <p:spPr>
          <a:xfrm>
            <a:off x="902512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175" name="Text 173"/>
          <p:cNvSpPr txBox="1"/>
          <p:nvPr/>
        </p:nvSpPr>
        <p:spPr>
          <a:xfrm>
            <a:off x="981151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176" name="Text 174"/>
          <p:cNvSpPr txBox="1"/>
          <p:nvPr/>
        </p:nvSpPr>
        <p:spPr>
          <a:xfrm>
            <a:off x="1074420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109.0%</a:t>
            </a:r>
            <a:endParaRPr lang="en-US" sz="1300" dirty="0"/>
          </a:p>
        </p:txBody>
      </p:sp>
      <p:sp>
        <p:nvSpPr>
          <p:cNvPr id="177" name="Shape 175"/>
          <p:cNvSpPr/>
          <p:nvPr/>
        </p:nvSpPr>
        <p:spPr>
          <a:xfrm>
            <a:off x="457200" y="6126480"/>
            <a:ext cx="11274552" cy="348996"/>
          </a:xfrm>
          <a:prstGeom prst="rect">
            <a:avLst/>
          </a:prstGeom>
          <a:solidFill>
            <a:srgbClr val="FBEBEA"/>
          </a:solidFill>
          <a:ln/>
        </p:spPr>
      </p:sp>
      <p:sp>
        <p:nvSpPr>
          <p:cNvPr id="178" name="Text 17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Six stores hold $647K a month, led by Cadillac at $158K. 6 stores at or above 85% still leave $537K a month.</a:t>
            </a:r>
            <a:endParaRPr lang="en-US" sz="1450" dirty="0"/>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4670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330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0176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89711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6834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5217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 name="Shape 11"/>
          <p:cNvSpPr/>
          <p:nvPr/>
        </p:nvSpPr>
        <p:spPr>
          <a:xfrm>
            <a:off x="2670048" y="1756697"/>
            <a:ext cx="621792" cy="136676"/>
          </a:xfrm>
          <a:prstGeom prst="rect">
            <a:avLst/>
          </a:prstGeom>
          <a:solidFill>
            <a:srgbClr val="C2352F"/>
          </a:solidFill>
          <a:ln/>
        </p:spPr>
      </p:sp>
      <p:sp>
        <p:nvSpPr>
          <p:cNvPr id="14" name="Text 12"/>
          <p:cNvSpPr txBox="1"/>
          <p:nvPr/>
        </p:nvSpPr>
        <p:spPr>
          <a:xfrm>
            <a:off x="334670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31.9%</a:t>
            </a:r>
            <a:endParaRPr lang="en-US" sz="1300" dirty="0"/>
          </a:p>
        </p:txBody>
      </p:sp>
      <p:sp>
        <p:nvSpPr>
          <p:cNvPr id="15" name="Text 13"/>
          <p:cNvSpPr txBox="1"/>
          <p:nvPr/>
        </p:nvSpPr>
        <p:spPr>
          <a:xfrm>
            <a:off x="41330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6" name="Text 14"/>
          <p:cNvSpPr txBox="1"/>
          <p:nvPr/>
        </p:nvSpPr>
        <p:spPr>
          <a:xfrm>
            <a:off x="500176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8" name="Shape 16"/>
          <p:cNvSpPr/>
          <p:nvPr/>
        </p:nvSpPr>
        <p:spPr>
          <a:xfrm>
            <a:off x="2670048" y="2005199"/>
            <a:ext cx="580151" cy="136676"/>
          </a:xfrm>
          <a:prstGeom prst="rect">
            <a:avLst/>
          </a:prstGeom>
          <a:solidFill>
            <a:srgbClr val="C2352F"/>
          </a:solidFill>
          <a:ln/>
        </p:spPr>
      </p:sp>
      <p:sp>
        <p:nvSpPr>
          <p:cNvPr id="19" name="Text 17"/>
          <p:cNvSpPr txBox="1"/>
          <p:nvPr/>
        </p:nvSpPr>
        <p:spPr>
          <a:xfrm>
            <a:off x="334670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29.7%</a:t>
            </a:r>
            <a:endParaRPr lang="en-US" sz="1300" dirty="0"/>
          </a:p>
        </p:txBody>
      </p:sp>
      <p:sp>
        <p:nvSpPr>
          <p:cNvPr id="20" name="Text 18"/>
          <p:cNvSpPr txBox="1"/>
          <p:nvPr/>
        </p:nvSpPr>
        <p:spPr>
          <a:xfrm>
            <a:off x="41330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1" name="Text 19"/>
          <p:cNvSpPr txBox="1"/>
          <p:nvPr/>
        </p:nvSpPr>
        <p:spPr>
          <a:xfrm>
            <a:off x="500176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3" name="Shape 21"/>
          <p:cNvSpPr/>
          <p:nvPr/>
        </p:nvSpPr>
        <p:spPr>
          <a:xfrm>
            <a:off x="2670048" y="2253700"/>
            <a:ext cx="495930" cy="136676"/>
          </a:xfrm>
          <a:prstGeom prst="rect">
            <a:avLst/>
          </a:prstGeom>
          <a:solidFill>
            <a:srgbClr val="C2352F"/>
          </a:solidFill>
          <a:ln/>
        </p:spPr>
      </p:sp>
      <p:sp>
        <p:nvSpPr>
          <p:cNvPr id="24" name="Text 22"/>
          <p:cNvSpPr txBox="1"/>
          <p:nvPr/>
        </p:nvSpPr>
        <p:spPr>
          <a:xfrm>
            <a:off x="334670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25.4%</a:t>
            </a:r>
            <a:endParaRPr lang="en-US" sz="1300" dirty="0"/>
          </a:p>
        </p:txBody>
      </p:sp>
      <p:sp>
        <p:nvSpPr>
          <p:cNvPr id="25" name="Text 23"/>
          <p:cNvSpPr txBox="1"/>
          <p:nvPr/>
        </p:nvSpPr>
        <p:spPr>
          <a:xfrm>
            <a:off x="41330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6" name="Text 24"/>
          <p:cNvSpPr txBox="1"/>
          <p:nvPr/>
        </p:nvSpPr>
        <p:spPr>
          <a:xfrm>
            <a:off x="500176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502202"/>
            <a:ext cx="479181" cy="136676"/>
          </a:xfrm>
          <a:prstGeom prst="rect">
            <a:avLst/>
          </a:prstGeom>
          <a:solidFill>
            <a:srgbClr val="C2352F"/>
          </a:solidFill>
          <a:ln/>
        </p:spPr>
      </p:sp>
      <p:sp>
        <p:nvSpPr>
          <p:cNvPr id="29" name="Text 27"/>
          <p:cNvSpPr txBox="1"/>
          <p:nvPr/>
        </p:nvSpPr>
        <p:spPr>
          <a:xfrm>
            <a:off x="334670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24.6%</a:t>
            </a:r>
            <a:endParaRPr lang="en-US" sz="1300" dirty="0"/>
          </a:p>
        </p:txBody>
      </p:sp>
      <p:sp>
        <p:nvSpPr>
          <p:cNvPr id="30" name="Text 28"/>
          <p:cNvSpPr txBox="1"/>
          <p:nvPr/>
        </p:nvSpPr>
        <p:spPr>
          <a:xfrm>
            <a:off x="41330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1" name="Text 29"/>
          <p:cNvSpPr txBox="1"/>
          <p:nvPr/>
        </p:nvSpPr>
        <p:spPr>
          <a:xfrm>
            <a:off x="500176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33" name="Shape 31"/>
          <p:cNvSpPr/>
          <p:nvPr/>
        </p:nvSpPr>
        <p:spPr>
          <a:xfrm>
            <a:off x="2670048" y="2750703"/>
            <a:ext cx="453006" cy="136676"/>
          </a:xfrm>
          <a:prstGeom prst="rect">
            <a:avLst/>
          </a:prstGeom>
          <a:solidFill>
            <a:srgbClr val="C2352F"/>
          </a:solidFill>
          <a:ln/>
        </p:spPr>
      </p:sp>
      <p:sp>
        <p:nvSpPr>
          <p:cNvPr id="34" name="Text 32"/>
          <p:cNvSpPr txBox="1"/>
          <p:nvPr/>
        </p:nvSpPr>
        <p:spPr>
          <a:xfrm>
            <a:off x="334670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23.2%</a:t>
            </a:r>
            <a:endParaRPr lang="en-US" sz="1300" dirty="0"/>
          </a:p>
        </p:txBody>
      </p:sp>
      <p:sp>
        <p:nvSpPr>
          <p:cNvPr id="35" name="Text 33"/>
          <p:cNvSpPr txBox="1"/>
          <p:nvPr/>
        </p:nvSpPr>
        <p:spPr>
          <a:xfrm>
            <a:off x="41330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36" name="Text 34"/>
          <p:cNvSpPr txBox="1"/>
          <p:nvPr/>
        </p:nvSpPr>
        <p:spPr>
          <a:xfrm>
            <a:off x="500176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38" name="Shape 36"/>
          <p:cNvSpPr/>
          <p:nvPr/>
        </p:nvSpPr>
        <p:spPr>
          <a:xfrm>
            <a:off x="2670048" y="2999205"/>
            <a:ext cx="389713" cy="136676"/>
          </a:xfrm>
          <a:prstGeom prst="rect">
            <a:avLst/>
          </a:prstGeom>
          <a:solidFill>
            <a:srgbClr val="C2352F"/>
          </a:solidFill>
          <a:ln/>
        </p:spPr>
      </p:sp>
      <p:sp>
        <p:nvSpPr>
          <p:cNvPr id="39" name="Text 37"/>
          <p:cNvSpPr txBox="1"/>
          <p:nvPr/>
        </p:nvSpPr>
        <p:spPr>
          <a:xfrm>
            <a:off x="334670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a:t>
            </a:r>
            <a:endParaRPr lang="en-US" sz="1300" dirty="0"/>
          </a:p>
        </p:txBody>
      </p:sp>
      <p:sp>
        <p:nvSpPr>
          <p:cNvPr id="40" name="Text 38"/>
          <p:cNvSpPr txBox="1"/>
          <p:nvPr/>
        </p:nvSpPr>
        <p:spPr>
          <a:xfrm>
            <a:off x="41330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1" name="Text 39"/>
          <p:cNvSpPr txBox="1"/>
          <p:nvPr/>
        </p:nvSpPr>
        <p:spPr>
          <a:xfrm>
            <a:off x="500176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3" name="Shape 41"/>
          <p:cNvSpPr/>
          <p:nvPr/>
        </p:nvSpPr>
        <p:spPr>
          <a:xfrm>
            <a:off x="2670048" y="3247707"/>
            <a:ext cx="381884" cy="136676"/>
          </a:xfrm>
          <a:prstGeom prst="rect">
            <a:avLst/>
          </a:prstGeom>
          <a:solidFill>
            <a:srgbClr val="C2352F"/>
          </a:solidFill>
          <a:ln/>
        </p:spPr>
      </p:sp>
      <p:sp>
        <p:nvSpPr>
          <p:cNvPr id="44" name="Text 42"/>
          <p:cNvSpPr txBox="1"/>
          <p:nvPr/>
        </p:nvSpPr>
        <p:spPr>
          <a:xfrm>
            <a:off x="334670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19.6%</a:t>
            </a:r>
            <a:endParaRPr lang="en-US" sz="1300" dirty="0"/>
          </a:p>
        </p:txBody>
      </p:sp>
      <p:sp>
        <p:nvSpPr>
          <p:cNvPr id="45" name="Text 43"/>
          <p:cNvSpPr txBox="1"/>
          <p:nvPr/>
        </p:nvSpPr>
        <p:spPr>
          <a:xfrm>
            <a:off x="41330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46" name="Text 44"/>
          <p:cNvSpPr txBox="1"/>
          <p:nvPr/>
        </p:nvSpPr>
        <p:spPr>
          <a:xfrm>
            <a:off x="500176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Shape 46"/>
          <p:cNvSpPr/>
          <p:nvPr/>
        </p:nvSpPr>
        <p:spPr>
          <a:xfrm>
            <a:off x="2670048" y="3496208"/>
            <a:ext cx="370032" cy="136676"/>
          </a:xfrm>
          <a:prstGeom prst="rect">
            <a:avLst/>
          </a:prstGeom>
          <a:solidFill>
            <a:srgbClr val="C2352F"/>
          </a:solidFill>
          <a:ln/>
        </p:spPr>
      </p:sp>
      <p:sp>
        <p:nvSpPr>
          <p:cNvPr id="49" name="Text 47"/>
          <p:cNvSpPr txBox="1"/>
          <p:nvPr/>
        </p:nvSpPr>
        <p:spPr>
          <a:xfrm>
            <a:off x="334670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a:t>
            </a:r>
            <a:endParaRPr lang="en-US" sz="1300" dirty="0"/>
          </a:p>
        </p:txBody>
      </p:sp>
      <p:sp>
        <p:nvSpPr>
          <p:cNvPr id="50" name="Text 48"/>
          <p:cNvSpPr txBox="1"/>
          <p:nvPr/>
        </p:nvSpPr>
        <p:spPr>
          <a:xfrm>
            <a:off x="41330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1" name="Text 49"/>
          <p:cNvSpPr txBox="1"/>
          <p:nvPr/>
        </p:nvSpPr>
        <p:spPr>
          <a:xfrm>
            <a:off x="500176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3" name="Shape 51"/>
          <p:cNvSpPr/>
          <p:nvPr/>
        </p:nvSpPr>
        <p:spPr>
          <a:xfrm>
            <a:off x="2670048" y="3744710"/>
            <a:ext cx="361163" cy="136676"/>
          </a:xfrm>
          <a:prstGeom prst="rect">
            <a:avLst/>
          </a:prstGeom>
          <a:solidFill>
            <a:srgbClr val="C2352F"/>
          </a:solidFill>
          <a:ln/>
        </p:spPr>
      </p:sp>
      <p:sp>
        <p:nvSpPr>
          <p:cNvPr id="54" name="Text 52"/>
          <p:cNvSpPr txBox="1"/>
          <p:nvPr/>
        </p:nvSpPr>
        <p:spPr>
          <a:xfrm>
            <a:off x="334670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a:t>
            </a:r>
            <a:endParaRPr lang="en-US" sz="1300" dirty="0"/>
          </a:p>
        </p:txBody>
      </p:sp>
      <p:sp>
        <p:nvSpPr>
          <p:cNvPr id="55" name="Text 53"/>
          <p:cNvSpPr txBox="1"/>
          <p:nvPr/>
        </p:nvSpPr>
        <p:spPr>
          <a:xfrm>
            <a:off x="41330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56" name="Text 54"/>
          <p:cNvSpPr txBox="1"/>
          <p:nvPr/>
        </p:nvSpPr>
        <p:spPr>
          <a:xfrm>
            <a:off x="500176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8" name="Shape 56"/>
          <p:cNvSpPr/>
          <p:nvPr/>
        </p:nvSpPr>
        <p:spPr>
          <a:xfrm>
            <a:off x="2670048" y="3993212"/>
            <a:ext cx="289514" cy="136676"/>
          </a:xfrm>
          <a:prstGeom prst="rect">
            <a:avLst/>
          </a:prstGeom>
          <a:solidFill>
            <a:srgbClr val="C2352F"/>
          </a:solidFill>
          <a:ln/>
        </p:spPr>
      </p:sp>
      <p:sp>
        <p:nvSpPr>
          <p:cNvPr id="59" name="Text 57"/>
          <p:cNvSpPr txBox="1"/>
          <p:nvPr/>
        </p:nvSpPr>
        <p:spPr>
          <a:xfrm>
            <a:off x="334670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14.8%</a:t>
            </a:r>
            <a:endParaRPr lang="en-US" sz="1300" dirty="0"/>
          </a:p>
        </p:txBody>
      </p:sp>
      <p:sp>
        <p:nvSpPr>
          <p:cNvPr id="60" name="Text 58"/>
          <p:cNvSpPr txBox="1"/>
          <p:nvPr/>
        </p:nvSpPr>
        <p:spPr>
          <a:xfrm>
            <a:off x="41330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61" name="Text 59"/>
          <p:cNvSpPr txBox="1"/>
          <p:nvPr/>
        </p:nvSpPr>
        <p:spPr>
          <a:xfrm>
            <a:off x="500176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63" name="Shape 61"/>
          <p:cNvSpPr/>
          <p:nvPr/>
        </p:nvSpPr>
        <p:spPr>
          <a:xfrm>
            <a:off x="2670048" y="4241713"/>
            <a:ext cx="280378" cy="136676"/>
          </a:xfrm>
          <a:prstGeom prst="rect">
            <a:avLst/>
          </a:prstGeom>
          <a:solidFill>
            <a:srgbClr val="C2352F"/>
          </a:solidFill>
          <a:ln/>
        </p:spPr>
      </p:sp>
      <p:sp>
        <p:nvSpPr>
          <p:cNvPr id="64" name="Text 62"/>
          <p:cNvSpPr txBox="1"/>
          <p:nvPr/>
        </p:nvSpPr>
        <p:spPr>
          <a:xfrm>
            <a:off x="334670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14.4%</a:t>
            </a:r>
            <a:endParaRPr lang="en-US" sz="1300" dirty="0"/>
          </a:p>
        </p:txBody>
      </p:sp>
      <p:sp>
        <p:nvSpPr>
          <p:cNvPr id="65" name="Text 63"/>
          <p:cNvSpPr txBox="1"/>
          <p:nvPr/>
        </p:nvSpPr>
        <p:spPr>
          <a:xfrm>
            <a:off x="41330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66" name="Text 64"/>
          <p:cNvSpPr txBox="1"/>
          <p:nvPr/>
        </p:nvSpPr>
        <p:spPr>
          <a:xfrm>
            <a:off x="500176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68" name="Shape 66"/>
          <p:cNvSpPr/>
          <p:nvPr/>
        </p:nvSpPr>
        <p:spPr>
          <a:xfrm>
            <a:off x="2670048" y="4490215"/>
            <a:ext cx="265831" cy="136676"/>
          </a:xfrm>
          <a:prstGeom prst="rect">
            <a:avLst/>
          </a:prstGeom>
          <a:solidFill>
            <a:srgbClr val="C2352F"/>
          </a:solidFill>
          <a:ln/>
        </p:spPr>
      </p:sp>
      <p:sp>
        <p:nvSpPr>
          <p:cNvPr id="69" name="Text 67"/>
          <p:cNvSpPr txBox="1"/>
          <p:nvPr/>
        </p:nvSpPr>
        <p:spPr>
          <a:xfrm>
            <a:off x="334670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13.6%</a:t>
            </a:r>
            <a:endParaRPr lang="en-US" sz="1300" dirty="0"/>
          </a:p>
        </p:txBody>
      </p:sp>
      <p:sp>
        <p:nvSpPr>
          <p:cNvPr id="70" name="Text 68"/>
          <p:cNvSpPr txBox="1"/>
          <p:nvPr/>
        </p:nvSpPr>
        <p:spPr>
          <a:xfrm>
            <a:off x="41330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71" name="Text 69"/>
          <p:cNvSpPr txBox="1"/>
          <p:nvPr/>
        </p:nvSpPr>
        <p:spPr>
          <a:xfrm>
            <a:off x="500176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3" name="Shape 71"/>
          <p:cNvSpPr/>
          <p:nvPr/>
        </p:nvSpPr>
        <p:spPr>
          <a:xfrm>
            <a:off x="2670048" y="4738717"/>
            <a:ext cx="263180" cy="136676"/>
          </a:xfrm>
          <a:prstGeom prst="rect">
            <a:avLst/>
          </a:prstGeom>
          <a:solidFill>
            <a:srgbClr val="C2352F"/>
          </a:solidFill>
          <a:ln/>
        </p:spPr>
      </p:sp>
      <p:sp>
        <p:nvSpPr>
          <p:cNvPr id="74" name="Text 72"/>
          <p:cNvSpPr txBox="1"/>
          <p:nvPr/>
        </p:nvSpPr>
        <p:spPr>
          <a:xfrm>
            <a:off x="334670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a:t>
            </a:r>
            <a:endParaRPr lang="en-US" sz="1300" dirty="0"/>
          </a:p>
        </p:txBody>
      </p:sp>
      <p:sp>
        <p:nvSpPr>
          <p:cNvPr id="75" name="Text 73"/>
          <p:cNvSpPr txBox="1"/>
          <p:nvPr/>
        </p:nvSpPr>
        <p:spPr>
          <a:xfrm>
            <a:off x="41330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76" name="Text 74"/>
          <p:cNvSpPr txBox="1"/>
          <p:nvPr/>
        </p:nvSpPr>
        <p:spPr>
          <a:xfrm>
            <a:off x="500176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8" name="Shape 76"/>
          <p:cNvSpPr/>
          <p:nvPr/>
        </p:nvSpPr>
        <p:spPr>
          <a:xfrm>
            <a:off x="2670048" y="4987218"/>
            <a:ext cx="225366" cy="136676"/>
          </a:xfrm>
          <a:prstGeom prst="rect">
            <a:avLst/>
          </a:prstGeom>
          <a:solidFill>
            <a:srgbClr val="C2352F"/>
          </a:solidFill>
          <a:ln/>
        </p:spPr>
      </p:sp>
      <p:sp>
        <p:nvSpPr>
          <p:cNvPr id="79" name="Text 77"/>
          <p:cNvSpPr txBox="1"/>
          <p:nvPr/>
        </p:nvSpPr>
        <p:spPr>
          <a:xfrm>
            <a:off x="334670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11.6%</a:t>
            </a:r>
            <a:endParaRPr lang="en-US" sz="1300" dirty="0"/>
          </a:p>
        </p:txBody>
      </p:sp>
      <p:sp>
        <p:nvSpPr>
          <p:cNvPr id="80" name="Text 78"/>
          <p:cNvSpPr txBox="1"/>
          <p:nvPr/>
        </p:nvSpPr>
        <p:spPr>
          <a:xfrm>
            <a:off x="41330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81" name="Text 79"/>
          <p:cNvSpPr txBox="1"/>
          <p:nvPr/>
        </p:nvSpPr>
        <p:spPr>
          <a:xfrm>
            <a:off x="500176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83" name="Shape 81"/>
          <p:cNvSpPr/>
          <p:nvPr/>
        </p:nvSpPr>
        <p:spPr>
          <a:xfrm>
            <a:off x="2670048" y="5235720"/>
            <a:ext cx="175448" cy="136676"/>
          </a:xfrm>
          <a:prstGeom prst="rect">
            <a:avLst/>
          </a:prstGeom>
          <a:solidFill>
            <a:srgbClr val="C2352F"/>
          </a:solidFill>
          <a:ln/>
        </p:spPr>
      </p:sp>
      <p:sp>
        <p:nvSpPr>
          <p:cNvPr id="84" name="Text 82"/>
          <p:cNvSpPr txBox="1"/>
          <p:nvPr/>
        </p:nvSpPr>
        <p:spPr>
          <a:xfrm>
            <a:off x="334670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a:t>
            </a:r>
            <a:endParaRPr lang="en-US" sz="1300" dirty="0"/>
          </a:p>
        </p:txBody>
      </p:sp>
      <p:sp>
        <p:nvSpPr>
          <p:cNvPr id="85" name="Text 83"/>
          <p:cNvSpPr txBox="1"/>
          <p:nvPr/>
        </p:nvSpPr>
        <p:spPr>
          <a:xfrm>
            <a:off x="41330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86" name="Text 84"/>
          <p:cNvSpPr txBox="1"/>
          <p:nvPr/>
        </p:nvSpPr>
        <p:spPr>
          <a:xfrm>
            <a:off x="500176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88" name="Shape 86"/>
          <p:cNvSpPr/>
          <p:nvPr/>
        </p:nvSpPr>
        <p:spPr>
          <a:xfrm>
            <a:off x="2670048" y="5484222"/>
            <a:ext cx="161118" cy="136676"/>
          </a:xfrm>
          <a:prstGeom prst="rect">
            <a:avLst/>
          </a:prstGeom>
          <a:solidFill>
            <a:srgbClr val="C2352F"/>
          </a:solidFill>
          <a:ln/>
        </p:spPr>
      </p:sp>
      <p:sp>
        <p:nvSpPr>
          <p:cNvPr id="89" name="Text 87"/>
          <p:cNvSpPr txBox="1"/>
          <p:nvPr/>
        </p:nvSpPr>
        <p:spPr>
          <a:xfrm>
            <a:off x="334670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a:t>
            </a:r>
            <a:endParaRPr lang="en-US" sz="1300" dirty="0"/>
          </a:p>
        </p:txBody>
      </p:sp>
      <p:sp>
        <p:nvSpPr>
          <p:cNvPr id="90" name="Text 88"/>
          <p:cNvSpPr txBox="1"/>
          <p:nvPr/>
        </p:nvSpPr>
        <p:spPr>
          <a:xfrm>
            <a:off x="41330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91" name="Text 89"/>
          <p:cNvSpPr txBox="1"/>
          <p:nvPr/>
        </p:nvSpPr>
        <p:spPr>
          <a:xfrm>
            <a:off x="500176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93" name="Shape 91"/>
          <p:cNvSpPr/>
          <p:nvPr/>
        </p:nvSpPr>
        <p:spPr>
          <a:xfrm>
            <a:off x="2670048" y="5732723"/>
            <a:ext cx="155810" cy="136676"/>
          </a:xfrm>
          <a:prstGeom prst="rect">
            <a:avLst/>
          </a:prstGeom>
          <a:solidFill>
            <a:srgbClr val="C2352F"/>
          </a:solidFill>
          <a:ln/>
        </p:spPr>
      </p:sp>
      <p:sp>
        <p:nvSpPr>
          <p:cNvPr id="94" name="Text 92"/>
          <p:cNvSpPr txBox="1"/>
          <p:nvPr/>
        </p:nvSpPr>
        <p:spPr>
          <a:xfrm>
            <a:off x="334670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95" name="Text 93"/>
          <p:cNvSpPr txBox="1"/>
          <p:nvPr/>
        </p:nvSpPr>
        <p:spPr>
          <a:xfrm>
            <a:off x="41330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96" name="Text 94"/>
          <p:cNvSpPr txBox="1"/>
          <p:nvPr/>
        </p:nvSpPr>
        <p:spPr>
          <a:xfrm>
            <a:off x="500176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220456" y="1756697"/>
            <a:ext cx="155313" cy="136676"/>
          </a:xfrm>
          <a:prstGeom prst="rect">
            <a:avLst/>
          </a:prstGeom>
          <a:solidFill>
            <a:srgbClr val="C2352F"/>
          </a:solidFill>
          <a:ln/>
        </p:spPr>
      </p:sp>
      <p:sp>
        <p:nvSpPr>
          <p:cNvPr id="99" name="Text 97"/>
          <p:cNvSpPr txBox="1"/>
          <p:nvPr/>
        </p:nvSpPr>
        <p:spPr>
          <a:xfrm>
            <a:off x="889711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100" name="Text 98"/>
          <p:cNvSpPr txBox="1"/>
          <p:nvPr/>
        </p:nvSpPr>
        <p:spPr>
          <a:xfrm>
            <a:off x="96834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01" name="Text 99"/>
          <p:cNvSpPr txBox="1"/>
          <p:nvPr/>
        </p:nvSpPr>
        <p:spPr>
          <a:xfrm>
            <a:off x="1055217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3" name="Shape 101"/>
          <p:cNvSpPr/>
          <p:nvPr/>
        </p:nvSpPr>
        <p:spPr>
          <a:xfrm>
            <a:off x="8220456" y="2005199"/>
            <a:ext cx="154055" cy="136676"/>
          </a:xfrm>
          <a:prstGeom prst="rect">
            <a:avLst/>
          </a:prstGeom>
          <a:solidFill>
            <a:srgbClr val="C2352F"/>
          </a:solidFill>
          <a:ln/>
        </p:spPr>
      </p:sp>
      <p:sp>
        <p:nvSpPr>
          <p:cNvPr id="104" name="Text 102"/>
          <p:cNvSpPr txBox="1"/>
          <p:nvPr/>
        </p:nvSpPr>
        <p:spPr>
          <a:xfrm>
            <a:off x="889711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endParaRPr lang="en-US" sz="1300" dirty="0"/>
          </a:p>
        </p:txBody>
      </p:sp>
      <p:sp>
        <p:nvSpPr>
          <p:cNvPr id="105" name="Text 103"/>
          <p:cNvSpPr txBox="1"/>
          <p:nvPr/>
        </p:nvSpPr>
        <p:spPr>
          <a:xfrm>
            <a:off x="96834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06" name="Text 104"/>
          <p:cNvSpPr txBox="1"/>
          <p:nvPr/>
        </p:nvSpPr>
        <p:spPr>
          <a:xfrm>
            <a:off x="1055217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8" name="Shape 106"/>
          <p:cNvSpPr/>
          <p:nvPr/>
        </p:nvSpPr>
        <p:spPr>
          <a:xfrm>
            <a:off x="8220456" y="2253700"/>
            <a:ext cx="148215" cy="136676"/>
          </a:xfrm>
          <a:prstGeom prst="rect">
            <a:avLst/>
          </a:prstGeom>
          <a:solidFill>
            <a:srgbClr val="C2352F"/>
          </a:solidFill>
          <a:ln/>
        </p:spPr>
      </p:sp>
      <p:sp>
        <p:nvSpPr>
          <p:cNvPr id="109" name="Text 107"/>
          <p:cNvSpPr txBox="1"/>
          <p:nvPr/>
        </p:nvSpPr>
        <p:spPr>
          <a:xfrm>
            <a:off x="889711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a:t>
            </a:r>
            <a:endParaRPr lang="en-US" sz="1300" dirty="0"/>
          </a:p>
        </p:txBody>
      </p:sp>
      <p:sp>
        <p:nvSpPr>
          <p:cNvPr id="110" name="Text 108"/>
          <p:cNvSpPr txBox="1"/>
          <p:nvPr/>
        </p:nvSpPr>
        <p:spPr>
          <a:xfrm>
            <a:off x="96834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11" name="Text 109"/>
          <p:cNvSpPr txBox="1"/>
          <p:nvPr/>
        </p:nvSpPr>
        <p:spPr>
          <a:xfrm>
            <a:off x="1055217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113006" cy="136676"/>
          </a:xfrm>
          <a:prstGeom prst="rect">
            <a:avLst/>
          </a:prstGeom>
          <a:solidFill>
            <a:srgbClr val="C2352F"/>
          </a:solidFill>
          <a:ln/>
        </p:spPr>
      </p:sp>
      <p:sp>
        <p:nvSpPr>
          <p:cNvPr id="114" name="Text 112"/>
          <p:cNvSpPr txBox="1"/>
          <p:nvPr/>
        </p:nvSpPr>
        <p:spPr>
          <a:xfrm>
            <a:off x="889711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a:t>
            </a:r>
            <a:endParaRPr lang="en-US" sz="1300" dirty="0"/>
          </a:p>
        </p:txBody>
      </p:sp>
      <p:sp>
        <p:nvSpPr>
          <p:cNvPr id="115" name="Text 113"/>
          <p:cNvSpPr txBox="1"/>
          <p:nvPr/>
        </p:nvSpPr>
        <p:spPr>
          <a:xfrm>
            <a:off x="96834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16" name="Text 114"/>
          <p:cNvSpPr txBox="1"/>
          <p:nvPr/>
        </p:nvSpPr>
        <p:spPr>
          <a:xfrm>
            <a:off x="1055217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8" name="Shape 116"/>
          <p:cNvSpPr/>
          <p:nvPr/>
        </p:nvSpPr>
        <p:spPr>
          <a:xfrm>
            <a:off x="8220456" y="2750703"/>
            <a:ext cx="100935" cy="136676"/>
          </a:xfrm>
          <a:prstGeom prst="rect">
            <a:avLst/>
          </a:prstGeom>
          <a:solidFill>
            <a:srgbClr val="C2352F"/>
          </a:solidFill>
          <a:ln/>
        </p:spPr>
      </p:sp>
      <p:sp>
        <p:nvSpPr>
          <p:cNvPr id="119" name="Text 117"/>
          <p:cNvSpPr txBox="1"/>
          <p:nvPr/>
        </p:nvSpPr>
        <p:spPr>
          <a:xfrm>
            <a:off x="889711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a:t>
            </a:r>
            <a:endParaRPr lang="en-US" sz="1300" dirty="0"/>
          </a:p>
        </p:txBody>
      </p:sp>
      <p:sp>
        <p:nvSpPr>
          <p:cNvPr id="120" name="Text 118"/>
          <p:cNvSpPr txBox="1"/>
          <p:nvPr/>
        </p:nvSpPr>
        <p:spPr>
          <a:xfrm>
            <a:off x="96834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21" name="Text 119"/>
          <p:cNvSpPr txBox="1"/>
          <p:nvPr/>
        </p:nvSpPr>
        <p:spPr>
          <a:xfrm>
            <a:off x="1055217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3" name="Shape 121"/>
          <p:cNvSpPr/>
          <p:nvPr/>
        </p:nvSpPr>
        <p:spPr>
          <a:xfrm>
            <a:off x="8220456" y="2999205"/>
            <a:ext cx="93000" cy="136676"/>
          </a:xfrm>
          <a:prstGeom prst="rect">
            <a:avLst/>
          </a:prstGeom>
          <a:solidFill>
            <a:srgbClr val="C2352F"/>
          </a:solidFill>
          <a:ln/>
        </p:spPr>
      </p:sp>
      <p:sp>
        <p:nvSpPr>
          <p:cNvPr id="124" name="Text 122"/>
          <p:cNvSpPr txBox="1"/>
          <p:nvPr/>
        </p:nvSpPr>
        <p:spPr>
          <a:xfrm>
            <a:off x="889711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a:t>
            </a:r>
            <a:endParaRPr lang="en-US" sz="1300" dirty="0"/>
          </a:p>
        </p:txBody>
      </p:sp>
      <p:sp>
        <p:nvSpPr>
          <p:cNvPr id="125" name="Text 123"/>
          <p:cNvSpPr txBox="1"/>
          <p:nvPr/>
        </p:nvSpPr>
        <p:spPr>
          <a:xfrm>
            <a:off x="96834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26" name="Text 124"/>
          <p:cNvSpPr txBox="1"/>
          <p:nvPr/>
        </p:nvSpPr>
        <p:spPr>
          <a:xfrm>
            <a:off x="1055217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28" name="Shape 126"/>
          <p:cNvSpPr/>
          <p:nvPr/>
        </p:nvSpPr>
        <p:spPr>
          <a:xfrm>
            <a:off x="8220456" y="3247707"/>
            <a:ext cx="81778" cy="136676"/>
          </a:xfrm>
          <a:prstGeom prst="rect">
            <a:avLst/>
          </a:prstGeom>
          <a:solidFill>
            <a:srgbClr val="C2352F"/>
          </a:solidFill>
          <a:ln/>
        </p:spPr>
      </p:sp>
      <p:sp>
        <p:nvSpPr>
          <p:cNvPr id="129" name="Text 127"/>
          <p:cNvSpPr txBox="1"/>
          <p:nvPr/>
        </p:nvSpPr>
        <p:spPr>
          <a:xfrm>
            <a:off x="889711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a:t>
            </a:r>
            <a:endParaRPr lang="en-US" sz="1300" dirty="0"/>
          </a:p>
        </p:txBody>
      </p:sp>
      <p:sp>
        <p:nvSpPr>
          <p:cNvPr id="130" name="Text 128"/>
          <p:cNvSpPr txBox="1"/>
          <p:nvPr/>
        </p:nvSpPr>
        <p:spPr>
          <a:xfrm>
            <a:off x="96834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31" name="Text 129"/>
          <p:cNvSpPr txBox="1"/>
          <p:nvPr/>
        </p:nvSpPr>
        <p:spPr>
          <a:xfrm>
            <a:off x="1055217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3" name="Shape 131"/>
          <p:cNvSpPr/>
          <p:nvPr/>
        </p:nvSpPr>
        <p:spPr>
          <a:xfrm>
            <a:off x="8220456" y="3496208"/>
            <a:ext cx="79315" cy="136676"/>
          </a:xfrm>
          <a:prstGeom prst="rect">
            <a:avLst/>
          </a:prstGeom>
          <a:solidFill>
            <a:srgbClr val="C2352F"/>
          </a:solidFill>
          <a:ln/>
        </p:spPr>
      </p:sp>
      <p:sp>
        <p:nvSpPr>
          <p:cNvPr id="134" name="Text 132"/>
          <p:cNvSpPr txBox="1"/>
          <p:nvPr/>
        </p:nvSpPr>
        <p:spPr>
          <a:xfrm>
            <a:off x="889711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a:t>
            </a:r>
            <a:endParaRPr lang="en-US" sz="1300" dirty="0"/>
          </a:p>
        </p:txBody>
      </p:sp>
      <p:sp>
        <p:nvSpPr>
          <p:cNvPr id="135" name="Text 133"/>
          <p:cNvSpPr txBox="1"/>
          <p:nvPr/>
        </p:nvSpPr>
        <p:spPr>
          <a:xfrm>
            <a:off x="96834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36" name="Text 134"/>
          <p:cNvSpPr txBox="1"/>
          <p:nvPr/>
        </p:nvSpPr>
        <p:spPr>
          <a:xfrm>
            <a:off x="1055217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38" name="Shape 136"/>
          <p:cNvSpPr/>
          <p:nvPr/>
        </p:nvSpPr>
        <p:spPr>
          <a:xfrm>
            <a:off x="8220456" y="3744710"/>
            <a:ext cx="77721" cy="136676"/>
          </a:xfrm>
          <a:prstGeom prst="rect">
            <a:avLst/>
          </a:prstGeom>
          <a:solidFill>
            <a:srgbClr val="C2352F"/>
          </a:solidFill>
          <a:ln/>
        </p:spPr>
      </p:sp>
      <p:sp>
        <p:nvSpPr>
          <p:cNvPr id="139" name="Text 137"/>
          <p:cNvSpPr txBox="1"/>
          <p:nvPr/>
        </p:nvSpPr>
        <p:spPr>
          <a:xfrm>
            <a:off x="889711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a:t>
            </a:r>
            <a:endParaRPr lang="en-US" sz="1300" dirty="0"/>
          </a:p>
        </p:txBody>
      </p:sp>
      <p:sp>
        <p:nvSpPr>
          <p:cNvPr id="140" name="Text 138"/>
          <p:cNvSpPr txBox="1"/>
          <p:nvPr/>
        </p:nvSpPr>
        <p:spPr>
          <a:xfrm>
            <a:off x="96834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41" name="Text 139"/>
          <p:cNvSpPr txBox="1"/>
          <p:nvPr/>
        </p:nvSpPr>
        <p:spPr>
          <a:xfrm>
            <a:off x="1055217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43" name="Shape 141"/>
          <p:cNvSpPr/>
          <p:nvPr/>
        </p:nvSpPr>
        <p:spPr>
          <a:xfrm>
            <a:off x="8220456" y="3993212"/>
            <a:ext cx="56042" cy="136676"/>
          </a:xfrm>
          <a:prstGeom prst="rect">
            <a:avLst/>
          </a:prstGeom>
          <a:solidFill>
            <a:srgbClr val="C2352F"/>
          </a:solidFill>
          <a:ln/>
        </p:spPr>
      </p:sp>
      <p:sp>
        <p:nvSpPr>
          <p:cNvPr id="144" name="Text 142"/>
          <p:cNvSpPr txBox="1"/>
          <p:nvPr/>
        </p:nvSpPr>
        <p:spPr>
          <a:xfrm>
            <a:off x="889711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a:t>
            </a:r>
            <a:endParaRPr lang="en-US" sz="1300" dirty="0"/>
          </a:p>
        </p:txBody>
      </p:sp>
      <p:sp>
        <p:nvSpPr>
          <p:cNvPr id="145" name="Text 143"/>
          <p:cNvSpPr txBox="1"/>
          <p:nvPr/>
        </p:nvSpPr>
        <p:spPr>
          <a:xfrm>
            <a:off x="96834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46" name="Text 144"/>
          <p:cNvSpPr txBox="1"/>
          <p:nvPr/>
        </p:nvSpPr>
        <p:spPr>
          <a:xfrm>
            <a:off x="1055217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220456" y="4241713"/>
            <a:ext cx="51888" cy="136676"/>
          </a:xfrm>
          <a:prstGeom prst="rect">
            <a:avLst/>
          </a:prstGeom>
          <a:solidFill>
            <a:srgbClr val="C2352F"/>
          </a:solidFill>
          <a:ln/>
        </p:spPr>
      </p:sp>
      <p:sp>
        <p:nvSpPr>
          <p:cNvPr id="149" name="Text 147"/>
          <p:cNvSpPr txBox="1"/>
          <p:nvPr/>
        </p:nvSpPr>
        <p:spPr>
          <a:xfrm>
            <a:off x="889711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a:t>
            </a:r>
            <a:endParaRPr lang="en-US" sz="1300" dirty="0"/>
          </a:p>
        </p:txBody>
      </p:sp>
      <p:sp>
        <p:nvSpPr>
          <p:cNvPr id="150" name="Text 148"/>
          <p:cNvSpPr txBox="1"/>
          <p:nvPr/>
        </p:nvSpPr>
        <p:spPr>
          <a:xfrm>
            <a:off x="96834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51" name="Text 149"/>
          <p:cNvSpPr txBox="1"/>
          <p:nvPr/>
        </p:nvSpPr>
        <p:spPr>
          <a:xfrm>
            <a:off x="1055217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3" name="Shape 151"/>
          <p:cNvSpPr/>
          <p:nvPr/>
        </p:nvSpPr>
        <p:spPr>
          <a:xfrm>
            <a:off x="8220456" y="4490215"/>
            <a:ext cx="37656" cy="136676"/>
          </a:xfrm>
          <a:prstGeom prst="rect">
            <a:avLst/>
          </a:prstGeom>
          <a:solidFill>
            <a:srgbClr val="C2352F"/>
          </a:solidFill>
          <a:ln/>
        </p:spPr>
      </p:sp>
      <p:sp>
        <p:nvSpPr>
          <p:cNvPr id="154" name="Text 152"/>
          <p:cNvSpPr txBox="1"/>
          <p:nvPr/>
        </p:nvSpPr>
        <p:spPr>
          <a:xfrm>
            <a:off x="889711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55" name="Text 153"/>
          <p:cNvSpPr txBox="1"/>
          <p:nvPr/>
        </p:nvSpPr>
        <p:spPr>
          <a:xfrm>
            <a:off x="96834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56" name="Text 154"/>
          <p:cNvSpPr txBox="1"/>
          <p:nvPr/>
        </p:nvSpPr>
        <p:spPr>
          <a:xfrm>
            <a:off x="1055217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58" name="Shape 156"/>
          <p:cNvSpPr/>
          <p:nvPr/>
        </p:nvSpPr>
        <p:spPr>
          <a:xfrm>
            <a:off x="8220456" y="4738717"/>
            <a:ext cx="36383" cy="136676"/>
          </a:xfrm>
          <a:prstGeom prst="rect">
            <a:avLst/>
          </a:prstGeom>
          <a:solidFill>
            <a:srgbClr val="C2352F"/>
          </a:solidFill>
          <a:ln/>
        </p:spPr>
      </p:sp>
      <p:sp>
        <p:nvSpPr>
          <p:cNvPr id="159" name="Text 157"/>
          <p:cNvSpPr txBox="1"/>
          <p:nvPr/>
        </p:nvSpPr>
        <p:spPr>
          <a:xfrm>
            <a:off x="889711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60" name="Text 158"/>
          <p:cNvSpPr txBox="1"/>
          <p:nvPr/>
        </p:nvSpPr>
        <p:spPr>
          <a:xfrm>
            <a:off x="96834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61" name="Text 159"/>
          <p:cNvSpPr txBox="1"/>
          <p:nvPr/>
        </p:nvSpPr>
        <p:spPr>
          <a:xfrm>
            <a:off x="1055217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63" name="Shape 161"/>
          <p:cNvSpPr/>
          <p:nvPr/>
        </p:nvSpPr>
        <p:spPr>
          <a:xfrm>
            <a:off x="8220456" y="4987218"/>
            <a:ext cx="26547" cy="136676"/>
          </a:xfrm>
          <a:prstGeom prst="rect">
            <a:avLst/>
          </a:prstGeom>
          <a:solidFill>
            <a:srgbClr val="C2352F"/>
          </a:solidFill>
          <a:ln/>
        </p:spPr>
      </p:sp>
      <p:sp>
        <p:nvSpPr>
          <p:cNvPr id="164" name="Text 162"/>
          <p:cNvSpPr txBox="1"/>
          <p:nvPr/>
        </p:nvSpPr>
        <p:spPr>
          <a:xfrm>
            <a:off x="889711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165" name="Text 163"/>
          <p:cNvSpPr txBox="1"/>
          <p:nvPr/>
        </p:nvSpPr>
        <p:spPr>
          <a:xfrm>
            <a:off x="96834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66" name="Text 164"/>
          <p:cNvSpPr txBox="1"/>
          <p:nvPr/>
        </p:nvSpPr>
        <p:spPr>
          <a:xfrm>
            <a:off x="1055217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68" name="Shape 166"/>
          <p:cNvSpPr/>
          <p:nvPr/>
        </p:nvSpPr>
        <p:spPr>
          <a:xfrm>
            <a:off x="8220456" y="5235720"/>
            <a:ext cx="18288" cy="136676"/>
          </a:xfrm>
          <a:prstGeom prst="rect">
            <a:avLst/>
          </a:prstGeom>
          <a:solidFill>
            <a:srgbClr val="C2352F"/>
          </a:solidFill>
          <a:ln/>
        </p:spPr>
      </p:sp>
      <p:sp>
        <p:nvSpPr>
          <p:cNvPr id="169" name="Text 167"/>
          <p:cNvSpPr txBox="1"/>
          <p:nvPr/>
        </p:nvSpPr>
        <p:spPr>
          <a:xfrm>
            <a:off x="889711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0.8%</a:t>
            </a:r>
            <a:endParaRPr lang="en-US" sz="1300" dirty="0"/>
          </a:p>
        </p:txBody>
      </p:sp>
      <p:sp>
        <p:nvSpPr>
          <p:cNvPr id="170" name="Text 168"/>
          <p:cNvSpPr txBox="1"/>
          <p:nvPr/>
        </p:nvSpPr>
        <p:spPr>
          <a:xfrm>
            <a:off x="96834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71" name="Text 169"/>
          <p:cNvSpPr txBox="1"/>
          <p:nvPr/>
        </p:nvSpPr>
        <p:spPr>
          <a:xfrm>
            <a:off x="1055217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73" name="Shape 171"/>
          <p:cNvSpPr/>
          <p:nvPr/>
        </p:nvSpPr>
        <p:spPr>
          <a:xfrm>
            <a:off x="8220456" y="5484222"/>
            <a:ext cx="18288" cy="136676"/>
          </a:xfrm>
          <a:prstGeom prst="rect">
            <a:avLst/>
          </a:prstGeom>
          <a:solidFill>
            <a:srgbClr val="C2352F"/>
          </a:solidFill>
          <a:ln/>
        </p:spPr>
      </p:sp>
      <p:sp>
        <p:nvSpPr>
          <p:cNvPr id="174" name="Text 172"/>
          <p:cNvSpPr txBox="1"/>
          <p:nvPr/>
        </p:nvSpPr>
        <p:spPr>
          <a:xfrm>
            <a:off x="889711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a:t>
            </a:r>
            <a:endParaRPr lang="en-US" sz="1300" dirty="0"/>
          </a:p>
        </p:txBody>
      </p:sp>
      <p:sp>
        <p:nvSpPr>
          <p:cNvPr id="175" name="Text 173"/>
          <p:cNvSpPr txBox="1"/>
          <p:nvPr/>
        </p:nvSpPr>
        <p:spPr>
          <a:xfrm>
            <a:off x="96834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176" name="Text 174"/>
          <p:cNvSpPr txBox="1"/>
          <p:nvPr/>
        </p:nvSpPr>
        <p:spPr>
          <a:xfrm>
            <a:off x="1055217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177" name="Shape 175"/>
          <p:cNvSpPr/>
          <p:nvPr/>
        </p:nvSpPr>
        <p:spPr>
          <a:xfrm>
            <a:off x="457200" y="6126480"/>
            <a:ext cx="11274552" cy="615696"/>
          </a:xfrm>
          <a:prstGeom prst="rect">
            <a:avLst/>
          </a:prstGeom>
          <a:solidFill>
            <a:srgbClr val="FBEBE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5 stores are missing a fifth or more, led by Hyundai St George at 32% ($88K of $277K a month).</a:t>
            </a:r>
            <a:endParaRPr lang="en-US" sz="1600" dirty="0"/>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Is It the Work or the Workers?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65176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FEWER ROS · 10 STORES</a:t>
            </a:r>
            <a:endParaRPr lang="en-US" sz="1400" dirty="0"/>
          </a:p>
        </p:txBody>
      </p:sp>
      <p:sp>
        <p:nvSpPr>
          <p:cNvPr id="7" name="Text 5"/>
          <p:cNvSpPr txBox="1"/>
          <p:nvPr/>
        </p:nvSpPr>
        <p:spPr>
          <a:xfrm>
            <a:off x="3438144"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Prof.</a:t>
            </a:r>
            <a:endParaRPr lang="en-US" sz="1400" dirty="0"/>
          </a:p>
        </p:txBody>
      </p:sp>
      <p:sp>
        <p:nvSpPr>
          <p:cNvPr id="8" name="Text 6"/>
          <p:cNvSpPr txBox="1"/>
          <p:nvPr/>
        </p:nvSpPr>
        <p:spPr>
          <a:xfrm>
            <a:off x="418795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9" name="Text 7"/>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0" name="Text 8"/>
          <p:cNvSpPr txBox="1"/>
          <p:nvPr/>
        </p:nvSpPr>
        <p:spPr>
          <a:xfrm>
            <a:off x="658368" y="1755648"/>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 name="Shape 9"/>
          <p:cNvSpPr/>
          <p:nvPr/>
        </p:nvSpPr>
        <p:spPr>
          <a:xfrm>
            <a:off x="2651760" y="1859890"/>
            <a:ext cx="648144" cy="208483"/>
          </a:xfrm>
          <a:prstGeom prst="rect">
            <a:avLst/>
          </a:prstGeom>
          <a:solidFill>
            <a:srgbClr val="C2352F"/>
          </a:solidFill>
          <a:ln/>
        </p:spPr>
      </p:sp>
      <p:sp>
        <p:nvSpPr>
          <p:cNvPr id="12" name="Text 10"/>
          <p:cNvSpPr txBox="1"/>
          <p:nvPr/>
        </p:nvSpPr>
        <p:spPr>
          <a:xfrm>
            <a:off x="3438144" y="1755648"/>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83.6%</a:t>
            </a:r>
            <a:endParaRPr lang="en-US" sz="1300" dirty="0"/>
          </a:p>
        </p:txBody>
      </p:sp>
      <p:sp>
        <p:nvSpPr>
          <p:cNvPr id="13" name="Text 11"/>
          <p:cNvSpPr txBox="1"/>
          <p:nvPr/>
        </p:nvSpPr>
        <p:spPr>
          <a:xfrm>
            <a:off x="4187952"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4" name="Text 12"/>
          <p:cNvSpPr txBox="1"/>
          <p:nvPr/>
        </p:nvSpPr>
        <p:spPr>
          <a:xfrm>
            <a:off x="5029200"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5" name="Text 13"/>
          <p:cNvSpPr txBox="1"/>
          <p:nvPr/>
        </p:nvSpPr>
        <p:spPr>
          <a:xfrm>
            <a:off x="658368" y="21726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 name="Shape 14"/>
          <p:cNvSpPr/>
          <p:nvPr/>
        </p:nvSpPr>
        <p:spPr>
          <a:xfrm>
            <a:off x="2651760" y="2276856"/>
            <a:ext cx="615319" cy="208483"/>
          </a:xfrm>
          <a:prstGeom prst="rect">
            <a:avLst/>
          </a:prstGeom>
          <a:solidFill>
            <a:srgbClr val="C2352F"/>
          </a:solidFill>
          <a:ln/>
        </p:spPr>
      </p:sp>
      <p:sp>
        <p:nvSpPr>
          <p:cNvPr id="17" name="Text 15"/>
          <p:cNvSpPr txBox="1"/>
          <p:nvPr/>
        </p:nvSpPr>
        <p:spPr>
          <a:xfrm>
            <a:off x="3438144" y="21726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81.4%</a:t>
            </a:r>
            <a:endParaRPr lang="en-US" sz="1300" dirty="0"/>
          </a:p>
        </p:txBody>
      </p:sp>
      <p:sp>
        <p:nvSpPr>
          <p:cNvPr id="18" name="Text 16"/>
          <p:cNvSpPr txBox="1"/>
          <p:nvPr/>
        </p:nvSpPr>
        <p:spPr>
          <a:xfrm>
            <a:off x="4187952"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9" name="Text 17"/>
          <p:cNvSpPr txBox="1"/>
          <p:nvPr/>
        </p:nvSpPr>
        <p:spPr>
          <a:xfrm>
            <a:off x="5029200"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20" name="Text 18"/>
          <p:cNvSpPr txBox="1"/>
          <p:nvPr/>
        </p:nvSpPr>
        <p:spPr>
          <a:xfrm>
            <a:off x="658368" y="2589581"/>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1" name="Shape 19"/>
          <p:cNvSpPr/>
          <p:nvPr/>
        </p:nvSpPr>
        <p:spPr>
          <a:xfrm>
            <a:off x="2651760" y="2693822"/>
            <a:ext cx="576700" cy="208483"/>
          </a:xfrm>
          <a:prstGeom prst="rect">
            <a:avLst/>
          </a:prstGeom>
          <a:solidFill>
            <a:srgbClr val="C2352F"/>
          </a:solidFill>
          <a:ln/>
        </p:spPr>
      </p:sp>
      <p:sp>
        <p:nvSpPr>
          <p:cNvPr id="22" name="Text 20"/>
          <p:cNvSpPr txBox="1"/>
          <p:nvPr/>
        </p:nvSpPr>
        <p:spPr>
          <a:xfrm>
            <a:off x="3438144" y="2589581"/>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78.8%</a:t>
            </a:r>
            <a:endParaRPr lang="en-US" sz="1300" dirty="0"/>
          </a:p>
        </p:txBody>
      </p:sp>
      <p:sp>
        <p:nvSpPr>
          <p:cNvPr id="23" name="Text 21"/>
          <p:cNvSpPr txBox="1"/>
          <p:nvPr/>
        </p:nvSpPr>
        <p:spPr>
          <a:xfrm>
            <a:off x="4187952"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24" name="Text 22"/>
          <p:cNvSpPr txBox="1"/>
          <p:nvPr/>
        </p:nvSpPr>
        <p:spPr>
          <a:xfrm>
            <a:off x="5029200"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25" name="Text 23"/>
          <p:cNvSpPr txBox="1"/>
          <p:nvPr/>
        </p:nvSpPr>
        <p:spPr>
          <a:xfrm>
            <a:off x="658368" y="3006547"/>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6" name="Shape 24"/>
          <p:cNvSpPr/>
          <p:nvPr/>
        </p:nvSpPr>
        <p:spPr>
          <a:xfrm>
            <a:off x="2651760" y="3110789"/>
            <a:ext cx="499175" cy="208483"/>
          </a:xfrm>
          <a:prstGeom prst="rect">
            <a:avLst/>
          </a:prstGeom>
          <a:solidFill>
            <a:srgbClr val="C2352F"/>
          </a:solidFill>
          <a:ln/>
        </p:spPr>
      </p:sp>
      <p:sp>
        <p:nvSpPr>
          <p:cNvPr id="27" name="Text 25"/>
          <p:cNvSpPr txBox="1"/>
          <p:nvPr/>
        </p:nvSpPr>
        <p:spPr>
          <a:xfrm>
            <a:off x="3438144" y="3006547"/>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73.6%</a:t>
            </a:r>
            <a:endParaRPr lang="en-US" sz="1300" dirty="0"/>
          </a:p>
        </p:txBody>
      </p:sp>
      <p:sp>
        <p:nvSpPr>
          <p:cNvPr id="28" name="Text 26"/>
          <p:cNvSpPr txBox="1"/>
          <p:nvPr/>
        </p:nvSpPr>
        <p:spPr>
          <a:xfrm>
            <a:off x="4187952" y="3006547"/>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29" name="Text 27"/>
          <p:cNvSpPr txBox="1"/>
          <p:nvPr/>
        </p:nvSpPr>
        <p:spPr>
          <a:xfrm>
            <a:off x="5029200" y="3006547"/>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0" name="Text 28"/>
          <p:cNvSpPr txBox="1"/>
          <p:nvPr/>
        </p:nvSpPr>
        <p:spPr>
          <a:xfrm>
            <a:off x="658368" y="34235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1" name="Shape 29"/>
          <p:cNvSpPr/>
          <p:nvPr/>
        </p:nvSpPr>
        <p:spPr>
          <a:xfrm>
            <a:off x="2651760" y="3527755"/>
            <a:ext cx="463439" cy="208483"/>
          </a:xfrm>
          <a:prstGeom prst="rect">
            <a:avLst/>
          </a:prstGeom>
          <a:solidFill>
            <a:srgbClr val="C2352F"/>
          </a:solidFill>
          <a:ln/>
        </p:spPr>
      </p:sp>
      <p:sp>
        <p:nvSpPr>
          <p:cNvPr id="32" name="Text 30"/>
          <p:cNvSpPr txBox="1"/>
          <p:nvPr/>
        </p:nvSpPr>
        <p:spPr>
          <a:xfrm>
            <a:off x="3438144" y="34235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71.2%</a:t>
            </a:r>
            <a:endParaRPr lang="en-US" sz="1300" dirty="0"/>
          </a:p>
        </p:txBody>
      </p:sp>
      <p:sp>
        <p:nvSpPr>
          <p:cNvPr id="33" name="Text 31"/>
          <p:cNvSpPr txBox="1"/>
          <p:nvPr/>
        </p:nvSpPr>
        <p:spPr>
          <a:xfrm>
            <a:off x="4187952" y="34235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34" name="Text 32"/>
          <p:cNvSpPr txBox="1"/>
          <p:nvPr/>
        </p:nvSpPr>
        <p:spPr>
          <a:xfrm>
            <a:off x="5029200" y="34235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5" name="Text 33"/>
          <p:cNvSpPr txBox="1"/>
          <p:nvPr/>
        </p:nvSpPr>
        <p:spPr>
          <a:xfrm>
            <a:off x="658368" y="3840480"/>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6" name="Shape 34"/>
          <p:cNvSpPr/>
          <p:nvPr/>
        </p:nvSpPr>
        <p:spPr>
          <a:xfrm>
            <a:off x="2651760" y="3944722"/>
            <a:ext cx="446067" cy="208483"/>
          </a:xfrm>
          <a:prstGeom prst="rect">
            <a:avLst/>
          </a:prstGeom>
          <a:solidFill>
            <a:srgbClr val="C2352F"/>
          </a:solidFill>
          <a:ln/>
        </p:spPr>
      </p:sp>
      <p:sp>
        <p:nvSpPr>
          <p:cNvPr id="37" name="Text 35"/>
          <p:cNvSpPr txBox="1"/>
          <p:nvPr/>
        </p:nvSpPr>
        <p:spPr>
          <a:xfrm>
            <a:off x="3438144" y="3840480"/>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70.0%</a:t>
            </a:r>
            <a:endParaRPr lang="en-US" sz="1300" dirty="0"/>
          </a:p>
        </p:txBody>
      </p:sp>
      <p:sp>
        <p:nvSpPr>
          <p:cNvPr id="38" name="Text 36"/>
          <p:cNvSpPr txBox="1"/>
          <p:nvPr/>
        </p:nvSpPr>
        <p:spPr>
          <a:xfrm>
            <a:off x="4187952" y="3840480"/>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39" name="Text 37"/>
          <p:cNvSpPr txBox="1"/>
          <p:nvPr/>
        </p:nvSpPr>
        <p:spPr>
          <a:xfrm>
            <a:off x="5029200" y="3840480"/>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40" name="Text 38"/>
          <p:cNvSpPr txBox="1"/>
          <p:nvPr/>
        </p:nvSpPr>
        <p:spPr>
          <a:xfrm>
            <a:off x="658368" y="4257446"/>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1" name="Shape 39"/>
          <p:cNvSpPr/>
          <p:nvPr/>
        </p:nvSpPr>
        <p:spPr>
          <a:xfrm>
            <a:off x="2651760" y="4361688"/>
            <a:ext cx="431099" cy="208483"/>
          </a:xfrm>
          <a:prstGeom prst="rect">
            <a:avLst/>
          </a:prstGeom>
          <a:solidFill>
            <a:srgbClr val="C2352F"/>
          </a:solidFill>
          <a:ln/>
        </p:spPr>
      </p:sp>
      <p:sp>
        <p:nvSpPr>
          <p:cNvPr id="42" name="Text 40"/>
          <p:cNvSpPr txBox="1"/>
          <p:nvPr/>
        </p:nvSpPr>
        <p:spPr>
          <a:xfrm>
            <a:off x="3438144" y="4257446"/>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69.0%</a:t>
            </a:r>
            <a:endParaRPr lang="en-US" sz="1300" dirty="0"/>
          </a:p>
        </p:txBody>
      </p:sp>
      <p:sp>
        <p:nvSpPr>
          <p:cNvPr id="43" name="Text 41"/>
          <p:cNvSpPr txBox="1"/>
          <p:nvPr/>
        </p:nvSpPr>
        <p:spPr>
          <a:xfrm>
            <a:off x="4187952" y="42574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4" name="Text 42"/>
          <p:cNvSpPr txBox="1"/>
          <p:nvPr/>
        </p:nvSpPr>
        <p:spPr>
          <a:xfrm>
            <a:off x="5029200" y="42574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45" name="Text 43"/>
          <p:cNvSpPr txBox="1"/>
          <p:nvPr/>
        </p:nvSpPr>
        <p:spPr>
          <a:xfrm>
            <a:off x="658368" y="4674413"/>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46" name="Shape 44"/>
          <p:cNvSpPr/>
          <p:nvPr/>
        </p:nvSpPr>
        <p:spPr>
          <a:xfrm>
            <a:off x="2651760" y="4778654"/>
            <a:ext cx="422076" cy="208483"/>
          </a:xfrm>
          <a:prstGeom prst="rect">
            <a:avLst/>
          </a:prstGeom>
          <a:solidFill>
            <a:srgbClr val="C2352F"/>
          </a:solidFill>
          <a:ln/>
        </p:spPr>
      </p:sp>
      <p:sp>
        <p:nvSpPr>
          <p:cNvPr id="47" name="Text 45"/>
          <p:cNvSpPr txBox="1"/>
          <p:nvPr/>
        </p:nvSpPr>
        <p:spPr>
          <a:xfrm>
            <a:off x="3438144" y="4674413"/>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68.4%</a:t>
            </a:r>
            <a:endParaRPr lang="en-US" sz="1300" dirty="0"/>
          </a:p>
        </p:txBody>
      </p:sp>
      <p:sp>
        <p:nvSpPr>
          <p:cNvPr id="48" name="Text 46"/>
          <p:cNvSpPr txBox="1"/>
          <p:nvPr/>
        </p:nvSpPr>
        <p:spPr>
          <a:xfrm>
            <a:off x="4187952" y="4674413"/>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49" name="Text 47"/>
          <p:cNvSpPr txBox="1"/>
          <p:nvPr/>
        </p:nvSpPr>
        <p:spPr>
          <a:xfrm>
            <a:off x="5029200" y="4674413"/>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0" name="Text 48"/>
          <p:cNvSpPr txBox="1"/>
          <p:nvPr/>
        </p:nvSpPr>
        <p:spPr>
          <a:xfrm>
            <a:off x="658368" y="5091379"/>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51" name="Shape 49"/>
          <p:cNvSpPr/>
          <p:nvPr/>
        </p:nvSpPr>
        <p:spPr>
          <a:xfrm>
            <a:off x="2651760" y="5195621"/>
            <a:ext cx="408666" cy="208483"/>
          </a:xfrm>
          <a:prstGeom prst="rect">
            <a:avLst/>
          </a:prstGeom>
          <a:solidFill>
            <a:srgbClr val="C2352F"/>
          </a:solidFill>
          <a:ln/>
        </p:spPr>
      </p:sp>
      <p:sp>
        <p:nvSpPr>
          <p:cNvPr id="52" name="Text 50"/>
          <p:cNvSpPr txBox="1"/>
          <p:nvPr/>
        </p:nvSpPr>
        <p:spPr>
          <a:xfrm>
            <a:off x="3438144" y="5091379"/>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67.5%</a:t>
            </a:r>
            <a:endParaRPr lang="en-US" sz="1300" dirty="0"/>
          </a:p>
        </p:txBody>
      </p:sp>
      <p:sp>
        <p:nvSpPr>
          <p:cNvPr id="53" name="Text 51"/>
          <p:cNvSpPr txBox="1"/>
          <p:nvPr/>
        </p:nvSpPr>
        <p:spPr>
          <a:xfrm>
            <a:off x="4187952" y="5091379"/>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54" name="Text 52"/>
          <p:cNvSpPr txBox="1"/>
          <p:nvPr/>
        </p:nvSpPr>
        <p:spPr>
          <a:xfrm>
            <a:off x="5029200" y="5091379"/>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5" name="Text 53"/>
          <p:cNvSpPr txBox="1"/>
          <p:nvPr/>
        </p:nvSpPr>
        <p:spPr>
          <a:xfrm>
            <a:off x="658368" y="5508346"/>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6" name="Shape 54"/>
          <p:cNvSpPr/>
          <p:nvPr/>
        </p:nvSpPr>
        <p:spPr>
          <a:xfrm>
            <a:off x="2651760" y="5612587"/>
            <a:ext cx="407442" cy="208483"/>
          </a:xfrm>
          <a:prstGeom prst="rect">
            <a:avLst/>
          </a:prstGeom>
          <a:solidFill>
            <a:srgbClr val="C2352F"/>
          </a:solidFill>
          <a:ln/>
        </p:spPr>
      </p:sp>
      <p:sp>
        <p:nvSpPr>
          <p:cNvPr id="57" name="Text 55"/>
          <p:cNvSpPr txBox="1"/>
          <p:nvPr/>
        </p:nvSpPr>
        <p:spPr>
          <a:xfrm>
            <a:off x="3438144" y="5508346"/>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67.4%</a:t>
            </a:r>
            <a:endParaRPr lang="en-US" sz="1300" dirty="0"/>
          </a:p>
        </p:txBody>
      </p:sp>
      <p:sp>
        <p:nvSpPr>
          <p:cNvPr id="58" name="Text 56"/>
          <p:cNvSpPr txBox="1"/>
          <p:nvPr/>
        </p:nvSpPr>
        <p:spPr>
          <a:xfrm>
            <a:off x="4187952" y="55083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59" name="Text 57"/>
          <p:cNvSpPr txBox="1"/>
          <p:nvPr/>
        </p:nvSpPr>
        <p:spPr>
          <a:xfrm>
            <a:off x="5029200" y="55083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0" name="Shape 58"/>
          <p:cNvSpPr/>
          <p:nvPr/>
        </p:nvSpPr>
        <p:spPr>
          <a:xfrm>
            <a:off x="3312839" y="1755648"/>
            <a:ext cx="14630" cy="4169664"/>
          </a:xfrm>
          <a:prstGeom prst="rect">
            <a:avLst/>
          </a:prstGeom>
          <a:solidFill>
            <a:srgbClr val="0B2C4A"/>
          </a:solidFill>
          <a:ln/>
        </p:spPr>
      </p:sp>
      <p:sp>
        <p:nvSpPr>
          <p:cNvPr id="61" name="Text 59"/>
          <p:cNvSpPr txBox="1"/>
          <p:nvPr/>
        </p:nvSpPr>
        <p:spPr>
          <a:xfrm>
            <a:off x="6208776" y="1316736"/>
            <a:ext cx="265176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ENOUGH ROS · 3 STORES</a:t>
            </a:r>
            <a:endParaRPr lang="en-US" sz="1400" dirty="0"/>
          </a:p>
        </p:txBody>
      </p:sp>
      <p:sp>
        <p:nvSpPr>
          <p:cNvPr id="62" name="Text 60"/>
          <p:cNvSpPr txBox="1"/>
          <p:nvPr/>
        </p:nvSpPr>
        <p:spPr>
          <a:xfrm>
            <a:off x="898855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Prof.</a:t>
            </a:r>
            <a:endParaRPr lang="en-US" sz="1400" dirty="0"/>
          </a:p>
        </p:txBody>
      </p:sp>
      <p:sp>
        <p:nvSpPr>
          <p:cNvPr id="63" name="Text 61"/>
          <p:cNvSpPr txBox="1"/>
          <p:nvPr/>
        </p:nvSpPr>
        <p:spPr>
          <a:xfrm>
            <a:off x="973836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64" name="Text 62"/>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65" name="Text 63"/>
          <p:cNvSpPr txBox="1"/>
          <p:nvPr/>
        </p:nvSpPr>
        <p:spPr>
          <a:xfrm>
            <a:off x="6208776" y="1755648"/>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6" name="Shape 64"/>
          <p:cNvSpPr/>
          <p:nvPr/>
        </p:nvSpPr>
        <p:spPr>
          <a:xfrm>
            <a:off x="8202168" y="1859890"/>
            <a:ext cx="572597" cy="208483"/>
          </a:xfrm>
          <a:prstGeom prst="rect">
            <a:avLst/>
          </a:prstGeom>
          <a:solidFill>
            <a:srgbClr val="C2352F"/>
          </a:solidFill>
          <a:ln/>
        </p:spPr>
      </p:sp>
      <p:sp>
        <p:nvSpPr>
          <p:cNvPr id="67" name="Text 65"/>
          <p:cNvSpPr txBox="1"/>
          <p:nvPr/>
        </p:nvSpPr>
        <p:spPr>
          <a:xfrm>
            <a:off x="8988552" y="1755648"/>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78.5%</a:t>
            </a:r>
            <a:endParaRPr lang="en-US" sz="1300" dirty="0"/>
          </a:p>
        </p:txBody>
      </p:sp>
      <p:sp>
        <p:nvSpPr>
          <p:cNvPr id="68" name="Text 66"/>
          <p:cNvSpPr txBox="1"/>
          <p:nvPr/>
        </p:nvSpPr>
        <p:spPr>
          <a:xfrm>
            <a:off x="9738360"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69" name="Text 67"/>
          <p:cNvSpPr txBox="1"/>
          <p:nvPr/>
        </p:nvSpPr>
        <p:spPr>
          <a:xfrm>
            <a:off x="10579608"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0" name="Text 68"/>
          <p:cNvSpPr txBox="1"/>
          <p:nvPr/>
        </p:nvSpPr>
        <p:spPr>
          <a:xfrm>
            <a:off x="6208776" y="21726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1" name="Shape 69"/>
          <p:cNvSpPr/>
          <p:nvPr/>
        </p:nvSpPr>
        <p:spPr>
          <a:xfrm>
            <a:off x="8202168" y="2276856"/>
            <a:ext cx="547492" cy="208483"/>
          </a:xfrm>
          <a:prstGeom prst="rect">
            <a:avLst/>
          </a:prstGeom>
          <a:solidFill>
            <a:srgbClr val="C2352F"/>
          </a:solidFill>
          <a:ln/>
        </p:spPr>
      </p:sp>
      <p:sp>
        <p:nvSpPr>
          <p:cNvPr id="72" name="Text 70"/>
          <p:cNvSpPr txBox="1"/>
          <p:nvPr/>
        </p:nvSpPr>
        <p:spPr>
          <a:xfrm>
            <a:off x="8988552" y="21726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76.8%</a:t>
            </a:r>
            <a:endParaRPr lang="en-US" sz="1300" dirty="0"/>
          </a:p>
        </p:txBody>
      </p:sp>
      <p:sp>
        <p:nvSpPr>
          <p:cNvPr id="73" name="Text 71"/>
          <p:cNvSpPr txBox="1"/>
          <p:nvPr/>
        </p:nvSpPr>
        <p:spPr>
          <a:xfrm>
            <a:off x="9738360"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74" name="Text 72"/>
          <p:cNvSpPr txBox="1"/>
          <p:nvPr/>
        </p:nvSpPr>
        <p:spPr>
          <a:xfrm>
            <a:off x="10579608"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5" name="Text 73"/>
          <p:cNvSpPr txBox="1"/>
          <p:nvPr/>
        </p:nvSpPr>
        <p:spPr>
          <a:xfrm>
            <a:off x="6208776" y="2589581"/>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6" name="Shape 74"/>
          <p:cNvSpPr/>
          <p:nvPr/>
        </p:nvSpPr>
        <p:spPr>
          <a:xfrm>
            <a:off x="8202168" y="2693822"/>
            <a:ext cx="481123" cy="208483"/>
          </a:xfrm>
          <a:prstGeom prst="rect">
            <a:avLst/>
          </a:prstGeom>
          <a:solidFill>
            <a:srgbClr val="C2352F"/>
          </a:solidFill>
          <a:ln/>
        </p:spPr>
      </p:sp>
      <p:sp>
        <p:nvSpPr>
          <p:cNvPr id="77" name="Text 75"/>
          <p:cNvSpPr txBox="1"/>
          <p:nvPr/>
        </p:nvSpPr>
        <p:spPr>
          <a:xfrm>
            <a:off x="8988552" y="2589581"/>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72.3%</a:t>
            </a:r>
            <a:endParaRPr lang="en-US" sz="1300" dirty="0"/>
          </a:p>
        </p:txBody>
      </p:sp>
      <p:sp>
        <p:nvSpPr>
          <p:cNvPr id="78" name="Text 76"/>
          <p:cNvSpPr txBox="1"/>
          <p:nvPr/>
        </p:nvSpPr>
        <p:spPr>
          <a:xfrm>
            <a:off x="9738360"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79" name="Text 77"/>
          <p:cNvSpPr txBox="1"/>
          <p:nvPr/>
        </p:nvSpPr>
        <p:spPr>
          <a:xfrm>
            <a:off x="10579608"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0" name="Shape 78"/>
          <p:cNvSpPr/>
          <p:nvPr/>
        </p:nvSpPr>
        <p:spPr>
          <a:xfrm>
            <a:off x="8863247" y="1755648"/>
            <a:ext cx="14630" cy="1250899"/>
          </a:xfrm>
          <a:prstGeom prst="rect">
            <a:avLst/>
          </a:prstGeom>
          <a:solidFill>
            <a:srgbClr val="0B2C4A"/>
          </a:solidFill>
          <a:ln/>
        </p:spPr>
      </p:sp>
      <p:sp>
        <p:nvSpPr>
          <p:cNvPr id="81" name="Shape 79"/>
          <p:cNvSpPr/>
          <p:nvPr/>
        </p:nvSpPr>
        <p:spPr>
          <a:xfrm>
            <a:off x="6035040" y="1371600"/>
            <a:ext cx="10973" cy="4553712"/>
          </a:xfrm>
          <a:prstGeom prst="rect">
            <a:avLst/>
          </a:prstGeom>
          <a:solidFill>
            <a:srgbClr val="D9D9D9"/>
          </a:solidFill>
          <a:ln/>
        </p:spPr>
      </p:sp>
      <p:sp>
        <p:nvSpPr>
          <p:cNvPr id="82" name="Shape 80"/>
          <p:cNvSpPr/>
          <p:nvPr/>
        </p:nvSpPr>
        <p:spPr>
          <a:xfrm>
            <a:off x="457200" y="6126480"/>
            <a:ext cx="11274552" cy="615696"/>
          </a:xfrm>
          <a:prstGeom prst="rect">
            <a:avLst/>
          </a:prstGeom>
          <a:solidFill>
            <a:srgbClr val="EDF4FA"/>
          </a:solidFill>
          <a:ln/>
        </p:spPr>
      </p:sp>
      <p:sp>
        <p:nvSpPr>
          <p:cNvPr id="83" name="Text 8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of the 13 stores under 85% also see fewer ROs per tech than their segment: check car count and staffing first. At Honda Flagstaff, Kia LV, Volvo the work is there.</a:t>
            </a:r>
            <a:endParaRPr lang="en-US" sz="1600" dirty="0"/>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4572000" cy="4645152"/>
          </a:xfrm>
          <a:prstGeom prst="rect">
            <a:avLst/>
          </a:prstGeom>
          <a:solidFill>
            <a:srgbClr val="FFFFFF"/>
          </a:solidFill>
          <a:ln/>
        </p:spPr>
      </p:sp>
      <p:sp>
        <p:nvSpPr>
          <p:cNvPr id="6" name="Shape 4"/>
          <p:cNvSpPr/>
          <p:nvPr/>
        </p:nvSpPr>
        <p:spPr>
          <a:xfrm>
            <a:off x="5166360" y="1207008"/>
            <a:ext cx="6565392" cy="4645152"/>
          </a:xfrm>
          <a:prstGeom prst="rect">
            <a:avLst/>
          </a:prstGeom>
          <a:solidFill>
            <a:srgbClr val="FFFFFF"/>
          </a:solidFill>
          <a:ln/>
        </p:spPr>
      </p:sp>
      <p:sp>
        <p:nvSpPr>
          <p:cNvPr id="7" name="Text 5"/>
          <p:cNvSpPr txBox="1"/>
          <p:nvPr/>
        </p:nvSpPr>
        <p:spPr>
          <a:xfrm>
            <a:off x="713232" y="14173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HOUR</a:t>
            </a:r>
            <a:endParaRPr lang="en-US" sz="1400" dirty="0"/>
          </a:p>
        </p:txBody>
      </p:sp>
      <p:sp>
        <p:nvSpPr>
          <p:cNvPr id="8" name="Text 6"/>
          <p:cNvSpPr txBox="1"/>
          <p:nvPr/>
        </p:nvSpPr>
        <p:spPr>
          <a:xfrm>
            <a:off x="713232" y="1737360"/>
            <a:ext cx="4114800" cy="822960"/>
          </a:xfrm>
          <a:prstGeom prst="rect">
            <a:avLst/>
          </a:prstGeom>
          <a:noFill/>
          <a:ln/>
        </p:spPr>
        <p:txBody>
          <a:bodyPr wrap="square" lIns="0" tIns="0" rIns="0" bIns="0" rtlCol="0" anchor="ctr"/>
          <a:lstStyle/>
          <a:p>
            <a:pPr indent="0" marL="0">
              <a:buNone/>
            </a:pPr>
            <a:r>
              <a:rPr lang="en-US" sz="5400" b="1" dirty="0">
                <a:solidFill>
                  <a:srgbClr val="0B2C4A"/>
                </a:solidFill>
                <a:latin typeface="Inter" pitchFamily="34" charset="0"/>
                <a:ea typeface="Inter" pitchFamily="34" charset="-122"/>
                <a:cs typeface="Inter" pitchFamily="34" charset="-120"/>
              </a:rPr>
              <a:t>$188</a:t>
            </a:r>
            <a:endParaRPr lang="en-US" sz="5400" dirty="0"/>
          </a:p>
        </p:txBody>
      </p:sp>
      <p:sp>
        <p:nvSpPr>
          <p:cNvPr id="9" name="Text 7"/>
          <p:cNvSpPr txBox="1"/>
          <p:nvPr/>
        </p:nvSpPr>
        <p:spPr>
          <a:xfrm>
            <a:off x="713232" y="2560320"/>
            <a:ext cx="4114800" cy="32918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in labor and parts gross, group average</a:t>
            </a:r>
            <a:endParaRPr lang="en-US" sz="1500" dirty="0"/>
          </a:p>
        </p:txBody>
      </p:sp>
      <p:sp>
        <p:nvSpPr>
          <p:cNvPr id="10" name="Shape 8"/>
          <p:cNvSpPr/>
          <p:nvPr/>
        </p:nvSpPr>
        <p:spPr>
          <a:xfrm>
            <a:off x="713232" y="3063240"/>
            <a:ext cx="4069080" cy="10973"/>
          </a:xfrm>
          <a:prstGeom prst="rect">
            <a:avLst/>
          </a:prstGeom>
          <a:solidFill>
            <a:srgbClr val="D9D9D9"/>
          </a:solidFill>
          <a:ln/>
        </p:spPr>
      </p:sp>
      <p:sp>
        <p:nvSpPr>
          <p:cNvPr id="11" name="Text 9"/>
          <p:cNvSpPr txBox="1"/>
          <p:nvPr/>
        </p:nvSpPr>
        <p:spPr>
          <a:xfrm>
            <a:off x="713232" y="32461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MINUTE</a:t>
            </a:r>
            <a:endParaRPr lang="en-US" sz="1400" dirty="0"/>
          </a:p>
        </p:txBody>
      </p:sp>
      <p:sp>
        <p:nvSpPr>
          <p:cNvPr id="12" name="Text 10"/>
          <p:cNvSpPr txBox="1"/>
          <p:nvPr/>
        </p:nvSpPr>
        <p:spPr>
          <a:xfrm>
            <a:off x="713232" y="3566160"/>
            <a:ext cx="4114800" cy="822960"/>
          </a:xfrm>
          <a:prstGeom prst="rect">
            <a:avLst/>
          </a:prstGeom>
          <a:noFill/>
          <a:ln/>
        </p:spPr>
        <p:txBody>
          <a:bodyPr wrap="square" lIns="0" tIns="0" rIns="0" bIns="0" rtlCol="0" anchor="ctr"/>
          <a:lstStyle/>
          <a:p>
            <a:pPr indent="0" marL="0">
              <a:buNone/>
            </a:pPr>
            <a:r>
              <a:rPr lang="en-US" sz="5400" b="1" dirty="0">
                <a:solidFill>
                  <a:srgbClr val="0B7A4A"/>
                </a:solidFill>
                <a:latin typeface="Inter" pitchFamily="34" charset="0"/>
                <a:ea typeface="Inter" pitchFamily="34" charset="-122"/>
                <a:cs typeface="Inter" pitchFamily="34" charset="-120"/>
              </a:rPr>
              <a:t>$3.13</a:t>
            </a:r>
            <a:endParaRPr lang="en-US" sz="5400" dirty="0"/>
          </a:p>
        </p:txBody>
      </p:sp>
      <p:sp>
        <p:nvSpPr>
          <p:cNvPr id="13" name="Text 11"/>
          <p:cNvSpPr txBox="1"/>
          <p:nvPr/>
        </p:nvSpPr>
        <p:spPr>
          <a:xfrm>
            <a:off x="713232" y="4389120"/>
            <a:ext cx="4114800" cy="64008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About $762 a year for each tech, one minute a day</a:t>
            </a:r>
            <a:endParaRPr lang="en-US" sz="1500" dirty="0"/>
          </a:p>
        </p:txBody>
      </p:sp>
      <p:sp>
        <p:nvSpPr>
          <p:cNvPr id="14" name="Text 12"/>
          <p:cNvSpPr txBox="1"/>
          <p:nvPr/>
        </p:nvSpPr>
        <p:spPr>
          <a:xfrm>
            <a:off x="5422392" y="1417320"/>
            <a:ext cx="612648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MINUTES SAVED PER TECH, EVERY DAY · 583 TECHNICIANS</a:t>
            </a:r>
            <a:endParaRPr lang="en-US" sz="14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422392" y="1828800"/>
          <a:ext cx="6053328" cy="914400"/>
        </p:xfrm>
        <a:graphic>
          <a:graphicData uri="http://schemas.openxmlformats.org/drawingml/2006/table">
            <a:tbl>
              <a:tblPr/>
              <a:tblGrid>
                <a:gridCol w="2212848"/>
                <a:gridCol w="1920240"/>
                <a:gridCol w="1920240"/>
              </a:tblGrid>
              <a:tr h="475488">
                <a:tc>
                  <a:txBody>
                    <a:bodyPr/>
                    <a:lstStyle/>
                    <a:p>
                      <a:pPr algn="l" indent="0" marL="0">
                        <a:buNone/>
                      </a:pPr>
                      <a:r>
                        <a:rPr lang="en-US" sz="2000" b="1" dirty="0">
                          <a:solidFill>
                            <a:srgbClr val="FFFFFF"/>
                          </a:solidFill>
                          <a:latin typeface="Inter" pitchFamily="34" charset="0"/>
                          <a:ea typeface="Inter" pitchFamily="34" charset="-122"/>
                          <a:cs typeface="Inter" pitchFamily="34" charset="-120"/>
                        </a:rPr>
                        <a:t>Minutes a day</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month</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year</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 minute</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$37,032</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$444,380</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$185,159</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$2,221,902</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10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$370,317</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$4,443,804</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$555,476</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$6,665,706</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6" name="Text 13"/>
          <p:cNvSpPr txBox="1"/>
          <p:nvPr/>
        </p:nvSpPr>
        <p:spPr>
          <a:xfrm>
            <a:off x="5422392" y="4434840"/>
            <a:ext cx="6053328" cy="123444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Where the minutes go: walking to the parts counter, waiting on dispatch or a customer approval, hunting for tools, chasing a key or a car.</a:t>
            </a:r>
            <a:endParaRPr lang="en-US" sz="1600" dirty="0"/>
          </a:p>
        </p:txBody>
      </p:sp>
      <p:sp>
        <p:nvSpPr>
          <p:cNvPr id="17" name="Shape 14"/>
          <p:cNvSpPr/>
          <p:nvPr/>
        </p:nvSpPr>
        <p:spPr>
          <a:xfrm>
            <a:off x="457200" y="6126480"/>
            <a:ext cx="11274552" cy="364236"/>
          </a:xfrm>
          <a:prstGeom prst="rect">
            <a:avLst/>
          </a:prstGeom>
          <a:solidFill>
            <a:srgbClr val="E6F6EE"/>
          </a:solidFill>
          <a:ln/>
        </p:spPr>
      </p:sp>
      <p:sp>
        <p:nvSpPr>
          <p:cNvPr id="18" name="Text 1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One minute a day for every tech is worth $37,032 a month, $444,380 a year. No new techs, no new bays.</a:t>
            </a:r>
            <a:endParaRPr lang="en-US" sz="1550" dirty="0"/>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76732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7" name="Text 5"/>
          <p:cNvSpPr txBox="1"/>
          <p:nvPr/>
        </p:nvSpPr>
        <p:spPr>
          <a:xfrm>
            <a:off x="4553712"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8" name="Text 6"/>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9" name="Text 7"/>
          <p:cNvSpPr txBox="1"/>
          <p:nvPr/>
        </p:nvSpPr>
        <p:spPr>
          <a:xfrm>
            <a:off x="9317736"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10" name="Text 8"/>
          <p:cNvSpPr txBox="1"/>
          <p:nvPr/>
        </p:nvSpPr>
        <p:spPr>
          <a:xfrm>
            <a:off x="10104120"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11" name="Text 9"/>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1042416" cy="136676"/>
          </a:xfrm>
          <a:prstGeom prst="rect">
            <a:avLst/>
          </a:prstGeom>
          <a:solidFill>
            <a:srgbClr val="2587C5"/>
          </a:solidFill>
          <a:ln/>
        </p:spPr>
      </p:sp>
      <p:sp>
        <p:nvSpPr>
          <p:cNvPr id="14" name="Text 12"/>
          <p:cNvSpPr txBox="1"/>
          <p:nvPr/>
        </p:nvSpPr>
        <p:spPr>
          <a:xfrm>
            <a:off x="3767328" y="1700784"/>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$43,256</a:t>
            </a:r>
            <a:endParaRPr lang="en-US" sz="1300" dirty="0"/>
          </a:p>
        </p:txBody>
      </p:sp>
      <p:sp>
        <p:nvSpPr>
          <p:cNvPr id="15" name="Text 13"/>
          <p:cNvSpPr txBox="1"/>
          <p:nvPr/>
        </p:nvSpPr>
        <p:spPr>
          <a:xfrm>
            <a:off x="4553712"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6" name="Text 14"/>
          <p:cNvSpPr txBox="1"/>
          <p:nvPr/>
        </p:nvSpPr>
        <p:spPr>
          <a:xfrm>
            <a:off x="51206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05199"/>
            <a:ext cx="813746" cy="136676"/>
          </a:xfrm>
          <a:prstGeom prst="rect">
            <a:avLst/>
          </a:prstGeom>
          <a:solidFill>
            <a:srgbClr val="2587C5"/>
          </a:solidFill>
          <a:ln/>
        </p:spPr>
      </p:sp>
      <p:sp>
        <p:nvSpPr>
          <p:cNvPr id="19" name="Text 17"/>
          <p:cNvSpPr txBox="1"/>
          <p:nvPr/>
        </p:nvSpPr>
        <p:spPr>
          <a:xfrm>
            <a:off x="3767328" y="1949286"/>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$33,767</a:t>
            </a:r>
            <a:endParaRPr lang="en-US" sz="1300" dirty="0"/>
          </a:p>
        </p:txBody>
      </p:sp>
      <p:sp>
        <p:nvSpPr>
          <p:cNvPr id="20" name="Text 18"/>
          <p:cNvSpPr txBox="1"/>
          <p:nvPr/>
        </p:nvSpPr>
        <p:spPr>
          <a:xfrm>
            <a:off x="4553712"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21" name="Text 19"/>
          <p:cNvSpPr txBox="1"/>
          <p:nvPr/>
        </p:nvSpPr>
        <p:spPr>
          <a:xfrm>
            <a:off x="51206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$2.71</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3" name="Shape 21"/>
          <p:cNvSpPr/>
          <p:nvPr/>
        </p:nvSpPr>
        <p:spPr>
          <a:xfrm>
            <a:off x="2670048" y="2253700"/>
            <a:ext cx="683623" cy="136676"/>
          </a:xfrm>
          <a:prstGeom prst="rect">
            <a:avLst/>
          </a:prstGeom>
          <a:solidFill>
            <a:srgbClr val="2587C5"/>
          </a:solidFill>
          <a:ln/>
        </p:spPr>
      </p:sp>
      <p:sp>
        <p:nvSpPr>
          <p:cNvPr id="24" name="Text 22"/>
          <p:cNvSpPr txBox="1"/>
          <p:nvPr/>
        </p:nvSpPr>
        <p:spPr>
          <a:xfrm>
            <a:off x="3767328" y="2197787"/>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$28,367</a:t>
            </a:r>
            <a:endParaRPr lang="en-US" sz="1300" dirty="0"/>
          </a:p>
        </p:txBody>
      </p:sp>
      <p:sp>
        <p:nvSpPr>
          <p:cNvPr id="25" name="Text 23"/>
          <p:cNvSpPr txBox="1"/>
          <p:nvPr/>
        </p:nvSpPr>
        <p:spPr>
          <a:xfrm>
            <a:off x="4553712"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26" name="Text 24"/>
          <p:cNvSpPr txBox="1"/>
          <p:nvPr/>
        </p:nvSpPr>
        <p:spPr>
          <a:xfrm>
            <a:off x="51206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656778" cy="136676"/>
          </a:xfrm>
          <a:prstGeom prst="rect">
            <a:avLst/>
          </a:prstGeom>
          <a:solidFill>
            <a:srgbClr val="2587C5"/>
          </a:solidFill>
          <a:ln/>
        </p:spPr>
      </p:sp>
      <p:sp>
        <p:nvSpPr>
          <p:cNvPr id="29" name="Text 27"/>
          <p:cNvSpPr txBox="1"/>
          <p:nvPr/>
        </p:nvSpPr>
        <p:spPr>
          <a:xfrm>
            <a:off x="3767328" y="2446289"/>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$27,253</a:t>
            </a:r>
            <a:endParaRPr lang="en-US" sz="1300" dirty="0"/>
          </a:p>
        </p:txBody>
      </p:sp>
      <p:sp>
        <p:nvSpPr>
          <p:cNvPr id="30" name="Text 28"/>
          <p:cNvSpPr txBox="1"/>
          <p:nvPr/>
        </p:nvSpPr>
        <p:spPr>
          <a:xfrm>
            <a:off x="4553712"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31" name="Text 29"/>
          <p:cNvSpPr txBox="1"/>
          <p:nvPr/>
        </p:nvSpPr>
        <p:spPr>
          <a:xfrm>
            <a:off x="51206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$4.69</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2670048" y="2750703"/>
            <a:ext cx="600457" cy="136676"/>
          </a:xfrm>
          <a:prstGeom prst="rect">
            <a:avLst/>
          </a:prstGeom>
          <a:solidFill>
            <a:srgbClr val="2587C5"/>
          </a:solidFill>
          <a:ln/>
        </p:spPr>
      </p:sp>
      <p:sp>
        <p:nvSpPr>
          <p:cNvPr id="34" name="Text 32"/>
          <p:cNvSpPr txBox="1"/>
          <p:nvPr/>
        </p:nvSpPr>
        <p:spPr>
          <a:xfrm>
            <a:off x="3767328" y="2694791"/>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$24,916</a:t>
            </a:r>
            <a:endParaRPr lang="en-US" sz="1300" dirty="0"/>
          </a:p>
        </p:txBody>
      </p:sp>
      <p:sp>
        <p:nvSpPr>
          <p:cNvPr id="35" name="Text 33"/>
          <p:cNvSpPr txBox="1"/>
          <p:nvPr/>
        </p:nvSpPr>
        <p:spPr>
          <a:xfrm>
            <a:off x="4553712"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36" name="Text 34"/>
          <p:cNvSpPr txBox="1"/>
          <p:nvPr/>
        </p:nvSpPr>
        <p:spPr>
          <a:xfrm>
            <a:off x="51206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38" name="Shape 36"/>
          <p:cNvSpPr/>
          <p:nvPr/>
        </p:nvSpPr>
        <p:spPr>
          <a:xfrm>
            <a:off x="2670048" y="2999205"/>
            <a:ext cx="548891" cy="136676"/>
          </a:xfrm>
          <a:prstGeom prst="rect">
            <a:avLst/>
          </a:prstGeom>
          <a:solidFill>
            <a:srgbClr val="2587C5"/>
          </a:solidFill>
          <a:ln/>
        </p:spPr>
      </p:sp>
      <p:sp>
        <p:nvSpPr>
          <p:cNvPr id="39" name="Text 37"/>
          <p:cNvSpPr txBox="1"/>
          <p:nvPr/>
        </p:nvSpPr>
        <p:spPr>
          <a:xfrm>
            <a:off x="3767328" y="2943292"/>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$22,777</a:t>
            </a:r>
            <a:endParaRPr lang="en-US" sz="1300" dirty="0"/>
          </a:p>
        </p:txBody>
      </p:sp>
      <p:sp>
        <p:nvSpPr>
          <p:cNvPr id="40" name="Text 38"/>
          <p:cNvSpPr txBox="1"/>
          <p:nvPr/>
        </p:nvSpPr>
        <p:spPr>
          <a:xfrm>
            <a:off x="4553712"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1" name="Text 39"/>
          <p:cNvSpPr txBox="1"/>
          <p:nvPr/>
        </p:nvSpPr>
        <p:spPr>
          <a:xfrm>
            <a:off x="51206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3" name="Shape 41"/>
          <p:cNvSpPr/>
          <p:nvPr/>
        </p:nvSpPr>
        <p:spPr>
          <a:xfrm>
            <a:off x="2670048" y="3247707"/>
            <a:ext cx="393176" cy="136676"/>
          </a:xfrm>
          <a:prstGeom prst="rect">
            <a:avLst/>
          </a:prstGeom>
          <a:solidFill>
            <a:srgbClr val="2587C5"/>
          </a:solidFill>
          <a:ln/>
        </p:spPr>
      </p:sp>
      <p:sp>
        <p:nvSpPr>
          <p:cNvPr id="44" name="Text 42"/>
          <p:cNvSpPr txBox="1"/>
          <p:nvPr/>
        </p:nvSpPr>
        <p:spPr>
          <a:xfrm>
            <a:off x="3767328" y="3191794"/>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$16,315</a:t>
            </a:r>
            <a:endParaRPr lang="en-US" sz="1300" dirty="0"/>
          </a:p>
        </p:txBody>
      </p:sp>
      <p:sp>
        <p:nvSpPr>
          <p:cNvPr id="45" name="Text 43"/>
          <p:cNvSpPr txBox="1"/>
          <p:nvPr/>
        </p:nvSpPr>
        <p:spPr>
          <a:xfrm>
            <a:off x="4553712"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46" name="Text 44"/>
          <p:cNvSpPr txBox="1"/>
          <p:nvPr/>
        </p:nvSpPr>
        <p:spPr>
          <a:xfrm>
            <a:off x="51206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8" name="Shape 46"/>
          <p:cNvSpPr/>
          <p:nvPr/>
        </p:nvSpPr>
        <p:spPr>
          <a:xfrm>
            <a:off x="2670048" y="3496208"/>
            <a:ext cx="391366" cy="136676"/>
          </a:xfrm>
          <a:prstGeom prst="rect">
            <a:avLst/>
          </a:prstGeom>
          <a:solidFill>
            <a:srgbClr val="2587C5"/>
          </a:solidFill>
          <a:ln/>
        </p:spPr>
      </p:sp>
      <p:sp>
        <p:nvSpPr>
          <p:cNvPr id="49" name="Text 47"/>
          <p:cNvSpPr txBox="1"/>
          <p:nvPr/>
        </p:nvSpPr>
        <p:spPr>
          <a:xfrm>
            <a:off x="3767328" y="3440296"/>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$16,240</a:t>
            </a:r>
            <a:endParaRPr lang="en-US" sz="1300" dirty="0"/>
          </a:p>
        </p:txBody>
      </p:sp>
      <p:sp>
        <p:nvSpPr>
          <p:cNvPr id="50" name="Text 48"/>
          <p:cNvSpPr txBox="1"/>
          <p:nvPr/>
        </p:nvSpPr>
        <p:spPr>
          <a:xfrm>
            <a:off x="4553712"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1" name="Text 49"/>
          <p:cNvSpPr txBox="1"/>
          <p:nvPr/>
        </p:nvSpPr>
        <p:spPr>
          <a:xfrm>
            <a:off x="51206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3" name="Shape 51"/>
          <p:cNvSpPr/>
          <p:nvPr/>
        </p:nvSpPr>
        <p:spPr>
          <a:xfrm>
            <a:off x="2670048" y="3744710"/>
            <a:ext cx="367379" cy="136676"/>
          </a:xfrm>
          <a:prstGeom prst="rect">
            <a:avLst/>
          </a:prstGeom>
          <a:solidFill>
            <a:srgbClr val="2587C5"/>
          </a:solidFill>
          <a:ln/>
        </p:spPr>
      </p:sp>
      <p:sp>
        <p:nvSpPr>
          <p:cNvPr id="54" name="Text 52"/>
          <p:cNvSpPr txBox="1"/>
          <p:nvPr/>
        </p:nvSpPr>
        <p:spPr>
          <a:xfrm>
            <a:off x="3767328" y="3688797"/>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$15,245</a:t>
            </a:r>
            <a:endParaRPr lang="en-US" sz="1300" dirty="0"/>
          </a:p>
        </p:txBody>
      </p:sp>
      <p:sp>
        <p:nvSpPr>
          <p:cNvPr id="55" name="Text 53"/>
          <p:cNvSpPr txBox="1"/>
          <p:nvPr/>
        </p:nvSpPr>
        <p:spPr>
          <a:xfrm>
            <a:off x="4553712"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6" name="Text 54"/>
          <p:cNvSpPr txBox="1"/>
          <p:nvPr/>
        </p:nvSpPr>
        <p:spPr>
          <a:xfrm>
            <a:off x="51206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355248" cy="136676"/>
          </a:xfrm>
          <a:prstGeom prst="rect">
            <a:avLst/>
          </a:prstGeom>
          <a:solidFill>
            <a:srgbClr val="2587C5"/>
          </a:solidFill>
          <a:ln/>
        </p:spPr>
      </p:sp>
      <p:sp>
        <p:nvSpPr>
          <p:cNvPr id="59" name="Text 57"/>
          <p:cNvSpPr txBox="1"/>
          <p:nvPr/>
        </p:nvSpPr>
        <p:spPr>
          <a:xfrm>
            <a:off x="3767328" y="3937299"/>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$14,741</a:t>
            </a:r>
            <a:endParaRPr lang="en-US" sz="1300" dirty="0"/>
          </a:p>
        </p:txBody>
      </p:sp>
      <p:sp>
        <p:nvSpPr>
          <p:cNvPr id="60" name="Text 58"/>
          <p:cNvSpPr txBox="1"/>
          <p:nvPr/>
        </p:nvSpPr>
        <p:spPr>
          <a:xfrm>
            <a:off x="4553712"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1" name="Text 59"/>
          <p:cNvSpPr txBox="1"/>
          <p:nvPr/>
        </p:nvSpPr>
        <p:spPr>
          <a:xfrm>
            <a:off x="51206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$3.47</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3" name="Shape 61"/>
          <p:cNvSpPr/>
          <p:nvPr/>
        </p:nvSpPr>
        <p:spPr>
          <a:xfrm>
            <a:off x="2670048" y="4241713"/>
            <a:ext cx="338665" cy="136676"/>
          </a:xfrm>
          <a:prstGeom prst="rect">
            <a:avLst/>
          </a:prstGeom>
          <a:solidFill>
            <a:srgbClr val="2587C5"/>
          </a:solidFill>
          <a:ln/>
        </p:spPr>
      </p:sp>
      <p:sp>
        <p:nvSpPr>
          <p:cNvPr id="64" name="Text 62"/>
          <p:cNvSpPr txBox="1"/>
          <p:nvPr/>
        </p:nvSpPr>
        <p:spPr>
          <a:xfrm>
            <a:off x="3767328" y="4185800"/>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$14,053</a:t>
            </a:r>
            <a:endParaRPr lang="en-US" sz="1300" dirty="0"/>
          </a:p>
        </p:txBody>
      </p:sp>
      <p:sp>
        <p:nvSpPr>
          <p:cNvPr id="65" name="Text 63"/>
          <p:cNvSpPr txBox="1"/>
          <p:nvPr/>
        </p:nvSpPr>
        <p:spPr>
          <a:xfrm>
            <a:off x="4553712"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6" name="Text 64"/>
          <p:cNvSpPr txBox="1"/>
          <p:nvPr/>
        </p:nvSpPr>
        <p:spPr>
          <a:xfrm>
            <a:off x="51206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8" name="Shape 66"/>
          <p:cNvSpPr/>
          <p:nvPr/>
        </p:nvSpPr>
        <p:spPr>
          <a:xfrm>
            <a:off x="2670048" y="4490215"/>
            <a:ext cx="305679" cy="136676"/>
          </a:xfrm>
          <a:prstGeom prst="rect">
            <a:avLst/>
          </a:prstGeom>
          <a:solidFill>
            <a:srgbClr val="2587C5"/>
          </a:solidFill>
          <a:ln/>
        </p:spPr>
      </p:sp>
      <p:sp>
        <p:nvSpPr>
          <p:cNvPr id="69" name="Text 67"/>
          <p:cNvSpPr txBox="1"/>
          <p:nvPr/>
        </p:nvSpPr>
        <p:spPr>
          <a:xfrm>
            <a:off x="3767328" y="4434302"/>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$12,684</a:t>
            </a:r>
            <a:endParaRPr lang="en-US" sz="1300" dirty="0"/>
          </a:p>
        </p:txBody>
      </p:sp>
      <p:sp>
        <p:nvSpPr>
          <p:cNvPr id="70" name="Text 68"/>
          <p:cNvSpPr txBox="1"/>
          <p:nvPr/>
        </p:nvSpPr>
        <p:spPr>
          <a:xfrm>
            <a:off x="4553712"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71" name="Text 69"/>
          <p:cNvSpPr txBox="1"/>
          <p:nvPr/>
        </p:nvSpPr>
        <p:spPr>
          <a:xfrm>
            <a:off x="51206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3" name="Shape 71"/>
          <p:cNvSpPr/>
          <p:nvPr/>
        </p:nvSpPr>
        <p:spPr>
          <a:xfrm>
            <a:off x="2670048" y="4738717"/>
            <a:ext cx="303009" cy="136676"/>
          </a:xfrm>
          <a:prstGeom prst="rect">
            <a:avLst/>
          </a:prstGeom>
          <a:solidFill>
            <a:srgbClr val="2587C5"/>
          </a:solidFill>
          <a:ln/>
        </p:spPr>
      </p:sp>
      <p:sp>
        <p:nvSpPr>
          <p:cNvPr id="74" name="Text 72"/>
          <p:cNvSpPr txBox="1"/>
          <p:nvPr/>
        </p:nvSpPr>
        <p:spPr>
          <a:xfrm>
            <a:off x="3767328" y="4682804"/>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$12,574</a:t>
            </a:r>
            <a:endParaRPr lang="en-US" sz="1300" dirty="0"/>
          </a:p>
        </p:txBody>
      </p:sp>
      <p:sp>
        <p:nvSpPr>
          <p:cNvPr id="75" name="Text 73"/>
          <p:cNvSpPr txBox="1"/>
          <p:nvPr/>
        </p:nvSpPr>
        <p:spPr>
          <a:xfrm>
            <a:off x="4553712"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76" name="Text 74"/>
          <p:cNvSpPr txBox="1"/>
          <p:nvPr/>
        </p:nvSpPr>
        <p:spPr>
          <a:xfrm>
            <a:off x="51206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8" name="Shape 76"/>
          <p:cNvSpPr/>
          <p:nvPr/>
        </p:nvSpPr>
        <p:spPr>
          <a:xfrm>
            <a:off x="2670048" y="4987218"/>
            <a:ext cx="297134" cy="136676"/>
          </a:xfrm>
          <a:prstGeom prst="rect">
            <a:avLst/>
          </a:prstGeom>
          <a:solidFill>
            <a:srgbClr val="2587C5"/>
          </a:solidFill>
          <a:ln/>
        </p:spPr>
      </p:sp>
      <p:sp>
        <p:nvSpPr>
          <p:cNvPr id="79" name="Text 77"/>
          <p:cNvSpPr txBox="1"/>
          <p:nvPr/>
        </p:nvSpPr>
        <p:spPr>
          <a:xfrm>
            <a:off x="3767328" y="4931305"/>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$12,330</a:t>
            </a:r>
            <a:endParaRPr lang="en-US" sz="1300" dirty="0"/>
          </a:p>
        </p:txBody>
      </p:sp>
      <p:sp>
        <p:nvSpPr>
          <p:cNvPr id="80" name="Text 78"/>
          <p:cNvSpPr txBox="1"/>
          <p:nvPr/>
        </p:nvSpPr>
        <p:spPr>
          <a:xfrm>
            <a:off x="4553712"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81" name="Text 79"/>
          <p:cNvSpPr txBox="1"/>
          <p:nvPr/>
        </p:nvSpPr>
        <p:spPr>
          <a:xfrm>
            <a:off x="51206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2670048" y="5235720"/>
            <a:ext cx="287796" cy="136676"/>
          </a:xfrm>
          <a:prstGeom prst="rect">
            <a:avLst/>
          </a:prstGeom>
          <a:solidFill>
            <a:srgbClr val="2587C5"/>
          </a:solidFill>
          <a:ln/>
        </p:spPr>
      </p:sp>
      <p:sp>
        <p:nvSpPr>
          <p:cNvPr id="84" name="Text 82"/>
          <p:cNvSpPr txBox="1"/>
          <p:nvPr/>
        </p:nvSpPr>
        <p:spPr>
          <a:xfrm>
            <a:off x="3767328" y="5179807"/>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$11,942</a:t>
            </a:r>
            <a:endParaRPr lang="en-US" sz="1300" dirty="0"/>
          </a:p>
        </p:txBody>
      </p:sp>
      <p:sp>
        <p:nvSpPr>
          <p:cNvPr id="85" name="Text 83"/>
          <p:cNvSpPr txBox="1"/>
          <p:nvPr/>
        </p:nvSpPr>
        <p:spPr>
          <a:xfrm>
            <a:off x="4553712"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86" name="Text 84"/>
          <p:cNvSpPr txBox="1"/>
          <p:nvPr/>
        </p:nvSpPr>
        <p:spPr>
          <a:xfrm>
            <a:off x="51206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8" name="Shape 86"/>
          <p:cNvSpPr/>
          <p:nvPr/>
        </p:nvSpPr>
        <p:spPr>
          <a:xfrm>
            <a:off x="2670048" y="5484222"/>
            <a:ext cx="274938" cy="136676"/>
          </a:xfrm>
          <a:prstGeom prst="rect">
            <a:avLst/>
          </a:prstGeom>
          <a:solidFill>
            <a:srgbClr val="2587C5"/>
          </a:solidFill>
          <a:ln/>
        </p:spPr>
      </p:sp>
      <p:sp>
        <p:nvSpPr>
          <p:cNvPr id="89" name="Text 87"/>
          <p:cNvSpPr txBox="1"/>
          <p:nvPr/>
        </p:nvSpPr>
        <p:spPr>
          <a:xfrm>
            <a:off x="3767328" y="5428309"/>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$11,409</a:t>
            </a:r>
            <a:endParaRPr lang="en-US" sz="1300" dirty="0"/>
          </a:p>
        </p:txBody>
      </p:sp>
      <p:sp>
        <p:nvSpPr>
          <p:cNvPr id="90" name="Text 88"/>
          <p:cNvSpPr txBox="1"/>
          <p:nvPr/>
        </p:nvSpPr>
        <p:spPr>
          <a:xfrm>
            <a:off x="4553712"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91" name="Text 89"/>
          <p:cNvSpPr txBox="1"/>
          <p:nvPr/>
        </p:nvSpPr>
        <p:spPr>
          <a:xfrm>
            <a:off x="51206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3" name="Shape 91"/>
          <p:cNvSpPr/>
          <p:nvPr/>
        </p:nvSpPr>
        <p:spPr>
          <a:xfrm>
            <a:off x="2670048" y="5732723"/>
            <a:ext cx="260210" cy="136676"/>
          </a:xfrm>
          <a:prstGeom prst="rect">
            <a:avLst/>
          </a:prstGeom>
          <a:solidFill>
            <a:srgbClr val="2587C5"/>
          </a:solidFill>
          <a:ln/>
        </p:spPr>
      </p:sp>
      <p:sp>
        <p:nvSpPr>
          <p:cNvPr id="94" name="Text 92"/>
          <p:cNvSpPr txBox="1"/>
          <p:nvPr/>
        </p:nvSpPr>
        <p:spPr>
          <a:xfrm>
            <a:off x="3767328" y="5676810"/>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$10,798</a:t>
            </a:r>
            <a:endParaRPr lang="en-US" sz="1300" dirty="0"/>
          </a:p>
        </p:txBody>
      </p:sp>
      <p:sp>
        <p:nvSpPr>
          <p:cNvPr id="95" name="Text 93"/>
          <p:cNvSpPr txBox="1"/>
          <p:nvPr/>
        </p:nvSpPr>
        <p:spPr>
          <a:xfrm>
            <a:off x="4553712" y="567681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96" name="Text 94"/>
          <p:cNvSpPr txBox="1"/>
          <p:nvPr/>
        </p:nvSpPr>
        <p:spPr>
          <a:xfrm>
            <a:off x="512064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8" name="Shape 96"/>
          <p:cNvSpPr/>
          <p:nvPr/>
        </p:nvSpPr>
        <p:spPr>
          <a:xfrm>
            <a:off x="8220456" y="1756697"/>
            <a:ext cx="246097" cy="136676"/>
          </a:xfrm>
          <a:prstGeom prst="rect">
            <a:avLst/>
          </a:prstGeom>
          <a:solidFill>
            <a:srgbClr val="2587C5"/>
          </a:solidFill>
          <a:ln/>
        </p:spPr>
      </p:sp>
      <p:sp>
        <p:nvSpPr>
          <p:cNvPr id="99" name="Text 97"/>
          <p:cNvSpPr txBox="1"/>
          <p:nvPr/>
        </p:nvSpPr>
        <p:spPr>
          <a:xfrm>
            <a:off x="9317736" y="1700784"/>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$10,212</a:t>
            </a:r>
            <a:endParaRPr lang="en-US" sz="1300" dirty="0"/>
          </a:p>
        </p:txBody>
      </p:sp>
      <p:sp>
        <p:nvSpPr>
          <p:cNvPr id="100" name="Text 98"/>
          <p:cNvSpPr txBox="1"/>
          <p:nvPr/>
        </p:nvSpPr>
        <p:spPr>
          <a:xfrm>
            <a:off x="10104120"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101" name="Text 99"/>
          <p:cNvSpPr txBox="1"/>
          <p:nvPr/>
        </p:nvSpPr>
        <p:spPr>
          <a:xfrm>
            <a:off x="1067104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3" name="Shape 101"/>
          <p:cNvSpPr/>
          <p:nvPr/>
        </p:nvSpPr>
        <p:spPr>
          <a:xfrm>
            <a:off x="8220456" y="2005199"/>
            <a:ext cx="220598" cy="136676"/>
          </a:xfrm>
          <a:prstGeom prst="rect">
            <a:avLst/>
          </a:prstGeom>
          <a:solidFill>
            <a:srgbClr val="2587C5"/>
          </a:solidFill>
          <a:ln/>
        </p:spPr>
      </p:sp>
      <p:sp>
        <p:nvSpPr>
          <p:cNvPr id="104" name="Text 102"/>
          <p:cNvSpPr txBox="1"/>
          <p:nvPr/>
        </p:nvSpPr>
        <p:spPr>
          <a:xfrm>
            <a:off x="9317736" y="1949286"/>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$9,154</a:t>
            </a:r>
            <a:endParaRPr lang="en-US" sz="1300" dirty="0"/>
          </a:p>
        </p:txBody>
      </p:sp>
      <p:sp>
        <p:nvSpPr>
          <p:cNvPr id="105" name="Text 103"/>
          <p:cNvSpPr txBox="1"/>
          <p:nvPr/>
        </p:nvSpPr>
        <p:spPr>
          <a:xfrm>
            <a:off x="10104120"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06" name="Text 104"/>
          <p:cNvSpPr txBox="1"/>
          <p:nvPr/>
        </p:nvSpPr>
        <p:spPr>
          <a:xfrm>
            <a:off x="1067104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8" name="Shape 106"/>
          <p:cNvSpPr/>
          <p:nvPr/>
        </p:nvSpPr>
        <p:spPr>
          <a:xfrm>
            <a:off x="8220456" y="2253700"/>
            <a:ext cx="212176" cy="136676"/>
          </a:xfrm>
          <a:prstGeom prst="rect">
            <a:avLst/>
          </a:prstGeom>
          <a:solidFill>
            <a:srgbClr val="2587C5"/>
          </a:solidFill>
          <a:ln/>
        </p:spPr>
      </p:sp>
      <p:sp>
        <p:nvSpPr>
          <p:cNvPr id="109" name="Text 107"/>
          <p:cNvSpPr txBox="1"/>
          <p:nvPr/>
        </p:nvSpPr>
        <p:spPr>
          <a:xfrm>
            <a:off x="9317736" y="2197787"/>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$8,804</a:t>
            </a:r>
            <a:endParaRPr lang="en-US" sz="1300" dirty="0"/>
          </a:p>
        </p:txBody>
      </p:sp>
      <p:sp>
        <p:nvSpPr>
          <p:cNvPr id="110" name="Text 108"/>
          <p:cNvSpPr txBox="1"/>
          <p:nvPr/>
        </p:nvSpPr>
        <p:spPr>
          <a:xfrm>
            <a:off x="10104120"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11" name="Text 109"/>
          <p:cNvSpPr txBox="1"/>
          <p:nvPr/>
        </p:nvSpPr>
        <p:spPr>
          <a:xfrm>
            <a:off x="1067104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203688" cy="136676"/>
          </a:xfrm>
          <a:prstGeom prst="rect">
            <a:avLst/>
          </a:prstGeom>
          <a:solidFill>
            <a:srgbClr val="2587C5"/>
          </a:solidFill>
          <a:ln/>
        </p:spPr>
      </p:sp>
      <p:sp>
        <p:nvSpPr>
          <p:cNvPr id="114" name="Text 112"/>
          <p:cNvSpPr txBox="1"/>
          <p:nvPr/>
        </p:nvSpPr>
        <p:spPr>
          <a:xfrm>
            <a:off x="9317736" y="2446289"/>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$8,452</a:t>
            </a:r>
            <a:endParaRPr lang="en-US" sz="1300" dirty="0"/>
          </a:p>
        </p:txBody>
      </p:sp>
      <p:sp>
        <p:nvSpPr>
          <p:cNvPr id="115" name="Text 113"/>
          <p:cNvSpPr txBox="1"/>
          <p:nvPr/>
        </p:nvSpPr>
        <p:spPr>
          <a:xfrm>
            <a:off x="10104120"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16" name="Text 114"/>
          <p:cNvSpPr txBox="1"/>
          <p:nvPr/>
        </p:nvSpPr>
        <p:spPr>
          <a:xfrm>
            <a:off x="1067104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18" name="Shape 116"/>
          <p:cNvSpPr/>
          <p:nvPr/>
        </p:nvSpPr>
        <p:spPr>
          <a:xfrm>
            <a:off x="8220456" y="2750703"/>
            <a:ext cx="199671" cy="136676"/>
          </a:xfrm>
          <a:prstGeom prst="rect">
            <a:avLst/>
          </a:prstGeom>
          <a:solidFill>
            <a:srgbClr val="2587C5"/>
          </a:solidFill>
          <a:ln/>
        </p:spPr>
      </p:sp>
      <p:sp>
        <p:nvSpPr>
          <p:cNvPr id="119" name="Text 117"/>
          <p:cNvSpPr txBox="1"/>
          <p:nvPr/>
        </p:nvSpPr>
        <p:spPr>
          <a:xfrm>
            <a:off x="9317736" y="2694791"/>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$8,285</a:t>
            </a:r>
            <a:endParaRPr lang="en-US" sz="1300" dirty="0"/>
          </a:p>
        </p:txBody>
      </p:sp>
      <p:sp>
        <p:nvSpPr>
          <p:cNvPr id="120" name="Text 118"/>
          <p:cNvSpPr txBox="1"/>
          <p:nvPr/>
        </p:nvSpPr>
        <p:spPr>
          <a:xfrm>
            <a:off x="10104120"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21" name="Text 119"/>
          <p:cNvSpPr txBox="1"/>
          <p:nvPr/>
        </p:nvSpPr>
        <p:spPr>
          <a:xfrm>
            <a:off x="1067104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$3.84</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3" name="Shape 121"/>
          <p:cNvSpPr/>
          <p:nvPr/>
        </p:nvSpPr>
        <p:spPr>
          <a:xfrm>
            <a:off x="8220456" y="2999205"/>
            <a:ext cx="194454" cy="136676"/>
          </a:xfrm>
          <a:prstGeom prst="rect">
            <a:avLst/>
          </a:prstGeom>
          <a:solidFill>
            <a:srgbClr val="2587C5"/>
          </a:solidFill>
          <a:ln/>
        </p:spPr>
      </p:sp>
      <p:sp>
        <p:nvSpPr>
          <p:cNvPr id="124" name="Text 122"/>
          <p:cNvSpPr txBox="1"/>
          <p:nvPr/>
        </p:nvSpPr>
        <p:spPr>
          <a:xfrm>
            <a:off x="9317736" y="2943292"/>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$8,069</a:t>
            </a:r>
            <a:endParaRPr lang="en-US" sz="1300" dirty="0"/>
          </a:p>
        </p:txBody>
      </p:sp>
      <p:sp>
        <p:nvSpPr>
          <p:cNvPr id="125" name="Text 123"/>
          <p:cNvSpPr txBox="1"/>
          <p:nvPr/>
        </p:nvSpPr>
        <p:spPr>
          <a:xfrm>
            <a:off x="10104120"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26" name="Text 124"/>
          <p:cNvSpPr txBox="1"/>
          <p:nvPr/>
        </p:nvSpPr>
        <p:spPr>
          <a:xfrm>
            <a:off x="1067104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$3.03</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3247707"/>
            <a:ext cx="181881" cy="136676"/>
          </a:xfrm>
          <a:prstGeom prst="rect">
            <a:avLst/>
          </a:prstGeom>
          <a:solidFill>
            <a:srgbClr val="2587C5"/>
          </a:solidFill>
          <a:ln/>
        </p:spPr>
      </p:sp>
      <p:sp>
        <p:nvSpPr>
          <p:cNvPr id="129" name="Text 127"/>
          <p:cNvSpPr txBox="1"/>
          <p:nvPr/>
        </p:nvSpPr>
        <p:spPr>
          <a:xfrm>
            <a:off x="9317736" y="3191794"/>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$7,547</a:t>
            </a:r>
            <a:endParaRPr lang="en-US" sz="1300" dirty="0"/>
          </a:p>
        </p:txBody>
      </p:sp>
      <p:sp>
        <p:nvSpPr>
          <p:cNvPr id="130" name="Text 128"/>
          <p:cNvSpPr txBox="1"/>
          <p:nvPr/>
        </p:nvSpPr>
        <p:spPr>
          <a:xfrm>
            <a:off x="10104120"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1" name="Text 129"/>
          <p:cNvSpPr txBox="1"/>
          <p:nvPr/>
        </p:nvSpPr>
        <p:spPr>
          <a:xfrm>
            <a:off x="1067104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496208"/>
            <a:ext cx="178186" cy="136676"/>
          </a:xfrm>
          <a:prstGeom prst="rect">
            <a:avLst/>
          </a:prstGeom>
          <a:solidFill>
            <a:srgbClr val="2587C5"/>
          </a:solidFill>
          <a:ln/>
        </p:spPr>
      </p:sp>
      <p:sp>
        <p:nvSpPr>
          <p:cNvPr id="134" name="Text 132"/>
          <p:cNvSpPr txBox="1"/>
          <p:nvPr/>
        </p:nvSpPr>
        <p:spPr>
          <a:xfrm>
            <a:off x="9317736" y="3440296"/>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$7,394</a:t>
            </a:r>
            <a:endParaRPr lang="en-US" sz="1300" dirty="0"/>
          </a:p>
        </p:txBody>
      </p:sp>
      <p:sp>
        <p:nvSpPr>
          <p:cNvPr id="135" name="Text 133"/>
          <p:cNvSpPr txBox="1"/>
          <p:nvPr/>
        </p:nvSpPr>
        <p:spPr>
          <a:xfrm>
            <a:off x="10104120"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6" name="Text 134"/>
          <p:cNvSpPr txBox="1"/>
          <p:nvPr/>
        </p:nvSpPr>
        <p:spPr>
          <a:xfrm>
            <a:off x="1067104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8" name="Shape 136"/>
          <p:cNvSpPr/>
          <p:nvPr/>
        </p:nvSpPr>
        <p:spPr>
          <a:xfrm>
            <a:off x="8220456" y="3744710"/>
            <a:ext cx="174696" cy="136676"/>
          </a:xfrm>
          <a:prstGeom prst="rect">
            <a:avLst/>
          </a:prstGeom>
          <a:solidFill>
            <a:srgbClr val="2587C5"/>
          </a:solidFill>
          <a:ln/>
        </p:spPr>
      </p:sp>
      <p:sp>
        <p:nvSpPr>
          <p:cNvPr id="139" name="Text 137"/>
          <p:cNvSpPr txBox="1"/>
          <p:nvPr/>
        </p:nvSpPr>
        <p:spPr>
          <a:xfrm>
            <a:off x="9317736" y="3688797"/>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$7,249</a:t>
            </a:r>
            <a:endParaRPr lang="en-US" sz="1300" dirty="0"/>
          </a:p>
        </p:txBody>
      </p:sp>
      <p:sp>
        <p:nvSpPr>
          <p:cNvPr id="140" name="Text 138"/>
          <p:cNvSpPr txBox="1"/>
          <p:nvPr/>
        </p:nvSpPr>
        <p:spPr>
          <a:xfrm>
            <a:off x="10104120"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41" name="Text 139"/>
          <p:cNvSpPr txBox="1"/>
          <p:nvPr/>
        </p:nvSpPr>
        <p:spPr>
          <a:xfrm>
            <a:off x="1067104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$2.59</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43" name="Shape 141"/>
          <p:cNvSpPr/>
          <p:nvPr/>
        </p:nvSpPr>
        <p:spPr>
          <a:xfrm>
            <a:off x="8220456" y="3993212"/>
            <a:ext cx="174121" cy="136676"/>
          </a:xfrm>
          <a:prstGeom prst="rect">
            <a:avLst/>
          </a:prstGeom>
          <a:solidFill>
            <a:srgbClr val="2587C5"/>
          </a:solidFill>
          <a:ln/>
        </p:spPr>
      </p:sp>
      <p:sp>
        <p:nvSpPr>
          <p:cNvPr id="144" name="Text 142"/>
          <p:cNvSpPr txBox="1"/>
          <p:nvPr/>
        </p:nvSpPr>
        <p:spPr>
          <a:xfrm>
            <a:off x="9317736" y="3937299"/>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$7,225</a:t>
            </a:r>
            <a:endParaRPr lang="en-US" sz="1300" dirty="0"/>
          </a:p>
        </p:txBody>
      </p:sp>
      <p:sp>
        <p:nvSpPr>
          <p:cNvPr id="145" name="Text 143"/>
          <p:cNvSpPr txBox="1"/>
          <p:nvPr/>
        </p:nvSpPr>
        <p:spPr>
          <a:xfrm>
            <a:off x="10104120"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46" name="Text 144"/>
          <p:cNvSpPr txBox="1"/>
          <p:nvPr/>
        </p:nvSpPr>
        <p:spPr>
          <a:xfrm>
            <a:off x="1067104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8" name="Shape 146"/>
          <p:cNvSpPr/>
          <p:nvPr/>
        </p:nvSpPr>
        <p:spPr>
          <a:xfrm>
            <a:off x="8220456" y="4241713"/>
            <a:ext cx="172098" cy="136676"/>
          </a:xfrm>
          <a:prstGeom prst="rect">
            <a:avLst/>
          </a:prstGeom>
          <a:solidFill>
            <a:srgbClr val="2587C5"/>
          </a:solidFill>
          <a:ln/>
        </p:spPr>
      </p:sp>
      <p:sp>
        <p:nvSpPr>
          <p:cNvPr id="149" name="Text 147"/>
          <p:cNvSpPr txBox="1"/>
          <p:nvPr/>
        </p:nvSpPr>
        <p:spPr>
          <a:xfrm>
            <a:off x="9317736" y="4185800"/>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$7,141</a:t>
            </a:r>
            <a:endParaRPr lang="en-US" sz="1300" dirty="0"/>
          </a:p>
        </p:txBody>
      </p:sp>
      <p:sp>
        <p:nvSpPr>
          <p:cNvPr id="150" name="Text 148"/>
          <p:cNvSpPr txBox="1"/>
          <p:nvPr/>
        </p:nvSpPr>
        <p:spPr>
          <a:xfrm>
            <a:off x="10104120"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51" name="Text 149"/>
          <p:cNvSpPr txBox="1"/>
          <p:nvPr/>
        </p:nvSpPr>
        <p:spPr>
          <a:xfrm>
            <a:off x="1067104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53" name="Shape 151"/>
          <p:cNvSpPr/>
          <p:nvPr/>
        </p:nvSpPr>
        <p:spPr>
          <a:xfrm>
            <a:off x="8220456" y="4490215"/>
            <a:ext cx="158631" cy="136676"/>
          </a:xfrm>
          <a:prstGeom prst="rect">
            <a:avLst/>
          </a:prstGeom>
          <a:solidFill>
            <a:srgbClr val="2587C5"/>
          </a:solidFill>
          <a:ln/>
        </p:spPr>
      </p:sp>
      <p:sp>
        <p:nvSpPr>
          <p:cNvPr id="154" name="Text 152"/>
          <p:cNvSpPr txBox="1"/>
          <p:nvPr/>
        </p:nvSpPr>
        <p:spPr>
          <a:xfrm>
            <a:off x="9317736" y="4434302"/>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$6,583</a:t>
            </a:r>
            <a:endParaRPr lang="en-US" sz="1300" dirty="0"/>
          </a:p>
        </p:txBody>
      </p:sp>
      <p:sp>
        <p:nvSpPr>
          <p:cNvPr id="155" name="Text 153"/>
          <p:cNvSpPr txBox="1"/>
          <p:nvPr/>
        </p:nvSpPr>
        <p:spPr>
          <a:xfrm>
            <a:off x="10104120"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56" name="Text 154"/>
          <p:cNvSpPr txBox="1"/>
          <p:nvPr/>
        </p:nvSpPr>
        <p:spPr>
          <a:xfrm>
            <a:off x="1067104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$4.49</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8" name="Shape 156"/>
          <p:cNvSpPr/>
          <p:nvPr/>
        </p:nvSpPr>
        <p:spPr>
          <a:xfrm>
            <a:off x="8220456" y="4738717"/>
            <a:ext cx="156929" cy="136676"/>
          </a:xfrm>
          <a:prstGeom prst="rect">
            <a:avLst/>
          </a:prstGeom>
          <a:solidFill>
            <a:srgbClr val="2587C5"/>
          </a:solidFill>
          <a:ln/>
        </p:spPr>
      </p:sp>
      <p:sp>
        <p:nvSpPr>
          <p:cNvPr id="159" name="Text 157"/>
          <p:cNvSpPr txBox="1"/>
          <p:nvPr/>
        </p:nvSpPr>
        <p:spPr>
          <a:xfrm>
            <a:off x="9317736" y="4682804"/>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$6,512</a:t>
            </a:r>
            <a:endParaRPr lang="en-US" sz="1300" dirty="0"/>
          </a:p>
        </p:txBody>
      </p:sp>
      <p:sp>
        <p:nvSpPr>
          <p:cNvPr id="160" name="Text 158"/>
          <p:cNvSpPr txBox="1"/>
          <p:nvPr/>
        </p:nvSpPr>
        <p:spPr>
          <a:xfrm>
            <a:off x="10104120"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61" name="Text 159"/>
          <p:cNvSpPr txBox="1"/>
          <p:nvPr/>
        </p:nvSpPr>
        <p:spPr>
          <a:xfrm>
            <a:off x="1067104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$2.76</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3" name="Shape 161"/>
          <p:cNvSpPr/>
          <p:nvPr/>
        </p:nvSpPr>
        <p:spPr>
          <a:xfrm>
            <a:off x="8220456" y="4987218"/>
            <a:ext cx="127568" cy="136676"/>
          </a:xfrm>
          <a:prstGeom prst="rect">
            <a:avLst/>
          </a:prstGeom>
          <a:solidFill>
            <a:srgbClr val="2587C5"/>
          </a:solidFill>
          <a:ln/>
        </p:spPr>
      </p:sp>
      <p:sp>
        <p:nvSpPr>
          <p:cNvPr id="164" name="Text 162"/>
          <p:cNvSpPr txBox="1"/>
          <p:nvPr/>
        </p:nvSpPr>
        <p:spPr>
          <a:xfrm>
            <a:off x="9317736" y="4931305"/>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$5,294</a:t>
            </a:r>
            <a:endParaRPr lang="en-US" sz="1300" dirty="0"/>
          </a:p>
        </p:txBody>
      </p:sp>
      <p:sp>
        <p:nvSpPr>
          <p:cNvPr id="165" name="Text 163"/>
          <p:cNvSpPr txBox="1"/>
          <p:nvPr/>
        </p:nvSpPr>
        <p:spPr>
          <a:xfrm>
            <a:off x="10104120"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66" name="Text 164"/>
          <p:cNvSpPr txBox="1"/>
          <p:nvPr/>
        </p:nvSpPr>
        <p:spPr>
          <a:xfrm>
            <a:off x="1067104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8" name="Shape 166"/>
          <p:cNvSpPr/>
          <p:nvPr/>
        </p:nvSpPr>
        <p:spPr>
          <a:xfrm>
            <a:off x="8220456" y="5235720"/>
            <a:ext cx="104440" cy="136676"/>
          </a:xfrm>
          <a:prstGeom prst="rect">
            <a:avLst/>
          </a:prstGeom>
          <a:solidFill>
            <a:srgbClr val="2587C5"/>
          </a:solidFill>
          <a:ln/>
        </p:spPr>
      </p:sp>
      <p:sp>
        <p:nvSpPr>
          <p:cNvPr id="169" name="Text 167"/>
          <p:cNvSpPr txBox="1"/>
          <p:nvPr/>
        </p:nvSpPr>
        <p:spPr>
          <a:xfrm>
            <a:off x="9317736" y="5179807"/>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$4,334</a:t>
            </a:r>
            <a:endParaRPr lang="en-US" sz="1300" dirty="0"/>
          </a:p>
        </p:txBody>
      </p:sp>
      <p:sp>
        <p:nvSpPr>
          <p:cNvPr id="170" name="Text 168"/>
          <p:cNvSpPr txBox="1"/>
          <p:nvPr/>
        </p:nvSpPr>
        <p:spPr>
          <a:xfrm>
            <a:off x="10104120"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71" name="Text 169"/>
          <p:cNvSpPr txBox="1"/>
          <p:nvPr/>
        </p:nvSpPr>
        <p:spPr>
          <a:xfrm>
            <a:off x="1067104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$2.82</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73" name="Shape 171"/>
          <p:cNvSpPr/>
          <p:nvPr/>
        </p:nvSpPr>
        <p:spPr>
          <a:xfrm>
            <a:off x="8220456" y="5484222"/>
            <a:ext cx="83338" cy="136676"/>
          </a:xfrm>
          <a:prstGeom prst="rect">
            <a:avLst/>
          </a:prstGeom>
          <a:solidFill>
            <a:srgbClr val="2587C5"/>
          </a:solidFill>
          <a:ln/>
        </p:spPr>
      </p:sp>
      <p:sp>
        <p:nvSpPr>
          <p:cNvPr id="174" name="Text 172"/>
          <p:cNvSpPr txBox="1"/>
          <p:nvPr/>
        </p:nvSpPr>
        <p:spPr>
          <a:xfrm>
            <a:off x="9317736" y="5428309"/>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$3,458</a:t>
            </a:r>
            <a:endParaRPr lang="en-US" sz="1300" dirty="0"/>
          </a:p>
        </p:txBody>
      </p:sp>
      <p:sp>
        <p:nvSpPr>
          <p:cNvPr id="175" name="Text 173"/>
          <p:cNvSpPr txBox="1"/>
          <p:nvPr/>
        </p:nvSpPr>
        <p:spPr>
          <a:xfrm>
            <a:off x="10104120"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176" name="Text 174"/>
          <p:cNvSpPr txBox="1"/>
          <p:nvPr/>
        </p:nvSpPr>
        <p:spPr>
          <a:xfrm>
            <a:off x="1067104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177" name="Shape 175"/>
          <p:cNvSpPr/>
          <p:nvPr/>
        </p:nvSpPr>
        <p:spPr>
          <a:xfrm>
            <a:off x="457200" y="6126480"/>
            <a:ext cx="11274552" cy="341376"/>
          </a:xfrm>
          <a:prstGeom prst="rect">
            <a:avLst/>
          </a:prstGeom>
          <a:solidFill>
            <a:srgbClr val="EDF4FA"/>
          </a:solidFill>
          <a:ln/>
        </p:spPr>
      </p:sp>
      <p:sp>
        <p:nvSpPr>
          <p:cNvPr id="178" name="Text 176"/>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One minute a day per tech: Toyota Henderson $43,256 a year. Volvo techs are worth the most per minute at $4.99.</a:t>
            </a:r>
            <a:endParaRPr lang="en-US" sz="1400" dirty="0"/>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Better Than Last Year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1670304" cy="45720"/>
          </a:xfrm>
          <a:prstGeom prst="rect">
            <a:avLst/>
          </a:prstGeom>
          <a:solidFill>
            <a:srgbClr val="12A566"/>
          </a:solidFill>
          <a:ln/>
        </p:spPr>
      </p:sp>
      <p:sp>
        <p:nvSpPr>
          <p:cNvPr id="20" name="Text 18"/>
          <p:cNvSpPr txBox="1"/>
          <p:nvPr/>
        </p:nvSpPr>
        <p:spPr>
          <a:xfrm>
            <a:off x="987552"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22" name="Text 20"/>
          <p:cNvSpPr txBox="1"/>
          <p:nvPr/>
        </p:nvSpPr>
        <p:spPr>
          <a:xfrm>
            <a:off x="987552" y="2377440"/>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23" name="Text 21"/>
          <p:cNvSpPr txBox="1"/>
          <p:nvPr/>
        </p:nvSpPr>
        <p:spPr>
          <a:xfrm>
            <a:off x="987552"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+46.0%</a:t>
            </a:r>
            <a:endParaRPr lang="en-US" sz="1600" dirty="0"/>
          </a:p>
        </p:txBody>
      </p:sp>
      <p:sp>
        <p:nvSpPr>
          <p:cNvPr id="24" name="Text 22"/>
          <p:cNvSpPr txBox="1"/>
          <p:nvPr/>
        </p:nvSpPr>
        <p:spPr>
          <a:xfrm>
            <a:off x="987552" y="2907792"/>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25" name="Text 23"/>
          <p:cNvSpPr txBox="1"/>
          <p:nvPr/>
        </p:nvSpPr>
        <p:spPr>
          <a:xfrm>
            <a:off x="987552"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+45.3%</a:t>
            </a:r>
            <a:endParaRPr lang="en-US" sz="1600" dirty="0"/>
          </a:p>
        </p:txBody>
      </p:sp>
      <p:sp>
        <p:nvSpPr>
          <p:cNvPr id="26" name="Text 24"/>
          <p:cNvSpPr txBox="1"/>
          <p:nvPr/>
        </p:nvSpPr>
        <p:spPr>
          <a:xfrm>
            <a:off x="987552" y="34381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7" name="Text 25"/>
          <p:cNvSpPr txBox="1"/>
          <p:nvPr/>
        </p:nvSpPr>
        <p:spPr>
          <a:xfrm>
            <a:off x="987552"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+33.8%</a:t>
            </a:r>
            <a:endParaRPr lang="en-US" sz="1600" dirty="0"/>
          </a:p>
        </p:txBody>
      </p:sp>
      <p:sp>
        <p:nvSpPr>
          <p:cNvPr id="28" name="Text 26"/>
          <p:cNvSpPr txBox="1"/>
          <p:nvPr/>
        </p:nvSpPr>
        <p:spPr>
          <a:xfrm>
            <a:off x="987552" y="41239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29" name="Text 27"/>
          <p:cNvSpPr txBox="1"/>
          <p:nvPr/>
        </p:nvSpPr>
        <p:spPr>
          <a:xfrm>
            <a:off x="987552"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30" name="Text 28"/>
          <p:cNvSpPr txBox="1"/>
          <p:nvPr/>
        </p:nvSpPr>
        <p:spPr>
          <a:xfrm>
            <a:off x="987552" y="4654296"/>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1" name="Text 29"/>
          <p:cNvSpPr txBox="1"/>
          <p:nvPr/>
        </p:nvSpPr>
        <p:spPr>
          <a:xfrm>
            <a:off x="987552"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32" name="Text 30"/>
          <p:cNvSpPr txBox="1"/>
          <p:nvPr/>
        </p:nvSpPr>
        <p:spPr>
          <a:xfrm>
            <a:off x="987552" y="5184648"/>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Text 31"/>
          <p:cNvSpPr txBox="1"/>
          <p:nvPr/>
        </p:nvSpPr>
        <p:spPr>
          <a:xfrm>
            <a:off x="987552"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−20.1%</a:t>
            </a:r>
            <a:endParaRPr lang="en-US" sz="1600" dirty="0"/>
          </a:p>
        </p:txBody>
      </p:sp>
      <p:sp>
        <p:nvSpPr>
          <p:cNvPr id="34" name="Shape 32"/>
          <p:cNvSpPr/>
          <p:nvPr/>
        </p:nvSpPr>
        <p:spPr>
          <a:xfrm>
            <a:off x="2749296" y="1691640"/>
            <a:ext cx="1670304" cy="45720"/>
          </a:xfrm>
          <a:prstGeom prst="rect">
            <a:avLst/>
          </a:prstGeom>
          <a:solidFill>
            <a:srgbClr val="12A566"/>
          </a:solidFill>
          <a:ln/>
        </p:spPr>
      </p:sp>
      <p:sp>
        <p:nvSpPr>
          <p:cNvPr id="35" name="Text 33"/>
          <p:cNvSpPr txBox="1"/>
          <p:nvPr/>
        </p:nvSpPr>
        <p:spPr>
          <a:xfrm>
            <a:off x="2767584"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2767584"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37" name="Text 35"/>
          <p:cNvSpPr txBox="1"/>
          <p:nvPr/>
        </p:nvSpPr>
        <p:spPr>
          <a:xfrm>
            <a:off x="2767584" y="2377440"/>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38" name="Text 36"/>
          <p:cNvSpPr txBox="1"/>
          <p:nvPr/>
        </p:nvSpPr>
        <p:spPr>
          <a:xfrm>
            <a:off x="2767584"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+13.6%</a:t>
            </a:r>
            <a:endParaRPr lang="en-US" sz="1600" dirty="0"/>
          </a:p>
        </p:txBody>
      </p:sp>
      <p:sp>
        <p:nvSpPr>
          <p:cNvPr id="39" name="Text 37"/>
          <p:cNvSpPr txBox="1"/>
          <p:nvPr/>
        </p:nvSpPr>
        <p:spPr>
          <a:xfrm>
            <a:off x="2767584" y="2907792"/>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0" name="Text 38"/>
          <p:cNvSpPr txBox="1"/>
          <p:nvPr/>
        </p:nvSpPr>
        <p:spPr>
          <a:xfrm>
            <a:off x="2767584"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41" name="Text 39"/>
          <p:cNvSpPr txBox="1"/>
          <p:nvPr/>
        </p:nvSpPr>
        <p:spPr>
          <a:xfrm>
            <a:off x="2767584" y="34381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42" name="Text 40"/>
          <p:cNvSpPr txBox="1"/>
          <p:nvPr/>
        </p:nvSpPr>
        <p:spPr>
          <a:xfrm>
            <a:off x="2767584"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+10.5%</a:t>
            </a:r>
            <a:endParaRPr lang="en-US" sz="1600" dirty="0"/>
          </a:p>
        </p:txBody>
      </p:sp>
      <p:sp>
        <p:nvSpPr>
          <p:cNvPr id="43" name="Text 41"/>
          <p:cNvSpPr txBox="1"/>
          <p:nvPr/>
        </p:nvSpPr>
        <p:spPr>
          <a:xfrm>
            <a:off x="2767584" y="41239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4" name="Text 42"/>
          <p:cNvSpPr txBox="1"/>
          <p:nvPr/>
        </p:nvSpPr>
        <p:spPr>
          <a:xfrm>
            <a:off x="2767584"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Text 43"/>
          <p:cNvSpPr txBox="1"/>
          <p:nvPr/>
        </p:nvSpPr>
        <p:spPr>
          <a:xfrm>
            <a:off x="2767584" y="4654296"/>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2767584"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−11.4%</a:t>
            </a:r>
            <a:endParaRPr lang="en-US" sz="1600" dirty="0"/>
          </a:p>
        </p:txBody>
      </p:sp>
      <p:sp>
        <p:nvSpPr>
          <p:cNvPr id="47" name="Text 45"/>
          <p:cNvSpPr txBox="1"/>
          <p:nvPr/>
        </p:nvSpPr>
        <p:spPr>
          <a:xfrm>
            <a:off x="2767584" y="5184648"/>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Text 46"/>
          <p:cNvSpPr txBox="1"/>
          <p:nvPr/>
        </p:nvSpPr>
        <p:spPr>
          <a:xfrm>
            <a:off x="2767584"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49" name="Shape 47"/>
          <p:cNvSpPr/>
          <p:nvPr/>
        </p:nvSpPr>
        <p:spPr>
          <a:xfrm>
            <a:off x="4529328" y="1691640"/>
            <a:ext cx="1670304" cy="45720"/>
          </a:xfrm>
          <a:prstGeom prst="rect">
            <a:avLst/>
          </a:prstGeom>
          <a:solidFill>
            <a:srgbClr val="12A566"/>
          </a:solidFill>
          <a:ln/>
        </p:spPr>
      </p:sp>
      <p:sp>
        <p:nvSpPr>
          <p:cNvPr id="50" name="Text 48"/>
          <p:cNvSpPr txBox="1"/>
          <p:nvPr/>
        </p:nvSpPr>
        <p:spPr>
          <a:xfrm>
            <a:off x="4547616"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4547616"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52" name="Text 50"/>
          <p:cNvSpPr txBox="1"/>
          <p:nvPr/>
        </p:nvSpPr>
        <p:spPr>
          <a:xfrm>
            <a:off x="4547616" y="2377440"/>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3" name="Text 51"/>
          <p:cNvSpPr txBox="1"/>
          <p:nvPr/>
        </p:nvSpPr>
        <p:spPr>
          <a:xfrm>
            <a:off x="4547616"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+39.1%</a:t>
            </a:r>
            <a:endParaRPr lang="en-US" sz="1600" dirty="0"/>
          </a:p>
        </p:txBody>
      </p:sp>
      <p:sp>
        <p:nvSpPr>
          <p:cNvPr id="54" name="Text 52"/>
          <p:cNvSpPr txBox="1"/>
          <p:nvPr/>
        </p:nvSpPr>
        <p:spPr>
          <a:xfrm>
            <a:off x="4547616" y="2907792"/>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5" name="Text 53"/>
          <p:cNvSpPr txBox="1"/>
          <p:nvPr/>
        </p:nvSpPr>
        <p:spPr>
          <a:xfrm>
            <a:off x="4547616"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56" name="Text 54"/>
          <p:cNvSpPr txBox="1"/>
          <p:nvPr/>
        </p:nvSpPr>
        <p:spPr>
          <a:xfrm>
            <a:off x="4547616" y="34381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57" name="Text 55"/>
          <p:cNvSpPr txBox="1"/>
          <p:nvPr/>
        </p:nvSpPr>
        <p:spPr>
          <a:xfrm>
            <a:off x="4547616"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+30.7%</a:t>
            </a:r>
            <a:endParaRPr lang="en-US" sz="1600" dirty="0"/>
          </a:p>
        </p:txBody>
      </p:sp>
      <p:sp>
        <p:nvSpPr>
          <p:cNvPr id="58" name="Text 56"/>
          <p:cNvSpPr txBox="1"/>
          <p:nvPr/>
        </p:nvSpPr>
        <p:spPr>
          <a:xfrm>
            <a:off x="4547616" y="41239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59" name="Text 57"/>
          <p:cNvSpPr txBox="1"/>
          <p:nvPr/>
        </p:nvSpPr>
        <p:spPr>
          <a:xfrm>
            <a:off x="4547616"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60" name="Text 58"/>
          <p:cNvSpPr txBox="1"/>
          <p:nvPr/>
        </p:nvSpPr>
        <p:spPr>
          <a:xfrm>
            <a:off x="4547616" y="4654296"/>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1" name="Text 59"/>
          <p:cNvSpPr txBox="1"/>
          <p:nvPr/>
        </p:nvSpPr>
        <p:spPr>
          <a:xfrm>
            <a:off x="4547616"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62" name="Text 60"/>
          <p:cNvSpPr txBox="1"/>
          <p:nvPr/>
        </p:nvSpPr>
        <p:spPr>
          <a:xfrm>
            <a:off x="4547616" y="5184648"/>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63" name="Text 61"/>
          <p:cNvSpPr txBox="1"/>
          <p:nvPr/>
        </p:nvSpPr>
        <p:spPr>
          <a:xfrm>
            <a:off x="4547616"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64" name="Shape 62"/>
          <p:cNvSpPr/>
          <p:nvPr/>
        </p:nvSpPr>
        <p:spPr>
          <a:xfrm>
            <a:off x="6309360" y="1691640"/>
            <a:ext cx="1670304" cy="45720"/>
          </a:xfrm>
          <a:prstGeom prst="rect">
            <a:avLst/>
          </a:prstGeom>
          <a:solidFill>
            <a:srgbClr val="12A566"/>
          </a:solidFill>
          <a:ln/>
        </p:spPr>
      </p:sp>
      <p:sp>
        <p:nvSpPr>
          <p:cNvPr id="65" name="Text 63"/>
          <p:cNvSpPr txBox="1"/>
          <p:nvPr/>
        </p:nvSpPr>
        <p:spPr>
          <a:xfrm>
            <a:off x="6327648"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6327648"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67" name="Text 65"/>
          <p:cNvSpPr txBox="1"/>
          <p:nvPr/>
        </p:nvSpPr>
        <p:spPr>
          <a:xfrm>
            <a:off x="6327648" y="2377440"/>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Text 66"/>
          <p:cNvSpPr txBox="1"/>
          <p:nvPr/>
        </p:nvSpPr>
        <p:spPr>
          <a:xfrm>
            <a:off x="6327648"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69" name="Text 67"/>
          <p:cNvSpPr txBox="1"/>
          <p:nvPr/>
        </p:nvSpPr>
        <p:spPr>
          <a:xfrm>
            <a:off x="6327648" y="2907792"/>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70" name="Text 68"/>
          <p:cNvSpPr txBox="1"/>
          <p:nvPr/>
        </p:nvSpPr>
        <p:spPr>
          <a:xfrm>
            <a:off x="6327648"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71" name="Text 69"/>
          <p:cNvSpPr txBox="1"/>
          <p:nvPr/>
        </p:nvSpPr>
        <p:spPr>
          <a:xfrm>
            <a:off x="6327648" y="34381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72" name="Text 70"/>
          <p:cNvSpPr txBox="1"/>
          <p:nvPr/>
        </p:nvSpPr>
        <p:spPr>
          <a:xfrm>
            <a:off x="6327648"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73" name="Text 71"/>
          <p:cNvSpPr txBox="1"/>
          <p:nvPr/>
        </p:nvSpPr>
        <p:spPr>
          <a:xfrm>
            <a:off x="6327648" y="41239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4" name="Text 72"/>
          <p:cNvSpPr txBox="1"/>
          <p:nvPr/>
        </p:nvSpPr>
        <p:spPr>
          <a:xfrm>
            <a:off x="6327648"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−5.0%</a:t>
            </a:r>
            <a:endParaRPr lang="en-US" sz="1600" dirty="0"/>
          </a:p>
        </p:txBody>
      </p:sp>
      <p:sp>
        <p:nvSpPr>
          <p:cNvPr id="75" name="Text 73"/>
          <p:cNvSpPr txBox="1"/>
          <p:nvPr/>
        </p:nvSpPr>
        <p:spPr>
          <a:xfrm>
            <a:off x="6327648" y="4654296"/>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6" name="Text 74"/>
          <p:cNvSpPr txBox="1"/>
          <p:nvPr/>
        </p:nvSpPr>
        <p:spPr>
          <a:xfrm>
            <a:off x="6327648"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−6.9%</a:t>
            </a:r>
            <a:endParaRPr lang="en-US" sz="1600" dirty="0"/>
          </a:p>
        </p:txBody>
      </p:sp>
      <p:sp>
        <p:nvSpPr>
          <p:cNvPr id="77" name="Text 75"/>
          <p:cNvSpPr txBox="1"/>
          <p:nvPr/>
        </p:nvSpPr>
        <p:spPr>
          <a:xfrm>
            <a:off x="6327648" y="5184648"/>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78" name="Text 76"/>
          <p:cNvSpPr txBox="1"/>
          <p:nvPr/>
        </p:nvSpPr>
        <p:spPr>
          <a:xfrm>
            <a:off x="6327648"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−19.0%</a:t>
            </a:r>
            <a:endParaRPr lang="en-US" sz="1600" dirty="0"/>
          </a:p>
        </p:txBody>
      </p:sp>
      <p:sp>
        <p:nvSpPr>
          <p:cNvPr id="79" name="Shape 77"/>
          <p:cNvSpPr/>
          <p:nvPr/>
        </p:nvSpPr>
        <p:spPr>
          <a:xfrm>
            <a:off x="8089392" y="1691640"/>
            <a:ext cx="1670304" cy="45720"/>
          </a:xfrm>
          <a:prstGeom prst="rect">
            <a:avLst/>
          </a:prstGeom>
          <a:solidFill>
            <a:srgbClr val="12A566"/>
          </a:solidFill>
          <a:ln/>
        </p:spPr>
      </p:sp>
      <p:sp>
        <p:nvSpPr>
          <p:cNvPr id="80" name="Text 78"/>
          <p:cNvSpPr txBox="1"/>
          <p:nvPr/>
        </p:nvSpPr>
        <p:spPr>
          <a:xfrm>
            <a:off x="8107680"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 PER RO</a:t>
            </a:r>
            <a:endParaRPr lang="en-US" sz="1300" dirty="0"/>
          </a:p>
        </p:txBody>
      </p:sp>
      <p:sp>
        <p:nvSpPr>
          <p:cNvPr id="81" name="Text 79"/>
          <p:cNvSpPr txBox="1"/>
          <p:nvPr/>
        </p:nvSpPr>
        <p:spPr>
          <a:xfrm>
            <a:off x="8107680"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82" name="Text 80"/>
          <p:cNvSpPr txBox="1"/>
          <p:nvPr/>
        </p:nvSpPr>
        <p:spPr>
          <a:xfrm>
            <a:off x="8107680" y="2377440"/>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83" name="Text 81"/>
          <p:cNvSpPr txBox="1"/>
          <p:nvPr/>
        </p:nvSpPr>
        <p:spPr>
          <a:xfrm>
            <a:off x="8107680"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84" name="Text 82"/>
          <p:cNvSpPr txBox="1"/>
          <p:nvPr/>
        </p:nvSpPr>
        <p:spPr>
          <a:xfrm>
            <a:off x="8107680" y="2907792"/>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85" name="Text 83"/>
          <p:cNvSpPr txBox="1"/>
          <p:nvPr/>
        </p:nvSpPr>
        <p:spPr>
          <a:xfrm>
            <a:off x="8107680"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+24.7%</a:t>
            </a:r>
            <a:endParaRPr lang="en-US" sz="1600" dirty="0"/>
          </a:p>
        </p:txBody>
      </p:sp>
      <p:sp>
        <p:nvSpPr>
          <p:cNvPr id="86" name="Text 84"/>
          <p:cNvSpPr txBox="1"/>
          <p:nvPr/>
        </p:nvSpPr>
        <p:spPr>
          <a:xfrm>
            <a:off x="8107680" y="34381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7" name="Text 85"/>
          <p:cNvSpPr txBox="1"/>
          <p:nvPr/>
        </p:nvSpPr>
        <p:spPr>
          <a:xfrm>
            <a:off x="8107680"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+21.0%</a:t>
            </a:r>
            <a:endParaRPr lang="en-US" sz="1600" dirty="0"/>
          </a:p>
        </p:txBody>
      </p:sp>
      <p:sp>
        <p:nvSpPr>
          <p:cNvPr id="88" name="Text 86"/>
          <p:cNvSpPr txBox="1"/>
          <p:nvPr/>
        </p:nvSpPr>
        <p:spPr>
          <a:xfrm>
            <a:off x="8107680" y="41239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89" name="Text 87"/>
          <p:cNvSpPr txBox="1"/>
          <p:nvPr/>
        </p:nvSpPr>
        <p:spPr>
          <a:xfrm>
            <a:off x="8107680"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−7.1%</a:t>
            </a:r>
            <a:endParaRPr lang="en-US" sz="1600" dirty="0"/>
          </a:p>
        </p:txBody>
      </p:sp>
      <p:sp>
        <p:nvSpPr>
          <p:cNvPr id="90" name="Text 88"/>
          <p:cNvSpPr txBox="1"/>
          <p:nvPr/>
        </p:nvSpPr>
        <p:spPr>
          <a:xfrm>
            <a:off x="8107680" y="4654296"/>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91" name="Text 89"/>
          <p:cNvSpPr txBox="1"/>
          <p:nvPr/>
        </p:nvSpPr>
        <p:spPr>
          <a:xfrm>
            <a:off x="8107680"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−9.0%</a:t>
            </a:r>
            <a:endParaRPr lang="en-US" sz="1600" dirty="0"/>
          </a:p>
        </p:txBody>
      </p:sp>
      <p:sp>
        <p:nvSpPr>
          <p:cNvPr id="92" name="Text 90"/>
          <p:cNvSpPr txBox="1"/>
          <p:nvPr/>
        </p:nvSpPr>
        <p:spPr>
          <a:xfrm>
            <a:off x="8107680" y="5184648"/>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93" name="Text 91"/>
          <p:cNvSpPr txBox="1"/>
          <p:nvPr/>
        </p:nvSpPr>
        <p:spPr>
          <a:xfrm>
            <a:off x="8107680"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−15.0%</a:t>
            </a:r>
            <a:endParaRPr lang="en-US" sz="1600" dirty="0"/>
          </a:p>
        </p:txBody>
      </p:sp>
      <p:sp>
        <p:nvSpPr>
          <p:cNvPr id="94" name="Shape 92"/>
          <p:cNvSpPr/>
          <p:nvPr/>
        </p:nvSpPr>
        <p:spPr>
          <a:xfrm>
            <a:off x="9869424" y="1691640"/>
            <a:ext cx="1670304" cy="45720"/>
          </a:xfrm>
          <a:prstGeom prst="rect">
            <a:avLst/>
          </a:prstGeom>
          <a:solidFill>
            <a:srgbClr val="12A566"/>
          </a:solidFill>
          <a:ln/>
        </p:spPr>
      </p:sp>
      <p:sp>
        <p:nvSpPr>
          <p:cNvPr id="95" name="Text 93"/>
          <p:cNvSpPr txBox="1"/>
          <p:nvPr/>
        </p:nvSpPr>
        <p:spPr>
          <a:xfrm>
            <a:off x="9887712"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96" name="Text 94"/>
          <p:cNvSpPr txBox="1"/>
          <p:nvPr/>
        </p:nvSpPr>
        <p:spPr>
          <a:xfrm>
            <a:off x="9887712"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7" name="Text 95"/>
          <p:cNvSpPr txBox="1"/>
          <p:nvPr/>
        </p:nvSpPr>
        <p:spPr>
          <a:xfrm>
            <a:off x="9887712" y="2377440"/>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98" name="Text 96"/>
          <p:cNvSpPr txBox="1"/>
          <p:nvPr/>
        </p:nvSpPr>
        <p:spPr>
          <a:xfrm>
            <a:off x="9887712"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99" name="Text 97"/>
          <p:cNvSpPr txBox="1"/>
          <p:nvPr/>
        </p:nvSpPr>
        <p:spPr>
          <a:xfrm>
            <a:off x="9887712" y="2907792"/>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100" name="Text 98"/>
          <p:cNvSpPr txBox="1"/>
          <p:nvPr/>
        </p:nvSpPr>
        <p:spPr>
          <a:xfrm>
            <a:off x="9887712"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01" name="Text 99"/>
          <p:cNvSpPr txBox="1"/>
          <p:nvPr/>
        </p:nvSpPr>
        <p:spPr>
          <a:xfrm>
            <a:off x="9887712" y="34381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2" name="Text 100"/>
          <p:cNvSpPr txBox="1"/>
          <p:nvPr/>
        </p:nvSpPr>
        <p:spPr>
          <a:xfrm>
            <a:off x="9887712"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103" name="Text 101"/>
          <p:cNvSpPr txBox="1"/>
          <p:nvPr/>
        </p:nvSpPr>
        <p:spPr>
          <a:xfrm>
            <a:off x="9887712" y="41239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04" name="Text 102"/>
          <p:cNvSpPr txBox="1"/>
          <p:nvPr/>
        </p:nvSpPr>
        <p:spPr>
          <a:xfrm>
            <a:off x="9887712"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105" name="Text 103"/>
          <p:cNvSpPr txBox="1"/>
          <p:nvPr/>
        </p:nvSpPr>
        <p:spPr>
          <a:xfrm>
            <a:off x="9887712" y="4654296"/>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106" name="Text 104"/>
          <p:cNvSpPr txBox="1"/>
          <p:nvPr/>
        </p:nvSpPr>
        <p:spPr>
          <a:xfrm>
            <a:off x="9887712"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107" name="Text 105"/>
          <p:cNvSpPr txBox="1"/>
          <p:nvPr/>
        </p:nvSpPr>
        <p:spPr>
          <a:xfrm>
            <a:off x="9887712" y="5184648"/>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108" name="Text 106"/>
          <p:cNvSpPr txBox="1"/>
          <p:nvPr/>
        </p:nvSpPr>
        <p:spPr>
          <a:xfrm>
            <a:off x="9887712"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110" name="Shape 107"/>
          <p:cNvSpPr/>
          <p:nvPr/>
        </p:nvSpPr>
        <p:spPr>
          <a:xfrm>
            <a:off x="457200" y="6126480"/>
            <a:ext cx="11274552" cy="371856"/>
          </a:xfrm>
          <a:prstGeom prst="rect">
            <a:avLst/>
          </a:prstGeom>
          <a:solidFill>
            <a:srgbClr val="EDF4FA"/>
          </a:solidFill>
          <a:ln/>
        </p:spPr>
      </p:sp>
      <p:sp>
        <p:nvSpPr>
          <p:cNvPr id="111" name="Text 10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Lincoln (3 of 6). Most bottom-three: Audi Reno and VW St George (3 of 6).</a:t>
            </a:r>
            <a:endParaRPr lang="en-US" sz="1600" dirty="0"/>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(gross and ROs per month).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1670304" cy="45720"/>
          </a:xfrm>
          <a:prstGeom prst="rect">
            <a:avLst/>
          </a:prstGeom>
          <a:solidFill>
            <a:srgbClr val="12A566"/>
          </a:solidFill>
          <a:ln/>
        </p:spPr>
      </p:sp>
      <p:sp>
        <p:nvSpPr>
          <p:cNvPr id="20" name="Text 18"/>
          <p:cNvSpPr txBox="1"/>
          <p:nvPr/>
        </p:nvSpPr>
        <p:spPr>
          <a:xfrm>
            <a:off x="987552"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22" name="Text 20"/>
          <p:cNvSpPr txBox="1"/>
          <p:nvPr/>
        </p:nvSpPr>
        <p:spPr>
          <a:xfrm>
            <a:off x="987552" y="2377440"/>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23" name="Text 21"/>
          <p:cNvSpPr txBox="1"/>
          <p:nvPr/>
        </p:nvSpPr>
        <p:spPr>
          <a:xfrm>
            <a:off x="987552"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24" name="Text 22"/>
          <p:cNvSpPr txBox="1"/>
          <p:nvPr/>
        </p:nvSpPr>
        <p:spPr>
          <a:xfrm>
            <a:off x="987552" y="2907792"/>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25" name="Text 23"/>
          <p:cNvSpPr txBox="1"/>
          <p:nvPr/>
        </p:nvSpPr>
        <p:spPr>
          <a:xfrm>
            <a:off x="987552"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6" name="Text 24"/>
          <p:cNvSpPr txBox="1"/>
          <p:nvPr/>
        </p:nvSpPr>
        <p:spPr>
          <a:xfrm>
            <a:off x="987552" y="34381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27" name="Text 25"/>
          <p:cNvSpPr txBox="1"/>
          <p:nvPr/>
        </p:nvSpPr>
        <p:spPr>
          <a:xfrm>
            <a:off x="987552"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28" name="Text 26"/>
          <p:cNvSpPr txBox="1"/>
          <p:nvPr/>
        </p:nvSpPr>
        <p:spPr>
          <a:xfrm>
            <a:off x="987552" y="41239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9" name="Text 27"/>
          <p:cNvSpPr txBox="1"/>
          <p:nvPr/>
        </p:nvSpPr>
        <p:spPr>
          <a:xfrm>
            <a:off x="987552"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−0.9%</a:t>
            </a:r>
            <a:endParaRPr lang="en-US" sz="1600" dirty="0"/>
          </a:p>
        </p:txBody>
      </p:sp>
      <p:sp>
        <p:nvSpPr>
          <p:cNvPr id="30" name="Text 28"/>
          <p:cNvSpPr txBox="1"/>
          <p:nvPr/>
        </p:nvSpPr>
        <p:spPr>
          <a:xfrm>
            <a:off x="987552" y="4654296"/>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31" name="Text 29"/>
          <p:cNvSpPr txBox="1"/>
          <p:nvPr/>
        </p:nvSpPr>
        <p:spPr>
          <a:xfrm>
            <a:off x="987552"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32" name="Text 30"/>
          <p:cNvSpPr txBox="1"/>
          <p:nvPr/>
        </p:nvSpPr>
        <p:spPr>
          <a:xfrm>
            <a:off x="987552" y="5184648"/>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3" name="Text 31"/>
          <p:cNvSpPr txBox="1"/>
          <p:nvPr/>
        </p:nvSpPr>
        <p:spPr>
          <a:xfrm>
            <a:off x="987552"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34" name="Shape 32"/>
          <p:cNvSpPr/>
          <p:nvPr/>
        </p:nvSpPr>
        <p:spPr>
          <a:xfrm>
            <a:off x="2749296" y="1691640"/>
            <a:ext cx="1670304" cy="45720"/>
          </a:xfrm>
          <a:prstGeom prst="rect">
            <a:avLst/>
          </a:prstGeom>
          <a:solidFill>
            <a:srgbClr val="12A566"/>
          </a:solidFill>
          <a:ln/>
        </p:spPr>
      </p:sp>
      <p:sp>
        <p:nvSpPr>
          <p:cNvPr id="35" name="Text 33"/>
          <p:cNvSpPr txBox="1"/>
          <p:nvPr/>
        </p:nvSpPr>
        <p:spPr>
          <a:xfrm>
            <a:off x="2767584"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ROS</a:t>
            </a:r>
            <a:endParaRPr lang="en-US" sz="1300" dirty="0"/>
          </a:p>
        </p:txBody>
      </p:sp>
      <p:sp>
        <p:nvSpPr>
          <p:cNvPr id="36" name="Text 34"/>
          <p:cNvSpPr txBox="1"/>
          <p:nvPr/>
        </p:nvSpPr>
        <p:spPr>
          <a:xfrm>
            <a:off x="2767584"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+7.5%</a:t>
            </a:r>
            <a:endParaRPr lang="en-US" sz="1300" dirty="0"/>
          </a:p>
        </p:txBody>
      </p:sp>
      <p:sp>
        <p:nvSpPr>
          <p:cNvPr id="37" name="Text 35"/>
          <p:cNvSpPr txBox="1"/>
          <p:nvPr/>
        </p:nvSpPr>
        <p:spPr>
          <a:xfrm>
            <a:off x="2767584" y="2377440"/>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38" name="Text 36"/>
          <p:cNvSpPr txBox="1"/>
          <p:nvPr/>
        </p:nvSpPr>
        <p:spPr>
          <a:xfrm>
            <a:off x="2767584"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39" name="Text 37"/>
          <p:cNvSpPr txBox="1"/>
          <p:nvPr/>
        </p:nvSpPr>
        <p:spPr>
          <a:xfrm>
            <a:off x="2767584" y="2907792"/>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40" name="Text 38"/>
          <p:cNvSpPr txBox="1"/>
          <p:nvPr/>
        </p:nvSpPr>
        <p:spPr>
          <a:xfrm>
            <a:off x="2767584"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41" name="Text 39"/>
          <p:cNvSpPr txBox="1"/>
          <p:nvPr/>
        </p:nvSpPr>
        <p:spPr>
          <a:xfrm>
            <a:off x="2767584" y="34381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42" name="Text 40"/>
          <p:cNvSpPr txBox="1"/>
          <p:nvPr/>
        </p:nvSpPr>
        <p:spPr>
          <a:xfrm>
            <a:off x="2767584"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43" name="Text 41"/>
          <p:cNvSpPr txBox="1"/>
          <p:nvPr/>
        </p:nvSpPr>
        <p:spPr>
          <a:xfrm>
            <a:off x="2767584" y="41239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4" name="Text 42"/>
          <p:cNvSpPr txBox="1"/>
          <p:nvPr/>
        </p:nvSpPr>
        <p:spPr>
          <a:xfrm>
            <a:off x="2767584"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45" name="Text 43"/>
          <p:cNvSpPr txBox="1"/>
          <p:nvPr/>
        </p:nvSpPr>
        <p:spPr>
          <a:xfrm>
            <a:off x="2767584" y="4654296"/>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2767584"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47" name="Text 45"/>
          <p:cNvSpPr txBox="1"/>
          <p:nvPr/>
        </p:nvSpPr>
        <p:spPr>
          <a:xfrm>
            <a:off x="2767584" y="5184648"/>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48" name="Text 46"/>
          <p:cNvSpPr txBox="1"/>
          <p:nvPr/>
        </p:nvSpPr>
        <p:spPr>
          <a:xfrm>
            <a:off x="2767584"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9" name="Shape 47"/>
          <p:cNvSpPr/>
          <p:nvPr/>
        </p:nvSpPr>
        <p:spPr>
          <a:xfrm>
            <a:off x="4529328" y="1691640"/>
            <a:ext cx="1670304" cy="45720"/>
          </a:xfrm>
          <a:prstGeom prst="rect">
            <a:avLst/>
          </a:prstGeom>
          <a:solidFill>
            <a:srgbClr val="12A566"/>
          </a:solidFill>
          <a:ln/>
        </p:spPr>
      </p:sp>
      <p:sp>
        <p:nvSpPr>
          <p:cNvPr id="50" name="Text 48"/>
          <p:cNvSpPr txBox="1"/>
          <p:nvPr/>
        </p:nvSpPr>
        <p:spPr>
          <a:xfrm>
            <a:off x="4547616"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4547616"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−1.8%</a:t>
            </a:r>
            <a:endParaRPr lang="en-US" sz="1300" dirty="0"/>
          </a:p>
        </p:txBody>
      </p:sp>
      <p:sp>
        <p:nvSpPr>
          <p:cNvPr id="52" name="Text 50"/>
          <p:cNvSpPr txBox="1"/>
          <p:nvPr/>
        </p:nvSpPr>
        <p:spPr>
          <a:xfrm>
            <a:off x="4547616" y="2377440"/>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53" name="Text 51"/>
          <p:cNvSpPr txBox="1"/>
          <p:nvPr/>
        </p:nvSpPr>
        <p:spPr>
          <a:xfrm>
            <a:off x="4547616"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54" name="Text 52"/>
          <p:cNvSpPr txBox="1"/>
          <p:nvPr/>
        </p:nvSpPr>
        <p:spPr>
          <a:xfrm>
            <a:off x="4547616" y="2907792"/>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5" name="Text 53"/>
          <p:cNvSpPr txBox="1"/>
          <p:nvPr/>
        </p:nvSpPr>
        <p:spPr>
          <a:xfrm>
            <a:off x="4547616"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56" name="Text 54"/>
          <p:cNvSpPr txBox="1"/>
          <p:nvPr/>
        </p:nvSpPr>
        <p:spPr>
          <a:xfrm>
            <a:off x="4547616" y="34381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7" name="Text 55"/>
          <p:cNvSpPr txBox="1"/>
          <p:nvPr/>
        </p:nvSpPr>
        <p:spPr>
          <a:xfrm>
            <a:off x="4547616"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58" name="Text 56"/>
          <p:cNvSpPr txBox="1"/>
          <p:nvPr/>
        </p:nvSpPr>
        <p:spPr>
          <a:xfrm>
            <a:off x="4547616" y="41239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59" name="Text 57"/>
          <p:cNvSpPr txBox="1"/>
          <p:nvPr/>
        </p:nvSpPr>
        <p:spPr>
          <a:xfrm>
            <a:off x="4547616"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−9.9%</a:t>
            </a:r>
            <a:endParaRPr lang="en-US" sz="1600" dirty="0"/>
          </a:p>
        </p:txBody>
      </p:sp>
      <p:sp>
        <p:nvSpPr>
          <p:cNvPr id="60" name="Text 58"/>
          <p:cNvSpPr txBox="1"/>
          <p:nvPr/>
        </p:nvSpPr>
        <p:spPr>
          <a:xfrm>
            <a:off x="4547616" y="4654296"/>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61" name="Text 59"/>
          <p:cNvSpPr txBox="1"/>
          <p:nvPr/>
        </p:nvSpPr>
        <p:spPr>
          <a:xfrm>
            <a:off x="4547616"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62" name="Text 60"/>
          <p:cNvSpPr txBox="1"/>
          <p:nvPr/>
        </p:nvSpPr>
        <p:spPr>
          <a:xfrm>
            <a:off x="4547616" y="5184648"/>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63" name="Text 61"/>
          <p:cNvSpPr txBox="1"/>
          <p:nvPr/>
        </p:nvSpPr>
        <p:spPr>
          <a:xfrm>
            <a:off x="4547616"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−14.0%</a:t>
            </a:r>
            <a:endParaRPr lang="en-US" sz="1600" dirty="0"/>
          </a:p>
        </p:txBody>
      </p:sp>
      <p:sp>
        <p:nvSpPr>
          <p:cNvPr id="64" name="Shape 62"/>
          <p:cNvSpPr/>
          <p:nvPr/>
        </p:nvSpPr>
        <p:spPr>
          <a:xfrm>
            <a:off x="6309360" y="1691640"/>
            <a:ext cx="1670304" cy="45720"/>
          </a:xfrm>
          <a:prstGeom prst="rect">
            <a:avLst/>
          </a:prstGeom>
          <a:solidFill>
            <a:srgbClr val="12A566"/>
          </a:solidFill>
          <a:ln/>
        </p:spPr>
      </p:sp>
      <p:sp>
        <p:nvSpPr>
          <p:cNvPr id="65" name="Text 63"/>
          <p:cNvSpPr txBox="1"/>
          <p:nvPr/>
        </p:nvSpPr>
        <p:spPr>
          <a:xfrm>
            <a:off x="6327648"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6327648"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+1.1%</a:t>
            </a:r>
            <a:endParaRPr lang="en-US" sz="1300" dirty="0"/>
          </a:p>
        </p:txBody>
      </p:sp>
      <p:sp>
        <p:nvSpPr>
          <p:cNvPr id="67" name="Text 65"/>
          <p:cNvSpPr txBox="1"/>
          <p:nvPr/>
        </p:nvSpPr>
        <p:spPr>
          <a:xfrm>
            <a:off x="6327648" y="2377440"/>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8" name="Text 66"/>
          <p:cNvSpPr txBox="1"/>
          <p:nvPr/>
        </p:nvSpPr>
        <p:spPr>
          <a:xfrm>
            <a:off x="6327648"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9" name="Text 67"/>
          <p:cNvSpPr txBox="1"/>
          <p:nvPr/>
        </p:nvSpPr>
        <p:spPr>
          <a:xfrm>
            <a:off x="6327648" y="2907792"/>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70" name="Text 68"/>
          <p:cNvSpPr txBox="1"/>
          <p:nvPr/>
        </p:nvSpPr>
        <p:spPr>
          <a:xfrm>
            <a:off x="6327648"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71" name="Text 69"/>
          <p:cNvSpPr txBox="1"/>
          <p:nvPr/>
        </p:nvSpPr>
        <p:spPr>
          <a:xfrm>
            <a:off x="6327648" y="34381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2" name="Text 70"/>
          <p:cNvSpPr txBox="1"/>
          <p:nvPr/>
        </p:nvSpPr>
        <p:spPr>
          <a:xfrm>
            <a:off x="6327648"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3" name="Text 71"/>
          <p:cNvSpPr txBox="1"/>
          <p:nvPr/>
        </p:nvSpPr>
        <p:spPr>
          <a:xfrm>
            <a:off x="6327648" y="41239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4" name="Text 72"/>
          <p:cNvSpPr txBox="1"/>
          <p:nvPr/>
        </p:nvSpPr>
        <p:spPr>
          <a:xfrm>
            <a:off x="6327648"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75" name="Text 73"/>
          <p:cNvSpPr txBox="1"/>
          <p:nvPr/>
        </p:nvSpPr>
        <p:spPr>
          <a:xfrm>
            <a:off x="6327648" y="4654296"/>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76" name="Text 74"/>
          <p:cNvSpPr txBox="1"/>
          <p:nvPr/>
        </p:nvSpPr>
        <p:spPr>
          <a:xfrm>
            <a:off x="6327648"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−4.7%</a:t>
            </a:r>
            <a:endParaRPr lang="en-US" sz="1600" dirty="0"/>
          </a:p>
        </p:txBody>
      </p:sp>
      <p:sp>
        <p:nvSpPr>
          <p:cNvPr id="77" name="Text 75"/>
          <p:cNvSpPr txBox="1"/>
          <p:nvPr/>
        </p:nvSpPr>
        <p:spPr>
          <a:xfrm>
            <a:off x="6327648" y="5184648"/>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8" name="Text 76"/>
          <p:cNvSpPr txBox="1"/>
          <p:nvPr/>
        </p:nvSpPr>
        <p:spPr>
          <a:xfrm>
            <a:off x="6327648"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79" name="Shape 77"/>
          <p:cNvSpPr/>
          <p:nvPr/>
        </p:nvSpPr>
        <p:spPr>
          <a:xfrm>
            <a:off x="8089392" y="1691640"/>
            <a:ext cx="1670304" cy="45720"/>
          </a:xfrm>
          <a:prstGeom prst="rect">
            <a:avLst/>
          </a:prstGeom>
          <a:solidFill>
            <a:srgbClr val="12A566"/>
          </a:solidFill>
          <a:ln/>
        </p:spPr>
      </p:sp>
      <p:sp>
        <p:nvSpPr>
          <p:cNvPr id="80" name="Text 78"/>
          <p:cNvSpPr txBox="1"/>
          <p:nvPr/>
        </p:nvSpPr>
        <p:spPr>
          <a:xfrm>
            <a:off x="8107680"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 PER RO</a:t>
            </a:r>
            <a:endParaRPr lang="en-US" sz="1300" dirty="0"/>
          </a:p>
        </p:txBody>
      </p:sp>
      <p:sp>
        <p:nvSpPr>
          <p:cNvPr id="81" name="Text 79"/>
          <p:cNvSpPr txBox="1"/>
          <p:nvPr/>
        </p:nvSpPr>
        <p:spPr>
          <a:xfrm>
            <a:off x="8107680"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+5.1%</a:t>
            </a:r>
            <a:endParaRPr lang="en-US" sz="1300" dirty="0"/>
          </a:p>
        </p:txBody>
      </p:sp>
      <p:sp>
        <p:nvSpPr>
          <p:cNvPr id="82" name="Text 80"/>
          <p:cNvSpPr txBox="1"/>
          <p:nvPr/>
        </p:nvSpPr>
        <p:spPr>
          <a:xfrm>
            <a:off x="8107680" y="2377440"/>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83" name="Text 81"/>
          <p:cNvSpPr txBox="1"/>
          <p:nvPr/>
        </p:nvSpPr>
        <p:spPr>
          <a:xfrm>
            <a:off x="8107680"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84" name="Text 82"/>
          <p:cNvSpPr txBox="1"/>
          <p:nvPr/>
        </p:nvSpPr>
        <p:spPr>
          <a:xfrm>
            <a:off x="8107680" y="2907792"/>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85" name="Text 83"/>
          <p:cNvSpPr txBox="1"/>
          <p:nvPr/>
        </p:nvSpPr>
        <p:spPr>
          <a:xfrm>
            <a:off x="8107680"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86" name="Text 84"/>
          <p:cNvSpPr txBox="1"/>
          <p:nvPr/>
        </p:nvSpPr>
        <p:spPr>
          <a:xfrm>
            <a:off x="8107680" y="34381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7" name="Text 85"/>
          <p:cNvSpPr txBox="1"/>
          <p:nvPr/>
        </p:nvSpPr>
        <p:spPr>
          <a:xfrm>
            <a:off x="8107680"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88" name="Text 86"/>
          <p:cNvSpPr txBox="1"/>
          <p:nvPr/>
        </p:nvSpPr>
        <p:spPr>
          <a:xfrm>
            <a:off x="8107680" y="41239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89" name="Text 87"/>
          <p:cNvSpPr txBox="1"/>
          <p:nvPr/>
        </p:nvSpPr>
        <p:spPr>
          <a:xfrm>
            <a:off x="8107680"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90" name="Text 88"/>
          <p:cNvSpPr txBox="1"/>
          <p:nvPr/>
        </p:nvSpPr>
        <p:spPr>
          <a:xfrm>
            <a:off x="8107680" y="4654296"/>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91" name="Text 89"/>
          <p:cNvSpPr txBox="1"/>
          <p:nvPr/>
        </p:nvSpPr>
        <p:spPr>
          <a:xfrm>
            <a:off x="8107680"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92" name="Text 90"/>
          <p:cNvSpPr txBox="1"/>
          <p:nvPr/>
        </p:nvSpPr>
        <p:spPr>
          <a:xfrm>
            <a:off x="8107680" y="5184648"/>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93" name="Text 91"/>
          <p:cNvSpPr txBox="1"/>
          <p:nvPr/>
        </p:nvSpPr>
        <p:spPr>
          <a:xfrm>
            <a:off x="8107680"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−6.0%</a:t>
            </a:r>
            <a:endParaRPr lang="en-US" sz="1600" dirty="0"/>
          </a:p>
        </p:txBody>
      </p:sp>
      <p:sp>
        <p:nvSpPr>
          <p:cNvPr id="94" name="Shape 92"/>
          <p:cNvSpPr/>
          <p:nvPr/>
        </p:nvSpPr>
        <p:spPr>
          <a:xfrm>
            <a:off x="9869424" y="1691640"/>
            <a:ext cx="1670304" cy="45720"/>
          </a:xfrm>
          <a:prstGeom prst="rect">
            <a:avLst/>
          </a:prstGeom>
          <a:solidFill>
            <a:srgbClr val="12A566"/>
          </a:solidFill>
          <a:ln/>
        </p:spPr>
      </p:sp>
      <p:sp>
        <p:nvSpPr>
          <p:cNvPr id="95" name="Text 93"/>
          <p:cNvSpPr txBox="1"/>
          <p:nvPr/>
        </p:nvSpPr>
        <p:spPr>
          <a:xfrm>
            <a:off x="9887712"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96" name="Text 94"/>
          <p:cNvSpPr txBox="1"/>
          <p:nvPr/>
        </p:nvSpPr>
        <p:spPr>
          <a:xfrm>
            <a:off x="9887712"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97" name="Text 95"/>
          <p:cNvSpPr txBox="1"/>
          <p:nvPr/>
        </p:nvSpPr>
        <p:spPr>
          <a:xfrm>
            <a:off x="9887712" y="2377440"/>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98" name="Text 96"/>
          <p:cNvSpPr txBox="1"/>
          <p:nvPr/>
        </p:nvSpPr>
        <p:spPr>
          <a:xfrm>
            <a:off x="9887712"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99" name="Text 97"/>
          <p:cNvSpPr txBox="1"/>
          <p:nvPr/>
        </p:nvSpPr>
        <p:spPr>
          <a:xfrm>
            <a:off x="9887712" y="2907792"/>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100" name="Text 98"/>
          <p:cNvSpPr txBox="1"/>
          <p:nvPr/>
        </p:nvSpPr>
        <p:spPr>
          <a:xfrm>
            <a:off x="9887712"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01" name="Text 99"/>
          <p:cNvSpPr txBox="1"/>
          <p:nvPr/>
        </p:nvSpPr>
        <p:spPr>
          <a:xfrm>
            <a:off x="9887712" y="34381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102" name="Text 100"/>
          <p:cNvSpPr txBox="1"/>
          <p:nvPr/>
        </p:nvSpPr>
        <p:spPr>
          <a:xfrm>
            <a:off x="9887712"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103" name="Text 101"/>
          <p:cNvSpPr txBox="1"/>
          <p:nvPr/>
        </p:nvSpPr>
        <p:spPr>
          <a:xfrm>
            <a:off x="9887712" y="4123944"/>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104" name="Text 102"/>
          <p:cNvSpPr txBox="1"/>
          <p:nvPr/>
        </p:nvSpPr>
        <p:spPr>
          <a:xfrm>
            <a:off x="9887712"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 pts</a:t>
            </a:r>
            <a:endParaRPr lang="en-US" sz="1600" dirty="0"/>
          </a:p>
        </p:txBody>
      </p:sp>
      <p:sp>
        <p:nvSpPr>
          <p:cNvPr id="105" name="Text 103"/>
          <p:cNvSpPr txBox="1"/>
          <p:nvPr/>
        </p:nvSpPr>
        <p:spPr>
          <a:xfrm>
            <a:off x="9887712" y="4654296"/>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106" name="Text 104"/>
          <p:cNvSpPr txBox="1"/>
          <p:nvPr/>
        </p:nvSpPr>
        <p:spPr>
          <a:xfrm>
            <a:off x="9887712"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−3.8 pts</a:t>
            </a:r>
            <a:endParaRPr lang="en-US" sz="1600" dirty="0"/>
          </a:p>
        </p:txBody>
      </p:sp>
      <p:sp>
        <p:nvSpPr>
          <p:cNvPr id="107" name="Text 105"/>
          <p:cNvSpPr txBox="1"/>
          <p:nvPr/>
        </p:nvSpPr>
        <p:spPr>
          <a:xfrm>
            <a:off x="9887712" y="5184648"/>
            <a:ext cx="1688592" cy="21945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108" name="Text 106"/>
          <p:cNvSpPr txBox="1"/>
          <p:nvPr/>
        </p:nvSpPr>
        <p:spPr>
          <a:xfrm>
            <a:off x="9887712"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−4.2 pts</a:t>
            </a:r>
            <a:endParaRPr lang="en-US" sz="1600" dirty="0"/>
          </a:p>
        </p:txBody>
      </p:sp>
      <p:sp>
        <p:nvSpPr>
          <p:cNvPr id="110" name="Shape 107"/>
          <p:cNvSpPr/>
          <p:nvPr/>
        </p:nvSpPr>
        <p:spPr>
          <a:xfrm>
            <a:off x="457200" y="6126480"/>
            <a:ext cx="11274552" cy="371856"/>
          </a:xfrm>
          <a:prstGeom prst="rect">
            <a:avLst/>
          </a:prstGeom>
          <a:solidFill>
            <a:srgbClr val="EDF4FA"/>
          </a:solidFill>
          <a:ln/>
        </p:spPr>
      </p:sp>
      <p:sp>
        <p:nvSpPr>
          <p:cNvPr id="111" name="Text 10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VW St George (3 of 6). Most bottom-three: Honda Henderson (4 of 6).</a:t>
            </a:r>
            <a:endParaRPr lang="en-US" sz="1600" dirty="0"/>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Two Ways to Read Improvement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Better than last year · Jan–Sep 2026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six measures</a:t>
            </a:r>
            <a:endParaRPr lang="en-US" sz="1400" dirty="0"/>
          </a:p>
        </p:txBody>
      </p:sp>
      <p:sp>
        <p:nvSpPr>
          <p:cNvPr id="9" name="Shape 7"/>
          <p:cNvSpPr/>
          <p:nvPr/>
        </p:nvSpPr>
        <p:spPr>
          <a:xfrm>
            <a:off x="621792" y="2176272"/>
            <a:ext cx="5230368" cy="585216"/>
          </a:xfrm>
          <a:prstGeom prst="rect">
            <a:avLst/>
          </a:prstGeom>
          <a:solidFill>
            <a:srgbClr val="F7F7F7"/>
          </a:solidFill>
          <a:ln/>
        </p:spPr>
      </p:sp>
      <p:sp>
        <p:nvSpPr>
          <p:cNvPr id="10" name="Text 8"/>
          <p:cNvSpPr txBox="1"/>
          <p:nvPr/>
        </p:nvSpPr>
        <p:spPr>
          <a:xfrm>
            <a:off x="731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Text 9"/>
          <p:cNvSpPr txBox="1"/>
          <p:nvPr/>
        </p:nvSpPr>
        <p:spPr>
          <a:xfrm>
            <a:off x="731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$/RO, parts GP%</a:t>
            </a:r>
            <a:endParaRPr lang="en-US" sz="1300" dirty="0"/>
          </a:p>
        </p:txBody>
      </p:sp>
      <p:sp>
        <p:nvSpPr>
          <p:cNvPr id="12" name="Shape 10"/>
          <p:cNvSpPr/>
          <p:nvPr/>
        </p:nvSpPr>
        <p:spPr>
          <a:xfrm>
            <a:off x="4343400" y="2351837"/>
            <a:ext cx="960120" cy="234086"/>
          </a:xfrm>
          <a:prstGeom prst="rect">
            <a:avLst/>
          </a:prstGeom>
          <a:solidFill>
            <a:srgbClr val="12A566"/>
          </a:solidFill>
          <a:ln/>
        </p:spPr>
      </p:sp>
      <p:sp>
        <p:nvSpPr>
          <p:cNvPr id="13" name="Text 11"/>
          <p:cNvSpPr txBox="1"/>
          <p:nvPr/>
        </p:nvSpPr>
        <p:spPr>
          <a:xfrm>
            <a:off x="5330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4" name="Text 12"/>
          <p:cNvSpPr txBox="1"/>
          <p:nvPr/>
        </p:nvSpPr>
        <p:spPr>
          <a:xfrm>
            <a:off x="731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5" name="Text 13"/>
          <p:cNvSpPr txBox="1"/>
          <p:nvPr/>
        </p:nvSpPr>
        <p:spPr>
          <a:xfrm>
            <a:off x="731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 parts GP%</a:t>
            </a:r>
            <a:endParaRPr lang="en-US" sz="1300" dirty="0"/>
          </a:p>
        </p:txBody>
      </p:sp>
      <p:sp>
        <p:nvSpPr>
          <p:cNvPr id="16" name="Shape 14"/>
          <p:cNvSpPr/>
          <p:nvPr/>
        </p:nvSpPr>
        <p:spPr>
          <a:xfrm>
            <a:off x="4343400" y="2937053"/>
            <a:ext cx="960120" cy="234086"/>
          </a:xfrm>
          <a:prstGeom prst="rect">
            <a:avLst/>
          </a:prstGeom>
          <a:solidFill>
            <a:srgbClr val="12A566"/>
          </a:solidFill>
          <a:ln/>
        </p:spPr>
      </p:sp>
      <p:sp>
        <p:nvSpPr>
          <p:cNvPr id="17" name="Text 15"/>
          <p:cNvSpPr txBox="1"/>
          <p:nvPr/>
        </p:nvSpPr>
        <p:spPr>
          <a:xfrm>
            <a:off x="5330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8" name="Shape 16"/>
          <p:cNvSpPr/>
          <p:nvPr/>
        </p:nvSpPr>
        <p:spPr>
          <a:xfrm>
            <a:off x="621792" y="3346704"/>
            <a:ext cx="5230368" cy="585216"/>
          </a:xfrm>
          <a:prstGeom prst="rect">
            <a:avLst/>
          </a:prstGeom>
          <a:solidFill>
            <a:srgbClr val="F7F7F7"/>
          </a:solidFill>
          <a:ln/>
        </p:spPr>
      </p:sp>
      <p:sp>
        <p:nvSpPr>
          <p:cNvPr id="19" name="Text 17"/>
          <p:cNvSpPr txBox="1"/>
          <p:nvPr/>
        </p:nvSpPr>
        <p:spPr>
          <a:xfrm>
            <a:off x="731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0" name="Text 18"/>
          <p:cNvSpPr txBox="1"/>
          <p:nvPr/>
        </p:nvSpPr>
        <p:spPr>
          <a:xfrm>
            <a:off x="731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 parts $/RO</a:t>
            </a:r>
            <a:endParaRPr lang="en-US" sz="1300" dirty="0"/>
          </a:p>
        </p:txBody>
      </p:sp>
      <p:sp>
        <p:nvSpPr>
          <p:cNvPr id="21" name="Shape 19"/>
          <p:cNvSpPr/>
          <p:nvPr/>
        </p:nvSpPr>
        <p:spPr>
          <a:xfrm>
            <a:off x="4343400" y="3522269"/>
            <a:ext cx="960120" cy="234086"/>
          </a:xfrm>
          <a:prstGeom prst="rect">
            <a:avLst/>
          </a:prstGeom>
          <a:solidFill>
            <a:srgbClr val="12A566"/>
          </a:solidFill>
          <a:ln/>
        </p:spPr>
      </p:sp>
      <p:sp>
        <p:nvSpPr>
          <p:cNvPr id="22" name="Text 20"/>
          <p:cNvSpPr txBox="1"/>
          <p:nvPr/>
        </p:nvSpPr>
        <p:spPr>
          <a:xfrm>
            <a:off x="5330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23" name="Text 21"/>
          <p:cNvSpPr txBox="1"/>
          <p:nvPr/>
        </p:nvSpPr>
        <p:spPr>
          <a:xfrm>
            <a:off x="731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4" name="Text 22"/>
          <p:cNvSpPr txBox="1"/>
          <p:nvPr/>
        </p:nvSpPr>
        <p:spPr>
          <a:xfrm>
            <a:off x="731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25" name="Shape 23"/>
          <p:cNvSpPr/>
          <p:nvPr/>
        </p:nvSpPr>
        <p:spPr>
          <a:xfrm>
            <a:off x="4343400" y="4107485"/>
            <a:ext cx="480060" cy="234086"/>
          </a:xfrm>
          <a:prstGeom prst="rect">
            <a:avLst/>
          </a:prstGeom>
          <a:solidFill>
            <a:srgbClr val="12A566"/>
          </a:solidFill>
          <a:ln/>
        </p:spPr>
      </p:sp>
      <p:sp>
        <p:nvSpPr>
          <p:cNvPr id="26" name="Text 24"/>
          <p:cNvSpPr txBox="1"/>
          <p:nvPr/>
        </p:nvSpPr>
        <p:spPr>
          <a:xfrm>
            <a:off x="5330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27" name="Shape 25"/>
          <p:cNvSpPr/>
          <p:nvPr/>
        </p:nvSpPr>
        <p:spPr>
          <a:xfrm>
            <a:off x="621792" y="4517136"/>
            <a:ext cx="5230368" cy="585216"/>
          </a:xfrm>
          <a:prstGeom prst="rect">
            <a:avLst/>
          </a:prstGeom>
          <a:solidFill>
            <a:srgbClr val="F7F7F7"/>
          </a:solidFill>
          <a:ln/>
        </p:spPr>
      </p:sp>
      <p:sp>
        <p:nvSpPr>
          <p:cNvPr id="28" name="Text 26"/>
          <p:cNvSpPr txBox="1"/>
          <p:nvPr/>
        </p:nvSpPr>
        <p:spPr>
          <a:xfrm>
            <a:off x="731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29" name="Text 27"/>
          <p:cNvSpPr txBox="1"/>
          <p:nvPr/>
        </p:nvSpPr>
        <p:spPr>
          <a:xfrm>
            <a:off x="731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parts $/RO</a:t>
            </a:r>
            <a:endParaRPr lang="en-US" sz="1300" dirty="0"/>
          </a:p>
        </p:txBody>
      </p:sp>
      <p:sp>
        <p:nvSpPr>
          <p:cNvPr id="30" name="Shape 28"/>
          <p:cNvSpPr/>
          <p:nvPr/>
        </p:nvSpPr>
        <p:spPr>
          <a:xfrm>
            <a:off x="4343400" y="4692701"/>
            <a:ext cx="480060" cy="234086"/>
          </a:xfrm>
          <a:prstGeom prst="rect">
            <a:avLst/>
          </a:prstGeom>
          <a:solidFill>
            <a:srgbClr val="12A566"/>
          </a:solidFill>
          <a:ln/>
        </p:spPr>
      </p:sp>
      <p:sp>
        <p:nvSpPr>
          <p:cNvPr id="31" name="Text 29"/>
          <p:cNvSpPr txBox="1"/>
          <p:nvPr/>
        </p:nvSpPr>
        <p:spPr>
          <a:xfrm>
            <a:off x="5330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2" name="Text 30"/>
          <p:cNvSpPr txBox="1"/>
          <p:nvPr/>
        </p:nvSpPr>
        <p:spPr>
          <a:xfrm>
            <a:off x="731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31"/>
          <p:cNvSpPr txBox="1"/>
          <p:nvPr/>
        </p:nvSpPr>
        <p:spPr>
          <a:xfrm>
            <a:off x="731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hours/RO</a:t>
            </a:r>
            <a:endParaRPr lang="en-US" sz="1300" dirty="0"/>
          </a:p>
        </p:txBody>
      </p:sp>
      <p:sp>
        <p:nvSpPr>
          <p:cNvPr id="34" name="Shape 32"/>
          <p:cNvSpPr/>
          <p:nvPr/>
        </p:nvSpPr>
        <p:spPr>
          <a:xfrm>
            <a:off x="4343400" y="5277917"/>
            <a:ext cx="480060" cy="234086"/>
          </a:xfrm>
          <a:prstGeom prst="rect">
            <a:avLst/>
          </a:prstGeom>
          <a:solidFill>
            <a:srgbClr val="12A566"/>
          </a:solidFill>
          <a:ln/>
        </p:spPr>
      </p:sp>
      <p:sp>
        <p:nvSpPr>
          <p:cNvPr id="35" name="Text 33"/>
          <p:cNvSpPr txBox="1"/>
          <p:nvPr/>
        </p:nvSpPr>
        <p:spPr>
          <a:xfrm>
            <a:off x="5330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6" name="Shape 34"/>
          <p:cNvSpPr/>
          <p:nvPr/>
        </p:nvSpPr>
        <p:spPr>
          <a:xfrm>
            <a:off x="6172200" y="1207008"/>
            <a:ext cx="5559552" cy="4645152"/>
          </a:xfrm>
          <a:prstGeom prst="rect">
            <a:avLst/>
          </a:prstGeom>
          <a:solidFill>
            <a:srgbClr val="FFFFFF"/>
          </a:solidFill>
          <a:ln/>
        </p:spPr>
      </p:sp>
      <p:sp>
        <p:nvSpPr>
          <p:cNvPr id="37" name="Text 35"/>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Moving now · Q3 vs Q1, this year</a:t>
            </a:r>
            <a:endParaRPr lang="en-US" sz="1500" dirty="0"/>
          </a:p>
        </p:txBody>
      </p:sp>
      <p:sp>
        <p:nvSpPr>
          <p:cNvPr id="38" name="Shape 36"/>
          <p:cNvSpPr/>
          <p:nvPr/>
        </p:nvSpPr>
        <p:spPr>
          <a:xfrm>
            <a:off x="6400800" y="1691640"/>
            <a:ext cx="5102352" cy="10973"/>
          </a:xfrm>
          <a:prstGeom prst="rect">
            <a:avLst/>
          </a:prstGeom>
          <a:solidFill>
            <a:srgbClr val="1A1A1A"/>
          </a:solidFill>
          <a:ln/>
        </p:spPr>
      </p:sp>
      <p:sp>
        <p:nvSpPr>
          <p:cNvPr id="39" name="Text 37"/>
          <p:cNvSpPr txBox="1"/>
          <p:nvPr/>
        </p:nvSpPr>
        <p:spPr>
          <a:xfrm>
            <a:off x="6400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six measures</a:t>
            </a:r>
            <a:endParaRPr lang="en-US" sz="1400" dirty="0"/>
          </a:p>
        </p:txBody>
      </p:sp>
      <p:sp>
        <p:nvSpPr>
          <p:cNvPr id="40" name="Shape 38"/>
          <p:cNvSpPr/>
          <p:nvPr/>
        </p:nvSpPr>
        <p:spPr>
          <a:xfrm>
            <a:off x="6336792" y="2176272"/>
            <a:ext cx="5230368" cy="585216"/>
          </a:xfrm>
          <a:prstGeom prst="rect">
            <a:avLst/>
          </a:prstGeom>
          <a:solidFill>
            <a:srgbClr val="F7F7F7"/>
          </a:solidFill>
          <a:ln/>
        </p:spPr>
      </p:sp>
      <p:sp>
        <p:nvSpPr>
          <p:cNvPr id="41" name="Text 39"/>
          <p:cNvSpPr txBox="1"/>
          <p:nvPr/>
        </p:nvSpPr>
        <p:spPr>
          <a:xfrm>
            <a:off x="6446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42" name="Text 40"/>
          <p:cNvSpPr txBox="1"/>
          <p:nvPr/>
        </p:nvSpPr>
        <p:spPr>
          <a:xfrm>
            <a:off x="6446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$/RO, parts GP%</a:t>
            </a:r>
            <a:endParaRPr lang="en-US" sz="1300" dirty="0"/>
          </a:p>
        </p:txBody>
      </p:sp>
      <p:sp>
        <p:nvSpPr>
          <p:cNvPr id="43" name="Shape 41"/>
          <p:cNvSpPr/>
          <p:nvPr/>
        </p:nvSpPr>
        <p:spPr>
          <a:xfrm>
            <a:off x="10058400" y="2351837"/>
            <a:ext cx="960120" cy="234086"/>
          </a:xfrm>
          <a:prstGeom prst="rect">
            <a:avLst/>
          </a:prstGeom>
          <a:solidFill>
            <a:srgbClr val="12A566"/>
          </a:solidFill>
          <a:ln/>
        </p:spPr>
      </p:sp>
      <p:sp>
        <p:nvSpPr>
          <p:cNvPr id="44" name="Text 42"/>
          <p:cNvSpPr txBox="1"/>
          <p:nvPr/>
        </p:nvSpPr>
        <p:spPr>
          <a:xfrm>
            <a:off x="11045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45" name="Text 43"/>
          <p:cNvSpPr txBox="1"/>
          <p:nvPr/>
        </p:nvSpPr>
        <p:spPr>
          <a:xfrm>
            <a:off x="6446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6" name="Text 44"/>
          <p:cNvSpPr txBox="1"/>
          <p:nvPr/>
        </p:nvSpPr>
        <p:spPr>
          <a:xfrm>
            <a:off x="6446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47" name="Shape 45"/>
          <p:cNvSpPr/>
          <p:nvPr/>
        </p:nvSpPr>
        <p:spPr>
          <a:xfrm>
            <a:off x="10058400" y="2937053"/>
            <a:ext cx="720090" cy="234086"/>
          </a:xfrm>
          <a:prstGeom prst="rect">
            <a:avLst/>
          </a:prstGeom>
          <a:solidFill>
            <a:srgbClr val="12A566"/>
          </a:solidFill>
          <a:ln/>
        </p:spPr>
      </p:sp>
      <p:sp>
        <p:nvSpPr>
          <p:cNvPr id="48" name="Text 46"/>
          <p:cNvSpPr txBox="1"/>
          <p:nvPr/>
        </p:nvSpPr>
        <p:spPr>
          <a:xfrm>
            <a:off x="11045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9" name="Shape 47"/>
          <p:cNvSpPr/>
          <p:nvPr/>
        </p:nvSpPr>
        <p:spPr>
          <a:xfrm>
            <a:off x="6336792" y="3346704"/>
            <a:ext cx="5230368" cy="585216"/>
          </a:xfrm>
          <a:prstGeom prst="rect">
            <a:avLst/>
          </a:prstGeom>
          <a:solidFill>
            <a:srgbClr val="F7F7F7"/>
          </a:solidFill>
          <a:ln/>
        </p:spPr>
      </p:sp>
      <p:sp>
        <p:nvSpPr>
          <p:cNvPr id="50" name="Text 48"/>
          <p:cNvSpPr txBox="1"/>
          <p:nvPr/>
        </p:nvSpPr>
        <p:spPr>
          <a:xfrm>
            <a:off x="6446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1" name="Text 49"/>
          <p:cNvSpPr txBox="1"/>
          <p:nvPr/>
        </p:nvSpPr>
        <p:spPr>
          <a:xfrm>
            <a:off x="6446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a:t>
            </a:r>
            <a:endParaRPr lang="en-US" sz="1300" dirty="0"/>
          </a:p>
        </p:txBody>
      </p:sp>
      <p:sp>
        <p:nvSpPr>
          <p:cNvPr id="52" name="Shape 50"/>
          <p:cNvSpPr/>
          <p:nvPr/>
        </p:nvSpPr>
        <p:spPr>
          <a:xfrm>
            <a:off x="10058400" y="3522269"/>
            <a:ext cx="720090" cy="234086"/>
          </a:xfrm>
          <a:prstGeom prst="rect">
            <a:avLst/>
          </a:prstGeom>
          <a:solidFill>
            <a:srgbClr val="12A566"/>
          </a:solidFill>
          <a:ln/>
        </p:spPr>
      </p:sp>
      <p:sp>
        <p:nvSpPr>
          <p:cNvPr id="53" name="Text 51"/>
          <p:cNvSpPr txBox="1"/>
          <p:nvPr/>
        </p:nvSpPr>
        <p:spPr>
          <a:xfrm>
            <a:off x="11045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446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5" name="Text 53"/>
          <p:cNvSpPr txBox="1"/>
          <p:nvPr/>
        </p:nvSpPr>
        <p:spPr>
          <a:xfrm>
            <a:off x="6446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a:t>
            </a:r>
            <a:endParaRPr lang="en-US" sz="1300" dirty="0"/>
          </a:p>
        </p:txBody>
      </p:sp>
      <p:sp>
        <p:nvSpPr>
          <p:cNvPr id="56" name="Shape 54"/>
          <p:cNvSpPr/>
          <p:nvPr/>
        </p:nvSpPr>
        <p:spPr>
          <a:xfrm>
            <a:off x="10058400" y="4107485"/>
            <a:ext cx="480060" cy="234086"/>
          </a:xfrm>
          <a:prstGeom prst="rect">
            <a:avLst/>
          </a:prstGeom>
          <a:solidFill>
            <a:srgbClr val="12A566"/>
          </a:solidFill>
          <a:ln/>
        </p:spPr>
      </p:sp>
      <p:sp>
        <p:nvSpPr>
          <p:cNvPr id="57" name="Text 55"/>
          <p:cNvSpPr txBox="1"/>
          <p:nvPr/>
        </p:nvSpPr>
        <p:spPr>
          <a:xfrm>
            <a:off x="11045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58" name="Shape 56"/>
          <p:cNvSpPr/>
          <p:nvPr/>
        </p:nvSpPr>
        <p:spPr>
          <a:xfrm>
            <a:off x="6336792" y="4517136"/>
            <a:ext cx="5230368" cy="585216"/>
          </a:xfrm>
          <a:prstGeom prst="rect">
            <a:avLst/>
          </a:prstGeom>
          <a:solidFill>
            <a:srgbClr val="F7F7F7"/>
          </a:solidFill>
          <a:ln/>
        </p:spPr>
      </p:sp>
      <p:sp>
        <p:nvSpPr>
          <p:cNvPr id="59" name="Text 57"/>
          <p:cNvSpPr txBox="1"/>
          <p:nvPr/>
        </p:nvSpPr>
        <p:spPr>
          <a:xfrm>
            <a:off x="6446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60" name="Text 58"/>
          <p:cNvSpPr txBox="1"/>
          <p:nvPr/>
        </p:nvSpPr>
        <p:spPr>
          <a:xfrm>
            <a:off x="6446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61" name="Shape 59"/>
          <p:cNvSpPr/>
          <p:nvPr/>
        </p:nvSpPr>
        <p:spPr>
          <a:xfrm>
            <a:off x="10058400" y="4692701"/>
            <a:ext cx="480060" cy="234086"/>
          </a:xfrm>
          <a:prstGeom prst="rect">
            <a:avLst/>
          </a:prstGeom>
          <a:solidFill>
            <a:srgbClr val="12A566"/>
          </a:solidFill>
          <a:ln/>
        </p:spPr>
      </p:sp>
      <p:sp>
        <p:nvSpPr>
          <p:cNvPr id="62" name="Text 60"/>
          <p:cNvSpPr txBox="1"/>
          <p:nvPr/>
        </p:nvSpPr>
        <p:spPr>
          <a:xfrm>
            <a:off x="11045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3" name="Text 61"/>
          <p:cNvSpPr txBox="1"/>
          <p:nvPr/>
        </p:nvSpPr>
        <p:spPr>
          <a:xfrm>
            <a:off x="6446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64" name="Text 62"/>
          <p:cNvSpPr txBox="1"/>
          <p:nvPr/>
        </p:nvSpPr>
        <p:spPr>
          <a:xfrm>
            <a:off x="6446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parts $/RO</a:t>
            </a:r>
            <a:endParaRPr lang="en-US" sz="1300" dirty="0"/>
          </a:p>
        </p:txBody>
      </p:sp>
      <p:sp>
        <p:nvSpPr>
          <p:cNvPr id="65" name="Shape 63"/>
          <p:cNvSpPr/>
          <p:nvPr/>
        </p:nvSpPr>
        <p:spPr>
          <a:xfrm>
            <a:off x="10058400" y="5277917"/>
            <a:ext cx="480060" cy="234086"/>
          </a:xfrm>
          <a:prstGeom prst="rect">
            <a:avLst/>
          </a:prstGeom>
          <a:solidFill>
            <a:srgbClr val="12A566"/>
          </a:solidFill>
          <a:ln/>
        </p:spPr>
      </p:sp>
      <p:sp>
        <p:nvSpPr>
          <p:cNvPr id="66" name="Text 64"/>
          <p:cNvSpPr txBox="1"/>
          <p:nvPr/>
        </p:nvSpPr>
        <p:spPr>
          <a:xfrm>
            <a:off x="11045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7" name="Shape 65"/>
          <p:cNvSpPr/>
          <p:nvPr/>
        </p:nvSpPr>
        <p:spPr>
          <a:xfrm>
            <a:off x="457200" y="6126480"/>
            <a:ext cx="11274552" cy="371856"/>
          </a:xfrm>
          <a:prstGeom prst="rect">
            <a:avLst/>
          </a:prstGeom>
          <a:solidFill>
            <a:srgbClr val="E6F6EE"/>
          </a:solidFill>
          <a:ln/>
        </p:spPr>
      </p:sp>
      <p:sp>
        <p:nvSpPr>
          <p:cNvPr id="68" name="Text 6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Last year: Three stores tie. Moving now: VW St George leads. Ten stores make both views.</a:t>
            </a:r>
            <a:endParaRPr lang="en-US" sz="1600" dirty="0"/>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Changed?</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49808"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7" name="Text 5"/>
          <p:cNvSpPr txBox="1"/>
          <p:nvPr/>
        </p:nvSpPr>
        <p:spPr>
          <a:xfrm>
            <a:off x="352044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Moved on</a:t>
            </a:r>
            <a:endParaRPr lang="en-US" sz="1400" dirty="0"/>
          </a:p>
        </p:txBody>
      </p:sp>
      <p:sp>
        <p:nvSpPr>
          <p:cNvPr id="8" name="Text 6"/>
          <p:cNvSpPr txBox="1"/>
          <p:nvPr/>
        </p:nvSpPr>
        <p:spPr>
          <a:xfrm>
            <a:off x="56692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9" name="Text 7"/>
          <p:cNvSpPr txBox="1"/>
          <p:nvPr/>
        </p:nvSpPr>
        <p:spPr>
          <a:xfrm>
            <a:off x="77266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93268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21792" y="1773936"/>
            <a:ext cx="10945368" cy="548640"/>
          </a:xfrm>
          <a:prstGeom prst="rect">
            <a:avLst/>
          </a:prstGeom>
          <a:solidFill>
            <a:srgbClr val="F7F7F7"/>
          </a:solidFill>
          <a:ln/>
        </p:spPr>
      </p:sp>
      <p:sp>
        <p:nvSpPr>
          <p:cNvPr id="12" name="Text 10"/>
          <p:cNvSpPr txBox="1"/>
          <p:nvPr/>
        </p:nvSpPr>
        <p:spPr>
          <a:xfrm>
            <a:off x="749808" y="17739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13" name="Text 11"/>
          <p:cNvSpPr txBox="1"/>
          <p:nvPr/>
        </p:nvSpPr>
        <p:spPr>
          <a:xfrm>
            <a:off x="3520440" y="17739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Gross per Month</a:t>
            </a:r>
            <a:endParaRPr lang="en-US" sz="1500" dirty="0"/>
          </a:p>
        </p:txBody>
      </p:sp>
      <p:sp>
        <p:nvSpPr>
          <p:cNvPr id="14" name="Text 12"/>
          <p:cNvSpPr txBox="1"/>
          <p:nvPr/>
        </p:nvSpPr>
        <p:spPr>
          <a:xfrm>
            <a:off x="5669280" y="17739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$155K → $209K</a:t>
            </a:r>
            <a:endParaRPr lang="en-US" sz="1500" dirty="0"/>
          </a:p>
        </p:txBody>
      </p:sp>
      <p:sp>
        <p:nvSpPr>
          <p:cNvPr id="15" name="Text 13"/>
          <p:cNvSpPr txBox="1"/>
          <p:nvPr/>
        </p:nvSpPr>
        <p:spPr>
          <a:xfrm>
            <a:off x="7726680" y="17739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16" name="Text 14"/>
          <p:cNvSpPr txBox="1"/>
          <p:nvPr/>
        </p:nvSpPr>
        <p:spPr>
          <a:xfrm>
            <a:off x="9326880" y="17739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+34.6%</a:t>
            </a:r>
            <a:endParaRPr lang="en-US" sz="1500" dirty="0"/>
          </a:p>
        </p:txBody>
      </p:sp>
      <p:sp>
        <p:nvSpPr>
          <p:cNvPr id="17" name="Text 15"/>
          <p:cNvSpPr txBox="1"/>
          <p:nvPr/>
        </p:nvSpPr>
        <p:spPr>
          <a:xfrm>
            <a:off x="749808" y="23225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8" name="Text 16"/>
          <p:cNvSpPr txBox="1"/>
          <p:nvPr/>
        </p:nvSpPr>
        <p:spPr>
          <a:xfrm>
            <a:off x="3520440" y="23225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ROs per Month</a:t>
            </a:r>
            <a:endParaRPr lang="en-US" sz="1500" dirty="0"/>
          </a:p>
        </p:txBody>
      </p:sp>
      <p:sp>
        <p:nvSpPr>
          <p:cNvPr id="19" name="Text 17"/>
          <p:cNvSpPr txBox="1"/>
          <p:nvPr/>
        </p:nvSpPr>
        <p:spPr>
          <a:xfrm>
            <a:off x="5669280" y="23225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425 → 570</a:t>
            </a:r>
            <a:endParaRPr lang="en-US" sz="1500" dirty="0"/>
          </a:p>
        </p:txBody>
      </p:sp>
      <p:sp>
        <p:nvSpPr>
          <p:cNvPr id="20" name="Text 18"/>
          <p:cNvSpPr txBox="1"/>
          <p:nvPr/>
        </p:nvSpPr>
        <p:spPr>
          <a:xfrm>
            <a:off x="7726680" y="23225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21" name="Text 19"/>
          <p:cNvSpPr txBox="1"/>
          <p:nvPr/>
        </p:nvSpPr>
        <p:spPr>
          <a:xfrm>
            <a:off x="9326880" y="23225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+34.0%</a:t>
            </a:r>
            <a:endParaRPr lang="en-US" sz="1500" dirty="0"/>
          </a:p>
        </p:txBody>
      </p:sp>
      <p:sp>
        <p:nvSpPr>
          <p:cNvPr id="22" name="Shape 20"/>
          <p:cNvSpPr/>
          <p:nvPr/>
        </p:nvSpPr>
        <p:spPr>
          <a:xfrm>
            <a:off x="621792" y="2871216"/>
            <a:ext cx="10945368" cy="548640"/>
          </a:xfrm>
          <a:prstGeom prst="rect">
            <a:avLst/>
          </a:prstGeom>
          <a:solidFill>
            <a:srgbClr val="F7F7F7"/>
          </a:solidFill>
          <a:ln/>
        </p:spPr>
      </p:sp>
      <p:sp>
        <p:nvSpPr>
          <p:cNvPr id="23" name="Text 21"/>
          <p:cNvSpPr txBox="1"/>
          <p:nvPr/>
        </p:nvSpPr>
        <p:spPr>
          <a:xfrm>
            <a:off x="749808" y="287121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24" name="Text 22"/>
          <p:cNvSpPr txBox="1"/>
          <p:nvPr/>
        </p:nvSpPr>
        <p:spPr>
          <a:xfrm>
            <a:off x="3520440" y="287121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a:t>
            </a:r>
            <a:endParaRPr lang="en-US" sz="1500" dirty="0"/>
          </a:p>
        </p:txBody>
      </p:sp>
      <p:sp>
        <p:nvSpPr>
          <p:cNvPr id="25" name="Text 23"/>
          <p:cNvSpPr txBox="1"/>
          <p:nvPr/>
        </p:nvSpPr>
        <p:spPr>
          <a:xfrm>
            <a:off x="5669280" y="287121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1.35 → 1.65</a:t>
            </a:r>
            <a:endParaRPr lang="en-US" sz="1500" dirty="0"/>
          </a:p>
        </p:txBody>
      </p:sp>
      <p:sp>
        <p:nvSpPr>
          <p:cNvPr id="26" name="Text 24"/>
          <p:cNvSpPr txBox="1"/>
          <p:nvPr/>
        </p:nvSpPr>
        <p:spPr>
          <a:xfrm>
            <a:off x="7726680" y="287121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27" name="Text 25"/>
          <p:cNvSpPr txBox="1"/>
          <p:nvPr/>
        </p:nvSpPr>
        <p:spPr>
          <a:xfrm>
            <a:off x="9326880" y="287121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+22.1%</a:t>
            </a:r>
            <a:endParaRPr lang="en-US" sz="1500" dirty="0"/>
          </a:p>
        </p:txBody>
      </p:sp>
      <p:sp>
        <p:nvSpPr>
          <p:cNvPr id="28" name="Text 26"/>
          <p:cNvSpPr txBox="1"/>
          <p:nvPr/>
        </p:nvSpPr>
        <p:spPr>
          <a:xfrm>
            <a:off x="749808" y="341985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29" name="Text 27"/>
          <p:cNvSpPr txBox="1"/>
          <p:nvPr/>
        </p:nvSpPr>
        <p:spPr>
          <a:xfrm>
            <a:off x="3520440" y="341985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a:t>
            </a:r>
            <a:endParaRPr lang="en-US" sz="1500" dirty="0"/>
          </a:p>
        </p:txBody>
      </p:sp>
      <p:sp>
        <p:nvSpPr>
          <p:cNvPr id="30" name="Text 28"/>
          <p:cNvSpPr txBox="1"/>
          <p:nvPr/>
        </p:nvSpPr>
        <p:spPr>
          <a:xfrm>
            <a:off x="5669280" y="341985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$128.27 → $141.89</a:t>
            </a:r>
            <a:endParaRPr lang="en-US" sz="1500" dirty="0"/>
          </a:p>
        </p:txBody>
      </p:sp>
      <p:sp>
        <p:nvSpPr>
          <p:cNvPr id="31" name="Text 29"/>
          <p:cNvSpPr txBox="1"/>
          <p:nvPr/>
        </p:nvSpPr>
        <p:spPr>
          <a:xfrm>
            <a:off x="7726680" y="341985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2" name="Text 30"/>
          <p:cNvSpPr txBox="1"/>
          <p:nvPr/>
        </p:nvSpPr>
        <p:spPr>
          <a:xfrm>
            <a:off x="9326880" y="341985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+10.6%</a:t>
            </a:r>
            <a:endParaRPr lang="en-US" sz="1500" dirty="0"/>
          </a:p>
        </p:txBody>
      </p:sp>
      <p:sp>
        <p:nvSpPr>
          <p:cNvPr id="33" name="Shape 31"/>
          <p:cNvSpPr/>
          <p:nvPr/>
        </p:nvSpPr>
        <p:spPr>
          <a:xfrm>
            <a:off x="621792" y="3968496"/>
            <a:ext cx="10945368" cy="548640"/>
          </a:xfrm>
          <a:prstGeom prst="rect">
            <a:avLst/>
          </a:prstGeom>
          <a:solidFill>
            <a:srgbClr val="F7F7F7"/>
          </a:solidFill>
          <a:ln/>
        </p:spPr>
      </p:sp>
      <p:sp>
        <p:nvSpPr>
          <p:cNvPr id="34" name="Text 32"/>
          <p:cNvSpPr txBox="1"/>
          <p:nvPr/>
        </p:nvSpPr>
        <p:spPr>
          <a:xfrm>
            <a:off x="749808" y="396849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35" name="Text 33"/>
          <p:cNvSpPr txBox="1"/>
          <p:nvPr/>
        </p:nvSpPr>
        <p:spPr>
          <a:xfrm>
            <a:off x="3520440" y="396849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 per RO</a:t>
            </a:r>
            <a:endParaRPr lang="en-US" sz="1500" dirty="0"/>
          </a:p>
        </p:txBody>
      </p:sp>
      <p:sp>
        <p:nvSpPr>
          <p:cNvPr id="36" name="Text 34"/>
          <p:cNvSpPr txBox="1"/>
          <p:nvPr/>
        </p:nvSpPr>
        <p:spPr>
          <a:xfrm>
            <a:off x="5669280" y="396849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$224 → $298</a:t>
            </a:r>
            <a:endParaRPr lang="en-US" sz="1500" dirty="0"/>
          </a:p>
        </p:txBody>
      </p:sp>
      <p:sp>
        <p:nvSpPr>
          <p:cNvPr id="37" name="Text 35"/>
          <p:cNvSpPr txBox="1"/>
          <p:nvPr/>
        </p:nvSpPr>
        <p:spPr>
          <a:xfrm>
            <a:off x="7726680" y="396849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8" name="Text 36"/>
          <p:cNvSpPr txBox="1"/>
          <p:nvPr/>
        </p:nvSpPr>
        <p:spPr>
          <a:xfrm>
            <a:off x="9326880" y="396849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+32.9%</a:t>
            </a:r>
            <a:endParaRPr lang="en-US" sz="1500" dirty="0"/>
          </a:p>
        </p:txBody>
      </p:sp>
      <p:sp>
        <p:nvSpPr>
          <p:cNvPr id="39" name="Text 37"/>
          <p:cNvSpPr txBox="1"/>
          <p:nvPr/>
        </p:nvSpPr>
        <p:spPr>
          <a:xfrm>
            <a:off x="749808" y="45171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0" name="Text 38"/>
          <p:cNvSpPr txBox="1"/>
          <p:nvPr/>
        </p:nvSpPr>
        <p:spPr>
          <a:xfrm>
            <a:off x="3520440" y="45171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GP %</a:t>
            </a:r>
            <a:endParaRPr lang="en-US" sz="1500" dirty="0"/>
          </a:p>
        </p:txBody>
      </p:sp>
      <p:sp>
        <p:nvSpPr>
          <p:cNvPr id="41" name="Text 39"/>
          <p:cNvSpPr txBox="1"/>
          <p:nvPr/>
        </p:nvSpPr>
        <p:spPr>
          <a:xfrm>
            <a:off x="5669280" y="45171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39.4% → 46.6%</a:t>
            </a:r>
            <a:endParaRPr lang="en-US" sz="1500" dirty="0"/>
          </a:p>
        </p:txBody>
      </p:sp>
      <p:sp>
        <p:nvSpPr>
          <p:cNvPr id="42" name="Text 40"/>
          <p:cNvSpPr txBox="1"/>
          <p:nvPr/>
        </p:nvSpPr>
        <p:spPr>
          <a:xfrm>
            <a:off x="7726680" y="45171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43" name="Text 41"/>
          <p:cNvSpPr txBox="1"/>
          <p:nvPr/>
        </p:nvSpPr>
        <p:spPr>
          <a:xfrm>
            <a:off x="9326880" y="45171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+7.2 pts</a:t>
            </a:r>
            <a:endParaRPr lang="en-US" sz="1500" dirty="0"/>
          </a:p>
        </p:txBody>
      </p:sp>
      <p:sp>
        <p:nvSpPr>
          <p:cNvPr id="44" name="Shape 42"/>
          <p:cNvSpPr/>
          <p:nvPr/>
        </p:nvSpPr>
        <p:spPr>
          <a:xfrm>
            <a:off x="621792" y="5065776"/>
            <a:ext cx="10945368" cy="548640"/>
          </a:xfrm>
          <a:prstGeom prst="rect">
            <a:avLst/>
          </a:prstGeom>
          <a:solidFill>
            <a:srgbClr val="F7F7F7"/>
          </a:solidFill>
          <a:ln/>
        </p:spPr>
      </p:sp>
      <p:sp>
        <p:nvSpPr>
          <p:cNvPr id="45" name="Text 43"/>
          <p:cNvSpPr txBox="1"/>
          <p:nvPr/>
        </p:nvSpPr>
        <p:spPr>
          <a:xfrm>
            <a:off x="749808" y="50657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46" name="Text 44"/>
          <p:cNvSpPr txBox="1"/>
          <p:nvPr/>
        </p:nvSpPr>
        <p:spPr>
          <a:xfrm>
            <a:off x="3520440" y="50657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Opcodes · alignment</a:t>
            </a:r>
            <a:endParaRPr lang="en-US" sz="1500" dirty="0"/>
          </a:p>
        </p:txBody>
      </p:sp>
      <p:sp>
        <p:nvSpPr>
          <p:cNvPr id="47" name="Text 45"/>
          <p:cNvSpPr txBox="1"/>
          <p:nvPr/>
        </p:nvSpPr>
        <p:spPr>
          <a:xfrm>
            <a:off x="5669280" y="50657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12.6% → 22.8%</a:t>
            </a:r>
            <a:endParaRPr lang="en-US" sz="1500" dirty="0"/>
          </a:p>
        </p:txBody>
      </p:sp>
      <p:sp>
        <p:nvSpPr>
          <p:cNvPr id="48" name="Text 46"/>
          <p:cNvSpPr txBox="1"/>
          <p:nvPr/>
        </p:nvSpPr>
        <p:spPr>
          <a:xfrm>
            <a:off x="7726680" y="50657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49" name="Text 47"/>
          <p:cNvSpPr txBox="1"/>
          <p:nvPr/>
        </p:nvSpPr>
        <p:spPr>
          <a:xfrm>
            <a:off x="9326880" y="50657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+10.1 pts</a:t>
            </a:r>
            <a:endParaRPr lang="en-US" sz="1500" dirty="0"/>
          </a:p>
        </p:txBody>
      </p:sp>
      <p:sp>
        <p:nvSpPr>
          <p:cNvPr id="50" name="Shape 48"/>
          <p:cNvSpPr/>
          <p:nvPr/>
        </p:nvSpPr>
        <p:spPr>
          <a:xfrm>
            <a:off x="457200" y="6126480"/>
            <a:ext cx="11274552" cy="364236"/>
          </a:xfrm>
          <a:prstGeom prst="rect">
            <a:avLst/>
          </a:prstGeom>
          <a:solidFill>
            <a:srgbClr val="EDF4FA"/>
          </a:solidFill>
          <a:ln/>
        </p:spPr>
      </p:sp>
      <p:sp>
        <p:nvSpPr>
          <p:cNvPr id="51" name="Text 49"/>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Four stores, one question each: what did you start doing that month? One sentence, before you leave.</a:t>
            </a:r>
            <a:endParaRPr lang="en-US" sz="1550" dirty="0"/>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Where the Money Is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353312"/>
            <a:ext cx="40233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THE LEVER</a:t>
            </a:r>
            <a:endParaRPr lang="en-US" sz="1400" dirty="0"/>
          </a:p>
        </p:txBody>
      </p:sp>
      <p:sp>
        <p:nvSpPr>
          <p:cNvPr id="7" name="Text 5"/>
          <p:cNvSpPr txBox="1"/>
          <p:nvPr/>
        </p:nvSpPr>
        <p:spPr>
          <a:xfrm>
            <a:off x="4754880" y="1353312"/>
            <a:ext cx="2103120" cy="310896"/>
          </a:xfrm>
          <a:prstGeom prst="rect">
            <a:avLst/>
          </a:prstGeom>
          <a:noFill/>
          <a:ln/>
        </p:spPr>
        <p:txBody>
          <a:bodyPr wrap="square" lIns="0" tIns="0" rIns="0" bIns="0" rtlCol="0" anchor="ctr"/>
          <a:lstStyle/>
          <a:p>
            <a:pPr algn="r" indent="0" marL="0">
              <a:buNone/>
            </a:pPr>
            <a:r>
              <a:rPr lang="en-US" sz="1400" b="1" spc="100" kern="0" dirty="0">
                <a:solidFill>
                  <a:srgbClr val="0B2C4A"/>
                </a:solidFill>
                <a:latin typeface="Inter" pitchFamily="34" charset="0"/>
                <a:ea typeface="Inter" pitchFamily="34" charset="-122"/>
                <a:cs typeface="Inter" pitchFamily="34" charset="-120"/>
              </a:rPr>
              <a:t>GROSS A YEAR</a:t>
            </a:r>
            <a:endParaRPr lang="en-US" sz="1400" dirty="0"/>
          </a:p>
        </p:txBody>
      </p:sp>
      <p:sp>
        <p:nvSpPr>
          <p:cNvPr id="8" name="Text 6"/>
          <p:cNvSpPr txBox="1"/>
          <p:nvPr/>
        </p:nvSpPr>
        <p:spPr>
          <a:xfrm>
            <a:off x="7178040" y="1353312"/>
            <a:ext cx="26517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HOW</a:t>
            </a:r>
            <a:endParaRPr lang="en-US" sz="1400" dirty="0"/>
          </a:p>
        </p:txBody>
      </p:sp>
      <p:sp>
        <p:nvSpPr>
          <p:cNvPr id="9" name="Text 7"/>
          <p:cNvSpPr txBox="1"/>
          <p:nvPr/>
        </p:nvSpPr>
        <p:spPr>
          <a:xfrm>
            <a:off x="9875520" y="1353312"/>
            <a:ext cx="169164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WHO OWNS IT</a:t>
            </a:r>
            <a:endParaRPr lang="en-US" sz="1400" dirty="0"/>
          </a:p>
        </p:txBody>
      </p:sp>
      <p:sp>
        <p:nvSpPr>
          <p:cNvPr id="10" name="Shape 8"/>
          <p:cNvSpPr/>
          <p:nvPr/>
        </p:nvSpPr>
        <p:spPr>
          <a:xfrm>
            <a:off x="548640" y="1755648"/>
            <a:ext cx="11091672" cy="713232"/>
          </a:xfrm>
          <a:prstGeom prst="rect">
            <a:avLst/>
          </a:prstGeom>
          <a:solidFill>
            <a:srgbClr val="F7F7F7"/>
          </a:solidFill>
          <a:ln/>
        </p:spPr>
      </p:sp>
      <p:sp>
        <p:nvSpPr>
          <p:cNvPr id="11" name="Shape 9"/>
          <p:cNvSpPr/>
          <p:nvPr/>
        </p:nvSpPr>
        <p:spPr>
          <a:xfrm>
            <a:off x="548640" y="1755648"/>
            <a:ext cx="64008" cy="713232"/>
          </a:xfrm>
          <a:prstGeom prst="rect">
            <a:avLst/>
          </a:prstGeom>
          <a:solidFill>
            <a:srgbClr val="12A566"/>
          </a:solidFill>
          <a:ln/>
        </p:spPr>
      </p:sp>
      <p:sp>
        <p:nvSpPr>
          <p:cNvPr id="12" name="Text 10"/>
          <p:cNvSpPr txBox="1"/>
          <p:nvPr/>
        </p:nvSpPr>
        <p:spPr>
          <a:xfrm>
            <a:off x="749808" y="1755648"/>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tech under 85% reaches 85%</a:t>
            </a:r>
            <a:endParaRPr lang="en-US" sz="1700" dirty="0"/>
          </a:p>
        </p:txBody>
      </p:sp>
      <p:sp>
        <p:nvSpPr>
          <p:cNvPr id="13" name="Text 11"/>
          <p:cNvSpPr txBox="1"/>
          <p:nvPr/>
        </p:nvSpPr>
        <p:spPr>
          <a:xfrm>
            <a:off x="4754880" y="1755648"/>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$19,763,184</a:t>
            </a:r>
            <a:endParaRPr lang="en-US" sz="2400" dirty="0"/>
          </a:p>
        </p:txBody>
      </p:sp>
      <p:sp>
        <p:nvSpPr>
          <p:cNvPr id="14" name="Text 12"/>
          <p:cNvSpPr txBox="1"/>
          <p:nvPr/>
        </p:nvSpPr>
        <p:spPr>
          <a:xfrm>
            <a:off x="7178040" y="1755648"/>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Dispatch, parts staging, approvals, coaching</a:t>
            </a:r>
            <a:endParaRPr lang="en-US" sz="1400" dirty="0"/>
          </a:p>
        </p:txBody>
      </p:sp>
      <p:sp>
        <p:nvSpPr>
          <p:cNvPr id="15" name="Shape 13"/>
          <p:cNvSpPr/>
          <p:nvPr/>
        </p:nvSpPr>
        <p:spPr>
          <a:xfrm>
            <a:off x="9875520" y="1810512"/>
            <a:ext cx="1691640" cy="274320"/>
          </a:xfrm>
          <a:prstGeom prst="roundRect">
            <a:avLst>
              <a:gd name="adj" fmla="val 20000"/>
            </a:avLst>
          </a:prstGeom>
          <a:solidFill>
            <a:srgbClr val="EDF4FA"/>
          </a:solidFill>
          <a:ln w="9525">
            <a:solidFill>
              <a:srgbClr val="0B2C4A"/>
            </a:solidFill>
            <a:prstDash val="solid"/>
          </a:ln>
        </p:spPr>
      </p:sp>
      <p:sp>
        <p:nvSpPr>
          <p:cNvPr id="16" name="Text 14"/>
          <p:cNvSpPr txBox="1"/>
          <p:nvPr/>
        </p:nvSpPr>
        <p:spPr>
          <a:xfrm>
            <a:off x="9875520" y="181051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17" name="Shape 15"/>
          <p:cNvSpPr/>
          <p:nvPr/>
        </p:nvSpPr>
        <p:spPr>
          <a:xfrm>
            <a:off x="9875520" y="2139696"/>
            <a:ext cx="566928" cy="274320"/>
          </a:xfrm>
          <a:prstGeom prst="roundRect">
            <a:avLst>
              <a:gd name="adj" fmla="val 20000"/>
            </a:avLst>
          </a:prstGeom>
          <a:solidFill>
            <a:srgbClr val="0B2C4A"/>
          </a:solidFill>
          <a:ln w="9525">
            <a:solidFill>
              <a:srgbClr val="0B2C4A"/>
            </a:solidFill>
            <a:prstDash val="solid"/>
          </a:ln>
        </p:spPr>
      </p:sp>
      <p:sp>
        <p:nvSpPr>
          <p:cNvPr id="18" name="Text 16"/>
          <p:cNvSpPr txBox="1"/>
          <p:nvPr/>
        </p:nvSpPr>
        <p:spPr>
          <a:xfrm>
            <a:off x="9875520" y="2139696"/>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19" name="Shape 17"/>
          <p:cNvSpPr/>
          <p:nvPr/>
        </p:nvSpPr>
        <p:spPr>
          <a:xfrm>
            <a:off x="548640" y="2542032"/>
            <a:ext cx="11091672" cy="713232"/>
          </a:xfrm>
          <a:prstGeom prst="rect">
            <a:avLst/>
          </a:prstGeom>
          <a:solidFill>
            <a:srgbClr val="FFFFFF"/>
          </a:solidFill>
          <a:ln/>
        </p:spPr>
      </p:sp>
      <p:sp>
        <p:nvSpPr>
          <p:cNvPr id="20" name="Shape 18"/>
          <p:cNvSpPr/>
          <p:nvPr/>
        </p:nvSpPr>
        <p:spPr>
          <a:xfrm>
            <a:off x="548640" y="2542032"/>
            <a:ext cx="64008" cy="713232"/>
          </a:xfrm>
          <a:prstGeom prst="rect">
            <a:avLst/>
          </a:prstGeom>
          <a:solidFill>
            <a:srgbClr val="12A566"/>
          </a:solidFill>
          <a:ln/>
        </p:spPr>
      </p:sp>
      <p:sp>
        <p:nvSpPr>
          <p:cNvPr id="21" name="Text 19"/>
          <p:cNvSpPr txBox="1"/>
          <p:nvPr/>
        </p:nvSpPr>
        <p:spPr>
          <a:xfrm>
            <a:off x="749808" y="2542032"/>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0.1 more hours on every CP RO</a:t>
            </a:r>
            <a:endParaRPr lang="en-US" sz="1700" dirty="0"/>
          </a:p>
        </p:txBody>
      </p:sp>
      <p:sp>
        <p:nvSpPr>
          <p:cNvPr id="22" name="Text 20"/>
          <p:cNvSpPr txBox="1"/>
          <p:nvPr/>
        </p:nvSpPr>
        <p:spPr>
          <a:xfrm>
            <a:off x="4754880" y="2542032"/>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$6,602,564</a:t>
            </a:r>
            <a:endParaRPr lang="en-US" sz="2400" dirty="0"/>
          </a:p>
        </p:txBody>
      </p:sp>
      <p:sp>
        <p:nvSpPr>
          <p:cNvPr id="23" name="Text 21"/>
          <p:cNvSpPr txBox="1"/>
          <p:nvPr/>
        </p:nvSpPr>
        <p:spPr>
          <a:xfrm>
            <a:off x="7178040" y="2542032"/>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MPI on every car, the menu, Road to the Sale</a:t>
            </a:r>
            <a:endParaRPr lang="en-US" sz="1400" dirty="0"/>
          </a:p>
        </p:txBody>
      </p:sp>
      <p:sp>
        <p:nvSpPr>
          <p:cNvPr id="24" name="Shape 22"/>
          <p:cNvSpPr/>
          <p:nvPr/>
        </p:nvSpPr>
        <p:spPr>
          <a:xfrm>
            <a:off x="9875520" y="2761488"/>
            <a:ext cx="1691640" cy="274320"/>
          </a:xfrm>
          <a:prstGeom prst="roundRect">
            <a:avLst>
              <a:gd name="adj" fmla="val 20000"/>
            </a:avLst>
          </a:prstGeom>
          <a:solidFill>
            <a:srgbClr val="EDF4FA"/>
          </a:solidFill>
          <a:ln w="9525">
            <a:solidFill>
              <a:srgbClr val="0B2C4A"/>
            </a:solidFill>
            <a:prstDash val="solid"/>
          </a:ln>
        </p:spPr>
      </p:sp>
      <p:sp>
        <p:nvSpPr>
          <p:cNvPr id="25" name="Text 23"/>
          <p:cNvSpPr txBox="1"/>
          <p:nvPr/>
        </p:nvSpPr>
        <p:spPr>
          <a:xfrm>
            <a:off x="9875520" y="276148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26" name="Shape 24"/>
          <p:cNvSpPr/>
          <p:nvPr/>
        </p:nvSpPr>
        <p:spPr>
          <a:xfrm>
            <a:off x="548640" y="3328416"/>
            <a:ext cx="11091672" cy="713232"/>
          </a:xfrm>
          <a:prstGeom prst="rect">
            <a:avLst/>
          </a:prstGeom>
          <a:solidFill>
            <a:srgbClr val="F7F7F7"/>
          </a:solidFill>
          <a:ln/>
        </p:spPr>
      </p:sp>
      <p:sp>
        <p:nvSpPr>
          <p:cNvPr id="27" name="Shape 25"/>
          <p:cNvSpPr/>
          <p:nvPr/>
        </p:nvSpPr>
        <p:spPr>
          <a:xfrm>
            <a:off x="548640" y="3328416"/>
            <a:ext cx="64008" cy="713232"/>
          </a:xfrm>
          <a:prstGeom prst="rect">
            <a:avLst/>
          </a:prstGeom>
          <a:solidFill>
            <a:srgbClr val="12A566"/>
          </a:solidFill>
          <a:ln/>
        </p:spPr>
      </p:sp>
      <p:sp>
        <p:nvSpPr>
          <p:cNvPr id="28" name="Text 26"/>
          <p:cNvSpPr txBox="1"/>
          <p:nvPr/>
        </p:nvSpPr>
        <p:spPr>
          <a:xfrm>
            <a:off x="749808" y="3328416"/>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store at the four op code benchmarks</a:t>
            </a:r>
            <a:endParaRPr lang="en-US" sz="1700" dirty="0"/>
          </a:p>
        </p:txBody>
      </p:sp>
      <p:sp>
        <p:nvSpPr>
          <p:cNvPr id="29" name="Text 27"/>
          <p:cNvSpPr txBox="1"/>
          <p:nvPr/>
        </p:nvSpPr>
        <p:spPr>
          <a:xfrm>
            <a:off x="4754880" y="3328416"/>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$4,895,199</a:t>
            </a:r>
            <a:endParaRPr lang="en-US" sz="2400" dirty="0"/>
          </a:p>
        </p:txBody>
      </p:sp>
      <p:sp>
        <p:nvSpPr>
          <p:cNvPr id="30" name="Text 28"/>
          <p:cNvSpPr txBox="1"/>
          <p:nvPr/>
        </p:nvSpPr>
        <p:spPr>
          <a:xfrm>
            <a:off x="7178040" y="3328416"/>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Alignment, balance, brake fluid, fuel service</a:t>
            </a:r>
            <a:endParaRPr lang="en-US" sz="1400" dirty="0"/>
          </a:p>
        </p:txBody>
      </p:sp>
      <p:sp>
        <p:nvSpPr>
          <p:cNvPr id="31" name="Shape 29"/>
          <p:cNvSpPr/>
          <p:nvPr/>
        </p:nvSpPr>
        <p:spPr>
          <a:xfrm>
            <a:off x="9875520" y="3547872"/>
            <a:ext cx="1691640" cy="274320"/>
          </a:xfrm>
          <a:prstGeom prst="roundRect">
            <a:avLst>
              <a:gd name="adj" fmla="val 20000"/>
            </a:avLst>
          </a:prstGeom>
          <a:solidFill>
            <a:srgbClr val="EDF4FA"/>
          </a:solidFill>
          <a:ln w="9525">
            <a:solidFill>
              <a:srgbClr val="0B2C4A"/>
            </a:solidFill>
            <a:prstDash val="solid"/>
          </a:ln>
        </p:spPr>
      </p:sp>
      <p:sp>
        <p:nvSpPr>
          <p:cNvPr id="32" name="Text 30"/>
          <p:cNvSpPr txBox="1"/>
          <p:nvPr/>
        </p:nvSpPr>
        <p:spPr>
          <a:xfrm>
            <a:off x="9875520" y="354787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33" name="Shape 31"/>
          <p:cNvSpPr/>
          <p:nvPr/>
        </p:nvSpPr>
        <p:spPr>
          <a:xfrm>
            <a:off x="548640" y="4114800"/>
            <a:ext cx="11091672" cy="713232"/>
          </a:xfrm>
          <a:prstGeom prst="rect">
            <a:avLst/>
          </a:prstGeom>
          <a:solidFill>
            <a:srgbClr val="FFFFFF"/>
          </a:solidFill>
          <a:ln/>
        </p:spPr>
      </p:sp>
      <p:sp>
        <p:nvSpPr>
          <p:cNvPr id="34" name="Shape 32"/>
          <p:cNvSpPr/>
          <p:nvPr/>
        </p:nvSpPr>
        <p:spPr>
          <a:xfrm>
            <a:off x="548640" y="4114800"/>
            <a:ext cx="64008" cy="713232"/>
          </a:xfrm>
          <a:prstGeom prst="rect">
            <a:avLst/>
          </a:prstGeom>
          <a:solidFill>
            <a:srgbClr val="12A566"/>
          </a:solidFill>
          <a:ln/>
        </p:spPr>
      </p:sp>
      <p:sp>
        <p:nvSpPr>
          <p:cNvPr id="35" name="Text 33"/>
          <p:cNvSpPr txBox="1"/>
          <p:nvPr/>
        </p:nvSpPr>
        <p:spPr>
          <a:xfrm>
            <a:off x="749808" y="4114800"/>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more customer-pay RO a day</a:t>
            </a:r>
            <a:endParaRPr lang="en-US" sz="1700" dirty="0"/>
          </a:p>
        </p:txBody>
      </p:sp>
      <p:sp>
        <p:nvSpPr>
          <p:cNvPr id="36" name="Text 34"/>
          <p:cNvSpPr txBox="1"/>
          <p:nvPr/>
        </p:nvSpPr>
        <p:spPr>
          <a:xfrm>
            <a:off x="4754880" y="4114800"/>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$4,473,284</a:t>
            </a:r>
            <a:endParaRPr lang="en-US" sz="2400" dirty="0"/>
          </a:p>
        </p:txBody>
      </p:sp>
      <p:sp>
        <p:nvSpPr>
          <p:cNvPr id="37" name="Text 35"/>
          <p:cNvSpPr txBox="1"/>
          <p:nvPr/>
        </p:nvSpPr>
        <p:spPr>
          <a:xfrm>
            <a:off x="7178040" y="4114800"/>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Phones, scheduler, retention, marketing</a:t>
            </a:r>
            <a:endParaRPr lang="en-US" sz="1400" dirty="0"/>
          </a:p>
        </p:txBody>
      </p:sp>
      <p:sp>
        <p:nvSpPr>
          <p:cNvPr id="38" name="Shape 36"/>
          <p:cNvSpPr/>
          <p:nvPr/>
        </p:nvSpPr>
        <p:spPr>
          <a:xfrm>
            <a:off x="9875520" y="4169664"/>
            <a:ext cx="566928" cy="274320"/>
          </a:xfrm>
          <a:prstGeom prst="roundRect">
            <a:avLst>
              <a:gd name="adj" fmla="val 20000"/>
            </a:avLst>
          </a:prstGeom>
          <a:solidFill>
            <a:srgbClr val="0B2C4A"/>
          </a:solidFill>
          <a:ln w="9525">
            <a:solidFill>
              <a:srgbClr val="0B2C4A"/>
            </a:solidFill>
            <a:prstDash val="solid"/>
          </a:ln>
        </p:spPr>
      </p:sp>
      <p:sp>
        <p:nvSpPr>
          <p:cNvPr id="39" name="Text 37"/>
          <p:cNvSpPr txBox="1"/>
          <p:nvPr/>
        </p:nvSpPr>
        <p:spPr>
          <a:xfrm>
            <a:off x="9875520" y="4169664"/>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40" name="Shape 38"/>
          <p:cNvSpPr/>
          <p:nvPr/>
        </p:nvSpPr>
        <p:spPr>
          <a:xfrm>
            <a:off x="9875520" y="4498848"/>
            <a:ext cx="1691640" cy="274320"/>
          </a:xfrm>
          <a:prstGeom prst="roundRect">
            <a:avLst>
              <a:gd name="adj" fmla="val 20000"/>
            </a:avLst>
          </a:prstGeom>
          <a:solidFill>
            <a:srgbClr val="EDF4FA"/>
          </a:solidFill>
          <a:ln w="9525">
            <a:solidFill>
              <a:srgbClr val="0B2C4A"/>
            </a:solidFill>
            <a:prstDash val="solid"/>
          </a:ln>
        </p:spPr>
      </p:sp>
      <p:sp>
        <p:nvSpPr>
          <p:cNvPr id="41" name="Text 39"/>
          <p:cNvSpPr txBox="1"/>
          <p:nvPr/>
        </p:nvSpPr>
        <p:spPr>
          <a:xfrm>
            <a:off x="9875520" y="44988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2" name="Shape 40"/>
          <p:cNvSpPr/>
          <p:nvPr/>
        </p:nvSpPr>
        <p:spPr>
          <a:xfrm>
            <a:off x="548640" y="4901184"/>
            <a:ext cx="11091672" cy="713232"/>
          </a:xfrm>
          <a:prstGeom prst="rect">
            <a:avLst/>
          </a:prstGeom>
          <a:solidFill>
            <a:srgbClr val="F7F7F7"/>
          </a:solidFill>
          <a:ln/>
        </p:spPr>
      </p:sp>
      <p:sp>
        <p:nvSpPr>
          <p:cNvPr id="43" name="Shape 41"/>
          <p:cNvSpPr/>
          <p:nvPr/>
        </p:nvSpPr>
        <p:spPr>
          <a:xfrm>
            <a:off x="548640" y="4901184"/>
            <a:ext cx="64008" cy="713232"/>
          </a:xfrm>
          <a:prstGeom prst="rect">
            <a:avLst/>
          </a:prstGeom>
          <a:solidFill>
            <a:srgbClr val="12A566"/>
          </a:solidFill>
          <a:ln/>
        </p:spPr>
      </p:sp>
      <p:sp>
        <p:nvSpPr>
          <p:cNvPr id="44" name="Text 42"/>
          <p:cNvSpPr txBox="1"/>
          <p:nvPr/>
        </p:nvSpPr>
        <p:spPr>
          <a:xfrm>
            <a:off x="749808" y="4901184"/>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minute a day saved for every tech</a:t>
            </a:r>
            <a:endParaRPr lang="en-US" sz="1700" dirty="0"/>
          </a:p>
        </p:txBody>
      </p:sp>
      <p:sp>
        <p:nvSpPr>
          <p:cNvPr id="45" name="Text 43"/>
          <p:cNvSpPr txBox="1"/>
          <p:nvPr/>
        </p:nvSpPr>
        <p:spPr>
          <a:xfrm>
            <a:off x="4754880" y="4901184"/>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$444,380</a:t>
            </a:r>
            <a:endParaRPr lang="en-US" sz="2400" dirty="0"/>
          </a:p>
        </p:txBody>
      </p:sp>
      <p:sp>
        <p:nvSpPr>
          <p:cNvPr id="46" name="Text 44"/>
          <p:cNvSpPr txBox="1"/>
          <p:nvPr/>
        </p:nvSpPr>
        <p:spPr>
          <a:xfrm>
            <a:off x="7178040" y="4901184"/>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Parts to the bay, tools and keys in place</a:t>
            </a:r>
            <a:endParaRPr lang="en-US" sz="1400" dirty="0"/>
          </a:p>
        </p:txBody>
      </p:sp>
      <p:sp>
        <p:nvSpPr>
          <p:cNvPr id="47" name="Shape 45"/>
          <p:cNvSpPr/>
          <p:nvPr/>
        </p:nvSpPr>
        <p:spPr>
          <a:xfrm>
            <a:off x="9875520" y="4956048"/>
            <a:ext cx="1691640" cy="274320"/>
          </a:xfrm>
          <a:prstGeom prst="roundRect">
            <a:avLst>
              <a:gd name="adj" fmla="val 20000"/>
            </a:avLst>
          </a:prstGeom>
          <a:solidFill>
            <a:srgbClr val="EDF4FA"/>
          </a:solidFill>
          <a:ln w="9525">
            <a:solidFill>
              <a:srgbClr val="0B2C4A"/>
            </a:solidFill>
            <a:prstDash val="solid"/>
          </a:ln>
        </p:spPr>
      </p:sp>
      <p:sp>
        <p:nvSpPr>
          <p:cNvPr id="48" name="Text 46"/>
          <p:cNvSpPr txBox="1"/>
          <p:nvPr/>
        </p:nvSpPr>
        <p:spPr>
          <a:xfrm>
            <a:off x="9875520" y="49560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9" name="Shape 47"/>
          <p:cNvSpPr/>
          <p:nvPr/>
        </p:nvSpPr>
        <p:spPr>
          <a:xfrm>
            <a:off x="9875520" y="5285232"/>
            <a:ext cx="566928" cy="274320"/>
          </a:xfrm>
          <a:prstGeom prst="roundRect">
            <a:avLst>
              <a:gd name="adj" fmla="val 20000"/>
            </a:avLst>
          </a:prstGeom>
          <a:solidFill>
            <a:srgbClr val="0B2C4A"/>
          </a:solidFill>
          <a:ln w="9525">
            <a:solidFill>
              <a:srgbClr val="0B2C4A"/>
            </a:solidFill>
            <a:prstDash val="solid"/>
          </a:ln>
        </p:spPr>
      </p:sp>
      <p:sp>
        <p:nvSpPr>
          <p:cNvPr id="50" name="Text 48"/>
          <p:cNvSpPr txBox="1"/>
          <p:nvPr/>
        </p:nvSpPr>
        <p:spPr>
          <a:xfrm>
            <a:off x="9875520" y="5285232"/>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51" name="Shape 49"/>
          <p:cNvSpPr/>
          <p:nvPr/>
        </p:nvSpPr>
        <p:spPr>
          <a:xfrm>
            <a:off x="457200" y="6126480"/>
            <a:ext cx="11274552" cy="615696"/>
          </a:xfrm>
          <a:prstGeom prst="rect">
            <a:avLst/>
          </a:prstGeom>
          <a:solidFill>
            <a:srgbClr val="E6F6EE"/>
          </a:solidFill>
          <a:ln/>
        </p:spPr>
      </p:sp>
      <p:sp>
        <p:nvSpPr>
          <p:cNvPr id="52" name="Text 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Every number is gross on cars, bays and techs we already have, except one more RO a day. They overlap, so read each on its own.</a:t>
            </a:r>
            <a:endParaRPr lang="en-US" sz="1600" dirty="0"/>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you want to do this again?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$4,543,691 of labor at today's ELR.</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 balances</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The largest benchmark gap, at 8.3% against 15%.</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7589520" cy="4782312"/>
          </a:xfrm>
          <a:prstGeom prst="rect">
            <a:avLst/>
          </a:prstGeom>
          <a:solidFill>
            <a:srgbClr val="FFFFFF"/>
          </a:solidFill>
          <a:ln/>
        </p:spPr>
      </p:sp>
      <p:sp>
        <p:nvSpPr>
          <p:cNvPr id="6" name="Text 4"/>
          <p:cNvSpPr txBox="1"/>
          <p:nvPr/>
        </p:nvSpPr>
        <p:spPr>
          <a:xfrm>
            <a:off x="685800" y="1344168"/>
            <a:ext cx="713232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total by month, January–September ($M)</a:t>
            </a:r>
            <a:endParaRPr lang="en-US" sz="1500" dirty="0"/>
          </a:p>
        </p:txBody>
      </p:sp>
      <p:sp>
        <p:nvSpPr>
          <p:cNvPr id="7" name="Shape 5"/>
          <p:cNvSpPr/>
          <p:nvPr/>
        </p:nvSpPr>
        <p:spPr>
          <a:xfrm>
            <a:off x="685800" y="1691640"/>
            <a:ext cx="7132320" cy="10973"/>
          </a:xfrm>
          <a:prstGeom prst="rect">
            <a:avLst/>
          </a:prstGeom>
          <a:solidFill>
            <a:srgbClr val="1A1A1A"/>
          </a:solidFill>
          <a:ln/>
        </p:spPr>
      </p:sp>
      <p:graphicFrame>
        <p:nvGraphicFramePr>
          <p:cNvPr id="8" name="Chart 0" descr=""/>
          <p:cNvGraphicFramePr/>
          <p:nvPr/>
        </p:nvGraphicFramePr>
        <p:xfrm>
          <a:off x="621792" y="1773936"/>
          <a:ext cx="7260336" cy="4123944"/>
        </p:xfrm>
        <a:graphic>
          <a:graphicData uri="http://schemas.openxmlformats.org/drawingml/2006/chart">
            <c:chart xmlns:c="http://schemas.openxmlformats.org/drawingml/2006/chart" r:id="rId2"/>
          </a:graphicData>
        </a:graphic>
      </p:graphicFrame>
      <p:sp>
        <p:nvSpPr>
          <p:cNvPr id="9" name="Shape 6"/>
          <p:cNvSpPr/>
          <p:nvPr/>
        </p:nvSpPr>
        <p:spPr>
          <a:xfrm>
            <a:off x="8229600" y="1207008"/>
            <a:ext cx="3502152" cy="4782312"/>
          </a:xfrm>
          <a:prstGeom prst="rect">
            <a:avLst/>
          </a:prstGeom>
          <a:solidFill>
            <a:srgbClr val="FFFFFF"/>
          </a:solidFill>
          <a:ln/>
        </p:spPr>
      </p:sp>
      <p:sp>
        <p:nvSpPr>
          <p:cNvPr id="10" name="Text 7"/>
          <p:cNvSpPr txBox="1"/>
          <p:nvPr/>
        </p:nvSpPr>
        <p:spPr>
          <a:xfrm>
            <a:off x="8458200" y="1344168"/>
            <a:ext cx="30449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it says</a:t>
            </a:r>
            <a:endParaRPr lang="en-US" sz="1500" dirty="0"/>
          </a:p>
        </p:txBody>
      </p:sp>
      <p:sp>
        <p:nvSpPr>
          <p:cNvPr id="11" name="Shape 8"/>
          <p:cNvSpPr/>
          <p:nvPr/>
        </p:nvSpPr>
        <p:spPr>
          <a:xfrm>
            <a:off x="8458200" y="1691640"/>
            <a:ext cx="3044952" cy="10973"/>
          </a:xfrm>
          <a:prstGeom prst="rect">
            <a:avLst/>
          </a:prstGeom>
          <a:solidFill>
            <a:srgbClr val="1A1A1A"/>
          </a:solidFill>
          <a:ln/>
        </p:spPr>
      </p:sp>
      <p:sp>
        <p:nvSpPr>
          <p:cNvPr id="12" name="Shape 9"/>
          <p:cNvSpPr/>
          <p:nvPr/>
        </p:nvSpPr>
        <p:spPr>
          <a:xfrm>
            <a:off x="8458200" y="1938528"/>
            <a:ext cx="100584" cy="100584"/>
          </a:xfrm>
          <a:prstGeom prst="ellipse">
            <a:avLst/>
          </a:prstGeom>
          <a:solidFill>
            <a:srgbClr val="2587C5"/>
          </a:solidFill>
          <a:ln/>
        </p:spPr>
      </p:sp>
      <p:sp>
        <p:nvSpPr>
          <p:cNvPr id="13" name="Text 10"/>
          <p:cNvSpPr txBox="1"/>
          <p:nvPr/>
        </p:nvSpPr>
        <p:spPr>
          <a:xfrm>
            <a:off x="8705088" y="1810512"/>
            <a:ext cx="2834640" cy="1051560"/>
          </a:xfrm>
          <a:prstGeom prst="rect">
            <a:avLst/>
          </a:prstGeom>
          <a:noFill/>
          <a:ln/>
        </p:spPr>
        <p:txBody>
          <a:bodyPr wrap="square" lIns="0" tIns="0" rIns="0" bIns="0" rtlCol="0" anchor="t"/>
          <a:lstStyle/>
          <a:p>
            <a:pPr indent="0" marL="0">
              <a:buNone/>
            </a:pPr>
            <a:r>
              <a:rPr lang="en-US" sz="1500" b="1" dirty="0">
                <a:solidFill>
                  <a:srgbClr val="2587C5"/>
                </a:solidFill>
                <a:latin typeface="Inter" pitchFamily="34" charset="0"/>
                <a:ea typeface="Inter" pitchFamily="34" charset="-122"/>
                <a:cs typeface="Inter" pitchFamily="34" charset="-120"/>
              </a:rPr>
              <a:t>Ahead of 2025 in 6 of 9 months.</a:t>
            </a:r>
            <a:endParaRPr lang="en-US" sz="1500" dirty="0"/>
          </a:p>
        </p:txBody>
      </p:sp>
      <p:sp>
        <p:nvSpPr>
          <p:cNvPr id="14" name="Shape 11"/>
          <p:cNvSpPr/>
          <p:nvPr/>
        </p:nvSpPr>
        <p:spPr>
          <a:xfrm>
            <a:off x="8458200" y="3072384"/>
            <a:ext cx="100584" cy="100584"/>
          </a:xfrm>
          <a:prstGeom prst="ellipse">
            <a:avLst/>
          </a:prstGeom>
          <a:solidFill>
            <a:srgbClr val="1A1A1A"/>
          </a:solidFill>
          <a:ln/>
        </p:spPr>
      </p:sp>
      <p:sp>
        <p:nvSpPr>
          <p:cNvPr id="15" name="Text 12"/>
          <p:cNvSpPr txBox="1"/>
          <p:nvPr/>
        </p:nvSpPr>
        <p:spPr>
          <a:xfrm>
            <a:off x="8705088" y="2944368"/>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Best month: September, up $2,098,497 (11.0%).</a:t>
            </a:r>
            <a:endParaRPr lang="en-US" sz="1500" dirty="0"/>
          </a:p>
        </p:txBody>
      </p:sp>
      <p:sp>
        <p:nvSpPr>
          <p:cNvPr id="16" name="Shape 13"/>
          <p:cNvSpPr/>
          <p:nvPr/>
        </p:nvSpPr>
        <p:spPr>
          <a:xfrm>
            <a:off x="8458200" y="4206240"/>
            <a:ext cx="100584" cy="100584"/>
          </a:xfrm>
          <a:prstGeom prst="ellipse">
            <a:avLst/>
          </a:prstGeom>
          <a:solidFill>
            <a:srgbClr val="1A1A1A"/>
          </a:solidFill>
          <a:ln/>
        </p:spPr>
      </p:sp>
      <p:sp>
        <p:nvSpPr>
          <p:cNvPr id="17" name="Text 14"/>
          <p:cNvSpPr txBox="1"/>
          <p:nvPr/>
        </p:nvSpPr>
        <p:spPr>
          <a:xfrm>
            <a:off x="8705088" y="4078224"/>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Behind in Jan, Feb and May.</a:t>
            </a:r>
            <a:endParaRPr lang="en-US" sz="1500" dirty="0"/>
          </a:p>
        </p:txBody>
      </p:sp>
      <p:sp>
        <p:nvSpPr>
          <p:cNvPr id="18" name="Shape 15"/>
          <p:cNvSpPr/>
          <p:nvPr/>
        </p:nvSpPr>
        <p:spPr>
          <a:xfrm>
            <a:off x="457200" y="6126480"/>
            <a:ext cx="11274552" cy="341376"/>
          </a:xfrm>
          <a:prstGeom prst="rect">
            <a:avLst/>
          </a:prstGeom>
          <a:solidFill>
            <a:srgbClr val="E6F6EE"/>
          </a:solidFill>
          <a:ln/>
        </p:spPr>
      </p:sp>
      <p:sp>
        <p:nvSpPr>
          <p:cNvPr id="19" name="Text 16"/>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Fixed ops gross up $7,468,567 (4.1%) year to date; ahead of 2025 in 6 of 9 months, and in every month since June.</a:t>
            </a:r>
            <a:endParaRPr lang="en-US" sz="1400" dirty="0"/>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517904"/>
          </a:xfrm>
          <a:prstGeom prst="rect">
            <a:avLst/>
          </a:prstGeom>
          <a:solidFill>
            <a:srgbClr val="FFFFFF"/>
          </a:solidFill>
          <a:ln/>
        </p:spPr>
      </p:sp>
      <p:sp>
        <p:nvSpPr>
          <p:cNvPr id="6" name="Text 4"/>
          <p:cNvSpPr txBox="1"/>
          <p:nvPr/>
        </p:nvSpPr>
        <p:spPr>
          <a:xfrm>
            <a:off x="685800" y="1316736"/>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65376"/>
            <a:ext cx="2697480" cy="603504"/>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9" name="Text 7"/>
          <p:cNvSpPr txBox="1"/>
          <p:nvPr/>
        </p:nvSpPr>
        <p:spPr>
          <a:xfrm>
            <a:off x="347472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65376"/>
            <a:ext cx="2697480" cy="603504"/>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1" name="Text 9"/>
          <p:cNvSpPr txBox="1"/>
          <p:nvPr/>
        </p:nvSpPr>
        <p:spPr>
          <a:xfrm>
            <a:off x="626364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65376"/>
            <a:ext cx="2697480" cy="603504"/>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+$7,468,567</a:t>
            </a:r>
            <a:endParaRPr lang="en-US" sz="3000" dirty="0"/>
          </a:p>
        </p:txBody>
      </p:sp>
      <p:sp>
        <p:nvSpPr>
          <p:cNvPr id="13" name="Text 11"/>
          <p:cNvSpPr txBox="1"/>
          <p:nvPr/>
        </p:nvSpPr>
        <p:spPr>
          <a:xfrm>
            <a:off x="905256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65376"/>
            <a:ext cx="2697480" cy="603504"/>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7200" y="2816352"/>
          <a:ext cx="11274552" cy="914400"/>
        </p:xfrm>
        <a:graphic>
          <a:graphicData uri="http://schemas.openxmlformats.org/drawingml/2006/table">
            <a:tbl>
              <a:tblPr/>
              <a:tblGrid>
                <a:gridCol w="3118104"/>
                <a:gridCol w="2039112"/>
                <a:gridCol w="2039112"/>
                <a:gridCol w="2039112"/>
                <a:gridCol w="2039112"/>
              </a:tblGrid>
              <a:tr h="317297">
                <a:tc>
                  <a:txBody>
                    <a:bodyPr/>
                    <a:lstStyle/>
                    <a:p>
                      <a:pPr algn="l" indent="0" marL="0">
                        <a:buNone/>
                      </a:pPr>
                      <a:r>
                        <a:rPr lang="en-US" sz="1400" b="1" dirty="0">
                          <a:solidFill>
                            <a:srgbClr val="FFFFFF"/>
                          </a:solidFill>
                          <a:latin typeface="Inter" pitchFamily="34" charset="0"/>
                          <a:ea typeface="Inter" pitchFamily="34" charset="-122"/>
                          <a:cs typeface="Inter" pitchFamily="34" charset="-120"/>
                        </a:rPr>
                        <a:t>MONTH</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2025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2026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VARIANCE</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VAR %</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JAN</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$20.46M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$19.88M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−$577,606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−2.8%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FEB</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$19.10M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$18.87M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−$232,279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−1.2%</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MAR</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$20.19M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$21.12M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+$924,230</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+4.6%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APR</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$20.85M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$21.80M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+$943,298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+4.5%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MAY</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$20.28M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$20.12M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−$154,977</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−0.8%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JUN</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$20.34M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$21.52M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+$1,183,612</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+5.8%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JUL</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$20.75M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$22.71M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+$1,960,141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+9.4%</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AUG</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$20.32M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$21.64M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+$1,323,650</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SEP</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$19.03M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$21.13M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+$2,098,497</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+11.0%</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16" name="Shape 13"/>
          <p:cNvSpPr/>
          <p:nvPr/>
        </p:nvSpPr>
        <p:spPr>
          <a:xfrm>
            <a:off x="457200" y="6126480"/>
            <a:ext cx="11274552" cy="371856"/>
          </a:xfrm>
          <a:prstGeom prst="rect">
            <a:avLst/>
          </a:prstGeom>
          <a:solidFill>
            <a:srgbClr val="E6F6EE"/>
          </a:solidFill>
          <a:ln/>
        </p:spPr>
      </p:sp>
      <p:sp>
        <p:nvSpPr>
          <p:cNvPr id="17" name="Text 1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+$7,468,567 (4.1%) year to date; 6 of nine months ahead of 2025, best September at +$2,098,497.</a:t>
            </a:r>
            <a:endParaRPr lang="en-US" sz="1600" dirty="0"/>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7589520" cy="4782312"/>
          </a:xfrm>
          <a:prstGeom prst="rect">
            <a:avLst/>
          </a:prstGeom>
          <a:solidFill>
            <a:srgbClr val="FFFFFF"/>
          </a:solidFill>
          <a:ln/>
        </p:spPr>
      </p:sp>
      <p:sp>
        <p:nvSpPr>
          <p:cNvPr id="6" name="Text 4"/>
          <p:cNvSpPr txBox="1"/>
          <p:nvPr/>
        </p:nvSpPr>
        <p:spPr>
          <a:xfrm>
            <a:off x="685800" y="1344168"/>
            <a:ext cx="713232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total by month, January–September ($M)</a:t>
            </a:r>
            <a:endParaRPr lang="en-US" sz="1500" dirty="0"/>
          </a:p>
        </p:txBody>
      </p:sp>
      <p:sp>
        <p:nvSpPr>
          <p:cNvPr id="7" name="Shape 5"/>
          <p:cNvSpPr/>
          <p:nvPr/>
        </p:nvSpPr>
        <p:spPr>
          <a:xfrm>
            <a:off x="685800" y="1691640"/>
            <a:ext cx="7132320" cy="10973"/>
          </a:xfrm>
          <a:prstGeom prst="rect">
            <a:avLst/>
          </a:prstGeom>
          <a:solidFill>
            <a:srgbClr val="1A1A1A"/>
          </a:solidFill>
          <a:ln/>
        </p:spPr>
      </p:sp>
      <p:graphicFrame>
        <p:nvGraphicFramePr>
          <p:cNvPr id="8" name="Chart 0" descr=""/>
          <p:cNvGraphicFramePr/>
          <p:nvPr/>
        </p:nvGraphicFramePr>
        <p:xfrm>
          <a:off x="621792" y="1773936"/>
          <a:ext cx="7260336" cy="4123944"/>
        </p:xfrm>
        <a:graphic>
          <a:graphicData uri="http://schemas.openxmlformats.org/drawingml/2006/chart">
            <c:chart xmlns:c="http://schemas.openxmlformats.org/drawingml/2006/chart" r:id="rId2"/>
          </a:graphicData>
        </a:graphic>
      </p:graphicFrame>
      <p:sp>
        <p:nvSpPr>
          <p:cNvPr id="9" name="Shape 6"/>
          <p:cNvSpPr/>
          <p:nvPr/>
        </p:nvSpPr>
        <p:spPr>
          <a:xfrm>
            <a:off x="8229600" y="1207008"/>
            <a:ext cx="3502152" cy="4782312"/>
          </a:xfrm>
          <a:prstGeom prst="rect">
            <a:avLst/>
          </a:prstGeom>
          <a:solidFill>
            <a:srgbClr val="FFFFFF"/>
          </a:solidFill>
          <a:ln/>
        </p:spPr>
      </p:sp>
      <p:sp>
        <p:nvSpPr>
          <p:cNvPr id="10" name="Text 7"/>
          <p:cNvSpPr txBox="1"/>
          <p:nvPr/>
        </p:nvSpPr>
        <p:spPr>
          <a:xfrm>
            <a:off x="8458200" y="1344168"/>
            <a:ext cx="30449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it says</a:t>
            </a:r>
            <a:endParaRPr lang="en-US" sz="1500" dirty="0"/>
          </a:p>
        </p:txBody>
      </p:sp>
      <p:sp>
        <p:nvSpPr>
          <p:cNvPr id="11" name="Shape 8"/>
          <p:cNvSpPr/>
          <p:nvPr/>
        </p:nvSpPr>
        <p:spPr>
          <a:xfrm>
            <a:off x="8458200" y="1691640"/>
            <a:ext cx="3044952" cy="10973"/>
          </a:xfrm>
          <a:prstGeom prst="rect">
            <a:avLst/>
          </a:prstGeom>
          <a:solidFill>
            <a:srgbClr val="1A1A1A"/>
          </a:solidFill>
          <a:ln/>
        </p:spPr>
      </p:sp>
      <p:sp>
        <p:nvSpPr>
          <p:cNvPr id="12" name="Shape 9"/>
          <p:cNvSpPr/>
          <p:nvPr/>
        </p:nvSpPr>
        <p:spPr>
          <a:xfrm>
            <a:off x="8458200" y="1938528"/>
            <a:ext cx="100584" cy="100584"/>
          </a:xfrm>
          <a:prstGeom prst="ellipse">
            <a:avLst/>
          </a:prstGeom>
          <a:solidFill>
            <a:srgbClr val="2587C5"/>
          </a:solidFill>
          <a:ln/>
        </p:spPr>
      </p:sp>
      <p:sp>
        <p:nvSpPr>
          <p:cNvPr id="13" name="Text 10"/>
          <p:cNvSpPr txBox="1"/>
          <p:nvPr/>
        </p:nvSpPr>
        <p:spPr>
          <a:xfrm>
            <a:off x="8705088" y="1810512"/>
            <a:ext cx="2834640" cy="1051560"/>
          </a:xfrm>
          <a:prstGeom prst="rect">
            <a:avLst/>
          </a:prstGeom>
          <a:noFill/>
          <a:ln/>
        </p:spPr>
        <p:txBody>
          <a:bodyPr wrap="square" lIns="0" tIns="0" rIns="0" bIns="0" rtlCol="0" anchor="t"/>
          <a:lstStyle/>
          <a:p>
            <a:pPr indent="0" marL="0">
              <a:buNone/>
            </a:pPr>
            <a:r>
              <a:rPr lang="en-US" sz="1500" b="1" dirty="0">
                <a:solidFill>
                  <a:srgbClr val="2587C5"/>
                </a:solidFill>
                <a:latin typeface="Inter" pitchFamily="34" charset="0"/>
                <a:ea typeface="Inter" pitchFamily="34" charset="-122"/>
                <a:cs typeface="Inter" pitchFamily="34" charset="-120"/>
              </a:rPr>
              <a:t>Ahead of 2025 in every month.</a:t>
            </a:r>
            <a:endParaRPr lang="en-US" sz="1500" dirty="0"/>
          </a:p>
        </p:txBody>
      </p:sp>
      <p:sp>
        <p:nvSpPr>
          <p:cNvPr id="14" name="Shape 11"/>
          <p:cNvSpPr/>
          <p:nvPr/>
        </p:nvSpPr>
        <p:spPr>
          <a:xfrm>
            <a:off x="8458200" y="3072384"/>
            <a:ext cx="100584" cy="100584"/>
          </a:xfrm>
          <a:prstGeom prst="ellipse">
            <a:avLst/>
          </a:prstGeom>
          <a:solidFill>
            <a:srgbClr val="1A1A1A"/>
          </a:solidFill>
          <a:ln/>
        </p:spPr>
      </p:sp>
      <p:sp>
        <p:nvSpPr>
          <p:cNvPr id="15" name="Text 12"/>
          <p:cNvSpPr txBox="1"/>
          <p:nvPr/>
        </p:nvSpPr>
        <p:spPr>
          <a:xfrm>
            <a:off x="8705088" y="2944368"/>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Best month: September, up $1,457,847 (11.7%).</a:t>
            </a:r>
            <a:endParaRPr lang="en-US" sz="1500" dirty="0"/>
          </a:p>
        </p:txBody>
      </p:sp>
      <p:sp>
        <p:nvSpPr>
          <p:cNvPr id="16" name="Shape 13"/>
          <p:cNvSpPr/>
          <p:nvPr/>
        </p:nvSpPr>
        <p:spPr>
          <a:xfrm>
            <a:off x="8458200" y="4206240"/>
            <a:ext cx="100584" cy="100584"/>
          </a:xfrm>
          <a:prstGeom prst="ellipse">
            <a:avLst/>
          </a:prstGeom>
          <a:solidFill>
            <a:srgbClr val="1A1A1A"/>
          </a:solidFill>
          <a:ln/>
        </p:spPr>
      </p:sp>
      <p:sp>
        <p:nvSpPr>
          <p:cNvPr id="17" name="Text 14"/>
          <p:cNvSpPr txBox="1"/>
          <p:nvPr/>
        </p:nvSpPr>
        <p:spPr>
          <a:xfrm>
            <a:off x="8705088" y="4078224"/>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No month behind 2025.</a:t>
            </a:r>
            <a:endParaRPr lang="en-US" sz="1500" dirty="0"/>
          </a:p>
        </p:txBody>
      </p:sp>
      <p:sp>
        <p:nvSpPr>
          <p:cNvPr id="18" name="Shape 15"/>
          <p:cNvSpPr/>
          <p:nvPr/>
        </p:nvSpPr>
        <p:spPr>
          <a:xfrm>
            <a:off x="457200" y="6126480"/>
            <a:ext cx="11274552" cy="371856"/>
          </a:xfrm>
          <a:prstGeom prst="rect">
            <a:avLst/>
          </a:prstGeom>
          <a:solidFill>
            <a:srgbClr val="E6F6EE"/>
          </a:solidFill>
          <a:ln/>
        </p:spPr>
      </p:sp>
      <p:sp>
        <p:nvSpPr>
          <p:cNvPr id="19" name="Text 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Service gross up $6,297,386 (5.2%) year to date; ahead of 2025 in every month.</a:t>
            </a:r>
            <a:endParaRPr lang="en-US" sz="1600" dirty="0"/>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517904"/>
          </a:xfrm>
          <a:prstGeom prst="rect">
            <a:avLst/>
          </a:prstGeom>
          <a:solidFill>
            <a:srgbClr val="FFFFFF"/>
          </a:solidFill>
          <a:ln/>
        </p:spPr>
      </p:sp>
      <p:sp>
        <p:nvSpPr>
          <p:cNvPr id="6" name="Text 4"/>
          <p:cNvSpPr txBox="1"/>
          <p:nvPr/>
        </p:nvSpPr>
        <p:spPr>
          <a:xfrm>
            <a:off x="685800" y="1316736"/>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65376"/>
            <a:ext cx="2697480" cy="603504"/>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9" name="Text 7"/>
          <p:cNvSpPr txBox="1"/>
          <p:nvPr/>
        </p:nvSpPr>
        <p:spPr>
          <a:xfrm>
            <a:off x="347472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65376"/>
            <a:ext cx="2697480" cy="603504"/>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1" name="Text 9"/>
          <p:cNvSpPr txBox="1"/>
          <p:nvPr/>
        </p:nvSpPr>
        <p:spPr>
          <a:xfrm>
            <a:off x="626364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65376"/>
            <a:ext cx="2697480" cy="603504"/>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3" name="Text 11"/>
          <p:cNvSpPr txBox="1"/>
          <p:nvPr/>
        </p:nvSpPr>
        <p:spPr>
          <a:xfrm>
            <a:off x="905256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65376"/>
            <a:ext cx="2697480" cy="603504"/>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2816352"/>
          <a:ext cx="11274552" cy="914400"/>
        </p:xfrm>
        <a:graphic>
          <a:graphicData uri="http://schemas.openxmlformats.org/drawingml/2006/table">
            <a:tbl>
              <a:tblPr/>
              <a:tblGrid>
                <a:gridCol w="3118104"/>
                <a:gridCol w="2039112"/>
                <a:gridCol w="2039112"/>
                <a:gridCol w="2039112"/>
                <a:gridCol w="2039112"/>
              </a:tblGrid>
              <a:tr h="317297">
                <a:tc>
                  <a:txBody>
                    <a:bodyPr/>
                    <a:lstStyle/>
                    <a:p>
                      <a:pPr algn="l" indent="0" marL="0">
                        <a:buNone/>
                      </a:pPr>
                      <a:r>
                        <a:rPr lang="en-US" sz="1400" b="1" dirty="0">
                          <a:solidFill>
                            <a:srgbClr val="FFFFFF"/>
                          </a:solidFill>
                          <a:latin typeface="Inter" pitchFamily="34" charset="0"/>
                          <a:ea typeface="Inter" pitchFamily="34" charset="-122"/>
                          <a:cs typeface="Inter" pitchFamily="34" charset="-120"/>
                        </a:rPr>
                        <a:t>MONTH</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2025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2026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VARIANCE</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VAR %</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JAN</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$13.41M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$13.47M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+$62,504</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+0.5%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FEB</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$12.64M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$12.79M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+$156,479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+1.2%</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MAR</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$13.59M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$14.35M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+$754,425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+5.6%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APR</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$14.01M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$14.65M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+$642,759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+4.6%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MAY</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$13.61M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$13.71M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+$98,858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+0.7%</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JUN</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$13.53M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$14.45M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+$924,002</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JUL</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$13.78M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$15.06M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+$1,275,282</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+9.3%</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AUG</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$13.51M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$14.43M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+$925,229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SEP</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$12.50M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$13.96M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+$1,457,847</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16" name="Shape 13"/>
          <p:cNvSpPr/>
          <p:nvPr/>
        </p:nvSpPr>
        <p:spPr>
          <a:xfrm>
            <a:off x="457200" y="6126480"/>
            <a:ext cx="11274552" cy="371856"/>
          </a:xfrm>
          <a:prstGeom prst="rect">
            <a:avLst/>
          </a:prstGeom>
          <a:solidFill>
            <a:srgbClr val="E6F6EE"/>
          </a:solidFill>
          <a:ln/>
        </p:spPr>
      </p:sp>
      <p:sp>
        <p:nvSpPr>
          <p:cNvPr id="17" name="Text 1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+$6,297,386 (5.2%) year to date; 9 of nine months ahead of 2025, best September at +$1,457,847.</a:t>
            </a:r>
            <a:endParaRPr lang="en-US" sz="1600" dirty="0"/>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7589520" cy="4782312"/>
          </a:xfrm>
          <a:prstGeom prst="rect">
            <a:avLst/>
          </a:prstGeom>
          <a:solidFill>
            <a:srgbClr val="FFFFFF"/>
          </a:solidFill>
          <a:ln/>
        </p:spPr>
      </p:sp>
      <p:sp>
        <p:nvSpPr>
          <p:cNvPr id="6" name="Text 4"/>
          <p:cNvSpPr txBox="1"/>
          <p:nvPr/>
        </p:nvSpPr>
        <p:spPr>
          <a:xfrm>
            <a:off x="685800" y="1344168"/>
            <a:ext cx="713232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total by month, January–September ($M)</a:t>
            </a:r>
            <a:endParaRPr lang="en-US" sz="1500" dirty="0"/>
          </a:p>
        </p:txBody>
      </p:sp>
      <p:sp>
        <p:nvSpPr>
          <p:cNvPr id="7" name="Shape 5"/>
          <p:cNvSpPr/>
          <p:nvPr/>
        </p:nvSpPr>
        <p:spPr>
          <a:xfrm>
            <a:off x="685800" y="1691640"/>
            <a:ext cx="7132320" cy="10973"/>
          </a:xfrm>
          <a:prstGeom prst="rect">
            <a:avLst/>
          </a:prstGeom>
          <a:solidFill>
            <a:srgbClr val="1A1A1A"/>
          </a:solidFill>
          <a:ln/>
        </p:spPr>
      </p:sp>
      <p:graphicFrame>
        <p:nvGraphicFramePr>
          <p:cNvPr id="8" name="Chart 0" descr=""/>
          <p:cNvGraphicFramePr/>
          <p:nvPr/>
        </p:nvGraphicFramePr>
        <p:xfrm>
          <a:off x="621792" y="1773936"/>
          <a:ext cx="7260336" cy="4123944"/>
        </p:xfrm>
        <a:graphic>
          <a:graphicData uri="http://schemas.openxmlformats.org/drawingml/2006/chart">
            <c:chart xmlns:c="http://schemas.openxmlformats.org/drawingml/2006/chart" r:id="rId2"/>
          </a:graphicData>
        </a:graphic>
      </p:graphicFrame>
      <p:sp>
        <p:nvSpPr>
          <p:cNvPr id="9" name="Shape 6"/>
          <p:cNvSpPr/>
          <p:nvPr/>
        </p:nvSpPr>
        <p:spPr>
          <a:xfrm>
            <a:off x="8229600" y="1207008"/>
            <a:ext cx="3502152" cy="4782312"/>
          </a:xfrm>
          <a:prstGeom prst="rect">
            <a:avLst/>
          </a:prstGeom>
          <a:solidFill>
            <a:srgbClr val="FFFFFF"/>
          </a:solidFill>
          <a:ln/>
        </p:spPr>
      </p:sp>
      <p:sp>
        <p:nvSpPr>
          <p:cNvPr id="10" name="Text 7"/>
          <p:cNvSpPr txBox="1"/>
          <p:nvPr/>
        </p:nvSpPr>
        <p:spPr>
          <a:xfrm>
            <a:off x="8458200" y="1344168"/>
            <a:ext cx="30449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it says</a:t>
            </a:r>
            <a:endParaRPr lang="en-US" sz="1500" dirty="0"/>
          </a:p>
        </p:txBody>
      </p:sp>
      <p:sp>
        <p:nvSpPr>
          <p:cNvPr id="11" name="Shape 8"/>
          <p:cNvSpPr/>
          <p:nvPr/>
        </p:nvSpPr>
        <p:spPr>
          <a:xfrm>
            <a:off x="8458200" y="1691640"/>
            <a:ext cx="3044952" cy="10973"/>
          </a:xfrm>
          <a:prstGeom prst="rect">
            <a:avLst/>
          </a:prstGeom>
          <a:solidFill>
            <a:srgbClr val="1A1A1A"/>
          </a:solidFill>
          <a:ln/>
        </p:spPr>
      </p:sp>
      <p:sp>
        <p:nvSpPr>
          <p:cNvPr id="12" name="Shape 9"/>
          <p:cNvSpPr/>
          <p:nvPr/>
        </p:nvSpPr>
        <p:spPr>
          <a:xfrm>
            <a:off x="8458200" y="1938528"/>
            <a:ext cx="100584" cy="100584"/>
          </a:xfrm>
          <a:prstGeom prst="ellipse">
            <a:avLst/>
          </a:prstGeom>
          <a:solidFill>
            <a:srgbClr val="2587C5"/>
          </a:solidFill>
          <a:ln/>
        </p:spPr>
      </p:sp>
      <p:sp>
        <p:nvSpPr>
          <p:cNvPr id="13" name="Text 10"/>
          <p:cNvSpPr txBox="1"/>
          <p:nvPr/>
        </p:nvSpPr>
        <p:spPr>
          <a:xfrm>
            <a:off x="8705088" y="1810512"/>
            <a:ext cx="2834640" cy="1051560"/>
          </a:xfrm>
          <a:prstGeom prst="rect">
            <a:avLst/>
          </a:prstGeom>
          <a:noFill/>
          <a:ln/>
        </p:spPr>
        <p:txBody>
          <a:bodyPr wrap="square" lIns="0" tIns="0" rIns="0" bIns="0" rtlCol="0" anchor="t"/>
          <a:lstStyle/>
          <a:p>
            <a:pPr indent="0" marL="0">
              <a:buNone/>
            </a:pPr>
            <a:r>
              <a:rPr lang="en-US" sz="1500" b="1" dirty="0">
                <a:solidFill>
                  <a:srgbClr val="2587C5"/>
                </a:solidFill>
                <a:latin typeface="Inter" pitchFamily="34" charset="0"/>
                <a:ea typeface="Inter" pitchFamily="34" charset="-122"/>
                <a:cs typeface="Inter" pitchFamily="34" charset="-120"/>
              </a:rPr>
              <a:t>Ahead of 2025 in 6 of 9 months.</a:t>
            </a:r>
            <a:endParaRPr lang="en-US" sz="1500" dirty="0"/>
          </a:p>
        </p:txBody>
      </p:sp>
      <p:sp>
        <p:nvSpPr>
          <p:cNvPr id="14" name="Shape 11"/>
          <p:cNvSpPr/>
          <p:nvPr/>
        </p:nvSpPr>
        <p:spPr>
          <a:xfrm>
            <a:off x="8458200" y="3072384"/>
            <a:ext cx="100584" cy="100584"/>
          </a:xfrm>
          <a:prstGeom prst="ellipse">
            <a:avLst/>
          </a:prstGeom>
          <a:solidFill>
            <a:srgbClr val="1A1A1A"/>
          </a:solidFill>
          <a:ln/>
        </p:spPr>
      </p:sp>
      <p:sp>
        <p:nvSpPr>
          <p:cNvPr id="15" name="Text 12"/>
          <p:cNvSpPr txBox="1"/>
          <p:nvPr/>
        </p:nvSpPr>
        <p:spPr>
          <a:xfrm>
            <a:off x="8705088" y="2944368"/>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Best month: July, up $684,859 (9.8%).</a:t>
            </a:r>
            <a:endParaRPr lang="en-US" sz="1500" dirty="0"/>
          </a:p>
        </p:txBody>
      </p:sp>
      <p:sp>
        <p:nvSpPr>
          <p:cNvPr id="16" name="Shape 13"/>
          <p:cNvSpPr/>
          <p:nvPr/>
        </p:nvSpPr>
        <p:spPr>
          <a:xfrm>
            <a:off x="8458200" y="4206240"/>
            <a:ext cx="100584" cy="100584"/>
          </a:xfrm>
          <a:prstGeom prst="ellipse">
            <a:avLst/>
          </a:prstGeom>
          <a:solidFill>
            <a:srgbClr val="1A1A1A"/>
          </a:solidFill>
          <a:ln/>
        </p:spPr>
      </p:sp>
      <p:sp>
        <p:nvSpPr>
          <p:cNvPr id="17" name="Text 14"/>
          <p:cNvSpPr txBox="1"/>
          <p:nvPr/>
        </p:nvSpPr>
        <p:spPr>
          <a:xfrm>
            <a:off x="8705088" y="4078224"/>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Behind in Jan, Feb and May.</a:t>
            </a:r>
            <a:endParaRPr lang="en-US" sz="1500" dirty="0"/>
          </a:p>
        </p:txBody>
      </p:sp>
      <p:sp>
        <p:nvSpPr>
          <p:cNvPr id="18" name="Shape 15"/>
          <p:cNvSpPr/>
          <p:nvPr/>
        </p:nvSpPr>
        <p:spPr>
          <a:xfrm>
            <a:off x="457200" y="6126480"/>
            <a:ext cx="11274552" cy="348996"/>
          </a:xfrm>
          <a:prstGeom prst="rect">
            <a:avLst/>
          </a:prstGeom>
          <a:solidFill>
            <a:srgbClr val="E6F6EE"/>
          </a:solidFill>
          <a:ln/>
        </p:spPr>
      </p:sp>
      <p:sp>
        <p:nvSpPr>
          <p:cNvPr id="19" name="Text 1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Parts gross up $1,171,181 (1.9%) year to date; ahead of 2025 in 6 of 9 months, and in every month since June.</a:t>
            </a:r>
            <a:endParaRPr lang="en-US" sz="1450" dirty="0"/>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517904"/>
          </a:xfrm>
          <a:prstGeom prst="rect">
            <a:avLst/>
          </a:prstGeom>
          <a:solidFill>
            <a:srgbClr val="FFFFFF"/>
          </a:solidFill>
          <a:ln/>
        </p:spPr>
      </p:sp>
      <p:sp>
        <p:nvSpPr>
          <p:cNvPr id="6" name="Text 4"/>
          <p:cNvSpPr txBox="1"/>
          <p:nvPr/>
        </p:nvSpPr>
        <p:spPr>
          <a:xfrm>
            <a:off x="685800" y="1316736"/>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65376"/>
            <a:ext cx="2697480" cy="603504"/>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9" name="Text 7"/>
          <p:cNvSpPr txBox="1"/>
          <p:nvPr/>
        </p:nvSpPr>
        <p:spPr>
          <a:xfrm>
            <a:off x="347472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65376"/>
            <a:ext cx="2697480" cy="603504"/>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1" name="Text 9"/>
          <p:cNvSpPr txBox="1"/>
          <p:nvPr/>
        </p:nvSpPr>
        <p:spPr>
          <a:xfrm>
            <a:off x="626364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65376"/>
            <a:ext cx="2697480" cy="603504"/>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+$1,171,181</a:t>
            </a:r>
            <a:endParaRPr lang="en-US" sz="3000" dirty="0"/>
          </a:p>
        </p:txBody>
      </p:sp>
      <p:sp>
        <p:nvSpPr>
          <p:cNvPr id="13" name="Text 11"/>
          <p:cNvSpPr txBox="1"/>
          <p:nvPr/>
        </p:nvSpPr>
        <p:spPr>
          <a:xfrm>
            <a:off x="905256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65376"/>
            <a:ext cx="2697480" cy="603504"/>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2816352"/>
          <a:ext cx="11274552" cy="914400"/>
        </p:xfrm>
        <a:graphic>
          <a:graphicData uri="http://schemas.openxmlformats.org/drawingml/2006/table">
            <a:tbl>
              <a:tblPr/>
              <a:tblGrid>
                <a:gridCol w="3118104"/>
                <a:gridCol w="2039112"/>
                <a:gridCol w="2039112"/>
                <a:gridCol w="2039112"/>
                <a:gridCol w="2039112"/>
              </a:tblGrid>
              <a:tr h="317297">
                <a:tc>
                  <a:txBody>
                    <a:bodyPr/>
                    <a:lstStyle/>
                    <a:p>
                      <a:pPr algn="l" indent="0" marL="0">
                        <a:buNone/>
                      </a:pPr>
                      <a:r>
                        <a:rPr lang="en-US" sz="1400" b="1" dirty="0">
                          <a:solidFill>
                            <a:srgbClr val="FFFFFF"/>
                          </a:solidFill>
                          <a:latin typeface="Inter" pitchFamily="34" charset="0"/>
                          <a:ea typeface="Inter" pitchFamily="34" charset="-122"/>
                          <a:cs typeface="Inter" pitchFamily="34" charset="-120"/>
                        </a:rPr>
                        <a:t>MONTH</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2025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2026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VARIANCE</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VAR %</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JAN</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$7.05M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$6.41M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−$640,110</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−9.1%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FEB</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$6.47M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$6.08M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−$388,758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−6.0%</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MAR</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$6.60M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$6.77M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+$169,805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+2.6%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APR</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$6.84M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$7.14M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+$300,539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+4.4%</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MAY</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$6.67M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$6.41M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−$253,835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−3.8%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JUN</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$6.81M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$7.07M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+$259,611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+3.8%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JUL</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$6.97M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$7.66M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+$684,859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AUG</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$6.81M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$7.21M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+$398,421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+5.9%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SEP</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$6.54M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$7.18M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+$640,651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16" name="Shape 13"/>
          <p:cNvSpPr/>
          <p:nvPr/>
        </p:nvSpPr>
        <p:spPr>
          <a:xfrm>
            <a:off x="457200" y="6126480"/>
            <a:ext cx="11274552" cy="371856"/>
          </a:xfrm>
          <a:prstGeom prst="rect">
            <a:avLst/>
          </a:prstGeom>
          <a:solidFill>
            <a:srgbClr val="E6F6EE"/>
          </a:solidFill>
          <a:ln/>
        </p:spPr>
      </p:sp>
      <p:sp>
        <p:nvSpPr>
          <p:cNvPr id="17" name="Text 1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B</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188720"/>
          </a:xfrm>
          <a:prstGeom prst="rect">
            <a:avLst/>
          </a:prstGeom>
          <a:solidFill>
            <a:srgbClr val="FFFFFF"/>
          </a:solidFill>
          <a:ln/>
        </p:spPr>
      </p:sp>
      <p:sp>
        <p:nvSpPr>
          <p:cNvPr id="6" name="Text 4"/>
          <p:cNvSpPr txBox="1"/>
          <p:nvPr/>
        </p:nvSpPr>
        <p:spPr>
          <a:xfrm>
            <a:off x="685800" y="1298448"/>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$181.33M</a:t>
            </a:r>
            <a:endParaRPr lang="en-US" sz="2800" dirty="0"/>
          </a:p>
        </p:txBody>
      </p:sp>
      <p:sp>
        <p:nvSpPr>
          <p:cNvPr id="9" name="Text 7"/>
          <p:cNvSpPr txBox="1"/>
          <p:nvPr/>
        </p:nvSpPr>
        <p:spPr>
          <a:xfrm>
            <a:off x="347472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$188.80M</a:t>
            </a:r>
            <a:endParaRPr lang="en-US" sz="2800" dirty="0"/>
          </a:p>
        </p:txBody>
      </p:sp>
      <p:sp>
        <p:nvSpPr>
          <p:cNvPr id="11" name="Text 9"/>
          <p:cNvSpPr txBox="1"/>
          <p:nvPr/>
        </p:nvSpPr>
        <p:spPr>
          <a:xfrm>
            <a:off x="626364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+$7,468,567</a:t>
            </a:r>
            <a:endParaRPr lang="en-US" sz="2800" dirty="0"/>
          </a:p>
        </p:txBody>
      </p:sp>
      <p:sp>
        <p:nvSpPr>
          <p:cNvPr id="13" name="Text 11"/>
          <p:cNvSpPr txBox="1"/>
          <p:nvPr/>
        </p:nvSpPr>
        <p:spPr>
          <a:xfrm>
            <a:off x="905256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+4.1%</a:t>
            </a:r>
            <a:endParaRPr lang="en-US" sz="2800" dirty="0"/>
          </a:p>
        </p:txBody>
      </p:sp>
      <p:sp>
        <p:nvSpPr>
          <p:cNvPr id="15" name="Shape 13"/>
          <p:cNvSpPr/>
          <p:nvPr/>
        </p:nvSpPr>
        <p:spPr>
          <a:xfrm>
            <a:off x="457200" y="2523744"/>
            <a:ext cx="11274552" cy="3465576"/>
          </a:xfrm>
          <a:prstGeom prst="rect">
            <a:avLst/>
          </a:prstGeom>
          <a:solidFill>
            <a:srgbClr val="FFFFFF"/>
          </a:solidFill>
          <a:ln/>
        </p:spPr>
      </p:sp>
      <p:sp>
        <p:nvSpPr>
          <p:cNvPr id="16" name="Text 14"/>
          <p:cNvSpPr txBox="1"/>
          <p:nvPr/>
        </p:nvSpPr>
        <p:spPr>
          <a:xfrm>
            <a:off x="685800" y="2660904"/>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total by month ($M)</a:t>
            </a:r>
            <a:endParaRPr lang="en-US" sz="1500" dirty="0"/>
          </a:p>
        </p:txBody>
      </p:sp>
      <p:sp>
        <p:nvSpPr>
          <p:cNvPr id="17" name="Shape 15"/>
          <p:cNvSpPr/>
          <p:nvPr/>
        </p:nvSpPr>
        <p:spPr>
          <a:xfrm>
            <a:off x="685800" y="3008376"/>
            <a:ext cx="10817352" cy="10973"/>
          </a:xfrm>
          <a:prstGeom prst="rect">
            <a:avLst/>
          </a:prstGeom>
          <a:solidFill>
            <a:srgbClr val="1A1A1A"/>
          </a:solidFill>
          <a:ln/>
        </p:spPr>
      </p:sp>
      <p:graphicFrame>
        <p:nvGraphicFramePr>
          <p:cNvPr id="18" name="Chart 0" descr=""/>
          <p:cNvGraphicFramePr/>
          <p:nvPr/>
        </p:nvGraphicFramePr>
        <p:xfrm>
          <a:off x="621792" y="3090672"/>
          <a:ext cx="10945368" cy="2807208"/>
        </p:xfrm>
        <a:graphic>
          <a:graphicData uri="http://schemas.openxmlformats.org/drawingml/2006/chart">
            <c:chart xmlns:c="http://schemas.openxmlformats.org/drawingml/2006/chart" r:id="rId2"/>
          </a:graphicData>
        </a:graphic>
      </p:graphicFrame>
      <p:sp>
        <p:nvSpPr>
          <p:cNvPr id="19" name="Shape 16"/>
          <p:cNvSpPr/>
          <p:nvPr/>
        </p:nvSpPr>
        <p:spPr>
          <a:xfrm>
            <a:off x="457200" y="6126480"/>
            <a:ext cx="11274552" cy="341376"/>
          </a:xfrm>
          <a:prstGeom prst="rect">
            <a:avLst/>
          </a:prstGeom>
          <a:solidFill>
            <a:srgbClr val="E6F6EE"/>
          </a:solidFill>
          <a:ln/>
        </p:spPr>
      </p:sp>
      <p:sp>
        <p:nvSpPr>
          <p:cNvPr id="20" name="Text 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Fixed ops gross up $7,468,567 (4.1%) year to date; ahead of 2025 in 6 of 9 months, and in every month since June.</a:t>
            </a:r>
            <a:endParaRPr lang="en-US" sz="1400" dirty="0"/>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B</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188720"/>
          </a:xfrm>
          <a:prstGeom prst="rect">
            <a:avLst/>
          </a:prstGeom>
          <a:solidFill>
            <a:srgbClr val="FFFFFF"/>
          </a:solidFill>
          <a:ln/>
        </p:spPr>
      </p:sp>
      <p:sp>
        <p:nvSpPr>
          <p:cNvPr id="6" name="Text 4"/>
          <p:cNvSpPr txBox="1"/>
          <p:nvPr/>
        </p:nvSpPr>
        <p:spPr>
          <a:xfrm>
            <a:off x="685800" y="1298448"/>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$120.57M</a:t>
            </a:r>
            <a:endParaRPr lang="en-US" sz="2800" dirty="0"/>
          </a:p>
        </p:txBody>
      </p:sp>
      <p:sp>
        <p:nvSpPr>
          <p:cNvPr id="9" name="Text 7"/>
          <p:cNvSpPr txBox="1"/>
          <p:nvPr/>
        </p:nvSpPr>
        <p:spPr>
          <a:xfrm>
            <a:off x="347472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$126.87M</a:t>
            </a:r>
            <a:endParaRPr lang="en-US" sz="2800" dirty="0"/>
          </a:p>
        </p:txBody>
      </p:sp>
      <p:sp>
        <p:nvSpPr>
          <p:cNvPr id="11" name="Text 9"/>
          <p:cNvSpPr txBox="1"/>
          <p:nvPr/>
        </p:nvSpPr>
        <p:spPr>
          <a:xfrm>
            <a:off x="626364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+$6,297,386</a:t>
            </a:r>
            <a:endParaRPr lang="en-US" sz="2800" dirty="0"/>
          </a:p>
        </p:txBody>
      </p:sp>
      <p:sp>
        <p:nvSpPr>
          <p:cNvPr id="13" name="Text 11"/>
          <p:cNvSpPr txBox="1"/>
          <p:nvPr/>
        </p:nvSpPr>
        <p:spPr>
          <a:xfrm>
            <a:off x="905256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+5.2%</a:t>
            </a:r>
            <a:endParaRPr lang="en-US" sz="2800" dirty="0"/>
          </a:p>
        </p:txBody>
      </p:sp>
      <p:sp>
        <p:nvSpPr>
          <p:cNvPr id="15" name="Shape 13"/>
          <p:cNvSpPr/>
          <p:nvPr/>
        </p:nvSpPr>
        <p:spPr>
          <a:xfrm>
            <a:off x="457200" y="2523744"/>
            <a:ext cx="11274552" cy="3465576"/>
          </a:xfrm>
          <a:prstGeom prst="rect">
            <a:avLst/>
          </a:prstGeom>
          <a:solidFill>
            <a:srgbClr val="FFFFFF"/>
          </a:solidFill>
          <a:ln/>
        </p:spPr>
      </p:sp>
      <p:sp>
        <p:nvSpPr>
          <p:cNvPr id="16" name="Text 14"/>
          <p:cNvSpPr txBox="1"/>
          <p:nvPr/>
        </p:nvSpPr>
        <p:spPr>
          <a:xfrm>
            <a:off x="685800" y="2660904"/>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total by month ($M)</a:t>
            </a:r>
            <a:endParaRPr lang="en-US" sz="1500" dirty="0"/>
          </a:p>
        </p:txBody>
      </p:sp>
      <p:sp>
        <p:nvSpPr>
          <p:cNvPr id="17" name="Shape 15"/>
          <p:cNvSpPr/>
          <p:nvPr/>
        </p:nvSpPr>
        <p:spPr>
          <a:xfrm>
            <a:off x="685800" y="3008376"/>
            <a:ext cx="10817352" cy="10973"/>
          </a:xfrm>
          <a:prstGeom prst="rect">
            <a:avLst/>
          </a:prstGeom>
          <a:solidFill>
            <a:srgbClr val="1A1A1A"/>
          </a:solidFill>
          <a:ln/>
        </p:spPr>
      </p:sp>
      <p:graphicFrame>
        <p:nvGraphicFramePr>
          <p:cNvPr id="18" name="Chart 0" descr=""/>
          <p:cNvGraphicFramePr/>
          <p:nvPr/>
        </p:nvGraphicFramePr>
        <p:xfrm>
          <a:off x="621792" y="3090672"/>
          <a:ext cx="10945368" cy="2807208"/>
        </p:xfrm>
        <a:graphic>
          <a:graphicData uri="http://schemas.openxmlformats.org/drawingml/2006/chart">
            <c:chart xmlns:c="http://schemas.openxmlformats.org/drawingml/2006/chart" r:id="rId2"/>
          </a:graphicData>
        </a:graphic>
      </p:graphicFrame>
      <p:sp>
        <p:nvSpPr>
          <p:cNvPr id="19" name="Shape 16"/>
          <p:cNvSpPr/>
          <p:nvPr/>
        </p:nvSpPr>
        <p:spPr>
          <a:xfrm>
            <a:off x="457200" y="6126480"/>
            <a:ext cx="11274552" cy="371856"/>
          </a:xfrm>
          <a:prstGeom prst="rect">
            <a:avLst/>
          </a:prstGeom>
          <a:solidFill>
            <a:srgbClr val="E6F6EE"/>
          </a:solidFill>
          <a:ln/>
        </p:spPr>
      </p:sp>
      <p:sp>
        <p:nvSpPr>
          <p:cNvPr id="20" name="Text 1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Service gross up $6,297,386 (5.2%) year to date; ahead of 2025 in every month.</a:t>
            </a:r>
            <a:endParaRPr lang="en-US" sz="1600" dirty="0"/>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B</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188720"/>
          </a:xfrm>
          <a:prstGeom prst="rect">
            <a:avLst/>
          </a:prstGeom>
          <a:solidFill>
            <a:srgbClr val="FFFFFF"/>
          </a:solidFill>
          <a:ln/>
        </p:spPr>
      </p:sp>
      <p:sp>
        <p:nvSpPr>
          <p:cNvPr id="6" name="Text 4"/>
          <p:cNvSpPr txBox="1"/>
          <p:nvPr/>
        </p:nvSpPr>
        <p:spPr>
          <a:xfrm>
            <a:off x="685800" y="1298448"/>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$60.76M</a:t>
            </a:r>
            <a:endParaRPr lang="en-US" sz="2800" dirty="0"/>
          </a:p>
        </p:txBody>
      </p:sp>
      <p:sp>
        <p:nvSpPr>
          <p:cNvPr id="9" name="Text 7"/>
          <p:cNvSpPr txBox="1"/>
          <p:nvPr/>
        </p:nvSpPr>
        <p:spPr>
          <a:xfrm>
            <a:off x="347472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$61.93M</a:t>
            </a:r>
            <a:endParaRPr lang="en-US" sz="2800" dirty="0"/>
          </a:p>
        </p:txBody>
      </p:sp>
      <p:sp>
        <p:nvSpPr>
          <p:cNvPr id="11" name="Text 9"/>
          <p:cNvSpPr txBox="1"/>
          <p:nvPr/>
        </p:nvSpPr>
        <p:spPr>
          <a:xfrm>
            <a:off x="626364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+$1,171,181</a:t>
            </a:r>
            <a:endParaRPr lang="en-US" sz="2800" dirty="0"/>
          </a:p>
        </p:txBody>
      </p:sp>
      <p:sp>
        <p:nvSpPr>
          <p:cNvPr id="13" name="Text 11"/>
          <p:cNvSpPr txBox="1"/>
          <p:nvPr/>
        </p:nvSpPr>
        <p:spPr>
          <a:xfrm>
            <a:off x="905256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+1.9%</a:t>
            </a:r>
            <a:endParaRPr lang="en-US" sz="2800" dirty="0"/>
          </a:p>
        </p:txBody>
      </p:sp>
      <p:sp>
        <p:nvSpPr>
          <p:cNvPr id="15" name="Shape 13"/>
          <p:cNvSpPr/>
          <p:nvPr/>
        </p:nvSpPr>
        <p:spPr>
          <a:xfrm>
            <a:off x="457200" y="2523744"/>
            <a:ext cx="11274552" cy="3465576"/>
          </a:xfrm>
          <a:prstGeom prst="rect">
            <a:avLst/>
          </a:prstGeom>
          <a:solidFill>
            <a:srgbClr val="FFFFFF"/>
          </a:solidFill>
          <a:ln/>
        </p:spPr>
      </p:sp>
      <p:sp>
        <p:nvSpPr>
          <p:cNvPr id="16" name="Text 14"/>
          <p:cNvSpPr txBox="1"/>
          <p:nvPr/>
        </p:nvSpPr>
        <p:spPr>
          <a:xfrm>
            <a:off x="685800" y="2660904"/>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total by month ($M)</a:t>
            </a:r>
            <a:endParaRPr lang="en-US" sz="1500" dirty="0"/>
          </a:p>
        </p:txBody>
      </p:sp>
      <p:sp>
        <p:nvSpPr>
          <p:cNvPr id="17" name="Shape 15"/>
          <p:cNvSpPr/>
          <p:nvPr/>
        </p:nvSpPr>
        <p:spPr>
          <a:xfrm>
            <a:off x="685800" y="3008376"/>
            <a:ext cx="10817352" cy="10973"/>
          </a:xfrm>
          <a:prstGeom prst="rect">
            <a:avLst/>
          </a:prstGeom>
          <a:solidFill>
            <a:srgbClr val="1A1A1A"/>
          </a:solidFill>
          <a:ln/>
        </p:spPr>
      </p:sp>
      <p:graphicFrame>
        <p:nvGraphicFramePr>
          <p:cNvPr id="18" name="Chart 0" descr=""/>
          <p:cNvGraphicFramePr/>
          <p:nvPr/>
        </p:nvGraphicFramePr>
        <p:xfrm>
          <a:off x="621792" y="3090672"/>
          <a:ext cx="10945368" cy="2807208"/>
        </p:xfrm>
        <a:graphic>
          <a:graphicData uri="http://schemas.openxmlformats.org/drawingml/2006/chart">
            <c:chart xmlns:c="http://schemas.openxmlformats.org/drawingml/2006/chart" r:id="rId2"/>
          </a:graphicData>
        </a:graphic>
      </p:graphicFrame>
      <p:sp>
        <p:nvSpPr>
          <p:cNvPr id="19" name="Shape 16"/>
          <p:cNvSpPr/>
          <p:nvPr/>
        </p:nvSpPr>
        <p:spPr>
          <a:xfrm>
            <a:off x="457200" y="6126480"/>
            <a:ext cx="11274552" cy="348996"/>
          </a:xfrm>
          <a:prstGeom prst="rect">
            <a:avLst/>
          </a:prstGeom>
          <a:solidFill>
            <a:srgbClr val="E6F6EE"/>
          </a:solidFill>
          <a:ln/>
        </p:spPr>
      </p:sp>
      <p:sp>
        <p:nvSpPr>
          <p:cNvPr id="20" name="Text 17"/>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Parts gross up $1,171,181 (1.9%) year to date; ahead of 2025 in 6 of 9 months, and in every month since June.</a:t>
            </a:r>
            <a:endParaRPr lang="en-US" sz="1450" dirty="0"/>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B + Q4</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188720"/>
          </a:xfrm>
          <a:prstGeom prst="rect">
            <a:avLst/>
          </a:prstGeom>
          <a:solidFill>
            <a:srgbClr val="FFFFFF"/>
          </a:solidFill>
          <a:ln/>
        </p:spPr>
      </p:sp>
      <p:sp>
        <p:nvSpPr>
          <p:cNvPr id="6" name="Text 4"/>
          <p:cNvSpPr txBox="1"/>
          <p:nvPr/>
        </p:nvSpPr>
        <p:spPr>
          <a:xfrm>
            <a:off x="685800" y="1298448"/>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$181.33M</a:t>
            </a:r>
            <a:endParaRPr lang="en-US" sz="2800" dirty="0"/>
          </a:p>
        </p:txBody>
      </p:sp>
      <p:sp>
        <p:nvSpPr>
          <p:cNvPr id="9" name="Text 7"/>
          <p:cNvSpPr txBox="1"/>
          <p:nvPr/>
        </p:nvSpPr>
        <p:spPr>
          <a:xfrm>
            <a:off x="347472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$188.80M</a:t>
            </a:r>
            <a:endParaRPr lang="en-US" sz="2800" dirty="0"/>
          </a:p>
        </p:txBody>
      </p:sp>
      <p:sp>
        <p:nvSpPr>
          <p:cNvPr id="11" name="Text 9"/>
          <p:cNvSpPr txBox="1"/>
          <p:nvPr/>
        </p:nvSpPr>
        <p:spPr>
          <a:xfrm>
            <a:off x="626364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+$7,468,567</a:t>
            </a:r>
            <a:endParaRPr lang="en-US" sz="2800" dirty="0"/>
          </a:p>
        </p:txBody>
      </p:sp>
      <p:sp>
        <p:nvSpPr>
          <p:cNvPr id="13" name="Text 11"/>
          <p:cNvSpPr txBox="1"/>
          <p:nvPr/>
        </p:nvSpPr>
        <p:spPr>
          <a:xfrm>
            <a:off x="905256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+4.1%</a:t>
            </a:r>
            <a:endParaRPr lang="en-US" sz="2800" dirty="0"/>
          </a:p>
        </p:txBody>
      </p:sp>
      <p:sp>
        <p:nvSpPr>
          <p:cNvPr id="15" name="Shape 13"/>
          <p:cNvSpPr/>
          <p:nvPr/>
        </p:nvSpPr>
        <p:spPr>
          <a:xfrm>
            <a:off x="457200" y="2523744"/>
            <a:ext cx="11274552" cy="3465576"/>
          </a:xfrm>
          <a:prstGeom prst="rect">
            <a:avLst/>
          </a:prstGeom>
          <a:solidFill>
            <a:srgbClr val="FFFFFF"/>
          </a:solidFill>
          <a:ln/>
        </p:spPr>
      </p:sp>
      <p:sp>
        <p:nvSpPr>
          <p:cNvPr id="16" name="Text 14"/>
          <p:cNvSpPr txBox="1"/>
          <p:nvPr/>
        </p:nvSpPr>
        <p:spPr>
          <a:xfrm>
            <a:off x="685800" y="2660904"/>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total by month ($M); 2025 shown through December</a:t>
            </a:r>
            <a:endParaRPr lang="en-US" sz="1500" dirty="0"/>
          </a:p>
        </p:txBody>
      </p:sp>
      <p:sp>
        <p:nvSpPr>
          <p:cNvPr id="17" name="Shape 15"/>
          <p:cNvSpPr/>
          <p:nvPr/>
        </p:nvSpPr>
        <p:spPr>
          <a:xfrm>
            <a:off x="685800" y="3008376"/>
            <a:ext cx="10817352" cy="10973"/>
          </a:xfrm>
          <a:prstGeom prst="rect">
            <a:avLst/>
          </a:prstGeom>
          <a:solidFill>
            <a:srgbClr val="1A1A1A"/>
          </a:solidFill>
          <a:ln/>
        </p:spPr>
      </p:sp>
      <p:graphicFrame>
        <p:nvGraphicFramePr>
          <p:cNvPr id="18" name="Chart 0" descr=""/>
          <p:cNvGraphicFramePr/>
          <p:nvPr/>
        </p:nvGraphicFramePr>
        <p:xfrm>
          <a:off x="621792" y="3090672"/>
          <a:ext cx="10945368" cy="2807208"/>
        </p:xfrm>
        <a:graphic>
          <a:graphicData uri="http://schemas.openxmlformats.org/drawingml/2006/chart">
            <c:chart xmlns:c="http://schemas.openxmlformats.org/drawingml/2006/chart" r:id="rId2"/>
          </a:graphicData>
        </a:graphic>
      </p:graphicFrame>
      <p:sp>
        <p:nvSpPr>
          <p:cNvPr id="19" name="Shape 16"/>
          <p:cNvSpPr/>
          <p:nvPr/>
        </p:nvSpPr>
        <p:spPr>
          <a:xfrm>
            <a:off x="457200" y="6126480"/>
            <a:ext cx="11274552" cy="341376"/>
          </a:xfrm>
          <a:prstGeom prst="rect">
            <a:avLst/>
          </a:prstGeom>
          <a:solidFill>
            <a:srgbClr val="E6F6EE"/>
          </a:solidFill>
          <a:ln/>
        </p:spPr>
      </p:sp>
      <p:sp>
        <p:nvSpPr>
          <p:cNvPr id="20" name="Text 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Fixed ops gross up $7,468,567 (4.1%) year to date; ahead of 2025 in 6 of 9 months, and in every month since June.</a:t>
            </a:r>
            <a:endParaRPr lang="en-US" sz="1400" dirty="0"/>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A RECORD YEAR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7589520" cy="4782312"/>
          </a:xfrm>
          <a:prstGeom prst="rect">
            <a:avLst/>
          </a:prstGeom>
          <a:solidFill>
            <a:srgbClr val="FFFFFF"/>
          </a:solidFill>
          <a:ln/>
        </p:spPr>
      </p:sp>
      <p:sp>
        <p:nvSpPr>
          <p:cNvPr id="6" name="Text 4"/>
          <p:cNvSpPr txBox="1"/>
          <p:nvPr/>
        </p:nvSpPr>
        <p:spPr>
          <a:xfrm>
            <a:off x="685800" y="1344168"/>
            <a:ext cx="713232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fixed gross, January–September, by year</a:t>
            </a:r>
            <a:endParaRPr lang="en-US" sz="1500" dirty="0"/>
          </a:p>
        </p:txBody>
      </p:sp>
      <p:sp>
        <p:nvSpPr>
          <p:cNvPr id="7" name="Shape 5"/>
          <p:cNvSpPr/>
          <p:nvPr/>
        </p:nvSpPr>
        <p:spPr>
          <a:xfrm>
            <a:off x="685800" y="1691640"/>
            <a:ext cx="7132320" cy="10973"/>
          </a:xfrm>
          <a:prstGeom prst="rect">
            <a:avLst/>
          </a:prstGeom>
          <a:solidFill>
            <a:srgbClr val="1A1A1A"/>
          </a:solidFill>
          <a:ln/>
        </p:spPr>
      </p:sp>
      <p:graphicFrame>
        <p:nvGraphicFramePr>
          <p:cNvPr id="8" name="Chart 0" descr=""/>
          <p:cNvGraphicFramePr/>
          <p:nvPr/>
        </p:nvGraphicFramePr>
        <p:xfrm>
          <a:off x="621792" y="1810512"/>
          <a:ext cx="7269480" cy="4050792"/>
        </p:xfrm>
        <a:graphic>
          <a:graphicData uri="http://schemas.openxmlformats.org/drawingml/2006/chart">
            <c:chart xmlns:c="http://schemas.openxmlformats.org/drawingml/2006/chart" r:id="rId2"/>
          </a:graphicData>
        </a:graphic>
      </p:graphicFrame>
      <p:sp>
        <p:nvSpPr>
          <p:cNvPr id="9" name="Shape 6"/>
          <p:cNvSpPr/>
          <p:nvPr/>
        </p:nvSpPr>
        <p:spPr>
          <a:xfrm>
            <a:off x="8229600" y="1207008"/>
            <a:ext cx="3502152" cy="4782312"/>
          </a:xfrm>
          <a:prstGeom prst="rect">
            <a:avLst/>
          </a:prstGeom>
          <a:solidFill>
            <a:srgbClr val="FFFFFF"/>
          </a:solidFill>
          <a:ln/>
        </p:spPr>
      </p:sp>
      <p:sp>
        <p:nvSpPr>
          <p:cNvPr id="10" name="Text 7"/>
          <p:cNvSpPr txBox="1"/>
          <p:nvPr/>
        </p:nvSpPr>
        <p:spPr>
          <a:xfrm>
            <a:off x="8458200" y="1344168"/>
            <a:ext cx="30449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it says</a:t>
            </a:r>
            <a:endParaRPr lang="en-US" sz="1500" dirty="0"/>
          </a:p>
        </p:txBody>
      </p:sp>
      <p:sp>
        <p:nvSpPr>
          <p:cNvPr id="11" name="Shape 8"/>
          <p:cNvSpPr/>
          <p:nvPr/>
        </p:nvSpPr>
        <p:spPr>
          <a:xfrm>
            <a:off x="8458200" y="1691640"/>
            <a:ext cx="3044952" cy="10973"/>
          </a:xfrm>
          <a:prstGeom prst="rect">
            <a:avLst/>
          </a:prstGeom>
          <a:solidFill>
            <a:srgbClr val="1A1A1A"/>
          </a:solidFill>
          <a:ln/>
        </p:spPr>
      </p:sp>
      <p:sp>
        <p:nvSpPr>
          <p:cNvPr id="12" name="Shape 9"/>
          <p:cNvSpPr/>
          <p:nvPr/>
        </p:nvSpPr>
        <p:spPr>
          <a:xfrm>
            <a:off x="8458200" y="1938528"/>
            <a:ext cx="100584" cy="100584"/>
          </a:xfrm>
          <a:prstGeom prst="ellipse">
            <a:avLst/>
          </a:prstGeom>
          <a:solidFill>
            <a:srgbClr val="2587C5"/>
          </a:solidFill>
          <a:ln/>
        </p:spPr>
      </p:sp>
      <p:sp>
        <p:nvSpPr>
          <p:cNvPr id="13" name="Text 10"/>
          <p:cNvSpPr txBox="1"/>
          <p:nvPr/>
        </p:nvSpPr>
        <p:spPr>
          <a:xfrm>
            <a:off x="8705088" y="1810512"/>
            <a:ext cx="2834640" cy="1051560"/>
          </a:xfrm>
          <a:prstGeom prst="rect">
            <a:avLst/>
          </a:prstGeom>
          <a:noFill/>
          <a:ln/>
        </p:spPr>
        <p:txBody>
          <a:bodyPr wrap="square" lIns="0" tIns="0" rIns="0" bIns="0" rtlCol="0" anchor="t"/>
          <a:lstStyle/>
          <a:p>
            <a:pPr indent="0" marL="0">
              <a:buNone/>
            </a:pPr>
            <a:r>
              <a:rPr lang="en-US" sz="1500" b="1" dirty="0">
                <a:solidFill>
                  <a:srgbClr val="2587C5"/>
                </a:solidFill>
                <a:latin typeface="Inter" pitchFamily="34" charset="0"/>
                <a:ea typeface="Inter" pitchFamily="34" charset="-122"/>
                <a:cs typeface="Inter" pitchFamily="34" charset="-120"/>
              </a:rPr>
              <a:t>Best month ever: July 2026, $22.73M.</a:t>
            </a:r>
            <a:endParaRPr lang="en-US" sz="1500" dirty="0"/>
          </a:p>
        </p:txBody>
      </p:sp>
      <p:sp>
        <p:nvSpPr>
          <p:cNvPr id="14" name="Shape 11"/>
          <p:cNvSpPr/>
          <p:nvPr/>
        </p:nvSpPr>
        <p:spPr>
          <a:xfrm>
            <a:off x="8458200" y="3072384"/>
            <a:ext cx="100584" cy="100584"/>
          </a:xfrm>
          <a:prstGeom prst="ellipse">
            <a:avLst/>
          </a:prstGeom>
          <a:solidFill>
            <a:srgbClr val="1A1A1A"/>
          </a:solidFill>
          <a:ln/>
        </p:spPr>
      </p:sp>
      <p:sp>
        <p:nvSpPr>
          <p:cNvPr id="15" name="Text 12"/>
          <p:cNvSpPr txBox="1"/>
          <p:nvPr/>
        </p:nvSpPr>
        <p:spPr>
          <a:xfrm>
            <a:off x="8705088" y="2944368"/>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6 of the group's 7 best months came in 2026.</a:t>
            </a:r>
            <a:endParaRPr lang="en-US" sz="1500" dirty="0"/>
          </a:p>
        </p:txBody>
      </p:sp>
      <p:sp>
        <p:nvSpPr>
          <p:cNvPr id="16" name="Shape 13"/>
          <p:cNvSpPr/>
          <p:nvPr/>
        </p:nvSpPr>
        <p:spPr>
          <a:xfrm>
            <a:off x="8458200" y="4206240"/>
            <a:ext cx="100584" cy="100584"/>
          </a:xfrm>
          <a:prstGeom prst="ellipse">
            <a:avLst/>
          </a:prstGeom>
          <a:solidFill>
            <a:srgbClr val="1A1A1A"/>
          </a:solidFill>
          <a:ln/>
        </p:spPr>
      </p:sp>
      <p:sp>
        <p:nvSpPr>
          <p:cNvPr id="17" name="Text 14"/>
          <p:cNvSpPr txBox="1"/>
          <p:nvPr/>
        </p:nvSpPr>
        <p:spPr>
          <a:xfrm>
            <a:off x="8705088" y="4078224"/>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25 of 33 stores had their best January–September ever.</a:t>
            </a:r>
            <a:endParaRPr lang="en-US" sz="1500" dirty="0"/>
          </a:p>
        </p:txBody>
      </p:sp>
      <p:sp>
        <p:nvSpPr>
          <p:cNvPr id="18" name="Shape 15"/>
          <p:cNvSpPr/>
          <p:nvPr/>
        </p:nvSpPr>
        <p:spPr>
          <a:xfrm>
            <a:off x="457200" y="6126480"/>
            <a:ext cx="11274552" cy="371856"/>
          </a:xfrm>
          <a:prstGeom prst="rect">
            <a:avLst/>
          </a:prstGeom>
          <a:solidFill>
            <a:srgbClr val="E6F6EE"/>
          </a:solidFill>
          <a:ln/>
        </p:spPr>
      </p:sp>
      <p:sp>
        <p:nvSpPr>
          <p:cNvPr id="19" name="Text 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January–September fixed gross has grown every year since 2021, to $188.95M in 2026.</a:t>
            </a:r>
            <a:endParaRPr lang="en-US" sz="1600" dirty="0"/>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RECORD BOARD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2642616"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7" name="Text 5"/>
          <p:cNvSpPr txBox="1"/>
          <p:nvPr/>
        </p:nvSpPr>
        <p:spPr>
          <a:xfrm>
            <a:off x="3227832"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8" name="Text 6"/>
          <p:cNvSpPr txBox="1"/>
          <p:nvPr/>
        </p:nvSpPr>
        <p:spPr>
          <a:xfrm>
            <a:off x="3813048"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9" name="Text 7"/>
          <p:cNvSpPr txBox="1"/>
          <p:nvPr/>
        </p:nvSpPr>
        <p:spPr>
          <a:xfrm>
            <a:off x="4398264"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10" name="Text 8"/>
          <p:cNvSpPr txBox="1"/>
          <p:nvPr/>
        </p:nvSpPr>
        <p:spPr>
          <a:xfrm>
            <a:off x="523951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VS BEST</a:t>
            </a:r>
            <a:endParaRPr lang="en-US" sz="1400" dirty="0"/>
          </a:p>
        </p:txBody>
      </p:sp>
      <p:sp>
        <p:nvSpPr>
          <p:cNvPr id="11" name="Text 9"/>
          <p:cNvSpPr txBox="1"/>
          <p:nvPr/>
        </p:nvSpPr>
        <p:spPr>
          <a:xfrm>
            <a:off x="8193024"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2" name="Text 10"/>
          <p:cNvSpPr txBox="1"/>
          <p:nvPr/>
        </p:nvSpPr>
        <p:spPr>
          <a:xfrm>
            <a:off x="8778240"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13" name="Text 11"/>
          <p:cNvSpPr txBox="1"/>
          <p:nvPr/>
        </p:nvSpPr>
        <p:spPr>
          <a:xfrm>
            <a:off x="9363456"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14" name="Text 12"/>
          <p:cNvSpPr txBox="1"/>
          <p:nvPr/>
        </p:nvSpPr>
        <p:spPr>
          <a:xfrm>
            <a:off x="994867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15" name="Text 13"/>
          <p:cNvSpPr txBox="1"/>
          <p:nvPr/>
        </p:nvSpPr>
        <p:spPr>
          <a:xfrm>
            <a:off x="1078992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VS BEST</a:t>
            </a:r>
            <a:endParaRPr lang="en-US" sz="1400" dirty="0"/>
          </a:p>
        </p:txBody>
      </p:sp>
      <p:sp>
        <p:nvSpPr>
          <p:cNvPr id="16" name="Text 14"/>
          <p:cNvSpPr txBox="1"/>
          <p:nvPr/>
        </p:nvSpPr>
        <p:spPr>
          <a:xfrm>
            <a:off x="658368" y="170078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7" name="Shape 15"/>
          <p:cNvSpPr/>
          <p:nvPr/>
        </p:nvSpPr>
        <p:spPr>
          <a:xfrm>
            <a:off x="2857500" y="1785542"/>
            <a:ext cx="155448" cy="155448"/>
          </a:xfrm>
          <a:prstGeom prst="ellipse">
            <a:avLst/>
          </a:prstGeom>
          <a:solidFill>
            <a:srgbClr val="12A566"/>
          </a:solidFill>
          <a:ln w="12700">
            <a:solidFill>
              <a:srgbClr val="12A566"/>
            </a:solidFill>
            <a:prstDash val="solid"/>
          </a:ln>
        </p:spPr>
      </p:sp>
      <p:sp>
        <p:nvSpPr>
          <p:cNvPr id="18" name="Shape 16"/>
          <p:cNvSpPr/>
          <p:nvPr/>
        </p:nvSpPr>
        <p:spPr>
          <a:xfrm>
            <a:off x="3442716" y="1785542"/>
            <a:ext cx="155448" cy="155448"/>
          </a:xfrm>
          <a:prstGeom prst="ellipse">
            <a:avLst/>
          </a:prstGeom>
          <a:solidFill>
            <a:srgbClr val="12A566"/>
          </a:solidFill>
          <a:ln w="12700">
            <a:solidFill>
              <a:srgbClr val="12A566"/>
            </a:solidFill>
            <a:prstDash val="solid"/>
          </a:ln>
        </p:spPr>
      </p:sp>
      <p:sp>
        <p:nvSpPr>
          <p:cNvPr id="19" name="Shape 17"/>
          <p:cNvSpPr/>
          <p:nvPr/>
        </p:nvSpPr>
        <p:spPr>
          <a:xfrm>
            <a:off x="4027932" y="1785542"/>
            <a:ext cx="155448" cy="155448"/>
          </a:xfrm>
          <a:prstGeom prst="ellipse">
            <a:avLst/>
          </a:prstGeom>
          <a:solidFill>
            <a:srgbClr val="12A566"/>
          </a:solidFill>
          <a:ln w="12700">
            <a:solidFill>
              <a:srgbClr val="12A566"/>
            </a:solidFill>
            <a:prstDash val="solid"/>
          </a:ln>
        </p:spPr>
      </p:sp>
      <p:sp>
        <p:nvSpPr>
          <p:cNvPr id="20" name="Text 18"/>
          <p:cNvSpPr txBox="1"/>
          <p:nvPr/>
        </p:nvSpPr>
        <p:spPr>
          <a:xfrm>
            <a:off x="4398264" y="170078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$1.54M</a:t>
            </a:r>
            <a:endParaRPr lang="en-US" sz="1300" dirty="0"/>
          </a:p>
        </p:txBody>
      </p:sp>
      <p:sp>
        <p:nvSpPr>
          <p:cNvPr id="21" name="Text 19"/>
          <p:cNvSpPr txBox="1"/>
          <p:nvPr/>
        </p:nvSpPr>
        <p:spPr>
          <a:xfrm>
            <a:off x="5239512" y="170078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+35.7%</a:t>
            </a:r>
            <a:endParaRPr lang="en-US" sz="1300" dirty="0"/>
          </a:p>
        </p:txBody>
      </p:sp>
      <p:sp>
        <p:nvSpPr>
          <p:cNvPr id="22" name="Shape 20"/>
          <p:cNvSpPr/>
          <p:nvPr/>
        </p:nvSpPr>
        <p:spPr>
          <a:xfrm>
            <a:off x="585216" y="2025748"/>
            <a:ext cx="5486400" cy="324964"/>
          </a:xfrm>
          <a:prstGeom prst="rect">
            <a:avLst/>
          </a:prstGeom>
          <a:solidFill>
            <a:srgbClr val="F7F7F7"/>
          </a:solidFill>
          <a:ln/>
        </p:spPr>
      </p:sp>
      <p:sp>
        <p:nvSpPr>
          <p:cNvPr id="23" name="Text 21"/>
          <p:cNvSpPr txBox="1"/>
          <p:nvPr/>
        </p:nvSpPr>
        <p:spPr>
          <a:xfrm>
            <a:off x="658368" y="20257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4" name="Shape 22"/>
          <p:cNvSpPr/>
          <p:nvPr/>
        </p:nvSpPr>
        <p:spPr>
          <a:xfrm>
            <a:off x="2857500" y="2110506"/>
            <a:ext cx="155448" cy="155448"/>
          </a:xfrm>
          <a:prstGeom prst="ellipse">
            <a:avLst/>
          </a:prstGeom>
          <a:solidFill>
            <a:srgbClr val="12A566"/>
          </a:solidFill>
          <a:ln w="12700">
            <a:solidFill>
              <a:srgbClr val="12A566"/>
            </a:solidFill>
            <a:prstDash val="solid"/>
          </a:ln>
        </p:spPr>
      </p:sp>
      <p:sp>
        <p:nvSpPr>
          <p:cNvPr id="25" name="Shape 23"/>
          <p:cNvSpPr/>
          <p:nvPr/>
        </p:nvSpPr>
        <p:spPr>
          <a:xfrm>
            <a:off x="3442716" y="2110506"/>
            <a:ext cx="155448" cy="155448"/>
          </a:xfrm>
          <a:prstGeom prst="ellipse">
            <a:avLst/>
          </a:prstGeom>
          <a:solidFill>
            <a:srgbClr val="12A566"/>
          </a:solidFill>
          <a:ln w="12700">
            <a:solidFill>
              <a:srgbClr val="12A566"/>
            </a:solidFill>
            <a:prstDash val="solid"/>
          </a:ln>
        </p:spPr>
      </p:sp>
      <p:sp>
        <p:nvSpPr>
          <p:cNvPr id="26" name="Shape 24"/>
          <p:cNvSpPr/>
          <p:nvPr/>
        </p:nvSpPr>
        <p:spPr>
          <a:xfrm>
            <a:off x="4027932" y="2110506"/>
            <a:ext cx="155448" cy="155448"/>
          </a:xfrm>
          <a:prstGeom prst="ellipse">
            <a:avLst/>
          </a:prstGeom>
          <a:solidFill>
            <a:srgbClr val="12A566"/>
          </a:solidFill>
          <a:ln w="12700">
            <a:solidFill>
              <a:srgbClr val="12A566"/>
            </a:solidFill>
            <a:prstDash val="solid"/>
          </a:ln>
        </p:spPr>
      </p:sp>
      <p:sp>
        <p:nvSpPr>
          <p:cNvPr id="27" name="Text 25"/>
          <p:cNvSpPr txBox="1"/>
          <p:nvPr/>
        </p:nvSpPr>
        <p:spPr>
          <a:xfrm>
            <a:off x="4398264" y="20257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$2.98M</a:t>
            </a:r>
            <a:endParaRPr lang="en-US" sz="1300" dirty="0"/>
          </a:p>
        </p:txBody>
      </p:sp>
      <p:sp>
        <p:nvSpPr>
          <p:cNvPr id="28" name="Text 26"/>
          <p:cNvSpPr txBox="1"/>
          <p:nvPr/>
        </p:nvSpPr>
        <p:spPr>
          <a:xfrm>
            <a:off x="5239512" y="20257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+31.6%</a:t>
            </a:r>
            <a:endParaRPr lang="en-US" sz="1300" dirty="0"/>
          </a:p>
        </p:txBody>
      </p:sp>
      <p:sp>
        <p:nvSpPr>
          <p:cNvPr id="29" name="Text 27"/>
          <p:cNvSpPr txBox="1"/>
          <p:nvPr/>
        </p:nvSpPr>
        <p:spPr>
          <a:xfrm>
            <a:off x="658368" y="235071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30" name="Shape 28"/>
          <p:cNvSpPr/>
          <p:nvPr/>
        </p:nvSpPr>
        <p:spPr>
          <a:xfrm>
            <a:off x="2857500" y="2435469"/>
            <a:ext cx="155448" cy="155448"/>
          </a:xfrm>
          <a:prstGeom prst="ellipse">
            <a:avLst/>
          </a:prstGeom>
          <a:solidFill>
            <a:srgbClr val="12A566"/>
          </a:solidFill>
          <a:ln w="12700">
            <a:solidFill>
              <a:srgbClr val="12A566"/>
            </a:solidFill>
            <a:prstDash val="solid"/>
          </a:ln>
        </p:spPr>
      </p:sp>
      <p:sp>
        <p:nvSpPr>
          <p:cNvPr id="31" name="Shape 29"/>
          <p:cNvSpPr/>
          <p:nvPr/>
        </p:nvSpPr>
        <p:spPr>
          <a:xfrm>
            <a:off x="3442716" y="2435469"/>
            <a:ext cx="155448" cy="155448"/>
          </a:xfrm>
          <a:prstGeom prst="ellipse">
            <a:avLst/>
          </a:prstGeom>
          <a:solidFill>
            <a:srgbClr val="12A566"/>
          </a:solidFill>
          <a:ln w="12700">
            <a:solidFill>
              <a:srgbClr val="12A566"/>
            </a:solidFill>
            <a:prstDash val="solid"/>
          </a:ln>
        </p:spPr>
      </p:sp>
      <p:sp>
        <p:nvSpPr>
          <p:cNvPr id="32" name="Shape 30"/>
          <p:cNvSpPr/>
          <p:nvPr/>
        </p:nvSpPr>
        <p:spPr>
          <a:xfrm>
            <a:off x="4027932" y="2435469"/>
            <a:ext cx="155448" cy="155448"/>
          </a:xfrm>
          <a:prstGeom prst="ellipse">
            <a:avLst/>
          </a:prstGeom>
          <a:solidFill>
            <a:srgbClr val="12A566"/>
          </a:solidFill>
          <a:ln w="12700">
            <a:solidFill>
              <a:srgbClr val="12A566"/>
            </a:solidFill>
            <a:prstDash val="solid"/>
          </a:ln>
        </p:spPr>
      </p:sp>
      <p:sp>
        <p:nvSpPr>
          <p:cNvPr id="33" name="Text 31"/>
          <p:cNvSpPr txBox="1"/>
          <p:nvPr/>
        </p:nvSpPr>
        <p:spPr>
          <a:xfrm>
            <a:off x="4398264" y="235071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$4.15M</a:t>
            </a:r>
            <a:endParaRPr lang="en-US" sz="1300" dirty="0"/>
          </a:p>
        </p:txBody>
      </p:sp>
      <p:sp>
        <p:nvSpPr>
          <p:cNvPr id="34" name="Text 32"/>
          <p:cNvSpPr txBox="1"/>
          <p:nvPr/>
        </p:nvSpPr>
        <p:spPr>
          <a:xfrm>
            <a:off x="5239512" y="235071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+22.5%</a:t>
            </a:r>
            <a:endParaRPr lang="en-US" sz="1300" dirty="0"/>
          </a:p>
        </p:txBody>
      </p:sp>
      <p:sp>
        <p:nvSpPr>
          <p:cNvPr id="35" name="Shape 33"/>
          <p:cNvSpPr/>
          <p:nvPr/>
        </p:nvSpPr>
        <p:spPr>
          <a:xfrm>
            <a:off x="585216" y="2675675"/>
            <a:ext cx="5486400" cy="324964"/>
          </a:xfrm>
          <a:prstGeom prst="rect">
            <a:avLst/>
          </a:prstGeom>
          <a:solidFill>
            <a:srgbClr val="F7F7F7"/>
          </a:solidFill>
          <a:ln/>
        </p:spPr>
      </p:sp>
      <p:sp>
        <p:nvSpPr>
          <p:cNvPr id="36" name="Text 34"/>
          <p:cNvSpPr txBox="1"/>
          <p:nvPr/>
        </p:nvSpPr>
        <p:spPr>
          <a:xfrm>
            <a:off x="658368" y="267567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37" name="Shape 35"/>
          <p:cNvSpPr/>
          <p:nvPr/>
        </p:nvSpPr>
        <p:spPr>
          <a:xfrm>
            <a:off x="2857500" y="2760433"/>
            <a:ext cx="155448" cy="155448"/>
          </a:xfrm>
          <a:prstGeom prst="ellipse">
            <a:avLst/>
          </a:prstGeom>
          <a:solidFill>
            <a:srgbClr val="12A566"/>
          </a:solidFill>
          <a:ln w="12700">
            <a:solidFill>
              <a:srgbClr val="12A566"/>
            </a:solidFill>
            <a:prstDash val="solid"/>
          </a:ln>
        </p:spPr>
      </p:sp>
      <p:sp>
        <p:nvSpPr>
          <p:cNvPr id="38" name="Shape 36"/>
          <p:cNvSpPr/>
          <p:nvPr/>
        </p:nvSpPr>
        <p:spPr>
          <a:xfrm>
            <a:off x="3442716" y="2760433"/>
            <a:ext cx="155448" cy="155448"/>
          </a:xfrm>
          <a:prstGeom prst="ellipse">
            <a:avLst/>
          </a:prstGeom>
          <a:solidFill>
            <a:srgbClr val="12A566"/>
          </a:solidFill>
          <a:ln w="12700">
            <a:solidFill>
              <a:srgbClr val="12A566"/>
            </a:solidFill>
            <a:prstDash val="solid"/>
          </a:ln>
        </p:spPr>
      </p:sp>
      <p:sp>
        <p:nvSpPr>
          <p:cNvPr id="39" name="Shape 37"/>
          <p:cNvSpPr/>
          <p:nvPr/>
        </p:nvSpPr>
        <p:spPr>
          <a:xfrm>
            <a:off x="4027932" y="2760433"/>
            <a:ext cx="155448" cy="155448"/>
          </a:xfrm>
          <a:prstGeom prst="ellipse">
            <a:avLst/>
          </a:prstGeom>
          <a:solidFill>
            <a:srgbClr val="12A566"/>
          </a:solidFill>
          <a:ln w="12700">
            <a:solidFill>
              <a:srgbClr val="12A566"/>
            </a:solidFill>
            <a:prstDash val="solid"/>
          </a:ln>
        </p:spPr>
      </p:sp>
      <p:sp>
        <p:nvSpPr>
          <p:cNvPr id="40" name="Text 38"/>
          <p:cNvSpPr txBox="1"/>
          <p:nvPr/>
        </p:nvSpPr>
        <p:spPr>
          <a:xfrm>
            <a:off x="4398264" y="267567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$12.34M</a:t>
            </a:r>
            <a:endParaRPr lang="en-US" sz="1300" dirty="0"/>
          </a:p>
        </p:txBody>
      </p:sp>
      <p:sp>
        <p:nvSpPr>
          <p:cNvPr id="41" name="Text 39"/>
          <p:cNvSpPr txBox="1"/>
          <p:nvPr/>
        </p:nvSpPr>
        <p:spPr>
          <a:xfrm>
            <a:off x="5239512" y="267567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+16.0%</a:t>
            </a:r>
            <a:endParaRPr lang="en-US" sz="1300" dirty="0"/>
          </a:p>
        </p:txBody>
      </p:sp>
      <p:sp>
        <p:nvSpPr>
          <p:cNvPr id="42" name="Text 40"/>
          <p:cNvSpPr txBox="1"/>
          <p:nvPr/>
        </p:nvSpPr>
        <p:spPr>
          <a:xfrm>
            <a:off x="658368" y="3000639"/>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43" name="Shape 41"/>
          <p:cNvSpPr/>
          <p:nvPr/>
        </p:nvSpPr>
        <p:spPr>
          <a:xfrm>
            <a:off x="2857500" y="3085397"/>
            <a:ext cx="155448" cy="155448"/>
          </a:xfrm>
          <a:prstGeom prst="ellipse">
            <a:avLst/>
          </a:prstGeom>
          <a:solidFill>
            <a:srgbClr val="12A566"/>
          </a:solidFill>
          <a:ln w="12700">
            <a:solidFill>
              <a:srgbClr val="12A566"/>
            </a:solidFill>
            <a:prstDash val="solid"/>
          </a:ln>
        </p:spPr>
      </p:sp>
      <p:sp>
        <p:nvSpPr>
          <p:cNvPr id="44" name="Shape 42"/>
          <p:cNvSpPr/>
          <p:nvPr/>
        </p:nvSpPr>
        <p:spPr>
          <a:xfrm>
            <a:off x="3442716" y="3085397"/>
            <a:ext cx="155448" cy="155448"/>
          </a:xfrm>
          <a:prstGeom prst="ellipse">
            <a:avLst/>
          </a:prstGeom>
          <a:solidFill>
            <a:srgbClr val="12A566"/>
          </a:solidFill>
          <a:ln w="12700">
            <a:solidFill>
              <a:srgbClr val="12A566"/>
            </a:solidFill>
            <a:prstDash val="solid"/>
          </a:ln>
        </p:spPr>
      </p:sp>
      <p:sp>
        <p:nvSpPr>
          <p:cNvPr id="45" name="Shape 43"/>
          <p:cNvSpPr/>
          <p:nvPr/>
        </p:nvSpPr>
        <p:spPr>
          <a:xfrm>
            <a:off x="4027932" y="3085397"/>
            <a:ext cx="155448" cy="155448"/>
          </a:xfrm>
          <a:prstGeom prst="ellipse">
            <a:avLst/>
          </a:prstGeom>
          <a:solidFill>
            <a:srgbClr val="12A566"/>
          </a:solidFill>
          <a:ln w="12700">
            <a:solidFill>
              <a:srgbClr val="12A566"/>
            </a:solidFill>
            <a:prstDash val="solid"/>
          </a:ln>
        </p:spPr>
      </p:sp>
      <p:sp>
        <p:nvSpPr>
          <p:cNvPr id="46" name="Text 44"/>
          <p:cNvSpPr txBox="1"/>
          <p:nvPr/>
        </p:nvSpPr>
        <p:spPr>
          <a:xfrm>
            <a:off x="4398264" y="3000639"/>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$2.70M</a:t>
            </a:r>
            <a:endParaRPr lang="en-US" sz="1300" dirty="0"/>
          </a:p>
        </p:txBody>
      </p:sp>
      <p:sp>
        <p:nvSpPr>
          <p:cNvPr id="47" name="Text 45"/>
          <p:cNvSpPr txBox="1"/>
          <p:nvPr/>
        </p:nvSpPr>
        <p:spPr>
          <a:xfrm>
            <a:off x="5239512" y="3000639"/>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+15.7%</a:t>
            </a:r>
            <a:endParaRPr lang="en-US" sz="1300" dirty="0"/>
          </a:p>
        </p:txBody>
      </p:sp>
      <p:sp>
        <p:nvSpPr>
          <p:cNvPr id="48" name="Shape 46"/>
          <p:cNvSpPr/>
          <p:nvPr/>
        </p:nvSpPr>
        <p:spPr>
          <a:xfrm>
            <a:off x="585216" y="3325602"/>
            <a:ext cx="5486400" cy="324964"/>
          </a:xfrm>
          <a:prstGeom prst="rect">
            <a:avLst/>
          </a:prstGeom>
          <a:solidFill>
            <a:srgbClr val="F7F7F7"/>
          </a:solidFill>
          <a:ln/>
        </p:spPr>
      </p:sp>
      <p:sp>
        <p:nvSpPr>
          <p:cNvPr id="49" name="Text 47"/>
          <p:cNvSpPr txBox="1"/>
          <p:nvPr/>
        </p:nvSpPr>
        <p:spPr>
          <a:xfrm>
            <a:off x="658368" y="3325602"/>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0" name="Shape 48"/>
          <p:cNvSpPr/>
          <p:nvPr/>
        </p:nvSpPr>
        <p:spPr>
          <a:xfrm>
            <a:off x="2857500" y="3410360"/>
            <a:ext cx="155448" cy="155448"/>
          </a:xfrm>
          <a:prstGeom prst="ellipse">
            <a:avLst/>
          </a:prstGeom>
          <a:solidFill>
            <a:srgbClr val="12A566"/>
          </a:solidFill>
          <a:ln w="12700">
            <a:solidFill>
              <a:srgbClr val="12A566"/>
            </a:solidFill>
            <a:prstDash val="solid"/>
          </a:ln>
        </p:spPr>
      </p:sp>
      <p:sp>
        <p:nvSpPr>
          <p:cNvPr id="51" name="Shape 49"/>
          <p:cNvSpPr/>
          <p:nvPr/>
        </p:nvSpPr>
        <p:spPr>
          <a:xfrm>
            <a:off x="3442716" y="3410360"/>
            <a:ext cx="155448" cy="155448"/>
          </a:xfrm>
          <a:prstGeom prst="ellipse">
            <a:avLst/>
          </a:prstGeom>
          <a:solidFill>
            <a:srgbClr val="12A566"/>
          </a:solidFill>
          <a:ln w="12700">
            <a:solidFill>
              <a:srgbClr val="12A566"/>
            </a:solidFill>
            <a:prstDash val="solid"/>
          </a:ln>
        </p:spPr>
      </p:sp>
      <p:sp>
        <p:nvSpPr>
          <p:cNvPr id="52" name="Shape 50"/>
          <p:cNvSpPr/>
          <p:nvPr/>
        </p:nvSpPr>
        <p:spPr>
          <a:xfrm>
            <a:off x="4027932" y="3410360"/>
            <a:ext cx="155448" cy="155448"/>
          </a:xfrm>
          <a:prstGeom prst="ellipse">
            <a:avLst/>
          </a:prstGeom>
          <a:solidFill>
            <a:srgbClr val="12A566"/>
          </a:solidFill>
          <a:ln w="12700">
            <a:solidFill>
              <a:srgbClr val="12A566"/>
            </a:solidFill>
            <a:prstDash val="solid"/>
          </a:ln>
        </p:spPr>
      </p:sp>
      <p:sp>
        <p:nvSpPr>
          <p:cNvPr id="53" name="Text 51"/>
          <p:cNvSpPr txBox="1"/>
          <p:nvPr/>
        </p:nvSpPr>
        <p:spPr>
          <a:xfrm>
            <a:off x="4398264" y="3325602"/>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$3.52M</a:t>
            </a:r>
            <a:endParaRPr lang="en-US" sz="1300" dirty="0"/>
          </a:p>
        </p:txBody>
      </p:sp>
      <p:sp>
        <p:nvSpPr>
          <p:cNvPr id="54" name="Text 52"/>
          <p:cNvSpPr txBox="1"/>
          <p:nvPr/>
        </p:nvSpPr>
        <p:spPr>
          <a:xfrm>
            <a:off x="5239512" y="3325602"/>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+15.5%</a:t>
            </a:r>
            <a:endParaRPr lang="en-US" sz="1300" dirty="0"/>
          </a:p>
        </p:txBody>
      </p:sp>
      <p:sp>
        <p:nvSpPr>
          <p:cNvPr id="55" name="Text 53"/>
          <p:cNvSpPr txBox="1"/>
          <p:nvPr/>
        </p:nvSpPr>
        <p:spPr>
          <a:xfrm>
            <a:off x="658368" y="3650566"/>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56" name="Shape 54"/>
          <p:cNvSpPr/>
          <p:nvPr/>
        </p:nvSpPr>
        <p:spPr>
          <a:xfrm>
            <a:off x="2857500" y="3735324"/>
            <a:ext cx="155448" cy="155448"/>
          </a:xfrm>
          <a:prstGeom prst="ellipse">
            <a:avLst/>
          </a:prstGeom>
          <a:solidFill>
            <a:srgbClr val="12A566"/>
          </a:solidFill>
          <a:ln w="12700">
            <a:solidFill>
              <a:srgbClr val="12A566"/>
            </a:solidFill>
            <a:prstDash val="solid"/>
          </a:ln>
        </p:spPr>
      </p:sp>
      <p:sp>
        <p:nvSpPr>
          <p:cNvPr id="57" name="Shape 55"/>
          <p:cNvSpPr/>
          <p:nvPr/>
        </p:nvSpPr>
        <p:spPr>
          <a:xfrm>
            <a:off x="3442716" y="3735324"/>
            <a:ext cx="155448" cy="155448"/>
          </a:xfrm>
          <a:prstGeom prst="ellipse">
            <a:avLst/>
          </a:prstGeom>
          <a:solidFill>
            <a:srgbClr val="12A566"/>
          </a:solidFill>
          <a:ln w="12700">
            <a:solidFill>
              <a:srgbClr val="12A566"/>
            </a:solidFill>
            <a:prstDash val="solid"/>
          </a:ln>
        </p:spPr>
      </p:sp>
      <p:sp>
        <p:nvSpPr>
          <p:cNvPr id="58" name="Shape 56"/>
          <p:cNvSpPr/>
          <p:nvPr/>
        </p:nvSpPr>
        <p:spPr>
          <a:xfrm>
            <a:off x="4027932" y="3735324"/>
            <a:ext cx="155448" cy="155448"/>
          </a:xfrm>
          <a:prstGeom prst="ellipse">
            <a:avLst/>
          </a:prstGeom>
          <a:solidFill>
            <a:srgbClr val="12A566"/>
          </a:solidFill>
          <a:ln w="12700">
            <a:solidFill>
              <a:srgbClr val="12A566"/>
            </a:solidFill>
            <a:prstDash val="solid"/>
          </a:ln>
        </p:spPr>
      </p:sp>
      <p:sp>
        <p:nvSpPr>
          <p:cNvPr id="59" name="Text 57"/>
          <p:cNvSpPr txBox="1"/>
          <p:nvPr/>
        </p:nvSpPr>
        <p:spPr>
          <a:xfrm>
            <a:off x="4398264" y="3650566"/>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$4.47M</a:t>
            </a:r>
            <a:endParaRPr lang="en-US" sz="1300" dirty="0"/>
          </a:p>
        </p:txBody>
      </p:sp>
      <p:sp>
        <p:nvSpPr>
          <p:cNvPr id="60" name="Text 58"/>
          <p:cNvSpPr txBox="1"/>
          <p:nvPr/>
        </p:nvSpPr>
        <p:spPr>
          <a:xfrm>
            <a:off x="5239512" y="3650566"/>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endParaRPr lang="en-US" sz="1300" dirty="0"/>
          </a:p>
        </p:txBody>
      </p:sp>
      <p:sp>
        <p:nvSpPr>
          <p:cNvPr id="61" name="Shape 59"/>
          <p:cNvSpPr/>
          <p:nvPr/>
        </p:nvSpPr>
        <p:spPr>
          <a:xfrm>
            <a:off x="585216" y="3975530"/>
            <a:ext cx="5486400" cy="324964"/>
          </a:xfrm>
          <a:prstGeom prst="rect">
            <a:avLst/>
          </a:prstGeom>
          <a:solidFill>
            <a:srgbClr val="F7F7F7"/>
          </a:solidFill>
          <a:ln/>
        </p:spPr>
      </p:sp>
      <p:sp>
        <p:nvSpPr>
          <p:cNvPr id="62" name="Text 60"/>
          <p:cNvSpPr txBox="1"/>
          <p:nvPr/>
        </p:nvSpPr>
        <p:spPr>
          <a:xfrm>
            <a:off x="658368" y="3975530"/>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857500" y="4060288"/>
            <a:ext cx="155448" cy="155448"/>
          </a:xfrm>
          <a:prstGeom prst="ellipse">
            <a:avLst/>
          </a:prstGeom>
          <a:solidFill>
            <a:srgbClr val="12A566"/>
          </a:solidFill>
          <a:ln w="12700">
            <a:solidFill>
              <a:srgbClr val="12A566"/>
            </a:solidFill>
            <a:prstDash val="solid"/>
          </a:ln>
        </p:spPr>
      </p:sp>
      <p:sp>
        <p:nvSpPr>
          <p:cNvPr id="64" name="Shape 62"/>
          <p:cNvSpPr/>
          <p:nvPr/>
        </p:nvSpPr>
        <p:spPr>
          <a:xfrm>
            <a:off x="3442716" y="4060288"/>
            <a:ext cx="155448" cy="155448"/>
          </a:xfrm>
          <a:prstGeom prst="ellipse">
            <a:avLst/>
          </a:prstGeom>
          <a:solidFill>
            <a:srgbClr val="12A566"/>
          </a:solidFill>
          <a:ln w="12700">
            <a:solidFill>
              <a:srgbClr val="12A566"/>
            </a:solidFill>
            <a:prstDash val="solid"/>
          </a:ln>
        </p:spPr>
      </p:sp>
      <p:sp>
        <p:nvSpPr>
          <p:cNvPr id="65" name="Shape 63"/>
          <p:cNvSpPr/>
          <p:nvPr/>
        </p:nvSpPr>
        <p:spPr>
          <a:xfrm>
            <a:off x="4027932" y="4060288"/>
            <a:ext cx="155448" cy="155448"/>
          </a:xfrm>
          <a:prstGeom prst="ellipse">
            <a:avLst/>
          </a:prstGeom>
          <a:solidFill>
            <a:srgbClr val="12A566"/>
          </a:solidFill>
          <a:ln w="12700">
            <a:solidFill>
              <a:srgbClr val="12A566"/>
            </a:solidFill>
            <a:prstDash val="solid"/>
          </a:ln>
        </p:spPr>
      </p:sp>
      <p:sp>
        <p:nvSpPr>
          <p:cNvPr id="66" name="Text 64"/>
          <p:cNvSpPr txBox="1"/>
          <p:nvPr/>
        </p:nvSpPr>
        <p:spPr>
          <a:xfrm>
            <a:off x="4398264" y="3975530"/>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$4.78M</a:t>
            </a:r>
            <a:endParaRPr lang="en-US" sz="1300" dirty="0"/>
          </a:p>
        </p:txBody>
      </p:sp>
      <p:sp>
        <p:nvSpPr>
          <p:cNvPr id="67" name="Text 65"/>
          <p:cNvSpPr txBox="1"/>
          <p:nvPr/>
        </p:nvSpPr>
        <p:spPr>
          <a:xfrm>
            <a:off x="5239512" y="3975530"/>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endParaRPr lang="en-US" sz="1300" dirty="0"/>
          </a:p>
        </p:txBody>
      </p:sp>
      <p:sp>
        <p:nvSpPr>
          <p:cNvPr id="68" name="Text 66"/>
          <p:cNvSpPr txBox="1"/>
          <p:nvPr/>
        </p:nvSpPr>
        <p:spPr>
          <a:xfrm>
            <a:off x="658368" y="430049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9" name="Shape 67"/>
          <p:cNvSpPr/>
          <p:nvPr/>
        </p:nvSpPr>
        <p:spPr>
          <a:xfrm>
            <a:off x="2857500" y="4385251"/>
            <a:ext cx="155448" cy="155448"/>
          </a:xfrm>
          <a:prstGeom prst="ellipse">
            <a:avLst/>
          </a:prstGeom>
          <a:solidFill>
            <a:srgbClr val="12A566"/>
          </a:solidFill>
          <a:ln w="12700">
            <a:solidFill>
              <a:srgbClr val="12A566"/>
            </a:solidFill>
            <a:prstDash val="solid"/>
          </a:ln>
        </p:spPr>
      </p:sp>
      <p:sp>
        <p:nvSpPr>
          <p:cNvPr id="70" name="Shape 68"/>
          <p:cNvSpPr/>
          <p:nvPr/>
        </p:nvSpPr>
        <p:spPr>
          <a:xfrm>
            <a:off x="3442716" y="4385251"/>
            <a:ext cx="155448" cy="155448"/>
          </a:xfrm>
          <a:prstGeom prst="ellipse">
            <a:avLst/>
          </a:prstGeom>
          <a:solidFill>
            <a:srgbClr val="12A566"/>
          </a:solidFill>
          <a:ln w="12700">
            <a:solidFill>
              <a:srgbClr val="12A566"/>
            </a:solidFill>
            <a:prstDash val="solid"/>
          </a:ln>
        </p:spPr>
      </p:sp>
      <p:sp>
        <p:nvSpPr>
          <p:cNvPr id="71" name="Shape 69"/>
          <p:cNvSpPr/>
          <p:nvPr/>
        </p:nvSpPr>
        <p:spPr>
          <a:xfrm>
            <a:off x="4027932" y="4385251"/>
            <a:ext cx="155448" cy="155448"/>
          </a:xfrm>
          <a:prstGeom prst="ellipse">
            <a:avLst/>
          </a:prstGeom>
          <a:solidFill>
            <a:srgbClr val="12A566"/>
          </a:solidFill>
          <a:ln w="12700">
            <a:solidFill>
              <a:srgbClr val="12A566"/>
            </a:solidFill>
            <a:prstDash val="solid"/>
          </a:ln>
        </p:spPr>
      </p:sp>
      <p:sp>
        <p:nvSpPr>
          <p:cNvPr id="72" name="Text 70"/>
          <p:cNvSpPr txBox="1"/>
          <p:nvPr/>
        </p:nvSpPr>
        <p:spPr>
          <a:xfrm>
            <a:off x="4398264" y="430049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$2.34M</a:t>
            </a:r>
            <a:endParaRPr lang="en-US" sz="1300" dirty="0"/>
          </a:p>
        </p:txBody>
      </p:sp>
      <p:sp>
        <p:nvSpPr>
          <p:cNvPr id="73" name="Text 71"/>
          <p:cNvSpPr txBox="1"/>
          <p:nvPr/>
        </p:nvSpPr>
        <p:spPr>
          <a:xfrm>
            <a:off x="5239512" y="430049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+10.1%</a:t>
            </a:r>
            <a:endParaRPr lang="en-US" sz="1300" dirty="0"/>
          </a:p>
        </p:txBody>
      </p:sp>
      <p:sp>
        <p:nvSpPr>
          <p:cNvPr id="74" name="Shape 72"/>
          <p:cNvSpPr/>
          <p:nvPr/>
        </p:nvSpPr>
        <p:spPr>
          <a:xfrm>
            <a:off x="585216" y="4625457"/>
            <a:ext cx="5486400" cy="324964"/>
          </a:xfrm>
          <a:prstGeom prst="rect">
            <a:avLst/>
          </a:prstGeom>
          <a:solidFill>
            <a:srgbClr val="F7F7F7"/>
          </a:solidFill>
          <a:ln/>
        </p:spPr>
      </p:sp>
      <p:sp>
        <p:nvSpPr>
          <p:cNvPr id="75" name="Text 73"/>
          <p:cNvSpPr txBox="1"/>
          <p:nvPr/>
        </p:nvSpPr>
        <p:spPr>
          <a:xfrm>
            <a:off x="658368" y="4625457"/>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6" name="Shape 74"/>
          <p:cNvSpPr/>
          <p:nvPr/>
        </p:nvSpPr>
        <p:spPr>
          <a:xfrm>
            <a:off x="2857500" y="4710215"/>
            <a:ext cx="155448" cy="155448"/>
          </a:xfrm>
          <a:prstGeom prst="ellipse">
            <a:avLst/>
          </a:prstGeom>
          <a:solidFill>
            <a:srgbClr val="12A566"/>
          </a:solidFill>
          <a:ln w="12700">
            <a:solidFill>
              <a:srgbClr val="12A566"/>
            </a:solidFill>
            <a:prstDash val="solid"/>
          </a:ln>
        </p:spPr>
      </p:sp>
      <p:sp>
        <p:nvSpPr>
          <p:cNvPr id="77" name="Shape 75"/>
          <p:cNvSpPr/>
          <p:nvPr/>
        </p:nvSpPr>
        <p:spPr>
          <a:xfrm>
            <a:off x="3442716" y="4710215"/>
            <a:ext cx="155448" cy="155448"/>
          </a:xfrm>
          <a:prstGeom prst="ellipse">
            <a:avLst/>
          </a:prstGeom>
          <a:solidFill>
            <a:srgbClr val="12A566"/>
          </a:solidFill>
          <a:ln w="12700">
            <a:solidFill>
              <a:srgbClr val="12A566"/>
            </a:solidFill>
            <a:prstDash val="solid"/>
          </a:ln>
        </p:spPr>
      </p:sp>
      <p:sp>
        <p:nvSpPr>
          <p:cNvPr id="78" name="Shape 76"/>
          <p:cNvSpPr/>
          <p:nvPr/>
        </p:nvSpPr>
        <p:spPr>
          <a:xfrm>
            <a:off x="4027932" y="4710215"/>
            <a:ext cx="155448" cy="155448"/>
          </a:xfrm>
          <a:prstGeom prst="ellipse">
            <a:avLst/>
          </a:prstGeom>
          <a:solidFill>
            <a:srgbClr val="12A566"/>
          </a:solidFill>
          <a:ln w="12700">
            <a:solidFill>
              <a:srgbClr val="12A566"/>
            </a:solidFill>
            <a:prstDash val="solid"/>
          </a:ln>
        </p:spPr>
      </p:sp>
      <p:sp>
        <p:nvSpPr>
          <p:cNvPr id="79" name="Text 77"/>
          <p:cNvSpPr txBox="1"/>
          <p:nvPr/>
        </p:nvSpPr>
        <p:spPr>
          <a:xfrm>
            <a:off x="4398264" y="4625457"/>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$22.59M</a:t>
            </a:r>
            <a:endParaRPr lang="en-US" sz="1300" dirty="0"/>
          </a:p>
        </p:txBody>
      </p:sp>
      <p:sp>
        <p:nvSpPr>
          <p:cNvPr id="80" name="Text 78"/>
          <p:cNvSpPr txBox="1"/>
          <p:nvPr/>
        </p:nvSpPr>
        <p:spPr>
          <a:xfrm>
            <a:off x="5239512" y="4625457"/>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+8.5%</a:t>
            </a:r>
            <a:endParaRPr lang="en-US" sz="1300" dirty="0"/>
          </a:p>
        </p:txBody>
      </p:sp>
      <p:sp>
        <p:nvSpPr>
          <p:cNvPr id="81" name="Text 79"/>
          <p:cNvSpPr txBox="1"/>
          <p:nvPr/>
        </p:nvSpPr>
        <p:spPr>
          <a:xfrm>
            <a:off x="658368" y="495042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82" name="Shape 80"/>
          <p:cNvSpPr/>
          <p:nvPr/>
        </p:nvSpPr>
        <p:spPr>
          <a:xfrm>
            <a:off x="2857500" y="5035179"/>
            <a:ext cx="155448" cy="155448"/>
          </a:xfrm>
          <a:prstGeom prst="ellipse">
            <a:avLst/>
          </a:prstGeom>
          <a:solidFill>
            <a:srgbClr val="12A566"/>
          </a:solidFill>
          <a:ln w="12700">
            <a:solidFill>
              <a:srgbClr val="12A566"/>
            </a:solidFill>
            <a:prstDash val="solid"/>
          </a:ln>
        </p:spPr>
      </p:sp>
      <p:sp>
        <p:nvSpPr>
          <p:cNvPr id="83" name="Shape 81"/>
          <p:cNvSpPr/>
          <p:nvPr/>
        </p:nvSpPr>
        <p:spPr>
          <a:xfrm>
            <a:off x="3442716" y="5035179"/>
            <a:ext cx="155448" cy="155448"/>
          </a:xfrm>
          <a:prstGeom prst="ellipse">
            <a:avLst/>
          </a:prstGeom>
          <a:solidFill>
            <a:srgbClr val="12A566"/>
          </a:solidFill>
          <a:ln w="12700">
            <a:solidFill>
              <a:srgbClr val="12A566"/>
            </a:solidFill>
            <a:prstDash val="solid"/>
          </a:ln>
        </p:spPr>
      </p:sp>
      <p:sp>
        <p:nvSpPr>
          <p:cNvPr id="84" name="Shape 82"/>
          <p:cNvSpPr/>
          <p:nvPr/>
        </p:nvSpPr>
        <p:spPr>
          <a:xfrm>
            <a:off x="4027932" y="5035179"/>
            <a:ext cx="155448" cy="155448"/>
          </a:xfrm>
          <a:prstGeom prst="ellipse">
            <a:avLst/>
          </a:prstGeom>
          <a:solidFill>
            <a:srgbClr val="12A566"/>
          </a:solidFill>
          <a:ln w="12700">
            <a:solidFill>
              <a:srgbClr val="12A566"/>
            </a:solidFill>
            <a:prstDash val="solid"/>
          </a:ln>
        </p:spPr>
      </p:sp>
      <p:sp>
        <p:nvSpPr>
          <p:cNvPr id="85" name="Text 83"/>
          <p:cNvSpPr txBox="1"/>
          <p:nvPr/>
        </p:nvSpPr>
        <p:spPr>
          <a:xfrm>
            <a:off x="4398264" y="495042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$14.42M</a:t>
            </a:r>
            <a:endParaRPr lang="en-US" sz="1300" dirty="0"/>
          </a:p>
        </p:txBody>
      </p:sp>
      <p:sp>
        <p:nvSpPr>
          <p:cNvPr id="86" name="Text 84"/>
          <p:cNvSpPr txBox="1"/>
          <p:nvPr/>
        </p:nvSpPr>
        <p:spPr>
          <a:xfrm>
            <a:off x="5239512" y="495042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+4.2%</a:t>
            </a:r>
            <a:endParaRPr lang="en-US" sz="1300" dirty="0"/>
          </a:p>
        </p:txBody>
      </p:sp>
      <p:sp>
        <p:nvSpPr>
          <p:cNvPr id="87" name="Shape 85"/>
          <p:cNvSpPr/>
          <p:nvPr/>
        </p:nvSpPr>
        <p:spPr>
          <a:xfrm>
            <a:off x="585216" y="5275385"/>
            <a:ext cx="5486400" cy="324964"/>
          </a:xfrm>
          <a:prstGeom prst="rect">
            <a:avLst/>
          </a:prstGeom>
          <a:solidFill>
            <a:srgbClr val="F7F7F7"/>
          </a:solidFill>
          <a:ln/>
        </p:spPr>
      </p:sp>
      <p:sp>
        <p:nvSpPr>
          <p:cNvPr id="88" name="Text 86"/>
          <p:cNvSpPr txBox="1"/>
          <p:nvPr/>
        </p:nvSpPr>
        <p:spPr>
          <a:xfrm>
            <a:off x="658368" y="527538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9" name="Shape 87"/>
          <p:cNvSpPr/>
          <p:nvPr/>
        </p:nvSpPr>
        <p:spPr>
          <a:xfrm>
            <a:off x="2857500" y="5360142"/>
            <a:ext cx="155448" cy="155448"/>
          </a:xfrm>
          <a:prstGeom prst="ellipse">
            <a:avLst/>
          </a:prstGeom>
          <a:solidFill>
            <a:srgbClr val="12A566"/>
          </a:solidFill>
          <a:ln w="12700">
            <a:solidFill>
              <a:srgbClr val="12A566"/>
            </a:solidFill>
            <a:prstDash val="solid"/>
          </a:ln>
        </p:spPr>
      </p:sp>
      <p:sp>
        <p:nvSpPr>
          <p:cNvPr id="90" name="Shape 88"/>
          <p:cNvSpPr/>
          <p:nvPr/>
        </p:nvSpPr>
        <p:spPr>
          <a:xfrm>
            <a:off x="3442716" y="5360142"/>
            <a:ext cx="155448" cy="155448"/>
          </a:xfrm>
          <a:prstGeom prst="ellipse">
            <a:avLst/>
          </a:prstGeom>
          <a:solidFill>
            <a:srgbClr val="12A566"/>
          </a:solidFill>
          <a:ln w="12700">
            <a:solidFill>
              <a:srgbClr val="12A566"/>
            </a:solidFill>
            <a:prstDash val="solid"/>
          </a:ln>
        </p:spPr>
      </p:sp>
      <p:sp>
        <p:nvSpPr>
          <p:cNvPr id="91" name="Shape 89"/>
          <p:cNvSpPr/>
          <p:nvPr/>
        </p:nvSpPr>
        <p:spPr>
          <a:xfrm>
            <a:off x="4027932" y="5360142"/>
            <a:ext cx="155448" cy="155448"/>
          </a:xfrm>
          <a:prstGeom prst="ellipse">
            <a:avLst/>
          </a:prstGeom>
          <a:solidFill>
            <a:srgbClr val="12A566"/>
          </a:solidFill>
          <a:ln w="12700">
            <a:solidFill>
              <a:srgbClr val="12A566"/>
            </a:solidFill>
            <a:prstDash val="solid"/>
          </a:ln>
        </p:spPr>
      </p:sp>
      <p:sp>
        <p:nvSpPr>
          <p:cNvPr id="92" name="Text 90"/>
          <p:cNvSpPr txBox="1"/>
          <p:nvPr/>
        </p:nvSpPr>
        <p:spPr>
          <a:xfrm>
            <a:off x="4398264" y="527538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$3.31M</a:t>
            </a:r>
            <a:endParaRPr lang="en-US" sz="1300" dirty="0"/>
          </a:p>
        </p:txBody>
      </p:sp>
      <p:sp>
        <p:nvSpPr>
          <p:cNvPr id="93" name="Text 91"/>
          <p:cNvSpPr txBox="1"/>
          <p:nvPr/>
        </p:nvSpPr>
        <p:spPr>
          <a:xfrm>
            <a:off x="5239512" y="527538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+3.7%</a:t>
            </a:r>
            <a:endParaRPr lang="en-US" sz="1300" dirty="0"/>
          </a:p>
        </p:txBody>
      </p:sp>
      <p:sp>
        <p:nvSpPr>
          <p:cNvPr id="94" name="Text 92"/>
          <p:cNvSpPr txBox="1"/>
          <p:nvPr/>
        </p:nvSpPr>
        <p:spPr>
          <a:xfrm>
            <a:off x="658368" y="56003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95" name="Shape 93"/>
          <p:cNvSpPr/>
          <p:nvPr/>
        </p:nvSpPr>
        <p:spPr>
          <a:xfrm>
            <a:off x="2857500" y="5685106"/>
            <a:ext cx="155448" cy="155448"/>
          </a:xfrm>
          <a:prstGeom prst="ellipse">
            <a:avLst/>
          </a:prstGeom>
          <a:solidFill>
            <a:srgbClr val="12A566"/>
          </a:solidFill>
          <a:ln w="12700">
            <a:solidFill>
              <a:srgbClr val="12A566"/>
            </a:solidFill>
            <a:prstDash val="solid"/>
          </a:ln>
        </p:spPr>
      </p:sp>
      <p:sp>
        <p:nvSpPr>
          <p:cNvPr id="96" name="Shape 94"/>
          <p:cNvSpPr/>
          <p:nvPr/>
        </p:nvSpPr>
        <p:spPr>
          <a:xfrm>
            <a:off x="3442716" y="5685106"/>
            <a:ext cx="155448" cy="155448"/>
          </a:xfrm>
          <a:prstGeom prst="ellipse">
            <a:avLst/>
          </a:prstGeom>
          <a:solidFill>
            <a:srgbClr val="12A566"/>
          </a:solidFill>
          <a:ln w="12700">
            <a:solidFill>
              <a:srgbClr val="12A566"/>
            </a:solidFill>
            <a:prstDash val="solid"/>
          </a:ln>
        </p:spPr>
      </p:sp>
      <p:sp>
        <p:nvSpPr>
          <p:cNvPr id="97" name="Shape 95"/>
          <p:cNvSpPr/>
          <p:nvPr/>
        </p:nvSpPr>
        <p:spPr>
          <a:xfrm>
            <a:off x="4027932" y="5685106"/>
            <a:ext cx="155448" cy="155448"/>
          </a:xfrm>
          <a:prstGeom prst="ellipse">
            <a:avLst/>
          </a:prstGeom>
          <a:solidFill>
            <a:srgbClr val="12A566"/>
          </a:solidFill>
          <a:ln w="12700">
            <a:solidFill>
              <a:srgbClr val="12A566"/>
            </a:solidFill>
            <a:prstDash val="solid"/>
          </a:ln>
        </p:spPr>
      </p:sp>
      <p:sp>
        <p:nvSpPr>
          <p:cNvPr id="98" name="Text 96"/>
          <p:cNvSpPr txBox="1"/>
          <p:nvPr/>
        </p:nvSpPr>
        <p:spPr>
          <a:xfrm>
            <a:off x="4398264" y="56003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$3.42M</a:t>
            </a:r>
            <a:endParaRPr lang="en-US" sz="1300" dirty="0"/>
          </a:p>
        </p:txBody>
      </p:sp>
      <p:sp>
        <p:nvSpPr>
          <p:cNvPr id="99" name="Text 97"/>
          <p:cNvSpPr txBox="1"/>
          <p:nvPr/>
        </p:nvSpPr>
        <p:spPr>
          <a:xfrm>
            <a:off x="5239512" y="56003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+2.8%</a:t>
            </a:r>
            <a:endParaRPr lang="en-US" sz="1300" dirty="0"/>
          </a:p>
        </p:txBody>
      </p:sp>
      <p:sp>
        <p:nvSpPr>
          <p:cNvPr id="100" name="Text 98"/>
          <p:cNvSpPr txBox="1"/>
          <p:nvPr/>
        </p:nvSpPr>
        <p:spPr>
          <a:xfrm>
            <a:off x="6208776" y="170078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01" name="Shape 99"/>
          <p:cNvSpPr/>
          <p:nvPr/>
        </p:nvSpPr>
        <p:spPr>
          <a:xfrm>
            <a:off x="8407908" y="1785542"/>
            <a:ext cx="155448" cy="155448"/>
          </a:xfrm>
          <a:prstGeom prst="ellipse">
            <a:avLst/>
          </a:prstGeom>
          <a:solidFill>
            <a:srgbClr val="12A566"/>
          </a:solidFill>
          <a:ln w="12700">
            <a:solidFill>
              <a:srgbClr val="12A566"/>
            </a:solidFill>
            <a:prstDash val="solid"/>
          </a:ln>
        </p:spPr>
      </p:sp>
      <p:sp>
        <p:nvSpPr>
          <p:cNvPr id="102" name="Shape 100"/>
          <p:cNvSpPr/>
          <p:nvPr/>
        </p:nvSpPr>
        <p:spPr>
          <a:xfrm>
            <a:off x="8993124" y="1785542"/>
            <a:ext cx="155448" cy="155448"/>
          </a:xfrm>
          <a:prstGeom prst="ellipse">
            <a:avLst/>
          </a:prstGeom>
          <a:solidFill>
            <a:srgbClr val="FFFFFF"/>
          </a:solidFill>
          <a:ln w="12700">
            <a:solidFill>
              <a:srgbClr val="9AA3AD"/>
            </a:solidFill>
            <a:prstDash val="solid"/>
          </a:ln>
        </p:spPr>
      </p:sp>
      <p:sp>
        <p:nvSpPr>
          <p:cNvPr id="103" name="Shape 101"/>
          <p:cNvSpPr/>
          <p:nvPr/>
        </p:nvSpPr>
        <p:spPr>
          <a:xfrm>
            <a:off x="9578340" y="1785542"/>
            <a:ext cx="155448" cy="155448"/>
          </a:xfrm>
          <a:prstGeom prst="ellipse">
            <a:avLst/>
          </a:prstGeom>
          <a:solidFill>
            <a:srgbClr val="12A566"/>
          </a:solidFill>
          <a:ln w="12700">
            <a:solidFill>
              <a:srgbClr val="12A566"/>
            </a:solidFill>
            <a:prstDash val="solid"/>
          </a:ln>
        </p:spPr>
      </p:sp>
      <p:sp>
        <p:nvSpPr>
          <p:cNvPr id="104" name="Text 102"/>
          <p:cNvSpPr txBox="1"/>
          <p:nvPr/>
        </p:nvSpPr>
        <p:spPr>
          <a:xfrm>
            <a:off x="9948672" y="170078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$5.08M</a:t>
            </a:r>
            <a:endParaRPr lang="en-US" sz="1300" dirty="0"/>
          </a:p>
        </p:txBody>
      </p:sp>
      <p:sp>
        <p:nvSpPr>
          <p:cNvPr id="105" name="Text 103"/>
          <p:cNvSpPr txBox="1"/>
          <p:nvPr/>
        </p:nvSpPr>
        <p:spPr>
          <a:xfrm>
            <a:off x="10789920" y="170078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+13.0%</a:t>
            </a:r>
            <a:endParaRPr lang="en-US" sz="1300" dirty="0"/>
          </a:p>
        </p:txBody>
      </p:sp>
      <p:sp>
        <p:nvSpPr>
          <p:cNvPr id="106" name="Shape 104"/>
          <p:cNvSpPr/>
          <p:nvPr/>
        </p:nvSpPr>
        <p:spPr>
          <a:xfrm>
            <a:off x="6135624" y="2025748"/>
            <a:ext cx="5486400" cy="324964"/>
          </a:xfrm>
          <a:prstGeom prst="rect">
            <a:avLst/>
          </a:prstGeom>
          <a:solidFill>
            <a:srgbClr val="F7F7F7"/>
          </a:solidFill>
          <a:ln/>
        </p:spPr>
      </p:sp>
      <p:sp>
        <p:nvSpPr>
          <p:cNvPr id="107" name="Text 105"/>
          <p:cNvSpPr txBox="1"/>
          <p:nvPr/>
        </p:nvSpPr>
        <p:spPr>
          <a:xfrm>
            <a:off x="6208776" y="20257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8" name="Shape 106"/>
          <p:cNvSpPr/>
          <p:nvPr/>
        </p:nvSpPr>
        <p:spPr>
          <a:xfrm>
            <a:off x="8407908" y="2110506"/>
            <a:ext cx="155448" cy="155448"/>
          </a:xfrm>
          <a:prstGeom prst="ellipse">
            <a:avLst/>
          </a:prstGeom>
          <a:solidFill>
            <a:srgbClr val="12A566"/>
          </a:solidFill>
          <a:ln w="12700">
            <a:solidFill>
              <a:srgbClr val="12A566"/>
            </a:solidFill>
            <a:prstDash val="solid"/>
          </a:ln>
        </p:spPr>
      </p:sp>
      <p:sp>
        <p:nvSpPr>
          <p:cNvPr id="109" name="Shape 107"/>
          <p:cNvSpPr/>
          <p:nvPr/>
        </p:nvSpPr>
        <p:spPr>
          <a:xfrm>
            <a:off x="8993124" y="2110506"/>
            <a:ext cx="155448" cy="155448"/>
          </a:xfrm>
          <a:prstGeom prst="ellipse">
            <a:avLst/>
          </a:prstGeom>
          <a:solidFill>
            <a:srgbClr val="FFFFFF"/>
          </a:solidFill>
          <a:ln w="12700">
            <a:solidFill>
              <a:srgbClr val="9AA3AD"/>
            </a:solidFill>
            <a:prstDash val="solid"/>
          </a:ln>
        </p:spPr>
      </p:sp>
      <p:sp>
        <p:nvSpPr>
          <p:cNvPr id="110" name="Shape 108"/>
          <p:cNvSpPr/>
          <p:nvPr/>
        </p:nvSpPr>
        <p:spPr>
          <a:xfrm>
            <a:off x="9578340" y="2110506"/>
            <a:ext cx="155448" cy="155448"/>
          </a:xfrm>
          <a:prstGeom prst="ellipse">
            <a:avLst/>
          </a:prstGeom>
          <a:solidFill>
            <a:srgbClr val="12A566"/>
          </a:solidFill>
          <a:ln w="12700">
            <a:solidFill>
              <a:srgbClr val="12A566"/>
            </a:solidFill>
            <a:prstDash val="solid"/>
          </a:ln>
        </p:spPr>
      </p:sp>
      <p:sp>
        <p:nvSpPr>
          <p:cNvPr id="111" name="Text 109"/>
          <p:cNvSpPr txBox="1"/>
          <p:nvPr/>
        </p:nvSpPr>
        <p:spPr>
          <a:xfrm>
            <a:off x="9948672" y="20257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$5.93M</a:t>
            </a:r>
            <a:endParaRPr lang="en-US" sz="1300" dirty="0"/>
          </a:p>
        </p:txBody>
      </p:sp>
      <p:sp>
        <p:nvSpPr>
          <p:cNvPr id="112" name="Text 110"/>
          <p:cNvSpPr txBox="1"/>
          <p:nvPr/>
        </p:nvSpPr>
        <p:spPr>
          <a:xfrm>
            <a:off x="10789920" y="20257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+10.1%</a:t>
            </a:r>
            <a:endParaRPr lang="en-US" sz="1300" dirty="0"/>
          </a:p>
        </p:txBody>
      </p:sp>
      <p:sp>
        <p:nvSpPr>
          <p:cNvPr id="113" name="Text 111"/>
          <p:cNvSpPr txBox="1"/>
          <p:nvPr/>
        </p:nvSpPr>
        <p:spPr>
          <a:xfrm>
            <a:off x="6208776" y="235071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4" name="Shape 112"/>
          <p:cNvSpPr/>
          <p:nvPr/>
        </p:nvSpPr>
        <p:spPr>
          <a:xfrm>
            <a:off x="8407908" y="2435469"/>
            <a:ext cx="155448" cy="155448"/>
          </a:xfrm>
          <a:prstGeom prst="ellipse">
            <a:avLst/>
          </a:prstGeom>
          <a:solidFill>
            <a:srgbClr val="12A566"/>
          </a:solidFill>
          <a:ln w="12700">
            <a:solidFill>
              <a:srgbClr val="12A566"/>
            </a:solidFill>
            <a:prstDash val="solid"/>
          </a:ln>
        </p:spPr>
      </p:sp>
      <p:sp>
        <p:nvSpPr>
          <p:cNvPr id="115" name="Shape 113"/>
          <p:cNvSpPr/>
          <p:nvPr/>
        </p:nvSpPr>
        <p:spPr>
          <a:xfrm>
            <a:off x="8993124" y="2435469"/>
            <a:ext cx="155448" cy="155448"/>
          </a:xfrm>
          <a:prstGeom prst="ellipse">
            <a:avLst/>
          </a:prstGeom>
          <a:solidFill>
            <a:srgbClr val="FFFFFF"/>
          </a:solidFill>
          <a:ln w="12700">
            <a:solidFill>
              <a:srgbClr val="9AA3AD"/>
            </a:solidFill>
            <a:prstDash val="solid"/>
          </a:ln>
        </p:spPr>
      </p:sp>
      <p:sp>
        <p:nvSpPr>
          <p:cNvPr id="116" name="Shape 114"/>
          <p:cNvSpPr/>
          <p:nvPr/>
        </p:nvSpPr>
        <p:spPr>
          <a:xfrm>
            <a:off x="9578340" y="2435469"/>
            <a:ext cx="155448" cy="155448"/>
          </a:xfrm>
          <a:prstGeom prst="ellipse">
            <a:avLst/>
          </a:prstGeom>
          <a:solidFill>
            <a:srgbClr val="12A566"/>
          </a:solidFill>
          <a:ln w="12700">
            <a:solidFill>
              <a:srgbClr val="12A566"/>
            </a:solidFill>
            <a:prstDash val="solid"/>
          </a:ln>
        </p:spPr>
      </p:sp>
      <p:sp>
        <p:nvSpPr>
          <p:cNvPr id="117" name="Text 115"/>
          <p:cNvSpPr txBox="1"/>
          <p:nvPr/>
        </p:nvSpPr>
        <p:spPr>
          <a:xfrm>
            <a:off x="9948672" y="235071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$4.18M</a:t>
            </a:r>
            <a:endParaRPr lang="en-US" sz="1300" dirty="0"/>
          </a:p>
        </p:txBody>
      </p:sp>
      <p:sp>
        <p:nvSpPr>
          <p:cNvPr id="118" name="Text 116"/>
          <p:cNvSpPr txBox="1"/>
          <p:nvPr/>
        </p:nvSpPr>
        <p:spPr>
          <a:xfrm>
            <a:off x="10789920" y="235071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endParaRPr lang="en-US" sz="1300" dirty="0"/>
          </a:p>
        </p:txBody>
      </p:sp>
      <p:sp>
        <p:nvSpPr>
          <p:cNvPr id="119" name="Shape 117"/>
          <p:cNvSpPr/>
          <p:nvPr/>
        </p:nvSpPr>
        <p:spPr>
          <a:xfrm>
            <a:off x="6135624" y="2675675"/>
            <a:ext cx="5486400" cy="324964"/>
          </a:xfrm>
          <a:prstGeom prst="rect">
            <a:avLst/>
          </a:prstGeom>
          <a:solidFill>
            <a:srgbClr val="F7F7F7"/>
          </a:solidFill>
          <a:ln/>
        </p:spPr>
      </p:sp>
      <p:sp>
        <p:nvSpPr>
          <p:cNvPr id="120" name="Text 118"/>
          <p:cNvSpPr txBox="1"/>
          <p:nvPr/>
        </p:nvSpPr>
        <p:spPr>
          <a:xfrm>
            <a:off x="6208776" y="267567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21" name="Shape 119"/>
          <p:cNvSpPr/>
          <p:nvPr/>
        </p:nvSpPr>
        <p:spPr>
          <a:xfrm>
            <a:off x="8407908" y="2760433"/>
            <a:ext cx="155448" cy="155448"/>
          </a:xfrm>
          <a:prstGeom prst="ellipse">
            <a:avLst/>
          </a:prstGeom>
          <a:solidFill>
            <a:srgbClr val="12A566"/>
          </a:solidFill>
          <a:ln w="12700">
            <a:solidFill>
              <a:srgbClr val="12A566"/>
            </a:solidFill>
            <a:prstDash val="solid"/>
          </a:ln>
        </p:spPr>
      </p:sp>
      <p:sp>
        <p:nvSpPr>
          <p:cNvPr id="122" name="Shape 120"/>
          <p:cNvSpPr/>
          <p:nvPr/>
        </p:nvSpPr>
        <p:spPr>
          <a:xfrm>
            <a:off x="8993124" y="2760433"/>
            <a:ext cx="155448" cy="155448"/>
          </a:xfrm>
          <a:prstGeom prst="ellipse">
            <a:avLst/>
          </a:prstGeom>
          <a:solidFill>
            <a:srgbClr val="FFFFFF"/>
          </a:solidFill>
          <a:ln w="12700">
            <a:solidFill>
              <a:srgbClr val="9AA3AD"/>
            </a:solidFill>
            <a:prstDash val="solid"/>
          </a:ln>
        </p:spPr>
      </p:sp>
      <p:sp>
        <p:nvSpPr>
          <p:cNvPr id="123" name="Shape 121"/>
          <p:cNvSpPr/>
          <p:nvPr/>
        </p:nvSpPr>
        <p:spPr>
          <a:xfrm>
            <a:off x="9578340" y="2760433"/>
            <a:ext cx="155448" cy="155448"/>
          </a:xfrm>
          <a:prstGeom prst="ellipse">
            <a:avLst/>
          </a:prstGeom>
          <a:solidFill>
            <a:srgbClr val="12A566"/>
          </a:solidFill>
          <a:ln w="12700">
            <a:solidFill>
              <a:srgbClr val="12A566"/>
            </a:solidFill>
            <a:prstDash val="solid"/>
          </a:ln>
        </p:spPr>
      </p:sp>
      <p:sp>
        <p:nvSpPr>
          <p:cNvPr id="124" name="Text 122"/>
          <p:cNvSpPr txBox="1"/>
          <p:nvPr/>
        </p:nvSpPr>
        <p:spPr>
          <a:xfrm>
            <a:off x="9948672" y="267567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$2.21M</a:t>
            </a:r>
            <a:endParaRPr lang="en-US" sz="1300" dirty="0"/>
          </a:p>
        </p:txBody>
      </p:sp>
      <p:sp>
        <p:nvSpPr>
          <p:cNvPr id="125" name="Text 123"/>
          <p:cNvSpPr txBox="1"/>
          <p:nvPr/>
        </p:nvSpPr>
        <p:spPr>
          <a:xfrm>
            <a:off x="10789920" y="267567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+7.6%</a:t>
            </a:r>
            <a:endParaRPr lang="en-US" sz="1300" dirty="0"/>
          </a:p>
        </p:txBody>
      </p:sp>
      <p:sp>
        <p:nvSpPr>
          <p:cNvPr id="126" name="Text 124"/>
          <p:cNvSpPr txBox="1"/>
          <p:nvPr/>
        </p:nvSpPr>
        <p:spPr>
          <a:xfrm>
            <a:off x="6208776" y="3000639"/>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7" name="Shape 125"/>
          <p:cNvSpPr/>
          <p:nvPr/>
        </p:nvSpPr>
        <p:spPr>
          <a:xfrm>
            <a:off x="8407908" y="3085397"/>
            <a:ext cx="155448" cy="155448"/>
          </a:xfrm>
          <a:prstGeom prst="ellipse">
            <a:avLst/>
          </a:prstGeom>
          <a:solidFill>
            <a:srgbClr val="FFFFFF"/>
          </a:solidFill>
          <a:ln w="12700">
            <a:solidFill>
              <a:srgbClr val="9AA3AD"/>
            </a:solidFill>
            <a:prstDash val="solid"/>
          </a:ln>
        </p:spPr>
      </p:sp>
      <p:sp>
        <p:nvSpPr>
          <p:cNvPr id="128" name="Shape 126"/>
          <p:cNvSpPr/>
          <p:nvPr/>
        </p:nvSpPr>
        <p:spPr>
          <a:xfrm>
            <a:off x="8993124" y="3085397"/>
            <a:ext cx="155448" cy="155448"/>
          </a:xfrm>
          <a:prstGeom prst="ellipse">
            <a:avLst/>
          </a:prstGeom>
          <a:solidFill>
            <a:srgbClr val="12A566"/>
          </a:solidFill>
          <a:ln w="12700">
            <a:solidFill>
              <a:srgbClr val="12A566"/>
            </a:solidFill>
            <a:prstDash val="solid"/>
          </a:ln>
        </p:spPr>
      </p:sp>
      <p:sp>
        <p:nvSpPr>
          <p:cNvPr id="129" name="Shape 127"/>
          <p:cNvSpPr/>
          <p:nvPr/>
        </p:nvSpPr>
        <p:spPr>
          <a:xfrm>
            <a:off x="9578340" y="3085397"/>
            <a:ext cx="155448" cy="155448"/>
          </a:xfrm>
          <a:prstGeom prst="ellipse">
            <a:avLst/>
          </a:prstGeom>
          <a:solidFill>
            <a:srgbClr val="12A566"/>
          </a:solidFill>
          <a:ln w="12700">
            <a:solidFill>
              <a:srgbClr val="12A566"/>
            </a:solidFill>
            <a:prstDash val="solid"/>
          </a:ln>
        </p:spPr>
      </p:sp>
      <p:sp>
        <p:nvSpPr>
          <p:cNvPr id="130" name="Text 128"/>
          <p:cNvSpPr txBox="1"/>
          <p:nvPr/>
        </p:nvSpPr>
        <p:spPr>
          <a:xfrm>
            <a:off x="9948672" y="3000639"/>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$9.60M</a:t>
            </a:r>
            <a:endParaRPr lang="en-US" sz="1300" dirty="0"/>
          </a:p>
        </p:txBody>
      </p:sp>
      <p:sp>
        <p:nvSpPr>
          <p:cNvPr id="131" name="Text 129"/>
          <p:cNvSpPr txBox="1"/>
          <p:nvPr/>
        </p:nvSpPr>
        <p:spPr>
          <a:xfrm>
            <a:off x="10789920" y="3000639"/>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a:t>
            </a:r>
            <a:endParaRPr lang="en-US" sz="1300" dirty="0"/>
          </a:p>
        </p:txBody>
      </p:sp>
      <p:sp>
        <p:nvSpPr>
          <p:cNvPr id="132" name="Shape 130"/>
          <p:cNvSpPr/>
          <p:nvPr/>
        </p:nvSpPr>
        <p:spPr>
          <a:xfrm>
            <a:off x="6135624" y="3325602"/>
            <a:ext cx="5486400" cy="324964"/>
          </a:xfrm>
          <a:prstGeom prst="rect">
            <a:avLst/>
          </a:prstGeom>
          <a:solidFill>
            <a:srgbClr val="F7F7F7"/>
          </a:solidFill>
          <a:ln/>
        </p:spPr>
      </p:sp>
      <p:sp>
        <p:nvSpPr>
          <p:cNvPr id="133" name="Text 131"/>
          <p:cNvSpPr txBox="1"/>
          <p:nvPr/>
        </p:nvSpPr>
        <p:spPr>
          <a:xfrm>
            <a:off x="6208776" y="3325602"/>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4" name="Shape 132"/>
          <p:cNvSpPr/>
          <p:nvPr/>
        </p:nvSpPr>
        <p:spPr>
          <a:xfrm>
            <a:off x="8407908" y="3410360"/>
            <a:ext cx="155448" cy="155448"/>
          </a:xfrm>
          <a:prstGeom prst="ellipse">
            <a:avLst/>
          </a:prstGeom>
          <a:solidFill>
            <a:srgbClr val="12A566"/>
          </a:solidFill>
          <a:ln w="12700">
            <a:solidFill>
              <a:srgbClr val="12A566"/>
            </a:solidFill>
            <a:prstDash val="solid"/>
          </a:ln>
        </p:spPr>
      </p:sp>
      <p:sp>
        <p:nvSpPr>
          <p:cNvPr id="135" name="Shape 133"/>
          <p:cNvSpPr/>
          <p:nvPr/>
        </p:nvSpPr>
        <p:spPr>
          <a:xfrm>
            <a:off x="8993124" y="3410360"/>
            <a:ext cx="155448" cy="155448"/>
          </a:xfrm>
          <a:prstGeom prst="ellipse">
            <a:avLst/>
          </a:prstGeom>
          <a:solidFill>
            <a:srgbClr val="FFFFFF"/>
          </a:solidFill>
          <a:ln w="12700">
            <a:solidFill>
              <a:srgbClr val="9AA3AD"/>
            </a:solidFill>
            <a:prstDash val="solid"/>
          </a:ln>
        </p:spPr>
      </p:sp>
      <p:sp>
        <p:nvSpPr>
          <p:cNvPr id="136" name="Shape 134"/>
          <p:cNvSpPr/>
          <p:nvPr/>
        </p:nvSpPr>
        <p:spPr>
          <a:xfrm>
            <a:off x="9578340" y="3410360"/>
            <a:ext cx="155448" cy="155448"/>
          </a:xfrm>
          <a:prstGeom prst="ellipse">
            <a:avLst/>
          </a:prstGeom>
          <a:solidFill>
            <a:srgbClr val="12A566"/>
          </a:solidFill>
          <a:ln w="12700">
            <a:solidFill>
              <a:srgbClr val="12A566"/>
            </a:solidFill>
            <a:prstDash val="solid"/>
          </a:ln>
        </p:spPr>
      </p:sp>
      <p:sp>
        <p:nvSpPr>
          <p:cNvPr id="137" name="Text 135"/>
          <p:cNvSpPr txBox="1"/>
          <p:nvPr/>
        </p:nvSpPr>
        <p:spPr>
          <a:xfrm>
            <a:off x="9948672" y="3325602"/>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$2.29M</a:t>
            </a:r>
            <a:endParaRPr lang="en-US" sz="1300" dirty="0"/>
          </a:p>
        </p:txBody>
      </p:sp>
      <p:sp>
        <p:nvSpPr>
          <p:cNvPr id="138" name="Text 136"/>
          <p:cNvSpPr txBox="1"/>
          <p:nvPr/>
        </p:nvSpPr>
        <p:spPr>
          <a:xfrm>
            <a:off x="10789920" y="3325602"/>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+4.0%</a:t>
            </a:r>
            <a:endParaRPr lang="en-US" sz="1300" dirty="0"/>
          </a:p>
        </p:txBody>
      </p:sp>
      <p:sp>
        <p:nvSpPr>
          <p:cNvPr id="139" name="Text 137"/>
          <p:cNvSpPr txBox="1"/>
          <p:nvPr/>
        </p:nvSpPr>
        <p:spPr>
          <a:xfrm>
            <a:off x="6208776" y="3650566"/>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40" name="Shape 138"/>
          <p:cNvSpPr/>
          <p:nvPr/>
        </p:nvSpPr>
        <p:spPr>
          <a:xfrm>
            <a:off x="8407908" y="3735324"/>
            <a:ext cx="155448" cy="155448"/>
          </a:xfrm>
          <a:prstGeom prst="ellipse">
            <a:avLst/>
          </a:prstGeom>
          <a:solidFill>
            <a:srgbClr val="12A566"/>
          </a:solidFill>
          <a:ln w="12700">
            <a:solidFill>
              <a:srgbClr val="12A566"/>
            </a:solidFill>
            <a:prstDash val="solid"/>
          </a:ln>
        </p:spPr>
      </p:sp>
      <p:sp>
        <p:nvSpPr>
          <p:cNvPr id="141" name="Shape 139"/>
          <p:cNvSpPr/>
          <p:nvPr/>
        </p:nvSpPr>
        <p:spPr>
          <a:xfrm>
            <a:off x="8993124" y="3735324"/>
            <a:ext cx="155448" cy="155448"/>
          </a:xfrm>
          <a:prstGeom prst="ellipse">
            <a:avLst/>
          </a:prstGeom>
          <a:solidFill>
            <a:srgbClr val="FFFFFF"/>
          </a:solidFill>
          <a:ln w="12700">
            <a:solidFill>
              <a:srgbClr val="9AA3AD"/>
            </a:solidFill>
            <a:prstDash val="solid"/>
          </a:ln>
        </p:spPr>
      </p:sp>
      <p:sp>
        <p:nvSpPr>
          <p:cNvPr id="142" name="Shape 140"/>
          <p:cNvSpPr/>
          <p:nvPr/>
        </p:nvSpPr>
        <p:spPr>
          <a:xfrm>
            <a:off x="9578340" y="3735324"/>
            <a:ext cx="155448" cy="155448"/>
          </a:xfrm>
          <a:prstGeom prst="ellipse">
            <a:avLst/>
          </a:prstGeom>
          <a:solidFill>
            <a:srgbClr val="12A566"/>
          </a:solidFill>
          <a:ln w="12700">
            <a:solidFill>
              <a:srgbClr val="12A566"/>
            </a:solidFill>
            <a:prstDash val="solid"/>
          </a:ln>
        </p:spPr>
      </p:sp>
      <p:sp>
        <p:nvSpPr>
          <p:cNvPr id="143" name="Text 141"/>
          <p:cNvSpPr txBox="1"/>
          <p:nvPr/>
        </p:nvSpPr>
        <p:spPr>
          <a:xfrm>
            <a:off x="9948672" y="3650566"/>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$6.61M</a:t>
            </a:r>
            <a:endParaRPr lang="en-US" sz="1300" dirty="0"/>
          </a:p>
        </p:txBody>
      </p:sp>
      <p:sp>
        <p:nvSpPr>
          <p:cNvPr id="144" name="Text 142"/>
          <p:cNvSpPr txBox="1"/>
          <p:nvPr/>
        </p:nvSpPr>
        <p:spPr>
          <a:xfrm>
            <a:off x="10789920" y="3650566"/>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a:t>
            </a:r>
            <a:endParaRPr lang="en-US" sz="1300" dirty="0"/>
          </a:p>
        </p:txBody>
      </p:sp>
      <p:sp>
        <p:nvSpPr>
          <p:cNvPr id="145" name="Shape 143"/>
          <p:cNvSpPr/>
          <p:nvPr/>
        </p:nvSpPr>
        <p:spPr>
          <a:xfrm>
            <a:off x="6135624" y="3975530"/>
            <a:ext cx="5486400" cy="324964"/>
          </a:xfrm>
          <a:prstGeom prst="rect">
            <a:avLst/>
          </a:prstGeom>
          <a:solidFill>
            <a:srgbClr val="F7F7F7"/>
          </a:solidFill>
          <a:ln/>
        </p:spPr>
      </p:sp>
      <p:sp>
        <p:nvSpPr>
          <p:cNvPr id="146" name="Text 144"/>
          <p:cNvSpPr txBox="1"/>
          <p:nvPr/>
        </p:nvSpPr>
        <p:spPr>
          <a:xfrm>
            <a:off x="6208776" y="3975530"/>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7" name="Shape 145"/>
          <p:cNvSpPr/>
          <p:nvPr/>
        </p:nvSpPr>
        <p:spPr>
          <a:xfrm>
            <a:off x="8407908" y="4060288"/>
            <a:ext cx="155448" cy="155448"/>
          </a:xfrm>
          <a:prstGeom prst="ellipse">
            <a:avLst/>
          </a:prstGeom>
          <a:solidFill>
            <a:srgbClr val="12A566"/>
          </a:solidFill>
          <a:ln w="12700">
            <a:solidFill>
              <a:srgbClr val="12A566"/>
            </a:solidFill>
            <a:prstDash val="solid"/>
          </a:ln>
        </p:spPr>
      </p:sp>
      <p:sp>
        <p:nvSpPr>
          <p:cNvPr id="148" name="Shape 146"/>
          <p:cNvSpPr/>
          <p:nvPr/>
        </p:nvSpPr>
        <p:spPr>
          <a:xfrm>
            <a:off x="8993124" y="4060288"/>
            <a:ext cx="155448" cy="155448"/>
          </a:xfrm>
          <a:prstGeom prst="ellipse">
            <a:avLst/>
          </a:prstGeom>
          <a:solidFill>
            <a:srgbClr val="FFFFFF"/>
          </a:solidFill>
          <a:ln w="12700">
            <a:solidFill>
              <a:srgbClr val="9AA3AD"/>
            </a:solidFill>
            <a:prstDash val="solid"/>
          </a:ln>
        </p:spPr>
      </p:sp>
      <p:sp>
        <p:nvSpPr>
          <p:cNvPr id="149" name="Shape 147"/>
          <p:cNvSpPr/>
          <p:nvPr/>
        </p:nvSpPr>
        <p:spPr>
          <a:xfrm>
            <a:off x="9578340" y="4060288"/>
            <a:ext cx="155448" cy="155448"/>
          </a:xfrm>
          <a:prstGeom prst="ellipse">
            <a:avLst/>
          </a:prstGeom>
          <a:solidFill>
            <a:srgbClr val="12A566"/>
          </a:solidFill>
          <a:ln w="12700">
            <a:solidFill>
              <a:srgbClr val="12A566"/>
            </a:solidFill>
            <a:prstDash val="solid"/>
          </a:ln>
        </p:spPr>
      </p:sp>
      <p:sp>
        <p:nvSpPr>
          <p:cNvPr id="150" name="Text 148"/>
          <p:cNvSpPr txBox="1"/>
          <p:nvPr/>
        </p:nvSpPr>
        <p:spPr>
          <a:xfrm>
            <a:off x="9948672" y="3975530"/>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$6.15M</a:t>
            </a:r>
            <a:endParaRPr lang="en-US" sz="1300" dirty="0"/>
          </a:p>
        </p:txBody>
      </p:sp>
      <p:sp>
        <p:nvSpPr>
          <p:cNvPr id="151" name="Text 149"/>
          <p:cNvSpPr txBox="1"/>
          <p:nvPr/>
        </p:nvSpPr>
        <p:spPr>
          <a:xfrm>
            <a:off x="10789920" y="3975530"/>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a:t>
            </a:r>
            <a:endParaRPr lang="en-US" sz="1300" dirty="0"/>
          </a:p>
        </p:txBody>
      </p:sp>
      <p:sp>
        <p:nvSpPr>
          <p:cNvPr id="152" name="Text 150"/>
          <p:cNvSpPr txBox="1"/>
          <p:nvPr/>
        </p:nvSpPr>
        <p:spPr>
          <a:xfrm>
            <a:off x="6208776" y="430049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407908" y="4385251"/>
            <a:ext cx="155448" cy="155448"/>
          </a:xfrm>
          <a:prstGeom prst="ellipse">
            <a:avLst/>
          </a:prstGeom>
          <a:solidFill>
            <a:srgbClr val="FFFFFF"/>
          </a:solidFill>
          <a:ln w="12700">
            <a:solidFill>
              <a:srgbClr val="9AA3AD"/>
            </a:solidFill>
            <a:prstDash val="solid"/>
          </a:ln>
        </p:spPr>
      </p:sp>
      <p:sp>
        <p:nvSpPr>
          <p:cNvPr id="154" name="Shape 152"/>
          <p:cNvSpPr/>
          <p:nvPr/>
        </p:nvSpPr>
        <p:spPr>
          <a:xfrm>
            <a:off x="8993124" y="4385251"/>
            <a:ext cx="155448" cy="155448"/>
          </a:xfrm>
          <a:prstGeom prst="ellipse">
            <a:avLst/>
          </a:prstGeom>
          <a:solidFill>
            <a:srgbClr val="12A566"/>
          </a:solidFill>
          <a:ln w="12700">
            <a:solidFill>
              <a:srgbClr val="12A566"/>
            </a:solidFill>
            <a:prstDash val="solid"/>
          </a:ln>
        </p:spPr>
      </p:sp>
      <p:sp>
        <p:nvSpPr>
          <p:cNvPr id="155" name="Shape 153"/>
          <p:cNvSpPr/>
          <p:nvPr/>
        </p:nvSpPr>
        <p:spPr>
          <a:xfrm>
            <a:off x="9578340" y="4385251"/>
            <a:ext cx="155448" cy="155448"/>
          </a:xfrm>
          <a:prstGeom prst="ellipse">
            <a:avLst/>
          </a:prstGeom>
          <a:solidFill>
            <a:srgbClr val="12A566"/>
          </a:solidFill>
          <a:ln w="12700">
            <a:solidFill>
              <a:srgbClr val="12A566"/>
            </a:solidFill>
            <a:prstDash val="solid"/>
          </a:ln>
        </p:spPr>
      </p:sp>
      <p:sp>
        <p:nvSpPr>
          <p:cNvPr id="156" name="Text 154"/>
          <p:cNvSpPr txBox="1"/>
          <p:nvPr/>
        </p:nvSpPr>
        <p:spPr>
          <a:xfrm>
            <a:off x="9948672" y="430049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$2.42M</a:t>
            </a:r>
            <a:endParaRPr lang="en-US" sz="1300" dirty="0"/>
          </a:p>
        </p:txBody>
      </p:sp>
      <p:sp>
        <p:nvSpPr>
          <p:cNvPr id="157" name="Text 155"/>
          <p:cNvSpPr txBox="1"/>
          <p:nvPr/>
        </p:nvSpPr>
        <p:spPr>
          <a:xfrm>
            <a:off x="10789920" y="430049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+1.9%</a:t>
            </a:r>
            <a:endParaRPr lang="en-US" sz="1300" dirty="0"/>
          </a:p>
        </p:txBody>
      </p:sp>
      <p:sp>
        <p:nvSpPr>
          <p:cNvPr id="158" name="Shape 156"/>
          <p:cNvSpPr/>
          <p:nvPr/>
        </p:nvSpPr>
        <p:spPr>
          <a:xfrm>
            <a:off x="6135624" y="4625457"/>
            <a:ext cx="5486400" cy="324964"/>
          </a:xfrm>
          <a:prstGeom prst="rect">
            <a:avLst/>
          </a:prstGeom>
          <a:solidFill>
            <a:srgbClr val="F7F7F7"/>
          </a:solidFill>
          <a:ln/>
        </p:spPr>
      </p:sp>
      <p:sp>
        <p:nvSpPr>
          <p:cNvPr id="159" name="Text 157"/>
          <p:cNvSpPr txBox="1"/>
          <p:nvPr/>
        </p:nvSpPr>
        <p:spPr>
          <a:xfrm>
            <a:off x="6208776" y="4625457"/>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60" name="Shape 158"/>
          <p:cNvSpPr/>
          <p:nvPr/>
        </p:nvSpPr>
        <p:spPr>
          <a:xfrm>
            <a:off x="8407908" y="4710215"/>
            <a:ext cx="155448" cy="155448"/>
          </a:xfrm>
          <a:prstGeom prst="ellipse">
            <a:avLst/>
          </a:prstGeom>
          <a:solidFill>
            <a:srgbClr val="12A566"/>
          </a:solidFill>
          <a:ln w="12700">
            <a:solidFill>
              <a:srgbClr val="12A566"/>
            </a:solidFill>
            <a:prstDash val="solid"/>
          </a:ln>
        </p:spPr>
      </p:sp>
      <p:sp>
        <p:nvSpPr>
          <p:cNvPr id="161" name="Shape 159"/>
          <p:cNvSpPr/>
          <p:nvPr/>
        </p:nvSpPr>
        <p:spPr>
          <a:xfrm>
            <a:off x="8993124" y="4710215"/>
            <a:ext cx="155448" cy="155448"/>
          </a:xfrm>
          <a:prstGeom prst="ellipse">
            <a:avLst/>
          </a:prstGeom>
          <a:solidFill>
            <a:srgbClr val="FFFFFF"/>
          </a:solidFill>
          <a:ln w="12700">
            <a:solidFill>
              <a:srgbClr val="9AA3AD"/>
            </a:solidFill>
            <a:prstDash val="solid"/>
          </a:ln>
        </p:spPr>
      </p:sp>
      <p:sp>
        <p:nvSpPr>
          <p:cNvPr id="162" name="Shape 160"/>
          <p:cNvSpPr/>
          <p:nvPr/>
        </p:nvSpPr>
        <p:spPr>
          <a:xfrm>
            <a:off x="9578340" y="4710215"/>
            <a:ext cx="155448" cy="155448"/>
          </a:xfrm>
          <a:prstGeom prst="ellipse">
            <a:avLst/>
          </a:prstGeom>
          <a:solidFill>
            <a:srgbClr val="12A566"/>
          </a:solidFill>
          <a:ln w="12700">
            <a:solidFill>
              <a:srgbClr val="12A566"/>
            </a:solidFill>
            <a:prstDash val="solid"/>
          </a:ln>
        </p:spPr>
      </p:sp>
      <p:sp>
        <p:nvSpPr>
          <p:cNvPr id="163" name="Text 161"/>
          <p:cNvSpPr txBox="1"/>
          <p:nvPr/>
        </p:nvSpPr>
        <p:spPr>
          <a:xfrm>
            <a:off x="9948672" y="4625457"/>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$3.91M</a:t>
            </a:r>
            <a:endParaRPr lang="en-US" sz="1300" dirty="0"/>
          </a:p>
        </p:txBody>
      </p:sp>
      <p:sp>
        <p:nvSpPr>
          <p:cNvPr id="164" name="Text 162"/>
          <p:cNvSpPr txBox="1"/>
          <p:nvPr/>
        </p:nvSpPr>
        <p:spPr>
          <a:xfrm>
            <a:off x="10789920" y="4625457"/>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a:t>
            </a:r>
            <a:endParaRPr lang="en-US" sz="1300" dirty="0"/>
          </a:p>
        </p:txBody>
      </p:sp>
      <p:sp>
        <p:nvSpPr>
          <p:cNvPr id="165" name="Text 163"/>
          <p:cNvSpPr txBox="1"/>
          <p:nvPr/>
        </p:nvSpPr>
        <p:spPr>
          <a:xfrm>
            <a:off x="6208776" y="495042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6" name="Shape 164"/>
          <p:cNvSpPr/>
          <p:nvPr/>
        </p:nvSpPr>
        <p:spPr>
          <a:xfrm>
            <a:off x="8407908" y="5035179"/>
            <a:ext cx="155448" cy="155448"/>
          </a:xfrm>
          <a:prstGeom prst="ellipse">
            <a:avLst/>
          </a:prstGeom>
          <a:solidFill>
            <a:srgbClr val="FFFFFF"/>
          </a:solidFill>
          <a:ln w="12700">
            <a:solidFill>
              <a:srgbClr val="9AA3AD"/>
            </a:solidFill>
            <a:prstDash val="solid"/>
          </a:ln>
        </p:spPr>
      </p:sp>
      <p:sp>
        <p:nvSpPr>
          <p:cNvPr id="167" name="Shape 165"/>
          <p:cNvSpPr/>
          <p:nvPr/>
        </p:nvSpPr>
        <p:spPr>
          <a:xfrm>
            <a:off x="8993124" y="5035179"/>
            <a:ext cx="155448" cy="155448"/>
          </a:xfrm>
          <a:prstGeom prst="ellipse">
            <a:avLst/>
          </a:prstGeom>
          <a:solidFill>
            <a:srgbClr val="12A566"/>
          </a:solidFill>
          <a:ln w="12700">
            <a:solidFill>
              <a:srgbClr val="12A566"/>
            </a:solidFill>
            <a:prstDash val="solid"/>
          </a:ln>
        </p:spPr>
      </p:sp>
      <p:sp>
        <p:nvSpPr>
          <p:cNvPr id="168" name="Shape 166"/>
          <p:cNvSpPr/>
          <p:nvPr/>
        </p:nvSpPr>
        <p:spPr>
          <a:xfrm>
            <a:off x="9578340" y="5035179"/>
            <a:ext cx="155448" cy="155448"/>
          </a:xfrm>
          <a:prstGeom prst="ellipse">
            <a:avLst/>
          </a:prstGeom>
          <a:solidFill>
            <a:srgbClr val="12A566"/>
          </a:solidFill>
          <a:ln w="12700">
            <a:solidFill>
              <a:srgbClr val="12A566"/>
            </a:solidFill>
            <a:prstDash val="solid"/>
          </a:ln>
        </p:spPr>
      </p:sp>
      <p:sp>
        <p:nvSpPr>
          <p:cNvPr id="169" name="Text 167"/>
          <p:cNvSpPr txBox="1"/>
          <p:nvPr/>
        </p:nvSpPr>
        <p:spPr>
          <a:xfrm>
            <a:off x="9948672" y="495042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$1.59M</a:t>
            </a:r>
            <a:endParaRPr lang="en-US" sz="1300" dirty="0"/>
          </a:p>
        </p:txBody>
      </p:sp>
      <p:sp>
        <p:nvSpPr>
          <p:cNvPr id="170" name="Text 168"/>
          <p:cNvSpPr txBox="1"/>
          <p:nvPr/>
        </p:nvSpPr>
        <p:spPr>
          <a:xfrm>
            <a:off x="10789920" y="495042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a:t>
            </a:r>
            <a:endParaRPr lang="en-US" sz="1300" dirty="0"/>
          </a:p>
        </p:txBody>
      </p:sp>
      <p:sp>
        <p:nvSpPr>
          <p:cNvPr id="171" name="Shape 169"/>
          <p:cNvSpPr/>
          <p:nvPr/>
        </p:nvSpPr>
        <p:spPr>
          <a:xfrm>
            <a:off x="6135624" y="5275385"/>
            <a:ext cx="5486400" cy="324964"/>
          </a:xfrm>
          <a:prstGeom prst="rect">
            <a:avLst/>
          </a:prstGeom>
          <a:solidFill>
            <a:srgbClr val="F7F7F7"/>
          </a:solidFill>
          <a:ln/>
        </p:spPr>
      </p:sp>
      <p:sp>
        <p:nvSpPr>
          <p:cNvPr id="172" name="Text 170"/>
          <p:cNvSpPr txBox="1"/>
          <p:nvPr/>
        </p:nvSpPr>
        <p:spPr>
          <a:xfrm>
            <a:off x="6208776" y="527538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73" name="Shape 171"/>
          <p:cNvSpPr/>
          <p:nvPr/>
        </p:nvSpPr>
        <p:spPr>
          <a:xfrm>
            <a:off x="8407908" y="5360142"/>
            <a:ext cx="155448" cy="155448"/>
          </a:xfrm>
          <a:prstGeom prst="ellipse">
            <a:avLst/>
          </a:prstGeom>
          <a:solidFill>
            <a:srgbClr val="12A566"/>
          </a:solidFill>
          <a:ln w="12700">
            <a:solidFill>
              <a:srgbClr val="12A566"/>
            </a:solidFill>
            <a:prstDash val="solid"/>
          </a:ln>
        </p:spPr>
      </p:sp>
      <p:sp>
        <p:nvSpPr>
          <p:cNvPr id="174" name="Shape 172"/>
          <p:cNvSpPr/>
          <p:nvPr/>
        </p:nvSpPr>
        <p:spPr>
          <a:xfrm>
            <a:off x="8993124" y="5360142"/>
            <a:ext cx="155448" cy="155448"/>
          </a:xfrm>
          <a:prstGeom prst="ellipse">
            <a:avLst/>
          </a:prstGeom>
          <a:solidFill>
            <a:srgbClr val="FFFFFF"/>
          </a:solidFill>
          <a:ln w="12700">
            <a:solidFill>
              <a:srgbClr val="9AA3AD"/>
            </a:solidFill>
            <a:prstDash val="solid"/>
          </a:ln>
        </p:spPr>
      </p:sp>
      <p:sp>
        <p:nvSpPr>
          <p:cNvPr id="175" name="Shape 173"/>
          <p:cNvSpPr/>
          <p:nvPr/>
        </p:nvSpPr>
        <p:spPr>
          <a:xfrm>
            <a:off x="9578340" y="5360142"/>
            <a:ext cx="155448" cy="155448"/>
          </a:xfrm>
          <a:prstGeom prst="ellipse">
            <a:avLst/>
          </a:prstGeom>
          <a:solidFill>
            <a:srgbClr val="12A566"/>
          </a:solidFill>
          <a:ln w="12700">
            <a:solidFill>
              <a:srgbClr val="12A566"/>
            </a:solidFill>
            <a:prstDash val="solid"/>
          </a:ln>
        </p:spPr>
      </p:sp>
      <p:sp>
        <p:nvSpPr>
          <p:cNvPr id="176" name="Text 174"/>
          <p:cNvSpPr txBox="1"/>
          <p:nvPr/>
        </p:nvSpPr>
        <p:spPr>
          <a:xfrm>
            <a:off x="9948672" y="527538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$4.53M</a:t>
            </a:r>
            <a:endParaRPr lang="en-US" sz="1300" dirty="0"/>
          </a:p>
        </p:txBody>
      </p:sp>
      <p:sp>
        <p:nvSpPr>
          <p:cNvPr id="177" name="Text 175"/>
          <p:cNvSpPr txBox="1"/>
          <p:nvPr/>
        </p:nvSpPr>
        <p:spPr>
          <a:xfrm>
            <a:off x="10789920" y="527538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+0.8%</a:t>
            </a:r>
            <a:endParaRPr lang="en-US" sz="1300" dirty="0"/>
          </a:p>
        </p:txBody>
      </p:sp>
      <p:sp>
        <p:nvSpPr>
          <p:cNvPr id="178" name="Shape 176"/>
          <p:cNvSpPr/>
          <p:nvPr/>
        </p:nvSpPr>
        <p:spPr>
          <a:xfrm>
            <a:off x="457200" y="6126480"/>
            <a:ext cx="11274552" cy="371856"/>
          </a:xfrm>
          <a:prstGeom prst="rect">
            <a:avLst/>
          </a:prstGeom>
          <a:solidFill>
            <a:srgbClr val="E6F6EE"/>
          </a:solidFill>
          <a:ln/>
        </p:spPr>
      </p:sp>
      <p:sp>
        <p:nvSpPr>
          <p:cNvPr id="179" name="Text 17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set a January–September record; 13 set it in service, parts and total.</a:t>
            </a:r>
            <a:endParaRPr lang="en-US" sz="1600" dirty="0"/>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SPOTLIGHT BY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HYUNDAI PRESCOTT</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+35.7%</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$1.54M vs $1.13M, the previous best (2025).</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LINCOLN</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+31.6%</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$2.98M vs $2.26M, the previous best (2025).</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LEXUS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+22.5%</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$4.15M vs $3.38M, the previous best (2025).</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AUDI HENDERSON</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+16.0%</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$12.34M vs $10.64M, the previous best (2025).</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What changed? Each of these stores tells the room one thing they did differently this year.</a:t>
            </a:r>
            <a:endParaRPr lang="en-US" sz="1700" dirty="0"/>
          </a:p>
        </p:txBody>
      </p:sp>
      <p:sp>
        <p:nvSpPr>
          <p:cNvPr id="27" name="Shape 25"/>
          <p:cNvSpPr/>
          <p:nvPr/>
        </p:nvSpPr>
        <p:spPr>
          <a:xfrm>
            <a:off x="457200" y="6126480"/>
            <a:ext cx="11274552" cy="348996"/>
          </a:xfrm>
          <a:prstGeom prst="rect">
            <a:avLst/>
          </a:prstGeom>
          <a:solidFill>
            <a:srgbClr val="E6F6EE"/>
          </a:solidFill>
          <a:ln/>
        </p:spPr>
      </p:sp>
      <p:sp>
        <p:nvSpPr>
          <p:cNvPr id="28" name="Text 2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Hyundai Prescott, Lincoln, Lexus and Audi Henderson beat their previous best by the most in percentage terms.</a:t>
            </a:r>
            <a:endParaRPr lang="en-US" sz="1450" dirty="0"/>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SPOTLIGHT BY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TOYOTA HENDERSON</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+$1.77M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$22.59M vs $20.82M, the previous best (2025); +8.5%.</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+$1.70M</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$12.34M vs $10.64M, the previous best (2025); +16.0%.</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LEXUS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+$0.76M</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$4.15M vs $3.38M, the previous best (2025); +22.5%.</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LINCOLN</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+$0.72M</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$2.98M vs $2.26M, the previous best (2025); +31.6%.</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What changed? Each of these stores tells the room one thing they did differently this year.</a:t>
            </a:r>
            <a:endParaRPr lang="en-US" sz="1700" dirty="0"/>
          </a:p>
        </p:txBody>
      </p:sp>
      <p:sp>
        <p:nvSpPr>
          <p:cNvPr id="27" name="Shape 25"/>
          <p:cNvSpPr/>
          <p:nvPr/>
        </p:nvSpPr>
        <p:spPr>
          <a:xfrm>
            <a:off x="457200" y="6126480"/>
            <a:ext cx="11274552" cy="364236"/>
          </a:xfrm>
          <a:prstGeom prst="rect">
            <a:avLst/>
          </a:prstGeom>
          <a:solidFill>
            <a:srgbClr val="E6F6EE"/>
          </a:solidFill>
          <a:ln/>
        </p:spPr>
      </p:sp>
      <p:sp>
        <p:nvSpPr>
          <p:cNvPr id="28" name="Text 2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Toyota Henderson, Audi Henderson, Lexus and Lincoln beat their previous best by the most in dollars.</a:t>
            </a:r>
            <a:endParaRPr lang="en-US" sz="1550" dirty="0"/>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RANKER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Monthly Gross 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818888" y="1316736"/>
            <a:ext cx="10515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RECORDS</a:t>
            </a:r>
            <a:endParaRPr lang="en-US" sz="1400" dirty="0"/>
          </a:p>
        </p:txBody>
      </p:sp>
      <p:sp>
        <p:nvSpPr>
          <p:cNvPr id="7" name="Text 5"/>
          <p:cNvSpPr txBox="1"/>
          <p:nvPr/>
        </p:nvSpPr>
        <p:spPr>
          <a:xfrm>
            <a:off x="10369296" y="1316736"/>
            <a:ext cx="10515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RECORDS</a:t>
            </a:r>
            <a:endParaRPr lang="en-US" sz="1400" dirty="0"/>
          </a:p>
        </p:txBody>
      </p:sp>
      <p:sp>
        <p:nvSpPr>
          <p:cNvPr id="8" name="Text 6"/>
          <p:cNvSpPr txBox="1"/>
          <p:nvPr/>
        </p:nvSpPr>
        <p:spPr>
          <a:xfrm>
            <a:off x="658368"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9" name="Shape 7"/>
          <p:cNvSpPr/>
          <p:nvPr/>
        </p:nvSpPr>
        <p:spPr>
          <a:xfrm>
            <a:off x="2670048" y="1779994"/>
            <a:ext cx="2093976" cy="193624"/>
          </a:xfrm>
          <a:prstGeom prst="rect">
            <a:avLst/>
          </a:prstGeom>
          <a:solidFill>
            <a:srgbClr val="12A566"/>
          </a:solidFill>
          <a:ln/>
        </p:spPr>
      </p:sp>
      <p:sp>
        <p:nvSpPr>
          <p:cNvPr id="10" name="Text 8"/>
          <p:cNvSpPr txBox="1"/>
          <p:nvPr/>
        </p:nvSpPr>
        <p:spPr>
          <a:xfrm>
            <a:off x="4818888" y="170078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 name="Text 9"/>
          <p:cNvSpPr txBox="1"/>
          <p:nvPr/>
        </p:nvSpPr>
        <p:spPr>
          <a:xfrm>
            <a:off x="658368"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2" name="Shape 10"/>
          <p:cNvSpPr/>
          <p:nvPr/>
        </p:nvSpPr>
        <p:spPr>
          <a:xfrm>
            <a:off x="2670048" y="2132038"/>
            <a:ext cx="2093976" cy="193624"/>
          </a:xfrm>
          <a:prstGeom prst="rect">
            <a:avLst/>
          </a:prstGeom>
          <a:solidFill>
            <a:srgbClr val="12A566"/>
          </a:solidFill>
          <a:ln/>
        </p:spPr>
      </p:sp>
      <p:sp>
        <p:nvSpPr>
          <p:cNvPr id="13" name="Text 11"/>
          <p:cNvSpPr txBox="1"/>
          <p:nvPr/>
        </p:nvSpPr>
        <p:spPr>
          <a:xfrm>
            <a:off x="4818888" y="205282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 name="Text 12"/>
          <p:cNvSpPr txBox="1"/>
          <p:nvPr/>
        </p:nvSpPr>
        <p:spPr>
          <a:xfrm>
            <a:off x="658368"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5" name="Shape 13"/>
          <p:cNvSpPr/>
          <p:nvPr/>
        </p:nvSpPr>
        <p:spPr>
          <a:xfrm>
            <a:off x="2670048" y="2484082"/>
            <a:ext cx="1861312" cy="193624"/>
          </a:xfrm>
          <a:prstGeom prst="rect">
            <a:avLst/>
          </a:prstGeom>
          <a:solidFill>
            <a:srgbClr val="12A566"/>
          </a:solidFill>
          <a:ln/>
        </p:spPr>
      </p:sp>
      <p:sp>
        <p:nvSpPr>
          <p:cNvPr id="16" name="Text 14"/>
          <p:cNvSpPr txBox="1"/>
          <p:nvPr/>
        </p:nvSpPr>
        <p:spPr>
          <a:xfrm>
            <a:off x="4818888" y="240487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7" name="Text 15"/>
          <p:cNvSpPr txBox="1"/>
          <p:nvPr/>
        </p:nvSpPr>
        <p:spPr>
          <a:xfrm>
            <a:off x="658368"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8" name="Shape 16"/>
          <p:cNvSpPr/>
          <p:nvPr/>
        </p:nvSpPr>
        <p:spPr>
          <a:xfrm>
            <a:off x="2670048" y="2836126"/>
            <a:ext cx="1628648" cy="193624"/>
          </a:xfrm>
          <a:prstGeom prst="rect">
            <a:avLst/>
          </a:prstGeom>
          <a:solidFill>
            <a:srgbClr val="12A566"/>
          </a:solidFill>
          <a:ln/>
        </p:spPr>
      </p:sp>
      <p:sp>
        <p:nvSpPr>
          <p:cNvPr id="19" name="Text 17"/>
          <p:cNvSpPr txBox="1"/>
          <p:nvPr/>
        </p:nvSpPr>
        <p:spPr>
          <a:xfrm>
            <a:off x="4818888" y="275691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20" name="Text 18"/>
          <p:cNvSpPr txBox="1"/>
          <p:nvPr/>
        </p:nvSpPr>
        <p:spPr>
          <a:xfrm>
            <a:off x="658368"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670048" y="3188170"/>
            <a:ext cx="1628648" cy="193624"/>
          </a:xfrm>
          <a:prstGeom prst="rect">
            <a:avLst/>
          </a:prstGeom>
          <a:solidFill>
            <a:srgbClr val="12A566"/>
          </a:solidFill>
          <a:ln/>
        </p:spPr>
      </p:sp>
      <p:sp>
        <p:nvSpPr>
          <p:cNvPr id="22" name="Text 20"/>
          <p:cNvSpPr txBox="1"/>
          <p:nvPr/>
        </p:nvSpPr>
        <p:spPr>
          <a:xfrm>
            <a:off x="4818888" y="310896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23" name="Text 21"/>
          <p:cNvSpPr txBox="1"/>
          <p:nvPr/>
        </p:nvSpPr>
        <p:spPr>
          <a:xfrm>
            <a:off x="658368"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4" name="Shape 22"/>
          <p:cNvSpPr/>
          <p:nvPr/>
        </p:nvSpPr>
        <p:spPr>
          <a:xfrm>
            <a:off x="2670048" y="3540214"/>
            <a:ext cx="1395984" cy="193624"/>
          </a:xfrm>
          <a:prstGeom prst="rect">
            <a:avLst/>
          </a:prstGeom>
          <a:solidFill>
            <a:srgbClr val="12A566"/>
          </a:solidFill>
          <a:ln/>
        </p:spPr>
      </p:sp>
      <p:sp>
        <p:nvSpPr>
          <p:cNvPr id="25" name="Text 23"/>
          <p:cNvSpPr txBox="1"/>
          <p:nvPr/>
        </p:nvSpPr>
        <p:spPr>
          <a:xfrm>
            <a:off x="4818888" y="346100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26" name="Text 24"/>
          <p:cNvSpPr txBox="1"/>
          <p:nvPr/>
        </p:nvSpPr>
        <p:spPr>
          <a:xfrm>
            <a:off x="658368"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7" name="Shape 25"/>
          <p:cNvSpPr/>
          <p:nvPr/>
        </p:nvSpPr>
        <p:spPr>
          <a:xfrm>
            <a:off x="2670048" y="3892258"/>
            <a:ext cx="1395984" cy="193624"/>
          </a:xfrm>
          <a:prstGeom prst="rect">
            <a:avLst/>
          </a:prstGeom>
          <a:solidFill>
            <a:srgbClr val="12A566"/>
          </a:solidFill>
          <a:ln/>
        </p:spPr>
      </p:sp>
      <p:sp>
        <p:nvSpPr>
          <p:cNvPr id="28" name="Text 26"/>
          <p:cNvSpPr txBox="1"/>
          <p:nvPr/>
        </p:nvSpPr>
        <p:spPr>
          <a:xfrm>
            <a:off x="4818888" y="381304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29" name="Text 27"/>
          <p:cNvSpPr txBox="1"/>
          <p:nvPr/>
        </p:nvSpPr>
        <p:spPr>
          <a:xfrm>
            <a:off x="658368"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30" name="Shape 28"/>
          <p:cNvSpPr/>
          <p:nvPr/>
        </p:nvSpPr>
        <p:spPr>
          <a:xfrm>
            <a:off x="2670048" y="4244302"/>
            <a:ext cx="1163320" cy="193624"/>
          </a:xfrm>
          <a:prstGeom prst="rect">
            <a:avLst/>
          </a:prstGeom>
          <a:solidFill>
            <a:srgbClr val="12A566"/>
          </a:solidFill>
          <a:ln/>
        </p:spPr>
      </p:sp>
      <p:sp>
        <p:nvSpPr>
          <p:cNvPr id="31" name="Text 29"/>
          <p:cNvSpPr txBox="1"/>
          <p:nvPr/>
        </p:nvSpPr>
        <p:spPr>
          <a:xfrm>
            <a:off x="4818888" y="416509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2" name="Text 30"/>
          <p:cNvSpPr txBox="1"/>
          <p:nvPr/>
        </p:nvSpPr>
        <p:spPr>
          <a:xfrm>
            <a:off x="658368"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33" name="Shape 31"/>
          <p:cNvSpPr/>
          <p:nvPr/>
        </p:nvSpPr>
        <p:spPr>
          <a:xfrm>
            <a:off x="2670048" y="4596346"/>
            <a:ext cx="930656" cy="193624"/>
          </a:xfrm>
          <a:prstGeom prst="rect">
            <a:avLst/>
          </a:prstGeom>
          <a:solidFill>
            <a:srgbClr val="12A566"/>
          </a:solidFill>
          <a:ln/>
        </p:spPr>
      </p:sp>
      <p:sp>
        <p:nvSpPr>
          <p:cNvPr id="34" name="Text 32"/>
          <p:cNvSpPr txBox="1"/>
          <p:nvPr/>
        </p:nvSpPr>
        <p:spPr>
          <a:xfrm>
            <a:off x="4818888" y="451713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35" name="Text 33"/>
          <p:cNvSpPr txBox="1"/>
          <p:nvPr/>
        </p:nvSpPr>
        <p:spPr>
          <a:xfrm>
            <a:off x="658368"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36" name="Shape 34"/>
          <p:cNvSpPr/>
          <p:nvPr/>
        </p:nvSpPr>
        <p:spPr>
          <a:xfrm>
            <a:off x="2670048" y="4948390"/>
            <a:ext cx="930656" cy="193624"/>
          </a:xfrm>
          <a:prstGeom prst="rect">
            <a:avLst/>
          </a:prstGeom>
          <a:solidFill>
            <a:srgbClr val="12A566"/>
          </a:solidFill>
          <a:ln/>
        </p:spPr>
      </p:sp>
      <p:sp>
        <p:nvSpPr>
          <p:cNvPr id="37" name="Text 35"/>
          <p:cNvSpPr txBox="1"/>
          <p:nvPr/>
        </p:nvSpPr>
        <p:spPr>
          <a:xfrm>
            <a:off x="4818888" y="486918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38" name="Text 36"/>
          <p:cNvSpPr txBox="1"/>
          <p:nvPr/>
        </p:nvSpPr>
        <p:spPr>
          <a:xfrm>
            <a:off x="658368"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39" name="Shape 37"/>
          <p:cNvSpPr/>
          <p:nvPr/>
        </p:nvSpPr>
        <p:spPr>
          <a:xfrm>
            <a:off x="2670048" y="5300434"/>
            <a:ext cx="930656" cy="193624"/>
          </a:xfrm>
          <a:prstGeom prst="rect">
            <a:avLst/>
          </a:prstGeom>
          <a:solidFill>
            <a:srgbClr val="12A566"/>
          </a:solidFill>
          <a:ln/>
        </p:spPr>
      </p:sp>
      <p:sp>
        <p:nvSpPr>
          <p:cNvPr id="40" name="Text 38"/>
          <p:cNvSpPr txBox="1"/>
          <p:nvPr/>
        </p:nvSpPr>
        <p:spPr>
          <a:xfrm>
            <a:off x="4818888" y="522122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1" name="Text 39"/>
          <p:cNvSpPr txBox="1"/>
          <p:nvPr/>
        </p:nvSpPr>
        <p:spPr>
          <a:xfrm>
            <a:off x="658368" y="557326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2" name="Shape 40"/>
          <p:cNvSpPr/>
          <p:nvPr/>
        </p:nvSpPr>
        <p:spPr>
          <a:xfrm>
            <a:off x="2670048" y="5652478"/>
            <a:ext cx="930656" cy="193624"/>
          </a:xfrm>
          <a:prstGeom prst="rect">
            <a:avLst/>
          </a:prstGeom>
          <a:solidFill>
            <a:srgbClr val="12A566"/>
          </a:solidFill>
          <a:ln/>
        </p:spPr>
      </p:sp>
      <p:sp>
        <p:nvSpPr>
          <p:cNvPr id="43" name="Text 41"/>
          <p:cNvSpPr txBox="1"/>
          <p:nvPr/>
        </p:nvSpPr>
        <p:spPr>
          <a:xfrm>
            <a:off x="4818888" y="557326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4" name="Text 42"/>
          <p:cNvSpPr txBox="1"/>
          <p:nvPr/>
        </p:nvSpPr>
        <p:spPr>
          <a:xfrm>
            <a:off x="6208776"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5" name="Shape 43"/>
          <p:cNvSpPr/>
          <p:nvPr/>
        </p:nvSpPr>
        <p:spPr>
          <a:xfrm>
            <a:off x="8220456" y="1779994"/>
            <a:ext cx="930656" cy="193624"/>
          </a:xfrm>
          <a:prstGeom prst="rect">
            <a:avLst/>
          </a:prstGeom>
          <a:solidFill>
            <a:srgbClr val="12A566"/>
          </a:solidFill>
          <a:ln/>
        </p:spPr>
      </p:sp>
      <p:sp>
        <p:nvSpPr>
          <p:cNvPr id="46" name="Text 44"/>
          <p:cNvSpPr txBox="1"/>
          <p:nvPr/>
        </p:nvSpPr>
        <p:spPr>
          <a:xfrm>
            <a:off x="10369296" y="170078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7" name="Text 45"/>
          <p:cNvSpPr txBox="1"/>
          <p:nvPr/>
        </p:nvSpPr>
        <p:spPr>
          <a:xfrm>
            <a:off x="6208776"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8" name="Shape 46"/>
          <p:cNvSpPr/>
          <p:nvPr/>
        </p:nvSpPr>
        <p:spPr>
          <a:xfrm>
            <a:off x="8220456" y="2132038"/>
            <a:ext cx="930656" cy="193624"/>
          </a:xfrm>
          <a:prstGeom prst="rect">
            <a:avLst/>
          </a:prstGeom>
          <a:solidFill>
            <a:srgbClr val="12A566"/>
          </a:solidFill>
          <a:ln/>
        </p:spPr>
      </p:sp>
      <p:sp>
        <p:nvSpPr>
          <p:cNvPr id="49" name="Text 47"/>
          <p:cNvSpPr txBox="1"/>
          <p:nvPr/>
        </p:nvSpPr>
        <p:spPr>
          <a:xfrm>
            <a:off x="10369296" y="205282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50" name="Text 48"/>
          <p:cNvSpPr txBox="1"/>
          <p:nvPr/>
        </p:nvSpPr>
        <p:spPr>
          <a:xfrm>
            <a:off x="6208776"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1" name="Shape 49"/>
          <p:cNvSpPr/>
          <p:nvPr/>
        </p:nvSpPr>
        <p:spPr>
          <a:xfrm>
            <a:off x="8220456" y="2484082"/>
            <a:ext cx="697992" cy="193624"/>
          </a:xfrm>
          <a:prstGeom prst="rect">
            <a:avLst/>
          </a:prstGeom>
          <a:solidFill>
            <a:srgbClr val="12A566"/>
          </a:solidFill>
          <a:ln/>
        </p:spPr>
      </p:sp>
      <p:sp>
        <p:nvSpPr>
          <p:cNvPr id="52" name="Text 50"/>
          <p:cNvSpPr txBox="1"/>
          <p:nvPr/>
        </p:nvSpPr>
        <p:spPr>
          <a:xfrm>
            <a:off x="10369296" y="240487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a:t>
            </a:r>
            <a:endParaRPr lang="en-US" sz="1300" dirty="0"/>
          </a:p>
        </p:txBody>
      </p:sp>
      <p:sp>
        <p:nvSpPr>
          <p:cNvPr id="53" name="Text 51"/>
          <p:cNvSpPr txBox="1"/>
          <p:nvPr/>
        </p:nvSpPr>
        <p:spPr>
          <a:xfrm>
            <a:off x="6208776"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54" name="Shape 52"/>
          <p:cNvSpPr/>
          <p:nvPr/>
        </p:nvSpPr>
        <p:spPr>
          <a:xfrm>
            <a:off x="8220456" y="2836126"/>
            <a:ext cx="465328" cy="193624"/>
          </a:xfrm>
          <a:prstGeom prst="rect">
            <a:avLst/>
          </a:prstGeom>
          <a:solidFill>
            <a:srgbClr val="12A566"/>
          </a:solidFill>
          <a:ln/>
        </p:spPr>
      </p:sp>
      <p:sp>
        <p:nvSpPr>
          <p:cNvPr id="55" name="Text 53"/>
          <p:cNvSpPr txBox="1"/>
          <p:nvPr/>
        </p:nvSpPr>
        <p:spPr>
          <a:xfrm>
            <a:off x="10369296" y="275691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56" name="Text 54"/>
          <p:cNvSpPr txBox="1"/>
          <p:nvPr/>
        </p:nvSpPr>
        <p:spPr>
          <a:xfrm>
            <a:off x="6208776"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7" name="Shape 55"/>
          <p:cNvSpPr/>
          <p:nvPr/>
        </p:nvSpPr>
        <p:spPr>
          <a:xfrm>
            <a:off x="8220456" y="3188170"/>
            <a:ext cx="465328" cy="193624"/>
          </a:xfrm>
          <a:prstGeom prst="rect">
            <a:avLst/>
          </a:prstGeom>
          <a:solidFill>
            <a:srgbClr val="12A566"/>
          </a:solidFill>
          <a:ln/>
        </p:spPr>
      </p:sp>
      <p:sp>
        <p:nvSpPr>
          <p:cNvPr id="58" name="Text 56"/>
          <p:cNvSpPr txBox="1"/>
          <p:nvPr/>
        </p:nvSpPr>
        <p:spPr>
          <a:xfrm>
            <a:off x="10369296" y="310896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59" name="Text 57"/>
          <p:cNvSpPr txBox="1"/>
          <p:nvPr/>
        </p:nvSpPr>
        <p:spPr>
          <a:xfrm>
            <a:off x="6208776"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60" name="Shape 58"/>
          <p:cNvSpPr/>
          <p:nvPr/>
        </p:nvSpPr>
        <p:spPr>
          <a:xfrm>
            <a:off x="8220456" y="3540214"/>
            <a:ext cx="465328" cy="193624"/>
          </a:xfrm>
          <a:prstGeom prst="rect">
            <a:avLst/>
          </a:prstGeom>
          <a:solidFill>
            <a:srgbClr val="12A566"/>
          </a:solidFill>
          <a:ln/>
        </p:spPr>
      </p:sp>
      <p:sp>
        <p:nvSpPr>
          <p:cNvPr id="61" name="Text 59"/>
          <p:cNvSpPr txBox="1"/>
          <p:nvPr/>
        </p:nvSpPr>
        <p:spPr>
          <a:xfrm>
            <a:off x="10369296" y="346100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2" name="Text 60"/>
          <p:cNvSpPr txBox="1"/>
          <p:nvPr/>
        </p:nvSpPr>
        <p:spPr>
          <a:xfrm>
            <a:off x="6208776"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8220456" y="3892258"/>
            <a:ext cx="465328" cy="193624"/>
          </a:xfrm>
          <a:prstGeom prst="rect">
            <a:avLst/>
          </a:prstGeom>
          <a:solidFill>
            <a:srgbClr val="12A566"/>
          </a:solidFill>
          <a:ln/>
        </p:spPr>
      </p:sp>
      <p:sp>
        <p:nvSpPr>
          <p:cNvPr id="64" name="Text 62"/>
          <p:cNvSpPr txBox="1"/>
          <p:nvPr/>
        </p:nvSpPr>
        <p:spPr>
          <a:xfrm>
            <a:off x="10369296" y="381304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5" name="Text 63"/>
          <p:cNvSpPr txBox="1"/>
          <p:nvPr/>
        </p:nvSpPr>
        <p:spPr>
          <a:xfrm>
            <a:off x="6208776"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6" name="Shape 64"/>
          <p:cNvSpPr/>
          <p:nvPr/>
        </p:nvSpPr>
        <p:spPr>
          <a:xfrm>
            <a:off x="8220456" y="4244302"/>
            <a:ext cx="465328" cy="193624"/>
          </a:xfrm>
          <a:prstGeom prst="rect">
            <a:avLst/>
          </a:prstGeom>
          <a:solidFill>
            <a:srgbClr val="12A566"/>
          </a:solidFill>
          <a:ln/>
        </p:spPr>
      </p:sp>
      <p:sp>
        <p:nvSpPr>
          <p:cNvPr id="67" name="Text 65"/>
          <p:cNvSpPr txBox="1"/>
          <p:nvPr/>
        </p:nvSpPr>
        <p:spPr>
          <a:xfrm>
            <a:off x="10369296" y="416509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8" name="Text 66"/>
          <p:cNvSpPr txBox="1"/>
          <p:nvPr/>
        </p:nvSpPr>
        <p:spPr>
          <a:xfrm>
            <a:off x="6208776"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20456" y="4596346"/>
            <a:ext cx="465328" cy="193624"/>
          </a:xfrm>
          <a:prstGeom prst="rect">
            <a:avLst/>
          </a:prstGeom>
          <a:solidFill>
            <a:srgbClr val="12A566"/>
          </a:solidFill>
          <a:ln/>
        </p:spPr>
      </p:sp>
      <p:sp>
        <p:nvSpPr>
          <p:cNvPr id="70" name="Text 68"/>
          <p:cNvSpPr txBox="1"/>
          <p:nvPr/>
        </p:nvSpPr>
        <p:spPr>
          <a:xfrm>
            <a:off x="10369296" y="451713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71" name="Text 69"/>
          <p:cNvSpPr txBox="1"/>
          <p:nvPr/>
        </p:nvSpPr>
        <p:spPr>
          <a:xfrm>
            <a:off x="6208776"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2" name="Shape 70"/>
          <p:cNvSpPr/>
          <p:nvPr/>
        </p:nvSpPr>
        <p:spPr>
          <a:xfrm>
            <a:off x="8220456" y="4948390"/>
            <a:ext cx="232664" cy="193624"/>
          </a:xfrm>
          <a:prstGeom prst="rect">
            <a:avLst/>
          </a:prstGeom>
          <a:solidFill>
            <a:srgbClr val="12A566"/>
          </a:solidFill>
          <a:ln/>
        </p:spPr>
      </p:sp>
      <p:sp>
        <p:nvSpPr>
          <p:cNvPr id="73" name="Text 71"/>
          <p:cNvSpPr txBox="1"/>
          <p:nvPr/>
        </p:nvSpPr>
        <p:spPr>
          <a:xfrm>
            <a:off x="10369296" y="486918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74" name="Text 72"/>
          <p:cNvSpPr txBox="1"/>
          <p:nvPr/>
        </p:nvSpPr>
        <p:spPr>
          <a:xfrm>
            <a:off x="6208776"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5" name="Shape 73"/>
          <p:cNvSpPr/>
          <p:nvPr/>
        </p:nvSpPr>
        <p:spPr>
          <a:xfrm>
            <a:off x="8220456" y="5300434"/>
            <a:ext cx="232664" cy="193624"/>
          </a:xfrm>
          <a:prstGeom prst="rect">
            <a:avLst/>
          </a:prstGeom>
          <a:solidFill>
            <a:srgbClr val="12A566"/>
          </a:solidFill>
          <a:ln/>
        </p:spPr>
      </p:sp>
      <p:sp>
        <p:nvSpPr>
          <p:cNvPr id="76" name="Text 74"/>
          <p:cNvSpPr txBox="1"/>
          <p:nvPr/>
        </p:nvSpPr>
        <p:spPr>
          <a:xfrm>
            <a:off x="10369296" y="522122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77" name="Shape 75"/>
          <p:cNvSpPr/>
          <p:nvPr/>
        </p:nvSpPr>
        <p:spPr>
          <a:xfrm>
            <a:off x="457200" y="6126480"/>
            <a:ext cx="11274552" cy="371856"/>
          </a:xfrm>
          <a:prstGeom prst="rect">
            <a:avLst/>
          </a:prstGeom>
          <a:solidFill>
            <a:srgbClr val="E6F6EE"/>
          </a:solidFill>
          <a:ln/>
        </p:spPr>
      </p:sp>
      <p:sp>
        <p:nvSpPr>
          <p:cNvPr id="78" name="Text 7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set a new monthly record in 2026; Honda Spokane and Nissan set the most, 9 each.</a:t>
            </a:r>
            <a:endParaRPr lang="en-US" sz="1600" dirty="0"/>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RANKER BY CATEGORY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Monthly Gross 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417320"/>
            <a:ext cx="128016" cy="128016"/>
          </a:xfrm>
          <a:prstGeom prst="rect">
            <a:avLst/>
          </a:prstGeom>
          <a:solidFill>
            <a:srgbClr val="0B7A4A"/>
          </a:solidFill>
          <a:ln/>
        </p:spPr>
      </p:sp>
      <p:sp>
        <p:nvSpPr>
          <p:cNvPr id="7" name="Text 5"/>
          <p:cNvSpPr txBox="1"/>
          <p:nvPr/>
        </p:nvSpPr>
        <p:spPr>
          <a:xfrm>
            <a:off x="841248" y="1316736"/>
            <a:ext cx="873252"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Service</a:t>
            </a:r>
            <a:endParaRPr lang="en-US" sz="1400" dirty="0"/>
          </a:p>
        </p:txBody>
      </p:sp>
      <p:sp>
        <p:nvSpPr>
          <p:cNvPr id="8" name="Shape 6"/>
          <p:cNvSpPr/>
          <p:nvPr/>
        </p:nvSpPr>
        <p:spPr>
          <a:xfrm>
            <a:off x="1824228" y="1417320"/>
            <a:ext cx="128016" cy="128016"/>
          </a:xfrm>
          <a:prstGeom prst="rect">
            <a:avLst/>
          </a:prstGeom>
          <a:solidFill>
            <a:srgbClr val="12A566"/>
          </a:solidFill>
          <a:ln/>
        </p:spPr>
      </p:sp>
      <p:sp>
        <p:nvSpPr>
          <p:cNvPr id="9" name="Text 7"/>
          <p:cNvSpPr txBox="1"/>
          <p:nvPr/>
        </p:nvSpPr>
        <p:spPr>
          <a:xfrm>
            <a:off x="2007108" y="1316736"/>
            <a:ext cx="681228"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a:t>
            </a:r>
            <a:endParaRPr lang="en-US" sz="1400" dirty="0"/>
          </a:p>
        </p:txBody>
      </p:sp>
      <p:sp>
        <p:nvSpPr>
          <p:cNvPr id="10" name="Shape 8"/>
          <p:cNvSpPr/>
          <p:nvPr/>
        </p:nvSpPr>
        <p:spPr>
          <a:xfrm>
            <a:off x="2798064" y="1417320"/>
            <a:ext cx="128016" cy="128016"/>
          </a:xfrm>
          <a:prstGeom prst="rect">
            <a:avLst/>
          </a:prstGeom>
          <a:solidFill>
            <a:srgbClr val="8ED3B0"/>
          </a:solidFill>
          <a:ln/>
        </p:spPr>
      </p:sp>
      <p:sp>
        <p:nvSpPr>
          <p:cNvPr id="11" name="Text 9"/>
          <p:cNvSpPr txBox="1"/>
          <p:nvPr/>
        </p:nvSpPr>
        <p:spPr>
          <a:xfrm>
            <a:off x="2980944" y="1316736"/>
            <a:ext cx="969264"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Combined</a:t>
            </a:r>
            <a:endParaRPr lang="en-US" sz="1400" dirty="0"/>
          </a:p>
        </p:txBody>
      </p:sp>
      <p:sp>
        <p:nvSpPr>
          <p:cNvPr id="12" name="Text 10"/>
          <p:cNvSpPr txBox="1"/>
          <p:nvPr/>
        </p:nvSpPr>
        <p:spPr>
          <a:xfrm>
            <a:off x="395935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3" name="Text 11"/>
          <p:cNvSpPr txBox="1"/>
          <p:nvPr/>
        </p:nvSpPr>
        <p:spPr>
          <a:xfrm>
            <a:off x="446227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14" name="Text 12"/>
          <p:cNvSpPr txBox="1"/>
          <p:nvPr/>
        </p:nvSpPr>
        <p:spPr>
          <a:xfrm>
            <a:off x="496519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15" name="Text 13"/>
          <p:cNvSpPr txBox="1"/>
          <p:nvPr/>
        </p:nvSpPr>
        <p:spPr>
          <a:xfrm>
            <a:off x="5468112" y="1316736"/>
            <a:ext cx="548640" cy="329184"/>
          </a:xfrm>
          <a:prstGeom prst="rect">
            <a:avLst/>
          </a:prstGeom>
          <a:noFill/>
          <a:ln/>
        </p:spPr>
        <p:txBody>
          <a:bodyPr wrap="square" lIns="0" tIns="0" rIns="0" bIns="0" rtlCol="0" anchor="ctr"/>
          <a:lstStyle/>
          <a:p>
            <a:pPr algn="r" indent="0" marL="0">
              <a:buNone/>
            </a:pPr>
            <a:r>
              <a:rPr lang="en-US" sz="1400" b="1" dirty="0">
                <a:solidFill>
                  <a:srgbClr val="1A1A1A"/>
                </a:solidFill>
                <a:latin typeface="Inter" pitchFamily="34" charset="0"/>
                <a:ea typeface="Inter" pitchFamily="34" charset="-122"/>
                <a:cs typeface="Inter" pitchFamily="34" charset="-120"/>
              </a:rPr>
              <a:t>ALL</a:t>
            </a:r>
            <a:endParaRPr lang="en-US" sz="1400" dirty="0"/>
          </a:p>
        </p:txBody>
      </p:sp>
      <p:sp>
        <p:nvSpPr>
          <p:cNvPr id="16" name="Shape 14"/>
          <p:cNvSpPr/>
          <p:nvPr/>
        </p:nvSpPr>
        <p:spPr>
          <a:xfrm>
            <a:off x="6208776" y="1417320"/>
            <a:ext cx="128016" cy="128016"/>
          </a:xfrm>
          <a:prstGeom prst="rect">
            <a:avLst/>
          </a:prstGeom>
          <a:solidFill>
            <a:srgbClr val="0B7A4A"/>
          </a:solidFill>
          <a:ln/>
        </p:spPr>
      </p:sp>
      <p:sp>
        <p:nvSpPr>
          <p:cNvPr id="17" name="Text 15"/>
          <p:cNvSpPr txBox="1"/>
          <p:nvPr/>
        </p:nvSpPr>
        <p:spPr>
          <a:xfrm>
            <a:off x="6391656" y="1316736"/>
            <a:ext cx="873252"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Service</a:t>
            </a:r>
            <a:endParaRPr lang="en-US" sz="1400" dirty="0"/>
          </a:p>
        </p:txBody>
      </p:sp>
      <p:sp>
        <p:nvSpPr>
          <p:cNvPr id="18" name="Shape 16"/>
          <p:cNvSpPr/>
          <p:nvPr/>
        </p:nvSpPr>
        <p:spPr>
          <a:xfrm>
            <a:off x="7374636" y="1417320"/>
            <a:ext cx="128016" cy="128016"/>
          </a:xfrm>
          <a:prstGeom prst="rect">
            <a:avLst/>
          </a:prstGeom>
          <a:solidFill>
            <a:srgbClr val="12A566"/>
          </a:solidFill>
          <a:ln/>
        </p:spPr>
      </p:sp>
      <p:sp>
        <p:nvSpPr>
          <p:cNvPr id="19" name="Text 17"/>
          <p:cNvSpPr txBox="1"/>
          <p:nvPr/>
        </p:nvSpPr>
        <p:spPr>
          <a:xfrm>
            <a:off x="7557516" y="1316736"/>
            <a:ext cx="681228"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a:t>
            </a:r>
            <a:endParaRPr lang="en-US" sz="1400" dirty="0"/>
          </a:p>
        </p:txBody>
      </p:sp>
      <p:sp>
        <p:nvSpPr>
          <p:cNvPr id="20" name="Shape 18"/>
          <p:cNvSpPr/>
          <p:nvPr/>
        </p:nvSpPr>
        <p:spPr>
          <a:xfrm>
            <a:off x="8348472" y="1417320"/>
            <a:ext cx="128016" cy="128016"/>
          </a:xfrm>
          <a:prstGeom prst="rect">
            <a:avLst/>
          </a:prstGeom>
          <a:solidFill>
            <a:srgbClr val="8ED3B0"/>
          </a:solidFill>
          <a:ln/>
        </p:spPr>
      </p:sp>
      <p:sp>
        <p:nvSpPr>
          <p:cNvPr id="21" name="Text 19"/>
          <p:cNvSpPr txBox="1"/>
          <p:nvPr/>
        </p:nvSpPr>
        <p:spPr>
          <a:xfrm>
            <a:off x="8531352" y="1316736"/>
            <a:ext cx="969264"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Combined</a:t>
            </a:r>
            <a:endParaRPr lang="en-US" sz="1400" dirty="0"/>
          </a:p>
        </p:txBody>
      </p:sp>
      <p:sp>
        <p:nvSpPr>
          <p:cNvPr id="22" name="Text 20"/>
          <p:cNvSpPr txBox="1"/>
          <p:nvPr/>
        </p:nvSpPr>
        <p:spPr>
          <a:xfrm>
            <a:off x="950976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23" name="Text 21"/>
          <p:cNvSpPr txBox="1"/>
          <p:nvPr/>
        </p:nvSpPr>
        <p:spPr>
          <a:xfrm>
            <a:off x="1001268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24" name="Text 22"/>
          <p:cNvSpPr txBox="1"/>
          <p:nvPr/>
        </p:nvSpPr>
        <p:spPr>
          <a:xfrm>
            <a:off x="1051560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25" name="Text 23"/>
          <p:cNvSpPr txBox="1"/>
          <p:nvPr/>
        </p:nvSpPr>
        <p:spPr>
          <a:xfrm>
            <a:off x="11018520" y="1316736"/>
            <a:ext cx="548640" cy="329184"/>
          </a:xfrm>
          <a:prstGeom prst="rect">
            <a:avLst/>
          </a:prstGeom>
          <a:noFill/>
          <a:ln/>
        </p:spPr>
        <p:txBody>
          <a:bodyPr wrap="square" lIns="0" tIns="0" rIns="0" bIns="0" rtlCol="0" anchor="ctr"/>
          <a:lstStyle/>
          <a:p>
            <a:pPr algn="r" indent="0" marL="0">
              <a:buNone/>
            </a:pPr>
            <a:r>
              <a:rPr lang="en-US" sz="1400" b="1" dirty="0">
                <a:solidFill>
                  <a:srgbClr val="1A1A1A"/>
                </a:solidFill>
                <a:latin typeface="Inter" pitchFamily="34" charset="0"/>
                <a:ea typeface="Inter" pitchFamily="34" charset="-122"/>
                <a:cs typeface="Inter" pitchFamily="34" charset="-120"/>
              </a:rPr>
              <a:t>ALL</a:t>
            </a:r>
            <a:endParaRPr lang="en-US" sz="1400" dirty="0"/>
          </a:p>
        </p:txBody>
      </p:sp>
      <p:sp>
        <p:nvSpPr>
          <p:cNvPr id="26" name="Text 24"/>
          <p:cNvSpPr txBox="1"/>
          <p:nvPr/>
        </p:nvSpPr>
        <p:spPr>
          <a:xfrm>
            <a:off x="658368"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670048" y="1779994"/>
            <a:ext cx="540512" cy="193624"/>
          </a:xfrm>
          <a:prstGeom prst="rect">
            <a:avLst/>
          </a:prstGeom>
          <a:solidFill>
            <a:srgbClr val="0B7A4A"/>
          </a:solidFill>
          <a:ln w="9525">
            <a:solidFill>
              <a:srgbClr val="FFFFFF"/>
            </a:solidFill>
            <a:prstDash val="solid"/>
          </a:ln>
        </p:spPr>
      </p:sp>
      <p:sp>
        <p:nvSpPr>
          <p:cNvPr id="28" name="Shape 26"/>
          <p:cNvSpPr/>
          <p:nvPr/>
        </p:nvSpPr>
        <p:spPr>
          <a:xfrm>
            <a:off x="3210560" y="1779994"/>
            <a:ext cx="135128" cy="193624"/>
          </a:xfrm>
          <a:prstGeom prst="rect">
            <a:avLst/>
          </a:prstGeom>
          <a:solidFill>
            <a:srgbClr val="12A566"/>
          </a:solidFill>
          <a:ln w="9525">
            <a:solidFill>
              <a:srgbClr val="FFFFFF"/>
            </a:solidFill>
            <a:prstDash val="solid"/>
          </a:ln>
        </p:spPr>
      </p:sp>
      <p:sp>
        <p:nvSpPr>
          <p:cNvPr id="29" name="Shape 27"/>
          <p:cNvSpPr/>
          <p:nvPr/>
        </p:nvSpPr>
        <p:spPr>
          <a:xfrm>
            <a:off x="3345688" y="1779994"/>
            <a:ext cx="540512" cy="193624"/>
          </a:xfrm>
          <a:prstGeom prst="rect">
            <a:avLst/>
          </a:prstGeom>
          <a:solidFill>
            <a:srgbClr val="8ED3B0"/>
          </a:solidFill>
          <a:ln w="9525">
            <a:solidFill>
              <a:srgbClr val="FFFFFF"/>
            </a:solidFill>
            <a:prstDash val="solid"/>
          </a:ln>
        </p:spPr>
      </p:sp>
      <p:sp>
        <p:nvSpPr>
          <p:cNvPr id="30" name="Text 28"/>
          <p:cNvSpPr txBox="1"/>
          <p:nvPr/>
        </p:nvSpPr>
        <p:spPr>
          <a:xfrm>
            <a:off x="395935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31" name="Text 29"/>
          <p:cNvSpPr txBox="1"/>
          <p:nvPr/>
        </p:nvSpPr>
        <p:spPr>
          <a:xfrm>
            <a:off x="446227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32" name="Text 30"/>
          <p:cNvSpPr txBox="1"/>
          <p:nvPr/>
        </p:nvSpPr>
        <p:spPr>
          <a:xfrm>
            <a:off x="496519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33" name="Text 31"/>
          <p:cNvSpPr txBox="1"/>
          <p:nvPr/>
        </p:nvSpPr>
        <p:spPr>
          <a:xfrm>
            <a:off x="5468112" y="170078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34" name="Text 32"/>
          <p:cNvSpPr txBox="1"/>
          <p:nvPr/>
        </p:nvSpPr>
        <p:spPr>
          <a:xfrm>
            <a:off x="658368"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35" name="Shape 33"/>
          <p:cNvSpPr/>
          <p:nvPr/>
        </p:nvSpPr>
        <p:spPr>
          <a:xfrm>
            <a:off x="2670048" y="2132038"/>
            <a:ext cx="405384" cy="193624"/>
          </a:xfrm>
          <a:prstGeom prst="rect">
            <a:avLst/>
          </a:prstGeom>
          <a:solidFill>
            <a:srgbClr val="0B7A4A"/>
          </a:solidFill>
          <a:ln w="9525">
            <a:solidFill>
              <a:srgbClr val="FFFFFF"/>
            </a:solidFill>
            <a:prstDash val="solid"/>
          </a:ln>
        </p:spPr>
      </p:sp>
      <p:sp>
        <p:nvSpPr>
          <p:cNvPr id="36" name="Shape 34"/>
          <p:cNvSpPr/>
          <p:nvPr/>
        </p:nvSpPr>
        <p:spPr>
          <a:xfrm>
            <a:off x="3075432" y="2132038"/>
            <a:ext cx="270256" cy="193624"/>
          </a:xfrm>
          <a:prstGeom prst="rect">
            <a:avLst/>
          </a:prstGeom>
          <a:solidFill>
            <a:srgbClr val="12A566"/>
          </a:solidFill>
          <a:ln w="9525">
            <a:solidFill>
              <a:srgbClr val="FFFFFF"/>
            </a:solidFill>
            <a:prstDash val="solid"/>
          </a:ln>
        </p:spPr>
      </p:sp>
      <p:sp>
        <p:nvSpPr>
          <p:cNvPr id="37" name="Shape 35"/>
          <p:cNvSpPr/>
          <p:nvPr/>
        </p:nvSpPr>
        <p:spPr>
          <a:xfrm>
            <a:off x="3345688" y="2132038"/>
            <a:ext cx="540512" cy="193624"/>
          </a:xfrm>
          <a:prstGeom prst="rect">
            <a:avLst/>
          </a:prstGeom>
          <a:solidFill>
            <a:srgbClr val="8ED3B0"/>
          </a:solidFill>
          <a:ln w="9525">
            <a:solidFill>
              <a:srgbClr val="FFFFFF"/>
            </a:solidFill>
            <a:prstDash val="solid"/>
          </a:ln>
        </p:spPr>
      </p:sp>
      <p:sp>
        <p:nvSpPr>
          <p:cNvPr id="38" name="Text 36"/>
          <p:cNvSpPr txBox="1"/>
          <p:nvPr/>
        </p:nvSpPr>
        <p:spPr>
          <a:xfrm>
            <a:off x="395935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39" name="Text 37"/>
          <p:cNvSpPr txBox="1"/>
          <p:nvPr/>
        </p:nvSpPr>
        <p:spPr>
          <a:xfrm>
            <a:off x="446227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40" name="Text 38"/>
          <p:cNvSpPr txBox="1"/>
          <p:nvPr/>
        </p:nvSpPr>
        <p:spPr>
          <a:xfrm>
            <a:off x="496519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41" name="Text 39"/>
          <p:cNvSpPr txBox="1"/>
          <p:nvPr/>
        </p:nvSpPr>
        <p:spPr>
          <a:xfrm>
            <a:off x="5468112" y="205282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42" name="Text 40"/>
          <p:cNvSpPr txBox="1"/>
          <p:nvPr/>
        </p:nvSpPr>
        <p:spPr>
          <a:xfrm>
            <a:off x="658368"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3" name="Shape 41"/>
          <p:cNvSpPr/>
          <p:nvPr/>
        </p:nvSpPr>
        <p:spPr>
          <a:xfrm>
            <a:off x="2670048" y="2484082"/>
            <a:ext cx="270256" cy="193624"/>
          </a:xfrm>
          <a:prstGeom prst="rect">
            <a:avLst/>
          </a:prstGeom>
          <a:solidFill>
            <a:srgbClr val="0B7A4A"/>
          </a:solidFill>
          <a:ln w="9525">
            <a:solidFill>
              <a:srgbClr val="FFFFFF"/>
            </a:solidFill>
            <a:prstDash val="solid"/>
          </a:ln>
        </p:spPr>
      </p:sp>
      <p:sp>
        <p:nvSpPr>
          <p:cNvPr id="44" name="Shape 42"/>
          <p:cNvSpPr/>
          <p:nvPr/>
        </p:nvSpPr>
        <p:spPr>
          <a:xfrm>
            <a:off x="2940304" y="2484082"/>
            <a:ext cx="405384" cy="193624"/>
          </a:xfrm>
          <a:prstGeom prst="rect">
            <a:avLst/>
          </a:prstGeom>
          <a:solidFill>
            <a:srgbClr val="12A566"/>
          </a:solidFill>
          <a:ln w="9525">
            <a:solidFill>
              <a:srgbClr val="FFFFFF"/>
            </a:solidFill>
            <a:prstDash val="solid"/>
          </a:ln>
        </p:spPr>
      </p:sp>
      <p:sp>
        <p:nvSpPr>
          <p:cNvPr id="45" name="Shape 43"/>
          <p:cNvSpPr/>
          <p:nvPr/>
        </p:nvSpPr>
        <p:spPr>
          <a:xfrm>
            <a:off x="3345688" y="2484082"/>
            <a:ext cx="405384" cy="193624"/>
          </a:xfrm>
          <a:prstGeom prst="rect">
            <a:avLst/>
          </a:prstGeom>
          <a:solidFill>
            <a:srgbClr val="8ED3B0"/>
          </a:solidFill>
          <a:ln w="9525">
            <a:solidFill>
              <a:srgbClr val="FFFFFF"/>
            </a:solidFill>
            <a:prstDash val="solid"/>
          </a:ln>
        </p:spPr>
      </p:sp>
      <p:sp>
        <p:nvSpPr>
          <p:cNvPr id="46" name="Text 44"/>
          <p:cNvSpPr txBox="1"/>
          <p:nvPr/>
        </p:nvSpPr>
        <p:spPr>
          <a:xfrm>
            <a:off x="395935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47" name="Text 45"/>
          <p:cNvSpPr txBox="1"/>
          <p:nvPr/>
        </p:nvSpPr>
        <p:spPr>
          <a:xfrm>
            <a:off x="446227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48" name="Text 46"/>
          <p:cNvSpPr txBox="1"/>
          <p:nvPr/>
        </p:nvSpPr>
        <p:spPr>
          <a:xfrm>
            <a:off x="496519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49" name="Text 47"/>
          <p:cNvSpPr txBox="1"/>
          <p:nvPr/>
        </p:nvSpPr>
        <p:spPr>
          <a:xfrm>
            <a:off x="5468112" y="240487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0" name="Text 48"/>
          <p:cNvSpPr txBox="1"/>
          <p:nvPr/>
        </p:nvSpPr>
        <p:spPr>
          <a:xfrm>
            <a:off x="658368"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51" name="Shape 49"/>
          <p:cNvSpPr/>
          <p:nvPr/>
        </p:nvSpPr>
        <p:spPr>
          <a:xfrm>
            <a:off x="2670048" y="2836126"/>
            <a:ext cx="405384" cy="193624"/>
          </a:xfrm>
          <a:prstGeom prst="rect">
            <a:avLst/>
          </a:prstGeom>
          <a:solidFill>
            <a:srgbClr val="0B7A4A"/>
          </a:solidFill>
          <a:ln w="9525">
            <a:solidFill>
              <a:srgbClr val="FFFFFF"/>
            </a:solidFill>
            <a:prstDash val="solid"/>
          </a:ln>
        </p:spPr>
      </p:sp>
      <p:sp>
        <p:nvSpPr>
          <p:cNvPr id="52" name="Shape 50"/>
          <p:cNvSpPr/>
          <p:nvPr/>
        </p:nvSpPr>
        <p:spPr>
          <a:xfrm>
            <a:off x="3075432" y="2836126"/>
            <a:ext cx="135128" cy="193624"/>
          </a:xfrm>
          <a:prstGeom prst="rect">
            <a:avLst/>
          </a:prstGeom>
          <a:solidFill>
            <a:srgbClr val="12A566"/>
          </a:solidFill>
          <a:ln w="9525">
            <a:solidFill>
              <a:srgbClr val="FFFFFF"/>
            </a:solidFill>
            <a:prstDash val="solid"/>
          </a:ln>
        </p:spPr>
      </p:sp>
      <p:sp>
        <p:nvSpPr>
          <p:cNvPr id="53" name="Shape 51"/>
          <p:cNvSpPr/>
          <p:nvPr/>
        </p:nvSpPr>
        <p:spPr>
          <a:xfrm>
            <a:off x="3210560" y="2836126"/>
            <a:ext cx="405384" cy="193624"/>
          </a:xfrm>
          <a:prstGeom prst="rect">
            <a:avLst/>
          </a:prstGeom>
          <a:solidFill>
            <a:srgbClr val="8ED3B0"/>
          </a:solidFill>
          <a:ln w="9525">
            <a:solidFill>
              <a:srgbClr val="FFFFFF"/>
            </a:solidFill>
            <a:prstDash val="solid"/>
          </a:ln>
        </p:spPr>
      </p:sp>
      <p:sp>
        <p:nvSpPr>
          <p:cNvPr id="54" name="Text 52"/>
          <p:cNvSpPr txBox="1"/>
          <p:nvPr/>
        </p:nvSpPr>
        <p:spPr>
          <a:xfrm>
            <a:off x="395935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55" name="Text 53"/>
          <p:cNvSpPr txBox="1"/>
          <p:nvPr/>
        </p:nvSpPr>
        <p:spPr>
          <a:xfrm>
            <a:off x="446227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56" name="Text 54"/>
          <p:cNvSpPr txBox="1"/>
          <p:nvPr/>
        </p:nvSpPr>
        <p:spPr>
          <a:xfrm>
            <a:off x="496519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57" name="Text 55"/>
          <p:cNvSpPr txBox="1"/>
          <p:nvPr/>
        </p:nvSpPr>
        <p:spPr>
          <a:xfrm>
            <a:off x="5468112" y="275691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58" name="Text 56"/>
          <p:cNvSpPr txBox="1"/>
          <p:nvPr/>
        </p:nvSpPr>
        <p:spPr>
          <a:xfrm>
            <a:off x="658368"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9" name="Shape 57"/>
          <p:cNvSpPr/>
          <p:nvPr/>
        </p:nvSpPr>
        <p:spPr>
          <a:xfrm>
            <a:off x="2670048" y="3188170"/>
            <a:ext cx="270256" cy="193624"/>
          </a:xfrm>
          <a:prstGeom prst="rect">
            <a:avLst/>
          </a:prstGeom>
          <a:solidFill>
            <a:srgbClr val="0B7A4A"/>
          </a:solidFill>
          <a:ln w="9525">
            <a:solidFill>
              <a:srgbClr val="FFFFFF"/>
            </a:solidFill>
            <a:prstDash val="solid"/>
          </a:ln>
        </p:spPr>
      </p:sp>
      <p:sp>
        <p:nvSpPr>
          <p:cNvPr id="60" name="Shape 58"/>
          <p:cNvSpPr/>
          <p:nvPr/>
        </p:nvSpPr>
        <p:spPr>
          <a:xfrm>
            <a:off x="2940304" y="3188170"/>
            <a:ext cx="405384" cy="193624"/>
          </a:xfrm>
          <a:prstGeom prst="rect">
            <a:avLst/>
          </a:prstGeom>
          <a:solidFill>
            <a:srgbClr val="12A566"/>
          </a:solidFill>
          <a:ln w="9525">
            <a:solidFill>
              <a:srgbClr val="FFFFFF"/>
            </a:solidFill>
            <a:prstDash val="solid"/>
          </a:ln>
        </p:spPr>
      </p:sp>
      <p:sp>
        <p:nvSpPr>
          <p:cNvPr id="61" name="Shape 59"/>
          <p:cNvSpPr/>
          <p:nvPr/>
        </p:nvSpPr>
        <p:spPr>
          <a:xfrm>
            <a:off x="3345688" y="3188170"/>
            <a:ext cx="270256" cy="193624"/>
          </a:xfrm>
          <a:prstGeom prst="rect">
            <a:avLst/>
          </a:prstGeom>
          <a:solidFill>
            <a:srgbClr val="8ED3B0"/>
          </a:solidFill>
          <a:ln w="9525">
            <a:solidFill>
              <a:srgbClr val="FFFFFF"/>
            </a:solidFill>
            <a:prstDash val="solid"/>
          </a:ln>
        </p:spPr>
      </p:sp>
      <p:sp>
        <p:nvSpPr>
          <p:cNvPr id="62" name="Text 60"/>
          <p:cNvSpPr txBox="1"/>
          <p:nvPr/>
        </p:nvSpPr>
        <p:spPr>
          <a:xfrm>
            <a:off x="395935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63" name="Text 61"/>
          <p:cNvSpPr txBox="1"/>
          <p:nvPr/>
        </p:nvSpPr>
        <p:spPr>
          <a:xfrm>
            <a:off x="446227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64" name="Text 62"/>
          <p:cNvSpPr txBox="1"/>
          <p:nvPr/>
        </p:nvSpPr>
        <p:spPr>
          <a:xfrm>
            <a:off x="496519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65" name="Text 63"/>
          <p:cNvSpPr txBox="1"/>
          <p:nvPr/>
        </p:nvSpPr>
        <p:spPr>
          <a:xfrm>
            <a:off x="5468112" y="310896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66" name="Text 64"/>
          <p:cNvSpPr txBox="1"/>
          <p:nvPr/>
        </p:nvSpPr>
        <p:spPr>
          <a:xfrm>
            <a:off x="658368"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67" name="Shape 65"/>
          <p:cNvSpPr/>
          <p:nvPr/>
        </p:nvSpPr>
        <p:spPr>
          <a:xfrm>
            <a:off x="2670048" y="3540214"/>
            <a:ext cx="270256" cy="193624"/>
          </a:xfrm>
          <a:prstGeom prst="rect">
            <a:avLst/>
          </a:prstGeom>
          <a:solidFill>
            <a:srgbClr val="0B7A4A"/>
          </a:solidFill>
          <a:ln w="9525">
            <a:solidFill>
              <a:srgbClr val="FFFFFF"/>
            </a:solidFill>
            <a:prstDash val="solid"/>
          </a:ln>
        </p:spPr>
      </p:sp>
      <p:sp>
        <p:nvSpPr>
          <p:cNvPr id="68" name="Shape 66"/>
          <p:cNvSpPr/>
          <p:nvPr/>
        </p:nvSpPr>
        <p:spPr>
          <a:xfrm>
            <a:off x="2940304" y="3540214"/>
            <a:ext cx="135128" cy="193624"/>
          </a:xfrm>
          <a:prstGeom prst="rect">
            <a:avLst/>
          </a:prstGeom>
          <a:solidFill>
            <a:srgbClr val="12A566"/>
          </a:solidFill>
          <a:ln w="9525">
            <a:solidFill>
              <a:srgbClr val="FFFFFF"/>
            </a:solidFill>
            <a:prstDash val="solid"/>
          </a:ln>
        </p:spPr>
      </p:sp>
      <p:sp>
        <p:nvSpPr>
          <p:cNvPr id="69" name="Shape 67"/>
          <p:cNvSpPr/>
          <p:nvPr/>
        </p:nvSpPr>
        <p:spPr>
          <a:xfrm>
            <a:off x="3075432" y="3540214"/>
            <a:ext cx="405384" cy="193624"/>
          </a:xfrm>
          <a:prstGeom prst="rect">
            <a:avLst/>
          </a:prstGeom>
          <a:solidFill>
            <a:srgbClr val="8ED3B0"/>
          </a:solidFill>
          <a:ln w="9525">
            <a:solidFill>
              <a:srgbClr val="FFFFFF"/>
            </a:solidFill>
            <a:prstDash val="solid"/>
          </a:ln>
        </p:spPr>
      </p:sp>
      <p:sp>
        <p:nvSpPr>
          <p:cNvPr id="70" name="Text 68"/>
          <p:cNvSpPr txBox="1"/>
          <p:nvPr/>
        </p:nvSpPr>
        <p:spPr>
          <a:xfrm>
            <a:off x="395935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71" name="Text 69"/>
          <p:cNvSpPr txBox="1"/>
          <p:nvPr/>
        </p:nvSpPr>
        <p:spPr>
          <a:xfrm>
            <a:off x="446227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72" name="Text 70"/>
          <p:cNvSpPr txBox="1"/>
          <p:nvPr/>
        </p:nvSpPr>
        <p:spPr>
          <a:xfrm>
            <a:off x="496519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73" name="Text 71"/>
          <p:cNvSpPr txBox="1"/>
          <p:nvPr/>
        </p:nvSpPr>
        <p:spPr>
          <a:xfrm>
            <a:off x="5468112" y="346100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74" name="Text 72"/>
          <p:cNvSpPr txBox="1"/>
          <p:nvPr/>
        </p:nvSpPr>
        <p:spPr>
          <a:xfrm>
            <a:off x="658368"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5" name="Shape 73"/>
          <p:cNvSpPr/>
          <p:nvPr/>
        </p:nvSpPr>
        <p:spPr>
          <a:xfrm>
            <a:off x="2670048" y="3892258"/>
            <a:ext cx="270256" cy="193624"/>
          </a:xfrm>
          <a:prstGeom prst="rect">
            <a:avLst/>
          </a:prstGeom>
          <a:solidFill>
            <a:srgbClr val="0B7A4A"/>
          </a:solidFill>
          <a:ln w="9525">
            <a:solidFill>
              <a:srgbClr val="FFFFFF"/>
            </a:solidFill>
            <a:prstDash val="solid"/>
          </a:ln>
        </p:spPr>
      </p:sp>
      <p:sp>
        <p:nvSpPr>
          <p:cNvPr id="76" name="Shape 74"/>
          <p:cNvSpPr/>
          <p:nvPr/>
        </p:nvSpPr>
        <p:spPr>
          <a:xfrm>
            <a:off x="2940304" y="3892258"/>
            <a:ext cx="135128" cy="193624"/>
          </a:xfrm>
          <a:prstGeom prst="rect">
            <a:avLst/>
          </a:prstGeom>
          <a:solidFill>
            <a:srgbClr val="12A566"/>
          </a:solidFill>
          <a:ln w="9525">
            <a:solidFill>
              <a:srgbClr val="FFFFFF"/>
            </a:solidFill>
            <a:prstDash val="solid"/>
          </a:ln>
        </p:spPr>
      </p:sp>
      <p:sp>
        <p:nvSpPr>
          <p:cNvPr id="77" name="Shape 75"/>
          <p:cNvSpPr/>
          <p:nvPr/>
        </p:nvSpPr>
        <p:spPr>
          <a:xfrm>
            <a:off x="3075432" y="3892258"/>
            <a:ext cx="405384" cy="193624"/>
          </a:xfrm>
          <a:prstGeom prst="rect">
            <a:avLst/>
          </a:prstGeom>
          <a:solidFill>
            <a:srgbClr val="8ED3B0"/>
          </a:solidFill>
          <a:ln w="9525">
            <a:solidFill>
              <a:srgbClr val="FFFFFF"/>
            </a:solidFill>
            <a:prstDash val="solid"/>
          </a:ln>
        </p:spPr>
      </p:sp>
      <p:sp>
        <p:nvSpPr>
          <p:cNvPr id="78" name="Text 76"/>
          <p:cNvSpPr txBox="1"/>
          <p:nvPr/>
        </p:nvSpPr>
        <p:spPr>
          <a:xfrm>
            <a:off x="395935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79" name="Text 77"/>
          <p:cNvSpPr txBox="1"/>
          <p:nvPr/>
        </p:nvSpPr>
        <p:spPr>
          <a:xfrm>
            <a:off x="446227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80" name="Text 78"/>
          <p:cNvSpPr txBox="1"/>
          <p:nvPr/>
        </p:nvSpPr>
        <p:spPr>
          <a:xfrm>
            <a:off x="496519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81" name="Text 79"/>
          <p:cNvSpPr txBox="1"/>
          <p:nvPr/>
        </p:nvSpPr>
        <p:spPr>
          <a:xfrm>
            <a:off x="5468112" y="381304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82" name="Text 80"/>
          <p:cNvSpPr txBox="1"/>
          <p:nvPr/>
        </p:nvSpPr>
        <p:spPr>
          <a:xfrm>
            <a:off x="658368"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3" name="Shape 81"/>
          <p:cNvSpPr/>
          <p:nvPr/>
        </p:nvSpPr>
        <p:spPr>
          <a:xfrm>
            <a:off x="2670048" y="4244302"/>
            <a:ext cx="270256" cy="193624"/>
          </a:xfrm>
          <a:prstGeom prst="rect">
            <a:avLst/>
          </a:prstGeom>
          <a:solidFill>
            <a:srgbClr val="0B7A4A"/>
          </a:solidFill>
          <a:ln w="9525">
            <a:solidFill>
              <a:srgbClr val="FFFFFF"/>
            </a:solidFill>
            <a:prstDash val="solid"/>
          </a:ln>
        </p:spPr>
      </p:sp>
      <p:sp>
        <p:nvSpPr>
          <p:cNvPr id="84" name="Shape 82"/>
          <p:cNvSpPr/>
          <p:nvPr/>
        </p:nvSpPr>
        <p:spPr>
          <a:xfrm>
            <a:off x="2940304" y="4244302"/>
            <a:ext cx="135128" cy="193624"/>
          </a:xfrm>
          <a:prstGeom prst="rect">
            <a:avLst/>
          </a:prstGeom>
          <a:solidFill>
            <a:srgbClr val="12A566"/>
          </a:solidFill>
          <a:ln w="9525">
            <a:solidFill>
              <a:srgbClr val="FFFFFF"/>
            </a:solidFill>
            <a:prstDash val="solid"/>
          </a:ln>
        </p:spPr>
      </p:sp>
      <p:sp>
        <p:nvSpPr>
          <p:cNvPr id="85" name="Shape 83"/>
          <p:cNvSpPr/>
          <p:nvPr/>
        </p:nvSpPr>
        <p:spPr>
          <a:xfrm>
            <a:off x="3075432" y="4244302"/>
            <a:ext cx="270256" cy="193624"/>
          </a:xfrm>
          <a:prstGeom prst="rect">
            <a:avLst/>
          </a:prstGeom>
          <a:solidFill>
            <a:srgbClr val="8ED3B0"/>
          </a:solidFill>
          <a:ln w="9525">
            <a:solidFill>
              <a:srgbClr val="FFFFFF"/>
            </a:solidFill>
            <a:prstDash val="solid"/>
          </a:ln>
        </p:spPr>
      </p:sp>
      <p:sp>
        <p:nvSpPr>
          <p:cNvPr id="86" name="Text 84"/>
          <p:cNvSpPr txBox="1"/>
          <p:nvPr/>
        </p:nvSpPr>
        <p:spPr>
          <a:xfrm>
            <a:off x="395935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87" name="Text 85"/>
          <p:cNvSpPr txBox="1"/>
          <p:nvPr/>
        </p:nvSpPr>
        <p:spPr>
          <a:xfrm>
            <a:off x="446227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88" name="Text 86"/>
          <p:cNvSpPr txBox="1"/>
          <p:nvPr/>
        </p:nvSpPr>
        <p:spPr>
          <a:xfrm>
            <a:off x="496519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89" name="Text 87"/>
          <p:cNvSpPr txBox="1"/>
          <p:nvPr/>
        </p:nvSpPr>
        <p:spPr>
          <a:xfrm>
            <a:off x="5468112" y="416509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90" name="Text 88"/>
          <p:cNvSpPr txBox="1"/>
          <p:nvPr/>
        </p:nvSpPr>
        <p:spPr>
          <a:xfrm>
            <a:off x="658368"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91" name="Shape 89"/>
          <p:cNvSpPr/>
          <p:nvPr/>
        </p:nvSpPr>
        <p:spPr>
          <a:xfrm>
            <a:off x="2670048" y="4596346"/>
            <a:ext cx="270256" cy="193624"/>
          </a:xfrm>
          <a:prstGeom prst="rect">
            <a:avLst/>
          </a:prstGeom>
          <a:solidFill>
            <a:srgbClr val="0B7A4A"/>
          </a:solidFill>
          <a:ln w="9525">
            <a:solidFill>
              <a:srgbClr val="FFFFFF"/>
            </a:solidFill>
            <a:prstDash val="solid"/>
          </a:ln>
        </p:spPr>
      </p:sp>
      <p:sp>
        <p:nvSpPr>
          <p:cNvPr id="92" name="Shape 90"/>
          <p:cNvSpPr/>
          <p:nvPr/>
        </p:nvSpPr>
        <p:spPr>
          <a:xfrm>
            <a:off x="2940304" y="4596346"/>
            <a:ext cx="135128" cy="193624"/>
          </a:xfrm>
          <a:prstGeom prst="rect">
            <a:avLst/>
          </a:prstGeom>
          <a:solidFill>
            <a:srgbClr val="12A566"/>
          </a:solidFill>
          <a:ln w="9525">
            <a:solidFill>
              <a:srgbClr val="FFFFFF"/>
            </a:solidFill>
            <a:prstDash val="solid"/>
          </a:ln>
        </p:spPr>
      </p:sp>
      <p:sp>
        <p:nvSpPr>
          <p:cNvPr id="93" name="Shape 91"/>
          <p:cNvSpPr/>
          <p:nvPr/>
        </p:nvSpPr>
        <p:spPr>
          <a:xfrm>
            <a:off x="3075432" y="4596346"/>
            <a:ext cx="135128" cy="193624"/>
          </a:xfrm>
          <a:prstGeom prst="rect">
            <a:avLst/>
          </a:prstGeom>
          <a:solidFill>
            <a:srgbClr val="8ED3B0"/>
          </a:solidFill>
          <a:ln w="9525">
            <a:solidFill>
              <a:srgbClr val="FFFFFF"/>
            </a:solidFill>
            <a:prstDash val="solid"/>
          </a:ln>
        </p:spPr>
      </p:sp>
      <p:sp>
        <p:nvSpPr>
          <p:cNvPr id="94" name="Text 92"/>
          <p:cNvSpPr txBox="1"/>
          <p:nvPr/>
        </p:nvSpPr>
        <p:spPr>
          <a:xfrm>
            <a:off x="395935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95" name="Text 93"/>
          <p:cNvSpPr txBox="1"/>
          <p:nvPr/>
        </p:nvSpPr>
        <p:spPr>
          <a:xfrm>
            <a:off x="446227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96" name="Text 94"/>
          <p:cNvSpPr txBox="1"/>
          <p:nvPr/>
        </p:nvSpPr>
        <p:spPr>
          <a:xfrm>
            <a:off x="496519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97" name="Text 95"/>
          <p:cNvSpPr txBox="1"/>
          <p:nvPr/>
        </p:nvSpPr>
        <p:spPr>
          <a:xfrm>
            <a:off x="5468112" y="451713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98" name="Text 96"/>
          <p:cNvSpPr txBox="1"/>
          <p:nvPr/>
        </p:nvSpPr>
        <p:spPr>
          <a:xfrm>
            <a:off x="658368"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9" name="Shape 97"/>
          <p:cNvSpPr/>
          <p:nvPr/>
        </p:nvSpPr>
        <p:spPr>
          <a:xfrm>
            <a:off x="2670048" y="4948390"/>
            <a:ext cx="270256" cy="193624"/>
          </a:xfrm>
          <a:prstGeom prst="rect">
            <a:avLst/>
          </a:prstGeom>
          <a:solidFill>
            <a:srgbClr val="0B7A4A"/>
          </a:solidFill>
          <a:ln w="9525">
            <a:solidFill>
              <a:srgbClr val="FFFFFF"/>
            </a:solidFill>
            <a:prstDash val="solid"/>
          </a:ln>
        </p:spPr>
      </p:sp>
      <p:sp>
        <p:nvSpPr>
          <p:cNvPr id="100" name="Shape 98"/>
          <p:cNvSpPr/>
          <p:nvPr/>
        </p:nvSpPr>
        <p:spPr>
          <a:xfrm>
            <a:off x="2940304" y="4948390"/>
            <a:ext cx="135128" cy="193624"/>
          </a:xfrm>
          <a:prstGeom prst="rect">
            <a:avLst/>
          </a:prstGeom>
          <a:solidFill>
            <a:srgbClr val="12A566"/>
          </a:solidFill>
          <a:ln w="9525">
            <a:solidFill>
              <a:srgbClr val="FFFFFF"/>
            </a:solidFill>
            <a:prstDash val="solid"/>
          </a:ln>
        </p:spPr>
      </p:sp>
      <p:sp>
        <p:nvSpPr>
          <p:cNvPr id="101" name="Shape 99"/>
          <p:cNvSpPr/>
          <p:nvPr/>
        </p:nvSpPr>
        <p:spPr>
          <a:xfrm>
            <a:off x="3075432" y="4948390"/>
            <a:ext cx="135128" cy="193624"/>
          </a:xfrm>
          <a:prstGeom prst="rect">
            <a:avLst/>
          </a:prstGeom>
          <a:solidFill>
            <a:srgbClr val="8ED3B0"/>
          </a:solidFill>
          <a:ln w="9525">
            <a:solidFill>
              <a:srgbClr val="FFFFFF"/>
            </a:solidFill>
            <a:prstDash val="solid"/>
          </a:ln>
        </p:spPr>
      </p:sp>
      <p:sp>
        <p:nvSpPr>
          <p:cNvPr id="102" name="Text 100"/>
          <p:cNvSpPr txBox="1"/>
          <p:nvPr/>
        </p:nvSpPr>
        <p:spPr>
          <a:xfrm>
            <a:off x="395935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03" name="Text 101"/>
          <p:cNvSpPr txBox="1"/>
          <p:nvPr/>
        </p:nvSpPr>
        <p:spPr>
          <a:xfrm>
            <a:off x="446227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04" name="Text 102"/>
          <p:cNvSpPr txBox="1"/>
          <p:nvPr/>
        </p:nvSpPr>
        <p:spPr>
          <a:xfrm>
            <a:off x="496519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05" name="Text 103"/>
          <p:cNvSpPr txBox="1"/>
          <p:nvPr/>
        </p:nvSpPr>
        <p:spPr>
          <a:xfrm>
            <a:off x="5468112" y="486918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06" name="Text 104"/>
          <p:cNvSpPr txBox="1"/>
          <p:nvPr/>
        </p:nvSpPr>
        <p:spPr>
          <a:xfrm>
            <a:off x="658368"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7" name="Shape 105"/>
          <p:cNvSpPr/>
          <p:nvPr/>
        </p:nvSpPr>
        <p:spPr>
          <a:xfrm>
            <a:off x="2670048" y="5300434"/>
            <a:ext cx="270256" cy="193624"/>
          </a:xfrm>
          <a:prstGeom prst="rect">
            <a:avLst/>
          </a:prstGeom>
          <a:solidFill>
            <a:srgbClr val="0B7A4A"/>
          </a:solidFill>
          <a:ln w="9525">
            <a:solidFill>
              <a:srgbClr val="FFFFFF"/>
            </a:solidFill>
            <a:prstDash val="solid"/>
          </a:ln>
        </p:spPr>
      </p:sp>
      <p:sp>
        <p:nvSpPr>
          <p:cNvPr id="108" name="Shape 106"/>
          <p:cNvSpPr/>
          <p:nvPr/>
        </p:nvSpPr>
        <p:spPr>
          <a:xfrm>
            <a:off x="2940304" y="5300434"/>
            <a:ext cx="135128" cy="193624"/>
          </a:xfrm>
          <a:prstGeom prst="rect">
            <a:avLst/>
          </a:prstGeom>
          <a:solidFill>
            <a:srgbClr val="12A566"/>
          </a:solidFill>
          <a:ln w="9525">
            <a:solidFill>
              <a:srgbClr val="FFFFFF"/>
            </a:solidFill>
            <a:prstDash val="solid"/>
          </a:ln>
        </p:spPr>
      </p:sp>
      <p:sp>
        <p:nvSpPr>
          <p:cNvPr id="109" name="Shape 107"/>
          <p:cNvSpPr/>
          <p:nvPr/>
        </p:nvSpPr>
        <p:spPr>
          <a:xfrm>
            <a:off x="3075432" y="5300434"/>
            <a:ext cx="135128" cy="193624"/>
          </a:xfrm>
          <a:prstGeom prst="rect">
            <a:avLst/>
          </a:prstGeom>
          <a:solidFill>
            <a:srgbClr val="8ED3B0"/>
          </a:solidFill>
          <a:ln w="9525">
            <a:solidFill>
              <a:srgbClr val="FFFFFF"/>
            </a:solidFill>
            <a:prstDash val="solid"/>
          </a:ln>
        </p:spPr>
      </p:sp>
      <p:sp>
        <p:nvSpPr>
          <p:cNvPr id="110" name="Text 108"/>
          <p:cNvSpPr txBox="1"/>
          <p:nvPr/>
        </p:nvSpPr>
        <p:spPr>
          <a:xfrm>
            <a:off x="395935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11" name="Text 109"/>
          <p:cNvSpPr txBox="1"/>
          <p:nvPr/>
        </p:nvSpPr>
        <p:spPr>
          <a:xfrm>
            <a:off x="446227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12" name="Text 110"/>
          <p:cNvSpPr txBox="1"/>
          <p:nvPr/>
        </p:nvSpPr>
        <p:spPr>
          <a:xfrm>
            <a:off x="496519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13" name="Text 111"/>
          <p:cNvSpPr txBox="1"/>
          <p:nvPr/>
        </p:nvSpPr>
        <p:spPr>
          <a:xfrm>
            <a:off x="5468112" y="522122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14" name="Text 112"/>
          <p:cNvSpPr txBox="1"/>
          <p:nvPr/>
        </p:nvSpPr>
        <p:spPr>
          <a:xfrm>
            <a:off x="658368" y="557326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15" name="Shape 113"/>
          <p:cNvSpPr/>
          <p:nvPr/>
        </p:nvSpPr>
        <p:spPr>
          <a:xfrm>
            <a:off x="2670048" y="5652478"/>
            <a:ext cx="405384" cy="193624"/>
          </a:xfrm>
          <a:prstGeom prst="rect">
            <a:avLst/>
          </a:prstGeom>
          <a:solidFill>
            <a:srgbClr val="0B7A4A"/>
          </a:solidFill>
          <a:ln w="9525">
            <a:solidFill>
              <a:srgbClr val="FFFFFF"/>
            </a:solidFill>
            <a:prstDash val="solid"/>
          </a:ln>
        </p:spPr>
      </p:sp>
      <p:sp>
        <p:nvSpPr>
          <p:cNvPr id="116" name="Shape 114"/>
          <p:cNvSpPr/>
          <p:nvPr/>
        </p:nvSpPr>
        <p:spPr>
          <a:xfrm>
            <a:off x="3075432" y="5652478"/>
            <a:ext cx="135128" cy="193624"/>
          </a:xfrm>
          <a:prstGeom prst="rect">
            <a:avLst/>
          </a:prstGeom>
          <a:solidFill>
            <a:srgbClr val="8ED3B0"/>
          </a:solidFill>
          <a:ln w="9525">
            <a:solidFill>
              <a:srgbClr val="FFFFFF"/>
            </a:solidFill>
            <a:prstDash val="solid"/>
          </a:ln>
        </p:spPr>
      </p:sp>
      <p:sp>
        <p:nvSpPr>
          <p:cNvPr id="117" name="Text 115"/>
          <p:cNvSpPr txBox="1"/>
          <p:nvPr/>
        </p:nvSpPr>
        <p:spPr>
          <a:xfrm>
            <a:off x="3959352" y="557326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118" name="Text 116"/>
          <p:cNvSpPr txBox="1"/>
          <p:nvPr/>
        </p:nvSpPr>
        <p:spPr>
          <a:xfrm>
            <a:off x="4462272" y="557326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19" name="Text 117"/>
          <p:cNvSpPr txBox="1"/>
          <p:nvPr/>
        </p:nvSpPr>
        <p:spPr>
          <a:xfrm>
            <a:off x="4965192" y="557326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0" name="Text 118"/>
          <p:cNvSpPr txBox="1"/>
          <p:nvPr/>
        </p:nvSpPr>
        <p:spPr>
          <a:xfrm>
            <a:off x="5468112" y="557326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21" name="Text 119"/>
          <p:cNvSpPr txBox="1"/>
          <p:nvPr/>
        </p:nvSpPr>
        <p:spPr>
          <a:xfrm>
            <a:off x="6208776"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22" name="Shape 120"/>
          <p:cNvSpPr/>
          <p:nvPr/>
        </p:nvSpPr>
        <p:spPr>
          <a:xfrm>
            <a:off x="8220456" y="1779994"/>
            <a:ext cx="270256" cy="193624"/>
          </a:xfrm>
          <a:prstGeom prst="rect">
            <a:avLst/>
          </a:prstGeom>
          <a:solidFill>
            <a:srgbClr val="0B7A4A"/>
          </a:solidFill>
          <a:ln w="9525">
            <a:solidFill>
              <a:srgbClr val="FFFFFF"/>
            </a:solidFill>
            <a:prstDash val="solid"/>
          </a:ln>
        </p:spPr>
      </p:sp>
      <p:sp>
        <p:nvSpPr>
          <p:cNvPr id="123" name="Shape 121"/>
          <p:cNvSpPr/>
          <p:nvPr/>
        </p:nvSpPr>
        <p:spPr>
          <a:xfrm>
            <a:off x="8490712" y="1779994"/>
            <a:ext cx="135128" cy="193624"/>
          </a:xfrm>
          <a:prstGeom prst="rect">
            <a:avLst/>
          </a:prstGeom>
          <a:solidFill>
            <a:srgbClr val="12A566"/>
          </a:solidFill>
          <a:ln w="9525">
            <a:solidFill>
              <a:srgbClr val="FFFFFF"/>
            </a:solidFill>
            <a:prstDash val="solid"/>
          </a:ln>
        </p:spPr>
      </p:sp>
      <p:sp>
        <p:nvSpPr>
          <p:cNvPr id="124" name="Shape 122"/>
          <p:cNvSpPr/>
          <p:nvPr/>
        </p:nvSpPr>
        <p:spPr>
          <a:xfrm>
            <a:off x="8625840" y="1779994"/>
            <a:ext cx="135128" cy="193624"/>
          </a:xfrm>
          <a:prstGeom prst="rect">
            <a:avLst/>
          </a:prstGeom>
          <a:solidFill>
            <a:srgbClr val="8ED3B0"/>
          </a:solidFill>
          <a:ln w="9525">
            <a:solidFill>
              <a:srgbClr val="FFFFFF"/>
            </a:solidFill>
            <a:prstDash val="solid"/>
          </a:ln>
        </p:spPr>
      </p:sp>
      <p:sp>
        <p:nvSpPr>
          <p:cNvPr id="125" name="Text 123"/>
          <p:cNvSpPr txBox="1"/>
          <p:nvPr/>
        </p:nvSpPr>
        <p:spPr>
          <a:xfrm>
            <a:off x="950976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26" name="Text 124"/>
          <p:cNvSpPr txBox="1"/>
          <p:nvPr/>
        </p:nvSpPr>
        <p:spPr>
          <a:xfrm>
            <a:off x="1001268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7" name="Text 125"/>
          <p:cNvSpPr txBox="1"/>
          <p:nvPr/>
        </p:nvSpPr>
        <p:spPr>
          <a:xfrm>
            <a:off x="1051560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8" name="Text 126"/>
          <p:cNvSpPr txBox="1"/>
          <p:nvPr/>
        </p:nvSpPr>
        <p:spPr>
          <a:xfrm>
            <a:off x="11018520" y="170078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29" name="Text 127"/>
          <p:cNvSpPr txBox="1"/>
          <p:nvPr/>
        </p:nvSpPr>
        <p:spPr>
          <a:xfrm>
            <a:off x="6208776"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0" name="Shape 128"/>
          <p:cNvSpPr/>
          <p:nvPr/>
        </p:nvSpPr>
        <p:spPr>
          <a:xfrm>
            <a:off x="8220456" y="2132038"/>
            <a:ext cx="540512" cy="193624"/>
          </a:xfrm>
          <a:prstGeom prst="rect">
            <a:avLst/>
          </a:prstGeom>
          <a:solidFill>
            <a:srgbClr val="0B7A4A"/>
          </a:solidFill>
          <a:ln w="9525">
            <a:solidFill>
              <a:srgbClr val="FFFFFF"/>
            </a:solidFill>
            <a:prstDash val="solid"/>
          </a:ln>
        </p:spPr>
      </p:sp>
      <p:sp>
        <p:nvSpPr>
          <p:cNvPr id="131" name="Text 129"/>
          <p:cNvSpPr txBox="1"/>
          <p:nvPr/>
        </p:nvSpPr>
        <p:spPr>
          <a:xfrm>
            <a:off x="9509760"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132" name="Text 130"/>
          <p:cNvSpPr txBox="1"/>
          <p:nvPr/>
        </p:nvSpPr>
        <p:spPr>
          <a:xfrm>
            <a:off x="10012680" y="205282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3" name="Text 131"/>
          <p:cNvSpPr txBox="1"/>
          <p:nvPr/>
        </p:nvSpPr>
        <p:spPr>
          <a:xfrm>
            <a:off x="10515600" y="205282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4" name="Text 132"/>
          <p:cNvSpPr txBox="1"/>
          <p:nvPr/>
        </p:nvSpPr>
        <p:spPr>
          <a:xfrm>
            <a:off x="11018520" y="205282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35" name="Text 133"/>
          <p:cNvSpPr txBox="1"/>
          <p:nvPr/>
        </p:nvSpPr>
        <p:spPr>
          <a:xfrm>
            <a:off x="6208776"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6" name="Shape 134"/>
          <p:cNvSpPr/>
          <p:nvPr/>
        </p:nvSpPr>
        <p:spPr>
          <a:xfrm>
            <a:off x="8220456" y="2484082"/>
            <a:ext cx="135128" cy="193624"/>
          </a:xfrm>
          <a:prstGeom prst="rect">
            <a:avLst/>
          </a:prstGeom>
          <a:solidFill>
            <a:srgbClr val="12A566"/>
          </a:solidFill>
          <a:ln w="9525">
            <a:solidFill>
              <a:srgbClr val="FFFFFF"/>
            </a:solidFill>
            <a:prstDash val="solid"/>
          </a:ln>
        </p:spPr>
      </p:sp>
      <p:sp>
        <p:nvSpPr>
          <p:cNvPr id="137" name="Shape 135"/>
          <p:cNvSpPr/>
          <p:nvPr/>
        </p:nvSpPr>
        <p:spPr>
          <a:xfrm>
            <a:off x="8355584" y="2484082"/>
            <a:ext cx="270256" cy="193624"/>
          </a:xfrm>
          <a:prstGeom prst="rect">
            <a:avLst/>
          </a:prstGeom>
          <a:solidFill>
            <a:srgbClr val="8ED3B0"/>
          </a:solidFill>
          <a:ln w="9525">
            <a:solidFill>
              <a:srgbClr val="FFFFFF"/>
            </a:solidFill>
            <a:prstDash val="solid"/>
          </a:ln>
        </p:spPr>
      </p:sp>
      <p:sp>
        <p:nvSpPr>
          <p:cNvPr id="138" name="Text 136"/>
          <p:cNvSpPr txBox="1"/>
          <p:nvPr/>
        </p:nvSpPr>
        <p:spPr>
          <a:xfrm>
            <a:off x="9509760" y="2404872"/>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9" name="Text 137"/>
          <p:cNvSpPr txBox="1"/>
          <p:nvPr/>
        </p:nvSpPr>
        <p:spPr>
          <a:xfrm>
            <a:off x="10012680"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0" name="Text 138"/>
          <p:cNvSpPr txBox="1"/>
          <p:nvPr/>
        </p:nvSpPr>
        <p:spPr>
          <a:xfrm>
            <a:off x="10515600"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41" name="Text 139"/>
          <p:cNvSpPr txBox="1"/>
          <p:nvPr/>
        </p:nvSpPr>
        <p:spPr>
          <a:xfrm>
            <a:off x="11018520" y="240487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a:t>
            </a:r>
            <a:endParaRPr lang="en-US" sz="1300" dirty="0"/>
          </a:p>
        </p:txBody>
      </p:sp>
      <p:sp>
        <p:nvSpPr>
          <p:cNvPr id="142" name="Text 140"/>
          <p:cNvSpPr txBox="1"/>
          <p:nvPr/>
        </p:nvSpPr>
        <p:spPr>
          <a:xfrm>
            <a:off x="6208776"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43" name="Shape 141"/>
          <p:cNvSpPr/>
          <p:nvPr/>
        </p:nvSpPr>
        <p:spPr>
          <a:xfrm>
            <a:off x="8220456" y="2836126"/>
            <a:ext cx="135128" cy="193624"/>
          </a:xfrm>
          <a:prstGeom prst="rect">
            <a:avLst/>
          </a:prstGeom>
          <a:solidFill>
            <a:srgbClr val="12A566"/>
          </a:solidFill>
          <a:ln w="9525">
            <a:solidFill>
              <a:srgbClr val="FFFFFF"/>
            </a:solidFill>
            <a:prstDash val="solid"/>
          </a:ln>
        </p:spPr>
      </p:sp>
      <p:sp>
        <p:nvSpPr>
          <p:cNvPr id="144" name="Shape 142"/>
          <p:cNvSpPr/>
          <p:nvPr/>
        </p:nvSpPr>
        <p:spPr>
          <a:xfrm>
            <a:off x="8355584" y="2836126"/>
            <a:ext cx="135128" cy="193624"/>
          </a:xfrm>
          <a:prstGeom prst="rect">
            <a:avLst/>
          </a:prstGeom>
          <a:solidFill>
            <a:srgbClr val="8ED3B0"/>
          </a:solidFill>
          <a:ln w="9525">
            <a:solidFill>
              <a:srgbClr val="FFFFFF"/>
            </a:solidFill>
            <a:prstDash val="solid"/>
          </a:ln>
        </p:spPr>
      </p:sp>
      <p:sp>
        <p:nvSpPr>
          <p:cNvPr id="145" name="Text 143"/>
          <p:cNvSpPr txBox="1"/>
          <p:nvPr/>
        </p:nvSpPr>
        <p:spPr>
          <a:xfrm>
            <a:off x="9509760" y="275691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46" name="Text 144"/>
          <p:cNvSpPr txBox="1"/>
          <p:nvPr/>
        </p:nvSpPr>
        <p:spPr>
          <a:xfrm>
            <a:off x="10012680"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7" name="Text 145"/>
          <p:cNvSpPr txBox="1"/>
          <p:nvPr/>
        </p:nvSpPr>
        <p:spPr>
          <a:xfrm>
            <a:off x="10515600"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8" name="Text 146"/>
          <p:cNvSpPr txBox="1"/>
          <p:nvPr/>
        </p:nvSpPr>
        <p:spPr>
          <a:xfrm>
            <a:off x="11018520" y="275691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49" name="Text 147"/>
          <p:cNvSpPr txBox="1"/>
          <p:nvPr/>
        </p:nvSpPr>
        <p:spPr>
          <a:xfrm>
            <a:off x="6208776"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50" name="Shape 148"/>
          <p:cNvSpPr/>
          <p:nvPr/>
        </p:nvSpPr>
        <p:spPr>
          <a:xfrm>
            <a:off x="8220456" y="3188170"/>
            <a:ext cx="135128" cy="193624"/>
          </a:xfrm>
          <a:prstGeom prst="rect">
            <a:avLst/>
          </a:prstGeom>
          <a:solidFill>
            <a:srgbClr val="0B7A4A"/>
          </a:solidFill>
          <a:ln w="9525">
            <a:solidFill>
              <a:srgbClr val="FFFFFF"/>
            </a:solidFill>
            <a:prstDash val="solid"/>
          </a:ln>
        </p:spPr>
      </p:sp>
      <p:sp>
        <p:nvSpPr>
          <p:cNvPr id="151" name="Shape 149"/>
          <p:cNvSpPr/>
          <p:nvPr/>
        </p:nvSpPr>
        <p:spPr>
          <a:xfrm>
            <a:off x="8355584" y="3188170"/>
            <a:ext cx="135128" cy="193624"/>
          </a:xfrm>
          <a:prstGeom prst="rect">
            <a:avLst/>
          </a:prstGeom>
          <a:solidFill>
            <a:srgbClr val="8ED3B0"/>
          </a:solidFill>
          <a:ln w="9525">
            <a:solidFill>
              <a:srgbClr val="FFFFFF"/>
            </a:solidFill>
            <a:prstDash val="solid"/>
          </a:ln>
        </p:spPr>
      </p:sp>
      <p:sp>
        <p:nvSpPr>
          <p:cNvPr id="152" name="Text 150"/>
          <p:cNvSpPr txBox="1"/>
          <p:nvPr/>
        </p:nvSpPr>
        <p:spPr>
          <a:xfrm>
            <a:off x="9509760"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53" name="Text 151"/>
          <p:cNvSpPr txBox="1"/>
          <p:nvPr/>
        </p:nvSpPr>
        <p:spPr>
          <a:xfrm>
            <a:off x="10012680" y="310896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54" name="Text 152"/>
          <p:cNvSpPr txBox="1"/>
          <p:nvPr/>
        </p:nvSpPr>
        <p:spPr>
          <a:xfrm>
            <a:off x="10515600"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55" name="Text 153"/>
          <p:cNvSpPr txBox="1"/>
          <p:nvPr/>
        </p:nvSpPr>
        <p:spPr>
          <a:xfrm>
            <a:off x="11018520" y="310896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56" name="Text 154"/>
          <p:cNvSpPr txBox="1"/>
          <p:nvPr/>
        </p:nvSpPr>
        <p:spPr>
          <a:xfrm>
            <a:off x="6208776"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57" name="Shape 155"/>
          <p:cNvSpPr/>
          <p:nvPr/>
        </p:nvSpPr>
        <p:spPr>
          <a:xfrm>
            <a:off x="8220456" y="3540214"/>
            <a:ext cx="135128" cy="193624"/>
          </a:xfrm>
          <a:prstGeom prst="rect">
            <a:avLst/>
          </a:prstGeom>
          <a:solidFill>
            <a:srgbClr val="0B7A4A"/>
          </a:solidFill>
          <a:ln w="9525">
            <a:solidFill>
              <a:srgbClr val="FFFFFF"/>
            </a:solidFill>
            <a:prstDash val="solid"/>
          </a:ln>
        </p:spPr>
      </p:sp>
      <p:sp>
        <p:nvSpPr>
          <p:cNvPr id="158" name="Shape 156"/>
          <p:cNvSpPr/>
          <p:nvPr/>
        </p:nvSpPr>
        <p:spPr>
          <a:xfrm>
            <a:off x="8355584" y="3540214"/>
            <a:ext cx="135128" cy="193624"/>
          </a:xfrm>
          <a:prstGeom prst="rect">
            <a:avLst/>
          </a:prstGeom>
          <a:solidFill>
            <a:srgbClr val="8ED3B0"/>
          </a:solidFill>
          <a:ln w="9525">
            <a:solidFill>
              <a:srgbClr val="FFFFFF"/>
            </a:solidFill>
            <a:prstDash val="solid"/>
          </a:ln>
        </p:spPr>
      </p:sp>
      <p:sp>
        <p:nvSpPr>
          <p:cNvPr id="159" name="Text 157"/>
          <p:cNvSpPr txBox="1"/>
          <p:nvPr/>
        </p:nvSpPr>
        <p:spPr>
          <a:xfrm>
            <a:off x="9509760"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0" name="Text 158"/>
          <p:cNvSpPr txBox="1"/>
          <p:nvPr/>
        </p:nvSpPr>
        <p:spPr>
          <a:xfrm>
            <a:off x="10012680" y="346100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61" name="Text 159"/>
          <p:cNvSpPr txBox="1"/>
          <p:nvPr/>
        </p:nvSpPr>
        <p:spPr>
          <a:xfrm>
            <a:off x="10515600"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2" name="Text 160"/>
          <p:cNvSpPr txBox="1"/>
          <p:nvPr/>
        </p:nvSpPr>
        <p:spPr>
          <a:xfrm>
            <a:off x="11018520" y="346100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63" name="Text 161"/>
          <p:cNvSpPr txBox="1"/>
          <p:nvPr/>
        </p:nvSpPr>
        <p:spPr>
          <a:xfrm>
            <a:off x="6208776"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4" name="Shape 162"/>
          <p:cNvSpPr/>
          <p:nvPr/>
        </p:nvSpPr>
        <p:spPr>
          <a:xfrm>
            <a:off x="8220456" y="3892258"/>
            <a:ext cx="135128" cy="193624"/>
          </a:xfrm>
          <a:prstGeom prst="rect">
            <a:avLst/>
          </a:prstGeom>
          <a:solidFill>
            <a:srgbClr val="0B7A4A"/>
          </a:solidFill>
          <a:ln w="9525">
            <a:solidFill>
              <a:srgbClr val="FFFFFF"/>
            </a:solidFill>
            <a:prstDash val="solid"/>
          </a:ln>
        </p:spPr>
      </p:sp>
      <p:sp>
        <p:nvSpPr>
          <p:cNvPr id="165" name="Shape 163"/>
          <p:cNvSpPr/>
          <p:nvPr/>
        </p:nvSpPr>
        <p:spPr>
          <a:xfrm>
            <a:off x="8355584" y="3892258"/>
            <a:ext cx="135128" cy="193624"/>
          </a:xfrm>
          <a:prstGeom prst="rect">
            <a:avLst/>
          </a:prstGeom>
          <a:solidFill>
            <a:srgbClr val="8ED3B0"/>
          </a:solidFill>
          <a:ln w="9525">
            <a:solidFill>
              <a:srgbClr val="FFFFFF"/>
            </a:solidFill>
            <a:prstDash val="solid"/>
          </a:ln>
        </p:spPr>
      </p:sp>
      <p:sp>
        <p:nvSpPr>
          <p:cNvPr id="166" name="Text 164"/>
          <p:cNvSpPr txBox="1"/>
          <p:nvPr/>
        </p:nvSpPr>
        <p:spPr>
          <a:xfrm>
            <a:off x="9509760"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7" name="Text 165"/>
          <p:cNvSpPr txBox="1"/>
          <p:nvPr/>
        </p:nvSpPr>
        <p:spPr>
          <a:xfrm>
            <a:off x="10012680" y="381304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68" name="Text 166"/>
          <p:cNvSpPr txBox="1"/>
          <p:nvPr/>
        </p:nvSpPr>
        <p:spPr>
          <a:xfrm>
            <a:off x="10515600"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9" name="Text 167"/>
          <p:cNvSpPr txBox="1"/>
          <p:nvPr/>
        </p:nvSpPr>
        <p:spPr>
          <a:xfrm>
            <a:off x="11018520" y="381304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70" name="Text 168"/>
          <p:cNvSpPr txBox="1"/>
          <p:nvPr/>
        </p:nvSpPr>
        <p:spPr>
          <a:xfrm>
            <a:off x="6208776"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1" name="Shape 169"/>
          <p:cNvSpPr/>
          <p:nvPr/>
        </p:nvSpPr>
        <p:spPr>
          <a:xfrm>
            <a:off x="8220456" y="4244302"/>
            <a:ext cx="135128" cy="193624"/>
          </a:xfrm>
          <a:prstGeom prst="rect">
            <a:avLst/>
          </a:prstGeom>
          <a:solidFill>
            <a:srgbClr val="0B7A4A"/>
          </a:solidFill>
          <a:ln w="9525">
            <a:solidFill>
              <a:srgbClr val="FFFFFF"/>
            </a:solidFill>
            <a:prstDash val="solid"/>
          </a:ln>
        </p:spPr>
      </p:sp>
      <p:sp>
        <p:nvSpPr>
          <p:cNvPr id="172" name="Shape 170"/>
          <p:cNvSpPr/>
          <p:nvPr/>
        </p:nvSpPr>
        <p:spPr>
          <a:xfrm>
            <a:off x="8355584" y="4244302"/>
            <a:ext cx="135128" cy="193624"/>
          </a:xfrm>
          <a:prstGeom prst="rect">
            <a:avLst/>
          </a:prstGeom>
          <a:solidFill>
            <a:srgbClr val="8ED3B0"/>
          </a:solidFill>
          <a:ln w="9525">
            <a:solidFill>
              <a:srgbClr val="FFFFFF"/>
            </a:solidFill>
            <a:prstDash val="solid"/>
          </a:ln>
        </p:spPr>
      </p:sp>
      <p:sp>
        <p:nvSpPr>
          <p:cNvPr id="173" name="Text 171"/>
          <p:cNvSpPr txBox="1"/>
          <p:nvPr/>
        </p:nvSpPr>
        <p:spPr>
          <a:xfrm>
            <a:off x="9509760"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74" name="Text 172"/>
          <p:cNvSpPr txBox="1"/>
          <p:nvPr/>
        </p:nvSpPr>
        <p:spPr>
          <a:xfrm>
            <a:off x="10012680" y="4165092"/>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75" name="Text 173"/>
          <p:cNvSpPr txBox="1"/>
          <p:nvPr/>
        </p:nvSpPr>
        <p:spPr>
          <a:xfrm>
            <a:off x="10515600"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76" name="Text 174"/>
          <p:cNvSpPr txBox="1"/>
          <p:nvPr/>
        </p:nvSpPr>
        <p:spPr>
          <a:xfrm>
            <a:off x="11018520" y="416509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77" name="Text 175"/>
          <p:cNvSpPr txBox="1"/>
          <p:nvPr/>
        </p:nvSpPr>
        <p:spPr>
          <a:xfrm>
            <a:off x="6208776"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78" name="Shape 176"/>
          <p:cNvSpPr/>
          <p:nvPr/>
        </p:nvSpPr>
        <p:spPr>
          <a:xfrm>
            <a:off x="8220456" y="4596346"/>
            <a:ext cx="270256" cy="193624"/>
          </a:xfrm>
          <a:prstGeom prst="rect">
            <a:avLst/>
          </a:prstGeom>
          <a:solidFill>
            <a:srgbClr val="0B7A4A"/>
          </a:solidFill>
          <a:ln w="9525">
            <a:solidFill>
              <a:srgbClr val="FFFFFF"/>
            </a:solidFill>
            <a:prstDash val="solid"/>
          </a:ln>
        </p:spPr>
      </p:sp>
      <p:sp>
        <p:nvSpPr>
          <p:cNvPr id="179" name="Text 177"/>
          <p:cNvSpPr txBox="1"/>
          <p:nvPr/>
        </p:nvSpPr>
        <p:spPr>
          <a:xfrm>
            <a:off x="9509760"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80" name="Text 178"/>
          <p:cNvSpPr txBox="1"/>
          <p:nvPr/>
        </p:nvSpPr>
        <p:spPr>
          <a:xfrm>
            <a:off x="10012680" y="451713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1" name="Text 179"/>
          <p:cNvSpPr txBox="1"/>
          <p:nvPr/>
        </p:nvSpPr>
        <p:spPr>
          <a:xfrm>
            <a:off x="10515600" y="451713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2" name="Text 180"/>
          <p:cNvSpPr txBox="1"/>
          <p:nvPr/>
        </p:nvSpPr>
        <p:spPr>
          <a:xfrm>
            <a:off x="11018520" y="451713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83" name="Text 181"/>
          <p:cNvSpPr txBox="1"/>
          <p:nvPr/>
        </p:nvSpPr>
        <p:spPr>
          <a:xfrm>
            <a:off x="6208776"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84" name="Shape 182"/>
          <p:cNvSpPr/>
          <p:nvPr/>
        </p:nvSpPr>
        <p:spPr>
          <a:xfrm>
            <a:off x="8220456" y="4948390"/>
            <a:ext cx="135128" cy="193624"/>
          </a:xfrm>
          <a:prstGeom prst="rect">
            <a:avLst/>
          </a:prstGeom>
          <a:solidFill>
            <a:srgbClr val="8ED3B0"/>
          </a:solidFill>
          <a:ln w="9525">
            <a:solidFill>
              <a:srgbClr val="FFFFFF"/>
            </a:solidFill>
            <a:prstDash val="solid"/>
          </a:ln>
        </p:spPr>
      </p:sp>
      <p:sp>
        <p:nvSpPr>
          <p:cNvPr id="185" name="Text 183"/>
          <p:cNvSpPr txBox="1"/>
          <p:nvPr/>
        </p:nvSpPr>
        <p:spPr>
          <a:xfrm>
            <a:off x="9509760" y="486918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6" name="Text 184"/>
          <p:cNvSpPr txBox="1"/>
          <p:nvPr/>
        </p:nvSpPr>
        <p:spPr>
          <a:xfrm>
            <a:off x="10012680" y="486918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7" name="Text 185"/>
          <p:cNvSpPr txBox="1"/>
          <p:nvPr/>
        </p:nvSpPr>
        <p:spPr>
          <a:xfrm>
            <a:off x="10515600"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88" name="Text 186"/>
          <p:cNvSpPr txBox="1"/>
          <p:nvPr/>
        </p:nvSpPr>
        <p:spPr>
          <a:xfrm>
            <a:off x="11018520" y="486918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189" name="Text 187"/>
          <p:cNvSpPr txBox="1"/>
          <p:nvPr/>
        </p:nvSpPr>
        <p:spPr>
          <a:xfrm>
            <a:off x="6208776"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90" name="Shape 188"/>
          <p:cNvSpPr/>
          <p:nvPr/>
        </p:nvSpPr>
        <p:spPr>
          <a:xfrm>
            <a:off x="8220456" y="5300434"/>
            <a:ext cx="135128" cy="193624"/>
          </a:xfrm>
          <a:prstGeom prst="rect">
            <a:avLst/>
          </a:prstGeom>
          <a:solidFill>
            <a:srgbClr val="0B7A4A"/>
          </a:solidFill>
          <a:ln w="9525">
            <a:solidFill>
              <a:srgbClr val="FFFFFF"/>
            </a:solidFill>
            <a:prstDash val="solid"/>
          </a:ln>
        </p:spPr>
      </p:sp>
      <p:sp>
        <p:nvSpPr>
          <p:cNvPr id="191" name="Text 189"/>
          <p:cNvSpPr txBox="1"/>
          <p:nvPr/>
        </p:nvSpPr>
        <p:spPr>
          <a:xfrm>
            <a:off x="9509760"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92" name="Text 190"/>
          <p:cNvSpPr txBox="1"/>
          <p:nvPr/>
        </p:nvSpPr>
        <p:spPr>
          <a:xfrm>
            <a:off x="10012680" y="522122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93" name="Text 191"/>
          <p:cNvSpPr txBox="1"/>
          <p:nvPr/>
        </p:nvSpPr>
        <p:spPr>
          <a:xfrm>
            <a:off x="10515600" y="522122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94" name="Text 192"/>
          <p:cNvSpPr txBox="1"/>
          <p:nvPr/>
        </p:nvSpPr>
        <p:spPr>
          <a:xfrm>
            <a:off x="11018520" y="522122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195" name="Shape 193"/>
          <p:cNvSpPr/>
          <p:nvPr/>
        </p:nvSpPr>
        <p:spPr>
          <a:xfrm>
            <a:off x="457200" y="6126480"/>
            <a:ext cx="11274552" cy="356616"/>
          </a:xfrm>
          <a:prstGeom prst="rect">
            <a:avLst/>
          </a:prstGeom>
          <a:solidFill>
            <a:srgbClr val="E6F6EE"/>
          </a:solidFill>
          <a:ln/>
        </p:spPr>
      </p:sp>
      <p:sp>
        <p:nvSpPr>
          <p:cNvPr id="196" name="Text 19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23 of 33 stores set 98 new monthly records in 2026: 42 in service, 19 in parts and 37 in combined gross.</a:t>
            </a:r>
            <a:endParaRPr lang="en-US" sz="1500" dirty="0"/>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$235.87</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$249.95</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$179.87</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$275.00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$179.00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$229.95</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$199.95</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$195.00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$294.87</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$209.87</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$204.87</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$348.87</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$215.37</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$239.87</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$211.26</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$219.87</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$244.87</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$285.00</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OPTION B</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29768" cy="111880"/>
          </a:xfrm>
          <a:prstGeom prst="rect">
            <a:avLst/>
          </a:prstGeom>
          <a:solidFill>
            <a:srgbClr val="12A566"/>
          </a:solidFill>
          <a:ln/>
        </p:spPr>
      </p:sp>
      <p:sp>
        <p:nvSpPr>
          <p:cNvPr id="14" name="Text 12"/>
          <p:cNvSpPr txBox="1"/>
          <p:nvPr/>
        </p:nvSpPr>
        <p:spPr>
          <a:xfrm>
            <a:off x="3493008"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169664"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4956048" y="212140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$165.11</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39882" cy="111880"/>
          </a:xfrm>
          <a:prstGeom prst="rect">
            <a:avLst/>
          </a:prstGeom>
          <a:solidFill>
            <a:srgbClr val="12A566"/>
          </a:solidFill>
          <a:ln/>
        </p:spPr>
      </p:sp>
      <p:sp>
        <p:nvSpPr>
          <p:cNvPr id="20" name="Text 18"/>
          <p:cNvSpPr txBox="1"/>
          <p:nvPr/>
        </p:nvSpPr>
        <p:spPr>
          <a:xfrm>
            <a:off x="3493008"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169664"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4956048" y="234516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$174.96</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38082" cy="111880"/>
          </a:xfrm>
          <a:prstGeom prst="rect">
            <a:avLst/>
          </a:prstGeom>
          <a:solidFill>
            <a:srgbClr val="12A566"/>
          </a:solidFill>
          <a:ln/>
        </p:spPr>
      </p:sp>
      <p:sp>
        <p:nvSpPr>
          <p:cNvPr id="26" name="Text 24"/>
          <p:cNvSpPr txBox="1"/>
          <p:nvPr/>
        </p:nvSpPr>
        <p:spPr>
          <a:xfrm>
            <a:off x="3493008"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169664"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4956048" y="256892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$125.91</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36855" cy="111880"/>
          </a:xfrm>
          <a:prstGeom prst="rect">
            <a:avLst/>
          </a:prstGeom>
          <a:solidFill>
            <a:srgbClr val="12A566"/>
          </a:solidFill>
          <a:ln/>
        </p:spPr>
      </p:sp>
      <p:sp>
        <p:nvSpPr>
          <p:cNvPr id="32" name="Text 30"/>
          <p:cNvSpPr txBox="1"/>
          <p:nvPr/>
        </p:nvSpPr>
        <p:spPr>
          <a:xfrm>
            <a:off x="3493008"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169664"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4956048" y="279268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$129.41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28341" cy="111880"/>
          </a:xfrm>
          <a:prstGeom prst="rect">
            <a:avLst/>
          </a:prstGeom>
          <a:solidFill>
            <a:srgbClr val="12A566"/>
          </a:solidFill>
          <a:ln/>
        </p:spPr>
      </p:sp>
      <p:sp>
        <p:nvSpPr>
          <p:cNvPr id="38" name="Text 36"/>
          <p:cNvSpPr txBox="1"/>
          <p:nvPr/>
        </p:nvSpPr>
        <p:spPr>
          <a:xfrm>
            <a:off x="3493008"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169664"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4956048" y="301644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$157.41</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16548" cy="111880"/>
          </a:xfrm>
          <a:prstGeom prst="rect">
            <a:avLst/>
          </a:prstGeom>
          <a:solidFill>
            <a:srgbClr val="12A566"/>
          </a:solidFill>
          <a:ln/>
        </p:spPr>
      </p:sp>
      <p:sp>
        <p:nvSpPr>
          <p:cNvPr id="44" name="Text 42"/>
          <p:cNvSpPr txBox="1"/>
          <p:nvPr/>
        </p:nvSpPr>
        <p:spPr>
          <a:xfrm>
            <a:off x="3493008"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169664"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4956048" y="324020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$192.50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13488" cy="111880"/>
          </a:xfrm>
          <a:prstGeom prst="rect">
            <a:avLst/>
          </a:prstGeom>
          <a:solidFill>
            <a:srgbClr val="12A566"/>
          </a:solidFill>
          <a:ln/>
        </p:spPr>
      </p:sp>
      <p:sp>
        <p:nvSpPr>
          <p:cNvPr id="50" name="Text 48"/>
          <p:cNvSpPr txBox="1"/>
          <p:nvPr/>
        </p:nvSpPr>
        <p:spPr>
          <a:xfrm>
            <a:off x="3493008"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169664"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4956048" y="3463962"/>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288598" cy="111880"/>
          </a:xfrm>
          <a:prstGeom prst="rect">
            <a:avLst/>
          </a:prstGeom>
          <a:solidFill>
            <a:srgbClr val="12A566"/>
          </a:solidFill>
          <a:ln/>
        </p:spPr>
      </p:sp>
      <p:sp>
        <p:nvSpPr>
          <p:cNvPr id="56" name="Text 54"/>
          <p:cNvSpPr txBox="1"/>
          <p:nvPr/>
        </p:nvSpPr>
        <p:spPr>
          <a:xfrm>
            <a:off x="3493008"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169664"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4956048" y="3687721"/>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$125.30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280906" cy="111880"/>
          </a:xfrm>
          <a:prstGeom prst="rect">
            <a:avLst/>
          </a:prstGeom>
          <a:solidFill>
            <a:srgbClr val="12A566"/>
          </a:solidFill>
          <a:ln/>
        </p:spPr>
      </p:sp>
      <p:sp>
        <p:nvSpPr>
          <p:cNvPr id="62" name="Text 60"/>
          <p:cNvSpPr txBox="1"/>
          <p:nvPr/>
        </p:nvSpPr>
        <p:spPr>
          <a:xfrm>
            <a:off x="3493008"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169664"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4956048" y="391148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$160.96</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277389" cy="111880"/>
          </a:xfrm>
          <a:prstGeom prst="rect">
            <a:avLst/>
          </a:prstGeom>
          <a:solidFill>
            <a:srgbClr val="12A566"/>
          </a:solidFill>
          <a:ln/>
        </p:spPr>
      </p:sp>
      <p:sp>
        <p:nvSpPr>
          <p:cNvPr id="68" name="Text 66"/>
          <p:cNvSpPr txBox="1"/>
          <p:nvPr/>
        </p:nvSpPr>
        <p:spPr>
          <a:xfrm>
            <a:off x="3493008"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169664"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4956048" y="413524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$139.96</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269953" cy="111880"/>
          </a:xfrm>
          <a:prstGeom prst="rect">
            <a:avLst/>
          </a:prstGeom>
          <a:solidFill>
            <a:srgbClr val="12A566"/>
          </a:solidFill>
          <a:ln/>
        </p:spPr>
      </p:sp>
      <p:sp>
        <p:nvSpPr>
          <p:cNvPr id="74" name="Text 72"/>
          <p:cNvSpPr txBox="1"/>
          <p:nvPr/>
        </p:nvSpPr>
        <p:spPr>
          <a:xfrm>
            <a:off x="3493008"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169664"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4956048" y="4358999"/>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$136.50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267485" cy="111880"/>
          </a:xfrm>
          <a:prstGeom prst="rect">
            <a:avLst/>
          </a:prstGeom>
          <a:solidFill>
            <a:srgbClr val="12A566"/>
          </a:solidFill>
          <a:ln/>
        </p:spPr>
      </p:sp>
      <p:sp>
        <p:nvSpPr>
          <p:cNvPr id="80" name="Text 78"/>
          <p:cNvSpPr txBox="1"/>
          <p:nvPr/>
        </p:nvSpPr>
        <p:spPr>
          <a:xfrm>
            <a:off x="3493008"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169664"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4956048" y="458275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$206.41</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63570" cy="111880"/>
          </a:xfrm>
          <a:prstGeom prst="rect">
            <a:avLst/>
          </a:prstGeom>
          <a:solidFill>
            <a:srgbClr val="12A566"/>
          </a:solidFill>
          <a:ln/>
        </p:spPr>
      </p:sp>
      <p:sp>
        <p:nvSpPr>
          <p:cNvPr id="86" name="Text 84"/>
          <p:cNvSpPr txBox="1"/>
          <p:nvPr/>
        </p:nvSpPr>
        <p:spPr>
          <a:xfrm>
            <a:off x="3493008"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169664"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4956048" y="480651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63535" cy="111880"/>
          </a:xfrm>
          <a:prstGeom prst="rect">
            <a:avLst/>
          </a:prstGeom>
          <a:solidFill>
            <a:srgbClr val="12A566"/>
          </a:solidFill>
          <a:ln/>
        </p:spPr>
      </p:sp>
      <p:sp>
        <p:nvSpPr>
          <p:cNvPr id="92" name="Text 90"/>
          <p:cNvSpPr txBox="1"/>
          <p:nvPr/>
        </p:nvSpPr>
        <p:spPr>
          <a:xfrm>
            <a:off x="3493008"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169664"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4956048" y="503027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$146.91</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60639" cy="111880"/>
          </a:xfrm>
          <a:prstGeom prst="rect">
            <a:avLst/>
          </a:prstGeom>
          <a:solidFill>
            <a:srgbClr val="12A566"/>
          </a:solidFill>
          <a:ln/>
        </p:spPr>
      </p:sp>
      <p:sp>
        <p:nvSpPr>
          <p:cNvPr id="98" name="Text 96"/>
          <p:cNvSpPr txBox="1"/>
          <p:nvPr/>
        </p:nvSpPr>
        <p:spPr>
          <a:xfrm>
            <a:off x="3493008"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169664"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4956048" y="525403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$143.41</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48755" cy="111880"/>
          </a:xfrm>
          <a:prstGeom prst="rect">
            <a:avLst/>
          </a:prstGeom>
          <a:solidFill>
            <a:srgbClr val="12A566"/>
          </a:solidFill>
          <a:ln/>
        </p:spPr>
      </p:sp>
      <p:sp>
        <p:nvSpPr>
          <p:cNvPr id="104" name="Text 102"/>
          <p:cNvSpPr txBox="1"/>
          <p:nvPr/>
        </p:nvSpPr>
        <p:spPr>
          <a:xfrm>
            <a:off x="3493008"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169664"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4956048" y="547779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$129.41</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46725" cy="111880"/>
          </a:xfrm>
          <a:prstGeom prst="rect">
            <a:avLst/>
          </a:prstGeom>
          <a:solidFill>
            <a:srgbClr val="12A566"/>
          </a:solidFill>
          <a:ln/>
        </p:spPr>
      </p:sp>
      <p:sp>
        <p:nvSpPr>
          <p:cNvPr id="110" name="Text 108"/>
          <p:cNvSpPr txBox="1"/>
          <p:nvPr/>
        </p:nvSpPr>
        <p:spPr>
          <a:xfrm>
            <a:off x="3493008"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169664"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4956048" y="570155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$244.21</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39899" cy="111880"/>
          </a:xfrm>
          <a:prstGeom prst="rect">
            <a:avLst/>
          </a:prstGeom>
          <a:solidFill>
            <a:srgbClr val="12A566"/>
          </a:solidFill>
          <a:ln/>
        </p:spPr>
      </p:sp>
      <p:sp>
        <p:nvSpPr>
          <p:cNvPr id="116" name="Text 114"/>
          <p:cNvSpPr txBox="1"/>
          <p:nvPr/>
        </p:nvSpPr>
        <p:spPr>
          <a:xfrm>
            <a:off x="9043416"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2007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06456" y="212140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$217.00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38755" cy="111880"/>
          </a:xfrm>
          <a:prstGeom prst="rect">
            <a:avLst/>
          </a:prstGeom>
          <a:solidFill>
            <a:srgbClr val="12A566"/>
          </a:solidFill>
          <a:ln/>
        </p:spPr>
      </p:sp>
      <p:sp>
        <p:nvSpPr>
          <p:cNvPr id="122" name="Text 120"/>
          <p:cNvSpPr txBox="1"/>
          <p:nvPr/>
        </p:nvSpPr>
        <p:spPr>
          <a:xfrm>
            <a:off x="9043416"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2007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06456" y="234516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$150.76</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37564" cy="111880"/>
          </a:xfrm>
          <a:prstGeom prst="rect">
            <a:avLst/>
          </a:prstGeom>
          <a:solidFill>
            <a:srgbClr val="12A566"/>
          </a:solidFill>
          <a:ln/>
        </p:spPr>
      </p:sp>
      <p:sp>
        <p:nvSpPr>
          <p:cNvPr id="128" name="Text 126"/>
          <p:cNvSpPr txBox="1"/>
          <p:nvPr/>
        </p:nvSpPr>
        <p:spPr>
          <a:xfrm>
            <a:off x="9043416"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2007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06456" y="256892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$167.91</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36934" cy="111880"/>
          </a:xfrm>
          <a:prstGeom prst="rect">
            <a:avLst/>
          </a:prstGeom>
          <a:solidFill>
            <a:srgbClr val="12A566"/>
          </a:solidFill>
          <a:ln/>
        </p:spPr>
      </p:sp>
      <p:sp>
        <p:nvSpPr>
          <p:cNvPr id="134" name="Text 132"/>
          <p:cNvSpPr txBox="1"/>
          <p:nvPr/>
        </p:nvSpPr>
        <p:spPr>
          <a:xfrm>
            <a:off x="9043416"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2007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06456" y="279268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$133.00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29411" cy="111880"/>
          </a:xfrm>
          <a:prstGeom prst="rect">
            <a:avLst/>
          </a:prstGeom>
          <a:solidFill>
            <a:srgbClr val="12A566"/>
          </a:solidFill>
          <a:ln/>
        </p:spPr>
      </p:sp>
      <p:sp>
        <p:nvSpPr>
          <p:cNvPr id="140" name="Text 138"/>
          <p:cNvSpPr txBox="1"/>
          <p:nvPr/>
        </p:nvSpPr>
        <p:spPr>
          <a:xfrm>
            <a:off x="9043416"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2007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06456" y="301644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24413" cy="111880"/>
          </a:xfrm>
          <a:prstGeom prst="rect">
            <a:avLst/>
          </a:prstGeom>
          <a:solidFill>
            <a:srgbClr val="12A566"/>
          </a:solidFill>
          <a:ln/>
        </p:spPr>
      </p:sp>
      <p:sp>
        <p:nvSpPr>
          <p:cNvPr id="146" name="Text 144"/>
          <p:cNvSpPr txBox="1"/>
          <p:nvPr/>
        </p:nvSpPr>
        <p:spPr>
          <a:xfrm>
            <a:off x="9043416"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2007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06456" y="324020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$147.88</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19478" cy="111880"/>
          </a:xfrm>
          <a:prstGeom prst="rect">
            <a:avLst/>
          </a:prstGeom>
          <a:solidFill>
            <a:srgbClr val="12A566"/>
          </a:solidFill>
          <a:ln/>
        </p:spPr>
      </p:sp>
      <p:sp>
        <p:nvSpPr>
          <p:cNvPr id="152" name="Text 150"/>
          <p:cNvSpPr txBox="1"/>
          <p:nvPr/>
        </p:nvSpPr>
        <p:spPr>
          <a:xfrm>
            <a:off x="9043416"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2007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06456" y="3463962"/>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$148.31</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07479" cy="111880"/>
          </a:xfrm>
          <a:prstGeom prst="rect">
            <a:avLst/>
          </a:prstGeom>
          <a:solidFill>
            <a:srgbClr val="12A566"/>
          </a:solidFill>
          <a:ln/>
        </p:spPr>
      </p:sp>
      <p:sp>
        <p:nvSpPr>
          <p:cNvPr id="158" name="Text 156"/>
          <p:cNvSpPr txBox="1"/>
          <p:nvPr/>
        </p:nvSpPr>
        <p:spPr>
          <a:xfrm>
            <a:off x="9043416"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2007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06456" y="3687721"/>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$148.31</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193238" cy="111880"/>
          </a:xfrm>
          <a:prstGeom prst="rect">
            <a:avLst/>
          </a:prstGeom>
          <a:solidFill>
            <a:srgbClr val="C2352F"/>
          </a:solidFill>
          <a:ln/>
        </p:spPr>
      </p:sp>
      <p:sp>
        <p:nvSpPr>
          <p:cNvPr id="164" name="Text 162"/>
          <p:cNvSpPr txBox="1"/>
          <p:nvPr/>
        </p:nvSpPr>
        <p:spPr>
          <a:xfrm>
            <a:off x="9043416"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2007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06456" y="391148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$153.91</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191473" cy="111880"/>
          </a:xfrm>
          <a:prstGeom prst="rect">
            <a:avLst/>
          </a:prstGeom>
          <a:solidFill>
            <a:srgbClr val="C2352F"/>
          </a:solidFill>
          <a:ln/>
        </p:spPr>
      </p:sp>
      <p:sp>
        <p:nvSpPr>
          <p:cNvPr id="170" name="Text 168"/>
          <p:cNvSpPr txBox="1"/>
          <p:nvPr/>
        </p:nvSpPr>
        <p:spPr>
          <a:xfrm>
            <a:off x="9043416"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2007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06456" y="413524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$171.41</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186299" cy="111880"/>
          </a:xfrm>
          <a:prstGeom prst="rect">
            <a:avLst/>
          </a:prstGeom>
          <a:solidFill>
            <a:srgbClr val="C2352F"/>
          </a:solidFill>
          <a:ln/>
        </p:spPr>
      </p:sp>
      <p:sp>
        <p:nvSpPr>
          <p:cNvPr id="176" name="Text 174"/>
          <p:cNvSpPr txBox="1"/>
          <p:nvPr/>
        </p:nvSpPr>
        <p:spPr>
          <a:xfrm>
            <a:off x="9043416"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2007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06456" y="4358999"/>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181273" cy="111880"/>
          </a:xfrm>
          <a:prstGeom prst="rect">
            <a:avLst/>
          </a:prstGeom>
          <a:solidFill>
            <a:srgbClr val="C2352F"/>
          </a:solidFill>
          <a:ln/>
        </p:spPr>
      </p:sp>
      <p:sp>
        <p:nvSpPr>
          <p:cNvPr id="182" name="Text 180"/>
          <p:cNvSpPr txBox="1"/>
          <p:nvPr/>
        </p:nvSpPr>
        <p:spPr>
          <a:xfrm>
            <a:off x="9043416"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2007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06456" y="458275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179859" cy="111880"/>
          </a:xfrm>
          <a:prstGeom prst="rect">
            <a:avLst/>
          </a:prstGeom>
          <a:solidFill>
            <a:srgbClr val="C2352F"/>
          </a:solidFill>
          <a:ln/>
        </p:spPr>
      </p:sp>
      <p:sp>
        <p:nvSpPr>
          <p:cNvPr id="188" name="Text 186"/>
          <p:cNvSpPr txBox="1"/>
          <p:nvPr/>
        </p:nvSpPr>
        <p:spPr>
          <a:xfrm>
            <a:off x="9043416"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2007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06456" y="480651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69444" cy="111880"/>
          </a:xfrm>
          <a:prstGeom prst="rect">
            <a:avLst/>
          </a:prstGeom>
          <a:solidFill>
            <a:srgbClr val="C2352F"/>
          </a:solidFill>
          <a:ln/>
        </p:spPr>
      </p:sp>
      <p:sp>
        <p:nvSpPr>
          <p:cNvPr id="194" name="Text 192"/>
          <p:cNvSpPr txBox="1"/>
          <p:nvPr/>
        </p:nvSpPr>
        <p:spPr>
          <a:xfrm>
            <a:off x="9043416"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2007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06456" y="503027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$157.41</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67986" cy="111880"/>
          </a:xfrm>
          <a:prstGeom prst="rect">
            <a:avLst/>
          </a:prstGeom>
          <a:solidFill>
            <a:srgbClr val="C2352F"/>
          </a:solidFill>
          <a:ln/>
        </p:spPr>
      </p:sp>
      <p:sp>
        <p:nvSpPr>
          <p:cNvPr id="200" name="Text 198"/>
          <p:cNvSpPr txBox="1"/>
          <p:nvPr/>
        </p:nvSpPr>
        <p:spPr>
          <a:xfrm>
            <a:off x="9043416"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2007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06456" y="525403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45988" cy="111880"/>
          </a:xfrm>
          <a:prstGeom prst="rect">
            <a:avLst/>
          </a:prstGeom>
          <a:solidFill>
            <a:srgbClr val="C2352F"/>
          </a:solidFill>
          <a:ln/>
        </p:spPr>
      </p:sp>
      <p:sp>
        <p:nvSpPr>
          <p:cNvPr id="206" name="Text 204"/>
          <p:cNvSpPr txBox="1"/>
          <p:nvPr/>
        </p:nvSpPr>
        <p:spPr>
          <a:xfrm>
            <a:off x="9043416"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2007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06456" y="547779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$199.50</a:t>
            </a:r>
            <a:endParaRPr lang="en-US" sz="1200" dirty="0"/>
          </a:p>
        </p:txBody>
      </p:sp>
      <p:sp>
        <p:nvSpPr>
          <p:cNvPr id="209" name="Text 207"/>
          <p:cNvSpPr txBox="1"/>
          <p:nvPr/>
        </p:nvSpPr>
        <p:spPr>
          <a:xfrm>
            <a:off x="349300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169664"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4956048" y="1828800"/>
            <a:ext cx="841248"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70% TGT</a:t>
            </a:r>
            <a:endParaRPr lang="en-US" sz="1400" dirty="0"/>
          </a:p>
        </p:txBody>
      </p:sp>
      <p:sp>
        <p:nvSpPr>
          <p:cNvPr id="212" name="Text 210"/>
          <p:cNvSpPr txBox="1"/>
          <p:nvPr/>
        </p:nvSpPr>
        <p:spPr>
          <a:xfrm>
            <a:off x="9043416"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2007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06456" y="1828800"/>
            <a:ext cx="841248"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70% TGT</a:t>
            </a:r>
            <a:endParaRPr lang="en-US" sz="1400" dirty="0"/>
          </a:p>
        </p:txBody>
      </p:sp>
      <p:sp>
        <p:nvSpPr>
          <p:cNvPr id="215" name="Shape 213"/>
          <p:cNvSpPr/>
          <p:nvPr/>
        </p:nvSpPr>
        <p:spPr>
          <a:xfrm>
            <a:off x="3204105" y="2121408"/>
            <a:ext cx="14630" cy="3803904"/>
          </a:xfrm>
          <a:prstGeom prst="rect">
            <a:avLst/>
          </a:prstGeom>
          <a:solidFill>
            <a:srgbClr val="0B2C4A"/>
          </a:solidFill>
          <a:ln/>
        </p:spPr>
      </p:sp>
      <p:sp>
        <p:nvSpPr>
          <p:cNvPr id="216" name="Shape 214"/>
          <p:cNvSpPr/>
          <p:nvPr/>
        </p:nvSpPr>
        <p:spPr>
          <a:xfrm>
            <a:off x="8754513"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64236"/>
          </a:xfrm>
          <a:prstGeom prst="rect">
            <a:avLst/>
          </a:prstGeom>
          <a:solidFill>
            <a:srgbClr val="EDF4FA"/>
          </a:solidFill>
          <a:ln/>
        </p:spPr>
      </p:sp>
      <p:sp>
        <p:nvSpPr>
          <p:cNvPr id="219" name="Text 217"/>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Jul–Sep: 25 of 33 stores at or above 70% of door rate. Cadillac runs $175.47 against a $199.50 target.</a:t>
            </a:r>
            <a:endParaRPr lang="en-US" sz="1550" dirty="0"/>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INTERNAL GP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0.3 pts to 78.1%, ahead of 2025 in six of nine months.</a:t>
            </a:r>
            <a:endParaRPr lang="en-US" sz="1600" dirty="0"/>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INTERNAL GP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64906"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64128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5" name="Shape 23"/>
          <p:cNvSpPr/>
          <p:nvPr/>
        </p:nvSpPr>
        <p:spPr>
          <a:xfrm>
            <a:off x="3008376" y="2626748"/>
            <a:ext cx="156998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008376" y="2866644"/>
            <a:ext cx="154621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82.8%</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52177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008376" y="3346435"/>
            <a:ext cx="151722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008376" y="3586331"/>
            <a:ext cx="151209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008376" y="3826226"/>
            <a:ext cx="1502318"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9" name="Shape 47"/>
          <p:cNvSpPr/>
          <p:nvPr/>
        </p:nvSpPr>
        <p:spPr>
          <a:xfrm>
            <a:off x="3008376" y="4066122"/>
            <a:ext cx="14857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008376" y="4306017"/>
            <a:ext cx="1450241"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008376" y="4545913"/>
            <a:ext cx="142542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1" name="Shape 59"/>
          <p:cNvSpPr/>
          <p:nvPr/>
        </p:nvSpPr>
        <p:spPr>
          <a:xfrm>
            <a:off x="3008376" y="4785808"/>
            <a:ext cx="1402468"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402095"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136481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3271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008376" y="5745390"/>
            <a:ext cx="128216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24195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8558784" y="2146957"/>
            <a:ext cx="122340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8558784" y="2386853"/>
            <a:ext cx="12150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120979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8558784" y="2866644"/>
            <a:ext cx="12016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8558784" y="3106540"/>
            <a:ext cx="118946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8558784" y="3346435"/>
            <a:ext cx="113922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58784" y="3586331"/>
            <a:ext cx="111948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3" name="Shape 111"/>
          <p:cNvSpPr/>
          <p:nvPr/>
        </p:nvSpPr>
        <p:spPr>
          <a:xfrm>
            <a:off x="8558784" y="3826226"/>
            <a:ext cx="106176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105410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1" name="Shape 119"/>
          <p:cNvSpPr/>
          <p:nvPr/>
        </p:nvSpPr>
        <p:spPr>
          <a:xfrm>
            <a:off x="8558784" y="4306017"/>
            <a:ext cx="102057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95183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9" name="Shape 127"/>
          <p:cNvSpPr/>
          <p:nvPr/>
        </p:nvSpPr>
        <p:spPr>
          <a:xfrm>
            <a:off x="8558784" y="4785808"/>
            <a:ext cx="942987"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8877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7" name="Shape 135"/>
          <p:cNvSpPr/>
          <p:nvPr/>
        </p:nvSpPr>
        <p:spPr>
          <a:xfrm>
            <a:off x="8558784" y="5265599"/>
            <a:ext cx="837155"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41428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58.8%</a:t>
            </a:r>
            <a:endParaRPr lang="en-US" sz="1200" dirty="0"/>
          </a:p>
        </p:txBody>
      </p:sp>
      <p:sp>
        <p:nvSpPr>
          <p:cNvPr id="143" name="Shape 141"/>
          <p:cNvSpPr/>
          <p:nvPr/>
        </p:nvSpPr>
        <p:spPr>
          <a:xfrm>
            <a:off x="4326190" y="1847088"/>
            <a:ext cx="14630" cy="4078224"/>
          </a:xfrm>
          <a:prstGeom prst="rect">
            <a:avLst/>
          </a:prstGeom>
          <a:solidFill>
            <a:srgbClr val="0B2C4A"/>
          </a:solidFill>
          <a:ln/>
        </p:spPr>
      </p:sp>
      <p:sp>
        <p:nvSpPr>
          <p:cNvPr id="144" name="Shape 142"/>
          <p:cNvSpPr/>
          <p:nvPr/>
        </p:nvSpPr>
        <p:spPr>
          <a:xfrm>
            <a:off x="98765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DF4FA"/>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16 of 33 stores at or above the 78.1% group, led by Honda Henderson at 85.9%. Audi Reno is lowest at 58.8%.</a:t>
            </a:r>
            <a:endParaRPr lang="en-US" sz="1450" dirty="0"/>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INTERNAL GP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495495"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3226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30333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26377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214318"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3" name="Shape 31"/>
          <p:cNvSpPr/>
          <p:nvPr/>
        </p:nvSpPr>
        <p:spPr>
          <a:xfrm>
            <a:off x="3785616" y="3111337"/>
            <a:ext cx="19209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188815"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6057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427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321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3148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550711"/>
            <a:ext cx="11730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9508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030502"/>
            <a:ext cx="688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270397"/>
            <a:ext cx="3613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3435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2654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490" y="2391651"/>
            <a:ext cx="35534"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51253" y="2631546"/>
            <a:ext cx="8477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26020" y="2871442"/>
            <a:ext cx="110004"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1478" y="3111337"/>
            <a:ext cx="12454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1170" y="3351233"/>
            <a:ext cx="13485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8753" y="3591128"/>
            <a:ext cx="22727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1564" y="3831024"/>
            <a:ext cx="244460"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0005" y="4070920"/>
            <a:ext cx="2760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101" y="4310815"/>
            <a:ext cx="30092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54892" y="4550711"/>
            <a:ext cx="38113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245" y="4790606"/>
            <a:ext cx="4067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65948" y="5030502"/>
            <a:ext cx="470076"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2326" y="5270397"/>
            <a:ext cx="49369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internal labor GP%, led by Acura at +5.6 pts to 77.2%. 14 declined; Nissan fell most at −8.8 pts.</a:t>
            </a:r>
            <a:endParaRPr lang="en-US" sz="1600" dirty="0"/>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INTERNAL GP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INTERNAL GP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7138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26083"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2705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140426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008376" y="3106540"/>
            <a:ext cx="1329194"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008376" y="3346435"/>
            <a:ext cx="114763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1" name="Shape 39"/>
          <p:cNvSpPr/>
          <p:nvPr/>
        </p:nvSpPr>
        <p:spPr>
          <a:xfrm>
            <a:off x="3008376" y="3586331"/>
            <a:ext cx="114362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5" name="Shape 43"/>
          <p:cNvSpPr/>
          <p:nvPr/>
        </p:nvSpPr>
        <p:spPr>
          <a:xfrm>
            <a:off x="3008376" y="3826226"/>
            <a:ext cx="11384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133430"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3008376" y="4306017"/>
            <a:ext cx="1126165"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7" name="Shape 55"/>
          <p:cNvSpPr/>
          <p:nvPr/>
        </p:nvSpPr>
        <p:spPr>
          <a:xfrm>
            <a:off x="3008376" y="4545913"/>
            <a:ext cx="1120821"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3008376" y="4785808"/>
            <a:ext cx="11111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097912"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008376" y="5265599"/>
            <a:ext cx="108261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5505495"/>
            <a:ext cx="101776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7" name="Shape 75"/>
          <p:cNvSpPr/>
          <p:nvPr/>
        </p:nvSpPr>
        <p:spPr>
          <a:xfrm>
            <a:off x="3008376" y="5745390"/>
            <a:ext cx="975057"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1" name="Shape 79"/>
          <p:cNvSpPr/>
          <p:nvPr/>
        </p:nvSpPr>
        <p:spPr>
          <a:xfrm>
            <a:off x="8558784" y="1907062"/>
            <a:ext cx="97318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8558784" y="2146957"/>
            <a:ext cx="94418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9" name="Shape 87"/>
          <p:cNvSpPr/>
          <p:nvPr/>
        </p:nvSpPr>
        <p:spPr>
          <a:xfrm>
            <a:off x="8558784" y="2386853"/>
            <a:ext cx="900321"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86536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7" name="Shape 95"/>
          <p:cNvSpPr/>
          <p:nvPr/>
        </p:nvSpPr>
        <p:spPr>
          <a:xfrm>
            <a:off x="8558784" y="2866644"/>
            <a:ext cx="84433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8558784" y="3106540"/>
            <a:ext cx="7888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76356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9" name="Shape 107"/>
          <p:cNvSpPr/>
          <p:nvPr/>
        </p:nvSpPr>
        <p:spPr>
          <a:xfrm>
            <a:off x="8558784" y="3586331"/>
            <a:ext cx="72703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7096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558784" y="4066122"/>
            <a:ext cx="67728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8558784" y="4306017"/>
            <a:ext cx="65225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58648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8558784" y="4785808"/>
            <a:ext cx="4603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3" name="Shape 131"/>
          <p:cNvSpPr/>
          <p:nvPr/>
        </p:nvSpPr>
        <p:spPr>
          <a:xfrm>
            <a:off x="8558784" y="5025704"/>
            <a:ext cx="41461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558784" y="5265599"/>
            <a:ext cx="35136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98886"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24.4%</a:t>
            </a:r>
            <a:endParaRPr lang="en-US" sz="1200" dirty="0"/>
          </a:p>
        </p:txBody>
      </p:sp>
      <p:sp>
        <p:nvSpPr>
          <p:cNvPr id="143" name="Shape 141"/>
          <p:cNvSpPr/>
          <p:nvPr/>
        </p:nvSpPr>
        <p:spPr>
          <a:xfrm>
            <a:off x="4109587" y="1847088"/>
            <a:ext cx="14630" cy="4078224"/>
          </a:xfrm>
          <a:prstGeom prst="rect">
            <a:avLst/>
          </a:prstGeom>
          <a:solidFill>
            <a:srgbClr val="0B2C4A"/>
          </a:solidFill>
          <a:ln/>
        </p:spPr>
      </p:sp>
      <p:sp>
        <p:nvSpPr>
          <p:cNvPr id="144" name="Shape 142"/>
          <p:cNvSpPr/>
          <p:nvPr/>
        </p:nvSpPr>
        <p:spPr>
          <a:xfrm>
            <a:off x="965999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36.5% group, led by Toyota Henderson at 45.1%. CDJR Post Falls is lowest at 24.4%.</a:t>
            </a:r>
            <a:endParaRPr lang="en-US" sz="1600" dirty="0"/>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INTERNAL GP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746935"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391651"/>
            <a:ext cx="54484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5" name="Shape 23"/>
          <p:cNvSpPr/>
          <p:nvPr/>
        </p:nvSpPr>
        <p:spPr>
          <a:xfrm>
            <a:off x="3785616" y="2631546"/>
            <a:ext cx="41184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410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36617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216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1" name="Shape 39"/>
          <p:cNvSpPr/>
          <p:nvPr/>
        </p:nvSpPr>
        <p:spPr>
          <a:xfrm>
            <a:off x="3785616" y="3591128"/>
            <a:ext cx="31422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3012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6060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536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550711"/>
            <a:ext cx="21108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19223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908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785616" y="5270397"/>
            <a:ext cx="19084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510293"/>
            <a:ext cx="15897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5750188"/>
            <a:ext cx="14553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1" name="Shape 79"/>
          <p:cNvSpPr/>
          <p:nvPr/>
        </p:nvSpPr>
        <p:spPr>
          <a:xfrm>
            <a:off x="9336024" y="1911860"/>
            <a:ext cx="118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12861"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391651"/>
            <a:ext cx="5113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631546"/>
            <a:ext cx="4257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06469" y="2871442"/>
            <a:ext cx="29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3325" y="3111337"/>
            <a:ext cx="4269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4515" y="3351233"/>
            <a:ext cx="12150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50201" y="3591128"/>
            <a:ext cx="285823"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1711" y="3831024"/>
            <a:ext cx="324313"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964654" y="4070920"/>
            <a:ext cx="3713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1" name="Shape 119"/>
          <p:cNvSpPr/>
          <p:nvPr/>
        </p:nvSpPr>
        <p:spPr>
          <a:xfrm>
            <a:off x="8964060" y="4310815"/>
            <a:ext cx="37196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8532" y="4550711"/>
            <a:ext cx="37749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881593" y="4790606"/>
            <a:ext cx="45443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3" name="Shape 131"/>
          <p:cNvSpPr/>
          <p:nvPr/>
        </p:nvSpPr>
        <p:spPr>
          <a:xfrm>
            <a:off x="8875241" y="5030502"/>
            <a:ext cx="46078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60254" y="5270397"/>
            <a:ext cx="57577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1990" y="5510293"/>
            <a:ext cx="60403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 of 33 stores raised internal parts GP%, led by Acura at +6.2 pts to 34.0%. 12 declined; VW St George fell most at −4.8 pts.</a:t>
            </a:r>
            <a:endParaRPr lang="en-US" sz="1600" dirty="0"/>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green = gap at or better than the group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83188"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733596"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2" name="Shape 20"/>
          <p:cNvSpPr/>
          <p:nvPr/>
        </p:nvSpPr>
        <p:spPr>
          <a:xfrm>
            <a:off x="3255264" y="2153708"/>
            <a:ext cx="13011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8" name="Shape 26"/>
          <p:cNvSpPr/>
          <p:nvPr/>
        </p:nvSpPr>
        <p:spPr>
          <a:xfrm>
            <a:off x="3255264" y="2378543"/>
            <a:ext cx="129665"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255264" y="2603377"/>
            <a:ext cx="104292"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39" name="Shape 37"/>
          <p:cNvSpPr/>
          <p:nvPr/>
        </p:nvSpPr>
        <p:spPr>
          <a:xfrm>
            <a:off x="3255264" y="2828212"/>
            <a:ext cx="96492"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4" name="Shape 42"/>
          <p:cNvSpPr/>
          <p:nvPr/>
        </p:nvSpPr>
        <p:spPr>
          <a:xfrm>
            <a:off x="3255264" y="3053047"/>
            <a:ext cx="77376"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Shape 48"/>
          <p:cNvSpPr/>
          <p:nvPr/>
        </p:nvSpPr>
        <p:spPr>
          <a:xfrm>
            <a:off x="3255264" y="3277882"/>
            <a:ext cx="65728"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5" name="Shape 53"/>
          <p:cNvSpPr/>
          <p:nvPr/>
        </p:nvSpPr>
        <p:spPr>
          <a:xfrm>
            <a:off x="3255264" y="3502717"/>
            <a:ext cx="65019"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Shape 59"/>
          <p:cNvSpPr/>
          <p:nvPr/>
        </p:nvSpPr>
        <p:spPr>
          <a:xfrm>
            <a:off x="3255264" y="3727552"/>
            <a:ext cx="2311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6" name="Shape 64"/>
          <p:cNvSpPr/>
          <p:nvPr/>
        </p:nvSpPr>
        <p:spPr>
          <a:xfrm>
            <a:off x="3253849" y="3952386"/>
            <a:ext cx="9144" cy="123659"/>
          </a:xfrm>
          <a:prstGeom prst="rect">
            <a:avLst/>
          </a:prstGeom>
          <a:solidFill>
            <a:srgbClr val="12A566"/>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2" name="Shape 70"/>
          <p:cNvSpPr/>
          <p:nvPr/>
        </p:nvSpPr>
        <p:spPr>
          <a:xfrm>
            <a:off x="3250197" y="4177221"/>
            <a:ext cx="9144" cy="123659"/>
          </a:xfrm>
          <a:prstGeom prst="rect">
            <a:avLst/>
          </a:prstGeom>
          <a:solidFill>
            <a:srgbClr val="12A566"/>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−0.2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245953" y="4402056"/>
            <a:ext cx="9311" cy="123659"/>
          </a:xfrm>
          <a:prstGeom prst="rect">
            <a:avLst/>
          </a:prstGeom>
          <a:solidFill>
            <a:srgbClr val="12A566"/>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−0.3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3" name="Shape 81"/>
          <p:cNvSpPr/>
          <p:nvPr/>
        </p:nvSpPr>
        <p:spPr>
          <a:xfrm>
            <a:off x="3244900" y="4626891"/>
            <a:ext cx="10364" cy="123659"/>
          </a:xfrm>
          <a:prstGeom prst="rect">
            <a:avLst/>
          </a:prstGeom>
          <a:solidFill>
            <a:srgbClr val="12A566"/>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−0.4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8" name="Shape 86"/>
          <p:cNvSpPr/>
          <p:nvPr/>
        </p:nvSpPr>
        <p:spPr>
          <a:xfrm>
            <a:off x="3221879" y="4851726"/>
            <a:ext cx="33385" cy="123659"/>
          </a:xfrm>
          <a:prstGeom prst="rect">
            <a:avLst/>
          </a:prstGeom>
          <a:solidFill>
            <a:srgbClr val="12A566"/>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4" name="Shape 92"/>
          <p:cNvSpPr/>
          <p:nvPr/>
        </p:nvSpPr>
        <p:spPr>
          <a:xfrm>
            <a:off x="3198494" y="5076561"/>
            <a:ext cx="56770" cy="123659"/>
          </a:xfrm>
          <a:prstGeom prst="rect">
            <a:avLst/>
          </a:prstGeom>
          <a:solidFill>
            <a:srgbClr val="12A566"/>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9" name="Shape 97"/>
          <p:cNvSpPr/>
          <p:nvPr/>
        </p:nvSpPr>
        <p:spPr>
          <a:xfrm>
            <a:off x="3198327" y="5301395"/>
            <a:ext cx="56937" cy="123659"/>
          </a:xfrm>
          <a:prstGeom prst="rect">
            <a:avLst/>
          </a:prstGeom>
          <a:solidFill>
            <a:srgbClr val="12A566"/>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5" name="Shape 103"/>
          <p:cNvSpPr/>
          <p:nvPr/>
        </p:nvSpPr>
        <p:spPr>
          <a:xfrm>
            <a:off x="3197693" y="5526230"/>
            <a:ext cx="57571" cy="123659"/>
          </a:xfrm>
          <a:prstGeom prst="rect">
            <a:avLst/>
          </a:prstGeom>
          <a:solidFill>
            <a:srgbClr val="12A566"/>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0" name="Shape 108"/>
          <p:cNvSpPr/>
          <p:nvPr/>
        </p:nvSpPr>
        <p:spPr>
          <a:xfrm>
            <a:off x="3195970" y="5751065"/>
            <a:ext cx="59294" cy="123659"/>
          </a:xfrm>
          <a:prstGeom prst="rect">
            <a:avLst/>
          </a:prstGeom>
          <a:solidFill>
            <a:srgbClr val="12A566"/>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5" name="Shape 113"/>
          <p:cNvSpPr/>
          <p:nvPr/>
        </p:nvSpPr>
        <p:spPr>
          <a:xfrm>
            <a:off x="8734848" y="2153708"/>
            <a:ext cx="70824" cy="123659"/>
          </a:xfrm>
          <a:prstGeom prst="rect">
            <a:avLst/>
          </a:prstGeom>
          <a:solidFill>
            <a:srgbClr val="12A566"/>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−2.6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730906" y="2378543"/>
            <a:ext cx="74766"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6" name="Shape 124"/>
          <p:cNvSpPr/>
          <p:nvPr/>
        </p:nvSpPr>
        <p:spPr>
          <a:xfrm>
            <a:off x="8716961" y="2603377"/>
            <a:ext cx="88711"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2" name="Shape 130"/>
          <p:cNvSpPr/>
          <p:nvPr/>
        </p:nvSpPr>
        <p:spPr>
          <a:xfrm>
            <a:off x="8711353" y="2828212"/>
            <a:ext cx="94319"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7" name="Shape 135"/>
          <p:cNvSpPr/>
          <p:nvPr/>
        </p:nvSpPr>
        <p:spPr>
          <a:xfrm>
            <a:off x="8703971" y="3053047"/>
            <a:ext cx="101701"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701890" y="3277882"/>
            <a:ext cx="103782"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679444" y="3502717"/>
            <a:ext cx="12622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672194" y="3727552"/>
            <a:ext cx="133478"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9" name="Shape 157"/>
          <p:cNvSpPr/>
          <p:nvPr/>
        </p:nvSpPr>
        <p:spPr>
          <a:xfrm>
            <a:off x="8624168" y="3952386"/>
            <a:ext cx="181504"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65" name="Shape 163"/>
          <p:cNvSpPr/>
          <p:nvPr/>
        </p:nvSpPr>
        <p:spPr>
          <a:xfrm>
            <a:off x="8616775" y="4177221"/>
            <a:ext cx="188897"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0" name="Shape 168"/>
          <p:cNvSpPr/>
          <p:nvPr/>
        </p:nvSpPr>
        <p:spPr>
          <a:xfrm>
            <a:off x="8590345" y="4402056"/>
            <a:ext cx="215327"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6" name="Shape 174"/>
          <p:cNvSpPr/>
          <p:nvPr/>
        </p:nvSpPr>
        <p:spPr>
          <a:xfrm>
            <a:off x="8562958" y="4626891"/>
            <a:ext cx="242714"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81" name="Shape 179"/>
          <p:cNvSpPr/>
          <p:nvPr/>
        </p:nvSpPr>
        <p:spPr>
          <a:xfrm>
            <a:off x="8514572" y="4851726"/>
            <a:ext cx="29110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87" name="Shape 185"/>
          <p:cNvSpPr/>
          <p:nvPr/>
        </p:nvSpPr>
        <p:spPr>
          <a:xfrm>
            <a:off x="8475849" y="5076561"/>
            <a:ext cx="329823"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2" name="Shape 190"/>
          <p:cNvSpPr/>
          <p:nvPr/>
        </p:nvSpPr>
        <p:spPr>
          <a:xfrm>
            <a:off x="8430963" y="5301395"/>
            <a:ext cx="374709"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02" name="Shape 200"/>
          <p:cNvSpPr/>
          <p:nvPr/>
        </p:nvSpPr>
        <p:spPr>
          <a:xfrm>
            <a:off x="457200" y="6126480"/>
            <a:ext cx="11274552" cy="615696"/>
          </a:xfrm>
          <a:prstGeom prst="rect">
            <a:avLst/>
          </a:prstGeom>
          <a:solidFill>
            <a:srgbClr val="EDF4FA"/>
          </a:solidFill>
          <a:ln/>
        </p:spPr>
      </p:sp>
      <p:sp>
        <p:nvSpPr>
          <p:cNvPr id="203" name="Text 20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Internal labor margin runs 2.7 pts below customer pay across the group; 18 of 33 stores are at or better than that gap. Widest: Audi Reno (−20.0 pts), LR LV (−13.9 pts) and LR Henderson (−12.2 pts).</a:t>
            </a:r>
            <a:endParaRPr lang="en-US" sz="1600" dirty="0"/>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green = gap at or better than the group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25947"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676355"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2" name="Shape 20"/>
          <p:cNvSpPr/>
          <p:nvPr/>
        </p:nvSpPr>
        <p:spPr>
          <a:xfrm>
            <a:off x="3255264" y="2153708"/>
            <a:ext cx="15036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255264" y="2378543"/>
            <a:ext cx="70154"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255264" y="2603377"/>
            <a:ext cx="38107"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9" name="Shape 37"/>
          <p:cNvSpPr/>
          <p:nvPr/>
        </p:nvSpPr>
        <p:spPr>
          <a:xfrm>
            <a:off x="3255264" y="2828212"/>
            <a:ext cx="20517"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4" name="Shape 42"/>
          <p:cNvSpPr/>
          <p:nvPr/>
        </p:nvSpPr>
        <p:spPr>
          <a:xfrm>
            <a:off x="3255264" y="3053047"/>
            <a:ext cx="9144"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0" name="Shape 48"/>
          <p:cNvSpPr/>
          <p:nvPr/>
        </p:nvSpPr>
        <p:spPr>
          <a:xfrm>
            <a:off x="3222182" y="3277882"/>
            <a:ext cx="33082"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3179597" y="3502717"/>
            <a:ext cx="75667"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1" name="Shape 59"/>
          <p:cNvSpPr/>
          <p:nvPr/>
        </p:nvSpPr>
        <p:spPr>
          <a:xfrm>
            <a:off x="3178337" y="3727552"/>
            <a:ext cx="7692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6" name="Shape 64"/>
          <p:cNvSpPr/>
          <p:nvPr/>
        </p:nvSpPr>
        <p:spPr>
          <a:xfrm>
            <a:off x="3177426" y="3952386"/>
            <a:ext cx="77838" cy="123659"/>
          </a:xfrm>
          <a:prstGeom prst="rect">
            <a:avLst/>
          </a:prstGeom>
          <a:solidFill>
            <a:srgbClr val="12A566"/>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2" name="Shape 70"/>
          <p:cNvSpPr/>
          <p:nvPr/>
        </p:nvSpPr>
        <p:spPr>
          <a:xfrm>
            <a:off x="3137487" y="4177221"/>
            <a:ext cx="117777" cy="123659"/>
          </a:xfrm>
          <a:prstGeom prst="rect">
            <a:avLst/>
          </a:prstGeom>
          <a:solidFill>
            <a:srgbClr val="12A566"/>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−3.8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7" name="Shape 75"/>
          <p:cNvSpPr/>
          <p:nvPr/>
        </p:nvSpPr>
        <p:spPr>
          <a:xfrm>
            <a:off x="3136637" y="4402056"/>
            <a:ext cx="118627" cy="123659"/>
          </a:xfrm>
          <a:prstGeom prst="rect">
            <a:avLst/>
          </a:prstGeom>
          <a:solidFill>
            <a:srgbClr val="12A566"/>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3" name="Shape 81"/>
          <p:cNvSpPr/>
          <p:nvPr/>
        </p:nvSpPr>
        <p:spPr>
          <a:xfrm>
            <a:off x="3096612" y="4626891"/>
            <a:ext cx="158652"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8" name="Shape 86"/>
          <p:cNvSpPr/>
          <p:nvPr/>
        </p:nvSpPr>
        <p:spPr>
          <a:xfrm>
            <a:off x="3081235" y="4851726"/>
            <a:ext cx="174029"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4" name="Shape 92"/>
          <p:cNvSpPr/>
          <p:nvPr/>
        </p:nvSpPr>
        <p:spPr>
          <a:xfrm>
            <a:off x="3077450" y="5076561"/>
            <a:ext cx="177814"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9" name="Shape 97"/>
          <p:cNvSpPr/>
          <p:nvPr/>
        </p:nvSpPr>
        <p:spPr>
          <a:xfrm>
            <a:off x="3070973" y="5301395"/>
            <a:ext cx="184291"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5" name="Shape 103"/>
          <p:cNvSpPr/>
          <p:nvPr/>
        </p:nvSpPr>
        <p:spPr>
          <a:xfrm>
            <a:off x="3060053" y="5526230"/>
            <a:ext cx="19521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0" name="Shape 108"/>
          <p:cNvSpPr/>
          <p:nvPr/>
        </p:nvSpPr>
        <p:spPr>
          <a:xfrm>
            <a:off x="3033339" y="5751065"/>
            <a:ext cx="221925"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5" name="Shape 113"/>
          <p:cNvSpPr/>
          <p:nvPr/>
        </p:nvSpPr>
        <p:spPr>
          <a:xfrm>
            <a:off x="8575710" y="2153708"/>
            <a:ext cx="229962"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1" name="Shape 119"/>
          <p:cNvSpPr/>
          <p:nvPr/>
        </p:nvSpPr>
        <p:spPr>
          <a:xfrm>
            <a:off x="8565630" y="2378543"/>
            <a:ext cx="240042"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6" name="Shape 124"/>
          <p:cNvSpPr/>
          <p:nvPr/>
        </p:nvSpPr>
        <p:spPr>
          <a:xfrm>
            <a:off x="8564916" y="2603377"/>
            <a:ext cx="240756"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2" name="Shape 130"/>
          <p:cNvSpPr/>
          <p:nvPr/>
        </p:nvSpPr>
        <p:spPr>
          <a:xfrm>
            <a:off x="8545748" y="2828212"/>
            <a:ext cx="259924"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7" name="Shape 135"/>
          <p:cNvSpPr/>
          <p:nvPr/>
        </p:nvSpPr>
        <p:spPr>
          <a:xfrm>
            <a:off x="8541222" y="3053047"/>
            <a:ext cx="264450"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3" name="Shape 141"/>
          <p:cNvSpPr/>
          <p:nvPr/>
        </p:nvSpPr>
        <p:spPr>
          <a:xfrm>
            <a:off x="8534757" y="3277882"/>
            <a:ext cx="270915"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8" name="Shape 146"/>
          <p:cNvSpPr/>
          <p:nvPr/>
        </p:nvSpPr>
        <p:spPr>
          <a:xfrm>
            <a:off x="8499284" y="3502717"/>
            <a:ext cx="30638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4" name="Shape 152"/>
          <p:cNvSpPr/>
          <p:nvPr/>
        </p:nvSpPr>
        <p:spPr>
          <a:xfrm>
            <a:off x="8496238" y="3727552"/>
            <a:ext cx="309434"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9" name="Shape 157"/>
          <p:cNvSpPr/>
          <p:nvPr/>
        </p:nvSpPr>
        <p:spPr>
          <a:xfrm>
            <a:off x="8493166" y="3952386"/>
            <a:ext cx="312506"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65" name="Shape 163"/>
          <p:cNvSpPr/>
          <p:nvPr/>
        </p:nvSpPr>
        <p:spPr>
          <a:xfrm>
            <a:off x="8491434" y="4177221"/>
            <a:ext cx="314238"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0" name="Shape 168"/>
          <p:cNvSpPr/>
          <p:nvPr/>
        </p:nvSpPr>
        <p:spPr>
          <a:xfrm>
            <a:off x="8472728" y="4402056"/>
            <a:ext cx="332944"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76" name="Shape 174"/>
          <p:cNvSpPr/>
          <p:nvPr/>
        </p:nvSpPr>
        <p:spPr>
          <a:xfrm>
            <a:off x="8461553" y="4626891"/>
            <a:ext cx="344119"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1" name="Shape 179"/>
          <p:cNvSpPr/>
          <p:nvPr/>
        </p:nvSpPr>
        <p:spPr>
          <a:xfrm>
            <a:off x="8358802" y="4851726"/>
            <a:ext cx="44687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7" name="Shape 185"/>
          <p:cNvSpPr/>
          <p:nvPr/>
        </p:nvSpPr>
        <p:spPr>
          <a:xfrm>
            <a:off x="8352988" y="5076561"/>
            <a:ext cx="452684"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92" name="Shape 190"/>
          <p:cNvSpPr/>
          <p:nvPr/>
        </p:nvSpPr>
        <p:spPr>
          <a:xfrm>
            <a:off x="8331777" y="5301395"/>
            <a:ext cx="473895"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02" name="Shape 200"/>
          <p:cNvSpPr/>
          <p:nvPr/>
        </p:nvSpPr>
        <p:spPr>
          <a:xfrm>
            <a:off x="457200" y="6126480"/>
            <a:ext cx="11274552" cy="600456"/>
          </a:xfrm>
          <a:prstGeom prst="rect">
            <a:avLst/>
          </a:prstGeom>
          <a:solidFill>
            <a:srgbClr val="EDF4FA"/>
          </a:solidFill>
          <a:ln/>
        </p:spPr>
      </p:sp>
      <p:sp>
        <p:nvSpPr>
          <p:cNvPr id="203" name="Text 201"/>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Internal parts margin runs 4.2 pts below customer pay across the group; 11 of 33 stores are at or better than that gap. Widest: LR LV (−17.6 pts), Honda Flagstaff (−15.4 pts) and Audi Reno (−14.7 pts).</a:t>
            </a:r>
            <a:endParaRPr lang="en-US" sz="1550" dirty="0"/>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B</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navy dot = CP, green/red dot = internal</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Text 11"/>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4" name="Text 12"/>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5" name="Text 13"/>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6" name="Text 14"/>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7" name="Text 15"/>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8" name="Shape 16"/>
          <p:cNvSpPr/>
          <p:nvPr/>
        </p:nvSpPr>
        <p:spPr>
          <a:xfrm>
            <a:off x="3402139" y="2201821"/>
            <a:ext cx="148555" cy="27432"/>
          </a:xfrm>
          <a:prstGeom prst="rect">
            <a:avLst/>
          </a:prstGeom>
          <a:solidFill>
            <a:srgbClr val="D9D9D9"/>
          </a:solidFill>
          <a:ln/>
        </p:spPr>
      </p:sp>
      <p:sp>
        <p:nvSpPr>
          <p:cNvPr id="19" name="Shape 17"/>
          <p:cNvSpPr/>
          <p:nvPr/>
        </p:nvSpPr>
        <p:spPr>
          <a:xfrm>
            <a:off x="3333559" y="2146957"/>
            <a:ext cx="137160" cy="137160"/>
          </a:xfrm>
          <a:prstGeom prst="ellipse">
            <a:avLst/>
          </a:prstGeom>
          <a:solidFill>
            <a:srgbClr val="0B2C4A"/>
          </a:solidFill>
          <a:ln/>
        </p:spPr>
      </p:sp>
      <p:sp>
        <p:nvSpPr>
          <p:cNvPr id="20" name="Shape 18"/>
          <p:cNvSpPr/>
          <p:nvPr/>
        </p:nvSpPr>
        <p:spPr>
          <a:xfrm>
            <a:off x="3482114" y="2146957"/>
            <a:ext cx="137160" cy="137160"/>
          </a:xfrm>
          <a:prstGeom prst="ellipse">
            <a:avLst/>
          </a:prstGeom>
          <a:solidFill>
            <a:srgbClr val="12A566"/>
          </a:solidFill>
          <a:ln/>
        </p:spPr>
      </p:sp>
      <p:sp>
        <p:nvSpPr>
          <p:cNvPr id="21" name="Text 19"/>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2" name="Text 20"/>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3" name="Text 21"/>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4" name="Shape 22"/>
          <p:cNvSpPr/>
          <p:nvPr/>
        </p:nvSpPr>
        <p:spPr>
          <a:xfrm>
            <a:off x="585216" y="2327955"/>
            <a:ext cx="5394960" cy="224835"/>
          </a:xfrm>
          <a:prstGeom prst="rect">
            <a:avLst/>
          </a:prstGeom>
          <a:solidFill>
            <a:srgbClr val="F7F7F7"/>
          </a:solidFill>
          <a:ln/>
        </p:spPr>
      </p:sp>
      <p:sp>
        <p:nvSpPr>
          <p:cNvPr id="25" name="Text 23"/>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6" name="Shape 24"/>
          <p:cNvSpPr/>
          <p:nvPr/>
        </p:nvSpPr>
        <p:spPr>
          <a:xfrm>
            <a:off x="3108087" y="2426656"/>
            <a:ext cx="148043" cy="27432"/>
          </a:xfrm>
          <a:prstGeom prst="rect">
            <a:avLst/>
          </a:prstGeom>
          <a:solidFill>
            <a:srgbClr val="D9D9D9"/>
          </a:solidFill>
          <a:ln/>
        </p:spPr>
      </p:sp>
      <p:sp>
        <p:nvSpPr>
          <p:cNvPr id="27" name="Shape 25"/>
          <p:cNvSpPr/>
          <p:nvPr/>
        </p:nvSpPr>
        <p:spPr>
          <a:xfrm>
            <a:off x="3039507" y="2371792"/>
            <a:ext cx="137160" cy="137160"/>
          </a:xfrm>
          <a:prstGeom prst="ellipse">
            <a:avLst/>
          </a:prstGeom>
          <a:solidFill>
            <a:srgbClr val="0B2C4A"/>
          </a:solidFill>
          <a:ln/>
        </p:spPr>
      </p:sp>
      <p:sp>
        <p:nvSpPr>
          <p:cNvPr id="28" name="Shape 26"/>
          <p:cNvSpPr/>
          <p:nvPr/>
        </p:nvSpPr>
        <p:spPr>
          <a:xfrm>
            <a:off x="3187550" y="2371792"/>
            <a:ext cx="137160" cy="137160"/>
          </a:xfrm>
          <a:prstGeom prst="ellipse">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469490" y="2651491"/>
            <a:ext cx="119074" cy="27432"/>
          </a:xfrm>
          <a:prstGeom prst="rect">
            <a:avLst/>
          </a:prstGeom>
          <a:solidFill>
            <a:srgbClr val="D9D9D9"/>
          </a:solidFill>
          <a:ln/>
        </p:spPr>
      </p:sp>
      <p:sp>
        <p:nvSpPr>
          <p:cNvPr id="34" name="Shape 32"/>
          <p:cNvSpPr/>
          <p:nvPr/>
        </p:nvSpPr>
        <p:spPr>
          <a:xfrm>
            <a:off x="3400910" y="2596627"/>
            <a:ext cx="137160" cy="137160"/>
          </a:xfrm>
          <a:prstGeom prst="ellipse">
            <a:avLst/>
          </a:prstGeom>
          <a:solidFill>
            <a:srgbClr val="0B2C4A"/>
          </a:solidFill>
          <a:ln/>
        </p:spPr>
      </p:sp>
      <p:sp>
        <p:nvSpPr>
          <p:cNvPr id="35" name="Shape 33"/>
          <p:cNvSpPr/>
          <p:nvPr/>
        </p:nvSpPr>
        <p:spPr>
          <a:xfrm>
            <a:off x="3519983" y="2596627"/>
            <a:ext cx="137160" cy="137160"/>
          </a:xfrm>
          <a:prstGeom prst="ellipse">
            <a:avLst/>
          </a:prstGeom>
          <a:solidFill>
            <a:srgbClr val="12A566"/>
          </a:solidFill>
          <a:ln/>
        </p:spPr>
      </p:sp>
      <p:sp>
        <p:nvSpPr>
          <p:cNvPr id="36" name="Text 34"/>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7" name="Text 35"/>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8" name="Text 36"/>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9" name="Shape 37"/>
          <p:cNvSpPr/>
          <p:nvPr/>
        </p:nvSpPr>
        <p:spPr>
          <a:xfrm>
            <a:off x="585216" y="2777624"/>
            <a:ext cx="5394960" cy="224835"/>
          </a:xfrm>
          <a:prstGeom prst="rect">
            <a:avLst/>
          </a:prstGeom>
          <a:solidFill>
            <a:srgbClr val="F7F7F7"/>
          </a:solidFill>
          <a:ln/>
        </p:spPr>
      </p:sp>
      <p:sp>
        <p:nvSpPr>
          <p:cNvPr id="40" name="Text 38"/>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41" name="Shape 39"/>
          <p:cNvSpPr/>
          <p:nvPr/>
        </p:nvSpPr>
        <p:spPr>
          <a:xfrm>
            <a:off x="3246206" y="2876326"/>
            <a:ext cx="110169" cy="27432"/>
          </a:xfrm>
          <a:prstGeom prst="rect">
            <a:avLst/>
          </a:prstGeom>
          <a:solidFill>
            <a:srgbClr val="D9D9D9"/>
          </a:solidFill>
          <a:ln/>
        </p:spPr>
      </p:sp>
      <p:sp>
        <p:nvSpPr>
          <p:cNvPr id="42" name="Shape 40"/>
          <p:cNvSpPr/>
          <p:nvPr/>
        </p:nvSpPr>
        <p:spPr>
          <a:xfrm>
            <a:off x="3177626" y="2821462"/>
            <a:ext cx="137160" cy="137160"/>
          </a:xfrm>
          <a:prstGeom prst="ellipse">
            <a:avLst/>
          </a:prstGeom>
          <a:solidFill>
            <a:srgbClr val="0B2C4A"/>
          </a:solidFill>
          <a:ln/>
        </p:spPr>
      </p:sp>
      <p:sp>
        <p:nvSpPr>
          <p:cNvPr id="43" name="Shape 41"/>
          <p:cNvSpPr/>
          <p:nvPr/>
        </p:nvSpPr>
        <p:spPr>
          <a:xfrm>
            <a:off x="3287794" y="2821462"/>
            <a:ext cx="137160" cy="137160"/>
          </a:xfrm>
          <a:prstGeom prst="ellipse">
            <a:avLst/>
          </a:prstGeom>
          <a:solidFill>
            <a:srgbClr val="12A566"/>
          </a:solidFill>
          <a:ln/>
        </p:spPr>
      </p:sp>
      <p:sp>
        <p:nvSpPr>
          <p:cNvPr id="44" name="Text 42"/>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5" name="Text 43"/>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6" name="Text 44"/>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7" name="Text 45"/>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8" name="Shape 46"/>
          <p:cNvSpPr/>
          <p:nvPr/>
        </p:nvSpPr>
        <p:spPr>
          <a:xfrm>
            <a:off x="3445098" y="3101161"/>
            <a:ext cx="88343" cy="27432"/>
          </a:xfrm>
          <a:prstGeom prst="rect">
            <a:avLst/>
          </a:prstGeom>
          <a:solidFill>
            <a:srgbClr val="D9D9D9"/>
          </a:solidFill>
          <a:ln/>
        </p:spPr>
      </p:sp>
      <p:sp>
        <p:nvSpPr>
          <p:cNvPr id="49" name="Shape 47"/>
          <p:cNvSpPr/>
          <p:nvPr/>
        </p:nvSpPr>
        <p:spPr>
          <a:xfrm>
            <a:off x="3376518" y="3046297"/>
            <a:ext cx="137160" cy="137160"/>
          </a:xfrm>
          <a:prstGeom prst="ellipse">
            <a:avLst/>
          </a:prstGeom>
          <a:solidFill>
            <a:srgbClr val="0B2C4A"/>
          </a:solidFill>
          <a:ln/>
        </p:spPr>
      </p:sp>
      <p:sp>
        <p:nvSpPr>
          <p:cNvPr id="50" name="Shape 48"/>
          <p:cNvSpPr/>
          <p:nvPr/>
        </p:nvSpPr>
        <p:spPr>
          <a:xfrm>
            <a:off x="3464861" y="3046297"/>
            <a:ext cx="137160" cy="137160"/>
          </a:xfrm>
          <a:prstGeom prst="ellipse">
            <a:avLst/>
          </a:prstGeom>
          <a:solidFill>
            <a:srgbClr val="12A566"/>
          </a:solidFill>
          <a:ln/>
        </p:spPr>
      </p:sp>
      <p:sp>
        <p:nvSpPr>
          <p:cNvPr id="51" name="Text 49"/>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52" name="Text 50"/>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53" name="Text 51"/>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54" name="Shape 52"/>
          <p:cNvSpPr/>
          <p:nvPr/>
        </p:nvSpPr>
        <p:spPr>
          <a:xfrm>
            <a:off x="585216" y="3227294"/>
            <a:ext cx="5394960" cy="224835"/>
          </a:xfrm>
          <a:prstGeom prst="rect">
            <a:avLst/>
          </a:prstGeom>
          <a:solidFill>
            <a:srgbClr val="F7F7F7"/>
          </a:solidFill>
          <a:ln/>
        </p:spPr>
      </p:sp>
      <p:sp>
        <p:nvSpPr>
          <p:cNvPr id="55" name="Text 53"/>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6" name="Shape 54"/>
          <p:cNvSpPr/>
          <p:nvPr/>
        </p:nvSpPr>
        <p:spPr>
          <a:xfrm>
            <a:off x="3575605" y="3325996"/>
            <a:ext cx="75044" cy="27432"/>
          </a:xfrm>
          <a:prstGeom prst="rect">
            <a:avLst/>
          </a:prstGeom>
          <a:solidFill>
            <a:srgbClr val="D9D9D9"/>
          </a:solidFill>
          <a:ln/>
        </p:spPr>
      </p:sp>
      <p:sp>
        <p:nvSpPr>
          <p:cNvPr id="57" name="Shape 55"/>
          <p:cNvSpPr/>
          <p:nvPr/>
        </p:nvSpPr>
        <p:spPr>
          <a:xfrm>
            <a:off x="3507025" y="3271132"/>
            <a:ext cx="137160" cy="137160"/>
          </a:xfrm>
          <a:prstGeom prst="ellipse">
            <a:avLst/>
          </a:prstGeom>
          <a:solidFill>
            <a:srgbClr val="0B2C4A"/>
          </a:solidFill>
          <a:ln/>
        </p:spPr>
      </p:sp>
      <p:sp>
        <p:nvSpPr>
          <p:cNvPr id="58" name="Shape 56"/>
          <p:cNvSpPr/>
          <p:nvPr/>
        </p:nvSpPr>
        <p:spPr>
          <a:xfrm>
            <a:off x="3582070" y="3271132"/>
            <a:ext cx="137160" cy="137160"/>
          </a:xfrm>
          <a:prstGeom prst="ellipse">
            <a:avLst/>
          </a:prstGeom>
          <a:solidFill>
            <a:srgbClr val="12A566"/>
          </a:solidFill>
          <a:ln/>
        </p:spPr>
      </p:sp>
      <p:sp>
        <p:nvSpPr>
          <p:cNvPr id="59" name="Text 57"/>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60" name="Text 58"/>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61" name="Text 59"/>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62" name="Text 60"/>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63" name="Shape 61"/>
          <p:cNvSpPr/>
          <p:nvPr/>
        </p:nvSpPr>
        <p:spPr>
          <a:xfrm>
            <a:off x="3470065" y="3550830"/>
            <a:ext cx="74235" cy="27432"/>
          </a:xfrm>
          <a:prstGeom prst="rect">
            <a:avLst/>
          </a:prstGeom>
          <a:solidFill>
            <a:srgbClr val="D9D9D9"/>
          </a:solidFill>
          <a:ln/>
        </p:spPr>
      </p:sp>
      <p:sp>
        <p:nvSpPr>
          <p:cNvPr id="64" name="Shape 62"/>
          <p:cNvSpPr/>
          <p:nvPr/>
        </p:nvSpPr>
        <p:spPr>
          <a:xfrm>
            <a:off x="3401485" y="3495966"/>
            <a:ext cx="137160" cy="137160"/>
          </a:xfrm>
          <a:prstGeom prst="ellipse">
            <a:avLst/>
          </a:prstGeom>
          <a:solidFill>
            <a:srgbClr val="0B2C4A"/>
          </a:solidFill>
          <a:ln/>
        </p:spPr>
      </p:sp>
      <p:sp>
        <p:nvSpPr>
          <p:cNvPr id="65" name="Shape 63"/>
          <p:cNvSpPr/>
          <p:nvPr/>
        </p:nvSpPr>
        <p:spPr>
          <a:xfrm>
            <a:off x="3475720" y="3495966"/>
            <a:ext cx="137160" cy="137160"/>
          </a:xfrm>
          <a:prstGeom prst="ellipse">
            <a:avLst/>
          </a:prstGeom>
          <a:solidFill>
            <a:srgbClr val="12A566"/>
          </a:solidFill>
          <a:ln/>
        </p:spPr>
      </p:sp>
      <p:sp>
        <p:nvSpPr>
          <p:cNvPr id="66" name="Text 6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67" name="Text 6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68" name="Text 6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69" name="Shape 67"/>
          <p:cNvSpPr/>
          <p:nvPr/>
        </p:nvSpPr>
        <p:spPr>
          <a:xfrm>
            <a:off x="585216" y="3676964"/>
            <a:ext cx="5394960" cy="224835"/>
          </a:xfrm>
          <a:prstGeom prst="rect">
            <a:avLst/>
          </a:prstGeom>
          <a:solidFill>
            <a:srgbClr val="F7F7F7"/>
          </a:solidFill>
          <a:ln/>
        </p:spPr>
      </p:sp>
      <p:sp>
        <p:nvSpPr>
          <p:cNvPr id="70" name="Text 6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71" name="Shape 69"/>
          <p:cNvSpPr/>
          <p:nvPr/>
        </p:nvSpPr>
        <p:spPr>
          <a:xfrm>
            <a:off x="3467609" y="3775665"/>
            <a:ext cx="26393" cy="27432"/>
          </a:xfrm>
          <a:prstGeom prst="rect">
            <a:avLst/>
          </a:prstGeom>
          <a:solidFill>
            <a:srgbClr val="D9D9D9"/>
          </a:solidFill>
          <a:ln/>
        </p:spPr>
      </p:sp>
      <p:sp>
        <p:nvSpPr>
          <p:cNvPr id="72" name="Shape 70"/>
          <p:cNvSpPr/>
          <p:nvPr/>
        </p:nvSpPr>
        <p:spPr>
          <a:xfrm>
            <a:off x="3399029" y="3720801"/>
            <a:ext cx="137160" cy="137160"/>
          </a:xfrm>
          <a:prstGeom prst="ellipse">
            <a:avLst/>
          </a:prstGeom>
          <a:solidFill>
            <a:srgbClr val="0B2C4A"/>
          </a:solidFill>
          <a:ln/>
        </p:spPr>
      </p:sp>
      <p:sp>
        <p:nvSpPr>
          <p:cNvPr id="73" name="Shape 71"/>
          <p:cNvSpPr/>
          <p:nvPr/>
        </p:nvSpPr>
        <p:spPr>
          <a:xfrm>
            <a:off x="3425422" y="3720801"/>
            <a:ext cx="137160" cy="137160"/>
          </a:xfrm>
          <a:prstGeom prst="ellipse">
            <a:avLst/>
          </a:prstGeom>
          <a:solidFill>
            <a:srgbClr val="12A566"/>
          </a:solidFill>
          <a:ln/>
        </p:spPr>
      </p:sp>
      <p:sp>
        <p:nvSpPr>
          <p:cNvPr id="74" name="Text 72"/>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75" name="Text 73"/>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76" name="Text 74"/>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77" name="Text 75"/>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78" name="Shape 76"/>
          <p:cNvSpPr/>
          <p:nvPr/>
        </p:nvSpPr>
        <p:spPr>
          <a:xfrm>
            <a:off x="3478988" y="4000500"/>
            <a:ext cx="9144" cy="27432"/>
          </a:xfrm>
          <a:prstGeom prst="rect">
            <a:avLst/>
          </a:prstGeom>
          <a:solidFill>
            <a:srgbClr val="D9D9D9"/>
          </a:solidFill>
          <a:ln/>
        </p:spPr>
      </p:sp>
      <p:sp>
        <p:nvSpPr>
          <p:cNvPr id="79" name="Shape 77"/>
          <p:cNvSpPr/>
          <p:nvPr/>
        </p:nvSpPr>
        <p:spPr>
          <a:xfrm>
            <a:off x="3412024" y="3945636"/>
            <a:ext cx="137160" cy="137160"/>
          </a:xfrm>
          <a:prstGeom prst="ellipse">
            <a:avLst/>
          </a:prstGeom>
          <a:solidFill>
            <a:srgbClr val="0B2C4A"/>
          </a:solidFill>
          <a:ln/>
        </p:spPr>
      </p:sp>
      <p:sp>
        <p:nvSpPr>
          <p:cNvPr id="80" name="Shape 78"/>
          <p:cNvSpPr/>
          <p:nvPr/>
        </p:nvSpPr>
        <p:spPr>
          <a:xfrm>
            <a:off x="3410408" y="3945636"/>
            <a:ext cx="137160" cy="137160"/>
          </a:xfrm>
          <a:prstGeom prst="ellipse">
            <a:avLst/>
          </a:prstGeom>
          <a:solidFill>
            <a:srgbClr val="12A566"/>
          </a:solidFill>
          <a:ln/>
        </p:spPr>
      </p:sp>
      <p:sp>
        <p:nvSpPr>
          <p:cNvPr id="81" name="Text 79"/>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82" name="Text 80"/>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83" name="Text 81"/>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84" name="Shape 82"/>
          <p:cNvSpPr/>
          <p:nvPr/>
        </p:nvSpPr>
        <p:spPr>
          <a:xfrm>
            <a:off x="585216" y="4126633"/>
            <a:ext cx="5394960" cy="224835"/>
          </a:xfrm>
          <a:prstGeom prst="rect">
            <a:avLst/>
          </a:prstGeom>
          <a:solidFill>
            <a:srgbClr val="F7F7F7"/>
          </a:solidFill>
          <a:ln/>
        </p:spPr>
      </p:sp>
      <p:sp>
        <p:nvSpPr>
          <p:cNvPr id="85" name="Text 83"/>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86" name="Shape 84"/>
          <p:cNvSpPr/>
          <p:nvPr/>
        </p:nvSpPr>
        <p:spPr>
          <a:xfrm>
            <a:off x="3668137" y="4225335"/>
            <a:ext cx="9144" cy="27432"/>
          </a:xfrm>
          <a:prstGeom prst="rect">
            <a:avLst/>
          </a:prstGeom>
          <a:solidFill>
            <a:srgbClr val="D9D9D9"/>
          </a:solidFill>
          <a:ln/>
        </p:spPr>
      </p:sp>
      <p:sp>
        <p:nvSpPr>
          <p:cNvPr id="87" name="Shape 85"/>
          <p:cNvSpPr/>
          <p:nvPr/>
        </p:nvSpPr>
        <p:spPr>
          <a:xfrm>
            <a:off x="3605342" y="4170471"/>
            <a:ext cx="137160" cy="137160"/>
          </a:xfrm>
          <a:prstGeom prst="ellipse">
            <a:avLst/>
          </a:prstGeom>
          <a:solidFill>
            <a:srgbClr val="0B2C4A"/>
          </a:solidFill>
          <a:ln/>
        </p:spPr>
      </p:sp>
      <p:sp>
        <p:nvSpPr>
          <p:cNvPr id="88" name="Shape 86"/>
          <p:cNvSpPr/>
          <p:nvPr/>
        </p:nvSpPr>
        <p:spPr>
          <a:xfrm>
            <a:off x="3599557" y="4170471"/>
            <a:ext cx="137160" cy="137160"/>
          </a:xfrm>
          <a:prstGeom prst="ellipse">
            <a:avLst/>
          </a:prstGeom>
          <a:solidFill>
            <a:srgbClr val="12A566"/>
          </a:solidFill>
          <a:ln/>
        </p:spPr>
      </p:sp>
      <p:sp>
        <p:nvSpPr>
          <p:cNvPr id="89" name="Text 87"/>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90" name="Text 88"/>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91" name="Text 89"/>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−0.2 pts</a:t>
            </a:r>
            <a:endParaRPr lang="en-US" sz="1300" dirty="0"/>
          </a:p>
        </p:txBody>
      </p:sp>
      <p:sp>
        <p:nvSpPr>
          <p:cNvPr id="92" name="Text 90"/>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93" name="Shape 91"/>
          <p:cNvSpPr/>
          <p:nvPr/>
        </p:nvSpPr>
        <p:spPr>
          <a:xfrm>
            <a:off x="3573014" y="4450170"/>
            <a:ext cx="10631" cy="27432"/>
          </a:xfrm>
          <a:prstGeom prst="rect">
            <a:avLst/>
          </a:prstGeom>
          <a:solidFill>
            <a:srgbClr val="D9D9D9"/>
          </a:solidFill>
          <a:ln/>
        </p:spPr>
      </p:sp>
      <p:sp>
        <p:nvSpPr>
          <p:cNvPr id="94" name="Shape 92"/>
          <p:cNvSpPr/>
          <p:nvPr/>
        </p:nvSpPr>
        <p:spPr>
          <a:xfrm>
            <a:off x="3515065" y="4395306"/>
            <a:ext cx="137160" cy="137160"/>
          </a:xfrm>
          <a:prstGeom prst="ellipse">
            <a:avLst/>
          </a:prstGeom>
          <a:solidFill>
            <a:srgbClr val="0B2C4A"/>
          </a:solidFill>
          <a:ln/>
        </p:spPr>
      </p:sp>
      <p:sp>
        <p:nvSpPr>
          <p:cNvPr id="95" name="Shape 93"/>
          <p:cNvSpPr/>
          <p:nvPr/>
        </p:nvSpPr>
        <p:spPr>
          <a:xfrm>
            <a:off x="3504434" y="4395306"/>
            <a:ext cx="137160" cy="137160"/>
          </a:xfrm>
          <a:prstGeom prst="ellipse">
            <a:avLst/>
          </a:prstGeom>
          <a:solidFill>
            <a:srgbClr val="12A566"/>
          </a:solidFill>
          <a:ln/>
        </p:spPr>
      </p:sp>
      <p:sp>
        <p:nvSpPr>
          <p:cNvPr id="96" name="Text 94"/>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97" name="Text 95"/>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98" name="Text 96"/>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−0.3 pts</a:t>
            </a:r>
            <a:endParaRPr lang="en-US" sz="1300" dirty="0"/>
          </a:p>
        </p:txBody>
      </p:sp>
      <p:sp>
        <p:nvSpPr>
          <p:cNvPr id="99" name="Shape 97"/>
          <p:cNvSpPr/>
          <p:nvPr/>
        </p:nvSpPr>
        <p:spPr>
          <a:xfrm>
            <a:off x="585216" y="4576303"/>
            <a:ext cx="5394960" cy="224835"/>
          </a:xfrm>
          <a:prstGeom prst="rect">
            <a:avLst/>
          </a:prstGeom>
          <a:solidFill>
            <a:srgbClr val="F7F7F7"/>
          </a:solidFill>
          <a:ln/>
        </p:spPr>
      </p:sp>
      <p:sp>
        <p:nvSpPr>
          <p:cNvPr id="100" name="Text 98"/>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1" name="Shape 99"/>
          <p:cNvSpPr/>
          <p:nvPr/>
        </p:nvSpPr>
        <p:spPr>
          <a:xfrm>
            <a:off x="3293888" y="4675004"/>
            <a:ext cx="11833" cy="27432"/>
          </a:xfrm>
          <a:prstGeom prst="rect">
            <a:avLst/>
          </a:prstGeom>
          <a:solidFill>
            <a:srgbClr val="D9D9D9"/>
          </a:solidFill>
          <a:ln/>
        </p:spPr>
      </p:sp>
      <p:sp>
        <p:nvSpPr>
          <p:cNvPr id="102" name="Shape 100"/>
          <p:cNvSpPr/>
          <p:nvPr/>
        </p:nvSpPr>
        <p:spPr>
          <a:xfrm>
            <a:off x="3237141" y="4620140"/>
            <a:ext cx="137160" cy="137160"/>
          </a:xfrm>
          <a:prstGeom prst="ellipse">
            <a:avLst/>
          </a:prstGeom>
          <a:solidFill>
            <a:srgbClr val="0B2C4A"/>
          </a:solidFill>
          <a:ln/>
        </p:spPr>
      </p:sp>
      <p:sp>
        <p:nvSpPr>
          <p:cNvPr id="103" name="Shape 101"/>
          <p:cNvSpPr/>
          <p:nvPr/>
        </p:nvSpPr>
        <p:spPr>
          <a:xfrm>
            <a:off x="3225308" y="4620140"/>
            <a:ext cx="137160" cy="137160"/>
          </a:xfrm>
          <a:prstGeom prst="ellipse">
            <a:avLst/>
          </a:prstGeom>
          <a:solidFill>
            <a:srgbClr val="12A566"/>
          </a:solidFill>
          <a:ln/>
        </p:spPr>
      </p:sp>
      <p:sp>
        <p:nvSpPr>
          <p:cNvPr id="104" name="Text 10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105" name="Text 10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106" name="Text 10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−0.4 pts</a:t>
            </a:r>
            <a:endParaRPr lang="en-US" sz="1300" dirty="0"/>
          </a:p>
        </p:txBody>
      </p:sp>
      <p:sp>
        <p:nvSpPr>
          <p:cNvPr id="107" name="Text 10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08" name="Shape 106"/>
          <p:cNvSpPr/>
          <p:nvPr/>
        </p:nvSpPr>
        <p:spPr>
          <a:xfrm>
            <a:off x="3429695" y="4899839"/>
            <a:ext cx="38117" cy="27432"/>
          </a:xfrm>
          <a:prstGeom prst="rect">
            <a:avLst/>
          </a:prstGeom>
          <a:solidFill>
            <a:srgbClr val="D9D9D9"/>
          </a:solidFill>
          <a:ln/>
        </p:spPr>
      </p:sp>
      <p:sp>
        <p:nvSpPr>
          <p:cNvPr id="109" name="Shape 107"/>
          <p:cNvSpPr/>
          <p:nvPr/>
        </p:nvSpPr>
        <p:spPr>
          <a:xfrm>
            <a:off x="3399231" y="4844975"/>
            <a:ext cx="137160" cy="137160"/>
          </a:xfrm>
          <a:prstGeom prst="ellipse">
            <a:avLst/>
          </a:prstGeom>
          <a:solidFill>
            <a:srgbClr val="0B2C4A"/>
          </a:solidFill>
          <a:ln/>
        </p:spPr>
      </p:sp>
      <p:sp>
        <p:nvSpPr>
          <p:cNvPr id="110" name="Shape 108"/>
          <p:cNvSpPr/>
          <p:nvPr/>
        </p:nvSpPr>
        <p:spPr>
          <a:xfrm>
            <a:off x="3361115" y="4844975"/>
            <a:ext cx="137160" cy="137160"/>
          </a:xfrm>
          <a:prstGeom prst="ellipse">
            <a:avLst/>
          </a:prstGeom>
          <a:solidFill>
            <a:srgbClr val="12A566"/>
          </a:solidFill>
          <a:ln/>
        </p:spPr>
      </p:sp>
      <p:sp>
        <p:nvSpPr>
          <p:cNvPr id="111" name="Text 109"/>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112" name="Text 110"/>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113" name="Text 111"/>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114" name="Shape 112"/>
          <p:cNvSpPr/>
          <p:nvPr/>
        </p:nvSpPr>
        <p:spPr>
          <a:xfrm>
            <a:off x="585216" y="5025973"/>
            <a:ext cx="5394960" cy="224835"/>
          </a:xfrm>
          <a:prstGeom prst="rect">
            <a:avLst/>
          </a:prstGeom>
          <a:solidFill>
            <a:srgbClr val="F7F7F7"/>
          </a:solidFill>
          <a:ln/>
        </p:spPr>
      </p:sp>
      <p:sp>
        <p:nvSpPr>
          <p:cNvPr id="115" name="Text 113"/>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16" name="Shape 114"/>
          <p:cNvSpPr/>
          <p:nvPr/>
        </p:nvSpPr>
        <p:spPr>
          <a:xfrm>
            <a:off x="3400294" y="5124674"/>
            <a:ext cx="64817" cy="27432"/>
          </a:xfrm>
          <a:prstGeom prst="rect">
            <a:avLst/>
          </a:prstGeom>
          <a:solidFill>
            <a:srgbClr val="D9D9D9"/>
          </a:solidFill>
          <a:ln/>
        </p:spPr>
      </p:sp>
      <p:sp>
        <p:nvSpPr>
          <p:cNvPr id="117" name="Shape 115"/>
          <p:cNvSpPr/>
          <p:nvPr/>
        </p:nvSpPr>
        <p:spPr>
          <a:xfrm>
            <a:off x="3396530" y="5069810"/>
            <a:ext cx="137160" cy="137160"/>
          </a:xfrm>
          <a:prstGeom prst="ellipse">
            <a:avLst/>
          </a:prstGeom>
          <a:solidFill>
            <a:srgbClr val="0B2C4A"/>
          </a:solidFill>
          <a:ln/>
        </p:spPr>
      </p:sp>
      <p:sp>
        <p:nvSpPr>
          <p:cNvPr id="118" name="Shape 116"/>
          <p:cNvSpPr/>
          <p:nvPr/>
        </p:nvSpPr>
        <p:spPr>
          <a:xfrm>
            <a:off x="3331714" y="5069810"/>
            <a:ext cx="137160" cy="137160"/>
          </a:xfrm>
          <a:prstGeom prst="ellipse">
            <a:avLst/>
          </a:prstGeom>
          <a:solidFill>
            <a:srgbClr val="12A566"/>
          </a:solidFill>
          <a:ln/>
        </p:spPr>
      </p:sp>
      <p:sp>
        <p:nvSpPr>
          <p:cNvPr id="119" name="Text 117"/>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120" name="Text 118"/>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121" name="Text 119"/>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22" name="Text 120"/>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23" name="Shape 121"/>
          <p:cNvSpPr/>
          <p:nvPr/>
        </p:nvSpPr>
        <p:spPr>
          <a:xfrm>
            <a:off x="3373993" y="5349509"/>
            <a:ext cx="65007" cy="27432"/>
          </a:xfrm>
          <a:prstGeom prst="rect">
            <a:avLst/>
          </a:prstGeom>
          <a:solidFill>
            <a:srgbClr val="D9D9D9"/>
          </a:solidFill>
          <a:ln/>
        </p:spPr>
      </p:sp>
      <p:sp>
        <p:nvSpPr>
          <p:cNvPr id="124" name="Shape 122"/>
          <p:cNvSpPr/>
          <p:nvPr/>
        </p:nvSpPr>
        <p:spPr>
          <a:xfrm>
            <a:off x="3370420" y="5294645"/>
            <a:ext cx="137160" cy="137160"/>
          </a:xfrm>
          <a:prstGeom prst="ellipse">
            <a:avLst/>
          </a:prstGeom>
          <a:solidFill>
            <a:srgbClr val="0B2C4A"/>
          </a:solidFill>
          <a:ln/>
        </p:spPr>
      </p:sp>
      <p:sp>
        <p:nvSpPr>
          <p:cNvPr id="125" name="Shape 123"/>
          <p:cNvSpPr/>
          <p:nvPr/>
        </p:nvSpPr>
        <p:spPr>
          <a:xfrm>
            <a:off x="3305413" y="5294645"/>
            <a:ext cx="137160" cy="137160"/>
          </a:xfrm>
          <a:prstGeom prst="ellipse">
            <a:avLst/>
          </a:prstGeom>
          <a:solidFill>
            <a:srgbClr val="12A566"/>
          </a:solidFill>
          <a:ln/>
        </p:spPr>
      </p:sp>
      <p:sp>
        <p:nvSpPr>
          <p:cNvPr id="126" name="Text 124"/>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27" name="Text 125"/>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28" name="Text 126"/>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29" name="Shape 127"/>
          <p:cNvSpPr/>
          <p:nvPr/>
        </p:nvSpPr>
        <p:spPr>
          <a:xfrm>
            <a:off x="585216" y="5475642"/>
            <a:ext cx="5394960" cy="224835"/>
          </a:xfrm>
          <a:prstGeom prst="rect">
            <a:avLst/>
          </a:prstGeom>
          <a:solidFill>
            <a:srgbClr val="F7F7F7"/>
          </a:solidFill>
          <a:ln/>
        </p:spPr>
      </p:sp>
      <p:sp>
        <p:nvSpPr>
          <p:cNvPr id="130" name="Text 128"/>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1" name="Shape 129"/>
          <p:cNvSpPr/>
          <p:nvPr/>
        </p:nvSpPr>
        <p:spPr>
          <a:xfrm>
            <a:off x="3557028" y="5574344"/>
            <a:ext cx="65731" cy="27432"/>
          </a:xfrm>
          <a:prstGeom prst="rect">
            <a:avLst/>
          </a:prstGeom>
          <a:solidFill>
            <a:srgbClr val="D9D9D9"/>
          </a:solidFill>
          <a:ln/>
        </p:spPr>
      </p:sp>
      <p:sp>
        <p:nvSpPr>
          <p:cNvPr id="132" name="Shape 130"/>
          <p:cNvSpPr/>
          <p:nvPr/>
        </p:nvSpPr>
        <p:spPr>
          <a:xfrm>
            <a:off x="3554179" y="5519480"/>
            <a:ext cx="137160" cy="137160"/>
          </a:xfrm>
          <a:prstGeom prst="ellipse">
            <a:avLst/>
          </a:prstGeom>
          <a:solidFill>
            <a:srgbClr val="0B2C4A"/>
          </a:solidFill>
          <a:ln/>
        </p:spPr>
      </p:sp>
      <p:sp>
        <p:nvSpPr>
          <p:cNvPr id="133" name="Shape 131"/>
          <p:cNvSpPr/>
          <p:nvPr/>
        </p:nvSpPr>
        <p:spPr>
          <a:xfrm>
            <a:off x="3488448" y="5519480"/>
            <a:ext cx="137160" cy="137160"/>
          </a:xfrm>
          <a:prstGeom prst="ellipse">
            <a:avLst/>
          </a:prstGeom>
          <a:solidFill>
            <a:srgbClr val="12A566"/>
          </a:solidFill>
          <a:ln/>
        </p:spPr>
      </p:sp>
      <p:sp>
        <p:nvSpPr>
          <p:cNvPr id="134" name="Text 132"/>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35" name="Text 133"/>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36" name="Text 134"/>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37" name="Text 135"/>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8" name="Shape 136"/>
          <p:cNvSpPr/>
          <p:nvPr/>
        </p:nvSpPr>
        <p:spPr>
          <a:xfrm>
            <a:off x="3229189" y="5799179"/>
            <a:ext cx="67698" cy="27432"/>
          </a:xfrm>
          <a:prstGeom prst="rect">
            <a:avLst/>
          </a:prstGeom>
          <a:solidFill>
            <a:srgbClr val="D9D9D9"/>
          </a:solidFill>
          <a:ln/>
        </p:spPr>
      </p:sp>
      <p:sp>
        <p:nvSpPr>
          <p:cNvPr id="139" name="Shape 137"/>
          <p:cNvSpPr/>
          <p:nvPr/>
        </p:nvSpPr>
        <p:spPr>
          <a:xfrm>
            <a:off x="3228307" y="5744315"/>
            <a:ext cx="137160" cy="137160"/>
          </a:xfrm>
          <a:prstGeom prst="ellipse">
            <a:avLst/>
          </a:prstGeom>
          <a:solidFill>
            <a:srgbClr val="0B2C4A"/>
          </a:solidFill>
          <a:ln/>
        </p:spPr>
      </p:sp>
      <p:sp>
        <p:nvSpPr>
          <p:cNvPr id="140" name="Shape 138"/>
          <p:cNvSpPr/>
          <p:nvPr/>
        </p:nvSpPr>
        <p:spPr>
          <a:xfrm>
            <a:off x="3160609" y="5744315"/>
            <a:ext cx="137160" cy="137160"/>
          </a:xfrm>
          <a:prstGeom prst="ellipse">
            <a:avLst/>
          </a:prstGeom>
          <a:solidFill>
            <a:srgbClr val="12A566"/>
          </a:solidFill>
          <a:ln/>
        </p:spPr>
      </p:sp>
      <p:sp>
        <p:nvSpPr>
          <p:cNvPr id="141" name="Text 13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42" name="Text 14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43" name="Text 14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 pts</a:t>
            </a:r>
            <a:endParaRPr lang="en-US" sz="1300" dirty="0"/>
          </a:p>
        </p:txBody>
      </p:sp>
      <p:sp>
        <p:nvSpPr>
          <p:cNvPr id="144" name="Text 14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45" name="Shape 143"/>
          <p:cNvSpPr/>
          <p:nvPr/>
        </p:nvSpPr>
        <p:spPr>
          <a:xfrm>
            <a:off x="8912269" y="2201821"/>
            <a:ext cx="80862" cy="27432"/>
          </a:xfrm>
          <a:prstGeom prst="rect">
            <a:avLst/>
          </a:prstGeom>
          <a:solidFill>
            <a:srgbClr val="D9D9D9"/>
          </a:solidFill>
          <a:ln/>
        </p:spPr>
      </p:sp>
      <p:sp>
        <p:nvSpPr>
          <p:cNvPr id="146" name="Shape 144"/>
          <p:cNvSpPr/>
          <p:nvPr/>
        </p:nvSpPr>
        <p:spPr>
          <a:xfrm>
            <a:off x="8924551" y="2146957"/>
            <a:ext cx="137160" cy="137160"/>
          </a:xfrm>
          <a:prstGeom prst="ellipse">
            <a:avLst/>
          </a:prstGeom>
          <a:solidFill>
            <a:srgbClr val="0B2C4A"/>
          </a:solidFill>
          <a:ln/>
        </p:spPr>
      </p:sp>
      <p:sp>
        <p:nvSpPr>
          <p:cNvPr id="147" name="Shape 145"/>
          <p:cNvSpPr/>
          <p:nvPr/>
        </p:nvSpPr>
        <p:spPr>
          <a:xfrm>
            <a:off x="8843689" y="2146957"/>
            <a:ext cx="137160" cy="137160"/>
          </a:xfrm>
          <a:prstGeom prst="ellipse">
            <a:avLst/>
          </a:prstGeom>
          <a:solidFill>
            <a:srgbClr val="12A566"/>
          </a:solidFill>
          <a:ln/>
        </p:spPr>
      </p:sp>
      <p:sp>
        <p:nvSpPr>
          <p:cNvPr id="148" name="Text 146"/>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49" name="Text 147"/>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50" name="Text 148"/>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−2.6 pts</a:t>
            </a:r>
            <a:endParaRPr lang="en-US" sz="1300" dirty="0"/>
          </a:p>
        </p:txBody>
      </p:sp>
      <p:sp>
        <p:nvSpPr>
          <p:cNvPr id="151" name="Shape 149"/>
          <p:cNvSpPr/>
          <p:nvPr/>
        </p:nvSpPr>
        <p:spPr>
          <a:xfrm>
            <a:off x="6135624" y="2327955"/>
            <a:ext cx="5394960" cy="224835"/>
          </a:xfrm>
          <a:prstGeom prst="rect">
            <a:avLst/>
          </a:prstGeom>
          <a:solidFill>
            <a:srgbClr val="F7F7F7"/>
          </a:solidFill>
          <a:ln/>
        </p:spPr>
      </p:sp>
      <p:sp>
        <p:nvSpPr>
          <p:cNvPr id="152" name="Text 150"/>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3" name="Shape 151"/>
          <p:cNvSpPr/>
          <p:nvPr/>
        </p:nvSpPr>
        <p:spPr>
          <a:xfrm>
            <a:off x="9104456" y="2426656"/>
            <a:ext cx="85364" cy="27432"/>
          </a:xfrm>
          <a:prstGeom prst="rect">
            <a:avLst/>
          </a:prstGeom>
          <a:solidFill>
            <a:srgbClr val="D9D9D9"/>
          </a:solidFill>
          <a:ln/>
        </p:spPr>
      </p:sp>
      <p:sp>
        <p:nvSpPr>
          <p:cNvPr id="154" name="Shape 152"/>
          <p:cNvSpPr/>
          <p:nvPr/>
        </p:nvSpPr>
        <p:spPr>
          <a:xfrm>
            <a:off x="9121240" y="2371792"/>
            <a:ext cx="137160" cy="137160"/>
          </a:xfrm>
          <a:prstGeom prst="ellipse">
            <a:avLst/>
          </a:prstGeom>
          <a:solidFill>
            <a:srgbClr val="0B2C4A"/>
          </a:solidFill>
          <a:ln/>
        </p:spPr>
      </p:sp>
      <p:sp>
        <p:nvSpPr>
          <p:cNvPr id="155" name="Shape 153"/>
          <p:cNvSpPr/>
          <p:nvPr/>
        </p:nvSpPr>
        <p:spPr>
          <a:xfrm>
            <a:off x="9035876" y="2371792"/>
            <a:ext cx="137160" cy="137160"/>
          </a:xfrm>
          <a:prstGeom prst="ellipse">
            <a:avLst/>
          </a:prstGeom>
          <a:solidFill>
            <a:srgbClr val="C2352F"/>
          </a:solidFill>
          <a:ln/>
        </p:spPr>
      </p:sp>
      <p:sp>
        <p:nvSpPr>
          <p:cNvPr id="156" name="Text 154"/>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57" name="Text 155"/>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58" name="Text 156"/>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59" name="Text 157"/>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0" name="Shape 158"/>
          <p:cNvSpPr/>
          <p:nvPr/>
        </p:nvSpPr>
        <p:spPr>
          <a:xfrm>
            <a:off x="8801530" y="2651491"/>
            <a:ext cx="101285" cy="27432"/>
          </a:xfrm>
          <a:prstGeom prst="rect">
            <a:avLst/>
          </a:prstGeom>
          <a:solidFill>
            <a:srgbClr val="D9D9D9"/>
          </a:solidFill>
          <a:ln/>
        </p:spPr>
      </p:sp>
      <p:sp>
        <p:nvSpPr>
          <p:cNvPr id="161" name="Shape 159"/>
          <p:cNvSpPr/>
          <p:nvPr/>
        </p:nvSpPr>
        <p:spPr>
          <a:xfrm>
            <a:off x="8834235" y="2596627"/>
            <a:ext cx="137160" cy="137160"/>
          </a:xfrm>
          <a:prstGeom prst="ellipse">
            <a:avLst/>
          </a:prstGeom>
          <a:solidFill>
            <a:srgbClr val="0B2C4A"/>
          </a:solidFill>
          <a:ln/>
        </p:spPr>
      </p:sp>
      <p:sp>
        <p:nvSpPr>
          <p:cNvPr id="162" name="Shape 160"/>
          <p:cNvSpPr/>
          <p:nvPr/>
        </p:nvSpPr>
        <p:spPr>
          <a:xfrm>
            <a:off x="8732950" y="2596627"/>
            <a:ext cx="137160" cy="137160"/>
          </a:xfrm>
          <a:prstGeom prst="ellipse">
            <a:avLst/>
          </a:prstGeom>
          <a:solidFill>
            <a:srgbClr val="C2352F"/>
          </a:solidFill>
          <a:ln/>
        </p:spPr>
      </p:sp>
      <p:sp>
        <p:nvSpPr>
          <p:cNvPr id="163" name="Text 161"/>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64" name="Text 162"/>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65" name="Text 163"/>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66" name="Shape 164"/>
          <p:cNvSpPr/>
          <p:nvPr/>
        </p:nvSpPr>
        <p:spPr>
          <a:xfrm>
            <a:off x="6135624" y="2777624"/>
            <a:ext cx="5394960" cy="224835"/>
          </a:xfrm>
          <a:prstGeom prst="rect">
            <a:avLst/>
          </a:prstGeom>
          <a:solidFill>
            <a:srgbClr val="F7F7F7"/>
          </a:solidFill>
          <a:ln/>
        </p:spPr>
      </p:sp>
      <p:sp>
        <p:nvSpPr>
          <p:cNvPr id="167" name="Text 165"/>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68" name="Shape 166"/>
          <p:cNvSpPr/>
          <p:nvPr/>
        </p:nvSpPr>
        <p:spPr>
          <a:xfrm>
            <a:off x="9060644" y="2876326"/>
            <a:ext cx="107688" cy="27432"/>
          </a:xfrm>
          <a:prstGeom prst="rect">
            <a:avLst/>
          </a:prstGeom>
          <a:solidFill>
            <a:srgbClr val="D9D9D9"/>
          </a:solidFill>
          <a:ln/>
        </p:spPr>
      </p:sp>
      <p:sp>
        <p:nvSpPr>
          <p:cNvPr id="169" name="Shape 167"/>
          <p:cNvSpPr/>
          <p:nvPr/>
        </p:nvSpPr>
        <p:spPr>
          <a:xfrm>
            <a:off x="9099752" y="2821462"/>
            <a:ext cx="137160" cy="137160"/>
          </a:xfrm>
          <a:prstGeom prst="ellipse">
            <a:avLst/>
          </a:prstGeom>
          <a:solidFill>
            <a:srgbClr val="0B2C4A"/>
          </a:solidFill>
          <a:ln/>
        </p:spPr>
      </p:sp>
      <p:sp>
        <p:nvSpPr>
          <p:cNvPr id="170" name="Shape 168"/>
          <p:cNvSpPr/>
          <p:nvPr/>
        </p:nvSpPr>
        <p:spPr>
          <a:xfrm>
            <a:off x="8992064" y="2821462"/>
            <a:ext cx="137160" cy="137160"/>
          </a:xfrm>
          <a:prstGeom prst="ellipse">
            <a:avLst/>
          </a:prstGeom>
          <a:solidFill>
            <a:srgbClr val="C2352F"/>
          </a:solidFill>
          <a:ln/>
        </p:spPr>
      </p:sp>
      <p:sp>
        <p:nvSpPr>
          <p:cNvPr id="171" name="Text 169"/>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72" name="Text 170"/>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73" name="Text 171"/>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74" name="Text 172"/>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75" name="Shape 173"/>
          <p:cNvSpPr/>
          <p:nvPr/>
        </p:nvSpPr>
        <p:spPr>
          <a:xfrm>
            <a:off x="9185604" y="3101161"/>
            <a:ext cx="116115" cy="27432"/>
          </a:xfrm>
          <a:prstGeom prst="rect">
            <a:avLst/>
          </a:prstGeom>
          <a:solidFill>
            <a:srgbClr val="D9D9D9"/>
          </a:solidFill>
          <a:ln/>
        </p:spPr>
      </p:sp>
      <p:sp>
        <p:nvSpPr>
          <p:cNvPr id="176" name="Shape 174"/>
          <p:cNvSpPr/>
          <p:nvPr/>
        </p:nvSpPr>
        <p:spPr>
          <a:xfrm>
            <a:off x="9233139" y="3046297"/>
            <a:ext cx="137160" cy="137160"/>
          </a:xfrm>
          <a:prstGeom prst="ellipse">
            <a:avLst/>
          </a:prstGeom>
          <a:solidFill>
            <a:srgbClr val="0B2C4A"/>
          </a:solidFill>
          <a:ln/>
        </p:spPr>
      </p:sp>
      <p:sp>
        <p:nvSpPr>
          <p:cNvPr id="177" name="Shape 175"/>
          <p:cNvSpPr/>
          <p:nvPr/>
        </p:nvSpPr>
        <p:spPr>
          <a:xfrm>
            <a:off x="9117024" y="3046297"/>
            <a:ext cx="137160" cy="137160"/>
          </a:xfrm>
          <a:prstGeom prst="ellipse">
            <a:avLst/>
          </a:prstGeom>
          <a:solidFill>
            <a:srgbClr val="C2352F"/>
          </a:solidFill>
          <a:ln/>
        </p:spPr>
      </p:sp>
      <p:sp>
        <p:nvSpPr>
          <p:cNvPr id="178" name="Text 17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79" name="Text 17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80" name="Text 17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81" name="Shape 179"/>
          <p:cNvSpPr/>
          <p:nvPr/>
        </p:nvSpPr>
        <p:spPr>
          <a:xfrm>
            <a:off x="6135624" y="3227294"/>
            <a:ext cx="5394960" cy="224835"/>
          </a:xfrm>
          <a:prstGeom prst="rect">
            <a:avLst/>
          </a:prstGeom>
          <a:solidFill>
            <a:srgbClr val="F7F7F7"/>
          </a:solidFill>
          <a:ln/>
        </p:spPr>
      </p:sp>
      <p:sp>
        <p:nvSpPr>
          <p:cNvPr id="182" name="Text 18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83" name="Shape 181"/>
          <p:cNvSpPr/>
          <p:nvPr/>
        </p:nvSpPr>
        <p:spPr>
          <a:xfrm>
            <a:off x="8903365" y="3325996"/>
            <a:ext cx="118492" cy="27432"/>
          </a:xfrm>
          <a:prstGeom prst="rect">
            <a:avLst/>
          </a:prstGeom>
          <a:solidFill>
            <a:srgbClr val="D9D9D9"/>
          </a:solidFill>
          <a:ln/>
        </p:spPr>
      </p:sp>
      <p:sp>
        <p:nvSpPr>
          <p:cNvPr id="184" name="Shape 182"/>
          <p:cNvSpPr/>
          <p:nvPr/>
        </p:nvSpPr>
        <p:spPr>
          <a:xfrm>
            <a:off x="8953277" y="3271132"/>
            <a:ext cx="137160" cy="137160"/>
          </a:xfrm>
          <a:prstGeom prst="ellipse">
            <a:avLst/>
          </a:prstGeom>
          <a:solidFill>
            <a:srgbClr val="0B2C4A"/>
          </a:solidFill>
          <a:ln/>
        </p:spPr>
      </p:sp>
      <p:sp>
        <p:nvSpPr>
          <p:cNvPr id="185" name="Shape 183"/>
          <p:cNvSpPr/>
          <p:nvPr/>
        </p:nvSpPr>
        <p:spPr>
          <a:xfrm>
            <a:off x="8834785" y="3271132"/>
            <a:ext cx="137160" cy="137160"/>
          </a:xfrm>
          <a:prstGeom prst="ellipse">
            <a:avLst/>
          </a:prstGeom>
          <a:solidFill>
            <a:srgbClr val="C2352F"/>
          </a:solidFill>
          <a:ln/>
        </p:spPr>
      </p:sp>
      <p:sp>
        <p:nvSpPr>
          <p:cNvPr id="186" name="Text 184"/>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87" name="Text 185"/>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88" name="Text 186"/>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89" name="Text 187"/>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90" name="Shape 188"/>
          <p:cNvSpPr/>
          <p:nvPr/>
        </p:nvSpPr>
        <p:spPr>
          <a:xfrm>
            <a:off x="9029152" y="3550830"/>
            <a:ext cx="144120" cy="27432"/>
          </a:xfrm>
          <a:prstGeom prst="rect">
            <a:avLst/>
          </a:prstGeom>
          <a:solidFill>
            <a:srgbClr val="D9D9D9"/>
          </a:solidFill>
          <a:ln/>
        </p:spPr>
      </p:sp>
      <p:sp>
        <p:nvSpPr>
          <p:cNvPr id="191" name="Shape 189"/>
          <p:cNvSpPr/>
          <p:nvPr/>
        </p:nvSpPr>
        <p:spPr>
          <a:xfrm>
            <a:off x="9104691" y="3495966"/>
            <a:ext cx="137160" cy="137160"/>
          </a:xfrm>
          <a:prstGeom prst="ellipse">
            <a:avLst/>
          </a:prstGeom>
          <a:solidFill>
            <a:srgbClr val="0B2C4A"/>
          </a:solidFill>
          <a:ln/>
        </p:spPr>
      </p:sp>
      <p:sp>
        <p:nvSpPr>
          <p:cNvPr id="192" name="Shape 190"/>
          <p:cNvSpPr/>
          <p:nvPr/>
        </p:nvSpPr>
        <p:spPr>
          <a:xfrm>
            <a:off x="8960572" y="3495966"/>
            <a:ext cx="137160" cy="137160"/>
          </a:xfrm>
          <a:prstGeom prst="ellipse">
            <a:avLst/>
          </a:prstGeom>
          <a:solidFill>
            <a:srgbClr val="C2352F"/>
          </a:solidFill>
          <a:ln/>
        </p:spPr>
      </p:sp>
      <p:sp>
        <p:nvSpPr>
          <p:cNvPr id="193" name="Text 191"/>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94" name="Text 192"/>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95" name="Text 193"/>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96" name="Shape 194"/>
          <p:cNvSpPr/>
          <p:nvPr/>
        </p:nvSpPr>
        <p:spPr>
          <a:xfrm>
            <a:off x="6135624" y="3676964"/>
            <a:ext cx="5394960" cy="224835"/>
          </a:xfrm>
          <a:prstGeom prst="rect">
            <a:avLst/>
          </a:prstGeom>
          <a:solidFill>
            <a:srgbClr val="F7F7F7"/>
          </a:solidFill>
          <a:ln/>
        </p:spPr>
      </p:sp>
      <p:sp>
        <p:nvSpPr>
          <p:cNvPr id="197" name="Text 195"/>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98" name="Shape 196"/>
          <p:cNvSpPr/>
          <p:nvPr/>
        </p:nvSpPr>
        <p:spPr>
          <a:xfrm>
            <a:off x="8857207" y="3775665"/>
            <a:ext cx="152397" cy="27432"/>
          </a:xfrm>
          <a:prstGeom prst="rect">
            <a:avLst/>
          </a:prstGeom>
          <a:solidFill>
            <a:srgbClr val="D9D9D9"/>
          </a:solidFill>
          <a:ln/>
        </p:spPr>
      </p:sp>
      <p:sp>
        <p:nvSpPr>
          <p:cNvPr id="199" name="Shape 197"/>
          <p:cNvSpPr/>
          <p:nvPr/>
        </p:nvSpPr>
        <p:spPr>
          <a:xfrm>
            <a:off x="8941024" y="3720801"/>
            <a:ext cx="137160" cy="137160"/>
          </a:xfrm>
          <a:prstGeom prst="ellipse">
            <a:avLst/>
          </a:prstGeom>
          <a:solidFill>
            <a:srgbClr val="0B2C4A"/>
          </a:solidFill>
          <a:ln/>
        </p:spPr>
      </p:sp>
      <p:sp>
        <p:nvSpPr>
          <p:cNvPr id="200" name="Shape 198"/>
          <p:cNvSpPr/>
          <p:nvPr/>
        </p:nvSpPr>
        <p:spPr>
          <a:xfrm>
            <a:off x="8788627" y="3720801"/>
            <a:ext cx="137160" cy="137160"/>
          </a:xfrm>
          <a:prstGeom prst="ellipse">
            <a:avLst/>
          </a:prstGeom>
          <a:solidFill>
            <a:srgbClr val="C2352F"/>
          </a:solidFill>
          <a:ln/>
        </p:spPr>
      </p:sp>
      <p:sp>
        <p:nvSpPr>
          <p:cNvPr id="201" name="Text 199"/>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202" name="Text 200"/>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203" name="Text 201"/>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204" name="Text 202"/>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05" name="Shape 203"/>
          <p:cNvSpPr/>
          <p:nvPr/>
        </p:nvSpPr>
        <p:spPr>
          <a:xfrm>
            <a:off x="8890071" y="4000500"/>
            <a:ext cx="207231" cy="27432"/>
          </a:xfrm>
          <a:prstGeom prst="rect">
            <a:avLst/>
          </a:prstGeom>
          <a:solidFill>
            <a:srgbClr val="D9D9D9"/>
          </a:solidFill>
          <a:ln/>
        </p:spPr>
      </p:sp>
      <p:sp>
        <p:nvSpPr>
          <p:cNvPr id="206" name="Shape 204"/>
          <p:cNvSpPr/>
          <p:nvPr/>
        </p:nvSpPr>
        <p:spPr>
          <a:xfrm>
            <a:off x="9028721" y="3945636"/>
            <a:ext cx="137160" cy="137160"/>
          </a:xfrm>
          <a:prstGeom prst="ellipse">
            <a:avLst/>
          </a:prstGeom>
          <a:solidFill>
            <a:srgbClr val="0B2C4A"/>
          </a:solidFill>
          <a:ln/>
        </p:spPr>
      </p:sp>
      <p:sp>
        <p:nvSpPr>
          <p:cNvPr id="207" name="Shape 205"/>
          <p:cNvSpPr/>
          <p:nvPr/>
        </p:nvSpPr>
        <p:spPr>
          <a:xfrm>
            <a:off x="8821491" y="3945636"/>
            <a:ext cx="137160" cy="137160"/>
          </a:xfrm>
          <a:prstGeom prst="ellipse">
            <a:avLst/>
          </a:prstGeom>
          <a:solidFill>
            <a:srgbClr val="C2352F"/>
          </a:solidFill>
          <a:ln/>
        </p:spPr>
      </p:sp>
      <p:sp>
        <p:nvSpPr>
          <p:cNvPr id="208" name="Text 206"/>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209" name="Text 207"/>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210" name="Text 208"/>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211" name="Shape 209"/>
          <p:cNvSpPr/>
          <p:nvPr/>
        </p:nvSpPr>
        <p:spPr>
          <a:xfrm>
            <a:off x="6135624" y="4126633"/>
            <a:ext cx="5394960" cy="224835"/>
          </a:xfrm>
          <a:prstGeom prst="rect">
            <a:avLst/>
          </a:prstGeom>
          <a:solidFill>
            <a:srgbClr val="F7F7F7"/>
          </a:solidFill>
          <a:ln/>
        </p:spPr>
      </p:sp>
      <p:sp>
        <p:nvSpPr>
          <p:cNvPr id="212" name="Text 210"/>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13" name="Shape 211"/>
          <p:cNvSpPr/>
          <p:nvPr/>
        </p:nvSpPr>
        <p:spPr>
          <a:xfrm>
            <a:off x="9004765" y="4225335"/>
            <a:ext cx="215671" cy="27432"/>
          </a:xfrm>
          <a:prstGeom prst="rect">
            <a:avLst/>
          </a:prstGeom>
          <a:solidFill>
            <a:srgbClr val="D9D9D9"/>
          </a:solidFill>
          <a:ln/>
        </p:spPr>
      </p:sp>
      <p:sp>
        <p:nvSpPr>
          <p:cNvPr id="214" name="Shape 212"/>
          <p:cNvSpPr/>
          <p:nvPr/>
        </p:nvSpPr>
        <p:spPr>
          <a:xfrm>
            <a:off x="9151856" y="4170471"/>
            <a:ext cx="137160" cy="137160"/>
          </a:xfrm>
          <a:prstGeom prst="ellipse">
            <a:avLst/>
          </a:prstGeom>
          <a:solidFill>
            <a:srgbClr val="0B2C4A"/>
          </a:solidFill>
          <a:ln/>
        </p:spPr>
      </p:sp>
      <p:sp>
        <p:nvSpPr>
          <p:cNvPr id="215" name="Shape 213"/>
          <p:cNvSpPr/>
          <p:nvPr/>
        </p:nvSpPr>
        <p:spPr>
          <a:xfrm>
            <a:off x="8936185" y="4170471"/>
            <a:ext cx="137160" cy="137160"/>
          </a:xfrm>
          <a:prstGeom prst="ellipse">
            <a:avLst/>
          </a:prstGeom>
          <a:solidFill>
            <a:srgbClr val="C2352F"/>
          </a:solidFill>
          <a:ln/>
        </p:spPr>
      </p:sp>
      <p:sp>
        <p:nvSpPr>
          <p:cNvPr id="216" name="Text 21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217" name="Text 21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218" name="Text 21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219" name="Text 21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220" name="Shape 218"/>
          <p:cNvSpPr/>
          <p:nvPr/>
        </p:nvSpPr>
        <p:spPr>
          <a:xfrm>
            <a:off x="8898070" y="4450170"/>
            <a:ext cx="245847" cy="27432"/>
          </a:xfrm>
          <a:prstGeom prst="rect">
            <a:avLst/>
          </a:prstGeom>
          <a:solidFill>
            <a:srgbClr val="D9D9D9"/>
          </a:solidFill>
          <a:ln/>
        </p:spPr>
      </p:sp>
      <p:sp>
        <p:nvSpPr>
          <p:cNvPr id="221" name="Shape 219"/>
          <p:cNvSpPr/>
          <p:nvPr/>
        </p:nvSpPr>
        <p:spPr>
          <a:xfrm>
            <a:off x="9075337" y="4395306"/>
            <a:ext cx="137160" cy="137160"/>
          </a:xfrm>
          <a:prstGeom prst="ellipse">
            <a:avLst/>
          </a:prstGeom>
          <a:solidFill>
            <a:srgbClr val="0B2C4A"/>
          </a:solidFill>
          <a:ln/>
        </p:spPr>
      </p:sp>
      <p:sp>
        <p:nvSpPr>
          <p:cNvPr id="222" name="Shape 220"/>
          <p:cNvSpPr/>
          <p:nvPr/>
        </p:nvSpPr>
        <p:spPr>
          <a:xfrm>
            <a:off x="8829490" y="4395306"/>
            <a:ext cx="137160" cy="137160"/>
          </a:xfrm>
          <a:prstGeom prst="ellipse">
            <a:avLst/>
          </a:prstGeom>
          <a:solidFill>
            <a:srgbClr val="C2352F"/>
          </a:solidFill>
          <a:ln/>
        </p:spPr>
      </p:sp>
      <p:sp>
        <p:nvSpPr>
          <p:cNvPr id="223" name="Text 221"/>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224" name="Text 222"/>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225" name="Text 223"/>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226" name="Shape 224"/>
          <p:cNvSpPr/>
          <p:nvPr/>
        </p:nvSpPr>
        <p:spPr>
          <a:xfrm>
            <a:off x="6135624" y="4576303"/>
            <a:ext cx="5394960" cy="224835"/>
          </a:xfrm>
          <a:prstGeom prst="rect">
            <a:avLst/>
          </a:prstGeom>
          <a:solidFill>
            <a:srgbClr val="F7F7F7"/>
          </a:solidFill>
          <a:ln/>
        </p:spPr>
      </p:sp>
      <p:sp>
        <p:nvSpPr>
          <p:cNvPr id="227" name="Text 225"/>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228" name="Shape 226"/>
          <p:cNvSpPr/>
          <p:nvPr/>
        </p:nvSpPr>
        <p:spPr>
          <a:xfrm>
            <a:off x="8692698" y="4675004"/>
            <a:ext cx="277116" cy="27432"/>
          </a:xfrm>
          <a:prstGeom prst="rect">
            <a:avLst/>
          </a:prstGeom>
          <a:solidFill>
            <a:srgbClr val="D9D9D9"/>
          </a:solidFill>
          <a:ln/>
        </p:spPr>
      </p:sp>
      <p:sp>
        <p:nvSpPr>
          <p:cNvPr id="229" name="Shape 227"/>
          <p:cNvSpPr/>
          <p:nvPr/>
        </p:nvSpPr>
        <p:spPr>
          <a:xfrm>
            <a:off x="8901234" y="4620140"/>
            <a:ext cx="137160" cy="137160"/>
          </a:xfrm>
          <a:prstGeom prst="ellipse">
            <a:avLst/>
          </a:prstGeom>
          <a:solidFill>
            <a:srgbClr val="0B2C4A"/>
          </a:solidFill>
          <a:ln/>
        </p:spPr>
      </p:sp>
      <p:sp>
        <p:nvSpPr>
          <p:cNvPr id="230" name="Shape 228"/>
          <p:cNvSpPr/>
          <p:nvPr/>
        </p:nvSpPr>
        <p:spPr>
          <a:xfrm>
            <a:off x="8624118" y="4620140"/>
            <a:ext cx="137160" cy="137160"/>
          </a:xfrm>
          <a:prstGeom prst="ellipse">
            <a:avLst/>
          </a:prstGeom>
          <a:solidFill>
            <a:srgbClr val="C2352F"/>
          </a:solidFill>
          <a:ln/>
        </p:spPr>
      </p:sp>
      <p:sp>
        <p:nvSpPr>
          <p:cNvPr id="231" name="Text 229"/>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232" name="Text 230"/>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233" name="Text 231"/>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234" name="Text 232"/>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35" name="Shape 233"/>
          <p:cNvSpPr/>
          <p:nvPr/>
        </p:nvSpPr>
        <p:spPr>
          <a:xfrm>
            <a:off x="8659621" y="4899839"/>
            <a:ext cx="332360" cy="27432"/>
          </a:xfrm>
          <a:prstGeom prst="rect">
            <a:avLst/>
          </a:prstGeom>
          <a:solidFill>
            <a:srgbClr val="D9D9D9"/>
          </a:solidFill>
          <a:ln/>
        </p:spPr>
      </p:sp>
      <p:sp>
        <p:nvSpPr>
          <p:cNvPr id="236" name="Shape 234"/>
          <p:cNvSpPr/>
          <p:nvPr/>
        </p:nvSpPr>
        <p:spPr>
          <a:xfrm>
            <a:off x="8923402" y="4844975"/>
            <a:ext cx="137160" cy="137160"/>
          </a:xfrm>
          <a:prstGeom prst="ellipse">
            <a:avLst/>
          </a:prstGeom>
          <a:solidFill>
            <a:srgbClr val="0B2C4A"/>
          </a:solidFill>
          <a:ln/>
        </p:spPr>
      </p:sp>
      <p:sp>
        <p:nvSpPr>
          <p:cNvPr id="237" name="Shape 235"/>
          <p:cNvSpPr/>
          <p:nvPr/>
        </p:nvSpPr>
        <p:spPr>
          <a:xfrm>
            <a:off x="8591041" y="4844975"/>
            <a:ext cx="137160" cy="137160"/>
          </a:xfrm>
          <a:prstGeom prst="ellipse">
            <a:avLst/>
          </a:prstGeom>
          <a:solidFill>
            <a:srgbClr val="C2352F"/>
          </a:solidFill>
          <a:ln/>
        </p:spPr>
      </p:sp>
      <p:sp>
        <p:nvSpPr>
          <p:cNvPr id="238" name="Text 236"/>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239" name="Text 237"/>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240" name="Text 238"/>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241" name="Shape 239"/>
          <p:cNvSpPr/>
          <p:nvPr/>
        </p:nvSpPr>
        <p:spPr>
          <a:xfrm>
            <a:off x="6135624" y="5025973"/>
            <a:ext cx="5394960" cy="224835"/>
          </a:xfrm>
          <a:prstGeom prst="rect">
            <a:avLst/>
          </a:prstGeom>
          <a:solidFill>
            <a:srgbClr val="F7F7F7"/>
          </a:solidFill>
          <a:ln/>
        </p:spPr>
      </p:sp>
      <p:sp>
        <p:nvSpPr>
          <p:cNvPr id="242" name="Text 240"/>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43" name="Shape 241"/>
          <p:cNvSpPr/>
          <p:nvPr/>
        </p:nvSpPr>
        <p:spPr>
          <a:xfrm>
            <a:off x="8734634" y="5124674"/>
            <a:ext cx="376572" cy="27432"/>
          </a:xfrm>
          <a:prstGeom prst="rect">
            <a:avLst/>
          </a:prstGeom>
          <a:solidFill>
            <a:srgbClr val="D9D9D9"/>
          </a:solidFill>
          <a:ln/>
        </p:spPr>
      </p:sp>
      <p:sp>
        <p:nvSpPr>
          <p:cNvPr id="244" name="Shape 242"/>
          <p:cNvSpPr/>
          <p:nvPr/>
        </p:nvSpPr>
        <p:spPr>
          <a:xfrm>
            <a:off x="9042625" y="5069810"/>
            <a:ext cx="137160" cy="137160"/>
          </a:xfrm>
          <a:prstGeom prst="ellipse">
            <a:avLst/>
          </a:prstGeom>
          <a:solidFill>
            <a:srgbClr val="0B2C4A"/>
          </a:solidFill>
          <a:ln/>
        </p:spPr>
      </p:sp>
      <p:sp>
        <p:nvSpPr>
          <p:cNvPr id="245" name="Shape 243"/>
          <p:cNvSpPr/>
          <p:nvPr/>
        </p:nvSpPr>
        <p:spPr>
          <a:xfrm>
            <a:off x="8666054" y="5069810"/>
            <a:ext cx="137160" cy="137160"/>
          </a:xfrm>
          <a:prstGeom prst="ellipse">
            <a:avLst/>
          </a:prstGeom>
          <a:solidFill>
            <a:srgbClr val="C2352F"/>
          </a:solidFill>
          <a:ln/>
        </p:spPr>
      </p:sp>
      <p:sp>
        <p:nvSpPr>
          <p:cNvPr id="246" name="Text 244"/>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247" name="Text 245"/>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248" name="Text 246"/>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249" name="Text 247"/>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50" name="Shape 248"/>
          <p:cNvSpPr/>
          <p:nvPr/>
        </p:nvSpPr>
        <p:spPr>
          <a:xfrm>
            <a:off x="8728847" y="5349509"/>
            <a:ext cx="427819" cy="27432"/>
          </a:xfrm>
          <a:prstGeom prst="rect">
            <a:avLst/>
          </a:prstGeom>
          <a:solidFill>
            <a:srgbClr val="D9D9D9"/>
          </a:solidFill>
          <a:ln/>
        </p:spPr>
      </p:sp>
      <p:sp>
        <p:nvSpPr>
          <p:cNvPr id="251" name="Shape 249"/>
          <p:cNvSpPr/>
          <p:nvPr/>
        </p:nvSpPr>
        <p:spPr>
          <a:xfrm>
            <a:off x="9088086" y="5294645"/>
            <a:ext cx="137160" cy="137160"/>
          </a:xfrm>
          <a:prstGeom prst="ellipse">
            <a:avLst/>
          </a:prstGeom>
          <a:solidFill>
            <a:srgbClr val="0B2C4A"/>
          </a:solidFill>
          <a:ln/>
        </p:spPr>
      </p:sp>
      <p:sp>
        <p:nvSpPr>
          <p:cNvPr id="252" name="Shape 250"/>
          <p:cNvSpPr/>
          <p:nvPr/>
        </p:nvSpPr>
        <p:spPr>
          <a:xfrm>
            <a:off x="8660267" y="5294645"/>
            <a:ext cx="137160" cy="137160"/>
          </a:xfrm>
          <a:prstGeom prst="ellipse">
            <a:avLst/>
          </a:prstGeom>
          <a:solidFill>
            <a:srgbClr val="C2352F"/>
          </a:solidFill>
          <a:ln/>
        </p:spPr>
      </p:sp>
      <p:sp>
        <p:nvSpPr>
          <p:cNvPr id="253" name="Text 25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254" name="Text 25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255" name="Text 25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256" name="Shape 254"/>
          <p:cNvSpPr/>
          <p:nvPr/>
        </p:nvSpPr>
        <p:spPr>
          <a:xfrm>
            <a:off x="6135624" y="5475642"/>
            <a:ext cx="5394960" cy="224835"/>
          </a:xfrm>
          <a:prstGeom prst="rect">
            <a:avLst/>
          </a:prstGeom>
          <a:solidFill>
            <a:srgbClr val="F7F7F7"/>
          </a:solidFill>
          <a:ln/>
        </p:spPr>
      </p:sp>
      <p:sp>
        <p:nvSpPr>
          <p:cNvPr id="257" name="Text 25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58" name="Shape 256"/>
          <p:cNvSpPr/>
          <p:nvPr/>
        </p:nvSpPr>
        <p:spPr>
          <a:xfrm>
            <a:off x="8383021" y="5574344"/>
            <a:ext cx="615963" cy="27432"/>
          </a:xfrm>
          <a:prstGeom prst="rect">
            <a:avLst/>
          </a:prstGeom>
          <a:solidFill>
            <a:srgbClr val="D9D9D9"/>
          </a:solidFill>
          <a:ln/>
        </p:spPr>
      </p:sp>
      <p:sp>
        <p:nvSpPr>
          <p:cNvPr id="259" name="Shape 257"/>
          <p:cNvSpPr/>
          <p:nvPr/>
        </p:nvSpPr>
        <p:spPr>
          <a:xfrm>
            <a:off x="8930404" y="5519480"/>
            <a:ext cx="137160" cy="137160"/>
          </a:xfrm>
          <a:prstGeom prst="ellipse">
            <a:avLst/>
          </a:prstGeom>
          <a:solidFill>
            <a:srgbClr val="0B2C4A"/>
          </a:solidFill>
          <a:ln/>
        </p:spPr>
      </p:sp>
      <p:sp>
        <p:nvSpPr>
          <p:cNvPr id="260" name="Shape 258"/>
          <p:cNvSpPr/>
          <p:nvPr/>
        </p:nvSpPr>
        <p:spPr>
          <a:xfrm>
            <a:off x="8314441" y="5519480"/>
            <a:ext cx="137160" cy="137160"/>
          </a:xfrm>
          <a:prstGeom prst="ellipse">
            <a:avLst/>
          </a:prstGeom>
          <a:solidFill>
            <a:srgbClr val="C2352F"/>
          </a:solidFill>
          <a:ln/>
        </p:spPr>
      </p:sp>
      <p:sp>
        <p:nvSpPr>
          <p:cNvPr id="261" name="Text 259"/>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62" name="Text 260"/>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63" name="Text 261"/>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64" name="Shape 262"/>
          <p:cNvSpPr/>
          <p:nvPr/>
        </p:nvSpPr>
        <p:spPr>
          <a:xfrm>
            <a:off x="457200" y="6126480"/>
            <a:ext cx="11274552" cy="615696"/>
          </a:xfrm>
          <a:prstGeom prst="rect">
            <a:avLst/>
          </a:prstGeom>
          <a:solidFill>
            <a:srgbClr val="EDF4FA"/>
          </a:solidFill>
          <a:ln/>
        </p:spPr>
      </p:sp>
      <p:sp>
        <p:nvSpPr>
          <p:cNvPr id="265" name="Text 26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Internal labor margin runs 2.7 pts below customer pay across the group; 18 of 33 stores are at or better than that gap. Widest: Audi Reno (−20.0 pts), LR LV (−13.9 pts) and LR Henderson (−12.2 pts).</a:t>
            </a:r>
            <a:endParaRPr lang="en-US" sz="1600" dirty="0"/>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B</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navy dot = CP, green/red dot = internal</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Text 11"/>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4" name="Text 12"/>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5" name="Text 13"/>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6" name="Text 14"/>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7" name="Text 15"/>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8" name="Shape 16"/>
          <p:cNvSpPr/>
          <p:nvPr/>
        </p:nvSpPr>
        <p:spPr>
          <a:xfrm>
            <a:off x="3443130" y="2201821"/>
            <a:ext cx="176044" cy="27432"/>
          </a:xfrm>
          <a:prstGeom prst="rect">
            <a:avLst/>
          </a:prstGeom>
          <a:solidFill>
            <a:srgbClr val="D9D9D9"/>
          </a:solidFill>
          <a:ln/>
        </p:spPr>
      </p:sp>
      <p:sp>
        <p:nvSpPr>
          <p:cNvPr id="19" name="Shape 17"/>
          <p:cNvSpPr/>
          <p:nvPr/>
        </p:nvSpPr>
        <p:spPr>
          <a:xfrm>
            <a:off x="3374550" y="2146957"/>
            <a:ext cx="137160" cy="137160"/>
          </a:xfrm>
          <a:prstGeom prst="ellipse">
            <a:avLst/>
          </a:prstGeom>
          <a:solidFill>
            <a:srgbClr val="0B2C4A"/>
          </a:solidFill>
          <a:ln/>
        </p:spPr>
      </p:sp>
      <p:sp>
        <p:nvSpPr>
          <p:cNvPr id="20" name="Shape 18"/>
          <p:cNvSpPr/>
          <p:nvPr/>
        </p:nvSpPr>
        <p:spPr>
          <a:xfrm>
            <a:off x="3550594" y="2146957"/>
            <a:ext cx="137160" cy="137160"/>
          </a:xfrm>
          <a:prstGeom prst="ellipse">
            <a:avLst/>
          </a:prstGeom>
          <a:solidFill>
            <a:srgbClr val="12A566"/>
          </a:solidFill>
          <a:ln/>
        </p:spPr>
      </p:sp>
      <p:sp>
        <p:nvSpPr>
          <p:cNvPr id="21" name="Text 19"/>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2" name="Text 20"/>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3" name="Text 21"/>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4" name="Shape 22"/>
          <p:cNvSpPr/>
          <p:nvPr/>
        </p:nvSpPr>
        <p:spPr>
          <a:xfrm>
            <a:off x="585216" y="2327955"/>
            <a:ext cx="5394960" cy="224835"/>
          </a:xfrm>
          <a:prstGeom prst="rect">
            <a:avLst/>
          </a:prstGeom>
          <a:solidFill>
            <a:srgbClr val="F7F7F7"/>
          </a:solidFill>
          <a:ln/>
        </p:spPr>
      </p:sp>
      <p:sp>
        <p:nvSpPr>
          <p:cNvPr id="25" name="Text 23"/>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6" name="Shape 24"/>
          <p:cNvSpPr/>
          <p:nvPr/>
        </p:nvSpPr>
        <p:spPr>
          <a:xfrm>
            <a:off x="3246517" y="2426656"/>
            <a:ext cx="82136" cy="27432"/>
          </a:xfrm>
          <a:prstGeom prst="rect">
            <a:avLst/>
          </a:prstGeom>
          <a:solidFill>
            <a:srgbClr val="D9D9D9"/>
          </a:solidFill>
          <a:ln/>
        </p:spPr>
      </p:sp>
      <p:sp>
        <p:nvSpPr>
          <p:cNvPr id="27" name="Shape 25"/>
          <p:cNvSpPr/>
          <p:nvPr/>
        </p:nvSpPr>
        <p:spPr>
          <a:xfrm>
            <a:off x="3177937" y="2371792"/>
            <a:ext cx="137160" cy="137160"/>
          </a:xfrm>
          <a:prstGeom prst="ellipse">
            <a:avLst/>
          </a:prstGeom>
          <a:solidFill>
            <a:srgbClr val="0B2C4A"/>
          </a:solidFill>
          <a:ln/>
        </p:spPr>
      </p:sp>
      <p:sp>
        <p:nvSpPr>
          <p:cNvPr id="28" name="Shape 26"/>
          <p:cNvSpPr/>
          <p:nvPr/>
        </p:nvSpPr>
        <p:spPr>
          <a:xfrm>
            <a:off x="3260074" y="2371792"/>
            <a:ext cx="137160" cy="137160"/>
          </a:xfrm>
          <a:prstGeom prst="ellipse">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510339" y="2651491"/>
            <a:ext cx="44616" cy="27432"/>
          </a:xfrm>
          <a:prstGeom prst="rect">
            <a:avLst/>
          </a:prstGeom>
          <a:solidFill>
            <a:srgbClr val="D9D9D9"/>
          </a:solidFill>
          <a:ln/>
        </p:spPr>
      </p:sp>
      <p:sp>
        <p:nvSpPr>
          <p:cNvPr id="34" name="Shape 32"/>
          <p:cNvSpPr/>
          <p:nvPr/>
        </p:nvSpPr>
        <p:spPr>
          <a:xfrm>
            <a:off x="3441759" y="2596627"/>
            <a:ext cx="137160" cy="137160"/>
          </a:xfrm>
          <a:prstGeom prst="ellipse">
            <a:avLst/>
          </a:prstGeom>
          <a:solidFill>
            <a:srgbClr val="0B2C4A"/>
          </a:solidFill>
          <a:ln/>
        </p:spPr>
      </p:sp>
      <p:sp>
        <p:nvSpPr>
          <p:cNvPr id="35" name="Shape 33"/>
          <p:cNvSpPr/>
          <p:nvPr/>
        </p:nvSpPr>
        <p:spPr>
          <a:xfrm>
            <a:off x="3486374" y="2596627"/>
            <a:ext cx="137160" cy="137160"/>
          </a:xfrm>
          <a:prstGeom prst="ellipse">
            <a:avLst/>
          </a:prstGeom>
          <a:solidFill>
            <a:srgbClr val="12A566"/>
          </a:solidFill>
          <a:ln/>
        </p:spPr>
      </p:sp>
      <p:sp>
        <p:nvSpPr>
          <p:cNvPr id="36" name="Text 34"/>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7" name="Text 35"/>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8" name="Text 36"/>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9" name="Shape 37"/>
          <p:cNvSpPr/>
          <p:nvPr/>
        </p:nvSpPr>
        <p:spPr>
          <a:xfrm>
            <a:off x="585216" y="2777624"/>
            <a:ext cx="5394960" cy="224835"/>
          </a:xfrm>
          <a:prstGeom prst="rect">
            <a:avLst/>
          </a:prstGeom>
          <a:solidFill>
            <a:srgbClr val="F7F7F7"/>
          </a:solidFill>
          <a:ln/>
        </p:spPr>
      </p:sp>
      <p:sp>
        <p:nvSpPr>
          <p:cNvPr id="40" name="Text 38"/>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41" name="Shape 39"/>
          <p:cNvSpPr/>
          <p:nvPr/>
        </p:nvSpPr>
        <p:spPr>
          <a:xfrm>
            <a:off x="3297045" y="2876326"/>
            <a:ext cx="24021" cy="27432"/>
          </a:xfrm>
          <a:prstGeom prst="rect">
            <a:avLst/>
          </a:prstGeom>
          <a:solidFill>
            <a:srgbClr val="D9D9D9"/>
          </a:solidFill>
          <a:ln/>
        </p:spPr>
      </p:sp>
      <p:sp>
        <p:nvSpPr>
          <p:cNvPr id="42" name="Shape 40"/>
          <p:cNvSpPr/>
          <p:nvPr/>
        </p:nvSpPr>
        <p:spPr>
          <a:xfrm>
            <a:off x="3228465" y="2821462"/>
            <a:ext cx="137160" cy="137160"/>
          </a:xfrm>
          <a:prstGeom prst="ellipse">
            <a:avLst/>
          </a:prstGeom>
          <a:solidFill>
            <a:srgbClr val="0B2C4A"/>
          </a:solidFill>
          <a:ln/>
        </p:spPr>
      </p:sp>
      <p:sp>
        <p:nvSpPr>
          <p:cNvPr id="43" name="Shape 41"/>
          <p:cNvSpPr/>
          <p:nvPr/>
        </p:nvSpPr>
        <p:spPr>
          <a:xfrm>
            <a:off x="3252486" y="2821462"/>
            <a:ext cx="137160" cy="137160"/>
          </a:xfrm>
          <a:prstGeom prst="ellipse">
            <a:avLst/>
          </a:prstGeom>
          <a:solidFill>
            <a:srgbClr val="12A566"/>
          </a:solidFill>
          <a:ln/>
        </p:spPr>
      </p:sp>
      <p:sp>
        <p:nvSpPr>
          <p:cNvPr id="44" name="Text 42"/>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5" name="Text 43"/>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6" name="Text 44"/>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7" name="Text 45"/>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8" name="Shape 46"/>
          <p:cNvSpPr/>
          <p:nvPr/>
        </p:nvSpPr>
        <p:spPr>
          <a:xfrm>
            <a:off x="3525560" y="3101161"/>
            <a:ext cx="9144" cy="27432"/>
          </a:xfrm>
          <a:prstGeom prst="rect">
            <a:avLst/>
          </a:prstGeom>
          <a:solidFill>
            <a:srgbClr val="D9D9D9"/>
          </a:solidFill>
          <a:ln/>
        </p:spPr>
      </p:sp>
      <p:sp>
        <p:nvSpPr>
          <p:cNvPr id="49" name="Shape 47"/>
          <p:cNvSpPr/>
          <p:nvPr/>
        </p:nvSpPr>
        <p:spPr>
          <a:xfrm>
            <a:off x="3456980" y="3046297"/>
            <a:ext cx="137160" cy="137160"/>
          </a:xfrm>
          <a:prstGeom prst="ellipse">
            <a:avLst/>
          </a:prstGeom>
          <a:solidFill>
            <a:srgbClr val="0B2C4A"/>
          </a:solidFill>
          <a:ln/>
        </p:spPr>
      </p:sp>
      <p:sp>
        <p:nvSpPr>
          <p:cNvPr id="50" name="Shape 48"/>
          <p:cNvSpPr/>
          <p:nvPr/>
        </p:nvSpPr>
        <p:spPr>
          <a:xfrm>
            <a:off x="3462180" y="3046297"/>
            <a:ext cx="137160" cy="137160"/>
          </a:xfrm>
          <a:prstGeom prst="ellipse">
            <a:avLst/>
          </a:prstGeom>
          <a:solidFill>
            <a:srgbClr val="12A566"/>
          </a:solidFill>
          <a:ln/>
        </p:spPr>
      </p:sp>
      <p:sp>
        <p:nvSpPr>
          <p:cNvPr id="51" name="Text 49"/>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52" name="Text 50"/>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53" name="Text 51"/>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54" name="Shape 52"/>
          <p:cNvSpPr/>
          <p:nvPr/>
        </p:nvSpPr>
        <p:spPr>
          <a:xfrm>
            <a:off x="585216" y="3227294"/>
            <a:ext cx="5394960" cy="224835"/>
          </a:xfrm>
          <a:prstGeom prst="rect">
            <a:avLst/>
          </a:prstGeom>
          <a:solidFill>
            <a:srgbClr val="F7F7F7"/>
          </a:solidFill>
          <a:ln/>
        </p:spPr>
      </p:sp>
      <p:sp>
        <p:nvSpPr>
          <p:cNvPr id="55" name="Text 53"/>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6" name="Shape 54"/>
          <p:cNvSpPr/>
          <p:nvPr/>
        </p:nvSpPr>
        <p:spPr>
          <a:xfrm>
            <a:off x="3293929" y="3325996"/>
            <a:ext cx="38732" cy="27432"/>
          </a:xfrm>
          <a:prstGeom prst="rect">
            <a:avLst/>
          </a:prstGeom>
          <a:solidFill>
            <a:srgbClr val="D9D9D9"/>
          </a:solidFill>
          <a:ln/>
        </p:spPr>
      </p:sp>
      <p:sp>
        <p:nvSpPr>
          <p:cNvPr id="57" name="Shape 55"/>
          <p:cNvSpPr/>
          <p:nvPr/>
        </p:nvSpPr>
        <p:spPr>
          <a:xfrm>
            <a:off x="3264081" y="3271132"/>
            <a:ext cx="137160" cy="137160"/>
          </a:xfrm>
          <a:prstGeom prst="ellipse">
            <a:avLst/>
          </a:prstGeom>
          <a:solidFill>
            <a:srgbClr val="0B2C4A"/>
          </a:solidFill>
          <a:ln/>
        </p:spPr>
      </p:sp>
      <p:sp>
        <p:nvSpPr>
          <p:cNvPr id="58" name="Shape 56"/>
          <p:cNvSpPr/>
          <p:nvPr/>
        </p:nvSpPr>
        <p:spPr>
          <a:xfrm>
            <a:off x="3225349" y="3271132"/>
            <a:ext cx="137160" cy="137160"/>
          </a:xfrm>
          <a:prstGeom prst="ellipse">
            <a:avLst/>
          </a:prstGeom>
          <a:solidFill>
            <a:srgbClr val="12A566"/>
          </a:solidFill>
          <a:ln/>
        </p:spPr>
      </p:sp>
      <p:sp>
        <p:nvSpPr>
          <p:cNvPr id="59" name="Text 57"/>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60" name="Text 58"/>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61" name="Text 59"/>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 pts</a:t>
            </a:r>
            <a:endParaRPr lang="en-US" sz="1300" dirty="0"/>
          </a:p>
        </p:txBody>
      </p:sp>
      <p:sp>
        <p:nvSpPr>
          <p:cNvPr id="62" name="Text 60"/>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63" name="Shape 61"/>
          <p:cNvSpPr/>
          <p:nvPr/>
        </p:nvSpPr>
        <p:spPr>
          <a:xfrm>
            <a:off x="3326510" y="3550830"/>
            <a:ext cx="88590" cy="27432"/>
          </a:xfrm>
          <a:prstGeom prst="rect">
            <a:avLst/>
          </a:prstGeom>
          <a:solidFill>
            <a:srgbClr val="D9D9D9"/>
          </a:solidFill>
          <a:ln/>
        </p:spPr>
      </p:sp>
      <p:sp>
        <p:nvSpPr>
          <p:cNvPr id="64" name="Shape 62"/>
          <p:cNvSpPr/>
          <p:nvPr/>
        </p:nvSpPr>
        <p:spPr>
          <a:xfrm>
            <a:off x="3346520" y="3495966"/>
            <a:ext cx="137160" cy="137160"/>
          </a:xfrm>
          <a:prstGeom prst="ellipse">
            <a:avLst/>
          </a:prstGeom>
          <a:solidFill>
            <a:srgbClr val="0B2C4A"/>
          </a:solidFill>
          <a:ln/>
        </p:spPr>
      </p:sp>
      <p:sp>
        <p:nvSpPr>
          <p:cNvPr id="65" name="Shape 63"/>
          <p:cNvSpPr/>
          <p:nvPr/>
        </p:nvSpPr>
        <p:spPr>
          <a:xfrm>
            <a:off x="3257930" y="3495966"/>
            <a:ext cx="137160" cy="137160"/>
          </a:xfrm>
          <a:prstGeom prst="ellipse">
            <a:avLst/>
          </a:prstGeom>
          <a:solidFill>
            <a:srgbClr val="12A566"/>
          </a:solidFill>
          <a:ln/>
        </p:spPr>
      </p:sp>
      <p:sp>
        <p:nvSpPr>
          <p:cNvPr id="66" name="Text 6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67" name="Text 6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68" name="Text 6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69" name="Shape 67"/>
          <p:cNvSpPr/>
          <p:nvPr/>
        </p:nvSpPr>
        <p:spPr>
          <a:xfrm>
            <a:off x="585216" y="3676964"/>
            <a:ext cx="5394960" cy="224835"/>
          </a:xfrm>
          <a:prstGeom prst="rect">
            <a:avLst/>
          </a:prstGeom>
          <a:solidFill>
            <a:srgbClr val="F7F7F7"/>
          </a:solidFill>
          <a:ln/>
        </p:spPr>
      </p:sp>
      <p:sp>
        <p:nvSpPr>
          <p:cNvPr id="70" name="Text 6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1" name="Shape 69"/>
          <p:cNvSpPr/>
          <p:nvPr/>
        </p:nvSpPr>
        <p:spPr>
          <a:xfrm>
            <a:off x="3236489" y="3775665"/>
            <a:ext cx="90065" cy="27432"/>
          </a:xfrm>
          <a:prstGeom prst="rect">
            <a:avLst/>
          </a:prstGeom>
          <a:solidFill>
            <a:srgbClr val="D9D9D9"/>
          </a:solidFill>
          <a:ln/>
        </p:spPr>
      </p:sp>
      <p:sp>
        <p:nvSpPr>
          <p:cNvPr id="72" name="Shape 70"/>
          <p:cNvSpPr/>
          <p:nvPr/>
        </p:nvSpPr>
        <p:spPr>
          <a:xfrm>
            <a:off x="3257974" y="3720801"/>
            <a:ext cx="137160" cy="137160"/>
          </a:xfrm>
          <a:prstGeom prst="ellipse">
            <a:avLst/>
          </a:prstGeom>
          <a:solidFill>
            <a:srgbClr val="0B2C4A"/>
          </a:solidFill>
          <a:ln/>
        </p:spPr>
      </p:sp>
      <p:sp>
        <p:nvSpPr>
          <p:cNvPr id="73" name="Shape 71"/>
          <p:cNvSpPr/>
          <p:nvPr/>
        </p:nvSpPr>
        <p:spPr>
          <a:xfrm>
            <a:off x="3167909" y="3720801"/>
            <a:ext cx="137160" cy="137160"/>
          </a:xfrm>
          <a:prstGeom prst="ellipse">
            <a:avLst/>
          </a:prstGeom>
          <a:solidFill>
            <a:srgbClr val="12A566"/>
          </a:solidFill>
          <a:ln/>
        </p:spPr>
      </p:sp>
      <p:sp>
        <p:nvSpPr>
          <p:cNvPr id="74" name="Text 72"/>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75" name="Text 73"/>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76" name="Text 74"/>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77" name="Text 75"/>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78" name="Shape 76"/>
          <p:cNvSpPr/>
          <p:nvPr/>
        </p:nvSpPr>
        <p:spPr>
          <a:xfrm>
            <a:off x="3465703" y="4000500"/>
            <a:ext cx="91132" cy="27432"/>
          </a:xfrm>
          <a:prstGeom prst="rect">
            <a:avLst/>
          </a:prstGeom>
          <a:solidFill>
            <a:srgbClr val="D9D9D9"/>
          </a:solidFill>
          <a:ln/>
        </p:spPr>
      </p:sp>
      <p:sp>
        <p:nvSpPr>
          <p:cNvPr id="79" name="Shape 77"/>
          <p:cNvSpPr/>
          <p:nvPr/>
        </p:nvSpPr>
        <p:spPr>
          <a:xfrm>
            <a:off x="3488255" y="3945636"/>
            <a:ext cx="137160" cy="137160"/>
          </a:xfrm>
          <a:prstGeom prst="ellipse">
            <a:avLst/>
          </a:prstGeom>
          <a:solidFill>
            <a:srgbClr val="0B2C4A"/>
          </a:solidFill>
          <a:ln/>
        </p:spPr>
      </p:sp>
      <p:sp>
        <p:nvSpPr>
          <p:cNvPr id="80" name="Shape 78"/>
          <p:cNvSpPr/>
          <p:nvPr/>
        </p:nvSpPr>
        <p:spPr>
          <a:xfrm>
            <a:off x="3397123" y="3945636"/>
            <a:ext cx="137160" cy="137160"/>
          </a:xfrm>
          <a:prstGeom prst="ellipse">
            <a:avLst/>
          </a:prstGeom>
          <a:solidFill>
            <a:srgbClr val="12A566"/>
          </a:solidFill>
          <a:ln/>
        </p:spPr>
      </p:sp>
      <p:sp>
        <p:nvSpPr>
          <p:cNvPr id="81" name="Text 79"/>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82" name="Text 80"/>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83" name="Text 81"/>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84" name="Shape 82"/>
          <p:cNvSpPr/>
          <p:nvPr/>
        </p:nvSpPr>
        <p:spPr>
          <a:xfrm>
            <a:off x="585216" y="4126633"/>
            <a:ext cx="5394960" cy="224835"/>
          </a:xfrm>
          <a:prstGeom prst="rect">
            <a:avLst/>
          </a:prstGeom>
          <a:solidFill>
            <a:srgbClr val="F7F7F7"/>
          </a:solidFill>
          <a:ln/>
        </p:spPr>
      </p:sp>
      <p:sp>
        <p:nvSpPr>
          <p:cNvPr id="85" name="Text 83"/>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6" name="Shape 84"/>
          <p:cNvSpPr/>
          <p:nvPr/>
        </p:nvSpPr>
        <p:spPr>
          <a:xfrm>
            <a:off x="3309192" y="4225335"/>
            <a:ext cx="137893" cy="27432"/>
          </a:xfrm>
          <a:prstGeom prst="rect">
            <a:avLst/>
          </a:prstGeom>
          <a:solidFill>
            <a:srgbClr val="D9D9D9"/>
          </a:solidFill>
          <a:ln/>
        </p:spPr>
      </p:sp>
      <p:sp>
        <p:nvSpPr>
          <p:cNvPr id="87" name="Shape 85"/>
          <p:cNvSpPr/>
          <p:nvPr/>
        </p:nvSpPr>
        <p:spPr>
          <a:xfrm>
            <a:off x="3378505" y="4170471"/>
            <a:ext cx="137160" cy="137160"/>
          </a:xfrm>
          <a:prstGeom prst="ellipse">
            <a:avLst/>
          </a:prstGeom>
          <a:solidFill>
            <a:srgbClr val="0B2C4A"/>
          </a:solidFill>
          <a:ln/>
        </p:spPr>
      </p:sp>
      <p:sp>
        <p:nvSpPr>
          <p:cNvPr id="88" name="Shape 86"/>
          <p:cNvSpPr/>
          <p:nvPr/>
        </p:nvSpPr>
        <p:spPr>
          <a:xfrm>
            <a:off x="3240612" y="4170471"/>
            <a:ext cx="137160" cy="137160"/>
          </a:xfrm>
          <a:prstGeom prst="ellipse">
            <a:avLst/>
          </a:prstGeom>
          <a:solidFill>
            <a:srgbClr val="12A566"/>
          </a:solidFill>
          <a:ln/>
        </p:spPr>
      </p:sp>
      <p:sp>
        <p:nvSpPr>
          <p:cNvPr id="89" name="Text 87"/>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90" name="Text 88"/>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91" name="Text 89"/>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−3.8 pts</a:t>
            </a:r>
            <a:endParaRPr lang="en-US" sz="1300" dirty="0"/>
          </a:p>
        </p:txBody>
      </p:sp>
      <p:sp>
        <p:nvSpPr>
          <p:cNvPr id="92" name="Text 90"/>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93" name="Shape 91"/>
          <p:cNvSpPr/>
          <p:nvPr/>
        </p:nvSpPr>
        <p:spPr>
          <a:xfrm>
            <a:off x="3302099" y="4450170"/>
            <a:ext cx="138887" cy="27432"/>
          </a:xfrm>
          <a:prstGeom prst="rect">
            <a:avLst/>
          </a:prstGeom>
          <a:solidFill>
            <a:srgbClr val="D9D9D9"/>
          </a:solidFill>
          <a:ln/>
        </p:spPr>
      </p:sp>
      <p:sp>
        <p:nvSpPr>
          <p:cNvPr id="94" name="Shape 92"/>
          <p:cNvSpPr/>
          <p:nvPr/>
        </p:nvSpPr>
        <p:spPr>
          <a:xfrm>
            <a:off x="3372406" y="4395306"/>
            <a:ext cx="137160" cy="137160"/>
          </a:xfrm>
          <a:prstGeom prst="ellipse">
            <a:avLst/>
          </a:prstGeom>
          <a:solidFill>
            <a:srgbClr val="0B2C4A"/>
          </a:solidFill>
          <a:ln/>
        </p:spPr>
      </p:sp>
      <p:sp>
        <p:nvSpPr>
          <p:cNvPr id="95" name="Shape 93"/>
          <p:cNvSpPr/>
          <p:nvPr/>
        </p:nvSpPr>
        <p:spPr>
          <a:xfrm>
            <a:off x="3233519" y="4395306"/>
            <a:ext cx="137160" cy="137160"/>
          </a:xfrm>
          <a:prstGeom prst="ellipse">
            <a:avLst/>
          </a:prstGeom>
          <a:solidFill>
            <a:srgbClr val="12A566"/>
          </a:solidFill>
          <a:ln/>
        </p:spPr>
      </p:sp>
      <p:sp>
        <p:nvSpPr>
          <p:cNvPr id="96" name="Text 94"/>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97" name="Text 95"/>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98" name="Text 96"/>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99" name="Shape 97"/>
          <p:cNvSpPr/>
          <p:nvPr/>
        </p:nvSpPr>
        <p:spPr>
          <a:xfrm>
            <a:off x="585216" y="4576303"/>
            <a:ext cx="5394960" cy="224835"/>
          </a:xfrm>
          <a:prstGeom prst="rect">
            <a:avLst/>
          </a:prstGeom>
          <a:solidFill>
            <a:srgbClr val="F7F7F7"/>
          </a:solidFill>
          <a:ln/>
        </p:spPr>
      </p:sp>
      <p:sp>
        <p:nvSpPr>
          <p:cNvPr id="100" name="Text 98"/>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1" name="Shape 99"/>
          <p:cNvSpPr/>
          <p:nvPr/>
        </p:nvSpPr>
        <p:spPr>
          <a:xfrm>
            <a:off x="3317186" y="4675004"/>
            <a:ext cx="185749" cy="27432"/>
          </a:xfrm>
          <a:prstGeom prst="rect">
            <a:avLst/>
          </a:prstGeom>
          <a:solidFill>
            <a:srgbClr val="D9D9D9"/>
          </a:solidFill>
          <a:ln/>
        </p:spPr>
      </p:sp>
      <p:sp>
        <p:nvSpPr>
          <p:cNvPr id="102" name="Shape 100"/>
          <p:cNvSpPr/>
          <p:nvPr/>
        </p:nvSpPr>
        <p:spPr>
          <a:xfrm>
            <a:off x="3434355" y="4620140"/>
            <a:ext cx="137160" cy="137160"/>
          </a:xfrm>
          <a:prstGeom prst="ellipse">
            <a:avLst/>
          </a:prstGeom>
          <a:solidFill>
            <a:srgbClr val="0B2C4A"/>
          </a:solidFill>
          <a:ln/>
        </p:spPr>
      </p:sp>
      <p:sp>
        <p:nvSpPr>
          <p:cNvPr id="103" name="Shape 101"/>
          <p:cNvSpPr/>
          <p:nvPr/>
        </p:nvSpPr>
        <p:spPr>
          <a:xfrm>
            <a:off x="3248606" y="4620140"/>
            <a:ext cx="137160" cy="137160"/>
          </a:xfrm>
          <a:prstGeom prst="ellipse">
            <a:avLst/>
          </a:prstGeom>
          <a:solidFill>
            <a:srgbClr val="C2352F"/>
          </a:solidFill>
          <a:ln/>
        </p:spPr>
      </p:sp>
      <p:sp>
        <p:nvSpPr>
          <p:cNvPr id="104" name="Text 10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05" name="Text 10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106" name="Text 10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107" name="Text 10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08" name="Shape 106"/>
          <p:cNvSpPr/>
          <p:nvPr/>
        </p:nvSpPr>
        <p:spPr>
          <a:xfrm>
            <a:off x="3123543" y="4899839"/>
            <a:ext cx="203752" cy="27432"/>
          </a:xfrm>
          <a:prstGeom prst="rect">
            <a:avLst/>
          </a:prstGeom>
          <a:solidFill>
            <a:srgbClr val="D9D9D9"/>
          </a:solidFill>
          <a:ln/>
        </p:spPr>
      </p:sp>
      <p:sp>
        <p:nvSpPr>
          <p:cNvPr id="109" name="Shape 107"/>
          <p:cNvSpPr/>
          <p:nvPr/>
        </p:nvSpPr>
        <p:spPr>
          <a:xfrm>
            <a:off x="3258715" y="4844975"/>
            <a:ext cx="137160" cy="137160"/>
          </a:xfrm>
          <a:prstGeom prst="ellipse">
            <a:avLst/>
          </a:prstGeom>
          <a:solidFill>
            <a:srgbClr val="0B2C4A"/>
          </a:solidFill>
          <a:ln/>
        </p:spPr>
      </p:sp>
      <p:sp>
        <p:nvSpPr>
          <p:cNvPr id="110" name="Shape 108"/>
          <p:cNvSpPr/>
          <p:nvPr/>
        </p:nvSpPr>
        <p:spPr>
          <a:xfrm>
            <a:off x="3054963" y="4844975"/>
            <a:ext cx="137160" cy="137160"/>
          </a:xfrm>
          <a:prstGeom prst="ellipse">
            <a:avLst/>
          </a:prstGeom>
          <a:solidFill>
            <a:srgbClr val="C2352F"/>
          </a:solidFill>
          <a:ln/>
        </p:spPr>
      </p:sp>
      <p:sp>
        <p:nvSpPr>
          <p:cNvPr id="111" name="Text 109"/>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112" name="Text 110"/>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113" name="Text 111"/>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114" name="Shape 112"/>
          <p:cNvSpPr/>
          <p:nvPr/>
        </p:nvSpPr>
        <p:spPr>
          <a:xfrm>
            <a:off x="585216" y="5025973"/>
            <a:ext cx="5394960" cy="224835"/>
          </a:xfrm>
          <a:prstGeom prst="rect">
            <a:avLst/>
          </a:prstGeom>
          <a:solidFill>
            <a:srgbClr val="F7F7F7"/>
          </a:solidFill>
          <a:ln/>
        </p:spPr>
      </p:sp>
      <p:sp>
        <p:nvSpPr>
          <p:cNvPr id="115" name="Text 113"/>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16" name="Shape 114"/>
          <p:cNvSpPr/>
          <p:nvPr/>
        </p:nvSpPr>
        <p:spPr>
          <a:xfrm>
            <a:off x="3323749" y="5124674"/>
            <a:ext cx="208184" cy="27432"/>
          </a:xfrm>
          <a:prstGeom prst="rect">
            <a:avLst/>
          </a:prstGeom>
          <a:solidFill>
            <a:srgbClr val="D9D9D9"/>
          </a:solidFill>
          <a:ln/>
        </p:spPr>
      </p:sp>
      <p:sp>
        <p:nvSpPr>
          <p:cNvPr id="117" name="Shape 115"/>
          <p:cNvSpPr/>
          <p:nvPr/>
        </p:nvSpPr>
        <p:spPr>
          <a:xfrm>
            <a:off x="3463352" y="5069810"/>
            <a:ext cx="137160" cy="137160"/>
          </a:xfrm>
          <a:prstGeom prst="ellipse">
            <a:avLst/>
          </a:prstGeom>
          <a:solidFill>
            <a:srgbClr val="0B2C4A"/>
          </a:solidFill>
          <a:ln/>
        </p:spPr>
      </p:sp>
      <p:sp>
        <p:nvSpPr>
          <p:cNvPr id="118" name="Shape 116"/>
          <p:cNvSpPr/>
          <p:nvPr/>
        </p:nvSpPr>
        <p:spPr>
          <a:xfrm>
            <a:off x="3255169" y="5069810"/>
            <a:ext cx="137160" cy="137160"/>
          </a:xfrm>
          <a:prstGeom prst="ellipse">
            <a:avLst/>
          </a:prstGeom>
          <a:solidFill>
            <a:srgbClr val="C2352F"/>
          </a:solidFill>
          <a:ln/>
        </p:spPr>
      </p:sp>
      <p:sp>
        <p:nvSpPr>
          <p:cNvPr id="119" name="Text 117"/>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120" name="Text 118"/>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121" name="Text 119"/>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122" name="Text 120"/>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3196577" y="5349509"/>
            <a:ext cx="215767" cy="27432"/>
          </a:xfrm>
          <a:prstGeom prst="rect">
            <a:avLst/>
          </a:prstGeom>
          <a:solidFill>
            <a:srgbClr val="D9D9D9"/>
          </a:solidFill>
          <a:ln/>
        </p:spPr>
      </p:sp>
      <p:sp>
        <p:nvSpPr>
          <p:cNvPr id="124" name="Shape 122"/>
          <p:cNvSpPr/>
          <p:nvPr/>
        </p:nvSpPr>
        <p:spPr>
          <a:xfrm>
            <a:off x="3343763" y="5294645"/>
            <a:ext cx="137160" cy="137160"/>
          </a:xfrm>
          <a:prstGeom prst="ellipse">
            <a:avLst/>
          </a:prstGeom>
          <a:solidFill>
            <a:srgbClr val="0B2C4A"/>
          </a:solidFill>
          <a:ln/>
        </p:spPr>
      </p:sp>
      <p:sp>
        <p:nvSpPr>
          <p:cNvPr id="125" name="Shape 123"/>
          <p:cNvSpPr/>
          <p:nvPr/>
        </p:nvSpPr>
        <p:spPr>
          <a:xfrm>
            <a:off x="3127997" y="5294645"/>
            <a:ext cx="137160" cy="137160"/>
          </a:xfrm>
          <a:prstGeom prst="ellipse">
            <a:avLst/>
          </a:prstGeom>
          <a:solidFill>
            <a:srgbClr val="C2352F"/>
          </a:solidFill>
          <a:ln/>
        </p:spPr>
      </p:sp>
      <p:sp>
        <p:nvSpPr>
          <p:cNvPr id="126" name="Text 124"/>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27" name="Text 125"/>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28" name="Text 126"/>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29" name="Shape 127"/>
          <p:cNvSpPr/>
          <p:nvPr/>
        </p:nvSpPr>
        <p:spPr>
          <a:xfrm>
            <a:off x="585216" y="5475642"/>
            <a:ext cx="5394960" cy="224835"/>
          </a:xfrm>
          <a:prstGeom prst="rect">
            <a:avLst/>
          </a:prstGeom>
          <a:solidFill>
            <a:srgbClr val="F7F7F7"/>
          </a:solidFill>
          <a:ln/>
        </p:spPr>
      </p:sp>
      <p:sp>
        <p:nvSpPr>
          <p:cNvPr id="130" name="Text 128"/>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31" name="Shape 129"/>
          <p:cNvSpPr/>
          <p:nvPr/>
        </p:nvSpPr>
        <p:spPr>
          <a:xfrm>
            <a:off x="3094741" y="5574344"/>
            <a:ext cx="228552" cy="27432"/>
          </a:xfrm>
          <a:prstGeom prst="rect">
            <a:avLst/>
          </a:prstGeom>
          <a:solidFill>
            <a:srgbClr val="D9D9D9"/>
          </a:solidFill>
          <a:ln/>
        </p:spPr>
      </p:sp>
      <p:sp>
        <p:nvSpPr>
          <p:cNvPr id="132" name="Shape 130"/>
          <p:cNvSpPr/>
          <p:nvPr/>
        </p:nvSpPr>
        <p:spPr>
          <a:xfrm>
            <a:off x="3254713" y="5519480"/>
            <a:ext cx="137160" cy="137160"/>
          </a:xfrm>
          <a:prstGeom prst="ellipse">
            <a:avLst/>
          </a:prstGeom>
          <a:solidFill>
            <a:srgbClr val="0B2C4A"/>
          </a:solidFill>
          <a:ln/>
        </p:spPr>
      </p:sp>
      <p:sp>
        <p:nvSpPr>
          <p:cNvPr id="133" name="Shape 131"/>
          <p:cNvSpPr/>
          <p:nvPr/>
        </p:nvSpPr>
        <p:spPr>
          <a:xfrm>
            <a:off x="3026161" y="5519480"/>
            <a:ext cx="137160" cy="137160"/>
          </a:xfrm>
          <a:prstGeom prst="ellipse">
            <a:avLst/>
          </a:prstGeom>
          <a:solidFill>
            <a:srgbClr val="C2352F"/>
          </a:solidFill>
          <a:ln/>
        </p:spPr>
      </p:sp>
      <p:sp>
        <p:nvSpPr>
          <p:cNvPr id="134" name="Text 132"/>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35" name="Text 133"/>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36" name="Text 134"/>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37" name="Text 135"/>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38" name="Shape 136"/>
          <p:cNvSpPr/>
          <p:nvPr/>
        </p:nvSpPr>
        <p:spPr>
          <a:xfrm>
            <a:off x="3425612" y="5799179"/>
            <a:ext cx="259829" cy="27432"/>
          </a:xfrm>
          <a:prstGeom prst="rect">
            <a:avLst/>
          </a:prstGeom>
          <a:solidFill>
            <a:srgbClr val="D9D9D9"/>
          </a:solidFill>
          <a:ln/>
        </p:spPr>
      </p:sp>
      <p:sp>
        <p:nvSpPr>
          <p:cNvPr id="139" name="Shape 137"/>
          <p:cNvSpPr/>
          <p:nvPr/>
        </p:nvSpPr>
        <p:spPr>
          <a:xfrm>
            <a:off x="3616861" y="5744315"/>
            <a:ext cx="137160" cy="137160"/>
          </a:xfrm>
          <a:prstGeom prst="ellipse">
            <a:avLst/>
          </a:prstGeom>
          <a:solidFill>
            <a:srgbClr val="0B2C4A"/>
          </a:solidFill>
          <a:ln/>
        </p:spPr>
      </p:sp>
      <p:sp>
        <p:nvSpPr>
          <p:cNvPr id="140" name="Shape 138"/>
          <p:cNvSpPr/>
          <p:nvPr/>
        </p:nvSpPr>
        <p:spPr>
          <a:xfrm>
            <a:off x="3357032" y="5744315"/>
            <a:ext cx="137160" cy="137160"/>
          </a:xfrm>
          <a:prstGeom prst="ellipse">
            <a:avLst/>
          </a:prstGeom>
          <a:solidFill>
            <a:srgbClr val="C2352F"/>
          </a:solidFill>
          <a:ln/>
        </p:spPr>
      </p:sp>
      <p:sp>
        <p:nvSpPr>
          <p:cNvPr id="141" name="Text 13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42" name="Text 14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43" name="Text 14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44" name="Text 14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45" name="Shape 143"/>
          <p:cNvSpPr/>
          <p:nvPr/>
        </p:nvSpPr>
        <p:spPr>
          <a:xfrm>
            <a:off x="8487596" y="2201821"/>
            <a:ext cx="269238" cy="27432"/>
          </a:xfrm>
          <a:prstGeom prst="rect">
            <a:avLst/>
          </a:prstGeom>
          <a:solidFill>
            <a:srgbClr val="D9D9D9"/>
          </a:solidFill>
          <a:ln/>
        </p:spPr>
      </p:sp>
      <p:sp>
        <p:nvSpPr>
          <p:cNvPr id="146" name="Shape 144"/>
          <p:cNvSpPr/>
          <p:nvPr/>
        </p:nvSpPr>
        <p:spPr>
          <a:xfrm>
            <a:off x="8688254" y="2146957"/>
            <a:ext cx="137160" cy="137160"/>
          </a:xfrm>
          <a:prstGeom prst="ellipse">
            <a:avLst/>
          </a:prstGeom>
          <a:solidFill>
            <a:srgbClr val="0B2C4A"/>
          </a:solidFill>
          <a:ln/>
        </p:spPr>
      </p:sp>
      <p:sp>
        <p:nvSpPr>
          <p:cNvPr id="147" name="Shape 145"/>
          <p:cNvSpPr/>
          <p:nvPr/>
        </p:nvSpPr>
        <p:spPr>
          <a:xfrm>
            <a:off x="8419016" y="2146957"/>
            <a:ext cx="137160" cy="137160"/>
          </a:xfrm>
          <a:prstGeom prst="ellipse">
            <a:avLst/>
          </a:prstGeom>
          <a:solidFill>
            <a:srgbClr val="C2352F"/>
          </a:solidFill>
          <a:ln/>
        </p:spPr>
      </p:sp>
      <p:sp>
        <p:nvSpPr>
          <p:cNvPr id="148" name="Text 146"/>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49" name="Text 147"/>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50" name="Text 148"/>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51" name="Shape 149"/>
          <p:cNvSpPr/>
          <p:nvPr/>
        </p:nvSpPr>
        <p:spPr>
          <a:xfrm>
            <a:off x="6135624" y="2327955"/>
            <a:ext cx="5394960" cy="224835"/>
          </a:xfrm>
          <a:prstGeom prst="rect">
            <a:avLst/>
          </a:prstGeom>
          <a:solidFill>
            <a:srgbClr val="F7F7F7"/>
          </a:solidFill>
          <a:ln/>
        </p:spPr>
      </p:sp>
      <p:sp>
        <p:nvSpPr>
          <p:cNvPr id="152" name="Text 150"/>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53" name="Shape 151"/>
          <p:cNvSpPr/>
          <p:nvPr/>
        </p:nvSpPr>
        <p:spPr>
          <a:xfrm>
            <a:off x="8864741" y="2426656"/>
            <a:ext cx="281040" cy="27432"/>
          </a:xfrm>
          <a:prstGeom prst="rect">
            <a:avLst/>
          </a:prstGeom>
          <a:solidFill>
            <a:srgbClr val="D9D9D9"/>
          </a:solidFill>
          <a:ln/>
        </p:spPr>
      </p:sp>
      <p:sp>
        <p:nvSpPr>
          <p:cNvPr id="154" name="Shape 152"/>
          <p:cNvSpPr/>
          <p:nvPr/>
        </p:nvSpPr>
        <p:spPr>
          <a:xfrm>
            <a:off x="9077201" y="2371792"/>
            <a:ext cx="137160" cy="137160"/>
          </a:xfrm>
          <a:prstGeom prst="ellipse">
            <a:avLst/>
          </a:prstGeom>
          <a:solidFill>
            <a:srgbClr val="0B2C4A"/>
          </a:solidFill>
          <a:ln/>
        </p:spPr>
      </p:sp>
      <p:sp>
        <p:nvSpPr>
          <p:cNvPr id="155" name="Shape 153"/>
          <p:cNvSpPr/>
          <p:nvPr/>
        </p:nvSpPr>
        <p:spPr>
          <a:xfrm>
            <a:off x="8796161" y="2371792"/>
            <a:ext cx="137160" cy="137160"/>
          </a:xfrm>
          <a:prstGeom prst="ellipse">
            <a:avLst/>
          </a:prstGeom>
          <a:solidFill>
            <a:srgbClr val="C2352F"/>
          </a:solidFill>
          <a:ln/>
        </p:spPr>
      </p:sp>
      <p:sp>
        <p:nvSpPr>
          <p:cNvPr id="156" name="Text 154"/>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57" name="Text 155"/>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58" name="Text 156"/>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59" name="Text 157"/>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60" name="Shape 158"/>
          <p:cNvSpPr/>
          <p:nvPr/>
        </p:nvSpPr>
        <p:spPr>
          <a:xfrm>
            <a:off x="9028280" y="2651491"/>
            <a:ext cx="281876" cy="27432"/>
          </a:xfrm>
          <a:prstGeom prst="rect">
            <a:avLst/>
          </a:prstGeom>
          <a:solidFill>
            <a:srgbClr val="D9D9D9"/>
          </a:solidFill>
          <a:ln/>
        </p:spPr>
      </p:sp>
      <p:sp>
        <p:nvSpPr>
          <p:cNvPr id="161" name="Shape 159"/>
          <p:cNvSpPr/>
          <p:nvPr/>
        </p:nvSpPr>
        <p:spPr>
          <a:xfrm>
            <a:off x="9241576" y="2596627"/>
            <a:ext cx="137160" cy="137160"/>
          </a:xfrm>
          <a:prstGeom prst="ellipse">
            <a:avLst/>
          </a:prstGeom>
          <a:solidFill>
            <a:srgbClr val="0B2C4A"/>
          </a:solidFill>
          <a:ln/>
        </p:spPr>
      </p:sp>
      <p:sp>
        <p:nvSpPr>
          <p:cNvPr id="162" name="Shape 160"/>
          <p:cNvSpPr/>
          <p:nvPr/>
        </p:nvSpPr>
        <p:spPr>
          <a:xfrm>
            <a:off x="8959700" y="2596627"/>
            <a:ext cx="137160" cy="137160"/>
          </a:xfrm>
          <a:prstGeom prst="ellipse">
            <a:avLst/>
          </a:prstGeom>
          <a:solidFill>
            <a:srgbClr val="C2352F"/>
          </a:solidFill>
          <a:ln/>
        </p:spPr>
      </p:sp>
      <p:sp>
        <p:nvSpPr>
          <p:cNvPr id="163" name="Text 161"/>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64" name="Text 162"/>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65" name="Text 163"/>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66" name="Shape 164"/>
          <p:cNvSpPr/>
          <p:nvPr/>
        </p:nvSpPr>
        <p:spPr>
          <a:xfrm>
            <a:off x="6135624" y="2777624"/>
            <a:ext cx="5394960" cy="224835"/>
          </a:xfrm>
          <a:prstGeom prst="rect">
            <a:avLst/>
          </a:prstGeom>
          <a:solidFill>
            <a:srgbClr val="F7F7F7"/>
          </a:solidFill>
          <a:ln/>
        </p:spPr>
      </p:sp>
      <p:sp>
        <p:nvSpPr>
          <p:cNvPr id="167" name="Text 165"/>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68" name="Shape 166"/>
          <p:cNvSpPr/>
          <p:nvPr/>
        </p:nvSpPr>
        <p:spPr>
          <a:xfrm>
            <a:off x="8809703" y="2876326"/>
            <a:ext cx="304317" cy="27432"/>
          </a:xfrm>
          <a:prstGeom prst="rect">
            <a:avLst/>
          </a:prstGeom>
          <a:solidFill>
            <a:srgbClr val="D9D9D9"/>
          </a:solidFill>
          <a:ln/>
        </p:spPr>
      </p:sp>
      <p:sp>
        <p:nvSpPr>
          <p:cNvPr id="169" name="Shape 167"/>
          <p:cNvSpPr/>
          <p:nvPr/>
        </p:nvSpPr>
        <p:spPr>
          <a:xfrm>
            <a:off x="9045441" y="2821462"/>
            <a:ext cx="137160" cy="137160"/>
          </a:xfrm>
          <a:prstGeom prst="ellipse">
            <a:avLst/>
          </a:prstGeom>
          <a:solidFill>
            <a:srgbClr val="0B2C4A"/>
          </a:solidFill>
          <a:ln/>
        </p:spPr>
      </p:sp>
      <p:sp>
        <p:nvSpPr>
          <p:cNvPr id="170" name="Shape 168"/>
          <p:cNvSpPr/>
          <p:nvPr/>
        </p:nvSpPr>
        <p:spPr>
          <a:xfrm>
            <a:off x="8741123" y="2821462"/>
            <a:ext cx="137160" cy="137160"/>
          </a:xfrm>
          <a:prstGeom prst="ellipse">
            <a:avLst/>
          </a:prstGeom>
          <a:solidFill>
            <a:srgbClr val="C2352F"/>
          </a:solidFill>
          <a:ln/>
        </p:spPr>
      </p:sp>
      <p:sp>
        <p:nvSpPr>
          <p:cNvPr id="171" name="Text 169"/>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72" name="Text 170"/>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73" name="Text 171"/>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74" name="Text 172"/>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75" name="Shape 173"/>
          <p:cNvSpPr/>
          <p:nvPr/>
        </p:nvSpPr>
        <p:spPr>
          <a:xfrm>
            <a:off x="8785895" y="3101161"/>
            <a:ext cx="309616" cy="27432"/>
          </a:xfrm>
          <a:prstGeom prst="rect">
            <a:avLst/>
          </a:prstGeom>
          <a:solidFill>
            <a:srgbClr val="D9D9D9"/>
          </a:solidFill>
          <a:ln/>
        </p:spPr>
      </p:sp>
      <p:sp>
        <p:nvSpPr>
          <p:cNvPr id="176" name="Shape 174"/>
          <p:cNvSpPr/>
          <p:nvPr/>
        </p:nvSpPr>
        <p:spPr>
          <a:xfrm>
            <a:off x="9026931" y="3046297"/>
            <a:ext cx="137160" cy="137160"/>
          </a:xfrm>
          <a:prstGeom prst="ellipse">
            <a:avLst/>
          </a:prstGeom>
          <a:solidFill>
            <a:srgbClr val="0B2C4A"/>
          </a:solidFill>
          <a:ln/>
        </p:spPr>
      </p:sp>
      <p:sp>
        <p:nvSpPr>
          <p:cNvPr id="177" name="Shape 175"/>
          <p:cNvSpPr/>
          <p:nvPr/>
        </p:nvSpPr>
        <p:spPr>
          <a:xfrm>
            <a:off x="8717315" y="3046297"/>
            <a:ext cx="137160" cy="137160"/>
          </a:xfrm>
          <a:prstGeom prst="ellipse">
            <a:avLst/>
          </a:prstGeom>
          <a:solidFill>
            <a:srgbClr val="C2352F"/>
          </a:solidFill>
          <a:ln/>
        </p:spPr>
      </p:sp>
      <p:sp>
        <p:nvSpPr>
          <p:cNvPr id="178" name="Text 17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79" name="Text 17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80" name="Text 17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81" name="Shape 179"/>
          <p:cNvSpPr/>
          <p:nvPr/>
        </p:nvSpPr>
        <p:spPr>
          <a:xfrm>
            <a:off x="6135624" y="3227294"/>
            <a:ext cx="5394960" cy="224835"/>
          </a:xfrm>
          <a:prstGeom prst="rect">
            <a:avLst/>
          </a:prstGeom>
          <a:solidFill>
            <a:srgbClr val="F7F7F7"/>
          </a:solidFill>
          <a:ln/>
        </p:spPr>
      </p:sp>
      <p:sp>
        <p:nvSpPr>
          <p:cNvPr id="182" name="Text 18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83" name="Shape 181"/>
          <p:cNvSpPr/>
          <p:nvPr/>
        </p:nvSpPr>
        <p:spPr>
          <a:xfrm>
            <a:off x="8728317" y="3325996"/>
            <a:ext cx="317185" cy="27432"/>
          </a:xfrm>
          <a:prstGeom prst="rect">
            <a:avLst/>
          </a:prstGeom>
          <a:solidFill>
            <a:srgbClr val="D9D9D9"/>
          </a:solidFill>
          <a:ln/>
        </p:spPr>
      </p:sp>
      <p:sp>
        <p:nvSpPr>
          <p:cNvPr id="184" name="Shape 182"/>
          <p:cNvSpPr/>
          <p:nvPr/>
        </p:nvSpPr>
        <p:spPr>
          <a:xfrm>
            <a:off x="8976922" y="3271132"/>
            <a:ext cx="137160" cy="137160"/>
          </a:xfrm>
          <a:prstGeom prst="ellipse">
            <a:avLst/>
          </a:prstGeom>
          <a:solidFill>
            <a:srgbClr val="0B2C4A"/>
          </a:solidFill>
          <a:ln/>
        </p:spPr>
      </p:sp>
      <p:sp>
        <p:nvSpPr>
          <p:cNvPr id="185" name="Shape 183"/>
          <p:cNvSpPr/>
          <p:nvPr/>
        </p:nvSpPr>
        <p:spPr>
          <a:xfrm>
            <a:off x="8659737" y="3271132"/>
            <a:ext cx="137160" cy="137160"/>
          </a:xfrm>
          <a:prstGeom prst="ellipse">
            <a:avLst/>
          </a:prstGeom>
          <a:solidFill>
            <a:srgbClr val="C2352F"/>
          </a:solidFill>
          <a:ln/>
        </p:spPr>
      </p:sp>
      <p:sp>
        <p:nvSpPr>
          <p:cNvPr id="186" name="Text 184"/>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87" name="Text 185"/>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88" name="Text 186"/>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89" name="Text 187"/>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90" name="Shape 188"/>
          <p:cNvSpPr/>
          <p:nvPr/>
        </p:nvSpPr>
        <p:spPr>
          <a:xfrm>
            <a:off x="8717087" y="3550830"/>
            <a:ext cx="358717" cy="27432"/>
          </a:xfrm>
          <a:prstGeom prst="rect">
            <a:avLst/>
          </a:prstGeom>
          <a:solidFill>
            <a:srgbClr val="D9D9D9"/>
          </a:solidFill>
          <a:ln/>
        </p:spPr>
      </p:sp>
      <p:sp>
        <p:nvSpPr>
          <p:cNvPr id="191" name="Shape 189"/>
          <p:cNvSpPr/>
          <p:nvPr/>
        </p:nvSpPr>
        <p:spPr>
          <a:xfrm>
            <a:off x="9007225" y="3495966"/>
            <a:ext cx="137160" cy="137160"/>
          </a:xfrm>
          <a:prstGeom prst="ellipse">
            <a:avLst/>
          </a:prstGeom>
          <a:solidFill>
            <a:srgbClr val="0B2C4A"/>
          </a:solidFill>
          <a:ln/>
        </p:spPr>
      </p:sp>
      <p:sp>
        <p:nvSpPr>
          <p:cNvPr id="192" name="Shape 190"/>
          <p:cNvSpPr/>
          <p:nvPr/>
        </p:nvSpPr>
        <p:spPr>
          <a:xfrm>
            <a:off x="8648507" y="3495966"/>
            <a:ext cx="137160" cy="137160"/>
          </a:xfrm>
          <a:prstGeom prst="ellipse">
            <a:avLst/>
          </a:prstGeom>
          <a:solidFill>
            <a:srgbClr val="C2352F"/>
          </a:solidFill>
          <a:ln/>
        </p:spPr>
      </p:sp>
      <p:sp>
        <p:nvSpPr>
          <p:cNvPr id="193" name="Text 191"/>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94" name="Text 192"/>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95" name="Text 193"/>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96" name="Shape 194"/>
          <p:cNvSpPr/>
          <p:nvPr/>
        </p:nvSpPr>
        <p:spPr>
          <a:xfrm>
            <a:off x="6135624" y="3676964"/>
            <a:ext cx="5394960" cy="224835"/>
          </a:xfrm>
          <a:prstGeom prst="rect">
            <a:avLst/>
          </a:prstGeom>
          <a:solidFill>
            <a:srgbClr val="F7F7F7"/>
          </a:solidFill>
          <a:ln/>
        </p:spPr>
      </p:sp>
      <p:sp>
        <p:nvSpPr>
          <p:cNvPr id="197" name="Text 195"/>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98" name="Shape 196"/>
          <p:cNvSpPr/>
          <p:nvPr/>
        </p:nvSpPr>
        <p:spPr>
          <a:xfrm>
            <a:off x="8512041" y="3775665"/>
            <a:ext cx="362283" cy="27432"/>
          </a:xfrm>
          <a:prstGeom prst="rect">
            <a:avLst/>
          </a:prstGeom>
          <a:solidFill>
            <a:srgbClr val="D9D9D9"/>
          </a:solidFill>
          <a:ln/>
        </p:spPr>
      </p:sp>
      <p:sp>
        <p:nvSpPr>
          <p:cNvPr id="199" name="Shape 197"/>
          <p:cNvSpPr/>
          <p:nvPr/>
        </p:nvSpPr>
        <p:spPr>
          <a:xfrm>
            <a:off x="8805744" y="3720801"/>
            <a:ext cx="137160" cy="137160"/>
          </a:xfrm>
          <a:prstGeom prst="ellipse">
            <a:avLst/>
          </a:prstGeom>
          <a:solidFill>
            <a:srgbClr val="0B2C4A"/>
          </a:solidFill>
          <a:ln/>
        </p:spPr>
      </p:sp>
      <p:sp>
        <p:nvSpPr>
          <p:cNvPr id="200" name="Shape 198"/>
          <p:cNvSpPr/>
          <p:nvPr/>
        </p:nvSpPr>
        <p:spPr>
          <a:xfrm>
            <a:off x="8443461" y="3720801"/>
            <a:ext cx="137160" cy="137160"/>
          </a:xfrm>
          <a:prstGeom prst="ellipse">
            <a:avLst/>
          </a:prstGeom>
          <a:solidFill>
            <a:srgbClr val="C2352F"/>
          </a:solidFill>
          <a:ln/>
        </p:spPr>
      </p:sp>
      <p:sp>
        <p:nvSpPr>
          <p:cNvPr id="201" name="Text 199"/>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202" name="Text 200"/>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203" name="Text 201"/>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204" name="Text 202"/>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05" name="Shape 203"/>
          <p:cNvSpPr/>
          <p:nvPr/>
        </p:nvSpPr>
        <p:spPr>
          <a:xfrm>
            <a:off x="8687444" y="4000500"/>
            <a:ext cx="365880" cy="27432"/>
          </a:xfrm>
          <a:prstGeom prst="rect">
            <a:avLst/>
          </a:prstGeom>
          <a:solidFill>
            <a:srgbClr val="D9D9D9"/>
          </a:solidFill>
          <a:ln/>
        </p:spPr>
      </p:sp>
      <p:sp>
        <p:nvSpPr>
          <p:cNvPr id="206" name="Shape 204"/>
          <p:cNvSpPr/>
          <p:nvPr/>
        </p:nvSpPr>
        <p:spPr>
          <a:xfrm>
            <a:off x="8984744" y="3945636"/>
            <a:ext cx="137160" cy="137160"/>
          </a:xfrm>
          <a:prstGeom prst="ellipse">
            <a:avLst/>
          </a:prstGeom>
          <a:solidFill>
            <a:srgbClr val="0B2C4A"/>
          </a:solidFill>
          <a:ln/>
        </p:spPr>
      </p:sp>
      <p:sp>
        <p:nvSpPr>
          <p:cNvPr id="207" name="Shape 205"/>
          <p:cNvSpPr/>
          <p:nvPr/>
        </p:nvSpPr>
        <p:spPr>
          <a:xfrm>
            <a:off x="8618864" y="3945636"/>
            <a:ext cx="137160" cy="137160"/>
          </a:xfrm>
          <a:prstGeom prst="ellipse">
            <a:avLst/>
          </a:prstGeom>
          <a:solidFill>
            <a:srgbClr val="C2352F"/>
          </a:solidFill>
          <a:ln/>
        </p:spPr>
      </p:sp>
      <p:sp>
        <p:nvSpPr>
          <p:cNvPr id="208" name="Text 206"/>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209" name="Text 207"/>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210" name="Text 208"/>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211" name="Shape 209"/>
          <p:cNvSpPr/>
          <p:nvPr/>
        </p:nvSpPr>
        <p:spPr>
          <a:xfrm>
            <a:off x="6135624" y="4126633"/>
            <a:ext cx="5394960" cy="224835"/>
          </a:xfrm>
          <a:prstGeom prst="rect">
            <a:avLst/>
          </a:prstGeom>
          <a:solidFill>
            <a:srgbClr val="F7F7F7"/>
          </a:solidFill>
          <a:ln/>
        </p:spPr>
      </p:sp>
      <p:sp>
        <p:nvSpPr>
          <p:cNvPr id="212" name="Text 210"/>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13" name="Shape 211"/>
          <p:cNvSpPr/>
          <p:nvPr/>
        </p:nvSpPr>
        <p:spPr>
          <a:xfrm>
            <a:off x="8654442" y="4225335"/>
            <a:ext cx="367907" cy="27432"/>
          </a:xfrm>
          <a:prstGeom prst="rect">
            <a:avLst/>
          </a:prstGeom>
          <a:solidFill>
            <a:srgbClr val="D9D9D9"/>
          </a:solidFill>
          <a:ln/>
        </p:spPr>
      </p:sp>
      <p:sp>
        <p:nvSpPr>
          <p:cNvPr id="214" name="Shape 212"/>
          <p:cNvSpPr/>
          <p:nvPr/>
        </p:nvSpPr>
        <p:spPr>
          <a:xfrm>
            <a:off x="8953769" y="4170471"/>
            <a:ext cx="137160" cy="137160"/>
          </a:xfrm>
          <a:prstGeom prst="ellipse">
            <a:avLst/>
          </a:prstGeom>
          <a:solidFill>
            <a:srgbClr val="0B2C4A"/>
          </a:solidFill>
          <a:ln/>
        </p:spPr>
      </p:sp>
      <p:sp>
        <p:nvSpPr>
          <p:cNvPr id="215" name="Shape 213"/>
          <p:cNvSpPr/>
          <p:nvPr/>
        </p:nvSpPr>
        <p:spPr>
          <a:xfrm>
            <a:off x="8585862" y="4170471"/>
            <a:ext cx="137160" cy="137160"/>
          </a:xfrm>
          <a:prstGeom prst="ellipse">
            <a:avLst/>
          </a:prstGeom>
          <a:solidFill>
            <a:srgbClr val="C2352F"/>
          </a:solidFill>
          <a:ln/>
        </p:spPr>
      </p:sp>
      <p:sp>
        <p:nvSpPr>
          <p:cNvPr id="216" name="Text 21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217" name="Text 21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218" name="Text 21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219" name="Text 21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0" name="Shape 218"/>
          <p:cNvSpPr/>
          <p:nvPr/>
        </p:nvSpPr>
        <p:spPr>
          <a:xfrm>
            <a:off x="8770408" y="4450170"/>
            <a:ext cx="389809" cy="27432"/>
          </a:xfrm>
          <a:prstGeom prst="rect">
            <a:avLst/>
          </a:prstGeom>
          <a:solidFill>
            <a:srgbClr val="D9D9D9"/>
          </a:solidFill>
          <a:ln/>
        </p:spPr>
      </p:sp>
      <p:sp>
        <p:nvSpPr>
          <p:cNvPr id="221" name="Shape 219"/>
          <p:cNvSpPr/>
          <p:nvPr/>
        </p:nvSpPr>
        <p:spPr>
          <a:xfrm>
            <a:off x="9091637" y="4395306"/>
            <a:ext cx="137160" cy="137160"/>
          </a:xfrm>
          <a:prstGeom prst="ellipse">
            <a:avLst/>
          </a:prstGeom>
          <a:solidFill>
            <a:srgbClr val="0B2C4A"/>
          </a:solidFill>
          <a:ln/>
        </p:spPr>
      </p:sp>
      <p:sp>
        <p:nvSpPr>
          <p:cNvPr id="222" name="Shape 220"/>
          <p:cNvSpPr/>
          <p:nvPr/>
        </p:nvSpPr>
        <p:spPr>
          <a:xfrm>
            <a:off x="8701828" y="4395306"/>
            <a:ext cx="137160" cy="137160"/>
          </a:xfrm>
          <a:prstGeom prst="ellipse">
            <a:avLst/>
          </a:prstGeom>
          <a:solidFill>
            <a:srgbClr val="C2352F"/>
          </a:solidFill>
          <a:ln/>
        </p:spPr>
      </p:sp>
      <p:sp>
        <p:nvSpPr>
          <p:cNvPr id="223" name="Text 221"/>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224" name="Text 222"/>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225" name="Text 223"/>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226" name="Shape 224"/>
          <p:cNvSpPr/>
          <p:nvPr/>
        </p:nvSpPr>
        <p:spPr>
          <a:xfrm>
            <a:off x="6135624" y="4576303"/>
            <a:ext cx="5394960" cy="224835"/>
          </a:xfrm>
          <a:prstGeom prst="rect">
            <a:avLst/>
          </a:prstGeom>
          <a:solidFill>
            <a:srgbClr val="F7F7F7"/>
          </a:solidFill>
          <a:ln/>
        </p:spPr>
      </p:sp>
      <p:sp>
        <p:nvSpPr>
          <p:cNvPr id="227" name="Text 225"/>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28" name="Shape 226"/>
          <p:cNvSpPr/>
          <p:nvPr/>
        </p:nvSpPr>
        <p:spPr>
          <a:xfrm>
            <a:off x="8425794" y="4675004"/>
            <a:ext cx="402892" cy="27432"/>
          </a:xfrm>
          <a:prstGeom prst="rect">
            <a:avLst/>
          </a:prstGeom>
          <a:solidFill>
            <a:srgbClr val="D9D9D9"/>
          </a:solidFill>
          <a:ln/>
        </p:spPr>
      </p:sp>
      <p:sp>
        <p:nvSpPr>
          <p:cNvPr id="229" name="Shape 227"/>
          <p:cNvSpPr/>
          <p:nvPr/>
        </p:nvSpPr>
        <p:spPr>
          <a:xfrm>
            <a:off x="8760105" y="4620140"/>
            <a:ext cx="137160" cy="137160"/>
          </a:xfrm>
          <a:prstGeom prst="ellipse">
            <a:avLst/>
          </a:prstGeom>
          <a:solidFill>
            <a:srgbClr val="0B2C4A"/>
          </a:solidFill>
          <a:ln/>
        </p:spPr>
      </p:sp>
      <p:sp>
        <p:nvSpPr>
          <p:cNvPr id="230" name="Shape 228"/>
          <p:cNvSpPr/>
          <p:nvPr/>
        </p:nvSpPr>
        <p:spPr>
          <a:xfrm>
            <a:off x="8357214" y="4620140"/>
            <a:ext cx="137160" cy="137160"/>
          </a:xfrm>
          <a:prstGeom prst="ellipse">
            <a:avLst/>
          </a:prstGeom>
          <a:solidFill>
            <a:srgbClr val="C2352F"/>
          </a:solidFill>
          <a:ln/>
        </p:spPr>
      </p:sp>
      <p:sp>
        <p:nvSpPr>
          <p:cNvPr id="231" name="Text 229"/>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232" name="Text 230"/>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233" name="Text 231"/>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234" name="Text 232"/>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235" name="Shape 233"/>
          <p:cNvSpPr/>
          <p:nvPr/>
        </p:nvSpPr>
        <p:spPr>
          <a:xfrm>
            <a:off x="8627876" y="4899839"/>
            <a:ext cx="523192" cy="27432"/>
          </a:xfrm>
          <a:prstGeom prst="rect">
            <a:avLst/>
          </a:prstGeom>
          <a:solidFill>
            <a:srgbClr val="D9D9D9"/>
          </a:solidFill>
          <a:ln/>
        </p:spPr>
      </p:sp>
      <p:sp>
        <p:nvSpPr>
          <p:cNvPr id="236" name="Shape 234"/>
          <p:cNvSpPr/>
          <p:nvPr/>
        </p:nvSpPr>
        <p:spPr>
          <a:xfrm>
            <a:off x="9082487" y="4844975"/>
            <a:ext cx="137160" cy="137160"/>
          </a:xfrm>
          <a:prstGeom prst="ellipse">
            <a:avLst/>
          </a:prstGeom>
          <a:solidFill>
            <a:srgbClr val="0B2C4A"/>
          </a:solidFill>
          <a:ln/>
        </p:spPr>
      </p:sp>
      <p:sp>
        <p:nvSpPr>
          <p:cNvPr id="237" name="Shape 235"/>
          <p:cNvSpPr/>
          <p:nvPr/>
        </p:nvSpPr>
        <p:spPr>
          <a:xfrm>
            <a:off x="8559296" y="4844975"/>
            <a:ext cx="137160" cy="137160"/>
          </a:xfrm>
          <a:prstGeom prst="ellipse">
            <a:avLst/>
          </a:prstGeom>
          <a:solidFill>
            <a:srgbClr val="C2352F"/>
          </a:solidFill>
          <a:ln/>
        </p:spPr>
      </p:sp>
      <p:sp>
        <p:nvSpPr>
          <p:cNvPr id="238" name="Text 236"/>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239" name="Text 237"/>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240" name="Text 238"/>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241" name="Shape 239"/>
          <p:cNvSpPr/>
          <p:nvPr/>
        </p:nvSpPr>
        <p:spPr>
          <a:xfrm>
            <a:off x="6135624" y="5025973"/>
            <a:ext cx="5394960" cy="224835"/>
          </a:xfrm>
          <a:prstGeom prst="rect">
            <a:avLst/>
          </a:prstGeom>
          <a:solidFill>
            <a:srgbClr val="F7F7F7"/>
          </a:solidFill>
          <a:ln/>
        </p:spPr>
      </p:sp>
      <p:sp>
        <p:nvSpPr>
          <p:cNvPr id="242" name="Text 240"/>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3" name="Shape 241"/>
          <p:cNvSpPr/>
          <p:nvPr/>
        </p:nvSpPr>
        <p:spPr>
          <a:xfrm>
            <a:off x="8579382" y="5124674"/>
            <a:ext cx="529999" cy="27432"/>
          </a:xfrm>
          <a:prstGeom prst="rect">
            <a:avLst/>
          </a:prstGeom>
          <a:solidFill>
            <a:srgbClr val="D9D9D9"/>
          </a:solidFill>
          <a:ln/>
        </p:spPr>
      </p:sp>
      <p:sp>
        <p:nvSpPr>
          <p:cNvPr id="244" name="Shape 242"/>
          <p:cNvSpPr/>
          <p:nvPr/>
        </p:nvSpPr>
        <p:spPr>
          <a:xfrm>
            <a:off x="9040801" y="5069810"/>
            <a:ext cx="137160" cy="137160"/>
          </a:xfrm>
          <a:prstGeom prst="ellipse">
            <a:avLst/>
          </a:prstGeom>
          <a:solidFill>
            <a:srgbClr val="0B2C4A"/>
          </a:solidFill>
          <a:ln/>
        </p:spPr>
      </p:sp>
      <p:sp>
        <p:nvSpPr>
          <p:cNvPr id="245" name="Shape 243"/>
          <p:cNvSpPr/>
          <p:nvPr/>
        </p:nvSpPr>
        <p:spPr>
          <a:xfrm>
            <a:off x="8510802" y="5069810"/>
            <a:ext cx="137160" cy="137160"/>
          </a:xfrm>
          <a:prstGeom prst="ellipse">
            <a:avLst/>
          </a:prstGeom>
          <a:solidFill>
            <a:srgbClr val="C2352F"/>
          </a:solidFill>
          <a:ln/>
        </p:spPr>
      </p:sp>
      <p:sp>
        <p:nvSpPr>
          <p:cNvPr id="246" name="Text 244"/>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247" name="Text 245"/>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248" name="Text 246"/>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249" name="Text 247"/>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250" name="Shape 248"/>
          <p:cNvSpPr/>
          <p:nvPr/>
        </p:nvSpPr>
        <p:spPr>
          <a:xfrm>
            <a:off x="8614506" y="5349509"/>
            <a:ext cx="554833" cy="27432"/>
          </a:xfrm>
          <a:prstGeom prst="rect">
            <a:avLst/>
          </a:prstGeom>
          <a:solidFill>
            <a:srgbClr val="D9D9D9"/>
          </a:solidFill>
          <a:ln/>
        </p:spPr>
      </p:sp>
      <p:sp>
        <p:nvSpPr>
          <p:cNvPr id="251" name="Shape 249"/>
          <p:cNvSpPr/>
          <p:nvPr/>
        </p:nvSpPr>
        <p:spPr>
          <a:xfrm>
            <a:off x="9100759" y="5294645"/>
            <a:ext cx="137160" cy="137160"/>
          </a:xfrm>
          <a:prstGeom prst="ellipse">
            <a:avLst/>
          </a:prstGeom>
          <a:solidFill>
            <a:srgbClr val="0B2C4A"/>
          </a:solidFill>
          <a:ln/>
        </p:spPr>
      </p:sp>
      <p:sp>
        <p:nvSpPr>
          <p:cNvPr id="252" name="Shape 250"/>
          <p:cNvSpPr/>
          <p:nvPr/>
        </p:nvSpPr>
        <p:spPr>
          <a:xfrm>
            <a:off x="8545926" y="5294645"/>
            <a:ext cx="137160" cy="137160"/>
          </a:xfrm>
          <a:prstGeom prst="ellipse">
            <a:avLst/>
          </a:prstGeom>
          <a:solidFill>
            <a:srgbClr val="C2352F"/>
          </a:solidFill>
          <a:ln/>
        </p:spPr>
      </p:sp>
      <p:sp>
        <p:nvSpPr>
          <p:cNvPr id="253" name="Text 25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254" name="Text 25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255" name="Text 25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256" name="Shape 254"/>
          <p:cNvSpPr/>
          <p:nvPr/>
        </p:nvSpPr>
        <p:spPr>
          <a:xfrm>
            <a:off x="6135624" y="5475642"/>
            <a:ext cx="5394960" cy="224835"/>
          </a:xfrm>
          <a:prstGeom prst="rect">
            <a:avLst/>
          </a:prstGeom>
          <a:solidFill>
            <a:srgbClr val="F7F7F7"/>
          </a:solidFill>
          <a:ln/>
        </p:spPr>
      </p:sp>
      <p:sp>
        <p:nvSpPr>
          <p:cNvPr id="257" name="Text 25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58" name="Shape 256"/>
          <p:cNvSpPr/>
          <p:nvPr/>
        </p:nvSpPr>
        <p:spPr>
          <a:xfrm>
            <a:off x="8453821" y="5574344"/>
            <a:ext cx="631638" cy="27432"/>
          </a:xfrm>
          <a:prstGeom prst="rect">
            <a:avLst/>
          </a:prstGeom>
          <a:solidFill>
            <a:srgbClr val="D9D9D9"/>
          </a:solidFill>
          <a:ln/>
        </p:spPr>
      </p:sp>
      <p:sp>
        <p:nvSpPr>
          <p:cNvPr id="259" name="Shape 257"/>
          <p:cNvSpPr/>
          <p:nvPr/>
        </p:nvSpPr>
        <p:spPr>
          <a:xfrm>
            <a:off x="9016879" y="5519480"/>
            <a:ext cx="137160" cy="137160"/>
          </a:xfrm>
          <a:prstGeom prst="ellipse">
            <a:avLst/>
          </a:prstGeom>
          <a:solidFill>
            <a:srgbClr val="0B2C4A"/>
          </a:solidFill>
          <a:ln/>
        </p:spPr>
      </p:sp>
      <p:sp>
        <p:nvSpPr>
          <p:cNvPr id="260" name="Shape 258"/>
          <p:cNvSpPr/>
          <p:nvPr/>
        </p:nvSpPr>
        <p:spPr>
          <a:xfrm>
            <a:off x="8385241" y="5519480"/>
            <a:ext cx="137160" cy="137160"/>
          </a:xfrm>
          <a:prstGeom prst="ellipse">
            <a:avLst/>
          </a:prstGeom>
          <a:solidFill>
            <a:srgbClr val="C2352F"/>
          </a:solidFill>
          <a:ln/>
        </p:spPr>
      </p:sp>
      <p:sp>
        <p:nvSpPr>
          <p:cNvPr id="261" name="Text 259"/>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62" name="Text 260"/>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63" name="Text 261"/>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64" name="Shape 262"/>
          <p:cNvSpPr/>
          <p:nvPr/>
        </p:nvSpPr>
        <p:spPr>
          <a:xfrm>
            <a:off x="457200" y="6126480"/>
            <a:ext cx="11274552" cy="600456"/>
          </a:xfrm>
          <a:prstGeom prst="rect">
            <a:avLst/>
          </a:prstGeom>
          <a:solidFill>
            <a:srgbClr val="EDF4FA"/>
          </a:solidFill>
          <a:ln/>
        </p:spPr>
      </p:sp>
      <p:sp>
        <p:nvSpPr>
          <p:cNvPr id="265" name="Text 263"/>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Internal parts margin runs 4.2 pts below customer pay across the group; 11 of 33 stores are at or better than that gap. Widest: LR LV (−17.6 pts), Honda Flagstaff (−15.4 pts) and Audi Reno (−14.7 pts).</a:t>
            </a:r>
            <a:endParaRPr lang="en-US" sz="1550" dirty="0"/>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HEADCOUNT TREND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7589520" cy="4782312"/>
          </a:xfrm>
          <a:prstGeom prst="rect">
            <a:avLst/>
          </a:prstGeom>
          <a:solidFill>
            <a:srgbClr val="FFFFFF"/>
          </a:solidFill>
          <a:ln/>
        </p:spPr>
      </p:sp>
      <p:sp>
        <p:nvSpPr>
          <p:cNvPr id="6" name="Text 4"/>
          <p:cNvSpPr txBox="1"/>
          <p:nvPr/>
        </p:nvSpPr>
        <p:spPr>
          <a:xfrm>
            <a:off x="685800" y="1344168"/>
            <a:ext cx="713232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January–September</a:t>
            </a:r>
            <a:endParaRPr lang="en-US" sz="1500" dirty="0"/>
          </a:p>
        </p:txBody>
      </p:sp>
      <p:sp>
        <p:nvSpPr>
          <p:cNvPr id="7" name="Shape 5"/>
          <p:cNvSpPr/>
          <p:nvPr/>
        </p:nvSpPr>
        <p:spPr>
          <a:xfrm>
            <a:off x="685800" y="1691640"/>
            <a:ext cx="7132320" cy="10973"/>
          </a:xfrm>
          <a:prstGeom prst="rect">
            <a:avLst/>
          </a:prstGeom>
          <a:solidFill>
            <a:srgbClr val="1A1A1A"/>
          </a:solidFill>
          <a:ln/>
        </p:spPr>
      </p:sp>
      <p:graphicFrame>
        <p:nvGraphicFramePr>
          <p:cNvPr id="8" name="Chart 0" descr=""/>
          <p:cNvGraphicFramePr/>
          <p:nvPr/>
        </p:nvGraphicFramePr>
        <p:xfrm>
          <a:off x="621792" y="1773936"/>
          <a:ext cx="7260336" cy="4123944"/>
        </p:xfrm>
        <a:graphic>
          <a:graphicData uri="http://schemas.openxmlformats.org/drawingml/2006/chart">
            <c:chart xmlns:c="http://schemas.openxmlformats.org/drawingml/2006/chart" r:id="rId2"/>
          </a:graphicData>
        </a:graphic>
      </p:graphicFrame>
      <p:sp>
        <p:nvSpPr>
          <p:cNvPr id="9" name="Shape 6"/>
          <p:cNvSpPr/>
          <p:nvPr/>
        </p:nvSpPr>
        <p:spPr>
          <a:xfrm>
            <a:off x="8229600" y="1207008"/>
            <a:ext cx="3502152" cy="4782312"/>
          </a:xfrm>
          <a:prstGeom prst="rect">
            <a:avLst/>
          </a:prstGeom>
          <a:solidFill>
            <a:srgbClr val="FFFFFF"/>
          </a:solidFill>
          <a:ln/>
        </p:spPr>
      </p:sp>
      <p:sp>
        <p:nvSpPr>
          <p:cNvPr id="10" name="Text 7"/>
          <p:cNvSpPr txBox="1"/>
          <p:nvPr/>
        </p:nvSpPr>
        <p:spPr>
          <a:xfrm>
            <a:off x="8458200" y="1344168"/>
            <a:ext cx="30449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it says</a:t>
            </a:r>
            <a:endParaRPr lang="en-US" sz="1500" dirty="0"/>
          </a:p>
        </p:txBody>
      </p:sp>
      <p:sp>
        <p:nvSpPr>
          <p:cNvPr id="11" name="Shape 8"/>
          <p:cNvSpPr/>
          <p:nvPr/>
        </p:nvSpPr>
        <p:spPr>
          <a:xfrm>
            <a:off x="8458200" y="1691640"/>
            <a:ext cx="3044952" cy="10973"/>
          </a:xfrm>
          <a:prstGeom prst="rect">
            <a:avLst/>
          </a:prstGeom>
          <a:solidFill>
            <a:srgbClr val="1A1A1A"/>
          </a:solidFill>
          <a:ln/>
        </p:spPr>
      </p:sp>
      <p:sp>
        <p:nvSpPr>
          <p:cNvPr id="12" name="Shape 9"/>
          <p:cNvSpPr/>
          <p:nvPr/>
        </p:nvSpPr>
        <p:spPr>
          <a:xfrm>
            <a:off x="8458200" y="1938528"/>
            <a:ext cx="100584" cy="100584"/>
          </a:xfrm>
          <a:prstGeom prst="ellipse">
            <a:avLst/>
          </a:prstGeom>
          <a:solidFill>
            <a:srgbClr val="2587C5"/>
          </a:solidFill>
          <a:ln/>
        </p:spPr>
      </p:sp>
      <p:sp>
        <p:nvSpPr>
          <p:cNvPr id="13" name="Text 10"/>
          <p:cNvSpPr txBox="1"/>
          <p:nvPr/>
        </p:nvSpPr>
        <p:spPr>
          <a:xfrm>
            <a:off x="8705088" y="1810512"/>
            <a:ext cx="2834640" cy="1051560"/>
          </a:xfrm>
          <a:prstGeom prst="rect">
            <a:avLst/>
          </a:prstGeom>
          <a:noFill/>
          <a:ln/>
        </p:spPr>
        <p:txBody>
          <a:bodyPr wrap="square" lIns="0" tIns="0" rIns="0" bIns="0" rtlCol="0" anchor="t"/>
          <a:lstStyle/>
          <a:p>
            <a:pPr indent="0" marL="0">
              <a:buNone/>
            </a:pPr>
            <a:r>
              <a:rPr lang="en-US" sz="1500" b="1" dirty="0">
                <a:solidFill>
                  <a:srgbClr val="2587C5"/>
                </a:solidFill>
                <a:latin typeface="Inter" pitchFamily="34" charset="0"/>
                <a:ea typeface="Inter" pitchFamily="34" charset="-122"/>
                <a:cs typeface="Inter" pitchFamily="34" charset="-120"/>
              </a:rPr>
              <a:t>−76 fixed staff, Sep to Sep, to 1,540.</a:t>
            </a:r>
            <a:endParaRPr lang="en-US" sz="1500" dirty="0"/>
          </a:p>
        </p:txBody>
      </p:sp>
      <p:sp>
        <p:nvSpPr>
          <p:cNvPr id="14" name="Shape 11"/>
          <p:cNvSpPr/>
          <p:nvPr/>
        </p:nvSpPr>
        <p:spPr>
          <a:xfrm>
            <a:off x="8458200" y="3072384"/>
            <a:ext cx="100584" cy="100584"/>
          </a:xfrm>
          <a:prstGeom prst="ellipse">
            <a:avLst/>
          </a:prstGeom>
          <a:solidFill>
            <a:srgbClr val="1A1A1A"/>
          </a:solidFill>
          <a:ln/>
        </p:spPr>
      </p:sp>
      <p:sp>
        <p:nvSpPr>
          <p:cNvPr id="15" name="Text 12"/>
          <p:cNvSpPr txBox="1"/>
          <p:nvPr/>
        </p:nvSpPr>
        <p:spPr>
          <a:xfrm>
            <a:off x="8705088" y="2944368"/>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Technicians −17, advisors −7, managers −3.</a:t>
            </a:r>
            <a:endParaRPr lang="en-US" sz="1500" dirty="0"/>
          </a:p>
        </p:txBody>
      </p:sp>
      <p:sp>
        <p:nvSpPr>
          <p:cNvPr id="16" name="Shape 13"/>
          <p:cNvSpPr/>
          <p:nvPr/>
        </p:nvSpPr>
        <p:spPr>
          <a:xfrm>
            <a:off x="8458200" y="4206240"/>
            <a:ext cx="100584" cy="100584"/>
          </a:xfrm>
          <a:prstGeom prst="ellipse">
            <a:avLst/>
          </a:prstGeom>
          <a:solidFill>
            <a:srgbClr val="1A1A1A"/>
          </a:solidFill>
          <a:ln/>
        </p:spPr>
      </p:sp>
      <p:sp>
        <p:nvSpPr>
          <p:cNvPr id="17" name="Text 14"/>
          <p:cNvSpPr txBox="1"/>
          <p:nvPr/>
        </p:nvSpPr>
        <p:spPr>
          <a:xfrm>
            <a:off x="8705088" y="4078224"/>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2026 below 2025 in every month.</a:t>
            </a:r>
            <a:endParaRPr lang="en-US" sz="1500" dirty="0"/>
          </a:p>
        </p:txBody>
      </p:sp>
      <p:sp>
        <p:nvSpPr>
          <p:cNvPr id="18" name="Shape 15"/>
          <p:cNvSpPr/>
          <p:nvPr/>
        </p:nvSpPr>
        <p:spPr>
          <a:xfrm>
            <a:off x="457200" y="6126480"/>
            <a:ext cx="11274552" cy="371856"/>
          </a:xfrm>
          <a:prstGeom prst="rect">
            <a:avLst/>
          </a:prstGeom>
          <a:solidFill>
            <a:srgbClr val="EDF4FA"/>
          </a:solidFill>
          <a:ln/>
        </p:spPr>
      </p:sp>
      <p:sp>
        <p:nvSpPr>
          <p:cNvPr id="19" name="Text 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Sep to Sep.</a:t>
            </a:r>
            <a:endParaRPr lang="en-US" sz="1600" dirty="0"/>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BEST TECHS · OPTION C</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737360"/>
            <a:ext cx="3840480" cy="1188720"/>
          </a:xfrm>
          <a:prstGeom prst="rect">
            <a:avLst/>
          </a:prstGeom>
          <a:noFill/>
          <a:ln/>
        </p:spPr>
        <p:txBody>
          <a:bodyPr wrap="square" lIns="0" tIns="0" rIns="0" bIns="0" rtlCol="0" anchor="ctr"/>
          <a:lstStyle/>
          <a:p>
            <a:pPr indent="0" marL="0">
              <a:buNone/>
            </a:pPr>
            <a:r>
              <a:rPr lang="en-US" sz="8000" b="1" dirty="0">
                <a:solidFill>
                  <a:srgbClr val="0B7A4A"/>
                </a:solidFill>
                <a:latin typeface="Inter" pitchFamily="34" charset="0"/>
                <a:ea typeface="Inter" pitchFamily="34" charset="-122"/>
                <a:cs typeface="Inter" pitchFamily="34" charset="-120"/>
              </a:rPr>
              <a:t>11 of 13</a:t>
            </a:r>
            <a:endParaRPr lang="en-US" sz="8000" dirty="0"/>
          </a:p>
        </p:txBody>
      </p:sp>
      <p:sp>
        <p:nvSpPr>
          <p:cNvPr id="7" name="Text 5"/>
          <p:cNvSpPr txBox="1"/>
          <p:nvPr/>
        </p:nvSpPr>
        <p:spPr>
          <a:xfrm>
            <a:off x="731520" y="2926080"/>
            <a:ext cx="3749040" cy="822960"/>
          </a:xfrm>
          <a:prstGeom prst="rect">
            <a:avLst/>
          </a:prstGeom>
          <a:noFill/>
          <a:ln/>
        </p:spPr>
        <p:txBody>
          <a:bodyPr wrap="square" lIns="0" tIns="0" rIns="0" bIns="0" rtlCol="0" anchor="t"/>
          <a:lstStyle/>
          <a:p>
            <a:pPr indent="0" marL="0">
              <a:buNone/>
            </a:pPr>
            <a:r>
              <a:rPr lang="en-US" sz="2200" b="1" dirty="0">
                <a:solidFill>
                  <a:srgbClr val="1A1A1A"/>
                </a:solidFill>
                <a:latin typeface="Inter" pitchFamily="34" charset="0"/>
                <a:ea typeface="Inter" pitchFamily="34" charset="-122"/>
                <a:cs typeface="Inter" pitchFamily="34" charset="-120"/>
              </a:rPr>
              <a:t>stores under 85% already have techs beating it.</a:t>
            </a:r>
            <a:endParaRPr lang="en-US" sz="2200" dirty="0"/>
          </a:p>
        </p:txBody>
      </p:sp>
      <p:sp>
        <p:nvSpPr>
          <p:cNvPr id="8" name="Text 6"/>
          <p:cNvSpPr txBox="1"/>
          <p:nvPr/>
        </p:nvSpPr>
        <p:spPr>
          <a:xfrm>
            <a:off x="731520" y="3886200"/>
            <a:ext cx="3657600" cy="1280160"/>
          </a:xfrm>
          <a:prstGeom prst="rect">
            <a:avLst/>
          </a:prstGeom>
          <a:noFill/>
          <a:ln/>
        </p:spPr>
        <p:txBody>
          <a:bodyPr wrap="square" lIns="0" tIns="0" rIns="0" bIns="0" rtlCol="0" anchor="t"/>
          <a:lstStyle/>
          <a:p>
            <a:pPr indent="0" marL="0">
              <a:buNone/>
            </a:pPr>
            <a:r>
              <a:rPr lang="en-US" sz="1600" dirty="0">
                <a:solidFill>
                  <a:srgbClr val="595959"/>
                </a:solidFill>
                <a:latin typeface="Inter" pitchFamily="34" charset="0"/>
                <a:ea typeface="Inter" pitchFamily="34" charset="-122"/>
                <a:cs typeface="Inter" pitchFamily="34" charset="-120"/>
              </a:rPr>
              <a:t>Same bays, same dispatch, same car count. The target is not theory; their own best techs hit it every month.</a:t>
            </a:r>
            <a:endParaRPr lang="en-US" sz="1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937760" y="1417320"/>
          <a:ext cx="6537960" cy="914400"/>
        </p:xfrm>
        <a:graphic>
          <a:graphicData uri="http://schemas.openxmlformats.org/drawingml/2006/table">
            <a:tbl>
              <a:tblPr/>
              <a:tblGrid>
                <a:gridCol w="3429000"/>
                <a:gridCol w="1554480"/>
                <a:gridCol w="1554480"/>
              </a:tblGrid>
              <a:tr h="283464">
                <a:tc>
                  <a:txBody>
                    <a:bodyPr/>
                    <a:lstStyle/>
                    <a:p>
                      <a:pPr algn="l" indent="0" marL="0">
                        <a:buNone/>
                      </a:pPr>
                      <a:r>
                        <a:rPr lang="en-US" sz="1400" b="1" dirty="0">
                          <a:solidFill>
                            <a:srgbClr val="FFFFFF"/>
                          </a:solidFill>
                          <a:latin typeface="Inter" pitchFamily="34" charset="0"/>
                          <a:ea typeface="Inter" pitchFamily="34" charset="-122"/>
                          <a:cs typeface="Inter" pitchFamily="34" charset="-120"/>
                        </a:rPr>
                        <a:t>Store</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Store today</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Best techs</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0B2C4A"/>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ACURA</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67%</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73%</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KIA ST GEORGE</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67%</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97%</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CHEVY GMC BULLHEAD</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96%</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HYUNDAI ST GEORGE</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69%</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122%</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VW ST GEORGE</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70%</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76%</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CDJR POST FALLS</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71%</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128%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VOLVO</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72%</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88%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GMC PRESCOTT</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73%</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103%</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KIA LV</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76%</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100%</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HONDA FLAGSTAFF</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130%</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HYUNDAI PRESCOTT</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112%</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LR RENO</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81%</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96%</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TOYOTA PRESCOTT</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83%</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bl>
          </a:graphicData>
        </a:graphic>
      </p:graphicFrame>
      <p:sp>
        <p:nvSpPr>
          <p:cNvPr id="10" name="Shape 7"/>
          <p:cNvSpPr/>
          <p:nvPr/>
        </p:nvSpPr>
        <p:spPr>
          <a:xfrm>
            <a:off x="457200" y="6126480"/>
            <a:ext cx="11274552" cy="615696"/>
          </a:xfrm>
          <a:prstGeom prst="rect">
            <a:avLst/>
          </a:prstGeom>
          <a:solidFill>
            <a:srgbClr val="EDF4FA"/>
          </a:solidFill>
          <a:ln/>
        </p:spPr>
      </p:sp>
      <p:sp>
        <p:nvSpPr>
          <p:cNvPr id="11" name="Text 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best quarter of techs already beat 85%. Same bays, same dispatch, same car count.</a:t>
            </a:r>
            <a:endParaRPr lang="en-US" sz="1600" dirty="0"/>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$202K → $246K</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+21.9%</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$311K → $375K</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+20.4%</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$148K → $177K</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$100K → $119K</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$294K → $345K</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+17.3%</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545 → 617</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+13.0%</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1,561 → 1,759</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330 → 370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1,788 → 1,992</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582 → 641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1.29 → 1.40</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+8.2%</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1.33 → 1.40</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2.19 → 2.30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2.60 → 2.73</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3.25 → 3.41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$172.35 → $180.14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$140.89 → $146.92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$216.72 → $225.50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$155.72 → $161.80</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$169.51 → $175.47</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+5.1%: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$136 → $156</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+14.6%</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$257 → $292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$728 → $811</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$897 → $988</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$235 → $258</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$224 to $298, stepping up in June. Ask what changed that month.</a:t>
            </a:r>
            <a:endParaRPr lang="en-US" sz="1600" dirty="0"/>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40.1% → 42.4%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34.4% → 36.3%</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40.9% → 42.2%</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44.4% → 45.7%</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36.8% → 37.9%</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 pts</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January–September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vs Jan–Sep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+46.0%</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+45.3%</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+33.8%</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+13.6%</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+12.6%</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+10.5%</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+39.1%</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+31.3%</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+30.7%</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+20.1%</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+28.9%</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+21.0%</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+6.1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+3.8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makes three of six lists; three stores make two.</a:t>
            </a:r>
            <a:endParaRPr lang="en-US" sz="1600" dirty="0"/>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Last 90 Days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Jul–Sep vs Jul–Sep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+72.1%</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+41.5%</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+41.0%</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+2.0%</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+20.4%</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+19.2%</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+17.4%</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+3.1%</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+44.7%</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+41.1%</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+27.5%</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+2.5%</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+22.5%</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+3.8%</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+40.0%</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+24.6%</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+7.7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and Kia St George each make three of six lists.</a:t>
            </a:r>
            <a:endParaRPr lang="en-US" sz="1600" dirty="0"/>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Who Shows Up Most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292608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Top-3 finishes of 12</a:t>
            </a:r>
            <a:endParaRPr lang="en-US" sz="1400" dirty="0"/>
          </a:p>
        </p:txBody>
      </p:sp>
      <p:sp>
        <p:nvSpPr>
          <p:cNvPr id="7" name="Text 5"/>
          <p:cNvSpPr txBox="1"/>
          <p:nvPr/>
        </p:nvSpPr>
        <p:spPr>
          <a:xfrm>
            <a:off x="617220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8" name="Text 6"/>
          <p:cNvSpPr txBox="1"/>
          <p:nvPr/>
        </p:nvSpPr>
        <p:spPr>
          <a:xfrm>
            <a:off x="882396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Last 90 days</a:t>
            </a:r>
            <a:endParaRPr lang="en-US" sz="1400" dirty="0"/>
          </a:p>
        </p:txBody>
      </p:sp>
      <p:sp>
        <p:nvSpPr>
          <p:cNvPr id="9" name="Shape 7"/>
          <p:cNvSpPr/>
          <p:nvPr/>
        </p:nvSpPr>
        <p:spPr>
          <a:xfrm>
            <a:off x="621792" y="1792224"/>
            <a:ext cx="10945368" cy="484632"/>
          </a:xfrm>
          <a:prstGeom prst="rect">
            <a:avLst/>
          </a:prstGeom>
          <a:solidFill>
            <a:srgbClr val="F7F7F7"/>
          </a:solidFill>
          <a:ln/>
        </p:spPr>
      </p:sp>
      <p:sp>
        <p:nvSpPr>
          <p:cNvPr id="10" name="Text 8"/>
          <p:cNvSpPr txBox="1"/>
          <p:nvPr/>
        </p:nvSpPr>
        <p:spPr>
          <a:xfrm>
            <a:off x="713232" y="179222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Shape 9"/>
          <p:cNvSpPr/>
          <p:nvPr/>
        </p:nvSpPr>
        <p:spPr>
          <a:xfrm>
            <a:off x="2926080" y="1913382"/>
            <a:ext cx="2651760" cy="242316"/>
          </a:xfrm>
          <a:prstGeom prst="rect">
            <a:avLst/>
          </a:prstGeom>
          <a:solidFill>
            <a:srgbClr val="12A566"/>
          </a:solidFill>
          <a:ln/>
        </p:spPr>
      </p:sp>
      <p:sp>
        <p:nvSpPr>
          <p:cNvPr id="12" name="Text 10"/>
          <p:cNvSpPr txBox="1"/>
          <p:nvPr/>
        </p:nvSpPr>
        <p:spPr>
          <a:xfrm>
            <a:off x="5486400" y="179222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a:t>
            </a:r>
            <a:endParaRPr lang="en-US" sz="1600" dirty="0"/>
          </a:p>
        </p:txBody>
      </p:sp>
      <p:sp>
        <p:nvSpPr>
          <p:cNvPr id="13" name="Text 11"/>
          <p:cNvSpPr txBox="1"/>
          <p:nvPr/>
        </p:nvSpPr>
        <p:spPr>
          <a:xfrm>
            <a:off x="617220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4" name="Text 12"/>
          <p:cNvSpPr txBox="1"/>
          <p:nvPr/>
        </p:nvSpPr>
        <p:spPr>
          <a:xfrm>
            <a:off x="882396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5" name="Text 13"/>
          <p:cNvSpPr txBox="1"/>
          <p:nvPr/>
        </p:nvSpPr>
        <p:spPr>
          <a:xfrm>
            <a:off x="713232" y="227685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6" name="Shape 14"/>
          <p:cNvSpPr/>
          <p:nvPr/>
        </p:nvSpPr>
        <p:spPr>
          <a:xfrm>
            <a:off x="2926080" y="2398014"/>
            <a:ext cx="1767840" cy="242316"/>
          </a:xfrm>
          <a:prstGeom prst="rect">
            <a:avLst/>
          </a:prstGeom>
          <a:solidFill>
            <a:srgbClr val="12A566"/>
          </a:solidFill>
          <a:ln/>
        </p:spPr>
      </p:sp>
      <p:sp>
        <p:nvSpPr>
          <p:cNvPr id="17" name="Text 15"/>
          <p:cNvSpPr txBox="1"/>
          <p:nvPr/>
        </p:nvSpPr>
        <p:spPr>
          <a:xfrm>
            <a:off x="5486400" y="227685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a:t>
            </a:r>
            <a:endParaRPr lang="en-US" sz="1600" dirty="0"/>
          </a:p>
        </p:txBody>
      </p:sp>
      <p:sp>
        <p:nvSpPr>
          <p:cNvPr id="18" name="Text 16"/>
          <p:cNvSpPr txBox="1"/>
          <p:nvPr/>
        </p:nvSpPr>
        <p:spPr>
          <a:xfrm>
            <a:off x="617220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19" name="Text 17"/>
          <p:cNvSpPr txBox="1"/>
          <p:nvPr/>
        </p:nvSpPr>
        <p:spPr>
          <a:xfrm>
            <a:off x="882396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hours/RO, parts GP%</a:t>
            </a:r>
            <a:endParaRPr lang="en-US" sz="1300" dirty="0"/>
          </a:p>
        </p:txBody>
      </p:sp>
      <p:sp>
        <p:nvSpPr>
          <p:cNvPr id="20" name="Shape 18"/>
          <p:cNvSpPr/>
          <p:nvPr/>
        </p:nvSpPr>
        <p:spPr>
          <a:xfrm>
            <a:off x="621792" y="2761488"/>
            <a:ext cx="10945368" cy="484632"/>
          </a:xfrm>
          <a:prstGeom prst="rect">
            <a:avLst/>
          </a:prstGeom>
          <a:solidFill>
            <a:srgbClr val="F7F7F7"/>
          </a:solidFill>
          <a:ln/>
        </p:spPr>
      </p:sp>
      <p:sp>
        <p:nvSpPr>
          <p:cNvPr id="21" name="Text 19"/>
          <p:cNvSpPr txBox="1"/>
          <p:nvPr/>
        </p:nvSpPr>
        <p:spPr>
          <a:xfrm>
            <a:off x="713232" y="276148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2" name="Shape 20"/>
          <p:cNvSpPr/>
          <p:nvPr/>
        </p:nvSpPr>
        <p:spPr>
          <a:xfrm>
            <a:off x="2926080" y="2882646"/>
            <a:ext cx="1325880" cy="242316"/>
          </a:xfrm>
          <a:prstGeom prst="rect">
            <a:avLst/>
          </a:prstGeom>
          <a:solidFill>
            <a:srgbClr val="12A566"/>
          </a:solidFill>
          <a:ln/>
        </p:spPr>
      </p:sp>
      <p:sp>
        <p:nvSpPr>
          <p:cNvPr id="23" name="Text 21"/>
          <p:cNvSpPr txBox="1"/>
          <p:nvPr/>
        </p:nvSpPr>
        <p:spPr>
          <a:xfrm>
            <a:off x="5486400" y="276148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4" name="Text 22"/>
          <p:cNvSpPr txBox="1"/>
          <p:nvPr/>
        </p:nvSpPr>
        <p:spPr>
          <a:xfrm>
            <a:off x="617220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parts GP%</a:t>
            </a:r>
            <a:endParaRPr lang="en-US" sz="1300" dirty="0"/>
          </a:p>
        </p:txBody>
      </p:sp>
      <p:sp>
        <p:nvSpPr>
          <p:cNvPr id="25" name="Text 23"/>
          <p:cNvSpPr txBox="1"/>
          <p:nvPr/>
        </p:nvSpPr>
        <p:spPr>
          <a:xfrm>
            <a:off x="882396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a:t>
            </a:r>
            <a:endParaRPr lang="en-US" sz="1300" dirty="0"/>
          </a:p>
        </p:txBody>
      </p:sp>
      <p:sp>
        <p:nvSpPr>
          <p:cNvPr id="26" name="Text 24"/>
          <p:cNvSpPr txBox="1"/>
          <p:nvPr/>
        </p:nvSpPr>
        <p:spPr>
          <a:xfrm>
            <a:off x="713232" y="3246120"/>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Shape 25"/>
          <p:cNvSpPr/>
          <p:nvPr/>
        </p:nvSpPr>
        <p:spPr>
          <a:xfrm>
            <a:off x="2926080" y="3367278"/>
            <a:ext cx="1325880" cy="242316"/>
          </a:xfrm>
          <a:prstGeom prst="rect">
            <a:avLst/>
          </a:prstGeom>
          <a:solidFill>
            <a:srgbClr val="12A566"/>
          </a:solidFill>
          <a:ln/>
        </p:spPr>
      </p:sp>
      <p:sp>
        <p:nvSpPr>
          <p:cNvPr id="28" name="Text 26"/>
          <p:cNvSpPr txBox="1"/>
          <p:nvPr/>
        </p:nvSpPr>
        <p:spPr>
          <a:xfrm>
            <a:off x="5486400" y="3246120"/>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9" name="Text 27"/>
          <p:cNvSpPr txBox="1"/>
          <p:nvPr/>
        </p:nvSpPr>
        <p:spPr>
          <a:xfrm>
            <a:off x="617220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 parts $/RO</a:t>
            </a:r>
            <a:endParaRPr lang="en-US" sz="1300" dirty="0"/>
          </a:p>
        </p:txBody>
      </p:sp>
      <p:sp>
        <p:nvSpPr>
          <p:cNvPr id="30" name="Text 28"/>
          <p:cNvSpPr txBox="1"/>
          <p:nvPr/>
        </p:nvSpPr>
        <p:spPr>
          <a:xfrm>
            <a:off x="882396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31" name="Shape 29"/>
          <p:cNvSpPr/>
          <p:nvPr/>
        </p:nvSpPr>
        <p:spPr>
          <a:xfrm>
            <a:off x="621792" y="3730752"/>
            <a:ext cx="10945368" cy="484632"/>
          </a:xfrm>
          <a:prstGeom prst="rect">
            <a:avLst/>
          </a:prstGeom>
          <a:solidFill>
            <a:srgbClr val="F7F7F7"/>
          </a:solidFill>
          <a:ln/>
        </p:spPr>
      </p:sp>
      <p:sp>
        <p:nvSpPr>
          <p:cNvPr id="32" name="Text 30"/>
          <p:cNvSpPr txBox="1"/>
          <p:nvPr/>
        </p:nvSpPr>
        <p:spPr>
          <a:xfrm>
            <a:off x="713232" y="3730752"/>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Shape 31"/>
          <p:cNvSpPr/>
          <p:nvPr/>
        </p:nvSpPr>
        <p:spPr>
          <a:xfrm>
            <a:off x="2926080" y="3851910"/>
            <a:ext cx="883920" cy="242316"/>
          </a:xfrm>
          <a:prstGeom prst="rect">
            <a:avLst/>
          </a:prstGeom>
          <a:solidFill>
            <a:srgbClr val="12A566"/>
          </a:solidFill>
          <a:ln/>
        </p:spPr>
      </p:sp>
      <p:sp>
        <p:nvSpPr>
          <p:cNvPr id="34" name="Text 32"/>
          <p:cNvSpPr txBox="1"/>
          <p:nvPr/>
        </p:nvSpPr>
        <p:spPr>
          <a:xfrm>
            <a:off x="5486400" y="3730752"/>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617220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882396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7" name="Text 35"/>
          <p:cNvSpPr txBox="1"/>
          <p:nvPr/>
        </p:nvSpPr>
        <p:spPr>
          <a:xfrm>
            <a:off x="713232" y="421538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38" name="Shape 36"/>
          <p:cNvSpPr/>
          <p:nvPr/>
        </p:nvSpPr>
        <p:spPr>
          <a:xfrm>
            <a:off x="2926080" y="4336542"/>
            <a:ext cx="883920" cy="242316"/>
          </a:xfrm>
          <a:prstGeom prst="rect">
            <a:avLst/>
          </a:prstGeom>
          <a:solidFill>
            <a:srgbClr val="12A566"/>
          </a:solidFill>
          <a:ln/>
        </p:spPr>
      </p:sp>
      <p:sp>
        <p:nvSpPr>
          <p:cNvPr id="39" name="Text 37"/>
          <p:cNvSpPr txBox="1"/>
          <p:nvPr/>
        </p:nvSpPr>
        <p:spPr>
          <a:xfrm>
            <a:off x="5486400" y="421538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0" name="Text 38"/>
          <p:cNvSpPr txBox="1"/>
          <p:nvPr/>
        </p:nvSpPr>
        <p:spPr>
          <a:xfrm>
            <a:off x="617220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1" name="Text 39"/>
          <p:cNvSpPr txBox="1"/>
          <p:nvPr/>
        </p:nvSpPr>
        <p:spPr>
          <a:xfrm>
            <a:off x="882396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2" name="Shape 40"/>
          <p:cNvSpPr/>
          <p:nvPr/>
        </p:nvSpPr>
        <p:spPr>
          <a:xfrm>
            <a:off x="621792" y="4700016"/>
            <a:ext cx="10945368" cy="484632"/>
          </a:xfrm>
          <a:prstGeom prst="rect">
            <a:avLst/>
          </a:prstGeom>
          <a:solidFill>
            <a:srgbClr val="F7F7F7"/>
          </a:solidFill>
          <a:ln/>
        </p:spPr>
      </p:sp>
      <p:sp>
        <p:nvSpPr>
          <p:cNvPr id="43" name="Text 41"/>
          <p:cNvSpPr txBox="1"/>
          <p:nvPr/>
        </p:nvSpPr>
        <p:spPr>
          <a:xfrm>
            <a:off x="713232" y="470001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4" name="Shape 42"/>
          <p:cNvSpPr/>
          <p:nvPr/>
        </p:nvSpPr>
        <p:spPr>
          <a:xfrm>
            <a:off x="2926080" y="4821174"/>
            <a:ext cx="883920" cy="242316"/>
          </a:xfrm>
          <a:prstGeom prst="rect">
            <a:avLst/>
          </a:prstGeom>
          <a:solidFill>
            <a:srgbClr val="12A566"/>
          </a:solidFill>
          <a:ln/>
        </p:spPr>
      </p:sp>
      <p:sp>
        <p:nvSpPr>
          <p:cNvPr id="45" name="Text 43"/>
          <p:cNvSpPr txBox="1"/>
          <p:nvPr/>
        </p:nvSpPr>
        <p:spPr>
          <a:xfrm>
            <a:off x="5486400" y="470001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6" name="Text 44"/>
          <p:cNvSpPr txBox="1"/>
          <p:nvPr/>
        </p:nvSpPr>
        <p:spPr>
          <a:xfrm>
            <a:off x="617220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7" name="Text 45"/>
          <p:cNvSpPr txBox="1"/>
          <p:nvPr/>
        </p:nvSpPr>
        <p:spPr>
          <a:xfrm>
            <a:off x="882396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8" name="Text 46"/>
          <p:cNvSpPr txBox="1"/>
          <p:nvPr/>
        </p:nvSpPr>
        <p:spPr>
          <a:xfrm>
            <a:off x="713232" y="518464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9" name="Shape 47"/>
          <p:cNvSpPr/>
          <p:nvPr/>
        </p:nvSpPr>
        <p:spPr>
          <a:xfrm>
            <a:off x="2926080" y="5305806"/>
            <a:ext cx="883920" cy="242316"/>
          </a:xfrm>
          <a:prstGeom prst="rect">
            <a:avLst/>
          </a:prstGeom>
          <a:solidFill>
            <a:srgbClr val="12A566"/>
          </a:solidFill>
          <a:ln/>
        </p:spPr>
      </p:sp>
      <p:sp>
        <p:nvSpPr>
          <p:cNvPr id="50" name="Text 48"/>
          <p:cNvSpPr txBox="1"/>
          <p:nvPr/>
        </p:nvSpPr>
        <p:spPr>
          <a:xfrm>
            <a:off x="5486400" y="518464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51" name="Text 49"/>
          <p:cNvSpPr txBox="1"/>
          <p:nvPr/>
        </p:nvSpPr>
        <p:spPr>
          <a:xfrm>
            <a:off x="617220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2" name="Text 50"/>
          <p:cNvSpPr txBox="1"/>
          <p:nvPr/>
        </p:nvSpPr>
        <p:spPr>
          <a:xfrm>
            <a:off x="882396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3" name="Shape 51"/>
          <p:cNvSpPr/>
          <p:nvPr/>
        </p:nvSpPr>
        <p:spPr>
          <a:xfrm>
            <a:off x="457200" y="6126480"/>
            <a:ext cx="11274552" cy="371856"/>
          </a:xfrm>
          <a:prstGeom prst="rect">
            <a:avLst/>
          </a:prstGeom>
          <a:solidFill>
            <a:srgbClr val="E6F6EE"/>
          </a:solidFill>
          <a:ln/>
        </p:spPr>
      </p:sp>
      <p:sp>
        <p:nvSpPr>
          <p:cNvPr id="54" name="Text 5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has 6 top-3 finishes of 12. 8 stores make a top-3 list in both periods.</a:t>
            </a:r>
            <a:endParaRPr lang="en-US" sz="1600" dirty="0"/>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Gross</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+6.4% · 27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+46.0%</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Shape 16"/>
          <p:cNvSpPr/>
          <p:nvPr/>
        </p:nvSpPr>
        <p:spPr>
          <a:xfrm>
            <a:off x="3383280" y="3127248"/>
            <a:ext cx="126095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4" name="Shape 22"/>
          <p:cNvSpPr/>
          <p:nvPr/>
        </p:nvSpPr>
        <p:spPr>
          <a:xfrm>
            <a:off x="3383280" y="3785616"/>
            <a:ext cx="939340"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+33.8%</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$657K → $862K</a:t>
            </a:r>
            <a:endParaRPr lang="en-US" sz="1300" dirty="0"/>
          </a:p>
        </p:txBody>
      </p:sp>
      <p:sp>
        <p:nvSpPr>
          <p:cNvPr id="29" name="Shape 27"/>
          <p:cNvSpPr/>
          <p:nvPr/>
        </p:nvSpPr>
        <p:spPr>
          <a:xfrm>
            <a:off x="3383280" y="4443984"/>
            <a:ext cx="862566"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+31.0%</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$1.63M → $2.10M</a:t>
            </a:r>
            <a:endParaRPr lang="en-US" sz="1300" dirty="0"/>
          </a:p>
        </p:txBody>
      </p:sp>
      <p:sp>
        <p:nvSpPr>
          <p:cNvPr id="35" name="Shape 33"/>
          <p:cNvSpPr/>
          <p:nvPr/>
        </p:nvSpPr>
        <p:spPr>
          <a:xfrm>
            <a:off x="3383280" y="5102352"/>
            <a:ext cx="80027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+8.4% · 29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+72.1%</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50" name="Shape 48"/>
          <p:cNvSpPr/>
          <p:nvPr/>
        </p:nvSpPr>
        <p:spPr>
          <a:xfrm>
            <a:off x="9098280" y="3127248"/>
            <a:ext cx="738338"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+41.5%</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56" name="Shape 54"/>
          <p:cNvSpPr/>
          <p:nvPr/>
        </p:nvSpPr>
        <p:spPr>
          <a:xfrm>
            <a:off x="9098280" y="3785616"/>
            <a:ext cx="72918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+41.0%</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$268K → $358K</a:t>
            </a:r>
            <a:endParaRPr lang="en-US" sz="1300" dirty="0"/>
          </a:p>
        </p:txBody>
      </p:sp>
      <p:sp>
        <p:nvSpPr>
          <p:cNvPr id="61" name="Shape 59"/>
          <p:cNvSpPr/>
          <p:nvPr/>
        </p:nvSpPr>
        <p:spPr>
          <a:xfrm>
            <a:off x="9098280" y="4443984"/>
            <a:ext cx="592350"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+33.3%</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$473K → $626K</a:t>
            </a:r>
            <a:endParaRPr lang="en-US" sz="1300" dirty="0"/>
          </a:p>
        </p:txBody>
      </p:sp>
      <p:sp>
        <p:nvSpPr>
          <p:cNvPr id="67" name="Shape 65"/>
          <p:cNvSpPr/>
          <p:nvPr/>
        </p:nvSpPr>
        <p:spPr>
          <a:xfrm>
            <a:off x="9098280" y="5102352"/>
            <a:ext cx="57469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+32.3%</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RO Count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+0.1% · 20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+13.6%</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18" name="Shape 16"/>
          <p:cNvSpPr/>
          <p:nvPr/>
        </p:nvSpPr>
        <p:spPr>
          <a:xfrm>
            <a:off x="3383280" y="3127248"/>
            <a:ext cx="118782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+12.6%</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24" name="Shape 22"/>
          <p:cNvSpPr/>
          <p:nvPr/>
        </p:nvSpPr>
        <p:spPr>
          <a:xfrm>
            <a:off x="3383280" y="3785616"/>
            <a:ext cx="9910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+10.5%</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5,042 → 5,553</a:t>
            </a:r>
            <a:endParaRPr lang="en-US" sz="1300" dirty="0"/>
          </a:p>
        </p:txBody>
      </p:sp>
      <p:sp>
        <p:nvSpPr>
          <p:cNvPr id="29" name="Shape 27"/>
          <p:cNvSpPr/>
          <p:nvPr/>
        </p:nvSpPr>
        <p:spPr>
          <a:xfrm>
            <a:off x="3383280" y="4443984"/>
            <a:ext cx="95029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+10.1%</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1,303 → 1,421</a:t>
            </a:r>
            <a:endParaRPr lang="en-US" sz="1300" dirty="0"/>
          </a:p>
        </p:txBody>
      </p:sp>
      <p:sp>
        <p:nvSpPr>
          <p:cNvPr id="35" name="Shape 33"/>
          <p:cNvSpPr/>
          <p:nvPr/>
        </p:nvSpPr>
        <p:spPr>
          <a:xfrm>
            <a:off x="3383280" y="5102352"/>
            <a:ext cx="84913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+9.0%</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+2.0% · 20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+20.4%</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50" name="Shape 48"/>
          <p:cNvSpPr/>
          <p:nvPr/>
        </p:nvSpPr>
        <p:spPr>
          <a:xfrm>
            <a:off x="9098280" y="3127248"/>
            <a:ext cx="1205264"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+19.2%</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56" name="Shape 54"/>
          <p:cNvSpPr/>
          <p:nvPr/>
        </p:nvSpPr>
        <p:spPr>
          <a:xfrm>
            <a:off x="9098280" y="3785616"/>
            <a:ext cx="1091864"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+17.4%</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AUDI HENDERSON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1,144 → 1,304</a:t>
            </a:r>
            <a:endParaRPr lang="en-US" sz="1300" dirty="0"/>
          </a:p>
        </p:txBody>
      </p:sp>
      <p:sp>
        <p:nvSpPr>
          <p:cNvPr id="61" name="Shape 59"/>
          <p:cNvSpPr/>
          <p:nvPr/>
        </p:nvSpPr>
        <p:spPr>
          <a:xfrm>
            <a:off x="9098280" y="4443984"/>
            <a:ext cx="87580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+13.9%</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2,374 → 2,700</a:t>
            </a:r>
            <a:endParaRPr lang="en-US" sz="1300" dirty="0"/>
          </a:p>
        </p:txBody>
      </p:sp>
      <p:sp>
        <p:nvSpPr>
          <p:cNvPr id="67" name="Shape 65"/>
          <p:cNvSpPr/>
          <p:nvPr/>
        </p:nvSpPr>
        <p:spPr>
          <a:xfrm>
            <a:off x="9098280" y="5102352"/>
            <a:ext cx="859902"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Kia LV leads Jan–Sep; LR Reno leads the last 90 days. Three stores are top five in both.</a:t>
            </a:r>
            <a:endParaRPr lang="en-US" sz="1600" dirty="0"/>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Hours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+3.6% · 26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+39.1%</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18" name="Shape 16"/>
          <p:cNvSpPr/>
          <p:nvPr/>
        </p:nvSpPr>
        <p:spPr>
          <a:xfrm>
            <a:off x="3383280" y="3127248"/>
            <a:ext cx="102382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24" name="Shape 22"/>
          <p:cNvSpPr/>
          <p:nvPr/>
        </p:nvSpPr>
        <p:spPr>
          <a:xfrm>
            <a:off x="3383280" y="3785616"/>
            <a:ext cx="1005399"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+30.7%</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 → 1.60</a:t>
            </a:r>
            <a:endParaRPr lang="en-US" sz="1300" dirty="0"/>
          </a:p>
        </p:txBody>
      </p:sp>
      <p:sp>
        <p:nvSpPr>
          <p:cNvPr id="29" name="Shape 27"/>
          <p:cNvSpPr/>
          <p:nvPr/>
        </p:nvSpPr>
        <p:spPr>
          <a:xfrm>
            <a:off x="3383280" y="4443984"/>
            <a:ext cx="6405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+19.5%</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1.32 → 1.57</a:t>
            </a:r>
            <a:endParaRPr lang="en-US" sz="1300" dirty="0"/>
          </a:p>
        </p:txBody>
      </p:sp>
      <p:sp>
        <p:nvSpPr>
          <p:cNvPr id="35" name="Shape 33"/>
          <p:cNvSpPr/>
          <p:nvPr/>
        </p:nvSpPr>
        <p:spPr>
          <a:xfrm>
            <a:off x="3383280" y="5102352"/>
            <a:ext cx="612671"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+3.1% · 23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+44.7%</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Shape 48"/>
          <p:cNvSpPr/>
          <p:nvPr/>
        </p:nvSpPr>
        <p:spPr>
          <a:xfrm>
            <a:off x="9098280" y="3127248"/>
            <a:ext cx="1177847"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+41.1%</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6" name="Shape 54"/>
          <p:cNvSpPr/>
          <p:nvPr/>
        </p:nvSpPr>
        <p:spPr>
          <a:xfrm>
            <a:off x="9098280" y="3785616"/>
            <a:ext cx="78850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+27.5%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3.39 → 4.07</a:t>
            </a:r>
            <a:endParaRPr lang="en-US" sz="1300" dirty="0"/>
          </a:p>
        </p:txBody>
      </p:sp>
      <p:sp>
        <p:nvSpPr>
          <p:cNvPr id="61" name="Shape 59"/>
          <p:cNvSpPr/>
          <p:nvPr/>
        </p:nvSpPr>
        <p:spPr>
          <a:xfrm>
            <a:off x="9098280" y="4443984"/>
            <a:ext cx="576271"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2.07 → 2.44</a:t>
            </a:r>
            <a:endParaRPr lang="en-US" sz="1300" dirty="0"/>
          </a:p>
        </p:txBody>
      </p:sp>
      <p:sp>
        <p:nvSpPr>
          <p:cNvPr id="67" name="Shape 65"/>
          <p:cNvSpPr/>
          <p:nvPr/>
        </p:nvSpPr>
        <p:spPr>
          <a:xfrm>
            <a:off x="9098280" y="5102352"/>
            <a:ext cx="50434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Hyundai St George leads both periods. Hyundai St George and Kia St George are top five in both.</a:t>
            </a:r>
            <a:endParaRPr lang="en-US" sz="1600" dirty="0"/>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ELR</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+2.2% · 19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18" name="Shape 16"/>
          <p:cNvSpPr/>
          <p:nvPr/>
        </p:nvSpPr>
        <p:spPr>
          <a:xfrm>
            <a:off x="3383280" y="3127248"/>
            <a:ext cx="1246113"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24" name="Shape 22"/>
          <p:cNvSpPr/>
          <p:nvPr/>
        </p:nvSpPr>
        <p:spPr>
          <a:xfrm>
            <a:off x="3383280" y="3785616"/>
            <a:ext cx="1123401"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$153.87 → $175.90</a:t>
            </a:r>
            <a:endParaRPr lang="en-US" sz="1300" dirty="0"/>
          </a:p>
        </p:txBody>
      </p:sp>
      <p:sp>
        <p:nvSpPr>
          <p:cNvPr id="29" name="Shape 27"/>
          <p:cNvSpPr/>
          <p:nvPr/>
        </p:nvSpPr>
        <p:spPr>
          <a:xfrm>
            <a:off x="3383280" y="4443984"/>
            <a:ext cx="7990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+14.3%</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$122.25 → $139.13</a:t>
            </a:r>
            <a:endParaRPr lang="en-US" sz="1300" dirty="0"/>
          </a:p>
        </p:txBody>
      </p:sp>
      <p:sp>
        <p:nvSpPr>
          <p:cNvPr id="35" name="Shape 33"/>
          <p:cNvSpPr/>
          <p:nvPr/>
        </p:nvSpPr>
        <p:spPr>
          <a:xfrm>
            <a:off x="3383280" y="5102352"/>
            <a:ext cx="770788"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+2.5% · 22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+23.9%</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50" name="Shape 48"/>
          <p:cNvSpPr/>
          <p:nvPr/>
        </p:nvSpPr>
        <p:spPr>
          <a:xfrm>
            <a:off x="9098280" y="3127248"/>
            <a:ext cx="1244425"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+23.3%</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56" name="Shape 54"/>
          <p:cNvSpPr/>
          <p:nvPr/>
        </p:nvSpPr>
        <p:spPr>
          <a:xfrm>
            <a:off x="9098280" y="3785616"/>
            <a:ext cx="1205012"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$160.07 → $180.14</a:t>
            </a:r>
            <a:endParaRPr lang="en-US" sz="1300" dirty="0"/>
          </a:p>
        </p:txBody>
      </p:sp>
      <p:sp>
        <p:nvSpPr>
          <p:cNvPr id="61" name="Shape 59"/>
          <p:cNvSpPr/>
          <p:nvPr/>
        </p:nvSpPr>
        <p:spPr>
          <a:xfrm>
            <a:off x="9098280" y="4443984"/>
            <a:ext cx="669135"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+12.5%</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$125.74 → $139.81</a:t>
            </a:r>
            <a:endParaRPr lang="en-US" sz="1300" dirty="0"/>
          </a:p>
        </p:txBody>
      </p:sp>
      <p:sp>
        <p:nvSpPr>
          <p:cNvPr id="67" name="Shape 65"/>
          <p:cNvSpPr/>
          <p:nvPr/>
        </p:nvSpPr>
        <p:spPr>
          <a:xfrm>
            <a:off x="9098280" y="5102352"/>
            <a:ext cx="596701"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+11.1%</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Honda Spokane leads Jan–Sep; Lincoln leads the last 90 days. Five stores are top five in both.</a:t>
            </a:r>
            <a:endParaRPr lang="en-US" sz="1600" dirty="0"/>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+4.1% · 24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18" name="Shape 16"/>
          <p:cNvSpPr/>
          <p:nvPr/>
        </p:nvSpPr>
        <p:spPr>
          <a:xfrm>
            <a:off x="3383280" y="3127248"/>
            <a:ext cx="109553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+24.7%</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24" name="Shape 22"/>
          <p:cNvSpPr/>
          <p:nvPr/>
        </p:nvSpPr>
        <p:spPr>
          <a:xfrm>
            <a:off x="3383280" y="3785616"/>
            <a:ext cx="9305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+21.0%</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$179 → $212</a:t>
            </a:r>
            <a:endParaRPr lang="en-US" sz="1300" dirty="0"/>
          </a:p>
        </p:txBody>
      </p:sp>
      <p:sp>
        <p:nvSpPr>
          <p:cNvPr id="29" name="Shape 27"/>
          <p:cNvSpPr/>
          <p:nvPr/>
        </p:nvSpPr>
        <p:spPr>
          <a:xfrm>
            <a:off x="3383280" y="4443984"/>
            <a:ext cx="829801"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$238 → $280</a:t>
            </a:r>
            <a:endParaRPr lang="en-US" sz="1300" dirty="0"/>
          </a:p>
        </p:txBody>
      </p:sp>
      <p:sp>
        <p:nvSpPr>
          <p:cNvPr id="35" name="Shape 33"/>
          <p:cNvSpPr/>
          <p:nvPr/>
        </p:nvSpPr>
        <p:spPr>
          <a:xfrm>
            <a:off x="3383280" y="5102352"/>
            <a:ext cx="78160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+3.8% · 24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+40.0%</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50" name="Shape 48"/>
          <p:cNvSpPr/>
          <p:nvPr/>
        </p:nvSpPr>
        <p:spPr>
          <a:xfrm>
            <a:off x="9098280" y="3127248"/>
            <a:ext cx="919791"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+28.7%</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HENDERSON</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56" name="Shape 54"/>
          <p:cNvSpPr/>
          <p:nvPr/>
        </p:nvSpPr>
        <p:spPr>
          <a:xfrm>
            <a:off x="9098280" y="3785616"/>
            <a:ext cx="786898"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+24.6%</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$234 → $285</a:t>
            </a:r>
            <a:endParaRPr lang="en-US" sz="1300" dirty="0"/>
          </a:p>
        </p:txBody>
      </p:sp>
      <p:sp>
        <p:nvSpPr>
          <p:cNvPr id="61" name="Shape 59"/>
          <p:cNvSpPr/>
          <p:nvPr/>
        </p:nvSpPr>
        <p:spPr>
          <a:xfrm>
            <a:off x="9098280" y="4443984"/>
            <a:ext cx="69781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+21.8%</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$197 → $234</a:t>
            </a:r>
            <a:endParaRPr lang="en-US" sz="1300" dirty="0"/>
          </a:p>
        </p:txBody>
      </p:sp>
      <p:sp>
        <p:nvSpPr>
          <p:cNvPr id="67" name="Shape 65"/>
          <p:cNvSpPr/>
          <p:nvPr/>
        </p:nvSpPr>
        <p:spPr>
          <a:xfrm>
            <a:off x="9098280" y="5102352"/>
            <a:ext cx="597749"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GP %</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28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+6.1 pts</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18" name="Shape 16"/>
          <p:cNvSpPr/>
          <p:nvPr/>
        </p:nvSpPr>
        <p:spPr>
          <a:xfrm>
            <a:off x="3383280" y="3127248"/>
            <a:ext cx="943982"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 pts</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24" name="Shape 22"/>
          <p:cNvSpPr/>
          <p:nvPr/>
        </p:nvSpPr>
        <p:spPr>
          <a:xfrm>
            <a:off x="3383280" y="3785616"/>
            <a:ext cx="796646"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33.7% → 37.0%</a:t>
            </a:r>
            <a:endParaRPr lang="en-US" sz="1300" dirty="0"/>
          </a:p>
        </p:txBody>
      </p:sp>
      <p:sp>
        <p:nvSpPr>
          <p:cNvPr id="29" name="Shape 27"/>
          <p:cNvSpPr/>
          <p:nvPr/>
        </p:nvSpPr>
        <p:spPr>
          <a:xfrm>
            <a:off x="3383280" y="4443984"/>
            <a:ext cx="692935"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41.3% → 44.6%</a:t>
            </a:r>
            <a:endParaRPr lang="en-US" sz="1300" dirty="0"/>
          </a:p>
        </p:txBody>
      </p:sp>
      <p:sp>
        <p:nvSpPr>
          <p:cNvPr id="35" name="Shape 33"/>
          <p:cNvSpPr/>
          <p:nvPr/>
        </p:nvSpPr>
        <p:spPr>
          <a:xfrm>
            <a:off x="3383280" y="5102352"/>
            <a:ext cx="68768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 pts</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27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+7.7 pts</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50" name="Shape 48"/>
          <p:cNvSpPr/>
          <p:nvPr/>
        </p:nvSpPr>
        <p:spPr>
          <a:xfrm>
            <a:off x="9098280" y="3127248"/>
            <a:ext cx="686566"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 pts</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56" name="Shape 54"/>
          <p:cNvSpPr/>
          <p:nvPr/>
        </p:nvSpPr>
        <p:spPr>
          <a:xfrm>
            <a:off x="9098280" y="3785616"/>
            <a:ext cx="670906"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 pts</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34.9%</a:t>
            </a:r>
            <a:endParaRPr lang="en-US" sz="1300" dirty="0"/>
          </a:p>
        </p:txBody>
      </p:sp>
      <p:sp>
        <p:nvSpPr>
          <p:cNvPr id="61" name="Shape 59"/>
          <p:cNvSpPr/>
          <p:nvPr/>
        </p:nvSpPr>
        <p:spPr>
          <a:xfrm>
            <a:off x="9098280" y="4443984"/>
            <a:ext cx="632324"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39.3% → 42.6%</a:t>
            </a:r>
            <a:endParaRPr lang="en-US" sz="1300" dirty="0"/>
          </a:p>
        </p:txBody>
      </p:sp>
      <p:sp>
        <p:nvSpPr>
          <p:cNvPr id="67" name="Shape 65"/>
          <p:cNvSpPr/>
          <p:nvPr/>
        </p:nvSpPr>
        <p:spPr>
          <a:xfrm>
            <a:off x="9098280" y="5102352"/>
            <a:ext cx="546860"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leads both periods. Acura and Subaru Prescott are top five in both.</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2026-10-21T23:52:58Z</dcterms:created>
  <dcterms:modified xsi:type="dcterms:W3CDTF">2026-10-21T23:52:58Z</dcterms:modified>
</cp:coreProperties>
</file>