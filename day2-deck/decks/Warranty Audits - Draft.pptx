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175.2439841962175</c:v>
                </c:pt>
                <c:pt idx="1">
                  <c:v>174.70169012351778</c:v>
                </c:pt>
                <c:pt idx="2">
                  <c:v>172.9285775129414</c:v>
                </c:pt>
                <c:pt idx="3">
                  <c:v>175.61127356278703</c:v>
                </c:pt>
                <c:pt idx="4">
                  <c:v>181.75874394919398</c:v>
                </c:pt>
                <c:pt idx="5">
                  <c:v>185.28735446655506</c:v>
                </c:pt>
                <c:pt idx="6">
                  <c:v>186.84360060500507</c:v>
                </c:pt>
                <c:pt idx="7">
                  <c:v>186.03852485364902</c:v>
                </c:pt>
                <c:pt idx="8">
                  <c:v>186.63443624697075</c:v>
                </c:pt>
                <c:pt idx="9">
                  <c:v>187.82340399621128</c:v>
                </c:pt>
                <c:pt idx="10">
                  <c:v>188.54570456770247</c:v>
                </c:pt>
                <c:pt idx="11">
                  <c:v>193.026339762648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196.3431055626689</c:v>
                </c:pt>
                <c:pt idx="1">
                  <c:v>197.59988088885487</c:v>
                </c:pt>
                <c:pt idx="2">
                  <c:v>196.73190202486097</c:v>
                </c:pt>
                <c:pt idx="3">
                  <c:v>199.07347573222432</c:v>
                </c:pt>
                <c:pt idx="4">
                  <c:v>194.27814921582817</c:v>
                </c:pt>
                <c:pt idx="5">
                  <c:v>194.34736290224444</c:v>
                </c:pt>
                <c:pt idx="6">
                  <c:v>198.70298965359143</c:v>
                </c:pt>
                <c:pt idx="7">
                  <c:v>198.475216144318</c:v>
                </c:pt>
                <c:pt idx="8">
                  <c:v>198.64898260681719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175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42.278253053610044</c:v>
                </c:pt>
                <c:pt idx="1">
                  <c:v>42.41544739806332</c:v>
                </c:pt>
                <c:pt idx="2">
                  <c:v>42.65611347315035</c:v>
                </c:pt>
                <c:pt idx="3">
                  <c:v>42.70081646746627</c:v>
                </c:pt>
                <c:pt idx="4">
                  <c:v>41.81256614635749</c:v>
                </c:pt>
                <c:pt idx="5">
                  <c:v>41.719042884608356</c:v>
                </c:pt>
                <c:pt idx="6">
                  <c:v>43.27386273923569</c:v>
                </c:pt>
                <c:pt idx="7">
                  <c:v>43.053208466855786</c:v>
                </c:pt>
                <c:pt idx="8">
                  <c:v>43.188043770686036</c:v>
                </c:pt>
                <c:pt idx="9">
                  <c:v>42.49206866316298</c:v>
                </c:pt>
                <c:pt idx="10">
                  <c:v>42.854394657766704</c:v>
                </c:pt>
                <c:pt idx="11">
                  <c:v>43.14464569316162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175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43.488578069326266</c:v>
                </c:pt>
                <c:pt idx="1">
                  <c:v>44.23461338126831</c:v>
                </c:pt>
                <c:pt idx="2">
                  <c:v>43.95920209770964</c:v>
                </c:pt>
                <c:pt idx="3">
                  <c:v>44.2887708163885</c:v>
                </c:pt>
                <c:pt idx="4">
                  <c:v>44.54479532799166</c:v>
                </c:pt>
                <c:pt idx="5">
                  <c:v>44.549732104003056</c:v>
                </c:pt>
                <c:pt idx="6">
                  <c:v>45.97617480951779</c:v>
                </c:pt>
                <c:pt idx="7">
                  <c:v>45.06618203861053</c:v>
                </c:pt>
                <c:pt idx="8">
                  <c:v>45.636711065820116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8"/>
          <c:min val="38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4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Rate increases: YTD RWR Financials 2026 (warranty rate submission vendor), "YTD revenue secured" = added gross profit from approved increases (labor $1,661,368, parts $2,126,832); 14 stores have no approval yet. Rates: Qlik - Closed Repair Orders, warranty pay type by close month; ELR = warranty labor sale / hours sold; parts margin = warranty parts gross / parts sale. 2025 January-December, 2026 January-September. Same-store.Talk track (Noah, Oct 24-25): rate increases are new money on every warranty claim, and they show up as a higher warranty ELR and parts margin. The factory notices higher rates too: more money in means more scrutiny, so documentation and process on every claim is how we keep what we are owed.
Vendor store names: Findlay Acura = ACURA; Findlay Audi Reno Tahoe = AUDI RENO; Findlay BGMC Prescott = GMC PRESCOTT; Findlay Chevrolet = CHEVY LV; Findlay Chrysler Post Falls = CDJR POST FALLS; Findlay Honda Flagstaff = HONDA FLAGSTAFF; Findlay Honda Henderson = HONDA HENDERSON; Findlay Honda North = HONDA NORTH; Findlay Honda Spokane = HONDA SPOKANE; Findlay Hyundai Prescott = HYUNDAI PRESCOTT; Findlay Kia St George = KIA ST GEORGE; Findlay Lexus Spokane = LEXUS; Findlay Lincoln = LINCOLN; Findlay Mazda = MAZDA; Findlay Nissan Henderson = NISSAN; Findlay Subaru Prescott = SUBARU PRESCOTT; Land Rover Henderson = LR HENDERSON; Land Rover Las Vegas = LR LV; Land Rover Reno = LR RENO.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Causes from Jan 2026 GM meeting slide 13; the two signature causes combined and Supporting evidence added (Noah, Oct 22: some manufacturers require photos of the failed component or proof a procedure was followed). That slide named six stores and their debits; stores are left off here, as on Warranty Compliance. The store amounts on the Jan slide add to $414,000 (headline said $400,000), so the slide says 'over $400,000'.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Jan 2026 GM meeting (Day 1), slides 13-14: six warranty audits, primary causes and Warranty Compliance steps. Descriptions under each heading drafted for this deck; confirm against each OEM's warranty policy manual.DRAFT. Steps from Jan 2026 GM meeting slide 14 (Warranty Compliance); the GM responsibility line from slide 13.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Rates Are Rising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257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1316736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IN 2026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886200" y="128016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$3.79M GP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3736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97480" y="1785323"/>
            <a:ext cx="19659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709160" y="173736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$798K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95537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697480" y="2003335"/>
            <a:ext cx="114173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09160" y="195537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$463K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658368" y="217338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697480" y="2221347"/>
            <a:ext cx="84747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709160" y="217338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$344K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39139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697480" y="2439359"/>
            <a:ext cx="80259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709160" y="239139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$326K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60940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697480" y="2657372"/>
            <a:ext cx="719577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09160" y="260940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$292K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82742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697480" y="2875384"/>
            <a:ext cx="69870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709160" y="282742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$284K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58368" y="304543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697480" y="3093396"/>
            <a:ext cx="55524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709160" y="304543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$225K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58368" y="326344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2697480" y="3311408"/>
            <a:ext cx="5156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4709160" y="326344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48145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697480" y="3529420"/>
            <a:ext cx="359936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09160" y="348145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69947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697480" y="3747433"/>
            <a:ext cx="329395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709160" y="369947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658368" y="3917482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2697480" y="3965445"/>
            <a:ext cx="23717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709160" y="3917482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$96K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658368" y="4135494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2697480" y="4183457"/>
            <a:ext cx="23312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709160" y="4135494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4353507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97480" y="4401469"/>
            <a:ext cx="229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09160" y="4353507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$93K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571519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97480" y="4619481"/>
            <a:ext cx="223401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709160" y="4571519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$91K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658368" y="4789531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97480" y="4837494"/>
            <a:ext cx="184669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709160" y="4789531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$75K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58368" y="5007543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97480" y="5055506"/>
            <a:ext cx="151614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4709160" y="5007543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$62K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5225555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697480" y="5273518"/>
            <a:ext cx="86983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09160" y="5225555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$35K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5443568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2697480" y="5491530"/>
            <a:ext cx="37460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709160" y="5443568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$15K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5661580"/>
            <a:ext cx="2011680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63" name="Shape 61"/>
          <p:cNvSpPr/>
          <p:nvPr/>
        </p:nvSpPr>
        <p:spPr>
          <a:xfrm>
            <a:off x="2697480" y="5709542"/>
            <a:ext cx="18288" cy="122087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709160" y="5661580"/>
            <a:ext cx="804672" cy="218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$5K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870448" y="120700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6053328" y="128016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</a:t>
            </a:r>
            <a:endParaRPr lang="en-US" sz="1400" dirty="0"/>
          </a:p>
        </p:txBody>
      </p:sp>
      <p:graphicFrame>
        <p:nvGraphicFramePr>
          <p:cNvPr id="67" name="Chart 0" descr=""/>
          <p:cNvGraphicFramePr/>
          <p:nvPr/>
        </p:nvGraphicFramePr>
        <p:xfrm>
          <a:off x="5916168" y="159105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8" name="Shape 65"/>
          <p:cNvSpPr/>
          <p:nvPr/>
        </p:nvSpPr>
        <p:spPr>
          <a:xfrm>
            <a:off x="5870448" y="3653028"/>
            <a:ext cx="5861304" cy="23362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6"/>
          <p:cNvSpPr txBox="1"/>
          <p:nvPr/>
        </p:nvSpPr>
        <p:spPr>
          <a:xfrm>
            <a:off x="6053328" y="3726180"/>
            <a:ext cx="5495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PARTS GP %    </a:t>
            </a:r>
            <a:pPr indent="0" marL="0">
              <a:buNone/>
            </a:pPr>
            <a:r>
              <a:rPr lang="en-US" sz="14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</a:t>
            </a:r>
            <a:pPr indent="0" marL="0">
              <a:buNone/>
            </a:pPr>
            <a:r>
              <a:rPr lang="en-US" sz="1600" b="1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42.6%    </a:t>
            </a:r>
            <a:pPr indent="0" marL="0">
              <a:buNone/>
            </a:pPr>
            <a:r>
              <a:rPr lang="en-US" sz="14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</a:t>
            </a:r>
            <a:pPr indent="0" marL="0">
              <a:buNone/>
            </a:pPr>
            <a:r>
              <a:rPr lang="en-US" sz="1600" b="1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44.7%</a:t>
            </a:r>
            <a:endParaRPr lang="en-US" sz="1400" dirty="0"/>
          </a:p>
        </p:txBody>
      </p:sp>
      <p:graphicFrame>
        <p:nvGraphicFramePr>
          <p:cNvPr id="70" name="Chart 1" descr=""/>
          <p:cNvGraphicFramePr/>
          <p:nvPr/>
        </p:nvGraphicFramePr>
        <p:xfrm>
          <a:off x="5916168" y="4037076"/>
          <a:ext cx="5769864" cy="18973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1" name="Shape 6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2" name="Text 6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Protect that money: higher rates draw more audits, so document every claim to hold up.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Claims Debited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auditors check: the causes in the six audits, plus supporting evidence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documentation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Complaint, cause and correction written on the RO, and matching what was claimed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46448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6448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47616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Required signatures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547616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Manager sign-off on added repairs; customer and manager signatures on in-stock units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007096" y="1865376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8007096" y="1865376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08264" y="1993392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Supporting evidence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208264" y="2724912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Photos of the failed part, test results and proof the required procedure was followed, where the manufacturer asks for it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85800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685800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886968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 mileage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886968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Recorded on every RO and consistent with the mileage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346448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4346448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47616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Punch times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4547616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clock times on the RO support the hours claimed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8007096" y="3918204"/>
            <a:ext cx="3496056" cy="1888236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9" name="Shape 27"/>
          <p:cNvSpPr/>
          <p:nvPr/>
        </p:nvSpPr>
        <p:spPr>
          <a:xfrm>
            <a:off x="8007096" y="3918204"/>
            <a:ext cx="54864" cy="1888236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208264" y="4046220"/>
            <a:ext cx="3166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Manufacturer authorization</a:t>
            </a:r>
            <a:endParaRPr lang="en-US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8208264" y="4777740"/>
            <a:ext cx="3166872" cy="9189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Prior approval on file wherever the manufacturer requires it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took back over $400,000, more than a tenth of what rate increases brought in this year. Every cause here is documentation the store controls.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Claim Paid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44168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compliance, in five steps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1691640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8" name="Shape 6"/>
          <p:cNvSpPr/>
          <p:nvPr/>
        </p:nvSpPr>
        <p:spPr>
          <a:xfrm>
            <a:off x="685800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86968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 Documented policies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86968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manufacturer's current warranty policy manual, where the team can reach it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2882189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2189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083357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 Defined process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083357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writes, who approves, who submits: every claim handled the same way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78578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" name="Shape 15"/>
          <p:cNvSpPr/>
          <p:nvPr/>
        </p:nvSpPr>
        <p:spPr>
          <a:xfrm>
            <a:off x="5078578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279746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 Create awareness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279746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Advisors, technicians and warranty admins know what an auditor checks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74966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Shape 19"/>
          <p:cNvSpPr/>
          <p:nvPr/>
        </p:nvSpPr>
        <p:spPr>
          <a:xfrm>
            <a:off x="7274966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476134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 Safety nets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476134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Signatures, out mileage, punch times and authorizations checked before the claim goes in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9471355" y="1865376"/>
            <a:ext cx="2031797" cy="3941064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Shape 23"/>
          <p:cNvSpPr/>
          <p:nvPr/>
        </p:nvSpPr>
        <p:spPr>
          <a:xfrm>
            <a:off x="9471355" y="1865376"/>
            <a:ext cx="54864" cy="394106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9672523" y="1993392"/>
            <a:ext cx="17026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 Spot-check and self-audit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9672523" y="2724912"/>
            <a:ext cx="1702613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Pull warranty ROs every month and audit them the way the factory will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making sure warranty policies and procedures are followed.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2026-10-29T16:32:26Z</dcterms:created>
  <dcterms:modified xsi:type="dcterms:W3CDTF">2026-10-29T16:32:26Z</dcterms:modified>
</cp:coreProperties>
</file>