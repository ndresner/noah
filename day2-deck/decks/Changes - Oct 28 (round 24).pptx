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2.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46.xml" ContentType="application/vnd.openxmlformats-officedocument.presentationml.slide+xml"/>
  <Override PartName="/ppt/slides/slide155.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2.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3"/>
    <p:sldId id="289" r:id="rId40"/>
    <p:sldId id="290" r:id="rId41"/>
    <p:sldId id="291" r:id="rId42"/>
    <p:sldId id="292" r:id="rId43"/>
    <p:sldId id="293" r:id="rId44"/>
    <p:sldId id="264" r:id="rId10"/>
    <p:sldId id="265" r:id="rId11"/>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2.xml"/><Relationship Id="rId10" Type="http://schemas.openxmlformats.org/officeDocument/2006/relationships/slide" Target="slides/slide146.xml"/><Relationship Id="rId11" Type="http://schemas.openxmlformats.org/officeDocument/2006/relationships/slide" Target="slides/slide155.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74.8</c:v>
                </c:pt>
                <c:pt idx="1">
                  <c:v>74.5</c:v>
                </c:pt>
                <c:pt idx="2">
                  <c:v>78.5</c:v>
                </c:pt>
                <c:pt idx="3">
                  <c:v>79.6</c:v>
                </c:pt>
                <c:pt idx="4">
                  <c:v>75.4</c:v>
                </c:pt>
                <c:pt idx="5">
                  <c:v>79.2</c:v>
                </c:pt>
                <c:pt idx="6">
                  <c:v>83</c:v>
                </c:pt>
                <c:pt idx="7">
                  <c:v>79.9</c:v>
                </c:pt>
                <c:pt idx="8">
                  <c:v>77.6</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0"/>
          <c:min val="65"/>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78.5</c:v>
                </c:pt>
                <c:pt idx="3">
                  <c:v>79.6</c:v>
                </c:pt>
                <c:pt idx="4">
                  <c:v/>
                </c:pt>
                <c:pt idx="5">
                  <c:v>79.2</c:v>
                </c:pt>
                <c:pt idx="6">
                  <c:v>83</c:v>
                </c:pt>
                <c:pt idx="7">
                  <c:v>79.9</c:v>
                </c:pt>
                <c:pt idx="8">
                  <c:v>77.6</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0"/>
          <c:min val="65"/>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74.8</c:v>
                </c:pt>
                <c:pt idx="1">
                  <c:v>74.5</c:v>
                </c:pt>
                <c:pt idx="2">
                  <c:v/>
                </c:pt>
                <c:pt idx="3">
                  <c:v/>
                </c:pt>
                <c:pt idx="4">
                  <c:v>75.4</c:v>
                </c:pt>
                <c:pt idx="5">
                  <c:v/>
                </c:pt>
                <c:pt idx="6">
                  <c:v/>
                </c:pt>
                <c:pt idx="7">
                  <c:v/>
                </c:pt>
                <c:pt idx="8">
                  <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0"/>
          <c:min val="65"/>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77</c:v>
                </c:pt>
                <c:pt idx="1">
                  <c:v>75.1</c:v>
                </c:pt>
                <c:pt idx="2">
                  <c:v/>
                </c:pt>
                <c:pt idx="3">
                  <c:v/>
                </c:pt>
                <c:pt idx="4">
                  <c:v>76.9</c:v>
                </c:pt>
                <c:pt idx="5">
                  <c:v/>
                </c:pt>
                <c:pt idx="6">
                  <c:v/>
                </c:pt>
                <c:pt idx="7">
                  <c:v/>
                </c:pt>
                <c:pt idx="8">
                  <c:v/>
                </c:pt>
                <c:pt idx="9">
                  <c:v>82</c:v>
                </c:pt>
                <c:pt idx="10">
                  <c:v/>
                </c:pt>
                <c:pt idx="11">
                  <c:v>74.6</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0"/>
          <c:min val="65"/>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74.1</c:v>
                </c:pt>
                <c:pt idx="3">
                  <c:v>76.3</c:v>
                </c:pt>
                <c:pt idx="4">
                  <c:v/>
                </c:pt>
                <c:pt idx="5">
                  <c:v>77.8</c:v>
                </c:pt>
                <c:pt idx="6">
                  <c:v>78.4</c:v>
                </c:pt>
                <c:pt idx="7">
                  <c:v>75.9</c:v>
                </c:pt>
                <c:pt idx="8">
                  <c:v>72.7</c:v>
                </c:pt>
                <c:pt idx="9">
                  <c:v/>
                </c:pt>
                <c:pt idx="10">
                  <c:v>73.4</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0"/>
          <c:min val="65"/>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77</c:v>
                </c:pt>
                <c:pt idx="1">
                  <c:v>75.1</c:v>
                </c:pt>
                <c:pt idx="2">
                  <c:v>74.1</c:v>
                </c:pt>
                <c:pt idx="3">
                  <c:v>76.3</c:v>
                </c:pt>
                <c:pt idx="4">
                  <c:v>76.9</c:v>
                </c:pt>
                <c:pt idx="5">
                  <c:v>77.8</c:v>
                </c:pt>
                <c:pt idx="6">
                  <c:v>78.4</c:v>
                </c:pt>
                <c:pt idx="7">
                  <c:v>75.9</c:v>
                </c:pt>
                <c:pt idx="8">
                  <c:v>72.7</c:v>
                </c:pt>
                <c:pt idx="9">
                  <c:v>82</c:v>
                </c:pt>
                <c:pt idx="10">
                  <c:v>73.4</c:v>
                </c:pt>
                <c:pt idx="11">
                  <c:v>74.6</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90"/>
          <c:min val="65"/>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GM statement. Jan-Sep 2026, same-store, INEOS excluded (opened 2026).PLACE: Profitability, in front of Fixed Ops Absorption % (the next slide, the trend). The breakdown of total store fixed expenses is on this slide. The denominator is the P&amp;L's Fixed Expenses line on the GM statement: the whole store's expenses (new, used, service, parts and the GMC Prescott body shop, as on the P&amp;L) less the costs that move with each car sold: sales and F&amp;I commissions, delivery, policy, floorplan interest, and new and used vehicle advertising. That matches the standard dealer definition: fixed ops gross divided by total store overhead, excluding the variable costs of selling cars. Jan-Sep 2026 same-store: $242,850,782 of fixed expenses out of $305,051,366 total expense.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Jan-Sep. Same-store, INEOS excluded (opened 2026). P&amp;L line Fixed Ops Absorption % = Total Gross Profit - Fixed Ops / Fixed Expenses. GMC Prescott includes its body shop, as on the P&amp;L (Noah, Oct 28: kept in). YTD from YTD totals, not the mean of months. Store rows reconcile to the group on every input, both years. 2025 shown January-December; October-December pulled Oct 22 on the same basis (chart only).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15 of 33 stores at or above the 78.1% group, led by Audi Henderson at 106.6%. Hyundai Prescott is lowest at 46.2%.Source: Qlik - Profit &amp; Loss. Jan-Sep. Same-store, INEOS excluded (opened 2026). P&amp;L line Fixed Ops Absorption % = Total Gross Profit - Fixed Ops / Fixed Expenses. GMC Prescott includes its body shop, as on the P&amp;L (Noah, Oct 28: kept in). Jan-Sep 2026 YTD. Green at or above the group, red below. Bars start at 30.0% so differences are visible.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23 of 33 stores raised absorption, led by Lincoln at +16.1 pts to 59.9%. 10 declined; VW St George fell most at −17.4 pts.Source: Qlik - Profit &amp; Loss. Jan-Sep. Same-store, INEOS excluded (opened 2026). Change in Fixed Ops Absorption %, Jan-Sep 2026 vs 2025, best first.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Lincoln, Cadillac and LR Reno what changed. Ask VW St George, Kia St George and VW Henderson what got in the way. Ask LR Henderson, LR Reno and Kia St George what they started this year.Source: Qlik - Profit &amp; Loss. Jan-Sep. Same-store, INEOS excluded (opened 2026). P&amp;L line Fixed Ops Absorption % = Total Gross Profit - Fixed Ops / Fixed Expenses. GMC Prescott includes its body shop, as on the P&amp;L (Noah, Oct 28: kept in). Top and bottom five stores by change in Fixed Ops Absorption %, Jan-Sep 2026 vs 2025. Moving now: Jul-Sep 2026 vs Jan-Mar 2026, each store against itself; the group moved +4.2 pts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$911K a year. Store proficiency 67%. Each tech under 85% raised to 85% of their own clocked hours, valued at the store's labor + parts gross per flagged hour: $76K a month x 12.</a:t>
            </a:r>
          </a:p>
          <a:p/>
          <a:p>
            <a:r>
              <a:t>2. Service gross - $584K a year. Service gross $1,887,657 vs $2,325,579 Jan–Sep 2025, x 12/9. Overlaps the CP lines.</a:t>
            </a:r>
          </a:p>
          <a:p/>
          <a:p>
            <a:r>
              <a:t>3. CP hours per RO - $292K a year. 1.42 vs the non-luxury 1.75: gap x 3,671 CP ROs x $183 an hour x 12/9.</a:t>
            </a:r>
          </a:p>
          <a:p/>
          <a:p>
            <a:r>
              <a:t>4. CP RO count - $109K a year. 239 fewer CP ROs than Jan–Sep 2025 x $342 a RO x 12/9.</a:t>
            </a:r>
          </a:p>
          <a:p/>
          <a:p>
            <a:r>
              <a:t>5. Parts gross - $105K a year. Parts gross $1,005,492 vs $1,084,358 Jan–Sep 2025, x 12/9. Overlaps CP parts GP.</a:t>
            </a:r>
          </a:p>
          <a:p/>
          <a:p>
            <a:r>
              <a:t>6. MPI completion - not priced. 83.4% of 1,611 CP &amp; W ROs Jul–Sep vs 90%: 425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$1.22M a year. Store proficiency 91%. Each tech under 85% raised to 85% of their own clocked hours, valued at the store's labor + parts gross per flagged hour: $102K a month x 12.</a:t>
            </a:r>
          </a:p>
          <a:p/>
          <a:p>
            <a:r>
              <a:t>2. CP parts GP % - $284K a year. 33.6% vs the luxury 41.3% x $2.78M CP parts sale x 12/9.</a:t>
            </a:r>
          </a:p>
          <a:p/>
          <a:p>
            <a:r>
              <a:t>3. Brake fluid - $74K a year. Brake fluid 2.4% vs 10%: 380 more a year (Jan–Sep x 12/9) x $196 gross a service.</a:t>
            </a:r>
          </a:p>
          <a:p/>
          <a:p>
            <a:r>
              <a:t>4. MPI completion - not priced. 79.0% of 2,891 CP &amp; W ROs Jul–Sep vs 90%: 1,272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Parts gross - $437K a year. Parts gross $1,419,540 vs $1,747,458 Jan–Sep 2025, x 12/9. Overlaps CP parts GP.</a:t>
            </a:r>
          </a:p>
          <a:p/>
          <a:p>
            <a:r>
              <a:t>2. Service gross - $256K a year. Service gross $3,040,297 vs $3,232,223 Jan–Sep 2025, x 12/9. Overlaps the CP lines.</a:t>
            </a:r>
          </a:p>
          <a:p/>
          <a:p>
            <a:r>
              <a:t>3. Techs under 85% - $241K a year. Store proficiency 117%. Each tech under 85% raised to 85% of their own clocked hours, valued at the store's labor + parts gross per flagged hour: $20K a month x 12.</a:t>
            </a:r>
          </a:p>
          <a:p/>
          <a:p>
            <a:r>
              <a:t>4. CP RO count - $211K a year. 462 fewer CP ROs than Jan–Sep 2025 x $342 a RO x 12/9.</a:t>
            </a:r>
          </a:p>
          <a:p/>
          <a:p>
            <a:r>
              <a:t>5. CP hours per RO - $165K a year. 2.73 vs the luxury 2.90: gap x 3,917 CP ROs x $183 an hour x 12/9.</a:t>
            </a:r>
          </a:p>
          <a:p/>
          <a:p>
            <a:r>
              <a:t>6. Brake fluid - $78K a year. Brake fluid 1.9% vs 10%: 378 more a year (Jan–Sep x 12/9) x $206 gross a service.</a:t>
            </a:r>
          </a:p>
          <a:p/>
          <a:p>
            <a:r>
              <a:t>7. Alignment - $34K a year. Alignment 11.8% vs 15%: 149 more a year (Jan–Sep x 12/9) x $230 gross a service.</a:t>
            </a:r>
          </a:p>
          <a:p/>
          <a:p>
            <a:r>
              <a:t>8. Fixed gross/head - not priced. $14,916 a month (Jan–Sep gross ÷ 299 head-months, ADP) vs the luxury $16,998: 4.1 heads over. Counted, not priced: no store personnel cost in the data.</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$1.89M a year. Store proficiency 87%. Each tech under 85% raised to 85% of their own clocked hours, valued at the store's labor + parts gross per flagged hour: $158K a month x 12.</a:t>
            </a:r>
          </a:p>
          <a:p/>
          <a:p>
            <a:r>
              <a:t>2. CP labor $ per RO - $939K a year. $464 vs the luxury $632: gap x 5,344 CP ROs x the store's 78.7% labor GP x 12/9. Overlaps hours per RO and ELR.</a:t>
            </a:r>
          </a:p>
          <a:p/>
          <a:p>
            <a:r>
              <a:t>3. CP ELR - $411K a year. Jul–Sep CP ELR $175 vs 70% of the $285 door rate = $200; gap x 4,275 CP hours x 4.</a:t>
            </a:r>
          </a:p>
          <a:p/>
          <a:p>
            <a:r>
              <a:t>4. CP hours per RO - $222K a year. 2.73 vs the luxury 2.90: gap x 5,344 CP ROs x $183 an hour x 12/9.</a:t>
            </a:r>
          </a:p>
          <a:p/>
          <a:p>
            <a:r>
              <a:t>5. Brake fluid - $57K a year. Brake fluid 4.6% vs 10%: 379 more a year (Jan–Sep x 12/9) x $150 gross a service.</a:t>
            </a:r>
          </a:p>
          <a:p/>
          <a:p>
            <a:r>
              <a:t>6. Fuel service - $46K a year. Fuel service 5.1% vs 7.5%: 170 more a year (Jan–Sep x 12/9) x $269 gross a service.</a:t>
            </a:r>
          </a:p>
          <a:p/>
          <a:p>
            <a:r>
              <a:t>7. Service gross - $32K a year. Service gross $6,489,716 vs $6,513,640 Jan–Sep 2025, x 12/9. Overlaps the CP lines.</a:t>
            </a:r>
          </a:p>
          <a:p/>
          <a:p>
            <a:r>
              <a:t>8. Tire balance - $14K a year. Tire balance 5.9% vs 15%: 643 more a year (Jan–Sep x 12/9) x $22 gross a service.</a:t>
            </a:r>
          </a:p>
          <a:p/>
          <a:p>
            <a:r>
              <a:t>9. MPI completion - not priced. 40.5% of 3,311 CP &amp; W ROs Jul–Sep vs 90%: 6,556 more a year (x 4). Not priced.</a:t>
            </a:r>
          </a:p>
          <a:p/>
          <a:p>
            <a:r>
              <a:t>10. Video completion - not priced. 42.7% vs the group's 57.8% on 3,311 CP &amp; W ROs Jul–Sep: 2,005 more a year (x 4). Not priced.</a:t>
            </a:r>
          </a:p>
          <a:p/>
          <a:p>
            <a:r>
              <a:t>11. Fixed gross/head - not priced. $14,260 a month (Jan–Sep gross ÷ 673 head-months, ADP) vs the luxury $16,998: 12.0 heads over. Counted, not priced: no store personnel cost in the data.</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$1.20M a year. Store proficiency 71%. Each tech under 85% raised to 85% of their own clocked hours, valued at the store's labor + parts gross per flagged hour: $100K a month x 12.</a:t>
            </a:r>
          </a:p>
          <a:p/>
          <a:p>
            <a:r>
              <a:t>2. Parts gross - $195K a year. Parts gross $1,257,877 vs $1,403,787 Jan–Sep 2025, x 12/9. Overlaps CP parts GP.</a:t>
            </a:r>
          </a:p>
          <a:p/>
          <a:p>
            <a:r>
              <a:t>3. CP RO count - $126K a year. 277 fewer CP ROs than Jan–Sep 2025 x $342 a RO x 12/9.</a:t>
            </a:r>
          </a:p>
          <a:p/>
          <a:p>
            <a:r>
              <a:t>4. CP parts GP % - $114K a year. 35.6% vs the non-luxury 40.5% x $1.78M CP parts sale x 12/9.</a:t>
            </a:r>
          </a:p>
          <a:p/>
          <a:p>
            <a:r>
              <a:t>5. Service gross - $77K a year. Service gross $2,295,272 vs $2,353,006 Jan–Sep 2025, x 12/9. Overlaps the CP lines.</a:t>
            </a:r>
          </a:p>
          <a:p/>
          <a:p>
            <a:r>
              <a:t>6. Tire balance - $73K a year. Tire balance 1.2% vs 15%: 981 more a year (Jan–Sep x 12/9) x $75 gross a service.</a:t>
            </a:r>
          </a:p>
          <a:p/>
          <a:p>
            <a:r>
              <a:t>7. Fuel service - $62K a year. Fuel service 3.0% vs 7.5%: 321 more a year (Jan–Sep x 12/9) x $192 gross a service.</a:t>
            </a:r>
          </a:p>
          <a:p/>
          <a:p>
            <a:r>
              <a:t>8. Alignment - $57K a year. Alignment 4.2% vs 15%: 770 more a year (Jan–Sep x 12/9) x $74 gross a service.</a:t>
            </a:r>
          </a:p>
          <a:p/>
          <a:p>
            <a:r>
              <a:t>9. Brake fluid - $53K a year. Brake fluid 4.2% vs 10%: 412 more a year (Jan–Sep x 12/9) x $128 gross a service.</a:t>
            </a:r>
          </a:p>
          <a:p/>
          <a:p>
            <a:r>
              <a:t>10. Video completion - not priced. 16.0% vs the group's 57.8% on 3,168 CP &amp; W ROs Jul–Sep: 5,302 more a year (x 4). Not priced.</a:t>
            </a:r>
          </a:p>
          <a:p/>
          <a:p>
            <a:r>
              <a:t>11. Fixed gross/head - not priced. $9,953 a month (Jan–Sep gross ÷ 357 head-months, ADP) vs the non-luxury $12,714: 8.6 heads over. Counted, not priced: no store personnel cost in the data.</a:t>
            </a:r>
          </a:p>
          <a:p/>
          <a:p>
            <a:r>
              <a:t>12. MPI completion - not priced. 81.7% of 3,168 CP &amp; W ROs Jul–Sep vs 90%: 1,052 more a year (x 4). Not priced.</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$1.35M a year. Store proficiency 68%. Each tech under 85% raised to 85% of their own clocked hours, valued at the store's labor + parts gross per flagged hour: $112K a month x 12.</a:t>
            </a:r>
          </a:p>
          <a:p/>
          <a:p>
            <a:r>
              <a:t>2. CP parts GP % - $77K a year. 37.2% vs the non-luxury 40.5% x $1.74M CP parts sale x 12/9.</a:t>
            </a:r>
          </a:p>
          <a:p/>
          <a:p>
            <a:r>
              <a:t>3. Fuel service - $65K a year. Fuel service 2.7% vs 7.5%: 400 more a year (Jan–Sep x 12/9) x $163 gross a service.</a:t>
            </a:r>
          </a:p>
          <a:p/>
          <a:p>
            <a:r>
              <a:t>4. Alignment - $25K a year. Alignment 11.1% vs 15%: 324 more a year (Jan–Sep x 12/9) x $78 gross a service.</a:t>
            </a:r>
          </a:p>
          <a:p/>
          <a:p>
            <a:r>
              <a:t>5. Brake fluid - $21K a year. Brake fluid 7.0% vs 10%: 245 more a year (Jan–Sep x 12/9) x $87 gross a service.</a:t>
            </a:r>
          </a:p>
          <a:p/>
          <a:p>
            <a:r>
              <a:t>6. Tire balance - $21K a year. Tire balance 9.0% vs 15%: 496 more a year (Jan–Sep x 12/9) x $42 gross a service.</a:t>
            </a:r>
          </a:p>
          <a:p/>
          <a:p>
            <a:r>
              <a:t>7. CP labor GP % - $17K a year. 77.3% vs 78% (bottom of the 78-80% range) x $1.73M CP labor sale x 12/9.</a:t>
            </a:r>
          </a:p>
          <a:p/>
          <a:p>
            <a:r>
              <a:t>8. Video completion - not priced. 21.8% vs the group's 57.8% on 2,779 CP &amp; W ROs Jul–Sep: 4,006 more a year (x 4). Not priced.</a:t>
            </a:r>
          </a:p>
          <a:p/>
          <a:p>
            <a:r>
              <a:t>9. Fixed gross/head - not priced. $10,391 a month (Jan–Sep gross ÷ 436 head-months, ADP) vs the non-luxury $12,714: 8.9 heads over. Counted, not priced: no store personnel cost in the data.</a:t>
            </a:r>
          </a:p>
          <a:p/>
          <a:p>
            <a:r>
              <a:t>10. MPI completion - not priced. 87.6% of 2,779 CP &amp; W ROs Jul–Sep vs 90%: 267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$1.05M a year. Store proficiency 103%. Each tech under 85% raised to 85% of their own clocked hours, valued at the store's labor + parts gross per flagged hour: $87K a month x 12.</a:t>
            </a:r>
          </a:p>
          <a:p/>
          <a:p>
            <a:r>
              <a:t>2. CP ELR - $671K a year. Jul–Sep CP ELR $146 vs 70% of the $225 door rate = $157; gap x 15,019 CP hours x 4.</a:t>
            </a:r>
          </a:p>
          <a:p/>
          <a:p>
            <a:r>
              <a:t>3. Service gross - $526K a year. Service gross $10,497,259 vs $10,892,101 Jan–Sep 2025, x 12/9. Overlaps the CP lines.</a:t>
            </a:r>
          </a:p>
          <a:p/>
          <a:p>
            <a:r>
              <a:t>4. CP RO count - $434K a year. 952 fewer CP ROs than Jan–Sep 2025 x $342 a RO x 12/9.</a:t>
            </a:r>
          </a:p>
          <a:p/>
          <a:p>
            <a:r>
              <a:t>5. CP parts GP % - $314K a year. 36.2% vs the non-luxury 40.5% x $5.47M CP parts sale x 12/9.</a:t>
            </a:r>
          </a:p>
          <a:p/>
          <a:p>
            <a:r>
              <a:t>6. Brake fluid - $151K a year. Brake fluid 5.7% vs 10%: 1,093 more a year (Jan–Sep x 12/9) x $138 gross a service.</a:t>
            </a:r>
          </a:p>
          <a:p/>
          <a:p>
            <a:r>
              <a:t>7. Fuel service - $142K a year. Fuel service 5.2% vs 7.5%: 585 more a year (Jan–Sep x 12/9) x $243 gross a service.</a:t>
            </a:r>
          </a:p>
          <a:p/>
          <a:p>
            <a:r>
              <a:t>8. Tire balance - $106K a year. Tire balance 7.3% vs 15%: 2,001 more a year (Jan–Sep x 12/9) x $53 gross a service.</a:t>
            </a:r>
          </a:p>
          <a:p/>
          <a:p>
            <a:r>
              <a:t>9. Alignment - $75K a year. Alignment 12.8% vs 15%: 556 more a year (Jan–Sep x 12/9) x $136 gross a service.</a:t>
            </a:r>
          </a:p>
          <a:p/>
          <a:p>
            <a:r>
              <a:t>10. Parts gross - $56K a year. Parts gross $6,047,818 vs $6,089,964 Jan–Sep 2025, x 12/9. Overlaps CP parts GP.</a:t>
            </a:r>
          </a:p>
          <a:p/>
          <a:p>
            <a:r>
              <a:t>11. Video completion - not priced. 40.2% vs the group's 57.8% on 9,387 CP &amp; W ROs Jul–Sep: 6,624 more a year (x 4). Not priced.</a:t>
            </a:r>
          </a:p>
          <a:p/>
          <a:p>
            <a:r>
              <a:t>12. MPI completion - not priced. 84.5% of 9,387 CP &amp; W ROs Jul–Sep vs 90%: 2,065 more a year (x 4). Not priced.</a:t>
            </a:r>
          </a:p>
          <a:p/>
          <a:p>
            <a:r>
              <a:t>13. Fixed gross/head - not priced. $12,042 a month (Jan–Sep gross ÷ 1,374 head-months, ADP) vs the non-luxury $12,714: 8.1 heads over. Counted, not priced: no store personnel cost in the data.</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$574K a year. Store proficiency 73%. Each tech under 85% raised to 85% of their own clocked hours, valued at the store's labor + parts gross per flagged hour: $48K a month x 12.</a:t>
            </a:r>
          </a:p>
          <a:p/>
          <a:p>
            <a:r>
              <a:t>2. CP labor GP % - $67K a year. 72.2% vs 78% (bottom of the 78-80% range) x $870K CP labor sale x 12/9.</a:t>
            </a:r>
          </a:p>
          <a:p/>
          <a:p>
            <a:r>
              <a:t>3. CP ELR - $63K a year. Jul–Sep CP ELR $147 vs 70% of the $220 door rate = $154; gap x 2,219 CP hours x 4.</a:t>
            </a:r>
          </a:p>
          <a:p/>
          <a:p>
            <a:r>
              <a:t>4. CP parts GP % - $42K a year. 37.0% vs the non-luxury 40.5% x $902K CP parts sale x 12/9.</a:t>
            </a:r>
          </a:p>
          <a:p/>
          <a:p>
            <a:r>
              <a:t>5. Tire balance - $27K a year. Tire balance 7.7% vs 15%: 300 more a year (Jan–Sep x 12/9) x $90 gross a service.</a:t>
            </a:r>
          </a:p>
          <a:p/>
          <a:p>
            <a:r>
              <a:t>6. Fuel service - $21K a year. Fuel service 3.6% vs 7.5%: 160 more a year (Jan–Sep x 12/9) x $133 gross a service.</a:t>
            </a:r>
          </a:p>
          <a:p/>
          <a:p>
            <a:r>
              <a:t>7. Brake fluid - $21K a year. Brake fluid 6.0% vs 10%: 162 more a year (Jan–Sep x 12/9) x $127 gross a service.</a:t>
            </a:r>
          </a:p>
          <a:p/>
          <a:p>
            <a:r>
              <a:t>8. Alignment - $11K a year. Alignment 11.7% vs 15%: 135 more a year (Jan–Sep x 12/9) x $85 gross a service.</a:t>
            </a:r>
          </a:p>
          <a:p/>
          <a:p>
            <a:r>
              <a:t>9. Video completion - not priced. 35.1% vs the group's 57.8% on 1,656 CP &amp; W ROs Jul–Sep: 1,506 more a year (x 4). Not priced.</a:t>
            </a:r>
          </a:p>
          <a:p/>
          <a:p>
            <a:r>
              <a:t>10. Fixed gross/head - not priced. $9,498 a month (Jan–Sep gross ÷ 239 head-months, ADP) vs the non-luxury $12,714: 6.7 heads over. Counted, not priced: no store personnel cost in the data.</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$473K a year. Store proficiency 78%. Each tech under 85% raised to 85% of their own clocked hours, valued at the store's labor + parts gross per flagged hour: $39K a month x 12.</a:t>
            </a:r>
          </a:p>
          <a:p/>
          <a:p>
            <a:r>
              <a:t>2. CP hours per RO - $79K a year. 1.67 vs the non-luxury 1.75: gap x 4,030 CP ROs x $183 an hour x 12/9.</a:t>
            </a:r>
          </a:p>
          <a:p/>
          <a:p>
            <a:r>
              <a:t>3. Brake fluid - $67K a year. Brake fluid 3.1% vs 10%: 367 more a year (Jan–Sep x 12/9) x $184 gross a service.</a:t>
            </a:r>
          </a:p>
          <a:p/>
          <a:p>
            <a:r>
              <a:t>4. Fuel service - $60K a year. Fuel service 0.7% vs 7.5%: 364 more a year (Jan–Sep x 12/9) x $165 gross a service.</a:t>
            </a:r>
          </a:p>
          <a:p/>
          <a:p>
            <a:r>
              <a:t>5. Tire balance - $52K a year. Tire balance 1.3% vs 15%: 735 more a year (Jan–Sep x 12/9) x $70 gross a service.</a:t>
            </a:r>
          </a:p>
          <a:p/>
          <a:p>
            <a:r>
              <a:t>6. Service gross - $37K a year. Service gross $1,044,098 vs $1,071,808 Jan–Sep 2025, x 12/9. Overlaps the CP lines.</a:t>
            </a:r>
          </a:p>
          <a:p/>
          <a:p>
            <a:r>
              <a:t>7. Alignment - $21K a year. Alignment 11.0% vs 15%: 210 more a year (Jan–Sep x 12/9) x $100 gross a service.</a:t>
            </a:r>
          </a:p>
          <a:p/>
          <a:p>
            <a:r>
              <a:t>8. CP RO count - $14K a year. 30 fewer CP ROs than Jan–Sep 2025 x $342 a RO x 12/9.</a:t>
            </a:r>
          </a:p>
          <a:p/>
          <a:p>
            <a:r>
              <a:t>9. Fixed gross/head - not priced. $9,149 a month (Jan–Sep gross ÷ 174 head-months, ADP) vs the non-luxury $12,714: 5.4 heads over. Counted, not priced: no store personnel cost in the data.</a:t>
            </a:r>
          </a:p>
          <a:p/>
          <a:p>
            <a:r>
              <a:t>10. MPI completion - not priced. 86.3% of 1,655 CP &amp; W ROs Jul–Sep vs 90%: 245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$155K a year. Store proficiency 118%. Each tech under 85% raised to 85% of their own clocked hours, valued at the store's labor + parts gross per flagged hour: $13K a month x 12.</a:t>
            </a:r>
          </a:p>
          <a:p/>
          <a:p>
            <a:r>
              <a:t>2. CP RO count - $87K a year. 190 fewer CP ROs than Jan–Sep 2025 x $342 a RO x 12/9.</a:t>
            </a:r>
          </a:p>
          <a:p/>
          <a:p>
            <a:r>
              <a:t>3. MPI completion - not priced. 82.5% of 9,816 CP &amp; W ROs Jul–Sep vs 90%: 2,945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Service gross - $926K a year. Service gross $5,919,248 vs $6,613,864 Jan–Sep 2025, x 12/9. Overlaps the CP lines.</a:t>
            </a:r>
          </a:p>
          <a:p/>
          <a:p>
            <a:r>
              <a:t>2. Parts gross - $194K a year. Parts gross $2,697,134 vs $2,842,409 Jan–Sep 2025, x 12/9. Overlaps CP parts GP.</a:t>
            </a:r>
          </a:p>
          <a:p/>
          <a:p>
            <a:r>
              <a:t>3. Techs under 85% - $155K a year. Store proficiency 109%. Each tech under 85% raised to 85% of their own clocked hours, valued at the store's labor + parts gross per flagged hour: $13K a month x 12.</a:t>
            </a:r>
          </a:p>
          <a:p/>
          <a:p>
            <a:r>
              <a:t>4. Tire balance - $38K a year. Tire balance 12.0% vs 15%: 600 more a year (Jan–Sep x 12/9) x $64 gross a service.</a:t>
            </a:r>
          </a:p>
          <a:p/>
          <a:p>
            <a:r>
              <a:t>5. MPI completion - not priced. 81.4% of 7,325 CP &amp; W ROs Jul–Sep vs 90%: 2,520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CP RO count - $456K a year. 999 fewer CP ROs than Jan–Sep 2025 x $342 a RO x 12/9.</a:t>
            </a:r>
          </a:p>
          <a:p/>
          <a:p>
            <a:r>
              <a:t>2. Tire balance - $80K a year. Tire balance 2.1% vs 15%: 1,526 more a year (Jan–Sep x 12/9) x $52 gross a service.</a:t>
            </a:r>
          </a:p>
          <a:p/>
          <a:p>
            <a:r>
              <a:t>3. Fuel service - $75K a year. Fuel service 3.2% vs 7.5%: 509 more a year (Jan–Sep x 12/9) x $147 gross a service.</a:t>
            </a:r>
          </a:p>
          <a:p/>
          <a:p>
            <a:r>
              <a:t>4. Alignment - $36K a year. Alignment 12.5% vs 15%: 294 more a year (Jan–Sep x 12/9) x $124 gross a service.</a:t>
            </a:r>
          </a:p>
          <a:p/>
          <a:p>
            <a:r>
              <a:t>5. Parts gross - $15K a year. Parts gross $1,394,258 vs $1,405,777 Jan–Sep 2025, x 12/9. Overlaps CP parts GP.</a:t>
            </a:r>
          </a:p>
          <a:p/>
          <a:p>
            <a:r>
              <a:t>6. Techs under 85% - $12K a year. Store proficiency 109%. Each tech under 85% raised to 85% of their own clocked hours, valued at the store's labor + parts gross per flagged hour: $1K a month x 12.</a:t>
            </a:r>
          </a:p>
          <a:p/>
          <a:p>
            <a:r>
              <a:t>7. MPI completion - not priced. 49.6% of 3,553 CP &amp; W ROs Jul–Sep vs 90%: 5,742 more a year (x 4). Not priced.</a:t>
            </a:r>
          </a:p>
          <a:p/>
          <a:p>
            <a:r>
              <a:t>8. Video completion - not priced. 49.6% vs the group's 57.8% on 3,553 CP &amp; W ROs Jul–Sep: 1,171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$412K a year. Store proficiency 78%. Each tech under 85% raised to 85% of their own clocked hours, valued at the store's labor + parts gross per flagged hour: $34K a month x 12.</a:t>
            </a:r>
          </a:p>
          <a:p/>
          <a:p>
            <a:r>
              <a:t>2. CP labor $ per RO - $92K a year. $213 vs the non-luxury $264: gap x 2,010 CP ROs x the store's 67.7% labor GP x 12/9. Overlaps hours per RO and ELR.</a:t>
            </a:r>
          </a:p>
          <a:p/>
          <a:p>
            <a:r>
              <a:t>3. CP labor GP % - $59K a year. 67.7% vs 78% (bottom of the 78-80% range) x $429K CP labor sale x 12/9.</a:t>
            </a:r>
          </a:p>
          <a:p/>
          <a:p>
            <a:r>
              <a:t>4. CP hours per RO - $54K a year. 1.64 vs the non-luxury 1.75: gap x 2,010 CP ROs x $183 an hour x 12/9.</a:t>
            </a:r>
          </a:p>
          <a:p/>
          <a:p>
            <a:r>
              <a:t>5. CP ELR - $51K a year. Jul–Sep CP ELR $136 vs 70% of the $210 door rate = $147; gap x 1,173 CP hours x 4.</a:t>
            </a:r>
          </a:p>
          <a:p/>
          <a:p>
            <a:r>
              <a:t>6. Fixed gross/head - not priced. $11,631 a month (Jan–Sep gross ÷ 132 head-months, ADP) vs the non-luxury $12,714: 1.2 heads over. Counted, not priced: no store personnel cost in the data.</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$1.06M a year. Store proficiency 69%. Each tech under 85% raised to 85% of their own clocked hours, valued at the store's labor + parts gross per flagged hour: $88K a month x 12.</a:t>
            </a:r>
          </a:p>
          <a:p/>
          <a:p>
            <a:r>
              <a:t>2. Parts gross - $302K a year. Parts gross $826,662 vs $1,053,439 Jan–Sep 2025, x 12/9. Overlaps CP parts GP.</a:t>
            </a:r>
          </a:p>
          <a:p/>
          <a:p>
            <a:r>
              <a:t>3. CP hours per RO - $259K a year. 1.43 vs the non-luxury 1.75: gap x 3,349 CP ROs x $183 an hour x 12/9.</a:t>
            </a:r>
          </a:p>
          <a:p/>
          <a:p>
            <a:r>
              <a:t>4. CP RO count - $198K a year. 435 fewer CP ROs than Jan–Sep 2025 x $342 a RO x 12/9.</a:t>
            </a:r>
          </a:p>
          <a:p/>
          <a:p>
            <a:r>
              <a:t>5. CP labor $ per RO - $98K a year. $238 vs the non-luxury $264: gap x 3,349 CP ROs x the store's 82.9% labor GP x 12/9. Overlaps hours per RO and ELR.</a:t>
            </a:r>
          </a:p>
          <a:p/>
          <a:p>
            <a:r>
              <a:t>6. Tire balance - $36K a year. Tire balance 1.2% vs 15%: 615 more a year (Jan–Sep x 12/9) x $58 gross a service.</a:t>
            </a:r>
          </a:p>
          <a:p/>
          <a:p>
            <a:r>
              <a:t>7. Brake fluid - $32K a year. Brake fluid 4.7% vs 10%: 235 more a year (Jan–Sep x 12/9) x $134 gross a service.</a:t>
            </a:r>
          </a:p>
          <a:p/>
          <a:p>
            <a:r>
              <a:t>8. Fuel service - $13K a year. Fuel service 5.8% vs 7.5%: 72 more a year (Jan–Sep x 12/9) x $176 gross a service.</a:t>
            </a:r>
          </a:p>
          <a:p/>
          <a:p>
            <a:r>
              <a:t>9. CP parts GP % - $10K a year. 39.4% vs the non-luxury 40.5% x $732K CP parts sale x 12/9.</a:t>
            </a:r>
          </a:p>
          <a:p/>
          <a:p>
            <a:r>
              <a:t>10. MPI completion - not priced. 62.7% of 2,058 CP &amp; W ROs Jul–Sep vs 90%: 2,247 more a year (x 4). Not priced.</a:t>
            </a:r>
          </a:p>
          <a:p/>
          <a:p>
            <a:r>
              <a:t>11. Fixed gross/head - not priced. $11,541 a month (Jan–Sep gross ÷ 198 head-months, ADP) vs the non-luxury $12,714: 2.0 heads over. Counted, not priced: no store personnel cost in the data.</a:t>
            </a:r>
          </a:p>
          <a:p/>
          <a:p>
            <a:r>
              <a:t>12. Video completion - not priced. 53.1% vs the group's 57.8% on 2,058 CP &amp; W ROs Jul–Sep: 390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$891K a year. Store proficiency 76%. Each tech under 85% raised to 85% of their own clocked hours, valued at the store's labor + parts gross per flagged hour: $74K a month x 12.</a:t>
            </a:r>
          </a:p>
          <a:p/>
          <a:p>
            <a:r>
              <a:t>2. CP hours per RO - $351K a year. 1.57 vs the non-luxury 1.75: gap x 8,133 CP ROs x $183 an hour x 12/9.</a:t>
            </a:r>
          </a:p>
          <a:p/>
          <a:p>
            <a:r>
              <a:t>3. CP labor $ per RO - $259K a year. $234 vs the non-luxury $264: gap x 8,133 CP ROs x the store's 79.5% labor GP x 12/9. Overlaps hours per RO and ELR.</a:t>
            </a:r>
          </a:p>
          <a:p/>
          <a:p>
            <a:r>
              <a:t>4. Parts gross - $223K a year. Parts gross $2,101,307 vs $2,268,483 Jan–Sep 2025, x 12/9. Overlaps CP parts GP.</a:t>
            </a:r>
          </a:p>
          <a:p/>
          <a:p>
            <a:r>
              <a:t>5. Alignment - $77K a year. Alignment 9.7% vs 15%: 568 more a year (Jan–Sep x 12/9) x $135 gross a service.</a:t>
            </a:r>
          </a:p>
          <a:p/>
          <a:p>
            <a:r>
              <a:t>6. Fuel service - $76K a year. Fuel service 3.2% vs 7.5%: 464 more a year (Jan–Sep x 12/9) x $163 gross a service.</a:t>
            </a:r>
          </a:p>
          <a:p/>
          <a:p>
            <a:r>
              <a:t>7. Tire balance - $72K a year. Tire balance 5.2% vs 15%: 1,059 more a year (Jan–Sep x 12/9) x $68 gross a service.</a:t>
            </a:r>
          </a:p>
          <a:p/>
          <a:p>
            <a:r>
              <a:t>8. CP ELR - $55K a year. Jul–Sep CP ELR $151 vs 70% of the $220 door rate = $154; gap x 4,292 CP hours x 4.</a:t>
            </a:r>
          </a:p>
          <a:p/>
          <a:p>
            <a:r>
              <a:t>9. Brake fluid - $22K a year. Brake fluid 8.2% vs 10%: 187 more a year (Jan–Sep x 12/9) x $120 gross a service.</a:t>
            </a:r>
          </a:p>
          <a:p/>
          <a:p>
            <a:r>
              <a:t>10. Video completion - not priced. 31.5% vs the group's 57.8% on 4,474 CP &amp; W ROs Jul–Sep: 4,714 more a year (x 4). Not priced.</a:t>
            </a:r>
          </a:p>
          <a:p/>
          <a:p>
            <a:r>
              <a:t>11. MPI completion - not priced. 71.2% of 4,474 CP &amp; W ROs Jul–Sep vs 90%: 3,364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$919K a year. Store proficiency 67%. Each tech under 85% raised to 85% of their own clocked hours, valued at the store's labor + parts gross per flagged hour: $77K a month x 12.</a:t>
            </a:r>
          </a:p>
          <a:p/>
          <a:p>
            <a:r>
              <a:t>2. CP hours per RO - $435K a year. 1.29 vs the non-luxury 1.75: gap x 3,912 CP ROs x $183 an hour x 12/9.</a:t>
            </a:r>
          </a:p>
          <a:p/>
          <a:p>
            <a:r>
              <a:t>3. CP labor $ per RO - $340K a year. $182 vs the non-luxury $264: gap x 3,912 CP ROs x the store's 79.4% labor GP x 12/9. Overlaps hours per RO and ELR.</a:t>
            </a:r>
          </a:p>
          <a:p/>
          <a:p>
            <a:r>
              <a:t>4. Alignment - $38K a year. Alignment 8.0% vs 15%: 365 more a year (Jan–Sep x 12/9) x $105 gross a service.</a:t>
            </a:r>
          </a:p>
          <a:p/>
          <a:p>
            <a:r>
              <a:t>5. Brake fluid - $25K a year. Brake fluid 5.9% vs 10%: 211 more a year (Jan–Sep x 12/9) x $119 gross a service.</a:t>
            </a:r>
          </a:p>
          <a:p/>
          <a:p>
            <a:r>
              <a:t>6. Tire balance - $18K a year. Tire balance 7.7% vs 15%: 380 more a year (Jan–Sep x 12/9) x $48 gross a service.</a:t>
            </a:r>
          </a:p>
          <a:p/>
          <a:p>
            <a:r>
              <a:t>7. Video completion - not priced. 5.2% vs the group's 57.8% on 2,672 CP &amp; W ROs Jul–Sep: 5,626 more a year (x 4). Not priced.</a:t>
            </a:r>
          </a:p>
          <a:p/>
          <a:p>
            <a:r>
              <a:t>8. MPI completion - not priced. 60.9% of 2,672 CP &amp; W ROs Jul–Sep vs 90%: 3,110 more a year (x 4). Not priced.</a:t>
            </a:r>
          </a:p>
          <a:p/>
          <a:p>
            <a:r>
              <a:t>9. Fixed gross/head - not priced. $12,103 a month (Jan–Sep gross ÷ 193 head-months, ADP) vs the non-luxury $12,714: 1.0 heads over. Counted, not priced: no store personnel cost in the data.</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CP labor $ per RO - $1.18M a year. $403 vs the luxury $632: gap x 4,567 CP ROs x the store's 85.0% labor GP x 12/9. Overlaps hours per RO and ELR.</a:t>
            </a:r>
          </a:p>
          <a:p/>
          <a:p>
            <a:r>
              <a:t>2. CP hours per RO - $911K a year. 2.08 vs the luxury 2.90: gap x 4,567 CP ROs x $183 an hour x 12/9.</a:t>
            </a:r>
          </a:p>
          <a:p/>
          <a:p>
            <a:r>
              <a:t>3. Techs under 85% - $379K a year. Store proficiency 104%. Each tech under 85% raised to 85% of their own clocked hours, valued at the store's labor + parts gross per flagged hour: $32K a month x 12.</a:t>
            </a:r>
          </a:p>
          <a:p/>
          <a:p>
            <a:r>
              <a:t>4. Tire balance - $68K a year. Tire balance 0.0% vs 15%: 909 more a year (Jan–Sep x 12/9) x $75 gross a service.</a:t>
            </a:r>
          </a:p>
          <a:p/>
          <a:p>
            <a:r>
              <a:t>5. Alignment - $33K a year. Alignment 11.3% vs 15%: 221 more a year (Jan–Sep x 12/9) x $147 gross a service.</a:t>
            </a:r>
          </a:p>
          <a:p/>
          <a:p>
            <a:r>
              <a:t>6. Fuel service - $25K a year. Fuel service 4.2% vs 7.5%: 195 more a year (Jan–Sep x 12/9) x $128 gross a service.</a:t>
            </a:r>
          </a:p>
          <a:p/>
          <a:p>
            <a:r>
              <a:t>7. Brake fluid - $15K a year. Brake fluid 8.3% vs 10%: 98 more a year (Jan–Sep x 12/9) x $154 gross a service.</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CP labor $ per RO - $628K a year. $416 vs the luxury $632: gap x 2,630 CP ROs x the store's 83.2% labor GP x 12/9. Overlaps hours per RO and ELR.</a:t>
            </a:r>
          </a:p>
          <a:p/>
          <a:p>
            <a:r>
              <a:t>2. Techs under 85% - $284K a year. Store proficiency 94%. Each tech under 85% raised to 85% of their own clocked hours, valued at the store's labor + parts gross per flagged hour: $24K a month x 12.</a:t>
            </a:r>
          </a:p>
          <a:p/>
          <a:p>
            <a:r>
              <a:t>3. CP hours per RO - $267K a year. 2.48 vs the luxury 2.90: gap x 2,630 CP ROs x $183 an hour x 12/9.</a:t>
            </a:r>
          </a:p>
          <a:p/>
          <a:p>
            <a:r>
              <a:t>4. CP parts GP % - $55K a year. 37.0% vs the luxury 41.3% x $954K CP parts sale x 12/9.</a:t>
            </a:r>
          </a:p>
          <a:p/>
          <a:p>
            <a:r>
              <a:t>5. CP ELR - $36K a year. Jul–Sep CP ELR $167 vs 70% of the $245 door rate = $171; gap x 2,154 CP hours x 4.</a:t>
            </a:r>
          </a:p>
          <a:p/>
          <a:p>
            <a:r>
              <a:t>6. Tire balance - $31K a year. Tire balance 1.6% vs 15%: 467 more a year (Jan–Sep x 12/9) x $66 gross a service.</a:t>
            </a:r>
          </a:p>
          <a:p/>
          <a:p>
            <a:r>
              <a:t>7. Alignment - $26K a year. Alignment 8.4% vs 15%: 230 more a year (Jan–Sep x 12/9) x $114 gross a service.</a:t>
            </a:r>
          </a:p>
          <a:p/>
          <a:p>
            <a:r>
              <a:t>8. Brake fluid - $11K a year. Brake fluid 7.5% vs 10%: 87 more a year (Jan–Sep x 12/9) x $126 gross a service.</a:t>
            </a:r>
          </a:p>
          <a:p/>
          <a:p>
            <a:r>
              <a:t>9. Fixed gross/head - not priced. $10,963 a month (Jan–Sep gross ÷ 272 head-months, ADP) vs the luxury $16,998: 10.7 heads over. Counted, not priced: no store personnel cost in the data.</a:t>
            </a:r>
          </a:p>
          <a:p/>
          <a:p>
            <a:r>
              <a:t>10. Video completion - not priced. 42.7% vs the group's 57.8% on 1,829 CP &amp; W ROs Jul–Sep: 1,108 more a year (x 4). Not priced.</a:t>
            </a:r>
          </a:p>
          <a:p/>
          <a:p>
            <a:r>
              <a:t>11. MPI completion - not priced. 68.5% of 1,829 CP &amp; W ROs Jul–Sep vs 90%: 1,573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$179K a year. Store proficiency 106%. Each tech under 85% raised to 85% of their own clocked hours, valued at the store's labor + parts gross per flagged hour: $15K a month x 12.</a:t>
            </a:r>
          </a:p>
          <a:p/>
          <a:p>
            <a:r>
              <a:t>2. Fuel service - $34K a year. Fuel service 2.5% vs 7.5%: 103 more a year (Jan–Sep x 12/9) x $329 gross a service.</a:t>
            </a:r>
          </a:p>
          <a:p/>
          <a:p>
            <a:r>
              <a:t>3. MPI completion - not priced. 73.0% of 953 CP &amp; W ROs Jul–Sep vs 90%: 648 more a year (x 4). Not priced.</a:t>
            </a:r>
          </a:p>
          <a:p/>
          <a:p>
            <a:r>
              <a:t>4. Video completion - not priced. 50.0% vs the group's 57.8% on 953 CP &amp; W ROs Jul–Sep: 299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$758K a year. Store proficiency 91%. Each tech under 85% raised to 85% of their own clocked hours, valued at the store's labor + parts gross per flagged hour: $63K a month x 12.</a:t>
            </a:r>
          </a:p>
          <a:p/>
          <a:p>
            <a:r>
              <a:t>2. Parts gross - $81K a year. Parts gross $2,524,684 vs $2,585,236 Jan–Sep 2025, x 12/9. Overlaps CP parts GP.</a:t>
            </a:r>
          </a:p>
          <a:p/>
          <a:p>
            <a:r>
              <a:t>3. Fuel service - $24K a year. Fuel service 5.5% vs 7.5%: 92 more a year (Jan–Sep x 12/9) x $258 gross a service.</a:t>
            </a:r>
          </a:p>
          <a:p/>
          <a:p>
            <a:r>
              <a:t>4. MPI completion - not priced. 71.1% of 2,073 CP &amp; W ROs Jul–Sep vs 90%: 1,567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$247K a year. Store proficiency 81%. Each tech under 85% raised to 85% of their own clocked hours, valued at the store's labor + parts gross per flagged hour: $21K a month x 12.</a:t>
            </a:r>
          </a:p>
          <a:p/>
          <a:p>
            <a:r>
              <a:t>2. Brake fluid - $20K a year. Brake fluid 7.2% vs 10%: 52 more a year (Jan–Sep x 12/9) x $377 gross a service.</a:t>
            </a:r>
          </a:p>
          <a:p/>
          <a:p>
            <a:r>
              <a:t>3. Fuel service - $18K a year. Fuel service 4.5% vs 7.5%: 55 more a year (Jan–Sep x 12/9) x $329 gross a service.</a:t>
            </a:r>
          </a:p>
          <a:p/>
          <a:p>
            <a:r>
              <a:t>4. Alignment - $10K a year. Alignment 12.8% vs 15%: 40 more a year (Jan–Sep x 12/9) x $259 gross a service.</a:t>
            </a:r>
          </a:p>
          <a:p/>
          <a:p>
            <a:r>
              <a:t>5. Fixed gross/head - not priced. $15,226 a month (Jan–Sep gross ÷ 145 head-months, ADP) vs the luxury $16,998: 1.7 heads over. Counted, not priced: no store personnel cost in the data.</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CP hours per RO - $403K a year. 1.46 vs the non-luxury 1.75: gap x 5,701 CP ROs x $183 an hour x 12/9.</a:t>
            </a:r>
          </a:p>
          <a:p/>
          <a:p>
            <a:r>
              <a:t>2. CP labor $ per RO - $167K a year. $238 vs the non-luxury $264: gap x 5,701 CP ROs x the store's 84.4% labor GP x 12/9. Overlaps hours per RO and ELR.</a:t>
            </a:r>
          </a:p>
          <a:p/>
          <a:p>
            <a:r>
              <a:t>3. Techs under 85% - $103K a year. Store proficiency 101%. Each tech under 85% raised to 85% of their own clocked hours, valued at the store's labor + parts gross per flagged hour: $9K a month x 12.</a:t>
            </a:r>
          </a:p>
          <a:p/>
          <a:p>
            <a:r>
              <a:t>4. Fuel service - $26K a year. Fuel service 5.2% vs 7.5%: 174 more a year (Jan–Sep x 12/9) x $150 gross a service.</a:t>
            </a:r>
          </a:p>
          <a:p/>
          <a:p>
            <a:r>
              <a:t>5. Brake fluid - $18K a year. Brake fluid 8.4% vs 10%: 115 more a year (Jan–Sep x 12/9) x $154 gross a service.</a:t>
            </a:r>
          </a:p>
          <a:p/>
          <a:p>
            <a:r>
              <a:t>6. Tire balance - $11K a year. Tire balance 13.1% vs 15%: 138 more a year (Jan–Sep x 12/9) x $79 gross a service.</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$509K a year. Store proficiency 91%. Each tech under 85% raised to 85% of their own clocked hours, valued at the store's labor + parts gross per flagged hour: $42K a month x 12.</a:t>
            </a:r>
          </a:p>
          <a:p/>
          <a:p>
            <a:r>
              <a:t>2. CP RO count - $196K a year. 430 fewer CP ROs than Jan–Sep 2025 x $342 a RO x 12/9.</a:t>
            </a:r>
          </a:p>
          <a:p/>
          <a:p>
            <a:r>
              <a:t>3. Alignment - $83K a year. Alignment 7.4% vs 15%: 700 more a year (Jan–Sep x 12/9) x $119 gross a service.</a:t>
            </a:r>
          </a:p>
          <a:p/>
          <a:p>
            <a:r>
              <a:t>4. Tire balance - $77K a year. Tire balance 1.0% vs 15%: 1,296 more a year (Jan–Sep x 12/9) x $59 gross a service.</a:t>
            </a:r>
          </a:p>
          <a:p/>
          <a:p>
            <a:r>
              <a:t>5. Fuel service - $64K a year. Fuel service 4.1% vs 7.5%: 308 more a year (Jan–Sep x 12/9) x $206 gross a service.</a:t>
            </a:r>
          </a:p>
          <a:p/>
          <a:p>
            <a:r>
              <a:t>6. Video completion - not priced. 41.9% vs the group's 57.8% on 3,129 CP &amp; W ROs Jul–Sep: 1,995 more a year (x 4). Not priced.</a:t>
            </a:r>
          </a:p>
          <a:p/>
          <a:p>
            <a:r>
              <a:t>7. Fixed gross/head - not priced. $11,957 a month (Jan–Sep gross ÷ 400 head-months, ADP) vs the non-luxury $12,714: 2.6 heads over. Counted, not priced: no store personnel cost in the data.</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$524K a year. Store proficiency 96%. Each tech under 85% raised to 85% of their own clocked hours, valued at the store's labor + parts gross per flagged hour: $44K a month x 12.</a:t>
            </a:r>
          </a:p>
          <a:p/>
          <a:p>
            <a:r>
              <a:t>2. Parts gross - $383K a year. Parts gross $3,825,122 vs $4,112,388 Jan–Sep 2025, x 12/9. Overlaps CP parts GP.</a:t>
            </a:r>
          </a:p>
          <a:p/>
          <a:p>
            <a:r>
              <a:t>3. Service gross - $282K a year. Service gross $6,255,269 vs $6,466,581 Jan–Sep 2025, x 12/9. Overlaps the CP lines.</a:t>
            </a:r>
          </a:p>
          <a:p/>
          <a:p>
            <a:r>
              <a:t>4. CP RO count - $262K a year. 574 fewer CP ROs than Jan–Sep 2025 x $342 a RO x 12/9.</a:t>
            </a:r>
          </a:p>
          <a:p/>
          <a:p>
            <a:r>
              <a:t>5. Tire balance - $68K a year. Tire balance 10.2% vs 15%: 909 more a year (Jan–Sep x 12/9) x $75 gross a service.</a:t>
            </a:r>
          </a:p>
          <a:p/>
          <a:p>
            <a:r>
              <a:t>6. CP parts GP % - $13K a year. 40.2% vs the non-luxury 40.5% x $3.09M CP parts sale x 12/9.</a:t>
            </a:r>
          </a:p>
          <a:p/>
          <a:p>
            <a:r>
              <a:t>7. Fuel service - $10K a year. Fuel service 7.0% vs 7.5%: 78 more a year (Jan–Sep x 12/9) x $130 gross a service.</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$691K a year. Store proficiency 98%. Each tech under 85% raised to 85% of their own clocked hours, valued at the store's labor + parts gross per flagged hour: $58K a month x 12.</a:t>
            </a:r>
          </a:p>
          <a:p/>
          <a:p>
            <a:r>
              <a:t>2. CP labor $ per RO - $212K a year. $222 vs the non-luxury $264: gap x 5,105 CP ROs x the store's 74.1% labor GP x 12/9. Overlaps hours per RO and ELR.</a:t>
            </a:r>
          </a:p>
          <a:p/>
          <a:p>
            <a:r>
              <a:t>3. CP hours per RO - $185K a year. 1.60 vs the non-luxury 1.75: gap x 5,105 CP ROs x $183 an hour x 12/9.</a:t>
            </a:r>
          </a:p>
          <a:p/>
          <a:p>
            <a:r>
              <a:t>4. CP parts GP % - $81K a year. 34.8% vs the non-luxury 40.5% x $1.06M CP parts sale x 12/9.</a:t>
            </a:r>
          </a:p>
          <a:p/>
          <a:p>
            <a:r>
              <a:t>5. CP ELR - $78K a year. Jul–Sep CP ELR $140 vs 70% of the $210 door rate = $147; gap x 2,722 CP hours x 4.</a:t>
            </a:r>
          </a:p>
          <a:p/>
          <a:p>
            <a:r>
              <a:t>6. CP labor GP % - $58K a year. 74.1% vs 78% (bottom of the 78-80% range) x $1.13M CP labor sale x 12/9.</a:t>
            </a:r>
          </a:p>
          <a:p/>
          <a:p>
            <a:r>
              <a:t>7. Alignment - $12K a year. Alignment 12.5% vs 15%: 165 more a year (Jan–Sep x 12/9) x $73 gross a service.</a:t>
            </a:r>
          </a:p>
          <a:p/>
          <a:p>
            <a:r>
              <a:t>8. Video completion - not priced. 54.2% vs the group's 57.8% on 2,709 CP &amp; W ROs Jul–Sep: 395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$265K a year. Store proficiency 109%. Each tech under 85% raised to 85% of their own clocked hours, valued at the store's labor + parts gross per flagged hour: $22K a month x 12.</a:t>
            </a:r>
          </a:p>
          <a:p/>
          <a:p>
            <a:r>
              <a:t>2. Tire balance - $125K a year. Tire balance 3.6% vs 15%: 837 more a year (Jan–Sep x 12/9) x $149 gross a service.</a:t>
            </a:r>
          </a:p>
          <a:p/>
          <a:p>
            <a:r>
              <a:t>3. CP labor GP % - $98K a year. 73.9% vs 78% (bottom of the 78-80% range) x $1.77M CP labor sale x 12/9.</a:t>
            </a:r>
          </a:p>
          <a:p/>
          <a:p>
            <a:r>
              <a:t>4. Alignment - $23K a year. Alignment 11.0% vs 15%: 291 more a year (Jan–Sep x 12/9) x $78 gross a service.</a:t>
            </a:r>
          </a:p>
          <a:p/>
          <a:p>
            <a:r>
              <a:t>5. MPI completion - not priced. 89.0% of 2,659 CP &amp; W ROs Jul–Sep vs 90%: 106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CP hours per RO - $1.26M a year. 1.41 vs the non-luxury 1.75: gap x 15,141 CP ROs x $183 an hour x 12/9.</a:t>
            </a:r>
          </a:p>
          <a:p/>
          <a:p>
            <a:r>
              <a:t>2. CP labor $ per RO - $1.01M a year. $201 vs the non-luxury $264: gap x 15,141 CP ROs x the store's 79.1% labor GP x 12/9. Overlaps hours per RO and ELR.</a:t>
            </a:r>
          </a:p>
          <a:p/>
          <a:p>
            <a:r>
              <a:t>3. Techs under 85% - $126K a year. Store proficiency 102%. Each tech under 85% raised to 85% of their own clocked hours, valued at the store's labor + parts gross per flagged hour: $10K a month x 12.</a:t>
            </a:r>
          </a:p>
          <a:p/>
          <a:p>
            <a:r>
              <a:t>4. Tire balance - $109K a year. Tire balance 4.9% vs 15%: 2,031 more a year (Jan–Sep x 12/9) x $54 gross a service.</a:t>
            </a:r>
          </a:p>
          <a:p/>
          <a:p>
            <a:r>
              <a:t>5. Fuel service - $109K a year. Fuel service 1.6% vs 7.5%: 1,173 more a year (Jan–Sep x 12/9) x $93 gross a service.</a:t>
            </a:r>
          </a:p>
          <a:p/>
          <a:p>
            <a:r>
              <a:t>6. CP parts GP % - $108K a year. 36.9% vs the non-luxury 40.5% x $2.25M CP parts sale x 12/9.</a:t>
            </a:r>
          </a:p>
          <a:p/>
          <a:p>
            <a:r>
              <a:t>7. Alignment - $90K a year. Alignment 9.7% vs 15%: 1,066 more a year (Jan–Sep x 12/9) x $84 gross a service.</a:t>
            </a:r>
          </a:p>
          <a:p/>
          <a:p>
            <a:r>
              <a:t>8. Brake fluid - $48K a year. Brake fluid 8.0% vs 10%: 389 more a year (Jan–Sep x 12/9) x $123 gross a service.</a:t>
            </a:r>
          </a:p>
          <a:p/>
          <a:p>
            <a:r>
              <a:t>9. Fixed gross/head - not priced. $10,794 a month (Jan–Sep gross ÷ 414 head-months, ADP) vs the non-luxury $12,714: 6.9 heads over. Counted, not priced: no store personnel cost in the data.</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CP hours per RO - $3.55M a year. 1.47 vs the non-luxury 1.75: gap x 53,084 CP ROs x $183 an hour x 12/9.</a:t>
            </a:r>
          </a:p>
          <a:p/>
          <a:p>
            <a:r>
              <a:t>2. CP labor $ per RO - $2.07M a year. $227 vs the non-luxury $264: gap x 53,084 CP ROs x the store's 79.4% labor GP x 12/9. Overlaps hours per RO and ELR.</a:t>
            </a:r>
          </a:p>
          <a:p/>
          <a:p>
            <a:r>
              <a:t>3. Techs under 85% - $842K a year. Store proficiency 104%. Each tech under 85% raised to 85% of their own clocked hours, valued at the store's labor + parts gross per flagged hour: $70K a month x 12.</a:t>
            </a:r>
          </a:p>
          <a:p/>
          <a:p>
            <a:r>
              <a:t>4. Tire balance - $147K a year. Tire balance 11.2% vs 15%: 2,671 more a year (Jan–Sep x 12/9) x $55 gross a service.</a:t>
            </a:r>
          </a:p>
          <a:p/>
          <a:p>
            <a:r>
              <a:t>5. Fuel service - $129K a year. Fuel service 6.0% vs 7.5%: 1,056 more a year (Jan–Sep x 12/9) x $122 gross a service.</a:t>
            </a:r>
          </a:p>
          <a:p/>
          <a:p>
            <a:r>
              <a:t>6. Alignment - $33K a year. Alignment 14.5% vs 15%: 326 more a year (Jan–Sep x 12/9) x $102 gross a service.</a:t>
            </a:r>
          </a:p>
          <a:p/>
          <a:p>
            <a:r>
              <a:t>7. CP parts GP % - $27K a year. 40.2% vs the non-luxury 40.5% x $8.12M CP parts sale x 12/9.</a:t>
            </a:r>
          </a:p>
          <a:p/>
          <a:p>
            <a:r>
              <a:t>8. Video completion - not priced. 31.7% vs the group's 57.8% on 20,413 CP &amp; W ROs Jul–Sep: 21,344 more a year (x 4). Not priced.</a:t>
            </a:r>
          </a:p>
          <a:p/>
          <a:p>
            <a:r>
              <a:t>9. MPI completion - not priced. 76.1% of 20,413 CP &amp; W ROs Jul–Sep vs 90%: 11,350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CP hours per RO - $1.19M a year. 1.38 vs the non-luxury 1.75: gap x 13,490 CP ROs x $183 an hour x 12/9.</a:t>
            </a:r>
          </a:p>
          <a:p/>
          <a:p>
            <a:r>
              <a:t>2. Techs under 85% - $927K a year. Store proficiency 83%. Each tech under 85% raised to 85% of their own clocked hours, valued at the store's labor + parts gross per flagged hour: $77K a month x 12.</a:t>
            </a:r>
          </a:p>
          <a:p/>
          <a:p>
            <a:r>
              <a:t>3. CP labor $ per RO - $617K a year. $220 vs the non-luxury $264: gap x 13,490 CP ROs x the store's 78.5% labor GP x 12/9. Overlaps hours per RO and ELR.</a:t>
            </a:r>
          </a:p>
          <a:p/>
          <a:p>
            <a:r>
              <a:t>4. Tire balance - $132K a year. Tire balance 6.1% vs 15%: 1,590 more a year (Jan–Sep x 12/9) x $83 gross a service.</a:t>
            </a:r>
          </a:p>
          <a:p/>
          <a:p>
            <a:r>
              <a:t>5. Alignment - $49K a year. Alignment 12.3% vs 15%: 478 more a year (Jan–Sep x 12/9) x $103 gross a service.</a:t>
            </a:r>
          </a:p>
          <a:p/>
          <a:p>
            <a:r>
              <a:t>6. Parts gross - $44K a year. Parts gross $1,447,980 vs $1,481,187 Jan–Sep 2025, x 12/9. Overlaps CP parts GP.</a:t>
            </a:r>
          </a:p>
          <a:p/>
          <a:p>
            <a:r>
              <a:t>7. CP RO count - $36K a year. 80 fewer CP ROs than Jan–Sep 2025 x $342 a RO x 12/9.</a:t>
            </a:r>
          </a:p>
          <a:p/>
          <a:p>
            <a:r>
              <a:t>8. Brake fluid - $32K a year. Brake fluid 8.4% vs 10%: 287 more a year (Jan–Sep x 12/9) x $112 gross a service.</a:t>
            </a:r>
          </a:p>
          <a:p/>
          <a:p>
            <a:r>
              <a:t>9. Fuel service - $19K a year. Fuel service 6.4% vs 7.5%: 186 more a year (Jan–Sep x 12/9) x $101 gross a service.</a:t>
            </a:r>
          </a:p>
          <a:p/>
          <a:p>
            <a:r>
              <a:t>10. Fixed gross/head - not priced. $11,044 a month (Jan–Sep gross ÷ 460 head-months, ADP) vs the non-luxury $12,714: 6.7 heads over. Counted, not priced: no store personnel cost in the data.</a:t>
            </a:r>
          </a:p>
          <a:p/>
          <a:p>
            <a:r>
              <a:t>11. MPI completion - not priced. 81.5% of 5,128 CP &amp; W ROs Jul–Sep vs 90%: 1,744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CP labor $ per RO - $1.35M a year. $187 vs the non-luxury $264: gap x 17,376 CP ROs x the store's 75.7% labor GP x 12/9. Overlaps hours per RO and ELR.</a:t>
            </a:r>
          </a:p>
          <a:p/>
          <a:p>
            <a:r>
              <a:t>2. CP hours per RO - $1.12M a year. 1.48 vs the non-luxury 1.75: gap x 17,376 CP ROs x $183 an hour x 12/9.</a:t>
            </a:r>
          </a:p>
          <a:p/>
          <a:p>
            <a:r>
              <a:t>3. Alignment - $225K a year. Alignment 4.2% vs 15%: 2,490 more a year (Jan–Sep x 12/9) x $90 gross a service.</a:t>
            </a:r>
          </a:p>
          <a:p/>
          <a:p>
            <a:r>
              <a:t>4. Tire balance - $180K a year. Tire balance 0.4% vs 15%: 3,361 more a year (Jan–Sep x 12/9) x $53 gross a service.</a:t>
            </a:r>
          </a:p>
          <a:p/>
          <a:p>
            <a:r>
              <a:t>5. CP ELR - $157K a year. Jul–Sep CP ELR $125 vs 70% of the $185 door rate = $130; gap x 8,601 CP hours x 4.</a:t>
            </a:r>
          </a:p>
          <a:p/>
          <a:p>
            <a:r>
              <a:t>6. Techs under 85% - $136K a year. Store proficiency 108%. Each tech under 85% raised to 85% of their own clocked hours, valued at the store's labor + parts gross per flagged hour: $11K a month x 12.</a:t>
            </a:r>
          </a:p>
          <a:p/>
          <a:p>
            <a:r>
              <a:t>7. CP labor GP % - $102K a year. 75.7% vs 78% (bottom of the 78-80% range) x $3.25M CP labor sale x 12/9.</a:t>
            </a:r>
          </a:p>
          <a:p/>
          <a:p>
            <a:r>
              <a:t>8. Brake fluid - $80K a year. Brake fluid 7.0% vs 10%: 683 more a year (Jan–Sep x 12/9) x $117 gross a service.</a:t>
            </a:r>
          </a:p>
          <a:p/>
          <a:p>
            <a:r>
              <a:t>9. Parts gross - $76K a year. Parts gross $2,250,197 vs $2,307,440 Jan–Sep 2025, x 12/9. Overlaps CP parts GP.</a:t>
            </a:r>
          </a:p>
          <a:p/>
          <a:p>
            <a:r>
              <a:t>10. Fuel service - $56K a year. Fuel service 5.8% vs 7.5%: 387 more a year (Jan–Sep x 12/9) x $145 gross a service.</a:t>
            </a:r>
          </a:p>
          <a:p/>
          <a:p>
            <a:r>
              <a:t>11. Fixed gross/head - not priced. $11,128 a month (Jan–Sep gross ÷ 533 head-months, ADP) vs the non-luxury $12,714: 7.4 heads over. Counted, not priced: no store personnel cost in the data.</a:t>
            </a:r>
          </a:p>
          <a:p/>
          <a:p>
            <a:r>
              <a:t>12. MPI completion - not priced. 81.3% of 6,415 CP &amp; W ROs Jul–Sep vs 90%: 2,232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$743K a year. Store proficiency 72%. Each tech under 85% raised to 85% of their own clocked hours, valued at the store's labor + parts gross per flagged hour: $62K a month x 12.</a:t>
            </a:r>
          </a:p>
          <a:p/>
          <a:p>
            <a:r>
              <a:t>2. CP hours per RO - $517K a year. 2.28 vs the luxury 2.90: gap x 3,402 CP ROs x $183 an hour x 12/9.</a:t>
            </a:r>
          </a:p>
          <a:p/>
          <a:p>
            <a:r>
              <a:t>3. CP labor $ per RO - $505K a year. $506 vs the luxury $632: gap x 3,402 CP ROs x the store's 88.6% labor GP x 12/9. Overlaps hours per RO and ELR.</a:t>
            </a:r>
          </a:p>
          <a:p/>
          <a:p>
            <a:r>
              <a:t>4. Parts gross - $67K a year. Parts gross $1,492,527 vs $1,542,570 Jan–Sep 2025, x 12/9. Overlaps CP parts GP.</a:t>
            </a:r>
          </a:p>
          <a:p/>
          <a:p>
            <a:r>
              <a:t>5. Video completion - not priced. 52.5% vs the group's 57.8% on 1,711 CP &amp; W ROs Jul–Sep: 366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Service gross - $730K a year. Service gross $3,502,514 vs $4,049,724 Jan–Sep 2025, x 12/9. Overlaps the CP lines.</a:t>
            </a:r>
          </a:p>
          <a:p/>
          <a:p>
            <a:r>
              <a:t>2. Techs under 85% - $295K a year. Store proficiency 92%. Each tech under 85% raised to 85% of their own clocked hours, valued at the store's labor + parts gross per flagged hour: $25K a month x 12.</a:t>
            </a:r>
          </a:p>
          <a:p/>
          <a:p>
            <a:r>
              <a:t>3. Parts gross - $285K a year. Parts gross $1,287,787 vs $1,501,770 Jan–Sep 2025, x 12/9. Overlaps CP parts GP.</a:t>
            </a:r>
          </a:p>
          <a:p/>
          <a:p>
            <a:r>
              <a:t>4. CP parts GP % - $69K a year. 36.9% vs the non-luxury 40.5% x $1.45M CP parts sale x 12/9.</a:t>
            </a:r>
          </a:p>
          <a:p/>
          <a:p>
            <a:r>
              <a:t>5. Tire balance - $27K a year. Tire balance 8.2% vs 15%: 460 more a year (Jan–Sep x 12/9) x $60 gross a service.</a:t>
            </a:r>
          </a:p>
          <a:p/>
          <a:p>
            <a:r>
              <a:t>6. Alignment - $23K a year. Alignment 13.6% vs 15%: 96 more a year (Jan–Sep x 12/9) x $245 gross a service.</a:t>
            </a:r>
          </a:p>
          <a:p/>
          <a:p>
            <a:r>
              <a:t>7. Fixed gross/head - not priced. $12,006 a month (Jan–Sep gross ÷ 399 head-months, ADP) vs the non-luxury $12,714: 2.5 heads over. Counted, not priced: no store personnel cost in the data.</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$248K a year. Store proficiency 70%. Each tech under 85% raised to 85% of their own clocked hours, valued at the store's labor + parts gross per flagged hour: $21K a month x 12.</a:t>
            </a:r>
          </a:p>
          <a:p/>
          <a:p>
            <a:r>
              <a:t>2. Service gross - $180K a year. Service gross $588,480 vs $723,516 Jan–Sep 2025, x 12/9. Overlaps the CP lines.</a:t>
            </a:r>
          </a:p>
          <a:p/>
          <a:p>
            <a:r>
              <a:t>3. CP RO count - $151K a year. 332 fewer CP ROs than Jan–Sep 2025 x $342 a RO x 12/9.</a:t>
            </a:r>
          </a:p>
          <a:p/>
          <a:p>
            <a:r>
              <a:t>4. CP labor $ per RO - $68K a year. $231 vs the non-luxury $264: gap x 1,919 CP ROs x the store's 79.4% labor GP x 12/9. Overlaps hours per RO and ELR.</a:t>
            </a:r>
          </a:p>
          <a:p/>
          <a:p>
            <a:r>
              <a:t>5. Parts gross - $37K a year. Parts gross $379,537 vs $407,348 Jan–Sep 2025, x 12/9. Overlaps CP parts GP.</a:t>
            </a:r>
          </a:p>
          <a:p/>
          <a:p>
            <a:r>
              <a:t>6. Fuel service - $29K a year. Fuel service 2.7% vs 7.5%: 123 more a year (Jan–Sep x 12/9) x $236 gross a service.</a:t>
            </a:r>
          </a:p>
          <a:p/>
          <a:p>
            <a:r>
              <a:t>7. Tire balance - $28K a year. Tire balance 0.4% vs 15%: 373 more a year (Jan–Sep x 12/9) x $75 gross a service.</a:t>
            </a:r>
          </a:p>
          <a:p/>
          <a:p>
            <a:r>
              <a:t>8. CP hours per RO - $18K a year. 1.71 vs the non-luxury 1.75: gap x 1,919 CP ROs x $183 an hour x 12/9.</a:t>
            </a:r>
          </a:p>
          <a:p/>
          <a:p>
            <a:r>
              <a:t>9. Alignment - $18K a year. Alignment 5.6% vs 15%: 240 more a year (Jan–Sep x 12/9) x $74 gross a service.</a:t>
            </a:r>
          </a:p>
          <a:p/>
          <a:p>
            <a:r>
              <a:t>10. Brake fluid - $13K a year. Brake fluid 5.4% vs 10%: 117 more a year (Jan–Sep x 12/9) x $111 gross a service.</a:t>
            </a:r>
          </a:p>
          <a:p/>
          <a:p>
            <a:r>
              <a:t>11. MPI completion - not priced. 45.7% of 978 CP &amp; W ROs Jul–Sep vs 90%: 1,733 more a year (x 4). Not priced.</a:t>
            </a:r>
          </a:p>
          <a:p/>
          <a:p>
            <a:r>
              <a:t>12. Fixed gross/head - not priced. $9,878 a month (Jan–Sep gross ÷ 98 head-months, ADP) vs the non-luxury $12,714: 2.4 heads over. Counted, not priced: no store personnel cost in the data.</a:t>
            </a:r>
          </a:p>
          <a:p/>
          <a:p>
            <a:r>
              <a:t>13. Video completion - not priced. 48.5% vs the group's 57.8% on 978 CP &amp; W ROs Jul–Sep: 365 more a year (x 4). Not priced.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4.xml"/><Relationship Id="rId3" Type="http://schemas.openxmlformats.org/officeDocument/2006/relationships/chart" Target="../charts/chart25.xml"/><Relationship Id="rId4" Type="http://schemas.openxmlformats.org/officeDocument/2006/relationships/chart" Target="../charts/chart26.xml"/><Relationship Id="rId5" Type="http://schemas.openxmlformats.org/officeDocument/2006/relationships/chart" Target="../charts/chart27.xml"/><Relationship Id="rId6" Type="http://schemas.openxmlformats.org/officeDocument/2006/relationships/chart" Target="../charts/chart28.xml"/><Relationship Id="rId7" Type="http://schemas.openxmlformats.org/officeDocument/2006/relationships/chart" Target="../charts/chart29.xml"/><Relationship Id="rId8" Type="http://schemas.openxmlformats.org/officeDocument/2006/relationships/notesSlide" Target="../notesSlides/notesSlide3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146.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5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DAY 2 · GENERAL MANAGERS &amp; SERVICE MANAGERS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Agenda</a:t>
            </a:r>
            <a:endParaRPr lang="en-US" sz="2800" dirty="0"/>
          </a:p>
        </p:txBody>
      </p:sp>
      <p:sp>
        <p:nvSpPr>
          <p:cNvPr id="5" name="Shape 3"/>
          <p:cNvSpPr/>
          <p:nvPr/>
        </p:nvSpPr>
        <p:spPr>
          <a:xfrm>
            <a:off x="457200" y="1207008"/>
            <a:ext cx="5586984" cy="1195578"/>
          </a:xfrm>
          <a:prstGeom prst="rect">
            <a:avLst/>
          </a:prstGeom>
          <a:solidFill>
            <a:srgbClr val="FFFFFF"/>
          </a:solidFill>
          <a:ln/>
        </p:spPr>
      </p:sp>
      <p:sp>
        <p:nvSpPr>
          <p:cNvPr id="6" name="Shape 4"/>
          <p:cNvSpPr/>
          <p:nvPr/>
        </p:nvSpPr>
        <p:spPr>
          <a:xfrm>
            <a:off x="457200" y="1207008"/>
            <a:ext cx="50292" cy="1195578"/>
          </a:xfrm>
          <a:prstGeom prst="rect">
            <a:avLst/>
          </a:prstGeom>
          <a:solidFill>
            <a:srgbClr val="2587C5"/>
          </a:solidFill>
          <a:ln/>
        </p:spPr>
      </p:sp>
      <p:sp>
        <p:nvSpPr>
          <p:cNvPr id="7" name="Text 5"/>
          <p:cNvSpPr txBox="1"/>
          <p:nvPr/>
        </p:nvSpPr>
        <p:spPr>
          <a:xfrm>
            <a:off x="694944" y="1207008"/>
            <a:ext cx="640080" cy="1195578"/>
          </a:xfrm>
          <a:prstGeom prst="rect">
            <a:avLst/>
          </a:prstGeom>
          <a:noFill/>
          <a:ln/>
        </p:spPr>
        <p:txBody>
          <a:bodyPr wrap="square" lIns="0" tIns="0" rIns="0" bIns="0" rtlCol="0" anchor="ctr"/>
          <a:lstStyle/>
          <a:p>
            <a:pPr indent="0" marL="0">
              <a:buNone/>
            </a:pPr>
            <a:r>
              <a:rPr lang="en-US" sz="2000" b="1" dirty="0">
                <a:solidFill>
                  <a:srgbClr val="5B9BD5"/>
                </a:solidFill>
                <a:latin typeface="Inter" pitchFamily="34" charset="0"/>
                <a:ea typeface="Inter" pitchFamily="34" charset="-122"/>
                <a:cs typeface="Inter" pitchFamily="34" charset="-120"/>
              </a:rPr>
              <a:t>01</a:t>
            </a:r>
            <a:endParaRPr lang="en-US" sz="2000" dirty="0"/>
          </a:p>
        </p:txBody>
      </p:sp>
      <p:sp>
        <p:nvSpPr>
          <p:cNvPr id="8" name="Text 6"/>
          <p:cNvSpPr txBox="1"/>
          <p:nvPr/>
        </p:nvSpPr>
        <p:spPr>
          <a:xfrm>
            <a:off x="1371600" y="1207008"/>
            <a:ext cx="2286000" cy="1195578"/>
          </a:xfrm>
          <a:prstGeom prst="rect">
            <a:avLst/>
          </a:prstGeom>
          <a:noFill/>
          <a:ln/>
        </p:spPr>
        <p:txBody>
          <a:bodyPr wrap="square" lIns="0" tIns="0" rIns="0" bIns="0" rtlCol="0" anchor="ctr"/>
          <a:lstStyle/>
          <a:p>
            <a:pPr indent="0" marL="0">
              <a:buNone/>
            </a:pPr>
            <a:r>
              <a:rPr lang="en-US" sz="1700" b="1" dirty="0">
                <a:solidFill>
                  <a:srgbClr val="1A1A1A"/>
                </a:solidFill>
                <a:latin typeface="Inter" pitchFamily="34" charset="0"/>
                <a:ea typeface="Inter" pitchFamily="34" charset="-122"/>
                <a:cs typeface="Inter" pitchFamily="34" charset="-120"/>
              </a:rPr>
              <a:t>Gross</a:t>
            </a:r>
            <a:endParaRPr lang="en-US" sz="1700" dirty="0"/>
          </a:p>
        </p:txBody>
      </p:sp>
      <p:sp>
        <p:nvSpPr>
          <p:cNvPr id="9" name="Text 7"/>
          <p:cNvSpPr txBox="1"/>
          <p:nvPr/>
        </p:nvSpPr>
        <p:spPr>
          <a:xfrm>
            <a:off x="3703320" y="1207008"/>
            <a:ext cx="2112264" cy="1195578"/>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Fixed ops, service and parts gross performance.</a:t>
            </a:r>
            <a:endParaRPr lang="en-US" sz="1400" dirty="0"/>
          </a:p>
        </p:txBody>
      </p:sp>
      <p:sp>
        <p:nvSpPr>
          <p:cNvPr id="10" name="Shape 8"/>
          <p:cNvSpPr/>
          <p:nvPr/>
        </p:nvSpPr>
        <p:spPr>
          <a:xfrm>
            <a:off x="457200" y="2494026"/>
            <a:ext cx="5586984" cy="1195578"/>
          </a:xfrm>
          <a:prstGeom prst="rect">
            <a:avLst/>
          </a:prstGeom>
          <a:solidFill>
            <a:srgbClr val="FFFFFF"/>
          </a:solidFill>
          <a:ln/>
        </p:spPr>
      </p:sp>
      <p:sp>
        <p:nvSpPr>
          <p:cNvPr id="11" name="Shape 9"/>
          <p:cNvSpPr/>
          <p:nvPr/>
        </p:nvSpPr>
        <p:spPr>
          <a:xfrm>
            <a:off x="457200" y="2494026"/>
            <a:ext cx="50292" cy="1195578"/>
          </a:xfrm>
          <a:prstGeom prst="rect">
            <a:avLst/>
          </a:prstGeom>
          <a:solidFill>
            <a:srgbClr val="2587C5"/>
          </a:solidFill>
          <a:ln/>
        </p:spPr>
      </p:sp>
      <p:sp>
        <p:nvSpPr>
          <p:cNvPr id="12" name="Text 10"/>
          <p:cNvSpPr txBox="1"/>
          <p:nvPr/>
        </p:nvSpPr>
        <p:spPr>
          <a:xfrm>
            <a:off x="694944" y="2494026"/>
            <a:ext cx="640080" cy="1195578"/>
          </a:xfrm>
          <a:prstGeom prst="rect">
            <a:avLst/>
          </a:prstGeom>
          <a:noFill/>
          <a:ln/>
        </p:spPr>
        <p:txBody>
          <a:bodyPr wrap="square" lIns="0" tIns="0" rIns="0" bIns="0" rtlCol="0" anchor="ctr"/>
          <a:lstStyle/>
          <a:p>
            <a:pPr indent="0" marL="0">
              <a:buNone/>
            </a:pPr>
            <a:r>
              <a:rPr lang="en-US" sz="2000" b="1" dirty="0">
                <a:solidFill>
                  <a:srgbClr val="5B9BD5"/>
                </a:solidFill>
                <a:latin typeface="Inter" pitchFamily="34" charset="0"/>
                <a:ea typeface="Inter" pitchFamily="34" charset="-122"/>
                <a:cs typeface="Inter" pitchFamily="34" charset="-120"/>
              </a:rPr>
              <a:t>02</a:t>
            </a:r>
            <a:endParaRPr lang="en-US" sz="2000" dirty="0"/>
          </a:p>
        </p:txBody>
      </p:sp>
      <p:sp>
        <p:nvSpPr>
          <p:cNvPr id="13" name="Text 11"/>
          <p:cNvSpPr txBox="1"/>
          <p:nvPr/>
        </p:nvSpPr>
        <p:spPr>
          <a:xfrm>
            <a:off x="1371600" y="2494026"/>
            <a:ext cx="2286000" cy="1195578"/>
          </a:xfrm>
          <a:prstGeom prst="rect">
            <a:avLst/>
          </a:prstGeom>
          <a:noFill/>
          <a:ln/>
        </p:spPr>
        <p:txBody>
          <a:bodyPr wrap="square" lIns="0" tIns="0" rIns="0" bIns="0" rtlCol="0" anchor="ctr"/>
          <a:lstStyle/>
          <a:p>
            <a:pPr indent="0" marL="0">
              <a:buNone/>
            </a:pPr>
            <a:r>
              <a:rPr lang="en-US" sz="1700" b="1" dirty="0">
                <a:solidFill>
                  <a:srgbClr val="1A1A1A"/>
                </a:solidFill>
                <a:latin typeface="Inter" pitchFamily="34" charset="0"/>
                <a:ea typeface="Inter" pitchFamily="34" charset="-122"/>
                <a:cs typeface="Inter" pitchFamily="34" charset="-120"/>
              </a:rPr>
              <a:t>Profitability</a:t>
            </a:r>
            <a:endParaRPr lang="en-US" sz="1700" dirty="0"/>
          </a:p>
        </p:txBody>
      </p:sp>
      <p:sp>
        <p:nvSpPr>
          <p:cNvPr id="14" name="Text 12"/>
          <p:cNvSpPr txBox="1"/>
          <p:nvPr/>
        </p:nvSpPr>
        <p:spPr>
          <a:xfrm>
            <a:off x="3703320" y="2494026"/>
            <a:ext cx="2112264" cy="1195578"/>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What we keep, and how much of the store we cover.</a:t>
            </a:r>
            <a:endParaRPr lang="en-US" sz="1400" dirty="0"/>
          </a:p>
        </p:txBody>
      </p:sp>
      <p:sp>
        <p:nvSpPr>
          <p:cNvPr id="15" name="Shape 13"/>
          <p:cNvSpPr/>
          <p:nvPr/>
        </p:nvSpPr>
        <p:spPr>
          <a:xfrm>
            <a:off x="457200" y="3781044"/>
            <a:ext cx="5586984" cy="1195578"/>
          </a:xfrm>
          <a:prstGeom prst="rect">
            <a:avLst/>
          </a:prstGeom>
          <a:solidFill>
            <a:srgbClr val="FFFFFF"/>
          </a:solidFill>
          <a:ln/>
        </p:spPr>
      </p:sp>
      <p:sp>
        <p:nvSpPr>
          <p:cNvPr id="16" name="Shape 14"/>
          <p:cNvSpPr/>
          <p:nvPr/>
        </p:nvSpPr>
        <p:spPr>
          <a:xfrm>
            <a:off x="457200" y="3781044"/>
            <a:ext cx="50292" cy="1195578"/>
          </a:xfrm>
          <a:prstGeom prst="rect">
            <a:avLst/>
          </a:prstGeom>
          <a:solidFill>
            <a:srgbClr val="2587C5"/>
          </a:solidFill>
          <a:ln/>
        </p:spPr>
      </p:sp>
      <p:sp>
        <p:nvSpPr>
          <p:cNvPr id="17" name="Text 15"/>
          <p:cNvSpPr txBox="1"/>
          <p:nvPr/>
        </p:nvSpPr>
        <p:spPr>
          <a:xfrm>
            <a:off x="694944" y="3781044"/>
            <a:ext cx="640080" cy="1195578"/>
          </a:xfrm>
          <a:prstGeom prst="rect">
            <a:avLst/>
          </a:prstGeom>
          <a:noFill/>
          <a:ln/>
        </p:spPr>
        <p:txBody>
          <a:bodyPr wrap="square" lIns="0" tIns="0" rIns="0" bIns="0" rtlCol="0" anchor="ctr"/>
          <a:lstStyle/>
          <a:p>
            <a:pPr indent="0" marL="0">
              <a:buNone/>
            </a:pPr>
            <a:r>
              <a:rPr lang="en-US" sz="2000" b="1" dirty="0">
                <a:solidFill>
                  <a:srgbClr val="5B9BD5"/>
                </a:solidFill>
                <a:latin typeface="Inter" pitchFamily="34" charset="0"/>
                <a:ea typeface="Inter" pitchFamily="34" charset="-122"/>
                <a:cs typeface="Inter" pitchFamily="34" charset="-120"/>
              </a:rPr>
              <a:t>03</a:t>
            </a:r>
            <a:endParaRPr lang="en-US" sz="2000" dirty="0"/>
          </a:p>
        </p:txBody>
      </p:sp>
      <p:sp>
        <p:nvSpPr>
          <p:cNvPr id="18" name="Text 16"/>
          <p:cNvSpPr txBox="1"/>
          <p:nvPr/>
        </p:nvSpPr>
        <p:spPr>
          <a:xfrm>
            <a:off x="1371600" y="3781044"/>
            <a:ext cx="2286000" cy="1195578"/>
          </a:xfrm>
          <a:prstGeom prst="rect">
            <a:avLst/>
          </a:prstGeom>
          <a:noFill/>
          <a:ln/>
        </p:spPr>
        <p:txBody>
          <a:bodyPr wrap="square" lIns="0" tIns="0" rIns="0" bIns="0" rtlCol="0" anchor="ctr"/>
          <a:lstStyle/>
          <a:p>
            <a:pPr indent="0" marL="0">
              <a:buNone/>
            </a:pPr>
            <a:r>
              <a:rPr lang="en-US" sz="1700" b="1" dirty="0">
                <a:solidFill>
                  <a:srgbClr val="1A1A1A"/>
                </a:solidFill>
                <a:latin typeface="Inter" pitchFamily="34" charset="0"/>
                <a:ea typeface="Inter" pitchFamily="34" charset="-122"/>
                <a:cs typeface="Inter" pitchFamily="34" charset="-120"/>
              </a:rPr>
              <a:t>Customer Pay</a:t>
            </a:r>
            <a:endParaRPr lang="en-US" sz="1700" dirty="0"/>
          </a:p>
        </p:txBody>
      </p:sp>
      <p:sp>
        <p:nvSpPr>
          <p:cNvPr id="19" name="Text 17"/>
          <p:cNvSpPr txBox="1"/>
          <p:nvPr/>
        </p:nvSpPr>
        <p:spPr>
          <a:xfrm>
            <a:off x="3703320" y="3781044"/>
            <a:ext cx="2112264" cy="1195578"/>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Car count, sales per visit, pricing and margin.</a:t>
            </a:r>
            <a:endParaRPr lang="en-US" sz="1400" dirty="0"/>
          </a:p>
        </p:txBody>
      </p:sp>
      <p:sp>
        <p:nvSpPr>
          <p:cNvPr id="20" name="Shape 18"/>
          <p:cNvSpPr/>
          <p:nvPr/>
        </p:nvSpPr>
        <p:spPr>
          <a:xfrm>
            <a:off x="457200" y="5068062"/>
            <a:ext cx="5586984" cy="1195578"/>
          </a:xfrm>
          <a:prstGeom prst="rect">
            <a:avLst/>
          </a:prstGeom>
          <a:solidFill>
            <a:srgbClr val="FFFFFF"/>
          </a:solidFill>
          <a:ln/>
        </p:spPr>
      </p:sp>
      <p:sp>
        <p:nvSpPr>
          <p:cNvPr id="21" name="Shape 19"/>
          <p:cNvSpPr/>
          <p:nvPr/>
        </p:nvSpPr>
        <p:spPr>
          <a:xfrm>
            <a:off x="457200" y="5068062"/>
            <a:ext cx="50292" cy="1195578"/>
          </a:xfrm>
          <a:prstGeom prst="rect">
            <a:avLst/>
          </a:prstGeom>
          <a:solidFill>
            <a:srgbClr val="2587C5"/>
          </a:solidFill>
          <a:ln/>
        </p:spPr>
      </p:sp>
      <p:sp>
        <p:nvSpPr>
          <p:cNvPr id="22" name="Text 20"/>
          <p:cNvSpPr txBox="1"/>
          <p:nvPr/>
        </p:nvSpPr>
        <p:spPr>
          <a:xfrm>
            <a:off x="694944" y="5068062"/>
            <a:ext cx="640080" cy="1195578"/>
          </a:xfrm>
          <a:prstGeom prst="rect">
            <a:avLst/>
          </a:prstGeom>
          <a:noFill/>
          <a:ln/>
        </p:spPr>
        <p:txBody>
          <a:bodyPr wrap="square" lIns="0" tIns="0" rIns="0" bIns="0" rtlCol="0" anchor="ctr"/>
          <a:lstStyle/>
          <a:p>
            <a:pPr indent="0" marL="0">
              <a:buNone/>
            </a:pPr>
            <a:r>
              <a:rPr lang="en-US" sz="2000" b="1" dirty="0">
                <a:solidFill>
                  <a:srgbClr val="5B9BD5"/>
                </a:solidFill>
                <a:latin typeface="Inter" pitchFamily="34" charset="0"/>
                <a:ea typeface="Inter" pitchFamily="34" charset="-122"/>
                <a:cs typeface="Inter" pitchFamily="34" charset="-120"/>
              </a:rPr>
              <a:t>04</a:t>
            </a:r>
            <a:endParaRPr lang="en-US" sz="2000" dirty="0"/>
          </a:p>
        </p:txBody>
      </p:sp>
      <p:sp>
        <p:nvSpPr>
          <p:cNvPr id="23" name="Text 21"/>
          <p:cNvSpPr txBox="1"/>
          <p:nvPr/>
        </p:nvSpPr>
        <p:spPr>
          <a:xfrm>
            <a:off x="1371600" y="5068062"/>
            <a:ext cx="2286000" cy="1195578"/>
          </a:xfrm>
          <a:prstGeom prst="rect">
            <a:avLst/>
          </a:prstGeom>
          <a:noFill/>
          <a:ln/>
        </p:spPr>
        <p:txBody>
          <a:bodyPr wrap="square" lIns="0" tIns="0" rIns="0" bIns="0" rtlCol="0" anchor="ctr"/>
          <a:lstStyle/>
          <a:p>
            <a:pPr indent="0" marL="0">
              <a:buNone/>
            </a:pPr>
            <a:r>
              <a:rPr lang="en-US" sz="1700" b="1" dirty="0">
                <a:solidFill>
                  <a:srgbClr val="1A1A1A"/>
                </a:solidFill>
                <a:latin typeface="Inter" pitchFamily="34" charset="0"/>
                <a:ea typeface="Inter" pitchFamily="34" charset="-122"/>
                <a:cs typeface="Inter" pitchFamily="34" charset="-120"/>
              </a:rPr>
              <a:t>Opcode Benchmarks</a:t>
            </a:r>
            <a:endParaRPr lang="en-US" sz="1700" dirty="0"/>
          </a:p>
        </p:txBody>
      </p:sp>
      <p:sp>
        <p:nvSpPr>
          <p:cNvPr id="24" name="Text 22"/>
          <p:cNvSpPr txBox="1"/>
          <p:nvPr/>
        </p:nvSpPr>
        <p:spPr>
          <a:xfrm>
            <a:off x="3703320" y="5068062"/>
            <a:ext cx="2112264" cy="1195578"/>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Inspections and key services against benchmark.</a:t>
            </a:r>
            <a:endParaRPr lang="en-US" sz="1400" dirty="0"/>
          </a:p>
        </p:txBody>
      </p:sp>
      <p:sp>
        <p:nvSpPr>
          <p:cNvPr id="25" name="Shape 23"/>
          <p:cNvSpPr/>
          <p:nvPr/>
        </p:nvSpPr>
        <p:spPr>
          <a:xfrm>
            <a:off x="6144768" y="1207008"/>
            <a:ext cx="5586984" cy="1195578"/>
          </a:xfrm>
          <a:prstGeom prst="rect">
            <a:avLst/>
          </a:prstGeom>
          <a:solidFill>
            <a:srgbClr val="FFFFFF"/>
          </a:solidFill>
          <a:ln/>
        </p:spPr>
      </p:sp>
      <p:sp>
        <p:nvSpPr>
          <p:cNvPr id="26" name="Shape 24"/>
          <p:cNvSpPr/>
          <p:nvPr/>
        </p:nvSpPr>
        <p:spPr>
          <a:xfrm>
            <a:off x="6144768" y="1207008"/>
            <a:ext cx="50292" cy="1195578"/>
          </a:xfrm>
          <a:prstGeom prst="rect">
            <a:avLst/>
          </a:prstGeom>
          <a:solidFill>
            <a:srgbClr val="2587C5"/>
          </a:solidFill>
          <a:ln/>
        </p:spPr>
      </p:sp>
      <p:sp>
        <p:nvSpPr>
          <p:cNvPr id="27" name="Text 25"/>
          <p:cNvSpPr txBox="1"/>
          <p:nvPr/>
        </p:nvSpPr>
        <p:spPr>
          <a:xfrm>
            <a:off x="6382512" y="1207008"/>
            <a:ext cx="640080" cy="1195578"/>
          </a:xfrm>
          <a:prstGeom prst="rect">
            <a:avLst/>
          </a:prstGeom>
          <a:noFill/>
          <a:ln/>
        </p:spPr>
        <p:txBody>
          <a:bodyPr wrap="square" lIns="0" tIns="0" rIns="0" bIns="0" rtlCol="0" anchor="ctr"/>
          <a:lstStyle/>
          <a:p>
            <a:pPr indent="0" marL="0">
              <a:buNone/>
            </a:pPr>
            <a:r>
              <a:rPr lang="en-US" sz="2000" b="1" dirty="0">
                <a:solidFill>
                  <a:srgbClr val="5B9BD5"/>
                </a:solidFill>
                <a:latin typeface="Inter" pitchFamily="34" charset="0"/>
                <a:ea typeface="Inter" pitchFamily="34" charset="-122"/>
                <a:cs typeface="Inter" pitchFamily="34" charset="-120"/>
              </a:rPr>
              <a:t>05</a:t>
            </a:r>
            <a:endParaRPr lang="en-US" sz="2000" dirty="0"/>
          </a:p>
        </p:txBody>
      </p:sp>
      <p:sp>
        <p:nvSpPr>
          <p:cNvPr id="28" name="Text 26"/>
          <p:cNvSpPr txBox="1"/>
          <p:nvPr/>
        </p:nvSpPr>
        <p:spPr>
          <a:xfrm>
            <a:off x="7059168" y="1207008"/>
            <a:ext cx="2286000" cy="1195578"/>
          </a:xfrm>
          <a:prstGeom prst="rect">
            <a:avLst/>
          </a:prstGeom>
          <a:noFill/>
          <a:ln/>
        </p:spPr>
        <p:txBody>
          <a:bodyPr wrap="square" lIns="0" tIns="0" rIns="0" bIns="0" rtlCol="0" anchor="ctr"/>
          <a:lstStyle/>
          <a:p>
            <a:pPr indent="0" marL="0">
              <a:buNone/>
            </a:pPr>
            <a:r>
              <a:rPr lang="en-US" sz="1700" b="1" dirty="0">
                <a:solidFill>
                  <a:srgbClr val="1A1A1A"/>
                </a:solidFill>
                <a:latin typeface="Inter" pitchFamily="34" charset="0"/>
                <a:ea typeface="Inter" pitchFamily="34" charset="-122"/>
                <a:cs typeface="Inter" pitchFamily="34" charset="-120"/>
              </a:rPr>
              <a:t>Internal</a:t>
            </a:r>
            <a:endParaRPr lang="en-US" sz="1700" dirty="0"/>
          </a:p>
        </p:txBody>
      </p:sp>
      <p:sp>
        <p:nvSpPr>
          <p:cNvPr id="29" name="Text 27"/>
          <p:cNvSpPr txBox="1"/>
          <p:nvPr/>
        </p:nvSpPr>
        <p:spPr>
          <a:xfrm>
            <a:off x="9390888" y="1207008"/>
            <a:ext cx="2112264" cy="1195578"/>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Internal labor rate and margins.</a:t>
            </a:r>
            <a:endParaRPr lang="en-US" sz="1400" dirty="0"/>
          </a:p>
        </p:txBody>
      </p:sp>
      <p:sp>
        <p:nvSpPr>
          <p:cNvPr id="30" name="Shape 28"/>
          <p:cNvSpPr/>
          <p:nvPr/>
        </p:nvSpPr>
        <p:spPr>
          <a:xfrm>
            <a:off x="6144768" y="2494026"/>
            <a:ext cx="5586984" cy="1195578"/>
          </a:xfrm>
          <a:prstGeom prst="rect">
            <a:avLst/>
          </a:prstGeom>
          <a:solidFill>
            <a:srgbClr val="FFFFFF"/>
          </a:solidFill>
          <a:ln/>
        </p:spPr>
      </p:sp>
      <p:sp>
        <p:nvSpPr>
          <p:cNvPr id="31" name="Shape 29"/>
          <p:cNvSpPr/>
          <p:nvPr/>
        </p:nvSpPr>
        <p:spPr>
          <a:xfrm>
            <a:off x="6144768" y="2494026"/>
            <a:ext cx="50292" cy="1195578"/>
          </a:xfrm>
          <a:prstGeom prst="rect">
            <a:avLst/>
          </a:prstGeom>
          <a:solidFill>
            <a:srgbClr val="2587C5"/>
          </a:solidFill>
          <a:ln/>
        </p:spPr>
      </p:sp>
      <p:sp>
        <p:nvSpPr>
          <p:cNvPr id="32" name="Text 30"/>
          <p:cNvSpPr txBox="1"/>
          <p:nvPr/>
        </p:nvSpPr>
        <p:spPr>
          <a:xfrm>
            <a:off x="6382512" y="2494026"/>
            <a:ext cx="640080" cy="1195578"/>
          </a:xfrm>
          <a:prstGeom prst="rect">
            <a:avLst/>
          </a:prstGeom>
          <a:noFill/>
          <a:ln/>
        </p:spPr>
        <p:txBody>
          <a:bodyPr wrap="square" lIns="0" tIns="0" rIns="0" bIns="0" rtlCol="0" anchor="ctr"/>
          <a:lstStyle/>
          <a:p>
            <a:pPr indent="0" marL="0">
              <a:buNone/>
            </a:pPr>
            <a:r>
              <a:rPr lang="en-US" sz="2000" b="1" dirty="0">
                <a:solidFill>
                  <a:srgbClr val="5B9BD5"/>
                </a:solidFill>
                <a:latin typeface="Inter" pitchFamily="34" charset="0"/>
                <a:ea typeface="Inter" pitchFamily="34" charset="-122"/>
                <a:cs typeface="Inter" pitchFamily="34" charset="-120"/>
              </a:rPr>
              <a:t>06</a:t>
            </a:r>
            <a:endParaRPr lang="en-US" sz="2000" dirty="0"/>
          </a:p>
        </p:txBody>
      </p:sp>
      <p:sp>
        <p:nvSpPr>
          <p:cNvPr id="33" name="Text 31"/>
          <p:cNvSpPr txBox="1"/>
          <p:nvPr/>
        </p:nvSpPr>
        <p:spPr>
          <a:xfrm>
            <a:off x="7059168" y="2494026"/>
            <a:ext cx="2286000" cy="1195578"/>
          </a:xfrm>
          <a:prstGeom prst="rect">
            <a:avLst/>
          </a:prstGeom>
          <a:noFill/>
          <a:ln/>
        </p:spPr>
        <p:txBody>
          <a:bodyPr wrap="square" lIns="0" tIns="0" rIns="0" bIns="0" rtlCol="0" anchor="ctr"/>
          <a:lstStyle/>
          <a:p>
            <a:pPr indent="0" marL="0">
              <a:buNone/>
            </a:pPr>
            <a:r>
              <a:rPr lang="en-US" sz="1700" b="1" dirty="0">
                <a:solidFill>
                  <a:srgbClr val="1A1A1A"/>
                </a:solidFill>
                <a:latin typeface="Inter" pitchFamily="34" charset="0"/>
                <a:ea typeface="Inter" pitchFamily="34" charset="-122"/>
                <a:cs typeface="Inter" pitchFamily="34" charset="-120"/>
              </a:rPr>
              <a:t>Productivity</a:t>
            </a:r>
            <a:endParaRPr lang="en-US" sz="1700" dirty="0"/>
          </a:p>
        </p:txBody>
      </p:sp>
      <p:sp>
        <p:nvSpPr>
          <p:cNvPr id="34" name="Text 32"/>
          <p:cNvSpPr txBox="1"/>
          <p:nvPr/>
        </p:nvSpPr>
        <p:spPr>
          <a:xfrm>
            <a:off x="9390888" y="2494026"/>
            <a:ext cx="2112264" cy="1195578"/>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Staffing, output and technician proficiency.</a:t>
            </a:r>
            <a:endParaRPr lang="en-US" sz="1400" dirty="0"/>
          </a:p>
        </p:txBody>
      </p:sp>
      <p:sp>
        <p:nvSpPr>
          <p:cNvPr id="35" name="Shape 33"/>
          <p:cNvSpPr/>
          <p:nvPr/>
        </p:nvSpPr>
        <p:spPr>
          <a:xfrm>
            <a:off x="6144768" y="3781044"/>
            <a:ext cx="5586984" cy="1195578"/>
          </a:xfrm>
          <a:prstGeom prst="rect">
            <a:avLst/>
          </a:prstGeom>
          <a:solidFill>
            <a:srgbClr val="FFFFFF"/>
          </a:solidFill>
          <a:ln/>
        </p:spPr>
      </p:sp>
      <p:sp>
        <p:nvSpPr>
          <p:cNvPr id="36" name="Shape 34"/>
          <p:cNvSpPr/>
          <p:nvPr/>
        </p:nvSpPr>
        <p:spPr>
          <a:xfrm>
            <a:off x="6144768" y="3781044"/>
            <a:ext cx="50292" cy="1195578"/>
          </a:xfrm>
          <a:prstGeom prst="rect">
            <a:avLst/>
          </a:prstGeom>
          <a:solidFill>
            <a:srgbClr val="2587C5"/>
          </a:solidFill>
          <a:ln/>
        </p:spPr>
      </p:sp>
      <p:sp>
        <p:nvSpPr>
          <p:cNvPr id="37" name="Text 35"/>
          <p:cNvSpPr txBox="1"/>
          <p:nvPr/>
        </p:nvSpPr>
        <p:spPr>
          <a:xfrm>
            <a:off x="6382512" y="3781044"/>
            <a:ext cx="640080" cy="1195578"/>
          </a:xfrm>
          <a:prstGeom prst="rect">
            <a:avLst/>
          </a:prstGeom>
          <a:noFill/>
          <a:ln/>
        </p:spPr>
        <p:txBody>
          <a:bodyPr wrap="square" lIns="0" tIns="0" rIns="0" bIns="0" rtlCol="0" anchor="ctr"/>
          <a:lstStyle/>
          <a:p>
            <a:pPr indent="0" marL="0">
              <a:buNone/>
            </a:pPr>
            <a:r>
              <a:rPr lang="en-US" sz="2000" b="1" dirty="0">
                <a:solidFill>
                  <a:srgbClr val="5B9BD5"/>
                </a:solidFill>
                <a:latin typeface="Inter" pitchFamily="34" charset="0"/>
                <a:ea typeface="Inter" pitchFamily="34" charset="-122"/>
                <a:cs typeface="Inter" pitchFamily="34" charset="-120"/>
              </a:rPr>
              <a:t>07</a:t>
            </a:r>
            <a:endParaRPr lang="en-US" sz="2000" dirty="0"/>
          </a:p>
        </p:txBody>
      </p:sp>
      <p:sp>
        <p:nvSpPr>
          <p:cNvPr id="38" name="Text 36"/>
          <p:cNvSpPr txBox="1"/>
          <p:nvPr/>
        </p:nvSpPr>
        <p:spPr>
          <a:xfrm>
            <a:off x="7059168" y="3781044"/>
            <a:ext cx="2286000" cy="1195578"/>
          </a:xfrm>
          <a:prstGeom prst="rect">
            <a:avLst/>
          </a:prstGeom>
          <a:noFill/>
          <a:ln/>
        </p:spPr>
        <p:txBody>
          <a:bodyPr wrap="square" lIns="0" tIns="0" rIns="0" bIns="0" rtlCol="0" anchor="ctr"/>
          <a:lstStyle/>
          <a:p>
            <a:pPr indent="0" marL="0">
              <a:buNone/>
            </a:pPr>
            <a:r>
              <a:rPr lang="en-US" sz="1700" b="1" dirty="0">
                <a:solidFill>
                  <a:srgbClr val="1A1A1A"/>
                </a:solidFill>
                <a:latin typeface="Inter" pitchFamily="34" charset="0"/>
                <a:ea typeface="Inter" pitchFamily="34" charset="-122"/>
                <a:cs typeface="Inter" pitchFamily="34" charset="-120"/>
              </a:rPr>
              <a:t>Warranty</a:t>
            </a:r>
            <a:endParaRPr lang="en-US" sz="1700" dirty="0"/>
          </a:p>
        </p:txBody>
      </p:sp>
      <p:sp>
        <p:nvSpPr>
          <p:cNvPr id="39" name="Text 37"/>
          <p:cNvSpPr txBox="1"/>
          <p:nvPr/>
        </p:nvSpPr>
        <p:spPr>
          <a:xfrm>
            <a:off x="9390888" y="3781044"/>
            <a:ext cx="2112264" cy="1195578"/>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Rates, margins and compliance: protecting the money.</a:t>
            </a:r>
            <a:endParaRPr lang="en-US" sz="1400" dirty="0"/>
          </a:p>
        </p:txBody>
      </p:sp>
      <p:sp>
        <p:nvSpPr>
          <p:cNvPr id="40" name="Shape 38"/>
          <p:cNvSpPr/>
          <p:nvPr/>
        </p:nvSpPr>
        <p:spPr>
          <a:xfrm>
            <a:off x="6144768" y="5068062"/>
            <a:ext cx="5586984" cy="1195578"/>
          </a:xfrm>
          <a:prstGeom prst="rect">
            <a:avLst/>
          </a:prstGeom>
          <a:solidFill>
            <a:srgbClr val="FFFFFF"/>
          </a:solidFill>
          <a:ln/>
        </p:spPr>
      </p:sp>
      <p:sp>
        <p:nvSpPr>
          <p:cNvPr id="41" name="Shape 39"/>
          <p:cNvSpPr/>
          <p:nvPr/>
        </p:nvSpPr>
        <p:spPr>
          <a:xfrm>
            <a:off x="6144768" y="5068062"/>
            <a:ext cx="50292" cy="1195578"/>
          </a:xfrm>
          <a:prstGeom prst="rect">
            <a:avLst/>
          </a:prstGeom>
          <a:solidFill>
            <a:srgbClr val="2587C5"/>
          </a:solidFill>
          <a:ln/>
        </p:spPr>
      </p:sp>
      <p:sp>
        <p:nvSpPr>
          <p:cNvPr id="42" name="Text 40"/>
          <p:cNvSpPr txBox="1"/>
          <p:nvPr/>
        </p:nvSpPr>
        <p:spPr>
          <a:xfrm>
            <a:off x="6382512" y="5068062"/>
            <a:ext cx="640080" cy="1195578"/>
          </a:xfrm>
          <a:prstGeom prst="rect">
            <a:avLst/>
          </a:prstGeom>
          <a:noFill/>
          <a:ln/>
        </p:spPr>
        <p:txBody>
          <a:bodyPr wrap="square" lIns="0" tIns="0" rIns="0" bIns="0" rtlCol="0" anchor="ctr"/>
          <a:lstStyle/>
          <a:p>
            <a:pPr indent="0" marL="0">
              <a:buNone/>
            </a:pPr>
            <a:r>
              <a:rPr lang="en-US" sz="2000" b="1" dirty="0">
                <a:solidFill>
                  <a:srgbClr val="5B9BD5"/>
                </a:solidFill>
                <a:latin typeface="Inter" pitchFamily="34" charset="0"/>
                <a:ea typeface="Inter" pitchFamily="34" charset="-122"/>
                <a:cs typeface="Inter" pitchFamily="34" charset="-120"/>
              </a:rPr>
              <a:t>08</a:t>
            </a:r>
            <a:endParaRPr lang="en-US" sz="2000" dirty="0"/>
          </a:p>
        </p:txBody>
      </p:sp>
      <p:sp>
        <p:nvSpPr>
          <p:cNvPr id="43" name="Text 41"/>
          <p:cNvSpPr txBox="1"/>
          <p:nvPr/>
        </p:nvSpPr>
        <p:spPr>
          <a:xfrm>
            <a:off x="7059168" y="5068062"/>
            <a:ext cx="2286000" cy="1195578"/>
          </a:xfrm>
          <a:prstGeom prst="rect">
            <a:avLst/>
          </a:prstGeom>
          <a:noFill/>
          <a:ln/>
        </p:spPr>
        <p:txBody>
          <a:bodyPr wrap="square" lIns="0" tIns="0" rIns="0" bIns="0" rtlCol="0" anchor="ctr"/>
          <a:lstStyle/>
          <a:p>
            <a:pPr indent="0" marL="0">
              <a:buNone/>
            </a:pPr>
            <a:r>
              <a:rPr lang="en-US" sz="1700" b="1" dirty="0">
                <a:solidFill>
                  <a:srgbClr val="1A1A1A"/>
                </a:solidFill>
                <a:latin typeface="Inter" pitchFamily="34" charset="0"/>
                <a:ea typeface="Inter" pitchFamily="34" charset="-122"/>
                <a:cs typeface="Inter" pitchFamily="34" charset="-120"/>
              </a:rPr>
              <a:t>Close</a:t>
            </a:r>
            <a:endParaRPr lang="en-US" sz="1700" dirty="0"/>
          </a:p>
        </p:txBody>
      </p:sp>
      <p:sp>
        <p:nvSpPr>
          <p:cNvPr id="44" name="Text 42"/>
          <p:cNvSpPr txBox="1"/>
          <p:nvPr/>
        </p:nvSpPr>
        <p:spPr>
          <a:xfrm>
            <a:off x="9390888" y="5068062"/>
            <a:ext cx="2112264" cy="1195578"/>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What changed, where the money is, and each store's prescription.</a:t>
            </a:r>
            <a:endParaRPr lang="en-US" sz="140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Absorption</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Fixed absorption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fixed ops gross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total store fixed expenses</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much of the dealership's fixed expenses are covered by parts and service gross profit.</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READING IT</a:t>
            </a:r>
            <a:endParaRPr lang="en-US" sz="1400" dirty="0"/>
          </a:p>
        </p:txBody>
      </p:sp>
      <p:sp>
        <p:nvSpPr>
          <p:cNvPr id="9" name="Shape 7"/>
          <p:cNvSpPr/>
          <p:nvPr/>
        </p:nvSpPr>
        <p:spPr>
          <a:xfrm>
            <a:off x="2286000" y="2340864"/>
            <a:ext cx="466801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At 100%  </a:t>
            </a:r>
            <a:pPr algn="ctr" indent="0" marL="0">
              <a:buNone/>
            </a:pPr>
            <a:r>
              <a:rPr lang="en-US" sz="1400" b="1" dirty="0">
                <a:solidFill>
                  <a:srgbClr val="0B2C4A"/>
                </a:solidFill>
                <a:latin typeface="Inter" pitchFamily="34" charset="0"/>
                <a:ea typeface="Inter" pitchFamily="34" charset="-122"/>
                <a:cs typeface="Inter" pitchFamily="34" charset="-120"/>
              </a:rPr>
              <a:t>fixed ops covers every fixed expense</a:t>
            </a:r>
            <a:endParaRPr lang="en-US" sz="1400" dirty="0"/>
          </a:p>
        </p:txBody>
      </p:sp>
      <p:sp>
        <p:nvSpPr>
          <p:cNvPr id="11" name="Shape 9"/>
          <p:cNvSpPr/>
          <p:nvPr/>
        </p:nvSpPr>
        <p:spPr>
          <a:xfrm>
            <a:off x="7063740" y="2340864"/>
            <a:ext cx="4668012" cy="457200"/>
          </a:xfrm>
          <a:prstGeom prst="rect">
            <a:avLst/>
          </a:prstGeom>
          <a:solidFill>
            <a:srgbClr val="FFFFFF"/>
          </a:solidFill>
          <a:ln w="9525">
            <a:solidFill>
              <a:srgbClr val="D9D9D9"/>
            </a:solidFill>
            <a:prstDash val="solid"/>
          </a:ln>
        </p:spPr>
      </p:sp>
      <p:sp>
        <p:nvSpPr>
          <p:cNvPr id="12" name="Text 10"/>
          <p:cNvSpPr txBox="1"/>
          <p:nvPr/>
        </p:nvSpPr>
        <p:spPr>
          <a:xfrm>
            <a:off x="713689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Group today  </a:t>
            </a:r>
            <a:pPr algn="ctr" indent="0" marL="0">
              <a:buNone/>
            </a:pPr>
            <a:r>
              <a:rPr lang="en-US" sz="1400" b="1" dirty="0">
                <a:solidFill>
                  <a:srgbClr val="0B2C4A"/>
                </a:solidFill>
                <a:latin typeface="Inter" pitchFamily="34" charset="0"/>
                <a:ea typeface="Inter" pitchFamily="34" charset="-122"/>
                <a:cs typeface="Inter" pitchFamily="34" charset="-120"/>
              </a:rPr>
              <a:t>78.1%</a:t>
            </a:r>
            <a:endParaRPr lang="en-US" sz="1400" dirty="0"/>
          </a:p>
        </p:txBody>
      </p:sp>
      <p:sp>
        <p:nvSpPr>
          <p:cNvPr id="13" name="Shape 11"/>
          <p:cNvSpPr/>
          <p:nvPr/>
        </p:nvSpPr>
        <p:spPr>
          <a:xfrm>
            <a:off x="457200" y="2907792"/>
            <a:ext cx="4343400" cy="3081528"/>
          </a:xfrm>
          <a:prstGeom prst="rect">
            <a:avLst/>
          </a:prstGeom>
          <a:solidFill>
            <a:srgbClr val="FFFFFF"/>
          </a:solidFill>
          <a:ln/>
        </p:spPr>
      </p:sp>
      <p:sp>
        <p:nvSpPr>
          <p:cNvPr id="14" name="Shape 12"/>
          <p:cNvSpPr/>
          <p:nvPr/>
        </p:nvSpPr>
        <p:spPr>
          <a:xfrm>
            <a:off x="4937760" y="2907792"/>
            <a:ext cx="6793992" cy="3081528"/>
          </a:xfrm>
          <a:prstGeom prst="rect">
            <a:avLst/>
          </a:prstGeom>
          <a:solidFill>
            <a:srgbClr val="FFFFFF"/>
          </a:solidFill>
          <a:ln/>
        </p:spPr>
      </p:sp>
      <p:sp>
        <p:nvSpPr>
          <p:cNvPr id="15" name="Text 13"/>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6" name="Text 14"/>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WHAT'S IN TOTAL STORE FIXED EXPENSES</a:t>
            </a:r>
            <a:endParaRPr lang="en-US" sz="1400" dirty="0"/>
          </a:p>
        </p:txBody>
      </p:sp>
      <p:sp>
        <p:nvSpPr>
          <p:cNvPr id="17" name="Text 15"/>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At 100%, the store covers its fixed costs before it sells a car.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protects the store when car sales slow.</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the clearest measure of fixed ops' value to the dealership.</a:t>
            </a:r>
            <a:endParaRPr lang="en-US" sz="1500" dirty="0"/>
          </a:p>
        </p:txBody>
      </p:sp>
      <p:sp>
        <p:nvSpPr>
          <p:cNvPr id="18" name="Shape 16"/>
          <p:cNvSpPr/>
          <p:nvPr/>
        </p:nvSpPr>
        <p:spPr>
          <a:xfrm>
            <a:off x="5138928" y="3410712"/>
            <a:ext cx="45720" cy="1020803"/>
          </a:xfrm>
          <a:prstGeom prst="rect">
            <a:avLst/>
          </a:prstGeom>
          <a:solidFill>
            <a:srgbClr val="2587C5"/>
          </a:solidFill>
          <a:ln/>
        </p:spPr>
      </p:sp>
      <p:sp>
        <p:nvSpPr>
          <p:cNvPr id="19" name="Text 17"/>
          <p:cNvSpPr txBox="1"/>
          <p:nvPr/>
        </p:nvSpPr>
        <p:spPr>
          <a:xfrm>
            <a:off x="5266944" y="3410712"/>
            <a:ext cx="2962656" cy="102080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Included: people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Salaries and wages, payroll taxes, benefits, PTO: every department</a:t>
            </a:r>
            <a:endParaRPr lang="en-US" sz="1400" dirty="0"/>
          </a:p>
        </p:txBody>
      </p:sp>
      <p:sp>
        <p:nvSpPr>
          <p:cNvPr id="20" name="Shape 18"/>
          <p:cNvSpPr/>
          <p:nvPr/>
        </p:nvSpPr>
        <p:spPr>
          <a:xfrm>
            <a:off x="8394192" y="3410712"/>
            <a:ext cx="45720" cy="1020803"/>
          </a:xfrm>
          <a:prstGeom prst="rect">
            <a:avLst/>
          </a:prstGeom>
          <a:solidFill>
            <a:srgbClr val="2587C5"/>
          </a:solidFill>
          <a:ln/>
        </p:spPr>
      </p:sp>
      <p:sp>
        <p:nvSpPr>
          <p:cNvPr id="21" name="Text 19"/>
          <p:cNvSpPr txBox="1"/>
          <p:nvPr/>
        </p:nvSpPr>
        <p:spPr>
          <a:xfrm>
            <a:off x="8522208" y="3410712"/>
            <a:ext cx="2962656" cy="102080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Included: building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Rent, depreciation, property taxes, utilities, insurance, repairs</a:t>
            </a:r>
            <a:endParaRPr lang="en-US" sz="1400" dirty="0"/>
          </a:p>
        </p:txBody>
      </p:sp>
      <p:sp>
        <p:nvSpPr>
          <p:cNvPr id="22" name="Shape 20"/>
          <p:cNvSpPr/>
          <p:nvPr/>
        </p:nvSpPr>
        <p:spPr>
          <a:xfrm>
            <a:off x="5138928" y="4541243"/>
            <a:ext cx="45720" cy="1246909"/>
          </a:xfrm>
          <a:prstGeom prst="rect">
            <a:avLst/>
          </a:prstGeom>
          <a:solidFill>
            <a:srgbClr val="2587C5"/>
          </a:solidFill>
          <a:ln/>
        </p:spPr>
      </p:sp>
      <p:sp>
        <p:nvSpPr>
          <p:cNvPr id="23" name="Text 21"/>
          <p:cNvSpPr txBox="1"/>
          <p:nvPr/>
        </p:nvSpPr>
        <p:spPr>
          <a:xfrm>
            <a:off x="5266944" y="4541243"/>
            <a:ext cx="2962656" cy="1246909"/>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Included: systems and other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DMS and IT, outside services, phones, training, supplies</a:t>
            </a:r>
            <a:endParaRPr lang="en-US" sz="1400" dirty="0"/>
          </a:p>
        </p:txBody>
      </p:sp>
      <p:sp>
        <p:nvSpPr>
          <p:cNvPr id="24" name="Shape 22"/>
          <p:cNvSpPr/>
          <p:nvPr/>
        </p:nvSpPr>
        <p:spPr>
          <a:xfrm>
            <a:off x="8394192" y="4541243"/>
            <a:ext cx="45720" cy="1246909"/>
          </a:xfrm>
          <a:prstGeom prst="rect">
            <a:avLst/>
          </a:prstGeom>
          <a:solidFill>
            <a:srgbClr val="2587C5"/>
          </a:solidFill>
          <a:ln/>
        </p:spPr>
      </p:sp>
      <p:sp>
        <p:nvSpPr>
          <p:cNvPr id="25" name="Text 23"/>
          <p:cNvSpPr txBox="1"/>
          <p:nvPr/>
        </p:nvSpPr>
        <p:spPr>
          <a:xfrm>
            <a:off x="8522208" y="4541243"/>
            <a:ext cx="2962656" cy="1246909"/>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Not included</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Sales and F&amp;I commissions, delivery, floorplan interest, new and used vehicle advertising</a:t>
            </a:r>
            <a:endParaRPr lang="en-US" sz="1400" dirty="0"/>
          </a:p>
        </p:txBody>
      </p:sp>
      <p:sp>
        <p:nvSpPr>
          <p:cNvPr id="26" name="Shape 24"/>
          <p:cNvSpPr/>
          <p:nvPr/>
        </p:nvSpPr>
        <p:spPr>
          <a:xfrm>
            <a:off x="457200" y="6126480"/>
            <a:ext cx="11274552" cy="371856"/>
          </a:xfrm>
          <a:prstGeom prst="rect">
            <a:avLst/>
          </a:prstGeom>
          <a:solidFill>
            <a:srgbClr val="E6F6EE"/>
          </a:solidFill>
          <a:ln/>
        </p:spPr>
      </p:sp>
      <p:sp>
        <p:nvSpPr>
          <p:cNvPr id="27" name="Text 2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78.1% absorption, up 2.1 pts. Fixed gross grew 4.1%; fixed expenses 1.3%.</a:t>
            </a:r>
            <a:endParaRPr lang="en-US" sz="16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76.0%</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78.1%</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+2.1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+2.7%</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Fixed Ops Absorption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graphicFrame>
        <p:nvGraphicFramePr>
          <p:cNvPr id="22" name="Chart 5" descr=""/>
          <p:cNvGraphicFramePr/>
          <p:nvPr/>
        </p:nvGraphicFramePr>
        <p:xfrm>
          <a:off x="621792" y="3218688"/>
          <a:ext cx="10945368" cy="2679192"/>
        </p:xfrm>
        <a:graphic>
          <a:graphicData uri="http://schemas.openxmlformats.org/drawingml/2006/chart">
            <c:chart xmlns:c="http://schemas.openxmlformats.org/drawingml/2006/chart" r:id="rId7"/>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64236"/>
          </a:xfrm>
          <a:prstGeom prst="rect">
            <a:avLst/>
          </a:prstGeom>
          <a:solidFill>
            <a:srgbClr val="E6F6EE"/>
          </a:solidFill>
          <a:ln/>
        </p:spPr>
      </p:sp>
      <p:sp>
        <p:nvSpPr>
          <p:cNvPr id="30" name="Text 22"/>
          <p:cNvSpPr txBox="1"/>
          <p:nvPr/>
        </p:nvSpPr>
        <p:spPr>
          <a:xfrm>
            <a:off x="658368" y="6144768"/>
            <a:ext cx="10927080" cy="327660"/>
          </a:xfrm>
          <a:prstGeom prst="rect">
            <a:avLst/>
          </a:prstGeom>
          <a:noFill/>
          <a:ln/>
        </p:spPr>
        <p:txBody>
          <a:bodyPr wrap="square" lIns="0" tIns="0" rIns="0" bIns="0" rtlCol="0" anchor="ctr"/>
          <a:lstStyle/>
          <a:p>
            <a:pPr indent="0" marL="0">
              <a:buNone/>
            </a:pPr>
            <a:r>
              <a:rPr lang="en-US" sz="1550" b="1" dirty="0">
                <a:solidFill>
                  <a:srgbClr val="0B7A4A"/>
                </a:solidFill>
                <a:latin typeface="Inter" pitchFamily="34" charset="0"/>
                <a:ea typeface="Inter" pitchFamily="34" charset="-122"/>
                <a:cs typeface="Inter" pitchFamily="34" charset="-120"/>
              </a:rPr>
              <a:t>Up 2.1 pts to 78.1%, ahead of 2025 in six of nine months. Fixed gross grew 4.1%; fixed expenses 1.3%.</a:t>
            </a:r>
            <a:endParaRPr lang="en-US" sz="155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7355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FIXED OPS ABSORPTION %</a:t>
            </a:r>
            <a:endParaRPr lang="en-US" sz="1500" dirty="0"/>
          </a:p>
        </p:txBody>
      </p:sp>
      <p:sp>
        <p:nvSpPr>
          <p:cNvPr id="9" name="Text 7"/>
          <p:cNvSpPr txBox="1"/>
          <p:nvPr/>
        </p:nvSpPr>
        <p:spPr>
          <a:xfrm>
            <a:off x="3649980" y="1335024"/>
            <a:ext cx="43967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78.1%</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3" name="Shape 11"/>
          <p:cNvSpPr/>
          <p:nvPr/>
        </p:nvSpPr>
        <p:spPr>
          <a:xfrm>
            <a:off x="3008376" y="1907062"/>
            <a:ext cx="1691640" cy="119948"/>
          </a:xfrm>
          <a:prstGeom prst="rect">
            <a:avLst/>
          </a:prstGeom>
          <a:solidFill>
            <a:srgbClr val="12A566"/>
          </a:solidFill>
          <a:ln/>
        </p:spPr>
      </p:sp>
      <p:sp>
        <p:nvSpPr>
          <p:cNvPr id="14" name="Text 12"/>
          <p:cNvSpPr txBox="1"/>
          <p:nvPr/>
        </p:nvSpPr>
        <p:spPr>
          <a:xfrm>
            <a:off x="4754880" y="184708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106.6%</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7" name="Shape 15"/>
          <p:cNvSpPr/>
          <p:nvPr/>
        </p:nvSpPr>
        <p:spPr>
          <a:xfrm>
            <a:off x="3008376" y="2146957"/>
            <a:ext cx="1625327" cy="119948"/>
          </a:xfrm>
          <a:prstGeom prst="rect">
            <a:avLst/>
          </a:prstGeom>
          <a:solidFill>
            <a:srgbClr val="12A566"/>
          </a:solidFill>
          <a:ln/>
        </p:spPr>
      </p:sp>
      <p:sp>
        <p:nvSpPr>
          <p:cNvPr id="18" name="Text 16"/>
          <p:cNvSpPr txBox="1"/>
          <p:nvPr/>
        </p:nvSpPr>
        <p:spPr>
          <a:xfrm>
            <a:off x="4754880" y="208698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103.6%</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21" name="Shape 19"/>
          <p:cNvSpPr/>
          <p:nvPr/>
        </p:nvSpPr>
        <p:spPr>
          <a:xfrm>
            <a:off x="3008376" y="2386853"/>
            <a:ext cx="1406928" cy="119948"/>
          </a:xfrm>
          <a:prstGeom prst="rect">
            <a:avLst/>
          </a:prstGeom>
          <a:solidFill>
            <a:srgbClr val="12A566"/>
          </a:solidFill>
          <a:ln/>
        </p:spPr>
      </p:sp>
      <p:sp>
        <p:nvSpPr>
          <p:cNvPr id="22" name="Text 20"/>
          <p:cNvSpPr txBox="1"/>
          <p:nvPr/>
        </p:nvSpPr>
        <p:spPr>
          <a:xfrm>
            <a:off x="4754880" y="232687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93.7%</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25" name="Shape 23"/>
          <p:cNvSpPr/>
          <p:nvPr/>
        </p:nvSpPr>
        <p:spPr>
          <a:xfrm>
            <a:off x="3008376" y="2626748"/>
            <a:ext cx="1323114" cy="119948"/>
          </a:xfrm>
          <a:prstGeom prst="rect">
            <a:avLst/>
          </a:prstGeom>
          <a:solidFill>
            <a:srgbClr val="12A566"/>
          </a:solidFill>
          <a:ln/>
        </p:spPr>
      </p:sp>
      <p:sp>
        <p:nvSpPr>
          <p:cNvPr id="26" name="Text 24"/>
          <p:cNvSpPr txBox="1"/>
          <p:nvPr/>
        </p:nvSpPr>
        <p:spPr>
          <a:xfrm>
            <a:off x="4754880" y="256677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89.9%</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29" name="Shape 27"/>
          <p:cNvSpPr/>
          <p:nvPr/>
        </p:nvSpPr>
        <p:spPr>
          <a:xfrm>
            <a:off x="3008376" y="2866644"/>
            <a:ext cx="1271788" cy="119948"/>
          </a:xfrm>
          <a:prstGeom prst="rect">
            <a:avLst/>
          </a:prstGeom>
          <a:solidFill>
            <a:srgbClr val="12A566"/>
          </a:solidFill>
          <a:ln/>
        </p:spPr>
      </p:sp>
      <p:sp>
        <p:nvSpPr>
          <p:cNvPr id="30" name="Text 28"/>
          <p:cNvSpPr txBox="1"/>
          <p:nvPr/>
        </p:nvSpPr>
        <p:spPr>
          <a:xfrm>
            <a:off x="4754880" y="280667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87.6%</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33" name="Shape 31"/>
          <p:cNvSpPr/>
          <p:nvPr/>
        </p:nvSpPr>
        <p:spPr>
          <a:xfrm>
            <a:off x="3008376" y="3106540"/>
            <a:ext cx="1243905" cy="119948"/>
          </a:xfrm>
          <a:prstGeom prst="rect">
            <a:avLst/>
          </a:prstGeom>
          <a:solidFill>
            <a:srgbClr val="12A566"/>
          </a:solidFill>
          <a:ln/>
        </p:spPr>
      </p:sp>
      <p:sp>
        <p:nvSpPr>
          <p:cNvPr id="34" name="Text 32"/>
          <p:cNvSpPr txBox="1"/>
          <p:nvPr/>
        </p:nvSpPr>
        <p:spPr>
          <a:xfrm>
            <a:off x="4754880" y="304656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86.3%</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37" name="Shape 35"/>
          <p:cNvSpPr/>
          <p:nvPr/>
        </p:nvSpPr>
        <p:spPr>
          <a:xfrm>
            <a:off x="3008376" y="3346435"/>
            <a:ext cx="1238289" cy="119948"/>
          </a:xfrm>
          <a:prstGeom prst="rect">
            <a:avLst/>
          </a:prstGeom>
          <a:solidFill>
            <a:srgbClr val="12A566"/>
          </a:solidFill>
          <a:ln/>
        </p:spPr>
      </p:sp>
      <p:sp>
        <p:nvSpPr>
          <p:cNvPr id="38" name="Text 36"/>
          <p:cNvSpPr txBox="1"/>
          <p:nvPr/>
        </p:nvSpPr>
        <p:spPr>
          <a:xfrm>
            <a:off x="4754880" y="328646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86.1%</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41" name="Shape 39"/>
          <p:cNvSpPr/>
          <p:nvPr/>
        </p:nvSpPr>
        <p:spPr>
          <a:xfrm>
            <a:off x="3008376" y="3586331"/>
            <a:ext cx="1236225" cy="119948"/>
          </a:xfrm>
          <a:prstGeom prst="rect">
            <a:avLst/>
          </a:prstGeom>
          <a:solidFill>
            <a:srgbClr val="12A566"/>
          </a:solidFill>
          <a:ln/>
        </p:spPr>
      </p:sp>
      <p:sp>
        <p:nvSpPr>
          <p:cNvPr id="42" name="Text 40"/>
          <p:cNvSpPr txBox="1"/>
          <p:nvPr/>
        </p:nvSpPr>
        <p:spPr>
          <a:xfrm>
            <a:off x="4754880" y="3526357"/>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86.0%</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45" name="Shape 43"/>
          <p:cNvSpPr/>
          <p:nvPr/>
        </p:nvSpPr>
        <p:spPr>
          <a:xfrm>
            <a:off x="3008376" y="3826226"/>
            <a:ext cx="1203167" cy="119948"/>
          </a:xfrm>
          <a:prstGeom prst="rect">
            <a:avLst/>
          </a:prstGeom>
          <a:solidFill>
            <a:srgbClr val="12A566"/>
          </a:solidFill>
          <a:ln/>
        </p:spPr>
      </p:sp>
      <p:sp>
        <p:nvSpPr>
          <p:cNvPr id="46" name="Text 44"/>
          <p:cNvSpPr txBox="1"/>
          <p:nvPr/>
        </p:nvSpPr>
        <p:spPr>
          <a:xfrm>
            <a:off x="4754880" y="3766252"/>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84.5%</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49" name="Shape 47"/>
          <p:cNvSpPr/>
          <p:nvPr/>
        </p:nvSpPr>
        <p:spPr>
          <a:xfrm>
            <a:off x="3008376" y="4066122"/>
            <a:ext cx="1188815" cy="119948"/>
          </a:xfrm>
          <a:prstGeom prst="rect">
            <a:avLst/>
          </a:prstGeom>
          <a:solidFill>
            <a:srgbClr val="12A566"/>
          </a:solidFill>
          <a:ln/>
        </p:spPr>
      </p:sp>
      <p:sp>
        <p:nvSpPr>
          <p:cNvPr id="50" name="Text 48"/>
          <p:cNvSpPr txBox="1"/>
          <p:nvPr/>
        </p:nvSpPr>
        <p:spPr>
          <a:xfrm>
            <a:off x="4754880" y="400614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83.8%</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53" name="Shape 51"/>
          <p:cNvSpPr/>
          <p:nvPr/>
        </p:nvSpPr>
        <p:spPr>
          <a:xfrm>
            <a:off x="3008376" y="4306017"/>
            <a:ext cx="1143609" cy="119948"/>
          </a:xfrm>
          <a:prstGeom prst="rect">
            <a:avLst/>
          </a:prstGeom>
          <a:solidFill>
            <a:srgbClr val="12A566"/>
          </a:solidFill>
          <a:ln/>
        </p:spPr>
      </p:sp>
      <p:sp>
        <p:nvSpPr>
          <p:cNvPr id="54" name="Text 52"/>
          <p:cNvSpPr txBox="1"/>
          <p:nvPr/>
        </p:nvSpPr>
        <p:spPr>
          <a:xfrm>
            <a:off x="4754880" y="4246043"/>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81.8%</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57" name="Shape 55"/>
          <p:cNvSpPr/>
          <p:nvPr/>
        </p:nvSpPr>
        <p:spPr>
          <a:xfrm>
            <a:off x="3008376" y="4545913"/>
            <a:ext cx="1136929" cy="119948"/>
          </a:xfrm>
          <a:prstGeom prst="rect">
            <a:avLst/>
          </a:prstGeom>
          <a:solidFill>
            <a:srgbClr val="12A566"/>
          </a:solidFill>
          <a:ln/>
        </p:spPr>
      </p:sp>
      <p:sp>
        <p:nvSpPr>
          <p:cNvPr id="58" name="Text 56"/>
          <p:cNvSpPr txBox="1"/>
          <p:nvPr/>
        </p:nvSpPr>
        <p:spPr>
          <a:xfrm>
            <a:off x="4754880" y="448593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81.5%</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61" name="Shape 59"/>
          <p:cNvSpPr/>
          <p:nvPr/>
        </p:nvSpPr>
        <p:spPr>
          <a:xfrm>
            <a:off x="3008376" y="4785808"/>
            <a:ext cx="1094886" cy="119948"/>
          </a:xfrm>
          <a:prstGeom prst="rect">
            <a:avLst/>
          </a:prstGeom>
          <a:solidFill>
            <a:srgbClr val="12A566"/>
          </a:solidFill>
          <a:ln/>
        </p:spPr>
      </p:sp>
      <p:sp>
        <p:nvSpPr>
          <p:cNvPr id="62" name="Text 60"/>
          <p:cNvSpPr txBox="1"/>
          <p:nvPr/>
        </p:nvSpPr>
        <p:spPr>
          <a:xfrm>
            <a:off x="4754880" y="472583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79.6%</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65" name="Shape 63"/>
          <p:cNvSpPr/>
          <p:nvPr/>
        </p:nvSpPr>
        <p:spPr>
          <a:xfrm>
            <a:off x="3008376" y="5025704"/>
            <a:ext cx="1073984" cy="119948"/>
          </a:xfrm>
          <a:prstGeom prst="rect">
            <a:avLst/>
          </a:prstGeom>
          <a:solidFill>
            <a:srgbClr val="12A566"/>
          </a:solidFill>
          <a:ln/>
        </p:spPr>
      </p:sp>
      <p:sp>
        <p:nvSpPr>
          <p:cNvPr id="66" name="Text 64"/>
          <p:cNvSpPr txBox="1"/>
          <p:nvPr/>
        </p:nvSpPr>
        <p:spPr>
          <a:xfrm>
            <a:off x="4754880" y="496573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78.6%</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69" name="Shape 67"/>
          <p:cNvSpPr/>
          <p:nvPr/>
        </p:nvSpPr>
        <p:spPr>
          <a:xfrm>
            <a:off x="3008376" y="5265599"/>
            <a:ext cx="1069793" cy="119948"/>
          </a:xfrm>
          <a:prstGeom prst="rect">
            <a:avLst/>
          </a:prstGeom>
          <a:solidFill>
            <a:srgbClr val="12A566"/>
          </a:solidFill>
          <a:ln/>
        </p:spPr>
      </p:sp>
      <p:sp>
        <p:nvSpPr>
          <p:cNvPr id="70" name="Text 68"/>
          <p:cNvSpPr txBox="1"/>
          <p:nvPr/>
        </p:nvSpPr>
        <p:spPr>
          <a:xfrm>
            <a:off x="4754880" y="520562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78.4%</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73" name="Shape 71"/>
          <p:cNvSpPr/>
          <p:nvPr/>
        </p:nvSpPr>
        <p:spPr>
          <a:xfrm>
            <a:off x="3008376" y="5505495"/>
            <a:ext cx="1044916" cy="119948"/>
          </a:xfrm>
          <a:prstGeom prst="rect">
            <a:avLst/>
          </a:prstGeom>
          <a:solidFill>
            <a:srgbClr val="C2352F"/>
          </a:solidFill>
          <a:ln/>
        </p:spPr>
      </p:sp>
      <p:sp>
        <p:nvSpPr>
          <p:cNvPr id="74" name="Text 72"/>
          <p:cNvSpPr txBox="1"/>
          <p:nvPr/>
        </p:nvSpPr>
        <p:spPr>
          <a:xfrm>
            <a:off x="4754880"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77.3%</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77" name="Shape 75"/>
          <p:cNvSpPr/>
          <p:nvPr/>
        </p:nvSpPr>
        <p:spPr>
          <a:xfrm>
            <a:off x="3008376" y="5745390"/>
            <a:ext cx="1007984" cy="119948"/>
          </a:xfrm>
          <a:prstGeom prst="rect">
            <a:avLst/>
          </a:prstGeom>
          <a:solidFill>
            <a:srgbClr val="C2352F"/>
          </a:solidFill>
          <a:ln/>
        </p:spPr>
      </p:sp>
      <p:sp>
        <p:nvSpPr>
          <p:cNvPr id="78" name="Text 76"/>
          <p:cNvSpPr txBox="1"/>
          <p:nvPr/>
        </p:nvSpPr>
        <p:spPr>
          <a:xfrm>
            <a:off x="4754880" y="568541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75.6%</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81" name="Shape 79"/>
          <p:cNvSpPr/>
          <p:nvPr/>
        </p:nvSpPr>
        <p:spPr>
          <a:xfrm>
            <a:off x="8558784" y="1907062"/>
            <a:ext cx="1007915" cy="119948"/>
          </a:xfrm>
          <a:prstGeom prst="rect">
            <a:avLst/>
          </a:prstGeom>
          <a:solidFill>
            <a:srgbClr val="C2352F"/>
          </a:solidFill>
          <a:ln/>
        </p:spPr>
      </p:sp>
      <p:sp>
        <p:nvSpPr>
          <p:cNvPr id="82" name="Text 80"/>
          <p:cNvSpPr txBox="1"/>
          <p:nvPr/>
        </p:nvSpPr>
        <p:spPr>
          <a:xfrm>
            <a:off x="10305288" y="184708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75.6%</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85" name="Shape 83"/>
          <p:cNvSpPr/>
          <p:nvPr/>
        </p:nvSpPr>
        <p:spPr>
          <a:xfrm>
            <a:off x="8558784" y="2146957"/>
            <a:ext cx="979751" cy="119948"/>
          </a:xfrm>
          <a:prstGeom prst="rect">
            <a:avLst/>
          </a:prstGeom>
          <a:solidFill>
            <a:srgbClr val="C2352F"/>
          </a:solidFill>
          <a:ln/>
        </p:spPr>
      </p:sp>
      <p:sp>
        <p:nvSpPr>
          <p:cNvPr id="86" name="Text 84"/>
          <p:cNvSpPr txBox="1"/>
          <p:nvPr/>
        </p:nvSpPr>
        <p:spPr>
          <a:xfrm>
            <a:off x="10305288" y="208698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74.4%</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89" name="Shape 87"/>
          <p:cNvSpPr/>
          <p:nvPr/>
        </p:nvSpPr>
        <p:spPr>
          <a:xfrm>
            <a:off x="8558784" y="2386853"/>
            <a:ext cx="956432" cy="119948"/>
          </a:xfrm>
          <a:prstGeom prst="rect">
            <a:avLst/>
          </a:prstGeom>
          <a:solidFill>
            <a:srgbClr val="C2352F"/>
          </a:solidFill>
          <a:ln/>
        </p:spPr>
      </p:sp>
      <p:sp>
        <p:nvSpPr>
          <p:cNvPr id="90" name="Text 88"/>
          <p:cNvSpPr txBox="1"/>
          <p:nvPr/>
        </p:nvSpPr>
        <p:spPr>
          <a:xfrm>
            <a:off x="10305288" y="232687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73.3%</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93" name="Shape 91"/>
          <p:cNvSpPr/>
          <p:nvPr/>
        </p:nvSpPr>
        <p:spPr>
          <a:xfrm>
            <a:off x="8558784" y="2626748"/>
            <a:ext cx="897553" cy="119948"/>
          </a:xfrm>
          <a:prstGeom prst="rect">
            <a:avLst/>
          </a:prstGeom>
          <a:solidFill>
            <a:srgbClr val="C2352F"/>
          </a:solidFill>
          <a:ln/>
        </p:spPr>
      </p:sp>
      <p:sp>
        <p:nvSpPr>
          <p:cNvPr id="94" name="Text 92"/>
          <p:cNvSpPr txBox="1"/>
          <p:nvPr/>
        </p:nvSpPr>
        <p:spPr>
          <a:xfrm>
            <a:off x="10305288" y="256677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70.6%</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97" name="Shape 95"/>
          <p:cNvSpPr/>
          <p:nvPr/>
        </p:nvSpPr>
        <p:spPr>
          <a:xfrm>
            <a:off x="8558784" y="2866644"/>
            <a:ext cx="890311" cy="119948"/>
          </a:xfrm>
          <a:prstGeom prst="rect">
            <a:avLst/>
          </a:prstGeom>
          <a:solidFill>
            <a:srgbClr val="C2352F"/>
          </a:solidFill>
          <a:ln/>
        </p:spPr>
      </p:sp>
      <p:sp>
        <p:nvSpPr>
          <p:cNvPr id="98" name="Text 96"/>
          <p:cNvSpPr txBox="1"/>
          <p:nvPr/>
        </p:nvSpPr>
        <p:spPr>
          <a:xfrm>
            <a:off x="10305288" y="280667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70.3%</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01" name="Shape 99"/>
          <p:cNvSpPr/>
          <p:nvPr/>
        </p:nvSpPr>
        <p:spPr>
          <a:xfrm>
            <a:off x="8558784" y="3106540"/>
            <a:ext cx="883510" cy="119948"/>
          </a:xfrm>
          <a:prstGeom prst="rect">
            <a:avLst/>
          </a:prstGeom>
          <a:solidFill>
            <a:srgbClr val="C2352F"/>
          </a:solidFill>
          <a:ln/>
        </p:spPr>
      </p:sp>
      <p:sp>
        <p:nvSpPr>
          <p:cNvPr id="102" name="Text 100"/>
          <p:cNvSpPr txBox="1"/>
          <p:nvPr/>
        </p:nvSpPr>
        <p:spPr>
          <a:xfrm>
            <a:off x="10305288" y="304656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70.0%</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05" name="Shape 103"/>
          <p:cNvSpPr/>
          <p:nvPr/>
        </p:nvSpPr>
        <p:spPr>
          <a:xfrm>
            <a:off x="8558784" y="3346435"/>
            <a:ext cx="860120" cy="119948"/>
          </a:xfrm>
          <a:prstGeom prst="rect">
            <a:avLst/>
          </a:prstGeom>
          <a:solidFill>
            <a:srgbClr val="C2352F"/>
          </a:solidFill>
          <a:ln/>
        </p:spPr>
      </p:sp>
      <p:sp>
        <p:nvSpPr>
          <p:cNvPr id="106" name="Text 104"/>
          <p:cNvSpPr txBox="1"/>
          <p:nvPr/>
        </p:nvSpPr>
        <p:spPr>
          <a:xfrm>
            <a:off x="10305288" y="328646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68.9%</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09" name="Shape 107"/>
          <p:cNvSpPr/>
          <p:nvPr/>
        </p:nvSpPr>
        <p:spPr>
          <a:xfrm>
            <a:off x="8558784" y="3586331"/>
            <a:ext cx="791399" cy="119948"/>
          </a:xfrm>
          <a:prstGeom prst="rect">
            <a:avLst/>
          </a:prstGeom>
          <a:solidFill>
            <a:srgbClr val="C2352F"/>
          </a:solidFill>
          <a:ln/>
        </p:spPr>
      </p:sp>
      <p:sp>
        <p:nvSpPr>
          <p:cNvPr id="110" name="Text 108"/>
          <p:cNvSpPr txBox="1"/>
          <p:nvPr/>
        </p:nvSpPr>
        <p:spPr>
          <a:xfrm>
            <a:off x="10305288" y="3526357"/>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65.8%</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13" name="Shape 111"/>
          <p:cNvSpPr/>
          <p:nvPr/>
        </p:nvSpPr>
        <p:spPr>
          <a:xfrm>
            <a:off x="8558784" y="3826226"/>
            <a:ext cx="774373" cy="119948"/>
          </a:xfrm>
          <a:prstGeom prst="rect">
            <a:avLst/>
          </a:prstGeom>
          <a:solidFill>
            <a:srgbClr val="C2352F"/>
          </a:solidFill>
          <a:ln/>
        </p:spPr>
      </p:sp>
      <p:sp>
        <p:nvSpPr>
          <p:cNvPr id="114" name="Text 112"/>
          <p:cNvSpPr txBox="1"/>
          <p:nvPr/>
        </p:nvSpPr>
        <p:spPr>
          <a:xfrm>
            <a:off x="10305288" y="3766252"/>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65.1%</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17" name="Shape 115"/>
          <p:cNvSpPr/>
          <p:nvPr/>
        </p:nvSpPr>
        <p:spPr>
          <a:xfrm>
            <a:off x="8558784" y="4066122"/>
            <a:ext cx="743729" cy="119948"/>
          </a:xfrm>
          <a:prstGeom prst="rect">
            <a:avLst/>
          </a:prstGeom>
          <a:solidFill>
            <a:srgbClr val="C2352F"/>
          </a:solidFill>
          <a:ln/>
        </p:spPr>
      </p:sp>
      <p:sp>
        <p:nvSpPr>
          <p:cNvPr id="118" name="Text 116"/>
          <p:cNvSpPr txBox="1"/>
          <p:nvPr/>
        </p:nvSpPr>
        <p:spPr>
          <a:xfrm>
            <a:off x="10305288" y="400614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63.7%</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21" name="Shape 119"/>
          <p:cNvSpPr/>
          <p:nvPr/>
        </p:nvSpPr>
        <p:spPr>
          <a:xfrm>
            <a:off x="8558784" y="4306017"/>
            <a:ext cx="730224" cy="119948"/>
          </a:xfrm>
          <a:prstGeom prst="rect">
            <a:avLst/>
          </a:prstGeom>
          <a:solidFill>
            <a:srgbClr val="C2352F"/>
          </a:solidFill>
          <a:ln/>
        </p:spPr>
      </p:sp>
      <p:sp>
        <p:nvSpPr>
          <p:cNvPr id="122" name="Text 120"/>
          <p:cNvSpPr txBox="1"/>
          <p:nvPr/>
        </p:nvSpPr>
        <p:spPr>
          <a:xfrm>
            <a:off x="10305288" y="4246043"/>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63.1%</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25" name="Shape 123"/>
          <p:cNvSpPr/>
          <p:nvPr/>
        </p:nvSpPr>
        <p:spPr>
          <a:xfrm>
            <a:off x="8558784" y="4545913"/>
            <a:ext cx="660247" cy="119948"/>
          </a:xfrm>
          <a:prstGeom prst="rect">
            <a:avLst/>
          </a:prstGeom>
          <a:solidFill>
            <a:srgbClr val="C2352F"/>
          </a:solidFill>
          <a:ln/>
        </p:spPr>
      </p:sp>
      <p:sp>
        <p:nvSpPr>
          <p:cNvPr id="126" name="Text 124"/>
          <p:cNvSpPr txBox="1"/>
          <p:nvPr/>
        </p:nvSpPr>
        <p:spPr>
          <a:xfrm>
            <a:off x="10305288" y="448593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59.9%</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29" name="Shape 127"/>
          <p:cNvSpPr/>
          <p:nvPr/>
        </p:nvSpPr>
        <p:spPr>
          <a:xfrm>
            <a:off x="8558784" y="4785808"/>
            <a:ext cx="601492" cy="119948"/>
          </a:xfrm>
          <a:prstGeom prst="rect">
            <a:avLst/>
          </a:prstGeom>
          <a:solidFill>
            <a:srgbClr val="C2352F"/>
          </a:solidFill>
          <a:ln/>
        </p:spPr>
      </p:sp>
      <p:sp>
        <p:nvSpPr>
          <p:cNvPr id="130" name="Text 128"/>
          <p:cNvSpPr txBox="1"/>
          <p:nvPr/>
        </p:nvSpPr>
        <p:spPr>
          <a:xfrm>
            <a:off x="10305288" y="472583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57.2%</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33" name="Shape 131"/>
          <p:cNvSpPr/>
          <p:nvPr/>
        </p:nvSpPr>
        <p:spPr>
          <a:xfrm>
            <a:off x="8558784" y="5025704"/>
            <a:ext cx="531644" cy="119948"/>
          </a:xfrm>
          <a:prstGeom prst="rect">
            <a:avLst/>
          </a:prstGeom>
          <a:solidFill>
            <a:srgbClr val="C2352F"/>
          </a:solidFill>
          <a:ln/>
        </p:spPr>
      </p:sp>
      <p:sp>
        <p:nvSpPr>
          <p:cNvPr id="134" name="Text 132"/>
          <p:cNvSpPr txBox="1"/>
          <p:nvPr/>
        </p:nvSpPr>
        <p:spPr>
          <a:xfrm>
            <a:off x="10305288"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54.1%</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37" name="Shape 135"/>
          <p:cNvSpPr/>
          <p:nvPr/>
        </p:nvSpPr>
        <p:spPr>
          <a:xfrm>
            <a:off x="8558784" y="5265599"/>
            <a:ext cx="471852" cy="119948"/>
          </a:xfrm>
          <a:prstGeom prst="rect">
            <a:avLst/>
          </a:prstGeom>
          <a:solidFill>
            <a:srgbClr val="C2352F"/>
          </a:solidFill>
          <a:ln/>
        </p:spPr>
      </p:sp>
      <p:sp>
        <p:nvSpPr>
          <p:cNvPr id="138" name="Text 136"/>
          <p:cNvSpPr txBox="1"/>
          <p:nvPr/>
        </p:nvSpPr>
        <p:spPr>
          <a:xfrm>
            <a:off x="10305288"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51.4%</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41" name="Shape 139"/>
          <p:cNvSpPr/>
          <p:nvPr/>
        </p:nvSpPr>
        <p:spPr>
          <a:xfrm>
            <a:off x="8558784" y="5505495"/>
            <a:ext cx="358005" cy="119948"/>
          </a:xfrm>
          <a:prstGeom prst="rect">
            <a:avLst/>
          </a:prstGeom>
          <a:solidFill>
            <a:srgbClr val="C2352F"/>
          </a:solidFill>
          <a:ln/>
        </p:spPr>
      </p:sp>
      <p:sp>
        <p:nvSpPr>
          <p:cNvPr id="142" name="Text 140"/>
          <p:cNvSpPr txBox="1"/>
          <p:nvPr/>
        </p:nvSpPr>
        <p:spPr>
          <a:xfrm>
            <a:off x="10305288"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46.2%</a:t>
            </a:r>
            <a:endParaRPr lang="en-US" sz="1200" dirty="0"/>
          </a:p>
        </p:txBody>
      </p:sp>
      <p:sp>
        <p:nvSpPr>
          <p:cNvPr id="143" name="Shape 141"/>
          <p:cNvSpPr/>
          <p:nvPr/>
        </p:nvSpPr>
        <p:spPr>
          <a:xfrm>
            <a:off x="4063635" y="1847088"/>
            <a:ext cx="14630" cy="4078224"/>
          </a:xfrm>
          <a:prstGeom prst="rect">
            <a:avLst/>
          </a:prstGeom>
          <a:solidFill>
            <a:srgbClr val="0B2C4A"/>
          </a:solidFill>
          <a:ln/>
        </p:spPr>
      </p:sp>
      <p:sp>
        <p:nvSpPr>
          <p:cNvPr id="144" name="Shape 142"/>
          <p:cNvSpPr/>
          <p:nvPr/>
        </p:nvSpPr>
        <p:spPr>
          <a:xfrm>
            <a:off x="9614043" y="1847088"/>
            <a:ext cx="14630" cy="4078224"/>
          </a:xfrm>
          <a:prstGeom prst="rect">
            <a:avLst/>
          </a:prstGeom>
          <a:solidFill>
            <a:srgbClr val="0B2C4A"/>
          </a:solidFill>
          <a:ln/>
        </p:spPr>
      </p:sp>
      <p:sp>
        <p:nvSpPr>
          <p:cNvPr id="145" name="Shape 143"/>
          <p:cNvSpPr/>
          <p:nvPr/>
        </p:nvSpPr>
        <p:spPr>
          <a:xfrm>
            <a:off x="6085332" y="1847088"/>
            <a:ext cx="10973" cy="4078224"/>
          </a:xfrm>
          <a:prstGeom prst="rect">
            <a:avLst/>
          </a:prstGeom>
          <a:solidFill>
            <a:srgbClr val="D9D9D9"/>
          </a:solidFill>
          <a:ln/>
        </p:spPr>
      </p:sp>
      <p:sp>
        <p:nvSpPr>
          <p:cNvPr id="147" name="Shape 144"/>
          <p:cNvSpPr/>
          <p:nvPr/>
        </p:nvSpPr>
        <p:spPr>
          <a:xfrm>
            <a:off x="457200" y="6126480"/>
            <a:ext cx="11274552" cy="371856"/>
          </a:xfrm>
          <a:prstGeom prst="rect">
            <a:avLst/>
          </a:prstGeom>
          <a:solidFill>
            <a:srgbClr val="EDF4FA"/>
          </a:solidFill>
          <a:ln/>
        </p:spPr>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15 of 33 stores at or above the 78.1% group.</a:t>
            </a:r>
            <a:endParaRPr lang="en-US" sz="1600"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7355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FIXED OPS ABSORPTION %</a:t>
            </a:r>
            <a:endParaRPr lang="en-US" sz="1500" dirty="0"/>
          </a:p>
        </p:txBody>
      </p:sp>
      <p:sp>
        <p:nvSpPr>
          <p:cNvPr id="9" name="Text 7"/>
          <p:cNvSpPr txBox="1"/>
          <p:nvPr/>
        </p:nvSpPr>
        <p:spPr>
          <a:xfrm>
            <a:off x="3649980" y="1335024"/>
            <a:ext cx="439674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+2.1 pts</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3" name="Shape 11"/>
          <p:cNvSpPr/>
          <p:nvPr/>
        </p:nvSpPr>
        <p:spPr>
          <a:xfrm>
            <a:off x="3785616" y="1911860"/>
            <a:ext cx="719170" cy="110352"/>
          </a:xfrm>
          <a:prstGeom prst="rect">
            <a:avLst/>
          </a:prstGeom>
          <a:solidFill>
            <a:srgbClr val="12A566"/>
          </a:solidFill>
          <a:ln/>
        </p:spPr>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+16.1 pts</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7" name="Shape 15"/>
          <p:cNvSpPr/>
          <p:nvPr/>
        </p:nvSpPr>
        <p:spPr>
          <a:xfrm>
            <a:off x="3785616" y="2151755"/>
            <a:ext cx="428822" cy="110352"/>
          </a:xfrm>
          <a:prstGeom prst="rect">
            <a:avLst/>
          </a:prstGeom>
          <a:solidFill>
            <a:srgbClr val="12A566"/>
          </a:solidFill>
          <a:ln/>
        </p:spPr>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+9.6 pts</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21" name="Shape 19"/>
          <p:cNvSpPr/>
          <p:nvPr/>
        </p:nvSpPr>
        <p:spPr>
          <a:xfrm>
            <a:off x="3785616" y="2391651"/>
            <a:ext cx="424355" cy="110352"/>
          </a:xfrm>
          <a:prstGeom prst="rect">
            <a:avLst/>
          </a:prstGeom>
          <a:solidFill>
            <a:srgbClr val="12A566"/>
          </a:solidFill>
          <a:ln/>
        </p:spPr>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+9.5 pts</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25" name="Shape 23"/>
          <p:cNvSpPr/>
          <p:nvPr/>
        </p:nvSpPr>
        <p:spPr>
          <a:xfrm>
            <a:off x="3785616" y="2631546"/>
            <a:ext cx="250146" cy="110352"/>
          </a:xfrm>
          <a:prstGeom prst="rect">
            <a:avLst/>
          </a:prstGeom>
          <a:solidFill>
            <a:srgbClr val="12A566"/>
          </a:solidFill>
          <a:ln/>
        </p:spPr>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+5.6 pts</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29" name="Shape 27"/>
          <p:cNvSpPr/>
          <p:nvPr/>
        </p:nvSpPr>
        <p:spPr>
          <a:xfrm>
            <a:off x="3785616" y="2871442"/>
            <a:ext cx="241212" cy="110352"/>
          </a:xfrm>
          <a:prstGeom prst="rect">
            <a:avLst/>
          </a:prstGeom>
          <a:solidFill>
            <a:srgbClr val="12A566"/>
          </a:solidFill>
          <a:ln/>
        </p:spPr>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+5.4 pts</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33" name="Shape 31"/>
          <p:cNvSpPr/>
          <p:nvPr/>
        </p:nvSpPr>
        <p:spPr>
          <a:xfrm>
            <a:off x="3785616" y="3111337"/>
            <a:ext cx="236746" cy="110352"/>
          </a:xfrm>
          <a:prstGeom prst="rect">
            <a:avLst/>
          </a:prstGeom>
          <a:solidFill>
            <a:srgbClr val="12A566"/>
          </a:solidFill>
          <a:ln/>
        </p:spPr>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+5.3 pts</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37" name="Shape 35"/>
          <p:cNvSpPr/>
          <p:nvPr/>
        </p:nvSpPr>
        <p:spPr>
          <a:xfrm>
            <a:off x="3785616" y="3351233"/>
            <a:ext cx="232279" cy="110352"/>
          </a:xfrm>
          <a:prstGeom prst="rect">
            <a:avLst/>
          </a:prstGeom>
          <a:solidFill>
            <a:srgbClr val="12A566"/>
          </a:solidFill>
          <a:ln/>
        </p:spPr>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+5.2 pts</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41" name="Shape 39"/>
          <p:cNvSpPr/>
          <p:nvPr/>
        </p:nvSpPr>
        <p:spPr>
          <a:xfrm>
            <a:off x="3785616" y="3591128"/>
            <a:ext cx="232279" cy="110352"/>
          </a:xfrm>
          <a:prstGeom prst="rect">
            <a:avLst/>
          </a:prstGeom>
          <a:solidFill>
            <a:srgbClr val="12A566"/>
          </a:solidFill>
          <a:ln/>
        </p:spPr>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+5.2 pts</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45" name="Shape 43"/>
          <p:cNvSpPr/>
          <p:nvPr/>
        </p:nvSpPr>
        <p:spPr>
          <a:xfrm>
            <a:off x="3785616" y="3831024"/>
            <a:ext cx="227812" cy="110352"/>
          </a:xfrm>
          <a:prstGeom prst="rect">
            <a:avLst/>
          </a:prstGeom>
          <a:solidFill>
            <a:srgbClr val="12A566"/>
          </a:solidFill>
          <a:ln/>
        </p:spPr>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+5.1 pts</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49" name="Shape 47"/>
          <p:cNvSpPr/>
          <p:nvPr/>
        </p:nvSpPr>
        <p:spPr>
          <a:xfrm>
            <a:off x="3785616" y="4070920"/>
            <a:ext cx="223345" cy="110352"/>
          </a:xfrm>
          <a:prstGeom prst="rect">
            <a:avLst/>
          </a:prstGeom>
          <a:solidFill>
            <a:srgbClr val="12A566"/>
          </a:solidFill>
          <a:ln/>
        </p:spPr>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+5.0 pts</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53" name="Shape 51"/>
          <p:cNvSpPr/>
          <p:nvPr/>
        </p:nvSpPr>
        <p:spPr>
          <a:xfrm>
            <a:off x="3785616" y="4310815"/>
            <a:ext cx="218878" cy="110352"/>
          </a:xfrm>
          <a:prstGeom prst="rect">
            <a:avLst/>
          </a:prstGeom>
          <a:solidFill>
            <a:srgbClr val="12A566"/>
          </a:solidFill>
          <a:ln/>
        </p:spPr>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+4.9 pts</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57" name="Shape 55"/>
          <p:cNvSpPr/>
          <p:nvPr/>
        </p:nvSpPr>
        <p:spPr>
          <a:xfrm>
            <a:off x="3785616" y="4550711"/>
            <a:ext cx="214411" cy="110352"/>
          </a:xfrm>
          <a:prstGeom prst="rect">
            <a:avLst/>
          </a:prstGeom>
          <a:solidFill>
            <a:srgbClr val="12A566"/>
          </a:solidFill>
          <a:ln/>
        </p:spPr>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+4.8 pts</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61" name="Shape 59"/>
          <p:cNvSpPr/>
          <p:nvPr/>
        </p:nvSpPr>
        <p:spPr>
          <a:xfrm>
            <a:off x="3785616" y="4790606"/>
            <a:ext cx="178676" cy="110352"/>
          </a:xfrm>
          <a:prstGeom prst="rect">
            <a:avLst/>
          </a:prstGeom>
          <a:solidFill>
            <a:srgbClr val="12A566"/>
          </a:solidFill>
          <a:ln/>
        </p:spPr>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+4.0 pts</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65" name="Shape 63"/>
          <p:cNvSpPr/>
          <p:nvPr/>
        </p:nvSpPr>
        <p:spPr>
          <a:xfrm>
            <a:off x="3785616" y="5030502"/>
            <a:ext cx="174209" cy="110352"/>
          </a:xfrm>
          <a:prstGeom prst="rect">
            <a:avLst/>
          </a:prstGeom>
          <a:solidFill>
            <a:srgbClr val="12A566"/>
          </a:solidFill>
          <a:ln/>
        </p:spPr>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+3.9 pts</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69" name="Shape 67"/>
          <p:cNvSpPr/>
          <p:nvPr/>
        </p:nvSpPr>
        <p:spPr>
          <a:xfrm>
            <a:off x="3785616" y="5270397"/>
            <a:ext cx="174209" cy="110352"/>
          </a:xfrm>
          <a:prstGeom prst="rect">
            <a:avLst/>
          </a:prstGeom>
          <a:solidFill>
            <a:srgbClr val="12A566"/>
          </a:solidFill>
          <a:ln/>
        </p:spPr>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+3.9 pts</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73" name="Shape 71"/>
          <p:cNvSpPr/>
          <p:nvPr/>
        </p:nvSpPr>
        <p:spPr>
          <a:xfrm>
            <a:off x="3785616" y="5510293"/>
            <a:ext cx="147408" cy="110352"/>
          </a:xfrm>
          <a:prstGeom prst="rect">
            <a:avLst/>
          </a:prstGeom>
          <a:solidFill>
            <a:srgbClr val="12A566"/>
          </a:solidFill>
          <a:ln/>
        </p:spPr>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+3.3 pts</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77" name="Shape 75"/>
          <p:cNvSpPr/>
          <p:nvPr/>
        </p:nvSpPr>
        <p:spPr>
          <a:xfrm>
            <a:off x="3785616" y="5750188"/>
            <a:ext cx="142941" cy="110352"/>
          </a:xfrm>
          <a:prstGeom prst="rect">
            <a:avLst/>
          </a:prstGeom>
          <a:solidFill>
            <a:srgbClr val="12A566"/>
          </a:solidFill>
          <a:ln/>
        </p:spPr>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+3.2 pts</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81" name="Shape 79"/>
          <p:cNvSpPr/>
          <p:nvPr/>
        </p:nvSpPr>
        <p:spPr>
          <a:xfrm>
            <a:off x="9336024" y="1911860"/>
            <a:ext cx="111672" cy="110352"/>
          </a:xfrm>
          <a:prstGeom prst="rect">
            <a:avLst/>
          </a:prstGeom>
          <a:solidFill>
            <a:srgbClr val="12A566"/>
          </a:solidFill>
          <a:ln/>
        </p:spPr>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+2.5 pts</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85" name="Shape 83"/>
          <p:cNvSpPr/>
          <p:nvPr/>
        </p:nvSpPr>
        <p:spPr>
          <a:xfrm>
            <a:off x="9336024" y="2151755"/>
            <a:ext cx="75937" cy="110352"/>
          </a:xfrm>
          <a:prstGeom prst="rect">
            <a:avLst/>
          </a:prstGeom>
          <a:solidFill>
            <a:srgbClr val="12A566"/>
          </a:solidFill>
          <a:ln/>
        </p:spPr>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+1.7 pts</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89" name="Shape 87"/>
          <p:cNvSpPr/>
          <p:nvPr/>
        </p:nvSpPr>
        <p:spPr>
          <a:xfrm>
            <a:off x="9336024" y="2391651"/>
            <a:ext cx="71470" cy="110352"/>
          </a:xfrm>
          <a:prstGeom prst="rect">
            <a:avLst/>
          </a:prstGeom>
          <a:solidFill>
            <a:srgbClr val="12A566"/>
          </a:solidFill>
          <a:ln/>
        </p:spPr>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+1.6 pts</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93" name="Shape 91"/>
          <p:cNvSpPr/>
          <p:nvPr/>
        </p:nvSpPr>
        <p:spPr>
          <a:xfrm>
            <a:off x="9336024" y="2631546"/>
            <a:ext cx="26801" cy="110352"/>
          </a:xfrm>
          <a:prstGeom prst="rect">
            <a:avLst/>
          </a:prstGeom>
          <a:solidFill>
            <a:srgbClr val="12A566"/>
          </a:solidFill>
          <a:ln/>
        </p:spPr>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+0.6 pts</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97" name="Shape 95"/>
          <p:cNvSpPr/>
          <p:nvPr/>
        </p:nvSpPr>
        <p:spPr>
          <a:xfrm>
            <a:off x="9336024" y="2871442"/>
            <a:ext cx="13401" cy="110352"/>
          </a:xfrm>
          <a:prstGeom prst="rect">
            <a:avLst/>
          </a:prstGeom>
          <a:solidFill>
            <a:srgbClr val="12A566"/>
          </a:solidFill>
          <a:ln/>
        </p:spPr>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+0.3 pts</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01" name="Shape 99"/>
          <p:cNvSpPr/>
          <p:nvPr/>
        </p:nvSpPr>
        <p:spPr>
          <a:xfrm>
            <a:off x="9336024" y="3111337"/>
            <a:ext cx="12802" cy="110352"/>
          </a:xfrm>
          <a:prstGeom prst="rect">
            <a:avLst/>
          </a:prstGeom>
          <a:solidFill>
            <a:srgbClr val="12A566"/>
          </a:solidFill>
          <a:ln/>
        </p:spPr>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+0.1 pts</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05" name="Shape 103"/>
          <p:cNvSpPr/>
          <p:nvPr/>
        </p:nvSpPr>
        <p:spPr>
          <a:xfrm>
            <a:off x="9331557" y="3351233"/>
            <a:ext cx="12802" cy="110352"/>
          </a:xfrm>
          <a:prstGeom prst="rect">
            <a:avLst/>
          </a:prstGeom>
          <a:solidFill>
            <a:srgbClr val="C2352F"/>
          </a:solidFill>
          <a:ln/>
        </p:spPr>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−0.1 pts</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09" name="Shape 107"/>
          <p:cNvSpPr/>
          <p:nvPr/>
        </p:nvSpPr>
        <p:spPr>
          <a:xfrm>
            <a:off x="9331557" y="3591128"/>
            <a:ext cx="12802" cy="110352"/>
          </a:xfrm>
          <a:prstGeom prst="rect">
            <a:avLst/>
          </a:prstGeom>
          <a:solidFill>
            <a:srgbClr val="C2352F"/>
          </a:solidFill>
          <a:ln/>
        </p:spPr>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−0.1 pts</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13" name="Shape 111"/>
          <p:cNvSpPr/>
          <p:nvPr/>
        </p:nvSpPr>
        <p:spPr>
          <a:xfrm>
            <a:off x="9327090" y="3831024"/>
            <a:ext cx="12802" cy="110352"/>
          </a:xfrm>
          <a:prstGeom prst="rect">
            <a:avLst/>
          </a:prstGeom>
          <a:solidFill>
            <a:srgbClr val="C2352F"/>
          </a:solidFill>
          <a:ln/>
        </p:spPr>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−0.2 pts</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17" name="Shape 115"/>
          <p:cNvSpPr/>
          <p:nvPr/>
        </p:nvSpPr>
        <p:spPr>
          <a:xfrm>
            <a:off x="9286888" y="4070920"/>
            <a:ext cx="49136" cy="110352"/>
          </a:xfrm>
          <a:prstGeom prst="rect">
            <a:avLst/>
          </a:prstGeom>
          <a:solidFill>
            <a:srgbClr val="C2352F"/>
          </a:solidFill>
          <a:ln/>
        </p:spPr>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−1.1 pts</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21" name="Shape 119"/>
          <p:cNvSpPr/>
          <p:nvPr/>
        </p:nvSpPr>
        <p:spPr>
          <a:xfrm>
            <a:off x="9286888" y="4310815"/>
            <a:ext cx="49136" cy="110352"/>
          </a:xfrm>
          <a:prstGeom prst="rect">
            <a:avLst/>
          </a:prstGeom>
          <a:solidFill>
            <a:srgbClr val="C2352F"/>
          </a:solidFill>
          <a:ln/>
        </p:spPr>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−1.1 pts</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25" name="Shape 123"/>
          <p:cNvSpPr/>
          <p:nvPr/>
        </p:nvSpPr>
        <p:spPr>
          <a:xfrm>
            <a:off x="9233285" y="4550711"/>
            <a:ext cx="102739" cy="110352"/>
          </a:xfrm>
          <a:prstGeom prst="rect">
            <a:avLst/>
          </a:prstGeom>
          <a:solidFill>
            <a:srgbClr val="C2352F"/>
          </a:solidFill>
          <a:ln/>
        </p:spPr>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−2.3 pts</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29" name="Shape 127"/>
          <p:cNvSpPr/>
          <p:nvPr/>
        </p:nvSpPr>
        <p:spPr>
          <a:xfrm>
            <a:off x="9063543" y="4790606"/>
            <a:ext cx="272481" cy="110352"/>
          </a:xfrm>
          <a:prstGeom prst="rect">
            <a:avLst/>
          </a:prstGeom>
          <a:solidFill>
            <a:srgbClr val="C2352F"/>
          </a:solidFill>
          <a:ln/>
        </p:spPr>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−6.1 pts</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33" name="Shape 131"/>
          <p:cNvSpPr/>
          <p:nvPr/>
        </p:nvSpPr>
        <p:spPr>
          <a:xfrm>
            <a:off x="8902735" y="5030502"/>
            <a:ext cx="433289" cy="110352"/>
          </a:xfrm>
          <a:prstGeom prst="rect">
            <a:avLst/>
          </a:prstGeom>
          <a:solidFill>
            <a:srgbClr val="C2352F"/>
          </a:solidFill>
          <a:ln/>
        </p:spPr>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−9.7 pts</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37" name="Shape 135"/>
          <p:cNvSpPr/>
          <p:nvPr/>
        </p:nvSpPr>
        <p:spPr>
          <a:xfrm>
            <a:off x="8884867" y="5270397"/>
            <a:ext cx="451157" cy="110352"/>
          </a:xfrm>
          <a:prstGeom prst="rect">
            <a:avLst/>
          </a:prstGeom>
          <a:solidFill>
            <a:srgbClr val="C2352F"/>
          </a:solidFill>
          <a:ln/>
        </p:spPr>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−10.1 pts</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41" name="Shape 139"/>
          <p:cNvSpPr/>
          <p:nvPr/>
        </p:nvSpPr>
        <p:spPr>
          <a:xfrm>
            <a:off x="8558784" y="5510293"/>
            <a:ext cx="777240" cy="110352"/>
          </a:xfrm>
          <a:prstGeom prst="rect">
            <a:avLst/>
          </a:prstGeom>
          <a:solidFill>
            <a:srgbClr val="C2352F"/>
          </a:solidFill>
          <a:ln/>
        </p:spPr>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−17.4 pts</a:t>
            </a:r>
            <a:endParaRPr lang="en-US" sz="1200" dirty="0"/>
          </a:p>
        </p:txBody>
      </p:sp>
      <p:sp>
        <p:nvSpPr>
          <p:cNvPr id="143" name="Shape 141"/>
          <p:cNvSpPr/>
          <p:nvPr/>
        </p:nvSpPr>
        <p:spPr>
          <a:xfrm>
            <a:off x="3780130" y="1847088"/>
            <a:ext cx="10973" cy="4078224"/>
          </a:xfrm>
          <a:prstGeom prst="rect">
            <a:avLst/>
          </a:prstGeom>
          <a:solidFill>
            <a:srgbClr val="9AA3AD"/>
          </a:solidFill>
          <a:ln/>
        </p:spPr>
      </p:sp>
      <p:sp>
        <p:nvSpPr>
          <p:cNvPr id="144" name="Shape 142"/>
          <p:cNvSpPr/>
          <p:nvPr/>
        </p:nvSpPr>
        <p:spPr>
          <a:xfrm>
            <a:off x="9330538" y="1847088"/>
            <a:ext cx="10973" cy="4078224"/>
          </a:xfrm>
          <a:prstGeom prst="rect">
            <a:avLst/>
          </a:prstGeom>
          <a:solidFill>
            <a:srgbClr val="9AA3AD"/>
          </a:solidFill>
          <a:ln/>
        </p:spPr>
      </p:sp>
      <p:sp>
        <p:nvSpPr>
          <p:cNvPr id="145" name="Shape 143"/>
          <p:cNvSpPr/>
          <p:nvPr/>
        </p:nvSpPr>
        <p:spPr>
          <a:xfrm>
            <a:off x="6085332" y="1847088"/>
            <a:ext cx="10973" cy="4078224"/>
          </a:xfrm>
          <a:prstGeom prst="rect">
            <a:avLst/>
          </a:prstGeom>
          <a:solidFill>
            <a:srgbClr val="D9D9D9"/>
          </a:solidFill>
          <a:ln/>
        </p:spPr>
      </p:sp>
      <p:sp>
        <p:nvSpPr>
          <p:cNvPr id="147" name="Shape 144"/>
          <p:cNvSpPr/>
          <p:nvPr/>
        </p:nvSpPr>
        <p:spPr>
          <a:xfrm>
            <a:off x="457200" y="6126480"/>
            <a:ext cx="11274552" cy="371856"/>
          </a:xfrm>
          <a:prstGeom prst="rect">
            <a:avLst/>
          </a:prstGeom>
          <a:solidFill>
            <a:srgbClr val="E6F6EE"/>
          </a:solidFill>
          <a:ln/>
        </p:spPr>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23 of 33 stores raised absorption. 10 declined.</a:t>
            </a:r>
            <a:endParaRPr lang="en-US" sz="160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Text 8"/>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43.8%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59.9%</a:t>
            </a:r>
            <a:endParaRPr lang="en-US" sz="1400" dirty="0"/>
          </a:p>
        </p:txBody>
      </p:sp>
      <p:sp>
        <p:nvSpPr>
          <p:cNvPr id="12" name="Text 10"/>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+16.1 pts</a:t>
            </a:r>
            <a:endParaRPr lang="en-US" sz="1600" dirty="0"/>
          </a:p>
        </p:txBody>
      </p:sp>
      <p:sp>
        <p:nvSpPr>
          <p:cNvPr id="13" name="Text 11"/>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4" name="Text 12"/>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86.1%</a:t>
            </a:r>
            <a:endParaRPr lang="en-US" sz="1400" dirty="0"/>
          </a:p>
        </p:txBody>
      </p:sp>
      <p:sp>
        <p:nvSpPr>
          <p:cNvPr id="15" name="Text 13"/>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+9.6 pts</a:t>
            </a:r>
            <a:endParaRPr lang="en-US" sz="1600" dirty="0"/>
          </a:p>
        </p:txBody>
      </p:sp>
      <p:sp>
        <p:nvSpPr>
          <p:cNvPr id="16" name="Shape 14"/>
          <p:cNvSpPr/>
          <p:nvPr/>
        </p:nvSpPr>
        <p:spPr>
          <a:xfrm>
            <a:off x="658368" y="3760013"/>
            <a:ext cx="3489960" cy="828446"/>
          </a:xfrm>
          <a:prstGeom prst="rect">
            <a:avLst/>
          </a:prstGeom>
          <a:solidFill>
            <a:srgbClr val="F7F7F7"/>
          </a:solidFill>
          <a:ln/>
        </p:spPr>
      </p:sp>
      <p:sp>
        <p:nvSpPr>
          <p:cNvPr id="17" name="Shape 15"/>
          <p:cNvSpPr/>
          <p:nvPr/>
        </p:nvSpPr>
        <p:spPr>
          <a:xfrm>
            <a:off x="4084320" y="3796589"/>
            <a:ext cx="64008" cy="755294"/>
          </a:xfrm>
          <a:prstGeom prst="rect">
            <a:avLst/>
          </a:prstGeom>
          <a:solidFill>
            <a:srgbClr val="12A566"/>
          </a:solidFill>
          <a:ln/>
        </p:spPr>
      </p:sp>
      <p:sp>
        <p:nvSpPr>
          <p:cNvPr id="18" name="Text 16"/>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67.8%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77.3%</a:t>
            </a:r>
            <a:endParaRPr lang="en-US" sz="1400" dirty="0"/>
          </a:p>
        </p:txBody>
      </p:sp>
      <p:sp>
        <p:nvSpPr>
          <p:cNvPr id="20" name="Text 18"/>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+9.5 pts</a:t>
            </a:r>
            <a:endParaRPr lang="en-US" sz="1600" dirty="0"/>
          </a:p>
        </p:txBody>
      </p:sp>
      <p:sp>
        <p:nvSpPr>
          <p:cNvPr id="21" name="Text 19"/>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2" name="Text 20"/>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72.8%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78.4%</a:t>
            </a:r>
            <a:endParaRPr lang="en-US" sz="1400" dirty="0"/>
          </a:p>
        </p:txBody>
      </p:sp>
      <p:sp>
        <p:nvSpPr>
          <p:cNvPr id="23" name="Text 21"/>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+5.6 pts</a:t>
            </a:r>
            <a:endParaRPr lang="en-US" sz="1600" dirty="0"/>
          </a:p>
        </p:txBody>
      </p:sp>
      <p:sp>
        <p:nvSpPr>
          <p:cNvPr id="24" name="Shape 22"/>
          <p:cNvSpPr/>
          <p:nvPr/>
        </p:nvSpPr>
        <p:spPr>
          <a:xfrm>
            <a:off x="658368" y="5416906"/>
            <a:ext cx="3489960" cy="828446"/>
          </a:xfrm>
          <a:prstGeom prst="rect">
            <a:avLst/>
          </a:prstGeom>
          <a:solidFill>
            <a:srgbClr val="F7F7F7"/>
          </a:solidFill>
          <a:ln/>
        </p:spPr>
      </p:sp>
      <p:sp>
        <p:nvSpPr>
          <p:cNvPr id="25" name="Text 23"/>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6" name="Text 24"/>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70.2%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75.6%</a:t>
            </a:r>
            <a:endParaRPr lang="en-US" sz="1400" dirty="0"/>
          </a:p>
        </p:txBody>
      </p:sp>
      <p:sp>
        <p:nvSpPr>
          <p:cNvPr id="27" name="Text 25"/>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+5.4 pts</a:t>
            </a:r>
            <a:endParaRPr lang="en-US" sz="1600" dirty="0"/>
          </a:p>
        </p:txBody>
      </p:sp>
      <p:sp>
        <p:nvSpPr>
          <p:cNvPr id="28" name="Shape 26"/>
          <p:cNvSpPr/>
          <p:nvPr/>
        </p:nvSpPr>
        <p:spPr>
          <a:xfrm>
            <a:off x="4349496" y="1371600"/>
            <a:ext cx="3489960" cy="45720"/>
          </a:xfrm>
          <a:prstGeom prst="rect">
            <a:avLst/>
          </a:prstGeom>
          <a:solidFill>
            <a:srgbClr val="C2352F"/>
          </a:solidFill>
          <a:ln/>
        </p:spPr>
      </p:sp>
      <p:sp>
        <p:nvSpPr>
          <p:cNvPr id="29"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0" name="Text 28"/>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1" name="Shape 29"/>
          <p:cNvSpPr/>
          <p:nvPr/>
        </p:nvSpPr>
        <p:spPr>
          <a:xfrm>
            <a:off x="4349496" y="2103120"/>
            <a:ext cx="3489960" cy="828446"/>
          </a:xfrm>
          <a:prstGeom prst="rect">
            <a:avLst/>
          </a:prstGeom>
          <a:solidFill>
            <a:srgbClr val="F7F7F7"/>
          </a:solidFill>
          <a:ln/>
        </p:spPr>
      </p:sp>
      <p:sp>
        <p:nvSpPr>
          <p:cNvPr id="32" name="Text 30"/>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3" name="Text 31"/>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71.5%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54.1%</a:t>
            </a:r>
            <a:endParaRPr lang="en-US" sz="1400" dirty="0"/>
          </a:p>
        </p:txBody>
      </p:sp>
      <p:sp>
        <p:nvSpPr>
          <p:cNvPr id="34" name="Text 32"/>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−17.4 pts</a:t>
            </a:r>
            <a:endParaRPr lang="en-US" sz="1600" dirty="0"/>
          </a:p>
        </p:txBody>
      </p:sp>
      <p:sp>
        <p:nvSpPr>
          <p:cNvPr id="35" name="Shape 33"/>
          <p:cNvSpPr/>
          <p:nvPr/>
        </p:nvSpPr>
        <p:spPr>
          <a:xfrm>
            <a:off x="7775448" y="2968142"/>
            <a:ext cx="64008" cy="755294"/>
          </a:xfrm>
          <a:prstGeom prst="rect">
            <a:avLst/>
          </a:prstGeom>
          <a:solidFill>
            <a:srgbClr val="2587C5"/>
          </a:solidFill>
          <a:ln/>
        </p:spPr>
      </p:sp>
      <p:sp>
        <p:nvSpPr>
          <p:cNvPr id="36" name="Text 34"/>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7" name="Text 35"/>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75.9%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65.8%</a:t>
            </a:r>
            <a:endParaRPr lang="en-US" sz="1400" dirty="0"/>
          </a:p>
        </p:txBody>
      </p:sp>
      <p:sp>
        <p:nvSpPr>
          <p:cNvPr id="38" name="Text 36"/>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−10.1 pts</a:t>
            </a:r>
            <a:endParaRPr lang="en-US" sz="1600" dirty="0"/>
          </a:p>
        </p:txBody>
      </p:sp>
      <p:sp>
        <p:nvSpPr>
          <p:cNvPr id="39" name="Shape 37"/>
          <p:cNvSpPr/>
          <p:nvPr/>
        </p:nvSpPr>
        <p:spPr>
          <a:xfrm>
            <a:off x="4349496" y="3760013"/>
            <a:ext cx="3489960" cy="828446"/>
          </a:xfrm>
          <a:prstGeom prst="rect">
            <a:avLst/>
          </a:prstGeom>
          <a:solidFill>
            <a:srgbClr val="F7F7F7"/>
          </a:solidFill>
          <a:ln/>
        </p:spPr>
      </p:sp>
      <p:sp>
        <p:nvSpPr>
          <p:cNvPr id="40" name="Text 38"/>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1" name="Text 39"/>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93.5%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83.8%</a:t>
            </a:r>
            <a:endParaRPr lang="en-US" sz="1400" dirty="0"/>
          </a:p>
        </p:txBody>
      </p:sp>
      <p:sp>
        <p:nvSpPr>
          <p:cNvPr id="42" name="Text 40"/>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−9.7 pts</a:t>
            </a:r>
            <a:endParaRPr lang="en-US" sz="1600" dirty="0"/>
          </a:p>
        </p:txBody>
      </p:sp>
      <p:sp>
        <p:nvSpPr>
          <p:cNvPr id="43" name="Text 41"/>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4" name="Text 42"/>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109.7%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103.6%</a:t>
            </a:r>
            <a:endParaRPr lang="en-US" sz="1400" dirty="0"/>
          </a:p>
        </p:txBody>
      </p:sp>
      <p:sp>
        <p:nvSpPr>
          <p:cNvPr id="45" name="Text 43"/>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−6.1 pts</a:t>
            </a:r>
            <a:endParaRPr lang="en-US" sz="1600" dirty="0"/>
          </a:p>
        </p:txBody>
      </p:sp>
      <p:sp>
        <p:nvSpPr>
          <p:cNvPr id="46" name="Shape 44"/>
          <p:cNvSpPr/>
          <p:nvPr/>
        </p:nvSpPr>
        <p:spPr>
          <a:xfrm>
            <a:off x="4349496" y="5416906"/>
            <a:ext cx="3489960" cy="828446"/>
          </a:xfrm>
          <a:prstGeom prst="rect">
            <a:avLst/>
          </a:prstGeom>
          <a:solidFill>
            <a:srgbClr val="F7F7F7"/>
          </a:solidFill>
          <a:ln/>
        </p:spPr>
      </p:sp>
      <p:sp>
        <p:nvSpPr>
          <p:cNvPr id="47" name="Text 45"/>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8" name="Text 46"/>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65.4%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63.1%</a:t>
            </a:r>
            <a:endParaRPr lang="en-US" sz="1400" dirty="0"/>
          </a:p>
        </p:txBody>
      </p:sp>
      <p:sp>
        <p:nvSpPr>
          <p:cNvPr id="49" name="Text 47"/>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−2.3 pts</a:t>
            </a:r>
            <a:endParaRPr lang="en-US" sz="1600" dirty="0"/>
          </a:p>
        </p:txBody>
      </p:sp>
      <p:sp>
        <p:nvSpPr>
          <p:cNvPr id="50" name="Shape 48"/>
          <p:cNvSpPr/>
          <p:nvPr/>
        </p:nvSpPr>
        <p:spPr>
          <a:xfrm>
            <a:off x="8040624" y="1371600"/>
            <a:ext cx="3489960" cy="45720"/>
          </a:xfrm>
          <a:prstGeom prst="rect">
            <a:avLst/>
          </a:prstGeom>
          <a:solidFill>
            <a:srgbClr val="2587C5"/>
          </a:solidFill>
          <a:ln/>
        </p:spPr>
      </p:sp>
      <p:sp>
        <p:nvSpPr>
          <p:cNvPr id="51" name="Text 4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2" name="Text 50"/>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53" name="Shape 51"/>
          <p:cNvSpPr/>
          <p:nvPr/>
        </p:nvSpPr>
        <p:spPr>
          <a:xfrm>
            <a:off x="8040624" y="2103120"/>
            <a:ext cx="3489960" cy="828446"/>
          </a:xfrm>
          <a:prstGeom prst="rect">
            <a:avLst/>
          </a:prstGeom>
          <a:solidFill>
            <a:srgbClr val="F7F7F7"/>
          </a:solidFill>
          <a:ln/>
        </p:spPr>
      </p:sp>
      <p:sp>
        <p:nvSpPr>
          <p:cNvPr id="54" name="Text 52"/>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5" name="Text 53"/>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66.7%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82.9%</a:t>
            </a:r>
            <a:endParaRPr lang="en-US" sz="1400" dirty="0"/>
          </a:p>
        </p:txBody>
      </p:sp>
      <p:sp>
        <p:nvSpPr>
          <p:cNvPr id="56" name="Text 54"/>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+16.2 pts</a:t>
            </a:r>
            <a:endParaRPr lang="en-US" sz="1600" dirty="0"/>
          </a:p>
        </p:txBody>
      </p:sp>
      <p:sp>
        <p:nvSpPr>
          <p:cNvPr id="57" name="Shape 55"/>
          <p:cNvSpPr/>
          <p:nvPr/>
        </p:nvSpPr>
        <p:spPr>
          <a:xfrm>
            <a:off x="11466576" y="2968142"/>
            <a:ext cx="64008" cy="755294"/>
          </a:xfrm>
          <a:prstGeom prst="rect">
            <a:avLst/>
          </a:prstGeom>
          <a:solidFill>
            <a:srgbClr val="12A566"/>
          </a:solidFill>
          <a:ln/>
        </p:spPr>
      </p:sp>
      <p:sp>
        <p:nvSpPr>
          <p:cNvPr id="58" name="Text 56"/>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9" name="Text 57"/>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69.5%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84.8%</a:t>
            </a:r>
            <a:endParaRPr lang="en-US" sz="1400" dirty="0"/>
          </a:p>
        </p:txBody>
      </p:sp>
      <p:sp>
        <p:nvSpPr>
          <p:cNvPr id="60" name="Text 58"/>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+15.3 pts</a:t>
            </a:r>
            <a:endParaRPr lang="en-US" sz="1600" dirty="0"/>
          </a:p>
        </p:txBody>
      </p:sp>
      <p:sp>
        <p:nvSpPr>
          <p:cNvPr id="61" name="Shape 59"/>
          <p:cNvSpPr/>
          <p:nvPr/>
        </p:nvSpPr>
        <p:spPr>
          <a:xfrm>
            <a:off x="8040624" y="3760013"/>
            <a:ext cx="3489960" cy="828446"/>
          </a:xfrm>
          <a:prstGeom prst="rect">
            <a:avLst/>
          </a:prstGeom>
          <a:solidFill>
            <a:srgbClr val="F7F7F7"/>
          </a:solidFill>
          <a:ln/>
        </p:spPr>
      </p:sp>
      <p:sp>
        <p:nvSpPr>
          <p:cNvPr id="62" name="Shape 60"/>
          <p:cNvSpPr/>
          <p:nvPr/>
        </p:nvSpPr>
        <p:spPr>
          <a:xfrm>
            <a:off x="11466576" y="3796589"/>
            <a:ext cx="64008" cy="755294"/>
          </a:xfrm>
          <a:prstGeom prst="rect">
            <a:avLst/>
          </a:prstGeom>
          <a:solidFill>
            <a:srgbClr val="2587C5"/>
          </a:solidFill>
          <a:ln/>
        </p:spPr>
      </p:sp>
      <p:sp>
        <p:nvSpPr>
          <p:cNvPr id="63" name="Text 61"/>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4" name="Text 62"/>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62.0%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73.1%</a:t>
            </a:r>
            <a:endParaRPr lang="en-US" sz="1400" dirty="0"/>
          </a:p>
        </p:txBody>
      </p:sp>
      <p:sp>
        <p:nvSpPr>
          <p:cNvPr id="65" name="Text 63"/>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+11.1 pts</a:t>
            </a:r>
            <a:endParaRPr lang="en-US" sz="1600" dirty="0"/>
          </a:p>
        </p:txBody>
      </p:sp>
      <p:sp>
        <p:nvSpPr>
          <p:cNvPr id="66" name="Text 64"/>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7" name="Text 65"/>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83.6%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94.4%</a:t>
            </a:r>
            <a:endParaRPr lang="en-US" sz="1400" dirty="0"/>
          </a:p>
        </p:txBody>
      </p:sp>
      <p:sp>
        <p:nvSpPr>
          <p:cNvPr id="68" name="Text 66"/>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+10.8 pts</a:t>
            </a:r>
            <a:endParaRPr lang="en-US" sz="1600" dirty="0"/>
          </a:p>
        </p:txBody>
      </p:sp>
      <p:sp>
        <p:nvSpPr>
          <p:cNvPr id="69" name="Shape 67"/>
          <p:cNvSpPr/>
          <p:nvPr/>
        </p:nvSpPr>
        <p:spPr>
          <a:xfrm>
            <a:off x="8040624" y="5416906"/>
            <a:ext cx="3489960" cy="828446"/>
          </a:xfrm>
          <a:prstGeom prst="rect">
            <a:avLst/>
          </a:prstGeom>
          <a:solidFill>
            <a:srgbClr val="F7F7F7"/>
          </a:solidFill>
          <a:ln/>
        </p:spPr>
      </p:sp>
      <p:sp>
        <p:nvSpPr>
          <p:cNvPr id="70" name="Text 68"/>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71" name="Text 69"/>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74.2%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84.2%</a:t>
            </a:r>
            <a:endParaRPr lang="en-US" sz="1400" dirty="0"/>
          </a:p>
        </p:txBody>
      </p:sp>
      <p:sp>
        <p:nvSpPr>
          <p:cNvPr id="72" name="Text 70"/>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+10.0 pts</a:t>
            </a:r>
            <a:endParaRPr lang="en-US" sz="16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85800" y="566928"/>
            <a:ext cx="1828800" cy="555955"/>
          </a:xfrm>
          <a:prstGeom prst="rect">
            <a:avLst/>
          </a:prstGeom>
        </p:spPr>
      </p:pic>
      <p:sp>
        <p:nvSpPr>
          <p:cNvPr id="3" name="Text 0"/>
          <p:cNvSpPr txBox="1"/>
          <p:nvPr/>
        </p:nvSpPr>
        <p:spPr>
          <a:xfrm>
            <a:off x="713232" y="2121408"/>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SECTION 07</a:t>
            </a:r>
            <a:endParaRPr lang="en-US" sz="2000" dirty="0"/>
          </a:p>
        </p:txBody>
      </p:sp>
      <p:sp>
        <p:nvSpPr>
          <p:cNvPr id="4" name="Text 1"/>
          <p:cNvSpPr txBox="1"/>
          <p:nvPr/>
        </p:nvSpPr>
        <p:spPr>
          <a:xfrm>
            <a:off x="667512" y="2487168"/>
            <a:ext cx="10789920" cy="1188720"/>
          </a:xfrm>
          <a:prstGeom prst="rect">
            <a:avLst/>
          </a:prstGeom>
          <a:noFill/>
          <a:ln/>
        </p:spPr>
        <p:txBody>
          <a:bodyPr wrap="none" lIns="0" tIns="0" rIns="0" bIns="0" rtlCol="0" anchor="ctr"/>
          <a:lstStyle/>
          <a:p>
            <a:pPr indent="0" marL="0">
              <a:buNone/>
            </a:pPr>
            <a:r>
              <a:rPr lang="en-US" sz="7600" b="1" dirty="0">
                <a:solidFill>
                  <a:srgbClr val="1A1A1A"/>
                </a:solidFill>
                <a:latin typeface="Inter" pitchFamily="34" charset="0"/>
                <a:ea typeface="Inter" pitchFamily="34" charset="-122"/>
                <a:cs typeface="Inter" pitchFamily="34" charset="-120"/>
              </a:rPr>
              <a:t>Warranty</a:t>
            </a:r>
            <a:endParaRPr lang="en-US" sz="7600" dirty="0"/>
          </a:p>
        </p:txBody>
      </p:sp>
      <p:sp>
        <p:nvSpPr>
          <p:cNvPr id="5" name="Text 2"/>
          <p:cNvSpPr txBox="1"/>
          <p:nvPr/>
        </p:nvSpPr>
        <p:spPr>
          <a:xfrm>
            <a:off x="694944" y="376732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Rates rising   ·   Warranty gross profit   ·   Claim process: protect the money</a:t>
            </a:r>
            <a:endParaRPr lang="en-US" sz="2200" dirty="0"/>
          </a:p>
        </p:txBody>
      </p:sp>
      <p:sp>
        <p:nvSpPr>
          <p:cNvPr id="6" name="Shape 3"/>
          <p:cNvSpPr/>
          <p:nvPr/>
        </p:nvSpPr>
        <p:spPr>
          <a:xfrm>
            <a:off x="685800" y="4983480"/>
            <a:ext cx="1956816" cy="45720"/>
          </a:xfrm>
          <a:prstGeom prst="rect">
            <a:avLst/>
          </a:prstGeom>
          <a:solidFill>
            <a:srgbClr val="5B9BD5"/>
          </a:solidFill>
          <a:ln/>
        </p:spPr>
      </p:sp>
      <p:sp>
        <p:nvSpPr>
          <p:cNvPr id="7" name="Text 4"/>
          <p:cNvSpPr txBox="1"/>
          <p:nvPr/>
        </p:nvSpPr>
        <p:spPr>
          <a:xfrm>
            <a:off x="685800" y="5166360"/>
            <a:ext cx="1956816" cy="365760"/>
          </a:xfrm>
          <a:prstGeom prst="rect">
            <a:avLst/>
          </a:prstGeom>
          <a:noFill/>
          <a:ln/>
        </p:spPr>
        <p:txBody>
          <a:bodyPr wrap="square" lIns="0" tIns="0" rIns="0" bIns="0" rtlCol="0" anchor="ctr"/>
          <a:lstStyle/>
          <a:p>
            <a:pPr indent="0" marL="0">
              <a:buNone/>
            </a:pPr>
            <a:r>
              <a:rPr lang="en-US" sz="1700" dirty="0">
                <a:solidFill>
                  <a:srgbClr val="595959"/>
                </a:solidFill>
                <a:latin typeface="Inter" pitchFamily="34" charset="0"/>
                <a:ea typeface="Inter" pitchFamily="34" charset="-122"/>
                <a:cs typeface="Inter" pitchFamily="34" charset="-120"/>
              </a:rPr>
              <a:t>Gross</a:t>
            </a:r>
            <a:endParaRPr lang="en-US" sz="1700" dirty="0"/>
          </a:p>
        </p:txBody>
      </p:sp>
      <p:sp>
        <p:nvSpPr>
          <p:cNvPr id="8" name="Shape 5"/>
          <p:cNvSpPr/>
          <p:nvPr/>
        </p:nvSpPr>
        <p:spPr>
          <a:xfrm>
            <a:off x="2843784" y="4983480"/>
            <a:ext cx="1956816" cy="45720"/>
          </a:xfrm>
          <a:prstGeom prst="rect">
            <a:avLst/>
          </a:prstGeom>
          <a:solidFill>
            <a:srgbClr val="5B9BD5"/>
          </a:solidFill>
          <a:ln/>
        </p:spPr>
      </p:sp>
      <p:sp>
        <p:nvSpPr>
          <p:cNvPr id="9" name="Text 6"/>
          <p:cNvSpPr txBox="1"/>
          <p:nvPr/>
        </p:nvSpPr>
        <p:spPr>
          <a:xfrm>
            <a:off x="2843784" y="5166360"/>
            <a:ext cx="1956816" cy="365760"/>
          </a:xfrm>
          <a:prstGeom prst="rect">
            <a:avLst/>
          </a:prstGeom>
          <a:noFill/>
          <a:ln/>
        </p:spPr>
        <p:txBody>
          <a:bodyPr wrap="square" lIns="0" tIns="0" rIns="0" bIns="0" rtlCol="0" anchor="ctr"/>
          <a:lstStyle/>
          <a:p>
            <a:pPr indent="0" marL="0">
              <a:buNone/>
            </a:pPr>
            <a:r>
              <a:rPr lang="en-US" sz="1700" dirty="0">
                <a:solidFill>
                  <a:srgbClr val="595959"/>
                </a:solidFill>
                <a:latin typeface="Inter" pitchFamily="34" charset="0"/>
                <a:ea typeface="Inter" pitchFamily="34" charset="-122"/>
                <a:cs typeface="Inter" pitchFamily="34" charset="-120"/>
              </a:rPr>
              <a:t>Profitability</a:t>
            </a:r>
            <a:endParaRPr lang="en-US" sz="1700" dirty="0"/>
          </a:p>
        </p:txBody>
      </p:sp>
      <p:sp>
        <p:nvSpPr>
          <p:cNvPr id="10" name="Shape 7"/>
          <p:cNvSpPr/>
          <p:nvPr/>
        </p:nvSpPr>
        <p:spPr>
          <a:xfrm>
            <a:off x="5001768" y="4983480"/>
            <a:ext cx="1956816" cy="45720"/>
          </a:xfrm>
          <a:prstGeom prst="rect">
            <a:avLst/>
          </a:prstGeom>
          <a:solidFill>
            <a:srgbClr val="5B9BD5"/>
          </a:solidFill>
          <a:ln/>
        </p:spPr>
      </p:sp>
      <p:sp>
        <p:nvSpPr>
          <p:cNvPr id="11" name="Text 8"/>
          <p:cNvSpPr txBox="1"/>
          <p:nvPr/>
        </p:nvSpPr>
        <p:spPr>
          <a:xfrm>
            <a:off x="5001768" y="5166360"/>
            <a:ext cx="1956816" cy="365760"/>
          </a:xfrm>
          <a:prstGeom prst="rect">
            <a:avLst/>
          </a:prstGeom>
          <a:noFill/>
          <a:ln/>
        </p:spPr>
        <p:txBody>
          <a:bodyPr wrap="square" lIns="0" tIns="0" rIns="0" bIns="0" rtlCol="0" anchor="ctr"/>
          <a:lstStyle/>
          <a:p>
            <a:pPr indent="0" marL="0">
              <a:buNone/>
            </a:pPr>
            <a:r>
              <a:rPr lang="en-US" sz="1700" dirty="0">
                <a:solidFill>
                  <a:srgbClr val="595959"/>
                </a:solidFill>
                <a:latin typeface="Inter" pitchFamily="34" charset="0"/>
                <a:ea typeface="Inter" pitchFamily="34" charset="-122"/>
                <a:cs typeface="Inter" pitchFamily="34" charset="-120"/>
              </a:rPr>
              <a:t>Customer Pay</a:t>
            </a:r>
            <a:endParaRPr lang="en-US" sz="1700" dirty="0"/>
          </a:p>
        </p:txBody>
      </p:sp>
      <p:sp>
        <p:nvSpPr>
          <p:cNvPr id="12" name="Shape 9"/>
          <p:cNvSpPr/>
          <p:nvPr/>
        </p:nvSpPr>
        <p:spPr>
          <a:xfrm>
            <a:off x="7159752" y="4983480"/>
            <a:ext cx="1956816" cy="45720"/>
          </a:xfrm>
          <a:prstGeom prst="rect">
            <a:avLst/>
          </a:prstGeom>
          <a:solidFill>
            <a:srgbClr val="5B9BD5"/>
          </a:solidFill>
          <a:ln/>
        </p:spPr>
      </p:sp>
      <p:sp>
        <p:nvSpPr>
          <p:cNvPr id="13" name="Text 10"/>
          <p:cNvSpPr txBox="1"/>
          <p:nvPr/>
        </p:nvSpPr>
        <p:spPr>
          <a:xfrm>
            <a:off x="7159752" y="5166360"/>
            <a:ext cx="1956816" cy="365760"/>
          </a:xfrm>
          <a:prstGeom prst="rect">
            <a:avLst/>
          </a:prstGeom>
          <a:noFill/>
          <a:ln/>
        </p:spPr>
        <p:txBody>
          <a:bodyPr wrap="square" lIns="0" tIns="0" rIns="0" bIns="0" rtlCol="0" anchor="ctr"/>
          <a:lstStyle/>
          <a:p>
            <a:pPr indent="0" marL="0">
              <a:buNone/>
            </a:pPr>
            <a:r>
              <a:rPr lang="en-US" sz="1700" dirty="0">
                <a:solidFill>
                  <a:srgbClr val="595959"/>
                </a:solidFill>
                <a:latin typeface="Inter" pitchFamily="34" charset="0"/>
                <a:ea typeface="Inter" pitchFamily="34" charset="-122"/>
                <a:cs typeface="Inter" pitchFamily="34" charset="-120"/>
              </a:rPr>
              <a:t>Opcodes</a:t>
            </a:r>
            <a:endParaRPr lang="en-US" sz="1700" dirty="0"/>
          </a:p>
        </p:txBody>
      </p:sp>
      <p:sp>
        <p:nvSpPr>
          <p:cNvPr id="14" name="Shape 11"/>
          <p:cNvSpPr/>
          <p:nvPr/>
        </p:nvSpPr>
        <p:spPr>
          <a:xfrm>
            <a:off x="9317736" y="4983480"/>
            <a:ext cx="1956816" cy="45720"/>
          </a:xfrm>
          <a:prstGeom prst="rect">
            <a:avLst/>
          </a:prstGeom>
          <a:solidFill>
            <a:srgbClr val="5B9BD5"/>
          </a:solidFill>
          <a:ln/>
        </p:spPr>
      </p:sp>
      <p:sp>
        <p:nvSpPr>
          <p:cNvPr id="15" name="Text 12"/>
          <p:cNvSpPr txBox="1"/>
          <p:nvPr/>
        </p:nvSpPr>
        <p:spPr>
          <a:xfrm>
            <a:off x="9317736" y="5166360"/>
            <a:ext cx="1956816" cy="365760"/>
          </a:xfrm>
          <a:prstGeom prst="rect">
            <a:avLst/>
          </a:prstGeom>
          <a:noFill/>
          <a:ln/>
        </p:spPr>
        <p:txBody>
          <a:bodyPr wrap="square" lIns="0" tIns="0" rIns="0" bIns="0" rtlCol="0" anchor="ctr"/>
          <a:lstStyle/>
          <a:p>
            <a:pPr indent="0" marL="0">
              <a:buNone/>
            </a:pPr>
            <a:r>
              <a:rPr lang="en-US" sz="1700" dirty="0">
                <a:solidFill>
                  <a:srgbClr val="595959"/>
                </a:solidFill>
                <a:latin typeface="Inter" pitchFamily="34" charset="0"/>
                <a:ea typeface="Inter" pitchFamily="34" charset="-122"/>
                <a:cs typeface="Inter" pitchFamily="34" charset="-120"/>
              </a:rPr>
              <a:t>Internal</a:t>
            </a:r>
            <a:endParaRPr lang="en-US" sz="1700" dirty="0"/>
          </a:p>
        </p:txBody>
      </p:sp>
      <p:sp>
        <p:nvSpPr>
          <p:cNvPr id="16" name="Shape 13"/>
          <p:cNvSpPr/>
          <p:nvPr/>
        </p:nvSpPr>
        <p:spPr>
          <a:xfrm>
            <a:off x="685800" y="5696712"/>
            <a:ext cx="1956816" cy="45720"/>
          </a:xfrm>
          <a:prstGeom prst="rect">
            <a:avLst/>
          </a:prstGeom>
          <a:solidFill>
            <a:srgbClr val="5B9BD5"/>
          </a:solidFill>
          <a:ln/>
        </p:spPr>
      </p:sp>
      <p:sp>
        <p:nvSpPr>
          <p:cNvPr id="17" name="Text 14"/>
          <p:cNvSpPr txBox="1"/>
          <p:nvPr/>
        </p:nvSpPr>
        <p:spPr>
          <a:xfrm>
            <a:off x="685800" y="5879592"/>
            <a:ext cx="1956816" cy="365760"/>
          </a:xfrm>
          <a:prstGeom prst="rect">
            <a:avLst/>
          </a:prstGeom>
          <a:noFill/>
          <a:ln/>
        </p:spPr>
        <p:txBody>
          <a:bodyPr wrap="square" lIns="0" tIns="0" rIns="0" bIns="0" rtlCol="0" anchor="ctr"/>
          <a:lstStyle/>
          <a:p>
            <a:pPr indent="0" marL="0">
              <a:buNone/>
            </a:pPr>
            <a:r>
              <a:rPr lang="en-US" sz="1700" dirty="0">
                <a:solidFill>
                  <a:srgbClr val="595959"/>
                </a:solidFill>
                <a:latin typeface="Inter" pitchFamily="34" charset="0"/>
                <a:ea typeface="Inter" pitchFamily="34" charset="-122"/>
                <a:cs typeface="Inter" pitchFamily="34" charset="-120"/>
              </a:rPr>
              <a:t>Productivity</a:t>
            </a:r>
            <a:endParaRPr lang="en-US" sz="1700" dirty="0"/>
          </a:p>
        </p:txBody>
      </p:sp>
      <p:sp>
        <p:nvSpPr>
          <p:cNvPr id="18" name="Shape 15"/>
          <p:cNvSpPr/>
          <p:nvPr/>
        </p:nvSpPr>
        <p:spPr>
          <a:xfrm>
            <a:off x="2843784" y="5696712"/>
            <a:ext cx="1956816" cy="91440"/>
          </a:xfrm>
          <a:prstGeom prst="rect">
            <a:avLst/>
          </a:prstGeom>
          <a:solidFill>
            <a:srgbClr val="2587C5"/>
          </a:solidFill>
          <a:ln/>
        </p:spPr>
      </p:sp>
      <p:sp>
        <p:nvSpPr>
          <p:cNvPr id="19" name="Text 16"/>
          <p:cNvSpPr txBox="1"/>
          <p:nvPr/>
        </p:nvSpPr>
        <p:spPr>
          <a:xfrm>
            <a:off x="2843784" y="5879592"/>
            <a:ext cx="1956816" cy="365760"/>
          </a:xfrm>
          <a:prstGeom prst="rect">
            <a:avLst/>
          </a:prstGeom>
          <a:noFill/>
          <a:ln/>
        </p:spPr>
        <p:txBody>
          <a:bodyPr wrap="square" lIns="0" tIns="0" rIns="0" bIns="0" rtlCol="0" anchor="ctr"/>
          <a:lstStyle/>
          <a:p>
            <a:pPr indent="0" marL="0">
              <a:buNone/>
            </a:pPr>
            <a:r>
              <a:rPr lang="en-US" sz="1700" b="1" dirty="0">
                <a:solidFill>
                  <a:srgbClr val="1A1A1A"/>
                </a:solidFill>
                <a:latin typeface="Inter" pitchFamily="34" charset="0"/>
                <a:ea typeface="Inter" pitchFamily="34" charset="-122"/>
                <a:cs typeface="Inter" pitchFamily="34" charset="-120"/>
              </a:rPr>
              <a:t>Warranty</a:t>
            </a:r>
            <a:endParaRPr lang="en-US" sz="1700" dirty="0"/>
          </a:p>
        </p:txBody>
      </p:sp>
      <p:sp>
        <p:nvSpPr>
          <p:cNvPr id="20" name="Shape 17"/>
          <p:cNvSpPr/>
          <p:nvPr/>
        </p:nvSpPr>
        <p:spPr>
          <a:xfrm>
            <a:off x="5001768" y="5696712"/>
            <a:ext cx="1956816" cy="45720"/>
          </a:xfrm>
          <a:prstGeom prst="rect">
            <a:avLst/>
          </a:prstGeom>
          <a:solidFill>
            <a:srgbClr val="D9D9D9"/>
          </a:solidFill>
          <a:ln/>
        </p:spPr>
      </p:sp>
      <p:sp>
        <p:nvSpPr>
          <p:cNvPr id="21" name="Text 18"/>
          <p:cNvSpPr txBox="1"/>
          <p:nvPr/>
        </p:nvSpPr>
        <p:spPr>
          <a:xfrm>
            <a:off x="5001768" y="5879592"/>
            <a:ext cx="1956816" cy="365760"/>
          </a:xfrm>
          <a:prstGeom prst="rect">
            <a:avLst/>
          </a:prstGeom>
          <a:noFill/>
          <a:ln/>
        </p:spPr>
        <p:txBody>
          <a:bodyPr wrap="square" lIns="0" tIns="0" rIns="0" bIns="0" rtlCol="0" anchor="ctr"/>
          <a:lstStyle/>
          <a:p>
            <a:pPr indent="0" marL="0">
              <a:buNone/>
            </a:pPr>
            <a:r>
              <a:rPr lang="en-US" sz="1700" dirty="0">
                <a:solidFill>
                  <a:srgbClr val="595959"/>
                </a:solidFill>
                <a:latin typeface="Inter" pitchFamily="34" charset="0"/>
                <a:ea typeface="Inter" pitchFamily="34" charset="-122"/>
                <a:cs typeface="Inter" pitchFamily="34" charset="-120"/>
              </a:rPr>
              <a:t>Close</a:t>
            </a:r>
            <a:endParaRPr lang="en-US" sz="17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85800" y="566928"/>
            <a:ext cx="1828800" cy="555955"/>
          </a:xfrm>
          <a:prstGeom prst="rect">
            <a:avLst/>
          </a:prstGeom>
        </p:spPr>
      </p:pic>
      <p:sp>
        <p:nvSpPr>
          <p:cNvPr id="3" name="Text 0"/>
          <p:cNvSpPr txBox="1"/>
          <p:nvPr/>
        </p:nvSpPr>
        <p:spPr>
          <a:xfrm>
            <a:off x="713232" y="2121408"/>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SECTION 08</a:t>
            </a:r>
            <a:endParaRPr lang="en-US" sz="2000" dirty="0"/>
          </a:p>
        </p:txBody>
      </p:sp>
      <p:sp>
        <p:nvSpPr>
          <p:cNvPr id="4" name="Text 1"/>
          <p:cNvSpPr txBox="1"/>
          <p:nvPr/>
        </p:nvSpPr>
        <p:spPr>
          <a:xfrm>
            <a:off x="667512" y="2487168"/>
            <a:ext cx="10789920" cy="1188720"/>
          </a:xfrm>
          <a:prstGeom prst="rect">
            <a:avLst/>
          </a:prstGeom>
          <a:noFill/>
          <a:ln/>
        </p:spPr>
        <p:txBody>
          <a:bodyPr wrap="none" lIns="0" tIns="0" rIns="0" bIns="0" rtlCol="0" anchor="ctr"/>
          <a:lstStyle/>
          <a:p>
            <a:pPr indent="0" marL="0">
              <a:buNone/>
            </a:pPr>
            <a:r>
              <a:rPr lang="en-US" sz="7600" b="1" dirty="0">
                <a:solidFill>
                  <a:srgbClr val="1A1A1A"/>
                </a:solidFill>
                <a:latin typeface="Inter" pitchFamily="34" charset="0"/>
                <a:ea typeface="Inter" pitchFamily="34" charset="-122"/>
                <a:cs typeface="Inter" pitchFamily="34" charset="-120"/>
              </a:rPr>
              <a:t>Close</a:t>
            </a:r>
            <a:endParaRPr lang="en-US" sz="7600" dirty="0"/>
          </a:p>
        </p:txBody>
      </p:sp>
      <p:sp>
        <p:nvSpPr>
          <p:cNvPr id="5" name="Text 2"/>
          <p:cNvSpPr txBox="1"/>
          <p:nvPr/>
        </p:nvSpPr>
        <p:spPr>
          <a:xfrm>
            <a:off x="694944" y="376732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Most improved   ·   Where the money is   ·   Store prescriptions</a:t>
            </a:r>
            <a:endParaRPr lang="en-US" sz="2200" dirty="0"/>
          </a:p>
        </p:txBody>
      </p:sp>
      <p:sp>
        <p:nvSpPr>
          <p:cNvPr id="6" name="Shape 3"/>
          <p:cNvSpPr/>
          <p:nvPr/>
        </p:nvSpPr>
        <p:spPr>
          <a:xfrm>
            <a:off x="685800" y="4983480"/>
            <a:ext cx="1956816" cy="45720"/>
          </a:xfrm>
          <a:prstGeom prst="rect">
            <a:avLst/>
          </a:prstGeom>
          <a:solidFill>
            <a:srgbClr val="5B9BD5"/>
          </a:solidFill>
          <a:ln/>
        </p:spPr>
      </p:sp>
      <p:sp>
        <p:nvSpPr>
          <p:cNvPr id="7" name="Text 4"/>
          <p:cNvSpPr txBox="1"/>
          <p:nvPr/>
        </p:nvSpPr>
        <p:spPr>
          <a:xfrm>
            <a:off x="685800" y="5166360"/>
            <a:ext cx="1956816" cy="365760"/>
          </a:xfrm>
          <a:prstGeom prst="rect">
            <a:avLst/>
          </a:prstGeom>
          <a:noFill/>
          <a:ln/>
        </p:spPr>
        <p:txBody>
          <a:bodyPr wrap="square" lIns="0" tIns="0" rIns="0" bIns="0" rtlCol="0" anchor="ctr"/>
          <a:lstStyle/>
          <a:p>
            <a:pPr indent="0" marL="0">
              <a:buNone/>
            </a:pPr>
            <a:r>
              <a:rPr lang="en-US" sz="1700" dirty="0">
                <a:solidFill>
                  <a:srgbClr val="595959"/>
                </a:solidFill>
                <a:latin typeface="Inter" pitchFamily="34" charset="0"/>
                <a:ea typeface="Inter" pitchFamily="34" charset="-122"/>
                <a:cs typeface="Inter" pitchFamily="34" charset="-120"/>
              </a:rPr>
              <a:t>Gross</a:t>
            </a:r>
            <a:endParaRPr lang="en-US" sz="1700" dirty="0"/>
          </a:p>
        </p:txBody>
      </p:sp>
      <p:sp>
        <p:nvSpPr>
          <p:cNvPr id="8" name="Shape 5"/>
          <p:cNvSpPr/>
          <p:nvPr/>
        </p:nvSpPr>
        <p:spPr>
          <a:xfrm>
            <a:off x="2843784" y="4983480"/>
            <a:ext cx="1956816" cy="45720"/>
          </a:xfrm>
          <a:prstGeom prst="rect">
            <a:avLst/>
          </a:prstGeom>
          <a:solidFill>
            <a:srgbClr val="5B9BD5"/>
          </a:solidFill>
          <a:ln/>
        </p:spPr>
      </p:sp>
      <p:sp>
        <p:nvSpPr>
          <p:cNvPr id="9" name="Text 6"/>
          <p:cNvSpPr txBox="1"/>
          <p:nvPr/>
        </p:nvSpPr>
        <p:spPr>
          <a:xfrm>
            <a:off x="2843784" y="5166360"/>
            <a:ext cx="1956816" cy="365760"/>
          </a:xfrm>
          <a:prstGeom prst="rect">
            <a:avLst/>
          </a:prstGeom>
          <a:noFill/>
          <a:ln/>
        </p:spPr>
        <p:txBody>
          <a:bodyPr wrap="square" lIns="0" tIns="0" rIns="0" bIns="0" rtlCol="0" anchor="ctr"/>
          <a:lstStyle/>
          <a:p>
            <a:pPr indent="0" marL="0">
              <a:buNone/>
            </a:pPr>
            <a:r>
              <a:rPr lang="en-US" sz="1700" dirty="0">
                <a:solidFill>
                  <a:srgbClr val="595959"/>
                </a:solidFill>
                <a:latin typeface="Inter" pitchFamily="34" charset="0"/>
                <a:ea typeface="Inter" pitchFamily="34" charset="-122"/>
                <a:cs typeface="Inter" pitchFamily="34" charset="-120"/>
              </a:rPr>
              <a:t>Profitability</a:t>
            </a:r>
            <a:endParaRPr lang="en-US" sz="1700" dirty="0"/>
          </a:p>
        </p:txBody>
      </p:sp>
      <p:sp>
        <p:nvSpPr>
          <p:cNvPr id="10" name="Shape 7"/>
          <p:cNvSpPr/>
          <p:nvPr/>
        </p:nvSpPr>
        <p:spPr>
          <a:xfrm>
            <a:off x="5001768" y="4983480"/>
            <a:ext cx="1956816" cy="45720"/>
          </a:xfrm>
          <a:prstGeom prst="rect">
            <a:avLst/>
          </a:prstGeom>
          <a:solidFill>
            <a:srgbClr val="5B9BD5"/>
          </a:solidFill>
          <a:ln/>
        </p:spPr>
      </p:sp>
      <p:sp>
        <p:nvSpPr>
          <p:cNvPr id="11" name="Text 8"/>
          <p:cNvSpPr txBox="1"/>
          <p:nvPr/>
        </p:nvSpPr>
        <p:spPr>
          <a:xfrm>
            <a:off x="5001768" y="5166360"/>
            <a:ext cx="1956816" cy="365760"/>
          </a:xfrm>
          <a:prstGeom prst="rect">
            <a:avLst/>
          </a:prstGeom>
          <a:noFill/>
          <a:ln/>
        </p:spPr>
        <p:txBody>
          <a:bodyPr wrap="square" lIns="0" tIns="0" rIns="0" bIns="0" rtlCol="0" anchor="ctr"/>
          <a:lstStyle/>
          <a:p>
            <a:pPr indent="0" marL="0">
              <a:buNone/>
            </a:pPr>
            <a:r>
              <a:rPr lang="en-US" sz="1700" dirty="0">
                <a:solidFill>
                  <a:srgbClr val="595959"/>
                </a:solidFill>
                <a:latin typeface="Inter" pitchFamily="34" charset="0"/>
                <a:ea typeface="Inter" pitchFamily="34" charset="-122"/>
                <a:cs typeface="Inter" pitchFamily="34" charset="-120"/>
              </a:rPr>
              <a:t>Customer Pay</a:t>
            </a:r>
            <a:endParaRPr lang="en-US" sz="1700" dirty="0"/>
          </a:p>
        </p:txBody>
      </p:sp>
      <p:sp>
        <p:nvSpPr>
          <p:cNvPr id="12" name="Shape 9"/>
          <p:cNvSpPr/>
          <p:nvPr/>
        </p:nvSpPr>
        <p:spPr>
          <a:xfrm>
            <a:off x="7159752" y="4983480"/>
            <a:ext cx="1956816" cy="45720"/>
          </a:xfrm>
          <a:prstGeom prst="rect">
            <a:avLst/>
          </a:prstGeom>
          <a:solidFill>
            <a:srgbClr val="5B9BD5"/>
          </a:solidFill>
          <a:ln/>
        </p:spPr>
      </p:sp>
      <p:sp>
        <p:nvSpPr>
          <p:cNvPr id="13" name="Text 10"/>
          <p:cNvSpPr txBox="1"/>
          <p:nvPr/>
        </p:nvSpPr>
        <p:spPr>
          <a:xfrm>
            <a:off x="7159752" y="5166360"/>
            <a:ext cx="1956816" cy="365760"/>
          </a:xfrm>
          <a:prstGeom prst="rect">
            <a:avLst/>
          </a:prstGeom>
          <a:noFill/>
          <a:ln/>
        </p:spPr>
        <p:txBody>
          <a:bodyPr wrap="square" lIns="0" tIns="0" rIns="0" bIns="0" rtlCol="0" anchor="ctr"/>
          <a:lstStyle/>
          <a:p>
            <a:pPr indent="0" marL="0">
              <a:buNone/>
            </a:pPr>
            <a:r>
              <a:rPr lang="en-US" sz="1700" dirty="0">
                <a:solidFill>
                  <a:srgbClr val="595959"/>
                </a:solidFill>
                <a:latin typeface="Inter" pitchFamily="34" charset="0"/>
                <a:ea typeface="Inter" pitchFamily="34" charset="-122"/>
                <a:cs typeface="Inter" pitchFamily="34" charset="-120"/>
              </a:rPr>
              <a:t>Opcodes</a:t>
            </a:r>
            <a:endParaRPr lang="en-US" sz="1700" dirty="0"/>
          </a:p>
        </p:txBody>
      </p:sp>
      <p:sp>
        <p:nvSpPr>
          <p:cNvPr id="14" name="Shape 11"/>
          <p:cNvSpPr/>
          <p:nvPr/>
        </p:nvSpPr>
        <p:spPr>
          <a:xfrm>
            <a:off x="9317736" y="4983480"/>
            <a:ext cx="1956816" cy="45720"/>
          </a:xfrm>
          <a:prstGeom prst="rect">
            <a:avLst/>
          </a:prstGeom>
          <a:solidFill>
            <a:srgbClr val="5B9BD5"/>
          </a:solidFill>
          <a:ln/>
        </p:spPr>
      </p:sp>
      <p:sp>
        <p:nvSpPr>
          <p:cNvPr id="15" name="Text 12"/>
          <p:cNvSpPr txBox="1"/>
          <p:nvPr/>
        </p:nvSpPr>
        <p:spPr>
          <a:xfrm>
            <a:off x="9317736" y="5166360"/>
            <a:ext cx="1956816" cy="365760"/>
          </a:xfrm>
          <a:prstGeom prst="rect">
            <a:avLst/>
          </a:prstGeom>
          <a:noFill/>
          <a:ln/>
        </p:spPr>
        <p:txBody>
          <a:bodyPr wrap="square" lIns="0" tIns="0" rIns="0" bIns="0" rtlCol="0" anchor="ctr"/>
          <a:lstStyle/>
          <a:p>
            <a:pPr indent="0" marL="0">
              <a:buNone/>
            </a:pPr>
            <a:r>
              <a:rPr lang="en-US" sz="1700" dirty="0">
                <a:solidFill>
                  <a:srgbClr val="595959"/>
                </a:solidFill>
                <a:latin typeface="Inter" pitchFamily="34" charset="0"/>
                <a:ea typeface="Inter" pitchFamily="34" charset="-122"/>
                <a:cs typeface="Inter" pitchFamily="34" charset="-120"/>
              </a:rPr>
              <a:t>Internal</a:t>
            </a:r>
            <a:endParaRPr lang="en-US" sz="1700" dirty="0"/>
          </a:p>
        </p:txBody>
      </p:sp>
      <p:sp>
        <p:nvSpPr>
          <p:cNvPr id="16" name="Shape 13"/>
          <p:cNvSpPr/>
          <p:nvPr/>
        </p:nvSpPr>
        <p:spPr>
          <a:xfrm>
            <a:off x="685800" y="5696712"/>
            <a:ext cx="1956816" cy="45720"/>
          </a:xfrm>
          <a:prstGeom prst="rect">
            <a:avLst/>
          </a:prstGeom>
          <a:solidFill>
            <a:srgbClr val="5B9BD5"/>
          </a:solidFill>
          <a:ln/>
        </p:spPr>
      </p:sp>
      <p:sp>
        <p:nvSpPr>
          <p:cNvPr id="17" name="Text 14"/>
          <p:cNvSpPr txBox="1"/>
          <p:nvPr/>
        </p:nvSpPr>
        <p:spPr>
          <a:xfrm>
            <a:off x="685800" y="5879592"/>
            <a:ext cx="1956816" cy="365760"/>
          </a:xfrm>
          <a:prstGeom prst="rect">
            <a:avLst/>
          </a:prstGeom>
          <a:noFill/>
          <a:ln/>
        </p:spPr>
        <p:txBody>
          <a:bodyPr wrap="square" lIns="0" tIns="0" rIns="0" bIns="0" rtlCol="0" anchor="ctr"/>
          <a:lstStyle/>
          <a:p>
            <a:pPr indent="0" marL="0">
              <a:buNone/>
            </a:pPr>
            <a:r>
              <a:rPr lang="en-US" sz="1700" dirty="0">
                <a:solidFill>
                  <a:srgbClr val="595959"/>
                </a:solidFill>
                <a:latin typeface="Inter" pitchFamily="34" charset="0"/>
                <a:ea typeface="Inter" pitchFamily="34" charset="-122"/>
                <a:cs typeface="Inter" pitchFamily="34" charset="-120"/>
              </a:rPr>
              <a:t>Productivity</a:t>
            </a:r>
            <a:endParaRPr lang="en-US" sz="1700" dirty="0"/>
          </a:p>
        </p:txBody>
      </p:sp>
      <p:sp>
        <p:nvSpPr>
          <p:cNvPr id="18" name="Shape 15"/>
          <p:cNvSpPr/>
          <p:nvPr/>
        </p:nvSpPr>
        <p:spPr>
          <a:xfrm>
            <a:off x="2843784" y="5696712"/>
            <a:ext cx="1956816" cy="45720"/>
          </a:xfrm>
          <a:prstGeom prst="rect">
            <a:avLst/>
          </a:prstGeom>
          <a:solidFill>
            <a:srgbClr val="5B9BD5"/>
          </a:solidFill>
          <a:ln/>
        </p:spPr>
      </p:sp>
      <p:sp>
        <p:nvSpPr>
          <p:cNvPr id="19" name="Text 16"/>
          <p:cNvSpPr txBox="1"/>
          <p:nvPr/>
        </p:nvSpPr>
        <p:spPr>
          <a:xfrm>
            <a:off x="2843784" y="5879592"/>
            <a:ext cx="1956816" cy="365760"/>
          </a:xfrm>
          <a:prstGeom prst="rect">
            <a:avLst/>
          </a:prstGeom>
          <a:noFill/>
          <a:ln/>
        </p:spPr>
        <p:txBody>
          <a:bodyPr wrap="square" lIns="0" tIns="0" rIns="0" bIns="0" rtlCol="0" anchor="ctr"/>
          <a:lstStyle/>
          <a:p>
            <a:pPr indent="0" marL="0">
              <a:buNone/>
            </a:pPr>
            <a:r>
              <a:rPr lang="en-US" sz="1700" dirty="0">
                <a:solidFill>
                  <a:srgbClr val="595959"/>
                </a:solidFill>
                <a:latin typeface="Inter" pitchFamily="34" charset="0"/>
                <a:ea typeface="Inter" pitchFamily="34" charset="-122"/>
                <a:cs typeface="Inter" pitchFamily="34" charset="-120"/>
              </a:rPr>
              <a:t>Warranty</a:t>
            </a:r>
            <a:endParaRPr lang="en-US" sz="1700" dirty="0"/>
          </a:p>
        </p:txBody>
      </p:sp>
      <p:sp>
        <p:nvSpPr>
          <p:cNvPr id="20" name="Shape 17"/>
          <p:cNvSpPr/>
          <p:nvPr/>
        </p:nvSpPr>
        <p:spPr>
          <a:xfrm>
            <a:off x="5001768" y="5696712"/>
            <a:ext cx="1956816" cy="91440"/>
          </a:xfrm>
          <a:prstGeom prst="rect">
            <a:avLst/>
          </a:prstGeom>
          <a:solidFill>
            <a:srgbClr val="2587C5"/>
          </a:solidFill>
          <a:ln/>
        </p:spPr>
      </p:sp>
      <p:sp>
        <p:nvSpPr>
          <p:cNvPr id="21" name="Text 18"/>
          <p:cNvSpPr txBox="1"/>
          <p:nvPr/>
        </p:nvSpPr>
        <p:spPr>
          <a:xfrm>
            <a:off x="5001768" y="5879592"/>
            <a:ext cx="1956816" cy="365760"/>
          </a:xfrm>
          <a:prstGeom prst="rect">
            <a:avLst/>
          </a:prstGeom>
          <a:noFill/>
          <a:ln/>
        </p:spPr>
        <p:txBody>
          <a:bodyPr wrap="square" lIns="0" tIns="0" rIns="0" bIns="0" rtlCol="0" anchor="ctr"/>
          <a:lstStyle/>
          <a:p>
            <a:pPr indent="0" marL="0">
              <a:buNone/>
            </a:pPr>
            <a:r>
              <a:rPr lang="en-US" sz="1700" b="1" dirty="0">
                <a:solidFill>
                  <a:srgbClr val="1A1A1A"/>
                </a:solidFill>
                <a:latin typeface="Inter" pitchFamily="34" charset="0"/>
                <a:ea typeface="Inter" pitchFamily="34" charset="-122"/>
                <a:cs typeface="Inter" pitchFamily="34" charset="-120"/>
              </a:rPr>
              <a:t>Close</a:t>
            </a:r>
            <a:endParaRPr lang="en-US" sz="1700" dirty="0"/>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Acura</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$2.89M</a:t>
            </a:r>
            <a:pPr indent="0" marL="0">
              <a:buNone/>
            </a:pPr>
            <a:r>
              <a:rPr lang="en-US" sz="1400" b="1" dirty="0">
                <a:solidFill>
                  <a:srgbClr val="A82B26"/>
                </a:solidFill>
                <a:latin typeface="Inter" pitchFamily="34" charset="0"/>
                <a:ea typeface="Inter" pitchFamily="34" charset="-122"/>
                <a:cs typeface="Inter" pitchFamily="34" charset="-120"/>
              </a:rPr>
              <a:t>  −$517K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$476,154</a:t>
            </a:r>
            <a:pPr indent="0" marL="0">
              <a:buNone/>
            </a:pPr>
            <a:r>
              <a:rPr lang="en-US" sz="1400" b="1" dirty="0">
                <a:solidFill>
                  <a:srgbClr val="0B7A4A"/>
                </a:solidFill>
                <a:latin typeface="Inter" pitchFamily="34" charset="0"/>
                <a:ea typeface="Inter" pitchFamily="34" charset="-122"/>
                <a:cs typeface="Inter" pitchFamily="34" charset="-120"/>
              </a:rPr>
              <a:t>  +$217K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63.1%</a:t>
            </a:r>
            <a:endParaRPr lang="en-US" sz="2200" dirty="0"/>
          </a:p>
        </p:txBody>
      </p:sp>
      <p:sp>
        <p:nvSpPr>
          <p:cNvPr id="14" name="Shape 12"/>
          <p:cNvSpPr/>
          <p:nvPr/>
        </p:nvSpPr>
        <p:spPr>
          <a:xfrm>
            <a:off x="7185660" y="1563624"/>
            <a:ext cx="64008" cy="256032"/>
          </a:xfrm>
          <a:prstGeom prst="rect">
            <a:avLst/>
          </a:prstGeom>
          <a:solidFill>
            <a:srgbClr val="C2352F"/>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3,671</a:t>
            </a:r>
            <a:pPr indent="0" marL="0">
              <a:buNone/>
            </a:pPr>
            <a:r>
              <a:rPr lang="en-US" sz="1400" b="1" dirty="0">
                <a:solidFill>
                  <a:srgbClr val="A82B26"/>
                </a:solidFill>
                <a:latin typeface="Inter" pitchFamily="34" charset="0"/>
                <a:ea typeface="Inter" pitchFamily="34" charset="-122"/>
                <a:cs typeface="Inter" pitchFamily="34" charset="-120"/>
              </a:rPr>
              <a:t>  −239</a:t>
            </a:r>
            <a:endParaRPr lang="en-US" sz="2200" dirty="0"/>
          </a:p>
        </p:txBody>
      </p:sp>
      <p:sp>
        <p:nvSpPr>
          <p:cNvPr id="19" name="Shape 17"/>
          <p:cNvSpPr/>
          <p:nvPr/>
        </p:nvSpPr>
        <p:spPr>
          <a:xfrm>
            <a:off x="3845560" y="658368"/>
            <a:ext cx="7886192" cy="475488"/>
          </a:xfrm>
          <a:prstGeom prst="rect">
            <a:avLst/>
          </a:prstGeom>
          <a:solidFill>
            <a:srgbClr val="EDF4FA"/>
          </a:solidFill>
          <a:ln/>
        </p:spPr>
      </p:sp>
      <p:sp>
        <p:nvSpPr>
          <p:cNvPr id="20" name="Text 18"/>
          <p:cNvSpPr txBox="1"/>
          <p:nvPr/>
        </p:nvSpPr>
        <p:spPr>
          <a:xfrm>
            <a:off x="3973576" y="658368"/>
            <a:ext cx="7630160"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YOUR BEST PLACES</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4th · Parts GP 44.9%   ·   4th · Brake fluid 12.7%   ·   4th · Fuel service 9.3%</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1</a:t>
            </a:r>
            <a:endParaRPr lang="en-US" sz="15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Techs under 85%</a:t>
            </a:r>
            <a:endParaRPr lang="en-US" sz="15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11 of 11</a:t>
            </a:r>
            <a:endParaRPr lang="en-US" sz="15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85%</a:t>
            </a:r>
            <a:pPr indent="0" marL="0">
              <a:buNone/>
            </a:pPr>
            <a:r>
              <a:rPr lang="en-US" sz="1500" dirty="0">
                <a:solidFill>
                  <a:srgbClr val="595959"/>
                </a:solidFill>
                <a:latin typeface="Inter" pitchFamily="34" charset="0"/>
                <a:ea typeface="Inter" pitchFamily="34" charset="-122"/>
                <a:cs typeface="Inter" pitchFamily="34" charset="-120"/>
              </a:rPr>
              <a:t> benchmark</a:t>
            </a:r>
            <a:endParaRPr lang="en-US" sz="15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$911K</a:t>
            </a:r>
            <a:endParaRPr lang="en-US" sz="15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Dispatch, staging and approvals: flag 85%.</a:t>
            </a:r>
            <a:endParaRPr lang="en-US" sz="15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2</a:t>
            </a:r>
            <a:endParaRPr lang="en-US" sz="15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Service gross</a:t>
            </a:r>
            <a:endParaRPr lang="en-US" sz="15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$1.89M</a:t>
            </a:r>
            <a:endParaRPr lang="en-US" sz="15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$2.33M</a:t>
            </a:r>
            <a:pPr indent="0" marL="0">
              <a:buNone/>
            </a:pPr>
            <a:r>
              <a:rPr lang="en-US" sz="1500" dirty="0">
                <a:solidFill>
                  <a:srgbClr val="595959"/>
                </a:solidFill>
                <a:latin typeface="Inter" pitchFamily="34" charset="0"/>
                <a:ea typeface="Inter" pitchFamily="34" charset="-122"/>
                <a:cs typeface="Inter" pitchFamily="34" charset="-120"/>
              </a:rPr>
              <a:t> in 2025</a:t>
            </a:r>
            <a:endParaRPr lang="en-US" sz="15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$584K</a:t>
            </a:r>
            <a:endParaRPr lang="en-US" sz="15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Sell the MPI; price menus to market.</a:t>
            </a:r>
            <a:endParaRPr lang="en-US" sz="15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3</a:t>
            </a:r>
            <a:endParaRPr lang="en-US" sz="15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CP hours per RO</a:t>
            </a:r>
            <a:endParaRPr lang="en-US" sz="15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1.42</a:t>
            </a:r>
            <a:endParaRPr lang="en-US" sz="15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1.75</a:t>
            </a:r>
            <a:pPr indent="0" marL="0">
              <a:buNone/>
            </a:pPr>
            <a:r>
              <a:rPr lang="en-US" sz="1500" dirty="0">
                <a:solidFill>
                  <a:srgbClr val="595959"/>
                </a:solidFill>
                <a:latin typeface="Inter" pitchFamily="34" charset="0"/>
                <a:ea typeface="Inter" pitchFamily="34" charset="-122"/>
                <a:cs typeface="Inter" pitchFamily="34" charset="-120"/>
              </a:rPr>
              <a:t> peer avg</a:t>
            </a:r>
            <a:endParaRPr lang="en-US" sz="15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$292K</a:t>
            </a:r>
            <a:endParaRPr lang="en-US" sz="15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Present every MPI finding: +0.33 hr per RO.</a:t>
            </a:r>
            <a:endParaRPr lang="en-US" sz="15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4</a:t>
            </a:r>
            <a:endParaRPr lang="en-US" sz="15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CP RO count</a:t>
            </a:r>
            <a:endParaRPr lang="en-US" sz="15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3,671</a:t>
            </a:r>
            <a:endParaRPr lang="en-US" sz="15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3,910</a:t>
            </a:r>
            <a:pPr indent="0" marL="0">
              <a:buNone/>
            </a:pPr>
            <a:r>
              <a:rPr lang="en-US" sz="1500" dirty="0">
                <a:solidFill>
                  <a:srgbClr val="595959"/>
                </a:solidFill>
                <a:latin typeface="Inter" pitchFamily="34" charset="0"/>
                <a:ea typeface="Inter" pitchFamily="34" charset="-122"/>
                <a:cs typeface="Inter" pitchFamily="34" charset="-120"/>
              </a:rPr>
              <a:t> in 2025</a:t>
            </a:r>
            <a:endParaRPr lang="en-US" sz="15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$109K</a:t>
            </a:r>
            <a:endParaRPr lang="en-US" sz="15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Win back lapsed customers: 319 more ROs.</a:t>
            </a:r>
            <a:endParaRPr lang="en-US" sz="15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5</a:t>
            </a:r>
            <a:endParaRPr lang="en-US" sz="15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Parts gross</a:t>
            </a:r>
            <a:endParaRPr lang="en-US" sz="15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$1.01M</a:t>
            </a:r>
            <a:endParaRPr lang="en-US" sz="15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$1.08M</a:t>
            </a:r>
            <a:pPr indent="0" marL="0">
              <a:buNone/>
            </a:pPr>
            <a:r>
              <a:rPr lang="en-US" sz="1500" dirty="0">
                <a:solidFill>
                  <a:srgbClr val="595959"/>
                </a:solidFill>
                <a:latin typeface="Inter" pitchFamily="34" charset="0"/>
                <a:ea typeface="Inter" pitchFamily="34" charset="-122"/>
                <a:cs typeface="Inter" pitchFamily="34" charset="-120"/>
              </a:rPr>
              <a:t> in 2025</a:t>
            </a:r>
            <a:endParaRPr lang="en-US" sz="15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$105K</a:t>
            </a:r>
            <a:endParaRPr lang="en-US" sz="15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Parts on every RO; wholesale that pays.</a:t>
            </a:r>
            <a:endParaRPr lang="en-US" sz="1500" dirty="0"/>
          </a:p>
        </p:txBody>
      </p:sp>
      <p:sp>
        <p:nvSpPr>
          <p:cNvPr id="61" name="Shape 59"/>
          <p:cNvSpPr/>
          <p:nvPr/>
        </p:nvSpPr>
        <p:spPr>
          <a:xfrm>
            <a:off x="658368" y="4054450"/>
            <a:ext cx="10872216" cy="10973"/>
          </a:xfrm>
          <a:prstGeom prst="rect">
            <a:avLst/>
          </a:prstGeom>
          <a:solidFill>
            <a:srgbClr val="9AA3AD"/>
          </a:solidFill>
          <a:ln/>
        </p:spPr>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6</a:t>
            </a:r>
            <a:endParaRPr lang="en-US" sz="15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MPI completion</a:t>
            </a:r>
            <a:endParaRPr lang="en-US" sz="15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83.4%</a:t>
            </a:r>
            <a:endParaRPr lang="en-US" sz="15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90%</a:t>
            </a:r>
            <a:pPr indent="0" marL="0">
              <a:buNone/>
            </a:pPr>
            <a:r>
              <a:rPr lang="en-US" sz="1500" dirty="0">
                <a:solidFill>
                  <a:srgbClr val="595959"/>
                </a:solidFill>
                <a:latin typeface="Inter" pitchFamily="34" charset="0"/>
                <a:ea typeface="Inter" pitchFamily="34" charset="-122"/>
                <a:cs typeface="Inter" pitchFamily="34" charset="-120"/>
              </a:rPr>
              <a:t> benchmark</a:t>
            </a:r>
            <a:endParaRPr lang="en-US" sz="15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500" dirty="0">
                <a:solidFill>
                  <a:srgbClr val="9AA3AD"/>
                </a:solidFill>
                <a:latin typeface="Inter" pitchFamily="34" charset="0"/>
                <a:ea typeface="Inter" pitchFamily="34" charset="-122"/>
                <a:cs typeface="Inter" pitchFamily="34" charset="-120"/>
              </a:rPr>
              <a:t>—</a:t>
            </a:r>
            <a:endParaRPr lang="en-US" sz="15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MPI every car: 425 more a year.</a:t>
            </a:r>
            <a:endParaRPr lang="en-US" sz="1500" dirty="0"/>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Audi Henderson</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$12.34M</a:t>
            </a:r>
            <a:pPr indent="0" marL="0">
              <a:buNone/>
            </a:pPr>
            <a:r>
              <a:rPr lang="en-US" sz="1400" b="1" dirty="0">
                <a:solidFill>
                  <a:srgbClr val="0B7A4A"/>
                </a:solidFill>
                <a:latin typeface="Inter" pitchFamily="34" charset="0"/>
                <a:ea typeface="Inter" pitchFamily="34" charset="-122"/>
                <a:cs typeface="Inter" pitchFamily="34" charset="-120"/>
              </a:rPr>
              <a:t>  +$1.70M</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$4.94M</a:t>
            </a:r>
            <a:pPr indent="0" marL="0">
              <a:buNone/>
            </a:pPr>
            <a:r>
              <a:rPr lang="en-US" sz="1400" b="1" dirty="0">
                <a:solidFill>
                  <a:srgbClr val="0B7A4A"/>
                </a:solidFill>
                <a:latin typeface="Inter" pitchFamily="34" charset="0"/>
                <a:ea typeface="Inter" pitchFamily="34" charset="-122"/>
                <a:cs typeface="Inter" pitchFamily="34" charset="-120"/>
              </a:rPr>
              <a:t>  +$838K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1161288"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106.6%</a:t>
            </a:r>
            <a:endParaRPr lang="en-US" sz="2200" dirty="0"/>
          </a:p>
        </p:txBody>
      </p:sp>
      <p:sp>
        <p:nvSpPr>
          <p:cNvPr id="14" name="Shape 12"/>
          <p:cNvSpPr/>
          <p:nvPr/>
        </p:nvSpPr>
        <p:spPr>
          <a:xfrm>
            <a:off x="7370064" y="1563624"/>
            <a:ext cx="64008" cy="256032"/>
          </a:xfrm>
          <a:prstGeom prst="rect">
            <a:avLst/>
          </a:prstGeom>
          <a:solidFill>
            <a:srgbClr val="12A566"/>
          </a:solidFill>
          <a:ln/>
        </p:spPr>
      </p:sp>
      <p:sp>
        <p:nvSpPr>
          <p:cNvPr id="15" name="Text 13"/>
          <p:cNvSpPr txBox="1"/>
          <p:nvPr/>
        </p:nvSpPr>
        <p:spPr>
          <a:xfrm>
            <a:off x="7525512" y="1517904"/>
            <a:ext cx="1335024"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3,779</a:t>
            </a:r>
            <a:pPr indent="0" marL="0">
              <a:buNone/>
            </a:pPr>
            <a:r>
              <a:rPr lang="en-US" sz="1400" b="1" dirty="0">
                <a:solidFill>
                  <a:srgbClr val="0B7A4A"/>
                </a:solidFill>
                <a:latin typeface="Inter" pitchFamily="34" charset="0"/>
                <a:ea typeface="Inter" pitchFamily="34" charset="-122"/>
                <a:cs typeface="Inter" pitchFamily="34" charset="-120"/>
              </a:rPr>
              <a:t>  +126</a:t>
            </a:r>
            <a:endParaRPr lang="en-US" sz="2200" dirty="0"/>
          </a:p>
        </p:txBody>
      </p:sp>
      <p:sp>
        <p:nvSpPr>
          <p:cNvPr id="19" name="Shape 17"/>
          <p:cNvSpPr/>
          <p:nvPr/>
        </p:nvSpPr>
        <p:spPr>
          <a:xfrm>
            <a:off x="4034028" y="658368"/>
            <a:ext cx="7697724" cy="475488"/>
          </a:xfrm>
          <a:prstGeom prst="rect">
            <a:avLst/>
          </a:prstGeom>
          <a:solidFill>
            <a:srgbClr val="EDF4FA"/>
          </a:solidFill>
          <a:ln/>
        </p:spPr>
      </p:sp>
      <p:sp>
        <p:nvSpPr>
          <p:cNvPr id="20" name="Text 18"/>
          <p:cNvSpPr txBox="1"/>
          <p:nvPr/>
        </p:nvSpPr>
        <p:spPr>
          <a:xfrm>
            <a:off x="4162044" y="658368"/>
            <a:ext cx="7441692"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1st · Absorption 106.6%   ·   1st · CP ELR $266   ·   1st · Gross/head $23,461</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13 of 23</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$1.22M</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13 under 85%: dispatch, parts.</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33.6%</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41.3%</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$284K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2.4%</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$74K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380 more a year.</a:t>
            </a:r>
            <a:endParaRPr lang="en-US" sz="1400" dirty="0"/>
          </a:p>
        </p:txBody>
      </p:sp>
      <p:sp>
        <p:nvSpPr>
          <p:cNvPr id="48" name="Shape 46"/>
          <p:cNvSpPr/>
          <p:nvPr/>
        </p:nvSpPr>
        <p:spPr>
          <a:xfrm>
            <a:off x="658368" y="3396082"/>
            <a:ext cx="10872216" cy="10973"/>
          </a:xfrm>
          <a:prstGeom prst="rect">
            <a:avLst/>
          </a:prstGeom>
          <a:solidFill>
            <a:srgbClr val="9AA3AD"/>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79.0%</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1,272 more a year.</a:t>
            </a:r>
            <a:endParaRPr lang="en-US" sz="1400" dirty="0"/>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Audi Reno</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$4.46M</a:t>
            </a:r>
            <a:pPr indent="0" marL="0">
              <a:buNone/>
            </a:pPr>
            <a:r>
              <a:rPr lang="en-US" sz="1400" b="1" dirty="0">
                <a:solidFill>
                  <a:srgbClr val="A82B26"/>
                </a:solidFill>
                <a:latin typeface="Inter" pitchFamily="34" charset="0"/>
                <a:ea typeface="Inter" pitchFamily="34" charset="-122"/>
                <a:cs typeface="Inter" pitchFamily="34" charset="-120"/>
              </a:rPr>
              <a:t>  −$520K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$1.82M</a:t>
            </a:r>
            <a:pPr indent="0" marL="0">
              <a:buNone/>
            </a:pPr>
            <a:r>
              <a:rPr lang="en-US" sz="1400" b="1" dirty="0">
                <a:solidFill>
                  <a:srgbClr val="A82B26"/>
                </a:solidFill>
                <a:latin typeface="Inter" pitchFamily="34" charset="0"/>
                <a:ea typeface="Inter" pitchFamily="34" charset="-122"/>
                <a:cs typeface="Inter" pitchFamily="34" charset="-120"/>
              </a:rPr>
              <a:t>  −$178K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1161288"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103.6%</a:t>
            </a:r>
            <a:endParaRPr lang="en-US" sz="2200" dirty="0"/>
          </a:p>
        </p:txBody>
      </p:sp>
      <p:sp>
        <p:nvSpPr>
          <p:cNvPr id="14" name="Shape 12"/>
          <p:cNvSpPr/>
          <p:nvPr/>
        </p:nvSpPr>
        <p:spPr>
          <a:xfrm>
            <a:off x="7370064" y="1563624"/>
            <a:ext cx="64008" cy="256032"/>
          </a:xfrm>
          <a:prstGeom prst="rect">
            <a:avLst/>
          </a:prstGeom>
          <a:solidFill>
            <a:srgbClr val="12A566"/>
          </a:solidFill>
          <a:ln/>
        </p:spPr>
      </p:sp>
      <p:sp>
        <p:nvSpPr>
          <p:cNvPr id="15" name="Text 13"/>
          <p:cNvSpPr txBox="1"/>
          <p:nvPr/>
        </p:nvSpPr>
        <p:spPr>
          <a:xfrm>
            <a:off x="7525512" y="1517904"/>
            <a:ext cx="1335024"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3,917</a:t>
            </a:r>
            <a:pPr indent="0" marL="0">
              <a:buNone/>
            </a:pPr>
            <a:r>
              <a:rPr lang="en-US" sz="1400" b="1" dirty="0">
                <a:solidFill>
                  <a:srgbClr val="A82B26"/>
                </a:solidFill>
                <a:latin typeface="Inter" pitchFamily="34" charset="0"/>
                <a:ea typeface="Inter" pitchFamily="34" charset="-122"/>
                <a:cs typeface="Inter" pitchFamily="34" charset="-120"/>
              </a:rPr>
              <a:t>  −462</a:t>
            </a:r>
            <a:endParaRPr lang="en-US" sz="2200" dirty="0"/>
          </a:p>
        </p:txBody>
      </p:sp>
      <p:sp>
        <p:nvSpPr>
          <p:cNvPr id="19" name="Shape 17"/>
          <p:cNvSpPr/>
          <p:nvPr/>
        </p:nvSpPr>
        <p:spPr>
          <a:xfrm>
            <a:off x="4222496" y="658368"/>
            <a:ext cx="7509256" cy="475488"/>
          </a:xfrm>
          <a:prstGeom prst="rect">
            <a:avLst/>
          </a:prstGeom>
          <a:solidFill>
            <a:srgbClr val="EDF4FA"/>
          </a:solidFill>
          <a:ln/>
        </p:spPr>
      </p:sp>
      <p:sp>
        <p:nvSpPr>
          <p:cNvPr id="20" name="Text 18"/>
          <p:cNvSpPr txBox="1"/>
          <p:nvPr/>
        </p:nvSpPr>
        <p:spPr>
          <a:xfrm>
            <a:off x="4350512" y="658368"/>
            <a:ext cx="7253224"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2nd · Absorption 103.6%   ·   2nd · CP ELR $235   ·   2nd · Proficiency 117%</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$1.42M</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$437K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Service gross</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$3.04M</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$3.23M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$256K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Sell the MPI; price menus to market.</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 of 10</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$241K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4 under 85%: dispatch, parts.</a:t>
            </a:r>
            <a:endParaRPr lang="en-US" sz="14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RO count</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3,917</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4,379</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$211K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Win back lapsed customers: 616 more ROs.</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2.73</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2.90</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$165K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+0.17 hr per RO.</a:t>
            </a:r>
            <a:endParaRPr lang="en-US" sz="1400" dirty="0"/>
          </a:p>
        </p:txBody>
      </p:sp>
      <p:sp>
        <p:nvSpPr>
          <p:cNvPr id="61" name="Shape 59"/>
          <p:cNvSpPr/>
          <p:nvPr/>
        </p:nvSpPr>
        <p:spPr>
          <a:xfrm>
            <a:off x="658368" y="4059936"/>
            <a:ext cx="10872216" cy="329184"/>
          </a:xfrm>
          <a:prstGeom prst="rect">
            <a:avLst/>
          </a:prstGeom>
          <a:solidFill>
            <a:srgbClr val="F7F7F7"/>
          </a:solidFill>
          <a:ln/>
        </p:spPr>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1.9%</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$78K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378 more a year.</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11.8%</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$34K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149 more a year.</a:t>
            </a:r>
            <a:endParaRPr lang="en-US" sz="1400" dirty="0"/>
          </a:p>
        </p:txBody>
      </p:sp>
      <p:sp>
        <p:nvSpPr>
          <p:cNvPr id="74" name="Shape 72"/>
          <p:cNvSpPr/>
          <p:nvPr/>
        </p:nvSpPr>
        <p:spPr>
          <a:xfrm>
            <a:off x="658368" y="4712818"/>
            <a:ext cx="10872216" cy="10973"/>
          </a:xfrm>
          <a:prstGeom prst="rect">
            <a:avLst/>
          </a:prstGeom>
          <a:solidFill>
            <a:srgbClr val="9AA3AD"/>
          </a:solidFill>
          <a:ln/>
        </p:spPr>
      </p:sp>
      <p:sp>
        <p:nvSpPr>
          <p:cNvPr id="75" name="Text 73"/>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77" name="Text 75"/>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$14,916</a:t>
            </a:r>
            <a:endParaRPr lang="en-US" sz="1400" dirty="0"/>
          </a:p>
        </p:txBody>
      </p:sp>
      <p:sp>
        <p:nvSpPr>
          <p:cNvPr id="78" name="Text 76"/>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$16,998</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79" name="Text 77"/>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0" name="Text 78"/>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4.1 heads over peer avg.</a:t>
            </a:r>
            <a:endParaRPr lang="en-US" sz="1400" dirty="0"/>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Cadillac</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$9.60M</a:t>
            </a:r>
            <a:pPr indent="0" marL="0">
              <a:buNone/>
            </a:pPr>
            <a:r>
              <a:rPr lang="en-US" sz="1400" b="1" dirty="0">
                <a:solidFill>
                  <a:srgbClr val="0B7A4A"/>
                </a:solidFill>
                <a:latin typeface="Inter" pitchFamily="34" charset="0"/>
                <a:ea typeface="Inter" pitchFamily="34" charset="-122"/>
                <a:cs typeface="Inter" pitchFamily="34" charset="-120"/>
              </a:rPr>
              <a:t>  +$664K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$2.60M</a:t>
            </a:r>
            <a:pPr indent="0" marL="0">
              <a:buNone/>
            </a:pPr>
            <a:r>
              <a:rPr lang="en-US" sz="1400" b="1" dirty="0">
                <a:solidFill>
                  <a:srgbClr val="0B7A4A"/>
                </a:solidFill>
                <a:latin typeface="Inter" pitchFamily="34" charset="0"/>
                <a:ea typeface="Inter" pitchFamily="34" charset="-122"/>
                <a:cs typeface="Inter" pitchFamily="34" charset="-120"/>
              </a:rPr>
              <a:t>  +$766K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86.1%</a:t>
            </a:r>
            <a:endParaRPr lang="en-US" sz="2200" dirty="0"/>
          </a:p>
        </p:txBody>
      </p:sp>
      <p:sp>
        <p:nvSpPr>
          <p:cNvPr id="14" name="Shape 12"/>
          <p:cNvSpPr/>
          <p:nvPr/>
        </p:nvSpPr>
        <p:spPr>
          <a:xfrm>
            <a:off x="7185660" y="1563624"/>
            <a:ext cx="64008" cy="256032"/>
          </a:xfrm>
          <a:prstGeom prst="rect">
            <a:avLst/>
          </a:prstGeom>
          <a:solidFill>
            <a:srgbClr val="12A566"/>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5,344</a:t>
            </a:r>
            <a:pPr indent="0" marL="0">
              <a:buNone/>
            </a:pPr>
            <a:r>
              <a:rPr lang="en-US" sz="1400" b="1" dirty="0">
                <a:solidFill>
                  <a:srgbClr val="0B7A4A"/>
                </a:solidFill>
                <a:latin typeface="Inter" pitchFamily="34" charset="0"/>
                <a:ea typeface="Inter" pitchFamily="34" charset="-122"/>
                <a:cs typeface="Inter" pitchFamily="34" charset="-120"/>
              </a:rPr>
              <a:t>  +137</a:t>
            </a:r>
            <a:endParaRPr lang="en-US" sz="2200" dirty="0"/>
          </a:p>
        </p:txBody>
      </p:sp>
      <p:sp>
        <p:nvSpPr>
          <p:cNvPr id="19" name="Shape 17"/>
          <p:cNvSpPr/>
          <p:nvPr/>
        </p:nvSpPr>
        <p:spPr>
          <a:xfrm>
            <a:off x="9216898" y="658368"/>
            <a:ext cx="2514854" cy="475488"/>
          </a:xfrm>
          <a:prstGeom prst="rect">
            <a:avLst/>
          </a:prstGeom>
          <a:solidFill>
            <a:srgbClr val="EDF4FA"/>
          </a:solidFill>
          <a:ln/>
        </p:spPr>
      </p:sp>
      <p:sp>
        <p:nvSpPr>
          <p:cNvPr id="20" name="Text 18"/>
          <p:cNvSpPr txBox="1"/>
          <p:nvPr/>
        </p:nvSpPr>
        <p:spPr>
          <a:xfrm>
            <a:off x="9344914" y="658368"/>
            <a:ext cx="2258822"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3rd · Net profit +$766K</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16 of 29</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$1.89M</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16 under 85%: dispatch, parts.</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$464</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$632</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$939K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ELR</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$175</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$200</a:t>
            </a:r>
            <a:pPr indent="0" marL="0">
              <a:buNone/>
            </a:pPr>
            <a:r>
              <a:rPr lang="en-US" sz="1400" dirty="0">
                <a:solidFill>
                  <a:srgbClr val="595959"/>
                </a:solidFill>
                <a:latin typeface="Inter" pitchFamily="34" charset="0"/>
                <a:ea typeface="Inter" pitchFamily="34" charset="-122"/>
                <a:cs typeface="Inter" pitchFamily="34" charset="-120"/>
              </a:rPr>
              <a:t> 70% of door</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$411K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Charge the posted rate; control discounts.</a:t>
            </a:r>
            <a:endParaRPr lang="en-US" sz="14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2.73</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2.90</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$222K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+0.17 hr per RO.</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4.6%</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$57K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379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5.1%</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$46K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170 more a year.</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Service gross</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$6.49M</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$6.51M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$32K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Sell the MPI; price menus to market.</a:t>
            </a:r>
            <a:endParaRPr lang="en-US" sz="1400" dirty="0"/>
          </a:p>
        </p:txBody>
      </p:sp>
      <p:sp>
        <p:nvSpPr>
          <p:cNvPr id="74" name="Shape 72"/>
          <p:cNvSpPr/>
          <p:nvPr/>
        </p:nvSpPr>
        <p:spPr>
          <a:xfrm>
            <a:off x="658368" y="4718304"/>
            <a:ext cx="10872216" cy="329184"/>
          </a:xfrm>
          <a:prstGeom prst="rect">
            <a:avLst/>
          </a:prstGeom>
          <a:solidFill>
            <a:srgbClr val="F7F7F7"/>
          </a:solidFill>
          <a:ln/>
        </p:spPr>
      </p:sp>
      <p:sp>
        <p:nvSpPr>
          <p:cNvPr id="75" name="Text 73"/>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77" name="Text 75"/>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5.9%</a:t>
            </a:r>
            <a:endParaRPr lang="en-US" sz="1400" dirty="0"/>
          </a:p>
        </p:txBody>
      </p:sp>
      <p:sp>
        <p:nvSpPr>
          <p:cNvPr id="78" name="Text 76"/>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9" name="Text 77"/>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$14K</a:t>
            </a:r>
            <a:endParaRPr lang="en-US" sz="1400" dirty="0"/>
          </a:p>
        </p:txBody>
      </p:sp>
      <p:sp>
        <p:nvSpPr>
          <p:cNvPr id="80" name="Text 78"/>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643 more a year.</a:t>
            </a:r>
            <a:endParaRPr lang="en-US" sz="1400" dirty="0"/>
          </a:p>
        </p:txBody>
      </p:sp>
      <p:sp>
        <p:nvSpPr>
          <p:cNvPr id="81" name="Shape 79"/>
          <p:cNvSpPr/>
          <p:nvPr/>
        </p:nvSpPr>
        <p:spPr>
          <a:xfrm>
            <a:off x="658368" y="5042002"/>
            <a:ext cx="10872216" cy="10973"/>
          </a:xfrm>
          <a:prstGeom prst="rect">
            <a:avLst/>
          </a:prstGeom>
          <a:solidFill>
            <a:srgbClr val="9AA3AD"/>
          </a:solidFill>
          <a:ln/>
        </p:spPr>
      </p:sp>
      <p:sp>
        <p:nvSpPr>
          <p:cNvPr id="82" name="Text 80"/>
          <p:cNvSpPr txBox="1"/>
          <p:nvPr/>
        </p:nvSpPr>
        <p:spPr>
          <a:xfrm>
            <a:off x="658368" y="504748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3" name="Text 81"/>
          <p:cNvSpPr txBox="1"/>
          <p:nvPr/>
        </p:nvSpPr>
        <p:spPr>
          <a:xfrm>
            <a:off x="1024128" y="504748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84" name="Text 82"/>
          <p:cNvSpPr txBox="1"/>
          <p:nvPr/>
        </p:nvSpPr>
        <p:spPr>
          <a:xfrm>
            <a:off x="2990088" y="504748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40.5%</a:t>
            </a:r>
            <a:endParaRPr lang="en-US" sz="1400" dirty="0"/>
          </a:p>
        </p:txBody>
      </p:sp>
      <p:sp>
        <p:nvSpPr>
          <p:cNvPr id="85" name="Text 83"/>
          <p:cNvSpPr txBox="1"/>
          <p:nvPr/>
        </p:nvSpPr>
        <p:spPr>
          <a:xfrm>
            <a:off x="4087368" y="504748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86" name="Text 84"/>
          <p:cNvSpPr txBox="1"/>
          <p:nvPr/>
        </p:nvSpPr>
        <p:spPr>
          <a:xfrm>
            <a:off x="5989320" y="5047488"/>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7" name="Text 85"/>
          <p:cNvSpPr txBox="1"/>
          <p:nvPr/>
        </p:nvSpPr>
        <p:spPr>
          <a:xfrm>
            <a:off x="7059168" y="504748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6,556 more a year.</a:t>
            </a:r>
            <a:endParaRPr lang="en-US" sz="1400" dirty="0"/>
          </a:p>
        </p:txBody>
      </p:sp>
      <p:sp>
        <p:nvSpPr>
          <p:cNvPr id="88" name="Shape 86"/>
          <p:cNvSpPr/>
          <p:nvPr/>
        </p:nvSpPr>
        <p:spPr>
          <a:xfrm>
            <a:off x="658368" y="5376672"/>
            <a:ext cx="10872216" cy="329184"/>
          </a:xfrm>
          <a:prstGeom prst="rect">
            <a:avLst/>
          </a:prstGeom>
          <a:solidFill>
            <a:srgbClr val="F7F7F7"/>
          </a:solidFill>
          <a:ln/>
        </p:spPr>
      </p:sp>
      <p:sp>
        <p:nvSpPr>
          <p:cNvPr id="89" name="Text 87"/>
          <p:cNvSpPr txBox="1"/>
          <p:nvPr/>
        </p:nvSpPr>
        <p:spPr>
          <a:xfrm>
            <a:off x="658368" y="537667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90" name="Text 88"/>
          <p:cNvSpPr txBox="1"/>
          <p:nvPr/>
        </p:nvSpPr>
        <p:spPr>
          <a:xfrm>
            <a:off x="1024128" y="537667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91" name="Text 89"/>
          <p:cNvSpPr txBox="1"/>
          <p:nvPr/>
        </p:nvSpPr>
        <p:spPr>
          <a:xfrm>
            <a:off x="2990088" y="537667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42.7%</a:t>
            </a:r>
            <a:endParaRPr lang="en-US" sz="1400" dirty="0"/>
          </a:p>
        </p:txBody>
      </p:sp>
      <p:sp>
        <p:nvSpPr>
          <p:cNvPr id="92" name="Text 90"/>
          <p:cNvSpPr txBox="1"/>
          <p:nvPr/>
        </p:nvSpPr>
        <p:spPr>
          <a:xfrm>
            <a:off x="4087368" y="537667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93" name="Text 91"/>
          <p:cNvSpPr txBox="1"/>
          <p:nvPr/>
        </p:nvSpPr>
        <p:spPr>
          <a:xfrm>
            <a:off x="5989320" y="5376672"/>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4" name="Text 92"/>
          <p:cNvSpPr txBox="1"/>
          <p:nvPr/>
        </p:nvSpPr>
        <p:spPr>
          <a:xfrm>
            <a:off x="7059168" y="537667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2,005 more a year.</a:t>
            </a:r>
            <a:endParaRPr lang="en-US" sz="1400" dirty="0"/>
          </a:p>
        </p:txBody>
      </p:sp>
      <p:sp>
        <p:nvSpPr>
          <p:cNvPr id="95" name="Text 93"/>
          <p:cNvSpPr txBox="1"/>
          <p:nvPr/>
        </p:nvSpPr>
        <p:spPr>
          <a:xfrm>
            <a:off x="658368" y="570585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11</a:t>
            </a:r>
            <a:endParaRPr lang="en-US" sz="1400" dirty="0"/>
          </a:p>
        </p:txBody>
      </p:sp>
      <p:sp>
        <p:nvSpPr>
          <p:cNvPr id="96" name="Text 94"/>
          <p:cNvSpPr txBox="1"/>
          <p:nvPr/>
        </p:nvSpPr>
        <p:spPr>
          <a:xfrm>
            <a:off x="1024128" y="570585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97" name="Text 95"/>
          <p:cNvSpPr txBox="1"/>
          <p:nvPr/>
        </p:nvSpPr>
        <p:spPr>
          <a:xfrm>
            <a:off x="2990088" y="570585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$14,260</a:t>
            </a:r>
            <a:endParaRPr lang="en-US" sz="1400" dirty="0"/>
          </a:p>
        </p:txBody>
      </p:sp>
      <p:sp>
        <p:nvSpPr>
          <p:cNvPr id="98" name="Text 96"/>
          <p:cNvSpPr txBox="1"/>
          <p:nvPr/>
        </p:nvSpPr>
        <p:spPr>
          <a:xfrm>
            <a:off x="4087368" y="570585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$16,998</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99" name="Text 97"/>
          <p:cNvSpPr txBox="1"/>
          <p:nvPr/>
        </p:nvSpPr>
        <p:spPr>
          <a:xfrm>
            <a:off x="5989320" y="5705856"/>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100" name="Text 98"/>
          <p:cNvSpPr txBox="1"/>
          <p:nvPr/>
        </p:nvSpPr>
        <p:spPr>
          <a:xfrm>
            <a:off x="7059168" y="570585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12.0 heads over peer avg.</a:t>
            </a:r>
            <a:endParaRPr lang="en-US" sz="1400" dirty="0"/>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CDJR Post Falls</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$3.55M</a:t>
            </a:r>
            <a:pPr indent="0" marL="0">
              <a:buNone/>
            </a:pPr>
            <a:r>
              <a:rPr lang="en-US" sz="1400" b="1" dirty="0">
                <a:solidFill>
                  <a:srgbClr val="A82B26"/>
                </a:solidFill>
                <a:latin typeface="Inter" pitchFamily="34" charset="0"/>
                <a:ea typeface="Inter" pitchFamily="34" charset="-122"/>
                <a:cs typeface="Inter" pitchFamily="34" charset="-120"/>
              </a:rPr>
              <a:t>  −$204K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$800,469</a:t>
            </a:r>
            <a:pPr indent="0" marL="0">
              <a:buNone/>
            </a:pPr>
            <a:r>
              <a:rPr lang="en-US" sz="1400" b="1" dirty="0">
                <a:solidFill>
                  <a:srgbClr val="0B7A4A"/>
                </a:solidFill>
                <a:latin typeface="Inter" pitchFamily="34" charset="0"/>
                <a:ea typeface="Inter" pitchFamily="34" charset="-122"/>
                <a:cs typeface="Inter" pitchFamily="34" charset="-120"/>
              </a:rPr>
              <a:t>  +$54K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81.5%</a:t>
            </a:r>
            <a:endParaRPr lang="en-US" sz="2200" dirty="0"/>
          </a:p>
        </p:txBody>
      </p:sp>
      <p:sp>
        <p:nvSpPr>
          <p:cNvPr id="14" name="Shape 12"/>
          <p:cNvSpPr/>
          <p:nvPr/>
        </p:nvSpPr>
        <p:spPr>
          <a:xfrm>
            <a:off x="7185660" y="1563624"/>
            <a:ext cx="64008" cy="256032"/>
          </a:xfrm>
          <a:prstGeom prst="rect">
            <a:avLst/>
          </a:prstGeom>
          <a:solidFill>
            <a:srgbClr val="12A566"/>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5,358</a:t>
            </a:r>
            <a:pPr indent="0" marL="0">
              <a:buNone/>
            </a:pPr>
            <a:r>
              <a:rPr lang="en-US" sz="1400" b="1" dirty="0">
                <a:solidFill>
                  <a:srgbClr val="A82B26"/>
                </a:solidFill>
                <a:latin typeface="Inter" pitchFamily="34" charset="0"/>
                <a:ea typeface="Inter" pitchFamily="34" charset="-122"/>
                <a:cs typeface="Inter" pitchFamily="34" charset="-120"/>
              </a:rPr>
              <a:t>  −277</a:t>
            </a:r>
            <a:endParaRPr lang="en-US" sz="2200" dirty="0"/>
          </a:p>
        </p:txBody>
      </p:sp>
      <p:sp>
        <p:nvSpPr>
          <p:cNvPr id="19" name="Shape 17"/>
          <p:cNvSpPr/>
          <p:nvPr/>
        </p:nvSpPr>
        <p:spPr>
          <a:xfrm>
            <a:off x="457200" y="2011680"/>
            <a:ext cx="11274552" cy="4343400"/>
          </a:xfrm>
          <a:prstGeom prst="rect">
            <a:avLst/>
          </a:prstGeom>
          <a:solidFill>
            <a:srgbClr val="FFFFFF"/>
          </a:solidFill>
          <a:ln/>
        </p:spPr>
      </p:sp>
      <p:sp>
        <p:nvSpPr>
          <p:cNvPr id="20" name="Text 18"/>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1" name="Text 19"/>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2" name="Text 20"/>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3" name="Text 21"/>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4" name="Text 22"/>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5" name="Text 23"/>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6" name="Shape 24"/>
          <p:cNvSpPr/>
          <p:nvPr/>
        </p:nvSpPr>
        <p:spPr>
          <a:xfrm>
            <a:off x="658368" y="2368296"/>
            <a:ext cx="10872216" cy="10973"/>
          </a:xfrm>
          <a:prstGeom prst="rect">
            <a:avLst/>
          </a:prstGeom>
          <a:solidFill>
            <a:srgbClr val="1A1A1A"/>
          </a:solidFill>
          <a:ln/>
        </p:spPr>
      </p:sp>
      <p:sp>
        <p:nvSpPr>
          <p:cNvPr id="27" name="Text 25"/>
          <p:cNvSpPr txBox="1"/>
          <p:nvPr/>
        </p:nvSpPr>
        <p:spPr>
          <a:xfrm>
            <a:off x="658368" y="24140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28" name="Text 26"/>
          <p:cNvSpPr txBox="1"/>
          <p:nvPr/>
        </p:nvSpPr>
        <p:spPr>
          <a:xfrm>
            <a:off x="1024128" y="24140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29" name="Text 27"/>
          <p:cNvSpPr txBox="1"/>
          <p:nvPr/>
        </p:nvSpPr>
        <p:spPr>
          <a:xfrm>
            <a:off x="2990088" y="24140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9 of 14</a:t>
            </a:r>
            <a:endParaRPr lang="en-US" sz="1400" dirty="0"/>
          </a:p>
        </p:txBody>
      </p:sp>
      <p:sp>
        <p:nvSpPr>
          <p:cNvPr id="30" name="Text 28"/>
          <p:cNvSpPr txBox="1"/>
          <p:nvPr/>
        </p:nvSpPr>
        <p:spPr>
          <a:xfrm>
            <a:off x="4087368" y="24140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1" name="Text 29"/>
          <p:cNvSpPr txBox="1"/>
          <p:nvPr/>
        </p:nvSpPr>
        <p:spPr>
          <a:xfrm>
            <a:off x="5989320" y="24140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$1.20M</a:t>
            </a:r>
            <a:endParaRPr lang="en-US" sz="1400" dirty="0"/>
          </a:p>
        </p:txBody>
      </p:sp>
      <p:sp>
        <p:nvSpPr>
          <p:cNvPr id="32" name="Text 30"/>
          <p:cNvSpPr txBox="1"/>
          <p:nvPr/>
        </p:nvSpPr>
        <p:spPr>
          <a:xfrm>
            <a:off x="7059168" y="24140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Dispatch, staging and approvals: flag 85%.</a:t>
            </a:r>
            <a:endParaRPr lang="en-US" sz="1400" dirty="0"/>
          </a:p>
        </p:txBody>
      </p:sp>
      <p:sp>
        <p:nvSpPr>
          <p:cNvPr id="33" name="Shape 31"/>
          <p:cNvSpPr/>
          <p:nvPr/>
        </p:nvSpPr>
        <p:spPr>
          <a:xfrm>
            <a:off x="658368" y="2737866"/>
            <a:ext cx="10872216" cy="323850"/>
          </a:xfrm>
          <a:prstGeom prst="rect">
            <a:avLst/>
          </a:prstGeom>
          <a:solidFill>
            <a:srgbClr val="F7F7F7"/>
          </a:solidFill>
          <a:ln/>
        </p:spPr>
      </p:sp>
      <p:sp>
        <p:nvSpPr>
          <p:cNvPr id="34" name="Text 32"/>
          <p:cNvSpPr txBox="1"/>
          <p:nvPr/>
        </p:nvSpPr>
        <p:spPr>
          <a:xfrm>
            <a:off x="658368" y="27378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5" name="Text 33"/>
          <p:cNvSpPr txBox="1"/>
          <p:nvPr/>
        </p:nvSpPr>
        <p:spPr>
          <a:xfrm>
            <a:off x="1024128" y="27378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36" name="Text 34"/>
          <p:cNvSpPr txBox="1"/>
          <p:nvPr/>
        </p:nvSpPr>
        <p:spPr>
          <a:xfrm>
            <a:off x="2990088" y="27378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$1.26M</a:t>
            </a:r>
            <a:endParaRPr lang="en-US" sz="1400" dirty="0"/>
          </a:p>
        </p:txBody>
      </p:sp>
      <p:sp>
        <p:nvSpPr>
          <p:cNvPr id="37" name="Text 35"/>
          <p:cNvSpPr txBox="1"/>
          <p:nvPr/>
        </p:nvSpPr>
        <p:spPr>
          <a:xfrm>
            <a:off x="4087368" y="27378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$1.40M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38" name="Text 36"/>
          <p:cNvSpPr txBox="1"/>
          <p:nvPr/>
        </p:nvSpPr>
        <p:spPr>
          <a:xfrm>
            <a:off x="5989320" y="27378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$195K</a:t>
            </a:r>
            <a:endParaRPr lang="en-US" sz="1400" dirty="0"/>
          </a:p>
        </p:txBody>
      </p:sp>
      <p:sp>
        <p:nvSpPr>
          <p:cNvPr id="39" name="Text 37"/>
          <p:cNvSpPr txBox="1"/>
          <p:nvPr/>
        </p:nvSpPr>
        <p:spPr>
          <a:xfrm>
            <a:off x="7059168" y="27378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40" name="Text 38"/>
          <p:cNvSpPr txBox="1"/>
          <p:nvPr/>
        </p:nvSpPr>
        <p:spPr>
          <a:xfrm>
            <a:off x="658368" y="30617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1" name="Text 39"/>
          <p:cNvSpPr txBox="1"/>
          <p:nvPr/>
        </p:nvSpPr>
        <p:spPr>
          <a:xfrm>
            <a:off x="1024128" y="30617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RO count</a:t>
            </a:r>
            <a:endParaRPr lang="en-US" sz="1400" dirty="0"/>
          </a:p>
        </p:txBody>
      </p:sp>
      <p:sp>
        <p:nvSpPr>
          <p:cNvPr id="42" name="Text 40"/>
          <p:cNvSpPr txBox="1"/>
          <p:nvPr/>
        </p:nvSpPr>
        <p:spPr>
          <a:xfrm>
            <a:off x="2990088" y="30617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5,358</a:t>
            </a:r>
            <a:endParaRPr lang="en-US" sz="1400" dirty="0"/>
          </a:p>
        </p:txBody>
      </p:sp>
      <p:sp>
        <p:nvSpPr>
          <p:cNvPr id="43" name="Text 41"/>
          <p:cNvSpPr txBox="1"/>
          <p:nvPr/>
        </p:nvSpPr>
        <p:spPr>
          <a:xfrm>
            <a:off x="4087368" y="30617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5,635</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44" name="Text 42"/>
          <p:cNvSpPr txBox="1"/>
          <p:nvPr/>
        </p:nvSpPr>
        <p:spPr>
          <a:xfrm>
            <a:off x="5989320" y="30617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$126K</a:t>
            </a:r>
            <a:endParaRPr lang="en-US" sz="1400" dirty="0"/>
          </a:p>
        </p:txBody>
      </p:sp>
      <p:sp>
        <p:nvSpPr>
          <p:cNvPr id="45" name="Text 43"/>
          <p:cNvSpPr txBox="1"/>
          <p:nvPr/>
        </p:nvSpPr>
        <p:spPr>
          <a:xfrm>
            <a:off x="7059168" y="30617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Win back lapsed customers: 369 more ROs.</a:t>
            </a:r>
            <a:endParaRPr lang="en-US" sz="1400" dirty="0"/>
          </a:p>
        </p:txBody>
      </p:sp>
      <p:sp>
        <p:nvSpPr>
          <p:cNvPr id="46" name="Shape 44"/>
          <p:cNvSpPr/>
          <p:nvPr/>
        </p:nvSpPr>
        <p:spPr>
          <a:xfrm>
            <a:off x="658368" y="3385566"/>
            <a:ext cx="10872216" cy="323850"/>
          </a:xfrm>
          <a:prstGeom prst="rect">
            <a:avLst/>
          </a:prstGeom>
          <a:solidFill>
            <a:srgbClr val="F7F7F7"/>
          </a:solidFill>
          <a:ln/>
        </p:spPr>
      </p:sp>
      <p:sp>
        <p:nvSpPr>
          <p:cNvPr id="47" name="Text 45"/>
          <p:cNvSpPr txBox="1"/>
          <p:nvPr/>
        </p:nvSpPr>
        <p:spPr>
          <a:xfrm>
            <a:off x="658368" y="33855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48" name="Text 46"/>
          <p:cNvSpPr txBox="1"/>
          <p:nvPr/>
        </p:nvSpPr>
        <p:spPr>
          <a:xfrm>
            <a:off x="1024128" y="33855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49" name="Text 47"/>
          <p:cNvSpPr txBox="1"/>
          <p:nvPr/>
        </p:nvSpPr>
        <p:spPr>
          <a:xfrm>
            <a:off x="2990088" y="33855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35.6%</a:t>
            </a:r>
            <a:endParaRPr lang="en-US" sz="1400" dirty="0"/>
          </a:p>
        </p:txBody>
      </p:sp>
      <p:sp>
        <p:nvSpPr>
          <p:cNvPr id="50" name="Text 48"/>
          <p:cNvSpPr txBox="1"/>
          <p:nvPr/>
        </p:nvSpPr>
        <p:spPr>
          <a:xfrm>
            <a:off x="4087368" y="33855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51" name="Text 49"/>
          <p:cNvSpPr txBox="1"/>
          <p:nvPr/>
        </p:nvSpPr>
        <p:spPr>
          <a:xfrm>
            <a:off x="5989320" y="33855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$114K</a:t>
            </a:r>
            <a:endParaRPr lang="en-US" sz="1400" dirty="0"/>
          </a:p>
        </p:txBody>
      </p:sp>
      <p:sp>
        <p:nvSpPr>
          <p:cNvPr id="52" name="Text 50"/>
          <p:cNvSpPr txBox="1"/>
          <p:nvPr/>
        </p:nvSpPr>
        <p:spPr>
          <a:xfrm>
            <a:off x="7059168" y="33855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53" name="Text 51"/>
          <p:cNvSpPr txBox="1"/>
          <p:nvPr/>
        </p:nvSpPr>
        <p:spPr>
          <a:xfrm>
            <a:off x="658368" y="37094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4" name="Text 52"/>
          <p:cNvSpPr txBox="1"/>
          <p:nvPr/>
        </p:nvSpPr>
        <p:spPr>
          <a:xfrm>
            <a:off x="1024128" y="37094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Service gross</a:t>
            </a:r>
            <a:endParaRPr lang="en-US" sz="1400" dirty="0"/>
          </a:p>
        </p:txBody>
      </p:sp>
      <p:sp>
        <p:nvSpPr>
          <p:cNvPr id="55" name="Text 53"/>
          <p:cNvSpPr txBox="1"/>
          <p:nvPr/>
        </p:nvSpPr>
        <p:spPr>
          <a:xfrm>
            <a:off x="2990088" y="37094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$2.30M</a:t>
            </a:r>
            <a:endParaRPr lang="en-US" sz="1400" dirty="0"/>
          </a:p>
        </p:txBody>
      </p:sp>
      <p:sp>
        <p:nvSpPr>
          <p:cNvPr id="56" name="Text 54"/>
          <p:cNvSpPr txBox="1"/>
          <p:nvPr/>
        </p:nvSpPr>
        <p:spPr>
          <a:xfrm>
            <a:off x="4087368" y="37094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$2.35M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57" name="Text 55"/>
          <p:cNvSpPr txBox="1"/>
          <p:nvPr/>
        </p:nvSpPr>
        <p:spPr>
          <a:xfrm>
            <a:off x="5989320" y="37094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$77K</a:t>
            </a:r>
            <a:endParaRPr lang="en-US" sz="1400" dirty="0"/>
          </a:p>
        </p:txBody>
      </p:sp>
      <p:sp>
        <p:nvSpPr>
          <p:cNvPr id="58" name="Text 56"/>
          <p:cNvSpPr txBox="1"/>
          <p:nvPr/>
        </p:nvSpPr>
        <p:spPr>
          <a:xfrm>
            <a:off x="7059168" y="37094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Sell the MPI; price menus to market.</a:t>
            </a:r>
            <a:endParaRPr lang="en-US" sz="1400" dirty="0"/>
          </a:p>
        </p:txBody>
      </p:sp>
      <p:sp>
        <p:nvSpPr>
          <p:cNvPr id="59" name="Shape 57"/>
          <p:cNvSpPr/>
          <p:nvPr/>
        </p:nvSpPr>
        <p:spPr>
          <a:xfrm>
            <a:off x="658368" y="4033266"/>
            <a:ext cx="10872216" cy="323850"/>
          </a:xfrm>
          <a:prstGeom prst="rect">
            <a:avLst/>
          </a:prstGeom>
          <a:solidFill>
            <a:srgbClr val="F7F7F7"/>
          </a:solidFill>
          <a:ln/>
        </p:spPr>
      </p:sp>
      <p:sp>
        <p:nvSpPr>
          <p:cNvPr id="60" name="Text 58"/>
          <p:cNvSpPr txBox="1"/>
          <p:nvPr/>
        </p:nvSpPr>
        <p:spPr>
          <a:xfrm>
            <a:off x="658368" y="40332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1" name="Text 59"/>
          <p:cNvSpPr txBox="1"/>
          <p:nvPr/>
        </p:nvSpPr>
        <p:spPr>
          <a:xfrm>
            <a:off x="1024128" y="40332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62" name="Text 60"/>
          <p:cNvSpPr txBox="1"/>
          <p:nvPr/>
        </p:nvSpPr>
        <p:spPr>
          <a:xfrm>
            <a:off x="2990088" y="40332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a:t>
            </a:r>
            <a:endParaRPr lang="en-US" sz="1400" dirty="0"/>
          </a:p>
        </p:txBody>
      </p:sp>
      <p:sp>
        <p:nvSpPr>
          <p:cNvPr id="63" name="Text 61"/>
          <p:cNvSpPr txBox="1"/>
          <p:nvPr/>
        </p:nvSpPr>
        <p:spPr>
          <a:xfrm>
            <a:off x="4087368" y="40332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4" name="Text 62"/>
          <p:cNvSpPr txBox="1"/>
          <p:nvPr/>
        </p:nvSpPr>
        <p:spPr>
          <a:xfrm>
            <a:off x="5989320" y="40332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$73K</a:t>
            </a:r>
            <a:endParaRPr lang="en-US" sz="1400" dirty="0"/>
          </a:p>
        </p:txBody>
      </p:sp>
      <p:sp>
        <p:nvSpPr>
          <p:cNvPr id="65" name="Text 63"/>
          <p:cNvSpPr txBox="1"/>
          <p:nvPr/>
        </p:nvSpPr>
        <p:spPr>
          <a:xfrm>
            <a:off x="7059168" y="40332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981 more a year.</a:t>
            </a:r>
            <a:endParaRPr lang="en-US" sz="1400" dirty="0"/>
          </a:p>
        </p:txBody>
      </p:sp>
      <p:sp>
        <p:nvSpPr>
          <p:cNvPr id="66" name="Text 64"/>
          <p:cNvSpPr txBox="1"/>
          <p:nvPr/>
        </p:nvSpPr>
        <p:spPr>
          <a:xfrm>
            <a:off x="658368" y="43571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7" name="Text 65"/>
          <p:cNvSpPr txBox="1"/>
          <p:nvPr/>
        </p:nvSpPr>
        <p:spPr>
          <a:xfrm>
            <a:off x="1024128" y="43571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68" name="Text 66"/>
          <p:cNvSpPr txBox="1"/>
          <p:nvPr/>
        </p:nvSpPr>
        <p:spPr>
          <a:xfrm>
            <a:off x="2990088" y="43571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3.0%</a:t>
            </a:r>
            <a:endParaRPr lang="en-US" sz="1400" dirty="0"/>
          </a:p>
        </p:txBody>
      </p:sp>
      <p:sp>
        <p:nvSpPr>
          <p:cNvPr id="69" name="Text 67"/>
          <p:cNvSpPr txBox="1"/>
          <p:nvPr/>
        </p:nvSpPr>
        <p:spPr>
          <a:xfrm>
            <a:off x="4087368" y="43571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0" name="Text 68"/>
          <p:cNvSpPr txBox="1"/>
          <p:nvPr/>
        </p:nvSpPr>
        <p:spPr>
          <a:xfrm>
            <a:off x="5989320" y="43571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$62K</a:t>
            </a:r>
            <a:endParaRPr lang="en-US" sz="1400" dirty="0"/>
          </a:p>
        </p:txBody>
      </p:sp>
      <p:sp>
        <p:nvSpPr>
          <p:cNvPr id="71" name="Text 69"/>
          <p:cNvSpPr txBox="1"/>
          <p:nvPr/>
        </p:nvSpPr>
        <p:spPr>
          <a:xfrm>
            <a:off x="7059168" y="43571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321 more a year.</a:t>
            </a:r>
            <a:endParaRPr lang="en-US" sz="1400" dirty="0"/>
          </a:p>
        </p:txBody>
      </p:sp>
      <p:sp>
        <p:nvSpPr>
          <p:cNvPr id="72" name="Shape 70"/>
          <p:cNvSpPr/>
          <p:nvPr/>
        </p:nvSpPr>
        <p:spPr>
          <a:xfrm>
            <a:off x="658368" y="4680966"/>
            <a:ext cx="10872216" cy="323850"/>
          </a:xfrm>
          <a:prstGeom prst="rect">
            <a:avLst/>
          </a:prstGeom>
          <a:solidFill>
            <a:srgbClr val="F7F7F7"/>
          </a:solidFill>
          <a:ln/>
        </p:spPr>
      </p:sp>
      <p:sp>
        <p:nvSpPr>
          <p:cNvPr id="73" name="Text 71"/>
          <p:cNvSpPr txBox="1"/>
          <p:nvPr/>
        </p:nvSpPr>
        <p:spPr>
          <a:xfrm>
            <a:off x="658368" y="46809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4" name="Text 72"/>
          <p:cNvSpPr txBox="1"/>
          <p:nvPr/>
        </p:nvSpPr>
        <p:spPr>
          <a:xfrm>
            <a:off x="1024128" y="46809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75" name="Text 73"/>
          <p:cNvSpPr txBox="1"/>
          <p:nvPr/>
        </p:nvSpPr>
        <p:spPr>
          <a:xfrm>
            <a:off x="2990088" y="46809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4.2%</a:t>
            </a:r>
            <a:endParaRPr lang="en-US" sz="1400" dirty="0"/>
          </a:p>
        </p:txBody>
      </p:sp>
      <p:sp>
        <p:nvSpPr>
          <p:cNvPr id="76" name="Text 74"/>
          <p:cNvSpPr txBox="1"/>
          <p:nvPr/>
        </p:nvSpPr>
        <p:spPr>
          <a:xfrm>
            <a:off x="4087368" y="46809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7" name="Text 75"/>
          <p:cNvSpPr txBox="1"/>
          <p:nvPr/>
        </p:nvSpPr>
        <p:spPr>
          <a:xfrm>
            <a:off x="5989320" y="46809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$57K</a:t>
            </a:r>
            <a:endParaRPr lang="en-US" sz="1400" dirty="0"/>
          </a:p>
        </p:txBody>
      </p:sp>
      <p:sp>
        <p:nvSpPr>
          <p:cNvPr id="78" name="Text 76"/>
          <p:cNvSpPr txBox="1"/>
          <p:nvPr/>
        </p:nvSpPr>
        <p:spPr>
          <a:xfrm>
            <a:off x="7059168" y="46809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770 more a year.</a:t>
            </a:r>
            <a:endParaRPr lang="en-US" sz="1400" dirty="0"/>
          </a:p>
        </p:txBody>
      </p:sp>
      <p:sp>
        <p:nvSpPr>
          <p:cNvPr id="79" name="Text 77"/>
          <p:cNvSpPr txBox="1"/>
          <p:nvPr/>
        </p:nvSpPr>
        <p:spPr>
          <a:xfrm>
            <a:off x="658368" y="50048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0" name="Text 78"/>
          <p:cNvSpPr txBox="1"/>
          <p:nvPr/>
        </p:nvSpPr>
        <p:spPr>
          <a:xfrm>
            <a:off x="1024128" y="50048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81" name="Text 79"/>
          <p:cNvSpPr txBox="1"/>
          <p:nvPr/>
        </p:nvSpPr>
        <p:spPr>
          <a:xfrm>
            <a:off x="2990088" y="50048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4.2%</a:t>
            </a:r>
            <a:endParaRPr lang="en-US" sz="1400" dirty="0"/>
          </a:p>
        </p:txBody>
      </p:sp>
      <p:sp>
        <p:nvSpPr>
          <p:cNvPr id="82" name="Text 80"/>
          <p:cNvSpPr txBox="1"/>
          <p:nvPr/>
        </p:nvSpPr>
        <p:spPr>
          <a:xfrm>
            <a:off x="4087368" y="50048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83" name="Text 81"/>
          <p:cNvSpPr txBox="1"/>
          <p:nvPr/>
        </p:nvSpPr>
        <p:spPr>
          <a:xfrm>
            <a:off x="5989320" y="50048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$53K</a:t>
            </a:r>
            <a:endParaRPr lang="en-US" sz="1400" dirty="0"/>
          </a:p>
        </p:txBody>
      </p:sp>
      <p:sp>
        <p:nvSpPr>
          <p:cNvPr id="84" name="Text 82"/>
          <p:cNvSpPr txBox="1"/>
          <p:nvPr/>
        </p:nvSpPr>
        <p:spPr>
          <a:xfrm>
            <a:off x="7059168" y="50048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412 more a year.</a:t>
            </a:r>
            <a:endParaRPr lang="en-US" sz="1400" dirty="0"/>
          </a:p>
        </p:txBody>
      </p:sp>
      <p:sp>
        <p:nvSpPr>
          <p:cNvPr id="85" name="Shape 83"/>
          <p:cNvSpPr/>
          <p:nvPr/>
        </p:nvSpPr>
        <p:spPr>
          <a:xfrm>
            <a:off x="658368" y="5323180"/>
            <a:ext cx="10872216" cy="10973"/>
          </a:xfrm>
          <a:prstGeom prst="rect">
            <a:avLst/>
          </a:prstGeom>
          <a:solidFill>
            <a:srgbClr val="9AA3AD"/>
          </a:solidFill>
          <a:ln/>
        </p:spPr>
      </p:sp>
      <p:sp>
        <p:nvSpPr>
          <p:cNvPr id="86" name="Text 84"/>
          <p:cNvSpPr txBox="1"/>
          <p:nvPr/>
        </p:nvSpPr>
        <p:spPr>
          <a:xfrm>
            <a:off x="658368" y="53286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87" name="Text 85"/>
          <p:cNvSpPr txBox="1"/>
          <p:nvPr/>
        </p:nvSpPr>
        <p:spPr>
          <a:xfrm>
            <a:off x="1024128" y="53286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88" name="Text 86"/>
          <p:cNvSpPr txBox="1"/>
          <p:nvPr/>
        </p:nvSpPr>
        <p:spPr>
          <a:xfrm>
            <a:off x="2990088" y="53286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16.0%</a:t>
            </a:r>
            <a:endParaRPr lang="en-US" sz="1400" dirty="0"/>
          </a:p>
        </p:txBody>
      </p:sp>
      <p:sp>
        <p:nvSpPr>
          <p:cNvPr id="89" name="Text 87"/>
          <p:cNvSpPr txBox="1"/>
          <p:nvPr/>
        </p:nvSpPr>
        <p:spPr>
          <a:xfrm>
            <a:off x="4087368" y="53286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90" name="Text 88"/>
          <p:cNvSpPr txBox="1"/>
          <p:nvPr/>
        </p:nvSpPr>
        <p:spPr>
          <a:xfrm>
            <a:off x="5989320" y="5328666"/>
            <a:ext cx="868680" cy="323850"/>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1" name="Text 89"/>
          <p:cNvSpPr txBox="1"/>
          <p:nvPr/>
        </p:nvSpPr>
        <p:spPr>
          <a:xfrm>
            <a:off x="7059168" y="53286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5,302 more a year.</a:t>
            </a:r>
            <a:endParaRPr lang="en-US" sz="1400" dirty="0"/>
          </a:p>
        </p:txBody>
      </p:sp>
      <p:sp>
        <p:nvSpPr>
          <p:cNvPr id="92" name="Text 90"/>
          <p:cNvSpPr txBox="1"/>
          <p:nvPr/>
        </p:nvSpPr>
        <p:spPr>
          <a:xfrm>
            <a:off x="658368" y="56525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11</a:t>
            </a:r>
            <a:endParaRPr lang="en-US" sz="1400" dirty="0"/>
          </a:p>
        </p:txBody>
      </p:sp>
      <p:sp>
        <p:nvSpPr>
          <p:cNvPr id="93" name="Text 91"/>
          <p:cNvSpPr txBox="1"/>
          <p:nvPr/>
        </p:nvSpPr>
        <p:spPr>
          <a:xfrm>
            <a:off x="1024128" y="56525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94" name="Text 92"/>
          <p:cNvSpPr txBox="1"/>
          <p:nvPr/>
        </p:nvSpPr>
        <p:spPr>
          <a:xfrm>
            <a:off x="2990088" y="56525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$9,953</a:t>
            </a:r>
            <a:endParaRPr lang="en-US" sz="1400" dirty="0"/>
          </a:p>
        </p:txBody>
      </p:sp>
      <p:sp>
        <p:nvSpPr>
          <p:cNvPr id="95" name="Text 93"/>
          <p:cNvSpPr txBox="1"/>
          <p:nvPr/>
        </p:nvSpPr>
        <p:spPr>
          <a:xfrm>
            <a:off x="4087368" y="56525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96" name="Text 94"/>
          <p:cNvSpPr txBox="1"/>
          <p:nvPr/>
        </p:nvSpPr>
        <p:spPr>
          <a:xfrm>
            <a:off x="5989320" y="5652516"/>
            <a:ext cx="868680" cy="323850"/>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7" name="Text 95"/>
          <p:cNvSpPr txBox="1"/>
          <p:nvPr/>
        </p:nvSpPr>
        <p:spPr>
          <a:xfrm>
            <a:off x="7059168" y="56525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8.6 heads over peer avg.</a:t>
            </a:r>
            <a:endParaRPr lang="en-US" sz="1400" dirty="0"/>
          </a:p>
        </p:txBody>
      </p:sp>
      <p:sp>
        <p:nvSpPr>
          <p:cNvPr id="98" name="Shape 96"/>
          <p:cNvSpPr/>
          <p:nvPr/>
        </p:nvSpPr>
        <p:spPr>
          <a:xfrm>
            <a:off x="658368" y="5976366"/>
            <a:ext cx="10872216" cy="323850"/>
          </a:xfrm>
          <a:prstGeom prst="rect">
            <a:avLst/>
          </a:prstGeom>
          <a:solidFill>
            <a:srgbClr val="F7F7F7"/>
          </a:solidFill>
          <a:ln/>
        </p:spPr>
      </p:sp>
      <p:sp>
        <p:nvSpPr>
          <p:cNvPr id="99" name="Text 97"/>
          <p:cNvSpPr txBox="1"/>
          <p:nvPr/>
        </p:nvSpPr>
        <p:spPr>
          <a:xfrm>
            <a:off x="658368" y="59763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12</a:t>
            </a:r>
            <a:endParaRPr lang="en-US" sz="1400" dirty="0"/>
          </a:p>
        </p:txBody>
      </p:sp>
      <p:sp>
        <p:nvSpPr>
          <p:cNvPr id="100" name="Text 98"/>
          <p:cNvSpPr txBox="1"/>
          <p:nvPr/>
        </p:nvSpPr>
        <p:spPr>
          <a:xfrm>
            <a:off x="1024128" y="59763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101" name="Text 99"/>
          <p:cNvSpPr txBox="1"/>
          <p:nvPr/>
        </p:nvSpPr>
        <p:spPr>
          <a:xfrm>
            <a:off x="2990088" y="59763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81.7%</a:t>
            </a:r>
            <a:endParaRPr lang="en-US" sz="1400" dirty="0"/>
          </a:p>
        </p:txBody>
      </p:sp>
      <p:sp>
        <p:nvSpPr>
          <p:cNvPr id="102" name="Text 100"/>
          <p:cNvSpPr txBox="1"/>
          <p:nvPr/>
        </p:nvSpPr>
        <p:spPr>
          <a:xfrm>
            <a:off x="4087368" y="59763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103" name="Text 101"/>
          <p:cNvSpPr txBox="1"/>
          <p:nvPr/>
        </p:nvSpPr>
        <p:spPr>
          <a:xfrm>
            <a:off x="5989320" y="5976366"/>
            <a:ext cx="868680" cy="323850"/>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104" name="Text 102"/>
          <p:cNvSpPr txBox="1"/>
          <p:nvPr/>
        </p:nvSpPr>
        <p:spPr>
          <a:xfrm>
            <a:off x="7059168" y="59763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1,052 more a year.</a:t>
            </a:r>
            <a:endParaRPr lang="en-US" sz="1400" dirty="0"/>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Chevy GMC Bullhead</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$4.53M</a:t>
            </a:r>
            <a:pPr indent="0" marL="0">
              <a:buNone/>
            </a:pPr>
            <a:r>
              <a:rPr lang="en-US" sz="1400" b="1" dirty="0">
                <a:solidFill>
                  <a:srgbClr val="0B7A4A"/>
                </a:solidFill>
                <a:latin typeface="Inter" pitchFamily="34" charset="0"/>
                <a:ea typeface="Inter" pitchFamily="34" charset="-122"/>
                <a:cs typeface="Inter" pitchFamily="34" charset="-120"/>
              </a:rPr>
              <a:t>  +$39K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$1.12M</a:t>
            </a:r>
            <a:pPr indent="0" marL="0">
              <a:buNone/>
            </a:pPr>
            <a:r>
              <a:rPr lang="en-US" sz="1400" b="1" dirty="0">
                <a:solidFill>
                  <a:srgbClr val="0B7A4A"/>
                </a:solidFill>
                <a:latin typeface="Inter" pitchFamily="34" charset="0"/>
                <a:ea typeface="Inter" pitchFamily="34" charset="-122"/>
                <a:cs typeface="Inter" pitchFamily="34" charset="-120"/>
              </a:rPr>
              <a:t>  +$337K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65.1%</a:t>
            </a:r>
            <a:endParaRPr lang="en-US" sz="2200" dirty="0"/>
          </a:p>
        </p:txBody>
      </p:sp>
      <p:sp>
        <p:nvSpPr>
          <p:cNvPr id="14" name="Shape 12"/>
          <p:cNvSpPr/>
          <p:nvPr/>
        </p:nvSpPr>
        <p:spPr>
          <a:xfrm>
            <a:off x="7185660" y="1563624"/>
            <a:ext cx="64008" cy="256032"/>
          </a:xfrm>
          <a:prstGeom prst="rect">
            <a:avLst/>
          </a:prstGeom>
          <a:solidFill>
            <a:srgbClr val="C2352F"/>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6,309</a:t>
            </a:r>
            <a:pPr indent="0" marL="0">
              <a:buNone/>
            </a:pPr>
            <a:r>
              <a:rPr lang="en-US" sz="1400" b="1" dirty="0">
                <a:solidFill>
                  <a:srgbClr val="0B7A4A"/>
                </a:solidFill>
                <a:latin typeface="Inter" pitchFamily="34" charset="0"/>
                <a:ea typeface="Inter" pitchFamily="34" charset="-122"/>
                <a:cs typeface="Inter" pitchFamily="34" charset="-120"/>
              </a:rPr>
              <a:t>  +212</a:t>
            </a:r>
            <a:endParaRPr lang="en-US" sz="2200" dirty="0"/>
          </a:p>
        </p:txBody>
      </p:sp>
      <p:sp>
        <p:nvSpPr>
          <p:cNvPr id="19" name="Shape 17"/>
          <p:cNvSpPr/>
          <p:nvPr/>
        </p:nvSpPr>
        <p:spPr>
          <a:xfrm>
            <a:off x="6955282" y="658368"/>
            <a:ext cx="4776470" cy="475488"/>
          </a:xfrm>
          <a:prstGeom prst="rect">
            <a:avLst/>
          </a:prstGeom>
          <a:solidFill>
            <a:srgbClr val="EDF4FA"/>
          </a:solidFill>
          <a:ln/>
        </p:spPr>
      </p:sp>
      <p:sp>
        <p:nvSpPr>
          <p:cNvPr id="20" name="Text 18"/>
          <p:cNvSpPr txBox="1"/>
          <p:nvPr/>
        </p:nvSpPr>
        <p:spPr>
          <a:xfrm>
            <a:off x="7083298" y="658368"/>
            <a:ext cx="4520438"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YOUR BEST PLACES</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7th · Net profit +$337K   ·   8th · CP ROs +212</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16 of 20</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$1.35M</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Dispatch, staging and approvals: flag 85%.</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37.2%</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$77K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2.7%</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$65K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400 more a year.</a:t>
            </a:r>
            <a:endParaRPr lang="en-US" sz="14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11.1%</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$25K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324 more a year.</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7.0%</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$21K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245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9.0%</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$21K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496 more a year.</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GP %</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77.3%</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78%</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$17K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Right tech, right work; review discounts.</a:t>
            </a:r>
            <a:endParaRPr lang="en-US" sz="1400" dirty="0"/>
          </a:p>
        </p:txBody>
      </p:sp>
      <p:sp>
        <p:nvSpPr>
          <p:cNvPr id="74" name="Shape 72"/>
          <p:cNvSpPr/>
          <p:nvPr/>
        </p:nvSpPr>
        <p:spPr>
          <a:xfrm>
            <a:off x="658368" y="4712818"/>
            <a:ext cx="10872216" cy="10973"/>
          </a:xfrm>
          <a:prstGeom prst="rect">
            <a:avLst/>
          </a:prstGeom>
          <a:solidFill>
            <a:srgbClr val="9AA3AD"/>
          </a:solidFill>
          <a:ln/>
        </p:spPr>
      </p:sp>
      <p:sp>
        <p:nvSpPr>
          <p:cNvPr id="75" name="Text 73"/>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77" name="Text 75"/>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21.8%</a:t>
            </a:r>
            <a:endParaRPr lang="en-US" sz="1400" dirty="0"/>
          </a:p>
        </p:txBody>
      </p:sp>
      <p:sp>
        <p:nvSpPr>
          <p:cNvPr id="78" name="Text 76"/>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79" name="Text 77"/>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0" name="Text 78"/>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4,006 more a year.</a:t>
            </a:r>
            <a:endParaRPr lang="en-US" sz="1400" dirty="0"/>
          </a:p>
        </p:txBody>
      </p:sp>
      <p:sp>
        <p:nvSpPr>
          <p:cNvPr id="81" name="Text 79"/>
          <p:cNvSpPr txBox="1"/>
          <p:nvPr/>
        </p:nvSpPr>
        <p:spPr>
          <a:xfrm>
            <a:off x="658368" y="504748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2" name="Text 80"/>
          <p:cNvSpPr txBox="1"/>
          <p:nvPr/>
        </p:nvSpPr>
        <p:spPr>
          <a:xfrm>
            <a:off x="1024128" y="504748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83" name="Text 81"/>
          <p:cNvSpPr txBox="1"/>
          <p:nvPr/>
        </p:nvSpPr>
        <p:spPr>
          <a:xfrm>
            <a:off x="2990088" y="504748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$10,391</a:t>
            </a:r>
            <a:endParaRPr lang="en-US" sz="1400" dirty="0"/>
          </a:p>
        </p:txBody>
      </p:sp>
      <p:sp>
        <p:nvSpPr>
          <p:cNvPr id="84" name="Text 82"/>
          <p:cNvSpPr txBox="1"/>
          <p:nvPr/>
        </p:nvSpPr>
        <p:spPr>
          <a:xfrm>
            <a:off x="4087368" y="504748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85" name="Text 83"/>
          <p:cNvSpPr txBox="1"/>
          <p:nvPr/>
        </p:nvSpPr>
        <p:spPr>
          <a:xfrm>
            <a:off x="5989320" y="5047488"/>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6" name="Text 84"/>
          <p:cNvSpPr txBox="1"/>
          <p:nvPr/>
        </p:nvSpPr>
        <p:spPr>
          <a:xfrm>
            <a:off x="7059168" y="504748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8.9 heads over peer avg.</a:t>
            </a:r>
            <a:endParaRPr lang="en-US" sz="1400" dirty="0"/>
          </a:p>
        </p:txBody>
      </p:sp>
      <p:sp>
        <p:nvSpPr>
          <p:cNvPr id="87" name="Shape 85"/>
          <p:cNvSpPr/>
          <p:nvPr/>
        </p:nvSpPr>
        <p:spPr>
          <a:xfrm>
            <a:off x="658368" y="5376672"/>
            <a:ext cx="10872216" cy="329184"/>
          </a:xfrm>
          <a:prstGeom prst="rect">
            <a:avLst/>
          </a:prstGeom>
          <a:solidFill>
            <a:srgbClr val="F7F7F7"/>
          </a:solidFill>
          <a:ln/>
        </p:spPr>
      </p:sp>
      <p:sp>
        <p:nvSpPr>
          <p:cNvPr id="88" name="Text 86"/>
          <p:cNvSpPr txBox="1"/>
          <p:nvPr/>
        </p:nvSpPr>
        <p:spPr>
          <a:xfrm>
            <a:off x="658368" y="537667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89" name="Text 87"/>
          <p:cNvSpPr txBox="1"/>
          <p:nvPr/>
        </p:nvSpPr>
        <p:spPr>
          <a:xfrm>
            <a:off x="1024128" y="537667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90" name="Text 88"/>
          <p:cNvSpPr txBox="1"/>
          <p:nvPr/>
        </p:nvSpPr>
        <p:spPr>
          <a:xfrm>
            <a:off x="2990088" y="537667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87.6%</a:t>
            </a:r>
            <a:endParaRPr lang="en-US" sz="1400" dirty="0"/>
          </a:p>
        </p:txBody>
      </p:sp>
      <p:sp>
        <p:nvSpPr>
          <p:cNvPr id="91" name="Text 89"/>
          <p:cNvSpPr txBox="1"/>
          <p:nvPr/>
        </p:nvSpPr>
        <p:spPr>
          <a:xfrm>
            <a:off x="4087368" y="537667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92" name="Text 90"/>
          <p:cNvSpPr txBox="1"/>
          <p:nvPr/>
        </p:nvSpPr>
        <p:spPr>
          <a:xfrm>
            <a:off x="5989320" y="5376672"/>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3" name="Text 91"/>
          <p:cNvSpPr txBox="1"/>
          <p:nvPr/>
        </p:nvSpPr>
        <p:spPr>
          <a:xfrm>
            <a:off x="7059168" y="537667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267 more a year.</a:t>
            </a:r>
            <a:endParaRPr lang="en-US" sz="1400" dirty="0"/>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Chevy LV</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$16.55M</a:t>
            </a:r>
            <a:pPr indent="0" marL="0">
              <a:buNone/>
            </a:pPr>
            <a:r>
              <a:rPr lang="en-US" sz="1400" b="1" dirty="0">
                <a:solidFill>
                  <a:srgbClr val="A82B26"/>
                </a:solidFill>
                <a:latin typeface="Inter" pitchFamily="34" charset="0"/>
                <a:ea typeface="Inter" pitchFamily="34" charset="-122"/>
                <a:cs typeface="Inter" pitchFamily="34" charset="-120"/>
              </a:rPr>
              <a:t>  −$437K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$2.27M</a:t>
            </a:r>
            <a:pPr indent="0" marL="0">
              <a:buNone/>
            </a:pPr>
            <a:r>
              <a:rPr lang="en-US" sz="1400" b="1" dirty="0">
                <a:solidFill>
                  <a:srgbClr val="A82B26"/>
                </a:solidFill>
                <a:latin typeface="Inter" pitchFamily="34" charset="0"/>
                <a:ea typeface="Inter" pitchFamily="34" charset="-122"/>
                <a:cs typeface="Inter" pitchFamily="34" charset="-120"/>
              </a:rPr>
              <a:t>  −$643K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68.9%</a:t>
            </a:r>
            <a:endParaRPr lang="en-US" sz="2200" dirty="0"/>
          </a:p>
        </p:txBody>
      </p:sp>
      <p:sp>
        <p:nvSpPr>
          <p:cNvPr id="14" name="Shape 12"/>
          <p:cNvSpPr/>
          <p:nvPr/>
        </p:nvSpPr>
        <p:spPr>
          <a:xfrm>
            <a:off x="7185660" y="1563624"/>
            <a:ext cx="64008" cy="256032"/>
          </a:xfrm>
          <a:prstGeom prst="rect">
            <a:avLst/>
          </a:prstGeom>
          <a:solidFill>
            <a:srgbClr val="C2352F"/>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19,520</a:t>
            </a:r>
            <a:pPr indent="0" marL="0">
              <a:buNone/>
            </a:pPr>
            <a:r>
              <a:rPr lang="en-US" sz="1400" b="1" dirty="0">
                <a:solidFill>
                  <a:srgbClr val="A82B26"/>
                </a:solidFill>
                <a:latin typeface="Inter" pitchFamily="34" charset="0"/>
                <a:ea typeface="Inter" pitchFamily="34" charset="-122"/>
                <a:cs typeface="Inter" pitchFamily="34" charset="-120"/>
              </a:rPr>
              <a:t>  −952</a:t>
            </a:r>
            <a:endParaRPr lang="en-US" sz="2200" dirty="0"/>
          </a:p>
        </p:txBody>
      </p:sp>
      <p:sp>
        <p:nvSpPr>
          <p:cNvPr id="19" name="Shape 17"/>
          <p:cNvSpPr/>
          <p:nvPr/>
        </p:nvSpPr>
        <p:spPr>
          <a:xfrm>
            <a:off x="6389878" y="658368"/>
            <a:ext cx="5341874" cy="475488"/>
          </a:xfrm>
          <a:prstGeom prst="rect">
            <a:avLst/>
          </a:prstGeom>
          <a:solidFill>
            <a:srgbClr val="EDF4FA"/>
          </a:solidFill>
          <a:ln/>
        </p:spPr>
      </p:sp>
      <p:sp>
        <p:nvSpPr>
          <p:cNvPr id="20" name="Text 18"/>
          <p:cNvSpPr txBox="1"/>
          <p:nvPr/>
        </p:nvSpPr>
        <p:spPr>
          <a:xfrm>
            <a:off x="6517894" y="658368"/>
            <a:ext cx="5085842"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YOUR BEST PLACES</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9th · Hours per RO 2.30   ·   10th · Proficiency 103%</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16 of 51</a:t>
            </a:r>
            <a:endParaRPr lang="en-US" sz="1400" dirty="0"/>
          </a:p>
        </p:txBody>
      </p:sp>
      <p:sp>
        <p:nvSpPr>
          <p:cNvPr id="32" name="Text 30"/>
          <p:cNvSpPr txBox="1"/>
          <p:nvPr/>
        </p:nvSpPr>
        <p:spPr>
          <a:xfrm>
            <a:off x="4087368" y="2414016"/>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$1.05M</a:t>
            </a:r>
            <a:endParaRPr lang="en-US" sz="1400" dirty="0"/>
          </a:p>
        </p:txBody>
      </p:sp>
      <p:sp>
        <p:nvSpPr>
          <p:cNvPr id="34" name="Text 32"/>
          <p:cNvSpPr txBox="1"/>
          <p:nvPr/>
        </p:nvSpPr>
        <p:spPr>
          <a:xfrm>
            <a:off x="7059168" y="2414016"/>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16 under 85%: dispatch, parts.</a:t>
            </a:r>
            <a:endParaRPr lang="en-US" sz="1400" dirty="0"/>
          </a:p>
        </p:txBody>
      </p:sp>
      <p:sp>
        <p:nvSpPr>
          <p:cNvPr id="35" name="Shape 33"/>
          <p:cNvSpPr/>
          <p:nvPr/>
        </p:nvSpPr>
        <p:spPr>
          <a:xfrm>
            <a:off x="658368" y="2712954"/>
            <a:ext cx="10872216" cy="298938"/>
          </a:xfrm>
          <a:prstGeom prst="rect">
            <a:avLst/>
          </a:prstGeom>
          <a:solidFill>
            <a:srgbClr val="F7F7F7"/>
          </a:solidFill>
          <a:ln/>
        </p:spPr>
      </p:sp>
      <p:sp>
        <p:nvSpPr>
          <p:cNvPr id="36" name="Text 34"/>
          <p:cNvSpPr txBox="1"/>
          <p:nvPr/>
        </p:nvSpPr>
        <p:spPr>
          <a:xfrm>
            <a:off x="658368" y="2712954"/>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12954"/>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ELR</a:t>
            </a:r>
            <a:endParaRPr lang="en-US" sz="1400" dirty="0"/>
          </a:p>
        </p:txBody>
      </p:sp>
      <p:sp>
        <p:nvSpPr>
          <p:cNvPr id="38" name="Text 36"/>
          <p:cNvSpPr txBox="1"/>
          <p:nvPr/>
        </p:nvSpPr>
        <p:spPr>
          <a:xfrm>
            <a:off x="2990088" y="2712954"/>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$146</a:t>
            </a:r>
            <a:endParaRPr lang="en-US" sz="1400" dirty="0"/>
          </a:p>
        </p:txBody>
      </p:sp>
      <p:sp>
        <p:nvSpPr>
          <p:cNvPr id="39" name="Text 37"/>
          <p:cNvSpPr txBox="1"/>
          <p:nvPr/>
        </p:nvSpPr>
        <p:spPr>
          <a:xfrm>
            <a:off x="4087368" y="2712954"/>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$157</a:t>
            </a:r>
            <a:pPr indent="0" marL="0">
              <a:buNone/>
            </a:pPr>
            <a:r>
              <a:rPr lang="en-US" sz="1400" dirty="0">
                <a:solidFill>
                  <a:srgbClr val="595959"/>
                </a:solidFill>
                <a:latin typeface="Inter" pitchFamily="34" charset="0"/>
                <a:ea typeface="Inter" pitchFamily="34" charset="-122"/>
                <a:cs typeface="Inter" pitchFamily="34" charset="-120"/>
              </a:rPr>
              <a:t> 70% of door</a:t>
            </a:r>
            <a:endParaRPr lang="en-US" sz="1400" dirty="0"/>
          </a:p>
        </p:txBody>
      </p:sp>
      <p:sp>
        <p:nvSpPr>
          <p:cNvPr id="40" name="Text 38"/>
          <p:cNvSpPr txBox="1"/>
          <p:nvPr/>
        </p:nvSpPr>
        <p:spPr>
          <a:xfrm>
            <a:off x="5989320" y="2712954"/>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$671K</a:t>
            </a:r>
            <a:endParaRPr lang="en-US" sz="1400" dirty="0"/>
          </a:p>
        </p:txBody>
      </p:sp>
      <p:sp>
        <p:nvSpPr>
          <p:cNvPr id="41" name="Text 39"/>
          <p:cNvSpPr txBox="1"/>
          <p:nvPr/>
        </p:nvSpPr>
        <p:spPr>
          <a:xfrm>
            <a:off x="7059168" y="2712954"/>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Charge the posted rate; control discounts.</a:t>
            </a:r>
            <a:endParaRPr lang="en-US" sz="1400" dirty="0"/>
          </a:p>
        </p:txBody>
      </p:sp>
      <p:sp>
        <p:nvSpPr>
          <p:cNvPr id="42" name="Text 40"/>
          <p:cNvSpPr txBox="1"/>
          <p:nvPr/>
        </p:nvSpPr>
        <p:spPr>
          <a:xfrm>
            <a:off x="658368" y="3011893"/>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11893"/>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Service gross</a:t>
            </a:r>
            <a:endParaRPr lang="en-US" sz="1400" dirty="0"/>
          </a:p>
        </p:txBody>
      </p:sp>
      <p:sp>
        <p:nvSpPr>
          <p:cNvPr id="44" name="Text 42"/>
          <p:cNvSpPr txBox="1"/>
          <p:nvPr/>
        </p:nvSpPr>
        <p:spPr>
          <a:xfrm>
            <a:off x="2990088" y="3011893"/>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$10.50M</a:t>
            </a:r>
            <a:endParaRPr lang="en-US" sz="1400" dirty="0"/>
          </a:p>
        </p:txBody>
      </p:sp>
      <p:sp>
        <p:nvSpPr>
          <p:cNvPr id="45" name="Text 43"/>
          <p:cNvSpPr txBox="1"/>
          <p:nvPr/>
        </p:nvSpPr>
        <p:spPr>
          <a:xfrm>
            <a:off x="4087368" y="3011893"/>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$10.89M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46" name="Text 44"/>
          <p:cNvSpPr txBox="1"/>
          <p:nvPr/>
        </p:nvSpPr>
        <p:spPr>
          <a:xfrm>
            <a:off x="5989320" y="3011893"/>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$526K</a:t>
            </a:r>
            <a:endParaRPr lang="en-US" sz="1400" dirty="0"/>
          </a:p>
        </p:txBody>
      </p:sp>
      <p:sp>
        <p:nvSpPr>
          <p:cNvPr id="47" name="Text 45"/>
          <p:cNvSpPr txBox="1"/>
          <p:nvPr/>
        </p:nvSpPr>
        <p:spPr>
          <a:xfrm>
            <a:off x="7059168" y="3011893"/>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Sell the MPI; price menus to market.</a:t>
            </a:r>
            <a:endParaRPr lang="en-US" sz="1400" dirty="0"/>
          </a:p>
        </p:txBody>
      </p:sp>
      <p:sp>
        <p:nvSpPr>
          <p:cNvPr id="48" name="Shape 46"/>
          <p:cNvSpPr/>
          <p:nvPr/>
        </p:nvSpPr>
        <p:spPr>
          <a:xfrm>
            <a:off x="658368" y="3310831"/>
            <a:ext cx="10872216" cy="298938"/>
          </a:xfrm>
          <a:prstGeom prst="rect">
            <a:avLst/>
          </a:prstGeom>
          <a:solidFill>
            <a:srgbClr val="F7F7F7"/>
          </a:solidFill>
          <a:ln/>
        </p:spPr>
      </p:sp>
      <p:sp>
        <p:nvSpPr>
          <p:cNvPr id="49" name="Text 47"/>
          <p:cNvSpPr txBox="1"/>
          <p:nvPr/>
        </p:nvSpPr>
        <p:spPr>
          <a:xfrm>
            <a:off x="658368" y="3310831"/>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310831"/>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RO count</a:t>
            </a:r>
            <a:endParaRPr lang="en-US" sz="1400" dirty="0"/>
          </a:p>
        </p:txBody>
      </p:sp>
      <p:sp>
        <p:nvSpPr>
          <p:cNvPr id="51" name="Text 49"/>
          <p:cNvSpPr txBox="1"/>
          <p:nvPr/>
        </p:nvSpPr>
        <p:spPr>
          <a:xfrm>
            <a:off x="2990088" y="3310831"/>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19,520</a:t>
            </a:r>
            <a:endParaRPr lang="en-US" sz="1400" dirty="0"/>
          </a:p>
        </p:txBody>
      </p:sp>
      <p:sp>
        <p:nvSpPr>
          <p:cNvPr id="52" name="Text 50"/>
          <p:cNvSpPr txBox="1"/>
          <p:nvPr/>
        </p:nvSpPr>
        <p:spPr>
          <a:xfrm>
            <a:off x="4087368" y="3310831"/>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20,472</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53" name="Text 51"/>
          <p:cNvSpPr txBox="1"/>
          <p:nvPr/>
        </p:nvSpPr>
        <p:spPr>
          <a:xfrm>
            <a:off x="5989320" y="3310831"/>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$434K</a:t>
            </a:r>
            <a:endParaRPr lang="en-US" sz="1400" dirty="0"/>
          </a:p>
        </p:txBody>
      </p:sp>
      <p:sp>
        <p:nvSpPr>
          <p:cNvPr id="54" name="Text 52"/>
          <p:cNvSpPr txBox="1"/>
          <p:nvPr/>
        </p:nvSpPr>
        <p:spPr>
          <a:xfrm>
            <a:off x="7059168" y="3310831"/>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Win back lapsed customers: 1,269 more ROs.</a:t>
            </a:r>
            <a:endParaRPr lang="en-US" sz="1400" dirty="0"/>
          </a:p>
        </p:txBody>
      </p:sp>
      <p:sp>
        <p:nvSpPr>
          <p:cNvPr id="55" name="Text 53"/>
          <p:cNvSpPr txBox="1"/>
          <p:nvPr/>
        </p:nvSpPr>
        <p:spPr>
          <a:xfrm>
            <a:off x="658368" y="3609770"/>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609770"/>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57" name="Text 55"/>
          <p:cNvSpPr txBox="1"/>
          <p:nvPr/>
        </p:nvSpPr>
        <p:spPr>
          <a:xfrm>
            <a:off x="2990088" y="3609770"/>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36.2%</a:t>
            </a:r>
            <a:endParaRPr lang="en-US" sz="1400" dirty="0"/>
          </a:p>
        </p:txBody>
      </p:sp>
      <p:sp>
        <p:nvSpPr>
          <p:cNvPr id="58" name="Text 56"/>
          <p:cNvSpPr txBox="1"/>
          <p:nvPr/>
        </p:nvSpPr>
        <p:spPr>
          <a:xfrm>
            <a:off x="4087368" y="3609770"/>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59" name="Text 57"/>
          <p:cNvSpPr txBox="1"/>
          <p:nvPr/>
        </p:nvSpPr>
        <p:spPr>
          <a:xfrm>
            <a:off x="5989320" y="3609770"/>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$314K</a:t>
            </a:r>
            <a:endParaRPr lang="en-US" sz="1400" dirty="0"/>
          </a:p>
        </p:txBody>
      </p:sp>
      <p:sp>
        <p:nvSpPr>
          <p:cNvPr id="60" name="Text 58"/>
          <p:cNvSpPr txBox="1"/>
          <p:nvPr/>
        </p:nvSpPr>
        <p:spPr>
          <a:xfrm>
            <a:off x="7059168" y="3609770"/>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61" name="Shape 59"/>
          <p:cNvSpPr/>
          <p:nvPr/>
        </p:nvSpPr>
        <p:spPr>
          <a:xfrm>
            <a:off x="658368" y="3908708"/>
            <a:ext cx="10872216" cy="298938"/>
          </a:xfrm>
          <a:prstGeom prst="rect">
            <a:avLst/>
          </a:prstGeom>
          <a:solidFill>
            <a:srgbClr val="F7F7F7"/>
          </a:solidFill>
          <a:ln/>
        </p:spPr>
      </p:sp>
      <p:sp>
        <p:nvSpPr>
          <p:cNvPr id="62" name="Text 60"/>
          <p:cNvSpPr txBox="1"/>
          <p:nvPr/>
        </p:nvSpPr>
        <p:spPr>
          <a:xfrm>
            <a:off x="658368" y="3908708"/>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3908708"/>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64" name="Text 62"/>
          <p:cNvSpPr txBox="1"/>
          <p:nvPr/>
        </p:nvSpPr>
        <p:spPr>
          <a:xfrm>
            <a:off x="2990088" y="3908708"/>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5.7%</a:t>
            </a:r>
            <a:endParaRPr lang="en-US" sz="1400" dirty="0"/>
          </a:p>
        </p:txBody>
      </p:sp>
      <p:sp>
        <p:nvSpPr>
          <p:cNvPr id="65" name="Text 63"/>
          <p:cNvSpPr txBox="1"/>
          <p:nvPr/>
        </p:nvSpPr>
        <p:spPr>
          <a:xfrm>
            <a:off x="4087368" y="3908708"/>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3908708"/>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$151K</a:t>
            </a:r>
            <a:endParaRPr lang="en-US" sz="1400" dirty="0"/>
          </a:p>
        </p:txBody>
      </p:sp>
      <p:sp>
        <p:nvSpPr>
          <p:cNvPr id="67" name="Text 65"/>
          <p:cNvSpPr txBox="1"/>
          <p:nvPr/>
        </p:nvSpPr>
        <p:spPr>
          <a:xfrm>
            <a:off x="7059168" y="3908708"/>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1,093 more a year.</a:t>
            </a:r>
            <a:endParaRPr lang="en-US" sz="1400" dirty="0"/>
          </a:p>
        </p:txBody>
      </p:sp>
      <p:sp>
        <p:nvSpPr>
          <p:cNvPr id="68" name="Text 66"/>
          <p:cNvSpPr txBox="1"/>
          <p:nvPr/>
        </p:nvSpPr>
        <p:spPr>
          <a:xfrm>
            <a:off x="658368" y="4207647"/>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207647"/>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70" name="Text 68"/>
          <p:cNvSpPr txBox="1"/>
          <p:nvPr/>
        </p:nvSpPr>
        <p:spPr>
          <a:xfrm>
            <a:off x="2990088" y="4207647"/>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5.2%</a:t>
            </a:r>
            <a:endParaRPr lang="en-US" sz="1400" dirty="0"/>
          </a:p>
        </p:txBody>
      </p:sp>
      <p:sp>
        <p:nvSpPr>
          <p:cNvPr id="71" name="Text 69"/>
          <p:cNvSpPr txBox="1"/>
          <p:nvPr/>
        </p:nvSpPr>
        <p:spPr>
          <a:xfrm>
            <a:off x="4087368" y="4207647"/>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207647"/>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$142K</a:t>
            </a:r>
            <a:endParaRPr lang="en-US" sz="1400" dirty="0"/>
          </a:p>
        </p:txBody>
      </p:sp>
      <p:sp>
        <p:nvSpPr>
          <p:cNvPr id="73" name="Text 71"/>
          <p:cNvSpPr txBox="1"/>
          <p:nvPr/>
        </p:nvSpPr>
        <p:spPr>
          <a:xfrm>
            <a:off x="7059168" y="4207647"/>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585 more a year.</a:t>
            </a:r>
            <a:endParaRPr lang="en-US" sz="1400" dirty="0"/>
          </a:p>
        </p:txBody>
      </p:sp>
      <p:sp>
        <p:nvSpPr>
          <p:cNvPr id="74" name="Shape 72"/>
          <p:cNvSpPr/>
          <p:nvPr/>
        </p:nvSpPr>
        <p:spPr>
          <a:xfrm>
            <a:off x="658368" y="4506585"/>
            <a:ext cx="10872216" cy="298938"/>
          </a:xfrm>
          <a:prstGeom prst="rect">
            <a:avLst/>
          </a:prstGeom>
          <a:solidFill>
            <a:srgbClr val="F7F7F7"/>
          </a:solidFill>
          <a:ln/>
        </p:spPr>
      </p:sp>
      <p:sp>
        <p:nvSpPr>
          <p:cNvPr id="75" name="Text 73"/>
          <p:cNvSpPr txBox="1"/>
          <p:nvPr/>
        </p:nvSpPr>
        <p:spPr>
          <a:xfrm>
            <a:off x="658368" y="4506585"/>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506585"/>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77" name="Text 75"/>
          <p:cNvSpPr txBox="1"/>
          <p:nvPr/>
        </p:nvSpPr>
        <p:spPr>
          <a:xfrm>
            <a:off x="2990088" y="4506585"/>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7.3%</a:t>
            </a:r>
            <a:endParaRPr lang="en-US" sz="1400" dirty="0"/>
          </a:p>
        </p:txBody>
      </p:sp>
      <p:sp>
        <p:nvSpPr>
          <p:cNvPr id="78" name="Text 76"/>
          <p:cNvSpPr txBox="1"/>
          <p:nvPr/>
        </p:nvSpPr>
        <p:spPr>
          <a:xfrm>
            <a:off x="4087368" y="4506585"/>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9" name="Text 77"/>
          <p:cNvSpPr txBox="1"/>
          <p:nvPr/>
        </p:nvSpPr>
        <p:spPr>
          <a:xfrm>
            <a:off x="5989320" y="4506585"/>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$106K</a:t>
            </a:r>
            <a:endParaRPr lang="en-US" sz="1400" dirty="0"/>
          </a:p>
        </p:txBody>
      </p:sp>
      <p:sp>
        <p:nvSpPr>
          <p:cNvPr id="80" name="Text 78"/>
          <p:cNvSpPr txBox="1"/>
          <p:nvPr/>
        </p:nvSpPr>
        <p:spPr>
          <a:xfrm>
            <a:off x="7059168" y="4506585"/>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2,001 more a year.</a:t>
            </a:r>
            <a:endParaRPr lang="en-US" sz="1400" dirty="0"/>
          </a:p>
        </p:txBody>
      </p:sp>
      <p:sp>
        <p:nvSpPr>
          <p:cNvPr id="81" name="Text 79"/>
          <p:cNvSpPr txBox="1"/>
          <p:nvPr/>
        </p:nvSpPr>
        <p:spPr>
          <a:xfrm>
            <a:off x="658368" y="4805524"/>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2" name="Text 80"/>
          <p:cNvSpPr txBox="1"/>
          <p:nvPr/>
        </p:nvSpPr>
        <p:spPr>
          <a:xfrm>
            <a:off x="1024128" y="4805524"/>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83" name="Text 81"/>
          <p:cNvSpPr txBox="1"/>
          <p:nvPr/>
        </p:nvSpPr>
        <p:spPr>
          <a:xfrm>
            <a:off x="2990088" y="4805524"/>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12.8%</a:t>
            </a:r>
            <a:endParaRPr lang="en-US" sz="1400" dirty="0"/>
          </a:p>
        </p:txBody>
      </p:sp>
      <p:sp>
        <p:nvSpPr>
          <p:cNvPr id="84" name="Text 82"/>
          <p:cNvSpPr txBox="1"/>
          <p:nvPr/>
        </p:nvSpPr>
        <p:spPr>
          <a:xfrm>
            <a:off x="4087368" y="4805524"/>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85" name="Text 83"/>
          <p:cNvSpPr txBox="1"/>
          <p:nvPr/>
        </p:nvSpPr>
        <p:spPr>
          <a:xfrm>
            <a:off x="5989320" y="4805524"/>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$75K</a:t>
            </a:r>
            <a:endParaRPr lang="en-US" sz="1400" dirty="0"/>
          </a:p>
        </p:txBody>
      </p:sp>
      <p:sp>
        <p:nvSpPr>
          <p:cNvPr id="86" name="Text 84"/>
          <p:cNvSpPr txBox="1"/>
          <p:nvPr/>
        </p:nvSpPr>
        <p:spPr>
          <a:xfrm>
            <a:off x="7059168" y="4805524"/>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556 more a year.</a:t>
            </a:r>
            <a:endParaRPr lang="en-US" sz="1400" dirty="0"/>
          </a:p>
        </p:txBody>
      </p:sp>
      <p:sp>
        <p:nvSpPr>
          <p:cNvPr id="87" name="Shape 85"/>
          <p:cNvSpPr/>
          <p:nvPr/>
        </p:nvSpPr>
        <p:spPr>
          <a:xfrm>
            <a:off x="658368" y="5104462"/>
            <a:ext cx="10872216" cy="298938"/>
          </a:xfrm>
          <a:prstGeom prst="rect">
            <a:avLst/>
          </a:prstGeom>
          <a:solidFill>
            <a:srgbClr val="F7F7F7"/>
          </a:solidFill>
          <a:ln/>
        </p:spPr>
      </p:sp>
      <p:sp>
        <p:nvSpPr>
          <p:cNvPr id="88" name="Text 86"/>
          <p:cNvSpPr txBox="1"/>
          <p:nvPr/>
        </p:nvSpPr>
        <p:spPr>
          <a:xfrm>
            <a:off x="658368" y="5104462"/>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89" name="Text 87"/>
          <p:cNvSpPr txBox="1"/>
          <p:nvPr/>
        </p:nvSpPr>
        <p:spPr>
          <a:xfrm>
            <a:off x="1024128" y="5104462"/>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90" name="Text 88"/>
          <p:cNvSpPr txBox="1"/>
          <p:nvPr/>
        </p:nvSpPr>
        <p:spPr>
          <a:xfrm>
            <a:off x="2990088" y="5104462"/>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$6.05M</a:t>
            </a:r>
            <a:endParaRPr lang="en-US" sz="1400" dirty="0"/>
          </a:p>
        </p:txBody>
      </p:sp>
      <p:sp>
        <p:nvSpPr>
          <p:cNvPr id="91" name="Text 89"/>
          <p:cNvSpPr txBox="1"/>
          <p:nvPr/>
        </p:nvSpPr>
        <p:spPr>
          <a:xfrm>
            <a:off x="4087368" y="5104462"/>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$6.09M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92" name="Text 90"/>
          <p:cNvSpPr txBox="1"/>
          <p:nvPr/>
        </p:nvSpPr>
        <p:spPr>
          <a:xfrm>
            <a:off x="5989320" y="5104462"/>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$56K</a:t>
            </a:r>
            <a:endParaRPr lang="en-US" sz="1400" dirty="0"/>
          </a:p>
        </p:txBody>
      </p:sp>
      <p:sp>
        <p:nvSpPr>
          <p:cNvPr id="93" name="Text 91"/>
          <p:cNvSpPr txBox="1"/>
          <p:nvPr/>
        </p:nvSpPr>
        <p:spPr>
          <a:xfrm>
            <a:off x="7059168" y="5104462"/>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94" name="Shape 92"/>
          <p:cNvSpPr/>
          <p:nvPr/>
        </p:nvSpPr>
        <p:spPr>
          <a:xfrm>
            <a:off x="658368" y="5397914"/>
            <a:ext cx="10872216" cy="10973"/>
          </a:xfrm>
          <a:prstGeom prst="rect">
            <a:avLst/>
          </a:prstGeom>
          <a:solidFill>
            <a:srgbClr val="9AA3AD"/>
          </a:solidFill>
          <a:ln/>
        </p:spPr>
      </p:sp>
      <p:sp>
        <p:nvSpPr>
          <p:cNvPr id="95" name="Text 93"/>
          <p:cNvSpPr txBox="1"/>
          <p:nvPr/>
        </p:nvSpPr>
        <p:spPr>
          <a:xfrm>
            <a:off x="658368" y="5403401"/>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11</a:t>
            </a:r>
            <a:endParaRPr lang="en-US" sz="1400" dirty="0"/>
          </a:p>
        </p:txBody>
      </p:sp>
      <p:sp>
        <p:nvSpPr>
          <p:cNvPr id="96" name="Text 94"/>
          <p:cNvSpPr txBox="1"/>
          <p:nvPr/>
        </p:nvSpPr>
        <p:spPr>
          <a:xfrm>
            <a:off x="1024128" y="5403401"/>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97" name="Text 95"/>
          <p:cNvSpPr txBox="1"/>
          <p:nvPr/>
        </p:nvSpPr>
        <p:spPr>
          <a:xfrm>
            <a:off x="2990088" y="5403401"/>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40.2%</a:t>
            </a:r>
            <a:endParaRPr lang="en-US" sz="1400" dirty="0"/>
          </a:p>
        </p:txBody>
      </p:sp>
      <p:sp>
        <p:nvSpPr>
          <p:cNvPr id="98" name="Text 96"/>
          <p:cNvSpPr txBox="1"/>
          <p:nvPr/>
        </p:nvSpPr>
        <p:spPr>
          <a:xfrm>
            <a:off x="4087368" y="5403401"/>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99" name="Text 97"/>
          <p:cNvSpPr txBox="1"/>
          <p:nvPr/>
        </p:nvSpPr>
        <p:spPr>
          <a:xfrm>
            <a:off x="5989320" y="5403401"/>
            <a:ext cx="868680" cy="298938"/>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100" name="Text 98"/>
          <p:cNvSpPr txBox="1"/>
          <p:nvPr/>
        </p:nvSpPr>
        <p:spPr>
          <a:xfrm>
            <a:off x="7059168" y="5403401"/>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6,624 more a year.</a:t>
            </a:r>
            <a:endParaRPr lang="en-US" sz="1400" dirty="0"/>
          </a:p>
        </p:txBody>
      </p:sp>
      <p:sp>
        <p:nvSpPr>
          <p:cNvPr id="101" name="Shape 99"/>
          <p:cNvSpPr/>
          <p:nvPr/>
        </p:nvSpPr>
        <p:spPr>
          <a:xfrm>
            <a:off x="658368" y="5702339"/>
            <a:ext cx="10872216" cy="298938"/>
          </a:xfrm>
          <a:prstGeom prst="rect">
            <a:avLst/>
          </a:prstGeom>
          <a:solidFill>
            <a:srgbClr val="F7F7F7"/>
          </a:solidFill>
          <a:ln/>
        </p:spPr>
      </p:sp>
      <p:sp>
        <p:nvSpPr>
          <p:cNvPr id="102" name="Text 100"/>
          <p:cNvSpPr txBox="1"/>
          <p:nvPr/>
        </p:nvSpPr>
        <p:spPr>
          <a:xfrm>
            <a:off x="658368" y="5702339"/>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12</a:t>
            </a:r>
            <a:endParaRPr lang="en-US" sz="1400" dirty="0"/>
          </a:p>
        </p:txBody>
      </p:sp>
      <p:sp>
        <p:nvSpPr>
          <p:cNvPr id="103" name="Text 101"/>
          <p:cNvSpPr txBox="1"/>
          <p:nvPr/>
        </p:nvSpPr>
        <p:spPr>
          <a:xfrm>
            <a:off x="1024128" y="5702339"/>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104" name="Text 102"/>
          <p:cNvSpPr txBox="1"/>
          <p:nvPr/>
        </p:nvSpPr>
        <p:spPr>
          <a:xfrm>
            <a:off x="2990088" y="5702339"/>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84.5%</a:t>
            </a:r>
            <a:endParaRPr lang="en-US" sz="1400" dirty="0"/>
          </a:p>
        </p:txBody>
      </p:sp>
      <p:sp>
        <p:nvSpPr>
          <p:cNvPr id="105" name="Text 103"/>
          <p:cNvSpPr txBox="1"/>
          <p:nvPr/>
        </p:nvSpPr>
        <p:spPr>
          <a:xfrm>
            <a:off x="4087368" y="5702339"/>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106" name="Text 104"/>
          <p:cNvSpPr txBox="1"/>
          <p:nvPr/>
        </p:nvSpPr>
        <p:spPr>
          <a:xfrm>
            <a:off x="5989320" y="5702339"/>
            <a:ext cx="868680" cy="298938"/>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107" name="Text 105"/>
          <p:cNvSpPr txBox="1"/>
          <p:nvPr/>
        </p:nvSpPr>
        <p:spPr>
          <a:xfrm>
            <a:off x="7059168" y="5702339"/>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2,065 more a year.</a:t>
            </a:r>
            <a:endParaRPr lang="en-US" sz="1400" dirty="0"/>
          </a:p>
        </p:txBody>
      </p:sp>
      <p:sp>
        <p:nvSpPr>
          <p:cNvPr id="108" name="Text 106"/>
          <p:cNvSpPr txBox="1"/>
          <p:nvPr/>
        </p:nvSpPr>
        <p:spPr>
          <a:xfrm>
            <a:off x="658368" y="6001278"/>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13</a:t>
            </a:r>
            <a:endParaRPr lang="en-US" sz="1400" dirty="0"/>
          </a:p>
        </p:txBody>
      </p:sp>
      <p:sp>
        <p:nvSpPr>
          <p:cNvPr id="109" name="Text 107"/>
          <p:cNvSpPr txBox="1"/>
          <p:nvPr/>
        </p:nvSpPr>
        <p:spPr>
          <a:xfrm>
            <a:off x="1024128" y="6001278"/>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110" name="Text 108"/>
          <p:cNvSpPr txBox="1"/>
          <p:nvPr/>
        </p:nvSpPr>
        <p:spPr>
          <a:xfrm>
            <a:off x="2990088" y="6001278"/>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$12,042</a:t>
            </a:r>
            <a:endParaRPr lang="en-US" sz="1400" dirty="0"/>
          </a:p>
        </p:txBody>
      </p:sp>
      <p:sp>
        <p:nvSpPr>
          <p:cNvPr id="111" name="Text 109"/>
          <p:cNvSpPr txBox="1"/>
          <p:nvPr/>
        </p:nvSpPr>
        <p:spPr>
          <a:xfrm>
            <a:off x="4087368" y="6001278"/>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112" name="Text 110"/>
          <p:cNvSpPr txBox="1"/>
          <p:nvPr/>
        </p:nvSpPr>
        <p:spPr>
          <a:xfrm>
            <a:off x="5989320" y="6001278"/>
            <a:ext cx="868680" cy="298938"/>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113" name="Text 111"/>
          <p:cNvSpPr txBox="1"/>
          <p:nvPr/>
        </p:nvSpPr>
        <p:spPr>
          <a:xfrm>
            <a:off x="7059168" y="6001278"/>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8.1 heads over peer avg.</a:t>
            </a:r>
            <a:endParaRPr lang="en-US" sz="1400" dirty="0"/>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GMC Prescott</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$2.27M</a:t>
            </a:r>
            <a:pPr indent="0" marL="0">
              <a:buNone/>
            </a:pPr>
            <a:r>
              <a:rPr lang="en-US" sz="1400" b="1" dirty="0">
                <a:solidFill>
                  <a:srgbClr val="0B7A4A"/>
                </a:solidFill>
                <a:latin typeface="Inter" pitchFamily="34" charset="0"/>
                <a:ea typeface="Inter" pitchFamily="34" charset="-122"/>
                <a:cs typeface="Inter" pitchFamily="34" charset="-120"/>
              </a:rPr>
              <a:t>  +$178K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$19,561</a:t>
            </a:r>
            <a:pPr indent="0" marL="0">
              <a:buNone/>
            </a:pPr>
            <a:r>
              <a:rPr lang="en-US" sz="1400" b="1" dirty="0">
                <a:solidFill>
                  <a:srgbClr val="0B7A4A"/>
                </a:solidFill>
                <a:latin typeface="Inter" pitchFamily="34" charset="0"/>
                <a:ea typeface="Inter" pitchFamily="34" charset="-122"/>
                <a:cs typeface="Inter" pitchFamily="34" charset="-120"/>
              </a:rPr>
              <a:t>  +$144K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75.6%</a:t>
            </a:r>
            <a:endParaRPr lang="en-US" sz="2200" dirty="0"/>
          </a:p>
        </p:txBody>
      </p:sp>
      <p:sp>
        <p:nvSpPr>
          <p:cNvPr id="14" name="Shape 12"/>
          <p:cNvSpPr/>
          <p:nvPr/>
        </p:nvSpPr>
        <p:spPr>
          <a:xfrm>
            <a:off x="7185660" y="1563624"/>
            <a:ext cx="64008" cy="256032"/>
          </a:xfrm>
          <a:prstGeom prst="rect">
            <a:avLst/>
          </a:prstGeom>
          <a:solidFill>
            <a:srgbClr val="C2352F"/>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3,107</a:t>
            </a:r>
            <a:pPr indent="0" marL="0">
              <a:buNone/>
            </a:pPr>
            <a:r>
              <a:rPr lang="en-US" sz="1400" b="1" dirty="0">
                <a:solidFill>
                  <a:srgbClr val="0B7A4A"/>
                </a:solidFill>
                <a:latin typeface="Inter" pitchFamily="34" charset="0"/>
                <a:ea typeface="Inter" pitchFamily="34" charset="-122"/>
                <a:cs typeface="Inter" pitchFamily="34" charset="-120"/>
              </a:rPr>
              <a:t>  +297</a:t>
            </a:r>
            <a:endParaRPr lang="en-US" sz="2200" dirty="0"/>
          </a:p>
        </p:txBody>
      </p:sp>
      <p:sp>
        <p:nvSpPr>
          <p:cNvPr id="19" name="Shape 17"/>
          <p:cNvSpPr/>
          <p:nvPr/>
        </p:nvSpPr>
        <p:spPr>
          <a:xfrm>
            <a:off x="4693666" y="658368"/>
            <a:ext cx="7038086" cy="475488"/>
          </a:xfrm>
          <a:prstGeom prst="rect">
            <a:avLst/>
          </a:prstGeom>
          <a:solidFill>
            <a:srgbClr val="EDF4FA"/>
          </a:solidFill>
          <a:ln/>
        </p:spPr>
      </p:sp>
      <p:sp>
        <p:nvSpPr>
          <p:cNvPr id="20" name="Text 18"/>
          <p:cNvSpPr txBox="1"/>
          <p:nvPr/>
        </p:nvSpPr>
        <p:spPr>
          <a:xfrm>
            <a:off x="4821682" y="658368"/>
            <a:ext cx="6782054"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YOUR BEST PLACES</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6th · CP ROs +297   ·   8th · Hours per RO +0.26   ·   10th · MPI 93.2%</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 of 12</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$574K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Dispatch, staging and approvals: flag 85%.</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GP %</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72.2%</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78%</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$67K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Right tech, right work; review discounts.</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ELR</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$147</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$154</a:t>
            </a:r>
            <a:pPr indent="0" marL="0">
              <a:buNone/>
            </a:pPr>
            <a:r>
              <a:rPr lang="en-US" sz="1400" dirty="0">
                <a:solidFill>
                  <a:srgbClr val="595959"/>
                </a:solidFill>
                <a:latin typeface="Inter" pitchFamily="34" charset="0"/>
                <a:ea typeface="Inter" pitchFamily="34" charset="-122"/>
                <a:cs typeface="Inter" pitchFamily="34" charset="-120"/>
              </a:rPr>
              <a:t> 70% of door</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$63K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Charge the posted rate; control discounts.</a:t>
            </a:r>
            <a:endParaRPr lang="en-US" sz="14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37.0%</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$42K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7.7%</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$27K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300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3.6%</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$21K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160 more a year.</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6.0%</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$21K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162 more a year.</a:t>
            </a:r>
            <a:endParaRPr lang="en-US" sz="1400" dirty="0"/>
          </a:p>
        </p:txBody>
      </p:sp>
      <p:sp>
        <p:nvSpPr>
          <p:cNvPr id="74" name="Shape 72"/>
          <p:cNvSpPr/>
          <p:nvPr/>
        </p:nvSpPr>
        <p:spPr>
          <a:xfrm>
            <a:off x="658368" y="4718304"/>
            <a:ext cx="10872216" cy="329184"/>
          </a:xfrm>
          <a:prstGeom prst="rect">
            <a:avLst/>
          </a:prstGeom>
          <a:solidFill>
            <a:srgbClr val="F7F7F7"/>
          </a:solidFill>
          <a:ln/>
        </p:spPr>
      </p:sp>
      <p:sp>
        <p:nvSpPr>
          <p:cNvPr id="75" name="Text 73"/>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77" name="Text 75"/>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11.7%</a:t>
            </a:r>
            <a:endParaRPr lang="en-US" sz="1400" dirty="0"/>
          </a:p>
        </p:txBody>
      </p:sp>
      <p:sp>
        <p:nvSpPr>
          <p:cNvPr id="78" name="Text 76"/>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9" name="Text 77"/>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$11K</a:t>
            </a:r>
            <a:endParaRPr lang="en-US" sz="1400" dirty="0"/>
          </a:p>
        </p:txBody>
      </p:sp>
      <p:sp>
        <p:nvSpPr>
          <p:cNvPr id="80" name="Text 78"/>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135 more a year.</a:t>
            </a:r>
            <a:endParaRPr lang="en-US" sz="1400" dirty="0"/>
          </a:p>
        </p:txBody>
      </p:sp>
      <p:sp>
        <p:nvSpPr>
          <p:cNvPr id="81" name="Shape 79"/>
          <p:cNvSpPr/>
          <p:nvPr/>
        </p:nvSpPr>
        <p:spPr>
          <a:xfrm>
            <a:off x="658368" y="5042002"/>
            <a:ext cx="10872216" cy="10973"/>
          </a:xfrm>
          <a:prstGeom prst="rect">
            <a:avLst/>
          </a:prstGeom>
          <a:solidFill>
            <a:srgbClr val="9AA3AD"/>
          </a:solidFill>
          <a:ln/>
        </p:spPr>
      </p:sp>
      <p:sp>
        <p:nvSpPr>
          <p:cNvPr id="82" name="Text 80"/>
          <p:cNvSpPr txBox="1"/>
          <p:nvPr/>
        </p:nvSpPr>
        <p:spPr>
          <a:xfrm>
            <a:off x="658368" y="504748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3" name="Text 81"/>
          <p:cNvSpPr txBox="1"/>
          <p:nvPr/>
        </p:nvSpPr>
        <p:spPr>
          <a:xfrm>
            <a:off x="1024128" y="504748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84" name="Text 82"/>
          <p:cNvSpPr txBox="1"/>
          <p:nvPr/>
        </p:nvSpPr>
        <p:spPr>
          <a:xfrm>
            <a:off x="2990088" y="504748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35.1%</a:t>
            </a:r>
            <a:endParaRPr lang="en-US" sz="1400" dirty="0"/>
          </a:p>
        </p:txBody>
      </p:sp>
      <p:sp>
        <p:nvSpPr>
          <p:cNvPr id="85" name="Text 83"/>
          <p:cNvSpPr txBox="1"/>
          <p:nvPr/>
        </p:nvSpPr>
        <p:spPr>
          <a:xfrm>
            <a:off x="4087368" y="504748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86" name="Text 84"/>
          <p:cNvSpPr txBox="1"/>
          <p:nvPr/>
        </p:nvSpPr>
        <p:spPr>
          <a:xfrm>
            <a:off x="5989320" y="5047488"/>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7" name="Text 85"/>
          <p:cNvSpPr txBox="1"/>
          <p:nvPr/>
        </p:nvSpPr>
        <p:spPr>
          <a:xfrm>
            <a:off x="7059168" y="504748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1,506 more a year.</a:t>
            </a:r>
            <a:endParaRPr lang="en-US" sz="1400" dirty="0"/>
          </a:p>
        </p:txBody>
      </p:sp>
      <p:sp>
        <p:nvSpPr>
          <p:cNvPr id="88" name="Shape 86"/>
          <p:cNvSpPr/>
          <p:nvPr/>
        </p:nvSpPr>
        <p:spPr>
          <a:xfrm>
            <a:off x="658368" y="5376672"/>
            <a:ext cx="10872216" cy="329184"/>
          </a:xfrm>
          <a:prstGeom prst="rect">
            <a:avLst/>
          </a:prstGeom>
          <a:solidFill>
            <a:srgbClr val="F7F7F7"/>
          </a:solidFill>
          <a:ln/>
        </p:spPr>
      </p:sp>
      <p:sp>
        <p:nvSpPr>
          <p:cNvPr id="89" name="Text 87"/>
          <p:cNvSpPr txBox="1"/>
          <p:nvPr/>
        </p:nvSpPr>
        <p:spPr>
          <a:xfrm>
            <a:off x="658368" y="537667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90" name="Text 88"/>
          <p:cNvSpPr txBox="1"/>
          <p:nvPr/>
        </p:nvSpPr>
        <p:spPr>
          <a:xfrm>
            <a:off x="1024128" y="537667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91" name="Text 89"/>
          <p:cNvSpPr txBox="1"/>
          <p:nvPr/>
        </p:nvSpPr>
        <p:spPr>
          <a:xfrm>
            <a:off x="2990088" y="537667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$9,498</a:t>
            </a:r>
            <a:endParaRPr lang="en-US" sz="1400" dirty="0"/>
          </a:p>
        </p:txBody>
      </p:sp>
      <p:sp>
        <p:nvSpPr>
          <p:cNvPr id="92" name="Text 90"/>
          <p:cNvSpPr txBox="1"/>
          <p:nvPr/>
        </p:nvSpPr>
        <p:spPr>
          <a:xfrm>
            <a:off x="4087368" y="537667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93" name="Text 91"/>
          <p:cNvSpPr txBox="1"/>
          <p:nvPr/>
        </p:nvSpPr>
        <p:spPr>
          <a:xfrm>
            <a:off x="5989320" y="5376672"/>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4" name="Text 92"/>
          <p:cNvSpPr txBox="1"/>
          <p:nvPr/>
        </p:nvSpPr>
        <p:spPr>
          <a:xfrm>
            <a:off x="7059168" y="537667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6.7 heads over peer avg.</a:t>
            </a:r>
            <a:endParaRPr lang="en-US" sz="1400" dirty="0"/>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Honda Flagstaff</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$1.59M</a:t>
            </a:r>
            <a:pPr indent="0" marL="0">
              <a:buNone/>
            </a:pPr>
            <a:r>
              <a:rPr lang="en-US" sz="1400" b="1" dirty="0">
                <a:solidFill>
                  <a:srgbClr val="0B7A4A"/>
                </a:solidFill>
                <a:latin typeface="Inter" pitchFamily="34" charset="0"/>
                <a:ea typeface="Inter" pitchFamily="34" charset="-122"/>
                <a:cs typeface="Inter" pitchFamily="34" charset="-120"/>
              </a:rPr>
              <a:t>  +$23K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$79,496</a:t>
            </a:r>
            <a:pPr indent="0" marL="0">
              <a:buNone/>
            </a:pPr>
            <a:r>
              <a:rPr lang="en-US" sz="1400" b="1" dirty="0">
                <a:solidFill>
                  <a:srgbClr val="0B7A4A"/>
                </a:solidFill>
                <a:latin typeface="Inter" pitchFamily="34" charset="0"/>
                <a:ea typeface="Inter" pitchFamily="34" charset="-122"/>
                <a:cs typeface="Inter" pitchFamily="34" charset="-120"/>
              </a:rPr>
              <a:t>  +$53K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63.7%</a:t>
            </a:r>
            <a:endParaRPr lang="en-US" sz="2200" dirty="0"/>
          </a:p>
        </p:txBody>
      </p:sp>
      <p:sp>
        <p:nvSpPr>
          <p:cNvPr id="14" name="Shape 12"/>
          <p:cNvSpPr/>
          <p:nvPr/>
        </p:nvSpPr>
        <p:spPr>
          <a:xfrm>
            <a:off x="7185660" y="1563624"/>
            <a:ext cx="64008" cy="256032"/>
          </a:xfrm>
          <a:prstGeom prst="rect">
            <a:avLst/>
          </a:prstGeom>
          <a:solidFill>
            <a:srgbClr val="C2352F"/>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4,030</a:t>
            </a:r>
            <a:pPr indent="0" marL="0">
              <a:buNone/>
            </a:pPr>
            <a:r>
              <a:rPr lang="en-US" sz="1400" b="1" dirty="0">
                <a:solidFill>
                  <a:srgbClr val="A82B26"/>
                </a:solidFill>
                <a:latin typeface="Inter" pitchFamily="34" charset="0"/>
                <a:ea typeface="Inter" pitchFamily="34" charset="-122"/>
                <a:cs typeface="Inter" pitchFamily="34" charset="-120"/>
              </a:rPr>
              <a:t>  −30</a:t>
            </a:r>
            <a:endParaRPr lang="en-US" sz="2200" dirty="0"/>
          </a:p>
        </p:txBody>
      </p:sp>
      <p:sp>
        <p:nvSpPr>
          <p:cNvPr id="19" name="Shape 17"/>
          <p:cNvSpPr/>
          <p:nvPr/>
        </p:nvSpPr>
        <p:spPr>
          <a:xfrm>
            <a:off x="9404096" y="658368"/>
            <a:ext cx="2327656" cy="475488"/>
          </a:xfrm>
          <a:prstGeom prst="rect">
            <a:avLst/>
          </a:prstGeom>
          <a:solidFill>
            <a:srgbClr val="EDF4FA"/>
          </a:solidFill>
          <a:ln/>
        </p:spPr>
      </p:sp>
      <p:sp>
        <p:nvSpPr>
          <p:cNvPr id="20" name="Text 18"/>
          <p:cNvSpPr txBox="1"/>
          <p:nvPr/>
        </p:nvSpPr>
        <p:spPr>
          <a:xfrm>
            <a:off x="9532112" y="658368"/>
            <a:ext cx="2071624"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3rd · Parts GP 45.1%</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 of 6</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$473K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Dispatch, staging and approvals: flag 85%.</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1.67</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$79K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+0.08 hr per RO.</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3.1%</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$67K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367 more a year.</a:t>
            </a:r>
            <a:endParaRPr lang="en-US" sz="14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0.7%</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$60K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364 more a year.</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1.3%</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$52K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735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Service gross</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$1.04M</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$1.07M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$37K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Sell the MPI; price menus to market.</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11.0%</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$21K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210 more a year.</a:t>
            </a:r>
            <a:endParaRPr lang="en-US" sz="1400" dirty="0"/>
          </a:p>
        </p:txBody>
      </p:sp>
      <p:sp>
        <p:nvSpPr>
          <p:cNvPr id="74" name="Shape 72"/>
          <p:cNvSpPr/>
          <p:nvPr/>
        </p:nvSpPr>
        <p:spPr>
          <a:xfrm>
            <a:off x="658368" y="4718304"/>
            <a:ext cx="10872216" cy="329184"/>
          </a:xfrm>
          <a:prstGeom prst="rect">
            <a:avLst/>
          </a:prstGeom>
          <a:solidFill>
            <a:srgbClr val="F7F7F7"/>
          </a:solidFill>
          <a:ln/>
        </p:spPr>
      </p:sp>
      <p:sp>
        <p:nvSpPr>
          <p:cNvPr id="75" name="Text 73"/>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RO count</a:t>
            </a:r>
            <a:endParaRPr lang="en-US" sz="1400" dirty="0"/>
          </a:p>
        </p:txBody>
      </p:sp>
      <p:sp>
        <p:nvSpPr>
          <p:cNvPr id="77" name="Text 75"/>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4,030</a:t>
            </a:r>
            <a:endParaRPr lang="en-US" sz="1400" dirty="0"/>
          </a:p>
        </p:txBody>
      </p:sp>
      <p:sp>
        <p:nvSpPr>
          <p:cNvPr id="78" name="Text 76"/>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4,060</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79" name="Text 77"/>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$14K</a:t>
            </a:r>
            <a:endParaRPr lang="en-US" sz="1400" dirty="0"/>
          </a:p>
        </p:txBody>
      </p:sp>
      <p:sp>
        <p:nvSpPr>
          <p:cNvPr id="80" name="Text 78"/>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Win back lapsed customers: 40 more ROs.</a:t>
            </a:r>
            <a:endParaRPr lang="en-US" sz="1400" dirty="0"/>
          </a:p>
        </p:txBody>
      </p:sp>
      <p:sp>
        <p:nvSpPr>
          <p:cNvPr id="81" name="Shape 79"/>
          <p:cNvSpPr/>
          <p:nvPr/>
        </p:nvSpPr>
        <p:spPr>
          <a:xfrm>
            <a:off x="658368" y="5042002"/>
            <a:ext cx="10872216" cy="10973"/>
          </a:xfrm>
          <a:prstGeom prst="rect">
            <a:avLst/>
          </a:prstGeom>
          <a:solidFill>
            <a:srgbClr val="9AA3AD"/>
          </a:solidFill>
          <a:ln/>
        </p:spPr>
      </p:sp>
      <p:sp>
        <p:nvSpPr>
          <p:cNvPr id="82" name="Text 80"/>
          <p:cNvSpPr txBox="1"/>
          <p:nvPr/>
        </p:nvSpPr>
        <p:spPr>
          <a:xfrm>
            <a:off x="658368" y="504748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3" name="Text 81"/>
          <p:cNvSpPr txBox="1"/>
          <p:nvPr/>
        </p:nvSpPr>
        <p:spPr>
          <a:xfrm>
            <a:off x="1024128" y="504748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84" name="Text 82"/>
          <p:cNvSpPr txBox="1"/>
          <p:nvPr/>
        </p:nvSpPr>
        <p:spPr>
          <a:xfrm>
            <a:off x="2990088" y="504748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$9,149</a:t>
            </a:r>
            <a:endParaRPr lang="en-US" sz="1400" dirty="0"/>
          </a:p>
        </p:txBody>
      </p:sp>
      <p:sp>
        <p:nvSpPr>
          <p:cNvPr id="85" name="Text 83"/>
          <p:cNvSpPr txBox="1"/>
          <p:nvPr/>
        </p:nvSpPr>
        <p:spPr>
          <a:xfrm>
            <a:off x="4087368" y="504748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86" name="Text 84"/>
          <p:cNvSpPr txBox="1"/>
          <p:nvPr/>
        </p:nvSpPr>
        <p:spPr>
          <a:xfrm>
            <a:off x="5989320" y="5047488"/>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7" name="Text 85"/>
          <p:cNvSpPr txBox="1"/>
          <p:nvPr/>
        </p:nvSpPr>
        <p:spPr>
          <a:xfrm>
            <a:off x="7059168" y="504748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5.4 heads over peer avg.</a:t>
            </a:r>
            <a:endParaRPr lang="en-US" sz="1400" dirty="0"/>
          </a:p>
        </p:txBody>
      </p:sp>
      <p:sp>
        <p:nvSpPr>
          <p:cNvPr id="88" name="Shape 86"/>
          <p:cNvSpPr/>
          <p:nvPr/>
        </p:nvSpPr>
        <p:spPr>
          <a:xfrm>
            <a:off x="658368" y="5376672"/>
            <a:ext cx="10872216" cy="329184"/>
          </a:xfrm>
          <a:prstGeom prst="rect">
            <a:avLst/>
          </a:prstGeom>
          <a:solidFill>
            <a:srgbClr val="F7F7F7"/>
          </a:solidFill>
          <a:ln/>
        </p:spPr>
      </p:sp>
      <p:sp>
        <p:nvSpPr>
          <p:cNvPr id="89" name="Text 87"/>
          <p:cNvSpPr txBox="1"/>
          <p:nvPr/>
        </p:nvSpPr>
        <p:spPr>
          <a:xfrm>
            <a:off x="658368" y="537667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90" name="Text 88"/>
          <p:cNvSpPr txBox="1"/>
          <p:nvPr/>
        </p:nvSpPr>
        <p:spPr>
          <a:xfrm>
            <a:off x="1024128" y="537667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91" name="Text 89"/>
          <p:cNvSpPr txBox="1"/>
          <p:nvPr/>
        </p:nvSpPr>
        <p:spPr>
          <a:xfrm>
            <a:off x="2990088" y="537667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86.3%</a:t>
            </a:r>
            <a:endParaRPr lang="en-US" sz="1400" dirty="0"/>
          </a:p>
        </p:txBody>
      </p:sp>
      <p:sp>
        <p:nvSpPr>
          <p:cNvPr id="92" name="Text 90"/>
          <p:cNvSpPr txBox="1"/>
          <p:nvPr/>
        </p:nvSpPr>
        <p:spPr>
          <a:xfrm>
            <a:off x="4087368" y="537667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93" name="Text 91"/>
          <p:cNvSpPr txBox="1"/>
          <p:nvPr/>
        </p:nvSpPr>
        <p:spPr>
          <a:xfrm>
            <a:off x="5989320" y="5376672"/>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4" name="Text 92"/>
          <p:cNvSpPr txBox="1"/>
          <p:nvPr/>
        </p:nvSpPr>
        <p:spPr>
          <a:xfrm>
            <a:off x="7059168" y="537667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245 more a year.</a:t>
            </a:r>
            <a:endParaRPr lang="en-US" sz="1400" dirty="0"/>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Honda Henderson</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$14.42M</a:t>
            </a:r>
            <a:pPr indent="0" marL="0">
              <a:buNone/>
            </a:pPr>
            <a:r>
              <a:rPr lang="en-US" sz="1400" b="1" dirty="0">
                <a:solidFill>
                  <a:srgbClr val="0B7A4A"/>
                </a:solidFill>
                <a:latin typeface="Inter" pitchFamily="34" charset="0"/>
                <a:ea typeface="Inter" pitchFamily="34" charset="-122"/>
                <a:cs typeface="Inter" pitchFamily="34" charset="-120"/>
              </a:rPr>
              <a:t>  +$932K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$6.08M</a:t>
            </a:r>
            <a:pPr indent="0" marL="0">
              <a:buNone/>
            </a:pPr>
            <a:r>
              <a:rPr lang="en-US" sz="1400" b="1" dirty="0">
                <a:solidFill>
                  <a:srgbClr val="0B7A4A"/>
                </a:solidFill>
                <a:latin typeface="Inter" pitchFamily="34" charset="0"/>
                <a:ea typeface="Inter" pitchFamily="34" charset="-122"/>
                <a:cs typeface="Inter" pitchFamily="34" charset="-120"/>
              </a:rPr>
              <a:t>  +$692K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86.3%</a:t>
            </a:r>
            <a:endParaRPr lang="en-US" sz="2200" dirty="0"/>
          </a:p>
        </p:txBody>
      </p:sp>
      <p:sp>
        <p:nvSpPr>
          <p:cNvPr id="14" name="Shape 12"/>
          <p:cNvSpPr/>
          <p:nvPr/>
        </p:nvSpPr>
        <p:spPr>
          <a:xfrm>
            <a:off x="7185660" y="1563624"/>
            <a:ext cx="64008" cy="256032"/>
          </a:xfrm>
          <a:prstGeom prst="rect">
            <a:avLst/>
          </a:prstGeom>
          <a:solidFill>
            <a:srgbClr val="12A566"/>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22,527</a:t>
            </a:r>
            <a:pPr indent="0" marL="0">
              <a:buNone/>
            </a:pPr>
            <a:r>
              <a:rPr lang="en-US" sz="1400" b="1" dirty="0">
                <a:solidFill>
                  <a:srgbClr val="A82B26"/>
                </a:solidFill>
                <a:latin typeface="Inter" pitchFamily="34" charset="0"/>
                <a:ea typeface="Inter" pitchFamily="34" charset="-122"/>
                <a:cs typeface="Inter" pitchFamily="34" charset="-120"/>
              </a:rPr>
              <a:t>  −190</a:t>
            </a:r>
            <a:endParaRPr lang="en-US" sz="2200" dirty="0"/>
          </a:p>
        </p:txBody>
      </p:sp>
      <p:sp>
        <p:nvSpPr>
          <p:cNvPr id="19" name="Shape 17"/>
          <p:cNvSpPr/>
          <p:nvPr/>
        </p:nvSpPr>
        <p:spPr>
          <a:xfrm>
            <a:off x="6389878" y="658368"/>
            <a:ext cx="5341874" cy="475488"/>
          </a:xfrm>
          <a:prstGeom prst="rect">
            <a:avLst/>
          </a:prstGeom>
          <a:solidFill>
            <a:srgbClr val="EDF4FA"/>
          </a:solidFill>
          <a:ln/>
        </p:spPr>
      </p:sp>
      <p:sp>
        <p:nvSpPr>
          <p:cNvPr id="20" name="Text 18"/>
          <p:cNvSpPr txBox="1"/>
          <p:nvPr/>
        </p:nvSpPr>
        <p:spPr>
          <a:xfrm>
            <a:off x="6517894" y="658368"/>
            <a:ext cx="5085842"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1st · Proficiency 118%   ·   2nd · Tire balance 18.4%</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600" b="1" dirty="0">
                <a:solidFill>
                  <a:srgbClr val="5B9BD5"/>
                </a:solidFill>
                <a:latin typeface="Inter" pitchFamily="34" charset="0"/>
                <a:ea typeface="Inter" pitchFamily="34" charset="-122"/>
                <a:cs typeface="Inter" pitchFamily="34" charset="-120"/>
              </a:rPr>
              <a:t>1</a:t>
            </a:r>
            <a:endParaRPr lang="en-US" sz="16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600" b="1" dirty="0">
                <a:solidFill>
                  <a:srgbClr val="1A1A1A"/>
                </a:solidFill>
                <a:latin typeface="Inter" pitchFamily="34" charset="0"/>
                <a:ea typeface="Inter" pitchFamily="34" charset="-122"/>
                <a:cs typeface="Inter" pitchFamily="34" charset="-120"/>
              </a:rPr>
              <a:t>Techs under 85%</a:t>
            </a:r>
            <a:endParaRPr lang="en-US" sz="16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600" b="1" dirty="0">
                <a:solidFill>
                  <a:srgbClr val="1A1A1A"/>
                </a:solidFill>
                <a:latin typeface="Inter" pitchFamily="34" charset="0"/>
                <a:ea typeface="Inter" pitchFamily="34" charset="-122"/>
                <a:cs typeface="Inter" pitchFamily="34" charset="-120"/>
              </a:rPr>
              <a:t>5 of 28</a:t>
            </a:r>
            <a:endParaRPr lang="en-US" sz="16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600" b="1" dirty="0">
                <a:solidFill>
                  <a:srgbClr val="595959"/>
                </a:solidFill>
                <a:latin typeface="Inter" pitchFamily="34" charset="0"/>
                <a:ea typeface="Inter" pitchFamily="34" charset="-122"/>
                <a:cs typeface="Inter" pitchFamily="34" charset="-120"/>
              </a:rPr>
              <a:t>85%</a:t>
            </a:r>
            <a:pPr indent="0" marL="0">
              <a:buNone/>
            </a:pPr>
            <a:r>
              <a:rPr lang="en-US" sz="1600" dirty="0">
                <a:solidFill>
                  <a:srgbClr val="595959"/>
                </a:solidFill>
                <a:latin typeface="Inter" pitchFamily="34" charset="0"/>
                <a:ea typeface="Inter" pitchFamily="34" charset="-122"/>
                <a:cs typeface="Inter" pitchFamily="34" charset="-120"/>
              </a:rPr>
              <a:t> benchmark</a:t>
            </a:r>
            <a:endParaRPr lang="en-US" sz="16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600" b="1" dirty="0">
                <a:solidFill>
                  <a:srgbClr val="0B2C4A"/>
                </a:solidFill>
                <a:latin typeface="Inter" pitchFamily="34" charset="0"/>
                <a:ea typeface="Inter" pitchFamily="34" charset="-122"/>
                <a:cs typeface="Inter" pitchFamily="34" charset="-120"/>
              </a:rPr>
              <a:t>$155K</a:t>
            </a:r>
            <a:endParaRPr lang="en-US" sz="16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600" dirty="0">
                <a:solidFill>
                  <a:srgbClr val="1A1A1A"/>
                </a:solidFill>
                <a:latin typeface="Inter" pitchFamily="34" charset="0"/>
                <a:ea typeface="Inter" pitchFamily="34" charset="-122"/>
                <a:cs typeface="Inter" pitchFamily="34" charset="-120"/>
              </a:rPr>
              <a:t>Lift the 5 under 85%: dispatch, parts.</a:t>
            </a:r>
            <a:endParaRPr lang="en-US" sz="16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600" b="1" dirty="0">
                <a:solidFill>
                  <a:srgbClr val="5B9BD5"/>
                </a:solidFill>
                <a:latin typeface="Inter" pitchFamily="34" charset="0"/>
                <a:ea typeface="Inter" pitchFamily="34" charset="-122"/>
                <a:cs typeface="Inter" pitchFamily="34" charset="-120"/>
              </a:rPr>
              <a:t>2</a:t>
            </a:r>
            <a:endParaRPr lang="en-US" sz="16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600" b="1" dirty="0">
                <a:solidFill>
                  <a:srgbClr val="1A1A1A"/>
                </a:solidFill>
                <a:latin typeface="Inter" pitchFamily="34" charset="0"/>
                <a:ea typeface="Inter" pitchFamily="34" charset="-122"/>
                <a:cs typeface="Inter" pitchFamily="34" charset="-120"/>
              </a:rPr>
              <a:t>CP RO count</a:t>
            </a:r>
            <a:endParaRPr lang="en-US" sz="16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600" b="1" dirty="0">
                <a:solidFill>
                  <a:srgbClr val="1A1A1A"/>
                </a:solidFill>
                <a:latin typeface="Inter" pitchFamily="34" charset="0"/>
                <a:ea typeface="Inter" pitchFamily="34" charset="-122"/>
                <a:cs typeface="Inter" pitchFamily="34" charset="-120"/>
              </a:rPr>
              <a:t>22,527</a:t>
            </a:r>
            <a:endParaRPr lang="en-US" sz="16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600" b="1" dirty="0">
                <a:solidFill>
                  <a:srgbClr val="595959"/>
                </a:solidFill>
                <a:latin typeface="Inter" pitchFamily="34" charset="0"/>
                <a:ea typeface="Inter" pitchFamily="34" charset="-122"/>
                <a:cs typeface="Inter" pitchFamily="34" charset="-120"/>
              </a:rPr>
              <a:t>22,717</a:t>
            </a:r>
            <a:pPr indent="0" marL="0">
              <a:buNone/>
            </a:pPr>
            <a:r>
              <a:rPr lang="en-US" sz="1600" dirty="0">
                <a:solidFill>
                  <a:srgbClr val="595959"/>
                </a:solidFill>
                <a:latin typeface="Inter" pitchFamily="34" charset="0"/>
                <a:ea typeface="Inter" pitchFamily="34" charset="-122"/>
                <a:cs typeface="Inter" pitchFamily="34" charset="-120"/>
              </a:rPr>
              <a:t> in 2025</a:t>
            </a:r>
            <a:endParaRPr lang="en-US" sz="16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600" b="1" dirty="0">
                <a:solidFill>
                  <a:srgbClr val="0B2C4A"/>
                </a:solidFill>
                <a:latin typeface="Inter" pitchFamily="34" charset="0"/>
                <a:ea typeface="Inter" pitchFamily="34" charset="-122"/>
                <a:cs typeface="Inter" pitchFamily="34" charset="-120"/>
              </a:rPr>
              <a:t>$87K</a:t>
            </a:r>
            <a:endParaRPr lang="en-US" sz="16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600" dirty="0">
                <a:solidFill>
                  <a:srgbClr val="1A1A1A"/>
                </a:solidFill>
                <a:latin typeface="Inter" pitchFamily="34" charset="0"/>
                <a:ea typeface="Inter" pitchFamily="34" charset="-122"/>
                <a:cs typeface="Inter" pitchFamily="34" charset="-120"/>
              </a:rPr>
              <a:t>Win back lapsed customers: 253 more ROs.</a:t>
            </a:r>
            <a:endParaRPr lang="en-US" sz="1600" dirty="0"/>
          </a:p>
        </p:txBody>
      </p:sp>
      <p:sp>
        <p:nvSpPr>
          <p:cNvPr id="42" name="Shape 40"/>
          <p:cNvSpPr/>
          <p:nvPr/>
        </p:nvSpPr>
        <p:spPr>
          <a:xfrm>
            <a:off x="658368" y="3066898"/>
            <a:ext cx="10872216" cy="10973"/>
          </a:xfrm>
          <a:prstGeom prst="rect">
            <a:avLst/>
          </a:prstGeom>
          <a:solidFill>
            <a:srgbClr val="9AA3AD"/>
          </a:solidFill>
          <a:ln/>
        </p:spPr>
      </p:sp>
      <p:sp>
        <p:nvSpPr>
          <p:cNvPr id="43" name="Text 41"/>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600" b="1" dirty="0">
                <a:solidFill>
                  <a:srgbClr val="5B9BD5"/>
                </a:solidFill>
                <a:latin typeface="Inter" pitchFamily="34" charset="0"/>
                <a:ea typeface="Inter" pitchFamily="34" charset="-122"/>
                <a:cs typeface="Inter" pitchFamily="34" charset="-120"/>
              </a:rPr>
              <a:t>3</a:t>
            </a:r>
            <a:endParaRPr lang="en-US" sz="1600" dirty="0"/>
          </a:p>
        </p:txBody>
      </p:sp>
      <p:sp>
        <p:nvSpPr>
          <p:cNvPr id="44" name="Text 42"/>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600" b="1" dirty="0">
                <a:solidFill>
                  <a:srgbClr val="1A1A1A"/>
                </a:solidFill>
                <a:latin typeface="Inter" pitchFamily="34" charset="0"/>
                <a:ea typeface="Inter" pitchFamily="34" charset="-122"/>
                <a:cs typeface="Inter" pitchFamily="34" charset="-120"/>
              </a:rPr>
              <a:t>MPI completion</a:t>
            </a:r>
            <a:endParaRPr lang="en-US" sz="1600" dirty="0"/>
          </a:p>
        </p:txBody>
      </p:sp>
      <p:sp>
        <p:nvSpPr>
          <p:cNvPr id="45" name="Text 43"/>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600" b="1" dirty="0">
                <a:solidFill>
                  <a:srgbClr val="1A1A1A"/>
                </a:solidFill>
                <a:latin typeface="Inter" pitchFamily="34" charset="0"/>
                <a:ea typeface="Inter" pitchFamily="34" charset="-122"/>
                <a:cs typeface="Inter" pitchFamily="34" charset="-120"/>
              </a:rPr>
              <a:t>82.5%</a:t>
            </a:r>
            <a:endParaRPr lang="en-US" sz="1600" dirty="0"/>
          </a:p>
        </p:txBody>
      </p:sp>
      <p:sp>
        <p:nvSpPr>
          <p:cNvPr id="46" name="Text 44"/>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600" b="1" dirty="0">
                <a:solidFill>
                  <a:srgbClr val="595959"/>
                </a:solidFill>
                <a:latin typeface="Inter" pitchFamily="34" charset="0"/>
                <a:ea typeface="Inter" pitchFamily="34" charset="-122"/>
                <a:cs typeface="Inter" pitchFamily="34" charset="-120"/>
              </a:rPr>
              <a:t>90%</a:t>
            </a:r>
            <a:pPr indent="0" marL="0">
              <a:buNone/>
            </a:pPr>
            <a:r>
              <a:rPr lang="en-US" sz="1600" dirty="0">
                <a:solidFill>
                  <a:srgbClr val="595959"/>
                </a:solidFill>
                <a:latin typeface="Inter" pitchFamily="34" charset="0"/>
                <a:ea typeface="Inter" pitchFamily="34" charset="-122"/>
                <a:cs typeface="Inter" pitchFamily="34" charset="-120"/>
              </a:rPr>
              <a:t> benchmark</a:t>
            </a:r>
            <a:endParaRPr lang="en-US" sz="1600" dirty="0"/>
          </a:p>
        </p:txBody>
      </p:sp>
      <p:sp>
        <p:nvSpPr>
          <p:cNvPr id="47" name="Text 45"/>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600" dirty="0">
                <a:solidFill>
                  <a:srgbClr val="9AA3AD"/>
                </a:solidFill>
                <a:latin typeface="Inter" pitchFamily="34" charset="0"/>
                <a:ea typeface="Inter" pitchFamily="34" charset="-122"/>
                <a:cs typeface="Inter" pitchFamily="34" charset="-120"/>
              </a:rPr>
              <a:t>—</a:t>
            </a:r>
            <a:endParaRPr lang="en-US" sz="1600" dirty="0"/>
          </a:p>
        </p:txBody>
      </p:sp>
      <p:sp>
        <p:nvSpPr>
          <p:cNvPr id="48" name="Text 46"/>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600" dirty="0">
                <a:solidFill>
                  <a:srgbClr val="1A1A1A"/>
                </a:solidFill>
                <a:latin typeface="Inter" pitchFamily="34" charset="0"/>
                <a:ea typeface="Inter" pitchFamily="34" charset="-122"/>
                <a:cs typeface="Inter" pitchFamily="34" charset="-120"/>
              </a:rPr>
              <a:t>MPI every car: 2,945 more a year.</a:t>
            </a:r>
            <a:endParaRPr lang="en-US" sz="1600" dirty="0"/>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Honda North</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$8.62M</a:t>
            </a:r>
            <a:pPr indent="0" marL="0">
              <a:buNone/>
            </a:pPr>
            <a:r>
              <a:rPr lang="en-US" sz="1400" b="1" dirty="0">
                <a:solidFill>
                  <a:srgbClr val="A82B26"/>
                </a:solidFill>
                <a:latin typeface="Inter" pitchFamily="34" charset="0"/>
                <a:ea typeface="Inter" pitchFamily="34" charset="-122"/>
                <a:cs typeface="Inter" pitchFamily="34" charset="-120"/>
              </a:rPr>
              <a:t>  −$840K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$3.32M</a:t>
            </a:r>
            <a:pPr indent="0" marL="0">
              <a:buNone/>
            </a:pPr>
            <a:r>
              <a:rPr lang="en-US" sz="1400" b="1" dirty="0">
                <a:solidFill>
                  <a:srgbClr val="A82B26"/>
                </a:solidFill>
                <a:latin typeface="Inter" pitchFamily="34" charset="0"/>
                <a:ea typeface="Inter" pitchFamily="34" charset="-122"/>
                <a:cs typeface="Inter" pitchFamily="34" charset="-120"/>
              </a:rPr>
              <a:t>  −$76K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89.9%</a:t>
            </a:r>
            <a:endParaRPr lang="en-US" sz="2200" dirty="0"/>
          </a:p>
        </p:txBody>
      </p:sp>
      <p:sp>
        <p:nvSpPr>
          <p:cNvPr id="14" name="Shape 12"/>
          <p:cNvSpPr/>
          <p:nvPr/>
        </p:nvSpPr>
        <p:spPr>
          <a:xfrm>
            <a:off x="7185660" y="1563624"/>
            <a:ext cx="64008" cy="256032"/>
          </a:xfrm>
          <a:prstGeom prst="rect">
            <a:avLst/>
          </a:prstGeom>
          <a:solidFill>
            <a:srgbClr val="12A566"/>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15,048</a:t>
            </a:r>
            <a:pPr indent="0" marL="0">
              <a:buNone/>
            </a:pPr>
            <a:r>
              <a:rPr lang="en-US" sz="1400" b="1" dirty="0">
                <a:solidFill>
                  <a:srgbClr val="0B7A4A"/>
                </a:solidFill>
                <a:latin typeface="Inter" pitchFamily="34" charset="0"/>
                <a:ea typeface="Inter" pitchFamily="34" charset="-122"/>
                <a:cs typeface="Inter" pitchFamily="34" charset="-120"/>
              </a:rPr>
              <a:t>  +28</a:t>
            </a:r>
            <a:endParaRPr lang="en-US" sz="2200" dirty="0"/>
          </a:p>
        </p:txBody>
      </p:sp>
      <p:sp>
        <p:nvSpPr>
          <p:cNvPr id="19" name="Shape 17"/>
          <p:cNvSpPr/>
          <p:nvPr/>
        </p:nvSpPr>
        <p:spPr>
          <a:xfrm>
            <a:off x="3751326" y="658368"/>
            <a:ext cx="7980426" cy="475488"/>
          </a:xfrm>
          <a:prstGeom prst="rect">
            <a:avLst/>
          </a:prstGeom>
          <a:solidFill>
            <a:srgbClr val="EDF4FA"/>
          </a:solidFill>
          <a:ln/>
        </p:spPr>
      </p:sp>
      <p:sp>
        <p:nvSpPr>
          <p:cNvPr id="20" name="Text 18"/>
          <p:cNvSpPr txBox="1"/>
          <p:nvPr/>
        </p:nvSpPr>
        <p:spPr>
          <a:xfrm>
            <a:off x="3879342" y="658368"/>
            <a:ext cx="7724394"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YOUR BEST PLACES</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4th · Absorption 89.9%   ·   4th · Proficiency 109%   ·   5th · Brake fluid 12.1%</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Service gross</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$5.92M</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$6.61M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$926K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Sell the MPI; price menus to market.</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$2.70M</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$2.84M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$194K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 of 22</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$155K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4 under 85%: dispatch, parts.</a:t>
            </a:r>
            <a:endParaRPr lang="en-US" sz="14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12.0%</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$38K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600 more a year.</a:t>
            </a:r>
            <a:endParaRPr lang="en-US" sz="1400" dirty="0"/>
          </a:p>
        </p:txBody>
      </p:sp>
      <p:sp>
        <p:nvSpPr>
          <p:cNvPr id="55" name="Shape 53"/>
          <p:cNvSpPr/>
          <p:nvPr/>
        </p:nvSpPr>
        <p:spPr>
          <a:xfrm>
            <a:off x="658368" y="3725266"/>
            <a:ext cx="10872216" cy="10973"/>
          </a:xfrm>
          <a:prstGeom prst="rect">
            <a:avLst/>
          </a:prstGeom>
          <a:solidFill>
            <a:srgbClr val="9AA3AD"/>
          </a:solidFill>
          <a:ln/>
        </p:spPr>
      </p:sp>
      <p:sp>
        <p:nvSpPr>
          <p:cNvPr id="56" name="Text 54"/>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7" name="Text 55"/>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58" name="Text 56"/>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81.4%</a:t>
            </a:r>
            <a:endParaRPr lang="en-US" sz="1400" dirty="0"/>
          </a:p>
        </p:txBody>
      </p:sp>
      <p:sp>
        <p:nvSpPr>
          <p:cNvPr id="59" name="Text 57"/>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0" name="Text 58"/>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61" name="Text 59"/>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2,520 more a year.</a:t>
            </a:r>
            <a:endParaRPr lang="en-US" sz="1400" dirty="0"/>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Honda Spokane</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$4.18M</a:t>
            </a:r>
            <a:pPr indent="0" marL="0">
              <a:buNone/>
            </a:pPr>
            <a:r>
              <a:rPr lang="en-US" sz="1400" b="1" dirty="0">
                <a:solidFill>
                  <a:srgbClr val="0B7A4A"/>
                </a:solidFill>
                <a:latin typeface="Inter" pitchFamily="34" charset="0"/>
                <a:ea typeface="Inter" pitchFamily="34" charset="-122"/>
                <a:cs typeface="Inter" pitchFamily="34" charset="-120"/>
              </a:rPr>
              <a:t>  +$373K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$1.32M</a:t>
            </a:r>
            <a:pPr indent="0" marL="0">
              <a:buNone/>
            </a:pPr>
            <a:r>
              <a:rPr lang="en-US" sz="1400" b="1" dirty="0">
                <a:solidFill>
                  <a:srgbClr val="0B7A4A"/>
                </a:solidFill>
                <a:latin typeface="Inter" pitchFamily="34" charset="0"/>
                <a:ea typeface="Inter" pitchFamily="34" charset="-122"/>
                <a:cs typeface="Inter" pitchFamily="34" charset="-120"/>
              </a:rPr>
              <a:t>  +$3K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87.6%</a:t>
            </a:r>
            <a:endParaRPr lang="en-US" sz="2200" dirty="0"/>
          </a:p>
        </p:txBody>
      </p:sp>
      <p:sp>
        <p:nvSpPr>
          <p:cNvPr id="14" name="Shape 12"/>
          <p:cNvSpPr/>
          <p:nvPr/>
        </p:nvSpPr>
        <p:spPr>
          <a:xfrm>
            <a:off x="7185660" y="1563624"/>
            <a:ext cx="64008" cy="256032"/>
          </a:xfrm>
          <a:prstGeom prst="rect">
            <a:avLst/>
          </a:prstGeom>
          <a:solidFill>
            <a:srgbClr val="12A566"/>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8,930</a:t>
            </a:r>
            <a:pPr indent="0" marL="0">
              <a:buNone/>
            </a:pPr>
            <a:r>
              <a:rPr lang="en-US" sz="1400" b="1" dirty="0">
                <a:solidFill>
                  <a:srgbClr val="A82B26"/>
                </a:solidFill>
                <a:latin typeface="Inter" pitchFamily="34" charset="0"/>
                <a:ea typeface="Inter" pitchFamily="34" charset="-122"/>
                <a:cs typeface="Inter" pitchFamily="34" charset="-120"/>
              </a:rPr>
              <a:t>  −999</a:t>
            </a:r>
            <a:endParaRPr lang="en-US" sz="2200" dirty="0"/>
          </a:p>
        </p:txBody>
      </p:sp>
      <p:sp>
        <p:nvSpPr>
          <p:cNvPr id="19" name="Shape 17"/>
          <p:cNvSpPr/>
          <p:nvPr/>
        </p:nvSpPr>
        <p:spPr>
          <a:xfrm>
            <a:off x="7237984" y="658368"/>
            <a:ext cx="4493768" cy="475488"/>
          </a:xfrm>
          <a:prstGeom prst="rect">
            <a:avLst/>
          </a:prstGeom>
          <a:solidFill>
            <a:srgbClr val="EDF4FA"/>
          </a:solidFill>
          <a:ln/>
        </p:spPr>
      </p:sp>
      <p:sp>
        <p:nvSpPr>
          <p:cNvPr id="20" name="Text 18"/>
          <p:cNvSpPr txBox="1"/>
          <p:nvPr/>
        </p:nvSpPr>
        <p:spPr>
          <a:xfrm>
            <a:off x="7366000" y="658368"/>
            <a:ext cx="4237736"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2nd · Parts GP 47.0%   ·   3rd · CP ELR +$27</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RO count</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8,930</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9,929</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$456K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Win back lapsed customers: 1,332 more ROs.</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2.1%</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$80K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1,526 more a year.</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3.2%</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$75K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509 more a year.</a:t>
            </a:r>
            <a:endParaRPr lang="en-US" sz="14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12.5%</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$36K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294 more a year.</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$1.39M</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$1.41M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$15K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61" name="Shape 59"/>
          <p:cNvSpPr/>
          <p:nvPr/>
        </p:nvSpPr>
        <p:spPr>
          <a:xfrm>
            <a:off x="658368" y="4059936"/>
            <a:ext cx="10872216" cy="329184"/>
          </a:xfrm>
          <a:prstGeom prst="rect">
            <a:avLst/>
          </a:prstGeom>
          <a:solidFill>
            <a:srgbClr val="F7F7F7"/>
          </a:solidFill>
          <a:ln/>
        </p:spPr>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 of 15</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$12K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2 under 85%: dispatch, parts.</a:t>
            </a:r>
            <a:endParaRPr lang="en-US" sz="1400" dirty="0"/>
          </a:p>
        </p:txBody>
      </p:sp>
      <p:sp>
        <p:nvSpPr>
          <p:cNvPr id="68" name="Shape 66"/>
          <p:cNvSpPr/>
          <p:nvPr/>
        </p:nvSpPr>
        <p:spPr>
          <a:xfrm>
            <a:off x="658368" y="4383634"/>
            <a:ext cx="10872216" cy="10973"/>
          </a:xfrm>
          <a:prstGeom prst="rect">
            <a:avLst/>
          </a:prstGeom>
          <a:solidFill>
            <a:srgbClr val="9AA3AD"/>
          </a:solidFill>
          <a:ln/>
        </p:spPr>
      </p:sp>
      <p:sp>
        <p:nvSpPr>
          <p:cNvPr id="69" name="Text 67"/>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70" name="Text 68"/>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71" name="Text 69"/>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49.6%</a:t>
            </a:r>
            <a:endParaRPr lang="en-US" sz="1400" dirty="0"/>
          </a:p>
        </p:txBody>
      </p:sp>
      <p:sp>
        <p:nvSpPr>
          <p:cNvPr id="72" name="Text 70"/>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3" name="Text 71"/>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74" name="Text 72"/>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5,742 more a year.</a:t>
            </a:r>
            <a:endParaRPr lang="en-US" sz="1400" dirty="0"/>
          </a:p>
        </p:txBody>
      </p:sp>
      <p:sp>
        <p:nvSpPr>
          <p:cNvPr id="75" name="Shape 73"/>
          <p:cNvSpPr/>
          <p:nvPr/>
        </p:nvSpPr>
        <p:spPr>
          <a:xfrm>
            <a:off x="658368" y="4718304"/>
            <a:ext cx="10872216" cy="329184"/>
          </a:xfrm>
          <a:prstGeom prst="rect">
            <a:avLst/>
          </a:prstGeom>
          <a:solidFill>
            <a:srgbClr val="F7F7F7"/>
          </a:solidFill>
          <a:ln/>
        </p:spPr>
      </p:sp>
      <p:sp>
        <p:nvSpPr>
          <p:cNvPr id="76" name="Text 74"/>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7" name="Text 75"/>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78" name="Text 76"/>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49.6%</a:t>
            </a:r>
            <a:endParaRPr lang="en-US" sz="1400" dirty="0"/>
          </a:p>
        </p:txBody>
      </p:sp>
      <p:sp>
        <p:nvSpPr>
          <p:cNvPr id="79" name="Text 77"/>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80" name="Text 78"/>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1" name="Text 79"/>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1,171 more a year.</a:t>
            </a:r>
            <a:endParaRPr lang="en-US" sz="1400" dirty="0"/>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Hyundai Prescott</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$1.54M</a:t>
            </a:r>
            <a:pPr indent="0" marL="0">
              <a:buNone/>
            </a:pPr>
            <a:r>
              <a:rPr lang="en-US" sz="1400" b="1" dirty="0">
                <a:solidFill>
                  <a:srgbClr val="0B7A4A"/>
                </a:solidFill>
                <a:latin typeface="Inter" pitchFamily="34" charset="0"/>
                <a:ea typeface="Inter" pitchFamily="34" charset="-122"/>
                <a:cs typeface="Inter" pitchFamily="34" charset="-120"/>
              </a:rPr>
              <a:t>  +$404K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A82B26"/>
                </a:solidFill>
                <a:latin typeface="Inter" pitchFamily="34" charset="0"/>
                <a:ea typeface="Inter" pitchFamily="34" charset="-122"/>
                <a:cs typeface="Inter" pitchFamily="34" charset="-120"/>
              </a:rPr>
              <a:t>−$136,511</a:t>
            </a:r>
            <a:pPr indent="0" marL="0">
              <a:buNone/>
            </a:pPr>
            <a:r>
              <a:rPr lang="en-US" sz="1400" b="1" dirty="0">
                <a:solidFill>
                  <a:srgbClr val="0B7A4A"/>
                </a:solidFill>
                <a:latin typeface="Inter" pitchFamily="34" charset="0"/>
                <a:ea typeface="Inter" pitchFamily="34" charset="-122"/>
                <a:cs typeface="Inter" pitchFamily="34" charset="-120"/>
              </a:rPr>
              <a:t>  +$96K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46.2%</a:t>
            </a:r>
            <a:endParaRPr lang="en-US" sz="2200" dirty="0"/>
          </a:p>
        </p:txBody>
      </p:sp>
      <p:sp>
        <p:nvSpPr>
          <p:cNvPr id="14" name="Shape 12"/>
          <p:cNvSpPr/>
          <p:nvPr/>
        </p:nvSpPr>
        <p:spPr>
          <a:xfrm>
            <a:off x="7185660" y="1563624"/>
            <a:ext cx="64008" cy="256032"/>
          </a:xfrm>
          <a:prstGeom prst="rect">
            <a:avLst/>
          </a:prstGeom>
          <a:solidFill>
            <a:srgbClr val="C2352F"/>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2,010</a:t>
            </a:r>
            <a:pPr indent="0" marL="0">
              <a:buNone/>
            </a:pPr>
            <a:r>
              <a:rPr lang="en-US" sz="1400" b="1" dirty="0">
                <a:solidFill>
                  <a:srgbClr val="0B7A4A"/>
                </a:solidFill>
                <a:latin typeface="Inter" pitchFamily="34" charset="0"/>
                <a:ea typeface="Inter" pitchFamily="34" charset="-122"/>
                <a:cs typeface="Inter" pitchFamily="34" charset="-120"/>
              </a:rPr>
              <a:t>  +226</a:t>
            </a:r>
            <a:endParaRPr lang="en-US" sz="2200" dirty="0"/>
          </a:p>
        </p:txBody>
      </p:sp>
      <p:sp>
        <p:nvSpPr>
          <p:cNvPr id="19" name="Shape 17"/>
          <p:cNvSpPr/>
          <p:nvPr/>
        </p:nvSpPr>
        <p:spPr>
          <a:xfrm>
            <a:off x="7143750" y="658368"/>
            <a:ext cx="4588002" cy="475488"/>
          </a:xfrm>
          <a:prstGeom prst="rect">
            <a:avLst/>
          </a:prstGeom>
          <a:solidFill>
            <a:srgbClr val="EDF4FA"/>
          </a:solidFill>
          <a:ln/>
        </p:spPr>
      </p:sp>
      <p:sp>
        <p:nvSpPr>
          <p:cNvPr id="20" name="Text 18"/>
          <p:cNvSpPr txBox="1"/>
          <p:nvPr/>
        </p:nvSpPr>
        <p:spPr>
          <a:xfrm>
            <a:off x="7271766" y="658368"/>
            <a:ext cx="4331970"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3rd · Video 91.2%   ·   3rd · Alignment 21.7%</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 of 9</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$412K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Dispatch, staging and approvals: flag 85%.</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$213</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$264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$92K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GP %</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67.7%</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78%</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$59K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Right tech, right work; review discounts.</a:t>
            </a:r>
            <a:endParaRPr lang="en-US" sz="14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1.64</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$54K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+0.11 hr per RO.</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ELR</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$136</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$147</a:t>
            </a:r>
            <a:pPr indent="0" marL="0">
              <a:buNone/>
            </a:pPr>
            <a:r>
              <a:rPr lang="en-US" sz="1400" dirty="0">
                <a:solidFill>
                  <a:srgbClr val="595959"/>
                </a:solidFill>
                <a:latin typeface="Inter" pitchFamily="34" charset="0"/>
                <a:ea typeface="Inter" pitchFamily="34" charset="-122"/>
                <a:cs typeface="Inter" pitchFamily="34" charset="-120"/>
              </a:rPr>
              <a:t> 70% of door</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$51K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Charge the posted rate; control discounts.</a:t>
            </a:r>
            <a:endParaRPr lang="en-US" sz="1400" dirty="0"/>
          </a:p>
        </p:txBody>
      </p:sp>
      <p:sp>
        <p:nvSpPr>
          <p:cNvPr id="61" name="Shape 59"/>
          <p:cNvSpPr/>
          <p:nvPr/>
        </p:nvSpPr>
        <p:spPr>
          <a:xfrm>
            <a:off x="658368" y="4054450"/>
            <a:ext cx="10872216" cy="10973"/>
          </a:xfrm>
          <a:prstGeom prst="rect">
            <a:avLst/>
          </a:prstGeom>
          <a:solidFill>
            <a:srgbClr val="9AA3AD"/>
          </a:solidFill>
          <a:ln/>
        </p:spPr>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$11,631</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1.2 heads over peer avg.</a:t>
            </a:r>
            <a:endParaRPr lang="en-US" sz="1400" dirty="0"/>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Hyundai St George</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$2.29M</a:t>
            </a:r>
            <a:pPr indent="0" marL="0">
              <a:buNone/>
            </a:pPr>
            <a:r>
              <a:rPr lang="en-US" sz="1400" b="1" dirty="0">
                <a:solidFill>
                  <a:srgbClr val="0B7A4A"/>
                </a:solidFill>
                <a:latin typeface="Inter" pitchFamily="34" charset="0"/>
                <a:ea typeface="Inter" pitchFamily="34" charset="-122"/>
                <a:cs typeface="Inter" pitchFamily="34" charset="-120"/>
              </a:rPr>
              <a:t>  +$88K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$107,886</a:t>
            </a:r>
            <a:pPr indent="0" marL="0">
              <a:buNone/>
            </a:pPr>
            <a:r>
              <a:rPr lang="en-US" sz="1400" b="1" dirty="0">
                <a:solidFill>
                  <a:srgbClr val="A82B26"/>
                </a:solidFill>
                <a:latin typeface="Inter" pitchFamily="34" charset="0"/>
                <a:ea typeface="Inter" pitchFamily="34" charset="-122"/>
                <a:cs typeface="Inter" pitchFamily="34" charset="-120"/>
              </a:rPr>
              <a:t>  −$96K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57.2%</a:t>
            </a:r>
            <a:endParaRPr lang="en-US" sz="2200" dirty="0"/>
          </a:p>
        </p:txBody>
      </p:sp>
      <p:sp>
        <p:nvSpPr>
          <p:cNvPr id="14" name="Shape 12"/>
          <p:cNvSpPr/>
          <p:nvPr/>
        </p:nvSpPr>
        <p:spPr>
          <a:xfrm>
            <a:off x="7185660" y="1563624"/>
            <a:ext cx="64008" cy="256032"/>
          </a:xfrm>
          <a:prstGeom prst="rect">
            <a:avLst/>
          </a:prstGeom>
          <a:solidFill>
            <a:srgbClr val="C2352F"/>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3,349</a:t>
            </a:r>
            <a:pPr indent="0" marL="0">
              <a:buNone/>
            </a:pPr>
            <a:r>
              <a:rPr lang="en-US" sz="1400" b="1" dirty="0">
                <a:solidFill>
                  <a:srgbClr val="A82B26"/>
                </a:solidFill>
                <a:latin typeface="Inter" pitchFamily="34" charset="0"/>
                <a:ea typeface="Inter" pitchFamily="34" charset="-122"/>
                <a:cs typeface="Inter" pitchFamily="34" charset="-120"/>
              </a:rPr>
              <a:t>  −435</a:t>
            </a:r>
            <a:endParaRPr lang="en-US" sz="2200" dirty="0"/>
          </a:p>
        </p:txBody>
      </p:sp>
      <p:sp>
        <p:nvSpPr>
          <p:cNvPr id="19" name="Shape 17"/>
          <p:cNvSpPr/>
          <p:nvPr/>
        </p:nvSpPr>
        <p:spPr>
          <a:xfrm>
            <a:off x="9122664" y="658368"/>
            <a:ext cx="2609088" cy="475488"/>
          </a:xfrm>
          <a:prstGeom prst="rect">
            <a:avLst/>
          </a:prstGeom>
          <a:solidFill>
            <a:srgbClr val="EDF4FA"/>
          </a:solidFill>
          <a:ln/>
        </p:spPr>
      </p:sp>
      <p:sp>
        <p:nvSpPr>
          <p:cNvPr id="20" name="Text 18"/>
          <p:cNvSpPr txBox="1"/>
          <p:nvPr/>
        </p:nvSpPr>
        <p:spPr>
          <a:xfrm>
            <a:off x="9250680" y="658368"/>
            <a:ext cx="2353056"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2nd · Hours per RO +0.40</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 of 11</a:t>
            </a:r>
            <a:endParaRPr lang="en-US" sz="1400" dirty="0"/>
          </a:p>
        </p:txBody>
      </p:sp>
      <p:sp>
        <p:nvSpPr>
          <p:cNvPr id="32" name="Text 30"/>
          <p:cNvSpPr txBox="1"/>
          <p:nvPr/>
        </p:nvSpPr>
        <p:spPr>
          <a:xfrm>
            <a:off x="4087368" y="24140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$1.06M</a:t>
            </a:r>
            <a:endParaRPr lang="en-US" sz="1400" dirty="0"/>
          </a:p>
        </p:txBody>
      </p:sp>
      <p:sp>
        <p:nvSpPr>
          <p:cNvPr id="34" name="Text 32"/>
          <p:cNvSpPr txBox="1"/>
          <p:nvPr/>
        </p:nvSpPr>
        <p:spPr>
          <a:xfrm>
            <a:off x="7059168" y="24140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Dispatch, staging and approvals: flag 85%.</a:t>
            </a:r>
            <a:endParaRPr lang="en-US" sz="1400" dirty="0"/>
          </a:p>
        </p:txBody>
      </p:sp>
      <p:sp>
        <p:nvSpPr>
          <p:cNvPr id="35" name="Shape 33"/>
          <p:cNvSpPr/>
          <p:nvPr/>
        </p:nvSpPr>
        <p:spPr>
          <a:xfrm>
            <a:off x="658368" y="2737866"/>
            <a:ext cx="10872216" cy="323850"/>
          </a:xfrm>
          <a:prstGeom prst="rect">
            <a:avLst/>
          </a:prstGeom>
          <a:solidFill>
            <a:srgbClr val="F7F7F7"/>
          </a:solidFill>
          <a:ln/>
        </p:spPr>
      </p:sp>
      <p:sp>
        <p:nvSpPr>
          <p:cNvPr id="36" name="Text 34"/>
          <p:cNvSpPr txBox="1"/>
          <p:nvPr/>
        </p:nvSpPr>
        <p:spPr>
          <a:xfrm>
            <a:off x="658368" y="27378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378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38" name="Text 36"/>
          <p:cNvSpPr txBox="1"/>
          <p:nvPr/>
        </p:nvSpPr>
        <p:spPr>
          <a:xfrm>
            <a:off x="2990088" y="27378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$827K</a:t>
            </a:r>
            <a:endParaRPr lang="en-US" sz="1400" dirty="0"/>
          </a:p>
        </p:txBody>
      </p:sp>
      <p:sp>
        <p:nvSpPr>
          <p:cNvPr id="39" name="Text 37"/>
          <p:cNvSpPr txBox="1"/>
          <p:nvPr/>
        </p:nvSpPr>
        <p:spPr>
          <a:xfrm>
            <a:off x="4087368" y="27378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$1.05M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40" name="Text 38"/>
          <p:cNvSpPr txBox="1"/>
          <p:nvPr/>
        </p:nvSpPr>
        <p:spPr>
          <a:xfrm>
            <a:off x="5989320" y="27378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$302K</a:t>
            </a:r>
            <a:endParaRPr lang="en-US" sz="1400" dirty="0"/>
          </a:p>
        </p:txBody>
      </p:sp>
      <p:sp>
        <p:nvSpPr>
          <p:cNvPr id="41" name="Text 39"/>
          <p:cNvSpPr txBox="1"/>
          <p:nvPr/>
        </p:nvSpPr>
        <p:spPr>
          <a:xfrm>
            <a:off x="7059168" y="27378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42" name="Text 40"/>
          <p:cNvSpPr txBox="1"/>
          <p:nvPr/>
        </p:nvSpPr>
        <p:spPr>
          <a:xfrm>
            <a:off x="658368" y="30617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617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44" name="Text 42"/>
          <p:cNvSpPr txBox="1"/>
          <p:nvPr/>
        </p:nvSpPr>
        <p:spPr>
          <a:xfrm>
            <a:off x="2990088" y="30617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1.43</a:t>
            </a:r>
            <a:endParaRPr lang="en-US" sz="1400" dirty="0"/>
          </a:p>
        </p:txBody>
      </p:sp>
      <p:sp>
        <p:nvSpPr>
          <p:cNvPr id="45" name="Text 43"/>
          <p:cNvSpPr txBox="1"/>
          <p:nvPr/>
        </p:nvSpPr>
        <p:spPr>
          <a:xfrm>
            <a:off x="4087368" y="30617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6" name="Text 44"/>
          <p:cNvSpPr txBox="1"/>
          <p:nvPr/>
        </p:nvSpPr>
        <p:spPr>
          <a:xfrm>
            <a:off x="5989320" y="30617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$259K</a:t>
            </a:r>
            <a:endParaRPr lang="en-US" sz="1400" dirty="0"/>
          </a:p>
        </p:txBody>
      </p:sp>
      <p:sp>
        <p:nvSpPr>
          <p:cNvPr id="47" name="Text 45"/>
          <p:cNvSpPr txBox="1"/>
          <p:nvPr/>
        </p:nvSpPr>
        <p:spPr>
          <a:xfrm>
            <a:off x="7059168" y="30617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+0.32 hr per RO.</a:t>
            </a:r>
            <a:endParaRPr lang="en-US" sz="1400" dirty="0"/>
          </a:p>
        </p:txBody>
      </p:sp>
      <p:sp>
        <p:nvSpPr>
          <p:cNvPr id="48" name="Shape 46"/>
          <p:cNvSpPr/>
          <p:nvPr/>
        </p:nvSpPr>
        <p:spPr>
          <a:xfrm>
            <a:off x="658368" y="3385566"/>
            <a:ext cx="10872216" cy="323850"/>
          </a:xfrm>
          <a:prstGeom prst="rect">
            <a:avLst/>
          </a:prstGeom>
          <a:solidFill>
            <a:srgbClr val="F7F7F7"/>
          </a:solidFill>
          <a:ln/>
        </p:spPr>
      </p:sp>
      <p:sp>
        <p:nvSpPr>
          <p:cNvPr id="49" name="Text 47"/>
          <p:cNvSpPr txBox="1"/>
          <p:nvPr/>
        </p:nvSpPr>
        <p:spPr>
          <a:xfrm>
            <a:off x="658368" y="33855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3855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RO count</a:t>
            </a:r>
            <a:endParaRPr lang="en-US" sz="1400" dirty="0"/>
          </a:p>
        </p:txBody>
      </p:sp>
      <p:sp>
        <p:nvSpPr>
          <p:cNvPr id="51" name="Text 49"/>
          <p:cNvSpPr txBox="1"/>
          <p:nvPr/>
        </p:nvSpPr>
        <p:spPr>
          <a:xfrm>
            <a:off x="2990088" y="33855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3,349</a:t>
            </a:r>
            <a:endParaRPr lang="en-US" sz="1400" dirty="0"/>
          </a:p>
        </p:txBody>
      </p:sp>
      <p:sp>
        <p:nvSpPr>
          <p:cNvPr id="52" name="Text 50"/>
          <p:cNvSpPr txBox="1"/>
          <p:nvPr/>
        </p:nvSpPr>
        <p:spPr>
          <a:xfrm>
            <a:off x="4087368" y="33855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3,784</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53" name="Text 51"/>
          <p:cNvSpPr txBox="1"/>
          <p:nvPr/>
        </p:nvSpPr>
        <p:spPr>
          <a:xfrm>
            <a:off x="5989320" y="33855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$198K</a:t>
            </a:r>
            <a:endParaRPr lang="en-US" sz="1400" dirty="0"/>
          </a:p>
        </p:txBody>
      </p:sp>
      <p:sp>
        <p:nvSpPr>
          <p:cNvPr id="54" name="Text 52"/>
          <p:cNvSpPr txBox="1"/>
          <p:nvPr/>
        </p:nvSpPr>
        <p:spPr>
          <a:xfrm>
            <a:off x="7059168" y="33855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Win back lapsed customers: 580 more ROs.</a:t>
            </a:r>
            <a:endParaRPr lang="en-US" sz="1400" dirty="0"/>
          </a:p>
        </p:txBody>
      </p:sp>
      <p:sp>
        <p:nvSpPr>
          <p:cNvPr id="55" name="Text 53"/>
          <p:cNvSpPr txBox="1"/>
          <p:nvPr/>
        </p:nvSpPr>
        <p:spPr>
          <a:xfrm>
            <a:off x="658368" y="37094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094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57" name="Text 55"/>
          <p:cNvSpPr txBox="1"/>
          <p:nvPr/>
        </p:nvSpPr>
        <p:spPr>
          <a:xfrm>
            <a:off x="2990088" y="37094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$238</a:t>
            </a:r>
            <a:endParaRPr lang="en-US" sz="1400" dirty="0"/>
          </a:p>
        </p:txBody>
      </p:sp>
      <p:sp>
        <p:nvSpPr>
          <p:cNvPr id="58" name="Text 56"/>
          <p:cNvSpPr txBox="1"/>
          <p:nvPr/>
        </p:nvSpPr>
        <p:spPr>
          <a:xfrm>
            <a:off x="4087368" y="37094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$264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59" name="Text 57"/>
          <p:cNvSpPr txBox="1"/>
          <p:nvPr/>
        </p:nvSpPr>
        <p:spPr>
          <a:xfrm>
            <a:off x="5989320" y="37094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$98K</a:t>
            </a:r>
            <a:endParaRPr lang="en-US" sz="1400" dirty="0"/>
          </a:p>
        </p:txBody>
      </p:sp>
      <p:sp>
        <p:nvSpPr>
          <p:cNvPr id="60" name="Text 58"/>
          <p:cNvSpPr txBox="1"/>
          <p:nvPr/>
        </p:nvSpPr>
        <p:spPr>
          <a:xfrm>
            <a:off x="7059168" y="37094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61" name="Shape 59"/>
          <p:cNvSpPr/>
          <p:nvPr/>
        </p:nvSpPr>
        <p:spPr>
          <a:xfrm>
            <a:off x="658368" y="4033266"/>
            <a:ext cx="10872216" cy="323850"/>
          </a:xfrm>
          <a:prstGeom prst="rect">
            <a:avLst/>
          </a:prstGeom>
          <a:solidFill>
            <a:srgbClr val="F7F7F7"/>
          </a:solidFill>
          <a:ln/>
        </p:spPr>
      </p:sp>
      <p:sp>
        <p:nvSpPr>
          <p:cNvPr id="62" name="Text 60"/>
          <p:cNvSpPr txBox="1"/>
          <p:nvPr/>
        </p:nvSpPr>
        <p:spPr>
          <a:xfrm>
            <a:off x="658368" y="40332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332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64" name="Text 62"/>
          <p:cNvSpPr txBox="1"/>
          <p:nvPr/>
        </p:nvSpPr>
        <p:spPr>
          <a:xfrm>
            <a:off x="2990088" y="40332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a:t>
            </a:r>
            <a:endParaRPr lang="en-US" sz="1400" dirty="0"/>
          </a:p>
        </p:txBody>
      </p:sp>
      <p:sp>
        <p:nvSpPr>
          <p:cNvPr id="65" name="Text 63"/>
          <p:cNvSpPr txBox="1"/>
          <p:nvPr/>
        </p:nvSpPr>
        <p:spPr>
          <a:xfrm>
            <a:off x="4087368" y="40332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332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$36K</a:t>
            </a:r>
            <a:endParaRPr lang="en-US" sz="1400" dirty="0"/>
          </a:p>
        </p:txBody>
      </p:sp>
      <p:sp>
        <p:nvSpPr>
          <p:cNvPr id="67" name="Text 65"/>
          <p:cNvSpPr txBox="1"/>
          <p:nvPr/>
        </p:nvSpPr>
        <p:spPr>
          <a:xfrm>
            <a:off x="7059168" y="40332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615 more a year.</a:t>
            </a:r>
            <a:endParaRPr lang="en-US" sz="1400" dirty="0"/>
          </a:p>
        </p:txBody>
      </p:sp>
      <p:sp>
        <p:nvSpPr>
          <p:cNvPr id="68" name="Text 66"/>
          <p:cNvSpPr txBox="1"/>
          <p:nvPr/>
        </p:nvSpPr>
        <p:spPr>
          <a:xfrm>
            <a:off x="658368" y="43571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571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70" name="Text 68"/>
          <p:cNvSpPr txBox="1"/>
          <p:nvPr/>
        </p:nvSpPr>
        <p:spPr>
          <a:xfrm>
            <a:off x="2990088" y="43571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4.7%</a:t>
            </a:r>
            <a:endParaRPr lang="en-US" sz="1400" dirty="0"/>
          </a:p>
        </p:txBody>
      </p:sp>
      <p:sp>
        <p:nvSpPr>
          <p:cNvPr id="71" name="Text 69"/>
          <p:cNvSpPr txBox="1"/>
          <p:nvPr/>
        </p:nvSpPr>
        <p:spPr>
          <a:xfrm>
            <a:off x="4087368" y="43571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571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$32K</a:t>
            </a:r>
            <a:endParaRPr lang="en-US" sz="1400" dirty="0"/>
          </a:p>
        </p:txBody>
      </p:sp>
      <p:sp>
        <p:nvSpPr>
          <p:cNvPr id="73" name="Text 71"/>
          <p:cNvSpPr txBox="1"/>
          <p:nvPr/>
        </p:nvSpPr>
        <p:spPr>
          <a:xfrm>
            <a:off x="7059168" y="43571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235 more a year.</a:t>
            </a:r>
            <a:endParaRPr lang="en-US" sz="1400" dirty="0"/>
          </a:p>
        </p:txBody>
      </p:sp>
      <p:sp>
        <p:nvSpPr>
          <p:cNvPr id="74" name="Shape 72"/>
          <p:cNvSpPr/>
          <p:nvPr/>
        </p:nvSpPr>
        <p:spPr>
          <a:xfrm>
            <a:off x="658368" y="4680966"/>
            <a:ext cx="10872216" cy="323850"/>
          </a:xfrm>
          <a:prstGeom prst="rect">
            <a:avLst/>
          </a:prstGeom>
          <a:solidFill>
            <a:srgbClr val="F7F7F7"/>
          </a:solidFill>
          <a:ln/>
        </p:spPr>
      </p:sp>
      <p:sp>
        <p:nvSpPr>
          <p:cNvPr id="75" name="Text 73"/>
          <p:cNvSpPr txBox="1"/>
          <p:nvPr/>
        </p:nvSpPr>
        <p:spPr>
          <a:xfrm>
            <a:off x="658368" y="46809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6809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77" name="Text 75"/>
          <p:cNvSpPr txBox="1"/>
          <p:nvPr/>
        </p:nvSpPr>
        <p:spPr>
          <a:xfrm>
            <a:off x="2990088" y="46809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5.8%</a:t>
            </a:r>
            <a:endParaRPr lang="en-US" sz="1400" dirty="0"/>
          </a:p>
        </p:txBody>
      </p:sp>
      <p:sp>
        <p:nvSpPr>
          <p:cNvPr id="78" name="Text 76"/>
          <p:cNvSpPr txBox="1"/>
          <p:nvPr/>
        </p:nvSpPr>
        <p:spPr>
          <a:xfrm>
            <a:off x="4087368" y="46809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9" name="Text 77"/>
          <p:cNvSpPr txBox="1"/>
          <p:nvPr/>
        </p:nvSpPr>
        <p:spPr>
          <a:xfrm>
            <a:off x="5989320" y="46809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$13K</a:t>
            </a:r>
            <a:endParaRPr lang="en-US" sz="1400" dirty="0"/>
          </a:p>
        </p:txBody>
      </p:sp>
      <p:sp>
        <p:nvSpPr>
          <p:cNvPr id="80" name="Text 78"/>
          <p:cNvSpPr txBox="1"/>
          <p:nvPr/>
        </p:nvSpPr>
        <p:spPr>
          <a:xfrm>
            <a:off x="7059168" y="46809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72 more a year.</a:t>
            </a:r>
            <a:endParaRPr lang="en-US" sz="1400" dirty="0"/>
          </a:p>
        </p:txBody>
      </p:sp>
      <p:sp>
        <p:nvSpPr>
          <p:cNvPr id="81" name="Text 79"/>
          <p:cNvSpPr txBox="1"/>
          <p:nvPr/>
        </p:nvSpPr>
        <p:spPr>
          <a:xfrm>
            <a:off x="658368" y="50048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2" name="Text 80"/>
          <p:cNvSpPr txBox="1"/>
          <p:nvPr/>
        </p:nvSpPr>
        <p:spPr>
          <a:xfrm>
            <a:off x="1024128" y="50048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83" name="Text 81"/>
          <p:cNvSpPr txBox="1"/>
          <p:nvPr/>
        </p:nvSpPr>
        <p:spPr>
          <a:xfrm>
            <a:off x="2990088" y="50048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39.4%</a:t>
            </a:r>
            <a:endParaRPr lang="en-US" sz="1400" dirty="0"/>
          </a:p>
        </p:txBody>
      </p:sp>
      <p:sp>
        <p:nvSpPr>
          <p:cNvPr id="84" name="Text 82"/>
          <p:cNvSpPr txBox="1"/>
          <p:nvPr/>
        </p:nvSpPr>
        <p:spPr>
          <a:xfrm>
            <a:off x="4087368" y="50048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85" name="Text 83"/>
          <p:cNvSpPr txBox="1"/>
          <p:nvPr/>
        </p:nvSpPr>
        <p:spPr>
          <a:xfrm>
            <a:off x="5989320" y="50048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$10K</a:t>
            </a:r>
            <a:endParaRPr lang="en-US" sz="1400" dirty="0"/>
          </a:p>
        </p:txBody>
      </p:sp>
      <p:sp>
        <p:nvSpPr>
          <p:cNvPr id="86" name="Text 84"/>
          <p:cNvSpPr txBox="1"/>
          <p:nvPr/>
        </p:nvSpPr>
        <p:spPr>
          <a:xfrm>
            <a:off x="7059168" y="50048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87" name="Shape 85"/>
          <p:cNvSpPr/>
          <p:nvPr/>
        </p:nvSpPr>
        <p:spPr>
          <a:xfrm>
            <a:off x="658368" y="5323180"/>
            <a:ext cx="10872216" cy="10973"/>
          </a:xfrm>
          <a:prstGeom prst="rect">
            <a:avLst/>
          </a:prstGeom>
          <a:solidFill>
            <a:srgbClr val="9AA3AD"/>
          </a:solidFill>
          <a:ln/>
        </p:spPr>
      </p:sp>
      <p:sp>
        <p:nvSpPr>
          <p:cNvPr id="88" name="Text 86"/>
          <p:cNvSpPr txBox="1"/>
          <p:nvPr/>
        </p:nvSpPr>
        <p:spPr>
          <a:xfrm>
            <a:off x="658368" y="53286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89" name="Text 87"/>
          <p:cNvSpPr txBox="1"/>
          <p:nvPr/>
        </p:nvSpPr>
        <p:spPr>
          <a:xfrm>
            <a:off x="1024128" y="53286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90" name="Text 88"/>
          <p:cNvSpPr txBox="1"/>
          <p:nvPr/>
        </p:nvSpPr>
        <p:spPr>
          <a:xfrm>
            <a:off x="2990088" y="53286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62.7%</a:t>
            </a:r>
            <a:endParaRPr lang="en-US" sz="1400" dirty="0"/>
          </a:p>
        </p:txBody>
      </p:sp>
      <p:sp>
        <p:nvSpPr>
          <p:cNvPr id="91" name="Text 89"/>
          <p:cNvSpPr txBox="1"/>
          <p:nvPr/>
        </p:nvSpPr>
        <p:spPr>
          <a:xfrm>
            <a:off x="4087368" y="53286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92" name="Text 90"/>
          <p:cNvSpPr txBox="1"/>
          <p:nvPr/>
        </p:nvSpPr>
        <p:spPr>
          <a:xfrm>
            <a:off x="5989320" y="5328666"/>
            <a:ext cx="868680" cy="323850"/>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3" name="Text 91"/>
          <p:cNvSpPr txBox="1"/>
          <p:nvPr/>
        </p:nvSpPr>
        <p:spPr>
          <a:xfrm>
            <a:off x="7059168" y="53286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2,247 more a year.</a:t>
            </a:r>
            <a:endParaRPr lang="en-US" sz="1400" dirty="0"/>
          </a:p>
        </p:txBody>
      </p:sp>
      <p:sp>
        <p:nvSpPr>
          <p:cNvPr id="94" name="Text 92"/>
          <p:cNvSpPr txBox="1"/>
          <p:nvPr/>
        </p:nvSpPr>
        <p:spPr>
          <a:xfrm>
            <a:off x="658368" y="56525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11</a:t>
            </a:r>
            <a:endParaRPr lang="en-US" sz="1400" dirty="0"/>
          </a:p>
        </p:txBody>
      </p:sp>
      <p:sp>
        <p:nvSpPr>
          <p:cNvPr id="95" name="Text 93"/>
          <p:cNvSpPr txBox="1"/>
          <p:nvPr/>
        </p:nvSpPr>
        <p:spPr>
          <a:xfrm>
            <a:off x="1024128" y="56525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96" name="Text 94"/>
          <p:cNvSpPr txBox="1"/>
          <p:nvPr/>
        </p:nvSpPr>
        <p:spPr>
          <a:xfrm>
            <a:off x="2990088" y="56525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$11,541</a:t>
            </a:r>
            <a:endParaRPr lang="en-US" sz="1400" dirty="0"/>
          </a:p>
        </p:txBody>
      </p:sp>
      <p:sp>
        <p:nvSpPr>
          <p:cNvPr id="97" name="Text 95"/>
          <p:cNvSpPr txBox="1"/>
          <p:nvPr/>
        </p:nvSpPr>
        <p:spPr>
          <a:xfrm>
            <a:off x="4087368" y="56525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98" name="Text 96"/>
          <p:cNvSpPr txBox="1"/>
          <p:nvPr/>
        </p:nvSpPr>
        <p:spPr>
          <a:xfrm>
            <a:off x="5989320" y="5652516"/>
            <a:ext cx="868680" cy="323850"/>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9" name="Text 97"/>
          <p:cNvSpPr txBox="1"/>
          <p:nvPr/>
        </p:nvSpPr>
        <p:spPr>
          <a:xfrm>
            <a:off x="7059168" y="56525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2.0 heads over peer avg.</a:t>
            </a:r>
            <a:endParaRPr lang="en-US" sz="1400" dirty="0"/>
          </a:p>
        </p:txBody>
      </p:sp>
      <p:sp>
        <p:nvSpPr>
          <p:cNvPr id="100" name="Shape 98"/>
          <p:cNvSpPr/>
          <p:nvPr/>
        </p:nvSpPr>
        <p:spPr>
          <a:xfrm>
            <a:off x="658368" y="5976366"/>
            <a:ext cx="10872216" cy="323850"/>
          </a:xfrm>
          <a:prstGeom prst="rect">
            <a:avLst/>
          </a:prstGeom>
          <a:solidFill>
            <a:srgbClr val="F7F7F7"/>
          </a:solidFill>
          <a:ln/>
        </p:spPr>
      </p:sp>
      <p:sp>
        <p:nvSpPr>
          <p:cNvPr id="101" name="Text 99"/>
          <p:cNvSpPr txBox="1"/>
          <p:nvPr/>
        </p:nvSpPr>
        <p:spPr>
          <a:xfrm>
            <a:off x="658368" y="59763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12</a:t>
            </a:r>
            <a:endParaRPr lang="en-US" sz="1400" dirty="0"/>
          </a:p>
        </p:txBody>
      </p:sp>
      <p:sp>
        <p:nvSpPr>
          <p:cNvPr id="102" name="Text 100"/>
          <p:cNvSpPr txBox="1"/>
          <p:nvPr/>
        </p:nvSpPr>
        <p:spPr>
          <a:xfrm>
            <a:off x="1024128" y="59763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103" name="Text 101"/>
          <p:cNvSpPr txBox="1"/>
          <p:nvPr/>
        </p:nvSpPr>
        <p:spPr>
          <a:xfrm>
            <a:off x="2990088" y="59763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53.1%</a:t>
            </a:r>
            <a:endParaRPr lang="en-US" sz="1400" dirty="0"/>
          </a:p>
        </p:txBody>
      </p:sp>
      <p:sp>
        <p:nvSpPr>
          <p:cNvPr id="104" name="Text 102"/>
          <p:cNvSpPr txBox="1"/>
          <p:nvPr/>
        </p:nvSpPr>
        <p:spPr>
          <a:xfrm>
            <a:off x="4087368" y="59763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105" name="Text 103"/>
          <p:cNvSpPr txBox="1"/>
          <p:nvPr/>
        </p:nvSpPr>
        <p:spPr>
          <a:xfrm>
            <a:off x="5989320" y="5976366"/>
            <a:ext cx="868680" cy="323850"/>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106" name="Text 104"/>
          <p:cNvSpPr txBox="1"/>
          <p:nvPr/>
        </p:nvSpPr>
        <p:spPr>
          <a:xfrm>
            <a:off x="7059168" y="59763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390 more a year.</a:t>
            </a:r>
            <a:endParaRPr lang="en-US" sz="1400" dirty="0"/>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Kia LV</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$6.15M</a:t>
            </a:r>
            <a:pPr indent="0" marL="0">
              <a:buNone/>
            </a:pPr>
            <a:r>
              <a:rPr lang="en-US" sz="1400" b="1" dirty="0">
                <a:solidFill>
                  <a:srgbClr val="0B7A4A"/>
                </a:solidFill>
                <a:latin typeface="Inter" pitchFamily="34" charset="0"/>
                <a:ea typeface="Inter" pitchFamily="34" charset="-122"/>
                <a:cs typeface="Inter" pitchFamily="34" charset="-120"/>
              </a:rPr>
              <a:t>  +$125K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$1.80M</a:t>
            </a:r>
            <a:pPr indent="0" marL="0">
              <a:buNone/>
            </a:pPr>
            <a:r>
              <a:rPr lang="en-US" sz="1400" b="1" dirty="0">
                <a:solidFill>
                  <a:srgbClr val="0B7A4A"/>
                </a:solidFill>
                <a:latin typeface="Inter" pitchFamily="34" charset="0"/>
                <a:ea typeface="Inter" pitchFamily="34" charset="-122"/>
                <a:cs typeface="Inter" pitchFamily="34" charset="-120"/>
              </a:rPr>
              <a:t>  +$422K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78.6%</a:t>
            </a:r>
            <a:endParaRPr lang="en-US" sz="2200" dirty="0"/>
          </a:p>
        </p:txBody>
      </p:sp>
      <p:sp>
        <p:nvSpPr>
          <p:cNvPr id="14" name="Shape 12"/>
          <p:cNvSpPr/>
          <p:nvPr/>
        </p:nvSpPr>
        <p:spPr>
          <a:xfrm>
            <a:off x="7185660" y="1563624"/>
            <a:ext cx="64008" cy="256032"/>
          </a:xfrm>
          <a:prstGeom prst="rect">
            <a:avLst/>
          </a:prstGeom>
          <a:solidFill>
            <a:srgbClr val="12A566"/>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8,133</a:t>
            </a:r>
            <a:pPr indent="0" marL="0">
              <a:buNone/>
            </a:pPr>
            <a:r>
              <a:rPr lang="en-US" sz="1400" b="1" dirty="0">
                <a:solidFill>
                  <a:srgbClr val="0B7A4A"/>
                </a:solidFill>
                <a:latin typeface="Inter" pitchFamily="34" charset="0"/>
                <a:ea typeface="Inter" pitchFamily="34" charset="-122"/>
                <a:cs typeface="Inter" pitchFamily="34" charset="-120"/>
              </a:rPr>
              <a:t>  +977</a:t>
            </a:r>
            <a:endParaRPr lang="en-US" sz="2200" dirty="0"/>
          </a:p>
        </p:txBody>
      </p:sp>
      <p:sp>
        <p:nvSpPr>
          <p:cNvPr id="19" name="Shape 17"/>
          <p:cNvSpPr/>
          <p:nvPr/>
        </p:nvSpPr>
        <p:spPr>
          <a:xfrm>
            <a:off x="9404096" y="658368"/>
            <a:ext cx="2327656" cy="475488"/>
          </a:xfrm>
          <a:prstGeom prst="rect">
            <a:avLst/>
          </a:prstGeom>
          <a:solidFill>
            <a:srgbClr val="EDF4FA"/>
          </a:solidFill>
          <a:ln/>
        </p:spPr>
      </p:sp>
      <p:sp>
        <p:nvSpPr>
          <p:cNvPr id="20" name="Text 18"/>
          <p:cNvSpPr txBox="1"/>
          <p:nvPr/>
        </p:nvSpPr>
        <p:spPr>
          <a:xfrm>
            <a:off x="9532112" y="658368"/>
            <a:ext cx="2071624"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2nd · CP ROs +977</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16 of 20</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$891K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Dispatch, staging and approvals: flag 85%.</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1.57</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$351K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+0.18 hr per RO.</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$234</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$264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$259K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$2.10M</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$2.27M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$223K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9.7%</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$77K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568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3.2%</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$76K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464 more a year.</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5.2%</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$72K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1,059 more a year.</a:t>
            </a:r>
            <a:endParaRPr lang="en-US" sz="1400" dirty="0"/>
          </a:p>
        </p:txBody>
      </p:sp>
      <p:sp>
        <p:nvSpPr>
          <p:cNvPr id="74" name="Shape 72"/>
          <p:cNvSpPr/>
          <p:nvPr/>
        </p:nvSpPr>
        <p:spPr>
          <a:xfrm>
            <a:off x="658368" y="4718304"/>
            <a:ext cx="10872216" cy="329184"/>
          </a:xfrm>
          <a:prstGeom prst="rect">
            <a:avLst/>
          </a:prstGeom>
          <a:solidFill>
            <a:srgbClr val="F7F7F7"/>
          </a:solidFill>
          <a:ln/>
        </p:spPr>
      </p:sp>
      <p:sp>
        <p:nvSpPr>
          <p:cNvPr id="75" name="Text 73"/>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ELR</a:t>
            </a:r>
            <a:endParaRPr lang="en-US" sz="1400" dirty="0"/>
          </a:p>
        </p:txBody>
      </p:sp>
      <p:sp>
        <p:nvSpPr>
          <p:cNvPr id="77" name="Text 75"/>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$151</a:t>
            </a:r>
            <a:endParaRPr lang="en-US" sz="1400" dirty="0"/>
          </a:p>
        </p:txBody>
      </p:sp>
      <p:sp>
        <p:nvSpPr>
          <p:cNvPr id="78" name="Text 76"/>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$154</a:t>
            </a:r>
            <a:pPr indent="0" marL="0">
              <a:buNone/>
            </a:pPr>
            <a:r>
              <a:rPr lang="en-US" sz="1400" dirty="0">
                <a:solidFill>
                  <a:srgbClr val="595959"/>
                </a:solidFill>
                <a:latin typeface="Inter" pitchFamily="34" charset="0"/>
                <a:ea typeface="Inter" pitchFamily="34" charset="-122"/>
                <a:cs typeface="Inter" pitchFamily="34" charset="-120"/>
              </a:rPr>
              <a:t> 70% of door</a:t>
            </a:r>
            <a:endParaRPr lang="en-US" sz="1400" dirty="0"/>
          </a:p>
        </p:txBody>
      </p:sp>
      <p:sp>
        <p:nvSpPr>
          <p:cNvPr id="79" name="Text 77"/>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$55K</a:t>
            </a:r>
            <a:endParaRPr lang="en-US" sz="1400" dirty="0"/>
          </a:p>
        </p:txBody>
      </p:sp>
      <p:sp>
        <p:nvSpPr>
          <p:cNvPr id="80" name="Text 78"/>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Charge the posted rate; control discounts.</a:t>
            </a:r>
            <a:endParaRPr lang="en-US" sz="1400" dirty="0"/>
          </a:p>
        </p:txBody>
      </p:sp>
      <p:sp>
        <p:nvSpPr>
          <p:cNvPr id="81" name="Text 79"/>
          <p:cNvSpPr txBox="1"/>
          <p:nvPr/>
        </p:nvSpPr>
        <p:spPr>
          <a:xfrm>
            <a:off x="658368" y="504748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2" name="Text 80"/>
          <p:cNvSpPr txBox="1"/>
          <p:nvPr/>
        </p:nvSpPr>
        <p:spPr>
          <a:xfrm>
            <a:off x="1024128" y="504748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83" name="Text 81"/>
          <p:cNvSpPr txBox="1"/>
          <p:nvPr/>
        </p:nvSpPr>
        <p:spPr>
          <a:xfrm>
            <a:off x="2990088" y="504748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8.2%</a:t>
            </a:r>
            <a:endParaRPr lang="en-US" sz="1400" dirty="0"/>
          </a:p>
        </p:txBody>
      </p:sp>
      <p:sp>
        <p:nvSpPr>
          <p:cNvPr id="84" name="Text 82"/>
          <p:cNvSpPr txBox="1"/>
          <p:nvPr/>
        </p:nvSpPr>
        <p:spPr>
          <a:xfrm>
            <a:off x="4087368" y="504748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85" name="Text 83"/>
          <p:cNvSpPr txBox="1"/>
          <p:nvPr/>
        </p:nvSpPr>
        <p:spPr>
          <a:xfrm>
            <a:off x="5989320" y="504748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$22K</a:t>
            </a:r>
            <a:endParaRPr lang="en-US" sz="1400" dirty="0"/>
          </a:p>
        </p:txBody>
      </p:sp>
      <p:sp>
        <p:nvSpPr>
          <p:cNvPr id="86" name="Text 84"/>
          <p:cNvSpPr txBox="1"/>
          <p:nvPr/>
        </p:nvSpPr>
        <p:spPr>
          <a:xfrm>
            <a:off x="7059168" y="504748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187 more a year.</a:t>
            </a:r>
            <a:endParaRPr lang="en-US" sz="1400" dirty="0"/>
          </a:p>
        </p:txBody>
      </p:sp>
      <p:sp>
        <p:nvSpPr>
          <p:cNvPr id="87" name="Shape 85"/>
          <p:cNvSpPr/>
          <p:nvPr/>
        </p:nvSpPr>
        <p:spPr>
          <a:xfrm>
            <a:off x="658368" y="5371186"/>
            <a:ext cx="10872216" cy="10973"/>
          </a:xfrm>
          <a:prstGeom prst="rect">
            <a:avLst/>
          </a:prstGeom>
          <a:solidFill>
            <a:srgbClr val="9AA3AD"/>
          </a:solidFill>
          <a:ln/>
        </p:spPr>
      </p:sp>
      <p:sp>
        <p:nvSpPr>
          <p:cNvPr id="88" name="Text 86"/>
          <p:cNvSpPr txBox="1"/>
          <p:nvPr/>
        </p:nvSpPr>
        <p:spPr>
          <a:xfrm>
            <a:off x="658368" y="537667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89" name="Text 87"/>
          <p:cNvSpPr txBox="1"/>
          <p:nvPr/>
        </p:nvSpPr>
        <p:spPr>
          <a:xfrm>
            <a:off x="1024128" y="537667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90" name="Text 88"/>
          <p:cNvSpPr txBox="1"/>
          <p:nvPr/>
        </p:nvSpPr>
        <p:spPr>
          <a:xfrm>
            <a:off x="2990088" y="537667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31.5%</a:t>
            </a:r>
            <a:endParaRPr lang="en-US" sz="1400" dirty="0"/>
          </a:p>
        </p:txBody>
      </p:sp>
      <p:sp>
        <p:nvSpPr>
          <p:cNvPr id="91" name="Text 89"/>
          <p:cNvSpPr txBox="1"/>
          <p:nvPr/>
        </p:nvSpPr>
        <p:spPr>
          <a:xfrm>
            <a:off x="4087368" y="537667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92" name="Text 90"/>
          <p:cNvSpPr txBox="1"/>
          <p:nvPr/>
        </p:nvSpPr>
        <p:spPr>
          <a:xfrm>
            <a:off x="5989320" y="5376672"/>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3" name="Text 91"/>
          <p:cNvSpPr txBox="1"/>
          <p:nvPr/>
        </p:nvSpPr>
        <p:spPr>
          <a:xfrm>
            <a:off x="7059168" y="537667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4,714 more a year.</a:t>
            </a:r>
            <a:endParaRPr lang="en-US" sz="1400" dirty="0"/>
          </a:p>
        </p:txBody>
      </p:sp>
      <p:sp>
        <p:nvSpPr>
          <p:cNvPr id="94" name="Text 92"/>
          <p:cNvSpPr txBox="1"/>
          <p:nvPr/>
        </p:nvSpPr>
        <p:spPr>
          <a:xfrm>
            <a:off x="658368" y="570585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11</a:t>
            </a:r>
            <a:endParaRPr lang="en-US" sz="1400" dirty="0"/>
          </a:p>
        </p:txBody>
      </p:sp>
      <p:sp>
        <p:nvSpPr>
          <p:cNvPr id="95" name="Text 93"/>
          <p:cNvSpPr txBox="1"/>
          <p:nvPr/>
        </p:nvSpPr>
        <p:spPr>
          <a:xfrm>
            <a:off x="1024128" y="570585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96" name="Text 94"/>
          <p:cNvSpPr txBox="1"/>
          <p:nvPr/>
        </p:nvSpPr>
        <p:spPr>
          <a:xfrm>
            <a:off x="2990088" y="570585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71.2%</a:t>
            </a:r>
            <a:endParaRPr lang="en-US" sz="1400" dirty="0"/>
          </a:p>
        </p:txBody>
      </p:sp>
      <p:sp>
        <p:nvSpPr>
          <p:cNvPr id="97" name="Text 95"/>
          <p:cNvSpPr txBox="1"/>
          <p:nvPr/>
        </p:nvSpPr>
        <p:spPr>
          <a:xfrm>
            <a:off x="4087368" y="570585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98" name="Text 96"/>
          <p:cNvSpPr txBox="1"/>
          <p:nvPr/>
        </p:nvSpPr>
        <p:spPr>
          <a:xfrm>
            <a:off x="5989320" y="5705856"/>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9" name="Text 97"/>
          <p:cNvSpPr txBox="1"/>
          <p:nvPr/>
        </p:nvSpPr>
        <p:spPr>
          <a:xfrm>
            <a:off x="7059168" y="570585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3,364 more a year.</a:t>
            </a:r>
            <a:endParaRPr lang="en-US" sz="1400" dirty="0"/>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Kia St George</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$2.34M</a:t>
            </a:r>
            <a:pPr indent="0" marL="0">
              <a:buNone/>
            </a:pPr>
            <a:r>
              <a:rPr lang="en-US" sz="1400" b="1" dirty="0">
                <a:solidFill>
                  <a:srgbClr val="0B7A4A"/>
                </a:solidFill>
                <a:latin typeface="Inter" pitchFamily="34" charset="0"/>
                <a:ea typeface="Inter" pitchFamily="34" charset="-122"/>
                <a:cs typeface="Inter" pitchFamily="34" charset="-120"/>
              </a:rPr>
              <a:t>  +$216K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$502,109</a:t>
            </a:r>
            <a:pPr indent="0" marL="0">
              <a:buNone/>
            </a:pPr>
            <a:r>
              <a:rPr lang="en-US" sz="1400" b="1" dirty="0">
                <a:solidFill>
                  <a:srgbClr val="A82B26"/>
                </a:solidFill>
                <a:latin typeface="Inter" pitchFamily="34" charset="0"/>
                <a:ea typeface="Inter" pitchFamily="34" charset="-122"/>
                <a:cs typeface="Inter" pitchFamily="34" charset="-120"/>
              </a:rPr>
              <a:t>  −$147K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65.8%</a:t>
            </a:r>
            <a:endParaRPr lang="en-US" sz="2200" dirty="0"/>
          </a:p>
        </p:txBody>
      </p:sp>
      <p:sp>
        <p:nvSpPr>
          <p:cNvPr id="14" name="Shape 12"/>
          <p:cNvSpPr/>
          <p:nvPr/>
        </p:nvSpPr>
        <p:spPr>
          <a:xfrm>
            <a:off x="7185660" y="1563624"/>
            <a:ext cx="64008" cy="256032"/>
          </a:xfrm>
          <a:prstGeom prst="rect">
            <a:avLst/>
          </a:prstGeom>
          <a:solidFill>
            <a:srgbClr val="C2352F"/>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3,912</a:t>
            </a:r>
            <a:pPr indent="0" marL="0">
              <a:buNone/>
            </a:pPr>
            <a:r>
              <a:rPr lang="en-US" sz="1400" b="1" dirty="0">
                <a:solidFill>
                  <a:srgbClr val="0B7A4A"/>
                </a:solidFill>
                <a:latin typeface="Inter" pitchFamily="34" charset="0"/>
                <a:ea typeface="Inter" pitchFamily="34" charset="-122"/>
                <a:cs typeface="Inter" pitchFamily="34" charset="-120"/>
              </a:rPr>
              <a:t>  +91</a:t>
            </a:r>
            <a:endParaRPr lang="en-US" sz="2200" dirty="0"/>
          </a:p>
        </p:txBody>
      </p:sp>
      <p:sp>
        <p:nvSpPr>
          <p:cNvPr id="19" name="Shape 17"/>
          <p:cNvSpPr/>
          <p:nvPr/>
        </p:nvSpPr>
        <p:spPr>
          <a:xfrm>
            <a:off x="9122664" y="658368"/>
            <a:ext cx="2609088" cy="475488"/>
          </a:xfrm>
          <a:prstGeom prst="rect">
            <a:avLst/>
          </a:prstGeom>
          <a:solidFill>
            <a:srgbClr val="EDF4FA"/>
          </a:solidFill>
          <a:ln/>
        </p:spPr>
      </p:sp>
      <p:sp>
        <p:nvSpPr>
          <p:cNvPr id="20" name="Text 18"/>
          <p:cNvSpPr txBox="1"/>
          <p:nvPr/>
        </p:nvSpPr>
        <p:spPr>
          <a:xfrm>
            <a:off x="9250680" y="658368"/>
            <a:ext cx="2353056"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3rd · Hours per RO +0.30</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9 of 12</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$919K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Dispatch, staging and approvals: flag 85%.</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1.29</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$435K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+0.46 hr per RO.</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$182</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$264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$340K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8.0%</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$38K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365 more a year.</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5.9%</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$25K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211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7.7%</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$18K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380 more a year.</a:t>
            </a:r>
            <a:endParaRPr lang="en-US" sz="1400" dirty="0"/>
          </a:p>
        </p:txBody>
      </p:sp>
      <p:sp>
        <p:nvSpPr>
          <p:cNvPr id="68" name="Shape 66"/>
          <p:cNvSpPr/>
          <p:nvPr/>
        </p:nvSpPr>
        <p:spPr>
          <a:xfrm>
            <a:off x="658368" y="4383634"/>
            <a:ext cx="10872216" cy="10973"/>
          </a:xfrm>
          <a:prstGeom prst="rect">
            <a:avLst/>
          </a:prstGeom>
          <a:solidFill>
            <a:srgbClr val="9AA3AD"/>
          </a:solidFill>
          <a:ln/>
        </p:spPr>
      </p:sp>
      <p:sp>
        <p:nvSpPr>
          <p:cNvPr id="69" name="Text 67"/>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70" name="Text 68"/>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71" name="Text 69"/>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5.2%</a:t>
            </a:r>
            <a:endParaRPr lang="en-US" sz="1400" dirty="0"/>
          </a:p>
        </p:txBody>
      </p:sp>
      <p:sp>
        <p:nvSpPr>
          <p:cNvPr id="72" name="Text 70"/>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73" name="Text 71"/>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74" name="Text 72"/>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5,626 more a year.</a:t>
            </a:r>
            <a:endParaRPr lang="en-US" sz="1400" dirty="0"/>
          </a:p>
        </p:txBody>
      </p:sp>
      <p:sp>
        <p:nvSpPr>
          <p:cNvPr id="75" name="Shape 73"/>
          <p:cNvSpPr/>
          <p:nvPr/>
        </p:nvSpPr>
        <p:spPr>
          <a:xfrm>
            <a:off x="658368" y="4718304"/>
            <a:ext cx="10872216" cy="329184"/>
          </a:xfrm>
          <a:prstGeom prst="rect">
            <a:avLst/>
          </a:prstGeom>
          <a:solidFill>
            <a:srgbClr val="F7F7F7"/>
          </a:solidFill>
          <a:ln/>
        </p:spPr>
      </p:sp>
      <p:sp>
        <p:nvSpPr>
          <p:cNvPr id="76" name="Text 74"/>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7" name="Text 75"/>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78" name="Text 76"/>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60.9%</a:t>
            </a:r>
            <a:endParaRPr lang="en-US" sz="1400" dirty="0"/>
          </a:p>
        </p:txBody>
      </p:sp>
      <p:sp>
        <p:nvSpPr>
          <p:cNvPr id="79" name="Text 77"/>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80" name="Text 78"/>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1" name="Text 79"/>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3,110 more a year.</a:t>
            </a:r>
            <a:endParaRPr lang="en-US" sz="1400" dirty="0"/>
          </a:p>
        </p:txBody>
      </p:sp>
      <p:sp>
        <p:nvSpPr>
          <p:cNvPr id="82" name="Text 80"/>
          <p:cNvSpPr txBox="1"/>
          <p:nvPr/>
        </p:nvSpPr>
        <p:spPr>
          <a:xfrm>
            <a:off x="658368" y="504748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3" name="Text 81"/>
          <p:cNvSpPr txBox="1"/>
          <p:nvPr/>
        </p:nvSpPr>
        <p:spPr>
          <a:xfrm>
            <a:off x="1024128" y="504748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84" name="Text 82"/>
          <p:cNvSpPr txBox="1"/>
          <p:nvPr/>
        </p:nvSpPr>
        <p:spPr>
          <a:xfrm>
            <a:off x="2990088" y="504748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$12,103</a:t>
            </a:r>
            <a:endParaRPr lang="en-US" sz="1400" dirty="0"/>
          </a:p>
        </p:txBody>
      </p:sp>
      <p:sp>
        <p:nvSpPr>
          <p:cNvPr id="85" name="Text 83"/>
          <p:cNvSpPr txBox="1"/>
          <p:nvPr/>
        </p:nvSpPr>
        <p:spPr>
          <a:xfrm>
            <a:off x="4087368" y="504748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86" name="Text 84"/>
          <p:cNvSpPr txBox="1"/>
          <p:nvPr/>
        </p:nvSpPr>
        <p:spPr>
          <a:xfrm>
            <a:off x="5989320" y="5047488"/>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7" name="Text 85"/>
          <p:cNvSpPr txBox="1"/>
          <p:nvPr/>
        </p:nvSpPr>
        <p:spPr>
          <a:xfrm>
            <a:off x="7059168" y="504748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1.0 heads over peer avg.</a:t>
            </a:r>
            <a:endParaRPr lang="en-US" sz="1400" dirty="0"/>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Lexus</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$4.15M</a:t>
            </a:r>
            <a:pPr indent="0" marL="0">
              <a:buNone/>
            </a:pPr>
            <a:r>
              <a:rPr lang="en-US" sz="1400" b="1" dirty="0">
                <a:solidFill>
                  <a:srgbClr val="0B7A4A"/>
                </a:solidFill>
                <a:latin typeface="Inter" pitchFamily="34" charset="0"/>
                <a:ea typeface="Inter" pitchFamily="34" charset="-122"/>
                <a:cs typeface="Inter" pitchFamily="34" charset="-120"/>
              </a:rPr>
              <a:t>  +$764K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$1.20M</a:t>
            </a:r>
            <a:pPr indent="0" marL="0">
              <a:buNone/>
            </a:pPr>
            <a:r>
              <a:rPr lang="en-US" sz="1400" b="1" dirty="0">
                <a:solidFill>
                  <a:srgbClr val="0B7A4A"/>
                </a:solidFill>
                <a:latin typeface="Inter" pitchFamily="34" charset="0"/>
                <a:ea typeface="Inter" pitchFamily="34" charset="-122"/>
                <a:cs typeface="Inter" pitchFamily="34" charset="-120"/>
              </a:rPr>
              <a:t>  +$206K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75.6%</a:t>
            </a:r>
            <a:endParaRPr lang="en-US" sz="2200" dirty="0"/>
          </a:p>
        </p:txBody>
      </p:sp>
      <p:sp>
        <p:nvSpPr>
          <p:cNvPr id="14" name="Shape 12"/>
          <p:cNvSpPr/>
          <p:nvPr/>
        </p:nvSpPr>
        <p:spPr>
          <a:xfrm>
            <a:off x="7185660" y="1563624"/>
            <a:ext cx="64008" cy="256032"/>
          </a:xfrm>
          <a:prstGeom prst="rect">
            <a:avLst/>
          </a:prstGeom>
          <a:solidFill>
            <a:srgbClr val="C2352F"/>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4,567</a:t>
            </a:r>
            <a:pPr indent="0" marL="0">
              <a:buNone/>
            </a:pPr>
            <a:r>
              <a:rPr lang="en-US" sz="1400" b="1" dirty="0">
                <a:solidFill>
                  <a:srgbClr val="0B7A4A"/>
                </a:solidFill>
                <a:latin typeface="Inter" pitchFamily="34" charset="0"/>
                <a:ea typeface="Inter" pitchFamily="34" charset="-122"/>
                <a:cs typeface="Inter" pitchFamily="34" charset="-120"/>
              </a:rPr>
              <a:t>  +66</a:t>
            </a:r>
            <a:endParaRPr lang="en-US" sz="2200" dirty="0"/>
          </a:p>
        </p:txBody>
      </p:sp>
      <p:sp>
        <p:nvSpPr>
          <p:cNvPr id="19" name="Shape 17"/>
          <p:cNvSpPr/>
          <p:nvPr/>
        </p:nvSpPr>
        <p:spPr>
          <a:xfrm>
            <a:off x="9404096" y="658368"/>
            <a:ext cx="2327656" cy="475488"/>
          </a:xfrm>
          <a:prstGeom prst="rect">
            <a:avLst/>
          </a:prstGeom>
          <a:solidFill>
            <a:srgbClr val="EDF4FA"/>
          </a:solidFill>
          <a:ln/>
        </p:spPr>
      </p:sp>
      <p:sp>
        <p:nvSpPr>
          <p:cNvPr id="20" name="Text 18"/>
          <p:cNvSpPr txBox="1"/>
          <p:nvPr/>
        </p:nvSpPr>
        <p:spPr>
          <a:xfrm>
            <a:off x="9532112" y="658368"/>
            <a:ext cx="2071624"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1st · Parts GP 49.0%</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$403</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$632</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$1.18M</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2.08</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2.90</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$911K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+0.82 hr per RO.</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 of 11</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$379K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6 under 85%: dispatch, parts.</a:t>
            </a:r>
            <a:endParaRPr lang="en-US" sz="14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0.0%</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$68K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909 more a year.</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11.3%</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$33K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221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4.2%</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$25K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195 more a year.</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8.3%</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$15K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98 more a year.</a:t>
            </a:r>
            <a:endParaRPr lang="en-US" sz="1400" dirty="0"/>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Lincoln</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$2.98M</a:t>
            </a:r>
            <a:pPr indent="0" marL="0">
              <a:buNone/>
            </a:pPr>
            <a:r>
              <a:rPr lang="en-US" sz="1400" b="1" dirty="0">
                <a:solidFill>
                  <a:srgbClr val="0B7A4A"/>
                </a:solidFill>
                <a:latin typeface="Inter" pitchFamily="34" charset="0"/>
                <a:ea typeface="Inter" pitchFamily="34" charset="-122"/>
                <a:cs typeface="Inter" pitchFamily="34" charset="-120"/>
              </a:rPr>
              <a:t>  +$717K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$94,430</a:t>
            </a:r>
            <a:pPr indent="0" marL="0">
              <a:buNone/>
            </a:pPr>
            <a:r>
              <a:rPr lang="en-US" sz="1400" b="1" dirty="0">
                <a:solidFill>
                  <a:srgbClr val="0B7A4A"/>
                </a:solidFill>
                <a:latin typeface="Inter" pitchFamily="34" charset="0"/>
                <a:ea typeface="Inter" pitchFamily="34" charset="-122"/>
                <a:cs typeface="Inter" pitchFamily="34" charset="-120"/>
              </a:rPr>
              <a:t>  +$484K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59.9%</a:t>
            </a:r>
            <a:endParaRPr lang="en-US" sz="2200" dirty="0"/>
          </a:p>
        </p:txBody>
      </p:sp>
      <p:sp>
        <p:nvSpPr>
          <p:cNvPr id="14" name="Shape 12"/>
          <p:cNvSpPr/>
          <p:nvPr/>
        </p:nvSpPr>
        <p:spPr>
          <a:xfrm>
            <a:off x="7185660" y="1563624"/>
            <a:ext cx="64008" cy="256032"/>
          </a:xfrm>
          <a:prstGeom prst="rect">
            <a:avLst/>
          </a:prstGeom>
          <a:solidFill>
            <a:srgbClr val="C2352F"/>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2,630</a:t>
            </a:r>
            <a:pPr indent="0" marL="0">
              <a:buNone/>
            </a:pPr>
            <a:r>
              <a:rPr lang="en-US" sz="1400" b="1" dirty="0">
                <a:solidFill>
                  <a:srgbClr val="0B7A4A"/>
                </a:solidFill>
                <a:latin typeface="Inter" pitchFamily="34" charset="0"/>
                <a:ea typeface="Inter" pitchFamily="34" charset="-122"/>
                <a:cs typeface="Inter" pitchFamily="34" charset="-120"/>
              </a:rPr>
              <a:t>  +93</a:t>
            </a:r>
            <a:endParaRPr lang="en-US" sz="2200" dirty="0"/>
          </a:p>
        </p:txBody>
      </p:sp>
      <p:sp>
        <p:nvSpPr>
          <p:cNvPr id="19" name="Shape 17"/>
          <p:cNvSpPr/>
          <p:nvPr/>
        </p:nvSpPr>
        <p:spPr>
          <a:xfrm>
            <a:off x="9404096" y="658368"/>
            <a:ext cx="2327656" cy="475488"/>
          </a:xfrm>
          <a:prstGeom prst="rect">
            <a:avLst/>
          </a:prstGeom>
          <a:solidFill>
            <a:srgbClr val="EDF4FA"/>
          </a:solidFill>
          <a:ln/>
        </p:spPr>
      </p:sp>
      <p:sp>
        <p:nvSpPr>
          <p:cNvPr id="20" name="Text 18"/>
          <p:cNvSpPr txBox="1"/>
          <p:nvPr/>
        </p:nvSpPr>
        <p:spPr>
          <a:xfrm>
            <a:off x="9532112" y="658368"/>
            <a:ext cx="2071624"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2nd · CP ELR +$28</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$416</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$632</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$628K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 of 11</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$284K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5 under 85%: dispatch, parts.</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2.48</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2.90</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$267K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+0.42 hr per RO.</a:t>
            </a:r>
            <a:endParaRPr lang="en-US" sz="14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37.0%</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41.3%</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$55K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ELR</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$167</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$171</a:t>
            </a:r>
            <a:pPr indent="0" marL="0">
              <a:buNone/>
            </a:pPr>
            <a:r>
              <a:rPr lang="en-US" sz="1400" dirty="0">
                <a:solidFill>
                  <a:srgbClr val="595959"/>
                </a:solidFill>
                <a:latin typeface="Inter" pitchFamily="34" charset="0"/>
                <a:ea typeface="Inter" pitchFamily="34" charset="-122"/>
                <a:cs typeface="Inter" pitchFamily="34" charset="-120"/>
              </a:rPr>
              <a:t> 70% of door</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$36K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Charge the posted rate; control discounts.</a:t>
            </a:r>
            <a:endParaRPr lang="en-US" sz="1400" dirty="0"/>
          </a:p>
        </p:txBody>
      </p:sp>
      <p:sp>
        <p:nvSpPr>
          <p:cNvPr id="61" name="Shape 59"/>
          <p:cNvSpPr/>
          <p:nvPr/>
        </p:nvSpPr>
        <p:spPr>
          <a:xfrm>
            <a:off x="658368" y="4059936"/>
            <a:ext cx="10872216" cy="329184"/>
          </a:xfrm>
          <a:prstGeom prst="rect">
            <a:avLst/>
          </a:prstGeom>
          <a:solidFill>
            <a:srgbClr val="F7F7F7"/>
          </a:solidFill>
          <a:ln/>
        </p:spPr>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1.6%</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$31K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467 more a year.</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8.4%</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$26K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230 more a year.</a:t>
            </a:r>
            <a:endParaRPr lang="en-US" sz="1400" dirty="0"/>
          </a:p>
        </p:txBody>
      </p:sp>
      <p:sp>
        <p:nvSpPr>
          <p:cNvPr id="74" name="Shape 72"/>
          <p:cNvSpPr/>
          <p:nvPr/>
        </p:nvSpPr>
        <p:spPr>
          <a:xfrm>
            <a:off x="658368" y="4718304"/>
            <a:ext cx="10872216" cy="329184"/>
          </a:xfrm>
          <a:prstGeom prst="rect">
            <a:avLst/>
          </a:prstGeom>
          <a:solidFill>
            <a:srgbClr val="F7F7F7"/>
          </a:solidFill>
          <a:ln/>
        </p:spPr>
      </p:sp>
      <p:sp>
        <p:nvSpPr>
          <p:cNvPr id="75" name="Text 73"/>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77" name="Text 75"/>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7.5%</a:t>
            </a:r>
            <a:endParaRPr lang="en-US" sz="1400" dirty="0"/>
          </a:p>
        </p:txBody>
      </p:sp>
      <p:sp>
        <p:nvSpPr>
          <p:cNvPr id="78" name="Text 76"/>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9" name="Text 77"/>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$11K</a:t>
            </a:r>
            <a:endParaRPr lang="en-US" sz="1400" dirty="0"/>
          </a:p>
        </p:txBody>
      </p:sp>
      <p:sp>
        <p:nvSpPr>
          <p:cNvPr id="80" name="Text 78"/>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87 more a year.</a:t>
            </a:r>
            <a:endParaRPr lang="en-US" sz="1400" dirty="0"/>
          </a:p>
        </p:txBody>
      </p:sp>
      <p:sp>
        <p:nvSpPr>
          <p:cNvPr id="81" name="Shape 79"/>
          <p:cNvSpPr/>
          <p:nvPr/>
        </p:nvSpPr>
        <p:spPr>
          <a:xfrm>
            <a:off x="658368" y="5042002"/>
            <a:ext cx="10872216" cy="10973"/>
          </a:xfrm>
          <a:prstGeom prst="rect">
            <a:avLst/>
          </a:prstGeom>
          <a:solidFill>
            <a:srgbClr val="9AA3AD"/>
          </a:solidFill>
          <a:ln/>
        </p:spPr>
      </p:sp>
      <p:sp>
        <p:nvSpPr>
          <p:cNvPr id="82" name="Text 80"/>
          <p:cNvSpPr txBox="1"/>
          <p:nvPr/>
        </p:nvSpPr>
        <p:spPr>
          <a:xfrm>
            <a:off x="658368" y="504748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3" name="Text 81"/>
          <p:cNvSpPr txBox="1"/>
          <p:nvPr/>
        </p:nvSpPr>
        <p:spPr>
          <a:xfrm>
            <a:off x="1024128" y="504748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84" name="Text 82"/>
          <p:cNvSpPr txBox="1"/>
          <p:nvPr/>
        </p:nvSpPr>
        <p:spPr>
          <a:xfrm>
            <a:off x="2990088" y="504748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$10,963</a:t>
            </a:r>
            <a:endParaRPr lang="en-US" sz="1400" dirty="0"/>
          </a:p>
        </p:txBody>
      </p:sp>
      <p:sp>
        <p:nvSpPr>
          <p:cNvPr id="85" name="Text 83"/>
          <p:cNvSpPr txBox="1"/>
          <p:nvPr/>
        </p:nvSpPr>
        <p:spPr>
          <a:xfrm>
            <a:off x="4087368" y="504748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$16,998</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86" name="Text 84"/>
          <p:cNvSpPr txBox="1"/>
          <p:nvPr/>
        </p:nvSpPr>
        <p:spPr>
          <a:xfrm>
            <a:off x="5989320" y="5047488"/>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7" name="Text 85"/>
          <p:cNvSpPr txBox="1"/>
          <p:nvPr/>
        </p:nvSpPr>
        <p:spPr>
          <a:xfrm>
            <a:off x="7059168" y="504748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10.7 heads over peer avg.</a:t>
            </a:r>
            <a:endParaRPr lang="en-US" sz="1400" dirty="0"/>
          </a:p>
        </p:txBody>
      </p:sp>
      <p:sp>
        <p:nvSpPr>
          <p:cNvPr id="88" name="Shape 86"/>
          <p:cNvSpPr/>
          <p:nvPr/>
        </p:nvSpPr>
        <p:spPr>
          <a:xfrm>
            <a:off x="658368" y="5376672"/>
            <a:ext cx="10872216" cy="329184"/>
          </a:xfrm>
          <a:prstGeom prst="rect">
            <a:avLst/>
          </a:prstGeom>
          <a:solidFill>
            <a:srgbClr val="F7F7F7"/>
          </a:solidFill>
          <a:ln/>
        </p:spPr>
      </p:sp>
      <p:sp>
        <p:nvSpPr>
          <p:cNvPr id="89" name="Text 87"/>
          <p:cNvSpPr txBox="1"/>
          <p:nvPr/>
        </p:nvSpPr>
        <p:spPr>
          <a:xfrm>
            <a:off x="658368" y="537667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90" name="Text 88"/>
          <p:cNvSpPr txBox="1"/>
          <p:nvPr/>
        </p:nvSpPr>
        <p:spPr>
          <a:xfrm>
            <a:off x="1024128" y="537667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91" name="Text 89"/>
          <p:cNvSpPr txBox="1"/>
          <p:nvPr/>
        </p:nvSpPr>
        <p:spPr>
          <a:xfrm>
            <a:off x="2990088" y="537667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42.7%</a:t>
            </a:r>
            <a:endParaRPr lang="en-US" sz="1400" dirty="0"/>
          </a:p>
        </p:txBody>
      </p:sp>
      <p:sp>
        <p:nvSpPr>
          <p:cNvPr id="92" name="Text 90"/>
          <p:cNvSpPr txBox="1"/>
          <p:nvPr/>
        </p:nvSpPr>
        <p:spPr>
          <a:xfrm>
            <a:off x="4087368" y="537667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93" name="Text 91"/>
          <p:cNvSpPr txBox="1"/>
          <p:nvPr/>
        </p:nvSpPr>
        <p:spPr>
          <a:xfrm>
            <a:off x="5989320" y="5376672"/>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4" name="Text 92"/>
          <p:cNvSpPr txBox="1"/>
          <p:nvPr/>
        </p:nvSpPr>
        <p:spPr>
          <a:xfrm>
            <a:off x="7059168" y="537667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1,108 more a year.</a:t>
            </a:r>
            <a:endParaRPr lang="en-US" sz="1400" dirty="0"/>
          </a:p>
        </p:txBody>
      </p:sp>
      <p:sp>
        <p:nvSpPr>
          <p:cNvPr id="95" name="Text 93"/>
          <p:cNvSpPr txBox="1"/>
          <p:nvPr/>
        </p:nvSpPr>
        <p:spPr>
          <a:xfrm>
            <a:off x="658368" y="570585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11</a:t>
            </a:r>
            <a:endParaRPr lang="en-US" sz="1400" dirty="0"/>
          </a:p>
        </p:txBody>
      </p:sp>
      <p:sp>
        <p:nvSpPr>
          <p:cNvPr id="96" name="Text 94"/>
          <p:cNvSpPr txBox="1"/>
          <p:nvPr/>
        </p:nvSpPr>
        <p:spPr>
          <a:xfrm>
            <a:off x="1024128" y="570585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97" name="Text 95"/>
          <p:cNvSpPr txBox="1"/>
          <p:nvPr/>
        </p:nvSpPr>
        <p:spPr>
          <a:xfrm>
            <a:off x="2990088" y="570585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68.5%</a:t>
            </a:r>
            <a:endParaRPr lang="en-US" sz="1400" dirty="0"/>
          </a:p>
        </p:txBody>
      </p:sp>
      <p:sp>
        <p:nvSpPr>
          <p:cNvPr id="98" name="Text 96"/>
          <p:cNvSpPr txBox="1"/>
          <p:nvPr/>
        </p:nvSpPr>
        <p:spPr>
          <a:xfrm>
            <a:off x="4087368" y="570585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99" name="Text 97"/>
          <p:cNvSpPr txBox="1"/>
          <p:nvPr/>
        </p:nvSpPr>
        <p:spPr>
          <a:xfrm>
            <a:off x="5989320" y="5705856"/>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100" name="Text 98"/>
          <p:cNvSpPr txBox="1"/>
          <p:nvPr/>
        </p:nvSpPr>
        <p:spPr>
          <a:xfrm>
            <a:off x="7059168" y="570585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1,573 more a year.</a:t>
            </a:r>
            <a:endParaRPr lang="en-US" sz="1400" dirty="0"/>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LR Henderson</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$3.42M</a:t>
            </a:r>
            <a:pPr indent="0" marL="0">
              <a:buNone/>
            </a:pPr>
            <a:r>
              <a:rPr lang="en-US" sz="1400" b="1" dirty="0">
                <a:solidFill>
                  <a:srgbClr val="0B7A4A"/>
                </a:solidFill>
                <a:latin typeface="Inter" pitchFamily="34" charset="0"/>
                <a:ea typeface="Inter" pitchFamily="34" charset="-122"/>
                <a:cs typeface="Inter" pitchFamily="34" charset="-120"/>
              </a:rPr>
              <a:t>  +$95K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$705,121</a:t>
            </a:r>
            <a:pPr indent="0" marL="0">
              <a:buNone/>
            </a:pPr>
            <a:r>
              <a:rPr lang="en-US" sz="1400" b="1" dirty="0">
                <a:solidFill>
                  <a:srgbClr val="0B7A4A"/>
                </a:solidFill>
                <a:latin typeface="Inter" pitchFamily="34" charset="0"/>
                <a:ea typeface="Inter" pitchFamily="34" charset="-122"/>
                <a:cs typeface="Inter" pitchFamily="34" charset="-120"/>
              </a:rPr>
              <a:t>  +$98K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74.4%</a:t>
            </a:r>
            <a:endParaRPr lang="en-US" sz="2200" dirty="0"/>
          </a:p>
        </p:txBody>
      </p:sp>
      <p:sp>
        <p:nvSpPr>
          <p:cNvPr id="14" name="Shape 12"/>
          <p:cNvSpPr/>
          <p:nvPr/>
        </p:nvSpPr>
        <p:spPr>
          <a:xfrm>
            <a:off x="7185660" y="1563624"/>
            <a:ext cx="64008" cy="256032"/>
          </a:xfrm>
          <a:prstGeom prst="rect">
            <a:avLst/>
          </a:prstGeom>
          <a:solidFill>
            <a:srgbClr val="C2352F"/>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1,559</a:t>
            </a:r>
            <a:pPr indent="0" marL="0">
              <a:buNone/>
            </a:pPr>
            <a:r>
              <a:rPr lang="en-US" sz="1400" b="1" dirty="0">
                <a:solidFill>
                  <a:srgbClr val="0B7A4A"/>
                </a:solidFill>
                <a:latin typeface="Inter" pitchFamily="34" charset="0"/>
                <a:ea typeface="Inter" pitchFamily="34" charset="-122"/>
                <a:cs typeface="Inter" pitchFamily="34" charset="-120"/>
              </a:rPr>
              <a:t>  +26</a:t>
            </a:r>
            <a:endParaRPr lang="en-US" sz="2200" dirty="0"/>
          </a:p>
        </p:txBody>
      </p:sp>
      <p:sp>
        <p:nvSpPr>
          <p:cNvPr id="19" name="Shape 17"/>
          <p:cNvSpPr/>
          <p:nvPr/>
        </p:nvSpPr>
        <p:spPr>
          <a:xfrm>
            <a:off x="3374390" y="658368"/>
            <a:ext cx="8357362" cy="475488"/>
          </a:xfrm>
          <a:prstGeom prst="rect">
            <a:avLst/>
          </a:prstGeom>
          <a:solidFill>
            <a:srgbClr val="EDF4FA"/>
          </a:solidFill>
          <a:ln/>
        </p:spPr>
      </p:sp>
      <p:sp>
        <p:nvSpPr>
          <p:cNvPr id="20" name="Text 18"/>
          <p:cNvSpPr txBox="1"/>
          <p:nvPr/>
        </p:nvSpPr>
        <p:spPr>
          <a:xfrm>
            <a:off x="3502406" y="658368"/>
            <a:ext cx="8101330"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1st · Hours per RO 3.99   ·   1st · CP labor $/RO $933   ·   1st · Tire balance 27.0%</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 of 7</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$179K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3 under 85%: dispatch, parts.</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2.5%</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$34K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103 more a year.</a:t>
            </a:r>
            <a:endParaRPr lang="en-US" sz="1400" dirty="0"/>
          </a:p>
        </p:txBody>
      </p:sp>
      <p:sp>
        <p:nvSpPr>
          <p:cNvPr id="42" name="Shape 40"/>
          <p:cNvSpPr/>
          <p:nvPr/>
        </p:nvSpPr>
        <p:spPr>
          <a:xfrm>
            <a:off x="658368" y="3066898"/>
            <a:ext cx="10872216" cy="10973"/>
          </a:xfrm>
          <a:prstGeom prst="rect">
            <a:avLst/>
          </a:prstGeom>
          <a:solidFill>
            <a:srgbClr val="9AA3AD"/>
          </a:solidFill>
          <a:ln/>
        </p:spPr>
      </p:sp>
      <p:sp>
        <p:nvSpPr>
          <p:cNvPr id="43" name="Text 41"/>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4" name="Text 42"/>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45" name="Text 43"/>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73.0%</a:t>
            </a:r>
            <a:endParaRPr lang="en-US" sz="1400" dirty="0"/>
          </a:p>
        </p:txBody>
      </p:sp>
      <p:sp>
        <p:nvSpPr>
          <p:cNvPr id="46" name="Text 44"/>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7" name="Text 45"/>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48" name="Text 46"/>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648 more a year.</a:t>
            </a:r>
            <a:endParaRPr lang="en-US" sz="1400" dirty="0"/>
          </a:p>
        </p:txBody>
      </p:sp>
      <p:sp>
        <p:nvSpPr>
          <p:cNvPr id="49" name="Shape 47"/>
          <p:cNvSpPr/>
          <p:nvPr/>
        </p:nvSpPr>
        <p:spPr>
          <a:xfrm>
            <a:off x="658368" y="3401568"/>
            <a:ext cx="10872216" cy="329184"/>
          </a:xfrm>
          <a:prstGeom prst="rect">
            <a:avLst/>
          </a:prstGeom>
          <a:solidFill>
            <a:srgbClr val="F7F7F7"/>
          </a:solidFill>
          <a:ln/>
        </p:spPr>
      </p:sp>
      <p:sp>
        <p:nvSpPr>
          <p:cNvPr id="50" name="Text 48"/>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1" name="Text 49"/>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52" name="Text 50"/>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50.0%</a:t>
            </a:r>
            <a:endParaRPr lang="en-US" sz="1400" dirty="0"/>
          </a:p>
        </p:txBody>
      </p:sp>
      <p:sp>
        <p:nvSpPr>
          <p:cNvPr id="53" name="Text 51"/>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54" name="Text 52"/>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55" name="Text 53"/>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299 more a year.</a:t>
            </a:r>
            <a:endParaRPr lang="en-US" sz="1400" dirty="0"/>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LR LV</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$6.61M</a:t>
            </a:r>
            <a:pPr indent="0" marL="0">
              <a:buNone/>
            </a:pPr>
            <a:r>
              <a:rPr lang="en-US" sz="1400" b="1" dirty="0">
                <a:solidFill>
                  <a:srgbClr val="0B7A4A"/>
                </a:solidFill>
                <a:latin typeface="Inter" pitchFamily="34" charset="0"/>
                <a:ea typeface="Inter" pitchFamily="34" charset="-122"/>
                <a:cs typeface="Inter" pitchFamily="34" charset="-120"/>
              </a:rPr>
              <a:t>  +$135K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$2.04M</a:t>
            </a:r>
            <a:pPr indent="0" marL="0">
              <a:buNone/>
            </a:pPr>
            <a:r>
              <a:rPr lang="en-US" sz="1400" b="1" dirty="0">
                <a:solidFill>
                  <a:srgbClr val="0B7A4A"/>
                </a:solidFill>
                <a:latin typeface="Inter" pitchFamily="34" charset="0"/>
                <a:ea typeface="Inter" pitchFamily="34" charset="-122"/>
                <a:cs typeface="Inter" pitchFamily="34" charset="-120"/>
              </a:rPr>
              <a:t>  +$152K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93.7%</a:t>
            </a:r>
            <a:endParaRPr lang="en-US" sz="2200" dirty="0"/>
          </a:p>
        </p:txBody>
      </p:sp>
      <p:sp>
        <p:nvSpPr>
          <p:cNvPr id="14" name="Shape 12"/>
          <p:cNvSpPr/>
          <p:nvPr/>
        </p:nvSpPr>
        <p:spPr>
          <a:xfrm>
            <a:off x="7185660" y="1563624"/>
            <a:ext cx="64008" cy="256032"/>
          </a:xfrm>
          <a:prstGeom prst="rect">
            <a:avLst/>
          </a:prstGeom>
          <a:solidFill>
            <a:srgbClr val="12A566"/>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3,496</a:t>
            </a:r>
            <a:pPr indent="0" marL="0">
              <a:buNone/>
            </a:pPr>
            <a:r>
              <a:rPr lang="en-US" sz="1400" b="1" dirty="0">
                <a:solidFill>
                  <a:srgbClr val="0B7A4A"/>
                </a:solidFill>
                <a:latin typeface="Inter" pitchFamily="34" charset="0"/>
                <a:ea typeface="Inter" pitchFamily="34" charset="-122"/>
                <a:cs typeface="Inter" pitchFamily="34" charset="-120"/>
              </a:rPr>
              <a:t>  +88</a:t>
            </a:r>
            <a:endParaRPr lang="en-US" sz="2200" dirty="0"/>
          </a:p>
        </p:txBody>
      </p:sp>
      <p:sp>
        <p:nvSpPr>
          <p:cNvPr id="19" name="Shape 17"/>
          <p:cNvSpPr/>
          <p:nvPr/>
        </p:nvSpPr>
        <p:spPr>
          <a:xfrm>
            <a:off x="3468624" y="658368"/>
            <a:ext cx="8263128" cy="475488"/>
          </a:xfrm>
          <a:prstGeom prst="rect">
            <a:avLst/>
          </a:prstGeom>
          <a:solidFill>
            <a:srgbClr val="EDF4FA"/>
          </a:solidFill>
          <a:ln/>
        </p:spPr>
      </p:sp>
      <p:sp>
        <p:nvSpPr>
          <p:cNvPr id="20" name="Text 18"/>
          <p:cNvSpPr txBox="1"/>
          <p:nvPr/>
        </p:nvSpPr>
        <p:spPr>
          <a:xfrm>
            <a:off x="3596640" y="658368"/>
            <a:ext cx="8007096"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1st · Brake fluid 20.6%   ·   2nd · Hours per RO 3.99   ·   2nd · CP labor $/RO $931</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1</a:t>
            </a:r>
            <a:endParaRPr lang="en-US" sz="15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Techs under 85%</a:t>
            </a:r>
            <a:endParaRPr lang="en-US" sz="15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8 of 16</a:t>
            </a:r>
            <a:endParaRPr lang="en-US" sz="15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85%</a:t>
            </a:r>
            <a:pPr indent="0" marL="0">
              <a:buNone/>
            </a:pPr>
            <a:r>
              <a:rPr lang="en-US" sz="1500" dirty="0">
                <a:solidFill>
                  <a:srgbClr val="595959"/>
                </a:solidFill>
                <a:latin typeface="Inter" pitchFamily="34" charset="0"/>
                <a:ea typeface="Inter" pitchFamily="34" charset="-122"/>
                <a:cs typeface="Inter" pitchFamily="34" charset="-120"/>
              </a:rPr>
              <a:t> benchmark</a:t>
            </a:r>
            <a:endParaRPr lang="en-US" sz="15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$758K</a:t>
            </a:r>
            <a:endParaRPr lang="en-US" sz="15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Lift the 8 under 85%: dispatch, parts.</a:t>
            </a:r>
            <a:endParaRPr lang="en-US" sz="15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2</a:t>
            </a:r>
            <a:endParaRPr lang="en-US" sz="15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Parts gross</a:t>
            </a:r>
            <a:endParaRPr lang="en-US" sz="15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$2.52M</a:t>
            </a:r>
            <a:endParaRPr lang="en-US" sz="15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$2.59M</a:t>
            </a:r>
            <a:pPr indent="0" marL="0">
              <a:buNone/>
            </a:pPr>
            <a:r>
              <a:rPr lang="en-US" sz="1500" dirty="0">
                <a:solidFill>
                  <a:srgbClr val="595959"/>
                </a:solidFill>
                <a:latin typeface="Inter" pitchFamily="34" charset="0"/>
                <a:ea typeface="Inter" pitchFamily="34" charset="-122"/>
                <a:cs typeface="Inter" pitchFamily="34" charset="-120"/>
              </a:rPr>
              <a:t> in 2025</a:t>
            </a:r>
            <a:endParaRPr lang="en-US" sz="15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$81K</a:t>
            </a:r>
            <a:endParaRPr lang="en-US" sz="15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Parts on every RO; wholesale that pays.</a:t>
            </a:r>
            <a:endParaRPr lang="en-US" sz="15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3</a:t>
            </a:r>
            <a:endParaRPr lang="en-US" sz="15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Fuel service</a:t>
            </a:r>
            <a:endParaRPr lang="en-US" sz="15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5.5%</a:t>
            </a:r>
            <a:endParaRPr lang="en-US" sz="15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7.5%</a:t>
            </a:r>
            <a:pPr indent="0" marL="0">
              <a:buNone/>
            </a:pPr>
            <a:r>
              <a:rPr lang="en-US" sz="1500" dirty="0">
                <a:solidFill>
                  <a:srgbClr val="595959"/>
                </a:solidFill>
                <a:latin typeface="Inter" pitchFamily="34" charset="0"/>
                <a:ea typeface="Inter" pitchFamily="34" charset="-122"/>
                <a:cs typeface="Inter" pitchFamily="34" charset="-120"/>
              </a:rPr>
              <a:t> benchmark</a:t>
            </a:r>
            <a:endParaRPr lang="en-US" sz="15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$24K</a:t>
            </a:r>
            <a:endParaRPr lang="en-US" sz="15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Recommend it on every visit: 92 more a year.</a:t>
            </a:r>
            <a:endParaRPr lang="en-US" sz="1500" dirty="0"/>
          </a:p>
        </p:txBody>
      </p:sp>
      <p:sp>
        <p:nvSpPr>
          <p:cNvPr id="48" name="Shape 46"/>
          <p:cNvSpPr/>
          <p:nvPr/>
        </p:nvSpPr>
        <p:spPr>
          <a:xfrm>
            <a:off x="658368" y="3396082"/>
            <a:ext cx="10872216" cy="10973"/>
          </a:xfrm>
          <a:prstGeom prst="rect">
            <a:avLst/>
          </a:prstGeom>
          <a:solidFill>
            <a:srgbClr val="9AA3AD"/>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4</a:t>
            </a:r>
            <a:endParaRPr lang="en-US" sz="15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MPI completion</a:t>
            </a:r>
            <a:endParaRPr lang="en-US" sz="15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71.1%</a:t>
            </a:r>
            <a:endParaRPr lang="en-US" sz="15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90%</a:t>
            </a:r>
            <a:pPr indent="0" marL="0">
              <a:buNone/>
            </a:pPr>
            <a:r>
              <a:rPr lang="en-US" sz="1500" dirty="0">
                <a:solidFill>
                  <a:srgbClr val="595959"/>
                </a:solidFill>
                <a:latin typeface="Inter" pitchFamily="34" charset="0"/>
                <a:ea typeface="Inter" pitchFamily="34" charset="-122"/>
                <a:cs typeface="Inter" pitchFamily="34" charset="-120"/>
              </a:rPr>
              <a:t> benchmark</a:t>
            </a:r>
            <a:endParaRPr lang="en-US" sz="15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500" dirty="0">
                <a:solidFill>
                  <a:srgbClr val="9AA3AD"/>
                </a:solidFill>
                <a:latin typeface="Inter" pitchFamily="34" charset="0"/>
                <a:ea typeface="Inter" pitchFamily="34" charset="-122"/>
                <a:cs typeface="Inter" pitchFamily="34" charset="-120"/>
              </a:rPr>
              <a:t>—</a:t>
            </a:r>
            <a:endParaRPr lang="en-US" sz="15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MPI every car: 1,567 more a year.</a:t>
            </a:r>
            <a:endParaRPr lang="en-US" sz="1500" dirty="0"/>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LR Reno</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$2.21M</a:t>
            </a:r>
            <a:pPr indent="0" marL="0">
              <a:buNone/>
            </a:pPr>
            <a:r>
              <a:rPr lang="en-US" sz="1400" b="1" dirty="0">
                <a:solidFill>
                  <a:srgbClr val="0B7A4A"/>
                </a:solidFill>
                <a:latin typeface="Inter" pitchFamily="34" charset="0"/>
                <a:ea typeface="Inter" pitchFamily="34" charset="-122"/>
                <a:cs typeface="Inter" pitchFamily="34" charset="-120"/>
              </a:rPr>
              <a:t>  +$157K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$427,953</a:t>
            </a:r>
            <a:pPr indent="0" marL="0">
              <a:buNone/>
            </a:pPr>
            <a:r>
              <a:rPr lang="en-US" sz="1400" b="1" dirty="0">
                <a:solidFill>
                  <a:srgbClr val="0B7A4A"/>
                </a:solidFill>
                <a:latin typeface="Inter" pitchFamily="34" charset="0"/>
                <a:ea typeface="Inter" pitchFamily="34" charset="-122"/>
                <a:cs typeface="Inter" pitchFamily="34" charset="-120"/>
              </a:rPr>
              <a:t>  +$292K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77.3%</a:t>
            </a:r>
            <a:endParaRPr lang="en-US" sz="2200" dirty="0"/>
          </a:p>
        </p:txBody>
      </p:sp>
      <p:sp>
        <p:nvSpPr>
          <p:cNvPr id="14" name="Shape 12"/>
          <p:cNvSpPr/>
          <p:nvPr/>
        </p:nvSpPr>
        <p:spPr>
          <a:xfrm>
            <a:off x="7185660" y="1563624"/>
            <a:ext cx="64008" cy="256032"/>
          </a:xfrm>
          <a:prstGeom prst="rect">
            <a:avLst/>
          </a:prstGeom>
          <a:solidFill>
            <a:srgbClr val="C2352F"/>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1,421</a:t>
            </a:r>
            <a:pPr indent="0" marL="0">
              <a:buNone/>
            </a:pPr>
            <a:r>
              <a:rPr lang="en-US" sz="1400" b="1" dirty="0">
                <a:solidFill>
                  <a:srgbClr val="0B7A4A"/>
                </a:solidFill>
                <a:latin typeface="Inter" pitchFamily="34" charset="0"/>
                <a:ea typeface="Inter" pitchFamily="34" charset="-122"/>
                <a:cs typeface="Inter" pitchFamily="34" charset="-120"/>
              </a:rPr>
              <a:t>  +118</a:t>
            </a:r>
            <a:endParaRPr lang="en-US" sz="2200" dirty="0"/>
          </a:p>
        </p:txBody>
      </p:sp>
      <p:sp>
        <p:nvSpPr>
          <p:cNvPr id="19" name="Shape 17"/>
          <p:cNvSpPr/>
          <p:nvPr/>
        </p:nvSpPr>
        <p:spPr>
          <a:xfrm>
            <a:off x="7709154" y="658368"/>
            <a:ext cx="4022598" cy="475488"/>
          </a:xfrm>
          <a:prstGeom prst="rect">
            <a:avLst/>
          </a:prstGeom>
          <a:solidFill>
            <a:srgbClr val="EDF4FA"/>
          </a:solidFill>
          <a:ln/>
        </p:spPr>
      </p:sp>
      <p:sp>
        <p:nvSpPr>
          <p:cNvPr id="20" name="Text 18"/>
          <p:cNvSpPr txBox="1"/>
          <p:nvPr/>
        </p:nvSpPr>
        <p:spPr>
          <a:xfrm>
            <a:off x="7837170" y="658368"/>
            <a:ext cx="3766566"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1st · MPI 99.0%   ·   3rd · CP ELR $235</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1</a:t>
            </a:r>
            <a:endParaRPr lang="en-US" sz="15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Techs under 85%</a:t>
            </a:r>
            <a:endParaRPr lang="en-US" sz="15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2 of 6</a:t>
            </a:r>
            <a:endParaRPr lang="en-US" sz="15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85%</a:t>
            </a:r>
            <a:pPr indent="0" marL="0">
              <a:buNone/>
            </a:pPr>
            <a:r>
              <a:rPr lang="en-US" sz="1500" dirty="0">
                <a:solidFill>
                  <a:srgbClr val="595959"/>
                </a:solidFill>
                <a:latin typeface="Inter" pitchFamily="34" charset="0"/>
                <a:ea typeface="Inter" pitchFamily="34" charset="-122"/>
                <a:cs typeface="Inter" pitchFamily="34" charset="-120"/>
              </a:rPr>
              <a:t> benchmark</a:t>
            </a:r>
            <a:endParaRPr lang="en-US" sz="15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$247K</a:t>
            </a:r>
            <a:endParaRPr lang="en-US" sz="15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Dispatch, staging and approvals: flag 85%.</a:t>
            </a:r>
            <a:endParaRPr lang="en-US" sz="15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2</a:t>
            </a:r>
            <a:endParaRPr lang="en-US" sz="15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Brake fluid</a:t>
            </a:r>
            <a:endParaRPr lang="en-US" sz="15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7.2%</a:t>
            </a:r>
            <a:endParaRPr lang="en-US" sz="15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10%</a:t>
            </a:r>
            <a:pPr indent="0" marL="0">
              <a:buNone/>
            </a:pPr>
            <a:r>
              <a:rPr lang="en-US" sz="1500" dirty="0">
                <a:solidFill>
                  <a:srgbClr val="595959"/>
                </a:solidFill>
                <a:latin typeface="Inter" pitchFamily="34" charset="0"/>
                <a:ea typeface="Inter" pitchFamily="34" charset="-122"/>
                <a:cs typeface="Inter" pitchFamily="34" charset="-120"/>
              </a:rPr>
              <a:t> benchmark</a:t>
            </a:r>
            <a:endParaRPr lang="en-US" sz="15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$20K</a:t>
            </a:r>
            <a:endParaRPr lang="en-US" sz="15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Recommend it on every visit: 52 more a year.</a:t>
            </a:r>
            <a:endParaRPr lang="en-US" sz="15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3</a:t>
            </a:r>
            <a:endParaRPr lang="en-US" sz="15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Fuel service</a:t>
            </a:r>
            <a:endParaRPr lang="en-US" sz="15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4.5%</a:t>
            </a:r>
            <a:endParaRPr lang="en-US" sz="15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7.5%</a:t>
            </a:r>
            <a:pPr indent="0" marL="0">
              <a:buNone/>
            </a:pPr>
            <a:r>
              <a:rPr lang="en-US" sz="1500" dirty="0">
                <a:solidFill>
                  <a:srgbClr val="595959"/>
                </a:solidFill>
                <a:latin typeface="Inter" pitchFamily="34" charset="0"/>
                <a:ea typeface="Inter" pitchFamily="34" charset="-122"/>
                <a:cs typeface="Inter" pitchFamily="34" charset="-120"/>
              </a:rPr>
              <a:t> benchmark</a:t>
            </a:r>
            <a:endParaRPr lang="en-US" sz="15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$18K</a:t>
            </a:r>
            <a:endParaRPr lang="en-US" sz="15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Recommend it on every visit: 55 more a year.</a:t>
            </a:r>
            <a:endParaRPr lang="en-US" sz="15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4</a:t>
            </a:r>
            <a:endParaRPr lang="en-US" sz="15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Alignment</a:t>
            </a:r>
            <a:endParaRPr lang="en-US" sz="15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12.8%</a:t>
            </a:r>
            <a:endParaRPr lang="en-US" sz="15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15%</a:t>
            </a:r>
            <a:pPr indent="0" marL="0">
              <a:buNone/>
            </a:pPr>
            <a:r>
              <a:rPr lang="en-US" sz="1500" dirty="0">
                <a:solidFill>
                  <a:srgbClr val="595959"/>
                </a:solidFill>
                <a:latin typeface="Inter" pitchFamily="34" charset="0"/>
                <a:ea typeface="Inter" pitchFamily="34" charset="-122"/>
                <a:cs typeface="Inter" pitchFamily="34" charset="-120"/>
              </a:rPr>
              <a:t> benchmark</a:t>
            </a:r>
            <a:endParaRPr lang="en-US" sz="15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$10K</a:t>
            </a:r>
            <a:endParaRPr lang="en-US" sz="15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Recommend it on every visit: 40 more a year.</a:t>
            </a:r>
            <a:endParaRPr lang="en-US" sz="1500" dirty="0"/>
          </a:p>
        </p:txBody>
      </p:sp>
      <p:sp>
        <p:nvSpPr>
          <p:cNvPr id="55" name="Shape 53"/>
          <p:cNvSpPr/>
          <p:nvPr/>
        </p:nvSpPr>
        <p:spPr>
          <a:xfrm>
            <a:off x="658368" y="3725266"/>
            <a:ext cx="10872216" cy="10973"/>
          </a:xfrm>
          <a:prstGeom prst="rect">
            <a:avLst/>
          </a:prstGeom>
          <a:solidFill>
            <a:srgbClr val="9AA3AD"/>
          </a:solidFill>
          <a:ln/>
        </p:spPr>
      </p:sp>
      <p:sp>
        <p:nvSpPr>
          <p:cNvPr id="56" name="Text 54"/>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5</a:t>
            </a:r>
            <a:endParaRPr lang="en-US" sz="1500" dirty="0"/>
          </a:p>
        </p:txBody>
      </p:sp>
      <p:sp>
        <p:nvSpPr>
          <p:cNvPr id="57" name="Text 55"/>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Fixed gross/head</a:t>
            </a:r>
            <a:endParaRPr lang="en-US" sz="1500" dirty="0"/>
          </a:p>
        </p:txBody>
      </p:sp>
      <p:sp>
        <p:nvSpPr>
          <p:cNvPr id="58" name="Text 56"/>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$15,226</a:t>
            </a:r>
            <a:endParaRPr lang="en-US" sz="1500" dirty="0"/>
          </a:p>
        </p:txBody>
      </p:sp>
      <p:sp>
        <p:nvSpPr>
          <p:cNvPr id="59" name="Text 57"/>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$16,998</a:t>
            </a:r>
            <a:pPr indent="0" marL="0">
              <a:buNone/>
            </a:pPr>
            <a:r>
              <a:rPr lang="en-US" sz="1500" dirty="0">
                <a:solidFill>
                  <a:srgbClr val="595959"/>
                </a:solidFill>
                <a:latin typeface="Inter" pitchFamily="34" charset="0"/>
                <a:ea typeface="Inter" pitchFamily="34" charset="-122"/>
                <a:cs typeface="Inter" pitchFamily="34" charset="-120"/>
              </a:rPr>
              <a:t> peer avg</a:t>
            </a:r>
            <a:endParaRPr lang="en-US" sz="1500" dirty="0"/>
          </a:p>
        </p:txBody>
      </p:sp>
      <p:sp>
        <p:nvSpPr>
          <p:cNvPr id="60" name="Text 58"/>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500" dirty="0">
                <a:solidFill>
                  <a:srgbClr val="9AA3AD"/>
                </a:solidFill>
                <a:latin typeface="Inter" pitchFamily="34" charset="0"/>
                <a:ea typeface="Inter" pitchFamily="34" charset="-122"/>
                <a:cs typeface="Inter" pitchFamily="34" charset="-120"/>
              </a:rPr>
              <a:t>—</a:t>
            </a:r>
            <a:endParaRPr lang="en-US" sz="1500" dirty="0"/>
          </a:p>
        </p:txBody>
      </p:sp>
      <p:sp>
        <p:nvSpPr>
          <p:cNvPr id="61" name="Text 59"/>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Staff to gross: 1.7 heads over peer avg.</a:t>
            </a:r>
            <a:endParaRPr lang="en-US" sz="1500" dirty="0"/>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Mazda</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$3.31M</a:t>
            </a:r>
            <a:pPr indent="0" marL="0">
              <a:buNone/>
            </a:pPr>
            <a:r>
              <a:rPr lang="en-US" sz="1400" b="1" dirty="0">
                <a:solidFill>
                  <a:srgbClr val="0B7A4A"/>
                </a:solidFill>
                <a:latin typeface="Inter" pitchFamily="34" charset="0"/>
                <a:ea typeface="Inter" pitchFamily="34" charset="-122"/>
                <a:cs typeface="Inter" pitchFamily="34" charset="-120"/>
              </a:rPr>
              <a:t>  +$120K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$985,141</a:t>
            </a:r>
            <a:pPr indent="0" marL="0">
              <a:buNone/>
            </a:pPr>
            <a:r>
              <a:rPr lang="en-US" sz="1400" b="1" dirty="0">
                <a:solidFill>
                  <a:srgbClr val="A82B26"/>
                </a:solidFill>
                <a:latin typeface="Inter" pitchFamily="34" charset="0"/>
                <a:ea typeface="Inter" pitchFamily="34" charset="-122"/>
                <a:cs typeface="Inter" pitchFamily="34" charset="-120"/>
              </a:rPr>
              <a:t>  −$87K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78.4%</a:t>
            </a:r>
            <a:endParaRPr lang="en-US" sz="2200" dirty="0"/>
          </a:p>
        </p:txBody>
      </p:sp>
      <p:sp>
        <p:nvSpPr>
          <p:cNvPr id="14" name="Shape 12"/>
          <p:cNvSpPr/>
          <p:nvPr/>
        </p:nvSpPr>
        <p:spPr>
          <a:xfrm>
            <a:off x="7185660" y="1563624"/>
            <a:ext cx="64008" cy="256032"/>
          </a:xfrm>
          <a:prstGeom prst="rect">
            <a:avLst/>
          </a:prstGeom>
          <a:solidFill>
            <a:srgbClr val="12A566"/>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5,701</a:t>
            </a:r>
            <a:pPr indent="0" marL="0">
              <a:buNone/>
            </a:pPr>
            <a:r>
              <a:rPr lang="en-US" sz="1400" b="1" dirty="0">
                <a:solidFill>
                  <a:srgbClr val="0B7A4A"/>
                </a:solidFill>
                <a:latin typeface="Inter" pitchFamily="34" charset="0"/>
                <a:ea typeface="Inter" pitchFamily="34" charset="-122"/>
                <a:cs typeface="Inter" pitchFamily="34" charset="-120"/>
              </a:rPr>
              <a:t>  +180</a:t>
            </a:r>
            <a:endParaRPr lang="en-US" sz="2200" dirty="0"/>
          </a:p>
        </p:txBody>
      </p:sp>
      <p:sp>
        <p:nvSpPr>
          <p:cNvPr id="19" name="Shape 17"/>
          <p:cNvSpPr/>
          <p:nvPr/>
        </p:nvSpPr>
        <p:spPr>
          <a:xfrm>
            <a:off x="7709154" y="658368"/>
            <a:ext cx="4022598" cy="475488"/>
          </a:xfrm>
          <a:prstGeom prst="rect">
            <a:avLst/>
          </a:prstGeom>
          <a:solidFill>
            <a:srgbClr val="EDF4FA"/>
          </a:solidFill>
          <a:ln/>
        </p:spPr>
      </p:sp>
      <p:sp>
        <p:nvSpPr>
          <p:cNvPr id="20" name="Text 18"/>
          <p:cNvSpPr txBox="1"/>
          <p:nvPr/>
        </p:nvSpPr>
        <p:spPr>
          <a:xfrm>
            <a:off x="7837170" y="658368"/>
            <a:ext cx="3766566"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YOUR BEST PLACES</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4th · Video 89.0%   ·   5th · MPI 97.0%</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1.46</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$403K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+0.29 hr per RO.</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$238</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$264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$167K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 of 11</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$103K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4 under 85%: dispatch, parts.</a:t>
            </a:r>
            <a:endParaRPr lang="en-US" sz="14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5.2%</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$26K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174 more a year.</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8.4%</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$18K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115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13.1%</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$11K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138 more a year.</a:t>
            </a:r>
            <a:endParaRPr lang="en-US" sz="1400" dirty="0"/>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Nissan</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$4.78M</a:t>
            </a:r>
            <a:pPr indent="0" marL="0">
              <a:buNone/>
            </a:pPr>
            <a:r>
              <a:rPr lang="en-US" sz="1400" b="1" dirty="0">
                <a:solidFill>
                  <a:srgbClr val="0B7A4A"/>
                </a:solidFill>
                <a:latin typeface="Inter" pitchFamily="34" charset="0"/>
                <a:ea typeface="Inter" pitchFamily="34" charset="-122"/>
                <a:cs typeface="Inter" pitchFamily="34" charset="-120"/>
              </a:rPr>
              <a:t>  +$445K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$677,269</a:t>
            </a:r>
            <a:pPr indent="0" marL="0">
              <a:buNone/>
            </a:pPr>
            <a:r>
              <a:rPr lang="en-US" sz="1400" b="1" dirty="0">
                <a:solidFill>
                  <a:srgbClr val="0B7A4A"/>
                </a:solidFill>
                <a:latin typeface="Inter" pitchFamily="34" charset="0"/>
                <a:ea typeface="Inter" pitchFamily="34" charset="-122"/>
                <a:cs typeface="Inter" pitchFamily="34" charset="-120"/>
              </a:rPr>
              <a:t>  +$134K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70.6%</a:t>
            </a:r>
            <a:endParaRPr lang="en-US" sz="2200" dirty="0"/>
          </a:p>
        </p:txBody>
      </p:sp>
      <p:sp>
        <p:nvSpPr>
          <p:cNvPr id="14" name="Shape 12"/>
          <p:cNvSpPr/>
          <p:nvPr/>
        </p:nvSpPr>
        <p:spPr>
          <a:xfrm>
            <a:off x="7185660" y="1563624"/>
            <a:ext cx="64008" cy="256032"/>
          </a:xfrm>
          <a:prstGeom prst="rect">
            <a:avLst/>
          </a:prstGeom>
          <a:solidFill>
            <a:srgbClr val="C2352F"/>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6,973</a:t>
            </a:r>
            <a:pPr indent="0" marL="0">
              <a:buNone/>
            </a:pPr>
            <a:r>
              <a:rPr lang="en-US" sz="1400" b="1" dirty="0">
                <a:solidFill>
                  <a:srgbClr val="A82B26"/>
                </a:solidFill>
                <a:latin typeface="Inter" pitchFamily="34" charset="0"/>
                <a:ea typeface="Inter" pitchFamily="34" charset="-122"/>
                <a:cs typeface="Inter" pitchFamily="34" charset="-120"/>
              </a:rPr>
              <a:t>  −430</a:t>
            </a:r>
            <a:endParaRPr lang="en-US" sz="2200" dirty="0"/>
          </a:p>
        </p:txBody>
      </p:sp>
      <p:sp>
        <p:nvSpPr>
          <p:cNvPr id="19" name="Shape 17"/>
          <p:cNvSpPr/>
          <p:nvPr/>
        </p:nvSpPr>
        <p:spPr>
          <a:xfrm>
            <a:off x="7709154" y="658368"/>
            <a:ext cx="4022598" cy="475488"/>
          </a:xfrm>
          <a:prstGeom prst="rect">
            <a:avLst/>
          </a:prstGeom>
          <a:solidFill>
            <a:srgbClr val="EDF4FA"/>
          </a:solidFill>
          <a:ln/>
        </p:spPr>
      </p:sp>
      <p:sp>
        <p:nvSpPr>
          <p:cNvPr id="20" name="Text 18"/>
          <p:cNvSpPr txBox="1"/>
          <p:nvPr/>
        </p:nvSpPr>
        <p:spPr>
          <a:xfrm>
            <a:off x="7837170" y="658368"/>
            <a:ext cx="3766566"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YOUR BEST PLACES</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4th · CP ELR +$22   ·   5th · MPI 97.0%</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 of 17</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$509K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8 under 85%: dispatch, parts.</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RO count</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6,973</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7,403</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$196K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Win back lapsed customers: 573 more ROs.</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7.4%</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$83K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700 more a year.</a:t>
            </a:r>
            <a:endParaRPr lang="en-US" sz="14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1.0%</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$77K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1,296 more a year.</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4.1%</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$64K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308 more a year.</a:t>
            </a:r>
            <a:endParaRPr lang="en-US" sz="1400" dirty="0"/>
          </a:p>
        </p:txBody>
      </p:sp>
      <p:sp>
        <p:nvSpPr>
          <p:cNvPr id="61" name="Shape 59"/>
          <p:cNvSpPr/>
          <p:nvPr/>
        </p:nvSpPr>
        <p:spPr>
          <a:xfrm>
            <a:off x="658368" y="4054450"/>
            <a:ext cx="10872216" cy="10973"/>
          </a:xfrm>
          <a:prstGeom prst="rect">
            <a:avLst/>
          </a:prstGeom>
          <a:solidFill>
            <a:srgbClr val="9AA3AD"/>
          </a:solidFill>
          <a:ln/>
        </p:spPr>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41.9%</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1,995 more a year.</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$11,957</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2.6 heads over peer avg.</a:t>
            </a:r>
            <a:endParaRPr lang="en-US" sz="1400" dirty="0"/>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Subaru LV</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$10.08M</a:t>
            </a:r>
            <a:pPr indent="0" marL="0">
              <a:buNone/>
            </a:pPr>
            <a:r>
              <a:rPr lang="en-US" sz="1400" b="1" dirty="0">
                <a:solidFill>
                  <a:srgbClr val="A82B26"/>
                </a:solidFill>
                <a:latin typeface="Inter" pitchFamily="34" charset="0"/>
                <a:ea typeface="Inter" pitchFamily="34" charset="-122"/>
                <a:cs typeface="Inter" pitchFamily="34" charset="-120"/>
              </a:rPr>
              <a:t>  −$499K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$2.94M</a:t>
            </a:r>
            <a:pPr indent="0" marL="0">
              <a:buNone/>
            </a:pPr>
            <a:r>
              <a:rPr lang="en-US" sz="1400" b="1" dirty="0">
                <a:solidFill>
                  <a:srgbClr val="0B7A4A"/>
                </a:solidFill>
                <a:latin typeface="Inter" pitchFamily="34" charset="0"/>
                <a:ea typeface="Inter" pitchFamily="34" charset="-122"/>
                <a:cs typeface="Inter" pitchFamily="34" charset="-120"/>
              </a:rPr>
              <a:t>  +$6K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86.0%</a:t>
            </a:r>
            <a:endParaRPr lang="en-US" sz="2200" dirty="0"/>
          </a:p>
        </p:txBody>
      </p:sp>
      <p:sp>
        <p:nvSpPr>
          <p:cNvPr id="14" name="Shape 12"/>
          <p:cNvSpPr/>
          <p:nvPr/>
        </p:nvSpPr>
        <p:spPr>
          <a:xfrm>
            <a:off x="7185660" y="1563624"/>
            <a:ext cx="64008" cy="256032"/>
          </a:xfrm>
          <a:prstGeom prst="rect">
            <a:avLst/>
          </a:prstGeom>
          <a:solidFill>
            <a:srgbClr val="12A566"/>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14,250</a:t>
            </a:r>
            <a:pPr indent="0" marL="0">
              <a:buNone/>
            </a:pPr>
            <a:r>
              <a:rPr lang="en-US" sz="1400" b="1" dirty="0">
                <a:solidFill>
                  <a:srgbClr val="A82B26"/>
                </a:solidFill>
                <a:latin typeface="Inter" pitchFamily="34" charset="0"/>
                <a:ea typeface="Inter" pitchFamily="34" charset="-122"/>
                <a:cs typeface="Inter" pitchFamily="34" charset="-120"/>
              </a:rPr>
              <a:t>  −574</a:t>
            </a:r>
            <a:endParaRPr lang="en-US" sz="2200" dirty="0"/>
          </a:p>
        </p:txBody>
      </p:sp>
      <p:sp>
        <p:nvSpPr>
          <p:cNvPr id="19" name="Shape 17"/>
          <p:cNvSpPr/>
          <p:nvPr/>
        </p:nvSpPr>
        <p:spPr>
          <a:xfrm>
            <a:off x="9404096" y="658368"/>
            <a:ext cx="2327656" cy="475488"/>
          </a:xfrm>
          <a:prstGeom prst="rect">
            <a:avLst/>
          </a:prstGeom>
          <a:solidFill>
            <a:srgbClr val="EDF4FA"/>
          </a:solidFill>
          <a:ln/>
        </p:spPr>
      </p:sp>
      <p:sp>
        <p:nvSpPr>
          <p:cNvPr id="20" name="Text 18"/>
          <p:cNvSpPr txBox="1"/>
          <p:nvPr/>
        </p:nvSpPr>
        <p:spPr>
          <a:xfrm>
            <a:off x="9532112" y="658368"/>
            <a:ext cx="2071624"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2nd · Video 92.0%</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 of 27</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$524K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11 under 85%: dispatch, parts.</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$3.83M</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$4.11M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$383K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Service gross</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$6.26M</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$6.47M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$282K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Sell the MPI; price menus to market.</a:t>
            </a:r>
            <a:endParaRPr lang="en-US" sz="14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RO count</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14,250</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14,824</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$262K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Win back lapsed customers: 765 more ROs.</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10.2%</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$68K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909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40.2%</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$13K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7.0%</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$10K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78 more a year.</a:t>
            </a:r>
            <a:endParaRPr lang="en-US" sz="1400" dirty="0"/>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Subaru Prescott</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$2.70M</a:t>
            </a:r>
            <a:pPr indent="0" marL="0">
              <a:buNone/>
            </a:pPr>
            <a:r>
              <a:rPr lang="en-US" sz="1400" b="1" dirty="0">
                <a:solidFill>
                  <a:srgbClr val="0B7A4A"/>
                </a:solidFill>
                <a:latin typeface="Inter" pitchFamily="34" charset="0"/>
                <a:ea typeface="Inter" pitchFamily="34" charset="-122"/>
                <a:cs typeface="Inter" pitchFamily="34" charset="-120"/>
              </a:rPr>
              <a:t>  +$368K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$128,541</a:t>
            </a:r>
            <a:pPr indent="0" marL="0">
              <a:buNone/>
            </a:pPr>
            <a:r>
              <a:rPr lang="en-US" sz="1400" b="1" dirty="0">
                <a:solidFill>
                  <a:srgbClr val="0B7A4A"/>
                </a:solidFill>
                <a:latin typeface="Inter" pitchFamily="34" charset="0"/>
                <a:ea typeface="Inter" pitchFamily="34" charset="-122"/>
                <a:cs typeface="Inter" pitchFamily="34" charset="-120"/>
              </a:rPr>
              <a:t>  +$183K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51.4%</a:t>
            </a:r>
            <a:endParaRPr lang="en-US" sz="2200" dirty="0"/>
          </a:p>
        </p:txBody>
      </p:sp>
      <p:sp>
        <p:nvSpPr>
          <p:cNvPr id="14" name="Shape 12"/>
          <p:cNvSpPr/>
          <p:nvPr/>
        </p:nvSpPr>
        <p:spPr>
          <a:xfrm>
            <a:off x="7185660" y="1563624"/>
            <a:ext cx="64008" cy="256032"/>
          </a:xfrm>
          <a:prstGeom prst="rect">
            <a:avLst/>
          </a:prstGeom>
          <a:solidFill>
            <a:srgbClr val="C2352F"/>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5,105</a:t>
            </a:r>
            <a:pPr indent="0" marL="0">
              <a:buNone/>
            </a:pPr>
            <a:r>
              <a:rPr lang="en-US" sz="1400" b="1" dirty="0">
                <a:solidFill>
                  <a:srgbClr val="0B7A4A"/>
                </a:solidFill>
                <a:latin typeface="Inter" pitchFamily="34" charset="0"/>
                <a:ea typeface="Inter" pitchFamily="34" charset="-122"/>
                <a:cs typeface="Inter" pitchFamily="34" charset="-120"/>
              </a:rPr>
              <a:t>  +367</a:t>
            </a:r>
            <a:endParaRPr lang="en-US" sz="2200" dirty="0"/>
          </a:p>
        </p:txBody>
      </p:sp>
      <p:sp>
        <p:nvSpPr>
          <p:cNvPr id="19" name="Shape 17"/>
          <p:cNvSpPr/>
          <p:nvPr/>
        </p:nvSpPr>
        <p:spPr>
          <a:xfrm>
            <a:off x="9216898" y="658368"/>
            <a:ext cx="2514854" cy="475488"/>
          </a:xfrm>
          <a:prstGeom prst="rect">
            <a:avLst/>
          </a:prstGeom>
          <a:solidFill>
            <a:srgbClr val="EDF4FA"/>
          </a:solidFill>
          <a:ln/>
        </p:spPr>
      </p:sp>
      <p:sp>
        <p:nvSpPr>
          <p:cNvPr id="20" name="Text 18"/>
          <p:cNvSpPr txBox="1"/>
          <p:nvPr/>
        </p:nvSpPr>
        <p:spPr>
          <a:xfrm>
            <a:off x="9344914" y="658368"/>
            <a:ext cx="2258822"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3rd · Fuel service 9.7%</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 of 12</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$691K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6 under 85%: dispatch, parts.</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$222</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$264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$212K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1.60</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$185K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+0.15 hr per RO.</a:t>
            </a:r>
            <a:endParaRPr lang="en-US" sz="14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34.8%</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$81K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ELR</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$140</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$147</a:t>
            </a:r>
            <a:pPr indent="0" marL="0">
              <a:buNone/>
            </a:pPr>
            <a:r>
              <a:rPr lang="en-US" sz="1400" dirty="0">
                <a:solidFill>
                  <a:srgbClr val="595959"/>
                </a:solidFill>
                <a:latin typeface="Inter" pitchFamily="34" charset="0"/>
                <a:ea typeface="Inter" pitchFamily="34" charset="-122"/>
                <a:cs typeface="Inter" pitchFamily="34" charset="-120"/>
              </a:rPr>
              <a:t> 70% of door</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$78K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Charge the posted rate; control discounts.</a:t>
            </a:r>
            <a:endParaRPr lang="en-US" sz="1400" dirty="0"/>
          </a:p>
        </p:txBody>
      </p:sp>
      <p:sp>
        <p:nvSpPr>
          <p:cNvPr id="61" name="Shape 59"/>
          <p:cNvSpPr/>
          <p:nvPr/>
        </p:nvSpPr>
        <p:spPr>
          <a:xfrm>
            <a:off x="658368" y="4059936"/>
            <a:ext cx="10872216" cy="329184"/>
          </a:xfrm>
          <a:prstGeom prst="rect">
            <a:avLst/>
          </a:prstGeom>
          <a:solidFill>
            <a:srgbClr val="F7F7F7"/>
          </a:solidFill>
          <a:ln/>
        </p:spPr>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GP %</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74.1%</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78%</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$58K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Right tech, right work; review discounts.</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12.5%</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$12K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165 more a year.</a:t>
            </a:r>
            <a:endParaRPr lang="en-US" sz="1400" dirty="0"/>
          </a:p>
        </p:txBody>
      </p:sp>
      <p:sp>
        <p:nvSpPr>
          <p:cNvPr id="74" name="Shape 72"/>
          <p:cNvSpPr/>
          <p:nvPr/>
        </p:nvSpPr>
        <p:spPr>
          <a:xfrm>
            <a:off x="658368" y="4712818"/>
            <a:ext cx="10872216" cy="10973"/>
          </a:xfrm>
          <a:prstGeom prst="rect">
            <a:avLst/>
          </a:prstGeom>
          <a:solidFill>
            <a:srgbClr val="9AA3AD"/>
          </a:solidFill>
          <a:ln/>
        </p:spPr>
      </p:sp>
      <p:sp>
        <p:nvSpPr>
          <p:cNvPr id="75" name="Text 73"/>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77" name="Text 75"/>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54.2%</a:t>
            </a:r>
            <a:endParaRPr lang="en-US" sz="1400" dirty="0"/>
          </a:p>
        </p:txBody>
      </p:sp>
      <p:sp>
        <p:nvSpPr>
          <p:cNvPr id="78" name="Text 76"/>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79" name="Text 77"/>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0" name="Text 78"/>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395 more a year.</a:t>
            </a:r>
            <a:endParaRPr lang="en-US" sz="1400" dirty="0"/>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Subaru St George</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$3.52M</a:t>
            </a:r>
            <a:pPr indent="0" marL="0">
              <a:buNone/>
            </a:pPr>
            <a:r>
              <a:rPr lang="en-US" sz="1400" b="1" dirty="0">
                <a:solidFill>
                  <a:srgbClr val="0B7A4A"/>
                </a:solidFill>
                <a:latin typeface="Inter" pitchFamily="34" charset="0"/>
                <a:ea typeface="Inter" pitchFamily="34" charset="-122"/>
                <a:cs typeface="Inter" pitchFamily="34" charset="-120"/>
              </a:rPr>
              <a:t>  +$472K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$1.17M</a:t>
            </a:r>
            <a:pPr indent="0" marL="0">
              <a:buNone/>
            </a:pPr>
            <a:r>
              <a:rPr lang="en-US" sz="1400" b="1" dirty="0">
                <a:solidFill>
                  <a:srgbClr val="0B7A4A"/>
                </a:solidFill>
                <a:latin typeface="Inter" pitchFamily="34" charset="0"/>
                <a:ea typeface="Inter" pitchFamily="34" charset="-122"/>
                <a:cs typeface="Inter" pitchFamily="34" charset="-120"/>
              </a:rPr>
              <a:t>  +$113K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84.5%</a:t>
            </a:r>
            <a:endParaRPr lang="en-US" sz="2200" dirty="0"/>
          </a:p>
        </p:txBody>
      </p:sp>
      <p:sp>
        <p:nvSpPr>
          <p:cNvPr id="14" name="Shape 12"/>
          <p:cNvSpPr/>
          <p:nvPr/>
        </p:nvSpPr>
        <p:spPr>
          <a:xfrm>
            <a:off x="7185660" y="1563624"/>
            <a:ext cx="64008" cy="256032"/>
          </a:xfrm>
          <a:prstGeom prst="rect">
            <a:avLst/>
          </a:prstGeom>
          <a:solidFill>
            <a:srgbClr val="12A566"/>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5,553</a:t>
            </a:r>
            <a:pPr indent="0" marL="0">
              <a:buNone/>
            </a:pPr>
            <a:r>
              <a:rPr lang="en-US" sz="1400" b="1" dirty="0">
                <a:solidFill>
                  <a:srgbClr val="0B7A4A"/>
                </a:solidFill>
                <a:latin typeface="Inter" pitchFamily="34" charset="0"/>
                <a:ea typeface="Inter" pitchFamily="34" charset="-122"/>
                <a:cs typeface="Inter" pitchFamily="34" charset="-120"/>
              </a:rPr>
              <a:t>  +511</a:t>
            </a:r>
            <a:endParaRPr lang="en-US" sz="2200" dirty="0"/>
          </a:p>
        </p:txBody>
      </p:sp>
      <p:sp>
        <p:nvSpPr>
          <p:cNvPr id="19" name="Shape 17"/>
          <p:cNvSpPr/>
          <p:nvPr/>
        </p:nvSpPr>
        <p:spPr>
          <a:xfrm>
            <a:off x="6201410" y="658368"/>
            <a:ext cx="5530342" cy="475488"/>
          </a:xfrm>
          <a:prstGeom prst="rect">
            <a:avLst/>
          </a:prstGeom>
          <a:solidFill>
            <a:srgbClr val="EDF4FA"/>
          </a:solidFill>
          <a:ln/>
        </p:spPr>
      </p:sp>
      <p:sp>
        <p:nvSpPr>
          <p:cNvPr id="20" name="Text 18"/>
          <p:cNvSpPr txBox="1"/>
          <p:nvPr/>
        </p:nvSpPr>
        <p:spPr>
          <a:xfrm>
            <a:off x="6329426" y="658368"/>
            <a:ext cx="5274310"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1st · Fuel service 13.8%   ·   1st · Hours per RO +0.55</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 of 12</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$265K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3 under 85%: dispatch, parts.</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3.6%</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$125K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837 more a year.</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GP %</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73.9%</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78%</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$98K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Right tech, right work; review discounts.</a:t>
            </a:r>
            <a:endParaRPr lang="en-US" sz="14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11.0%</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$23K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291 more a year.</a:t>
            </a:r>
            <a:endParaRPr lang="en-US" sz="1400" dirty="0"/>
          </a:p>
        </p:txBody>
      </p:sp>
      <p:sp>
        <p:nvSpPr>
          <p:cNvPr id="55" name="Shape 53"/>
          <p:cNvSpPr/>
          <p:nvPr/>
        </p:nvSpPr>
        <p:spPr>
          <a:xfrm>
            <a:off x="658368" y="3725266"/>
            <a:ext cx="10872216" cy="10973"/>
          </a:xfrm>
          <a:prstGeom prst="rect">
            <a:avLst/>
          </a:prstGeom>
          <a:solidFill>
            <a:srgbClr val="9AA3AD"/>
          </a:solidFill>
          <a:ln/>
        </p:spPr>
      </p:sp>
      <p:sp>
        <p:nvSpPr>
          <p:cNvPr id="56" name="Text 54"/>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7" name="Text 55"/>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58" name="Text 56"/>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89.0%</a:t>
            </a:r>
            <a:endParaRPr lang="en-US" sz="1400" dirty="0"/>
          </a:p>
        </p:txBody>
      </p:sp>
      <p:sp>
        <p:nvSpPr>
          <p:cNvPr id="59" name="Text 57"/>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0" name="Text 58"/>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61" name="Text 59"/>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106 more a year.</a:t>
            </a:r>
            <a:endParaRPr lang="en-US" sz="1400" dirty="0"/>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Toyota Flagstaff</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$4.47M</a:t>
            </a:r>
            <a:pPr indent="0" marL="0">
              <a:buNone/>
            </a:pPr>
            <a:r>
              <a:rPr lang="en-US" sz="1400" b="1" dirty="0">
                <a:solidFill>
                  <a:srgbClr val="0B7A4A"/>
                </a:solidFill>
                <a:latin typeface="Inter" pitchFamily="34" charset="0"/>
                <a:ea typeface="Inter" pitchFamily="34" charset="-122"/>
                <a:cs typeface="Inter" pitchFamily="34" charset="-120"/>
              </a:rPr>
              <a:t>  +$422K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$901,549</a:t>
            </a:r>
            <a:pPr indent="0" marL="0">
              <a:buNone/>
            </a:pPr>
            <a:r>
              <a:rPr lang="en-US" sz="1400" b="1" dirty="0">
                <a:solidFill>
                  <a:srgbClr val="0B7A4A"/>
                </a:solidFill>
                <a:latin typeface="Inter" pitchFamily="34" charset="0"/>
                <a:ea typeface="Inter" pitchFamily="34" charset="-122"/>
                <a:cs typeface="Inter" pitchFamily="34" charset="-120"/>
              </a:rPr>
              <a:t>  +$131K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70.0%</a:t>
            </a:r>
            <a:endParaRPr lang="en-US" sz="2200" dirty="0"/>
          </a:p>
        </p:txBody>
      </p:sp>
      <p:sp>
        <p:nvSpPr>
          <p:cNvPr id="14" name="Shape 12"/>
          <p:cNvSpPr/>
          <p:nvPr/>
        </p:nvSpPr>
        <p:spPr>
          <a:xfrm>
            <a:off x="7185660" y="1563624"/>
            <a:ext cx="64008" cy="256032"/>
          </a:xfrm>
          <a:prstGeom prst="rect">
            <a:avLst/>
          </a:prstGeom>
          <a:solidFill>
            <a:srgbClr val="C2352F"/>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15,141</a:t>
            </a:r>
            <a:pPr indent="0" marL="0">
              <a:buNone/>
            </a:pPr>
            <a:r>
              <a:rPr lang="en-US" sz="1400" b="1" dirty="0">
                <a:solidFill>
                  <a:srgbClr val="0B7A4A"/>
                </a:solidFill>
                <a:latin typeface="Inter" pitchFamily="34" charset="0"/>
                <a:ea typeface="Inter" pitchFamily="34" charset="-122"/>
                <a:cs typeface="Inter" pitchFamily="34" charset="-120"/>
              </a:rPr>
              <a:t>  +798</a:t>
            </a:r>
            <a:endParaRPr lang="en-US" sz="2200" dirty="0"/>
          </a:p>
        </p:txBody>
      </p:sp>
      <p:sp>
        <p:nvSpPr>
          <p:cNvPr id="19" name="Shape 17"/>
          <p:cNvSpPr/>
          <p:nvPr/>
        </p:nvSpPr>
        <p:spPr>
          <a:xfrm>
            <a:off x="9404096" y="658368"/>
            <a:ext cx="2327656" cy="475488"/>
          </a:xfrm>
          <a:prstGeom prst="rect">
            <a:avLst/>
          </a:prstGeom>
          <a:solidFill>
            <a:srgbClr val="EDF4FA"/>
          </a:solidFill>
          <a:ln/>
        </p:spPr>
      </p:sp>
      <p:sp>
        <p:nvSpPr>
          <p:cNvPr id="20" name="Text 18"/>
          <p:cNvSpPr txBox="1"/>
          <p:nvPr/>
        </p:nvSpPr>
        <p:spPr>
          <a:xfrm>
            <a:off x="9532112" y="658368"/>
            <a:ext cx="2071624"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3rd · CP ROs +798</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1.41</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$1.26M</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+0.34 hr per RO.</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$201</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$264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$1.01M</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 of 18</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$126K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6 under 85%: dispatch, parts.</a:t>
            </a:r>
            <a:endParaRPr lang="en-US" sz="14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4.9%</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$109K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2,031 more a year.</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1.6%</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$109K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1,173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36.9%</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$108K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9.7%</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$90K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1,066 more a year.</a:t>
            </a:r>
            <a:endParaRPr lang="en-US" sz="1400" dirty="0"/>
          </a:p>
        </p:txBody>
      </p:sp>
      <p:sp>
        <p:nvSpPr>
          <p:cNvPr id="74" name="Shape 72"/>
          <p:cNvSpPr/>
          <p:nvPr/>
        </p:nvSpPr>
        <p:spPr>
          <a:xfrm>
            <a:off x="658368" y="4718304"/>
            <a:ext cx="10872216" cy="329184"/>
          </a:xfrm>
          <a:prstGeom prst="rect">
            <a:avLst/>
          </a:prstGeom>
          <a:solidFill>
            <a:srgbClr val="F7F7F7"/>
          </a:solidFill>
          <a:ln/>
        </p:spPr>
      </p:sp>
      <p:sp>
        <p:nvSpPr>
          <p:cNvPr id="75" name="Text 73"/>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77" name="Text 75"/>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8.0%</a:t>
            </a:r>
            <a:endParaRPr lang="en-US" sz="1400" dirty="0"/>
          </a:p>
        </p:txBody>
      </p:sp>
      <p:sp>
        <p:nvSpPr>
          <p:cNvPr id="78" name="Text 76"/>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9" name="Text 77"/>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$48K</a:t>
            </a:r>
            <a:endParaRPr lang="en-US" sz="1400" dirty="0"/>
          </a:p>
        </p:txBody>
      </p:sp>
      <p:sp>
        <p:nvSpPr>
          <p:cNvPr id="80" name="Text 78"/>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389 more a year.</a:t>
            </a:r>
            <a:endParaRPr lang="en-US" sz="1400" dirty="0"/>
          </a:p>
        </p:txBody>
      </p:sp>
      <p:sp>
        <p:nvSpPr>
          <p:cNvPr id="81" name="Shape 79"/>
          <p:cNvSpPr/>
          <p:nvPr/>
        </p:nvSpPr>
        <p:spPr>
          <a:xfrm>
            <a:off x="658368" y="5042002"/>
            <a:ext cx="10872216" cy="10973"/>
          </a:xfrm>
          <a:prstGeom prst="rect">
            <a:avLst/>
          </a:prstGeom>
          <a:solidFill>
            <a:srgbClr val="9AA3AD"/>
          </a:solidFill>
          <a:ln/>
        </p:spPr>
      </p:sp>
      <p:sp>
        <p:nvSpPr>
          <p:cNvPr id="82" name="Text 80"/>
          <p:cNvSpPr txBox="1"/>
          <p:nvPr/>
        </p:nvSpPr>
        <p:spPr>
          <a:xfrm>
            <a:off x="658368" y="504748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3" name="Text 81"/>
          <p:cNvSpPr txBox="1"/>
          <p:nvPr/>
        </p:nvSpPr>
        <p:spPr>
          <a:xfrm>
            <a:off x="1024128" y="504748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84" name="Text 82"/>
          <p:cNvSpPr txBox="1"/>
          <p:nvPr/>
        </p:nvSpPr>
        <p:spPr>
          <a:xfrm>
            <a:off x="2990088" y="504748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$10,794</a:t>
            </a:r>
            <a:endParaRPr lang="en-US" sz="1400" dirty="0"/>
          </a:p>
        </p:txBody>
      </p:sp>
      <p:sp>
        <p:nvSpPr>
          <p:cNvPr id="85" name="Text 83"/>
          <p:cNvSpPr txBox="1"/>
          <p:nvPr/>
        </p:nvSpPr>
        <p:spPr>
          <a:xfrm>
            <a:off x="4087368" y="504748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86" name="Text 84"/>
          <p:cNvSpPr txBox="1"/>
          <p:nvPr/>
        </p:nvSpPr>
        <p:spPr>
          <a:xfrm>
            <a:off x="5989320" y="5047488"/>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7" name="Text 85"/>
          <p:cNvSpPr txBox="1"/>
          <p:nvPr/>
        </p:nvSpPr>
        <p:spPr>
          <a:xfrm>
            <a:off x="7059168" y="504748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6.9 heads over peer avg.</a:t>
            </a:r>
            <a:endParaRPr lang="en-US" sz="1400" dirty="0"/>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Toyota Henderson</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$22.59M</a:t>
            </a:r>
            <a:pPr indent="0" marL="0">
              <a:buNone/>
            </a:pPr>
            <a:r>
              <a:rPr lang="en-US" sz="1400" b="1" dirty="0">
                <a:solidFill>
                  <a:srgbClr val="0B7A4A"/>
                </a:solidFill>
                <a:latin typeface="Inter" pitchFamily="34" charset="0"/>
                <a:ea typeface="Inter" pitchFamily="34" charset="-122"/>
                <a:cs typeface="Inter" pitchFamily="34" charset="-120"/>
              </a:rPr>
              <a:t>  +$1.77M</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$7.83M</a:t>
            </a:r>
            <a:pPr indent="0" marL="0">
              <a:buNone/>
            </a:pPr>
            <a:r>
              <a:rPr lang="en-US" sz="1400" b="1" dirty="0">
                <a:solidFill>
                  <a:srgbClr val="0B7A4A"/>
                </a:solidFill>
                <a:latin typeface="Inter" pitchFamily="34" charset="0"/>
                <a:ea typeface="Inter" pitchFamily="34" charset="-122"/>
                <a:cs typeface="Inter" pitchFamily="34" charset="-120"/>
              </a:rPr>
              <a:t>  +$1.42M</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79.6%</a:t>
            </a:r>
            <a:endParaRPr lang="en-US" sz="2200" dirty="0"/>
          </a:p>
        </p:txBody>
      </p:sp>
      <p:sp>
        <p:nvSpPr>
          <p:cNvPr id="14" name="Shape 12"/>
          <p:cNvSpPr/>
          <p:nvPr/>
        </p:nvSpPr>
        <p:spPr>
          <a:xfrm>
            <a:off x="7185660" y="1563624"/>
            <a:ext cx="64008" cy="256032"/>
          </a:xfrm>
          <a:prstGeom prst="rect">
            <a:avLst/>
          </a:prstGeom>
          <a:solidFill>
            <a:srgbClr val="12A566"/>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53,084</a:t>
            </a:r>
            <a:pPr indent="0" marL="0">
              <a:buNone/>
            </a:pPr>
            <a:r>
              <a:rPr lang="en-US" sz="1400" b="1" dirty="0">
                <a:solidFill>
                  <a:srgbClr val="0B7A4A"/>
                </a:solidFill>
                <a:latin typeface="Inter" pitchFamily="34" charset="0"/>
                <a:ea typeface="Inter" pitchFamily="34" charset="-122"/>
                <a:cs typeface="Inter" pitchFamily="34" charset="-120"/>
              </a:rPr>
              <a:t>  +65</a:t>
            </a:r>
            <a:endParaRPr lang="en-US" sz="2200" dirty="0"/>
          </a:p>
        </p:txBody>
      </p:sp>
      <p:sp>
        <p:nvSpPr>
          <p:cNvPr id="19" name="Shape 17"/>
          <p:cNvSpPr/>
          <p:nvPr/>
        </p:nvSpPr>
        <p:spPr>
          <a:xfrm>
            <a:off x="6107176" y="658368"/>
            <a:ext cx="5624576" cy="475488"/>
          </a:xfrm>
          <a:prstGeom prst="rect">
            <a:avLst/>
          </a:prstGeom>
          <a:solidFill>
            <a:srgbClr val="EDF4FA"/>
          </a:solidFill>
          <a:ln/>
        </p:spPr>
      </p:sp>
      <p:sp>
        <p:nvSpPr>
          <p:cNvPr id="20" name="Text 18"/>
          <p:cNvSpPr txBox="1"/>
          <p:nvPr/>
        </p:nvSpPr>
        <p:spPr>
          <a:xfrm>
            <a:off x="6235192" y="658368"/>
            <a:ext cx="5368544"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1st · Fixed gross +$1.77M   ·   1st · Net profit +$1.42M</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1.47</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$3.55M</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+0.27 hr per RO.</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$227</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$264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$2.07M</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20 of 59</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$842K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20 under 85%: dispatch, parts.</a:t>
            </a:r>
            <a:endParaRPr lang="en-US" sz="14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11.2%</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$147K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2,671 more a year.</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6.0%</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$129K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1,056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14.5%</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$33K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326 more a year.</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40.2%</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$27K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74" name="Shape 72"/>
          <p:cNvSpPr/>
          <p:nvPr/>
        </p:nvSpPr>
        <p:spPr>
          <a:xfrm>
            <a:off x="658368" y="4712818"/>
            <a:ext cx="10872216" cy="10973"/>
          </a:xfrm>
          <a:prstGeom prst="rect">
            <a:avLst/>
          </a:prstGeom>
          <a:solidFill>
            <a:srgbClr val="9AA3AD"/>
          </a:solidFill>
          <a:ln/>
        </p:spPr>
      </p:sp>
      <p:sp>
        <p:nvSpPr>
          <p:cNvPr id="75" name="Text 73"/>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77" name="Text 75"/>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31.7%</a:t>
            </a:r>
            <a:endParaRPr lang="en-US" sz="1400" dirty="0"/>
          </a:p>
        </p:txBody>
      </p:sp>
      <p:sp>
        <p:nvSpPr>
          <p:cNvPr id="78" name="Text 76"/>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79" name="Text 77"/>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0" name="Text 78"/>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21,344 more a year.</a:t>
            </a:r>
            <a:endParaRPr lang="en-US" sz="1400" dirty="0"/>
          </a:p>
        </p:txBody>
      </p:sp>
      <p:sp>
        <p:nvSpPr>
          <p:cNvPr id="81" name="Text 79"/>
          <p:cNvSpPr txBox="1"/>
          <p:nvPr/>
        </p:nvSpPr>
        <p:spPr>
          <a:xfrm>
            <a:off x="658368" y="504748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2" name="Text 80"/>
          <p:cNvSpPr txBox="1"/>
          <p:nvPr/>
        </p:nvSpPr>
        <p:spPr>
          <a:xfrm>
            <a:off x="1024128" y="504748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83" name="Text 81"/>
          <p:cNvSpPr txBox="1"/>
          <p:nvPr/>
        </p:nvSpPr>
        <p:spPr>
          <a:xfrm>
            <a:off x="2990088" y="504748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76.1%</a:t>
            </a:r>
            <a:endParaRPr lang="en-US" sz="1400" dirty="0"/>
          </a:p>
        </p:txBody>
      </p:sp>
      <p:sp>
        <p:nvSpPr>
          <p:cNvPr id="84" name="Text 82"/>
          <p:cNvSpPr txBox="1"/>
          <p:nvPr/>
        </p:nvSpPr>
        <p:spPr>
          <a:xfrm>
            <a:off x="4087368" y="504748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85" name="Text 83"/>
          <p:cNvSpPr txBox="1"/>
          <p:nvPr/>
        </p:nvSpPr>
        <p:spPr>
          <a:xfrm>
            <a:off x="5989320" y="5047488"/>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6" name="Text 84"/>
          <p:cNvSpPr txBox="1"/>
          <p:nvPr/>
        </p:nvSpPr>
        <p:spPr>
          <a:xfrm>
            <a:off x="7059168" y="504748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11,350 more a year.</a:t>
            </a:r>
            <a:endParaRPr lang="en-US" sz="1400" dirty="0"/>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Toyota Prescott</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$5.08M</a:t>
            </a:r>
            <a:pPr indent="0" marL="0">
              <a:buNone/>
            </a:pPr>
            <a:r>
              <a:rPr lang="en-US" sz="1400" b="1" dirty="0">
                <a:solidFill>
                  <a:srgbClr val="0B7A4A"/>
                </a:solidFill>
                <a:latin typeface="Inter" pitchFamily="34" charset="0"/>
                <a:ea typeface="Inter" pitchFamily="34" charset="-122"/>
                <a:cs typeface="Inter" pitchFamily="34" charset="-120"/>
              </a:rPr>
              <a:t>  +$586K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$1.17M</a:t>
            </a:r>
            <a:pPr indent="0" marL="0">
              <a:buNone/>
            </a:pPr>
            <a:r>
              <a:rPr lang="en-US" sz="1400" b="1" dirty="0">
                <a:solidFill>
                  <a:srgbClr val="0B7A4A"/>
                </a:solidFill>
                <a:latin typeface="Inter" pitchFamily="34" charset="0"/>
                <a:ea typeface="Inter" pitchFamily="34" charset="-122"/>
                <a:cs typeface="Inter" pitchFamily="34" charset="-120"/>
              </a:rPr>
              <a:t>  +$285K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70.3%</a:t>
            </a:r>
            <a:endParaRPr lang="en-US" sz="2200" dirty="0"/>
          </a:p>
        </p:txBody>
      </p:sp>
      <p:sp>
        <p:nvSpPr>
          <p:cNvPr id="14" name="Shape 12"/>
          <p:cNvSpPr/>
          <p:nvPr/>
        </p:nvSpPr>
        <p:spPr>
          <a:xfrm>
            <a:off x="7185660" y="1563624"/>
            <a:ext cx="64008" cy="256032"/>
          </a:xfrm>
          <a:prstGeom prst="rect">
            <a:avLst/>
          </a:prstGeom>
          <a:solidFill>
            <a:srgbClr val="C2352F"/>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13,490</a:t>
            </a:r>
            <a:pPr indent="0" marL="0">
              <a:buNone/>
            </a:pPr>
            <a:r>
              <a:rPr lang="en-US" sz="1400" b="1" dirty="0">
                <a:solidFill>
                  <a:srgbClr val="A82B26"/>
                </a:solidFill>
                <a:latin typeface="Inter" pitchFamily="34" charset="0"/>
                <a:ea typeface="Inter" pitchFamily="34" charset="-122"/>
                <a:cs typeface="Inter" pitchFamily="34" charset="-120"/>
              </a:rPr>
              <a:t>  −80</a:t>
            </a:r>
            <a:endParaRPr lang="en-US" sz="2200" dirty="0"/>
          </a:p>
        </p:txBody>
      </p:sp>
      <p:sp>
        <p:nvSpPr>
          <p:cNvPr id="19" name="Shape 17"/>
          <p:cNvSpPr/>
          <p:nvPr/>
        </p:nvSpPr>
        <p:spPr>
          <a:xfrm>
            <a:off x="6295644" y="658368"/>
            <a:ext cx="5436108" cy="475488"/>
          </a:xfrm>
          <a:prstGeom prst="rect">
            <a:avLst/>
          </a:prstGeom>
          <a:solidFill>
            <a:srgbClr val="EDF4FA"/>
          </a:solidFill>
          <a:ln/>
        </p:spPr>
      </p:sp>
      <p:sp>
        <p:nvSpPr>
          <p:cNvPr id="20" name="Text 18"/>
          <p:cNvSpPr txBox="1"/>
          <p:nvPr/>
        </p:nvSpPr>
        <p:spPr>
          <a:xfrm>
            <a:off x="6423660" y="658368"/>
            <a:ext cx="5180076"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YOUR BEST PLACES</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7th · Fixed gross +$586K   ·   9th · Net profit +$285K</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1.38</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$1.19M</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+0.36 hr per RO.</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 of 22</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$927K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Dispatch, staging and approvals: flag 85%.</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$220</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$264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$617K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6.1%</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$132K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1,590 more a year.</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12.3%</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$49K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478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$1.45M</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$1.48M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$44K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RO count</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13,490</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13,570</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$36K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Win back lapsed customers: 107 more ROs.</a:t>
            </a:r>
            <a:endParaRPr lang="en-US" sz="1400" dirty="0"/>
          </a:p>
        </p:txBody>
      </p:sp>
      <p:sp>
        <p:nvSpPr>
          <p:cNvPr id="74" name="Shape 72"/>
          <p:cNvSpPr/>
          <p:nvPr/>
        </p:nvSpPr>
        <p:spPr>
          <a:xfrm>
            <a:off x="658368" y="4718304"/>
            <a:ext cx="10872216" cy="329184"/>
          </a:xfrm>
          <a:prstGeom prst="rect">
            <a:avLst/>
          </a:prstGeom>
          <a:solidFill>
            <a:srgbClr val="F7F7F7"/>
          </a:solidFill>
          <a:ln/>
        </p:spPr>
      </p:sp>
      <p:sp>
        <p:nvSpPr>
          <p:cNvPr id="75" name="Text 73"/>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77" name="Text 75"/>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8.4%</a:t>
            </a:r>
            <a:endParaRPr lang="en-US" sz="1400" dirty="0"/>
          </a:p>
        </p:txBody>
      </p:sp>
      <p:sp>
        <p:nvSpPr>
          <p:cNvPr id="78" name="Text 76"/>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9" name="Text 77"/>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$32K</a:t>
            </a:r>
            <a:endParaRPr lang="en-US" sz="1400" dirty="0"/>
          </a:p>
        </p:txBody>
      </p:sp>
      <p:sp>
        <p:nvSpPr>
          <p:cNvPr id="80" name="Text 78"/>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287 more a year.</a:t>
            </a:r>
            <a:endParaRPr lang="en-US" sz="1400" dirty="0"/>
          </a:p>
        </p:txBody>
      </p:sp>
      <p:sp>
        <p:nvSpPr>
          <p:cNvPr id="81" name="Text 79"/>
          <p:cNvSpPr txBox="1"/>
          <p:nvPr/>
        </p:nvSpPr>
        <p:spPr>
          <a:xfrm>
            <a:off x="658368" y="504748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2" name="Text 80"/>
          <p:cNvSpPr txBox="1"/>
          <p:nvPr/>
        </p:nvSpPr>
        <p:spPr>
          <a:xfrm>
            <a:off x="1024128" y="504748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83" name="Text 81"/>
          <p:cNvSpPr txBox="1"/>
          <p:nvPr/>
        </p:nvSpPr>
        <p:spPr>
          <a:xfrm>
            <a:off x="2990088" y="504748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6.4%</a:t>
            </a:r>
            <a:endParaRPr lang="en-US" sz="1400" dirty="0"/>
          </a:p>
        </p:txBody>
      </p:sp>
      <p:sp>
        <p:nvSpPr>
          <p:cNvPr id="84" name="Text 82"/>
          <p:cNvSpPr txBox="1"/>
          <p:nvPr/>
        </p:nvSpPr>
        <p:spPr>
          <a:xfrm>
            <a:off x="4087368" y="504748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85" name="Text 83"/>
          <p:cNvSpPr txBox="1"/>
          <p:nvPr/>
        </p:nvSpPr>
        <p:spPr>
          <a:xfrm>
            <a:off x="5989320" y="504748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$19K</a:t>
            </a:r>
            <a:endParaRPr lang="en-US" sz="1400" dirty="0"/>
          </a:p>
        </p:txBody>
      </p:sp>
      <p:sp>
        <p:nvSpPr>
          <p:cNvPr id="86" name="Text 84"/>
          <p:cNvSpPr txBox="1"/>
          <p:nvPr/>
        </p:nvSpPr>
        <p:spPr>
          <a:xfrm>
            <a:off x="7059168" y="504748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186 more a year.</a:t>
            </a:r>
            <a:endParaRPr lang="en-US" sz="1400" dirty="0"/>
          </a:p>
        </p:txBody>
      </p:sp>
      <p:sp>
        <p:nvSpPr>
          <p:cNvPr id="87" name="Shape 85"/>
          <p:cNvSpPr/>
          <p:nvPr/>
        </p:nvSpPr>
        <p:spPr>
          <a:xfrm>
            <a:off x="658368" y="5371186"/>
            <a:ext cx="10872216" cy="10973"/>
          </a:xfrm>
          <a:prstGeom prst="rect">
            <a:avLst/>
          </a:prstGeom>
          <a:solidFill>
            <a:srgbClr val="9AA3AD"/>
          </a:solidFill>
          <a:ln/>
        </p:spPr>
      </p:sp>
      <p:sp>
        <p:nvSpPr>
          <p:cNvPr id="88" name="Text 86"/>
          <p:cNvSpPr txBox="1"/>
          <p:nvPr/>
        </p:nvSpPr>
        <p:spPr>
          <a:xfrm>
            <a:off x="658368" y="537667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89" name="Text 87"/>
          <p:cNvSpPr txBox="1"/>
          <p:nvPr/>
        </p:nvSpPr>
        <p:spPr>
          <a:xfrm>
            <a:off x="1024128" y="537667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90" name="Text 88"/>
          <p:cNvSpPr txBox="1"/>
          <p:nvPr/>
        </p:nvSpPr>
        <p:spPr>
          <a:xfrm>
            <a:off x="2990088" y="537667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$11,044</a:t>
            </a:r>
            <a:endParaRPr lang="en-US" sz="1400" dirty="0"/>
          </a:p>
        </p:txBody>
      </p:sp>
      <p:sp>
        <p:nvSpPr>
          <p:cNvPr id="91" name="Text 89"/>
          <p:cNvSpPr txBox="1"/>
          <p:nvPr/>
        </p:nvSpPr>
        <p:spPr>
          <a:xfrm>
            <a:off x="4087368" y="537667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92" name="Text 90"/>
          <p:cNvSpPr txBox="1"/>
          <p:nvPr/>
        </p:nvSpPr>
        <p:spPr>
          <a:xfrm>
            <a:off x="5989320" y="5376672"/>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3" name="Text 91"/>
          <p:cNvSpPr txBox="1"/>
          <p:nvPr/>
        </p:nvSpPr>
        <p:spPr>
          <a:xfrm>
            <a:off x="7059168" y="537667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6.7 heads over peer avg.</a:t>
            </a:r>
            <a:endParaRPr lang="en-US" sz="1400" dirty="0"/>
          </a:p>
        </p:txBody>
      </p:sp>
      <p:sp>
        <p:nvSpPr>
          <p:cNvPr id="94" name="Text 92"/>
          <p:cNvSpPr txBox="1"/>
          <p:nvPr/>
        </p:nvSpPr>
        <p:spPr>
          <a:xfrm>
            <a:off x="658368" y="570585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11</a:t>
            </a:r>
            <a:endParaRPr lang="en-US" sz="1400" dirty="0"/>
          </a:p>
        </p:txBody>
      </p:sp>
      <p:sp>
        <p:nvSpPr>
          <p:cNvPr id="95" name="Text 93"/>
          <p:cNvSpPr txBox="1"/>
          <p:nvPr/>
        </p:nvSpPr>
        <p:spPr>
          <a:xfrm>
            <a:off x="1024128" y="570585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96" name="Text 94"/>
          <p:cNvSpPr txBox="1"/>
          <p:nvPr/>
        </p:nvSpPr>
        <p:spPr>
          <a:xfrm>
            <a:off x="2990088" y="570585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81.5%</a:t>
            </a:r>
            <a:endParaRPr lang="en-US" sz="1400" dirty="0"/>
          </a:p>
        </p:txBody>
      </p:sp>
      <p:sp>
        <p:nvSpPr>
          <p:cNvPr id="97" name="Text 95"/>
          <p:cNvSpPr txBox="1"/>
          <p:nvPr/>
        </p:nvSpPr>
        <p:spPr>
          <a:xfrm>
            <a:off x="4087368" y="570585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98" name="Text 96"/>
          <p:cNvSpPr txBox="1"/>
          <p:nvPr/>
        </p:nvSpPr>
        <p:spPr>
          <a:xfrm>
            <a:off x="5989320" y="5705856"/>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9" name="Text 97"/>
          <p:cNvSpPr txBox="1"/>
          <p:nvPr/>
        </p:nvSpPr>
        <p:spPr>
          <a:xfrm>
            <a:off x="7059168" y="570585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1,744 more a year.</a:t>
            </a:r>
            <a:endParaRPr lang="en-US" sz="1400" dirty="0"/>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Toyota Spokane</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$5.93M</a:t>
            </a:r>
            <a:pPr indent="0" marL="0">
              <a:buNone/>
            </a:pPr>
            <a:r>
              <a:rPr lang="en-US" sz="1400" b="1" dirty="0">
                <a:solidFill>
                  <a:srgbClr val="0B7A4A"/>
                </a:solidFill>
                <a:latin typeface="Inter" pitchFamily="34" charset="0"/>
                <a:ea typeface="Inter" pitchFamily="34" charset="-122"/>
                <a:cs typeface="Inter" pitchFamily="34" charset="-120"/>
              </a:rPr>
              <a:t>  +$545K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$699,325</a:t>
            </a:r>
            <a:pPr indent="0" marL="0">
              <a:buNone/>
            </a:pPr>
            <a:r>
              <a:rPr lang="en-US" sz="1400" b="1" dirty="0">
                <a:solidFill>
                  <a:srgbClr val="A82B26"/>
                </a:solidFill>
                <a:latin typeface="Inter" pitchFamily="34" charset="0"/>
                <a:ea typeface="Inter" pitchFamily="34" charset="-122"/>
                <a:cs typeface="Inter" pitchFamily="34" charset="-120"/>
              </a:rPr>
              <a:t>  −$268K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73.3%</a:t>
            </a:r>
            <a:endParaRPr lang="en-US" sz="2200" dirty="0"/>
          </a:p>
        </p:txBody>
      </p:sp>
      <p:sp>
        <p:nvSpPr>
          <p:cNvPr id="14" name="Shape 12"/>
          <p:cNvSpPr/>
          <p:nvPr/>
        </p:nvSpPr>
        <p:spPr>
          <a:xfrm>
            <a:off x="7185660" y="1563624"/>
            <a:ext cx="64008" cy="256032"/>
          </a:xfrm>
          <a:prstGeom prst="rect">
            <a:avLst/>
          </a:prstGeom>
          <a:solidFill>
            <a:srgbClr val="C2352F"/>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17,376</a:t>
            </a:r>
            <a:pPr indent="0" marL="0">
              <a:buNone/>
            </a:pPr>
            <a:r>
              <a:rPr lang="en-US" sz="1400" b="1" dirty="0">
                <a:solidFill>
                  <a:srgbClr val="0B7A4A"/>
                </a:solidFill>
                <a:latin typeface="Inter" pitchFamily="34" charset="0"/>
                <a:ea typeface="Inter" pitchFamily="34" charset="-122"/>
                <a:cs typeface="Inter" pitchFamily="34" charset="-120"/>
              </a:rPr>
              <a:t>  +1,008</a:t>
            </a:r>
            <a:endParaRPr lang="en-US" sz="2200" dirty="0"/>
          </a:p>
        </p:txBody>
      </p:sp>
      <p:sp>
        <p:nvSpPr>
          <p:cNvPr id="19" name="Shape 17"/>
          <p:cNvSpPr/>
          <p:nvPr/>
        </p:nvSpPr>
        <p:spPr>
          <a:xfrm>
            <a:off x="9404096" y="658368"/>
            <a:ext cx="2327656" cy="475488"/>
          </a:xfrm>
          <a:prstGeom prst="rect">
            <a:avLst/>
          </a:prstGeom>
          <a:solidFill>
            <a:srgbClr val="EDF4FA"/>
          </a:solidFill>
          <a:ln/>
        </p:spPr>
      </p:sp>
      <p:sp>
        <p:nvSpPr>
          <p:cNvPr id="20" name="Text 18"/>
          <p:cNvSpPr txBox="1"/>
          <p:nvPr/>
        </p:nvSpPr>
        <p:spPr>
          <a:xfrm>
            <a:off x="9532112" y="658368"/>
            <a:ext cx="2071624"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1st · CP ROs +1,008</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31" name="Text 29"/>
          <p:cNvSpPr txBox="1"/>
          <p:nvPr/>
        </p:nvSpPr>
        <p:spPr>
          <a:xfrm>
            <a:off x="2990088" y="24140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$187</a:t>
            </a:r>
            <a:endParaRPr lang="en-US" sz="1400" dirty="0"/>
          </a:p>
        </p:txBody>
      </p:sp>
      <p:sp>
        <p:nvSpPr>
          <p:cNvPr id="32" name="Text 30"/>
          <p:cNvSpPr txBox="1"/>
          <p:nvPr/>
        </p:nvSpPr>
        <p:spPr>
          <a:xfrm>
            <a:off x="4087368" y="24140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$264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33" name="Text 31"/>
          <p:cNvSpPr txBox="1"/>
          <p:nvPr/>
        </p:nvSpPr>
        <p:spPr>
          <a:xfrm>
            <a:off x="5989320" y="24140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$1.35M</a:t>
            </a:r>
            <a:endParaRPr lang="en-US" sz="1400" dirty="0"/>
          </a:p>
        </p:txBody>
      </p:sp>
      <p:sp>
        <p:nvSpPr>
          <p:cNvPr id="34" name="Text 32"/>
          <p:cNvSpPr txBox="1"/>
          <p:nvPr/>
        </p:nvSpPr>
        <p:spPr>
          <a:xfrm>
            <a:off x="7059168" y="24140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35" name="Shape 33"/>
          <p:cNvSpPr/>
          <p:nvPr/>
        </p:nvSpPr>
        <p:spPr>
          <a:xfrm>
            <a:off x="658368" y="2737866"/>
            <a:ext cx="10872216" cy="323850"/>
          </a:xfrm>
          <a:prstGeom prst="rect">
            <a:avLst/>
          </a:prstGeom>
          <a:solidFill>
            <a:srgbClr val="F7F7F7"/>
          </a:solidFill>
          <a:ln/>
        </p:spPr>
      </p:sp>
      <p:sp>
        <p:nvSpPr>
          <p:cNvPr id="36" name="Text 34"/>
          <p:cNvSpPr txBox="1"/>
          <p:nvPr/>
        </p:nvSpPr>
        <p:spPr>
          <a:xfrm>
            <a:off x="658368" y="27378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378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38" name="Text 36"/>
          <p:cNvSpPr txBox="1"/>
          <p:nvPr/>
        </p:nvSpPr>
        <p:spPr>
          <a:xfrm>
            <a:off x="2990088" y="27378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1.48</a:t>
            </a:r>
            <a:endParaRPr lang="en-US" sz="1400" dirty="0"/>
          </a:p>
        </p:txBody>
      </p:sp>
      <p:sp>
        <p:nvSpPr>
          <p:cNvPr id="39" name="Text 37"/>
          <p:cNvSpPr txBox="1"/>
          <p:nvPr/>
        </p:nvSpPr>
        <p:spPr>
          <a:xfrm>
            <a:off x="4087368" y="27378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378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$1.12M</a:t>
            </a:r>
            <a:endParaRPr lang="en-US" sz="1400" dirty="0"/>
          </a:p>
        </p:txBody>
      </p:sp>
      <p:sp>
        <p:nvSpPr>
          <p:cNvPr id="41" name="Text 39"/>
          <p:cNvSpPr txBox="1"/>
          <p:nvPr/>
        </p:nvSpPr>
        <p:spPr>
          <a:xfrm>
            <a:off x="7059168" y="27378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+0.26 hr per RO.</a:t>
            </a:r>
            <a:endParaRPr lang="en-US" sz="1400" dirty="0"/>
          </a:p>
        </p:txBody>
      </p:sp>
      <p:sp>
        <p:nvSpPr>
          <p:cNvPr id="42" name="Text 40"/>
          <p:cNvSpPr txBox="1"/>
          <p:nvPr/>
        </p:nvSpPr>
        <p:spPr>
          <a:xfrm>
            <a:off x="658368" y="30617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617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44" name="Text 42"/>
          <p:cNvSpPr txBox="1"/>
          <p:nvPr/>
        </p:nvSpPr>
        <p:spPr>
          <a:xfrm>
            <a:off x="2990088" y="30617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4.2%</a:t>
            </a:r>
            <a:endParaRPr lang="en-US" sz="1400" dirty="0"/>
          </a:p>
        </p:txBody>
      </p:sp>
      <p:sp>
        <p:nvSpPr>
          <p:cNvPr id="45" name="Text 43"/>
          <p:cNvSpPr txBox="1"/>
          <p:nvPr/>
        </p:nvSpPr>
        <p:spPr>
          <a:xfrm>
            <a:off x="4087368" y="30617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617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$225K</a:t>
            </a:r>
            <a:endParaRPr lang="en-US" sz="1400" dirty="0"/>
          </a:p>
        </p:txBody>
      </p:sp>
      <p:sp>
        <p:nvSpPr>
          <p:cNvPr id="47" name="Text 45"/>
          <p:cNvSpPr txBox="1"/>
          <p:nvPr/>
        </p:nvSpPr>
        <p:spPr>
          <a:xfrm>
            <a:off x="7059168" y="30617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2,490 more a year.</a:t>
            </a:r>
            <a:endParaRPr lang="en-US" sz="1400" dirty="0"/>
          </a:p>
        </p:txBody>
      </p:sp>
      <p:sp>
        <p:nvSpPr>
          <p:cNvPr id="48" name="Shape 46"/>
          <p:cNvSpPr/>
          <p:nvPr/>
        </p:nvSpPr>
        <p:spPr>
          <a:xfrm>
            <a:off x="658368" y="3385566"/>
            <a:ext cx="10872216" cy="323850"/>
          </a:xfrm>
          <a:prstGeom prst="rect">
            <a:avLst/>
          </a:prstGeom>
          <a:solidFill>
            <a:srgbClr val="F7F7F7"/>
          </a:solidFill>
          <a:ln/>
        </p:spPr>
      </p:sp>
      <p:sp>
        <p:nvSpPr>
          <p:cNvPr id="49" name="Text 47"/>
          <p:cNvSpPr txBox="1"/>
          <p:nvPr/>
        </p:nvSpPr>
        <p:spPr>
          <a:xfrm>
            <a:off x="658368" y="33855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3855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51" name="Text 49"/>
          <p:cNvSpPr txBox="1"/>
          <p:nvPr/>
        </p:nvSpPr>
        <p:spPr>
          <a:xfrm>
            <a:off x="2990088" y="33855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0.4%</a:t>
            </a:r>
            <a:endParaRPr lang="en-US" sz="1400" dirty="0"/>
          </a:p>
        </p:txBody>
      </p:sp>
      <p:sp>
        <p:nvSpPr>
          <p:cNvPr id="52" name="Text 50"/>
          <p:cNvSpPr txBox="1"/>
          <p:nvPr/>
        </p:nvSpPr>
        <p:spPr>
          <a:xfrm>
            <a:off x="4087368" y="33855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3855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$180K</a:t>
            </a:r>
            <a:endParaRPr lang="en-US" sz="1400" dirty="0"/>
          </a:p>
        </p:txBody>
      </p:sp>
      <p:sp>
        <p:nvSpPr>
          <p:cNvPr id="54" name="Text 52"/>
          <p:cNvSpPr txBox="1"/>
          <p:nvPr/>
        </p:nvSpPr>
        <p:spPr>
          <a:xfrm>
            <a:off x="7059168" y="33855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3,361 more a year.</a:t>
            </a:r>
            <a:endParaRPr lang="en-US" sz="1400" dirty="0"/>
          </a:p>
        </p:txBody>
      </p:sp>
      <p:sp>
        <p:nvSpPr>
          <p:cNvPr id="55" name="Text 53"/>
          <p:cNvSpPr txBox="1"/>
          <p:nvPr/>
        </p:nvSpPr>
        <p:spPr>
          <a:xfrm>
            <a:off x="658368" y="37094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094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ELR</a:t>
            </a:r>
            <a:endParaRPr lang="en-US" sz="1400" dirty="0"/>
          </a:p>
        </p:txBody>
      </p:sp>
      <p:sp>
        <p:nvSpPr>
          <p:cNvPr id="57" name="Text 55"/>
          <p:cNvSpPr txBox="1"/>
          <p:nvPr/>
        </p:nvSpPr>
        <p:spPr>
          <a:xfrm>
            <a:off x="2990088" y="37094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$125</a:t>
            </a:r>
            <a:endParaRPr lang="en-US" sz="1400" dirty="0"/>
          </a:p>
        </p:txBody>
      </p:sp>
      <p:sp>
        <p:nvSpPr>
          <p:cNvPr id="58" name="Text 56"/>
          <p:cNvSpPr txBox="1"/>
          <p:nvPr/>
        </p:nvSpPr>
        <p:spPr>
          <a:xfrm>
            <a:off x="4087368" y="37094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$130</a:t>
            </a:r>
            <a:pPr indent="0" marL="0">
              <a:buNone/>
            </a:pPr>
            <a:r>
              <a:rPr lang="en-US" sz="1400" dirty="0">
                <a:solidFill>
                  <a:srgbClr val="595959"/>
                </a:solidFill>
                <a:latin typeface="Inter" pitchFamily="34" charset="0"/>
                <a:ea typeface="Inter" pitchFamily="34" charset="-122"/>
                <a:cs typeface="Inter" pitchFamily="34" charset="-120"/>
              </a:rPr>
              <a:t> 70% of door</a:t>
            </a:r>
            <a:endParaRPr lang="en-US" sz="1400" dirty="0"/>
          </a:p>
        </p:txBody>
      </p:sp>
      <p:sp>
        <p:nvSpPr>
          <p:cNvPr id="59" name="Text 57"/>
          <p:cNvSpPr txBox="1"/>
          <p:nvPr/>
        </p:nvSpPr>
        <p:spPr>
          <a:xfrm>
            <a:off x="5989320" y="37094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$157K</a:t>
            </a:r>
            <a:endParaRPr lang="en-US" sz="1400" dirty="0"/>
          </a:p>
        </p:txBody>
      </p:sp>
      <p:sp>
        <p:nvSpPr>
          <p:cNvPr id="60" name="Text 58"/>
          <p:cNvSpPr txBox="1"/>
          <p:nvPr/>
        </p:nvSpPr>
        <p:spPr>
          <a:xfrm>
            <a:off x="7059168" y="37094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Charge the posted rate; control discounts.</a:t>
            </a:r>
            <a:endParaRPr lang="en-US" sz="1400" dirty="0"/>
          </a:p>
        </p:txBody>
      </p:sp>
      <p:sp>
        <p:nvSpPr>
          <p:cNvPr id="61" name="Shape 59"/>
          <p:cNvSpPr/>
          <p:nvPr/>
        </p:nvSpPr>
        <p:spPr>
          <a:xfrm>
            <a:off x="658368" y="4033266"/>
            <a:ext cx="10872216" cy="323850"/>
          </a:xfrm>
          <a:prstGeom prst="rect">
            <a:avLst/>
          </a:prstGeom>
          <a:solidFill>
            <a:srgbClr val="F7F7F7"/>
          </a:solidFill>
          <a:ln/>
        </p:spPr>
      </p:sp>
      <p:sp>
        <p:nvSpPr>
          <p:cNvPr id="62" name="Text 60"/>
          <p:cNvSpPr txBox="1"/>
          <p:nvPr/>
        </p:nvSpPr>
        <p:spPr>
          <a:xfrm>
            <a:off x="658368" y="40332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332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64" name="Text 62"/>
          <p:cNvSpPr txBox="1"/>
          <p:nvPr/>
        </p:nvSpPr>
        <p:spPr>
          <a:xfrm>
            <a:off x="2990088" y="40332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 of 28</a:t>
            </a:r>
            <a:endParaRPr lang="en-US" sz="1400" dirty="0"/>
          </a:p>
        </p:txBody>
      </p:sp>
      <p:sp>
        <p:nvSpPr>
          <p:cNvPr id="65" name="Text 63"/>
          <p:cNvSpPr txBox="1"/>
          <p:nvPr/>
        </p:nvSpPr>
        <p:spPr>
          <a:xfrm>
            <a:off x="4087368" y="40332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332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$136K</a:t>
            </a:r>
            <a:endParaRPr lang="en-US" sz="1400" dirty="0"/>
          </a:p>
        </p:txBody>
      </p:sp>
      <p:sp>
        <p:nvSpPr>
          <p:cNvPr id="67" name="Text 65"/>
          <p:cNvSpPr txBox="1"/>
          <p:nvPr/>
        </p:nvSpPr>
        <p:spPr>
          <a:xfrm>
            <a:off x="7059168" y="40332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4 under 85%: dispatch, parts.</a:t>
            </a:r>
            <a:endParaRPr lang="en-US" sz="1400" dirty="0"/>
          </a:p>
        </p:txBody>
      </p:sp>
      <p:sp>
        <p:nvSpPr>
          <p:cNvPr id="68" name="Text 66"/>
          <p:cNvSpPr txBox="1"/>
          <p:nvPr/>
        </p:nvSpPr>
        <p:spPr>
          <a:xfrm>
            <a:off x="658368" y="43571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571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GP %</a:t>
            </a:r>
            <a:endParaRPr lang="en-US" sz="1400" dirty="0"/>
          </a:p>
        </p:txBody>
      </p:sp>
      <p:sp>
        <p:nvSpPr>
          <p:cNvPr id="70" name="Text 68"/>
          <p:cNvSpPr txBox="1"/>
          <p:nvPr/>
        </p:nvSpPr>
        <p:spPr>
          <a:xfrm>
            <a:off x="2990088" y="43571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75.7%</a:t>
            </a:r>
            <a:endParaRPr lang="en-US" sz="1400" dirty="0"/>
          </a:p>
        </p:txBody>
      </p:sp>
      <p:sp>
        <p:nvSpPr>
          <p:cNvPr id="71" name="Text 69"/>
          <p:cNvSpPr txBox="1"/>
          <p:nvPr/>
        </p:nvSpPr>
        <p:spPr>
          <a:xfrm>
            <a:off x="4087368" y="43571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78%</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571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$102K</a:t>
            </a:r>
            <a:endParaRPr lang="en-US" sz="1400" dirty="0"/>
          </a:p>
        </p:txBody>
      </p:sp>
      <p:sp>
        <p:nvSpPr>
          <p:cNvPr id="73" name="Text 71"/>
          <p:cNvSpPr txBox="1"/>
          <p:nvPr/>
        </p:nvSpPr>
        <p:spPr>
          <a:xfrm>
            <a:off x="7059168" y="43571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Right tech, right work; review discounts.</a:t>
            </a:r>
            <a:endParaRPr lang="en-US" sz="1400" dirty="0"/>
          </a:p>
        </p:txBody>
      </p:sp>
      <p:sp>
        <p:nvSpPr>
          <p:cNvPr id="74" name="Shape 72"/>
          <p:cNvSpPr/>
          <p:nvPr/>
        </p:nvSpPr>
        <p:spPr>
          <a:xfrm>
            <a:off x="658368" y="4680966"/>
            <a:ext cx="10872216" cy="323850"/>
          </a:xfrm>
          <a:prstGeom prst="rect">
            <a:avLst/>
          </a:prstGeom>
          <a:solidFill>
            <a:srgbClr val="F7F7F7"/>
          </a:solidFill>
          <a:ln/>
        </p:spPr>
      </p:sp>
      <p:sp>
        <p:nvSpPr>
          <p:cNvPr id="75" name="Text 73"/>
          <p:cNvSpPr txBox="1"/>
          <p:nvPr/>
        </p:nvSpPr>
        <p:spPr>
          <a:xfrm>
            <a:off x="658368" y="46809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6809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77" name="Text 75"/>
          <p:cNvSpPr txBox="1"/>
          <p:nvPr/>
        </p:nvSpPr>
        <p:spPr>
          <a:xfrm>
            <a:off x="2990088" y="46809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7.0%</a:t>
            </a:r>
            <a:endParaRPr lang="en-US" sz="1400" dirty="0"/>
          </a:p>
        </p:txBody>
      </p:sp>
      <p:sp>
        <p:nvSpPr>
          <p:cNvPr id="78" name="Text 76"/>
          <p:cNvSpPr txBox="1"/>
          <p:nvPr/>
        </p:nvSpPr>
        <p:spPr>
          <a:xfrm>
            <a:off x="4087368" y="46809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9" name="Text 77"/>
          <p:cNvSpPr txBox="1"/>
          <p:nvPr/>
        </p:nvSpPr>
        <p:spPr>
          <a:xfrm>
            <a:off x="5989320" y="46809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$80K</a:t>
            </a:r>
            <a:endParaRPr lang="en-US" sz="1400" dirty="0"/>
          </a:p>
        </p:txBody>
      </p:sp>
      <p:sp>
        <p:nvSpPr>
          <p:cNvPr id="80" name="Text 78"/>
          <p:cNvSpPr txBox="1"/>
          <p:nvPr/>
        </p:nvSpPr>
        <p:spPr>
          <a:xfrm>
            <a:off x="7059168" y="46809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683 more a year.</a:t>
            </a:r>
            <a:endParaRPr lang="en-US" sz="1400" dirty="0"/>
          </a:p>
        </p:txBody>
      </p:sp>
      <p:sp>
        <p:nvSpPr>
          <p:cNvPr id="81" name="Text 79"/>
          <p:cNvSpPr txBox="1"/>
          <p:nvPr/>
        </p:nvSpPr>
        <p:spPr>
          <a:xfrm>
            <a:off x="658368" y="50048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2" name="Text 80"/>
          <p:cNvSpPr txBox="1"/>
          <p:nvPr/>
        </p:nvSpPr>
        <p:spPr>
          <a:xfrm>
            <a:off x="1024128" y="50048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83" name="Text 81"/>
          <p:cNvSpPr txBox="1"/>
          <p:nvPr/>
        </p:nvSpPr>
        <p:spPr>
          <a:xfrm>
            <a:off x="2990088" y="50048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$2.25M</a:t>
            </a:r>
            <a:endParaRPr lang="en-US" sz="1400" dirty="0"/>
          </a:p>
        </p:txBody>
      </p:sp>
      <p:sp>
        <p:nvSpPr>
          <p:cNvPr id="84" name="Text 82"/>
          <p:cNvSpPr txBox="1"/>
          <p:nvPr/>
        </p:nvSpPr>
        <p:spPr>
          <a:xfrm>
            <a:off x="4087368" y="50048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$2.31M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85" name="Text 83"/>
          <p:cNvSpPr txBox="1"/>
          <p:nvPr/>
        </p:nvSpPr>
        <p:spPr>
          <a:xfrm>
            <a:off x="5989320" y="50048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$76K</a:t>
            </a:r>
            <a:endParaRPr lang="en-US" sz="1400" dirty="0"/>
          </a:p>
        </p:txBody>
      </p:sp>
      <p:sp>
        <p:nvSpPr>
          <p:cNvPr id="86" name="Text 84"/>
          <p:cNvSpPr txBox="1"/>
          <p:nvPr/>
        </p:nvSpPr>
        <p:spPr>
          <a:xfrm>
            <a:off x="7059168" y="50048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87" name="Shape 85"/>
          <p:cNvSpPr/>
          <p:nvPr/>
        </p:nvSpPr>
        <p:spPr>
          <a:xfrm>
            <a:off x="658368" y="5328666"/>
            <a:ext cx="10872216" cy="323850"/>
          </a:xfrm>
          <a:prstGeom prst="rect">
            <a:avLst/>
          </a:prstGeom>
          <a:solidFill>
            <a:srgbClr val="F7F7F7"/>
          </a:solidFill>
          <a:ln/>
        </p:spPr>
      </p:sp>
      <p:sp>
        <p:nvSpPr>
          <p:cNvPr id="88" name="Text 86"/>
          <p:cNvSpPr txBox="1"/>
          <p:nvPr/>
        </p:nvSpPr>
        <p:spPr>
          <a:xfrm>
            <a:off x="658368" y="53286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89" name="Text 87"/>
          <p:cNvSpPr txBox="1"/>
          <p:nvPr/>
        </p:nvSpPr>
        <p:spPr>
          <a:xfrm>
            <a:off x="1024128" y="53286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90" name="Text 88"/>
          <p:cNvSpPr txBox="1"/>
          <p:nvPr/>
        </p:nvSpPr>
        <p:spPr>
          <a:xfrm>
            <a:off x="2990088" y="53286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5.8%</a:t>
            </a:r>
            <a:endParaRPr lang="en-US" sz="1400" dirty="0"/>
          </a:p>
        </p:txBody>
      </p:sp>
      <p:sp>
        <p:nvSpPr>
          <p:cNvPr id="91" name="Text 89"/>
          <p:cNvSpPr txBox="1"/>
          <p:nvPr/>
        </p:nvSpPr>
        <p:spPr>
          <a:xfrm>
            <a:off x="4087368" y="53286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92" name="Text 90"/>
          <p:cNvSpPr txBox="1"/>
          <p:nvPr/>
        </p:nvSpPr>
        <p:spPr>
          <a:xfrm>
            <a:off x="5989320" y="53286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$56K</a:t>
            </a:r>
            <a:endParaRPr lang="en-US" sz="1400" dirty="0"/>
          </a:p>
        </p:txBody>
      </p:sp>
      <p:sp>
        <p:nvSpPr>
          <p:cNvPr id="93" name="Text 91"/>
          <p:cNvSpPr txBox="1"/>
          <p:nvPr/>
        </p:nvSpPr>
        <p:spPr>
          <a:xfrm>
            <a:off x="7059168" y="53286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387 more a year.</a:t>
            </a:r>
            <a:endParaRPr lang="en-US" sz="1400" dirty="0"/>
          </a:p>
        </p:txBody>
      </p:sp>
      <p:sp>
        <p:nvSpPr>
          <p:cNvPr id="94" name="Shape 92"/>
          <p:cNvSpPr/>
          <p:nvPr/>
        </p:nvSpPr>
        <p:spPr>
          <a:xfrm>
            <a:off x="658368" y="5647030"/>
            <a:ext cx="10872216" cy="10973"/>
          </a:xfrm>
          <a:prstGeom prst="rect">
            <a:avLst/>
          </a:prstGeom>
          <a:solidFill>
            <a:srgbClr val="9AA3AD"/>
          </a:solidFill>
          <a:ln/>
        </p:spPr>
      </p:sp>
      <p:sp>
        <p:nvSpPr>
          <p:cNvPr id="95" name="Text 93"/>
          <p:cNvSpPr txBox="1"/>
          <p:nvPr/>
        </p:nvSpPr>
        <p:spPr>
          <a:xfrm>
            <a:off x="658368" y="56525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11</a:t>
            </a:r>
            <a:endParaRPr lang="en-US" sz="1400" dirty="0"/>
          </a:p>
        </p:txBody>
      </p:sp>
      <p:sp>
        <p:nvSpPr>
          <p:cNvPr id="96" name="Text 94"/>
          <p:cNvSpPr txBox="1"/>
          <p:nvPr/>
        </p:nvSpPr>
        <p:spPr>
          <a:xfrm>
            <a:off x="1024128" y="56525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97" name="Text 95"/>
          <p:cNvSpPr txBox="1"/>
          <p:nvPr/>
        </p:nvSpPr>
        <p:spPr>
          <a:xfrm>
            <a:off x="2990088" y="56525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$11,128</a:t>
            </a:r>
            <a:endParaRPr lang="en-US" sz="1400" dirty="0"/>
          </a:p>
        </p:txBody>
      </p:sp>
      <p:sp>
        <p:nvSpPr>
          <p:cNvPr id="98" name="Text 96"/>
          <p:cNvSpPr txBox="1"/>
          <p:nvPr/>
        </p:nvSpPr>
        <p:spPr>
          <a:xfrm>
            <a:off x="4087368" y="56525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99" name="Text 97"/>
          <p:cNvSpPr txBox="1"/>
          <p:nvPr/>
        </p:nvSpPr>
        <p:spPr>
          <a:xfrm>
            <a:off x="5989320" y="5652516"/>
            <a:ext cx="868680" cy="323850"/>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100" name="Text 98"/>
          <p:cNvSpPr txBox="1"/>
          <p:nvPr/>
        </p:nvSpPr>
        <p:spPr>
          <a:xfrm>
            <a:off x="7059168" y="56525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7.4 heads over peer avg.</a:t>
            </a:r>
            <a:endParaRPr lang="en-US" sz="1400" dirty="0"/>
          </a:p>
        </p:txBody>
      </p:sp>
      <p:sp>
        <p:nvSpPr>
          <p:cNvPr id="101" name="Shape 99"/>
          <p:cNvSpPr/>
          <p:nvPr/>
        </p:nvSpPr>
        <p:spPr>
          <a:xfrm>
            <a:off x="658368" y="5976366"/>
            <a:ext cx="10872216" cy="323850"/>
          </a:xfrm>
          <a:prstGeom prst="rect">
            <a:avLst/>
          </a:prstGeom>
          <a:solidFill>
            <a:srgbClr val="F7F7F7"/>
          </a:solidFill>
          <a:ln/>
        </p:spPr>
      </p:sp>
      <p:sp>
        <p:nvSpPr>
          <p:cNvPr id="102" name="Text 100"/>
          <p:cNvSpPr txBox="1"/>
          <p:nvPr/>
        </p:nvSpPr>
        <p:spPr>
          <a:xfrm>
            <a:off x="658368" y="59763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12</a:t>
            </a:r>
            <a:endParaRPr lang="en-US" sz="1400" dirty="0"/>
          </a:p>
        </p:txBody>
      </p:sp>
      <p:sp>
        <p:nvSpPr>
          <p:cNvPr id="103" name="Text 101"/>
          <p:cNvSpPr txBox="1"/>
          <p:nvPr/>
        </p:nvSpPr>
        <p:spPr>
          <a:xfrm>
            <a:off x="1024128" y="59763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104" name="Text 102"/>
          <p:cNvSpPr txBox="1"/>
          <p:nvPr/>
        </p:nvSpPr>
        <p:spPr>
          <a:xfrm>
            <a:off x="2990088" y="59763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81.3%</a:t>
            </a:r>
            <a:endParaRPr lang="en-US" sz="1400" dirty="0"/>
          </a:p>
        </p:txBody>
      </p:sp>
      <p:sp>
        <p:nvSpPr>
          <p:cNvPr id="105" name="Text 103"/>
          <p:cNvSpPr txBox="1"/>
          <p:nvPr/>
        </p:nvSpPr>
        <p:spPr>
          <a:xfrm>
            <a:off x="4087368" y="59763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106" name="Text 104"/>
          <p:cNvSpPr txBox="1"/>
          <p:nvPr/>
        </p:nvSpPr>
        <p:spPr>
          <a:xfrm>
            <a:off x="5989320" y="5976366"/>
            <a:ext cx="868680" cy="323850"/>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107" name="Text 105"/>
          <p:cNvSpPr txBox="1"/>
          <p:nvPr/>
        </p:nvSpPr>
        <p:spPr>
          <a:xfrm>
            <a:off x="7059168" y="59763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2,232 more a year.</a:t>
            </a:r>
            <a:endParaRPr lang="en-US" sz="1400" dirty="0"/>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Volvo</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$3.91M</a:t>
            </a:r>
            <a:pPr indent="0" marL="0">
              <a:buNone/>
            </a:pPr>
            <a:r>
              <a:rPr lang="en-US" sz="1400" b="1" dirty="0">
                <a:solidFill>
                  <a:srgbClr val="0B7A4A"/>
                </a:solidFill>
                <a:latin typeface="Inter" pitchFamily="34" charset="0"/>
                <a:ea typeface="Inter" pitchFamily="34" charset="-122"/>
                <a:cs typeface="Inter" pitchFamily="34" charset="-120"/>
              </a:rPr>
              <a:t>  +$63K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$1.33M</a:t>
            </a:r>
            <a:pPr indent="0" marL="0">
              <a:buNone/>
            </a:pPr>
            <a:r>
              <a:rPr lang="en-US" sz="1400" b="1" dirty="0">
                <a:solidFill>
                  <a:srgbClr val="0B7A4A"/>
                </a:solidFill>
                <a:latin typeface="Inter" pitchFamily="34" charset="0"/>
                <a:ea typeface="Inter" pitchFamily="34" charset="-122"/>
                <a:cs typeface="Inter" pitchFamily="34" charset="-120"/>
              </a:rPr>
              <a:t>  +$155K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81.8%</a:t>
            </a:r>
            <a:endParaRPr lang="en-US" sz="2200" dirty="0"/>
          </a:p>
        </p:txBody>
      </p:sp>
      <p:sp>
        <p:nvSpPr>
          <p:cNvPr id="14" name="Shape 12"/>
          <p:cNvSpPr/>
          <p:nvPr/>
        </p:nvSpPr>
        <p:spPr>
          <a:xfrm>
            <a:off x="7185660" y="1563624"/>
            <a:ext cx="64008" cy="256032"/>
          </a:xfrm>
          <a:prstGeom prst="rect">
            <a:avLst/>
          </a:prstGeom>
          <a:solidFill>
            <a:srgbClr val="12A566"/>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3,402</a:t>
            </a:r>
            <a:pPr indent="0" marL="0">
              <a:buNone/>
            </a:pPr>
            <a:r>
              <a:rPr lang="en-US" sz="1400" b="1" dirty="0">
                <a:solidFill>
                  <a:srgbClr val="0B7A4A"/>
                </a:solidFill>
                <a:latin typeface="Inter" pitchFamily="34" charset="0"/>
                <a:ea typeface="Inter" pitchFamily="34" charset="-122"/>
                <a:cs typeface="Inter" pitchFamily="34" charset="-120"/>
              </a:rPr>
              <a:t>  +46</a:t>
            </a:r>
            <a:endParaRPr lang="en-US" sz="2200" dirty="0"/>
          </a:p>
        </p:txBody>
      </p:sp>
      <p:sp>
        <p:nvSpPr>
          <p:cNvPr id="19" name="Shape 17"/>
          <p:cNvSpPr/>
          <p:nvPr/>
        </p:nvSpPr>
        <p:spPr>
          <a:xfrm>
            <a:off x="4787900" y="658368"/>
            <a:ext cx="6943852" cy="475488"/>
          </a:xfrm>
          <a:prstGeom prst="rect">
            <a:avLst/>
          </a:prstGeom>
          <a:solidFill>
            <a:srgbClr val="EDF4FA"/>
          </a:solidFill>
          <a:ln/>
        </p:spPr>
      </p:sp>
      <p:sp>
        <p:nvSpPr>
          <p:cNvPr id="20" name="Text 18"/>
          <p:cNvSpPr txBox="1"/>
          <p:nvPr/>
        </p:nvSpPr>
        <p:spPr>
          <a:xfrm>
            <a:off x="4915916" y="658368"/>
            <a:ext cx="6687820"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1st · CP ELR +$41   ·   2nd · Gross/head $18,549   ·   3rd · MPI 98.2%</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 of 9</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$743K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Dispatch, staging and approvals: flag 85%.</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2.28</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2.90</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$517K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+0.62 hr per RO.</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$506</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$632</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$505K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$1.49M</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$1.54M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$67K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55" name="Shape 53"/>
          <p:cNvSpPr/>
          <p:nvPr/>
        </p:nvSpPr>
        <p:spPr>
          <a:xfrm>
            <a:off x="658368" y="3725266"/>
            <a:ext cx="10872216" cy="10973"/>
          </a:xfrm>
          <a:prstGeom prst="rect">
            <a:avLst/>
          </a:prstGeom>
          <a:solidFill>
            <a:srgbClr val="9AA3AD"/>
          </a:solidFill>
          <a:ln/>
        </p:spPr>
      </p:sp>
      <p:sp>
        <p:nvSpPr>
          <p:cNvPr id="56" name="Text 54"/>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7" name="Text 55"/>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58" name="Text 56"/>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52.5%</a:t>
            </a:r>
            <a:endParaRPr lang="en-US" sz="1400" dirty="0"/>
          </a:p>
        </p:txBody>
      </p:sp>
      <p:sp>
        <p:nvSpPr>
          <p:cNvPr id="59" name="Text 57"/>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60" name="Text 58"/>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61" name="Text 59"/>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366 more a year.</a:t>
            </a:r>
            <a:endParaRPr lang="en-US" sz="1400" dirty="0"/>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VW Henderson</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$4.79M</a:t>
            </a:r>
            <a:pPr indent="0" marL="0">
              <a:buNone/>
            </a:pPr>
            <a:r>
              <a:rPr lang="en-US" sz="1400" b="1" dirty="0">
                <a:solidFill>
                  <a:srgbClr val="A82B26"/>
                </a:solidFill>
                <a:latin typeface="Inter" pitchFamily="34" charset="0"/>
                <a:ea typeface="Inter" pitchFamily="34" charset="-122"/>
                <a:cs typeface="Inter" pitchFamily="34" charset="-120"/>
              </a:rPr>
              <a:t>  −$761K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$1.09M</a:t>
            </a:r>
            <a:pPr indent="0" marL="0">
              <a:buNone/>
            </a:pPr>
            <a:r>
              <a:rPr lang="en-US" sz="1400" b="1" dirty="0">
                <a:solidFill>
                  <a:srgbClr val="A82B26"/>
                </a:solidFill>
                <a:latin typeface="Inter" pitchFamily="34" charset="0"/>
                <a:ea typeface="Inter" pitchFamily="34" charset="-122"/>
                <a:cs typeface="Inter" pitchFamily="34" charset="-120"/>
              </a:rPr>
              <a:t>  −$457K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83.8%</a:t>
            </a:r>
            <a:endParaRPr lang="en-US" sz="2200" dirty="0"/>
          </a:p>
        </p:txBody>
      </p:sp>
      <p:sp>
        <p:nvSpPr>
          <p:cNvPr id="14" name="Shape 12"/>
          <p:cNvSpPr/>
          <p:nvPr/>
        </p:nvSpPr>
        <p:spPr>
          <a:xfrm>
            <a:off x="7185660" y="1563624"/>
            <a:ext cx="64008" cy="256032"/>
          </a:xfrm>
          <a:prstGeom prst="rect">
            <a:avLst/>
          </a:prstGeom>
          <a:solidFill>
            <a:srgbClr val="12A566"/>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5,145</a:t>
            </a:r>
            <a:pPr indent="0" marL="0">
              <a:buNone/>
            </a:pPr>
            <a:r>
              <a:rPr lang="en-US" sz="1400" b="1" dirty="0">
                <a:solidFill>
                  <a:srgbClr val="A82B26"/>
                </a:solidFill>
                <a:latin typeface="Inter" pitchFamily="34" charset="0"/>
                <a:ea typeface="Inter" pitchFamily="34" charset="-122"/>
                <a:cs typeface="Inter" pitchFamily="34" charset="-120"/>
              </a:rPr>
              <a:t>  −4</a:t>
            </a:r>
            <a:endParaRPr lang="en-US" sz="2200" dirty="0"/>
          </a:p>
        </p:txBody>
      </p:sp>
      <p:sp>
        <p:nvSpPr>
          <p:cNvPr id="19" name="Shape 17"/>
          <p:cNvSpPr/>
          <p:nvPr/>
        </p:nvSpPr>
        <p:spPr>
          <a:xfrm>
            <a:off x="7709154" y="658368"/>
            <a:ext cx="4022598" cy="475488"/>
          </a:xfrm>
          <a:prstGeom prst="rect">
            <a:avLst/>
          </a:prstGeom>
          <a:solidFill>
            <a:srgbClr val="EDF4FA"/>
          </a:solidFill>
          <a:ln/>
        </p:spPr>
      </p:sp>
      <p:sp>
        <p:nvSpPr>
          <p:cNvPr id="20" name="Text 18"/>
          <p:cNvSpPr txBox="1"/>
          <p:nvPr/>
        </p:nvSpPr>
        <p:spPr>
          <a:xfrm>
            <a:off x="7837170" y="658368"/>
            <a:ext cx="3766566"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1st · MPI 99.0%   ·   1st · Video 96.0%</a:t>
            </a:r>
            <a:endParaRPr lang="en-US" sz="1400" dirty="0"/>
          </a:p>
        </p:txBody>
      </p:sp>
      <p:sp>
        <p:nvSpPr>
          <p:cNvPr id="21" name="Shape 19"/>
          <p:cNvSpPr/>
          <p:nvPr/>
        </p:nvSpPr>
        <p:spPr>
          <a:xfrm>
            <a:off x="457200" y="2011680"/>
            <a:ext cx="11274552" cy="4343400"/>
          </a:xfrm>
          <a:prstGeom prst="rect">
            <a:avLst/>
          </a:prstGeom>
          <a:solidFill>
            <a:srgbClr val="FFFFFF"/>
          </a:solidFill>
          <a:ln/>
        </p:spPr>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Service gross</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$3.50M</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$4.05M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$730K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Sell the MPI; price menus to market.</a:t>
            </a:r>
            <a:endParaRPr lang="en-US" sz="1400" dirty="0"/>
          </a:p>
        </p:txBody>
      </p:sp>
      <p:sp>
        <p:nvSpPr>
          <p:cNvPr id="35" name="Shape 33"/>
          <p:cNvSpPr/>
          <p:nvPr/>
        </p:nvSpPr>
        <p:spPr>
          <a:xfrm>
            <a:off x="658368" y="2743200"/>
            <a:ext cx="10872216" cy="329184"/>
          </a:xfrm>
          <a:prstGeom prst="rect">
            <a:avLst/>
          </a:prstGeom>
          <a:solidFill>
            <a:srgbClr val="F7F7F7"/>
          </a:solidFill>
          <a:ln/>
        </p:spPr>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 of 19</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$295K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6 under 85%: dispatch, parts.</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$1.29M</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$1.50M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$285K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48" name="Shape 46"/>
          <p:cNvSpPr/>
          <p:nvPr/>
        </p:nvSpPr>
        <p:spPr>
          <a:xfrm>
            <a:off x="658368" y="3401568"/>
            <a:ext cx="10872216" cy="329184"/>
          </a:xfrm>
          <a:prstGeom prst="rect">
            <a:avLst/>
          </a:prstGeom>
          <a:solidFill>
            <a:srgbClr val="F7F7F7"/>
          </a:solidFill>
          <a:ln/>
        </p:spPr>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36.9%</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$69K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8.2%</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$27K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460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13.6%</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$23K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96 more a year.</a:t>
            </a:r>
            <a:endParaRPr lang="en-US" sz="1400" dirty="0"/>
          </a:p>
        </p:txBody>
      </p:sp>
      <p:sp>
        <p:nvSpPr>
          <p:cNvPr id="68" name="Shape 66"/>
          <p:cNvSpPr/>
          <p:nvPr/>
        </p:nvSpPr>
        <p:spPr>
          <a:xfrm>
            <a:off x="658368" y="4383634"/>
            <a:ext cx="10872216" cy="10973"/>
          </a:xfrm>
          <a:prstGeom prst="rect">
            <a:avLst/>
          </a:prstGeom>
          <a:solidFill>
            <a:srgbClr val="9AA3AD"/>
          </a:solidFill>
          <a:ln/>
        </p:spPr>
      </p:sp>
      <p:sp>
        <p:nvSpPr>
          <p:cNvPr id="69" name="Text 67"/>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70" name="Text 68"/>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71" name="Text 69"/>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$12,006</a:t>
            </a:r>
            <a:endParaRPr lang="en-US" sz="1400" dirty="0"/>
          </a:p>
        </p:txBody>
      </p:sp>
      <p:sp>
        <p:nvSpPr>
          <p:cNvPr id="72" name="Text 70"/>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73" name="Text 71"/>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74" name="Text 72"/>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2.5 heads over peer avg.</a:t>
            </a:r>
            <a:endParaRPr lang="en-US" sz="1400" dirty="0"/>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VW St George</a:t>
            </a:r>
            <a:endParaRPr lang="en-US" sz="2800" dirty="0"/>
          </a:p>
        </p:txBody>
      </p:sp>
      <p:sp>
        <p:nvSpPr>
          <p:cNvPr id="5" name="Shape 3"/>
          <p:cNvSpPr/>
          <p:nvPr/>
        </p:nvSpPr>
        <p:spPr>
          <a:xfrm>
            <a:off x="457200" y="1207008"/>
            <a:ext cx="11274552" cy="713232"/>
          </a:xfrm>
          <a:prstGeom prst="rect">
            <a:avLst/>
          </a:prstGeom>
          <a:solidFill>
            <a:srgbClr val="FFFFFF"/>
          </a:solidFill>
          <a:ln/>
        </p:spPr>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$968,018</a:t>
            </a:r>
            <a:pPr indent="0" marL="0">
              <a:buNone/>
            </a:pPr>
            <a:r>
              <a:rPr lang="en-US" sz="1400" b="1" dirty="0">
                <a:solidFill>
                  <a:srgbClr val="A82B26"/>
                </a:solidFill>
                <a:latin typeface="Inter" pitchFamily="34" charset="0"/>
                <a:ea typeface="Inter" pitchFamily="34" charset="-122"/>
                <a:cs typeface="Inter" pitchFamily="34" charset="-120"/>
              </a:rPr>
              <a:t>  −$163K</a:t>
            </a:r>
            <a:endParaRPr lang="en-US" sz="2200" dirty="0"/>
          </a:p>
        </p:txBody>
      </p:sp>
      <p:sp>
        <p:nvSpPr>
          <p:cNvPr id="8" name="Shape 6"/>
          <p:cNvSpPr/>
          <p:nvPr/>
        </p:nvSpPr>
        <p:spPr>
          <a:xfrm>
            <a:off x="3355848" y="1316736"/>
            <a:ext cx="10973" cy="493776"/>
          </a:xfrm>
          <a:prstGeom prst="rect">
            <a:avLst/>
          </a:prstGeom>
          <a:solidFill>
            <a:srgbClr val="D9D9D9"/>
          </a:solidFill>
          <a:ln/>
        </p:spPr>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A82B26"/>
                </a:solidFill>
                <a:latin typeface="Inter" pitchFamily="34" charset="0"/>
                <a:ea typeface="Inter" pitchFamily="34" charset="-122"/>
                <a:cs typeface="Inter" pitchFamily="34" charset="-120"/>
              </a:rPr>
              <a:t>−$58,644</a:t>
            </a:r>
            <a:pPr indent="0" marL="0">
              <a:buNone/>
            </a:pPr>
            <a:r>
              <a:rPr lang="en-US" sz="1400" b="1" dirty="0">
                <a:solidFill>
                  <a:srgbClr val="A82B26"/>
                </a:solidFill>
                <a:latin typeface="Inter" pitchFamily="34" charset="0"/>
                <a:ea typeface="Inter" pitchFamily="34" charset="-122"/>
                <a:cs typeface="Inter" pitchFamily="34" charset="-120"/>
              </a:rPr>
              <a:t>  −$212K</a:t>
            </a:r>
            <a:endParaRPr lang="en-US" sz="2200" dirty="0"/>
          </a:p>
        </p:txBody>
      </p:sp>
      <p:sp>
        <p:nvSpPr>
          <p:cNvPr id="11" name="Shape 9"/>
          <p:cNvSpPr/>
          <p:nvPr/>
        </p:nvSpPr>
        <p:spPr>
          <a:xfrm>
            <a:off x="6117336" y="1316736"/>
            <a:ext cx="10973" cy="493776"/>
          </a:xfrm>
          <a:prstGeom prst="rect">
            <a:avLst/>
          </a:prstGeom>
          <a:solidFill>
            <a:srgbClr val="D9D9D9"/>
          </a:solidFill>
          <a:ln/>
        </p:spPr>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54.1%</a:t>
            </a:r>
            <a:endParaRPr lang="en-US" sz="2200" dirty="0"/>
          </a:p>
        </p:txBody>
      </p:sp>
      <p:sp>
        <p:nvSpPr>
          <p:cNvPr id="14" name="Shape 12"/>
          <p:cNvSpPr/>
          <p:nvPr/>
        </p:nvSpPr>
        <p:spPr>
          <a:xfrm>
            <a:off x="7185660" y="1563624"/>
            <a:ext cx="64008" cy="256032"/>
          </a:xfrm>
          <a:prstGeom prst="rect">
            <a:avLst/>
          </a:prstGeom>
          <a:solidFill>
            <a:srgbClr val="C2352F"/>
          </a:solidFill>
          <a:ln/>
        </p:spPr>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78.1%</a:t>
            </a:r>
            <a:endParaRPr lang="en-US" sz="1400" dirty="0"/>
          </a:p>
        </p:txBody>
      </p:sp>
      <p:sp>
        <p:nvSpPr>
          <p:cNvPr id="16" name="Shape 14"/>
          <p:cNvSpPr/>
          <p:nvPr/>
        </p:nvSpPr>
        <p:spPr>
          <a:xfrm>
            <a:off x="8878824" y="1316736"/>
            <a:ext cx="10973" cy="493776"/>
          </a:xfrm>
          <a:prstGeom prst="rect">
            <a:avLst/>
          </a:prstGeom>
          <a:solidFill>
            <a:srgbClr val="D9D9D9"/>
          </a:solidFill>
          <a:ln/>
        </p:spPr>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1,919</a:t>
            </a:r>
            <a:pPr indent="0" marL="0">
              <a:buNone/>
            </a:pPr>
            <a:r>
              <a:rPr lang="en-US" sz="1400" b="1" dirty="0">
                <a:solidFill>
                  <a:srgbClr val="A82B26"/>
                </a:solidFill>
                <a:latin typeface="Inter" pitchFamily="34" charset="0"/>
                <a:ea typeface="Inter" pitchFamily="34" charset="-122"/>
                <a:cs typeface="Inter" pitchFamily="34" charset="-120"/>
              </a:rPr>
              <a:t>  −332</a:t>
            </a:r>
            <a:endParaRPr lang="en-US" sz="2200" dirty="0"/>
          </a:p>
        </p:txBody>
      </p:sp>
      <p:sp>
        <p:nvSpPr>
          <p:cNvPr id="19" name="Shape 17"/>
          <p:cNvSpPr/>
          <p:nvPr/>
        </p:nvSpPr>
        <p:spPr>
          <a:xfrm>
            <a:off x="457200" y="2011680"/>
            <a:ext cx="11274552" cy="4343400"/>
          </a:xfrm>
          <a:prstGeom prst="rect">
            <a:avLst/>
          </a:prstGeom>
          <a:solidFill>
            <a:srgbClr val="FFFFFF"/>
          </a:solidFill>
          <a:ln/>
        </p:spPr>
      </p:sp>
      <p:sp>
        <p:nvSpPr>
          <p:cNvPr id="20" name="Text 18"/>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1" name="Text 19"/>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2" name="Text 20"/>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3" name="Text 21"/>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4" name="Text 22"/>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5" name="Text 23"/>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6" name="Shape 24"/>
          <p:cNvSpPr/>
          <p:nvPr/>
        </p:nvSpPr>
        <p:spPr>
          <a:xfrm>
            <a:off x="658368" y="2368296"/>
            <a:ext cx="10872216" cy="10973"/>
          </a:xfrm>
          <a:prstGeom prst="rect">
            <a:avLst/>
          </a:prstGeom>
          <a:solidFill>
            <a:srgbClr val="1A1A1A"/>
          </a:solidFill>
          <a:ln/>
        </p:spPr>
      </p:sp>
      <p:sp>
        <p:nvSpPr>
          <p:cNvPr id="27" name="Text 25"/>
          <p:cNvSpPr txBox="1"/>
          <p:nvPr/>
        </p:nvSpPr>
        <p:spPr>
          <a:xfrm>
            <a:off x="658368" y="2414016"/>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28" name="Text 26"/>
          <p:cNvSpPr txBox="1"/>
          <p:nvPr/>
        </p:nvSpPr>
        <p:spPr>
          <a:xfrm>
            <a:off x="1024128" y="2414016"/>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29" name="Text 27"/>
          <p:cNvSpPr txBox="1"/>
          <p:nvPr/>
        </p:nvSpPr>
        <p:spPr>
          <a:xfrm>
            <a:off x="2990088" y="2414016"/>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 of 5</a:t>
            </a:r>
            <a:endParaRPr lang="en-US" sz="1400" dirty="0"/>
          </a:p>
        </p:txBody>
      </p:sp>
      <p:sp>
        <p:nvSpPr>
          <p:cNvPr id="30" name="Text 28"/>
          <p:cNvSpPr txBox="1"/>
          <p:nvPr/>
        </p:nvSpPr>
        <p:spPr>
          <a:xfrm>
            <a:off x="4087368" y="2414016"/>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1" name="Text 29"/>
          <p:cNvSpPr txBox="1"/>
          <p:nvPr/>
        </p:nvSpPr>
        <p:spPr>
          <a:xfrm>
            <a:off x="5989320" y="2414016"/>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$248K</a:t>
            </a:r>
            <a:endParaRPr lang="en-US" sz="1400" dirty="0"/>
          </a:p>
        </p:txBody>
      </p:sp>
      <p:sp>
        <p:nvSpPr>
          <p:cNvPr id="32" name="Text 30"/>
          <p:cNvSpPr txBox="1"/>
          <p:nvPr/>
        </p:nvSpPr>
        <p:spPr>
          <a:xfrm>
            <a:off x="7059168" y="2414016"/>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Dispatch, staging and approvals: flag 85%.</a:t>
            </a:r>
            <a:endParaRPr lang="en-US" sz="1400" dirty="0"/>
          </a:p>
        </p:txBody>
      </p:sp>
      <p:sp>
        <p:nvSpPr>
          <p:cNvPr id="33" name="Shape 31"/>
          <p:cNvSpPr/>
          <p:nvPr/>
        </p:nvSpPr>
        <p:spPr>
          <a:xfrm>
            <a:off x="658368" y="2712954"/>
            <a:ext cx="10872216" cy="298938"/>
          </a:xfrm>
          <a:prstGeom prst="rect">
            <a:avLst/>
          </a:prstGeom>
          <a:solidFill>
            <a:srgbClr val="F7F7F7"/>
          </a:solidFill>
          <a:ln/>
        </p:spPr>
      </p:sp>
      <p:sp>
        <p:nvSpPr>
          <p:cNvPr id="34" name="Text 32"/>
          <p:cNvSpPr txBox="1"/>
          <p:nvPr/>
        </p:nvSpPr>
        <p:spPr>
          <a:xfrm>
            <a:off x="658368" y="2712954"/>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5" name="Text 33"/>
          <p:cNvSpPr txBox="1"/>
          <p:nvPr/>
        </p:nvSpPr>
        <p:spPr>
          <a:xfrm>
            <a:off x="1024128" y="2712954"/>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Service gross</a:t>
            </a:r>
            <a:endParaRPr lang="en-US" sz="1400" dirty="0"/>
          </a:p>
        </p:txBody>
      </p:sp>
      <p:sp>
        <p:nvSpPr>
          <p:cNvPr id="36" name="Text 34"/>
          <p:cNvSpPr txBox="1"/>
          <p:nvPr/>
        </p:nvSpPr>
        <p:spPr>
          <a:xfrm>
            <a:off x="2990088" y="2712954"/>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$588K</a:t>
            </a:r>
            <a:endParaRPr lang="en-US" sz="1400" dirty="0"/>
          </a:p>
        </p:txBody>
      </p:sp>
      <p:sp>
        <p:nvSpPr>
          <p:cNvPr id="37" name="Text 35"/>
          <p:cNvSpPr txBox="1"/>
          <p:nvPr/>
        </p:nvSpPr>
        <p:spPr>
          <a:xfrm>
            <a:off x="4087368" y="2712954"/>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$724K</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38" name="Text 36"/>
          <p:cNvSpPr txBox="1"/>
          <p:nvPr/>
        </p:nvSpPr>
        <p:spPr>
          <a:xfrm>
            <a:off x="5989320" y="2712954"/>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$180K</a:t>
            </a:r>
            <a:endParaRPr lang="en-US" sz="1400" dirty="0"/>
          </a:p>
        </p:txBody>
      </p:sp>
      <p:sp>
        <p:nvSpPr>
          <p:cNvPr id="39" name="Text 37"/>
          <p:cNvSpPr txBox="1"/>
          <p:nvPr/>
        </p:nvSpPr>
        <p:spPr>
          <a:xfrm>
            <a:off x="7059168" y="2712954"/>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Sell the MPI; price menus to market.</a:t>
            </a:r>
            <a:endParaRPr lang="en-US" sz="1400" dirty="0"/>
          </a:p>
        </p:txBody>
      </p:sp>
      <p:sp>
        <p:nvSpPr>
          <p:cNvPr id="40" name="Text 38"/>
          <p:cNvSpPr txBox="1"/>
          <p:nvPr/>
        </p:nvSpPr>
        <p:spPr>
          <a:xfrm>
            <a:off x="658368" y="3011893"/>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1" name="Text 39"/>
          <p:cNvSpPr txBox="1"/>
          <p:nvPr/>
        </p:nvSpPr>
        <p:spPr>
          <a:xfrm>
            <a:off x="1024128" y="3011893"/>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RO count</a:t>
            </a:r>
            <a:endParaRPr lang="en-US" sz="1400" dirty="0"/>
          </a:p>
        </p:txBody>
      </p:sp>
      <p:sp>
        <p:nvSpPr>
          <p:cNvPr id="42" name="Text 40"/>
          <p:cNvSpPr txBox="1"/>
          <p:nvPr/>
        </p:nvSpPr>
        <p:spPr>
          <a:xfrm>
            <a:off x="2990088" y="3011893"/>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1,919</a:t>
            </a:r>
            <a:endParaRPr lang="en-US" sz="1400" dirty="0"/>
          </a:p>
        </p:txBody>
      </p:sp>
      <p:sp>
        <p:nvSpPr>
          <p:cNvPr id="43" name="Text 41"/>
          <p:cNvSpPr txBox="1"/>
          <p:nvPr/>
        </p:nvSpPr>
        <p:spPr>
          <a:xfrm>
            <a:off x="4087368" y="3011893"/>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2,251</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44" name="Text 42"/>
          <p:cNvSpPr txBox="1"/>
          <p:nvPr/>
        </p:nvSpPr>
        <p:spPr>
          <a:xfrm>
            <a:off x="5989320" y="3011893"/>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$151K</a:t>
            </a:r>
            <a:endParaRPr lang="en-US" sz="1400" dirty="0"/>
          </a:p>
        </p:txBody>
      </p:sp>
      <p:sp>
        <p:nvSpPr>
          <p:cNvPr id="45" name="Text 43"/>
          <p:cNvSpPr txBox="1"/>
          <p:nvPr/>
        </p:nvSpPr>
        <p:spPr>
          <a:xfrm>
            <a:off x="7059168" y="3011893"/>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Win back lapsed customers: 443 more ROs.</a:t>
            </a:r>
            <a:endParaRPr lang="en-US" sz="1400" dirty="0"/>
          </a:p>
        </p:txBody>
      </p:sp>
      <p:sp>
        <p:nvSpPr>
          <p:cNvPr id="46" name="Shape 44"/>
          <p:cNvSpPr/>
          <p:nvPr/>
        </p:nvSpPr>
        <p:spPr>
          <a:xfrm>
            <a:off x="658368" y="3310831"/>
            <a:ext cx="10872216" cy="298938"/>
          </a:xfrm>
          <a:prstGeom prst="rect">
            <a:avLst/>
          </a:prstGeom>
          <a:solidFill>
            <a:srgbClr val="F7F7F7"/>
          </a:solidFill>
          <a:ln/>
        </p:spPr>
      </p:sp>
      <p:sp>
        <p:nvSpPr>
          <p:cNvPr id="47" name="Text 45"/>
          <p:cNvSpPr txBox="1"/>
          <p:nvPr/>
        </p:nvSpPr>
        <p:spPr>
          <a:xfrm>
            <a:off x="658368" y="3310831"/>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48" name="Text 46"/>
          <p:cNvSpPr txBox="1"/>
          <p:nvPr/>
        </p:nvSpPr>
        <p:spPr>
          <a:xfrm>
            <a:off x="1024128" y="3310831"/>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49" name="Text 47"/>
          <p:cNvSpPr txBox="1"/>
          <p:nvPr/>
        </p:nvSpPr>
        <p:spPr>
          <a:xfrm>
            <a:off x="2990088" y="3310831"/>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$231</a:t>
            </a:r>
            <a:endParaRPr lang="en-US" sz="1400" dirty="0"/>
          </a:p>
        </p:txBody>
      </p:sp>
      <p:sp>
        <p:nvSpPr>
          <p:cNvPr id="50" name="Text 48"/>
          <p:cNvSpPr txBox="1"/>
          <p:nvPr/>
        </p:nvSpPr>
        <p:spPr>
          <a:xfrm>
            <a:off x="4087368" y="3310831"/>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$264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51" name="Text 49"/>
          <p:cNvSpPr txBox="1"/>
          <p:nvPr/>
        </p:nvSpPr>
        <p:spPr>
          <a:xfrm>
            <a:off x="5989320" y="3310831"/>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$68K</a:t>
            </a:r>
            <a:endParaRPr lang="en-US" sz="1400" dirty="0"/>
          </a:p>
        </p:txBody>
      </p:sp>
      <p:sp>
        <p:nvSpPr>
          <p:cNvPr id="52" name="Text 50"/>
          <p:cNvSpPr txBox="1"/>
          <p:nvPr/>
        </p:nvSpPr>
        <p:spPr>
          <a:xfrm>
            <a:off x="7059168" y="3310831"/>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53" name="Text 51"/>
          <p:cNvSpPr txBox="1"/>
          <p:nvPr/>
        </p:nvSpPr>
        <p:spPr>
          <a:xfrm>
            <a:off x="658368" y="3609770"/>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4" name="Text 52"/>
          <p:cNvSpPr txBox="1"/>
          <p:nvPr/>
        </p:nvSpPr>
        <p:spPr>
          <a:xfrm>
            <a:off x="1024128" y="3609770"/>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55" name="Text 53"/>
          <p:cNvSpPr txBox="1"/>
          <p:nvPr/>
        </p:nvSpPr>
        <p:spPr>
          <a:xfrm>
            <a:off x="2990088" y="3609770"/>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$380K</a:t>
            </a:r>
            <a:endParaRPr lang="en-US" sz="1400" dirty="0"/>
          </a:p>
        </p:txBody>
      </p:sp>
      <p:sp>
        <p:nvSpPr>
          <p:cNvPr id="56" name="Text 54"/>
          <p:cNvSpPr txBox="1"/>
          <p:nvPr/>
        </p:nvSpPr>
        <p:spPr>
          <a:xfrm>
            <a:off x="4087368" y="3609770"/>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$407K</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57" name="Text 55"/>
          <p:cNvSpPr txBox="1"/>
          <p:nvPr/>
        </p:nvSpPr>
        <p:spPr>
          <a:xfrm>
            <a:off x="5989320" y="3609770"/>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$37K</a:t>
            </a:r>
            <a:endParaRPr lang="en-US" sz="1400" dirty="0"/>
          </a:p>
        </p:txBody>
      </p:sp>
      <p:sp>
        <p:nvSpPr>
          <p:cNvPr id="58" name="Text 56"/>
          <p:cNvSpPr txBox="1"/>
          <p:nvPr/>
        </p:nvSpPr>
        <p:spPr>
          <a:xfrm>
            <a:off x="7059168" y="3609770"/>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59" name="Shape 57"/>
          <p:cNvSpPr/>
          <p:nvPr/>
        </p:nvSpPr>
        <p:spPr>
          <a:xfrm>
            <a:off x="658368" y="3908708"/>
            <a:ext cx="10872216" cy="298938"/>
          </a:xfrm>
          <a:prstGeom prst="rect">
            <a:avLst/>
          </a:prstGeom>
          <a:solidFill>
            <a:srgbClr val="F7F7F7"/>
          </a:solidFill>
          <a:ln/>
        </p:spPr>
      </p:sp>
      <p:sp>
        <p:nvSpPr>
          <p:cNvPr id="60" name="Text 58"/>
          <p:cNvSpPr txBox="1"/>
          <p:nvPr/>
        </p:nvSpPr>
        <p:spPr>
          <a:xfrm>
            <a:off x="658368" y="3908708"/>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1" name="Text 59"/>
          <p:cNvSpPr txBox="1"/>
          <p:nvPr/>
        </p:nvSpPr>
        <p:spPr>
          <a:xfrm>
            <a:off x="1024128" y="3908708"/>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62" name="Text 60"/>
          <p:cNvSpPr txBox="1"/>
          <p:nvPr/>
        </p:nvSpPr>
        <p:spPr>
          <a:xfrm>
            <a:off x="2990088" y="3908708"/>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2.7%</a:t>
            </a:r>
            <a:endParaRPr lang="en-US" sz="1400" dirty="0"/>
          </a:p>
        </p:txBody>
      </p:sp>
      <p:sp>
        <p:nvSpPr>
          <p:cNvPr id="63" name="Text 61"/>
          <p:cNvSpPr txBox="1"/>
          <p:nvPr/>
        </p:nvSpPr>
        <p:spPr>
          <a:xfrm>
            <a:off x="4087368" y="3908708"/>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4" name="Text 62"/>
          <p:cNvSpPr txBox="1"/>
          <p:nvPr/>
        </p:nvSpPr>
        <p:spPr>
          <a:xfrm>
            <a:off x="5989320" y="3908708"/>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$29K</a:t>
            </a:r>
            <a:endParaRPr lang="en-US" sz="1400" dirty="0"/>
          </a:p>
        </p:txBody>
      </p:sp>
      <p:sp>
        <p:nvSpPr>
          <p:cNvPr id="65" name="Text 63"/>
          <p:cNvSpPr txBox="1"/>
          <p:nvPr/>
        </p:nvSpPr>
        <p:spPr>
          <a:xfrm>
            <a:off x="7059168" y="3908708"/>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123 more a year.</a:t>
            </a:r>
            <a:endParaRPr lang="en-US" sz="1400" dirty="0"/>
          </a:p>
        </p:txBody>
      </p:sp>
      <p:sp>
        <p:nvSpPr>
          <p:cNvPr id="66" name="Text 64"/>
          <p:cNvSpPr txBox="1"/>
          <p:nvPr/>
        </p:nvSpPr>
        <p:spPr>
          <a:xfrm>
            <a:off x="658368" y="4207647"/>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7" name="Text 65"/>
          <p:cNvSpPr txBox="1"/>
          <p:nvPr/>
        </p:nvSpPr>
        <p:spPr>
          <a:xfrm>
            <a:off x="1024128" y="4207647"/>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68" name="Text 66"/>
          <p:cNvSpPr txBox="1"/>
          <p:nvPr/>
        </p:nvSpPr>
        <p:spPr>
          <a:xfrm>
            <a:off x="2990088" y="4207647"/>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0.4%</a:t>
            </a:r>
            <a:endParaRPr lang="en-US" sz="1400" dirty="0"/>
          </a:p>
        </p:txBody>
      </p:sp>
      <p:sp>
        <p:nvSpPr>
          <p:cNvPr id="69" name="Text 67"/>
          <p:cNvSpPr txBox="1"/>
          <p:nvPr/>
        </p:nvSpPr>
        <p:spPr>
          <a:xfrm>
            <a:off x="4087368" y="4207647"/>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0" name="Text 68"/>
          <p:cNvSpPr txBox="1"/>
          <p:nvPr/>
        </p:nvSpPr>
        <p:spPr>
          <a:xfrm>
            <a:off x="5989320" y="4207647"/>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$28K</a:t>
            </a:r>
            <a:endParaRPr lang="en-US" sz="1400" dirty="0"/>
          </a:p>
        </p:txBody>
      </p:sp>
      <p:sp>
        <p:nvSpPr>
          <p:cNvPr id="71" name="Text 69"/>
          <p:cNvSpPr txBox="1"/>
          <p:nvPr/>
        </p:nvSpPr>
        <p:spPr>
          <a:xfrm>
            <a:off x="7059168" y="4207647"/>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373 more a year.</a:t>
            </a:r>
            <a:endParaRPr lang="en-US" sz="1400" dirty="0"/>
          </a:p>
        </p:txBody>
      </p:sp>
      <p:sp>
        <p:nvSpPr>
          <p:cNvPr id="72" name="Shape 70"/>
          <p:cNvSpPr/>
          <p:nvPr/>
        </p:nvSpPr>
        <p:spPr>
          <a:xfrm>
            <a:off x="658368" y="4506585"/>
            <a:ext cx="10872216" cy="298938"/>
          </a:xfrm>
          <a:prstGeom prst="rect">
            <a:avLst/>
          </a:prstGeom>
          <a:solidFill>
            <a:srgbClr val="F7F7F7"/>
          </a:solidFill>
          <a:ln/>
        </p:spPr>
      </p:sp>
      <p:sp>
        <p:nvSpPr>
          <p:cNvPr id="73" name="Text 71"/>
          <p:cNvSpPr txBox="1"/>
          <p:nvPr/>
        </p:nvSpPr>
        <p:spPr>
          <a:xfrm>
            <a:off x="658368" y="4506585"/>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4" name="Text 72"/>
          <p:cNvSpPr txBox="1"/>
          <p:nvPr/>
        </p:nvSpPr>
        <p:spPr>
          <a:xfrm>
            <a:off x="1024128" y="4506585"/>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75" name="Text 73"/>
          <p:cNvSpPr txBox="1"/>
          <p:nvPr/>
        </p:nvSpPr>
        <p:spPr>
          <a:xfrm>
            <a:off x="2990088" y="4506585"/>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1.71</a:t>
            </a:r>
            <a:endParaRPr lang="en-US" sz="1400" dirty="0"/>
          </a:p>
        </p:txBody>
      </p:sp>
      <p:sp>
        <p:nvSpPr>
          <p:cNvPr id="76" name="Text 74"/>
          <p:cNvSpPr txBox="1"/>
          <p:nvPr/>
        </p:nvSpPr>
        <p:spPr>
          <a:xfrm>
            <a:off x="4087368" y="4506585"/>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77" name="Text 75"/>
          <p:cNvSpPr txBox="1"/>
          <p:nvPr/>
        </p:nvSpPr>
        <p:spPr>
          <a:xfrm>
            <a:off x="5989320" y="4506585"/>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$18K</a:t>
            </a:r>
            <a:endParaRPr lang="en-US" sz="1400" dirty="0"/>
          </a:p>
        </p:txBody>
      </p:sp>
      <p:sp>
        <p:nvSpPr>
          <p:cNvPr id="78" name="Text 76"/>
          <p:cNvSpPr txBox="1"/>
          <p:nvPr/>
        </p:nvSpPr>
        <p:spPr>
          <a:xfrm>
            <a:off x="7059168" y="4506585"/>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+0.04 hr per RO.</a:t>
            </a:r>
            <a:endParaRPr lang="en-US" sz="1400" dirty="0"/>
          </a:p>
        </p:txBody>
      </p:sp>
      <p:sp>
        <p:nvSpPr>
          <p:cNvPr id="79" name="Text 77"/>
          <p:cNvSpPr txBox="1"/>
          <p:nvPr/>
        </p:nvSpPr>
        <p:spPr>
          <a:xfrm>
            <a:off x="658368" y="4805524"/>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0" name="Text 78"/>
          <p:cNvSpPr txBox="1"/>
          <p:nvPr/>
        </p:nvSpPr>
        <p:spPr>
          <a:xfrm>
            <a:off x="1024128" y="4805524"/>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81" name="Text 79"/>
          <p:cNvSpPr txBox="1"/>
          <p:nvPr/>
        </p:nvSpPr>
        <p:spPr>
          <a:xfrm>
            <a:off x="2990088" y="4805524"/>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5.6%</a:t>
            </a:r>
            <a:endParaRPr lang="en-US" sz="1400" dirty="0"/>
          </a:p>
        </p:txBody>
      </p:sp>
      <p:sp>
        <p:nvSpPr>
          <p:cNvPr id="82" name="Text 80"/>
          <p:cNvSpPr txBox="1"/>
          <p:nvPr/>
        </p:nvSpPr>
        <p:spPr>
          <a:xfrm>
            <a:off x="4087368" y="4805524"/>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83" name="Text 81"/>
          <p:cNvSpPr txBox="1"/>
          <p:nvPr/>
        </p:nvSpPr>
        <p:spPr>
          <a:xfrm>
            <a:off x="5989320" y="4805524"/>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$18K</a:t>
            </a:r>
            <a:endParaRPr lang="en-US" sz="1400" dirty="0"/>
          </a:p>
        </p:txBody>
      </p:sp>
      <p:sp>
        <p:nvSpPr>
          <p:cNvPr id="84" name="Text 82"/>
          <p:cNvSpPr txBox="1"/>
          <p:nvPr/>
        </p:nvSpPr>
        <p:spPr>
          <a:xfrm>
            <a:off x="7059168" y="4805524"/>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240 more a year.</a:t>
            </a:r>
            <a:endParaRPr lang="en-US" sz="1400" dirty="0"/>
          </a:p>
        </p:txBody>
      </p:sp>
      <p:sp>
        <p:nvSpPr>
          <p:cNvPr id="85" name="Shape 83"/>
          <p:cNvSpPr/>
          <p:nvPr/>
        </p:nvSpPr>
        <p:spPr>
          <a:xfrm>
            <a:off x="658368" y="5104462"/>
            <a:ext cx="10872216" cy="298938"/>
          </a:xfrm>
          <a:prstGeom prst="rect">
            <a:avLst/>
          </a:prstGeom>
          <a:solidFill>
            <a:srgbClr val="F7F7F7"/>
          </a:solidFill>
          <a:ln/>
        </p:spPr>
      </p:sp>
      <p:sp>
        <p:nvSpPr>
          <p:cNvPr id="86" name="Text 84"/>
          <p:cNvSpPr txBox="1"/>
          <p:nvPr/>
        </p:nvSpPr>
        <p:spPr>
          <a:xfrm>
            <a:off x="658368" y="5104462"/>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87" name="Text 85"/>
          <p:cNvSpPr txBox="1"/>
          <p:nvPr/>
        </p:nvSpPr>
        <p:spPr>
          <a:xfrm>
            <a:off x="1024128" y="5104462"/>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88" name="Text 86"/>
          <p:cNvSpPr txBox="1"/>
          <p:nvPr/>
        </p:nvSpPr>
        <p:spPr>
          <a:xfrm>
            <a:off x="2990088" y="5104462"/>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5.4%</a:t>
            </a:r>
            <a:endParaRPr lang="en-US" sz="1400" dirty="0"/>
          </a:p>
        </p:txBody>
      </p:sp>
      <p:sp>
        <p:nvSpPr>
          <p:cNvPr id="89" name="Text 87"/>
          <p:cNvSpPr txBox="1"/>
          <p:nvPr/>
        </p:nvSpPr>
        <p:spPr>
          <a:xfrm>
            <a:off x="4087368" y="5104462"/>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90" name="Text 88"/>
          <p:cNvSpPr txBox="1"/>
          <p:nvPr/>
        </p:nvSpPr>
        <p:spPr>
          <a:xfrm>
            <a:off x="5989320" y="5104462"/>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$13K</a:t>
            </a:r>
            <a:endParaRPr lang="en-US" sz="1400" dirty="0"/>
          </a:p>
        </p:txBody>
      </p:sp>
      <p:sp>
        <p:nvSpPr>
          <p:cNvPr id="91" name="Text 89"/>
          <p:cNvSpPr txBox="1"/>
          <p:nvPr/>
        </p:nvSpPr>
        <p:spPr>
          <a:xfrm>
            <a:off x="7059168" y="5104462"/>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117 more a year.</a:t>
            </a:r>
            <a:endParaRPr lang="en-US" sz="1400" dirty="0"/>
          </a:p>
        </p:txBody>
      </p:sp>
      <p:sp>
        <p:nvSpPr>
          <p:cNvPr id="92" name="Shape 90"/>
          <p:cNvSpPr/>
          <p:nvPr/>
        </p:nvSpPr>
        <p:spPr>
          <a:xfrm>
            <a:off x="658368" y="5397914"/>
            <a:ext cx="10872216" cy="10973"/>
          </a:xfrm>
          <a:prstGeom prst="rect">
            <a:avLst/>
          </a:prstGeom>
          <a:solidFill>
            <a:srgbClr val="9AA3AD"/>
          </a:solidFill>
          <a:ln/>
        </p:spPr>
      </p:sp>
      <p:sp>
        <p:nvSpPr>
          <p:cNvPr id="93" name="Text 91"/>
          <p:cNvSpPr txBox="1"/>
          <p:nvPr/>
        </p:nvSpPr>
        <p:spPr>
          <a:xfrm>
            <a:off x="658368" y="5403401"/>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11</a:t>
            </a:r>
            <a:endParaRPr lang="en-US" sz="1400" dirty="0"/>
          </a:p>
        </p:txBody>
      </p:sp>
      <p:sp>
        <p:nvSpPr>
          <p:cNvPr id="94" name="Text 92"/>
          <p:cNvSpPr txBox="1"/>
          <p:nvPr/>
        </p:nvSpPr>
        <p:spPr>
          <a:xfrm>
            <a:off x="1024128" y="5403401"/>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95" name="Text 93"/>
          <p:cNvSpPr txBox="1"/>
          <p:nvPr/>
        </p:nvSpPr>
        <p:spPr>
          <a:xfrm>
            <a:off x="2990088" y="5403401"/>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45.7%</a:t>
            </a:r>
            <a:endParaRPr lang="en-US" sz="1400" dirty="0"/>
          </a:p>
        </p:txBody>
      </p:sp>
      <p:sp>
        <p:nvSpPr>
          <p:cNvPr id="96" name="Text 94"/>
          <p:cNvSpPr txBox="1"/>
          <p:nvPr/>
        </p:nvSpPr>
        <p:spPr>
          <a:xfrm>
            <a:off x="4087368" y="5403401"/>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97" name="Text 95"/>
          <p:cNvSpPr txBox="1"/>
          <p:nvPr/>
        </p:nvSpPr>
        <p:spPr>
          <a:xfrm>
            <a:off x="5989320" y="5403401"/>
            <a:ext cx="868680" cy="298938"/>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8" name="Text 96"/>
          <p:cNvSpPr txBox="1"/>
          <p:nvPr/>
        </p:nvSpPr>
        <p:spPr>
          <a:xfrm>
            <a:off x="7059168" y="5403401"/>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1,733 more a year.</a:t>
            </a:r>
            <a:endParaRPr lang="en-US" sz="1400" dirty="0"/>
          </a:p>
        </p:txBody>
      </p:sp>
      <p:sp>
        <p:nvSpPr>
          <p:cNvPr id="99" name="Shape 97"/>
          <p:cNvSpPr/>
          <p:nvPr/>
        </p:nvSpPr>
        <p:spPr>
          <a:xfrm>
            <a:off x="658368" y="5702339"/>
            <a:ext cx="10872216" cy="298938"/>
          </a:xfrm>
          <a:prstGeom prst="rect">
            <a:avLst/>
          </a:prstGeom>
          <a:solidFill>
            <a:srgbClr val="F7F7F7"/>
          </a:solidFill>
          <a:ln/>
        </p:spPr>
      </p:sp>
      <p:sp>
        <p:nvSpPr>
          <p:cNvPr id="100" name="Text 98"/>
          <p:cNvSpPr txBox="1"/>
          <p:nvPr/>
        </p:nvSpPr>
        <p:spPr>
          <a:xfrm>
            <a:off x="658368" y="5702339"/>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12</a:t>
            </a:r>
            <a:endParaRPr lang="en-US" sz="1400" dirty="0"/>
          </a:p>
        </p:txBody>
      </p:sp>
      <p:sp>
        <p:nvSpPr>
          <p:cNvPr id="101" name="Text 99"/>
          <p:cNvSpPr txBox="1"/>
          <p:nvPr/>
        </p:nvSpPr>
        <p:spPr>
          <a:xfrm>
            <a:off x="1024128" y="5702339"/>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102" name="Text 100"/>
          <p:cNvSpPr txBox="1"/>
          <p:nvPr/>
        </p:nvSpPr>
        <p:spPr>
          <a:xfrm>
            <a:off x="2990088" y="5702339"/>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$9,878</a:t>
            </a:r>
            <a:endParaRPr lang="en-US" sz="1400" dirty="0"/>
          </a:p>
        </p:txBody>
      </p:sp>
      <p:sp>
        <p:nvSpPr>
          <p:cNvPr id="103" name="Text 101"/>
          <p:cNvSpPr txBox="1"/>
          <p:nvPr/>
        </p:nvSpPr>
        <p:spPr>
          <a:xfrm>
            <a:off x="4087368" y="5702339"/>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104" name="Text 102"/>
          <p:cNvSpPr txBox="1"/>
          <p:nvPr/>
        </p:nvSpPr>
        <p:spPr>
          <a:xfrm>
            <a:off x="5989320" y="5702339"/>
            <a:ext cx="868680" cy="298938"/>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105" name="Text 103"/>
          <p:cNvSpPr txBox="1"/>
          <p:nvPr/>
        </p:nvSpPr>
        <p:spPr>
          <a:xfrm>
            <a:off x="7059168" y="5702339"/>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2.4 heads over peer avg.</a:t>
            </a:r>
            <a:endParaRPr lang="en-US" sz="1400" dirty="0"/>
          </a:p>
        </p:txBody>
      </p:sp>
      <p:sp>
        <p:nvSpPr>
          <p:cNvPr id="106" name="Text 104"/>
          <p:cNvSpPr txBox="1"/>
          <p:nvPr/>
        </p:nvSpPr>
        <p:spPr>
          <a:xfrm>
            <a:off x="658368" y="6001278"/>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13</a:t>
            </a:r>
            <a:endParaRPr lang="en-US" sz="1400" dirty="0"/>
          </a:p>
        </p:txBody>
      </p:sp>
      <p:sp>
        <p:nvSpPr>
          <p:cNvPr id="107" name="Text 105"/>
          <p:cNvSpPr txBox="1"/>
          <p:nvPr/>
        </p:nvSpPr>
        <p:spPr>
          <a:xfrm>
            <a:off x="1024128" y="6001278"/>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108" name="Text 106"/>
          <p:cNvSpPr txBox="1"/>
          <p:nvPr/>
        </p:nvSpPr>
        <p:spPr>
          <a:xfrm>
            <a:off x="2990088" y="6001278"/>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48.5%</a:t>
            </a:r>
            <a:endParaRPr lang="en-US" sz="1400" dirty="0"/>
          </a:p>
        </p:txBody>
      </p:sp>
      <p:sp>
        <p:nvSpPr>
          <p:cNvPr id="109" name="Text 107"/>
          <p:cNvSpPr txBox="1"/>
          <p:nvPr/>
        </p:nvSpPr>
        <p:spPr>
          <a:xfrm>
            <a:off x="4087368" y="6001278"/>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110" name="Text 108"/>
          <p:cNvSpPr txBox="1"/>
          <p:nvPr/>
        </p:nvSpPr>
        <p:spPr>
          <a:xfrm>
            <a:off x="5989320" y="6001278"/>
            <a:ext cx="868680" cy="298938"/>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111" name="Text 109"/>
          <p:cNvSpPr txBox="1"/>
          <p:nvPr/>
        </p:nvSpPr>
        <p:spPr>
          <a:xfrm>
            <a:off x="7059168" y="6001278"/>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365 more a year.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2026-10-28T18:18:10Z</dcterms:created>
  <dcterms:modified xsi:type="dcterms:W3CDTF">2026-10-28T18:18:10Z</dcterms:modified>
</cp:coreProperties>
</file>