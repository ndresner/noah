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69" r:id="rId120"/>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20" Type="http://schemas.openxmlformats.org/officeDocument/2006/relationships/slide" Target="slides/slide10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Lincoln and LR LV what changed. Ask Subaru LV, CDJR Post Falls and Toyota Spokane what got in the way. Ask Mazda, Hyundai St George and Honda Spokane what they started this year.Source: Qlik - Closed Repair Orders. Customer pay, Jan-Sep by close month. Same-store, INEOS excluded (opened 2026). GMC Prescott body shop labor excluded. Top and bottom five stores by change in Fuel Service %, Jan-Sep 2026 vs 2025, in points. Not ranked: Volvo, Audi Henderson, VW Henderson, Audi Reno (the manufacturer doesn't call for fuel service); ranks out of 29. Moving now: Jul-Sep 2026 vs Jan-Mar 2026, each store against itself; the group moved −0.3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 pts</a:t>
            </a:r>
            <a:endParaRPr lang="en-US" sz="1600" dirty="0"/>
          </a:p>
        </p:txBody>
      </p:sp>
      <p:sp>
        <p:nvSpPr>
          <p:cNvPr id="13" name="Shape 11"/>
          <p:cNvSpPr/>
          <p:nvPr/>
        </p:nvSpPr>
        <p:spPr>
          <a:xfrm>
            <a:off x="4084320" y="2968142"/>
            <a:ext cx="64008" cy="755294"/>
          </a:xfrm>
          <a:prstGeom prst="rect">
            <a:avLst/>
          </a:prstGeom>
          <a:solidFill>
            <a:srgbClr val="12A566"/>
          </a:solidFill>
          <a:ln/>
        </p:spPr>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 pts</a:t>
            </a:r>
            <a:endParaRPr lang="en-US" sz="1600" dirty="0"/>
          </a:p>
        </p:txBody>
      </p:sp>
      <p:sp>
        <p:nvSpPr>
          <p:cNvPr id="17" name="Shape 15"/>
          <p:cNvSpPr/>
          <p:nvPr/>
        </p:nvSpPr>
        <p:spPr>
          <a:xfrm>
            <a:off x="658368" y="3760013"/>
            <a:ext cx="3489960" cy="828446"/>
          </a:xfrm>
          <a:prstGeom prst="rect">
            <a:avLst/>
          </a:prstGeom>
          <a:solidFill>
            <a:srgbClr val="F7F7F7"/>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24" name="Shape 22"/>
          <p:cNvSpPr/>
          <p:nvPr/>
        </p:nvSpPr>
        <p:spPr>
          <a:xfrm>
            <a:off x="658368" y="5416906"/>
            <a:ext cx="3489960" cy="828446"/>
          </a:xfrm>
          <a:prstGeom prst="rect">
            <a:avLst/>
          </a:prstGeom>
          <a:solidFill>
            <a:srgbClr val="F7F7F7"/>
          </a:solidFill>
          <a:ln/>
        </p:spPr>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 pts</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28</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−0.9 pts</a:t>
            </a:r>
            <a:endParaRPr lang="en-US" sz="1600" dirty="0"/>
          </a:p>
        </p:txBody>
      </p:sp>
      <p:sp>
        <p:nvSpPr>
          <p:cNvPr id="38" name="Shape 36"/>
          <p:cNvSpPr/>
          <p:nvPr/>
        </p:nvSpPr>
        <p:spPr>
          <a:xfrm>
            <a:off x="4349496" y="3760013"/>
            <a:ext cx="3489960" cy="828446"/>
          </a:xfrm>
          <a:prstGeom prst="rect">
            <a:avLst/>
          </a:prstGeom>
          <a:solidFill>
            <a:srgbClr val="F7F7F7"/>
          </a:solidFill>
          <a:ln/>
        </p:spPr>
      </p:sp>
      <p:sp>
        <p:nvSpPr>
          <p:cNvPr id="39" name="Text 3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27</a:t>
            </a:r>
            <a:endParaRPr lang="en-US" sz="1500" dirty="0"/>
          </a:p>
        </p:txBody>
      </p:sp>
      <p:sp>
        <p:nvSpPr>
          <p:cNvPr id="40" name="Text 38"/>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a:t>
            </a:r>
            <a:endParaRPr lang="en-US" sz="1400" dirty="0"/>
          </a:p>
        </p:txBody>
      </p:sp>
      <p:sp>
        <p:nvSpPr>
          <p:cNvPr id="41" name="Text 39"/>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−0.2 pts</a:t>
            </a:r>
            <a:endParaRPr lang="en-US" sz="1600" dirty="0"/>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26</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+0.0 pts</a:t>
            </a:r>
            <a:endParaRPr lang="en-US" sz="1600" dirty="0"/>
          </a:p>
        </p:txBody>
      </p:sp>
      <p:sp>
        <p:nvSpPr>
          <p:cNvPr id="45" name="Shape 43"/>
          <p:cNvSpPr/>
          <p:nvPr/>
        </p:nvSpPr>
        <p:spPr>
          <a:xfrm>
            <a:off x="4349496" y="5416906"/>
            <a:ext cx="3489960" cy="828446"/>
          </a:xfrm>
          <a:prstGeom prst="rect">
            <a:avLst/>
          </a:prstGeom>
          <a:solidFill>
            <a:srgbClr val="F7F7F7"/>
          </a:solidFill>
          <a:ln/>
        </p:spPr>
      </p:sp>
      <p:sp>
        <p:nvSpPr>
          <p:cNvPr id="46" name="Text 4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25</a:t>
            </a:r>
            <a:endParaRPr lang="en-US" sz="1500" dirty="0"/>
          </a:p>
        </p:txBody>
      </p:sp>
      <p:sp>
        <p:nvSpPr>
          <p:cNvPr id="47" name="Text 4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a:t>
            </a:r>
            <a:endParaRPr lang="en-US" sz="1400" dirty="0"/>
          </a:p>
        </p:txBody>
      </p:sp>
      <p:sp>
        <p:nvSpPr>
          <p:cNvPr id="48" name="Text 46"/>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+0.0 pts</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2" name="Shape 50"/>
          <p:cNvSpPr/>
          <p:nvPr/>
        </p:nvSpPr>
        <p:spPr>
          <a:xfrm>
            <a:off x="8040624" y="2103120"/>
            <a:ext cx="3489960" cy="828446"/>
          </a:xfrm>
          <a:prstGeom prst="rect">
            <a:avLst/>
          </a:prstGeom>
          <a:solidFill>
            <a:srgbClr val="F7F7F7"/>
          </a:solidFill>
          <a:ln/>
        </p:spPr>
      </p:sp>
      <p:sp>
        <p:nvSpPr>
          <p:cNvPr id="53" name="Text 5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10.6%</a:t>
            </a:r>
            <a:endParaRPr lang="en-US" sz="1400" dirty="0"/>
          </a:p>
        </p:txBody>
      </p:sp>
      <p:sp>
        <p:nvSpPr>
          <p:cNvPr id="55" name="Text 53"/>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 pts</a:t>
            </a:r>
            <a:endParaRPr lang="en-US" sz="1600" dirty="0"/>
          </a:p>
        </p:txBody>
      </p:sp>
      <p:sp>
        <p:nvSpPr>
          <p:cNvPr id="56" name="Text 54"/>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a:t>
            </a:r>
            <a:endParaRPr lang="en-US" sz="1400" dirty="0"/>
          </a:p>
        </p:txBody>
      </p:sp>
      <p:sp>
        <p:nvSpPr>
          <p:cNvPr id="58" name="Text 56"/>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59" name="Shape 57"/>
          <p:cNvSpPr/>
          <p:nvPr/>
        </p:nvSpPr>
        <p:spPr>
          <a:xfrm>
            <a:off x="8040624" y="3760013"/>
            <a:ext cx="3489960" cy="828446"/>
          </a:xfrm>
          <a:prstGeom prst="rect">
            <a:avLst/>
          </a:prstGeom>
          <a:solidFill>
            <a:srgbClr val="F7F7F7"/>
          </a:solidFill>
          <a:ln/>
        </p:spPr>
      </p:sp>
      <p:sp>
        <p:nvSpPr>
          <p:cNvPr id="60" name="Text 58"/>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1" name="Text 59"/>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a:t>
            </a:r>
            <a:endParaRPr lang="en-US" sz="1400" dirty="0"/>
          </a:p>
        </p:txBody>
      </p:sp>
      <p:sp>
        <p:nvSpPr>
          <p:cNvPr id="62" name="Text 60"/>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63" name="Shape 61"/>
          <p:cNvSpPr/>
          <p:nvPr/>
        </p:nvSpPr>
        <p:spPr>
          <a:xfrm>
            <a:off x="11466576" y="4625035"/>
            <a:ext cx="64008" cy="755294"/>
          </a:xfrm>
          <a:prstGeom prst="rect">
            <a:avLst/>
          </a:prstGeom>
          <a:solidFill>
            <a:srgbClr val="12A566"/>
          </a:solidFill>
          <a:ln/>
        </p:spPr>
      </p:sp>
      <p:sp>
        <p:nvSpPr>
          <p:cNvPr id="64" name="Text 62"/>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10.0%</a:t>
            </a:r>
            <a:endParaRPr lang="en-US" sz="1400" dirty="0"/>
          </a:p>
        </p:txBody>
      </p:sp>
      <p:sp>
        <p:nvSpPr>
          <p:cNvPr id="66" name="Text 64"/>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 pts</a:t>
            </a:r>
            <a:endParaRPr lang="en-US" sz="1600" dirty="0"/>
          </a:p>
        </p:txBody>
      </p:sp>
      <p:sp>
        <p:nvSpPr>
          <p:cNvPr id="67" name="Shape 65"/>
          <p:cNvSpPr/>
          <p:nvPr/>
        </p:nvSpPr>
        <p:spPr>
          <a:xfrm>
            <a:off x="8040624" y="5416906"/>
            <a:ext cx="3489960" cy="828446"/>
          </a:xfrm>
          <a:prstGeom prst="rect">
            <a:avLst/>
          </a:prstGeom>
          <a:solidFill>
            <a:srgbClr val="F7F7F7"/>
          </a:solidFill>
          <a:ln/>
        </p:spPr>
      </p:sp>
      <p:sp>
        <p:nvSpPr>
          <p:cNvPr id="68" name="Text 6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8.8%</a:t>
            </a:r>
            <a:endParaRPr lang="en-US" sz="1400" dirty="0"/>
          </a:p>
        </p:txBody>
      </p:sp>
      <p:sp>
        <p:nvSpPr>
          <p:cNvPr id="70" name="Text 68"/>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 pts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2026-10-28T18:18:10Z</dcterms:created>
  <dcterms:modified xsi:type="dcterms:W3CDTF">2026-10-28T18:18:10Z</dcterms:modified>
</cp:coreProperties>
</file>